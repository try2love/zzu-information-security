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6"/>
  </p:notesMasterIdLst>
  <p:sldIdLst>
    <p:sldId id="456" r:id="rId2"/>
    <p:sldId id="501" r:id="rId3"/>
    <p:sldId id="506" r:id="rId4"/>
    <p:sldId id="507" r:id="rId5"/>
    <p:sldId id="508" r:id="rId6"/>
    <p:sldId id="509" r:id="rId7"/>
    <p:sldId id="502" r:id="rId8"/>
    <p:sldId id="511" r:id="rId9"/>
    <p:sldId id="512" r:id="rId10"/>
    <p:sldId id="503" r:id="rId11"/>
    <p:sldId id="457" r:id="rId12"/>
    <p:sldId id="459" r:id="rId13"/>
    <p:sldId id="505" r:id="rId14"/>
    <p:sldId id="458" r:id="rId15"/>
    <p:sldId id="504" r:id="rId16"/>
    <p:sldId id="460" r:id="rId17"/>
    <p:sldId id="461" r:id="rId18"/>
    <p:sldId id="462" r:id="rId19"/>
    <p:sldId id="464" r:id="rId20"/>
    <p:sldId id="470" r:id="rId21"/>
    <p:sldId id="473" r:id="rId22"/>
    <p:sldId id="465" r:id="rId23"/>
    <p:sldId id="466" r:id="rId24"/>
    <p:sldId id="469" r:id="rId25"/>
    <p:sldId id="474" r:id="rId26"/>
    <p:sldId id="471" r:id="rId27"/>
    <p:sldId id="475" r:id="rId28"/>
    <p:sldId id="476" r:id="rId29"/>
    <p:sldId id="477" r:id="rId30"/>
    <p:sldId id="478" r:id="rId31"/>
    <p:sldId id="479" r:id="rId32"/>
    <p:sldId id="480" r:id="rId33"/>
    <p:sldId id="481" r:id="rId34"/>
    <p:sldId id="482" r:id="rId35"/>
    <p:sldId id="483" r:id="rId36"/>
    <p:sldId id="484" r:id="rId37"/>
    <p:sldId id="485" r:id="rId38"/>
    <p:sldId id="486" r:id="rId39"/>
    <p:sldId id="487" r:id="rId40"/>
    <p:sldId id="468" r:id="rId41"/>
    <p:sldId id="488" r:id="rId42"/>
    <p:sldId id="489" r:id="rId43"/>
    <p:sldId id="490" r:id="rId44"/>
    <p:sldId id="491" r:id="rId45"/>
    <p:sldId id="493" r:id="rId46"/>
    <p:sldId id="494" r:id="rId47"/>
    <p:sldId id="492" r:id="rId48"/>
    <p:sldId id="495" r:id="rId49"/>
    <p:sldId id="496" r:id="rId50"/>
    <p:sldId id="497" r:id="rId51"/>
    <p:sldId id="498" r:id="rId52"/>
    <p:sldId id="499" r:id="rId53"/>
    <p:sldId id="500" r:id="rId54"/>
    <p:sldId id="313" r:id="rId55"/>
  </p:sldIdLst>
  <p:sldSz cx="9144000" cy="6858000" type="screen4x3"/>
  <p:notesSz cx="6858000" cy="9144000"/>
  <p:defaultTextStyle>
    <a:defPPr>
      <a:defRPr lang="zh-CN"/>
    </a:defPPr>
    <a:lvl1pPr algn="l" rtl="0" fontAlgn="base">
      <a:spcBef>
        <a:spcPct val="0"/>
      </a:spcBef>
      <a:spcAft>
        <a:spcPct val="0"/>
      </a:spcAft>
      <a:defRPr sz="8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sz="800"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sz="800"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sz="800"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sz="8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8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8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8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800"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051DC"/>
    <a:srgbClr val="1F4EDA"/>
    <a:srgbClr val="1D4AD7"/>
    <a:srgbClr val="FF6600"/>
    <a:srgbClr val="8E0000"/>
    <a:srgbClr val="33CC33"/>
    <a:srgbClr val="FFFF99"/>
    <a:srgbClr val="CC3399"/>
    <a:srgbClr val="3333CC"/>
    <a:srgbClr val="8000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752" autoAdjust="0"/>
    <p:restoredTop sz="94660"/>
  </p:normalViewPr>
  <p:slideViewPr>
    <p:cSldViewPr snapToGrid="0">
      <p:cViewPr varScale="1">
        <p:scale>
          <a:sx n="82" d="100"/>
          <a:sy n="82" d="100"/>
        </p:scale>
        <p:origin x="1070"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61" Type="http://schemas.microsoft.com/office/2016/11/relationships/changesInfo" Target="changesInfos/changesInfo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贾洪勇" userId="c61acc37-df11-4a3b-9efd-dde9ef084f5f" providerId="ADAL" clId="{1530E5E4-2ED3-406E-A599-AFBB069827C7}"/>
    <pc:docChg chg="delSld modSld">
      <pc:chgData name="贾洪勇" userId="c61acc37-df11-4a3b-9efd-dde9ef084f5f" providerId="ADAL" clId="{1530E5E4-2ED3-406E-A599-AFBB069827C7}" dt="2023-03-20T05:41:23.392" v="43" actId="47"/>
      <pc:docMkLst>
        <pc:docMk/>
      </pc:docMkLst>
      <pc:sldChg chg="modSp mod">
        <pc:chgData name="贾洪勇" userId="c61acc37-df11-4a3b-9efd-dde9ef084f5f" providerId="ADAL" clId="{1530E5E4-2ED3-406E-A599-AFBB069827C7}" dt="2023-03-20T04:00:37.997" v="7"/>
        <pc:sldMkLst>
          <pc:docMk/>
          <pc:sldMk cId="3364396242" sldId="477"/>
        </pc:sldMkLst>
        <pc:spChg chg="mod">
          <ac:chgData name="贾洪勇" userId="c61acc37-df11-4a3b-9efd-dde9ef084f5f" providerId="ADAL" clId="{1530E5E4-2ED3-406E-A599-AFBB069827C7}" dt="2023-03-20T04:00:37.997" v="7"/>
          <ac:spMkLst>
            <pc:docMk/>
            <pc:sldMk cId="3364396242" sldId="477"/>
            <ac:spMk id="3" creationId="{E5F8D0AA-29BF-4022-83FB-0460AC3FC751}"/>
          </ac:spMkLst>
        </pc:spChg>
      </pc:sldChg>
      <pc:sldChg chg="modSp mod">
        <pc:chgData name="贾洪勇" userId="c61acc37-df11-4a3b-9efd-dde9ef084f5f" providerId="ADAL" clId="{1530E5E4-2ED3-406E-A599-AFBB069827C7}" dt="2023-03-20T04:19:09.078" v="30"/>
        <pc:sldMkLst>
          <pc:docMk/>
          <pc:sldMk cId="693024172" sldId="491"/>
        </pc:sldMkLst>
        <pc:spChg chg="mod">
          <ac:chgData name="贾洪勇" userId="c61acc37-df11-4a3b-9efd-dde9ef084f5f" providerId="ADAL" clId="{1530E5E4-2ED3-406E-A599-AFBB069827C7}" dt="2023-03-20T04:19:09.078" v="30"/>
          <ac:spMkLst>
            <pc:docMk/>
            <pc:sldMk cId="693024172" sldId="491"/>
            <ac:spMk id="3" creationId="{09786878-21AD-4706-8809-BB5D97F270B6}"/>
          </ac:spMkLst>
        </pc:spChg>
      </pc:sldChg>
      <pc:sldChg chg="modSp mod">
        <pc:chgData name="贾洪勇" userId="c61acc37-df11-4a3b-9efd-dde9ef084f5f" providerId="ADAL" clId="{1530E5E4-2ED3-406E-A599-AFBB069827C7}" dt="2023-03-20T05:32:12.702" v="36"/>
        <pc:sldMkLst>
          <pc:docMk/>
          <pc:sldMk cId="3485720159" sldId="496"/>
        </pc:sldMkLst>
        <pc:spChg chg="mod">
          <ac:chgData name="贾洪勇" userId="c61acc37-df11-4a3b-9efd-dde9ef084f5f" providerId="ADAL" clId="{1530E5E4-2ED3-406E-A599-AFBB069827C7}" dt="2023-03-20T05:32:12.702" v="36"/>
          <ac:spMkLst>
            <pc:docMk/>
            <pc:sldMk cId="3485720159" sldId="496"/>
            <ac:spMk id="3" creationId="{4257EF67-CB1F-45B6-A612-313C8DEB72E9}"/>
          </ac:spMkLst>
        </pc:spChg>
      </pc:sldChg>
      <pc:sldChg chg="modSp mod">
        <pc:chgData name="贾洪勇" userId="c61acc37-df11-4a3b-9efd-dde9ef084f5f" providerId="ADAL" clId="{1530E5E4-2ED3-406E-A599-AFBB069827C7}" dt="2023-03-20T05:38:43.891" v="42"/>
        <pc:sldMkLst>
          <pc:docMk/>
          <pc:sldMk cId="2553880925" sldId="500"/>
        </pc:sldMkLst>
        <pc:spChg chg="mod">
          <ac:chgData name="贾洪勇" userId="c61acc37-df11-4a3b-9efd-dde9ef084f5f" providerId="ADAL" clId="{1530E5E4-2ED3-406E-A599-AFBB069827C7}" dt="2023-03-20T05:38:43.891" v="42"/>
          <ac:spMkLst>
            <pc:docMk/>
            <pc:sldMk cId="2553880925" sldId="500"/>
            <ac:spMk id="3" creationId="{33DEDD09-5B8B-48F8-92C5-6A4ABA0BF47E}"/>
          </ac:spMkLst>
        </pc:spChg>
      </pc:sldChg>
      <pc:sldChg chg="modSp mod">
        <pc:chgData name="贾洪勇" userId="c61acc37-df11-4a3b-9efd-dde9ef084f5f" providerId="ADAL" clId="{1530E5E4-2ED3-406E-A599-AFBB069827C7}" dt="2023-03-20T03:32:51.056" v="3" actId="20577"/>
        <pc:sldMkLst>
          <pc:docMk/>
          <pc:sldMk cId="349221266" sldId="505"/>
        </pc:sldMkLst>
        <pc:spChg chg="mod">
          <ac:chgData name="贾洪勇" userId="c61acc37-df11-4a3b-9efd-dde9ef084f5f" providerId="ADAL" clId="{1530E5E4-2ED3-406E-A599-AFBB069827C7}" dt="2023-03-20T03:32:51.056" v="3" actId="20577"/>
          <ac:spMkLst>
            <pc:docMk/>
            <pc:sldMk cId="349221266" sldId="505"/>
            <ac:spMk id="3" creationId="{0FB9775B-F16C-4953-B394-10A556BCC391}"/>
          </ac:spMkLst>
        </pc:spChg>
      </pc:sldChg>
      <pc:sldChg chg="del">
        <pc:chgData name="贾洪勇" userId="c61acc37-df11-4a3b-9efd-dde9ef084f5f" providerId="ADAL" clId="{1530E5E4-2ED3-406E-A599-AFBB069827C7}" dt="2023-03-20T05:41:23.392" v="43" actId="47"/>
        <pc:sldMkLst>
          <pc:docMk/>
          <pc:sldMk cId="1222516765" sldId="51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B4E0DF4A-202E-451D-98B3-65435E7EC9F3}"/>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pitchFamily="34" charset="0"/>
                <a:ea typeface="宋体" pitchFamily="2" charset="-122"/>
              </a:defRPr>
            </a:lvl1pPr>
          </a:lstStyle>
          <a:p>
            <a:pPr>
              <a:defRPr/>
            </a:pPr>
            <a:endParaRPr lang="en-US" altLang="zh-CN"/>
          </a:p>
        </p:txBody>
      </p:sp>
      <p:sp>
        <p:nvSpPr>
          <p:cNvPr id="5123" name="Rectangle 3">
            <a:extLst>
              <a:ext uri="{FF2B5EF4-FFF2-40B4-BE49-F238E27FC236}">
                <a16:creationId xmlns:a16="http://schemas.microsoft.com/office/drawing/2014/main" id="{45E01DDF-3888-406C-81D2-5BB07C52E34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pitchFamily="34" charset="0"/>
                <a:ea typeface="宋体" pitchFamily="2" charset="-122"/>
              </a:defRPr>
            </a:lvl1pPr>
          </a:lstStyle>
          <a:p>
            <a:pPr>
              <a:defRPr/>
            </a:pPr>
            <a:endParaRPr lang="en-US" altLang="zh-CN"/>
          </a:p>
        </p:txBody>
      </p:sp>
      <p:sp>
        <p:nvSpPr>
          <p:cNvPr id="58372" name="Rectangle 4">
            <a:extLst>
              <a:ext uri="{FF2B5EF4-FFF2-40B4-BE49-F238E27FC236}">
                <a16:creationId xmlns:a16="http://schemas.microsoft.com/office/drawing/2014/main" id="{9374723E-6FC4-47E8-AACF-8C6639610DF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a:extLst>
              <a:ext uri="{FF2B5EF4-FFF2-40B4-BE49-F238E27FC236}">
                <a16:creationId xmlns:a16="http://schemas.microsoft.com/office/drawing/2014/main" id="{E98049C9-171A-492B-9DC7-7A27A12F9354}"/>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5126" name="Rectangle 6">
            <a:extLst>
              <a:ext uri="{FF2B5EF4-FFF2-40B4-BE49-F238E27FC236}">
                <a16:creationId xmlns:a16="http://schemas.microsoft.com/office/drawing/2014/main" id="{64B557F6-D882-4A38-8FB6-3C63EA55CB1E}"/>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pitchFamily="34" charset="0"/>
                <a:ea typeface="宋体" pitchFamily="2" charset="-122"/>
              </a:defRPr>
            </a:lvl1pPr>
          </a:lstStyle>
          <a:p>
            <a:pPr>
              <a:defRPr/>
            </a:pPr>
            <a:endParaRPr lang="en-US" altLang="zh-CN"/>
          </a:p>
        </p:txBody>
      </p:sp>
      <p:sp>
        <p:nvSpPr>
          <p:cNvPr id="5127" name="Rectangle 7">
            <a:extLst>
              <a:ext uri="{FF2B5EF4-FFF2-40B4-BE49-F238E27FC236}">
                <a16:creationId xmlns:a16="http://schemas.microsoft.com/office/drawing/2014/main" id="{C1D88E8C-6D73-4D34-83E8-811AD2DB0BCF}"/>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9316F8E0-1BBA-4A93-882D-D45FC28DBB64}"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9219" name="Rectangle 3"/>
          <p:cNvSpPr>
            <a:spLocks noGrp="1" noChangeArrowheads="1"/>
          </p:cNvSpPr>
          <p:nvPr>
            <p:ph type="ctrTitle"/>
          </p:nvPr>
        </p:nvSpPr>
        <p:spPr>
          <a:xfrm>
            <a:off x="0" y="3048000"/>
            <a:ext cx="9144000" cy="1470025"/>
          </a:xfrm>
        </p:spPr>
        <p:txBody>
          <a:bodyPr/>
          <a:lstStyle>
            <a:lvl1pPr algn="ctr">
              <a:defRPr sz="4800"/>
            </a:lvl1pPr>
          </a:lstStyle>
          <a:p>
            <a:r>
              <a:rPr lang="zh-CN" altLang="en-US"/>
              <a:t>单击此处编辑母版标题样式</a:t>
            </a:r>
          </a:p>
        </p:txBody>
      </p:sp>
    </p:spTree>
    <p:extLst>
      <p:ext uri="{BB962C8B-B14F-4D97-AF65-F5344CB8AC3E}">
        <p14:creationId xmlns:p14="http://schemas.microsoft.com/office/powerpoint/2010/main" val="401109709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a:xfrm>
            <a:off x="432511" y="1143000"/>
            <a:ext cx="8296656" cy="5410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a:extLst>
              <a:ext uri="{FF2B5EF4-FFF2-40B4-BE49-F238E27FC236}">
                <a16:creationId xmlns:a16="http://schemas.microsoft.com/office/drawing/2014/main" id="{2A7BE597-D35E-4EE1-90BA-71BA5B38008C}"/>
              </a:ext>
            </a:extLst>
          </p:cNvPr>
          <p:cNvSpPr>
            <a:spLocks noGrp="1" noChangeArrowheads="1"/>
          </p:cNvSpPr>
          <p:nvPr>
            <p:ph type="sldNum" sz="quarter" idx="10"/>
          </p:nvPr>
        </p:nvSpPr>
        <p:spPr>
          <a:ln/>
        </p:spPr>
        <p:txBody>
          <a:bodyPr/>
          <a:lstStyle>
            <a:lvl1pPr>
              <a:defRPr/>
            </a:lvl1pPr>
          </a:lstStyle>
          <a:p>
            <a:r>
              <a:rPr lang="en-US" altLang="zh-CN"/>
              <a:t>Page </a:t>
            </a:r>
            <a:fld id="{AF655B59-12D5-4828-87B1-F838F673600E}" type="slidenum">
              <a:rPr lang="en-US" altLang="zh-CN"/>
              <a:pPr/>
              <a:t>‹#›</a:t>
            </a:fld>
            <a:endParaRPr lang="en-US" altLang="zh-CN"/>
          </a:p>
        </p:txBody>
      </p:sp>
    </p:spTree>
    <p:extLst>
      <p:ext uri="{BB962C8B-B14F-4D97-AF65-F5344CB8AC3E}">
        <p14:creationId xmlns:p14="http://schemas.microsoft.com/office/powerpoint/2010/main" val="113114838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6">
            <a:extLst>
              <a:ext uri="{FF2B5EF4-FFF2-40B4-BE49-F238E27FC236}">
                <a16:creationId xmlns:a16="http://schemas.microsoft.com/office/drawing/2014/main" id="{222D9F3E-E5FB-4DC4-B7EA-0E097F0CA5D2}"/>
              </a:ext>
            </a:extLst>
          </p:cNvPr>
          <p:cNvSpPr>
            <a:spLocks noGrp="1" noChangeArrowheads="1"/>
          </p:cNvSpPr>
          <p:nvPr>
            <p:ph type="sldNum" sz="quarter" idx="10"/>
          </p:nvPr>
        </p:nvSpPr>
        <p:spPr>
          <a:ln/>
        </p:spPr>
        <p:txBody>
          <a:bodyPr/>
          <a:lstStyle>
            <a:lvl1pPr>
              <a:defRPr/>
            </a:lvl1pPr>
          </a:lstStyle>
          <a:p>
            <a:r>
              <a:rPr lang="en-US" altLang="zh-CN"/>
              <a:t>Page </a:t>
            </a:r>
            <a:fld id="{4362435E-E02B-4C7E-9C19-7BF2D6971288}" type="slidenum">
              <a:rPr lang="en-US" altLang="zh-CN"/>
              <a:pPr/>
              <a:t>‹#›</a:t>
            </a:fld>
            <a:endParaRPr lang="en-US" altLang="zh-CN"/>
          </a:p>
        </p:txBody>
      </p:sp>
    </p:spTree>
    <p:extLst>
      <p:ext uri="{BB962C8B-B14F-4D97-AF65-F5344CB8AC3E}">
        <p14:creationId xmlns:p14="http://schemas.microsoft.com/office/powerpoint/2010/main" val="156113667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143000"/>
            <a:ext cx="40386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143000"/>
            <a:ext cx="40386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6">
            <a:extLst>
              <a:ext uri="{FF2B5EF4-FFF2-40B4-BE49-F238E27FC236}">
                <a16:creationId xmlns:a16="http://schemas.microsoft.com/office/drawing/2014/main" id="{919BC834-BBC1-4B3A-BB38-0489EC54C2F9}"/>
              </a:ext>
            </a:extLst>
          </p:cNvPr>
          <p:cNvSpPr>
            <a:spLocks noGrp="1" noChangeArrowheads="1"/>
          </p:cNvSpPr>
          <p:nvPr>
            <p:ph type="sldNum" sz="quarter" idx="10"/>
          </p:nvPr>
        </p:nvSpPr>
        <p:spPr>
          <a:ln/>
        </p:spPr>
        <p:txBody>
          <a:bodyPr/>
          <a:lstStyle>
            <a:lvl1pPr>
              <a:defRPr/>
            </a:lvl1pPr>
          </a:lstStyle>
          <a:p>
            <a:r>
              <a:rPr lang="en-US" altLang="zh-CN"/>
              <a:t>Page </a:t>
            </a:r>
            <a:fld id="{6DD43F50-8A97-4F22-A0E7-90F754BABBF2}" type="slidenum">
              <a:rPr lang="en-US" altLang="zh-CN"/>
              <a:pPr/>
              <a:t>‹#›</a:t>
            </a:fld>
            <a:endParaRPr lang="en-US" altLang="zh-CN"/>
          </a:p>
        </p:txBody>
      </p:sp>
    </p:spTree>
    <p:extLst>
      <p:ext uri="{BB962C8B-B14F-4D97-AF65-F5344CB8AC3E}">
        <p14:creationId xmlns:p14="http://schemas.microsoft.com/office/powerpoint/2010/main" val="145921384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6">
            <a:extLst>
              <a:ext uri="{FF2B5EF4-FFF2-40B4-BE49-F238E27FC236}">
                <a16:creationId xmlns:a16="http://schemas.microsoft.com/office/drawing/2014/main" id="{13FFEDDB-2E5C-4E9A-9357-A41373181C7F}"/>
              </a:ext>
            </a:extLst>
          </p:cNvPr>
          <p:cNvSpPr>
            <a:spLocks noGrp="1" noChangeArrowheads="1"/>
          </p:cNvSpPr>
          <p:nvPr>
            <p:ph type="sldNum" sz="quarter" idx="10"/>
          </p:nvPr>
        </p:nvSpPr>
        <p:spPr>
          <a:ln/>
        </p:spPr>
        <p:txBody>
          <a:bodyPr/>
          <a:lstStyle>
            <a:lvl1pPr>
              <a:defRPr/>
            </a:lvl1pPr>
          </a:lstStyle>
          <a:p>
            <a:r>
              <a:rPr lang="en-US" altLang="zh-CN"/>
              <a:t>Page </a:t>
            </a:r>
            <a:fld id="{10B188B5-18EC-4A9C-B06B-7F5038A1C47C}" type="slidenum">
              <a:rPr lang="en-US" altLang="zh-CN"/>
              <a:pPr/>
              <a:t>‹#›</a:t>
            </a:fld>
            <a:endParaRPr lang="en-US" altLang="zh-CN"/>
          </a:p>
        </p:txBody>
      </p:sp>
    </p:spTree>
    <p:extLst>
      <p:ext uri="{BB962C8B-B14F-4D97-AF65-F5344CB8AC3E}">
        <p14:creationId xmlns:p14="http://schemas.microsoft.com/office/powerpoint/2010/main" val="198132104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6">
            <a:extLst>
              <a:ext uri="{FF2B5EF4-FFF2-40B4-BE49-F238E27FC236}">
                <a16:creationId xmlns:a16="http://schemas.microsoft.com/office/drawing/2014/main" id="{546F372C-B9A3-4D75-9247-2535986F3AC7}"/>
              </a:ext>
            </a:extLst>
          </p:cNvPr>
          <p:cNvSpPr>
            <a:spLocks noGrp="1" noChangeArrowheads="1"/>
          </p:cNvSpPr>
          <p:nvPr>
            <p:ph type="sldNum" sz="quarter" idx="10"/>
          </p:nvPr>
        </p:nvSpPr>
        <p:spPr>
          <a:ln/>
        </p:spPr>
        <p:txBody>
          <a:bodyPr/>
          <a:lstStyle>
            <a:lvl1pPr>
              <a:defRPr/>
            </a:lvl1pPr>
          </a:lstStyle>
          <a:p>
            <a:r>
              <a:rPr lang="en-US" altLang="zh-CN"/>
              <a:t>Page </a:t>
            </a:r>
            <a:fld id="{8C4D4238-2023-4B3B-BDC0-DD03B993CAD4}" type="slidenum">
              <a:rPr lang="en-US" altLang="zh-CN"/>
              <a:pPr/>
              <a:t>‹#›</a:t>
            </a:fld>
            <a:endParaRPr lang="en-US" altLang="zh-CN"/>
          </a:p>
        </p:txBody>
      </p:sp>
    </p:spTree>
    <p:extLst>
      <p:ext uri="{BB962C8B-B14F-4D97-AF65-F5344CB8AC3E}">
        <p14:creationId xmlns:p14="http://schemas.microsoft.com/office/powerpoint/2010/main" val="154006286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CFA0C189-524B-4DDA-BF7A-2459D5B97881}"/>
              </a:ext>
            </a:extLst>
          </p:cNvPr>
          <p:cNvSpPr>
            <a:spLocks noGrp="1" noChangeArrowheads="1"/>
          </p:cNvSpPr>
          <p:nvPr>
            <p:ph type="sldNum" sz="quarter" idx="10"/>
          </p:nvPr>
        </p:nvSpPr>
        <p:spPr>
          <a:ln/>
        </p:spPr>
        <p:txBody>
          <a:bodyPr/>
          <a:lstStyle>
            <a:lvl1pPr>
              <a:defRPr/>
            </a:lvl1pPr>
          </a:lstStyle>
          <a:p>
            <a:r>
              <a:rPr lang="en-US" altLang="zh-CN"/>
              <a:t>Page </a:t>
            </a:r>
            <a:fld id="{36ED1FC7-8A77-4A97-9141-D450373E7966}" type="slidenum">
              <a:rPr lang="en-US" altLang="zh-CN"/>
              <a:pPr/>
              <a:t>‹#›</a:t>
            </a:fld>
            <a:endParaRPr lang="en-US" altLang="zh-CN"/>
          </a:p>
        </p:txBody>
      </p:sp>
    </p:spTree>
    <p:extLst>
      <p:ext uri="{BB962C8B-B14F-4D97-AF65-F5344CB8AC3E}">
        <p14:creationId xmlns:p14="http://schemas.microsoft.com/office/powerpoint/2010/main" val="229804891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a:extLst>
              <a:ext uri="{FF2B5EF4-FFF2-40B4-BE49-F238E27FC236}">
                <a16:creationId xmlns:a16="http://schemas.microsoft.com/office/drawing/2014/main" id="{2D74275B-4CED-4A01-B37D-FE5B613B4ABE}"/>
              </a:ext>
            </a:extLst>
          </p:cNvPr>
          <p:cNvSpPr>
            <a:spLocks noGrp="1" noChangeArrowheads="1"/>
          </p:cNvSpPr>
          <p:nvPr>
            <p:ph type="sldNum" sz="quarter" idx="10"/>
          </p:nvPr>
        </p:nvSpPr>
        <p:spPr>
          <a:ln/>
        </p:spPr>
        <p:txBody>
          <a:bodyPr/>
          <a:lstStyle>
            <a:lvl1pPr>
              <a:defRPr/>
            </a:lvl1pPr>
          </a:lstStyle>
          <a:p>
            <a:r>
              <a:rPr lang="en-US" altLang="zh-CN"/>
              <a:t>Page </a:t>
            </a:r>
            <a:fld id="{E7D1A55F-5D23-46F5-A05F-E3BB482C3D2B}" type="slidenum">
              <a:rPr lang="en-US" altLang="zh-CN"/>
              <a:pPr/>
              <a:t>‹#›</a:t>
            </a:fld>
            <a:endParaRPr lang="en-US" altLang="zh-CN"/>
          </a:p>
        </p:txBody>
      </p:sp>
    </p:spTree>
    <p:extLst>
      <p:ext uri="{BB962C8B-B14F-4D97-AF65-F5344CB8AC3E}">
        <p14:creationId xmlns:p14="http://schemas.microsoft.com/office/powerpoint/2010/main" val="385329788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a:extLst>
              <a:ext uri="{FF2B5EF4-FFF2-40B4-BE49-F238E27FC236}">
                <a16:creationId xmlns:a16="http://schemas.microsoft.com/office/drawing/2014/main" id="{D967C328-7DB9-49EA-8E6A-760292B5B1EC}"/>
              </a:ext>
            </a:extLst>
          </p:cNvPr>
          <p:cNvSpPr>
            <a:spLocks noGrp="1" noChangeArrowheads="1"/>
          </p:cNvSpPr>
          <p:nvPr>
            <p:ph type="sldNum" sz="quarter" idx="10"/>
          </p:nvPr>
        </p:nvSpPr>
        <p:spPr>
          <a:ln/>
        </p:spPr>
        <p:txBody>
          <a:bodyPr/>
          <a:lstStyle>
            <a:lvl1pPr>
              <a:defRPr/>
            </a:lvl1pPr>
          </a:lstStyle>
          <a:p>
            <a:r>
              <a:rPr lang="en-US" altLang="zh-CN"/>
              <a:t>Page </a:t>
            </a:r>
            <a:fld id="{D891015E-355F-4BB3-A338-EAF87778CB6E}" type="slidenum">
              <a:rPr lang="en-US" altLang="zh-CN"/>
              <a:pPr/>
              <a:t>‹#›</a:t>
            </a:fld>
            <a:endParaRPr lang="en-US" altLang="zh-CN"/>
          </a:p>
        </p:txBody>
      </p:sp>
    </p:spTree>
    <p:extLst>
      <p:ext uri="{BB962C8B-B14F-4D97-AF65-F5344CB8AC3E}">
        <p14:creationId xmlns:p14="http://schemas.microsoft.com/office/powerpoint/2010/main" val="171322086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381000" y="1143000"/>
            <a:ext cx="8229600" cy="53340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a:extLst>
              <a:ext uri="{FF2B5EF4-FFF2-40B4-BE49-F238E27FC236}">
                <a16:creationId xmlns:a16="http://schemas.microsoft.com/office/drawing/2014/main" id="{7B7B9762-A4D6-4DD5-8364-23ABA8BE8CD6}"/>
              </a:ext>
            </a:extLst>
          </p:cNvPr>
          <p:cNvSpPr>
            <a:spLocks noGrp="1" noChangeArrowheads="1"/>
          </p:cNvSpPr>
          <p:nvPr>
            <p:ph type="sldNum" sz="quarter" idx="10"/>
          </p:nvPr>
        </p:nvSpPr>
        <p:spPr>
          <a:ln/>
        </p:spPr>
        <p:txBody>
          <a:bodyPr/>
          <a:lstStyle>
            <a:lvl1pPr>
              <a:defRPr/>
            </a:lvl1pPr>
          </a:lstStyle>
          <a:p>
            <a:r>
              <a:rPr lang="en-US" altLang="zh-CN"/>
              <a:t>Page </a:t>
            </a:r>
            <a:fld id="{D963CCF5-2688-446E-8BC9-3EC1BA46132D}" type="slidenum">
              <a:rPr lang="en-US" altLang="zh-CN"/>
              <a:pPr/>
              <a:t>‹#›</a:t>
            </a:fld>
            <a:endParaRPr lang="en-US" altLang="zh-CN"/>
          </a:p>
        </p:txBody>
      </p:sp>
    </p:spTree>
    <p:extLst>
      <p:ext uri="{BB962C8B-B14F-4D97-AF65-F5344CB8AC3E}">
        <p14:creationId xmlns:p14="http://schemas.microsoft.com/office/powerpoint/2010/main" val="303044499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10350" y="228600"/>
            <a:ext cx="2076450" cy="6248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81000" y="228600"/>
            <a:ext cx="6076950" cy="6248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a:extLst>
              <a:ext uri="{FF2B5EF4-FFF2-40B4-BE49-F238E27FC236}">
                <a16:creationId xmlns:a16="http://schemas.microsoft.com/office/drawing/2014/main" id="{5021E8FD-E585-4EA0-AC09-EEFAFBBE1AEA}"/>
              </a:ext>
            </a:extLst>
          </p:cNvPr>
          <p:cNvSpPr>
            <a:spLocks noGrp="1" noChangeArrowheads="1"/>
          </p:cNvSpPr>
          <p:nvPr>
            <p:ph type="sldNum" sz="quarter" idx="10"/>
          </p:nvPr>
        </p:nvSpPr>
        <p:spPr>
          <a:ln/>
        </p:spPr>
        <p:txBody>
          <a:bodyPr/>
          <a:lstStyle>
            <a:lvl1pPr>
              <a:defRPr/>
            </a:lvl1pPr>
          </a:lstStyle>
          <a:p>
            <a:r>
              <a:rPr lang="en-US" altLang="zh-CN"/>
              <a:t>Page </a:t>
            </a:r>
            <a:fld id="{6DB51796-25E8-4528-926D-EB8BF65E375A}" type="slidenum">
              <a:rPr lang="en-US" altLang="zh-CN"/>
              <a:pPr/>
              <a:t>‹#›</a:t>
            </a:fld>
            <a:endParaRPr lang="en-US" altLang="zh-CN"/>
          </a:p>
        </p:txBody>
      </p:sp>
    </p:spTree>
    <p:extLst>
      <p:ext uri="{BB962C8B-B14F-4D97-AF65-F5344CB8AC3E}">
        <p14:creationId xmlns:p14="http://schemas.microsoft.com/office/powerpoint/2010/main" val="38493513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81000" y="228600"/>
            <a:ext cx="6248400" cy="639763"/>
          </a:xfrm>
        </p:spPr>
        <p:txBody>
          <a:bodyPr/>
          <a:lstStyle/>
          <a:p>
            <a:r>
              <a:rPr lang="zh-CN" altLang="en-US"/>
              <a:t>单击此处编辑母版标题样式</a:t>
            </a:r>
          </a:p>
        </p:txBody>
      </p:sp>
      <p:sp>
        <p:nvSpPr>
          <p:cNvPr id="3" name="表格占位符 2"/>
          <p:cNvSpPr>
            <a:spLocks noGrp="1"/>
          </p:cNvSpPr>
          <p:nvPr>
            <p:ph type="tbl" idx="1"/>
          </p:nvPr>
        </p:nvSpPr>
        <p:spPr>
          <a:xfrm>
            <a:off x="457200" y="1295400"/>
            <a:ext cx="8229600" cy="5029200"/>
          </a:xfrm>
        </p:spPr>
        <p:txBody>
          <a:bodyPr/>
          <a:lstStyle/>
          <a:p>
            <a:pPr lvl="0"/>
            <a:endParaRPr lang="zh-CN" altLang="en-US" noProof="0"/>
          </a:p>
        </p:txBody>
      </p:sp>
      <p:sp>
        <p:nvSpPr>
          <p:cNvPr id="4" name="Rectangle 6">
            <a:extLst>
              <a:ext uri="{FF2B5EF4-FFF2-40B4-BE49-F238E27FC236}">
                <a16:creationId xmlns:a16="http://schemas.microsoft.com/office/drawing/2014/main" id="{429E1032-8ECE-445C-A626-5F3F3F99F363}"/>
              </a:ext>
            </a:extLst>
          </p:cNvPr>
          <p:cNvSpPr>
            <a:spLocks noGrp="1" noChangeArrowheads="1"/>
          </p:cNvSpPr>
          <p:nvPr>
            <p:ph type="sldNum" sz="quarter" idx="10"/>
          </p:nvPr>
        </p:nvSpPr>
        <p:spPr>
          <a:ln/>
        </p:spPr>
        <p:txBody>
          <a:bodyPr/>
          <a:lstStyle>
            <a:lvl1pPr>
              <a:defRPr/>
            </a:lvl1pPr>
          </a:lstStyle>
          <a:p>
            <a:r>
              <a:rPr lang="en-US" altLang="zh-CN"/>
              <a:t>Page </a:t>
            </a:r>
            <a:fld id="{CE33FC4E-3D3E-4CCC-9026-9F4411793A16}" type="slidenum">
              <a:rPr lang="en-US" altLang="zh-CN"/>
              <a:pPr/>
              <a:t>‹#›</a:t>
            </a:fld>
            <a:endParaRPr lang="en-US" altLang="zh-CN"/>
          </a:p>
        </p:txBody>
      </p:sp>
    </p:spTree>
    <p:extLst>
      <p:ext uri="{BB962C8B-B14F-4D97-AF65-F5344CB8AC3E}">
        <p14:creationId xmlns:p14="http://schemas.microsoft.com/office/powerpoint/2010/main" val="380466716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microsoft.com/office/2007/relationships/hdphoto" Target="../media/hdphoto1.wdp"/><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266" name="Picture 9" descr="1024-766副本">
            <a:extLst>
              <a:ext uri="{FF2B5EF4-FFF2-40B4-BE49-F238E27FC236}">
                <a16:creationId xmlns:a16="http://schemas.microsoft.com/office/drawing/2014/main" id="{78830588-E866-4219-A749-F689216A6661}"/>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9144000" cy="685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7" name="Rectangle 3">
            <a:extLst>
              <a:ext uri="{FF2B5EF4-FFF2-40B4-BE49-F238E27FC236}">
                <a16:creationId xmlns:a16="http://schemas.microsoft.com/office/drawing/2014/main" id="{0264DF58-A59C-4019-8DE9-21D4913CA1F5}"/>
              </a:ext>
            </a:extLst>
          </p:cNvPr>
          <p:cNvSpPr>
            <a:spLocks noGrp="1" noChangeArrowheads="1"/>
          </p:cNvSpPr>
          <p:nvPr>
            <p:ph type="body" idx="1"/>
          </p:nvPr>
        </p:nvSpPr>
        <p:spPr bwMode="auto">
          <a:xfrm>
            <a:off x="441350" y="1156785"/>
            <a:ext cx="8296656"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endParaRPr lang="zh-CN" altLang="zh-CN"/>
          </a:p>
        </p:txBody>
      </p:sp>
      <p:sp>
        <p:nvSpPr>
          <p:cNvPr id="1030" name="Rectangle 6">
            <a:extLst>
              <a:ext uri="{FF2B5EF4-FFF2-40B4-BE49-F238E27FC236}">
                <a16:creationId xmlns:a16="http://schemas.microsoft.com/office/drawing/2014/main" id="{ABF12F94-5F04-4882-B5A2-0E314D9CE5A0}"/>
              </a:ext>
            </a:extLst>
          </p:cNvPr>
          <p:cNvSpPr>
            <a:spLocks noGrp="1" noChangeArrowheads="1"/>
          </p:cNvSpPr>
          <p:nvPr>
            <p:ph type="sldNum" sz="quarter" idx="4"/>
          </p:nvPr>
        </p:nvSpPr>
        <p:spPr bwMode="auto">
          <a:xfrm>
            <a:off x="6705600" y="6553200"/>
            <a:ext cx="2133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solidFill>
                  <a:schemeClr val="bg1"/>
                </a:solidFill>
              </a:defRPr>
            </a:lvl1pPr>
          </a:lstStyle>
          <a:p>
            <a:r>
              <a:rPr lang="en-US" altLang="zh-CN"/>
              <a:t>Page </a:t>
            </a:r>
            <a:fld id="{C0DBB459-C9A1-48D0-B620-DB1E8F0104D3}" type="slidenum">
              <a:rPr lang="en-US" altLang="zh-CN"/>
              <a:pPr/>
              <a:t>‹#›</a:t>
            </a:fld>
            <a:endParaRPr lang="en-US" altLang="zh-CN"/>
          </a:p>
        </p:txBody>
      </p:sp>
      <p:sp>
        <p:nvSpPr>
          <p:cNvPr id="11269" name="Rectangle 10">
            <a:extLst>
              <a:ext uri="{FF2B5EF4-FFF2-40B4-BE49-F238E27FC236}">
                <a16:creationId xmlns:a16="http://schemas.microsoft.com/office/drawing/2014/main" id="{3D716894-567D-44B6-912C-5994CF8A478C}"/>
              </a:ext>
            </a:extLst>
          </p:cNvPr>
          <p:cNvSpPr>
            <a:spLocks noGrp="1" noChangeArrowheads="1"/>
          </p:cNvSpPr>
          <p:nvPr>
            <p:ph type="title"/>
          </p:nvPr>
        </p:nvSpPr>
        <p:spPr bwMode="auto">
          <a:xfrm>
            <a:off x="381000" y="228600"/>
            <a:ext cx="6248400"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pic>
        <p:nvPicPr>
          <p:cNvPr id="2" name="图片 1">
            <a:extLst>
              <a:ext uri="{FF2B5EF4-FFF2-40B4-BE49-F238E27FC236}">
                <a16:creationId xmlns:a16="http://schemas.microsoft.com/office/drawing/2014/main" id="{57597D74-B150-4919-A4AB-0713293FD402}"/>
              </a:ext>
            </a:extLst>
          </p:cNvPr>
          <p:cNvPicPr>
            <a:picLocks noChangeAspect="1"/>
          </p:cNvPicPr>
          <p:nvPr userDrawn="1"/>
        </p:nvPicPr>
        <p:blipFill>
          <a:blip r:embed="rId15">
            <a:alphaModFix amt="98000"/>
            <a:duotone>
              <a:prstClr val="black"/>
              <a:srgbClr val="1F4EDA">
                <a:tint val="45000"/>
                <a:satMod val="400000"/>
              </a:srgbClr>
            </a:duotone>
            <a:extLst>
              <a:ext uri="{BEBA8EAE-BF5A-486C-A8C5-ECC9F3942E4B}">
                <a14:imgProps xmlns:a14="http://schemas.microsoft.com/office/drawing/2010/main">
                  <a14:imgLayer r:embed="rId16">
                    <a14:imgEffect>
                      <a14:artisticGlowEdges/>
                    </a14:imgEffect>
                  </a14:imgLayer>
                </a14:imgProps>
              </a:ext>
            </a:extLst>
          </a:blip>
          <a:stretch>
            <a:fillRect/>
          </a:stretch>
        </p:blipFill>
        <p:spPr>
          <a:xfrm>
            <a:off x="6629401" y="-14287"/>
            <a:ext cx="2538970" cy="1157287"/>
          </a:xfrm>
          <a:prstGeom prst="rect">
            <a:avLst/>
          </a:prstGeom>
          <a:effectLst>
            <a:softEdge rad="12700"/>
          </a:effectLst>
        </p:spPr>
      </p:pic>
    </p:spTree>
  </p:cSld>
  <p:clrMap bg1="lt1" tx1="dk1" bg2="lt2" tx2="dk2" accent1="accent1" accent2="accent2" accent3="accent3" accent4="accent4" accent5="accent5" accent6="accent6" hlink="hlink" folHlink="folHlink"/>
  <p:sldLayoutIdLst>
    <p:sldLayoutId id="2147483699"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Lst>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hf hdr="0" ftr="0" dt="0"/>
  <p:txStyles>
    <p:titleStyle>
      <a:lvl1pPr algn="l" rtl="0" eaLnBrk="0" fontAlgn="base" hangingPunct="0">
        <a:spcBef>
          <a:spcPct val="0"/>
        </a:spcBef>
        <a:spcAft>
          <a:spcPct val="0"/>
        </a:spcAft>
        <a:defRPr sz="3200" b="1">
          <a:solidFill>
            <a:schemeClr val="bg1"/>
          </a:solidFill>
          <a:latin typeface="+mj-lt"/>
          <a:ea typeface="+mj-ea"/>
          <a:cs typeface="+mj-cs"/>
        </a:defRPr>
      </a:lvl1pPr>
      <a:lvl2pPr algn="l" rtl="0" eaLnBrk="0" fontAlgn="base" hangingPunct="0">
        <a:spcBef>
          <a:spcPct val="0"/>
        </a:spcBef>
        <a:spcAft>
          <a:spcPct val="0"/>
        </a:spcAft>
        <a:defRPr sz="3200" b="1">
          <a:solidFill>
            <a:schemeClr val="bg1"/>
          </a:solidFill>
          <a:latin typeface="Arial" pitchFamily="34" charset="0"/>
          <a:ea typeface="黑体" pitchFamily="2" charset="-122"/>
        </a:defRPr>
      </a:lvl2pPr>
      <a:lvl3pPr algn="l" rtl="0" eaLnBrk="0" fontAlgn="base" hangingPunct="0">
        <a:spcBef>
          <a:spcPct val="0"/>
        </a:spcBef>
        <a:spcAft>
          <a:spcPct val="0"/>
        </a:spcAft>
        <a:defRPr sz="3200" b="1">
          <a:solidFill>
            <a:schemeClr val="bg1"/>
          </a:solidFill>
          <a:latin typeface="Arial" pitchFamily="34" charset="0"/>
          <a:ea typeface="黑体" pitchFamily="2" charset="-122"/>
        </a:defRPr>
      </a:lvl3pPr>
      <a:lvl4pPr algn="l" rtl="0" eaLnBrk="0" fontAlgn="base" hangingPunct="0">
        <a:spcBef>
          <a:spcPct val="0"/>
        </a:spcBef>
        <a:spcAft>
          <a:spcPct val="0"/>
        </a:spcAft>
        <a:defRPr sz="3200" b="1">
          <a:solidFill>
            <a:schemeClr val="bg1"/>
          </a:solidFill>
          <a:latin typeface="Arial" pitchFamily="34" charset="0"/>
          <a:ea typeface="黑体" pitchFamily="2" charset="-122"/>
        </a:defRPr>
      </a:lvl4pPr>
      <a:lvl5pPr algn="l" rtl="0" eaLnBrk="0" fontAlgn="base" hangingPunct="0">
        <a:spcBef>
          <a:spcPct val="0"/>
        </a:spcBef>
        <a:spcAft>
          <a:spcPct val="0"/>
        </a:spcAft>
        <a:defRPr sz="3200" b="1">
          <a:solidFill>
            <a:schemeClr val="bg1"/>
          </a:solidFill>
          <a:latin typeface="Arial" pitchFamily="34" charset="0"/>
          <a:ea typeface="黑体" pitchFamily="2" charset="-122"/>
        </a:defRPr>
      </a:lvl5pPr>
      <a:lvl6pPr marL="457200" algn="l" rtl="0" fontAlgn="base">
        <a:spcBef>
          <a:spcPct val="0"/>
        </a:spcBef>
        <a:spcAft>
          <a:spcPct val="0"/>
        </a:spcAft>
        <a:defRPr sz="3200" b="1">
          <a:solidFill>
            <a:schemeClr val="bg1"/>
          </a:solidFill>
          <a:latin typeface="Arial" pitchFamily="34" charset="0"/>
          <a:ea typeface="黑体" pitchFamily="2" charset="-122"/>
        </a:defRPr>
      </a:lvl6pPr>
      <a:lvl7pPr marL="914400" algn="l" rtl="0" fontAlgn="base">
        <a:spcBef>
          <a:spcPct val="0"/>
        </a:spcBef>
        <a:spcAft>
          <a:spcPct val="0"/>
        </a:spcAft>
        <a:defRPr sz="3200" b="1">
          <a:solidFill>
            <a:schemeClr val="bg1"/>
          </a:solidFill>
          <a:latin typeface="Arial" pitchFamily="34" charset="0"/>
          <a:ea typeface="黑体" pitchFamily="2" charset="-122"/>
        </a:defRPr>
      </a:lvl7pPr>
      <a:lvl8pPr marL="1371600" algn="l" rtl="0" fontAlgn="base">
        <a:spcBef>
          <a:spcPct val="0"/>
        </a:spcBef>
        <a:spcAft>
          <a:spcPct val="0"/>
        </a:spcAft>
        <a:defRPr sz="3200" b="1">
          <a:solidFill>
            <a:schemeClr val="bg1"/>
          </a:solidFill>
          <a:latin typeface="Arial" pitchFamily="34" charset="0"/>
          <a:ea typeface="黑体" pitchFamily="2" charset="-122"/>
        </a:defRPr>
      </a:lvl8pPr>
      <a:lvl9pPr marL="1828800" algn="l" rtl="0" fontAlgn="base">
        <a:spcBef>
          <a:spcPct val="0"/>
        </a:spcBef>
        <a:spcAft>
          <a:spcPct val="0"/>
        </a:spcAft>
        <a:defRPr sz="3200" b="1">
          <a:solidFill>
            <a:schemeClr val="bg1"/>
          </a:solidFill>
          <a:latin typeface="Arial" pitchFamily="34" charset="0"/>
          <a:ea typeface="黑体" pitchFamily="2" charset="-122"/>
        </a:defRPr>
      </a:lvl9pPr>
    </p:titleStyle>
    <p:bodyStyle>
      <a:lvl1pPr marL="342900" indent="-342900" algn="l" rtl="0" eaLnBrk="0" fontAlgn="base" hangingPunct="0">
        <a:spcBef>
          <a:spcPct val="20000"/>
        </a:spcBef>
        <a:spcAft>
          <a:spcPct val="0"/>
        </a:spcAft>
        <a:buClr>
          <a:srgbClr val="FF0000"/>
        </a:buClr>
        <a:buFont typeface="Wingdings" panose="05000000000000000000" pitchFamily="2" charset="2"/>
        <a:buChar char="Ø"/>
        <a:defRPr sz="20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宋体" pitchFamily="2" charset="-122"/>
        </a:defRPr>
      </a:lvl2pPr>
      <a:lvl3pPr marL="1143000" indent="-228600" algn="l" rtl="0" eaLnBrk="0" fontAlgn="base" hangingPunct="0">
        <a:spcBef>
          <a:spcPct val="20000"/>
        </a:spcBef>
        <a:spcAft>
          <a:spcPct val="0"/>
        </a:spcAft>
        <a:buChar char="•"/>
        <a:defRPr sz="2400">
          <a:solidFill>
            <a:schemeClr val="tx1"/>
          </a:solidFill>
          <a:latin typeface="+mn-lt"/>
          <a:ea typeface="宋体" pitchFamily="2" charset="-122"/>
        </a:defRPr>
      </a:lvl3pPr>
      <a:lvl4pPr marL="1600200" indent="-228600" algn="l" rtl="0" eaLnBrk="0" fontAlgn="base" hangingPunct="0">
        <a:spcBef>
          <a:spcPct val="20000"/>
        </a:spcBef>
        <a:spcAft>
          <a:spcPct val="0"/>
        </a:spcAft>
        <a:buChar char="–"/>
        <a:defRPr sz="2000">
          <a:solidFill>
            <a:schemeClr val="tx1"/>
          </a:solidFill>
          <a:latin typeface="+mn-lt"/>
          <a:ea typeface="宋体" pitchFamily="2" charset="-122"/>
        </a:defRPr>
      </a:lvl4pPr>
      <a:lvl5pPr marL="2057400" indent="-228600" algn="l" rtl="0" eaLnBrk="0" fontAlgn="base" hangingPunct="0">
        <a:spcBef>
          <a:spcPct val="20000"/>
        </a:spcBef>
        <a:spcAft>
          <a:spcPct val="0"/>
        </a:spcAft>
        <a:buChar char="»"/>
        <a:defRPr sz="2000">
          <a:solidFill>
            <a:schemeClr val="tx1"/>
          </a:solidFill>
          <a:latin typeface="+mn-lt"/>
          <a:ea typeface="宋体" pitchFamily="2" charset="-122"/>
        </a:defRPr>
      </a:lvl5pPr>
      <a:lvl6pPr marL="2514600" indent="-228600" algn="l" rtl="0" fontAlgn="base">
        <a:spcBef>
          <a:spcPct val="20000"/>
        </a:spcBef>
        <a:spcAft>
          <a:spcPct val="0"/>
        </a:spcAft>
        <a:buChar char="»"/>
        <a:defRPr sz="2000">
          <a:solidFill>
            <a:schemeClr val="tx1"/>
          </a:solidFill>
          <a:latin typeface="+mn-lt"/>
          <a:ea typeface="宋体" pitchFamily="2" charset="-122"/>
        </a:defRPr>
      </a:lvl6pPr>
      <a:lvl7pPr marL="2971800" indent="-228600" algn="l" rtl="0" fontAlgn="base">
        <a:spcBef>
          <a:spcPct val="20000"/>
        </a:spcBef>
        <a:spcAft>
          <a:spcPct val="0"/>
        </a:spcAft>
        <a:buChar char="»"/>
        <a:defRPr sz="2000">
          <a:solidFill>
            <a:schemeClr val="tx1"/>
          </a:solidFill>
          <a:latin typeface="+mn-lt"/>
          <a:ea typeface="宋体" pitchFamily="2" charset="-122"/>
        </a:defRPr>
      </a:lvl7pPr>
      <a:lvl8pPr marL="3429000" indent="-228600" algn="l" rtl="0" fontAlgn="base">
        <a:spcBef>
          <a:spcPct val="20000"/>
        </a:spcBef>
        <a:spcAft>
          <a:spcPct val="0"/>
        </a:spcAft>
        <a:buChar char="»"/>
        <a:defRPr sz="2000">
          <a:solidFill>
            <a:schemeClr val="tx1"/>
          </a:solidFill>
          <a:latin typeface="+mn-lt"/>
          <a:ea typeface="宋体" pitchFamily="2" charset="-122"/>
        </a:defRPr>
      </a:lvl8pPr>
      <a:lvl9pPr marL="3886200" indent="-228600" algn="l" rtl="0" fontAlgn="base">
        <a:spcBef>
          <a:spcPct val="20000"/>
        </a:spcBef>
        <a:spcAft>
          <a:spcPct val="0"/>
        </a:spcAft>
        <a:buChar char="»"/>
        <a:defRPr sz="2000">
          <a:solidFill>
            <a:schemeClr val="tx1"/>
          </a:solidFill>
          <a:latin typeface="+mn-lt"/>
          <a:ea typeface="宋体"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C7542D44-1E8F-4854-B9AE-6BF24A1DFB84}"/>
              </a:ext>
            </a:extLst>
          </p:cNvPr>
          <p:cNvSpPr>
            <a:spLocks noGrp="1"/>
          </p:cNvSpPr>
          <p:nvPr>
            <p:ph type="title"/>
          </p:nvPr>
        </p:nvSpPr>
        <p:spPr/>
        <p:txBody>
          <a:bodyPr/>
          <a:lstStyle/>
          <a:p>
            <a:endParaRPr lang="zh-CN" altLang="en-US"/>
          </a:p>
        </p:txBody>
      </p:sp>
      <p:sp>
        <p:nvSpPr>
          <p:cNvPr id="5" name="内容占位符 4">
            <a:extLst>
              <a:ext uri="{FF2B5EF4-FFF2-40B4-BE49-F238E27FC236}">
                <a16:creationId xmlns:a16="http://schemas.microsoft.com/office/drawing/2014/main" id="{E0E709DF-EE82-4F9C-A480-544D2816765F}"/>
              </a:ext>
            </a:extLst>
          </p:cNvPr>
          <p:cNvSpPr>
            <a:spLocks noGrp="1"/>
          </p:cNvSpPr>
          <p:nvPr>
            <p:ph idx="1"/>
          </p:nvPr>
        </p:nvSpPr>
        <p:spPr/>
        <p:txBody>
          <a:bodyPr/>
          <a:lstStyle/>
          <a:p>
            <a:endParaRPr lang="zh-CN" altLang="en-US" dirty="0"/>
          </a:p>
        </p:txBody>
      </p:sp>
      <p:sp>
        <p:nvSpPr>
          <p:cNvPr id="2" name="灯片编号占位符 1">
            <a:extLst>
              <a:ext uri="{FF2B5EF4-FFF2-40B4-BE49-F238E27FC236}">
                <a16:creationId xmlns:a16="http://schemas.microsoft.com/office/drawing/2014/main" id="{17E443D1-1237-46AF-B6EC-E9339AA144EC}"/>
              </a:ext>
            </a:extLst>
          </p:cNvPr>
          <p:cNvSpPr>
            <a:spLocks noGrp="1"/>
          </p:cNvSpPr>
          <p:nvPr>
            <p:ph type="sldNum" sz="quarter" idx="10"/>
          </p:nvPr>
        </p:nvSpPr>
        <p:spPr/>
        <p:txBody>
          <a:bodyPr/>
          <a:lstStyle/>
          <a:p>
            <a:r>
              <a:rPr lang="en-US" altLang="zh-CN"/>
              <a:t>Page </a:t>
            </a:r>
            <a:fld id="{36ED1FC7-8A77-4A97-9141-D450373E7966}" type="slidenum">
              <a:rPr lang="en-US" altLang="zh-CN" smtClean="0"/>
              <a:pPr/>
              <a:t>1</a:t>
            </a:fld>
            <a:endParaRPr lang="en-US" altLang="zh-CN"/>
          </a:p>
        </p:txBody>
      </p:sp>
      <p:sp>
        <p:nvSpPr>
          <p:cNvPr id="3" name="文本框 2">
            <a:extLst>
              <a:ext uri="{FF2B5EF4-FFF2-40B4-BE49-F238E27FC236}">
                <a16:creationId xmlns:a16="http://schemas.microsoft.com/office/drawing/2014/main" id="{09C8F47B-A1DC-48C9-972D-0B78005D6110}"/>
              </a:ext>
            </a:extLst>
          </p:cNvPr>
          <p:cNvSpPr txBox="1"/>
          <p:nvPr/>
        </p:nvSpPr>
        <p:spPr>
          <a:xfrm>
            <a:off x="1066800" y="2730124"/>
            <a:ext cx="7772399" cy="1569660"/>
          </a:xfrm>
          <a:prstGeom prst="rect">
            <a:avLst/>
          </a:prstGeom>
          <a:noFill/>
        </p:spPr>
        <p:txBody>
          <a:bodyPr wrap="square" rtlCol="0">
            <a:spAutoFit/>
          </a:bodyPr>
          <a:lstStyle/>
          <a:p>
            <a:pPr algn="ctr"/>
            <a:r>
              <a:rPr lang="zh-CN" altLang="en-US" sz="4800" b="1" dirty="0">
                <a:latin typeface="隶书" panose="02010509060101010101" pitchFamily="49" charset="-122"/>
                <a:ea typeface="隶书" panose="02010509060101010101" pitchFamily="49" charset="-122"/>
              </a:rPr>
              <a:t>可信软件栈编程开发</a:t>
            </a:r>
            <a:endParaRPr lang="en-US" altLang="zh-CN" sz="4800" b="1" dirty="0">
              <a:latin typeface="隶书" panose="02010509060101010101" pitchFamily="49" charset="-122"/>
              <a:ea typeface="隶书" panose="02010509060101010101" pitchFamily="49" charset="-122"/>
            </a:endParaRPr>
          </a:p>
          <a:p>
            <a:pPr algn="ctr"/>
            <a:r>
              <a:rPr lang="en-US" altLang="zh-CN" sz="4800" b="1" dirty="0">
                <a:latin typeface="+mj-ea"/>
                <a:ea typeface="+mj-ea"/>
              </a:rPr>
              <a:t>(Trusted Software Stack)</a:t>
            </a:r>
            <a:endParaRPr lang="zh-CN" altLang="en-US" sz="4800" b="1" dirty="0">
              <a:latin typeface="+mj-ea"/>
              <a:ea typeface="+mj-ea"/>
            </a:endParaRPr>
          </a:p>
        </p:txBody>
      </p:sp>
    </p:spTree>
    <p:extLst>
      <p:ext uri="{BB962C8B-B14F-4D97-AF65-F5344CB8AC3E}">
        <p14:creationId xmlns:p14="http://schemas.microsoft.com/office/powerpoint/2010/main" val="8754153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093AFB-8164-4454-B575-B0E6DED08AD1}"/>
              </a:ext>
            </a:extLst>
          </p:cNvPr>
          <p:cNvSpPr>
            <a:spLocks noGrp="1"/>
          </p:cNvSpPr>
          <p:nvPr>
            <p:ph type="title"/>
          </p:nvPr>
        </p:nvSpPr>
        <p:spPr/>
        <p:txBody>
          <a:bodyPr/>
          <a:lstStyle/>
          <a:p>
            <a:r>
              <a:rPr lang="en-US" altLang="zh-CN" dirty="0"/>
              <a:t>TPM2</a:t>
            </a:r>
            <a:r>
              <a:rPr lang="zh-CN" altLang="en-US" dirty="0"/>
              <a:t>开源软件包</a:t>
            </a:r>
          </a:p>
        </p:txBody>
      </p:sp>
      <p:sp>
        <p:nvSpPr>
          <p:cNvPr id="3" name="内容占位符 2">
            <a:extLst>
              <a:ext uri="{FF2B5EF4-FFF2-40B4-BE49-F238E27FC236}">
                <a16:creationId xmlns:a16="http://schemas.microsoft.com/office/drawing/2014/main" id="{2D55688A-F575-47EC-BC63-F8628DF5C77F}"/>
              </a:ext>
            </a:extLst>
          </p:cNvPr>
          <p:cNvSpPr>
            <a:spLocks noGrp="1"/>
          </p:cNvSpPr>
          <p:nvPr>
            <p:ph idx="1"/>
          </p:nvPr>
        </p:nvSpPr>
        <p:spPr>
          <a:xfrm>
            <a:off x="304800" y="1143000"/>
            <a:ext cx="8424367" cy="5410200"/>
          </a:xfrm>
        </p:spPr>
        <p:txBody>
          <a:bodyPr/>
          <a:lstStyle/>
          <a:p>
            <a:pPr marL="0" indent="0" algn="just">
              <a:buNone/>
            </a:pPr>
            <a:r>
              <a:rPr lang="zh-CN" altLang="en-US" sz="2800" dirty="0"/>
              <a:t>目前在</a:t>
            </a:r>
            <a:r>
              <a:rPr lang="en-US" altLang="zh-CN" sz="2800" dirty="0" err="1"/>
              <a:t>github</a:t>
            </a:r>
            <a:r>
              <a:rPr lang="zh-CN" altLang="en-US" sz="2800" dirty="0"/>
              <a:t>上</a:t>
            </a:r>
            <a:r>
              <a:rPr lang="en-US" altLang="zh-CN" sz="2800" dirty="0"/>
              <a:t>TPM2</a:t>
            </a:r>
            <a:r>
              <a:rPr lang="zh-CN" altLang="en-US" sz="2800" dirty="0"/>
              <a:t>开源软件一共包含六个项目</a:t>
            </a:r>
            <a:r>
              <a:rPr lang="en-US" altLang="zh-CN" sz="2800" dirty="0">
                <a:solidFill>
                  <a:srgbClr val="FF0000"/>
                </a:solidFill>
              </a:rPr>
              <a:t>tpm2-tools</a:t>
            </a:r>
            <a:r>
              <a:rPr lang="zh-CN" altLang="en-US" sz="2800" dirty="0">
                <a:solidFill>
                  <a:srgbClr val="FF0000"/>
                </a:solidFill>
              </a:rPr>
              <a:t>、</a:t>
            </a:r>
            <a:r>
              <a:rPr lang="en-US" altLang="zh-CN" sz="2800" dirty="0">
                <a:solidFill>
                  <a:srgbClr val="FF0000"/>
                </a:solidFill>
              </a:rPr>
              <a:t>tpm2-tss</a:t>
            </a:r>
            <a:r>
              <a:rPr lang="zh-CN" altLang="en-US" sz="2800" dirty="0"/>
              <a:t>、</a:t>
            </a:r>
            <a:r>
              <a:rPr lang="en-US" altLang="zh-CN" sz="2800" dirty="0"/>
              <a:t>tpm2-pkcs11</a:t>
            </a:r>
            <a:r>
              <a:rPr lang="zh-CN" altLang="en-US" sz="2800" dirty="0"/>
              <a:t>、</a:t>
            </a:r>
            <a:r>
              <a:rPr lang="en-US" altLang="zh-CN" sz="2800" dirty="0"/>
              <a:t>tpm2-tss-engine</a:t>
            </a:r>
            <a:r>
              <a:rPr lang="zh-CN" altLang="en-US" sz="2800" dirty="0"/>
              <a:t>、</a:t>
            </a:r>
            <a:r>
              <a:rPr lang="en-US" altLang="zh-CN" sz="2800" dirty="0">
                <a:solidFill>
                  <a:srgbClr val="FF0000"/>
                </a:solidFill>
              </a:rPr>
              <a:t>tpm2-abrmd</a:t>
            </a:r>
            <a:r>
              <a:rPr lang="zh-CN" altLang="en-US" sz="2800" dirty="0"/>
              <a:t>、</a:t>
            </a:r>
            <a:r>
              <a:rPr lang="en-US" altLang="zh-CN" sz="2800" dirty="0"/>
              <a:t>tpm2-totp</a:t>
            </a:r>
            <a:r>
              <a:rPr lang="zh-CN" altLang="en-US" sz="2800" dirty="0"/>
              <a:t>。</a:t>
            </a:r>
            <a:endParaRPr lang="en-US" altLang="zh-CN" sz="2800" dirty="0"/>
          </a:p>
        </p:txBody>
      </p:sp>
      <p:sp>
        <p:nvSpPr>
          <p:cNvPr id="4" name="灯片编号占位符 3">
            <a:extLst>
              <a:ext uri="{FF2B5EF4-FFF2-40B4-BE49-F238E27FC236}">
                <a16:creationId xmlns:a16="http://schemas.microsoft.com/office/drawing/2014/main" id="{056918C5-DAC4-4BFA-8770-D6340AB17798}"/>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a:t>
            </a:fld>
            <a:endParaRPr lang="en-US" altLang="zh-CN"/>
          </a:p>
        </p:txBody>
      </p:sp>
      <p:pic>
        <p:nvPicPr>
          <p:cNvPr id="6" name="图片 5">
            <a:extLst>
              <a:ext uri="{FF2B5EF4-FFF2-40B4-BE49-F238E27FC236}">
                <a16:creationId xmlns:a16="http://schemas.microsoft.com/office/drawing/2014/main" id="{B10D0D58-3124-4F05-B386-EE16E6AF9223}"/>
              </a:ext>
            </a:extLst>
          </p:cNvPr>
          <p:cNvPicPr>
            <a:picLocks noChangeAspect="1"/>
          </p:cNvPicPr>
          <p:nvPr/>
        </p:nvPicPr>
        <p:blipFill>
          <a:blip r:embed="rId2"/>
          <a:stretch>
            <a:fillRect/>
          </a:stretch>
        </p:blipFill>
        <p:spPr>
          <a:xfrm>
            <a:off x="1161355" y="2527500"/>
            <a:ext cx="7128315" cy="3982241"/>
          </a:xfrm>
          <a:prstGeom prst="rect">
            <a:avLst/>
          </a:prstGeom>
        </p:spPr>
      </p:pic>
    </p:spTree>
    <p:extLst>
      <p:ext uri="{BB962C8B-B14F-4D97-AF65-F5344CB8AC3E}">
        <p14:creationId xmlns:p14="http://schemas.microsoft.com/office/powerpoint/2010/main" val="384090717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out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146441-E2B8-4592-9869-A9971422D01E}"/>
              </a:ext>
            </a:extLst>
          </p:cNvPr>
          <p:cNvSpPr>
            <a:spLocks noGrp="1"/>
          </p:cNvSpPr>
          <p:nvPr>
            <p:ph type="title"/>
          </p:nvPr>
        </p:nvSpPr>
        <p:spPr/>
        <p:txBody>
          <a:bodyPr/>
          <a:lstStyle/>
          <a:p>
            <a:r>
              <a:rPr lang="en-US" altLang="zh-CN" dirty="0">
                <a:solidFill>
                  <a:srgbClr val="FF0000"/>
                </a:solidFill>
              </a:rPr>
              <a:t>1</a:t>
            </a:r>
            <a:r>
              <a:rPr lang="zh-CN" altLang="en-US" dirty="0">
                <a:solidFill>
                  <a:srgbClr val="FF0000"/>
                </a:solidFill>
              </a:rPr>
              <a:t>、</a:t>
            </a:r>
            <a:r>
              <a:rPr lang="en-US" altLang="zh-CN" dirty="0">
                <a:solidFill>
                  <a:srgbClr val="FF0000"/>
                </a:solidFill>
              </a:rPr>
              <a:t>tpm2-tools</a:t>
            </a:r>
            <a:endParaRPr lang="zh-CN" altLang="en-US" dirty="0"/>
          </a:p>
        </p:txBody>
      </p:sp>
      <p:sp>
        <p:nvSpPr>
          <p:cNvPr id="3" name="内容占位符 2">
            <a:extLst>
              <a:ext uri="{FF2B5EF4-FFF2-40B4-BE49-F238E27FC236}">
                <a16:creationId xmlns:a16="http://schemas.microsoft.com/office/drawing/2014/main" id="{03C6638F-E3DA-47AE-BE26-0D8CFE002D9F}"/>
              </a:ext>
            </a:extLst>
          </p:cNvPr>
          <p:cNvSpPr>
            <a:spLocks noGrp="1"/>
          </p:cNvSpPr>
          <p:nvPr>
            <p:ph idx="1"/>
          </p:nvPr>
        </p:nvSpPr>
        <p:spPr/>
        <p:txBody>
          <a:bodyPr/>
          <a:lstStyle/>
          <a:p>
            <a:pPr marL="0" indent="0" algn="just">
              <a:buNone/>
            </a:pPr>
            <a:r>
              <a:rPr lang="zh-CN" altLang="en-US" sz="2800" dirty="0"/>
              <a:t>这一个项目基于</a:t>
            </a:r>
            <a:r>
              <a:rPr lang="en-US" altLang="zh-CN" sz="2800" dirty="0"/>
              <a:t>tpm2-tss</a:t>
            </a:r>
            <a:r>
              <a:rPr lang="zh-CN" altLang="en-US" sz="2800" dirty="0"/>
              <a:t>，为用户使用</a:t>
            </a:r>
            <a:r>
              <a:rPr lang="en-US" altLang="zh-CN" sz="2800" dirty="0"/>
              <a:t>TPM</a:t>
            </a:r>
            <a:r>
              <a:rPr lang="zh-CN" altLang="en-US" sz="2800" dirty="0"/>
              <a:t>资源提供了命令行接口，用户通过命令行可以快速的调用可信计算服务，它相当于在</a:t>
            </a:r>
            <a:r>
              <a:rPr lang="en-US" altLang="zh-CN" sz="2800" dirty="0"/>
              <a:t>TSS</a:t>
            </a:r>
            <a:r>
              <a:rPr lang="zh-CN" altLang="en-US" sz="2800" dirty="0"/>
              <a:t>之上又封装了一层更加便于用户使用的软件层，其代码主要以</a:t>
            </a:r>
            <a:r>
              <a:rPr lang="en-US" altLang="zh-CN" sz="2800" dirty="0"/>
              <a:t>C</a:t>
            </a:r>
            <a:r>
              <a:rPr lang="zh-CN" altLang="en-US" sz="2800" dirty="0"/>
              <a:t>语言和</a:t>
            </a:r>
            <a:r>
              <a:rPr lang="en-US" altLang="zh-CN" sz="2800" dirty="0"/>
              <a:t>Linux</a:t>
            </a:r>
            <a:r>
              <a:rPr lang="zh-CN" altLang="en-US" sz="2800" dirty="0"/>
              <a:t>脚本语言编写。</a:t>
            </a:r>
            <a:endParaRPr lang="en-US" altLang="zh-CN" sz="2800" dirty="0"/>
          </a:p>
          <a:p>
            <a:pPr algn="just">
              <a:buFont typeface="Wingdings" panose="05000000000000000000" pitchFamily="2" charset="2"/>
              <a:buChar char="l"/>
            </a:pPr>
            <a:r>
              <a:rPr lang="en-US" altLang="zh-CN" sz="2800" dirty="0"/>
              <a:t>tpm2_create</a:t>
            </a:r>
            <a:r>
              <a:rPr lang="zh-CN" altLang="en-US" sz="2800" dirty="0"/>
              <a:t>：创建</a:t>
            </a:r>
            <a:r>
              <a:rPr lang="en-US" altLang="zh-CN" sz="2800" dirty="0"/>
              <a:t>key</a:t>
            </a:r>
          </a:p>
          <a:p>
            <a:pPr algn="just">
              <a:buFont typeface="Wingdings" panose="05000000000000000000" pitchFamily="2" charset="2"/>
              <a:buChar char="l"/>
            </a:pPr>
            <a:r>
              <a:rPr lang="en-US" altLang="zh-CN" sz="2800" dirty="0"/>
              <a:t>tpm2_sign</a:t>
            </a:r>
            <a:r>
              <a:rPr lang="zh-CN" altLang="en-US" sz="2800" dirty="0"/>
              <a:t>；初始化</a:t>
            </a:r>
            <a:r>
              <a:rPr lang="en-US" altLang="zh-CN" sz="2800" dirty="0"/>
              <a:t>TPM</a:t>
            </a:r>
          </a:p>
          <a:p>
            <a:pPr algn="just">
              <a:buFont typeface="Wingdings" panose="05000000000000000000" pitchFamily="2" charset="2"/>
              <a:buChar char="l"/>
            </a:pPr>
            <a:r>
              <a:rPr lang="en-US" altLang="zh-CN" sz="2800" dirty="0"/>
              <a:t>tpm2_listpcrs: </a:t>
            </a:r>
            <a:r>
              <a:rPr lang="zh-CN" altLang="en-US" sz="2800" dirty="0"/>
              <a:t>打印出</a:t>
            </a:r>
            <a:r>
              <a:rPr lang="en-US" altLang="zh-CN" sz="2800" dirty="0"/>
              <a:t>TPM</a:t>
            </a:r>
            <a:r>
              <a:rPr lang="zh-CN" altLang="en-US" sz="2800" dirty="0"/>
              <a:t>中所有的</a:t>
            </a:r>
            <a:r>
              <a:rPr lang="en-US" altLang="zh-CN" sz="2800" dirty="0" err="1"/>
              <a:t>pcrs</a:t>
            </a:r>
            <a:r>
              <a:rPr lang="zh-CN" altLang="en-US" sz="2800" dirty="0"/>
              <a:t>值</a:t>
            </a:r>
            <a:endParaRPr lang="en-US" altLang="zh-CN" sz="2800" dirty="0"/>
          </a:p>
          <a:p>
            <a:pPr algn="just">
              <a:buFont typeface="Wingdings" panose="05000000000000000000" pitchFamily="2" charset="2"/>
              <a:buChar char="l"/>
            </a:pPr>
            <a:r>
              <a:rPr lang="en-US" altLang="zh-CN" sz="2800" dirty="0"/>
              <a:t>tpm2_send_command: </a:t>
            </a:r>
            <a:r>
              <a:rPr lang="zh-CN" altLang="en-US" sz="2800" dirty="0"/>
              <a:t>可以发送字节流命令</a:t>
            </a:r>
            <a:endParaRPr lang="en-US" altLang="zh-CN" sz="2800" dirty="0"/>
          </a:p>
          <a:p>
            <a:pPr algn="just">
              <a:buFont typeface="Wingdings" panose="05000000000000000000" pitchFamily="2" charset="2"/>
              <a:buChar char="l"/>
            </a:pPr>
            <a:r>
              <a:rPr lang="en-US" altLang="zh-CN" sz="2800" dirty="0"/>
              <a:t>tpm2_hash: </a:t>
            </a:r>
            <a:r>
              <a:rPr lang="zh-CN" altLang="en-US" sz="2800" dirty="0"/>
              <a:t>计算哈希等等。</a:t>
            </a:r>
          </a:p>
          <a:p>
            <a:pPr marL="0" indent="0">
              <a:buNone/>
            </a:pPr>
            <a:endParaRPr lang="zh-CN" altLang="en-US" dirty="0"/>
          </a:p>
        </p:txBody>
      </p:sp>
      <p:sp>
        <p:nvSpPr>
          <p:cNvPr id="4" name="灯片编号占位符 3">
            <a:extLst>
              <a:ext uri="{FF2B5EF4-FFF2-40B4-BE49-F238E27FC236}">
                <a16:creationId xmlns:a16="http://schemas.microsoft.com/office/drawing/2014/main" id="{2FCB9437-56E4-4C4C-9842-B1BA219468AA}"/>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a:t>
            </a:fld>
            <a:endParaRPr lang="en-US" altLang="zh-CN"/>
          </a:p>
        </p:txBody>
      </p:sp>
    </p:spTree>
    <p:extLst>
      <p:ext uri="{BB962C8B-B14F-4D97-AF65-F5344CB8AC3E}">
        <p14:creationId xmlns:p14="http://schemas.microsoft.com/office/powerpoint/2010/main" val="262138340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46D192-10AA-402B-AD19-9C37236EC1FD}"/>
              </a:ext>
            </a:extLst>
          </p:cNvPr>
          <p:cNvSpPr>
            <a:spLocks noGrp="1"/>
          </p:cNvSpPr>
          <p:nvPr>
            <p:ph type="title"/>
          </p:nvPr>
        </p:nvSpPr>
        <p:spPr/>
        <p:txBody>
          <a:bodyPr/>
          <a:lstStyle/>
          <a:p>
            <a:r>
              <a:rPr lang="en-US" altLang="zh-CN" dirty="0">
                <a:solidFill>
                  <a:srgbClr val="FF0000"/>
                </a:solidFill>
              </a:rPr>
              <a:t>tpm2-tools</a:t>
            </a:r>
            <a:r>
              <a:rPr lang="zh-CN" altLang="en-US" dirty="0">
                <a:solidFill>
                  <a:srgbClr val="FF0000"/>
                </a:solidFill>
              </a:rPr>
              <a:t>代码结构</a:t>
            </a:r>
            <a:endParaRPr lang="zh-CN" altLang="en-US" dirty="0"/>
          </a:p>
        </p:txBody>
      </p:sp>
      <p:pic>
        <p:nvPicPr>
          <p:cNvPr id="6" name="内容占位符 5">
            <a:extLst>
              <a:ext uri="{FF2B5EF4-FFF2-40B4-BE49-F238E27FC236}">
                <a16:creationId xmlns:a16="http://schemas.microsoft.com/office/drawing/2014/main" id="{F7345D64-D0B9-44D8-A442-F4354D2EBC6F}"/>
              </a:ext>
            </a:extLst>
          </p:cNvPr>
          <p:cNvPicPr>
            <a:picLocks noGrp="1" noChangeAspect="1"/>
          </p:cNvPicPr>
          <p:nvPr>
            <p:ph idx="1"/>
          </p:nvPr>
        </p:nvPicPr>
        <p:blipFill>
          <a:blip r:embed="rId2"/>
          <a:stretch>
            <a:fillRect/>
          </a:stretch>
        </p:blipFill>
        <p:spPr>
          <a:xfrm>
            <a:off x="467479" y="1143000"/>
            <a:ext cx="8209041" cy="5410200"/>
          </a:xfrm>
        </p:spPr>
      </p:pic>
      <p:sp>
        <p:nvSpPr>
          <p:cNvPr id="4" name="灯片编号占位符 3">
            <a:extLst>
              <a:ext uri="{FF2B5EF4-FFF2-40B4-BE49-F238E27FC236}">
                <a16:creationId xmlns:a16="http://schemas.microsoft.com/office/drawing/2014/main" id="{2CD6839A-0AC4-4B41-9B68-AC911530DCBD}"/>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a:t>
            </a:fld>
            <a:endParaRPr lang="en-US" altLang="zh-CN"/>
          </a:p>
        </p:txBody>
      </p:sp>
    </p:spTree>
    <p:extLst>
      <p:ext uri="{BB962C8B-B14F-4D97-AF65-F5344CB8AC3E}">
        <p14:creationId xmlns:p14="http://schemas.microsoft.com/office/powerpoint/2010/main" val="145904938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7D9AFD-7D10-4813-BB9A-465C7A25980E}"/>
              </a:ext>
            </a:extLst>
          </p:cNvPr>
          <p:cNvSpPr>
            <a:spLocks noGrp="1"/>
          </p:cNvSpPr>
          <p:nvPr>
            <p:ph type="title"/>
          </p:nvPr>
        </p:nvSpPr>
        <p:spPr/>
        <p:txBody>
          <a:bodyPr/>
          <a:lstStyle/>
          <a:p>
            <a:r>
              <a:rPr lang="en-US" altLang="zh-CN" dirty="0">
                <a:solidFill>
                  <a:srgbClr val="FF0000"/>
                </a:solidFill>
              </a:rPr>
              <a:t>tpm2-tools</a:t>
            </a:r>
            <a:r>
              <a:rPr lang="zh-CN" altLang="en-US" dirty="0">
                <a:solidFill>
                  <a:srgbClr val="FF0000"/>
                </a:solidFill>
              </a:rPr>
              <a:t>代码结构</a:t>
            </a:r>
            <a:endParaRPr lang="zh-CN" altLang="en-US" dirty="0"/>
          </a:p>
        </p:txBody>
      </p:sp>
      <p:pic>
        <p:nvPicPr>
          <p:cNvPr id="6" name="内容占位符 5">
            <a:extLst>
              <a:ext uri="{FF2B5EF4-FFF2-40B4-BE49-F238E27FC236}">
                <a16:creationId xmlns:a16="http://schemas.microsoft.com/office/drawing/2014/main" id="{C6C1A9EC-DE9D-43AA-847A-8AF28EAEB4A3}"/>
              </a:ext>
            </a:extLst>
          </p:cNvPr>
          <p:cNvPicPr>
            <a:picLocks noGrp="1" noChangeAspect="1"/>
          </p:cNvPicPr>
          <p:nvPr>
            <p:ph idx="1"/>
          </p:nvPr>
        </p:nvPicPr>
        <p:blipFill>
          <a:blip r:embed="rId2"/>
          <a:stretch>
            <a:fillRect/>
          </a:stretch>
        </p:blipFill>
        <p:spPr>
          <a:xfrm>
            <a:off x="1042152" y="1143000"/>
            <a:ext cx="7077158" cy="5410200"/>
          </a:xfrm>
        </p:spPr>
      </p:pic>
      <p:sp>
        <p:nvSpPr>
          <p:cNvPr id="4" name="灯片编号占位符 3">
            <a:extLst>
              <a:ext uri="{FF2B5EF4-FFF2-40B4-BE49-F238E27FC236}">
                <a16:creationId xmlns:a16="http://schemas.microsoft.com/office/drawing/2014/main" id="{8D22A075-DC9A-4261-B08B-BE0E0D9BAD53}"/>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a:t>
            </a:fld>
            <a:endParaRPr lang="en-US" altLang="zh-CN"/>
          </a:p>
        </p:txBody>
      </p:sp>
    </p:spTree>
    <p:extLst>
      <p:ext uri="{BB962C8B-B14F-4D97-AF65-F5344CB8AC3E}">
        <p14:creationId xmlns:p14="http://schemas.microsoft.com/office/powerpoint/2010/main" val="333610677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149244-5C2E-4519-86C3-4AE2AE6EB8DA}"/>
              </a:ext>
            </a:extLst>
          </p:cNvPr>
          <p:cNvSpPr>
            <a:spLocks noGrp="1"/>
          </p:cNvSpPr>
          <p:nvPr>
            <p:ph type="title"/>
          </p:nvPr>
        </p:nvSpPr>
        <p:spPr/>
        <p:txBody>
          <a:bodyPr/>
          <a:lstStyle/>
          <a:p>
            <a:r>
              <a:rPr lang="en-US" altLang="zh-CN" dirty="0">
                <a:solidFill>
                  <a:srgbClr val="FF0000"/>
                </a:solidFill>
              </a:rPr>
              <a:t>tpm2-tools</a:t>
            </a:r>
            <a:r>
              <a:rPr lang="zh-CN" altLang="en-US" dirty="0">
                <a:solidFill>
                  <a:srgbClr val="FF0000"/>
                </a:solidFill>
              </a:rPr>
              <a:t>代码结构</a:t>
            </a:r>
            <a:endParaRPr lang="zh-CN" altLang="en-US" dirty="0"/>
          </a:p>
        </p:txBody>
      </p:sp>
      <p:pic>
        <p:nvPicPr>
          <p:cNvPr id="6" name="内容占位符 5">
            <a:extLst>
              <a:ext uri="{FF2B5EF4-FFF2-40B4-BE49-F238E27FC236}">
                <a16:creationId xmlns:a16="http://schemas.microsoft.com/office/drawing/2014/main" id="{3AD6C03C-FA12-4728-A9FE-CA46293BF3E0}"/>
              </a:ext>
            </a:extLst>
          </p:cNvPr>
          <p:cNvPicPr>
            <a:picLocks noGrp="1" noChangeAspect="1"/>
          </p:cNvPicPr>
          <p:nvPr>
            <p:ph idx="1"/>
          </p:nvPr>
        </p:nvPicPr>
        <p:blipFill>
          <a:blip r:embed="rId2"/>
          <a:stretch>
            <a:fillRect/>
          </a:stretch>
        </p:blipFill>
        <p:spPr>
          <a:xfrm>
            <a:off x="1446618" y="1143000"/>
            <a:ext cx="6268227" cy="5410200"/>
          </a:xfrm>
        </p:spPr>
      </p:pic>
      <p:sp>
        <p:nvSpPr>
          <p:cNvPr id="4" name="灯片编号占位符 3">
            <a:extLst>
              <a:ext uri="{FF2B5EF4-FFF2-40B4-BE49-F238E27FC236}">
                <a16:creationId xmlns:a16="http://schemas.microsoft.com/office/drawing/2014/main" id="{CFDA1B47-D7AD-4A71-BF2F-0B5C89F1E0F6}"/>
              </a:ext>
            </a:extLst>
          </p:cNvPr>
          <p:cNvSpPr>
            <a:spLocks noGrp="1"/>
          </p:cNvSpPr>
          <p:nvPr>
            <p:ph type="sldNum" sz="quarter" idx="10"/>
          </p:nvPr>
        </p:nvSpPr>
        <p:spPr/>
        <p:txBody>
          <a:bodyPr/>
          <a:lstStyle/>
          <a:p>
            <a:r>
              <a:rPr lang="en-US" altLang="zh-CN"/>
              <a:t>Page </a:t>
            </a:r>
            <a:fld id="{AF655B59-12D5-4828-87B1-F838F673600E}" type="slidenum">
              <a:rPr lang="en-US" altLang="zh-CN" smtClean="0"/>
              <a:pPr/>
              <a:t>6</a:t>
            </a:fld>
            <a:endParaRPr lang="en-US" altLang="zh-CN"/>
          </a:p>
        </p:txBody>
      </p:sp>
    </p:spTree>
    <p:extLst>
      <p:ext uri="{BB962C8B-B14F-4D97-AF65-F5344CB8AC3E}">
        <p14:creationId xmlns:p14="http://schemas.microsoft.com/office/powerpoint/2010/main" val="323539025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093AFB-8164-4454-B575-B0E6DED08AD1}"/>
              </a:ext>
            </a:extLst>
          </p:cNvPr>
          <p:cNvSpPr>
            <a:spLocks noGrp="1"/>
          </p:cNvSpPr>
          <p:nvPr>
            <p:ph type="title"/>
          </p:nvPr>
        </p:nvSpPr>
        <p:spPr/>
        <p:txBody>
          <a:bodyPr/>
          <a:lstStyle/>
          <a:p>
            <a:pPr marL="0" indent="0" algn="just">
              <a:buNone/>
            </a:pPr>
            <a:r>
              <a:rPr lang="en-US" altLang="zh-CN" sz="3200" b="1" dirty="0">
                <a:solidFill>
                  <a:srgbClr val="FF0000"/>
                </a:solidFill>
              </a:rPr>
              <a:t>2</a:t>
            </a:r>
            <a:r>
              <a:rPr lang="zh-CN" altLang="en-US" sz="3200" b="1" dirty="0">
                <a:solidFill>
                  <a:srgbClr val="FF0000"/>
                </a:solidFill>
              </a:rPr>
              <a:t>、</a:t>
            </a:r>
            <a:r>
              <a:rPr lang="en-US" altLang="zh-CN" sz="3200" b="1" dirty="0">
                <a:solidFill>
                  <a:srgbClr val="FF0000"/>
                </a:solidFill>
              </a:rPr>
              <a:t>tpm2-tss</a:t>
            </a:r>
          </a:p>
        </p:txBody>
      </p:sp>
      <p:sp>
        <p:nvSpPr>
          <p:cNvPr id="3" name="内容占位符 2">
            <a:extLst>
              <a:ext uri="{FF2B5EF4-FFF2-40B4-BE49-F238E27FC236}">
                <a16:creationId xmlns:a16="http://schemas.microsoft.com/office/drawing/2014/main" id="{2D55688A-F575-47EC-BC63-F8628DF5C77F}"/>
              </a:ext>
            </a:extLst>
          </p:cNvPr>
          <p:cNvSpPr>
            <a:spLocks noGrp="1"/>
          </p:cNvSpPr>
          <p:nvPr>
            <p:ph idx="1"/>
          </p:nvPr>
        </p:nvSpPr>
        <p:spPr/>
        <p:txBody>
          <a:bodyPr/>
          <a:lstStyle/>
          <a:p>
            <a:pPr marL="0" indent="0" algn="just">
              <a:buNone/>
            </a:pPr>
            <a:r>
              <a:rPr lang="zh-CN" altLang="en-US" sz="2800" dirty="0"/>
              <a:t>这一个项目是</a:t>
            </a:r>
            <a:r>
              <a:rPr lang="en-US" altLang="zh-CN" sz="2800" dirty="0"/>
              <a:t>TPM </a:t>
            </a:r>
            <a:r>
              <a:rPr lang="zh-CN" altLang="en-US" sz="2800" dirty="0"/>
              <a:t>协议栈部分，可以简单地分为两层，一为上层开发者提供和封装统一的调用接口，二为上层提供了访问底层硬件资源接口。也是我们重点讲解的部分。</a:t>
            </a:r>
            <a:endParaRPr lang="en-US" altLang="zh-CN" sz="2800" dirty="0"/>
          </a:p>
        </p:txBody>
      </p:sp>
      <p:sp>
        <p:nvSpPr>
          <p:cNvPr id="4" name="灯片编号占位符 3">
            <a:extLst>
              <a:ext uri="{FF2B5EF4-FFF2-40B4-BE49-F238E27FC236}">
                <a16:creationId xmlns:a16="http://schemas.microsoft.com/office/drawing/2014/main" id="{056918C5-DAC4-4BFA-8770-D6340AB17798}"/>
              </a:ext>
            </a:extLst>
          </p:cNvPr>
          <p:cNvSpPr>
            <a:spLocks noGrp="1"/>
          </p:cNvSpPr>
          <p:nvPr>
            <p:ph type="sldNum" sz="quarter" idx="10"/>
          </p:nvPr>
        </p:nvSpPr>
        <p:spPr/>
        <p:txBody>
          <a:bodyPr/>
          <a:lstStyle/>
          <a:p>
            <a:r>
              <a:rPr lang="en-US" altLang="zh-CN"/>
              <a:t>Page </a:t>
            </a:r>
            <a:fld id="{AF655B59-12D5-4828-87B1-F838F673600E}" type="slidenum">
              <a:rPr lang="en-US" altLang="zh-CN" smtClean="0"/>
              <a:pPr/>
              <a:t>7</a:t>
            </a:fld>
            <a:endParaRPr lang="en-US" altLang="zh-CN"/>
          </a:p>
        </p:txBody>
      </p:sp>
    </p:spTree>
    <p:extLst>
      <p:ext uri="{BB962C8B-B14F-4D97-AF65-F5344CB8AC3E}">
        <p14:creationId xmlns:p14="http://schemas.microsoft.com/office/powerpoint/2010/main" val="98853866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4A920F-8465-4223-8A88-AD25D8E86431}"/>
              </a:ext>
            </a:extLst>
          </p:cNvPr>
          <p:cNvSpPr>
            <a:spLocks noGrp="1"/>
          </p:cNvSpPr>
          <p:nvPr>
            <p:ph type="title"/>
          </p:nvPr>
        </p:nvSpPr>
        <p:spPr/>
        <p:txBody>
          <a:bodyPr/>
          <a:lstStyle/>
          <a:p>
            <a:endParaRPr lang="zh-CN" altLang="en-US"/>
          </a:p>
        </p:txBody>
      </p:sp>
      <p:pic>
        <p:nvPicPr>
          <p:cNvPr id="6" name="内容占位符 5">
            <a:extLst>
              <a:ext uri="{FF2B5EF4-FFF2-40B4-BE49-F238E27FC236}">
                <a16:creationId xmlns:a16="http://schemas.microsoft.com/office/drawing/2014/main" id="{9AFAF999-91E0-482E-A6D6-25B652657986}"/>
              </a:ext>
            </a:extLst>
          </p:cNvPr>
          <p:cNvPicPr>
            <a:picLocks noGrp="1" noChangeAspect="1"/>
          </p:cNvPicPr>
          <p:nvPr>
            <p:ph idx="1"/>
          </p:nvPr>
        </p:nvPicPr>
        <p:blipFill>
          <a:blip r:embed="rId2"/>
          <a:stretch>
            <a:fillRect/>
          </a:stretch>
        </p:blipFill>
        <p:spPr>
          <a:xfrm>
            <a:off x="773437" y="1143000"/>
            <a:ext cx="7614588" cy="5410200"/>
          </a:xfrm>
        </p:spPr>
      </p:pic>
      <p:sp>
        <p:nvSpPr>
          <p:cNvPr id="4" name="灯片编号占位符 3">
            <a:extLst>
              <a:ext uri="{FF2B5EF4-FFF2-40B4-BE49-F238E27FC236}">
                <a16:creationId xmlns:a16="http://schemas.microsoft.com/office/drawing/2014/main" id="{40C4C344-E856-446A-BE65-8DE8DD5FA850}"/>
              </a:ext>
            </a:extLst>
          </p:cNvPr>
          <p:cNvSpPr>
            <a:spLocks noGrp="1"/>
          </p:cNvSpPr>
          <p:nvPr>
            <p:ph type="sldNum" sz="quarter" idx="10"/>
          </p:nvPr>
        </p:nvSpPr>
        <p:spPr/>
        <p:txBody>
          <a:bodyPr/>
          <a:lstStyle/>
          <a:p>
            <a:r>
              <a:rPr lang="en-US" altLang="zh-CN"/>
              <a:t>Page </a:t>
            </a:r>
            <a:fld id="{AF655B59-12D5-4828-87B1-F838F673600E}" type="slidenum">
              <a:rPr lang="en-US" altLang="zh-CN" smtClean="0"/>
              <a:pPr/>
              <a:t>8</a:t>
            </a:fld>
            <a:endParaRPr lang="en-US" altLang="zh-CN"/>
          </a:p>
        </p:txBody>
      </p:sp>
    </p:spTree>
    <p:extLst>
      <p:ext uri="{BB962C8B-B14F-4D97-AF65-F5344CB8AC3E}">
        <p14:creationId xmlns:p14="http://schemas.microsoft.com/office/powerpoint/2010/main" val="249887632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77559E-2161-4B09-9FB5-5B336446F51B}"/>
              </a:ext>
            </a:extLst>
          </p:cNvPr>
          <p:cNvSpPr>
            <a:spLocks noGrp="1"/>
          </p:cNvSpPr>
          <p:nvPr>
            <p:ph type="title"/>
          </p:nvPr>
        </p:nvSpPr>
        <p:spPr/>
        <p:txBody>
          <a:bodyPr/>
          <a:lstStyle/>
          <a:p>
            <a:endParaRPr lang="zh-CN" altLang="en-US"/>
          </a:p>
        </p:txBody>
      </p:sp>
      <p:pic>
        <p:nvPicPr>
          <p:cNvPr id="6" name="内容占位符 5">
            <a:extLst>
              <a:ext uri="{FF2B5EF4-FFF2-40B4-BE49-F238E27FC236}">
                <a16:creationId xmlns:a16="http://schemas.microsoft.com/office/drawing/2014/main" id="{47093697-5C3A-4036-8C3E-696E520F1A2B}"/>
              </a:ext>
            </a:extLst>
          </p:cNvPr>
          <p:cNvPicPr>
            <a:picLocks noGrp="1" noChangeAspect="1"/>
          </p:cNvPicPr>
          <p:nvPr>
            <p:ph idx="1"/>
          </p:nvPr>
        </p:nvPicPr>
        <p:blipFill>
          <a:blip r:embed="rId2"/>
          <a:stretch>
            <a:fillRect/>
          </a:stretch>
        </p:blipFill>
        <p:spPr>
          <a:xfrm>
            <a:off x="913313" y="1143000"/>
            <a:ext cx="7334837" cy="5410200"/>
          </a:xfrm>
        </p:spPr>
      </p:pic>
      <p:sp>
        <p:nvSpPr>
          <p:cNvPr id="4" name="灯片编号占位符 3">
            <a:extLst>
              <a:ext uri="{FF2B5EF4-FFF2-40B4-BE49-F238E27FC236}">
                <a16:creationId xmlns:a16="http://schemas.microsoft.com/office/drawing/2014/main" id="{20ACC6EA-5FAB-487B-98C1-7EF41E9CE1D1}"/>
              </a:ext>
            </a:extLst>
          </p:cNvPr>
          <p:cNvSpPr>
            <a:spLocks noGrp="1"/>
          </p:cNvSpPr>
          <p:nvPr>
            <p:ph type="sldNum" sz="quarter" idx="10"/>
          </p:nvPr>
        </p:nvSpPr>
        <p:spPr/>
        <p:txBody>
          <a:bodyPr/>
          <a:lstStyle/>
          <a:p>
            <a:r>
              <a:rPr lang="en-US" altLang="zh-CN"/>
              <a:t>Page </a:t>
            </a:r>
            <a:fld id="{AF655B59-12D5-4828-87B1-F838F673600E}" type="slidenum">
              <a:rPr lang="en-US" altLang="zh-CN" smtClean="0"/>
              <a:pPr/>
              <a:t>9</a:t>
            </a:fld>
            <a:endParaRPr lang="en-US" altLang="zh-CN"/>
          </a:p>
        </p:txBody>
      </p:sp>
    </p:spTree>
    <p:extLst>
      <p:ext uri="{BB962C8B-B14F-4D97-AF65-F5344CB8AC3E}">
        <p14:creationId xmlns:p14="http://schemas.microsoft.com/office/powerpoint/2010/main" val="153436170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093AFB-8164-4454-B575-B0E6DED08AD1}"/>
              </a:ext>
            </a:extLst>
          </p:cNvPr>
          <p:cNvSpPr>
            <a:spLocks noGrp="1"/>
          </p:cNvSpPr>
          <p:nvPr>
            <p:ph type="title"/>
          </p:nvPr>
        </p:nvSpPr>
        <p:spPr/>
        <p:txBody>
          <a:bodyPr/>
          <a:lstStyle/>
          <a:p>
            <a:r>
              <a:rPr lang="en-US" altLang="zh-CN" dirty="0">
                <a:solidFill>
                  <a:srgbClr val="FF0000"/>
                </a:solidFill>
              </a:rPr>
              <a:t>3</a:t>
            </a:r>
            <a:r>
              <a:rPr lang="zh-CN" altLang="en-US" dirty="0">
                <a:solidFill>
                  <a:srgbClr val="FF0000"/>
                </a:solidFill>
              </a:rPr>
              <a:t>、</a:t>
            </a:r>
            <a:r>
              <a:rPr lang="en-US" altLang="zh-CN" dirty="0">
                <a:solidFill>
                  <a:srgbClr val="FF0000"/>
                </a:solidFill>
                <a:latin typeface="-apple-system"/>
              </a:rPr>
              <a:t>tpm2-abrmd</a:t>
            </a:r>
            <a:endParaRPr lang="zh-CN" altLang="en-US" dirty="0"/>
          </a:p>
        </p:txBody>
      </p:sp>
      <p:sp>
        <p:nvSpPr>
          <p:cNvPr id="3" name="内容占位符 2">
            <a:extLst>
              <a:ext uri="{FF2B5EF4-FFF2-40B4-BE49-F238E27FC236}">
                <a16:creationId xmlns:a16="http://schemas.microsoft.com/office/drawing/2014/main" id="{2D55688A-F575-47EC-BC63-F8628DF5C77F}"/>
              </a:ext>
            </a:extLst>
          </p:cNvPr>
          <p:cNvSpPr>
            <a:spLocks noGrp="1"/>
          </p:cNvSpPr>
          <p:nvPr>
            <p:ph idx="1"/>
          </p:nvPr>
        </p:nvSpPr>
        <p:spPr/>
        <p:txBody>
          <a:bodyPr/>
          <a:lstStyle/>
          <a:p>
            <a:pPr marL="0" indent="0" algn="just">
              <a:buNone/>
            </a:pPr>
            <a:r>
              <a:rPr lang="zh-CN" altLang="en-US" sz="2400" b="1" dirty="0"/>
              <a:t>       这是一个后台进程，主要做</a:t>
            </a:r>
            <a:r>
              <a:rPr lang="en-US" altLang="zh-CN" sz="2400" b="1" dirty="0"/>
              <a:t>TPM</a:t>
            </a:r>
            <a:r>
              <a:rPr lang="zh-CN" altLang="en-US" sz="2400" b="1" dirty="0"/>
              <a:t>硬件资源管理。比如：当我们上层应用加载</a:t>
            </a:r>
            <a:r>
              <a:rPr lang="en-US" altLang="zh-CN" sz="2400" b="1" dirty="0"/>
              <a:t>key</a:t>
            </a:r>
            <a:r>
              <a:rPr lang="zh-CN" altLang="en-US" sz="2400" b="1" dirty="0"/>
              <a:t>的时候，不需要关心</a:t>
            </a:r>
            <a:r>
              <a:rPr lang="en-US" altLang="zh-CN" sz="2400" b="1" dirty="0"/>
              <a:t>,TPM</a:t>
            </a:r>
            <a:r>
              <a:rPr lang="zh-CN" altLang="en-US" sz="2400" b="1" dirty="0"/>
              <a:t>中是否还有空闲的</a:t>
            </a:r>
            <a:r>
              <a:rPr lang="en-US" altLang="zh-CN" sz="2400" b="1" dirty="0"/>
              <a:t>key slot,</a:t>
            </a:r>
            <a:r>
              <a:rPr lang="zh-CN" altLang="en-US" sz="2400" b="1" dirty="0"/>
              <a:t>因为</a:t>
            </a:r>
            <a:r>
              <a:rPr lang="en-US" altLang="zh-CN" sz="2400" b="1" dirty="0"/>
              <a:t>tpm2-abrmd</a:t>
            </a:r>
            <a:r>
              <a:rPr lang="zh-CN" altLang="en-US" sz="2400" b="1" dirty="0"/>
              <a:t>后台进程会帮助我们做，如果</a:t>
            </a:r>
            <a:r>
              <a:rPr lang="en-US" altLang="zh-CN" sz="2400" b="1" dirty="0"/>
              <a:t>TPM</a:t>
            </a:r>
            <a:r>
              <a:rPr lang="zh-CN" altLang="en-US" sz="2400" b="1" dirty="0"/>
              <a:t>中</a:t>
            </a:r>
            <a:r>
              <a:rPr lang="en-US" altLang="zh-CN" sz="2400" b="1" dirty="0"/>
              <a:t>key slot</a:t>
            </a:r>
            <a:r>
              <a:rPr lang="zh-CN" altLang="en-US" sz="2400" b="1" dirty="0"/>
              <a:t>不够用，那么就会把不用的</a:t>
            </a:r>
            <a:r>
              <a:rPr lang="en-US" altLang="zh-CN" sz="2400" b="1" dirty="0"/>
              <a:t>key</a:t>
            </a:r>
            <a:r>
              <a:rPr lang="zh-CN" altLang="en-US" sz="2400" b="1" dirty="0"/>
              <a:t>交换出来，然后供当前访问的进程使用。</a:t>
            </a:r>
            <a:endParaRPr lang="en-US" altLang="zh-CN" sz="2400" b="1" dirty="0"/>
          </a:p>
        </p:txBody>
      </p:sp>
      <p:sp>
        <p:nvSpPr>
          <p:cNvPr id="4" name="灯片编号占位符 3">
            <a:extLst>
              <a:ext uri="{FF2B5EF4-FFF2-40B4-BE49-F238E27FC236}">
                <a16:creationId xmlns:a16="http://schemas.microsoft.com/office/drawing/2014/main" id="{056918C5-DAC4-4BFA-8770-D6340AB17798}"/>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10</a:t>
            </a:fld>
            <a:endParaRPr lang="en-US" altLang="zh-CN"/>
          </a:p>
        </p:txBody>
      </p:sp>
    </p:spTree>
    <p:extLst>
      <p:ext uri="{BB962C8B-B14F-4D97-AF65-F5344CB8AC3E}">
        <p14:creationId xmlns:p14="http://schemas.microsoft.com/office/powerpoint/2010/main" val="412529642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9EAEA9-9B41-4294-89AA-ECE1DF44A57B}"/>
              </a:ext>
            </a:extLst>
          </p:cNvPr>
          <p:cNvSpPr>
            <a:spLocks noGrp="1"/>
          </p:cNvSpPr>
          <p:nvPr>
            <p:ph type="title"/>
          </p:nvPr>
        </p:nvSpPr>
        <p:spPr/>
        <p:txBody>
          <a:bodyPr/>
          <a:lstStyle/>
          <a:p>
            <a:r>
              <a:rPr lang="zh-CN" altLang="en-US" dirty="0"/>
              <a:t>可信软件栈结构</a:t>
            </a:r>
          </a:p>
        </p:txBody>
      </p:sp>
      <p:sp>
        <p:nvSpPr>
          <p:cNvPr id="3" name="内容占位符 2">
            <a:extLst>
              <a:ext uri="{FF2B5EF4-FFF2-40B4-BE49-F238E27FC236}">
                <a16:creationId xmlns:a16="http://schemas.microsoft.com/office/drawing/2014/main" id="{580132C7-0457-40A2-8063-02EDB669105A}"/>
              </a:ext>
            </a:extLst>
          </p:cNvPr>
          <p:cNvSpPr>
            <a:spLocks noGrp="1"/>
          </p:cNvSpPr>
          <p:nvPr>
            <p:ph idx="1"/>
          </p:nvPr>
        </p:nvSpPr>
        <p:spPr/>
        <p:txBody>
          <a:bodyPr/>
          <a:lstStyle/>
          <a:p>
            <a:pPr algn="just"/>
            <a:r>
              <a:rPr lang="en-US" altLang="zh-CN" sz="2400" dirty="0"/>
              <a:t>TSS</a:t>
            </a:r>
            <a:r>
              <a:rPr lang="zh-CN" altLang="en-US" sz="2400" dirty="0"/>
              <a:t>是</a:t>
            </a:r>
            <a:r>
              <a:rPr lang="en-US" altLang="zh-CN" sz="2400" dirty="0"/>
              <a:t>TCG</a:t>
            </a:r>
            <a:r>
              <a:rPr lang="zh-CN" altLang="en-US" sz="2400" dirty="0"/>
              <a:t>的软件标准，</a:t>
            </a:r>
            <a:r>
              <a:rPr lang="en-US" altLang="zh-CN" sz="2400" dirty="0"/>
              <a:t>TSS</a:t>
            </a:r>
            <a:r>
              <a:rPr lang="zh-CN" altLang="en-US" sz="2400" dirty="0"/>
              <a:t>相当于一个微型的操作系统，管理着</a:t>
            </a:r>
            <a:r>
              <a:rPr lang="en-US" altLang="zh-CN" sz="2400" dirty="0"/>
              <a:t>TPM</a:t>
            </a:r>
            <a:r>
              <a:rPr lang="zh-CN" altLang="en-US" sz="2400" dirty="0"/>
              <a:t>，为上层应用提供可信服务。</a:t>
            </a:r>
            <a:r>
              <a:rPr lang="en-US" altLang="zh-CN" sz="2400" dirty="0"/>
              <a:t>TSS</a:t>
            </a:r>
            <a:r>
              <a:rPr lang="zh-CN" altLang="en-US" sz="2400" dirty="0"/>
              <a:t>包含几个可以移植的软件层，允许应用软件根据需要使用其不同的软件层。按照</a:t>
            </a:r>
            <a:r>
              <a:rPr lang="en-US" altLang="zh-CN" sz="2400" dirty="0"/>
              <a:t>TSS</a:t>
            </a:r>
            <a:r>
              <a:rPr lang="zh-CN" altLang="en-US" sz="2400" dirty="0"/>
              <a:t>规范编写的软件可以运行在任何实现</a:t>
            </a:r>
            <a:r>
              <a:rPr lang="en-US" altLang="zh-CN" sz="2400" dirty="0"/>
              <a:t>TSS</a:t>
            </a:r>
            <a:r>
              <a:rPr lang="zh-CN" altLang="en-US" sz="2400" dirty="0"/>
              <a:t>标准的可信系统上。</a:t>
            </a:r>
            <a:endParaRPr lang="en-US" altLang="zh-CN" sz="2400" dirty="0"/>
          </a:p>
          <a:p>
            <a:pPr algn="just"/>
            <a:r>
              <a:rPr lang="en-US" altLang="zh-CN" sz="2400" dirty="0"/>
              <a:t>TSS</a:t>
            </a:r>
            <a:r>
              <a:rPr lang="zh-CN" altLang="en-US" sz="2400" dirty="0"/>
              <a:t>包含以下由高到低的几层软件：</a:t>
            </a:r>
            <a:r>
              <a:rPr lang="en-US" altLang="zh-CN" sz="2400" dirty="0"/>
              <a:t>FAPI</a:t>
            </a:r>
            <a:r>
              <a:rPr lang="zh-CN" altLang="en-US" sz="2400" dirty="0"/>
              <a:t>，</a:t>
            </a:r>
            <a:r>
              <a:rPr lang="en-US" altLang="zh-CN" sz="2400" dirty="0"/>
              <a:t>ESAPI</a:t>
            </a:r>
            <a:r>
              <a:rPr lang="zh-CN" altLang="en-US" sz="2400" dirty="0"/>
              <a:t>，</a:t>
            </a:r>
            <a:r>
              <a:rPr lang="en-US" altLang="zh-CN" sz="2400" dirty="0"/>
              <a:t>SAPI</a:t>
            </a:r>
            <a:r>
              <a:rPr lang="zh-CN" altLang="en-US" sz="2400" dirty="0"/>
              <a:t>，</a:t>
            </a:r>
            <a:r>
              <a:rPr lang="en-US" altLang="zh-CN" sz="2400" dirty="0"/>
              <a:t>TCTI</a:t>
            </a:r>
            <a:r>
              <a:rPr lang="zh-CN" altLang="en-US" sz="2400" dirty="0"/>
              <a:t>（</a:t>
            </a:r>
            <a:r>
              <a:rPr lang="en-US" altLang="zh-CN" sz="2400" dirty="0"/>
              <a:t>TPM Command Transmission Interface</a:t>
            </a:r>
            <a:r>
              <a:rPr lang="zh-CN" altLang="en-US" sz="2400" dirty="0"/>
              <a:t>），</a:t>
            </a:r>
            <a:r>
              <a:rPr lang="en-US" altLang="zh-CN" sz="2400" dirty="0"/>
              <a:t>TAB</a:t>
            </a:r>
            <a:r>
              <a:rPr lang="zh-CN" altLang="en-US" sz="2400" dirty="0"/>
              <a:t>（</a:t>
            </a:r>
            <a:r>
              <a:rPr lang="en-US" altLang="zh-CN" sz="2400" dirty="0"/>
              <a:t>TPM Access Broker</a:t>
            </a:r>
            <a:r>
              <a:rPr lang="zh-CN" altLang="en-US" sz="2400" dirty="0"/>
              <a:t>），</a:t>
            </a:r>
            <a:r>
              <a:rPr lang="en-US" altLang="zh-CN" sz="2400" dirty="0"/>
              <a:t>RM</a:t>
            </a:r>
            <a:r>
              <a:rPr lang="zh-CN" altLang="en-US" sz="2400" dirty="0"/>
              <a:t>（</a:t>
            </a:r>
            <a:r>
              <a:rPr lang="en-US" altLang="zh-CN" sz="2400" dirty="0"/>
              <a:t>Resource Manager</a:t>
            </a:r>
            <a:r>
              <a:rPr lang="zh-CN" altLang="en-US" sz="2400" dirty="0"/>
              <a:t>），和设备驱动。</a:t>
            </a:r>
          </a:p>
          <a:p>
            <a:pPr algn="just"/>
            <a:r>
              <a:rPr lang="zh-CN" altLang="en-US" sz="2400" dirty="0"/>
              <a:t>大多数的用户层应用程序基于</a:t>
            </a:r>
            <a:r>
              <a:rPr lang="en-US" altLang="zh-CN" sz="2400" dirty="0"/>
              <a:t>FAPI</a:t>
            </a:r>
            <a:r>
              <a:rPr lang="zh-CN" altLang="en-US" sz="2400" dirty="0"/>
              <a:t>开发就可以了，因为</a:t>
            </a:r>
            <a:r>
              <a:rPr lang="en-US" altLang="zh-CN" sz="2400" dirty="0"/>
              <a:t>FAPI</a:t>
            </a:r>
            <a:r>
              <a:rPr lang="zh-CN" altLang="en-US" sz="2400" dirty="0"/>
              <a:t>实现了</a:t>
            </a:r>
            <a:r>
              <a:rPr lang="en-US" altLang="zh-CN" sz="2400" dirty="0"/>
              <a:t>TPM</a:t>
            </a:r>
            <a:r>
              <a:rPr lang="zh-CN" altLang="en-US" sz="2400" dirty="0"/>
              <a:t>百分之八十的常用应用场景。使用这一层开发应用就像是使用</a:t>
            </a:r>
            <a:r>
              <a:rPr lang="en-US" altLang="zh-CN" sz="2400" dirty="0"/>
              <a:t>JAVA</a:t>
            </a:r>
            <a:r>
              <a:rPr lang="zh-CN" altLang="en-US" sz="2400" dirty="0"/>
              <a:t>，</a:t>
            </a:r>
            <a:r>
              <a:rPr lang="en-US" altLang="zh-CN" sz="2400" dirty="0"/>
              <a:t>C#</a:t>
            </a:r>
            <a:r>
              <a:rPr lang="zh-CN" altLang="en-US" sz="2400" dirty="0"/>
              <a:t>等高级语言开发应用一样方便。</a:t>
            </a:r>
          </a:p>
        </p:txBody>
      </p:sp>
      <p:sp>
        <p:nvSpPr>
          <p:cNvPr id="4" name="灯片编号占位符 3">
            <a:extLst>
              <a:ext uri="{FF2B5EF4-FFF2-40B4-BE49-F238E27FC236}">
                <a16:creationId xmlns:a16="http://schemas.microsoft.com/office/drawing/2014/main" id="{C43D4D8A-634D-4E8F-BAB2-6860B0AB9A7C}"/>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11</a:t>
            </a:fld>
            <a:endParaRPr lang="en-US" altLang="zh-CN"/>
          </a:p>
        </p:txBody>
      </p:sp>
    </p:spTree>
    <p:extLst>
      <p:ext uri="{BB962C8B-B14F-4D97-AF65-F5344CB8AC3E}">
        <p14:creationId xmlns:p14="http://schemas.microsoft.com/office/powerpoint/2010/main" val="170525450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807CB1-C360-4956-9F73-C4A184DB8CB1}"/>
              </a:ext>
            </a:extLst>
          </p:cNvPr>
          <p:cNvSpPr>
            <a:spLocks noGrp="1"/>
          </p:cNvSpPr>
          <p:nvPr>
            <p:ph type="title"/>
          </p:nvPr>
        </p:nvSpPr>
        <p:spPr/>
        <p:txBody>
          <a:bodyPr/>
          <a:lstStyle/>
          <a:p>
            <a:r>
              <a:rPr lang="zh-CN" altLang="en-US" dirty="0"/>
              <a:t>可信软件栈结构</a:t>
            </a:r>
          </a:p>
        </p:txBody>
      </p:sp>
      <p:sp>
        <p:nvSpPr>
          <p:cNvPr id="3" name="内容占位符 2">
            <a:extLst>
              <a:ext uri="{FF2B5EF4-FFF2-40B4-BE49-F238E27FC236}">
                <a16:creationId xmlns:a16="http://schemas.microsoft.com/office/drawing/2014/main" id="{0973B501-72BF-4683-9204-8ED2C0EF9158}"/>
              </a:ext>
            </a:extLst>
          </p:cNvPr>
          <p:cNvSpPr>
            <a:spLocks noGrp="1"/>
          </p:cNvSpPr>
          <p:nvPr>
            <p:ph idx="1"/>
          </p:nvPr>
        </p:nvSpPr>
        <p:spPr/>
        <p:txBody>
          <a:bodyPr/>
          <a:lstStyle/>
          <a:p>
            <a:r>
              <a:rPr lang="zh-CN" altLang="en-US" sz="2400" dirty="0"/>
              <a:t>往下一层是</a:t>
            </a:r>
            <a:r>
              <a:rPr lang="en-US" altLang="zh-CN" sz="2400" dirty="0"/>
              <a:t>ESAPI</a:t>
            </a:r>
            <a:r>
              <a:rPr lang="zh-CN" altLang="en-US" sz="2400" dirty="0"/>
              <a:t>，它需要应用程序对</a:t>
            </a:r>
            <a:r>
              <a:rPr lang="en-US" altLang="zh-CN" sz="2400" dirty="0"/>
              <a:t>TPM</a:t>
            </a:r>
            <a:r>
              <a:rPr lang="zh-CN" altLang="en-US" sz="2400" dirty="0"/>
              <a:t>的内部构造有更深的了解，但是同时提供了会话管理以及加解密的辅助功能。这有点像使用</a:t>
            </a:r>
            <a:r>
              <a:rPr lang="en-US" altLang="zh-CN" sz="2400" dirty="0"/>
              <a:t>C++</a:t>
            </a:r>
            <a:r>
              <a:rPr lang="zh-CN" altLang="en-US" sz="2400" dirty="0"/>
              <a:t>开发应用程序。</a:t>
            </a:r>
            <a:r>
              <a:rPr lang="en-US" altLang="zh-CN" sz="2400" dirty="0"/>
              <a:t>ESAPI</a:t>
            </a:r>
            <a:r>
              <a:rPr lang="zh-CN" altLang="en-US" sz="2400" dirty="0"/>
              <a:t>的规范我们不做介绍。</a:t>
            </a:r>
            <a:endParaRPr lang="en-US" altLang="zh-CN" sz="2400" dirty="0"/>
          </a:p>
          <a:p>
            <a:endParaRPr lang="zh-CN" altLang="en-US" sz="2400" dirty="0"/>
          </a:p>
          <a:p>
            <a:r>
              <a:rPr lang="en-US" altLang="zh-CN" sz="2400" dirty="0"/>
              <a:t>ESAPI</a:t>
            </a:r>
            <a:r>
              <a:rPr lang="zh-CN" altLang="en-US" sz="2400" dirty="0"/>
              <a:t>的下面一层是</a:t>
            </a:r>
            <a:r>
              <a:rPr lang="en-US" altLang="zh-CN" sz="2400" dirty="0"/>
              <a:t>SAPI</a:t>
            </a:r>
            <a:r>
              <a:rPr lang="zh-CN" altLang="en-US" sz="2400" dirty="0"/>
              <a:t>层，应用程序也可以直接基于</a:t>
            </a:r>
            <a:r>
              <a:rPr lang="en-US" altLang="zh-CN" sz="2400" dirty="0"/>
              <a:t>SAPI</a:t>
            </a:r>
            <a:r>
              <a:rPr lang="zh-CN" altLang="en-US" sz="2400" dirty="0"/>
              <a:t>这一层，但这需要你对</a:t>
            </a:r>
            <a:r>
              <a:rPr lang="en-US" altLang="zh-CN" sz="2400" dirty="0"/>
              <a:t>TPM</a:t>
            </a:r>
            <a:r>
              <a:rPr lang="zh-CN" altLang="en-US" sz="2400" dirty="0"/>
              <a:t>的内部构造了如指掌。这就像是使用</a:t>
            </a:r>
            <a:r>
              <a:rPr lang="en-US" altLang="zh-CN" sz="2400" dirty="0"/>
              <a:t>C</a:t>
            </a:r>
            <a:r>
              <a:rPr lang="zh-CN" altLang="en-US" sz="2400" dirty="0"/>
              <a:t>语言开发系统程序，而不是用高级语言。它提供了</a:t>
            </a:r>
            <a:r>
              <a:rPr lang="en-US" altLang="zh-CN" sz="2400" dirty="0"/>
              <a:t>TPM</a:t>
            </a:r>
            <a:r>
              <a:rPr lang="zh-CN" altLang="en-US" sz="2400" dirty="0"/>
              <a:t>的所有功能，但是要想用好它你必须对</a:t>
            </a:r>
            <a:r>
              <a:rPr lang="en-US" altLang="zh-CN" sz="2400" dirty="0"/>
              <a:t>TPM</a:t>
            </a:r>
            <a:r>
              <a:rPr lang="zh-CN" altLang="en-US" sz="2400" dirty="0"/>
              <a:t>有很深的理解。</a:t>
            </a:r>
          </a:p>
        </p:txBody>
      </p:sp>
      <p:sp>
        <p:nvSpPr>
          <p:cNvPr id="4" name="灯片编号占位符 3">
            <a:extLst>
              <a:ext uri="{FF2B5EF4-FFF2-40B4-BE49-F238E27FC236}">
                <a16:creationId xmlns:a16="http://schemas.microsoft.com/office/drawing/2014/main" id="{ABA4F0C7-0621-48CC-9369-B2BA83F3B9AA}"/>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12</a:t>
            </a:fld>
            <a:endParaRPr lang="en-US" altLang="zh-CN"/>
          </a:p>
        </p:txBody>
      </p:sp>
    </p:spTree>
    <p:extLst>
      <p:ext uri="{BB962C8B-B14F-4D97-AF65-F5344CB8AC3E}">
        <p14:creationId xmlns:p14="http://schemas.microsoft.com/office/powerpoint/2010/main" val="316092347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AC82BB-3050-4FE0-B370-B4E6CA3015FA}"/>
              </a:ext>
            </a:extLst>
          </p:cNvPr>
          <p:cNvSpPr>
            <a:spLocks noGrp="1"/>
          </p:cNvSpPr>
          <p:nvPr>
            <p:ph type="title"/>
          </p:nvPr>
        </p:nvSpPr>
        <p:spPr/>
        <p:txBody>
          <a:bodyPr/>
          <a:lstStyle/>
          <a:p>
            <a:r>
              <a:rPr lang="zh-CN" altLang="en-US" dirty="0"/>
              <a:t>可信软件栈结构</a:t>
            </a:r>
          </a:p>
        </p:txBody>
      </p:sp>
      <p:sp>
        <p:nvSpPr>
          <p:cNvPr id="3" name="内容占位符 2">
            <a:extLst>
              <a:ext uri="{FF2B5EF4-FFF2-40B4-BE49-F238E27FC236}">
                <a16:creationId xmlns:a16="http://schemas.microsoft.com/office/drawing/2014/main" id="{0FB9775B-F16C-4953-B394-10A556BCC391}"/>
              </a:ext>
            </a:extLst>
          </p:cNvPr>
          <p:cNvSpPr>
            <a:spLocks noGrp="1"/>
          </p:cNvSpPr>
          <p:nvPr>
            <p:ph idx="1"/>
          </p:nvPr>
        </p:nvSpPr>
        <p:spPr/>
        <p:txBody>
          <a:bodyPr/>
          <a:lstStyle/>
          <a:p>
            <a:r>
              <a:rPr lang="en-US" altLang="zh-CN" sz="2400" dirty="0"/>
              <a:t>TCTI</a:t>
            </a:r>
            <a:r>
              <a:rPr lang="zh-CN" altLang="en-US" sz="2400" dirty="0"/>
              <a:t>层用于向</a:t>
            </a:r>
            <a:r>
              <a:rPr lang="en-US" altLang="zh-CN" sz="2400" dirty="0"/>
              <a:t>TPM</a:t>
            </a:r>
            <a:r>
              <a:rPr lang="zh-CN" altLang="en-US" sz="2400" dirty="0"/>
              <a:t>发送命令并接收</a:t>
            </a:r>
            <a:r>
              <a:rPr lang="en-US" altLang="zh-CN" sz="2400" dirty="0"/>
              <a:t>TPM</a:t>
            </a:r>
            <a:r>
              <a:rPr lang="zh-CN" altLang="en-US" sz="2400" dirty="0"/>
              <a:t>对命令的响应。应用可以直接通过</a:t>
            </a:r>
            <a:r>
              <a:rPr lang="en-US" altLang="zh-CN" sz="2400" dirty="0"/>
              <a:t>TCTI</a:t>
            </a:r>
            <a:r>
              <a:rPr lang="zh-CN" altLang="en-US" sz="2400" dirty="0"/>
              <a:t>发送命令的数据流并解析接收到的响应数据流。这就像是使用汇编语言来编写应用程序。</a:t>
            </a:r>
            <a:endParaRPr lang="en-US" altLang="zh-CN" sz="2400" dirty="0"/>
          </a:p>
          <a:p>
            <a:endParaRPr lang="zh-CN" altLang="en-US" sz="2400" dirty="0"/>
          </a:p>
          <a:p>
            <a:r>
              <a:rPr lang="en-US" altLang="zh-CN" sz="2400" dirty="0"/>
              <a:t>TAB</a:t>
            </a:r>
            <a:r>
              <a:rPr lang="zh-CN" altLang="en-US" sz="2400" dirty="0"/>
              <a:t>这一层主要负责多线程环境下</a:t>
            </a:r>
            <a:r>
              <a:rPr lang="en-US" altLang="zh-CN" sz="2400" dirty="0"/>
              <a:t>TPM</a:t>
            </a:r>
            <a:r>
              <a:rPr lang="zh-CN" altLang="en-US" sz="2400" dirty="0"/>
              <a:t>资源的同步。它允许多个线程同时访问</a:t>
            </a:r>
            <a:r>
              <a:rPr lang="en-US" altLang="zh-CN" sz="2400" dirty="0"/>
              <a:t>TPM</a:t>
            </a:r>
            <a:r>
              <a:rPr lang="zh-CN" altLang="en-US" sz="2400" dirty="0"/>
              <a:t>而不发生冲突。</a:t>
            </a:r>
            <a:endParaRPr lang="en-US" altLang="zh-CN" sz="2400" dirty="0"/>
          </a:p>
          <a:p>
            <a:endParaRPr lang="zh-CN" altLang="en-US" sz="2400" dirty="0"/>
          </a:p>
          <a:p>
            <a:r>
              <a:rPr lang="zh-CN" altLang="en-US" sz="2400" dirty="0"/>
              <a:t>因为</a:t>
            </a:r>
            <a:r>
              <a:rPr lang="en-US" altLang="zh-CN" sz="2400" dirty="0"/>
              <a:t>TPM</a:t>
            </a:r>
            <a:r>
              <a:rPr lang="zh-CN" altLang="en-US" sz="2400" dirty="0"/>
              <a:t>内部的存储资源非常有限，所以需要一个资源管理器</a:t>
            </a:r>
            <a:r>
              <a:rPr lang="en-US" altLang="zh-CN" sz="2400" dirty="0"/>
              <a:t>RM</a:t>
            </a:r>
            <a:r>
              <a:rPr lang="zh-CN" altLang="en-US" sz="2400" dirty="0"/>
              <a:t>，它的原理于虚拟内存管理类似，它可以将</a:t>
            </a:r>
            <a:r>
              <a:rPr lang="en-US" altLang="zh-CN" sz="2400" dirty="0"/>
              <a:t>TPM</a:t>
            </a:r>
            <a:r>
              <a:rPr lang="zh-CN" altLang="en-US" sz="2400" dirty="0"/>
              <a:t>对象和会话换进换出</a:t>
            </a:r>
            <a:r>
              <a:rPr lang="en-US" altLang="zh-CN" sz="2400" dirty="0"/>
              <a:t>TPM</a:t>
            </a:r>
            <a:r>
              <a:rPr lang="zh-CN" altLang="en-US" sz="2400" dirty="0"/>
              <a:t>。</a:t>
            </a:r>
          </a:p>
          <a:p>
            <a:endParaRPr lang="zh-CN" altLang="en-US" dirty="0"/>
          </a:p>
        </p:txBody>
      </p:sp>
      <p:sp>
        <p:nvSpPr>
          <p:cNvPr id="4" name="灯片编号占位符 3">
            <a:extLst>
              <a:ext uri="{FF2B5EF4-FFF2-40B4-BE49-F238E27FC236}">
                <a16:creationId xmlns:a16="http://schemas.microsoft.com/office/drawing/2014/main" id="{3EABFD93-4081-48B2-9FCD-1AD21182F8D9}"/>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13</a:t>
            </a:fld>
            <a:endParaRPr lang="en-US" altLang="zh-CN"/>
          </a:p>
        </p:txBody>
      </p:sp>
    </p:spTree>
    <p:extLst>
      <p:ext uri="{BB962C8B-B14F-4D97-AF65-F5344CB8AC3E}">
        <p14:creationId xmlns:p14="http://schemas.microsoft.com/office/powerpoint/2010/main" val="34922126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D46A0A-9BE8-4446-AB10-EC5F926005ED}"/>
              </a:ext>
            </a:extLst>
          </p:cNvPr>
          <p:cNvSpPr>
            <a:spLocks noGrp="1"/>
          </p:cNvSpPr>
          <p:nvPr>
            <p:ph type="title"/>
          </p:nvPr>
        </p:nvSpPr>
        <p:spPr/>
        <p:txBody>
          <a:bodyPr/>
          <a:lstStyle/>
          <a:p>
            <a:r>
              <a:rPr lang="zh-CN" altLang="en-US" dirty="0"/>
              <a:t>可信软件栈结构</a:t>
            </a:r>
          </a:p>
        </p:txBody>
      </p:sp>
      <p:pic>
        <p:nvPicPr>
          <p:cNvPr id="6" name="内容占位符 5">
            <a:extLst>
              <a:ext uri="{FF2B5EF4-FFF2-40B4-BE49-F238E27FC236}">
                <a16:creationId xmlns:a16="http://schemas.microsoft.com/office/drawing/2014/main" id="{F0744A8A-B15D-4D22-AE1A-46ECDC903798}"/>
              </a:ext>
            </a:extLst>
          </p:cNvPr>
          <p:cNvPicPr>
            <a:picLocks noGrp="1" noChangeAspect="1"/>
          </p:cNvPicPr>
          <p:nvPr>
            <p:ph idx="1"/>
          </p:nvPr>
        </p:nvPicPr>
        <p:blipFill>
          <a:blip r:embed="rId2"/>
          <a:stretch>
            <a:fillRect/>
          </a:stretch>
        </p:blipFill>
        <p:spPr>
          <a:xfrm>
            <a:off x="1229532" y="718791"/>
            <a:ext cx="6442529" cy="6155084"/>
          </a:xfrm>
        </p:spPr>
      </p:pic>
      <p:sp>
        <p:nvSpPr>
          <p:cNvPr id="4" name="灯片编号占位符 3">
            <a:extLst>
              <a:ext uri="{FF2B5EF4-FFF2-40B4-BE49-F238E27FC236}">
                <a16:creationId xmlns:a16="http://schemas.microsoft.com/office/drawing/2014/main" id="{35F283B5-0C5B-46FC-891A-71E9DBE82FE3}"/>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14</a:t>
            </a:fld>
            <a:endParaRPr lang="en-US" altLang="zh-CN"/>
          </a:p>
        </p:txBody>
      </p:sp>
    </p:spTree>
    <p:extLst>
      <p:ext uri="{BB962C8B-B14F-4D97-AF65-F5344CB8AC3E}">
        <p14:creationId xmlns:p14="http://schemas.microsoft.com/office/powerpoint/2010/main" val="184133776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19A646-AEAD-4562-9356-DE982478B0F3}"/>
              </a:ext>
            </a:extLst>
          </p:cNvPr>
          <p:cNvSpPr>
            <a:spLocks noGrp="1"/>
          </p:cNvSpPr>
          <p:nvPr>
            <p:ph type="title"/>
          </p:nvPr>
        </p:nvSpPr>
        <p:spPr/>
        <p:txBody>
          <a:bodyPr/>
          <a:lstStyle/>
          <a:p>
            <a:r>
              <a:rPr lang="zh-CN" altLang="en-US" dirty="0"/>
              <a:t>可信软件栈结构</a:t>
            </a:r>
          </a:p>
        </p:txBody>
      </p:sp>
      <p:pic>
        <p:nvPicPr>
          <p:cNvPr id="5" name="内容占位符 4">
            <a:extLst>
              <a:ext uri="{FF2B5EF4-FFF2-40B4-BE49-F238E27FC236}">
                <a16:creationId xmlns:a16="http://schemas.microsoft.com/office/drawing/2014/main" id="{2F28F2D4-8E3F-4A2C-902B-D0795BE84FF2}"/>
              </a:ext>
            </a:extLst>
          </p:cNvPr>
          <p:cNvPicPr>
            <a:picLocks noGrp="1" noChangeAspect="1"/>
          </p:cNvPicPr>
          <p:nvPr>
            <p:ph idx="1"/>
          </p:nvPr>
        </p:nvPicPr>
        <p:blipFill>
          <a:blip r:embed="rId2"/>
          <a:stretch>
            <a:fillRect/>
          </a:stretch>
        </p:blipFill>
        <p:spPr>
          <a:xfrm>
            <a:off x="667445" y="1134657"/>
            <a:ext cx="7902552" cy="5739218"/>
          </a:xfrm>
          <a:prstGeom prst="rect">
            <a:avLst/>
          </a:prstGeom>
        </p:spPr>
      </p:pic>
      <p:sp>
        <p:nvSpPr>
          <p:cNvPr id="4" name="灯片编号占位符 3">
            <a:extLst>
              <a:ext uri="{FF2B5EF4-FFF2-40B4-BE49-F238E27FC236}">
                <a16:creationId xmlns:a16="http://schemas.microsoft.com/office/drawing/2014/main" id="{19582AF1-93F0-4C96-9A17-C7EC3CD38740}"/>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15</a:t>
            </a:fld>
            <a:endParaRPr lang="en-US" altLang="zh-CN"/>
          </a:p>
        </p:txBody>
      </p:sp>
    </p:spTree>
    <p:extLst>
      <p:ext uri="{BB962C8B-B14F-4D97-AF65-F5344CB8AC3E}">
        <p14:creationId xmlns:p14="http://schemas.microsoft.com/office/powerpoint/2010/main" val="304869489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80AED8-437B-4437-A4AD-81EB83FF540A}"/>
              </a:ext>
            </a:extLst>
          </p:cNvPr>
          <p:cNvSpPr>
            <a:spLocks noGrp="1"/>
          </p:cNvSpPr>
          <p:nvPr>
            <p:ph type="title"/>
          </p:nvPr>
        </p:nvSpPr>
        <p:spPr/>
        <p:txBody>
          <a:bodyPr/>
          <a:lstStyle/>
          <a:p>
            <a:r>
              <a:rPr lang="zh-CN" altLang="en-US" dirty="0"/>
              <a:t>可信软件栈结构</a:t>
            </a:r>
          </a:p>
        </p:txBody>
      </p:sp>
      <p:sp>
        <p:nvSpPr>
          <p:cNvPr id="3" name="内容占位符 2">
            <a:extLst>
              <a:ext uri="{FF2B5EF4-FFF2-40B4-BE49-F238E27FC236}">
                <a16:creationId xmlns:a16="http://schemas.microsoft.com/office/drawing/2014/main" id="{626F9590-52B3-492B-AD11-E894F7619439}"/>
              </a:ext>
            </a:extLst>
          </p:cNvPr>
          <p:cNvSpPr>
            <a:spLocks noGrp="1"/>
          </p:cNvSpPr>
          <p:nvPr>
            <p:ph idx="1"/>
          </p:nvPr>
        </p:nvSpPr>
        <p:spPr>
          <a:xfrm>
            <a:off x="432511" y="1143000"/>
            <a:ext cx="8551302" cy="5410200"/>
          </a:xfrm>
        </p:spPr>
        <p:txBody>
          <a:bodyPr/>
          <a:lstStyle/>
          <a:p>
            <a:pPr algn="just"/>
            <a:r>
              <a:rPr lang="zh-CN" altLang="en-US" dirty="0"/>
              <a:t>最后一层就是设备驱动，它主要是控制通信外设与</a:t>
            </a:r>
            <a:r>
              <a:rPr lang="en-US" altLang="zh-CN" dirty="0"/>
              <a:t>TPM</a:t>
            </a:r>
            <a:r>
              <a:rPr lang="zh-CN" altLang="en-US" dirty="0"/>
              <a:t>互相传输数据。如果你愿意的话，直接调用设备驱动接口来编写应用程序也是可以的，当然这就像是你用二进制数据编写程序一样。</a:t>
            </a:r>
            <a:endParaRPr lang="en-US" altLang="zh-CN" dirty="0"/>
          </a:p>
          <a:p>
            <a:pPr algn="just"/>
            <a:endParaRPr lang="en-US" altLang="zh-CN" dirty="0"/>
          </a:p>
          <a:p>
            <a:pPr algn="just"/>
            <a:r>
              <a:rPr lang="zh-CN" altLang="en-US" dirty="0"/>
              <a:t>尽管通常情况下，对于应用来说只有一个可用的</a:t>
            </a:r>
            <a:r>
              <a:rPr lang="en-US" altLang="zh-CN" dirty="0"/>
              <a:t>TPM</a:t>
            </a:r>
            <a:r>
              <a:rPr lang="zh-CN" altLang="en-US" dirty="0"/>
              <a:t>设备，但是有多个</a:t>
            </a:r>
            <a:r>
              <a:rPr lang="en-US" altLang="zh-CN" dirty="0"/>
              <a:t>TPM</a:t>
            </a:r>
            <a:r>
              <a:rPr lang="zh-CN" altLang="en-US" dirty="0"/>
              <a:t>设备也是可以的。其他的</a:t>
            </a:r>
            <a:r>
              <a:rPr lang="en-US" altLang="zh-CN" dirty="0"/>
              <a:t>TPM</a:t>
            </a:r>
            <a:r>
              <a:rPr lang="zh-CN" altLang="en-US" dirty="0"/>
              <a:t>设备可以是软件实现的</a:t>
            </a:r>
            <a:r>
              <a:rPr lang="en-US" altLang="zh-CN" dirty="0"/>
              <a:t>TPM</a:t>
            </a:r>
            <a:r>
              <a:rPr lang="zh-CN" altLang="en-US" dirty="0"/>
              <a:t>，比如微软的</a:t>
            </a:r>
            <a:r>
              <a:rPr lang="en-US" altLang="zh-CN" dirty="0"/>
              <a:t>TPM</a:t>
            </a:r>
            <a:r>
              <a:rPr lang="zh-CN" altLang="en-US" dirty="0"/>
              <a:t>模拟器；也可以是通过网络来远程访问的</a:t>
            </a:r>
            <a:r>
              <a:rPr lang="en-US" altLang="zh-CN" dirty="0"/>
              <a:t>TPM</a:t>
            </a:r>
            <a:r>
              <a:rPr lang="zh-CN" altLang="en-US" dirty="0"/>
              <a:t>，</a:t>
            </a:r>
            <a:r>
              <a:rPr lang="en-US" altLang="zh-CN" dirty="0"/>
              <a:t>TPM</a:t>
            </a:r>
            <a:r>
              <a:rPr lang="zh-CN" altLang="en-US" dirty="0"/>
              <a:t>设备有这样的远程管理功能。</a:t>
            </a:r>
            <a:endParaRPr lang="en-US" altLang="zh-CN" dirty="0"/>
          </a:p>
          <a:p>
            <a:pPr algn="just"/>
            <a:endParaRPr lang="zh-CN" altLang="en-US" dirty="0"/>
          </a:p>
          <a:p>
            <a:pPr algn="just"/>
            <a:r>
              <a:rPr lang="zh-CN" altLang="en-US" dirty="0"/>
              <a:t>通常来说，</a:t>
            </a:r>
            <a:r>
              <a:rPr lang="en-US" altLang="zh-CN" dirty="0"/>
              <a:t>SAPI</a:t>
            </a:r>
            <a:r>
              <a:rPr lang="zh-CN" altLang="en-US" dirty="0"/>
              <a:t>以上的软件是线程相关的，</a:t>
            </a:r>
            <a:r>
              <a:rPr lang="en-US" altLang="zh-CN" dirty="0"/>
              <a:t>SAPI</a:t>
            </a:r>
            <a:r>
              <a:rPr lang="zh-CN" altLang="en-US" dirty="0"/>
              <a:t>以下的组件是与</a:t>
            </a:r>
            <a:r>
              <a:rPr lang="en-US" altLang="zh-CN" dirty="0"/>
              <a:t>TPM</a:t>
            </a:r>
            <a:r>
              <a:rPr lang="zh-CN" altLang="en-US" dirty="0"/>
              <a:t>硬件相关的。尽管</a:t>
            </a:r>
            <a:r>
              <a:rPr lang="en-US" altLang="zh-CN" dirty="0"/>
              <a:t>TSS</a:t>
            </a:r>
            <a:r>
              <a:rPr lang="zh-CN" altLang="en-US" dirty="0"/>
              <a:t>结构没有体现这一点，实际上</a:t>
            </a:r>
            <a:r>
              <a:rPr lang="en-US" altLang="zh-CN" dirty="0"/>
              <a:t>TCTI</a:t>
            </a:r>
            <a:r>
              <a:rPr lang="zh-CN" altLang="en-US" dirty="0"/>
              <a:t>可以作为</a:t>
            </a:r>
            <a:r>
              <a:rPr lang="en-US" altLang="zh-CN" dirty="0"/>
              <a:t>RM</a:t>
            </a:r>
            <a:r>
              <a:rPr lang="zh-CN" altLang="en-US" dirty="0"/>
              <a:t>和设备驱动的接口，这时候</a:t>
            </a:r>
            <a:r>
              <a:rPr lang="en-US" altLang="zh-CN" dirty="0"/>
              <a:t>TCTI</a:t>
            </a:r>
            <a:r>
              <a:rPr lang="zh-CN" altLang="en-US" dirty="0"/>
              <a:t>在软件栈中有多个层次的角色。到目前为止，</a:t>
            </a:r>
            <a:r>
              <a:rPr lang="en-US" altLang="zh-CN" dirty="0"/>
              <a:t>TAB</a:t>
            </a:r>
            <a:r>
              <a:rPr lang="zh-CN" altLang="en-US" dirty="0"/>
              <a:t>和</a:t>
            </a:r>
            <a:r>
              <a:rPr lang="en-US" altLang="zh-CN" dirty="0"/>
              <a:t>RM</a:t>
            </a:r>
            <a:r>
              <a:rPr lang="zh-CN" altLang="en-US" dirty="0"/>
              <a:t>最常见的实现方式是作为一个模块实现。</a:t>
            </a:r>
          </a:p>
        </p:txBody>
      </p:sp>
      <p:sp>
        <p:nvSpPr>
          <p:cNvPr id="4" name="灯片编号占位符 3">
            <a:extLst>
              <a:ext uri="{FF2B5EF4-FFF2-40B4-BE49-F238E27FC236}">
                <a16:creationId xmlns:a16="http://schemas.microsoft.com/office/drawing/2014/main" id="{1A86A12D-F293-4F78-A85A-44EAA00983CE}"/>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16</a:t>
            </a:fld>
            <a:endParaRPr lang="en-US" altLang="zh-CN"/>
          </a:p>
        </p:txBody>
      </p:sp>
    </p:spTree>
    <p:extLst>
      <p:ext uri="{BB962C8B-B14F-4D97-AF65-F5344CB8AC3E}">
        <p14:creationId xmlns:p14="http://schemas.microsoft.com/office/powerpoint/2010/main" val="287824879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51FFD3-90CF-4B70-B648-0E82BA7D06BF}"/>
              </a:ext>
            </a:extLst>
          </p:cNvPr>
          <p:cNvSpPr>
            <a:spLocks noGrp="1"/>
          </p:cNvSpPr>
          <p:nvPr>
            <p:ph type="title"/>
          </p:nvPr>
        </p:nvSpPr>
        <p:spPr/>
        <p:txBody>
          <a:bodyPr/>
          <a:lstStyle/>
          <a:p>
            <a:r>
              <a:rPr lang="en-US" altLang="zh-CN" dirty="0"/>
              <a:t>1</a:t>
            </a:r>
            <a:r>
              <a:rPr lang="zh-CN" altLang="en-US" dirty="0"/>
              <a:t>、</a:t>
            </a:r>
            <a:r>
              <a:rPr lang="en-US" altLang="zh-CN" dirty="0"/>
              <a:t>Feature API</a:t>
            </a:r>
            <a:r>
              <a:rPr lang="zh-CN" altLang="en-US" dirty="0"/>
              <a:t>层</a:t>
            </a:r>
          </a:p>
        </p:txBody>
      </p:sp>
      <p:sp>
        <p:nvSpPr>
          <p:cNvPr id="3" name="内容占位符 2">
            <a:extLst>
              <a:ext uri="{FF2B5EF4-FFF2-40B4-BE49-F238E27FC236}">
                <a16:creationId xmlns:a16="http://schemas.microsoft.com/office/drawing/2014/main" id="{079B402E-F682-4503-8F7F-841D8CBA1B50}"/>
              </a:ext>
            </a:extLst>
          </p:cNvPr>
          <p:cNvSpPr>
            <a:spLocks noGrp="1"/>
          </p:cNvSpPr>
          <p:nvPr>
            <p:ph idx="1"/>
          </p:nvPr>
        </p:nvSpPr>
        <p:spPr/>
        <p:txBody>
          <a:bodyPr/>
          <a:lstStyle/>
          <a:p>
            <a:r>
              <a:rPr lang="en-US" altLang="zh-CN" dirty="0"/>
              <a:t>TSS</a:t>
            </a:r>
            <a:r>
              <a:rPr lang="zh-CN" altLang="en-US" dirty="0"/>
              <a:t>的</a:t>
            </a:r>
            <a:r>
              <a:rPr lang="en-US" altLang="zh-CN" dirty="0"/>
              <a:t>FAPI</a:t>
            </a:r>
            <a:r>
              <a:rPr lang="zh-CN" altLang="en-US" dirty="0"/>
              <a:t>目标是让用户更容易地使用</a:t>
            </a:r>
            <a:r>
              <a:rPr lang="en-US" altLang="zh-CN" dirty="0"/>
              <a:t>TPM2.0</a:t>
            </a:r>
            <a:r>
              <a:rPr lang="zh-CN" altLang="en-US" dirty="0"/>
              <a:t>最常用的功能。因此，</a:t>
            </a:r>
            <a:r>
              <a:rPr lang="en-US" altLang="zh-CN" dirty="0"/>
              <a:t>FAPI</a:t>
            </a:r>
            <a:r>
              <a:rPr lang="zh-CN" altLang="en-US" dirty="0"/>
              <a:t>不能使用使用</a:t>
            </a:r>
            <a:r>
              <a:rPr lang="en-US" altLang="zh-CN" dirty="0"/>
              <a:t>TPM</a:t>
            </a:r>
            <a:r>
              <a:rPr lang="zh-CN" altLang="en-US" dirty="0"/>
              <a:t>的一些特殊功能。</a:t>
            </a:r>
          </a:p>
          <a:p>
            <a:endParaRPr lang="zh-CN" altLang="en-US" dirty="0"/>
          </a:p>
          <a:p>
            <a:r>
              <a:rPr lang="zh-CN" altLang="en-US" dirty="0"/>
              <a:t>在设计</a:t>
            </a:r>
            <a:r>
              <a:rPr lang="en-US" altLang="zh-CN" dirty="0"/>
              <a:t>FAPI</a:t>
            </a:r>
            <a:r>
              <a:rPr lang="zh-CN" altLang="en-US" dirty="0"/>
              <a:t>时，设计者希望</a:t>
            </a:r>
            <a:r>
              <a:rPr lang="en-US" altLang="zh-CN" dirty="0"/>
              <a:t>80%</a:t>
            </a:r>
            <a:r>
              <a:rPr lang="zh-CN" altLang="en-US" dirty="0"/>
              <a:t>的应用程序仅仅使用</a:t>
            </a:r>
            <a:r>
              <a:rPr lang="en-US" altLang="zh-CN" dirty="0"/>
              <a:t>FAPI</a:t>
            </a:r>
            <a:r>
              <a:rPr lang="zh-CN" altLang="en-US" dirty="0"/>
              <a:t>这一层就能满足要求，而不用使用其他的</a:t>
            </a:r>
            <a:r>
              <a:rPr lang="en-US" altLang="zh-CN" dirty="0"/>
              <a:t>TSS API</a:t>
            </a:r>
            <a:r>
              <a:rPr lang="zh-CN" altLang="en-US" dirty="0"/>
              <a:t>。同时也尽可能让用户较少地调用</a:t>
            </a:r>
            <a:r>
              <a:rPr lang="en-US" altLang="zh-CN" dirty="0"/>
              <a:t>API</a:t>
            </a:r>
            <a:r>
              <a:rPr lang="zh-CN" altLang="en-US" dirty="0"/>
              <a:t>函数，以及定义最少的参数。</a:t>
            </a:r>
          </a:p>
          <a:p>
            <a:endParaRPr lang="zh-CN" altLang="en-US" dirty="0"/>
          </a:p>
          <a:p>
            <a:r>
              <a:rPr lang="zh-CN" altLang="en-US" dirty="0"/>
              <a:t>实现上述构想的一种实现方式就是使用一个配置文件，这个配置文件中定义了用户对算法，密钥大小，加密模式，签名模式等的默认配置；用户在创建密钥的时候就可以使用这些默认的配置。它假设用户希望选择一组互相匹配的密码，用户可以设置是否使用这些默认的配置。有时候用户可能希望选择一个配置文件，当然这也是可以的。但是通常情况下用户总是会选择默认的配置。</a:t>
            </a:r>
            <a:r>
              <a:rPr lang="en-US" altLang="zh-CN" dirty="0"/>
              <a:t>FAPI</a:t>
            </a:r>
            <a:r>
              <a:rPr lang="zh-CN" altLang="en-US" dirty="0"/>
              <a:t>在发布的时候总是附带一个预先设置好的配置文件，配置文件总是包含最常用的配置。</a:t>
            </a:r>
          </a:p>
        </p:txBody>
      </p:sp>
      <p:sp>
        <p:nvSpPr>
          <p:cNvPr id="4" name="灯片编号占位符 3">
            <a:extLst>
              <a:ext uri="{FF2B5EF4-FFF2-40B4-BE49-F238E27FC236}">
                <a16:creationId xmlns:a16="http://schemas.microsoft.com/office/drawing/2014/main" id="{11A453F2-383A-47C4-9894-615BE57E43A1}"/>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17</a:t>
            </a:fld>
            <a:endParaRPr lang="en-US" altLang="zh-CN"/>
          </a:p>
        </p:txBody>
      </p:sp>
    </p:spTree>
    <p:extLst>
      <p:ext uri="{BB962C8B-B14F-4D97-AF65-F5344CB8AC3E}">
        <p14:creationId xmlns:p14="http://schemas.microsoft.com/office/powerpoint/2010/main" val="46100704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B5D6BE-CE47-48FF-8590-28AB37314253}"/>
              </a:ext>
            </a:extLst>
          </p:cNvPr>
          <p:cNvSpPr>
            <a:spLocks noGrp="1"/>
          </p:cNvSpPr>
          <p:nvPr>
            <p:ph type="title"/>
          </p:nvPr>
        </p:nvSpPr>
        <p:spPr/>
        <p:txBody>
          <a:bodyPr/>
          <a:lstStyle/>
          <a:p>
            <a:r>
              <a:rPr lang="zh-CN" altLang="en-US" dirty="0"/>
              <a:t>设定密码套件</a:t>
            </a:r>
          </a:p>
        </p:txBody>
      </p:sp>
      <p:sp>
        <p:nvSpPr>
          <p:cNvPr id="3" name="内容占位符 2">
            <a:extLst>
              <a:ext uri="{FF2B5EF4-FFF2-40B4-BE49-F238E27FC236}">
                <a16:creationId xmlns:a16="http://schemas.microsoft.com/office/drawing/2014/main" id="{28AA6195-11F3-483E-9AB2-6167EB3749D0}"/>
              </a:ext>
            </a:extLst>
          </p:cNvPr>
          <p:cNvSpPr>
            <a:spLocks noGrp="1"/>
          </p:cNvSpPr>
          <p:nvPr>
            <p:ph idx="1"/>
          </p:nvPr>
        </p:nvSpPr>
        <p:spPr/>
        <p:txBody>
          <a:bodyPr/>
          <a:lstStyle/>
          <a:p>
            <a:r>
              <a:rPr lang="en-US" altLang="zh-CN" dirty="0"/>
              <a:t>P_RSA2048SHA1</a:t>
            </a:r>
            <a:r>
              <a:rPr lang="zh-CN" altLang="en-US" dirty="0"/>
              <a:t>这个配置使用</a:t>
            </a:r>
            <a:r>
              <a:rPr lang="en-US" altLang="zh-CN" dirty="0"/>
              <a:t>RSA2048</a:t>
            </a:r>
            <a:r>
              <a:rPr lang="zh-CN" altLang="en-US" dirty="0"/>
              <a:t>位的非对称密钥来签名，签名过程遵循</a:t>
            </a:r>
            <a:r>
              <a:rPr lang="en-US" altLang="zh-CN" dirty="0"/>
              <a:t>PKCS1v1.5</a:t>
            </a:r>
            <a:r>
              <a:rPr lang="zh-CN" altLang="en-US" dirty="0"/>
              <a:t>规范。哈希算法使用</a:t>
            </a:r>
            <a:r>
              <a:rPr lang="en-US" altLang="zh-CN" dirty="0"/>
              <a:t>SHA1</a:t>
            </a:r>
            <a:r>
              <a:rPr lang="zh-CN" altLang="en-US" dirty="0"/>
              <a:t>，对称加密使用</a:t>
            </a:r>
            <a:r>
              <a:rPr lang="en-US" altLang="zh-CN" dirty="0"/>
              <a:t>AES128</a:t>
            </a:r>
            <a:r>
              <a:rPr lang="zh-CN" altLang="en-US" dirty="0"/>
              <a:t>的</a:t>
            </a:r>
            <a:r>
              <a:rPr lang="en-US" altLang="zh-CN" dirty="0"/>
              <a:t>CFB</a:t>
            </a:r>
            <a:r>
              <a:rPr lang="zh-CN" altLang="en-US" dirty="0"/>
              <a:t>模式。</a:t>
            </a:r>
          </a:p>
          <a:p>
            <a:r>
              <a:rPr lang="en-US" altLang="zh-CN" dirty="0"/>
              <a:t>P_RSA2048SHA256</a:t>
            </a:r>
            <a:r>
              <a:rPr lang="zh-CN" altLang="en-US" dirty="0"/>
              <a:t>这个配置同样使用</a:t>
            </a:r>
            <a:r>
              <a:rPr lang="en-US" altLang="zh-CN" dirty="0"/>
              <a:t>RSA2048</a:t>
            </a:r>
            <a:r>
              <a:rPr lang="zh-CN" altLang="en-US" dirty="0"/>
              <a:t>位非对称密钥类签名，签名过程遵循</a:t>
            </a:r>
            <a:r>
              <a:rPr lang="en-US" altLang="zh-CN" dirty="0"/>
              <a:t>PKCSv1.5</a:t>
            </a:r>
            <a:r>
              <a:rPr lang="zh-CN" altLang="en-US" dirty="0"/>
              <a:t>规范。哈希算法使用</a:t>
            </a:r>
            <a:r>
              <a:rPr lang="en-US" altLang="zh-CN" dirty="0"/>
              <a:t>SHA256</a:t>
            </a:r>
            <a:r>
              <a:rPr lang="zh-CN" altLang="en-US" dirty="0"/>
              <a:t>，对称加密使用</a:t>
            </a:r>
            <a:r>
              <a:rPr lang="en-US" altLang="zh-CN" dirty="0"/>
              <a:t>AES128</a:t>
            </a:r>
            <a:r>
              <a:rPr lang="zh-CN" altLang="en-US" dirty="0"/>
              <a:t>的</a:t>
            </a:r>
            <a:r>
              <a:rPr lang="en-US" altLang="zh-CN" dirty="0"/>
              <a:t>CFB</a:t>
            </a:r>
            <a:r>
              <a:rPr lang="zh-CN" altLang="en-US" dirty="0"/>
              <a:t>模式</a:t>
            </a:r>
          </a:p>
          <a:p>
            <a:r>
              <a:rPr lang="en-US" altLang="zh-CN" dirty="0"/>
              <a:t>P_ECCP256</a:t>
            </a:r>
            <a:r>
              <a:rPr lang="zh-CN" altLang="en-US" dirty="0"/>
              <a:t>这个配置的签名机制时</a:t>
            </a:r>
            <a:r>
              <a:rPr lang="en-US" altLang="zh-CN" dirty="0"/>
              <a:t>ECDSA</a:t>
            </a:r>
            <a:r>
              <a:rPr lang="zh-CN" altLang="en-US" dirty="0"/>
              <a:t>，密钥使用</a:t>
            </a:r>
            <a:r>
              <a:rPr lang="en-US" altLang="zh-CN" dirty="0"/>
              <a:t>NIST ECC</a:t>
            </a:r>
            <a:r>
              <a:rPr lang="zh-CN" altLang="en-US" dirty="0"/>
              <a:t>素数域</a:t>
            </a:r>
            <a:r>
              <a:rPr lang="en-US" altLang="zh-CN" dirty="0"/>
              <a:t>256</a:t>
            </a:r>
            <a:r>
              <a:rPr lang="zh-CN" altLang="en-US" dirty="0"/>
              <a:t>比特非对称密钥。</a:t>
            </a:r>
          </a:p>
          <a:p>
            <a:endParaRPr lang="zh-CN" altLang="en-US" dirty="0"/>
          </a:p>
          <a:p>
            <a:r>
              <a:rPr lang="zh-CN" altLang="en-US" dirty="0"/>
              <a:t>配置文件中的路径描述用于</a:t>
            </a:r>
            <a:r>
              <a:rPr lang="en-US" altLang="zh-CN" dirty="0"/>
              <a:t>FAPI</a:t>
            </a:r>
            <a:r>
              <a:rPr lang="zh-CN" altLang="en-US" dirty="0"/>
              <a:t>查找，密钥，</a:t>
            </a:r>
            <a:r>
              <a:rPr lang="en-US" altLang="zh-CN" dirty="0"/>
              <a:t>Policies</a:t>
            </a:r>
            <a:r>
              <a:rPr lang="zh-CN" altLang="en-US" dirty="0"/>
              <a:t>，</a:t>
            </a:r>
            <a:r>
              <a:rPr lang="en-US" altLang="zh-CN" dirty="0"/>
              <a:t>NV</a:t>
            </a:r>
            <a:r>
              <a:rPr lang="zh-CN" altLang="en-US" dirty="0"/>
              <a:t>，和其他的</a:t>
            </a:r>
            <a:r>
              <a:rPr lang="en-US" altLang="zh-CN" dirty="0"/>
              <a:t>TPM</a:t>
            </a:r>
            <a:r>
              <a:rPr lang="zh-CN" altLang="en-US" dirty="0"/>
              <a:t>对象和资源实体。路径的基本结构如下：</a:t>
            </a:r>
          </a:p>
          <a:p>
            <a:r>
              <a:rPr lang="en-US" altLang="zh-CN" dirty="0"/>
              <a:t>&lt;Profile name&gt; / &lt;Hierarchy&gt; / &lt;Object Ancestor&gt; / key tree</a:t>
            </a:r>
          </a:p>
          <a:p>
            <a:endParaRPr lang="zh-CN" altLang="en-US" dirty="0"/>
          </a:p>
        </p:txBody>
      </p:sp>
      <p:sp>
        <p:nvSpPr>
          <p:cNvPr id="4" name="灯片编号占位符 3">
            <a:extLst>
              <a:ext uri="{FF2B5EF4-FFF2-40B4-BE49-F238E27FC236}">
                <a16:creationId xmlns:a16="http://schemas.microsoft.com/office/drawing/2014/main" id="{CAB73A17-E625-4931-82E0-66DC83948901}"/>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18</a:t>
            </a:fld>
            <a:endParaRPr lang="en-US" altLang="zh-CN"/>
          </a:p>
        </p:txBody>
      </p:sp>
    </p:spTree>
    <p:extLst>
      <p:ext uri="{BB962C8B-B14F-4D97-AF65-F5344CB8AC3E}">
        <p14:creationId xmlns:p14="http://schemas.microsoft.com/office/powerpoint/2010/main" val="257432539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48AE02-805D-44D3-8F0C-DCEDC8FDFFA8}"/>
              </a:ext>
            </a:extLst>
          </p:cNvPr>
          <p:cNvSpPr>
            <a:spLocks noGrp="1"/>
          </p:cNvSpPr>
          <p:nvPr>
            <p:ph type="title"/>
          </p:nvPr>
        </p:nvSpPr>
        <p:spPr/>
        <p:txBody>
          <a:bodyPr/>
          <a:lstStyle/>
          <a:p>
            <a:r>
              <a:rPr lang="zh-CN" altLang="en-US" dirty="0"/>
              <a:t>设定密码套件</a:t>
            </a:r>
          </a:p>
        </p:txBody>
      </p:sp>
      <p:sp>
        <p:nvSpPr>
          <p:cNvPr id="3" name="内容占位符 2">
            <a:extLst>
              <a:ext uri="{FF2B5EF4-FFF2-40B4-BE49-F238E27FC236}">
                <a16:creationId xmlns:a16="http://schemas.microsoft.com/office/drawing/2014/main" id="{F149BE0D-F01F-476B-9A3A-0B0CBDAF0F7A}"/>
              </a:ext>
            </a:extLst>
          </p:cNvPr>
          <p:cNvSpPr>
            <a:spLocks noGrp="1"/>
          </p:cNvSpPr>
          <p:nvPr>
            <p:ph idx="1"/>
          </p:nvPr>
        </p:nvSpPr>
        <p:spPr/>
        <p:txBody>
          <a:bodyPr/>
          <a:lstStyle/>
          <a:p>
            <a:r>
              <a:rPr lang="zh-CN" altLang="en-US" dirty="0"/>
              <a:t>假设用户使用</a:t>
            </a:r>
            <a:r>
              <a:rPr lang="en-US" altLang="zh-CN" dirty="0"/>
              <a:t>P_RSA2048SHA1</a:t>
            </a:r>
            <a:r>
              <a:rPr lang="zh-CN" altLang="en-US" dirty="0"/>
              <a:t>，所有以下的路径都是相等的：</a:t>
            </a:r>
          </a:p>
          <a:p>
            <a:r>
              <a:rPr lang="en-US" altLang="zh-CN" dirty="0"/>
              <a:t>P_RSA2048SHA1/H_S/SNK/</a:t>
            </a:r>
            <a:r>
              <a:rPr lang="en-US" altLang="zh-CN" dirty="0" err="1"/>
              <a:t>myVPNkey</a:t>
            </a:r>
            <a:endParaRPr lang="en-US" altLang="zh-CN" dirty="0"/>
          </a:p>
          <a:p>
            <a:r>
              <a:rPr lang="en-US" altLang="zh-CN" dirty="0"/>
              <a:t>H_S/SNK/</a:t>
            </a:r>
            <a:r>
              <a:rPr lang="en-US" altLang="zh-CN" dirty="0" err="1"/>
              <a:t>myVPNkey</a:t>
            </a:r>
            <a:endParaRPr lang="en-US" altLang="zh-CN" dirty="0"/>
          </a:p>
          <a:p>
            <a:r>
              <a:rPr lang="en-US" altLang="zh-CN" dirty="0"/>
              <a:t>SNK/</a:t>
            </a:r>
            <a:r>
              <a:rPr lang="en-US" altLang="zh-CN" dirty="0" err="1"/>
              <a:t>myVPNkey</a:t>
            </a:r>
            <a:endParaRPr lang="en-US" altLang="zh-CN" dirty="0"/>
          </a:p>
          <a:p>
            <a:r>
              <a:rPr lang="en-US" altLang="zh-CN" dirty="0"/>
              <a:t>P_RSA2048SHA1/H_S/SNK/MYVPNKEY</a:t>
            </a:r>
          </a:p>
          <a:p>
            <a:r>
              <a:rPr lang="en-US" altLang="zh-CN" dirty="0"/>
              <a:t>H_S/SNK/MYVPNKEY</a:t>
            </a:r>
          </a:p>
          <a:p>
            <a:r>
              <a:rPr lang="en-US" altLang="zh-CN" dirty="0"/>
              <a:t>SNK/MYVPNKEY</a:t>
            </a:r>
          </a:p>
          <a:p>
            <a:endParaRPr lang="en-US" altLang="zh-CN" dirty="0"/>
          </a:p>
          <a:p>
            <a:r>
              <a:rPr lang="zh-CN" altLang="en-US" dirty="0"/>
              <a:t>一个父对象为用户备份密钥的</a:t>
            </a:r>
            <a:r>
              <a:rPr lang="en-US" altLang="zh-CN" dirty="0"/>
              <a:t>ECC P-256 NIST </a:t>
            </a:r>
            <a:r>
              <a:rPr lang="zh-CN" altLang="en-US" dirty="0"/>
              <a:t>签名密钥可以用如下的路径标识：</a:t>
            </a:r>
          </a:p>
          <a:p>
            <a:r>
              <a:rPr lang="en-US" altLang="zh-CN" dirty="0"/>
              <a:t>P_ECCP256/UDK/</a:t>
            </a:r>
            <a:r>
              <a:rPr lang="en-US" altLang="zh-CN" dirty="0" err="1"/>
              <a:t>backupStorageKey</a:t>
            </a:r>
            <a:r>
              <a:rPr lang="en-US" altLang="zh-CN" dirty="0"/>
              <a:t>/mySigningKey</a:t>
            </a:r>
            <a:endParaRPr lang="zh-CN" altLang="en-US" dirty="0"/>
          </a:p>
        </p:txBody>
      </p:sp>
      <p:sp>
        <p:nvSpPr>
          <p:cNvPr id="4" name="灯片编号占位符 3">
            <a:extLst>
              <a:ext uri="{FF2B5EF4-FFF2-40B4-BE49-F238E27FC236}">
                <a16:creationId xmlns:a16="http://schemas.microsoft.com/office/drawing/2014/main" id="{D58435AD-EC9C-45A8-B567-6555EBA64206}"/>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19</a:t>
            </a:fld>
            <a:endParaRPr lang="en-US" altLang="zh-CN"/>
          </a:p>
        </p:txBody>
      </p:sp>
    </p:spTree>
    <p:extLst>
      <p:ext uri="{BB962C8B-B14F-4D97-AF65-F5344CB8AC3E}">
        <p14:creationId xmlns:p14="http://schemas.microsoft.com/office/powerpoint/2010/main" val="125759779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407177-F2EE-469D-A671-B70A03ACB332}"/>
              </a:ext>
            </a:extLst>
          </p:cNvPr>
          <p:cNvSpPr>
            <a:spLocks noGrp="1"/>
          </p:cNvSpPr>
          <p:nvPr>
            <p:ph type="title"/>
          </p:nvPr>
        </p:nvSpPr>
        <p:spPr/>
        <p:txBody>
          <a:bodyPr/>
          <a:lstStyle/>
          <a:p>
            <a:r>
              <a:rPr lang="en-US" altLang="zh-CN" dirty="0"/>
              <a:t>FAPI</a:t>
            </a:r>
            <a:r>
              <a:rPr lang="zh-CN" altLang="en-US" dirty="0"/>
              <a:t>层开发流程</a:t>
            </a:r>
          </a:p>
        </p:txBody>
      </p:sp>
      <p:sp>
        <p:nvSpPr>
          <p:cNvPr id="3" name="内容占位符 2">
            <a:extLst>
              <a:ext uri="{FF2B5EF4-FFF2-40B4-BE49-F238E27FC236}">
                <a16:creationId xmlns:a16="http://schemas.microsoft.com/office/drawing/2014/main" id="{1190B6B1-6AE2-476E-8273-51E295027E98}"/>
              </a:ext>
            </a:extLst>
          </p:cNvPr>
          <p:cNvSpPr>
            <a:spLocks noGrp="1"/>
          </p:cNvSpPr>
          <p:nvPr>
            <p:ph idx="1"/>
          </p:nvPr>
        </p:nvSpPr>
        <p:spPr/>
        <p:txBody>
          <a:bodyPr/>
          <a:lstStyle/>
          <a:p>
            <a:pPr algn="just"/>
            <a:r>
              <a:rPr lang="zh-CN" altLang="en-US" sz="2800" dirty="0"/>
              <a:t>在</a:t>
            </a:r>
            <a:r>
              <a:rPr lang="en-US" altLang="zh-CN" sz="2800" dirty="0"/>
              <a:t>FAPI</a:t>
            </a:r>
            <a:r>
              <a:rPr lang="zh-CN" altLang="en-US" sz="2800" dirty="0"/>
              <a:t>层进行可信服务开发，类似于利用</a:t>
            </a:r>
            <a:r>
              <a:rPr lang="en-US" altLang="zh-CN" sz="2800" dirty="0"/>
              <a:t>Java</a:t>
            </a:r>
            <a:r>
              <a:rPr lang="zh-CN" altLang="en-US" sz="2800" dirty="0"/>
              <a:t>等高级语言进行应用开发。</a:t>
            </a:r>
            <a:r>
              <a:rPr lang="en-US" altLang="zh-CN" sz="2800" dirty="0"/>
              <a:t>FAPI</a:t>
            </a:r>
            <a:r>
              <a:rPr lang="zh-CN" altLang="en-US" sz="2800" dirty="0"/>
              <a:t>提供了大量易用的</a:t>
            </a:r>
            <a:r>
              <a:rPr lang="en-US" altLang="zh-CN" sz="2800" dirty="0"/>
              <a:t>API</a:t>
            </a:r>
            <a:r>
              <a:rPr lang="zh-CN" altLang="en-US" sz="2800" dirty="0"/>
              <a:t>接口，开发者通过调用这些接口，可以完成</a:t>
            </a:r>
            <a:r>
              <a:rPr lang="en-US" altLang="zh-CN" sz="2800" dirty="0"/>
              <a:t>80%</a:t>
            </a:r>
            <a:r>
              <a:rPr lang="zh-CN" altLang="en-US" sz="2800" dirty="0"/>
              <a:t>左右的任务。但是在</a:t>
            </a:r>
            <a:r>
              <a:rPr lang="en-US" altLang="zh-CN" sz="2800" dirty="0"/>
              <a:t>FAPI</a:t>
            </a:r>
            <a:r>
              <a:rPr lang="zh-CN" altLang="en-US" sz="2800" dirty="0"/>
              <a:t>层进行开发，必须按照约定好的模式进行。</a:t>
            </a:r>
            <a:endParaRPr lang="en-US" altLang="zh-CN" sz="2800" dirty="0"/>
          </a:p>
          <a:p>
            <a:pPr algn="just"/>
            <a:r>
              <a:rPr lang="en-US" altLang="zh-CN" sz="2800" dirty="0"/>
              <a:t>1</a:t>
            </a:r>
            <a:r>
              <a:rPr lang="zh-CN" altLang="en-US" sz="2800" dirty="0"/>
              <a:t>、命名并定位</a:t>
            </a:r>
            <a:r>
              <a:rPr lang="en-US" altLang="zh-CN" sz="2800" dirty="0"/>
              <a:t>TPM</a:t>
            </a:r>
            <a:r>
              <a:rPr lang="zh-CN" altLang="en-US" sz="2800" dirty="0"/>
              <a:t>资源与实体</a:t>
            </a:r>
            <a:endParaRPr lang="en-US" altLang="zh-CN" sz="2800" dirty="0"/>
          </a:p>
          <a:p>
            <a:pPr algn="just"/>
            <a:r>
              <a:rPr lang="en-US" altLang="zh-CN" sz="2800" dirty="0"/>
              <a:t>2</a:t>
            </a:r>
            <a:r>
              <a:rPr lang="zh-CN" altLang="en-US" sz="2800" dirty="0"/>
              <a:t>、设置密码算法配置文件</a:t>
            </a:r>
            <a:endParaRPr lang="en-US" altLang="zh-CN" sz="2800" dirty="0"/>
          </a:p>
          <a:p>
            <a:pPr algn="just"/>
            <a:r>
              <a:rPr lang="en-US" altLang="zh-CN" sz="2800" dirty="0"/>
              <a:t>3</a:t>
            </a:r>
            <a:r>
              <a:rPr lang="zh-CN" altLang="en-US" sz="2800" dirty="0"/>
              <a:t>、设置基本数据结构</a:t>
            </a:r>
            <a:endParaRPr lang="en-US" altLang="zh-CN" sz="2800" dirty="0"/>
          </a:p>
          <a:p>
            <a:pPr algn="just"/>
            <a:r>
              <a:rPr lang="en-US" altLang="zh-CN" sz="2800" dirty="0"/>
              <a:t>4</a:t>
            </a:r>
            <a:r>
              <a:rPr lang="zh-CN" altLang="en-US" sz="2800" dirty="0"/>
              <a:t>、调用</a:t>
            </a:r>
            <a:r>
              <a:rPr lang="en-US" altLang="zh-CN" sz="2800" dirty="0"/>
              <a:t>FAPI</a:t>
            </a:r>
            <a:r>
              <a:rPr lang="zh-CN" altLang="en-US" sz="2800" dirty="0"/>
              <a:t>接口完成可信服务。</a:t>
            </a:r>
          </a:p>
        </p:txBody>
      </p:sp>
      <p:sp>
        <p:nvSpPr>
          <p:cNvPr id="4" name="灯片编号占位符 3">
            <a:extLst>
              <a:ext uri="{FF2B5EF4-FFF2-40B4-BE49-F238E27FC236}">
                <a16:creationId xmlns:a16="http://schemas.microsoft.com/office/drawing/2014/main" id="{36CEB2D9-AF19-4E95-8722-FDA37265E48F}"/>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20</a:t>
            </a:fld>
            <a:endParaRPr lang="en-US" altLang="zh-CN"/>
          </a:p>
        </p:txBody>
      </p:sp>
    </p:spTree>
    <p:extLst>
      <p:ext uri="{BB962C8B-B14F-4D97-AF65-F5344CB8AC3E}">
        <p14:creationId xmlns:p14="http://schemas.microsoft.com/office/powerpoint/2010/main" val="297732543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B45EED-C7F3-4675-AFFE-73AAF3824452}"/>
              </a:ext>
            </a:extLst>
          </p:cNvPr>
          <p:cNvSpPr>
            <a:spLocks noGrp="1"/>
          </p:cNvSpPr>
          <p:nvPr>
            <p:ph type="title"/>
          </p:nvPr>
        </p:nvSpPr>
        <p:spPr/>
        <p:txBody>
          <a:bodyPr/>
          <a:lstStyle/>
          <a:p>
            <a:r>
              <a:rPr lang="en-US" altLang="zh-CN" dirty="0"/>
              <a:t>TPM</a:t>
            </a:r>
            <a:r>
              <a:rPr lang="zh-CN" altLang="en-US" dirty="0"/>
              <a:t>资源及实体的定位与命名</a:t>
            </a:r>
          </a:p>
        </p:txBody>
      </p:sp>
      <p:sp>
        <p:nvSpPr>
          <p:cNvPr id="3" name="内容占位符 2">
            <a:extLst>
              <a:ext uri="{FF2B5EF4-FFF2-40B4-BE49-F238E27FC236}">
                <a16:creationId xmlns:a16="http://schemas.microsoft.com/office/drawing/2014/main" id="{AD3CE5CC-8BC4-45D6-8042-6C8150E43B96}"/>
              </a:ext>
            </a:extLst>
          </p:cNvPr>
          <p:cNvSpPr>
            <a:spLocks noGrp="1"/>
          </p:cNvSpPr>
          <p:nvPr>
            <p:ph idx="1"/>
          </p:nvPr>
        </p:nvSpPr>
        <p:spPr/>
        <p:txBody>
          <a:bodyPr/>
          <a:lstStyle/>
          <a:p>
            <a:r>
              <a:rPr lang="zh-CN" altLang="en-US" dirty="0"/>
              <a:t>在使用</a:t>
            </a:r>
            <a:r>
              <a:rPr lang="en-US" altLang="zh-CN" dirty="0"/>
              <a:t>TPM</a:t>
            </a:r>
            <a:r>
              <a:rPr lang="zh-CN" altLang="en-US" dirty="0"/>
              <a:t>资源完成可信服务时，需要掌握</a:t>
            </a:r>
            <a:r>
              <a:rPr lang="en-US" altLang="zh-CN" dirty="0"/>
              <a:t>TPM</a:t>
            </a:r>
            <a:r>
              <a:rPr lang="zh-CN" altLang="en-US" dirty="0"/>
              <a:t>中资源的命名与定位方式。</a:t>
            </a:r>
            <a:r>
              <a:rPr lang="en-US" altLang="zh-CN" dirty="0"/>
              <a:t>TPM</a:t>
            </a:r>
            <a:r>
              <a:rPr lang="zh-CN" altLang="en-US" dirty="0"/>
              <a:t>中的资源与实体包含以下内容：密钥、策略、非易失性存储等。</a:t>
            </a:r>
            <a:endParaRPr lang="en-US" altLang="zh-CN" dirty="0"/>
          </a:p>
          <a:p>
            <a:pPr algn="just"/>
            <a:r>
              <a:rPr lang="zh-CN" altLang="en-US" dirty="0"/>
              <a:t>命名。可以理解为给资源及实体起的名字。在指代固定的资源和实体时，通常给它们赋予固定的值。采用层次化的方式更容易管理大量的对象，</a:t>
            </a:r>
            <a:r>
              <a:rPr lang="en-US" altLang="zh-CN" dirty="0"/>
              <a:t>TPM</a:t>
            </a:r>
            <a:r>
              <a:rPr lang="zh-CN" altLang="en-US" dirty="0"/>
              <a:t>中经常见到</a:t>
            </a:r>
            <a:r>
              <a:rPr lang="en-US" altLang="zh-CN" dirty="0"/>
              <a:t>Hierarchy</a:t>
            </a:r>
            <a:r>
              <a:rPr lang="zh-CN" altLang="en-US" dirty="0"/>
              <a:t>这个词，通常翻译成组织或架构。存储组织架构（</a:t>
            </a:r>
            <a:r>
              <a:rPr lang="en-US" altLang="zh-CN" dirty="0"/>
              <a:t>Storage Hierarchy</a:t>
            </a:r>
            <a:r>
              <a:rPr lang="zh-CN" altLang="en-US" dirty="0"/>
              <a:t>）叫做</a:t>
            </a:r>
            <a:r>
              <a:rPr lang="en-US" altLang="zh-CN" dirty="0"/>
              <a:t>H_S</a:t>
            </a:r>
            <a:r>
              <a:rPr lang="zh-CN" altLang="en-US" dirty="0"/>
              <a:t>，背书组织架构（</a:t>
            </a:r>
            <a:r>
              <a:rPr lang="en-US" altLang="zh-CN" dirty="0"/>
              <a:t>Endorsement Hierarchy</a:t>
            </a:r>
            <a:r>
              <a:rPr lang="zh-CN" altLang="en-US" dirty="0"/>
              <a:t>）是</a:t>
            </a:r>
            <a:r>
              <a:rPr lang="en-US" altLang="zh-CN" dirty="0"/>
              <a:t>H_E</a:t>
            </a:r>
            <a:r>
              <a:rPr lang="zh-CN" altLang="en-US" dirty="0"/>
              <a:t>，平台组织架构（</a:t>
            </a:r>
            <a:r>
              <a:rPr lang="en-US" altLang="zh-CN" dirty="0"/>
              <a:t>Platform Hierarchy</a:t>
            </a:r>
            <a:r>
              <a:rPr lang="zh-CN" altLang="en-US" dirty="0"/>
              <a:t>）是</a:t>
            </a:r>
            <a:r>
              <a:rPr lang="en-US" altLang="zh-CN" dirty="0"/>
              <a:t>H_P</a:t>
            </a:r>
            <a:r>
              <a:rPr lang="zh-CN" altLang="en-US" dirty="0"/>
              <a:t>。一些常见对象：</a:t>
            </a:r>
            <a:endParaRPr lang="en-US" altLang="zh-CN" dirty="0"/>
          </a:p>
          <a:p>
            <a:pPr algn="just"/>
            <a:r>
              <a:rPr lang="en-US" altLang="zh-CN" dirty="0"/>
              <a:t>SNK</a:t>
            </a:r>
            <a:r>
              <a:rPr lang="zh-CN" altLang="en-US" dirty="0"/>
              <a:t>：不可迁移密钥的系统父对象。</a:t>
            </a:r>
          </a:p>
          <a:p>
            <a:pPr algn="just"/>
            <a:r>
              <a:rPr lang="en-US" altLang="zh-CN" dirty="0"/>
              <a:t>SDK</a:t>
            </a:r>
            <a:r>
              <a:rPr lang="zh-CN" altLang="en-US" dirty="0"/>
              <a:t>：可迁移密钥的系统父对象。</a:t>
            </a:r>
          </a:p>
          <a:p>
            <a:pPr algn="just"/>
            <a:r>
              <a:rPr lang="en-US" altLang="zh-CN" dirty="0"/>
              <a:t>UNK</a:t>
            </a:r>
            <a:r>
              <a:rPr lang="zh-CN" altLang="en-US" dirty="0"/>
              <a:t>：不可迁移密钥的用户父对象。</a:t>
            </a:r>
          </a:p>
          <a:p>
            <a:pPr algn="just"/>
            <a:r>
              <a:rPr lang="en-US" altLang="zh-CN" dirty="0"/>
              <a:t>UDK</a:t>
            </a:r>
            <a:r>
              <a:rPr lang="zh-CN" altLang="en-US" dirty="0"/>
              <a:t>：可迁移密钥的用户父对象。</a:t>
            </a:r>
          </a:p>
          <a:p>
            <a:pPr algn="just"/>
            <a:r>
              <a:rPr lang="en-US" altLang="zh-CN" dirty="0"/>
              <a:t>NV</a:t>
            </a:r>
            <a:r>
              <a:rPr lang="zh-CN" altLang="en-US" dirty="0"/>
              <a:t>：用于</a:t>
            </a:r>
            <a:r>
              <a:rPr lang="en-US" altLang="zh-CN" dirty="0"/>
              <a:t>NV</a:t>
            </a:r>
            <a:r>
              <a:rPr lang="zh-CN" altLang="en-US" dirty="0"/>
              <a:t>的创建。</a:t>
            </a:r>
          </a:p>
          <a:p>
            <a:pPr algn="just"/>
            <a:r>
              <a:rPr lang="en-US" altLang="zh-CN" dirty="0"/>
              <a:t>Policy</a:t>
            </a:r>
            <a:r>
              <a:rPr lang="zh-CN" altLang="en-US" dirty="0"/>
              <a:t>：用于</a:t>
            </a:r>
            <a:r>
              <a:rPr lang="en-US" altLang="zh-CN" dirty="0"/>
              <a:t>Policy</a:t>
            </a:r>
            <a:r>
              <a:rPr lang="zh-CN" altLang="en-US" dirty="0"/>
              <a:t>对象。</a:t>
            </a:r>
            <a:endParaRPr lang="en-US" altLang="zh-CN" dirty="0"/>
          </a:p>
        </p:txBody>
      </p:sp>
      <p:sp>
        <p:nvSpPr>
          <p:cNvPr id="4" name="灯片编号占位符 3">
            <a:extLst>
              <a:ext uri="{FF2B5EF4-FFF2-40B4-BE49-F238E27FC236}">
                <a16:creationId xmlns:a16="http://schemas.microsoft.com/office/drawing/2014/main" id="{932F03CC-481E-40A6-BBD4-927EE8E8BADF}"/>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21</a:t>
            </a:fld>
            <a:endParaRPr lang="en-US" altLang="zh-CN"/>
          </a:p>
        </p:txBody>
      </p:sp>
    </p:spTree>
    <p:extLst>
      <p:ext uri="{BB962C8B-B14F-4D97-AF65-F5344CB8AC3E}">
        <p14:creationId xmlns:p14="http://schemas.microsoft.com/office/powerpoint/2010/main" val="265674464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0B82E1-D137-47FE-A84D-6D7B32FBCF4D}"/>
              </a:ext>
            </a:extLst>
          </p:cNvPr>
          <p:cNvSpPr>
            <a:spLocks noGrp="1"/>
          </p:cNvSpPr>
          <p:nvPr>
            <p:ph type="title"/>
          </p:nvPr>
        </p:nvSpPr>
        <p:spPr/>
        <p:txBody>
          <a:bodyPr/>
          <a:lstStyle/>
          <a:p>
            <a:r>
              <a:rPr lang="en-US" altLang="zh-CN" dirty="0"/>
              <a:t>FAPI</a:t>
            </a:r>
            <a:r>
              <a:rPr lang="zh-CN" altLang="en-US" dirty="0"/>
              <a:t>默认资源实体</a:t>
            </a:r>
          </a:p>
        </p:txBody>
      </p:sp>
      <p:sp>
        <p:nvSpPr>
          <p:cNvPr id="3" name="内容占位符 2">
            <a:extLst>
              <a:ext uri="{FF2B5EF4-FFF2-40B4-BE49-F238E27FC236}">
                <a16:creationId xmlns:a16="http://schemas.microsoft.com/office/drawing/2014/main" id="{8D8A890F-2B2A-4B48-A6C0-B8134D3553CB}"/>
              </a:ext>
            </a:extLst>
          </p:cNvPr>
          <p:cNvSpPr>
            <a:spLocks noGrp="1"/>
          </p:cNvSpPr>
          <p:nvPr>
            <p:ph idx="1"/>
          </p:nvPr>
        </p:nvSpPr>
        <p:spPr>
          <a:xfrm>
            <a:off x="432510" y="1143000"/>
            <a:ext cx="8406689" cy="5410200"/>
          </a:xfrm>
        </p:spPr>
        <p:txBody>
          <a:bodyPr/>
          <a:lstStyle/>
          <a:p>
            <a:pPr marL="0" indent="0">
              <a:buNone/>
            </a:pPr>
            <a:r>
              <a:rPr lang="zh-CN" altLang="en-US" sz="3600" dirty="0">
                <a:solidFill>
                  <a:srgbClr val="FF0000"/>
                </a:solidFill>
              </a:rPr>
              <a:t>密钥</a:t>
            </a:r>
          </a:p>
          <a:p>
            <a:r>
              <a:rPr lang="en-US" altLang="zh-CN" dirty="0"/>
              <a:t>ASYM_STORAGE_KEY</a:t>
            </a:r>
            <a:r>
              <a:rPr lang="zh-CN" altLang="en-US" dirty="0"/>
              <a:t>：一个用于存储密钥或者数据的非对称密钥。</a:t>
            </a:r>
          </a:p>
          <a:p>
            <a:r>
              <a:rPr lang="en-US" altLang="zh-CN" dirty="0"/>
              <a:t>EK</a:t>
            </a:r>
            <a:r>
              <a:rPr lang="zh-CN" altLang="en-US" dirty="0"/>
              <a:t>：一个含有证书的背书密钥，它用户证明（或者在一个操作中证明其他的密钥）它属于一个真实的</a:t>
            </a:r>
            <a:r>
              <a:rPr lang="en-US" altLang="zh-CN" dirty="0"/>
              <a:t>TPM</a:t>
            </a:r>
            <a:r>
              <a:rPr lang="zh-CN" altLang="en-US" dirty="0"/>
              <a:t>。</a:t>
            </a:r>
          </a:p>
          <a:p>
            <a:r>
              <a:rPr lang="en-US" altLang="zh-CN" dirty="0"/>
              <a:t>ASYM_RESTRICTED_SIGNING_KEY</a:t>
            </a:r>
            <a:r>
              <a:rPr lang="zh-CN" altLang="en-US" dirty="0"/>
              <a:t>：一个类似于</a:t>
            </a:r>
            <a:r>
              <a:rPr lang="en-US" altLang="zh-CN" dirty="0"/>
              <a:t>TPM1.2</a:t>
            </a:r>
            <a:r>
              <a:rPr lang="zh-CN" altLang="en-US" dirty="0"/>
              <a:t>中的</a:t>
            </a:r>
            <a:r>
              <a:rPr lang="en-US" altLang="zh-CN" dirty="0"/>
              <a:t>AIK</a:t>
            </a:r>
            <a:r>
              <a:rPr lang="zh-CN" altLang="en-US" dirty="0"/>
              <a:t>，但是它可以用于对</a:t>
            </a:r>
            <a:r>
              <a:rPr lang="en-US" altLang="zh-CN" dirty="0"/>
              <a:t>TPM</a:t>
            </a:r>
            <a:r>
              <a:rPr lang="zh-CN" altLang="en-US" dirty="0"/>
              <a:t>之外的数据签名。</a:t>
            </a:r>
          </a:p>
          <a:p>
            <a:r>
              <a:rPr lang="en-US" altLang="zh-CN" dirty="0"/>
              <a:t>HMAC_KEY</a:t>
            </a:r>
            <a:r>
              <a:rPr lang="zh-CN" altLang="en-US" dirty="0"/>
              <a:t>：一个不受限制的对称密钥。它的主要用途就是用于</a:t>
            </a:r>
            <a:r>
              <a:rPr lang="en-US" altLang="zh-CN" dirty="0"/>
              <a:t>HMAC</a:t>
            </a:r>
            <a:r>
              <a:rPr lang="zh-CN" altLang="en-US" dirty="0"/>
              <a:t>对非</a:t>
            </a:r>
            <a:r>
              <a:rPr lang="en-US" altLang="zh-CN" dirty="0"/>
              <a:t>TPM</a:t>
            </a:r>
            <a:r>
              <a:rPr lang="zh-CN" altLang="en-US" dirty="0"/>
              <a:t>产生的哈希做签名。</a:t>
            </a:r>
          </a:p>
        </p:txBody>
      </p:sp>
      <p:sp>
        <p:nvSpPr>
          <p:cNvPr id="4" name="灯片编号占位符 3">
            <a:extLst>
              <a:ext uri="{FF2B5EF4-FFF2-40B4-BE49-F238E27FC236}">
                <a16:creationId xmlns:a16="http://schemas.microsoft.com/office/drawing/2014/main" id="{0AD109B0-3D2D-459C-BEAA-C80EA4F479C5}"/>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22</a:t>
            </a:fld>
            <a:endParaRPr lang="en-US" altLang="zh-CN"/>
          </a:p>
        </p:txBody>
      </p:sp>
    </p:spTree>
    <p:extLst>
      <p:ext uri="{BB962C8B-B14F-4D97-AF65-F5344CB8AC3E}">
        <p14:creationId xmlns:p14="http://schemas.microsoft.com/office/powerpoint/2010/main" val="196676084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8EA3E2-DD87-4833-8FC2-5D2EA5922E40}"/>
              </a:ext>
            </a:extLst>
          </p:cNvPr>
          <p:cNvSpPr>
            <a:spLocks noGrp="1"/>
          </p:cNvSpPr>
          <p:nvPr>
            <p:ph type="title"/>
          </p:nvPr>
        </p:nvSpPr>
        <p:spPr/>
        <p:txBody>
          <a:bodyPr/>
          <a:lstStyle/>
          <a:p>
            <a:r>
              <a:rPr lang="zh-CN" altLang="en-US" dirty="0"/>
              <a:t>非易失性存储</a:t>
            </a:r>
            <a:r>
              <a:rPr lang="en-US" altLang="zh-CN" dirty="0"/>
              <a:t>NV</a:t>
            </a:r>
            <a:endParaRPr lang="zh-CN" altLang="en-US" dirty="0"/>
          </a:p>
        </p:txBody>
      </p:sp>
      <p:sp>
        <p:nvSpPr>
          <p:cNvPr id="3" name="内容占位符 2">
            <a:extLst>
              <a:ext uri="{FF2B5EF4-FFF2-40B4-BE49-F238E27FC236}">
                <a16:creationId xmlns:a16="http://schemas.microsoft.com/office/drawing/2014/main" id="{D2A2F61D-63CC-4A44-8833-68FE89050CE2}"/>
              </a:ext>
            </a:extLst>
          </p:cNvPr>
          <p:cNvSpPr>
            <a:spLocks noGrp="1"/>
          </p:cNvSpPr>
          <p:nvPr>
            <p:ph idx="1"/>
          </p:nvPr>
        </p:nvSpPr>
        <p:spPr/>
        <p:txBody>
          <a:bodyPr/>
          <a:lstStyle/>
          <a:p>
            <a:pPr marL="0" indent="0">
              <a:buNone/>
            </a:pPr>
            <a:endParaRPr lang="zh-CN" altLang="en-US" dirty="0"/>
          </a:p>
          <a:p>
            <a:r>
              <a:rPr lang="en-US" altLang="zh-CN" dirty="0"/>
              <a:t>NV_MEMORY</a:t>
            </a:r>
            <a:r>
              <a:rPr lang="zh-CN" altLang="en-US" dirty="0"/>
              <a:t>：普通的</a:t>
            </a:r>
            <a:r>
              <a:rPr lang="en-US" altLang="zh-CN" dirty="0"/>
              <a:t>NV</a:t>
            </a:r>
            <a:r>
              <a:rPr lang="zh-CN" altLang="en-US" dirty="0"/>
              <a:t>内存。</a:t>
            </a:r>
          </a:p>
          <a:p>
            <a:r>
              <a:rPr lang="en-US" altLang="zh-CN" dirty="0"/>
              <a:t>NV_BITFIELD</a:t>
            </a:r>
            <a:r>
              <a:rPr lang="zh-CN" altLang="en-US" dirty="0"/>
              <a:t>：一个</a:t>
            </a:r>
            <a:r>
              <a:rPr lang="en-US" altLang="zh-CN" dirty="0"/>
              <a:t>64</a:t>
            </a:r>
            <a:r>
              <a:rPr lang="zh-CN" altLang="en-US" dirty="0"/>
              <a:t>位的位域。</a:t>
            </a:r>
          </a:p>
          <a:p>
            <a:r>
              <a:rPr lang="en-US" altLang="zh-CN" dirty="0"/>
              <a:t>NV_COUNTER</a:t>
            </a:r>
            <a:r>
              <a:rPr lang="zh-CN" altLang="en-US" dirty="0"/>
              <a:t>：一个</a:t>
            </a:r>
            <a:r>
              <a:rPr lang="en-US" altLang="zh-CN" dirty="0"/>
              <a:t>64</a:t>
            </a:r>
            <a:r>
              <a:rPr lang="zh-CN" altLang="en-US" dirty="0"/>
              <a:t>位的计数器。</a:t>
            </a:r>
          </a:p>
          <a:p>
            <a:r>
              <a:rPr lang="en-US" altLang="zh-CN" dirty="0"/>
              <a:t>NV_PCR</a:t>
            </a:r>
            <a:r>
              <a:rPr lang="zh-CN" altLang="en-US" dirty="0"/>
              <a:t>：使用哈希算法模板的</a:t>
            </a:r>
            <a:r>
              <a:rPr lang="en-US" altLang="zh-CN" dirty="0"/>
              <a:t>NV_PCR</a:t>
            </a:r>
            <a:r>
              <a:rPr lang="zh-CN" altLang="en-US" dirty="0"/>
              <a:t>。</a:t>
            </a:r>
          </a:p>
          <a:p>
            <a:r>
              <a:rPr lang="en-US" altLang="zh-CN" dirty="0"/>
              <a:t>NV_TEMP_READ_DISABLE</a:t>
            </a:r>
            <a:r>
              <a:rPr lang="zh-CN" altLang="en-US" dirty="0"/>
              <a:t>：在一次启动周期内禁止读操作。</a:t>
            </a:r>
          </a:p>
        </p:txBody>
      </p:sp>
      <p:sp>
        <p:nvSpPr>
          <p:cNvPr id="4" name="灯片编号占位符 3">
            <a:extLst>
              <a:ext uri="{FF2B5EF4-FFF2-40B4-BE49-F238E27FC236}">
                <a16:creationId xmlns:a16="http://schemas.microsoft.com/office/drawing/2014/main" id="{46729E28-9028-429B-952F-036783A63114}"/>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23</a:t>
            </a:fld>
            <a:endParaRPr lang="en-US" altLang="zh-CN"/>
          </a:p>
        </p:txBody>
      </p:sp>
    </p:spTree>
    <p:extLst>
      <p:ext uri="{BB962C8B-B14F-4D97-AF65-F5344CB8AC3E}">
        <p14:creationId xmlns:p14="http://schemas.microsoft.com/office/powerpoint/2010/main" val="389666541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C9D691-3E90-4FE2-8F79-8BAEBDFBB6BF}"/>
              </a:ext>
            </a:extLst>
          </p:cNvPr>
          <p:cNvSpPr>
            <a:spLocks noGrp="1"/>
          </p:cNvSpPr>
          <p:nvPr>
            <p:ph type="title"/>
          </p:nvPr>
        </p:nvSpPr>
        <p:spPr/>
        <p:txBody>
          <a:bodyPr/>
          <a:lstStyle/>
          <a:p>
            <a:r>
              <a:rPr lang="zh-CN" altLang="en-US" dirty="0"/>
              <a:t>标准的策略和认证</a:t>
            </a:r>
          </a:p>
        </p:txBody>
      </p:sp>
      <p:sp>
        <p:nvSpPr>
          <p:cNvPr id="3" name="内容占位符 2">
            <a:extLst>
              <a:ext uri="{FF2B5EF4-FFF2-40B4-BE49-F238E27FC236}">
                <a16:creationId xmlns:a16="http://schemas.microsoft.com/office/drawing/2014/main" id="{DB01837C-97C1-4F94-B66E-78B33D154EEF}"/>
              </a:ext>
            </a:extLst>
          </p:cNvPr>
          <p:cNvSpPr>
            <a:spLocks noGrp="1"/>
          </p:cNvSpPr>
          <p:nvPr>
            <p:ph idx="1"/>
          </p:nvPr>
        </p:nvSpPr>
        <p:spPr/>
        <p:txBody>
          <a:bodyPr/>
          <a:lstStyle/>
          <a:p>
            <a:pPr algn="just"/>
            <a:r>
              <a:rPr lang="en-US" altLang="zh-CN" dirty="0"/>
              <a:t>TSS2_POLICY_NULL</a:t>
            </a:r>
            <a:r>
              <a:rPr lang="zh-CN" altLang="en-US" dirty="0"/>
              <a:t>：一个永远都不会通过的</a:t>
            </a:r>
            <a:r>
              <a:rPr lang="en-US" altLang="zh-CN" dirty="0"/>
              <a:t>NULL Policy</a:t>
            </a:r>
            <a:r>
              <a:rPr lang="zh-CN" altLang="en-US" dirty="0"/>
              <a:t>（空缓冲区）。</a:t>
            </a:r>
          </a:p>
          <a:p>
            <a:pPr algn="just"/>
            <a:r>
              <a:rPr lang="en-US" altLang="zh-CN" dirty="0"/>
              <a:t>TSS2_AUTH_NULL</a:t>
            </a:r>
            <a:r>
              <a:rPr lang="zh-CN" altLang="en-US" dirty="0"/>
              <a:t>：一个空口令。</a:t>
            </a:r>
          </a:p>
          <a:p>
            <a:pPr algn="just"/>
            <a:r>
              <a:rPr lang="en-US" altLang="zh-CN" dirty="0"/>
              <a:t>TSS2_POLICY_AUTHVALUE</a:t>
            </a:r>
            <a:r>
              <a:rPr lang="zh-CN" altLang="en-US" dirty="0"/>
              <a:t>：指向一个对象的授权数据。</a:t>
            </a:r>
          </a:p>
          <a:p>
            <a:pPr algn="just"/>
            <a:r>
              <a:rPr lang="en-US" altLang="zh-CN" dirty="0"/>
              <a:t>TSS2_POLICY_SECRET_EH</a:t>
            </a:r>
            <a:r>
              <a:rPr lang="zh-CN" altLang="en-US" dirty="0"/>
              <a:t>：指向背书组织架构的授权数据。</a:t>
            </a:r>
          </a:p>
          <a:p>
            <a:pPr algn="just"/>
            <a:r>
              <a:rPr lang="en-US" altLang="zh-CN" dirty="0"/>
              <a:t>TSS2_POLICY_SECRET_SH</a:t>
            </a:r>
            <a:r>
              <a:rPr lang="zh-CN" altLang="en-US" dirty="0"/>
              <a:t>：指向存储组织架构的授权数据。</a:t>
            </a:r>
          </a:p>
          <a:p>
            <a:pPr algn="just"/>
            <a:r>
              <a:rPr lang="en-US" altLang="zh-CN" dirty="0"/>
              <a:t>TSS2_POLICY_SECRET_PH</a:t>
            </a:r>
            <a:r>
              <a:rPr lang="zh-CN" altLang="en-US" dirty="0"/>
              <a:t>：指向平台组织架构的授权数据。</a:t>
            </a:r>
          </a:p>
          <a:p>
            <a:pPr algn="just"/>
            <a:r>
              <a:rPr lang="en-US" altLang="zh-CN" dirty="0"/>
              <a:t>TSS2_POLICY_SECRET_DA</a:t>
            </a:r>
            <a:r>
              <a:rPr lang="zh-CN" altLang="en-US" dirty="0"/>
              <a:t>：指向字典攻击</a:t>
            </a:r>
            <a:r>
              <a:rPr lang="en-US" altLang="zh-CN" dirty="0"/>
              <a:t>handle</a:t>
            </a:r>
            <a:r>
              <a:rPr lang="zh-CN" altLang="en-US" dirty="0"/>
              <a:t>的授权数据。</a:t>
            </a:r>
          </a:p>
          <a:p>
            <a:pPr algn="just"/>
            <a:r>
              <a:rPr lang="en-US" altLang="zh-CN" dirty="0"/>
              <a:t>TSS2_POLICY_SECRET_TRIVIAL</a:t>
            </a:r>
            <a:r>
              <a:rPr lang="zh-CN" altLang="en-US" dirty="0"/>
              <a:t>：指向一个全</a:t>
            </a:r>
            <a:r>
              <a:rPr lang="en-US" altLang="zh-CN" dirty="0"/>
              <a:t>0</a:t>
            </a:r>
            <a:r>
              <a:rPr lang="zh-CN" altLang="en-US" dirty="0"/>
              <a:t>的</a:t>
            </a:r>
            <a:r>
              <a:rPr lang="en-US" altLang="zh-CN" dirty="0"/>
              <a:t>policy</a:t>
            </a:r>
            <a:r>
              <a:rPr lang="zh-CN" altLang="en-US" dirty="0"/>
              <a:t>。这个</a:t>
            </a:r>
            <a:r>
              <a:rPr lang="en-US" altLang="zh-CN" dirty="0"/>
              <a:t>policy</a:t>
            </a:r>
            <a:r>
              <a:rPr lang="zh-CN" altLang="en-US" dirty="0"/>
              <a:t>很容易通过，因为每一个</a:t>
            </a:r>
            <a:r>
              <a:rPr lang="en-US" altLang="zh-CN" dirty="0"/>
              <a:t>policy</a:t>
            </a:r>
            <a:r>
              <a:rPr lang="zh-CN" altLang="en-US" dirty="0"/>
              <a:t>会话都是由全</a:t>
            </a:r>
            <a:r>
              <a:rPr lang="en-US" altLang="zh-CN" dirty="0"/>
              <a:t>0</a:t>
            </a:r>
            <a:r>
              <a:rPr lang="zh-CN" altLang="en-US" dirty="0"/>
              <a:t>开始的。它可以用于通过</a:t>
            </a:r>
            <a:r>
              <a:rPr lang="en-US" altLang="zh-CN" dirty="0"/>
              <a:t>FAPI</a:t>
            </a:r>
            <a:r>
              <a:rPr lang="zh-CN" altLang="en-US" dirty="0"/>
              <a:t>创建一个很容易满足</a:t>
            </a:r>
            <a:r>
              <a:rPr lang="en-US" altLang="zh-CN" dirty="0"/>
              <a:t>policy</a:t>
            </a:r>
            <a:r>
              <a:rPr lang="zh-CN" altLang="en-US" dirty="0"/>
              <a:t>的对象。</a:t>
            </a:r>
          </a:p>
        </p:txBody>
      </p:sp>
      <p:sp>
        <p:nvSpPr>
          <p:cNvPr id="4" name="灯片编号占位符 3">
            <a:extLst>
              <a:ext uri="{FF2B5EF4-FFF2-40B4-BE49-F238E27FC236}">
                <a16:creationId xmlns:a16="http://schemas.microsoft.com/office/drawing/2014/main" id="{5461E54B-969F-4B8D-A900-A09A8B934BAE}"/>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24</a:t>
            </a:fld>
            <a:endParaRPr lang="en-US" altLang="zh-CN"/>
          </a:p>
        </p:txBody>
      </p:sp>
    </p:spTree>
    <p:extLst>
      <p:ext uri="{BB962C8B-B14F-4D97-AF65-F5344CB8AC3E}">
        <p14:creationId xmlns:p14="http://schemas.microsoft.com/office/powerpoint/2010/main" val="266242165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AFB0C0-C941-409C-9E64-F27D919E9A0E}"/>
              </a:ext>
            </a:extLst>
          </p:cNvPr>
          <p:cNvSpPr>
            <a:spLocks noGrp="1"/>
          </p:cNvSpPr>
          <p:nvPr>
            <p:ph type="title"/>
          </p:nvPr>
        </p:nvSpPr>
        <p:spPr/>
        <p:txBody>
          <a:bodyPr/>
          <a:lstStyle/>
          <a:p>
            <a:r>
              <a:rPr lang="en-US" altLang="zh-CN" dirty="0"/>
              <a:t>TPM</a:t>
            </a:r>
            <a:r>
              <a:rPr lang="zh-CN" altLang="en-US" dirty="0"/>
              <a:t>资源定位</a:t>
            </a:r>
          </a:p>
        </p:txBody>
      </p:sp>
      <p:sp>
        <p:nvSpPr>
          <p:cNvPr id="3" name="内容占位符 2">
            <a:extLst>
              <a:ext uri="{FF2B5EF4-FFF2-40B4-BE49-F238E27FC236}">
                <a16:creationId xmlns:a16="http://schemas.microsoft.com/office/drawing/2014/main" id="{B51CA15C-197F-4AD8-92EA-FC138B171A21}"/>
              </a:ext>
            </a:extLst>
          </p:cNvPr>
          <p:cNvSpPr>
            <a:spLocks noGrp="1"/>
          </p:cNvSpPr>
          <p:nvPr>
            <p:ph idx="1"/>
          </p:nvPr>
        </p:nvSpPr>
        <p:spPr/>
        <p:txBody>
          <a:bodyPr/>
          <a:lstStyle/>
          <a:p>
            <a:r>
              <a:rPr lang="zh-CN" altLang="en-US" dirty="0"/>
              <a:t>路径：路径用于查找</a:t>
            </a:r>
            <a:r>
              <a:rPr lang="en-US" altLang="zh-CN" dirty="0"/>
              <a:t>TPM</a:t>
            </a:r>
            <a:r>
              <a:rPr lang="zh-CN" altLang="en-US" dirty="0"/>
              <a:t>中的密钥，</a:t>
            </a:r>
            <a:r>
              <a:rPr lang="en-US" altLang="zh-CN" dirty="0"/>
              <a:t>Policies</a:t>
            </a:r>
            <a:r>
              <a:rPr lang="zh-CN" altLang="en-US" dirty="0"/>
              <a:t>，</a:t>
            </a:r>
            <a:r>
              <a:rPr lang="en-US" altLang="zh-CN" dirty="0"/>
              <a:t>NV</a:t>
            </a:r>
            <a:r>
              <a:rPr lang="zh-CN" altLang="en-US" dirty="0"/>
              <a:t>，和其他的</a:t>
            </a:r>
            <a:r>
              <a:rPr lang="en-US" altLang="zh-CN" dirty="0"/>
              <a:t>TPM</a:t>
            </a:r>
            <a:r>
              <a:rPr lang="zh-CN" altLang="en-US" dirty="0"/>
              <a:t>对象和资源实体。路径的基本结构如下：</a:t>
            </a:r>
          </a:p>
          <a:p>
            <a:pPr marL="0" indent="0">
              <a:buNone/>
            </a:pPr>
            <a:r>
              <a:rPr lang="en-US" altLang="zh-CN" dirty="0"/>
              <a:t>     &lt;</a:t>
            </a:r>
            <a:r>
              <a:rPr lang="zh-CN" altLang="en-US" dirty="0"/>
              <a:t>配置文件</a:t>
            </a:r>
            <a:r>
              <a:rPr lang="en-US" altLang="zh-CN" dirty="0"/>
              <a:t>&gt; / &lt;</a:t>
            </a:r>
            <a:r>
              <a:rPr lang="zh-CN" altLang="en-US" dirty="0"/>
              <a:t>组织架构</a:t>
            </a:r>
            <a:r>
              <a:rPr lang="en-US" altLang="zh-CN" dirty="0"/>
              <a:t>&gt; / &lt;</a:t>
            </a:r>
            <a:r>
              <a:rPr lang="zh-CN" altLang="en-US" dirty="0"/>
              <a:t>父对象</a:t>
            </a:r>
            <a:r>
              <a:rPr lang="en-US" altLang="zh-CN" dirty="0"/>
              <a:t>&gt; /</a:t>
            </a:r>
            <a:r>
              <a:rPr lang="zh-CN" altLang="en-US" dirty="0"/>
              <a:t>密钥树</a:t>
            </a:r>
            <a:endParaRPr lang="en-US" altLang="zh-CN" dirty="0"/>
          </a:p>
          <a:p>
            <a:pPr marL="0" indent="0">
              <a:buNone/>
            </a:pPr>
            <a:r>
              <a:rPr lang="zh-CN" altLang="en-US" dirty="0"/>
              <a:t>     其中的密钥树就是由一系列用</a:t>
            </a:r>
            <a:r>
              <a:rPr lang="en-US" altLang="zh-CN" dirty="0"/>
              <a:t>/</a:t>
            </a:r>
            <a:r>
              <a:rPr lang="zh-CN" altLang="en-US" dirty="0"/>
              <a:t>隔开的父密钥和子密钥组成。注意这个路径是不区分大小写的。</a:t>
            </a:r>
            <a:endParaRPr lang="en-US" altLang="zh-CN" dirty="0"/>
          </a:p>
          <a:p>
            <a:pPr marL="0" indent="0">
              <a:buNone/>
            </a:pPr>
            <a:r>
              <a:rPr lang="zh-CN" altLang="en-US" sz="2800" b="1" dirty="0">
                <a:solidFill>
                  <a:srgbClr val="FF0000"/>
                </a:solidFill>
              </a:rPr>
              <a:t>路径示例：</a:t>
            </a:r>
            <a:endParaRPr lang="en-US" altLang="zh-CN" sz="2800" b="1" dirty="0">
              <a:solidFill>
                <a:srgbClr val="FF0000"/>
              </a:solidFill>
            </a:endParaRPr>
          </a:p>
          <a:p>
            <a:pPr>
              <a:buFont typeface="Arial" panose="020B0604020202020204" pitchFamily="34" charset="0"/>
              <a:buChar char="•"/>
            </a:pPr>
            <a:r>
              <a:rPr lang="en-US" altLang="zh-CN" dirty="0"/>
              <a:t>SNK/</a:t>
            </a:r>
            <a:r>
              <a:rPr lang="en-US" altLang="zh-CN" dirty="0" err="1"/>
              <a:t>myVPNkey</a:t>
            </a:r>
            <a:endParaRPr lang="en-US" altLang="zh-CN" dirty="0"/>
          </a:p>
          <a:p>
            <a:pPr>
              <a:buFont typeface="Arial" panose="020B0604020202020204" pitchFamily="34" charset="0"/>
              <a:buChar char="•"/>
            </a:pPr>
            <a:r>
              <a:rPr lang="en-US" altLang="zh-CN" dirty="0"/>
              <a:t>P_RSA2048SHA1/H_S/SNK/MYVPNKEY</a:t>
            </a:r>
          </a:p>
          <a:p>
            <a:pPr>
              <a:buFont typeface="Arial" panose="020B0604020202020204" pitchFamily="34" charset="0"/>
              <a:buChar char="•"/>
            </a:pPr>
            <a:r>
              <a:rPr lang="en-US" altLang="zh-CN" dirty="0"/>
              <a:t>H_S/SNK/MYVPNKEY</a:t>
            </a:r>
          </a:p>
          <a:p>
            <a:pPr>
              <a:buFont typeface="Arial" panose="020B0604020202020204" pitchFamily="34" charset="0"/>
              <a:buChar char="•"/>
            </a:pPr>
            <a:r>
              <a:rPr lang="en-US" altLang="zh-CN" dirty="0"/>
              <a:t>SNK/MYVPNKEY</a:t>
            </a:r>
          </a:p>
          <a:p>
            <a:pPr>
              <a:buFont typeface="Arial" panose="020B0604020202020204" pitchFamily="34" charset="0"/>
              <a:buChar char="•"/>
            </a:pPr>
            <a:r>
              <a:rPr lang="en-US" altLang="zh-CN" dirty="0"/>
              <a:t> P_RSA2048SHA1/H_S/SNK/</a:t>
            </a:r>
            <a:r>
              <a:rPr lang="en-US" altLang="zh-CN" dirty="0" err="1"/>
              <a:t>myVPNkey</a:t>
            </a:r>
            <a:endParaRPr lang="en-US" altLang="zh-CN" dirty="0"/>
          </a:p>
          <a:p>
            <a:pPr>
              <a:buFont typeface="Arial" panose="020B0604020202020204" pitchFamily="34" charset="0"/>
              <a:buChar char="•"/>
            </a:pPr>
            <a:r>
              <a:rPr lang="en-US" altLang="zh-CN" dirty="0"/>
              <a:t> H_S/SNK/</a:t>
            </a:r>
            <a:r>
              <a:rPr lang="en-US" altLang="zh-CN" dirty="0" err="1"/>
              <a:t>myVPNkey</a:t>
            </a:r>
            <a:endParaRPr lang="zh-CN" altLang="en-US" dirty="0"/>
          </a:p>
        </p:txBody>
      </p:sp>
      <p:sp>
        <p:nvSpPr>
          <p:cNvPr id="4" name="灯片编号占位符 3">
            <a:extLst>
              <a:ext uri="{FF2B5EF4-FFF2-40B4-BE49-F238E27FC236}">
                <a16:creationId xmlns:a16="http://schemas.microsoft.com/office/drawing/2014/main" id="{2F5D7DF6-6A44-4346-9213-63721E9D6312}"/>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25</a:t>
            </a:fld>
            <a:endParaRPr lang="en-US" altLang="zh-CN"/>
          </a:p>
        </p:txBody>
      </p:sp>
    </p:spTree>
    <p:extLst>
      <p:ext uri="{BB962C8B-B14F-4D97-AF65-F5344CB8AC3E}">
        <p14:creationId xmlns:p14="http://schemas.microsoft.com/office/powerpoint/2010/main" val="383088753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D2F0A2-E8BF-4899-AEA8-62A6BB2614E2}"/>
              </a:ext>
            </a:extLst>
          </p:cNvPr>
          <p:cNvSpPr>
            <a:spLocks noGrp="1"/>
          </p:cNvSpPr>
          <p:nvPr>
            <p:ph type="title"/>
          </p:nvPr>
        </p:nvSpPr>
        <p:spPr/>
        <p:txBody>
          <a:bodyPr/>
          <a:lstStyle/>
          <a:p>
            <a:r>
              <a:rPr lang="zh-CN" altLang="en-US" dirty="0"/>
              <a:t>密码算法配置文件 </a:t>
            </a:r>
          </a:p>
        </p:txBody>
      </p:sp>
      <p:sp>
        <p:nvSpPr>
          <p:cNvPr id="3" name="内容占位符 2">
            <a:extLst>
              <a:ext uri="{FF2B5EF4-FFF2-40B4-BE49-F238E27FC236}">
                <a16:creationId xmlns:a16="http://schemas.microsoft.com/office/drawing/2014/main" id="{200298BB-4690-4647-BBEC-943D54EF1EFF}"/>
              </a:ext>
            </a:extLst>
          </p:cNvPr>
          <p:cNvSpPr>
            <a:spLocks noGrp="1"/>
          </p:cNvSpPr>
          <p:nvPr>
            <p:ph idx="1"/>
          </p:nvPr>
        </p:nvSpPr>
        <p:spPr/>
        <p:txBody>
          <a:bodyPr/>
          <a:lstStyle/>
          <a:p>
            <a:pPr algn="just"/>
            <a:r>
              <a:rPr lang="zh-CN" altLang="en-US" dirty="0"/>
              <a:t>为方便可信应用开发者，</a:t>
            </a:r>
            <a:r>
              <a:rPr lang="en-US" altLang="zh-CN" dirty="0"/>
              <a:t>FAPI</a:t>
            </a:r>
            <a:r>
              <a:rPr lang="zh-CN" altLang="en-US" dirty="0"/>
              <a:t>层采用配置文件的方式让用户使用</a:t>
            </a:r>
            <a:r>
              <a:rPr lang="en-US" altLang="zh-CN" dirty="0"/>
              <a:t>TPM</a:t>
            </a:r>
            <a:r>
              <a:rPr lang="zh-CN" altLang="en-US" dirty="0"/>
              <a:t>密码资源。配置文件中定义了用户对算法，密钥大小，加密模式，签名模式等的默认配置；用户在创建密钥的时候就可以使用这些默认的配置。它假设用户希望选择一组互相匹配的密码，用户可以设置是否使用这些默认的配置。有时候用户可能希望选择一个配置文件，当然这也是可以的。但是通常情况下用户总是会选择默认的配置。</a:t>
            </a:r>
            <a:r>
              <a:rPr lang="en-US" altLang="zh-CN" dirty="0"/>
              <a:t>FAPI</a:t>
            </a:r>
            <a:r>
              <a:rPr lang="zh-CN" altLang="en-US" dirty="0"/>
              <a:t>在发布的时候总是附带一个预先设置好的配置文件，配置文件总是包含最常用的配置。举例如下：</a:t>
            </a:r>
            <a:endParaRPr lang="en-US" altLang="zh-CN" dirty="0"/>
          </a:p>
          <a:p>
            <a:pPr marL="0" indent="0" algn="just">
              <a:buNone/>
            </a:pPr>
            <a:r>
              <a:rPr lang="en-US" altLang="zh-CN" dirty="0">
                <a:solidFill>
                  <a:srgbClr val="FF0000"/>
                </a:solidFill>
              </a:rPr>
              <a:t>1</a:t>
            </a:r>
            <a:r>
              <a:rPr lang="zh-CN" altLang="en-US" dirty="0">
                <a:solidFill>
                  <a:srgbClr val="FF0000"/>
                </a:solidFill>
              </a:rPr>
              <a:t>、</a:t>
            </a:r>
            <a:r>
              <a:rPr lang="en-US" altLang="zh-CN" dirty="0">
                <a:solidFill>
                  <a:srgbClr val="FF0000"/>
                </a:solidFill>
              </a:rPr>
              <a:t>P_RSA2048SHA1</a:t>
            </a:r>
            <a:r>
              <a:rPr lang="zh-CN" altLang="en-US" dirty="0">
                <a:solidFill>
                  <a:srgbClr val="FF0000"/>
                </a:solidFill>
              </a:rPr>
              <a:t>：使用</a:t>
            </a:r>
            <a:r>
              <a:rPr lang="en-US" altLang="zh-CN" dirty="0">
                <a:solidFill>
                  <a:srgbClr val="FF0000"/>
                </a:solidFill>
              </a:rPr>
              <a:t>RSA2048</a:t>
            </a:r>
            <a:r>
              <a:rPr lang="zh-CN" altLang="en-US" dirty="0">
                <a:solidFill>
                  <a:srgbClr val="FF0000"/>
                </a:solidFill>
              </a:rPr>
              <a:t>位的非对称密钥来签名，签名过程遵循</a:t>
            </a:r>
            <a:r>
              <a:rPr lang="en-US" altLang="zh-CN" dirty="0">
                <a:solidFill>
                  <a:srgbClr val="FF0000"/>
                </a:solidFill>
              </a:rPr>
              <a:t>PKCS1v1.5</a:t>
            </a:r>
            <a:r>
              <a:rPr lang="zh-CN" altLang="en-US" dirty="0">
                <a:solidFill>
                  <a:srgbClr val="FF0000"/>
                </a:solidFill>
              </a:rPr>
              <a:t>规范。哈希算法使用</a:t>
            </a:r>
            <a:r>
              <a:rPr lang="en-US" altLang="zh-CN" dirty="0">
                <a:solidFill>
                  <a:srgbClr val="FF0000"/>
                </a:solidFill>
              </a:rPr>
              <a:t>SHA1</a:t>
            </a:r>
            <a:r>
              <a:rPr lang="zh-CN" altLang="en-US" dirty="0">
                <a:solidFill>
                  <a:srgbClr val="FF0000"/>
                </a:solidFill>
              </a:rPr>
              <a:t>，对称加密使用</a:t>
            </a:r>
            <a:r>
              <a:rPr lang="en-US" altLang="zh-CN" dirty="0">
                <a:solidFill>
                  <a:srgbClr val="FF0000"/>
                </a:solidFill>
              </a:rPr>
              <a:t>AES128</a:t>
            </a:r>
            <a:r>
              <a:rPr lang="zh-CN" altLang="en-US" dirty="0">
                <a:solidFill>
                  <a:srgbClr val="FF0000"/>
                </a:solidFill>
              </a:rPr>
              <a:t>的</a:t>
            </a:r>
            <a:r>
              <a:rPr lang="en-US" altLang="zh-CN" dirty="0">
                <a:solidFill>
                  <a:srgbClr val="FF0000"/>
                </a:solidFill>
              </a:rPr>
              <a:t>CFB</a:t>
            </a:r>
            <a:r>
              <a:rPr lang="zh-CN" altLang="en-US" dirty="0">
                <a:solidFill>
                  <a:srgbClr val="FF0000"/>
                </a:solidFill>
              </a:rPr>
              <a:t>模式。</a:t>
            </a:r>
          </a:p>
          <a:p>
            <a:pPr marL="0" indent="0" algn="just">
              <a:buNone/>
            </a:pPr>
            <a:r>
              <a:rPr lang="en-US" altLang="zh-CN" dirty="0">
                <a:solidFill>
                  <a:srgbClr val="FF0000"/>
                </a:solidFill>
              </a:rPr>
              <a:t>2</a:t>
            </a:r>
            <a:r>
              <a:rPr lang="zh-CN" altLang="en-US" dirty="0">
                <a:solidFill>
                  <a:srgbClr val="FF0000"/>
                </a:solidFill>
              </a:rPr>
              <a:t>、</a:t>
            </a:r>
            <a:r>
              <a:rPr lang="en-US" altLang="zh-CN" dirty="0">
                <a:solidFill>
                  <a:srgbClr val="FF0000"/>
                </a:solidFill>
              </a:rPr>
              <a:t>P_RSA2048SHA256</a:t>
            </a:r>
            <a:r>
              <a:rPr lang="zh-CN" altLang="en-US" dirty="0">
                <a:solidFill>
                  <a:srgbClr val="FF0000"/>
                </a:solidFill>
              </a:rPr>
              <a:t>：使用</a:t>
            </a:r>
            <a:r>
              <a:rPr lang="en-US" altLang="zh-CN" dirty="0">
                <a:solidFill>
                  <a:srgbClr val="FF0000"/>
                </a:solidFill>
              </a:rPr>
              <a:t>RSA2048</a:t>
            </a:r>
            <a:r>
              <a:rPr lang="zh-CN" altLang="en-US" dirty="0">
                <a:solidFill>
                  <a:srgbClr val="FF0000"/>
                </a:solidFill>
              </a:rPr>
              <a:t>位非对称密钥类签名，签名过程遵循</a:t>
            </a:r>
            <a:r>
              <a:rPr lang="en-US" altLang="zh-CN" dirty="0">
                <a:solidFill>
                  <a:srgbClr val="FF0000"/>
                </a:solidFill>
              </a:rPr>
              <a:t>PKCSv1.5</a:t>
            </a:r>
            <a:r>
              <a:rPr lang="zh-CN" altLang="en-US" dirty="0">
                <a:solidFill>
                  <a:srgbClr val="FF0000"/>
                </a:solidFill>
              </a:rPr>
              <a:t>规范。哈希算法使用</a:t>
            </a:r>
            <a:r>
              <a:rPr lang="en-US" altLang="zh-CN" dirty="0">
                <a:solidFill>
                  <a:srgbClr val="FF0000"/>
                </a:solidFill>
              </a:rPr>
              <a:t>SHA256</a:t>
            </a:r>
            <a:r>
              <a:rPr lang="zh-CN" altLang="en-US" dirty="0">
                <a:solidFill>
                  <a:srgbClr val="FF0000"/>
                </a:solidFill>
              </a:rPr>
              <a:t>，对称加密使用</a:t>
            </a:r>
            <a:r>
              <a:rPr lang="en-US" altLang="zh-CN" dirty="0">
                <a:solidFill>
                  <a:srgbClr val="FF0000"/>
                </a:solidFill>
              </a:rPr>
              <a:t>AES128</a:t>
            </a:r>
            <a:r>
              <a:rPr lang="zh-CN" altLang="en-US" dirty="0">
                <a:solidFill>
                  <a:srgbClr val="FF0000"/>
                </a:solidFill>
              </a:rPr>
              <a:t>的</a:t>
            </a:r>
            <a:r>
              <a:rPr lang="en-US" altLang="zh-CN" dirty="0">
                <a:solidFill>
                  <a:srgbClr val="FF0000"/>
                </a:solidFill>
              </a:rPr>
              <a:t>CFB</a:t>
            </a:r>
            <a:r>
              <a:rPr lang="zh-CN" altLang="en-US" dirty="0">
                <a:solidFill>
                  <a:srgbClr val="FF0000"/>
                </a:solidFill>
              </a:rPr>
              <a:t>模式</a:t>
            </a:r>
          </a:p>
          <a:p>
            <a:pPr marL="0" indent="0" algn="just">
              <a:buNone/>
            </a:pPr>
            <a:r>
              <a:rPr lang="en-US" altLang="zh-CN" dirty="0">
                <a:solidFill>
                  <a:srgbClr val="FF0000"/>
                </a:solidFill>
              </a:rPr>
              <a:t>3</a:t>
            </a:r>
            <a:r>
              <a:rPr lang="zh-CN" altLang="en-US" dirty="0">
                <a:solidFill>
                  <a:srgbClr val="FF0000"/>
                </a:solidFill>
              </a:rPr>
              <a:t>、</a:t>
            </a:r>
            <a:r>
              <a:rPr lang="en-US" altLang="zh-CN" dirty="0">
                <a:solidFill>
                  <a:srgbClr val="FF0000"/>
                </a:solidFill>
              </a:rPr>
              <a:t>P_ECCP256</a:t>
            </a:r>
            <a:r>
              <a:rPr lang="zh-CN" altLang="en-US" dirty="0">
                <a:solidFill>
                  <a:srgbClr val="FF0000"/>
                </a:solidFill>
              </a:rPr>
              <a:t>：签名使用</a:t>
            </a:r>
            <a:r>
              <a:rPr lang="en-US" altLang="zh-CN" dirty="0">
                <a:solidFill>
                  <a:srgbClr val="FF0000"/>
                </a:solidFill>
              </a:rPr>
              <a:t>ECDSA</a:t>
            </a:r>
            <a:r>
              <a:rPr lang="zh-CN" altLang="en-US" dirty="0">
                <a:solidFill>
                  <a:srgbClr val="FF0000"/>
                </a:solidFill>
              </a:rPr>
              <a:t>，密钥使用</a:t>
            </a:r>
            <a:r>
              <a:rPr lang="en-US" altLang="zh-CN" dirty="0">
                <a:solidFill>
                  <a:srgbClr val="FF0000"/>
                </a:solidFill>
              </a:rPr>
              <a:t>NIST ECC</a:t>
            </a:r>
            <a:r>
              <a:rPr lang="zh-CN" altLang="en-US" dirty="0">
                <a:solidFill>
                  <a:srgbClr val="FF0000"/>
                </a:solidFill>
              </a:rPr>
              <a:t>素数域</a:t>
            </a:r>
            <a:r>
              <a:rPr lang="en-US" altLang="zh-CN" dirty="0">
                <a:solidFill>
                  <a:srgbClr val="FF0000"/>
                </a:solidFill>
              </a:rPr>
              <a:t>256</a:t>
            </a:r>
            <a:r>
              <a:rPr lang="zh-CN" altLang="en-US" dirty="0">
                <a:solidFill>
                  <a:srgbClr val="FF0000"/>
                </a:solidFill>
              </a:rPr>
              <a:t>比特非对称密钥。</a:t>
            </a:r>
          </a:p>
        </p:txBody>
      </p:sp>
      <p:sp>
        <p:nvSpPr>
          <p:cNvPr id="4" name="灯片编号占位符 3">
            <a:extLst>
              <a:ext uri="{FF2B5EF4-FFF2-40B4-BE49-F238E27FC236}">
                <a16:creationId xmlns:a16="http://schemas.microsoft.com/office/drawing/2014/main" id="{C9398742-07F2-47D5-A663-60AC279FA4D5}"/>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26</a:t>
            </a:fld>
            <a:endParaRPr lang="en-US" altLang="zh-CN"/>
          </a:p>
        </p:txBody>
      </p:sp>
    </p:spTree>
    <p:extLst>
      <p:ext uri="{BB962C8B-B14F-4D97-AF65-F5344CB8AC3E}">
        <p14:creationId xmlns:p14="http://schemas.microsoft.com/office/powerpoint/2010/main" val="394037465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68A60A-9DDD-483F-B433-726DA5C29508}"/>
              </a:ext>
            </a:extLst>
          </p:cNvPr>
          <p:cNvSpPr>
            <a:spLocks noGrp="1"/>
          </p:cNvSpPr>
          <p:nvPr>
            <p:ph type="title"/>
          </p:nvPr>
        </p:nvSpPr>
        <p:spPr/>
        <p:txBody>
          <a:bodyPr/>
          <a:lstStyle/>
          <a:p>
            <a:r>
              <a:rPr lang="zh-CN" altLang="en-US" dirty="0"/>
              <a:t>定义基本数据结构</a:t>
            </a:r>
          </a:p>
        </p:txBody>
      </p:sp>
      <p:sp>
        <p:nvSpPr>
          <p:cNvPr id="3" name="内容占位符 2">
            <a:extLst>
              <a:ext uri="{FF2B5EF4-FFF2-40B4-BE49-F238E27FC236}">
                <a16:creationId xmlns:a16="http://schemas.microsoft.com/office/drawing/2014/main" id="{4211D6B1-74FE-4462-A191-B9BA50159D30}"/>
              </a:ext>
            </a:extLst>
          </p:cNvPr>
          <p:cNvSpPr>
            <a:spLocks noGrp="1"/>
          </p:cNvSpPr>
          <p:nvPr>
            <p:ph idx="1"/>
          </p:nvPr>
        </p:nvSpPr>
        <p:spPr>
          <a:xfrm>
            <a:off x="432511" y="1143000"/>
            <a:ext cx="8518058" cy="5410200"/>
          </a:xfrm>
        </p:spPr>
        <p:txBody>
          <a:bodyPr/>
          <a:lstStyle/>
          <a:p>
            <a:pPr marL="0" indent="0">
              <a:buNone/>
            </a:pPr>
            <a:r>
              <a:rPr lang="en-US" altLang="zh-CN" sz="2800" dirty="0"/>
              <a:t>1</a:t>
            </a:r>
            <a:r>
              <a:rPr lang="zh-CN" altLang="en-US" sz="2800" dirty="0"/>
              <a:t>、缓冲区：</a:t>
            </a:r>
            <a:r>
              <a:rPr lang="en-US" altLang="zh-CN" sz="2800" dirty="0"/>
              <a:t>TSS2_SIZED_BUFFER</a:t>
            </a:r>
            <a:r>
              <a:rPr lang="zh-CN" altLang="en-US" sz="2800" dirty="0"/>
              <a:t>是</a:t>
            </a:r>
            <a:r>
              <a:rPr lang="en-US" altLang="zh-CN" sz="2800" dirty="0"/>
              <a:t>FAPI</a:t>
            </a:r>
            <a:r>
              <a:rPr lang="zh-CN" altLang="en-US" sz="2800" dirty="0"/>
              <a:t>经常使用的一个数据结构。这个结构包含两个域：一个</a:t>
            </a:r>
            <a:r>
              <a:rPr lang="en-US" altLang="zh-CN" sz="2800" dirty="0"/>
              <a:t>size</a:t>
            </a:r>
            <a:r>
              <a:rPr lang="zh-CN" altLang="en-US" sz="2800" dirty="0"/>
              <a:t>和一个指向缓冲区的指针。</a:t>
            </a:r>
            <a:r>
              <a:rPr lang="en-US" altLang="zh-CN" sz="2800" dirty="0"/>
              <a:t>size</a:t>
            </a:r>
            <a:r>
              <a:rPr lang="zh-CN" altLang="en-US" sz="2800" dirty="0"/>
              <a:t>代表了缓冲区的大小：</a:t>
            </a:r>
          </a:p>
          <a:p>
            <a:pPr marL="0" indent="0">
              <a:buNone/>
            </a:pPr>
            <a:endParaRPr lang="en-US" altLang="zh-CN" sz="2800" dirty="0"/>
          </a:p>
          <a:p>
            <a:r>
              <a:rPr lang="en-US" altLang="zh-CN" sz="2800" dirty="0">
                <a:solidFill>
                  <a:srgbClr val="FF0000"/>
                </a:solidFill>
              </a:rPr>
              <a:t>typedef struct { </a:t>
            </a:r>
          </a:p>
          <a:p>
            <a:pPr marL="0" indent="0">
              <a:buNone/>
            </a:pPr>
            <a:r>
              <a:rPr lang="en-US" altLang="zh-CN" sz="2800" dirty="0">
                <a:solidFill>
                  <a:srgbClr val="FF0000"/>
                </a:solidFill>
              </a:rPr>
              <a:t>     </a:t>
            </a:r>
            <a:r>
              <a:rPr lang="en-US" altLang="zh-CN" sz="2800" dirty="0" err="1">
                <a:solidFill>
                  <a:srgbClr val="FF0000"/>
                </a:solidFill>
              </a:rPr>
              <a:t>size_t</a:t>
            </a:r>
            <a:r>
              <a:rPr lang="en-US" altLang="zh-CN" sz="2800" dirty="0">
                <a:solidFill>
                  <a:srgbClr val="FF0000"/>
                </a:solidFill>
              </a:rPr>
              <a:t> size;</a:t>
            </a:r>
          </a:p>
          <a:p>
            <a:pPr marL="0" indent="0">
              <a:buNone/>
            </a:pPr>
            <a:r>
              <a:rPr lang="en-US" altLang="zh-CN" sz="2800" dirty="0">
                <a:solidFill>
                  <a:srgbClr val="FF0000"/>
                </a:solidFill>
              </a:rPr>
              <a:t>     uint8_t *buffer;</a:t>
            </a:r>
          </a:p>
          <a:p>
            <a:pPr marL="0" indent="0">
              <a:buNone/>
            </a:pPr>
            <a:r>
              <a:rPr lang="en-US" altLang="zh-CN" sz="2800" dirty="0">
                <a:solidFill>
                  <a:srgbClr val="FF0000"/>
                </a:solidFill>
              </a:rPr>
              <a:t>      } TSS2_SIZED_BUFFER;</a:t>
            </a:r>
            <a:endParaRPr lang="zh-CN" altLang="en-US" sz="2800" dirty="0">
              <a:solidFill>
                <a:srgbClr val="FF0000"/>
              </a:solidFill>
            </a:endParaRPr>
          </a:p>
        </p:txBody>
      </p:sp>
      <p:sp>
        <p:nvSpPr>
          <p:cNvPr id="4" name="灯片编号占位符 3">
            <a:extLst>
              <a:ext uri="{FF2B5EF4-FFF2-40B4-BE49-F238E27FC236}">
                <a16:creationId xmlns:a16="http://schemas.microsoft.com/office/drawing/2014/main" id="{5FC2A5C1-CF7C-46C3-9BA6-8B2A4A9D9252}"/>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27</a:t>
            </a:fld>
            <a:endParaRPr lang="en-US" altLang="zh-CN"/>
          </a:p>
        </p:txBody>
      </p:sp>
    </p:spTree>
    <p:extLst>
      <p:ext uri="{BB962C8B-B14F-4D97-AF65-F5344CB8AC3E}">
        <p14:creationId xmlns:p14="http://schemas.microsoft.com/office/powerpoint/2010/main" val="233933179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89EA870-2395-4D43-AE69-B713460E6604}"/>
              </a:ext>
            </a:extLst>
          </p:cNvPr>
          <p:cNvSpPr>
            <a:spLocks noGrp="1"/>
          </p:cNvSpPr>
          <p:nvPr>
            <p:ph type="title"/>
          </p:nvPr>
        </p:nvSpPr>
        <p:spPr/>
        <p:txBody>
          <a:bodyPr/>
          <a:lstStyle/>
          <a:p>
            <a:r>
              <a:rPr lang="zh-CN" altLang="en-US" dirty="0"/>
              <a:t>定义基本数据结构</a:t>
            </a:r>
          </a:p>
        </p:txBody>
      </p:sp>
      <p:sp>
        <p:nvSpPr>
          <p:cNvPr id="3" name="内容占位符 2">
            <a:extLst>
              <a:ext uri="{FF2B5EF4-FFF2-40B4-BE49-F238E27FC236}">
                <a16:creationId xmlns:a16="http://schemas.microsoft.com/office/drawing/2014/main" id="{FFA3DF12-AC5F-4E34-8919-A29E1BAC239D}"/>
              </a:ext>
            </a:extLst>
          </p:cNvPr>
          <p:cNvSpPr>
            <a:spLocks noGrp="1"/>
          </p:cNvSpPr>
          <p:nvPr>
            <p:ph idx="1"/>
          </p:nvPr>
        </p:nvSpPr>
        <p:spPr>
          <a:xfrm>
            <a:off x="432510" y="1143000"/>
            <a:ext cx="8406689" cy="5410200"/>
          </a:xfrm>
        </p:spPr>
        <p:txBody>
          <a:bodyPr/>
          <a:lstStyle/>
          <a:p>
            <a:pPr marL="0" indent="0">
              <a:buNone/>
            </a:pPr>
            <a:r>
              <a:rPr lang="en-US" altLang="zh-CN" sz="2800" dirty="0"/>
              <a:t>2</a:t>
            </a:r>
            <a:r>
              <a:rPr lang="zh-CN" altLang="en-US" sz="2800" dirty="0"/>
              <a:t>、定义上下文结构</a:t>
            </a:r>
            <a:r>
              <a:rPr lang="en-US" altLang="zh-CN" sz="2800" dirty="0"/>
              <a:t>context</a:t>
            </a:r>
            <a:r>
              <a:rPr lang="zh-CN" altLang="en-US" sz="2800" dirty="0"/>
              <a:t>，所有的</a:t>
            </a:r>
            <a:r>
              <a:rPr lang="en-US" altLang="zh-CN" sz="2800" dirty="0"/>
              <a:t>FAPI</a:t>
            </a:r>
            <a:r>
              <a:rPr lang="zh-CN" altLang="en-US" sz="2800" dirty="0"/>
              <a:t>层函数调用都包含这个结构。</a:t>
            </a:r>
            <a:endParaRPr lang="en-US" altLang="zh-CN" sz="2800" dirty="0"/>
          </a:p>
          <a:p>
            <a:pPr marL="0" indent="0">
              <a:buNone/>
            </a:pPr>
            <a:r>
              <a:rPr lang="en-US" altLang="zh-CN" sz="2800" dirty="0">
                <a:solidFill>
                  <a:srgbClr val="FF0000"/>
                </a:solidFill>
              </a:rPr>
              <a:t>    </a:t>
            </a:r>
            <a:r>
              <a:rPr lang="en-US" altLang="zh-CN" sz="2400" dirty="0">
                <a:solidFill>
                  <a:srgbClr val="FF0000"/>
                </a:solidFill>
              </a:rPr>
              <a:t>typedef struct  _FAPI_CONTEXT </a:t>
            </a:r>
            <a:r>
              <a:rPr lang="en-US" altLang="zh-CN" sz="2400" dirty="0" err="1">
                <a:solidFill>
                  <a:srgbClr val="FF0000"/>
                </a:solidFill>
              </a:rPr>
              <a:t>FAPI_CONTEXT</a:t>
            </a:r>
            <a:r>
              <a:rPr lang="en-US" altLang="zh-CN" sz="2400" dirty="0">
                <a:solidFill>
                  <a:srgbClr val="FF0000"/>
                </a:solidFill>
              </a:rPr>
              <a:t>;</a:t>
            </a:r>
          </a:p>
          <a:p>
            <a:pPr marL="0" indent="0">
              <a:buNone/>
            </a:pPr>
            <a:r>
              <a:rPr lang="en-US" altLang="zh-CN" sz="2800" dirty="0">
                <a:solidFill>
                  <a:schemeClr val="accent4"/>
                </a:solidFill>
              </a:rPr>
              <a:t>     FAPI_CONTEXT</a:t>
            </a:r>
            <a:r>
              <a:rPr lang="zh-CN" altLang="en-US" sz="2800" dirty="0">
                <a:solidFill>
                  <a:schemeClr val="accent4"/>
                </a:solidFill>
              </a:rPr>
              <a:t>是一个是非常复杂的结构，包含了很多</a:t>
            </a:r>
            <a:r>
              <a:rPr lang="en-US" altLang="zh-CN" sz="2800" dirty="0">
                <a:solidFill>
                  <a:schemeClr val="accent4"/>
                </a:solidFill>
              </a:rPr>
              <a:t>TPM</a:t>
            </a:r>
            <a:r>
              <a:rPr lang="zh-CN" altLang="en-US" sz="2800" dirty="0">
                <a:solidFill>
                  <a:schemeClr val="accent4"/>
                </a:solidFill>
              </a:rPr>
              <a:t>内部的状态信息，每个这样的结构代表了一个与</a:t>
            </a:r>
            <a:r>
              <a:rPr lang="en-US" altLang="zh-CN" sz="2800" dirty="0">
                <a:solidFill>
                  <a:schemeClr val="accent4"/>
                </a:solidFill>
              </a:rPr>
              <a:t>TPM</a:t>
            </a:r>
            <a:r>
              <a:rPr lang="zh-CN" altLang="en-US" sz="2800" dirty="0">
                <a:solidFill>
                  <a:schemeClr val="accent4"/>
                </a:solidFill>
              </a:rPr>
              <a:t>建立的逻辑连接。这个结构是</a:t>
            </a:r>
            <a:r>
              <a:rPr lang="en-US" altLang="zh-CN" sz="2800" dirty="0">
                <a:solidFill>
                  <a:schemeClr val="accent4"/>
                </a:solidFill>
              </a:rPr>
              <a:t>TSS</a:t>
            </a:r>
            <a:r>
              <a:rPr lang="zh-CN" altLang="en-US" sz="2800" dirty="0">
                <a:solidFill>
                  <a:schemeClr val="accent4"/>
                </a:solidFill>
              </a:rPr>
              <a:t>对</a:t>
            </a:r>
            <a:r>
              <a:rPr lang="en-US" altLang="zh-CN" sz="2800" dirty="0">
                <a:solidFill>
                  <a:schemeClr val="accent4"/>
                </a:solidFill>
              </a:rPr>
              <a:t>TPM</a:t>
            </a:r>
            <a:r>
              <a:rPr lang="zh-CN" altLang="en-US" sz="2800" dirty="0">
                <a:solidFill>
                  <a:schemeClr val="accent4"/>
                </a:solidFill>
              </a:rPr>
              <a:t>进行管理的一个重要基础。它存储着调用</a:t>
            </a:r>
            <a:r>
              <a:rPr lang="en-US" altLang="zh-CN" sz="2800" dirty="0">
                <a:solidFill>
                  <a:schemeClr val="accent4"/>
                </a:solidFill>
              </a:rPr>
              <a:t>TPM</a:t>
            </a:r>
            <a:r>
              <a:rPr lang="zh-CN" altLang="en-US" sz="2800" dirty="0">
                <a:solidFill>
                  <a:schemeClr val="accent4"/>
                </a:solidFill>
              </a:rPr>
              <a:t>资源完成密码服务的大量元数据信息。不需要掌握该结构的内部细节，但是需要掌握这个结构的使用方法。</a:t>
            </a:r>
          </a:p>
        </p:txBody>
      </p:sp>
      <p:sp>
        <p:nvSpPr>
          <p:cNvPr id="4" name="灯片编号占位符 3">
            <a:extLst>
              <a:ext uri="{FF2B5EF4-FFF2-40B4-BE49-F238E27FC236}">
                <a16:creationId xmlns:a16="http://schemas.microsoft.com/office/drawing/2014/main" id="{195722B9-9826-4E25-B8BF-B11A464A7A5D}"/>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28</a:t>
            </a:fld>
            <a:endParaRPr lang="en-US" altLang="zh-CN"/>
          </a:p>
        </p:txBody>
      </p:sp>
    </p:spTree>
    <p:extLst>
      <p:ext uri="{BB962C8B-B14F-4D97-AF65-F5344CB8AC3E}">
        <p14:creationId xmlns:p14="http://schemas.microsoft.com/office/powerpoint/2010/main" val="166813740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D949F5-8E8F-4EBA-B4DE-2E293F682C18}"/>
              </a:ext>
            </a:extLst>
          </p:cNvPr>
          <p:cNvSpPr>
            <a:spLocks noGrp="1"/>
          </p:cNvSpPr>
          <p:nvPr>
            <p:ph type="title"/>
          </p:nvPr>
        </p:nvSpPr>
        <p:spPr/>
        <p:txBody>
          <a:bodyPr/>
          <a:lstStyle/>
          <a:p>
            <a:r>
              <a:rPr lang="en-US" altLang="zh-CN" dirty="0"/>
              <a:t>FAPI</a:t>
            </a:r>
            <a:r>
              <a:rPr lang="zh-CN" altLang="en-US" dirty="0"/>
              <a:t>编程示例</a:t>
            </a:r>
          </a:p>
        </p:txBody>
      </p:sp>
      <p:sp>
        <p:nvSpPr>
          <p:cNvPr id="3" name="内容占位符 2">
            <a:extLst>
              <a:ext uri="{FF2B5EF4-FFF2-40B4-BE49-F238E27FC236}">
                <a16:creationId xmlns:a16="http://schemas.microsoft.com/office/drawing/2014/main" id="{E5F8D0AA-29BF-4022-83FB-0460AC3FC751}"/>
              </a:ext>
            </a:extLst>
          </p:cNvPr>
          <p:cNvSpPr>
            <a:spLocks noGrp="1"/>
          </p:cNvSpPr>
          <p:nvPr>
            <p:ph idx="1"/>
          </p:nvPr>
        </p:nvSpPr>
        <p:spPr>
          <a:xfrm>
            <a:off x="167054" y="1063869"/>
            <a:ext cx="8672146" cy="5410200"/>
          </a:xfrm>
        </p:spPr>
        <p:txBody>
          <a:bodyPr/>
          <a:lstStyle/>
          <a:p>
            <a:r>
              <a:rPr lang="zh-CN" altLang="en-US" b="1" dirty="0">
                <a:solidFill>
                  <a:srgbClr val="FF0000"/>
                </a:solidFill>
              </a:rPr>
              <a:t>需求：</a:t>
            </a:r>
            <a:endParaRPr lang="en-US" altLang="zh-CN" b="1" dirty="0">
              <a:solidFill>
                <a:srgbClr val="FF0000"/>
              </a:solidFill>
            </a:endParaRPr>
          </a:p>
          <a:p>
            <a:pPr marL="0" indent="0">
              <a:buNone/>
            </a:pPr>
            <a:r>
              <a:rPr lang="en-US" altLang="zh-CN" b="1" dirty="0">
                <a:solidFill>
                  <a:srgbClr val="FF0000"/>
                </a:solidFill>
              </a:rPr>
              <a:t>    </a:t>
            </a:r>
            <a:r>
              <a:rPr lang="zh-CN" altLang="en-US" dirty="0"/>
              <a:t>使用</a:t>
            </a:r>
            <a:r>
              <a:rPr lang="en-US" altLang="zh-CN" dirty="0"/>
              <a:t>FAPI</a:t>
            </a:r>
            <a:r>
              <a:rPr lang="zh-CN" altLang="en-US" dirty="0"/>
              <a:t>编写一个程序，这个程序首先创建一个密钥，然后利用该密钥对字符串“</a:t>
            </a:r>
            <a:r>
              <a:rPr lang="en-US" altLang="zh-CN" dirty="0"/>
              <a:t>Hello World</a:t>
            </a:r>
            <a:r>
              <a:rPr lang="zh-CN" altLang="en-US" dirty="0"/>
              <a:t>”进行签名，最后对签名进行验证</a:t>
            </a:r>
            <a:endParaRPr lang="en-US" altLang="zh-CN" dirty="0"/>
          </a:p>
          <a:p>
            <a:r>
              <a:rPr lang="zh-CN" altLang="en-US" b="1" dirty="0">
                <a:solidFill>
                  <a:srgbClr val="FF0000"/>
                </a:solidFill>
              </a:rPr>
              <a:t>步骤：</a:t>
            </a:r>
            <a:endParaRPr lang="en-US" altLang="zh-CN" b="1" dirty="0">
              <a:solidFill>
                <a:srgbClr val="FF0000"/>
              </a:solidFill>
            </a:endParaRPr>
          </a:p>
          <a:p>
            <a:pPr marL="0" indent="0">
              <a:buNone/>
            </a:pPr>
            <a:r>
              <a:rPr lang="en-US" altLang="zh-CN" dirty="0"/>
              <a:t>1</a:t>
            </a:r>
            <a:r>
              <a:rPr lang="zh-CN" altLang="en-US" dirty="0"/>
              <a:t>、创建一个</a:t>
            </a:r>
            <a:r>
              <a:rPr lang="en-US" altLang="zh-CN" dirty="0"/>
              <a:t>Context</a:t>
            </a:r>
            <a:r>
              <a:rPr lang="zh-CN" altLang="en-US" dirty="0"/>
              <a:t>。</a:t>
            </a:r>
            <a:endParaRPr lang="en-US" altLang="zh-CN" dirty="0"/>
          </a:p>
          <a:p>
            <a:pPr marL="0" indent="0">
              <a:buNone/>
            </a:pPr>
            <a:r>
              <a:rPr lang="zh-CN" altLang="en-US" dirty="0"/>
              <a:t>通过设置第二个参数为</a:t>
            </a:r>
            <a:r>
              <a:rPr lang="en-US" altLang="zh-CN" dirty="0"/>
              <a:t>NULL</a:t>
            </a:r>
            <a:r>
              <a:rPr lang="zh-CN" altLang="en-US" dirty="0"/>
              <a:t>来告诉系统，这个</a:t>
            </a:r>
            <a:r>
              <a:rPr lang="en-US" altLang="zh-CN" dirty="0"/>
              <a:t>context</a:t>
            </a:r>
            <a:r>
              <a:rPr lang="zh-CN" altLang="en-US" dirty="0"/>
              <a:t>将会使用本地的</a:t>
            </a:r>
            <a:r>
              <a:rPr lang="en-US" altLang="zh-CN" dirty="0"/>
              <a:t>TPM</a:t>
            </a:r>
          </a:p>
          <a:p>
            <a:pPr marL="0" indent="0">
              <a:buNone/>
            </a:pPr>
            <a:r>
              <a:rPr lang="en-US" altLang="zh-CN" dirty="0"/>
              <a:t>```</a:t>
            </a:r>
          </a:p>
          <a:p>
            <a:pPr marL="0" indent="0">
              <a:buNone/>
            </a:pPr>
            <a:r>
              <a:rPr lang="en-US" altLang="zh-CN" dirty="0"/>
              <a:t>TSS2_CONTEXT *context;</a:t>
            </a:r>
          </a:p>
          <a:p>
            <a:pPr marL="0" indent="0">
              <a:buNone/>
            </a:pPr>
            <a:r>
              <a:rPr lang="en-US" altLang="zh-CN" dirty="0"/>
              <a:t>Tss2_Context_Intialize(&amp;context, </a:t>
            </a:r>
            <a:r>
              <a:rPr lang="en-US" altLang="zh-CN" dirty="0">
                <a:solidFill>
                  <a:srgbClr val="FF0000"/>
                </a:solidFill>
              </a:rPr>
              <a:t>NULL</a:t>
            </a:r>
            <a:r>
              <a:rPr lang="en-US" altLang="zh-CN" dirty="0"/>
              <a:t>);</a:t>
            </a:r>
          </a:p>
          <a:p>
            <a:pPr marL="0" indent="0">
              <a:buNone/>
            </a:pPr>
            <a:r>
              <a:rPr lang="en-US" altLang="zh-CN" dirty="0"/>
              <a:t>```</a:t>
            </a:r>
          </a:p>
          <a:p>
            <a:pPr marL="0" indent="0" algn="just">
              <a:buNone/>
            </a:pPr>
            <a:r>
              <a:rPr lang="en-US" altLang="zh-CN" dirty="0"/>
              <a:t>2</a:t>
            </a:r>
            <a:r>
              <a:rPr lang="zh-CN" altLang="en-US" dirty="0"/>
              <a:t>、使用用户的默认配置创建一个签名密钥。这里我们使用</a:t>
            </a:r>
            <a:r>
              <a:rPr lang="en-US" altLang="zh-CN" dirty="0"/>
              <a:t>P_RSA2048SHA1</a:t>
            </a:r>
            <a:r>
              <a:rPr lang="zh-CN" altLang="en-US" dirty="0"/>
              <a:t>这个配置而不是默认的。参数</a:t>
            </a:r>
            <a:r>
              <a:rPr lang="en-US" altLang="zh-CN" dirty="0"/>
              <a:t>UNK</a:t>
            </a:r>
            <a:r>
              <a:rPr lang="zh-CN" altLang="en-US" dirty="0"/>
              <a:t>说明这个密钥是不可复制的。名称是</a:t>
            </a:r>
            <a:r>
              <a:rPr lang="en-US" altLang="zh-CN" dirty="0" err="1"/>
              <a:t>mySigningKEY</a:t>
            </a:r>
            <a:r>
              <a:rPr lang="zh-CN" altLang="en-US" dirty="0"/>
              <a:t>。参数</a:t>
            </a:r>
            <a:r>
              <a:rPr lang="en-US" altLang="zh-CN" dirty="0"/>
              <a:t>ASYM_RESTRICTED_SIGNING_KEY</a:t>
            </a:r>
            <a:r>
              <a:rPr lang="zh-CN" altLang="en-US" dirty="0"/>
              <a:t>表明这个密钥是一个签名密钥。同时我们还使用一个非常容易验证通过的</a:t>
            </a:r>
            <a:r>
              <a:rPr lang="en-US" altLang="zh-CN" dirty="0"/>
              <a:t>Policy</a:t>
            </a:r>
            <a:r>
              <a:rPr lang="zh-CN" altLang="en-US" dirty="0"/>
              <a:t>和一个空的口令。</a:t>
            </a:r>
          </a:p>
        </p:txBody>
      </p:sp>
      <p:sp>
        <p:nvSpPr>
          <p:cNvPr id="4" name="灯片编号占位符 3">
            <a:extLst>
              <a:ext uri="{FF2B5EF4-FFF2-40B4-BE49-F238E27FC236}">
                <a16:creationId xmlns:a16="http://schemas.microsoft.com/office/drawing/2014/main" id="{BEB8F8CD-E297-4E96-926B-3FE46F39B997}"/>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29</a:t>
            </a:fld>
            <a:endParaRPr lang="en-US" altLang="zh-CN"/>
          </a:p>
        </p:txBody>
      </p:sp>
    </p:spTree>
    <p:extLst>
      <p:ext uri="{BB962C8B-B14F-4D97-AF65-F5344CB8AC3E}">
        <p14:creationId xmlns:p14="http://schemas.microsoft.com/office/powerpoint/2010/main" val="336439624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A4E940-017A-4C32-A4F7-2124765655CE}"/>
              </a:ext>
            </a:extLst>
          </p:cNvPr>
          <p:cNvSpPr>
            <a:spLocks noGrp="1"/>
          </p:cNvSpPr>
          <p:nvPr>
            <p:ph type="title"/>
          </p:nvPr>
        </p:nvSpPr>
        <p:spPr/>
        <p:txBody>
          <a:bodyPr/>
          <a:lstStyle/>
          <a:p>
            <a:r>
              <a:rPr lang="en-US" altLang="zh-CN" dirty="0"/>
              <a:t>FAPI</a:t>
            </a:r>
            <a:r>
              <a:rPr lang="zh-CN" altLang="en-US" dirty="0"/>
              <a:t>编程示例</a:t>
            </a:r>
          </a:p>
        </p:txBody>
      </p:sp>
      <p:sp>
        <p:nvSpPr>
          <p:cNvPr id="3" name="内容占位符 2">
            <a:extLst>
              <a:ext uri="{FF2B5EF4-FFF2-40B4-BE49-F238E27FC236}">
                <a16:creationId xmlns:a16="http://schemas.microsoft.com/office/drawing/2014/main" id="{C2DAA444-8D0A-4FD0-A956-B41B93EBDF06}"/>
              </a:ext>
            </a:extLst>
          </p:cNvPr>
          <p:cNvSpPr>
            <a:spLocks noGrp="1"/>
          </p:cNvSpPr>
          <p:nvPr>
            <p:ph idx="1"/>
          </p:nvPr>
        </p:nvSpPr>
        <p:spPr>
          <a:xfrm>
            <a:off x="432511" y="1143000"/>
            <a:ext cx="8296656" cy="5410200"/>
          </a:xfrm>
        </p:spPr>
        <p:txBody>
          <a:bodyPr/>
          <a:lstStyle/>
          <a:p>
            <a:pPr marL="0" indent="0">
              <a:buNone/>
            </a:pPr>
            <a:r>
              <a:rPr lang="en-US" altLang="zh-CN" dirty="0"/>
              <a:t>```</a:t>
            </a:r>
          </a:p>
          <a:p>
            <a:pPr marL="0" indent="0">
              <a:buNone/>
            </a:pPr>
            <a:r>
              <a:rPr lang="en-US" altLang="zh-CN" dirty="0">
                <a:solidFill>
                  <a:srgbClr val="FF0000"/>
                </a:solidFill>
              </a:rPr>
              <a:t>Tss2_Key_Create</a:t>
            </a:r>
            <a:r>
              <a:rPr lang="en-US" altLang="zh-CN" dirty="0"/>
              <a:t>(context, // </a:t>
            </a:r>
            <a:r>
              <a:rPr lang="en-US" altLang="zh-CN" dirty="0">
                <a:solidFill>
                  <a:srgbClr val="FF0000"/>
                </a:solidFill>
              </a:rPr>
              <a:t>pass in the context I just created</a:t>
            </a:r>
          </a:p>
          <a:p>
            <a:pPr marL="0" indent="0">
              <a:buNone/>
            </a:pPr>
            <a:r>
              <a:rPr lang="en-US" altLang="zh-CN" dirty="0"/>
              <a:t>"P_RSA2048SHA1/UNK/mySigningKey", // </a:t>
            </a:r>
            <a:r>
              <a:rPr lang="en-US" altLang="zh-CN" dirty="0">
                <a:solidFill>
                  <a:srgbClr val="FF0000"/>
                </a:solidFill>
              </a:rPr>
              <a:t>non-duplicableRSA2048</a:t>
            </a:r>
          </a:p>
          <a:p>
            <a:pPr marL="0" indent="0">
              <a:buNone/>
            </a:pPr>
            <a:r>
              <a:rPr lang="en-US" altLang="zh-CN" dirty="0"/>
              <a:t>ASYM_RESTRICTED_SIGNING_KEY, // </a:t>
            </a:r>
            <a:r>
              <a:rPr lang="en-US" altLang="zh-CN" dirty="0">
                <a:solidFill>
                  <a:srgbClr val="FF0000"/>
                </a:solidFill>
              </a:rPr>
              <a:t>signing key</a:t>
            </a:r>
          </a:p>
          <a:p>
            <a:pPr marL="0" indent="0">
              <a:buNone/>
            </a:pPr>
            <a:r>
              <a:rPr lang="en-US" altLang="zh-CN" dirty="0"/>
              <a:t>TSS2_POLICY_TRIVIAL, // </a:t>
            </a:r>
            <a:r>
              <a:rPr lang="en-US" altLang="zh-CN" dirty="0">
                <a:solidFill>
                  <a:srgbClr val="FF0000"/>
                </a:solidFill>
              </a:rPr>
              <a:t>trivially policy</a:t>
            </a:r>
          </a:p>
          <a:p>
            <a:pPr marL="0" indent="0">
              <a:buNone/>
            </a:pPr>
            <a:r>
              <a:rPr lang="en-US" altLang="zh-CN" dirty="0"/>
              <a:t>TSS2_AUTH_NULL); // </a:t>
            </a:r>
            <a:r>
              <a:rPr lang="en-US" altLang="zh-CN" dirty="0">
                <a:solidFill>
                  <a:srgbClr val="FF0000"/>
                </a:solidFill>
              </a:rPr>
              <a:t>the password is NULL</a:t>
            </a:r>
          </a:p>
          <a:p>
            <a:pPr marL="0" indent="0">
              <a:buNone/>
            </a:pPr>
            <a:r>
              <a:rPr lang="en-US" altLang="zh-CN" dirty="0"/>
              <a:t>```</a:t>
            </a:r>
          </a:p>
          <a:p>
            <a:pPr marL="0" indent="0">
              <a:buNone/>
            </a:pPr>
            <a:r>
              <a:rPr lang="en-US" altLang="zh-CN" dirty="0"/>
              <a:t>3</a:t>
            </a:r>
            <a:r>
              <a:rPr lang="zh-CN" altLang="en-US" dirty="0"/>
              <a:t>、调用</a:t>
            </a:r>
            <a:r>
              <a:rPr lang="en-US" altLang="zh-CN" dirty="0"/>
              <a:t>OpenSSL</a:t>
            </a:r>
            <a:r>
              <a:rPr lang="zh-CN" altLang="en-US" dirty="0"/>
              <a:t>对字符串“</a:t>
            </a:r>
            <a:r>
              <a:rPr lang="en-US" altLang="zh-CN" dirty="0"/>
              <a:t>Hello World”</a:t>
            </a:r>
            <a:r>
              <a:rPr lang="zh-CN" altLang="en-US" dirty="0"/>
              <a:t>做哈希。</a:t>
            </a:r>
            <a:endParaRPr lang="en-US" altLang="zh-CN" dirty="0"/>
          </a:p>
          <a:p>
            <a:pPr marL="0" indent="0">
              <a:buNone/>
            </a:pPr>
            <a:r>
              <a:rPr lang="en-US" altLang="zh-CN" dirty="0"/>
              <a:t>```</a:t>
            </a:r>
          </a:p>
          <a:p>
            <a:pPr marL="0" indent="0">
              <a:buNone/>
            </a:pPr>
            <a:r>
              <a:rPr lang="en-US" altLang="zh-CN" dirty="0"/>
              <a:t>TSS2_SIZED_BUFFER </a:t>
            </a:r>
            <a:r>
              <a:rPr lang="en-US" altLang="zh-CN" dirty="0" err="1"/>
              <a:t>myHash</a:t>
            </a:r>
            <a:r>
              <a:rPr lang="en-US" altLang="zh-CN" dirty="0"/>
              <a:t>;</a:t>
            </a:r>
          </a:p>
          <a:p>
            <a:pPr marL="0" indent="0">
              <a:buNone/>
            </a:pPr>
            <a:r>
              <a:rPr lang="en-US" altLang="zh-CN" dirty="0" err="1"/>
              <a:t>myHash.size</a:t>
            </a:r>
            <a:r>
              <a:rPr lang="en-US" altLang="zh-CN" dirty="0"/>
              <a:t>=20</a:t>
            </a:r>
          </a:p>
          <a:p>
            <a:pPr marL="0" indent="0">
              <a:buNone/>
            </a:pPr>
            <a:r>
              <a:rPr lang="en-US" altLang="zh-CN" dirty="0" err="1"/>
              <a:t>myHash.buffer</a:t>
            </a:r>
            <a:r>
              <a:rPr lang="en-US" altLang="zh-CN" dirty="0"/>
              <a:t>=</a:t>
            </a:r>
            <a:r>
              <a:rPr lang="en-US" altLang="zh-CN" dirty="0" err="1"/>
              <a:t>calloc</a:t>
            </a:r>
            <a:r>
              <a:rPr lang="en-US" altLang="zh-CN" dirty="0"/>
              <a:t>(20,1);</a:t>
            </a:r>
          </a:p>
          <a:p>
            <a:pPr marL="0" indent="0">
              <a:buNone/>
            </a:pPr>
            <a:r>
              <a:rPr lang="en-US" altLang="zh-CN" dirty="0"/>
              <a:t>SHA1("Hello World",</a:t>
            </a:r>
            <a:r>
              <a:rPr lang="en-US" altLang="zh-CN" dirty="0" err="1"/>
              <a:t>sizeof</a:t>
            </a:r>
            <a:r>
              <a:rPr lang="en-US" altLang="zh-CN" dirty="0"/>
              <a:t>("Hello World"),</a:t>
            </a:r>
            <a:r>
              <a:rPr lang="en-US" altLang="zh-CN" dirty="0" err="1"/>
              <a:t>myHash.buffer</a:t>
            </a:r>
            <a:r>
              <a:rPr lang="en-US" altLang="zh-CN" dirty="0"/>
              <a:t>);</a:t>
            </a:r>
          </a:p>
          <a:p>
            <a:pPr marL="0" indent="0">
              <a:buNone/>
            </a:pPr>
            <a:r>
              <a:rPr lang="en-US" altLang="zh-CN" dirty="0"/>
              <a:t>```</a:t>
            </a:r>
            <a:endParaRPr lang="zh-CN" altLang="en-US" dirty="0"/>
          </a:p>
        </p:txBody>
      </p:sp>
      <p:sp>
        <p:nvSpPr>
          <p:cNvPr id="4" name="灯片编号占位符 3">
            <a:extLst>
              <a:ext uri="{FF2B5EF4-FFF2-40B4-BE49-F238E27FC236}">
                <a16:creationId xmlns:a16="http://schemas.microsoft.com/office/drawing/2014/main" id="{0C294CC8-3EC9-4FFF-8D2A-1B12B98F61C3}"/>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30</a:t>
            </a:fld>
            <a:endParaRPr lang="en-US" altLang="zh-CN"/>
          </a:p>
        </p:txBody>
      </p:sp>
    </p:spTree>
    <p:extLst>
      <p:ext uri="{BB962C8B-B14F-4D97-AF65-F5344CB8AC3E}">
        <p14:creationId xmlns:p14="http://schemas.microsoft.com/office/powerpoint/2010/main" val="279375095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6E15E9-BA1A-4380-8673-C4F06874DD99}"/>
              </a:ext>
            </a:extLst>
          </p:cNvPr>
          <p:cNvSpPr>
            <a:spLocks noGrp="1"/>
          </p:cNvSpPr>
          <p:nvPr>
            <p:ph type="title"/>
          </p:nvPr>
        </p:nvSpPr>
        <p:spPr/>
        <p:txBody>
          <a:bodyPr/>
          <a:lstStyle/>
          <a:p>
            <a:r>
              <a:rPr lang="en-US" altLang="zh-CN" dirty="0"/>
              <a:t>FAPI</a:t>
            </a:r>
            <a:r>
              <a:rPr lang="zh-CN" altLang="en-US" dirty="0"/>
              <a:t>编程示例</a:t>
            </a:r>
          </a:p>
        </p:txBody>
      </p:sp>
      <p:sp>
        <p:nvSpPr>
          <p:cNvPr id="3" name="内容占位符 2">
            <a:extLst>
              <a:ext uri="{FF2B5EF4-FFF2-40B4-BE49-F238E27FC236}">
                <a16:creationId xmlns:a16="http://schemas.microsoft.com/office/drawing/2014/main" id="{537D1389-52D3-4DC7-8B84-83D84D06C1ED}"/>
              </a:ext>
            </a:extLst>
          </p:cNvPr>
          <p:cNvSpPr>
            <a:spLocks noGrp="1"/>
          </p:cNvSpPr>
          <p:nvPr>
            <p:ph idx="1"/>
          </p:nvPr>
        </p:nvSpPr>
        <p:spPr/>
        <p:txBody>
          <a:bodyPr/>
          <a:lstStyle/>
          <a:p>
            <a:pPr marL="0" indent="0">
              <a:buNone/>
            </a:pPr>
            <a:r>
              <a:rPr lang="en-US" altLang="zh-CN" sz="2400" dirty="0"/>
              <a:t>4</a:t>
            </a:r>
            <a:r>
              <a:rPr lang="zh-CN" altLang="en-US" sz="2400" dirty="0"/>
              <a:t>、利用密钥对字符串的哈希值进行签名</a:t>
            </a:r>
            <a:endParaRPr lang="en-US" altLang="zh-CN" sz="2400" dirty="0"/>
          </a:p>
          <a:p>
            <a:pPr marL="0" indent="0">
              <a:buNone/>
            </a:pPr>
            <a:r>
              <a:rPr lang="en-US" altLang="zh-CN" sz="2400" dirty="0"/>
              <a:t>```</a:t>
            </a:r>
          </a:p>
          <a:p>
            <a:pPr marL="0" indent="0">
              <a:buNone/>
            </a:pPr>
            <a:r>
              <a:rPr lang="en-US" altLang="zh-CN" sz="2400" dirty="0"/>
              <a:t>TSS2_SIZED_BUFFER signature,  </a:t>
            </a:r>
            <a:r>
              <a:rPr lang="en-US" altLang="zh-CN" sz="2400" dirty="0" err="1"/>
              <a:t>publicKey</a:t>
            </a:r>
            <a:r>
              <a:rPr lang="en-US" altLang="zh-CN" sz="2400" dirty="0"/>
              <a:t>, certificate;</a:t>
            </a:r>
          </a:p>
          <a:p>
            <a:pPr marL="0" indent="0">
              <a:buNone/>
            </a:pPr>
            <a:r>
              <a:rPr lang="en-US" altLang="zh-CN" sz="2400" dirty="0"/>
              <a:t>Tss2_Key_Sign(context, // pass in the context</a:t>
            </a:r>
          </a:p>
          <a:p>
            <a:pPr marL="0" indent="0">
              <a:buNone/>
            </a:pPr>
            <a:r>
              <a:rPr lang="en-US" altLang="zh-CN" sz="2400" dirty="0"/>
              <a:t>"P_RSA2048SHA1/UNK/mySigningKey", // the signing key</a:t>
            </a:r>
          </a:p>
          <a:p>
            <a:pPr marL="0" indent="0">
              <a:buNone/>
            </a:pPr>
            <a:r>
              <a:rPr lang="en-US" altLang="zh-CN" sz="2400" dirty="0"/>
              <a:t>&amp;</a:t>
            </a:r>
            <a:r>
              <a:rPr lang="en-US" altLang="zh-CN" sz="2400" dirty="0" err="1"/>
              <a:t>myHash</a:t>
            </a:r>
            <a:r>
              <a:rPr lang="en-US" altLang="zh-CN" sz="2400" dirty="0"/>
              <a:t>,</a:t>
            </a:r>
          </a:p>
          <a:p>
            <a:pPr marL="0" indent="0">
              <a:buNone/>
            </a:pPr>
            <a:r>
              <a:rPr lang="en-US" altLang="zh-CN" sz="2400" dirty="0"/>
              <a:t>&amp;signature,</a:t>
            </a:r>
          </a:p>
          <a:p>
            <a:pPr marL="0" indent="0">
              <a:buNone/>
            </a:pPr>
            <a:r>
              <a:rPr lang="en-US" altLang="zh-CN" sz="2400" dirty="0"/>
              <a:t>&amp;</a:t>
            </a:r>
            <a:r>
              <a:rPr lang="en-US" altLang="zh-CN" sz="2400" dirty="0" err="1"/>
              <a:t>publicKey</a:t>
            </a:r>
            <a:r>
              <a:rPr lang="en-US" altLang="zh-CN" sz="2400" dirty="0"/>
              <a:t>,</a:t>
            </a:r>
          </a:p>
          <a:p>
            <a:pPr marL="0" indent="0">
              <a:buNone/>
            </a:pPr>
            <a:r>
              <a:rPr lang="en-US" altLang="zh-CN" sz="2400" dirty="0"/>
              <a:t>&amp;certificate);</a:t>
            </a:r>
          </a:p>
          <a:p>
            <a:pPr marL="0" indent="0">
              <a:buNone/>
            </a:pPr>
            <a:r>
              <a:rPr lang="en-US" altLang="zh-CN" sz="2400" dirty="0"/>
              <a:t>```</a:t>
            </a:r>
          </a:p>
          <a:p>
            <a:pPr marL="0" indent="0">
              <a:buNone/>
            </a:pPr>
            <a:r>
              <a:rPr lang="zh-CN" altLang="en-US" sz="2400" dirty="0">
                <a:solidFill>
                  <a:srgbClr val="FF0000"/>
                </a:solidFill>
              </a:rPr>
              <a:t>注意：密钥是刚刚创建的，所以密钥的证书是空的，该函数会返回所有用于验签的信息。即签名值、公钥和证书。</a:t>
            </a:r>
          </a:p>
          <a:p>
            <a:pPr marL="0" indent="0">
              <a:buNone/>
            </a:pPr>
            <a:endParaRPr lang="zh-CN" altLang="en-US" sz="2000" b="0" dirty="0">
              <a:solidFill>
                <a:srgbClr val="292929"/>
              </a:solidFill>
              <a:effectLst/>
              <a:latin typeface="Consolas" panose="020B0609020204030204" pitchFamily="49" charset="0"/>
            </a:endParaRPr>
          </a:p>
          <a:p>
            <a:pPr marL="0" indent="0">
              <a:buNone/>
            </a:pPr>
            <a:endParaRPr lang="zh-CN" altLang="en-US" sz="2400" dirty="0"/>
          </a:p>
        </p:txBody>
      </p:sp>
      <p:sp>
        <p:nvSpPr>
          <p:cNvPr id="4" name="灯片编号占位符 3">
            <a:extLst>
              <a:ext uri="{FF2B5EF4-FFF2-40B4-BE49-F238E27FC236}">
                <a16:creationId xmlns:a16="http://schemas.microsoft.com/office/drawing/2014/main" id="{C2ACCA6A-C878-4905-AA3C-875FA5BE30C3}"/>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31</a:t>
            </a:fld>
            <a:endParaRPr lang="en-US" altLang="zh-CN"/>
          </a:p>
        </p:txBody>
      </p:sp>
    </p:spTree>
    <p:extLst>
      <p:ext uri="{BB962C8B-B14F-4D97-AF65-F5344CB8AC3E}">
        <p14:creationId xmlns:p14="http://schemas.microsoft.com/office/powerpoint/2010/main" val="37567926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E8D189-D8AF-48AA-95F5-7327E9850008}"/>
              </a:ext>
            </a:extLst>
          </p:cNvPr>
          <p:cNvSpPr>
            <a:spLocks noGrp="1"/>
          </p:cNvSpPr>
          <p:nvPr>
            <p:ph type="title"/>
          </p:nvPr>
        </p:nvSpPr>
        <p:spPr/>
        <p:txBody>
          <a:bodyPr/>
          <a:lstStyle/>
          <a:p>
            <a:r>
              <a:rPr lang="en-US" altLang="zh-CN" dirty="0"/>
              <a:t>FAPI</a:t>
            </a:r>
            <a:r>
              <a:rPr lang="zh-CN" altLang="en-US" dirty="0"/>
              <a:t>编程示例</a:t>
            </a:r>
          </a:p>
        </p:txBody>
      </p:sp>
      <p:sp>
        <p:nvSpPr>
          <p:cNvPr id="3" name="内容占位符 2">
            <a:extLst>
              <a:ext uri="{FF2B5EF4-FFF2-40B4-BE49-F238E27FC236}">
                <a16:creationId xmlns:a16="http://schemas.microsoft.com/office/drawing/2014/main" id="{D0912660-37D8-4B6B-B23B-B05C6F2B1891}"/>
              </a:ext>
            </a:extLst>
          </p:cNvPr>
          <p:cNvSpPr>
            <a:spLocks noGrp="1"/>
          </p:cNvSpPr>
          <p:nvPr>
            <p:ph idx="1"/>
          </p:nvPr>
        </p:nvSpPr>
        <p:spPr/>
        <p:txBody>
          <a:bodyPr/>
          <a:lstStyle/>
          <a:p>
            <a:pPr marL="0" indent="0">
              <a:buNone/>
            </a:pPr>
            <a:r>
              <a:rPr lang="en-US" altLang="zh-CN" dirty="0"/>
              <a:t>5</a:t>
            </a:r>
            <a:r>
              <a:rPr lang="zh-CN" altLang="en-US" dirty="0"/>
              <a:t>、验证签名</a:t>
            </a:r>
            <a:endParaRPr lang="en-US" altLang="zh-CN" dirty="0"/>
          </a:p>
          <a:p>
            <a:pPr marL="0" indent="0">
              <a:buNone/>
            </a:pPr>
            <a:r>
              <a:rPr lang="en-US" altLang="zh-CN" sz="2800" dirty="0">
                <a:solidFill>
                  <a:srgbClr val="FF0000"/>
                </a:solidFill>
              </a:rPr>
              <a:t>```</a:t>
            </a:r>
          </a:p>
          <a:p>
            <a:pPr marL="0" indent="0">
              <a:buNone/>
            </a:pPr>
            <a:r>
              <a:rPr lang="en-US" altLang="zh-CN" sz="2800" dirty="0">
                <a:solidFill>
                  <a:srgbClr val="FF0000"/>
                </a:solidFill>
              </a:rPr>
              <a:t>if (TSS_SUCCESS!=Tss2_Key_Verify(context ,&amp;signature,</a:t>
            </a:r>
          </a:p>
          <a:p>
            <a:pPr marL="0" indent="0">
              <a:buNone/>
            </a:pPr>
            <a:r>
              <a:rPr lang="en-US" altLang="zh-CN" sz="2800" dirty="0">
                <a:solidFill>
                  <a:srgbClr val="FF0000"/>
                </a:solidFill>
              </a:rPr>
              <a:t>&amp;</a:t>
            </a:r>
            <a:r>
              <a:rPr lang="en-US" altLang="zh-CN" sz="2800" dirty="0" err="1">
                <a:solidFill>
                  <a:srgbClr val="FF0000"/>
                </a:solidFill>
              </a:rPr>
              <a:t>publicKey</a:t>
            </a:r>
            <a:r>
              <a:rPr lang="en-US" altLang="zh-CN" sz="2800" dirty="0">
                <a:solidFill>
                  <a:srgbClr val="FF0000"/>
                </a:solidFill>
              </a:rPr>
              <a:t>,&amp;</a:t>
            </a:r>
            <a:r>
              <a:rPr lang="en-US" altLang="zh-CN" sz="2800" dirty="0" err="1">
                <a:solidFill>
                  <a:srgbClr val="FF0000"/>
                </a:solidFill>
              </a:rPr>
              <a:t>myHash</a:t>
            </a:r>
            <a:r>
              <a:rPr lang="en-US" altLang="zh-CN" sz="2800" dirty="0">
                <a:solidFill>
                  <a:srgbClr val="FF0000"/>
                </a:solidFill>
              </a:rPr>
              <a:t>) )</a:t>
            </a:r>
          </a:p>
          <a:p>
            <a:pPr marL="0" indent="0">
              <a:buNone/>
            </a:pPr>
            <a:r>
              <a:rPr lang="en-US" altLang="zh-CN" sz="2800" dirty="0">
                <a:solidFill>
                  <a:srgbClr val="FF0000"/>
                </a:solidFill>
              </a:rPr>
              <a:t>{</a:t>
            </a:r>
          </a:p>
          <a:p>
            <a:pPr marL="0" indent="0">
              <a:buNone/>
            </a:pPr>
            <a:r>
              <a:rPr lang="en-US" altLang="zh-CN" sz="2800" dirty="0" err="1">
                <a:solidFill>
                  <a:srgbClr val="FF0000"/>
                </a:solidFill>
              </a:rPr>
              <a:t>printf</a:t>
            </a:r>
            <a:r>
              <a:rPr lang="en-US" altLang="zh-CN" sz="2800" dirty="0">
                <a:solidFill>
                  <a:srgbClr val="FF0000"/>
                </a:solidFill>
              </a:rPr>
              <a:t>("The command failed signature verification\n");</a:t>
            </a:r>
          </a:p>
          <a:p>
            <a:pPr marL="0" indent="0">
              <a:buNone/>
            </a:pPr>
            <a:r>
              <a:rPr lang="en-US" altLang="zh-CN" sz="2800" dirty="0">
                <a:solidFill>
                  <a:srgbClr val="FF0000"/>
                </a:solidFill>
              </a:rPr>
              <a:t>}</a:t>
            </a:r>
          </a:p>
          <a:p>
            <a:pPr marL="0" indent="0">
              <a:buNone/>
            </a:pPr>
            <a:r>
              <a:rPr lang="en-US" altLang="zh-CN" sz="2800" dirty="0">
                <a:solidFill>
                  <a:srgbClr val="FF0000"/>
                </a:solidFill>
              </a:rPr>
              <a:t>else </a:t>
            </a:r>
            <a:r>
              <a:rPr lang="en-US" altLang="zh-CN" sz="2800" dirty="0" err="1">
                <a:solidFill>
                  <a:srgbClr val="FF0000"/>
                </a:solidFill>
              </a:rPr>
              <a:t>printf</a:t>
            </a:r>
            <a:r>
              <a:rPr lang="en-US" altLang="zh-CN" sz="2800" dirty="0">
                <a:solidFill>
                  <a:srgbClr val="FF0000"/>
                </a:solidFill>
              </a:rPr>
              <a:t>("The command succeeded\n");</a:t>
            </a:r>
          </a:p>
          <a:p>
            <a:pPr marL="0" indent="0">
              <a:buNone/>
            </a:pPr>
            <a:r>
              <a:rPr lang="en-US" altLang="zh-CN" sz="2800" dirty="0">
                <a:solidFill>
                  <a:srgbClr val="FF0000"/>
                </a:solidFill>
              </a:rPr>
              <a:t>```</a:t>
            </a:r>
          </a:p>
          <a:p>
            <a:pPr marL="0" indent="0">
              <a:buNone/>
            </a:pPr>
            <a:endParaRPr lang="zh-CN" altLang="en-US" dirty="0"/>
          </a:p>
        </p:txBody>
      </p:sp>
      <p:sp>
        <p:nvSpPr>
          <p:cNvPr id="4" name="灯片编号占位符 3">
            <a:extLst>
              <a:ext uri="{FF2B5EF4-FFF2-40B4-BE49-F238E27FC236}">
                <a16:creationId xmlns:a16="http://schemas.microsoft.com/office/drawing/2014/main" id="{0E675C29-CFB0-4159-94EF-A2C4F517FE39}"/>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32</a:t>
            </a:fld>
            <a:endParaRPr lang="en-US" altLang="zh-CN"/>
          </a:p>
        </p:txBody>
      </p:sp>
    </p:spTree>
    <p:extLst>
      <p:ext uri="{BB962C8B-B14F-4D97-AF65-F5344CB8AC3E}">
        <p14:creationId xmlns:p14="http://schemas.microsoft.com/office/powerpoint/2010/main" val="87846912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231187-4872-4FDD-B732-51FD15389DFA}"/>
              </a:ext>
            </a:extLst>
          </p:cNvPr>
          <p:cNvSpPr>
            <a:spLocks noGrp="1"/>
          </p:cNvSpPr>
          <p:nvPr>
            <p:ph type="title"/>
          </p:nvPr>
        </p:nvSpPr>
        <p:spPr/>
        <p:txBody>
          <a:bodyPr/>
          <a:lstStyle/>
          <a:p>
            <a:r>
              <a:rPr lang="en-US" altLang="zh-CN" dirty="0"/>
              <a:t>FAPI</a:t>
            </a:r>
            <a:r>
              <a:rPr lang="zh-CN" altLang="en-US" dirty="0"/>
              <a:t>编程示例</a:t>
            </a:r>
          </a:p>
        </p:txBody>
      </p:sp>
      <p:sp>
        <p:nvSpPr>
          <p:cNvPr id="3" name="内容占位符 2">
            <a:extLst>
              <a:ext uri="{FF2B5EF4-FFF2-40B4-BE49-F238E27FC236}">
                <a16:creationId xmlns:a16="http://schemas.microsoft.com/office/drawing/2014/main" id="{5C834FF0-5E80-42DC-8ABF-39B2418075F6}"/>
              </a:ext>
            </a:extLst>
          </p:cNvPr>
          <p:cNvSpPr>
            <a:spLocks noGrp="1"/>
          </p:cNvSpPr>
          <p:nvPr>
            <p:ph idx="1"/>
          </p:nvPr>
        </p:nvSpPr>
        <p:spPr/>
        <p:txBody>
          <a:bodyPr/>
          <a:lstStyle/>
          <a:p>
            <a:pPr marL="0" indent="0">
              <a:buNone/>
            </a:pPr>
            <a:r>
              <a:rPr lang="en-US" altLang="zh-CN" dirty="0"/>
              <a:t>6</a:t>
            </a:r>
            <a:r>
              <a:rPr lang="zh-CN" altLang="en-US" dirty="0"/>
              <a:t>、销毁创立的各种缓冲区，回收资源。</a:t>
            </a:r>
            <a:endParaRPr lang="en-US" altLang="zh-CN" dirty="0"/>
          </a:p>
          <a:p>
            <a:pPr marL="0" indent="0">
              <a:buNone/>
            </a:pPr>
            <a:r>
              <a:rPr lang="en-US" altLang="zh-CN" dirty="0"/>
              <a:t>```</a:t>
            </a:r>
          </a:p>
          <a:p>
            <a:pPr marL="0" indent="0">
              <a:buNone/>
            </a:pPr>
            <a:r>
              <a:rPr lang="en-US" altLang="zh-CN" dirty="0"/>
              <a:t>free(</a:t>
            </a:r>
            <a:r>
              <a:rPr lang="en-US" altLang="zh-CN" dirty="0" err="1"/>
              <a:t>myHash.buffer</a:t>
            </a:r>
            <a:r>
              <a:rPr lang="en-US" altLang="zh-CN" dirty="0"/>
              <a:t>);</a:t>
            </a:r>
          </a:p>
          <a:p>
            <a:pPr marL="0" indent="0">
              <a:buNone/>
            </a:pPr>
            <a:r>
              <a:rPr lang="en-US" altLang="zh-CN" dirty="0"/>
              <a:t>free(</a:t>
            </a:r>
            <a:r>
              <a:rPr lang="en-US" altLang="zh-CN" dirty="0" err="1"/>
              <a:t>signature.buffer</a:t>
            </a:r>
            <a:r>
              <a:rPr lang="en-US" altLang="zh-CN" dirty="0"/>
              <a:t>);</a:t>
            </a:r>
          </a:p>
          <a:p>
            <a:pPr marL="0" indent="0">
              <a:buNone/>
            </a:pPr>
            <a:r>
              <a:rPr lang="en-US" altLang="zh-CN" dirty="0"/>
              <a:t>free(</a:t>
            </a:r>
            <a:r>
              <a:rPr lang="en-US" altLang="zh-CN" dirty="0" err="1"/>
              <a:t>publicKey.buffer</a:t>
            </a:r>
            <a:r>
              <a:rPr lang="en-US" altLang="zh-CN" dirty="0"/>
              <a:t>);</a:t>
            </a:r>
          </a:p>
          <a:p>
            <a:pPr marL="0" indent="0">
              <a:buNone/>
            </a:pPr>
            <a:r>
              <a:rPr lang="en-US" altLang="zh-CN" dirty="0"/>
              <a:t>/* I don’t have to free the certificate buffer, because</a:t>
            </a:r>
          </a:p>
          <a:p>
            <a:pPr marL="0" indent="0">
              <a:buNone/>
            </a:pPr>
            <a:r>
              <a:rPr lang="en-US" altLang="zh-CN" dirty="0"/>
              <a:t>it was empty */</a:t>
            </a:r>
          </a:p>
          <a:p>
            <a:pPr marL="0" indent="0">
              <a:buNone/>
            </a:pPr>
            <a:r>
              <a:rPr lang="en-US" altLang="zh-CN" dirty="0"/>
              <a:t>Tss2_Context_Finalize(context);</a:t>
            </a:r>
          </a:p>
          <a:p>
            <a:pPr marL="0" indent="0">
              <a:buNone/>
            </a:pPr>
            <a:r>
              <a:rPr lang="en-US" altLang="zh-CN" dirty="0"/>
              <a:t>```</a:t>
            </a:r>
          </a:p>
          <a:p>
            <a:pPr marL="0" indent="0">
              <a:buNone/>
            </a:pPr>
            <a:r>
              <a:rPr lang="zh-CN" altLang="en-US" sz="2400" b="1" dirty="0">
                <a:solidFill>
                  <a:srgbClr val="FF0000"/>
                </a:solidFill>
              </a:rPr>
              <a:t>这个例子非常简单，原因在于创建密钥时没有进行认证。而在实际应用中，需要对密钥进行认证。</a:t>
            </a:r>
          </a:p>
        </p:txBody>
      </p:sp>
      <p:sp>
        <p:nvSpPr>
          <p:cNvPr id="4" name="灯片编号占位符 3">
            <a:extLst>
              <a:ext uri="{FF2B5EF4-FFF2-40B4-BE49-F238E27FC236}">
                <a16:creationId xmlns:a16="http://schemas.microsoft.com/office/drawing/2014/main" id="{68031258-4334-43DE-AF3F-B091B60717C1}"/>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33</a:t>
            </a:fld>
            <a:endParaRPr lang="en-US" altLang="zh-CN"/>
          </a:p>
        </p:txBody>
      </p:sp>
    </p:spTree>
    <p:extLst>
      <p:ext uri="{BB962C8B-B14F-4D97-AF65-F5344CB8AC3E}">
        <p14:creationId xmlns:p14="http://schemas.microsoft.com/office/powerpoint/2010/main" val="181229644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5264F6-3A9A-4AB8-A764-2D20562B17A7}"/>
              </a:ext>
            </a:extLst>
          </p:cNvPr>
          <p:cNvSpPr>
            <a:spLocks noGrp="1"/>
          </p:cNvSpPr>
          <p:nvPr>
            <p:ph type="title"/>
          </p:nvPr>
        </p:nvSpPr>
        <p:spPr/>
        <p:txBody>
          <a:bodyPr/>
          <a:lstStyle/>
          <a:p>
            <a:r>
              <a:rPr lang="en-US" altLang="zh-CN" dirty="0"/>
              <a:t>FAPI</a:t>
            </a:r>
            <a:r>
              <a:rPr lang="zh-CN" altLang="en-US" dirty="0"/>
              <a:t>编程示例</a:t>
            </a:r>
          </a:p>
        </p:txBody>
      </p:sp>
      <p:sp>
        <p:nvSpPr>
          <p:cNvPr id="3" name="内容占位符 2">
            <a:extLst>
              <a:ext uri="{FF2B5EF4-FFF2-40B4-BE49-F238E27FC236}">
                <a16:creationId xmlns:a16="http://schemas.microsoft.com/office/drawing/2014/main" id="{32BC3E1D-705A-483D-AB1F-93809E7F70BE}"/>
              </a:ext>
            </a:extLst>
          </p:cNvPr>
          <p:cNvSpPr>
            <a:spLocks noGrp="1"/>
          </p:cNvSpPr>
          <p:nvPr>
            <p:ph idx="1"/>
          </p:nvPr>
        </p:nvSpPr>
        <p:spPr/>
        <p:txBody>
          <a:bodyPr/>
          <a:lstStyle/>
          <a:p>
            <a:r>
              <a:rPr lang="zh-CN" altLang="en-US" dirty="0"/>
              <a:t>在使用密钥时增加认证过程，涉及到对</a:t>
            </a:r>
            <a:r>
              <a:rPr lang="en-US" altLang="zh-CN" dirty="0"/>
              <a:t>Policy</a:t>
            </a:r>
            <a:r>
              <a:rPr lang="zh-CN" altLang="en-US" dirty="0"/>
              <a:t>相关命令的调用。</a:t>
            </a:r>
            <a:r>
              <a:rPr lang="en-US" altLang="zh-CN" dirty="0"/>
              <a:t>Policy</a:t>
            </a:r>
            <a:r>
              <a:rPr lang="zh-CN" altLang="en-US" dirty="0"/>
              <a:t>相关的命令有两类：</a:t>
            </a:r>
            <a:endParaRPr lang="en-US" altLang="zh-CN" dirty="0"/>
          </a:p>
          <a:p>
            <a:r>
              <a:rPr lang="zh-CN" altLang="en-US" dirty="0">
                <a:solidFill>
                  <a:srgbClr val="FF0000"/>
                </a:solidFill>
              </a:rPr>
              <a:t>需要和</a:t>
            </a:r>
            <a:r>
              <a:rPr lang="en-US" altLang="zh-CN" dirty="0">
                <a:solidFill>
                  <a:srgbClr val="FF0000"/>
                </a:solidFill>
              </a:rPr>
              <a:t>TPM</a:t>
            </a:r>
            <a:r>
              <a:rPr lang="zh-CN" altLang="en-US" dirty="0">
                <a:solidFill>
                  <a:srgbClr val="FF0000"/>
                </a:solidFill>
              </a:rPr>
              <a:t>外部进行通信的命令：</a:t>
            </a:r>
          </a:p>
          <a:p>
            <a:pPr marL="0" indent="0">
              <a:buNone/>
            </a:pPr>
            <a:r>
              <a:rPr lang="en-US" altLang="zh-CN" dirty="0" err="1"/>
              <a:t>PolicyPassword</a:t>
            </a:r>
            <a:r>
              <a:rPr lang="zh-CN" altLang="en-US" dirty="0"/>
              <a:t>：要求输入口令。</a:t>
            </a:r>
          </a:p>
          <a:p>
            <a:pPr marL="0" indent="0">
              <a:buNone/>
            </a:pPr>
            <a:r>
              <a:rPr lang="en-US" altLang="zh-CN" dirty="0" err="1"/>
              <a:t>PolicyAuthValue</a:t>
            </a:r>
            <a:r>
              <a:rPr lang="zh-CN" altLang="en-US" dirty="0"/>
              <a:t>：要求输入口令。</a:t>
            </a:r>
          </a:p>
          <a:p>
            <a:pPr marL="0" indent="0">
              <a:buNone/>
            </a:pPr>
            <a:r>
              <a:rPr lang="en-US" altLang="zh-CN" dirty="0" err="1"/>
              <a:t>PolicySecret</a:t>
            </a:r>
            <a:r>
              <a:rPr lang="zh-CN" altLang="en-US" dirty="0"/>
              <a:t>：需要输入口令。</a:t>
            </a:r>
          </a:p>
          <a:p>
            <a:pPr marL="0" indent="0">
              <a:buNone/>
            </a:pPr>
            <a:r>
              <a:rPr lang="en-US" altLang="zh-CN" dirty="0" err="1"/>
              <a:t>PolicyNV</a:t>
            </a:r>
            <a:r>
              <a:rPr lang="zh-CN" altLang="en-US" dirty="0"/>
              <a:t>：需要输入口令。</a:t>
            </a:r>
          </a:p>
          <a:p>
            <a:pPr marL="0" indent="0">
              <a:buNone/>
            </a:pPr>
            <a:r>
              <a:rPr lang="en-US" altLang="zh-CN" dirty="0" err="1"/>
              <a:t>PolicyOR</a:t>
            </a:r>
            <a:r>
              <a:rPr lang="zh-CN" altLang="en-US" dirty="0"/>
              <a:t>：需要在可选列表中做一个选择。</a:t>
            </a:r>
          </a:p>
          <a:p>
            <a:pPr marL="0" indent="0">
              <a:buNone/>
            </a:pPr>
            <a:r>
              <a:rPr lang="zh-CN" altLang="en-US" dirty="0"/>
              <a:t> </a:t>
            </a:r>
            <a:r>
              <a:rPr lang="en-US" altLang="zh-CN" dirty="0" err="1"/>
              <a:t>PolicyAuthorize</a:t>
            </a:r>
            <a:r>
              <a:rPr lang="zh-CN" altLang="en-US" dirty="0"/>
              <a:t>：需要选择一个授权过的选项。</a:t>
            </a:r>
          </a:p>
          <a:p>
            <a:pPr marL="0" indent="0">
              <a:buNone/>
            </a:pPr>
            <a:r>
              <a:rPr lang="en-US" altLang="zh-CN" dirty="0" err="1"/>
              <a:t>PolicySigned</a:t>
            </a:r>
            <a:r>
              <a:rPr lang="zh-CN" altLang="en-US" dirty="0"/>
              <a:t>：需要一个来自某个设备的签名。</a:t>
            </a:r>
          </a:p>
        </p:txBody>
      </p:sp>
      <p:sp>
        <p:nvSpPr>
          <p:cNvPr id="4" name="灯片编号占位符 3">
            <a:extLst>
              <a:ext uri="{FF2B5EF4-FFF2-40B4-BE49-F238E27FC236}">
                <a16:creationId xmlns:a16="http://schemas.microsoft.com/office/drawing/2014/main" id="{0167E876-978E-4DDA-BE93-C901FB199CA9}"/>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34</a:t>
            </a:fld>
            <a:endParaRPr lang="en-US" altLang="zh-CN"/>
          </a:p>
        </p:txBody>
      </p:sp>
    </p:spTree>
    <p:extLst>
      <p:ext uri="{BB962C8B-B14F-4D97-AF65-F5344CB8AC3E}">
        <p14:creationId xmlns:p14="http://schemas.microsoft.com/office/powerpoint/2010/main" val="280643453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34FA47-B840-40CC-B33C-B753F37FE183}"/>
              </a:ext>
            </a:extLst>
          </p:cNvPr>
          <p:cNvSpPr>
            <a:spLocks noGrp="1"/>
          </p:cNvSpPr>
          <p:nvPr>
            <p:ph type="title"/>
          </p:nvPr>
        </p:nvSpPr>
        <p:spPr/>
        <p:txBody>
          <a:bodyPr/>
          <a:lstStyle/>
          <a:p>
            <a:r>
              <a:rPr lang="en-US" altLang="zh-CN" dirty="0"/>
              <a:t>FAPI</a:t>
            </a:r>
            <a:r>
              <a:rPr lang="zh-CN" altLang="en-US" dirty="0"/>
              <a:t>编程示例</a:t>
            </a:r>
          </a:p>
        </p:txBody>
      </p:sp>
      <p:sp>
        <p:nvSpPr>
          <p:cNvPr id="3" name="内容占位符 2">
            <a:extLst>
              <a:ext uri="{FF2B5EF4-FFF2-40B4-BE49-F238E27FC236}">
                <a16:creationId xmlns:a16="http://schemas.microsoft.com/office/drawing/2014/main" id="{69D1330F-1E29-458C-A7B3-ABF5F945F0AE}"/>
              </a:ext>
            </a:extLst>
          </p:cNvPr>
          <p:cNvSpPr>
            <a:spLocks noGrp="1"/>
          </p:cNvSpPr>
          <p:nvPr>
            <p:ph idx="1"/>
          </p:nvPr>
        </p:nvSpPr>
        <p:spPr/>
        <p:txBody>
          <a:bodyPr/>
          <a:lstStyle/>
          <a:p>
            <a:r>
              <a:rPr lang="zh-CN" altLang="en-US" dirty="0">
                <a:solidFill>
                  <a:srgbClr val="FF0000"/>
                </a:solidFill>
              </a:rPr>
              <a:t>需要和</a:t>
            </a:r>
            <a:r>
              <a:rPr lang="en-US" altLang="zh-CN" dirty="0">
                <a:solidFill>
                  <a:srgbClr val="FF0000"/>
                </a:solidFill>
              </a:rPr>
              <a:t>TPM</a:t>
            </a:r>
            <a:r>
              <a:rPr lang="zh-CN" altLang="en-US" dirty="0">
                <a:solidFill>
                  <a:srgbClr val="FF0000"/>
                </a:solidFill>
              </a:rPr>
              <a:t>内部打交道的命令</a:t>
            </a:r>
            <a:endParaRPr lang="en-US" altLang="zh-CN" dirty="0">
              <a:solidFill>
                <a:srgbClr val="FF0000"/>
              </a:solidFill>
            </a:endParaRPr>
          </a:p>
          <a:p>
            <a:pPr marL="0" indent="0">
              <a:buNone/>
            </a:pPr>
            <a:r>
              <a:rPr lang="en-US" altLang="zh-CN" dirty="0" err="1"/>
              <a:t>PolicyPCR</a:t>
            </a:r>
            <a:r>
              <a:rPr lang="zh-CN" altLang="en-US" dirty="0"/>
              <a:t>：命令会检查</a:t>
            </a:r>
            <a:r>
              <a:rPr lang="en-US" altLang="zh-CN" dirty="0"/>
              <a:t>TPM</a:t>
            </a:r>
            <a:r>
              <a:rPr lang="zh-CN" altLang="en-US" dirty="0"/>
              <a:t>内部的</a:t>
            </a:r>
            <a:r>
              <a:rPr lang="en-US" altLang="zh-CN" dirty="0"/>
              <a:t>PCR</a:t>
            </a:r>
            <a:r>
              <a:rPr lang="zh-CN" altLang="en-US" dirty="0"/>
              <a:t>值。</a:t>
            </a:r>
          </a:p>
          <a:p>
            <a:pPr marL="0" indent="0">
              <a:buNone/>
            </a:pPr>
            <a:r>
              <a:rPr lang="en-US" altLang="zh-CN" dirty="0" err="1"/>
              <a:t>PolicyLocality</a:t>
            </a:r>
            <a:r>
              <a:rPr lang="zh-CN" altLang="en-US" dirty="0"/>
              <a:t>：检查命令对应的</a:t>
            </a:r>
            <a:r>
              <a:rPr lang="en-US" altLang="zh-CN" dirty="0"/>
              <a:t>Locality</a:t>
            </a:r>
            <a:r>
              <a:rPr lang="zh-CN" altLang="en-US" dirty="0"/>
              <a:t>。</a:t>
            </a:r>
          </a:p>
          <a:p>
            <a:pPr marL="0" indent="0">
              <a:buNone/>
            </a:pPr>
            <a:r>
              <a:rPr lang="en-US" altLang="zh-CN" dirty="0" err="1"/>
              <a:t>PolicyCounterTimer</a:t>
            </a:r>
            <a:r>
              <a:rPr lang="zh-CN" altLang="en-US" dirty="0"/>
              <a:t>：检查</a:t>
            </a:r>
            <a:r>
              <a:rPr lang="en-US" altLang="zh-CN" dirty="0"/>
              <a:t>TPM</a:t>
            </a:r>
            <a:r>
              <a:rPr lang="zh-CN" altLang="en-US" dirty="0"/>
              <a:t>内部的计数器。</a:t>
            </a:r>
          </a:p>
          <a:p>
            <a:pPr marL="0" indent="0">
              <a:buNone/>
            </a:pPr>
            <a:r>
              <a:rPr lang="en-US" altLang="zh-CN" dirty="0" err="1"/>
              <a:t>PolicyCommandCode</a:t>
            </a:r>
            <a:r>
              <a:rPr lang="zh-CN" altLang="en-US" dirty="0"/>
              <a:t>：检查是什么命令。</a:t>
            </a:r>
          </a:p>
          <a:p>
            <a:pPr marL="0" indent="0">
              <a:buNone/>
            </a:pPr>
            <a:r>
              <a:rPr lang="en-US" altLang="zh-CN" dirty="0" err="1"/>
              <a:t>PolicyCpHash</a:t>
            </a:r>
            <a:r>
              <a:rPr lang="zh-CN" altLang="en-US" dirty="0"/>
              <a:t>：检查命令和命令相关的参数。</a:t>
            </a:r>
          </a:p>
          <a:p>
            <a:pPr marL="0" indent="0">
              <a:buNone/>
            </a:pPr>
            <a:r>
              <a:rPr lang="en-US" altLang="zh-CN" dirty="0" err="1"/>
              <a:t>PolicyNameHash</a:t>
            </a:r>
            <a:r>
              <a:rPr lang="zh-CN" altLang="en-US" dirty="0"/>
              <a:t>：检查送往</a:t>
            </a:r>
            <a:r>
              <a:rPr lang="en-US" altLang="zh-CN" dirty="0"/>
              <a:t>TPM</a:t>
            </a:r>
            <a:r>
              <a:rPr lang="zh-CN" altLang="en-US" dirty="0"/>
              <a:t>内部的对象的名称。</a:t>
            </a:r>
          </a:p>
          <a:p>
            <a:pPr marL="0" indent="0">
              <a:buNone/>
            </a:pPr>
            <a:r>
              <a:rPr lang="en-US" altLang="zh-CN" dirty="0" err="1"/>
              <a:t>PolicyDuplicationSelect</a:t>
            </a:r>
            <a:r>
              <a:rPr lang="zh-CN" altLang="en-US" dirty="0"/>
              <a:t>：检查密钥被复制的目的位置。</a:t>
            </a:r>
          </a:p>
          <a:p>
            <a:pPr marL="0" indent="0">
              <a:buNone/>
            </a:pPr>
            <a:r>
              <a:rPr lang="en-US" altLang="zh-CN" dirty="0" err="1"/>
              <a:t>PolicyNVWritten</a:t>
            </a:r>
            <a:r>
              <a:rPr lang="zh-CN" altLang="en-US" dirty="0"/>
              <a:t>：检查一个</a:t>
            </a:r>
            <a:r>
              <a:rPr lang="en-US" altLang="zh-CN" dirty="0"/>
              <a:t>NV</a:t>
            </a:r>
            <a:r>
              <a:rPr lang="zh-CN" altLang="en-US" dirty="0"/>
              <a:t>索引有没有被写过。</a:t>
            </a:r>
            <a:endParaRPr lang="en-US" altLang="zh-CN" dirty="0"/>
          </a:p>
          <a:p>
            <a:pPr marL="0" indent="0">
              <a:buNone/>
            </a:pPr>
            <a:r>
              <a:rPr lang="zh-CN" altLang="en-US" sz="2400" b="1" dirty="0">
                <a:solidFill>
                  <a:srgbClr val="FF0000"/>
                </a:solidFill>
              </a:rPr>
              <a:t>     </a:t>
            </a:r>
            <a:endParaRPr lang="en-US" altLang="zh-CN" sz="2400" b="1" dirty="0">
              <a:solidFill>
                <a:srgbClr val="FF0000"/>
              </a:solidFill>
            </a:endParaRPr>
          </a:p>
          <a:p>
            <a:pPr marL="0" indent="0">
              <a:buNone/>
            </a:pPr>
            <a:r>
              <a:rPr lang="en-US" altLang="zh-CN" sz="2400" b="1" dirty="0">
                <a:solidFill>
                  <a:srgbClr val="FF0000"/>
                </a:solidFill>
              </a:rPr>
              <a:t>    </a:t>
            </a:r>
            <a:r>
              <a:rPr lang="zh-CN" altLang="en-US" sz="2400" b="1" dirty="0">
                <a:solidFill>
                  <a:srgbClr val="FF0000"/>
                </a:solidFill>
              </a:rPr>
              <a:t> 许多</a:t>
            </a:r>
            <a:r>
              <a:rPr lang="en-US" altLang="zh-CN" sz="2400" b="1" dirty="0">
                <a:solidFill>
                  <a:srgbClr val="FF0000"/>
                </a:solidFill>
              </a:rPr>
              <a:t>Policy</a:t>
            </a:r>
            <a:r>
              <a:rPr lang="zh-CN" altLang="en-US" sz="2400" b="1" dirty="0">
                <a:solidFill>
                  <a:srgbClr val="FF0000"/>
                </a:solidFill>
              </a:rPr>
              <a:t>需要以上两类命令配合使用。如果一个</a:t>
            </a:r>
            <a:r>
              <a:rPr lang="en-US" altLang="zh-CN" sz="2400" b="1" dirty="0">
                <a:solidFill>
                  <a:srgbClr val="FF0000"/>
                </a:solidFill>
              </a:rPr>
              <a:t>Policy</a:t>
            </a:r>
            <a:r>
              <a:rPr lang="zh-CN" altLang="en-US" sz="2400" b="1" dirty="0">
                <a:solidFill>
                  <a:srgbClr val="FF0000"/>
                </a:solidFill>
              </a:rPr>
              <a:t>需要和</a:t>
            </a:r>
            <a:r>
              <a:rPr lang="en-US" altLang="zh-CN" sz="2400" b="1" dirty="0">
                <a:solidFill>
                  <a:srgbClr val="FF0000"/>
                </a:solidFill>
              </a:rPr>
              <a:t>TPM</a:t>
            </a:r>
            <a:r>
              <a:rPr lang="zh-CN" altLang="en-US" sz="2400" b="1" dirty="0">
                <a:solidFill>
                  <a:srgbClr val="FF0000"/>
                </a:solidFill>
              </a:rPr>
              <a:t>内部打交道，则</a:t>
            </a:r>
            <a:r>
              <a:rPr lang="en-US" altLang="zh-CN" sz="2400" b="1" dirty="0">
                <a:solidFill>
                  <a:srgbClr val="FF0000"/>
                </a:solidFill>
              </a:rPr>
              <a:t>FAPI</a:t>
            </a:r>
            <a:r>
              <a:rPr lang="zh-CN" altLang="en-US" sz="2400" b="1" dirty="0">
                <a:solidFill>
                  <a:srgbClr val="FF0000"/>
                </a:solidFill>
              </a:rPr>
              <a:t>部件会负责处理，用户不需要做其他工作。如果是要和</a:t>
            </a:r>
            <a:r>
              <a:rPr lang="en-US" altLang="zh-CN" sz="2400" b="1" dirty="0">
                <a:solidFill>
                  <a:srgbClr val="FF0000"/>
                </a:solidFill>
              </a:rPr>
              <a:t>TPM</a:t>
            </a:r>
            <a:r>
              <a:rPr lang="zh-CN" altLang="en-US" sz="2400" b="1" dirty="0">
                <a:solidFill>
                  <a:srgbClr val="FF0000"/>
                </a:solidFill>
              </a:rPr>
              <a:t>外部通信，那么用户就需要向</a:t>
            </a:r>
            <a:r>
              <a:rPr lang="en-US" altLang="zh-CN" sz="2400" b="1" dirty="0">
                <a:solidFill>
                  <a:srgbClr val="FF0000"/>
                </a:solidFill>
              </a:rPr>
              <a:t>FAPI</a:t>
            </a:r>
            <a:r>
              <a:rPr lang="zh-CN" altLang="en-US" sz="2400" b="1" dirty="0">
                <a:solidFill>
                  <a:srgbClr val="FF0000"/>
                </a:solidFill>
              </a:rPr>
              <a:t>提供相应的参数。</a:t>
            </a:r>
          </a:p>
        </p:txBody>
      </p:sp>
      <p:sp>
        <p:nvSpPr>
          <p:cNvPr id="4" name="灯片编号占位符 3">
            <a:extLst>
              <a:ext uri="{FF2B5EF4-FFF2-40B4-BE49-F238E27FC236}">
                <a16:creationId xmlns:a16="http://schemas.microsoft.com/office/drawing/2014/main" id="{55A5D323-AA17-4F8A-99CE-8F03E1650F50}"/>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35</a:t>
            </a:fld>
            <a:endParaRPr lang="en-US" altLang="zh-CN"/>
          </a:p>
        </p:txBody>
      </p:sp>
    </p:spTree>
    <p:extLst>
      <p:ext uri="{BB962C8B-B14F-4D97-AF65-F5344CB8AC3E}">
        <p14:creationId xmlns:p14="http://schemas.microsoft.com/office/powerpoint/2010/main" val="222354603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BF307C-C19E-4BB9-9FAD-351182E829ED}"/>
              </a:ext>
            </a:extLst>
          </p:cNvPr>
          <p:cNvSpPr>
            <a:spLocks noGrp="1"/>
          </p:cNvSpPr>
          <p:nvPr>
            <p:ph type="title"/>
          </p:nvPr>
        </p:nvSpPr>
        <p:spPr/>
        <p:txBody>
          <a:bodyPr/>
          <a:lstStyle/>
          <a:p>
            <a:r>
              <a:rPr lang="en-US" altLang="zh-CN" dirty="0"/>
              <a:t>FAPI</a:t>
            </a:r>
            <a:r>
              <a:rPr lang="zh-CN" altLang="en-US" dirty="0"/>
              <a:t>编程示例</a:t>
            </a:r>
          </a:p>
        </p:txBody>
      </p:sp>
      <p:sp>
        <p:nvSpPr>
          <p:cNvPr id="3" name="内容占位符 2">
            <a:extLst>
              <a:ext uri="{FF2B5EF4-FFF2-40B4-BE49-F238E27FC236}">
                <a16:creationId xmlns:a16="http://schemas.microsoft.com/office/drawing/2014/main" id="{5DAA721E-D40F-44E1-879C-ADF01C97E1C7}"/>
              </a:ext>
            </a:extLst>
          </p:cNvPr>
          <p:cNvSpPr>
            <a:spLocks noGrp="1"/>
          </p:cNvSpPr>
          <p:nvPr>
            <p:ph idx="1"/>
          </p:nvPr>
        </p:nvSpPr>
        <p:spPr/>
        <p:txBody>
          <a:bodyPr/>
          <a:lstStyle/>
          <a:p>
            <a:pPr algn="just"/>
            <a:r>
              <a:rPr lang="zh-CN" altLang="en-US" sz="2800" dirty="0">
                <a:solidFill>
                  <a:srgbClr val="FF0000"/>
                </a:solidFill>
              </a:rPr>
              <a:t>用户向</a:t>
            </a:r>
            <a:r>
              <a:rPr lang="en-US" altLang="zh-CN" sz="2800" dirty="0">
                <a:solidFill>
                  <a:srgbClr val="FF0000"/>
                </a:solidFill>
              </a:rPr>
              <a:t>FAPI</a:t>
            </a:r>
            <a:r>
              <a:rPr lang="zh-CN" altLang="en-US" sz="2800" dirty="0">
                <a:solidFill>
                  <a:srgbClr val="FF0000"/>
                </a:solidFill>
              </a:rPr>
              <a:t>提供参数是通过回调机制来实现的。</a:t>
            </a:r>
            <a:endParaRPr lang="en-US" altLang="zh-CN" sz="2800" dirty="0">
              <a:solidFill>
                <a:srgbClr val="FF0000"/>
              </a:solidFill>
            </a:endParaRPr>
          </a:p>
          <a:p>
            <a:pPr marL="0" indent="0" algn="just">
              <a:buNone/>
            </a:pPr>
            <a:r>
              <a:rPr lang="zh-CN" altLang="en-US" sz="2400" dirty="0"/>
              <a:t>    首先在程序中注册这些回调函数，这样一来</a:t>
            </a:r>
            <a:r>
              <a:rPr lang="en-US" altLang="zh-CN" sz="2400" dirty="0"/>
              <a:t>FAPI</a:t>
            </a:r>
            <a:r>
              <a:rPr lang="zh-CN" altLang="en-US" sz="2400" dirty="0"/>
              <a:t>就知道要求口令，选择，或者签名时应该调用什么样的函数来和用户交互。一共有三种类型的回调函数，定义如下：</a:t>
            </a:r>
          </a:p>
          <a:p>
            <a:pPr marL="0" indent="0" algn="just">
              <a:buNone/>
            </a:pPr>
            <a:r>
              <a:rPr lang="en-US" altLang="zh-CN" sz="2400" dirty="0"/>
              <a:t>TSS2_PolicyAuthCallback</a:t>
            </a:r>
            <a:r>
              <a:rPr lang="zh-CN" altLang="en-US" sz="2400" dirty="0"/>
              <a:t>：用于需要输入口令的情况。</a:t>
            </a:r>
          </a:p>
          <a:p>
            <a:pPr marL="0" indent="0" algn="just">
              <a:buNone/>
            </a:pPr>
            <a:r>
              <a:rPr lang="en-US" altLang="zh-CN" sz="2400" dirty="0"/>
              <a:t>TSS2_PolicyBranchSelectionCallback</a:t>
            </a:r>
            <a:r>
              <a:rPr lang="zh-CN" altLang="en-US" sz="2400" dirty="0"/>
              <a:t>：用于用户在执行</a:t>
            </a:r>
            <a:r>
              <a:rPr lang="en-US" altLang="zh-CN" sz="2400" dirty="0" err="1"/>
              <a:t>PolicyOR</a:t>
            </a:r>
            <a:r>
              <a:rPr lang="zh-CN" altLang="en-US" sz="2400" dirty="0"/>
              <a:t>或者</a:t>
            </a:r>
            <a:r>
              <a:rPr lang="en-US" altLang="zh-CN" sz="2400" dirty="0" err="1"/>
              <a:t>TPM_PolicyAuthorize</a:t>
            </a:r>
            <a:r>
              <a:rPr lang="zh-CN" altLang="en-US" sz="2400" dirty="0"/>
              <a:t>命令时选择其中一个</a:t>
            </a:r>
            <a:r>
              <a:rPr lang="en-US" altLang="zh-CN" sz="2400" dirty="0"/>
              <a:t>Policy</a:t>
            </a:r>
            <a:r>
              <a:rPr lang="zh-CN" altLang="en-US" sz="2400" dirty="0"/>
              <a:t>。</a:t>
            </a:r>
          </a:p>
          <a:p>
            <a:pPr marL="0" indent="0" algn="just">
              <a:buNone/>
            </a:pPr>
            <a:r>
              <a:rPr lang="en-US" altLang="zh-CN" sz="2400" dirty="0"/>
              <a:t>TSS2_PolicySignatureCallback</a:t>
            </a:r>
            <a:r>
              <a:rPr lang="zh-CN" altLang="en-US" sz="2400" dirty="0"/>
              <a:t>：用于当一个</a:t>
            </a:r>
            <a:r>
              <a:rPr lang="en-US" altLang="zh-CN" sz="2400" dirty="0"/>
              <a:t>Policy</a:t>
            </a:r>
            <a:r>
              <a:rPr lang="zh-CN" altLang="en-US" sz="2400" dirty="0"/>
              <a:t>需要用户输入一个签名的情况。</a:t>
            </a:r>
          </a:p>
        </p:txBody>
      </p:sp>
      <p:sp>
        <p:nvSpPr>
          <p:cNvPr id="4" name="灯片编号占位符 3">
            <a:extLst>
              <a:ext uri="{FF2B5EF4-FFF2-40B4-BE49-F238E27FC236}">
                <a16:creationId xmlns:a16="http://schemas.microsoft.com/office/drawing/2014/main" id="{0765A5F6-DB3B-42EB-87CC-EDD8897F9DF5}"/>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36</a:t>
            </a:fld>
            <a:endParaRPr lang="en-US" altLang="zh-CN"/>
          </a:p>
        </p:txBody>
      </p:sp>
    </p:spTree>
    <p:extLst>
      <p:ext uri="{BB962C8B-B14F-4D97-AF65-F5344CB8AC3E}">
        <p14:creationId xmlns:p14="http://schemas.microsoft.com/office/powerpoint/2010/main" val="365841948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5C11DE-F37A-4887-969D-41B2F8790A4D}"/>
              </a:ext>
            </a:extLst>
          </p:cNvPr>
          <p:cNvSpPr>
            <a:spLocks noGrp="1"/>
          </p:cNvSpPr>
          <p:nvPr>
            <p:ph type="title"/>
          </p:nvPr>
        </p:nvSpPr>
        <p:spPr/>
        <p:txBody>
          <a:bodyPr/>
          <a:lstStyle/>
          <a:p>
            <a:r>
              <a:rPr lang="en-US" altLang="zh-CN" dirty="0"/>
              <a:t>FAPI</a:t>
            </a:r>
            <a:r>
              <a:rPr lang="zh-CN" altLang="en-US" dirty="0"/>
              <a:t>编程示例</a:t>
            </a:r>
          </a:p>
        </p:txBody>
      </p:sp>
      <p:sp>
        <p:nvSpPr>
          <p:cNvPr id="3" name="内容占位符 2">
            <a:extLst>
              <a:ext uri="{FF2B5EF4-FFF2-40B4-BE49-F238E27FC236}">
                <a16:creationId xmlns:a16="http://schemas.microsoft.com/office/drawing/2014/main" id="{0E17EDCB-EFC2-4895-82A2-186557618978}"/>
              </a:ext>
            </a:extLst>
          </p:cNvPr>
          <p:cNvSpPr>
            <a:spLocks noGrp="1"/>
          </p:cNvSpPr>
          <p:nvPr>
            <p:ph idx="1"/>
          </p:nvPr>
        </p:nvSpPr>
        <p:spPr/>
        <p:txBody>
          <a:bodyPr/>
          <a:lstStyle/>
          <a:p>
            <a:pPr marL="0" indent="0">
              <a:buNone/>
            </a:pPr>
            <a:r>
              <a:rPr lang="en-US" altLang="zh-CN" dirty="0"/>
              <a:t>1</a:t>
            </a:r>
            <a:r>
              <a:rPr lang="zh-CN" altLang="en-US" dirty="0"/>
              <a:t>、创建具体事务处理函数</a:t>
            </a:r>
            <a:endParaRPr lang="en-US" altLang="zh-CN" dirty="0"/>
          </a:p>
          <a:p>
            <a:pPr marL="0" indent="0">
              <a:buNone/>
            </a:pPr>
            <a:r>
              <a:rPr lang="en-US" altLang="zh-CN" dirty="0"/>
              <a:t>```</a:t>
            </a:r>
          </a:p>
          <a:p>
            <a:pPr marL="0" indent="0">
              <a:buNone/>
            </a:pPr>
            <a:r>
              <a:rPr lang="en-US" altLang="zh-CN" dirty="0" err="1"/>
              <a:t>myPasswordHandler</a:t>
            </a:r>
            <a:r>
              <a:rPr lang="en-US" altLang="zh-CN" dirty="0"/>
              <a:t> (TSS2_CONTEXT context,</a:t>
            </a:r>
          </a:p>
          <a:p>
            <a:pPr marL="0" indent="0">
              <a:buNone/>
            </a:pPr>
            <a:r>
              <a:rPr lang="en-US" altLang="zh-CN" dirty="0"/>
              <a:t>void *</a:t>
            </a:r>
            <a:r>
              <a:rPr lang="en-US" altLang="zh-CN" dirty="0" err="1"/>
              <a:t>userData</a:t>
            </a:r>
            <a:r>
              <a:rPr lang="en-US" altLang="zh-CN" dirty="0"/>
              <a:t>,</a:t>
            </a:r>
          </a:p>
          <a:p>
            <a:pPr marL="0" indent="0">
              <a:buNone/>
            </a:pPr>
            <a:r>
              <a:rPr lang="en-US" altLang="zh-CN" dirty="0"/>
              <a:t>char const *description,</a:t>
            </a:r>
          </a:p>
          <a:p>
            <a:pPr marL="0" indent="0">
              <a:buNone/>
            </a:pPr>
            <a:r>
              <a:rPr lang="en-US" altLang="zh-CN" dirty="0"/>
              <a:t>TSS2_SIZED_BUFFER *auth)</a:t>
            </a:r>
          </a:p>
          <a:p>
            <a:pPr marL="0" indent="0">
              <a:buNone/>
            </a:pPr>
            <a:r>
              <a:rPr lang="en-US" altLang="zh-CN" dirty="0"/>
              <a:t>{</a:t>
            </a:r>
          </a:p>
          <a:p>
            <a:pPr marL="0" indent="0">
              <a:buNone/>
            </a:pPr>
            <a:r>
              <a:rPr lang="en-US" altLang="zh-CN" dirty="0"/>
              <a:t>/* Here the program asks for the password in some application specific</a:t>
            </a:r>
          </a:p>
          <a:p>
            <a:pPr marL="0" indent="0">
              <a:buNone/>
            </a:pPr>
            <a:r>
              <a:rPr lang="en-US" altLang="zh-CN" dirty="0"/>
              <a:t>way. It then puts the result into the auth variable. */</a:t>
            </a:r>
          </a:p>
          <a:p>
            <a:pPr marL="0" indent="0">
              <a:buNone/>
            </a:pPr>
            <a:r>
              <a:rPr lang="en-US" altLang="zh-CN" dirty="0"/>
              <a:t>return;</a:t>
            </a:r>
          </a:p>
          <a:p>
            <a:pPr marL="0" indent="0">
              <a:buNone/>
            </a:pPr>
            <a:r>
              <a:rPr lang="en-US" altLang="zh-CN" dirty="0"/>
              <a:t>}</a:t>
            </a:r>
          </a:p>
          <a:p>
            <a:pPr marL="0" indent="0">
              <a:buNone/>
            </a:pPr>
            <a:r>
              <a:rPr lang="en-US" altLang="zh-CN" dirty="0"/>
              <a:t>```</a:t>
            </a:r>
            <a:endParaRPr lang="zh-CN" altLang="en-US" dirty="0"/>
          </a:p>
        </p:txBody>
      </p:sp>
      <p:sp>
        <p:nvSpPr>
          <p:cNvPr id="4" name="灯片编号占位符 3">
            <a:extLst>
              <a:ext uri="{FF2B5EF4-FFF2-40B4-BE49-F238E27FC236}">
                <a16:creationId xmlns:a16="http://schemas.microsoft.com/office/drawing/2014/main" id="{0F01B26D-1E98-46A0-BA15-541DFAEE79B2}"/>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37</a:t>
            </a:fld>
            <a:endParaRPr lang="en-US" altLang="zh-CN"/>
          </a:p>
        </p:txBody>
      </p:sp>
    </p:spTree>
    <p:extLst>
      <p:ext uri="{BB962C8B-B14F-4D97-AF65-F5344CB8AC3E}">
        <p14:creationId xmlns:p14="http://schemas.microsoft.com/office/powerpoint/2010/main" val="116474502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B310B0-853B-492B-BF10-D3850F467A10}"/>
              </a:ext>
            </a:extLst>
          </p:cNvPr>
          <p:cNvSpPr>
            <a:spLocks noGrp="1"/>
          </p:cNvSpPr>
          <p:nvPr>
            <p:ph type="title"/>
          </p:nvPr>
        </p:nvSpPr>
        <p:spPr/>
        <p:txBody>
          <a:bodyPr/>
          <a:lstStyle/>
          <a:p>
            <a:r>
              <a:rPr lang="en-US" altLang="zh-CN" dirty="0"/>
              <a:t>FAPI</a:t>
            </a:r>
            <a:r>
              <a:rPr lang="zh-CN" altLang="en-US" dirty="0"/>
              <a:t>编程示例</a:t>
            </a:r>
          </a:p>
        </p:txBody>
      </p:sp>
      <p:sp>
        <p:nvSpPr>
          <p:cNvPr id="3" name="内容占位符 2">
            <a:extLst>
              <a:ext uri="{FF2B5EF4-FFF2-40B4-BE49-F238E27FC236}">
                <a16:creationId xmlns:a16="http://schemas.microsoft.com/office/drawing/2014/main" id="{3A2DE87C-9B8D-4F78-9A8F-CD207CFAC702}"/>
              </a:ext>
            </a:extLst>
          </p:cNvPr>
          <p:cNvSpPr>
            <a:spLocks noGrp="1"/>
          </p:cNvSpPr>
          <p:nvPr>
            <p:ph idx="1"/>
          </p:nvPr>
        </p:nvSpPr>
        <p:spPr/>
        <p:txBody>
          <a:bodyPr/>
          <a:lstStyle/>
          <a:p>
            <a:pPr marL="0" indent="0">
              <a:buNone/>
            </a:pPr>
            <a:r>
              <a:rPr lang="en-US" altLang="zh-CN" dirty="0"/>
              <a:t>2</a:t>
            </a:r>
            <a:r>
              <a:rPr lang="zh-CN" altLang="en-US" dirty="0"/>
              <a:t>、向</a:t>
            </a:r>
            <a:r>
              <a:rPr lang="en-US" altLang="zh-CN" dirty="0"/>
              <a:t>FAPI</a:t>
            </a:r>
            <a:r>
              <a:rPr lang="zh-CN" altLang="en-US" dirty="0"/>
              <a:t>注册回调函数</a:t>
            </a:r>
            <a:endParaRPr lang="en-US" altLang="zh-CN" dirty="0"/>
          </a:p>
          <a:p>
            <a:pPr marL="0" indent="0">
              <a:buNone/>
            </a:pPr>
            <a:r>
              <a:rPr lang="en-US" altLang="zh-CN" dirty="0"/>
              <a:t>```</a:t>
            </a:r>
          </a:p>
          <a:p>
            <a:pPr marL="0" indent="0">
              <a:buNone/>
            </a:pPr>
            <a:r>
              <a:rPr lang="en-US" altLang="zh-CN" dirty="0"/>
              <a:t>Tss2_SetPolicyAuthCallback(context, TSS2_PolicyAuthCallback, NULL);</a:t>
            </a:r>
          </a:p>
          <a:p>
            <a:pPr marL="0" indent="0">
              <a:buNone/>
            </a:pPr>
            <a:r>
              <a:rPr lang="en-US" altLang="zh-CN" dirty="0"/>
              <a:t>```</a:t>
            </a:r>
            <a:endParaRPr lang="zh-CN" altLang="en-US" dirty="0"/>
          </a:p>
        </p:txBody>
      </p:sp>
      <p:sp>
        <p:nvSpPr>
          <p:cNvPr id="4" name="灯片编号占位符 3">
            <a:extLst>
              <a:ext uri="{FF2B5EF4-FFF2-40B4-BE49-F238E27FC236}">
                <a16:creationId xmlns:a16="http://schemas.microsoft.com/office/drawing/2014/main" id="{C831DC25-3BA5-49A9-AFA0-CBDAA4B24E1B}"/>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38</a:t>
            </a:fld>
            <a:endParaRPr lang="en-US" altLang="zh-CN"/>
          </a:p>
        </p:txBody>
      </p:sp>
    </p:spTree>
    <p:extLst>
      <p:ext uri="{BB962C8B-B14F-4D97-AF65-F5344CB8AC3E}">
        <p14:creationId xmlns:p14="http://schemas.microsoft.com/office/powerpoint/2010/main" val="361248308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687106-B168-41B3-9E1B-A0B37B0F56C6}"/>
              </a:ext>
            </a:extLst>
          </p:cNvPr>
          <p:cNvSpPr>
            <a:spLocks noGrp="1"/>
          </p:cNvSpPr>
          <p:nvPr>
            <p:ph type="title"/>
          </p:nvPr>
        </p:nvSpPr>
        <p:spPr/>
        <p:txBody>
          <a:bodyPr/>
          <a:lstStyle/>
          <a:p>
            <a:r>
              <a:rPr lang="en-US" altLang="zh-CN" dirty="0"/>
              <a:t>2</a:t>
            </a:r>
            <a:r>
              <a:rPr lang="zh-CN" altLang="en-US" dirty="0"/>
              <a:t>、</a:t>
            </a:r>
            <a:r>
              <a:rPr lang="en-US" altLang="zh-CN" dirty="0"/>
              <a:t>System API---SAPI</a:t>
            </a:r>
            <a:r>
              <a:rPr lang="zh-CN" altLang="en-US" dirty="0"/>
              <a:t>层</a:t>
            </a:r>
          </a:p>
        </p:txBody>
      </p:sp>
      <p:sp>
        <p:nvSpPr>
          <p:cNvPr id="3" name="内容占位符 2">
            <a:extLst>
              <a:ext uri="{FF2B5EF4-FFF2-40B4-BE49-F238E27FC236}">
                <a16:creationId xmlns:a16="http://schemas.microsoft.com/office/drawing/2014/main" id="{BE95921A-E14C-4402-B8CB-B6B645089F8A}"/>
              </a:ext>
            </a:extLst>
          </p:cNvPr>
          <p:cNvSpPr>
            <a:spLocks noGrp="1"/>
          </p:cNvSpPr>
          <p:nvPr>
            <p:ph idx="1"/>
          </p:nvPr>
        </p:nvSpPr>
        <p:spPr/>
        <p:txBody>
          <a:bodyPr/>
          <a:lstStyle/>
          <a:p>
            <a:pPr algn="just"/>
            <a:r>
              <a:rPr lang="zh-CN" altLang="en-US" dirty="0"/>
              <a:t>在</a:t>
            </a:r>
            <a:r>
              <a:rPr lang="en-US" altLang="zh-CN" dirty="0"/>
              <a:t>TPM2.0</a:t>
            </a:r>
            <a:r>
              <a:rPr lang="zh-CN" altLang="en-US" dirty="0"/>
              <a:t>的</a:t>
            </a:r>
            <a:r>
              <a:rPr lang="en-US" altLang="zh-CN" dirty="0"/>
              <a:t>SAPI</a:t>
            </a:r>
            <a:r>
              <a:rPr lang="zh-CN" altLang="en-US" dirty="0"/>
              <a:t>这一层进行软件开发相当于使用</a:t>
            </a:r>
            <a:r>
              <a:rPr lang="en-US" altLang="zh-CN" dirty="0"/>
              <a:t>C</a:t>
            </a:r>
            <a:r>
              <a:rPr lang="zh-CN" altLang="en-US" dirty="0"/>
              <a:t>语言编写软件。</a:t>
            </a:r>
            <a:r>
              <a:rPr lang="en-US" altLang="zh-CN" dirty="0"/>
              <a:t>SAPI</a:t>
            </a:r>
            <a:r>
              <a:rPr lang="zh-CN" altLang="en-US" dirty="0"/>
              <a:t>实现了</a:t>
            </a:r>
            <a:r>
              <a:rPr lang="en-US" altLang="zh-CN" dirty="0"/>
              <a:t>TPM2.0</a:t>
            </a:r>
            <a:r>
              <a:rPr lang="zh-CN" altLang="en-US" dirty="0"/>
              <a:t>所有的功能（</a:t>
            </a:r>
            <a:r>
              <a:rPr lang="zh-CN" altLang="en-US" dirty="0">
                <a:solidFill>
                  <a:srgbClr val="FF0000"/>
                </a:solidFill>
              </a:rPr>
              <a:t>前面的</a:t>
            </a:r>
            <a:r>
              <a:rPr lang="en-US" altLang="zh-CN" dirty="0">
                <a:solidFill>
                  <a:srgbClr val="FF0000"/>
                </a:solidFill>
              </a:rPr>
              <a:t>FAPI</a:t>
            </a:r>
            <a:r>
              <a:rPr lang="zh-CN" altLang="en-US" dirty="0">
                <a:solidFill>
                  <a:srgbClr val="FF0000"/>
                </a:solidFill>
              </a:rPr>
              <a:t>只实现了</a:t>
            </a:r>
            <a:r>
              <a:rPr lang="en-US" altLang="zh-CN" dirty="0">
                <a:solidFill>
                  <a:srgbClr val="FF0000"/>
                </a:solidFill>
              </a:rPr>
              <a:t>TPM2.0 80%</a:t>
            </a:r>
            <a:r>
              <a:rPr lang="zh-CN" altLang="en-US" dirty="0">
                <a:solidFill>
                  <a:srgbClr val="FF0000"/>
                </a:solidFill>
              </a:rPr>
              <a:t>的功能</a:t>
            </a:r>
            <a:r>
              <a:rPr lang="zh-CN" altLang="en-US" dirty="0"/>
              <a:t>）。</a:t>
            </a:r>
            <a:r>
              <a:rPr lang="en-US" altLang="zh-CN" dirty="0"/>
              <a:t>SAPI</a:t>
            </a:r>
            <a:r>
              <a:rPr lang="zh-CN" altLang="en-US" dirty="0"/>
              <a:t>就像是</a:t>
            </a:r>
            <a:r>
              <a:rPr lang="en-US" altLang="zh-CN" dirty="0"/>
              <a:t>C</a:t>
            </a:r>
            <a:r>
              <a:rPr lang="zh-CN" altLang="en-US" dirty="0"/>
              <a:t>语言一样，它是一个功能强大的工具，但是需要非常专业知识才能用好它。</a:t>
            </a:r>
            <a:endParaRPr lang="en-US" altLang="zh-CN" dirty="0"/>
          </a:p>
          <a:p>
            <a:pPr algn="just"/>
            <a:endParaRPr lang="en-US" altLang="zh-CN" dirty="0"/>
          </a:p>
          <a:p>
            <a:pPr algn="just"/>
            <a:r>
              <a:rPr lang="zh-CN" altLang="en-US" dirty="0"/>
              <a:t>如果只将</a:t>
            </a:r>
            <a:r>
              <a:rPr lang="en-US" altLang="zh-CN" dirty="0"/>
              <a:t>TPM</a:t>
            </a:r>
            <a:r>
              <a:rPr lang="zh-CN" altLang="en-US" dirty="0"/>
              <a:t>作为为可信启动服务安全模块，</a:t>
            </a:r>
            <a:r>
              <a:rPr lang="en-US" altLang="zh-CN" dirty="0"/>
              <a:t>TPM-TSS</a:t>
            </a:r>
            <a:r>
              <a:rPr lang="zh-CN" altLang="en-US" dirty="0"/>
              <a:t>只需要使用</a:t>
            </a:r>
            <a:r>
              <a:rPr lang="en-US" altLang="zh-CN" dirty="0"/>
              <a:t>SAPI</a:t>
            </a:r>
            <a:r>
              <a:rPr lang="zh-CN" altLang="en-US" dirty="0"/>
              <a:t>功能即可，不需要</a:t>
            </a:r>
            <a:r>
              <a:rPr lang="en-US" altLang="zh-CN" dirty="0"/>
              <a:t>FAPI</a:t>
            </a:r>
            <a:r>
              <a:rPr lang="zh-CN" altLang="en-US" dirty="0"/>
              <a:t>、</a:t>
            </a:r>
            <a:r>
              <a:rPr lang="en-US" altLang="zh-CN" dirty="0"/>
              <a:t>EAPI</a:t>
            </a:r>
            <a:r>
              <a:rPr lang="zh-CN" altLang="en-US" dirty="0"/>
              <a:t>等花里胡哨的功能。</a:t>
            </a:r>
            <a:endParaRPr lang="en-US" altLang="zh-CN" dirty="0"/>
          </a:p>
          <a:p>
            <a:pPr algn="just"/>
            <a:endParaRPr lang="en-US" altLang="zh-CN" dirty="0"/>
          </a:p>
          <a:p>
            <a:pPr algn="just"/>
            <a:r>
              <a:rPr lang="en-US" altLang="zh-CN" dirty="0"/>
              <a:t>TPM SAPI</a:t>
            </a:r>
            <a:r>
              <a:rPr lang="zh-CN" altLang="en-US" dirty="0"/>
              <a:t>协议栈部分，主要分为两层，一为上层开发者提供和封装统一的调用接口（</a:t>
            </a:r>
            <a:r>
              <a:rPr lang="en-US" altLang="zh-CN" dirty="0"/>
              <a:t>SAPI</a:t>
            </a:r>
            <a:r>
              <a:rPr lang="zh-CN" altLang="en-US" dirty="0"/>
              <a:t>），二为上层提供了访问底层硬件资源接口（核心层</a:t>
            </a:r>
            <a:r>
              <a:rPr lang="en-US" altLang="zh-CN" dirty="0"/>
              <a:t>-</a:t>
            </a:r>
            <a:r>
              <a:rPr lang="zh-CN" altLang="en-US" dirty="0"/>
              <a:t>含字节流命令组装</a:t>
            </a:r>
            <a:r>
              <a:rPr lang="en-US" altLang="zh-CN" dirty="0"/>
              <a:t>&amp;</a:t>
            </a:r>
            <a:r>
              <a:rPr lang="zh-CN" altLang="en-US" dirty="0"/>
              <a:t>解析、会话管理等）。</a:t>
            </a:r>
          </a:p>
        </p:txBody>
      </p:sp>
      <p:sp>
        <p:nvSpPr>
          <p:cNvPr id="4" name="灯片编号占位符 3">
            <a:extLst>
              <a:ext uri="{FF2B5EF4-FFF2-40B4-BE49-F238E27FC236}">
                <a16:creationId xmlns:a16="http://schemas.microsoft.com/office/drawing/2014/main" id="{4AF3D60A-44E1-4F19-A84D-5AF4B1146478}"/>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39</a:t>
            </a:fld>
            <a:endParaRPr lang="en-US" altLang="zh-CN"/>
          </a:p>
        </p:txBody>
      </p:sp>
    </p:spTree>
    <p:extLst>
      <p:ext uri="{BB962C8B-B14F-4D97-AF65-F5344CB8AC3E}">
        <p14:creationId xmlns:p14="http://schemas.microsoft.com/office/powerpoint/2010/main" val="68757574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9FB829-43FF-418C-A462-5011A067752D}"/>
              </a:ext>
            </a:extLst>
          </p:cNvPr>
          <p:cNvSpPr>
            <a:spLocks noGrp="1"/>
          </p:cNvSpPr>
          <p:nvPr>
            <p:ph type="title"/>
          </p:nvPr>
        </p:nvSpPr>
        <p:spPr/>
        <p:txBody>
          <a:bodyPr/>
          <a:lstStyle/>
          <a:p>
            <a:r>
              <a:rPr lang="en-US" altLang="zh-CN" dirty="0"/>
              <a:t>SAPI</a:t>
            </a:r>
            <a:r>
              <a:rPr lang="zh-CN" altLang="en-US" dirty="0"/>
              <a:t>的主要</a:t>
            </a:r>
            <a:r>
              <a:rPr lang="zh-CN" altLang="en-US"/>
              <a:t>设计目标</a:t>
            </a:r>
            <a:endParaRPr lang="zh-CN" altLang="en-US" dirty="0"/>
          </a:p>
        </p:txBody>
      </p:sp>
      <p:sp>
        <p:nvSpPr>
          <p:cNvPr id="3" name="内容占位符 2">
            <a:extLst>
              <a:ext uri="{FF2B5EF4-FFF2-40B4-BE49-F238E27FC236}">
                <a16:creationId xmlns:a16="http://schemas.microsoft.com/office/drawing/2014/main" id="{CD5495CD-268E-4B42-9E48-7C4746409C77}"/>
              </a:ext>
            </a:extLst>
          </p:cNvPr>
          <p:cNvSpPr>
            <a:spLocks noGrp="1"/>
          </p:cNvSpPr>
          <p:nvPr>
            <p:ph idx="1"/>
          </p:nvPr>
        </p:nvSpPr>
        <p:spPr/>
        <p:txBody>
          <a:bodyPr/>
          <a:lstStyle/>
          <a:p>
            <a:pPr marL="0" indent="0">
              <a:buNone/>
            </a:pPr>
            <a:endParaRPr lang="zh-CN" altLang="en-US" dirty="0"/>
          </a:p>
          <a:p>
            <a:r>
              <a:rPr lang="zh-CN" altLang="en-US" sz="2400" dirty="0"/>
              <a:t>提供所有</a:t>
            </a:r>
            <a:r>
              <a:rPr lang="en-US" altLang="zh-CN" sz="2400" dirty="0"/>
              <a:t>TPM</a:t>
            </a:r>
            <a:r>
              <a:rPr lang="zh-CN" altLang="en-US" sz="2400" dirty="0"/>
              <a:t>功能的访问接口。</a:t>
            </a:r>
          </a:p>
          <a:p>
            <a:r>
              <a:rPr lang="zh-CN" altLang="en-US" sz="2400" dirty="0"/>
              <a:t>可以在尽可能多的平台上使用，从高度嵌入式，内存受限的环境到多核的服务器上都可以使用。为了支持较小的应用，</a:t>
            </a:r>
            <a:r>
              <a:rPr lang="en-US" altLang="zh-CN" sz="2400" dirty="0"/>
              <a:t>SAPI</a:t>
            </a:r>
            <a:r>
              <a:rPr lang="zh-CN" altLang="en-US" sz="2400" dirty="0"/>
              <a:t>的代码需要考虑很多，从而可以让内存使用最小化或者提供最小化的选项。</a:t>
            </a:r>
          </a:p>
          <a:p>
            <a:r>
              <a:rPr lang="zh-CN" altLang="en-US" sz="2400" dirty="0"/>
              <a:t>在提供所有功能的前提下，尽可能让程序员的工作容易。</a:t>
            </a:r>
          </a:p>
          <a:p>
            <a:r>
              <a:rPr lang="zh-CN" altLang="en-US" sz="2400" dirty="0"/>
              <a:t>支持同步和异步调用。</a:t>
            </a:r>
          </a:p>
          <a:p>
            <a:r>
              <a:rPr lang="en-US" altLang="zh-CN" sz="2400" dirty="0"/>
              <a:t>SAPI</a:t>
            </a:r>
            <a:r>
              <a:rPr lang="zh-CN" altLang="en-US" sz="2400" dirty="0"/>
              <a:t>的实现本身不需要申请任何内存。同时</a:t>
            </a:r>
            <a:r>
              <a:rPr lang="en-US" altLang="zh-CN" sz="2400" dirty="0"/>
              <a:t>SAPI</a:t>
            </a:r>
            <a:r>
              <a:rPr lang="zh-CN" altLang="en-US" sz="2400" dirty="0"/>
              <a:t>的使用者要负责申请所有</a:t>
            </a:r>
            <a:r>
              <a:rPr lang="en-US" altLang="zh-CN" sz="2400" dirty="0"/>
              <a:t>SAPI</a:t>
            </a:r>
            <a:r>
              <a:rPr lang="zh-CN" altLang="en-US" sz="2400" dirty="0"/>
              <a:t>使用的内存。</a:t>
            </a:r>
          </a:p>
        </p:txBody>
      </p:sp>
      <p:sp>
        <p:nvSpPr>
          <p:cNvPr id="4" name="灯片编号占位符 3">
            <a:extLst>
              <a:ext uri="{FF2B5EF4-FFF2-40B4-BE49-F238E27FC236}">
                <a16:creationId xmlns:a16="http://schemas.microsoft.com/office/drawing/2014/main" id="{AC087D1F-E459-4E22-A71D-FD530D26B09C}"/>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40</a:t>
            </a:fld>
            <a:endParaRPr lang="en-US" altLang="zh-CN"/>
          </a:p>
        </p:txBody>
      </p:sp>
    </p:spTree>
    <p:extLst>
      <p:ext uri="{BB962C8B-B14F-4D97-AF65-F5344CB8AC3E}">
        <p14:creationId xmlns:p14="http://schemas.microsoft.com/office/powerpoint/2010/main" val="233138264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37ADBA-306B-4D66-9F0B-AC6500073281}"/>
              </a:ext>
            </a:extLst>
          </p:cNvPr>
          <p:cNvSpPr>
            <a:spLocks noGrp="1"/>
          </p:cNvSpPr>
          <p:nvPr>
            <p:ph type="title"/>
          </p:nvPr>
        </p:nvSpPr>
        <p:spPr/>
        <p:txBody>
          <a:bodyPr/>
          <a:lstStyle/>
          <a:p>
            <a:r>
              <a:rPr lang="en-US" altLang="zh-CN" dirty="0"/>
              <a:t>SAPI</a:t>
            </a:r>
            <a:r>
              <a:rPr lang="zh-CN" altLang="en-US" dirty="0"/>
              <a:t>架构图</a:t>
            </a:r>
          </a:p>
        </p:txBody>
      </p:sp>
      <p:pic>
        <p:nvPicPr>
          <p:cNvPr id="5" name="内容占位符 4">
            <a:extLst>
              <a:ext uri="{FF2B5EF4-FFF2-40B4-BE49-F238E27FC236}">
                <a16:creationId xmlns:a16="http://schemas.microsoft.com/office/drawing/2014/main" id="{A71E083C-0D9F-4788-86E7-62AD6F5997B7}"/>
              </a:ext>
            </a:extLst>
          </p:cNvPr>
          <p:cNvPicPr>
            <a:picLocks noGrp="1" noChangeAspect="1"/>
          </p:cNvPicPr>
          <p:nvPr>
            <p:ph idx="1"/>
          </p:nvPr>
        </p:nvPicPr>
        <p:blipFill>
          <a:blip r:embed="rId2"/>
          <a:stretch>
            <a:fillRect/>
          </a:stretch>
        </p:blipFill>
        <p:spPr>
          <a:xfrm>
            <a:off x="2321169" y="1129717"/>
            <a:ext cx="5708505" cy="5359005"/>
          </a:xfrm>
          <a:prstGeom prst="rect">
            <a:avLst/>
          </a:prstGeom>
        </p:spPr>
      </p:pic>
      <p:sp>
        <p:nvSpPr>
          <p:cNvPr id="4" name="灯片编号占位符 3">
            <a:extLst>
              <a:ext uri="{FF2B5EF4-FFF2-40B4-BE49-F238E27FC236}">
                <a16:creationId xmlns:a16="http://schemas.microsoft.com/office/drawing/2014/main" id="{F3F53A68-49E4-461C-A7B4-887ED533F42B}"/>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41</a:t>
            </a:fld>
            <a:endParaRPr lang="en-US" altLang="zh-CN"/>
          </a:p>
        </p:txBody>
      </p:sp>
    </p:spTree>
    <p:extLst>
      <p:ext uri="{BB962C8B-B14F-4D97-AF65-F5344CB8AC3E}">
        <p14:creationId xmlns:p14="http://schemas.microsoft.com/office/powerpoint/2010/main" val="52419187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4CF20A-99D3-4228-9808-94BE8B3741AB}"/>
              </a:ext>
            </a:extLst>
          </p:cNvPr>
          <p:cNvSpPr>
            <a:spLocks noGrp="1"/>
          </p:cNvSpPr>
          <p:nvPr>
            <p:ph type="title"/>
          </p:nvPr>
        </p:nvSpPr>
        <p:spPr>
          <a:xfrm>
            <a:off x="61546" y="208086"/>
            <a:ext cx="6849208" cy="837406"/>
          </a:xfrm>
        </p:spPr>
        <p:txBody>
          <a:bodyPr/>
          <a:lstStyle/>
          <a:p>
            <a:r>
              <a:rPr lang="en-US" altLang="zh-CN" dirty="0"/>
              <a:t>1</a:t>
            </a:r>
            <a:r>
              <a:rPr lang="zh-CN" altLang="en-US" dirty="0"/>
              <a:t>、命令上下文申请函数</a:t>
            </a:r>
          </a:p>
        </p:txBody>
      </p:sp>
      <p:sp>
        <p:nvSpPr>
          <p:cNvPr id="3" name="内容占位符 2">
            <a:extLst>
              <a:ext uri="{FF2B5EF4-FFF2-40B4-BE49-F238E27FC236}">
                <a16:creationId xmlns:a16="http://schemas.microsoft.com/office/drawing/2014/main" id="{CF0D3C22-2ECD-40AA-946B-6B875808C3F5}"/>
              </a:ext>
            </a:extLst>
          </p:cNvPr>
          <p:cNvSpPr>
            <a:spLocks noGrp="1"/>
          </p:cNvSpPr>
          <p:nvPr>
            <p:ph idx="1"/>
          </p:nvPr>
        </p:nvSpPr>
        <p:spPr/>
        <p:txBody>
          <a:bodyPr/>
          <a:lstStyle/>
          <a:p>
            <a:pPr marL="0" indent="0">
              <a:buNone/>
            </a:pPr>
            <a:endParaRPr lang="en-US" altLang="zh-CN" dirty="0"/>
          </a:p>
          <a:p>
            <a:pPr marL="0" indent="0">
              <a:buNone/>
            </a:pPr>
            <a:r>
              <a:rPr lang="en-US" altLang="zh-CN" dirty="0"/>
              <a:t>1</a:t>
            </a:r>
            <a:r>
              <a:rPr lang="zh-CN" altLang="en-US" dirty="0"/>
              <a:t>、</a:t>
            </a:r>
            <a:r>
              <a:rPr lang="en-US" altLang="zh-CN" dirty="0"/>
              <a:t>Tss2_Sys_GetContextSize</a:t>
            </a:r>
            <a:r>
              <a:rPr lang="zh-CN" altLang="en-US" dirty="0"/>
              <a:t>这个函数用于决定</a:t>
            </a:r>
            <a:r>
              <a:rPr lang="en-US" altLang="zh-CN" dirty="0"/>
              <a:t>SAPI</a:t>
            </a:r>
            <a:r>
              <a:rPr lang="zh-CN" altLang="en-US" dirty="0"/>
              <a:t>上下文数据结构需要多少内存空间。这个命令返回内存空间的大小能够满足执行任何</a:t>
            </a:r>
            <a:r>
              <a:rPr lang="en-US" altLang="zh-CN" dirty="0"/>
              <a:t>TPM2.0</a:t>
            </a:r>
            <a:r>
              <a:rPr lang="zh-CN" altLang="en-US" dirty="0"/>
              <a:t>规范第三部分中描述的命令。或者调用者也可以提供最大的命令和响应大小，这个函数会计算所需的上下文大小。</a:t>
            </a:r>
            <a:endParaRPr lang="en-US" altLang="zh-CN" dirty="0"/>
          </a:p>
          <a:p>
            <a:pPr marL="0" indent="0">
              <a:buNone/>
            </a:pPr>
            <a:endParaRPr lang="en-US" altLang="zh-CN" dirty="0"/>
          </a:p>
          <a:p>
            <a:pPr marL="0" indent="0" algn="just">
              <a:buNone/>
            </a:pPr>
            <a:r>
              <a:rPr lang="en-US" altLang="zh-CN" dirty="0"/>
              <a:t>     2</a:t>
            </a:r>
            <a:r>
              <a:rPr lang="zh-CN" altLang="en-US" dirty="0"/>
              <a:t>、</a:t>
            </a:r>
            <a:r>
              <a:rPr lang="en-US" altLang="zh-CN" dirty="0"/>
              <a:t>Tss2_Sys_Initialize</a:t>
            </a:r>
            <a:r>
              <a:rPr lang="zh-CN" altLang="en-US" dirty="0"/>
              <a:t>用于初始化</a:t>
            </a:r>
            <a:r>
              <a:rPr lang="en-US" altLang="zh-CN" dirty="0"/>
              <a:t>SAPI</a:t>
            </a:r>
            <a:r>
              <a:rPr lang="zh-CN" altLang="en-US" dirty="0"/>
              <a:t>的上下文。它需要如下四个参数：一个指向足够用于上下文的内存区域的指针；</a:t>
            </a:r>
            <a:r>
              <a:rPr lang="en-US" altLang="zh-CN" dirty="0"/>
              <a:t>Tss2_Sys_GetContextSize</a:t>
            </a:r>
            <a:r>
              <a:rPr lang="zh-CN" altLang="en-US" dirty="0"/>
              <a:t>返回的上下文大小；指向</a:t>
            </a:r>
            <a:r>
              <a:rPr lang="en-US" altLang="zh-CN" dirty="0"/>
              <a:t>TCTI</a:t>
            </a:r>
            <a:r>
              <a:rPr lang="zh-CN" altLang="en-US" dirty="0"/>
              <a:t>上下文的指针，这个上下文定义了发送命令和接收命令响应的方法；最后还有</a:t>
            </a:r>
            <a:r>
              <a:rPr lang="en-US" altLang="zh-CN" dirty="0"/>
              <a:t>SAPI</a:t>
            </a:r>
            <a:r>
              <a:rPr lang="zh-CN" altLang="en-US" dirty="0"/>
              <a:t>版本信息。</a:t>
            </a:r>
          </a:p>
        </p:txBody>
      </p:sp>
      <p:sp>
        <p:nvSpPr>
          <p:cNvPr id="4" name="灯片编号占位符 3">
            <a:extLst>
              <a:ext uri="{FF2B5EF4-FFF2-40B4-BE49-F238E27FC236}">
                <a16:creationId xmlns:a16="http://schemas.microsoft.com/office/drawing/2014/main" id="{4799E686-BF7C-47CC-8A13-3ACB06972489}"/>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42</a:t>
            </a:fld>
            <a:endParaRPr lang="en-US" altLang="zh-CN"/>
          </a:p>
        </p:txBody>
      </p:sp>
    </p:spTree>
    <p:extLst>
      <p:ext uri="{BB962C8B-B14F-4D97-AF65-F5344CB8AC3E}">
        <p14:creationId xmlns:p14="http://schemas.microsoft.com/office/powerpoint/2010/main" val="293805281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420F24-6EFF-4E8C-B845-99993AC7E8E4}"/>
              </a:ext>
            </a:extLst>
          </p:cNvPr>
          <p:cNvSpPr>
            <a:spLocks noGrp="1"/>
          </p:cNvSpPr>
          <p:nvPr>
            <p:ph type="title"/>
          </p:nvPr>
        </p:nvSpPr>
        <p:spPr/>
        <p:txBody>
          <a:bodyPr/>
          <a:lstStyle/>
          <a:p>
            <a:r>
              <a:rPr lang="en-US" altLang="zh-CN" dirty="0"/>
              <a:t>2</a:t>
            </a:r>
            <a:r>
              <a:rPr lang="zh-CN" altLang="en-US" dirty="0"/>
              <a:t>、命令执行函数</a:t>
            </a:r>
          </a:p>
        </p:txBody>
      </p:sp>
      <p:sp>
        <p:nvSpPr>
          <p:cNvPr id="3" name="内容占位符 2">
            <a:extLst>
              <a:ext uri="{FF2B5EF4-FFF2-40B4-BE49-F238E27FC236}">
                <a16:creationId xmlns:a16="http://schemas.microsoft.com/office/drawing/2014/main" id="{0764E7B5-604E-44DF-B738-485F8195FEBE}"/>
              </a:ext>
            </a:extLst>
          </p:cNvPr>
          <p:cNvSpPr>
            <a:spLocks noGrp="1"/>
          </p:cNvSpPr>
          <p:nvPr>
            <p:ph idx="1"/>
          </p:nvPr>
        </p:nvSpPr>
        <p:spPr/>
        <p:txBody>
          <a:bodyPr/>
          <a:lstStyle/>
          <a:p>
            <a:pPr marL="0" indent="0">
              <a:buNone/>
            </a:pPr>
            <a:r>
              <a:rPr lang="zh-CN" altLang="en-US" dirty="0"/>
              <a:t>       这一组函数用于向</a:t>
            </a:r>
            <a:r>
              <a:rPr lang="en-US" altLang="zh-CN" dirty="0"/>
              <a:t>TPM</a:t>
            </a:r>
            <a:r>
              <a:rPr lang="zh-CN" altLang="en-US" dirty="0"/>
              <a:t>发送命令和从</a:t>
            </a:r>
            <a:r>
              <a:rPr lang="en-US" altLang="zh-CN" dirty="0"/>
              <a:t>TPM</a:t>
            </a:r>
            <a:r>
              <a:rPr lang="zh-CN" altLang="en-US" dirty="0"/>
              <a:t>接收命令响应数据。命令可以被以同步或者异步的方式发送。同步发送又分为两种：</a:t>
            </a:r>
            <a:r>
              <a:rPr lang="en-US" altLang="zh-CN" dirty="0"/>
              <a:t>3-5</a:t>
            </a:r>
            <a:r>
              <a:rPr lang="zh-CN" altLang="en-US" dirty="0"/>
              <a:t>个函数调用；或者是完成所有事情的一次调用。支持同步，异步和单次，多次调用主要是为了支持尽可能多的应用架构。</a:t>
            </a:r>
            <a:endParaRPr lang="en-US" altLang="zh-CN" dirty="0"/>
          </a:p>
          <a:p>
            <a:pPr>
              <a:buFont typeface="Wingdings" panose="05000000000000000000" pitchFamily="2" charset="2"/>
              <a:buChar char="l"/>
            </a:pPr>
            <a:r>
              <a:rPr lang="en-US" altLang="zh-CN" dirty="0"/>
              <a:t>Tss2_Sys_ExecuteAsync</a:t>
            </a:r>
            <a:r>
              <a:rPr lang="zh-CN" altLang="en-US" dirty="0"/>
              <a:t>是发送命令的最基础方法。它使用</a:t>
            </a:r>
            <a:r>
              <a:rPr lang="en-US" altLang="zh-CN" dirty="0"/>
              <a:t>TCTI</a:t>
            </a:r>
            <a:r>
              <a:rPr lang="zh-CN" altLang="en-US" dirty="0"/>
              <a:t>发送函数来发送命令，并尽快返回。如下是一个示例：</a:t>
            </a:r>
            <a:endParaRPr lang="en-US" altLang="zh-CN" dirty="0"/>
          </a:p>
          <a:p>
            <a:pPr marL="0" indent="0">
              <a:buNone/>
            </a:pPr>
            <a:r>
              <a:rPr lang="en-US" altLang="zh-CN" dirty="0"/>
              <a:t>            </a:t>
            </a:r>
            <a:r>
              <a:rPr lang="en-US" altLang="zh-CN" dirty="0" err="1">
                <a:solidFill>
                  <a:srgbClr val="FF0000"/>
                </a:solidFill>
              </a:rPr>
              <a:t>rval</a:t>
            </a:r>
            <a:r>
              <a:rPr lang="en-US" altLang="zh-CN" dirty="0">
                <a:solidFill>
                  <a:srgbClr val="FF0000"/>
                </a:solidFill>
              </a:rPr>
              <a:t> = Tss2_Sys_ExecuteAsync( </a:t>
            </a:r>
            <a:r>
              <a:rPr lang="en-US" altLang="zh-CN" dirty="0" err="1">
                <a:solidFill>
                  <a:srgbClr val="FF0000"/>
                </a:solidFill>
              </a:rPr>
              <a:t>sysContext</a:t>
            </a:r>
            <a:r>
              <a:rPr lang="zh-CN" altLang="en-US" dirty="0"/>
              <a:t>）</a:t>
            </a:r>
            <a:endParaRPr lang="en-US" altLang="zh-CN" dirty="0"/>
          </a:p>
          <a:p>
            <a:pPr>
              <a:buFont typeface="Wingdings" panose="05000000000000000000" pitchFamily="2" charset="2"/>
              <a:buChar char="l"/>
            </a:pPr>
            <a:r>
              <a:rPr lang="en-US" altLang="zh-CN" dirty="0"/>
              <a:t>Tss2_Sys_ExecuteFinish</a:t>
            </a:r>
            <a:r>
              <a:rPr lang="zh-CN" altLang="en-US" dirty="0"/>
              <a:t>是与</a:t>
            </a:r>
            <a:r>
              <a:rPr lang="en-US" altLang="zh-CN" dirty="0" err="1"/>
              <a:t>ExecuteAsync</a:t>
            </a:r>
            <a:r>
              <a:rPr lang="zh-CN" altLang="en-US" dirty="0"/>
              <a:t>配套的函数。它会调用</a:t>
            </a:r>
            <a:r>
              <a:rPr lang="en-US" altLang="zh-CN" dirty="0"/>
              <a:t>TCTI</a:t>
            </a:r>
            <a:r>
              <a:rPr lang="zh-CN" altLang="en-US" dirty="0"/>
              <a:t>函数来接收命令响应数据。这个函数有一个</a:t>
            </a:r>
            <a:r>
              <a:rPr lang="en-US" altLang="zh-CN" dirty="0"/>
              <a:t>timeout</a:t>
            </a:r>
            <a:r>
              <a:rPr lang="zh-CN" altLang="en-US" dirty="0"/>
              <a:t>参数用于决定要命令响应的超时时间。下面是一个响应超时设置为</a:t>
            </a:r>
            <a:r>
              <a:rPr lang="en-US" altLang="zh-CN" dirty="0"/>
              <a:t>20ms</a:t>
            </a:r>
            <a:r>
              <a:rPr lang="zh-CN" altLang="en-US" dirty="0"/>
              <a:t>的例子：</a:t>
            </a:r>
            <a:endParaRPr lang="en-US" altLang="zh-CN" dirty="0"/>
          </a:p>
          <a:p>
            <a:pPr marL="0" indent="0">
              <a:buNone/>
            </a:pPr>
            <a:r>
              <a:rPr lang="en-US" altLang="zh-CN" dirty="0"/>
              <a:t>          </a:t>
            </a:r>
            <a:r>
              <a:rPr lang="en-US" altLang="zh-CN" dirty="0" err="1">
                <a:solidFill>
                  <a:srgbClr val="FF0000"/>
                </a:solidFill>
              </a:rPr>
              <a:t>rval</a:t>
            </a:r>
            <a:r>
              <a:rPr lang="en-US" altLang="zh-CN" dirty="0">
                <a:solidFill>
                  <a:srgbClr val="FF0000"/>
                </a:solidFill>
              </a:rPr>
              <a:t> = Tss2_Sys_ExecuteFinish( </a:t>
            </a:r>
            <a:r>
              <a:rPr lang="en-US" altLang="zh-CN" dirty="0" err="1">
                <a:solidFill>
                  <a:srgbClr val="FF0000"/>
                </a:solidFill>
              </a:rPr>
              <a:t>sysContext</a:t>
            </a:r>
            <a:r>
              <a:rPr lang="en-US" altLang="zh-CN" dirty="0">
                <a:solidFill>
                  <a:srgbClr val="FF0000"/>
                </a:solidFill>
              </a:rPr>
              <a:t>, 20 );</a:t>
            </a:r>
          </a:p>
          <a:p>
            <a:pPr>
              <a:buFont typeface="Wingdings" panose="05000000000000000000" pitchFamily="2" charset="2"/>
              <a:buChar char="l"/>
            </a:pPr>
            <a:r>
              <a:rPr lang="en-US" altLang="zh-CN" dirty="0"/>
              <a:t>Tss2_Sys_Execute</a:t>
            </a:r>
            <a:r>
              <a:rPr lang="zh-CN" altLang="en-US" dirty="0"/>
              <a:t>是与</a:t>
            </a:r>
            <a:r>
              <a:rPr lang="en-US" altLang="zh-CN" dirty="0"/>
              <a:t>Tss2_Sys_ExecuteAsync</a:t>
            </a:r>
            <a:r>
              <a:rPr lang="zh-CN" altLang="en-US" dirty="0"/>
              <a:t>功能相同的异步方法。在这个函数调用之后就是 </a:t>
            </a:r>
            <a:r>
              <a:rPr lang="en-US" altLang="zh-CN" dirty="0"/>
              <a:t>Tss2_Sys_ExecuteFinish</a:t>
            </a:r>
            <a:r>
              <a:rPr lang="zh-CN" altLang="en-US" dirty="0"/>
              <a:t>，它同样是同步的方法，所以相当于无限大的</a:t>
            </a:r>
            <a:r>
              <a:rPr lang="en-US" altLang="zh-CN" dirty="0"/>
              <a:t>timeout</a:t>
            </a:r>
            <a:r>
              <a:rPr lang="zh-CN" altLang="en-US" dirty="0"/>
              <a:t>。如下是一个调用示例：</a:t>
            </a:r>
            <a:endParaRPr lang="en-US" altLang="zh-CN" dirty="0"/>
          </a:p>
          <a:p>
            <a:pPr marL="0" indent="0">
              <a:buNone/>
            </a:pPr>
            <a:r>
              <a:rPr lang="en-US" altLang="zh-CN" dirty="0"/>
              <a:t> </a:t>
            </a:r>
            <a:r>
              <a:rPr lang="en-US" altLang="zh-CN" dirty="0">
                <a:solidFill>
                  <a:srgbClr val="FF0000"/>
                </a:solidFill>
              </a:rPr>
              <a:t>        </a:t>
            </a:r>
            <a:r>
              <a:rPr lang="en-US" altLang="zh-CN" dirty="0" err="1">
                <a:solidFill>
                  <a:srgbClr val="FF0000"/>
                </a:solidFill>
              </a:rPr>
              <a:t>rval</a:t>
            </a:r>
            <a:r>
              <a:rPr lang="en-US" altLang="zh-CN" dirty="0">
                <a:solidFill>
                  <a:srgbClr val="FF0000"/>
                </a:solidFill>
              </a:rPr>
              <a:t> = Tss2_Sys_Execute( </a:t>
            </a:r>
            <a:r>
              <a:rPr lang="en-US" altLang="zh-CN" dirty="0" err="1">
                <a:solidFill>
                  <a:srgbClr val="FF0000"/>
                </a:solidFill>
              </a:rPr>
              <a:t>sysContext</a:t>
            </a:r>
            <a:r>
              <a:rPr lang="en-US" altLang="zh-CN" dirty="0">
                <a:solidFill>
                  <a:srgbClr val="FF0000"/>
                </a:solidFill>
              </a:rPr>
              <a:t> );</a:t>
            </a:r>
          </a:p>
        </p:txBody>
      </p:sp>
      <p:sp>
        <p:nvSpPr>
          <p:cNvPr id="4" name="灯片编号占位符 3">
            <a:extLst>
              <a:ext uri="{FF2B5EF4-FFF2-40B4-BE49-F238E27FC236}">
                <a16:creationId xmlns:a16="http://schemas.microsoft.com/office/drawing/2014/main" id="{49F21297-B7F3-42FA-BD7A-639E15B48156}"/>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43</a:t>
            </a:fld>
            <a:endParaRPr lang="en-US" altLang="zh-CN"/>
          </a:p>
        </p:txBody>
      </p:sp>
    </p:spTree>
    <p:extLst>
      <p:ext uri="{BB962C8B-B14F-4D97-AF65-F5344CB8AC3E}">
        <p14:creationId xmlns:p14="http://schemas.microsoft.com/office/powerpoint/2010/main" val="355775760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F24851-E9F1-47F7-BCF2-2D69725C0AEA}"/>
              </a:ext>
            </a:extLst>
          </p:cNvPr>
          <p:cNvSpPr>
            <a:spLocks noGrp="1"/>
          </p:cNvSpPr>
          <p:nvPr>
            <p:ph type="title"/>
          </p:nvPr>
        </p:nvSpPr>
        <p:spPr/>
        <p:txBody>
          <a:bodyPr/>
          <a:lstStyle/>
          <a:p>
            <a:r>
              <a:rPr lang="en-US" altLang="zh-CN" dirty="0"/>
              <a:t>3</a:t>
            </a:r>
            <a:r>
              <a:rPr lang="zh-CN" altLang="en-US" dirty="0"/>
              <a:t>、命令完成函数</a:t>
            </a:r>
          </a:p>
        </p:txBody>
      </p:sp>
      <p:sp>
        <p:nvSpPr>
          <p:cNvPr id="3" name="内容占位符 2">
            <a:extLst>
              <a:ext uri="{FF2B5EF4-FFF2-40B4-BE49-F238E27FC236}">
                <a16:creationId xmlns:a16="http://schemas.microsoft.com/office/drawing/2014/main" id="{09786878-21AD-4706-8809-BB5D97F270B6}"/>
              </a:ext>
            </a:extLst>
          </p:cNvPr>
          <p:cNvSpPr>
            <a:spLocks noGrp="1"/>
          </p:cNvSpPr>
          <p:nvPr>
            <p:ph idx="1"/>
          </p:nvPr>
        </p:nvSpPr>
        <p:spPr/>
        <p:txBody>
          <a:bodyPr/>
          <a:lstStyle/>
          <a:p>
            <a:pPr marL="0" indent="0" algn="just">
              <a:buNone/>
            </a:pPr>
            <a:r>
              <a:rPr lang="zh-CN" altLang="en-US" dirty="0"/>
              <a:t>      这一组函数用于</a:t>
            </a:r>
            <a:r>
              <a:rPr lang="en-US" altLang="zh-CN" dirty="0"/>
              <a:t>TPM</a:t>
            </a:r>
            <a:r>
              <a:rPr lang="zh-CN" altLang="en-US" dirty="0"/>
              <a:t>命令的后处理。这些后处理包括命令响应的</a:t>
            </a:r>
            <a:r>
              <a:rPr lang="en-US" altLang="zh-CN" dirty="0"/>
              <a:t>HMAC</a:t>
            </a:r>
            <a:r>
              <a:rPr lang="zh-CN" altLang="en-US" dirty="0"/>
              <a:t>计算，以及在加密会话中命令响应参数的解密。</a:t>
            </a:r>
            <a:r>
              <a:rPr lang="en-US" altLang="zh-CN" dirty="0">
                <a:solidFill>
                  <a:srgbClr val="FF0000"/>
                </a:solidFill>
              </a:rPr>
              <a:t>Tss2_Sys_GetRpBuffer</a:t>
            </a:r>
            <a:r>
              <a:rPr lang="zh-CN" altLang="en-US" dirty="0"/>
              <a:t>需要一个指向命令响应参数数据的指针，以及参数数据的大小作为参数。知道这两个参数后，用户就可以计算命令响应的</a:t>
            </a:r>
            <a:r>
              <a:rPr lang="en-US" altLang="zh-CN" dirty="0"/>
              <a:t>HMAC</a:t>
            </a:r>
            <a:r>
              <a:rPr lang="zh-CN" altLang="en-US" dirty="0"/>
              <a:t>，然后与命令响应授权区域的</a:t>
            </a:r>
            <a:r>
              <a:rPr lang="en-US" altLang="zh-CN" dirty="0"/>
              <a:t>HMAC</a:t>
            </a:r>
            <a:r>
              <a:rPr lang="zh-CN" altLang="en-US" dirty="0"/>
              <a:t>比较。</a:t>
            </a:r>
            <a:endParaRPr lang="en-US" altLang="zh-CN" dirty="0"/>
          </a:p>
          <a:p>
            <a:pPr marL="0" indent="0" algn="just">
              <a:buNone/>
            </a:pPr>
            <a:r>
              <a:rPr lang="en-US" altLang="zh-CN" dirty="0"/>
              <a:t>      </a:t>
            </a:r>
            <a:r>
              <a:rPr lang="en-US" altLang="zh-CN" dirty="0">
                <a:solidFill>
                  <a:srgbClr val="FF0000"/>
                </a:solidFill>
              </a:rPr>
              <a:t>Tss2_Sys_GetRspAuths</a:t>
            </a:r>
            <a:r>
              <a:rPr lang="zh-CN" altLang="en-US" dirty="0"/>
              <a:t>用于获取命令响应授权区的数据。比如上面提到的</a:t>
            </a:r>
            <a:r>
              <a:rPr lang="en-US" altLang="zh-CN" dirty="0"/>
              <a:t>HMAC</a:t>
            </a:r>
            <a:r>
              <a:rPr lang="zh-CN" altLang="en-US" dirty="0"/>
              <a:t>。完成响应数据的验证后，如果命令响应是通过加密会话传输的，就可以进一步通过</a:t>
            </a:r>
            <a:r>
              <a:rPr lang="en-US" altLang="zh-CN" dirty="0">
                <a:solidFill>
                  <a:srgbClr val="FF0000"/>
                </a:solidFill>
              </a:rPr>
              <a:t>Tss2_Sys_GetEncryptParam</a:t>
            </a:r>
            <a:r>
              <a:rPr lang="zh-CN" altLang="en-US" dirty="0"/>
              <a:t>和</a:t>
            </a:r>
            <a:r>
              <a:rPr lang="en-US" altLang="zh-CN" dirty="0">
                <a:solidFill>
                  <a:srgbClr val="FF0000"/>
                </a:solidFill>
              </a:rPr>
              <a:t>Tss2_Sys_SetEncryptParam</a:t>
            </a:r>
            <a:r>
              <a:rPr lang="zh-CN" altLang="en-US" dirty="0"/>
              <a:t>解密响应参数，并将它们插入到响应的数据流中，后续的解编码（</a:t>
            </a:r>
            <a:r>
              <a:rPr lang="en-US" altLang="zh-CN" dirty="0"/>
              <a:t>unmarshalling</a:t>
            </a:r>
            <a:r>
              <a:rPr lang="zh-CN" altLang="en-US" dirty="0"/>
              <a:t>）操作会将它们解析成对应的数据结构。</a:t>
            </a:r>
            <a:endParaRPr lang="en-US" altLang="zh-CN" dirty="0"/>
          </a:p>
          <a:p>
            <a:pPr marL="0" indent="0" algn="just">
              <a:buNone/>
            </a:pPr>
            <a:r>
              <a:rPr lang="en-US" altLang="zh-CN" dirty="0"/>
              <a:t>      </a:t>
            </a:r>
            <a:r>
              <a:rPr lang="zh-CN" altLang="en-US" dirty="0"/>
              <a:t>响应参数被解密后，数据流就可以被解码了。这个操作使用</a:t>
            </a:r>
            <a:r>
              <a:rPr lang="en-US" altLang="zh-CN" dirty="0">
                <a:solidFill>
                  <a:srgbClr val="FF0000"/>
                </a:solidFill>
              </a:rPr>
              <a:t>Tss2_Sys_XXXX_Complete</a:t>
            </a:r>
            <a:r>
              <a:rPr lang="zh-CN" altLang="en-US" dirty="0"/>
              <a:t>。因为不同的命令有不同的响应参数，所有规范第三部分中的每个命令也对应一个函数。示例如下</a:t>
            </a:r>
            <a:r>
              <a:rPr lang="en-US" altLang="zh-CN" dirty="0"/>
              <a:t>:</a:t>
            </a:r>
          </a:p>
          <a:p>
            <a:pPr marL="0" indent="0" algn="just">
              <a:buNone/>
            </a:pPr>
            <a:r>
              <a:rPr lang="en-US" altLang="zh-CN" dirty="0" err="1">
                <a:solidFill>
                  <a:srgbClr val="FF0000"/>
                </a:solidFill>
              </a:rPr>
              <a:t>rval</a:t>
            </a:r>
            <a:r>
              <a:rPr lang="en-US" altLang="zh-CN" dirty="0">
                <a:solidFill>
                  <a:srgbClr val="FF0000"/>
                </a:solidFill>
              </a:rPr>
              <a:t> = Tss2_Sys_GetTestResult_Complete( </a:t>
            </a:r>
            <a:r>
              <a:rPr lang="en-US" altLang="zh-CN" dirty="0" err="1">
                <a:solidFill>
                  <a:srgbClr val="FF0000"/>
                </a:solidFill>
              </a:rPr>
              <a:t>sysContext</a:t>
            </a:r>
            <a:r>
              <a:rPr lang="en-US" altLang="zh-CN" dirty="0">
                <a:solidFill>
                  <a:srgbClr val="FF0000"/>
                </a:solidFill>
              </a:rPr>
              <a:t>, &amp;</a:t>
            </a:r>
            <a:r>
              <a:rPr lang="en-US" altLang="zh-CN" dirty="0" err="1">
                <a:solidFill>
                  <a:srgbClr val="FF0000"/>
                </a:solidFill>
              </a:rPr>
              <a:t>outData</a:t>
            </a:r>
            <a:r>
              <a:rPr lang="en-US" altLang="zh-CN" dirty="0">
                <a:solidFill>
                  <a:srgbClr val="FF0000"/>
                </a:solidFill>
              </a:rPr>
              <a:t>, &amp;</a:t>
            </a:r>
            <a:r>
              <a:rPr lang="en-US" altLang="zh-CN" dirty="0" err="1">
                <a:solidFill>
                  <a:srgbClr val="FF0000"/>
                </a:solidFill>
              </a:rPr>
              <a:t>testResult</a:t>
            </a:r>
            <a:r>
              <a:rPr lang="en-US" altLang="zh-CN" dirty="0">
                <a:solidFill>
                  <a:srgbClr val="FF0000"/>
                </a:solidFill>
              </a:rPr>
              <a:t> );</a:t>
            </a:r>
            <a:endParaRPr lang="zh-CN" altLang="en-US" dirty="0">
              <a:solidFill>
                <a:srgbClr val="FF0000"/>
              </a:solidFill>
            </a:endParaRPr>
          </a:p>
        </p:txBody>
      </p:sp>
      <p:sp>
        <p:nvSpPr>
          <p:cNvPr id="4" name="灯片编号占位符 3">
            <a:extLst>
              <a:ext uri="{FF2B5EF4-FFF2-40B4-BE49-F238E27FC236}">
                <a16:creationId xmlns:a16="http://schemas.microsoft.com/office/drawing/2014/main" id="{8EB00CC9-B1C0-4B4E-BB26-5914CD93B772}"/>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44</a:t>
            </a:fld>
            <a:endParaRPr lang="en-US" altLang="zh-CN"/>
          </a:p>
        </p:txBody>
      </p:sp>
    </p:spTree>
    <p:extLst>
      <p:ext uri="{BB962C8B-B14F-4D97-AF65-F5344CB8AC3E}">
        <p14:creationId xmlns:p14="http://schemas.microsoft.com/office/powerpoint/2010/main" val="69302417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DF68F-9560-4E85-A9D6-BF3556E3A1E3}"/>
              </a:ext>
            </a:extLst>
          </p:cNvPr>
          <p:cNvSpPr>
            <a:spLocks noGrp="1"/>
          </p:cNvSpPr>
          <p:nvPr>
            <p:ph type="title"/>
          </p:nvPr>
        </p:nvSpPr>
        <p:spPr/>
        <p:txBody>
          <a:bodyPr/>
          <a:lstStyle/>
          <a:p>
            <a:r>
              <a:rPr lang="en-US" altLang="zh-CN" dirty="0"/>
              <a:t>SAPI</a:t>
            </a:r>
            <a:r>
              <a:rPr lang="zh-CN" altLang="en-US" dirty="0"/>
              <a:t>测试代码</a:t>
            </a:r>
          </a:p>
        </p:txBody>
      </p:sp>
      <p:sp>
        <p:nvSpPr>
          <p:cNvPr id="3" name="内容占位符 2">
            <a:extLst>
              <a:ext uri="{FF2B5EF4-FFF2-40B4-BE49-F238E27FC236}">
                <a16:creationId xmlns:a16="http://schemas.microsoft.com/office/drawing/2014/main" id="{482E9151-31A8-4512-B78E-69676EFBFA22}"/>
              </a:ext>
            </a:extLst>
          </p:cNvPr>
          <p:cNvSpPr>
            <a:spLocks noGrp="1"/>
          </p:cNvSpPr>
          <p:nvPr>
            <p:ph idx="1"/>
          </p:nvPr>
        </p:nvSpPr>
        <p:spPr/>
        <p:txBody>
          <a:bodyPr/>
          <a:lstStyle/>
          <a:p>
            <a:pPr algn="just"/>
            <a:r>
              <a:rPr lang="zh-CN" altLang="en-US" dirty="0"/>
              <a:t>前面出现的</a:t>
            </a:r>
            <a:r>
              <a:rPr lang="en-US" altLang="zh-CN" dirty="0" err="1"/>
              <a:t>GetTestResult</a:t>
            </a:r>
            <a:r>
              <a:rPr lang="zh-CN" altLang="en-US" dirty="0"/>
              <a:t>作为一个测试被包含在</a:t>
            </a:r>
            <a:r>
              <a:rPr lang="en-US" altLang="zh-CN" dirty="0"/>
              <a:t>SAPI</a:t>
            </a:r>
            <a:r>
              <a:rPr lang="zh-CN" altLang="en-US" dirty="0"/>
              <a:t>测试代码中。测试代码中包含了很多</a:t>
            </a:r>
            <a:r>
              <a:rPr lang="en-US" altLang="zh-CN" dirty="0"/>
              <a:t>SAPI</a:t>
            </a:r>
            <a:r>
              <a:rPr lang="zh-CN" altLang="en-US" dirty="0"/>
              <a:t>功能测试。但是需要知道的是它绝对不是一个完整的测试。一个完整的测试有许多情况，一个开发者没有时间去写所有的测试。这个测试就是用于最基本功能的检查，有些情况下可能会针对要测试的功能做细分测试。</a:t>
            </a:r>
          </a:p>
          <a:p>
            <a:endParaRPr lang="zh-CN" altLang="en-US" dirty="0"/>
          </a:p>
          <a:p>
            <a:pPr algn="just"/>
            <a:r>
              <a:rPr lang="zh-CN" altLang="en-US" dirty="0"/>
              <a:t>测试代码在</a:t>
            </a:r>
            <a:r>
              <a:rPr lang="en-US" altLang="zh-CN" dirty="0"/>
              <a:t>Test\</a:t>
            </a:r>
            <a:r>
              <a:rPr lang="en-US" altLang="zh-CN" dirty="0" err="1"/>
              <a:t>tpmclient</a:t>
            </a:r>
            <a:r>
              <a:rPr lang="zh-CN" altLang="en-US" dirty="0"/>
              <a:t>子目录下。</a:t>
            </a:r>
            <a:r>
              <a:rPr lang="en-US" altLang="zh-CN" dirty="0"/>
              <a:t>tpmclient.cpp</a:t>
            </a:r>
            <a:r>
              <a:rPr lang="zh-CN" altLang="en-US" dirty="0"/>
              <a:t>这个文件包含测试应用的初始化以及主函数（注：现在已改名为</a:t>
            </a:r>
            <a:r>
              <a:rPr lang="en-US" altLang="zh-CN" dirty="0" err="1"/>
              <a:t>tpmclient.int.c</a:t>
            </a:r>
            <a:r>
              <a:rPr lang="zh-CN" altLang="en-US" dirty="0"/>
              <a:t>）。</a:t>
            </a:r>
            <a:r>
              <a:rPr lang="en-US" altLang="zh-CN" dirty="0" err="1"/>
              <a:t>tpmclient</a:t>
            </a:r>
            <a:r>
              <a:rPr lang="zh-CN" altLang="en-US" dirty="0"/>
              <a:t>这个子目录下还包含了测试辅助代码。</a:t>
            </a:r>
            <a:r>
              <a:rPr lang="en-US" altLang="zh-CN" dirty="0" err="1"/>
              <a:t>simDriver</a:t>
            </a:r>
            <a:r>
              <a:rPr lang="zh-CN" altLang="en-US" dirty="0"/>
              <a:t>包含了用于和</a:t>
            </a:r>
            <a:r>
              <a:rPr lang="en-US" altLang="zh-CN" dirty="0"/>
              <a:t>TPM</a:t>
            </a:r>
            <a:r>
              <a:rPr lang="zh-CN" altLang="en-US" dirty="0"/>
              <a:t>模拟器通信的设备驱动。</a:t>
            </a:r>
            <a:r>
              <a:rPr lang="en-US" altLang="zh-CN" dirty="0" err="1"/>
              <a:t>resourceMgr</a:t>
            </a:r>
            <a:r>
              <a:rPr lang="zh-CN" altLang="en-US" dirty="0"/>
              <a:t>子目录包含了</a:t>
            </a:r>
            <a:r>
              <a:rPr lang="en-US" altLang="zh-CN" dirty="0"/>
              <a:t>RM</a:t>
            </a:r>
            <a:r>
              <a:rPr lang="zh-CN" altLang="en-US" dirty="0"/>
              <a:t>的示例代码。</a:t>
            </a:r>
            <a:r>
              <a:rPr lang="en-US" altLang="zh-CN" dirty="0"/>
              <a:t>sample</a:t>
            </a:r>
            <a:r>
              <a:rPr lang="zh-CN" altLang="en-US" dirty="0"/>
              <a:t>主要包含了应用层的代码，它主要有一下功能：维护会话状态信息，计算</a:t>
            </a:r>
            <a:r>
              <a:rPr lang="en-US" altLang="zh-CN" dirty="0"/>
              <a:t>HMAC</a:t>
            </a:r>
            <a:r>
              <a:rPr lang="zh-CN" altLang="en-US" dirty="0"/>
              <a:t>，密码学运算。（注：现在</a:t>
            </a:r>
            <a:r>
              <a:rPr lang="en-US" altLang="zh-CN" dirty="0" err="1"/>
              <a:t>simDriver</a:t>
            </a:r>
            <a:r>
              <a:rPr lang="en-US" altLang="zh-CN" dirty="0"/>
              <a:t>/</a:t>
            </a:r>
            <a:r>
              <a:rPr lang="en-US" altLang="zh-CN" dirty="0" err="1"/>
              <a:t>resourceMgr</a:t>
            </a:r>
            <a:r>
              <a:rPr lang="en-US" altLang="zh-CN" dirty="0"/>
              <a:t>/sample</a:t>
            </a:r>
            <a:r>
              <a:rPr lang="zh-CN" altLang="en-US" dirty="0"/>
              <a:t>目录已经不存在了，参考</a:t>
            </a:r>
            <a:r>
              <a:rPr lang="en-US" altLang="zh-CN" dirty="0"/>
              <a:t>tpm2-software</a:t>
            </a:r>
            <a:r>
              <a:rPr lang="zh-CN" altLang="en-US" dirty="0"/>
              <a:t>）</a:t>
            </a:r>
          </a:p>
        </p:txBody>
      </p:sp>
      <p:sp>
        <p:nvSpPr>
          <p:cNvPr id="4" name="灯片编号占位符 3">
            <a:extLst>
              <a:ext uri="{FF2B5EF4-FFF2-40B4-BE49-F238E27FC236}">
                <a16:creationId xmlns:a16="http://schemas.microsoft.com/office/drawing/2014/main" id="{0D6026E9-D0C0-455F-A772-86F342FA6B0D}"/>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45</a:t>
            </a:fld>
            <a:endParaRPr lang="en-US" altLang="zh-CN"/>
          </a:p>
        </p:txBody>
      </p:sp>
    </p:spTree>
    <p:extLst>
      <p:ext uri="{BB962C8B-B14F-4D97-AF65-F5344CB8AC3E}">
        <p14:creationId xmlns:p14="http://schemas.microsoft.com/office/powerpoint/2010/main" val="368515340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ADF73D-76A2-4D59-948D-684EF5A07428}"/>
              </a:ext>
            </a:extLst>
          </p:cNvPr>
          <p:cNvSpPr>
            <a:spLocks noGrp="1"/>
          </p:cNvSpPr>
          <p:nvPr>
            <p:ph type="title"/>
          </p:nvPr>
        </p:nvSpPr>
        <p:spPr/>
        <p:txBody>
          <a:bodyPr/>
          <a:lstStyle/>
          <a:p>
            <a:r>
              <a:rPr lang="en-US" altLang="zh-CN" dirty="0"/>
              <a:t>SAPI</a:t>
            </a:r>
            <a:r>
              <a:rPr lang="zh-CN" altLang="en-US" dirty="0"/>
              <a:t>测试代码</a:t>
            </a:r>
          </a:p>
        </p:txBody>
      </p:sp>
      <p:sp>
        <p:nvSpPr>
          <p:cNvPr id="3" name="内容占位符 2">
            <a:extLst>
              <a:ext uri="{FF2B5EF4-FFF2-40B4-BE49-F238E27FC236}">
                <a16:creationId xmlns:a16="http://schemas.microsoft.com/office/drawing/2014/main" id="{D19F173E-A85A-46F0-82E3-671565565858}"/>
              </a:ext>
            </a:extLst>
          </p:cNvPr>
          <p:cNvSpPr>
            <a:spLocks noGrp="1"/>
          </p:cNvSpPr>
          <p:nvPr>
            <p:ph idx="1"/>
          </p:nvPr>
        </p:nvSpPr>
        <p:spPr/>
        <p:txBody>
          <a:bodyPr/>
          <a:lstStyle/>
          <a:p>
            <a:pPr algn="just"/>
            <a:r>
              <a:rPr lang="en-US" altLang="zh-CN" dirty="0"/>
              <a:t>SAPI</a:t>
            </a:r>
            <a:r>
              <a:rPr lang="zh-CN" altLang="en-US" dirty="0"/>
              <a:t>测试代码的主要设计原则是使用</a:t>
            </a:r>
            <a:r>
              <a:rPr lang="en-US" altLang="zh-CN" dirty="0"/>
              <a:t>TPM</a:t>
            </a:r>
            <a:r>
              <a:rPr lang="zh-CN" altLang="en-US" dirty="0"/>
              <a:t>设备本身来做密码学运算。所以不需要使用外部的密码算法库如</a:t>
            </a:r>
            <a:r>
              <a:rPr lang="en-US" altLang="zh-CN" dirty="0"/>
              <a:t>OpenSSL</a:t>
            </a:r>
            <a:r>
              <a:rPr lang="zh-CN" altLang="en-US" dirty="0"/>
              <a:t>。这样做的好处有两点：首先，通过调用</a:t>
            </a:r>
            <a:r>
              <a:rPr lang="en-US" altLang="zh-CN" dirty="0"/>
              <a:t>TPM</a:t>
            </a:r>
            <a:r>
              <a:rPr lang="zh-CN" altLang="en-US" dirty="0"/>
              <a:t>的密码学命令可以增加</a:t>
            </a:r>
            <a:r>
              <a:rPr lang="en-US" altLang="zh-CN" dirty="0"/>
              <a:t>SAPI</a:t>
            </a:r>
            <a:r>
              <a:rPr lang="zh-CN" altLang="en-US" dirty="0"/>
              <a:t>测试代码的覆盖率。第二，测试应用可以作为一个相对独立的应用，不需要以来外部的软件库。另外其实还有第三个好处：应用软件的开发者可以从</a:t>
            </a:r>
            <a:r>
              <a:rPr lang="en-US" altLang="zh-CN" dirty="0"/>
              <a:t>SAPI</a:t>
            </a:r>
            <a:r>
              <a:rPr lang="zh-CN" altLang="en-US" dirty="0"/>
              <a:t>的测试代码开始：可以在测试代码中找到一个你想用的命令作为参考，这将大大加速开发者的软件开发进度。</a:t>
            </a:r>
          </a:p>
          <a:p>
            <a:endParaRPr lang="zh-CN" altLang="en-US" dirty="0"/>
          </a:p>
          <a:p>
            <a:pPr algn="just"/>
            <a:r>
              <a:rPr lang="en-US" altLang="zh-CN" dirty="0"/>
              <a:t>SAPI</a:t>
            </a:r>
            <a:r>
              <a:rPr lang="zh-CN" altLang="en-US" dirty="0"/>
              <a:t>的测试代码还使用了</a:t>
            </a:r>
            <a:r>
              <a:rPr lang="en-US" altLang="zh-CN" dirty="0"/>
              <a:t>TSS</a:t>
            </a:r>
            <a:r>
              <a:rPr lang="zh-CN" altLang="en-US" dirty="0"/>
              <a:t>软件栈的其他部分来做测试：</a:t>
            </a:r>
            <a:r>
              <a:rPr lang="en-US" altLang="zh-CN" dirty="0"/>
              <a:t>TCTI</a:t>
            </a:r>
            <a:r>
              <a:rPr lang="zh-CN" altLang="en-US" dirty="0"/>
              <a:t>，</a:t>
            </a:r>
            <a:r>
              <a:rPr lang="en-US" altLang="zh-CN" dirty="0"/>
              <a:t>TAB</a:t>
            </a:r>
            <a:r>
              <a:rPr lang="zh-CN" altLang="en-US" dirty="0"/>
              <a:t>，和</a:t>
            </a:r>
            <a:r>
              <a:rPr lang="en-US" altLang="zh-CN" dirty="0"/>
              <a:t>RM</a:t>
            </a:r>
            <a:r>
              <a:rPr lang="zh-CN" altLang="en-US" dirty="0"/>
              <a:t>。因为</a:t>
            </a:r>
            <a:r>
              <a:rPr lang="en-US" altLang="zh-CN" dirty="0"/>
              <a:t>SAPI</a:t>
            </a:r>
            <a:r>
              <a:rPr lang="zh-CN" altLang="en-US" dirty="0"/>
              <a:t>使用</a:t>
            </a:r>
            <a:r>
              <a:rPr lang="en-US" altLang="zh-CN" dirty="0"/>
              <a:t>TCTI</a:t>
            </a:r>
            <a:r>
              <a:rPr lang="zh-CN" altLang="en-US" dirty="0"/>
              <a:t>向</a:t>
            </a:r>
            <a:r>
              <a:rPr lang="en-US" altLang="zh-CN" dirty="0"/>
              <a:t>TAB</a:t>
            </a:r>
            <a:r>
              <a:rPr lang="zh-CN" altLang="en-US" dirty="0"/>
              <a:t>发送命令。</a:t>
            </a:r>
          </a:p>
        </p:txBody>
      </p:sp>
      <p:sp>
        <p:nvSpPr>
          <p:cNvPr id="4" name="灯片编号占位符 3">
            <a:extLst>
              <a:ext uri="{FF2B5EF4-FFF2-40B4-BE49-F238E27FC236}">
                <a16:creationId xmlns:a16="http://schemas.microsoft.com/office/drawing/2014/main" id="{A253DED0-B3CC-4E71-BFDA-272971FCB3A4}"/>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46</a:t>
            </a:fld>
            <a:endParaRPr lang="en-US" altLang="zh-CN"/>
          </a:p>
        </p:txBody>
      </p:sp>
    </p:spTree>
    <p:extLst>
      <p:ext uri="{BB962C8B-B14F-4D97-AF65-F5344CB8AC3E}">
        <p14:creationId xmlns:p14="http://schemas.microsoft.com/office/powerpoint/2010/main" val="71396232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22D72C-03ED-46D2-8A1A-53462F14C7DB}"/>
              </a:ext>
            </a:extLst>
          </p:cNvPr>
          <p:cNvSpPr>
            <a:spLocks noGrp="1"/>
          </p:cNvSpPr>
          <p:nvPr>
            <p:ph type="title"/>
          </p:nvPr>
        </p:nvSpPr>
        <p:spPr/>
        <p:txBody>
          <a:bodyPr/>
          <a:lstStyle/>
          <a:p>
            <a:r>
              <a:rPr lang="en-US" altLang="zh-CN" dirty="0"/>
              <a:t>3</a:t>
            </a:r>
            <a:r>
              <a:rPr lang="zh-CN" altLang="en-US" dirty="0"/>
              <a:t>、</a:t>
            </a:r>
            <a:r>
              <a:rPr lang="en-US" altLang="zh-CN" dirty="0"/>
              <a:t>TPM TSS TCTI</a:t>
            </a:r>
            <a:endParaRPr lang="zh-CN" altLang="en-US" dirty="0"/>
          </a:p>
        </p:txBody>
      </p:sp>
      <p:sp>
        <p:nvSpPr>
          <p:cNvPr id="3" name="内容占位符 2">
            <a:extLst>
              <a:ext uri="{FF2B5EF4-FFF2-40B4-BE49-F238E27FC236}">
                <a16:creationId xmlns:a16="http://schemas.microsoft.com/office/drawing/2014/main" id="{4DE47D11-609C-4FEE-BD6C-2982036D5272}"/>
              </a:ext>
            </a:extLst>
          </p:cNvPr>
          <p:cNvSpPr>
            <a:spLocks noGrp="1"/>
          </p:cNvSpPr>
          <p:nvPr>
            <p:ph idx="1"/>
          </p:nvPr>
        </p:nvSpPr>
        <p:spPr>
          <a:xfrm>
            <a:off x="304800" y="1143000"/>
            <a:ext cx="8534400" cy="5410200"/>
          </a:xfrm>
        </p:spPr>
        <p:txBody>
          <a:bodyPr/>
          <a:lstStyle/>
          <a:p>
            <a:pPr algn="just"/>
            <a:r>
              <a:rPr lang="zh-CN" altLang="en-US" sz="2400" dirty="0"/>
              <a:t>前面我们已经分析了</a:t>
            </a:r>
            <a:r>
              <a:rPr lang="en-US" altLang="zh-CN" sz="2400" dirty="0"/>
              <a:t>SAPI</a:t>
            </a:r>
            <a:r>
              <a:rPr lang="zh-CN" altLang="en-US" sz="2400" dirty="0"/>
              <a:t>的函数，但是仍需要解决的疑问是，命令的数据流究竟是怎样被发送到</a:t>
            </a:r>
            <a:r>
              <a:rPr lang="en-US" altLang="zh-CN" sz="2400" dirty="0"/>
              <a:t>TPM</a:t>
            </a:r>
            <a:r>
              <a:rPr lang="zh-CN" altLang="en-US" sz="2400" dirty="0"/>
              <a:t>设备的，应用程序又是如何从</a:t>
            </a:r>
            <a:r>
              <a:rPr lang="en-US" altLang="zh-CN" sz="2400" dirty="0"/>
              <a:t>TPM</a:t>
            </a:r>
            <a:r>
              <a:rPr lang="zh-CN" altLang="en-US" sz="2400" dirty="0"/>
              <a:t>设备接收命令响应数据的。答案就是</a:t>
            </a:r>
            <a:r>
              <a:rPr lang="en-US" altLang="zh-CN" sz="2400" dirty="0"/>
              <a:t>TPM</a:t>
            </a:r>
            <a:r>
              <a:rPr lang="zh-CN" altLang="en-US" sz="2400" dirty="0"/>
              <a:t>命令传输接口（</a:t>
            </a:r>
            <a:r>
              <a:rPr lang="en-US" altLang="zh-CN" sz="2400" dirty="0"/>
              <a:t>TCTI</a:t>
            </a:r>
            <a:r>
              <a:rPr lang="zh-CN" altLang="en-US" sz="2400" dirty="0"/>
              <a:t>）。在</a:t>
            </a:r>
            <a:r>
              <a:rPr lang="en-US" altLang="zh-CN" sz="2400" dirty="0">
                <a:solidFill>
                  <a:srgbClr val="FF0000"/>
                </a:solidFill>
              </a:rPr>
              <a:t>Tss2_Sys_Initialize</a:t>
            </a:r>
            <a:r>
              <a:rPr lang="zh-CN" altLang="en-US" sz="2400" dirty="0">
                <a:solidFill>
                  <a:srgbClr val="FF0000"/>
                </a:solidFill>
              </a:rPr>
              <a:t>函数</a:t>
            </a:r>
            <a:r>
              <a:rPr lang="zh-CN" altLang="en-US" sz="2400" dirty="0"/>
              <a:t>的介绍中简单提到过这个问题。其中</a:t>
            </a:r>
            <a:r>
              <a:rPr lang="en-US" altLang="zh-CN" sz="2400" dirty="0">
                <a:solidFill>
                  <a:srgbClr val="FF0000"/>
                </a:solidFill>
              </a:rPr>
              <a:t>Tss2_Sys_Initialize</a:t>
            </a:r>
            <a:r>
              <a:rPr lang="zh-CN" altLang="en-US" sz="2400" dirty="0"/>
              <a:t>接收一个</a:t>
            </a:r>
            <a:r>
              <a:rPr lang="en-US" altLang="zh-CN" sz="2400" dirty="0">
                <a:solidFill>
                  <a:srgbClr val="FF0000"/>
                </a:solidFill>
              </a:rPr>
              <a:t>TCTI</a:t>
            </a:r>
            <a:r>
              <a:rPr lang="zh-CN" altLang="en-US" sz="2400" dirty="0"/>
              <a:t>上下文结构体作为它的第一个参数。</a:t>
            </a:r>
            <a:endParaRPr lang="en-US" altLang="zh-CN" sz="2400" dirty="0"/>
          </a:p>
          <a:p>
            <a:pPr algn="just"/>
            <a:endParaRPr lang="en-US" altLang="zh-CN" sz="2400" dirty="0"/>
          </a:p>
          <a:p>
            <a:pPr algn="just"/>
            <a:r>
              <a:rPr lang="en-US" altLang="zh-CN" sz="2400" dirty="0"/>
              <a:t>TCTI</a:t>
            </a:r>
            <a:r>
              <a:rPr lang="zh-CN" altLang="en-US" sz="2400" dirty="0"/>
              <a:t>上下文结构体用于指示</a:t>
            </a:r>
            <a:r>
              <a:rPr lang="en-US" altLang="zh-CN" sz="2400" dirty="0"/>
              <a:t>SAPI</a:t>
            </a:r>
            <a:r>
              <a:rPr lang="zh-CN" altLang="en-US" sz="2400" dirty="0"/>
              <a:t>函数如何与</a:t>
            </a:r>
            <a:r>
              <a:rPr lang="en-US" altLang="zh-CN" sz="2400" dirty="0"/>
              <a:t>TPM</a:t>
            </a:r>
            <a:r>
              <a:rPr lang="zh-CN" altLang="en-US" sz="2400" dirty="0"/>
              <a:t>设备通信。这个结构体包含了</a:t>
            </a:r>
            <a:r>
              <a:rPr lang="en-US" altLang="zh-CN" sz="2400" dirty="0"/>
              <a:t>TCTI</a:t>
            </a:r>
            <a:r>
              <a:rPr lang="zh-CN" altLang="en-US" sz="2400" dirty="0"/>
              <a:t>最重要的两个函数的指针，</a:t>
            </a:r>
            <a:r>
              <a:rPr lang="en-US" altLang="zh-CN" sz="2400" dirty="0">
                <a:solidFill>
                  <a:srgbClr val="FF0000"/>
                </a:solidFill>
              </a:rPr>
              <a:t>transmit</a:t>
            </a:r>
            <a:r>
              <a:rPr lang="zh-CN" altLang="en-US" sz="2400" dirty="0"/>
              <a:t>和</a:t>
            </a:r>
            <a:r>
              <a:rPr lang="en-US" altLang="zh-CN" sz="2400" dirty="0">
                <a:solidFill>
                  <a:srgbClr val="FF0000"/>
                </a:solidFill>
              </a:rPr>
              <a:t>receive</a:t>
            </a:r>
            <a:r>
              <a:rPr lang="zh-CN" altLang="en-US" sz="2400" dirty="0"/>
              <a:t>；以及相对较少使用的</a:t>
            </a:r>
            <a:r>
              <a:rPr lang="en-US" altLang="zh-CN" sz="2400" dirty="0">
                <a:solidFill>
                  <a:srgbClr val="FF0000"/>
                </a:solidFill>
              </a:rPr>
              <a:t>cancel</a:t>
            </a:r>
            <a:r>
              <a:rPr lang="zh-CN" altLang="en-US" sz="2400" dirty="0"/>
              <a:t>，</a:t>
            </a:r>
            <a:r>
              <a:rPr lang="en-US" altLang="zh-CN" sz="2400" dirty="0" err="1">
                <a:solidFill>
                  <a:srgbClr val="FF0000"/>
                </a:solidFill>
              </a:rPr>
              <a:t>setLocality</a:t>
            </a:r>
            <a:r>
              <a:rPr lang="zh-CN" altLang="en-US" sz="2400" dirty="0"/>
              <a:t>，和其他函数的指针。如果一个应用程序需要和多个</a:t>
            </a:r>
            <a:r>
              <a:rPr lang="en-US" altLang="zh-CN" sz="2400" dirty="0"/>
              <a:t>TPM</a:t>
            </a:r>
            <a:r>
              <a:rPr lang="zh-CN" altLang="en-US" sz="2400" dirty="0"/>
              <a:t>通信，它可以创建多个</a:t>
            </a:r>
            <a:r>
              <a:rPr lang="en-US" altLang="zh-CN" sz="2400" dirty="0"/>
              <a:t>TCTI</a:t>
            </a:r>
            <a:r>
              <a:rPr lang="zh-CN" altLang="en-US" sz="2400" dirty="0"/>
              <a:t>上下文，然后设置好相应与</a:t>
            </a:r>
            <a:r>
              <a:rPr lang="en-US" altLang="zh-CN" sz="2400" dirty="0"/>
              <a:t>TPM</a:t>
            </a:r>
            <a:r>
              <a:rPr lang="zh-CN" altLang="en-US" sz="2400" dirty="0"/>
              <a:t>通信的函数指针。</a:t>
            </a:r>
          </a:p>
        </p:txBody>
      </p:sp>
      <p:sp>
        <p:nvSpPr>
          <p:cNvPr id="4" name="灯片编号占位符 3">
            <a:extLst>
              <a:ext uri="{FF2B5EF4-FFF2-40B4-BE49-F238E27FC236}">
                <a16:creationId xmlns:a16="http://schemas.microsoft.com/office/drawing/2014/main" id="{C189C781-E383-491F-B8AA-3FAB1D4774C2}"/>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47</a:t>
            </a:fld>
            <a:endParaRPr lang="en-US" altLang="zh-CN"/>
          </a:p>
        </p:txBody>
      </p:sp>
    </p:spTree>
    <p:extLst>
      <p:ext uri="{BB962C8B-B14F-4D97-AF65-F5344CB8AC3E}">
        <p14:creationId xmlns:p14="http://schemas.microsoft.com/office/powerpoint/2010/main" val="265704737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DB134A-7A61-457E-AE0C-12431C4E80C2}"/>
              </a:ext>
            </a:extLst>
          </p:cNvPr>
          <p:cNvSpPr>
            <a:spLocks noGrp="1"/>
          </p:cNvSpPr>
          <p:nvPr>
            <p:ph type="title"/>
          </p:nvPr>
        </p:nvSpPr>
        <p:spPr/>
        <p:txBody>
          <a:bodyPr/>
          <a:lstStyle/>
          <a:p>
            <a:r>
              <a:rPr lang="en-US" altLang="zh-CN" dirty="0"/>
              <a:t>3</a:t>
            </a:r>
            <a:r>
              <a:rPr lang="zh-CN" altLang="en-US" dirty="0"/>
              <a:t>、</a:t>
            </a:r>
            <a:r>
              <a:rPr lang="en-US" altLang="zh-CN" dirty="0"/>
              <a:t>TPM TSS TCTI</a:t>
            </a:r>
            <a:endParaRPr lang="zh-CN" altLang="en-US" dirty="0"/>
          </a:p>
        </p:txBody>
      </p:sp>
      <p:sp>
        <p:nvSpPr>
          <p:cNvPr id="3" name="内容占位符 2">
            <a:extLst>
              <a:ext uri="{FF2B5EF4-FFF2-40B4-BE49-F238E27FC236}">
                <a16:creationId xmlns:a16="http://schemas.microsoft.com/office/drawing/2014/main" id="{4457BC52-AAAE-49B2-AB36-3204CCD946BB}"/>
              </a:ext>
            </a:extLst>
          </p:cNvPr>
          <p:cNvSpPr>
            <a:spLocks noGrp="1"/>
          </p:cNvSpPr>
          <p:nvPr>
            <p:ph idx="1"/>
          </p:nvPr>
        </p:nvSpPr>
        <p:spPr/>
        <p:txBody>
          <a:bodyPr/>
          <a:lstStyle/>
          <a:p>
            <a:r>
              <a:rPr lang="en-US" altLang="zh-CN" dirty="0"/>
              <a:t>TCTI</a:t>
            </a:r>
            <a:r>
              <a:rPr lang="zh-CN" altLang="en-US" dirty="0"/>
              <a:t>上下文结构是进程和</a:t>
            </a:r>
            <a:r>
              <a:rPr lang="en-US" altLang="zh-CN" dirty="0"/>
              <a:t>TPM</a:t>
            </a:r>
            <a:r>
              <a:rPr lang="zh-CN" altLang="en-US" dirty="0"/>
              <a:t>相关的数据结构，初始化代码负责配置这个数据结构。具体来说，它可以在编译时初始化，也在在</a:t>
            </a:r>
            <a:r>
              <a:rPr lang="en-US" altLang="zh-CN" dirty="0"/>
              <a:t>OS</a:t>
            </a:r>
            <a:r>
              <a:rPr lang="zh-CN" altLang="en-US" dirty="0"/>
              <a:t>启动时动态初始化。系统的一些进程必须可以发现</a:t>
            </a:r>
            <a:r>
              <a:rPr lang="en-US" altLang="zh-CN" dirty="0"/>
              <a:t>TPM</a:t>
            </a:r>
            <a:r>
              <a:rPr lang="zh-CN" altLang="en-US" dirty="0"/>
              <a:t>设备或者是提前知道远程</a:t>
            </a:r>
            <a:r>
              <a:rPr lang="en-US" altLang="zh-CN" dirty="0"/>
              <a:t>TPM</a:t>
            </a:r>
            <a:r>
              <a:rPr lang="zh-CN" altLang="en-US" dirty="0"/>
              <a:t>的相关信息，然后用相应用于通信的函数指针来初始化这个结构。发现设备和初始化的过程已经超出了</a:t>
            </a:r>
            <a:r>
              <a:rPr lang="en-US" altLang="zh-CN" dirty="0"/>
              <a:t>SAPI</a:t>
            </a:r>
            <a:r>
              <a:rPr lang="zh-CN" altLang="en-US" dirty="0"/>
              <a:t>和</a:t>
            </a:r>
            <a:r>
              <a:rPr lang="en-US" altLang="zh-CN" dirty="0"/>
              <a:t>TCTI</a:t>
            </a:r>
            <a:r>
              <a:rPr lang="zh-CN" altLang="en-US" dirty="0"/>
              <a:t>规范的范畴。</a:t>
            </a:r>
          </a:p>
          <a:p>
            <a:endParaRPr lang="zh-CN" altLang="en-US" dirty="0"/>
          </a:p>
          <a:p>
            <a:r>
              <a:rPr lang="zh-CN" altLang="en-US" dirty="0"/>
              <a:t>最常用也是必须有的两个函数指针是</a:t>
            </a:r>
            <a:r>
              <a:rPr lang="en-US" altLang="zh-CN" dirty="0"/>
              <a:t>transmit</a:t>
            </a:r>
            <a:r>
              <a:rPr lang="zh-CN" altLang="en-US" dirty="0"/>
              <a:t>和</a:t>
            </a:r>
            <a:r>
              <a:rPr lang="en-US" altLang="zh-CN" dirty="0"/>
              <a:t>receive</a:t>
            </a:r>
            <a:r>
              <a:rPr lang="zh-CN" altLang="en-US" dirty="0"/>
              <a:t>，它们完成你期望的事情，发送和接受数据。这两个函数都接收一个缓冲区指针和大小作为参数。当</a:t>
            </a:r>
            <a:r>
              <a:rPr lang="en-US" altLang="zh-CN" dirty="0"/>
              <a:t>SAPI</a:t>
            </a:r>
            <a:r>
              <a:rPr lang="zh-CN" altLang="en-US" dirty="0"/>
              <a:t>函数准备好发送和接受时就会调用相应的函数，它们会正确地完成该做的任务。</a:t>
            </a:r>
          </a:p>
        </p:txBody>
      </p:sp>
      <p:sp>
        <p:nvSpPr>
          <p:cNvPr id="4" name="灯片编号占位符 3">
            <a:extLst>
              <a:ext uri="{FF2B5EF4-FFF2-40B4-BE49-F238E27FC236}">
                <a16:creationId xmlns:a16="http://schemas.microsoft.com/office/drawing/2014/main" id="{4FFA90CA-33F2-4014-B0E7-ECE63D447069}"/>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48</a:t>
            </a:fld>
            <a:endParaRPr lang="en-US" altLang="zh-CN"/>
          </a:p>
        </p:txBody>
      </p:sp>
    </p:spTree>
    <p:extLst>
      <p:ext uri="{BB962C8B-B14F-4D97-AF65-F5344CB8AC3E}">
        <p14:creationId xmlns:p14="http://schemas.microsoft.com/office/powerpoint/2010/main" val="264065357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F166BC-5FBD-4545-A64B-398CB49241F9}"/>
              </a:ext>
            </a:extLst>
          </p:cNvPr>
          <p:cNvSpPr>
            <a:spLocks noGrp="1"/>
          </p:cNvSpPr>
          <p:nvPr>
            <p:ph type="title"/>
          </p:nvPr>
        </p:nvSpPr>
        <p:spPr/>
        <p:txBody>
          <a:bodyPr/>
          <a:lstStyle/>
          <a:p>
            <a:r>
              <a:rPr lang="en-US" altLang="zh-CN" dirty="0"/>
              <a:t>3</a:t>
            </a:r>
            <a:r>
              <a:rPr lang="zh-CN" altLang="en-US" dirty="0"/>
              <a:t>、</a:t>
            </a:r>
            <a:r>
              <a:rPr lang="en-US" altLang="zh-CN" dirty="0"/>
              <a:t>TPM TSS TCTI</a:t>
            </a:r>
            <a:endParaRPr lang="zh-CN" altLang="en-US" dirty="0"/>
          </a:p>
        </p:txBody>
      </p:sp>
      <p:sp>
        <p:nvSpPr>
          <p:cNvPr id="3" name="内容占位符 2">
            <a:extLst>
              <a:ext uri="{FF2B5EF4-FFF2-40B4-BE49-F238E27FC236}">
                <a16:creationId xmlns:a16="http://schemas.microsoft.com/office/drawing/2014/main" id="{4257EF67-CB1F-45B6-A612-313C8DEB72E9}"/>
              </a:ext>
            </a:extLst>
          </p:cNvPr>
          <p:cNvSpPr>
            <a:spLocks noGrp="1"/>
          </p:cNvSpPr>
          <p:nvPr>
            <p:ph idx="1"/>
          </p:nvPr>
        </p:nvSpPr>
        <p:spPr/>
        <p:txBody>
          <a:bodyPr/>
          <a:lstStyle/>
          <a:p>
            <a:r>
              <a:rPr lang="en-US" altLang="zh-CN" dirty="0"/>
              <a:t>cancel</a:t>
            </a:r>
            <a:r>
              <a:rPr lang="zh-CN" altLang="en-US" dirty="0"/>
              <a:t>函数用于支持</a:t>
            </a:r>
            <a:r>
              <a:rPr lang="en-US" altLang="zh-CN" dirty="0"/>
              <a:t>TPM2.0</a:t>
            </a:r>
            <a:r>
              <a:rPr lang="zh-CN" altLang="en-US" dirty="0"/>
              <a:t>的新功能：在命令发送到</a:t>
            </a:r>
            <a:r>
              <a:rPr lang="en-US" altLang="zh-CN" dirty="0"/>
              <a:t>TPM</a:t>
            </a:r>
            <a:r>
              <a:rPr lang="zh-CN" altLang="en-US" dirty="0"/>
              <a:t>之后可以取消命令的执行。这个功能可以让一些耗时的命令中途被取消。比如说，在一些</a:t>
            </a:r>
            <a:r>
              <a:rPr lang="en-US" altLang="zh-CN" dirty="0"/>
              <a:t>TPM</a:t>
            </a:r>
            <a:r>
              <a:rPr lang="zh-CN" altLang="en-US" dirty="0"/>
              <a:t>设备上生成秘钥有可能花费超过</a:t>
            </a:r>
            <a:r>
              <a:rPr lang="en-US" altLang="zh-CN" dirty="0"/>
              <a:t>90</a:t>
            </a:r>
            <a:r>
              <a:rPr lang="zh-CN" altLang="en-US" dirty="0"/>
              <a:t>秒的时间。如果在此期间系统因为响应用户操作需要进入睡眠，系统在执行睡眠操作之前可以通过这个命令取消</a:t>
            </a:r>
            <a:r>
              <a:rPr lang="en-US" altLang="zh-CN" dirty="0"/>
              <a:t>TPM</a:t>
            </a:r>
            <a:r>
              <a:rPr lang="zh-CN" altLang="en-US" dirty="0"/>
              <a:t>操作，从而使系统合理的处理当前的状态然后进入睡眠。</a:t>
            </a:r>
          </a:p>
          <a:p>
            <a:endParaRPr lang="zh-CN" altLang="en-US" dirty="0"/>
          </a:p>
          <a:p>
            <a:r>
              <a:rPr lang="en-US" altLang="zh-CN" dirty="0" err="1"/>
              <a:t>getPollHandles</a:t>
            </a:r>
            <a:r>
              <a:rPr lang="zh-CN" altLang="en-US" dirty="0"/>
              <a:t>这个函数指针用于</a:t>
            </a:r>
            <a:r>
              <a:rPr lang="en-US" altLang="zh-CN" dirty="0"/>
              <a:t>SAPI</a:t>
            </a:r>
            <a:r>
              <a:rPr lang="zh-CN" altLang="en-US" dirty="0"/>
              <a:t>使用异步方式发送和接收命令数据时，也就是执行</a:t>
            </a:r>
            <a:r>
              <a:rPr lang="en-US" altLang="zh-CN" dirty="0"/>
              <a:t>Tss2_Sys_ExecuteAsync</a:t>
            </a:r>
            <a:r>
              <a:rPr lang="zh-CN" altLang="en-US" dirty="0"/>
              <a:t>和</a:t>
            </a:r>
            <a:r>
              <a:rPr lang="en-US" altLang="zh-CN" dirty="0"/>
              <a:t>Tss2_Sys_ExecuteFinish</a:t>
            </a:r>
            <a:r>
              <a:rPr lang="zh-CN" altLang="en-US" dirty="0"/>
              <a:t>时。这个函数的实现与系统相关，它可以用于等待接收命令响应时机。</a:t>
            </a:r>
          </a:p>
          <a:p>
            <a:endParaRPr lang="zh-CN" altLang="en-US" dirty="0"/>
          </a:p>
          <a:p>
            <a:r>
              <a:rPr lang="zh-CN" altLang="en-US" dirty="0"/>
              <a:t>最后一个要介绍的函数指针是</a:t>
            </a:r>
            <a:r>
              <a:rPr lang="en-US" altLang="zh-CN" dirty="0"/>
              <a:t>finalize</a:t>
            </a:r>
            <a:r>
              <a:rPr lang="zh-CN" altLang="en-US" dirty="0"/>
              <a:t>，它用于在</a:t>
            </a:r>
            <a:r>
              <a:rPr lang="en-US" altLang="zh-CN" dirty="0"/>
              <a:t>TCTI</a:t>
            </a:r>
            <a:r>
              <a:rPr lang="zh-CN" altLang="en-US" dirty="0"/>
              <a:t>连接中断之前做一些清理工作。</a:t>
            </a:r>
            <a:r>
              <a:rPr lang="en-US" altLang="zh-CN" dirty="0"/>
              <a:t>TCTI</a:t>
            </a:r>
            <a:r>
              <a:rPr lang="zh-CN" altLang="en-US" dirty="0"/>
              <a:t>可以应用于</a:t>
            </a:r>
            <a:r>
              <a:rPr lang="en-US" altLang="zh-CN" dirty="0"/>
              <a:t>TPM</a:t>
            </a:r>
            <a:r>
              <a:rPr lang="zh-CN" altLang="en-US" dirty="0"/>
              <a:t>软件栈中任何标准化的数据流发送和接收的地方。当前的做法是，它可以出现在两个地方：在</a:t>
            </a:r>
            <a:r>
              <a:rPr lang="en-US" altLang="zh-CN" dirty="0"/>
              <a:t>SAPI</a:t>
            </a:r>
            <a:r>
              <a:rPr lang="zh-CN" altLang="en-US" dirty="0"/>
              <a:t>和</a:t>
            </a:r>
            <a:r>
              <a:rPr lang="en-US" altLang="zh-CN" dirty="0"/>
              <a:t>TAB</a:t>
            </a:r>
            <a:r>
              <a:rPr lang="zh-CN" altLang="en-US" dirty="0"/>
              <a:t>之间，或者</a:t>
            </a:r>
            <a:r>
              <a:rPr lang="en-US" altLang="zh-CN" dirty="0"/>
              <a:t>RM</a:t>
            </a:r>
            <a:r>
              <a:rPr lang="zh-CN" altLang="en-US" dirty="0"/>
              <a:t>和设备驱动之间。</a:t>
            </a:r>
          </a:p>
        </p:txBody>
      </p:sp>
      <p:sp>
        <p:nvSpPr>
          <p:cNvPr id="4" name="灯片编号占位符 3">
            <a:extLst>
              <a:ext uri="{FF2B5EF4-FFF2-40B4-BE49-F238E27FC236}">
                <a16:creationId xmlns:a16="http://schemas.microsoft.com/office/drawing/2014/main" id="{6841578D-AFAE-48CE-9582-76649F81C505}"/>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49</a:t>
            </a:fld>
            <a:endParaRPr lang="en-US" altLang="zh-CN"/>
          </a:p>
        </p:txBody>
      </p:sp>
    </p:spTree>
    <p:extLst>
      <p:ext uri="{BB962C8B-B14F-4D97-AF65-F5344CB8AC3E}">
        <p14:creationId xmlns:p14="http://schemas.microsoft.com/office/powerpoint/2010/main" val="348572015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2B0356-0E40-42AD-9009-C88494A16A30}"/>
              </a:ext>
            </a:extLst>
          </p:cNvPr>
          <p:cNvSpPr>
            <a:spLocks noGrp="1"/>
          </p:cNvSpPr>
          <p:nvPr>
            <p:ph type="title"/>
          </p:nvPr>
        </p:nvSpPr>
        <p:spPr>
          <a:xfrm>
            <a:off x="140677" y="228600"/>
            <a:ext cx="8296656" cy="639763"/>
          </a:xfrm>
        </p:spPr>
        <p:txBody>
          <a:bodyPr/>
          <a:lstStyle/>
          <a:p>
            <a:r>
              <a:rPr lang="en-US" altLang="zh-CN" dirty="0"/>
              <a:t>4</a:t>
            </a:r>
            <a:r>
              <a:rPr lang="zh-CN" altLang="en-US" dirty="0"/>
              <a:t>、</a:t>
            </a:r>
            <a:r>
              <a:rPr lang="en-US" altLang="zh-CN" dirty="0"/>
              <a:t>TPM</a:t>
            </a:r>
            <a:r>
              <a:rPr lang="zh-CN" altLang="en-US" dirty="0"/>
              <a:t>访问代理（</a:t>
            </a:r>
            <a:r>
              <a:rPr lang="en-US" altLang="zh-CN" dirty="0"/>
              <a:t>TPM Access Broker</a:t>
            </a:r>
            <a:r>
              <a:rPr lang="zh-CN" altLang="en-US" dirty="0"/>
              <a:t>）</a:t>
            </a:r>
          </a:p>
        </p:txBody>
      </p:sp>
      <p:sp>
        <p:nvSpPr>
          <p:cNvPr id="3" name="内容占位符 2">
            <a:extLst>
              <a:ext uri="{FF2B5EF4-FFF2-40B4-BE49-F238E27FC236}">
                <a16:creationId xmlns:a16="http://schemas.microsoft.com/office/drawing/2014/main" id="{A6DDB6F8-6686-48F6-8FA0-DE8B4776B6CA}"/>
              </a:ext>
            </a:extLst>
          </p:cNvPr>
          <p:cNvSpPr>
            <a:spLocks noGrp="1"/>
          </p:cNvSpPr>
          <p:nvPr>
            <p:ph idx="1"/>
          </p:nvPr>
        </p:nvSpPr>
        <p:spPr/>
        <p:txBody>
          <a:bodyPr/>
          <a:lstStyle/>
          <a:p>
            <a:r>
              <a:rPr lang="en-US" altLang="zh-CN" dirty="0"/>
              <a:t>TAB</a:t>
            </a:r>
            <a:r>
              <a:rPr lang="zh-CN" altLang="en-US" dirty="0"/>
              <a:t>用于多个进程共享一个</a:t>
            </a:r>
            <a:r>
              <a:rPr lang="en-US" altLang="zh-CN" dirty="0"/>
              <a:t>TPM</a:t>
            </a:r>
            <a:r>
              <a:rPr lang="zh-CN" altLang="en-US" dirty="0"/>
              <a:t>时的控制和同步操作。当一个进程在发送和接收数据时，其他的进程不能访问</a:t>
            </a:r>
            <a:r>
              <a:rPr lang="en-US" altLang="zh-CN" dirty="0"/>
              <a:t>TPM</a:t>
            </a:r>
            <a:r>
              <a:rPr lang="zh-CN" altLang="en-US" dirty="0"/>
              <a:t>。这是</a:t>
            </a:r>
            <a:r>
              <a:rPr lang="en-US" altLang="zh-CN" dirty="0"/>
              <a:t>TAB</a:t>
            </a:r>
            <a:r>
              <a:rPr lang="zh-CN" altLang="en-US" dirty="0"/>
              <a:t>主要的任务。</a:t>
            </a:r>
            <a:r>
              <a:rPr lang="en-US" altLang="zh-CN" dirty="0"/>
              <a:t>TAB</a:t>
            </a:r>
            <a:r>
              <a:rPr lang="zh-CN" altLang="en-US" dirty="0"/>
              <a:t>的另外一个任务是阻止进程访问不属于他的</a:t>
            </a:r>
            <a:r>
              <a:rPr lang="en-US" altLang="zh-CN" dirty="0"/>
              <a:t>TPM</a:t>
            </a:r>
            <a:r>
              <a:rPr lang="zh-CN" altLang="en-US" dirty="0"/>
              <a:t>会话，对象，以及哈希和事件的序列。资源的所有权在使用对应的</a:t>
            </a:r>
            <a:r>
              <a:rPr lang="en-US" altLang="zh-CN" dirty="0"/>
              <a:t>TCTI</a:t>
            </a:r>
            <a:r>
              <a:rPr lang="zh-CN" altLang="en-US" dirty="0"/>
              <a:t>连接加载对象，开启会话，或者启动一个事件序列的时候就确定了。</a:t>
            </a:r>
          </a:p>
          <a:p>
            <a:endParaRPr lang="zh-CN" altLang="en-US" dirty="0"/>
          </a:p>
          <a:p>
            <a:r>
              <a:rPr lang="zh-CN" altLang="en-US" dirty="0"/>
              <a:t>在大多数的实现中，</a:t>
            </a:r>
            <a:r>
              <a:rPr lang="en-US" altLang="zh-CN" dirty="0"/>
              <a:t>TAB</a:t>
            </a:r>
            <a:r>
              <a:rPr lang="zh-CN" altLang="en-US" dirty="0"/>
              <a:t>和</a:t>
            </a:r>
            <a:r>
              <a:rPr lang="en-US" altLang="zh-CN" dirty="0"/>
              <a:t>RM</a:t>
            </a:r>
            <a:r>
              <a:rPr lang="zh-CN" altLang="en-US" dirty="0"/>
              <a:t>是集成到一起组成一个软件模块。这样做的主要原因是，对</a:t>
            </a:r>
            <a:r>
              <a:rPr lang="en-US" altLang="zh-CN" dirty="0"/>
              <a:t>RM</a:t>
            </a:r>
            <a:r>
              <a:rPr lang="zh-CN" altLang="en-US" dirty="0"/>
              <a:t>做一些简单修改就可以完成一个典型的</a:t>
            </a:r>
            <a:r>
              <a:rPr lang="en-US" altLang="zh-CN" dirty="0"/>
              <a:t>TAB</a:t>
            </a:r>
            <a:r>
              <a:rPr lang="zh-CN" altLang="en-US" dirty="0"/>
              <a:t>实现。</a:t>
            </a:r>
          </a:p>
        </p:txBody>
      </p:sp>
      <p:sp>
        <p:nvSpPr>
          <p:cNvPr id="4" name="灯片编号占位符 3">
            <a:extLst>
              <a:ext uri="{FF2B5EF4-FFF2-40B4-BE49-F238E27FC236}">
                <a16:creationId xmlns:a16="http://schemas.microsoft.com/office/drawing/2014/main" id="{FBF7C1D7-58C5-423C-8BD3-5CCC1417A5B4}"/>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50</a:t>
            </a:fld>
            <a:endParaRPr lang="en-US" altLang="zh-CN"/>
          </a:p>
        </p:txBody>
      </p:sp>
    </p:spTree>
    <p:extLst>
      <p:ext uri="{BB962C8B-B14F-4D97-AF65-F5344CB8AC3E}">
        <p14:creationId xmlns:p14="http://schemas.microsoft.com/office/powerpoint/2010/main" val="109933445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BC12CB-C48D-468B-817C-4182C2524DD6}"/>
              </a:ext>
            </a:extLst>
          </p:cNvPr>
          <p:cNvSpPr>
            <a:spLocks noGrp="1"/>
          </p:cNvSpPr>
          <p:nvPr>
            <p:ph type="title"/>
          </p:nvPr>
        </p:nvSpPr>
        <p:spPr/>
        <p:txBody>
          <a:bodyPr/>
          <a:lstStyle/>
          <a:p>
            <a:r>
              <a:rPr lang="en-US" altLang="zh-CN" dirty="0"/>
              <a:t>5</a:t>
            </a:r>
            <a:r>
              <a:rPr lang="zh-CN" altLang="en-US" dirty="0"/>
              <a:t>、资源管理器</a:t>
            </a:r>
            <a:r>
              <a:rPr lang="en-US" altLang="zh-CN" dirty="0"/>
              <a:t>RM</a:t>
            </a:r>
            <a:endParaRPr lang="zh-CN" altLang="en-US" dirty="0"/>
          </a:p>
        </p:txBody>
      </p:sp>
      <p:sp>
        <p:nvSpPr>
          <p:cNvPr id="3" name="内容占位符 2">
            <a:extLst>
              <a:ext uri="{FF2B5EF4-FFF2-40B4-BE49-F238E27FC236}">
                <a16:creationId xmlns:a16="http://schemas.microsoft.com/office/drawing/2014/main" id="{CBD182D4-3FD0-4D2A-BAE7-1B2D413EADC8}"/>
              </a:ext>
            </a:extLst>
          </p:cNvPr>
          <p:cNvSpPr>
            <a:spLocks noGrp="1"/>
          </p:cNvSpPr>
          <p:nvPr>
            <p:ph idx="1"/>
          </p:nvPr>
        </p:nvSpPr>
        <p:spPr/>
        <p:txBody>
          <a:bodyPr/>
          <a:lstStyle/>
          <a:p>
            <a:pPr algn="just"/>
            <a:r>
              <a:rPr lang="en-US" altLang="zh-CN" dirty="0"/>
              <a:t>RM</a:t>
            </a:r>
            <a:r>
              <a:rPr lang="zh-CN" altLang="en-US" dirty="0"/>
              <a:t>的角色和操作系统中的虚拟内存管理器类似。因为</a:t>
            </a:r>
            <a:r>
              <a:rPr lang="en-US" altLang="zh-CN" dirty="0"/>
              <a:t>TPM</a:t>
            </a:r>
            <a:r>
              <a:rPr lang="zh-CN" altLang="en-US" dirty="0"/>
              <a:t>通常有非常有限的片上内存资源，所以对象，会话，和操作序列等资源必须换入换出</a:t>
            </a:r>
            <a:r>
              <a:rPr lang="en-US" altLang="zh-CN" dirty="0"/>
              <a:t>TPM</a:t>
            </a:r>
            <a:r>
              <a:rPr lang="zh-CN" altLang="en-US" dirty="0"/>
              <a:t>来保证命令的执行。一个</a:t>
            </a:r>
            <a:r>
              <a:rPr lang="en-US" altLang="zh-CN" dirty="0"/>
              <a:t>TPM</a:t>
            </a:r>
            <a:r>
              <a:rPr lang="zh-CN" altLang="en-US" dirty="0"/>
              <a:t>命令最多可以使用三个资源实体</a:t>
            </a:r>
            <a:r>
              <a:rPr lang="en-US" altLang="zh-CN" dirty="0"/>
              <a:t>handle</a:t>
            </a:r>
            <a:r>
              <a:rPr lang="zh-CN" altLang="en-US" dirty="0"/>
              <a:t>和三个会话</a:t>
            </a:r>
            <a:r>
              <a:rPr lang="en-US" altLang="zh-CN" dirty="0"/>
              <a:t>handle</a:t>
            </a:r>
            <a:r>
              <a:rPr lang="zh-CN" altLang="en-US" dirty="0"/>
              <a:t>。所有这些</a:t>
            </a:r>
            <a:r>
              <a:rPr lang="en-US" altLang="zh-CN" dirty="0"/>
              <a:t>handle</a:t>
            </a:r>
            <a:r>
              <a:rPr lang="zh-CN" altLang="en-US" dirty="0"/>
              <a:t>都需要在</a:t>
            </a:r>
            <a:r>
              <a:rPr lang="en-US" altLang="zh-CN" dirty="0"/>
              <a:t>TPM</a:t>
            </a:r>
            <a:r>
              <a:rPr lang="zh-CN" altLang="en-US" dirty="0"/>
              <a:t>内部的内存中，这样</a:t>
            </a:r>
            <a:r>
              <a:rPr lang="en-US" altLang="zh-CN" dirty="0"/>
              <a:t>TPM</a:t>
            </a:r>
            <a:r>
              <a:rPr lang="zh-CN" altLang="en-US" dirty="0"/>
              <a:t>命令才能够执行。</a:t>
            </a:r>
            <a:r>
              <a:rPr lang="en-US" altLang="zh-CN" dirty="0"/>
              <a:t>RM</a:t>
            </a:r>
            <a:r>
              <a:rPr lang="zh-CN" altLang="en-US" dirty="0"/>
              <a:t>的工作就是解析</a:t>
            </a:r>
            <a:r>
              <a:rPr lang="en-US" altLang="zh-CN" dirty="0"/>
              <a:t>TPM</a:t>
            </a:r>
            <a:r>
              <a:rPr lang="zh-CN" altLang="en-US" dirty="0"/>
              <a:t>命令数据流，决定哪些资源需要加载到</a:t>
            </a:r>
            <a:r>
              <a:rPr lang="en-US" altLang="zh-CN" dirty="0"/>
              <a:t>TPM</a:t>
            </a:r>
            <a:r>
              <a:rPr lang="zh-CN" altLang="en-US" dirty="0"/>
              <a:t>中，加载资源之前还要换出一些</a:t>
            </a:r>
            <a:r>
              <a:rPr lang="en-US" altLang="zh-CN" dirty="0"/>
              <a:t>TPM</a:t>
            </a:r>
            <a:r>
              <a:rPr lang="zh-CN" altLang="en-US" dirty="0"/>
              <a:t>资源为加载留出足够空间，然后加载所需的</a:t>
            </a:r>
            <a:r>
              <a:rPr lang="en-US" altLang="zh-CN" dirty="0"/>
              <a:t>TPM</a:t>
            </a:r>
            <a:r>
              <a:rPr lang="zh-CN" altLang="en-US" dirty="0"/>
              <a:t>资源。对于</a:t>
            </a:r>
            <a:r>
              <a:rPr lang="en-US" altLang="zh-CN" dirty="0"/>
              <a:t>TPM</a:t>
            </a:r>
            <a:r>
              <a:rPr lang="zh-CN" altLang="en-US" dirty="0"/>
              <a:t>对象和操作序列来说，因为它们在加载到</a:t>
            </a:r>
            <a:r>
              <a:rPr lang="en-US" altLang="zh-CN" dirty="0"/>
              <a:t>TPM</a:t>
            </a:r>
            <a:r>
              <a:rPr lang="zh-CN" altLang="en-US" dirty="0"/>
              <a:t>知道可能包含多个</a:t>
            </a:r>
            <a:r>
              <a:rPr lang="en-US" altLang="zh-CN" dirty="0"/>
              <a:t>handle</a:t>
            </a:r>
            <a:r>
              <a:rPr lang="zh-CN" altLang="en-US" dirty="0"/>
              <a:t>，</a:t>
            </a:r>
            <a:r>
              <a:rPr lang="en-US" altLang="zh-CN" dirty="0"/>
              <a:t>RM</a:t>
            </a:r>
            <a:r>
              <a:rPr lang="zh-CN" altLang="en-US" dirty="0"/>
              <a:t>需要将这些</a:t>
            </a:r>
            <a:r>
              <a:rPr lang="en-US" altLang="zh-CN" dirty="0"/>
              <a:t>handle</a:t>
            </a:r>
            <a:r>
              <a:rPr lang="zh-CN" altLang="en-US" dirty="0"/>
              <a:t>虚拟化之后再返回给调用者。（正是由于这个原因，授权信息的计算不包含</a:t>
            </a:r>
            <a:r>
              <a:rPr lang="en-US" altLang="zh-CN" dirty="0"/>
              <a:t>handle</a:t>
            </a:r>
            <a:r>
              <a:rPr lang="zh-CN" altLang="en-US" dirty="0"/>
              <a:t>信息，因为应用看到的是经过</a:t>
            </a:r>
            <a:r>
              <a:rPr lang="en-US" altLang="zh-CN" dirty="0"/>
              <a:t>RM</a:t>
            </a:r>
            <a:r>
              <a:rPr lang="zh-CN" altLang="en-US" dirty="0"/>
              <a:t>虚拟化的</a:t>
            </a:r>
            <a:r>
              <a:rPr lang="en-US" altLang="zh-CN" dirty="0"/>
              <a:t>handle</a:t>
            </a:r>
            <a:r>
              <a:rPr lang="zh-CN" altLang="en-US" dirty="0"/>
              <a:t>，而</a:t>
            </a:r>
            <a:r>
              <a:rPr lang="en-US" altLang="zh-CN" dirty="0"/>
              <a:t>TPM</a:t>
            </a:r>
            <a:r>
              <a:rPr lang="zh-CN" altLang="en-US" dirty="0"/>
              <a:t>则使用实际的</a:t>
            </a:r>
            <a:r>
              <a:rPr lang="en-US" altLang="zh-CN" dirty="0"/>
              <a:t>handle</a:t>
            </a:r>
            <a:r>
              <a:rPr lang="zh-CN" altLang="en-US" dirty="0"/>
              <a:t>，这样就会导致授权认证失败。）</a:t>
            </a:r>
          </a:p>
        </p:txBody>
      </p:sp>
      <p:sp>
        <p:nvSpPr>
          <p:cNvPr id="4" name="灯片编号占位符 3">
            <a:extLst>
              <a:ext uri="{FF2B5EF4-FFF2-40B4-BE49-F238E27FC236}">
                <a16:creationId xmlns:a16="http://schemas.microsoft.com/office/drawing/2014/main" id="{C44509C4-C4FD-4BF5-9852-7C9AF4B0EF56}"/>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51</a:t>
            </a:fld>
            <a:endParaRPr lang="en-US" altLang="zh-CN"/>
          </a:p>
        </p:txBody>
      </p:sp>
    </p:spTree>
    <p:extLst>
      <p:ext uri="{BB962C8B-B14F-4D97-AF65-F5344CB8AC3E}">
        <p14:creationId xmlns:p14="http://schemas.microsoft.com/office/powerpoint/2010/main" val="380540399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E799D9-34CB-4E10-A849-C7774F32C434}"/>
              </a:ext>
            </a:extLst>
          </p:cNvPr>
          <p:cNvSpPr>
            <a:spLocks noGrp="1"/>
          </p:cNvSpPr>
          <p:nvPr>
            <p:ph type="title"/>
          </p:nvPr>
        </p:nvSpPr>
        <p:spPr/>
        <p:txBody>
          <a:bodyPr/>
          <a:lstStyle/>
          <a:p>
            <a:r>
              <a:rPr lang="en-US" altLang="zh-CN" dirty="0"/>
              <a:t>5</a:t>
            </a:r>
            <a:r>
              <a:rPr lang="zh-CN" altLang="en-US" dirty="0"/>
              <a:t>、资源管理器</a:t>
            </a:r>
            <a:r>
              <a:rPr lang="en-US" altLang="zh-CN" dirty="0"/>
              <a:t>RM</a:t>
            </a:r>
            <a:endParaRPr lang="zh-CN" altLang="en-US" dirty="0"/>
          </a:p>
        </p:txBody>
      </p:sp>
      <p:sp>
        <p:nvSpPr>
          <p:cNvPr id="3" name="内容占位符 2">
            <a:extLst>
              <a:ext uri="{FF2B5EF4-FFF2-40B4-BE49-F238E27FC236}">
                <a16:creationId xmlns:a16="http://schemas.microsoft.com/office/drawing/2014/main" id="{CE80F6E5-37C8-4EE1-A013-5A4D098DACAA}"/>
              </a:ext>
            </a:extLst>
          </p:cNvPr>
          <p:cNvSpPr>
            <a:spLocks noGrp="1"/>
          </p:cNvSpPr>
          <p:nvPr>
            <p:ph idx="1"/>
          </p:nvPr>
        </p:nvSpPr>
        <p:spPr/>
        <p:txBody>
          <a:bodyPr/>
          <a:lstStyle/>
          <a:p>
            <a:pPr algn="just"/>
            <a:r>
              <a:rPr lang="en-US" altLang="zh-CN" dirty="0"/>
              <a:t>RM</a:t>
            </a:r>
            <a:r>
              <a:rPr lang="zh-CN" altLang="en-US" dirty="0"/>
              <a:t>和</a:t>
            </a:r>
            <a:r>
              <a:rPr lang="en-US" altLang="zh-CN" dirty="0"/>
              <a:t>TAB</a:t>
            </a:r>
            <a:r>
              <a:rPr lang="zh-CN" altLang="en-US" dirty="0"/>
              <a:t>通常组成一个软件组件，就是</a:t>
            </a:r>
            <a:r>
              <a:rPr lang="en-US" altLang="zh-CN" dirty="0"/>
              <a:t>TAB/RM</a:t>
            </a:r>
            <a:r>
              <a:rPr lang="zh-CN" altLang="en-US" dirty="0"/>
              <a:t>，并且一个</a:t>
            </a:r>
            <a:r>
              <a:rPr lang="en-US" altLang="zh-CN" dirty="0"/>
              <a:t>TPM</a:t>
            </a:r>
            <a:r>
              <a:rPr lang="zh-CN" altLang="en-US" dirty="0"/>
              <a:t>对应一个这样的软件组件；这是一个软件设计上的决定，但通常也是这样实现的。但是如果想要一个</a:t>
            </a:r>
            <a:r>
              <a:rPr lang="en-US" altLang="zh-CN" dirty="0"/>
              <a:t>TAB/RM</a:t>
            </a:r>
            <a:r>
              <a:rPr lang="zh-CN" altLang="en-US" dirty="0"/>
              <a:t>提供对多个</a:t>
            </a:r>
            <a:r>
              <a:rPr lang="en-US" altLang="zh-CN" dirty="0"/>
              <a:t>TPM</a:t>
            </a:r>
            <a:r>
              <a:rPr lang="zh-CN" altLang="en-US" dirty="0"/>
              <a:t>的访问功能，那么</a:t>
            </a:r>
            <a:r>
              <a:rPr lang="en-US" altLang="zh-CN" dirty="0"/>
              <a:t>TAB/RM</a:t>
            </a:r>
            <a:r>
              <a:rPr lang="zh-CN" altLang="en-US" dirty="0"/>
              <a:t>就需要跟踪所有的</a:t>
            </a:r>
            <a:r>
              <a:rPr lang="en-US" altLang="zh-CN" dirty="0"/>
              <a:t>handle</a:t>
            </a:r>
            <a:r>
              <a:rPr lang="zh-CN" altLang="en-US" dirty="0"/>
              <a:t>的信息，比如</a:t>
            </a:r>
            <a:r>
              <a:rPr lang="en-US" altLang="zh-CN" dirty="0"/>
              <a:t>handle</a:t>
            </a:r>
            <a:r>
              <a:rPr lang="zh-CN" altLang="en-US" dirty="0"/>
              <a:t>属于哪一个</a:t>
            </a:r>
            <a:r>
              <a:rPr lang="en-US" altLang="zh-CN" dirty="0"/>
              <a:t>TPM</a:t>
            </a:r>
            <a:r>
              <a:rPr lang="zh-CN" altLang="en-US" dirty="0"/>
              <a:t>，并且将它们分开管理。这种情况已经超出了</a:t>
            </a:r>
            <a:r>
              <a:rPr lang="en-US" altLang="zh-CN" dirty="0"/>
              <a:t>TSS</a:t>
            </a:r>
            <a:r>
              <a:rPr lang="zh-CN" altLang="en-US" dirty="0"/>
              <a:t>规范的范畴。所以不管是使用不同的可执行文件还是使用同一份代码中的不同列表来实现不同</a:t>
            </a:r>
            <a:r>
              <a:rPr lang="en-US" altLang="zh-CN" dirty="0"/>
              <a:t>TPM</a:t>
            </a:r>
            <a:r>
              <a:rPr lang="zh-CN" altLang="en-US" dirty="0"/>
              <a:t>的资源界限，这一层必须要实现不同</a:t>
            </a:r>
            <a:r>
              <a:rPr lang="en-US" altLang="zh-CN" dirty="0"/>
              <a:t>TPM</a:t>
            </a:r>
            <a:r>
              <a:rPr lang="zh-CN" altLang="en-US" dirty="0"/>
              <a:t>资源的清晰区分。</a:t>
            </a:r>
          </a:p>
          <a:p>
            <a:endParaRPr lang="zh-CN" altLang="en-US" dirty="0"/>
          </a:p>
          <a:p>
            <a:pPr algn="just"/>
            <a:r>
              <a:rPr lang="en-US" altLang="zh-CN" dirty="0"/>
              <a:t>TAB</a:t>
            </a:r>
            <a:r>
              <a:rPr lang="zh-CN" altLang="en-US" dirty="0"/>
              <a:t>和</a:t>
            </a:r>
            <a:r>
              <a:rPr lang="en-US" altLang="zh-CN" dirty="0"/>
              <a:t>RM</a:t>
            </a:r>
            <a:r>
              <a:rPr lang="zh-CN" altLang="en-US" dirty="0"/>
              <a:t>在大部分情况下对上层的软件栈来说是透明的，但是同时这两层是可选的。对于上层软件栈来说，不管是直接和</a:t>
            </a:r>
            <a:r>
              <a:rPr lang="en-US" altLang="zh-CN" dirty="0"/>
              <a:t>TPM</a:t>
            </a:r>
            <a:r>
              <a:rPr lang="zh-CN" altLang="en-US" dirty="0"/>
              <a:t>设备通信还是通过</a:t>
            </a:r>
            <a:r>
              <a:rPr lang="en-US" altLang="zh-CN" dirty="0"/>
              <a:t>TAB/RM</a:t>
            </a:r>
            <a:r>
              <a:rPr lang="zh-CN" altLang="en-US" dirty="0"/>
              <a:t>来发送和接收</a:t>
            </a:r>
            <a:r>
              <a:rPr lang="en-US" altLang="zh-CN" dirty="0"/>
              <a:t>TPM</a:t>
            </a:r>
            <a:r>
              <a:rPr lang="zh-CN" altLang="en-US" dirty="0"/>
              <a:t>命令数据，它们的操作都是一样的，这也就是“透明”的含义。但是，如果没有</a:t>
            </a:r>
            <a:r>
              <a:rPr lang="en-US" altLang="zh-CN" dirty="0"/>
              <a:t>TAB/RM</a:t>
            </a:r>
            <a:r>
              <a:rPr lang="zh-CN" altLang="en-US" dirty="0"/>
              <a:t>这一层，上层的软件必须在发送</a:t>
            </a:r>
            <a:r>
              <a:rPr lang="en-US" altLang="zh-CN" dirty="0"/>
              <a:t>TPM</a:t>
            </a:r>
            <a:r>
              <a:rPr lang="zh-CN" altLang="en-US" dirty="0"/>
              <a:t>命令之前，实现</a:t>
            </a:r>
            <a:r>
              <a:rPr lang="en-US" altLang="zh-CN" dirty="0"/>
              <a:t>TAB/RM</a:t>
            </a:r>
            <a:r>
              <a:rPr lang="zh-CN" altLang="en-US" dirty="0"/>
              <a:t>的操作，这样就能保证命令正确执行。通常情况下，应用程序会在多线程或者多进程环境中实现一个</a:t>
            </a:r>
            <a:r>
              <a:rPr lang="en-US" altLang="zh-CN" dirty="0"/>
              <a:t>TAB/RM</a:t>
            </a:r>
            <a:r>
              <a:rPr lang="zh-CN" altLang="en-US" dirty="0"/>
              <a:t>来隔离底层的信息。单线程或者高度嵌入式的应用通常不需要</a:t>
            </a:r>
            <a:r>
              <a:rPr lang="en-US" altLang="zh-CN" dirty="0"/>
              <a:t>TAB/RM</a:t>
            </a:r>
            <a:r>
              <a:rPr lang="zh-CN" altLang="en-US" dirty="0"/>
              <a:t>层。</a:t>
            </a:r>
          </a:p>
        </p:txBody>
      </p:sp>
      <p:sp>
        <p:nvSpPr>
          <p:cNvPr id="4" name="灯片编号占位符 3">
            <a:extLst>
              <a:ext uri="{FF2B5EF4-FFF2-40B4-BE49-F238E27FC236}">
                <a16:creationId xmlns:a16="http://schemas.microsoft.com/office/drawing/2014/main" id="{869C0106-A189-458F-94DB-C86D380BAF60}"/>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52</a:t>
            </a:fld>
            <a:endParaRPr lang="en-US" altLang="zh-CN"/>
          </a:p>
        </p:txBody>
      </p:sp>
    </p:spTree>
    <p:extLst>
      <p:ext uri="{BB962C8B-B14F-4D97-AF65-F5344CB8AC3E}">
        <p14:creationId xmlns:p14="http://schemas.microsoft.com/office/powerpoint/2010/main" val="146517785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825B0B-F9F5-4C8E-81E3-D626D513D345}"/>
              </a:ext>
            </a:extLst>
          </p:cNvPr>
          <p:cNvSpPr>
            <a:spLocks noGrp="1"/>
          </p:cNvSpPr>
          <p:nvPr>
            <p:ph type="title"/>
          </p:nvPr>
        </p:nvSpPr>
        <p:spPr/>
        <p:txBody>
          <a:bodyPr/>
          <a:lstStyle/>
          <a:p>
            <a:r>
              <a:rPr lang="en-US" altLang="zh-CN" dirty="0"/>
              <a:t>6</a:t>
            </a:r>
            <a:r>
              <a:rPr lang="zh-CN" altLang="en-US" dirty="0"/>
              <a:t>、设备驱动</a:t>
            </a:r>
          </a:p>
        </p:txBody>
      </p:sp>
      <p:sp>
        <p:nvSpPr>
          <p:cNvPr id="3" name="内容占位符 2">
            <a:extLst>
              <a:ext uri="{FF2B5EF4-FFF2-40B4-BE49-F238E27FC236}">
                <a16:creationId xmlns:a16="http://schemas.microsoft.com/office/drawing/2014/main" id="{33DEDD09-5B8B-48F8-92C5-6A4ABA0BF47E}"/>
              </a:ext>
            </a:extLst>
          </p:cNvPr>
          <p:cNvSpPr>
            <a:spLocks noGrp="1"/>
          </p:cNvSpPr>
          <p:nvPr>
            <p:ph idx="1"/>
          </p:nvPr>
        </p:nvSpPr>
        <p:spPr/>
        <p:txBody>
          <a:bodyPr/>
          <a:lstStyle/>
          <a:p>
            <a:r>
              <a:rPr lang="zh-CN" altLang="en-US" dirty="0"/>
              <a:t>当</a:t>
            </a:r>
            <a:r>
              <a:rPr lang="en-US" altLang="zh-CN" dirty="0"/>
              <a:t>FAPI</a:t>
            </a:r>
            <a:r>
              <a:rPr lang="zh-CN" altLang="en-US" dirty="0"/>
              <a:t>，</a:t>
            </a:r>
            <a:r>
              <a:rPr lang="en-US" altLang="zh-CN" dirty="0"/>
              <a:t>ESAPI</a:t>
            </a:r>
            <a:r>
              <a:rPr lang="zh-CN" altLang="en-US" dirty="0"/>
              <a:t>，</a:t>
            </a:r>
            <a:r>
              <a:rPr lang="en-US" altLang="zh-CN" dirty="0"/>
              <a:t>SAPI</a:t>
            </a:r>
            <a:r>
              <a:rPr lang="zh-CN" altLang="en-US" dirty="0"/>
              <a:t>，</a:t>
            </a:r>
            <a:r>
              <a:rPr lang="en-US" altLang="zh-CN" dirty="0"/>
              <a:t>TCTI</a:t>
            </a:r>
            <a:r>
              <a:rPr lang="zh-CN" altLang="en-US" dirty="0"/>
              <a:t>，</a:t>
            </a:r>
            <a:r>
              <a:rPr lang="en-US" altLang="zh-CN" dirty="0"/>
              <a:t>TAB</a:t>
            </a:r>
            <a:r>
              <a:rPr lang="zh-CN" altLang="en-US" dirty="0"/>
              <a:t>和</a:t>
            </a:r>
            <a:r>
              <a:rPr lang="en-US" altLang="zh-CN" dirty="0"/>
              <a:t>RM</a:t>
            </a:r>
            <a:r>
              <a:rPr lang="zh-CN" altLang="en-US" dirty="0"/>
              <a:t>完成它们的任务之后，就到最后一级的设备驱动程序登场了。设备驱动程序接收命令数据缓冲区及其大小，然后做必要的硬件操作来向</a:t>
            </a:r>
            <a:r>
              <a:rPr lang="en-US" altLang="zh-CN" dirty="0"/>
              <a:t>TPM</a:t>
            </a:r>
            <a:r>
              <a:rPr lang="zh-CN" altLang="en-US" dirty="0"/>
              <a:t>设备发送数据。当收到上层软件的请求之后，设备驱动会发送数据并阻塞直到命令响应数据准备好，然后返回到上层软件。</a:t>
            </a:r>
          </a:p>
          <a:p>
            <a:endParaRPr lang="zh-CN" altLang="en-US" dirty="0"/>
          </a:p>
          <a:p>
            <a:r>
              <a:rPr lang="zh-CN" altLang="en-US" dirty="0"/>
              <a:t>设备驱动用于和</a:t>
            </a:r>
            <a:r>
              <a:rPr lang="en-US" altLang="zh-CN" dirty="0"/>
              <a:t>TPM</a:t>
            </a:r>
            <a:r>
              <a:rPr lang="zh-CN" altLang="en-US" dirty="0"/>
              <a:t>通信的物理层和逻辑层接口不在</a:t>
            </a:r>
            <a:r>
              <a:rPr lang="en-US" altLang="zh-CN" dirty="0"/>
              <a:t>TPM2.0</a:t>
            </a:r>
            <a:r>
              <a:rPr lang="zh-CN" altLang="en-US" dirty="0"/>
              <a:t>规范的范畴内，它们在平台相关的规范中定义。目前为止，在</a:t>
            </a:r>
            <a:r>
              <a:rPr lang="en-US" altLang="zh-CN" dirty="0"/>
              <a:t>PC</a:t>
            </a:r>
            <a:r>
              <a:rPr lang="zh-CN" altLang="en-US" dirty="0"/>
              <a:t>上可选的</a:t>
            </a:r>
            <a:r>
              <a:rPr lang="en-US" altLang="zh-CN" dirty="0"/>
              <a:t>TPM</a:t>
            </a:r>
            <a:r>
              <a:rPr lang="zh-CN" altLang="en-US" dirty="0"/>
              <a:t>接口是</a:t>
            </a:r>
            <a:r>
              <a:rPr lang="en-US" altLang="zh-CN" dirty="0"/>
              <a:t>FIFO</a:t>
            </a:r>
            <a:r>
              <a:rPr lang="zh-CN" altLang="en-US" dirty="0"/>
              <a:t>和</a:t>
            </a:r>
            <a:r>
              <a:rPr lang="en-US" altLang="zh-CN" dirty="0"/>
              <a:t>CRB(Command Response Buffer)</a:t>
            </a:r>
            <a:r>
              <a:rPr lang="zh-CN" altLang="en-US" dirty="0"/>
              <a:t>。</a:t>
            </a:r>
            <a:r>
              <a:rPr lang="en-US" altLang="zh-CN" dirty="0"/>
              <a:t>FIFO</a:t>
            </a:r>
            <a:r>
              <a:rPr lang="zh-CN" altLang="en-US" dirty="0"/>
              <a:t>是先进先出字节传输接口，它使用固定的地址来发送和接收数据，同时还附带一些用于握手和状态操作的地址（寄存器接口）。</a:t>
            </a:r>
            <a:r>
              <a:rPr lang="en-US" altLang="zh-CN" dirty="0"/>
              <a:t>FIFO</a:t>
            </a:r>
            <a:r>
              <a:rPr lang="zh-CN" altLang="en-US" dirty="0"/>
              <a:t>接口在</a:t>
            </a:r>
            <a:r>
              <a:rPr lang="en-US" altLang="zh-CN" dirty="0"/>
              <a:t>TPM2.0</a:t>
            </a:r>
            <a:r>
              <a:rPr lang="zh-CN" altLang="en-US" dirty="0"/>
              <a:t>中没有太大的变化，只有一小部分的修改。</a:t>
            </a:r>
            <a:r>
              <a:rPr lang="en-US" altLang="zh-CN" dirty="0"/>
              <a:t>FIFO</a:t>
            </a:r>
            <a:r>
              <a:rPr lang="zh-CN" altLang="en-US" dirty="0"/>
              <a:t>接口可以使用</a:t>
            </a:r>
            <a:r>
              <a:rPr lang="en-US" altLang="zh-CN" dirty="0"/>
              <a:t>SPI</a:t>
            </a:r>
            <a:r>
              <a:rPr lang="zh-CN" altLang="en-US" dirty="0"/>
              <a:t>或者</a:t>
            </a:r>
            <a:r>
              <a:rPr lang="en-US" altLang="zh-CN" dirty="0"/>
              <a:t>LPC</a:t>
            </a:r>
            <a:r>
              <a:rPr lang="zh-CN" altLang="en-US" dirty="0"/>
              <a:t>总线。</a:t>
            </a:r>
          </a:p>
        </p:txBody>
      </p:sp>
      <p:sp>
        <p:nvSpPr>
          <p:cNvPr id="4" name="灯片编号占位符 3">
            <a:extLst>
              <a:ext uri="{FF2B5EF4-FFF2-40B4-BE49-F238E27FC236}">
                <a16:creationId xmlns:a16="http://schemas.microsoft.com/office/drawing/2014/main" id="{C3D2EC8A-7188-45B7-9031-29112AF7D2D5}"/>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53</a:t>
            </a:fld>
            <a:endParaRPr lang="en-US" altLang="zh-CN"/>
          </a:p>
        </p:txBody>
      </p:sp>
    </p:spTree>
    <p:extLst>
      <p:ext uri="{BB962C8B-B14F-4D97-AF65-F5344CB8AC3E}">
        <p14:creationId xmlns:p14="http://schemas.microsoft.com/office/powerpoint/2010/main" val="255388092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42" name="Object 2">
            <a:extLst>
              <a:ext uri="{FF2B5EF4-FFF2-40B4-BE49-F238E27FC236}">
                <a16:creationId xmlns:a16="http://schemas.microsoft.com/office/drawing/2014/main" id="{2E74F02F-C04D-4CB3-87F6-184607FE477C}"/>
              </a:ext>
            </a:extLst>
          </p:cNvPr>
          <p:cNvGraphicFramePr>
            <a:graphicFrameLocks noChangeAspect="1"/>
          </p:cNvGraphicFramePr>
          <p:nvPr/>
        </p:nvGraphicFramePr>
        <p:xfrm>
          <a:off x="2667000" y="3479800"/>
          <a:ext cx="3887788" cy="2159000"/>
        </p:xfrm>
        <a:graphic>
          <a:graphicData uri="http://schemas.openxmlformats.org/presentationml/2006/ole">
            <mc:AlternateContent xmlns:mc="http://schemas.openxmlformats.org/markup-compatibility/2006">
              <mc:Choice xmlns:v="urn:schemas-microsoft-com:vml" Requires="v">
                <p:oleObj name="剪辑" r:id="rId2" imgW="5349600" imgH="2911320" progId="">
                  <p:embed/>
                </p:oleObj>
              </mc:Choice>
              <mc:Fallback>
                <p:oleObj name="剪辑" r:id="rId2" imgW="5349600" imgH="2911320" progId="">
                  <p:embed/>
                  <p:pic>
                    <p:nvPicPr>
                      <p:cNvPr id="10242" name="Object 2">
                        <a:extLst>
                          <a:ext uri="{FF2B5EF4-FFF2-40B4-BE49-F238E27FC236}">
                            <a16:creationId xmlns:a16="http://schemas.microsoft.com/office/drawing/2014/main" id="{2E74F02F-C04D-4CB3-87F6-184607FE47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3479800"/>
                        <a:ext cx="3887788" cy="2159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3731" name="Rectangle 3">
            <a:extLst>
              <a:ext uri="{FF2B5EF4-FFF2-40B4-BE49-F238E27FC236}">
                <a16:creationId xmlns:a16="http://schemas.microsoft.com/office/drawing/2014/main" id="{A3860E94-EC58-438B-9415-54200DDD4B9B}"/>
              </a:ext>
            </a:extLst>
          </p:cNvPr>
          <p:cNvSpPr>
            <a:spLocks noChangeArrowheads="1"/>
          </p:cNvSpPr>
          <p:nvPr/>
        </p:nvSpPr>
        <p:spPr bwMode="auto">
          <a:xfrm>
            <a:off x="3124200" y="2209800"/>
            <a:ext cx="2971800" cy="914400"/>
          </a:xfrm>
          <a:prstGeom prst="rect">
            <a:avLst/>
          </a:prstGeom>
          <a:noFill/>
          <a:ln w="9525">
            <a:noFill/>
            <a:miter lim="800000"/>
            <a:headEnd/>
            <a:tailEnd/>
          </a:ln>
          <a:effectLst/>
        </p:spPr>
        <p:txBody>
          <a:bodyPr anchor="b"/>
          <a:lstStyle/>
          <a:p>
            <a:pPr algn="ctr" fontAlgn="t">
              <a:lnSpc>
                <a:spcPts val="3200"/>
              </a:lnSpc>
              <a:defRPr/>
            </a:pPr>
            <a:r>
              <a:rPr kumimoji="1" lang="zh-CN" altLang="en-US" sz="6600" b="1">
                <a:solidFill>
                  <a:schemeClr val="accent2"/>
                </a:solidFill>
                <a:effectLst>
                  <a:outerShdw blurRad="38100" dist="38100" dir="2700000" algn="tl">
                    <a:srgbClr val="C0C0C0"/>
                  </a:outerShdw>
                </a:effectLst>
                <a:latin typeface="Times New Roman" pitchFamily="18" charset="0"/>
                <a:ea typeface="隶书" pitchFamily="49" charset="-122"/>
              </a:rPr>
              <a:t>谢谢！</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黑体"/>
        <a:cs typeface=""/>
      </a:majorFont>
      <a:minorFont>
        <a:latin typeface="Arial"/>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3675</TotalTime>
  <Words>6106</Words>
  <Application>Microsoft Office PowerPoint</Application>
  <PresentationFormat>全屏显示(4:3)</PresentationFormat>
  <Paragraphs>355</Paragraphs>
  <Slides>54</Slides>
  <Notes>0</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54</vt:i4>
      </vt:variant>
    </vt:vector>
  </HeadingPairs>
  <TitlesOfParts>
    <vt:vector size="63" baseType="lpstr">
      <vt:lpstr>-apple-system</vt:lpstr>
      <vt:lpstr>黑体</vt:lpstr>
      <vt:lpstr>隶书</vt:lpstr>
      <vt:lpstr>Arial</vt:lpstr>
      <vt:lpstr>Consolas</vt:lpstr>
      <vt:lpstr>Times New Roman</vt:lpstr>
      <vt:lpstr>Wingdings</vt:lpstr>
      <vt:lpstr>默认设计模板</vt:lpstr>
      <vt:lpstr>剪辑</vt:lpstr>
      <vt:lpstr>PowerPoint 演示文稿</vt:lpstr>
      <vt:lpstr>TPM2开源软件包</vt:lpstr>
      <vt:lpstr>1、tpm2-tools</vt:lpstr>
      <vt:lpstr>tpm2-tools代码结构</vt:lpstr>
      <vt:lpstr>tpm2-tools代码结构</vt:lpstr>
      <vt:lpstr>tpm2-tools代码结构</vt:lpstr>
      <vt:lpstr>2、tpm2-tss</vt:lpstr>
      <vt:lpstr>PowerPoint 演示文稿</vt:lpstr>
      <vt:lpstr>PowerPoint 演示文稿</vt:lpstr>
      <vt:lpstr>3、tpm2-abrmd</vt:lpstr>
      <vt:lpstr>可信软件栈结构</vt:lpstr>
      <vt:lpstr>可信软件栈结构</vt:lpstr>
      <vt:lpstr>可信软件栈结构</vt:lpstr>
      <vt:lpstr>可信软件栈结构</vt:lpstr>
      <vt:lpstr>可信软件栈结构</vt:lpstr>
      <vt:lpstr>可信软件栈结构</vt:lpstr>
      <vt:lpstr>1、Feature API层</vt:lpstr>
      <vt:lpstr>设定密码套件</vt:lpstr>
      <vt:lpstr>设定密码套件</vt:lpstr>
      <vt:lpstr>FAPI层开发流程</vt:lpstr>
      <vt:lpstr>TPM资源及实体的定位与命名</vt:lpstr>
      <vt:lpstr>FAPI默认资源实体</vt:lpstr>
      <vt:lpstr>非易失性存储NV</vt:lpstr>
      <vt:lpstr>标准的策略和认证</vt:lpstr>
      <vt:lpstr>TPM资源定位</vt:lpstr>
      <vt:lpstr>密码算法配置文件 </vt:lpstr>
      <vt:lpstr>定义基本数据结构</vt:lpstr>
      <vt:lpstr>定义基本数据结构</vt:lpstr>
      <vt:lpstr>FAPI编程示例</vt:lpstr>
      <vt:lpstr>FAPI编程示例</vt:lpstr>
      <vt:lpstr>FAPI编程示例</vt:lpstr>
      <vt:lpstr>FAPI编程示例</vt:lpstr>
      <vt:lpstr>FAPI编程示例</vt:lpstr>
      <vt:lpstr>FAPI编程示例</vt:lpstr>
      <vt:lpstr>FAPI编程示例</vt:lpstr>
      <vt:lpstr>FAPI编程示例</vt:lpstr>
      <vt:lpstr>FAPI编程示例</vt:lpstr>
      <vt:lpstr>FAPI编程示例</vt:lpstr>
      <vt:lpstr>2、System API---SAPI层</vt:lpstr>
      <vt:lpstr>SAPI的主要设计目标</vt:lpstr>
      <vt:lpstr>SAPI架构图</vt:lpstr>
      <vt:lpstr>1、命令上下文申请函数</vt:lpstr>
      <vt:lpstr>2、命令执行函数</vt:lpstr>
      <vt:lpstr>3、命令完成函数</vt:lpstr>
      <vt:lpstr>SAPI测试代码</vt:lpstr>
      <vt:lpstr>SAPI测试代码</vt:lpstr>
      <vt:lpstr>3、TPM TSS TCTI</vt:lpstr>
      <vt:lpstr>3、TPM TSS TCTI</vt:lpstr>
      <vt:lpstr>3、TPM TSS TCTI</vt:lpstr>
      <vt:lpstr>4、TPM访问代理（TPM Access Broker）</vt:lpstr>
      <vt:lpstr>5、资源管理器RM</vt:lpstr>
      <vt:lpstr>5、资源管理器RM</vt:lpstr>
      <vt:lpstr>6、设备驱动</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jiahy</dc:creator>
  <cp:lastModifiedBy>贾洪勇</cp:lastModifiedBy>
  <cp:revision>24</cp:revision>
  <cp:lastPrinted>1601-01-01T00:00:00Z</cp:lastPrinted>
  <dcterms:created xsi:type="dcterms:W3CDTF">1601-01-01T00:00:00Z</dcterms:created>
  <dcterms:modified xsi:type="dcterms:W3CDTF">2023-03-20T05:43:48Z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