
<file path=[Content_Types].xml><?xml version="1.0" encoding="utf-8"?>
<Types xmlns="http://schemas.openxmlformats.org/package/2006/content-types">
  <Override PartName="/ppt/slideMasters/slideMaster3.xml" ContentType="application/vnd.openxmlformats-officedocument.presentationml.slideMaster+xml"/>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slides/slide142.xml" ContentType="application/vnd.openxmlformats-officedocument.presentationml.slide+xml"/>
  <Override PartName="/ppt/slideLayouts/slideLayout57.xml" ContentType="application/vnd.openxmlformats-officedocument.presentationml.slideLayout+xml"/>
  <Override PartName="/ppt/theme/theme5.xml" ContentType="application/vnd.openxmlformats-officedocument.theme+xml"/>
  <Override PartName="/ppt/notesSlides/notesSlide2.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slideLayouts/slideLayout46.xml" ContentType="application/vnd.openxmlformats-officedocument.presentationml.slideLayout+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Override PartName="/ppt/slideLayouts/slideLayout35.xml" ContentType="application/vnd.openxmlformats-officedocument.presentationml.slideLayout+xml"/>
  <Override PartName="/ppt/slideLayouts/slideLayout82.xml" ContentType="application/vnd.openxmlformats-officedocument.presentationml.slideLayout+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Layouts/slideLayout60.xml" ContentType="application/vnd.openxmlformats-officedocument.presentationml.slideLayout+xml"/>
  <Override PartName="/ppt/slideLayouts/slideLayout71.xml" ContentType="application/vnd.openxmlformats-officedocument.presentationml.slideLayout+xml"/>
  <Override PartName="/ppt/tableStyles.xml" ContentType="application/vnd.openxmlformats-officedocument.presentationml.tableStyles+xml"/>
  <Override PartName="/ppt/slides/slide147.xml" ContentType="application/vnd.openxmlformats-officedocument.presentationml.slide+xml"/>
  <Override PartName="/ppt/slides/slide99.xml" ContentType="application/vnd.openxmlformats-officedocument.presentationml.slide+xml"/>
  <Override PartName="/ppt/slides/slide136.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25.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66.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50.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76.xml" ContentType="application/vnd.openxmlformats-officedocument.presentationml.slideLayout+xml"/>
  <Default Extension="png" ContentType="image/png"/>
  <Override PartName="/ppt/slides/slide55.xml" ContentType="application/vnd.openxmlformats-officedocument.presentationml.slide+xml"/>
  <Override PartName="/ppt/slideLayouts/slideLayout18.xml" ContentType="application/vnd.openxmlformats-officedocument.presentationml.slideLayout+xml"/>
  <Override PartName="/ppt/theme/theme2.xml" ContentType="application/vnd.openxmlformats-officedocument.theme+xml"/>
  <Override PartName="/ppt/slideLayouts/slideLayout65.xml" ContentType="application/vnd.openxmlformats-officedocument.presentationml.slideLayout+xml"/>
  <Override PartName="/ppt/slides/slide33.xml" ContentType="application/vnd.openxmlformats-officedocument.presentationml.slide+xml"/>
  <Override PartName="/ppt/slides/slide44.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Layouts/slideLayout43.xml" ContentType="application/vnd.openxmlformats-officedocument.presentationml.slideLayout+xml"/>
  <Override PartName="/ppt/slideLayouts/slideLayout54.xml" ContentType="application/vnd.openxmlformats-officedocument.presentationml.slideLayout+xml"/>
  <Default Extension="emf" ContentType="image/x-emf"/>
  <Override PartName="/ppt/presentation.xml" ContentType="application/vnd.openxmlformats-officedocument.presentationml.presentation.main+xml"/>
  <Override PartName="/ppt/slides/slide22.xml" ContentType="application/vnd.openxmlformats-officedocument.presentationml.slide+xml"/>
  <Override PartName="/ppt/slideLayouts/slideLayout32.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Layouts/slideLayout21.xml" ContentType="application/vnd.openxmlformats-officedocument.presentationml.slideLayout+xml"/>
  <Override PartName="/ppt/slides/slide119.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108.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slides/slide155.xml" ContentType="application/vnd.openxmlformats-officedocument.presentationml.slide+xml"/>
  <Override PartName="/ppt/slideMasters/slideMaster5.xml" ContentType="application/vnd.openxmlformats-officedocument.presentationml.slideMaster+xml"/>
  <Override PartName="/ppt/slides/slide49.xml" ContentType="application/vnd.openxmlformats-officedocument.presentationml.slide+xml"/>
  <Override PartName="/ppt/slides/slide78.xml" ContentType="application/vnd.openxmlformats-officedocument.presentationml.slide+xml"/>
  <Override PartName="/ppt/slides/slide96.xml" ContentType="application/vnd.openxmlformats-officedocument.presentationml.slide+xml"/>
  <Override PartName="/ppt/slides/slide115.xml" ContentType="application/vnd.openxmlformats-officedocument.presentationml.slide+xml"/>
  <Override PartName="/ppt/slides/slide144.xml" ContentType="application/vnd.openxmlformats-officedocument.presentationml.slide+xml"/>
  <Override PartName="/ppt/slideLayouts/slideLayout59.xml" ContentType="application/vnd.openxmlformats-officedocument.presentationml.slideLayout+xml"/>
  <Override PartName="/ppt/theme/theme7.xml" ContentType="application/vnd.openxmlformats-officedocument.them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s/slide151.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48.xml" ContentType="application/vnd.openxmlformats-officedocument.presentationml.slideLayout+xml"/>
  <Override PartName="/ppt/slideLayouts/slideLayout66.xml" ContentType="application/vnd.openxmlformats-officedocument.presentationml.slideLayout+xml"/>
  <Override PartName="/ppt/slideLayouts/slideLayout77.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s/slide140.xml" ContentType="application/vnd.openxmlformats-officedocument.presentationml.slide+xml"/>
  <Override PartName="/ppt/slideLayouts/slideLayout4.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55.xml" ContentType="application/vnd.openxmlformats-officedocument.presentationml.slideLayout+xml"/>
  <Override PartName="/ppt/slideLayouts/slideLayout8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44.xml" ContentType="application/vnd.openxmlformats-officedocument.presentationml.slideLayout+xml"/>
  <Override PartName="/ppt/slideLayouts/slideLayout62.xml" ContentType="application/vnd.openxmlformats-officedocument.presentationml.slideLayout+xml"/>
  <Override PartName="/ppt/slideLayouts/slideLayout73.xml" ContentType="application/vnd.openxmlformats-officedocument.presentationml.slideLayout+xml"/>
  <Default Extension="wmf" ContentType="image/x-wmf"/>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Layouts/slideLayout22.xml" ContentType="application/vnd.openxmlformats-officedocument.presentationml.slideLayout+xml"/>
  <Override PartName="/ppt/slideLayouts/slideLayout33.xml" ContentType="application/vnd.openxmlformats-officedocument.presentationml.slideLayout+xml"/>
  <Override PartName="/ppt/slideLayouts/slideLayout51.xml" ContentType="application/vnd.openxmlformats-officedocument.presentationml.slideLayout+xml"/>
  <Override PartName="/ppt/slideLayouts/slideLayout80.xml" ContentType="application/vnd.openxmlformats-officedocument.presentationml.slideLayout+xml"/>
  <Override PartName="/ppt/slides/slide12.xml" ContentType="application/vnd.openxmlformats-officedocument.presentationml.slide+xml"/>
  <Override PartName="/ppt/slides/slide30.xml" ContentType="application/vnd.openxmlformats-officedocument.presentationml.slide+xml"/>
  <Override PartName="/ppt/slides/slide149.xml" ContentType="application/vnd.openxmlformats-officedocument.presentationml.slide+xml"/>
  <Override PartName="/ppt/slideLayouts/slideLayout11.xml" ContentType="application/vnd.openxmlformats-officedocument.presentationml.slideLayout+xml"/>
  <Override PartName="/ppt/slideLayouts/slideLayout40.xml" ContentType="application/vnd.openxmlformats-officedocument.presentationml.slideLayout+xml"/>
  <Override PartName="/ppt/slides/slide138.xml" ContentType="application/vnd.openxmlformats-officedocument.presentationml.slide+xml"/>
  <Override PartName="/ppt/slideMasters/slideMaster6.xml" ContentType="application/vnd.openxmlformats-officedocument.presentationml.slideMaster+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slides/slide145.xml" ContentType="application/vnd.openxmlformats-officedocument.presentationml.slide+xml"/>
  <Override PartName="/ppt/slides/slide156.xml" ContentType="application/vnd.openxmlformats-officedocument.presentationml.slide+xml"/>
  <Override PartName="/ppt/theme/theme8.xml" ContentType="application/vnd.openxmlformats-officedocument.them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s/slide134.xml" ContentType="application/vnd.openxmlformats-officedocument.presentationml.slide+xml"/>
  <Override PartName="/ppt/slideLayouts/slideLayout9.xml" ContentType="application/vnd.openxmlformats-officedocument.presentationml.slideLayout+xml"/>
  <Override PartName="/ppt/slideLayouts/slideLayout78.xml" ContentType="application/vnd.openxmlformats-officedocument.presentationml.slideLayout+xml"/>
  <Override PartName="/ppt/slideMasters/slideMaster2.xml" ContentType="application/vnd.openxmlformats-officedocument.presentationml.slideMaster+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slides/slide141.xml" ContentType="application/vnd.openxmlformats-officedocument.presentationml.slide+xml"/>
  <Override PartName="/ppt/slides/slide152.xml" ContentType="application/vnd.openxmlformats-officedocument.presentationml.slide+xml"/>
  <Override PartName="/ppt/slideLayouts/slideLayout3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67.xml" ContentType="application/vnd.openxmlformats-officedocument.presentationml.slideLayout+xml"/>
  <Override PartName="/ppt/slideLayouts/slideLayout85.xml" ContentType="application/vnd.openxmlformats-officedocument.presentationml.slideLayout+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45.xml" ContentType="application/vnd.openxmlformats-officedocument.presentationml.slideLayout+xml"/>
  <Override PartName="/ppt/slideLayouts/slideLayout56.xml" ContentType="application/vnd.openxmlformats-officedocument.presentationml.slideLayout+xml"/>
  <Override PartName="/ppt/slideLayouts/slideLayout74.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Override PartName="/ppt/slideLayouts/slideLayout16.xml" ContentType="application/vnd.openxmlformats-officedocument.presentationml.slideLayout+xml"/>
  <Override PartName="/ppt/slideLayouts/slideLayout34.xml" ContentType="application/vnd.openxmlformats-officedocument.presentationml.slideLayout+xml"/>
  <Override PartName="/ppt/slideLayouts/slideLayout63.xml" ContentType="application/vnd.openxmlformats-officedocument.presentationml.slideLayout+xml"/>
  <Override PartName="/ppt/slideLayouts/slideLayout81.xml" ContentType="application/vnd.openxmlformats-officedocument.presentationml.slideLayout+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70.xml" ContentType="application/vnd.openxmlformats-officedocument.presentationml.slideLayout+xml"/>
  <Default Extension="wav" ContentType="audio/wav"/>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30.xml" ContentType="application/vnd.openxmlformats-officedocument.presentationml.slideLayout+xml"/>
  <Override PartName="/ppt/slides/slide139.xml" ContentType="application/vnd.openxmlformats-officedocument.presentationml.slide+xml"/>
  <Override PartName="/ppt/slideMasters/slideMaster7.xml" ContentType="application/vnd.openxmlformats-officedocument.presentationml.slideMaster+xml"/>
  <Override PartName="/ppt/slides/slide98.xml" ContentType="application/vnd.openxmlformats-officedocument.presentationml.slide+xml"/>
  <Override PartName="/ppt/slides/slide117.xml" ContentType="application/vnd.openxmlformats-officedocument.presentationml.slide+xml"/>
  <Override PartName="/ppt/slides/slide128.xml" ContentType="application/vnd.openxmlformats-officedocument.presentationml.slide+xml"/>
  <Override PartName="/ppt/slides/slide146.xml" ContentType="application/vnd.openxmlformats-officedocument.presentationml.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53.xml" ContentType="application/vnd.openxmlformats-officedocument.presentationml.slide+xml"/>
  <Override PartName="/ppt/slideLayouts/slideLayout68.xml" ContentType="application/vnd.openxmlformats-officedocument.presentationml.slideLayout+xml"/>
  <Override PartName="/ppt/slideLayouts/slideLayout79.xml" ContentType="application/vnd.openxmlformats-officedocument.presentationml.slideLayout+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slideLayouts/slideLayout39.xml" ContentType="application/vnd.openxmlformats-officedocument.presentationml.slideLayout+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64.xml" ContentType="application/vnd.openxmlformats-officedocument.presentationml.slideLayout+xml"/>
  <Override PartName="/ppt/slideLayouts/slideLayout75.xml" ContentType="application/vnd.openxmlformats-officedocument.presentationml.slideLayout+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53.xml" ContentType="application/vnd.openxmlformats-officedocument.presentationml.slideLayout+xml"/>
  <Override PartName="/ppt/slides/slide32.xml" ContentType="application/vnd.openxmlformats-officedocument.presentationml.slide+xml"/>
  <Override PartName="/ppt/slideLayouts/slideLayout42.xml" ContentType="application/vnd.openxmlformats-officedocument.presentationml.slideLayout+xml"/>
  <Override PartName="/ppt/slides/slide10.xml" ContentType="application/vnd.openxmlformats-officedocument.presentationml.slide+xml"/>
  <Override PartName="/ppt/slides/slide21.xml" ContentType="application/vnd.openxmlformats-officedocument.presentationml.slide+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s/slide129.xml" ContentType="application/vnd.openxmlformats-officedocument.presentationml.slide+xml"/>
  <Override PartName="/ppt/slides/slide118.xml" ContentType="application/vnd.openxmlformats-officedocument.presentationml.slide+xml"/>
  <Override PartName="/ppt/slideMasters/slideMaster4.xml" ContentType="application/vnd.openxmlformats-officedocument.presentationml.slideMaster+xml"/>
  <Override PartName="/ppt/slides/slide9.xml" ContentType="application/vnd.openxmlformats-officedocument.presentationml.slide+xml"/>
  <Override PartName="/ppt/slides/slide59.xml" ContentType="application/vnd.openxmlformats-officedocument.presentationml.slide+xml"/>
  <Override PartName="/ppt/slides/slide107.xml" ContentType="application/vnd.openxmlformats-officedocument.presentationml.slide+xml"/>
  <Override PartName="/ppt/slides/slide143.xml" ContentType="application/vnd.openxmlformats-officedocument.presentationml.slide+xml"/>
  <Override PartName="/ppt/slides/slide154.xml" ContentType="application/vnd.openxmlformats-officedocument.presentationml.slide+xml"/>
  <Override PartName="/ppt/viewProps.xml" ContentType="application/vnd.openxmlformats-officedocument.presentationml.viewProps+xml"/>
  <Override PartName="/ppt/slideLayouts/slideLayout69.xml" ContentType="application/vnd.openxmlformats-officedocument.presentationml.slideLayout+xml"/>
  <Override PartName="/ppt/theme/theme6.xml" ContentType="application/vnd.openxmlformats-officedocument.theme+xml"/>
  <Override PartName="/ppt/slides/slide48.xml" ContentType="application/vnd.openxmlformats-officedocument.presentationml.slide+xml"/>
  <Override PartName="/ppt/slides/slide95.xml" ContentType="application/vnd.openxmlformats-officedocument.presentationml.slide+xml"/>
  <Override PartName="/ppt/slides/slide132.xml" ContentType="application/vnd.openxmlformats-officedocument.presentationml.slide+xml"/>
  <Override PartName="/ppt/slideLayouts/slideLayout58.xml" ContentType="application/vnd.openxmlformats-officedocument.presentationml.slideLayout+xml"/>
  <Default Extension="bin" ContentType="application/vnd.openxmlformats-officedocument.oleObject"/>
  <Override PartName="/ppt/notesSlides/notesSlide3.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slideLayouts/slideLayout36.xml" ContentType="application/vnd.openxmlformats-officedocument.presentationml.slideLayout+xml"/>
  <Override PartName="/ppt/slideLayouts/slideLayout47.xml" ContentType="application/vnd.openxmlformats-officedocument.presentationml.slideLayout+xml"/>
  <Override PartName="/ppt/slideLayouts/slideLayout83.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62.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72.xml" ContentType="application/vnd.openxmlformats-officedocument.presentationml.slideLayout+xml"/>
  <Override PartName="/ppt/slides/slide51.xml" ContentType="application/vnd.openxmlformats-officedocument.presentationml.slide+xml"/>
  <Override PartName="/ppt/slideLayouts/slideLayout14.xml" ContentType="application/vnd.openxmlformats-officedocument.presentationml.slideLayout+xml"/>
  <Override PartName="/ppt/slideLayouts/slideLayout61.xml" ContentType="application/vnd.openxmlformats-officedocument.presentationml.slideLayout+xml"/>
  <Override PartName="/ppt/slides/slide40.xml" ContentType="application/vnd.openxmlformats-officedocument.presentationml.slide+xml"/>
  <Override PartName="/ppt/slideLayouts/slideLayout50.xml" ContentType="application/vnd.openxmlformats-officedocument.presentationml.slideLayout+xml"/>
  <Override PartName="/ppt/slides/slide148.xml" ContentType="application/vnd.openxmlformats-officedocument.presentationml.slide+xml"/>
  <Default Extension="vml" ContentType="application/vnd.openxmlformats-officedocument.vmlDrawi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6" r:id="rId3"/>
    <p:sldMasterId id="2147483700" r:id="rId4"/>
    <p:sldMasterId id="2147483712" r:id="rId5"/>
    <p:sldMasterId id="2147483726" r:id="rId6"/>
    <p:sldMasterId id="2147483739" r:id="rId7"/>
  </p:sldMasterIdLst>
  <p:notesMasterIdLst>
    <p:notesMasterId r:id="rId164"/>
  </p:notesMasterIdLst>
  <p:sldIdLst>
    <p:sldId id="398" r:id="rId8"/>
    <p:sldId id="257" r:id="rId9"/>
    <p:sldId id="258" r:id="rId10"/>
    <p:sldId id="259" r:id="rId11"/>
    <p:sldId id="260" r:id="rId12"/>
    <p:sldId id="400" r:id="rId13"/>
    <p:sldId id="401" r:id="rId14"/>
    <p:sldId id="402" r:id="rId15"/>
    <p:sldId id="409" r:id="rId16"/>
    <p:sldId id="403" r:id="rId17"/>
    <p:sldId id="408" r:id="rId18"/>
    <p:sldId id="404" r:id="rId19"/>
    <p:sldId id="405" r:id="rId20"/>
    <p:sldId id="406" r:id="rId21"/>
    <p:sldId id="410" r:id="rId22"/>
    <p:sldId id="267" r:id="rId23"/>
    <p:sldId id="268" r:id="rId24"/>
    <p:sldId id="261" r:id="rId25"/>
    <p:sldId id="263" r:id="rId26"/>
    <p:sldId id="412" r:id="rId27"/>
    <p:sldId id="413" r:id="rId28"/>
    <p:sldId id="417" r:id="rId29"/>
    <p:sldId id="414" r:id="rId30"/>
    <p:sldId id="415" r:id="rId31"/>
    <p:sldId id="416" r:id="rId32"/>
    <p:sldId id="269" r:id="rId33"/>
    <p:sldId id="266" r:id="rId34"/>
    <p:sldId id="418" r:id="rId35"/>
    <p:sldId id="419" r:id="rId36"/>
    <p:sldId id="420" r:id="rId37"/>
    <p:sldId id="270" r:id="rId38"/>
    <p:sldId id="271" r:id="rId39"/>
    <p:sldId id="399" r:id="rId40"/>
    <p:sldId id="273" r:id="rId41"/>
    <p:sldId id="274" r:id="rId42"/>
    <p:sldId id="275" r:id="rId43"/>
    <p:sldId id="276" r:id="rId44"/>
    <p:sldId id="277" r:id="rId45"/>
    <p:sldId id="278" r:id="rId46"/>
    <p:sldId id="421" r:id="rId47"/>
    <p:sldId id="422" r:id="rId48"/>
    <p:sldId id="279" r:id="rId49"/>
    <p:sldId id="383" r:id="rId50"/>
    <p:sldId id="282" r:id="rId51"/>
    <p:sldId id="283" r:id="rId52"/>
    <p:sldId id="285" r:id="rId53"/>
    <p:sldId id="284" r:id="rId54"/>
    <p:sldId id="286" r:id="rId55"/>
    <p:sldId id="287" r:id="rId56"/>
    <p:sldId id="288" r:id="rId57"/>
    <p:sldId id="291" r:id="rId58"/>
    <p:sldId id="289" r:id="rId59"/>
    <p:sldId id="290" r:id="rId60"/>
    <p:sldId id="438" r:id="rId61"/>
    <p:sldId id="292" r:id="rId62"/>
    <p:sldId id="423" r:id="rId63"/>
    <p:sldId id="294" r:id="rId64"/>
    <p:sldId id="300" r:id="rId65"/>
    <p:sldId id="301" r:id="rId66"/>
    <p:sldId id="302" r:id="rId67"/>
    <p:sldId id="295" r:id="rId68"/>
    <p:sldId id="296" r:id="rId69"/>
    <p:sldId id="396" r:id="rId70"/>
    <p:sldId id="299" r:id="rId71"/>
    <p:sldId id="303" r:id="rId72"/>
    <p:sldId id="304" r:id="rId73"/>
    <p:sldId id="305" r:id="rId74"/>
    <p:sldId id="306" r:id="rId75"/>
    <p:sldId id="313" r:id="rId76"/>
    <p:sldId id="307" r:id="rId77"/>
    <p:sldId id="312" r:id="rId78"/>
    <p:sldId id="424" r:id="rId79"/>
    <p:sldId id="425" r:id="rId80"/>
    <p:sldId id="426" r:id="rId81"/>
    <p:sldId id="427" r:id="rId82"/>
    <p:sldId id="308" r:id="rId83"/>
    <p:sldId id="309" r:id="rId84"/>
    <p:sldId id="310" r:id="rId85"/>
    <p:sldId id="311" r:id="rId86"/>
    <p:sldId id="315" r:id="rId87"/>
    <p:sldId id="314" r:id="rId88"/>
    <p:sldId id="317" r:id="rId89"/>
    <p:sldId id="368" r:id="rId90"/>
    <p:sldId id="319" r:id="rId91"/>
    <p:sldId id="320" r:id="rId92"/>
    <p:sldId id="321" r:id="rId93"/>
    <p:sldId id="322" r:id="rId94"/>
    <p:sldId id="323" r:id="rId95"/>
    <p:sldId id="324" r:id="rId96"/>
    <p:sldId id="326" r:id="rId97"/>
    <p:sldId id="327" r:id="rId98"/>
    <p:sldId id="325" r:id="rId99"/>
    <p:sldId id="385" r:id="rId100"/>
    <p:sldId id="328" r:id="rId101"/>
    <p:sldId id="386" r:id="rId102"/>
    <p:sldId id="329" r:id="rId103"/>
    <p:sldId id="428" r:id="rId104"/>
    <p:sldId id="330" r:id="rId105"/>
    <p:sldId id="388" r:id="rId106"/>
    <p:sldId id="389" r:id="rId107"/>
    <p:sldId id="387" r:id="rId108"/>
    <p:sldId id="331" r:id="rId109"/>
    <p:sldId id="332" r:id="rId110"/>
    <p:sldId id="340" r:id="rId111"/>
    <p:sldId id="348" r:id="rId112"/>
    <p:sldId id="349" r:id="rId113"/>
    <p:sldId id="350" r:id="rId114"/>
    <p:sldId id="369" r:id="rId115"/>
    <p:sldId id="370" r:id="rId116"/>
    <p:sldId id="429" r:id="rId117"/>
    <p:sldId id="430" r:id="rId118"/>
    <p:sldId id="435" r:id="rId119"/>
    <p:sldId id="436" r:id="rId120"/>
    <p:sldId id="431" r:id="rId121"/>
    <p:sldId id="432" r:id="rId122"/>
    <p:sldId id="433" r:id="rId123"/>
    <p:sldId id="351" r:id="rId124"/>
    <p:sldId id="352" r:id="rId125"/>
    <p:sldId id="353" r:id="rId126"/>
    <p:sldId id="354" r:id="rId127"/>
    <p:sldId id="356" r:id="rId128"/>
    <p:sldId id="355" r:id="rId129"/>
    <p:sldId id="397" r:id="rId130"/>
    <p:sldId id="358" r:id="rId131"/>
    <p:sldId id="357" r:id="rId132"/>
    <p:sldId id="359" r:id="rId133"/>
    <p:sldId id="362" r:id="rId134"/>
    <p:sldId id="363" r:id="rId135"/>
    <p:sldId id="364" r:id="rId136"/>
    <p:sldId id="365" r:id="rId137"/>
    <p:sldId id="360" r:id="rId138"/>
    <p:sldId id="366" r:id="rId139"/>
    <p:sldId id="361" r:id="rId140"/>
    <p:sldId id="367" r:id="rId141"/>
    <p:sldId id="391" r:id="rId142"/>
    <p:sldId id="392" r:id="rId143"/>
    <p:sldId id="393" r:id="rId144"/>
    <p:sldId id="371" r:id="rId145"/>
    <p:sldId id="394" r:id="rId146"/>
    <p:sldId id="434" r:id="rId147"/>
    <p:sldId id="437" r:id="rId148"/>
    <p:sldId id="341" r:id="rId149"/>
    <p:sldId id="342" r:id="rId150"/>
    <p:sldId id="343" r:id="rId151"/>
    <p:sldId id="390" r:id="rId152"/>
    <p:sldId id="345" r:id="rId153"/>
    <p:sldId id="346" r:id="rId154"/>
    <p:sldId id="347" r:id="rId155"/>
    <p:sldId id="372" r:id="rId156"/>
    <p:sldId id="373" r:id="rId157"/>
    <p:sldId id="374" r:id="rId158"/>
    <p:sldId id="375" r:id="rId159"/>
    <p:sldId id="376" r:id="rId160"/>
    <p:sldId id="378" r:id="rId161"/>
    <p:sldId id="379" r:id="rId162"/>
    <p:sldId id="382" r:id="rId163"/>
  </p:sldIdLst>
  <p:sldSz cx="9144000" cy="6858000" type="screen4x3"/>
  <p:notesSz cx="7099300"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005DA2"/>
    <a:srgbClr val="FFFF99"/>
    <a:srgbClr val="66CCFF"/>
    <a:srgbClr val="0080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8895" autoAdjust="0"/>
  </p:normalViewPr>
  <p:slideViewPr>
    <p:cSldViewPr>
      <p:cViewPr>
        <p:scale>
          <a:sx n="82" d="100"/>
          <a:sy n="82" d="100"/>
        </p:scale>
        <p:origin x="-1478" y="-101"/>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117" Type="http://schemas.openxmlformats.org/officeDocument/2006/relationships/slide" Target="slides/slide110.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slide" Target="slides/slide61.xml"/><Relationship Id="rId84" Type="http://schemas.openxmlformats.org/officeDocument/2006/relationships/slide" Target="slides/slide77.xml"/><Relationship Id="rId89" Type="http://schemas.openxmlformats.org/officeDocument/2006/relationships/slide" Target="slides/slide82.xml"/><Relationship Id="rId112" Type="http://schemas.openxmlformats.org/officeDocument/2006/relationships/slide" Target="slides/slide105.xml"/><Relationship Id="rId133" Type="http://schemas.openxmlformats.org/officeDocument/2006/relationships/slide" Target="slides/slide126.xml"/><Relationship Id="rId138" Type="http://schemas.openxmlformats.org/officeDocument/2006/relationships/slide" Target="slides/slide131.xml"/><Relationship Id="rId154" Type="http://schemas.openxmlformats.org/officeDocument/2006/relationships/slide" Target="slides/slide147.xml"/><Relationship Id="rId159" Type="http://schemas.openxmlformats.org/officeDocument/2006/relationships/slide" Target="slides/slide152.xml"/><Relationship Id="rId16" Type="http://schemas.openxmlformats.org/officeDocument/2006/relationships/slide" Target="slides/slide9.xml"/><Relationship Id="rId107" Type="http://schemas.openxmlformats.org/officeDocument/2006/relationships/slide" Target="slides/slide100.xml"/><Relationship Id="rId11" Type="http://schemas.openxmlformats.org/officeDocument/2006/relationships/slide" Target="slides/slide4.xml"/><Relationship Id="rId32" Type="http://schemas.openxmlformats.org/officeDocument/2006/relationships/slide" Target="slides/slide25.xml"/><Relationship Id="rId37" Type="http://schemas.openxmlformats.org/officeDocument/2006/relationships/slide" Target="slides/slide30.xml"/><Relationship Id="rId53" Type="http://schemas.openxmlformats.org/officeDocument/2006/relationships/slide" Target="slides/slide46.xml"/><Relationship Id="rId58" Type="http://schemas.openxmlformats.org/officeDocument/2006/relationships/slide" Target="slides/slide51.xml"/><Relationship Id="rId74" Type="http://schemas.openxmlformats.org/officeDocument/2006/relationships/slide" Target="slides/slide67.xml"/><Relationship Id="rId79" Type="http://schemas.openxmlformats.org/officeDocument/2006/relationships/slide" Target="slides/slide72.xml"/><Relationship Id="rId102" Type="http://schemas.openxmlformats.org/officeDocument/2006/relationships/slide" Target="slides/slide95.xml"/><Relationship Id="rId123" Type="http://schemas.openxmlformats.org/officeDocument/2006/relationships/slide" Target="slides/slide116.xml"/><Relationship Id="rId128" Type="http://schemas.openxmlformats.org/officeDocument/2006/relationships/slide" Target="slides/slide121.xml"/><Relationship Id="rId144" Type="http://schemas.openxmlformats.org/officeDocument/2006/relationships/slide" Target="slides/slide137.xml"/><Relationship Id="rId149" Type="http://schemas.openxmlformats.org/officeDocument/2006/relationships/slide" Target="slides/slide142.xml"/><Relationship Id="rId5" Type="http://schemas.openxmlformats.org/officeDocument/2006/relationships/slideMaster" Target="slideMasters/slideMaster5.xml"/><Relationship Id="rId90" Type="http://schemas.openxmlformats.org/officeDocument/2006/relationships/slide" Target="slides/slide83.xml"/><Relationship Id="rId95" Type="http://schemas.openxmlformats.org/officeDocument/2006/relationships/slide" Target="slides/slide88.xml"/><Relationship Id="rId160" Type="http://schemas.openxmlformats.org/officeDocument/2006/relationships/slide" Target="slides/slide153.xml"/><Relationship Id="rId165" Type="http://schemas.openxmlformats.org/officeDocument/2006/relationships/presProps" Target="presProps.xml"/><Relationship Id="rId22" Type="http://schemas.openxmlformats.org/officeDocument/2006/relationships/slide" Target="slides/slide15.xml"/><Relationship Id="rId27" Type="http://schemas.openxmlformats.org/officeDocument/2006/relationships/slide" Target="slides/slide20.xml"/><Relationship Id="rId43" Type="http://schemas.openxmlformats.org/officeDocument/2006/relationships/slide" Target="slides/slide36.xml"/><Relationship Id="rId48" Type="http://schemas.openxmlformats.org/officeDocument/2006/relationships/slide" Target="slides/slide41.xml"/><Relationship Id="rId64" Type="http://schemas.openxmlformats.org/officeDocument/2006/relationships/slide" Target="slides/slide57.xml"/><Relationship Id="rId69" Type="http://schemas.openxmlformats.org/officeDocument/2006/relationships/slide" Target="slides/slide62.xml"/><Relationship Id="rId113" Type="http://schemas.openxmlformats.org/officeDocument/2006/relationships/slide" Target="slides/slide106.xml"/><Relationship Id="rId118" Type="http://schemas.openxmlformats.org/officeDocument/2006/relationships/slide" Target="slides/slide111.xml"/><Relationship Id="rId134" Type="http://schemas.openxmlformats.org/officeDocument/2006/relationships/slide" Target="slides/slide127.xml"/><Relationship Id="rId139" Type="http://schemas.openxmlformats.org/officeDocument/2006/relationships/slide" Target="slides/slide132.xml"/><Relationship Id="rId80" Type="http://schemas.openxmlformats.org/officeDocument/2006/relationships/slide" Target="slides/slide73.xml"/><Relationship Id="rId85" Type="http://schemas.openxmlformats.org/officeDocument/2006/relationships/slide" Target="slides/slide78.xml"/><Relationship Id="rId150" Type="http://schemas.openxmlformats.org/officeDocument/2006/relationships/slide" Target="slides/slide143.xml"/><Relationship Id="rId155" Type="http://schemas.openxmlformats.org/officeDocument/2006/relationships/slide" Target="slides/slide148.xml"/><Relationship Id="rId12" Type="http://schemas.openxmlformats.org/officeDocument/2006/relationships/slide" Target="slides/slide5.xml"/><Relationship Id="rId17" Type="http://schemas.openxmlformats.org/officeDocument/2006/relationships/slide" Target="slides/slide10.xml"/><Relationship Id="rId33" Type="http://schemas.openxmlformats.org/officeDocument/2006/relationships/slide" Target="slides/slide26.xml"/><Relationship Id="rId38" Type="http://schemas.openxmlformats.org/officeDocument/2006/relationships/slide" Target="slides/slide31.xml"/><Relationship Id="rId59" Type="http://schemas.openxmlformats.org/officeDocument/2006/relationships/slide" Target="slides/slide52.xml"/><Relationship Id="rId103" Type="http://schemas.openxmlformats.org/officeDocument/2006/relationships/slide" Target="slides/slide96.xml"/><Relationship Id="rId108" Type="http://schemas.openxmlformats.org/officeDocument/2006/relationships/slide" Target="slides/slide101.xml"/><Relationship Id="rId124" Type="http://schemas.openxmlformats.org/officeDocument/2006/relationships/slide" Target="slides/slide117.xml"/><Relationship Id="rId129" Type="http://schemas.openxmlformats.org/officeDocument/2006/relationships/slide" Target="slides/slide122.xml"/><Relationship Id="rId54" Type="http://schemas.openxmlformats.org/officeDocument/2006/relationships/slide" Target="slides/slide47.xml"/><Relationship Id="rId70" Type="http://schemas.openxmlformats.org/officeDocument/2006/relationships/slide" Target="slides/slide63.xml"/><Relationship Id="rId75" Type="http://schemas.openxmlformats.org/officeDocument/2006/relationships/slide" Target="slides/slide68.xml"/><Relationship Id="rId91" Type="http://schemas.openxmlformats.org/officeDocument/2006/relationships/slide" Target="slides/slide84.xml"/><Relationship Id="rId96" Type="http://schemas.openxmlformats.org/officeDocument/2006/relationships/slide" Target="slides/slide89.xml"/><Relationship Id="rId140" Type="http://schemas.openxmlformats.org/officeDocument/2006/relationships/slide" Target="slides/slide133.xml"/><Relationship Id="rId145" Type="http://schemas.openxmlformats.org/officeDocument/2006/relationships/slide" Target="slides/slide138.xml"/><Relationship Id="rId161" Type="http://schemas.openxmlformats.org/officeDocument/2006/relationships/slide" Target="slides/slide154.xml"/><Relationship Id="rId16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6" Type="http://schemas.openxmlformats.org/officeDocument/2006/relationships/slide" Target="slides/slide99.xml"/><Relationship Id="rId114" Type="http://schemas.openxmlformats.org/officeDocument/2006/relationships/slide" Target="slides/slide107.xml"/><Relationship Id="rId119" Type="http://schemas.openxmlformats.org/officeDocument/2006/relationships/slide" Target="slides/slide112.xml"/><Relationship Id="rId127" Type="http://schemas.openxmlformats.org/officeDocument/2006/relationships/slide" Target="slides/slide12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slide" Target="slides/slide66.xml"/><Relationship Id="rId78" Type="http://schemas.openxmlformats.org/officeDocument/2006/relationships/slide" Target="slides/slide71.xml"/><Relationship Id="rId81" Type="http://schemas.openxmlformats.org/officeDocument/2006/relationships/slide" Target="slides/slide74.xml"/><Relationship Id="rId86" Type="http://schemas.openxmlformats.org/officeDocument/2006/relationships/slide" Target="slides/slide79.xml"/><Relationship Id="rId94" Type="http://schemas.openxmlformats.org/officeDocument/2006/relationships/slide" Target="slides/slide87.xml"/><Relationship Id="rId99" Type="http://schemas.openxmlformats.org/officeDocument/2006/relationships/slide" Target="slides/slide92.xml"/><Relationship Id="rId101" Type="http://schemas.openxmlformats.org/officeDocument/2006/relationships/slide" Target="slides/slide94.xml"/><Relationship Id="rId122" Type="http://schemas.openxmlformats.org/officeDocument/2006/relationships/slide" Target="slides/slide115.xml"/><Relationship Id="rId130" Type="http://schemas.openxmlformats.org/officeDocument/2006/relationships/slide" Target="slides/slide123.xml"/><Relationship Id="rId135" Type="http://schemas.openxmlformats.org/officeDocument/2006/relationships/slide" Target="slides/slide128.xml"/><Relationship Id="rId143" Type="http://schemas.openxmlformats.org/officeDocument/2006/relationships/slide" Target="slides/slide136.xml"/><Relationship Id="rId148" Type="http://schemas.openxmlformats.org/officeDocument/2006/relationships/slide" Target="slides/slide141.xml"/><Relationship Id="rId151" Type="http://schemas.openxmlformats.org/officeDocument/2006/relationships/slide" Target="slides/slide144.xml"/><Relationship Id="rId156" Type="http://schemas.openxmlformats.org/officeDocument/2006/relationships/slide" Target="slides/slide149.xml"/><Relationship Id="rId164"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109" Type="http://schemas.openxmlformats.org/officeDocument/2006/relationships/slide" Target="slides/slide10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slide" Target="slides/slide69.xml"/><Relationship Id="rId97" Type="http://schemas.openxmlformats.org/officeDocument/2006/relationships/slide" Target="slides/slide90.xml"/><Relationship Id="rId104" Type="http://schemas.openxmlformats.org/officeDocument/2006/relationships/slide" Target="slides/slide97.xml"/><Relationship Id="rId120" Type="http://schemas.openxmlformats.org/officeDocument/2006/relationships/slide" Target="slides/slide113.xml"/><Relationship Id="rId125" Type="http://schemas.openxmlformats.org/officeDocument/2006/relationships/slide" Target="slides/slide118.xml"/><Relationship Id="rId141" Type="http://schemas.openxmlformats.org/officeDocument/2006/relationships/slide" Target="slides/slide134.xml"/><Relationship Id="rId146" Type="http://schemas.openxmlformats.org/officeDocument/2006/relationships/slide" Target="slides/slide139.xml"/><Relationship Id="rId167" Type="http://schemas.openxmlformats.org/officeDocument/2006/relationships/theme" Target="theme/theme1.xml"/><Relationship Id="rId7" Type="http://schemas.openxmlformats.org/officeDocument/2006/relationships/slideMaster" Target="slideMasters/slideMaster7.xml"/><Relationship Id="rId71" Type="http://schemas.openxmlformats.org/officeDocument/2006/relationships/slide" Target="slides/slide64.xml"/><Relationship Id="rId92" Type="http://schemas.openxmlformats.org/officeDocument/2006/relationships/slide" Target="slides/slide85.xml"/><Relationship Id="rId162" Type="http://schemas.openxmlformats.org/officeDocument/2006/relationships/slide" Target="slides/slide155.xml"/><Relationship Id="rId2" Type="http://schemas.openxmlformats.org/officeDocument/2006/relationships/slideMaster" Target="slideMasters/slideMaster2.xml"/><Relationship Id="rId29" Type="http://schemas.openxmlformats.org/officeDocument/2006/relationships/slide" Target="slides/slide22.xml"/><Relationship Id="rId24" Type="http://schemas.openxmlformats.org/officeDocument/2006/relationships/slide" Target="slides/slide17.xml"/><Relationship Id="rId40" Type="http://schemas.openxmlformats.org/officeDocument/2006/relationships/slide" Target="slides/slide33.xml"/><Relationship Id="rId45" Type="http://schemas.openxmlformats.org/officeDocument/2006/relationships/slide" Target="slides/slide38.xml"/><Relationship Id="rId66" Type="http://schemas.openxmlformats.org/officeDocument/2006/relationships/slide" Target="slides/slide59.xml"/><Relationship Id="rId87" Type="http://schemas.openxmlformats.org/officeDocument/2006/relationships/slide" Target="slides/slide80.xml"/><Relationship Id="rId110" Type="http://schemas.openxmlformats.org/officeDocument/2006/relationships/slide" Target="slides/slide103.xml"/><Relationship Id="rId115" Type="http://schemas.openxmlformats.org/officeDocument/2006/relationships/slide" Target="slides/slide108.xml"/><Relationship Id="rId131" Type="http://schemas.openxmlformats.org/officeDocument/2006/relationships/slide" Target="slides/slide124.xml"/><Relationship Id="rId136" Type="http://schemas.openxmlformats.org/officeDocument/2006/relationships/slide" Target="slides/slide129.xml"/><Relationship Id="rId157" Type="http://schemas.openxmlformats.org/officeDocument/2006/relationships/slide" Target="slides/slide150.xml"/><Relationship Id="rId61" Type="http://schemas.openxmlformats.org/officeDocument/2006/relationships/slide" Target="slides/slide54.xml"/><Relationship Id="rId82" Type="http://schemas.openxmlformats.org/officeDocument/2006/relationships/slide" Target="slides/slide75.xml"/><Relationship Id="rId152" Type="http://schemas.openxmlformats.org/officeDocument/2006/relationships/slide" Target="slides/slide145.xml"/><Relationship Id="rId19" Type="http://schemas.openxmlformats.org/officeDocument/2006/relationships/slide" Target="slides/slide12.xml"/><Relationship Id="rId14" Type="http://schemas.openxmlformats.org/officeDocument/2006/relationships/slide" Target="slides/slide7.xml"/><Relationship Id="rId30" Type="http://schemas.openxmlformats.org/officeDocument/2006/relationships/slide" Target="slides/slide23.xml"/><Relationship Id="rId35" Type="http://schemas.openxmlformats.org/officeDocument/2006/relationships/slide" Target="slides/slide28.xml"/><Relationship Id="rId56" Type="http://schemas.openxmlformats.org/officeDocument/2006/relationships/slide" Target="slides/slide49.xml"/><Relationship Id="rId77" Type="http://schemas.openxmlformats.org/officeDocument/2006/relationships/slide" Target="slides/slide70.xml"/><Relationship Id="rId100" Type="http://schemas.openxmlformats.org/officeDocument/2006/relationships/slide" Target="slides/slide93.xml"/><Relationship Id="rId105" Type="http://schemas.openxmlformats.org/officeDocument/2006/relationships/slide" Target="slides/slide98.xml"/><Relationship Id="rId126" Type="http://schemas.openxmlformats.org/officeDocument/2006/relationships/slide" Target="slides/slide119.xml"/><Relationship Id="rId147" Type="http://schemas.openxmlformats.org/officeDocument/2006/relationships/slide" Target="slides/slide140.xml"/><Relationship Id="rId168" Type="http://schemas.openxmlformats.org/officeDocument/2006/relationships/tableStyles" Target="tableStyles.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93" Type="http://schemas.openxmlformats.org/officeDocument/2006/relationships/slide" Target="slides/slide86.xml"/><Relationship Id="rId98" Type="http://schemas.openxmlformats.org/officeDocument/2006/relationships/slide" Target="slides/slide91.xml"/><Relationship Id="rId121" Type="http://schemas.openxmlformats.org/officeDocument/2006/relationships/slide" Target="slides/slide114.xml"/><Relationship Id="rId142" Type="http://schemas.openxmlformats.org/officeDocument/2006/relationships/slide" Target="slides/slide135.xml"/><Relationship Id="rId163" Type="http://schemas.openxmlformats.org/officeDocument/2006/relationships/slide" Target="slides/slide156.xml"/><Relationship Id="rId3" Type="http://schemas.openxmlformats.org/officeDocument/2006/relationships/slideMaster" Target="slideMasters/slideMaster3.xml"/><Relationship Id="rId25" Type="http://schemas.openxmlformats.org/officeDocument/2006/relationships/slide" Target="slides/slide18.xml"/><Relationship Id="rId46" Type="http://schemas.openxmlformats.org/officeDocument/2006/relationships/slide" Target="slides/slide39.xml"/><Relationship Id="rId67" Type="http://schemas.openxmlformats.org/officeDocument/2006/relationships/slide" Target="slides/slide60.xml"/><Relationship Id="rId116" Type="http://schemas.openxmlformats.org/officeDocument/2006/relationships/slide" Target="slides/slide109.xml"/><Relationship Id="rId137" Type="http://schemas.openxmlformats.org/officeDocument/2006/relationships/slide" Target="slides/slide130.xml"/><Relationship Id="rId158" Type="http://schemas.openxmlformats.org/officeDocument/2006/relationships/slide" Target="slides/slide151.xml"/><Relationship Id="rId20" Type="http://schemas.openxmlformats.org/officeDocument/2006/relationships/slide" Target="slides/slide13.xml"/><Relationship Id="rId41" Type="http://schemas.openxmlformats.org/officeDocument/2006/relationships/slide" Target="slides/slide34.xml"/><Relationship Id="rId62" Type="http://schemas.openxmlformats.org/officeDocument/2006/relationships/slide" Target="slides/slide55.xml"/><Relationship Id="rId83" Type="http://schemas.openxmlformats.org/officeDocument/2006/relationships/slide" Target="slides/slide76.xml"/><Relationship Id="rId88" Type="http://schemas.openxmlformats.org/officeDocument/2006/relationships/slide" Target="slides/slide81.xml"/><Relationship Id="rId111" Type="http://schemas.openxmlformats.org/officeDocument/2006/relationships/slide" Target="slides/slide104.xml"/><Relationship Id="rId132" Type="http://schemas.openxmlformats.org/officeDocument/2006/relationships/slide" Target="slides/slide125.xml"/><Relationship Id="rId153" Type="http://schemas.openxmlformats.org/officeDocument/2006/relationships/slide" Target="slides/slide146.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 Id="rId5" Type="http://schemas.openxmlformats.org/officeDocument/2006/relationships/image" Target="../media/image17.wmf"/><Relationship Id="rId4" Type="http://schemas.openxmlformats.org/officeDocument/2006/relationships/image" Target="../media/image16.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 Id="rId4" Type="http://schemas.openxmlformats.org/officeDocument/2006/relationships/image" Target="../media/image23.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image" Target="../media/image25.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41.wmf"/><Relationship Id="rId7" Type="http://schemas.openxmlformats.org/officeDocument/2006/relationships/image" Target="../media/image45.wmf"/><Relationship Id="rId2" Type="http://schemas.openxmlformats.org/officeDocument/2006/relationships/image" Target="../media/image40.wmf"/><Relationship Id="rId1" Type="http://schemas.openxmlformats.org/officeDocument/2006/relationships/image" Target="../media/image39.wmf"/><Relationship Id="rId6" Type="http://schemas.openxmlformats.org/officeDocument/2006/relationships/image" Target="../media/image44.wmf"/><Relationship Id="rId5" Type="http://schemas.openxmlformats.org/officeDocument/2006/relationships/image" Target="../media/image43.wmf"/><Relationship Id="rId4" Type="http://schemas.openxmlformats.org/officeDocument/2006/relationships/image" Target="../media/image42.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image" Target="../media/image52.wmf"/><Relationship Id="rId1" Type="http://schemas.openxmlformats.org/officeDocument/2006/relationships/image" Target="../media/image51.wmf"/><Relationship Id="rId4" Type="http://schemas.openxmlformats.org/officeDocument/2006/relationships/image" Target="../media/image54.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56.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59.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61.wmf"/><Relationship Id="rId1" Type="http://schemas.openxmlformats.org/officeDocument/2006/relationships/image" Target="../media/image59.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65.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image" Target="../media/image76.wmf"/><Relationship Id="rId1" Type="http://schemas.openxmlformats.org/officeDocument/2006/relationships/image" Target="../media/image75.wmf"/><Relationship Id="rId4" Type="http://schemas.openxmlformats.org/officeDocument/2006/relationships/image" Target="../media/image78.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80.wmf"/><Relationship Id="rId1" Type="http://schemas.openxmlformats.org/officeDocument/2006/relationships/image" Target="../media/image79.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84.wmf"/><Relationship Id="rId1" Type="http://schemas.openxmlformats.org/officeDocument/2006/relationships/image" Target="../media/image83.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87.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88.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100.wmf"/><Relationship Id="rId2" Type="http://schemas.openxmlformats.org/officeDocument/2006/relationships/image" Target="../media/image99.wmf"/><Relationship Id="rId1" Type="http://schemas.openxmlformats.org/officeDocument/2006/relationships/image" Target="../media/image98.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104.wmf"/><Relationship Id="rId2" Type="http://schemas.openxmlformats.org/officeDocument/2006/relationships/image" Target="../media/image103.wmf"/><Relationship Id="rId1" Type="http://schemas.openxmlformats.org/officeDocument/2006/relationships/image" Target="../media/image102.wmf"/><Relationship Id="rId4" Type="http://schemas.openxmlformats.org/officeDocument/2006/relationships/image" Target="../media/image105.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07.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09.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18.wmf"/><Relationship Id="rId2" Type="http://schemas.openxmlformats.org/officeDocument/2006/relationships/image" Target="../media/image117.wmf"/><Relationship Id="rId1" Type="http://schemas.openxmlformats.org/officeDocument/2006/relationships/image" Target="../media/image116.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135.emf"/><Relationship Id="rId13" Type="http://schemas.openxmlformats.org/officeDocument/2006/relationships/image" Target="../media/image140.emf"/><Relationship Id="rId3" Type="http://schemas.openxmlformats.org/officeDocument/2006/relationships/image" Target="../media/image130.wmf"/><Relationship Id="rId7" Type="http://schemas.openxmlformats.org/officeDocument/2006/relationships/image" Target="../media/image134.emf"/><Relationship Id="rId12" Type="http://schemas.openxmlformats.org/officeDocument/2006/relationships/image" Target="../media/image139.emf"/><Relationship Id="rId2" Type="http://schemas.openxmlformats.org/officeDocument/2006/relationships/image" Target="../media/image129.wmf"/><Relationship Id="rId1" Type="http://schemas.openxmlformats.org/officeDocument/2006/relationships/image" Target="../media/image128.wmf"/><Relationship Id="rId6" Type="http://schemas.openxmlformats.org/officeDocument/2006/relationships/image" Target="../media/image133.emf"/><Relationship Id="rId11" Type="http://schemas.openxmlformats.org/officeDocument/2006/relationships/image" Target="../media/image138.emf"/><Relationship Id="rId5" Type="http://schemas.openxmlformats.org/officeDocument/2006/relationships/image" Target="../media/image132.emf"/><Relationship Id="rId10" Type="http://schemas.openxmlformats.org/officeDocument/2006/relationships/image" Target="../media/image137.emf"/><Relationship Id="rId4" Type="http://schemas.openxmlformats.org/officeDocument/2006/relationships/image" Target="../media/image131.emf"/><Relationship Id="rId9" Type="http://schemas.openxmlformats.org/officeDocument/2006/relationships/image" Target="../media/image136.emf"/><Relationship Id="rId14" Type="http://schemas.openxmlformats.org/officeDocument/2006/relationships/image" Target="../media/image141.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42.e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147.wmf"/><Relationship Id="rId1" Type="http://schemas.openxmlformats.org/officeDocument/2006/relationships/image" Target="../media/image146.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53.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158.wmf"/><Relationship Id="rId1" Type="http://schemas.openxmlformats.org/officeDocument/2006/relationships/image" Target="../media/image157.e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161.emf"/><Relationship Id="rId1" Type="http://schemas.openxmlformats.org/officeDocument/2006/relationships/image" Target="../media/image160.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81.wmf"/><Relationship Id="rId2" Type="http://schemas.openxmlformats.org/officeDocument/2006/relationships/image" Target="../media/image180.wmf"/><Relationship Id="rId1" Type="http://schemas.openxmlformats.org/officeDocument/2006/relationships/image" Target="../media/image179.w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189.wmf"/><Relationship Id="rId1" Type="http://schemas.openxmlformats.org/officeDocument/2006/relationships/image" Target="../media/image188.wmf"/></Relationships>
</file>

<file path=ppt/drawings/_rels/vmlDrawing31.vml.rels><?xml version="1.0" encoding="UTF-8" standalone="yes"?>
<Relationships xmlns="http://schemas.openxmlformats.org/package/2006/relationships"><Relationship Id="rId2" Type="http://schemas.openxmlformats.org/officeDocument/2006/relationships/image" Target="../media/image142.emf"/><Relationship Id="rId1" Type="http://schemas.openxmlformats.org/officeDocument/2006/relationships/image" Target="../media/image192.wmf"/></Relationships>
</file>

<file path=ppt/drawings/_rels/vmlDrawing32.vml.rels><?xml version="1.0" encoding="UTF-8" standalone="yes"?>
<Relationships xmlns="http://schemas.openxmlformats.org/package/2006/relationships"><Relationship Id="rId2" Type="http://schemas.openxmlformats.org/officeDocument/2006/relationships/image" Target="../media/image142.emf"/><Relationship Id="rId1" Type="http://schemas.openxmlformats.org/officeDocument/2006/relationships/image" Target="../media/image192.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204.wmf"/></Relationships>
</file>

<file path=ppt/drawings/_rels/vmlDrawing34.vml.rels><?xml version="1.0" encoding="UTF-8" standalone="yes"?>
<Relationships xmlns="http://schemas.openxmlformats.org/package/2006/relationships"><Relationship Id="rId2" Type="http://schemas.openxmlformats.org/officeDocument/2006/relationships/image" Target="../media/image210.wmf"/><Relationship Id="rId1" Type="http://schemas.openxmlformats.org/officeDocument/2006/relationships/image" Target="../media/image209.wmf"/></Relationships>
</file>

<file path=ppt/drawings/_rels/vmlDrawing35.vml.rels><?xml version="1.0" encoding="UTF-8" standalone="yes"?>
<Relationships xmlns="http://schemas.openxmlformats.org/package/2006/relationships"><Relationship Id="rId2" Type="http://schemas.openxmlformats.org/officeDocument/2006/relationships/image" Target="../media/image213.wmf"/><Relationship Id="rId1" Type="http://schemas.openxmlformats.org/officeDocument/2006/relationships/image" Target="../media/image212.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216.wmf"/><Relationship Id="rId2" Type="http://schemas.openxmlformats.org/officeDocument/2006/relationships/image" Target="../media/image215.wmf"/><Relationship Id="rId1" Type="http://schemas.openxmlformats.org/officeDocument/2006/relationships/image" Target="../media/image214.w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219.w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238.wmf"/></Relationships>
</file>

<file path=ppt/drawings/_rels/vmlDrawing39.vml.rels><?xml version="1.0" encoding="UTF-8" standalone="yes"?>
<Relationships xmlns="http://schemas.openxmlformats.org/package/2006/relationships"><Relationship Id="rId2" Type="http://schemas.openxmlformats.org/officeDocument/2006/relationships/image" Target="../media/image242.wmf"/><Relationship Id="rId1" Type="http://schemas.openxmlformats.org/officeDocument/2006/relationships/image" Target="../media/image241.wmf"/></Relationships>
</file>

<file path=ppt/drawings/_rels/vmlDrawing40.vml.rels><?xml version="1.0" encoding="UTF-8" standalone="yes"?>
<Relationships xmlns="http://schemas.openxmlformats.org/package/2006/relationships"><Relationship Id="rId2" Type="http://schemas.openxmlformats.org/officeDocument/2006/relationships/image" Target="../media/image249.wmf"/><Relationship Id="rId1" Type="http://schemas.openxmlformats.org/officeDocument/2006/relationships/image" Target="../media/image248.wmf"/></Relationships>
</file>

<file path=ppt/drawings/_rels/vmlDrawing41.vml.rels><?xml version="1.0" encoding="UTF-8" standalone="yes"?>
<Relationships xmlns="http://schemas.openxmlformats.org/package/2006/relationships"><Relationship Id="rId2" Type="http://schemas.openxmlformats.org/officeDocument/2006/relationships/image" Target="../media/image281.emf"/><Relationship Id="rId1" Type="http://schemas.openxmlformats.org/officeDocument/2006/relationships/image" Target="../media/image280.emf"/></Relationships>
</file>

<file path=ppt/drawings/_rels/vmlDrawing42.vml.rels><?xml version="1.0" encoding="UTF-8" standalone="yes"?>
<Relationships xmlns="http://schemas.openxmlformats.org/package/2006/relationships"><Relationship Id="rId2" Type="http://schemas.openxmlformats.org/officeDocument/2006/relationships/image" Target="../media/image286.wmf"/><Relationship Id="rId1" Type="http://schemas.openxmlformats.org/officeDocument/2006/relationships/image" Target="../media/image28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zh-CN" altLang="en-US"/>
          </a:p>
        </p:txBody>
      </p:sp>
      <p:sp>
        <p:nvSpPr>
          <p:cNvPr id="3" name="日期占位符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vl1pPr>
          </a:lstStyle>
          <a:p>
            <a:fld id="{23A94598-A2C1-4165-A6F2-64A7294DB228}" type="datetimeFigureOut">
              <a:rPr lang="zh-CN" altLang="en-US" smtClean="0"/>
              <a:pPr/>
              <a:t>2021/11/15</a:t>
            </a:fld>
            <a:endParaRPr lang="zh-CN" altLang="en-US"/>
          </a:p>
        </p:txBody>
      </p:sp>
      <p:sp>
        <p:nvSpPr>
          <p:cNvPr id="4" name="幻灯片图像占位符 3"/>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9048" tIns="49524" rIns="99048" bIns="49524" rtlCol="0" anchor="ctr"/>
          <a:lstStyle/>
          <a:p>
            <a:endParaRPr lang="zh-CN" altLang="en-US"/>
          </a:p>
        </p:txBody>
      </p:sp>
      <p:sp>
        <p:nvSpPr>
          <p:cNvPr id="5" name="备注占位符 4"/>
          <p:cNvSpPr>
            <a:spLocks noGrp="1"/>
          </p:cNvSpPr>
          <p:nvPr>
            <p:ph type="body" sz="quarter" idx="3"/>
          </p:nvPr>
        </p:nvSpPr>
        <p:spPr>
          <a:xfrm>
            <a:off x="709930" y="4861441"/>
            <a:ext cx="5679440" cy="4605576"/>
          </a:xfrm>
          <a:prstGeom prst="rect">
            <a:avLst/>
          </a:prstGeom>
        </p:spPr>
        <p:txBody>
          <a:bodyPr vert="horz" lIns="99048" tIns="49524" rIns="99048" bIns="49524"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vl1pPr>
          </a:lstStyle>
          <a:p>
            <a:endParaRPr lang="zh-CN" altLang="en-US"/>
          </a:p>
        </p:txBody>
      </p:sp>
      <p:sp>
        <p:nvSpPr>
          <p:cNvPr id="7" name="灯片编号占位符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vl1pPr>
          </a:lstStyle>
          <a:p>
            <a:fld id="{14979D77-E759-4B89-9F2D-B3084097319F}" type="slidenum">
              <a:rPr lang="zh-CN" altLang="en-US" smtClean="0"/>
              <a:pPr/>
              <a:t>‹#›</a:t>
            </a:fld>
            <a:endParaRPr lang="zh-CN" altLang="en-US"/>
          </a:p>
        </p:txBody>
      </p:sp>
    </p:spTree>
    <p:extLst>
      <p:ext uri="{BB962C8B-B14F-4D97-AF65-F5344CB8AC3E}">
        <p14:creationId xmlns:p14="http://schemas.microsoft.com/office/powerpoint/2010/main" xmlns="" val="2796224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5C631000-0F6C-4080-9FA0-0F1D80AD0F07}" type="slidenum">
              <a:rPr lang="en-US" altLang="zh-CN"/>
              <a:pPr/>
              <a:t>8</a:t>
            </a:fld>
            <a:endParaRPr lang="en-US" altLang="zh-CN"/>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eaLnBrk="1" hangingPunct="1"/>
            <a:r>
              <a:rPr lang="en-US" altLang="zh-CN" smtClean="0"/>
              <a:t>        </a:t>
            </a:r>
            <a:r>
              <a:rPr lang="zh-CN" altLang="en-US" smtClean="0"/>
              <a:t>放大电路存在电抗元件，如电容、电感。因此输入信号的频率不同，电路的输出响应也不同。</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5C631000-0F6C-4080-9FA0-0F1D80AD0F07}" type="slidenum">
              <a:rPr lang="en-US" altLang="zh-CN"/>
              <a:pPr/>
              <a:t>9</a:t>
            </a:fld>
            <a:endParaRPr lang="en-US" altLang="zh-CN"/>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eaLnBrk="1" hangingPunct="1"/>
            <a:r>
              <a:rPr lang="en-US" altLang="zh-CN" smtClean="0"/>
              <a:t>        </a:t>
            </a:r>
            <a:r>
              <a:rPr lang="zh-CN" altLang="en-US" smtClean="0"/>
              <a:t>放大电路存在电抗元件，如电容、电感。因此输入信号的频率不同，电路的输出响应也不同。</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4979D77-E759-4B89-9F2D-B3084097319F}" type="slidenum">
              <a:rPr lang="zh-CN" altLang="en-US" smtClean="0"/>
              <a:pPr/>
              <a:t>18</a:t>
            </a:fld>
            <a:endParaRPr lang="zh-CN" altLang="en-US"/>
          </a:p>
        </p:txBody>
      </p:sp>
    </p:spTree>
    <p:extLst>
      <p:ext uri="{BB962C8B-B14F-4D97-AF65-F5344CB8AC3E}">
        <p14:creationId xmlns:p14="http://schemas.microsoft.com/office/powerpoint/2010/main" xmlns="" val="25284083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114690" name="Group 2"/>
          <p:cNvGrpSpPr>
            <a:grpSpLocks/>
          </p:cNvGrpSpPr>
          <p:nvPr/>
        </p:nvGrpSpPr>
        <p:grpSpPr bwMode="auto">
          <a:xfrm>
            <a:off x="0" y="2438400"/>
            <a:ext cx="9009063" cy="1052513"/>
            <a:chOff x="0" y="1536"/>
            <a:chExt cx="5675" cy="663"/>
          </a:xfrm>
        </p:grpSpPr>
        <p:grpSp>
          <p:nvGrpSpPr>
            <p:cNvPr id="114691" name="Group 3"/>
            <p:cNvGrpSpPr>
              <a:grpSpLocks/>
            </p:cNvGrpSpPr>
            <p:nvPr/>
          </p:nvGrpSpPr>
          <p:grpSpPr bwMode="auto">
            <a:xfrm>
              <a:off x="183" y="1604"/>
              <a:ext cx="448" cy="299"/>
              <a:chOff x="720" y="336"/>
              <a:chExt cx="624" cy="432"/>
            </a:xfrm>
          </p:grpSpPr>
          <p:sp>
            <p:nvSpPr>
              <p:cNvPr id="114692" name="Rectangle 4"/>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1469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grpSp>
        <p:grpSp>
          <p:nvGrpSpPr>
            <p:cNvPr id="114694" name="Group 6"/>
            <p:cNvGrpSpPr>
              <a:grpSpLocks/>
            </p:cNvGrpSpPr>
            <p:nvPr/>
          </p:nvGrpSpPr>
          <p:grpSpPr bwMode="auto">
            <a:xfrm>
              <a:off x="261" y="1870"/>
              <a:ext cx="465" cy="299"/>
              <a:chOff x="912" y="2640"/>
              <a:chExt cx="672" cy="432"/>
            </a:xfrm>
          </p:grpSpPr>
          <p:sp>
            <p:nvSpPr>
              <p:cNvPr id="114695" name="Rectangle 7"/>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14696"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grpSp>
        <p:sp>
          <p:nvSpPr>
            <p:cNvPr id="11469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14698" name="Rectangle 10"/>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xmlns="" w="9525">
                  <a:solidFill>
                    <a:schemeClr val="bg2"/>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1469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grpSp>
      <p:sp>
        <p:nvSpPr>
          <p:cNvPr id="114700" name="Rectangle 12"/>
          <p:cNvSpPr>
            <a:spLocks noGrp="1" noChangeArrowheads="1"/>
          </p:cNvSpPr>
          <p:nvPr>
            <p:ph type="ctrTitle"/>
          </p:nvPr>
        </p:nvSpPr>
        <p:spPr>
          <a:xfrm>
            <a:off x="990600" y="1828800"/>
            <a:ext cx="7772400" cy="1143000"/>
          </a:xfrm>
        </p:spPr>
        <p:txBody>
          <a:bodyPr/>
          <a:lstStyle>
            <a:lvl1pPr>
              <a:defRPr/>
            </a:lvl1pPr>
          </a:lstStyle>
          <a:p>
            <a:pPr lvl="0"/>
            <a:r>
              <a:rPr lang="zh-CN" altLang="en-US" noProof="0" smtClean="0"/>
              <a:t>单击此处编辑母版标题样式</a:t>
            </a:r>
          </a:p>
        </p:txBody>
      </p:sp>
      <p:sp>
        <p:nvSpPr>
          <p:cNvPr id="114701"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pPr lvl="0"/>
            <a:r>
              <a:rPr lang="zh-CN" altLang="en-US" noProof="0" smtClean="0"/>
              <a:t>单击此处编辑母版副标题样式</a:t>
            </a:r>
          </a:p>
        </p:txBody>
      </p:sp>
      <p:sp>
        <p:nvSpPr>
          <p:cNvPr id="114702" name="Rectangle 14"/>
          <p:cNvSpPr>
            <a:spLocks noGrp="1" noChangeArrowheads="1"/>
          </p:cNvSpPr>
          <p:nvPr>
            <p:ph type="dt" sz="half" idx="2"/>
          </p:nvPr>
        </p:nvSpPr>
        <p:spPr>
          <a:xfrm>
            <a:off x="990600" y="6248400"/>
            <a:ext cx="1905000" cy="457200"/>
          </a:xfrm>
        </p:spPr>
        <p:txBody>
          <a:bodyPr/>
          <a:lstStyle>
            <a:lvl1pPr>
              <a:defRPr>
                <a:solidFill>
                  <a:schemeClr val="bg2"/>
                </a:solidFill>
              </a:defRPr>
            </a:lvl1pPr>
          </a:lstStyle>
          <a:p>
            <a:fld id="{CBAB6754-331B-490D-89B5-143393511035}" type="datetime1">
              <a:rPr lang="zh-CN" altLang="en-US" smtClean="0"/>
              <a:pPr/>
              <a:t>2021/11/15</a:t>
            </a:fld>
            <a:endParaRPr lang="zh-CN" altLang="en-US"/>
          </a:p>
        </p:txBody>
      </p:sp>
      <p:sp>
        <p:nvSpPr>
          <p:cNvPr id="114703" name="Rectangle 15"/>
          <p:cNvSpPr>
            <a:spLocks noGrp="1" noChangeArrowheads="1"/>
          </p:cNvSpPr>
          <p:nvPr>
            <p:ph type="ftr" sz="quarter" idx="3"/>
          </p:nvPr>
        </p:nvSpPr>
        <p:spPr>
          <a:xfrm>
            <a:off x="3429000" y="6248400"/>
            <a:ext cx="2895600" cy="457200"/>
          </a:xfrm>
        </p:spPr>
        <p:txBody>
          <a:bodyPr/>
          <a:lstStyle>
            <a:lvl1pPr>
              <a:defRPr>
                <a:solidFill>
                  <a:schemeClr val="bg2"/>
                </a:solidFill>
              </a:defRPr>
            </a:lvl1pPr>
          </a:lstStyle>
          <a:p>
            <a:endParaRPr lang="zh-CN" altLang="en-US"/>
          </a:p>
        </p:txBody>
      </p:sp>
      <p:sp>
        <p:nvSpPr>
          <p:cNvPr id="114704" name="Rectangle 16"/>
          <p:cNvSpPr>
            <a:spLocks noGrp="1" noChangeArrowheads="1"/>
          </p:cNvSpPr>
          <p:nvPr>
            <p:ph type="sldNum" sz="quarter" idx="4"/>
          </p:nvPr>
        </p:nvSpPr>
        <p:spPr>
          <a:xfrm>
            <a:off x="6858000" y="6248400"/>
            <a:ext cx="1905000" cy="457200"/>
          </a:xfrm>
        </p:spPr>
        <p:txBody>
          <a:bodyPr/>
          <a:lstStyle>
            <a:lvl1pPr>
              <a:defRPr>
                <a:solidFill>
                  <a:schemeClr val="bg2"/>
                </a:solidFill>
              </a:defRPr>
            </a:lvl1pPr>
          </a:lstStyle>
          <a:p>
            <a:fld id="{0C913308-F349-4B6D-A68A-DD1791B4A57B}" type="slidenum">
              <a:rPr lang="zh-CN" altLang="en-US" smtClean="0"/>
              <a:pPr/>
              <a:t>‹#›</a:t>
            </a:fld>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200"/>
            </a:lvl1pPr>
          </a:lstStyle>
          <a:p>
            <a:r>
              <a:rPr lang="zh-CN" altLang="en-US" smtClean="0"/>
              <a:t>单击此处编辑母版标题样式</a:t>
            </a:r>
            <a:endParaRPr lang="zh-CN" altLang="en-US" dirty="0"/>
          </a:p>
        </p:txBody>
      </p:sp>
      <p:sp>
        <p:nvSpPr>
          <p:cNvPr id="3" name="内容占位符 2"/>
          <p:cNvSpPr>
            <a:spLocks noGrp="1"/>
          </p:cNvSpPr>
          <p:nvPr>
            <p:ph idx="1"/>
          </p:nvPr>
        </p:nvSpPr>
        <p:spPr/>
        <p:txBody>
          <a:bodyPr/>
          <a:lstStyle>
            <a:lvl1pPr>
              <a:defRPr sz="2400" b="1"/>
            </a:lvl1pPr>
            <a:lvl2pPr>
              <a:lnSpc>
                <a:spcPts val="3200"/>
              </a:lnSpc>
              <a:defRPr sz="2200" b="1"/>
            </a:lvl2pPr>
            <a:lvl3pPr>
              <a:lnSpc>
                <a:spcPts val="3200"/>
              </a:lnSpc>
              <a:defRPr sz="2000"/>
            </a:lvl3pPr>
            <a:lvl4pPr>
              <a:defRPr sz="2000"/>
            </a:lvl4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dirty="0"/>
          </a:p>
        </p:txBody>
      </p:sp>
      <p:sp>
        <p:nvSpPr>
          <p:cNvPr id="4" name="日期占位符 3"/>
          <p:cNvSpPr>
            <a:spLocks noGrp="1"/>
          </p:cNvSpPr>
          <p:nvPr>
            <p:ph type="dt" sz="half" idx="10"/>
          </p:nvPr>
        </p:nvSpPr>
        <p:spPr/>
        <p:txBody>
          <a:bodyPr/>
          <a:lstStyle>
            <a:lvl1pPr>
              <a:defRPr/>
            </a:lvl1pPr>
          </a:lstStyle>
          <a:p>
            <a:fld id="{C4732E0B-948F-492F-8DD9-2BBDC555FA08}" type="datetime1">
              <a:rPr lang="zh-CN" altLang="en-US" smtClean="0"/>
              <a:pPr/>
              <a:t>2021/11/15</a:t>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xmlns="" val="43304850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fld id="{6067C60F-D0AA-4FCC-883D-BF782DAF958A}" type="datetime1">
              <a:rPr lang="zh-CN" altLang="en-US" smtClean="0"/>
              <a:pPr/>
              <a:t>2021/11/15</a:t>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xmlns="" val="35319098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fld id="{600BA059-9DA9-470B-A93E-2A5D358BA196}" type="datetime1">
              <a:rPr lang="zh-CN" altLang="en-US" smtClean="0"/>
              <a:pPr/>
              <a:t>2021/11/15</a:t>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xmlns="" val="303055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fld id="{B7A63C14-08EC-4408-BE30-5DE3BFAE7E3F}" type="datetime1">
              <a:rPr lang="zh-CN" altLang="en-US" smtClean="0"/>
              <a:pPr/>
              <a:t>2021/11/15</a:t>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xmlns="" val="26177613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2800"/>
            </a:lvl1pPr>
          </a:lstStyle>
          <a:p>
            <a:r>
              <a:rPr lang="zh-CN" altLang="en-US" smtClean="0"/>
              <a:t>单击此处编辑母版标题样式</a:t>
            </a:r>
            <a:endParaRPr lang="zh-CN" altLang="en-US" dirty="0"/>
          </a:p>
        </p:txBody>
      </p:sp>
      <p:sp>
        <p:nvSpPr>
          <p:cNvPr id="3" name="日期占位符 2"/>
          <p:cNvSpPr>
            <a:spLocks noGrp="1"/>
          </p:cNvSpPr>
          <p:nvPr>
            <p:ph type="dt" sz="half" idx="10"/>
          </p:nvPr>
        </p:nvSpPr>
        <p:spPr/>
        <p:txBody>
          <a:bodyPr/>
          <a:lstStyle>
            <a:lvl1pPr>
              <a:defRPr/>
            </a:lvl1pPr>
          </a:lstStyle>
          <a:p>
            <a:fld id="{B405AED8-60BC-4FD8-8E2E-DE03931E2887}" type="datetime1">
              <a:rPr lang="zh-CN" altLang="en-US" smtClean="0"/>
              <a:pPr/>
              <a:t>2021/11/15</a:t>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xmlns="" val="243086486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AE03C456-B557-4EB7-A193-62C15B256753}" type="datetime1">
              <a:rPr lang="zh-CN" altLang="en-US" smtClean="0"/>
              <a:pPr/>
              <a:t>2021/11/15</a:t>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xmlns="" val="1768158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E071A738-7566-43B6-A987-96BE49DB5517}" type="datetime1">
              <a:rPr lang="zh-CN" altLang="en-US" smtClean="0"/>
              <a:pPr/>
              <a:t>2021/11/15</a:t>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xmlns="" val="2428590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99EC5E9A-B088-4259-AD22-6F298AF9D03D}" type="datetime1">
              <a:rPr lang="zh-CN" altLang="en-US" smtClean="0"/>
              <a:pPr/>
              <a:t>2021/11/15</a:t>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xmlns="" val="41085588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2A7D8DA0-361B-4860-9A8C-6DEFB33462B1}" type="datetime1">
              <a:rPr lang="zh-CN" altLang="en-US" smtClean="0"/>
              <a:pPr/>
              <a:t>2021/11/15</a:t>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xmlns="" val="1493138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617538"/>
            <a:ext cx="1951038" cy="55149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150938" y="617538"/>
            <a:ext cx="5700712" cy="551497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9B04FE03-C624-43E7-8C87-553AF8C508B2}" type="datetime1">
              <a:rPr lang="zh-CN" altLang="en-US" smtClean="0"/>
              <a:pPr/>
              <a:t>2021/11/15</a:t>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xmlns="" val="21346153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fld id="{924DCA5D-FD58-4CF7-8343-9F13EDB0CD31}" type="datetime1">
              <a:rPr lang="zh-CN" altLang="en-US" smtClean="0">
                <a:solidFill>
                  <a:srgbClr val="000000"/>
                </a:solidFill>
              </a:rPr>
              <a:pPr/>
              <a:t>2021/11/15</a:t>
            </a:fld>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D30D88EA-1370-4936-9CBD-FE6137C2EE48}"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27639112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2238C95E-CF29-448E-8B1A-7D316D109E98}" type="datetime1">
              <a:rPr lang="zh-CN" altLang="en-US" smtClean="0">
                <a:solidFill>
                  <a:srgbClr val="000000"/>
                </a:solidFill>
              </a:rPr>
              <a:pPr/>
              <a:t>2021/11/15</a:t>
            </a:fld>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952D3C7E-E05E-4235-89FF-EE5FE7737D10}"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32164877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fld id="{C80114D3-FF63-4F64-A12D-C7AE81864B81}" type="datetime1">
              <a:rPr lang="zh-CN" altLang="en-US" smtClean="0">
                <a:solidFill>
                  <a:srgbClr val="000000"/>
                </a:solidFill>
              </a:rPr>
              <a:pPr/>
              <a:t>2021/11/15</a:t>
            </a:fld>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6C23559E-4923-406C-9082-A42EDD2A483F}"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6735090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fld id="{E7091FCD-A58C-4562-829D-C3730324D5B2}" type="datetime1">
              <a:rPr lang="zh-CN" altLang="en-US" smtClean="0">
                <a:solidFill>
                  <a:srgbClr val="000000"/>
                </a:solidFill>
              </a:rPr>
              <a:pPr/>
              <a:t>2021/11/15</a:t>
            </a:fld>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87E80075-FB0D-4832-B6C4-B7CEE4BDFA09}"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14088556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fld id="{FC1CF576-3D67-4672-8261-CD706E17D254}" type="datetime1">
              <a:rPr lang="zh-CN" altLang="en-US" smtClean="0">
                <a:solidFill>
                  <a:srgbClr val="000000"/>
                </a:solidFill>
              </a:rPr>
              <a:pPr/>
              <a:t>2021/11/15</a:t>
            </a:fld>
            <a:endParaRPr lang="en-US" altLang="zh-CN">
              <a:solidFill>
                <a:srgbClr val="000000"/>
              </a:solidFill>
            </a:endParaRPr>
          </a:p>
        </p:txBody>
      </p:sp>
      <p:sp>
        <p:nvSpPr>
          <p:cNvPr id="8" name="页脚占位符 7"/>
          <p:cNvSpPr>
            <a:spLocks noGrp="1"/>
          </p:cNvSpPr>
          <p:nvPr>
            <p:ph type="ftr" sz="quarter" idx="11"/>
          </p:nvPr>
        </p:nvSpPr>
        <p:spPr/>
        <p:txBody>
          <a:bodyPr/>
          <a:lstStyle>
            <a:lvl1pPr>
              <a:defRPr/>
            </a:lvl1pPr>
          </a:lstStyle>
          <a:p>
            <a:endParaRPr lang="en-US" altLang="zh-CN">
              <a:solidFill>
                <a:srgbClr val="000000"/>
              </a:solidFill>
            </a:endParaRPr>
          </a:p>
        </p:txBody>
      </p:sp>
      <p:sp>
        <p:nvSpPr>
          <p:cNvPr id="9" name="灯片编号占位符 8"/>
          <p:cNvSpPr>
            <a:spLocks noGrp="1"/>
          </p:cNvSpPr>
          <p:nvPr>
            <p:ph type="sldNum" sz="quarter" idx="12"/>
          </p:nvPr>
        </p:nvSpPr>
        <p:spPr/>
        <p:txBody>
          <a:bodyPr/>
          <a:lstStyle>
            <a:lvl1pPr>
              <a:defRPr/>
            </a:lvl1pPr>
          </a:lstStyle>
          <a:p>
            <a:fld id="{9BB93E26-F317-42E5-BF65-4276EAEE6378}"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30285496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AC580CB3-05AB-45D6-9377-88D0CE8B4277}" type="datetime1">
              <a:rPr lang="zh-CN" altLang="en-US" smtClean="0">
                <a:solidFill>
                  <a:srgbClr val="000000"/>
                </a:solidFill>
              </a:rPr>
              <a:pPr/>
              <a:t>2021/11/15</a:t>
            </a:fld>
            <a:endParaRPr lang="en-US" altLang="zh-CN">
              <a:solidFill>
                <a:srgbClr val="000000"/>
              </a:solidFill>
            </a:endParaRPr>
          </a:p>
        </p:txBody>
      </p:sp>
      <p:sp>
        <p:nvSpPr>
          <p:cNvPr id="4" name="页脚占位符 3"/>
          <p:cNvSpPr>
            <a:spLocks noGrp="1"/>
          </p:cNvSpPr>
          <p:nvPr>
            <p:ph type="ftr" sz="quarter" idx="11"/>
          </p:nvPr>
        </p:nvSpPr>
        <p:spPr/>
        <p:txBody>
          <a:bodyPr/>
          <a:lstStyle>
            <a:lvl1pPr>
              <a:defRPr/>
            </a:lvl1pPr>
          </a:lstStyle>
          <a:p>
            <a:endParaRPr lang="en-US" altLang="zh-CN">
              <a:solidFill>
                <a:srgbClr val="000000"/>
              </a:solidFill>
            </a:endParaRPr>
          </a:p>
        </p:txBody>
      </p:sp>
      <p:sp>
        <p:nvSpPr>
          <p:cNvPr id="5" name="灯片编号占位符 4"/>
          <p:cNvSpPr>
            <a:spLocks noGrp="1"/>
          </p:cNvSpPr>
          <p:nvPr>
            <p:ph type="sldNum" sz="quarter" idx="12"/>
          </p:nvPr>
        </p:nvSpPr>
        <p:spPr/>
        <p:txBody>
          <a:bodyPr/>
          <a:lstStyle>
            <a:lvl1pPr>
              <a:defRPr/>
            </a:lvl1pPr>
          </a:lstStyle>
          <a:p>
            <a:fld id="{79949BC3-C32A-4A7D-880B-A758AD9C941D}"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25084553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3FC8B3F6-F7E8-4E54-B591-441B9E848FE6}" type="datetime1">
              <a:rPr lang="zh-CN" altLang="en-US" smtClean="0">
                <a:solidFill>
                  <a:srgbClr val="000000"/>
                </a:solidFill>
              </a:rPr>
              <a:pPr/>
              <a:t>2021/11/15</a:t>
            </a:fld>
            <a:endParaRPr lang="en-US" altLang="zh-CN">
              <a:solidFill>
                <a:srgbClr val="000000"/>
              </a:solidFill>
            </a:endParaRPr>
          </a:p>
        </p:txBody>
      </p:sp>
      <p:sp>
        <p:nvSpPr>
          <p:cNvPr id="3" name="页脚占位符 2"/>
          <p:cNvSpPr>
            <a:spLocks noGrp="1"/>
          </p:cNvSpPr>
          <p:nvPr>
            <p:ph type="ftr" sz="quarter" idx="11"/>
          </p:nvPr>
        </p:nvSpPr>
        <p:spPr/>
        <p:txBody>
          <a:bodyPr/>
          <a:lstStyle>
            <a:lvl1pPr>
              <a:defRPr/>
            </a:lvl1pPr>
          </a:lstStyle>
          <a:p>
            <a:endParaRPr lang="en-US" altLang="zh-CN">
              <a:solidFill>
                <a:srgbClr val="000000"/>
              </a:solidFill>
            </a:endParaRPr>
          </a:p>
        </p:txBody>
      </p:sp>
      <p:sp>
        <p:nvSpPr>
          <p:cNvPr id="4" name="灯片编号占位符 3"/>
          <p:cNvSpPr>
            <a:spLocks noGrp="1"/>
          </p:cNvSpPr>
          <p:nvPr>
            <p:ph type="sldNum" sz="quarter" idx="12"/>
          </p:nvPr>
        </p:nvSpPr>
        <p:spPr/>
        <p:txBody>
          <a:bodyPr/>
          <a:lstStyle>
            <a:lvl1pPr>
              <a:defRPr/>
            </a:lvl1pPr>
          </a:lstStyle>
          <a:p>
            <a:fld id="{3F75080F-2C63-4CA4-86AB-E243833EFC5D}"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41717375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8320A849-D1F6-40C9-8B91-4BB66B6232FE}" type="datetime1">
              <a:rPr lang="zh-CN" altLang="en-US" smtClean="0">
                <a:solidFill>
                  <a:srgbClr val="000000"/>
                </a:solidFill>
              </a:rPr>
              <a:pPr/>
              <a:t>2021/11/15</a:t>
            </a:fld>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FF215D06-025E-41EA-BF1C-44C7D0DAA3B0}"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22593679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3CEC18F1-6440-4BD9-BB47-B0EC5F276499}" type="datetime1">
              <a:rPr lang="zh-CN" altLang="en-US" smtClean="0">
                <a:solidFill>
                  <a:srgbClr val="000000"/>
                </a:solidFill>
              </a:rPr>
              <a:pPr/>
              <a:t>2021/11/15</a:t>
            </a:fld>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BD422D2D-ED10-479B-8C9E-8D73EB720AC2}"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31647518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54A48D74-1DC1-4E74-B36F-23137D8D318A}" type="datetime1">
              <a:rPr lang="zh-CN" altLang="en-US" smtClean="0">
                <a:solidFill>
                  <a:srgbClr val="000000"/>
                </a:solidFill>
              </a:rPr>
              <a:pPr/>
              <a:t>2021/11/15</a:t>
            </a:fld>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B402D72A-3F97-428E-991E-FC7D5C0B9FE7}"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40073420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1BD4B1A3-007B-46CD-8601-7BF40B4002A6}" type="datetime1">
              <a:rPr lang="zh-CN" altLang="en-US" smtClean="0">
                <a:solidFill>
                  <a:srgbClr val="000000"/>
                </a:solidFill>
              </a:rPr>
              <a:pPr/>
              <a:t>2021/11/15</a:t>
            </a:fld>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0AC551C3-BD56-4C77-9976-F32BA0CBBE0D}"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316856581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图表占位符 2"/>
          <p:cNvSpPr>
            <a:spLocks noGrp="1"/>
          </p:cNvSpPr>
          <p:nvPr>
            <p:ph type="chart" idx="1"/>
          </p:nvPr>
        </p:nvSpPr>
        <p:spPr>
          <a:xfrm>
            <a:off x="457200" y="1600200"/>
            <a:ext cx="8229600" cy="4525963"/>
          </a:xfrm>
        </p:spPr>
        <p:txBody>
          <a:bodyPr/>
          <a:lstStyle/>
          <a:p>
            <a:r>
              <a:rPr lang="zh-CN" altLang="en-US" smtClean="0"/>
              <a:t>单击图标添加图表</a:t>
            </a:r>
            <a:endParaRPr lang="zh-CN" altLang="en-US"/>
          </a:p>
        </p:txBody>
      </p:sp>
      <p:sp>
        <p:nvSpPr>
          <p:cNvPr id="4" name="日期占位符 3"/>
          <p:cNvSpPr>
            <a:spLocks noGrp="1"/>
          </p:cNvSpPr>
          <p:nvPr>
            <p:ph type="dt" sz="half" idx="10"/>
          </p:nvPr>
        </p:nvSpPr>
        <p:spPr>
          <a:xfrm>
            <a:off x="457200" y="6245225"/>
            <a:ext cx="2133600" cy="476250"/>
          </a:xfrm>
        </p:spPr>
        <p:txBody>
          <a:bodyPr/>
          <a:lstStyle>
            <a:lvl1pPr>
              <a:defRPr/>
            </a:lvl1pPr>
          </a:lstStyle>
          <a:p>
            <a:fld id="{18E9C68D-5386-4786-A789-FF2427B7E6B5}" type="datetime1">
              <a:rPr lang="zh-CN" altLang="en-US" smtClean="0">
                <a:solidFill>
                  <a:srgbClr val="000000"/>
                </a:solidFill>
              </a:rPr>
              <a:pPr/>
              <a:t>2021/11/15</a:t>
            </a:fld>
            <a:endParaRPr lang="en-US" altLang="zh-CN">
              <a:solidFill>
                <a:srgbClr val="000000"/>
              </a:solidFill>
            </a:endParaRPr>
          </a:p>
        </p:txBody>
      </p:sp>
      <p:sp>
        <p:nvSpPr>
          <p:cNvPr id="5" name="页脚占位符 4"/>
          <p:cNvSpPr>
            <a:spLocks noGrp="1"/>
          </p:cNvSpPr>
          <p:nvPr>
            <p:ph type="ftr" sz="quarter" idx="11"/>
          </p:nvPr>
        </p:nvSpPr>
        <p:spPr>
          <a:xfrm>
            <a:off x="3124200" y="6245225"/>
            <a:ext cx="2895600" cy="476250"/>
          </a:xfrm>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a:xfrm>
            <a:off x="6553200" y="6245225"/>
            <a:ext cx="2133600" cy="476250"/>
          </a:xfrm>
        </p:spPr>
        <p:txBody>
          <a:bodyPr/>
          <a:lstStyle>
            <a:lvl1pPr>
              <a:defRPr/>
            </a:lvl1pPr>
          </a:lstStyle>
          <a:p>
            <a:fld id="{1975B148-3C52-470E-9AEE-E5B3B5941566}"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29840364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40386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457200" y="6245225"/>
            <a:ext cx="2133600" cy="476250"/>
          </a:xfrm>
        </p:spPr>
        <p:txBody>
          <a:bodyPr/>
          <a:lstStyle>
            <a:lvl1pPr>
              <a:defRPr/>
            </a:lvl1pPr>
          </a:lstStyle>
          <a:p>
            <a:fld id="{ED27BC13-8591-4951-8F39-7625EB93A4EF}" type="datetime1">
              <a:rPr lang="zh-CN" altLang="en-US" smtClean="0">
                <a:solidFill>
                  <a:srgbClr val="000000"/>
                </a:solidFill>
              </a:rPr>
              <a:pPr/>
              <a:t>2021/11/15</a:t>
            </a:fld>
            <a:endParaRPr lang="en-US" altLang="zh-CN">
              <a:solidFill>
                <a:srgbClr val="000000"/>
              </a:solidFill>
            </a:endParaRPr>
          </a:p>
        </p:txBody>
      </p:sp>
      <p:sp>
        <p:nvSpPr>
          <p:cNvPr id="6" name="页脚占位符 5"/>
          <p:cNvSpPr>
            <a:spLocks noGrp="1"/>
          </p:cNvSpPr>
          <p:nvPr>
            <p:ph type="ftr" sz="quarter" idx="11"/>
          </p:nvPr>
        </p:nvSpPr>
        <p:spPr>
          <a:xfrm>
            <a:off x="3124200" y="6245225"/>
            <a:ext cx="2895600" cy="476250"/>
          </a:xfrm>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a:xfrm>
            <a:off x="6553200" y="6245225"/>
            <a:ext cx="2133600" cy="476250"/>
          </a:xfrm>
        </p:spPr>
        <p:txBody>
          <a:bodyPr/>
          <a:lstStyle>
            <a:lvl1pPr>
              <a:defRPr/>
            </a:lvl1pPr>
          </a:lstStyle>
          <a:p>
            <a:fld id="{7C165C68-CC4C-4DC8-9849-CAB7C8B515E5}"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322606605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fld id="{DE137CE5-7E61-4963-8FBB-526F94B6E5AC}" type="datetime1">
              <a:rPr lang="zh-CN" altLang="en-US" smtClean="0">
                <a:solidFill>
                  <a:srgbClr val="000000"/>
                </a:solidFill>
              </a:rPr>
              <a:pPr/>
              <a:t>2021/11/15</a:t>
            </a:fld>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D30D88EA-1370-4936-9CBD-FE6137C2EE48}"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36215098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9C55B79A-80C9-4164-8DCA-AA78A7F8FC7D}" type="datetime1">
              <a:rPr lang="zh-CN" altLang="en-US" smtClean="0">
                <a:solidFill>
                  <a:srgbClr val="000000"/>
                </a:solidFill>
              </a:rPr>
              <a:pPr/>
              <a:t>2021/11/15</a:t>
            </a:fld>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952D3C7E-E05E-4235-89FF-EE5FE7737D10}"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25084382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fld id="{365614D1-5BAE-42C2-A168-549661266493}" type="datetime1">
              <a:rPr lang="zh-CN" altLang="en-US" smtClean="0">
                <a:solidFill>
                  <a:srgbClr val="000000"/>
                </a:solidFill>
              </a:rPr>
              <a:pPr/>
              <a:t>2021/11/15</a:t>
            </a:fld>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6C23559E-4923-406C-9082-A42EDD2A483F}"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6992633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fld id="{F50A1344-20D7-4F72-858D-8A14C499C8F4}" type="datetime1">
              <a:rPr lang="zh-CN" altLang="en-US" smtClean="0">
                <a:solidFill>
                  <a:srgbClr val="000000"/>
                </a:solidFill>
              </a:rPr>
              <a:pPr/>
              <a:t>2021/11/15</a:t>
            </a:fld>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87E80075-FB0D-4832-B6C4-B7CEE4BDFA09}"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266267791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fld id="{5CA9662B-9DDC-4818-9CDC-26D0536D7E24}" type="datetime1">
              <a:rPr lang="zh-CN" altLang="en-US" smtClean="0">
                <a:solidFill>
                  <a:srgbClr val="000000"/>
                </a:solidFill>
              </a:rPr>
              <a:pPr/>
              <a:t>2021/11/15</a:t>
            </a:fld>
            <a:endParaRPr lang="en-US" altLang="zh-CN">
              <a:solidFill>
                <a:srgbClr val="000000"/>
              </a:solidFill>
            </a:endParaRPr>
          </a:p>
        </p:txBody>
      </p:sp>
      <p:sp>
        <p:nvSpPr>
          <p:cNvPr id="8" name="页脚占位符 7"/>
          <p:cNvSpPr>
            <a:spLocks noGrp="1"/>
          </p:cNvSpPr>
          <p:nvPr>
            <p:ph type="ftr" sz="quarter" idx="11"/>
          </p:nvPr>
        </p:nvSpPr>
        <p:spPr/>
        <p:txBody>
          <a:bodyPr/>
          <a:lstStyle>
            <a:lvl1pPr>
              <a:defRPr/>
            </a:lvl1pPr>
          </a:lstStyle>
          <a:p>
            <a:endParaRPr lang="en-US" altLang="zh-CN">
              <a:solidFill>
                <a:srgbClr val="000000"/>
              </a:solidFill>
            </a:endParaRPr>
          </a:p>
        </p:txBody>
      </p:sp>
      <p:sp>
        <p:nvSpPr>
          <p:cNvPr id="9" name="灯片编号占位符 8"/>
          <p:cNvSpPr>
            <a:spLocks noGrp="1"/>
          </p:cNvSpPr>
          <p:nvPr>
            <p:ph type="sldNum" sz="quarter" idx="12"/>
          </p:nvPr>
        </p:nvSpPr>
        <p:spPr/>
        <p:txBody>
          <a:bodyPr/>
          <a:lstStyle>
            <a:lvl1pPr>
              <a:defRPr/>
            </a:lvl1pPr>
          </a:lstStyle>
          <a:p>
            <a:fld id="{9BB93E26-F317-42E5-BF65-4276EAEE6378}"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361733113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7526E8FF-66B4-4CC3-A439-949A35E213D5}" type="datetime1">
              <a:rPr lang="zh-CN" altLang="en-US" smtClean="0">
                <a:solidFill>
                  <a:srgbClr val="000000"/>
                </a:solidFill>
              </a:rPr>
              <a:pPr/>
              <a:t>2021/11/15</a:t>
            </a:fld>
            <a:endParaRPr lang="en-US" altLang="zh-CN">
              <a:solidFill>
                <a:srgbClr val="000000"/>
              </a:solidFill>
            </a:endParaRPr>
          </a:p>
        </p:txBody>
      </p:sp>
      <p:sp>
        <p:nvSpPr>
          <p:cNvPr id="4" name="页脚占位符 3"/>
          <p:cNvSpPr>
            <a:spLocks noGrp="1"/>
          </p:cNvSpPr>
          <p:nvPr>
            <p:ph type="ftr" sz="quarter" idx="11"/>
          </p:nvPr>
        </p:nvSpPr>
        <p:spPr/>
        <p:txBody>
          <a:bodyPr/>
          <a:lstStyle>
            <a:lvl1pPr>
              <a:defRPr/>
            </a:lvl1pPr>
          </a:lstStyle>
          <a:p>
            <a:endParaRPr lang="en-US" altLang="zh-CN">
              <a:solidFill>
                <a:srgbClr val="000000"/>
              </a:solidFill>
            </a:endParaRPr>
          </a:p>
        </p:txBody>
      </p:sp>
      <p:sp>
        <p:nvSpPr>
          <p:cNvPr id="5" name="灯片编号占位符 4"/>
          <p:cNvSpPr>
            <a:spLocks noGrp="1"/>
          </p:cNvSpPr>
          <p:nvPr>
            <p:ph type="sldNum" sz="quarter" idx="12"/>
          </p:nvPr>
        </p:nvSpPr>
        <p:spPr/>
        <p:txBody>
          <a:bodyPr/>
          <a:lstStyle>
            <a:lvl1pPr>
              <a:defRPr/>
            </a:lvl1pPr>
          </a:lstStyle>
          <a:p>
            <a:fld id="{79949BC3-C32A-4A7D-880B-A758AD9C941D}"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33903313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5FEFD02B-BFB2-46B3-B6E3-5F123095672A}" type="datetime1">
              <a:rPr lang="zh-CN" altLang="en-US" smtClean="0">
                <a:solidFill>
                  <a:srgbClr val="000000"/>
                </a:solidFill>
              </a:rPr>
              <a:pPr/>
              <a:t>2021/11/15</a:t>
            </a:fld>
            <a:endParaRPr lang="en-US" altLang="zh-CN">
              <a:solidFill>
                <a:srgbClr val="000000"/>
              </a:solidFill>
            </a:endParaRPr>
          </a:p>
        </p:txBody>
      </p:sp>
      <p:sp>
        <p:nvSpPr>
          <p:cNvPr id="3" name="页脚占位符 2"/>
          <p:cNvSpPr>
            <a:spLocks noGrp="1"/>
          </p:cNvSpPr>
          <p:nvPr>
            <p:ph type="ftr" sz="quarter" idx="11"/>
          </p:nvPr>
        </p:nvSpPr>
        <p:spPr/>
        <p:txBody>
          <a:bodyPr/>
          <a:lstStyle>
            <a:lvl1pPr>
              <a:defRPr/>
            </a:lvl1pPr>
          </a:lstStyle>
          <a:p>
            <a:endParaRPr lang="en-US" altLang="zh-CN">
              <a:solidFill>
                <a:srgbClr val="000000"/>
              </a:solidFill>
            </a:endParaRPr>
          </a:p>
        </p:txBody>
      </p:sp>
      <p:sp>
        <p:nvSpPr>
          <p:cNvPr id="4" name="灯片编号占位符 3"/>
          <p:cNvSpPr>
            <a:spLocks noGrp="1"/>
          </p:cNvSpPr>
          <p:nvPr>
            <p:ph type="sldNum" sz="quarter" idx="12"/>
          </p:nvPr>
        </p:nvSpPr>
        <p:spPr/>
        <p:txBody>
          <a:bodyPr/>
          <a:lstStyle>
            <a:lvl1pPr>
              <a:defRPr/>
            </a:lvl1pPr>
          </a:lstStyle>
          <a:p>
            <a:fld id="{3F75080F-2C63-4CA4-86AB-E243833EFC5D}"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57318297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391C4210-5031-4955-B239-680C797C0BCE}" type="datetime1">
              <a:rPr lang="zh-CN" altLang="en-US" smtClean="0">
                <a:solidFill>
                  <a:srgbClr val="000000"/>
                </a:solidFill>
              </a:rPr>
              <a:pPr/>
              <a:t>2021/11/15</a:t>
            </a:fld>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FF215D06-025E-41EA-BF1C-44C7D0DAA3B0}"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88285644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04B14A41-EAFA-4740-9ECF-65D48D15C273}" type="datetime1">
              <a:rPr lang="zh-CN" altLang="en-US" smtClean="0">
                <a:solidFill>
                  <a:srgbClr val="000000"/>
                </a:solidFill>
              </a:rPr>
              <a:pPr/>
              <a:t>2021/11/15</a:t>
            </a:fld>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BD422D2D-ED10-479B-8C9E-8D73EB720AC2}"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9070449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10E5B30D-9203-4F7A-9ABA-D5EE8FC729E7}" type="datetime1">
              <a:rPr lang="zh-CN" altLang="en-US" smtClean="0">
                <a:solidFill>
                  <a:srgbClr val="000000"/>
                </a:solidFill>
              </a:rPr>
              <a:pPr/>
              <a:t>2021/11/15</a:t>
            </a:fld>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B402D72A-3F97-428E-991E-FC7D5C0B9FE7}"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16373454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5D677869-4250-4082-B2C8-5942A346E072}" type="datetime1">
              <a:rPr lang="zh-CN" altLang="en-US" smtClean="0">
                <a:solidFill>
                  <a:srgbClr val="000000"/>
                </a:solidFill>
              </a:rPr>
              <a:pPr/>
              <a:t>2021/11/15</a:t>
            </a:fld>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0AC551C3-BD56-4C77-9976-F32BA0CBBE0D}"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99251290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图表占位符 2"/>
          <p:cNvSpPr>
            <a:spLocks noGrp="1"/>
          </p:cNvSpPr>
          <p:nvPr>
            <p:ph type="chart" idx="1"/>
          </p:nvPr>
        </p:nvSpPr>
        <p:spPr>
          <a:xfrm>
            <a:off x="457200" y="1600200"/>
            <a:ext cx="8229600" cy="4525963"/>
          </a:xfrm>
        </p:spPr>
        <p:txBody>
          <a:bodyPr/>
          <a:lstStyle/>
          <a:p>
            <a:r>
              <a:rPr lang="zh-CN" altLang="en-US" smtClean="0"/>
              <a:t>单击图标添加图表</a:t>
            </a:r>
            <a:endParaRPr lang="zh-CN" altLang="en-US"/>
          </a:p>
        </p:txBody>
      </p:sp>
      <p:sp>
        <p:nvSpPr>
          <p:cNvPr id="4" name="日期占位符 3"/>
          <p:cNvSpPr>
            <a:spLocks noGrp="1"/>
          </p:cNvSpPr>
          <p:nvPr>
            <p:ph type="dt" sz="half" idx="10"/>
          </p:nvPr>
        </p:nvSpPr>
        <p:spPr>
          <a:xfrm>
            <a:off x="457200" y="6245225"/>
            <a:ext cx="2133600" cy="476250"/>
          </a:xfrm>
        </p:spPr>
        <p:txBody>
          <a:bodyPr/>
          <a:lstStyle>
            <a:lvl1pPr>
              <a:defRPr/>
            </a:lvl1pPr>
          </a:lstStyle>
          <a:p>
            <a:fld id="{7B56E9CA-4616-4340-8F39-C790A7B48407}" type="datetime1">
              <a:rPr lang="zh-CN" altLang="en-US" smtClean="0">
                <a:solidFill>
                  <a:srgbClr val="000000"/>
                </a:solidFill>
              </a:rPr>
              <a:pPr/>
              <a:t>2021/11/15</a:t>
            </a:fld>
            <a:endParaRPr lang="en-US" altLang="zh-CN">
              <a:solidFill>
                <a:srgbClr val="000000"/>
              </a:solidFill>
            </a:endParaRPr>
          </a:p>
        </p:txBody>
      </p:sp>
      <p:sp>
        <p:nvSpPr>
          <p:cNvPr id="5" name="页脚占位符 4"/>
          <p:cNvSpPr>
            <a:spLocks noGrp="1"/>
          </p:cNvSpPr>
          <p:nvPr>
            <p:ph type="ftr" sz="quarter" idx="11"/>
          </p:nvPr>
        </p:nvSpPr>
        <p:spPr>
          <a:xfrm>
            <a:off x="3124200" y="6245225"/>
            <a:ext cx="2895600" cy="476250"/>
          </a:xfrm>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a:xfrm>
            <a:off x="6553200" y="6245225"/>
            <a:ext cx="2133600" cy="476250"/>
          </a:xfrm>
        </p:spPr>
        <p:txBody>
          <a:bodyPr/>
          <a:lstStyle>
            <a:lvl1pPr>
              <a:defRPr/>
            </a:lvl1pPr>
          </a:lstStyle>
          <a:p>
            <a:fld id="{1975B148-3C52-470E-9AEE-E5B3B5941566}"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134079115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40386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457200" y="6245225"/>
            <a:ext cx="2133600" cy="476250"/>
          </a:xfrm>
        </p:spPr>
        <p:txBody>
          <a:bodyPr/>
          <a:lstStyle>
            <a:lvl1pPr>
              <a:defRPr/>
            </a:lvl1pPr>
          </a:lstStyle>
          <a:p>
            <a:fld id="{49107E39-B641-4DCF-9CC0-7440F1E71139}" type="datetime1">
              <a:rPr lang="zh-CN" altLang="en-US" smtClean="0">
                <a:solidFill>
                  <a:srgbClr val="000000"/>
                </a:solidFill>
              </a:rPr>
              <a:pPr/>
              <a:t>2021/11/15</a:t>
            </a:fld>
            <a:endParaRPr lang="en-US" altLang="zh-CN">
              <a:solidFill>
                <a:srgbClr val="000000"/>
              </a:solidFill>
            </a:endParaRPr>
          </a:p>
        </p:txBody>
      </p:sp>
      <p:sp>
        <p:nvSpPr>
          <p:cNvPr id="6" name="页脚占位符 5"/>
          <p:cNvSpPr>
            <a:spLocks noGrp="1"/>
          </p:cNvSpPr>
          <p:nvPr>
            <p:ph type="ftr" sz="quarter" idx="11"/>
          </p:nvPr>
        </p:nvSpPr>
        <p:spPr>
          <a:xfrm>
            <a:off x="3124200" y="6245225"/>
            <a:ext cx="2895600" cy="476250"/>
          </a:xfrm>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a:xfrm>
            <a:off x="6553200" y="6245225"/>
            <a:ext cx="2133600" cy="476250"/>
          </a:xfrm>
        </p:spPr>
        <p:txBody>
          <a:bodyPr/>
          <a:lstStyle>
            <a:lvl1pPr>
              <a:defRPr/>
            </a:lvl1pPr>
          </a:lstStyle>
          <a:p>
            <a:fld id="{7C165C68-CC4C-4DC8-9849-CAB7C8B515E5}"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278690144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114690" name="Group 2"/>
          <p:cNvGrpSpPr>
            <a:grpSpLocks/>
          </p:cNvGrpSpPr>
          <p:nvPr/>
        </p:nvGrpSpPr>
        <p:grpSpPr bwMode="auto">
          <a:xfrm>
            <a:off x="0" y="2438400"/>
            <a:ext cx="9009063" cy="1052513"/>
            <a:chOff x="0" y="1536"/>
            <a:chExt cx="5675" cy="663"/>
          </a:xfrm>
        </p:grpSpPr>
        <p:grpSp>
          <p:nvGrpSpPr>
            <p:cNvPr id="114691" name="Group 3"/>
            <p:cNvGrpSpPr>
              <a:grpSpLocks/>
            </p:cNvGrpSpPr>
            <p:nvPr/>
          </p:nvGrpSpPr>
          <p:grpSpPr bwMode="auto">
            <a:xfrm>
              <a:off x="183" y="1604"/>
              <a:ext cx="448" cy="299"/>
              <a:chOff x="720" y="336"/>
              <a:chExt cx="624" cy="432"/>
            </a:xfrm>
          </p:grpSpPr>
          <p:sp>
            <p:nvSpPr>
              <p:cNvPr id="114692" name="Rectangle 4"/>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sp>
            <p:nvSpPr>
              <p:cNvPr id="11469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grpSp>
        <p:grpSp>
          <p:nvGrpSpPr>
            <p:cNvPr id="114694" name="Group 6"/>
            <p:cNvGrpSpPr>
              <a:grpSpLocks/>
            </p:cNvGrpSpPr>
            <p:nvPr/>
          </p:nvGrpSpPr>
          <p:grpSpPr bwMode="auto">
            <a:xfrm>
              <a:off x="261" y="1870"/>
              <a:ext cx="465" cy="299"/>
              <a:chOff x="912" y="2640"/>
              <a:chExt cx="672" cy="432"/>
            </a:xfrm>
          </p:grpSpPr>
          <p:sp>
            <p:nvSpPr>
              <p:cNvPr id="114695" name="Rectangle 7"/>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sp>
            <p:nvSpPr>
              <p:cNvPr id="114696"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grpSp>
        <p:sp>
          <p:nvSpPr>
            <p:cNvPr id="11469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sp>
          <p:nvSpPr>
            <p:cNvPr id="114698" name="Rectangle 10"/>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xmlns="" w="9525">
                  <a:solidFill>
                    <a:schemeClr val="bg2"/>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sp>
          <p:nvSpPr>
            <p:cNvPr id="11469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grpSp>
      <p:sp>
        <p:nvSpPr>
          <p:cNvPr id="114700" name="Rectangle 12"/>
          <p:cNvSpPr>
            <a:spLocks noGrp="1" noChangeArrowheads="1"/>
          </p:cNvSpPr>
          <p:nvPr>
            <p:ph type="ctrTitle"/>
          </p:nvPr>
        </p:nvSpPr>
        <p:spPr>
          <a:xfrm>
            <a:off x="990600" y="1828800"/>
            <a:ext cx="7772400" cy="1143000"/>
          </a:xfrm>
        </p:spPr>
        <p:txBody>
          <a:bodyPr/>
          <a:lstStyle>
            <a:lvl1pPr>
              <a:defRPr/>
            </a:lvl1pPr>
          </a:lstStyle>
          <a:p>
            <a:pPr lvl="0"/>
            <a:r>
              <a:rPr lang="zh-CN" altLang="en-US" noProof="0" smtClean="0"/>
              <a:t>单击此处编辑母版标题样式</a:t>
            </a:r>
          </a:p>
        </p:txBody>
      </p:sp>
      <p:sp>
        <p:nvSpPr>
          <p:cNvPr id="114701"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pPr lvl="0"/>
            <a:r>
              <a:rPr lang="zh-CN" altLang="en-US" noProof="0" smtClean="0"/>
              <a:t>单击此处编辑母版副标题样式</a:t>
            </a:r>
          </a:p>
        </p:txBody>
      </p:sp>
      <p:sp>
        <p:nvSpPr>
          <p:cNvPr id="114702" name="Rectangle 14"/>
          <p:cNvSpPr>
            <a:spLocks noGrp="1" noChangeArrowheads="1"/>
          </p:cNvSpPr>
          <p:nvPr>
            <p:ph type="dt" sz="half" idx="2"/>
          </p:nvPr>
        </p:nvSpPr>
        <p:spPr>
          <a:xfrm>
            <a:off x="990600" y="6248400"/>
            <a:ext cx="1905000" cy="457200"/>
          </a:xfrm>
        </p:spPr>
        <p:txBody>
          <a:bodyPr/>
          <a:lstStyle>
            <a:lvl1pPr>
              <a:defRPr>
                <a:solidFill>
                  <a:schemeClr val="bg2"/>
                </a:solidFill>
              </a:defRPr>
            </a:lvl1pPr>
          </a:lstStyle>
          <a:p>
            <a:fld id="{3815B040-8E84-4D50-BD9B-4F290A80024A}" type="datetime1">
              <a:rPr lang="zh-CN" altLang="en-US" smtClean="0">
                <a:solidFill>
                  <a:srgbClr val="1C1C1C"/>
                </a:solidFill>
              </a:rPr>
              <a:pPr/>
              <a:t>2021/11/15</a:t>
            </a:fld>
            <a:endParaRPr lang="zh-CN" altLang="en-US">
              <a:solidFill>
                <a:srgbClr val="1C1C1C"/>
              </a:solidFill>
            </a:endParaRPr>
          </a:p>
        </p:txBody>
      </p:sp>
      <p:sp>
        <p:nvSpPr>
          <p:cNvPr id="114703" name="Rectangle 15"/>
          <p:cNvSpPr>
            <a:spLocks noGrp="1" noChangeArrowheads="1"/>
          </p:cNvSpPr>
          <p:nvPr>
            <p:ph type="ftr" sz="quarter" idx="3"/>
          </p:nvPr>
        </p:nvSpPr>
        <p:spPr>
          <a:xfrm>
            <a:off x="3429000" y="6248400"/>
            <a:ext cx="2895600" cy="457200"/>
          </a:xfrm>
        </p:spPr>
        <p:txBody>
          <a:bodyPr/>
          <a:lstStyle>
            <a:lvl1pPr>
              <a:defRPr>
                <a:solidFill>
                  <a:schemeClr val="bg2"/>
                </a:solidFill>
              </a:defRPr>
            </a:lvl1pPr>
          </a:lstStyle>
          <a:p>
            <a:endParaRPr lang="zh-CN" altLang="en-US">
              <a:solidFill>
                <a:srgbClr val="1C1C1C"/>
              </a:solidFill>
            </a:endParaRPr>
          </a:p>
        </p:txBody>
      </p:sp>
      <p:sp>
        <p:nvSpPr>
          <p:cNvPr id="114704" name="Rectangle 16"/>
          <p:cNvSpPr>
            <a:spLocks noGrp="1" noChangeArrowheads="1"/>
          </p:cNvSpPr>
          <p:nvPr>
            <p:ph type="sldNum" sz="quarter" idx="4"/>
          </p:nvPr>
        </p:nvSpPr>
        <p:spPr>
          <a:xfrm>
            <a:off x="6858000" y="6248400"/>
            <a:ext cx="1905000" cy="457200"/>
          </a:xfrm>
        </p:spPr>
        <p:txBody>
          <a:bodyPr/>
          <a:lstStyle>
            <a:lvl1pPr>
              <a:defRPr>
                <a:solidFill>
                  <a:schemeClr val="bg2"/>
                </a:solidFill>
              </a:defRPr>
            </a:lvl1pPr>
          </a:lstStyle>
          <a:p>
            <a:fld id="{0C913308-F349-4B6D-A68A-DD1791B4A57B}" type="slidenum">
              <a:rPr lang="zh-CN" altLang="en-US" smtClean="0">
                <a:solidFill>
                  <a:srgbClr val="1C1C1C"/>
                </a:solidFill>
              </a:rPr>
              <a:pPr/>
              <a:t>‹#›</a:t>
            </a:fld>
            <a:endParaRPr lang="zh-CN" altLang="en-US">
              <a:solidFill>
                <a:srgbClr val="1C1C1C"/>
              </a:solidFill>
            </a:endParaRPr>
          </a:p>
        </p:txBody>
      </p:sp>
    </p:spTree>
    <p:extLst>
      <p:ext uri="{BB962C8B-B14F-4D97-AF65-F5344CB8AC3E}">
        <p14:creationId xmlns:p14="http://schemas.microsoft.com/office/powerpoint/2010/main" xmlns="" val="1012943755"/>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200"/>
            </a:lvl1pPr>
          </a:lstStyle>
          <a:p>
            <a:r>
              <a:rPr lang="zh-CN" altLang="en-US" smtClean="0"/>
              <a:t>单击此处编辑母版标题样式</a:t>
            </a:r>
            <a:endParaRPr lang="zh-CN" altLang="en-US" dirty="0"/>
          </a:p>
        </p:txBody>
      </p:sp>
      <p:sp>
        <p:nvSpPr>
          <p:cNvPr id="3" name="内容占位符 2"/>
          <p:cNvSpPr>
            <a:spLocks noGrp="1"/>
          </p:cNvSpPr>
          <p:nvPr>
            <p:ph idx="1"/>
          </p:nvPr>
        </p:nvSpPr>
        <p:spPr/>
        <p:txBody>
          <a:bodyPr/>
          <a:lstStyle>
            <a:lvl1pPr>
              <a:defRPr sz="2400" b="1"/>
            </a:lvl1pPr>
            <a:lvl2pPr>
              <a:lnSpc>
                <a:spcPts val="3200"/>
              </a:lnSpc>
              <a:defRPr sz="2200" b="1"/>
            </a:lvl2pPr>
            <a:lvl3pPr>
              <a:lnSpc>
                <a:spcPts val="3200"/>
              </a:lnSpc>
              <a:defRPr sz="2000"/>
            </a:lvl3pPr>
            <a:lvl4pPr>
              <a:defRPr sz="2000"/>
            </a:lvl4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dirty="0"/>
          </a:p>
        </p:txBody>
      </p:sp>
      <p:sp>
        <p:nvSpPr>
          <p:cNvPr id="4" name="日期占位符 3"/>
          <p:cNvSpPr>
            <a:spLocks noGrp="1"/>
          </p:cNvSpPr>
          <p:nvPr>
            <p:ph type="dt" sz="half" idx="10"/>
          </p:nvPr>
        </p:nvSpPr>
        <p:spPr/>
        <p:txBody>
          <a:bodyPr/>
          <a:lstStyle>
            <a:lvl1pPr>
              <a:defRPr/>
            </a:lvl1pPr>
          </a:lstStyle>
          <a:p>
            <a:fld id="{427FB2D7-8FD9-49FA-A780-899363B502C3}" type="datetime1">
              <a:rPr lang="zh-CN" altLang="en-US" smtClean="0">
                <a:solidFill>
                  <a:srgbClr val="000000"/>
                </a:solidFill>
              </a:rPr>
              <a:pPr/>
              <a:t>2021/11/15</a:t>
            </a:fld>
            <a:endParaRPr lang="zh-CN" alt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zh-CN" alt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0C913308-F349-4B6D-A68A-DD1791B4A57B}" type="slidenum">
              <a:rPr lang="zh-CN" altLang="en-US" smtClean="0">
                <a:solidFill>
                  <a:srgbClr val="000000"/>
                </a:solidFill>
              </a:rPr>
              <a:pPr/>
              <a:t>‹#›</a:t>
            </a:fld>
            <a:endParaRPr lang="zh-CN" altLang="en-US">
              <a:solidFill>
                <a:srgbClr val="000000"/>
              </a:solidFill>
            </a:endParaRPr>
          </a:p>
        </p:txBody>
      </p:sp>
    </p:spTree>
    <p:extLst>
      <p:ext uri="{BB962C8B-B14F-4D97-AF65-F5344CB8AC3E}">
        <p14:creationId xmlns:p14="http://schemas.microsoft.com/office/powerpoint/2010/main" xmlns="" val="3158176967"/>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fld id="{C5476723-B902-461E-92E7-B93E335B53AB}" type="datetime1">
              <a:rPr lang="zh-CN" altLang="en-US" smtClean="0">
                <a:solidFill>
                  <a:srgbClr val="000000"/>
                </a:solidFill>
              </a:rPr>
              <a:pPr/>
              <a:t>2021/11/15</a:t>
            </a:fld>
            <a:endParaRPr lang="zh-CN" alt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zh-CN" alt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0C913308-F349-4B6D-A68A-DD1791B4A57B}" type="slidenum">
              <a:rPr lang="zh-CN" altLang="en-US" smtClean="0">
                <a:solidFill>
                  <a:srgbClr val="000000"/>
                </a:solidFill>
              </a:rPr>
              <a:pPr/>
              <a:t>‹#›</a:t>
            </a:fld>
            <a:endParaRPr lang="zh-CN" altLang="en-US">
              <a:solidFill>
                <a:srgbClr val="000000"/>
              </a:solidFill>
            </a:endParaRPr>
          </a:p>
        </p:txBody>
      </p:sp>
    </p:spTree>
    <p:extLst>
      <p:ext uri="{BB962C8B-B14F-4D97-AF65-F5344CB8AC3E}">
        <p14:creationId xmlns:p14="http://schemas.microsoft.com/office/powerpoint/2010/main" xmlns="" val="236363015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fld id="{1BA9EC3B-160B-4E2E-810C-E6B3BCC2CBD4}" type="datetime1">
              <a:rPr lang="zh-CN" altLang="en-US" smtClean="0">
                <a:solidFill>
                  <a:srgbClr val="000000"/>
                </a:solidFill>
              </a:rPr>
              <a:pPr/>
              <a:t>2021/11/15</a:t>
            </a:fld>
            <a:endParaRPr lang="zh-CN" alt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zh-CN" alt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0C913308-F349-4B6D-A68A-DD1791B4A57B}" type="slidenum">
              <a:rPr lang="zh-CN" altLang="en-US" smtClean="0">
                <a:solidFill>
                  <a:srgbClr val="000000"/>
                </a:solidFill>
              </a:rPr>
              <a:pPr/>
              <a:t>‹#›</a:t>
            </a:fld>
            <a:endParaRPr lang="zh-CN" altLang="en-US">
              <a:solidFill>
                <a:srgbClr val="000000"/>
              </a:solidFill>
            </a:endParaRPr>
          </a:p>
        </p:txBody>
      </p:sp>
    </p:spTree>
    <p:extLst>
      <p:ext uri="{BB962C8B-B14F-4D97-AF65-F5344CB8AC3E}">
        <p14:creationId xmlns:p14="http://schemas.microsoft.com/office/powerpoint/2010/main" xmlns="" val="100729854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fld id="{E2CCB980-20C3-4153-9E56-FBDA762918C0}" type="datetime1">
              <a:rPr lang="zh-CN" altLang="en-US" smtClean="0">
                <a:solidFill>
                  <a:srgbClr val="000000"/>
                </a:solidFill>
              </a:rPr>
              <a:pPr/>
              <a:t>2021/11/15</a:t>
            </a:fld>
            <a:endParaRPr lang="zh-CN" altLang="en-US">
              <a:solidFill>
                <a:srgbClr val="000000"/>
              </a:solidFill>
            </a:endParaRPr>
          </a:p>
        </p:txBody>
      </p:sp>
      <p:sp>
        <p:nvSpPr>
          <p:cNvPr id="8" name="页脚占位符 7"/>
          <p:cNvSpPr>
            <a:spLocks noGrp="1"/>
          </p:cNvSpPr>
          <p:nvPr>
            <p:ph type="ftr" sz="quarter" idx="11"/>
          </p:nvPr>
        </p:nvSpPr>
        <p:spPr/>
        <p:txBody>
          <a:bodyPr/>
          <a:lstStyle>
            <a:lvl1pPr>
              <a:defRPr/>
            </a:lvl1pPr>
          </a:lstStyle>
          <a:p>
            <a:endParaRPr lang="zh-CN" altLang="en-US">
              <a:solidFill>
                <a:srgbClr val="000000"/>
              </a:solidFill>
            </a:endParaRPr>
          </a:p>
        </p:txBody>
      </p:sp>
      <p:sp>
        <p:nvSpPr>
          <p:cNvPr id="9" name="灯片编号占位符 8"/>
          <p:cNvSpPr>
            <a:spLocks noGrp="1"/>
          </p:cNvSpPr>
          <p:nvPr>
            <p:ph type="sldNum" sz="quarter" idx="12"/>
          </p:nvPr>
        </p:nvSpPr>
        <p:spPr/>
        <p:txBody>
          <a:bodyPr/>
          <a:lstStyle>
            <a:lvl1pPr>
              <a:defRPr/>
            </a:lvl1pPr>
          </a:lstStyle>
          <a:p>
            <a:fld id="{0C913308-F349-4B6D-A68A-DD1791B4A57B}" type="slidenum">
              <a:rPr lang="zh-CN" altLang="en-US" smtClean="0">
                <a:solidFill>
                  <a:srgbClr val="000000"/>
                </a:solidFill>
              </a:rPr>
              <a:pPr/>
              <a:t>‹#›</a:t>
            </a:fld>
            <a:endParaRPr lang="zh-CN" altLang="en-US">
              <a:solidFill>
                <a:srgbClr val="000000"/>
              </a:solidFill>
            </a:endParaRPr>
          </a:p>
        </p:txBody>
      </p:sp>
    </p:spTree>
    <p:extLst>
      <p:ext uri="{BB962C8B-B14F-4D97-AF65-F5344CB8AC3E}">
        <p14:creationId xmlns:p14="http://schemas.microsoft.com/office/powerpoint/2010/main" xmlns="" val="220613157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2800"/>
            </a:lvl1pPr>
          </a:lstStyle>
          <a:p>
            <a:r>
              <a:rPr lang="zh-CN" altLang="en-US" smtClean="0"/>
              <a:t>单击此处编辑母版标题样式</a:t>
            </a:r>
            <a:endParaRPr lang="zh-CN" altLang="en-US" dirty="0"/>
          </a:p>
        </p:txBody>
      </p:sp>
      <p:sp>
        <p:nvSpPr>
          <p:cNvPr id="3" name="日期占位符 2"/>
          <p:cNvSpPr>
            <a:spLocks noGrp="1"/>
          </p:cNvSpPr>
          <p:nvPr>
            <p:ph type="dt" sz="half" idx="10"/>
          </p:nvPr>
        </p:nvSpPr>
        <p:spPr/>
        <p:txBody>
          <a:bodyPr/>
          <a:lstStyle>
            <a:lvl1pPr>
              <a:defRPr/>
            </a:lvl1pPr>
          </a:lstStyle>
          <a:p>
            <a:fld id="{FB2A9168-1627-4B6F-9C6C-70F74EE52781}" type="datetime1">
              <a:rPr lang="zh-CN" altLang="en-US" smtClean="0">
                <a:solidFill>
                  <a:srgbClr val="000000"/>
                </a:solidFill>
              </a:rPr>
              <a:pPr/>
              <a:t>2021/11/15</a:t>
            </a:fld>
            <a:endParaRPr lang="zh-CN" altLang="en-US">
              <a:solidFill>
                <a:srgbClr val="000000"/>
              </a:solidFill>
            </a:endParaRPr>
          </a:p>
        </p:txBody>
      </p:sp>
      <p:sp>
        <p:nvSpPr>
          <p:cNvPr id="4" name="页脚占位符 3"/>
          <p:cNvSpPr>
            <a:spLocks noGrp="1"/>
          </p:cNvSpPr>
          <p:nvPr>
            <p:ph type="ftr" sz="quarter" idx="11"/>
          </p:nvPr>
        </p:nvSpPr>
        <p:spPr/>
        <p:txBody>
          <a:bodyPr/>
          <a:lstStyle>
            <a:lvl1pPr>
              <a:defRPr/>
            </a:lvl1pPr>
          </a:lstStyle>
          <a:p>
            <a:endParaRPr lang="zh-CN" altLang="en-US">
              <a:solidFill>
                <a:srgbClr val="000000"/>
              </a:solidFill>
            </a:endParaRPr>
          </a:p>
        </p:txBody>
      </p:sp>
      <p:sp>
        <p:nvSpPr>
          <p:cNvPr id="5" name="灯片编号占位符 4"/>
          <p:cNvSpPr>
            <a:spLocks noGrp="1"/>
          </p:cNvSpPr>
          <p:nvPr>
            <p:ph type="sldNum" sz="quarter" idx="12"/>
          </p:nvPr>
        </p:nvSpPr>
        <p:spPr/>
        <p:txBody>
          <a:bodyPr/>
          <a:lstStyle>
            <a:lvl1pPr>
              <a:defRPr/>
            </a:lvl1pPr>
          </a:lstStyle>
          <a:p>
            <a:fld id="{0C913308-F349-4B6D-A68A-DD1791B4A57B}" type="slidenum">
              <a:rPr lang="zh-CN" altLang="en-US" smtClean="0">
                <a:solidFill>
                  <a:srgbClr val="000000"/>
                </a:solidFill>
              </a:rPr>
              <a:pPr/>
              <a:t>‹#›</a:t>
            </a:fld>
            <a:endParaRPr lang="zh-CN" altLang="en-US">
              <a:solidFill>
                <a:srgbClr val="000000"/>
              </a:solidFill>
            </a:endParaRPr>
          </a:p>
        </p:txBody>
      </p:sp>
    </p:spTree>
    <p:extLst>
      <p:ext uri="{BB962C8B-B14F-4D97-AF65-F5344CB8AC3E}">
        <p14:creationId xmlns:p14="http://schemas.microsoft.com/office/powerpoint/2010/main" xmlns="" val="1858355032"/>
      </p:ext>
    </p:extLst>
  </p:cSld>
  <p:clrMapOvr>
    <a:masterClrMapping/>
  </p:clrMapOvr>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BF8D9FAF-E450-4BE2-A3AC-64052D6DFEEE}" type="datetime1">
              <a:rPr lang="zh-CN" altLang="en-US" smtClean="0">
                <a:solidFill>
                  <a:srgbClr val="000000"/>
                </a:solidFill>
              </a:rPr>
              <a:pPr/>
              <a:t>2021/11/15</a:t>
            </a:fld>
            <a:endParaRPr lang="zh-CN" altLang="en-US">
              <a:solidFill>
                <a:srgbClr val="000000"/>
              </a:solidFill>
            </a:endParaRPr>
          </a:p>
        </p:txBody>
      </p:sp>
      <p:sp>
        <p:nvSpPr>
          <p:cNvPr id="3" name="页脚占位符 2"/>
          <p:cNvSpPr>
            <a:spLocks noGrp="1"/>
          </p:cNvSpPr>
          <p:nvPr>
            <p:ph type="ftr" sz="quarter" idx="11"/>
          </p:nvPr>
        </p:nvSpPr>
        <p:spPr/>
        <p:txBody>
          <a:bodyPr/>
          <a:lstStyle>
            <a:lvl1pPr>
              <a:defRPr/>
            </a:lvl1pPr>
          </a:lstStyle>
          <a:p>
            <a:endParaRPr lang="zh-CN" altLang="en-US">
              <a:solidFill>
                <a:srgbClr val="000000"/>
              </a:solidFill>
            </a:endParaRPr>
          </a:p>
        </p:txBody>
      </p:sp>
      <p:sp>
        <p:nvSpPr>
          <p:cNvPr id="4" name="灯片编号占位符 3"/>
          <p:cNvSpPr>
            <a:spLocks noGrp="1"/>
          </p:cNvSpPr>
          <p:nvPr>
            <p:ph type="sldNum" sz="quarter" idx="12"/>
          </p:nvPr>
        </p:nvSpPr>
        <p:spPr/>
        <p:txBody>
          <a:bodyPr/>
          <a:lstStyle>
            <a:lvl1pPr>
              <a:defRPr/>
            </a:lvl1pPr>
          </a:lstStyle>
          <a:p>
            <a:fld id="{0C913308-F349-4B6D-A68A-DD1791B4A57B}" type="slidenum">
              <a:rPr lang="zh-CN" altLang="en-US" smtClean="0">
                <a:solidFill>
                  <a:srgbClr val="000000"/>
                </a:solidFill>
              </a:rPr>
              <a:pPr/>
              <a:t>‹#›</a:t>
            </a:fld>
            <a:endParaRPr lang="zh-CN" altLang="en-US">
              <a:solidFill>
                <a:srgbClr val="000000"/>
              </a:solidFill>
            </a:endParaRPr>
          </a:p>
        </p:txBody>
      </p:sp>
    </p:spTree>
    <p:extLst>
      <p:ext uri="{BB962C8B-B14F-4D97-AF65-F5344CB8AC3E}">
        <p14:creationId xmlns:p14="http://schemas.microsoft.com/office/powerpoint/2010/main" xmlns="" val="308691752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E5662D1C-80B0-44B0-821F-4CDCB7127900}" type="datetime1">
              <a:rPr lang="zh-CN" altLang="en-US" smtClean="0">
                <a:solidFill>
                  <a:srgbClr val="000000"/>
                </a:solidFill>
              </a:rPr>
              <a:pPr/>
              <a:t>2021/11/15</a:t>
            </a:fld>
            <a:endParaRPr lang="zh-CN" alt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zh-CN" alt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0C913308-F349-4B6D-A68A-DD1791B4A57B}" type="slidenum">
              <a:rPr lang="zh-CN" altLang="en-US" smtClean="0">
                <a:solidFill>
                  <a:srgbClr val="000000"/>
                </a:solidFill>
              </a:rPr>
              <a:pPr/>
              <a:t>‹#›</a:t>
            </a:fld>
            <a:endParaRPr lang="zh-CN" altLang="en-US">
              <a:solidFill>
                <a:srgbClr val="000000"/>
              </a:solidFill>
            </a:endParaRPr>
          </a:p>
        </p:txBody>
      </p:sp>
    </p:spTree>
    <p:extLst>
      <p:ext uri="{BB962C8B-B14F-4D97-AF65-F5344CB8AC3E}">
        <p14:creationId xmlns:p14="http://schemas.microsoft.com/office/powerpoint/2010/main" xmlns="" val="104173693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D79902EF-924A-44F8-B432-7FEED0532587}" type="datetime1">
              <a:rPr lang="zh-CN" altLang="en-US" smtClean="0">
                <a:solidFill>
                  <a:srgbClr val="000000"/>
                </a:solidFill>
              </a:rPr>
              <a:pPr/>
              <a:t>2021/11/15</a:t>
            </a:fld>
            <a:endParaRPr lang="zh-CN" alt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zh-CN" alt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0C913308-F349-4B6D-A68A-DD1791B4A57B}" type="slidenum">
              <a:rPr lang="zh-CN" altLang="en-US" smtClean="0">
                <a:solidFill>
                  <a:srgbClr val="000000"/>
                </a:solidFill>
              </a:rPr>
              <a:pPr/>
              <a:t>‹#›</a:t>
            </a:fld>
            <a:endParaRPr lang="zh-CN" altLang="en-US">
              <a:solidFill>
                <a:srgbClr val="000000"/>
              </a:solidFill>
            </a:endParaRPr>
          </a:p>
        </p:txBody>
      </p:sp>
    </p:spTree>
    <p:extLst>
      <p:ext uri="{BB962C8B-B14F-4D97-AF65-F5344CB8AC3E}">
        <p14:creationId xmlns:p14="http://schemas.microsoft.com/office/powerpoint/2010/main" xmlns="" val="14146187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5C93A0CC-0F82-4152-B596-DE2A0B9A6DCC}" type="datetime1">
              <a:rPr lang="zh-CN" altLang="en-US" smtClean="0">
                <a:solidFill>
                  <a:srgbClr val="000000"/>
                </a:solidFill>
              </a:rPr>
              <a:pPr/>
              <a:t>2021/11/15</a:t>
            </a:fld>
            <a:endParaRPr lang="zh-CN" alt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zh-CN" alt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0C913308-F349-4B6D-A68A-DD1791B4A57B}" type="slidenum">
              <a:rPr lang="zh-CN" altLang="en-US" smtClean="0">
                <a:solidFill>
                  <a:srgbClr val="000000"/>
                </a:solidFill>
              </a:rPr>
              <a:pPr/>
              <a:t>‹#›</a:t>
            </a:fld>
            <a:endParaRPr lang="zh-CN" altLang="en-US">
              <a:solidFill>
                <a:srgbClr val="000000"/>
              </a:solidFill>
            </a:endParaRPr>
          </a:p>
        </p:txBody>
      </p:sp>
    </p:spTree>
    <p:extLst>
      <p:ext uri="{BB962C8B-B14F-4D97-AF65-F5344CB8AC3E}">
        <p14:creationId xmlns:p14="http://schemas.microsoft.com/office/powerpoint/2010/main" xmlns="" val="129004252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617538"/>
            <a:ext cx="1951038" cy="55149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150938" y="617538"/>
            <a:ext cx="5700712" cy="551497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1CDE3B8D-C618-4BA0-A0C9-C16ECE74DA4C}" type="datetime1">
              <a:rPr lang="zh-CN" altLang="en-US" smtClean="0">
                <a:solidFill>
                  <a:srgbClr val="000000"/>
                </a:solidFill>
              </a:rPr>
              <a:pPr/>
              <a:t>2021/11/15</a:t>
            </a:fld>
            <a:endParaRPr lang="zh-CN" alt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zh-CN" alt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0C913308-F349-4B6D-A68A-DD1791B4A57B}" type="slidenum">
              <a:rPr lang="zh-CN" altLang="en-US" smtClean="0">
                <a:solidFill>
                  <a:srgbClr val="000000"/>
                </a:solidFill>
              </a:rPr>
              <a:pPr/>
              <a:t>‹#›</a:t>
            </a:fld>
            <a:endParaRPr lang="zh-CN" altLang="en-US">
              <a:solidFill>
                <a:srgbClr val="000000"/>
              </a:solidFill>
            </a:endParaRPr>
          </a:p>
        </p:txBody>
      </p:sp>
    </p:spTree>
    <p:extLst>
      <p:ext uri="{BB962C8B-B14F-4D97-AF65-F5344CB8AC3E}">
        <p14:creationId xmlns:p14="http://schemas.microsoft.com/office/powerpoint/2010/main" xmlns="" val="211254396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fld id="{3FE4B6C7-5B0C-409D-904E-1A805F70EA96}" type="datetime1">
              <a:rPr lang="zh-CN" altLang="en-US" smtClean="0">
                <a:solidFill>
                  <a:srgbClr val="000000"/>
                </a:solidFill>
              </a:rPr>
              <a:pPr/>
              <a:t>2021/11/15</a:t>
            </a:fld>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0D366191-277A-4C08-9428-1A020FDE4445}"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183385692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67C5D39B-BC0F-47E5-99CB-9A930C945784}" type="datetime1">
              <a:rPr lang="zh-CN" altLang="en-US" smtClean="0">
                <a:solidFill>
                  <a:srgbClr val="000000"/>
                </a:solidFill>
              </a:rPr>
              <a:pPr/>
              <a:t>2021/11/15</a:t>
            </a:fld>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7B597D54-E05B-4AF8-9BA2-C1465ADE4D23}"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93695774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fld id="{B0766C86-76B5-435B-B407-6E37A7ED87EB}" type="datetime1">
              <a:rPr lang="zh-CN" altLang="en-US" smtClean="0">
                <a:solidFill>
                  <a:srgbClr val="000000"/>
                </a:solidFill>
              </a:rPr>
              <a:pPr/>
              <a:t>2021/11/15</a:t>
            </a:fld>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5DC54F0D-AA76-4625-B2FC-4027C9184838}"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68624463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fld id="{9DE04E32-CC16-4DA1-96A2-FE360F7F2799}" type="datetime1">
              <a:rPr lang="zh-CN" altLang="en-US" smtClean="0">
                <a:solidFill>
                  <a:srgbClr val="000000"/>
                </a:solidFill>
              </a:rPr>
              <a:pPr/>
              <a:t>2021/11/15</a:t>
            </a:fld>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FC55A71D-954D-4CED-95D6-789C55829756}"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331566970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fld id="{302459F1-D496-444B-B764-CACD062F499D}" type="datetime1">
              <a:rPr lang="zh-CN" altLang="en-US" smtClean="0">
                <a:solidFill>
                  <a:srgbClr val="000000"/>
                </a:solidFill>
              </a:rPr>
              <a:pPr/>
              <a:t>2021/11/15</a:t>
            </a:fld>
            <a:endParaRPr lang="en-US" altLang="zh-CN">
              <a:solidFill>
                <a:srgbClr val="000000"/>
              </a:solidFill>
            </a:endParaRPr>
          </a:p>
        </p:txBody>
      </p:sp>
      <p:sp>
        <p:nvSpPr>
          <p:cNvPr id="8" name="页脚占位符 7"/>
          <p:cNvSpPr>
            <a:spLocks noGrp="1"/>
          </p:cNvSpPr>
          <p:nvPr>
            <p:ph type="ftr" sz="quarter" idx="11"/>
          </p:nvPr>
        </p:nvSpPr>
        <p:spPr/>
        <p:txBody>
          <a:bodyPr/>
          <a:lstStyle>
            <a:lvl1pPr>
              <a:defRPr/>
            </a:lvl1pPr>
          </a:lstStyle>
          <a:p>
            <a:endParaRPr lang="en-US" altLang="zh-CN">
              <a:solidFill>
                <a:srgbClr val="000000"/>
              </a:solidFill>
            </a:endParaRPr>
          </a:p>
        </p:txBody>
      </p:sp>
      <p:sp>
        <p:nvSpPr>
          <p:cNvPr id="9" name="灯片编号占位符 8"/>
          <p:cNvSpPr>
            <a:spLocks noGrp="1"/>
          </p:cNvSpPr>
          <p:nvPr>
            <p:ph type="sldNum" sz="quarter" idx="12"/>
          </p:nvPr>
        </p:nvSpPr>
        <p:spPr/>
        <p:txBody>
          <a:bodyPr/>
          <a:lstStyle>
            <a:lvl1pPr>
              <a:defRPr/>
            </a:lvl1pPr>
          </a:lstStyle>
          <a:p>
            <a:fld id="{AFB1E9A9-49BC-4A19-94A7-27A2A4F6BE7F}"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343081842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D9F255E7-091D-4A06-A006-C8C38493F140}" type="datetime1">
              <a:rPr lang="zh-CN" altLang="en-US" smtClean="0">
                <a:solidFill>
                  <a:srgbClr val="000000"/>
                </a:solidFill>
              </a:rPr>
              <a:pPr/>
              <a:t>2021/11/15</a:t>
            </a:fld>
            <a:endParaRPr lang="en-US" altLang="zh-CN">
              <a:solidFill>
                <a:srgbClr val="000000"/>
              </a:solidFill>
            </a:endParaRPr>
          </a:p>
        </p:txBody>
      </p:sp>
      <p:sp>
        <p:nvSpPr>
          <p:cNvPr id="4" name="页脚占位符 3"/>
          <p:cNvSpPr>
            <a:spLocks noGrp="1"/>
          </p:cNvSpPr>
          <p:nvPr>
            <p:ph type="ftr" sz="quarter" idx="11"/>
          </p:nvPr>
        </p:nvSpPr>
        <p:spPr/>
        <p:txBody>
          <a:bodyPr/>
          <a:lstStyle>
            <a:lvl1pPr>
              <a:defRPr/>
            </a:lvl1pPr>
          </a:lstStyle>
          <a:p>
            <a:endParaRPr lang="en-US" altLang="zh-CN">
              <a:solidFill>
                <a:srgbClr val="000000"/>
              </a:solidFill>
            </a:endParaRPr>
          </a:p>
        </p:txBody>
      </p:sp>
      <p:sp>
        <p:nvSpPr>
          <p:cNvPr id="5" name="灯片编号占位符 4"/>
          <p:cNvSpPr>
            <a:spLocks noGrp="1"/>
          </p:cNvSpPr>
          <p:nvPr>
            <p:ph type="sldNum" sz="quarter" idx="12"/>
          </p:nvPr>
        </p:nvSpPr>
        <p:spPr/>
        <p:txBody>
          <a:bodyPr/>
          <a:lstStyle>
            <a:lvl1pPr>
              <a:defRPr/>
            </a:lvl1pPr>
          </a:lstStyle>
          <a:p>
            <a:fld id="{BC19EFAE-3C31-4AE4-99F8-1C1BFEBF65B7}"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279233077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ED595727-684A-4A43-A174-6BB25F168E7E}" type="datetime1">
              <a:rPr lang="zh-CN" altLang="en-US" smtClean="0">
                <a:solidFill>
                  <a:srgbClr val="000000"/>
                </a:solidFill>
              </a:rPr>
              <a:pPr/>
              <a:t>2021/11/15</a:t>
            </a:fld>
            <a:endParaRPr lang="en-US" altLang="zh-CN">
              <a:solidFill>
                <a:srgbClr val="000000"/>
              </a:solidFill>
            </a:endParaRPr>
          </a:p>
        </p:txBody>
      </p:sp>
      <p:sp>
        <p:nvSpPr>
          <p:cNvPr id="3" name="页脚占位符 2"/>
          <p:cNvSpPr>
            <a:spLocks noGrp="1"/>
          </p:cNvSpPr>
          <p:nvPr>
            <p:ph type="ftr" sz="quarter" idx="11"/>
          </p:nvPr>
        </p:nvSpPr>
        <p:spPr/>
        <p:txBody>
          <a:bodyPr/>
          <a:lstStyle>
            <a:lvl1pPr>
              <a:defRPr/>
            </a:lvl1pPr>
          </a:lstStyle>
          <a:p>
            <a:endParaRPr lang="en-US" altLang="zh-CN">
              <a:solidFill>
                <a:srgbClr val="000000"/>
              </a:solidFill>
            </a:endParaRPr>
          </a:p>
        </p:txBody>
      </p:sp>
      <p:sp>
        <p:nvSpPr>
          <p:cNvPr id="4" name="灯片编号占位符 3"/>
          <p:cNvSpPr>
            <a:spLocks noGrp="1"/>
          </p:cNvSpPr>
          <p:nvPr>
            <p:ph type="sldNum" sz="quarter" idx="12"/>
          </p:nvPr>
        </p:nvSpPr>
        <p:spPr/>
        <p:txBody>
          <a:bodyPr/>
          <a:lstStyle>
            <a:lvl1pPr>
              <a:defRPr/>
            </a:lvl1pPr>
          </a:lstStyle>
          <a:p>
            <a:fld id="{65D47828-8B99-417F-8A1D-561A721E3048}"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63568490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99EA8A5F-297D-4770-B58B-187C8994D54F}" type="datetime1">
              <a:rPr lang="zh-CN" altLang="en-US" smtClean="0">
                <a:solidFill>
                  <a:srgbClr val="000000"/>
                </a:solidFill>
              </a:rPr>
              <a:pPr/>
              <a:t>2021/11/15</a:t>
            </a:fld>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BE71500C-874A-467A-A99A-EF6B67CEE356}"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101076505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1D7DCBA8-A874-49FA-BF0D-D4748A4915C1}" type="datetime1">
              <a:rPr lang="zh-CN" altLang="en-US" smtClean="0">
                <a:solidFill>
                  <a:srgbClr val="000000"/>
                </a:solidFill>
              </a:rPr>
              <a:pPr/>
              <a:t>2021/11/15</a:t>
            </a:fld>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1C9EC486-6D91-449B-9028-B6975A388087}"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217580727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4774C38D-A66E-4205-A3B3-A1B133F9B580}" type="datetime1">
              <a:rPr lang="zh-CN" altLang="en-US" smtClean="0">
                <a:solidFill>
                  <a:srgbClr val="000000"/>
                </a:solidFill>
              </a:rPr>
              <a:pPr/>
              <a:t>2021/11/15</a:t>
            </a:fld>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84709A86-99F5-4A7E-85CF-41A3DE7DCDD9}"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240451590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0873BFAA-85AA-461F-A47A-B4708055B147}" type="datetime1">
              <a:rPr lang="zh-CN" altLang="en-US" smtClean="0">
                <a:solidFill>
                  <a:srgbClr val="000000"/>
                </a:solidFill>
              </a:rPr>
              <a:pPr/>
              <a:t>2021/11/15</a:t>
            </a:fld>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E674E78B-B1CF-4609-84BA-764F74E03C6B}"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107139639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图表占位符 2"/>
          <p:cNvSpPr>
            <a:spLocks noGrp="1"/>
          </p:cNvSpPr>
          <p:nvPr>
            <p:ph type="chart" idx="1"/>
          </p:nvPr>
        </p:nvSpPr>
        <p:spPr>
          <a:xfrm>
            <a:off x="457200" y="1600200"/>
            <a:ext cx="8229600" cy="4525963"/>
          </a:xfrm>
        </p:spPr>
        <p:txBody>
          <a:bodyPr/>
          <a:lstStyle/>
          <a:p>
            <a:r>
              <a:rPr lang="zh-CN" altLang="en-US" smtClean="0"/>
              <a:t>单击图标添加图表</a:t>
            </a:r>
            <a:endParaRPr lang="zh-CN" altLang="en-US"/>
          </a:p>
        </p:txBody>
      </p:sp>
      <p:sp>
        <p:nvSpPr>
          <p:cNvPr id="4" name="日期占位符 3"/>
          <p:cNvSpPr>
            <a:spLocks noGrp="1"/>
          </p:cNvSpPr>
          <p:nvPr>
            <p:ph type="dt" sz="half" idx="10"/>
          </p:nvPr>
        </p:nvSpPr>
        <p:spPr>
          <a:xfrm>
            <a:off x="457200" y="6245225"/>
            <a:ext cx="2133600" cy="476250"/>
          </a:xfrm>
        </p:spPr>
        <p:txBody>
          <a:bodyPr/>
          <a:lstStyle>
            <a:lvl1pPr>
              <a:defRPr/>
            </a:lvl1pPr>
          </a:lstStyle>
          <a:p>
            <a:fld id="{8E9A2E6F-96FD-45BA-8494-4FADD5CE8B71}" type="datetime1">
              <a:rPr lang="zh-CN" altLang="en-US" smtClean="0">
                <a:solidFill>
                  <a:srgbClr val="000000"/>
                </a:solidFill>
              </a:rPr>
              <a:pPr/>
              <a:t>2021/11/15</a:t>
            </a:fld>
            <a:endParaRPr lang="en-US" altLang="zh-CN">
              <a:solidFill>
                <a:srgbClr val="000000"/>
              </a:solidFill>
            </a:endParaRPr>
          </a:p>
        </p:txBody>
      </p:sp>
      <p:sp>
        <p:nvSpPr>
          <p:cNvPr id="5" name="页脚占位符 4"/>
          <p:cNvSpPr>
            <a:spLocks noGrp="1"/>
          </p:cNvSpPr>
          <p:nvPr>
            <p:ph type="ftr" sz="quarter" idx="11"/>
          </p:nvPr>
        </p:nvSpPr>
        <p:spPr>
          <a:xfrm>
            <a:off x="3124200" y="6245225"/>
            <a:ext cx="2895600" cy="476250"/>
          </a:xfrm>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a:xfrm>
            <a:off x="6553200" y="6245225"/>
            <a:ext cx="2133600" cy="476250"/>
          </a:xfrm>
        </p:spPr>
        <p:txBody>
          <a:bodyPr/>
          <a:lstStyle>
            <a:lvl1pPr>
              <a:defRPr/>
            </a:lvl1pPr>
          </a:lstStyle>
          <a:p>
            <a:fld id="{7C1D7CDB-7008-4F82-9F44-089C829E5956}"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184534981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40386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457200" y="6245225"/>
            <a:ext cx="2133600" cy="476250"/>
          </a:xfrm>
        </p:spPr>
        <p:txBody>
          <a:bodyPr/>
          <a:lstStyle>
            <a:lvl1pPr>
              <a:defRPr/>
            </a:lvl1pPr>
          </a:lstStyle>
          <a:p>
            <a:fld id="{229C28D7-F416-4363-B189-BCBC960A2003}" type="datetime1">
              <a:rPr lang="zh-CN" altLang="en-US" smtClean="0">
                <a:solidFill>
                  <a:srgbClr val="000000"/>
                </a:solidFill>
              </a:rPr>
              <a:pPr/>
              <a:t>2021/11/15</a:t>
            </a:fld>
            <a:endParaRPr lang="en-US" altLang="zh-CN">
              <a:solidFill>
                <a:srgbClr val="000000"/>
              </a:solidFill>
            </a:endParaRPr>
          </a:p>
        </p:txBody>
      </p:sp>
      <p:sp>
        <p:nvSpPr>
          <p:cNvPr id="6" name="页脚占位符 5"/>
          <p:cNvSpPr>
            <a:spLocks noGrp="1"/>
          </p:cNvSpPr>
          <p:nvPr>
            <p:ph type="ftr" sz="quarter" idx="11"/>
          </p:nvPr>
        </p:nvSpPr>
        <p:spPr>
          <a:xfrm>
            <a:off x="3124200" y="6245225"/>
            <a:ext cx="2895600" cy="476250"/>
          </a:xfrm>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a:xfrm>
            <a:off x="6553200" y="6245225"/>
            <a:ext cx="2133600" cy="476250"/>
          </a:xfrm>
        </p:spPr>
        <p:txBody>
          <a:bodyPr/>
          <a:lstStyle>
            <a:lvl1pPr>
              <a:defRPr/>
            </a:lvl1pPr>
          </a:lstStyle>
          <a:p>
            <a:fld id="{552A7594-3710-43F2-979B-41FB83BD8780}"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349174830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5C994C7E-9924-4D07-A30A-28172212AF4E}"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75907391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1FA17323-0D96-48AA-98E4-AD3EAAC564BA}"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189996340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14DBA62F-CCBF-4238-8DC2-80863B4D07F5}"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83628169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A47B1BC1-6702-4AAF-905A-59629E055592}"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388254166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solidFill>
                <a:srgbClr val="000000"/>
              </a:solidFill>
            </a:endParaRPr>
          </a:p>
        </p:txBody>
      </p:sp>
      <p:sp>
        <p:nvSpPr>
          <p:cNvPr id="8" name="页脚占位符 7"/>
          <p:cNvSpPr>
            <a:spLocks noGrp="1"/>
          </p:cNvSpPr>
          <p:nvPr>
            <p:ph type="ftr" sz="quarter" idx="11"/>
          </p:nvPr>
        </p:nvSpPr>
        <p:spPr/>
        <p:txBody>
          <a:bodyPr/>
          <a:lstStyle>
            <a:lvl1pPr>
              <a:defRPr/>
            </a:lvl1pPr>
          </a:lstStyle>
          <a:p>
            <a:endParaRPr lang="en-US" altLang="zh-CN">
              <a:solidFill>
                <a:srgbClr val="000000"/>
              </a:solidFill>
            </a:endParaRPr>
          </a:p>
        </p:txBody>
      </p:sp>
      <p:sp>
        <p:nvSpPr>
          <p:cNvPr id="9" name="灯片编号占位符 8"/>
          <p:cNvSpPr>
            <a:spLocks noGrp="1"/>
          </p:cNvSpPr>
          <p:nvPr>
            <p:ph type="sldNum" sz="quarter" idx="12"/>
          </p:nvPr>
        </p:nvSpPr>
        <p:spPr/>
        <p:txBody>
          <a:bodyPr/>
          <a:lstStyle>
            <a:lvl1pPr>
              <a:defRPr/>
            </a:lvl1pPr>
          </a:lstStyle>
          <a:p>
            <a:fld id="{9930AA84-7F93-4A6D-968C-90360E946F6E}"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344052246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solidFill>
                <a:srgbClr val="000000"/>
              </a:solidFill>
            </a:endParaRPr>
          </a:p>
        </p:txBody>
      </p:sp>
      <p:sp>
        <p:nvSpPr>
          <p:cNvPr id="4" name="页脚占位符 3"/>
          <p:cNvSpPr>
            <a:spLocks noGrp="1"/>
          </p:cNvSpPr>
          <p:nvPr>
            <p:ph type="ftr" sz="quarter" idx="11"/>
          </p:nvPr>
        </p:nvSpPr>
        <p:spPr/>
        <p:txBody>
          <a:bodyPr/>
          <a:lstStyle>
            <a:lvl1pPr>
              <a:defRPr/>
            </a:lvl1pPr>
          </a:lstStyle>
          <a:p>
            <a:endParaRPr lang="en-US" altLang="zh-CN">
              <a:solidFill>
                <a:srgbClr val="000000"/>
              </a:solidFill>
            </a:endParaRPr>
          </a:p>
        </p:txBody>
      </p:sp>
      <p:sp>
        <p:nvSpPr>
          <p:cNvPr id="5" name="灯片编号占位符 4"/>
          <p:cNvSpPr>
            <a:spLocks noGrp="1"/>
          </p:cNvSpPr>
          <p:nvPr>
            <p:ph type="sldNum" sz="quarter" idx="12"/>
          </p:nvPr>
        </p:nvSpPr>
        <p:spPr/>
        <p:txBody>
          <a:bodyPr/>
          <a:lstStyle>
            <a:lvl1pPr>
              <a:defRPr/>
            </a:lvl1pPr>
          </a:lstStyle>
          <a:p>
            <a:fld id="{3A3D18BC-92EB-4E89-98CF-EB335FB8F8A6}"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322539207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solidFill>
                <a:srgbClr val="000000"/>
              </a:solidFill>
            </a:endParaRPr>
          </a:p>
        </p:txBody>
      </p:sp>
      <p:sp>
        <p:nvSpPr>
          <p:cNvPr id="3" name="页脚占位符 2"/>
          <p:cNvSpPr>
            <a:spLocks noGrp="1"/>
          </p:cNvSpPr>
          <p:nvPr>
            <p:ph type="ftr" sz="quarter" idx="11"/>
          </p:nvPr>
        </p:nvSpPr>
        <p:spPr/>
        <p:txBody>
          <a:bodyPr/>
          <a:lstStyle>
            <a:lvl1pPr>
              <a:defRPr/>
            </a:lvl1pPr>
          </a:lstStyle>
          <a:p>
            <a:endParaRPr lang="en-US" altLang="zh-CN">
              <a:solidFill>
                <a:srgbClr val="000000"/>
              </a:solidFill>
            </a:endParaRPr>
          </a:p>
        </p:txBody>
      </p:sp>
      <p:sp>
        <p:nvSpPr>
          <p:cNvPr id="4" name="灯片编号占位符 3"/>
          <p:cNvSpPr>
            <a:spLocks noGrp="1"/>
          </p:cNvSpPr>
          <p:nvPr>
            <p:ph type="sldNum" sz="quarter" idx="12"/>
          </p:nvPr>
        </p:nvSpPr>
        <p:spPr/>
        <p:txBody>
          <a:bodyPr/>
          <a:lstStyle>
            <a:lvl1pPr>
              <a:defRPr/>
            </a:lvl1pPr>
          </a:lstStyle>
          <a:p>
            <a:fld id="{BA31E26D-1D6F-4209-96A1-04D8C72DF4A6}"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357649035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7F6179BE-42AE-4D98-977E-40D7546C2AA9}"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155722796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C36E17D8-494A-4EE9-9665-C6FEB71B7FC1}"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326795207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0785DDA1-7107-428D-90B2-46F2CC2D2E32}"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282467983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5294DD3C-9678-4716-9823-0865616D8868}"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73795265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日期占位符 2"/>
          <p:cNvSpPr>
            <a:spLocks noGrp="1"/>
          </p:cNvSpPr>
          <p:nvPr>
            <p:ph type="dt" sz="half" idx="10"/>
          </p:nvPr>
        </p:nvSpPr>
        <p:spPr>
          <a:xfrm>
            <a:off x="457200" y="6245225"/>
            <a:ext cx="2133600" cy="476250"/>
          </a:xfrm>
        </p:spPr>
        <p:txBody>
          <a:bodyPr/>
          <a:lstStyle>
            <a:lvl1pPr>
              <a:defRPr/>
            </a:lvl1pPr>
          </a:lstStyle>
          <a:p>
            <a:endParaRPr lang="en-US" altLang="zh-CN">
              <a:solidFill>
                <a:srgbClr val="000000"/>
              </a:solidFill>
            </a:endParaRPr>
          </a:p>
        </p:txBody>
      </p:sp>
      <p:sp>
        <p:nvSpPr>
          <p:cNvPr id="4" name="页脚占位符 3"/>
          <p:cNvSpPr>
            <a:spLocks noGrp="1"/>
          </p:cNvSpPr>
          <p:nvPr>
            <p:ph type="ftr" sz="quarter" idx="11"/>
          </p:nvPr>
        </p:nvSpPr>
        <p:spPr>
          <a:xfrm>
            <a:off x="3124200" y="6245225"/>
            <a:ext cx="2895600" cy="476250"/>
          </a:xfrm>
        </p:spPr>
        <p:txBody>
          <a:bodyPr/>
          <a:lstStyle>
            <a:lvl1pPr>
              <a:defRPr/>
            </a:lvl1pPr>
          </a:lstStyle>
          <a:p>
            <a:endParaRPr lang="en-US" altLang="zh-CN">
              <a:solidFill>
                <a:srgbClr val="000000"/>
              </a:solidFill>
            </a:endParaRPr>
          </a:p>
        </p:txBody>
      </p:sp>
      <p:sp>
        <p:nvSpPr>
          <p:cNvPr id="5" name="灯片编号占位符 4"/>
          <p:cNvSpPr>
            <a:spLocks noGrp="1"/>
          </p:cNvSpPr>
          <p:nvPr>
            <p:ph type="sldNum" sz="quarter" idx="12"/>
          </p:nvPr>
        </p:nvSpPr>
        <p:spPr>
          <a:xfrm>
            <a:off x="6553200" y="6245225"/>
            <a:ext cx="2133600" cy="476250"/>
          </a:xfrm>
        </p:spPr>
        <p:txBody>
          <a:bodyPr/>
          <a:lstStyle>
            <a:lvl1pPr>
              <a:defRPr/>
            </a:lvl1pPr>
          </a:lstStyle>
          <a:p>
            <a:fld id="{02A9BEE0-E0BD-4F4B-9705-897A453BB445}"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377497332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5C994C7E-9924-4D07-A30A-28172212AF4E}"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208051608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1FA17323-0D96-48AA-98E4-AD3EAAC564BA}"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108491706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14DBA62F-CCBF-4238-8DC2-80863B4D07F5}"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304503682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A47B1BC1-6702-4AAF-905A-59629E055592}"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255953728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solidFill>
                <a:srgbClr val="000000"/>
              </a:solidFill>
            </a:endParaRPr>
          </a:p>
        </p:txBody>
      </p:sp>
      <p:sp>
        <p:nvSpPr>
          <p:cNvPr id="8" name="页脚占位符 7"/>
          <p:cNvSpPr>
            <a:spLocks noGrp="1"/>
          </p:cNvSpPr>
          <p:nvPr>
            <p:ph type="ftr" sz="quarter" idx="11"/>
          </p:nvPr>
        </p:nvSpPr>
        <p:spPr/>
        <p:txBody>
          <a:bodyPr/>
          <a:lstStyle>
            <a:lvl1pPr>
              <a:defRPr/>
            </a:lvl1pPr>
          </a:lstStyle>
          <a:p>
            <a:endParaRPr lang="en-US" altLang="zh-CN">
              <a:solidFill>
                <a:srgbClr val="000000"/>
              </a:solidFill>
            </a:endParaRPr>
          </a:p>
        </p:txBody>
      </p:sp>
      <p:sp>
        <p:nvSpPr>
          <p:cNvPr id="9" name="灯片编号占位符 8"/>
          <p:cNvSpPr>
            <a:spLocks noGrp="1"/>
          </p:cNvSpPr>
          <p:nvPr>
            <p:ph type="sldNum" sz="quarter" idx="12"/>
          </p:nvPr>
        </p:nvSpPr>
        <p:spPr/>
        <p:txBody>
          <a:bodyPr/>
          <a:lstStyle>
            <a:lvl1pPr>
              <a:defRPr/>
            </a:lvl1pPr>
          </a:lstStyle>
          <a:p>
            <a:fld id="{9930AA84-7F93-4A6D-968C-90360E946F6E}"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7804689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solidFill>
                <a:srgbClr val="000000"/>
              </a:solidFill>
            </a:endParaRPr>
          </a:p>
        </p:txBody>
      </p:sp>
      <p:sp>
        <p:nvSpPr>
          <p:cNvPr id="4" name="页脚占位符 3"/>
          <p:cNvSpPr>
            <a:spLocks noGrp="1"/>
          </p:cNvSpPr>
          <p:nvPr>
            <p:ph type="ftr" sz="quarter" idx="11"/>
          </p:nvPr>
        </p:nvSpPr>
        <p:spPr/>
        <p:txBody>
          <a:bodyPr/>
          <a:lstStyle>
            <a:lvl1pPr>
              <a:defRPr/>
            </a:lvl1pPr>
          </a:lstStyle>
          <a:p>
            <a:endParaRPr lang="en-US" altLang="zh-CN">
              <a:solidFill>
                <a:srgbClr val="000000"/>
              </a:solidFill>
            </a:endParaRPr>
          </a:p>
        </p:txBody>
      </p:sp>
      <p:sp>
        <p:nvSpPr>
          <p:cNvPr id="5" name="灯片编号占位符 4"/>
          <p:cNvSpPr>
            <a:spLocks noGrp="1"/>
          </p:cNvSpPr>
          <p:nvPr>
            <p:ph type="sldNum" sz="quarter" idx="12"/>
          </p:nvPr>
        </p:nvSpPr>
        <p:spPr/>
        <p:txBody>
          <a:bodyPr/>
          <a:lstStyle>
            <a:lvl1pPr>
              <a:defRPr/>
            </a:lvl1pPr>
          </a:lstStyle>
          <a:p>
            <a:fld id="{3A3D18BC-92EB-4E89-98CF-EB335FB8F8A6}"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210314362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solidFill>
                <a:srgbClr val="000000"/>
              </a:solidFill>
            </a:endParaRPr>
          </a:p>
        </p:txBody>
      </p:sp>
      <p:sp>
        <p:nvSpPr>
          <p:cNvPr id="3" name="页脚占位符 2"/>
          <p:cNvSpPr>
            <a:spLocks noGrp="1"/>
          </p:cNvSpPr>
          <p:nvPr>
            <p:ph type="ftr" sz="quarter" idx="11"/>
          </p:nvPr>
        </p:nvSpPr>
        <p:spPr/>
        <p:txBody>
          <a:bodyPr/>
          <a:lstStyle>
            <a:lvl1pPr>
              <a:defRPr/>
            </a:lvl1pPr>
          </a:lstStyle>
          <a:p>
            <a:endParaRPr lang="en-US" altLang="zh-CN">
              <a:solidFill>
                <a:srgbClr val="000000"/>
              </a:solidFill>
            </a:endParaRPr>
          </a:p>
        </p:txBody>
      </p:sp>
      <p:sp>
        <p:nvSpPr>
          <p:cNvPr id="4" name="灯片编号占位符 3"/>
          <p:cNvSpPr>
            <a:spLocks noGrp="1"/>
          </p:cNvSpPr>
          <p:nvPr>
            <p:ph type="sldNum" sz="quarter" idx="12"/>
          </p:nvPr>
        </p:nvSpPr>
        <p:spPr/>
        <p:txBody>
          <a:bodyPr/>
          <a:lstStyle>
            <a:lvl1pPr>
              <a:defRPr/>
            </a:lvl1pPr>
          </a:lstStyle>
          <a:p>
            <a:fld id="{BA31E26D-1D6F-4209-96A1-04D8C72DF4A6}"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145961581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7F6179BE-42AE-4D98-977E-40D7546C2AA9}"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10615786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C36E17D8-494A-4EE9-9665-C6FEB71B7FC1}"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9373120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0785DDA1-7107-428D-90B2-46F2CC2D2E32}"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141487111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5294DD3C-9678-4716-9823-0865616D8868}"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54078213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日期占位符 2"/>
          <p:cNvSpPr>
            <a:spLocks noGrp="1"/>
          </p:cNvSpPr>
          <p:nvPr>
            <p:ph type="dt" sz="half" idx="10"/>
          </p:nvPr>
        </p:nvSpPr>
        <p:spPr>
          <a:xfrm>
            <a:off x="457200" y="6245225"/>
            <a:ext cx="2133600" cy="476250"/>
          </a:xfrm>
        </p:spPr>
        <p:txBody>
          <a:bodyPr/>
          <a:lstStyle>
            <a:lvl1pPr>
              <a:defRPr/>
            </a:lvl1pPr>
          </a:lstStyle>
          <a:p>
            <a:endParaRPr lang="en-US" altLang="zh-CN">
              <a:solidFill>
                <a:srgbClr val="000000"/>
              </a:solidFill>
            </a:endParaRPr>
          </a:p>
        </p:txBody>
      </p:sp>
      <p:sp>
        <p:nvSpPr>
          <p:cNvPr id="4" name="页脚占位符 3"/>
          <p:cNvSpPr>
            <a:spLocks noGrp="1"/>
          </p:cNvSpPr>
          <p:nvPr>
            <p:ph type="ftr" sz="quarter" idx="11"/>
          </p:nvPr>
        </p:nvSpPr>
        <p:spPr>
          <a:xfrm>
            <a:off x="3124200" y="6245225"/>
            <a:ext cx="2895600" cy="476250"/>
          </a:xfrm>
        </p:spPr>
        <p:txBody>
          <a:bodyPr/>
          <a:lstStyle>
            <a:lvl1pPr>
              <a:defRPr/>
            </a:lvl1pPr>
          </a:lstStyle>
          <a:p>
            <a:endParaRPr lang="en-US" altLang="zh-CN">
              <a:solidFill>
                <a:srgbClr val="000000"/>
              </a:solidFill>
            </a:endParaRPr>
          </a:p>
        </p:txBody>
      </p:sp>
      <p:sp>
        <p:nvSpPr>
          <p:cNvPr id="5" name="灯片编号占位符 4"/>
          <p:cNvSpPr>
            <a:spLocks noGrp="1"/>
          </p:cNvSpPr>
          <p:nvPr>
            <p:ph type="sldNum" sz="quarter" idx="12"/>
          </p:nvPr>
        </p:nvSpPr>
        <p:spPr>
          <a:xfrm>
            <a:off x="6553200" y="6245225"/>
            <a:ext cx="2133600" cy="476250"/>
          </a:xfrm>
        </p:spPr>
        <p:txBody>
          <a:bodyPr/>
          <a:lstStyle>
            <a:lvl1pPr>
              <a:defRPr/>
            </a:lvl1pPr>
          </a:lstStyle>
          <a:p>
            <a:fld id="{02A9BEE0-E0BD-4F4B-9705-897A453BB445}"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xmlns="" val="38650980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4.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slideLayout" Target="../slideLayouts/slideLayout61.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9.xml"/><Relationship Id="rId13" Type="http://schemas.openxmlformats.org/officeDocument/2006/relationships/theme" Target="../theme/theme6.xml"/><Relationship Id="rId3" Type="http://schemas.openxmlformats.org/officeDocument/2006/relationships/slideLayout" Target="../slideLayouts/slideLayout64.xml"/><Relationship Id="rId7" Type="http://schemas.openxmlformats.org/officeDocument/2006/relationships/slideLayout" Target="../slideLayouts/slideLayout68.xml"/><Relationship Id="rId12" Type="http://schemas.openxmlformats.org/officeDocument/2006/relationships/slideLayout" Target="../slideLayouts/slideLayout73.xml"/><Relationship Id="rId2" Type="http://schemas.openxmlformats.org/officeDocument/2006/relationships/slideLayout" Target="../slideLayouts/slideLayout63.xml"/><Relationship Id="rId1" Type="http://schemas.openxmlformats.org/officeDocument/2006/relationships/slideLayout" Target="../slideLayouts/slideLayout62.xml"/><Relationship Id="rId6" Type="http://schemas.openxmlformats.org/officeDocument/2006/relationships/slideLayout" Target="../slideLayouts/slideLayout67.xml"/><Relationship Id="rId11" Type="http://schemas.openxmlformats.org/officeDocument/2006/relationships/slideLayout" Target="../slideLayouts/slideLayout72.xml"/><Relationship Id="rId5" Type="http://schemas.openxmlformats.org/officeDocument/2006/relationships/slideLayout" Target="../slideLayouts/slideLayout66.xml"/><Relationship Id="rId10" Type="http://schemas.openxmlformats.org/officeDocument/2006/relationships/slideLayout" Target="../slideLayouts/slideLayout71.xml"/><Relationship Id="rId4" Type="http://schemas.openxmlformats.org/officeDocument/2006/relationships/slideLayout" Target="../slideLayouts/slideLayout65.xml"/><Relationship Id="rId9" Type="http://schemas.openxmlformats.org/officeDocument/2006/relationships/slideLayout" Target="../slideLayouts/slideLayout70.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1.xml"/><Relationship Id="rId13" Type="http://schemas.openxmlformats.org/officeDocument/2006/relationships/theme" Target="../theme/theme7.xml"/><Relationship Id="rId3" Type="http://schemas.openxmlformats.org/officeDocument/2006/relationships/slideLayout" Target="../slideLayouts/slideLayout76.xml"/><Relationship Id="rId7" Type="http://schemas.openxmlformats.org/officeDocument/2006/relationships/slideLayout" Target="../slideLayouts/slideLayout80.xml"/><Relationship Id="rId12" Type="http://schemas.openxmlformats.org/officeDocument/2006/relationships/slideLayout" Target="../slideLayouts/slideLayout85.xml"/><Relationship Id="rId2" Type="http://schemas.openxmlformats.org/officeDocument/2006/relationships/slideLayout" Target="../slideLayouts/slideLayout75.xml"/><Relationship Id="rId1" Type="http://schemas.openxmlformats.org/officeDocument/2006/relationships/slideLayout" Target="../slideLayouts/slideLayout74.xml"/><Relationship Id="rId6" Type="http://schemas.openxmlformats.org/officeDocument/2006/relationships/slideLayout" Target="../slideLayouts/slideLayout79.xml"/><Relationship Id="rId11" Type="http://schemas.openxmlformats.org/officeDocument/2006/relationships/slideLayout" Target="../slideLayouts/slideLayout84.xml"/><Relationship Id="rId5" Type="http://schemas.openxmlformats.org/officeDocument/2006/relationships/slideLayout" Target="../slideLayouts/slideLayout78.xml"/><Relationship Id="rId10" Type="http://schemas.openxmlformats.org/officeDocument/2006/relationships/slideLayout" Target="../slideLayouts/slideLayout83.xml"/><Relationship Id="rId4" Type="http://schemas.openxmlformats.org/officeDocument/2006/relationships/slideLayout" Target="../slideLayouts/slideLayout77.xml"/><Relationship Id="rId9" Type="http://schemas.openxmlformats.org/officeDocument/2006/relationships/slideLayout" Target="../slideLayouts/slideLayout8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3666" name="Rectangle 2"/>
          <p:cNvSpPr>
            <a:spLocks noChangeArrowheads="1"/>
          </p:cNvSpPr>
          <p:nvPr/>
        </p:nvSpPr>
        <p:spPr bwMode="ltGray">
          <a:xfrm>
            <a:off x="470025" y="597644"/>
            <a:ext cx="438150" cy="474663"/>
          </a:xfrm>
          <a:prstGeom prst="rect">
            <a:avLst/>
          </a:prstGeom>
          <a:solidFill>
            <a:schemeClr val="accent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zh-CN" sz="2400"/>
          </a:p>
        </p:txBody>
      </p:sp>
      <p:sp>
        <p:nvSpPr>
          <p:cNvPr id="113667" name="Rectangle 3"/>
          <p:cNvSpPr>
            <a:spLocks noChangeArrowheads="1"/>
          </p:cNvSpPr>
          <p:nvPr/>
        </p:nvSpPr>
        <p:spPr bwMode="ltGray">
          <a:xfrm>
            <a:off x="852612" y="597644"/>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zh-CN" sz="2400"/>
          </a:p>
        </p:txBody>
      </p:sp>
      <p:sp>
        <p:nvSpPr>
          <p:cNvPr id="113668" name="Rectangle 4"/>
          <p:cNvSpPr>
            <a:spLocks noChangeArrowheads="1"/>
          </p:cNvSpPr>
          <p:nvPr/>
        </p:nvSpPr>
        <p:spPr bwMode="ltGray">
          <a:xfrm>
            <a:off x="593850" y="1019919"/>
            <a:ext cx="422275" cy="474663"/>
          </a:xfrm>
          <a:prstGeom prst="rect">
            <a:avLst/>
          </a:prstGeom>
          <a:solidFill>
            <a:schemeClr val="folHlink"/>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zh-CN" sz="2400"/>
          </a:p>
        </p:txBody>
      </p:sp>
      <p:sp>
        <p:nvSpPr>
          <p:cNvPr id="113669" name="Rectangle 5"/>
          <p:cNvSpPr>
            <a:spLocks noChangeArrowheads="1"/>
          </p:cNvSpPr>
          <p:nvPr/>
        </p:nvSpPr>
        <p:spPr bwMode="ltGray">
          <a:xfrm>
            <a:off x="963737" y="1019919"/>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zh-CN" sz="2400"/>
          </a:p>
        </p:txBody>
      </p:sp>
      <p:sp>
        <p:nvSpPr>
          <p:cNvPr id="113670" name="Rectangle 6"/>
          <p:cNvSpPr>
            <a:spLocks noChangeArrowheads="1"/>
          </p:cNvSpPr>
          <p:nvPr/>
        </p:nvSpPr>
        <p:spPr bwMode="ltGray">
          <a:xfrm>
            <a:off x="179512" y="946894"/>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zh-CN" sz="2400"/>
          </a:p>
        </p:txBody>
      </p:sp>
      <p:sp>
        <p:nvSpPr>
          <p:cNvPr id="113671" name="Rectangle 7"/>
          <p:cNvSpPr>
            <a:spLocks noChangeArrowheads="1"/>
          </p:cNvSpPr>
          <p:nvPr/>
        </p:nvSpPr>
        <p:spPr bwMode="gray">
          <a:xfrm>
            <a:off x="814512" y="489694"/>
            <a:ext cx="31750" cy="1052513"/>
          </a:xfrm>
          <a:prstGeom prst="rect">
            <a:avLst/>
          </a:prstGeom>
          <a:solidFill>
            <a:schemeClr val="bg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zh-CN" sz="2400"/>
          </a:p>
        </p:txBody>
      </p:sp>
      <p:sp>
        <p:nvSpPr>
          <p:cNvPr id="113672" name="Rectangle 8"/>
          <p:cNvSpPr>
            <a:spLocks noChangeArrowheads="1"/>
          </p:cNvSpPr>
          <p:nvPr/>
        </p:nvSpPr>
        <p:spPr bwMode="gray">
          <a:xfrm>
            <a:off x="495425" y="1280269"/>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zh-CN" sz="2400"/>
          </a:p>
        </p:txBody>
      </p:sp>
      <p:sp>
        <p:nvSpPr>
          <p:cNvPr id="113673" name="Rectangle 9"/>
          <p:cNvSpPr>
            <a:spLocks noGrp="1" noChangeArrowheads="1"/>
          </p:cNvSpPr>
          <p:nvPr>
            <p:ph type="title"/>
          </p:nvPr>
        </p:nvSpPr>
        <p:spPr bwMode="auto">
          <a:xfrm>
            <a:off x="1203450" y="116632"/>
            <a:ext cx="7793037"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dirty="0" smtClean="0"/>
              <a:t>单击此处编辑母版标题样式</a:t>
            </a:r>
          </a:p>
        </p:txBody>
      </p:sp>
      <p:sp>
        <p:nvSpPr>
          <p:cNvPr id="113674" name="Rectangle 10"/>
          <p:cNvSpPr>
            <a:spLocks noGrp="1" noChangeArrowheads="1"/>
          </p:cNvSpPr>
          <p:nvPr>
            <p:ph type="body" idx="1"/>
          </p:nvPr>
        </p:nvSpPr>
        <p:spPr bwMode="auto">
          <a:xfrm>
            <a:off x="793750" y="1542208"/>
            <a:ext cx="8161338" cy="49111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p:txBody>
      </p:sp>
      <p:sp>
        <p:nvSpPr>
          <p:cNvPr id="113675" name="Rectangle 11"/>
          <p:cNvSpPr>
            <a:spLocks noGrp="1" noChangeArrowheads="1"/>
          </p:cNvSpPr>
          <p:nvPr>
            <p:ph type="dt" sz="half" idx="2"/>
          </p:nvPr>
        </p:nvSpPr>
        <p:spPr bwMode="auto">
          <a:xfrm>
            <a:off x="914400" y="6324600"/>
            <a:ext cx="1905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kumimoji="0" sz="1400"/>
            </a:lvl1pPr>
          </a:lstStyle>
          <a:p>
            <a:fld id="{CF8BA016-FB07-431B-AC6B-CE0362C42CD6}" type="datetime1">
              <a:rPr lang="zh-CN" altLang="en-US" smtClean="0"/>
              <a:pPr/>
              <a:t>2021/11/15</a:t>
            </a:fld>
            <a:endParaRPr lang="zh-CN" altLang="en-US"/>
          </a:p>
        </p:txBody>
      </p:sp>
      <p:sp>
        <p:nvSpPr>
          <p:cNvPr id="113676" name="Rectangle 12"/>
          <p:cNvSpPr>
            <a:spLocks noGrp="1" noChangeArrowheads="1"/>
          </p:cNvSpPr>
          <p:nvPr>
            <p:ph type="ftr" sz="quarter" idx="3"/>
          </p:nvPr>
        </p:nvSpPr>
        <p:spPr bwMode="auto">
          <a:xfrm>
            <a:off x="3352800" y="6324600"/>
            <a:ext cx="28956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kumimoji="0" sz="1400"/>
            </a:lvl1pPr>
          </a:lstStyle>
          <a:p>
            <a:endParaRPr lang="zh-CN" altLang="en-US"/>
          </a:p>
        </p:txBody>
      </p:sp>
      <p:sp>
        <p:nvSpPr>
          <p:cNvPr id="113677" name="Rectangle 13"/>
          <p:cNvSpPr>
            <a:spLocks noGrp="1" noChangeArrowheads="1"/>
          </p:cNvSpPr>
          <p:nvPr>
            <p:ph type="sldNum" sz="quarter" idx="4"/>
          </p:nvPr>
        </p:nvSpPr>
        <p:spPr bwMode="auto">
          <a:xfrm>
            <a:off x="6781800" y="6324600"/>
            <a:ext cx="1905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kumimoji="0" sz="1400"/>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hdr="0" ftr="0" dt="0"/>
  <p:txStyles>
    <p:titleStyle>
      <a:lvl1pPr algn="l" rtl="0" eaLnBrk="1" fontAlgn="base" hangingPunct="1">
        <a:spcBef>
          <a:spcPct val="0"/>
        </a:spcBef>
        <a:spcAft>
          <a:spcPct val="0"/>
        </a:spcAft>
        <a:defRPr kumimoji="1" sz="3200" b="1">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ahoma" pitchFamily="34" charset="0"/>
          <a:ea typeface="宋体" charset="-122"/>
        </a:defRPr>
      </a:lvl2pPr>
      <a:lvl3pPr algn="l" rtl="0" eaLnBrk="1" fontAlgn="base" hangingPunct="1">
        <a:spcBef>
          <a:spcPct val="0"/>
        </a:spcBef>
        <a:spcAft>
          <a:spcPct val="0"/>
        </a:spcAft>
        <a:defRPr kumimoji="1" sz="4400">
          <a:solidFill>
            <a:schemeClr val="tx2"/>
          </a:solidFill>
          <a:latin typeface="Tahoma" pitchFamily="34" charset="0"/>
          <a:ea typeface="宋体" charset="-122"/>
        </a:defRPr>
      </a:lvl3pPr>
      <a:lvl4pPr algn="l" rtl="0" eaLnBrk="1" fontAlgn="base" hangingPunct="1">
        <a:spcBef>
          <a:spcPct val="0"/>
        </a:spcBef>
        <a:spcAft>
          <a:spcPct val="0"/>
        </a:spcAft>
        <a:defRPr kumimoji="1" sz="4400">
          <a:solidFill>
            <a:schemeClr val="tx2"/>
          </a:solidFill>
          <a:latin typeface="Tahoma" pitchFamily="34" charset="0"/>
          <a:ea typeface="宋体" charset="-122"/>
        </a:defRPr>
      </a:lvl4pPr>
      <a:lvl5pPr algn="l" rtl="0" eaLnBrk="1" fontAlgn="base" hangingPunct="1">
        <a:spcBef>
          <a:spcPct val="0"/>
        </a:spcBef>
        <a:spcAft>
          <a:spcPct val="0"/>
        </a:spcAft>
        <a:defRPr kumimoji="1" sz="4400">
          <a:solidFill>
            <a:schemeClr val="tx2"/>
          </a:solidFill>
          <a:latin typeface="Tahoma" pitchFamily="34" charset="0"/>
          <a:ea typeface="宋体" charset="-122"/>
        </a:defRPr>
      </a:lvl5pPr>
      <a:lvl6pPr marL="457200" algn="l" rtl="0" eaLnBrk="1" fontAlgn="base" hangingPunct="1">
        <a:spcBef>
          <a:spcPct val="0"/>
        </a:spcBef>
        <a:spcAft>
          <a:spcPct val="0"/>
        </a:spcAft>
        <a:defRPr kumimoji="1" sz="4400">
          <a:solidFill>
            <a:schemeClr val="tx2"/>
          </a:solidFill>
          <a:latin typeface="Tahoma" pitchFamily="34" charset="0"/>
          <a:ea typeface="宋体" charset="-122"/>
        </a:defRPr>
      </a:lvl6pPr>
      <a:lvl7pPr marL="914400" algn="l" rtl="0" eaLnBrk="1" fontAlgn="base" hangingPunct="1">
        <a:spcBef>
          <a:spcPct val="0"/>
        </a:spcBef>
        <a:spcAft>
          <a:spcPct val="0"/>
        </a:spcAft>
        <a:defRPr kumimoji="1" sz="4400">
          <a:solidFill>
            <a:schemeClr val="tx2"/>
          </a:solidFill>
          <a:latin typeface="Tahoma" pitchFamily="34" charset="0"/>
          <a:ea typeface="宋体" charset="-122"/>
        </a:defRPr>
      </a:lvl7pPr>
      <a:lvl8pPr marL="1371600" algn="l" rtl="0" eaLnBrk="1" fontAlgn="base" hangingPunct="1">
        <a:spcBef>
          <a:spcPct val="0"/>
        </a:spcBef>
        <a:spcAft>
          <a:spcPct val="0"/>
        </a:spcAft>
        <a:defRPr kumimoji="1" sz="4400">
          <a:solidFill>
            <a:schemeClr val="tx2"/>
          </a:solidFill>
          <a:latin typeface="Tahoma" pitchFamily="34" charset="0"/>
          <a:ea typeface="宋体" charset="-122"/>
        </a:defRPr>
      </a:lvl8pPr>
      <a:lvl9pPr marL="1828800" algn="l" rtl="0" eaLnBrk="1" fontAlgn="base" hangingPunct="1">
        <a:spcBef>
          <a:spcPct val="0"/>
        </a:spcBef>
        <a:spcAft>
          <a:spcPct val="0"/>
        </a:spcAft>
        <a:defRPr kumimoji="1" sz="4400">
          <a:solidFill>
            <a:schemeClr val="tx2"/>
          </a:solidFill>
          <a:latin typeface="Tahoma" pitchFamily="34" charset="0"/>
          <a:ea typeface="宋体" charset="-122"/>
        </a:defRPr>
      </a:lvl9pPr>
    </p:titleStyle>
    <p:bodyStyle>
      <a:lvl1pPr marL="342900" indent="-342900" algn="l" rtl="0" eaLnBrk="1" fontAlgn="base" hangingPunct="1">
        <a:lnSpc>
          <a:spcPts val="3120"/>
        </a:lnSpc>
        <a:spcBef>
          <a:spcPct val="20000"/>
        </a:spcBef>
        <a:spcAft>
          <a:spcPct val="0"/>
        </a:spcAft>
        <a:buClr>
          <a:schemeClr val="folHlink"/>
        </a:buClr>
        <a:buSzPct val="60000"/>
        <a:buFont typeface="Wingdings" pitchFamily="2" charset="2"/>
        <a:buChar char="n"/>
        <a:defRPr kumimoji="1" sz="2400" b="1">
          <a:solidFill>
            <a:schemeClr val="tx1"/>
          </a:solidFill>
          <a:latin typeface="+mn-lt"/>
          <a:ea typeface="+mn-ea"/>
          <a:cs typeface="+mn-cs"/>
        </a:defRPr>
      </a:lvl1pPr>
      <a:lvl2pPr marL="742950" indent="-285750" algn="l" rtl="0" eaLnBrk="1" fontAlgn="base" hangingPunct="1">
        <a:lnSpc>
          <a:spcPts val="3120"/>
        </a:lnSpc>
        <a:spcBef>
          <a:spcPct val="20000"/>
        </a:spcBef>
        <a:spcAft>
          <a:spcPct val="0"/>
        </a:spcAft>
        <a:buClr>
          <a:schemeClr val="hlink"/>
        </a:buClr>
        <a:buSzPct val="55000"/>
        <a:buFont typeface="Wingdings" pitchFamily="2" charset="2"/>
        <a:buChar char="n"/>
        <a:defRPr kumimoji="1" sz="2200" b="1">
          <a:solidFill>
            <a:schemeClr val="tx1"/>
          </a:solidFill>
          <a:latin typeface="+mn-lt"/>
          <a:ea typeface="+mn-ea"/>
        </a:defRPr>
      </a:lvl2pPr>
      <a:lvl3pPr marL="1143000" indent="-228600" algn="l" rtl="0" eaLnBrk="1" fontAlgn="base" hangingPunct="1">
        <a:lnSpc>
          <a:spcPts val="3120"/>
        </a:lnSpc>
        <a:spcBef>
          <a:spcPct val="20000"/>
        </a:spcBef>
        <a:spcAft>
          <a:spcPct val="0"/>
        </a:spcAft>
        <a:buClr>
          <a:schemeClr val="folHlink"/>
        </a:buClr>
        <a:buSzPct val="50000"/>
        <a:buFont typeface="Wingdings" pitchFamily="2" charset="2"/>
        <a:buChar char="n"/>
        <a:defRPr kumimoji="1" sz="2000" b="1">
          <a:solidFill>
            <a:schemeClr val="tx1"/>
          </a:solidFill>
          <a:latin typeface="+mn-lt"/>
          <a:ea typeface="+mn-ea"/>
        </a:defRPr>
      </a:lvl3pPr>
      <a:lvl4pPr marL="1600200" indent="-228600" algn="l" rtl="0" eaLnBrk="1" fontAlgn="base" hangingPunct="1">
        <a:spcBef>
          <a:spcPct val="20000"/>
        </a:spcBef>
        <a:spcAft>
          <a:spcPct val="0"/>
        </a:spcAft>
        <a:buClr>
          <a:schemeClr val="accent2"/>
        </a:buClr>
        <a:buSzPct val="55000"/>
        <a:buFont typeface="Wingdings" pitchFamily="2" charset="2"/>
        <a:buChar char="n"/>
        <a:defRPr kumimoji="1" sz="2000" b="1">
          <a:solidFill>
            <a:schemeClr val="tx1"/>
          </a:solidFill>
          <a:latin typeface="+mn-lt"/>
          <a:ea typeface="+mn-ea"/>
        </a:defRPr>
      </a:lvl4pPr>
      <a:lvl5pPr marL="2057400" indent="-228600" algn="l" rtl="0" eaLnBrk="1" fontAlgn="base" hangingPunct="1">
        <a:spcBef>
          <a:spcPct val="20000"/>
        </a:spcBef>
        <a:spcAft>
          <a:spcPct val="0"/>
        </a:spcAft>
        <a:buClr>
          <a:schemeClr val="accent1"/>
        </a:buClr>
        <a:buSzPct val="50000"/>
        <a:buFont typeface="Wingdings" pitchFamily="2" charset="2"/>
        <a:buChar char="n"/>
        <a:defRPr kumimoji="1" sz="2000" b="1">
          <a:solidFill>
            <a:schemeClr val="tx1"/>
          </a:solidFill>
          <a:latin typeface="+mn-lt"/>
          <a:ea typeface="+mn-ea"/>
        </a:defRPr>
      </a:lvl5pPr>
      <a:lvl6pPr marL="2514600" indent="-228600" algn="l" rtl="0" eaLnBrk="1" fontAlgn="base" hangingPunct="1">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eaLnBrk="1" fontAlgn="base" hangingPunct="1">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eaLnBrk="1" fontAlgn="base" hangingPunct="1">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eaLnBrk="1" fontAlgn="base" hangingPunct="1">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pPr fontAlgn="base">
              <a:spcBef>
                <a:spcPct val="0"/>
              </a:spcBef>
              <a:spcAft>
                <a:spcPct val="0"/>
              </a:spcAft>
            </a:pPr>
            <a:fld id="{56F94B48-E757-4CBC-9F21-5FB916D3FAF5}" type="datetime1">
              <a:rPr lang="zh-CN" altLang="en-US" smtClean="0">
                <a:solidFill>
                  <a:srgbClr val="000000"/>
                </a:solidFill>
              </a:rPr>
              <a:pPr fontAlgn="base">
                <a:spcBef>
                  <a:spcPct val="0"/>
                </a:spcBef>
                <a:spcAft>
                  <a:spcPct val="0"/>
                </a:spcAft>
              </a:pPr>
              <a:t>2021/11/15</a:t>
            </a:fld>
            <a:endParaRPr lang="en-US" altLang="zh-CN" smtClean="0">
              <a:solidFill>
                <a:srgbClr val="000000"/>
              </a:solidFill>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pPr fontAlgn="base">
              <a:spcBef>
                <a:spcPct val="0"/>
              </a:spcBef>
              <a:spcAft>
                <a:spcPct val="0"/>
              </a:spcAft>
            </a:pPr>
            <a:endParaRPr lang="en-US" altLang="zh-CN" smtClean="0">
              <a:solidFill>
                <a:srgbClr val="000000"/>
              </a:solidFill>
            </a:endParaRP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pPr fontAlgn="base">
              <a:spcBef>
                <a:spcPct val="0"/>
              </a:spcBef>
              <a:spcAft>
                <a:spcPct val="0"/>
              </a:spcAft>
            </a:pPr>
            <a:fld id="{1151C7C0-7079-43E1-8B54-0240B0B197E7}" type="slidenum">
              <a:rPr lang="en-US" altLang="zh-CN" smtClean="0">
                <a:solidFill>
                  <a:srgbClr val="000000"/>
                </a:solidFill>
              </a:rPr>
              <a:pPr fontAlgn="base">
                <a:spcBef>
                  <a:spcPct val="0"/>
                </a:spcBef>
                <a:spcAft>
                  <a:spcPct val="0"/>
                </a:spcAft>
              </a:pPr>
              <a:t>‹#›</a:t>
            </a:fld>
            <a:endParaRPr lang="en-US" altLang="zh-CN" smtClean="0">
              <a:solidFill>
                <a:srgbClr val="000000"/>
              </a:solidFill>
            </a:endParaRPr>
          </a:p>
        </p:txBody>
      </p:sp>
    </p:spTree>
    <p:extLst>
      <p:ext uri="{BB962C8B-B14F-4D97-AF65-F5344CB8AC3E}">
        <p14:creationId xmlns:p14="http://schemas.microsoft.com/office/powerpoint/2010/main" xmlns="" val="250923316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hf hdr="0" ftr="0" dt="0"/>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ea typeface="宋体" charset="-122"/>
        </a:defRPr>
      </a:lvl2pPr>
      <a:lvl3pPr algn="ctr" rtl="0" eaLnBrk="1" fontAlgn="base" hangingPunct="1">
        <a:spcBef>
          <a:spcPct val="0"/>
        </a:spcBef>
        <a:spcAft>
          <a:spcPct val="0"/>
        </a:spcAft>
        <a:defRPr sz="4400">
          <a:solidFill>
            <a:schemeClr val="tx2"/>
          </a:solidFill>
          <a:latin typeface="Arial" charset="0"/>
          <a:ea typeface="宋体" charset="-122"/>
        </a:defRPr>
      </a:lvl3pPr>
      <a:lvl4pPr algn="ctr" rtl="0" eaLnBrk="1" fontAlgn="base" hangingPunct="1">
        <a:spcBef>
          <a:spcPct val="0"/>
        </a:spcBef>
        <a:spcAft>
          <a:spcPct val="0"/>
        </a:spcAft>
        <a:defRPr sz="4400">
          <a:solidFill>
            <a:schemeClr val="tx2"/>
          </a:solidFill>
          <a:latin typeface="Arial" charset="0"/>
          <a:ea typeface="宋体" charset="-122"/>
        </a:defRPr>
      </a:lvl4pPr>
      <a:lvl5pPr algn="ctr" rtl="0" eaLnBrk="1" fontAlgn="base" hangingPunct="1">
        <a:spcBef>
          <a:spcPct val="0"/>
        </a:spcBef>
        <a:spcAft>
          <a:spcPct val="0"/>
        </a:spcAft>
        <a:defRPr sz="4400">
          <a:solidFill>
            <a:schemeClr val="tx2"/>
          </a:solidFill>
          <a:latin typeface="Arial" charset="0"/>
          <a:ea typeface="宋体" charset="-122"/>
        </a:defRPr>
      </a:lvl5pPr>
      <a:lvl6pPr marL="457200" algn="ctr" rtl="0" eaLnBrk="1" fontAlgn="base" hangingPunct="1">
        <a:spcBef>
          <a:spcPct val="0"/>
        </a:spcBef>
        <a:spcAft>
          <a:spcPct val="0"/>
        </a:spcAft>
        <a:defRPr sz="4400">
          <a:solidFill>
            <a:schemeClr val="tx2"/>
          </a:solidFill>
          <a:latin typeface="Arial" charset="0"/>
          <a:ea typeface="宋体" charset="-122"/>
        </a:defRPr>
      </a:lvl6pPr>
      <a:lvl7pPr marL="914400" algn="ctr" rtl="0" eaLnBrk="1" fontAlgn="base" hangingPunct="1">
        <a:spcBef>
          <a:spcPct val="0"/>
        </a:spcBef>
        <a:spcAft>
          <a:spcPct val="0"/>
        </a:spcAft>
        <a:defRPr sz="4400">
          <a:solidFill>
            <a:schemeClr val="tx2"/>
          </a:solidFill>
          <a:latin typeface="Arial" charset="0"/>
          <a:ea typeface="宋体" charset="-122"/>
        </a:defRPr>
      </a:lvl7pPr>
      <a:lvl8pPr marL="1371600" algn="ctr" rtl="0" eaLnBrk="1" fontAlgn="base" hangingPunct="1">
        <a:spcBef>
          <a:spcPct val="0"/>
        </a:spcBef>
        <a:spcAft>
          <a:spcPct val="0"/>
        </a:spcAft>
        <a:defRPr sz="4400">
          <a:solidFill>
            <a:schemeClr val="tx2"/>
          </a:solidFill>
          <a:latin typeface="Arial" charset="0"/>
          <a:ea typeface="宋体" charset="-122"/>
        </a:defRPr>
      </a:lvl8pPr>
      <a:lvl9pPr marL="1828800" algn="ctr" rtl="0" eaLnBrk="1" fontAlgn="base" hangingPunct="1">
        <a:spcBef>
          <a:spcPct val="0"/>
        </a:spcBef>
        <a:spcAft>
          <a:spcPct val="0"/>
        </a:spcAft>
        <a:defRPr sz="4400">
          <a:solidFill>
            <a:schemeClr val="tx2"/>
          </a:solidFill>
          <a:latin typeface="Arial" charset="0"/>
          <a:ea typeface="宋体" charset="-122"/>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ea typeface="+mn-ea"/>
        </a:defRPr>
      </a:lvl2pPr>
      <a:lvl3pPr marL="1143000" indent="-228600" algn="l" rtl="0" eaLnBrk="1" fontAlgn="base" hangingPunct="1">
        <a:spcBef>
          <a:spcPct val="20000"/>
        </a:spcBef>
        <a:spcAft>
          <a:spcPct val="0"/>
        </a:spcAft>
        <a:buChar char="•"/>
        <a:defRPr sz="2400">
          <a:solidFill>
            <a:schemeClr val="tx1"/>
          </a:solidFill>
          <a:latin typeface="+mn-lt"/>
          <a:ea typeface="+mn-ea"/>
        </a:defRPr>
      </a:lvl3pPr>
      <a:lvl4pPr marL="1600200" indent="-228600" algn="l" rtl="0" eaLnBrk="1" fontAlgn="base" hangingPunct="1">
        <a:spcBef>
          <a:spcPct val="20000"/>
        </a:spcBef>
        <a:spcAft>
          <a:spcPct val="0"/>
        </a:spcAft>
        <a:buChar char="–"/>
        <a:defRPr sz="2000">
          <a:solidFill>
            <a:schemeClr val="tx1"/>
          </a:solidFill>
          <a:latin typeface="+mn-lt"/>
          <a:ea typeface="+mn-ea"/>
        </a:defRPr>
      </a:lvl4pPr>
      <a:lvl5pPr marL="2057400" indent="-228600" algn="l" rtl="0" eaLnBrk="1" fontAlgn="base" hangingPunct="1">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pPr fontAlgn="base">
              <a:spcBef>
                <a:spcPct val="0"/>
              </a:spcBef>
              <a:spcAft>
                <a:spcPct val="0"/>
              </a:spcAft>
            </a:pPr>
            <a:fld id="{D1E3CFA9-5BE8-4F09-AF92-6464D5E6C3B4}" type="datetime1">
              <a:rPr lang="zh-CN" altLang="en-US" smtClean="0">
                <a:solidFill>
                  <a:srgbClr val="000000"/>
                </a:solidFill>
              </a:rPr>
              <a:pPr fontAlgn="base">
                <a:spcBef>
                  <a:spcPct val="0"/>
                </a:spcBef>
                <a:spcAft>
                  <a:spcPct val="0"/>
                </a:spcAft>
              </a:pPr>
              <a:t>2021/11/15</a:t>
            </a:fld>
            <a:endParaRPr lang="en-US" altLang="zh-CN" smtClean="0">
              <a:solidFill>
                <a:srgbClr val="000000"/>
              </a:solidFill>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pPr fontAlgn="base">
              <a:spcBef>
                <a:spcPct val="0"/>
              </a:spcBef>
              <a:spcAft>
                <a:spcPct val="0"/>
              </a:spcAft>
            </a:pPr>
            <a:endParaRPr lang="en-US" altLang="zh-CN" smtClean="0">
              <a:solidFill>
                <a:srgbClr val="000000"/>
              </a:solidFill>
            </a:endParaRP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pPr fontAlgn="base">
              <a:spcBef>
                <a:spcPct val="0"/>
              </a:spcBef>
              <a:spcAft>
                <a:spcPct val="0"/>
              </a:spcAft>
            </a:pPr>
            <a:fld id="{1151C7C0-7079-43E1-8B54-0240B0B197E7}" type="slidenum">
              <a:rPr lang="en-US" altLang="zh-CN" smtClean="0">
                <a:solidFill>
                  <a:srgbClr val="000000"/>
                </a:solidFill>
              </a:rPr>
              <a:pPr fontAlgn="base">
                <a:spcBef>
                  <a:spcPct val="0"/>
                </a:spcBef>
                <a:spcAft>
                  <a:spcPct val="0"/>
                </a:spcAft>
              </a:pPr>
              <a:t>‹#›</a:t>
            </a:fld>
            <a:endParaRPr lang="en-US" altLang="zh-CN" smtClean="0">
              <a:solidFill>
                <a:srgbClr val="000000"/>
              </a:solidFill>
            </a:endParaRPr>
          </a:p>
        </p:txBody>
      </p:sp>
    </p:spTree>
    <p:extLst>
      <p:ext uri="{BB962C8B-B14F-4D97-AF65-F5344CB8AC3E}">
        <p14:creationId xmlns:p14="http://schemas.microsoft.com/office/powerpoint/2010/main" xmlns="" val="4029439560"/>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hf hdr="0" ftr="0" dt="0"/>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ea typeface="宋体" charset="-122"/>
        </a:defRPr>
      </a:lvl2pPr>
      <a:lvl3pPr algn="ctr" rtl="0" eaLnBrk="1" fontAlgn="base" hangingPunct="1">
        <a:spcBef>
          <a:spcPct val="0"/>
        </a:spcBef>
        <a:spcAft>
          <a:spcPct val="0"/>
        </a:spcAft>
        <a:defRPr sz="4400">
          <a:solidFill>
            <a:schemeClr val="tx2"/>
          </a:solidFill>
          <a:latin typeface="Arial" charset="0"/>
          <a:ea typeface="宋体" charset="-122"/>
        </a:defRPr>
      </a:lvl3pPr>
      <a:lvl4pPr algn="ctr" rtl="0" eaLnBrk="1" fontAlgn="base" hangingPunct="1">
        <a:spcBef>
          <a:spcPct val="0"/>
        </a:spcBef>
        <a:spcAft>
          <a:spcPct val="0"/>
        </a:spcAft>
        <a:defRPr sz="4400">
          <a:solidFill>
            <a:schemeClr val="tx2"/>
          </a:solidFill>
          <a:latin typeface="Arial" charset="0"/>
          <a:ea typeface="宋体" charset="-122"/>
        </a:defRPr>
      </a:lvl4pPr>
      <a:lvl5pPr algn="ctr" rtl="0" eaLnBrk="1" fontAlgn="base" hangingPunct="1">
        <a:spcBef>
          <a:spcPct val="0"/>
        </a:spcBef>
        <a:spcAft>
          <a:spcPct val="0"/>
        </a:spcAft>
        <a:defRPr sz="4400">
          <a:solidFill>
            <a:schemeClr val="tx2"/>
          </a:solidFill>
          <a:latin typeface="Arial" charset="0"/>
          <a:ea typeface="宋体" charset="-122"/>
        </a:defRPr>
      </a:lvl5pPr>
      <a:lvl6pPr marL="457200" algn="ctr" rtl="0" eaLnBrk="1" fontAlgn="base" hangingPunct="1">
        <a:spcBef>
          <a:spcPct val="0"/>
        </a:spcBef>
        <a:spcAft>
          <a:spcPct val="0"/>
        </a:spcAft>
        <a:defRPr sz="4400">
          <a:solidFill>
            <a:schemeClr val="tx2"/>
          </a:solidFill>
          <a:latin typeface="Arial" charset="0"/>
          <a:ea typeface="宋体" charset="-122"/>
        </a:defRPr>
      </a:lvl6pPr>
      <a:lvl7pPr marL="914400" algn="ctr" rtl="0" eaLnBrk="1" fontAlgn="base" hangingPunct="1">
        <a:spcBef>
          <a:spcPct val="0"/>
        </a:spcBef>
        <a:spcAft>
          <a:spcPct val="0"/>
        </a:spcAft>
        <a:defRPr sz="4400">
          <a:solidFill>
            <a:schemeClr val="tx2"/>
          </a:solidFill>
          <a:latin typeface="Arial" charset="0"/>
          <a:ea typeface="宋体" charset="-122"/>
        </a:defRPr>
      </a:lvl7pPr>
      <a:lvl8pPr marL="1371600" algn="ctr" rtl="0" eaLnBrk="1" fontAlgn="base" hangingPunct="1">
        <a:spcBef>
          <a:spcPct val="0"/>
        </a:spcBef>
        <a:spcAft>
          <a:spcPct val="0"/>
        </a:spcAft>
        <a:defRPr sz="4400">
          <a:solidFill>
            <a:schemeClr val="tx2"/>
          </a:solidFill>
          <a:latin typeface="Arial" charset="0"/>
          <a:ea typeface="宋体" charset="-122"/>
        </a:defRPr>
      </a:lvl8pPr>
      <a:lvl9pPr marL="1828800" algn="ctr" rtl="0" eaLnBrk="1" fontAlgn="base" hangingPunct="1">
        <a:spcBef>
          <a:spcPct val="0"/>
        </a:spcBef>
        <a:spcAft>
          <a:spcPct val="0"/>
        </a:spcAft>
        <a:defRPr sz="4400">
          <a:solidFill>
            <a:schemeClr val="tx2"/>
          </a:solidFill>
          <a:latin typeface="Arial" charset="0"/>
          <a:ea typeface="宋体" charset="-122"/>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ea typeface="+mn-ea"/>
        </a:defRPr>
      </a:lvl2pPr>
      <a:lvl3pPr marL="1143000" indent="-228600" algn="l" rtl="0" eaLnBrk="1" fontAlgn="base" hangingPunct="1">
        <a:spcBef>
          <a:spcPct val="20000"/>
        </a:spcBef>
        <a:spcAft>
          <a:spcPct val="0"/>
        </a:spcAft>
        <a:buChar char="•"/>
        <a:defRPr sz="2400">
          <a:solidFill>
            <a:schemeClr val="tx1"/>
          </a:solidFill>
          <a:latin typeface="+mn-lt"/>
          <a:ea typeface="+mn-ea"/>
        </a:defRPr>
      </a:lvl3pPr>
      <a:lvl4pPr marL="1600200" indent="-228600" algn="l" rtl="0" eaLnBrk="1" fontAlgn="base" hangingPunct="1">
        <a:spcBef>
          <a:spcPct val="20000"/>
        </a:spcBef>
        <a:spcAft>
          <a:spcPct val="0"/>
        </a:spcAft>
        <a:buChar char="–"/>
        <a:defRPr sz="2000">
          <a:solidFill>
            <a:schemeClr val="tx1"/>
          </a:solidFill>
          <a:latin typeface="+mn-lt"/>
          <a:ea typeface="+mn-ea"/>
        </a:defRPr>
      </a:lvl4pPr>
      <a:lvl5pPr marL="2057400" indent="-228600" algn="l" rtl="0" eaLnBrk="1" fontAlgn="base" hangingPunct="1">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3666" name="Rectangle 2"/>
          <p:cNvSpPr>
            <a:spLocks noChangeArrowheads="1"/>
          </p:cNvSpPr>
          <p:nvPr/>
        </p:nvSpPr>
        <p:spPr bwMode="ltGray">
          <a:xfrm>
            <a:off x="470025" y="597644"/>
            <a:ext cx="438150" cy="474663"/>
          </a:xfrm>
          <a:prstGeom prst="rect">
            <a:avLst/>
          </a:prstGeom>
          <a:solidFill>
            <a:schemeClr val="accent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zh-CN" sz="2400">
              <a:solidFill>
                <a:srgbClr val="000000"/>
              </a:solidFill>
            </a:endParaRPr>
          </a:p>
        </p:txBody>
      </p:sp>
      <p:sp>
        <p:nvSpPr>
          <p:cNvPr id="113667" name="Rectangle 3"/>
          <p:cNvSpPr>
            <a:spLocks noChangeArrowheads="1"/>
          </p:cNvSpPr>
          <p:nvPr/>
        </p:nvSpPr>
        <p:spPr bwMode="ltGray">
          <a:xfrm>
            <a:off x="852612" y="597644"/>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zh-CN" sz="2400">
              <a:solidFill>
                <a:srgbClr val="000000"/>
              </a:solidFill>
            </a:endParaRPr>
          </a:p>
        </p:txBody>
      </p:sp>
      <p:sp>
        <p:nvSpPr>
          <p:cNvPr id="113668" name="Rectangle 4"/>
          <p:cNvSpPr>
            <a:spLocks noChangeArrowheads="1"/>
          </p:cNvSpPr>
          <p:nvPr/>
        </p:nvSpPr>
        <p:spPr bwMode="ltGray">
          <a:xfrm>
            <a:off x="593850" y="1019919"/>
            <a:ext cx="422275" cy="474663"/>
          </a:xfrm>
          <a:prstGeom prst="rect">
            <a:avLst/>
          </a:prstGeom>
          <a:solidFill>
            <a:schemeClr val="folHlink"/>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zh-CN" sz="2400">
              <a:solidFill>
                <a:srgbClr val="000000"/>
              </a:solidFill>
            </a:endParaRPr>
          </a:p>
        </p:txBody>
      </p:sp>
      <p:sp>
        <p:nvSpPr>
          <p:cNvPr id="113669" name="Rectangle 5"/>
          <p:cNvSpPr>
            <a:spLocks noChangeArrowheads="1"/>
          </p:cNvSpPr>
          <p:nvPr/>
        </p:nvSpPr>
        <p:spPr bwMode="ltGray">
          <a:xfrm>
            <a:off x="963737" y="1019919"/>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zh-CN" sz="2400">
              <a:solidFill>
                <a:srgbClr val="000000"/>
              </a:solidFill>
            </a:endParaRPr>
          </a:p>
        </p:txBody>
      </p:sp>
      <p:sp>
        <p:nvSpPr>
          <p:cNvPr id="113670" name="Rectangle 6"/>
          <p:cNvSpPr>
            <a:spLocks noChangeArrowheads="1"/>
          </p:cNvSpPr>
          <p:nvPr/>
        </p:nvSpPr>
        <p:spPr bwMode="ltGray">
          <a:xfrm>
            <a:off x="179512" y="946894"/>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zh-CN" sz="2400">
              <a:solidFill>
                <a:srgbClr val="000000"/>
              </a:solidFill>
            </a:endParaRPr>
          </a:p>
        </p:txBody>
      </p:sp>
      <p:sp>
        <p:nvSpPr>
          <p:cNvPr id="113671" name="Rectangle 7"/>
          <p:cNvSpPr>
            <a:spLocks noChangeArrowheads="1"/>
          </p:cNvSpPr>
          <p:nvPr/>
        </p:nvSpPr>
        <p:spPr bwMode="gray">
          <a:xfrm>
            <a:off x="814512" y="489694"/>
            <a:ext cx="31750" cy="1052513"/>
          </a:xfrm>
          <a:prstGeom prst="rect">
            <a:avLst/>
          </a:prstGeom>
          <a:solidFill>
            <a:schemeClr val="bg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zh-CN" sz="2400">
              <a:solidFill>
                <a:srgbClr val="000000"/>
              </a:solidFill>
            </a:endParaRPr>
          </a:p>
        </p:txBody>
      </p:sp>
      <p:sp>
        <p:nvSpPr>
          <p:cNvPr id="113672" name="Rectangle 8"/>
          <p:cNvSpPr>
            <a:spLocks noChangeArrowheads="1"/>
          </p:cNvSpPr>
          <p:nvPr/>
        </p:nvSpPr>
        <p:spPr bwMode="gray">
          <a:xfrm>
            <a:off x="495425" y="1280269"/>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zh-CN" sz="2400">
              <a:solidFill>
                <a:srgbClr val="000000"/>
              </a:solidFill>
            </a:endParaRPr>
          </a:p>
        </p:txBody>
      </p:sp>
      <p:sp>
        <p:nvSpPr>
          <p:cNvPr id="113673" name="Rectangle 9"/>
          <p:cNvSpPr>
            <a:spLocks noGrp="1" noChangeArrowheads="1"/>
          </p:cNvSpPr>
          <p:nvPr>
            <p:ph type="title"/>
          </p:nvPr>
        </p:nvSpPr>
        <p:spPr bwMode="auto">
          <a:xfrm>
            <a:off x="1203450" y="116632"/>
            <a:ext cx="7793037"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dirty="0" smtClean="0"/>
              <a:t>单击此处编辑母版标题样式</a:t>
            </a:r>
          </a:p>
        </p:txBody>
      </p:sp>
      <p:sp>
        <p:nvSpPr>
          <p:cNvPr id="113674" name="Rectangle 10"/>
          <p:cNvSpPr>
            <a:spLocks noGrp="1" noChangeArrowheads="1"/>
          </p:cNvSpPr>
          <p:nvPr>
            <p:ph type="body" idx="1"/>
          </p:nvPr>
        </p:nvSpPr>
        <p:spPr bwMode="auto">
          <a:xfrm>
            <a:off x="793750" y="1542208"/>
            <a:ext cx="8161338" cy="49111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p:txBody>
      </p:sp>
      <p:sp>
        <p:nvSpPr>
          <p:cNvPr id="113675" name="Rectangle 11"/>
          <p:cNvSpPr>
            <a:spLocks noGrp="1" noChangeArrowheads="1"/>
          </p:cNvSpPr>
          <p:nvPr>
            <p:ph type="dt" sz="half" idx="2"/>
          </p:nvPr>
        </p:nvSpPr>
        <p:spPr bwMode="auto">
          <a:xfrm>
            <a:off x="914400" y="6324600"/>
            <a:ext cx="1905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kumimoji="0" sz="1400"/>
            </a:lvl1pPr>
          </a:lstStyle>
          <a:p>
            <a:fld id="{0D2E2608-C034-4631-868A-5B19EC160805}" type="datetime1">
              <a:rPr lang="zh-CN" altLang="en-US" smtClean="0">
                <a:solidFill>
                  <a:srgbClr val="000000"/>
                </a:solidFill>
              </a:rPr>
              <a:pPr/>
              <a:t>2021/11/15</a:t>
            </a:fld>
            <a:endParaRPr lang="zh-CN" altLang="en-US">
              <a:solidFill>
                <a:srgbClr val="000000"/>
              </a:solidFill>
            </a:endParaRPr>
          </a:p>
        </p:txBody>
      </p:sp>
      <p:sp>
        <p:nvSpPr>
          <p:cNvPr id="113676" name="Rectangle 12"/>
          <p:cNvSpPr>
            <a:spLocks noGrp="1" noChangeArrowheads="1"/>
          </p:cNvSpPr>
          <p:nvPr>
            <p:ph type="ftr" sz="quarter" idx="3"/>
          </p:nvPr>
        </p:nvSpPr>
        <p:spPr bwMode="auto">
          <a:xfrm>
            <a:off x="3352800" y="6324600"/>
            <a:ext cx="28956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kumimoji="0" sz="1400"/>
            </a:lvl1pPr>
          </a:lstStyle>
          <a:p>
            <a:endParaRPr lang="zh-CN" altLang="en-US">
              <a:solidFill>
                <a:srgbClr val="000000"/>
              </a:solidFill>
            </a:endParaRPr>
          </a:p>
        </p:txBody>
      </p:sp>
      <p:sp>
        <p:nvSpPr>
          <p:cNvPr id="113677" name="Rectangle 13"/>
          <p:cNvSpPr>
            <a:spLocks noGrp="1" noChangeArrowheads="1"/>
          </p:cNvSpPr>
          <p:nvPr>
            <p:ph type="sldNum" sz="quarter" idx="4"/>
          </p:nvPr>
        </p:nvSpPr>
        <p:spPr bwMode="auto">
          <a:xfrm>
            <a:off x="6781800" y="6324600"/>
            <a:ext cx="1905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kumimoji="0" sz="1400"/>
            </a:lvl1pPr>
          </a:lstStyle>
          <a:p>
            <a:fld id="{0C913308-F349-4B6D-A68A-DD1791B4A57B}" type="slidenum">
              <a:rPr lang="zh-CN" altLang="en-US" smtClean="0">
                <a:solidFill>
                  <a:srgbClr val="000000"/>
                </a:solidFill>
              </a:rPr>
              <a:pPr/>
              <a:t>‹#›</a:t>
            </a:fld>
            <a:endParaRPr lang="zh-CN" altLang="en-US">
              <a:solidFill>
                <a:srgbClr val="000000"/>
              </a:solidFill>
            </a:endParaRPr>
          </a:p>
        </p:txBody>
      </p:sp>
    </p:spTree>
    <p:extLst>
      <p:ext uri="{BB962C8B-B14F-4D97-AF65-F5344CB8AC3E}">
        <p14:creationId xmlns:p14="http://schemas.microsoft.com/office/powerpoint/2010/main" xmlns="" val="3782090413"/>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timing>
    <p:tnLst>
      <p:par>
        <p:cTn id="1" dur="indefinite" restart="never" nodeType="tmRoot"/>
      </p:par>
    </p:tnLst>
  </p:timing>
  <p:hf hdr="0" ftr="0" dt="0"/>
  <p:txStyles>
    <p:titleStyle>
      <a:lvl1pPr algn="l" rtl="0" eaLnBrk="1" fontAlgn="base" hangingPunct="1">
        <a:spcBef>
          <a:spcPct val="0"/>
        </a:spcBef>
        <a:spcAft>
          <a:spcPct val="0"/>
        </a:spcAft>
        <a:defRPr kumimoji="1" sz="3200" b="1">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ahoma" pitchFamily="34" charset="0"/>
          <a:ea typeface="宋体" charset="-122"/>
        </a:defRPr>
      </a:lvl2pPr>
      <a:lvl3pPr algn="l" rtl="0" eaLnBrk="1" fontAlgn="base" hangingPunct="1">
        <a:spcBef>
          <a:spcPct val="0"/>
        </a:spcBef>
        <a:spcAft>
          <a:spcPct val="0"/>
        </a:spcAft>
        <a:defRPr kumimoji="1" sz="4400">
          <a:solidFill>
            <a:schemeClr val="tx2"/>
          </a:solidFill>
          <a:latin typeface="Tahoma" pitchFamily="34" charset="0"/>
          <a:ea typeface="宋体" charset="-122"/>
        </a:defRPr>
      </a:lvl3pPr>
      <a:lvl4pPr algn="l" rtl="0" eaLnBrk="1" fontAlgn="base" hangingPunct="1">
        <a:spcBef>
          <a:spcPct val="0"/>
        </a:spcBef>
        <a:spcAft>
          <a:spcPct val="0"/>
        </a:spcAft>
        <a:defRPr kumimoji="1" sz="4400">
          <a:solidFill>
            <a:schemeClr val="tx2"/>
          </a:solidFill>
          <a:latin typeface="Tahoma" pitchFamily="34" charset="0"/>
          <a:ea typeface="宋体" charset="-122"/>
        </a:defRPr>
      </a:lvl4pPr>
      <a:lvl5pPr algn="l" rtl="0" eaLnBrk="1" fontAlgn="base" hangingPunct="1">
        <a:spcBef>
          <a:spcPct val="0"/>
        </a:spcBef>
        <a:spcAft>
          <a:spcPct val="0"/>
        </a:spcAft>
        <a:defRPr kumimoji="1" sz="4400">
          <a:solidFill>
            <a:schemeClr val="tx2"/>
          </a:solidFill>
          <a:latin typeface="Tahoma" pitchFamily="34" charset="0"/>
          <a:ea typeface="宋体" charset="-122"/>
        </a:defRPr>
      </a:lvl5pPr>
      <a:lvl6pPr marL="457200" algn="l" rtl="0" eaLnBrk="1" fontAlgn="base" hangingPunct="1">
        <a:spcBef>
          <a:spcPct val="0"/>
        </a:spcBef>
        <a:spcAft>
          <a:spcPct val="0"/>
        </a:spcAft>
        <a:defRPr kumimoji="1" sz="4400">
          <a:solidFill>
            <a:schemeClr val="tx2"/>
          </a:solidFill>
          <a:latin typeface="Tahoma" pitchFamily="34" charset="0"/>
          <a:ea typeface="宋体" charset="-122"/>
        </a:defRPr>
      </a:lvl6pPr>
      <a:lvl7pPr marL="914400" algn="l" rtl="0" eaLnBrk="1" fontAlgn="base" hangingPunct="1">
        <a:spcBef>
          <a:spcPct val="0"/>
        </a:spcBef>
        <a:spcAft>
          <a:spcPct val="0"/>
        </a:spcAft>
        <a:defRPr kumimoji="1" sz="4400">
          <a:solidFill>
            <a:schemeClr val="tx2"/>
          </a:solidFill>
          <a:latin typeface="Tahoma" pitchFamily="34" charset="0"/>
          <a:ea typeface="宋体" charset="-122"/>
        </a:defRPr>
      </a:lvl7pPr>
      <a:lvl8pPr marL="1371600" algn="l" rtl="0" eaLnBrk="1" fontAlgn="base" hangingPunct="1">
        <a:spcBef>
          <a:spcPct val="0"/>
        </a:spcBef>
        <a:spcAft>
          <a:spcPct val="0"/>
        </a:spcAft>
        <a:defRPr kumimoji="1" sz="4400">
          <a:solidFill>
            <a:schemeClr val="tx2"/>
          </a:solidFill>
          <a:latin typeface="Tahoma" pitchFamily="34" charset="0"/>
          <a:ea typeface="宋体" charset="-122"/>
        </a:defRPr>
      </a:lvl8pPr>
      <a:lvl9pPr marL="1828800" algn="l" rtl="0" eaLnBrk="1" fontAlgn="base" hangingPunct="1">
        <a:spcBef>
          <a:spcPct val="0"/>
        </a:spcBef>
        <a:spcAft>
          <a:spcPct val="0"/>
        </a:spcAft>
        <a:defRPr kumimoji="1" sz="4400">
          <a:solidFill>
            <a:schemeClr val="tx2"/>
          </a:solidFill>
          <a:latin typeface="Tahoma" pitchFamily="34" charset="0"/>
          <a:ea typeface="宋体" charset="-122"/>
        </a:defRPr>
      </a:lvl9pPr>
    </p:titleStyle>
    <p:bodyStyle>
      <a:lvl1pPr marL="342900" indent="-342900" algn="l" rtl="0" eaLnBrk="1" fontAlgn="base" hangingPunct="1">
        <a:lnSpc>
          <a:spcPts val="3120"/>
        </a:lnSpc>
        <a:spcBef>
          <a:spcPct val="20000"/>
        </a:spcBef>
        <a:spcAft>
          <a:spcPct val="0"/>
        </a:spcAft>
        <a:buClr>
          <a:schemeClr val="folHlink"/>
        </a:buClr>
        <a:buSzPct val="60000"/>
        <a:buFont typeface="Wingdings" pitchFamily="2" charset="2"/>
        <a:buChar char="n"/>
        <a:defRPr kumimoji="1" sz="2400" b="1">
          <a:solidFill>
            <a:schemeClr val="tx1"/>
          </a:solidFill>
          <a:latin typeface="+mn-lt"/>
          <a:ea typeface="+mn-ea"/>
          <a:cs typeface="+mn-cs"/>
        </a:defRPr>
      </a:lvl1pPr>
      <a:lvl2pPr marL="742950" indent="-285750" algn="l" rtl="0" eaLnBrk="1" fontAlgn="base" hangingPunct="1">
        <a:lnSpc>
          <a:spcPts val="3120"/>
        </a:lnSpc>
        <a:spcBef>
          <a:spcPct val="20000"/>
        </a:spcBef>
        <a:spcAft>
          <a:spcPct val="0"/>
        </a:spcAft>
        <a:buClr>
          <a:schemeClr val="hlink"/>
        </a:buClr>
        <a:buSzPct val="55000"/>
        <a:buFont typeface="Wingdings" pitchFamily="2" charset="2"/>
        <a:buChar char="n"/>
        <a:defRPr kumimoji="1" sz="2200" b="1">
          <a:solidFill>
            <a:schemeClr val="tx1"/>
          </a:solidFill>
          <a:latin typeface="+mn-lt"/>
          <a:ea typeface="+mn-ea"/>
        </a:defRPr>
      </a:lvl2pPr>
      <a:lvl3pPr marL="1143000" indent="-228600" algn="l" rtl="0" eaLnBrk="1" fontAlgn="base" hangingPunct="1">
        <a:lnSpc>
          <a:spcPts val="3120"/>
        </a:lnSpc>
        <a:spcBef>
          <a:spcPct val="20000"/>
        </a:spcBef>
        <a:spcAft>
          <a:spcPct val="0"/>
        </a:spcAft>
        <a:buClr>
          <a:schemeClr val="folHlink"/>
        </a:buClr>
        <a:buSzPct val="50000"/>
        <a:buFont typeface="Wingdings" pitchFamily="2" charset="2"/>
        <a:buChar char="n"/>
        <a:defRPr kumimoji="1" sz="2000" b="1">
          <a:solidFill>
            <a:schemeClr val="tx1"/>
          </a:solidFill>
          <a:latin typeface="+mn-lt"/>
          <a:ea typeface="+mn-ea"/>
        </a:defRPr>
      </a:lvl3pPr>
      <a:lvl4pPr marL="1600200" indent="-228600" algn="l" rtl="0" eaLnBrk="1" fontAlgn="base" hangingPunct="1">
        <a:spcBef>
          <a:spcPct val="20000"/>
        </a:spcBef>
        <a:spcAft>
          <a:spcPct val="0"/>
        </a:spcAft>
        <a:buClr>
          <a:schemeClr val="accent2"/>
        </a:buClr>
        <a:buSzPct val="55000"/>
        <a:buFont typeface="Wingdings" pitchFamily="2" charset="2"/>
        <a:buChar char="n"/>
        <a:defRPr kumimoji="1" sz="2000" b="1">
          <a:solidFill>
            <a:schemeClr val="tx1"/>
          </a:solidFill>
          <a:latin typeface="+mn-lt"/>
          <a:ea typeface="+mn-ea"/>
        </a:defRPr>
      </a:lvl4pPr>
      <a:lvl5pPr marL="2057400" indent="-228600" algn="l" rtl="0" eaLnBrk="1" fontAlgn="base" hangingPunct="1">
        <a:spcBef>
          <a:spcPct val="20000"/>
        </a:spcBef>
        <a:spcAft>
          <a:spcPct val="0"/>
        </a:spcAft>
        <a:buClr>
          <a:schemeClr val="accent1"/>
        </a:buClr>
        <a:buSzPct val="50000"/>
        <a:buFont typeface="Wingdings" pitchFamily="2" charset="2"/>
        <a:buChar char="n"/>
        <a:defRPr kumimoji="1" sz="2000" b="1">
          <a:solidFill>
            <a:schemeClr val="tx1"/>
          </a:solidFill>
          <a:latin typeface="+mn-lt"/>
          <a:ea typeface="+mn-ea"/>
        </a:defRPr>
      </a:lvl5pPr>
      <a:lvl6pPr marL="2514600" indent="-228600" algn="l" rtl="0" eaLnBrk="1" fontAlgn="base" hangingPunct="1">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eaLnBrk="1" fontAlgn="base" hangingPunct="1">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eaLnBrk="1" fontAlgn="base" hangingPunct="1">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eaLnBrk="1" fontAlgn="base" hangingPunct="1">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pPr fontAlgn="base">
              <a:spcBef>
                <a:spcPct val="0"/>
              </a:spcBef>
              <a:spcAft>
                <a:spcPct val="0"/>
              </a:spcAft>
            </a:pPr>
            <a:fld id="{28E8B668-AF07-4DB9-ABBE-B581D2286674}" type="datetime1">
              <a:rPr lang="zh-CN" altLang="en-US" smtClean="0">
                <a:solidFill>
                  <a:srgbClr val="000000"/>
                </a:solidFill>
              </a:rPr>
              <a:pPr fontAlgn="base">
                <a:spcBef>
                  <a:spcPct val="0"/>
                </a:spcBef>
                <a:spcAft>
                  <a:spcPct val="0"/>
                </a:spcAft>
              </a:pPr>
              <a:t>2021/11/15</a:t>
            </a:fld>
            <a:endParaRPr lang="en-US" altLang="zh-CN" smtClean="0">
              <a:solidFill>
                <a:srgbClr val="000000"/>
              </a:solidFill>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pPr fontAlgn="base">
              <a:spcBef>
                <a:spcPct val="0"/>
              </a:spcBef>
              <a:spcAft>
                <a:spcPct val="0"/>
              </a:spcAft>
            </a:pPr>
            <a:endParaRPr lang="en-US" altLang="zh-CN" smtClean="0">
              <a:solidFill>
                <a:srgbClr val="000000"/>
              </a:solidFill>
            </a:endParaRP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pPr fontAlgn="base">
              <a:spcBef>
                <a:spcPct val="0"/>
              </a:spcBef>
              <a:spcAft>
                <a:spcPct val="0"/>
              </a:spcAft>
            </a:pPr>
            <a:fld id="{3753E173-64BE-4880-BF06-D82B5C1315A6}" type="slidenum">
              <a:rPr lang="en-US" altLang="zh-CN" smtClean="0">
                <a:solidFill>
                  <a:srgbClr val="000000"/>
                </a:solidFill>
              </a:rPr>
              <a:pPr fontAlgn="base">
                <a:spcBef>
                  <a:spcPct val="0"/>
                </a:spcBef>
                <a:spcAft>
                  <a:spcPct val="0"/>
                </a:spcAft>
              </a:pPr>
              <a:t>‹#›</a:t>
            </a:fld>
            <a:endParaRPr lang="en-US" altLang="zh-CN" smtClean="0">
              <a:solidFill>
                <a:srgbClr val="000000"/>
              </a:solidFill>
            </a:endParaRPr>
          </a:p>
        </p:txBody>
      </p:sp>
    </p:spTree>
    <p:extLst>
      <p:ext uri="{BB962C8B-B14F-4D97-AF65-F5344CB8AC3E}">
        <p14:creationId xmlns:p14="http://schemas.microsoft.com/office/powerpoint/2010/main" xmlns="" val="2081238800"/>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Lst>
  <p:hf hdr="0" ftr="0" dt="0"/>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ea typeface="宋体" charset="-122"/>
        </a:defRPr>
      </a:lvl2pPr>
      <a:lvl3pPr algn="ctr" rtl="0" eaLnBrk="1" fontAlgn="base" hangingPunct="1">
        <a:spcBef>
          <a:spcPct val="0"/>
        </a:spcBef>
        <a:spcAft>
          <a:spcPct val="0"/>
        </a:spcAft>
        <a:defRPr sz="4400">
          <a:solidFill>
            <a:schemeClr val="tx2"/>
          </a:solidFill>
          <a:latin typeface="Arial" charset="0"/>
          <a:ea typeface="宋体" charset="-122"/>
        </a:defRPr>
      </a:lvl3pPr>
      <a:lvl4pPr algn="ctr" rtl="0" eaLnBrk="1" fontAlgn="base" hangingPunct="1">
        <a:spcBef>
          <a:spcPct val="0"/>
        </a:spcBef>
        <a:spcAft>
          <a:spcPct val="0"/>
        </a:spcAft>
        <a:defRPr sz="4400">
          <a:solidFill>
            <a:schemeClr val="tx2"/>
          </a:solidFill>
          <a:latin typeface="Arial" charset="0"/>
          <a:ea typeface="宋体" charset="-122"/>
        </a:defRPr>
      </a:lvl4pPr>
      <a:lvl5pPr algn="ctr" rtl="0" eaLnBrk="1" fontAlgn="base" hangingPunct="1">
        <a:spcBef>
          <a:spcPct val="0"/>
        </a:spcBef>
        <a:spcAft>
          <a:spcPct val="0"/>
        </a:spcAft>
        <a:defRPr sz="4400">
          <a:solidFill>
            <a:schemeClr val="tx2"/>
          </a:solidFill>
          <a:latin typeface="Arial" charset="0"/>
          <a:ea typeface="宋体" charset="-122"/>
        </a:defRPr>
      </a:lvl5pPr>
      <a:lvl6pPr marL="457200" algn="ctr" rtl="0" eaLnBrk="1" fontAlgn="base" hangingPunct="1">
        <a:spcBef>
          <a:spcPct val="0"/>
        </a:spcBef>
        <a:spcAft>
          <a:spcPct val="0"/>
        </a:spcAft>
        <a:defRPr sz="4400">
          <a:solidFill>
            <a:schemeClr val="tx2"/>
          </a:solidFill>
          <a:latin typeface="Arial" charset="0"/>
          <a:ea typeface="宋体" charset="-122"/>
        </a:defRPr>
      </a:lvl6pPr>
      <a:lvl7pPr marL="914400" algn="ctr" rtl="0" eaLnBrk="1" fontAlgn="base" hangingPunct="1">
        <a:spcBef>
          <a:spcPct val="0"/>
        </a:spcBef>
        <a:spcAft>
          <a:spcPct val="0"/>
        </a:spcAft>
        <a:defRPr sz="4400">
          <a:solidFill>
            <a:schemeClr val="tx2"/>
          </a:solidFill>
          <a:latin typeface="Arial" charset="0"/>
          <a:ea typeface="宋体" charset="-122"/>
        </a:defRPr>
      </a:lvl7pPr>
      <a:lvl8pPr marL="1371600" algn="ctr" rtl="0" eaLnBrk="1" fontAlgn="base" hangingPunct="1">
        <a:spcBef>
          <a:spcPct val="0"/>
        </a:spcBef>
        <a:spcAft>
          <a:spcPct val="0"/>
        </a:spcAft>
        <a:defRPr sz="4400">
          <a:solidFill>
            <a:schemeClr val="tx2"/>
          </a:solidFill>
          <a:latin typeface="Arial" charset="0"/>
          <a:ea typeface="宋体" charset="-122"/>
        </a:defRPr>
      </a:lvl8pPr>
      <a:lvl9pPr marL="1828800" algn="ctr" rtl="0" eaLnBrk="1" fontAlgn="base" hangingPunct="1">
        <a:spcBef>
          <a:spcPct val="0"/>
        </a:spcBef>
        <a:spcAft>
          <a:spcPct val="0"/>
        </a:spcAft>
        <a:defRPr sz="4400">
          <a:solidFill>
            <a:schemeClr val="tx2"/>
          </a:solidFill>
          <a:latin typeface="Arial" charset="0"/>
          <a:ea typeface="宋体" charset="-122"/>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ea typeface="+mn-ea"/>
        </a:defRPr>
      </a:lvl2pPr>
      <a:lvl3pPr marL="1143000" indent="-228600" algn="l" rtl="0" eaLnBrk="1" fontAlgn="base" hangingPunct="1">
        <a:spcBef>
          <a:spcPct val="20000"/>
        </a:spcBef>
        <a:spcAft>
          <a:spcPct val="0"/>
        </a:spcAft>
        <a:buChar char="•"/>
        <a:defRPr sz="2400">
          <a:solidFill>
            <a:schemeClr val="tx1"/>
          </a:solidFill>
          <a:latin typeface="+mn-lt"/>
          <a:ea typeface="+mn-ea"/>
        </a:defRPr>
      </a:lvl3pPr>
      <a:lvl4pPr marL="1600200" indent="-228600" algn="l" rtl="0" eaLnBrk="1" fontAlgn="base" hangingPunct="1">
        <a:spcBef>
          <a:spcPct val="20000"/>
        </a:spcBef>
        <a:spcAft>
          <a:spcPct val="0"/>
        </a:spcAft>
        <a:buChar char="–"/>
        <a:defRPr sz="2000">
          <a:solidFill>
            <a:schemeClr val="tx1"/>
          </a:solidFill>
          <a:latin typeface="+mn-lt"/>
          <a:ea typeface="+mn-ea"/>
        </a:defRPr>
      </a:lvl4pPr>
      <a:lvl5pPr marL="2057400" indent="-228600" algn="l" rtl="0" eaLnBrk="1" fontAlgn="base" hangingPunct="1">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pPr fontAlgn="base">
              <a:spcBef>
                <a:spcPct val="0"/>
              </a:spcBef>
              <a:spcAft>
                <a:spcPct val="0"/>
              </a:spcAft>
            </a:pPr>
            <a:endParaRPr lang="en-US" altLang="zh-CN" smtClean="0">
              <a:solidFill>
                <a:srgbClr val="000000"/>
              </a:solidFill>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pPr fontAlgn="base">
              <a:spcBef>
                <a:spcPct val="0"/>
              </a:spcBef>
              <a:spcAft>
                <a:spcPct val="0"/>
              </a:spcAft>
            </a:pPr>
            <a:endParaRPr lang="en-US" altLang="zh-CN" smtClean="0">
              <a:solidFill>
                <a:srgbClr val="000000"/>
              </a:solidFill>
            </a:endParaRP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pPr fontAlgn="base">
              <a:spcBef>
                <a:spcPct val="0"/>
              </a:spcBef>
              <a:spcAft>
                <a:spcPct val="0"/>
              </a:spcAft>
            </a:pPr>
            <a:fld id="{16459357-0A43-4754-A245-A4AE93FE7FB3}" type="slidenum">
              <a:rPr lang="en-US" altLang="zh-CN" smtClean="0">
                <a:solidFill>
                  <a:srgbClr val="000000"/>
                </a:solidFill>
              </a:rPr>
              <a:pPr fontAlgn="base">
                <a:spcBef>
                  <a:spcPct val="0"/>
                </a:spcBef>
                <a:spcAft>
                  <a:spcPct val="0"/>
                </a:spcAft>
              </a:pPr>
              <a:t>‹#›</a:t>
            </a:fld>
            <a:endParaRPr lang="en-US" altLang="zh-CN" smtClean="0">
              <a:solidFill>
                <a:srgbClr val="000000"/>
              </a:solidFill>
            </a:endParaRPr>
          </a:p>
        </p:txBody>
      </p:sp>
    </p:spTree>
    <p:extLst>
      <p:ext uri="{BB962C8B-B14F-4D97-AF65-F5344CB8AC3E}">
        <p14:creationId xmlns:p14="http://schemas.microsoft.com/office/powerpoint/2010/main" xmlns="" val="3788252695"/>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ea typeface="宋体" charset="-122"/>
        </a:defRPr>
      </a:lvl2pPr>
      <a:lvl3pPr algn="ctr" rtl="0" fontAlgn="base">
        <a:spcBef>
          <a:spcPct val="0"/>
        </a:spcBef>
        <a:spcAft>
          <a:spcPct val="0"/>
        </a:spcAft>
        <a:defRPr sz="4400">
          <a:solidFill>
            <a:schemeClr val="tx2"/>
          </a:solidFill>
          <a:latin typeface="Arial" charset="0"/>
          <a:ea typeface="宋体" charset="-122"/>
        </a:defRPr>
      </a:lvl3pPr>
      <a:lvl4pPr algn="ctr" rtl="0" fontAlgn="base">
        <a:spcBef>
          <a:spcPct val="0"/>
        </a:spcBef>
        <a:spcAft>
          <a:spcPct val="0"/>
        </a:spcAft>
        <a:defRPr sz="4400">
          <a:solidFill>
            <a:schemeClr val="tx2"/>
          </a:solidFill>
          <a:latin typeface="Arial" charset="0"/>
          <a:ea typeface="宋体" charset="-122"/>
        </a:defRPr>
      </a:lvl4pPr>
      <a:lvl5pPr algn="ctr" rtl="0" fontAlgn="base">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ea typeface="+mn-ea"/>
        </a:defRPr>
      </a:lvl2pPr>
      <a:lvl3pPr marL="1143000" indent="-228600" algn="l" rtl="0" fontAlgn="base">
        <a:spcBef>
          <a:spcPct val="20000"/>
        </a:spcBef>
        <a:spcAft>
          <a:spcPct val="0"/>
        </a:spcAft>
        <a:buChar char="•"/>
        <a:defRPr sz="24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pPr fontAlgn="base">
              <a:spcBef>
                <a:spcPct val="0"/>
              </a:spcBef>
              <a:spcAft>
                <a:spcPct val="0"/>
              </a:spcAft>
            </a:pPr>
            <a:endParaRPr lang="en-US" altLang="zh-CN" smtClean="0">
              <a:solidFill>
                <a:srgbClr val="000000"/>
              </a:solidFill>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pPr fontAlgn="base">
              <a:spcBef>
                <a:spcPct val="0"/>
              </a:spcBef>
              <a:spcAft>
                <a:spcPct val="0"/>
              </a:spcAft>
            </a:pPr>
            <a:endParaRPr lang="en-US" altLang="zh-CN" smtClean="0">
              <a:solidFill>
                <a:srgbClr val="000000"/>
              </a:solidFill>
            </a:endParaRP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pPr fontAlgn="base">
              <a:spcBef>
                <a:spcPct val="0"/>
              </a:spcBef>
              <a:spcAft>
                <a:spcPct val="0"/>
              </a:spcAft>
            </a:pPr>
            <a:fld id="{16459357-0A43-4754-A245-A4AE93FE7FB3}" type="slidenum">
              <a:rPr lang="en-US" altLang="zh-CN" smtClean="0">
                <a:solidFill>
                  <a:srgbClr val="000000"/>
                </a:solidFill>
              </a:rPr>
              <a:pPr fontAlgn="base">
                <a:spcBef>
                  <a:spcPct val="0"/>
                </a:spcBef>
                <a:spcAft>
                  <a:spcPct val="0"/>
                </a:spcAft>
              </a:pPr>
              <a:t>‹#›</a:t>
            </a:fld>
            <a:endParaRPr lang="en-US" altLang="zh-CN" smtClean="0">
              <a:solidFill>
                <a:srgbClr val="000000"/>
              </a:solidFill>
            </a:endParaRPr>
          </a:p>
        </p:txBody>
      </p:sp>
    </p:spTree>
    <p:extLst>
      <p:ext uri="{BB962C8B-B14F-4D97-AF65-F5344CB8AC3E}">
        <p14:creationId xmlns:p14="http://schemas.microsoft.com/office/powerpoint/2010/main" xmlns="" val="4258396665"/>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ea typeface="宋体" charset="-122"/>
        </a:defRPr>
      </a:lvl2pPr>
      <a:lvl3pPr algn="ctr" rtl="0" fontAlgn="base">
        <a:spcBef>
          <a:spcPct val="0"/>
        </a:spcBef>
        <a:spcAft>
          <a:spcPct val="0"/>
        </a:spcAft>
        <a:defRPr sz="4400">
          <a:solidFill>
            <a:schemeClr val="tx2"/>
          </a:solidFill>
          <a:latin typeface="Arial" charset="0"/>
          <a:ea typeface="宋体" charset="-122"/>
        </a:defRPr>
      </a:lvl3pPr>
      <a:lvl4pPr algn="ctr" rtl="0" fontAlgn="base">
        <a:spcBef>
          <a:spcPct val="0"/>
        </a:spcBef>
        <a:spcAft>
          <a:spcPct val="0"/>
        </a:spcAft>
        <a:defRPr sz="4400">
          <a:solidFill>
            <a:schemeClr val="tx2"/>
          </a:solidFill>
          <a:latin typeface="Arial" charset="0"/>
          <a:ea typeface="宋体" charset="-122"/>
        </a:defRPr>
      </a:lvl4pPr>
      <a:lvl5pPr algn="ctr" rtl="0" fontAlgn="base">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ea typeface="+mn-ea"/>
        </a:defRPr>
      </a:lvl2pPr>
      <a:lvl3pPr marL="1143000" indent="-228600" algn="l" rtl="0" fontAlgn="base">
        <a:spcBef>
          <a:spcPct val="20000"/>
        </a:spcBef>
        <a:spcAft>
          <a:spcPct val="0"/>
        </a:spcAft>
        <a:buChar char="•"/>
        <a:defRPr sz="24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3.png"/><Relationship Id="rId4" Type="http://schemas.openxmlformats.org/officeDocument/2006/relationships/oleObject" Target="../embeddings/oleObject2.bin"/></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audio" Target="../media/audio1.wav"/><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notesSlide" Target="../notesSlides/notesSlide2.xml"/><Relationship Id="rId7"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4.bin"/><Relationship Id="rId11" Type="http://schemas.openxmlformats.org/officeDocument/2006/relationships/image" Target="../media/image19.png"/><Relationship Id="rId5" Type="http://schemas.openxmlformats.org/officeDocument/2006/relationships/oleObject" Target="../embeddings/oleObject3.bin"/><Relationship Id="rId10" Type="http://schemas.openxmlformats.org/officeDocument/2006/relationships/image" Target="../media/image18.png"/><Relationship Id="rId4" Type="http://schemas.openxmlformats.org/officeDocument/2006/relationships/audio" Target="../media/audio1.wav"/><Relationship Id="rId9" Type="http://schemas.openxmlformats.org/officeDocument/2006/relationships/oleObject" Target="../embeddings/oleObject7.bin"/></Relationships>
</file>

<file path=ppt/slides/_rels/slide1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audio" Target="../media/audio1.wav"/><Relationship Id="rId7"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oleObject" Target="../embeddings/oleObject10.bin"/><Relationship Id="rId5" Type="http://schemas.openxmlformats.org/officeDocument/2006/relationships/oleObject" Target="../embeddings/oleObject9.bin"/><Relationship Id="rId4" Type="http://schemas.openxmlformats.org/officeDocument/2006/relationships/oleObject" Target="../embeddings/oleObject8.bin"/><Relationship Id="rId9"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image" Target="../media/image12.png"/><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27.png"/><Relationship Id="rId5" Type="http://schemas.openxmlformats.org/officeDocument/2006/relationships/oleObject" Target="../embeddings/oleObject13.bin"/><Relationship Id="rId4" Type="http://schemas.openxmlformats.org/officeDocument/2006/relationships/oleObject" Target="../embeddings/oleObject12.bin"/></Relationships>
</file>

<file path=ppt/slides/_rels/slide12.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image" Target="../media/image31.png"/><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30.png"/><Relationship Id="rId5" Type="http://schemas.openxmlformats.org/officeDocument/2006/relationships/oleObject" Target="../embeddings/oleObject15.bin"/><Relationship Id="rId4" Type="http://schemas.openxmlformats.org/officeDocument/2006/relationships/oleObject" Target="../embeddings/oleObject14.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16.bin"/><Relationship Id="rId3" Type="http://schemas.openxmlformats.org/officeDocument/2006/relationships/audio" Target="../media/audio1.wav"/><Relationship Id="rId7" Type="http://schemas.openxmlformats.org/officeDocument/2006/relationships/image" Target="../media/image38.png"/><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37.png"/><Relationship Id="rId5" Type="http://schemas.openxmlformats.org/officeDocument/2006/relationships/image" Target="../media/image36.png"/><Relationship Id="rId10" Type="http://schemas.openxmlformats.org/officeDocument/2006/relationships/oleObject" Target="../embeddings/oleObject18.bin"/><Relationship Id="rId4" Type="http://schemas.openxmlformats.org/officeDocument/2006/relationships/image" Target="../media/image35.png"/><Relationship Id="rId9" Type="http://schemas.openxmlformats.org/officeDocument/2006/relationships/oleObject" Target="../embeddings/oleObject17.bin"/></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23.bin"/><Relationship Id="rId3" Type="http://schemas.openxmlformats.org/officeDocument/2006/relationships/audio" Target="../media/audio1.wav"/><Relationship Id="rId7" Type="http://schemas.openxmlformats.org/officeDocument/2006/relationships/oleObject" Target="../embeddings/oleObject22.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oleObject" Target="../embeddings/oleObject21.bin"/><Relationship Id="rId11" Type="http://schemas.openxmlformats.org/officeDocument/2006/relationships/image" Target="../media/image46.png"/><Relationship Id="rId5" Type="http://schemas.openxmlformats.org/officeDocument/2006/relationships/oleObject" Target="../embeddings/oleObject20.bin"/><Relationship Id="rId10" Type="http://schemas.openxmlformats.org/officeDocument/2006/relationships/oleObject" Target="../embeddings/oleObject25.bin"/><Relationship Id="rId4" Type="http://schemas.openxmlformats.org/officeDocument/2006/relationships/oleObject" Target="../embeddings/oleObject19.bin"/><Relationship Id="rId9" Type="http://schemas.openxmlformats.org/officeDocument/2006/relationships/oleObject" Target="../embeddings/oleObject24.bin"/></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4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29.bin"/><Relationship Id="rId3" Type="http://schemas.openxmlformats.org/officeDocument/2006/relationships/image" Target="../media/image50.png"/><Relationship Id="rId7" Type="http://schemas.openxmlformats.org/officeDocument/2006/relationships/image" Target="../media/image55.png"/><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oleObject" Target="../embeddings/oleObject28.bin"/><Relationship Id="rId5" Type="http://schemas.openxmlformats.org/officeDocument/2006/relationships/oleObject" Target="../embeddings/oleObject27.bin"/><Relationship Id="rId4" Type="http://schemas.openxmlformats.org/officeDocument/2006/relationships/oleObject" Target="../embeddings/oleObject26.bin"/></Relationships>
</file>

<file path=ppt/slides/_rels/slide2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oleObject" Target="../embeddings/oleObject30.bin"/></Relationships>
</file>

<file path=ppt/slides/_rels/slide2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oleObject" Target="../embeddings/oleObject31.bin"/></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oleObject" Target="../embeddings/oleObject33.bin"/><Relationship Id="rId5" Type="http://schemas.openxmlformats.org/officeDocument/2006/relationships/image" Target="../media/image63.png"/><Relationship Id="rId4" Type="http://schemas.openxmlformats.org/officeDocument/2006/relationships/image" Target="../media/image62.png"/></Relationships>
</file>

<file path=ppt/slides/_rels/slide31.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oleObject" Target="../embeddings/oleObject34.bin"/><Relationship Id="rId5" Type="http://schemas.openxmlformats.org/officeDocument/2006/relationships/image" Target="../media/image68.jpeg"/><Relationship Id="rId4" Type="http://schemas.openxmlformats.org/officeDocument/2006/relationships/image" Target="../media/image67.jpeg"/></Relationships>
</file>

<file path=ppt/slides/_rels/slide34.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image" Target="../media/image69.jpe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image" Target="../media/image71.jpe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jpe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oleObject" Target="../embeddings/oleObject38.bin"/><Relationship Id="rId5" Type="http://schemas.openxmlformats.org/officeDocument/2006/relationships/oleObject" Target="../embeddings/oleObject37.bin"/><Relationship Id="rId4" Type="http://schemas.openxmlformats.org/officeDocument/2006/relationships/oleObject" Target="../embeddings/oleObject36.bin"/></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oleObject" Target="../embeddings/oleObject40.bin"/></Relationships>
</file>

<file path=ppt/slides/_rels/slide39.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slideLayout" Target="../slideLayouts/slideLayout6.xml"/><Relationship Id="rId1" Type="http://schemas.openxmlformats.org/officeDocument/2006/relationships/vmlDrawing" Target="../drawings/vmlDrawing15.vml"/><Relationship Id="rId6" Type="http://schemas.openxmlformats.org/officeDocument/2006/relationships/oleObject" Target="../embeddings/oleObject42.bin"/><Relationship Id="rId5" Type="http://schemas.openxmlformats.org/officeDocument/2006/relationships/oleObject" Target="../embeddings/oleObject41.bin"/><Relationship Id="rId4" Type="http://schemas.openxmlformats.org/officeDocument/2006/relationships/image" Target="../media/image86.png"/></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Layout" Target="../slideLayouts/slideLayout2.xml"/><Relationship Id="rId1" Type="http://schemas.openxmlformats.org/officeDocument/2006/relationships/vmlDrawing" Target="../drawings/vmlDrawing16.v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Layout" Target="../slideLayouts/slideLayout2.xml"/><Relationship Id="rId1" Type="http://schemas.openxmlformats.org/officeDocument/2006/relationships/vmlDrawing" Target="../drawings/vmlDrawing17.vml"/><Relationship Id="rId4" Type="http://schemas.openxmlformats.org/officeDocument/2006/relationships/image" Target="../media/image89.png"/></Relationships>
</file>

<file path=ppt/slides/_rels/slide42.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91.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oleObject" Target="../embeddings/oleObject47.bin"/><Relationship Id="rId5" Type="http://schemas.openxmlformats.org/officeDocument/2006/relationships/oleObject" Target="../embeddings/oleObject46.bin"/><Relationship Id="rId4" Type="http://schemas.openxmlformats.org/officeDocument/2006/relationships/oleObject" Target="../embeddings/oleObject45.bin"/></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48.bin"/><Relationship Id="rId7" Type="http://schemas.openxmlformats.org/officeDocument/2006/relationships/oleObject" Target="../embeddings/oleObject52.bin"/><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oleObject" Target="../embeddings/oleObject51.bin"/><Relationship Id="rId5" Type="http://schemas.openxmlformats.org/officeDocument/2006/relationships/oleObject" Target="../embeddings/oleObject50.bin"/><Relationship Id="rId4" Type="http://schemas.openxmlformats.org/officeDocument/2006/relationships/oleObject" Target="../embeddings/oleObject49.bin"/></Relationships>
</file>

<file path=ppt/slides/_rels/slide51.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slideLayout" Target="../slideLayouts/slideLayout2.xml"/><Relationship Id="rId1" Type="http://schemas.openxmlformats.org/officeDocument/2006/relationships/vmlDrawing" Target="../drawings/vmlDrawing20.vml"/><Relationship Id="rId4" Type="http://schemas.openxmlformats.org/officeDocument/2006/relationships/oleObject" Target="../embeddings/oleObject53.bin"/></Relationships>
</file>

<file path=ppt/slides/_rels/slide53.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slideLayout" Target="../slideLayouts/slideLayout2.xml"/><Relationship Id="rId1" Type="http://schemas.openxmlformats.org/officeDocument/2006/relationships/vmlDrawing" Target="../drawings/vmlDrawing21.vml"/><Relationship Id="rId4" Type="http://schemas.openxmlformats.org/officeDocument/2006/relationships/oleObject" Target="../embeddings/oleObject54.bin"/></Relationships>
</file>

<file path=ppt/slides/_rels/slide54.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14.jpeg"/><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Layout" Target="../slideLayouts/slideLayout2.xml"/><Relationship Id="rId1" Type="http://schemas.openxmlformats.org/officeDocument/2006/relationships/vmlDrawing" Target="../drawings/vmlDrawing22.vml"/><Relationship Id="rId5" Type="http://schemas.openxmlformats.org/officeDocument/2006/relationships/oleObject" Target="../embeddings/oleObject57.bin"/><Relationship Id="rId4" Type="http://schemas.openxmlformats.org/officeDocument/2006/relationships/oleObject" Target="../embeddings/oleObject56.bin"/></Relationships>
</file>

<file path=ppt/slides/_rels/slide6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119.jpeg"/><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image" Target="../media/image119.jpeg"/><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image" Target="../media/image119.jpeg"/><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image" Target="../media/image120.jpeg"/><Relationship Id="rId1" Type="http://schemas.openxmlformats.org/officeDocument/2006/relationships/slideLayout" Target="../slideLayouts/slideLayout2.xml"/><Relationship Id="rId5" Type="http://schemas.openxmlformats.org/officeDocument/2006/relationships/image" Target="../media/image123.jpeg"/><Relationship Id="rId4" Type="http://schemas.openxmlformats.org/officeDocument/2006/relationships/image" Target="../media/image122.jpe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image" Target="../media/image124.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27.jpeg"/><Relationship Id="rId2" Type="http://schemas.openxmlformats.org/officeDocument/2006/relationships/image" Target="../media/image126.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8" Type="http://schemas.openxmlformats.org/officeDocument/2006/relationships/oleObject" Target="../embeddings/oleObject63.bin"/><Relationship Id="rId13" Type="http://schemas.openxmlformats.org/officeDocument/2006/relationships/oleObject" Target="../embeddings/oleObject68.bin"/><Relationship Id="rId3" Type="http://schemas.openxmlformats.org/officeDocument/2006/relationships/oleObject" Target="../embeddings/oleObject58.bin"/><Relationship Id="rId7" Type="http://schemas.openxmlformats.org/officeDocument/2006/relationships/oleObject" Target="../embeddings/oleObject62.bin"/><Relationship Id="rId12" Type="http://schemas.openxmlformats.org/officeDocument/2006/relationships/oleObject" Target="../embeddings/oleObject67.bin"/><Relationship Id="rId2" Type="http://schemas.openxmlformats.org/officeDocument/2006/relationships/slideLayout" Target="../slideLayouts/slideLayout73.xml"/><Relationship Id="rId16" Type="http://schemas.openxmlformats.org/officeDocument/2006/relationships/oleObject" Target="../embeddings/oleObject71.bin"/><Relationship Id="rId1" Type="http://schemas.openxmlformats.org/officeDocument/2006/relationships/vmlDrawing" Target="../drawings/vmlDrawing23.vml"/><Relationship Id="rId6" Type="http://schemas.openxmlformats.org/officeDocument/2006/relationships/oleObject" Target="../embeddings/oleObject61.bin"/><Relationship Id="rId11" Type="http://schemas.openxmlformats.org/officeDocument/2006/relationships/oleObject" Target="../embeddings/oleObject66.bin"/><Relationship Id="rId5" Type="http://schemas.openxmlformats.org/officeDocument/2006/relationships/oleObject" Target="../embeddings/oleObject60.bin"/><Relationship Id="rId15" Type="http://schemas.openxmlformats.org/officeDocument/2006/relationships/oleObject" Target="../embeddings/oleObject70.bin"/><Relationship Id="rId10" Type="http://schemas.openxmlformats.org/officeDocument/2006/relationships/oleObject" Target="../embeddings/oleObject65.bin"/><Relationship Id="rId4" Type="http://schemas.openxmlformats.org/officeDocument/2006/relationships/oleObject" Target="../embeddings/oleObject59.bin"/><Relationship Id="rId9" Type="http://schemas.openxmlformats.org/officeDocument/2006/relationships/oleObject" Target="../embeddings/oleObject64.bin"/><Relationship Id="rId14" Type="http://schemas.openxmlformats.org/officeDocument/2006/relationships/oleObject" Target="../embeddings/oleObject69.bin"/></Relationships>
</file>

<file path=ppt/slides/_rels/slide70.xml.rels><?xml version="1.0" encoding="UTF-8" standalone="yes"?>
<Relationships xmlns="http://schemas.openxmlformats.org/package/2006/relationships"><Relationship Id="rId3" Type="http://schemas.openxmlformats.org/officeDocument/2006/relationships/image" Target="../media/image143.jpeg"/><Relationship Id="rId2" Type="http://schemas.openxmlformats.org/officeDocument/2006/relationships/slideLayout" Target="../slideLayouts/slideLayout6.xml"/><Relationship Id="rId1" Type="http://schemas.openxmlformats.org/officeDocument/2006/relationships/vmlDrawing" Target="../drawings/vmlDrawing24.vml"/><Relationship Id="rId4" Type="http://schemas.openxmlformats.org/officeDocument/2006/relationships/oleObject" Target="../embeddings/oleObject72.bin"/></Relationships>
</file>

<file path=ppt/slides/_rels/slide71.xml.rels><?xml version="1.0" encoding="UTF-8" standalone="yes"?>
<Relationships xmlns="http://schemas.openxmlformats.org/package/2006/relationships"><Relationship Id="rId2" Type="http://schemas.openxmlformats.org/officeDocument/2006/relationships/image" Target="../media/image144.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45.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slideLayout" Target="../slideLayouts/slideLayout2.xml"/><Relationship Id="rId1" Type="http://schemas.openxmlformats.org/officeDocument/2006/relationships/vmlDrawing" Target="../drawings/vmlDrawing25.vml"/><Relationship Id="rId5" Type="http://schemas.openxmlformats.org/officeDocument/2006/relationships/oleObject" Target="../embeddings/oleObject74.bin"/><Relationship Id="rId4" Type="http://schemas.openxmlformats.org/officeDocument/2006/relationships/oleObject" Target="../embeddings/oleObject73.bin"/></Relationships>
</file>

<file path=ppt/slides/_rels/slide74.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52.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54.jpeg"/><Relationship Id="rId2" Type="http://schemas.openxmlformats.org/officeDocument/2006/relationships/slideLayout" Target="../slideLayouts/slideLayout6.xml"/><Relationship Id="rId1" Type="http://schemas.openxmlformats.org/officeDocument/2006/relationships/vmlDrawing" Target="../drawings/vmlDrawing26.vml"/><Relationship Id="rId4" Type="http://schemas.openxmlformats.org/officeDocument/2006/relationships/oleObject" Target="../embeddings/oleObject75.bin"/></Relationships>
</file>

<file path=ppt/slides/_rels/slide80.xml.rels><?xml version="1.0" encoding="UTF-8" standalone="yes"?>
<Relationships xmlns="http://schemas.openxmlformats.org/package/2006/relationships"><Relationship Id="rId3" Type="http://schemas.openxmlformats.org/officeDocument/2006/relationships/image" Target="../media/image156.jpeg"/><Relationship Id="rId2" Type="http://schemas.openxmlformats.org/officeDocument/2006/relationships/image" Target="../media/image155.jpeg"/><Relationship Id="rId1" Type="http://schemas.openxmlformats.org/officeDocument/2006/relationships/slideLayout" Target="../slideLayouts/slideLayout7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oleObject" Target="../embeddings/oleObject76.bin"/><Relationship Id="rId2" Type="http://schemas.openxmlformats.org/officeDocument/2006/relationships/slideLayout" Target="../slideLayouts/slideLayout6.xml"/><Relationship Id="rId1" Type="http://schemas.openxmlformats.org/officeDocument/2006/relationships/vmlDrawing" Target="../drawings/vmlDrawing27.vml"/><Relationship Id="rId4" Type="http://schemas.openxmlformats.org/officeDocument/2006/relationships/oleObject" Target="../embeddings/oleObject77.bin"/></Relationships>
</file>

<file path=ppt/slides/_rels/slide83.xml.rels><?xml version="1.0" encoding="UTF-8" standalone="yes"?>
<Relationships xmlns="http://schemas.openxmlformats.org/package/2006/relationships"><Relationship Id="rId2" Type="http://schemas.openxmlformats.org/officeDocument/2006/relationships/image" Target="../media/image159.jpe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78.bin"/><Relationship Id="rId2" Type="http://schemas.openxmlformats.org/officeDocument/2006/relationships/slideLayout" Target="../slideLayouts/slideLayout2.xml"/><Relationship Id="rId1" Type="http://schemas.openxmlformats.org/officeDocument/2006/relationships/vmlDrawing" Target="../drawings/vmlDrawing28.vml"/><Relationship Id="rId4" Type="http://schemas.openxmlformats.org/officeDocument/2006/relationships/oleObject" Target="../embeddings/oleObject79.bin"/></Relationships>
</file>

<file path=ppt/slides/_rels/slide85.xml.rels><?xml version="1.0" encoding="UTF-8" standalone="yes"?>
<Relationships xmlns="http://schemas.openxmlformats.org/package/2006/relationships"><Relationship Id="rId2" Type="http://schemas.openxmlformats.org/officeDocument/2006/relationships/image" Target="../media/image162.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image" Target="../media/image163.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image" Target="../media/image165.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67.jpeg"/><Relationship Id="rId2" Type="http://schemas.openxmlformats.org/officeDocument/2006/relationships/image" Target="../media/image166.jpeg"/><Relationship Id="rId1" Type="http://schemas.openxmlformats.org/officeDocument/2006/relationships/slideLayout" Target="../slideLayouts/slideLayout2.xml"/><Relationship Id="rId4" Type="http://schemas.openxmlformats.org/officeDocument/2006/relationships/image" Target="../media/image168.jpeg"/></Relationships>
</file>

<file path=ppt/slides/_rels/slide89.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169.jpe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image" Target="../media/image171.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73.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171.png"/><Relationship Id="rId7" Type="http://schemas.openxmlformats.org/officeDocument/2006/relationships/image" Target="../media/image178.png"/><Relationship Id="rId2" Type="http://schemas.openxmlformats.org/officeDocument/2006/relationships/image" Target="../media/image174.png"/><Relationship Id="rId1" Type="http://schemas.openxmlformats.org/officeDocument/2006/relationships/slideLayout" Target="../slideLayouts/slideLayout2.xml"/><Relationship Id="rId6" Type="http://schemas.openxmlformats.org/officeDocument/2006/relationships/image" Target="../media/image177.png"/><Relationship Id="rId5" Type="http://schemas.openxmlformats.org/officeDocument/2006/relationships/image" Target="../media/image176.png"/><Relationship Id="rId4" Type="http://schemas.openxmlformats.org/officeDocument/2006/relationships/image" Target="../media/image175.png"/></Relationships>
</file>

<file path=ppt/slides/_rels/slide93.xml.rels><?xml version="1.0" encoding="UTF-8" standalone="yes"?>
<Relationships xmlns="http://schemas.openxmlformats.org/package/2006/relationships"><Relationship Id="rId3" Type="http://schemas.openxmlformats.org/officeDocument/2006/relationships/image" Target="../media/image171.png"/><Relationship Id="rId7" Type="http://schemas.openxmlformats.org/officeDocument/2006/relationships/oleObject" Target="../embeddings/oleObject82.bin"/><Relationship Id="rId2" Type="http://schemas.openxmlformats.org/officeDocument/2006/relationships/slideLayout" Target="../slideLayouts/slideLayout2.xml"/><Relationship Id="rId1" Type="http://schemas.openxmlformats.org/officeDocument/2006/relationships/vmlDrawing" Target="../drawings/vmlDrawing29.vml"/><Relationship Id="rId6" Type="http://schemas.openxmlformats.org/officeDocument/2006/relationships/oleObject" Target="../embeddings/oleObject81.bin"/><Relationship Id="rId5" Type="http://schemas.openxmlformats.org/officeDocument/2006/relationships/oleObject" Target="../embeddings/oleObject80.bin"/><Relationship Id="rId4" Type="http://schemas.openxmlformats.org/officeDocument/2006/relationships/image" Target="../media/image182.png"/></Relationships>
</file>

<file path=ppt/slides/_rels/slide94.xml.rels><?xml version="1.0" encoding="UTF-8" standalone="yes"?>
<Relationships xmlns="http://schemas.openxmlformats.org/package/2006/relationships"><Relationship Id="rId2" Type="http://schemas.openxmlformats.org/officeDocument/2006/relationships/image" Target="../media/image183.jpe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85.emf"/><Relationship Id="rId2" Type="http://schemas.openxmlformats.org/officeDocument/2006/relationships/image" Target="../media/image184.png"/><Relationship Id="rId1" Type="http://schemas.openxmlformats.org/officeDocument/2006/relationships/slideLayout" Target="../slideLayouts/slideLayout2.xml"/><Relationship Id="rId4" Type="http://schemas.openxmlformats.org/officeDocument/2006/relationships/image" Target="../media/image186.emf"/></Relationships>
</file>

<file path=ppt/slides/_rels/slide96.xml.rels><?xml version="1.0" encoding="UTF-8" standalone="yes"?>
<Relationships xmlns="http://schemas.openxmlformats.org/package/2006/relationships"><Relationship Id="rId2" Type="http://schemas.openxmlformats.org/officeDocument/2006/relationships/image" Target="../media/image187.jpe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slideLayout" Target="../slideLayouts/slideLayout2.xml"/><Relationship Id="rId1" Type="http://schemas.openxmlformats.org/officeDocument/2006/relationships/vmlDrawing" Target="../drawings/vmlDrawing30.vml"/><Relationship Id="rId6" Type="http://schemas.openxmlformats.org/officeDocument/2006/relationships/image" Target="../media/image163.png"/><Relationship Id="rId5" Type="http://schemas.openxmlformats.org/officeDocument/2006/relationships/oleObject" Target="../embeddings/oleObject84.bin"/><Relationship Id="rId4" Type="http://schemas.openxmlformats.org/officeDocument/2006/relationships/oleObject" Target="../embeddings/oleObject83.bin"/></Relationships>
</file>

<file path=ppt/slides/_rels/slide98.xml.rels><?xml version="1.0" encoding="UTF-8" standalone="yes"?>
<Relationships xmlns="http://schemas.openxmlformats.org/package/2006/relationships"><Relationship Id="rId2" Type="http://schemas.openxmlformats.org/officeDocument/2006/relationships/image" Target="../media/image191.emf"/><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93.jpeg"/><Relationship Id="rId7" Type="http://schemas.openxmlformats.org/officeDocument/2006/relationships/oleObject" Target="../embeddings/oleObject86.bin"/><Relationship Id="rId2" Type="http://schemas.openxmlformats.org/officeDocument/2006/relationships/slideLayout" Target="../slideLayouts/slideLayout2.xml"/><Relationship Id="rId1" Type="http://schemas.openxmlformats.org/officeDocument/2006/relationships/vmlDrawing" Target="../drawings/vmlDrawing31.vml"/><Relationship Id="rId6" Type="http://schemas.openxmlformats.org/officeDocument/2006/relationships/image" Target="../media/image143.jpeg"/><Relationship Id="rId5" Type="http://schemas.openxmlformats.org/officeDocument/2006/relationships/oleObject" Target="../embeddings/oleObject85.bin"/><Relationship Id="rId4" Type="http://schemas.openxmlformats.org/officeDocument/2006/relationships/image" Target="../media/image194.png"/></Relationships>
</file>

<file path=ppt/slides/_rels/slide100.xml.rels><?xml version="1.0" encoding="UTF-8" standalone="yes"?>
<Relationships xmlns="http://schemas.openxmlformats.org/package/2006/relationships"><Relationship Id="rId3" Type="http://schemas.openxmlformats.org/officeDocument/2006/relationships/image" Target="../media/image193.jpeg"/><Relationship Id="rId2" Type="http://schemas.openxmlformats.org/officeDocument/2006/relationships/slideLayout" Target="../slideLayouts/slideLayout2.xml"/><Relationship Id="rId1" Type="http://schemas.openxmlformats.org/officeDocument/2006/relationships/vmlDrawing" Target="../drawings/vmlDrawing32.vml"/><Relationship Id="rId5" Type="http://schemas.openxmlformats.org/officeDocument/2006/relationships/oleObject" Target="../embeddings/oleObject88.bin"/><Relationship Id="rId4" Type="http://schemas.openxmlformats.org/officeDocument/2006/relationships/oleObject" Target="../embeddings/oleObject87.bin"/></Relationships>
</file>

<file path=ppt/slides/_rels/slide101.xml.rels><?xml version="1.0" encoding="UTF-8" standalone="yes"?>
<Relationships xmlns="http://schemas.openxmlformats.org/package/2006/relationships"><Relationship Id="rId2" Type="http://schemas.openxmlformats.org/officeDocument/2006/relationships/image" Target="../media/image195.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44.jpeg"/><Relationship Id="rId2" Type="http://schemas.openxmlformats.org/officeDocument/2006/relationships/image" Target="../media/image127.jpeg"/><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3" Type="http://schemas.openxmlformats.org/officeDocument/2006/relationships/image" Target="../media/image197.jpeg"/><Relationship Id="rId2" Type="http://schemas.openxmlformats.org/officeDocument/2006/relationships/image" Target="../media/image196.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99.png"/><Relationship Id="rId2" Type="http://schemas.openxmlformats.org/officeDocument/2006/relationships/image" Target="../media/image198.jpe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201.jpeg"/><Relationship Id="rId2" Type="http://schemas.openxmlformats.org/officeDocument/2006/relationships/image" Target="../media/image200.png"/><Relationship Id="rId1" Type="http://schemas.openxmlformats.org/officeDocument/2006/relationships/slideLayout" Target="../slideLayouts/slideLayout2.xml"/><Relationship Id="rId4" Type="http://schemas.openxmlformats.org/officeDocument/2006/relationships/image" Target="../media/image199.png"/></Relationships>
</file>

<file path=ppt/slides/_rels/slide106.xml.rels><?xml version="1.0" encoding="UTF-8" standalone="yes"?>
<Relationships xmlns="http://schemas.openxmlformats.org/package/2006/relationships"><Relationship Id="rId3" Type="http://schemas.openxmlformats.org/officeDocument/2006/relationships/image" Target="../media/image203.jpeg"/><Relationship Id="rId2" Type="http://schemas.openxmlformats.org/officeDocument/2006/relationships/image" Target="../media/image202.jpe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oleObject" Target="../embeddings/oleObject89.bin"/><Relationship Id="rId2" Type="http://schemas.openxmlformats.org/officeDocument/2006/relationships/slideLayout" Target="../slideLayouts/slideLayout2.xml"/><Relationship Id="rId1" Type="http://schemas.openxmlformats.org/officeDocument/2006/relationships/vmlDrawing" Target="../drawings/vmlDrawing33.vml"/><Relationship Id="rId5" Type="http://schemas.openxmlformats.org/officeDocument/2006/relationships/image" Target="../media/image206.jpeg"/><Relationship Id="rId4" Type="http://schemas.openxmlformats.org/officeDocument/2006/relationships/image" Target="../media/image205.jpeg"/></Relationships>
</file>

<file path=ppt/slides/_rels/slide108.xml.rels><?xml version="1.0" encoding="UTF-8" standalone="yes"?>
<Relationships xmlns="http://schemas.openxmlformats.org/package/2006/relationships"><Relationship Id="rId2" Type="http://schemas.openxmlformats.org/officeDocument/2006/relationships/image" Target="../media/image207.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208.jpe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oleObject" Target="../embeddings/oleObject90.bin"/><Relationship Id="rId2" Type="http://schemas.openxmlformats.org/officeDocument/2006/relationships/slideLayout" Target="../slideLayouts/slideLayout2.xml"/><Relationship Id="rId1" Type="http://schemas.openxmlformats.org/officeDocument/2006/relationships/vmlDrawing" Target="../drawings/vmlDrawing34.vml"/><Relationship Id="rId5" Type="http://schemas.openxmlformats.org/officeDocument/2006/relationships/image" Target="../media/image211.png"/><Relationship Id="rId4" Type="http://schemas.openxmlformats.org/officeDocument/2006/relationships/oleObject" Target="../embeddings/oleObject91.bin"/></Relationships>
</file>

<file path=ppt/slides/_rels/slide111.xml.rels><?xml version="1.0" encoding="UTF-8" standalone="yes"?>
<Relationships xmlns="http://schemas.openxmlformats.org/package/2006/relationships"><Relationship Id="rId3" Type="http://schemas.openxmlformats.org/officeDocument/2006/relationships/oleObject" Target="../embeddings/oleObject92.bin"/><Relationship Id="rId2" Type="http://schemas.openxmlformats.org/officeDocument/2006/relationships/slideLayout" Target="../slideLayouts/slideLayout2.xml"/><Relationship Id="rId1" Type="http://schemas.openxmlformats.org/officeDocument/2006/relationships/vmlDrawing" Target="../drawings/vmlDrawing35.vml"/><Relationship Id="rId4" Type="http://schemas.openxmlformats.org/officeDocument/2006/relationships/oleObject" Target="../embeddings/oleObject93.bin"/></Relationships>
</file>

<file path=ppt/slides/_rels/slide112.xml.rels><?xml version="1.0" encoding="UTF-8" standalone="yes"?>
<Relationships xmlns="http://schemas.openxmlformats.org/package/2006/relationships"><Relationship Id="rId3" Type="http://schemas.openxmlformats.org/officeDocument/2006/relationships/oleObject" Target="../embeddings/oleObject94.bin"/><Relationship Id="rId7" Type="http://schemas.openxmlformats.org/officeDocument/2006/relationships/image" Target="../media/image218.png"/><Relationship Id="rId2" Type="http://schemas.openxmlformats.org/officeDocument/2006/relationships/slideLayout" Target="../slideLayouts/slideLayout2.xml"/><Relationship Id="rId1" Type="http://schemas.openxmlformats.org/officeDocument/2006/relationships/vmlDrawing" Target="../drawings/vmlDrawing36.vml"/><Relationship Id="rId6" Type="http://schemas.openxmlformats.org/officeDocument/2006/relationships/image" Target="../media/image217.png"/><Relationship Id="rId5" Type="http://schemas.openxmlformats.org/officeDocument/2006/relationships/oleObject" Target="../embeddings/oleObject96.bin"/><Relationship Id="rId4" Type="http://schemas.openxmlformats.org/officeDocument/2006/relationships/oleObject" Target="../embeddings/oleObject95.bin"/></Relationships>
</file>

<file path=ppt/slides/_rels/slide113.xml.rels><?xml version="1.0" encoding="UTF-8" standalone="yes"?>
<Relationships xmlns="http://schemas.openxmlformats.org/package/2006/relationships"><Relationship Id="rId3" Type="http://schemas.openxmlformats.org/officeDocument/2006/relationships/oleObject" Target="../embeddings/oleObject97.bin"/><Relationship Id="rId2" Type="http://schemas.openxmlformats.org/officeDocument/2006/relationships/slideLayout" Target="../slideLayouts/slideLayout2.xml"/><Relationship Id="rId1" Type="http://schemas.openxmlformats.org/officeDocument/2006/relationships/vmlDrawing" Target="../drawings/vmlDrawing37.vml"/><Relationship Id="rId4" Type="http://schemas.openxmlformats.org/officeDocument/2006/relationships/image" Target="../media/image220.png"/></Relationships>
</file>

<file path=ppt/slides/_rels/slide114.xml.rels><?xml version="1.0" encoding="UTF-8" standalone="yes"?>
<Relationships xmlns="http://schemas.openxmlformats.org/package/2006/relationships"><Relationship Id="rId2" Type="http://schemas.openxmlformats.org/officeDocument/2006/relationships/image" Target="../media/image221.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222.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223.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224.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225.jpe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226.jpe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227.jpeg"/><Relationship Id="rId1" Type="http://schemas.openxmlformats.org/officeDocument/2006/relationships/slideLayout" Target="../slideLayouts/slideLayout6.xml"/></Relationships>
</file>

<file path=ppt/slides/_rels/slide121.xml.rels><?xml version="1.0" encoding="UTF-8" standalone="yes"?>
<Relationships xmlns="http://schemas.openxmlformats.org/package/2006/relationships"><Relationship Id="rId3" Type="http://schemas.openxmlformats.org/officeDocument/2006/relationships/image" Target="../media/image229.png"/><Relationship Id="rId2" Type="http://schemas.openxmlformats.org/officeDocument/2006/relationships/image" Target="../media/image228.png"/><Relationship Id="rId1" Type="http://schemas.openxmlformats.org/officeDocument/2006/relationships/slideLayout" Target="../slideLayouts/slideLayout6.xml"/><Relationship Id="rId4" Type="http://schemas.openxmlformats.org/officeDocument/2006/relationships/image" Target="../media/image230.png"/></Relationships>
</file>

<file path=ppt/slides/_rels/slide122.xml.rels><?xml version="1.0" encoding="UTF-8" standalone="yes"?>
<Relationships xmlns="http://schemas.openxmlformats.org/package/2006/relationships"><Relationship Id="rId3" Type="http://schemas.openxmlformats.org/officeDocument/2006/relationships/image" Target="../media/image232.jpeg"/><Relationship Id="rId2" Type="http://schemas.openxmlformats.org/officeDocument/2006/relationships/image" Target="../media/image231.jpeg"/><Relationship Id="rId1" Type="http://schemas.openxmlformats.org/officeDocument/2006/relationships/slideLayout" Target="../slideLayouts/slideLayout6.xml"/></Relationships>
</file>

<file path=ppt/slides/_rels/slide123.xml.rels><?xml version="1.0" encoding="UTF-8" standalone="yes"?>
<Relationships xmlns="http://schemas.openxmlformats.org/package/2006/relationships"><Relationship Id="rId2" Type="http://schemas.openxmlformats.org/officeDocument/2006/relationships/image" Target="../media/image231.jpeg"/><Relationship Id="rId1" Type="http://schemas.openxmlformats.org/officeDocument/2006/relationships/slideLayout" Target="../slideLayouts/slideLayout6.xml"/></Relationships>
</file>

<file path=ppt/slides/_rels/slide124.xml.rels><?xml version="1.0" encoding="UTF-8" standalone="yes"?>
<Relationships xmlns="http://schemas.openxmlformats.org/package/2006/relationships"><Relationship Id="rId3" Type="http://schemas.openxmlformats.org/officeDocument/2006/relationships/image" Target="../media/image234.jpeg"/><Relationship Id="rId2" Type="http://schemas.openxmlformats.org/officeDocument/2006/relationships/image" Target="../media/image233.jpe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236.jpeg"/><Relationship Id="rId2" Type="http://schemas.openxmlformats.org/officeDocument/2006/relationships/image" Target="../media/image235.jpeg"/><Relationship Id="rId1" Type="http://schemas.openxmlformats.org/officeDocument/2006/relationships/slideLayout" Target="../slideLayouts/slideLayout6.xml"/></Relationships>
</file>

<file path=ppt/slides/_rels/slide126.xml.rels><?xml version="1.0" encoding="UTF-8" standalone="yes"?>
<Relationships xmlns="http://schemas.openxmlformats.org/package/2006/relationships"><Relationship Id="rId2" Type="http://schemas.openxmlformats.org/officeDocument/2006/relationships/image" Target="../media/image237.jpe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oleObject" Target="../embeddings/oleObject98.bin"/><Relationship Id="rId2" Type="http://schemas.openxmlformats.org/officeDocument/2006/relationships/slideLayout" Target="../slideLayouts/slideLayout2.xml"/><Relationship Id="rId1" Type="http://schemas.openxmlformats.org/officeDocument/2006/relationships/vmlDrawing" Target="../drawings/vmlDrawing38.vml"/><Relationship Id="rId5" Type="http://schemas.openxmlformats.org/officeDocument/2006/relationships/image" Target="../media/image240.jpeg"/><Relationship Id="rId4" Type="http://schemas.openxmlformats.org/officeDocument/2006/relationships/image" Target="../media/image239.jpeg"/></Relationships>
</file>

<file path=ppt/slides/_rels/slide128.xml.rels><?xml version="1.0" encoding="UTF-8" standalone="yes"?>
<Relationships xmlns="http://schemas.openxmlformats.org/package/2006/relationships"><Relationship Id="rId3" Type="http://schemas.openxmlformats.org/officeDocument/2006/relationships/oleObject" Target="../embeddings/oleObject99.bin"/><Relationship Id="rId2" Type="http://schemas.openxmlformats.org/officeDocument/2006/relationships/slideLayout" Target="../slideLayouts/slideLayout2.xml"/><Relationship Id="rId1" Type="http://schemas.openxmlformats.org/officeDocument/2006/relationships/vmlDrawing" Target="../drawings/vmlDrawing39.vml"/><Relationship Id="rId6" Type="http://schemas.openxmlformats.org/officeDocument/2006/relationships/image" Target="../media/image244.png"/><Relationship Id="rId5" Type="http://schemas.openxmlformats.org/officeDocument/2006/relationships/image" Target="../media/image243.png"/><Relationship Id="rId4" Type="http://schemas.openxmlformats.org/officeDocument/2006/relationships/oleObject" Target="../embeddings/oleObject100.bin"/></Relationships>
</file>

<file path=ppt/slides/_rels/slide129.xml.rels><?xml version="1.0" encoding="UTF-8" standalone="yes"?>
<Relationships xmlns="http://schemas.openxmlformats.org/package/2006/relationships"><Relationship Id="rId3" Type="http://schemas.openxmlformats.org/officeDocument/2006/relationships/image" Target="../media/image246.jpeg"/><Relationship Id="rId2" Type="http://schemas.openxmlformats.org/officeDocument/2006/relationships/image" Target="../media/image245.jpeg"/><Relationship Id="rId1" Type="http://schemas.openxmlformats.org/officeDocument/2006/relationships/slideLayout" Target="../slideLayouts/slideLayout6.xml"/></Relationships>
</file>

<file path=ppt/slides/_rels/slide130.xml.rels><?xml version="1.0" encoding="UTF-8" standalone="yes"?>
<Relationships xmlns="http://schemas.openxmlformats.org/package/2006/relationships"><Relationship Id="rId2" Type="http://schemas.openxmlformats.org/officeDocument/2006/relationships/image" Target="../media/image247.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oleObject" Target="../embeddings/oleObject101.bin"/><Relationship Id="rId2" Type="http://schemas.openxmlformats.org/officeDocument/2006/relationships/slideLayout" Target="../slideLayouts/slideLayout2.xml"/><Relationship Id="rId1" Type="http://schemas.openxmlformats.org/officeDocument/2006/relationships/vmlDrawing" Target="../drawings/vmlDrawing40.vml"/><Relationship Id="rId6" Type="http://schemas.openxmlformats.org/officeDocument/2006/relationships/oleObject" Target="../embeddings/oleObject102.bin"/><Relationship Id="rId5" Type="http://schemas.openxmlformats.org/officeDocument/2006/relationships/image" Target="../media/image251.png"/><Relationship Id="rId4" Type="http://schemas.openxmlformats.org/officeDocument/2006/relationships/image" Target="../media/image250.png"/></Relationships>
</file>

<file path=ppt/slides/_rels/slide133.xml.rels><?xml version="1.0" encoding="UTF-8" standalone="yes"?>
<Relationships xmlns="http://schemas.openxmlformats.org/package/2006/relationships"><Relationship Id="rId2" Type="http://schemas.openxmlformats.org/officeDocument/2006/relationships/image" Target="../media/image252.jpeg"/><Relationship Id="rId1" Type="http://schemas.openxmlformats.org/officeDocument/2006/relationships/slideLayout" Target="../slideLayouts/slideLayout6.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253.jpe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255.png"/><Relationship Id="rId2" Type="http://schemas.openxmlformats.org/officeDocument/2006/relationships/image" Target="../media/image254.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257.png"/><Relationship Id="rId2" Type="http://schemas.openxmlformats.org/officeDocument/2006/relationships/image" Target="../media/image256.jpe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258.emf"/><Relationship Id="rId2" Type="http://schemas.openxmlformats.org/officeDocument/2006/relationships/image" Target="../media/image256.jpe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259.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261.png"/><Relationship Id="rId2" Type="http://schemas.openxmlformats.org/officeDocument/2006/relationships/image" Target="../media/image260.jpeg"/><Relationship Id="rId1" Type="http://schemas.openxmlformats.org/officeDocument/2006/relationships/slideLayout" Target="../slideLayouts/slideLayout2.xml"/><Relationship Id="rId6" Type="http://schemas.openxmlformats.org/officeDocument/2006/relationships/image" Target="../media/image264.png"/><Relationship Id="rId5" Type="http://schemas.openxmlformats.org/officeDocument/2006/relationships/image" Target="../media/image263.png"/><Relationship Id="rId4" Type="http://schemas.openxmlformats.org/officeDocument/2006/relationships/image" Target="../media/image262.png"/></Relationships>
</file>

<file path=ppt/slides/_rels/slide143.xml.rels><?xml version="1.0" encoding="UTF-8" standalone="yes"?>
<Relationships xmlns="http://schemas.openxmlformats.org/package/2006/relationships"><Relationship Id="rId2" Type="http://schemas.openxmlformats.org/officeDocument/2006/relationships/image" Target="../media/image265.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267.jpeg"/><Relationship Id="rId7" Type="http://schemas.openxmlformats.org/officeDocument/2006/relationships/image" Target="../media/image271.png"/><Relationship Id="rId2" Type="http://schemas.openxmlformats.org/officeDocument/2006/relationships/image" Target="../media/image266.png"/><Relationship Id="rId1" Type="http://schemas.openxmlformats.org/officeDocument/2006/relationships/slideLayout" Target="../slideLayouts/slideLayout2.xml"/><Relationship Id="rId6" Type="http://schemas.openxmlformats.org/officeDocument/2006/relationships/image" Target="../media/image270.png"/><Relationship Id="rId5" Type="http://schemas.openxmlformats.org/officeDocument/2006/relationships/image" Target="../media/image269.png"/><Relationship Id="rId4" Type="http://schemas.openxmlformats.org/officeDocument/2006/relationships/image" Target="../media/image268.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273.jpeg"/><Relationship Id="rId2" Type="http://schemas.openxmlformats.org/officeDocument/2006/relationships/image" Target="../media/image272.jpeg"/><Relationship Id="rId1" Type="http://schemas.openxmlformats.org/officeDocument/2006/relationships/slideLayout" Target="../slideLayouts/slideLayout2.xml"/><Relationship Id="rId4" Type="http://schemas.openxmlformats.org/officeDocument/2006/relationships/image" Target="../media/image274.png"/></Relationships>
</file>

<file path=ppt/slides/_rels/slide147.xml.rels><?xml version="1.0" encoding="UTF-8" standalone="yes"?>
<Relationships xmlns="http://schemas.openxmlformats.org/package/2006/relationships"><Relationship Id="rId3" Type="http://schemas.openxmlformats.org/officeDocument/2006/relationships/image" Target="../media/image276.png"/><Relationship Id="rId2" Type="http://schemas.openxmlformats.org/officeDocument/2006/relationships/image" Target="../media/image275.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278.jpeg"/><Relationship Id="rId2" Type="http://schemas.openxmlformats.org/officeDocument/2006/relationships/image" Target="../media/image277.jpe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279.jpe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oleObject" Target="../embeddings/oleObject103.bin"/><Relationship Id="rId2" Type="http://schemas.openxmlformats.org/officeDocument/2006/relationships/slideLayout" Target="../slideLayouts/slideLayout2.xml"/><Relationship Id="rId1" Type="http://schemas.openxmlformats.org/officeDocument/2006/relationships/vmlDrawing" Target="../drawings/vmlDrawing41.vml"/><Relationship Id="rId4" Type="http://schemas.openxmlformats.org/officeDocument/2006/relationships/oleObject" Target="../embeddings/oleObject104.bin"/></Relationships>
</file>

<file path=ppt/slides/_rels/slide152.xml.rels><?xml version="1.0" encoding="UTF-8" standalone="yes"?>
<Relationships xmlns="http://schemas.openxmlformats.org/package/2006/relationships"><Relationship Id="rId2" Type="http://schemas.openxmlformats.org/officeDocument/2006/relationships/image" Target="../media/image282.jpe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283.emf"/><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284.jpe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oleObject" Target="../embeddings/oleObject105.bin"/><Relationship Id="rId2" Type="http://schemas.openxmlformats.org/officeDocument/2006/relationships/slideLayout" Target="../slideLayouts/slideLayout2.xml"/><Relationship Id="rId1" Type="http://schemas.openxmlformats.org/officeDocument/2006/relationships/vmlDrawing" Target="../drawings/vmlDrawing42.vml"/><Relationship Id="rId5" Type="http://schemas.openxmlformats.org/officeDocument/2006/relationships/image" Target="../media/image287.jpeg"/><Relationship Id="rId4" Type="http://schemas.openxmlformats.org/officeDocument/2006/relationships/oleObject" Target="../embeddings/oleObject106.bin"/></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913308-F349-4B6D-A68A-DD1791B4A57B}" type="slidenum">
              <a:rPr lang="zh-CN" altLang="en-US" smtClean="0"/>
              <a:pPr/>
              <a:t>1</a:t>
            </a:fld>
            <a:endParaRPr lang="zh-CN" altLang="en-US" dirty="0"/>
          </a:p>
        </p:txBody>
      </p:sp>
      <p:sp>
        <p:nvSpPr>
          <p:cNvPr id="6" name="标题 1"/>
          <p:cNvSpPr txBox="1">
            <a:spLocks/>
          </p:cNvSpPr>
          <p:nvPr/>
        </p:nvSpPr>
        <p:spPr bwMode="auto">
          <a:xfrm>
            <a:off x="1403648" y="476672"/>
            <a:ext cx="7016824" cy="63894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第</a:t>
            </a:r>
            <a:r>
              <a:rPr kumimoji="1" lang="en-US" altLang="zh-CN" sz="3600" b="1" kern="0" dirty="0" smtClean="0">
                <a:solidFill>
                  <a:schemeClr val="tx2"/>
                </a:solidFill>
                <a:latin typeface="+mj-lt"/>
                <a:ea typeface="+mj-ea"/>
                <a:cs typeface="+mj-cs"/>
              </a:rPr>
              <a:t>4</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章　组合逻辑电路</a:t>
            </a:r>
            <a:endParaRPr kumimoji="1" lang="zh-CN" altLang="en-US" sz="3600" b="1" i="0" u="none" strike="noStrike" kern="0" cap="none" spc="0" normalizeH="0" baseline="0" noProof="0" dirty="0">
              <a:ln>
                <a:noFill/>
              </a:ln>
              <a:solidFill>
                <a:schemeClr val="tx2"/>
              </a:solidFill>
              <a:effectLst/>
              <a:uLnTx/>
              <a:uFillTx/>
              <a:latin typeface="+mj-lt"/>
              <a:ea typeface="+mj-ea"/>
              <a:cs typeface="+mj-cs"/>
            </a:endParaRPr>
          </a:p>
        </p:txBody>
      </p:sp>
      <p:sp>
        <p:nvSpPr>
          <p:cNvPr id="8" name="副标题 2"/>
          <p:cNvSpPr txBox="1">
            <a:spLocks/>
          </p:cNvSpPr>
          <p:nvPr/>
        </p:nvSpPr>
        <p:spPr bwMode="auto">
          <a:xfrm>
            <a:off x="755576" y="1628800"/>
            <a:ext cx="7776864" cy="46085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Autofit/>
          </a:bodyPr>
          <a:lstStyle/>
          <a:p>
            <a:pPr marL="342900" marR="0" lvl="0" indent="-342900" algn="l" defTabSz="914400" rtl="0" eaLnBrk="1" fontAlgn="base" latinLnBrk="0" hangingPunct="1">
              <a:lnSpc>
                <a:spcPts val="2880"/>
              </a:lnSpc>
              <a:spcBef>
                <a:spcPct val="20000"/>
              </a:spcBef>
              <a:spcAft>
                <a:spcPct val="0"/>
              </a:spcAft>
              <a:buClr>
                <a:schemeClr val="folHlink"/>
              </a:buClr>
              <a:buSzPct val="60000"/>
              <a:tabLst/>
              <a:defRPr/>
            </a:pPr>
            <a:r>
              <a:rPr kumimoji="1" lang="zh-CN" altLang="en-US" sz="2800" b="1" i="0" u="none" strike="noStrike" kern="0" cap="none" spc="0" normalizeH="0" baseline="0" noProof="0" dirty="0" smtClean="0">
                <a:ln>
                  <a:noFill/>
                </a:ln>
                <a:solidFill>
                  <a:schemeClr val="tx1"/>
                </a:solidFill>
                <a:effectLst/>
                <a:uLnTx/>
                <a:uFillTx/>
                <a:latin typeface="+mn-lt"/>
                <a:ea typeface="+mn-ea"/>
                <a:cs typeface="+mn-cs"/>
              </a:rPr>
              <a:t>教材编著： 戚金清  （大连理工大学）</a:t>
            </a:r>
          </a:p>
          <a:p>
            <a:pPr marL="342900" marR="0" lvl="0" indent="-342900" algn="l" defTabSz="914400" rtl="0" eaLnBrk="1" fontAlgn="base" latinLnBrk="0" hangingPunct="1">
              <a:lnSpc>
                <a:spcPts val="2880"/>
              </a:lnSpc>
              <a:spcBef>
                <a:spcPct val="20000"/>
              </a:spcBef>
              <a:spcAft>
                <a:spcPct val="0"/>
              </a:spcAft>
              <a:buClr>
                <a:schemeClr val="folHlink"/>
              </a:buClr>
              <a:buSzPct val="60000"/>
              <a:tabLst/>
              <a:defRPr/>
            </a:pPr>
            <a:r>
              <a:rPr kumimoji="1" lang="zh-CN" altLang="en-US" sz="2800" b="1" i="0" u="none" strike="noStrike" kern="0" cap="none" spc="0" normalizeH="0" baseline="0" noProof="0" dirty="0" smtClean="0">
                <a:ln>
                  <a:noFill/>
                </a:ln>
                <a:solidFill>
                  <a:schemeClr val="tx1"/>
                </a:solidFill>
                <a:effectLst/>
                <a:uLnTx/>
                <a:uFillTx/>
                <a:latin typeface="+mn-lt"/>
                <a:ea typeface="+mn-ea"/>
                <a:cs typeface="+mn-cs"/>
              </a:rPr>
              <a:t>   </a:t>
            </a:r>
            <a:endParaRPr kumimoji="1" lang="en-US" altLang="zh-CN" sz="28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ts val="2880"/>
              </a:lnSpc>
              <a:spcBef>
                <a:spcPct val="20000"/>
              </a:spcBef>
              <a:spcAft>
                <a:spcPct val="0"/>
              </a:spcAft>
              <a:buClr>
                <a:schemeClr val="folHlink"/>
              </a:buClr>
              <a:buSzPct val="60000"/>
              <a:tabLst/>
              <a:defRPr/>
            </a:pPr>
            <a:r>
              <a:rPr kumimoji="1" lang="zh-CN" altLang="en-US" sz="2800" b="1" i="0" u="none" strike="noStrike" kern="0" cap="none" spc="0" normalizeH="0" baseline="0" noProof="0" dirty="0" smtClean="0">
                <a:ln>
                  <a:noFill/>
                </a:ln>
                <a:solidFill>
                  <a:schemeClr val="tx1"/>
                </a:solidFill>
                <a:effectLst/>
                <a:uLnTx/>
                <a:uFillTx/>
                <a:latin typeface="+mn-lt"/>
                <a:ea typeface="+mn-ea"/>
                <a:cs typeface="+mn-cs"/>
              </a:rPr>
              <a:t>原始课件制作：王瑞娟  （郑州大学） </a:t>
            </a:r>
          </a:p>
          <a:p>
            <a:pPr marL="342900" marR="0" lvl="0" indent="-342900" algn="l" defTabSz="914400" rtl="0" eaLnBrk="1" fontAlgn="base" latinLnBrk="0" hangingPunct="1">
              <a:lnSpc>
                <a:spcPts val="2880"/>
              </a:lnSpc>
              <a:spcBef>
                <a:spcPct val="20000"/>
              </a:spcBef>
              <a:spcAft>
                <a:spcPct val="0"/>
              </a:spcAft>
              <a:buClr>
                <a:schemeClr val="folHlink"/>
              </a:buClr>
              <a:buSzPct val="60000"/>
              <a:tabLst/>
              <a:defRPr/>
            </a:pPr>
            <a:r>
              <a:rPr kumimoji="1" lang="zh-CN" altLang="en-US" sz="2800" b="1" i="0" u="none" strike="noStrike" kern="0" cap="none" spc="0" normalizeH="0" baseline="0" noProof="0" dirty="0" smtClean="0">
                <a:ln>
                  <a:noFill/>
                </a:ln>
                <a:solidFill>
                  <a:schemeClr val="tx1"/>
                </a:solidFill>
                <a:effectLst/>
                <a:uLnTx/>
                <a:uFillTx/>
                <a:latin typeface="+mn-lt"/>
                <a:ea typeface="+mn-ea"/>
                <a:cs typeface="+mn-cs"/>
              </a:rPr>
              <a:t>课件编辑修改：杨晓东  （郑州大学）</a:t>
            </a:r>
          </a:p>
          <a:p>
            <a:pPr marL="342900" marR="0" lvl="0" indent="-342900" algn="l" defTabSz="914400" rtl="0" eaLnBrk="1" fontAlgn="base" latinLnBrk="0" hangingPunct="1">
              <a:lnSpc>
                <a:spcPts val="2880"/>
              </a:lnSpc>
              <a:spcBef>
                <a:spcPct val="20000"/>
              </a:spcBef>
              <a:spcAft>
                <a:spcPct val="0"/>
              </a:spcAft>
              <a:buClr>
                <a:schemeClr val="folHlink"/>
              </a:buClr>
              <a:buSzPct val="60000"/>
              <a:tabLst/>
              <a:defRPr/>
            </a:pPr>
            <a:endParaRPr kumimoji="1" lang="en-US" altLang="zh-CN" sz="28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ts val="2880"/>
              </a:lnSpc>
              <a:spcBef>
                <a:spcPct val="20000"/>
              </a:spcBef>
              <a:spcAft>
                <a:spcPct val="0"/>
              </a:spcAft>
              <a:buClr>
                <a:schemeClr val="folHlink"/>
              </a:buClr>
              <a:buSzPct val="60000"/>
              <a:tabLst/>
              <a:defRPr/>
            </a:pPr>
            <a:r>
              <a:rPr kumimoji="1" lang="zh-CN" altLang="en-US" sz="2800" b="1" i="0" u="none" strike="noStrike" kern="0" cap="none" spc="0" normalizeH="0" baseline="0" noProof="0" dirty="0" smtClean="0">
                <a:ln>
                  <a:noFill/>
                </a:ln>
                <a:solidFill>
                  <a:schemeClr val="tx1"/>
                </a:solidFill>
                <a:effectLst/>
                <a:uLnTx/>
                <a:uFillTx/>
                <a:latin typeface="+mn-lt"/>
                <a:ea typeface="+mn-ea"/>
                <a:cs typeface="+mn-cs"/>
              </a:rPr>
              <a:t>授课教师：杨晓东</a:t>
            </a:r>
            <a:endParaRPr kumimoji="1" lang="en-US" altLang="zh-CN" sz="2800" b="1" i="0" u="none" strike="noStrike" kern="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 xmlns:p14="http://schemas.microsoft.com/office/powerpoint/2010/main" val="337875439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50963" y="692696"/>
            <a:ext cx="7793037" cy="566936"/>
          </a:xfrm>
        </p:spPr>
        <p:txBody>
          <a:bodyPr/>
          <a:lstStyle/>
          <a:p>
            <a:r>
              <a:rPr lang="zh-CN" altLang="en-US" dirty="0" smtClean="0"/>
              <a:t>内容</a:t>
            </a:r>
            <a:endParaRPr lang="zh-CN" altLang="en-US" dirty="0"/>
          </a:p>
        </p:txBody>
      </p:sp>
      <p:sp>
        <p:nvSpPr>
          <p:cNvPr id="3" name="内容占位符 2"/>
          <p:cNvSpPr>
            <a:spLocks noGrp="1"/>
          </p:cNvSpPr>
          <p:nvPr>
            <p:ph idx="1"/>
          </p:nvPr>
        </p:nvSpPr>
        <p:spPr>
          <a:xfrm>
            <a:off x="467544" y="1556792"/>
            <a:ext cx="8161338" cy="4911128"/>
          </a:xfrm>
        </p:spPr>
        <p:txBody>
          <a:bodyPr/>
          <a:lstStyle/>
          <a:p>
            <a:pPr>
              <a:lnSpc>
                <a:spcPct val="100000"/>
              </a:lnSpc>
              <a:spcBef>
                <a:spcPts val="600"/>
              </a:spcBef>
              <a:buSzPct val="100000"/>
              <a:buFont typeface="Wingdings" pitchFamily="2" charset="2"/>
              <a:buChar char="p"/>
            </a:pPr>
            <a:r>
              <a:rPr lang="zh-CN" altLang="en-US" sz="2800" dirty="0" smtClean="0"/>
              <a:t>概述</a:t>
            </a:r>
            <a:endParaRPr lang="en-US" altLang="zh-CN" sz="2800" dirty="0" smtClean="0"/>
          </a:p>
          <a:p>
            <a:pPr>
              <a:lnSpc>
                <a:spcPct val="100000"/>
              </a:lnSpc>
              <a:spcBef>
                <a:spcPts val="600"/>
              </a:spcBef>
              <a:buSzPct val="100000"/>
              <a:buFont typeface="Wingdings" pitchFamily="2" charset="2"/>
              <a:buChar char="p"/>
            </a:pPr>
            <a:r>
              <a:rPr lang="zh-CN" altLang="en-US" sz="2800" dirty="0" smtClean="0"/>
              <a:t>组合逻辑电路</a:t>
            </a:r>
            <a:r>
              <a:rPr lang="zh-CN" altLang="en-US" sz="2800" dirty="0"/>
              <a:t>的分析和设计方法</a:t>
            </a:r>
            <a:endParaRPr lang="en-US" altLang="zh-CN" sz="2800" dirty="0"/>
          </a:p>
          <a:p>
            <a:pPr>
              <a:lnSpc>
                <a:spcPct val="100000"/>
              </a:lnSpc>
              <a:spcBef>
                <a:spcPts val="600"/>
              </a:spcBef>
              <a:buSzPct val="100000"/>
              <a:buFont typeface="Wingdings" pitchFamily="2" charset="2"/>
              <a:buChar char="p"/>
            </a:pPr>
            <a:r>
              <a:rPr lang="zh-CN" altLang="en-US" sz="2800" dirty="0"/>
              <a:t>若干常用中规模组合逻辑电路</a:t>
            </a:r>
          </a:p>
          <a:p>
            <a:pPr>
              <a:lnSpc>
                <a:spcPct val="100000"/>
              </a:lnSpc>
              <a:spcBef>
                <a:spcPts val="600"/>
              </a:spcBef>
              <a:buSzPct val="100000"/>
              <a:buFont typeface="Wingdings" pitchFamily="2" charset="2"/>
              <a:buChar char="p"/>
            </a:pPr>
            <a:r>
              <a:rPr lang="zh-CN" altLang="en-US" sz="2800" dirty="0"/>
              <a:t>组合逻辑电路中的竞争</a:t>
            </a:r>
            <a:r>
              <a:rPr lang="en-US" altLang="zh-CN" sz="2800" dirty="0"/>
              <a:t>-</a:t>
            </a:r>
            <a:r>
              <a:rPr lang="zh-CN" altLang="en-US" sz="2800" dirty="0"/>
              <a:t>冒险现象</a:t>
            </a:r>
          </a:p>
          <a:p>
            <a:endParaRPr lang="zh-CN" altLang="en-US" dirty="0"/>
          </a:p>
          <a:p>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2</a:t>
            </a:fld>
            <a:endParaRPr lang="zh-CN" altLang="en-US"/>
          </a:p>
        </p:txBody>
      </p:sp>
      <p:sp>
        <p:nvSpPr>
          <p:cNvPr id="5" name="标题 1"/>
          <p:cNvSpPr txBox="1">
            <a:spLocks/>
          </p:cNvSpPr>
          <p:nvPr/>
        </p:nvSpPr>
        <p:spPr bwMode="auto">
          <a:xfrm>
            <a:off x="1259632" y="0"/>
            <a:ext cx="7016824" cy="63894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第</a:t>
            </a:r>
            <a:r>
              <a:rPr kumimoji="1" lang="en-US" altLang="zh-CN" sz="3600" b="1" kern="0" dirty="0" smtClean="0">
                <a:solidFill>
                  <a:schemeClr val="tx2"/>
                </a:solidFill>
                <a:latin typeface="+mj-lt"/>
                <a:ea typeface="+mj-ea"/>
                <a:cs typeface="+mj-cs"/>
              </a:rPr>
              <a:t>4</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章　组合逻辑电路</a:t>
            </a:r>
            <a:endParaRPr kumimoji="1" lang="zh-CN" altLang="en-US" sz="36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151123901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概述</a:t>
            </a:r>
            <a:endParaRPr lang="zh-CN" altLang="en-US" dirty="0"/>
          </a:p>
        </p:txBody>
      </p:sp>
      <p:sp>
        <p:nvSpPr>
          <p:cNvPr id="3" name="内容占位符 2"/>
          <p:cNvSpPr>
            <a:spLocks noGrp="1"/>
          </p:cNvSpPr>
          <p:nvPr>
            <p:ph idx="1"/>
          </p:nvPr>
        </p:nvSpPr>
        <p:spPr>
          <a:xfrm>
            <a:off x="539552" y="1556792"/>
            <a:ext cx="8352928" cy="4911128"/>
          </a:xfrm>
        </p:spPr>
        <p:txBody>
          <a:bodyPr/>
          <a:lstStyle/>
          <a:p>
            <a:pPr>
              <a:lnSpc>
                <a:spcPct val="100000"/>
              </a:lnSpc>
              <a:spcBef>
                <a:spcPts val="600"/>
              </a:spcBef>
              <a:buSzPct val="100000"/>
              <a:buFont typeface="Wingdings" pitchFamily="2" charset="2"/>
              <a:buChar char="p"/>
            </a:pPr>
            <a:r>
              <a:rPr lang="zh-CN" altLang="en-US" sz="2800" dirty="0" smtClean="0"/>
              <a:t>根据</a:t>
            </a:r>
            <a:r>
              <a:rPr lang="zh-CN" altLang="en-US" sz="2800" dirty="0"/>
              <a:t>数字电路</a:t>
            </a:r>
            <a:r>
              <a:rPr lang="zh-CN" altLang="en-US" sz="2800" dirty="0" smtClean="0"/>
              <a:t>逻辑</a:t>
            </a:r>
            <a:r>
              <a:rPr lang="zh-CN" altLang="en-US" sz="2800" dirty="0"/>
              <a:t>功能的不同，可</a:t>
            </a:r>
            <a:r>
              <a:rPr lang="zh-CN" altLang="en-US" sz="2800" dirty="0" smtClean="0"/>
              <a:t>把数字电路分为：</a:t>
            </a:r>
            <a:endParaRPr lang="en-US" altLang="zh-CN" sz="2800" dirty="0" smtClean="0"/>
          </a:p>
          <a:p>
            <a:pPr lvl="1">
              <a:lnSpc>
                <a:spcPct val="100000"/>
              </a:lnSpc>
              <a:spcBef>
                <a:spcPts val="600"/>
              </a:spcBef>
              <a:buSzPct val="100000"/>
            </a:pPr>
            <a:r>
              <a:rPr lang="zh-CN" altLang="en-US" sz="2400" dirty="0" smtClean="0"/>
              <a:t>组合逻辑电路</a:t>
            </a:r>
            <a:r>
              <a:rPr lang="zh-CN" altLang="en-US" sz="2400" dirty="0"/>
              <a:t>（</a:t>
            </a:r>
            <a:r>
              <a:rPr lang="en-US" altLang="zh-CN" sz="2400" dirty="0"/>
              <a:t>Combinational Logic Circuit</a:t>
            </a:r>
            <a:r>
              <a:rPr lang="zh-CN" altLang="en-US" sz="2400" dirty="0" smtClean="0"/>
              <a:t>）</a:t>
            </a:r>
            <a:endParaRPr lang="en-US" altLang="zh-CN" sz="2400" dirty="0" smtClean="0"/>
          </a:p>
          <a:p>
            <a:pPr lvl="1">
              <a:lnSpc>
                <a:spcPct val="100000"/>
              </a:lnSpc>
              <a:spcBef>
                <a:spcPts val="600"/>
              </a:spcBef>
              <a:buSzPct val="100000"/>
            </a:pPr>
            <a:r>
              <a:rPr lang="zh-CN" altLang="en-US" sz="2400" dirty="0" smtClean="0"/>
              <a:t>时序</a:t>
            </a:r>
            <a:r>
              <a:rPr lang="zh-CN" altLang="en-US" sz="2400" dirty="0"/>
              <a:t>逻辑电路（</a:t>
            </a:r>
            <a:r>
              <a:rPr lang="en-US" altLang="zh-CN" sz="2400" dirty="0"/>
              <a:t>Sequential Logic Circuit</a:t>
            </a:r>
            <a:r>
              <a:rPr lang="zh-CN" altLang="en-US" sz="2400" dirty="0" smtClean="0"/>
              <a:t>）</a:t>
            </a:r>
            <a:endParaRPr lang="en-US" altLang="zh-CN" sz="2400" dirty="0" smtClean="0"/>
          </a:p>
          <a:p>
            <a:pPr>
              <a:lnSpc>
                <a:spcPct val="100000"/>
              </a:lnSpc>
              <a:spcBef>
                <a:spcPts val="600"/>
              </a:spcBef>
              <a:buSzPct val="100000"/>
              <a:buFont typeface="Wingdings" pitchFamily="2" charset="2"/>
              <a:buChar char="p"/>
            </a:pPr>
            <a:r>
              <a:rPr lang="zh-CN" altLang="en-US" sz="2800" dirty="0" smtClean="0"/>
              <a:t>组合逻辑电路：根据实际功能，将</a:t>
            </a:r>
            <a:r>
              <a:rPr lang="zh-CN" altLang="en-US" sz="2800" dirty="0" smtClean="0">
                <a:solidFill>
                  <a:srgbClr val="FF0000"/>
                </a:solidFill>
              </a:rPr>
              <a:t>逻辑门电路进行连接组合</a:t>
            </a:r>
            <a:r>
              <a:rPr lang="zh-CN" altLang="en-US" sz="2800" dirty="0" smtClean="0"/>
              <a:t>，以实现输入和输出之间</a:t>
            </a:r>
            <a:r>
              <a:rPr lang="zh-CN" altLang="en-US" sz="2800" dirty="0" smtClean="0">
                <a:solidFill>
                  <a:srgbClr val="0000CC"/>
                </a:solidFill>
              </a:rPr>
              <a:t>特定的逻辑关系</a:t>
            </a:r>
            <a:r>
              <a:rPr lang="zh-CN" altLang="en-US" sz="2800" dirty="0" smtClean="0"/>
              <a:t>。这样的电路，就是</a:t>
            </a:r>
            <a:r>
              <a:rPr lang="zh-CN" altLang="en-US" sz="2800" dirty="0" smtClean="0">
                <a:solidFill>
                  <a:srgbClr val="FF0000"/>
                </a:solidFill>
              </a:rPr>
              <a:t>组合逻辑电路</a:t>
            </a:r>
            <a:r>
              <a:rPr lang="zh-CN" altLang="en-US" sz="2800" dirty="0" smtClean="0"/>
              <a:t>。</a:t>
            </a:r>
            <a:endParaRPr lang="zh-CN" altLang="en-US" sz="2800" dirty="0"/>
          </a:p>
          <a:p>
            <a:pPr lvl="1">
              <a:lnSpc>
                <a:spcPct val="100000"/>
              </a:lnSpc>
              <a:spcBef>
                <a:spcPts val="600"/>
              </a:spcBef>
              <a:buSzPct val="100000"/>
            </a:pPr>
            <a:r>
              <a:rPr lang="zh-CN" altLang="en-US" dirty="0" smtClean="0"/>
              <a:t>组合逻辑电路</a:t>
            </a:r>
            <a:r>
              <a:rPr lang="zh-CN" altLang="en-US" dirty="0"/>
              <a:t>的特点</a:t>
            </a:r>
          </a:p>
          <a:p>
            <a:pPr lvl="2">
              <a:lnSpc>
                <a:spcPct val="100000"/>
              </a:lnSpc>
              <a:spcBef>
                <a:spcPts val="600"/>
              </a:spcBef>
              <a:buSzPct val="100000"/>
            </a:pPr>
            <a:r>
              <a:rPr lang="zh-CN" altLang="en-US" dirty="0" smtClean="0">
                <a:solidFill>
                  <a:srgbClr val="0000CC"/>
                </a:solidFill>
              </a:rPr>
              <a:t>功能</a:t>
            </a:r>
            <a:r>
              <a:rPr lang="zh-CN" altLang="en-US" dirty="0"/>
              <a:t>上：</a:t>
            </a:r>
            <a:r>
              <a:rPr lang="zh-CN" altLang="en-US" dirty="0">
                <a:solidFill>
                  <a:srgbClr val="0000CC"/>
                </a:solidFill>
              </a:rPr>
              <a:t>任意时刻的输出仅仅取决于该时刻的输入</a:t>
            </a:r>
            <a:r>
              <a:rPr lang="zh-CN" altLang="en-US" dirty="0"/>
              <a:t>，而与电路原来的状态无关，即</a:t>
            </a:r>
            <a:r>
              <a:rPr lang="zh-CN" altLang="en-US" dirty="0">
                <a:solidFill>
                  <a:srgbClr val="FF0000"/>
                </a:solidFill>
              </a:rPr>
              <a:t>无记忆功能</a:t>
            </a:r>
            <a:r>
              <a:rPr lang="zh-CN" altLang="en-US" dirty="0"/>
              <a:t>。</a:t>
            </a:r>
          </a:p>
          <a:p>
            <a:pPr lvl="2">
              <a:lnSpc>
                <a:spcPct val="100000"/>
              </a:lnSpc>
              <a:spcBef>
                <a:spcPts val="600"/>
              </a:spcBef>
              <a:buSzPct val="100000"/>
            </a:pPr>
            <a:r>
              <a:rPr lang="zh-CN" altLang="en-US" dirty="0" smtClean="0">
                <a:solidFill>
                  <a:srgbClr val="0000CC"/>
                </a:solidFill>
              </a:rPr>
              <a:t>电路</a:t>
            </a:r>
            <a:r>
              <a:rPr lang="zh-CN" altLang="en-US" dirty="0">
                <a:solidFill>
                  <a:srgbClr val="0000CC"/>
                </a:solidFill>
              </a:rPr>
              <a:t>结构</a:t>
            </a:r>
            <a:r>
              <a:rPr lang="zh-CN" altLang="en-US" dirty="0"/>
              <a:t>上：只由</a:t>
            </a:r>
            <a:r>
              <a:rPr lang="zh-CN" altLang="en-US" dirty="0">
                <a:solidFill>
                  <a:srgbClr val="0000CC"/>
                </a:solidFill>
              </a:rPr>
              <a:t>逻辑门组成</a:t>
            </a:r>
            <a:r>
              <a:rPr lang="zh-CN" altLang="en-US" dirty="0"/>
              <a:t>，</a:t>
            </a:r>
            <a:r>
              <a:rPr lang="zh-CN" altLang="en-US" dirty="0">
                <a:solidFill>
                  <a:srgbClr val="0000CC"/>
                </a:solidFill>
              </a:rPr>
              <a:t>不包含记忆元件</a:t>
            </a:r>
            <a:r>
              <a:rPr lang="zh-CN" altLang="en-US" dirty="0"/>
              <a:t>，输出和输入之间</a:t>
            </a:r>
            <a:r>
              <a:rPr lang="zh-CN" altLang="en-US" dirty="0">
                <a:solidFill>
                  <a:srgbClr val="FF0000"/>
                </a:solidFill>
              </a:rPr>
              <a:t>无反馈</a:t>
            </a:r>
            <a:r>
              <a:rPr lang="zh-CN" altLang="en-US" dirty="0" smtClean="0"/>
              <a:t>。电路中的信号是</a:t>
            </a:r>
            <a:r>
              <a:rPr lang="zh-CN" altLang="en-US" dirty="0" smtClean="0">
                <a:solidFill>
                  <a:srgbClr val="FF0000"/>
                </a:solidFill>
              </a:rPr>
              <a:t>单向传输</a:t>
            </a:r>
            <a:r>
              <a:rPr lang="zh-CN" altLang="en-US" dirty="0" smtClean="0"/>
              <a:t>的。</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3</a:t>
            </a:fld>
            <a:endParaRPr lang="zh-CN" altLang="en-US"/>
          </a:p>
        </p:txBody>
      </p:sp>
      <p:sp>
        <p:nvSpPr>
          <p:cNvPr id="6" name="标题 1"/>
          <p:cNvSpPr txBox="1">
            <a:spLocks/>
          </p:cNvSpPr>
          <p:nvPr/>
        </p:nvSpPr>
        <p:spPr bwMode="auto">
          <a:xfrm>
            <a:off x="1259632" y="0"/>
            <a:ext cx="7016824" cy="63894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第</a:t>
            </a:r>
            <a:r>
              <a:rPr kumimoji="1" lang="en-US" altLang="zh-CN" sz="3600" b="1" kern="0" dirty="0" smtClean="0">
                <a:solidFill>
                  <a:schemeClr val="tx2"/>
                </a:solidFill>
                <a:latin typeface="+mj-lt"/>
                <a:ea typeface="+mj-ea"/>
                <a:cs typeface="+mj-cs"/>
              </a:rPr>
              <a:t>4</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章　组合逻辑电路</a:t>
            </a:r>
            <a:endParaRPr kumimoji="1" lang="zh-CN" altLang="en-US" sz="36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319668594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概述</a:t>
            </a:r>
            <a:endParaRPr lang="zh-CN" altLang="en-US" dirty="0"/>
          </a:p>
        </p:txBody>
      </p:sp>
      <p:sp>
        <p:nvSpPr>
          <p:cNvPr id="3" name="内容占位符 2"/>
          <p:cNvSpPr>
            <a:spLocks noGrp="1"/>
          </p:cNvSpPr>
          <p:nvPr>
            <p:ph idx="1"/>
          </p:nvPr>
        </p:nvSpPr>
        <p:spPr/>
        <p:txBody>
          <a:bodyPr/>
          <a:lstStyle/>
          <a:p>
            <a:pPr lvl="1">
              <a:buSzPct val="100000"/>
            </a:pPr>
            <a:r>
              <a:rPr lang="zh-CN" altLang="en-US" sz="2400" dirty="0" smtClean="0"/>
              <a:t>逻辑</a:t>
            </a:r>
            <a:r>
              <a:rPr lang="zh-CN" altLang="en-US" sz="2400" dirty="0"/>
              <a:t>功能的描述方式</a:t>
            </a:r>
          </a:p>
          <a:p>
            <a:pPr lvl="2">
              <a:buSzPct val="100000"/>
              <a:buNone/>
            </a:pPr>
            <a:r>
              <a:rPr lang="zh-CN" altLang="en-US" dirty="0" smtClean="0"/>
              <a:t>①  </a:t>
            </a:r>
            <a:r>
              <a:rPr lang="zh-CN" altLang="en-US" dirty="0"/>
              <a:t>逻辑函数表达式</a:t>
            </a:r>
          </a:p>
        </p:txBody>
      </p:sp>
      <p:sp>
        <p:nvSpPr>
          <p:cNvPr id="4" name="Text Box 14"/>
          <p:cNvSpPr txBox="1">
            <a:spLocks noChangeArrowheads="1"/>
          </p:cNvSpPr>
          <p:nvPr/>
        </p:nvSpPr>
        <p:spPr bwMode="auto">
          <a:xfrm>
            <a:off x="1160689" y="4437112"/>
            <a:ext cx="7315200" cy="8223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kumimoji="1" lang="en-US" altLang="zh-CN" b="1" dirty="0">
                <a:latin typeface="Times New Roman" pitchFamily="18" charset="0"/>
              </a:rPr>
              <a:t>        </a:t>
            </a:r>
            <a:r>
              <a:rPr kumimoji="1" lang="zh-CN" altLang="en-US" b="1" dirty="0">
                <a:latin typeface="Times New Roman" pitchFamily="18" charset="0"/>
              </a:rPr>
              <a:t>由框图可知，输入与输出之间的逻辑关系可用一组逻辑函数表示：</a:t>
            </a:r>
          </a:p>
        </p:txBody>
      </p:sp>
      <p:graphicFrame>
        <p:nvGraphicFramePr>
          <p:cNvPr id="5" name="Object 15"/>
          <p:cNvGraphicFramePr>
            <a:graphicFrameLocks noChangeAspect="1"/>
          </p:cNvGraphicFramePr>
          <p:nvPr>
            <p:extLst>
              <p:ext uri="{D42A27DB-BD31-4B8C-83A1-F6EECF244321}">
                <p14:modId xmlns:p14="http://schemas.microsoft.com/office/powerpoint/2010/main" xmlns="" val="540743481"/>
              </p:ext>
            </p:extLst>
          </p:nvPr>
        </p:nvGraphicFramePr>
        <p:xfrm>
          <a:off x="1134478" y="4861775"/>
          <a:ext cx="3352800" cy="1800200"/>
        </p:xfrm>
        <a:graphic>
          <a:graphicData uri="http://schemas.openxmlformats.org/presentationml/2006/ole">
            <p:oleObj spid="_x0000_s1803" name="Equation" r:id="rId3" imgW="1422400" imgH="939800" progId="">
              <p:embed/>
            </p:oleObj>
          </a:graphicData>
        </a:graphic>
      </p:graphicFrame>
      <p:sp>
        <p:nvSpPr>
          <p:cNvPr id="6" name="Text Box 16"/>
          <p:cNvSpPr txBox="1">
            <a:spLocks noChangeArrowheads="1"/>
          </p:cNvSpPr>
          <p:nvPr/>
        </p:nvSpPr>
        <p:spPr bwMode="auto">
          <a:xfrm>
            <a:off x="1835696" y="4005064"/>
            <a:ext cx="57150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sz="2000" b="1" dirty="0" smtClean="0">
                <a:latin typeface="楷体_GB2312" pitchFamily="49" charset="-122"/>
                <a:ea typeface="楷体_GB2312" pitchFamily="49" charset="-122"/>
              </a:rPr>
              <a:t>图</a:t>
            </a:r>
            <a:r>
              <a:rPr kumimoji="1" lang="en-US" altLang="zh-CN" sz="2000" b="1" dirty="0" smtClean="0">
                <a:latin typeface="楷体_GB2312" pitchFamily="49" charset="-122"/>
                <a:ea typeface="楷体_GB2312" pitchFamily="49" charset="-122"/>
              </a:rPr>
              <a:t> </a:t>
            </a:r>
            <a:r>
              <a:rPr kumimoji="1" lang="zh-CN" altLang="en-US" sz="2000" b="1" dirty="0">
                <a:latin typeface="楷体_GB2312" pitchFamily="49" charset="-122"/>
                <a:ea typeface="楷体_GB2312" pitchFamily="49" charset="-122"/>
              </a:rPr>
              <a:t>组合逻辑电路的框图</a:t>
            </a:r>
          </a:p>
        </p:txBody>
      </p:sp>
      <p:graphicFrame>
        <p:nvGraphicFramePr>
          <p:cNvPr id="7" name="Object 19"/>
          <p:cNvGraphicFramePr>
            <a:graphicFrameLocks noChangeAspect="1"/>
          </p:cNvGraphicFramePr>
          <p:nvPr>
            <p:extLst>
              <p:ext uri="{D42A27DB-BD31-4B8C-83A1-F6EECF244321}">
                <p14:modId xmlns:p14="http://schemas.microsoft.com/office/powerpoint/2010/main" xmlns="" val="1340889601"/>
              </p:ext>
            </p:extLst>
          </p:nvPr>
        </p:nvGraphicFramePr>
        <p:xfrm>
          <a:off x="1619672" y="2481635"/>
          <a:ext cx="5616575" cy="1307405"/>
        </p:xfrm>
        <a:graphic>
          <a:graphicData uri="http://schemas.openxmlformats.org/presentationml/2006/ole">
            <p:oleObj spid="_x0000_s1804" name="Visio" r:id="rId4" imgW="3742992" imgH="1063014" progId="">
              <p:embed/>
            </p:oleObj>
          </a:graphicData>
        </a:graphic>
      </p:graphicFrame>
      <p:pic>
        <p:nvPicPr>
          <p:cNvPr id="1032" name="Picture 8"/>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5220072" y="5259437"/>
            <a:ext cx="3552000" cy="1080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8" name="TextBox 7"/>
          <p:cNvSpPr txBox="1"/>
          <p:nvPr/>
        </p:nvSpPr>
        <p:spPr>
          <a:xfrm>
            <a:off x="5472970" y="4848274"/>
            <a:ext cx="646331" cy="369332"/>
          </a:xfrm>
          <a:prstGeom prst="rect">
            <a:avLst/>
          </a:prstGeom>
          <a:noFill/>
        </p:spPr>
        <p:txBody>
          <a:bodyPr wrap="none" rtlCol="0">
            <a:spAutoFit/>
          </a:bodyPr>
          <a:lstStyle/>
          <a:p>
            <a:r>
              <a:rPr lang="zh-CN" altLang="en-US" b="1" dirty="0" smtClean="0"/>
              <a:t>例：</a:t>
            </a:r>
            <a:endParaRPr lang="zh-CN" altLang="en-US" b="1" dirty="0"/>
          </a:p>
        </p:txBody>
      </p:sp>
      <p:sp>
        <p:nvSpPr>
          <p:cNvPr id="9" name="灯片编号占位符 8"/>
          <p:cNvSpPr>
            <a:spLocks noGrp="1"/>
          </p:cNvSpPr>
          <p:nvPr>
            <p:ph type="sldNum" sz="quarter" idx="12"/>
          </p:nvPr>
        </p:nvSpPr>
        <p:spPr/>
        <p:txBody>
          <a:bodyPr/>
          <a:lstStyle/>
          <a:p>
            <a:fld id="{0C913308-F349-4B6D-A68A-DD1791B4A57B}" type="slidenum">
              <a:rPr lang="zh-CN" altLang="en-US" smtClean="0"/>
              <a:pPr/>
              <a:t>4</a:t>
            </a:fld>
            <a:endParaRPr lang="zh-CN" altLang="en-US"/>
          </a:p>
        </p:txBody>
      </p:sp>
      <p:sp>
        <p:nvSpPr>
          <p:cNvPr id="11" name="标题 1"/>
          <p:cNvSpPr txBox="1">
            <a:spLocks/>
          </p:cNvSpPr>
          <p:nvPr/>
        </p:nvSpPr>
        <p:spPr bwMode="auto">
          <a:xfrm>
            <a:off x="1259632" y="0"/>
            <a:ext cx="7016824" cy="63894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fontAlgn="base">
              <a:spcBef>
                <a:spcPct val="0"/>
              </a:spcBef>
              <a:spcAft>
                <a:spcPct val="0"/>
              </a:spcAft>
              <a:defRPr/>
            </a:pP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第</a:t>
            </a:r>
            <a:r>
              <a:rPr kumimoji="1" lang="en-US" altLang="zh-CN" sz="3600" b="1" kern="0" dirty="0" smtClean="0">
                <a:solidFill>
                  <a:schemeClr val="tx2"/>
                </a:solidFill>
                <a:latin typeface="+mj-lt"/>
                <a:ea typeface="+mj-ea"/>
                <a:cs typeface="+mj-cs"/>
              </a:rPr>
              <a:t>4</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章　组合</a:t>
            </a:r>
            <a:r>
              <a:rPr kumimoji="1" lang="zh-CN" altLang="en-US" sz="3600" b="1" kern="0" dirty="0" smtClean="0">
                <a:solidFill>
                  <a:schemeClr val="tx2"/>
                </a:solidFill>
              </a:rPr>
              <a:t>逻辑</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电路</a:t>
            </a:r>
            <a:endParaRPr kumimoji="1" lang="zh-CN" altLang="en-US" sz="36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32042833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92696"/>
            <a:ext cx="7545014" cy="566936"/>
          </a:xfrm>
        </p:spPr>
        <p:txBody>
          <a:bodyPr/>
          <a:lstStyle/>
          <a:p>
            <a:r>
              <a:rPr lang="en-US" altLang="zh-CN" dirty="0" smtClean="0"/>
              <a:t>4.1 </a:t>
            </a:r>
            <a:r>
              <a:rPr lang="zh-CN" altLang="en-US" dirty="0" smtClean="0"/>
              <a:t>组合逻辑电路分析</a:t>
            </a:r>
            <a:endParaRPr lang="zh-CN" altLang="en-US" dirty="0"/>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331640" y="4365104"/>
            <a:ext cx="3384376" cy="20845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8" name="矩形 7"/>
          <p:cNvSpPr/>
          <p:nvPr/>
        </p:nvSpPr>
        <p:spPr>
          <a:xfrm>
            <a:off x="179512" y="1484784"/>
            <a:ext cx="3178456" cy="400110"/>
          </a:xfrm>
          <a:prstGeom prst="rect">
            <a:avLst/>
          </a:prstGeom>
        </p:spPr>
        <p:txBody>
          <a:bodyPr wrap="square" lIns="0">
            <a:spAutoFit/>
          </a:bodyPr>
          <a:lstStyle/>
          <a:p>
            <a:pPr marL="1371600" lvl="2" indent="-457200">
              <a:buSzPct val="100000"/>
              <a:buFont typeface="+mj-ea"/>
              <a:buAutoNum type="circleNumDbPlain" startAt="2"/>
            </a:pPr>
            <a:r>
              <a:rPr lang="zh-CN" altLang="en-US" sz="2000" b="1" dirty="0"/>
              <a:t>逻辑电路图        </a:t>
            </a:r>
          </a:p>
        </p:txBody>
      </p:sp>
      <p:sp>
        <p:nvSpPr>
          <p:cNvPr id="3" name="灯片编号占位符 2"/>
          <p:cNvSpPr>
            <a:spLocks noGrp="1"/>
          </p:cNvSpPr>
          <p:nvPr>
            <p:ph type="sldNum" sz="quarter" idx="12"/>
          </p:nvPr>
        </p:nvSpPr>
        <p:spPr/>
        <p:txBody>
          <a:bodyPr/>
          <a:lstStyle/>
          <a:p>
            <a:fld id="{0C913308-F349-4B6D-A68A-DD1791B4A57B}" type="slidenum">
              <a:rPr lang="zh-CN" altLang="en-US" smtClean="0"/>
              <a:pPr/>
              <a:t>5</a:t>
            </a:fld>
            <a:endParaRPr lang="zh-CN" altLang="en-US"/>
          </a:p>
        </p:txBody>
      </p:sp>
      <p:sp>
        <p:nvSpPr>
          <p:cNvPr id="11" name="标题 1"/>
          <p:cNvSpPr txBox="1">
            <a:spLocks/>
          </p:cNvSpPr>
          <p:nvPr/>
        </p:nvSpPr>
        <p:spPr bwMode="auto">
          <a:xfrm>
            <a:off x="1259632" y="0"/>
            <a:ext cx="7016824" cy="63894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fontAlgn="base">
              <a:spcBef>
                <a:spcPct val="0"/>
              </a:spcBef>
              <a:spcAft>
                <a:spcPct val="0"/>
              </a:spcAft>
              <a:defRPr/>
            </a:pP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第</a:t>
            </a:r>
            <a:r>
              <a:rPr kumimoji="1" lang="en-US" altLang="zh-CN" sz="3600" b="1" kern="0" dirty="0" smtClean="0">
                <a:solidFill>
                  <a:schemeClr val="tx2"/>
                </a:solidFill>
                <a:latin typeface="+mj-lt"/>
                <a:ea typeface="+mj-ea"/>
                <a:cs typeface="+mj-cs"/>
              </a:rPr>
              <a:t>4</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章　组合</a:t>
            </a:r>
            <a:r>
              <a:rPr kumimoji="1" lang="zh-CN" altLang="en-US" sz="3600" b="1" kern="0" dirty="0" smtClean="0">
                <a:solidFill>
                  <a:schemeClr val="tx2"/>
                </a:solidFill>
              </a:rPr>
              <a:t>逻辑</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电路</a:t>
            </a:r>
            <a:endParaRPr kumimoji="1" lang="zh-CN" altLang="en-US" sz="3600" b="1" i="0" u="none" strike="noStrike" kern="0" cap="none" spc="0" normalizeH="0" baseline="0" noProof="0" dirty="0">
              <a:ln>
                <a:noFill/>
              </a:ln>
              <a:solidFill>
                <a:schemeClr val="tx2"/>
              </a:solidFill>
              <a:effectLst/>
              <a:uLnTx/>
              <a:uFillTx/>
              <a:latin typeface="+mj-lt"/>
              <a:ea typeface="+mj-ea"/>
              <a:cs typeface="+mj-cs"/>
            </a:endParaRPr>
          </a:p>
        </p:txBody>
      </p:sp>
      <p:pic>
        <p:nvPicPr>
          <p:cNvPr id="138241" name="Picture 1"/>
          <p:cNvPicPr>
            <a:picLocks noChangeAspect="1" noChangeArrowheads="1"/>
          </p:cNvPicPr>
          <p:nvPr/>
        </p:nvPicPr>
        <p:blipFill>
          <a:blip r:embed="rId3" cstate="print"/>
          <a:srcRect/>
          <a:stretch>
            <a:fillRect/>
          </a:stretch>
        </p:blipFill>
        <p:spPr bwMode="auto">
          <a:xfrm>
            <a:off x="1331640" y="1916832"/>
            <a:ext cx="3051795" cy="2204074"/>
          </a:xfrm>
          <a:prstGeom prst="rect">
            <a:avLst/>
          </a:prstGeom>
          <a:noFill/>
          <a:ln w="9525">
            <a:noFill/>
            <a:miter lim="800000"/>
            <a:headEnd/>
            <a:tailEnd/>
          </a:ln>
        </p:spPr>
      </p:pic>
      <p:pic>
        <p:nvPicPr>
          <p:cNvPr id="12" name="Picture 8"/>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788024" y="2060848"/>
            <a:ext cx="3552000" cy="1080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60851273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89" name="Rectangle 13"/>
          <p:cNvSpPr>
            <a:spLocks noChangeArrowheads="1"/>
          </p:cNvSpPr>
          <p:nvPr/>
        </p:nvSpPr>
        <p:spPr bwMode="auto">
          <a:xfrm>
            <a:off x="467544" y="1556792"/>
            <a:ext cx="3673475" cy="461665"/>
          </a:xfrm>
          <a:prstGeom prst="rect">
            <a:avLst/>
          </a:prstGeom>
          <a:noFill/>
          <a:ln w="9525">
            <a:noFill/>
            <a:miter lim="800000"/>
            <a:headEnd/>
            <a:tailEnd/>
          </a:ln>
        </p:spPr>
        <p:txBody>
          <a:bodyPr>
            <a:spAutoFit/>
          </a:bodyPr>
          <a:lstStyle/>
          <a:p>
            <a:pPr algn="l"/>
            <a:r>
              <a:rPr lang="en-US" altLang="zh-CN" sz="2400" b="1" dirty="0">
                <a:latin typeface="楷体_GB2312" pitchFamily="49" charset="-122"/>
                <a:ea typeface="楷体_GB2312" pitchFamily="49" charset="-122"/>
              </a:rPr>
              <a:t>1. </a:t>
            </a:r>
            <a:r>
              <a:rPr lang="zh-CN" altLang="en-US" sz="2400" b="1" dirty="0">
                <a:latin typeface="楷体_GB2312" pitchFamily="49" charset="-122"/>
                <a:ea typeface="楷体_GB2312" pitchFamily="49" charset="-122"/>
              </a:rPr>
              <a:t>正负逻辑的规定</a:t>
            </a:r>
          </a:p>
        </p:txBody>
      </p:sp>
      <p:grpSp>
        <p:nvGrpSpPr>
          <p:cNvPr id="2" name="Group 14"/>
          <p:cNvGrpSpPr>
            <a:grpSpLocks/>
          </p:cNvGrpSpPr>
          <p:nvPr/>
        </p:nvGrpSpPr>
        <p:grpSpPr bwMode="auto">
          <a:xfrm>
            <a:off x="1763713" y="3429000"/>
            <a:ext cx="1223962" cy="2808288"/>
            <a:chOff x="4241" y="819"/>
            <a:chExt cx="541" cy="1830"/>
          </a:xfrm>
        </p:grpSpPr>
        <p:sp>
          <p:nvSpPr>
            <p:cNvPr id="72723" name="Rectangle 15"/>
            <p:cNvSpPr>
              <a:spLocks noChangeArrowheads="1"/>
            </p:cNvSpPr>
            <p:nvPr/>
          </p:nvSpPr>
          <p:spPr bwMode="auto">
            <a:xfrm>
              <a:off x="4254" y="819"/>
              <a:ext cx="528" cy="1830"/>
            </a:xfrm>
            <a:prstGeom prst="rect">
              <a:avLst/>
            </a:prstGeom>
            <a:solidFill>
              <a:srgbClr val="FFFFFF"/>
            </a:solidFill>
            <a:ln w="28575">
              <a:solidFill>
                <a:schemeClr val="tx2"/>
              </a:solidFill>
              <a:miter lim="800000"/>
              <a:headEnd/>
              <a:tailEnd/>
            </a:ln>
          </p:spPr>
          <p:txBody>
            <a:bodyPr/>
            <a:lstStyle/>
            <a:p>
              <a:endParaRPr lang="zh-CN" altLang="en-US" b="1"/>
            </a:p>
          </p:txBody>
        </p:sp>
        <p:sp>
          <p:nvSpPr>
            <p:cNvPr id="72724" name="Rectangle 16"/>
            <p:cNvSpPr>
              <a:spLocks noChangeArrowheads="1"/>
            </p:cNvSpPr>
            <p:nvPr/>
          </p:nvSpPr>
          <p:spPr bwMode="auto">
            <a:xfrm>
              <a:off x="4266" y="831"/>
              <a:ext cx="491" cy="541"/>
            </a:xfrm>
            <a:prstGeom prst="rect">
              <a:avLst/>
            </a:prstGeom>
            <a:blipFill dpi="0" rotWithShape="0">
              <a:blip r:embed="rId3" cstate="print"/>
              <a:srcRect/>
              <a:tile tx="0" ty="0" sx="100000" sy="100000" flip="none" algn="tl"/>
            </a:blipFill>
            <a:ln w="9525">
              <a:noFill/>
              <a:miter lim="800000"/>
              <a:headEnd/>
              <a:tailEnd/>
            </a:ln>
          </p:spPr>
          <p:txBody>
            <a:bodyPr/>
            <a:lstStyle/>
            <a:p>
              <a:endParaRPr lang="zh-CN" altLang="en-US" b="1"/>
            </a:p>
          </p:txBody>
        </p:sp>
        <p:sp>
          <p:nvSpPr>
            <p:cNvPr id="72725" name="Line 17"/>
            <p:cNvSpPr>
              <a:spLocks noChangeShapeType="1"/>
            </p:cNvSpPr>
            <p:nvPr/>
          </p:nvSpPr>
          <p:spPr bwMode="auto">
            <a:xfrm flipV="1">
              <a:off x="4241" y="1385"/>
              <a:ext cx="529" cy="4"/>
            </a:xfrm>
            <a:prstGeom prst="line">
              <a:avLst/>
            </a:prstGeom>
            <a:noFill/>
            <a:ln w="19050">
              <a:solidFill>
                <a:srgbClr val="000000"/>
              </a:solidFill>
              <a:round/>
              <a:headEnd/>
              <a:tailEnd/>
            </a:ln>
          </p:spPr>
          <p:txBody>
            <a:bodyPr/>
            <a:lstStyle/>
            <a:p>
              <a:endParaRPr lang="zh-CN" altLang="en-US" b="1"/>
            </a:p>
          </p:txBody>
        </p:sp>
        <p:sp>
          <p:nvSpPr>
            <p:cNvPr id="72726" name="Line 18"/>
            <p:cNvSpPr>
              <a:spLocks noChangeShapeType="1"/>
            </p:cNvSpPr>
            <p:nvPr/>
          </p:nvSpPr>
          <p:spPr bwMode="auto">
            <a:xfrm>
              <a:off x="4241" y="2069"/>
              <a:ext cx="529" cy="4"/>
            </a:xfrm>
            <a:prstGeom prst="line">
              <a:avLst/>
            </a:prstGeom>
            <a:noFill/>
            <a:ln w="19050">
              <a:solidFill>
                <a:srgbClr val="000000"/>
              </a:solidFill>
              <a:round/>
              <a:headEnd/>
              <a:tailEnd/>
            </a:ln>
          </p:spPr>
          <p:txBody>
            <a:bodyPr/>
            <a:lstStyle/>
            <a:p>
              <a:endParaRPr lang="zh-CN" altLang="en-US" b="1"/>
            </a:p>
          </p:txBody>
        </p:sp>
        <p:sp>
          <p:nvSpPr>
            <p:cNvPr id="72727" name="Rectangle 19"/>
            <p:cNvSpPr>
              <a:spLocks noChangeArrowheads="1"/>
            </p:cNvSpPr>
            <p:nvPr/>
          </p:nvSpPr>
          <p:spPr bwMode="auto">
            <a:xfrm>
              <a:off x="4266" y="2084"/>
              <a:ext cx="491" cy="541"/>
            </a:xfrm>
            <a:prstGeom prst="rect">
              <a:avLst/>
            </a:prstGeom>
            <a:blipFill dpi="0" rotWithShape="0">
              <a:blip r:embed="rId3" cstate="print"/>
              <a:srcRect/>
              <a:tile tx="0" ty="0" sx="100000" sy="100000" flip="none" algn="tl"/>
            </a:blipFill>
            <a:ln w="9525">
              <a:noFill/>
              <a:miter lim="800000"/>
              <a:headEnd/>
              <a:tailEnd/>
            </a:ln>
          </p:spPr>
          <p:txBody>
            <a:bodyPr/>
            <a:lstStyle/>
            <a:p>
              <a:endParaRPr lang="zh-CN" altLang="en-US" b="1"/>
            </a:p>
          </p:txBody>
        </p:sp>
        <p:sp>
          <p:nvSpPr>
            <p:cNvPr id="72728" name="Rectangle 20"/>
            <p:cNvSpPr>
              <a:spLocks noChangeArrowheads="1"/>
            </p:cNvSpPr>
            <p:nvPr/>
          </p:nvSpPr>
          <p:spPr bwMode="auto">
            <a:xfrm>
              <a:off x="4708" y="2268"/>
              <a:ext cx="30" cy="181"/>
            </a:xfrm>
            <a:prstGeom prst="rect">
              <a:avLst/>
            </a:prstGeom>
            <a:noFill/>
            <a:ln w="9525">
              <a:noFill/>
              <a:miter lim="800000"/>
              <a:headEnd/>
              <a:tailEnd/>
            </a:ln>
          </p:spPr>
          <p:txBody>
            <a:bodyPr wrap="none" lIns="0" tIns="0" rIns="0" bIns="0">
              <a:spAutoFit/>
            </a:bodyPr>
            <a:lstStyle/>
            <a:p>
              <a:pPr algn="l"/>
              <a:r>
                <a:rPr lang="en-US" altLang="zh-CN" b="1">
                  <a:solidFill>
                    <a:srgbClr val="000000"/>
                  </a:solidFill>
                </a:rPr>
                <a:t> </a:t>
              </a:r>
              <a:endParaRPr lang="en-US" altLang="zh-CN" b="1">
                <a:latin typeface="Tahoma" pitchFamily="34" charset="0"/>
              </a:endParaRPr>
            </a:p>
          </p:txBody>
        </p:sp>
        <p:sp>
          <p:nvSpPr>
            <p:cNvPr id="72729" name="Rectangle 21"/>
            <p:cNvSpPr>
              <a:spLocks noChangeArrowheads="1"/>
            </p:cNvSpPr>
            <p:nvPr/>
          </p:nvSpPr>
          <p:spPr bwMode="auto">
            <a:xfrm>
              <a:off x="4377" y="2205"/>
              <a:ext cx="150" cy="301"/>
            </a:xfrm>
            <a:prstGeom prst="rect">
              <a:avLst/>
            </a:prstGeom>
            <a:solidFill>
              <a:srgbClr val="FFFFCC"/>
            </a:solidFill>
            <a:ln w="19050">
              <a:solidFill>
                <a:srgbClr val="000066"/>
              </a:solidFill>
              <a:miter lim="800000"/>
              <a:headEnd/>
              <a:tailEnd/>
            </a:ln>
          </p:spPr>
          <p:txBody>
            <a:bodyPr wrap="none">
              <a:spAutoFit/>
            </a:bodyPr>
            <a:lstStyle/>
            <a:p>
              <a:pPr algn="l"/>
              <a:r>
                <a:rPr lang="en-US" altLang="zh-CN" sz="2400" b="1">
                  <a:solidFill>
                    <a:srgbClr val="1F1F73"/>
                  </a:solidFill>
                  <a:latin typeface="楷体_GB2312" pitchFamily="49" charset="-122"/>
                  <a:ea typeface="楷体_GB2312" pitchFamily="49" charset="-122"/>
                </a:rPr>
                <a:t>0</a:t>
              </a:r>
            </a:p>
          </p:txBody>
        </p:sp>
        <p:sp>
          <p:nvSpPr>
            <p:cNvPr id="72730" name="Rectangle 22"/>
            <p:cNvSpPr>
              <a:spLocks noChangeArrowheads="1"/>
            </p:cNvSpPr>
            <p:nvPr/>
          </p:nvSpPr>
          <p:spPr bwMode="auto">
            <a:xfrm>
              <a:off x="4412" y="981"/>
              <a:ext cx="150" cy="301"/>
            </a:xfrm>
            <a:prstGeom prst="rect">
              <a:avLst/>
            </a:prstGeom>
            <a:solidFill>
              <a:srgbClr val="FFFFCC"/>
            </a:solidFill>
            <a:ln w="19050">
              <a:solidFill>
                <a:srgbClr val="000066"/>
              </a:solidFill>
              <a:miter lim="800000"/>
              <a:headEnd/>
              <a:tailEnd/>
            </a:ln>
          </p:spPr>
          <p:txBody>
            <a:bodyPr wrap="none">
              <a:spAutoFit/>
            </a:bodyPr>
            <a:lstStyle/>
            <a:p>
              <a:pPr algn="l"/>
              <a:r>
                <a:rPr lang="en-US" altLang="zh-CN" sz="2400" b="1" dirty="0">
                  <a:solidFill>
                    <a:srgbClr val="1F1F73"/>
                  </a:solidFill>
                  <a:latin typeface="楷体_GB2312" pitchFamily="49" charset="-122"/>
                  <a:ea typeface="楷体_GB2312" pitchFamily="49" charset="-122"/>
                </a:rPr>
                <a:t>1</a:t>
              </a:r>
            </a:p>
          </p:txBody>
        </p:sp>
      </p:grpSp>
      <p:grpSp>
        <p:nvGrpSpPr>
          <p:cNvPr id="3" name="Group 23"/>
          <p:cNvGrpSpPr>
            <a:grpSpLocks/>
          </p:cNvGrpSpPr>
          <p:nvPr/>
        </p:nvGrpSpPr>
        <p:grpSpPr bwMode="auto">
          <a:xfrm>
            <a:off x="4787900" y="3429000"/>
            <a:ext cx="1081088" cy="2808288"/>
            <a:chOff x="4241" y="819"/>
            <a:chExt cx="541" cy="1830"/>
          </a:xfrm>
        </p:grpSpPr>
        <p:sp>
          <p:nvSpPr>
            <p:cNvPr id="72715" name="Rectangle 24"/>
            <p:cNvSpPr>
              <a:spLocks noChangeArrowheads="1"/>
            </p:cNvSpPr>
            <p:nvPr/>
          </p:nvSpPr>
          <p:spPr bwMode="auto">
            <a:xfrm>
              <a:off x="4254" y="819"/>
              <a:ext cx="528" cy="1830"/>
            </a:xfrm>
            <a:prstGeom prst="rect">
              <a:avLst/>
            </a:prstGeom>
            <a:solidFill>
              <a:srgbClr val="FFFFFF"/>
            </a:solidFill>
            <a:ln w="28575">
              <a:solidFill>
                <a:schemeClr val="tx2"/>
              </a:solidFill>
              <a:miter lim="800000"/>
              <a:headEnd/>
              <a:tailEnd/>
            </a:ln>
          </p:spPr>
          <p:txBody>
            <a:bodyPr/>
            <a:lstStyle/>
            <a:p>
              <a:endParaRPr lang="zh-CN" altLang="en-US" b="1"/>
            </a:p>
          </p:txBody>
        </p:sp>
        <p:sp>
          <p:nvSpPr>
            <p:cNvPr id="72716" name="Rectangle 25"/>
            <p:cNvSpPr>
              <a:spLocks noChangeArrowheads="1"/>
            </p:cNvSpPr>
            <p:nvPr/>
          </p:nvSpPr>
          <p:spPr bwMode="auto">
            <a:xfrm>
              <a:off x="4266" y="831"/>
              <a:ext cx="491" cy="541"/>
            </a:xfrm>
            <a:prstGeom prst="rect">
              <a:avLst/>
            </a:prstGeom>
            <a:blipFill dpi="0" rotWithShape="0">
              <a:blip r:embed="rId3" cstate="print"/>
              <a:srcRect/>
              <a:tile tx="0" ty="0" sx="100000" sy="100000" flip="none" algn="tl"/>
            </a:blipFill>
            <a:ln w="9525">
              <a:noFill/>
              <a:miter lim="800000"/>
              <a:headEnd/>
              <a:tailEnd/>
            </a:ln>
          </p:spPr>
          <p:txBody>
            <a:bodyPr/>
            <a:lstStyle/>
            <a:p>
              <a:endParaRPr lang="zh-CN" altLang="en-US" b="1"/>
            </a:p>
          </p:txBody>
        </p:sp>
        <p:sp>
          <p:nvSpPr>
            <p:cNvPr id="72717" name="Line 26"/>
            <p:cNvSpPr>
              <a:spLocks noChangeShapeType="1"/>
            </p:cNvSpPr>
            <p:nvPr/>
          </p:nvSpPr>
          <p:spPr bwMode="auto">
            <a:xfrm flipV="1">
              <a:off x="4241" y="1385"/>
              <a:ext cx="529" cy="4"/>
            </a:xfrm>
            <a:prstGeom prst="line">
              <a:avLst/>
            </a:prstGeom>
            <a:noFill/>
            <a:ln w="19050">
              <a:solidFill>
                <a:srgbClr val="000000"/>
              </a:solidFill>
              <a:round/>
              <a:headEnd/>
              <a:tailEnd/>
            </a:ln>
          </p:spPr>
          <p:txBody>
            <a:bodyPr/>
            <a:lstStyle/>
            <a:p>
              <a:endParaRPr lang="zh-CN" altLang="en-US" b="1"/>
            </a:p>
          </p:txBody>
        </p:sp>
        <p:sp>
          <p:nvSpPr>
            <p:cNvPr id="72718" name="Line 27"/>
            <p:cNvSpPr>
              <a:spLocks noChangeShapeType="1"/>
            </p:cNvSpPr>
            <p:nvPr/>
          </p:nvSpPr>
          <p:spPr bwMode="auto">
            <a:xfrm>
              <a:off x="4241" y="2069"/>
              <a:ext cx="529" cy="4"/>
            </a:xfrm>
            <a:prstGeom prst="line">
              <a:avLst/>
            </a:prstGeom>
            <a:noFill/>
            <a:ln w="19050">
              <a:solidFill>
                <a:srgbClr val="000000"/>
              </a:solidFill>
              <a:round/>
              <a:headEnd/>
              <a:tailEnd/>
            </a:ln>
          </p:spPr>
          <p:txBody>
            <a:bodyPr/>
            <a:lstStyle/>
            <a:p>
              <a:endParaRPr lang="zh-CN" altLang="en-US" b="1"/>
            </a:p>
          </p:txBody>
        </p:sp>
        <p:sp>
          <p:nvSpPr>
            <p:cNvPr id="72719" name="Rectangle 28"/>
            <p:cNvSpPr>
              <a:spLocks noChangeArrowheads="1"/>
            </p:cNvSpPr>
            <p:nvPr/>
          </p:nvSpPr>
          <p:spPr bwMode="auto">
            <a:xfrm>
              <a:off x="4266" y="2084"/>
              <a:ext cx="491" cy="541"/>
            </a:xfrm>
            <a:prstGeom prst="rect">
              <a:avLst/>
            </a:prstGeom>
            <a:blipFill dpi="0" rotWithShape="0">
              <a:blip r:embed="rId3" cstate="print"/>
              <a:srcRect/>
              <a:tile tx="0" ty="0" sx="100000" sy="100000" flip="none" algn="tl"/>
            </a:blipFill>
            <a:ln w="9525">
              <a:noFill/>
              <a:miter lim="800000"/>
              <a:headEnd/>
              <a:tailEnd/>
            </a:ln>
          </p:spPr>
          <p:txBody>
            <a:bodyPr/>
            <a:lstStyle/>
            <a:p>
              <a:endParaRPr lang="zh-CN" altLang="en-US" b="1"/>
            </a:p>
          </p:txBody>
        </p:sp>
        <p:sp>
          <p:nvSpPr>
            <p:cNvPr id="72720" name="Rectangle 29"/>
            <p:cNvSpPr>
              <a:spLocks noChangeArrowheads="1"/>
            </p:cNvSpPr>
            <p:nvPr/>
          </p:nvSpPr>
          <p:spPr bwMode="auto">
            <a:xfrm>
              <a:off x="4708" y="2268"/>
              <a:ext cx="34" cy="181"/>
            </a:xfrm>
            <a:prstGeom prst="rect">
              <a:avLst/>
            </a:prstGeom>
            <a:noFill/>
            <a:ln w="9525">
              <a:noFill/>
              <a:miter lim="800000"/>
              <a:headEnd/>
              <a:tailEnd/>
            </a:ln>
          </p:spPr>
          <p:txBody>
            <a:bodyPr wrap="none" lIns="0" tIns="0" rIns="0" bIns="0">
              <a:spAutoFit/>
            </a:bodyPr>
            <a:lstStyle/>
            <a:p>
              <a:pPr algn="l"/>
              <a:r>
                <a:rPr lang="en-US" altLang="zh-CN" b="1">
                  <a:solidFill>
                    <a:srgbClr val="000000"/>
                  </a:solidFill>
                </a:rPr>
                <a:t> </a:t>
              </a:r>
              <a:endParaRPr lang="en-US" altLang="zh-CN" b="1">
                <a:latin typeface="Tahoma" pitchFamily="34" charset="0"/>
              </a:endParaRPr>
            </a:p>
          </p:txBody>
        </p:sp>
        <p:sp>
          <p:nvSpPr>
            <p:cNvPr id="72721" name="Rectangle 30"/>
            <p:cNvSpPr>
              <a:spLocks noChangeArrowheads="1"/>
            </p:cNvSpPr>
            <p:nvPr/>
          </p:nvSpPr>
          <p:spPr bwMode="auto">
            <a:xfrm>
              <a:off x="4377" y="2205"/>
              <a:ext cx="170" cy="301"/>
            </a:xfrm>
            <a:prstGeom prst="rect">
              <a:avLst/>
            </a:prstGeom>
            <a:solidFill>
              <a:srgbClr val="FFFFCC"/>
            </a:solidFill>
            <a:ln w="19050">
              <a:solidFill>
                <a:srgbClr val="000066"/>
              </a:solidFill>
              <a:miter lim="800000"/>
              <a:headEnd/>
              <a:tailEnd/>
            </a:ln>
          </p:spPr>
          <p:txBody>
            <a:bodyPr wrap="none">
              <a:spAutoFit/>
            </a:bodyPr>
            <a:lstStyle/>
            <a:p>
              <a:pPr algn="l"/>
              <a:r>
                <a:rPr lang="en-US" altLang="zh-CN" sz="2400" b="1">
                  <a:solidFill>
                    <a:srgbClr val="1F1F73"/>
                  </a:solidFill>
                  <a:latin typeface="楷体_GB2312" pitchFamily="49" charset="-122"/>
                  <a:ea typeface="楷体_GB2312" pitchFamily="49" charset="-122"/>
                </a:rPr>
                <a:t>1</a:t>
              </a:r>
            </a:p>
          </p:txBody>
        </p:sp>
        <p:sp>
          <p:nvSpPr>
            <p:cNvPr id="72722" name="Rectangle 31"/>
            <p:cNvSpPr>
              <a:spLocks noChangeArrowheads="1"/>
            </p:cNvSpPr>
            <p:nvPr/>
          </p:nvSpPr>
          <p:spPr bwMode="auto">
            <a:xfrm>
              <a:off x="4412" y="981"/>
              <a:ext cx="170" cy="301"/>
            </a:xfrm>
            <a:prstGeom prst="rect">
              <a:avLst/>
            </a:prstGeom>
            <a:solidFill>
              <a:srgbClr val="FFFFCC"/>
            </a:solidFill>
            <a:ln w="19050">
              <a:solidFill>
                <a:srgbClr val="000066"/>
              </a:solidFill>
              <a:miter lim="800000"/>
              <a:headEnd/>
              <a:tailEnd/>
            </a:ln>
          </p:spPr>
          <p:txBody>
            <a:bodyPr wrap="none">
              <a:spAutoFit/>
            </a:bodyPr>
            <a:lstStyle/>
            <a:p>
              <a:pPr algn="l"/>
              <a:r>
                <a:rPr lang="en-US" altLang="zh-CN" sz="2400" b="1">
                  <a:solidFill>
                    <a:srgbClr val="1F1F73"/>
                  </a:solidFill>
                  <a:latin typeface="楷体_GB2312" pitchFamily="49" charset="-122"/>
                  <a:ea typeface="楷体_GB2312" pitchFamily="49" charset="-122"/>
                </a:rPr>
                <a:t>0</a:t>
              </a:r>
            </a:p>
          </p:txBody>
        </p:sp>
      </p:grpSp>
      <p:sp>
        <p:nvSpPr>
          <p:cNvPr id="383008" name="Rectangle 32"/>
          <p:cNvSpPr>
            <a:spLocks noChangeArrowheads="1"/>
          </p:cNvSpPr>
          <p:nvPr/>
        </p:nvSpPr>
        <p:spPr bwMode="auto">
          <a:xfrm>
            <a:off x="1908175" y="4581525"/>
            <a:ext cx="1103313" cy="457200"/>
          </a:xfrm>
          <a:prstGeom prst="rect">
            <a:avLst/>
          </a:prstGeom>
          <a:noFill/>
          <a:ln w="9525">
            <a:noFill/>
            <a:miter lim="800000"/>
            <a:headEnd/>
            <a:tailEnd/>
          </a:ln>
        </p:spPr>
        <p:txBody>
          <a:bodyPr wrap="none">
            <a:spAutoFit/>
          </a:bodyPr>
          <a:lstStyle/>
          <a:p>
            <a:pPr algn="l"/>
            <a:r>
              <a:rPr lang="zh-CN" altLang="en-US" sz="2400" b="1" dirty="0">
                <a:solidFill>
                  <a:srgbClr val="1F1F73"/>
                </a:solidFill>
                <a:latin typeface="楷体_GB2312" pitchFamily="49" charset="-122"/>
                <a:ea typeface="楷体_GB2312" pitchFamily="49" charset="-122"/>
              </a:rPr>
              <a:t>正逻辑</a:t>
            </a:r>
          </a:p>
        </p:txBody>
      </p:sp>
      <p:sp>
        <p:nvSpPr>
          <p:cNvPr id="383009" name="Rectangle 33"/>
          <p:cNvSpPr>
            <a:spLocks noChangeArrowheads="1"/>
          </p:cNvSpPr>
          <p:nvPr/>
        </p:nvSpPr>
        <p:spPr bwMode="auto">
          <a:xfrm>
            <a:off x="4787900" y="4508500"/>
            <a:ext cx="1103313" cy="457200"/>
          </a:xfrm>
          <a:prstGeom prst="rect">
            <a:avLst/>
          </a:prstGeom>
          <a:noFill/>
          <a:ln w="9525">
            <a:noFill/>
            <a:miter lim="800000"/>
            <a:headEnd/>
            <a:tailEnd/>
          </a:ln>
        </p:spPr>
        <p:txBody>
          <a:bodyPr wrap="none">
            <a:spAutoFit/>
          </a:bodyPr>
          <a:lstStyle/>
          <a:p>
            <a:pPr algn="l"/>
            <a:r>
              <a:rPr lang="zh-CN" altLang="en-US" sz="2400" b="1">
                <a:solidFill>
                  <a:srgbClr val="1F1F73"/>
                </a:solidFill>
                <a:latin typeface="楷体_GB2312" pitchFamily="49" charset="-122"/>
                <a:ea typeface="楷体_GB2312" pitchFamily="49" charset="-122"/>
              </a:rPr>
              <a:t>负逻辑</a:t>
            </a:r>
          </a:p>
        </p:txBody>
      </p:sp>
      <p:sp>
        <p:nvSpPr>
          <p:cNvPr id="383011" name="Rectangle 35"/>
          <p:cNvSpPr>
            <a:spLocks noChangeArrowheads="1"/>
          </p:cNvSpPr>
          <p:nvPr/>
        </p:nvSpPr>
        <p:spPr bwMode="auto">
          <a:xfrm>
            <a:off x="899592" y="2060848"/>
            <a:ext cx="7776864" cy="457200"/>
          </a:xfrm>
          <a:prstGeom prst="rect">
            <a:avLst/>
          </a:prstGeom>
          <a:noFill/>
          <a:ln w="9525">
            <a:noFill/>
            <a:miter lim="800000"/>
            <a:headEnd/>
            <a:tailEnd/>
          </a:ln>
        </p:spPr>
        <p:txBody>
          <a:bodyPr wrap="square" anchor="ctr">
            <a:spAutoFit/>
          </a:bodyPr>
          <a:lstStyle/>
          <a:p>
            <a:pPr algn="l"/>
            <a:r>
              <a:rPr kumimoji="1" lang="zh-CN" altLang="en-US" sz="2400" b="1" dirty="0">
                <a:latin typeface="楷体_GB2312" pitchFamily="49" charset="-122"/>
                <a:ea typeface="楷体_GB2312" pitchFamily="49" charset="-122"/>
              </a:rPr>
              <a:t>正逻辑体制</a:t>
            </a:r>
            <a:r>
              <a:rPr kumimoji="1" lang="en-US" altLang="zh-CN" sz="2400" b="1" dirty="0">
                <a:latin typeface="楷体_GB2312" pitchFamily="49" charset="-122"/>
                <a:ea typeface="楷体_GB2312" pitchFamily="49" charset="-122"/>
              </a:rPr>
              <a:t>:</a:t>
            </a:r>
            <a:r>
              <a:rPr kumimoji="1" lang="zh-CN" altLang="en-US" sz="2400" b="1" dirty="0">
                <a:latin typeface="楷体_GB2312" pitchFamily="49" charset="-122"/>
                <a:ea typeface="楷体_GB2312" pitchFamily="49" charset="-122"/>
              </a:rPr>
              <a:t>将高电平用逻辑</a:t>
            </a:r>
            <a:r>
              <a:rPr kumimoji="1" lang="en-US" altLang="zh-CN" sz="2400" b="1" dirty="0">
                <a:latin typeface="楷体_GB2312" pitchFamily="49" charset="-122"/>
                <a:ea typeface="楷体_GB2312" pitchFamily="49" charset="-122"/>
              </a:rPr>
              <a:t>1</a:t>
            </a:r>
            <a:r>
              <a:rPr kumimoji="1" lang="zh-CN" altLang="en-US" sz="2400" b="1" dirty="0">
                <a:latin typeface="楷体_GB2312" pitchFamily="49" charset="-122"/>
                <a:ea typeface="楷体_GB2312" pitchFamily="49" charset="-122"/>
              </a:rPr>
              <a:t>表示，低电平用逻辑</a:t>
            </a:r>
            <a:r>
              <a:rPr kumimoji="1" lang="en-US" altLang="zh-CN" sz="2400" b="1" dirty="0">
                <a:latin typeface="楷体_GB2312" pitchFamily="49" charset="-122"/>
                <a:ea typeface="楷体_GB2312" pitchFamily="49" charset="-122"/>
              </a:rPr>
              <a:t>0</a:t>
            </a:r>
            <a:r>
              <a:rPr kumimoji="1" lang="zh-CN" altLang="en-US" sz="2400" b="1" dirty="0" smtClean="0">
                <a:latin typeface="楷体_GB2312" pitchFamily="49" charset="-122"/>
                <a:ea typeface="楷体_GB2312" pitchFamily="49" charset="-122"/>
              </a:rPr>
              <a:t>表示。</a:t>
            </a:r>
            <a:endParaRPr kumimoji="1" lang="zh-CN" altLang="en-US" sz="2400" b="1" dirty="0">
              <a:latin typeface="楷体_GB2312" pitchFamily="49" charset="-122"/>
              <a:ea typeface="楷体_GB2312" pitchFamily="49" charset="-122"/>
            </a:endParaRPr>
          </a:p>
        </p:txBody>
      </p:sp>
      <p:sp>
        <p:nvSpPr>
          <p:cNvPr id="383012" name="Rectangle 36"/>
          <p:cNvSpPr>
            <a:spLocks noChangeArrowheads="1"/>
          </p:cNvSpPr>
          <p:nvPr/>
        </p:nvSpPr>
        <p:spPr bwMode="auto">
          <a:xfrm>
            <a:off x="899592" y="2634680"/>
            <a:ext cx="8076250" cy="461665"/>
          </a:xfrm>
          <a:prstGeom prst="rect">
            <a:avLst/>
          </a:prstGeom>
          <a:noFill/>
          <a:ln w="9525">
            <a:noFill/>
            <a:miter lim="800000"/>
            <a:headEnd/>
            <a:tailEnd/>
          </a:ln>
        </p:spPr>
        <p:txBody>
          <a:bodyPr wrap="none" anchor="ctr">
            <a:spAutoFit/>
          </a:bodyPr>
          <a:lstStyle/>
          <a:p>
            <a:pPr algn="l"/>
            <a:r>
              <a:rPr kumimoji="1" lang="zh-CN" altLang="en-US" sz="2400" b="1" dirty="0">
                <a:latin typeface="楷体_GB2312" pitchFamily="49" charset="-122"/>
                <a:ea typeface="楷体_GB2312" pitchFamily="49" charset="-122"/>
              </a:rPr>
              <a:t>负逻辑体制</a:t>
            </a:r>
            <a:r>
              <a:rPr kumimoji="1" lang="en-US" altLang="zh-CN" sz="2400" b="1" dirty="0">
                <a:latin typeface="楷体_GB2312" pitchFamily="49" charset="-122"/>
                <a:ea typeface="楷体_GB2312" pitchFamily="49" charset="-122"/>
              </a:rPr>
              <a:t>:</a:t>
            </a:r>
            <a:r>
              <a:rPr kumimoji="1" lang="zh-CN" altLang="en-US" sz="2400" b="1" dirty="0">
                <a:latin typeface="楷体_GB2312" pitchFamily="49" charset="-122"/>
                <a:ea typeface="楷体_GB2312" pitchFamily="49" charset="-122"/>
              </a:rPr>
              <a:t>将高电平用逻辑</a:t>
            </a:r>
            <a:r>
              <a:rPr kumimoji="1" lang="en-US" altLang="zh-CN" sz="2400" b="1" dirty="0">
                <a:latin typeface="楷体_GB2312" pitchFamily="49" charset="-122"/>
                <a:ea typeface="楷体_GB2312" pitchFamily="49" charset="-122"/>
              </a:rPr>
              <a:t>0</a:t>
            </a:r>
            <a:r>
              <a:rPr kumimoji="1" lang="zh-CN" altLang="en-US" sz="2400" b="1" dirty="0">
                <a:latin typeface="楷体_GB2312" pitchFamily="49" charset="-122"/>
                <a:ea typeface="楷体_GB2312" pitchFamily="49" charset="-122"/>
              </a:rPr>
              <a:t>表示，低电平用逻辑</a:t>
            </a:r>
            <a:r>
              <a:rPr kumimoji="1" lang="en-US" altLang="zh-CN" sz="2400" b="1" dirty="0">
                <a:latin typeface="楷体_GB2312" pitchFamily="49" charset="-122"/>
                <a:ea typeface="楷体_GB2312" pitchFamily="49" charset="-122"/>
              </a:rPr>
              <a:t>1</a:t>
            </a:r>
            <a:r>
              <a:rPr kumimoji="1" lang="zh-CN" altLang="en-US" sz="2400" b="1" dirty="0" smtClean="0">
                <a:latin typeface="楷体_GB2312" pitchFamily="49" charset="-122"/>
                <a:ea typeface="楷体_GB2312" pitchFamily="49" charset="-122"/>
              </a:rPr>
              <a:t>表示。</a:t>
            </a:r>
            <a:endParaRPr kumimoji="1" lang="zh-CN" altLang="en-US" sz="2400" b="1" dirty="0">
              <a:latin typeface="楷体_GB2312" pitchFamily="49" charset="-122"/>
              <a:ea typeface="楷体_GB2312" pitchFamily="49" charset="-122"/>
            </a:endParaRPr>
          </a:p>
        </p:txBody>
      </p:sp>
      <p:sp>
        <p:nvSpPr>
          <p:cNvPr id="27" name="标题 1"/>
          <p:cNvSpPr txBox="1">
            <a:spLocks/>
          </p:cNvSpPr>
          <p:nvPr/>
        </p:nvSpPr>
        <p:spPr>
          <a:xfrm>
            <a:off x="1331640" y="116632"/>
            <a:ext cx="7400998" cy="566936"/>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4.1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组合逻辑电路分析</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
        <p:nvSpPr>
          <p:cNvPr id="28" name="标题 1"/>
          <p:cNvSpPr txBox="1">
            <a:spLocks/>
          </p:cNvSpPr>
          <p:nvPr/>
        </p:nvSpPr>
        <p:spPr>
          <a:xfrm>
            <a:off x="1331640" y="692696"/>
            <a:ext cx="7545014" cy="576064"/>
          </a:xfrm>
          <a:prstGeom prst="rect">
            <a:avLst/>
          </a:prstGeom>
        </p:spPr>
        <p:txBody>
          <a:bodyPr/>
          <a:lstStyle/>
          <a:p>
            <a:r>
              <a:rPr lang="zh-CN" altLang="en-US" sz="3200" b="1" dirty="0" smtClean="0"/>
              <a:t>逻辑电路图</a:t>
            </a:r>
            <a:endParaRPr lang="zh-CN" altLang="en-US" sz="3200" b="1" dirty="0">
              <a:latin typeface="+mn-ea"/>
            </a:endParaRPr>
          </a:p>
        </p:txBody>
      </p:sp>
    </p:spTree>
  </p:cSld>
  <p:clrMapOvr>
    <a:masterClrMapping/>
  </p:clrMapOvr>
  <p:transition>
    <p:wipe dir="r"/>
    <p:sndAc>
      <p:stSnd>
        <p:snd r:embed="rId2" name="PROJCTOR.WAV"/>
      </p:stSnd>
    </p:sndAc>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107"/>
          <p:cNvGrpSpPr>
            <a:grpSpLocks/>
          </p:cNvGrpSpPr>
          <p:nvPr/>
        </p:nvGrpSpPr>
        <p:grpSpPr bwMode="auto">
          <a:xfrm>
            <a:off x="5796136" y="1916832"/>
            <a:ext cx="2304306" cy="1872332"/>
            <a:chOff x="2806" y="1779"/>
            <a:chExt cx="1831" cy="1260"/>
          </a:xfrm>
        </p:grpSpPr>
        <p:sp>
          <p:nvSpPr>
            <p:cNvPr id="73824" name="Rectangle 108"/>
            <p:cNvSpPr>
              <a:spLocks noChangeArrowheads="1"/>
            </p:cNvSpPr>
            <p:nvPr/>
          </p:nvSpPr>
          <p:spPr bwMode="auto">
            <a:xfrm>
              <a:off x="3071" y="1867"/>
              <a:ext cx="83" cy="148"/>
            </a:xfrm>
            <a:prstGeom prst="rect">
              <a:avLst/>
            </a:prstGeom>
            <a:noFill/>
            <a:ln w="9525">
              <a:noFill/>
              <a:miter lim="800000"/>
              <a:headEnd/>
              <a:tailEnd/>
            </a:ln>
          </p:spPr>
          <p:txBody>
            <a:bodyPr wrap="none" lIns="0" tIns="0" rIns="0" bIns="0">
              <a:spAutoFit/>
            </a:bodyPr>
            <a:lstStyle/>
            <a:p>
              <a:pPr algn="l"/>
              <a:r>
                <a:rPr lang="en-US" altLang="zh-CN" sz="2000" b="1" i="1">
                  <a:latin typeface="+mj-ea"/>
                  <a:ea typeface="+mj-ea"/>
                </a:rPr>
                <a:t>A</a:t>
              </a:r>
              <a:endParaRPr lang="en-US" altLang="zh-CN" sz="2000" b="1">
                <a:latin typeface="+mj-ea"/>
                <a:ea typeface="+mj-ea"/>
              </a:endParaRPr>
            </a:p>
          </p:txBody>
        </p:sp>
        <p:sp>
          <p:nvSpPr>
            <p:cNvPr id="73825" name="Rectangle 109"/>
            <p:cNvSpPr>
              <a:spLocks noChangeArrowheads="1"/>
            </p:cNvSpPr>
            <p:nvPr/>
          </p:nvSpPr>
          <p:spPr bwMode="auto">
            <a:xfrm>
              <a:off x="3169" y="1867"/>
              <a:ext cx="83" cy="148"/>
            </a:xfrm>
            <a:prstGeom prst="rect">
              <a:avLst/>
            </a:prstGeom>
            <a:noFill/>
            <a:ln w="9525">
              <a:noFill/>
              <a:miter lim="800000"/>
              <a:headEnd/>
              <a:tailEnd/>
            </a:ln>
          </p:spPr>
          <p:txBody>
            <a:bodyPr wrap="none" lIns="0" tIns="0" rIns="0" bIns="0">
              <a:spAutoFit/>
            </a:bodyPr>
            <a:lstStyle/>
            <a:p>
              <a:pPr algn="l"/>
              <a:r>
                <a:rPr lang="en-US" altLang="zh-CN" sz="2000" b="1" i="1">
                  <a:latin typeface="+mj-ea"/>
                  <a:ea typeface="+mj-ea"/>
                </a:rPr>
                <a:t> </a:t>
              </a:r>
              <a:endParaRPr lang="en-US" altLang="zh-CN" sz="2000" b="1">
                <a:latin typeface="+mj-ea"/>
                <a:ea typeface="+mj-ea"/>
              </a:endParaRPr>
            </a:p>
          </p:txBody>
        </p:sp>
        <p:sp>
          <p:nvSpPr>
            <p:cNvPr id="73826" name="Rectangle 110"/>
            <p:cNvSpPr>
              <a:spLocks noChangeArrowheads="1"/>
            </p:cNvSpPr>
            <p:nvPr/>
          </p:nvSpPr>
          <p:spPr bwMode="auto">
            <a:xfrm>
              <a:off x="3667" y="1867"/>
              <a:ext cx="83" cy="148"/>
            </a:xfrm>
            <a:prstGeom prst="rect">
              <a:avLst/>
            </a:prstGeom>
            <a:noFill/>
            <a:ln w="9525">
              <a:noFill/>
              <a:miter lim="800000"/>
              <a:headEnd/>
              <a:tailEnd/>
            </a:ln>
          </p:spPr>
          <p:txBody>
            <a:bodyPr wrap="none" lIns="0" tIns="0" rIns="0" bIns="0">
              <a:spAutoFit/>
            </a:bodyPr>
            <a:lstStyle/>
            <a:p>
              <a:pPr algn="l"/>
              <a:r>
                <a:rPr lang="en-US" altLang="zh-CN" sz="2000" b="1" i="1">
                  <a:latin typeface="+mj-ea"/>
                  <a:ea typeface="+mj-ea"/>
                </a:rPr>
                <a:t>B</a:t>
              </a:r>
              <a:endParaRPr lang="en-US" altLang="zh-CN" sz="2000" b="1">
                <a:latin typeface="+mj-ea"/>
                <a:ea typeface="+mj-ea"/>
              </a:endParaRPr>
            </a:p>
          </p:txBody>
        </p:sp>
        <p:sp>
          <p:nvSpPr>
            <p:cNvPr id="73827" name="Rectangle 111"/>
            <p:cNvSpPr>
              <a:spLocks noChangeArrowheads="1"/>
            </p:cNvSpPr>
            <p:nvPr/>
          </p:nvSpPr>
          <p:spPr bwMode="auto">
            <a:xfrm>
              <a:off x="3764" y="1867"/>
              <a:ext cx="83" cy="148"/>
            </a:xfrm>
            <a:prstGeom prst="rect">
              <a:avLst/>
            </a:prstGeom>
            <a:noFill/>
            <a:ln w="9525">
              <a:noFill/>
              <a:miter lim="800000"/>
              <a:headEnd/>
              <a:tailEnd/>
            </a:ln>
          </p:spPr>
          <p:txBody>
            <a:bodyPr wrap="none" lIns="0" tIns="0" rIns="0" bIns="0">
              <a:spAutoFit/>
            </a:bodyPr>
            <a:lstStyle/>
            <a:p>
              <a:pPr algn="l"/>
              <a:r>
                <a:rPr lang="en-US" altLang="zh-CN" sz="2000" b="1" i="1">
                  <a:latin typeface="+mj-ea"/>
                  <a:ea typeface="+mj-ea"/>
                </a:rPr>
                <a:t> </a:t>
              </a:r>
              <a:endParaRPr lang="en-US" altLang="zh-CN" sz="2000" b="1">
                <a:latin typeface="+mj-ea"/>
                <a:ea typeface="+mj-ea"/>
              </a:endParaRPr>
            </a:p>
          </p:txBody>
        </p:sp>
        <p:sp>
          <p:nvSpPr>
            <p:cNvPr id="73828" name="Rectangle 112"/>
            <p:cNvSpPr>
              <a:spLocks noChangeArrowheads="1"/>
            </p:cNvSpPr>
            <p:nvPr/>
          </p:nvSpPr>
          <p:spPr bwMode="auto">
            <a:xfrm>
              <a:off x="4278" y="1867"/>
              <a:ext cx="83" cy="148"/>
            </a:xfrm>
            <a:prstGeom prst="rect">
              <a:avLst/>
            </a:prstGeom>
            <a:noFill/>
            <a:ln w="9525">
              <a:noFill/>
              <a:miter lim="800000"/>
              <a:headEnd/>
              <a:tailEnd/>
            </a:ln>
          </p:spPr>
          <p:txBody>
            <a:bodyPr wrap="none" lIns="0" tIns="0" rIns="0" bIns="0">
              <a:spAutoFit/>
            </a:bodyPr>
            <a:lstStyle/>
            <a:p>
              <a:pPr algn="l"/>
              <a:r>
                <a:rPr lang="en-US" altLang="zh-CN" sz="2000" b="1" i="1">
                  <a:latin typeface="+mj-ea"/>
                  <a:ea typeface="+mj-ea"/>
                </a:rPr>
                <a:t>L</a:t>
              </a:r>
              <a:endParaRPr lang="en-US" altLang="zh-CN" sz="2000" b="1">
                <a:latin typeface="+mj-ea"/>
                <a:ea typeface="+mj-ea"/>
              </a:endParaRPr>
            </a:p>
          </p:txBody>
        </p:sp>
        <p:sp>
          <p:nvSpPr>
            <p:cNvPr id="73829" name="Rectangle 113"/>
            <p:cNvSpPr>
              <a:spLocks noChangeArrowheads="1"/>
            </p:cNvSpPr>
            <p:nvPr/>
          </p:nvSpPr>
          <p:spPr bwMode="auto">
            <a:xfrm>
              <a:off x="4368" y="1867"/>
              <a:ext cx="83" cy="148"/>
            </a:xfrm>
            <a:prstGeom prst="rect">
              <a:avLst/>
            </a:prstGeom>
            <a:noFill/>
            <a:ln w="9525">
              <a:noFill/>
              <a:miter lim="800000"/>
              <a:headEnd/>
              <a:tailEnd/>
            </a:ln>
          </p:spPr>
          <p:txBody>
            <a:bodyPr wrap="none" lIns="0" tIns="0" rIns="0" bIns="0">
              <a:spAutoFit/>
            </a:bodyPr>
            <a:lstStyle/>
            <a:p>
              <a:pPr algn="l"/>
              <a:r>
                <a:rPr lang="en-US" altLang="zh-CN" sz="2000" b="1" i="1">
                  <a:latin typeface="+mj-ea"/>
                  <a:ea typeface="+mj-ea"/>
                </a:rPr>
                <a:t> </a:t>
              </a:r>
              <a:endParaRPr lang="en-US" altLang="zh-CN" sz="2000" b="1">
                <a:latin typeface="+mj-ea"/>
                <a:ea typeface="+mj-ea"/>
              </a:endParaRPr>
            </a:p>
          </p:txBody>
        </p:sp>
        <p:sp>
          <p:nvSpPr>
            <p:cNvPr id="73830" name="Rectangle 114"/>
            <p:cNvSpPr>
              <a:spLocks noChangeArrowheads="1"/>
            </p:cNvSpPr>
            <p:nvPr/>
          </p:nvSpPr>
          <p:spPr bwMode="auto">
            <a:xfrm>
              <a:off x="2806" y="1779"/>
              <a:ext cx="619" cy="24"/>
            </a:xfrm>
            <a:prstGeom prst="rect">
              <a:avLst/>
            </a:prstGeom>
            <a:solidFill>
              <a:srgbClr val="000000"/>
            </a:solidFill>
            <a:ln w="9525">
              <a:noFill/>
              <a:miter lim="800000"/>
              <a:headEnd/>
              <a:tailEnd/>
            </a:ln>
          </p:spPr>
          <p:txBody>
            <a:bodyPr/>
            <a:lstStyle/>
            <a:p>
              <a:endParaRPr lang="zh-CN" altLang="en-US" b="1">
                <a:latin typeface="+mj-ea"/>
                <a:ea typeface="+mj-ea"/>
              </a:endParaRPr>
            </a:p>
          </p:txBody>
        </p:sp>
        <p:sp>
          <p:nvSpPr>
            <p:cNvPr id="73831" name="Line 115"/>
            <p:cNvSpPr>
              <a:spLocks noChangeShapeType="1"/>
            </p:cNvSpPr>
            <p:nvPr/>
          </p:nvSpPr>
          <p:spPr bwMode="auto">
            <a:xfrm>
              <a:off x="2806" y="1779"/>
              <a:ext cx="619" cy="1"/>
            </a:xfrm>
            <a:prstGeom prst="line">
              <a:avLst/>
            </a:prstGeom>
            <a:noFill/>
            <a:ln w="0">
              <a:solidFill>
                <a:srgbClr val="000000"/>
              </a:solidFill>
              <a:round/>
              <a:headEnd/>
              <a:tailEnd/>
            </a:ln>
          </p:spPr>
          <p:txBody>
            <a:bodyPr/>
            <a:lstStyle/>
            <a:p>
              <a:endParaRPr lang="zh-CN" altLang="en-US" b="1">
                <a:latin typeface="+mj-ea"/>
                <a:ea typeface="+mj-ea"/>
              </a:endParaRPr>
            </a:p>
          </p:txBody>
        </p:sp>
        <p:sp>
          <p:nvSpPr>
            <p:cNvPr id="73832" name="Rectangle 116"/>
            <p:cNvSpPr>
              <a:spLocks noChangeArrowheads="1"/>
            </p:cNvSpPr>
            <p:nvPr/>
          </p:nvSpPr>
          <p:spPr bwMode="auto">
            <a:xfrm>
              <a:off x="3425" y="1779"/>
              <a:ext cx="26" cy="24"/>
            </a:xfrm>
            <a:prstGeom prst="rect">
              <a:avLst/>
            </a:prstGeom>
            <a:solidFill>
              <a:srgbClr val="000000"/>
            </a:solidFill>
            <a:ln w="9525">
              <a:noFill/>
              <a:miter lim="800000"/>
              <a:headEnd/>
              <a:tailEnd/>
            </a:ln>
          </p:spPr>
          <p:txBody>
            <a:bodyPr/>
            <a:lstStyle/>
            <a:p>
              <a:endParaRPr lang="zh-CN" altLang="en-US" b="1">
                <a:latin typeface="+mj-ea"/>
                <a:ea typeface="+mj-ea"/>
              </a:endParaRPr>
            </a:p>
          </p:txBody>
        </p:sp>
        <p:sp>
          <p:nvSpPr>
            <p:cNvPr id="73833" name="Line 117"/>
            <p:cNvSpPr>
              <a:spLocks noChangeShapeType="1"/>
            </p:cNvSpPr>
            <p:nvPr/>
          </p:nvSpPr>
          <p:spPr bwMode="auto">
            <a:xfrm>
              <a:off x="3425" y="1779"/>
              <a:ext cx="26" cy="1"/>
            </a:xfrm>
            <a:prstGeom prst="line">
              <a:avLst/>
            </a:prstGeom>
            <a:noFill/>
            <a:ln w="0">
              <a:solidFill>
                <a:srgbClr val="000000"/>
              </a:solidFill>
              <a:round/>
              <a:headEnd/>
              <a:tailEnd/>
            </a:ln>
          </p:spPr>
          <p:txBody>
            <a:bodyPr/>
            <a:lstStyle/>
            <a:p>
              <a:endParaRPr lang="zh-CN" altLang="en-US" b="1">
                <a:latin typeface="+mj-ea"/>
                <a:ea typeface="+mj-ea"/>
              </a:endParaRPr>
            </a:p>
          </p:txBody>
        </p:sp>
        <p:sp>
          <p:nvSpPr>
            <p:cNvPr id="73834" name="Line 118"/>
            <p:cNvSpPr>
              <a:spLocks noChangeShapeType="1"/>
            </p:cNvSpPr>
            <p:nvPr/>
          </p:nvSpPr>
          <p:spPr bwMode="auto">
            <a:xfrm>
              <a:off x="3425" y="1779"/>
              <a:ext cx="1" cy="24"/>
            </a:xfrm>
            <a:prstGeom prst="line">
              <a:avLst/>
            </a:prstGeom>
            <a:noFill/>
            <a:ln w="0">
              <a:solidFill>
                <a:srgbClr val="000000"/>
              </a:solidFill>
              <a:round/>
              <a:headEnd/>
              <a:tailEnd/>
            </a:ln>
          </p:spPr>
          <p:txBody>
            <a:bodyPr/>
            <a:lstStyle/>
            <a:p>
              <a:endParaRPr lang="zh-CN" altLang="en-US" b="1">
                <a:latin typeface="+mj-ea"/>
                <a:ea typeface="+mj-ea"/>
              </a:endParaRPr>
            </a:p>
          </p:txBody>
        </p:sp>
        <p:sp>
          <p:nvSpPr>
            <p:cNvPr id="73835" name="Rectangle 119"/>
            <p:cNvSpPr>
              <a:spLocks noChangeArrowheads="1"/>
            </p:cNvSpPr>
            <p:nvPr/>
          </p:nvSpPr>
          <p:spPr bwMode="auto">
            <a:xfrm>
              <a:off x="3451" y="1779"/>
              <a:ext cx="546" cy="24"/>
            </a:xfrm>
            <a:prstGeom prst="rect">
              <a:avLst/>
            </a:prstGeom>
            <a:solidFill>
              <a:srgbClr val="000000"/>
            </a:solidFill>
            <a:ln w="9525">
              <a:noFill/>
              <a:miter lim="800000"/>
              <a:headEnd/>
              <a:tailEnd/>
            </a:ln>
          </p:spPr>
          <p:txBody>
            <a:bodyPr/>
            <a:lstStyle/>
            <a:p>
              <a:endParaRPr lang="zh-CN" altLang="en-US" b="1">
                <a:latin typeface="+mj-ea"/>
                <a:ea typeface="+mj-ea"/>
              </a:endParaRPr>
            </a:p>
          </p:txBody>
        </p:sp>
        <p:sp>
          <p:nvSpPr>
            <p:cNvPr id="73836" name="Line 120"/>
            <p:cNvSpPr>
              <a:spLocks noChangeShapeType="1"/>
            </p:cNvSpPr>
            <p:nvPr/>
          </p:nvSpPr>
          <p:spPr bwMode="auto">
            <a:xfrm>
              <a:off x="3451" y="1779"/>
              <a:ext cx="546" cy="1"/>
            </a:xfrm>
            <a:prstGeom prst="line">
              <a:avLst/>
            </a:prstGeom>
            <a:noFill/>
            <a:ln w="0">
              <a:solidFill>
                <a:srgbClr val="000000"/>
              </a:solidFill>
              <a:round/>
              <a:headEnd/>
              <a:tailEnd/>
            </a:ln>
          </p:spPr>
          <p:txBody>
            <a:bodyPr/>
            <a:lstStyle/>
            <a:p>
              <a:endParaRPr lang="zh-CN" altLang="en-US" b="1">
                <a:latin typeface="+mj-ea"/>
                <a:ea typeface="+mj-ea"/>
              </a:endParaRPr>
            </a:p>
          </p:txBody>
        </p:sp>
        <p:sp>
          <p:nvSpPr>
            <p:cNvPr id="73837" name="Rectangle 121"/>
            <p:cNvSpPr>
              <a:spLocks noChangeArrowheads="1"/>
            </p:cNvSpPr>
            <p:nvPr/>
          </p:nvSpPr>
          <p:spPr bwMode="auto">
            <a:xfrm>
              <a:off x="3997" y="1803"/>
              <a:ext cx="13" cy="2"/>
            </a:xfrm>
            <a:prstGeom prst="rect">
              <a:avLst/>
            </a:prstGeom>
            <a:solidFill>
              <a:srgbClr val="000000"/>
            </a:solidFill>
            <a:ln w="9525">
              <a:noFill/>
              <a:miter lim="800000"/>
              <a:headEnd/>
              <a:tailEnd/>
            </a:ln>
          </p:spPr>
          <p:txBody>
            <a:bodyPr/>
            <a:lstStyle/>
            <a:p>
              <a:endParaRPr lang="zh-CN" altLang="en-US" b="1">
                <a:latin typeface="+mj-ea"/>
                <a:ea typeface="+mj-ea"/>
              </a:endParaRPr>
            </a:p>
          </p:txBody>
        </p:sp>
        <p:sp>
          <p:nvSpPr>
            <p:cNvPr id="73838" name="Line 122"/>
            <p:cNvSpPr>
              <a:spLocks noChangeShapeType="1"/>
            </p:cNvSpPr>
            <p:nvPr/>
          </p:nvSpPr>
          <p:spPr bwMode="auto">
            <a:xfrm>
              <a:off x="3997" y="1803"/>
              <a:ext cx="13" cy="1"/>
            </a:xfrm>
            <a:prstGeom prst="line">
              <a:avLst/>
            </a:prstGeom>
            <a:noFill/>
            <a:ln w="0">
              <a:solidFill>
                <a:srgbClr val="000000"/>
              </a:solidFill>
              <a:round/>
              <a:headEnd/>
              <a:tailEnd/>
            </a:ln>
          </p:spPr>
          <p:txBody>
            <a:bodyPr/>
            <a:lstStyle/>
            <a:p>
              <a:endParaRPr lang="zh-CN" altLang="en-US" b="1">
                <a:latin typeface="+mj-ea"/>
                <a:ea typeface="+mj-ea"/>
              </a:endParaRPr>
            </a:p>
          </p:txBody>
        </p:sp>
        <p:sp>
          <p:nvSpPr>
            <p:cNvPr id="73839" name="Rectangle 123"/>
            <p:cNvSpPr>
              <a:spLocks noChangeArrowheads="1"/>
            </p:cNvSpPr>
            <p:nvPr/>
          </p:nvSpPr>
          <p:spPr bwMode="auto">
            <a:xfrm>
              <a:off x="3997" y="1779"/>
              <a:ext cx="25" cy="24"/>
            </a:xfrm>
            <a:prstGeom prst="rect">
              <a:avLst/>
            </a:prstGeom>
            <a:solidFill>
              <a:srgbClr val="000000"/>
            </a:solidFill>
            <a:ln w="9525">
              <a:noFill/>
              <a:miter lim="800000"/>
              <a:headEnd/>
              <a:tailEnd/>
            </a:ln>
          </p:spPr>
          <p:txBody>
            <a:bodyPr/>
            <a:lstStyle/>
            <a:p>
              <a:endParaRPr lang="zh-CN" altLang="en-US" b="1">
                <a:latin typeface="+mj-ea"/>
                <a:ea typeface="+mj-ea"/>
              </a:endParaRPr>
            </a:p>
          </p:txBody>
        </p:sp>
        <p:sp>
          <p:nvSpPr>
            <p:cNvPr id="73840" name="Line 124"/>
            <p:cNvSpPr>
              <a:spLocks noChangeShapeType="1"/>
            </p:cNvSpPr>
            <p:nvPr/>
          </p:nvSpPr>
          <p:spPr bwMode="auto">
            <a:xfrm>
              <a:off x="3997" y="1779"/>
              <a:ext cx="25" cy="1"/>
            </a:xfrm>
            <a:prstGeom prst="line">
              <a:avLst/>
            </a:prstGeom>
            <a:noFill/>
            <a:ln w="0">
              <a:solidFill>
                <a:srgbClr val="000000"/>
              </a:solidFill>
              <a:round/>
              <a:headEnd/>
              <a:tailEnd/>
            </a:ln>
          </p:spPr>
          <p:txBody>
            <a:bodyPr/>
            <a:lstStyle/>
            <a:p>
              <a:endParaRPr lang="zh-CN" altLang="en-US" b="1">
                <a:latin typeface="+mj-ea"/>
                <a:ea typeface="+mj-ea"/>
              </a:endParaRPr>
            </a:p>
          </p:txBody>
        </p:sp>
        <p:sp>
          <p:nvSpPr>
            <p:cNvPr id="73841" name="Line 125"/>
            <p:cNvSpPr>
              <a:spLocks noChangeShapeType="1"/>
            </p:cNvSpPr>
            <p:nvPr/>
          </p:nvSpPr>
          <p:spPr bwMode="auto">
            <a:xfrm>
              <a:off x="3997" y="1779"/>
              <a:ext cx="1" cy="24"/>
            </a:xfrm>
            <a:prstGeom prst="line">
              <a:avLst/>
            </a:prstGeom>
            <a:noFill/>
            <a:ln w="0">
              <a:solidFill>
                <a:srgbClr val="000000"/>
              </a:solidFill>
              <a:round/>
              <a:headEnd/>
              <a:tailEnd/>
            </a:ln>
          </p:spPr>
          <p:txBody>
            <a:bodyPr/>
            <a:lstStyle/>
            <a:p>
              <a:endParaRPr lang="zh-CN" altLang="en-US" b="1">
                <a:latin typeface="+mj-ea"/>
                <a:ea typeface="+mj-ea"/>
              </a:endParaRPr>
            </a:p>
          </p:txBody>
        </p:sp>
        <p:sp>
          <p:nvSpPr>
            <p:cNvPr id="73842" name="Rectangle 126"/>
            <p:cNvSpPr>
              <a:spLocks noChangeArrowheads="1"/>
            </p:cNvSpPr>
            <p:nvPr/>
          </p:nvSpPr>
          <p:spPr bwMode="auto">
            <a:xfrm>
              <a:off x="4022" y="1779"/>
              <a:ext cx="615" cy="24"/>
            </a:xfrm>
            <a:prstGeom prst="rect">
              <a:avLst/>
            </a:prstGeom>
            <a:solidFill>
              <a:srgbClr val="000000"/>
            </a:solidFill>
            <a:ln w="9525">
              <a:noFill/>
              <a:miter lim="800000"/>
              <a:headEnd/>
              <a:tailEnd/>
            </a:ln>
          </p:spPr>
          <p:txBody>
            <a:bodyPr/>
            <a:lstStyle/>
            <a:p>
              <a:endParaRPr lang="zh-CN" altLang="en-US" b="1">
                <a:latin typeface="+mj-ea"/>
                <a:ea typeface="+mj-ea"/>
              </a:endParaRPr>
            </a:p>
          </p:txBody>
        </p:sp>
        <p:sp>
          <p:nvSpPr>
            <p:cNvPr id="73843" name="Line 127"/>
            <p:cNvSpPr>
              <a:spLocks noChangeShapeType="1"/>
            </p:cNvSpPr>
            <p:nvPr/>
          </p:nvSpPr>
          <p:spPr bwMode="auto">
            <a:xfrm>
              <a:off x="4022" y="1779"/>
              <a:ext cx="615" cy="1"/>
            </a:xfrm>
            <a:prstGeom prst="line">
              <a:avLst/>
            </a:prstGeom>
            <a:noFill/>
            <a:ln w="0">
              <a:solidFill>
                <a:srgbClr val="000000"/>
              </a:solidFill>
              <a:round/>
              <a:headEnd/>
              <a:tailEnd/>
            </a:ln>
          </p:spPr>
          <p:txBody>
            <a:bodyPr/>
            <a:lstStyle/>
            <a:p>
              <a:endParaRPr lang="zh-CN" altLang="en-US" b="1">
                <a:latin typeface="+mj-ea"/>
                <a:ea typeface="+mj-ea"/>
              </a:endParaRPr>
            </a:p>
          </p:txBody>
        </p:sp>
        <p:sp>
          <p:nvSpPr>
            <p:cNvPr id="73844" name="Rectangle 128"/>
            <p:cNvSpPr>
              <a:spLocks noChangeArrowheads="1"/>
            </p:cNvSpPr>
            <p:nvPr/>
          </p:nvSpPr>
          <p:spPr bwMode="auto">
            <a:xfrm>
              <a:off x="3997" y="1805"/>
              <a:ext cx="13" cy="257"/>
            </a:xfrm>
            <a:prstGeom prst="rect">
              <a:avLst/>
            </a:prstGeom>
            <a:solidFill>
              <a:srgbClr val="000000"/>
            </a:solidFill>
            <a:ln w="9525">
              <a:noFill/>
              <a:miter lim="800000"/>
              <a:headEnd/>
              <a:tailEnd/>
            </a:ln>
          </p:spPr>
          <p:txBody>
            <a:bodyPr/>
            <a:lstStyle/>
            <a:p>
              <a:endParaRPr lang="zh-CN" altLang="en-US" b="1">
                <a:latin typeface="+mj-ea"/>
                <a:ea typeface="+mj-ea"/>
              </a:endParaRPr>
            </a:p>
          </p:txBody>
        </p:sp>
        <p:sp>
          <p:nvSpPr>
            <p:cNvPr id="73845" name="Line 129"/>
            <p:cNvSpPr>
              <a:spLocks noChangeShapeType="1"/>
            </p:cNvSpPr>
            <p:nvPr/>
          </p:nvSpPr>
          <p:spPr bwMode="auto">
            <a:xfrm>
              <a:off x="3997" y="1805"/>
              <a:ext cx="1" cy="257"/>
            </a:xfrm>
            <a:prstGeom prst="line">
              <a:avLst/>
            </a:prstGeom>
            <a:noFill/>
            <a:ln w="0">
              <a:solidFill>
                <a:srgbClr val="000000"/>
              </a:solidFill>
              <a:round/>
              <a:headEnd/>
              <a:tailEnd/>
            </a:ln>
          </p:spPr>
          <p:txBody>
            <a:bodyPr/>
            <a:lstStyle/>
            <a:p>
              <a:endParaRPr lang="zh-CN" altLang="en-US" b="1">
                <a:latin typeface="+mj-ea"/>
                <a:ea typeface="+mj-ea"/>
              </a:endParaRPr>
            </a:p>
          </p:txBody>
        </p:sp>
        <p:sp>
          <p:nvSpPr>
            <p:cNvPr id="73846" name="Rectangle 130"/>
            <p:cNvSpPr>
              <a:spLocks noChangeArrowheads="1"/>
            </p:cNvSpPr>
            <p:nvPr/>
          </p:nvSpPr>
          <p:spPr bwMode="auto">
            <a:xfrm>
              <a:off x="3079" y="2136"/>
              <a:ext cx="83" cy="148"/>
            </a:xfrm>
            <a:prstGeom prst="rect">
              <a:avLst/>
            </a:prstGeom>
            <a:noFill/>
            <a:ln w="9525">
              <a:noFill/>
              <a:miter lim="800000"/>
              <a:headEnd/>
              <a:tailEnd/>
            </a:ln>
          </p:spPr>
          <p:txBody>
            <a:bodyPr wrap="none" lIns="0" tIns="0" rIns="0" bIns="0">
              <a:spAutoFit/>
            </a:bodyPr>
            <a:lstStyle/>
            <a:p>
              <a:pPr algn="l"/>
              <a:r>
                <a:rPr lang="en-US" altLang="zh-CN" sz="2000" b="1">
                  <a:latin typeface="+mj-ea"/>
                  <a:ea typeface="+mj-ea"/>
                </a:rPr>
                <a:t>0</a:t>
              </a:r>
            </a:p>
          </p:txBody>
        </p:sp>
        <p:sp>
          <p:nvSpPr>
            <p:cNvPr id="73847" name="Rectangle 131"/>
            <p:cNvSpPr>
              <a:spLocks noChangeArrowheads="1"/>
            </p:cNvSpPr>
            <p:nvPr/>
          </p:nvSpPr>
          <p:spPr bwMode="auto">
            <a:xfrm>
              <a:off x="3160" y="2136"/>
              <a:ext cx="83" cy="148"/>
            </a:xfrm>
            <a:prstGeom prst="rect">
              <a:avLst/>
            </a:prstGeom>
            <a:noFill/>
            <a:ln w="9525">
              <a:noFill/>
              <a:miter lim="800000"/>
              <a:headEnd/>
              <a:tailEnd/>
            </a:ln>
          </p:spPr>
          <p:txBody>
            <a:bodyPr wrap="none" lIns="0" tIns="0" rIns="0" bIns="0">
              <a:spAutoFit/>
            </a:bodyPr>
            <a:lstStyle/>
            <a:p>
              <a:pPr algn="l"/>
              <a:r>
                <a:rPr lang="en-US" altLang="zh-CN" sz="2000" b="1">
                  <a:latin typeface="+mj-ea"/>
                  <a:ea typeface="+mj-ea"/>
                </a:rPr>
                <a:t> </a:t>
              </a:r>
            </a:p>
          </p:txBody>
        </p:sp>
        <p:sp>
          <p:nvSpPr>
            <p:cNvPr id="73848" name="Rectangle 132"/>
            <p:cNvSpPr>
              <a:spLocks noChangeArrowheads="1"/>
            </p:cNvSpPr>
            <p:nvPr/>
          </p:nvSpPr>
          <p:spPr bwMode="auto">
            <a:xfrm>
              <a:off x="3675" y="2136"/>
              <a:ext cx="83" cy="148"/>
            </a:xfrm>
            <a:prstGeom prst="rect">
              <a:avLst/>
            </a:prstGeom>
            <a:noFill/>
            <a:ln w="9525">
              <a:noFill/>
              <a:miter lim="800000"/>
              <a:headEnd/>
              <a:tailEnd/>
            </a:ln>
          </p:spPr>
          <p:txBody>
            <a:bodyPr wrap="none" lIns="0" tIns="0" rIns="0" bIns="0">
              <a:spAutoFit/>
            </a:bodyPr>
            <a:lstStyle/>
            <a:p>
              <a:pPr algn="l"/>
              <a:r>
                <a:rPr lang="en-US" altLang="zh-CN" sz="2000" b="1">
                  <a:latin typeface="+mj-ea"/>
                  <a:ea typeface="+mj-ea"/>
                </a:rPr>
                <a:t>0</a:t>
              </a:r>
            </a:p>
          </p:txBody>
        </p:sp>
        <p:sp>
          <p:nvSpPr>
            <p:cNvPr id="73849" name="Rectangle 133"/>
            <p:cNvSpPr>
              <a:spLocks noChangeArrowheads="1"/>
            </p:cNvSpPr>
            <p:nvPr/>
          </p:nvSpPr>
          <p:spPr bwMode="auto">
            <a:xfrm>
              <a:off x="3756" y="2136"/>
              <a:ext cx="83" cy="148"/>
            </a:xfrm>
            <a:prstGeom prst="rect">
              <a:avLst/>
            </a:prstGeom>
            <a:noFill/>
            <a:ln w="9525">
              <a:noFill/>
              <a:miter lim="800000"/>
              <a:headEnd/>
              <a:tailEnd/>
            </a:ln>
          </p:spPr>
          <p:txBody>
            <a:bodyPr wrap="none" lIns="0" tIns="0" rIns="0" bIns="0">
              <a:spAutoFit/>
            </a:bodyPr>
            <a:lstStyle/>
            <a:p>
              <a:pPr algn="l"/>
              <a:r>
                <a:rPr lang="en-US" altLang="zh-CN" sz="2000" b="1">
                  <a:latin typeface="+mj-ea"/>
                  <a:ea typeface="+mj-ea"/>
                </a:rPr>
                <a:t> </a:t>
              </a:r>
            </a:p>
          </p:txBody>
        </p:sp>
        <p:sp>
          <p:nvSpPr>
            <p:cNvPr id="73850" name="Rectangle 134"/>
            <p:cNvSpPr>
              <a:spLocks noChangeArrowheads="1"/>
            </p:cNvSpPr>
            <p:nvPr/>
          </p:nvSpPr>
          <p:spPr bwMode="auto">
            <a:xfrm>
              <a:off x="4283" y="2136"/>
              <a:ext cx="83" cy="148"/>
            </a:xfrm>
            <a:prstGeom prst="rect">
              <a:avLst/>
            </a:prstGeom>
            <a:noFill/>
            <a:ln w="9525">
              <a:noFill/>
              <a:miter lim="800000"/>
              <a:headEnd/>
              <a:tailEnd/>
            </a:ln>
          </p:spPr>
          <p:txBody>
            <a:bodyPr wrap="none" lIns="0" tIns="0" rIns="0" bIns="0">
              <a:spAutoFit/>
            </a:bodyPr>
            <a:lstStyle/>
            <a:p>
              <a:pPr algn="l"/>
              <a:r>
                <a:rPr lang="en-US" altLang="zh-CN" sz="2000" b="1">
                  <a:latin typeface="+mj-ea"/>
                  <a:ea typeface="+mj-ea"/>
                </a:rPr>
                <a:t>1</a:t>
              </a:r>
            </a:p>
          </p:txBody>
        </p:sp>
        <p:sp>
          <p:nvSpPr>
            <p:cNvPr id="73851" name="Rectangle 135"/>
            <p:cNvSpPr>
              <a:spLocks noChangeArrowheads="1"/>
            </p:cNvSpPr>
            <p:nvPr/>
          </p:nvSpPr>
          <p:spPr bwMode="auto">
            <a:xfrm>
              <a:off x="4364" y="2136"/>
              <a:ext cx="83" cy="148"/>
            </a:xfrm>
            <a:prstGeom prst="rect">
              <a:avLst/>
            </a:prstGeom>
            <a:noFill/>
            <a:ln w="9525">
              <a:noFill/>
              <a:miter lim="800000"/>
              <a:headEnd/>
              <a:tailEnd/>
            </a:ln>
          </p:spPr>
          <p:txBody>
            <a:bodyPr wrap="none" lIns="0" tIns="0" rIns="0" bIns="0">
              <a:spAutoFit/>
            </a:bodyPr>
            <a:lstStyle/>
            <a:p>
              <a:pPr algn="l"/>
              <a:r>
                <a:rPr lang="en-US" altLang="zh-CN" sz="2000" b="1">
                  <a:latin typeface="+mj-ea"/>
                  <a:ea typeface="+mj-ea"/>
                </a:rPr>
                <a:t> </a:t>
              </a:r>
            </a:p>
          </p:txBody>
        </p:sp>
        <p:sp>
          <p:nvSpPr>
            <p:cNvPr id="73852" name="Rectangle 136"/>
            <p:cNvSpPr>
              <a:spLocks noChangeArrowheads="1"/>
            </p:cNvSpPr>
            <p:nvPr/>
          </p:nvSpPr>
          <p:spPr bwMode="auto">
            <a:xfrm>
              <a:off x="2806" y="2062"/>
              <a:ext cx="619" cy="12"/>
            </a:xfrm>
            <a:prstGeom prst="rect">
              <a:avLst/>
            </a:prstGeom>
            <a:solidFill>
              <a:srgbClr val="000000"/>
            </a:solidFill>
            <a:ln w="9525">
              <a:noFill/>
              <a:miter lim="800000"/>
              <a:headEnd/>
              <a:tailEnd/>
            </a:ln>
          </p:spPr>
          <p:txBody>
            <a:bodyPr/>
            <a:lstStyle/>
            <a:p>
              <a:endParaRPr lang="zh-CN" altLang="en-US" b="1">
                <a:latin typeface="+mj-ea"/>
                <a:ea typeface="+mj-ea"/>
              </a:endParaRPr>
            </a:p>
          </p:txBody>
        </p:sp>
        <p:sp>
          <p:nvSpPr>
            <p:cNvPr id="73853" name="Line 137"/>
            <p:cNvSpPr>
              <a:spLocks noChangeShapeType="1"/>
            </p:cNvSpPr>
            <p:nvPr/>
          </p:nvSpPr>
          <p:spPr bwMode="auto">
            <a:xfrm>
              <a:off x="2806" y="2062"/>
              <a:ext cx="619" cy="1"/>
            </a:xfrm>
            <a:prstGeom prst="line">
              <a:avLst/>
            </a:prstGeom>
            <a:noFill/>
            <a:ln w="0">
              <a:solidFill>
                <a:srgbClr val="000000"/>
              </a:solidFill>
              <a:round/>
              <a:headEnd/>
              <a:tailEnd/>
            </a:ln>
          </p:spPr>
          <p:txBody>
            <a:bodyPr/>
            <a:lstStyle/>
            <a:p>
              <a:endParaRPr lang="zh-CN" altLang="en-US" b="1">
                <a:latin typeface="+mj-ea"/>
                <a:ea typeface="+mj-ea"/>
              </a:endParaRPr>
            </a:p>
          </p:txBody>
        </p:sp>
        <p:sp>
          <p:nvSpPr>
            <p:cNvPr id="73854" name="Rectangle 138"/>
            <p:cNvSpPr>
              <a:spLocks noChangeArrowheads="1"/>
            </p:cNvSpPr>
            <p:nvPr/>
          </p:nvSpPr>
          <p:spPr bwMode="auto">
            <a:xfrm>
              <a:off x="3425" y="2062"/>
              <a:ext cx="13" cy="12"/>
            </a:xfrm>
            <a:prstGeom prst="rect">
              <a:avLst/>
            </a:prstGeom>
            <a:solidFill>
              <a:srgbClr val="000000"/>
            </a:solidFill>
            <a:ln w="9525">
              <a:noFill/>
              <a:miter lim="800000"/>
              <a:headEnd/>
              <a:tailEnd/>
            </a:ln>
          </p:spPr>
          <p:txBody>
            <a:bodyPr/>
            <a:lstStyle/>
            <a:p>
              <a:endParaRPr lang="zh-CN" altLang="en-US" b="1">
                <a:latin typeface="+mj-ea"/>
                <a:ea typeface="+mj-ea"/>
              </a:endParaRPr>
            </a:p>
          </p:txBody>
        </p:sp>
        <p:sp>
          <p:nvSpPr>
            <p:cNvPr id="73855" name="Line 139"/>
            <p:cNvSpPr>
              <a:spLocks noChangeShapeType="1"/>
            </p:cNvSpPr>
            <p:nvPr/>
          </p:nvSpPr>
          <p:spPr bwMode="auto">
            <a:xfrm>
              <a:off x="3425" y="2062"/>
              <a:ext cx="13" cy="1"/>
            </a:xfrm>
            <a:prstGeom prst="line">
              <a:avLst/>
            </a:prstGeom>
            <a:noFill/>
            <a:ln w="0">
              <a:solidFill>
                <a:srgbClr val="000000"/>
              </a:solidFill>
              <a:round/>
              <a:headEnd/>
              <a:tailEnd/>
            </a:ln>
          </p:spPr>
          <p:txBody>
            <a:bodyPr/>
            <a:lstStyle/>
            <a:p>
              <a:endParaRPr lang="zh-CN" altLang="en-US" b="1">
                <a:latin typeface="+mj-ea"/>
                <a:ea typeface="+mj-ea"/>
              </a:endParaRPr>
            </a:p>
          </p:txBody>
        </p:sp>
        <p:sp>
          <p:nvSpPr>
            <p:cNvPr id="73856" name="Line 140"/>
            <p:cNvSpPr>
              <a:spLocks noChangeShapeType="1"/>
            </p:cNvSpPr>
            <p:nvPr/>
          </p:nvSpPr>
          <p:spPr bwMode="auto">
            <a:xfrm>
              <a:off x="3425" y="2062"/>
              <a:ext cx="1" cy="12"/>
            </a:xfrm>
            <a:prstGeom prst="line">
              <a:avLst/>
            </a:prstGeom>
            <a:noFill/>
            <a:ln w="0">
              <a:solidFill>
                <a:srgbClr val="000000"/>
              </a:solidFill>
              <a:round/>
              <a:headEnd/>
              <a:tailEnd/>
            </a:ln>
          </p:spPr>
          <p:txBody>
            <a:bodyPr/>
            <a:lstStyle/>
            <a:p>
              <a:endParaRPr lang="zh-CN" altLang="en-US" b="1">
                <a:latin typeface="+mj-ea"/>
                <a:ea typeface="+mj-ea"/>
              </a:endParaRPr>
            </a:p>
          </p:txBody>
        </p:sp>
        <p:sp>
          <p:nvSpPr>
            <p:cNvPr id="73857" name="Rectangle 141"/>
            <p:cNvSpPr>
              <a:spLocks noChangeArrowheads="1"/>
            </p:cNvSpPr>
            <p:nvPr/>
          </p:nvSpPr>
          <p:spPr bwMode="auto">
            <a:xfrm>
              <a:off x="3438" y="2062"/>
              <a:ext cx="559" cy="12"/>
            </a:xfrm>
            <a:prstGeom prst="rect">
              <a:avLst/>
            </a:prstGeom>
            <a:solidFill>
              <a:srgbClr val="000000"/>
            </a:solidFill>
            <a:ln w="9525">
              <a:noFill/>
              <a:miter lim="800000"/>
              <a:headEnd/>
              <a:tailEnd/>
            </a:ln>
          </p:spPr>
          <p:txBody>
            <a:bodyPr/>
            <a:lstStyle/>
            <a:p>
              <a:endParaRPr lang="zh-CN" altLang="en-US" b="1">
                <a:latin typeface="+mj-ea"/>
                <a:ea typeface="+mj-ea"/>
              </a:endParaRPr>
            </a:p>
          </p:txBody>
        </p:sp>
        <p:sp>
          <p:nvSpPr>
            <p:cNvPr id="73858" name="Line 142"/>
            <p:cNvSpPr>
              <a:spLocks noChangeShapeType="1"/>
            </p:cNvSpPr>
            <p:nvPr/>
          </p:nvSpPr>
          <p:spPr bwMode="auto">
            <a:xfrm>
              <a:off x="3438" y="2062"/>
              <a:ext cx="559" cy="1"/>
            </a:xfrm>
            <a:prstGeom prst="line">
              <a:avLst/>
            </a:prstGeom>
            <a:noFill/>
            <a:ln w="0">
              <a:solidFill>
                <a:srgbClr val="000000"/>
              </a:solidFill>
              <a:round/>
              <a:headEnd/>
              <a:tailEnd/>
            </a:ln>
          </p:spPr>
          <p:txBody>
            <a:bodyPr/>
            <a:lstStyle/>
            <a:p>
              <a:endParaRPr lang="zh-CN" altLang="en-US" b="1">
                <a:latin typeface="+mj-ea"/>
                <a:ea typeface="+mj-ea"/>
              </a:endParaRPr>
            </a:p>
          </p:txBody>
        </p:sp>
        <p:sp>
          <p:nvSpPr>
            <p:cNvPr id="73859" name="Rectangle 143"/>
            <p:cNvSpPr>
              <a:spLocks noChangeArrowheads="1"/>
            </p:cNvSpPr>
            <p:nvPr/>
          </p:nvSpPr>
          <p:spPr bwMode="auto">
            <a:xfrm>
              <a:off x="3997" y="2062"/>
              <a:ext cx="13" cy="12"/>
            </a:xfrm>
            <a:prstGeom prst="rect">
              <a:avLst/>
            </a:prstGeom>
            <a:solidFill>
              <a:srgbClr val="000000"/>
            </a:solidFill>
            <a:ln w="9525">
              <a:noFill/>
              <a:miter lim="800000"/>
              <a:headEnd/>
              <a:tailEnd/>
            </a:ln>
          </p:spPr>
          <p:txBody>
            <a:bodyPr/>
            <a:lstStyle/>
            <a:p>
              <a:endParaRPr lang="zh-CN" altLang="en-US" b="1">
                <a:latin typeface="+mj-ea"/>
                <a:ea typeface="+mj-ea"/>
              </a:endParaRPr>
            </a:p>
          </p:txBody>
        </p:sp>
        <p:sp>
          <p:nvSpPr>
            <p:cNvPr id="73860" name="Line 144"/>
            <p:cNvSpPr>
              <a:spLocks noChangeShapeType="1"/>
            </p:cNvSpPr>
            <p:nvPr/>
          </p:nvSpPr>
          <p:spPr bwMode="auto">
            <a:xfrm>
              <a:off x="3997" y="2062"/>
              <a:ext cx="13" cy="1"/>
            </a:xfrm>
            <a:prstGeom prst="line">
              <a:avLst/>
            </a:prstGeom>
            <a:noFill/>
            <a:ln w="0">
              <a:solidFill>
                <a:srgbClr val="000000"/>
              </a:solidFill>
              <a:round/>
              <a:headEnd/>
              <a:tailEnd/>
            </a:ln>
          </p:spPr>
          <p:txBody>
            <a:bodyPr/>
            <a:lstStyle/>
            <a:p>
              <a:endParaRPr lang="zh-CN" altLang="en-US" b="1">
                <a:latin typeface="+mj-ea"/>
                <a:ea typeface="+mj-ea"/>
              </a:endParaRPr>
            </a:p>
          </p:txBody>
        </p:sp>
        <p:sp>
          <p:nvSpPr>
            <p:cNvPr id="73861" name="Line 145"/>
            <p:cNvSpPr>
              <a:spLocks noChangeShapeType="1"/>
            </p:cNvSpPr>
            <p:nvPr/>
          </p:nvSpPr>
          <p:spPr bwMode="auto">
            <a:xfrm>
              <a:off x="3997" y="2062"/>
              <a:ext cx="1" cy="12"/>
            </a:xfrm>
            <a:prstGeom prst="line">
              <a:avLst/>
            </a:prstGeom>
            <a:noFill/>
            <a:ln w="0">
              <a:solidFill>
                <a:srgbClr val="000000"/>
              </a:solidFill>
              <a:round/>
              <a:headEnd/>
              <a:tailEnd/>
            </a:ln>
          </p:spPr>
          <p:txBody>
            <a:bodyPr/>
            <a:lstStyle/>
            <a:p>
              <a:endParaRPr lang="zh-CN" altLang="en-US" b="1">
                <a:latin typeface="+mj-ea"/>
                <a:ea typeface="+mj-ea"/>
              </a:endParaRPr>
            </a:p>
          </p:txBody>
        </p:sp>
        <p:sp>
          <p:nvSpPr>
            <p:cNvPr id="73862" name="Rectangle 146"/>
            <p:cNvSpPr>
              <a:spLocks noChangeArrowheads="1"/>
            </p:cNvSpPr>
            <p:nvPr/>
          </p:nvSpPr>
          <p:spPr bwMode="auto">
            <a:xfrm>
              <a:off x="4010" y="2062"/>
              <a:ext cx="627" cy="12"/>
            </a:xfrm>
            <a:prstGeom prst="rect">
              <a:avLst/>
            </a:prstGeom>
            <a:solidFill>
              <a:srgbClr val="000000"/>
            </a:solidFill>
            <a:ln w="9525">
              <a:noFill/>
              <a:miter lim="800000"/>
              <a:headEnd/>
              <a:tailEnd/>
            </a:ln>
          </p:spPr>
          <p:txBody>
            <a:bodyPr/>
            <a:lstStyle/>
            <a:p>
              <a:endParaRPr lang="zh-CN" altLang="en-US" b="1">
                <a:latin typeface="+mj-ea"/>
                <a:ea typeface="+mj-ea"/>
              </a:endParaRPr>
            </a:p>
          </p:txBody>
        </p:sp>
        <p:sp>
          <p:nvSpPr>
            <p:cNvPr id="73863" name="Line 147"/>
            <p:cNvSpPr>
              <a:spLocks noChangeShapeType="1"/>
            </p:cNvSpPr>
            <p:nvPr/>
          </p:nvSpPr>
          <p:spPr bwMode="auto">
            <a:xfrm>
              <a:off x="4010" y="2062"/>
              <a:ext cx="627" cy="1"/>
            </a:xfrm>
            <a:prstGeom prst="line">
              <a:avLst/>
            </a:prstGeom>
            <a:noFill/>
            <a:ln w="0">
              <a:solidFill>
                <a:srgbClr val="000000"/>
              </a:solidFill>
              <a:round/>
              <a:headEnd/>
              <a:tailEnd/>
            </a:ln>
          </p:spPr>
          <p:txBody>
            <a:bodyPr/>
            <a:lstStyle/>
            <a:p>
              <a:endParaRPr lang="zh-CN" altLang="en-US" b="1">
                <a:latin typeface="+mj-ea"/>
                <a:ea typeface="+mj-ea"/>
              </a:endParaRPr>
            </a:p>
          </p:txBody>
        </p:sp>
        <p:sp>
          <p:nvSpPr>
            <p:cNvPr id="73864" name="Rectangle 148"/>
            <p:cNvSpPr>
              <a:spLocks noChangeArrowheads="1"/>
            </p:cNvSpPr>
            <p:nvPr/>
          </p:nvSpPr>
          <p:spPr bwMode="auto">
            <a:xfrm>
              <a:off x="3997" y="2074"/>
              <a:ext cx="13" cy="233"/>
            </a:xfrm>
            <a:prstGeom prst="rect">
              <a:avLst/>
            </a:prstGeom>
            <a:solidFill>
              <a:srgbClr val="000000"/>
            </a:solidFill>
            <a:ln w="9525">
              <a:noFill/>
              <a:miter lim="800000"/>
              <a:headEnd/>
              <a:tailEnd/>
            </a:ln>
          </p:spPr>
          <p:txBody>
            <a:bodyPr/>
            <a:lstStyle/>
            <a:p>
              <a:endParaRPr lang="zh-CN" altLang="en-US" b="1">
                <a:latin typeface="+mj-ea"/>
                <a:ea typeface="+mj-ea"/>
              </a:endParaRPr>
            </a:p>
          </p:txBody>
        </p:sp>
        <p:sp>
          <p:nvSpPr>
            <p:cNvPr id="73865" name="Line 149"/>
            <p:cNvSpPr>
              <a:spLocks noChangeShapeType="1"/>
            </p:cNvSpPr>
            <p:nvPr/>
          </p:nvSpPr>
          <p:spPr bwMode="auto">
            <a:xfrm>
              <a:off x="3997" y="2074"/>
              <a:ext cx="1" cy="233"/>
            </a:xfrm>
            <a:prstGeom prst="line">
              <a:avLst/>
            </a:prstGeom>
            <a:noFill/>
            <a:ln w="0">
              <a:solidFill>
                <a:srgbClr val="000000"/>
              </a:solidFill>
              <a:round/>
              <a:headEnd/>
              <a:tailEnd/>
            </a:ln>
          </p:spPr>
          <p:txBody>
            <a:bodyPr/>
            <a:lstStyle/>
            <a:p>
              <a:endParaRPr lang="zh-CN" altLang="en-US" b="1">
                <a:latin typeface="+mj-ea"/>
                <a:ea typeface="+mj-ea"/>
              </a:endParaRPr>
            </a:p>
          </p:txBody>
        </p:sp>
        <p:sp>
          <p:nvSpPr>
            <p:cNvPr id="73866" name="Rectangle 150"/>
            <p:cNvSpPr>
              <a:spLocks noChangeArrowheads="1"/>
            </p:cNvSpPr>
            <p:nvPr/>
          </p:nvSpPr>
          <p:spPr bwMode="auto">
            <a:xfrm>
              <a:off x="3079" y="2372"/>
              <a:ext cx="83" cy="148"/>
            </a:xfrm>
            <a:prstGeom prst="rect">
              <a:avLst/>
            </a:prstGeom>
            <a:noFill/>
            <a:ln w="9525">
              <a:noFill/>
              <a:miter lim="800000"/>
              <a:headEnd/>
              <a:tailEnd/>
            </a:ln>
          </p:spPr>
          <p:txBody>
            <a:bodyPr wrap="none" lIns="0" tIns="0" rIns="0" bIns="0">
              <a:spAutoFit/>
            </a:bodyPr>
            <a:lstStyle/>
            <a:p>
              <a:pPr algn="l"/>
              <a:r>
                <a:rPr lang="en-US" altLang="zh-CN" sz="2000" b="1">
                  <a:latin typeface="+mj-ea"/>
                  <a:ea typeface="+mj-ea"/>
                </a:rPr>
                <a:t>0</a:t>
              </a:r>
            </a:p>
          </p:txBody>
        </p:sp>
        <p:sp>
          <p:nvSpPr>
            <p:cNvPr id="73867" name="Rectangle 151"/>
            <p:cNvSpPr>
              <a:spLocks noChangeArrowheads="1"/>
            </p:cNvSpPr>
            <p:nvPr/>
          </p:nvSpPr>
          <p:spPr bwMode="auto">
            <a:xfrm>
              <a:off x="3160" y="2372"/>
              <a:ext cx="83" cy="148"/>
            </a:xfrm>
            <a:prstGeom prst="rect">
              <a:avLst/>
            </a:prstGeom>
            <a:noFill/>
            <a:ln w="9525">
              <a:noFill/>
              <a:miter lim="800000"/>
              <a:headEnd/>
              <a:tailEnd/>
            </a:ln>
          </p:spPr>
          <p:txBody>
            <a:bodyPr wrap="none" lIns="0" tIns="0" rIns="0" bIns="0">
              <a:spAutoFit/>
            </a:bodyPr>
            <a:lstStyle/>
            <a:p>
              <a:pPr algn="l"/>
              <a:r>
                <a:rPr lang="en-US" altLang="zh-CN" sz="2000" b="1">
                  <a:latin typeface="+mj-ea"/>
                  <a:ea typeface="+mj-ea"/>
                </a:rPr>
                <a:t> </a:t>
              </a:r>
            </a:p>
          </p:txBody>
        </p:sp>
        <p:sp>
          <p:nvSpPr>
            <p:cNvPr id="73868" name="Rectangle 152"/>
            <p:cNvSpPr>
              <a:spLocks noChangeArrowheads="1"/>
            </p:cNvSpPr>
            <p:nvPr/>
          </p:nvSpPr>
          <p:spPr bwMode="auto">
            <a:xfrm>
              <a:off x="3675" y="2372"/>
              <a:ext cx="83" cy="148"/>
            </a:xfrm>
            <a:prstGeom prst="rect">
              <a:avLst/>
            </a:prstGeom>
            <a:noFill/>
            <a:ln w="9525">
              <a:noFill/>
              <a:miter lim="800000"/>
              <a:headEnd/>
              <a:tailEnd/>
            </a:ln>
          </p:spPr>
          <p:txBody>
            <a:bodyPr wrap="none" lIns="0" tIns="0" rIns="0" bIns="0">
              <a:spAutoFit/>
            </a:bodyPr>
            <a:lstStyle/>
            <a:p>
              <a:pPr algn="l"/>
              <a:r>
                <a:rPr lang="en-US" altLang="zh-CN" sz="2000" b="1">
                  <a:latin typeface="+mj-ea"/>
                  <a:ea typeface="+mj-ea"/>
                </a:rPr>
                <a:t>1</a:t>
              </a:r>
            </a:p>
          </p:txBody>
        </p:sp>
        <p:sp>
          <p:nvSpPr>
            <p:cNvPr id="73869" name="Rectangle 153"/>
            <p:cNvSpPr>
              <a:spLocks noChangeArrowheads="1"/>
            </p:cNvSpPr>
            <p:nvPr/>
          </p:nvSpPr>
          <p:spPr bwMode="auto">
            <a:xfrm>
              <a:off x="3756" y="2372"/>
              <a:ext cx="83" cy="148"/>
            </a:xfrm>
            <a:prstGeom prst="rect">
              <a:avLst/>
            </a:prstGeom>
            <a:noFill/>
            <a:ln w="9525">
              <a:noFill/>
              <a:miter lim="800000"/>
              <a:headEnd/>
              <a:tailEnd/>
            </a:ln>
          </p:spPr>
          <p:txBody>
            <a:bodyPr wrap="none" lIns="0" tIns="0" rIns="0" bIns="0">
              <a:spAutoFit/>
            </a:bodyPr>
            <a:lstStyle/>
            <a:p>
              <a:pPr algn="l"/>
              <a:r>
                <a:rPr lang="en-US" altLang="zh-CN" sz="2000" b="1">
                  <a:latin typeface="+mj-ea"/>
                  <a:ea typeface="+mj-ea"/>
                </a:rPr>
                <a:t> </a:t>
              </a:r>
            </a:p>
          </p:txBody>
        </p:sp>
        <p:sp>
          <p:nvSpPr>
            <p:cNvPr id="73870" name="Rectangle 154"/>
            <p:cNvSpPr>
              <a:spLocks noChangeArrowheads="1"/>
            </p:cNvSpPr>
            <p:nvPr/>
          </p:nvSpPr>
          <p:spPr bwMode="auto">
            <a:xfrm>
              <a:off x="4283" y="2372"/>
              <a:ext cx="83" cy="148"/>
            </a:xfrm>
            <a:prstGeom prst="rect">
              <a:avLst/>
            </a:prstGeom>
            <a:noFill/>
            <a:ln w="9525">
              <a:noFill/>
              <a:miter lim="800000"/>
              <a:headEnd/>
              <a:tailEnd/>
            </a:ln>
          </p:spPr>
          <p:txBody>
            <a:bodyPr wrap="none" lIns="0" tIns="0" rIns="0" bIns="0">
              <a:spAutoFit/>
            </a:bodyPr>
            <a:lstStyle/>
            <a:p>
              <a:pPr algn="l"/>
              <a:r>
                <a:rPr lang="en-US" altLang="zh-CN" sz="2000" b="1">
                  <a:latin typeface="+mj-ea"/>
                  <a:ea typeface="+mj-ea"/>
                </a:rPr>
                <a:t>1</a:t>
              </a:r>
            </a:p>
          </p:txBody>
        </p:sp>
        <p:sp>
          <p:nvSpPr>
            <p:cNvPr id="73871" name="Rectangle 155"/>
            <p:cNvSpPr>
              <a:spLocks noChangeArrowheads="1"/>
            </p:cNvSpPr>
            <p:nvPr/>
          </p:nvSpPr>
          <p:spPr bwMode="auto">
            <a:xfrm>
              <a:off x="4364" y="2372"/>
              <a:ext cx="83" cy="148"/>
            </a:xfrm>
            <a:prstGeom prst="rect">
              <a:avLst/>
            </a:prstGeom>
            <a:noFill/>
            <a:ln w="9525">
              <a:noFill/>
              <a:miter lim="800000"/>
              <a:headEnd/>
              <a:tailEnd/>
            </a:ln>
          </p:spPr>
          <p:txBody>
            <a:bodyPr wrap="none" lIns="0" tIns="0" rIns="0" bIns="0">
              <a:spAutoFit/>
            </a:bodyPr>
            <a:lstStyle/>
            <a:p>
              <a:pPr algn="l"/>
              <a:r>
                <a:rPr lang="en-US" altLang="zh-CN" sz="2000" b="1">
                  <a:latin typeface="+mj-ea"/>
                  <a:ea typeface="+mj-ea"/>
                </a:rPr>
                <a:t> </a:t>
              </a:r>
            </a:p>
          </p:txBody>
        </p:sp>
        <p:sp>
          <p:nvSpPr>
            <p:cNvPr id="73872" name="Rectangle 156"/>
            <p:cNvSpPr>
              <a:spLocks noChangeArrowheads="1"/>
            </p:cNvSpPr>
            <p:nvPr/>
          </p:nvSpPr>
          <p:spPr bwMode="auto">
            <a:xfrm>
              <a:off x="3997" y="2309"/>
              <a:ext cx="13" cy="233"/>
            </a:xfrm>
            <a:prstGeom prst="rect">
              <a:avLst/>
            </a:prstGeom>
            <a:solidFill>
              <a:srgbClr val="000000"/>
            </a:solidFill>
            <a:ln w="9525">
              <a:noFill/>
              <a:miter lim="800000"/>
              <a:headEnd/>
              <a:tailEnd/>
            </a:ln>
          </p:spPr>
          <p:txBody>
            <a:bodyPr/>
            <a:lstStyle/>
            <a:p>
              <a:endParaRPr lang="zh-CN" altLang="en-US" b="1">
                <a:latin typeface="+mj-ea"/>
                <a:ea typeface="+mj-ea"/>
              </a:endParaRPr>
            </a:p>
          </p:txBody>
        </p:sp>
        <p:sp>
          <p:nvSpPr>
            <p:cNvPr id="73873" name="Line 157"/>
            <p:cNvSpPr>
              <a:spLocks noChangeShapeType="1"/>
            </p:cNvSpPr>
            <p:nvPr/>
          </p:nvSpPr>
          <p:spPr bwMode="auto">
            <a:xfrm>
              <a:off x="3997" y="2309"/>
              <a:ext cx="1" cy="233"/>
            </a:xfrm>
            <a:prstGeom prst="line">
              <a:avLst/>
            </a:prstGeom>
            <a:noFill/>
            <a:ln w="0">
              <a:solidFill>
                <a:srgbClr val="000000"/>
              </a:solidFill>
              <a:round/>
              <a:headEnd/>
              <a:tailEnd/>
            </a:ln>
          </p:spPr>
          <p:txBody>
            <a:bodyPr/>
            <a:lstStyle/>
            <a:p>
              <a:endParaRPr lang="zh-CN" altLang="en-US" b="1">
                <a:latin typeface="+mj-ea"/>
                <a:ea typeface="+mj-ea"/>
              </a:endParaRPr>
            </a:p>
          </p:txBody>
        </p:sp>
        <p:sp>
          <p:nvSpPr>
            <p:cNvPr id="73874" name="Rectangle 158"/>
            <p:cNvSpPr>
              <a:spLocks noChangeArrowheads="1"/>
            </p:cNvSpPr>
            <p:nvPr/>
          </p:nvSpPr>
          <p:spPr bwMode="auto">
            <a:xfrm>
              <a:off x="3079" y="2605"/>
              <a:ext cx="83" cy="148"/>
            </a:xfrm>
            <a:prstGeom prst="rect">
              <a:avLst/>
            </a:prstGeom>
            <a:noFill/>
            <a:ln w="9525">
              <a:noFill/>
              <a:miter lim="800000"/>
              <a:headEnd/>
              <a:tailEnd/>
            </a:ln>
          </p:spPr>
          <p:txBody>
            <a:bodyPr wrap="none" lIns="0" tIns="0" rIns="0" bIns="0">
              <a:spAutoFit/>
            </a:bodyPr>
            <a:lstStyle/>
            <a:p>
              <a:pPr algn="l"/>
              <a:r>
                <a:rPr lang="en-US" altLang="zh-CN" sz="2000" b="1">
                  <a:latin typeface="+mj-ea"/>
                  <a:ea typeface="+mj-ea"/>
                </a:rPr>
                <a:t>1</a:t>
              </a:r>
            </a:p>
          </p:txBody>
        </p:sp>
        <p:sp>
          <p:nvSpPr>
            <p:cNvPr id="73875" name="Rectangle 159"/>
            <p:cNvSpPr>
              <a:spLocks noChangeArrowheads="1"/>
            </p:cNvSpPr>
            <p:nvPr/>
          </p:nvSpPr>
          <p:spPr bwMode="auto">
            <a:xfrm>
              <a:off x="3160" y="2605"/>
              <a:ext cx="83" cy="148"/>
            </a:xfrm>
            <a:prstGeom prst="rect">
              <a:avLst/>
            </a:prstGeom>
            <a:noFill/>
            <a:ln w="9525">
              <a:noFill/>
              <a:miter lim="800000"/>
              <a:headEnd/>
              <a:tailEnd/>
            </a:ln>
          </p:spPr>
          <p:txBody>
            <a:bodyPr wrap="none" lIns="0" tIns="0" rIns="0" bIns="0">
              <a:spAutoFit/>
            </a:bodyPr>
            <a:lstStyle/>
            <a:p>
              <a:pPr algn="l"/>
              <a:r>
                <a:rPr lang="en-US" altLang="zh-CN" sz="2000" b="1">
                  <a:latin typeface="+mj-ea"/>
                  <a:ea typeface="+mj-ea"/>
                </a:rPr>
                <a:t> </a:t>
              </a:r>
            </a:p>
          </p:txBody>
        </p:sp>
        <p:sp>
          <p:nvSpPr>
            <p:cNvPr id="73876" name="Rectangle 160"/>
            <p:cNvSpPr>
              <a:spLocks noChangeArrowheads="1"/>
            </p:cNvSpPr>
            <p:nvPr/>
          </p:nvSpPr>
          <p:spPr bwMode="auto">
            <a:xfrm>
              <a:off x="3675" y="2605"/>
              <a:ext cx="83" cy="148"/>
            </a:xfrm>
            <a:prstGeom prst="rect">
              <a:avLst/>
            </a:prstGeom>
            <a:noFill/>
            <a:ln w="9525">
              <a:noFill/>
              <a:miter lim="800000"/>
              <a:headEnd/>
              <a:tailEnd/>
            </a:ln>
          </p:spPr>
          <p:txBody>
            <a:bodyPr wrap="none" lIns="0" tIns="0" rIns="0" bIns="0">
              <a:spAutoFit/>
            </a:bodyPr>
            <a:lstStyle/>
            <a:p>
              <a:pPr algn="l"/>
              <a:r>
                <a:rPr lang="en-US" altLang="zh-CN" sz="2000" b="1">
                  <a:latin typeface="+mj-ea"/>
                  <a:ea typeface="+mj-ea"/>
                </a:rPr>
                <a:t>0</a:t>
              </a:r>
            </a:p>
          </p:txBody>
        </p:sp>
        <p:sp>
          <p:nvSpPr>
            <p:cNvPr id="73877" name="Rectangle 161"/>
            <p:cNvSpPr>
              <a:spLocks noChangeArrowheads="1"/>
            </p:cNvSpPr>
            <p:nvPr/>
          </p:nvSpPr>
          <p:spPr bwMode="auto">
            <a:xfrm>
              <a:off x="3756" y="2605"/>
              <a:ext cx="83" cy="148"/>
            </a:xfrm>
            <a:prstGeom prst="rect">
              <a:avLst/>
            </a:prstGeom>
            <a:noFill/>
            <a:ln w="9525">
              <a:noFill/>
              <a:miter lim="800000"/>
              <a:headEnd/>
              <a:tailEnd/>
            </a:ln>
          </p:spPr>
          <p:txBody>
            <a:bodyPr wrap="none" lIns="0" tIns="0" rIns="0" bIns="0">
              <a:spAutoFit/>
            </a:bodyPr>
            <a:lstStyle/>
            <a:p>
              <a:pPr algn="l"/>
              <a:r>
                <a:rPr lang="en-US" altLang="zh-CN" sz="2000" b="1">
                  <a:latin typeface="+mj-ea"/>
                  <a:ea typeface="+mj-ea"/>
                </a:rPr>
                <a:t> </a:t>
              </a:r>
            </a:p>
          </p:txBody>
        </p:sp>
        <p:sp>
          <p:nvSpPr>
            <p:cNvPr id="73878" name="Rectangle 162"/>
            <p:cNvSpPr>
              <a:spLocks noChangeArrowheads="1"/>
            </p:cNvSpPr>
            <p:nvPr/>
          </p:nvSpPr>
          <p:spPr bwMode="auto">
            <a:xfrm>
              <a:off x="4283" y="2605"/>
              <a:ext cx="83" cy="148"/>
            </a:xfrm>
            <a:prstGeom prst="rect">
              <a:avLst/>
            </a:prstGeom>
            <a:noFill/>
            <a:ln w="9525">
              <a:noFill/>
              <a:miter lim="800000"/>
              <a:headEnd/>
              <a:tailEnd/>
            </a:ln>
          </p:spPr>
          <p:txBody>
            <a:bodyPr wrap="none" lIns="0" tIns="0" rIns="0" bIns="0">
              <a:spAutoFit/>
            </a:bodyPr>
            <a:lstStyle/>
            <a:p>
              <a:pPr algn="l"/>
              <a:r>
                <a:rPr lang="en-US" altLang="zh-CN" sz="2000" b="1">
                  <a:latin typeface="+mj-ea"/>
                  <a:ea typeface="+mj-ea"/>
                </a:rPr>
                <a:t>1</a:t>
              </a:r>
            </a:p>
          </p:txBody>
        </p:sp>
        <p:sp>
          <p:nvSpPr>
            <p:cNvPr id="73879" name="Rectangle 163"/>
            <p:cNvSpPr>
              <a:spLocks noChangeArrowheads="1"/>
            </p:cNvSpPr>
            <p:nvPr/>
          </p:nvSpPr>
          <p:spPr bwMode="auto">
            <a:xfrm>
              <a:off x="4364" y="2605"/>
              <a:ext cx="83" cy="148"/>
            </a:xfrm>
            <a:prstGeom prst="rect">
              <a:avLst/>
            </a:prstGeom>
            <a:noFill/>
            <a:ln w="9525">
              <a:noFill/>
              <a:miter lim="800000"/>
              <a:headEnd/>
              <a:tailEnd/>
            </a:ln>
          </p:spPr>
          <p:txBody>
            <a:bodyPr wrap="none" lIns="0" tIns="0" rIns="0" bIns="0">
              <a:spAutoFit/>
            </a:bodyPr>
            <a:lstStyle/>
            <a:p>
              <a:pPr algn="l"/>
              <a:r>
                <a:rPr lang="en-US" altLang="zh-CN" sz="2000" b="1">
                  <a:latin typeface="+mj-ea"/>
                  <a:ea typeface="+mj-ea"/>
                </a:rPr>
                <a:t> </a:t>
              </a:r>
            </a:p>
          </p:txBody>
        </p:sp>
        <p:sp>
          <p:nvSpPr>
            <p:cNvPr id="73880" name="Rectangle 164"/>
            <p:cNvSpPr>
              <a:spLocks noChangeArrowheads="1"/>
            </p:cNvSpPr>
            <p:nvPr/>
          </p:nvSpPr>
          <p:spPr bwMode="auto">
            <a:xfrm>
              <a:off x="3997" y="2542"/>
              <a:ext cx="13" cy="236"/>
            </a:xfrm>
            <a:prstGeom prst="rect">
              <a:avLst/>
            </a:prstGeom>
            <a:solidFill>
              <a:srgbClr val="000000"/>
            </a:solidFill>
            <a:ln w="9525">
              <a:noFill/>
              <a:miter lim="800000"/>
              <a:headEnd/>
              <a:tailEnd/>
            </a:ln>
          </p:spPr>
          <p:txBody>
            <a:bodyPr/>
            <a:lstStyle/>
            <a:p>
              <a:endParaRPr lang="zh-CN" altLang="en-US" b="1">
                <a:latin typeface="+mj-ea"/>
                <a:ea typeface="+mj-ea"/>
              </a:endParaRPr>
            </a:p>
          </p:txBody>
        </p:sp>
        <p:sp>
          <p:nvSpPr>
            <p:cNvPr id="73881" name="Line 165"/>
            <p:cNvSpPr>
              <a:spLocks noChangeShapeType="1"/>
            </p:cNvSpPr>
            <p:nvPr/>
          </p:nvSpPr>
          <p:spPr bwMode="auto">
            <a:xfrm>
              <a:off x="3997" y="2542"/>
              <a:ext cx="1" cy="236"/>
            </a:xfrm>
            <a:prstGeom prst="line">
              <a:avLst/>
            </a:prstGeom>
            <a:noFill/>
            <a:ln w="0">
              <a:solidFill>
                <a:srgbClr val="000000"/>
              </a:solidFill>
              <a:round/>
              <a:headEnd/>
              <a:tailEnd/>
            </a:ln>
          </p:spPr>
          <p:txBody>
            <a:bodyPr/>
            <a:lstStyle/>
            <a:p>
              <a:endParaRPr lang="zh-CN" altLang="en-US" b="1">
                <a:latin typeface="+mj-ea"/>
                <a:ea typeface="+mj-ea"/>
              </a:endParaRPr>
            </a:p>
          </p:txBody>
        </p:sp>
        <p:sp>
          <p:nvSpPr>
            <p:cNvPr id="73882" name="Rectangle 166"/>
            <p:cNvSpPr>
              <a:spLocks noChangeArrowheads="1"/>
            </p:cNvSpPr>
            <p:nvPr/>
          </p:nvSpPr>
          <p:spPr bwMode="auto">
            <a:xfrm>
              <a:off x="3079" y="2840"/>
              <a:ext cx="83" cy="148"/>
            </a:xfrm>
            <a:prstGeom prst="rect">
              <a:avLst/>
            </a:prstGeom>
            <a:noFill/>
            <a:ln w="9525">
              <a:noFill/>
              <a:miter lim="800000"/>
              <a:headEnd/>
              <a:tailEnd/>
            </a:ln>
          </p:spPr>
          <p:txBody>
            <a:bodyPr wrap="none" lIns="0" tIns="0" rIns="0" bIns="0">
              <a:spAutoFit/>
            </a:bodyPr>
            <a:lstStyle/>
            <a:p>
              <a:pPr algn="l"/>
              <a:r>
                <a:rPr lang="en-US" altLang="zh-CN" sz="2000" b="1">
                  <a:latin typeface="+mj-ea"/>
                  <a:ea typeface="+mj-ea"/>
                </a:rPr>
                <a:t>1</a:t>
              </a:r>
            </a:p>
          </p:txBody>
        </p:sp>
        <p:sp>
          <p:nvSpPr>
            <p:cNvPr id="73883" name="Rectangle 167"/>
            <p:cNvSpPr>
              <a:spLocks noChangeArrowheads="1"/>
            </p:cNvSpPr>
            <p:nvPr/>
          </p:nvSpPr>
          <p:spPr bwMode="auto">
            <a:xfrm>
              <a:off x="3160" y="2840"/>
              <a:ext cx="83" cy="148"/>
            </a:xfrm>
            <a:prstGeom prst="rect">
              <a:avLst/>
            </a:prstGeom>
            <a:noFill/>
            <a:ln w="9525">
              <a:noFill/>
              <a:miter lim="800000"/>
              <a:headEnd/>
              <a:tailEnd/>
            </a:ln>
          </p:spPr>
          <p:txBody>
            <a:bodyPr wrap="none" lIns="0" tIns="0" rIns="0" bIns="0">
              <a:spAutoFit/>
            </a:bodyPr>
            <a:lstStyle/>
            <a:p>
              <a:pPr algn="l"/>
              <a:r>
                <a:rPr lang="en-US" altLang="zh-CN" sz="2000" b="1">
                  <a:latin typeface="+mj-ea"/>
                  <a:ea typeface="+mj-ea"/>
                </a:rPr>
                <a:t> </a:t>
              </a:r>
            </a:p>
          </p:txBody>
        </p:sp>
        <p:sp>
          <p:nvSpPr>
            <p:cNvPr id="73884" name="Rectangle 168"/>
            <p:cNvSpPr>
              <a:spLocks noChangeArrowheads="1"/>
            </p:cNvSpPr>
            <p:nvPr/>
          </p:nvSpPr>
          <p:spPr bwMode="auto">
            <a:xfrm>
              <a:off x="3675" y="2840"/>
              <a:ext cx="83" cy="148"/>
            </a:xfrm>
            <a:prstGeom prst="rect">
              <a:avLst/>
            </a:prstGeom>
            <a:noFill/>
            <a:ln w="9525">
              <a:noFill/>
              <a:miter lim="800000"/>
              <a:headEnd/>
              <a:tailEnd/>
            </a:ln>
          </p:spPr>
          <p:txBody>
            <a:bodyPr wrap="none" lIns="0" tIns="0" rIns="0" bIns="0">
              <a:spAutoFit/>
            </a:bodyPr>
            <a:lstStyle/>
            <a:p>
              <a:pPr algn="l"/>
              <a:r>
                <a:rPr lang="en-US" altLang="zh-CN" sz="2000" b="1">
                  <a:latin typeface="+mj-ea"/>
                  <a:ea typeface="+mj-ea"/>
                </a:rPr>
                <a:t>1</a:t>
              </a:r>
            </a:p>
          </p:txBody>
        </p:sp>
        <p:sp>
          <p:nvSpPr>
            <p:cNvPr id="73885" name="Rectangle 169"/>
            <p:cNvSpPr>
              <a:spLocks noChangeArrowheads="1"/>
            </p:cNvSpPr>
            <p:nvPr/>
          </p:nvSpPr>
          <p:spPr bwMode="auto">
            <a:xfrm>
              <a:off x="3756" y="2840"/>
              <a:ext cx="83" cy="148"/>
            </a:xfrm>
            <a:prstGeom prst="rect">
              <a:avLst/>
            </a:prstGeom>
            <a:noFill/>
            <a:ln w="9525">
              <a:noFill/>
              <a:miter lim="800000"/>
              <a:headEnd/>
              <a:tailEnd/>
            </a:ln>
          </p:spPr>
          <p:txBody>
            <a:bodyPr wrap="none" lIns="0" tIns="0" rIns="0" bIns="0">
              <a:spAutoFit/>
            </a:bodyPr>
            <a:lstStyle/>
            <a:p>
              <a:pPr algn="l"/>
              <a:r>
                <a:rPr lang="en-US" altLang="zh-CN" sz="2000" b="1">
                  <a:latin typeface="+mj-ea"/>
                  <a:ea typeface="+mj-ea"/>
                </a:rPr>
                <a:t> </a:t>
              </a:r>
            </a:p>
          </p:txBody>
        </p:sp>
        <p:sp>
          <p:nvSpPr>
            <p:cNvPr id="73886" name="Rectangle 170"/>
            <p:cNvSpPr>
              <a:spLocks noChangeArrowheads="1"/>
            </p:cNvSpPr>
            <p:nvPr/>
          </p:nvSpPr>
          <p:spPr bwMode="auto">
            <a:xfrm>
              <a:off x="4283" y="2840"/>
              <a:ext cx="83" cy="148"/>
            </a:xfrm>
            <a:prstGeom prst="rect">
              <a:avLst/>
            </a:prstGeom>
            <a:noFill/>
            <a:ln w="9525">
              <a:noFill/>
              <a:miter lim="800000"/>
              <a:headEnd/>
              <a:tailEnd/>
            </a:ln>
          </p:spPr>
          <p:txBody>
            <a:bodyPr wrap="none" lIns="0" tIns="0" rIns="0" bIns="0">
              <a:spAutoFit/>
            </a:bodyPr>
            <a:lstStyle/>
            <a:p>
              <a:pPr algn="l"/>
              <a:r>
                <a:rPr lang="en-US" altLang="zh-CN" sz="2000" b="1">
                  <a:latin typeface="+mj-ea"/>
                  <a:ea typeface="+mj-ea"/>
                </a:rPr>
                <a:t>0</a:t>
              </a:r>
            </a:p>
          </p:txBody>
        </p:sp>
        <p:sp>
          <p:nvSpPr>
            <p:cNvPr id="73887" name="Rectangle 171"/>
            <p:cNvSpPr>
              <a:spLocks noChangeArrowheads="1"/>
            </p:cNvSpPr>
            <p:nvPr/>
          </p:nvSpPr>
          <p:spPr bwMode="auto">
            <a:xfrm>
              <a:off x="4364" y="2840"/>
              <a:ext cx="83" cy="148"/>
            </a:xfrm>
            <a:prstGeom prst="rect">
              <a:avLst/>
            </a:prstGeom>
            <a:noFill/>
            <a:ln w="9525">
              <a:noFill/>
              <a:miter lim="800000"/>
              <a:headEnd/>
              <a:tailEnd/>
            </a:ln>
          </p:spPr>
          <p:txBody>
            <a:bodyPr wrap="none" lIns="0" tIns="0" rIns="0" bIns="0">
              <a:spAutoFit/>
            </a:bodyPr>
            <a:lstStyle/>
            <a:p>
              <a:pPr algn="l"/>
              <a:r>
                <a:rPr lang="en-US" altLang="zh-CN" sz="2000" b="1">
                  <a:latin typeface="+mj-ea"/>
                  <a:ea typeface="+mj-ea"/>
                </a:rPr>
                <a:t> </a:t>
              </a:r>
            </a:p>
          </p:txBody>
        </p:sp>
        <p:sp>
          <p:nvSpPr>
            <p:cNvPr id="73888" name="Rectangle 172"/>
            <p:cNvSpPr>
              <a:spLocks noChangeArrowheads="1"/>
            </p:cNvSpPr>
            <p:nvPr/>
          </p:nvSpPr>
          <p:spPr bwMode="auto">
            <a:xfrm>
              <a:off x="2806" y="3015"/>
              <a:ext cx="619" cy="24"/>
            </a:xfrm>
            <a:prstGeom prst="rect">
              <a:avLst/>
            </a:prstGeom>
            <a:solidFill>
              <a:srgbClr val="000000"/>
            </a:solidFill>
            <a:ln w="9525">
              <a:noFill/>
              <a:miter lim="800000"/>
              <a:headEnd/>
              <a:tailEnd/>
            </a:ln>
          </p:spPr>
          <p:txBody>
            <a:bodyPr/>
            <a:lstStyle/>
            <a:p>
              <a:endParaRPr lang="zh-CN" altLang="en-US" b="1">
                <a:latin typeface="+mj-ea"/>
                <a:ea typeface="+mj-ea"/>
              </a:endParaRPr>
            </a:p>
          </p:txBody>
        </p:sp>
        <p:sp>
          <p:nvSpPr>
            <p:cNvPr id="73889" name="Line 173"/>
            <p:cNvSpPr>
              <a:spLocks noChangeShapeType="1"/>
            </p:cNvSpPr>
            <p:nvPr/>
          </p:nvSpPr>
          <p:spPr bwMode="auto">
            <a:xfrm>
              <a:off x="2806" y="3015"/>
              <a:ext cx="619" cy="1"/>
            </a:xfrm>
            <a:prstGeom prst="line">
              <a:avLst/>
            </a:prstGeom>
            <a:noFill/>
            <a:ln w="0">
              <a:solidFill>
                <a:srgbClr val="000000"/>
              </a:solidFill>
              <a:round/>
              <a:headEnd/>
              <a:tailEnd/>
            </a:ln>
          </p:spPr>
          <p:txBody>
            <a:bodyPr/>
            <a:lstStyle/>
            <a:p>
              <a:endParaRPr lang="zh-CN" altLang="en-US" b="1">
                <a:latin typeface="+mj-ea"/>
                <a:ea typeface="+mj-ea"/>
              </a:endParaRPr>
            </a:p>
          </p:txBody>
        </p:sp>
        <p:sp>
          <p:nvSpPr>
            <p:cNvPr id="73890" name="Rectangle 174"/>
            <p:cNvSpPr>
              <a:spLocks noChangeArrowheads="1"/>
            </p:cNvSpPr>
            <p:nvPr/>
          </p:nvSpPr>
          <p:spPr bwMode="auto">
            <a:xfrm>
              <a:off x="3425" y="3015"/>
              <a:ext cx="26" cy="24"/>
            </a:xfrm>
            <a:prstGeom prst="rect">
              <a:avLst/>
            </a:prstGeom>
            <a:solidFill>
              <a:srgbClr val="000000"/>
            </a:solidFill>
            <a:ln w="9525">
              <a:noFill/>
              <a:miter lim="800000"/>
              <a:headEnd/>
              <a:tailEnd/>
            </a:ln>
          </p:spPr>
          <p:txBody>
            <a:bodyPr/>
            <a:lstStyle/>
            <a:p>
              <a:endParaRPr lang="zh-CN" altLang="en-US" b="1">
                <a:latin typeface="+mj-ea"/>
                <a:ea typeface="+mj-ea"/>
              </a:endParaRPr>
            </a:p>
          </p:txBody>
        </p:sp>
        <p:sp>
          <p:nvSpPr>
            <p:cNvPr id="73891" name="Line 175"/>
            <p:cNvSpPr>
              <a:spLocks noChangeShapeType="1"/>
            </p:cNvSpPr>
            <p:nvPr/>
          </p:nvSpPr>
          <p:spPr bwMode="auto">
            <a:xfrm>
              <a:off x="3425" y="3015"/>
              <a:ext cx="26" cy="1"/>
            </a:xfrm>
            <a:prstGeom prst="line">
              <a:avLst/>
            </a:prstGeom>
            <a:noFill/>
            <a:ln w="0">
              <a:solidFill>
                <a:srgbClr val="000000"/>
              </a:solidFill>
              <a:round/>
              <a:headEnd/>
              <a:tailEnd/>
            </a:ln>
          </p:spPr>
          <p:txBody>
            <a:bodyPr/>
            <a:lstStyle/>
            <a:p>
              <a:endParaRPr lang="zh-CN" altLang="en-US" b="1">
                <a:latin typeface="+mj-ea"/>
                <a:ea typeface="+mj-ea"/>
              </a:endParaRPr>
            </a:p>
          </p:txBody>
        </p:sp>
        <p:sp>
          <p:nvSpPr>
            <p:cNvPr id="73892" name="Line 176"/>
            <p:cNvSpPr>
              <a:spLocks noChangeShapeType="1"/>
            </p:cNvSpPr>
            <p:nvPr/>
          </p:nvSpPr>
          <p:spPr bwMode="auto">
            <a:xfrm>
              <a:off x="3425" y="3015"/>
              <a:ext cx="1" cy="24"/>
            </a:xfrm>
            <a:prstGeom prst="line">
              <a:avLst/>
            </a:prstGeom>
            <a:noFill/>
            <a:ln w="0">
              <a:solidFill>
                <a:srgbClr val="000000"/>
              </a:solidFill>
              <a:round/>
              <a:headEnd/>
              <a:tailEnd/>
            </a:ln>
          </p:spPr>
          <p:txBody>
            <a:bodyPr/>
            <a:lstStyle/>
            <a:p>
              <a:endParaRPr lang="zh-CN" altLang="en-US" b="1">
                <a:latin typeface="+mj-ea"/>
                <a:ea typeface="+mj-ea"/>
              </a:endParaRPr>
            </a:p>
          </p:txBody>
        </p:sp>
        <p:sp>
          <p:nvSpPr>
            <p:cNvPr id="73893" name="Rectangle 177"/>
            <p:cNvSpPr>
              <a:spLocks noChangeArrowheads="1"/>
            </p:cNvSpPr>
            <p:nvPr/>
          </p:nvSpPr>
          <p:spPr bwMode="auto">
            <a:xfrm>
              <a:off x="3451" y="3015"/>
              <a:ext cx="546" cy="24"/>
            </a:xfrm>
            <a:prstGeom prst="rect">
              <a:avLst/>
            </a:prstGeom>
            <a:solidFill>
              <a:srgbClr val="000000"/>
            </a:solidFill>
            <a:ln w="9525">
              <a:noFill/>
              <a:miter lim="800000"/>
              <a:headEnd/>
              <a:tailEnd/>
            </a:ln>
          </p:spPr>
          <p:txBody>
            <a:bodyPr/>
            <a:lstStyle/>
            <a:p>
              <a:endParaRPr lang="zh-CN" altLang="en-US" b="1">
                <a:latin typeface="+mj-ea"/>
                <a:ea typeface="+mj-ea"/>
              </a:endParaRPr>
            </a:p>
          </p:txBody>
        </p:sp>
        <p:sp>
          <p:nvSpPr>
            <p:cNvPr id="73894" name="Line 178"/>
            <p:cNvSpPr>
              <a:spLocks noChangeShapeType="1"/>
            </p:cNvSpPr>
            <p:nvPr/>
          </p:nvSpPr>
          <p:spPr bwMode="auto">
            <a:xfrm>
              <a:off x="3451" y="3015"/>
              <a:ext cx="546" cy="1"/>
            </a:xfrm>
            <a:prstGeom prst="line">
              <a:avLst/>
            </a:prstGeom>
            <a:noFill/>
            <a:ln w="0">
              <a:solidFill>
                <a:srgbClr val="000000"/>
              </a:solidFill>
              <a:round/>
              <a:headEnd/>
              <a:tailEnd/>
            </a:ln>
          </p:spPr>
          <p:txBody>
            <a:bodyPr/>
            <a:lstStyle/>
            <a:p>
              <a:endParaRPr lang="zh-CN" altLang="en-US" b="1">
                <a:latin typeface="+mj-ea"/>
                <a:ea typeface="+mj-ea"/>
              </a:endParaRPr>
            </a:p>
          </p:txBody>
        </p:sp>
        <p:sp>
          <p:nvSpPr>
            <p:cNvPr id="73895" name="Rectangle 179"/>
            <p:cNvSpPr>
              <a:spLocks noChangeArrowheads="1"/>
            </p:cNvSpPr>
            <p:nvPr/>
          </p:nvSpPr>
          <p:spPr bwMode="auto">
            <a:xfrm>
              <a:off x="3997" y="2778"/>
              <a:ext cx="13" cy="237"/>
            </a:xfrm>
            <a:prstGeom prst="rect">
              <a:avLst/>
            </a:prstGeom>
            <a:solidFill>
              <a:srgbClr val="000000"/>
            </a:solidFill>
            <a:ln w="9525">
              <a:noFill/>
              <a:miter lim="800000"/>
              <a:headEnd/>
              <a:tailEnd/>
            </a:ln>
          </p:spPr>
          <p:txBody>
            <a:bodyPr/>
            <a:lstStyle/>
            <a:p>
              <a:endParaRPr lang="zh-CN" altLang="en-US" b="1">
                <a:latin typeface="+mj-ea"/>
                <a:ea typeface="+mj-ea"/>
              </a:endParaRPr>
            </a:p>
          </p:txBody>
        </p:sp>
        <p:sp>
          <p:nvSpPr>
            <p:cNvPr id="73896" name="Line 180"/>
            <p:cNvSpPr>
              <a:spLocks noChangeShapeType="1"/>
            </p:cNvSpPr>
            <p:nvPr/>
          </p:nvSpPr>
          <p:spPr bwMode="auto">
            <a:xfrm>
              <a:off x="3997" y="2778"/>
              <a:ext cx="1" cy="237"/>
            </a:xfrm>
            <a:prstGeom prst="line">
              <a:avLst/>
            </a:prstGeom>
            <a:noFill/>
            <a:ln w="0">
              <a:solidFill>
                <a:srgbClr val="000000"/>
              </a:solidFill>
              <a:round/>
              <a:headEnd/>
              <a:tailEnd/>
            </a:ln>
          </p:spPr>
          <p:txBody>
            <a:bodyPr/>
            <a:lstStyle/>
            <a:p>
              <a:endParaRPr lang="zh-CN" altLang="en-US" b="1">
                <a:latin typeface="+mj-ea"/>
                <a:ea typeface="+mj-ea"/>
              </a:endParaRPr>
            </a:p>
          </p:txBody>
        </p:sp>
        <p:sp>
          <p:nvSpPr>
            <p:cNvPr id="73897" name="Rectangle 181"/>
            <p:cNvSpPr>
              <a:spLocks noChangeArrowheads="1"/>
            </p:cNvSpPr>
            <p:nvPr/>
          </p:nvSpPr>
          <p:spPr bwMode="auto">
            <a:xfrm>
              <a:off x="3997" y="3015"/>
              <a:ext cx="25" cy="24"/>
            </a:xfrm>
            <a:prstGeom prst="rect">
              <a:avLst/>
            </a:prstGeom>
            <a:solidFill>
              <a:srgbClr val="000000"/>
            </a:solidFill>
            <a:ln w="9525">
              <a:noFill/>
              <a:miter lim="800000"/>
              <a:headEnd/>
              <a:tailEnd/>
            </a:ln>
          </p:spPr>
          <p:txBody>
            <a:bodyPr/>
            <a:lstStyle/>
            <a:p>
              <a:endParaRPr lang="zh-CN" altLang="en-US" b="1">
                <a:latin typeface="+mj-ea"/>
                <a:ea typeface="+mj-ea"/>
              </a:endParaRPr>
            </a:p>
          </p:txBody>
        </p:sp>
        <p:sp>
          <p:nvSpPr>
            <p:cNvPr id="73898" name="Line 182"/>
            <p:cNvSpPr>
              <a:spLocks noChangeShapeType="1"/>
            </p:cNvSpPr>
            <p:nvPr/>
          </p:nvSpPr>
          <p:spPr bwMode="auto">
            <a:xfrm>
              <a:off x="3997" y="3015"/>
              <a:ext cx="25" cy="1"/>
            </a:xfrm>
            <a:prstGeom prst="line">
              <a:avLst/>
            </a:prstGeom>
            <a:noFill/>
            <a:ln w="0">
              <a:solidFill>
                <a:srgbClr val="000000"/>
              </a:solidFill>
              <a:round/>
              <a:headEnd/>
              <a:tailEnd/>
            </a:ln>
          </p:spPr>
          <p:txBody>
            <a:bodyPr/>
            <a:lstStyle/>
            <a:p>
              <a:endParaRPr lang="zh-CN" altLang="en-US" b="1">
                <a:latin typeface="+mj-ea"/>
                <a:ea typeface="+mj-ea"/>
              </a:endParaRPr>
            </a:p>
          </p:txBody>
        </p:sp>
        <p:sp>
          <p:nvSpPr>
            <p:cNvPr id="73899" name="Line 183"/>
            <p:cNvSpPr>
              <a:spLocks noChangeShapeType="1"/>
            </p:cNvSpPr>
            <p:nvPr/>
          </p:nvSpPr>
          <p:spPr bwMode="auto">
            <a:xfrm>
              <a:off x="3997" y="3015"/>
              <a:ext cx="1" cy="24"/>
            </a:xfrm>
            <a:prstGeom prst="line">
              <a:avLst/>
            </a:prstGeom>
            <a:noFill/>
            <a:ln w="0">
              <a:solidFill>
                <a:srgbClr val="000000"/>
              </a:solidFill>
              <a:round/>
              <a:headEnd/>
              <a:tailEnd/>
            </a:ln>
          </p:spPr>
          <p:txBody>
            <a:bodyPr/>
            <a:lstStyle/>
            <a:p>
              <a:endParaRPr lang="zh-CN" altLang="en-US" b="1">
                <a:latin typeface="+mj-ea"/>
                <a:ea typeface="+mj-ea"/>
              </a:endParaRPr>
            </a:p>
          </p:txBody>
        </p:sp>
        <p:sp>
          <p:nvSpPr>
            <p:cNvPr id="73900" name="Rectangle 184"/>
            <p:cNvSpPr>
              <a:spLocks noChangeArrowheads="1"/>
            </p:cNvSpPr>
            <p:nvPr/>
          </p:nvSpPr>
          <p:spPr bwMode="auto">
            <a:xfrm>
              <a:off x="4022" y="3015"/>
              <a:ext cx="615" cy="24"/>
            </a:xfrm>
            <a:prstGeom prst="rect">
              <a:avLst/>
            </a:prstGeom>
            <a:solidFill>
              <a:srgbClr val="000000"/>
            </a:solidFill>
            <a:ln w="9525">
              <a:noFill/>
              <a:miter lim="800000"/>
              <a:headEnd/>
              <a:tailEnd/>
            </a:ln>
          </p:spPr>
          <p:txBody>
            <a:bodyPr/>
            <a:lstStyle/>
            <a:p>
              <a:endParaRPr lang="zh-CN" altLang="en-US" b="1">
                <a:latin typeface="+mj-ea"/>
                <a:ea typeface="+mj-ea"/>
              </a:endParaRPr>
            </a:p>
          </p:txBody>
        </p:sp>
        <p:sp>
          <p:nvSpPr>
            <p:cNvPr id="73901" name="Line 185"/>
            <p:cNvSpPr>
              <a:spLocks noChangeShapeType="1"/>
            </p:cNvSpPr>
            <p:nvPr/>
          </p:nvSpPr>
          <p:spPr bwMode="auto">
            <a:xfrm>
              <a:off x="4022" y="3015"/>
              <a:ext cx="615" cy="1"/>
            </a:xfrm>
            <a:prstGeom prst="line">
              <a:avLst/>
            </a:prstGeom>
            <a:noFill/>
            <a:ln w="0">
              <a:solidFill>
                <a:srgbClr val="000000"/>
              </a:solidFill>
              <a:round/>
              <a:headEnd/>
              <a:tailEnd/>
            </a:ln>
          </p:spPr>
          <p:txBody>
            <a:bodyPr/>
            <a:lstStyle/>
            <a:p>
              <a:endParaRPr lang="zh-CN" altLang="en-US" b="1">
                <a:latin typeface="+mj-ea"/>
                <a:ea typeface="+mj-ea"/>
              </a:endParaRPr>
            </a:p>
          </p:txBody>
        </p:sp>
      </p:grpSp>
      <p:sp>
        <p:nvSpPr>
          <p:cNvPr id="384267" name="Rectangle 267"/>
          <p:cNvSpPr>
            <a:spLocks noChangeArrowheads="1"/>
          </p:cNvSpPr>
          <p:nvPr/>
        </p:nvSpPr>
        <p:spPr bwMode="auto">
          <a:xfrm>
            <a:off x="5724128" y="1412776"/>
            <a:ext cx="2520280" cy="307777"/>
          </a:xfrm>
          <a:prstGeom prst="rect">
            <a:avLst/>
          </a:prstGeom>
          <a:noFill/>
          <a:ln w="9525">
            <a:noFill/>
            <a:miter lim="800000"/>
            <a:headEnd/>
            <a:tailEnd/>
          </a:ln>
        </p:spPr>
        <p:txBody>
          <a:bodyPr wrap="square" lIns="0" tIns="0" rIns="0" bIns="0">
            <a:spAutoFit/>
          </a:bodyPr>
          <a:lstStyle/>
          <a:p>
            <a:pPr algn="l"/>
            <a:r>
              <a:rPr lang="zh-CN" altLang="en-US" sz="2000" b="1" dirty="0">
                <a:latin typeface="+mj-ea"/>
                <a:ea typeface="+mj-ea"/>
              </a:rPr>
              <a:t>采用正</a:t>
            </a:r>
            <a:r>
              <a:rPr lang="zh-CN" altLang="en-US" sz="2000" b="1" dirty="0" smtClean="0">
                <a:latin typeface="+mj-ea"/>
                <a:ea typeface="+mj-ea"/>
              </a:rPr>
              <a:t>逻辑 </a:t>
            </a:r>
            <a:r>
              <a:rPr lang="en-US" altLang="zh-CN" sz="2000" b="1" dirty="0" smtClean="0">
                <a:latin typeface="+mj-ea"/>
                <a:ea typeface="+mj-ea"/>
              </a:rPr>
              <a:t>:</a:t>
            </a:r>
            <a:r>
              <a:rPr lang="zh-CN" altLang="en-US" sz="2000" b="1" dirty="0" smtClean="0">
                <a:latin typeface="+mj-ea"/>
                <a:ea typeface="+mj-ea"/>
              </a:rPr>
              <a:t>与非门</a:t>
            </a:r>
            <a:endParaRPr lang="zh-CN" altLang="en-US" sz="2000" b="1" dirty="0">
              <a:latin typeface="+mj-ea"/>
              <a:ea typeface="+mj-ea"/>
            </a:endParaRPr>
          </a:p>
        </p:txBody>
      </p:sp>
      <p:sp>
        <p:nvSpPr>
          <p:cNvPr id="384269" name="Rectangle 269"/>
          <p:cNvSpPr>
            <a:spLocks noChangeArrowheads="1"/>
          </p:cNvSpPr>
          <p:nvPr/>
        </p:nvSpPr>
        <p:spPr bwMode="auto">
          <a:xfrm>
            <a:off x="5724128" y="4005064"/>
            <a:ext cx="2304256" cy="307777"/>
          </a:xfrm>
          <a:prstGeom prst="rect">
            <a:avLst/>
          </a:prstGeom>
          <a:noFill/>
          <a:ln w="9525">
            <a:noFill/>
            <a:miter lim="800000"/>
            <a:headEnd/>
            <a:tailEnd/>
          </a:ln>
        </p:spPr>
        <p:txBody>
          <a:bodyPr wrap="square" lIns="0" tIns="0" rIns="0" bIns="0">
            <a:spAutoFit/>
          </a:bodyPr>
          <a:lstStyle/>
          <a:p>
            <a:pPr algn="l"/>
            <a:r>
              <a:rPr lang="zh-CN" altLang="en-US" sz="2000" b="1" dirty="0">
                <a:latin typeface="+mj-ea"/>
                <a:ea typeface="+mj-ea"/>
              </a:rPr>
              <a:t>采用负</a:t>
            </a:r>
            <a:r>
              <a:rPr lang="zh-CN" altLang="en-US" sz="2000" b="1" dirty="0" smtClean="0">
                <a:latin typeface="+mj-ea"/>
                <a:ea typeface="+mj-ea"/>
              </a:rPr>
              <a:t>逻辑：或非门</a:t>
            </a:r>
            <a:endParaRPr lang="zh-CN" altLang="en-US" sz="2000" b="1" dirty="0">
              <a:latin typeface="+mj-ea"/>
              <a:ea typeface="+mj-ea"/>
            </a:endParaRPr>
          </a:p>
        </p:txBody>
      </p:sp>
      <p:sp>
        <p:nvSpPr>
          <p:cNvPr id="384270" name="Rectangle 270"/>
          <p:cNvSpPr>
            <a:spLocks noChangeArrowheads="1"/>
          </p:cNvSpPr>
          <p:nvPr/>
        </p:nvSpPr>
        <p:spPr bwMode="auto">
          <a:xfrm>
            <a:off x="899145" y="4866554"/>
            <a:ext cx="3529013" cy="683264"/>
          </a:xfrm>
          <a:prstGeom prst="rect">
            <a:avLst/>
          </a:prstGeom>
          <a:noFill/>
          <a:ln w="9525">
            <a:noFill/>
            <a:miter lim="800000"/>
            <a:headEnd/>
            <a:tailEnd/>
          </a:ln>
        </p:spPr>
        <p:txBody>
          <a:bodyPr anchor="ctr">
            <a:spAutoFit/>
          </a:bodyPr>
          <a:lstStyle/>
          <a:p>
            <a:pPr indent="269875">
              <a:lnSpc>
                <a:spcPct val="120000"/>
              </a:lnSpc>
            </a:pPr>
            <a:r>
              <a:rPr lang="zh-CN" altLang="en-US" sz="2400" b="1" dirty="0">
                <a:latin typeface="+mj-ea"/>
                <a:ea typeface="+mj-ea"/>
              </a:rPr>
              <a:t>与非  </a:t>
            </a:r>
            <a:r>
              <a:rPr lang="zh-CN" altLang="en-US" sz="3200" b="1" dirty="0">
                <a:latin typeface="+mj-ea"/>
                <a:ea typeface="+mj-ea"/>
                <a:sym typeface="Symbol" pitchFamily="18" charset="2"/>
              </a:rPr>
              <a:t> </a:t>
            </a:r>
            <a:r>
              <a:rPr lang="zh-CN" altLang="en-US" sz="2400" b="1" dirty="0">
                <a:latin typeface="+mj-ea"/>
                <a:ea typeface="+mj-ea"/>
                <a:sym typeface="Symbol" pitchFamily="18" charset="2"/>
              </a:rPr>
              <a:t> </a:t>
            </a:r>
            <a:r>
              <a:rPr lang="zh-CN" altLang="en-US" sz="2400" b="1" dirty="0" smtClean="0">
                <a:latin typeface="+mj-ea"/>
                <a:ea typeface="+mj-ea"/>
                <a:sym typeface="Symbol" pitchFamily="18" charset="2"/>
              </a:rPr>
              <a:t> </a:t>
            </a:r>
            <a:r>
              <a:rPr lang="zh-CN" altLang="en-US" sz="2400" b="1" dirty="0" smtClean="0">
                <a:latin typeface="+mj-ea"/>
                <a:ea typeface="+mj-ea"/>
              </a:rPr>
              <a:t>或</a:t>
            </a:r>
            <a:r>
              <a:rPr lang="zh-CN" altLang="en-US" sz="2400" b="1" dirty="0">
                <a:latin typeface="+mj-ea"/>
                <a:ea typeface="+mj-ea"/>
              </a:rPr>
              <a:t>非</a:t>
            </a:r>
            <a:endParaRPr lang="zh-CN" altLang="en-US" sz="2400" b="1" dirty="0">
              <a:latin typeface="+mj-ea"/>
              <a:ea typeface="+mj-ea"/>
              <a:sym typeface="Symbol" pitchFamily="18" charset="2"/>
            </a:endParaRPr>
          </a:p>
        </p:txBody>
      </p:sp>
      <p:grpSp>
        <p:nvGrpSpPr>
          <p:cNvPr id="5" name="Group 271"/>
          <p:cNvGrpSpPr>
            <a:grpSpLocks/>
          </p:cNvGrpSpPr>
          <p:nvPr/>
        </p:nvGrpSpPr>
        <p:grpSpPr bwMode="auto">
          <a:xfrm>
            <a:off x="1043608" y="4581128"/>
            <a:ext cx="2903538" cy="461963"/>
            <a:chOff x="91" y="2840"/>
            <a:chExt cx="1829" cy="291"/>
          </a:xfrm>
        </p:grpSpPr>
        <p:sp>
          <p:nvSpPr>
            <p:cNvPr id="73742" name="Rectangle 272"/>
            <p:cNvSpPr>
              <a:spLocks noChangeArrowheads="1"/>
            </p:cNvSpPr>
            <p:nvPr/>
          </p:nvSpPr>
          <p:spPr bwMode="auto">
            <a:xfrm>
              <a:off x="1225" y="2840"/>
              <a:ext cx="695" cy="288"/>
            </a:xfrm>
            <a:prstGeom prst="rect">
              <a:avLst/>
            </a:prstGeom>
            <a:noFill/>
            <a:ln w="9525">
              <a:noFill/>
              <a:miter lim="800000"/>
              <a:headEnd/>
              <a:tailEnd/>
            </a:ln>
          </p:spPr>
          <p:txBody>
            <a:bodyPr wrap="none">
              <a:spAutoFit/>
            </a:bodyPr>
            <a:lstStyle/>
            <a:p>
              <a:pPr algn="l"/>
              <a:r>
                <a:rPr lang="zh-CN" altLang="en-US" sz="2400" b="1" dirty="0">
                  <a:latin typeface="+mj-ea"/>
                  <a:ea typeface="+mj-ea"/>
                </a:rPr>
                <a:t>负逻辑</a:t>
              </a:r>
            </a:p>
          </p:txBody>
        </p:sp>
        <p:sp>
          <p:nvSpPr>
            <p:cNvPr id="73743" name="Rectangle 273"/>
            <p:cNvSpPr>
              <a:spLocks noChangeArrowheads="1"/>
            </p:cNvSpPr>
            <p:nvPr/>
          </p:nvSpPr>
          <p:spPr bwMode="auto">
            <a:xfrm>
              <a:off x="91" y="2840"/>
              <a:ext cx="701" cy="291"/>
            </a:xfrm>
            <a:prstGeom prst="rect">
              <a:avLst/>
            </a:prstGeom>
            <a:noFill/>
            <a:ln w="9525">
              <a:noFill/>
              <a:miter lim="800000"/>
              <a:headEnd/>
              <a:tailEnd/>
            </a:ln>
          </p:spPr>
          <p:txBody>
            <a:bodyPr wrap="none">
              <a:spAutoFit/>
            </a:bodyPr>
            <a:lstStyle/>
            <a:p>
              <a:pPr algn="l"/>
              <a:r>
                <a:rPr lang="zh-CN" altLang="en-US" sz="2400" b="1" dirty="0" smtClean="0">
                  <a:latin typeface="+mj-ea"/>
                  <a:ea typeface="+mj-ea"/>
                </a:rPr>
                <a:t>正</a:t>
              </a:r>
              <a:r>
                <a:rPr lang="zh-CN" altLang="en-US" sz="2400" b="1" dirty="0">
                  <a:latin typeface="+mj-ea"/>
                  <a:ea typeface="+mj-ea"/>
                </a:rPr>
                <a:t>逻辑</a:t>
              </a:r>
            </a:p>
          </p:txBody>
        </p:sp>
      </p:grpSp>
      <p:sp>
        <p:nvSpPr>
          <p:cNvPr id="384274" name="Rectangle 274"/>
          <p:cNvSpPr>
            <a:spLocks noChangeArrowheads="1"/>
          </p:cNvSpPr>
          <p:nvPr/>
        </p:nvSpPr>
        <p:spPr bwMode="auto">
          <a:xfrm>
            <a:off x="467544" y="1484784"/>
            <a:ext cx="3313112" cy="457200"/>
          </a:xfrm>
          <a:prstGeom prst="rect">
            <a:avLst/>
          </a:prstGeom>
          <a:noFill/>
          <a:ln w="9525">
            <a:noFill/>
            <a:miter lim="800000"/>
            <a:headEnd/>
            <a:tailEnd/>
          </a:ln>
        </p:spPr>
        <p:txBody>
          <a:bodyPr>
            <a:spAutoFit/>
          </a:bodyPr>
          <a:lstStyle/>
          <a:p>
            <a:pPr algn="l"/>
            <a:r>
              <a:rPr lang="en-US" altLang="zh-CN" sz="2400" b="1" dirty="0">
                <a:latin typeface="+mj-ea"/>
                <a:ea typeface="+mj-ea"/>
              </a:rPr>
              <a:t>2. </a:t>
            </a:r>
            <a:r>
              <a:rPr lang="zh-CN" altLang="en-US" sz="2400" b="1" dirty="0">
                <a:latin typeface="+mj-ea"/>
                <a:ea typeface="+mj-ea"/>
              </a:rPr>
              <a:t>正负逻辑等效变换 </a:t>
            </a:r>
          </a:p>
        </p:txBody>
      </p:sp>
      <p:sp>
        <p:nvSpPr>
          <p:cNvPr id="384275" name="Rectangle 275"/>
          <p:cNvSpPr>
            <a:spLocks noChangeArrowheads="1"/>
          </p:cNvSpPr>
          <p:nvPr/>
        </p:nvSpPr>
        <p:spPr bwMode="auto">
          <a:xfrm>
            <a:off x="900212" y="5301823"/>
            <a:ext cx="3529012" cy="683264"/>
          </a:xfrm>
          <a:prstGeom prst="rect">
            <a:avLst/>
          </a:prstGeom>
          <a:noFill/>
          <a:ln w="9525">
            <a:noFill/>
            <a:miter lim="800000"/>
            <a:headEnd/>
            <a:tailEnd/>
          </a:ln>
        </p:spPr>
        <p:txBody>
          <a:bodyPr anchor="ctr">
            <a:spAutoFit/>
          </a:bodyPr>
          <a:lstStyle/>
          <a:p>
            <a:pPr indent="269875">
              <a:lnSpc>
                <a:spcPct val="120000"/>
              </a:lnSpc>
            </a:pPr>
            <a:r>
              <a:rPr lang="zh-CN" altLang="en-US" sz="2400" b="1" dirty="0">
                <a:latin typeface="+mj-ea"/>
                <a:ea typeface="+mj-ea"/>
                <a:sym typeface="Symbol" pitchFamily="18" charset="2"/>
              </a:rPr>
              <a:t>与   </a:t>
            </a:r>
            <a:r>
              <a:rPr lang="zh-CN" altLang="en-US" sz="2400" b="1" dirty="0" smtClean="0">
                <a:latin typeface="+mj-ea"/>
                <a:ea typeface="+mj-ea"/>
                <a:sym typeface="Symbol" pitchFamily="18" charset="2"/>
              </a:rPr>
              <a:t> </a:t>
            </a:r>
            <a:r>
              <a:rPr lang="zh-CN" altLang="en-US" sz="3200" b="1" dirty="0" smtClean="0">
                <a:latin typeface="+mj-ea"/>
                <a:ea typeface="+mj-ea"/>
                <a:sym typeface="Symbol" pitchFamily="18" charset="2"/>
              </a:rPr>
              <a:t></a:t>
            </a:r>
            <a:r>
              <a:rPr lang="zh-CN" altLang="en-US" sz="2400" b="1" dirty="0" smtClean="0">
                <a:latin typeface="+mj-ea"/>
                <a:ea typeface="+mj-ea"/>
                <a:sym typeface="Symbol" pitchFamily="18" charset="2"/>
              </a:rPr>
              <a:t>   </a:t>
            </a:r>
            <a:r>
              <a:rPr lang="zh-CN" altLang="en-US" sz="2400" b="1" dirty="0" smtClean="0">
                <a:latin typeface="+mj-ea"/>
                <a:ea typeface="+mj-ea"/>
              </a:rPr>
              <a:t>或</a:t>
            </a:r>
            <a:endParaRPr lang="zh-CN" altLang="en-US" sz="2400" b="1" dirty="0">
              <a:latin typeface="+mj-ea"/>
              <a:ea typeface="+mj-ea"/>
              <a:sym typeface="Symbol" pitchFamily="18" charset="2"/>
            </a:endParaRPr>
          </a:p>
        </p:txBody>
      </p:sp>
      <p:sp>
        <p:nvSpPr>
          <p:cNvPr id="384276" name="Rectangle 276"/>
          <p:cNvSpPr>
            <a:spLocks noChangeArrowheads="1"/>
          </p:cNvSpPr>
          <p:nvPr/>
        </p:nvSpPr>
        <p:spPr bwMode="auto">
          <a:xfrm>
            <a:off x="899592" y="5805264"/>
            <a:ext cx="3457005" cy="683264"/>
          </a:xfrm>
          <a:prstGeom prst="rect">
            <a:avLst/>
          </a:prstGeom>
          <a:noFill/>
          <a:ln w="9525">
            <a:noFill/>
            <a:miter lim="800000"/>
            <a:headEnd/>
            <a:tailEnd/>
          </a:ln>
        </p:spPr>
        <p:txBody>
          <a:bodyPr wrap="square" anchor="ctr">
            <a:spAutoFit/>
          </a:bodyPr>
          <a:lstStyle/>
          <a:p>
            <a:pPr indent="269875">
              <a:lnSpc>
                <a:spcPct val="120000"/>
              </a:lnSpc>
            </a:pPr>
            <a:r>
              <a:rPr lang="zh-CN" altLang="en-US" sz="2400" b="1" dirty="0">
                <a:latin typeface="+mj-ea"/>
                <a:ea typeface="+mj-ea"/>
                <a:sym typeface="Symbol" pitchFamily="18" charset="2"/>
              </a:rPr>
              <a:t>非   </a:t>
            </a:r>
            <a:r>
              <a:rPr lang="zh-CN" altLang="en-US" sz="2400" b="1" dirty="0" smtClean="0">
                <a:latin typeface="+mj-ea"/>
                <a:ea typeface="+mj-ea"/>
                <a:sym typeface="Symbol" pitchFamily="18" charset="2"/>
              </a:rPr>
              <a:t> </a:t>
            </a:r>
            <a:r>
              <a:rPr lang="zh-CN" altLang="en-US" sz="3200" b="1" dirty="0" smtClean="0">
                <a:latin typeface="+mj-ea"/>
                <a:ea typeface="+mj-ea"/>
                <a:sym typeface="Symbol" pitchFamily="18" charset="2"/>
              </a:rPr>
              <a:t></a:t>
            </a:r>
            <a:r>
              <a:rPr lang="zh-CN" altLang="en-US" sz="2400" b="1" dirty="0" smtClean="0">
                <a:latin typeface="+mj-ea"/>
                <a:ea typeface="+mj-ea"/>
                <a:sym typeface="Symbol" pitchFamily="18" charset="2"/>
              </a:rPr>
              <a:t>   </a:t>
            </a:r>
            <a:r>
              <a:rPr lang="zh-CN" altLang="en-US" sz="2400" b="1" dirty="0">
                <a:latin typeface="+mj-ea"/>
                <a:ea typeface="+mj-ea"/>
              </a:rPr>
              <a:t>非</a:t>
            </a:r>
            <a:endParaRPr lang="zh-CN" altLang="en-US" sz="2400" b="1" dirty="0">
              <a:latin typeface="+mj-ea"/>
              <a:ea typeface="+mj-ea"/>
              <a:sym typeface="Symbol" pitchFamily="18" charset="2"/>
            </a:endParaRPr>
          </a:p>
        </p:txBody>
      </p:sp>
      <p:pic>
        <p:nvPicPr>
          <p:cNvPr id="353282" name="Picture 2"/>
          <p:cNvPicPr>
            <a:picLocks noChangeAspect="1" noChangeArrowheads="1"/>
          </p:cNvPicPr>
          <p:nvPr/>
        </p:nvPicPr>
        <p:blipFill>
          <a:blip r:embed="rId3" cstate="print"/>
          <a:srcRect/>
          <a:stretch>
            <a:fillRect/>
          </a:stretch>
        </p:blipFill>
        <p:spPr bwMode="auto">
          <a:xfrm>
            <a:off x="5665584" y="4509120"/>
            <a:ext cx="2393241" cy="2016224"/>
          </a:xfrm>
          <a:prstGeom prst="rect">
            <a:avLst/>
          </a:prstGeom>
          <a:noFill/>
          <a:ln w="9525">
            <a:noFill/>
            <a:miter lim="800000"/>
            <a:headEnd/>
            <a:tailEnd/>
          </a:ln>
        </p:spPr>
      </p:pic>
      <p:sp>
        <p:nvSpPr>
          <p:cNvPr id="255" name="标题 1"/>
          <p:cNvSpPr txBox="1">
            <a:spLocks/>
          </p:cNvSpPr>
          <p:nvPr/>
        </p:nvSpPr>
        <p:spPr>
          <a:xfrm>
            <a:off x="1259632" y="116632"/>
            <a:ext cx="7400998" cy="566936"/>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4.1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组合逻辑电路分析</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
        <p:nvSpPr>
          <p:cNvPr id="256" name="标题 1"/>
          <p:cNvSpPr txBox="1">
            <a:spLocks/>
          </p:cNvSpPr>
          <p:nvPr/>
        </p:nvSpPr>
        <p:spPr>
          <a:xfrm>
            <a:off x="1331640" y="692696"/>
            <a:ext cx="7545014" cy="576064"/>
          </a:xfrm>
          <a:prstGeom prst="rect">
            <a:avLst/>
          </a:prstGeom>
        </p:spPr>
        <p:txBody>
          <a:bodyPr/>
          <a:lstStyle/>
          <a:p>
            <a:r>
              <a:rPr lang="zh-CN" altLang="en-US" sz="3200" b="1" dirty="0" smtClean="0"/>
              <a:t>逻辑电路图</a:t>
            </a:r>
            <a:endParaRPr lang="zh-CN" altLang="en-US" sz="3200" b="1" dirty="0">
              <a:latin typeface="+mn-ea"/>
            </a:endParaRPr>
          </a:p>
        </p:txBody>
      </p:sp>
      <p:pic>
        <p:nvPicPr>
          <p:cNvPr id="353284" name="Picture 4"/>
          <p:cNvPicPr>
            <a:picLocks noChangeAspect="1" noChangeArrowheads="1"/>
          </p:cNvPicPr>
          <p:nvPr/>
        </p:nvPicPr>
        <p:blipFill>
          <a:blip r:embed="rId4" cstate="print"/>
          <a:srcRect/>
          <a:stretch>
            <a:fillRect/>
          </a:stretch>
        </p:blipFill>
        <p:spPr bwMode="auto">
          <a:xfrm>
            <a:off x="899592" y="1988840"/>
            <a:ext cx="2727832" cy="2304256"/>
          </a:xfrm>
          <a:prstGeom prst="rect">
            <a:avLst/>
          </a:prstGeom>
          <a:noFill/>
          <a:ln w="9525">
            <a:noFill/>
            <a:miter lim="800000"/>
            <a:headEnd/>
            <a:tailEnd/>
          </a:ln>
        </p:spPr>
      </p:pic>
      <p:sp>
        <p:nvSpPr>
          <p:cNvPr id="258" name="矩形标注 257"/>
          <p:cNvSpPr/>
          <p:nvPr/>
        </p:nvSpPr>
        <p:spPr>
          <a:xfrm>
            <a:off x="4355976" y="4725144"/>
            <a:ext cx="1008112" cy="1584176"/>
          </a:xfrm>
          <a:prstGeom prst="wedgeRectCallout">
            <a:avLst>
              <a:gd name="adj1" fmla="val 107572"/>
              <a:gd name="adj2" fmla="val 13958"/>
            </a:avLst>
          </a:prstGeom>
          <a:solidFill>
            <a:srgbClr val="FFFF00"/>
          </a:solidFill>
          <a:ln w="15875">
            <a:solidFill>
              <a:srgbClr val="FF0000"/>
            </a:solidFill>
            <a:prstDash val="solid"/>
          </a:ln>
        </p:spPr>
        <p:txBody>
          <a:bodyPr wrap="square" rtlCol="0" anchor="ctr">
            <a:noAutofit/>
          </a:bodyPr>
          <a:lstStyle/>
          <a:p>
            <a:r>
              <a:rPr lang="zh-CN" altLang="en-US" sz="2000" b="1" dirty="0" smtClean="0">
                <a:solidFill>
                  <a:srgbClr val="FF0000"/>
                </a:solidFill>
                <a:latin typeface="+mn-ea"/>
              </a:rPr>
              <a:t>输入、输出变量均：</a:t>
            </a:r>
            <a:r>
              <a:rPr lang="en-US" altLang="zh-CN" sz="2000" b="1" dirty="0" smtClean="0">
                <a:solidFill>
                  <a:srgbClr val="FF0000"/>
                </a:solidFill>
                <a:latin typeface="+mn-ea"/>
              </a:rPr>
              <a:t>0</a:t>
            </a:r>
            <a:r>
              <a:rPr lang="zh-CN" altLang="en-US" sz="2000" b="1" dirty="0" smtClean="0">
                <a:solidFill>
                  <a:srgbClr val="FF0000"/>
                </a:solidFill>
                <a:latin typeface="+mn-ea"/>
              </a:rPr>
              <a:t>变</a:t>
            </a:r>
            <a:r>
              <a:rPr lang="en-US" altLang="zh-CN" sz="2000" b="1" dirty="0" smtClean="0">
                <a:solidFill>
                  <a:srgbClr val="FF0000"/>
                </a:solidFill>
                <a:latin typeface="+mn-ea"/>
              </a:rPr>
              <a:t>1,</a:t>
            </a:r>
          </a:p>
          <a:p>
            <a:r>
              <a:rPr lang="en-US" altLang="zh-CN" sz="2000" b="1" dirty="0" smtClean="0">
                <a:solidFill>
                  <a:srgbClr val="FF0000"/>
                </a:solidFill>
                <a:latin typeface="+mn-ea"/>
              </a:rPr>
              <a:t>1</a:t>
            </a:r>
            <a:r>
              <a:rPr lang="zh-CN" altLang="en-US" sz="2000" b="1" dirty="0" smtClean="0">
                <a:solidFill>
                  <a:srgbClr val="FF0000"/>
                </a:solidFill>
                <a:latin typeface="+mn-ea"/>
              </a:rPr>
              <a:t>变</a:t>
            </a:r>
            <a:r>
              <a:rPr lang="en-US" altLang="zh-CN" sz="2000" b="1" dirty="0" smtClean="0">
                <a:solidFill>
                  <a:srgbClr val="FF0000"/>
                </a:solidFill>
                <a:latin typeface="+mn-ea"/>
              </a:rPr>
              <a:t>0</a:t>
            </a:r>
            <a:endParaRPr lang="zh-CN" altLang="en-US" sz="2000" b="1" dirty="0">
              <a:solidFill>
                <a:srgbClr val="FF0000"/>
              </a:solidFill>
              <a:latin typeface="+mn-ea"/>
            </a:endParaRPr>
          </a:p>
        </p:txBody>
      </p:sp>
      <p:sp>
        <p:nvSpPr>
          <p:cNvPr id="260" name="矩形标注 259"/>
          <p:cNvSpPr/>
          <p:nvPr/>
        </p:nvSpPr>
        <p:spPr>
          <a:xfrm>
            <a:off x="8099376" y="4653136"/>
            <a:ext cx="1044624" cy="1584176"/>
          </a:xfrm>
          <a:prstGeom prst="wedgeRectCallout">
            <a:avLst>
              <a:gd name="adj1" fmla="val -89573"/>
              <a:gd name="adj2" fmla="val 16695"/>
            </a:avLst>
          </a:prstGeom>
          <a:solidFill>
            <a:srgbClr val="FFFF00"/>
          </a:solidFill>
          <a:ln w="15875">
            <a:solidFill>
              <a:srgbClr val="FF0000"/>
            </a:solidFill>
            <a:prstDash val="solid"/>
          </a:ln>
        </p:spPr>
        <p:txBody>
          <a:bodyPr wrap="square" rtlCol="0" anchor="ctr">
            <a:noAutofit/>
          </a:bodyPr>
          <a:lstStyle/>
          <a:p>
            <a:r>
              <a:rPr lang="zh-CN" altLang="en-US" sz="2000" b="1" dirty="0" smtClean="0">
                <a:solidFill>
                  <a:srgbClr val="FF0000"/>
                </a:solidFill>
                <a:latin typeface="+mn-ea"/>
              </a:rPr>
              <a:t>输入、输出变量均：</a:t>
            </a:r>
            <a:r>
              <a:rPr lang="en-US" altLang="zh-CN" sz="2000" b="1" dirty="0" smtClean="0">
                <a:solidFill>
                  <a:srgbClr val="FF0000"/>
                </a:solidFill>
                <a:latin typeface="+mn-ea"/>
              </a:rPr>
              <a:t>0</a:t>
            </a:r>
            <a:r>
              <a:rPr lang="zh-CN" altLang="en-US" sz="2000" b="1" dirty="0" smtClean="0">
                <a:solidFill>
                  <a:srgbClr val="FF0000"/>
                </a:solidFill>
                <a:latin typeface="+mn-ea"/>
              </a:rPr>
              <a:t>变</a:t>
            </a:r>
            <a:r>
              <a:rPr lang="en-US" altLang="zh-CN" sz="2000" b="1" dirty="0" smtClean="0">
                <a:solidFill>
                  <a:srgbClr val="FF0000"/>
                </a:solidFill>
                <a:latin typeface="+mn-ea"/>
              </a:rPr>
              <a:t>1,</a:t>
            </a:r>
          </a:p>
          <a:p>
            <a:r>
              <a:rPr lang="en-US" altLang="zh-CN" sz="2000" b="1" dirty="0" smtClean="0">
                <a:solidFill>
                  <a:srgbClr val="FF0000"/>
                </a:solidFill>
                <a:latin typeface="+mn-ea"/>
              </a:rPr>
              <a:t>1</a:t>
            </a:r>
            <a:r>
              <a:rPr lang="zh-CN" altLang="en-US" sz="2000" b="1" dirty="0" smtClean="0">
                <a:solidFill>
                  <a:srgbClr val="FF0000"/>
                </a:solidFill>
                <a:latin typeface="+mn-ea"/>
              </a:rPr>
              <a:t>变</a:t>
            </a:r>
            <a:r>
              <a:rPr lang="en-US" altLang="zh-CN" sz="2000" b="1" dirty="0" smtClean="0">
                <a:solidFill>
                  <a:srgbClr val="FF0000"/>
                </a:solidFill>
                <a:latin typeface="+mn-ea"/>
              </a:rPr>
              <a:t>0</a:t>
            </a:r>
            <a:endParaRPr lang="zh-CN" altLang="en-US" sz="2000" b="1" dirty="0">
              <a:solidFill>
                <a:srgbClr val="FF0000"/>
              </a:solidFill>
              <a:latin typeface="+mn-ea"/>
            </a:endParaRPr>
          </a:p>
        </p:txBody>
      </p:sp>
      <p:sp>
        <p:nvSpPr>
          <p:cNvPr id="97" name="矩形标注 96"/>
          <p:cNvSpPr/>
          <p:nvPr/>
        </p:nvSpPr>
        <p:spPr>
          <a:xfrm>
            <a:off x="3923928" y="1916832"/>
            <a:ext cx="1584176" cy="2016224"/>
          </a:xfrm>
          <a:prstGeom prst="wedgeRectCallout">
            <a:avLst>
              <a:gd name="adj1" fmla="val -99331"/>
              <a:gd name="adj2" fmla="val 30954"/>
            </a:avLst>
          </a:prstGeom>
          <a:solidFill>
            <a:srgbClr val="FFFF00"/>
          </a:solidFill>
          <a:ln w="15875">
            <a:solidFill>
              <a:srgbClr val="FF0000"/>
            </a:solidFill>
            <a:prstDash val="solid"/>
          </a:ln>
        </p:spPr>
        <p:txBody>
          <a:bodyPr wrap="square" rtlCol="0" anchor="ctr">
            <a:noAutofit/>
          </a:bodyPr>
          <a:lstStyle/>
          <a:p>
            <a:r>
              <a:rPr lang="zh-CN" altLang="en-US" sz="2000" b="1" dirty="0" smtClean="0">
                <a:solidFill>
                  <a:srgbClr val="FF0000"/>
                </a:solidFill>
                <a:latin typeface="+mn-ea"/>
              </a:rPr>
              <a:t>本质：同一个物理电路，采用正、负逻辑可以实现不同的逻辑运算。</a:t>
            </a:r>
            <a:endParaRPr lang="zh-CN" altLang="en-US" sz="2000" b="1" dirty="0">
              <a:solidFill>
                <a:srgbClr val="FF0000"/>
              </a:solidFill>
              <a:latin typeface="+mn-ea"/>
            </a:endParaRPr>
          </a:p>
        </p:txBody>
      </p:sp>
    </p:spTree>
  </p:cSld>
  <p:clrMapOvr>
    <a:masterClrMapping/>
  </p:clrMapOvr>
  <p:transition>
    <p:wipe dir="r"/>
    <p:sndAc>
      <p:stSnd>
        <p:snd r:embed="rId2" name="PROJCTOR.WAV"/>
      </p:stSnd>
    </p:sndAc>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51" name="Rectangle 27"/>
          <p:cNvSpPr>
            <a:spLocks noChangeArrowheads="1"/>
          </p:cNvSpPr>
          <p:nvPr/>
        </p:nvSpPr>
        <p:spPr bwMode="auto">
          <a:xfrm>
            <a:off x="395536" y="1556792"/>
            <a:ext cx="8425309" cy="457200"/>
          </a:xfrm>
          <a:prstGeom prst="rect">
            <a:avLst/>
          </a:prstGeom>
          <a:noFill/>
          <a:ln w="9525">
            <a:noFill/>
            <a:miter lim="800000"/>
            <a:headEnd/>
            <a:tailEnd/>
          </a:ln>
        </p:spPr>
        <p:txBody>
          <a:bodyPr wrap="square" anchor="ctr">
            <a:spAutoFit/>
          </a:bodyPr>
          <a:lstStyle/>
          <a:p>
            <a:pPr algn="l"/>
            <a:r>
              <a:rPr lang="zh-CN" altLang="en-US" sz="2400" b="1" dirty="0">
                <a:solidFill>
                  <a:srgbClr val="000066"/>
                </a:solidFill>
                <a:latin typeface="Verdana" pitchFamily="34" charset="0"/>
                <a:ea typeface="楷体_GB2312" pitchFamily="49" charset="-122"/>
              </a:rPr>
              <a:t>系统输入信号中，有的是高电平有效，有的是低电平有效。</a:t>
            </a:r>
          </a:p>
        </p:txBody>
      </p:sp>
      <p:sp>
        <p:nvSpPr>
          <p:cNvPr id="385052" name="Rectangle 28"/>
          <p:cNvSpPr>
            <a:spLocks noChangeArrowheads="1"/>
          </p:cNvSpPr>
          <p:nvPr/>
        </p:nvSpPr>
        <p:spPr bwMode="auto">
          <a:xfrm>
            <a:off x="467544" y="2060848"/>
            <a:ext cx="8208912" cy="830997"/>
          </a:xfrm>
          <a:prstGeom prst="rect">
            <a:avLst/>
          </a:prstGeom>
          <a:noFill/>
          <a:ln w="9525">
            <a:noFill/>
            <a:miter lim="800000"/>
            <a:headEnd/>
            <a:tailEnd/>
          </a:ln>
        </p:spPr>
        <p:txBody>
          <a:bodyPr wrap="square" anchor="ctr">
            <a:spAutoFit/>
          </a:bodyPr>
          <a:lstStyle/>
          <a:p>
            <a:pPr algn="l"/>
            <a:r>
              <a:rPr lang="zh-CN" altLang="en-US" sz="2400" b="1" dirty="0">
                <a:solidFill>
                  <a:srgbClr val="FF0000"/>
                </a:solidFill>
                <a:ea typeface="楷体_GB2312" pitchFamily="49" charset="-122"/>
                <a:cs typeface="Times New Roman" pitchFamily="18" charset="0"/>
              </a:rPr>
              <a:t>低电平有效</a:t>
            </a:r>
            <a:r>
              <a:rPr lang="zh-CN" altLang="en-US" sz="2400" b="1" dirty="0">
                <a:solidFill>
                  <a:srgbClr val="000066"/>
                </a:solidFill>
                <a:ea typeface="楷体_GB2312" pitchFamily="49" charset="-122"/>
                <a:cs typeface="Times New Roman" pitchFamily="18" charset="0"/>
              </a:rPr>
              <a:t>，</a:t>
            </a:r>
            <a:r>
              <a:rPr lang="zh-CN" altLang="en-US" sz="2400" b="1" dirty="0">
                <a:solidFill>
                  <a:srgbClr val="0000CC"/>
                </a:solidFill>
                <a:ea typeface="楷体_GB2312" pitchFamily="49" charset="-122"/>
                <a:cs typeface="Times New Roman" pitchFamily="18" charset="0"/>
              </a:rPr>
              <a:t>输入端加小圆圈</a:t>
            </a:r>
            <a:r>
              <a:rPr lang="zh-CN" altLang="en-US" sz="2400" b="1" dirty="0">
                <a:solidFill>
                  <a:srgbClr val="000066"/>
                </a:solidFill>
                <a:ea typeface="楷体_GB2312" pitchFamily="49" charset="-122"/>
                <a:cs typeface="Times New Roman" pitchFamily="18" charset="0"/>
              </a:rPr>
              <a:t>；</a:t>
            </a:r>
            <a:r>
              <a:rPr lang="zh-CN" altLang="en-US" sz="2400" b="1" dirty="0">
                <a:solidFill>
                  <a:srgbClr val="FF0000"/>
                </a:solidFill>
                <a:ea typeface="楷体_GB2312" pitchFamily="49" charset="-122"/>
                <a:cs typeface="Times New Roman" pitchFamily="18" charset="0"/>
              </a:rPr>
              <a:t>高电平有效</a:t>
            </a:r>
            <a:r>
              <a:rPr lang="zh-CN" altLang="en-US" sz="2400" b="1" dirty="0">
                <a:solidFill>
                  <a:srgbClr val="000066"/>
                </a:solidFill>
                <a:ea typeface="楷体_GB2312" pitchFamily="49" charset="-122"/>
                <a:cs typeface="Times New Roman" pitchFamily="18" charset="0"/>
              </a:rPr>
              <a:t>，</a:t>
            </a:r>
            <a:r>
              <a:rPr lang="zh-CN" altLang="en-US" sz="2400" b="1" dirty="0">
                <a:solidFill>
                  <a:srgbClr val="0000CC"/>
                </a:solidFill>
                <a:ea typeface="楷体_GB2312" pitchFamily="49" charset="-122"/>
                <a:cs typeface="Times New Roman" pitchFamily="18" charset="0"/>
              </a:rPr>
              <a:t>输入端不加</a:t>
            </a:r>
          </a:p>
          <a:p>
            <a:pPr algn="l"/>
            <a:r>
              <a:rPr lang="zh-CN" altLang="en-US" sz="2400" b="1" dirty="0">
                <a:solidFill>
                  <a:srgbClr val="0000CC"/>
                </a:solidFill>
                <a:ea typeface="楷体_GB2312" pitchFamily="49" charset="-122"/>
                <a:cs typeface="Times New Roman" pitchFamily="18" charset="0"/>
              </a:rPr>
              <a:t>小圆圈</a:t>
            </a:r>
            <a:r>
              <a:rPr lang="zh-CN" altLang="en-US" sz="2400" b="1" dirty="0" smtClean="0">
                <a:solidFill>
                  <a:srgbClr val="000066"/>
                </a:solidFill>
                <a:ea typeface="楷体_GB2312" pitchFamily="49" charset="-122"/>
                <a:cs typeface="Times New Roman" pitchFamily="18" charset="0"/>
              </a:rPr>
              <a:t>。</a:t>
            </a:r>
            <a:r>
              <a:rPr lang="zh-CN" altLang="en-US" sz="2400" b="1" dirty="0" smtClean="0">
                <a:ea typeface="楷体_GB2312" pitchFamily="49" charset="-122"/>
                <a:cs typeface="Times New Roman" pitchFamily="18" charset="0"/>
              </a:rPr>
              <a:t>如与运算，其高、低电平有效时表示的逻辑式为：</a:t>
            </a:r>
            <a:endParaRPr lang="zh-CN" altLang="en-US" sz="2400" b="1" dirty="0">
              <a:ea typeface="楷体_GB2312" pitchFamily="49" charset="-122"/>
              <a:cs typeface="Times New Roman" pitchFamily="18" charset="0"/>
            </a:endParaRPr>
          </a:p>
        </p:txBody>
      </p:sp>
      <p:sp>
        <p:nvSpPr>
          <p:cNvPr id="12" name="标题 1"/>
          <p:cNvSpPr txBox="1">
            <a:spLocks/>
          </p:cNvSpPr>
          <p:nvPr/>
        </p:nvSpPr>
        <p:spPr>
          <a:xfrm>
            <a:off x="1259632" y="116632"/>
            <a:ext cx="7400998" cy="566936"/>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4.1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组合逻辑电路分析</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
        <p:nvSpPr>
          <p:cNvPr id="13" name="标题 1"/>
          <p:cNvSpPr txBox="1">
            <a:spLocks/>
          </p:cNvSpPr>
          <p:nvPr/>
        </p:nvSpPr>
        <p:spPr>
          <a:xfrm>
            <a:off x="1331640" y="692696"/>
            <a:ext cx="7545014" cy="576064"/>
          </a:xfrm>
          <a:prstGeom prst="rect">
            <a:avLst/>
          </a:prstGeom>
        </p:spPr>
        <p:txBody>
          <a:bodyPr/>
          <a:lstStyle/>
          <a:p>
            <a:r>
              <a:rPr lang="zh-CN" altLang="en-US" sz="3200" b="1" dirty="0" smtClean="0"/>
              <a:t>逻辑电路图</a:t>
            </a:r>
            <a:endParaRPr lang="zh-CN" altLang="en-US" sz="3200" b="1" dirty="0">
              <a:latin typeface="+mn-ea"/>
            </a:endParaRPr>
          </a:p>
        </p:txBody>
      </p:sp>
      <p:sp>
        <p:nvSpPr>
          <p:cNvPr id="16" name="Rectangle 21"/>
          <p:cNvSpPr>
            <a:spLocks noChangeArrowheads="1"/>
          </p:cNvSpPr>
          <p:nvPr/>
        </p:nvSpPr>
        <p:spPr bwMode="auto">
          <a:xfrm>
            <a:off x="5652120" y="3068960"/>
            <a:ext cx="1872208" cy="461665"/>
          </a:xfrm>
          <a:prstGeom prst="rect">
            <a:avLst/>
          </a:prstGeom>
          <a:noFill/>
          <a:ln w="9525">
            <a:noFill/>
            <a:miter lim="800000"/>
            <a:headEnd/>
            <a:tailEnd/>
          </a:ln>
        </p:spPr>
        <p:txBody>
          <a:bodyPr wrap="square">
            <a:spAutoFit/>
          </a:bodyPr>
          <a:lstStyle/>
          <a:p>
            <a:pPr algn="ctr"/>
            <a:r>
              <a:rPr lang="zh-CN" altLang="en-US" sz="2400" b="1" dirty="0" smtClean="0">
                <a:solidFill>
                  <a:srgbClr val="000066"/>
                </a:solidFill>
                <a:ea typeface="楷体_GB2312" pitchFamily="49" charset="-122"/>
              </a:rPr>
              <a:t>低电平有效</a:t>
            </a:r>
            <a:endParaRPr lang="zh-CN" altLang="en-US" sz="2400" b="1" dirty="0">
              <a:solidFill>
                <a:srgbClr val="000066"/>
              </a:solidFill>
              <a:ea typeface="楷体_GB2312" pitchFamily="49" charset="-122"/>
            </a:endParaRPr>
          </a:p>
        </p:txBody>
      </p:sp>
      <p:sp>
        <p:nvSpPr>
          <p:cNvPr id="17" name="Rectangle 21"/>
          <p:cNvSpPr>
            <a:spLocks noChangeArrowheads="1"/>
          </p:cNvSpPr>
          <p:nvPr/>
        </p:nvSpPr>
        <p:spPr bwMode="auto">
          <a:xfrm>
            <a:off x="1475656" y="3068960"/>
            <a:ext cx="1872208" cy="461665"/>
          </a:xfrm>
          <a:prstGeom prst="rect">
            <a:avLst/>
          </a:prstGeom>
          <a:noFill/>
          <a:ln w="9525">
            <a:noFill/>
            <a:miter lim="800000"/>
            <a:headEnd/>
            <a:tailEnd/>
          </a:ln>
        </p:spPr>
        <p:txBody>
          <a:bodyPr wrap="square">
            <a:spAutoFit/>
          </a:bodyPr>
          <a:lstStyle/>
          <a:p>
            <a:pPr algn="ctr"/>
            <a:r>
              <a:rPr lang="zh-CN" altLang="en-US" sz="2400" b="1" dirty="0" smtClean="0">
                <a:solidFill>
                  <a:srgbClr val="000066"/>
                </a:solidFill>
                <a:ea typeface="楷体_GB2312" pitchFamily="49" charset="-122"/>
              </a:rPr>
              <a:t>高电平有效</a:t>
            </a:r>
            <a:endParaRPr lang="zh-CN" altLang="en-US" sz="2400" b="1" dirty="0">
              <a:solidFill>
                <a:srgbClr val="000066"/>
              </a:solidFill>
              <a:ea typeface="楷体_GB2312" pitchFamily="49" charset="-122"/>
            </a:endParaRPr>
          </a:p>
        </p:txBody>
      </p:sp>
      <p:pic>
        <p:nvPicPr>
          <p:cNvPr id="347143" name="Picture 7"/>
          <p:cNvPicPr>
            <a:picLocks noChangeAspect="1" noChangeArrowheads="1"/>
          </p:cNvPicPr>
          <p:nvPr/>
        </p:nvPicPr>
        <p:blipFill>
          <a:blip r:embed="rId4" cstate="print"/>
          <a:srcRect/>
          <a:stretch>
            <a:fillRect/>
          </a:stretch>
        </p:blipFill>
        <p:spPr bwMode="auto">
          <a:xfrm>
            <a:off x="1331640" y="5445224"/>
            <a:ext cx="2524821" cy="1008112"/>
          </a:xfrm>
          <a:prstGeom prst="rect">
            <a:avLst/>
          </a:prstGeom>
          <a:noFill/>
          <a:ln w="9525">
            <a:noFill/>
            <a:miter lim="800000"/>
            <a:headEnd/>
            <a:tailEnd/>
          </a:ln>
        </p:spPr>
      </p:pic>
      <p:pic>
        <p:nvPicPr>
          <p:cNvPr id="347144" name="Picture 8"/>
          <p:cNvPicPr>
            <a:picLocks noChangeAspect="1" noChangeArrowheads="1"/>
          </p:cNvPicPr>
          <p:nvPr/>
        </p:nvPicPr>
        <p:blipFill>
          <a:blip r:embed="rId5" cstate="print"/>
          <a:srcRect/>
          <a:stretch>
            <a:fillRect/>
          </a:stretch>
        </p:blipFill>
        <p:spPr bwMode="auto">
          <a:xfrm>
            <a:off x="5796136" y="5373216"/>
            <a:ext cx="2380109" cy="1122693"/>
          </a:xfrm>
          <a:prstGeom prst="rect">
            <a:avLst/>
          </a:prstGeom>
          <a:noFill/>
          <a:ln w="9525">
            <a:noFill/>
            <a:miter lim="800000"/>
            <a:headEnd/>
            <a:tailEnd/>
          </a:ln>
        </p:spPr>
      </p:pic>
      <p:pic>
        <p:nvPicPr>
          <p:cNvPr id="347149" name="Picture 13"/>
          <p:cNvPicPr>
            <a:picLocks noChangeAspect="1" noChangeArrowheads="1"/>
          </p:cNvPicPr>
          <p:nvPr/>
        </p:nvPicPr>
        <p:blipFill>
          <a:blip r:embed="rId6" cstate="print"/>
          <a:srcRect/>
          <a:stretch>
            <a:fillRect/>
          </a:stretch>
        </p:blipFill>
        <p:spPr bwMode="auto">
          <a:xfrm>
            <a:off x="5652120" y="3573016"/>
            <a:ext cx="2041727" cy="1785367"/>
          </a:xfrm>
          <a:prstGeom prst="rect">
            <a:avLst/>
          </a:prstGeom>
          <a:noFill/>
          <a:ln w="9525">
            <a:noFill/>
            <a:miter lim="800000"/>
            <a:headEnd/>
            <a:tailEnd/>
          </a:ln>
        </p:spPr>
      </p:pic>
      <p:pic>
        <p:nvPicPr>
          <p:cNvPr id="347150" name="Picture 14"/>
          <p:cNvPicPr>
            <a:picLocks noChangeAspect="1" noChangeArrowheads="1"/>
          </p:cNvPicPr>
          <p:nvPr/>
        </p:nvPicPr>
        <p:blipFill>
          <a:blip r:embed="rId7" cstate="print"/>
          <a:srcRect/>
          <a:stretch>
            <a:fillRect/>
          </a:stretch>
        </p:blipFill>
        <p:spPr bwMode="auto">
          <a:xfrm>
            <a:off x="1475656" y="3573016"/>
            <a:ext cx="2016224" cy="1788753"/>
          </a:xfrm>
          <a:prstGeom prst="rect">
            <a:avLst/>
          </a:prstGeom>
          <a:noFill/>
          <a:ln w="9525">
            <a:noFill/>
            <a:miter lim="800000"/>
            <a:headEnd/>
            <a:tailEnd/>
          </a:ln>
        </p:spPr>
      </p:pic>
      <p:sp>
        <p:nvSpPr>
          <p:cNvPr id="26" name="矩形标注 25"/>
          <p:cNvSpPr/>
          <p:nvPr/>
        </p:nvSpPr>
        <p:spPr>
          <a:xfrm>
            <a:off x="4139952" y="2996952"/>
            <a:ext cx="1008112" cy="1440160"/>
          </a:xfrm>
          <a:prstGeom prst="wedgeRectCallout">
            <a:avLst>
              <a:gd name="adj1" fmla="val 117753"/>
              <a:gd name="adj2" fmla="val 55364"/>
            </a:avLst>
          </a:prstGeom>
          <a:solidFill>
            <a:srgbClr val="FFFF00"/>
          </a:solidFill>
          <a:ln w="15875">
            <a:solidFill>
              <a:srgbClr val="FF0000"/>
            </a:solidFill>
            <a:prstDash val="solid"/>
          </a:ln>
        </p:spPr>
        <p:txBody>
          <a:bodyPr wrap="square" rtlCol="0" anchor="ctr">
            <a:noAutofit/>
          </a:bodyPr>
          <a:lstStyle/>
          <a:p>
            <a:r>
              <a:rPr lang="zh-CN" altLang="en-US" sz="2000" b="1" dirty="0" smtClean="0">
                <a:solidFill>
                  <a:srgbClr val="FF0000"/>
                </a:solidFill>
                <a:latin typeface="+mn-ea"/>
              </a:rPr>
              <a:t>只有输入变量：</a:t>
            </a:r>
            <a:r>
              <a:rPr lang="en-US" altLang="zh-CN" sz="2000" b="1" dirty="0" smtClean="0">
                <a:solidFill>
                  <a:srgbClr val="FF0000"/>
                </a:solidFill>
                <a:latin typeface="+mn-ea"/>
              </a:rPr>
              <a:t>0</a:t>
            </a:r>
            <a:r>
              <a:rPr lang="zh-CN" altLang="en-US" sz="2000" b="1" dirty="0" smtClean="0">
                <a:solidFill>
                  <a:srgbClr val="FF0000"/>
                </a:solidFill>
                <a:latin typeface="+mn-ea"/>
              </a:rPr>
              <a:t>变</a:t>
            </a:r>
            <a:r>
              <a:rPr lang="en-US" altLang="zh-CN" sz="2000" b="1" dirty="0" smtClean="0">
                <a:solidFill>
                  <a:srgbClr val="FF0000"/>
                </a:solidFill>
                <a:latin typeface="+mn-ea"/>
              </a:rPr>
              <a:t>1,</a:t>
            </a:r>
          </a:p>
          <a:p>
            <a:r>
              <a:rPr lang="en-US" altLang="zh-CN" sz="2000" b="1" dirty="0" smtClean="0">
                <a:solidFill>
                  <a:srgbClr val="FF0000"/>
                </a:solidFill>
                <a:latin typeface="+mn-ea"/>
              </a:rPr>
              <a:t>1</a:t>
            </a:r>
            <a:r>
              <a:rPr lang="zh-CN" altLang="en-US" sz="2000" b="1" dirty="0" smtClean="0">
                <a:solidFill>
                  <a:srgbClr val="FF0000"/>
                </a:solidFill>
                <a:latin typeface="+mn-ea"/>
              </a:rPr>
              <a:t>变</a:t>
            </a:r>
            <a:r>
              <a:rPr lang="en-US" altLang="zh-CN" sz="2000" b="1" dirty="0" smtClean="0">
                <a:solidFill>
                  <a:srgbClr val="FF0000"/>
                </a:solidFill>
                <a:latin typeface="+mn-ea"/>
              </a:rPr>
              <a:t>0</a:t>
            </a:r>
            <a:endParaRPr lang="zh-CN" altLang="en-US" sz="2000" b="1" dirty="0">
              <a:solidFill>
                <a:srgbClr val="FF0000"/>
              </a:solidFill>
              <a:latin typeface="+mn-ea"/>
            </a:endParaRPr>
          </a:p>
        </p:txBody>
      </p:sp>
      <p:sp>
        <p:nvSpPr>
          <p:cNvPr id="14" name="矩形标注 13"/>
          <p:cNvSpPr/>
          <p:nvPr/>
        </p:nvSpPr>
        <p:spPr>
          <a:xfrm>
            <a:off x="3923928" y="4581128"/>
            <a:ext cx="1584176" cy="2016224"/>
          </a:xfrm>
          <a:prstGeom prst="wedgeRectCallout">
            <a:avLst>
              <a:gd name="adj1" fmla="val 68531"/>
              <a:gd name="adj2" fmla="val 23087"/>
            </a:avLst>
          </a:prstGeom>
          <a:solidFill>
            <a:srgbClr val="FFFF00"/>
          </a:solidFill>
          <a:ln w="15875">
            <a:solidFill>
              <a:srgbClr val="FF0000"/>
            </a:solidFill>
            <a:prstDash val="solid"/>
          </a:ln>
        </p:spPr>
        <p:txBody>
          <a:bodyPr wrap="square" rtlCol="0" anchor="ctr">
            <a:noAutofit/>
          </a:bodyPr>
          <a:lstStyle/>
          <a:p>
            <a:r>
              <a:rPr lang="zh-CN" altLang="en-US" sz="2000" b="1" dirty="0" smtClean="0">
                <a:solidFill>
                  <a:srgbClr val="FF0000"/>
                </a:solidFill>
                <a:latin typeface="+mn-ea"/>
              </a:rPr>
              <a:t>本质：同一个逻辑符号，采用高、低电平有效可以表示不同的逻辑运算。</a:t>
            </a:r>
            <a:endParaRPr lang="zh-CN" altLang="en-US" sz="2000" b="1" dirty="0">
              <a:solidFill>
                <a:srgbClr val="FF0000"/>
              </a:solidFill>
              <a:latin typeface="+mn-ea"/>
            </a:endParaRPr>
          </a:p>
        </p:txBody>
      </p:sp>
    </p:spTree>
  </p:cSld>
  <p:clrMapOvr>
    <a:masterClrMapping/>
  </p:clrMapOvr>
  <p:transition>
    <p:wipe dir="r"/>
    <p:sndAc>
      <p:stSnd>
        <p:snd r:embed="rId3" name="PROJCTOR.WAV"/>
      </p:stSnd>
    </p:sndAc>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45" name="Rectangle 21"/>
          <p:cNvSpPr>
            <a:spLocks noChangeArrowheads="1"/>
          </p:cNvSpPr>
          <p:nvPr/>
        </p:nvSpPr>
        <p:spPr bwMode="auto">
          <a:xfrm>
            <a:off x="539552" y="1556792"/>
            <a:ext cx="5688632" cy="461665"/>
          </a:xfrm>
          <a:prstGeom prst="rect">
            <a:avLst/>
          </a:prstGeom>
          <a:noFill/>
          <a:ln w="9525">
            <a:noFill/>
            <a:miter lim="800000"/>
            <a:headEnd/>
            <a:tailEnd/>
          </a:ln>
        </p:spPr>
        <p:txBody>
          <a:bodyPr wrap="square">
            <a:spAutoFit/>
          </a:bodyPr>
          <a:lstStyle/>
          <a:p>
            <a:pPr algn="l"/>
            <a:r>
              <a:rPr lang="en-US" altLang="zh-CN" sz="2400" b="1" dirty="0" smtClean="0">
                <a:solidFill>
                  <a:srgbClr val="000066"/>
                </a:solidFill>
                <a:ea typeface="楷体_GB2312" pitchFamily="49" charset="-122"/>
              </a:rPr>
              <a:t>(1)</a:t>
            </a:r>
            <a:r>
              <a:rPr lang="zh-CN" altLang="en-US" sz="2400" b="1" dirty="0" smtClean="0">
                <a:solidFill>
                  <a:srgbClr val="000066"/>
                </a:solidFill>
                <a:ea typeface="楷体_GB2312" pitchFamily="49" charset="-122"/>
              </a:rPr>
              <a:t> 基本</a:t>
            </a:r>
            <a:r>
              <a:rPr lang="zh-CN" altLang="en-US" sz="2400" b="1" dirty="0">
                <a:solidFill>
                  <a:srgbClr val="000066"/>
                </a:solidFill>
                <a:ea typeface="楷体_GB2312" pitchFamily="49" charset="-122"/>
              </a:rPr>
              <a:t>逻辑门电路的等效符号</a:t>
            </a:r>
          </a:p>
        </p:txBody>
      </p:sp>
      <p:graphicFrame>
        <p:nvGraphicFramePr>
          <p:cNvPr id="385046" name="Object 2"/>
          <p:cNvGraphicFramePr>
            <a:graphicFrameLocks noChangeAspect="1"/>
          </p:cNvGraphicFramePr>
          <p:nvPr/>
        </p:nvGraphicFramePr>
        <p:xfrm>
          <a:off x="5363964" y="2131839"/>
          <a:ext cx="1296988" cy="531812"/>
        </p:xfrm>
        <a:graphic>
          <a:graphicData uri="http://schemas.openxmlformats.org/presentationml/2006/ole">
            <p:oleObj spid="_x0000_s355330" name="公式" r:id="rId5" imgW="457200" imgH="190440" progId="">
              <p:embed/>
            </p:oleObj>
          </a:graphicData>
        </a:graphic>
      </p:graphicFrame>
      <p:graphicFrame>
        <p:nvGraphicFramePr>
          <p:cNvPr id="385047" name="Object 3"/>
          <p:cNvGraphicFramePr>
            <a:graphicFrameLocks noChangeAspect="1"/>
          </p:cNvGraphicFramePr>
          <p:nvPr/>
        </p:nvGraphicFramePr>
        <p:xfrm>
          <a:off x="1763688" y="2852936"/>
          <a:ext cx="2592288" cy="1110804"/>
        </p:xfrm>
        <a:graphic>
          <a:graphicData uri="http://schemas.openxmlformats.org/presentationml/2006/ole">
            <p:oleObj spid="_x0000_s355331" name="图片" r:id="rId6" imgW="1219320" imgH="484560" progId="Word.Picture.8">
              <p:embed/>
            </p:oleObj>
          </a:graphicData>
        </a:graphic>
      </p:graphicFrame>
      <p:graphicFrame>
        <p:nvGraphicFramePr>
          <p:cNvPr id="385049" name="Object 4"/>
          <p:cNvGraphicFramePr>
            <a:graphicFrameLocks noChangeAspect="1"/>
          </p:cNvGraphicFramePr>
          <p:nvPr/>
        </p:nvGraphicFramePr>
        <p:xfrm>
          <a:off x="4283968" y="3356992"/>
          <a:ext cx="827087" cy="368300"/>
        </p:xfrm>
        <a:graphic>
          <a:graphicData uri="http://schemas.openxmlformats.org/presentationml/2006/ole">
            <p:oleObj spid="_x0000_s355332" name="图片" r:id="rId7" imgW="304920" imgH="124920" progId="Word.Picture.8">
              <p:embed/>
            </p:oleObj>
          </a:graphicData>
        </a:graphic>
      </p:graphicFrame>
      <p:graphicFrame>
        <p:nvGraphicFramePr>
          <p:cNvPr id="385050" name="Object 5"/>
          <p:cNvGraphicFramePr>
            <a:graphicFrameLocks noChangeAspect="1"/>
          </p:cNvGraphicFramePr>
          <p:nvPr/>
        </p:nvGraphicFramePr>
        <p:xfrm>
          <a:off x="5364088" y="2852936"/>
          <a:ext cx="2324902" cy="1080120"/>
        </p:xfrm>
        <a:graphic>
          <a:graphicData uri="http://schemas.openxmlformats.org/presentationml/2006/ole">
            <p:oleObj spid="_x0000_s355333" name="图片" r:id="rId8" imgW="1106280" imgH="475560" progId="Word.Picture.8">
              <p:embed/>
            </p:oleObj>
          </a:graphicData>
        </a:graphic>
      </p:graphicFrame>
      <p:graphicFrame>
        <p:nvGraphicFramePr>
          <p:cNvPr id="385053" name="Object 6"/>
          <p:cNvGraphicFramePr>
            <a:graphicFrameLocks noChangeAspect="1"/>
          </p:cNvGraphicFramePr>
          <p:nvPr/>
        </p:nvGraphicFramePr>
        <p:xfrm>
          <a:off x="6732389" y="2131839"/>
          <a:ext cx="1298575" cy="531812"/>
        </p:xfrm>
        <a:graphic>
          <a:graphicData uri="http://schemas.openxmlformats.org/presentationml/2006/ole">
            <p:oleObj spid="_x0000_s355334" name="公式" r:id="rId9" imgW="457200" imgH="190440" progId="">
              <p:embed/>
            </p:oleObj>
          </a:graphicData>
        </a:graphic>
      </p:graphicFrame>
      <p:sp>
        <p:nvSpPr>
          <p:cNvPr id="12" name="标题 1"/>
          <p:cNvSpPr txBox="1">
            <a:spLocks/>
          </p:cNvSpPr>
          <p:nvPr/>
        </p:nvSpPr>
        <p:spPr>
          <a:xfrm>
            <a:off x="1259632" y="116632"/>
            <a:ext cx="7400998" cy="566936"/>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4.1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组合逻辑电路分析</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
        <p:nvSpPr>
          <p:cNvPr id="13" name="标题 1"/>
          <p:cNvSpPr txBox="1">
            <a:spLocks/>
          </p:cNvSpPr>
          <p:nvPr/>
        </p:nvSpPr>
        <p:spPr>
          <a:xfrm>
            <a:off x="1331640" y="692696"/>
            <a:ext cx="7545014" cy="576064"/>
          </a:xfrm>
          <a:prstGeom prst="rect">
            <a:avLst/>
          </a:prstGeom>
        </p:spPr>
        <p:txBody>
          <a:bodyPr/>
          <a:lstStyle/>
          <a:p>
            <a:r>
              <a:rPr lang="zh-CN" altLang="en-US" sz="3200" b="1" dirty="0" smtClean="0"/>
              <a:t>逻辑电路图</a:t>
            </a:r>
            <a:endParaRPr lang="zh-CN" altLang="en-US" sz="3200" b="1" dirty="0">
              <a:latin typeface="+mn-ea"/>
            </a:endParaRPr>
          </a:p>
        </p:txBody>
      </p:sp>
      <p:pic>
        <p:nvPicPr>
          <p:cNvPr id="14" name="Picture 6"/>
          <p:cNvPicPr>
            <a:picLocks noChangeAspect="1" noChangeArrowheads="1"/>
          </p:cNvPicPr>
          <p:nvPr/>
        </p:nvPicPr>
        <p:blipFill>
          <a:blip r:embed="rId10" cstate="print"/>
          <a:srcRect/>
          <a:stretch>
            <a:fillRect/>
          </a:stretch>
        </p:blipFill>
        <p:spPr bwMode="auto">
          <a:xfrm>
            <a:off x="4932040" y="4725144"/>
            <a:ext cx="3360533" cy="1944216"/>
          </a:xfrm>
          <a:prstGeom prst="rect">
            <a:avLst/>
          </a:prstGeom>
          <a:noFill/>
          <a:ln w="9525">
            <a:noFill/>
            <a:miter lim="800000"/>
            <a:headEnd/>
            <a:tailEnd/>
          </a:ln>
        </p:spPr>
      </p:pic>
      <p:sp>
        <p:nvSpPr>
          <p:cNvPr id="15" name="下箭头 14"/>
          <p:cNvSpPr/>
          <p:nvPr/>
        </p:nvSpPr>
        <p:spPr>
          <a:xfrm>
            <a:off x="6372200" y="4005064"/>
            <a:ext cx="216024" cy="648072"/>
          </a:xfrm>
          <a:prstGeom prst="downArrow">
            <a:avLst/>
          </a:prstGeom>
          <a:solidFill>
            <a:srgbClr val="FFFF00"/>
          </a:solidFill>
          <a:ln w="15875">
            <a:solidFill>
              <a:srgbClr val="FF0000"/>
            </a:solidFill>
            <a:prstDash val="solid"/>
          </a:ln>
        </p:spPr>
        <p:txBody>
          <a:bodyPr wrap="square" rtlCol="0" anchor="ctr">
            <a:noAutofit/>
          </a:bodyPr>
          <a:lstStyle/>
          <a:p>
            <a:pPr algn="ctr"/>
            <a:endParaRPr lang="zh-CN" altLang="en-US" sz="2000" b="1" dirty="0">
              <a:latin typeface="华文新魏" pitchFamily="2" charset="-122"/>
              <a:ea typeface="华文新魏" pitchFamily="2" charset="-122"/>
            </a:endParaRPr>
          </a:p>
        </p:txBody>
      </p:sp>
      <p:sp>
        <p:nvSpPr>
          <p:cNvPr id="16" name="Rectangle 33"/>
          <p:cNvSpPr>
            <a:spLocks noChangeArrowheads="1"/>
          </p:cNvSpPr>
          <p:nvPr/>
        </p:nvSpPr>
        <p:spPr bwMode="auto">
          <a:xfrm>
            <a:off x="683568" y="2132856"/>
            <a:ext cx="2969083" cy="461665"/>
          </a:xfrm>
          <a:prstGeom prst="rect">
            <a:avLst/>
          </a:prstGeom>
          <a:noFill/>
          <a:ln w="9525">
            <a:noFill/>
            <a:miter lim="800000"/>
            <a:headEnd/>
            <a:tailEnd/>
          </a:ln>
        </p:spPr>
        <p:txBody>
          <a:bodyPr wrap="none" anchor="ctr">
            <a:spAutoFit/>
          </a:bodyPr>
          <a:lstStyle/>
          <a:p>
            <a:r>
              <a:rPr lang="zh-CN" altLang="en-US" sz="2400" b="1" dirty="0" smtClean="0">
                <a:solidFill>
                  <a:srgbClr val="FF0000"/>
                </a:solidFill>
                <a:ea typeface="楷体_GB2312" pitchFamily="49" charset="-122"/>
                <a:cs typeface="Times New Roman" pitchFamily="18" charset="0"/>
              </a:rPr>
              <a:t>与非门</a:t>
            </a:r>
            <a:r>
              <a:rPr lang="zh-CN" altLang="en-US" sz="2400" b="1" dirty="0">
                <a:solidFill>
                  <a:srgbClr val="FF0000"/>
                </a:solidFill>
                <a:ea typeface="楷体_GB2312" pitchFamily="49" charset="-122"/>
                <a:cs typeface="Times New Roman" pitchFamily="18" charset="0"/>
              </a:rPr>
              <a:t>及其等效符号</a:t>
            </a:r>
          </a:p>
        </p:txBody>
      </p:sp>
      <p:pic>
        <p:nvPicPr>
          <p:cNvPr id="355335" name="Picture 7"/>
          <p:cNvPicPr>
            <a:picLocks noChangeAspect="1" noChangeArrowheads="1"/>
          </p:cNvPicPr>
          <p:nvPr/>
        </p:nvPicPr>
        <p:blipFill>
          <a:blip r:embed="rId11" cstate="print"/>
          <a:srcRect/>
          <a:stretch>
            <a:fillRect/>
          </a:stretch>
        </p:blipFill>
        <p:spPr bwMode="auto">
          <a:xfrm>
            <a:off x="1475656" y="4365104"/>
            <a:ext cx="2324100" cy="2009775"/>
          </a:xfrm>
          <a:prstGeom prst="rect">
            <a:avLst/>
          </a:prstGeom>
          <a:noFill/>
          <a:ln w="9525">
            <a:noFill/>
            <a:miter lim="800000"/>
            <a:headEnd/>
            <a:tailEnd/>
          </a:ln>
        </p:spPr>
      </p:pic>
    </p:spTree>
  </p:cSld>
  <p:clrMapOvr>
    <a:masterClrMapping/>
  </p:clrMapOvr>
  <p:transition>
    <p:wipe dir="r"/>
    <p:sndAc>
      <p:stSnd>
        <p:snd r:embed="rId4" name="PROJCTOR.WAV"/>
      </p:stSnd>
    </p:sndAc>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7103" name="Object 2"/>
          <p:cNvGraphicFramePr>
            <a:graphicFrameLocks noChangeAspect="1"/>
          </p:cNvGraphicFramePr>
          <p:nvPr/>
        </p:nvGraphicFramePr>
        <p:xfrm>
          <a:off x="5004048" y="2132856"/>
          <a:ext cx="2830513" cy="549275"/>
        </p:xfrm>
        <a:graphic>
          <a:graphicData uri="http://schemas.openxmlformats.org/presentationml/2006/ole">
            <p:oleObj spid="_x0000_s348162" name="公式" r:id="rId4" imgW="965160" imgH="190440" progId="">
              <p:embed/>
            </p:oleObj>
          </a:graphicData>
        </a:graphic>
      </p:graphicFrame>
      <p:graphicFrame>
        <p:nvGraphicFramePr>
          <p:cNvPr id="387104" name="Object 3"/>
          <p:cNvGraphicFramePr>
            <a:graphicFrameLocks noChangeAspect="1"/>
          </p:cNvGraphicFramePr>
          <p:nvPr/>
        </p:nvGraphicFramePr>
        <p:xfrm>
          <a:off x="1187624" y="2780928"/>
          <a:ext cx="2936875" cy="1243012"/>
        </p:xfrm>
        <a:graphic>
          <a:graphicData uri="http://schemas.openxmlformats.org/presentationml/2006/ole">
            <p:oleObj spid="_x0000_s348163" name="图片" r:id="rId5" imgW="1170360" imgH="484560" progId="Word.Picture.8">
              <p:embed/>
            </p:oleObj>
          </a:graphicData>
        </a:graphic>
      </p:graphicFrame>
      <p:sp>
        <p:nvSpPr>
          <p:cNvPr id="387105" name="Rectangle 33"/>
          <p:cNvSpPr>
            <a:spLocks noChangeArrowheads="1"/>
          </p:cNvSpPr>
          <p:nvPr/>
        </p:nvSpPr>
        <p:spPr bwMode="auto">
          <a:xfrm>
            <a:off x="683568" y="2204864"/>
            <a:ext cx="2969083" cy="461665"/>
          </a:xfrm>
          <a:prstGeom prst="rect">
            <a:avLst/>
          </a:prstGeom>
          <a:noFill/>
          <a:ln w="9525">
            <a:noFill/>
            <a:miter lim="800000"/>
            <a:headEnd/>
            <a:tailEnd/>
          </a:ln>
        </p:spPr>
        <p:txBody>
          <a:bodyPr wrap="none" anchor="ctr">
            <a:spAutoFit/>
          </a:bodyPr>
          <a:lstStyle/>
          <a:p>
            <a:r>
              <a:rPr lang="zh-CN" altLang="en-US" sz="2400" b="1" dirty="0">
                <a:solidFill>
                  <a:srgbClr val="FF0000"/>
                </a:solidFill>
                <a:ea typeface="楷体_GB2312" pitchFamily="49" charset="-122"/>
                <a:cs typeface="Times New Roman" pitchFamily="18" charset="0"/>
              </a:rPr>
              <a:t>或非门及其等效符号</a:t>
            </a:r>
          </a:p>
        </p:txBody>
      </p:sp>
      <p:graphicFrame>
        <p:nvGraphicFramePr>
          <p:cNvPr id="387106" name="Object 4"/>
          <p:cNvGraphicFramePr>
            <a:graphicFrameLocks noChangeAspect="1"/>
          </p:cNvGraphicFramePr>
          <p:nvPr/>
        </p:nvGraphicFramePr>
        <p:xfrm>
          <a:off x="5075412" y="2780928"/>
          <a:ext cx="2822575" cy="1241425"/>
        </p:xfrm>
        <a:graphic>
          <a:graphicData uri="http://schemas.openxmlformats.org/presentationml/2006/ole">
            <p:oleObj spid="_x0000_s348164" name="图片" r:id="rId6" imgW="1124640" imgH="484560" progId="Word.Picture.8">
              <p:embed/>
            </p:oleObj>
          </a:graphicData>
        </a:graphic>
      </p:graphicFrame>
      <p:graphicFrame>
        <p:nvGraphicFramePr>
          <p:cNvPr id="387107" name="Object 5"/>
          <p:cNvGraphicFramePr>
            <a:graphicFrameLocks noChangeAspect="1"/>
          </p:cNvGraphicFramePr>
          <p:nvPr/>
        </p:nvGraphicFramePr>
        <p:xfrm>
          <a:off x="4140374" y="3214315"/>
          <a:ext cx="765175" cy="322263"/>
        </p:xfrm>
        <a:graphic>
          <a:graphicData uri="http://schemas.openxmlformats.org/presentationml/2006/ole">
            <p:oleObj spid="_x0000_s348165" name="图片" r:id="rId7" imgW="304920" imgH="124920" progId="Word.Picture.8">
              <p:embed/>
            </p:oleObj>
          </a:graphicData>
        </a:graphic>
      </p:graphicFrame>
      <p:sp>
        <p:nvSpPr>
          <p:cNvPr id="7" name="标题 1"/>
          <p:cNvSpPr txBox="1">
            <a:spLocks/>
          </p:cNvSpPr>
          <p:nvPr/>
        </p:nvSpPr>
        <p:spPr>
          <a:xfrm>
            <a:off x="1259632" y="116632"/>
            <a:ext cx="7400998" cy="566936"/>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4.1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组合逻辑电路分析</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
        <p:nvSpPr>
          <p:cNvPr id="8" name="标题 1"/>
          <p:cNvSpPr txBox="1">
            <a:spLocks/>
          </p:cNvSpPr>
          <p:nvPr/>
        </p:nvSpPr>
        <p:spPr>
          <a:xfrm>
            <a:off x="1331640" y="692696"/>
            <a:ext cx="7545014" cy="576064"/>
          </a:xfrm>
          <a:prstGeom prst="rect">
            <a:avLst/>
          </a:prstGeom>
        </p:spPr>
        <p:txBody>
          <a:bodyPr/>
          <a:lstStyle/>
          <a:p>
            <a:r>
              <a:rPr lang="zh-CN" altLang="en-US" sz="3200" b="1" dirty="0" smtClean="0"/>
              <a:t>逻辑电路图</a:t>
            </a:r>
            <a:endParaRPr lang="zh-CN" altLang="en-US" sz="3200" b="1" dirty="0">
              <a:latin typeface="+mn-ea"/>
            </a:endParaRPr>
          </a:p>
        </p:txBody>
      </p:sp>
      <p:sp>
        <p:nvSpPr>
          <p:cNvPr id="12" name="下箭头 11"/>
          <p:cNvSpPr/>
          <p:nvPr/>
        </p:nvSpPr>
        <p:spPr>
          <a:xfrm>
            <a:off x="6156176" y="4005064"/>
            <a:ext cx="288032" cy="720079"/>
          </a:xfrm>
          <a:prstGeom prst="downArrow">
            <a:avLst/>
          </a:prstGeom>
          <a:solidFill>
            <a:srgbClr val="FFFF00"/>
          </a:solidFill>
          <a:ln w="15875">
            <a:solidFill>
              <a:srgbClr val="FF0000"/>
            </a:solidFill>
            <a:prstDash val="solid"/>
          </a:ln>
        </p:spPr>
        <p:txBody>
          <a:bodyPr wrap="square" rtlCol="0" anchor="ctr">
            <a:noAutofit/>
          </a:bodyPr>
          <a:lstStyle/>
          <a:p>
            <a:pPr algn="ctr"/>
            <a:endParaRPr lang="zh-CN" altLang="en-US" sz="2000" b="1" dirty="0">
              <a:latin typeface="华文新魏" pitchFamily="2" charset="-122"/>
              <a:ea typeface="华文新魏" pitchFamily="2" charset="-122"/>
            </a:endParaRPr>
          </a:p>
        </p:txBody>
      </p:sp>
      <p:pic>
        <p:nvPicPr>
          <p:cNvPr id="348167" name="Picture 7"/>
          <p:cNvPicPr>
            <a:picLocks noChangeAspect="1" noChangeArrowheads="1"/>
          </p:cNvPicPr>
          <p:nvPr/>
        </p:nvPicPr>
        <p:blipFill>
          <a:blip r:embed="rId8" cstate="print"/>
          <a:srcRect/>
          <a:stretch>
            <a:fillRect/>
          </a:stretch>
        </p:blipFill>
        <p:spPr bwMode="auto">
          <a:xfrm>
            <a:off x="4716016" y="4725144"/>
            <a:ext cx="3528392" cy="1825881"/>
          </a:xfrm>
          <a:prstGeom prst="rect">
            <a:avLst/>
          </a:prstGeom>
          <a:noFill/>
          <a:ln w="9525">
            <a:noFill/>
            <a:miter lim="800000"/>
            <a:headEnd/>
            <a:tailEnd/>
          </a:ln>
        </p:spPr>
      </p:pic>
      <p:sp>
        <p:nvSpPr>
          <p:cNvPr id="11" name="Rectangle 21"/>
          <p:cNvSpPr>
            <a:spLocks noChangeArrowheads="1"/>
          </p:cNvSpPr>
          <p:nvPr/>
        </p:nvSpPr>
        <p:spPr bwMode="auto">
          <a:xfrm>
            <a:off x="539552" y="1556792"/>
            <a:ext cx="5329237" cy="461665"/>
          </a:xfrm>
          <a:prstGeom prst="rect">
            <a:avLst/>
          </a:prstGeom>
          <a:noFill/>
          <a:ln w="9525">
            <a:noFill/>
            <a:miter lim="800000"/>
            <a:headEnd/>
            <a:tailEnd/>
          </a:ln>
        </p:spPr>
        <p:txBody>
          <a:bodyPr>
            <a:spAutoFit/>
          </a:bodyPr>
          <a:lstStyle/>
          <a:p>
            <a:pPr algn="l"/>
            <a:r>
              <a:rPr lang="en-US" altLang="zh-CN" sz="2400" b="1" dirty="0" smtClean="0">
                <a:solidFill>
                  <a:srgbClr val="000066"/>
                </a:solidFill>
                <a:ea typeface="楷体_GB2312" pitchFamily="49" charset="-122"/>
              </a:rPr>
              <a:t>(1) </a:t>
            </a:r>
            <a:r>
              <a:rPr lang="zh-CN" altLang="en-US" sz="2400" b="1" dirty="0" smtClean="0">
                <a:solidFill>
                  <a:srgbClr val="000066"/>
                </a:solidFill>
                <a:ea typeface="楷体_GB2312" pitchFamily="49" charset="-122"/>
              </a:rPr>
              <a:t> 基本</a:t>
            </a:r>
            <a:r>
              <a:rPr lang="zh-CN" altLang="en-US" sz="2400" b="1" dirty="0">
                <a:solidFill>
                  <a:srgbClr val="000066"/>
                </a:solidFill>
                <a:ea typeface="楷体_GB2312" pitchFamily="49" charset="-122"/>
              </a:rPr>
              <a:t>逻辑门电路的等效符号</a:t>
            </a:r>
          </a:p>
        </p:txBody>
      </p:sp>
      <p:pic>
        <p:nvPicPr>
          <p:cNvPr id="13" name="Picture 13"/>
          <p:cNvPicPr>
            <a:picLocks noChangeAspect="1" noChangeArrowheads="1"/>
          </p:cNvPicPr>
          <p:nvPr/>
        </p:nvPicPr>
        <p:blipFill>
          <a:blip r:embed="rId9" cstate="print"/>
          <a:srcRect/>
          <a:stretch>
            <a:fillRect/>
          </a:stretch>
        </p:blipFill>
        <p:spPr bwMode="auto">
          <a:xfrm>
            <a:off x="1475656" y="4437112"/>
            <a:ext cx="2041727" cy="1785367"/>
          </a:xfrm>
          <a:prstGeom prst="rect">
            <a:avLst/>
          </a:prstGeom>
          <a:noFill/>
          <a:ln w="9525">
            <a:noFill/>
            <a:miter lim="800000"/>
            <a:headEnd/>
            <a:tailEnd/>
          </a:ln>
        </p:spPr>
      </p:pic>
    </p:spTree>
  </p:cSld>
  <p:clrMapOvr>
    <a:masterClrMapping/>
  </p:clrMapOvr>
  <p:transition>
    <p:wipe dir="r"/>
    <p:sndAc>
      <p:stSnd>
        <p:snd r:embed="rId3" name="PROJCTOR.WAV"/>
      </p:stSnd>
    </p:sndAc>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8117" name="Object 2"/>
          <p:cNvGraphicFramePr>
            <a:graphicFrameLocks noChangeAspect="1"/>
          </p:cNvGraphicFramePr>
          <p:nvPr/>
        </p:nvGraphicFramePr>
        <p:xfrm>
          <a:off x="683568" y="2636912"/>
          <a:ext cx="7547620" cy="1285199"/>
        </p:xfrm>
        <a:graphic>
          <a:graphicData uri="http://schemas.openxmlformats.org/presentationml/2006/ole">
            <p:oleObj spid="_x0000_s354306" name="图片" r:id="rId4" imgW="2914650" imgH="485775" progId="Word.Picture.8">
              <p:embed/>
            </p:oleObj>
          </a:graphicData>
        </a:graphic>
      </p:graphicFrame>
      <p:sp>
        <p:nvSpPr>
          <p:cNvPr id="47110" name="Rectangle 23"/>
          <p:cNvSpPr>
            <a:spLocks noChangeArrowheads="1"/>
          </p:cNvSpPr>
          <p:nvPr/>
        </p:nvSpPr>
        <p:spPr bwMode="auto">
          <a:xfrm>
            <a:off x="0" y="3056924"/>
            <a:ext cx="9144000" cy="0"/>
          </a:xfrm>
          <a:prstGeom prst="rect">
            <a:avLst/>
          </a:prstGeom>
          <a:noFill/>
          <a:ln w="9525">
            <a:noFill/>
            <a:miter lim="800000"/>
            <a:headEnd/>
            <a:tailEnd/>
          </a:ln>
        </p:spPr>
        <p:txBody>
          <a:bodyPr wrap="none" anchor="ctr">
            <a:spAutoFit/>
          </a:bodyPr>
          <a:lstStyle/>
          <a:p>
            <a:pPr indent="266700" algn="l"/>
            <a:endParaRPr lang="zh-CN" altLang="zh-CN" b="0">
              <a:latin typeface="Arial" pitchFamily="34" charset="0"/>
            </a:endParaRPr>
          </a:p>
        </p:txBody>
      </p:sp>
      <p:graphicFrame>
        <p:nvGraphicFramePr>
          <p:cNvPr id="388120" name="Object 4"/>
          <p:cNvGraphicFramePr>
            <a:graphicFrameLocks noChangeAspect="1"/>
          </p:cNvGraphicFramePr>
          <p:nvPr/>
        </p:nvGraphicFramePr>
        <p:xfrm>
          <a:off x="5076056" y="1964749"/>
          <a:ext cx="2520330" cy="611078"/>
        </p:xfrm>
        <a:graphic>
          <a:graphicData uri="http://schemas.openxmlformats.org/presentationml/2006/ole">
            <p:oleObj spid="_x0000_s354308" name="公式" r:id="rId5" imgW="888840" imgH="215640" progId="">
              <p:embed/>
            </p:oleObj>
          </a:graphicData>
        </a:graphic>
      </p:graphicFrame>
      <p:sp>
        <p:nvSpPr>
          <p:cNvPr id="7" name="标题 1"/>
          <p:cNvSpPr txBox="1">
            <a:spLocks/>
          </p:cNvSpPr>
          <p:nvPr/>
        </p:nvSpPr>
        <p:spPr>
          <a:xfrm>
            <a:off x="1259632" y="116632"/>
            <a:ext cx="7400998" cy="566936"/>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4.1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组合逻辑电路分析</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
        <p:nvSpPr>
          <p:cNvPr id="8" name="标题 1"/>
          <p:cNvSpPr txBox="1">
            <a:spLocks/>
          </p:cNvSpPr>
          <p:nvPr/>
        </p:nvSpPr>
        <p:spPr>
          <a:xfrm>
            <a:off x="1331640" y="692696"/>
            <a:ext cx="7545014" cy="576064"/>
          </a:xfrm>
          <a:prstGeom prst="rect">
            <a:avLst/>
          </a:prstGeom>
        </p:spPr>
        <p:txBody>
          <a:bodyPr/>
          <a:lstStyle/>
          <a:p>
            <a:r>
              <a:rPr lang="zh-CN" altLang="en-US" sz="3200" b="1" dirty="0" smtClean="0"/>
              <a:t>逻辑电路图</a:t>
            </a:r>
            <a:endParaRPr lang="zh-CN" altLang="en-US" sz="3200" b="1" dirty="0">
              <a:latin typeface="+mn-ea"/>
            </a:endParaRPr>
          </a:p>
        </p:txBody>
      </p:sp>
      <p:sp>
        <p:nvSpPr>
          <p:cNvPr id="10" name="下箭头 9"/>
          <p:cNvSpPr/>
          <p:nvPr/>
        </p:nvSpPr>
        <p:spPr>
          <a:xfrm>
            <a:off x="5796136" y="3980973"/>
            <a:ext cx="288032" cy="720079"/>
          </a:xfrm>
          <a:prstGeom prst="downArrow">
            <a:avLst/>
          </a:prstGeom>
          <a:solidFill>
            <a:srgbClr val="FFFF00"/>
          </a:solidFill>
          <a:ln w="15875">
            <a:solidFill>
              <a:srgbClr val="FF0000"/>
            </a:solidFill>
            <a:prstDash val="solid"/>
          </a:ln>
        </p:spPr>
        <p:txBody>
          <a:bodyPr wrap="square" rtlCol="0" anchor="ctr">
            <a:noAutofit/>
          </a:bodyPr>
          <a:lstStyle/>
          <a:p>
            <a:pPr algn="ctr"/>
            <a:endParaRPr lang="zh-CN" altLang="en-US" sz="2000" b="1" dirty="0">
              <a:latin typeface="华文新魏" pitchFamily="2" charset="-122"/>
              <a:ea typeface="华文新魏" pitchFamily="2" charset="-122"/>
            </a:endParaRPr>
          </a:p>
        </p:txBody>
      </p:sp>
      <p:pic>
        <p:nvPicPr>
          <p:cNvPr id="354310" name="Picture 6"/>
          <p:cNvPicPr>
            <a:picLocks noChangeAspect="1" noChangeArrowheads="1"/>
          </p:cNvPicPr>
          <p:nvPr/>
        </p:nvPicPr>
        <p:blipFill>
          <a:blip r:embed="rId6" cstate="print"/>
          <a:srcRect/>
          <a:stretch>
            <a:fillRect/>
          </a:stretch>
        </p:blipFill>
        <p:spPr bwMode="auto">
          <a:xfrm>
            <a:off x="4932040" y="4773061"/>
            <a:ext cx="3600400" cy="1869107"/>
          </a:xfrm>
          <a:prstGeom prst="rect">
            <a:avLst/>
          </a:prstGeom>
          <a:noFill/>
          <a:ln w="9525">
            <a:noFill/>
            <a:miter lim="800000"/>
            <a:headEnd/>
            <a:tailEnd/>
          </a:ln>
        </p:spPr>
      </p:pic>
      <p:sp>
        <p:nvSpPr>
          <p:cNvPr id="9" name="Rectangle 33"/>
          <p:cNvSpPr>
            <a:spLocks noChangeArrowheads="1"/>
          </p:cNvSpPr>
          <p:nvPr/>
        </p:nvSpPr>
        <p:spPr bwMode="auto">
          <a:xfrm>
            <a:off x="683568" y="2204864"/>
            <a:ext cx="2659702" cy="461665"/>
          </a:xfrm>
          <a:prstGeom prst="rect">
            <a:avLst/>
          </a:prstGeom>
          <a:noFill/>
          <a:ln w="9525">
            <a:noFill/>
            <a:miter lim="800000"/>
            <a:headEnd/>
            <a:tailEnd/>
          </a:ln>
        </p:spPr>
        <p:txBody>
          <a:bodyPr wrap="none" anchor="ctr">
            <a:spAutoFit/>
          </a:bodyPr>
          <a:lstStyle/>
          <a:p>
            <a:r>
              <a:rPr lang="zh-CN" altLang="en-US" sz="2400" b="1" dirty="0" smtClean="0">
                <a:solidFill>
                  <a:srgbClr val="FF0000"/>
                </a:solidFill>
                <a:ea typeface="楷体_GB2312" pitchFamily="49" charset="-122"/>
                <a:cs typeface="Times New Roman" pitchFamily="18" charset="0"/>
              </a:rPr>
              <a:t>与门</a:t>
            </a:r>
            <a:r>
              <a:rPr lang="zh-CN" altLang="en-US" sz="2400" b="1" dirty="0">
                <a:solidFill>
                  <a:srgbClr val="FF0000"/>
                </a:solidFill>
                <a:ea typeface="楷体_GB2312" pitchFamily="49" charset="-122"/>
                <a:cs typeface="Times New Roman" pitchFamily="18" charset="0"/>
              </a:rPr>
              <a:t>及其等效符号</a:t>
            </a:r>
          </a:p>
        </p:txBody>
      </p:sp>
      <p:sp>
        <p:nvSpPr>
          <p:cNvPr id="11" name="Rectangle 21"/>
          <p:cNvSpPr>
            <a:spLocks noChangeArrowheads="1"/>
          </p:cNvSpPr>
          <p:nvPr/>
        </p:nvSpPr>
        <p:spPr bwMode="auto">
          <a:xfrm>
            <a:off x="539552" y="1556792"/>
            <a:ext cx="5329237" cy="461665"/>
          </a:xfrm>
          <a:prstGeom prst="rect">
            <a:avLst/>
          </a:prstGeom>
          <a:noFill/>
          <a:ln w="9525">
            <a:noFill/>
            <a:miter lim="800000"/>
            <a:headEnd/>
            <a:tailEnd/>
          </a:ln>
        </p:spPr>
        <p:txBody>
          <a:bodyPr>
            <a:spAutoFit/>
          </a:bodyPr>
          <a:lstStyle/>
          <a:p>
            <a:pPr algn="l"/>
            <a:r>
              <a:rPr lang="en-US" altLang="zh-CN" sz="2400" b="1" dirty="0" smtClean="0">
                <a:solidFill>
                  <a:srgbClr val="000066"/>
                </a:solidFill>
                <a:ea typeface="楷体_GB2312" pitchFamily="49" charset="-122"/>
              </a:rPr>
              <a:t>(1)</a:t>
            </a:r>
            <a:r>
              <a:rPr lang="zh-CN" altLang="en-US" sz="2400" b="1" dirty="0" smtClean="0">
                <a:solidFill>
                  <a:srgbClr val="000066"/>
                </a:solidFill>
                <a:ea typeface="楷体_GB2312" pitchFamily="49" charset="-122"/>
              </a:rPr>
              <a:t> 基本</a:t>
            </a:r>
            <a:r>
              <a:rPr lang="zh-CN" altLang="en-US" sz="2400" b="1" dirty="0">
                <a:solidFill>
                  <a:srgbClr val="000066"/>
                </a:solidFill>
                <a:ea typeface="楷体_GB2312" pitchFamily="49" charset="-122"/>
              </a:rPr>
              <a:t>逻辑门电路的等效符号</a:t>
            </a:r>
          </a:p>
        </p:txBody>
      </p:sp>
      <p:pic>
        <p:nvPicPr>
          <p:cNvPr id="12" name="Picture 14"/>
          <p:cNvPicPr>
            <a:picLocks noChangeAspect="1" noChangeArrowheads="1"/>
          </p:cNvPicPr>
          <p:nvPr/>
        </p:nvPicPr>
        <p:blipFill>
          <a:blip r:embed="rId7" cstate="print"/>
          <a:srcRect/>
          <a:stretch>
            <a:fillRect/>
          </a:stretch>
        </p:blipFill>
        <p:spPr bwMode="auto">
          <a:xfrm>
            <a:off x="1187624" y="4221088"/>
            <a:ext cx="2016224" cy="1788753"/>
          </a:xfrm>
          <a:prstGeom prst="rect">
            <a:avLst/>
          </a:prstGeom>
          <a:noFill/>
          <a:ln w="9525">
            <a:noFill/>
            <a:miter lim="800000"/>
            <a:headEnd/>
            <a:tailEnd/>
          </a:ln>
        </p:spPr>
      </p:pic>
    </p:spTree>
  </p:cSld>
  <p:clrMapOvr>
    <a:masterClrMapping/>
  </p:clrMapOvr>
  <p:transition>
    <p:wipe dir="r"/>
    <p:sndAc>
      <p:stSnd>
        <p:snd r:embed="rId3" name="PROJCTOR.WAV"/>
      </p:stSnd>
    </p:sndAc>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8118" name="Object 3"/>
          <p:cNvGraphicFramePr>
            <a:graphicFrameLocks noChangeAspect="1"/>
          </p:cNvGraphicFramePr>
          <p:nvPr/>
        </p:nvGraphicFramePr>
        <p:xfrm>
          <a:off x="755576" y="2564904"/>
          <a:ext cx="7920880" cy="1262418"/>
        </p:xfrm>
        <a:graphic>
          <a:graphicData uri="http://schemas.openxmlformats.org/presentationml/2006/ole">
            <p:oleObj spid="_x0000_s349187" name="图片" r:id="rId4" imgW="3114675" imgH="485775" progId="Word.Picture.8">
              <p:embed/>
            </p:oleObj>
          </a:graphicData>
        </a:graphic>
      </p:graphicFrame>
      <p:sp>
        <p:nvSpPr>
          <p:cNvPr id="47110" name="Rectangle 23"/>
          <p:cNvSpPr>
            <a:spLocks noChangeArrowheads="1"/>
          </p:cNvSpPr>
          <p:nvPr/>
        </p:nvSpPr>
        <p:spPr bwMode="auto">
          <a:xfrm>
            <a:off x="0" y="2864991"/>
            <a:ext cx="9144000" cy="0"/>
          </a:xfrm>
          <a:prstGeom prst="rect">
            <a:avLst/>
          </a:prstGeom>
          <a:noFill/>
          <a:ln w="9525">
            <a:noFill/>
            <a:miter lim="800000"/>
            <a:headEnd/>
            <a:tailEnd/>
          </a:ln>
        </p:spPr>
        <p:txBody>
          <a:bodyPr wrap="none" anchor="ctr">
            <a:spAutoFit/>
          </a:bodyPr>
          <a:lstStyle/>
          <a:p>
            <a:pPr indent="266700" algn="l"/>
            <a:endParaRPr lang="zh-CN" altLang="zh-CN" b="0">
              <a:latin typeface="Arial" pitchFamily="34" charset="0"/>
            </a:endParaRPr>
          </a:p>
        </p:txBody>
      </p:sp>
      <p:graphicFrame>
        <p:nvGraphicFramePr>
          <p:cNvPr id="388121" name="Object 5"/>
          <p:cNvGraphicFramePr>
            <a:graphicFrameLocks noChangeAspect="1"/>
          </p:cNvGraphicFramePr>
          <p:nvPr/>
        </p:nvGraphicFramePr>
        <p:xfrm>
          <a:off x="4716016" y="1844824"/>
          <a:ext cx="2679416" cy="598288"/>
        </p:xfrm>
        <a:graphic>
          <a:graphicData uri="http://schemas.openxmlformats.org/presentationml/2006/ole">
            <p:oleObj spid="_x0000_s349189" name="公式" r:id="rId5" imgW="965160" imgH="215640" progId="">
              <p:embed/>
            </p:oleObj>
          </a:graphicData>
        </a:graphic>
      </p:graphicFrame>
      <p:sp>
        <p:nvSpPr>
          <p:cNvPr id="7" name="标题 1"/>
          <p:cNvSpPr txBox="1">
            <a:spLocks/>
          </p:cNvSpPr>
          <p:nvPr/>
        </p:nvSpPr>
        <p:spPr>
          <a:xfrm>
            <a:off x="1259632" y="116632"/>
            <a:ext cx="7400998" cy="566936"/>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4.1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组合逻辑电路分析</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
        <p:nvSpPr>
          <p:cNvPr id="8" name="标题 1"/>
          <p:cNvSpPr txBox="1">
            <a:spLocks/>
          </p:cNvSpPr>
          <p:nvPr/>
        </p:nvSpPr>
        <p:spPr>
          <a:xfrm>
            <a:off x="1331640" y="692696"/>
            <a:ext cx="7545014" cy="576064"/>
          </a:xfrm>
          <a:prstGeom prst="rect">
            <a:avLst/>
          </a:prstGeom>
        </p:spPr>
        <p:txBody>
          <a:bodyPr/>
          <a:lstStyle/>
          <a:p>
            <a:r>
              <a:rPr lang="zh-CN" altLang="en-US" sz="3200" b="1" dirty="0" smtClean="0"/>
              <a:t>逻辑电路图</a:t>
            </a:r>
            <a:endParaRPr lang="zh-CN" altLang="en-US" sz="3200" b="1" dirty="0">
              <a:latin typeface="+mn-ea"/>
            </a:endParaRPr>
          </a:p>
        </p:txBody>
      </p:sp>
      <p:sp>
        <p:nvSpPr>
          <p:cNvPr id="13" name="下箭头 12"/>
          <p:cNvSpPr/>
          <p:nvPr/>
        </p:nvSpPr>
        <p:spPr>
          <a:xfrm>
            <a:off x="5580112" y="3861048"/>
            <a:ext cx="288032" cy="648072"/>
          </a:xfrm>
          <a:prstGeom prst="downArrow">
            <a:avLst/>
          </a:prstGeom>
          <a:solidFill>
            <a:srgbClr val="FFFF00"/>
          </a:solidFill>
          <a:ln w="15875">
            <a:solidFill>
              <a:srgbClr val="FF0000"/>
            </a:solidFill>
            <a:prstDash val="solid"/>
          </a:ln>
        </p:spPr>
        <p:txBody>
          <a:bodyPr wrap="square" rtlCol="0" anchor="ctr">
            <a:noAutofit/>
          </a:bodyPr>
          <a:lstStyle/>
          <a:p>
            <a:pPr algn="ctr"/>
            <a:endParaRPr lang="zh-CN" altLang="en-US" sz="2000" b="1" dirty="0">
              <a:latin typeface="华文新魏" pitchFamily="2" charset="-122"/>
              <a:ea typeface="华文新魏" pitchFamily="2" charset="-122"/>
            </a:endParaRPr>
          </a:p>
        </p:txBody>
      </p:sp>
      <p:pic>
        <p:nvPicPr>
          <p:cNvPr id="349191" name="Picture 7"/>
          <p:cNvPicPr>
            <a:picLocks noChangeAspect="1" noChangeArrowheads="1"/>
          </p:cNvPicPr>
          <p:nvPr/>
        </p:nvPicPr>
        <p:blipFill>
          <a:blip r:embed="rId6" cstate="print"/>
          <a:srcRect/>
          <a:stretch>
            <a:fillRect/>
          </a:stretch>
        </p:blipFill>
        <p:spPr bwMode="auto">
          <a:xfrm>
            <a:off x="3995936" y="4581128"/>
            <a:ext cx="4423112" cy="2060848"/>
          </a:xfrm>
          <a:prstGeom prst="rect">
            <a:avLst/>
          </a:prstGeom>
          <a:noFill/>
          <a:ln w="9525">
            <a:noFill/>
            <a:miter lim="800000"/>
            <a:headEnd/>
            <a:tailEnd/>
          </a:ln>
        </p:spPr>
      </p:pic>
      <p:sp>
        <p:nvSpPr>
          <p:cNvPr id="9" name="Rectangle 33"/>
          <p:cNvSpPr>
            <a:spLocks noChangeArrowheads="1"/>
          </p:cNvSpPr>
          <p:nvPr/>
        </p:nvSpPr>
        <p:spPr bwMode="auto">
          <a:xfrm>
            <a:off x="683568" y="2204864"/>
            <a:ext cx="2659702" cy="461665"/>
          </a:xfrm>
          <a:prstGeom prst="rect">
            <a:avLst/>
          </a:prstGeom>
          <a:noFill/>
          <a:ln w="9525">
            <a:noFill/>
            <a:miter lim="800000"/>
            <a:headEnd/>
            <a:tailEnd/>
          </a:ln>
        </p:spPr>
        <p:txBody>
          <a:bodyPr wrap="none" anchor="ctr">
            <a:spAutoFit/>
          </a:bodyPr>
          <a:lstStyle/>
          <a:p>
            <a:r>
              <a:rPr lang="zh-CN" altLang="en-US" sz="2400" b="1" dirty="0" smtClean="0">
                <a:solidFill>
                  <a:srgbClr val="FF0000"/>
                </a:solidFill>
                <a:ea typeface="楷体_GB2312" pitchFamily="49" charset="-122"/>
                <a:cs typeface="Times New Roman" pitchFamily="18" charset="0"/>
              </a:rPr>
              <a:t>或门</a:t>
            </a:r>
            <a:r>
              <a:rPr lang="zh-CN" altLang="en-US" sz="2400" b="1" dirty="0">
                <a:solidFill>
                  <a:srgbClr val="FF0000"/>
                </a:solidFill>
                <a:ea typeface="楷体_GB2312" pitchFamily="49" charset="-122"/>
                <a:cs typeface="Times New Roman" pitchFamily="18" charset="0"/>
              </a:rPr>
              <a:t>及其等效符号</a:t>
            </a:r>
          </a:p>
        </p:txBody>
      </p:sp>
      <p:sp>
        <p:nvSpPr>
          <p:cNvPr id="10" name="Rectangle 21"/>
          <p:cNvSpPr>
            <a:spLocks noChangeArrowheads="1"/>
          </p:cNvSpPr>
          <p:nvPr/>
        </p:nvSpPr>
        <p:spPr bwMode="auto">
          <a:xfrm>
            <a:off x="539552" y="1556792"/>
            <a:ext cx="5329237" cy="461665"/>
          </a:xfrm>
          <a:prstGeom prst="rect">
            <a:avLst/>
          </a:prstGeom>
          <a:noFill/>
          <a:ln w="9525">
            <a:noFill/>
            <a:miter lim="800000"/>
            <a:headEnd/>
            <a:tailEnd/>
          </a:ln>
        </p:spPr>
        <p:txBody>
          <a:bodyPr>
            <a:spAutoFit/>
          </a:bodyPr>
          <a:lstStyle/>
          <a:p>
            <a:pPr algn="l"/>
            <a:r>
              <a:rPr lang="en-US" altLang="zh-CN" sz="2400" b="1" dirty="0" smtClean="0">
                <a:solidFill>
                  <a:srgbClr val="000066"/>
                </a:solidFill>
                <a:ea typeface="楷体_GB2312" pitchFamily="49" charset="-122"/>
              </a:rPr>
              <a:t>(1) </a:t>
            </a:r>
            <a:r>
              <a:rPr lang="zh-CN" altLang="en-US" sz="2400" b="1" dirty="0" smtClean="0">
                <a:solidFill>
                  <a:srgbClr val="000066"/>
                </a:solidFill>
                <a:ea typeface="楷体_GB2312" pitchFamily="49" charset="-122"/>
              </a:rPr>
              <a:t> 基本</a:t>
            </a:r>
            <a:r>
              <a:rPr lang="zh-CN" altLang="en-US" sz="2400" b="1" dirty="0">
                <a:solidFill>
                  <a:srgbClr val="000066"/>
                </a:solidFill>
                <a:ea typeface="楷体_GB2312" pitchFamily="49" charset="-122"/>
              </a:rPr>
              <a:t>逻辑门电路的等效符号</a:t>
            </a:r>
          </a:p>
        </p:txBody>
      </p:sp>
      <p:pic>
        <p:nvPicPr>
          <p:cNvPr id="349190" name="Picture 6"/>
          <p:cNvPicPr>
            <a:picLocks noChangeAspect="1" noChangeArrowheads="1"/>
          </p:cNvPicPr>
          <p:nvPr/>
        </p:nvPicPr>
        <p:blipFill>
          <a:blip r:embed="rId7" cstate="print"/>
          <a:srcRect/>
          <a:stretch>
            <a:fillRect/>
          </a:stretch>
        </p:blipFill>
        <p:spPr bwMode="auto">
          <a:xfrm>
            <a:off x="899592" y="4221088"/>
            <a:ext cx="2232248" cy="1955686"/>
          </a:xfrm>
          <a:prstGeom prst="rect">
            <a:avLst/>
          </a:prstGeom>
          <a:noFill/>
          <a:ln w="9525">
            <a:noFill/>
            <a:miter lim="800000"/>
            <a:headEnd/>
            <a:tailEnd/>
          </a:ln>
        </p:spPr>
      </p:pic>
    </p:spTree>
  </p:cSld>
  <p:clrMapOvr>
    <a:masterClrMapping/>
  </p:clrMapOvr>
  <p:transition>
    <p:wipe dir="r"/>
    <p:sndAc>
      <p:stSnd>
        <p:snd r:embed="rId3" name="PROJCTOR.WAV"/>
      </p:stSnd>
    </p:sndAc>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0217" name="Picture 9"/>
          <p:cNvPicPr>
            <a:picLocks noChangeAspect="1" noChangeArrowheads="1"/>
          </p:cNvPicPr>
          <p:nvPr/>
        </p:nvPicPr>
        <p:blipFill>
          <a:blip r:embed="rId4" cstate="print"/>
          <a:srcRect/>
          <a:stretch>
            <a:fillRect/>
          </a:stretch>
        </p:blipFill>
        <p:spPr bwMode="auto">
          <a:xfrm>
            <a:off x="1187624" y="4725144"/>
            <a:ext cx="3114675" cy="1885950"/>
          </a:xfrm>
          <a:prstGeom prst="rect">
            <a:avLst/>
          </a:prstGeom>
          <a:noFill/>
          <a:ln w="9525">
            <a:noFill/>
            <a:miter lim="800000"/>
            <a:headEnd/>
            <a:tailEnd/>
          </a:ln>
        </p:spPr>
      </p:pic>
      <p:pic>
        <p:nvPicPr>
          <p:cNvPr id="350216" name="Picture 8"/>
          <p:cNvPicPr>
            <a:picLocks noChangeAspect="1" noChangeArrowheads="1"/>
          </p:cNvPicPr>
          <p:nvPr/>
        </p:nvPicPr>
        <p:blipFill>
          <a:blip r:embed="rId5" cstate="print"/>
          <a:srcRect/>
          <a:stretch>
            <a:fillRect/>
          </a:stretch>
        </p:blipFill>
        <p:spPr bwMode="auto">
          <a:xfrm>
            <a:off x="5148064" y="2420888"/>
            <a:ext cx="2933700" cy="1685925"/>
          </a:xfrm>
          <a:prstGeom prst="rect">
            <a:avLst/>
          </a:prstGeom>
          <a:noFill/>
          <a:ln w="9525">
            <a:noFill/>
            <a:miter lim="800000"/>
            <a:headEnd/>
            <a:tailEnd/>
          </a:ln>
        </p:spPr>
      </p:pic>
      <p:pic>
        <p:nvPicPr>
          <p:cNvPr id="350214" name="Picture 6"/>
          <p:cNvPicPr>
            <a:picLocks noChangeAspect="1" noChangeArrowheads="1"/>
          </p:cNvPicPr>
          <p:nvPr/>
        </p:nvPicPr>
        <p:blipFill>
          <a:blip r:embed="rId6" cstate="print"/>
          <a:srcRect/>
          <a:stretch>
            <a:fillRect/>
          </a:stretch>
        </p:blipFill>
        <p:spPr bwMode="auto">
          <a:xfrm>
            <a:off x="1187624" y="2348880"/>
            <a:ext cx="3095625" cy="1914525"/>
          </a:xfrm>
          <a:prstGeom prst="rect">
            <a:avLst/>
          </a:prstGeom>
          <a:noFill/>
          <a:ln w="9525">
            <a:noFill/>
            <a:miter lim="800000"/>
            <a:headEnd/>
            <a:tailEnd/>
          </a:ln>
        </p:spPr>
      </p:pic>
      <p:sp>
        <p:nvSpPr>
          <p:cNvPr id="48135" name="Rectangle 28"/>
          <p:cNvSpPr>
            <a:spLocks noChangeArrowheads="1"/>
          </p:cNvSpPr>
          <p:nvPr/>
        </p:nvSpPr>
        <p:spPr bwMode="auto">
          <a:xfrm>
            <a:off x="0" y="1662113"/>
            <a:ext cx="9144000" cy="0"/>
          </a:xfrm>
          <a:prstGeom prst="rect">
            <a:avLst/>
          </a:prstGeom>
          <a:noFill/>
          <a:ln w="9525">
            <a:noFill/>
            <a:miter lim="800000"/>
            <a:headEnd/>
            <a:tailEnd/>
          </a:ln>
        </p:spPr>
        <p:txBody>
          <a:bodyPr wrap="none" anchor="ctr">
            <a:spAutoFit/>
          </a:bodyPr>
          <a:lstStyle/>
          <a:p>
            <a:pPr indent="266700" algn="l"/>
            <a:endParaRPr lang="zh-CN" altLang="zh-CN" b="0">
              <a:latin typeface="Arial" pitchFamily="34" charset="0"/>
            </a:endParaRPr>
          </a:p>
        </p:txBody>
      </p:sp>
      <p:sp>
        <p:nvSpPr>
          <p:cNvPr id="48136" name="Rectangle 29"/>
          <p:cNvSpPr>
            <a:spLocks noChangeArrowheads="1"/>
          </p:cNvSpPr>
          <p:nvPr/>
        </p:nvSpPr>
        <p:spPr bwMode="auto">
          <a:xfrm>
            <a:off x="4267200" y="2509838"/>
            <a:ext cx="609600" cy="244475"/>
          </a:xfrm>
          <a:prstGeom prst="rect">
            <a:avLst/>
          </a:prstGeom>
          <a:noFill/>
          <a:ln w="9525">
            <a:noFill/>
            <a:miter lim="800000"/>
            <a:headEnd/>
            <a:tailEnd/>
          </a:ln>
        </p:spPr>
        <p:txBody>
          <a:bodyPr wrap="none" anchor="ctr">
            <a:spAutoFit/>
          </a:bodyPr>
          <a:lstStyle/>
          <a:p>
            <a:r>
              <a:rPr lang="en-US" altLang="zh-CN" sz="1000" b="0">
                <a:ea typeface="华康简宋" charset="-122"/>
                <a:cs typeface="Times New Roman" pitchFamily="18" charset="0"/>
              </a:rPr>
              <a:t>     </a:t>
            </a:r>
            <a:endParaRPr lang="en-US" altLang="zh-CN" b="0">
              <a:latin typeface="Arial" pitchFamily="34" charset="0"/>
              <a:ea typeface="华康简宋" charset="-122"/>
              <a:cs typeface="Times New Roman" pitchFamily="18" charset="0"/>
            </a:endParaRPr>
          </a:p>
        </p:txBody>
      </p:sp>
      <p:sp>
        <p:nvSpPr>
          <p:cNvPr id="48137" name="Rectangle 30"/>
          <p:cNvSpPr>
            <a:spLocks noChangeArrowheads="1"/>
          </p:cNvSpPr>
          <p:nvPr/>
        </p:nvSpPr>
        <p:spPr bwMode="auto">
          <a:xfrm>
            <a:off x="4067944" y="3645024"/>
            <a:ext cx="609600" cy="244475"/>
          </a:xfrm>
          <a:prstGeom prst="rect">
            <a:avLst/>
          </a:prstGeom>
          <a:noFill/>
          <a:ln w="9525">
            <a:noFill/>
            <a:miter lim="800000"/>
            <a:headEnd/>
            <a:tailEnd/>
          </a:ln>
        </p:spPr>
        <p:txBody>
          <a:bodyPr wrap="none" anchor="ctr">
            <a:spAutoFit/>
          </a:bodyPr>
          <a:lstStyle/>
          <a:p>
            <a:r>
              <a:rPr lang="en-US" altLang="zh-CN" sz="1000" b="0">
                <a:ea typeface="华康简宋" charset="-122"/>
                <a:cs typeface="Times New Roman" pitchFamily="18" charset="0"/>
              </a:rPr>
              <a:t>     </a:t>
            </a:r>
            <a:endParaRPr lang="en-US" altLang="zh-CN" b="0">
              <a:latin typeface="Arial" pitchFamily="34" charset="0"/>
              <a:ea typeface="华康简宋" charset="-122"/>
              <a:cs typeface="Times New Roman" pitchFamily="18" charset="0"/>
            </a:endParaRPr>
          </a:p>
        </p:txBody>
      </p:sp>
      <p:sp>
        <p:nvSpPr>
          <p:cNvPr id="48138" name="Rectangle 31"/>
          <p:cNvSpPr>
            <a:spLocks noChangeArrowheads="1"/>
          </p:cNvSpPr>
          <p:nvPr/>
        </p:nvSpPr>
        <p:spPr bwMode="auto">
          <a:xfrm>
            <a:off x="1259632" y="692696"/>
            <a:ext cx="3096344" cy="584775"/>
          </a:xfrm>
          <a:prstGeom prst="rect">
            <a:avLst/>
          </a:prstGeom>
          <a:noFill/>
          <a:ln w="9525">
            <a:noFill/>
            <a:miter lim="800000"/>
            <a:headEnd/>
            <a:tailEnd/>
          </a:ln>
        </p:spPr>
        <p:txBody>
          <a:bodyPr wrap="square" anchor="ctr">
            <a:spAutoFit/>
          </a:bodyPr>
          <a:lstStyle/>
          <a:p>
            <a:r>
              <a:rPr lang="zh-CN" altLang="en-US" sz="3200" b="1" dirty="0" smtClean="0"/>
              <a:t>逻辑电路图</a:t>
            </a:r>
            <a:endParaRPr lang="zh-CN" altLang="en-US" sz="3200" b="1" dirty="0">
              <a:latin typeface="+mn-ea"/>
            </a:endParaRPr>
          </a:p>
        </p:txBody>
      </p:sp>
      <p:sp>
        <p:nvSpPr>
          <p:cNvPr id="389152" name="AutoShape 32"/>
          <p:cNvSpPr>
            <a:spLocks noChangeArrowheads="1"/>
          </p:cNvSpPr>
          <p:nvPr/>
        </p:nvSpPr>
        <p:spPr bwMode="auto">
          <a:xfrm>
            <a:off x="3347864" y="3717032"/>
            <a:ext cx="288032" cy="1328023"/>
          </a:xfrm>
          <a:prstGeom prst="downArrow">
            <a:avLst>
              <a:gd name="adj1" fmla="val 50000"/>
              <a:gd name="adj2" fmla="val 88731"/>
            </a:avLst>
          </a:prstGeom>
          <a:solidFill>
            <a:srgbClr val="78CEEC"/>
          </a:solidFill>
          <a:ln w="9525">
            <a:noFill/>
            <a:miter lim="800000"/>
            <a:headEnd/>
            <a:tailEnd/>
          </a:ln>
        </p:spPr>
        <p:txBody>
          <a:bodyPr wrap="square">
            <a:spAutoFit/>
          </a:bodyPr>
          <a:lstStyle/>
          <a:p>
            <a:pPr algn="l"/>
            <a:endParaRPr lang="en-US" altLang="zh-CN" sz="2400">
              <a:solidFill>
                <a:srgbClr val="000066"/>
              </a:solidFill>
              <a:latin typeface="Arial" pitchFamily="34" charset="0"/>
              <a:ea typeface="楷体_GB2312" pitchFamily="49" charset="-122"/>
            </a:endParaRPr>
          </a:p>
          <a:p>
            <a:pPr algn="l"/>
            <a:endParaRPr lang="en-US" altLang="zh-CN" sz="2400">
              <a:solidFill>
                <a:srgbClr val="000066"/>
              </a:solidFill>
              <a:latin typeface="Arial" pitchFamily="34" charset="0"/>
              <a:ea typeface="楷体_GB2312" pitchFamily="49" charset="-122"/>
            </a:endParaRPr>
          </a:p>
          <a:p>
            <a:pPr algn="l"/>
            <a:endParaRPr lang="en-US" altLang="zh-CN" sz="2400">
              <a:solidFill>
                <a:srgbClr val="000066"/>
              </a:solidFill>
              <a:latin typeface="Arial" pitchFamily="34" charset="0"/>
              <a:ea typeface="楷体_GB2312" pitchFamily="49" charset="-122"/>
            </a:endParaRPr>
          </a:p>
        </p:txBody>
      </p:sp>
      <p:sp>
        <p:nvSpPr>
          <p:cNvPr id="389153" name="Rectangle 33"/>
          <p:cNvSpPr>
            <a:spLocks noChangeArrowheads="1"/>
          </p:cNvSpPr>
          <p:nvPr/>
        </p:nvSpPr>
        <p:spPr bwMode="auto">
          <a:xfrm>
            <a:off x="467544" y="1484784"/>
            <a:ext cx="8136904" cy="830997"/>
          </a:xfrm>
          <a:prstGeom prst="rect">
            <a:avLst/>
          </a:prstGeom>
          <a:noFill/>
          <a:ln w="9525">
            <a:noFill/>
            <a:miter lim="800000"/>
            <a:headEnd/>
            <a:tailEnd/>
          </a:ln>
        </p:spPr>
        <p:txBody>
          <a:bodyPr wrap="square">
            <a:spAutoFit/>
          </a:bodyPr>
          <a:lstStyle/>
          <a:p>
            <a:pPr algn="l"/>
            <a:r>
              <a:rPr lang="zh-CN" altLang="en-US" sz="2400" b="1" dirty="0">
                <a:solidFill>
                  <a:srgbClr val="000066"/>
                </a:solidFill>
                <a:latin typeface="Verdana" pitchFamily="34" charset="0"/>
                <a:ea typeface="楷体_GB2312" pitchFamily="49" charset="-122"/>
              </a:rPr>
              <a:t>利用逻辑门等效符号，</a:t>
            </a:r>
            <a:r>
              <a:rPr lang="zh-CN" altLang="en-US" sz="2400" b="1" dirty="0" smtClean="0">
                <a:solidFill>
                  <a:srgbClr val="000066"/>
                </a:solidFill>
                <a:latin typeface="Verdana" pitchFamily="34" charset="0"/>
                <a:ea typeface="楷体_GB2312" pitchFamily="49" charset="-122"/>
              </a:rPr>
              <a:t>可对</a:t>
            </a:r>
            <a:r>
              <a:rPr lang="zh-CN" altLang="en-US" sz="2400" b="1" dirty="0">
                <a:solidFill>
                  <a:srgbClr val="000066"/>
                </a:solidFill>
                <a:latin typeface="Verdana" pitchFamily="34" charset="0"/>
                <a:ea typeface="楷体_GB2312" pitchFamily="49" charset="-122"/>
              </a:rPr>
              <a:t>逻辑电路进行变换</a:t>
            </a:r>
            <a:r>
              <a:rPr lang="zh-CN" altLang="en-US" sz="2400" b="1" dirty="0" smtClean="0">
                <a:solidFill>
                  <a:srgbClr val="000066"/>
                </a:solidFill>
                <a:latin typeface="Verdana" pitchFamily="34" charset="0"/>
                <a:ea typeface="楷体_GB2312" pitchFamily="49" charset="-122"/>
              </a:rPr>
              <a:t>，以</a:t>
            </a:r>
            <a:r>
              <a:rPr lang="zh-CN" altLang="en-US" sz="2400" b="1" dirty="0">
                <a:solidFill>
                  <a:srgbClr val="000066"/>
                </a:solidFill>
                <a:latin typeface="Verdana" pitchFamily="34" charset="0"/>
                <a:ea typeface="楷体_GB2312" pitchFamily="49" charset="-122"/>
              </a:rPr>
              <a:t>简化电路，能</a:t>
            </a:r>
            <a:r>
              <a:rPr lang="zh-CN" altLang="en-US" sz="2400" b="1" dirty="0">
                <a:solidFill>
                  <a:srgbClr val="FF0000"/>
                </a:solidFill>
                <a:latin typeface="Verdana" pitchFamily="34" charset="0"/>
                <a:ea typeface="楷体_GB2312" pitchFamily="49" charset="-122"/>
              </a:rPr>
              <a:t>减少实现电路的门的种类</a:t>
            </a:r>
            <a:r>
              <a:rPr lang="zh-CN" altLang="en-US" sz="2400" b="1" dirty="0">
                <a:solidFill>
                  <a:srgbClr val="000066"/>
                </a:solidFill>
                <a:latin typeface="Verdana" pitchFamily="34" charset="0"/>
                <a:ea typeface="楷体_GB2312" pitchFamily="49" charset="-122"/>
              </a:rPr>
              <a:t>。</a:t>
            </a:r>
          </a:p>
        </p:txBody>
      </p:sp>
      <p:sp>
        <p:nvSpPr>
          <p:cNvPr id="389154" name="AutoShape 34"/>
          <p:cNvSpPr>
            <a:spLocks noChangeArrowheads="1"/>
          </p:cNvSpPr>
          <p:nvPr/>
        </p:nvSpPr>
        <p:spPr bwMode="auto">
          <a:xfrm>
            <a:off x="7308304" y="3717032"/>
            <a:ext cx="216024" cy="1374458"/>
          </a:xfrm>
          <a:prstGeom prst="downArrow">
            <a:avLst>
              <a:gd name="adj1" fmla="val 70732"/>
              <a:gd name="adj2" fmla="val 99097"/>
            </a:avLst>
          </a:prstGeom>
          <a:solidFill>
            <a:srgbClr val="78CEEC"/>
          </a:solidFill>
          <a:ln w="9525">
            <a:noFill/>
            <a:miter lim="800000"/>
            <a:headEnd/>
            <a:tailEnd/>
          </a:ln>
        </p:spPr>
        <p:txBody>
          <a:bodyPr wrap="square">
            <a:spAutoFit/>
          </a:bodyPr>
          <a:lstStyle/>
          <a:p>
            <a:pPr algn="l"/>
            <a:endParaRPr lang="en-US" altLang="zh-CN" sz="2400">
              <a:solidFill>
                <a:srgbClr val="000066"/>
              </a:solidFill>
              <a:latin typeface="Arial" pitchFamily="34" charset="0"/>
              <a:ea typeface="楷体_GB2312" pitchFamily="49" charset="-122"/>
            </a:endParaRPr>
          </a:p>
          <a:p>
            <a:pPr algn="l"/>
            <a:endParaRPr lang="en-US" altLang="zh-CN" sz="2400">
              <a:solidFill>
                <a:srgbClr val="000066"/>
              </a:solidFill>
              <a:latin typeface="Arial" pitchFamily="34" charset="0"/>
              <a:ea typeface="楷体_GB2312" pitchFamily="49" charset="-122"/>
            </a:endParaRPr>
          </a:p>
          <a:p>
            <a:pPr algn="l"/>
            <a:endParaRPr lang="en-US" altLang="zh-CN" sz="2400">
              <a:solidFill>
                <a:srgbClr val="000066"/>
              </a:solidFill>
              <a:latin typeface="Arial" pitchFamily="34" charset="0"/>
              <a:ea typeface="楷体_GB2312" pitchFamily="49" charset="-122"/>
            </a:endParaRPr>
          </a:p>
        </p:txBody>
      </p:sp>
      <p:sp>
        <p:nvSpPr>
          <p:cNvPr id="14" name="标题 1"/>
          <p:cNvSpPr txBox="1">
            <a:spLocks/>
          </p:cNvSpPr>
          <p:nvPr/>
        </p:nvSpPr>
        <p:spPr>
          <a:xfrm>
            <a:off x="1259632" y="116632"/>
            <a:ext cx="7400998" cy="566936"/>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4.1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组合逻辑电路分析</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
        <p:nvSpPr>
          <p:cNvPr id="15" name="矩形标注 14"/>
          <p:cNvSpPr/>
          <p:nvPr/>
        </p:nvSpPr>
        <p:spPr>
          <a:xfrm>
            <a:off x="3923928" y="4293096"/>
            <a:ext cx="1584176" cy="432048"/>
          </a:xfrm>
          <a:prstGeom prst="wedgeRectCallout">
            <a:avLst>
              <a:gd name="adj1" fmla="val -47584"/>
              <a:gd name="adj2" fmla="val -250695"/>
            </a:avLst>
          </a:prstGeom>
          <a:solidFill>
            <a:srgbClr val="FFFF00"/>
          </a:solidFill>
          <a:ln w="15875">
            <a:solidFill>
              <a:srgbClr val="FF0000"/>
            </a:solidFill>
            <a:prstDash val="solid"/>
          </a:ln>
        </p:spPr>
        <p:txBody>
          <a:bodyPr wrap="square" rtlCol="0" anchor="ctr">
            <a:noAutofit/>
          </a:bodyPr>
          <a:lstStyle/>
          <a:p>
            <a:endParaRPr lang="zh-CN" altLang="en-US" sz="2000" b="1" dirty="0">
              <a:solidFill>
                <a:srgbClr val="FF0000"/>
              </a:solidFill>
              <a:latin typeface="+mn-ea"/>
            </a:endParaRPr>
          </a:p>
        </p:txBody>
      </p:sp>
      <p:sp>
        <p:nvSpPr>
          <p:cNvPr id="389144" name="Oval 24"/>
          <p:cNvSpPr>
            <a:spLocks noChangeArrowheads="1"/>
          </p:cNvSpPr>
          <p:nvPr/>
        </p:nvSpPr>
        <p:spPr bwMode="auto">
          <a:xfrm>
            <a:off x="6804248" y="2492896"/>
            <a:ext cx="1224136" cy="1584201"/>
          </a:xfrm>
          <a:prstGeom prst="ellipse">
            <a:avLst/>
          </a:prstGeom>
          <a:noFill/>
          <a:ln w="28575">
            <a:solidFill>
              <a:schemeClr val="accent2"/>
            </a:solidFill>
            <a:prstDash val="dash"/>
            <a:round/>
            <a:headEnd/>
            <a:tailEnd/>
          </a:ln>
        </p:spPr>
        <p:txBody>
          <a:bodyPr wrap="none" anchor="ctr"/>
          <a:lstStyle/>
          <a:p>
            <a:endParaRPr lang="zh-CN" altLang="en-US"/>
          </a:p>
        </p:txBody>
      </p:sp>
      <p:pic>
        <p:nvPicPr>
          <p:cNvPr id="350218" name="Picture 10"/>
          <p:cNvPicPr>
            <a:picLocks noChangeAspect="1" noChangeArrowheads="1"/>
          </p:cNvPicPr>
          <p:nvPr/>
        </p:nvPicPr>
        <p:blipFill>
          <a:blip r:embed="rId7" cstate="print"/>
          <a:srcRect/>
          <a:stretch>
            <a:fillRect/>
          </a:stretch>
        </p:blipFill>
        <p:spPr bwMode="auto">
          <a:xfrm>
            <a:off x="6300192" y="5157192"/>
            <a:ext cx="2552700" cy="1095375"/>
          </a:xfrm>
          <a:prstGeom prst="rect">
            <a:avLst/>
          </a:prstGeom>
          <a:noFill/>
          <a:ln w="9525">
            <a:noFill/>
            <a:miter lim="800000"/>
            <a:headEnd/>
            <a:tailEnd/>
          </a:ln>
        </p:spPr>
      </p:pic>
      <p:graphicFrame>
        <p:nvGraphicFramePr>
          <p:cNvPr id="350219" name="Object 11"/>
          <p:cNvGraphicFramePr>
            <a:graphicFrameLocks noChangeAspect="1"/>
          </p:cNvGraphicFramePr>
          <p:nvPr/>
        </p:nvGraphicFramePr>
        <p:xfrm>
          <a:off x="3995936" y="4365104"/>
          <a:ext cx="1459279" cy="304924"/>
        </p:xfrm>
        <a:graphic>
          <a:graphicData uri="http://schemas.openxmlformats.org/presentationml/2006/ole">
            <p:oleObj spid="_x0000_s350219" r:id="rId8" imgW="850680" imgH="177480" progId="">
              <p:embed/>
            </p:oleObj>
          </a:graphicData>
        </a:graphic>
      </p:graphicFrame>
      <p:sp>
        <p:nvSpPr>
          <p:cNvPr id="22" name="矩形标注 21"/>
          <p:cNvSpPr/>
          <p:nvPr/>
        </p:nvSpPr>
        <p:spPr>
          <a:xfrm>
            <a:off x="3995936" y="6237312"/>
            <a:ext cx="1584176" cy="432048"/>
          </a:xfrm>
          <a:prstGeom prst="wedgeRectCallout">
            <a:avLst>
              <a:gd name="adj1" fmla="val -48173"/>
              <a:gd name="adj2" fmla="val -162150"/>
            </a:avLst>
          </a:prstGeom>
          <a:solidFill>
            <a:srgbClr val="FFFF00"/>
          </a:solidFill>
          <a:ln w="15875">
            <a:solidFill>
              <a:srgbClr val="FF0000"/>
            </a:solidFill>
            <a:prstDash val="solid"/>
          </a:ln>
        </p:spPr>
        <p:txBody>
          <a:bodyPr wrap="square" rtlCol="0" anchor="ctr">
            <a:noAutofit/>
          </a:bodyPr>
          <a:lstStyle/>
          <a:p>
            <a:endParaRPr lang="zh-CN" altLang="en-US" sz="2000" b="1" dirty="0">
              <a:solidFill>
                <a:srgbClr val="FF0000"/>
              </a:solidFill>
              <a:latin typeface="+mn-ea"/>
            </a:endParaRPr>
          </a:p>
        </p:txBody>
      </p:sp>
      <p:graphicFrame>
        <p:nvGraphicFramePr>
          <p:cNvPr id="350220" name="Object 12"/>
          <p:cNvGraphicFramePr>
            <a:graphicFrameLocks noChangeAspect="1"/>
          </p:cNvGraphicFramePr>
          <p:nvPr/>
        </p:nvGraphicFramePr>
        <p:xfrm>
          <a:off x="4067943" y="6237312"/>
          <a:ext cx="1478059" cy="432048"/>
        </p:xfrm>
        <a:graphic>
          <a:graphicData uri="http://schemas.openxmlformats.org/presentationml/2006/ole">
            <p:oleObj spid="_x0000_s350220" r:id="rId9" imgW="825480" imgH="241200" progId="">
              <p:embed/>
            </p:oleObj>
          </a:graphicData>
        </a:graphic>
      </p:graphicFrame>
      <p:sp>
        <p:nvSpPr>
          <p:cNvPr id="24" name="矩形标注 23"/>
          <p:cNvSpPr/>
          <p:nvPr/>
        </p:nvSpPr>
        <p:spPr>
          <a:xfrm>
            <a:off x="6300192" y="1916832"/>
            <a:ext cx="2664296" cy="432048"/>
          </a:xfrm>
          <a:prstGeom prst="wedgeRectCallout">
            <a:avLst>
              <a:gd name="adj1" fmla="val 7861"/>
              <a:gd name="adj2" fmla="val 157474"/>
            </a:avLst>
          </a:prstGeom>
          <a:solidFill>
            <a:srgbClr val="FFFF00"/>
          </a:solidFill>
          <a:ln w="15875">
            <a:solidFill>
              <a:srgbClr val="FF0000"/>
            </a:solidFill>
            <a:prstDash val="solid"/>
          </a:ln>
        </p:spPr>
        <p:txBody>
          <a:bodyPr wrap="square" rtlCol="0" anchor="ctr">
            <a:noAutofit/>
          </a:bodyPr>
          <a:lstStyle/>
          <a:p>
            <a:endParaRPr lang="zh-CN" altLang="en-US" sz="2000" b="1" dirty="0">
              <a:solidFill>
                <a:srgbClr val="FF0000"/>
              </a:solidFill>
              <a:latin typeface="+mn-ea"/>
            </a:endParaRPr>
          </a:p>
        </p:txBody>
      </p:sp>
      <p:graphicFrame>
        <p:nvGraphicFramePr>
          <p:cNvPr id="350221" name="Object 13"/>
          <p:cNvGraphicFramePr>
            <a:graphicFrameLocks noChangeAspect="1"/>
          </p:cNvGraphicFramePr>
          <p:nvPr/>
        </p:nvGraphicFramePr>
        <p:xfrm>
          <a:off x="6372200" y="1916832"/>
          <a:ext cx="2514600" cy="404812"/>
        </p:xfrm>
        <a:graphic>
          <a:graphicData uri="http://schemas.openxmlformats.org/presentationml/2006/ole">
            <p:oleObj spid="_x0000_s350221" r:id="rId10" imgW="1536480" imgH="253800" progId="">
              <p:embed/>
            </p:oleObj>
          </a:graphicData>
        </a:graphic>
      </p:graphicFrame>
    </p:spTree>
  </p:cSld>
  <p:clrMapOvr>
    <a:masterClrMapping/>
  </p:clrMapOvr>
  <p:transition>
    <p:wipe dir="r"/>
    <p:sndAc>
      <p:stSnd>
        <p:snd r:embed="rId3"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02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02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grpId="0" nodeType="clickEffect">
                                  <p:stCondLst>
                                    <p:cond delay="0"/>
                                  </p:stCondLst>
                                  <p:childTnLst>
                                    <p:set>
                                      <p:cBhvr>
                                        <p:cTn id="14" dur="1" fill="hold">
                                          <p:stCondLst>
                                            <p:cond delay="0"/>
                                          </p:stCondLst>
                                        </p:cTn>
                                        <p:tgtEl>
                                          <p:spTgt spid="389144"/>
                                        </p:tgtEl>
                                        <p:attrNameLst>
                                          <p:attrName>style.visibility</p:attrName>
                                        </p:attrNameLst>
                                      </p:cBhvr>
                                      <p:to>
                                        <p:strVal val="visible"/>
                                      </p:to>
                                    </p:set>
                                    <p:animEffect transition="in" filter="box(in)">
                                      <p:cBhvr>
                                        <p:cTn id="15" dur="500"/>
                                        <p:tgtEl>
                                          <p:spTgt spid="38914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389154"/>
                                        </p:tgtEl>
                                        <p:attrNameLst>
                                          <p:attrName>style.visibility</p:attrName>
                                        </p:attrNameLst>
                                      </p:cBhvr>
                                      <p:to>
                                        <p:strVal val="visible"/>
                                      </p:to>
                                    </p:set>
                                    <p:animEffect transition="in" filter="wipe(up)">
                                      <p:cBhvr>
                                        <p:cTn id="20" dur="500"/>
                                        <p:tgtEl>
                                          <p:spTgt spid="389154"/>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502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389152"/>
                                        </p:tgtEl>
                                        <p:attrNameLst>
                                          <p:attrName>style.visibility</p:attrName>
                                        </p:attrNameLst>
                                      </p:cBhvr>
                                      <p:to>
                                        <p:strVal val="visible"/>
                                      </p:to>
                                    </p:set>
                                    <p:animEffect transition="in" filter="wipe(up)">
                                      <p:cBhvr>
                                        <p:cTn id="29" dur="500"/>
                                        <p:tgtEl>
                                          <p:spTgt spid="389152"/>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3502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2" grpId="0" animBg="1"/>
      <p:bldP spid="389154" grpId="0" animBg="1"/>
      <p:bldP spid="38914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61" name="Rectangle 17"/>
          <p:cNvSpPr>
            <a:spLocks noChangeArrowheads="1"/>
          </p:cNvSpPr>
          <p:nvPr/>
        </p:nvSpPr>
        <p:spPr bwMode="auto">
          <a:xfrm>
            <a:off x="1978769" y="4364434"/>
            <a:ext cx="1871663" cy="1512888"/>
          </a:xfrm>
          <a:prstGeom prst="rect">
            <a:avLst/>
          </a:prstGeom>
          <a:solidFill>
            <a:schemeClr val="bg1"/>
          </a:solidFill>
          <a:ln w="38100">
            <a:solidFill>
              <a:srgbClr val="000066"/>
            </a:solidFill>
            <a:prstDash val="dash"/>
            <a:miter lim="800000"/>
            <a:headEnd/>
            <a:tailEnd/>
          </a:ln>
        </p:spPr>
        <p:txBody>
          <a:bodyPr wrap="none" anchor="ctr"/>
          <a:lstStyle/>
          <a:p>
            <a:endParaRPr lang="zh-CN" altLang="zh-CN" b="0">
              <a:solidFill>
                <a:srgbClr val="78CEEC"/>
              </a:solidFill>
              <a:latin typeface="Verdana" pitchFamily="34" charset="0"/>
            </a:endParaRPr>
          </a:p>
        </p:txBody>
      </p:sp>
      <p:graphicFrame>
        <p:nvGraphicFramePr>
          <p:cNvPr id="390162" name="Object 2"/>
          <p:cNvGraphicFramePr>
            <a:graphicFrameLocks noChangeAspect="1"/>
          </p:cNvGraphicFramePr>
          <p:nvPr/>
        </p:nvGraphicFramePr>
        <p:xfrm>
          <a:off x="1259632" y="2132856"/>
          <a:ext cx="4516437" cy="3659187"/>
        </p:xfrm>
        <a:graphic>
          <a:graphicData uri="http://schemas.openxmlformats.org/presentationml/2006/ole">
            <p:oleObj spid="_x0000_s351234" name="图片" r:id="rId4" imgW="2533680" imgH="2085840" progId="Word.Picture.8">
              <p:embed/>
            </p:oleObj>
          </a:graphicData>
        </a:graphic>
      </p:graphicFrame>
      <p:sp>
        <p:nvSpPr>
          <p:cNvPr id="49160" name="Rectangle 19"/>
          <p:cNvSpPr>
            <a:spLocks noChangeArrowheads="1"/>
          </p:cNvSpPr>
          <p:nvPr/>
        </p:nvSpPr>
        <p:spPr bwMode="auto">
          <a:xfrm>
            <a:off x="791319" y="3453209"/>
            <a:ext cx="628650" cy="244475"/>
          </a:xfrm>
          <a:prstGeom prst="rect">
            <a:avLst/>
          </a:prstGeom>
          <a:noFill/>
          <a:ln w="9525">
            <a:noFill/>
            <a:miter lim="800000"/>
            <a:headEnd/>
            <a:tailEnd/>
          </a:ln>
        </p:spPr>
        <p:txBody>
          <a:bodyPr wrap="none" anchor="ctr">
            <a:spAutoFit/>
          </a:bodyPr>
          <a:lstStyle/>
          <a:p>
            <a:pPr algn="l"/>
            <a:r>
              <a:rPr lang="en-US" altLang="zh-CN" sz="1000" b="0">
                <a:ea typeface="华康简宋" charset="-122"/>
                <a:cs typeface="Times New Roman" pitchFamily="18" charset="0"/>
              </a:rPr>
              <a:t>              </a:t>
            </a:r>
            <a:endParaRPr lang="en-US" altLang="zh-CN" b="0">
              <a:latin typeface="Arial" pitchFamily="34" charset="0"/>
              <a:ea typeface="华康简宋" charset="-122"/>
              <a:cs typeface="Times New Roman" pitchFamily="18" charset="0"/>
            </a:endParaRPr>
          </a:p>
        </p:txBody>
      </p:sp>
      <p:sp>
        <p:nvSpPr>
          <p:cNvPr id="390164" name="AutoShape 20"/>
          <p:cNvSpPr>
            <a:spLocks noChangeArrowheads="1"/>
          </p:cNvSpPr>
          <p:nvPr/>
        </p:nvSpPr>
        <p:spPr bwMode="auto">
          <a:xfrm>
            <a:off x="3346376" y="5948189"/>
            <a:ext cx="1593850" cy="510778"/>
          </a:xfrm>
          <a:prstGeom prst="wedgeRoundRectCallout">
            <a:avLst>
              <a:gd name="adj1" fmla="val -90440"/>
              <a:gd name="adj2" fmla="val -64102"/>
              <a:gd name="adj3" fmla="val 16667"/>
            </a:avLst>
          </a:prstGeom>
          <a:noFill/>
          <a:ln w="9525">
            <a:solidFill>
              <a:srgbClr val="000066"/>
            </a:solidFill>
            <a:miter lim="800000"/>
            <a:headEnd/>
            <a:tailEnd/>
          </a:ln>
        </p:spPr>
        <p:txBody>
          <a:bodyPr>
            <a:spAutoFit/>
          </a:bodyPr>
          <a:lstStyle/>
          <a:p>
            <a:pPr algn="ctr"/>
            <a:r>
              <a:rPr lang="zh-CN" altLang="en-US" sz="2400" b="1" dirty="0">
                <a:solidFill>
                  <a:srgbClr val="000066"/>
                </a:solidFill>
                <a:latin typeface="Verdana" pitchFamily="34" charset="0"/>
                <a:ea typeface="楷体_GB2312" pitchFamily="49" charset="-122"/>
              </a:rPr>
              <a:t>控制电路</a:t>
            </a:r>
          </a:p>
        </p:txBody>
      </p:sp>
      <p:graphicFrame>
        <p:nvGraphicFramePr>
          <p:cNvPr id="390165" name="Object 3"/>
          <p:cNvGraphicFramePr>
            <a:graphicFrameLocks noChangeAspect="1"/>
          </p:cNvGraphicFramePr>
          <p:nvPr/>
        </p:nvGraphicFramePr>
        <p:xfrm>
          <a:off x="6012160" y="2204864"/>
          <a:ext cx="2116137" cy="723900"/>
        </p:xfrm>
        <a:graphic>
          <a:graphicData uri="http://schemas.openxmlformats.org/presentationml/2006/ole">
            <p:oleObj spid="_x0000_s351235" name="公式" r:id="rId5" imgW="761760" imgH="253800" progId="">
              <p:embed/>
            </p:oleObj>
          </a:graphicData>
        </a:graphic>
      </p:graphicFrame>
      <p:grpSp>
        <p:nvGrpSpPr>
          <p:cNvPr id="2" name="Group 22"/>
          <p:cNvGrpSpPr>
            <a:grpSpLocks/>
          </p:cNvGrpSpPr>
          <p:nvPr/>
        </p:nvGrpSpPr>
        <p:grpSpPr bwMode="auto">
          <a:xfrm>
            <a:off x="6012160" y="4077072"/>
            <a:ext cx="2462212" cy="565150"/>
            <a:chOff x="3696" y="1026"/>
            <a:chExt cx="1551" cy="356"/>
          </a:xfrm>
        </p:grpSpPr>
        <p:graphicFrame>
          <p:nvGraphicFramePr>
            <p:cNvPr id="49156" name="Object 4"/>
            <p:cNvGraphicFramePr>
              <a:graphicFrameLocks noChangeAspect="1"/>
            </p:cNvGraphicFramePr>
            <p:nvPr/>
          </p:nvGraphicFramePr>
          <p:xfrm>
            <a:off x="3696" y="1026"/>
            <a:ext cx="733" cy="356"/>
          </p:xfrm>
          <a:graphic>
            <a:graphicData uri="http://schemas.openxmlformats.org/presentationml/2006/ole">
              <p:oleObj spid="_x0000_s351236" name="公式" r:id="rId6" imgW="419040" imgH="203040" progId="">
                <p:embed/>
              </p:oleObj>
            </a:graphicData>
          </a:graphic>
        </p:graphicFrame>
        <p:graphicFrame>
          <p:nvGraphicFramePr>
            <p:cNvPr id="49157" name="Object 5"/>
            <p:cNvGraphicFramePr>
              <a:graphicFrameLocks noChangeAspect="1"/>
            </p:cNvGraphicFramePr>
            <p:nvPr/>
          </p:nvGraphicFramePr>
          <p:xfrm>
            <a:off x="4513" y="1116"/>
            <a:ext cx="734" cy="245"/>
          </p:xfrm>
          <a:graphic>
            <a:graphicData uri="http://schemas.openxmlformats.org/presentationml/2006/ole">
              <p:oleObj spid="_x0000_s351237" name="公式" r:id="rId7" imgW="419040" imgH="139680" progId="">
                <p:embed/>
              </p:oleObj>
            </a:graphicData>
          </a:graphic>
        </p:graphicFrame>
      </p:grpSp>
      <p:sp>
        <p:nvSpPr>
          <p:cNvPr id="49163" name="Rectangle 25"/>
          <p:cNvSpPr>
            <a:spLocks noChangeArrowheads="1"/>
          </p:cNvSpPr>
          <p:nvPr/>
        </p:nvSpPr>
        <p:spPr bwMode="auto">
          <a:xfrm>
            <a:off x="467544" y="1484784"/>
            <a:ext cx="5234125" cy="523220"/>
          </a:xfrm>
          <a:prstGeom prst="rect">
            <a:avLst/>
          </a:prstGeom>
          <a:noFill/>
          <a:ln w="9525">
            <a:noFill/>
            <a:miter lim="800000"/>
            <a:headEnd/>
            <a:tailEnd/>
          </a:ln>
        </p:spPr>
        <p:txBody>
          <a:bodyPr wrap="none">
            <a:spAutoFit/>
          </a:bodyPr>
          <a:lstStyle/>
          <a:p>
            <a:pPr algn="l"/>
            <a:r>
              <a:rPr lang="zh-CN" altLang="en-US" sz="2800" b="1" dirty="0">
                <a:solidFill>
                  <a:srgbClr val="000066"/>
                </a:solidFill>
                <a:latin typeface="Verdana" pitchFamily="34" charset="0"/>
                <a:ea typeface="楷体_GB2312" pitchFamily="49" charset="-122"/>
              </a:rPr>
              <a:t>逻辑门等效符号</a:t>
            </a:r>
            <a:r>
              <a:rPr lang="zh-CN" altLang="en-US" sz="2800" b="1" dirty="0">
                <a:solidFill>
                  <a:srgbClr val="FF0000"/>
                </a:solidFill>
                <a:latin typeface="Verdana" pitchFamily="34" charset="0"/>
                <a:ea typeface="楷体_GB2312" pitchFamily="49" charset="-122"/>
              </a:rPr>
              <a:t>强调低电平有效</a:t>
            </a:r>
          </a:p>
        </p:txBody>
      </p:sp>
      <p:grpSp>
        <p:nvGrpSpPr>
          <p:cNvPr id="3" name="Group 26"/>
          <p:cNvGrpSpPr>
            <a:grpSpLocks/>
          </p:cNvGrpSpPr>
          <p:nvPr/>
        </p:nvGrpSpPr>
        <p:grpSpPr bwMode="auto">
          <a:xfrm>
            <a:off x="6084168" y="3356992"/>
            <a:ext cx="1079501" cy="523876"/>
            <a:chOff x="3334" y="1661"/>
            <a:chExt cx="680" cy="330"/>
          </a:xfrm>
        </p:grpSpPr>
        <p:sp>
          <p:nvSpPr>
            <p:cNvPr id="49165" name="Rectangle 27"/>
            <p:cNvSpPr>
              <a:spLocks noChangeArrowheads="1"/>
            </p:cNvSpPr>
            <p:nvPr/>
          </p:nvSpPr>
          <p:spPr bwMode="auto">
            <a:xfrm>
              <a:off x="3334" y="1661"/>
              <a:ext cx="680" cy="330"/>
            </a:xfrm>
            <a:prstGeom prst="rect">
              <a:avLst/>
            </a:prstGeom>
            <a:noFill/>
            <a:ln w="9525">
              <a:noFill/>
              <a:miter lim="800000"/>
              <a:headEnd/>
              <a:tailEnd/>
            </a:ln>
          </p:spPr>
          <p:txBody>
            <a:bodyPr wrap="square">
              <a:spAutoFit/>
            </a:bodyPr>
            <a:lstStyle/>
            <a:p>
              <a:pPr algn="l"/>
              <a:r>
                <a:rPr lang="en-US" altLang="zh-CN" sz="2800" i="1" dirty="0" smtClean="0">
                  <a:solidFill>
                    <a:srgbClr val="000066"/>
                  </a:solidFill>
                  <a:ea typeface="楷体_GB2312" pitchFamily="49" charset="-122"/>
                </a:rPr>
                <a:t>L </a:t>
              </a:r>
              <a:r>
                <a:rPr lang="en-US" altLang="zh-CN" sz="2800" dirty="0" smtClean="0">
                  <a:solidFill>
                    <a:srgbClr val="000066"/>
                  </a:solidFill>
                  <a:ea typeface="楷体_GB2312" pitchFamily="49" charset="-122"/>
                </a:rPr>
                <a:t>= 0</a:t>
              </a:r>
              <a:endParaRPr lang="en-US" altLang="zh-CN" sz="2800" dirty="0">
                <a:solidFill>
                  <a:srgbClr val="000066"/>
                </a:solidFill>
                <a:ea typeface="楷体_GB2312" pitchFamily="49" charset="-122"/>
              </a:endParaRPr>
            </a:p>
          </p:txBody>
        </p:sp>
        <p:sp>
          <p:nvSpPr>
            <p:cNvPr id="49166" name="Line 28"/>
            <p:cNvSpPr>
              <a:spLocks noChangeShapeType="1"/>
            </p:cNvSpPr>
            <p:nvPr/>
          </p:nvSpPr>
          <p:spPr bwMode="auto">
            <a:xfrm>
              <a:off x="3379" y="1706"/>
              <a:ext cx="182" cy="1"/>
            </a:xfrm>
            <a:prstGeom prst="line">
              <a:avLst/>
            </a:prstGeom>
            <a:noFill/>
            <a:ln w="19050">
              <a:solidFill>
                <a:schemeClr val="tx1"/>
              </a:solidFill>
              <a:round/>
              <a:headEnd/>
              <a:tailEnd/>
            </a:ln>
          </p:spPr>
          <p:txBody>
            <a:bodyPr/>
            <a:lstStyle/>
            <a:p>
              <a:endParaRPr lang="zh-CN" altLang="en-US"/>
            </a:p>
          </p:txBody>
        </p:sp>
      </p:grpSp>
      <p:sp>
        <p:nvSpPr>
          <p:cNvPr id="15" name="Rectangle 31"/>
          <p:cNvSpPr>
            <a:spLocks noChangeArrowheads="1"/>
          </p:cNvSpPr>
          <p:nvPr/>
        </p:nvSpPr>
        <p:spPr bwMode="auto">
          <a:xfrm>
            <a:off x="1259632" y="692696"/>
            <a:ext cx="2880320" cy="584775"/>
          </a:xfrm>
          <a:prstGeom prst="rect">
            <a:avLst/>
          </a:prstGeom>
          <a:noFill/>
          <a:ln w="9525">
            <a:noFill/>
            <a:miter lim="800000"/>
            <a:headEnd/>
            <a:tailEnd/>
          </a:ln>
        </p:spPr>
        <p:txBody>
          <a:bodyPr wrap="square" anchor="ctr">
            <a:spAutoFit/>
          </a:bodyPr>
          <a:lstStyle/>
          <a:p>
            <a:r>
              <a:rPr lang="zh-CN" altLang="en-US" sz="3200" b="1" dirty="0" smtClean="0"/>
              <a:t>逻辑电路图</a:t>
            </a:r>
            <a:endParaRPr lang="zh-CN" altLang="en-US" sz="3200" b="1" dirty="0">
              <a:latin typeface="+mn-ea"/>
            </a:endParaRPr>
          </a:p>
        </p:txBody>
      </p:sp>
      <p:sp>
        <p:nvSpPr>
          <p:cNvPr id="16" name="标题 1"/>
          <p:cNvSpPr txBox="1">
            <a:spLocks/>
          </p:cNvSpPr>
          <p:nvPr/>
        </p:nvSpPr>
        <p:spPr>
          <a:xfrm>
            <a:off x="1259632" y="116632"/>
            <a:ext cx="7400998" cy="566936"/>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4.1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组合逻辑电路分析</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
        <p:nvSpPr>
          <p:cNvPr id="17" name="矩形标注 16"/>
          <p:cNvSpPr/>
          <p:nvPr/>
        </p:nvSpPr>
        <p:spPr>
          <a:xfrm>
            <a:off x="6660232" y="1412776"/>
            <a:ext cx="1656184" cy="432048"/>
          </a:xfrm>
          <a:prstGeom prst="wedgeRectCallout">
            <a:avLst>
              <a:gd name="adj1" fmla="val -35727"/>
              <a:gd name="adj2" fmla="val 138038"/>
            </a:avLst>
          </a:prstGeom>
          <a:solidFill>
            <a:srgbClr val="FFFF00"/>
          </a:solidFill>
          <a:ln w="15875">
            <a:solidFill>
              <a:srgbClr val="FF0000"/>
            </a:solidFill>
            <a:prstDash val="solid"/>
          </a:ln>
        </p:spPr>
        <p:txBody>
          <a:bodyPr wrap="square" rtlCol="0" anchor="ctr">
            <a:noAutofit/>
          </a:bodyPr>
          <a:lstStyle/>
          <a:p>
            <a:endParaRPr lang="zh-CN" altLang="en-US" sz="2000" b="1" dirty="0">
              <a:solidFill>
                <a:srgbClr val="FF0000"/>
              </a:solidFill>
              <a:latin typeface="+mn-ea"/>
            </a:endParaRPr>
          </a:p>
        </p:txBody>
      </p:sp>
      <p:graphicFrame>
        <p:nvGraphicFramePr>
          <p:cNvPr id="351238" name="Object 6"/>
          <p:cNvGraphicFramePr>
            <a:graphicFrameLocks noChangeAspect="1"/>
          </p:cNvGraphicFramePr>
          <p:nvPr/>
        </p:nvGraphicFramePr>
        <p:xfrm>
          <a:off x="6660232" y="1412776"/>
          <a:ext cx="1584176" cy="366587"/>
        </p:xfrm>
        <a:graphic>
          <a:graphicData uri="http://schemas.openxmlformats.org/presentationml/2006/ole">
            <p:oleObj spid="_x0000_s351238" r:id="rId8" imgW="838080" imgH="203040" progId="">
              <p:embed/>
            </p:oleObj>
          </a:graphicData>
        </a:graphic>
      </p:graphicFrame>
      <p:sp>
        <p:nvSpPr>
          <p:cNvPr id="18" name="矩形标注 17"/>
          <p:cNvSpPr/>
          <p:nvPr/>
        </p:nvSpPr>
        <p:spPr>
          <a:xfrm>
            <a:off x="5220072" y="5157192"/>
            <a:ext cx="1656184" cy="432048"/>
          </a:xfrm>
          <a:prstGeom prst="wedgeRectCallout">
            <a:avLst>
              <a:gd name="adj1" fmla="val 14414"/>
              <a:gd name="adj2" fmla="val -168628"/>
            </a:avLst>
          </a:prstGeom>
          <a:solidFill>
            <a:srgbClr val="FFFF00"/>
          </a:solidFill>
          <a:ln w="15875">
            <a:solidFill>
              <a:srgbClr val="FF0000"/>
            </a:solidFill>
            <a:prstDash val="solid"/>
          </a:ln>
        </p:spPr>
        <p:txBody>
          <a:bodyPr wrap="square" rtlCol="0" anchor="ctr">
            <a:noAutofit/>
          </a:bodyPr>
          <a:lstStyle/>
          <a:p>
            <a:endParaRPr lang="zh-CN" altLang="en-US" sz="2000" b="1" dirty="0">
              <a:solidFill>
                <a:srgbClr val="FF0000"/>
              </a:solidFill>
              <a:latin typeface="+mn-ea"/>
            </a:endParaRPr>
          </a:p>
        </p:txBody>
      </p:sp>
      <p:graphicFrame>
        <p:nvGraphicFramePr>
          <p:cNvPr id="351239" name="Object 7"/>
          <p:cNvGraphicFramePr>
            <a:graphicFrameLocks noChangeAspect="1"/>
          </p:cNvGraphicFramePr>
          <p:nvPr/>
        </p:nvGraphicFramePr>
        <p:xfrm>
          <a:off x="5292080" y="5157192"/>
          <a:ext cx="1616075" cy="420687"/>
        </p:xfrm>
        <a:graphic>
          <a:graphicData uri="http://schemas.openxmlformats.org/presentationml/2006/ole">
            <p:oleObj spid="_x0000_s351239" r:id="rId9" imgW="838080" imgH="228600" progId="">
              <p:embed/>
            </p:oleObj>
          </a:graphicData>
        </a:graphic>
      </p:graphicFrame>
      <p:sp>
        <p:nvSpPr>
          <p:cNvPr id="20" name="矩形标注 19"/>
          <p:cNvSpPr/>
          <p:nvPr/>
        </p:nvSpPr>
        <p:spPr>
          <a:xfrm>
            <a:off x="7164288" y="5229200"/>
            <a:ext cx="1656184" cy="360040"/>
          </a:xfrm>
          <a:prstGeom prst="wedgeRectCallout">
            <a:avLst>
              <a:gd name="adj1" fmla="val -27276"/>
              <a:gd name="adj2" fmla="val -205342"/>
            </a:avLst>
          </a:prstGeom>
          <a:solidFill>
            <a:srgbClr val="FFFF00"/>
          </a:solidFill>
          <a:ln w="15875">
            <a:solidFill>
              <a:srgbClr val="FF0000"/>
            </a:solidFill>
            <a:prstDash val="solid"/>
          </a:ln>
        </p:spPr>
        <p:txBody>
          <a:bodyPr wrap="square" rtlCol="0" anchor="ctr">
            <a:noAutofit/>
          </a:bodyPr>
          <a:lstStyle/>
          <a:p>
            <a:pPr algn="ctr"/>
            <a:r>
              <a:rPr lang="en-US" altLang="zh-CN" sz="2000" b="1" i="1" dirty="0" smtClean="0">
                <a:solidFill>
                  <a:srgbClr val="FF0000"/>
                </a:solidFill>
                <a:latin typeface="+mn-ea"/>
              </a:rPr>
              <a:t>RE</a:t>
            </a:r>
            <a:r>
              <a:rPr lang="zh-CN" altLang="en-US" sz="2000" b="1" dirty="0" smtClean="0">
                <a:solidFill>
                  <a:srgbClr val="FF0000"/>
                </a:solidFill>
                <a:latin typeface="+mn-ea"/>
              </a:rPr>
              <a:t>是自变量</a:t>
            </a:r>
            <a:endParaRPr lang="zh-CN" altLang="en-US" sz="2000" b="1" dirty="0">
              <a:solidFill>
                <a:srgbClr val="FF0000"/>
              </a:solidFill>
              <a:latin typeface="+mn-ea"/>
            </a:endParaRPr>
          </a:p>
        </p:txBody>
      </p:sp>
      <p:sp>
        <p:nvSpPr>
          <p:cNvPr id="21" name="矩形标注 20"/>
          <p:cNvSpPr/>
          <p:nvPr/>
        </p:nvSpPr>
        <p:spPr>
          <a:xfrm>
            <a:off x="7308304" y="3429000"/>
            <a:ext cx="1368152" cy="432048"/>
          </a:xfrm>
          <a:prstGeom prst="wedgeRectCallout">
            <a:avLst>
              <a:gd name="adj1" fmla="val -7558"/>
              <a:gd name="adj2" fmla="val -166469"/>
            </a:avLst>
          </a:prstGeom>
          <a:solidFill>
            <a:srgbClr val="FFFF00"/>
          </a:solidFill>
          <a:ln w="15875">
            <a:solidFill>
              <a:srgbClr val="FF0000"/>
            </a:solidFill>
            <a:prstDash val="solid"/>
          </a:ln>
        </p:spPr>
        <p:txBody>
          <a:bodyPr wrap="square" rtlCol="0" anchor="ctr">
            <a:noAutofit/>
          </a:bodyPr>
          <a:lstStyle/>
          <a:p>
            <a:endParaRPr lang="zh-CN" altLang="en-US" sz="2000" b="1" dirty="0">
              <a:solidFill>
                <a:srgbClr val="FF0000"/>
              </a:solidFill>
              <a:latin typeface="+mn-ea"/>
            </a:endParaRPr>
          </a:p>
        </p:txBody>
      </p:sp>
      <p:graphicFrame>
        <p:nvGraphicFramePr>
          <p:cNvPr id="22" name="Object 7"/>
          <p:cNvGraphicFramePr>
            <a:graphicFrameLocks noChangeAspect="1"/>
          </p:cNvGraphicFramePr>
          <p:nvPr/>
        </p:nvGraphicFramePr>
        <p:xfrm>
          <a:off x="7452320" y="3429000"/>
          <a:ext cx="1152525" cy="428625"/>
        </p:xfrm>
        <a:graphic>
          <a:graphicData uri="http://schemas.openxmlformats.org/presentationml/2006/ole">
            <p:oleObj spid="_x0000_s351240" r:id="rId10" imgW="583920" imgH="228600" progId="">
              <p:embed/>
            </p:oleObj>
          </a:graphicData>
        </a:graphic>
      </p:graphicFrame>
      <p:pic>
        <p:nvPicPr>
          <p:cNvPr id="351243" name="Picture 11"/>
          <p:cNvPicPr>
            <a:picLocks noChangeAspect="1" noChangeArrowheads="1"/>
          </p:cNvPicPr>
          <p:nvPr/>
        </p:nvPicPr>
        <p:blipFill>
          <a:blip r:embed="rId11" cstate="print"/>
          <a:srcRect/>
          <a:stretch>
            <a:fillRect/>
          </a:stretch>
        </p:blipFill>
        <p:spPr bwMode="auto">
          <a:xfrm>
            <a:off x="539552" y="2204864"/>
            <a:ext cx="2314575" cy="1895475"/>
          </a:xfrm>
          <a:prstGeom prst="rect">
            <a:avLst/>
          </a:prstGeom>
          <a:noFill/>
          <a:ln w="9525">
            <a:noFill/>
            <a:miter lim="800000"/>
            <a:headEnd/>
            <a:tailEnd/>
          </a:ln>
        </p:spPr>
      </p:pic>
    </p:spTree>
  </p:cSld>
  <p:clrMapOvr>
    <a:masterClrMapping/>
  </p:clrMapOvr>
  <p:transition>
    <p:wipe dir="r"/>
    <p:sndAc>
      <p:stSnd>
        <p:snd r:embed="rId3"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90162"/>
                                        </p:tgtEl>
                                        <p:attrNameLst>
                                          <p:attrName>style.visibility</p:attrName>
                                        </p:attrNameLst>
                                      </p:cBhvr>
                                      <p:to>
                                        <p:strVal val="visible"/>
                                      </p:to>
                                    </p:set>
                                    <p:animEffect transition="in" filter="box(in)">
                                      <p:cBhvr>
                                        <p:cTn id="7" dur="500"/>
                                        <p:tgtEl>
                                          <p:spTgt spid="39016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90161"/>
                                        </p:tgtEl>
                                        <p:attrNameLst>
                                          <p:attrName>style.visibility</p:attrName>
                                        </p:attrNameLst>
                                      </p:cBhvr>
                                      <p:to>
                                        <p:strVal val="visible"/>
                                      </p:to>
                                    </p:set>
                                    <p:animEffect transition="in" filter="box(in)">
                                      <p:cBhvr>
                                        <p:cTn id="12" dur="500"/>
                                        <p:tgtEl>
                                          <p:spTgt spid="390161"/>
                                        </p:tgtEl>
                                      </p:cBhvr>
                                    </p:animEffect>
                                  </p:childTnLst>
                                </p:cTn>
                              </p:par>
                              <p:par>
                                <p:cTn id="13" presetID="22" presetClass="entr" presetSubtype="2" fill="hold" grpId="0" nodeType="withEffect">
                                  <p:stCondLst>
                                    <p:cond delay="0"/>
                                  </p:stCondLst>
                                  <p:childTnLst>
                                    <p:set>
                                      <p:cBhvr>
                                        <p:cTn id="14" dur="1" fill="hold">
                                          <p:stCondLst>
                                            <p:cond delay="0"/>
                                          </p:stCondLst>
                                        </p:cTn>
                                        <p:tgtEl>
                                          <p:spTgt spid="390164"/>
                                        </p:tgtEl>
                                        <p:attrNameLst>
                                          <p:attrName>style.visibility</p:attrName>
                                        </p:attrNameLst>
                                      </p:cBhvr>
                                      <p:to>
                                        <p:strVal val="visible"/>
                                      </p:to>
                                    </p:set>
                                    <p:animEffect transition="in" filter="wipe(right)">
                                      <p:cBhvr>
                                        <p:cTn id="15" dur="500"/>
                                        <p:tgtEl>
                                          <p:spTgt spid="390164"/>
                                        </p:tgtEl>
                                      </p:cBhvr>
                                    </p:animEffect>
                                  </p:childTnLst>
                                </p:cTn>
                              </p:par>
                            </p:childTnLst>
                          </p:cTn>
                        </p:par>
                      </p:childTnLst>
                    </p:cTn>
                  </p:par>
                  <p:par>
                    <p:cTn id="16" fill="hold">
                      <p:stCondLst>
                        <p:cond delay="indefinite"/>
                      </p:stCondLst>
                      <p:childTnLst>
                        <p:par>
                          <p:cTn id="17" fill="hold">
                            <p:stCondLst>
                              <p:cond delay="0"/>
                            </p:stCondLst>
                            <p:childTnLst>
                              <p:par>
                                <p:cTn id="18" presetID="18" presetClass="entr" presetSubtype="6" fill="hold" nodeType="clickEffect">
                                  <p:stCondLst>
                                    <p:cond delay="0"/>
                                  </p:stCondLst>
                                  <p:childTnLst>
                                    <p:set>
                                      <p:cBhvr>
                                        <p:cTn id="19" dur="1" fill="hold">
                                          <p:stCondLst>
                                            <p:cond delay="0"/>
                                          </p:stCondLst>
                                        </p:cTn>
                                        <p:tgtEl>
                                          <p:spTgt spid="390165"/>
                                        </p:tgtEl>
                                        <p:attrNameLst>
                                          <p:attrName>style.visibility</p:attrName>
                                        </p:attrNameLst>
                                      </p:cBhvr>
                                      <p:to>
                                        <p:strVal val="visible"/>
                                      </p:to>
                                    </p:set>
                                    <p:animEffect transition="in" filter="strips(downRight)">
                                      <p:cBhvr>
                                        <p:cTn id="20" dur="500"/>
                                        <p:tgtEl>
                                          <p:spTgt spid="390165"/>
                                        </p:tgtEl>
                                      </p:cBhvr>
                                    </p:animEffec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5123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childTnLst>
                                </p:cTn>
                              </p:par>
                              <p:par>
                                <p:cTn id="29" presetID="18" presetClass="entr" presetSubtype="6" fill="hold" nodeType="with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strips(downRight)">
                                      <p:cBhvr>
                                        <p:cTn id="31" dur="500"/>
                                        <p:tgtEl>
                                          <p:spTgt spid="2"/>
                                        </p:tgtEl>
                                      </p:cBhvr>
                                    </p:animEffect>
                                  </p:childTnLst>
                                </p:cTn>
                              </p:par>
                              <p:par>
                                <p:cTn id="32" presetID="1"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351239"/>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20"/>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21"/>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22"/>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512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0161" grpId="0" animBg="1"/>
      <p:bldP spid="390164" grpId="0" animBg="1"/>
      <p:bldP spid="17" grpId="0" animBg="1"/>
      <p:bldP spid="18" grpId="0" animBg="1"/>
      <p:bldP spid="20" grpId="0" animBg="1"/>
      <p:bldP spid="2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92696"/>
            <a:ext cx="7545014" cy="566936"/>
          </a:xfrm>
        </p:spPr>
        <p:txBody>
          <a:bodyPr/>
          <a:lstStyle/>
          <a:p>
            <a:r>
              <a:rPr lang="en-US" altLang="zh-CN" dirty="0" smtClean="0"/>
              <a:t>4.1 </a:t>
            </a:r>
            <a:r>
              <a:rPr lang="zh-CN" altLang="en-US" dirty="0" smtClean="0"/>
              <a:t>组合逻辑电路分析</a:t>
            </a:r>
            <a:endParaRPr lang="zh-CN" altLang="en-US" dirty="0"/>
          </a:p>
        </p:txBody>
      </p:sp>
      <p:sp>
        <p:nvSpPr>
          <p:cNvPr id="9" name="矩形 8"/>
          <p:cNvSpPr/>
          <p:nvPr/>
        </p:nvSpPr>
        <p:spPr>
          <a:xfrm>
            <a:off x="971600" y="1628800"/>
            <a:ext cx="1571264" cy="400110"/>
          </a:xfrm>
          <a:prstGeom prst="rect">
            <a:avLst/>
          </a:prstGeom>
        </p:spPr>
        <p:txBody>
          <a:bodyPr wrap="none">
            <a:spAutoFit/>
          </a:bodyPr>
          <a:lstStyle/>
          <a:p>
            <a:pPr marL="457200" indent="-457200">
              <a:buFont typeface="+mj-ea"/>
              <a:buAutoNum type="circleNumDbPlain" startAt="3"/>
            </a:pPr>
            <a:r>
              <a:rPr lang="zh-CN" altLang="en-US" sz="2000" b="1" dirty="0"/>
              <a:t> 真值表 </a:t>
            </a:r>
          </a:p>
        </p:txBody>
      </p:sp>
      <p:graphicFrame>
        <p:nvGraphicFramePr>
          <p:cNvPr id="10" name="表格 9"/>
          <p:cNvGraphicFramePr>
            <a:graphicFrameLocks noGrp="1"/>
          </p:cNvGraphicFramePr>
          <p:nvPr>
            <p:extLst>
              <p:ext uri="{D42A27DB-BD31-4B8C-83A1-F6EECF244321}">
                <p14:modId xmlns:p14="http://schemas.microsoft.com/office/powerpoint/2010/main" xmlns="" val="233899702"/>
              </p:ext>
            </p:extLst>
          </p:nvPr>
        </p:nvGraphicFramePr>
        <p:xfrm>
          <a:off x="1187624" y="2852936"/>
          <a:ext cx="3456385" cy="3337560"/>
        </p:xfrm>
        <a:graphic>
          <a:graphicData uri="http://schemas.openxmlformats.org/drawingml/2006/table">
            <a:tbl>
              <a:tblPr firstRow="1" bandRow="1">
                <a:tableStyleId>{5C22544A-7EE6-4342-B048-85BDC9FD1C3A}</a:tableStyleId>
              </a:tblPr>
              <a:tblGrid>
                <a:gridCol w="691277">
                  <a:extLst>
                    <a:ext uri="{9D8B030D-6E8A-4147-A177-3AD203B41FA5}">
                      <a16:colId xmlns:a16="http://schemas.microsoft.com/office/drawing/2014/main" xmlns="" val="20000"/>
                    </a:ext>
                  </a:extLst>
                </a:gridCol>
                <a:gridCol w="691277">
                  <a:extLst>
                    <a:ext uri="{9D8B030D-6E8A-4147-A177-3AD203B41FA5}">
                      <a16:colId xmlns:a16="http://schemas.microsoft.com/office/drawing/2014/main" xmlns="" val="20001"/>
                    </a:ext>
                  </a:extLst>
                </a:gridCol>
                <a:gridCol w="691277">
                  <a:extLst>
                    <a:ext uri="{9D8B030D-6E8A-4147-A177-3AD203B41FA5}">
                      <a16:colId xmlns:a16="http://schemas.microsoft.com/office/drawing/2014/main" xmlns="" val="20002"/>
                    </a:ext>
                  </a:extLst>
                </a:gridCol>
                <a:gridCol w="691277">
                  <a:extLst>
                    <a:ext uri="{9D8B030D-6E8A-4147-A177-3AD203B41FA5}">
                      <a16:colId xmlns:a16="http://schemas.microsoft.com/office/drawing/2014/main" xmlns="" val="20003"/>
                    </a:ext>
                  </a:extLst>
                </a:gridCol>
                <a:gridCol w="691277">
                  <a:extLst>
                    <a:ext uri="{9D8B030D-6E8A-4147-A177-3AD203B41FA5}">
                      <a16:colId xmlns:a16="http://schemas.microsoft.com/office/drawing/2014/main" xmlns="" val="20004"/>
                    </a:ext>
                  </a:extLst>
                </a:gridCol>
              </a:tblGrid>
              <a:tr h="370840">
                <a:tc>
                  <a:txBody>
                    <a:bodyPr/>
                    <a:lstStyle/>
                    <a:p>
                      <a:pPr algn="ctr"/>
                      <a:r>
                        <a:rPr lang="en-US" altLang="zh-CN" dirty="0" smtClean="0"/>
                        <a:t>a</a:t>
                      </a:r>
                      <a:r>
                        <a:rPr lang="en-US" altLang="zh-CN" sz="1800" b="1" kern="1200" baseline="-25000" dirty="0" smtClean="0">
                          <a:solidFill>
                            <a:schemeClr val="lt1"/>
                          </a:solidFill>
                          <a:latin typeface="+mn-lt"/>
                          <a:ea typeface="+mn-ea"/>
                          <a:cs typeface="+mn-cs"/>
                        </a:rPr>
                        <a:t>1</a:t>
                      </a:r>
                      <a:endParaRPr lang="zh-CN" altLang="en-US" sz="1800" b="1" kern="1200" baseline="-25000" dirty="0">
                        <a:solidFill>
                          <a:schemeClr val="lt1"/>
                        </a:solidFill>
                        <a:latin typeface="+mn-lt"/>
                        <a:ea typeface="+mn-ea"/>
                        <a:cs typeface="+mn-cs"/>
                      </a:endParaRPr>
                    </a:p>
                  </a:txBody>
                  <a:tcPr>
                    <a:lnT w="12700" cap="flat" cmpd="sng" algn="ctr">
                      <a:solidFill>
                        <a:schemeClr val="tx1"/>
                      </a:solidFill>
                      <a:prstDash val="solid"/>
                      <a:round/>
                      <a:headEnd type="none" w="med" len="med"/>
                      <a:tailEnd type="none" w="med" len="med"/>
                    </a:lnT>
                  </a:tcPr>
                </a:tc>
                <a:tc>
                  <a:txBody>
                    <a:bodyPr/>
                    <a:lstStyle/>
                    <a:p>
                      <a:pPr algn="ctr"/>
                      <a:r>
                        <a:rPr lang="en-US" altLang="zh-CN" dirty="0" smtClean="0"/>
                        <a:t>a</a:t>
                      </a:r>
                      <a:r>
                        <a:rPr lang="en-US" altLang="zh-CN" sz="1800" b="1" kern="1200" baseline="-25000" dirty="0" smtClean="0">
                          <a:solidFill>
                            <a:schemeClr val="lt1"/>
                          </a:solidFill>
                          <a:latin typeface="+mn-lt"/>
                          <a:ea typeface="+mn-ea"/>
                          <a:cs typeface="+mn-cs"/>
                        </a:rPr>
                        <a:t>2</a:t>
                      </a:r>
                      <a:endParaRPr lang="zh-CN" altLang="en-US" sz="1800" b="1" kern="1200" baseline="-25000" dirty="0">
                        <a:solidFill>
                          <a:schemeClr val="lt1"/>
                        </a:solidFill>
                        <a:latin typeface="+mn-lt"/>
                        <a:ea typeface="+mn-ea"/>
                        <a:cs typeface="+mn-cs"/>
                      </a:endParaRPr>
                    </a:p>
                  </a:txBody>
                  <a:tcPr>
                    <a:lnT w="12700" cap="flat" cmpd="sng" algn="ctr">
                      <a:solidFill>
                        <a:schemeClr val="tx1"/>
                      </a:solidFill>
                      <a:prstDash val="solid"/>
                      <a:round/>
                      <a:headEnd type="none" w="med" len="med"/>
                      <a:tailEnd type="none" w="med" len="med"/>
                    </a:lnT>
                  </a:tcPr>
                </a:tc>
                <a:tc>
                  <a:txBody>
                    <a:bodyPr/>
                    <a:lstStyle/>
                    <a:p>
                      <a:pPr algn="ctr"/>
                      <a:r>
                        <a:rPr lang="en-US" altLang="zh-CN" dirty="0" smtClean="0"/>
                        <a:t>a</a:t>
                      </a:r>
                      <a:r>
                        <a:rPr lang="en-US" altLang="zh-CN" sz="1800" b="1" kern="1200" baseline="-25000" dirty="0" smtClean="0">
                          <a:solidFill>
                            <a:schemeClr val="lt1"/>
                          </a:solidFill>
                          <a:latin typeface="+mn-lt"/>
                          <a:ea typeface="+mn-ea"/>
                          <a:cs typeface="+mn-cs"/>
                        </a:rPr>
                        <a:t>3</a:t>
                      </a:r>
                      <a:endParaRPr lang="zh-CN" altLang="en-US" sz="1800" b="1" kern="1200" baseline="-25000" dirty="0">
                        <a:solidFill>
                          <a:schemeClr val="lt1"/>
                        </a:solidFill>
                        <a:latin typeface="+mn-lt"/>
                        <a:ea typeface="+mn-ea"/>
                        <a:cs typeface="+mn-cs"/>
                      </a:endParaRPr>
                    </a:p>
                  </a:txBody>
                  <a:tcPr>
                    <a:lnT w="12700" cap="flat" cmpd="sng" algn="ctr">
                      <a:solidFill>
                        <a:schemeClr val="tx1"/>
                      </a:solidFill>
                      <a:prstDash val="solid"/>
                      <a:round/>
                      <a:headEnd type="none" w="med" len="med"/>
                      <a:tailEnd type="none" w="med" len="med"/>
                    </a:lnT>
                  </a:tcPr>
                </a:tc>
                <a:tc>
                  <a:txBody>
                    <a:bodyPr/>
                    <a:lstStyle/>
                    <a:p>
                      <a:pPr algn="ctr"/>
                      <a:r>
                        <a:rPr lang="en-US" altLang="zh-CN" dirty="0" smtClean="0"/>
                        <a:t>y</a:t>
                      </a:r>
                      <a:r>
                        <a:rPr lang="en-US" altLang="zh-CN" baseline="-25000" dirty="0" smtClean="0"/>
                        <a:t>1</a:t>
                      </a:r>
                      <a:endParaRPr lang="zh-CN" altLang="en-US" baseline="-25000" dirty="0"/>
                    </a:p>
                  </a:txBody>
                  <a:tcPr>
                    <a:lnT w="12700" cap="flat" cmpd="sng" algn="ctr">
                      <a:solidFill>
                        <a:schemeClr val="tx1"/>
                      </a:solidFill>
                      <a:prstDash val="solid"/>
                      <a:round/>
                      <a:headEnd type="none" w="med" len="med"/>
                      <a:tailEnd type="none" w="med" len="med"/>
                    </a:lnT>
                  </a:tcPr>
                </a:tc>
                <a:tc>
                  <a:txBody>
                    <a:bodyPr/>
                    <a:lstStyle/>
                    <a:p>
                      <a:pPr algn="ctr"/>
                      <a:r>
                        <a:rPr lang="en-US" altLang="zh-CN" dirty="0" smtClean="0"/>
                        <a:t>y</a:t>
                      </a:r>
                      <a:r>
                        <a:rPr lang="en-US" altLang="zh-CN" baseline="-25000" dirty="0" smtClean="0"/>
                        <a:t>2</a:t>
                      </a:r>
                      <a:endParaRPr lang="zh-CN" altLang="en-US" baseline="-25000" dirty="0"/>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xmlns="" val="10000"/>
                  </a:ext>
                </a:extLst>
              </a:tr>
              <a:tr h="370840">
                <a:tc>
                  <a:txBody>
                    <a:bodyPr/>
                    <a:lstStyle/>
                    <a:p>
                      <a:pPr algn="ctr"/>
                      <a:r>
                        <a:rPr lang="en-US" altLang="zh-CN" dirty="0" smtClean="0"/>
                        <a:t>0</a:t>
                      </a:r>
                      <a:endParaRPr lang="zh-CN" altLang="en-US" dirty="0"/>
                    </a:p>
                  </a:txBody>
                  <a:tcPr/>
                </a:tc>
                <a:tc>
                  <a:txBody>
                    <a:bodyPr/>
                    <a:lstStyle/>
                    <a:p>
                      <a:pPr algn="ctr"/>
                      <a:r>
                        <a:rPr lang="en-US" altLang="zh-CN" dirty="0" smtClean="0"/>
                        <a:t>0</a:t>
                      </a:r>
                      <a:endParaRPr lang="zh-CN" altLang="en-US" dirty="0"/>
                    </a:p>
                  </a:txBody>
                  <a:tcPr/>
                </a:tc>
                <a:tc>
                  <a:txBody>
                    <a:bodyPr/>
                    <a:lstStyle/>
                    <a:p>
                      <a:pPr algn="ctr"/>
                      <a:r>
                        <a:rPr lang="en-US" altLang="zh-CN" dirty="0" smtClean="0"/>
                        <a:t>0</a:t>
                      </a:r>
                      <a:endParaRPr lang="zh-CN" altLang="en-US" dirty="0"/>
                    </a:p>
                  </a:txBody>
                  <a:tcPr/>
                </a:tc>
                <a:tc>
                  <a:txBody>
                    <a:bodyPr/>
                    <a:lstStyle/>
                    <a:p>
                      <a:pPr algn="ctr"/>
                      <a:r>
                        <a:rPr lang="en-US" altLang="zh-CN" dirty="0" smtClean="0"/>
                        <a:t>0</a:t>
                      </a:r>
                      <a:endParaRPr lang="zh-CN" altLang="en-US" dirty="0"/>
                    </a:p>
                  </a:txBody>
                  <a:tcPr/>
                </a:tc>
                <a:tc>
                  <a:txBody>
                    <a:bodyPr/>
                    <a:lstStyle/>
                    <a:p>
                      <a:pPr algn="ctr"/>
                      <a:r>
                        <a:rPr lang="en-US" altLang="zh-CN" dirty="0" smtClean="0"/>
                        <a:t>0</a:t>
                      </a:r>
                      <a:endParaRPr lang="zh-CN" altLang="en-US" dirty="0"/>
                    </a:p>
                  </a:txBody>
                  <a:tcPr/>
                </a:tc>
                <a:extLst>
                  <a:ext uri="{0D108BD9-81ED-4DB2-BD59-A6C34878D82A}">
                    <a16:rowId xmlns:a16="http://schemas.microsoft.com/office/drawing/2014/main" xmlns="" val="10001"/>
                  </a:ext>
                </a:extLst>
              </a:tr>
              <a:tr h="370840">
                <a:tc>
                  <a:txBody>
                    <a:bodyPr/>
                    <a:lstStyle/>
                    <a:p>
                      <a:pPr algn="ctr"/>
                      <a:r>
                        <a:rPr lang="en-US" altLang="zh-CN" dirty="0" smtClean="0"/>
                        <a:t>0</a:t>
                      </a:r>
                      <a:endParaRPr lang="zh-CN" altLang="en-US" dirty="0"/>
                    </a:p>
                  </a:txBody>
                  <a:tcPr/>
                </a:tc>
                <a:tc>
                  <a:txBody>
                    <a:bodyPr/>
                    <a:lstStyle/>
                    <a:p>
                      <a:pPr algn="ctr"/>
                      <a:r>
                        <a:rPr lang="en-US" altLang="zh-CN" dirty="0" smtClean="0"/>
                        <a:t>0</a:t>
                      </a:r>
                      <a:endParaRPr lang="zh-CN" altLang="en-US" dirty="0"/>
                    </a:p>
                  </a:txBody>
                  <a:tcPr/>
                </a:tc>
                <a:tc>
                  <a:txBody>
                    <a:bodyPr/>
                    <a:lstStyle/>
                    <a:p>
                      <a:pPr algn="ctr"/>
                      <a:r>
                        <a:rPr lang="en-US" altLang="zh-CN" dirty="0" smtClean="0"/>
                        <a:t>1</a:t>
                      </a:r>
                      <a:endParaRPr lang="zh-CN" altLang="en-US" dirty="0"/>
                    </a:p>
                  </a:txBody>
                  <a:tcPr/>
                </a:tc>
                <a:tc>
                  <a:txBody>
                    <a:bodyPr/>
                    <a:lstStyle/>
                    <a:p>
                      <a:pPr algn="ctr"/>
                      <a:r>
                        <a:rPr lang="en-US" altLang="zh-CN" dirty="0" smtClean="0"/>
                        <a:t>1</a:t>
                      </a:r>
                      <a:endParaRPr lang="zh-CN" altLang="en-US" dirty="0"/>
                    </a:p>
                  </a:txBody>
                  <a:tcPr/>
                </a:tc>
                <a:tc>
                  <a:txBody>
                    <a:bodyPr/>
                    <a:lstStyle/>
                    <a:p>
                      <a:pPr algn="ctr"/>
                      <a:r>
                        <a:rPr lang="en-US" altLang="zh-CN" dirty="0" smtClean="0"/>
                        <a:t>0</a:t>
                      </a:r>
                      <a:endParaRPr lang="zh-CN" altLang="en-US" dirty="0"/>
                    </a:p>
                  </a:txBody>
                  <a:tcPr/>
                </a:tc>
                <a:extLst>
                  <a:ext uri="{0D108BD9-81ED-4DB2-BD59-A6C34878D82A}">
                    <a16:rowId xmlns:a16="http://schemas.microsoft.com/office/drawing/2014/main" xmlns="" val="10002"/>
                  </a:ext>
                </a:extLst>
              </a:tr>
              <a:tr h="370840">
                <a:tc>
                  <a:txBody>
                    <a:bodyPr/>
                    <a:lstStyle/>
                    <a:p>
                      <a:pPr algn="ctr"/>
                      <a:r>
                        <a:rPr lang="en-US" altLang="zh-CN" dirty="0" smtClean="0"/>
                        <a:t>0</a:t>
                      </a:r>
                      <a:endParaRPr lang="zh-CN" altLang="en-US" dirty="0"/>
                    </a:p>
                  </a:txBody>
                  <a:tcPr/>
                </a:tc>
                <a:tc>
                  <a:txBody>
                    <a:bodyPr/>
                    <a:lstStyle/>
                    <a:p>
                      <a:pPr algn="ctr"/>
                      <a:r>
                        <a:rPr lang="en-US" altLang="zh-CN" dirty="0" smtClean="0"/>
                        <a:t>1</a:t>
                      </a:r>
                      <a:endParaRPr lang="zh-CN" altLang="en-US" dirty="0"/>
                    </a:p>
                  </a:txBody>
                  <a:tcPr/>
                </a:tc>
                <a:tc>
                  <a:txBody>
                    <a:bodyPr/>
                    <a:lstStyle/>
                    <a:p>
                      <a:pPr algn="ctr"/>
                      <a:r>
                        <a:rPr lang="en-US" altLang="zh-CN" dirty="0" smtClean="0"/>
                        <a:t>0</a:t>
                      </a:r>
                      <a:endParaRPr lang="zh-CN" altLang="en-US" dirty="0"/>
                    </a:p>
                  </a:txBody>
                  <a:tcPr/>
                </a:tc>
                <a:tc>
                  <a:txBody>
                    <a:bodyPr/>
                    <a:lstStyle/>
                    <a:p>
                      <a:pPr algn="ctr"/>
                      <a:r>
                        <a:rPr lang="en-US" altLang="zh-CN" dirty="0" smtClean="0"/>
                        <a:t>1</a:t>
                      </a:r>
                      <a:endParaRPr lang="zh-CN" altLang="en-US" dirty="0"/>
                    </a:p>
                  </a:txBody>
                  <a:tcPr/>
                </a:tc>
                <a:tc>
                  <a:txBody>
                    <a:bodyPr/>
                    <a:lstStyle/>
                    <a:p>
                      <a:pPr algn="ctr"/>
                      <a:r>
                        <a:rPr lang="en-US" altLang="zh-CN" dirty="0" smtClean="0"/>
                        <a:t>0</a:t>
                      </a:r>
                      <a:endParaRPr lang="zh-CN" altLang="en-US" dirty="0"/>
                    </a:p>
                  </a:txBody>
                  <a:tcPr/>
                </a:tc>
                <a:extLst>
                  <a:ext uri="{0D108BD9-81ED-4DB2-BD59-A6C34878D82A}">
                    <a16:rowId xmlns:a16="http://schemas.microsoft.com/office/drawing/2014/main" xmlns="" val="10003"/>
                  </a:ext>
                </a:extLst>
              </a:tr>
              <a:tr h="370840">
                <a:tc>
                  <a:txBody>
                    <a:bodyPr/>
                    <a:lstStyle/>
                    <a:p>
                      <a:pPr algn="ctr"/>
                      <a:r>
                        <a:rPr lang="en-US" altLang="zh-CN" dirty="0" smtClean="0"/>
                        <a:t>0</a:t>
                      </a:r>
                      <a:endParaRPr lang="zh-CN" altLang="en-US" dirty="0"/>
                    </a:p>
                  </a:txBody>
                  <a:tcPr/>
                </a:tc>
                <a:tc>
                  <a:txBody>
                    <a:bodyPr/>
                    <a:lstStyle/>
                    <a:p>
                      <a:pPr algn="ctr"/>
                      <a:r>
                        <a:rPr lang="en-US" altLang="zh-CN" dirty="0" smtClean="0"/>
                        <a:t>1</a:t>
                      </a:r>
                      <a:endParaRPr lang="zh-CN" altLang="en-US" dirty="0"/>
                    </a:p>
                  </a:txBody>
                  <a:tcPr/>
                </a:tc>
                <a:tc>
                  <a:txBody>
                    <a:bodyPr/>
                    <a:lstStyle/>
                    <a:p>
                      <a:pPr algn="ctr"/>
                      <a:r>
                        <a:rPr lang="en-US" altLang="zh-CN" dirty="0" smtClean="0"/>
                        <a:t>1</a:t>
                      </a:r>
                      <a:endParaRPr lang="zh-CN" altLang="en-US" dirty="0"/>
                    </a:p>
                  </a:txBody>
                  <a:tcPr/>
                </a:tc>
                <a:tc>
                  <a:txBody>
                    <a:bodyPr/>
                    <a:lstStyle/>
                    <a:p>
                      <a:pPr algn="ctr"/>
                      <a:r>
                        <a:rPr lang="en-US" altLang="zh-CN" dirty="0" smtClean="0"/>
                        <a:t>0</a:t>
                      </a:r>
                      <a:endParaRPr lang="zh-CN" altLang="en-US" dirty="0"/>
                    </a:p>
                  </a:txBody>
                  <a:tcPr/>
                </a:tc>
                <a:tc>
                  <a:txBody>
                    <a:bodyPr/>
                    <a:lstStyle/>
                    <a:p>
                      <a:pPr algn="ctr"/>
                      <a:r>
                        <a:rPr lang="en-US" altLang="zh-CN" dirty="0" smtClean="0"/>
                        <a:t>1</a:t>
                      </a:r>
                      <a:endParaRPr lang="zh-CN" altLang="en-US" dirty="0"/>
                    </a:p>
                  </a:txBody>
                  <a:tcPr/>
                </a:tc>
                <a:extLst>
                  <a:ext uri="{0D108BD9-81ED-4DB2-BD59-A6C34878D82A}">
                    <a16:rowId xmlns:a16="http://schemas.microsoft.com/office/drawing/2014/main" xmlns="" val="10004"/>
                  </a:ext>
                </a:extLst>
              </a:tr>
              <a:tr h="370840">
                <a:tc>
                  <a:txBody>
                    <a:bodyPr/>
                    <a:lstStyle/>
                    <a:p>
                      <a:pPr algn="ctr"/>
                      <a:r>
                        <a:rPr lang="en-US" altLang="zh-CN" dirty="0" smtClean="0"/>
                        <a:t>1</a:t>
                      </a:r>
                      <a:endParaRPr lang="zh-CN" altLang="en-US" dirty="0"/>
                    </a:p>
                  </a:txBody>
                  <a:tcPr/>
                </a:tc>
                <a:tc>
                  <a:txBody>
                    <a:bodyPr/>
                    <a:lstStyle/>
                    <a:p>
                      <a:pPr algn="ctr"/>
                      <a:r>
                        <a:rPr lang="en-US" altLang="zh-CN" dirty="0" smtClean="0"/>
                        <a:t>0</a:t>
                      </a:r>
                      <a:endParaRPr lang="zh-CN" altLang="en-US" dirty="0"/>
                    </a:p>
                  </a:txBody>
                  <a:tcPr/>
                </a:tc>
                <a:tc>
                  <a:txBody>
                    <a:bodyPr/>
                    <a:lstStyle/>
                    <a:p>
                      <a:pPr algn="ctr"/>
                      <a:r>
                        <a:rPr lang="en-US" altLang="zh-CN" dirty="0" smtClean="0"/>
                        <a:t>0</a:t>
                      </a:r>
                      <a:endParaRPr lang="zh-CN" altLang="en-US" dirty="0"/>
                    </a:p>
                  </a:txBody>
                  <a:tcPr/>
                </a:tc>
                <a:tc>
                  <a:txBody>
                    <a:bodyPr/>
                    <a:lstStyle/>
                    <a:p>
                      <a:pPr algn="ctr"/>
                      <a:r>
                        <a:rPr lang="en-US" altLang="zh-CN" dirty="0" smtClean="0"/>
                        <a:t>1</a:t>
                      </a:r>
                      <a:endParaRPr lang="zh-CN" altLang="en-US" dirty="0"/>
                    </a:p>
                  </a:txBody>
                  <a:tcPr/>
                </a:tc>
                <a:tc>
                  <a:txBody>
                    <a:bodyPr/>
                    <a:lstStyle/>
                    <a:p>
                      <a:pPr algn="ctr"/>
                      <a:r>
                        <a:rPr lang="en-US" altLang="zh-CN" dirty="0" smtClean="0"/>
                        <a:t>0</a:t>
                      </a:r>
                      <a:endParaRPr lang="zh-CN" altLang="en-US" dirty="0"/>
                    </a:p>
                  </a:txBody>
                  <a:tcPr/>
                </a:tc>
                <a:extLst>
                  <a:ext uri="{0D108BD9-81ED-4DB2-BD59-A6C34878D82A}">
                    <a16:rowId xmlns:a16="http://schemas.microsoft.com/office/drawing/2014/main" xmlns="" val="10005"/>
                  </a:ext>
                </a:extLst>
              </a:tr>
              <a:tr h="370840">
                <a:tc>
                  <a:txBody>
                    <a:bodyPr/>
                    <a:lstStyle/>
                    <a:p>
                      <a:pPr algn="ctr"/>
                      <a:r>
                        <a:rPr lang="en-US" altLang="zh-CN" dirty="0" smtClean="0"/>
                        <a:t>1</a:t>
                      </a:r>
                      <a:endParaRPr lang="zh-CN" altLang="en-US" dirty="0"/>
                    </a:p>
                  </a:txBody>
                  <a:tcPr/>
                </a:tc>
                <a:tc>
                  <a:txBody>
                    <a:bodyPr/>
                    <a:lstStyle/>
                    <a:p>
                      <a:pPr algn="ctr"/>
                      <a:r>
                        <a:rPr lang="en-US" altLang="zh-CN" dirty="0" smtClean="0"/>
                        <a:t>0</a:t>
                      </a:r>
                      <a:endParaRPr lang="zh-CN" altLang="en-US" dirty="0"/>
                    </a:p>
                  </a:txBody>
                  <a:tcPr/>
                </a:tc>
                <a:tc>
                  <a:txBody>
                    <a:bodyPr/>
                    <a:lstStyle/>
                    <a:p>
                      <a:pPr algn="ctr"/>
                      <a:r>
                        <a:rPr lang="en-US" altLang="zh-CN" dirty="0" smtClean="0"/>
                        <a:t>1</a:t>
                      </a:r>
                      <a:endParaRPr lang="zh-CN" altLang="en-US" dirty="0"/>
                    </a:p>
                  </a:txBody>
                  <a:tcPr/>
                </a:tc>
                <a:tc>
                  <a:txBody>
                    <a:bodyPr/>
                    <a:lstStyle/>
                    <a:p>
                      <a:pPr algn="ctr"/>
                      <a:r>
                        <a:rPr lang="en-US" altLang="zh-CN" dirty="0" smtClean="0"/>
                        <a:t>0</a:t>
                      </a:r>
                      <a:endParaRPr lang="zh-CN" altLang="en-US" dirty="0"/>
                    </a:p>
                  </a:txBody>
                  <a:tcPr/>
                </a:tc>
                <a:tc>
                  <a:txBody>
                    <a:bodyPr/>
                    <a:lstStyle/>
                    <a:p>
                      <a:pPr algn="ctr"/>
                      <a:r>
                        <a:rPr lang="en-US" altLang="zh-CN" dirty="0" smtClean="0"/>
                        <a:t>1</a:t>
                      </a:r>
                      <a:endParaRPr lang="zh-CN" altLang="en-US" dirty="0"/>
                    </a:p>
                  </a:txBody>
                  <a:tcPr/>
                </a:tc>
                <a:extLst>
                  <a:ext uri="{0D108BD9-81ED-4DB2-BD59-A6C34878D82A}">
                    <a16:rowId xmlns:a16="http://schemas.microsoft.com/office/drawing/2014/main" xmlns="" val="10006"/>
                  </a:ext>
                </a:extLst>
              </a:tr>
              <a:tr h="370840">
                <a:tc>
                  <a:txBody>
                    <a:bodyPr/>
                    <a:lstStyle/>
                    <a:p>
                      <a:pPr algn="ctr"/>
                      <a:r>
                        <a:rPr lang="en-US" altLang="zh-CN" dirty="0" smtClean="0"/>
                        <a:t>1</a:t>
                      </a:r>
                      <a:endParaRPr lang="zh-CN" altLang="en-US" dirty="0"/>
                    </a:p>
                  </a:txBody>
                  <a:tcPr/>
                </a:tc>
                <a:tc>
                  <a:txBody>
                    <a:bodyPr/>
                    <a:lstStyle/>
                    <a:p>
                      <a:pPr algn="ctr"/>
                      <a:r>
                        <a:rPr lang="en-US" altLang="zh-CN" dirty="0" smtClean="0"/>
                        <a:t>1</a:t>
                      </a:r>
                      <a:endParaRPr lang="zh-CN" altLang="en-US" dirty="0"/>
                    </a:p>
                  </a:txBody>
                  <a:tcPr/>
                </a:tc>
                <a:tc>
                  <a:txBody>
                    <a:bodyPr/>
                    <a:lstStyle/>
                    <a:p>
                      <a:pPr algn="ctr"/>
                      <a:r>
                        <a:rPr lang="en-US" altLang="zh-CN" dirty="0" smtClean="0"/>
                        <a:t>0</a:t>
                      </a:r>
                      <a:endParaRPr lang="zh-CN" altLang="en-US" dirty="0"/>
                    </a:p>
                  </a:txBody>
                  <a:tcPr/>
                </a:tc>
                <a:tc>
                  <a:txBody>
                    <a:bodyPr/>
                    <a:lstStyle/>
                    <a:p>
                      <a:pPr algn="ctr"/>
                      <a:r>
                        <a:rPr lang="en-US" altLang="zh-CN" dirty="0" smtClean="0"/>
                        <a:t>0</a:t>
                      </a:r>
                      <a:endParaRPr lang="zh-CN" altLang="en-US" dirty="0"/>
                    </a:p>
                  </a:txBody>
                  <a:tcPr/>
                </a:tc>
                <a:tc>
                  <a:txBody>
                    <a:bodyPr/>
                    <a:lstStyle/>
                    <a:p>
                      <a:pPr algn="ctr"/>
                      <a:r>
                        <a:rPr lang="en-US" altLang="zh-CN" dirty="0" smtClean="0"/>
                        <a:t>1</a:t>
                      </a:r>
                      <a:endParaRPr lang="zh-CN" altLang="en-US" dirty="0"/>
                    </a:p>
                  </a:txBody>
                  <a:tcPr/>
                </a:tc>
                <a:extLst>
                  <a:ext uri="{0D108BD9-81ED-4DB2-BD59-A6C34878D82A}">
                    <a16:rowId xmlns:a16="http://schemas.microsoft.com/office/drawing/2014/main" xmlns="" val="10007"/>
                  </a:ext>
                </a:extLst>
              </a:tr>
              <a:tr h="370840">
                <a:tc>
                  <a:txBody>
                    <a:bodyPr/>
                    <a:lstStyle/>
                    <a:p>
                      <a:pPr algn="ctr"/>
                      <a:r>
                        <a:rPr lang="en-US" altLang="zh-CN" dirty="0" smtClean="0"/>
                        <a:t>1</a:t>
                      </a:r>
                      <a:endParaRPr lang="zh-CN" altLang="en-US" dirty="0"/>
                    </a:p>
                  </a:txBody>
                  <a:tcPr>
                    <a:lnB w="12700" cap="flat" cmpd="sng" algn="ctr">
                      <a:solidFill>
                        <a:schemeClr val="tx1"/>
                      </a:solidFill>
                      <a:prstDash val="solid"/>
                      <a:round/>
                      <a:headEnd type="none" w="med" len="med"/>
                      <a:tailEnd type="none" w="med" len="med"/>
                    </a:lnB>
                  </a:tcPr>
                </a:tc>
                <a:tc>
                  <a:txBody>
                    <a:bodyPr/>
                    <a:lstStyle/>
                    <a:p>
                      <a:pPr algn="ctr"/>
                      <a:r>
                        <a:rPr lang="en-US" altLang="zh-CN" dirty="0" smtClean="0"/>
                        <a:t>1</a:t>
                      </a:r>
                      <a:endParaRPr lang="zh-CN" altLang="en-US" dirty="0"/>
                    </a:p>
                  </a:txBody>
                  <a:tcPr>
                    <a:lnB w="12700" cap="flat" cmpd="sng" algn="ctr">
                      <a:solidFill>
                        <a:schemeClr val="tx1"/>
                      </a:solidFill>
                      <a:prstDash val="solid"/>
                      <a:round/>
                      <a:headEnd type="none" w="med" len="med"/>
                      <a:tailEnd type="none" w="med" len="med"/>
                    </a:lnB>
                  </a:tcPr>
                </a:tc>
                <a:tc>
                  <a:txBody>
                    <a:bodyPr/>
                    <a:lstStyle/>
                    <a:p>
                      <a:pPr algn="ctr"/>
                      <a:r>
                        <a:rPr lang="en-US" altLang="zh-CN" dirty="0" smtClean="0"/>
                        <a:t>1</a:t>
                      </a:r>
                      <a:endParaRPr lang="zh-CN" altLang="en-US" dirty="0"/>
                    </a:p>
                  </a:txBody>
                  <a:tcPr>
                    <a:lnB w="12700" cap="flat" cmpd="sng" algn="ctr">
                      <a:solidFill>
                        <a:schemeClr val="tx1"/>
                      </a:solidFill>
                      <a:prstDash val="solid"/>
                      <a:round/>
                      <a:headEnd type="none" w="med" len="med"/>
                      <a:tailEnd type="none" w="med" len="med"/>
                    </a:lnB>
                  </a:tcPr>
                </a:tc>
                <a:tc>
                  <a:txBody>
                    <a:bodyPr/>
                    <a:lstStyle/>
                    <a:p>
                      <a:pPr algn="ctr"/>
                      <a:r>
                        <a:rPr lang="en-US" altLang="zh-CN" dirty="0" smtClean="0"/>
                        <a:t>1</a:t>
                      </a:r>
                      <a:endParaRPr lang="zh-CN" altLang="en-US" dirty="0"/>
                    </a:p>
                  </a:txBody>
                  <a:tcPr>
                    <a:lnB w="12700" cap="flat" cmpd="sng" algn="ctr">
                      <a:solidFill>
                        <a:schemeClr val="tx1"/>
                      </a:solidFill>
                      <a:prstDash val="solid"/>
                      <a:round/>
                      <a:headEnd type="none" w="med" len="med"/>
                      <a:tailEnd type="none" w="med" len="med"/>
                    </a:lnB>
                  </a:tcPr>
                </a:tc>
                <a:tc>
                  <a:txBody>
                    <a:bodyPr/>
                    <a:lstStyle/>
                    <a:p>
                      <a:pPr algn="ctr"/>
                      <a:r>
                        <a:rPr lang="en-US" altLang="zh-CN" dirty="0" smtClean="0"/>
                        <a:t>1</a:t>
                      </a:r>
                      <a:endParaRPr lang="zh-CN" altLang="en-US" dirty="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8"/>
                  </a:ext>
                </a:extLst>
              </a:tr>
            </a:tbl>
          </a:graphicData>
        </a:graphic>
      </p:graphicFrame>
      <p:sp>
        <p:nvSpPr>
          <p:cNvPr id="3" name="灯片编号占位符 2"/>
          <p:cNvSpPr>
            <a:spLocks noGrp="1"/>
          </p:cNvSpPr>
          <p:nvPr>
            <p:ph type="sldNum" sz="quarter" idx="12"/>
          </p:nvPr>
        </p:nvSpPr>
        <p:spPr/>
        <p:txBody>
          <a:bodyPr/>
          <a:lstStyle/>
          <a:p>
            <a:fld id="{0C913308-F349-4B6D-A68A-DD1791B4A57B}" type="slidenum">
              <a:rPr lang="zh-CN" altLang="en-US" smtClean="0"/>
              <a:pPr/>
              <a:t>15</a:t>
            </a:fld>
            <a:endParaRPr lang="zh-CN" altLang="en-US"/>
          </a:p>
        </p:txBody>
      </p:sp>
      <p:sp>
        <p:nvSpPr>
          <p:cNvPr id="11" name="标题 1"/>
          <p:cNvSpPr txBox="1">
            <a:spLocks/>
          </p:cNvSpPr>
          <p:nvPr/>
        </p:nvSpPr>
        <p:spPr bwMode="auto">
          <a:xfrm>
            <a:off x="1259632" y="0"/>
            <a:ext cx="7016824" cy="63894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fontAlgn="base">
              <a:spcBef>
                <a:spcPct val="0"/>
              </a:spcBef>
              <a:spcAft>
                <a:spcPct val="0"/>
              </a:spcAft>
              <a:defRPr/>
            </a:pP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第</a:t>
            </a:r>
            <a:r>
              <a:rPr kumimoji="1" lang="en-US" altLang="zh-CN" sz="3600" b="1" kern="0" dirty="0" smtClean="0">
                <a:solidFill>
                  <a:schemeClr val="tx2"/>
                </a:solidFill>
                <a:latin typeface="+mj-lt"/>
                <a:ea typeface="+mj-ea"/>
                <a:cs typeface="+mj-cs"/>
              </a:rPr>
              <a:t>4</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章　组合</a:t>
            </a:r>
            <a:r>
              <a:rPr kumimoji="1" lang="zh-CN" altLang="en-US" sz="3600" b="1" kern="0" dirty="0" smtClean="0">
                <a:solidFill>
                  <a:schemeClr val="tx2"/>
                </a:solidFill>
              </a:rPr>
              <a:t>逻辑</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电路</a:t>
            </a:r>
            <a:endParaRPr kumimoji="1" lang="zh-CN" altLang="en-US" sz="3600" b="1" i="0" u="none" strike="noStrike" kern="0" cap="none" spc="0" normalizeH="0" baseline="0" noProof="0" dirty="0">
              <a:ln>
                <a:noFill/>
              </a:ln>
              <a:solidFill>
                <a:schemeClr val="tx2"/>
              </a:solidFill>
              <a:effectLst/>
              <a:uLnTx/>
              <a:uFillTx/>
              <a:latin typeface="+mj-lt"/>
              <a:ea typeface="+mj-ea"/>
              <a:cs typeface="+mj-cs"/>
            </a:endParaRPr>
          </a:p>
        </p:txBody>
      </p:sp>
      <p:pic>
        <p:nvPicPr>
          <p:cNvPr id="12" name="Picture 8"/>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275856" y="1484784"/>
            <a:ext cx="3552000" cy="1080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60851273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764704"/>
            <a:ext cx="7617022" cy="494928"/>
          </a:xfrm>
        </p:spPr>
        <p:txBody>
          <a:bodyPr/>
          <a:lstStyle/>
          <a:p>
            <a:r>
              <a:rPr lang="en-US" altLang="zh-CN" dirty="0" smtClean="0"/>
              <a:t>4.1 </a:t>
            </a:r>
            <a:r>
              <a:rPr lang="zh-CN" altLang="en-US" dirty="0" smtClean="0"/>
              <a:t>组合逻辑电路分析</a:t>
            </a:r>
            <a:endParaRPr lang="zh-CN" altLang="en-US" dirty="0"/>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827584" y="2492896"/>
            <a:ext cx="2472212" cy="1440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矩形 3"/>
          <p:cNvSpPr/>
          <p:nvPr/>
        </p:nvSpPr>
        <p:spPr>
          <a:xfrm>
            <a:off x="6156176" y="1760375"/>
            <a:ext cx="1495922" cy="400110"/>
          </a:xfrm>
          <a:prstGeom prst="rect">
            <a:avLst/>
          </a:prstGeom>
        </p:spPr>
        <p:txBody>
          <a:bodyPr wrap="none">
            <a:spAutoFit/>
          </a:bodyPr>
          <a:lstStyle/>
          <a:p>
            <a:pPr marL="457200" indent="-457200">
              <a:buSzPct val="100000"/>
              <a:buFont typeface="+mj-ea"/>
              <a:buAutoNum type="circleNumDbPlain" startAt="5"/>
            </a:pPr>
            <a:r>
              <a:rPr lang="zh-CN" altLang="en-US" sz="2000" b="1" dirty="0"/>
              <a:t> 波形图</a:t>
            </a:r>
          </a:p>
        </p:txBody>
      </p:sp>
      <p:sp>
        <p:nvSpPr>
          <p:cNvPr id="5" name="矩形 4"/>
          <p:cNvSpPr/>
          <p:nvPr/>
        </p:nvSpPr>
        <p:spPr>
          <a:xfrm>
            <a:off x="395536" y="1605936"/>
            <a:ext cx="2659702" cy="400110"/>
          </a:xfrm>
          <a:prstGeom prst="rect">
            <a:avLst/>
          </a:prstGeom>
        </p:spPr>
        <p:txBody>
          <a:bodyPr wrap="none">
            <a:spAutoFit/>
          </a:bodyPr>
          <a:lstStyle/>
          <a:p>
            <a:pPr marL="1371600" lvl="2" indent="-457200">
              <a:buSzPct val="100000"/>
              <a:buFont typeface="+mj-ea"/>
              <a:buAutoNum type="circleNumDbPlain" startAt="4"/>
            </a:pPr>
            <a:r>
              <a:rPr lang="zh-CN" altLang="en-US" sz="2000" b="1" dirty="0"/>
              <a:t>卡诺图    </a:t>
            </a:r>
          </a:p>
        </p:txBody>
      </p:sp>
      <p:pic>
        <p:nvPicPr>
          <p:cNvPr id="3075"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827584" y="4299970"/>
            <a:ext cx="2523243" cy="1440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644006" y="2524110"/>
            <a:ext cx="3714978" cy="2988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3" name="灯片编号占位符 2"/>
          <p:cNvSpPr>
            <a:spLocks noGrp="1"/>
          </p:cNvSpPr>
          <p:nvPr>
            <p:ph type="sldNum" sz="quarter" idx="12"/>
          </p:nvPr>
        </p:nvSpPr>
        <p:spPr/>
        <p:txBody>
          <a:bodyPr/>
          <a:lstStyle/>
          <a:p>
            <a:fld id="{0C913308-F349-4B6D-A68A-DD1791B4A57B}" type="slidenum">
              <a:rPr lang="zh-CN" altLang="en-US" smtClean="0"/>
              <a:pPr/>
              <a:t>16</a:t>
            </a:fld>
            <a:endParaRPr lang="zh-CN" altLang="en-US"/>
          </a:p>
        </p:txBody>
      </p:sp>
      <p:pic>
        <p:nvPicPr>
          <p:cNvPr id="9" name="Picture 8"/>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5220072" y="404664"/>
            <a:ext cx="3552000" cy="1080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94807294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20688"/>
            <a:ext cx="7689030" cy="638944"/>
          </a:xfrm>
        </p:spPr>
        <p:txBody>
          <a:bodyPr/>
          <a:lstStyle/>
          <a:p>
            <a:r>
              <a:rPr lang="en-US" altLang="zh-CN" dirty="0" smtClean="0"/>
              <a:t>4.1 </a:t>
            </a:r>
            <a:r>
              <a:rPr lang="zh-CN" altLang="en-US" dirty="0" smtClean="0"/>
              <a:t>组合逻辑电路分析</a:t>
            </a:r>
            <a:endParaRPr lang="zh-CN" altLang="en-US" dirty="0"/>
          </a:p>
        </p:txBody>
      </p:sp>
      <p:sp>
        <p:nvSpPr>
          <p:cNvPr id="3" name="内容占位符 2"/>
          <p:cNvSpPr>
            <a:spLocks noGrp="1"/>
          </p:cNvSpPr>
          <p:nvPr>
            <p:ph idx="1"/>
          </p:nvPr>
        </p:nvSpPr>
        <p:spPr/>
        <p:txBody>
          <a:bodyPr/>
          <a:lstStyle/>
          <a:p>
            <a:pPr marL="971550" lvl="1" indent="-457200">
              <a:buClr>
                <a:srgbClr val="0000CC"/>
              </a:buClr>
              <a:buSzPct val="100000"/>
              <a:buFont typeface="+mj-ea"/>
              <a:buAutoNum type="circleNumDbPlain" startAt="6"/>
            </a:pPr>
            <a:r>
              <a:rPr lang="zh-CN" altLang="en-US" dirty="0" smtClean="0"/>
              <a:t>语言描述</a:t>
            </a:r>
            <a:endParaRPr lang="en-US" altLang="zh-CN" dirty="0" smtClean="0"/>
          </a:p>
          <a:p>
            <a:pPr marL="914400" lvl="2" indent="0">
              <a:buSzPct val="70000"/>
              <a:buNone/>
            </a:pPr>
            <a:r>
              <a:rPr lang="en-US" altLang="zh-CN" dirty="0"/>
              <a:t>//</a:t>
            </a:r>
            <a:r>
              <a:rPr lang="zh-CN" altLang="en-US" dirty="0"/>
              <a:t>用数据流描述的</a:t>
            </a:r>
            <a:r>
              <a:rPr lang="en-US" altLang="zh-CN" dirty="0"/>
              <a:t>1</a:t>
            </a:r>
            <a:r>
              <a:rPr lang="zh-CN" altLang="en-US" dirty="0"/>
              <a:t>位全加器</a:t>
            </a:r>
          </a:p>
          <a:p>
            <a:pPr marL="914400" lvl="2" indent="0">
              <a:buSzPct val="70000"/>
              <a:buNone/>
            </a:pPr>
            <a:r>
              <a:rPr lang="en-US" altLang="zh-CN" dirty="0"/>
              <a:t>module </a:t>
            </a:r>
            <a:r>
              <a:rPr lang="en-US" altLang="zh-CN" dirty="0" err="1"/>
              <a:t>full_add</a:t>
            </a:r>
            <a:r>
              <a:rPr lang="en-US" altLang="zh-CN" dirty="0"/>
              <a:t>(a1,a2,a3,y1,y2);</a:t>
            </a:r>
          </a:p>
          <a:p>
            <a:pPr marL="914400" lvl="2" indent="0">
              <a:buSzPct val="70000"/>
              <a:buNone/>
            </a:pPr>
            <a:r>
              <a:rPr lang="en-US" altLang="zh-CN" dirty="0"/>
              <a:t>input a1,a2,a3;</a:t>
            </a:r>
          </a:p>
          <a:p>
            <a:pPr marL="914400" lvl="2" indent="0">
              <a:buSzPct val="70000"/>
              <a:buNone/>
            </a:pPr>
            <a:r>
              <a:rPr lang="en-US" altLang="zh-CN" dirty="0"/>
              <a:t>output y1,y2;</a:t>
            </a:r>
          </a:p>
          <a:p>
            <a:pPr marL="914400" lvl="2" indent="0">
              <a:buSzPct val="70000"/>
              <a:buNone/>
            </a:pPr>
            <a:r>
              <a:rPr lang="en-US" altLang="zh-CN" dirty="0"/>
              <a:t>assign y1=a1^a2^a3;</a:t>
            </a:r>
          </a:p>
          <a:p>
            <a:pPr marL="914400" lvl="2" indent="0">
              <a:buSzPct val="70000"/>
              <a:buNone/>
            </a:pPr>
            <a:r>
              <a:rPr lang="en-US" altLang="zh-CN" dirty="0"/>
              <a:t>assign y2=(a1 &amp; a2) | (a1 &amp; a3) | (a2 &amp; a3);</a:t>
            </a:r>
          </a:p>
          <a:p>
            <a:pPr marL="914400" lvl="2" indent="0">
              <a:buSzPct val="70000"/>
              <a:buNone/>
            </a:pPr>
            <a:r>
              <a:rPr lang="en-US" altLang="zh-CN" dirty="0" err="1"/>
              <a:t>endmodule</a:t>
            </a:r>
            <a:endParaRPr lang="en-US" altLang="zh-CN" dirty="0" smtClean="0"/>
          </a:p>
          <a:p>
            <a:pPr marL="1371600" lvl="2" indent="-457200">
              <a:buSzPct val="70000"/>
              <a:buFont typeface="+mj-ea"/>
              <a:buAutoNum type="circleNumDbPlain"/>
            </a:pPr>
            <a:endParaRPr lang="zh-CN" altLang="en-US" dirty="0"/>
          </a:p>
          <a:p>
            <a:pPr lvl="2"/>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17</a:t>
            </a:fld>
            <a:endParaRPr lang="zh-CN" altLang="en-US"/>
          </a:p>
        </p:txBody>
      </p:sp>
    </p:spTree>
    <p:extLst>
      <p:ext uri="{BB962C8B-B14F-4D97-AF65-F5344CB8AC3E}">
        <p14:creationId xmlns:p14="http://schemas.microsoft.com/office/powerpoint/2010/main" xmlns="" val="98354817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92696"/>
            <a:ext cx="7545014" cy="566936"/>
          </a:xfrm>
        </p:spPr>
        <p:txBody>
          <a:bodyPr/>
          <a:lstStyle/>
          <a:p>
            <a:r>
              <a:rPr lang="en-US" altLang="zh-CN" dirty="0" smtClean="0"/>
              <a:t>4.1 </a:t>
            </a:r>
            <a:r>
              <a:rPr lang="zh-CN" altLang="en-US" dirty="0" smtClean="0"/>
              <a:t>组合逻辑电路分析</a:t>
            </a:r>
            <a:endParaRPr lang="zh-CN" altLang="en-US" dirty="0"/>
          </a:p>
        </p:txBody>
      </p:sp>
      <p:sp>
        <p:nvSpPr>
          <p:cNvPr id="3" name="内容占位符 2"/>
          <p:cNvSpPr>
            <a:spLocks noGrp="1"/>
          </p:cNvSpPr>
          <p:nvPr>
            <p:ph idx="1"/>
          </p:nvPr>
        </p:nvSpPr>
        <p:spPr>
          <a:xfrm>
            <a:off x="539552" y="1556792"/>
            <a:ext cx="8161338" cy="4911128"/>
          </a:xfrm>
        </p:spPr>
        <p:txBody>
          <a:bodyPr/>
          <a:lstStyle/>
          <a:p>
            <a:pPr>
              <a:lnSpc>
                <a:spcPct val="100000"/>
              </a:lnSpc>
              <a:spcBef>
                <a:spcPts val="600"/>
              </a:spcBef>
              <a:buSzPct val="100000"/>
              <a:buFont typeface="Wingdings" pitchFamily="2" charset="2"/>
              <a:buChar char="p"/>
            </a:pPr>
            <a:r>
              <a:rPr lang="zh-CN" altLang="en-US" sz="2800" dirty="0"/>
              <a:t>组合逻辑电路分析</a:t>
            </a:r>
            <a:endParaRPr lang="en-US" altLang="zh-CN" sz="2800" dirty="0" smtClean="0"/>
          </a:p>
          <a:p>
            <a:pPr lvl="1">
              <a:lnSpc>
                <a:spcPct val="100000"/>
              </a:lnSpc>
              <a:spcBef>
                <a:spcPts val="600"/>
              </a:spcBef>
              <a:buSzPct val="100000"/>
            </a:pPr>
            <a:r>
              <a:rPr lang="zh-CN" altLang="en-US" sz="2400" dirty="0"/>
              <a:t>分析：已知</a:t>
            </a:r>
            <a:r>
              <a:rPr lang="zh-CN" altLang="en-US" sz="2400" dirty="0">
                <a:solidFill>
                  <a:srgbClr val="0000CC"/>
                </a:solidFill>
              </a:rPr>
              <a:t>电路形式</a:t>
            </a:r>
            <a:r>
              <a:rPr lang="zh-CN" altLang="en-US" sz="2400" dirty="0"/>
              <a:t>，找出输入、输出的</a:t>
            </a:r>
            <a:r>
              <a:rPr lang="zh-CN" altLang="en-US" sz="2400" dirty="0" smtClean="0"/>
              <a:t>逻辑</a:t>
            </a:r>
            <a:r>
              <a:rPr lang="zh-CN" altLang="en-US" sz="2400" dirty="0"/>
              <a:t>关系（</a:t>
            </a:r>
            <a:r>
              <a:rPr lang="zh-CN" altLang="en-US" sz="2400" dirty="0">
                <a:solidFill>
                  <a:srgbClr val="0000CC"/>
                </a:solidFill>
              </a:rPr>
              <a:t>电路功能</a:t>
            </a:r>
            <a:r>
              <a:rPr lang="zh-CN" altLang="en-US" sz="2400" dirty="0"/>
              <a:t>）。</a:t>
            </a:r>
          </a:p>
          <a:p>
            <a:pPr lvl="1">
              <a:lnSpc>
                <a:spcPct val="100000"/>
              </a:lnSpc>
              <a:spcBef>
                <a:spcPts val="600"/>
              </a:spcBef>
              <a:buSzPct val="100000"/>
            </a:pPr>
            <a:r>
              <a:rPr lang="zh-CN" altLang="en-US" sz="2400" dirty="0"/>
              <a:t>目的：求出逻辑功能或证明给定的逻辑</a:t>
            </a:r>
            <a:r>
              <a:rPr lang="zh-CN" altLang="en-US" sz="2400" dirty="0" smtClean="0"/>
              <a:t>功能正确</a:t>
            </a:r>
            <a:r>
              <a:rPr lang="zh-CN" altLang="en-US" sz="2400" dirty="0"/>
              <a:t>与否</a:t>
            </a:r>
            <a:r>
              <a:rPr lang="zh-CN" altLang="en-US" sz="2400" dirty="0" smtClean="0"/>
              <a:t>。</a:t>
            </a:r>
            <a:endParaRPr lang="en-US" altLang="zh-CN" sz="2400" dirty="0" smtClean="0"/>
          </a:p>
          <a:p>
            <a:pPr>
              <a:lnSpc>
                <a:spcPct val="100000"/>
              </a:lnSpc>
              <a:spcBef>
                <a:spcPts val="600"/>
              </a:spcBef>
              <a:buSzPct val="100000"/>
              <a:buFont typeface="Wingdings" pitchFamily="2" charset="2"/>
              <a:buChar char="p"/>
            </a:pPr>
            <a:r>
              <a:rPr lang="zh-CN" altLang="en-US" sz="2800" dirty="0" smtClean="0"/>
              <a:t>组合逻辑电路</a:t>
            </a:r>
            <a:r>
              <a:rPr lang="zh-CN" altLang="en-US" sz="2800" dirty="0"/>
              <a:t>设计</a:t>
            </a:r>
            <a:endParaRPr lang="en-US" altLang="zh-CN" sz="2800" dirty="0" smtClean="0"/>
          </a:p>
          <a:p>
            <a:pPr lvl="1">
              <a:lnSpc>
                <a:spcPct val="100000"/>
              </a:lnSpc>
              <a:spcBef>
                <a:spcPts val="600"/>
              </a:spcBef>
              <a:buSzPct val="100000"/>
            </a:pPr>
            <a:r>
              <a:rPr lang="zh-CN" altLang="en-US" sz="2400" dirty="0"/>
              <a:t>设计：已知输入、输出的逻辑关系（</a:t>
            </a:r>
            <a:r>
              <a:rPr lang="zh-CN" altLang="en-US" sz="2400" dirty="0">
                <a:solidFill>
                  <a:srgbClr val="0000CC"/>
                </a:solidFill>
              </a:rPr>
              <a:t>电路</a:t>
            </a:r>
            <a:r>
              <a:rPr lang="zh-CN" altLang="en-US" sz="2400" dirty="0" smtClean="0">
                <a:solidFill>
                  <a:srgbClr val="0000CC"/>
                </a:solidFill>
              </a:rPr>
              <a:t>功能</a:t>
            </a:r>
            <a:r>
              <a:rPr lang="zh-CN" altLang="en-US" sz="2400" dirty="0"/>
              <a:t>），完成</a:t>
            </a:r>
            <a:r>
              <a:rPr lang="zh-CN" altLang="en-US" sz="2400" dirty="0">
                <a:solidFill>
                  <a:srgbClr val="0000CC"/>
                </a:solidFill>
              </a:rPr>
              <a:t>电路形式</a:t>
            </a:r>
            <a:r>
              <a:rPr lang="zh-CN" altLang="en-US" sz="2400" dirty="0"/>
              <a:t>设计。</a:t>
            </a:r>
          </a:p>
          <a:p>
            <a:pPr lvl="1">
              <a:lnSpc>
                <a:spcPct val="100000"/>
              </a:lnSpc>
              <a:spcBef>
                <a:spcPts val="600"/>
              </a:spcBef>
              <a:buSzPct val="100000"/>
            </a:pPr>
            <a:r>
              <a:rPr lang="zh-CN" altLang="en-US" sz="2400" dirty="0"/>
              <a:t>目的：实现</a:t>
            </a:r>
            <a:r>
              <a:rPr lang="zh-CN" altLang="en-US" sz="2400" dirty="0">
                <a:solidFill>
                  <a:srgbClr val="0000CC"/>
                </a:solidFill>
              </a:rPr>
              <a:t>最简化</a:t>
            </a:r>
            <a:r>
              <a:rPr lang="zh-CN" altLang="en-US" sz="2400" dirty="0"/>
              <a:t>的某种逻辑功能电路</a:t>
            </a:r>
            <a:r>
              <a:rPr lang="zh-CN" altLang="en-US" sz="2400" dirty="0" smtClean="0"/>
              <a:t>。</a:t>
            </a:r>
            <a:endParaRPr lang="en-US" altLang="zh-CN" sz="2400" dirty="0" smtClean="0"/>
          </a:p>
          <a:p>
            <a:pPr>
              <a:lnSpc>
                <a:spcPct val="100000"/>
              </a:lnSpc>
              <a:spcBef>
                <a:spcPts val="600"/>
              </a:spcBef>
              <a:buSzPct val="100000"/>
              <a:buFont typeface="Wingdings" pitchFamily="2" charset="2"/>
              <a:buChar char="p"/>
            </a:pPr>
            <a:r>
              <a:rPr lang="zh-CN" altLang="en-US" sz="2800" dirty="0"/>
              <a:t>分析和设计是一对互逆过程。</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18</a:t>
            </a:fld>
            <a:endParaRPr lang="zh-CN" altLang="en-US"/>
          </a:p>
        </p:txBody>
      </p:sp>
    </p:spTree>
    <p:extLst>
      <p:ext uri="{BB962C8B-B14F-4D97-AF65-F5344CB8AC3E}">
        <p14:creationId xmlns:p14="http://schemas.microsoft.com/office/powerpoint/2010/main" xmlns="" val="381144448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31639" y="620688"/>
            <a:ext cx="7416825" cy="638944"/>
          </a:xfrm>
        </p:spPr>
        <p:txBody>
          <a:bodyPr/>
          <a:lstStyle/>
          <a:p>
            <a:r>
              <a:rPr lang="en-US" altLang="zh-CN" dirty="0" smtClean="0"/>
              <a:t>4.1 </a:t>
            </a:r>
            <a:r>
              <a:rPr lang="zh-CN" altLang="en-US" dirty="0" smtClean="0"/>
              <a:t>组合逻辑电路分析</a:t>
            </a:r>
            <a:endParaRPr lang="zh-CN" altLang="en-US" dirty="0"/>
          </a:p>
        </p:txBody>
      </p:sp>
      <p:sp>
        <p:nvSpPr>
          <p:cNvPr id="3" name="内容占位符 2"/>
          <p:cNvSpPr>
            <a:spLocks noGrp="1"/>
          </p:cNvSpPr>
          <p:nvPr>
            <p:ph idx="1"/>
          </p:nvPr>
        </p:nvSpPr>
        <p:spPr>
          <a:xfrm>
            <a:off x="467544" y="1556792"/>
            <a:ext cx="8161338" cy="4911128"/>
          </a:xfrm>
        </p:spPr>
        <p:txBody>
          <a:bodyPr/>
          <a:lstStyle/>
          <a:p>
            <a:pPr>
              <a:lnSpc>
                <a:spcPct val="100000"/>
              </a:lnSpc>
              <a:spcBef>
                <a:spcPts val="600"/>
              </a:spcBef>
              <a:buSzPct val="100000"/>
              <a:buFont typeface="Wingdings" pitchFamily="2" charset="2"/>
              <a:buChar char="p"/>
            </a:pPr>
            <a:r>
              <a:rPr lang="zh-CN" altLang="en-US" sz="2800" dirty="0"/>
              <a:t>组合逻辑电路的</a:t>
            </a:r>
            <a:r>
              <a:rPr lang="zh-CN" altLang="en-US" sz="2800" dirty="0">
                <a:solidFill>
                  <a:srgbClr val="FF0000"/>
                </a:solidFill>
              </a:rPr>
              <a:t>一般分析方法</a:t>
            </a:r>
          </a:p>
          <a:p>
            <a:pPr lvl="1">
              <a:lnSpc>
                <a:spcPct val="100000"/>
              </a:lnSpc>
              <a:spcBef>
                <a:spcPts val="600"/>
              </a:spcBef>
              <a:buSzPct val="100000"/>
            </a:pPr>
            <a:r>
              <a:rPr lang="zh-CN" altLang="en-US" sz="2400" dirty="0" smtClean="0"/>
              <a:t>步骤</a:t>
            </a:r>
            <a:r>
              <a:rPr lang="en-US" altLang="zh-CN" sz="2400" dirty="0" smtClean="0"/>
              <a:t>1</a:t>
            </a:r>
            <a:r>
              <a:rPr lang="en-US" altLang="zh-CN" sz="2400" dirty="0"/>
              <a:t>. </a:t>
            </a:r>
            <a:r>
              <a:rPr lang="zh-CN" altLang="en-US" sz="2400" dirty="0" smtClean="0"/>
              <a:t>根据所给组合逻辑电路图，从输入开始逐级写出各器件的</a:t>
            </a:r>
            <a:r>
              <a:rPr lang="zh-CN" altLang="en-US" sz="2400" dirty="0" smtClean="0">
                <a:solidFill>
                  <a:srgbClr val="0000CC"/>
                </a:solidFill>
              </a:rPr>
              <a:t>输入和输出变量</a:t>
            </a:r>
            <a:r>
              <a:rPr lang="zh-CN" altLang="en-US" sz="2400" dirty="0" smtClean="0"/>
              <a:t>；</a:t>
            </a:r>
            <a:endParaRPr lang="zh-CN" altLang="en-US" sz="2400" dirty="0"/>
          </a:p>
          <a:p>
            <a:pPr lvl="1">
              <a:lnSpc>
                <a:spcPct val="100000"/>
              </a:lnSpc>
              <a:spcBef>
                <a:spcPts val="600"/>
              </a:spcBef>
              <a:buSzPct val="100000"/>
            </a:pPr>
            <a:r>
              <a:rPr lang="zh-CN" altLang="en-US" sz="2400" dirty="0" smtClean="0"/>
              <a:t>步骤</a:t>
            </a:r>
            <a:r>
              <a:rPr lang="en-US" altLang="zh-CN" sz="2400" dirty="0" smtClean="0"/>
              <a:t>2. </a:t>
            </a:r>
            <a:r>
              <a:rPr lang="zh-CN" altLang="en-US" sz="2400" dirty="0" smtClean="0"/>
              <a:t>从输入到输出</a:t>
            </a:r>
            <a:r>
              <a:rPr lang="zh-CN" altLang="en-US" sz="2400" dirty="0" smtClean="0">
                <a:solidFill>
                  <a:srgbClr val="0000CC"/>
                </a:solidFill>
              </a:rPr>
              <a:t>逐级写出逻辑函数式</a:t>
            </a:r>
            <a:r>
              <a:rPr lang="zh-CN" altLang="en-US" sz="2400" dirty="0" smtClean="0"/>
              <a:t>，最后得到用输入变量表示的输出逻辑函数式；然后用</a:t>
            </a:r>
            <a:r>
              <a:rPr lang="zh-CN" altLang="en-US" sz="2400" dirty="0"/>
              <a:t>公式法或</a:t>
            </a:r>
            <a:r>
              <a:rPr lang="zh-CN" altLang="en-US" sz="2400" dirty="0" smtClean="0"/>
              <a:t>卡诺图法</a:t>
            </a:r>
            <a:r>
              <a:rPr lang="zh-CN" altLang="en-US" sz="2400" dirty="0">
                <a:solidFill>
                  <a:srgbClr val="0000CC"/>
                </a:solidFill>
              </a:rPr>
              <a:t>化简</a:t>
            </a:r>
            <a:r>
              <a:rPr lang="zh-CN" altLang="en-US" sz="2400" dirty="0"/>
              <a:t>逻辑函数式；</a:t>
            </a:r>
          </a:p>
          <a:p>
            <a:pPr lvl="1">
              <a:lnSpc>
                <a:spcPct val="100000"/>
              </a:lnSpc>
              <a:spcBef>
                <a:spcPts val="600"/>
              </a:spcBef>
              <a:buSzPct val="100000"/>
            </a:pPr>
            <a:r>
              <a:rPr lang="zh-CN" altLang="en-US" sz="2400" dirty="0" smtClean="0"/>
              <a:t>步骤</a:t>
            </a:r>
            <a:r>
              <a:rPr lang="en-US" altLang="zh-CN" sz="2400" dirty="0" smtClean="0"/>
              <a:t>3</a:t>
            </a:r>
            <a:r>
              <a:rPr lang="en-US" altLang="zh-CN" sz="2400" dirty="0"/>
              <a:t>. </a:t>
            </a:r>
            <a:r>
              <a:rPr lang="zh-CN" altLang="en-US" sz="2400" dirty="0" smtClean="0"/>
              <a:t>列出所得逻辑函数的</a:t>
            </a:r>
            <a:r>
              <a:rPr lang="zh-CN" altLang="en-US" sz="2400" dirty="0" smtClean="0">
                <a:solidFill>
                  <a:srgbClr val="0000CC"/>
                </a:solidFill>
              </a:rPr>
              <a:t>真值表</a:t>
            </a:r>
            <a:r>
              <a:rPr lang="zh-CN" altLang="en-US" sz="2400" dirty="0"/>
              <a:t>；</a:t>
            </a:r>
          </a:p>
          <a:p>
            <a:pPr lvl="1">
              <a:lnSpc>
                <a:spcPct val="100000"/>
              </a:lnSpc>
              <a:spcBef>
                <a:spcPts val="600"/>
              </a:spcBef>
              <a:buSzPct val="100000"/>
            </a:pPr>
            <a:r>
              <a:rPr lang="zh-CN" altLang="en-US" sz="2400" dirty="0" smtClean="0"/>
              <a:t>步骤</a:t>
            </a:r>
            <a:r>
              <a:rPr lang="en-US" altLang="zh-CN" sz="2400" dirty="0" smtClean="0"/>
              <a:t>4</a:t>
            </a:r>
            <a:r>
              <a:rPr lang="en-US" altLang="zh-CN" sz="2400" dirty="0"/>
              <a:t>. </a:t>
            </a:r>
            <a:r>
              <a:rPr lang="zh-CN" altLang="en-US" sz="2400" dirty="0">
                <a:solidFill>
                  <a:srgbClr val="0000CC"/>
                </a:solidFill>
              </a:rPr>
              <a:t>分析描述</a:t>
            </a:r>
            <a:r>
              <a:rPr lang="zh-CN" altLang="en-US" sz="2400" dirty="0"/>
              <a:t>电路的逻辑功能。</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19</a:t>
            </a:fld>
            <a:endParaRPr lang="zh-CN" altLang="en-US"/>
          </a:p>
        </p:txBody>
      </p:sp>
    </p:spTree>
    <p:extLst>
      <p:ext uri="{BB962C8B-B14F-4D97-AF65-F5344CB8AC3E}">
        <p14:creationId xmlns:p14="http://schemas.microsoft.com/office/powerpoint/2010/main" xmlns="" val="94535236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92696"/>
            <a:ext cx="7617022" cy="566936"/>
          </a:xfrm>
        </p:spPr>
        <p:txBody>
          <a:bodyPr/>
          <a:lstStyle/>
          <a:p>
            <a:r>
              <a:rPr lang="en-US" altLang="zh-CN" dirty="0" smtClean="0"/>
              <a:t>4.1 </a:t>
            </a:r>
            <a:r>
              <a:rPr lang="zh-CN" altLang="en-US" dirty="0" smtClean="0"/>
              <a:t>组合逻辑电路分析</a:t>
            </a:r>
            <a:endParaRPr lang="zh-CN" altLang="en-US" dirty="0"/>
          </a:p>
        </p:txBody>
      </p:sp>
      <p:sp>
        <p:nvSpPr>
          <p:cNvPr id="3" name="内容占位符 2"/>
          <p:cNvSpPr>
            <a:spLocks noGrp="1"/>
          </p:cNvSpPr>
          <p:nvPr>
            <p:ph idx="1"/>
          </p:nvPr>
        </p:nvSpPr>
        <p:spPr>
          <a:xfrm>
            <a:off x="539552" y="1484784"/>
            <a:ext cx="8280920" cy="4911128"/>
          </a:xfrm>
        </p:spPr>
        <p:txBody>
          <a:bodyPr/>
          <a:lstStyle/>
          <a:p>
            <a:pPr>
              <a:lnSpc>
                <a:spcPct val="100000"/>
              </a:lnSpc>
              <a:spcBef>
                <a:spcPts val="600"/>
              </a:spcBef>
              <a:buSzPct val="100000"/>
              <a:buFont typeface="Wingdings" pitchFamily="2" charset="2"/>
              <a:buChar char="p"/>
            </a:pPr>
            <a:r>
              <a:rPr lang="zh-CN" altLang="en-US" sz="2800" dirty="0" smtClean="0">
                <a:solidFill>
                  <a:srgbClr val="0000CC"/>
                </a:solidFill>
              </a:rPr>
              <a:t>例</a:t>
            </a:r>
            <a:r>
              <a:rPr lang="en-US" altLang="zh-CN" sz="2800" dirty="0" smtClean="0">
                <a:solidFill>
                  <a:srgbClr val="0000CC"/>
                </a:solidFill>
              </a:rPr>
              <a:t>4.1</a:t>
            </a:r>
            <a:r>
              <a:rPr lang="en-US" altLang="zh-CN" sz="2800" dirty="0" smtClean="0"/>
              <a:t>  </a:t>
            </a:r>
            <a:r>
              <a:rPr lang="zh-CN" altLang="en-US" sz="2800" dirty="0" smtClean="0"/>
              <a:t>已知逻辑电路如图</a:t>
            </a:r>
            <a:r>
              <a:rPr lang="en-US" altLang="zh-CN" sz="2800" dirty="0" smtClean="0"/>
              <a:t>4.2</a:t>
            </a:r>
            <a:r>
              <a:rPr lang="zh-CN" altLang="en-US" sz="2800" dirty="0" smtClean="0"/>
              <a:t>所示，分析该电路的逻辑功能。</a:t>
            </a:r>
            <a:endParaRPr lang="en-US" altLang="zh-CN" sz="2800" dirty="0" smtClean="0"/>
          </a:p>
          <a:p>
            <a:pPr>
              <a:lnSpc>
                <a:spcPct val="100000"/>
              </a:lnSpc>
              <a:spcBef>
                <a:spcPts val="600"/>
              </a:spcBef>
              <a:buSzPct val="100000"/>
              <a:buFont typeface="Wingdings" pitchFamily="2" charset="2"/>
              <a:buChar char="p"/>
            </a:pPr>
            <a:r>
              <a:rPr lang="en-US" altLang="zh-CN" sz="2800" dirty="0" smtClean="0"/>
              <a:t> </a:t>
            </a:r>
            <a:r>
              <a:rPr lang="zh-CN" altLang="en-US" sz="2800" dirty="0" smtClean="0">
                <a:solidFill>
                  <a:srgbClr val="0000CC"/>
                </a:solidFill>
              </a:rPr>
              <a:t>解</a:t>
            </a:r>
            <a:r>
              <a:rPr lang="zh-CN" altLang="en-US" sz="2800" dirty="0" smtClean="0"/>
              <a:t>：（</a:t>
            </a:r>
            <a:r>
              <a:rPr lang="en-US" altLang="zh-CN" sz="2800" dirty="0" smtClean="0"/>
              <a:t>1</a:t>
            </a:r>
            <a:r>
              <a:rPr lang="zh-CN" altLang="en-US" sz="2800" dirty="0" smtClean="0"/>
              <a:t>）在逻辑图上标出各输出级</a:t>
            </a:r>
            <a:r>
              <a:rPr lang="en-US" altLang="zh-CN" sz="2800" dirty="0" smtClean="0"/>
              <a:t>T</a:t>
            </a:r>
            <a:r>
              <a:rPr lang="en-US" altLang="zh-CN" sz="2800" baseline="-25000" dirty="0" smtClean="0"/>
              <a:t>1</a:t>
            </a:r>
            <a:r>
              <a:rPr lang="en-US" altLang="zh-CN" sz="2800" dirty="0" smtClean="0"/>
              <a:t>, T</a:t>
            </a:r>
            <a:r>
              <a:rPr lang="en-US" altLang="zh-CN" sz="2800" baseline="-25000" dirty="0" smtClean="0"/>
              <a:t>2</a:t>
            </a:r>
            <a:r>
              <a:rPr lang="en-US" altLang="zh-CN" sz="2800" dirty="0" smtClean="0"/>
              <a:t>, T</a:t>
            </a:r>
            <a:r>
              <a:rPr lang="en-US" altLang="zh-CN" sz="2800" baseline="-25000" dirty="0" smtClean="0"/>
              <a:t>3</a:t>
            </a:r>
            <a:r>
              <a:rPr lang="en-US" altLang="zh-CN" sz="2800" dirty="0" smtClean="0"/>
              <a:t>, T</a:t>
            </a:r>
            <a:r>
              <a:rPr lang="en-US" altLang="zh-CN" sz="2800" baseline="-25000" dirty="0" smtClean="0"/>
              <a:t>4</a:t>
            </a:r>
            <a:r>
              <a:rPr lang="en-US" altLang="zh-CN" sz="2800" dirty="0" smtClean="0"/>
              <a:t>, T</a:t>
            </a:r>
            <a:r>
              <a:rPr lang="en-US" altLang="zh-CN" sz="2800" baseline="-25000" dirty="0" smtClean="0"/>
              <a:t>5</a:t>
            </a:r>
            <a:r>
              <a:rPr lang="zh-CN" altLang="en-US" sz="2800" dirty="0" smtClean="0"/>
              <a:t>和</a:t>
            </a:r>
            <a:r>
              <a:rPr lang="en-US" altLang="zh-CN" sz="2800" dirty="0" smtClean="0"/>
              <a:t>T</a:t>
            </a:r>
            <a:r>
              <a:rPr lang="en-US" altLang="zh-CN" sz="2800" baseline="-25000" dirty="0" smtClean="0"/>
              <a:t>6</a:t>
            </a:r>
            <a:r>
              <a:rPr lang="zh-CN" altLang="en-US" sz="2800" dirty="0" smtClean="0"/>
              <a:t>。</a:t>
            </a:r>
            <a:endParaRPr lang="zh-CN" altLang="en-US" sz="28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20</a:t>
            </a:fld>
            <a:endParaRPr lang="zh-CN" altLang="en-US"/>
          </a:p>
        </p:txBody>
      </p:sp>
      <p:pic>
        <p:nvPicPr>
          <p:cNvPr id="483330" name="Picture 2"/>
          <p:cNvPicPr>
            <a:picLocks noChangeAspect="1" noChangeArrowheads="1"/>
          </p:cNvPicPr>
          <p:nvPr/>
        </p:nvPicPr>
        <p:blipFill>
          <a:blip r:embed="rId2" cstate="print"/>
          <a:srcRect/>
          <a:stretch>
            <a:fillRect/>
          </a:stretch>
        </p:blipFill>
        <p:spPr bwMode="auto">
          <a:xfrm>
            <a:off x="2123728" y="3573016"/>
            <a:ext cx="5648904" cy="2808312"/>
          </a:xfrm>
          <a:prstGeom prst="rect">
            <a:avLst/>
          </a:prstGeom>
          <a:noFill/>
          <a:ln w="9525">
            <a:noFill/>
            <a:miter lim="800000"/>
            <a:headEnd/>
            <a:tailEnd/>
          </a:ln>
        </p:spPr>
      </p:pic>
    </p:spTree>
    <p:extLst>
      <p:ext uri="{BB962C8B-B14F-4D97-AF65-F5344CB8AC3E}">
        <p14:creationId xmlns:p14="http://schemas.microsoft.com/office/powerpoint/2010/main" xmlns="" val="206717721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92696"/>
            <a:ext cx="7617022" cy="566936"/>
          </a:xfrm>
        </p:spPr>
        <p:txBody>
          <a:bodyPr/>
          <a:lstStyle/>
          <a:p>
            <a:r>
              <a:rPr lang="en-US" altLang="zh-CN" dirty="0" smtClean="0"/>
              <a:t>4.1 </a:t>
            </a:r>
            <a:r>
              <a:rPr lang="zh-CN" altLang="en-US" dirty="0" smtClean="0"/>
              <a:t>组合逻辑电路分析</a:t>
            </a:r>
            <a:endParaRPr lang="zh-CN" altLang="en-US" dirty="0"/>
          </a:p>
        </p:txBody>
      </p:sp>
      <p:sp>
        <p:nvSpPr>
          <p:cNvPr id="3" name="内容占位符 2"/>
          <p:cNvSpPr>
            <a:spLocks noGrp="1"/>
          </p:cNvSpPr>
          <p:nvPr>
            <p:ph idx="1"/>
          </p:nvPr>
        </p:nvSpPr>
        <p:spPr>
          <a:xfrm>
            <a:off x="467544" y="2564904"/>
            <a:ext cx="8280920" cy="3614984"/>
          </a:xfrm>
        </p:spPr>
        <p:txBody>
          <a:bodyPr/>
          <a:lstStyle/>
          <a:p>
            <a:pPr>
              <a:lnSpc>
                <a:spcPct val="100000"/>
              </a:lnSpc>
              <a:spcBef>
                <a:spcPts val="600"/>
              </a:spcBef>
              <a:buSzPct val="100000"/>
              <a:buFont typeface="Wingdings" pitchFamily="2" charset="2"/>
              <a:buChar char="p"/>
            </a:pPr>
            <a:r>
              <a:rPr lang="zh-CN" altLang="en-US" sz="2800" dirty="0" smtClean="0">
                <a:solidFill>
                  <a:srgbClr val="0000CC"/>
                </a:solidFill>
              </a:rPr>
              <a:t>例</a:t>
            </a:r>
            <a:r>
              <a:rPr lang="en-US" altLang="zh-CN" sz="2800" dirty="0" smtClean="0">
                <a:solidFill>
                  <a:srgbClr val="0000CC"/>
                </a:solidFill>
              </a:rPr>
              <a:t>4.1</a:t>
            </a:r>
            <a:r>
              <a:rPr lang="en-US" altLang="zh-CN" sz="2800" dirty="0" smtClean="0"/>
              <a:t> </a:t>
            </a:r>
            <a:r>
              <a:rPr lang="zh-CN" altLang="en-US" sz="2800" dirty="0" smtClean="0">
                <a:solidFill>
                  <a:srgbClr val="0000CC"/>
                </a:solidFill>
              </a:rPr>
              <a:t>解</a:t>
            </a:r>
            <a:r>
              <a:rPr lang="zh-CN" altLang="en-US" sz="2800" dirty="0" smtClean="0"/>
              <a:t>：（</a:t>
            </a:r>
            <a:r>
              <a:rPr lang="en-US" altLang="zh-CN" sz="2800" dirty="0" smtClean="0"/>
              <a:t>2</a:t>
            </a:r>
            <a:r>
              <a:rPr lang="zh-CN" altLang="en-US" sz="2800" dirty="0" smtClean="0"/>
              <a:t>）写出各级输出的逻辑表达式。</a:t>
            </a:r>
            <a:endParaRPr lang="en-US" altLang="zh-CN" sz="2800" dirty="0" smtClean="0"/>
          </a:p>
          <a:p>
            <a:pPr>
              <a:lnSpc>
                <a:spcPct val="100000"/>
              </a:lnSpc>
              <a:spcBef>
                <a:spcPts val="600"/>
              </a:spcBef>
              <a:buSzPct val="100000"/>
              <a:buNone/>
            </a:pPr>
            <a:r>
              <a:rPr lang="en-US" altLang="zh-CN" sz="2800" dirty="0" smtClean="0"/>
              <a:t>    T</a:t>
            </a:r>
            <a:r>
              <a:rPr lang="en-US" altLang="zh-CN" sz="2800" baseline="-25000" dirty="0" smtClean="0"/>
              <a:t>1</a:t>
            </a:r>
            <a:r>
              <a:rPr lang="en-US" altLang="zh-CN" sz="2800" dirty="0" smtClean="0"/>
              <a:t>=AB, T</a:t>
            </a:r>
            <a:r>
              <a:rPr lang="en-US" altLang="zh-CN" sz="2800" baseline="-25000" dirty="0" smtClean="0"/>
              <a:t>2</a:t>
            </a:r>
            <a:r>
              <a:rPr lang="en-US" altLang="zh-CN" sz="2800" dirty="0" smtClean="0"/>
              <a:t> =A+B, T</a:t>
            </a:r>
            <a:r>
              <a:rPr lang="en-US" altLang="zh-CN" sz="2800" baseline="-25000" dirty="0" smtClean="0"/>
              <a:t>3</a:t>
            </a:r>
            <a:r>
              <a:rPr lang="en-US" altLang="zh-CN" sz="2800" dirty="0" smtClean="0"/>
              <a:t>=(A+B)C, T</a:t>
            </a:r>
            <a:r>
              <a:rPr lang="en-US" altLang="zh-CN" sz="2800" baseline="-25000" dirty="0" smtClean="0"/>
              <a:t>4</a:t>
            </a:r>
            <a:r>
              <a:rPr lang="en-US" altLang="zh-CN" sz="2800" dirty="0" smtClean="0"/>
              <a:t>=A+B+C, </a:t>
            </a:r>
          </a:p>
          <a:p>
            <a:pPr>
              <a:lnSpc>
                <a:spcPct val="100000"/>
              </a:lnSpc>
              <a:spcBef>
                <a:spcPts val="600"/>
              </a:spcBef>
              <a:buSzPct val="100000"/>
              <a:buNone/>
            </a:pPr>
            <a:r>
              <a:rPr lang="en-US" altLang="zh-CN" sz="2800" dirty="0" smtClean="0"/>
              <a:t>    T</a:t>
            </a:r>
            <a:r>
              <a:rPr lang="en-US" altLang="zh-CN" sz="2800" baseline="-25000" dirty="0" smtClean="0"/>
              <a:t>5</a:t>
            </a:r>
            <a:r>
              <a:rPr lang="en-US" altLang="zh-CN" sz="2800" dirty="0" smtClean="0"/>
              <a:t>=T</a:t>
            </a:r>
            <a:r>
              <a:rPr lang="en-US" altLang="zh-CN" sz="2800" baseline="-25000" dirty="0" smtClean="0"/>
              <a:t>1</a:t>
            </a:r>
            <a:r>
              <a:rPr lang="en-US" altLang="zh-CN" sz="2800" dirty="0" smtClean="0">
                <a:latin typeface="宋体"/>
                <a:ea typeface="宋体"/>
              </a:rPr>
              <a:t>·</a:t>
            </a:r>
            <a:r>
              <a:rPr lang="en-US" altLang="zh-CN" sz="2800" dirty="0" smtClean="0">
                <a:ea typeface="宋体"/>
              </a:rPr>
              <a:t>C=</a:t>
            </a:r>
            <a:r>
              <a:rPr lang="en-US" altLang="zh-CN" sz="2800" dirty="0" smtClean="0"/>
              <a:t>ABC, F</a:t>
            </a:r>
            <a:r>
              <a:rPr lang="en-US" altLang="zh-CN" sz="2800" baseline="-25000" dirty="0" smtClean="0"/>
              <a:t>1</a:t>
            </a:r>
            <a:r>
              <a:rPr lang="en-US" altLang="zh-CN" sz="2800" dirty="0" smtClean="0"/>
              <a:t> =T</a:t>
            </a:r>
            <a:r>
              <a:rPr lang="en-US" altLang="zh-CN" sz="2800" baseline="-25000" dirty="0" smtClean="0"/>
              <a:t>1 </a:t>
            </a:r>
            <a:r>
              <a:rPr lang="en-US" altLang="zh-CN" sz="2800" dirty="0" smtClean="0"/>
              <a:t>+ T</a:t>
            </a:r>
            <a:r>
              <a:rPr lang="en-US" altLang="zh-CN" sz="2800" baseline="-25000" dirty="0" smtClean="0"/>
              <a:t>3</a:t>
            </a:r>
            <a:r>
              <a:rPr lang="en-US" altLang="zh-CN" sz="2800" dirty="0" smtClean="0"/>
              <a:t> = AB+AC+BC,</a:t>
            </a:r>
          </a:p>
          <a:p>
            <a:pPr>
              <a:lnSpc>
                <a:spcPct val="100000"/>
              </a:lnSpc>
              <a:spcBef>
                <a:spcPts val="600"/>
              </a:spcBef>
              <a:buSzPct val="100000"/>
              <a:buNone/>
            </a:pPr>
            <a:endParaRPr lang="en-US" altLang="zh-CN" sz="2800" dirty="0" smtClean="0"/>
          </a:p>
          <a:p>
            <a:pPr>
              <a:lnSpc>
                <a:spcPct val="100000"/>
              </a:lnSpc>
              <a:spcBef>
                <a:spcPts val="600"/>
              </a:spcBef>
              <a:buSzPct val="100000"/>
              <a:buNone/>
            </a:pPr>
            <a:endParaRPr lang="en-US" altLang="zh-CN" sz="2800" dirty="0" smtClean="0"/>
          </a:p>
          <a:p>
            <a:pPr>
              <a:lnSpc>
                <a:spcPct val="100000"/>
              </a:lnSpc>
              <a:spcBef>
                <a:spcPts val="600"/>
              </a:spcBef>
              <a:buSzPct val="100000"/>
              <a:buNone/>
            </a:pPr>
            <a:endParaRPr lang="en-US" altLang="zh-CN" sz="2800" dirty="0" smtClean="0"/>
          </a:p>
          <a:p>
            <a:pPr>
              <a:lnSpc>
                <a:spcPct val="100000"/>
              </a:lnSpc>
              <a:spcBef>
                <a:spcPts val="600"/>
              </a:spcBef>
              <a:buSzPct val="100000"/>
              <a:buNone/>
            </a:pPr>
            <a:r>
              <a:rPr lang="en-US" altLang="zh-CN" sz="2800" dirty="0" smtClean="0"/>
              <a:t>    </a:t>
            </a:r>
            <a:r>
              <a:rPr lang="zh-CN" altLang="en-US" sz="2800" dirty="0" smtClean="0"/>
              <a:t>由此做</a:t>
            </a:r>
            <a:r>
              <a:rPr lang="en-US" altLang="zh-CN" sz="2800" dirty="0" smtClean="0"/>
              <a:t>T7</a:t>
            </a:r>
            <a:r>
              <a:rPr lang="zh-CN" altLang="en-US" sz="2800" dirty="0" smtClean="0"/>
              <a:t>的卡诺图，化简得</a:t>
            </a:r>
            <a:endParaRPr lang="en-US" altLang="zh-CN" sz="2800" dirty="0" smtClean="0"/>
          </a:p>
          <a:p>
            <a:pPr>
              <a:lnSpc>
                <a:spcPct val="100000"/>
              </a:lnSpc>
              <a:spcBef>
                <a:spcPts val="600"/>
              </a:spcBef>
              <a:buSzPct val="100000"/>
              <a:buNone/>
            </a:pPr>
            <a:r>
              <a:rPr lang="en-US" altLang="zh-CN" sz="2800" dirty="0" smtClean="0"/>
              <a:t>    </a:t>
            </a:r>
            <a:endParaRPr lang="zh-CN" altLang="en-US" sz="28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21</a:t>
            </a:fld>
            <a:endParaRPr lang="zh-CN" altLang="en-US"/>
          </a:p>
        </p:txBody>
      </p:sp>
      <p:pic>
        <p:nvPicPr>
          <p:cNvPr id="483330" name="Picture 2"/>
          <p:cNvPicPr>
            <a:picLocks noChangeAspect="1" noChangeArrowheads="1"/>
          </p:cNvPicPr>
          <p:nvPr/>
        </p:nvPicPr>
        <p:blipFill>
          <a:blip r:embed="rId3" cstate="print"/>
          <a:srcRect/>
          <a:stretch>
            <a:fillRect/>
          </a:stretch>
        </p:blipFill>
        <p:spPr bwMode="auto">
          <a:xfrm>
            <a:off x="4129554" y="0"/>
            <a:ext cx="5014446" cy="2492896"/>
          </a:xfrm>
          <a:prstGeom prst="rect">
            <a:avLst/>
          </a:prstGeom>
          <a:noFill/>
          <a:ln w="9525">
            <a:noFill/>
            <a:miter lim="800000"/>
            <a:headEnd/>
            <a:tailEnd/>
          </a:ln>
        </p:spPr>
      </p:pic>
      <p:graphicFrame>
        <p:nvGraphicFramePr>
          <p:cNvPr id="484354" name="Object 2"/>
          <p:cNvGraphicFramePr>
            <a:graphicFrameLocks noChangeAspect="1"/>
          </p:cNvGraphicFramePr>
          <p:nvPr/>
        </p:nvGraphicFramePr>
        <p:xfrm>
          <a:off x="971600" y="4149080"/>
          <a:ext cx="3099945" cy="504056"/>
        </p:xfrm>
        <a:graphic>
          <a:graphicData uri="http://schemas.openxmlformats.org/presentationml/2006/ole">
            <p:oleObj spid="_x0000_s484354" r:id="rId4" imgW="1562040" imgH="253800" progId="">
              <p:embed/>
            </p:oleObj>
          </a:graphicData>
        </a:graphic>
      </p:graphicFrame>
      <p:graphicFrame>
        <p:nvGraphicFramePr>
          <p:cNvPr id="484355" name="Object 3"/>
          <p:cNvGraphicFramePr>
            <a:graphicFrameLocks noChangeAspect="1"/>
          </p:cNvGraphicFramePr>
          <p:nvPr/>
        </p:nvGraphicFramePr>
        <p:xfrm>
          <a:off x="971600" y="4725144"/>
          <a:ext cx="4275137" cy="825500"/>
        </p:xfrm>
        <a:graphic>
          <a:graphicData uri="http://schemas.openxmlformats.org/presentationml/2006/ole">
            <p:oleObj spid="_x0000_s484355" r:id="rId5" imgW="2590560" imgH="495000" progId="">
              <p:embed/>
            </p:oleObj>
          </a:graphicData>
        </a:graphic>
      </p:graphicFrame>
      <p:graphicFrame>
        <p:nvGraphicFramePr>
          <p:cNvPr id="484358" name="Object 6"/>
          <p:cNvGraphicFramePr>
            <a:graphicFrameLocks noChangeAspect="1"/>
          </p:cNvGraphicFramePr>
          <p:nvPr/>
        </p:nvGraphicFramePr>
        <p:xfrm>
          <a:off x="5508103" y="5661248"/>
          <a:ext cx="3342688" cy="432048"/>
        </p:xfrm>
        <a:graphic>
          <a:graphicData uri="http://schemas.openxmlformats.org/presentationml/2006/ole">
            <p:oleObj spid="_x0000_s484358" r:id="rId6" imgW="1866600" imgH="241200" progId="">
              <p:embed/>
            </p:oleObj>
          </a:graphicData>
        </a:graphic>
      </p:graphicFrame>
      <p:pic>
        <p:nvPicPr>
          <p:cNvPr id="484359" name="Picture 7"/>
          <p:cNvPicPr>
            <a:picLocks noChangeAspect="1" noChangeArrowheads="1"/>
          </p:cNvPicPr>
          <p:nvPr/>
        </p:nvPicPr>
        <p:blipFill>
          <a:blip r:embed="rId7" cstate="print"/>
          <a:srcRect/>
          <a:stretch>
            <a:fillRect/>
          </a:stretch>
        </p:blipFill>
        <p:spPr bwMode="auto">
          <a:xfrm>
            <a:off x="5508104" y="4221088"/>
            <a:ext cx="2598216" cy="1377278"/>
          </a:xfrm>
          <a:prstGeom prst="rect">
            <a:avLst/>
          </a:prstGeom>
          <a:noFill/>
          <a:ln w="9525">
            <a:noFill/>
            <a:miter lim="800000"/>
            <a:headEnd/>
            <a:tailEnd/>
          </a:ln>
        </p:spPr>
      </p:pic>
      <p:graphicFrame>
        <p:nvGraphicFramePr>
          <p:cNvPr id="484360" name="Object 8"/>
          <p:cNvGraphicFramePr>
            <a:graphicFrameLocks noChangeAspect="1"/>
          </p:cNvGraphicFramePr>
          <p:nvPr/>
        </p:nvGraphicFramePr>
        <p:xfrm>
          <a:off x="1043607" y="6165304"/>
          <a:ext cx="5161837" cy="432048"/>
        </p:xfrm>
        <a:graphic>
          <a:graphicData uri="http://schemas.openxmlformats.org/presentationml/2006/ole">
            <p:oleObj spid="_x0000_s484360" r:id="rId8" imgW="2882880" imgH="241200" progId="">
              <p:embed/>
            </p:oleObj>
          </a:graphicData>
        </a:graphic>
      </p:graphicFrame>
    </p:spTree>
    <p:extLst>
      <p:ext uri="{BB962C8B-B14F-4D97-AF65-F5344CB8AC3E}">
        <p14:creationId xmlns:p14="http://schemas.microsoft.com/office/powerpoint/2010/main" xmlns="" val="206717721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92696"/>
            <a:ext cx="7617022" cy="566936"/>
          </a:xfrm>
        </p:spPr>
        <p:txBody>
          <a:bodyPr/>
          <a:lstStyle/>
          <a:p>
            <a:r>
              <a:rPr lang="en-US" altLang="zh-CN" dirty="0" smtClean="0"/>
              <a:t>4.1 </a:t>
            </a:r>
            <a:r>
              <a:rPr lang="zh-CN" altLang="en-US" dirty="0" smtClean="0"/>
              <a:t>组合逻辑电路分析</a:t>
            </a:r>
            <a:endParaRPr lang="zh-CN" altLang="en-US" dirty="0"/>
          </a:p>
        </p:txBody>
      </p:sp>
      <p:sp>
        <p:nvSpPr>
          <p:cNvPr id="3" name="内容占位符 2"/>
          <p:cNvSpPr>
            <a:spLocks noGrp="1"/>
          </p:cNvSpPr>
          <p:nvPr>
            <p:ph idx="1"/>
          </p:nvPr>
        </p:nvSpPr>
        <p:spPr>
          <a:xfrm>
            <a:off x="539552" y="1484784"/>
            <a:ext cx="8136904" cy="4911128"/>
          </a:xfrm>
        </p:spPr>
        <p:txBody>
          <a:bodyPr/>
          <a:lstStyle/>
          <a:p>
            <a:pPr>
              <a:lnSpc>
                <a:spcPct val="100000"/>
              </a:lnSpc>
              <a:spcBef>
                <a:spcPts val="600"/>
              </a:spcBef>
              <a:buSzPct val="100000"/>
              <a:buFont typeface="Wingdings" pitchFamily="2" charset="2"/>
              <a:buChar char="p"/>
            </a:pPr>
            <a:r>
              <a:rPr lang="zh-CN" altLang="en-US" sz="2800" dirty="0" smtClean="0">
                <a:solidFill>
                  <a:srgbClr val="0000CC"/>
                </a:solidFill>
              </a:rPr>
              <a:t>例</a:t>
            </a:r>
            <a:r>
              <a:rPr lang="en-US" altLang="zh-CN" sz="2800" dirty="0" smtClean="0">
                <a:solidFill>
                  <a:srgbClr val="0000CC"/>
                </a:solidFill>
              </a:rPr>
              <a:t>4.1</a:t>
            </a:r>
            <a:r>
              <a:rPr lang="en-US" altLang="zh-CN" sz="2800" dirty="0" smtClean="0"/>
              <a:t> </a:t>
            </a:r>
            <a:r>
              <a:rPr lang="zh-CN" altLang="en-US" sz="2800" dirty="0" smtClean="0">
                <a:solidFill>
                  <a:srgbClr val="0000CC"/>
                </a:solidFill>
              </a:rPr>
              <a:t>解</a:t>
            </a:r>
            <a:r>
              <a:rPr lang="zh-CN" altLang="en-US" sz="2800" dirty="0" smtClean="0"/>
              <a:t>：</a:t>
            </a:r>
            <a:endParaRPr lang="en-US" altLang="zh-CN" sz="2800" dirty="0" smtClean="0"/>
          </a:p>
          <a:p>
            <a:pPr>
              <a:lnSpc>
                <a:spcPct val="100000"/>
              </a:lnSpc>
              <a:spcBef>
                <a:spcPts val="0"/>
              </a:spcBef>
              <a:buSzPct val="100000"/>
              <a:buNone/>
            </a:pPr>
            <a:r>
              <a:rPr lang="zh-CN" altLang="en-US" sz="2800" dirty="0" smtClean="0"/>
              <a:t>（</a:t>
            </a:r>
            <a:r>
              <a:rPr lang="en-US" altLang="zh-CN" sz="2800" dirty="0" smtClean="0"/>
              <a:t>3</a:t>
            </a:r>
            <a:r>
              <a:rPr lang="zh-CN" altLang="en-US" sz="2800" dirty="0" smtClean="0"/>
              <a:t>）列真值表（见表</a:t>
            </a:r>
            <a:r>
              <a:rPr lang="en-US" altLang="zh-CN" sz="2800" dirty="0" smtClean="0"/>
              <a:t>4.1</a:t>
            </a:r>
            <a:r>
              <a:rPr lang="zh-CN" altLang="en-US" sz="2800" dirty="0" smtClean="0"/>
              <a:t>）。</a:t>
            </a:r>
            <a:endParaRPr lang="en-US" altLang="zh-CN" sz="2800" dirty="0" smtClean="0"/>
          </a:p>
          <a:p>
            <a:pPr>
              <a:lnSpc>
                <a:spcPct val="100000"/>
              </a:lnSpc>
              <a:spcBef>
                <a:spcPts val="0"/>
              </a:spcBef>
              <a:buSzPct val="100000"/>
              <a:buNone/>
            </a:pPr>
            <a:r>
              <a:rPr lang="en-US" altLang="zh-CN" sz="2800" dirty="0" smtClean="0"/>
              <a:t>        F</a:t>
            </a:r>
            <a:r>
              <a:rPr lang="en-US" altLang="zh-CN" sz="2800" baseline="-25000" dirty="0" smtClean="0"/>
              <a:t>1</a:t>
            </a:r>
            <a:r>
              <a:rPr lang="en-US" altLang="zh-CN" sz="2800" dirty="0" smtClean="0"/>
              <a:t> = AB+AC+BC </a:t>
            </a:r>
          </a:p>
          <a:p>
            <a:pPr>
              <a:lnSpc>
                <a:spcPct val="100000"/>
              </a:lnSpc>
              <a:spcBef>
                <a:spcPts val="600"/>
              </a:spcBef>
              <a:buSzPct val="100000"/>
              <a:buNone/>
            </a:pPr>
            <a:endParaRPr lang="en-US" altLang="zh-CN" sz="2800" dirty="0" smtClean="0"/>
          </a:p>
          <a:p>
            <a:pPr>
              <a:lnSpc>
                <a:spcPct val="100000"/>
              </a:lnSpc>
              <a:spcBef>
                <a:spcPts val="600"/>
              </a:spcBef>
              <a:buSzPct val="100000"/>
              <a:buNone/>
            </a:pPr>
            <a:r>
              <a:rPr lang="zh-CN" altLang="en-US" sz="2800" dirty="0" smtClean="0"/>
              <a:t>（</a:t>
            </a:r>
            <a:r>
              <a:rPr lang="en-US" altLang="zh-CN" sz="2800" dirty="0" smtClean="0"/>
              <a:t>4</a:t>
            </a:r>
            <a:r>
              <a:rPr lang="zh-CN" altLang="en-US" sz="2800" dirty="0" smtClean="0"/>
              <a:t>）分析电路功能：从</a:t>
            </a:r>
            <a:r>
              <a:rPr lang="en-US" altLang="zh-CN" sz="2800" dirty="0" smtClean="0"/>
              <a:t>F</a:t>
            </a:r>
            <a:r>
              <a:rPr lang="en-US" altLang="zh-CN" sz="2800" baseline="-25000" dirty="0" smtClean="0"/>
              <a:t>1</a:t>
            </a:r>
            <a:r>
              <a:rPr lang="zh-CN" altLang="en-US" sz="2800" dirty="0" smtClean="0"/>
              <a:t>和</a:t>
            </a:r>
            <a:r>
              <a:rPr lang="en-US" altLang="zh-CN" sz="2800" dirty="0" smtClean="0"/>
              <a:t>F</a:t>
            </a:r>
            <a:r>
              <a:rPr lang="en-US" altLang="zh-CN" sz="2800" baseline="-25000" dirty="0" smtClean="0"/>
              <a:t>2</a:t>
            </a:r>
            <a:r>
              <a:rPr lang="zh-CN" altLang="en-US" sz="2800" dirty="0" smtClean="0"/>
              <a:t>的</a:t>
            </a:r>
            <a:endParaRPr lang="en-US" altLang="zh-CN" sz="2800" dirty="0" smtClean="0"/>
          </a:p>
          <a:p>
            <a:pPr>
              <a:lnSpc>
                <a:spcPct val="100000"/>
              </a:lnSpc>
              <a:spcBef>
                <a:spcPts val="600"/>
              </a:spcBef>
              <a:buSzPct val="100000"/>
              <a:buNone/>
            </a:pPr>
            <a:r>
              <a:rPr lang="en-US" altLang="zh-CN" sz="2800" dirty="0" smtClean="0"/>
              <a:t>   </a:t>
            </a:r>
            <a:r>
              <a:rPr lang="zh-CN" altLang="en-US" sz="2800" dirty="0" smtClean="0"/>
              <a:t>表达式及真值表可以看出：</a:t>
            </a:r>
            <a:r>
              <a:rPr lang="en-US" altLang="zh-CN" sz="2800" dirty="0" smtClean="0"/>
              <a:t> </a:t>
            </a:r>
          </a:p>
          <a:p>
            <a:pPr>
              <a:lnSpc>
                <a:spcPct val="100000"/>
              </a:lnSpc>
              <a:spcBef>
                <a:spcPts val="600"/>
              </a:spcBef>
              <a:buSzPct val="100000"/>
              <a:buNone/>
            </a:pPr>
            <a:r>
              <a:rPr lang="en-US" altLang="zh-CN" sz="2800" dirty="0" smtClean="0"/>
              <a:t>        F</a:t>
            </a:r>
            <a:r>
              <a:rPr lang="en-US" altLang="zh-CN" sz="2800" baseline="-25000" dirty="0" smtClean="0"/>
              <a:t>1</a:t>
            </a:r>
            <a:r>
              <a:rPr lang="zh-CN" altLang="en-US" sz="2800" dirty="0" smtClean="0"/>
              <a:t>为三变量表决电路，变量取值多于或等于两个</a:t>
            </a:r>
            <a:r>
              <a:rPr lang="en-US" altLang="zh-CN" sz="2800" dirty="0" smtClean="0"/>
              <a:t>1</a:t>
            </a:r>
            <a:r>
              <a:rPr lang="zh-CN" altLang="en-US" sz="2800" dirty="0" smtClean="0"/>
              <a:t>时，输出为</a:t>
            </a:r>
            <a:r>
              <a:rPr lang="en-US" altLang="zh-CN" sz="2800" dirty="0" smtClean="0"/>
              <a:t>1</a:t>
            </a:r>
            <a:r>
              <a:rPr lang="zh-CN" altLang="en-US" sz="2800" dirty="0" smtClean="0"/>
              <a:t>。</a:t>
            </a:r>
            <a:endParaRPr lang="en-US" altLang="zh-CN" sz="2800" dirty="0" smtClean="0"/>
          </a:p>
          <a:p>
            <a:pPr>
              <a:lnSpc>
                <a:spcPct val="100000"/>
              </a:lnSpc>
              <a:spcBef>
                <a:spcPts val="600"/>
              </a:spcBef>
              <a:buSzPct val="100000"/>
              <a:buNone/>
            </a:pPr>
            <a:r>
              <a:rPr lang="en-US" altLang="zh-CN" sz="2800" dirty="0" smtClean="0"/>
              <a:t>        F</a:t>
            </a:r>
            <a:r>
              <a:rPr lang="en-US" altLang="zh-CN" sz="2800" baseline="-25000" dirty="0" smtClean="0"/>
              <a:t>2</a:t>
            </a:r>
            <a:r>
              <a:rPr lang="zh-CN" altLang="en-US" sz="2800" dirty="0" smtClean="0"/>
              <a:t>为三变量异或电路，三变量取值有奇数个</a:t>
            </a:r>
            <a:r>
              <a:rPr lang="en-US" altLang="zh-CN" sz="2800" dirty="0" smtClean="0"/>
              <a:t>1</a:t>
            </a:r>
            <a:r>
              <a:rPr lang="zh-CN" altLang="en-US" sz="2800" dirty="0" smtClean="0"/>
              <a:t>时输出为</a:t>
            </a:r>
            <a:r>
              <a:rPr lang="en-US" altLang="zh-CN" sz="2800" dirty="0" smtClean="0"/>
              <a:t>1</a:t>
            </a:r>
            <a:r>
              <a:rPr lang="zh-CN" altLang="en-US" sz="2800" dirty="0" smtClean="0"/>
              <a:t>，否则为</a:t>
            </a:r>
            <a:r>
              <a:rPr lang="en-US" altLang="zh-CN" sz="2800" dirty="0" smtClean="0"/>
              <a:t>0</a:t>
            </a:r>
            <a:r>
              <a:rPr lang="zh-CN" altLang="en-US" sz="2800" dirty="0" smtClean="0"/>
              <a:t>。此电路可以用来检验三位二进制码的奇偶性。</a:t>
            </a:r>
            <a:endParaRPr lang="zh-CN" altLang="en-US" sz="28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22</a:t>
            </a:fld>
            <a:endParaRPr lang="zh-CN" altLang="en-US"/>
          </a:p>
        </p:txBody>
      </p:sp>
      <p:pic>
        <p:nvPicPr>
          <p:cNvPr id="483330" name="Picture 2"/>
          <p:cNvPicPr>
            <a:picLocks noChangeAspect="1" noChangeArrowheads="1"/>
          </p:cNvPicPr>
          <p:nvPr/>
        </p:nvPicPr>
        <p:blipFill>
          <a:blip r:embed="rId3" cstate="print"/>
          <a:srcRect/>
          <a:stretch>
            <a:fillRect/>
          </a:stretch>
        </p:blipFill>
        <p:spPr bwMode="auto">
          <a:xfrm>
            <a:off x="6157365" y="0"/>
            <a:ext cx="2986635" cy="1484784"/>
          </a:xfrm>
          <a:prstGeom prst="rect">
            <a:avLst/>
          </a:prstGeom>
          <a:noFill/>
          <a:ln w="9525">
            <a:noFill/>
            <a:miter lim="800000"/>
            <a:headEnd/>
            <a:tailEnd/>
          </a:ln>
        </p:spPr>
      </p:pic>
      <p:graphicFrame>
        <p:nvGraphicFramePr>
          <p:cNvPr id="6" name="表格 5"/>
          <p:cNvGraphicFramePr>
            <a:graphicFrameLocks noGrp="1"/>
          </p:cNvGraphicFramePr>
          <p:nvPr/>
        </p:nvGraphicFramePr>
        <p:xfrm>
          <a:off x="6660232" y="1628800"/>
          <a:ext cx="2304258" cy="2651760"/>
        </p:xfrm>
        <a:graphic>
          <a:graphicData uri="http://schemas.openxmlformats.org/drawingml/2006/table">
            <a:tbl>
              <a:tblPr firstRow="1" bandRow="1">
                <a:tableStyleId>{5C22544A-7EE6-4342-B048-85BDC9FD1C3A}</a:tableStyleId>
              </a:tblPr>
              <a:tblGrid>
                <a:gridCol w="1187042"/>
                <a:gridCol w="558608"/>
                <a:gridCol w="558608"/>
              </a:tblGrid>
              <a:tr h="293752">
                <a:tc>
                  <a:txBody>
                    <a:bodyPr/>
                    <a:lstStyle/>
                    <a:p>
                      <a:pPr algn="ctr"/>
                      <a:r>
                        <a:rPr lang="en-US" altLang="zh-CN" dirty="0" smtClean="0">
                          <a:solidFill>
                            <a:schemeClr val="tx1"/>
                          </a:solidFill>
                        </a:rPr>
                        <a:t>A</a:t>
                      </a:r>
                      <a:r>
                        <a:rPr lang="en-US" altLang="zh-CN" baseline="0" dirty="0" smtClean="0">
                          <a:solidFill>
                            <a:schemeClr val="tx1"/>
                          </a:solidFill>
                        </a:rPr>
                        <a:t>    B    C</a:t>
                      </a:r>
                      <a:endParaRPr lang="zh-CN" altLang="en-US"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smtClean="0">
                          <a:solidFill>
                            <a:schemeClr val="tx1"/>
                          </a:solidFill>
                        </a:rPr>
                        <a:t>F</a:t>
                      </a:r>
                      <a:r>
                        <a:rPr lang="en-US" altLang="zh-CN" baseline="-25000" dirty="0" smtClean="0">
                          <a:solidFill>
                            <a:schemeClr val="tx1"/>
                          </a:solidFill>
                        </a:rPr>
                        <a:t>1</a:t>
                      </a:r>
                      <a:endParaRPr lang="zh-CN" altLang="en-US" baseline="-25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smtClean="0">
                          <a:solidFill>
                            <a:schemeClr val="tx1"/>
                          </a:solidFill>
                        </a:rPr>
                        <a:t>F</a:t>
                      </a:r>
                      <a:r>
                        <a:rPr lang="en-US" altLang="zh-CN" baseline="-25000" dirty="0" smtClean="0">
                          <a:solidFill>
                            <a:schemeClr val="tx1"/>
                          </a:solidFill>
                        </a:rPr>
                        <a:t>2</a:t>
                      </a:r>
                      <a:endParaRPr lang="zh-CN" altLang="en-US" baseline="-25000" dirty="0">
                        <a:solidFill>
                          <a:schemeClr val="tx1"/>
                        </a:solidFill>
                      </a:endParaRPr>
                    </a:p>
                  </a:txBody>
                  <a:tcPr>
                    <a:lnL w="12700" cap="flat" cmpd="sng" algn="ctr">
                      <a:solidFill>
                        <a:schemeClr val="tx1"/>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70840">
                <a:tc>
                  <a:txBody>
                    <a:bodyPr/>
                    <a:lstStyle/>
                    <a:p>
                      <a:pPr algn="ctr"/>
                      <a:r>
                        <a:rPr lang="en-US" altLang="zh-CN" dirty="0" smtClean="0">
                          <a:solidFill>
                            <a:schemeClr val="tx1"/>
                          </a:solidFill>
                        </a:rPr>
                        <a:t>0    0    0</a:t>
                      </a:r>
                    </a:p>
                    <a:p>
                      <a:pPr algn="ctr"/>
                      <a:r>
                        <a:rPr lang="en-US" altLang="zh-CN" dirty="0" smtClean="0">
                          <a:solidFill>
                            <a:schemeClr val="tx1"/>
                          </a:solidFill>
                        </a:rPr>
                        <a:t>0    0    1</a:t>
                      </a:r>
                    </a:p>
                    <a:p>
                      <a:pPr algn="ctr"/>
                      <a:r>
                        <a:rPr lang="en-US" altLang="zh-CN" dirty="0" smtClean="0">
                          <a:solidFill>
                            <a:schemeClr val="tx1"/>
                          </a:solidFill>
                        </a:rPr>
                        <a:t>0    1    0</a:t>
                      </a:r>
                    </a:p>
                    <a:p>
                      <a:pPr algn="ctr"/>
                      <a:r>
                        <a:rPr lang="en-US" altLang="zh-CN" dirty="0" smtClean="0">
                          <a:solidFill>
                            <a:schemeClr val="tx1"/>
                          </a:solidFill>
                        </a:rPr>
                        <a:t>0    1    1</a:t>
                      </a:r>
                    </a:p>
                    <a:p>
                      <a:pPr marL="342900" indent="-342900" algn="ctr">
                        <a:buAutoNum type="arabicPlain"/>
                      </a:pPr>
                      <a:r>
                        <a:rPr lang="en-US" altLang="zh-CN" dirty="0" smtClean="0">
                          <a:solidFill>
                            <a:schemeClr val="tx1"/>
                          </a:solidFill>
                        </a:rPr>
                        <a:t> 0    0</a:t>
                      </a:r>
                    </a:p>
                    <a:p>
                      <a:pPr marL="342900" indent="-342900" algn="ctr">
                        <a:buFontTx/>
                        <a:buNone/>
                      </a:pPr>
                      <a:r>
                        <a:rPr lang="en-US" altLang="zh-CN" baseline="0" dirty="0" smtClean="0">
                          <a:solidFill>
                            <a:schemeClr val="tx1"/>
                          </a:solidFill>
                        </a:rPr>
                        <a:t>1    0    1</a:t>
                      </a:r>
                    </a:p>
                    <a:p>
                      <a:pPr marL="342900" indent="-342900" algn="ctr">
                        <a:buAutoNum type="arabicPlain"/>
                      </a:pPr>
                      <a:r>
                        <a:rPr lang="en-US" altLang="zh-CN" dirty="0" smtClean="0">
                          <a:solidFill>
                            <a:schemeClr val="tx1"/>
                          </a:solidFill>
                        </a:rPr>
                        <a:t> 1    0</a:t>
                      </a:r>
                    </a:p>
                    <a:p>
                      <a:pPr marL="342900" indent="-342900" algn="ctr">
                        <a:buNone/>
                      </a:pPr>
                      <a:r>
                        <a:rPr lang="en-US" altLang="zh-CN" dirty="0" smtClean="0">
                          <a:solidFill>
                            <a:schemeClr val="tx1"/>
                          </a:solidFill>
                        </a:rPr>
                        <a:t>1    1    1   </a:t>
                      </a:r>
                      <a:endParaRPr lang="zh-CN" altLang="en-US"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smtClean="0">
                          <a:solidFill>
                            <a:schemeClr val="tx1"/>
                          </a:solidFill>
                        </a:rPr>
                        <a:t>0</a:t>
                      </a:r>
                    </a:p>
                    <a:p>
                      <a:pPr algn="ctr"/>
                      <a:r>
                        <a:rPr lang="en-US" altLang="zh-CN" dirty="0" smtClean="0">
                          <a:solidFill>
                            <a:schemeClr val="tx1"/>
                          </a:solidFill>
                        </a:rPr>
                        <a:t>0</a:t>
                      </a:r>
                    </a:p>
                    <a:p>
                      <a:pPr algn="ctr"/>
                      <a:r>
                        <a:rPr lang="en-US" altLang="zh-CN" dirty="0" smtClean="0">
                          <a:solidFill>
                            <a:schemeClr val="tx1"/>
                          </a:solidFill>
                        </a:rPr>
                        <a:t>0</a:t>
                      </a:r>
                    </a:p>
                    <a:p>
                      <a:pPr algn="ctr"/>
                      <a:r>
                        <a:rPr lang="en-US" altLang="zh-CN" dirty="0" smtClean="0">
                          <a:solidFill>
                            <a:schemeClr val="tx1"/>
                          </a:solidFill>
                        </a:rPr>
                        <a:t>1</a:t>
                      </a:r>
                    </a:p>
                    <a:p>
                      <a:pPr algn="ctr"/>
                      <a:r>
                        <a:rPr lang="en-US" altLang="zh-CN" dirty="0" smtClean="0">
                          <a:solidFill>
                            <a:schemeClr val="tx1"/>
                          </a:solidFill>
                        </a:rPr>
                        <a:t>0</a:t>
                      </a:r>
                    </a:p>
                    <a:p>
                      <a:pPr algn="ctr"/>
                      <a:r>
                        <a:rPr lang="en-US" altLang="zh-CN" dirty="0" smtClean="0">
                          <a:solidFill>
                            <a:schemeClr val="tx1"/>
                          </a:solidFill>
                        </a:rPr>
                        <a:t>1</a:t>
                      </a:r>
                    </a:p>
                    <a:p>
                      <a:pPr algn="ctr"/>
                      <a:r>
                        <a:rPr lang="en-US" altLang="zh-CN" dirty="0" smtClean="0">
                          <a:solidFill>
                            <a:schemeClr val="tx1"/>
                          </a:solidFill>
                        </a:rPr>
                        <a:t>1</a:t>
                      </a:r>
                    </a:p>
                    <a:p>
                      <a:pPr algn="ctr"/>
                      <a:r>
                        <a:rPr lang="en-US" altLang="zh-CN" dirty="0" smtClean="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smtClean="0">
                          <a:solidFill>
                            <a:schemeClr val="tx1"/>
                          </a:solidFill>
                        </a:rPr>
                        <a:t>0</a:t>
                      </a:r>
                    </a:p>
                    <a:p>
                      <a:pPr algn="ctr"/>
                      <a:r>
                        <a:rPr lang="en-US" altLang="zh-CN" dirty="0" smtClean="0">
                          <a:solidFill>
                            <a:schemeClr val="tx1"/>
                          </a:solidFill>
                        </a:rPr>
                        <a:t>1</a:t>
                      </a:r>
                    </a:p>
                    <a:p>
                      <a:pPr algn="ctr"/>
                      <a:r>
                        <a:rPr lang="en-US" altLang="zh-CN" dirty="0" smtClean="0">
                          <a:solidFill>
                            <a:schemeClr val="tx1"/>
                          </a:solidFill>
                        </a:rPr>
                        <a:t>1</a:t>
                      </a:r>
                    </a:p>
                    <a:p>
                      <a:pPr algn="ctr"/>
                      <a:r>
                        <a:rPr lang="en-US" altLang="zh-CN" dirty="0" smtClean="0">
                          <a:solidFill>
                            <a:schemeClr val="tx1"/>
                          </a:solidFill>
                        </a:rPr>
                        <a:t>0</a:t>
                      </a:r>
                    </a:p>
                    <a:p>
                      <a:pPr algn="ctr"/>
                      <a:r>
                        <a:rPr lang="en-US" altLang="zh-CN" dirty="0" smtClean="0">
                          <a:solidFill>
                            <a:schemeClr val="tx1"/>
                          </a:solidFill>
                        </a:rPr>
                        <a:t>1</a:t>
                      </a:r>
                    </a:p>
                    <a:p>
                      <a:pPr algn="ctr"/>
                      <a:r>
                        <a:rPr lang="en-US" altLang="zh-CN" dirty="0" smtClean="0">
                          <a:solidFill>
                            <a:schemeClr val="tx1"/>
                          </a:solidFill>
                        </a:rPr>
                        <a:t>0</a:t>
                      </a:r>
                    </a:p>
                    <a:p>
                      <a:pPr algn="ctr"/>
                      <a:r>
                        <a:rPr lang="en-US" altLang="zh-CN" dirty="0" smtClean="0">
                          <a:solidFill>
                            <a:schemeClr val="tx1"/>
                          </a:solidFill>
                        </a:rPr>
                        <a:t>0</a:t>
                      </a:r>
                    </a:p>
                    <a:p>
                      <a:pPr algn="ctr"/>
                      <a:r>
                        <a:rPr lang="en-US" altLang="zh-CN" dirty="0" smtClean="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graphicFrame>
        <p:nvGraphicFramePr>
          <p:cNvPr id="485378" name="Object 2"/>
          <p:cNvGraphicFramePr>
            <a:graphicFrameLocks noChangeAspect="1"/>
          </p:cNvGraphicFramePr>
          <p:nvPr/>
        </p:nvGraphicFramePr>
        <p:xfrm>
          <a:off x="1403648" y="2852936"/>
          <a:ext cx="4896543" cy="484584"/>
        </p:xfrm>
        <a:graphic>
          <a:graphicData uri="http://schemas.openxmlformats.org/presentationml/2006/ole">
            <p:oleObj spid="_x0000_s485378" r:id="rId4" imgW="2311200" imgH="228600" progId="">
              <p:embed/>
            </p:oleObj>
          </a:graphicData>
        </a:graphic>
      </p:graphicFrame>
    </p:spTree>
    <p:extLst>
      <p:ext uri="{BB962C8B-B14F-4D97-AF65-F5344CB8AC3E}">
        <p14:creationId xmlns:p14="http://schemas.microsoft.com/office/powerpoint/2010/main" xmlns="" val="206717721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483768" y="2564904"/>
            <a:ext cx="4392488" cy="395323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 name="标题 1"/>
          <p:cNvSpPr>
            <a:spLocks noGrp="1"/>
          </p:cNvSpPr>
          <p:nvPr>
            <p:ph type="title"/>
          </p:nvPr>
        </p:nvSpPr>
        <p:spPr>
          <a:xfrm>
            <a:off x="1203451" y="692696"/>
            <a:ext cx="7617022" cy="566936"/>
          </a:xfrm>
        </p:spPr>
        <p:txBody>
          <a:bodyPr/>
          <a:lstStyle/>
          <a:p>
            <a:r>
              <a:rPr lang="en-US" altLang="zh-CN" dirty="0" smtClean="0"/>
              <a:t>4.1 </a:t>
            </a:r>
            <a:r>
              <a:rPr lang="zh-CN" altLang="en-US" dirty="0" smtClean="0"/>
              <a:t>组合逻辑电路分析</a:t>
            </a:r>
            <a:endParaRPr lang="zh-CN" altLang="en-US" dirty="0"/>
          </a:p>
        </p:txBody>
      </p:sp>
      <p:sp>
        <p:nvSpPr>
          <p:cNvPr id="3" name="内容占位符 2"/>
          <p:cNvSpPr>
            <a:spLocks noGrp="1"/>
          </p:cNvSpPr>
          <p:nvPr>
            <p:ph idx="1"/>
          </p:nvPr>
        </p:nvSpPr>
        <p:spPr>
          <a:xfrm>
            <a:off x="539552" y="1484784"/>
            <a:ext cx="8161338" cy="4911128"/>
          </a:xfrm>
        </p:spPr>
        <p:txBody>
          <a:bodyPr/>
          <a:lstStyle/>
          <a:p>
            <a:pPr>
              <a:lnSpc>
                <a:spcPct val="100000"/>
              </a:lnSpc>
              <a:spcBef>
                <a:spcPts val="600"/>
              </a:spcBef>
              <a:buSzPct val="100000"/>
              <a:buFont typeface="Wingdings" pitchFamily="2" charset="2"/>
              <a:buChar char="p"/>
            </a:pPr>
            <a:r>
              <a:rPr lang="zh-CN" altLang="en-US" sz="2800" dirty="0"/>
              <a:t>组合逻辑电路的一般分析</a:t>
            </a:r>
            <a:r>
              <a:rPr lang="zh-CN" altLang="en-US" sz="2800" dirty="0" smtClean="0"/>
              <a:t>示例</a:t>
            </a:r>
            <a:endParaRPr lang="en-US" altLang="zh-CN" sz="2800" dirty="0" smtClean="0"/>
          </a:p>
          <a:p>
            <a:pPr lvl="1">
              <a:lnSpc>
                <a:spcPct val="100000"/>
              </a:lnSpc>
              <a:spcBef>
                <a:spcPts val="600"/>
              </a:spcBef>
              <a:buSzPct val="100000"/>
            </a:pPr>
            <a:r>
              <a:rPr lang="en-US" altLang="zh-CN" sz="2400" dirty="0"/>
              <a:t>【</a:t>
            </a:r>
            <a:r>
              <a:rPr lang="zh-CN" altLang="en-US" sz="2400" dirty="0" smtClean="0"/>
              <a:t>例</a:t>
            </a:r>
            <a:r>
              <a:rPr lang="en-US" altLang="zh-CN" sz="2400" dirty="0" smtClean="0"/>
              <a:t>】</a:t>
            </a:r>
            <a:r>
              <a:rPr lang="zh-CN" altLang="en-US" sz="2400" dirty="0"/>
              <a:t>试</a:t>
            </a:r>
            <a:r>
              <a:rPr lang="zh-CN" altLang="en-US" sz="2400" dirty="0" smtClean="0"/>
              <a:t>分析图所</a:t>
            </a:r>
            <a:r>
              <a:rPr lang="zh-CN" altLang="en-US" sz="2400" dirty="0"/>
              <a:t>示</a:t>
            </a:r>
            <a:r>
              <a:rPr lang="zh-CN" altLang="en-US" sz="2400" dirty="0" smtClean="0"/>
              <a:t>电路</a:t>
            </a:r>
            <a:r>
              <a:rPr lang="zh-CN" altLang="en-US" sz="2400" dirty="0"/>
              <a:t>的逻辑</a:t>
            </a:r>
            <a:r>
              <a:rPr lang="zh-CN" altLang="en-US" sz="2400" dirty="0" smtClean="0"/>
              <a:t>功能</a:t>
            </a:r>
            <a:r>
              <a:rPr lang="zh-CN" altLang="en-US" sz="2400" dirty="0"/>
              <a:t>，指出其</a:t>
            </a:r>
            <a:r>
              <a:rPr lang="zh-CN" altLang="en-US" sz="2400" dirty="0" smtClean="0"/>
              <a:t>用途</a:t>
            </a:r>
            <a:r>
              <a:rPr lang="zh-CN" altLang="en-US" sz="2400" dirty="0"/>
              <a:t>。</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23</a:t>
            </a:fld>
            <a:endParaRPr lang="zh-CN" altLang="en-US"/>
          </a:p>
        </p:txBody>
      </p:sp>
    </p:spTree>
    <p:extLst>
      <p:ext uri="{BB962C8B-B14F-4D97-AF65-F5344CB8AC3E}">
        <p14:creationId xmlns:p14="http://schemas.microsoft.com/office/powerpoint/2010/main" xmlns="" val="206717721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20688"/>
            <a:ext cx="7689030" cy="638944"/>
          </a:xfrm>
        </p:spPr>
        <p:txBody>
          <a:bodyPr/>
          <a:lstStyle/>
          <a:p>
            <a:r>
              <a:rPr lang="en-US" altLang="zh-CN" dirty="0" smtClean="0"/>
              <a:t>4.1 </a:t>
            </a:r>
            <a:r>
              <a:rPr lang="zh-CN" altLang="en-US" dirty="0" smtClean="0"/>
              <a:t>组合逻辑电路分析</a:t>
            </a:r>
            <a:endParaRPr lang="zh-CN" altLang="en-US" dirty="0"/>
          </a:p>
        </p:txBody>
      </p:sp>
      <p:sp>
        <p:nvSpPr>
          <p:cNvPr id="3" name="内容占位符 2"/>
          <p:cNvSpPr>
            <a:spLocks noGrp="1"/>
          </p:cNvSpPr>
          <p:nvPr>
            <p:ph idx="1"/>
          </p:nvPr>
        </p:nvSpPr>
        <p:spPr>
          <a:xfrm>
            <a:off x="467544" y="1556792"/>
            <a:ext cx="8161338" cy="4911128"/>
          </a:xfrm>
        </p:spPr>
        <p:txBody>
          <a:bodyPr/>
          <a:lstStyle/>
          <a:p>
            <a:pPr lvl="1">
              <a:buSzPct val="100000"/>
            </a:pPr>
            <a:r>
              <a:rPr lang="zh-CN" altLang="en-US" sz="2400" dirty="0"/>
              <a:t>解：</a:t>
            </a:r>
            <a:r>
              <a:rPr lang="zh-CN" altLang="en-US" dirty="0"/>
              <a:t> </a:t>
            </a:r>
            <a:endParaRPr lang="en-US" altLang="zh-CN" dirty="0" smtClean="0"/>
          </a:p>
          <a:p>
            <a:pPr marL="457200" lvl="1" indent="0">
              <a:buNone/>
            </a:pPr>
            <a:r>
              <a:rPr lang="en-US" altLang="zh-CN" dirty="0" smtClean="0"/>
              <a:t>Step1.</a:t>
            </a:r>
            <a:r>
              <a:rPr lang="zh-CN" altLang="en-US" dirty="0" smtClean="0"/>
              <a:t>及</a:t>
            </a:r>
            <a:r>
              <a:rPr lang="en-US" altLang="zh-CN" dirty="0" smtClean="0"/>
              <a:t>Step2</a:t>
            </a:r>
            <a:r>
              <a:rPr lang="en-US" altLang="zh-CN" dirty="0"/>
              <a:t>. </a:t>
            </a:r>
            <a:r>
              <a:rPr lang="zh-CN" altLang="en-US" dirty="0"/>
              <a:t>逐级写出</a:t>
            </a:r>
            <a:r>
              <a:rPr lang="en-US" altLang="zh-CN" dirty="0"/>
              <a:t>Y</a:t>
            </a:r>
            <a:r>
              <a:rPr lang="en-US" altLang="zh-CN" baseline="-25000" dirty="0"/>
              <a:t>0</a:t>
            </a:r>
            <a:r>
              <a:rPr lang="zh-CN" altLang="en-US" dirty="0"/>
              <a:t>、</a:t>
            </a:r>
            <a:r>
              <a:rPr lang="en-US" altLang="zh-CN" dirty="0"/>
              <a:t>Y</a:t>
            </a:r>
            <a:r>
              <a:rPr lang="en-US" altLang="zh-CN" baseline="-25000" dirty="0"/>
              <a:t>1</a:t>
            </a:r>
            <a:r>
              <a:rPr lang="zh-CN" altLang="en-US" dirty="0"/>
              <a:t>、</a:t>
            </a:r>
            <a:r>
              <a:rPr lang="en-US" altLang="zh-CN" dirty="0"/>
              <a:t>Y</a:t>
            </a:r>
            <a:r>
              <a:rPr lang="en-US" altLang="zh-CN" baseline="-25000" dirty="0"/>
              <a:t>2</a:t>
            </a:r>
            <a:r>
              <a:rPr lang="zh-CN" altLang="en-US" dirty="0"/>
              <a:t>与</a:t>
            </a:r>
            <a:r>
              <a:rPr lang="en-US" altLang="zh-CN" dirty="0"/>
              <a:t>A</a:t>
            </a:r>
            <a:r>
              <a:rPr lang="zh-CN" altLang="en-US" dirty="0"/>
              <a:t>、</a:t>
            </a:r>
            <a:r>
              <a:rPr lang="en-US" altLang="zh-CN" dirty="0"/>
              <a:t>B</a:t>
            </a:r>
            <a:r>
              <a:rPr lang="zh-CN" altLang="en-US" dirty="0"/>
              <a:t>、</a:t>
            </a:r>
            <a:r>
              <a:rPr lang="en-US" altLang="zh-CN" dirty="0"/>
              <a:t>C</a:t>
            </a:r>
            <a:r>
              <a:rPr lang="zh-CN" altLang="en-US" dirty="0" smtClean="0"/>
              <a:t>、</a:t>
            </a:r>
            <a:r>
              <a:rPr lang="en-US" altLang="zh-CN" dirty="0" smtClean="0"/>
              <a:t>D</a:t>
            </a:r>
            <a:r>
              <a:rPr lang="zh-CN" altLang="en-US" dirty="0"/>
              <a:t>之间关系的逻辑式并用公式化简法化简如下：</a:t>
            </a:r>
          </a:p>
        </p:txBody>
      </p:sp>
      <p:pic>
        <p:nvPicPr>
          <p:cNvPr id="512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187624" y="3140968"/>
            <a:ext cx="3652105" cy="2160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灯片编号占位符 3"/>
          <p:cNvSpPr>
            <a:spLocks noGrp="1"/>
          </p:cNvSpPr>
          <p:nvPr>
            <p:ph type="sldNum" sz="quarter" idx="12"/>
          </p:nvPr>
        </p:nvSpPr>
        <p:spPr/>
        <p:txBody>
          <a:bodyPr/>
          <a:lstStyle/>
          <a:p>
            <a:fld id="{0C913308-F349-4B6D-A68A-DD1791B4A57B}" type="slidenum">
              <a:rPr lang="zh-CN" altLang="en-US" smtClean="0"/>
              <a:pPr/>
              <a:t>24</a:t>
            </a:fld>
            <a:endParaRPr lang="zh-CN" altLang="en-US"/>
          </a:p>
        </p:txBody>
      </p:sp>
      <p:pic>
        <p:nvPicPr>
          <p:cNvPr id="6"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148064" y="2852936"/>
            <a:ext cx="3640406" cy="32763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61608529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92696"/>
            <a:ext cx="7545014" cy="566936"/>
          </a:xfrm>
        </p:spPr>
        <p:txBody>
          <a:bodyPr/>
          <a:lstStyle/>
          <a:p>
            <a:r>
              <a:rPr lang="en-US" altLang="zh-CN" dirty="0" smtClean="0"/>
              <a:t>4.1 </a:t>
            </a:r>
            <a:r>
              <a:rPr lang="zh-CN" altLang="en-US" dirty="0" smtClean="0"/>
              <a:t>组合逻辑电路分析</a:t>
            </a:r>
            <a:endParaRPr lang="zh-CN" altLang="en-US" dirty="0"/>
          </a:p>
        </p:txBody>
      </p:sp>
      <p:sp>
        <p:nvSpPr>
          <p:cNvPr id="3" name="内容占位符 2"/>
          <p:cNvSpPr>
            <a:spLocks noGrp="1"/>
          </p:cNvSpPr>
          <p:nvPr>
            <p:ph idx="1"/>
          </p:nvPr>
        </p:nvSpPr>
        <p:spPr>
          <a:xfrm>
            <a:off x="539552" y="1556792"/>
            <a:ext cx="8161338" cy="4911128"/>
          </a:xfrm>
        </p:spPr>
        <p:txBody>
          <a:bodyPr/>
          <a:lstStyle/>
          <a:p>
            <a:pPr marL="0" indent="0">
              <a:buNone/>
            </a:pPr>
            <a:r>
              <a:rPr lang="en-US" altLang="zh-CN" dirty="0"/>
              <a:t>Step3. </a:t>
            </a:r>
            <a:r>
              <a:rPr lang="zh-CN" altLang="en-US" dirty="0"/>
              <a:t>列电路的真值表如下</a:t>
            </a:r>
            <a:r>
              <a:rPr lang="zh-CN" altLang="en-US" dirty="0" smtClean="0"/>
              <a:t>：</a:t>
            </a:r>
            <a:endParaRPr lang="en-US" altLang="zh-CN" dirty="0" smtClean="0"/>
          </a:p>
          <a:p>
            <a:pPr marL="0" indent="0">
              <a:buNone/>
            </a:pPr>
            <a:endParaRPr lang="zh-CN" altLang="en-US" dirty="0"/>
          </a:p>
        </p:txBody>
      </p:sp>
      <p:graphicFrame>
        <p:nvGraphicFramePr>
          <p:cNvPr id="6" name="表格 5"/>
          <p:cNvGraphicFramePr>
            <a:graphicFrameLocks noGrp="1"/>
          </p:cNvGraphicFramePr>
          <p:nvPr>
            <p:extLst>
              <p:ext uri="{D42A27DB-BD31-4B8C-83A1-F6EECF244321}">
                <p14:modId xmlns:p14="http://schemas.microsoft.com/office/powerpoint/2010/main" xmlns="" val="509718374"/>
              </p:ext>
            </p:extLst>
          </p:nvPr>
        </p:nvGraphicFramePr>
        <p:xfrm>
          <a:off x="971600" y="2132856"/>
          <a:ext cx="3312369" cy="4358640"/>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xmlns="" val="20000"/>
                    </a:ext>
                  </a:extLst>
                </a:gridCol>
                <a:gridCol w="1105103">
                  <a:extLst>
                    <a:ext uri="{9D8B030D-6E8A-4147-A177-3AD203B41FA5}">
                      <a16:colId xmlns:a16="http://schemas.microsoft.com/office/drawing/2014/main" xmlns="" val="20001"/>
                    </a:ext>
                  </a:extLst>
                </a:gridCol>
                <a:gridCol w="1487186">
                  <a:extLst>
                    <a:ext uri="{9D8B030D-6E8A-4147-A177-3AD203B41FA5}">
                      <a16:colId xmlns:a16="http://schemas.microsoft.com/office/drawing/2014/main" xmlns="" val="20002"/>
                    </a:ext>
                  </a:extLst>
                </a:gridCol>
              </a:tblGrid>
              <a:tr h="0">
                <a:tc>
                  <a:txBody>
                    <a:bodyPr/>
                    <a:lstStyle/>
                    <a:p>
                      <a:pPr algn="ctr"/>
                      <a:r>
                        <a:rPr lang="zh-CN" altLang="en-US" dirty="0" smtClean="0"/>
                        <a:t>编号</a:t>
                      </a:r>
                      <a:endParaRPr lang="zh-CN" altLang="en-US"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dist"/>
                      <a:r>
                        <a:rPr lang="en-US" altLang="zh-CN" dirty="0" smtClean="0"/>
                        <a:t>DCBA</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smtClean="0"/>
                        <a:t>Y</a:t>
                      </a:r>
                      <a:r>
                        <a:rPr lang="en-US" altLang="zh-CN" baseline="-25000" dirty="0" smtClean="0"/>
                        <a:t>0</a:t>
                      </a:r>
                      <a:r>
                        <a:rPr lang="en-US" altLang="zh-CN" dirty="0" smtClean="0"/>
                        <a:t>    Y</a:t>
                      </a:r>
                      <a:r>
                        <a:rPr lang="en-US" altLang="zh-CN" baseline="-25000" dirty="0" smtClean="0"/>
                        <a:t>1</a:t>
                      </a:r>
                      <a:r>
                        <a:rPr lang="en-US" altLang="zh-CN" dirty="0" smtClean="0"/>
                        <a:t>    Y</a:t>
                      </a:r>
                      <a:r>
                        <a:rPr lang="en-US" altLang="zh-CN" baseline="-25000" dirty="0" smtClean="0"/>
                        <a:t>2</a:t>
                      </a:r>
                      <a:endParaRPr lang="zh-CN" altLang="en-US" baseline="-25000"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0"/>
                  </a:ext>
                </a:extLst>
              </a:tr>
              <a:tr h="370840">
                <a:tc>
                  <a:txBody>
                    <a:bodyPr/>
                    <a:lstStyle/>
                    <a:p>
                      <a:pPr algn="ctr"/>
                      <a:r>
                        <a:rPr lang="en-US" altLang="zh-CN" sz="1600" b="1" dirty="0" smtClean="0">
                          <a:solidFill>
                            <a:srgbClr val="0000CC"/>
                          </a:solidFill>
                        </a:rPr>
                        <a:t>0</a:t>
                      </a:r>
                    </a:p>
                    <a:p>
                      <a:pPr algn="ctr"/>
                      <a:r>
                        <a:rPr lang="en-US" altLang="zh-CN" sz="1600" b="1" dirty="0" smtClean="0">
                          <a:solidFill>
                            <a:srgbClr val="0000CC"/>
                          </a:solidFill>
                        </a:rPr>
                        <a:t>1</a:t>
                      </a:r>
                    </a:p>
                    <a:p>
                      <a:pPr algn="ctr"/>
                      <a:r>
                        <a:rPr lang="en-US" altLang="zh-CN" sz="1600" b="1" dirty="0" smtClean="0">
                          <a:solidFill>
                            <a:srgbClr val="0000CC"/>
                          </a:solidFill>
                        </a:rPr>
                        <a:t>2</a:t>
                      </a:r>
                    </a:p>
                    <a:p>
                      <a:pPr algn="ctr"/>
                      <a:r>
                        <a:rPr lang="en-US" altLang="zh-CN" sz="1600" b="1" dirty="0" smtClean="0">
                          <a:solidFill>
                            <a:srgbClr val="0000CC"/>
                          </a:solidFill>
                        </a:rPr>
                        <a:t>3</a:t>
                      </a:r>
                    </a:p>
                    <a:p>
                      <a:pPr algn="ctr"/>
                      <a:r>
                        <a:rPr lang="en-US" altLang="zh-CN" sz="1600" b="1" dirty="0" smtClean="0">
                          <a:solidFill>
                            <a:srgbClr val="0000CC"/>
                          </a:solidFill>
                        </a:rPr>
                        <a:t>4</a:t>
                      </a:r>
                    </a:p>
                    <a:p>
                      <a:pPr algn="ctr"/>
                      <a:r>
                        <a:rPr lang="en-US" altLang="zh-CN" sz="1600" b="1" dirty="0" smtClean="0">
                          <a:solidFill>
                            <a:srgbClr val="0000CC"/>
                          </a:solidFill>
                        </a:rPr>
                        <a:t>5</a:t>
                      </a:r>
                    </a:p>
                    <a:p>
                      <a:pPr algn="ctr"/>
                      <a:r>
                        <a:rPr lang="en-US" altLang="zh-CN" sz="1600" b="1" dirty="0" smtClean="0">
                          <a:solidFill>
                            <a:srgbClr val="C00000"/>
                          </a:solidFill>
                        </a:rPr>
                        <a:t>6</a:t>
                      </a:r>
                    </a:p>
                    <a:p>
                      <a:pPr algn="ctr"/>
                      <a:r>
                        <a:rPr lang="en-US" altLang="zh-CN" sz="1600" b="1" dirty="0" smtClean="0">
                          <a:solidFill>
                            <a:srgbClr val="C00000"/>
                          </a:solidFill>
                        </a:rPr>
                        <a:t>7</a:t>
                      </a:r>
                    </a:p>
                    <a:p>
                      <a:pPr algn="ctr"/>
                      <a:r>
                        <a:rPr lang="en-US" altLang="zh-CN" sz="1600" b="1" dirty="0" smtClean="0">
                          <a:solidFill>
                            <a:srgbClr val="C00000"/>
                          </a:solidFill>
                        </a:rPr>
                        <a:t>8</a:t>
                      </a:r>
                    </a:p>
                    <a:p>
                      <a:pPr algn="ctr"/>
                      <a:r>
                        <a:rPr lang="en-US" altLang="zh-CN" sz="1600" b="1" dirty="0" smtClean="0">
                          <a:solidFill>
                            <a:srgbClr val="C00000"/>
                          </a:solidFill>
                        </a:rPr>
                        <a:t>9</a:t>
                      </a:r>
                    </a:p>
                    <a:p>
                      <a:pPr algn="ctr"/>
                      <a:r>
                        <a:rPr lang="en-US" altLang="zh-CN" sz="1600" b="1" dirty="0" smtClean="0">
                          <a:solidFill>
                            <a:srgbClr val="C00000"/>
                          </a:solidFill>
                        </a:rPr>
                        <a:t>10</a:t>
                      </a:r>
                    </a:p>
                    <a:p>
                      <a:pPr algn="ctr"/>
                      <a:r>
                        <a:rPr lang="en-US" altLang="zh-CN" sz="1600" b="1" dirty="0" smtClean="0"/>
                        <a:t>11</a:t>
                      </a:r>
                    </a:p>
                    <a:p>
                      <a:pPr algn="ctr"/>
                      <a:r>
                        <a:rPr lang="en-US" altLang="zh-CN" sz="1600" b="1" dirty="0" smtClean="0"/>
                        <a:t>12</a:t>
                      </a:r>
                    </a:p>
                    <a:p>
                      <a:pPr algn="ctr"/>
                      <a:r>
                        <a:rPr lang="en-US" altLang="zh-CN" sz="1600" b="1" dirty="0" smtClean="0"/>
                        <a:t>13</a:t>
                      </a:r>
                    </a:p>
                    <a:p>
                      <a:pPr algn="ctr"/>
                      <a:r>
                        <a:rPr lang="en-US" altLang="zh-CN" sz="1600" b="1" dirty="0" smtClean="0"/>
                        <a:t>14</a:t>
                      </a:r>
                    </a:p>
                    <a:p>
                      <a:pPr algn="ctr"/>
                      <a:r>
                        <a:rPr lang="en-US" altLang="zh-CN" sz="1600" b="1" dirty="0" smtClean="0"/>
                        <a:t>15</a:t>
                      </a:r>
                      <a:endParaRPr lang="zh-CN" altLang="en-US" sz="1600" b="1"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dist"/>
                      <a:r>
                        <a:rPr lang="en-US" altLang="zh-CN" sz="1600" b="1" dirty="0" smtClean="0">
                          <a:solidFill>
                            <a:srgbClr val="0000CC"/>
                          </a:solidFill>
                        </a:rPr>
                        <a:t>0000</a:t>
                      </a:r>
                    </a:p>
                    <a:p>
                      <a:pPr algn="dist"/>
                      <a:r>
                        <a:rPr lang="en-US" altLang="zh-CN" sz="1600" b="1" dirty="0" smtClean="0">
                          <a:solidFill>
                            <a:srgbClr val="0000CC"/>
                          </a:solidFill>
                        </a:rPr>
                        <a:t>0001</a:t>
                      </a:r>
                    </a:p>
                    <a:p>
                      <a:pPr algn="dist"/>
                      <a:r>
                        <a:rPr lang="en-US" altLang="zh-CN" sz="1600" b="1" dirty="0" smtClean="0">
                          <a:solidFill>
                            <a:srgbClr val="0000CC"/>
                          </a:solidFill>
                        </a:rPr>
                        <a:t>0010</a:t>
                      </a:r>
                    </a:p>
                    <a:p>
                      <a:pPr algn="dist"/>
                      <a:r>
                        <a:rPr lang="en-US" altLang="zh-CN" sz="1600" b="1" dirty="0" smtClean="0">
                          <a:solidFill>
                            <a:srgbClr val="0000CC"/>
                          </a:solidFill>
                        </a:rPr>
                        <a:t>0011</a:t>
                      </a:r>
                    </a:p>
                    <a:p>
                      <a:pPr algn="dist"/>
                      <a:r>
                        <a:rPr lang="en-US" altLang="zh-CN" sz="1600" b="1" dirty="0" smtClean="0">
                          <a:solidFill>
                            <a:srgbClr val="0000CC"/>
                          </a:solidFill>
                        </a:rPr>
                        <a:t>0100</a:t>
                      </a:r>
                    </a:p>
                    <a:p>
                      <a:pPr algn="dist"/>
                      <a:r>
                        <a:rPr lang="en-US" altLang="zh-CN" sz="1600" b="1" dirty="0" smtClean="0">
                          <a:solidFill>
                            <a:srgbClr val="0000CC"/>
                          </a:solidFill>
                        </a:rPr>
                        <a:t>0101</a:t>
                      </a:r>
                    </a:p>
                    <a:p>
                      <a:pPr algn="dist"/>
                      <a:r>
                        <a:rPr lang="en-US" altLang="zh-CN" sz="1600" b="1" dirty="0" smtClean="0">
                          <a:solidFill>
                            <a:srgbClr val="C00000"/>
                          </a:solidFill>
                        </a:rPr>
                        <a:t>0110</a:t>
                      </a:r>
                    </a:p>
                    <a:p>
                      <a:pPr algn="dist"/>
                      <a:r>
                        <a:rPr lang="en-US" altLang="zh-CN" sz="1600" b="1" dirty="0" smtClean="0">
                          <a:solidFill>
                            <a:srgbClr val="C00000"/>
                          </a:solidFill>
                        </a:rPr>
                        <a:t>0111</a:t>
                      </a:r>
                    </a:p>
                    <a:p>
                      <a:pPr algn="dist"/>
                      <a:r>
                        <a:rPr lang="en-US" altLang="zh-CN" sz="1600" b="1" dirty="0" smtClean="0">
                          <a:solidFill>
                            <a:srgbClr val="C00000"/>
                          </a:solidFill>
                        </a:rPr>
                        <a:t>1000</a:t>
                      </a:r>
                    </a:p>
                    <a:p>
                      <a:pPr algn="dist"/>
                      <a:r>
                        <a:rPr lang="en-US" altLang="zh-CN" sz="1600" b="1" dirty="0" smtClean="0">
                          <a:solidFill>
                            <a:srgbClr val="C00000"/>
                          </a:solidFill>
                        </a:rPr>
                        <a:t>1001</a:t>
                      </a:r>
                    </a:p>
                    <a:p>
                      <a:pPr algn="dist"/>
                      <a:r>
                        <a:rPr lang="en-US" altLang="zh-CN" sz="1600" b="1" dirty="0" smtClean="0">
                          <a:solidFill>
                            <a:srgbClr val="C00000"/>
                          </a:solidFill>
                        </a:rPr>
                        <a:t>1010</a:t>
                      </a:r>
                    </a:p>
                    <a:p>
                      <a:pPr algn="dist"/>
                      <a:r>
                        <a:rPr lang="en-US" altLang="zh-CN" sz="1600" b="1" dirty="0" smtClean="0"/>
                        <a:t>1011</a:t>
                      </a:r>
                    </a:p>
                    <a:p>
                      <a:pPr algn="dist"/>
                      <a:r>
                        <a:rPr lang="en-US" altLang="zh-CN" sz="1600" b="1" dirty="0" smtClean="0"/>
                        <a:t>1100</a:t>
                      </a:r>
                    </a:p>
                    <a:p>
                      <a:pPr algn="dist"/>
                      <a:r>
                        <a:rPr lang="en-US" altLang="zh-CN" sz="1600" b="1" dirty="0" smtClean="0"/>
                        <a:t>1101</a:t>
                      </a:r>
                    </a:p>
                    <a:p>
                      <a:pPr algn="dist"/>
                      <a:r>
                        <a:rPr lang="en-US" altLang="zh-CN" sz="1600" b="1" dirty="0" smtClean="0"/>
                        <a:t>1110</a:t>
                      </a:r>
                    </a:p>
                    <a:p>
                      <a:pPr algn="dist"/>
                      <a:r>
                        <a:rPr lang="en-US" altLang="zh-CN" sz="1600" b="1" dirty="0" smtClean="0"/>
                        <a:t>1111</a:t>
                      </a:r>
                      <a:endParaRPr lang="zh-CN" altLang="en-US" sz="16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dist"/>
                      <a:r>
                        <a:rPr lang="en-US" altLang="zh-CN" sz="1600" b="1" dirty="0" smtClean="0">
                          <a:solidFill>
                            <a:srgbClr val="0000CC"/>
                          </a:solidFill>
                        </a:rPr>
                        <a:t>001</a:t>
                      </a:r>
                    </a:p>
                    <a:p>
                      <a:pPr algn="dist"/>
                      <a:r>
                        <a:rPr lang="en-US" altLang="zh-CN" sz="1600" b="1" dirty="0" smtClean="0">
                          <a:solidFill>
                            <a:srgbClr val="0000CC"/>
                          </a:solidFill>
                        </a:rPr>
                        <a:t>001</a:t>
                      </a:r>
                    </a:p>
                    <a:p>
                      <a:pPr algn="dist"/>
                      <a:r>
                        <a:rPr lang="en-US" altLang="zh-CN" sz="1600" b="1" dirty="0" smtClean="0">
                          <a:solidFill>
                            <a:srgbClr val="0000CC"/>
                          </a:solidFill>
                        </a:rPr>
                        <a:t>001</a:t>
                      </a:r>
                    </a:p>
                    <a:p>
                      <a:pPr algn="dist"/>
                      <a:r>
                        <a:rPr lang="en-US" altLang="zh-CN" sz="1600" b="1" dirty="0" smtClean="0">
                          <a:solidFill>
                            <a:srgbClr val="0000CC"/>
                          </a:solidFill>
                        </a:rPr>
                        <a:t>001</a:t>
                      </a:r>
                    </a:p>
                    <a:p>
                      <a:pPr algn="dist"/>
                      <a:r>
                        <a:rPr lang="en-US" altLang="zh-CN" sz="1600" b="1" dirty="0" smtClean="0">
                          <a:solidFill>
                            <a:srgbClr val="0000CC"/>
                          </a:solidFill>
                        </a:rPr>
                        <a:t>001</a:t>
                      </a:r>
                    </a:p>
                    <a:p>
                      <a:pPr algn="dist"/>
                      <a:r>
                        <a:rPr lang="en-US" altLang="zh-CN" sz="1600" b="1" dirty="0" smtClean="0">
                          <a:solidFill>
                            <a:srgbClr val="0000CC"/>
                          </a:solidFill>
                        </a:rPr>
                        <a:t>001</a:t>
                      </a:r>
                    </a:p>
                    <a:p>
                      <a:pPr algn="dist"/>
                      <a:r>
                        <a:rPr lang="en-US" altLang="zh-CN" sz="1600" b="1" dirty="0" smtClean="0">
                          <a:solidFill>
                            <a:srgbClr val="C00000"/>
                          </a:solidFill>
                        </a:rPr>
                        <a:t>010</a:t>
                      </a:r>
                    </a:p>
                    <a:p>
                      <a:pPr algn="dist"/>
                      <a:r>
                        <a:rPr lang="en-US" altLang="zh-CN" sz="1600" b="1" dirty="0" smtClean="0">
                          <a:solidFill>
                            <a:srgbClr val="C00000"/>
                          </a:solidFill>
                        </a:rPr>
                        <a:t>010</a:t>
                      </a:r>
                    </a:p>
                    <a:p>
                      <a:pPr algn="dist"/>
                      <a:r>
                        <a:rPr lang="en-US" altLang="zh-CN" sz="1600" b="1" dirty="0" smtClean="0">
                          <a:solidFill>
                            <a:srgbClr val="C00000"/>
                          </a:solidFill>
                        </a:rPr>
                        <a:t>010</a:t>
                      </a:r>
                    </a:p>
                    <a:p>
                      <a:pPr algn="dist"/>
                      <a:r>
                        <a:rPr lang="en-US" altLang="zh-CN" sz="1600" b="1" dirty="0" smtClean="0">
                          <a:solidFill>
                            <a:srgbClr val="C00000"/>
                          </a:solidFill>
                        </a:rPr>
                        <a:t>010</a:t>
                      </a:r>
                    </a:p>
                    <a:p>
                      <a:pPr algn="dist"/>
                      <a:r>
                        <a:rPr lang="en-US" altLang="zh-CN" sz="1600" b="1" dirty="0" smtClean="0">
                          <a:solidFill>
                            <a:srgbClr val="C00000"/>
                          </a:solidFill>
                        </a:rPr>
                        <a:t>010</a:t>
                      </a:r>
                    </a:p>
                    <a:p>
                      <a:pPr algn="dist"/>
                      <a:r>
                        <a:rPr lang="en-US" altLang="zh-CN" sz="1600" b="1" dirty="0" smtClean="0"/>
                        <a:t>100</a:t>
                      </a:r>
                    </a:p>
                    <a:p>
                      <a:pPr algn="dist"/>
                      <a:r>
                        <a:rPr lang="en-US" altLang="zh-CN" sz="1600" b="1" dirty="0" smtClean="0"/>
                        <a:t>100</a:t>
                      </a:r>
                    </a:p>
                    <a:p>
                      <a:pPr algn="dist"/>
                      <a:r>
                        <a:rPr lang="en-US" altLang="zh-CN" sz="1600" b="1" dirty="0" smtClean="0"/>
                        <a:t>100</a:t>
                      </a:r>
                    </a:p>
                    <a:p>
                      <a:pPr algn="dist"/>
                      <a:r>
                        <a:rPr lang="en-US" altLang="zh-CN" sz="1600" b="1" dirty="0" smtClean="0"/>
                        <a:t>100</a:t>
                      </a:r>
                    </a:p>
                    <a:p>
                      <a:pPr algn="dist"/>
                      <a:r>
                        <a:rPr lang="en-US" altLang="zh-CN" sz="1600" b="1" dirty="0" smtClean="0"/>
                        <a:t>100</a:t>
                      </a:r>
                      <a:endParaRPr lang="zh-CN" altLang="en-US" sz="1600" b="1"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bl>
          </a:graphicData>
        </a:graphic>
      </p:graphicFrame>
      <p:sp>
        <p:nvSpPr>
          <p:cNvPr id="7" name="矩形 6"/>
          <p:cNvSpPr/>
          <p:nvPr/>
        </p:nvSpPr>
        <p:spPr>
          <a:xfrm>
            <a:off x="5220072" y="1628800"/>
            <a:ext cx="3672408" cy="461665"/>
          </a:xfrm>
          <a:prstGeom prst="rect">
            <a:avLst/>
          </a:prstGeom>
        </p:spPr>
        <p:txBody>
          <a:bodyPr wrap="square">
            <a:spAutoFit/>
          </a:bodyPr>
          <a:lstStyle/>
          <a:p>
            <a:r>
              <a:rPr lang="en-US" altLang="zh-CN" sz="2400" b="1" dirty="0" smtClean="0"/>
              <a:t>Step4.</a:t>
            </a:r>
            <a:r>
              <a:rPr lang="zh-CN" altLang="en-US" sz="2400" b="1" dirty="0" smtClean="0"/>
              <a:t>电路</a:t>
            </a:r>
            <a:r>
              <a:rPr lang="zh-CN" altLang="en-US" sz="2400" b="1" dirty="0"/>
              <a:t>功能描述如下：</a:t>
            </a:r>
          </a:p>
        </p:txBody>
      </p:sp>
      <p:sp>
        <p:nvSpPr>
          <p:cNvPr id="8" name="矩形 7"/>
          <p:cNvSpPr/>
          <p:nvPr/>
        </p:nvSpPr>
        <p:spPr>
          <a:xfrm>
            <a:off x="5220072" y="2348880"/>
            <a:ext cx="3456385" cy="3683060"/>
          </a:xfrm>
          <a:prstGeom prst="rect">
            <a:avLst/>
          </a:prstGeom>
        </p:spPr>
        <p:txBody>
          <a:bodyPr wrap="square">
            <a:spAutoFit/>
          </a:bodyPr>
          <a:lstStyle/>
          <a:p>
            <a:pPr>
              <a:lnSpc>
                <a:spcPts val="2800"/>
              </a:lnSpc>
            </a:pPr>
            <a:r>
              <a:rPr lang="zh-CN" altLang="en-US" b="1" dirty="0"/>
              <a:t>由真值表可以看到：</a:t>
            </a:r>
          </a:p>
          <a:p>
            <a:pPr marL="285750" indent="-285750">
              <a:lnSpc>
                <a:spcPts val="2800"/>
              </a:lnSpc>
              <a:buFont typeface="Arial" pitchFamily="34" charset="0"/>
              <a:buChar char="•"/>
            </a:pPr>
            <a:r>
              <a:rPr lang="zh-CN" altLang="en-US" b="1" dirty="0">
                <a:solidFill>
                  <a:srgbClr val="0000CC"/>
                </a:solidFill>
              </a:rPr>
              <a:t>当</a:t>
            </a:r>
            <a:r>
              <a:rPr lang="en-US" altLang="zh-CN" b="1" dirty="0">
                <a:solidFill>
                  <a:srgbClr val="0000CC"/>
                </a:solidFill>
              </a:rPr>
              <a:t>DCBA ≤5 </a:t>
            </a:r>
            <a:r>
              <a:rPr lang="zh-CN" altLang="en-US" b="1" dirty="0">
                <a:solidFill>
                  <a:srgbClr val="0000CC"/>
                </a:solidFill>
              </a:rPr>
              <a:t>时</a:t>
            </a:r>
            <a:r>
              <a:rPr lang="zh-CN" altLang="en-US" b="1" dirty="0" smtClean="0">
                <a:solidFill>
                  <a:srgbClr val="0000CC"/>
                </a:solidFill>
              </a:rPr>
              <a:t>：</a:t>
            </a:r>
            <a:r>
              <a:rPr lang="en-US" altLang="zh-CN" b="1" dirty="0" smtClean="0">
                <a:solidFill>
                  <a:srgbClr val="0000CC"/>
                </a:solidFill>
              </a:rPr>
              <a:t>Y</a:t>
            </a:r>
            <a:r>
              <a:rPr lang="en-US" altLang="zh-CN" b="1" baseline="-25000" dirty="0" smtClean="0">
                <a:solidFill>
                  <a:srgbClr val="0000CC"/>
                </a:solidFill>
              </a:rPr>
              <a:t>2</a:t>
            </a:r>
            <a:r>
              <a:rPr lang="en-US" altLang="zh-CN" b="1" dirty="0" smtClean="0">
                <a:solidFill>
                  <a:srgbClr val="0000CC"/>
                </a:solidFill>
              </a:rPr>
              <a:t>=1</a:t>
            </a:r>
            <a:endParaRPr lang="en-US" altLang="zh-CN" b="1" dirty="0">
              <a:solidFill>
                <a:srgbClr val="0000CC"/>
              </a:solidFill>
            </a:endParaRPr>
          </a:p>
          <a:p>
            <a:pPr marL="285750" indent="-285750">
              <a:lnSpc>
                <a:spcPts val="2800"/>
              </a:lnSpc>
              <a:buFont typeface="Arial" pitchFamily="34" charset="0"/>
              <a:buChar char="•"/>
            </a:pPr>
            <a:r>
              <a:rPr lang="zh-CN" altLang="en-US" b="1" dirty="0">
                <a:solidFill>
                  <a:srgbClr val="C00000"/>
                </a:solidFill>
              </a:rPr>
              <a:t>当</a:t>
            </a:r>
            <a:r>
              <a:rPr lang="en-US" altLang="zh-CN" b="1" dirty="0">
                <a:solidFill>
                  <a:srgbClr val="C00000"/>
                </a:solidFill>
              </a:rPr>
              <a:t>6</a:t>
            </a:r>
            <a:r>
              <a:rPr lang="zh-CN" altLang="en-US" b="1" dirty="0">
                <a:solidFill>
                  <a:srgbClr val="C00000"/>
                </a:solidFill>
              </a:rPr>
              <a:t>≤</a:t>
            </a:r>
            <a:r>
              <a:rPr lang="en-US" altLang="zh-CN" b="1" dirty="0">
                <a:solidFill>
                  <a:srgbClr val="C00000"/>
                </a:solidFill>
              </a:rPr>
              <a:t>DCBA </a:t>
            </a:r>
            <a:r>
              <a:rPr lang="zh-CN" altLang="en-US" b="1" dirty="0">
                <a:solidFill>
                  <a:srgbClr val="C00000"/>
                </a:solidFill>
              </a:rPr>
              <a:t>≤</a:t>
            </a:r>
            <a:r>
              <a:rPr lang="en-US" altLang="zh-CN" b="1" dirty="0">
                <a:solidFill>
                  <a:srgbClr val="C00000"/>
                </a:solidFill>
              </a:rPr>
              <a:t>10 </a:t>
            </a:r>
            <a:r>
              <a:rPr lang="zh-CN" altLang="en-US" b="1" dirty="0">
                <a:solidFill>
                  <a:srgbClr val="C00000"/>
                </a:solidFill>
              </a:rPr>
              <a:t>时</a:t>
            </a:r>
            <a:r>
              <a:rPr lang="zh-CN" altLang="en-US" b="1" dirty="0" smtClean="0">
                <a:solidFill>
                  <a:srgbClr val="C00000"/>
                </a:solidFill>
              </a:rPr>
              <a:t>：</a:t>
            </a:r>
            <a:r>
              <a:rPr lang="en-US" altLang="zh-CN" b="1" dirty="0" smtClean="0">
                <a:solidFill>
                  <a:srgbClr val="C00000"/>
                </a:solidFill>
              </a:rPr>
              <a:t>Y</a:t>
            </a:r>
            <a:r>
              <a:rPr lang="en-US" altLang="zh-CN" b="1" baseline="-25000" dirty="0" smtClean="0">
                <a:solidFill>
                  <a:srgbClr val="C00000"/>
                </a:solidFill>
              </a:rPr>
              <a:t>1</a:t>
            </a:r>
            <a:r>
              <a:rPr lang="en-US" altLang="zh-CN" b="1" dirty="0" smtClean="0">
                <a:solidFill>
                  <a:srgbClr val="C00000"/>
                </a:solidFill>
              </a:rPr>
              <a:t>=1</a:t>
            </a:r>
            <a:endParaRPr lang="en-US" altLang="zh-CN" b="1" dirty="0">
              <a:solidFill>
                <a:srgbClr val="C00000"/>
              </a:solidFill>
            </a:endParaRPr>
          </a:p>
          <a:p>
            <a:pPr marL="285750" indent="-285750">
              <a:lnSpc>
                <a:spcPts val="2800"/>
              </a:lnSpc>
              <a:buFont typeface="Arial" pitchFamily="34" charset="0"/>
              <a:buChar char="•"/>
            </a:pPr>
            <a:r>
              <a:rPr lang="zh-CN" altLang="en-US" b="1" dirty="0"/>
              <a:t>当</a:t>
            </a:r>
            <a:r>
              <a:rPr lang="en-US" altLang="zh-CN" b="1" dirty="0"/>
              <a:t>DCBA ≥11 </a:t>
            </a:r>
            <a:r>
              <a:rPr lang="zh-CN" altLang="en-US" b="1" dirty="0"/>
              <a:t>时</a:t>
            </a:r>
            <a:r>
              <a:rPr lang="zh-CN" altLang="en-US" b="1" dirty="0" smtClean="0"/>
              <a:t>：</a:t>
            </a:r>
            <a:r>
              <a:rPr lang="en-US" altLang="zh-CN" b="1" dirty="0" smtClean="0"/>
              <a:t>Y</a:t>
            </a:r>
            <a:r>
              <a:rPr lang="en-US" altLang="zh-CN" b="1" baseline="-25000" dirty="0" smtClean="0"/>
              <a:t>0</a:t>
            </a:r>
            <a:r>
              <a:rPr lang="en-US" altLang="zh-CN" b="1" dirty="0" smtClean="0"/>
              <a:t>=1</a:t>
            </a:r>
          </a:p>
          <a:p>
            <a:pPr marL="285750" indent="-285750">
              <a:lnSpc>
                <a:spcPts val="2800"/>
              </a:lnSpc>
              <a:buFont typeface="Arial" pitchFamily="34" charset="0"/>
              <a:buChar char="•"/>
            </a:pPr>
            <a:endParaRPr lang="en-US" altLang="zh-CN" b="1" dirty="0"/>
          </a:p>
          <a:p>
            <a:pPr>
              <a:lnSpc>
                <a:spcPts val="2800"/>
              </a:lnSpc>
            </a:pPr>
            <a:r>
              <a:rPr lang="zh-CN" altLang="en-US" b="1" dirty="0"/>
              <a:t>因此，这个</a:t>
            </a:r>
            <a:r>
              <a:rPr lang="zh-CN" altLang="en-US" b="1" dirty="0" smtClean="0"/>
              <a:t>逻辑电路可以</a:t>
            </a:r>
            <a:r>
              <a:rPr lang="zh-CN" altLang="en-US" b="1" dirty="0">
                <a:solidFill>
                  <a:srgbClr val="0000CC"/>
                </a:solidFill>
              </a:rPr>
              <a:t>用来判别输人的</a:t>
            </a:r>
            <a:r>
              <a:rPr lang="en-US" altLang="zh-CN" b="1" dirty="0">
                <a:solidFill>
                  <a:srgbClr val="0000CC"/>
                </a:solidFill>
              </a:rPr>
              <a:t>4 </a:t>
            </a:r>
            <a:r>
              <a:rPr lang="zh-CN" altLang="en-US" b="1" dirty="0" smtClean="0">
                <a:solidFill>
                  <a:srgbClr val="0000CC"/>
                </a:solidFill>
              </a:rPr>
              <a:t>位二进制数</a:t>
            </a:r>
            <a:r>
              <a:rPr lang="zh-CN" altLang="en-US" b="1" dirty="0">
                <a:solidFill>
                  <a:srgbClr val="0000CC"/>
                </a:solidFill>
              </a:rPr>
              <a:t>的数值范围</a:t>
            </a:r>
            <a:r>
              <a:rPr lang="zh-CN" altLang="en-US" b="1" dirty="0" smtClean="0"/>
              <a:t>。</a:t>
            </a:r>
            <a:endParaRPr lang="en-US" altLang="zh-CN" b="1" dirty="0" smtClean="0"/>
          </a:p>
          <a:p>
            <a:pPr>
              <a:lnSpc>
                <a:spcPts val="2800"/>
              </a:lnSpc>
            </a:pPr>
            <a:endParaRPr lang="zh-CN" altLang="en-US" b="1" dirty="0"/>
          </a:p>
          <a:p>
            <a:pPr>
              <a:lnSpc>
                <a:spcPts val="2800"/>
              </a:lnSpc>
            </a:pPr>
            <a:r>
              <a:rPr lang="en-US" altLang="zh-CN" b="1" dirty="0" smtClean="0"/>
              <a:t>【</a:t>
            </a:r>
            <a:r>
              <a:rPr lang="zh-CN" altLang="en-US" b="1" dirty="0"/>
              <a:t>分析完毕</a:t>
            </a:r>
            <a:r>
              <a:rPr lang="en-US" altLang="zh-CN" b="1" dirty="0"/>
              <a:t>】</a:t>
            </a:r>
            <a:r>
              <a:rPr lang="zh-CN" altLang="en-US" b="1" dirty="0"/>
              <a:t>。</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25</a:t>
            </a:fld>
            <a:endParaRPr lang="zh-CN" altLang="en-US"/>
          </a:p>
        </p:txBody>
      </p:sp>
    </p:spTree>
    <p:extLst>
      <p:ext uri="{BB962C8B-B14F-4D97-AF65-F5344CB8AC3E}">
        <p14:creationId xmlns:p14="http://schemas.microsoft.com/office/powerpoint/2010/main" xmlns="" val="376824848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31640" y="620688"/>
            <a:ext cx="7416824" cy="638944"/>
          </a:xfrm>
        </p:spPr>
        <p:txBody>
          <a:bodyPr/>
          <a:lstStyle/>
          <a:p>
            <a:r>
              <a:rPr lang="en-US" altLang="zh-CN" dirty="0" smtClean="0"/>
              <a:t>4.2 </a:t>
            </a:r>
            <a:r>
              <a:rPr lang="zh-CN" altLang="en-US" dirty="0" smtClean="0"/>
              <a:t>组合逻辑电路设计</a:t>
            </a:r>
            <a:endParaRPr lang="zh-CN" altLang="en-US" dirty="0"/>
          </a:p>
        </p:txBody>
      </p:sp>
      <p:sp>
        <p:nvSpPr>
          <p:cNvPr id="3" name="内容占位符 2"/>
          <p:cNvSpPr>
            <a:spLocks noGrp="1"/>
          </p:cNvSpPr>
          <p:nvPr>
            <p:ph idx="1"/>
          </p:nvPr>
        </p:nvSpPr>
        <p:spPr>
          <a:xfrm>
            <a:off x="467544" y="1484784"/>
            <a:ext cx="8161338" cy="4911128"/>
          </a:xfrm>
        </p:spPr>
        <p:txBody>
          <a:bodyPr/>
          <a:lstStyle/>
          <a:p>
            <a:pPr>
              <a:lnSpc>
                <a:spcPct val="100000"/>
              </a:lnSpc>
              <a:spcBef>
                <a:spcPts val="600"/>
              </a:spcBef>
              <a:buSzPct val="100000"/>
              <a:buFont typeface="Wingdings" pitchFamily="2" charset="2"/>
              <a:buChar char="p"/>
            </a:pPr>
            <a:r>
              <a:rPr lang="zh-CN" altLang="en-US" sz="2800" dirty="0"/>
              <a:t>组合逻辑电路设计</a:t>
            </a:r>
            <a:endParaRPr lang="en-US" altLang="zh-CN" sz="2800" dirty="0" smtClean="0"/>
          </a:p>
          <a:p>
            <a:pPr lvl="1">
              <a:lnSpc>
                <a:spcPct val="100000"/>
              </a:lnSpc>
              <a:spcBef>
                <a:spcPts val="600"/>
              </a:spcBef>
              <a:buSzPct val="100000"/>
            </a:pPr>
            <a:r>
              <a:rPr lang="zh-CN" altLang="en-US" sz="2400" dirty="0" smtClean="0"/>
              <a:t>“设计”</a:t>
            </a:r>
            <a:r>
              <a:rPr lang="zh-CN" altLang="en-US" sz="2400" dirty="0"/>
              <a:t>：即根据给出的实际逻辑问题</a:t>
            </a:r>
            <a:r>
              <a:rPr lang="zh-CN" altLang="en-US" sz="2400" dirty="0" smtClean="0"/>
              <a:t>，求</a:t>
            </a:r>
            <a:r>
              <a:rPr lang="zh-CN" altLang="en-US" sz="2400" dirty="0"/>
              <a:t>出实现这个逻辑功能的</a:t>
            </a:r>
            <a:r>
              <a:rPr lang="zh-CN" altLang="en-US" sz="2400" dirty="0">
                <a:solidFill>
                  <a:srgbClr val="0000CC"/>
                </a:solidFill>
              </a:rPr>
              <a:t>最简逻辑电路</a:t>
            </a:r>
            <a:r>
              <a:rPr lang="zh-CN" altLang="en-US" sz="2400" dirty="0"/>
              <a:t>。</a:t>
            </a:r>
          </a:p>
          <a:p>
            <a:pPr lvl="1">
              <a:lnSpc>
                <a:spcPct val="100000"/>
              </a:lnSpc>
              <a:spcBef>
                <a:spcPts val="600"/>
              </a:spcBef>
              <a:buSzPct val="100000"/>
            </a:pPr>
            <a:r>
              <a:rPr lang="zh-CN" altLang="en-US" sz="2400" dirty="0" smtClean="0"/>
              <a:t>“最简”</a:t>
            </a:r>
            <a:r>
              <a:rPr lang="zh-CN" altLang="en-US" sz="2400" dirty="0"/>
              <a:t>：是指所用</a:t>
            </a:r>
            <a:r>
              <a:rPr lang="zh-CN" altLang="en-US" sz="2400" dirty="0">
                <a:solidFill>
                  <a:srgbClr val="0000CC"/>
                </a:solidFill>
              </a:rPr>
              <a:t>器件最少</a:t>
            </a:r>
            <a:r>
              <a:rPr lang="zh-CN" altLang="en-US" sz="2400" dirty="0"/>
              <a:t>，器件</a:t>
            </a:r>
            <a:r>
              <a:rPr lang="zh-CN" altLang="en-US" sz="2400" dirty="0" smtClean="0">
                <a:solidFill>
                  <a:srgbClr val="0000CC"/>
                </a:solidFill>
              </a:rPr>
              <a:t>种类最少</a:t>
            </a:r>
            <a:r>
              <a:rPr lang="zh-CN" altLang="en-US" sz="2400" dirty="0"/>
              <a:t>，而且器件之间的</a:t>
            </a:r>
            <a:r>
              <a:rPr lang="zh-CN" altLang="en-US" sz="2400" dirty="0">
                <a:solidFill>
                  <a:srgbClr val="0000CC"/>
                </a:solidFill>
              </a:rPr>
              <a:t>连线也最少</a:t>
            </a:r>
            <a:r>
              <a:rPr lang="zh-CN" altLang="en-US" sz="2400" dirty="0"/>
              <a:t>。</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26</a:t>
            </a:fld>
            <a:endParaRPr lang="zh-CN" altLang="en-US"/>
          </a:p>
        </p:txBody>
      </p:sp>
      <p:sp>
        <p:nvSpPr>
          <p:cNvPr id="5" name="标题 1"/>
          <p:cNvSpPr txBox="1">
            <a:spLocks/>
          </p:cNvSpPr>
          <p:nvPr/>
        </p:nvSpPr>
        <p:spPr bwMode="auto">
          <a:xfrm>
            <a:off x="1259632" y="0"/>
            <a:ext cx="7016824" cy="63894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fontAlgn="base">
              <a:spcBef>
                <a:spcPct val="0"/>
              </a:spcBef>
              <a:spcAft>
                <a:spcPct val="0"/>
              </a:spcAft>
              <a:defRPr/>
            </a:pP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第</a:t>
            </a:r>
            <a:r>
              <a:rPr kumimoji="1" lang="en-US" altLang="zh-CN" sz="3600" b="1" kern="0" dirty="0" smtClean="0">
                <a:solidFill>
                  <a:schemeClr val="tx2"/>
                </a:solidFill>
                <a:latin typeface="+mj-lt"/>
                <a:ea typeface="+mj-ea"/>
                <a:cs typeface="+mj-cs"/>
              </a:rPr>
              <a:t>4</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章　组合</a:t>
            </a:r>
            <a:r>
              <a:rPr kumimoji="1" lang="zh-CN" altLang="en-US" sz="3600" b="1" kern="0" dirty="0" smtClean="0">
                <a:solidFill>
                  <a:schemeClr val="tx2"/>
                </a:solidFill>
              </a:rPr>
              <a:t>逻辑</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电路</a:t>
            </a:r>
            <a:endParaRPr kumimoji="1" lang="zh-CN" altLang="en-US" sz="36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187867660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20688"/>
            <a:ext cx="7617022" cy="638944"/>
          </a:xfrm>
        </p:spPr>
        <p:txBody>
          <a:bodyPr/>
          <a:lstStyle/>
          <a:p>
            <a:r>
              <a:rPr lang="en-US" altLang="zh-CN" dirty="0" smtClean="0"/>
              <a:t>4.2 </a:t>
            </a:r>
            <a:r>
              <a:rPr lang="zh-CN" altLang="en-US" dirty="0" smtClean="0"/>
              <a:t>组合逻辑电路设计</a:t>
            </a:r>
            <a:endParaRPr lang="zh-CN" altLang="en-US" dirty="0"/>
          </a:p>
        </p:txBody>
      </p:sp>
      <p:sp>
        <p:nvSpPr>
          <p:cNvPr id="3" name="内容占位符 2"/>
          <p:cNvSpPr>
            <a:spLocks noGrp="1"/>
          </p:cNvSpPr>
          <p:nvPr>
            <p:ph idx="1"/>
          </p:nvPr>
        </p:nvSpPr>
        <p:spPr>
          <a:xfrm>
            <a:off x="539552" y="1556792"/>
            <a:ext cx="8161338" cy="4911128"/>
          </a:xfrm>
        </p:spPr>
        <p:txBody>
          <a:bodyPr/>
          <a:lstStyle/>
          <a:p>
            <a:pPr>
              <a:lnSpc>
                <a:spcPct val="100000"/>
              </a:lnSpc>
              <a:spcBef>
                <a:spcPts val="600"/>
              </a:spcBef>
              <a:buSzPct val="100000"/>
              <a:buFont typeface="Wingdings" pitchFamily="2" charset="2"/>
              <a:buChar char="p"/>
            </a:pPr>
            <a:r>
              <a:rPr lang="zh-CN" altLang="en-US" sz="2800" dirty="0"/>
              <a:t>一般设计</a:t>
            </a:r>
            <a:r>
              <a:rPr lang="zh-CN" altLang="en-US" sz="2800" dirty="0" smtClean="0"/>
              <a:t>步骤</a:t>
            </a:r>
            <a:endParaRPr lang="en-US" altLang="zh-CN" sz="2800" dirty="0" smtClean="0"/>
          </a:p>
          <a:p>
            <a:pPr lvl="1">
              <a:lnSpc>
                <a:spcPct val="100000"/>
              </a:lnSpc>
              <a:spcBef>
                <a:spcPts val="600"/>
              </a:spcBef>
              <a:buSzPct val="100000"/>
            </a:pPr>
            <a:r>
              <a:rPr lang="zh-CN" altLang="en-US" sz="2400" dirty="0"/>
              <a:t>一、</a:t>
            </a:r>
            <a:r>
              <a:rPr lang="zh-CN" altLang="en-US" sz="2400" dirty="0">
                <a:solidFill>
                  <a:srgbClr val="FF0000"/>
                </a:solidFill>
              </a:rPr>
              <a:t>进行逻辑抽象</a:t>
            </a:r>
          </a:p>
          <a:p>
            <a:pPr lvl="2">
              <a:lnSpc>
                <a:spcPct val="100000"/>
              </a:lnSpc>
              <a:spcBef>
                <a:spcPts val="600"/>
              </a:spcBef>
              <a:buSzPct val="100000"/>
              <a:buFont typeface="Wingdings" pitchFamily="2" charset="2"/>
              <a:buChar char="u"/>
            </a:pPr>
            <a:r>
              <a:rPr lang="en-US" altLang="zh-CN" dirty="0"/>
              <a:t>(1) </a:t>
            </a:r>
            <a:r>
              <a:rPr lang="zh-CN" altLang="en-US" dirty="0"/>
              <a:t>分析事件的因果关系，</a:t>
            </a:r>
            <a:r>
              <a:rPr lang="zh-CN" altLang="en-US" dirty="0">
                <a:solidFill>
                  <a:srgbClr val="0000CC"/>
                </a:solidFill>
              </a:rPr>
              <a:t>确定输入和输出变量</a:t>
            </a:r>
            <a:r>
              <a:rPr lang="en-US" altLang="zh-CN" dirty="0"/>
              <a:t>;</a:t>
            </a:r>
          </a:p>
          <a:p>
            <a:pPr lvl="2">
              <a:lnSpc>
                <a:spcPct val="100000"/>
              </a:lnSpc>
              <a:spcBef>
                <a:spcPts val="600"/>
              </a:spcBef>
              <a:buSzPct val="100000"/>
              <a:buFont typeface="Wingdings" pitchFamily="2" charset="2"/>
              <a:buChar char="u"/>
            </a:pPr>
            <a:r>
              <a:rPr lang="en-US" altLang="zh-CN" dirty="0"/>
              <a:t>(2) </a:t>
            </a:r>
            <a:r>
              <a:rPr lang="zh-CN" altLang="en-US" dirty="0">
                <a:solidFill>
                  <a:srgbClr val="0000CC"/>
                </a:solidFill>
              </a:rPr>
              <a:t>定义逻辑状态</a:t>
            </a:r>
            <a:r>
              <a:rPr lang="zh-CN" altLang="en-US" dirty="0"/>
              <a:t>（‘</a:t>
            </a:r>
            <a:r>
              <a:rPr lang="en-US" altLang="zh-CN" dirty="0"/>
              <a:t>0’</a:t>
            </a:r>
            <a:r>
              <a:rPr lang="zh-CN" altLang="en-US" dirty="0"/>
              <a:t>或‘</a:t>
            </a:r>
            <a:r>
              <a:rPr lang="en-US" altLang="zh-CN" dirty="0"/>
              <a:t>1’</a:t>
            </a:r>
            <a:r>
              <a:rPr lang="zh-CN" altLang="en-US" dirty="0"/>
              <a:t>）的含意；</a:t>
            </a:r>
          </a:p>
          <a:p>
            <a:pPr lvl="2">
              <a:lnSpc>
                <a:spcPct val="100000"/>
              </a:lnSpc>
              <a:spcBef>
                <a:spcPts val="600"/>
              </a:spcBef>
              <a:buSzPct val="100000"/>
              <a:buFont typeface="Wingdings" pitchFamily="2" charset="2"/>
              <a:buChar char="u"/>
            </a:pPr>
            <a:r>
              <a:rPr lang="en-US" altLang="zh-CN" dirty="0"/>
              <a:t>(3) </a:t>
            </a:r>
            <a:r>
              <a:rPr lang="zh-CN" altLang="en-US" dirty="0"/>
              <a:t>根据给定的因果关系</a:t>
            </a:r>
            <a:r>
              <a:rPr lang="zh-CN" altLang="en-US" dirty="0">
                <a:solidFill>
                  <a:srgbClr val="0000CC"/>
                </a:solidFill>
              </a:rPr>
              <a:t>列出真值表</a:t>
            </a:r>
            <a:r>
              <a:rPr lang="zh-CN" altLang="en-US" dirty="0"/>
              <a:t>；</a:t>
            </a:r>
          </a:p>
          <a:p>
            <a:pPr lvl="1">
              <a:lnSpc>
                <a:spcPct val="100000"/>
              </a:lnSpc>
              <a:spcBef>
                <a:spcPts val="600"/>
              </a:spcBef>
              <a:buSzPct val="100000"/>
            </a:pPr>
            <a:r>
              <a:rPr lang="zh-CN" altLang="en-US" sz="2400" dirty="0"/>
              <a:t>二、</a:t>
            </a:r>
            <a:r>
              <a:rPr lang="zh-CN" altLang="en-US" sz="2400" dirty="0">
                <a:solidFill>
                  <a:srgbClr val="FF0000"/>
                </a:solidFill>
              </a:rPr>
              <a:t>写出逻辑函数式</a:t>
            </a:r>
          </a:p>
          <a:p>
            <a:pPr lvl="1">
              <a:lnSpc>
                <a:spcPct val="100000"/>
              </a:lnSpc>
              <a:spcBef>
                <a:spcPts val="600"/>
              </a:spcBef>
              <a:buSzPct val="100000"/>
            </a:pPr>
            <a:r>
              <a:rPr lang="zh-CN" altLang="en-US" sz="2400" dirty="0"/>
              <a:t>三、</a:t>
            </a:r>
            <a:r>
              <a:rPr lang="zh-CN" altLang="en-US" sz="2400" dirty="0">
                <a:solidFill>
                  <a:srgbClr val="FF0000"/>
                </a:solidFill>
              </a:rPr>
              <a:t>选定器件的类型</a:t>
            </a:r>
          </a:p>
          <a:p>
            <a:pPr lvl="1">
              <a:lnSpc>
                <a:spcPct val="100000"/>
              </a:lnSpc>
              <a:spcBef>
                <a:spcPts val="600"/>
              </a:spcBef>
              <a:buSzPct val="100000"/>
            </a:pPr>
            <a:r>
              <a:rPr lang="zh-CN" altLang="en-US" sz="2400" dirty="0"/>
              <a:t>四、</a:t>
            </a:r>
            <a:r>
              <a:rPr lang="zh-CN" altLang="en-US" sz="2400" dirty="0">
                <a:solidFill>
                  <a:srgbClr val="FF0000"/>
                </a:solidFill>
              </a:rPr>
              <a:t>将逻辑函数化简或变换成适当的形式</a:t>
            </a:r>
          </a:p>
          <a:p>
            <a:pPr lvl="1">
              <a:lnSpc>
                <a:spcPct val="100000"/>
              </a:lnSpc>
              <a:spcBef>
                <a:spcPts val="600"/>
              </a:spcBef>
              <a:buSzPct val="100000"/>
            </a:pPr>
            <a:r>
              <a:rPr lang="zh-CN" altLang="en-US" sz="2400" dirty="0"/>
              <a:t>五、</a:t>
            </a:r>
            <a:r>
              <a:rPr lang="zh-CN" altLang="en-US" sz="2400" dirty="0">
                <a:solidFill>
                  <a:srgbClr val="FF0000"/>
                </a:solidFill>
              </a:rPr>
              <a:t>画出逻辑电路图</a:t>
            </a:r>
          </a:p>
          <a:p>
            <a:pPr lvl="1">
              <a:lnSpc>
                <a:spcPct val="100000"/>
              </a:lnSpc>
              <a:spcBef>
                <a:spcPts val="600"/>
              </a:spcBef>
              <a:buSzPct val="100000"/>
            </a:pPr>
            <a:r>
              <a:rPr lang="zh-CN" altLang="en-US" sz="2400" dirty="0"/>
              <a:t>六、</a:t>
            </a:r>
            <a:r>
              <a:rPr lang="zh-CN" altLang="en-US" sz="2400" dirty="0">
                <a:solidFill>
                  <a:srgbClr val="FF0000"/>
                </a:solidFill>
              </a:rPr>
              <a:t>工艺设计</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27</a:t>
            </a:fld>
            <a:endParaRPr lang="zh-CN" altLang="en-US"/>
          </a:p>
        </p:txBody>
      </p:sp>
    </p:spTree>
    <p:extLst>
      <p:ext uri="{BB962C8B-B14F-4D97-AF65-F5344CB8AC3E}">
        <p14:creationId xmlns:p14="http://schemas.microsoft.com/office/powerpoint/2010/main" xmlns="" val="178382878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20688"/>
            <a:ext cx="7689030" cy="638944"/>
          </a:xfrm>
        </p:spPr>
        <p:txBody>
          <a:bodyPr/>
          <a:lstStyle/>
          <a:p>
            <a:r>
              <a:rPr lang="en-US" altLang="zh-CN" dirty="0" smtClean="0"/>
              <a:t>4.2 </a:t>
            </a:r>
            <a:r>
              <a:rPr lang="zh-CN" altLang="en-US" dirty="0" smtClean="0"/>
              <a:t>组合逻辑电路设计</a:t>
            </a:r>
            <a:endParaRPr lang="zh-CN" altLang="en-US" dirty="0"/>
          </a:p>
        </p:txBody>
      </p:sp>
      <p:sp>
        <p:nvSpPr>
          <p:cNvPr id="3" name="内容占位符 2"/>
          <p:cNvSpPr>
            <a:spLocks noGrp="1"/>
          </p:cNvSpPr>
          <p:nvPr>
            <p:ph idx="1"/>
          </p:nvPr>
        </p:nvSpPr>
        <p:spPr>
          <a:xfrm>
            <a:off x="539552" y="1542208"/>
            <a:ext cx="8415536" cy="4911128"/>
          </a:xfrm>
        </p:spPr>
        <p:txBody>
          <a:bodyPr/>
          <a:lstStyle/>
          <a:p>
            <a:pPr>
              <a:buSzPct val="100000"/>
              <a:buFont typeface="Wingdings" pitchFamily="2" charset="2"/>
              <a:buChar char="p"/>
            </a:pPr>
            <a:r>
              <a:rPr lang="zh-CN" altLang="en-US" sz="2800" dirty="0" smtClean="0">
                <a:solidFill>
                  <a:srgbClr val="0000CC"/>
                </a:solidFill>
              </a:rPr>
              <a:t>例</a:t>
            </a:r>
            <a:r>
              <a:rPr lang="en-US" altLang="zh-CN" sz="2800" dirty="0" smtClean="0">
                <a:solidFill>
                  <a:srgbClr val="0000CC"/>
                </a:solidFill>
              </a:rPr>
              <a:t>4.2 </a:t>
            </a:r>
            <a:r>
              <a:rPr lang="zh-CN" altLang="en-US" sz="2800" dirty="0" smtClean="0"/>
              <a:t>某化工厂需要用一种液体化学原料进行生产，该液体颜料在生产过程中储存在三个容器之中，通过液面传感器来检测容器内的原料是否充足。当容器内的液面高于警戒值时，传感器输出低电平，否则输出高电平。若三个容器中的液体有两个以上低于警戒线，则系统报警，提示原料不足。试设计一个能够实现上述功能的数字电路。</a:t>
            </a:r>
            <a:endParaRPr lang="en-US" altLang="zh-CN" sz="2800" dirty="0" smtClean="0"/>
          </a:p>
          <a:p>
            <a:pPr>
              <a:buSzPct val="100000"/>
              <a:buFont typeface="Wingdings" pitchFamily="2" charset="2"/>
              <a:buChar char="p"/>
            </a:pPr>
            <a:r>
              <a:rPr lang="zh-CN" altLang="en-US" sz="2800" dirty="0" smtClean="0"/>
              <a:t>解：（</a:t>
            </a:r>
            <a:r>
              <a:rPr lang="en-US" altLang="zh-CN" sz="2800" dirty="0" smtClean="0"/>
              <a:t>1</a:t>
            </a:r>
            <a:r>
              <a:rPr lang="zh-CN" altLang="en-US" sz="2800" dirty="0" smtClean="0"/>
              <a:t>）分析：分别用变量</a:t>
            </a:r>
            <a:r>
              <a:rPr lang="en-US" altLang="zh-CN" sz="2800" dirty="0" smtClean="0"/>
              <a:t>A</a:t>
            </a:r>
            <a:r>
              <a:rPr lang="zh-CN" altLang="en-US" sz="2800" dirty="0" smtClean="0"/>
              <a:t>、</a:t>
            </a:r>
            <a:r>
              <a:rPr lang="en-US" altLang="zh-CN" sz="2800" dirty="0" smtClean="0"/>
              <a:t>B</a:t>
            </a:r>
            <a:r>
              <a:rPr lang="zh-CN" altLang="en-US" sz="2800" dirty="0" smtClean="0"/>
              <a:t>、</a:t>
            </a:r>
            <a:r>
              <a:rPr lang="en-US" altLang="zh-CN" sz="2800" dirty="0" smtClean="0"/>
              <a:t>C</a:t>
            </a:r>
            <a:r>
              <a:rPr lang="zh-CN" altLang="en-US" sz="2800" dirty="0" smtClean="0"/>
              <a:t>代表三个传感器，变量取值为</a:t>
            </a:r>
            <a:r>
              <a:rPr lang="en-US" altLang="zh-CN" sz="2800" dirty="0" smtClean="0"/>
              <a:t>0</a:t>
            </a:r>
            <a:r>
              <a:rPr lang="zh-CN" altLang="en-US" sz="2800" dirty="0" smtClean="0"/>
              <a:t>代表液面高于警戒线，取值为</a:t>
            </a:r>
            <a:r>
              <a:rPr lang="en-US" altLang="zh-CN" sz="2800" dirty="0" smtClean="0"/>
              <a:t>1</a:t>
            </a:r>
            <a:r>
              <a:rPr lang="zh-CN" altLang="en-US" sz="2800" dirty="0" smtClean="0"/>
              <a:t>代表低于警戒线。最后的报警结果为变量</a:t>
            </a:r>
            <a:r>
              <a:rPr lang="en-US" altLang="zh-CN" sz="2800" dirty="0" smtClean="0"/>
              <a:t>Y</a:t>
            </a:r>
            <a:r>
              <a:rPr lang="zh-CN" altLang="en-US" sz="2800" dirty="0" smtClean="0"/>
              <a:t>，其值为</a:t>
            </a:r>
            <a:r>
              <a:rPr lang="en-US" altLang="zh-CN" sz="2800" dirty="0" smtClean="0"/>
              <a:t>1</a:t>
            </a:r>
            <a:r>
              <a:rPr lang="zh-CN" altLang="en-US" sz="2800" dirty="0" smtClean="0"/>
              <a:t>表示报警，为</a:t>
            </a:r>
            <a:r>
              <a:rPr lang="en-US" altLang="zh-CN" sz="2800" dirty="0" smtClean="0"/>
              <a:t>0</a:t>
            </a:r>
            <a:r>
              <a:rPr lang="zh-CN" altLang="en-US" sz="2800" dirty="0" smtClean="0"/>
              <a:t>表示正常。</a:t>
            </a:r>
            <a:endParaRPr lang="zh-CN" altLang="en-US" sz="2800"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28</a:t>
            </a:fld>
            <a:endParaRPr lang="zh-CN" altLang="en-US"/>
          </a:p>
        </p:txBody>
      </p:sp>
    </p:spTree>
    <p:extLst>
      <p:ext uri="{BB962C8B-B14F-4D97-AF65-F5344CB8AC3E}">
        <p14:creationId xmlns:p14="http://schemas.microsoft.com/office/powerpoint/2010/main" xmlns="" val="339569236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20688"/>
            <a:ext cx="7689030" cy="638944"/>
          </a:xfrm>
        </p:spPr>
        <p:txBody>
          <a:bodyPr/>
          <a:lstStyle/>
          <a:p>
            <a:r>
              <a:rPr lang="en-US" altLang="zh-CN" dirty="0" smtClean="0"/>
              <a:t>4.2 </a:t>
            </a:r>
            <a:r>
              <a:rPr lang="zh-CN" altLang="en-US" dirty="0" smtClean="0"/>
              <a:t>组合逻辑电路设计</a:t>
            </a:r>
            <a:endParaRPr lang="zh-CN" altLang="en-US" dirty="0"/>
          </a:p>
        </p:txBody>
      </p:sp>
      <p:sp>
        <p:nvSpPr>
          <p:cNvPr id="3" name="内容占位符 2"/>
          <p:cNvSpPr>
            <a:spLocks noGrp="1"/>
          </p:cNvSpPr>
          <p:nvPr>
            <p:ph idx="1"/>
          </p:nvPr>
        </p:nvSpPr>
        <p:spPr>
          <a:xfrm>
            <a:off x="539552" y="1542208"/>
            <a:ext cx="8415536" cy="4911128"/>
          </a:xfrm>
        </p:spPr>
        <p:txBody>
          <a:bodyPr/>
          <a:lstStyle/>
          <a:p>
            <a:pPr>
              <a:buSzPct val="100000"/>
              <a:buFont typeface="Wingdings" pitchFamily="2" charset="2"/>
              <a:buChar char="p"/>
            </a:pPr>
            <a:r>
              <a:rPr lang="zh-CN" altLang="en-US" sz="2800" dirty="0" smtClean="0">
                <a:solidFill>
                  <a:srgbClr val="0000CC"/>
                </a:solidFill>
              </a:rPr>
              <a:t>例</a:t>
            </a:r>
            <a:r>
              <a:rPr lang="en-US" altLang="zh-CN" sz="2800" dirty="0" smtClean="0">
                <a:solidFill>
                  <a:srgbClr val="0000CC"/>
                </a:solidFill>
              </a:rPr>
              <a:t>4.2 </a:t>
            </a:r>
            <a:r>
              <a:rPr lang="zh-CN" altLang="en-US" sz="2800" dirty="0" smtClean="0">
                <a:solidFill>
                  <a:srgbClr val="0000CC"/>
                </a:solidFill>
              </a:rPr>
              <a:t>解：</a:t>
            </a:r>
            <a:endParaRPr lang="en-US" altLang="zh-CN" sz="2800" dirty="0" smtClean="0">
              <a:solidFill>
                <a:srgbClr val="0000CC"/>
              </a:solidFill>
            </a:endParaRPr>
          </a:p>
          <a:p>
            <a:pPr>
              <a:buSzPct val="100000"/>
              <a:buNone/>
            </a:pPr>
            <a:r>
              <a:rPr lang="en-US" altLang="zh-CN" sz="2800" dirty="0" smtClean="0">
                <a:solidFill>
                  <a:srgbClr val="0000CC"/>
                </a:solidFill>
              </a:rPr>
              <a:t>  </a:t>
            </a:r>
            <a:r>
              <a:rPr lang="zh-CN" altLang="en-US" sz="2800" dirty="0" smtClean="0"/>
              <a:t>（</a:t>
            </a:r>
            <a:r>
              <a:rPr lang="en-US" altLang="zh-CN" sz="2800" dirty="0" smtClean="0"/>
              <a:t>2</a:t>
            </a:r>
            <a:r>
              <a:rPr lang="zh-CN" altLang="en-US" sz="2800" dirty="0" smtClean="0"/>
              <a:t>）列出真值表，如表</a:t>
            </a:r>
            <a:r>
              <a:rPr lang="en-US" altLang="zh-CN" sz="2800" dirty="0" smtClean="0"/>
              <a:t>4.2</a:t>
            </a:r>
            <a:r>
              <a:rPr lang="zh-CN" altLang="en-US" sz="2800" dirty="0" smtClean="0"/>
              <a:t>所示。</a:t>
            </a:r>
            <a:endParaRPr lang="en-US" altLang="zh-CN" sz="2800" dirty="0" smtClean="0"/>
          </a:p>
          <a:p>
            <a:pPr>
              <a:buSzPct val="100000"/>
              <a:buNone/>
            </a:pPr>
            <a:endParaRPr lang="en-US" altLang="zh-CN" sz="2800" dirty="0" smtClean="0"/>
          </a:p>
          <a:p>
            <a:pPr>
              <a:buSzPct val="100000"/>
              <a:buNone/>
            </a:pPr>
            <a:r>
              <a:rPr lang="en-US" altLang="zh-CN" sz="2800" dirty="0" smtClean="0"/>
              <a:t>  </a:t>
            </a:r>
            <a:r>
              <a:rPr lang="zh-CN" altLang="en-US" sz="2800" dirty="0" smtClean="0"/>
              <a:t>（</a:t>
            </a:r>
            <a:r>
              <a:rPr lang="en-US" altLang="zh-CN" sz="2800" dirty="0" smtClean="0"/>
              <a:t>3</a:t>
            </a:r>
            <a:r>
              <a:rPr lang="zh-CN" altLang="en-US" sz="2800" dirty="0" smtClean="0"/>
              <a:t>）化简逻辑函数。画出卡诺图。</a:t>
            </a:r>
            <a:endParaRPr lang="en-US" altLang="zh-CN" sz="2800" dirty="0" smtClean="0"/>
          </a:p>
          <a:p>
            <a:pPr>
              <a:buSzPct val="100000"/>
              <a:buNone/>
            </a:pPr>
            <a:r>
              <a:rPr lang="en-US" altLang="zh-CN" sz="2800" dirty="0" smtClean="0"/>
              <a:t>           </a:t>
            </a:r>
            <a:r>
              <a:rPr lang="zh-CN" altLang="en-US" sz="2800" dirty="0" smtClean="0"/>
              <a:t>由卡诺图得到</a:t>
            </a:r>
            <a:endParaRPr lang="en-US" altLang="zh-CN" sz="2800" dirty="0" smtClean="0"/>
          </a:p>
          <a:p>
            <a:pPr>
              <a:buSzPct val="100000"/>
              <a:buNone/>
            </a:pPr>
            <a:r>
              <a:rPr lang="en-US" altLang="zh-CN" sz="2800" dirty="0" smtClean="0"/>
              <a:t>       </a:t>
            </a:r>
          </a:p>
          <a:p>
            <a:pPr>
              <a:buSzPct val="100000"/>
              <a:buNone/>
            </a:pPr>
            <a:r>
              <a:rPr lang="en-US" altLang="zh-CN" sz="2800" dirty="0" smtClean="0"/>
              <a:t>           </a:t>
            </a:r>
            <a:endParaRPr lang="zh-CN" altLang="en-US" sz="2800"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29</a:t>
            </a:fld>
            <a:endParaRPr lang="zh-CN" altLang="en-US"/>
          </a:p>
        </p:txBody>
      </p:sp>
      <p:graphicFrame>
        <p:nvGraphicFramePr>
          <p:cNvPr id="6" name="表格 5"/>
          <p:cNvGraphicFramePr>
            <a:graphicFrameLocks noGrp="1"/>
          </p:cNvGraphicFramePr>
          <p:nvPr/>
        </p:nvGraphicFramePr>
        <p:xfrm>
          <a:off x="6660232" y="1628800"/>
          <a:ext cx="1745650" cy="2651760"/>
        </p:xfrm>
        <a:graphic>
          <a:graphicData uri="http://schemas.openxmlformats.org/drawingml/2006/table">
            <a:tbl>
              <a:tblPr firstRow="1" bandRow="1">
                <a:tableStyleId>{5C22544A-7EE6-4342-B048-85BDC9FD1C3A}</a:tableStyleId>
              </a:tblPr>
              <a:tblGrid>
                <a:gridCol w="1187042"/>
                <a:gridCol w="558608"/>
              </a:tblGrid>
              <a:tr h="293752">
                <a:tc>
                  <a:txBody>
                    <a:bodyPr/>
                    <a:lstStyle/>
                    <a:p>
                      <a:pPr algn="ctr"/>
                      <a:r>
                        <a:rPr lang="en-US" altLang="zh-CN" dirty="0" smtClean="0">
                          <a:solidFill>
                            <a:schemeClr val="tx1"/>
                          </a:solidFill>
                        </a:rPr>
                        <a:t>A</a:t>
                      </a:r>
                      <a:r>
                        <a:rPr lang="en-US" altLang="zh-CN" baseline="0" dirty="0" smtClean="0">
                          <a:solidFill>
                            <a:schemeClr val="tx1"/>
                          </a:solidFill>
                        </a:rPr>
                        <a:t>    B    C</a:t>
                      </a:r>
                      <a:endParaRPr lang="zh-CN" altLang="en-US"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aseline="0" dirty="0" smtClean="0">
                          <a:solidFill>
                            <a:schemeClr val="tx1"/>
                          </a:solidFill>
                        </a:rPr>
                        <a:t>Y</a:t>
                      </a:r>
                      <a:endParaRPr lang="zh-CN" altLang="en-US"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70840">
                <a:tc>
                  <a:txBody>
                    <a:bodyPr/>
                    <a:lstStyle/>
                    <a:p>
                      <a:pPr algn="ctr"/>
                      <a:r>
                        <a:rPr lang="en-US" altLang="zh-CN" dirty="0" smtClean="0">
                          <a:solidFill>
                            <a:schemeClr val="tx1"/>
                          </a:solidFill>
                        </a:rPr>
                        <a:t>0    0    0</a:t>
                      </a:r>
                    </a:p>
                    <a:p>
                      <a:pPr algn="ctr"/>
                      <a:r>
                        <a:rPr lang="en-US" altLang="zh-CN" dirty="0" smtClean="0">
                          <a:solidFill>
                            <a:schemeClr val="tx1"/>
                          </a:solidFill>
                        </a:rPr>
                        <a:t>0    0    1</a:t>
                      </a:r>
                    </a:p>
                    <a:p>
                      <a:pPr algn="ctr"/>
                      <a:r>
                        <a:rPr lang="en-US" altLang="zh-CN" dirty="0" smtClean="0">
                          <a:solidFill>
                            <a:schemeClr val="tx1"/>
                          </a:solidFill>
                        </a:rPr>
                        <a:t>0    1    0</a:t>
                      </a:r>
                    </a:p>
                    <a:p>
                      <a:pPr algn="ctr"/>
                      <a:r>
                        <a:rPr lang="en-US" altLang="zh-CN" dirty="0" smtClean="0">
                          <a:solidFill>
                            <a:schemeClr val="tx1"/>
                          </a:solidFill>
                        </a:rPr>
                        <a:t>0    1    1</a:t>
                      </a:r>
                    </a:p>
                    <a:p>
                      <a:pPr marL="342900" indent="-342900" algn="ctr">
                        <a:buAutoNum type="arabicPlain"/>
                      </a:pPr>
                      <a:r>
                        <a:rPr lang="en-US" altLang="zh-CN" dirty="0" smtClean="0">
                          <a:solidFill>
                            <a:schemeClr val="tx1"/>
                          </a:solidFill>
                        </a:rPr>
                        <a:t> 0    0</a:t>
                      </a:r>
                    </a:p>
                    <a:p>
                      <a:pPr marL="342900" indent="-342900" algn="ctr">
                        <a:buFontTx/>
                        <a:buNone/>
                      </a:pPr>
                      <a:r>
                        <a:rPr lang="en-US" altLang="zh-CN" baseline="0" dirty="0" smtClean="0">
                          <a:solidFill>
                            <a:schemeClr val="tx1"/>
                          </a:solidFill>
                        </a:rPr>
                        <a:t>1    0    1</a:t>
                      </a:r>
                    </a:p>
                    <a:p>
                      <a:pPr marL="342900" indent="-342900" algn="ctr">
                        <a:buAutoNum type="arabicPlain"/>
                      </a:pPr>
                      <a:r>
                        <a:rPr lang="en-US" altLang="zh-CN" dirty="0" smtClean="0">
                          <a:solidFill>
                            <a:schemeClr val="tx1"/>
                          </a:solidFill>
                        </a:rPr>
                        <a:t> 1    0</a:t>
                      </a:r>
                    </a:p>
                    <a:p>
                      <a:pPr marL="342900" indent="-342900" algn="ctr">
                        <a:buNone/>
                      </a:pPr>
                      <a:r>
                        <a:rPr lang="en-US" altLang="zh-CN" dirty="0" smtClean="0">
                          <a:solidFill>
                            <a:schemeClr val="tx1"/>
                          </a:solidFill>
                        </a:rPr>
                        <a:t>1    1    1   </a:t>
                      </a:r>
                      <a:endParaRPr lang="zh-CN" altLang="en-US"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smtClean="0">
                          <a:solidFill>
                            <a:schemeClr val="tx1"/>
                          </a:solidFill>
                        </a:rPr>
                        <a:t>0</a:t>
                      </a:r>
                    </a:p>
                    <a:p>
                      <a:pPr algn="ctr"/>
                      <a:r>
                        <a:rPr lang="en-US" altLang="zh-CN" dirty="0" smtClean="0">
                          <a:solidFill>
                            <a:schemeClr val="tx1"/>
                          </a:solidFill>
                        </a:rPr>
                        <a:t>0</a:t>
                      </a:r>
                    </a:p>
                    <a:p>
                      <a:pPr algn="ctr"/>
                      <a:r>
                        <a:rPr lang="en-US" altLang="zh-CN" dirty="0" smtClean="0">
                          <a:solidFill>
                            <a:schemeClr val="tx1"/>
                          </a:solidFill>
                        </a:rPr>
                        <a:t>0</a:t>
                      </a:r>
                    </a:p>
                    <a:p>
                      <a:pPr algn="ctr"/>
                      <a:r>
                        <a:rPr lang="en-US" altLang="zh-CN" dirty="0" smtClean="0">
                          <a:solidFill>
                            <a:schemeClr val="tx1"/>
                          </a:solidFill>
                        </a:rPr>
                        <a:t>1</a:t>
                      </a:r>
                    </a:p>
                    <a:p>
                      <a:pPr algn="ctr"/>
                      <a:r>
                        <a:rPr lang="en-US" altLang="zh-CN" dirty="0" smtClean="0">
                          <a:solidFill>
                            <a:schemeClr val="tx1"/>
                          </a:solidFill>
                        </a:rPr>
                        <a:t>0</a:t>
                      </a:r>
                    </a:p>
                    <a:p>
                      <a:pPr algn="ctr"/>
                      <a:r>
                        <a:rPr lang="en-US" altLang="zh-CN" dirty="0" smtClean="0">
                          <a:solidFill>
                            <a:schemeClr val="tx1"/>
                          </a:solidFill>
                        </a:rPr>
                        <a:t>1</a:t>
                      </a:r>
                    </a:p>
                    <a:p>
                      <a:pPr algn="ctr"/>
                      <a:r>
                        <a:rPr lang="en-US" altLang="zh-CN" dirty="0" smtClean="0">
                          <a:solidFill>
                            <a:schemeClr val="tx1"/>
                          </a:solidFill>
                        </a:rPr>
                        <a:t>1</a:t>
                      </a:r>
                    </a:p>
                    <a:p>
                      <a:pPr algn="ctr"/>
                      <a:r>
                        <a:rPr lang="en-US" altLang="zh-CN" dirty="0" smtClean="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pic>
        <p:nvPicPr>
          <p:cNvPr id="486402" name="Picture 2"/>
          <p:cNvPicPr>
            <a:picLocks noChangeAspect="1" noChangeArrowheads="1"/>
          </p:cNvPicPr>
          <p:nvPr/>
        </p:nvPicPr>
        <p:blipFill>
          <a:blip r:embed="rId3" cstate="print"/>
          <a:srcRect/>
          <a:stretch>
            <a:fillRect/>
          </a:stretch>
        </p:blipFill>
        <p:spPr bwMode="auto">
          <a:xfrm>
            <a:off x="1763688" y="4725144"/>
            <a:ext cx="3121918" cy="1552239"/>
          </a:xfrm>
          <a:prstGeom prst="rect">
            <a:avLst/>
          </a:prstGeom>
          <a:noFill/>
          <a:ln w="9525">
            <a:noFill/>
            <a:miter lim="800000"/>
            <a:headEnd/>
            <a:tailEnd/>
          </a:ln>
        </p:spPr>
      </p:pic>
      <p:graphicFrame>
        <p:nvGraphicFramePr>
          <p:cNvPr id="486403" name="Object 3"/>
          <p:cNvGraphicFramePr>
            <a:graphicFrameLocks noChangeAspect="1"/>
          </p:cNvGraphicFramePr>
          <p:nvPr/>
        </p:nvGraphicFramePr>
        <p:xfrm>
          <a:off x="1691680" y="4077072"/>
          <a:ext cx="2736304" cy="399044"/>
        </p:xfrm>
        <a:graphic>
          <a:graphicData uri="http://schemas.openxmlformats.org/presentationml/2006/ole">
            <p:oleObj spid="_x0000_s486403" r:id="rId4" imgW="1218960" imgH="177480" progId="">
              <p:embed/>
            </p:oleObj>
          </a:graphicData>
        </a:graphic>
      </p:graphicFrame>
    </p:spTree>
    <p:extLst>
      <p:ext uri="{BB962C8B-B14F-4D97-AF65-F5344CB8AC3E}">
        <p14:creationId xmlns:p14="http://schemas.microsoft.com/office/powerpoint/2010/main" xmlns="" val="339569236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20688"/>
            <a:ext cx="7689030" cy="638944"/>
          </a:xfrm>
        </p:spPr>
        <p:txBody>
          <a:bodyPr/>
          <a:lstStyle/>
          <a:p>
            <a:r>
              <a:rPr lang="en-US" altLang="zh-CN" dirty="0" smtClean="0"/>
              <a:t>4.2 </a:t>
            </a:r>
            <a:r>
              <a:rPr lang="zh-CN" altLang="en-US" dirty="0" smtClean="0"/>
              <a:t>组合逻辑电路设计</a:t>
            </a:r>
            <a:endParaRPr lang="zh-CN" altLang="en-US" dirty="0"/>
          </a:p>
        </p:txBody>
      </p:sp>
      <p:sp>
        <p:nvSpPr>
          <p:cNvPr id="3" name="内容占位符 2"/>
          <p:cNvSpPr>
            <a:spLocks noGrp="1"/>
          </p:cNvSpPr>
          <p:nvPr>
            <p:ph idx="1"/>
          </p:nvPr>
        </p:nvSpPr>
        <p:spPr>
          <a:xfrm>
            <a:off x="539552" y="1542208"/>
            <a:ext cx="8415536" cy="4911128"/>
          </a:xfrm>
        </p:spPr>
        <p:txBody>
          <a:bodyPr/>
          <a:lstStyle/>
          <a:p>
            <a:pPr>
              <a:buSzPct val="100000"/>
              <a:buFont typeface="Wingdings" pitchFamily="2" charset="2"/>
              <a:buChar char="p"/>
            </a:pPr>
            <a:r>
              <a:rPr lang="zh-CN" altLang="en-US" sz="2800" dirty="0" smtClean="0">
                <a:solidFill>
                  <a:srgbClr val="0000CC"/>
                </a:solidFill>
              </a:rPr>
              <a:t>例</a:t>
            </a:r>
            <a:r>
              <a:rPr lang="en-US" altLang="zh-CN" sz="2800" dirty="0" smtClean="0">
                <a:solidFill>
                  <a:srgbClr val="0000CC"/>
                </a:solidFill>
              </a:rPr>
              <a:t>4.2 </a:t>
            </a:r>
            <a:r>
              <a:rPr lang="zh-CN" altLang="en-US" sz="2800" dirty="0" smtClean="0">
                <a:solidFill>
                  <a:srgbClr val="0000CC"/>
                </a:solidFill>
              </a:rPr>
              <a:t>解：</a:t>
            </a:r>
            <a:endParaRPr lang="en-US" altLang="zh-CN" sz="2800" dirty="0" smtClean="0">
              <a:solidFill>
                <a:srgbClr val="0000CC"/>
              </a:solidFill>
            </a:endParaRPr>
          </a:p>
          <a:p>
            <a:pPr>
              <a:buSzPct val="100000"/>
              <a:buNone/>
            </a:pPr>
            <a:r>
              <a:rPr lang="en-US" altLang="zh-CN" sz="2800" dirty="0" smtClean="0">
                <a:solidFill>
                  <a:srgbClr val="0000CC"/>
                </a:solidFill>
              </a:rPr>
              <a:t>  </a:t>
            </a:r>
            <a:r>
              <a:rPr lang="zh-CN" altLang="en-US" sz="2800" dirty="0" smtClean="0"/>
              <a:t>（</a:t>
            </a:r>
            <a:r>
              <a:rPr lang="en-US" altLang="zh-CN" sz="2800" dirty="0" smtClean="0"/>
              <a:t>4</a:t>
            </a:r>
            <a:r>
              <a:rPr lang="zh-CN" altLang="en-US" sz="2800" dirty="0" smtClean="0"/>
              <a:t>）画出逻辑图，如图</a:t>
            </a:r>
            <a:r>
              <a:rPr lang="en-US" altLang="zh-CN" sz="2800" dirty="0" smtClean="0"/>
              <a:t>4.4</a:t>
            </a:r>
            <a:r>
              <a:rPr lang="zh-CN" altLang="en-US" sz="2800" dirty="0" smtClean="0"/>
              <a:t>所示。</a:t>
            </a:r>
            <a:endParaRPr lang="en-US" altLang="zh-CN" sz="2800" dirty="0" smtClean="0"/>
          </a:p>
          <a:p>
            <a:pPr>
              <a:buSzPct val="100000"/>
              <a:buNone/>
            </a:pPr>
            <a:endParaRPr lang="en-US" altLang="zh-CN" sz="2800" dirty="0" smtClean="0"/>
          </a:p>
          <a:p>
            <a:pPr>
              <a:buSzPct val="100000"/>
              <a:buNone/>
            </a:pPr>
            <a:r>
              <a:rPr lang="en-US" altLang="zh-CN" sz="2800" dirty="0" smtClean="0"/>
              <a:t>    </a:t>
            </a:r>
            <a:r>
              <a:rPr lang="zh-CN" altLang="en-US" sz="2800" dirty="0" smtClean="0"/>
              <a:t>也可用与非门实现，</a:t>
            </a:r>
            <a:endParaRPr lang="en-US" altLang="zh-CN" sz="2800" dirty="0" smtClean="0"/>
          </a:p>
          <a:p>
            <a:pPr>
              <a:buSzPct val="100000"/>
              <a:buNone/>
            </a:pPr>
            <a:r>
              <a:rPr lang="en-US" altLang="zh-CN" sz="2800" dirty="0" smtClean="0"/>
              <a:t>     </a:t>
            </a:r>
            <a:r>
              <a:rPr lang="zh-CN" altLang="en-US" sz="2800" dirty="0" smtClean="0"/>
              <a:t>如图</a:t>
            </a:r>
            <a:r>
              <a:rPr lang="en-US" altLang="zh-CN" sz="2800" dirty="0" smtClean="0"/>
              <a:t>4.5</a:t>
            </a:r>
            <a:r>
              <a:rPr lang="zh-CN" altLang="en-US" sz="2800" dirty="0" smtClean="0"/>
              <a:t>所示。</a:t>
            </a:r>
            <a:endParaRPr lang="en-US" altLang="zh-CN" sz="2800" dirty="0" smtClean="0"/>
          </a:p>
          <a:p>
            <a:pPr>
              <a:buSzPct val="100000"/>
              <a:buNone/>
            </a:pPr>
            <a:r>
              <a:rPr lang="en-US" altLang="zh-CN" sz="2800" dirty="0" smtClean="0"/>
              <a:t>       </a:t>
            </a:r>
          </a:p>
          <a:p>
            <a:pPr>
              <a:buSzPct val="100000"/>
              <a:buNone/>
            </a:pPr>
            <a:r>
              <a:rPr lang="en-US" altLang="zh-CN" sz="2800" dirty="0" smtClean="0"/>
              <a:t>           </a:t>
            </a:r>
            <a:endParaRPr lang="zh-CN" altLang="en-US" sz="2800"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30</a:t>
            </a:fld>
            <a:endParaRPr lang="zh-CN" altLang="en-US"/>
          </a:p>
        </p:txBody>
      </p:sp>
      <p:graphicFrame>
        <p:nvGraphicFramePr>
          <p:cNvPr id="486403" name="Object 3"/>
          <p:cNvGraphicFramePr>
            <a:graphicFrameLocks noChangeAspect="1"/>
          </p:cNvGraphicFramePr>
          <p:nvPr/>
        </p:nvGraphicFramePr>
        <p:xfrm>
          <a:off x="1691680" y="2564904"/>
          <a:ext cx="2736304" cy="399044"/>
        </p:xfrm>
        <a:graphic>
          <a:graphicData uri="http://schemas.openxmlformats.org/presentationml/2006/ole">
            <p:oleObj spid="_x0000_s487426" r:id="rId3" imgW="1218960" imgH="177480" progId="">
              <p:embed/>
            </p:oleObj>
          </a:graphicData>
        </a:graphic>
      </p:graphicFrame>
      <p:pic>
        <p:nvPicPr>
          <p:cNvPr id="487427" name="Picture 3"/>
          <p:cNvPicPr>
            <a:picLocks noChangeAspect="1" noChangeArrowheads="1"/>
          </p:cNvPicPr>
          <p:nvPr/>
        </p:nvPicPr>
        <p:blipFill>
          <a:blip r:embed="rId4" cstate="print"/>
          <a:srcRect/>
          <a:stretch>
            <a:fillRect/>
          </a:stretch>
        </p:blipFill>
        <p:spPr bwMode="auto">
          <a:xfrm>
            <a:off x="6262812" y="1412776"/>
            <a:ext cx="2881188" cy="1944216"/>
          </a:xfrm>
          <a:prstGeom prst="rect">
            <a:avLst/>
          </a:prstGeom>
          <a:noFill/>
          <a:ln w="9525">
            <a:noFill/>
            <a:miter lim="800000"/>
            <a:headEnd/>
            <a:tailEnd/>
          </a:ln>
        </p:spPr>
      </p:pic>
      <p:pic>
        <p:nvPicPr>
          <p:cNvPr id="487428" name="Picture 4"/>
          <p:cNvPicPr>
            <a:picLocks noChangeAspect="1" noChangeArrowheads="1"/>
          </p:cNvPicPr>
          <p:nvPr/>
        </p:nvPicPr>
        <p:blipFill>
          <a:blip r:embed="rId5" cstate="print"/>
          <a:srcRect/>
          <a:stretch>
            <a:fillRect/>
          </a:stretch>
        </p:blipFill>
        <p:spPr bwMode="auto">
          <a:xfrm>
            <a:off x="4283968" y="3861048"/>
            <a:ext cx="4553598" cy="2160240"/>
          </a:xfrm>
          <a:prstGeom prst="rect">
            <a:avLst/>
          </a:prstGeom>
          <a:noFill/>
          <a:ln w="9525">
            <a:noFill/>
            <a:miter lim="800000"/>
            <a:headEnd/>
            <a:tailEnd/>
          </a:ln>
        </p:spPr>
      </p:pic>
      <p:graphicFrame>
        <p:nvGraphicFramePr>
          <p:cNvPr id="487429" name="Object 5"/>
          <p:cNvGraphicFramePr>
            <a:graphicFrameLocks noChangeAspect="1"/>
          </p:cNvGraphicFramePr>
          <p:nvPr/>
        </p:nvGraphicFramePr>
        <p:xfrm>
          <a:off x="1259632" y="4149080"/>
          <a:ext cx="2732956" cy="1080120"/>
        </p:xfrm>
        <a:graphic>
          <a:graphicData uri="http://schemas.openxmlformats.org/presentationml/2006/ole">
            <p:oleObj spid="_x0000_s487429" r:id="rId6" imgW="1231560" imgH="482400" progId="">
              <p:embed/>
            </p:oleObj>
          </a:graphicData>
        </a:graphic>
      </p:graphicFrame>
    </p:spTree>
    <p:extLst>
      <p:ext uri="{BB962C8B-B14F-4D97-AF65-F5344CB8AC3E}">
        <p14:creationId xmlns:p14="http://schemas.microsoft.com/office/powerpoint/2010/main" xmlns="" val="339569236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20688"/>
            <a:ext cx="7689030" cy="638944"/>
          </a:xfrm>
        </p:spPr>
        <p:txBody>
          <a:bodyPr/>
          <a:lstStyle/>
          <a:p>
            <a:r>
              <a:rPr lang="en-US" altLang="zh-CN" dirty="0" smtClean="0"/>
              <a:t>4.2 </a:t>
            </a:r>
            <a:r>
              <a:rPr lang="zh-CN" altLang="en-US" dirty="0" smtClean="0"/>
              <a:t>组合逻辑电路设计</a:t>
            </a:r>
            <a:endParaRPr lang="zh-CN" altLang="en-US" dirty="0"/>
          </a:p>
        </p:txBody>
      </p:sp>
      <p:sp>
        <p:nvSpPr>
          <p:cNvPr id="3" name="内容占位符 2"/>
          <p:cNvSpPr>
            <a:spLocks noGrp="1"/>
          </p:cNvSpPr>
          <p:nvPr>
            <p:ph idx="1"/>
          </p:nvPr>
        </p:nvSpPr>
        <p:spPr>
          <a:xfrm>
            <a:off x="467544" y="1542208"/>
            <a:ext cx="8487544" cy="4911128"/>
          </a:xfrm>
        </p:spPr>
        <p:txBody>
          <a:bodyPr/>
          <a:lstStyle/>
          <a:p>
            <a:pPr>
              <a:buSzPct val="100000"/>
              <a:buFont typeface="Wingdings" pitchFamily="2" charset="2"/>
              <a:buChar char="p"/>
            </a:pPr>
            <a:r>
              <a:rPr lang="zh-CN" altLang="en-US" sz="2800" dirty="0" smtClean="0">
                <a:solidFill>
                  <a:srgbClr val="0000CC"/>
                </a:solidFill>
              </a:rPr>
              <a:t>例</a:t>
            </a:r>
            <a:r>
              <a:rPr lang="en-US" altLang="zh-CN" sz="2800" dirty="0" smtClean="0">
                <a:solidFill>
                  <a:srgbClr val="0000CC"/>
                </a:solidFill>
              </a:rPr>
              <a:t>4.3 </a:t>
            </a:r>
            <a:r>
              <a:rPr lang="zh-CN" altLang="en-US" sz="2800" dirty="0" smtClean="0"/>
              <a:t>设计</a:t>
            </a:r>
            <a:r>
              <a:rPr lang="zh-CN" altLang="en-US" sz="2800" dirty="0"/>
              <a:t>一个监视交通信号灯工作状态的逻辑电路</a:t>
            </a:r>
            <a:r>
              <a:rPr lang="zh-CN" altLang="en-US" sz="2800" dirty="0" smtClean="0"/>
              <a:t>。每组信号灯由红</a:t>
            </a:r>
            <a:r>
              <a:rPr lang="en-US" altLang="zh-CN" sz="2800" dirty="0" smtClean="0"/>
              <a:t>(</a:t>
            </a:r>
            <a:r>
              <a:rPr lang="en-US" altLang="zh-CN" sz="2800" i="1" dirty="0" smtClean="0"/>
              <a:t>R</a:t>
            </a:r>
            <a:r>
              <a:rPr lang="en-US" altLang="zh-CN" sz="2800" dirty="0" smtClean="0"/>
              <a:t>)</a:t>
            </a:r>
            <a:r>
              <a:rPr lang="zh-CN" altLang="en-US" sz="2800" dirty="0" smtClean="0"/>
              <a:t>、黄</a:t>
            </a:r>
            <a:r>
              <a:rPr lang="en-US" altLang="zh-CN" sz="2800" dirty="0" smtClean="0"/>
              <a:t>(</a:t>
            </a:r>
            <a:r>
              <a:rPr lang="en-US" altLang="zh-CN" sz="2800" i="1" dirty="0" smtClean="0"/>
              <a:t>Y</a:t>
            </a:r>
            <a:r>
              <a:rPr lang="en-US" altLang="zh-CN" sz="2800" dirty="0" smtClean="0"/>
              <a:t>)</a:t>
            </a:r>
            <a:r>
              <a:rPr lang="zh-CN" altLang="en-US" sz="2800" dirty="0" smtClean="0"/>
              <a:t>、绿 </a:t>
            </a:r>
            <a:r>
              <a:rPr lang="en-US" altLang="zh-CN" sz="2800" dirty="0" smtClean="0"/>
              <a:t>(</a:t>
            </a:r>
            <a:r>
              <a:rPr lang="en-US" altLang="zh-CN" sz="2800" i="1" dirty="0" smtClean="0"/>
              <a:t>G</a:t>
            </a:r>
            <a:r>
              <a:rPr lang="en-US" altLang="zh-CN" sz="2800" dirty="0" smtClean="0"/>
              <a:t>)</a:t>
            </a:r>
            <a:r>
              <a:rPr lang="zh-CN" altLang="en-US" sz="2800" dirty="0" smtClean="0"/>
              <a:t>三盏信号灯组成。信号灯正常</a:t>
            </a:r>
            <a:r>
              <a:rPr lang="zh-CN" altLang="en-US" sz="2800" dirty="0"/>
              <a:t>工作情况下，必有一盏而且只能一盏灯点亮。其它</a:t>
            </a:r>
            <a:r>
              <a:rPr lang="zh-CN" altLang="en-US" sz="2800" dirty="0" smtClean="0"/>
              <a:t>情况</a:t>
            </a:r>
            <a:r>
              <a:rPr lang="zh-CN" altLang="en-US" sz="2800" dirty="0"/>
              <a:t>都是故障，要发出故障信号。</a:t>
            </a:r>
          </a:p>
        </p:txBody>
      </p:sp>
      <p:sp>
        <p:nvSpPr>
          <p:cNvPr id="4" name="矩形 3"/>
          <p:cNvSpPr/>
          <p:nvPr/>
        </p:nvSpPr>
        <p:spPr>
          <a:xfrm>
            <a:off x="3110702" y="6021288"/>
            <a:ext cx="2795958" cy="369332"/>
          </a:xfrm>
          <a:prstGeom prst="rect">
            <a:avLst/>
          </a:prstGeom>
        </p:spPr>
        <p:txBody>
          <a:bodyPr wrap="none">
            <a:spAutoFit/>
          </a:bodyPr>
          <a:lstStyle/>
          <a:p>
            <a:r>
              <a:rPr lang="zh-CN" altLang="en-US" b="1" dirty="0" smtClean="0"/>
              <a:t>图</a:t>
            </a:r>
            <a:r>
              <a:rPr lang="en-US" altLang="zh-CN" b="1" dirty="0" smtClean="0"/>
              <a:t> </a:t>
            </a:r>
            <a:r>
              <a:rPr lang="zh-CN" altLang="en-US" b="1" dirty="0" smtClean="0"/>
              <a:t>交通信号灯</a:t>
            </a:r>
            <a:r>
              <a:rPr lang="zh-CN" altLang="en-US" b="1" dirty="0"/>
              <a:t>监视示意图</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31</a:t>
            </a:fld>
            <a:endParaRPr lang="zh-CN" altLang="en-US"/>
          </a:p>
        </p:txBody>
      </p:sp>
      <p:pic>
        <p:nvPicPr>
          <p:cNvPr id="126977" name="Picture 1"/>
          <p:cNvPicPr>
            <a:picLocks noChangeAspect="1" noChangeArrowheads="1"/>
          </p:cNvPicPr>
          <p:nvPr/>
        </p:nvPicPr>
        <p:blipFill>
          <a:blip r:embed="rId2" cstate="print"/>
          <a:srcRect/>
          <a:stretch>
            <a:fillRect/>
          </a:stretch>
        </p:blipFill>
        <p:spPr bwMode="auto">
          <a:xfrm>
            <a:off x="2339752" y="3645024"/>
            <a:ext cx="5095875" cy="2276475"/>
          </a:xfrm>
          <a:prstGeom prst="rect">
            <a:avLst/>
          </a:prstGeom>
          <a:noFill/>
          <a:ln w="9525">
            <a:noFill/>
            <a:miter lim="800000"/>
            <a:headEnd/>
            <a:tailEnd/>
          </a:ln>
        </p:spPr>
      </p:pic>
    </p:spTree>
    <p:extLst>
      <p:ext uri="{BB962C8B-B14F-4D97-AF65-F5344CB8AC3E}">
        <p14:creationId xmlns:p14="http://schemas.microsoft.com/office/powerpoint/2010/main" xmlns="" val="339569236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20688"/>
            <a:ext cx="7617022" cy="638944"/>
          </a:xfrm>
        </p:spPr>
        <p:txBody>
          <a:bodyPr/>
          <a:lstStyle/>
          <a:p>
            <a:r>
              <a:rPr lang="en-US" altLang="zh-CN" dirty="0" smtClean="0"/>
              <a:t>4.2 </a:t>
            </a:r>
            <a:r>
              <a:rPr lang="zh-CN" altLang="en-US" dirty="0" smtClean="0"/>
              <a:t>组合逻辑电路设计</a:t>
            </a:r>
            <a:endParaRPr lang="zh-CN" altLang="en-US" dirty="0"/>
          </a:p>
        </p:txBody>
      </p:sp>
      <p:sp>
        <p:nvSpPr>
          <p:cNvPr id="3" name="内容占位符 2"/>
          <p:cNvSpPr>
            <a:spLocks noGrp="1"/>
          </p:cNvSpPr>
          <p:nvPr>
            <p:ph idx="1"/>
          </p:nvPr>
        </p:nvSpPr>
        <p:spPr>
          <a:xfrm>
            <a:off x="539552" y="1556792"/>
            <a:ext cx="8280920" cy="4896544"/>
          </a:xfrm>
        </p:spPr>
        <p:txBody>
          <a:bodyPr/>
          <a:lstStyle/>
          <a:p>
            <a:pPr>
              <a:lnSpc>
                <a:spcPct val="100000"/>
              </a:lnSpc>
              <a:spcBef>
                <a:spcPts val="600"/>
              </a:spcBef>
              <a:buSzPct val="100000"/>
              <a:buFont typeface="Wingdings" pitchFamily="2" charset="2"/>
              <a:buChar char="p"/>
            </a:pPr>
            <a:r>
              <a:rPr lang="zh-CN" altLang="en-US" sz="2800" dirty="0">
                <a:solidFill>
                  <a:srgbClr val="0000CC"/>
                </a:solidFill>
              </a:rPr>
              <a:t>解</a:t>
            </a:r>
            <a:r>
              <a:rPr lang="zh-CN" altLang="en-US" sz="2800" dirty="0" smtClean="0"/>
              <a:t>：</a:t>
            </a:r>
            <a:endParaRPr lang="en-US" altLang="zh-CN" sz="2800" dirty="0" smtClean="0"/>
          </a:p>
          <a:p>
            <a:pPr marL="0" indent="0">
              <a:lnSpc>
                <a:spcPct val="100000"/>
              </a:lnSpc>
              <a:spcBef>
                <a:spcPts val="600"/>
              </a:spcBef>
              <a:buNone/>
            </a:pPr>
            <a:r>
              <a:rPr lang="zh-CN" altLang="en-US" dirty="0" smtClean="0"/>
              <a:t>（</a:t>
            </a:r>
            <a:r>
              <a:rPr lang="en-US" altLang="zh-CN" dirty="0" smtClean="0"/>
              <a:t>1</a:t>
            </a:r>
            <a:r>
              <a:rPr lang="zh-CN" altLang="en-US" dirty="0"/>
              <a:t>）进行逻辑抽象。</a:t>
            </a:r>
          </a:p>
          <a:p>
            <a:pPr marL="457200" lvl="1" indent="0">
              <a:lnSpc>
                <a:spcPct val="100000"/>
              </a:lnSpc>
              <a:spcBef>
                <a:spcPts val="600"/>
              </a:spcBef>
              <a:buNone/>
            </a:pPr>
            <a:r>
              <a:rPr lang="zh-CN" altLang="en-US" dirty="0"/>
              <a:t>① 定义红、黄、绿三盏灯的状态为输入，</a:t>
            </a:r>
            <a:r>
              <a:rPr lang="zh-CN" altLang="en-US" dirty="0" smtClean="0"/>
              <a:t>分别用</a:t>
            </a:r>
            <a:r>
              <a:rPr lang="en-US" altLang="zh-CN" i="1" dirty="0" smtClean="0"/>
              <a:t>R</a:t>
            </a:r>
            <a:r>
              <a:rPr lang="zh-CN" altLang="en-US" dirty="0" smtClean="0"/>
              <a:t>、</a:t>
            </a:r>
            <a:r>
              <a:rPr lang="en-US" altLang="zh-CN" i="1" dirty="0" smtClean="0"/>
              <a:t>Y</a:t>
            </a:r>
            <a:r>
              <a:rPr lang="zh-CN" altLang="en-US" dirty="0" smtClean="0"/>
              <a:t>、</a:t>
            </a:r>
            <a:r>
              <a:rPr lang="en-US" altLang="zh-CN" i="1" dirty="0" smtClean="0"/>
              <a:t>G</a:t>
            </a:r>
            <a:r>
              <a:rPr lang="zh-CN" altLang="en-US" dirty="0" smtClean="0"/>
              <a:t>表示，故障信号</a:t>
            </a:r>
            <a:r>
              <a:rPr lang="zh-CN" altLang="en-US" dirty="0"/>
              <a:t>为输出，定义为</a:t>
            </a:r>
            <a:r>
              <a:rPr lang="zh-CN" altLang="en-US" dirty="0" smtClean="0"/>
              <a:t>信号</a:t>
            </a:r>
            <a:r>
              <a:rPr lang="en-US" altLang="zh-CN" i="1" dirty="0" smtClean="0"/>
              <a:t>F</a:t>
            </a:r>
            <a:r>
              <a:rPr lang="zh-CN" altLang="en-US" dirty="0" smtClean="0"/>
              <a:t>。</a:t>
            </a:r>
            <a:endParaRPr lang="zh-CN" altLang="en-US" dirty="0"/>
          </a:p>
          <a:p>
            <a:pPr marL="457200" lvl="1" indent="0">
              <a:lnSpc>
                <a:spcPct val="100000"/>
              </a:lnSpc>
              <a:spcBef>
                <a:spcPts val="600"/>
              </a:spcBef>
              <a:buNone/>
            </a:pPr>
            <a:r>
              <a:rPr lang="zh-CN" altLang="en-US" dirty="0" smtClean="0"/>
              <a:t>② 信号灯灯亮为</a:t>
            </a:r>
            <a:r>
              <a:rPr lang="en-US" altLang="zh-CN" dirty="0" smtClean="0"/>
              <a:t>1</a:t>
            </a:r>
            <a:r>
              <a:rPr lang="zh-CN" altLang="en-US" dirty="0" smtClean="0"/>
              <a:t>，灯灭为</a:t>
            </a:r>
            <a:r>
              <a:rPr lang="en-US" altLang="zh-CN" dirty="0" smtClean="0"/>
              <a:t>0</a:t>
            </a:r>
            <a:r>
              <a:rPr lang="zh-CN" altLang="en-US" dirty="0" smtClean="0"/>
              <a:t>。</a:t>
            </a:r>
            <a:endParaRPr lang="en-US" altLang="zh-CN" dirty="0" smtClean="0"/>
          </a:p>
          <a:p>
            <a:pPr marL="457200" lvl="1" indent="0">
              <a:lnSpc>
                <a:spcPct val="100000"/>
              </a:lnSpc>
              <a:spcBef>
                <a:spcPts val="600"/>
              </a:spcBef>
              <a:buNone/>
            </a:pPr>
            <a:r>
              <a:rPr lang="en-US" altLang="zh-CN" dirty="0" smtClean="0"/>
              <a:t>    </a:t>
            </a:r>
            <a:r>
              <a:rPr lang="zh-CN" altLang="en-US" dirty="0" smtClean="0"/>
              <a:t>故障信号：</a:t>
            </a:r>
            <a:endParaRPr lang="en-US" altLang="zh-CN" dirty="0" smtClean="0"/>
          </a:p>
          <a:p>
            <a:pPr marL="457200" lvl="1" indent="0">
              <a:lnSpc>
                <a:spcPct val="100000"/>
              </a:lnSpc>
              <a:spcBef>
                <a:spcPts val="600"/>
              </a:spcBef>
              <a:buNone/>
            </a:pPr>
            <a:r>
              <a:rPr lang="en-US" altLang="zh-CN" dirty="0" smtClean="0"/>
              <a:t>        </a:t>
            </a:r>
            <a:r>
              <a:rPr lang="en-US" altLang="zh-CN" i="1" dirty="0" smtClean="0"/>
              <a:t>F</a:t>
            </a:r>
            <a:r>
              <a:rPr lang="en-US" altLang="zh-CN" dirty="0" smtClean="0"/>
              <a:t>=1</a:t>
            </a:r>
            <a:r>
              <a:rPr lang="zh-CN" altLang="en-US" dirty="0" smtClean="0"/>
              <a:t>表示有故障，</a:t>
            </a:r>
            <a:endParaRPr lang="en-US" altLang="zh-CN" dirty="0" smtClean="0"/>
          </a:p>
          <a:p>
            <a:pPr marL="457200" lvl="1" indent="0">
              <a:lnSpc>
                <a:spcPct val="100000"/>
              </a:lnSpc>
              <a:spcBef>
                <a:spcPts val="600"/>
              </a:spcBef>
              <a:buNone/>
            </a:pPr>
            <a:r>
              <a:rPr lang="en-US" altLang="zh-CN" i="1" dirty="0" smtClean="0"/>
              <a:t>       F</a:t>
            </a:r>
            <a:r>
              <a:rPr lang="en-US" altLang="zh-CN" dirty="0" smtClean="0"/>
              <a:t>=0</a:t>
            </a:r>
            <a:r>
              <a:rPr lang="zh-CN" altLang="en-US" dirty="0" smtClean="0"/>
              <a:t>表示正常工作。</a:t>
            </a:r>
            <a:endParaRPr lang="en-US" altLang="zh-CN" dirty="0" smtClean="0"/>
          </a:p>
          <a:p>
            <a:pPr marL="457200" lvl="1" indent="0">
              <a:lnSpc>
                <a:spcPct val="100000"/>
              </a:lnSpc>
              <a:spcBef>
                <a:spcPts val="600"/>
              </a:spcBef>
              <a:buNone/>
            </a:pPr>
            <a:r>
              <a:rPr lang="zh-CN" altLang="en-US" dirty="0" smtClean="0"/>
              <a:t>③列出</a:t>
            </a:r>
            <a:r>
              <a:rPr lang="zh-CN" altLang="en-US" dirty="0"/>
              <a:t>逻辑真值表：</a:t>
            </a:r>
          </a:p>
        </p:txBody>
      </p:sp>
      <p:graphicFrame>
        <p:nvGraphicFramePr>
          <p:cNvPr id="4" name="表格 3"/>
          <p:cNvGraphicFramePr>
            <a:graphicFrameLocks noGrp="1"/>
          </p:cNvGraphicFramePr>
          <p:nvPr>
            <p:extLst>
              <p:ext uri="{D42A27DB-BD31-4B8C-83A1-F6EECF244321}">
                <p14:modId xmlns:p14="http://schemas.microsoft.com/office/powerpoint/2010/main" xmlns="" val="2368558838"/>
              </p:ext>
            </p:extLst>
          </p:nvPr>
        </p:nvGraphicFramePr>
        <p:xfrm>
          <a:off x="5220072" y="3789040"/>
          <a:ext cx="2448272" cy="2656840"/>
        </p:xfrm>
        <a:graphic>
          <a:graphicData uri="http://schemas.openxmlformats.org/drawingml/2006/table">
            <a:tbl>
              <a:tblPr firstRow="1" bandRow="1">
                <a:tableStyleId>{5C22544A-7EE6-4342-B048-85BDC9FD1C3A}</a:tableStyleId>
              </a:tblPr>
              <a:tblGrid>
                <a:gridCol w="1728192">
                  <a:extLst>
                    <a:ext uri="{9D8B030D-6E8A-4147-A177-3AD203B41FA5}">
                      <a16:colId xmlns:a16="http://schemas.microsoft.com/office/drawing/2014/main" xmlns="" val="20000"/>
                    </a:ext>
                  </a:extLst>
                </a:gridCol>
                <a:gridCol w="720080">
                  <a:extLst>
                    <a:ext uri="{9D8B030D-6E8A-4147-A177-3AD203B41FA5}">
                      <a16:colId xmlns:a16="http://schemas.microsoft.com/office/drawing/2014/main" xmlns="" val="20001"/>
                    </a:ext>
                  </a:extLst>
                </a:gridCol>
              </a:tblGrid>
              <a:tr h="370840">
                <a:tc>
                  <a:txBody>
                    <a:bodyPr/>
                    <a:lstStyle/>
                    <a:p>
                      <a:pPr algn="dist"/>
                      <a:r>
                        <a:rPr lang="en-US" altLang="zh-CN" i="1" dirty="0" smtClean="0"/>
                        <a:t>RYG</a:t>
                      </a:r>
                      <a:endParaRPr lang="zh-CN" altLang="en-US" i="1"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dist"/>
                      <a:r>
                        <a:rPr lang="en-US" altLang="zh-CN" i="1" dirty="0" smtClean="0"/>
                        <a:t>F</a:t>
                      </a:r>
                      <a:endParaRPr lang="zh-CN" altLang="en-US" i="1"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0"/>
                  </a:ext>
                </a:extLst>
              </a:tr>
              <a:tr h="370840">
                <a:tc>
                  <a:txBody>
                    <a:bodyPr/>
                    <a:lstStyle/>
                    <a:p>
                      <a:pPr algn="dist"/>
                      <a:r>
                        <a:rPr lang="en-US" altLang="zh-CN" dirty="0" smtClean="0"/>
                        <a:t>000</a:t>
                      </a:r>
                    </a:p>
                    <a:p>
                      <a:pPr algn="dist"/>
                      <a:r>
                        <a:rPr lang="en-US" altLang="zh-CN" dirty="0" smtClean="0">
                          <a:solidFill>
                            <a:srgbClr val="0000CC"/>
                          </a:solidFill>
                        </a:rPr>
                        <a:t>001</a:t>
                      </a:r>
                    </a:p>
                    <a:p>
                      <a:pPr algn="dist"/>
                      <a:r>
                        <a:rPr lang="en-US" altLang="zh-CN" dirty="0" smtClean="0">
                          <a:solidFill>
                            <a:srgbClr val="0000CC"/>
                          </a:solidFill>
                        </a:rPr>
                        <a:t>010</a:t>
                      </a:r>
                    </a:p>
                    <a:p>
                      <a:pPr algn="dist"/>
                      <a:r>
                        <a:rPr lang="en-US" altLang="zh-CN" dirty="0" smtClean="0"/>
                        <a:t>011</a:t>
                      </a:r>
                    </a:p>
                    <a:p>
                      <a:pPr algn="dist"/>
                      <a:r>
                        <a:rPr lang="en-US" altLang="zh-CN" dirty="0" smtClean="0">
                          <a:solidFill>
                            <a:srgbClr val="0000CC"/>
                          </a:solidFill>
                        </a:rPr>
                        <a:t>100</a:t>
                      </a:r>
                    </a:p>
                    <a:p>
                      <a:pPr algn="dist"/>
                      <a:r>
                        <a:rPr lang="en-US" altLang="zh-CN" dirty="0" smtClean="0"/>
                        <a:t>101</a:t>
                      </a:r>
                    </a:p>
                    <a:p>
                      <a:pPr algn="dist"/>
                      <a:r>
                        <a:rPr lang="en-US" altLang="zh-CN" dirty="0" smtClean="0"/>
                        <a:t>110</a:t>
                      </a:r>
                    </a:p>
                    <a:p>
                      <a:pPr algn="dist"/>
                      <a:r>
                        <a:rPr lang="en-US" altLang="zh-CN" dirty="0" smtClean="0"/>
                        <a:t>111</a:t>
                      </a:r>
                      <a:endParaRPr lang="zh-CN" altLang="en-US"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dist"/>
                      <a:r>
                        <a:rPr lang="en-US" altLang="zh-CN" dirty="0" smtClean="0"/>
                        <a:t>1</a:t>
                      </a:r>
                    </a:p>
                    <a:p>
                      <a:pPr algn="dist"/>
                      <a:r>
                        <a:rPr lang="en-US" altLang="zh-CN" dirty="0" smtClean="0">
                          <a:solidFill>
                            <a:srgbClr val="0000CC"/>
                          </a:solidFill>
                        </a:rPr>
                        <a:t>0</a:t>
                      </a:r>
                    </a:p>
                    <a:p>
                      <a:pPr algn="dist"/>
                      <a:r>
                        <a:rPr lang="en-US" altLang="zh-CN" dirty="0" smtClean="0">
                          <a:solidFill>
                            <a:srgbClr val="0000CC"/>
                          </a:solidFill>
                        </a:rPr>
                        <a:t>0</a:t>
                      </a:r>
                    </a:p>
                    <a:p>
                      <a:pPr algn="dist"/>
                      <a:r>
                        <a:rPr lang="en-US" altLang="zh-CN" dirty="0" smtClean="0"/>
                        <a:t>1</a:t>
                      </a:r>
                    </a:p>
                    <a:p>
                      <a:pPr algn="dist"/>
                      <a:r>
                        <a:rPr lang="en-US" altLang="zh-CN" dirty="0" smtClean="0">
                          <a:solidFill>
                            <a:srgbClr val="0000CC"/>
                          </a:solidFill>
                        </a:rPr>
                        <a:t>0</a:t>
                      </a:r>
                    </a:p>
                    <a:p>
                      <a:pPr algn="dist"/>
                      <a:r>
                        <a:rPr lang="en-US" altLang="zh-CN" dirty="0" smtClean="0"/>
                        <a:t>1</a:t>
                      </a:r>
                    </a:p>
                    <a:p>
                      <a:pPr algn="dist"/>
                      <a:r>
                        <a:rPr lang="en-US" altLang="zh-CN" dirty="0" smtClean="0"/>
                        <a:t>1</a:t>
                      </a:r>
                    </a:p>
                    <a:p>
                      <a:pPr algn="dist"/>
                      <a:r>
                        <a:rPr lang="en-US" altLang="zh-CN" dirty="0" smtClean="0"/>
                        <a:t>1</a:t>
                      </a:r>
                      <a:endParaRPr lang="zh-CN" altLang="en-US"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1"/>
                  </a:ext>
                </a:extLst>
              </a:tr>
            </a:tbl>
          </a:graphicData>
        </a:graphic>
      </p:graphicFrame>
      <p:sp>
        <p:nvSpPr>
          <p:cNvPr id="5" name="灯片编号占位符 4"/>
          <p:cNvSpPr>
            <a:spLocks noGrp="1"/>
          </p:cNvSpPr>
          <p:nvPr>
            <p:ph type="sldNum" sz="quarter" idx="12"/>
          </p:nvPr>
        </p:nvSpPr>
        <p:spPr/>
        <p:txBody>
          <a:bodyPr/>
          <a:lstStyle/>
          <a:p>
            <a:fld id="{0C913308-F349-4B6D-A68A-DD1791B4A57B}" type="slidenum">
              <a:rPr lang="zh-CN" altLang="en-US" smtClean="0"/>
              <a:pPr/>
              <a:t>32</a:t>
            </a:fld>
            <a:endParaRPr lang="zh-CN" altLang="en-US"/>
          </a:p>
        </p:txBody>
      </p:sp>
    </p:spTree>
    <p:extLst>
      <p:ext uri="{BB962C8B-B14F-4D97-AF65-F5344CB8AC3E}">
        <p14:creationId xmlns:p14="http://schemas.microsoft.com/office/powerpoint/2010/main" xmlns="" val="181987509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20688"/>
            <a:ext cx="7617022" cy="638944"/>
          </a:xfrm>
        </p:spPr>
        <p:txBody>
          <a:bodyPr/>
          <a:lstStyle/>
          <a:p>
            <a:r>
              <a:rPr lang="en-US" altLang="zh-CN" dirty="0" smtClean="0"/>
              <a:t>4.2 </a:t>
            </a:r>
            <a:r>
              <a:rPr lang="zh-CN" altLang="en-US" dirty="0" smtClean="0"/>
              <a:t>组合逻辑电路设计</a:t>
            </a:r>
            <a:endParaRPr lang="zh-CN" altLang="en-US" dirty="0"/>
          </a:p>
        </p:txBody>
      </p:sp>
      <p:pic>
        <p:nvPicPr>
          <p:cNvPr id="3074" name="Picture 2" descr="E:\wrj\课件\数字电路与系统\数字电路与数字系统\tupian\4-1.jp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0" y="3356992"/>
            <a:ext cx="4207870" cy="3276000"/>
          </a:xfrm>
          <a:prstGeom prst="rect">
            <a:avLst/>
          </a:prstGeom>
          <a:noFill/>
          <a:extLst>
            <a:ext uri="{909E8E84-426E-40DD-AFC4-6F175D3DCCD1}">
              <a14:hiddenFill xmlns:a14="http://schemas.microsoft.com/office/drawing/2010/main" xmlns="">
                <a:solidFill>
                  <a:srgbClr val="FFFFFF"/>
                </a:solidFill>
              </a14:hiddenFill>
            </a:ext>
          </a:extLst>
        </p:spPr>
      </p:pic>
      <p:pic>
        <p:nvPicPr>
          <p:cNvPr id="3075" name="Picture 3" descr="E:\wrj\课件\数字电路与系统\数字电路与数字系统\tupian\4-2.jpg"/>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5222265" y="4876384"/>
            <a:ext cx="2603257" cy="1800000"/>
          </a:xfrm>
          <a:prstGeom prst="rect">
            <a:avLst/>
          </a:prstGeom>
          <a:noFill/>
          <a:extLst>
            <a:ext uri="{909E8E84-426E-40DD-AFC4-6F175D3DCCD1}">
              <a14:hiddenFill xmlns:a14="http://schemas.microsoft.com/office/drawing/2010/main" xmlns="">
                <a:solidFill>
                  <a:srgbClr val="FFFFFF"/>
                </a:solidFill>
              </a14:hiddenFill>
            </a:ext>
          </a:extLst>
        </p:spPr>
      </p:pic>
      <p:pic>
        <p:nvPicPr>
          <p:cNvPr id="3076" name="Picture 4" descr="E:\wrj\课件\数字电路与系统\数字电路与数字系统\tupian\4-3.jpg"/>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5724128" y="2492896"/>
            <a:ext cx="2685914" cy="2340000"/>
          </a:xfrm>
          <a:prstGeom prst="rect">
            <a:avLst/>
          </a:prstGeom>
          <a:noFill/>
          <a:extLst>
            <a:ext uri="{909E8E84-426E-40DD-AFC4-6F175D3DCCD1}">
              <a14:hiddenFill xmlns:a14="http://schemas.microsoft.com/office/drawing/2010/main" xmlns="">
                <a:solidFill>
                  <a:srgbClr val="FFFFFF"/>
                </a:solidFill>
              </a14:hiddenFill>
            </a:ext>
          </a:extLst>
        </p:spPr>
      </p:pic>
      <p:sp>
        <p:nvSpPr>
          <p:cNvPr id="4" name="矩形 3"/>
          <p:cNvSpPr/>
          <p:nvPr/>
        </p:nvSpPr>
        <p:spPr>
          <a:xfrm>
            <a:off x="1830054" y="2987660"/>
            <a:ext cx="3615092" cy="369332"/>
          </a:xfrm>
          <a:prstGeom prst="rect">
            <a:avLst/>
          </a:prstGeom>
        </p:spPr>
        <p:txBody>
          <a:bodyPr wrap="none">
            <a:spAutoFit/>
          </a:bodyPr>
          <a:lstStyle/>
          <a:p>
            <a:r>
              <a:rPr lang="en-US" altLang="zh-CN" b="1" dirty="0" smtClean="0"/>
              <a:t>TTL74</a:t>
            </a:r>
            <a:r>
              <a:rPr lang="zh-CN" altLang="en-US" b="1" dirty="0"/>
              <a:t>系列六反相器</a:t>
            </a:r>
            <a:r>
              <a:rPr lang="en-US" altLang="zh-CN" b="1" dirty="0"/>
              <a:t>——74XX04</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33</a:t>
            </a:fld>
            <a:endParaRPr lang="zh-CN" altLang="en-US"/>
          </a:p>
        </p:txBody>
      </p:sp>
      <p:sp>
        <p:nvSpPr>
          <p:cNvPr id="9" name="内容占位符 8"/>
          <p:cNvSpPr>
            <a:spLocks noGrp="1"/>
          </p:cNvSpPr>
          <p:nvPr>
            <p:ph idx="1"/>
          </p:nvPr>
        </p:nvSpPr>
        <p:spPr>
          <a:xfrm>
            <a:off x="755576" y="1484784"/>
            <a:ext cx="8161338" cy="4911128"/>
          </a:xfrm>
        </p:spPr>
        <p:txBody>
          <a:bodyPr/>
          <a:lstStyle/>
          <a:p>
            <a:pPr>
              <a:buNone/>
            </a:pPr>
            <a:r>
              <a:rPr lang="en-US" altLang="zh-CN" dirty="0" smtClean="0"/>
              <a:t>   </a:t>
            </a:r>
            <a:r>
              <a:rPr lang="zh-CN" altLang="en-US" dirty="0" smtClean="0"/>
              <a:t>（</a:t>
            </a:r>
            <a:r>
              <a:rPr lang="en-US" altLang="zh-CN" dirty="0" smtClean="0"/>
              <a:t>2</a:t>
            </a:r>
            <a:r>
              <a:rPr lang="zh-CN" altLang="en-US" dirty="0" smtClean="0"/>
              <a:t>）写出逻辑表达式</a:t>
            </a:r>
            <a:endParaRPr lang="en-US" altLang="zh-CN" dirty="0" smtClean="0"/>
          </a:p>
          <a:p>
            <a:pPr>
              <a:buNone/>
            </a:pPr>
            <a:endParaRPr lang="en-US" altLang="zh-CN" dirty="0" smtClean="0"/>
          </a:p>
          <a:p>
            <a:pPr>
              <a:buNone/>
            </a:pPr>
            <a:r>
              <a:rPr lang="en-US" altLang="zh-CN" dirty="0" smtClean="0"/>
              <a:t>    </a:t>
            </a:r>
            <a:r>
              <a:rPr lang="zh-CN" altLang="en-US" dirty="0" smtClean="0"/>
              <a:t>（</a:t>
            </a:r>
            <a:r>
              <a:rPr lang="en-US" altLang="zh-CN" dirty="0" smtClean="0"/>
              <a:t>3</a:t>
            </a:r>
            <a:r>
              <a:rPr lang="zh-CN" altLang="en-US" dirty="0" smtClean="0"/>
              <a:t>）选用小规模集成门电路</a:t>
            </a:r>
            <a:endParaRPr lang="zh-CN" altLang="en-US" dirty="0"/>
          </a:p>
        </p:txBody>
      </p:sp>
      <p:graphicFrame>
        <p:nvGraphicFramePr>
          <p:cNvPr id="225284" name="Object 4"/>
          <p:cNvGraphicFramePr>
            <a:graphicFrameLocks noChangeAspect="1"/>
          </p:cNvGraphicFramePr>
          <p:nvPr/>
        </p:nvGraphicFramePr>
        <p:xfrm>
          <a:off x="1835696" y="1988840"/>
          <a:ext cx="4748640" cy="389632"/>
        </p:xfrm>
        <a:graphic>
          <a:graphicData uri="http://schemas.openxmlformats.org/presentationml/2006/ole">
            <p:oleObj spid="_x0000_s225284" r:id="rId6" imgW="2476440" imgH="203040" progId="">
              <p:embed/>
            </p:oleObj>
          </a:graphicData>
        </a:graphic>
      </p:graphicFrame>
    </p:spTree>
    <p:extLst>
      <p:ext uri="{BB962C8B-B14F-4D97-AF65-F5344CB8AC3E}">
        <p14:creationId xmlns:p14="http://schemas.microsoft.com/office/powerpoint/2010/main" xmlns="" val="389382522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20688"/>
            <a:ext cx="7617022" cy="638944"/>
          </a:xfrm>
        </p:spPr>
        <p:txBody>
          <a:bodyPr/>
          <a:lstStyle/>
          <a:p>
            <a:r>
              <a:rPr lang="en-US" altLang="zh-CN" sz="3200" dirty="0" smtClean="0"/>
              <a:t>4.2 </a:t>
            </a:r>
            <a:r>
              <a:rPr lang="zh-CN" altLang="en-US" sz="3200" dirty="0" smtClean="0"/>
              <a:t>组合逻辑电路设计</a:t>
            </a:r>
            <a:endParaRPr lang="zh-CN" altLang="en-US" sz="3200" dirty="0"/>
          </a:p>
        </p:txBody>
      </p:sp>
      <p:sp>
        <p:nvSpPr>
          <p:cNvPr id="4" name="矩形 3"/>
          <p:cNvSpPr/>
          <p:nvPr/>
        </p:nvSpPr>
        <p:spPr>
          <a:xfrm>
            <a:off x="907615" y="1660158"/>
            <a:ext cx="6112657" cy="461665"/>
          </a:xfrm>
          <a:prstGeom prst="rect">
            <a:avLst/>
          </a:prstGeom>
        </p:spPr>
        <p:txBody>
          <a:bodyPr wrap="square">
            <a:spAutoFit/>
          </a:bodyPr>
          <a:lstStyle/>
          <a:p>
            <a:r>
              <a:rPr lang="en-US" altLang="zh-CN" sz="2400" b="1" dirty="0" smtClean="0"/>
              <a:t>TTL74</a:t>
            </a:r>
            <a:r>
              <a:rPr lang="zh-CN" altLang="en-US" sz="2400" b="1" dirty="0"/>
              <a:t>系列</a:t>
            </a:r>
            <a:r>
              <a:rPr lang="en-US" altLang="zh-CN" sz="2400" b="1" dirty="0"/>
              <a:t>4-2</a:t>
            </a:r>
            <a:r>
              <a:rPr lang="zh-CN" altLang="en-US" sz="2400" b="1" dirty="0"/>
              <a:t>输入</a:t>
            </a:r>
            <a:r>
              <a:rPr lang="zh-CN" altLang="en-US" sz="2400" b="1" dirty="0">
                <a:solidFill>
                  <a:srgbClr val="FF0000"/>
                </a:solidFill>
              </a:rPr>
              <a:t>与非门</a:t>
            </a:r>
            <a:r>
              <a:rPr lang="en-US" altLang="zh-CN" sz="2400" b="1" dirty="0"/>
              <a:t>——74XX00</a:t>
            </a:r>
            <a:endParaRPr lang="zh-CN" altLang="en-US" sz="2400" b="1" dirty="0"/>
          </a:p>
        </p:txBody>
      </p:sp>
      <p:pic>
        <p:nvPicPr>
          <p:cNvPr id="4098" name="Picture 2" descr="E:\wrj\课件\数字电路与系统\数字电路与数字系统\tupian\4-6.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39552" y="2583819"/>
            <a:ext cx="4503652" cy="2880000"/>
          </a:xfrm>
          <a:prstGeom prst="rect">
            <a:avLst/>
          </a:prstGeom>
          <a:noFill/>
          <a:extLst>
            <a:ext uri="{909E8E84-426E-40DD-AFC4-6F175D3DCCD1}">
              <a14:hiddenFill xmlns:a14="http://schemas.microsoft.com/office/drawing/2010/main" xmlns="">
                <a:solidFill>
                  <a:srgbClr val="FFFFFF"/>
                </a:solidFill>
              </a14:hiddenFill>
            </a:ext>
          </a:extLst>
        </p:spPr>
      </p:pic>
      <p:pic>
        <p:nvPicPr>
          <p:cNvPr id="4099" name="Picture 3" descr="E:\wrj\课件\数字电路与系统\数字电路与数字系统\tupian\4-4.jpg"/>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l="14437" t="7376" r="17349" b="162"/>
          <a:stretch/>
        </p:blipFill>
        <p:spPr bwMode="auto">
          <a:xfrm>
            <a:off x="5652120" y="2924944"/>
            <a:ext cx="3237871" cy="2448000"/>
          </a:xfrm>
          <a:prstGeom prst="rect">
            <a:avLst/>
          </a:prstGeom>
          <a:noFill/>
          <a:extLst>
            <a:ext uri="{909E8E84-426E-40DD-AFC4-6F175D3DCCD1}">
              <a14:hiddenFill xmlns:a14="http://schemas.microsoft.com/office/drawing/2010/main" xmlns="">
                <a:solidFill>
                  <a:srgbClr val="FFFFFF"/>
                </a:solidFill>
              </a14:hiddenFill>
            </a:ext>
          </a:extLst>
        </p:spPr>
      </p:pic>
      <p:sp>
        <p:nvSpPr>
          <p:cNvPr id="3" name="灯片编号占位符 2"/>
          <p:cNvSpPr>
            <a:spLocks noGrp="1"/>
          </p:cNvSpPr>
          <p:nvPr>
            <p:ph type="sldNum" sz="quarter" idx="12"/>
          </p:nvPr>
        </p:nvSpPr>
        <p:spPr/>
        <p:txBody>
          <a:bodyPr/>
          <a:lstStyle/>
          <a:p>
            <a:fld id="{0C913308-F349-4B6D-A68A-DD1791B4A57B}" type="slidenum">
              <a:rPr lang="zh-CN" altLang="en-US" smtClean="0"/>
              <a:pPr/>
              <a:t>34</a:t>
            </a:fld>
            <a:endParaRPr lang="zh-CN" altLang="en-US"/>
          </a:p>
        </p:txBody>
      </p:sp>
    </p:spTree>
    <p:extLst>
      <p:ext uri="{BB962C8B-B14F-4D97-AF65-F5344CB8AC3E}">
        <p14:creationId xmlns:p14="http://schemas.microsoft.com/office/powerpoint/2010/main" xmlns="" val="138683085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92696"/>
            <a:ext cx="7617022" cy="566936"/>
          </a:xfrm>
        </p:spPr>
        <p:txBody>
          <a:bodyPr/>
          <a:lstStyle/>
          <a:p>
            <a:r>
              <a:rPr lang="en-US" altLang="zh-CN" sz="3200" dirty="0" smtClean="0"/>
              <a:t>4.2 </a:t>
            </a:r>
            <a:r>
              <a:rPr lang="zh-CN" altLang="en-US" sz="3200" dirty="0" smtClean="0"/>
              <a:t>组合逻辑电路设计</a:t>
            </a:r>
            <a:endParaRPr lang="zh-CN" altLang="en-US" sz="3200" dirty="0"/>
          </a:p>
        </p:txBody>
      </p:sp>
      <p:sp>
        <p:nvSpPr>
          <p:cNvPr id="4" name="矩形 3"/>
          <p:cNvSpPr/>
          <p:nvPr/>
        </p:nvSpPr>
        <p:spPr>
          <a:xfrm>
            <a:off x="843158" y="1700808"/>
            <a:ext cx="5529042" cy="461665"/>
          </a:xfrm>
          <a:prstGeom prst="rect">
            <a:avLst/>
          </a:prstGeom>
        </p:spPr>
        <p:txBody>
          <a:bodyPr wrap="square">
            <a:spAutoFit/>
          </a:bodyPr>
          <a:lstStyle/>
          <a:p>
            <a:r>
              <a:rPr lang="en-US" altLang="zh-CN" sz="2400" b="1" dirty="0"/>
              <a:t>TTL74</a:t>
            </a:r>
            <a:r>
              <a:rPr lang="zh-CN" altLang="en-US" sz="2400" b="1" dirty="0"/>
              <a:t>系列</a:t>
            </a:r>
            <a:r>
              <a:rPr lang="en-US" altLang="zh-CN" sz="2400" b="1" dirty="0"/>
              <a:t>4-2</a:t>
            </a:r>
            <a:r>
              <a:rPr lang="zh-CN" altLang="en-US" sz="2400" b="1" dirty="0"/>
              <a:t>输入</a:t>
            </a:r>
            <a:r>
              <a:rPr lang="zh-CN" altLang="en-US" sz="2400" b="1" dirty="0">
                <a:solidFill>
                  <a:srgbClr val="FF0000"/>
                </a:solidFill>
              </a:rPr>
              <a:t>与门</a:t>
            </a:r>
            <a:r>
              <a:rPr lang="en-US" altLang="zh-CN" sz="2400" b="1" dirty="0"/>
              <a:t>——74XX08</a:t>
            </a:r>
            <a:endParaRPr lang="zh-CN" altLang="en-US" sz="2400" b="1" dirty="0"/>
          </a:p>
        </p:txBody>
      </p:sp>
      <p:pic>
        <p:nvPicPr>
          <p:cNvPr id="5122" name="Picture 2" descr="E:\wrj\课件\数字电路与系统\数字电路与数字系统\tupian\4-9.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67544" y="2420888"/>
            <a:ext cx="4040816" cy="3600000"/>
          </a:xfrm>
          <a:prstGeom prst="rect">
            <a:avLst/>
          </a:prstGeom>
          <a:noFill/>
          <a:extLst>
            <a:ext uri="{909E8E84-426E-40DD-AFC4-6F175D3DCCD1}">
              <a14:hiddenFill xmlns:a14="http://schemas.microsoft.com/office/drawing/2010/main" xmlns="">
                <a:solidFill>
                  <a:srgbClr val="FFFFFF"/>
                </a:solidFill>
              </a14:hiddenFill>
            </a:ext>
          </a:extLst>
        </p:spPr>
      </p:pic>
      <p:pic>
        <p:nvPicPr>
          <p:cNvPr id="5123" name="Picture 3" descr="E:\wrj\课件\数字电路与系统\数字电路与数字系统\tupian\4-8.jpg"/>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t="22995" b="7671"/>
          <a:stretch/>
        </p:blipFill>
        <p:spPr bwMode="auto">
          <a:xfrm>
            <a:off x="5148064" y="3585028"/>
            <a:ext cx="3807691" cy="1980000"/>
          </a:xfrm>
          <a:prstGeom prst="rect">
            <a:avLst/>
          </a:prstGeom>
          <a:noFill/>
          <a:extLst>
            <a:ext uri="{909E8E84-426E-40DD-AFC4-6F175D3DCCD1}">
              <a14:hiddenFill xmlns:a14="http://schemas.microsoft.com/office/drawing/2010/main" xmlns="">
                <a:solidFill>
                  <a:srgbClr val="FFFFFF"/>
                </a:solidFill>
              </a14:hiddenFill>
            </a:ext>
          </a:extLst>
        </p:spPr>
      </p:pic>
      <p:sp>
        <p:nvSpPr>
          <p:cNvPr id="3" name="灯片编号占位符 2"/>
          <p:cNvSpPr>
            <a:spLocks noGrp="1"/>
          </p:cNvSpPr>
          <p:nvPr>
            <p:ph type="sldNum" sz="quarter" idx="12"/>
          </p:nvPr>
        </p:nvSpPr>
        <p:spPr/>
        <p:txBody>
          <a:bodyPr/>
          <a:lstStyle/>
          <a:p>
            <a:fld id="{0C913308-F349-4B6D-A68A-DD1791B4A57B}" type="slidenum">
              <a:rPr lang="zh-CN" altLang="en-US" smtClean="0"/>
              <a:pPr/>
              <a:t>35</a:t>
            </a:fld>
            <a:endParaRPr lang="zh-CN" altLang="en-US"/>
          </a:p>
        </p:txBody>
      </p:sp>
    </p:spTree>
    <p:extLst>
      <p:ext uri="{BB962C8B-B14F-4D97-AF65-F5344CB8AC3E}">
        <p14:creationId xmlns:p14="http://schemas.microsoft.com/office/powerpoint/2010/main" xmlns="" val="166802174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92696"/>
            <a:ext cx="7545014" cy="566936"/>
          </a:xfrm>
        </p:spPr>
        <p:txBody>
          <a:bodyPr/>
          <a:lstStyle/>
          <a:p>
            <a:r>
              <a:rPr lang="en-US" altLang="zh-CN" sz="3200" dirty="0" smtClean="0"/>
              <a:t>4.2 </a:t>
            </a:r>
            <a:r>
              <a:rPr lang="zh-CN" altLang="en-US" sz="3200" dirty="0" smtClean="0"/>
              <a:t>组合逻辑电路设计</a:t>
            </a:r>
            <a:endParaRPr lang="zh-CN" altLang="en-US" sz="3200" dirty="0"/>
          </a:p>
        </p:txBody>
      </p:sp>
      <p:sp>
        <p:nvSpPr>
          <p:cNvPr id="4" name="矩形 3"/>
          <p:cNvSpPr/>
          <p:nvPr/>
        </p:nvSpPr>
        <p:spPr>
          <a:xfrm>
            <a:off x="676500" y="2009147"/>
            <a:ext cx="4399556" cy="830997"/>
          </a:xfrm>
          <a:prstGeom prst="rect">
            <a:avLst/>
          </a:prstGeom>
        </p:spPr>
        <p:txBody>
          <a:bodyPr wrap="square">
            <a:spAutoFit/>
          </a:bodyPr>
          <a:lstStyle/>
          <a:p>
            <a:r>
              <a:rPr lang="en-US" altLang="zh-CN" sz="2400" b="1" dirty="0" smtClean="0"/>
              <a:t>TTL74</a:t>
            </a:r>
            <a:r>
              <a:rPr lang="zh-CN" altLang="en-US" sz="2400" b="1" dirty="0"/>
              <a:t>系列</a:t>
            </a:r>
            <a:r>
              <a:rPr lang="en-US" altLang="zh-CN" sz="2400" b="1" dirty="0"/>
              <a:t>4-2</a:t>
            </a:r>
            <a:r>
              <a:rPr lang="zh-CN" altLang="en-US" sz="2400" b="1" dirty="0"/>
              <a:t>输入</a:t>
            </a:r>
            <a:r>
              <a:rPr lang="zh-CN" altLang="en-US" sz="2400" b="1" dirty="0">
                <a:solidFill>
                  <a:srgbClr val="FF0000"/>
                </a:solidFill>
              </a:rPr>
              <a:t>或门</a:t>
            </a:r>
            <a:r>
              <a:rPr lang="en-US" altLang="zh-CN" sz="2400" b="1" dirty="0"/>
              <a:t>——74XX32</a:t>
            </a:r>
            <a:endParaRPr lang="zh-CN" altLang="en-US" sz="2400" b="1" dirty="0"/>
          </a:p>
        </p:txBody>
      </p:sp>
      <p:pic>
        <p:nvPicPr>
          <p:cNvPr id="2050" name="Picture 2" descr="E:\wrj\课件\数字电路与系统\数字电路与数字系统\tupian\4-10.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148064" y="1268760"/>
            <a:ext cx="2672309" cy="2700000"/>
          </a:xfrm>
          <a:prstGeom prst="rect">
            <a:avLst/>
          </a:prstGeom>
          <a:noFill/>
          <a:extLst>
            <a:ext uri="{909E8E84-426E-40DD-AFC4-6F175D3DCCD1}">
              <a14:hiddenFill xmlns:a14="http://schemas.microsoft.com/office/drawing/2010/main" xmlns="">
                <a:solidFill>
                  <a:srgbClr val="FFFFFF"/>
                </a:solidFill>
              </a14:hiddenFill>
            </a:ext>
          </a:extLst>
        </p:spPr>
      </p:pic>
      <p:sp>
        <p:nvSpPr>
          <p:cNvPr id="3" name="矩形 2"/>
          <p:cNvSpPr/>
          <p:nvPr/>
        </p:nvSpPr>
        <p:spPr>
          <a:xfrm>
            <a:off x="654548" y="4581128"/>
            <a:ext cx="4061467" cy="830997"/>
          </a:xfrm>
          <a:prstGeom prst="rect">
            <a:avLst/>
          </a:prstGeom>
        </p:spPr>
        <p:txBody>
          <a:bodyPr wrap="square">
            <a:spAutoFit/>
          </a:bodyPr>
          <a:lstStyle/>
          <a:p>
            <a:r>
              <a:rPr lang="en-US" altLang="zh-CN" sz="2400" b="1" dirty="0" smtClean="0"/>
              <a:t>TTL74</a:t>
            </a:r>
            <a:r>
              <a:rPr lang="zh-CN" altLang="en-US" sz="2400" b="1" dirty="0"/>
              <a:t>系列</a:t>
            </a:r>
            <a:r>
              <a:rPr lang="zh-CN" altLang="en-US" sz="2400" b="1" dirty="0">
                <a:solidFill>
                  <a:srgbClr val="FF0000"/>
                </a:solidFill>
              </a:rPr>
              <a:t>与或非门</a:t>
            </a:r>
            <a:r>
              <a:rPr lang="en-US" altLang="zh-CN" sz="2400" b="1" dirty="0"/>
              <a:t>——74XX50</a:t>
            </a:r>
            <a:r>
              <a:rPr lang="zh-CN" altLang="en-US" sz="2400" b="1" dirty="0"/>
              <a:t>等</a:t>
            </a:r>
          </a:p>
        </p:txBody>
      </p:sp>
      <p:pic>
        <p:nvPicPr>
          <p:cNvPr id="2051"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004048" y="4077072"/>
            <a:ext cx="2716364" cy="2520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5" name="灯片编号占位符 4"/>
          <p:cNvSpPr>
            <a:spLocks noGrp="1"/>
          </p:cNvSpPr>
          <p:nvPr>
            <p:ph type="sldNum" sz="quarter" idx="12"/>
          </p:nvPr>
        </p:nvSpPr>
        <p:spPr/>
        <p:txBody>
          <a:bodyPr/>
          <a:lstStyle/>
          <a:p>
            <a:fld id="{0C913308-F349-4B6D-A68A-DD1791B4A57B}" type="slidenum">
              <a:rPr lang="zh-CN" altLang="en-US" smtClean="0"/>
              <a:pPr/>
              <a:t>36</a:t>
            </a:fld>
            <a:endParaRPr lang="zh-CN" altLang="en-US"/>
          </a:p>
        </p:txBody>
      </p:sp>
    </p:spTree>
    <p:extLst>
      <p:ext uri="{BB962C8B-B14F-4D97-AF65-F5344CB8AC3E}">
        <p14:creationId xmlns:p14="http://schemas.microsoft.com/office/powerpoint/2010/main" xmlns="" val="10623934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92696"/>
            <a:ext cx="7617022" cy="566936"/>
          </a:xfrm>
        </p:spPr>
        <p:txBody>
          <a:bodyPr/>
          <a:lstStyle/>
          <a:p>
            <a:r>
              <a:rPr lang="en-US" altLang="zh-CN" dirty="0" smtClean="0"/>
              <a:t>4.2 </a:t>
            </a:r>
            <a:r>
              <a:rPr lang="zh-CN" altLang="en-US" dirty="0" smtClean="0"/>
              <a:t>组合逻辑电路设计</a:t>
            </a:r>
            <a:endParaRPr lang="zh-CN" altLang="en-US" dirty="0"/>
          </a:p>
        </p:txBody>
      </p:sp>
      <p:sp>
        <p:nvSpPr>
          <p:cNvPr id="3" name="内容占位符 2"/>
          <p:cNvSpPr>
            <a:spLocks noGrp="1"/>
          </p:cNvSpPr>
          <p:nvPr>
            <p:ph idx="1"/>
          </p:nvPr>
        </p:nvSpPr>
        <p:spPr>
          <a:xfrm>
            <a:off x="539552" y="1542208"/>
            <a:ext cx="8415536" cy="4911128"/>
          </a:xfrm>
        </p:spPr>
        <p:txBody>
          <a:bodyPr/>
          <a:lstStyle/>
          <a:p>
            <a:pPr marL="514350" indent="-288000">
              <a:buSzPct val="100000"/>
              <a:buNone/>
            </a:pPr>
            <a:r>
              <a:rPr lang="zh-CN" altLang="en-US" dirty="0"/>
              <a:t>（</a:t>
            </a:r>
            <a:r>
              <a:rPr lang="en-US" altLang="zh-CN" dirty="0"/>
              <a:t>4</a:t>
            </a:r>
            <a:r>
              <a:rPr lang="zh-CN" altLang="en-US" dirty="0"/>
              <a:t>）化</a:t>
            </a:r>
            <a:r>
              <a:rPr lang="zh-CN" altLang="en-US" dirty="0" smtClean="0"/>
              <a:t>简</a:t>
            </a:r>
            <a:endParaRPr lang="en-US" altLang="zh-CN" dirty="0" smtClean="0"/>
          </a:p>
          <a:p>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xmlns="" val="1575906849"/>
              </p:ext>
            </p:extLst>
          </p:nvPr>
        </p:nvGraphicFramePr>
        <p:xfrm>
          <a:off x="3635896" y="2420888"/>
          <a:ext cx="3528392" cy="885696"/>
        </p:xfrm>
        <a:graphic>
          <a:graphicData uri="http://schemas.openxmlformats.org/drawingml/2006/table">
            <a:tbl>
              <a:tblPr firstRow="1" bandRow="1">
                <a:tableStyleId>{5C22544A-7EE6-4342-B048-85BDC9FD1C3A}</a:tableStyleId>
              </a:tblPr>
              <a:tblGrid>
                <a:gridCol w="882098">
                  <a:extLst>
                    <a:ext uri="{9D8B030D-6E8A-4147-A177-3AD203B41FA5}">
                      <a16:colId xmlns:a16="http://schemas.microsoft.com/office/drawing/2014/main" xmlns="" val="20000"/>
                    </a:ext>
                  </a:extLst>
                </a:gridCol>
                <a:gridCol w="882098">
                  <a:extLst>
                    <a:ext uri="{9D8B030D-6E8A-4147-A177-3AD203B41FA5}">
                      <a16:colId xmlns:a16="http://schemas.microsoft.com/office/drawing/2014/main" xmlns="" val="20001"/>
                    </a:ext>
                  </a:extLst>
                </a:gridCol>
                <a:gridCol w="882098">
                  <a:extLst>
                    <a:ext uri="{9D8B030D-6E8A-4147-A177-3AD203B41FA5}">
                      <a16:colId xmlns:a16="http://schemas.microsoft.com/office/drawing/2014/main" xmlns="" val="20002"/>
                    </a:ext>
                  </a:extLst>
                </a:gridCol>
                <a:gridCol w="882098">
                  <a:extLst>
                    <a:ext uri="{9D8B030D-6E8A-4147-A177-3AD203B41FA5}">
                      <a16:colId xmlns:a16="http://schemas.microsoft.com/office/drawing/2014/main" xmlns="" val="20003"/>
                    </a:ext>
                  </a:extLst>
                </a:gridCol>
              </a:tblGrid>
              <a:tr h="442848">
                <a:tc>
                  <a:txBody>
                    <a:bodyPr/>
                    <a:lstStyle/>
                    <a:p>
                      <a:pPr algn="ctr"/>
                      <a:r>
                        <a:rPr lang="en-US" altLang="zh-CN" dirty="0" smtClean="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0"/>
                  </a:ext>
                </a:extLst>
              </a:tr>
              <a:tr h="442848">
                <a:tc>
                  <a:txBody>
                    <a:bodyPr/>
                    <a:lstStyle/>
                    <a:p>
                      <a:pPr algn="ctr"/>
                      <a:r>
                        <a:rPr lang="en-US" altLang="zh-CN" dirty="0" smtClean="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1"/>
                  </a:ext>
                </a:extLst>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xmlns="" val="2821307011"/>
              </p:ext>
            </p:extLst>
          </p:nvPr>
        </p:nvGraphicFramePr>
        <p:xfrm>
          <a:off x="3684022" y="1964958"/>
          <a:ext cx="3456384" cy="370840"/>
        </p:xfrm>
        <a:graphic>
          <a:graphicData uri="http://schemas.openxmlformats.org/drawingml/2006/table">
            <a:tbl>
              <a:tblPr firstRow="1" bandRow="1">
                <a:tableStyleId>{5C22544A-7EE6-4342-B048-85BDC9FD1C3A}</a:tableStyleId>
              </a:tblPr>
              <a:tblGrid>
                <a:gridCol w="864096">
                  <a:extLst>
                    <a:ext uri="{9D8B030D-6E8A-4147-A177-3AD203B41FA5}">
                      <a16:colId xmlns:a16="http://schemas.microsoft.com/office/drawing/2014/main" xmlns="" val="20000"/>
                    </a:ext>
                  </a:extLst>
                </a:gridCol>
                <a:gridCol w="864096">
                  <a:extLst>
                    <a:ext uri="{9D8B030D-6E8A-4147-A177-3AD203B41FA5}">
                      <a16:colId xmlns:a16="http://schemas.microsoft.com/office/drawing/2014/main" xmlns="" val="20001"/>
                    </a:ext>
                  </a:extLst>
                </a:gridCol>
                <a:gridCol w="864096">
                  <a:extLst>
                    <a:ext uri="{9D8B030D-6E8A-4147-A177-3AD203B41FA5}">
                      <a16:colId xmlns:a16="http://schemas.microsoft.com/office/drawing/2014/main" xmlns="" val="20002"/>
                    </a:ext>
                  </a:extLst>
                </a:gridCol>
                <a:gridCol w="864096">
                  <a:extLst>
                    <a:ext uri="{9D8B030D-6E8A-4147-A177-3AD203B41FA5}">
                      <a16:colId xmlns:a16="http://schemas.microsoft.com/office/drawing/2014/main" xmlns="" val="20003"/>
                    </a:ext>
                  </a:extLst>
                </a:gridCol>
              </a:tblGrid>
              <a:tr h="370840">
                <a:tc>
                  <a:txBody>
                    <a:bodyPr/>
                    <a:lstStyle/>
                    <a:p>
                      <a:r>
                        <a:rPr lang="en-US" altLang="zh-CN" dirty="0" smtClean="0">
                          <a:solidFill>
                            <a:schemeClr val="tx1"/>
                          </a:solidFill>
                        </a:rPr>
                        <a:t>00</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CN" dirty="0" smtClean="0">
                          <a:solidFill>
                            <a:schemeClr val="tx1"/>
                          </a:solidFill>
                        </a:rPr>
                        <a:t>01</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CN" dirty="0" smtClean="0">
                          <a:solidFill>
                            <a:schemeClr val="tx1"/>
                          </a:solidFill>
                        </a:rPr>
                        <a:t>11</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CN" dirty="0" smtClean="0">
                          <a:solidFill>
                            <a:schemeClr val="tx1"/>
                          </a:solidFill>
                        </a:rPr>
                        <a:t>10</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xmlns="" val="10000"/>
                  </a:ext>
                </a:extLst>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xmlns="" val="4036331052"/>
              </p:ext>
            </p:extLst>
          </p:nvPr>
        </p:nvGraphicFramePr>
        <p:xfrm>
          <a:off x="3108176" y="2492896"/>
          <a:ext cx="455712" cy="741680"/>
        </p:xfrm>
        <a:graphic>
          <a:graphicData uri="http://schemas.openxmlformats.org/drawingml/2006/table">
            <a:tbl>
              <a:tblPr firstRow="1" bandRow="1">
                <a:tableStyleId>{5C22544A-7EE6-4342-B048-85BDC9FD1C3A}</a:tableStyleId>
              </a:tblPr>
              <a:tblGrid>
                <a:gridCol w="455712">
                  <a:extLst>
                    <a:ext uri="{9D8B030D-6E8A-4147-A177-3AD203B41FA5}">
                      <a16:colId xmlns:a16="http://schemas.microsoft.com/office/drawing/2014/main" xmlns="" val="20000"/>
                    </a:ext>
                  </a:extLst>
                </a:gridCol>
              </a:tblGrid>
              <a:tr h="370840">
                <a:tc>
                  <a:txBody>
                    <a:bodyPr/>
                    <a:lstStyle/>
                    <a:p>
                      <a:r>
                        <a:rPr lang="en-US" altLang="zh-CN" dirty="0" smtClean="0">
                          <a:solidFill>
                            <a:schemeClr val="tx1"/>
                          </a:solidFill>
                        </a:rPr>
                        <a:t>0</a:t>
                      </a:r>
                      <a:endParaRPr lang="zh-CN" altLang="en-US" dirty="0">
                        <a:solidFill>
                          <a:schemeClr val="tx1"/>
                        </a:solidFill>
                      </a:endParaRPr>
                    </a:p>
                  </a:txBody>
                  <a:tcPr>
                    <a:solidFill>
                      <a:schemeClr val="bg1"/>
                    </a:solidFill>
                  </a:tcPr>
                </a:tc>
                <a:extLst>
                  <a:ext uri="{0D108BD9-81ED-4DB2-BD59-A6C34878D82A}">
                    <a16:rowId xmlns:a16="http://schemas.microsoft.com/office/drawing/2014/main" xmlns="" val="10000"/>
                  </a:ext>
                </a:extLst>
              </a:tr>
              <a:tr h="370840">
                <a:tc>
                  <a:txBody>
                    <a:bodyPr/>
                    <a:lstStyle/>
                    <a:p>
                      <a:r>
                        <a:rPr lang="en-US" altLang="zh-CN" dirty="0" smtClean="0">
                          <a:solidFill>
                            <a:schemeClr val="tx1"/>
                          </a:solidFill>
                        </a:rPr>
                        <a:t>1</a:t>
                      </a:r>
                      <a:endParaRPr lang="zh-CN" altLang="en-US" dirty="0">
                        <a:solidFill>
                          <a:schemeClr val="tx1"/>
                        </a:solidFill>
                      </a:endParaRPr>
                    </a:p>
                  </a:txBody>
                  <a:tcPr>
                    <a:solidFill>
                      <a:schemeClr val="bg1"/>
                    </a:solidFill>
                  </a:tcPr>
                </a:tc>
                <a:extLst>
                  <a:ext uri="{0D108BD9-81ED-4DB2-BD59-A6C34878D82A}">
                    <a16:rowId xmlns:a16="http://schemas.microsoft.com/office/drawing/2014/main" xmlns="" val="10001"/>
                  </a:ext>
                </a:extLst>
              </a:tr>
            </a:tbl>
          </a:graphicData>
        </a:graphic>
      </p:graphicFrame>
      <p:cxnSp>
        <p:nvCxnSpPr>
          <p:cNvPr id="8" name="直接连接符 7"/>
          <p:cNvCxnSpPr/>
          <p:nvPr/>
        </p:nvCxnSpPr>
        <p:spPr bwMode="auto">
          <a:xfrm flipH="1" flipV="1">
            <a:off x="2915816" y="1700808"/>
            <a:ext cx="720080" cy="720080"/>
          </a:xfrm>
          <a:prstGeom prst="line">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9" name="TextBox 8"/>
          <p:cNvSpPr txBox="1"/>
          <p:nvPr/>
        </p:nvSpPr>
        <p:spPr>
          <a:xfrm>
            <a:off x="2987824" y="2060848"/>
            <a:ext cx="352982" cy="369332"/>
          </a:xfrm>
          <a:prstGeom prst="rect">
            <a:avLst/>
          </a:prstGeom>
          <a:noFill/>
        </p:spPr>
        <p:txBody>
          <a:bodyPr wrap="none" rtlCol="0">
            <a:spAutoFit/>
          </a:bodyPr>
          <a:lstStyle/>
          <a:p>
            <a:r>
              <a:rPr lang="en-US" altLang="zh-CN" b="1" i="1" dirty="0" smtClean="0"/>
              <a:t>R</a:t>
            </a:r>
            <a:endParaRPr lang="zh-CN" altLang="en-US" b="1" i="1" dirty="0"/>
          </a:p>
        </p:txBody>
      </p:sp>
      <p:sp>
        <p:nvSpPr>
          <p:cNvPr id="10" name="TextBox 9"/>
          <p:cNvSpPr txBox="1"/>
          <p:nvPr/>
        </p:nvSpPr>
        <p:spPr>
          <a:xfrm>
            <a:off x="3275856" y="1700808"/>
            <a:ext cx="511679" cy="369332"/>
          </a:xfrm>
          <a:prstGeom prst="rect">
            <a:avLst/>
          </a:prstGeom>
          <a:noFill/>
        </p:spPr>
        <p:txBody>
          <a:bodyPr wrap="none" rtlCol="0">
            <a:spAutoFit/>
          </a:bodyPr>
          <a:lstStyle/>
          <a:p>
            <a:r>
              <a:rPr lang="en-US" altLang="zh-CN" b="1" i="1" dirty="0" smtClean="0"/>
              <a:t>YG</a:t>
            </a:r>
            <a:endParaRPr lang="zh-CN" altLang="en-US" b="1" i="1" dirty="0"/>
          </a:p>
        </p:txBody>
      </p:sp>
      <p:sp>
        <p:nvSpPr>
          <p:cNvPr id="11" name="矩形 10"/>
          <p:cNvSpPr/>
          <p:nvPr/>
        </p:nvSpPr>
        <p:spPr>
          <a:xfrm>
            <a:off x="5652120" y="2420888"/>
            <a:ext cx="360040" cy="864096"/>
          </a:xfrm>
          <a:prstGeom prst="rect">
            <a:avLst/>
          </a:prstGeom>
          <a:noFill/>
          <a:ln w="28575">
            <a:solidFill>
              <a:srgbClr val="00B050"/>
            </a:solidFill>
            <a:prstDash val="solid"/>
          </a:ln>
        </p:spPr>
        <p:txBody>
          <a:bodyPr wrap="square" rtlCol="0" anchor="ctr">
            <a:noAutofit/>
          </a:bodyPr>
          <a:lstStyle/>
          <a:p>
            <a:pPr algn="ctr"/>
            <a:endParaRPr lang="zh-CN" altLang="en-US" sz="2000" b="1" dirty="0">
              <a:latin typeface="华文新魏" pitchFamily="2" charset="-122"/>
              <a:ea typeface="华文新魏" pitchFamily="2" charset="-122"/>
            </a:endParaRPr>
          </a:p>
        </p:txBody>
      </p:sp>
      <p:sp>
        <p:nvSpPr>
          <p:cNvPr id="12" name="矩形 11"/>
          <p:cNvSpPr/>
          <p:nvPr/>
        </p:nvSpPr>
        <p:spPr>
          <a:xfrm rot="16200000">
            <a:off x="5184069" y="2312876"/>
            <a:ext cx="432051" cy="1512165"/>
          </a:xfrm>
          <a:prstGeom prst="rect">
            <a:avLst/>
          </a:prstGeom>
          <a:noFill/>
          <a:ln w="28575">
            <a:solidFill>
              <a:srgbClr val="C00000"/>
            </a:solidFill>
            <a:prstDash val="solid"/>
          </a:ln>
        </p:spPr>
        <p:txBody>
          <a:bodyPr wrap="square" rtlCol="0" anchor="ctr">
            <a:noAutofit/>
          </a:bodyPr>
          <a:lstStyle/>
          <a:p>
            <a:pPr algn="ctr"/>
            <a:endParaRPr lang="zh-CN" altLang="en-US" sz="2000" b="1" dirty="0">
              <a:latin typeface="华文新魏" pitchFamily="2" charset="-122"/>
              <a:ea typeface="华文新魏" pitchFamily="2" charset="-122"/>
            </a:endParaRPr>
          </a:p>
        </p:txBody>
      </p:sp>
      <p:sp>
        <p:nvSpPr>
          <p:cNvPr id="13" name="矩形 12"/>
          <p:cNvSpPr/>
          <p:nvPr/>
        </p:nvSpPr>
        <p:spPr>
          <a:xfrm rot="16200000">
            <a:off x="6084168" y="2276873"/>
            <a:ext cx="432049" cy="1584176"/>
          </a:xfrm>
          <a:prstGeom prst="rect">
            <a:avLst/>
          </a:prstGeom>
          <a:noFill/>
          <a:ln w="28575">
            <a:solidFill>
              <a:srgbClr val="0000CC"/>
            </a:solidFill>
            <a:prstDash val="solid"/>
          </a:ln>
        </p:spPr>
        <p:txBody>
          <a:bodyPr wrap="none" rtlCol="0" anchor="ctr">
            <a:noAutofit/>
          </a:bodyPr>
          <a:lstStyle/>
          <a:p>
            <a:pPr algn="ctr"/>
            <a:endParaRPr lang="zh-CN" altLang="en-US" sz="2000" b="1" dirty="0">
              <a:latin typeface="华文新魏" pitchFamily="2" charset="-122"/>
              <a:ea typeface="华文新魏" pitchFamily="2" charset="-122"/>
            </a:endParaRPr>
          </a:p>
        </p:txBody>
      </p:sp>
      <p:sp>
        <p:nvSpPr>
          <p:cNvPr id="14" name="矩形 13"/>
          <p:cNvSpPr/>
          <p:nvPr/>
        </p:nvSpPr>
        <p:spPr>
          <a:xfrm>
            <a:off x="3707904" y="2420888"/>
            <a:ext cx="752619" cy="400110"/>
          </a:xfrm>
          <a:prstGeom prst="rect">
            <a:avLst/>
          </a:prstGeom>
          <a:noFill/>
          <a:ln w="28575">
            <a:solidFill>
              <a:srgbClr val="FFC000"/>
            </a:solidFill>
            <a:prstDash val="solid"/>
          </a:ln>
        </p:spPr>
        <p:txBody>
          <a:bodyPr wrap="square" rtlCol="0" anchor="ctr">
            <a:spAutoFit/>
          </a:bodyPr>
          <a:lstStyle/>
          <a:p>
            <a:pPr algn="ctr"/>
            <a:endParaRPr lang="zh-CN" altLang="en-US" sz="2000" b="1" dirty="0">
              <a:latin typeface="华文新魏" pitchFamily="2" charset="-122"/>
              <a:ea typeface="华文新魏" pitchFamily="2" charset="-122"/>
            </a:endParaRPr>
          </a:p>
        </p:txBody>
      </p:sp>
      <p:sp>
        <p:nvSpPr>
          <p:cNvPr id="15" name="矩形 14"/>
          <p:cNvSpPr/>
          <p:nvPr/>
        </p:nvSpPr>
        <p:spPr>
          <a:xfrm>
            <a:off x="827584" y="3789040"/>
            <a:ext cx="2040943" cy="461665"/>
          </a:xfrm>
          <a:prstGeom prst="rect">
            <a:avLst/>
          </a:prstGeom>
        </p:spPr>
        <p:txBody>
          <a:bodyPr wrap="none">
            <a:spAutoFit/>
          </a:bodyPr>
          <a:lstStyle/>
          <a:p>
            <a:r>
              <a:rPr lang="zh-CN" altLang="en-US" sz="2400" b="1" dirty="0"/>
              <a:t>最简与或式：</a:t>
            </a:r>
          </a:p>
        </p:txBody>
      </p:sp>
      <p:sp>
        <p:nvSpPr>
          <p:cNvPr id="16" name="矩形 15"/>
          <p:cNvSpPr/>
          <p:nvPr/>
        </p:nvSpPr>
        <p:spPr>
          <a:xfrm>
            <a:off x="899592" y="4437112"/>
            <a:ext cx="1731564" cy="461665"/>
          </a:xfrm>
          <a:prstGeom prst="rect">
            <a:avLst/>
          </a:prstGeom>
        </p:spPr>
        <p:txBody>
          <a:bodyPr wrap="none">
            <a:spAutoFit/>
          </a:bodyPr>
          <a:lstStyle/>
          <a:p>
            <a:r>
              <a:rPr lang="zh-CN" altLang="en-US" sz="2400" b="1" dirty="0"/>
              <a:t>用与非门：</a:t>
            </a:r>
          </a:p>
        </p:txBody>
      </p:sp>
      <p:sp>
        <p:nvSpPr>
          <p:cNvPr id="17" name="矩形 16"/>
          <p:cNvSpPr/>
          <p:nvPr/>
        </p:nvSpPr>
        <p:spPr>
          <a:xfrm>
            <a:off x="827584" y="5013176"/>
            <a:ext cx="2040943" cy="461665"/>
          </a:xfrm>
          <a:prstGeom prst="rect">
            <a:avLst/>
          </a:prstGeom>
        </p:spPr>
        <p:txBody>
          <a:bodyPr wrap="none">
            <a:spAutoFit/>
          </a:bodyPr>
          <a:lstStyle/>
          <a:p>
            <a:r>
              <a:rPr lang="zh-CN" altLang="en-US" sz="2400" b="1" dirty="0"/>
              <a:t>标准或与式：</a:t>
            </a:r>
          </a:p>
        </p:txBody>
      </p:sp>
      <p:sp>
        <p:nvSpPr>
          <p:cNvPr id="18" name="矩形 17"/>
          <p:cNvSpPr/>
          <p:nvPr/>
        </p:nvSpPr>
        <p:spPr>
          <a:xfrm>
            <a:off x="827584" y="5589240"/>
            <a:ext cx="2040943" cy="461665"/>
          </a:xfrm>
          <a:prstGeom prst="rect">
            <a:avLst/>
          </a:prstGeom>
        </p:spPr>
        <p:txBody>
          <a:bodyPr wrap="none">
            <a:spAutoFit/>
          </a:bodyPr>
          <a:lstStyle/>
          <a:p>
            <a:r>
              <a:rPr lang="zh-CN" altLang="en-US" sz="2400" b="1" dirty="0"/>
              <a:t>用与或非门：</a:t>
            </a:r>
          </a:p>
        </p:txBody>
      </p:sp>
      <p:sp>
        <p:nvSpPr>
          <p:cNvPr id="19" name="灯片编号占位符 18"/>
          <p:cNvSpPr>
            <a:spLocks noGrp="1"/>
          </p:cNvSpPr>
          <p:nvPr>
            <p:ph type="sldNum" sz="quarter" idx="12"/>
          </p:nvPr>
        </p:nvSpPr>
        <p:spPr/>
        <p:txBody>
          <a:bodyPr/>
          <a:lstStyle/>
          <a:p>
            <a:fld id="{0C913308-F349-4B6D-A68A-DD1791B4A57B}" type="slidenum">
              <a:rPr lang="zh-CN" altLang="en-US" smtClean="0"/>
              <a:pPr/>
              <a:t>37</a:t>
            </a:fld>
            <a:endParaRPr lang="zh-CN" altLang="en-US"/>
          </a:p>
        </p:txBody>
      </p:sp>
      <p:sp>
        <p:nvSpPr>
          <p:cNvPr id="23" name="TextBox 22"/>
          <p:cNvSpPr txBox="1"/>
          <p:nvPr/>
        </p:nvSpPr>
        <p:spPr>
          <a:xfrm>
            <a:off x="2987824" y="1484784"/>
            <a:ext cx="319318" cy="369332"/>
          </a:xfrm>
          <a:prstGeom prst="rect">
            <a:avLst/>
          </a:prstGeom>
          <a:noFill/>
        </p:spPr>
        <p:txBody>
          <a:bodyPr wrap="none" rtlCol="0">
            <a:spAutoFit/>
          </a:bodyPr>
          <a:lstStyle/>
          <a:p>
            <a:r>
              <a:rPr lang="en-US" altLang="zh-CN" b="1" i="1" dirty="0" smtClean="0"/>
              <a:t>F</a:t>
            </a:r>
            <a:endParaRPr lang="zh-CN" altLang="en-US" b="1" i="1" dirty="0"/>
          </a:p>
        </p:txBody>
      </p:sp>
      <p:graphicFrame>
        <p:nvGraphicFramePr>
          <p:cNvPr id="120833" name="Object 1"/>
          <p:cNvGraphicFramePr>
            <a:graphicFrameLocks noChangeAspect="1"/>
          </p:cNvGraphicFramePr>
          <p:nvPr/>
        </p:nvGraphicFramePr>
        <p:xfrm>
          <a:off x="3563938" y="3951288"/>
          <a:ext cx="3424237" cy="382587"/>
        </p:xfrm>
        <a:graphic>
          <a:graphicData uri="http://schemas.openxmlformats.org/presentationml/2006/ole">
            <p:oleObj spid="_x0000_s120833" r:id="rId3" imgW="1930320" imgH="203040" progId="">
              <p:embed/>
            </p:oleObj>
          </a:graphicData>
        </a:graphic>
      </p:graphicFrame>
      <p:graphicFrame>
        <p:nvGraphicFramePr>
          <p:cNvPr id="120836" name="Object 4"/>
          <p:cNvGraphicFramePr>
            <a:graphicFrameLocks noChangeAspect="1"/>
          </p:cNvGraphicFramePr>
          <p:nvPr/>
        </p:nvGraphicFramePr>
        <p:xfrm>
          <a:off x="3131840" y="5013176"/>
          <a:ext cx="4318000" cy="411163"/>
        </p:xfrm>
        <a:graphic>
          <a:graphicData uri="http://schemas.openxmlformats.org/presentationml/2006/ole">
            <p:oleObj spid="_x0000_s120836" r:id="rId4" imgW="2450880" imgH="228600" progId="">
              <p:embed/>
            </p:oleObj>
          </a:graphicData>
        </a:graphic>
      </p:graphicFrame>
      <p:graphicFrame>
        <p:nvGraphicFramePr>
          <p:cNvPr id="120837" name="Object 5"/>
          <p:cNvGraphicFramePr>
            <a:graphicFrameLocks noChangeAspect="1"/>
          </p:cNvGraphicFramePr>
          <p:nvPr/>
        </p:nvGraphicFramePr>
        <p:xfrm>
          <a:off x="3059832" y="4437112"/>
          <a:ext cx="5745162" cy="473075"/>
        </p:xfrm>
        <a:graphic>
          <a:graphicData uri="http://schemas.openxmlformats.org/presentationml/2006/ole">
            <p:oleObj spid="_x0000_s120837" r:id="rId5" imgW="3429000" imgH="266400" progId="">
              <p:embed/>
            </p:oleObj>
          </a:graphicData>
        </a:graphic>
      </p:graphicFrame>
      <p:graphicFrame>
        <p:nvGraphicFramePr>
          <p:cNvPr id="120838" name="Object 6"/>
          <p:cNvGraphicFramePr>
            <a:graphicFrameLocks noChangeAspect="1"/>
          </p:cNvGraphicFramePr>
          <p:nvPr/>
        </p:nvGraphicFramePr>
        <p:xfrm>
          <a:off x="3131840" y="5589240"/>
          <a:ext cx="4411663" cy="1044575"/>
        </p:xfrm>
        <a:graphic>
          <a:graphicData uri="http://schemas.openxmlformats.org/presentationml/2006/ole">
            <p:oleObj spid="_x0000_s120838" r:id="rId6" imgW="2450880" imgH="558720" progId="">
              <p:embed/>
            </p:oleObj>
          </a:graphicData>
        </a:graphic>
      </p:graphicFrame>
    </p:spTree>
    <p:extLst>
      <p:ext uri="{BB962C8B-B14F-4D97-AF65-F5344CB8AC3E}">
        <p14:creationId xmlns:p14="http://schemas.microsoft.com/office/powerpoint/2010/main" xmlns="" val="287163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20688"/>
            <a:ext cx="7689030" cy="638944"/>
          </a:xfrm>
        </p:spPr>
        <p:txBody>
          <a:bodyPr/>
          <a:lstStyle/>
          <a:p>
            <a:r>
              <a:rPr lang="en-US" altLang="zh-CN" dirty="0" smtClean="0"/>
              <a:t>4.2 </a:t>
            </a:r>
            <a:r>
              <a:rPr lang="zh-CN" altLang="en-US" dirty="0" smtClean="0"/>
              <a:t>组合逻辑电路设计</a:t>
            </a:r>
            <a:endParaRPr lang="zh-CN" altLang="en-US" dirty="0"/>
          </a:p>
        </p:txBody>
      </p:sp>
      <p:sp>
        <p:nvSpPr>
          <p:cNvPr id="3" name="内容占位符 2"/>
          <p:cNvSpPr>
            <a:spLocks noGrp="1"/>
          </p:cNvSpPr>
          <p:nvPr>
            <p:ph idx="1"/>
          </p:nvPr>
        </p:nvSpPr>
        <p:spPr/>
        <p:txBody>
          <a:bodyPr/>
          <a:lstStyle/>
          <a:p>
            <a:pPr>
              <a:buSzPct val="100000"/>
              <a:buNone/>
            </a:pPr>
            <a:r>
              <a:rPr lang="zh-CN" altLang="en-US" dirty="0"/>
              <a:t>（</a:t>
            </a:r>
            <a:r>
              <a:rPr lang="en-US" altLang="zh-CN" dirty="0"/>
              <a:t>5</a:t>
            </a:r>
            <a:r>
              <a:rPr lang="zh-CN" altLang="en-US" dirty="0"/>
              <a:t>）画出逻辑电路图</a:t>
            </a:r>
          </a:p>
        </p:txBody>
      </p:sp>
      <p:sp>
        <p:nvSpPr>
          <p:cNvPr id="7" name="矩形 6"/>
          <p:cNvSpPr/>
          <p:nvPr/>
        </p:nvSpPr>
        <p:spPr>
          <a:xfrm>
            <a:off x="1259632" y="2132856"/>
            <a:ext cx="2659702" cy="461665"/>
          </a:xfrm>
          <a:prstGeom prst="rect">
            <a:avLst/>
          </a:prstGeom>
        </p:spPr>
        <p:txBody>
          <a:bodyPr wrap="none">
            <a:spAutoFit/>
          </a:bodyPr>
          <a:lstStyle/>
          <a:p>
            <a:r>
              <a:rPr lang="zh-CN" altLang="en-US" sz="2400" b="1" dirty="0"/>
              <a:t>用</a:t>
            </a:r>
            <a:r>
              <a:rPr lang="zh-CN" altLang="en-US" sz="2400" b="1" dirty="0" smtClean="0">
                <a:solidFill>
                  <a:srgbClr val="FF0000"/>
                </a:solidFill>
              </a:rPr>
              <a:t>与门</a:t>
            </a:r>
            <a:r>
              <a:rPr lang="zh-CN" altLang="en-US" sz="2400" b="1" dirty="0"/>
              <a:t>和</a:t>
            </a:r>
            <a:r>
              <a:rPr lang="zh-CN" altLang="en-US" sz="2400" b="1" dirty="0">
                <a:solidFill>
                  <a:srgbClr val="FF0000"/>
                </a:solidFill>
              </a:rPr>
              <a:t>或门</a:t>
            </a:r>
            <a:r>
              <a:rPr lang="zh-CN" altLang="en-US" sz="2400" b="1" dirty="0"/>
              <a:t>实现</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38</a:t>
            </a:fld>
            <a:endParaRPr lang="zh-CN" altLang="en-US"/>
          </a:p>
        </p:txBody>
      </p:sp>
      <p:graphicFrame>
        <p:nvGraphicFramePr>
          <p:cNvPr id="119811" name="Object 3"/>
          <p:cNvGraphicFramePr>
            <a:graphicFrameLocks noChangeAspect="1"/>
          </p:cNvGraphicFramePr>
          <p:nvPr/>
        </p:nvGraphicFramePr>
        <p:xfrm>
          <a:off x="1043608" y="2780928"/>
          <a:ext cx="3567113" cy="406400"/>
        </p:xfrm>
        <a:graphic>
          <a:graphicData uri="http://schemas.openxmlformats.org/presentationml/2006/ole">
            <p:oleObj spid="_x0000_s119811" r:id="rId3" imgW="1942920" imgH="203040" progId="">
              <p:embed/>
            </p:oleObj>
          </a:graphicData>
        </a:graphic>
      </p:graphicFrame>
      <p:graphicFrame>
        <p:nvGraphicFramePr>
          <p:cNvPr id="6" name="Object 4"/>
          <p:cNvGraphicFramePr>
            <a:graphicFrameLocks noChangeAspect="1"/>
          </p:cNvGraphicFramePr>
          <p:nvPr/>
        </p:nvGraphicFramePr>
        <p:xfrm>
          <a:off x="5148064" y="2780928"/>
          <a:ext cx="3219450" cy="865187"/>
        </p:xfrm>
        <a:graphic>
          <a:graphicData uri="http://schemas.openxmlformats.org/presentationml/2006/ole">
            <p:oleObj spid="_x0000_s119812" r:id="rId4" imgW="1828800" imgH="482400" progId="">
              <p:embed/>
            </p:oleObj>
          </a:graphicData>
        </a:graphic>
      </p:graphicFrame>
      <p:pic>
        <p:nvPicPr>
          <p:cNvPr id="12" name="Picture 4"/>
          <p:cNvPicPr>
            <a:picLocks noChangeAspect="1" noChangeArrowheads="1"/>
          </p:cNvPicPr>
          <p:nvPr/>
        </p:nvPicPr>
        <p:blipFill>
          <a:blip r:embed="rId5" cstate="print"/>
          <a:srcRect/>
          <a:stretch>
            <a:fillRect/>
          </a:stretch>
        </p:blipFill>
        <p:spPr bwMode="auto">
          <a:xfrm>
            <a:off x="1043608" y="3861048"/>
            <a:ext cx="3472653" cy="2088232"/>
          </a:xfrm>
          <a:prstGeom prst="rect">
            <a:avLst/>
          </a:prstGeom>
          <a:noFill/>
          <a:ln w="9525">
            <a:noFill/>
            <a:miter lim="800000"/>
            <a:headEnd/>
            <a:tailEnd/>
          </a:ln>
        </p:spPr>
      </p:pic>
      <p:pic>
        <p:nvPicPr>
          <p:cNvPr id="119813" name="Picture 5"/>
          <p:cNvPicPr>
            <a:picLocks noChangeAspect="1" noChangeArrowheads="1"/>
          </p:cNvPicPr>
          <p:nvPr/>
        </p:nvPicPr>
        <p:blipFill>
          <a:blip r:embed="rId6" cstate="print"/>
          <a:srcRect/>
          <a:stretch>
            <a:fillRect/>
          </a:stretch>
        </p:blipFill>
        <p:spPr bwMode="auto">
          <a:xfrm>
            <a:off x="5076056" y="3861048"/>
            <a:ext cx="3533775" cy="2381250"/>
          </a:xfrm>
          <a:prstGeom prst="rect">
            <a:avLst/>
          </a:prstGeom>
          <a:noFill/>
          <a:ln w="9525">
            <a:noFill/>
            <a:miter lim="800000"/>
            <a:headEnd/>
            <a:tailEnd/>
          </a:ln>
        </p:spPr>
      </p:pic>
    </p:spTree>
    <p:extLst>
      <p:ext uri="{BB962C8B-B14F-4D97-AF65-F5344CB8AC3E}">
        <p14:creationId xmlns:p14="http://schemas.microsoft.com/office/powerpoint/2010/main" xmlns="" val="323728560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59632" y="188640"/>
            <a:ext cx="7617022" cy="566936"/>
          </a:xfrm>
        </p:spPr>
        <p:txBody>
          <a:bodyPr/>
          <a:lstStyle/>
          <a:p>
            <a:r>
              <a:rPr lang="en-US" altLang="zh-CN" sz="3200" dirty="0" smtClean="0"/>
              <a:t>4.2 </a:t>
            </a:r>
            <a:r>
              <a:rPr lang="zh-CN" altLang="en-US" sz="3200" dirty="0" smtClean="0"/>
              <a:t>组合逻辑电路设计</a:t>
            </a:r>
            <a:endParaRPr lang="zh-CN" altLang="en-US" sz="3200" dirty="0"/>
          </a:p>
        </p:txBody>
      </p:sp>
      <p:sp>
        <p:nvSpPr>
          <p:cNvPr id="4" name="矩形 3"/>
          <p:cNvSpPr/>
          <p:nvPr/>
        </p:nvSpPr>
        <p:spPr>
          <a:xfrm>
            <a:off x="5292080" y="2060848"/>
            <a:ext cx="2448272" cy="461665"/>
          </a:xfrm>
          <a:prstGeom prst="rect">
            <a:avLst/>
          </a:prstGeom>
        </p:spPr>
        <p:txBody>
          <a:bodyPr wrap="square">
            <a:spAutoFit/>
          </a:bodyPr>
          <a:lstStyle/>
          <a:p>
            <a:r>
              <a:rPr lang="zh-CN" altLang="en-US" sz="2400" b="1" dirty="0"/>
              <a:t>用</a:t>
            </a:r>
            <a:r>
              <a:rPr lang="zh-CN" altLang="en-US" sz="2400" b="1" dirty="0">
                <a:solidFill>
                  <a:srgbClr val="FF0000"/>
                </a:solidFill>
              </a:rPr>
              <a:t>与或非门</a:t>
            </a:r>
            <a:r>
              <a:rPr lang="zh-CN" altLang="en-US" sz="2400" b="1" dirty="0" smtClean="0"/>
              <a:t>实现</a:t>
            </a:r>
            <a:endParaRPr lang="zh-CN" altLang="en-US" sz="2400" b="1" dirty="0"/>
          </a:p>
        </p:txBody>
      </p:sp>
      <p:sp>
        <p:nvSpPr>
          <p:cNvPr id="21" name="灯片编号占位符 20"/>
          <p:cNvSpPr>
            <a:spLocks noGrp="1"/>
          </p:cNvSpPr>
          <p:nvPr>
            <p:ph type="sldNum" sz="quarter" idx="12"/>
          </p:nvPr>
        </p:nvSpPr>
        <p:spPr/>
        <p:txBody>
          <a:bodyPr/>
          <a:lstStyle/>
          <a:p>
            <a:fld id="{0C913308-F349-4B6D-A68A-DD1791B4A57B}" type="slidenum">
              <a:rPr lang="zh-CN" altLang="en-US" smtClean="0"/>
              <a:pPr/>
              <a:t>39</a:t>
            </a:fld>
            <a:endParaRPr lang="zh-CN" altLang="en-US"/>
          </a:p>
        </p:txBody>
      </p:sp>
      <p:pic>
        <p:nvPicPr>
          <p:cNvPr id="118789" name="Picture 5"/>
          <p:cNvPicPr>
            <a:picLocks noChangeAspect="1" noChangeArrowheads="1"/>
          </p:cNvPicPr>
          <p:nvPr/>
        </p:nvPicPr>
        <p:blipFill>
          <a:blip r:embed="rId3" cstate="print"/>
          <a:srcRect/>
          <a:stretch>
            <a:fillRect/>
          </a:stretch>
        </p:blipFill>
        <p:spPr bwMode="auto">
          <a:xfrm>
            <a:off x="5364088" y="3429000"/>
            <a:ext cx="3168352" cy="1868713"/>
          </a:xfrm>
          <a:prstGeom prst="rect">
            <a:avLst/>
          </a:prstGeom>
          <a:noFill/>
          <a:ln w="9525">
            <a:noFill/>
            <a:miter lim="800000"/>
            <a:headEnd/>
            <a:tailEnd/>
          </a:ln>
        </p:spPr>
      </p:pic>
      <p:sp>
        <p:nvSpPr>
          <p:cNvPr id="35" name="矩形 34"/>
          <p:cNvSpPr/>
          <p:nvPr/>
        </p:nvSpPr>
        <p:spPr>
          <a:xfrm>
            <a:off x="1187624" y="2060848"/>
            <a:ext cx="2040943" cy="461665"/>
          </a:xfrm>
          <a:prstGeom prst="rect">
            <a:avLst/>
          </a:prstGeom>
        </p:spPr>
        <p:txBody>
          <a:bodyPr wrap="none">
            <a:spAutoFit/>
          </a:bodyPr>
          <a:lstStyle/>
          <a:p>
            <a:r>
              <a:rPr lang="zh-CN" altLang="en-US" sz="2400" b="1" dirty="0"/>
              <a:t>用</a:t>
            </a:r>
            <a:r>
              <a:rPr lang="zh-CN" altLang="en-US" sz="2400" b="1" dirty="0" smtClean="0">
                <a:solidFill>
                  <a:srgbClr val="FF0000"/>
                </a:solidFill>
              </a:rPr>
              <a:t>与非门</a:t>
            </a:r>
            <a:r>
              <a:rPr lang="zh-CN" altLang="en-US" sz="2400" b="1" dirty="0"/>
              <a:t>实现</a:t>
            </a:r>
          </a:p>
        </p:txBody>
      </p:sp>
      <p:sp>
        <p:nvSpPr>
          <p:cNvPr id="40" name="矩形 39"/>
          <p:cNvSpPr/>
          <p:nvPr/>
        </p:nvSpPr>
        <p:spPr>
          <a:xfrm>
            <a:off x="827584" y="1556792"/>
            <a:ext cx="3164649" cy="461665"/>
          </a:xfrm>
          <a:prstGeom prst="rect">
            <a:avLst/>
          </a:prstGeom>
        </p:spPr>
        <p:txBody>
          <a:bodyPr wrap="none">
            <a:spAutoFit/>
          </a:bodyPr>
          <a:lstStyle/>
          <a:p>
            <a:pPr>
              <a:buSzPct val="100000"/>
              <a:buNone/>
            </a:pPr>
            <a:r>
              <a:rPr lang="zh-CN" altLang="en-US" sz="2400" b="1" dirty="0" smtClean="0"/>
              <a:t>（</a:t>
            </a:r>
            <a:r>
              <a:rPr lang="en-US" altLang="zh-CN" sz="2400" b="1" dirty="0" smtClean="0"/>
              <a:t>5</a:t>
            </a:r>
            <a:r>
              <a:rPr lang="zh-CN" altLang="en-US" sz="2400" b="1" dirty="0" smtClean="0"/>
              <a:t>）画出逻辑电路图</a:t>
            </a:r>
            <a:endParaRPr lang="zh-CN" altLang="en-US" sz="2400" b="1" dirty="0"/>
          </a:p>
        </p:txBody>
      </p:sp>
      <p:pic>
        <p:nvPicPr>
          <p:cNvPr id="41" name="Picture 2"/>
          <p:cNvPicPr>
            <a:picLocks noChangeAspect="1" noChangeArrowheads="1"/>
          </p:cNvPicPr>
          <p:nvPr/>
        </p:nvPicPr>
        <p:blipFill>
          <a:blip r:embed="rId4" cstate="print"/>
          <a:srcRect/>
          <a:stretch>
            <a:fillRect/>
          </a:stretch>
        </p:blipFill>
        <p:spPr bwMode="auto">
          <a:xfrm>
            <a:off x="1187624" y="3429000"/>
            <a:ext cx="3384376" cy="1982916"/>
          </a:xfrm>
          <a:prstGeom prst="rect">
            <a:avLst/>
          </a:prstGeom>
          <a:noFill/>
          <a:ln w="9525">
            <a:noFill/>
            <a:miter lim="800000"/>
            <a:headEnd/>
            <a:tailEnd/>
          </a:ln>
        </p:spPr>
      </p:pic>
      <p:graphicFrame>
        <p:nvGraphicFramePr>
          <p:cNvPr id="118790" name="Object 6"/>
          <p:cNvGraphicFramePr>
            <a:graphicFrameLocks noChangeAspect="1"/>
          </p:cNvGraphicFramePr>
          <p:nvPr/>
        </p:nvGraphicFramePr>
        <p:xfrm>
          <a:off x="1620838" y="2682875"/>
          <a:ext cx="2982912" cy="514350"/>
        </p:xfrm>
        <a:graphic>
          <a:graphicData uri="http://schemas.openxmlformats.org/presentationml/2006/ole">
            <p:oleObj spid="_x0000_s118790" r:id="rId5" imgW="1739880" imgH="266400" progId="">
              <p:embed/>
            </p:oleObj>
          </a:graphicData>
        </a:graphic>
      </p:graphicFrame>
      <p:graphicFrame>
        <p:nvGraphicFramePr>
          <p:cNvPr id="118791" name="Object 7"/>
          <p:cNvGraphicFramePr>
            <a:graphicFrameLocks noChangeAspect="1"/>
          </p:cNvGraphicFramePr>
          <p:nvPr/>
        </p:nvGraphicFramePr>
        <p:xfrm>
          <a:off x="5292080" y="2780928"/>
          <a:ext cx="3265487" cy="431800"/>
        </p:xfrm>
        <a:graphic>
          <a:graphicData uri="http://schemas.openxmlformats.org/presentationml/2006/ole">
            <p:oleObj spid="_x0000_s118791" r:id="rId6" imgW="1815840" imgH="228600" progId="">
              <p:embed/>
            </p:oleObj>
          </a:graphicData>
        </a:graphic>
      </p:graphicFrame>
    </p:spTree>
    <p:extLst>
      <p:ext uri="{BB962C8B-B14F-4D97-AF65-F5344CB8AC3E}">
        <p14:creationId xmlns:p14="http://schemas.microsoft.com/office/powerpoint/2010/main" xmlns="" val="52071660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20688"/>
            <a:ext cx="7689030" cy="638944"/>
          </a:xfrm>
        </p:spPr>
        <p:txBody>
          <a:bodyPr/>
          <a:lstStyle/>
          <a:p>
            <a:r>
              <a:rPr lang="en-US" altLang="zh-CN" dirty="0" smtClean="0"/>
              <a:t>4.2 </a:t>
            </a:r>
            <a:r>
              <a:rPr lang="zh-CN" altLang="en-US" dirty="0" smtClean="0"/>
              <a:t>组合逻辑电路设计</a:t>
            </a:r>
            <a:endParaRPr lang="zh-CN" altLang="en-US" dirty="0"/>
          </a:p>
        </p:txBody>
      </p:sp>
      <p:sp>
        <p:nvSpPr>
          <p:cNvPr id="3" name="内容占位符 2"/>
          <p:cNvSpPr>
            <a:spLocks noGrp="1"/>
          </p:cNvSpPr>
          <p:nvPr>
            <p:ph idx="1"/>
          </p:nvPr>
        </p:nvSpPr>
        <p:spPr>
          <a:xfrm>
            <a:off x="539552" y="1542208"/>
            <a:ext cx="5400600" cy="4911128"/>
          </a:xfrm>
        </p:spPr>
        <p:txBody>
          <a:bodyPr/>
          <a:lstStyle/>
          <a:p>
            <a:pPr>
              <a:buSzPct val="100000"/>
              <a:buFont typeface="Wingdings" pitchFamily="2" charset="2"/>
              <a:buChar char="p"/>
            </a:pPr>
            <a:r>
              <a:rPr lang="zh-CN" altLang="en-US" sz="2800" dirty="0" smtClean="0">
                <a:solidFill>
                  <a:srgbClr val="0000CC"/>
                </a:solidFill>
              </a:rPr>
              <a:t>例</a:t>
            </a:r>
            <a:r>
              <a:rPr lang="en-US" altLang="zh-CN" sz="2800" dirty="0" smtClean="0">
                <a:solidFill>
                  <a:srgbClr val="0000CC"/>
                </a:solidFill>
              </a:rPr>
              <a:t>4.4  </a:t>
            </a:r>
            <a:r>
              <a:rPr lang="zh-CN" altLang="en-US" sz="2800" dirty="0" smtClean="0"/>
              <a:t>试设计一个</a:t>
            </a:r>
            <a:r>
              <a:rPr lang="en-US" altLang="zh-CN" sz="2800" dirty="0" smtClean="0"/>
              <a:t>8421BCD</a:t>
            </a:r>
            <a:r>
              <a:rPr lang="zh-CN" altLang="en-US" sz="2800" dirty="0" smtClean="0"/>
              <a:t>码的检码电路。要求当输入量</a:t>
            </a:r>
            <a:r>
              <a:rPr lang="en-US" altLang="zh-CN" sz="2800" dirty="0" smtClean="0"/>
              <a:t>ABCD≤3</a:t>
            </a:r>
            <a:r>
              <a:rPr lang="zh-CN" altLang="en-US" sz="2800" dirty="0" smtClean="0"/>
              <a:t>或</a:t>
            </a:r>
            <a:r>
              <a:rPr lang="en-US" altLang="zh-CN" sz="2800" dirty="0" smtClean="0"/>
              <a:t>ABCD</a:t>
            </a:r>
            <a:r>
              <a:rPr lang="en-US" altLang="zh-CN" sz="2800" dirty="0" smtClean="0">
                <a:latin typeface="宋体"/>
                <a:ea typeface="宋体"/>
              </a:rPr>
              <a:t>≥8</a:t>
            </a:r>
            <a:r>
              <a:rPr lang="zh-CN" altLang="en-US" sz="2800" dirty="0" smtClean="0">
                <a:latin typeface="宋体"/>
                <a:ea typeface="宋体"/>
              </a:rPr>
              <a:t>时，电路输出</a:t>
            </a:r>
            <a:r>
              <a:rPr lang="en-US" altLang="zh-CN" sz="2800" dirty="0" smtClean="0">
                <a:latin typeface="宋体"/>
                <a:ea typeface="宋体"/>
              </a:rPr>
              <a:t>L</a:t>
            </a:r>
            <a:r>
              <a:rPr lang="zh-CN" altLang="en-US" sz="2800" dirty="0" smtClean="0">
                <a:latin typeface="宋体"/>
                <a:ea typeface="宋体"/>
              </a:rPr>
              <a:t>为高电平，否则为低电平</a:t>
            </a:r>
            <a:r>
              <a:rPr lang="zh-CN" altLang="en-US" sz="2800" dirty="0" smtClean="0"/>
              <a:t>。设计该电路，写出</a:t>
            </a:r>
            <a:r>
              <a:rPr lang="en-US" altLang="zh-CN" sz="2800" dirty="0" smtClean="0"/>
              <a:t>L</a:t>
            </a:r>
            <a:r>
              <a:rPr lang="zh-CN" altLang="en-US" sz="2800" dirty="0" smtClean="0"/>
              <a:t>的表达式。</a:t>
            </a:r>
            <a:endParaRPr lang="en-US" altLang="zh-CN" sz="2800" dirty="0" smtClean="0"/>
          </a:p>
          <a:p>
            <a:pPr>
              <a:buSzPct val="100000"/>
              <a:buFont typeface="Wingdings" pitchFamily="2" charset="2"/>
              <a:buChar char="p"/>
            </a:pPr>
            <a:r>
              <a:rPr lang="zh-CN" altLang="en-US" sz="2800" dirty="0" smtClean="0">
                <a:solidFill>
                  <a:srgbClr val="0000CC"/>
                </a:solidFill>
              </a:rPr>
              <a:t>解</a:t>
            </a:r>
            <a:r>
              <a:rPr lang="zh-CN" altLang="en-US" sz="2800" dirty="0" smtClean="0"/>
              <a:t>：</a:t>
            </a:r>
            <a:r>
              <a:rPr lang="en-US" altLang="zh-CN" sz="2800" dirty="0" smtClean="0"/>
              <a:t> </a:t>
            </a:r>
            <a:r>
              <a:rPr lang="zh-CN" altLang="en-US" sz="2800" dirty="0" smtClean="0"/>
              <a:t>（</a:t>
            </a:r>
            <a:r>
              <a:rPr lang="en-US" altLang="zh-CN" sz="2800" dirty="0" smtClean="0"/>
              <a:t>1</a:t>
            </a:r>
            <a:r>
              <a:rPr lang="zh-CN" altLang="en-US" sz="2800" dirty="0" smtClean="0"/>
              <a:t>）根据题意，得真值表如表</a:t>
            </a:r>
            <a:r>
              <a:rPr lang="en-US" altLang="zh-CN" sz="2800" dirty="0" smtClean="0"/>
              <a:t>4.4</a:t>
            </a:r>
            <a:r>
              <a:rPr lang="zh-CN" altLang="en-US" sz="2800" dirty="0" smtClean="0"/>
              <a:t>所示。</a:t>
            </a:r>
            <a:endParaRPr lang="en-US" altLang="zh-CN" sz="2800" dirty="0" smtClean="0"/>
          </a:p>
          <a:p>
            <a:pPr>
              <a:buSzPct val="100000"/>
              <a:buNone/>
            </a:pPr>
            <a:r>
              <a:rPr lang="en-US" altLang="zh-CN" sz="2800" dirty="0" smtClean="0"/>
              <a:t>   </a:t>
            </a:r>
            <a:r>
              <a:rPr lang="zh-CN" altLang="en-US" sz="2800" dirty="0" smtClean="0"/>
              <a:t>（</a:t>
            </a:r>
            <a:r>
              <a:rPr lang="en-US" altLang="zh-CN" sz="2800" dirty="0" smtClean="0"/>
              <a:t>2</a:t>
            </a:r>
            <a:r>
              <a:rPr lang="zh-CN" altLang="en-US" sz="2800" dirty="0" smtClean="0"/>
              <a:t>）由真值表写出逻辑函数表达式，有</a:t>
            </a:r>
            <a:endParaRPr lang="zh-CN" altLang="en-US" sz="2800"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40</a:t>
            </a:fld>
            <a:endParaRPr lang="zh-CN" altLang="en-US"/>
          </a:p>
        </p:txBody>
      </p:sp>
      <p:graphicFrame>
        <p:nvGraphicFramePr>
          <p:cNvPr id="6" name="表格 5"/>
          <p:cNvGraphicFramePr>
            <a:graphicFrameLocks noGrp="1"/>
          </p:cNvGraphicFramePr>
          <p:nvPr/>
        </p:nvGraphicFramePr>
        <p:xfrm>
          <a:off x="6444208" y="1628800"/>
          <a:ext cx="2016224" cy="4338925"/>
        </p:xfrm>
        <a:graphic>
          <a:graphicData uri="http://schemas.openxmlformats.org/drawingml/2006/table">
            <a:tbl>
              <a:tblPr firstRow="1" bandRow="1">
                <a:tableStyleId>{5C22544A-7EE6-4342-B048-85BDC9FD1C3A}</a:tableStyleId>
              </a:tblPr>
              <a:tblGrid>
                <a:gridCol w="1484300"/>
                <a:gridCol w="531924"/>
              </a:tblGrid>
              <a:tr h="316835">
                <a:tc>
                  <a:txBody>
                    <a:bodyPr/>
                    <a:lstStyle/>
                    <a:p>
                      <a:pPr algn="ctr"/>
                      <a:r>
                        <a:rPr lang="en-US" altLang="zh-CN" sz="1600" dirty="0" smtClean="0">
                          <a:solidFill>
                            <a:schemeClr val="tx1"/>
                          </a:solidFill>
                        </a:rPr>
                        <a:t>A</a:t>
                      </a:r>
                      <a:r>
                        <a:rPr lang="en-US" altLang="zh-CN" sz="1600" baseline="0" dirty="0" smtClean="0">
                          <a:solidFill>
                            <a:schemeClr val="tx1"/>
                          </a:solidFill>
                        </a:rPr>
                        <a:t>    B    C    D</a:t>
                      </a:r>
                      <a:endParaRPr lang="zh-CN" altLang="en-US" sz="1600"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baseline="0" dirty="0" smtClean="0">
                          <a:solidFill>
                            <a:schemeClr val="tx1"/>
                          </a:solidFill>
                        </a:rPr>
                        <a:t>L</a:t>
                      </a:r>
                      <a:endParaRPr lang="zh-CN" altLang="en-US" sz="16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4003645">
                <a:tc>
                  <a:txBody>
                    <a:bodyPr/>
                    <a:lstStyle/>
                    <a:p>
                      <a:pPr algn="ctr"/>
                      <a:r>
                        <a:rPr lang="en-US" altLang="zh-CN" sz="1600" dirty="0" smtClean="0">
                          <a:solidFill>
                            <a:schemeClr val="tx1"/>
                          </a:solidFill>
                        </a:rPr>
                        <a:t>0    0    0   0</a:t>
                      </a:r>
                    </a:p>
                    <a:p>
                      <a:pPr algn="ctr"/>
                      <a:r>
                        <a:rPr lang="en-US" altLang="zh-CN" sz="1600" dirty="0" smtClean="0">
                          <a:solidFill>
                            <a:schemeClr val="tx1"/>
                          </a:solidFill>
                        </a:rPr>
                        <a:t>0    0    0   1</a:t>
                      </a:r>
                    </a:p>
                    <a:p>
                      <a:pPr algn="ctr"/>
                      <a:r>
                        <a:rPr lang="en-US" altLang="zh-CN" sz="1600" dirty="0" smtClean="0">
                          <a:solidFill>
                            <a:schemeClr val="tx1"/>
                          </a:solidFill>
                        </a:rPr>
                        <a:t>0    0    1   0</a:t>
                      </a:r>
                    </a:p>
                    <a:p>
                      <a:pPr algn="ctr"/>
                      <a:r>
                        <a:rPr lang="en-US" altLang="zh-CN" sz="1600" dirty="0" smtClean="0">
                          <a:solidFill>
                            <a:schemeClr val="tx1"/>
                          </a:solidFill>
                        </a:rPr>
                        <a:t>0    0    1   1</a:t>
                      </a:r>
                    </a:p>
                    <a:p>
                      <a:pPr marL="342900" indent="-342900" algn="ctr">
                        <a:buNone/>
                      </a:pPr>
                      <a:r>
                        <a:rPr lang="en-US" altLang="zh-CN" sz="1600" dirty="0" smtClean="0">
                          <a:solidFill>
                            <a:schemeClr val="tx1"/>
                          </a:solidFill>
                        </a:rPr>
                        <a:t>0</a:t>
                      </a:r>
                      <a:r>
                        <a:rPr lang="en-US" altLang="zh-CN" sz="1600" baseline="0" dirty="0" smtClean="0">
                          <a:solidFill>
                            <a:schemeClr val="tx1"/>
                          </a:solidFill>
                        </a:rPr>
                        <a:t>    1</a:t>
                      </a:r>
                      <a:r>
                        <a:rPr lang="en-US" altLang="zh-CN" sz="1600" dirty="0" smtClean="0">
                          <a:solidFill>
                            <a:schemeClr val="tx1"/>
                          </a:solidFill>
                        </a:rPr>
                        <a:t>    0   0</a:t>
                      </a:r>
                    </a:p>
                    <a:p>
                      <a:pPr marL="342900" indent="-342900" algn="ctr">
                        <a:buFontTx/>
                        <a:buNone/>
                      </a:pPr>
                      <a:r>
                        <a:rPr lang="en-US" altLang="zh-CN" sz="1600" baseline="0" dirty="0" smtClean="0">
                          <a:solidFill>
                            <a:schemeClr val="tx1"/>
                          </a:solidFill>
                        </a:rPr>
                        <a:t>0    1    0   1</a:t>
                      </a:r>
                    </a:p>
                    <a:p>
                      <a:pPr marL="342900" indent="-342900" algn="ctr">
                        <a:buNone/>
                      </a:pPr>
                      <a:r>
                        <a:rPr lang="en-US" altLang="zh-CN" sz="1600" dirty="0" smtClean="0">
                          <a:solidFill>
                            <a:schemeClr val="tx1"/>
                          </a:solidFill>
                        </a:rPr>
                        <a:t>0    1    1   0</a:t>
                      </a:r>
                    </a:p>
                    <a:p>
                      <a:pPr marL="342900" indent="-342900" algn="ctr">
                        <a:buNone/>
                      </a:pPr>
                      <a:r>
                        <a:rPr lang="en-US" altLang="zh-CN" sz="1600" dirty="0" smtClean="0">
                          <a:solidFill>
                            <a:schemeClr val="tx1"/>
                          </a:solidFill>
                        </a:rPr>
                        <a:t>0    1    1   1 </a:t>
                      </a:r>
                    </a:p>
                    <a:p>
                      <a:pPr algn="ctr"/>
                      <a:r>
                        <a:rPr lang="en-US" altLang="zh-CN" sz="1600" dirty="0" smtClean="0">
                          <a:solidFill>
                            <a:schemeClr val="tx1"/>
                          </a:solidFill>
                        </a:rPr>
                        <a:t>1    0    0   0</a:t>
                      </a:r>
                    </a:p>
                    <a:p>
                      <a:pPr algn="ctr"/>
                      <a:r>
                        <a:rPr lang="en-US" altLang="zh-CN" sz="1600" dirty="0" smtClean="0">
                          <a:solidFill>
                            <a:schemeClr val="tx1"/>
                          </a:solidFill>
                        </a:rPr>
                        <a:t>1    0    0   1</a:t>
                      </a:r>
                    </a:p>
                    <a:p>
                      <a:pPr algn="ctr"/>
                      <a:r>
                        <a:rPr lang="en-US" altLang="zh-CN" sz="1600" dirty="0" smtClean="0">
                          <a:solidFill>
                            <a:schemeClr val="tx1"/>
                          </a:solidFill>
                        </a:rPr>
                        <a:t>1    0    1   0</a:t>
                      </a:r>
                    </a:p>
                    <a:p>
                      <a:pPr algn="ctr"/>
                      <a:r>
                        <a:rPr lang="en-US" altLang="zh-CN" sz="1600" dirty="0" smtClean="0">
                          <a:solidFill>
                            <a:schemeClr val="tx1"/>
                          </a:solidFill>
                        </a:rPr>
                        <a:t>1    0    1   1</a:t>
                      </a:r>
                    </a:p>
                    <a:p>
                      <a:pPr marL="342900" indent="-342900" algn="ctr">
                        <a:buNone/>
                      </a:pPr>
                      <a:r>
                        <a:rPr lang="en-US" altLang="zh-CN" sz="1600" baseline="0" dirty="0" smtClean="0">
                          <a:solidFill>
                            <a:schemeClr val="tx1"/>
                          </a:solidFill>
                        </a:rPr>
                        <a:t>1    1</a:t>
                      </a:r>
                      <a:r>
                        <a:rPr lang="en-US" altLang="zh-CN" sz="1600" dirty="0" smtClean="0">
                          <a:solidFill>
                            <a:schemeClr val="tx1"/>
                          </a:solidFill>
                        </a:rPr>
                        <a:t>    0   0</a:t>
                      </a:r>
                    </a:p>
                    <a:p>
                      <a:pPr marL="342900" indent="-342900" algn="ctr">
                        <a:buFontTx/>
                        <a:buNone/>
                      </a:pPr>
                      <a:r>
                        <a:rPr lang="en-US" altLang="zh-CN" sz="1600" baseline="0" dirty="0" smtClean="0">
                          <a:solidFill>
                            <a:schemeClr val="tx1"/>
                          </a:solidFill>
                        </a:rPr>
                        <a:t>1    1    0   1</a:t>
                      </a:r>
                    </a:p>
                    <a:p>
                      <a:pPr marL="342900" indent="-342900" algn="ctr">
                        <a:buNone/>
                      </a:pPr>
                      <a:r>
                        <a:rPr lang="en-US" altLang="zh-CN" sz="1600" dirty="0" smtClean="0">
                          <a:solidFill>
                            <a:schemeClr val="tx1"/>
                          </a:solidFill>
                        </a:rPr>
                        <a:t>1    1    1   0</a:t>
                      </a:r>
                    </a:p>
                    <a:p>
                      <a:pPr marL="342900" indent="-342900" algn="ctr">
                        <a:buNone/>
                      </a:pPr>
                      <a:r>
                        <a:rPr lang="en-US" altLang="zh-CN" sz="1600" dirty="0" smtClean="0">
                          <a:solidFill>
                            <a:schemeClr val="tx1"/>
                          </a:solidFill>
                        </a:rPr>
                        <a:t>1    1    1   1</a:t>
                      </a:r>
                      <a:endParaRPr lang="zh-CN" altLang="en-US" sz="1600"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smtClean="0">
                          <a:solidFill>
                            <a:schemeClr val="tx1"/>
                          </a:solidFill>
                        </a:rPr>
                        <a:t>1</a:t>
                      </a:r>
                    </a:p>
                    <a:p>
                      <a:pPr algn="ctr"/>
                      <a:r>
                        <a:rPr lang="en-US" altLang="zh-CN" sz="1600" dirty="0" smtClean="0">
                          <a:solidFill>
                            <a:schemeClr val="tx1"/>
                          </a:solidFill>
                        </a:rPr>
                        <a:t>1</a:t>
                      </a:r>
                    </a:p>
                    <a:p>
                      <a:pPr algn="ctr"/>
                      <a:r>
                        <a:rPr lang="en-US" altLang="zh-CN" sz="1600" dirty="0" smtClean="0">
                          <a:solidFill>
                            <a:schemeClr val="tx1"/>
                          </a:solidFill>
                        </a:rPr>
                        <a:t>1</a:t>
                      </a:r>
                    </a:p>
                    <a:p>
                      <a:pPr algn="ctr"/>
                      <a:r>
                        <a:rPr lang="en-US" altLang="zh-CN" sz="1600" dirty="0" smtClean="0">
                          <a:solidFill>
                            <a:schemeClr val="tx1"/>
                          </a:solidFill>
                        </a:rPr>
                        <a:t>1</a:t>
                      </a:r>
                    </a:p>
                    <a:p>
                      <a:pPr algn="ctr"/>
                      <a:r>
                        <a:rPr lang="en-US" altLang="zh-CN" sz="1600" dirty="0" smtClean="0">
                          <a:solidFill>
                            <a:schemeClr val="tx1"/>
                          </a:solidFill>
                        </a:rPr>
                        <a:t>0</a:t>
                      </a:r>
                    </a:p>
                    <a:p>
                      <a:pPr algn="ctr"/>
                      <a:r>
                        <a:rPr lang="en-US" altLang="zh-CN" sz="1600" dirty="0" smtClean="0">
                          <a:solidFill>
                            <a:schemeClr val="tx1"/>
                          </a:solidFill>
                        </a:rPr>
                        <a:t>0</a:t>
                      </a:r>
                    </a:p>
                    <a:p>
                      <a:pPr algn="ctr"/>
                      <a:r>
                        <a:rPr lang="en-US" altLang="zh-CN" sz="1600" dirty="0" smtClean="0">
                          <a:solidFill>
                            <a:schemeClr val="tx1"/>
                          </a:solidFill>
                        </a:rPr>
                        <a:t>0</a:t>
                      </a:r>
                    </a:p>
                    <a:p>
                      <a:pPr algn="ctr"/>
                      <a:r>
                        <a:rPr lang="en-US" altLang="zh-CN" sz="1600" dirty="0" smtClean="0">
                          <a:solidFill>
                            <a:schemeClr val="tx1"/>
                          </a:solidFill>
                        </a:rPr>
                        <a:t>0</a:t>
                      </a:r>
                    </a:p>
                    <a:p>
                      <a:pPr algn="ctr"/>
                      <a:r>
                        <a:rPr lang="en-US" altLang="zh-CN" sz="1600" dirty="0" smtClean="0">
                          <a:solidFill>
                            <a:schemeClr val="tx1"/>
                          </a:solidFill>
                        </a:rPr>
                        <a:t>1</a:t>
                      </a:r>
                    </a:p>
                    <a:p>
                      <a:pPr algn="ctr"/>
                      <a:r>
                        <a:rPr lang="en-US" altLang="zh-CN" sz="1600" dirty="0" smtClean="0">
                          <a:solidFill>
                            <a:schemeClr val="tx1"/>
                          </a:solidFill>
                        </a:rPr>
                        <a:t>1</a:t>
                      </a:r>
                    </a:p>
                    <a:p>
                      <a:pPr algn="ctr"/>
                      <a:r>
                        <a:rPr lang="el-GR" altLang="zh-CN" sz="1600" dirty="0" smtClean="0">
                          <a:solidFill>
                            <a:schemeClr val="tx1"/>
                          </a:solidFill>
                          <a:ea typeface="宋体"/>
                        </a:rPr>
                        <a:t>Φ</a:t>
                      </a:r>
                      <a:endParaRPr lang="en-US" altLang="zh-CN" sz="1600" dirty="0" smtClean="0">
                        <a:solidFill>
                          <a:schemeClr val="tx1"/>
                        </a:solidFill>
                      </a:endParaRPr>
                    </a:p>
                    <a:p>
                      <a:pPr algn="ctr"/>
                      <a:r>
                        <a:rPr lang="el-GR" altLang="zh-CN" sz="1600" dirty="0" smtClean="0">
                          <a:solidFill>
                            <a:schemeClr val="tx1"/>
                          </a:solidFill>
                          <a:ea typeface="+mn-ea"/>
                        </a:rPr>
                        <a:t>Φ</a:t>
                      </a:r>
                      <a:endParaRPr lang="en-US" altLang="zh-CN" sz="1600" dirty="0" smtClean="0">
                        <a:solidFill>
                          <a:schemeClr val="tx1"/>
                        </a:solidFill>
                      </a:endParaRPr>
                    </a:p>
                    <a:p>
                      <a:pPr marL="0" marR="0" indent="0" algn="ctr" defTabSz="914400" rtl="0" eaLnBrk="1" fontAlgn="auto" latinLnBrk="0" hangingPunct="1">
                        <a:lnSpc>
                          <a:spcPct val="100000"/>
                        </a:lnSpc>
                        <a:spcBef>
                          <a:spcPts val="0"/>
                        </a:spcBef>
                        <a:spcAft>
                          <a:spcPts val="0"/>
                        </a:spcAft>
                        <a:buClrTx/>
                        <a:buSzTx/>
                        <a:buFontTx/>
                        <a:buNone/>
                        <a:tabLst/>
                        <a:defRPr/>
                      </a:pPr>
                      <a:r>
                        <a:rPr lang="el-GR" altLang="zh-CN" sz="1600" dirty="0" smtClean="0">
                          <a:solidFill>
                            <a:schemeClr val="tx1"/>
                          </a:solidFill>
                          <a:ea typeface="+mn-ea"/>
                        </a:rPr>
                        <a:t>Φ</a:t>
                      </a:r>
                      <a:endParaRPr lang="en-US" altLang="zh-CN" sz="1600" dirty="0" smtClean="0">
                        <a:solidFill>
                          <a:schemeClr val="tx1"/>
                        </a:solidFill>
                      </a:endParaRPr>
                    </a:p>
                    <a:p>
                      <a:pPr algn="ctr"/>
                      <a:r>
                        <a:rPr lang="el-GR" altLang="zh-CN" sz="1600" dirty="0" smtClean="0">
                          <a:solidFill>
                            <a:schemeClr val="tx1"/>
                          </a:solidFill>
                          <a:ea typeface="+mn-ea"/>
                        </a:rPr>
                        <a:t>Φ</a:t>
                      </a:r>
                      <a:endParaRPr lang="en-US" altLang="zh-CN" sz="1600" dirty="0" smtClean="0">
                        <a:solidFill>
                          <a:schemeClr val="tx1"/>
                        </a:solidFill>
                      </a:endParaRPr>
                    </a:p>
                    <a:p>
                      <a:pPr algn="ctr"/>
                      <a:r>
                        <a:rPr lang="el-GR" altLang="zh-CN" sz="1600" dirty="0" smtClean="0">
                          <a:solidFill>
                            <a:schemeClr val="tx1"/>
                          </a:solidFill>
                          <a:ea typeface="+mn-ea"/>
                        </a:rPr>
                        <a:t>Φ</a:t>
                      </a:r>
                      <a:endParaRPr lang="en-US" altLang="zh-CN" sz="1600" dirty="0" smtClean="0">
                        <a:solidFill>
                          <a:schemeClr val="tx1"/>
                        </a:solidFill>
                      </a:endParaRPr>
                    </a:p>
                    <a:p>
                      <a:pPr marL="0" marR="0" indent="0" algn="ctr" defTabSz="914400" rtl="0" eaLnBrk="1" fontAlgn="auto" latinLnBrk="0" hangingPunct="1">
                        <a:lnSpc>
                          <a:spcPct val="100000"/>
                        </a:lnSpc>
                        <a:spcBef>
                          <a:spcPts val="0"/>
                        </a:spcBef>
                        <a:spcAft>
                          <a:spcPts val="0"/>
                        </a:spcAft>
                        <a:buClrTx/>
                        <a:buSzTx/>
                        <a:buFontTx/>
                        <a:buNone/>
                        <a:tabLst/>
                        <a:defRPr/>
                      </a:pPr>
                      <a:r>
                        <a:rPr lang="el-GR" altLang="zh-CN" sz="1600" dirty="0" smtClean="0">
                          <a:solidFill>
                            <a:schemeClr val="tx1"/>
                          </a:solidFill>
                          <a:ea typeface="+mn-ea"/>
                        </a:rPr>
                        <a:t>Φ</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graphicFrame>
        <p:nvGraphicFramePr>
          <p:cNvPr id="489474" name="Object 2"/>
          <p:cNvGraphicFramePr>
            <a:graphicFrameLocks noChangeAspect="1"/>
          </p:cNvGraphicFramePr>
          <p:nvPr/>
        </p:nvGraphicFramePr>
        <p:xfrm>
          <a:off x="1547664" y="5373216"/>
          <a:ext cx="3744416" cy="936104"/>
        </p:xfrm>
        <a:graphic>
          <a:graphicData uri="http://schemas.openxmlformats.org/presentationml/2006/ole">
            <p:oleObj spid="_x0000_s489474" r:id="rId3" imgW="2133360" imgH="533160" progId="">
              <p:embed/>
            </p:oleObj>
          </a:graphicData>
        </a:graphic>
      </p:graphicFrame>
    </p:spTree>
    <p:extLst>
      <p:ext uri="{BB962C8B-B14F-4D97-AF65-F5344CB8AC3E}">
        <p14:creationId xmlns:p14="http://schemas.microsoft.com/office/powerpoint/2010/main" xmlns="" val="339569236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20688"/>
            <a:ext cx="7689030" cy="638944"/>
          </a:xfrm>
        </p:spPr>
        <p:txBody>
          <a:bodyPr/>
          <a:lstStyle/>
          <a:p>
            <a:r>
              <a:rPr lang="en-US" altLang="zh-CN" dirty="0" smtClean="0"/>
              <a:t>4.2 </a:t>
            </a:r>
            <a:r>
              <a:rPr lang="zh-CN" altLang="en-US" dirty="0" smtClean="0"/>
              <a:t>组合逻辑电路设计</a:t>
            </a:r>
            <a:endParaRPr lang="zh-CN" altLang="en-US" dirty="0"/>
          </a:p>
        </p:txBody>
      </p:sp>
      <p:sp>
        <p:nvSpPr>
          <p:cNvPr id="3" name="内容占位符 2"/>
          <p:cNvSpPr>
            <a:spLocks noGrp="1"/>
          </p:cNvSpPr>
          <p:nvPr>
            <p:ph idx="1"/>
          </p:nvPr>
        </p:nvSpPr>
        <p:spPr>
          <a:xfrm>
            <a:off x="539552" y="1542208"/>
            <a:ext cx="8415536" cy="4911128"/>
          </a:xfrm>
        </p:spPr>
        <p:txBody>
          <a:bodyPr/>
          <a:lstStyle/>
          <a:p>
            <a:pPr>
              <a:buSzPct val="100000"/>
              <a:buFont typeface="Wingdings" pitchFamily="2" charset="2"/>
              <a:buChar char="p"/>
            </a:pPr>
            <a:r>
              <a:rPr lang="zh-CN" altLang="en-US" sz="2800" dirty="0" smtClean="0">
                <a:solidFill>
                  <a:srgbClr val="0000CC"/>
                </a:solidFill>
              </a:rPr>
              <a:t>例</a:t>
            </a:r>
            <a:r>
              <a:rPr lang="en-US" altLang="zh-CN" sz="2800" dirty="0" smtClean="0">
                <a:solidFill>
                  <a:srgbClr val="0000CC"/>
                </a:solidFill>
              </a:rPr>
              <a:t>4.4 </a:t>
            </a:r>
            <a:r>
              <a:rPr lang="zh-CN" altLang="en-US" sz="2800" dirty="0" smtClean="0">
                <a:solidFill>
                  <a:srgbClr val="0000CC"/>
                </a:solidFill>
              </a:rPr>
              <a:t>解：</a:t>
            </a:r>
            <a:endParaRPr lang="en-US" altLang="zh-CN" sz="2800" dirty="0" smtClean="0">
              <a:solidFill>
                <a:srgbClr val="0000CC"/>
              </a:solidFill>
            </a:endParaRPr>
          </a:p>
          <a:p>
            <a:pPr>
              <a:buSzPct val="100000"/>
              <a:buNone/>
            </a:pPr>
            <a:r>
              <a:rPr lang="en-US" altLang="zh-CN" sz="2800" dirty="0" smtClean="0">
                <a:solidFill>
                  <a:srgbClr val="0000CC"/>
                </a:solidFill>
              </a:rPr>
              <a:t>  </a:t>
            </a:r>
            <a:r>
              <a:rPr lang="zh-CN" altLang="en-US" sz="2800" dirty="0" smtClean="0"/>
              <a:t>（</a:t>
            </a:r>
            <a:r>
              <a:rPr lang="en-US" altLang="zh-CN" sz="2800" dirty="0" smtClean="0"/>
              <a:t>3</a:t>
            </a:r>
            <a:r>
              <a:rPr lang="zh-CN" altLang="en-US" sz="2800" dirty="0" smtClean="0"/>
              <a:t>）画出卡诺图，如图</a:t>
            </a:r>
            <a:r>
              <a:rPr lang="en-US" altLang="zh-CN" sz="2800" dirty="0" smtClean="0"/>
              <a:t>4.9</a:t>
            </a:r>
            <a:r>
              <a:rPr lang="zh-CN" altLang="en-US" sz="2800" dirty="0" smtClean="0"/>
              <a:t>所示。</a:t>
            </a:r>
            <a:endParaRPr lang="en-US" altLang="zh-CN" sz="2800" dirty="0" smtClean="0"/>
          </a:p>
          <a:p>
            <a:pPr>
              <a:buSzPct val="100000"/>
              <a:buNone/>
            </a:pPr>
            <a:r>
              <a:rPr lang="en-US" altLang="zh-CN" sz="2800" dirty="0" smtClean="0"/>
              <a:t>           </a:t>
            </a:r>
            <a:r>
              <a:rPr lang="zh-CN" altLang="en-US" sz="2800" dirty="0" smtClean="0"/>
              <a:t>由卡诺图得到</a:t>
            </a:r>
            <a:endParaRPr lang="en-US" altLang="zh-CN" sz="2800" dirty="0" smtClean="0"/>
          </a:p>
          <a:p>
            <a:pPr>
              <a:buSzPct val="100000"/>
              <a:buNone/>
            </a:pPr>
            <a:endParaRPr lang="en-US" altLang="zh-CN" sz="2800" dirty="0" smtClean="0"/>
          </a:p>
          <a:p>
            <a:pPr>
              <a:buSzPct val="100000"/>
              <a:buNone/>
            </a:pPr>
            <a:endParaRPr lang="en-US" altLang="zh-CN" sz="2800" dirty="0" smtClean="0"/>
          </a:p>
          <a:p>
            <a:pPr>
              <a:buSzPct val="100000"/>
              <a:buNone/>
            </a:pPr>
            <a:r>
              <a:rPr lang="en-US" altLang="zh-CN" sz="2800" dirty="0" smtClean="0"/>
              <a:t>  </a:t>
            </a:r>
            <a:r>
              <a:rPr lang="zh-CN" altLang="en-US" sz="2800" dirty="0" smtClean="0"/>
              <a:t>（</a:t>
            </a:r>
            <a:r>
              <a:rPr lang="en-US" altLang="zh-CN" sz="2800" dirty="0" smtClean="0"/>
              <a:t>4</a:t>
            </a:r>
            <a:r>
              <a:rPr lang="zh-CN" altLang="en-US" sz="2800" dirty="0" smtClean="0"/>
              <a:t>）逻辑电路图如图</a:t>
            </a:r>
            <a:r>
              <a:rPr lang="en-US" altLang="zh-CN" sz="2800" dirty="0" smtClean="0"/>
              <a:t>4.10</a:t>
            </a:r>
            <a:r>
              <a:rPr lang="zh-CN" altLang="en-US" sz="2800" dirty="0" smtClean="0"/>
              <a:t>所示。</a:t>
            </a:r>
            <a:endParaRPr lang="en-US" altLang="zh-CN" sz="2800" dirty="0" smtClean="0"/>
          </a:p>
          <a:p>
            <a:pPr>
              <a:buSzPct val="100000"/>
              <a:buNone/>
            </a:pPr>
            <a:r>
              <a:rPr lang="en-US" altLang="zh-CN" sz="2800" dirty="0" smtClean="0"/>
              <a:t>       </a:t>
            </a:r>
          </a:p>
          <a:p>
            <a:pPr>
              <a:buSzPct val="100000"/>
              <a:buNone/>
            </a:pPr>
            <a:r>
              <a:rPr lang="en-US" altLang="zh-CN" sz="2800" dirty="0" smtClean="0"/>
              <a:t>           </a:t>
            </a:r>
            <a:endParaRPr lang="zh-CN" altLang="en-US" sz="2800"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41</a:t>
            </a:fld>
            <a:endParaRPr lang="zh-CN" altLang="en-US"/>
          </a:p>
        </p:txBody>
      </p:sp>
      <p:graphicFrame>
        <p:nvGraphicFramePr>
          <p:cNvPr id="486403" name="Object 3"/>
          <p:cNvGraphicFramePr>
            <a:graphicFrameLocks noChangeAspect="1"/>
          </p:cNvGraphicFramePr>
          <p:nvPr/>
        </p:nvGraphicFramePr>
        <p:xfrm>
          <a:off x="1907704" y="3068960"/>
          <a:ext cx="919163" cy="444500"/>
        </p:xfrm>
        <a:graphic>
          <a:graphicData uri="http://schemas.openxmlformats.org/presentationml/2006/ole">
            <p:oleObj spid="_x0000_s488450" r:id="rId3" imgW="406080" imgH="190440" progId="">
              <p:embed/>
            </p:oleObj>
          </a:graphicData>
        </a:graphic>
      </p:graphicFrame>
      <p:graphicFrame>
        <p:nvGraphicFramePr>
          <p:cNvPr id="8" name="表格 7"/>
          <p:cNvGraphicFramePr>
            <a:graphicFrameLocks noGrp="1"/>
          </p:cNvGraphicFramePr>
          <p:nvPr/>
        </p:nvGraphicFramePr>
        <p:xfrm>
          <a:off x="6228184" y="2276872"/>
          <a:ext cx="2664298" cy="2133600"/>
        </p:xfrm>
        <a:graphic>
          <a:graphicData uri="http://schemas.openxmlformats.org/drawingml/2006/table">
            <a:tbl>
              <a:tblPr/>
              <a:tblGrid>
                <a:gridCol w="498556"/>
                <a:gridCol w="611478"/>
                <a:gridCol w="389898"/>
                <a:gridCol w="389898"/>
                <a:gridCol w="384570"/>
                <a:gridCol w="389898"/>
              </a:tblGrid>
              <a:tr h="236598">
                <a:tc>
                  <a:txBody>
                    <a:bodyPr/>
                    <a:lstStyle/>
                    <a:p>
                      <a:pPr algn="ctr">
                        <a:spcBef>
                          <a:spcPts val="155"/>
                        </a:spcBef>
                        <a:spcAft>
                          <a:spcPts val="155"/>
                        </a:spcAft>
                      </a:pPr>
                      <a:r>
                        <a:rPr lang="en-US" sz="2000" b="1" i="1" kern="100" dirty="0" smtClean="0">
                          <a:latin typeface="Times New Roman"/>
                          <a:ea typeface="宋体"/>
                          <a:cs typeface="Times New Roman"/>
                        </a:rPr>
                        <a:t>L</a:t>
                      </a:r>
                      <a:endParaRPr lang="zh-CN" sz="2000" b="1" kern="100" dirty="0">
                        <a:latin typeface="Times New Roman"/>
                        <a:ea typeface="宋体"/>
                        <a:cs typeface="Times New Roman"/>
                      </a:endParaRPr>
                    </a:p>
                  </a:txBody>
                  <a:tcPr marL="36195" marR="36195" marT="0" marB="0" anchor="ctr">
                    <a:lnL>
                      <a:noFill/>
                    </a:lnL>
                    <a:lnR>
                      <a:noFill/>
                    </a:lnR>
                    <a:lnT>
                      <a:noFill/>
                    </a:lnT>
                    <a:lnB>
                      <a:noFill/>
                    </a:lnB>
                  </a:tcPr>
                </a:tc>
                <a:tc>
                  <a:txBody>
                    <a:bodyPr/>
                    <a:lstStyle/>
                    <a:p>
                      <a:pPr algn="just">
                        <a:spcBef>
                          <a:spcPts val="155"/>
                        </a:spcBef>
                        <a:spcAft>
                          <a:spcPts val="155"/>
                        </a:spcAft>
                      </a:pPr>
                      <a:endParaRPr lang="en-US" sz="2000" b="1" kern="100">
                        <a:latin typeface="Times New Roman"/>
                        <a:ea typeface="宋体"/>
                        <a:cs typeface="Times New Roman"/>
                      </a:endParaRPr>
                    </a:p>
                  </a:txBody>
                  <a:tcPr marL="36195" marR="36195" marT="0" marB="0">
                    <a:lnL>
                      <a:noFill/>
                    </a:lnL>
                    <a:lnR>
                      <a:noFill/>
                    </a:lnR>
                    <a:lnT>
                      <a:noFill/>
                    </a:lnT>
                    <a:lnB>
                      <a:noFill/>
                    </a:lnB>
                  </a:tcPr>
                </a:tc>
                <a:tc>
                  <a:txBody>
                    <a:bodyPr/>
                    <a:lstStyle/>
                    <a:p>
                      <a:pPr algn="just">
                        <a:spcBef>
                          <a:spcPts val="155"/>
                        </a:spcBef>
                        <a:spcAft>
                          <a:spcPts val="155"/>
                        </a:spcAft>
                      </a:pPr>
                      <a:endParaRPr lang="en-US" sz="2000" b="1" kern="100">
                        <a:latin typeface="Times New Roman"/>
                        <a:ea typeface="宋体"/>
                        <a:cs typeface="Times New Roman"/>
                      </a:endParaRPr>
                    </a:p>
                  </a:txBody>
                  <a:tcPr marL="36195" marR="36195" marT="0" marB="0">
                    <a:lnL>
                      <a:noFill/>
                    </a:lnL>
                    <a:lnR>
                      <a:noFill/>
                    </a:lnR>
                    <a:lnT>
                      <a:noFill/>
                    </a:lnT>
                    <a:lnB>
                      <a:noFill/>
                    </a:lnB>
                  </a:tcPr>
                </a:tc>
                <a:tc>
                  <a:txBody>
                    <a:bodyPr/>
                    <a:lstStyle/>
                    <a:p>
                      <a:pPr algn="just">
                        <a:spcBef>
                          <a:spcPts val="155"/>
                        </a:spcBef>
                        <a:spcAft>
                          <a:spcPts val="155"/>
                        </a:spcAft>
                      </a:pPr>
                      <a:endParaRPr lang="en-US" sz="2000" b="1" kern="100">
                        <a:latin typeface="Times New Roman"/>
                        <a:ea typeface="宋体"/>
                        <a:cs typeface="Times New Roman"/>
                      </a:endParaRPr>
                    </a:p>
                  </a:txBody>
                  <a:tcPr marL="36195" marR="36195" marT="0" marB="0">
                    <a:lnL>
                      <a:noFill/>
                    </a:lnL>
                    <a:lnR>
                      <a:noFill/>
                    </a:lnR>
                    <a:lnT>
                      <a:noFill/>
                    </a:lnT>
                    <a:lnB>
                      <a:noFill/>
                    </a:lnB>
                  </a:tcPr>
                </a:tc>
                <a:tc>
                  <a:txBody>
                    <a:bodyPr/>
                    <a:lstStyle/>
                    <a:p>
                      <a:pPr algn="just">
                        <a:spcBef>
                          <a:spcPts val="155"/>
                        </a:spcBef>
                        <a:spcAft>
                          <a:spcPts val="155"/>
                        </a:spcAft>
                      </a:pPr>
                      <a:endParaRPr lang="en-US" sz="2000" b="1" kern="100">
                        <a:latin typeface="Times New Roman"/>
                        <a:ea typeface="宋体"/>
                        <a:cs typeface="Times New Roman"/>
                      </a:endParaRPr>
                    </a:p>
                  </a:txBody>
                  <a:tcPr marL="36195" marR="36195" marT="0" marB="0">
                    <a:lnL>
                      <a:noFill/>
                    </a:lnL>
                    <a:lnR>
                      <a:noFill/>
                    </a:lnR>
                    <a:lnT>
                      <a:noFill/>
                    </a:lnT>
                    <a:lnB>
                      <a:noFill/>
                    </a:lnB>
                  </a:tcPr>
                </a:tc>
                <a:tc>
                  <a:txBody>
                    <a:bodyPr/>
                    <a:lstStyle/>
                    <a:p>
                      <a:pPr algn="just">
                        <a:spcBef>
                          <a:spcPts val="155"/>
                        </a:spcBef>
                        <a:spcAft>
                          <a:spcPts val="155"/>
                        </a:spcAft>
                      </a:pPr>
                      <a:endParaRPr lang="en-US" sz="2000" b="1" kern="100">
                        <a:latin typeface="Times New Roman"/>
                        <a:ea typeface="宋体"/>
                        <a:cs typeface="Times New Roman"/>
                      </a:endParaRPr>
                    </a:p>
                  </a:txBody>
                  <a:tcPr marL="36195" marR="36195" marT="0" marB="0">
                    <a:lnL>
                      <a:noFill/>
                    </a:lnL>
                    <a:lnR>
                      <a:noFill/>
                    </a:lnR>
                    <a:lnT>
                      <a:noFill/>
                    </a:lnT>
                    <a:lnB>
                      <a:noFill/>
                    </a:lnB>
                  </a:tcPr>
                </a:tc>
              </a:tr>
              <a:tr h="473195">
                <a:tc>
                  <a:txBody>
                    <a:bodyPr/>
                    <a:lstStyle/>
                    <a:p>
                      <a:pPr algn="just">
                        <a:spcBef>
                          <a:spcPts val="155"/>
                        </a:spcBef>
                        <a:spcAft>
                          <a:spcPts val="155"/>
                        </a:spcAft>
                      </a:pPr>
                      <a:endParaRPr lang="en-US" sz="2000" b="1" kern="100">
                        <a:latin typeface="Times New Roman"/>
                        <a:ea typeface="宋体"/>
                        <a:cs typeface="Times New Roman"/>
                      </a:endParaRPr>
                    </a:p>
                  </a:txBody>
                  <a:tcPr marL="36195" marR="36195" marT="0" marB="0">
                    <a:lnL>
                      <a:noFill/>
                    </a:lnL>
                    <a:lnR>
                      <a:noFill/>
                    </a:lnR>
                    <a:lnT>
                      <a:noFill/>
                    </a:lnT>
                    <a:lnB>
                      <a:noFill/>
                    </a:lnB>
                  </a:tcPr>
                </a:tc>
                <a:tc>
                  <a:txBody>
                    <a:bodyPr/>
                    <a:lstStyle/>
                    <a:p>
                      <a:pPr algn="r">
                        <a:spcAft>
                          <a:spcPts val="0"/>
                        </a:spcAft>
                      </a:pPr>
                      <a:r>
                        <a:rPr lang="en-US" sz="2000" b="1" kern="100">
                          <a:latin typeface="Times New Roman"/>
                          <a:ea typeface="宋体"/>
                          <a:cs typeface="Times New Roman"/>
                        </a:rPr>
                        <a:t>  </a:t>
                      </a:r>
                      <a:r>
                        <a:rPr lang="en-US" sz="2000" b="1" i="1" kern="100">
                          <a:latin typeface="Times New Roman"/>
                          <a:ea typeface="宋体"/>
                          <a:cs typeface="Times New Roman"/>
                        </a:rPr>
                        <a:t>AB</a:t>
                      </a:r>
                      <a:endParaRPr lang="zh-CN" sz="2000" b="1" kern="100">
                        <a:latin typeface="Times New Roman"/>
                        <a:ea typeface="宋体"/>
                        <a:cs typeface="Times New Roman"/>
                      </a:endParaRPr>
                    </a:p>
                    <a:p>
                      <a:pPr algn="just">
                        <a:spcAft>
                          <a:spcPts val="0"/>
                        </a:spcAft>
                      </a:pPr>
                      <a:r>
                        <a:rPr lang="en-US" sz="2000" b="1" i="1" kern="100">
                          <a:latin typeface="Times New Roman"/>
                          <a:ea typeface="宋体"/>
                          <a:cs typeface="Times New Roman"/>
                        </a:rPr>
                        <a:t>CD</a:t>
                      </a:r>
                      <a:endParaRPr lang="zh-CN" sz="2000" b="1" kern="100">
                        <a:latin typeface="Times New Roman"/>
                        <a:ea typeface="宋体"/>
                        <a:cs typeface="Times New Roman"/>
                      </a:endParaRPr>
                    </a:p>
                  </a:txBody>
                  <a:tcPr marL="36195" marR="36195" marT="0" marB="0">
                    <a:lnL>
                      <a:noFill/>
                    </a:lnL>
                    <a:lnR>
                      <a:noFill/>
                    </a:lnR>
                    <a:lnT>
                      <a:noFill/>
                    </a:lnT>
                    <a:lnB>
                      <a:noFill/>
                    </a:lnB>
                    <a:lnTlToBr w="9525" cap="flat" cmpd="sng" algn="ctr">
                      <a:solidFill>
                        <a:srgbClr val="000000"/>
                      </a:solidFill>
                      <a:prstDash val="solid"/>
                      <a:round/>
                      <a:headEnd type="none" w="med" len="med"/>
                      <a:tailEnd type="none" w="med" len="med"/>
                    </a:lnTlToBr>
                  </a:tcPr>
                </a:tc>
                <a:tc>
                  <a:txBody>
                    <a:bodyPr/>
                    <a:lstStyle/>
                    <a:p>
                      <a:pPr algn="just">
                        <a:spcAft>
                          <a:spcPts val="0"/>
                        </a:spcAft>
                      </a:pPr>
                      <a:endParaRPr lang="en-US" sz="2000" b="1" kern="100">
                        <a:latin typeface="Times New Roman"/>
                        <a:ea typeface="宋体"/>
                        <a:cs typeface="Times New Roman"/>
                      </a:endParaRPr>
                    </a:p>
                    <a:p>
                      <a:pPr algn="just">
                        <a:spcAft>
                          <a:spcPts val="0"/>
                        </a:spcAft>
                      </a:pPr>
                      <a:r>
                        <a:rPr lang="en-US" sz="2000" b="1" kern="100">
                          <a:latin typeface="Times New Roman"/>
                          <a:ea typeface="宋体"/>
                          <a:cs typeface="Times New Roman"/>
                        </a:rPr>
                        <a:t>00</a:t>
                      </a:r>
                      <a:endParaRPr lang="zh-CN" sz="2000" b="1" kern="100">
                        <a:latin typeface="Times New Roman"/>
                        <a:ea typeface="宋体"/>
                        <a:cs typeface="Times New Roman"/>
                      </a:endParaRPr>
                    </a:p>
                  </a:txBody>
                  <a:tcPr marL="36195" marR="36195"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2000" b="1" kern="100" dirty="0">
                        <a:latin typeface="Times New Roman"/>
                        <a:ea typeface="宋体"/>
                        <a:cs typeface="Times New Roman"/>
                      </a:endParaRPr>
                    </a:p>
                    <a:p>
                      <a:pPr algn="just">
                        <a:spcAft>
                          <a:spcPts val="0"/>
                        </a:spcAft>
                      </a:pPr>
                      <a:r>
                        <a:rPr lang="en-US" sz="2000" b="1" kern="100" dirty="0">
                          <a:latin typeface="Times New Roman"/>
                          <a:ea typeface="宋体"/>
                          <a:cs typeface="Times New Roman"/>
                        </a:rPr>
                        <a:t>01</a:t>
                      </a:r>
                      <a:endParaRPr lang="zh-CN" sz="2000" b="1" kern="100" dirty="0">
                        <a:latin typeface="Times New Roman"/>
                        <a:ea typeface="宋体"/>
                        <a:cs typeface="Times New Roman"/>
                      </a:endParaRPr>
                    </a:p>
                  </a:txBody>
                  <a:tcPr marL="36195" marR="36195"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2000" b="1" kern="100">
                        <a:latin typeface="Times New Roman"/>
                        <a:ea typeface="宋体"/>
                        <a:cs typeface="Times New Roman"/>
                      </a:endParaRPr>
                    </a:p>
                    <a:p>
                      <a:pPr algn="just">
                        <a:spcAft>
                          <a:spcPts val="0"/>
                        </a:spcAft>
                      </a:pPr>
                      <a:r>
                        <a:rPr lang="en-US" sz="2000" b="1" kern="100">
                          <a:latin typeface="Times New Roman"/>
                          <a:ea typeface="宋体"/>
                          <a:cs typeface="Times New Roman"/>
                        </a:rPr>
                        <a:t>11</a:t>
                      </a:r>
                      <a:endParaRPr lang="zh-CN" sz="2000" b="1" kern="100">
                        <a:latin typeface="Times New Roman"/>
                        <a:ea typeface="宋体"/>
                        <a:cs typeface="Times New Roman"/>
                      </a:endParaRPr>
                    </a:p>
                  </a:txBody>
                  <a:tcPr marL="36195" marR="36195"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2000" b="1" kern="100">
                        <a:latin typeface="Times New Roman"/>
                        <a:ea typeface="宋体"/>
                        <a:cs typeface="Times New Roman"/>
                      </a:endParaRPr>
                    </a:p>
                    <a:p>
                      <a:pPr algn="just">
                        <a:spcAft>
                          <a:spcPts val="0"/>
                        </a:spcAft>
                      </a:pPr>
                      <a:r>
                        <a:rPr lang="en-US" sz="2000" b="1" kern="100">
                          <a:latin typeface="Times New Roman"/>
                          <a:ea typeface="宋体"/>
                          <a:cs typeface="Times New Roman"/>
                        </a:rPr>
                        <a:t>10</a:t>
                      </a:r>
                      <a:endParaRPr lang="zh-CN" sz="2000" b="1" kern="100">
                        <a:latin typeface="Times New Roman"/>
                        <a:ea typeface="宋体"/>
                        <a:cs typeface="Times New Roman"/>
                      </a:endParaRPr>
                    </a:p>
                  </a:txBody>
                  <a:tcPr marL="36195" marR="36195" marT="0" marB="0">
                    <a:lnL>
                      <a:noFill/>
                    </a:lnL>
                    <a:lnR>
                      <a:noFill/>
                    </a:lnR>
                    <a:lnT>
                      <a:noFill/>
                    </a:lnT>
                    <a:lnB w="12700" cap="flat" cmpd="sng" algn="ctr">
                      <a:solidFill>
                        <a:srgbClr val="000000"/>
                      </a:solidFill>
                      <a:prstDash val="solid"/>
                      <a:round/>
                      <a:headEnd type="none" w="med" len="med"/>
                      <a:tailEnd type="none" w="med" len="med"/>
                    </a:lnB>
                  </a:tcPr>
                </a:tc>
              </a:tr>
              <a:tr h="236598">
                <a:tc>
                  <a:txBody>
                    <a:bodyPr/>
                    <a:lstStyle/>
                    <a:p>
                      <a:pPr algn="ctr">
                        <a:spcBef>
                          <a:spcPts val="155"/>
                        </a:spcBef>
                        <a:spcAft>
                          <a:spcPts val="155"/>
                        </a:spcAft>
                      </a:pPr>
                      <a:endParaRPr lang="en-US" sz="2000" b="1" kern="100">
                        <a:latin typeface="Times New Roman"/>
                        <a:ea typeface="宋体"/>
                        <a:cs typeface="Times New Roman"/>
                      </a:endParaRPr>
                    </a:p>
                  </a:txBody>
                  <a:tcPr marL="36195" marR="36195" marT="0" marB="0">
                    <a:lnL>
                      <a:noFill/>
                    </a:lnL>
                    <a:lnR>
                      <a:noFill/>
                    </a:lnR>
                    <a:lnT>
                      <a:noFill/>
                    </a:lnT>
                    <a:lnB>
                      <a:noFill/>
                    </a:lnB>
                  </a:tcPr>
                </a:tc>
                <a:tc>
                  <a:txBody>
                    <a:bodyPr/>
                    <a:lstStyle/>
                    <a:p>
                      <a:pPr algn="ctr">
                        <a:spcBef>
                          <a:spcPts val="155"/>
                        </a:spcBef>
                        <a:spcAft>
                          <a:spcPts val="155"/>
                        </a:spcAft>
                      </a:pPr>
                      <a:r>
                        <a:rPr lang="en-US" sz="2000" b="1" kern="100">
                          <a:latin typeface="Times New Roman"/>
                          <a:ea typeface="宋体"/>
                          <a:cs typeface="Times New Roman"/>
                        </a:rPr>
                        <a:t>  00</a:t>
                      </a:r>
                      <a:endParaRPr lang="zh-CN" sz="2000" b="1" kern="100">
                        <a:latin typeface="Times New Roman"/>
                        <a:ea typeface="宋体"/>
                        <a:cs typeface="Times New Roman"/>
                      </a:endParaRPr>
                    </a:p>
                  </a:txBody>
                  <a:tcPr marL="36195" marR="36195"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a:lnSpc>
                          <a:spcPct val="100000"/>
                        </a:lnSpc>
                        <a:spcBef>
                          <a:spcPts val="155"/>
                        </a:spcBef>
                        <a:spcAft>
                          <a:spcPts val="155"/>
                        </a:spcAft>
                      </a:pPr>
                      <a:r>
                        <a:rPr lang="en-US" sz="2000" b="1" kern="100" dirty="0">
                          <a:latin typeface="Times New Roman"/>
                          <a:ea typeface="宋体"/>
                          <a:cs typeface="Times New Roman"/>
                        </a:rPr>
                        <a:t>1</a:t>
                      </a:r>
                      <a:endParaRPr lang="zh-CN" sz="2000" b="1" kern="100" dirty="0">
                        <a:latin typeface="Times New Roman"/>
                        <a:ea typeface="宋体"/>
                        <a:cs typeface="Times New Roman"/>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55"/>
                        </a:spcBef>
                        <a:spcAft>
                          <a:spcPts val="155"/>
                        </a:spcAft>
                      </a:pPr>
                      <a:r>
                        <a:rPr lang="en-US" sz="2000" b="1" kern="100" dirty="0" smtClean="0">
                          <a:latin typeface="Times New Roman"/>
                          <a:ea typeface="宋体"/>
                          <a:cs typeface="Times New Roman"/>
                        </a:rPr>
                        <a:t>0</a:t>
                      </a:r>
                      <a:endParaRPr lang="zh-CN" sz="2000" b="1" kern="100" dirty="0">
                        <a:latin typeface="Times New Roman"/>
                        <a:ea typeface="宋体"/>
                        <a:cs typeface="Times New Roman"/>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55"/>
                        </a:spcBef>
                        <a:spcAft>
                          <a:spcPts val="155"/>
                        </a:spcAft>
                      </a:pPr>
                      <a:r>
                        <a:rPr lang="el-GR" sz="2000" b="1" kern="100" dirty="0" smtClean="0">
                          <a:latin typeface="Times New Roman"/>
                          <a:ea typeface="宋体"/>
                          <a:cs typeface="Times New Roman"/>
                        </a:rPr>
                        <a:t>Φ</a:t>
                      </a:r>
                      <a:endParaRPr lang="en-US" sz="2000" b="1" kern="100" dirty="0">
                        <a:latin typeface="Times New Roman"/>
                        <a:ea typeface="宋体"/>
                        <a:cs typeface="Times New Roman"/>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55"/>
                        </a:spcBef>
                        <a:spcAft>
                          <a:spcPts val="155"/>
                        </a:spcAft>
                      </a:pPr>
                      <a:r>
                        <a:rPr lang="en-US" sz="2000" b="1" kern="100" dirty="0" smtClean="0">
                          <a:latin typeface="Times New Roman"/>
                          <a:ea typeface="宋体"/>
                          <a:cs typeface="Times New Roman"/>
                        </a:rPr>
                        <a:t>1</a:t>
                      </a:r>
                      <a:endParaRPr lang="en-US" sz="2000" b="1" kern="100" dirty="0">
                        <a:latin typeface="Times New Roman"/>
                        <a:ea typeface="宋体"/>
                        <a:cs typeface="Times New Roman"/>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36598">
                <a:tc>
                  <a:txBody>
                    <a:bodyPr/>
                    <a:lstStyle/>
                    <a:p>
                      <a:pPr algn="ctr">
                        <a:spcBef>
                          <a:spcPts val="155"/>
                        </a:spcBef>
                        <a:spcAft>
                          <a:spcPts val="155"/>
                        </a:spcAft>
                      </a:pPr>
                      <a:endParaRPr lang="en-US" sz="2000" b="1" kern="100">
                        <a:latin typeface="Times New Roman"/>
                        <a:ea typeface="宋体"/>
                        <a:cs typeface="Times New Roman"/>
                      </a:endParaRPr>
                    </a:p>
                  </a:txBody>
                  <a:tcPr marL="36195" marR="36195" marT="0" marB="0">
                    <a:lnL>
                      <a:noFill/>
                    </a:lnL>
                    <a:lnR>
                      <a:noFill/>
                    </a:lnR>
                    <a:lnT>
                      <a:noFill/>
                    </a:lnT>
                    <a:lnB>
                      <a:noFill/>
                    </a:lnB>
                  </a:tcPr>
                </a:tc>
                <a:tc>
                  <a:txBody>
                    <a:bodyPr/>
                    <a:lstStyle/>
                    <a:p>
                      <a:pPr algn="ctr">
                        <a:spcBef>
                          <a:spcPts val="155"/>
                        </a:spcBef>
                        <a:spcAft>
                          <a:spcPts val="155"/>
                        </a:spcAft>
                      </a:pPr>
                      <a:r>
                        <a:rPr lang="en-US" sz="2000" b="1" kern="100" dirty="0">
                          <a:latin typeface="Times New Roman"/>
                          <a:ea typeface="宋体"/>
                          <a:cs typeface="Times New Roman"/>
                        </a:rPr>
                        <a:t>  01</a:t>
                      </a:r>
                      <a:endParaRPr lang="zh-CN" sz="2000" b="1" kern="100" dirty="0">
                        <a:latin typeface="Times New Roman"/>
                        <a:ea typeface="宋体"/>
                        <a:cs typeface="Times New Roman"/>
                      </a:endParaRPr>
                    </a:p>
                  </a:txBody>
                  <a:tcPr marL="36195" marR="36195"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a:spcBef>
                          <a:spcPts val="155"/>
                        </a:spcBef>
                        <a:spcAft>
                          <a:spcPts val="155"/>
                        </a:spcAft>
                      </a:pPr>
                      <a:r>
                        <a:rPr lang="en-US" sz="2000" b="1" kern="100" dirty="0" smtClean="0">
                          <a:latin typeface="Times New Roman"/>
                          <a:ea typeface="宋体"/>
                          <a:cs typeface="Times New Roman"/>
                        </a:rPr>
                        <a:t>1</a:t>
                      </a:r>
                      <a:endParaRPr lang="en-US" sz="2000" b="1" kern="100" dirty="0">
                        <a:latin typeface="Times New Roman"/>
                        <a:ea typeface="宋体"/>
                        <a:cs typeface="Times New Roman"/>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Bef>
                          <a:spcPts val="155"/>
                        </a:spcBef>
                        <a:spcAft>
                          <a:spcPts val="155"/>
                        </a:spcAft>
                      </a:pPr>
                      <a:r>
                        <a:rPr lang="en-US" sz="2000" b="1" kern="100" dirty="0" smtClean="0">
                          <a:latin typeface="Times New Roman"/>
                          <a:ea typeface="宋体"/>
                          <a:cs typeface="Times New Roman"/>
                        </a:rPr>
                        <a:t>0</a:t>
                      </a:r>
                      <a:endParaRPr lang="zh-CN" sz="2000" b="1" kern="100" dirty="0">
                        <a:latin typeface="Times New Roman"/>
                        <a:ea typeface="宋体"/>
                        <a:cs typeface="Times New Roman"/>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55"/>
                        </a:spcBef>
                        <a:spcAft>
                          <a:spcPts val="155"/>
                        </a:spcAft>
                      </a:pPr>
                      <a:r>
                        <a:rPr lang="el-GR" altLang="zh-CN" sz="2000" b="1" kern="100" dirty="0" smtClean="0">
                          <a:latin typeface="Times New Roman"/>
                          <a:ea typeface="+mn-ea"/>
                          <a:cs typeface="Times New Roman"/>
                        </a:rPr>
                        <a:t>Φ</a:t>
                      </a:r>
                      <a:endParaRPr lang="en-US" altLang="zh-CN" sz="2000" b="1" kern="100" dirty="0">
                        <a:latin typeface="Times New Roman"/>
                        <a:ea typeface="+mn-ea"/>
                        <a:cs typeface="Times New Roman"/>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55"/>
                        </a:spcBef>
                        <a:spcAft>
                          <a:spcPts val="155"/>
                        </a:spcAft>
                      </a:pPr>
                      <a:r>
                        <a:rPr lang="en-US" sz="2000" b="1" kern="100" dirty="0" smtClean="0">
                          <a:latin typeface="Times New Roman"/>
                          <a:ea typeface="宋体"/>
                          <a:cs typeface="Times New Roman"/>
                        </a:rPr>
                        <a:t>1</a:t>
                      </a:r>
                      <a:endParaRPr lang="en-US" sz="2000" b="1" kern="100" dirty="0">
                        <a:latin typeface="Times New Roman"/>
                        <a:ea typeface="宋体"/>
                        <a:cs typeface="Times New Roman"/>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36598">
                <a:tc>
                  <a:txBody>
                    <a:bodyPr/>
                    <a:lstStyle/>
                    <a:p>
                      <a:pPr algn="ctr">
                        <a:spcBef>
                          <a:spcPts val="155"/>
                        </a:spcBef>
                        <a:spcAft>
                          <a:spcPts val="155"/>
                        </a:spcAft>
                      </a:pPr>
                      <a:endParaRPr lang="en-US" sz="2000" b="1" kern="100">
                        <a:latin typeface="Times New Roman"/>
                        <a:ea typeface="宋体"/>
                        <a:cs typeface="Times New Roman"/>
                      </a:endParaRPr>
                    </a:p>
                  </a:txBody>
                  <a:tcPr marL="36195" marR="36195" marT="0" marB="0">
                    <a:lnL>
                      <a:noFill/>
                    </a:lnL>
                    <a:lnR>
                      <a:noFill/>
                    </a:lnR>
                    <a:lnT>
                      <a:noFill/>
                    </a:lnT>
                    <a:lnB>
                      <a:noFill/>
                    </a:lnB>
                  </a:tcPr>
                </a:tc>
                <a:tc>
                  <a:txBody>
                    <a:bodyPr/>
                    <a:lstStyle/>
                    <a:p>
                      <a:pPr algn="ctr">
                        <a:spcBef>
                          <a:spcPts val="155"/>
                        </a:spcBef>
                        <a:spcAft>
                          <a:spcPts val="155"/>
                        </a:spcAft>
                      </a:pPr>
                      <a:r>
                        <a:rPr lang="en-US" sz="2000" b="1" kern="100">
                          <a:latin typeface="Times New Roman"/>
                          <a:ea typeface="宋体"/>
                          <a:cs typeface="Times New Roman"/>
                        </a:rPr>
                        <a:t>  11</a:t>
                      </a:r>
                      <a:endParaRPr lang="zh-CN" sz="2000" b="1" kern="100">
                        <a:latin typeface="Times New Roman"/>
                        <a:ea typeface="宋体"/>
                        <a:cs typeface="Times New Roman"/>
                      </a:endParaRPr>
                    </a:p>
                  </a:txBody>
                  <a:tcPr marL="36195" marR="36195"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a:spcBef>
                          <a:spcPts val="155"/>
                        </a:spcBef>
                        <a:spcAft>
                          <a:spcPts val="155"/>
                        </a:spcAft>
                      </a:pPr>
                      <a:r>
                        <a:rPr lang="en-US" sz="2000" b="1" kern="100" dirty="0" smtClean="0">
                          <a:latin typeface="Times New Roman"/>
                          <a:ea typeface="宋体"/>
                          <a:cs typeface="Times New Roman"/>
                        </a:rPr>
                        <a:t>1</a:t>
                      </a:r>
                      <a:endParaRPr lang="en-US" sz="2000" b="1" kern="100" dirty="0">
                        <a:latin typeface="Times New Roman"/>
                        <a:ea typeface="宋体"/>
                        <a:cs typeface="Times New Roman"/>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55"/>
                        </a:spcBef>
                        <a:spcAft>
                          <a:spcPts val="155"/>
                        </a:spcAft>
                      </a:pPr>
                      <a:r>
                        <a:rPr lang="en-US" sz="2000" b="1" kern="100" dirty="0" smtClean="0">
                          <a:latin typeface="Times New Roman"/>
                          <a:ea typeface="宋体"/>
                          <a:cs typeface="Times New Roman"/>
                        </a:rPr>
                        <a:t>0</a:t>
                      </a:r>
                      <a:endParaRPr lang="en-US" sz="2000" b="1" kern="100" dirty="0">
                        <a:latin typeface="Times New Roman"/>
                        <a:ea typeface="宋体"/>
                        <a:cs typeface="Times New Roman"/>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55"/>
                        </a:spcBef>
                        <a:spcAft>
                          <a:spcPts val="155"/>
                        </a:spcAft>
                      </a:pPr>
                      <a:r>
                        <a:rPr lang="el-GR" altLang="zh-CN" sz="2000" b="1" kern="100" dirty="0" smtClean="0">
                          <a:latin typeface="Times New Roman"/>
                          <a:ea typeface="+mn-ea"/>
                          <a:cs typeface="Times New Roman"/>
                        </a:rPr>
                        <a:t>Φ</a:t>
                      </a:r>
                      <a:endParaRPr lang="en-US" altLang="zh-CN" sz="2000" b="1" kern="100" dirty="0">
                        <a:latin typeface="Times New Roman"/>
                        <a:ea typeface="+mn-ea"/>
                        <a:cs typeface="Times New Roman"/>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55"/>
                        </a:spcBef>
                        <a:spcAft>
                          <a:spcPts val="155"/>
                        </a:spcAft>
                      </a:pPr>
                      <a:r>
                        <a:rPr lang="el-GR" altLang="zh-CN" sz="2000" b="1" kern="100" dirty="0" smtClean="0">
                          <a:latin typeface="Times New Roman"/>
                          <a:ea typeface="+mn-ea"/>
                          <a:cs typeface="Times New Roman"/>
                        </a:rPr>
                        <a:t>Φ</a:t>
                      </a:r>
                      <a:endParaRPr lang="en-US" altLang="zh-CN" sz="2000" b="1" kern="100" dirty="0">
                        <a:latin typeface="Times New Roman"/>
                        <a:ea typeface="+mn-ea"/>
                        <a:cs typeface="Times New Roman"/>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36598">
                <a:tc>
                  <a:txBody>
                    <a:bodyPr/>
                    <a:lstStyle/>
                    <a:p>
                      <a:pPr algn="ctr">
                        <a:spcBef>
                          <a:spcPts val="155"/>
                        </a:spcBef>
                        <a:spcAft>
                          <a:spcPts val="155"/>
                        </a:spcAft>
                      </a:pPr>
                      <a:endParaRPr lang="en-US" sz="2000" b="1" kern="100">
                        <a:latin typeface="Times New Roman"/>
                        <a:ea typeface="宋体"/>
                        <a:cs typeface="Times New Roman"/>
                      </a:endParaRPr>
                    </a:p>
                  </a:txBody>
                  <a:tcPr marL="36195" marR="36195" marT="0" marB="0">
                    <a:lnL>
                      <a:noFill/>
                    </a:lnL>
                    <a:lnR>
                      <a:noFill/>
                    </a:lnR>
                    <a:lnT>
                      <a:noFill/>
                    </a:lnT>
                    <a:lnB>
                      <a:noFill/>
                    </a:lnB>
                  </a:tcPr>
                </a:tc>
                <a:tc>
                  <a:txBody>
                    <a:bodyPr/>
                    <a:lstStyle/>
                    <a:p>
                      <a:pPr algn="ctr">
                        <a:spcBef>
                          <a:spcPts val="155"/>
                        </a:spcBef>
                        <a:spcAft>
                          <a:spcPts val="155"/>
                        </a:spcAft>
                      </a:pPr>
                      <a:r>
                        <a:rPr lang="en-US" sz="2000" b="1" kern="100">
                          <a:latin typeface="Times New Roman"/>
                          <a:ea typeface="宋体"/>
                          <a:cs typeface="Times New Roman"/>
                        </a:rPr>
                        <a:t>  10</a:t>
                      </a:r>
                      <a:endParaRPr lang="zh-CN" sz="2000" b="1" kern="100">
                        <a:latin typeface="Times New Roman"/>
                        <a:ea typeface="宋体"/>
                        <a:cs typeface="Times New Roman"/>
                      </a:endParaRPr>
                    </a:p>
                  </a:txBody>
                  <a:tcPr marL="36195" marR="36195"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a:lnSpc>
                          <a:spcPct val="100000"/>
                        </a:lnSpc>
                        <a:spcBef>
                          <a:spcPts val="155"/>
                        </a:spcBef>
                        <a:spcAft>
                          <a:spcPts val="155"/>
                        </a:spcAft>
                      </a:pPr>
                      <a:r>
                        <a:rPr lang="en-US" sz="2000" b="1" kern="100" dirty="0">
                          <a:latin typeface="Times New Roman"/>
                          <a:ea typeface="宋体"/>
                          <a:cs typeface="Times New Roman"/>
                        </a:rPr>
                        <a:t>1</a:t>
                      </a:r>
                      <a:endParaRPr lang="zh-CN" sz="2000" b="1" kern="100" dirty="0">
                        <a:latin typeface="Times New Roman"/>
                        <a:ea typeface="宋体"/>
                        <a:cs typeface="Times New Roman"/>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55"/>
                        </a:spcBef>
                        <a:spcAft>
                          <a:spcPts val="155"/>
                        </a:spcAft>
                      </a:pPr>
                      <a:r>
                        <a:rPr lang="en-US" sz="2000" b="1" kern="100" dirty="0" smtClean="0">
                          <a:latin typeface="Times New Roman"/>
                          <a:ea typeface="宋体"/>
                          <a:cs typeface="Times New Roman"/>
                        </a:rPr>
                        <a:t>0</a:t>
                      </a:r>
                      <a:endParaRPr lang="en-US" sz="2000" b="1" kern="100" dirty="0">
                        <a:latin typeface="Times New Roman"/>
                        <a:ea typeface="宋体"/>
                        <a:cs typeface="Times New Roman"/>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55"/>
                        </a:spcBef>
                        <a:spcAft>
                          <a:spcPts val="155"/>
                        </a:spcAft>
                      </a:pPr>
                      <a:r>
                        <a:rPr lang="el-GR" altLang="zh-CN" sz="2000" b="1" kern="100" dirty="0" smtClean="0">
                          <a:latin typeface="Times New Roman"/>
                          <a:ea typeface="+mn-ea"/>
                          <a:cs typeface="Times New Roman"/>
                        </a:rPr>
                        <a:t>Φ</a:t>
                      </a:r>
                      <a:endParaRPr lang="en-US" altLang="zh-CN" sz="2000" b="1" kern="100" dirty="0">
                        <a:latin typeface="Times New Roman"/>
                        <a:ea typeface="+mn-ea"/>
                        <a:cs typeface="Times New Roman"/>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55"/>
                        </a:spcBef>
                        <a:spcAft>
                          <a:spcPts val="155"/>
                        </a:spcAft>
                      </a:pPr>
                      <a:r>
                        <a:rPr lang="el-GR" altLang="zh-CN" sz="2000" b="1" kern="100" dirty="0" smtClean="0">
                          <a:latin typeface="Times New Roman"/>
                          <a:ea typeface="+mn-ea"/>
                          <a:cs typeface="Times New Roman"/>
                        </a:rPr>
                        <a:t>Φ</a:t>
                      </a:r>
                      <a:endParaRPr lang="en-US" altLang="zh-CN" sz="2000" b="1" kern="100" dirty="0">
                        <a:latin typeface="Times New Roman"/>
                        <a:ea typeface="+mn-ea"/>
                        <a:cs typeface="Times New Roman"/>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9" name="流程图: 可选过程 8"/>
          <p:cNvSpPr/>
          <p:nvPr/>
        </p:nvSpPr>
        <p:spPr>
          <a:xfrm>
            <a:off x="7740352" y="3212976"/>
            <a:ext cx="720080" cy="1152128"/>
          </a:xfrm>
          <a:prstGeom prst="flowChartAlternateProcess">
            <a:avLst/>
          </a:prstGeom>
          <a:noFill/>
          <a:ln w="28575">
            <a:solidFill>
              <a:srgbClr val="FF0000"/>
            </a:solidFill>
            <a:prstDash val="solid"/>
          </a:ln>
        </p:spPr>
        <p:txBody>
          <a:bodyPr wrap="square" rtlCol="0" anchor="ctr">
            <a:noAutofit/>
          </a:bodyPr>
          <a:lstStyle/>
          <a:p>
            <a:pPr algn="ctr"/>
            <a:endParaRPr lang="zh-CN" altLang="en-US" sz="2000" b="1" dirty="0">
              <a:latin typeface="华文新魏" pitchFamily="2" charset="-122"/>
              <a:ea typeface="华文新魏" pitchFamily="2" charset="-122"/>
            </a:endParaRPr>
          </a:p>
        </p:txBody>
      </p:sp>
      <p:pic>
        <p:nvPicPr>
          <p:cNvPr id="488451" name="Picture 3"/>
          <p:cNvPicPr>
            <a:picLocks noChangeAspect="1" noChangeArrowheads="1"/>
          </p:cNvPicPr>
          <p:nvPr/>
        </p:nvPicPr>
        <p:blipFill>
          <a:blip r:embed="rId4" cstate="print"/>
          <a:srcRect/>
          <a:stretch>
            <a:fillRect/>
          </a:stretch>
        </p:blipFill>
        <p:spPr bwMode="auto">
          <a:xfrm>
            <a:off x="1763688" y="4581128"/>
            <a:ext cx="2218276" cy="864096"/>
          </a:xfrm>
          <a:prstGeom prst="rect">
            <a:avLst/>
          </a:prstGeom>
          <a:noFill/>
          <a:ln w="9525">
            <a:noFill/>
            <a:miter lim="800000"/>
            <a:headEnd/>
            <a:tailEnd/>
          </a:ln>
        </p:spPr>
      </p:pic>
    </p:spTree>
    <p:extLst>
      <p:ext uri="{BB962C8B-B14F-4D97-AF65-F5344CB8AC3E}">
        <p14:creationId xmlns:p14="http://schemas.microsoft.com/office/powerpoint/2010/main" xmlns="" val="339569236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484784"/>
            <a:ext cx="8280920" cy="4911128"/>
          </a:xfrm>
        </p:spPr>
        <p:txBody>
          <a:bodyPr/>
          <a:lstStyle/>
          <a:p>
            <a:pPr>
              <a:lnSpc>
                <a:spcPct val="100000"/>
              </a:lnSpc>
              <a:spcBef>
                <a:spcPts val="600"/>
              </a:spcBef>
              <a:buSzPct val="100000"/>
              <a:buFont typeface="Wingdings" pitchFamily="2" charset="2"/>
              <a:buChar char="p"/>
            </a:pPr>
            <a:r>
              <a:rPr lang="zh-CN" altLang="en-US" sz="2800" dirty="0" smtClean="0">
                <a:solidFill>
                  <a:srgbClr val="FF0000"/>
                </a:solidFill>
              </a:rPr>
              <a:t>编码</a:t>
            </a:r>
            <a:r>
              <a:rPr lang="zh-CN" altLang="en-US" sz="2800" dirty="0" smtClean="0"/>
              <a:t>（</a:t>
            </a:r>
            <a:r>
              <a:rPr lang="en-US" altLang="zh-CN" sz="2800" dirty="0" smtClean="0"/>
              <a:t>Coding</a:t>
            </a:r>
            <a:r>
              <a:rPr lang="zh-CN" altLang="en-US" sz="2800" dirty="0" smtClean="0"/>
              <a:t>）：为了</a:t>
            </a:r>
            <a:r>
              <a:rPr lang="zh-CN" altLang="en-US" sz="2800" dirty="0"/>
              <a:t>区分一系列不同的事物，将其中的</a:t>
            </a:r>
            <a:r>
              <a:rPr lang="zh-CN" altLang="en-US" sz="2800" dirty="0">
                <a:solidFill>
                  <a:srgbClr val="0000CC"/>
                </a:solidFill>
              </a:rPr>
              <a:t>每个事物</a:t>
            </a:r>
            <a:r>
              <a:rPr lang="zh-CN" altLang="en-US" sz="2800" dirty="0"/>
              <a:t>用</a:t>
            </a:r>
            <a:r>
              <a:rPr lang="zh-CN" altLang="en-US" sz="2800" dirty="0" smtClean="0"/>
              <a:t>一串</a:t>
            </a:r>
            <a:r>
              <a:rPr lang="zh-CN" altLang="en-US" sz="2800" dirty="0" smtClean="0">
                <a:solidFill>
                  <a:srgbClr val="0000CC"/>
                </a:solidFill>
              </a:rPr>
              <a:t>二</a:t>
            </a:r>
            <a:r>
              <a:rPr lang="zh-CN" altLang="en-US" sz="2800" dirty="0">
                <a:solidFill>
                  <a:srgbClr val="0000CC"/>
                </a:solidFill>
              </a:rPr>
              <a:t>值代码表示</a:t>
            </a:r>
            <a:r>
              <a:rPr lang="zh-CN" altLang="en-US" sz="2800" dirty="0"/>
              <a:t>。</a:t>
            </a:r>
          </a:p>
          <a:p>
            <a:pPr>
              <a:lnSpc>
                <a:spcPct val="100000"/>
              </a:lnSpc>
              <a:spcBef>
                <a:spcPts val="600"/>
              </a:spcBef>
              <a:buSzPct val="100000"/>
              <a:buFont typeface="Wingdings" pitchFamily="2" charset="2"/>
              <a:buChar char="p"/>
            </a:pPr>
            <a:r>
              <a:rPr lang="zh-CN" altLang="en-US" sz="2800" dirty="0">
                <a:solidFill>
                  <a:srgbClr val="FF0000"/>
                </a:solidFill>
              </a:rPr>
              <a:t>编码器</a:t>
            </a:r>
            <a:r>
              <a:rPr lang="en-US" altLang="zh-CN" sz="2800" dirty="0"/>
              <a:t>(Encoder</a:t>
            </a:r>
            <a:r>
              <a:rPr lang="en-US" altLang="zh-CN" sz="2800" dirty="0" smtClean="0"/>
              <a:t>)</a:t>
            </a:r>
            <a:r>
              <a:rPr lang="zh-CN" altLang="en-US" sz="2800" dirty="0" smtClean="0"/>
              <a:t>：</a:t>
            </a:r>
            <a:r>
              <a:rPr lang="zh-CN" altLang="en-US" sz="2800" dirty="0" smtClean="0">
                <a:solidFill>
                  <a:srgbClr val="0000CC"/>
                </a:solidFill>
              </a:rPr>
              <a:t>实现</a:t>
            </a:r>
            <a:r>
              <a:rPr lang="zh-CN" altLang="en-US" sz="2800" dirty="0">
                <a:solidFill>
                  <a:srgbClr val="0000CC"/>
                </a:solidFill>
              </a:rPr>
              <a:t>编码的</a:t>
            </a:r>
            <a:r>
              <a:rPr lang="zh-CN" altLang="en-US" sz="2800" dirty="0" smtClean="0">
                <a:solidFill>
                  <a:srgbClr val="0000CC"/>
                </a:solidFill>
              </a:rPr>
              <a:t>逻辑电路</a:t>
            </a:r>
            <a:r>
              <a:rPr lang="en-US" altLang="zh-CN" sz="2800" dirty="0" smtClean="0">
                <a:solidFill>
                  <a:srgbClr val="0000CC"/>
                </a:solidFill>
              </a:rPr>
              <a:t>.</a:t>
            </a:r>
          </a:p>
          <a:p>
            <a:pPr lvl="1">
              <a:lnSpc>
                <a:spcPct val="100000"/>
              </a:lnSpc>
              <a:spcBef>
                <a:spcPts val="600"/>
              </a:spcBef>
              <a:buSzPct val="100000"/>
            </a:pPr>
            <a:r>
              <a:rPr lang="zh-CN" altLang="en-US" sz="2400" dirty="0" smtClean="0"/>
              <a:t>编码器</a:t>
            </a:r>
            <a:r>
              <a:rPr lang="zh-CN" altLang="en-US" sz="2400" dirty="0"/>
              <a:t>的逻辑功能：把输入的每一个高、低电平信号变成</a:t>
            </a:r>
            <a:r>
              <a:rPr lang="zh-CN" altLang="en-US" sz="2400" dirty="0" smtClean="0"/>
              <a:t>一串对应</a:t>
            </a:r>
            <a:r>
              <a:rPr lang="zh-CN" altLang="en-US" sz="2400" dirty="0"/>
              <a:t>的二进制代码</a:t>
            </a:r>
            <a:r>
              <a:rPr lang="zh-CN" altLang="en-US" sz="2400" dirty="0" smtClean="0"/>
              <a:t>。</a:t>
            </a:r>
            <a:endParaRPr lang="en-US" altLang="zh-CN" sz="2400" dirty="0" smtClean="0"/>
          </a:p>
          <a:p>
            <a:pPr lvl="1"/>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42</a:t>
            </a:fld>
            <a:endParaRPr lang="zh-CN" altLang="en-US"/>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403648" y="3985414"/>
            <a:ext cx="6135652" cy="1800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5" name="矩形 4"/>
          <p:cNvSpPr/>
          <p:nvPr/>
        </p:nvSpPr>
        <p:spPr>
          <a:xfrm>
            <a:off x="1259632" y="5877272"/>
            <a:ext cx="6624736" cy="369332"/>
          </a:xfrm>
          <a:prstGeom prst="rect">
            <a:avLst/>
          </a:prstGeom>
        </p:spPr>
        <p:txBody>
          <a:bodyPr wrap="square">
            <a:spAutoFit/>
          </a:bodyPr>
          <a:lstStyle/>
          <a:p>
            <a:r>
              <a:rPr lang="zh-CN" altLang="en-US" b="1" dirty="0"/>
              <a:t>例：大写英文字符“</a:t>
            </a:r>
            <a:r>
              <a:rPr lang="en-US" altLang="zh-CN" b="1" dirty="0"/>
              <a:t>A”</a:t>
            </a:r>
            <a:r>
              <a:rPr lang="zh-CN" altLang="en-US" b="1" dirty="0"/>
              <a:t>的</a:t>
            </a:r>
            <a:r>
              <a:rPr lang="en-US" altLang="zh-CN" b="1" dirty="0"/>
              <a:t>ASCII</a:t>
            </a:r>
            <a:r>
              <a:rPr lang="zh-CN" altLang="en-US" b="1" dirty="0"/>
              <a:t>编码为</a:t>
            </a:r>
            <a:r>
              <a:rPr lang="en-US" altLang="zh-CN" b="1" dirty="0"/>
              <a:t>——“100 0001”</a:t>
            </a:r>
            <a:r>
              <a:rPr lang="zh-CN" altLang="en-US" b="1" dirty="0"/>
              <a:t>。</a:t>
            </a:r>
          </a:p>
        </p:txBody>
      </p:sp>
      <p:sp>
        <p:nvSpPr>
          <p:cNvPr id="7" name="标题 1"/>
          <p:cNvSpPr txBox="1">
            <a:spLocks/>
          </p:cNvSpPr>
          <p:nvPr/>
        </p:nvSpPr>
        <p:spPr bwMode="auto">
          <a:xfrm>
            <a:off x="1350963" y="692696"/>
            <a:ext cx="7793037"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4.3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编码器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
        <p:nvSpPr>
          <p:cNvPr id="9" name="标题 1"/>
          <p:cNvSpPr txBox="1">
            <a:spLocks/>
          </p:cNvSpPr>
          <p:nvPr/>
        </p:nvSpPr>
        <p:spPr bwMode="auto">
          <a:xfrm>
            <a:off x="1259632" y="0"/>
            <a:ext cx="7016824" cy="63894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fontAlgn="base">
              <a:spcBef>
                <a:spcPct val="0"/>
              </a:spcBef>
              <a:spcAft>
                <a:spcPct val="0"/>
              </a:spcAft>
              <a:defRPr/>
            </a:pP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第</a:t>
            </a:r>
            <a:r>
              <a:rPr kumimoji="1" lang="en-US" altLang="zh-CN" sz="3600" b="1" kern="0" dirty="0" smtClean="0">
                <a:solidFill>
                  <a:schemeClr val="tx2"/>
                </a:solidFill>
                <a:latin typeface="+mj-lt"/>
                <a:ea typeface="+mj-ea"/>
                <a:cs typeface="+mj-cs"/>
              </a:rPr>
              <a:t>4</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章　组合</a:t>
            </a:r>
            <a:r>
              <a:rPr kumimoji="1" lang="zh-CN" altLang="en-US" sz="3600" b="1" kern="0" dirty="0" smtClean="0">
                <a:solidFill>
                  <a:schemeClr val="tx2"/>
                </a:solidFill>
              </a:rPr>
              <a:t>逻辑</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电路</a:t>
            </a:r>
            <a:endParaRPr kumimoji="1" lang="zh-CN" altLang="en-US" sz="36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109161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20688"/>
            <a:ext cx="7617022" cy="638944"/>
          </a:xfrm>
        </p:spPr>
        <p:txBody>
          <a:bodyPr/>
          <a:lstStyle/>
          <a:p>
            <a:r>
              <a:rPr lang="en-US" altLang="zh-CN" dirty="0" smtClean="0"/>
              <a:t>4.3.1 </a:t>
            </a:r>
            <a:r>
              <a:rPr lang="zh-CN" altLang="en-US" dirty="0" smtClean="0"/>
              <a:t>普通</a:t>
            </a:r>
            <a:r>
              <a:rPr lang="zh-CN" altLang="en-US" dirty="0"/>
              <a:t>编码器</a:t>
            </a:r>
          </a:p>
        </p:txBody>
      </p:sp>
      <p:sp>
        <p:nvSpPr>
          <p:cNvPr id="3" name="内容占位符 2"/>
          <p:cNvSpPr>
            <a:spLocks noGrp="1"/>
          </p:cNvSpPr>
          <p:nvPr>
            <p:ph idx="1"/>
          </p:nvPr>
        </p:nvSpPr>
        <p:spPr>
          <a:xfrm>
            <a:off x="473394" y="1556792"/>
            <a:ext cx="4530654" cy="4911128"/>
          </a:xfrm>
        </p:spPr>
        <p:txBody>
          <a:bodyPr/>
          <a:lstStyle/>
          <a:p>
            <a:pPr>
              <a:buSzPct val="100000"/>
              <a:buFont typeface="Wingdings" pitchFamily="2" charset="2"/>
              <a:buChar char="p"/>
            </a:pPr>
            <a:r>
              <a:rPr lang="zh-CN" altLang="en-US" sz="2800" dirty="0" smtClean="0"/>
              <a:t>普通编码器工作原理</a:t>
            </a:r>
            <a:endParaRPr lang="en-US" altLang="zh-CN" sz="2800" dirty="0" smtClean="0"/>
          </a:p>
          <a:p>
            <a:pPr marL="720000" lvl="2" indent="-324000">
              <a:lnSpc>
                <a:spcPct val="100000"/>
              </a:lnSpc>
              <a:spcBef>
                <a:spcPts val="600"/>
              </a:spcBef>
              <a:buClr>
                <a:srgbClr val="FF0000"/>
              </a:buClr>
              <a:buSzPct val="100000"/>
            </a:pPr>
            <a:r>
              <a:rPr lang="zh-CN" altLang="en-US" sz="2400" dirty="0">
                <a:solidFill>
                  <a:srgbClr val="FF0000"/>
                </a:solidFill>
              </a:rPr>
              <a:t>任何时候只允许输入一个有效编码信号</a:t>
            </a:r>
            <a:r>
              <a:rPr lang="zh-CN" altLang="en-US" sz="2400" dirty="0"/>
              <a:t>，否则输出就</a:t>
            </a:r>
            <a:r>
              <a:rPr lang="zh-CN" altLang="en-US" sz="2400" dirty="0" smtClean="0"/>
              <a:t>会发生</a:t>
            </a:r>
            <a:r>
              <a:rPr lang="zh-CN" altLang="en-US" sz="2400" dirty="0"/>
              <a:t>混乱</a:t>
            </a:r>
            <a:r>
              <a:rPr lang="zh-CN" altLang="en-US" sz="2400" dirty="0" smtClean="0"/>
              <a:t>。</a:t>
            </a:r>
            <a:endParaRPr lang="en-US" altLang="zh-CN" sz="2400" dirty="0" smtClean="0"/>
          </a:p>
          <a:p>
            <a:pPr marL="720000" lvl="2" indent="-324000">
              <a:lnSpc>
                <a:spcPct val="100000"/>
              </a:lnSpc>
              <a:spcBef>
                <a:spcPts val="600"/>
              </a:spcBef>
              <a:buClr>
                <a:srgbClr val="FF0000"/>
              </a:buClr>
              <a:buSzPct val="100000"/>
            </a:pPr>
            <a:r>
              <a:rPr lang="zh-CN" altLang="en-US" sz="2400" dirty="0"/>
              <a:t>如：</a:t>
            </a:r>
            <a:r>
              <a:rPr lang="en-US" altLang="zh-CN" sz="2400" dirty="0"/>
              <a:t>8</a:t>
            </a:r>
            <a:r>
              <a:rPr lang="zh-CN" altLang="en-US" sz="2400" dirty="0"/>
              <a:t>个输入状态，需要</a:t>
            </a:r>
            <a:r>
              <a:rPr lang="en-US" altLang="zh-CN" sz="2400" dirty="0"/>
              <a:t>3</a:t>
            </a:r>
            <a:r>
              <a:rPr lang="zh-CN" altLang="en-US" sz="2400" dirty="0"/>
              <a:t>位二进制编码。</a:t>
            </a:r>
          </a:p>
          <a:p>
            <a:pPr marL="1134900" lvl="3" indent="-342900">
              <a:spcBef>
                <a:spcPts val="600"/>
              </a:spcBef>
              <a:buClr>
                <a:srgbClr val="0000CC"/>
              </a:buClr>
              <a:buSzPct val="100000"/>
              <a:buFont typeface="Wingdings" pitchFamily="2" charset="2"/>
              <a:buChar char="u"/>
            </a:pPr>
            <a:r>
              <a:rPr lang="zh-CN" altLang="en-US" dirty="0"/>
              <a:t>输入：</a:t>
            </a:r>
            <a:r>
              <a:rPr lang="en-US" altLang="zh-CN" dirty="0"/>
              <a:t>I</a:t>
            </a:r>
            <a:r>
              <a:rPr lang="en-US" altLang="zh-CN" baseline="-25000" dirty="0"/>
              <a:t>0</a:t>
            </a:r>
            <a:r>
              <a:rPr lang="en-US" altLang="zh-CN" dirty="0"/>
              <a:t>~I</a:t>
            </a:r>
            <a:r>
              <a:rPr lang="en-US" altLang="zh-CN" baseline="-25000" dirty="0"/>
              <a:t>7</a:t>
            </a:r>
            <a:r>
              <a:rPr lang="en-US" altLang="zh-CN" dirty="0"/>
              <a:t> </a:t>
            </a:r>
            <a:r>
              <a:rPr lang="zh-CN" altLang="en-US" dirty="0"/>
              <a:t>八个高电平信号；</a:t>
            </a:r>
          </a:p>
          <a:p>
            <a:pPr marL="1134900" lvl="3" indent="-342900">
              <a:spcBef>
                <a:spcPts val="600"/>
              </a:spcBef>
              <a:buClr>
                <a:srgbClr val="0000CC"/>
              </a:buClr>
              <a:buSzPct val="100000"/>
              <a:buFont typeface="Wingdings" pitchFamily="2" charset="2"/>
              <a:buChar char="u"/>
            </a:pPr>
            <a:r>
              <a:rPr lang="zh-CN" altLang="en-US" dirty="0"/>
              <a:t>输出：</a:t>
            </a:r>
            <a:r>
              <a:rPr lang="en-US" altLang="zh-CN" dirty="0"/>
              <a:t>Y</a:t>
            </a:r>
            <a:r>
              <a:rPr lang="en-US" altLang="zh-CN" baseline="-25000" dirty="0"/>
              <a:t>2</a:t>
            </a:r>
            <a:r>
              <a:rPr lang="en-US" altLang="zh-CN" dirty="0"/>
              <a:t>Y</a:t>
            </a:r>
            <a:r>
              <a:rPr lang="en-US" altLang="zh-CN" baseline="-25000" dirty="0"/>
              <a:t>1</a:t>
            </a:r>
            <a:r>
              <a:rPr lang="en-US" altLang="zh-CN" dirty="0"/>
              <a:t>Y</a:t>
            </a:r>
            <a:r>
              <a:rPr lang="en-US" altLang="zh-CN" baseline="-25000" dirty="0"/>
              <a:t>0</a:t>
            </a:r>
            <a:r>
              <a:rPr lang="zh-CN" altLang="en-US" dirty="0"/>
              <a:t>，</a:t>
            </a:r>
            <a:r>
              <a:rPr lang="en-US" altLang="zh-CN" dirty="0"/>
              <a:t>3</a:t>
            </a:r>
            <a:r>
              <a:rPr lang="zh-CN" altLang="en-US" dirty="0"/>
              <a:t>位二进制代码。</a:t>
            </a:r>
          </a:p>
          <a:p>
            <a:pPr lvl="2"/>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43</a:t>
            </a:fld>
            <a:endParaRPr lang="zh-CN" altLang="en-US"/>
          </a:p>
        </p:txBody>
      </p:sp>
      <p:pic>
        <p:nvPicPr>
          <p:cNvPr id="5" name="Picture 9" descr="3-3-1"/>
          <p:cNvPicPr>
            <a:picLocks noChangeAspect="1" noChangeArrowheads="1"/>
          </p:cNvPicPr>
          <p:nvPr/>
        </p:nvPicPr>
        <p:blipFill>
          <a:blip r:embed="rId2" cstate="print">
            <a:clrChange>
              <a:clrFrom>
                <a:srgbClr val="F3F3F3"/>
              </a:clrFrom>
              <a:clrTo>
                <a:srgbClr val="F3F3F3">
                  <a:alpha val="0"/>
                </a:srgbClr>
              </a:clrTo>
            </a:clrChange>
            <a:lum bright="-12000" contrast="36000"/>
            <a:extLst>
              <a:ext uri="{28A0092B-C50C-407E-A947-70E740481C1C}">
                <a14:useLocalDpi xmlns:a14="http://schemas.microsoft.com/office/drawing/2010/main" xmlns="" val="0"/>
              </a:ext>
            </a:extLst>
          </a:blip>
          <a:srcRect/>
          <a:stretch>
            <a:fillRect/>
          </a:stretch>
        </p:blipFill>
        <p:spPr bwMode="auto">
          <a:xfrm>
            <a:off x="5319899" y="2492896"/>
            <a:ext cx="3680764" cy="2520280"/>
          </a:xfrm>
          <a:prstGeom prst="rect">
            <a:avLst/>
          </a:prstGeom>
          <a:noFill/>
          <a:extLst>
            <a:ext uri="{909E8E84-426E-40DD-AFC4-6F175D3DCCD1}">
              <a14:hiddenFill xmlns:a14="http://schemas.microsoft.com/office/drawing/2010/main" xmlns="">
                <a:solidFill>
                  <a:srgbClr val="FFFFFF"/>
                </a:solidFill>
              </a14:hiddenFill>
            </a:ext>
          </a:extLst>
        </p:spPr>
      </p:pic>
      <p:sp>
        <p:nvSpPr>
          <p:cNvPr id="6" name="矩形 5"/>
          <p:cNvSpPr/>
          <p:nvPr/>
        </p:nvSpPr>
        <p:spPr>
          <a:xfrm>
            <a:off x="5618833" y="5085184"/>
            <a:ext cx="3082895" cy="338554"/>
          </a:xfrm>
          <a:prstGeom prst="rect">
            <a:avLst/>
          </a:prstGeom>
        </p:spPr>
        <p:txBody>
          <a:bodyPr wrap="none">
            <a:spAutoFit/>
          </a:bodyPr>
          <a:lstStyle/>
          <a:p>
            <a:pPr algn="ctr">
              <a:spcBef>
                <a:spcPct val="50000"/>
              </a:spcBef>
            </a:pPr>
            <a:r>
              <a:rPr kumimoji="1" lang="zh-CN" altLang="en-US" sz="1600" b="1" dirty="0" smtClean="0">
                <a:latin typeface="+mn-ea"/>
              </a:rPr>
              <a:t>图</a:t>
            </a:r>
            <a:r>
              <a:rPr kumimoji="1" lang="en-US" altLang="zh-CN" sz="1600" b="1" dirty="0" smtClean="0">
                <a:latin typeface="+mn-ea"/>
              </a:rPr>
              <a:t>   </a:t>
            </a:r>
            <a:r>
              <a:rPr kumimoji="1" lang="en-US" altLang="zh-CN" sz="1600" b="1" dirty="0">
                <a:latin typeface="+mn-ea"/>
              </a:rPr>
              <a:t>3</a:t>
            </a:r>
            <a:r>
              <a:rPr kumimoji="1" lang="zh-CN" altLang="en-US" sz="1600" b="1" dirty="0">
                <a:latin typeface="+mn-ea"/>
              </a:rPr>
              <a:t>位二进制普通编码器框图</a:t>
            </a:r>
          </a:p>
        </p:txBody>
      </p:sp>
      <p:sp>
        <p:nvSpPr>
          <p:cNvPr id="7" name="标题 1"/>
          <p:cNvSpPr txBox="1">
            <a:spLocks/>
          </p:cNvSpPr>
          <p:nvPr/>
        </p:nvSpPr>
        <p:spPr bwMode="auto">
          <a:xfrm>
            <a:off x="1259632" y="116632"/>
            <a:ext cx="7793037"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4.3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编码器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179201234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92696"/>
            <a:ext cx="7617022" cy="566936"/>
          </a:xfrm>
        </p:spPr>
        <p:txBody>
          <a:bodyPr/>
          <a:lstStyle/>
          <a:p>
            <a:r>
              <a:rPr lang="en-US" altLang="zh-CN" sz="3200" dirty="0" smtClean="0"/>
              <a:t>4.3.1 </a:t>
            </a:r>
            <a:r>
              <a:rPr lang="zh-CN" altLang="en-US" sz="3200" dirty="0" smtClean="0"/>
              <a:t>普通</a:t>
            </a:r>
            <a:r>
              <a:rPr lang="zh-CN" altLang="en-US" sz="3200" dirty="0"/>
              <a:t>编码器</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44</a:t>
            </a:fld>
            <a:endParaRPr lang="zh-CN" altLang="en-US"/>
          </a:p>
        </p:txBody>
      </p:sp>
      <p:graphicFrame>
        <p:nvGraphicFramePr>
          <p:cNvPr id="5" name="表格 4"/>
          <p:cNvGraphicFramePr>
            <a:graphicFrameLocks noGrp="1"/>
          </p:cNvGraphicFramePr>
          <p:nvPr>
            <p:extLst>
              <p:ext uri="{D42A27DB-BD31-4B8C-83A1-F6EECF244321}">
                <p14:modId xmlns:p14="http://schemas.microsoft.com/office/powerpoint/2010/main" xmlns="" val="3824074225"/>
              </p:ext>
            </p:extLst>
          </p:nvPr>
        </p:nvGraphicFramePr>
        <p:xfrm>
          <a:off x="1023029" y="2060848"/>
          <a:ext cx="6288360" cy="4481355"/>
        </p:xfrm>
        <a:graphic>
          <a:graphicData uri="http://schemas.openxmlformats.org/drawingml/2006/table">
            <a:tbl>
              <a:tblPr firstRow="1" bandRow="1">
                <a:tableStyleId>{5C22544A-7EE6-4342-B048-85BDC9FD1C3A}</a:tableStyleId>
              </a:tblPr>
              <a:tblGrid>
                <a:gridCol w="4464496">
                  <a:extLst>
                    <a:ext uri="{9D8B030D-6E8A-4147-A177-3AD203B41FA5}">
                      <a16:colId xmlns:a16="http://schemas.microsoft.com/office/drawing/2014/main" xmlns="" val="20000"/>
                    </a:ext>
                  </a:extLst>
                </a:gridCol>
                <a:gridCol w="1823864">
                  <a:extLst>
                    <a:ext uri="{9D8B030D-6E8A-4147-A177-3AD203B41FA5}">
                      <a16:colId xmlns:a16="http://schemas.microsoft.com/office/drawing/2014/main" xmlns="" val="20001"/>
                    </a:ext>
                  </a:extLst>
                </a:gridCol>
              </a:tblGrid>
              <a:tr h="563437">
                <a:tc>
                  <a:txBody>
                    <a:bodyPr/>
                    <a:lstStyle/>
                    <a:p>
                      <a:pPr algn="ctr"/>
                      <a:r>
                        <a:rPr lang="zh-CN" altLang="en-US" dirty="0" smtClean="0">
                          <a:solidFill>
                            <a:srgbClr val="0000CC"/>
                          </a:solidFill>
                        </a:rPr>
                        <a:t>输入</a:t>
                      </a:r>
                      <a:endParaRPr lang="zh-CN" altLang="en-US" dirty="0">
                        <a:solidFill>
                          <a:srgbClr val="0000CC"/>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dirty="0" smtClean="0">
                          <a:solidFill>
                            <a:srgbClr val="0000CC"/>
                          </a:solidFill>
                        </a:rPr>
                        <a:t>输出</a:t>
                      </a:r>
                      <a:endParaRPr lang="zh-CN" altLang="en-US" dirty="0">
                        <a:solidFill>
                          <a:srgbClr val="0000CC"/>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0"/>
                  </a:ext>
                </a:extLst>
              </a:tr>
              <a:tr h="444675">
                <a:tc>
                  <a:txBody>
                    <a:bodyPr/>
                    <a:lstStyle/>
                    <a:p>
                      <a:r>
                        <a:rPr lang="en-US" altLang="zh-CN" b="1" dirty="0" smtClean="0"/>
                        <a:t>I</a:t>
                      </a:r>
                      <a:r>
                        <a:rPr lang="en-US" altLang="zh-CN" b="1" baseline="-25000" dirty="0" smtClean="0"/>
                        <a:t>0</a:t>
                      </a:r>
                      <a:r>
                        <a:rPr lang="en-US" altLang="zh-CN" b="1" dirty="0" smtClean="0"/>
                        <a:t>     I</a:t>
                      </a:r>
                      <a:r>
                        <a:rPr lang="en-US" altLang="zh-CN" sz="1800" b="1" kern="1200" baseline="-25000" dirty="0" smtClean="0">
                          <a:solidFill>
                            <a:schemeClr val="dk1"/>
                          </a:solidFill>
                          <a:latin typeface="+mn-lt"/>
                          <a:ea typeface="+mn-ea"/>
                          <a:cs typeface="+mn-cs"/>
                        </a:rPr>
                        <a:t>1 </a:t>
                      </a:r>
                      <a:r>
                        <a:rPr lang="en-US" altLang="zh-CN" b="1" dirty="0" smtClean="0"/>
                        <a:t>    I</a:t>
                      </a:r>
                      <a:r>
                        <a:rPr lang="en-US" altLang="zh-CN" sz="1800" b="1" kern="1200" baseline="-25000" dirty="0" smtClean="0">
                          <a:solidFill>
                            <a:schemeClr val="dk1"/>
                          </a:solidFill>
                          <a:latin typeface="+mn-lt"/>
                          <a:ea typeface="+mn-ea"/>
                          <a:cs typeface="+mn-cs"/>
                        </a:rPr>
                        <a:t>2</a:t>
                      </a:r>
                      <a:r>
                        <a:rPr lang="en-US" altLang="zh-CN" b="1" dirty="0" smtClean="0"/>
                        <a:t>      I</a:t>
                      </a:r>
                      <a:r>
                        <a:rPr lang="en-US" altLang="zh-CN" sz="1800" b="1" kern="1200" baseline="-25000" dirty="0" smtClean="0">
                          <a:solidFill>
                            <a:schemeClr val="dk1"/>
                          </a:solidFill>
                          <a:latin typeface="+mn-lt"/>
                          <a:ea typeface="+mn-ea"/>
                          <a:cs typeface="+mn-cs"/>
                        </a:rPr>
                        <a:t>3</a:t>
                      </a:r>
                      <a:r>
                        <a:rPr lang="en-US" altLang="zh-CN" b="1" dirty="0" smtClean="0"/>
                        <a:t>      I</a:t>
                      </a:r>
                      <a:r>
                        <a:rPr lang="en-US" altLang="zh-CN" sz="1800" b="1" kern="1200" baseline="-25000" dirty="0" smtClean="0">
                          <a:solidFill>
                            <a:schemeClr val="dk1"/>
                          </a:solidFill>
                          <a:latin typeface="+mn-lt"/>
                          <a:ea typeface="+mn-ea"/>
                          <a:cs typeface="+mn-cs"/>
                        </a:rPr>
                        <a:t>4</a:t>
                      </a:r>
                      <a:r>
                        <a:rPr lang="en-US" altLang="zh-CN" b="1" dirty="0" smtClean="0"/>
                        <a:t>       I</a:t>
                      </a:r>
                      <a:r>
                        <a:rPr lang="en-US" altLang="zh-CN" sz="1800" b="1" kern="1200" baseline="-25000" dirty="0" smtClean="0">
                          <a:solidFill>
                            <a:schemeClr val="dk1"/>
                          </a:solidFill>
                          <a:latin typeface="+mn-lt"/>
                          <a:ea typeface="+mn-ea"/>
                          <a:cs typeface="+mn-cs"/>
                        </a:rPr>
                        <a:t>5</a:t>
                      </a:r>
                      <a:r>
                        <a:rPr lang="en-US" altLang="zh-CN" b="1" dirty="0" smtClean="0"/>
                        <a:t>      I</a:t>
                      </a:r>
                      <a:r>
                        <a:rPr lang="en-US" altLang="zh-CN" sz="1800" b="1" kern="1200" baseline="-25000" dirty="0" smtClean="0">
                          <a:solidFill>
                            <a:schemeClr val="dk1"/>
                          </a:solidFill>
                          <a:latin typeface="+mn-lt"/>
                          <a:ea typeface="+mn-ea"/>
                          <a:cs typeface="+mn-cs"/>
                        </a:rPr>
                        <a:t>6</a:t>
                      </a:r>
                      <a:r>
                        <a:rPr lang="en-US" altLang="zh-CN" b="1" dirty="0" smtClean="0"/>
                        <a:t>    I</a:t>
                      </a:r>
                      <a:r>
                        <a:rPr lang="en-US" altLang="zh-CN" sz="1800" b="1" kern="1200" baseline="-25000" dirty="0" smtClean="0">
                          <a:solidFill>
                            <a:schemeClr val="dk1"/>
                          </a:solidFill>
                          <a:latin typeface="+mn-lt"/>
                          <a:ea typeface="+mn-ea"/>
                          <a:cs typeface="+mn-cs"/>
                        </a:rPr>
                        <a:t>7</a:t>
                      </a:r>
                      <a:endParaRPr lang="zh-CN" altLang="en-US" sz="1800" b="1" kern="1200" baseline="-25000" dirty="0">
                        <a:solidFill>
                          <a:schemeClr val="dk1"/>
                        </a:solidFill>
                        <a:latin typeface="+mn-lt"/>
                        <a:ea typeface="+mn-ea"/>
                        <a:cs typeface="+mn-cs"/>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altLang="zh-CN" b="1" dirty="0" smtClean="0"/>
                        <a:t> Y</a:t>
                      </a:r>
                      <a:r>
                        <a:rPr lang="en-US" altLang="zh-CN" sz="1800" b="1" kern="1200" baseline="-25000" dirty="0" smtClean="0">
                          <a:solidFill>
                            <a:schemeClr val="dk1"/>
                          </a:solidFill>
                          <a:latin typeface="+mn-lt"/>
                          <a:ea typeface="+mn-ea"/>
                          <a:cs typeface="+mn-cs"/>
                        </a:rPr>
                        <a:t>2</a:t>
                      </a:r>
                      <a:r>
                        <a:rPr lang="en-US" altLang="zh-CN" b="1" dirty="0" smtClean="0"/>
                        <a:t>      Y</a:t>
                      </a:r>
                      <a:r>
                        <a:rPr lang="en-US" altLang="zh-CN" sz="1800" b="1" kern="1200" baseline="-25000" dirty="0" smtClean="0">
                          <a:solidFill>
                            <a:schemeClr val="dk1"/>
                          </a:solidFill>
                          <a:latin typeface="+mn-lt"/>
                          <a:ea typeface="+mn-ea"/>
                          <a:cs typeface="+mn-cs"/>
                        </a:rPr>
                        <a:t>1</a:t>
                      </a:r>
                      <a:r>
                        <a:rPr lang="en-US" altLang="zh-CN" b="1" dirty="0" smtClean="0"/>
                        <a:t>      Y</a:t>
                      </a:r>
                      <a:r>
                        <a:rPr lang="en-US" altLang="zh-CN" sz="1800" b="1" kern="1200" baseline="-25000" dirty="0" smtClean="0">
                          <a:solidFill>
                            <a:schemeClr val="dk1"/>
                          </a:solidFill>
                          <a:latin typeface="+mn-lt"/>
                          <a:ea typeface="+mn-ea"/>
                          <a:cs typeface="+mn-cs"/>
                        </a:rPr>
                        <a:t>0</a:t>
                      </a:r>
                      <a:endParaRPr lang="zh-CN" altLang="en-US" sz="1800" b="1" kern="1200" baseline="-250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10001"/>
                  </a:ext>
                </a:extLst>
              </a:tr>
              <a:tr h="3473243">
                <a:tc>
                  <a:txBody>
                    <a:bodyPr/>
                    <a:lstStyle/>
                    <a:p>
                      <a:pPr algn="dist">
                        <a:lnSpc>
                          <a:spcPct val="150000"/>
                        </a:lnSpc>
                      </a:pPr>
                      <a:r>
                        <a:rPr lang="en-US" altLang="zh-CN" dirty="0" smtClean="0"/>
                        <a:t>10000000</a:t>
                      </a:r>
                    </a:p>
                    <a:p>
                      <a:pPr algn="dist">
                        <a:lnSpc>
                          <a:spcPct val="150000"/>
                        </a:lnSpc>
                      </a:pPr>
                      <a:r>
                        <a:rPr lang="en-US" altLang="zh-CN" dirty="0" smtClean="0"/>
                        <a:t>01000000</a:t>
                      </a:r>
                    </a:p>
                    <a:p>
                      <a:pPr algn="dist">
                        <a:lnSpc>
                          <a:spcPct val="150000"/>
                        </a:lnSpc>
                      </a:pPr>
                      <a:r>
                        <a:rPr lang="en-US" altLang="zh-CN" dirty="0" smtClean="0"/>
                        <a:t>00100000</a:t>
                      </a:r>
                    </a:p>
                    <a:p>
                      <a:pPr algn="dist">
                        <a:lnSpc>
                          <a:spcPct val="150000"/>
                        </a:lnSpc>
                      </a:pPr>
                      <a:r>
                        <a:rPr lang="en-US" altLang="zh-CN" dirty="0" smtClean="0"/>
                        <a:t>00010000</a:t>
                      </a:r>
                    </a:p>
                    <a:p>
                      <a:pPr algn="dist">
                        <a:lnSpc>
                          <a:spcPct val="150000"/>
                        </a:lnSpc>
                      </a:pPr>
                      <a:r>
                        <a:rPr lang="en-US" altLang="zh-CN" dirty="0" smtClean="0"/>
                        <a:t>00001000</a:t>
                      </a:r>
                    </a:p>
                    <a:p>
                      <a:pPr algn="dist">
                        <a:lnSpc>
                          <a:spcPct val="150000"/>
                        </a:lnSpc>
                      </a:pPr>
                      <a:r>
                        <a:rPr lang="en-US" altLang="zh-CN" dirty="0" smtClean="0"/>
                        <a:t>00000100</a:t>
                      </a:r>
                    </a:p>
                    <a:p>
                      <a:pPr algn="dist">
                        <a:lnSpc>
                          <a:spcPct val="150000"/>
                        </a:lnSpc>
                      </a:pPr>
                      <a:r>
                        <a:rPr lang="en-US" altLang="zh-CN" dirty="0" smtClean="0"/>
                        <a:t>00000010</a:t>
                      </a:r>
                    </a:p>
                    <a:p>
                      <a:pPr algn="dist">
                        <a:lnSpc>
                          <a:spcPct val="150000"/>
                        </a:lnSpc>
                      </a:pPr>
                      <a:r>
                        <a:rPr lang="en-US" altLang="zh-CN" dirty="0" smtClean="0"/>
                        <a:t>00000001</a:t>
                      </a:r>
                      <a:endParaRPr lang="zh-CN" altLang="en-US"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dist">
                        <a:lnSpc>
                          <a:spcPct val="150000"/>
                        </a:lnSpc>
                      </a:pPr>
                      <a:r>
                        <a:rPr lang="en-US" altLang="zh-CN" dirty="0" smtClean="0"/>
                        <a:t> 000</a:t>
                      </a:r>
                    </a:p>
                    <a:p>
                      <a:pPr algn="dist">
                        <a:lnSpc>
                          <a:spcPct val="150000"/>
                        </a:lnSpc>
                      </a:pPr>
                      <a:r>
                        <a:rPr lang="en-US" altLang="zh-CN" dirty="0" smtClean="0"/>
                        <a:t> 001</a:t>
                      </a:r>
                    </a:p>
                    <a:p>
                      <a:pPr algn="dist">
                        <a:lnSpc>
                          <a:spcPct val="150000"/>
                        </a:lnSpc>
                      </a:pPr>
                      <a:r>
                        <a:rPr lang="en-US" altLang="zh-CN" dirty="0" smtClean="0"/>
                        <a:t> 010</a:t>
                      </a:r>
                    </a:p>
                    <a:p>
                      <a:pPr algn="dist">
                        <a:lnSpc>
                          <a:spcPct val="150000"/>
                        </a:lnSpc>
                      </a:pPr>
                      <a:r>
                        <a:rPr lang="en-US" altLang="zh-CN" dirty="0" smtClean="0"/>
                        <a:t> 011</a:t>
                      </a:r>
                    </a:p>
                    <a:p>
                      <a:pPr algn="dist">
                        <a:lnSpc>
                          <a:spcPct val="150000"/>
                        </a:lnSpc>
                      </a:pPr>
                      <a:r>
                        <a:rPr lang="en-US" altLang="zh-CN" dirty="0" smtClean="0"/>
                        <a:t> 100</a:t>
                      </a:r>
                    </a:p>
                    <a:p>
                      <a:pPr algn="dist">
                        <a:lnSpc>
                          <a:spcPct val="150000"/>
                        </a:lnSpc>
                      </a:pPr>
                      <a:r>
                        <a:rPr lang="en-US" altLang="zh-CN" dirty="0" smtClean="0"/>
                        <a:t> 101</a:t>
                      </a:r>
                    </a:p>
                    <a:p>
                      <a:pPr algn="dist">
                        <a:lnSpc>
                          <a:spcPct val="150000"/>
                        </a:lnSpc>
                      </a:pPr>
                      <a:r>
                        <a:rPr lang="en-US" altLang="zh-CN" dirty="0" smtClean="0"/>
                        <a:t> 110</a:t>
                      </a:r>
                    </a:p>
                    <a:p>
                      <a:pPr algn="dist">
                        <a:lnSpc>
                          <a:spcPct val="150000"/>
                        </a:lnSpc>
                      </a:pPr>
                      <a:r>
                        <a:rPr lang="en-US" altLang="zh-CN" dirty="0" smtClean="0"/>
                        <a:t> 111</a:t>
                      </a:r>
                      <a:endParaRPr lang="zh-CN" altLang="en-US"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bl>
          </a:graphicData>
        </a:graphic>
      </p:graphicFrame>
      <p:sp>
        <p:nvSpPr>
          <p:cNvPr id="7" name="矩形 6"/>
          <p:cNvSpPr/>
          <p:nvPr/>
        </p:nvSpPr>
        <p:spPr>
          <a:xfrm>
            <a:off x="2195736" y="1556792"/>
            <a:ext cx="4752528" cy="461665"/>
          </a:xfrm>
          <a:prstGeom prst="rect">
            <a:avLst/>
          </a:prstGeom>
        </p:spPr>
        <p:txBody>
          <a:bodyPr wrap="square">
            <a:spAutoFit/>
          </a:bodyPr>
          <a:lstStyle/>
          <a:p>
            <a:pPr algn="ctr"/>
            <a:r>
              <a:rPr lang="zh-CN" altLang="en-US" sz="2400" b="1" dirty="0" smtClean="0"/>
              <a:t>表</a:t>
            </a:r>
            <a:r>
              <a:rPr lang="en-US" altLang="zh-CN" sz="2400" b="1" dirty="0" smtClean="0"/>
              <a:t>  </a:t>
            </a:r>
            <a:r>
              <a:rPr lang="en-US" altLang="zh-CN" sz="2400" b="1" dirty="0"/>
              <a:t>3</a:t>
            </a:r>
            <a:r>
              <a:rPr lang="zh-CN" altLang="en-US" sz="2400" b="1" dirty="0"/>
              <a:t>位二进制普通编码器真值表</a:t>
            </a:r>
          </a:p>
        </p:txBody>
      </p:sp>
      <p:sp>
        <p:nvSpPr>
          <p:cNvPr id="9" name="矩形 8"/>
          <p:cNvSpPr/>
          <p:nvPr/>
        </p:nvSpPr>
        <p:spPr>
          <a:xfrm>
            <a:off x="3203848" y="4797152"/>
            <a:ext cx="2790818" cy="1512168"/>
          </a:xfrm>
          <a:prstGeom prst="rect">
            <a:avLst/>
          </a:prstGeom>
          <a:noFill/>
          <a:ln w="28575">
            <a:solidFill>
              <a:schemeClr val="accent1"/>
            </a:solidFill>
          </a:ln>
        </p:spPr>
        <p:txBody>
          <a:bodyPr wrap="none" rtlCol="0" anchor="ctr">
            <a:spAutoFit/>
          </a:bodyPr>
          <a:lstStyle/>
          <a:p>
            <a:pPr algn="ctr"/>
            <a:endParaRPr lang="zh-CN" altLang="en-US" sz="2000" b="1" dirty="0">
              <a:latin typeface="华文新魏" pitchFamily="2" charset="-122"/>
              <a:ea typeface="华文新魏" pitchFamily="2" charset="-122"/>
            </a:endParaRPr>
          </a:p>
        </p:txBody>
      </p:sp>
      <p:sp>
        <p:nvSpPr>
          <p:cNvPr id="11" name="矩形 10"/>
          <p:cNvSpPr/>
          <p:nvPr/>
        </p:nvSpPr>
        <p:spPr>
          <a:xfrm>
            <a:off x="2051720" y="4005064"/>
            <a:ext cx="4752527" cy="720080"/>
          </a:xfrm>
          <a:prstGeom prst="rect">
            <a:avLst/>
          </a:prstGeom>
          <a:noFill/>
          <a:ln w="28575">
            <a:solidFill>
              <a:srgbClr val="FF0000"/>
            </a:solidFill>
          </a:ln>
        </p:spPr>
        <p:txBody>
          <a:bodyPr wrap="square" rtlCol="0" anchor="ctr">
            <a:spAutoFit/>
          </a:bodyPr>
          <a:lstStyle/>
          <a:p>
            <a:pPr algn="ctr"/>
            <a:endParaRPr lang="zh-CN" altLang="en-US" sz="2000" b="1" dirty="0">
              <a:latin typeface="华文新魏" pitchFamily="2" charset="-122"/>
              <a:ea typeface="华文新魏" pitchFamily="2" charset="-122"/>
            </a:endParaRPr>
          </a:p>
        </p:txBody>
      </p:sp>
      <p:sp>
        <p:nvSpPr>
          <p:cNvPr id="12" name="矩形 11"/>
          <p:cNvSpPr/>
          <p:nvPr/>
        </p:nvSpPr>
        <p:spPr>
          <a:xfrm>
            <a:off x="4313417" y="5636361"/>
            <a:ext cx="2490831" cy="672959"/>
          </a:xfrm>
          <a:prstGeom prst="rect">
            <a:avLst/>
          </a:prstGeom>
          <a:noFill/>
          <a:ln w="28575">
            <a:solidFill>
              <a:srgbClr val="FF0000"/>
            </a:solidFill>
          </a:ln>
        </p:spPr>
        <p:txBody>
          <a:bodyPr wrap="square" rtlCol="0" anchor="ctr">
            <a:spAutoFit/>
          </a:bodyPr>
          <a:lstStyle/>
          <a:p>
            <a:pPr algn="ctr"/>
            <a:endParaRPr lang="zh-CN" altLang="en-US" sz="2000" b="1" dirty="0">
              <a:latin typeface="华文新魏" pitchFamily="2" charset="-122"/>
              <a:ea typeface="华文新魏" pitchFamily="2" charset="-122"/>
            </a:endParaRPr>
          </a:p>
        </p:txBody>
      </p:sp>
      <p:sp>
        <p:nvSpPr>
          <p:cNvPr id="13" name="矩形 12"/>
          <p:cNvSpPr/>
          <p:nvPr/>
        </p:nvSpPr>
        <p:spPr>
          <a:xfrm>
            <a:off x="1619672" y="3519781"/>
            <a:ext cx="5760640" cy="400110"/>
          </a:xfrm>
          <a:prstGeom prst="rect">
            <a:avLst/>
          </a:prstGeom>
          <a:noFill/>
          <a:ln w="28575">
            <a:solidFill>
              <a:schemeClr val="tx2">
                <a:lumMod val="60000"/>
                <a:lumOff val="40000"/>
              </a:schemeClr>
            </a:solidFill>
          </a:ln>
        </p:spPr>
        <p:txBody>
          <a:bodyPr wrap="square" rtlCol="0" anchor="ctr">
            <a:spAutoFit/>
          </a:bodyPr>
          <a:lstStyle/>
          <a:p>
            <a:pPr algn="ctr"/>
            <a:endParaRPr lang="zh-CN" altLang="en-US" sz="2000" b="1" dirty="0">
              <a:latin typeface="华文新魏" pitchFamily="2" charset="-122"/>
              <a:ea typeface="华文新魏" pitchFamily="2" charset="-122"/>
            </a:endParaRPr>
          </a:p>
        </p:txBody>
      </p:sp>
      <p:sp>
        <p:nvSpPr>
          <p:cNvPr id="14" name="矩形 13"/>
          <p:cNvSpPr/>
          <p:nvPr/>
        </p:nvSpPr>
        <p:spPr>
          <a:xfrm>
            <a:off x="2771800" y="4365104"/>
            <a:ext cx="4616896" cy="360040"/>
          </a:xfrm>
          <a:prstGeom prst="rect">
            <a:avLst/>
          </a:prstGeom>
          <a:noFill/>
          <a:ln w="28575">
            <a:solidFill>
              <a:schemeClr val="tx2">
                <a:lumMod val="60000"/>
                <a:lumOff val="40000"/>
              </a:schemeClr>
            </a:solidFill>
          </a:ln>
        </p:spPr>
        <p:txBody>
          <a:bodyPr wrap="square" rtlCol="0" anchor="ctr">
            <a:spAutoFit/>
          </a:bodyPr>
          <a:lstStyle/>
          <a:p>
            <a:pPr algn="ctr"/>
            <a:endParaRPr lang="zh-CN" altLang="en-US" sz="2000" b="1" dirty="0">
              <a:latin typeface="华文新魏" pitchFamily="2" charset="-122"/>
              <a:ea typeface="华文新魏" pitchFamily="2" charset="-122"/>
            </a:endParaRPr>
          </a:p>
        </p:txBody>
      </p:sp>
      <p:sp>
        <p:nvSpPr>
          <p:cNvPr id="15" name="矩形 14"/>
          <p:cNvSpPr/>
          <p:nvPr/>
        </p:nvSpPr>
        <p:spPr>
          <a:xfrm>
            <a:off x="3995936" y="5173161"/>
            <a:ext cx="3384376" cy="400110"/>
          </a:xfrm>
          <a:prstGeom prst="rect">
            <a:avLst/>
          </a:prstGeom>
          <a:noFill/>
          <a:ln w="28575">
            <a:solidFill>
              <a:schemeClr val="tx2">
                <a:lumMod val="60000"/>
                <a:lumOff val="40000"/>
              </a:schemeClr>
            </a:solidFill>
          </a:ln>
        </p:spPr>
        <p:txBody>
          <a:bodyPr wrap="square" rtlCol="0" anchor="ctr">
            <a:spAutoFit/>
          </a:bodyPr>
          <a:lstStyle/>
          <a:p>
            <a:pPr algn="ctr"/>
            <a:endParaRPr lang="zh-CN" altLang="en-US" sz="2000" b="1" dirty="0">
              <a:latin typeface="华文新魏" pitchFamily="2" charset="-122"/>
              <a:ea typeface="华文新魏" pitchFamily="2" charset="-122"/>
            </a:endParaRPr>
          </a:p>
        </p:txBody>
      </p:sp>
      <p:sp>
        <p:nvSpPr>
          <p:cNvPr id="16" name="矩形 15"/>
          <p:cNvSpPr/>
          <p:nvPr/>
        </p:nvSpPr>
        <p:spPr>
          <a:xfrm>
            <a:off x="5148064" y="6034453"/>
            <a:ext cx="2232248" cy="400110"/>
          </a:xfrm>
          <a:prstGeom prst="rect">
            <a:avLst/>
          </a:prstGeom>
          <a:noFill/>
          <a:ln w="28575">
            <a:solidFill>
              <a:schemeClr val="tx2">
                <a:lumMod val="60000"/>
                <a:lumOff val="40000"/>
              </a:schemeClr>
            </a:solidFill>
          </a:ln>
        </p:spPr>
        <p:txBody>
          <a:bodyPr wrap="square" rtlCol="0" anchor="ctr">
            <a:spAutoFit/>
          </a:bodyPr>
          <a:lstStyle/>
          <a:p>
            <a:pPr algn="ctr"/>
            <a:endParaRPr lang="zh-CN" altLang="en-US" sz="2000" b="1" dirty="0">
              <a:latin typeface="华文新魏" pitchFamily="2" charset="-122"/>
              <a:ea typeface="华文新魏" pitchFamily="2" charset="-122"/>
            </a:endParaRPr>
          </a:p>
        </p:txBody>
      </p:sp>
      <p:sp>
        <p:nvSpPr>
          <p:cNvPr id="17" name="标题 1"/>
          <p:cNvSpPr txBox="1">
            <a:spLocks/>
          </p:cNvSpPr>
          <p:nvPr/>
        </p:nvSpPr>
        <p:spPr bwMode="auto">
          <a:xfrm>
            <a:off x="1259632" y="116632"/>
            <a:ext cx="7793037"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4.3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编码器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3153157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xit" presetSubtype="0" fill="hold" grpId="1" nodeType="withEffect">
                                  <p:stCondLst>
                                    <p:cond delay="0"/>
                                  </p:stCondLst>
                                  <p:childTnLst>
                                    <p:set>
                                      <p:cBhvr>
                                        <p:cTn id="14" dur="1" fill="hold">
                                          <p:stCondLst>
                                            <p:cond delay="0"/>
                                          </p:stCondLst>
                                        </p:cTn>
                                        <p:tgtEl>
                                          <p:spTgt spid="9"/>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xit" presetSubtype="0" fill="hold" grpId="1" nodeType="withEffect">
                                  <p:stCondLst>
                                    <p:cond delay="0"/>
                                  </p:stCondLst>
                                  <p:childTnLst>
                                    <p:set>
                                      <p:cBhvr>
                                        <p:cTn id="26" dur="1" fill="hold">
                                          <p:stCondLst>
                                            <p:cond delay="0"/>
                                          </p:stCondLst>
                                        </p:cTn>
                                        <p:tgtEl>
                                          <p:spTgt spid="11"/>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1" grpId="0" animBg="1"/>
      <p:bldP spid="11" grpId="1" animBg="1"/>
      <p:bldP spid="12" grpId="0" animBg="1"/>
      <p:bldP spid="12" grpId="1" animBg="1"/>
      <p:bldP spid="13" grpId="0" animBg="1"/>
      <p:bldP spid="14" grpId="0" animBg="1"/>
      <p:bldP spid="15" grpId="0" animBg="1"/>
      <p:bldP spid="1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20688"/>
            <a:ext cx="7545014" cy="638944"/>
          </a:xfrm>
        </p:spPr>
        <p:txBody>
          <a:bodyPr/>
          <a:lstStyle/>
          <a:p>
            <a:r>
              <a:rPr lang="en-US" altLang="zh-CN" dirty="0" smtClean="0"/>
              <a:t>4.3.1 </a:t>
            </a:r>
            <a:r>
              <a:rPr lang="zh-CN" altLang="en-US" dirty="0" smtClean="0"/>
              <a:t>普通</a:t>
            </a:r>
            <a:r>
              <a:rPr lang="zh-CN" altLang="en-US" dirty="0"/>
              <a:t>编码器</a:t>
            </a:r>
          </a:p>
        </p:txBody>
      </p:sp>
      <p:sp>
        <p:nvSpPr>
          <p:cNvPr id="3" name="内容占位符 2"/>
          <p:cNvSpPr>
            <a:spLocks noGrp="1"/>
          </p:cNvSpPr>
          <p:nvPr>
            <p:ph idx="1"/>
          </p:nvPr>
        </p:nvSpPr>
        <p:spPr>
          <a:xfrm>
            <a:off x="467544" y="1556792"/>
            <a:ext cx="8352928" cy="4911128"/>
          </a:xfrm>
        </p:spPr>
        <p:txBody>
          <a:bodyPr/>
          <a:lstStyle/>
          <a:p>
            <a:pPr>
              <a:lnSpc>
                <a:spcPct val="100000"/>
              </a:lnSpc>
              <a:spcBef>
                <a:spcPts val="600"/>
              </a:spcBef>
              <a:buSzPct val="100000"/>
              <a:buFont typeface="Wingdings" pitchFamily="2" charset="2"/>
              <a:buChar char="p"/>
            </a:pPr>
            <a:r>
              <a:rPr lang="zh-CN" altLang="en-US" sz="2800" dirty="0"/>
              <a:t>普通编码器门级电路</a:t>
            </a:r>
            <a:r>
              <a:rPr lang="zh-CN" altLang="en-US" sz="2800" dirty="0" smtClean="0"/>
              <a:t>设计</a:t>
            </a:r>
            <a:endParaRPr lang="en-US" altLang="zh-CN" sz="2800" dirty="0" smtClean="0"/>
          </a:p>
          <a:p>
            <a:pPr lvl="1">
              <a:lnSpc>
                <a:spcPct val="100000"/>
              </a:lnSpc>
              <a:spcBef>
                <a:spcPts val="600"/>
              </a:spcBef>
              <a:buSzPct val="100000"/>
            </a:pPr>
            <a:r>
              <a:rPr lang="zh-CN" altLang="en-US" sz="2400" dirty="0"/>
              <a:t>由于普通编码器在任何时刻</a:t>
            </a:r>
            <a:r>
              <a:rPr lang="en-US" altLang="zh-CN" sz="2400" dirty="0"/>
              <a:t>I</a:t>
            </a:r>
            <a:r>
              <a:rPr lang="en-US" altLang="zh-CN" sz="2400" baseline="-25000" dirty="0"/>
              <a:t>0</a:t>
            </a:r>
            <a:r>
              <a:rPr lang="en-US" altLang="zh-CN" sz="2400" dirty="0"/>
              <a:t>~I</a:t>
            </a:r>
            <a:r>
              <a:rPr lang="en-US" altLang="zh-CN" sz="2400" baseline="-25000" dirty="0"/>
              <a:t>7 </a:t>
            </a:r>
            <a:r>
              <a:rPr lang="zh-CN" altLang="en-US" sz="2400" dirty="0"/>
              <a:t>当中</a:t>
            </a:r>
            <a:r>
              <a:rPr lang="zh-CN" altLang="en-US" sz="2400" dirty="0">
                <a:solidFill>
                  <a:srgbClr val="0000CC"/>
                </a:solidFill>
              </a:rPr>
              <a:t>仅有一</a:t>
            </a:r>
            <a:r>
              <a:rPr lang="zh-CN" altLang="en-US" sz="2400" dirty="0" smtClean="0">
                <a:solidFill>
                  <a:srgbClr val="0000CC"/>
                </a:solidFill>
              </a:rPr>
              <a:t>个取值</a:t>
            </a:r>
            <a:r>
              <a:rPr lang="zh-CN" altLang="en-US" sz="2400" dirty="0">
                <a:solidFill>
                  <a:srgbClr val="0000CC"/>
                </a:solidFill>
              </a:rPr>
              <a:t>为</a:t>
            </a:r>
            <a:r>
              <a:rPr lang="en-US" altLang="zh-CN" sz="2400" dirty="0">
                <a:solidFill>
                  <a:srgbClr val="0000CC"/>
                </a:solidFill>
              </a:rPr>
              <a:t>1</a:t>
            </a:r>
            <a:r>
              <a:rPr lang="zh-CN" altLang="en-US" sz="2400" dirty="0"/>
              <a:t>，即只有真值表中所列的</a:t>
            </a:r>
            <a:r>
              <a:rPr lang="en-US" altLang="zh-CN" sz="2400" dirty="0">
                <a:solidFill>
                  <a:srgbClr val="0000CC"/>
                </a:solidFill>
              </a:rPr>
              <a:t>8</a:t>
            </a:r>
            <a:r>
              <a:rPr lang="zh-CN" altLang="en-US" sz="2400" dirty="0">
                <a:solidFill>
                  <a:srgbClr val="0000CC"/>
                </a:solidFill>
              </a:rPr>
              <a:t>种状态</a:t>
            </a:r>
            <a:r>
              <a:rPr lang="zh-CN" altLang="en-US" sz="2400" dirty="0"/>
              <a:t>，而且</a:t>
            </a:r>
            <a:r>
              <a:rPr lang="zh-CN" altLang="en-US" sz="2400" dirty="0" smtClean="0"/>
              <a:t>它的</a:t>
            </a:r>
            <a:r>
              <a:rPr lang="zh-CN" altLang="en-US" sz="2400" dirty="0"/>
              <a:t>（</a:t>
            </a:r>
            <a:r>
              <a:rPr lang="en-US" altLang="zh-CN" sz="2400" dirty="0"/>
              <a:t>2</a:t>
            </a:r>
            <a:r>
              <a:rPr lang="en-US" altLang="zh-CN" sz="2400" baseline="30000" dirty="0"/>
              <a:t>8 </a:t>
            </a:r>
            <a:r>
              <a:rPr lang="en-US" altLang="zh-CN" sz="2400" dirty="0"/>
              <a:t>- 8</a:t>
            </a:r>
            <a:r>
              <a:rPr lang="zh-CN" altLang="en-US" sz="2400" dirty="0"/>
              <a:t>）种状态均为</a:t>
            </a:r>
            <a:r>
              <a:rPr lang="zh-CN" altLang="en-US" sz="2400" dirty="0">
                <a:solidFill>
                  <a:srgbClr val="FF0000"/>
                </a:solidFill>
              </a:rPr>
              <a:t>约束项</a:t>
            </a:r>
            <a:r>
              <a:rPr lang="zh-CN" altLang="en-US" sz="2400" dirty="0"/>
              <a:t>。因此，由真值表</a:t>
            </a:r>
            <a:r>
              <a:rPr lang="zh-CN" altLang="en-US" sz="2400" dirty="0" smtClean="0"/>
              <a:t>可得到</a:t>
            </a:r>
            <a:r>
              <a:rPr lang="zh-CN" altLang="en-US" sz="2400" dirty="0"/>
              <a:t>逻辑式：</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45</a:t>
            </a:fld>
            <a:endParaRPr lang="zh-CN" altLang="en-US"/>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115616" y="3501008"/>
            <a:ext cx="3309430" cy="1584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矩形 5"/>
          <p:cNvSpPr/>
          <p:nvPr/>
        </p:nvSpPr>
        <p:spPr>
          <a:xfrm>
            <a:off x="2051720" y="5301208"/>
            <a:ext cx="1584176" cy="461665"/>
          </a:xfrm>
          <a:prstGeom prst="rect">
            <a:avLst/>
          </a:prstGeom>
        </p:spPr>
        <p:txBody>
          <a:bodyPr wrap="square">
            <a:spAutoFit/>
          </a:bodyPr>
          <a:lstStyle/>
          <a:p>
            <a:pPr algn="ctr"/>
            <a:r>
              <a:rPr lang="zh-CN" altLang="en-US" sz="2400" b="1" dirty="0"/>
              <a:t>或门实现</a:t>
            </a:r>
          </a:p>
        </p:txBody>
      </p:sp>
      <p:sp>
        <p:nvSpPr>
          <p:cNvPr id="7" name="矩形 6"/>
          <p:cNvSpPr/>
          <p:nvPr/>
        </p:nvSpPr>
        <p:spPr>
          <a:xfrm>
            <a:off x="4716016" y="6165304"/>
            <a:ext cx="3539752" cy="338554"/>
          </a:xfrm>
          <a:prstGeom prst="rect">
            <a:avLst/>
          </a:prstGeom>
        </p:spPr>
        <p:txBody>
          <a:bodyPr wrap="none">
            <a:spAutoFit/>
          </a:bodyPr>
          <a:lstStyle/>
          <a:p>
            <a:r>
              <a:rPr lang="zh-CN" altLang="en-US" sz="1600" b="1" dirty="0" smtClean="0"/>
              <a:t>图</a:t>
            </a:r>
            <a:r>
              <a:rPr lang="en-US" altLang="zh-CN" sz="1600" b="1" dirty="0" smtClean="0"/>
              <a:t>  </a:t>
            </a:r>
            <a:r>
              <a:rPr lang="en-US" altLang="zh-CN" sz="1600" b="1" dirty="0"/>
              <a:t>3</a:t>
            </a:r>
            <a:r>
              <a:rPr lang="zh-CN" altLang="en-US" sz="1600" b="1" dirty="0"/>
              <a:t>位二进制编码器或门实现电路图</a:t>
            </a:r>
          </a:p>
        </p:txBody>
      </p:sp>
      <p:sp>
        <p:nvSpPr>
          <p:cNvPr id="13" name="标题 1"/>
          <p:cNvSpPr txBox="1">
            <a:spLocks/>
          </p:cNvSpPr>
          <p:nvPr/>
        </p:nvSpPr>
        <p:spPr bwMode="auto">
          <a:xfrm>
            <a:off x="1259632" y="116632"/>
            <a:ext cx="7793037"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4.3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编码器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grpSp>
        <p:nvGrpSpPr>
          <p:cNvPr id="25" name="组合 24"/>
          <p:cNvGrpSpPr/>
          <p:nvPr/>
        </p:nvGrpSpPr>
        <p:grpSpPr>
          <a:xfrm>
            <a:off x="5220072" y="3356992"/>
            <a:ext cx="2160239" cy="2681722"/>
            <a:chOff x="5220072" y="3356992"/>
            <a:chExt cx="2160239" cy="2681722"/>
          </a:xfrm>
        </p:grpSpPr>
        <p:grpSp>
          <p:nvGrpSpPr>
            <p:cNvPr id="12" name="组合 11"/>
            <p:cNvGrpSpPr/>
            <p:nvPr/>
          </p:nvGrpSpPr>
          <p:grpSpPr>
            <a:xfrm>
              <a:off x="5220072" y="3356992"/>
              <a:ext cx="2160239" cy="2681722"/>
              <a:chOff x="5436096" y="3411574"/>
              <a:chExt cx="2266307" cy="3132000"/>
            </a:xfrm>
          </p:grpSpPr>
          <p:pic>
            <p:nvPicPr>
              <p:cNvPr id="3075"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436096" y="3411574"/>
                <a:ext cx="2266307" cy="3132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cxnSp>
            <p:nvCxnSpPr>
              <p:cNvPr id="8" name="直接连接符 7"/>
              <p:cNvCxnSpPr/>
              <p:nvPr/>
            </p:nvCxnSpPr>
            <p:spPr bwMode="auto">
              <a:xfrm>
                <a:off x="5508104" y="3789040"/>
                <a:ext cx="0" cy="2592288"/>
              </a:xfrm>
              <a:prstGeom prst="line">
                <a:avLst/>
              </a:prstGeom>
              <a:noFill/>
              <a:ln w="19050"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grpSp>
        <p:cxnSp>
          <p:nvCxnSpPr>
            <p:cNvPr id="21" name="直接连接符 20"/>
            <p:cNvCxnSpPr/>
            <p:nvPr/>
          </p:nvCxnSpPr>
          <p:spPr bwMode="auto">
            <a:xfrm>
              <a:off x="5436096" y="5877272"/>
              <a:ext cx="1008112" cy="0"/>
            </a:xfrm>
            <a:prstGeom prst="line">
              <a:avLst/>
            </a:prstGeom>
            <a:noFill/>
            <a:ln w="19050"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xmlns="" val="74893295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92696"/>
            <a:ext cx="7617022" cy="566936"/>
          </a:xfrm>
        </p:spPr>
        <p:txBody>
          <a:bodyPr/>
          <a:lstStyle/>
          <a:p>
            <a:r>
              <a:rPr lang="en-US" altLang="zh-CN" sz="3200" dirty="0" smtClean="0"/>
              <a:t>4.3.1 </a:t>
            </a:r>
            <a:r>
              <a:rPr lang="zh-CN" altLang="en-US" sz="3200" dirty="0" smtClean="0"/>
              <a:t>普通</a:t>
            </a:r>
            <a:r>
              <a:rPr lang="zh-CN" altLang="en-US" sz="3200" dirty="0"/>
              <a:t>编码器</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46</a:t>
            </a:fld>
            <a:endParaRPr lang="zh-CN" altLang="en-US"/>
          </a:p>
        </p:txBody>
      </p:sp>
      <p:sp>
        <p:nvSpPr>
          <p:cNvPr id="6" name="矩形 5"/>
          <p:cNvSpPr/>
          <p:nvPr/>
        </p:nvSpPr>
        <p:spPr>
          <a:xfrm>
            <a:off x="1547664" y="4743412"/>
            <a:ext cx="1872208" cy="461665"/>
          </a:xfrm>
          <a:prstGeom prst="rect">
            <a:avLst/>
          </a:prstGeom>
        </p:spPr>
        <p:txBody>
          <a:bodyPr wrap="square">
            <a:spAutoFit/>
          </a:bodyPr>
          <a:lstStyle/>
          <a:p>
            <a:pPr algn="ctr"/>
            <a:r>
              <a:rPr lang="zh-CN" altLang="en-US" sz="2400" b="1" dirty="0" smtClean="0"/>
              <a:t>与非门</a:t>
            </a:r>
            <a:r>
              <a:rPr lang="zh-CN" altLang="en-US" sz="2400" b="1" dirty="0"/>
              <a:t>实现</a:t>
            </a:r>
          </a:p>
        </p:txBody>
      </p:sp>
      <p:sp>
        <p:nvSpPr>
          <p:cNvPr id="7" name="矩形 6"/>
          <p:cNvSpPr/>
          <p:nvPr/>
        </p:nvSpPr>
        <p:spPr>
          <a:xfrm>
            <a:off x="4572000" y="4959694"/>
            <a:ext cx="4185761" cy="369332"/>
          </a:xfrm>
          <a:prstGeom prst="rect">
            <a:avLst/>
          </a:prstGeom>
        </p:spPr>
        <p:txBody>
          <a:bodyPr wrap="none">
            <a:spAutoFit/>
          </a:bodyPr>
          <a:lstStyle/>
          <a:p>
            <a:r>
              <a:rPr lang="zh-CN" altLang="en-US" b="1" dirty="0" smtClean="0"/>
              <a:t>图</a:t>
            </a:r>
            <a:r>
              <a:rPr lang="en-US" altLang="zh-CN" b="1" dirty="0" smtClean="0"/>
              <a:t>  </a:t>
            </a:r>
            <a:r>
              <a:rPr lang="en-US" altLang="zh-CN" b="1" dirty="0"/>
              <a:t>3</a:t>
            </a:r>
            <a:r>
              <a:rPr lang="zh-CN" altLang="en-US" b="1" dirty="0"/>
              <a:t>位二进制编码</a:t>
            </a:r>
            <a:r>
              <a:rPr lang="zh-CN" altLang="en-US" b="1" dirty="0" smtClean="0"/>
              <a:t>器与非门</a:t>
            </a:r>
            <a:r>
              <a:rPr lang="zh-CN" altLang="en-US" b="1" dirty="0"/>
              <a:t>实现电路图</a:t>
            </a:r>
          </a:p>
        </p:txBody>
      </p:sp>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203450" y="2492896"/>
            <a:ext cx="2491965" cy="1980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995936" y="1844824"/>
            <a:ext cx="4558408" cy="2844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0" name="标题 1"/>
          <p:cNvSpPr txBox="1">
            <a:spLocks/>
          </p:cNvSpPr>
          <p:nvPr/>
        </p:nvSpPr>
        <p:spPr bwMode="auto">
          <a:xfrm>
            <a:off x="1259632" y="116632"/>
            <a:ext cx="7793037"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4.3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编码器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255437026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0145" name="Picture 1"/>
          <p:cNvPicPr>
            <a:picLocks noChangeAspect="1" noChangeArrowheads="1"/>
          </p:cNvPicPr>
          <p:nvPr/>
        </p:nvPicPr>
        <p:blipFill>
          <a:blip r:embed="rId2" cstate="print"/>
          <a:srcRect/>
          <a:stretch>
            <a:fillRect/>
          </a:stretch>
        </p:blipFill>
        <p:spPr bwMode="auto">
          <a:xfrm>
            <a:off x="5652120" y="3212976"/>
            <a:ext cx="2962275" cy="3267075"/>
          </a:xfrm>
          <a:prstGeom prst="rect">
            <a:avLst/>
          </a:prstGeom>
          <a:noFill/>
          <a:ln w="9525">
            <a:noFill/>
            <a:miter lim="800000"/>
            <a:headEnd/>
            <a:tailEnd/>
          </a:ln>
        </p:spPr>
      </p:pic>
      <p:sp>
        <p:nvSpPr>
          <p:cNvPr id="2" name="标题 1"/>
          <p:cNvSpPr>
            <a:spLocks noGrp="1"/>
          </p:cNvSpPr>
          <p:nvPr>
            <p:ph type="title"/>
          </p:nvPr>
        </p:nvSpPr>
        <p:spPr>
          <a:xfrm>
            <a:off x="1203450" y="692696"/>
            <a:ext cx="7793037" cy="566936"/>
          </a:xfrm>
        </p:spPr>
        <p:txBody>
          <a:bodyPr/>
          <a:lstStyle/>
          <a:p>
            <a:r>
              <a:rPr lang="en-US" altLang="zh-CN" dirty="0" smtClean="0"/>
              <a:t>4.3.2 </a:t>
            </a:r>
            <a:r>
              <a:rPr lang="zh-CN" altLang="en-US" dirty="0" smtClean="0"/>
              <a:t>优先</a:t>
            </a:r>
            <a:r>
              <a:rPr lang="zh-CN" altLang="en-US" dirty="0"/>
              <a:t>编码器（</a:t>
            </a:r>
            <a:r>
              <a:rPr lang="en-US" altLang="zh-CN" sz="2800" dirty="0"/>
              <a:t>Priority Encoder</a:t>
            </a:r>
            <a:r>
              <a:rPr lang="zh-CN" altLang="en-US" dirty="0" smtClean="0"/>
              <a:t>）</a:t>
            </a:r>
            <a:endParaRPr lang="zh-CN" altLang="en-US" dirty="0"/>
          </a:p>
        </p:txBody>
      </p:sp>
      <p:sp>
        <p:nvSpPr>
          <p:cNvPr id="3" name="内容占位符 2"/>
          <p:cNvSpPr>
            <a:spLocks noGrp="1"/>
          </p:cNvSpPr>
          <p:nvPr>
            <p:ph idx="1"/>
          </p:nvPr>
        </p:nvSpPr>
        <p:spPr>
          <a:xfrm>
            <a:off x="467544" y="1484784"/>
            <a:ext cx="8280920" cy="4911128"/>
          </a:xfrm>
        </p:spPr>
        <p:txBody>
          <a:bodyPr/>
          <a:lstStyle/>
          <a:p>
            <a:pPr>
              <a:lnSpc>
                <a:spcPct val="100000"/>
              </a:lnSpc>
              <a:spcBef>
                <a:spcPts val="600"/>
              </a:spcBef>
              <a:buSzPct val="100000"/>
              <a:buFont typeface="Wingdings" pitchFamily="2" charset="2"/>
              <a:buChar char="p"/>
            </a:pPr>
            <a:r>
              <a:rPr lang="zh-CN" altLang="en-US" sz="2800" dirty="0"/>
              <a:t>优先</a:t>
            </a:r>
            <a:r>
              <a:rPr lang="zh-CN" altLang="en-US" sz="2800" dirty="0" smtClean="0"/>
              <a:t>编码器工作原理</a:t>
            </a:r>
            <a:endParaRPr lang="en-US" altLang="zh-CN" sz="2800" dirty="0" smtClean="0"/>
          </a:p>
          <a:p>
            <a:pPr lvl="1">
              <a:lnSpc>
                <a:spcPct val="100000"/>
              </a:lnSpc>
              <a:spcBef>
                <a:spcPts val="600"/>
              </a:spcBef>
              <a:buSzPct val="100000"/>
            </a:pPr>
            <a:r>
              <a:rPr lang="zh-CN" altLang="en-US" sz="2400" dirty="0" smtClean="0">
                <a:solidFill>
                  <a:schemeClr val="bg2"/>
                </a:solidFill>
              </a:rPr>
              <a:t>允许</a:t>
            </a:r>
            <a:r>
              <a:rPr lang="zh-CN" altLang="en-US" sz="2400" dirty="0">
                <a:solidFill>
                  <a:srgbClr val="FF0000"/>
                </a:solidFill>
              </a:rPr>
              <a:t>同时输入两个以上编码信号</a:t>
            </a:r>
            <a:r>
              <a:rPr lang="zh-CN" altLang="en-US" sz="2400" dirty="0" smtClean="0"/>
              <a:t>。</a:t>
            </a:r>
            <a:endParaRPr lang="en-US" altLang="zh-CN" sz="2400" dirty="0" smtClean="0"/>
          </a:p>
          <a:p>
            <a:pPr lvl="1">
              <a:lnSpc>
                <a:spcPct val="100000"/>
              </a:lnSpc>
              <a:spcBef>
                <a:spcPts val="600"/>
              </a:spcBef>
              <a:buSzPct val="100000"/>
            </a:pPr>
            <a:r>
              <a:rPr lang="zh-CN" altLang="en-US" sz="2400" dirty="0" smtClean="0"/>
              <a:t>在</a:t>
            </a:r>
            <a:r>
              <a:rPr lang="zh-CN" altLang="en-US" sz="2400" dirty="0"/>
              <a:t>设计优先编码器时已经将所有的输入信号按优先顺序排了队，当几个输入信号同时出现时，只对其中</a:t>
            </a:r>
            <a:r>
              <a:rPr lang="zh-CN" altLang="en-US" sz="2400" dirty="0">
                <a:solidFill>
                  <a:srgbClr val="FF0000"/>
                </a:solidFill>
              </a:rPr>
              <a:t>优先权最高的一个进行编码</a:t>
            </a:r>
            <a:r>
              <a:rPr lang="zh-CN" altLang="en-US" sz="2400" dirty="0"/>
              <a:t>。</a:t>
            </a:r>
          </a:p>
          <a:p>
            <a:pPr>
              <a:lnSpc>
                <a:spcPct val="100000"/>
              </a:lnSpc>
              <a:spcBef>
                <a:spcPts val="600"/>
              </a:spcBef>
            </a:pPr>
            <a:endParaRPr lang="zh-CN" altLang="en-US" dirty="0"/>
          </a:p>
        </p:txBody>
      </p:sp>
      <p:sp>
        <p:nvSpPr>
          <p:cNvPr id="4" name="灯片编号占位符 3"/>
          <p:cNvSpPr>
            <a:spLocks noGrp="1"/>
          </p:cNvSpPr>
          <p:nvPr>
            <p:ph type="sldNum" sz="quarter" idx="12"/>
          </p:nvPr>
        </p:nvSpPr>
        <p:spPr>
          <a:xfrm>
            <a:off x="7668344" y="6525344"/>
            <a:ext cx="1112912" cy="332656"/>
          </a:xfrm>
        </p:spPr>
        <p:txBody>
          <a:bodyPr/>
          <a:lstStyle/>
          <a:p>
            <a:fld id="{0C913308-F349-4B6D-A68A-DD1791B4A57B}" type="slidenum">
              <a:rPr lang="zh-CN" altLang="en-US" smtClean="0"/>
              <a:pPr/>
              <a:t>47</a:t>
            </a:fld>
            <a:endParaRPr lang="zh-CN" altLang="en-US" dirty="0"/>
          </a:p>
        </p:txBody>
      </p:sp>
      <p:sp>
        <p:nvSpPr>
          <p:cNvPr id="6" name="矩形 5"/>
          <p:cNvSpPr/>
          <p:nvPr/>
        </p:nvSpPr>
        <p:spPr>
          <a:xfrm>
            <a:off x="899592" y="3645024"/>
            <a:ext cx="4572000" cy="1246495"/>
          </a:xfrm>
          <a:prstGeom prst="rect">
            <a:avLst/>
          </a:prstGeom>
        </p:spPr>
        <p:txBody>
          <a:bodyPr>
            <a:spAutoFit/>
          </a:bodyPr>
          <a:lstStyle/>
          <a:p>
            <a:pPr marL="800100" lvl="1" indent="-342900">
              <a:lnSpc>
                <a:spcPts val="3000"/>
              </a:lnSpc>
              <a:buClr>
                <a:srgbClr val="0000CC"/>
              </a:buClr>
              <a:buFont typeface="Wingdings" pitchFamily="2" charset="2"/>
              <a:buChar char="u"/>
            </a:pPr>
            <a:r>
              <a:rPr lang="zh-CN" altLang="en-US" sz="2000" b="1" dirty="0"/>
              <a:t>以</a:t>
            </a:r>
            <a:r>
              <a:rPr lang="en-US" altLang="zh-CN" sz="2000" b="1" dirty="0"/>
              <a:t>8</a:t>
            </a:r>
            <a:r>
              <a:rPr lang="zh-CN" altLang="en-US" sz="2000" b="1" dirty="0"/>
              <a:t>线</a:t>
            </a:r>
            <a:r>
              <a:rPr lang="en-US" altLang="zh-CN" sz="2000" b="1" dirty="0"/>
              <a:t>-3</a:t>
            </a:r>
            <a:r>
              <a:rPr lang="zh-CN" altLang="en-US" sz="2000" b="1" dirty="0"/>
              <a:t>线优先编码器</a:t>
            </a:r>
            <a:r>
              <a:rPr lang="en-US" altLang="zh-CN" sz="2000" b="1" dirty="0"/>
              <a:t>74LS148</a:t>
            </a:r>
            <a:r>
              <a:rPr lang="zh-CN" altLang="en-US" sz="2000" b="1" dirty="0"/>
              <a:t>为例分析优先编码器的工作原理</a:t>
            </a:r>
            <a:r>
              <a:rPr lang="zh-CN" altLang="en-US" sz="2000" b="1" dirty="0" smtClean="0"/>
              <a:t>。</a:t>
            </a:r>
            <a:endParaRPr lang="en-US" altLang="zh-CN" sz="2000" b="1" dirty="0"/>
          </a:p>
        </p:txBody>
      </p:sp>
      <p:sp>
        <p:nvSpPr>
          <p:cNvPr id="7" name="矩形 6"/>
          <p:cNvSpPr/>
          <p:nvPr/>
        </p:nvSpPr>
        <p:spPr>
          <a:xfrm>
            <a:off x="6372200" y="6488668"/>
            <a:ext cx="1418883" cy="369332"/>
          </a:xfrm>
          <a:prstGeom prst="rect">
            <a:avLst/>
          </a:prstGeom>
        </p:spPr>
        <p:txBody>
          <a:bodyPr wrap="square">
            <a:spAutoFit/>
          </a:bodyPr>
          <a:lstStyle/>
          <a:p>
            <a:pPr algn="ctr"/>
            <a:r>
              <a:rPr lang="zh-CN" altLang="en-US" dirty="0" smtClean="0"/>
              <a:t>图 </a:t>
            </a:r>
            <a:r>
              <a:rPr lang="en-US" altLang="zh-CN" dirty="0" smtClean="0"/>
              <a:t>74LS148</a:t>
            </a:r>
            <a:endParaRPr lang="en-US" altLang="zh-CN" dirty="0"/>
          </a:p>
        </p:txBody>
      </p:sp>
      <p:sp>
        <p:nvSpPr>
          <p:cNvPr id="8" name="矩形 7"/>
          <p:cNvSpPr/>
          <p:nvPr/>
        </p:nvSpPr>
        <p:spPr>
          <a:xfrm>
            <a:off x="5724128" y="3284984"/>
            <a:ext cx="1224136" cy="2160240"/>
          </a:xfrm>
          <a:prstGeom prst="rect">
            <a:avLst/>
          </a:prstGeom>
          <a:noFill/>
          <a:ln>
            <a:solidFill>
              <a:srgbClr val="FF0000"/>
            </a:solidFill>
          </a:ln>
        </p:spPr>
        <p:txBody>
          <a:bodyPr wrap="square" rtlCol="0" anchor="ctr">
            <a:spAutoFit/>
          </a:bodyPr>
          <a:lstStyle/>
          <a:p>
            <a:pPr algn="ctr"/>
            <a:endParaRPr lang="zh-CN" altLang="en-US" sz="2000" b="1" dirty="0">
              <a:latin typeface="华文新魏" pitchFamily="2" charset="-122"/>
              <a:ea typeface="华文新魏" pitchFamily="2" charset="-122"/>
            </a:endParaRPr>
          </a:p>
        </p:txBody>
      </p:sp>
      <p:sp>
        <p:nvSpPr>
          <p:cNvPr id="10" name="矩形 9"/>
          <p:cNvSpPr/>
          <p:nvPr/>
        </p:nvSpPr>
        <p:spPr>
          <a:xfrm>
            <a:off x="7369968" y="4005064"/>
            <a:ext cx="1152128" cy="851322"/>
          </a:xfrm>
          <a:prstGeom prst="rect">
            <a:avLst/>
          </a:prstGeom>
          <a:noFill/>
          <a:ln>
            <a:solidFill>
              <a:srgbClr val="00B050"/>
            </a:solidFill>
          </a:ln>
        </p:spPr>
        <p:txBody>
          <a:bodyPr wrap="square" rtlCol="0" anchor="ctr">
            <a:spAutoFit/>
          </a:bodyPr>
          <a:lstStyle/>
          <a:p>
            <a:pPr algn="ctr"/>
            <a:endParaRPr lang="zh-CN" altLang="en-US" sz="2000" b="1" dirty="0">
              <a:latin typeface="华文新魏" pitchFamily="2" charset="-122"/>
              <a:ea typeface="华文新魏" pitchFamily="2" charset="-122"/>
            </a:endParaRPr>
          </a:p>
        </p:txBody>
      </p:sp>
      <p:sp>
        <p:nvSpPr>
          <p:cNvPr id="11" name="矩形 10"/>
          <p:cNvSpPr/>
          <p:nvPr/>
        </p:nvSpPr>
        <p:spPr>
          <a:xfrm>
            <a:off x="5695528" y="5445224"/>
            <a:ext cx="1026368" cy="425661"/>
          </a:xfrm>
          <a:prstGeom prst="rect">
            <a:avLst/>
          </a:prstGeom>
          <a:noFill/>
          <a:ln>
            <a:solidFill>
              <a:srgbClr val="FF0000"/>
            </a:solidFill>
          </a:ln>
        </p:spPr>
        <p:txBody>
          <a:bodyPr wrap="square" rtlCol="0" anchor="ctr">
            <a:spAutoFit/>
          </a:bodyPr>
          <a:lstStyle/>
          <a:p>
            <a:pPr algn="ctr"/>
            <a:endParaRPr lang="zh-CN" altLang="en-US" sz="2000" b="1" dirty="0">
              <a:latin typeface="华文新魏" pitchFamily="2" charset="-122"/>
              <a:ea typeface="华文新魏" pitchFamily="2" charset="-122"/>
            </a:endParaRPr>
          </a:p>
        </p:txBody>
      </p:sp>
      <p:sp>
        <p:nvSpPr>
          <p:cNvPr id="12" name="矩形 11"/>
          <p:cNvSpPr/>
          <p:nvPr/>
        </p:nvSpPr>
        <p:spPr>
          <a:xfrm>
            <a:off x="7441976" y="4941168"/>
            <a:ext cx="904312" cy="425661"/>
          </a:xfrm>
          <a:prstGeom prst="rect">
            <a:avLst/>
          </a:prstGeom>
          <a:noFill/>
          <a:ln>
            <a:solidFill>
              <a:srgbClr val="00B050"/>
            </a:solidFill>
          </a:ln>
        </p:spPr>
        <p:txBody>
          <a:bodyPr wrap="square" rtlCol="0" anchor="ctr">
            <a:spAutoFit/>
          </a:bodyPr>
          <a:lstStyle/>
          <a:p>
            <a:pPr algn="ctr"/>
            <a:endParaRPr lang="zh-CN" altLang="en-US" sz="2000" b="1" dirty="0">
              <a:latin typeface="华文新魏" pitchFamily="2" charset="-122"/>
              <a:ea typeface="华文新魏" pitchFamily="2" charset="-122"/>
            </a:endParaRPr>
          </a:p>
        </p:txBody>
      </p:sp>
      <p:sp>
        <p:nvSpPr>
          <p:cNvPr id="13" name="矩形 12"/>
          <p:cNvSpPr/>
          <p:nvPr/>
        </p:nvSpPr>
        <p:spPr>
          <a:xfrm>
            <a:off x="7318068" y="5502070"/>
            <a:ext cx="1108612" cy="400110"/>
          </a:xfrm>
          <a:prstGeom prst="rect">
            <a:avLst/>
          </a:prstGeom>
          <a:noFill/>
          <a:ln>
            <a:solidFill>
              <a:srgbClr val="00B050"/>
            </a:solidFill>
          </a:ln>
        </p:spPr>
        <p:txBody>
          <a:bodyPr wrap="square" rtlCol="0" anchor="ctr">
            <a:spAutoFit/>
          </a:bodyPr>
          <a:lstStyle/>
          <a:p>
            <a:pPr algn="ctr"/>
            <a:endParaRPr lang="zh-CN" altLang="en-US" sz="2000" b="1" dirty="0">
              <a:latin typeface="华文新魏" pitchFamily="2" charset="-122"/>
              <a:ea typeface="华文新魏" pitchFamily="2" charset="-122"/>
            </a:endParaRPr>
          </a:p>
        </p:txBody>
      </p:sp>
      <p:sp>
        <p:nvSpPr>
          <p:cNvPr id="14" name="标题 1"/>
          <p:cNvSpPr txBox="1">
            <a:spLocks/>
          </p:cNvSpPr>
          <p:nvPr/>
        </p:nvSpPr>
        <p:spPr bwMode="auto">
          <a:xfrm>
            <a:off x="1259632" y="116632"/>
            <a:ext cx="7793037"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4.3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编码器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3129144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P spid="13"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928651" y="1151103"/>
            <a:ext cx="3409908" cy="307777"/>
          </a:xfrm>
          <a:prstGeom prst="rect">
            <a:avLst/>
          </a:prstGeom>
          <a:solidFill>
            <a:schemeClr val="bg1"/>
          </a:solidFill>
        </p:spPr>
        <p:txBody>
          <a:bodyPr wrap="none">
            <a:spAutoFit/>
          </a:bodyPr>
          <a:lstStyle/>
          <a:p>
            <a:r>
              <a:rPr lang="zh-CN" altLang="en-US" sz="1400" b="1" dirty="0" smtClean="0"/>
              <a:t>表  </a:t>
            </a:r>
            <a:r>
              <a:rPr lang="zh-CN" altLang="en-US" sz="1400" b="1" dirty="0"/>
              <a:t>74LS148优先编码器真值（功能）表</a:t>
            </a:r>
          </a:p>
        </p:txBody>
      </p:sp>
      <p:sp>
        <p:nvSpPr>
          <p:cNvPr id="2" name="标题 1"/>
          <p:cNvSpPr>
            <a:spLocks noGrp="1"/>
          </p:cNvSpPr>
          <p:nvPr>
            <p:ph type="title"/>
          </p:nvPr>
        </p:nvSpPr>
        <p:spPr>
          <a:xfrm>
            <a:off x="1187624" y="260648"/>
            <a:ext cx="7793037" cy="552209"/>
          </a:xfrm>
        </p:spPr>
        <p:txBody>
          <a:bodyPr/>
          <a:lstStyle/>
          <a:p>
            <a:r>
              <a:rPr lang="en-US" altLang="zh-CN" dirty="0" smtClean="0"/>
              <a:t>4.3.2 </a:t>
            </a:r>
            <a:r>
              <a:rPr lang="zh-CN" altLang="en-US" dirty="0" smtClean="0"/>
              <a:t>优先</a:t>
            </a:r>
            <a:r>
              <a:rPr lang="zh-CN" altLang="en-US" dirty="0"/>
              <a:t>编码器（</a:t>
            </a:r>
            <a:r>
              <a:rPr lang="en-US" altLang="zh-CN" dirty="0"/>
              <a:t>Priority Encoder</a:t>
            </a:r>
            <a:r>
              <a:rPr lang="zh-CN" altLang="en-US" dirty="0"/>
              <a:t>）</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48</a:t>
            </a:fld>
            <a:endParaRPr lang="zh-CN" altLang="en-US"/>
          </a:p>
        </p:txBody>
      </p:sp>
      <mc:AlternateContent xmlns:mc="http://schemas.openxmlformats.org/markup-compatibility/2006">
        <mc:Choice xmlns:a14="http://schemas.microsoft.com/office/drawing/2010/main" xmlns="" Requires="a14">
          <p:graphicFrame>
            <p:nvGraphicFramePr>
              <p:cNvPr id="5" name="表格 4"/>
              <p:cNvGraphicFramePr>
                <a:graphicFrameLocks noGrp="1"/>
              </p:cNvGraphicFramePr>
              <p:nvPr>
                <p:extLst>
                  <p:ext uri="{D42A27DB-BD31-4B8C-83A1-F6EECF244321}">
                    <p14:modId xmlns:p14="http://schemas.microsoft.com/office/powerpoint/2010/main" val="800824470"/>
                  </p:ext>
                </p:extLst>
              </p:nvPr>
            </p:nvGraphicFramePr>
            <p:xfrm>
              <a:off x="179512" y="1495569"/>
              <a:ext cx="8856984" cy="5038321"/>
            </p:xfrm>
            <a:graphic>
              <a:graphicData uri="http://schemas.openxmlformats.org/drawingml/2006/table">
                <a:tbl>
                  <a:tblPr firstRow="1" bandRow="1">
                    <a:tableStyleId>{5C22544A-7EE6-4342-B048-85BDC9FD1C3A}</a:tableStyleId>
                  </a:tblPr>
                  <a:tblGrid>
                    <a:gridCol w="5976664">
                      <a:extLst>
                        <a:ext uri="{9D8B030D-6E8A-4147-A177-3AD203B41FA5}">
                          <a16:colId xmlns:a16="http://schemas.microsoft.com/office/drawing/2014/main" val="20000"/>
                        </a:ext>
                      </a:extLst>
                    </a:gridCol>
                    <a:gridCol w="2880320">
                      <a:extLst>
                        <a:ext uri="{9D8B030D-6E8A-4147-A177-3AD203B41FA5}">
                          <a16:colId xmlns:a16="http://schemas.microsoft.com/office/drawing/2014/main" val="20001"/>
                        </a:ext>
                      </a:extLst>
                    </a:gridCol>
                  </a:tblGrid>
                  <a:tr h="465749">
                    <a:tc>
                      <a:txBody>
                        <a:bodyPr/>
                        <a:lstStyle/>
                        <a:p>
                          <a:pPr algn="ctr"/>
                          <a:r>
                            <a:rPr lang="zh-CN" altLang="en-US" dirty="0" smtClean="0">
                              <a:solidFill>
                                <a:srgbClr val="0000CC"/>
                              </a:solidFill>
                            </a:rPr>
                            <a:t>输入</a:t>
                          </a:r>
                          <a:endParaRPr lang="zh-CN" altLang="en-US" dirty="0">
                            <a:solidFill>
                              <a:srgbClr val="0000CC"/>
                            </a:solidFill>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dirty="0" smtClean="0">
                              <a:solidFill>
                                <a:srgbClr val="0000CC"/>
                              </a:solidFill>
                            </a:rPr>
                            <a:t>输出</a:t>
                          </a:r>
                          <a:endParaRPr lang="zh-CN" altLang="en-US" dirty="0">
                            <a:solidFill>
                              <a:srgbClr val="0000CC"/>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00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acc>
                                <m:accPr>
                                  <m:chr m:val="̅"/>
                                  <m:ctrlPr>
                                    <a:rPr lang="en-US" altLang="zh-CN" b="1" i="1" dirty="0" smtClean="0">
                                      <a:latin typeface="Cambria Math" panose="02040503050406030204" pitchFamily="18" charset="0"/>
                                    </a:rPr>
                                  </m:ctrlPr>
                                </m:accPr>
                                <m:e>
                                  <m:r>
                                    <a:rPr lang="en-US" altLang="zh-CN" b="1" i="1" dirty="0" smtClean="0">
                                      <a:latin typeface="Cambria Math"/>
                                    </a:rPr>
                                    <m:t>𝑺𝑻</m:t>
                                  </m:r>
                                </m:e>
                              </m:acc>
                            </m:oMath>
                          </a14:m>
                          <a:r>
                            <a:rPr lang="en-US" altLang="zh-CN" b="1" dirty="0" smtClean="0"/>
                            <a:t>     </a:t>
                          </a:r>
                          <a14:m>
                            <m:oMath xmlns:m="http://schemas.openxmlformats.org/officeDocument/2006/math">
                              <m:acc>
                                <m:accPr>
                                  <m:chr m:val="̅"/>
                                  <m:ctrlPr>
                                    <a:rPr lang="en-US" altLang="zh-CN" b="1" i="1" smtClean="0">
                                      <a:latin typeface="Cambria Math" panose="02040503050406030204" pitchFamily="18" charset="0"/>
                                    </a:rPr>
                                  </m:ctrlPr>
                                </m:accPr>
                                <m:e>
                                  <m:r>
                                    <a:rPr lang="en-US" altLang="zh-CN" b="1" i="1" smtClean="0">
                                      <a:latin typeface="Cambria Math"/>
                                    </a:rPr>
                                    <m:t>𝑰𝑵</m:t>
                                  </m:r>
                                </m:e>
                              </m:acc>
                            </m:oMath>
                          </a14:m>
                          <a:r>
                            <a:rPr lang="en-US" altLang="zh-CN" sz="1800" b="1" kern="1200" baseline="-25000" dirty="0" smtClean="0">
                              <a:solidFill>
                                <a:schemeClr val="dk1"/>
                              </a:solidFill>
                              <a:latin typeface="+mn-lt"/>
                              <a:ea typeface="+mn-ea"/>
                              <a:cs typeface="+mn-cs"/>
                            </a:rPr>
                            <a:t>0</a:t>
                          </a:r>
                          <a:r>
                            <a:rPr lang="en-US" altLang="zh-CN" b="1" dirty="0" smtClean="0"/>
                            <a:t>     </a:t>
                          </a:r>
                          <a14:m>
                            <m:oMath xmlns:m="http://schemas.openxmlformats.org/officeDocument/2006/math">
                              <m:acc>
                                <m:accPr>
                                  <m:chr m:val="̅"/>
                                  <m:ctrlPr>
                                    <a:rPr lang="en-US" altLang="zh-CN" b="1" i="1" smtClean="0">
                                      <a:latin typeface="Cambria Math" panose="02040503050406030204" pitchFamily="18" charset="0"/>
                                    </a:rPr>
                                  </m:ctrlPr>
                                </m:accPr>
                                <m:e>
                                  <m:r>
                                    <a:rPr lang="en-US" altLang="zh-CN" b="1" i="1" smtClean="0">
                                      <a:latin typeface="Cambria Math"/>
                                    </a:rPr>
                                    <m:t>𝑰𝑵</m:t>
                                  </m:r>
                                </m:e>
                              </m:acc>
                            </m:oMath>
                          </a14:m>
                          <a:r>
                            <a:rPr lang="en-US" altLang="zh-CN" sz="1800" b="1" kern="1200" baseline="-25000" dirty="0" smtClean="0">
                              <a:solidFill>
                                <a:schemeClr val="dk1"/>
                              </a:solidFill>
                              <a:latin typeface="+mn-lt"/>
                              <a:ea typeface="+mn-ea"/>
                              <a:cs typeface="+mn-cs"/>
                            </a:rPr>
                            <a:t>1</a:t>
                          </a:r>
                          <a:r>
                            <a:rPr lang="en-US" altLang="zh-CN" b="1" dirty="0" smtClean="0"/>
                            <a:t>    </a:t>
                          </a:r>
                          <a14:m>
                            <m:oMath xmlns:m="http://schemas.openxmlformats.org/officeDocument/2006/math">
                              <m:acc>
                                <m:accPr>
                                  <m:chr m:val="̅"/>
                                  <m:ctrlPr>
                                    <a:rPr lang="en-US" altLang="zh-CN" b="1" i="1" smtClean="0">
                                      <a:latin typeface="Cambria Math" panose="02040503050406030204" pitchFamily="18" charset="0"/>
                                    </a:rPr>
                                  </m:ctrlPr>
                                </m:accPr>
                                <m:e>
                                  <m:r>
                                    <a:rPr lang="en-US" altLang="zh-CN" b="1" i="1" smtClean="0">
                                      <a:latin typeface="Cambria Math"/>
                                    </a:rPr>
                                    <m:t>𝑰𝑵</m:t>
                                  </m:r>
                                </m:e>
                              </m:acc>
                            </m:oMath>
                          </a14:m>
                          <a:r>
                            <a:rPr lang="en-US" altLang="zh-CN" sz="1800" b="1" kern="1200" baseline="-25000" dirty="0" smtClean="0">
                              <a:solidFill>
                                <a:schemeClr val="dk1"/>
                              </a:solidFill>
                              <a:latin typeface="+mn-lt"/>
                              <a:ea typeface="+mn-ea"/>
                              <a:cs typeface="+mn-cs"/>
                            </a:rPr>
                            <a:t>2</a:t>
                          </a:r>
                          <a:r>
                            <a:rPr lang="en-US" altLang="zh-CN" b="1" dirty="0" smtClean="0"/>
                            <a:t>     </a:t>
                          </a:r>
                          <a14:m>
                            <m:oMath xmlns:m="http://schemas.openxmlformats.org/officeDocument/2006/math">
                              <m:acc>
                                <m:accPr>
                                  <m:chr m:val="̅"/>
                                  <m:ctrlPr>
                                    <a:rPr lang="en-US" altLang="zh-CN" b="1" i="1" smtClean="0">
                                      <a:latin typeface="Cambria Math" panose="02040503050406030204" pitchFamily="18" charset="0"/>
                                    </a:rPr>
                                  </m:ctrlPr>
                                </m:accPr>
                                <m:e>
                                  <m:r>
                                    <a:rPr lang="en-US" altLang="zh-CN" b="1" i="1" smtClean="0">
                                      <a:latin typeface="Cambria Math"/>
                                    </a:rPr>
                                    <m:t>𝑰𝑵</m:t>
                                  </m:r>
                                </m:e>
                              </m:acc>
                            </m:oMath>
                          </a14:m>
                          <a:r>
                            <a:rPr lang="en-US" altLang="zh-CN" sz="1800" b="1" kern="1200" baseline="-25000" dirty="0" smtClean="0">
                              <a:solidFill>
                                <a:schemeClr val="dk1"/>
                              </a:solidFill>
                              <a:latin typeface="+mn-lt"/>
                              <a:ea typeface="+mn-ea"/>
                              <a:cs typeface="+mn-cs"/>
                            </a:rPr>
                            <a:t>3</a:t>
                          </a:r>
                          <a:r>
                            <a:rPr lang="en-US" altLang="zh-CN" b="1" dirty="0" smtClean="0"/>
                            <a:t>     </a:t>
                          </a:r>
                          <a14:m>
                            <m:oMath xmlns:m="http://schemas.openxmlformats.org/officeDocument/2006/math">
                              <m:acc>
                                <m:accPr>
                                  <m:chr m:val="̅"/>
                                  <m:ctrlPr>
                                    <a:rPr lang="en-US" altLang="zh-CN" b="1" i="1" smtClean="0">
                                      <a:latin typeface="Cambria Math" panose="02040503050406030204" pitchFamily="18" charset="0"/>
                                    </a:rPr>
                                  </m:ctrlPr>
                                </m:accPr>
                                <m:e>
                                  <m:r>
                                    <a:rPr lang="en-US" altLang="zh-CN" b="1" i="1" smtClean="0">
                                      <a:latin typeface="Cambria Math"/>
                                    </a:rPr>
                                    <m:t>𝑰𝑵</m:t>
                                  </m:r>
                                </m:e>
                              </m:acc>
                            </m:oMath>
                          </a14:m>
                          <a:r>
                            <a:rPr lang="en-US" altLang="zh-CN" sz="1800" b="1" kern="1200" baseline="-25000" dirty="0" smtClean="0">
                              <a:solidFill>
                                <a:schemeClr val="dk1"/>
                              </a:solidFill>
                              <a:latin typeface="+mn-lt"/>
                              <a:ea typeface="+mn-ea"/>
                              <a:cs typeface="+mn-cs"/>
                            </a:rPr>
                            <a:t>4</a:t>
                          </a:r>
                          <a:r>
                            <a:rPr lang="en-US" altLang="zh-CN" b="1" dirty="0" smtClean="0"/>
                            <a:t>     </a:t>
                          </a:r>
                          <a14:m>
                            <m:oMath xmlns:m="http://schemas.openxmlformats.org/officeDocument/2006/math">
                              <m:acc>
                                <m:accPr>
                                  <m:chr m:val="̅"/>
                                  <m:ctrlPr>
                                    <a:rPr lang="en-US" altLang="zh-CN" b="1" i="1" smtClean="0">
                                      <a:latin typeface="Cambria Math" panose="02040503050406030204" pitchFamily="18" charset="0"/>
                                    </a:rPr>
                                  </m:ctrlPr>
                                </m:accPr>
                                <m:e>
                                  <m:r>
                                    <a:rPr lang="en-US" altLang="zh-CN" b="1" i="1" smtClean="0">
                                      <a:latin typeface="Cambria Math"/>
                                    </a:rPr>
                                    <m:t>𝑰𝑵</m:t>
                                  </m:r>
                                </m:e>
                              </m:acc>
                            </m:oMath>
                          </a14:m>
                          <a:r>
                            <a:rPr lang="en-US" altLang="zh-CN" sz="1800" b="1" kern="1200" baseline="-25000" dirty="0" smtClean="0">
                              <a:solidFill>
                                <a:schemeClr val="dk1"/>
                              </a:solidFill>
                              <a:latin typeface="+mn-lt"/>
                              <a:ea typeface="+mn-ea"/>
                              <a:cs typeface="+mn-cs"/>
                            </a:rPr>
                            <a:t>5</a:t>
                          </a:r>
                          <a:r>
                            <a:rPr lang="en-US" altLang="zh-CN" b="1" dirty="0" smtClean="0"/>
                            <a:t>     </a:t>
                          </a:r>
                          <a14:m>
                            <m:oMath xmlns:m="http://schemas.openxmlformats.org/officeDocument/2006/math">
                              <m:acc>
                                <m:accPr>
                                  <m:chr m:val="̅"/>
                                  <m:ctrlPr>
                                    <a:rPr lang="en-US" altLang="zh-CN" b="1" i="1" smtClean="0">
                                      <a:latin typeface="Cambria Math" panose="02040503050406030204" pitchFamily="18" charset="0"/>
                                    </a:rPr>
                                  </m:ctrlPr>
                                </m:accPr>
                                <m:e>
                                  <m:r>
                                    <a:rPr lang="en-US" altLang="zh-CN" b="1" i="1" smtClean="0">
                                      <a:latin typeface="Cambria Math"/>
                                    </a:rPr>
                                    <m:t>𝑰𝑵</m:t>
                                  </m:r>
                                </m:e>
                              </m:acc>
                            </m:oMath>
                          </a14:m>
                          <a:r>
                            <a:rPr lang="en-US" altLang="zh-CN" sz="1800" b="1" kern="1200" baseline="-25000" dirty="0" smtClean="0">
                              <a:solidFill>
                                <a:schemeClr val="dk1"/>
                              </a:solidFill>
                              <a:latin typeface="+mn-lt"/>
                              <a:ea typeface="+mn-ea"/>
                              <a:cs typeface="+mn-cs"/>
                            </a:rPr>
                            <a:t>6</a:t>
                          </a:r>
                          <a:r>
                            <a:rPr lang="en-US" altLang="zh-CN" b="1" dirty="0" smtClean="0"/>
                            <a:t>   </a:t>
                          </a:r>
                          <a14:m>
                            <m:oMath xmlns:m="http://schemas.openxmlformats.org/officeDocument/2006/math">
                              <m:acc>
                                <m:accPr>
                                  <m:chr m:val="̅"/>
                                  <m:ctrlPr>
                                    <a:rPr lang="en-US" altLang="zh-CN" b="1" i="1" smtClean="0">
                                      <a:latin typeface="Cambria Math" panose="02040503050406030204" pitchFamily="18" charset="0"/>
                                    </a:rPr>
                                  </m:ctrlPr>
                                </m:accPr>
                                <m:e>
                                  <m:r>
                                    <a:rPr lang="en-US" altLang="zh-CN" b="1" i="1" smtClean="0">
                                      <a:latin typeface="Cambria Math"/>
                                    </a:rPr>
                                    <m:t>𝑰𝑵</m:t>
                                  </m:r>
                                </m:e>
                              </m:acc>
                            </m:oMath>
                          </a14:m>
                          <a:r>
                            <a:rPr lang="en-US" altLang="zh-CN" sz="1800" b="1" kern="1200" baseline="-25000" dirty="0" smtClean="0">
                              <a:solidFill>
                                <a:schemeClr val="dk1"/>
                              </a:solidFill>
                              <a:latin typeface="+mn-lt"/>
                              <a:ea typeface="+mn-ea"/>
                              <a:cs typeface="+mn-cs"/>
                            </a:rPr>
                            <a:t>7</a:t>
                          </a:r>
                          <a:r>
                            <a:rPr lang="en-US" altLang="zh-CN" b="1" dirty="0" smtClean="0"/>
                            <a:t> </a:t>
                          </a:r>
                          <a:endParaRPr lang="zh-CN" altLang="en-US" sz="1800" b="1" kern="1200" baseline="-25000" dirty="0">
                            <a:solidFill>
                              <a:schemeClr val="dk1"/>
                            </a:solidFill>
                            <a:latin typeface="+mn-lt"/>
                            <a:ea typeface="+mn-ea"/>
                            <a:cs typeface="+mn-cs"/>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14:m>
                            <m:oMath xmlns:m="http://schemas.openxmlformats.org/officeDocument/2006/math">
                              <m:acc>
                                <m:accPr>
                                  <m:chr m:val="̅"/>
                                  <m:ctrlPr>
                                    <a:rPr lang="en-US" altLang="zh-CN" b="1" i="1" dirty="0" smtClean="0">
                                      <a:latin typeface="Cambria Math" panose="02040503050406030204" pitchFamily="18" charset="0"/>
                                    </a:rPr>
                                  </m:ctrlPr>
                                </m:accPr>
                                <m:e>
                                  <m:r>
                                    <a:rPr lang="en-US" altLang="zh-CN" b="1" i="1" dirty="0" smtClean="0">
                                      <a:latin typeface="Cambria Math"/>
                                    </a:rPr>
                                    <m:t>𝒀</m:t>
                                  </m:r>
                                </m:e>
                              </m:acc>
                            </m:oMath>
                          </a14:m>
                          <a:r>
                            <a:rPr lang="en-US" altLang="zh-CN" sz="1800" b="1" kern="1200" baseline="-25000" dirty="0" smtClean="0">
                              <a:solidFill>
                                <a:schemeClr val="dk1"/>
                              </a:solidFill>
                              <a:latin typeface="+mn-lt"/>
                              <a:ea typeface="+mn-ea"/>
                              <a:cs typeface="+mn-cs"/>
                            </a:rPr>
                            <a:t>2</a:t>
                          </a:r>
                          <a:r>
                            <a:rPr lang="en-US" altLang="zh-CN" b="1" dirty="0" smtClean="0"/>
                            <a:t>     </a:t>
                          </a:r>
                          <a14:m>
                            <m:oMath xmlns:m="http://schemas.openxmlformats.org/officeDocument/2006/math">
                              <m:acc>
                                <m:accPr>
                                  <m:chr m:val="̅"/>
                                  <m:ctrlPr>
                                    <a:rPr lang="en-US" altLang="zh-CN" b="1" i="1" smtClean="0">
                                      <a:latin typeface="Cambria Math" panose="02040503050406030204" pitchFamily="18" charset="0"/>
                                    </a:rPr>
                                  </m:ctrlPr>
                                </m:accPr>
                                <m:e>
                                  <m:r>
                                    <a:rPr lang="en-US" altLang="zh-CN" b="1" i="1" smtClean="0">
                                      <a:latin typeface="Cambria Math"/>
                                    </a:rPr>
                                    <m:t>𝒀</m:t>
                                  </m:r>
                                </m:e>
                              </m:acc>
                            </m:oMath>
                          </a14:m>
                          <a:r>
                            <a:rPr lang="en-US" altLang="zh-CN" sz="1800" b="1" kern="1200" baseline="-25000" dirty="0" smtClean="0">
                              <a:solidFill>
                                <a:schemeClr val="dk1"/>
                              </a:solidFill>
                              <a:latin typeface="+mn-lt"/>
                              <a:ea typeface="+mn-ea"/>
                              <a:cs typeface="+mn-cs"/>
                            </a:rPr>
                            <a:t>1</a:t>
                          </a:r>
                          <a:r>
                            <a:rPr lang="en-US" altLang="zh-CN" b="1" dirty="0" smtClean="0"/>
                            <a:t>     </a:t>
                          </a:r>
                          <a14:m>
                            <m:oMath xmlns:m="http://schemas.openxmlformats.org/officeDocument/2006/math">
                              <m:acc>
                                <m:accPr>
                                  <m:chr m:val="̅"/>
                                  <m:ctrlPr>
                                    <a:rPr lang="en-US" altLang="zh-CN" b="1" i="1" smtClean="0">
                                      <a:latin typeface="Cambria Math" panose="02040503050406030204" pitchFamily="18" charset="0"/>
                                    </a:rPr>
                                  </m:ctrlPr>
                                </m:accPr>
                                <m:e>
                                  <m:r>
                                    <a:rPr lang="en-US" altLang="zh-CN" b="1" i="1" smtClean="0">
                                      <a:latin typeface="Cambria Math"/>
                                    </a:rPr>
                                    <m:t>𝒀</m:t>
                                  </m:r>
                                </m:e>
                              </m:acc>
                            </m:oMath>
                          </a14:m>
                          <a:r>
                            <a:rPr lang="en-US" altLang="zh-CN" sz="1800" b="1" kern="1200" baseline="-25000" dirty="0" smtClean="0">
                              <a:solidFill>
                                <a:schemeClr val="dk1"/>
                              </a:solidFill>
                              <a:latin typeface="+mn-lt"/>
                              <a:ea typeface="+mn-ea"/>
                              <a:cs typeface="+mn-cs"/>
                            </a:rPr>
                            <a:t>0</a:t>
                          </a:r>
                          <a:r>
                            <a:rPr lang="en-US" altLang="zh-CN" b="1" dirty="0" smtClean="0"/>
                            <a:t>    </a:t>
                          </a:r>
                          <a14:m>
                            <m:oMath xmlns:m="http://schemas.openxmlformats.org/officeDocument/2006/math">
                              <m:acc>
                                <m:accPr>
                                  <m:chr m:val="̅"/>
                                  <m:ctrlPr>
                                    <a:rPr lang="en-US" altLang="zh-CN" b="1" i="1" smtClean="0">
                                      <a:latin typeface="Cambria Math" panose="02040503050406030204" pitchFamily="18" charset="0"/>
                                    </a:rPr>
                                  </m:ctrlPr>
                                </m:accPr>
                                <m:e>
                                  <m:r>
                                    <a:rPr lang="en-US" altLang="zh-CN" b="1" i="1" smtClean="0">
                                      <a:latin typeface="Cambria Math"/>
                                    </a:rPr>
                                    <m:t>𝒀</m:t>
                                  </m:r>
                                </m:e>
                              </m:acc>
                            </m:oMath>
                          </a14:m>
                          <a:r>
                            <a:rPr lang="en-US" altLang="zh-CN" sz="1800" b="1" kern="1200" baseline="-25000" dirty="0" smtClean="0">
                              <a:solidFill>
                                <a:schemeClr val="dk1"/>
                              </a:solidFill>
                              <a:latin typeface="+mn-lt"/>
                              <a:ea typeface="+mn-ea"/>
                              <a:cs typeface="+mn-cs"/>
                            </a:rPr>
                            <a:t>EX</a:t>
                          </a:r>
                          <a:r>
                            <a:rPr lang="en-US" altLang="zh-CN" b="1" dirty="0" smtClean="0"/>
                            <a:t>     Y</a:t>
                          </a:r>
                          <a:r>
                            <a:rPr lang="en-US" altLang="zh-CN" sz="1800" b="1" kern="1200" baseline="-25000" dirty="0" smtClean="0">
                              <a:solidFill>
                                <a:schemeClr val="dk1"/>
                              </a:solidFill>
                              <a:latin typeface="+mn-lt"/>
                              <a:ea typeface="+mn-ea"/>
                              <a:cs typeface="+mn-cs"/>
                            </a:rPr>
                            <a:t>S</a:t>
                          </a:r>
                          <a:endParaRPr lang="zh-CN" altLang="en-US" sz="1800" b="1" kern="1200" baseline="-250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0001"/>
                      </a:ext>
                    </a:extLst>
                  </a:tr>
                  <a:tr h="3962460">
                    <a:tc>
                      <a:txBody>
                        <a:bodyPr/>
                        <a:lstStyle/>
                        <a:p>
                          <a:pPr algn="dist">
                            <a:lnSpc>
                              <a:spcPct val="150000"/>
                            </a:lnSpc>
                          </a:pPr>
                          <a:r>
                            <a:rPr lang="en-US" altLang="zh-CN" dirty="0" smtClean="0"/>
                            <a:t>1XXXXXXXX</a:t>
                          </a:r>
                        </a:p>
                        <a:p>
                          <a:pPr algn="dist">
                            <a:lnSpc>
                              <a:spcPct val="150000"/>
                            </a:lnSpc>
                          </a:pPr>
                          <a:r>
                            <a:rPr lang="en-US" altLang="zh-CN" dirty="0" smtClean="0"/>
                            <a:t>011111111</a:t>
                          </a:r>
                        </a:p>
                        <a:p>
                          <a:pPr algn="dist">
                            <a:lnSpc>
                              <a:spcPct val="150000"/>
                            </a:lnSpc>
                          </a:pPr>
                          <a:r>
                            <a:rPr lang="en-US" altLang="zh-CN" dirty="0" smtClean="0"/>
                            <a:t>0XXXXXXX</a:t>
                          </a:r>
                          <a:r>
                            <a:rPr lang="en-US" altLang="zh-CN" dirty="0" smtClean="0">
                              <a:solidFill>
                                <a:srgbClr val="FF0000"/>
                              </a:solidFill>
                            </a:rPr>
                            <a:t>0</a:t>
                          </a:r>
                        </a:p>
                        <a:p>
                          <a:pPr algn="dist">
                            <a:lnSpc>
                              <a:spcPct val="150000"/>
                            </a:lnSpc>
                          </a:pPr>
                          <a:r>
                            <a:rPr lang="en-US" altLang="zh-CN" dirty="0" smtClean="0"/>
                            <a:t>0XXXXXX</a:t>
                          </a:r>
                          <a:r>
                            <a:rPr lang="en-US" altLang="zh-CN" sz="1800" kern="1200" dirty="0" smtClean="0">
                              <a:solidFill>
                                <a:srgbClr val="FF0000"/>
                              </a:solidFill>
                              <a:latin typeface="+mn-lt"/>
                              <a:ea typeface="+mn-ea"/>
                              <a:cs typeface="+mn-cs"/>
                            </a:rPr>
                            <a:t>0</a:t>
                          </a:r>
                          <a:r>
                            <a:rPr lang="en-US" altLang="zh-CN" dirty="0" smtClean="0"/>
                            <a:t>1</a:t>
                          </a:r>
                        </a:p>
                        <a:p>
                          <a:pPr algn="dist">
                            <a:lnSpc>
                              <a:spcPct val="150000"/>
                            </a:lnSpc>
                          </a:pPr>
                          <a:r>
                            <a:rPr lang="en-US" altLang="zh-CN" dirty="0" smtClean="0"/>
                            <a:t>0XXXXX</a:t>
                          </a:r>
                          <a:r>
                            <a:rPr lang="en-US" altLang="zh-CN" sz="1800" kern="1200" dirty="0" smtClean="0">
                              <a:solidFill>
                                <a:srgbClr val="FF0000"/>
                              </a:solidFill>
                              <a:latin typeface="+mn-lt"/>
                              <a:ea typeface="+mn-ea"/>
                              <a:cs typeface="+mn-cs"/>
                            </a:rPr>
                            <a:t>0</a:t>
                          </a:r>
                          <a:r>
                            <a:rPr lang="en-US" altLang="zh-CN" dirty="0" smtClean="0"/>
                            <a:t>11</a:t>
                          </a:r>
                        </a:p>
                        <a:p>
                          <a:pPr algn="dist">
                            <a:lnSpc>
                              <a:spcPct val="150000"/>
                            </a:lnSpc>
                          </a:pPr>
                          <a:r>
                            <a:rPr lang="en-US" altLang="zh-CN" dirty="0" smtClean="0"/>
                            <a:t>0XXXX</a:t>
                          </a:r>
                          <a:r>
                            <a:rPr lang="en-US" altLang="zh-CN" sz="1800" kern="1200" dirty="0" smtClean="0">
                              <a:solidFill>
                                <a:srgbClr val="FF0000"/>
                              </a:solidFill>
                              <a:latin typeface="+mn-lt"/>
                              <a:ea typeface="+mn-ea"/>
                              <a:cs typeface="+mn-cs"/>
                            </a:rPr>
                            <a:t>0</a:t>
                          </a:r>
                          <a:r>
                            <a:rPr lang="en-US" altLang="zh-CN" dirty="0" smtClean="0"/>
                            <a:t>111</a:t>
                          </a:r>
                        </a:p>
                        <a:p>
                          <a:pPr algn="dist">
                            <a:lnSpc>
                              <a:spcPct val="150000"/>
                            </a:lnSpc>
                          </a:pPr>
                          <a:r>
                            <a:rPr lang="en-US" altLang="zh-CN" dirty="0" smtClean="0"/>
                            <a:t>0XXX</a:t>
                          </a:r>
                          <a:r>
                            <a:rPr lang="en-US" altLang="zh-CN" sz="1800" kern="1200" dirty="0" smtClean="0">
                              <a:solidFill>
                                <a:srgbClr val="FF0000"/>
                              </a:solidFill>
                              <a:latin typeface="+mn-lt"/>
                              <a:ea typeface="+mn-ea"/>
                              <a:cs typeface="+mn-cs"/>
                            </a:rPr>
                            <a:t>0</a:t>
                          </a:r>
                          <a:r>
                            <a:rPr lang="en-US" altLang="zh-CN" dirty="0" smtClean="0"/>
                            <a:t>1111</a:t>
                          </a:r>
                        </a:p>
                        <a:p>
                          <a:pPr algn="dist">
                            <a:lnSpc>
                              <a:spcPct val="150000"/>
                            </a:lnSpc>
                          </a:pPr>
                          <a:r>
                            <a:rPr lang="en-US" altLang="zh-CN" dirty="0" smtClean="0"/>
                            <a:t>0XX</a:t>
                          </a:r>
                          <a:r>
                            <a:rPr lang="en-US" altLang="zh-CN" sz="1800" kern="1200" dirty="0" smtClean="0">
                              <a:solidFill>
                                <a:srgbClr val="FF0000"/>
                              </a:solidFill>
                              <a:latin typeface="+mn-lt"/>
                              <a:ea typeface="+mn-ea"/>
                              <a:cs typeface="+mn-cs"/>
                            </a:rPr>
                            <a:t>0</a:t>
                          </a:r>
                          <a:r>
                            <a:rPr lang="en-US" altLang="zh-CN" dirty="0" smtClean="0"/>
                            <a:t>11111</a:t>
                          </a:r>
                        </a:p>
                        <a:p>
                          <a:pPr algn="dist">
                            <a:lnSpc>
                              <a:spcPct val="150000"/>
                            </a:lnSpc>
                          </a:pPr>
                          <a:r>
                            <a:rPr lang="en-US" altLang="zh-CN" dirty="0" smtClean="0"/>
                            <a:t>0X</a:t>
                          </a:r>
                          <a:r>
                            <a:rPr lang="en-US" altLang="zh-CN" sz="1800" kern="1200" dirty="0" smtClean="0">
                              <a:solidFill>
                                <a:srgbClr val="FF0000"/>
                              </a:solidFill>
                              <a:latin typeface="+mn-lt"/>
                              <a:ea typeface="+mn-ea"/>
                              <a:cs typeface="+mn-cs"/>
                            </a:rPr>
                            <a:t>0</a:t>
                          </a:r>
                          <a:r>
                            <a:rPr lang="en-US" altLang="zh-CN" dirty="0" smtClean="0"/>
                            <a:t>111111</a:t>
                          </a:r>
                        </a:p>
                        <a:p>
                          <a:pPr algn="dist">
                            <a:lnSpc>
                              <a:spcPct val="150000"/>
                            </a:lnSpc>
                          </a:pPr>
                          <a:r>
                            <a:rPr lang="en-US" altLang="zh-CN" dirty="0" smtClean="0"/>
                            <a:t>0</a:t>
                          </a:r>
                          <a:r>
                            <a:rPr lang="en-US" altLang="zh-CN" sz="1800" kern="1200" dirty="0" smtClean="0">
                              <a:solidFill>
                                <a:srgbClr val="FF0000"/>
                              </a:solidFill>
                              <a:latin typeface="+mn-lt"/>
                              <a:ea typeface="+mn-ea"/>
                              <a:cs typeface="+mn-cs"/>
                            </a:rPr>
                            <a:t>0</a:t>
                          </a:r>
                          <a:r>
                            <a:rPr lang="en-US" altLang="zh-CN" dirty="0" smtClean="0"/>
                            <a:t>1111111</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dist">
                            <a:lnSpc>
                              <a:spcPct val="150000"/>
                            </a:lnSpc>
                          </a:pPr>
                          <a:r>
                            <a:rPr lang="en-US" altLang="zh-CN" dirty="0" smtClean="0"/>
                            <a:t>11111</a:t>
                          </a:r>
                        </a:p>
                        <a:p>
                          <a:pPr algn="dist">
                            <a:lnSpc>
                              <a:spcPct val="150000"/>
                            </a:lnSpc>
                          </a:pPr>
                          <a:r>
                            <a:rPr lang="en-US" altLang="zh-CN" dirty="0" smtClean="0"/>
                            <a:t>1111</a:t>
                          </a:r>
                          <a:r>
                            <a:rPr lang="en-US" altLang="zh-CN" b="1" dirty="0" smtClean="0"/>
                            <a:t>0</a:t>
                          </a:r>
                        </a:p>
                        <a:p>
                          <a:pPr algn="dist">
                            <a:lnSpc>
                              <a:spcPct val="150000"/>
                            </a:lnSpc>
                          </a:pPr>
                          <a:r>
                            <a:rPr lang="en-US" altLang="zh-CN" dirty="0" smtClean="0"/>
                            <a:t>000</a:t>
                          </a:r>
                          <a:r>
                            <a:rPr lang="en-US" altLang="zh-CN" b="1" dirty="0" smtClean="0">
                              <a:solidFill>
                                <a:srgbClr val="FF0000"/>
                              </a:solidFill>
                            </a:rPr>
                            <a:t>01</a:t>
                          </a:r>
                        </a:p>
                        <a:p>
                          <a:pPr algn="dist">
                            <a:lnSpc>
                              <a:spcPct val="150000"/>
                            </a:lnSpc>
                          </a:pPr>
                          <a:r>
                            <a:rPr lang="en-US" altLang="zh-CN" dirty="0" smtClean="0"/>
                            <a:t>001</a:t>
                          </a:r>
                          <a:r>
                            <a:rPr lang="en-US" altLang="zh-CN" sz="1800" b="1" kern="1200" dirty="0" smtClean="0">
                              <a:solidFill>
                                <a:srgbClr val="FF0000"/>
                              </a:solidFill>
                              <a:latin typeface="+mn-lt"/>
                              <a:ea typeface="+mn-ea"/>
                              <a:cs typeface="+mn-cs"/>
                            </a:rPr>
                            <a:t>0</a:t>
                          </a:r>
                          <a:r>
                            <a:rPr lang="en-US" altLang="zh-CN" b="1" dirty="0" smtClean="0">
                              <a:solidFill>
                                <a:srgbClr val="FF0000"/>
                              </a:solidFill>
                            </a:rPr>
                            <a:t>1</a:t>
                          </a:r>
                        </a:p>
                        <a:p>
                          <a:pPr algn="dist">
                            <a:lnSpc>
                              <a:spcPct val="150000"/>
                            </a:lnSpc>
                          </a:pPr>
                          <a:r>
                            <a:rPr lang="en-US" altLang="zh-CN" dirty="0" smtClean="0"/>
                            <a:t>010</a:t>
                          </a:r>
                          <a:r>
                            <a:rPr lang="en-US" altLang="zh-CN" b="1" dirty="0" smtClean="0">
                              <a:solidFill>
                                <a:srgbClr val="FF0000"/>
                              </a:solidFill>
                            </a:rPr>
                            <a:t>01</a:t>
                          </a:r>
                        </a:p>
                        <a:p>
                          <a:pPr algn="dist">
                            <a:lnSpc>
                              <a:spcPct val="150000"/>
                            </a:lnSpc>
                          </a:pPr>
                          <a:r>
                            <a:rPr lang="en-US" altLang="zh-CN" dirty="0" smtClean="0"/>
                            <a:t>011</a:t>
                          </a:r>
                          <a:r>
                            <a:rPr lang="en-US" altLang="zh-CN" b="1" dirty="0" smtClean="0">
                              <a:solidFill>
                                <a:srgbClr val="FF0000"/>
                              </a:solidFill>
                            </a:rPr>
                            <a:t>01</a:t>
                          </a:r>
                        </a:p>
                        <a:p>
                          <a:pPr algn="dist">
                            <a:lnSpc>
                              <a:spcPct val="150000"/>
                            </a:lnSpc>
                          </a:pPr>
                          <a:r>
                            <a:rPr lang="en-US" altLang="zh-CN" dirty="0" smtClean="0"/>
                            <a:t>100</a:t>
                          </a:r>
                          <a:r>
                            <a:rPr lang="en-US" altLang="zh-CN" b="1" dirty="0" smtClean="0">
                              <a:solidFill>
                                <a:srgbClr val="FF0000"/>
                              </a:solidFill>
                            </a:rPr>
                            <a:t>01</a:t>
                          </a:r>
                        </a:p>
                        <a:p>
                          <a:pPr algn="dist">
                            <a:lnSpc>
                              <a:spcPct val="150000"/>
                            </a:lnSpc>
                          </a:pPr>
                          <a:r>
                            <a:rPr lang="en-US" altLang="zh-CN" dirty="0" smtClean="0"/>
                            <a:t>101</a:t>
                          </a:r>
                          <a:r>
                            <a:rPr lang="en-US" altLang="zh-CN" b="1" dirty="0" smtClean="0">
                              <a:solidFill>
                                <a:srgbClr val="FF0000"/>
                              </a:solidFill>
                            </a:rPr>
                            <a:t>01</a:t>
                          </a:r>
                        </a:p>
                        <a:p>
                          <a:pPr algn="dist">
                            <a:lnSpc>
                              <a:spcPct val="150000"/>
                            </a:lnSpc>
                          </a:pPr>
                          <a:r>
                            <a:rPr lang="en-US" altLang="zh-CN" dirty="0" smtClean="0"/>
                            <a:t>110</a:t>
                          </a:r>
                          <a:r>
                            <a:rPr lang="en-US" altLang="zh-CN" b="1" dirty="0" smtClean="0">
                              <a:solidFill>
                                <a:srgbClr val="FF0000"/>
                              </a:solidFill>
                            </a:rPr>
                            <a:t>01</a:t>
                          </a:r>
                        </a:p>
                        <a:p>
                          <a:pPr algn="dist">
                            <a:lnSpc>
                              <a:spcPct val="150000"/>
                            </a:lnSpc>
                          </a:pPr>
                          <a:r>
                            <a:rPr lang="en-US" altLang="zh-CN" dirty="0" smtClean="0"/>
                            <a:t>111</a:t>
                          </a:r>
                          <a:r>
                            <a:rPr lang="en-US" altLang="zh-CN" b="1" dirty="0" smtClean="0">
                              <a:solidFill>
                                <a:srgbClr val="FF0000"/>
                              </a:solidFill>
                            </a:rPr>
                            <a:t>01</a:t>
                          </a:r>
                          <a:endParaRPr lang="zh-CN" altLang="en-US" b="1" dirty="0">
                            <a:solidFill>
                              <a:srgbClr val="FF0000"/>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p:graphicFrame>
            <p:nvGraphicFramePr>
              <p:cNvPr id="5" name="表格 4"/>
              <p:cNvGraphicFramePr>
                <a:graphicFrameLocks noGrp="1"/>
              </p:cNvGraphicFramePr>
              <p:nvPr>
                <p:extLst>
                  <p:ext uri="{D42A27DB-BD31-4B8C-83A1-F6EECF244321}">
                    <p14:modId xmlns:p14="http://schemas.microsoft.com/office/powerpoint/2010/main" xmlns="" xmlns:a14="http://schemas.microsoft.com/office/drawing/2010/main" val="800824470"/>
                  </p:ext>
                </p:extLst>
              </p:nvPr>
            </p:nvGraphicFramePr>
            <p:xfrm>
              <a:off x="179512" y="1495569"/>
              <a:ext cx="8856984" cy="5038321"/>
            </p:xfrm>
            <a:graphic>
              <a:graphicData uri="http://schemas.openxmlformats.org/drawingml/2006/table">
                <a:tbl>
                  <a:tblPr firstRow="1" bandRow="1">
                    <a:tableStyleId>{5C22544A-7EE6-4342-B048-85BDC9FD1C3A}</a:tableStyleId>
                  </a:tblPr>
                  <a:tblGrid>
                    <a:gridCol w="5976664"/>
                    <a:gridCol w="2880320"/>
                  </a:tblGrid>
                  <a:tr h="465749">
                    <a:tc>
                      <a:txBody>
                        <a:bodyPr/>
                        <a:lstStyle/>
                        <a:p>
                          <a:pPr algn="ctr"/>
                          <a:r>
                            <a:rPr lang="zh-CN" altLang="en-US" dirty="0" smtClean="0">
                              <a:solidFill>
                                <a:srgbClr val="0000CC"/>
                              </a:solidFill>
                            </a:rPr>
                            <a:t>输入</a:t>
                          </a:r>
                          <a:endParaRPr lang="zh-CN" altLang="en-US" dirty="0">
                            <a:solidFill>
                              <a:srgbClr val="0000CC"/>
                            </a:solidFill>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dirty="0" smtClean="0">
                              <a:solidFill>
                                <a:srgbClr val="0000CC"/>
                              </a:solidFill>
                            </a:rPr>
                            <a:t>输出</a:t>
                          </a:r>
                          <a:endParaRPr lang="zh-CN" altLang="en-US" dirty="0">
                            <a:solidFill>
                              <a:srgbClr val="0000CC"/>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66332">
                    <a:tc>
                      <a:txBody>
                        <a:bodyPr/>
                        <a:lstStyle/>
                        <a:p>
                          <a:endParaRPr lang="zh-CN"/>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102" t="-134426" r="-48420" b="-1142623"/>
                          </a:stretch>
                        </a:blipFill>
                      </a:tcPr>
                    </a:tc>
                    <a:tc>
                      <a:txBody>
                        <a:bodyPr/>
                        <a:lstStyle/>
                        <a:p>
                          <a:endParaRPr lang="zh-C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207611" t="-134426" r="-423" b="-1142623"/>
                          </a:stretch>
                        </a:blipFill>
                      </a:tcPr>
                    </a:tc>
                  </a:tr>
                  <a:tr h="4206240">
                    <a:tc>
                      <a:txBody>
                        <a:bodyPr/>
                        <a:lstStyle/>
                        <a:p>
                          <a:pPr algn="dist">
                            <a:lnSpc>
                              <a:spcPct val="150000"/>
                            </a:lnSpc>
                          </a:pPr>
                          <a:r>
                            <a:rPr lang="en-US" altLang="zh-CN" dirty="0" smtClean="0"/>
                            <a:t>1XXXXXXXX</a:t>
                          </a:r>
                        </a:p>
                        <a:p>
                          <a:pPr algn="dist">
                            <a:lnSpc>
                              <a:spcPct val="150000"/>
                            </a:lnSpc>
                          </a:pPr>
                          <a:r>
                            <a:rPr lang="en-US" altLang="zh-CN" dirty="0" smtClean="0"/>
                            <a:t>011111111</a:t>
                          </a:r>
                        </a:p>
                        <a:p>
                          <a:pPr algn="dist">
                            <a:lnSpc>
                              <a:spcPct val="150000"/>
                            </a:lnSpc>
                          </a:pPr>
                          <a:r>
                            <a:rPr lang="en-US" altLang="zh-CN" dirty="0" smtClean="0"/>
                            <a:t>0XXXXXXX</a:t>
                          </a:r>
                          <a:r>
                            <a:rPr lang="en-US" altLang="zh-CN" dirty="0" smtClean="0">
                              <a:solidFill>
                                <a:srgbClr val="FF0000"/>
                              </a:solidFill>
                            </a:rPr>
                            <a:t>0</a:t>
                          </a:r>
                        </a:p>
                        <a:p>
                          <a:pPr algn="dist">
                            <a:lnSpc>
                              <a:spcPct val="150000"/>
                            </a:lnSpc>
                          </a:pPr>
                          <a:r>
                            <a:rPr lang="en-US" altLang="zh-CN" dirty="0" smtClean="0"/>
                            <a:t>0XXXXXX</a:t>
                          </a:r>
                          <a:r>
                            <a:rPr lang="en-US" altLang="zh-CN" sz="1800" kern="1200" dirty="0" smtClean="0">
                              <a:solidFill>
                                <a:srgbClr val="FF0000"/>
                              </a:solidFill>
                              <a:latin typeface="+mn-lt"/>
                              <a:ea typeface="+mn-ea"/>
                              <a:cs typeface="+mn-cs"/>
                            </a:rPr>
                            <a:t>0</a:t>
                          </a:r>
                          <a:r>
                            <a:rPr lang="en-US" altLang="zh-CN" dirty="0" smtClean="0"/>
                            <a:t>1</a:t>
                          </a:r>
                        </a:p>
                        <a:p>
                          <a:pPr algn="dist">
                            <a:lnSpc>
                              <a:spcPct val="150000"/>
                            </a:lnSpc>
                          </a:pPr>
                          <a:r>
                            <a:rPr lang="en-US" altLang="zh-CN" dirty="0" smtClean="0"/>
                            <a:t>0XXXXX</a:t>
                          </a:r>
                          <a:r>
                            <a:rPr lang="en-US" altLang="zh-CN" sz="1800" kern="1200" dirty="0" smtClean="0">
                              <a:solidFill>
                                <a:srgbClr val="FF0000"/>
                              </a:solidFill>
                              <a:latin typeface="+mn-lt"/>
                              <a:ea typeface="+mn-ea"/>
                              <a:cs typeface="+mn-cs"/>
                            </a:rPr>
                            <a:t>0</a:t>
                          </a:r>
                          <a:r>
                            <a:rPr lang="en-US" altLang="zh-CN" dirty="0" smtClean="0"/>
                            <a:t>11</a:t>
                          </a:r>
                        </a:p>
                        <a:p>
                          <a:pPr algn="dist">
                            <a:lnSpc>
                              <a:spcPct val="150000"/>
                            </a:lnSpc>
                          </a:pPr>
                          <a:r>
                            <a:rPr lang="en-US" altLang="zh-CN" dirty="0" smtClean="0"/>
                            <a:t>0XXXX</a:t>
                          </a:r>
                          <a:r>
                            <a:rPr lang="en-US" altLang="zh-CN" sz="1800" kern="1200" dirty="0" smtClean="0">
                              <a:solidFill>
                                <a:srgbClr val="FF0000"/>
                              </a:solidFill>
                              <a:latin typeface="+mn-lt"/>
                              <a:ea typeface="+mn-ea"/>
                              <a:cs typeface="+mn-cs"/>
                            </a:rPr>
                            <a:t>0</a:t>
                          </a:r>
                          <a:r>
                            <a:rPr lang="en-US" altLang="zh-CN" dirty="0" smtClean="0"/>
                            <a:t>111</a:t>
                          </a:r>
                        </a:p>
                        <a:p>
                          <a:pPr algn="dist">
                            <a:lnSpc>
                              <a:spcPct val="150000"/>
                            </a:lnSpc>
                          </a:pPr>
                          <a:r>
                            <a:rPr lang="en-US" altLang="zh-CN" dirty="0" smtClean="0"/>
                            <a:t>0XXX</a:t>
                          </a:r>
                          <a:r>
                            <a:rPr lang="en-US" altLang="zh-CN" sz="1800" kern="1200" dirty="0" smtClean="0">
                              <a:solidFill>
                                <a:srgbClr val="FF0000"/>
                              </a:solidFill>
                              <a:latin typeface="+mn-lt"/>
                              <a:ea typeface="+mn-ea"/>
                              <a:cs typeface="+mn-cs"/>
                            </a:rPr>
                            <a:t>0</a:t>
                          </a:r>
                          <a:r>
                            <a:rPr lang="en-US" altLang="zh-CN" dirty="0" smtClean="0"/>
                            <a:t>1111</a:t>
                          </a:r>
                        </a:p>
                        <a:p>
                          <a:pPr algn="dist">
                            <a:lnSpc>
                              <a:spcPct val="150000"/>
                            </a:lnSpc>
                          </a:pPr>
                          <a:r>
                            <a:rPr lang="en-US" altLang="zh-CN" dirty="0" smtClean="0"/>
                            <a:t>0XX</a:t>
                          </a:r>
                          <a:r>
                            <a:rPr lang="en-US" altLang="zh-CN" sz="1800" kern="1200" dirty="0" smtClean="0">
                              <a:solidFill>
                                <a:srgbClr val="FF0000"/>
                              </a:solidFill>
                              <a:latin typeface="+mn-lt"/>
                              <a:ea typeface="+mn-ea"/>
                              <a:cs typeface="+mn-cs"/>
                            </a:rPr>
                            <a:t>0</a:t>
                          </a:r>
                          <a:r>
                            <a:rPr lang="en-US" altLang="zh-CN" dirty="0" smtClean="0"/>
                            <a:t>11111</a:t>
                          </a:r>
                        </a:p>
                        <a:p>
                          <a:pPr algn="dist">
                            <a:lnSpc>
                              <a:spcPct val="150000"/>
                            </a:lnSpc>
                          </a:pPr>
                          <a:r>
                            <a:rPr lang="en-US" altLang="zh-CN" dirty="0" smtClean="0"/>
                            <a:t>0X</a:t>
                          </a:r>
                          <a:r>
                            <a:rPr lang="en-US" altLang="zh-CN" sz="1800" kern="1200" dirty="0" smtClean="0">
                              <a:solidFill>
                                <a:srgbClr val="FF0000"/>
                              </a:solidFill>
                              <a:latin typeface="+mn-lt"/>
                              <a:ea typeface="+mn-ea"/>
                              <a:cs typeface="+mn-cs"/>
                            </a:rPr>
                            <a:t>0</a:t>
                          </a:r>
                          <a:r>
                            <a:rPr lang="en-US" altLang="zh-CN" dirty="0" smtClean="0"/>
                            <a:t>111111</a:t>
                          </a:r>
                        </a:p>
                        <a:p>
                          <a:pPr algn="dist">
                            <a:lnSpc>
                              <a:spcPct val="150000"/>
                            </a:lnSpc>
                          </a:pPr>
                          <a:r>
                            <a:rPr lang="en-US" altLang="zh-CN" dirty="0" smtClean="0"/>
                            <a:t>0</a:t>
                          </a:r>
                          <a:r>
                            <a:rPr lang="en-US" altLang="zh-CN" sz="1800" kern="1200" dirty="0" smtClean="0">
                              <a:solidFill>
                                <a:srgbClr val="FF0000"/>
                              </a:solidFill>
                              <a:latin typeface="+mn-lt"/>
                              <a:ea typeface="+mn-ea"/>
                              <a:cs typeface="+mn-cs"/>
                            </a:rPr>
                            <a:t>0</a:t>
                          </a:r>
                          <a:r>
                            <a:rPr lang="en-US" altLang="zh-CN" dirty="0" smtClean="0"/>
                            <a:t>1111111</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dist">
                            <a:lnSpc>
                              <a:spcPct val="150000"/>
                            </a:lnSpc>
                          </a:pPr>
                          <a:r>
                            <a:rPr lang="en-US" altLang="zh-CN" dirty="0" smtClean="0"/>
                            <a:t>11111</a:t>
                          </a:r>
                        </a:p>
                        <a:p>
                          <a:pPr algn="dist">
                            <a:lnSpc>
                              <a:spcPct val="150000"/>
                            </a:lnSpc>
                          </a:pPr>
                          <a:r>
                            <a:rPr lang="en-US" altLang="zh-CN" dirty="0" smtClean="0"/>
                            <a:t>1111</a:t>
                          </a:r>
                          <a:r>
                            <a:rPr lang="en-US" altLang="zh-CN" b="1" dirty="0" smtClean="0"/>
                            <a:t>0</a:t>
                          </a:r>
                        </a:p>
                        <a:p>
                          <a:pPr algn="dist">
                            <a:lnSpc>
                              <a:spcPct val="150000"/>
                            </a:lnSpc>
                          </a:pPr>
                          <a:r>
                            <a:rPr lang="en-US" altLang="zh-CN" dirty="0" smtClean="0"/>
                            <a:t>000</a:t>
                          </a:r>
                          <a:r>
                            <a:rPr lang="en-US" altLang="zh-CN" b="1" dirty="0" smtClean="0">
                              <a:solidFill>
                                <a:srgbClr val="FF0000"/>
                              </a:solidFill>
                            </a:rPr>
                            <a:t>01</a:t>
                          </a:r>
                        </a:p>
                        <a:p>
                          <a:pPr algn="dist">
                            <a:lnSpc>
                              <a:spcPct val="150000"/>
                            </a:lnSpc>
                          </a:pPr>
                          <a:r>
                            <a:rPr lang="en-US" altLang="zh-CN" dirty="0" smtClean="0"/>
                            <a:t>001</a:t>
                          </a:r>
                          <a:r>
                            <a:rPr lang="en-US" altLang="zh-CN" sz="1800" b="1" kern="1200" dirty="0" smtClean="0">
                              <a:solidFill>
                                <a:srgbClr val="FF0000"/>
                              </a:solidFill>
                              <a:latin typeface="+mn-lt"/>
                              <a:ea typeface="+mn-ea"/>
                              <a:cs typeface="+mn-cs"/>
                            </a:rPr>
                            <a:t>0</a:t>
                          </a:r>
                          <a:r>
                            <a:rPr lang="en-US" altLang="zh-CN" b="1" dirty="0" smtClean="0">
                              <a:solidFill>
                                <a:srgbClr val="FF0000"/>
                              </a:solidFill>
                            </a:rPr>
                            <a:t>1</a:t>
                          </a:r>
                        </a:p>
                        <a:p>
                          <a:pPr algn="dist">
                            <a:lnSpc>
                              <a:spcPct val="150000"/>
                            </a:lnSpc>
                          </a:pPr>
                          <a:r>
                            <a:rPr lang="en-US" altLang="zh-CN" dirty="0" smtClean="0"/>
                            <a:t>010</a:t>
                          </a:r>
                          <a:r>
                            <a:rPr lang="en-US" altLang="zh-CN" b="1" dirty="0" smtClean="0">
                              <a:solidFill>
                                <a:srgbClr val="FF0000"/>
                              </a:solidFill>
                            </a:rPr>
                            <a:t>01</a:t>
                          </a:r>
                        </a:p>
                        <a:p>
                          <a:pPr algn="dist">
                            <a:lnSpc>
                              <a:spcPct val="150000"/>
                            </a:lnSpc>
                          </a:pPr>
                          <a:r>
                            <a:rPr lang="en-US" altLang="zh-CN" dirty="0" smtClean="0"/>
                            <a:t>011</a:t>
                          </a:r>
                          <a:r>
                            <a:rPr lang="en-US" altLang="zh-CN" b="1" dirty="0" smtClean="0">
                              <a:solidFill>
                                <a:srgbClr val="FF0000"/>
                              </a:solidFill>
                            </a:rPr>
                            <a:t>01</a:t>
                          </a:r>
                        </a:p>
                        <a:p>
                          <a:pPr algn="dist">
                            <a:lnSpc>
                              <a:spcPct val="150000"/>
                            </a:lnSpc>
                          </a:pPr>
                          <a:r>
                            <a:rPr lang="en-US" altLang="zh-CN" dirty="0" smtClean="0"/>
                            <a:t>100</a:t>
                          </a:r>
                          <a:r>
                            <a:rPr lang="en-US" altLang="zh-CN" b="1" dirty="0" smtClean="0">
                              <a:solidFill>
                                <a:srgbClr val="FF0000"/>
                              </a:solidFill>
                            </a:rPr>
                            <a:t>01</a:t>
                          </a:r>
                        </a:p>
                        <a:p>
                          <a:pPr algn="dist">
                            <a:lnSpc>
                              <a:spcPct val="150000"/>
                            </a:lnSpc>
                          </a:pPr>
                          <a:r>
                            <a:rPr lang="en-US" altLang="zh-CN" dirty="0" smtClean="0"/>
                            <a:t>101</a:t>
                          </a:r>
                          <a:r>
                            <a:rPr lang="en-US" altLang="zh-CN" b="1" dirty="0" smtClean="0">
                              <a:solidFill>
                                <a:srgbClr val="FF0000"/>
                              </a:solidFill>
                            </a:rPr>
                            <a:t>01</a:t>
                          </a:r>
                        </a:p>
                        <a:p>
                          <a:pPr algn="dist">
                            <a:lnSpc>
                              <a:spcPct val="150000"/>
                            </a:lnSpc>
                          </a:pPr>
                          <a:r>
                            <a:rPr lang="en-US" altLang="zh-CN" dirty="0" smtClean="0"/>
                            <a:t>110</a:t>
                          </a:r>
                          <a:r>
                            <a:rPr lang="en-US" altLang="zh-CN" b="1" dirty="0" smtClean="0">
                              <a:solidFill>
                                <a:srgbClr val="FF0000"/>
                              </a:solidFill>
                            </a:rPr>
                            <a:t>01</a:t>
                          </a:r>
                        </a:p>
                        <a:p>
                          <a:pPr algn="dist">
                            <a:lnSpc>
                              <a:spcPct val="150000"/>
                            </a:lnSpc>
                          </a:pPr>
                          <a:r>
                            <a:rPr lang="en-US" altLang="zh-CN" dirty="0" smtClean="0"/>
                            <a:t>111</a:t>
                          </a:r>
                          <a:r>
                            <a:rPr lang="en-US" altLang="zh-CN" b="1" dirty="0" smtClean="0">
                              <a:solidFill>
                                <a:srgbClr val="FF0000"/>
                              </a:solidFill>
                            </a:rPr>
                            <a:t>01</a:t>
                          </a:r>
                          <a:endParaRPr lang="zh-CN" altLang="en-US" b="1" dirty="0">
                            <a:solidFill>
                              <a:srgbClr val="FF0000"/>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Fallback>
      </mc:AlternateContent>
      <p:sp>
        <p:nvSpPr>
          <p:cNvPr id="6" name="矩形 5"/>
          <p:cNvSpPr/>
          <p:nvPr/>
        </p:nvSpPr>
        <p:spPr>
          <a:xfrm>
            <a:off x="1577235" y="6547538"/>
            <a:ext cx="6840760" cy="369332"/>
          </a:xfrm>
          <a:prstGeom prst="rect">
            <a:avLst/>
          </a:prstGeom>
        </p:spPr>
        <p:txBody>
          <a:bodyPr wrap="square">
            <a:spAutoFit/>
          </a:bodyPr>
          <a:lstStyle/>
          <a:p>
            <a:r>
              <a:rPr lang="en-US" altLang="zh-CN" b="1" dirty="0"/>
              <a:t>1</a:t>
            </a:r>
            <a:r>
              <a:rPr lang="zh-CN" altLang="en-US" b="1" dirty="0"/>
              <a:t>－高电平，</a:t>
            </a:r>
            <a:r>
              <a:rPr lang="en-US" altLang="zh-CN" b="1" dirty="0"/>
              <a:t>0</a:t>
            </a:r>
            <a:r>
              <a:rPr lang="zh-CN" altLang="en-US" b="1" dirty="0"/>
              <a:t>－低电平，</a:t>
            </a:r>
            <a:r>
              <a:rPr lang="en-US" altLang="zh-CN" b="1" dirty="0"/>
              <a:t>×</a:t>
            </a:r>
            <a:r>
              <a:rPr lang="zh-CN" altLang="en-US" b="1" dirty="0"/>
              <a:t>－任意，输入低电平有效</a:t>
            </a:r>
            <a:r>
              <a:rPr lang="zh-CN" altLang="en-US" b="1" dirty="0" smtClean="0"/>
              <a:t>。</a:t>
            </a:r>
            <a:endParaRPr lang="zh-CN" altLang="en-US" b="1" dirty="0"/>
          </a:p>
        </p:txBody>
      </p:sp>
      <p:sp>
        <p:nvSpPr>
          <p:cNvPr id="7" name="矩形标注 6"/>
          <p:cNvSpPr/>
          <p:nvPr/>
        </p:nvSpPr>
        <p:spPr>
          <a:xfrm>
            <a:off x="7607" y="1364949"/>
            <a:ext cx="3262433" cy="400110"/>
          </a:xfrm>
          <a:prstGeom prst="wedgeRectCallout">
            <a:avLst>
              <a:gd name="adj1" fmla="val -39036"/>
              <a:gd name="adj2" fmla="val 108701"/>
            </a:avLst>
          </a:prstGeom>
          <a:solidFill>
            <a:schemeClr val="bg1"/>
          </a:solidFill>
          <a:ln w="28575">
            <a:solidFill>
              <a:srgbClr val="FF0000"/>
            </a:solidFill>
          </a:ln>
        </p:spPr>
        <p:txBody>
          <a:bodyPr wrap="none" rtlCol="0" anchor="ctr">
            <a:spAutoFit/>
          </a:bodyPr>
          <a:lstStyle/>
          <a:p>
            <a:pPr algn="ctr"/>
            <a:r>
              <a:rPr lang="zh-CN" altLang="en-US" sz="2000" b="1" dirty="0">
                <a:latin typeface="华文新魏" panose="02010800040101010101" pitchFamily="2" charset="-122"/>
                <a:ea typeface="华文新魏" panose="02010800040101010101" pitchFamily="2" charset="-122"/>
              </a:rPr>
              <a:t>选通输入端，低电平有效。</a:t>
            </a:r>
          </a:p>
        </p:txBody>
      </p:sp>
      <p:sp>
        <p:nvSpPr>
          <p:cNvPr id="8" name="矩形标注 7"/>
          <p:cNvSpPr/>
          <p:nvPr/>
        </p:nvSpPr>
        <p:spPr>
          <a:xfrm>
            <a:off x="5881568" y="980728"/>
            <a:ext cx="3262432" cy="400110"/>
          </a:xfrm>
          <a:prstGeom prst="wedgeRectCallout">
            <a:avLst>
              <a:gd name="adj1" fmla="val 34206"/>
              <a:gd name="adj2" fmla="val 199104"/>
            </a:avLst>
          </a:prstGeom>
          <a:solidFill>
            <a:schemeClr val="bg1"/>
          </a:solidFill>
          <a:ln w="28575">
            <a:solidFill>
              <a:srgbClr val="FF0000"/>
            </a:solidFill>
          </a:ln>
        </p:spPr>
        <p:txBody>
          <a:bodyPr wrap="none" rtlCol="0" anchor="ctr">
            <a:spAutoFit/>
          </a:bodyPr>
          <a:lstStyle/>
          <a:p>
            <a:pPr algn="ctr"/>
            <a:r>
              <a:rPr lang="zh-CN" altLang="en-US" sz="2000" b="1" dirty="0">
                <a:latin typeface="华文新魏" pitchFamily="2" charset="-122"/>
                <a:ea typeface="华文新魏" pitchFamily="2" charset="-122"/>
              </a:rPr>
              <a:t>选通输出端，高电平有效。</a:t>
            </a:r>
          </a:p>
        </p:txBody>
      </p:sp>
      <p:sp>
        <p:nvSpPr>
          <p:cNvPr id="9" name="矩形标注 8"/>
          <p:cNvSpPr/>
          <p:nvPr/>
        </p:nvSpPr>
        <p:spPr>
          <a:xfrm>
            <a:off x="3923928" y="1484784"/>
            <a:ext cx="2749472" cy="400110"/>
          </a:xfrm>
          <a:prstGeom prst="wedgeRectCallout">
            <a:avLst>
              <a:gd name="adj1" fmla="val 92611"/>
              <a:gd name="adj2" fmla="val 77455"/>
            </a:avLst>
          </a:prstGeom>
          <a:solidFill>
            <a:schemeClr val="bg1"/>
          </a:solidFill>
          <a:ln w="28575">
            <a:solidFill>
              <a:srgbClr val="FF0000"/>
            </a:solidFill>
          </a:ln>
        </p:spPr>
        <p:txBody>
          <a:bodyPr wrap="none" rtlCol="0" anchor="ctr">
            <a:spAutoFit/>
          </a:bodyPr>
          <a:lstStyle/>
          <a:p>
            <a:pPr algn="ctr"/>
            <a:r>
              <a:rPr lang="zh-CN" altLang="en-US" sz="2000" b="1" dirty="0">
                <a:latin typeface="华文新魏" pitchFamily="2" charset="-122"/>
                <a:ea typeface="华文新魏" pitchFamily="2" charset="-122"/>
              </a:rPr>
              <a:t>扩展端，低电平有效。</a:t>
            </a:r>
          </a:p>
        </p:txBody>
      </p:sp>
      <p:sp>
        <p:nvSpPr>
          <p:cNvPr id="10" name="矩形 9"/>
          <p:cNvSpPr/>
          <p:nvPr/>
        </p:nvSpPr>
        <p:spPr>
          <a:xfrm>
            <a:off x="251520" y="2431673"/>
            <a:ext cx="8879056" cy="360040"/>
          </a:xfrm>
          <a:prstGeom prst="rect">
            <a:avLst/>
          </a:prstGeom>
          <a:noFill/>
          <a:ln w="15875">
            <a:solidFill>
              <a:srgbClr val="0000CC"/>
            </a:solidFill>
            <a:prstDash val="dash"/>
          </a:ln>
        </p:spPr>
        <p:txBody>
          <a:bodyPr wrap="square" rtlCol="0" anchor="ctr">
            <a:spAutoFit/>
          </a:bodyPr>
          <a:lstStyle/>
          <a:p>
            <a:pPr algn="ctr"/>
            <a:endParaRPr lang="zh-CN" altLang="en-US" sz="2000" b="1" dirty="0">
              <a:latin typeface="华文新魏" pitchFamily="2" charset="-122"/>
              <a:ea typeface="华文新魏" pitchFamily="2" charset="-122"/>
            </a:endParaRPr>
          </a:p>
        </p:txBody>
      </p:sp>
      <p:sp>
        <p:nvSpPr>
          <p:cNvPr id="11" name="矩形 10"/>
          <p:cNvSpPr/>
          <p:nvPr/>
        </p:nvSpPr>
        <p:spPr>
          <a:xfrm>
            <a:off x="251519" y="3223761"/>
            <a:ext cx="8846831" cy="3240360"/>
          </a:xfrm>
          <a:prstGeom prst="rect">
            <a:avLst/>
          </a:prstGeom>
          <a:noFill/>
          <a:ln w="15875">
            <a:solidFill>
              <a:srgbClr val="FF0000"/>
            </a:solidFill>
            <a:prstDash val="dash"/>
          </a:ln>
        </p:spPr>
        <p:txBody>
          <a:bodyPr wrap="square" rtlCol="0" anchor="ctr">
            <a:spAutoFit/>
          </a:bodyPr>
          <a:lstStyle/>
          <a:p>
            <a:pPr algn="ctr"/>
            <a:endParaRPr lang="zh-CN" altLang="en-US" sz="2000" b="1" dirty="0">
              <a:latin typeface="华文新魏" pitchFamily="2" charset="-122"/>
              <a:ea typeface="华文新魏" pitchFamily="2" charset="-122"/>
            </a:endParaRPr>
          </a:p>
        </p:txBody>
      </p:sp>
      <p:sp>
        <p:nvSpPr>
          <p:cNvPr id="12" name="矩形 11"/>
          <p:cNvSpPr/>
          <p:nvPr/>
        </p:nvSpPr>
        <p:spPr>
          <a:xfrm>
            <a:off x="251520" y="2850073"/>
            <a:ext cx="8879056" cy="360040"/>
          </a:xfrm>
          <a:prstGeom prst="rect">
            <a:avLst/>
          </a:prstGeom>
          <a:noFill/>
          <a:ln w="15875">
            <a:solidFill>
              <a:srgbClr val="008000"/>
            </a:solidFill>
            <a:prstDash val="dash"/>
          </a:ln>
        </p:spPr>
        <p:txBody>
          <a:bodyPr wrap="square" rtlCol="0" anchor="ctr">
            <a:spAutoFit/>
          </a:bodyPr>
          <a:lstStyle/>
          <a:p>
            <a:pPr algn="ctr"/>
            <a:endParaRPr lang="zh-CN" altLang="en-US" sz="2000" b="1" dirty="0">
              <a:latin typeface="华文新魏" pitchFamily="2" charset="-122"/>
              <a:ea typeface="华文新魏" pitchFamily="2" charset="-122"/>
            </a:endParaRPr>
          </a:p>
        </p:txBody>
      </p:sp>
      <p:sp>
        <p:nvSpPr>
          <p:cNvPr id="13" name="矩形 12"/>
          <p:cNvSpPr/>
          <p:nvPr/>
        </p:nvSpPr>
        <p:spPr>
          <a:xfrm>
            <a:off x="229940" y="2445615"/>
            <a:ext cx="309612" cy="4018505"/>
          </a:xfrm>
          <a:prstGeom prst="rect">
            <a:avLst/>
          </a:prstGeom>
          <a:noFill/>
          <a:ln w="15875">
            <a:solidFill>
              <a:srgbClr val="7030A0"/>
            </a:solidFill>
            <a:prstDash val="solid"/>
          </a:ln>
        </p:spPr>
        <p:txBody>
          <a:bodyPr wrap="square" rtlCol="0" anchor="ctr">
            <a:spAutoFit/>
          </a:bodyPr>
          <a:lstStyle/>
          <a:p>
            <a:pPr algn="ctr"/>
            <a:endParaRPr lang="zh-CN" altLang="en-US" sz="2000" b="1" dirty="0">
              <a:latin typeface="华文新魏" pitchFamily="2" charset="-122"/>
              <a:ea typeface="华文新魏" pitchFamily="2" charset="-122"/>
            </a:endParaRPr>
          </a:p>
        </p:txBody>
      </p:sp>
      <p:sp>
        <p:nvSpPr>
          <p:cNvPr id="14" name="矩形 13"/>
          <p:cNvSpPr/>
          <p:nvPr/>
        </p:nvSpPr>
        <p:spPr>
          <a:xfrm>
            <a:off x="8748464" y="2431673"/>
            <a:ext cx="309612" cy="4018505"/>
          </a:xfrm>
          <a:prstGeom prst="rect">
            <a:avLst/>
          </a:prstGeom>
          <a:noFill/>
          <a:ln w="15875">
            <a:solidFill>
              <a:srgbClr val="7030A0"/>
            </a:solidFill>
            <a:prstDash val="solid"/>
          </a:ln>
        </p:spPr>
        <p:txBody>
          <a:bodyPr wrap="square" rtlCol="0" anchor="ctr">
            <a:spAutoFit/>
          </a:bodyPr>
          <a:lstStyle/>
          <a:p>
            <a:pPr algn="ctr"/>
            <a:endParaRPr lang="zh-CN" altLang="en-US" sz="2000" b="1" dirty="0">
              <a:latin typeface="华文新魏" pitchFamily="2" charset="-122"/>
              <a:ea typeface="华文新魏" pitchFamily="2" charset="-122"/>
            </a:endParaRPr>
          </a:p>
        </p:txBody>
      </p:sp>
      <p:sp>
        <p:nvSpPr>
          <p:cNvPr id="15" name="矩形 14"/>
          <p:cNvSpPr/>
          <p:nvPr/>
        </p:nvSpPr>
        <p:spPr>
          <a:xfrm>
            <a:off x="8078812" y="2431673"/>
            <a:ext cx="309612" cy="4018505"/>
          </a:xfrm>
          <a:prstGeom prst="rect">
            <a:avLst/>
          </a:prstGeom>
          <a:noFill/>
          <a:ln w="15875">
            <a:solidFill>
              <a:srgbClr val="7030A0"/>
            </a:solidFill>
            <a:prstDash val="solid"/>
          </a:ln>
        </p:spPr>
        <p:txBody>
          <a:bodyPr wrap="square" rtlCol="0" anchor="ctr">
            <a:spAutoFit/>
          </a:bodyPr>
          <a:lstStyle/>
          <a:p>
            <a:pPr algn="ctr"/>
            <a:endParaRPr lang="zh-CN" altLang="en-US" sz="2000" b="1" dirty="0">
              <a:latin typeface="华文新魏" pitchFamily="2" charset="-122"/>
              <a:ea typeface="华文新魏" pitchFamily="2" charset="-122"/>
            </a:endParaRPr>
          </a:p>
        </p:txBody>
      </p:sp>
    </p:spTree>
    <p:extLst>
      <p:ext uri="{BB962C8B-B14F-4D97-AF65-F5344CB8AC3E}">
        <p14:creationId xmlns:p14="http://schemas.microsoft.com/office/powerpoint/2010/main" xmlns="" val="1695147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0" y="620688"/>
            <a:ext cx="7940550" cy="638944"/>
          </a:xfrm>
        </p:spPr>
        <p:txBody>
          <a:bodyPr/>
          <a:lstStyle/>
          <a:p>
            <a:r>
              <a:rPr lang="en-US" altLang="zh-CN" dirty="0" smtClean="0"/>
              <a:t>4.3.2 </a:t>
            </a:r>
            <a:r>
              <a:rPr lang="zh-CN" altLang="en-US" dirty="0" smtClean="0"/>
              <a:t>优先编码器</a:t>
            </a:r>
            <a:endParaRPr lang="zh-CN" altLang="en-US" dirty="0"/>
          </a:p>
        </p:txBody>
      </p:sp>
      <p:sp>
        <p:nvSpPr>
          <p:cNvPr id="3" name="内容占位符 2"/>
          <p:cNvSpPr>
            <a:spLocks noGrp="1" noRot="1" noChangeAspect="1" noMove="1" noResize="1" noEditPoints="1" noAdjustHandles="1" noChangeArrowheads="1" noChangeShapeType="1" noTextEdit="1"/>
          </p:cNvSpPr>
          <p:nvPr>
            <p:ph idx="1"/>
          </p:nvPr>
        </p:nvSpPr>
        <p:spPr>
          <a:blipFill rotWithShape="1">
            <a:blip r:embed="rId3" cstate="print"/>
            <a:stretch>
              <a:fillRect l="-1120" t="-1489"/>
            </a:stretch>
          </a:blipFill>
        </p:spPr>
        <p:txBody>
          <a:bodyPr/>
          <a:lstStyle/>
          <a:p>
            <a:pPr>
              <a:buNone/>
            </a:pPr>
            <a:r>
              <a:rPr lang="zh-CN" altLang="en-US" dirty="0">
                <a:noFill/>
              </a:rPr>
              <a:t> </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49</a:t>
            </a:fld>
            <a:endParaRPr lang="zh-CN" altLang="en-US"/>
          </a:p>
        </p:txBody>
      </p:sp>
      <p:sp>
        <p:nvSpPr>
          <p:cNvPr id="5" name="矩形 4"/>
          <p:cNvSpPr/>
          <p:nvPr/>
        </p:nvSpPr>
        <p:spPr>
          <a:xfrm>
            <a:off x="1331640" y="5085184"/>
            <a:ext cx="6624736" cy="461665"/>
          </a:xfrm>
          <a:prstGeom prst="rect">
            <a:avLst/>
          </a:prstGeom>
        </p:spPr>
        <p:txBody>
          <a:bodyPr wrap="square">
            <a:spAutoFit/>
          </a:bodyPr>
          <a:lstStyle/>
          <a:p>
            <a:r>
              <a:rPr lang="zh-CN" altLang="en-US" sz="2400" b="1" dirty="0">
                <a:solidFill>
                  <a:srgbClr val="0000CC"/>
                </a:solidFill>
              </a:rPr>
              <a:t>（方程显示了信号间申请编码的优先级顺序！）</a:t>
            </a:r>
          </a:p>
        </p:txBody>
      </p:sp>
      <p:graphicFrame>
        <p:nvGraphicFramePr>
          <p:cNvPr id="692225" name="Object 1"/>
          <p:cNvGraphicFramePr>
            <a:graphicFrameLocks noChangeAspect="1"/>
          </p:cNvGraphicFramePr>
          <p:nvPr/>
        </p:nvGraphicFramePr>
        <p:xfrm>
          <a:off x="1043608" y="2132856"/>
          <a:ext cx="6480722" cy="648072"/>
        </p:xfrm>
        <a:graphic>
          <a:graphicData uri="http://schemas.openxmlformats.org/presentationml/2006/ole">
            <p:oleObj spid="_x0000_s692225" r:id="rId4" imgW="3047760" imgH="304560" progId="">
              <p:embed/>
            </p:oleObj>
          </a:graphicData>
        </a:graphic>
      </p:graphicFrame>
      <p:graphicFrame>
        <p:nvGraphicFramePr>
          <p:cNvPr id="692226" name="Object 2"/>
          <p:cNvGraphicFramePr>
            <a:graphicFrameLocks noChangeAspect="1"/>
          </p:cNvGraphicFramePr>
          <p:nvPr/>
        </p:nvGraphicFramePr>
        <p:xfrm>
          <a:off x="1043608" y="2924944"/>
          <a:ext cx="6572366" cy="576064"/>
        </p:xfrm>
        <a:graphic>
          <a:graphicData uri="http://schemas.openxmlformats.org/presentationml/2006/ole">
            <p:oleObj spid="_x0000_s692226" r:id="rId5" imgW="3187440" imgH="279360" progId="">
              <p:embed/>
            </p:oleObj>
          </a:graphicData>
        </a:graphic>
      </p:graphicFrame>
      <p:graphicFrame>
        <p:nvGraphicFramePr>
          <p:cNvPr id="692227" name="Object 3"/>
          <p:cNvGraphicFramePr>
            <a:graphicFrameLocks noChangeAspect="1"/>
          </p:cNvGraphicFramePr>
          <p:nvPr/>
        </p:nvGraphicFramePr>
        <p:xfrm>
          <a:off x="1043608" y="3717032"/>
          <a:ext cx="5289315" cy="1152128"/>
        </p:xfrm>
        <a:graphic>
          <a:graphicData uri="http://schemas.openxmlformats.org/presentationml/2006/ole">
            <p:oleObj spid="_x0000_s692227" r:id="rId6" imgW="2565360" imgH="558720" progId="">
              <p:embed/>
            </p:oleObj>
          </a:graphicData>
        </a:graphic>
      </p:graphicFrame>
    </p:spTree>
    <p:extLst>
      <p:ext uri="{BB962C8B-B14F-4D97-AF65-F5344CB8AC3E}">
        <p14:creationId xmlns:p14="http://schemas.microsoft.com/office/powerpoint/2010/main" xmlns="" val="168783589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0" y="692696"/>
            <a:ext cx="7545014" cy="566936"/>
          </a:xfrm>
        </p:spPr>
        <p:txBody>
          <a:bodyPr/>
          <a:lstStyle/>
          <a:p>
            <a:r>
              <a:rPr lang="en-US" altLang="zh-CN" dirty="0" smtClean="0"/>
              <a:t>4.3.2 </a:t>
            </a:r>
            <a:r>
              <a:rPr lang="zh-CN" altLang="en-US" dirty="0" smtClean="0"/>
              <a:t>优先编码器</a:t>
            </a:r>
            <a:endParaRPr lang="zh-CN" altLang="en-US" dirty="0"/>
          </a:p>
        </p:txBody>
      </p:sp>
      <p:sp>
        <p:nvSpPr>
          <p:cNvPr id="3" name="内容占位符 2"/>
          <p:cNvSpPr>
            <a:spLocks noGrp="1"/>
          </p:cNvSpPr>
          <p:nvPr>
            <p:ph idx="1"/>
          </p:nvPr>
        </p:nvSpPr>
        <p:spPr/>
        <p:txBody>
          <a:bodyPr/>
          <a:lstStyle/>
          <a:p>
            <a:pPr marL="0" indent="0">
              <a:buNone/>
            </a:pPr>
            <a:r>
              <a:rPr lang="zh-CN" altLang="en-US" dirty="0"/>
              <a:t>由功能表可知：</a:t>
            </a:r>
            <a:endParaRPr lang="en-US" altLang="zh-CN" dirty="0" smtClean="0"/>
          </a:p>
          <a:p>
            <a:pPr lvl="1">
              <a:buClr>
                <a:srgbClr val="FF0000"/>
              </a:buClr>
              <a:buSzPct val="100000"/>
            </a:pPr>
            <a:r>
              <a:rPr lang="zh-CN" altLang="en-US" sz="2400" dirty="0" smtClean="0"/>
              <a:t>考虑    </a:t>
            </a:r>
            <a:r>
              <a:rPr lang="en-US" altLang="zh-CN" sz="2400" dirty="0" smtClean="0"/>
              <a:t> </a:t>
            </a:r>
            <a:r>
              <a:rPr lang="zh-CN" altLang="en-US" sz="2400" dirty="0"/>
              <a:t>的影响：</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50</a:t>
            </a:fld>
            <a:endParaRPr lang="zh-CN" altLang="en-US"/>
          </a:p>
        </p:txBody>
      </p:sp>
      <p:sp>
        <p:nvSpPr>
          <p:cNvPr id="5" name="矩形 4"/>
          <p:cNvSpPr/>
          <p:nvPr/>
        </p:nvSpPr>
        <p:spPr>
          <a:xfrm>
            <a:off x="1115616" y="5085184"/>
            <a:ext cx="5544616" cy="461665"/>
          </a:xfrm>
          <a:prstGeom prst="rect">
            <a:avLst/>
          </a:prstGeom>
        </p:spPr>
        <p:txBody>
          <a:bodyPr wrap="square">
            <a:spAutoFit/>
          </a:bodyPr>
          <a:lstStyle/>
          <a:p>
            <a:pPr algn="ctr"/>
            <a:r>
              <a:rPr lang="zh-CN" altLang="en-US" sz="2400" b="1" dirty="0" smtClean="0"/>
              <a:t>（</a:t>
            </a:r>
            <a:r>
              <a:rPr lang="en-US" altLang="zh-CN" sz="2400" b="1" dirty="0" smtClean="0"/>
              <a:t>     </a:t>
            </a:r>
            <a:r>
              <a:rPr lang="zh-CN" altLang="en-US" sz="2400" b="1" dirty="0" smtClean="0"/>
              <a:t>为</a:t>
            </a:r>
            <a:r>
              <a:rPr lang="en-US" altLang="zh-CN" sz="2400" b="1" dirty="0" smtClean="0"/>
              <a:t>1</a:t>
            </a:r>
            <a:r>
              <a:rPr lang="zh-CN" altLang="en-US" sz="2400" b="1" dirty="0" smtClean="0"/>
              <a:t>时</a:t>
            </a:r>
            <a:r>
              <a:rPr lang="zh-CN" altLang="en-US" sz="2400" b="1" dirty="0"/>
              <a:t>所有输出封锁在高电平！）</a:t>
            </a:r>
          </a:p>
        </p:txBody>
      </p:sp>
      <p:graphicFrame>
        <p:nvGraphicFramePr>
          <p:cNvPr id="691201" name="Object 1"/>
          <p:cNvGraphicFramePr>
            <a:graphicFrameLocks noChangeAspect="1"/>
          </p:cNvGraphicFramePr>
          <p:nvPr/>
        </p:nvGraphicFramePr>
        <p:xfrm>
          <a:off x="1331640" y="2564904"/>
          <a:ext cx="4032448" cy="616426"/>
        </p:xfrm>
        <a:graphic>
          <a:graphicData uri="http://schemas.openxmlformats.org/presentationml/2006/ole">
            <p:oleObj spid="_x0000_s691201" r:id="rId3" imgW="1993680" imgH="304560" progId="">
              <p:embed/>
            </p:oleObj>
          </a:graphicData>
        </a:graphic>
      </p:graphicFrame>
      <p:graphicFrame>
        <p:nvGraphicFramePr>
          <p:cNvPr id="691204" name="Object 4"/>
          <p:cNvGraphicFramePr>
            <a:graphicFrameLocks noChangeAspect="1"/>
          </p:cNvGraphicFramePr>
          <p:nvPr/>
        </p:nvGraphicFramePr>
        <p:xfrm>
          <a:off x="1331640" y="3356992"/>
          <a:ext cx="6408712" cy="576064"/>
        </p:xfrm>
        <a:graphic>
          <a:graphicData uri="http://schemas.openxmlformats.org/presentationml/2006/ole">
            <p:oleObj spid="_x0000_s691204" r:id="rId4" imgW="3390840" imgH="304560" progId="">
              <p:embed/>
            </p:oleObj>
          </a:graphicData>
        </a:graphic>
      </p:graphicFrame>
      <p:graphicFrame>
        <p:nvGraphicFramePr>
          <p:cNvPr id="691205" name="Object 5"/>
          <p:cNvGraphicFramePr>
            <a:graphicFrameLocks noChangeAspect="1"/>
          </p:cNvGraphicFramePr>
          <p:nvPr/>
        </p:nvGraphicFramePr>
        <p:xfrm>
          <a:off x="1331640" y="4221088"/>
          <a:ext cx="7728858" cy="576064"/>
        </p:xfrm>
        <a:graphic>
          <a:graphicData uri="http://schemas.openxmlformats.org/presentationml/2006/ole">
            <p:oleObj spid="_x0000_s691205" r:id="rId5" imgW="4089240" imgH="304560" progId="">
              <p:embed/>
            </p:oleObj>
          </a:graphicData>
        </a:graphic>
      </p:graphicFrame>
      <p:graphicFrame>
        <p:nvGraphicFramePr>
          <p:cNvPr id="691206" name="Object 6"/>
          <p:cNvGraphicFramePr>
            <a:graphicFrameLocks noChangeAspect="1"/>
          </p:cNvGraphicFramePr>
          <p:nvPr/>
        </p:nvGraphicFramePr>
        <p:xfrm>
          <a:off x="1619672" y="5157192"/>
          <a:ext cx="381219" cy="360040"/>
        </p:xfrm>
        <a:graphic>
          <a:graphicData uri="http://schemas.openxmlformats.org/presentationml/2006/ole">
            <p:oleObj spid="_x0000_s691206" r:id="rId6" imgW="228600" imgH="215640" progId="">
              <p:embed/>
            </p:oleObj>
          </a:graphicData>
        </a:graphic>
      </p:graphicFrame>
      <p:graphicFrame>
        <p:nvGraphicFramePr>
          <p:cNvPr id="691207" name="Object 7"/>
          <p:cNvGraphicFramePr>
            <a:graphicFrameLocks noChangeAspect="1"/>
          </p:cNvGraphicFramePr>
          <p:nvPr/>
        </p:nvGraphicFramePr>
        <p:xfrm>
          <a:off x="2267744" y="2060848"/>
          <a:ext cx="381000" cy="358775"/>
        </p:xfrm>
        <a:graphic>
          <a:graphicData uri="http://schemas.openxmlformats.org/presentationml/2006/ole">
            <p:oleObj spid="_x0000_s691207" r:id="rId7" imgW="228600" imgH="215640" progId="">
              <p:embed/>
            </p:oleObj>
          </a:graphicData>
        </a:graphic>
      </p:graphicFrame>
    </p:spTree>
    <p:extLst>
      <p:ext uri="{BB962C8B-B14F-4D97-AF65-F5344CB8AC3E}">
        <p14:creationId xmlns:p14="http://schemas.microsoft.com/office/powerpoint/2010/main" xmlns="" val="24232645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0" y="692696"/>
            <a:ext cx="7617022" cy="566936"/>
          </a:xfrm>
        </p:spPr>
        <p:txBody>
          <a:bodyPr/>
          <a:lstStyle/>
          <a:p>
            <a:r>
              <a:rPr lang="en-US" altLang="zh-CN" dirty="0" smtClean="0"/>
              <a:t>4.3.2 </a:t>
            </a:r>
            <a:r>
              <a:rPr lang="zh-CN" altLang="en-US" dirty="0" smtClean="0"/>
              <a:t>优先编码器</a:t>
            </a:r>
            <a:endParaRPr lang="zh-CN" altLang="en-US" dirty="0"/>
          </a:p>
        </p:txBody>
      </p:sp>
      <p:sp>
        <p:nvSpPr>
          <p:cNvPr id="3" name="内容占位符 2"/>
          <p:cNvSpPr>
            <a:spLocks noGrp="1" noRot="1" noChangeAspect="1" noMove="1" noResize="1" noEditPoints="1" noAdjustHandles="1" noChangeArrowheads="1" noChangeShapeType="1" noTextEdit="1"/>
          </p:cNvSpPr>
          <p:nvPr>
            <p:ph idx="1"/>
          </p:nvPr>
        </p:nvSpPr>
        <p:spPr>
          <a:xfrm>
            <a:off x="793750" y="1542208"/>
            <a:ext cx="7234634" cy="4911128"/>
          </a:xfrm>
          <a:blipFill rotWithShape="0">
            <a:blip r:embed="rId2" cstate="print"/>
            <a:stretch>
              <a:fillRect l="-1264" t="-1489"/>
            </a:stretch>
          </a:blipFill>
        </p:spPr>
        <p:txBody>
          <a:bodyPr/>
          <a:lstStyle/>
          <a:p>
            <a:pPr>
              <a:buNone/>
            </a:pPr>
            <a:r>
              <a:rPr lang="zh-CN" altLang="en-US" dirty="0">
                <a:noFill/>
              </a:rPr>
              <a:t> </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51</a:t>
            </a:fld>
            <a:endParaRPr lang="zh-CN" altLang="en-US"/>
          </a:p>
        </p:txBody>
      </p:sp>
    </p:spTree>
    <p:extLst>
      <p:ext uri="{BB962C8B-B14F-4D97-AF65-F5344CB8AC3E}">
        <p14:creationId xmlns:p14="http://schemas.microsoft.com/office/powerpoint/2010/main" xmlns="" val="255964574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6098" name="Picture 2"/>
          <p:cNvPicPr>
            <a:picLocks noChangeAspect="1" noChangeArrowheads="1"/>
          </p:cNvPicPr>
          <p:nvPr/>
        </p:nvPicPr>
        <p:blipFill>
          <a:blip r:embed="rId3" cstate="print"/>
          <a:srcRect/>
          <a:stretch>
            <a:fillRect/>
          </a:stretch>
        </p:blipFill>
        <p:spPr bwMode="auto">
          <a:xfrm>
            <a:off x="683568" y="1556792"/>
            <a:ext cx="7629525" cy="2990850"/>
          </a:xfrm>
          <a:prstGeom prst="rect">
            <a:avLst/>
          </a:prstGeom>
          <a:noFill/>
          <a:ln w="9525">
            <a:noFill/>
            <a:miter lim="800000"/>
            <a:headEnd/>
            <a:tailEnd/>
          </a:ln>
        </p:spPr>
      </p:pic>
      <p:sp>
        <p:nvSpPr>
          <p:cNvPr id="2" name="标题 1"/>
          <p:cNvSpPr>
            <a:spLocks noGrp="1"/>
          </p:cNvSpPr>
          <p:nvPr>
            <p:ph type="title"/>
          </p:nvPr>
        </p:nvSpPr>
        <p:spPr>
          <a:xfrm>
            <a:off x="1203450" y="692696"/>
            <a:ext cx="7545014" cy="566936"/>
          </a:xfrm>
        </p:spPr>
        <p:txBody>
          <a:bodyPr/>
          <a:lstStyle/>
          <a:p>
            <a:r>
              <a:rPr lang="en-US" altLang="zh-CN" dirty="0" smtClean="0"/>
              <a:t>4.3.2 </a:t>
            </a:r>
            <a:r>
              <a:rPr lang="zh-CN" altLang="en-US" dirty="0" smtClean="0"/>
              <a:t>优先编码器</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52</a:t>
            </a:fld>
            <a:endParaRPr lang="zh-CN" altLang="en-US"/>
          </a:p>
        </p:txBody>
      </p:sp>
      <p:sp>
        <p:nvSpPr>
          <p:cNvPr id="5" name="矩形 4"/>
          <p:cNvSpPr/>
          <p:nvPr/>
        </p:nvSpPr>
        <p:spPr>
          <a:xfrm>
            <a:off x="1475656" y="4581128"/>
            <a:ext cx="3281668" cy="400110"/>
          </a:xfrm>
          <a:prstGeom prst="rect">
            <a:avLst/>
          </a:prstGeom>
        </p:spPr>
        <p:txBody>
          <a:bodyPr wrap="none">
            <a:spAutoFit/>
          </a:bodyPr>
          <a:lstStyle/>
          <a:p>
            <a:r>
              <a:rPr lang="zh-CN" altLang="en-US" sz="2000" b="1" dirty="0" smtClean="0"/>
              <a:t>（如功能</a:t>
            </a:r>
            <a:r>
              <a:rPr lang="zh-CN" altLang="en-US" sz="2000" b="1" dirty="0"/>
              <a:t>表第二行所示）。</a:t>
            </a:r>
          </a:p>
        </p:txBody>
      </p:sp>
      <p:graphicFrame>
        <p:nvGraphicFramePr>
          <p:cNvPr id="516097" name="Object 1"/>
          <p:cNvGraphicFramePr>
            <a:graphicFrameLocks noChangeAspect="1"/>
          </p:cNvGraphicFramePr>
          <p:nvPr/>
        </p:nvGraphicFramePr>
        <p:xfrm>
          <a:off x="1619672" y="2276872"/>
          <a:ext cx="6192688" cy="576064"/>
        </p:xfrm>
        <a:graphic>
          <a:graphicData uri="http://schemas.openxmlformats.org/presentationml/2006/ole">
            <p:oleObj spid="_x0000_s516097" r:id="rId4" imgW="3276360" imgH="304560" progId="">
              <p:embed/>
            </p:oleObj>
          </a:graphicData>
        </a:graphic>
      </p:graphicFrame>
    </p:spTree>
    <p:extLst>
      <p:ext uri="{BB962C8B-B14F-4D97-AF65-F5344CB8AC3E}">
        <p14:creationId xmlns:p14="http://schemas.microsoft.com/office/powerpoint/2010/main" xmlns="" val="344579155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5073" name="Picture 1"/>
          <p:cNvPicPr>
            <a:picLocks noChangeAspect="1" noChangeArrowheads="1"/>
          </p:cNvPicPr>
          <p:nvPr/>
        </p:nvPicPr>
        <p:blipFill>
          <a:blip r:embed="rId3" cstate="print"/>
          <a:srcRect/>
          <a:stretch>
            <a:fillRect/>
          </a:stretch>
        </p:blipFill>
        <p:spPr bwMode="auto">
          <a:xfrm>
            <a:off x="714375" y="1514475"/>
            <a:ext cx="7715250" cy="3829050"/>
          </a:xfrm>
          <a:prstGeom prst="rect">
            <a:avLst/>
          </a:prstGeom>
          <a:noFill/>
          <a:ln w="9525">
            <a:noFill/>
            <a:miter lim="800000"/>
            <a:headEnd/>
            <a:tailEnd/>
          </a:ln>
        </p:spPr>
      </p:pic>
      <p:sp>
        <p:nvSpPr>
          <p:cNvPr id="2" name="标题 1"/>
          <p:cNvSpPr>
            <a:spLocks noGrp="1"/>
          </p:cNvSpPr>
          <p:nvPr>
            <p:ph type="title"/>
          </p:nvPr>
        </p:nvSpPr>
        <p:spPr>
          <a:xfrm>
            <a:off x="1203450" y="620688"/>
            <a:ext cx="7545014" cy="638944"/>
          </a:xfrm>
        </p:spPr>
        <p:txBody>
          <a:bodyPr/>
          <a:lstStyle/>
          <a:p>
            <a:r>
              <a:rPr lang="en-US" altLang="zh-CN" dirty="0" smtClean="0"/>
              <a:t>4.3.2 </a:t>
            </a:r>
            <a:r>
              <a:rPr lang="zh-CN" altLang="en-US" dirty="0" smtClean="0"/>
              <a:t>优先编码器</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53</a:t>
            </a:fld>
            <a:endParaRPr lang="zh-CN" altLang="en-US"/>
          </a:p>
        </p:txBody>
      </p:sp>
      <p:graphicFrame>
        <p:nvGraphicFramePr>
          <p:cNvPr id="515074" name="Object 2"/>
          <p:cNvGraphicFramePr>
            <a:graphicFrameLocks noChangeAspect="1"/>
          </p:cNvGraphicFramePr>
          <p:nvPr/>
        </p:nvGraphicFramePr>
        <p:xfrm>
          <a:off x="1403648" y="2276872"/>
          <a:ext cx="6840760" cy="576064"/>
        </p:xfrm>
        <a:graphic>
          <a:graphicData uri="http://schemas.openxmlformats.org/presentationml/2006/ole">
            <p:oleObj spid="_x0000_s515074" r:id="rId4" imgW="3619440" imgH="304560" progId="">
              <p:embed/>
            </p:oleObj>
          </a:graphicData>
        </a:graphic>
      </p:graphicFrame>
    </p:spTree>
    <p:extLst>
      <p:ext uri="{BB962C8B-B14F-4D97-AF65-F5344CB8AC3E}">
        <p14:creationId xmlns:p14="http://schemas.microsoft.com/office/powerpoint/2010/main" xmlns="" val="236614677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0" y="620688"/>
            <a:ext cx="7545014" cy="638944"/>
          </a:xfrm>
        </p:spPr>
        <p:txBody>
          <a:bodyPr/>
          <a:lstStyle/>
          <a:p>
            <a:r>
              <a:rPr lang="en-US" altLang="zh-CN" dirty="0" smtClean="0"/>
              <a:t>4.3.2 </a:t>
            </a:r>
            <a:r>
              <a:rPr lang="zh-CN" altLang="en-US" dirty="0" smtClean="0"/>
              <a:t>优先编码器</a:t>
            </a:r>
            <a:endParaRPr lang="zh-CN" altLang="en-US" dirty="0"/>
          </a:p>
        </p:txBody>
      </p:sp>
      <p:sp>
        <p:nvSpPr>
          <p:cNvPr id="3" name="内容占位符 2"/>
          <p:cNvSpPr>
            <a:spLocks noGrp="1"/>
          </p:cNvSpPr>
          <p:nvPr>
            <p:ph idx="1"/>
          </p:nvPr>
        </p:nvSpPr>
        <p:spPr/>
        <p:txBody>
          <a:bodyPr/>
          <a:lstStyle/>
          <a:p>
            <a:pPr marL="0" indent="0">
              <a:buNone/>
            </a:pPr>
            <a:r>
              <a:rPr lang="zh-CN" altLang="en-US" dirty="0"/>
              <a:t>优先编码器门级电路设计</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54</a:t>
            </a:fld>
            <a:endParaRPr lang="zh-CN" altLang="en-US"/>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547664" y="2060848"/>
            <a:ext cx="6624736" cy="442117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50732213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0" y="692696"/>
            <a:ext cx="7617022" cy="566936"/>
          </a:xfrm>
        </p:spPr>
        <p:txBody>
          <a:bodyPr/>
          <a:lstStyle/>
          <a:p>
            <a:r>
              <a:rPr lang="en-US" altLang="zh-CN" dirty="0" smtClean="0"/>
              <a:t>4.3.2 </a:t>
            </a:r>
            <a:r>
              <a:rPr lang="zh-CN" altLang="en-US" dirty="0" smtClean="0"/>
              <a:t>优先编码器</a:t>
            </a:r>
            <a:endParaRPr lang="zh-CN" altLang="en-US" dirty="0"/>
          </a:p>
        </p:txBody>
      </p:sp>
      <p:sp>
        <p:nvSpPr>
          <p:cNvPr id="3" name="内容占位符 2"/>
          <p:cNvSpPr>
            <a:spLocks noGrp="1" noRot="1" noChangeAspect="1" noMove="1" noResize="1" noEditPoints="1" noAdjustHandles="1" noChangeArrowheads="1" noChangeShapeType="1" noTextEdit="1"/>
          </p:cNvSpPr>
          <p:nvPr>
            <p:ph idx="1"/>
          </p:nvPr>
        </p:nvSpPr>
        <p:spPr>
          <a:xfrm>
            <a:off x="793750" y="1542208"/>
            <a:ext cx="7234634" cy="4911128"/>
          </a:xfrm>
          <a:blipFill rotWithShape="1">
            <a:blip r:embed="rId2" cstate="print"/>
            <a:stretch>
              <a:fillRect l="-1264" t="-1489" r="-5560"/>
            </a:stretch>
          </a:blipFill>
        </p:spPr>
        <p:txBody>
          <a:bodyPr/>
          <a:lstStyle/>
          <a:p>
            <a:pPr>
              <a:buNone/>
            </a:pPr>
            <a:r>
              <a:rPr lang="zh-CN" altLang="en-US" dirty="0">
                <a:noFill/>
              </a:rPr>
              <a:t> </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55</a:t>
            </a:fld>
            <a:endParaRPr lang="zh-CN" altLang="en-US"/>
          </a:p>
        </p:txBody>
      </p:sp>
    </p:spTree>
    <p:extLst>
      <p:ext uri="{BB962C8B-B14F-4D97-AF65-F5344CB8AC3E}">
        <p14:creationId xmlns:p14="http://schemas.microsoft.com/office/powerpoint/2010/main" xmlns="" val="115587445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0" y="692696"/>
            <a:ext cx="7545014" cy="566936"/>
          </a:xfrm>
        </p:spPr>
        <p:txBody>
          <a:bodyPr/>
          <a:lstStyle/>
          <a:p>
            <a:r>
              <a:rPr lang="en-US" altLang="zh-CN" dirty="0" smtClean="0"/>
              <a:t>4.3.2 </a:t>
            </a:r>
            <a:r>
              <a:rPr lang="zh-CN" altLang="en-US" dirty="0" smtClean="0"/>
              <a:t>优先编码器</a:t>
            </a:r>
            <a:endParaRPr lang="zh-CN" altLang="en-US" dirty="0"/>
          </a:p>
        </p:txBody>
      </p:sp>
      <p:sp>
        <p:nvSpPr>
          <p:cNvPr id="3" name="内容占位符 2"/>
          <p:cNvSpPr>
            <a:spLocks noGrp="1"/>
          </p:cNvSpPr>
          <p:nvPr>
            <p:ph idx="1"/>
          </p:nvPr>
        </p:nvSpPr>
        <p:spPr>
          <a:xfrm>
            <a:off x="539552" y="1542208"/>
            <a:ext cx="8415536" cy="4911128"/>
          </a:xfrm>
        </p:spPr>
        <p:txBody>
          <a:bodyPr/>
          <a:lstStyle/>
          <a:p>
            <a:pPr marL="360000" indent="-360000">
              <a:buSzPct val="100000"/>
              <a:buFont typeface="Wingdings" pitchFamily="2" charset="2"/>
              <a:buChar char="p"/>
            </a:pPr>
            <a:r>
              <a:rPr lang="zh-CN" altLang="en-US" sz="2800" dirty="0" smtClean="0"/>
              <a:t> </a:t>
            </a:r>
            <a:r>
              <a:rPr lang="zh-CN" altLang="en-US" sz="2800" dirty="0" smtClean="0">
                <a:solidFill>
                  <a:srgbClr val="0000CC"/>
                </a:solidFill>
              </a:rPr>
              <a:t>例</a:t>
            </a:r>
            <a:r>
              <a:rPr lang="en-US" altLang="zh-CN" sz="2800" dirty="0" smtClean="0">
                <a:solidFill>
                  <a:srgbClr val="0000CC"/>
                </a:solidFill>
              </a:rPr>
              <a:t>4.5</a:t>
            </a:r>
            <a:r>
              <a:rPr lang="en-US" altLang="zh-CN" sz="2800" dirty="0" smtClean="0"/>
              <a:t> 8</a:t>
            </a:r>
            <a:r>
              <a:rPr lang="zh-CN" altLang="en-US" sz="2800" dirty="0" smtClean="0"/>
              <a:t>线</a:t>
            </a:r>
            <a:r>
              <a:rPr lang="en-US" altLang="zh-CN" sz="2800" dirty="0" smtClean="0"/>
              <a:t>-3</a:t>
            </a:r>
            <a:r>
              <a:rPr lang="zh-CN" altLang="en-US" sz="2800" dirty="0" smtClean="0"/>
              <a:t>线优先编码器</a:t>
            </a:r>
            <a:r>
              <a:rPr lang="en-US" altLang="zh-CN" sz="2800" dirty="0" smtClean="0"/>
              <a:t>74148</a:t>
            </a:r>
            <a:r>
              <a:rPr lang="zh-CN" altLang="en-US" sz="2800" dirty="0" smtClean="0"/>
              <a:t>电路连接如题图</a:t>
            </a:r>
            <a:r>
              <a:rPr lang="en-US" altLang="zh-CN" sz="2800" dirty="0" smtClean="0"/>
              <a:t>4.14</a:t>
            </a:r>
            <a:r>
              <a:rPr lang="zh-CN" altLang="en-US" sz="2800" dirty="0" smtClean="0"/>
              <a:t>所示，请问输出</a:t>
            </a:r>
            <a:r>
              <a:rPr lang="en-US" altLang="zh-CN" sz="2800" dirty="0" smtClean="0"/>
              <a:t>W</a:t>
            </a:r>
            <a:r>
              <a:rPr lang="zh-CN" altLang="en-US" sz="2800" dirty="0" smtClean="0"/>
              <a:t>、</a:t>
            </a:r>
            <a:r>
              <a:rPr lang="en-US" altLang="zh-CN" sz="2800" dirty="0" smtClean="0"/>
              <a:t>Z</a:t>
            </a:r>
            <a:r>
              <a:rPr lang="zh-CN" altLang="en-US" sz="2800" dirty="0" smtClean="0"/>
              <a:t>、</a:t>
            </a:r>
            <a:r>
              <a:rPr lang="en-US" altLang="zh-CN" sz="2800" dirty="0" smtClean="0"/>
              <a:t>B</a:t>
            </a:r>
            <a:r>
              <a:rPr lang="en-US" altLang="zh-CN" sz="2800" baseline="-25000" dirty="0" smtClean="0"/>
              <a:t>2</a:t>
            </a:r>
            <a:r>
              <a:rPr lang="zh-CN" altLang="en-US" sz="2800" dirty="0" smtClean="0"/>
              <a:t>、</a:t>
            </a:r>
            <a:r>
              <a:rPr lang="en-US" altLang="zh-CN" sz="2800" dirty="0" smtClean="0"/>
              <a:t>B</a:t>
            </a:r>
            <a:r>
              <a:rPr lang="en-US" altLang="zh-CN" sz="2800" baseline="-25000" dirty="0" smtClean="0"/>
              <a:t>1</a:t>
            </a:r>
            <a:r>
              <a:rPr lang="zh-CN" altLang="en-US" sz="2800" dirty="0" smtClean="0"/>
              <a:t>、</a:t>
            </a:r>
            <a:r>
              <a:rPr lang="en-US" altLang="zh-CN" sz="2800" dirty="0" smtClean="0"/>
              <a:t>B</a:t>
            </a:r>
            <a:r>
              <a:rPr lang="en-US" altLang="zh-CN" sz="2800" baseline="-25000" dirty="0" smtClean="0"/>
              <a:t>0</a:t>
            </a:r>
            <a:r>
              <a:rPr lang="zh-CN" altLang="en-US" sz="2800" dirty="0" smtClean="0"/>
              <a:t>的状态是高电平还是低电平？</a:t>
            </a:r>
            <a:endParaRPr lang="en-US" altLang="zh-CN" sz="2800" dirty="0" smtClean="0"/>
          </a:p>
          <a:p>
            <a:pPr marL="360000" indent="-360000">
              <a:buSzPct val="100000"/>
              <a:buFont typeface="Wingdings" pitchFamily="2" charset="2"/>
              <a:buChar char="p"/>
            </a:pPr>
            <a:r>
              <a:rPr lang="en-US" altLang="zh-CN" sz="2800" dirty="0" smtClean="0"/>
              <a:t> </a:t>
            </a:r>
            <a:r>
              <a:rPr lang="zh-CN" altLang="en-US" sz="2800" dirty="0" smtClean="0">
                <a:solidFill>
                  <a:srgbClr val="0000CC"/>
                </a:solidFill>
              </a:rPr>
              <a:t>解</a:t>
            </a:r>
            <a:r>
              <a:rPr lang="zh-CN" altLang="en-US" sz="2800" dirty="0" smtClean="0"/>
              <a:t>：由</a:t>
            </a:r>
            <a:r>
              <a:rPr lang="en-US" altLang="zh-CN" sz="2800" dirty="0" smtClean="0"/>
              <a:t>74148</a:t>
            </a:r>
            <a:r>
              <a:rPr lang="zh-CN" altLang="en-US" sz="2800" dirty="0" smtClean="0"/>
              <a:t>功能表可知</a:t>
            </a:r>
            <a:endParaRPr lang="en-US" altLang="zh-CN" sz="2800" dirty="0" smtClean="0"/>
          </a:p>
          <a:p>
            <a:pPr marL="360000" indent="-360000">
              <a:buSzPct val="100000"/>
              <a:buNone/>
            </a:pPr>
            <a:r>
              <a:rPr lang="en-US" altLang="zh-CN" sz="2800" dirty="0" smtClean="0"/>
              <a:t>           W= 0</a:t>
            </a:r>
          </a:p>
          <a:p>
            <a:pPr marL="360000" indent="-360000">
              <a:buSzPct val="100000"/>
              <a:buNone/>
            </a:pPr>
            <a:r>
              <a:rPr lang="en-US" altLang="zh-CN" sz="2800" dirty="0" smtClean="0"/>
              <a:t>           Z = 1</a:t>
            </a:r>
          </a:p>
          <a:p>
            <a:pPr marL="360000" indent="-360000">
              <a:buSzPct val="100000"/>
              <a:buNone/>
            </a:pPr>
            <a:r>
              <a:rPr lang="en-US" altLang="zh-CN" sz="2800" dirty="0" smtClean="0"/>
              <a:t>           B</a:t>
            </a:r>
            <a:r>
              <a:rPr lang="en-US" altLang="zh-CN" sz="2800" baseline="-25000" dirty="0" smtClean="0"/>
              <a:t>2</a:t>
            </a:r>
            <a:r>
              <a:rPr lang="en-US" altLang="zh-CN" sz="2800" dirty="0" smtClean="0"/>
              <a:t>B</a:t>
            </a:r>
            <a:r>
              <a:rPr lang="en-US" altLang="zh-CN" sz="2800" baseline="-25000" dirty="0" smtClean="0"/>
              <a:t>1</a:t>
            </a:r>
            <a:r>
              <a:rPr lang="en-US" altLang="zh-CN" sz="2800" dirty="0" smtClean="0"/>
              <a:t>B</a:t>
            </a:r>
            <a:r>
              <a:rPr lang="en-US" altLang="zh-CN" sz="2800" baseline="-25000" dirty="0" smtClean="0"/>
              <a:t>0</a:t>
            </a:r>
            <a:r>
              <a:rPr lang="en-US" altLang="zh-CN" sz="2800" dirty="0" smtClean="0"/>
              <a:t> = 001</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56</a:t>
            </a:fld>
            <a:endParaRPr lang="zh-CN" altLang="en-US"/>
          </a:p>
        </p:txBody>
      </p:sp>
      <p:pic>
        <p:nvPicPr>
          <p:cNvPr id="490498" name="Picture 2"/>
          <p:cNvPicPr>
            <a:picLocks noChangeAspect="1" noChangeArrowheads="1"/>
          </p:cNvPicPr>
          <p:nvPr/>
        </p:nvPicPr>
        <p:blipFill>
          <a:blip r:embed="rId2" cstate="print"/>
          <a:srcRect/>
          <a:stretch>
            <a:fillRect/>
          </a:stretch>
        </p:blipFill>
        <p:spPr bwMode="auto">
          <a:xfrm>
            <a:off x="5364088" y="2492896"/>
            <a:ext cx="2992914" cy="3888432"/>
          </a:xfrm>
          <a:prstGeom prst="rect">
            <a:avLst/>
          </a:prstGeom>
          <a:noFill/>
          <a:ln w="9525">
            <a:noFill/>
            <a:miter lim="800000"/>
            <a:headEnd/>
            <a:tailEnd/>
          </a:ln>
        </p:spPr>
      </p:pic>
    </p:spTree>
    <p:extLst>
      <p:ext uri="{BB962C8B-B14F-4D97-AF65-F5344CB8AC3E}">
        <p14:creationId xmlns:p14="http://schemas.microsoft.com/office/powerpoint/2010/main" xmlns="" val="24232645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0" y="692696"/>
            <a:ext cx="7617022" cy="566936"/>
          </a:xfrm>
        </p:spPr>
        <p:txBody>
          <a:bodyPr/>
          <a:lstStyle/>
          <a:p>
            <a:r>
              <a:rPr lang="en-US" altLang="zh-CN" dirty="0" smtClean="0"/>
              <a:t>4.3.2 </a:t>
            </a:r>
            <a:r>
              <a:rPr lang="zh-CN" altLang="en-US" dirty="0" smtClean="0"/>
              <a:t>优先编码器</a:t>
            </a:r>
            <a:endParaRPr lang="zh-CN" altLang="en-US" dirty="0"/>
          </a:p>
        </p:txBody>
      </p:sp>
      <p:sp>
        <p:nvSpPr>
          <p:cNvPr id="3" name="内容占位符 2"/>
          <p:cNvSpPr>
            <a:spLocks noGrp="1"/>
          </p:cNvSpPr>
          <p:nvPr>
            <p:ph idx="1"/>
          </p:nvPr>
        </p:nvSpPr>
        <p:spPr/>
        <p:txBody>
          <a:bodyPr/>
          <a:lstStyle/>
          <a:p>
            <a:pPr>
              <a:buSzPct val="100000"/>
              <a:buFont typeface="Wingdings" pitchFamily="2" charset="2"/>
              <a:buChar char="p"/>
            </a:pPr>
            <a:r>
              <a:rPr lang="zh-CN" altLang="en-US" sz="2800" dirty="0" smtClean="0"/>
              <a:t>优先编码器</a:t>
            </a:r>
            <a:r>
              <a:rPr lang="en-US" altLang="zh-CN" sz="2800" dirty="0"/>
              <a:t>Verilog-HDL</a:t>
            </a:r>
            <a:r>
              <a:rPr lang="zh-CN" altLang="en-US" sz="2800" dirty="0"/>
              <a:t>设计</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57</a:t>
            </a:fld>
            <a:endParaRPr lang="zh-CN" altLang="en-US"/>
          </a:p>
        </p:txBody>
      </p:sp>
      <p:sp>
        <p:nvSpPr>
          <p:cNvPr id="5" name="矩形 4"/>
          <p:cNvSpPr/>
          <p:nvPr/>
        </p:nvSpPr>
        <p:spPr>
          <a:xfrm>
            <a:off x="827584" y="1225689"/>
            <a:ext cx="6654247" cy="5632311"/>
          </a:xfrm>
          <a:prstGeom prst="rect">
            <a:avLst/>
          </a:prstGeom>
          <a:solidFill>
            <a:schemeClr val="bg1"/>
          </a:solidFill>
        </p:spPr>
        <p:txBody>
          <a:bodyPr wrap="square">
            <a:spAutoFit/>
          </a:bodyPr>
          <a:lstStyle/>
          <a:p>
            <a:r>
              <a:rPr lang="en-US" altLang="zh-CN" dirty="0"/>
              <a:t>//8</a:t>
            </a:r>
            <a:r>
              <a:rPr lang="zh-CN" altLang="en-US" dirty="0"/>
              <a:t>线</a:t>
            </a:r>
            <a:r>
              <a:rPr lang="en-US" altLang="zh-CN" dirty="0"/>
              <a:t>-3 </a:t>
            </a:r>
            <a:r>
              <a:rPr lang="zh-CN" altLang="en-US" dirty="0"/>
              <a:t>线优先编码器设计</a:t>
            </a:r>
          </a:p>
          <a:p>
            <a:r>
              <a:rPr lang="en-US" altLang="zh-CN" b="1" dirty="0"/>
              <a:t>module </a:t>
            </a:r>
            <a:r>
              <a:rPr lang="en-US" altLang="zh-CN" b="1" dirty="0" smtClean="0"/>
              <a:t>encode8_3pri (</a:t>
            </a:r>
            <a:r>
              <a:rPr lang="en-US" altLang="zh-CN" b="1" dirty="0" err="1" smtClean="0"/>
              <a:t>none_on,outcode,a,b,c,d,e,f,g,h</a:t>
            </a:r>
            <a:r>
              <a:rPr lang="en-US" altLang="zh-CN" b="1" dirty="0"/>
              <a:t>);</a:t>
            </a:r>
          </a:p>
          <a:p>
            <a:r>
              <a:rPr lang="en-US" altLang="zh-CN" b="1" dirty="0">
                <a:solidFill>
                  <a:srgbClr val="0000CC"/>
                </a:solidFill>
              </a:rPr>
              <a:t>output </a:t>
            </a:r>
            <a:r>
              <a:rPr lang="en-US" altLang="zh-CN" b="1" dirty="0" err="1">
                <a:solidFill>
                  <a:srgbClr val="0000CC"/>
                </a:solidFill>
              </a:rPr>
              <a:t>none_on</a:t>
            </a:r>
            <a:r>
              <a:rPr lang="en-US" altLang="zh-CN" b="1" dirty="0" smtClean="0">
                <a:solidFill>
                  <a:srgbClr val="0000CC"/>
                </a:solidFill>
              </a:rPr>
              <a:t>;</a:t>
            </a:r>
            <a:endParaRPr lang="en-US" altLang="zh-CN" b="1" dirty="0">
              <a:solidFill>
                <a:srgbClr val="0000CC"/>
              </a:solidFill>
            </a:endParaRPr>
          </a:p>
          <a:p>
            <a:r>
              <a:rPr lang="en-US" altLang="zh-CN" b="1" dirty="0">
                <a:solidFill>
                  <a:srgbClr val="0000CC"/>
                </a:solidFill>
              </a:rPr>
              <a:t>output[2:0] </a:t>
            </a:r>
            <a:r>
              <a:rPr lang="en-US" altLang="zh-CN" b="1" dirty="0" err="1">
                <a:solidFill>
                  <a:srgbClr val="0000CC"/>
                </a:solidFill>
              </a:rPr>
              <a:t>outcode</a:t>
            </a:r>
            <a:r>
              <a:rPr lang="en-US" altLang="zh-CN" b="1" dirty="0">
                <a:solidFill>
                  <a:srgbClr val="0000CC"/>
                </a:solidFill>
              </a:rPr>
              <a:t>;</a:t>
            </a:r>
          </a:p>
          <a:p>
            <a:r>
              <a:rPr lang="en-US" altLang="zh-CN" b="1" dirty="0">
                <a:solidFill>
                  <a:srgbClr val="0000CC"/>
                </a:solidFill>
              </a:rPr>
              <a:t>input </a:t>
            </a:r>
            <a:r>
              <a:rPr lang="en-US" altLang="zh-CN" b="1" dirty="0" err="1">
                <a:solidFill>
                  <a:srgbClr val="0000CC"/>
                </a:solidFill>
              </a:rPr>
              <a:t>a,b,c,d,e,f,g,h</a:t>
            </a:r>
            <a:r>
              <a:rPr lang="en-US" altLang="zh-CN" b="1" dirty="0">
                <a:solidFill>
                  <a:srgbClr val="0000CC"/>
                </a:solidFill>
              </a:rPr>
              <a:t>;</a:t>
            </a:r>
          </a:p>
          <a:p>
            <a:r>
              <a:rPr lang="en-US" altLang="zh-CN" b="1" dirty="0" err="1">
                <a:solidFill>
                  <a:srgbClr val="0000CC"/>
                </a:solidFill>
              </a:rPr>
              <a:t>reg</a:t>
            </a:r>
            <a:r>
              <a:rPr lang="en-US" altLang="zh-CN" b="1" dirty="0">
                <a:solidFill>
                  <a:srgbClr val="0000CC"/>
                </a:solidFill>
              </a:rPr>
              <a:t>[3:0] </a:t>
            </a:r>
            <a:r>
              <a:rPr lang="en-US" altLang="zh-CN" b="1" dirty="0" err="1">
                <a:solidFill>
                  <a:srgbClr val="0000CC"/>
                </a:solidFill>
              </a:rPr>
              <a:t>outtemp</a:t>
            </a:r>
            <a:r>
              <a:rPr lang="en-US" altLang="zh-CN" b="1" dirty="0"/>
              <a:t>;</a:t>
            </a:r>
          </a:p>
          <a:p>
            <a:r>
              <a:rPr lang="en-US" altLang="zh-CN" b="1" dirty="0"/>
              <a:t>assign {</a:t>
            </a:r>
            <a:r>
              <a:rPr lang="en-US" altLang="zh-CN" b="1" dirty="0" err="1"/>
              <a:t>none_on,outcode</a:t>
            </a:r>
            <a:r>
              <a:rPr lang="en-US" altLang="zh-CN" b="1" dirty="0"/>
              <a:t>}=</a:t>
            </a:r>
            <a:r>
              <a:rPr lang="en-US" altLang="zh-CN" b="1" dirty="0" err="1"/>
              <a:t>outtemp</a:t>
            </a:r>
            <a:r>
              <a:rPr lang="en-US" altLang="zh-CN" b="1" dirty="0"/>
              <a:t>;</a:t>
            </a:r>
          </a:p>
          <a:p>
            <a:r>
              <a:rPr lang="en-US" altLang="zh-CN" b="1" dirty="0">
                <a:solidFill>
                  <a:srgbClr val="0000CC"/>
                </a:solidFill>
              </a:rPr>
              <a:t>always @(a or b or c or d or </a:t>
            </a:r>
            <a:r>
              <a:rPr lang="en-US" altLang="zh-CN" b="1" dirty="0" smtClean="0">
                <a:solidFill>
                  <a:srgbClr val="0000CC"/>
                </a:solidFill>
              </a:rPr>
              <a:t>e or </a:t>
            </a:r>
            <a:r>
              <a:rPr lang="en-US" altLang="zh-CN" b="1" dirty="0">
                <a:solidFill>
                  <a:srgbClr val="0000CC"/>
                </a:solidFill>
              </a:rPr>
              <a:t>f or g or h)</a:t>
            </a:r>
          </a:p>
          <a:p>
            <a:r>
              <a:rPr lang="en-US" altLang="zh-CN" b="1" dirty="0"/>
              <a:t>begin</a:t>
            </a:r>
          </a:p>
          <a:p>
            <a:r>
              <a:rPr lang="en-US" altLang="zh-CN" b="1" dirty="0">
                <a:solidFill>
                  <a:srgbClr val="008000"/>
                </a:solidFill>
              </a:rPr>
              <a:t>if(h) </a:t>
            </a:r>
            <a:r>
              <a:rPr lang="en-US" altLang="zh-CN" b="1" dirty="0" err="1">
                <a:solidFill>
                  <a:srgbClr val="008000"/>
                </a:solidFill>
              </a:rPr>
              <a:t>outtemp</a:t>
            </a:r>
            <a:r>
              <a:rPr lang="en-US" altLang="zh-CN" b="1" dirty="0">
                <a:solidFill>
                  <a:srgbClr val="008000"/>
                </a:solidFill>
              </a:rPr>
              <a:t>=4'b0111;</a:t>
            </a:r>
          </a:p>
          <a:p>
            <a:r>
              <a:rPr lang="en-US" altLang="zh-CN" b="1" dirty="0" err="1">
                <a:solidFill>
                  <a:srgbClr val="008000"/>
                </a:solidFill>
              </a:rPr>
              <a:t>esle</a:t>
            </a:r>
            <a:r>
              <a:rPr lang="en-US" altLang="zh-CN" b="1" dirty="0">
                <a:solidFill>
                  <a:srgbClr val="008000"/>
                </a:solidFill>
              </a:rPr>
              <a:t> if(g) </a:t>
            </a:r>
            <a:r>
              <a:rPr lang="en-US" altLang="zh-CN" b="1" dirty="0" err="1">
                <a:solidFill>
                  <a:srgbClr val="008000"/>
                </a:solidFill>
              </a:rPr>
              <a:t>outtemp</a:t>
            </a:r>
            <a:r>
              <a:rPr lang="en-US" altLang="zh-CN" b="1" dirty="0">
                <a:solidFill>
                  <a:srgbClr val="008000"/>
                </a:solidFill>
              </a:rPr>
              <a:t>=4'b0110;</a:t>
            </a:r>
          </a:p>
          <a:p>
            <a:r>
              <a:rPr lang="en-US" altLang="zh-CN" b="1" dirty="0" err="1">
                <a:solidFill>
                  <a:srgbClr val="008000"/>
                </a:solidFill>
              </a:rPr>
              <a:t>esle</a:t>
            </a:r>
            <a:r>
              <a:rPr lang="en-US" altLang="zh-CN" b="1" dirty="0">
                <a:solidFill>
                  <a:srgbClr val="008000"/>
                </a:solidFill>
              </a:rPr>
              <a:t> if(f) </a:t>
            </a:r>
            <a:r>
              <a:rPr lang="en-US" altLang="zh-CN" b="1" dirty="0" err="1">
                <a:solidFill>
                  <a:srgbClr val="008000"/>
                </a:solidFill>
              </a:rPr>
              <a:t>outtemp</a:t>
            </a:r>
            <a:r>
              <a:rPr lang="en-US" altLang="zh-CN" b="1" dirty="0">
                <a:solidFill>
                  <a:srgbClr val="008000"/>
                </a:solidFill>
              </a:rPr>
              <a:t>=4'b0101;</a:t>
            </a:r>
          </a:p>
          <a:p>
            <a:r>
              <a:rPr lang="en-US" altLang="zh-CN" b="1" dirty="0" err="1">
                <a:solidFill>
                  <a:srgbClr val="008000"/>
                </a:solidFill>
              </a:rPr>
              <a:t>esle</a:t>
            </a:r>
            <a:r>
              <a:rPr lang="en-US" altLang="zh-CN" b="1" dirty="0">
                <a:solidFill>
                  <a:srgbClr val="008000"/>
                </a:solidFill>
              </a:rPr>
              <a:t> if(e) </a:t>
            </a:r>
            <a:r>
              <a:rPr lang="en-US" altLang="zh-CN" b="1" dirty="0" err="1">
                <a:solidFill>
                  <a:srgbClr val="008000"/>
                </a:solidFill>
              </a:rPr>
              <a:t>outtemp</a:t>
            </a:r>
            <a:r>
              <a:rPr lang="en-US" altLang="zh-CN" b="1" dirty="0">
                <a:solidFill>
                  <a:srgbClr val="008000"/>
                </a:solidFill>
              </a:rPr>
              <a:t>=4'b0100;</a:t>
            </a:r>
          </a:p>
          <a:p>
            <a:r>
              <a:rPr lang="en-US" altLang="zh-CN" b="1" dirty="0" err="1">
                <a:solidFill>
                  <a:srgbClr val="008000"/>
                </a:solidFill>
              </a:rPr>
              <a:t>esle</a:t>
            </a:r>
            <a:r>
              <a:rPr lang="en-US" altLang="zh-CN" b="1" dirty="0">
                <a:solidFill>
                  <a:srgbClr val="008000"/>
                </a:solidFill>
              </a:rPr>
              <a:t> if(d) </a:t>
            </a:r>
            <a:r>
              <a:rPr lang="en-US" altLang="zh-CN" b="1" dirty="0" err="1">
                <a:solidFill>
                  <a:srgbClr val="008000"/>
                </a:solidFill>
              </a:rPr>
              <a:t>outtemp</a:t>
            </a:r>
            <a:r>
              <a:rPr lang="en-US" altLang="zh-CN" b="1" dirty="0">
                <a:solidFill>
                  <a:srgbClr val="008000"/>
                </a:solidFill>
              </a:rPr>
              <a:t>=4'b0011;</a:t>
            </a:r>
          </a:p>
          <a:p>
            <a:r>
              <a:rPr lang="en-US" altLang="zh-CN" b="1" dirty="0" err="1">
                <a:solidFill>
                  <a:srgbClr val="008000"/>
                </a:solidFill>
              </a:rPr>
              <a:t>esle</a:t>
            </a:r>
            <a:r>
              <a:rPr lang="en-US" altLang="zh-CN" b="1" dirty="0">
                <a:solidFill>
                  <a:srgbClr val="008000"/>
                </a:solidFill>
              </a:rPr>
              <a:t> if(c) </a:t>
            </a:r>
            <a:r>
              <a:rPr lang="en-US" altLang="zh-CN" b="1" dirty="0" err="1">
                <a:solidFill>
                  <a:srgbClr val="008000"/>
                </a:solidFill>
              </a:rPr>
              <a:t>outtemp</a:t>
            </a:r>
            <a:r>
              <a:rPr lang="en-US" altLang="zh-CN" b="1" dirty="0">
                <a:solidFill>
                  <a:srgbClr val="008000"/>
                </a:solidFill>
              </a:rPr>
              <a:t>=4'b0010;</a:t>
            </a:r>
          </a:p>
          <a:p>
            <a:r>
              <a:rPr lang="en-US" altLang="zh-CN" b="1" dirty="0" err="1">
                <a:solidFill>
                  <a:srgbClr val="008000"/>
                </a:solidFill>
              </a:rPr>
              <a:t>esle</a:t>
            </a:r>
            <a:r>
              <a:rPr lang="en-US" altLang="zh-CN" b="1" dirty="0">
                <a:solidFill>
                  <a:srgbClr val="008000"/>
                </a:solidFill>
              </a:rPr>
              <a:t> if(b) </a:t>
            </a:r>
            <a:r>
              <a:rPr lang="en-US" altLang="zh-CN" b="1" dirty="0" err="1">
                <a:solidFill>
                  <a:srgbClr val="008000"/>
                </a:solidFill>
              </a:rPr>
              <a:t>outtemp</a:t>
            </a:r>
            <a:r>
              <a:rPr lang="en-US" altLang="zh-CN" b="1" dirty="0">
                <a:solidFill>
                  <a:srgbClr val="008000"/>
                </a:solidFill>
              </a:rPr>
              <a:t>=4'b0001;</a:t>
            </a:r>
          </a:p>
          <a:p>
            <a:r>
              <a:rPr lang="en-US" altLang="zh-CN" b="1" dirty="0" err="1">
                <a:solidFill>
                  <a:srgbClr val="008000"/>
                </a:solidFill>
              </a:rPr>
              <a:t>esle</a:t>
            </a:r>
            <a:r>
              <a:rPr lang="en-US" altLang="zh-CN" b="1" dirty="0">
                <a:solidFill>
                  <a:srgbClr val="008000"/>
                </a:solidFill>
              </a:rPr>
              <a:t> if(a) </a:t>
            </a:r>
            <a:r>
              <a:rPr lang="en-US" altLang="zh-CN" b="1" dirty="0" err="1">
                <a:solidFill>
                  <a:srgbClr val="008000"/>
                </a:solidFill>
              </a:rPr>
              <a:t>outtemp</a:t>
            </a:r>
            <a:r>
              <a:rPr lang="en-US" altLang="zh-CN" b="1" dirty="0">
                <a:solidFill>
                  <a:srgbClr val="008000"/>
                </a:solidFill>
              </a:rPr>
              <a:t>=4'b0000;</a:t>
            </a:r>
          </a:p>
          <a:p>
            <a:r>
              <a:rPr lang="en-US" altLang="zh-CN" b="1" dirty="0" err="1">
                <a:solidFill>
                  <a:srgbClr val="008000"/>
                </a:solidFill>
              </a:rPr>
              <a:t>esle</a:t>
            </a:r>
            <a:r>
              <a:rPr lang="en-US" altLang="zh-CN" b="1" dirty="0">
                <a:solidFill>
                  <a:srgbClr val="008000"/>
                </a:solidFill>
              </a:rPr>
              <a:t> </a:t>
            </a:r>
            <a:r>
              <a:rPr lang="en-US" altLang="zh-CN" b="1" dirty="0" err="1">
                <a:solidFill>
                  <a:srgbClr val="008000"/>
                </a:solidFill>
              </a:rPr>
              <a:t>outtemp</a:t>
            </a:r>
            <a:r>
              <a:rPr lang="en-US" altLang="zh-CN" b="1" dirty="0">
                <a:solidFill>
                  <a:srgbClr val="008000"/>
                </a:solidFill>
              </a:rPr>
              <a:t>=4'b1000;</a:t>
            </a:r>
          </a:p>
          <a:p>
            <a:r>
              <a:rPr lang="en-US" altLang="zh-CN" b="1" dirty="0"/>
              <a:t>end</a:t>
            </a:r>
          </a:p>
          <a:p>
            <a:r>
              <a:rPr lang="en-US" altLang="zh-CN" b="1" dirty="0" err="1"/>
              <a:t>endmodule</a:t>
            </a:r>
            <a:endParaRPr lang="en-US" altLang="zh-CN" dirty="0"/>
          </a:p>
        </p:txBody>
      </p:sp>
    </p:spTree>
    <p:extLst>
      <p:ext uri="{BB962C8B-B14F-4D97-AF65-F5344CB8AC3E}">
        <p14:creationId xmlns:p14="http://schemas.microsoft.com/office/powerpoint/2010/main" xmlns="" val="3081812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1203450" y="692696"/>
            <a:ext cx="7793037" cy="566936"/>
          </a:xfrm>
        </p:spPr>
        <p:txBody>
          <a:bodyPr/>
          <a:lstStyle/>
          <a:p>
            <a:r>
              <a:rPr lang="zh-CN" altLang="en-US" dirty="0" smtClean="0"/>
              <a:t>编码器</a:t>
            </a:r>
            <a:r>
              <a:rPr lang="en-US" altLang="zh-CN" dirty="0" smtClean="0"/>
              <a:t>----</a:t>
            </a:r>
            <a:r>
              <a:rPr lang="zh-CN" altLang="en-US" dirty="0" smtClean="0"/>
              <a:t>集成二</a:t>
            </a:r>
            <a:r>
              <a:rPr lang="en-US" altLang="zh-CN" dirty="0"/>
              <a:t>-</a:t>
            </a:r>
            <a:r>
              <a:rPr lang="zh-CN" altLang="en-US" dirty="0"/>
              <a:t>十进制</a:t>
            </a:r>
            <a:r>
              <a:rPr lang="zh-CN" altLang="en-US" dirty="0" smtClean="0"/>
              <a:t>编码器</a:t>
            </a:r>
            <a:endParaRPr lang="zh-CN" altLang="en-US" dirty="0"/>
          </a:p>
        </p:txBody>
      </p:sp>
      <p:sp>
        <p:nvSpPr>
          <p:cNvPr id="7" name="内容占位符 6"/>
          <p:cNvSpPr>
            <a:spLocks noGrp="1"/>
          </p:cNvSpPr>
          <p:nvPr>
            <p:ph idx="1"/>
          </p:nvPr>
        </p:nvSpPr>
        <p:spPr>
          <a:xfrm>
            <a:off x="539552" y="1556792"/>
            <a:ext cx="8161338" cy="4911128"/>
          </a:xfrm>
        </p:spPr>
        <p:txBody>
          <a:bodyPr/>
          <a:lstStyle/>
          <a:p>
            <a:pPr>
              <a:buSzPct val="100000"/>
              <a:buFont typeface="Wingdings" pitchFamily="2" charset="2"/>
              <a:buChar char="p"/>
            </a:pPr>
            <a:r>
              <a:rPr lang="zh-CN" altLang="en-US" sz="2800" dirty="0" smtClean="0"/>
              <a:t>二</a:t>
            </a:r>
            <a:r>
              <a:rPr lang="en-US" altLang="zh-CN" sz="2800" dirty="0" smtClean="0"/>
              <a:t>-</a:t>
            </a:r>
            <a:r>
              <a:rPr lang="zh-CN" altLang="en-US" sz="2800" dirty="0"/>
              <a:t>十进制编码器也有</a:t>
            </a:r>
            <a:r>
              <a:rPr lang="zh-CN" altLang="en-US" sz="2800" dirty="0">
                <a:solidFill>
                  <a:srgbClr val="0000CC"/>
                </a:solidFill>
              </a:rPr>
              <a:t>普通</a:t>
            </a:r>
            <a:r>
              <a:rPr lang="zh-CN" altLang="en-US" sz="2800" dirty="0" smtClean="0">
                <a:solidFill>
                  <a:srgbClr val="0000CC"/>
                </a:solidFill>
              </a:rPr>
              <a:t>编码器</a:t>
            </a:r>
            <a:r>
              <a:rPr lang="zh-CN" altLang="en-US" sz="2800" dirty="0"/>
              <a:t>和</a:t>
            </a:r>
            <a:r>
              <a:rPr lang="zh-CN" altLang="en-US" sz="2800" dirty="0">
                <a:solidFill>
                  <a:srgbClr val="0000CC"/>
                </a:solidFill>
              </a:rPr>
              <a:t>优先编码器</a:t>
            </a:r>
            <a:r>
              <a:rPr lang="zh-CN" altLang="en-US" sz="2800" dirty="0"/>
              <a:t>之分。</a:t>
            </a:r>
          </a:p>
          <a:p>
            <a:pPr>
              <a:buSzPct val="100000"/>
              <a:buFont typeface="Wingdings" pitchFamily="2" charset="2"/>
              <a:buChar char="p"/>
            </a:pPr>
            <a:r>
              <a:rPr lang="zh-CN" altLang="en-US" sz="2800" dirty="0">
                <a:solidFill>
                  <a:srgbClr val="FF0000"/>
                </a:solidFill>
              </a:rPr>
              <a:t>二</a:t>
            </a:r>
            <a:r>
              <a:rPr lang="en-US" altLang="zh-CN" sz="2800" dirty="0">
                <a:solidFill>
                  <a:srgbClr val="FF0000"/>
                </a:solidFill>
              </a:rPr>
              <a:t>-</a:t>
            </a:r>
            <a:r>
              <a:rPr lang="zh-CN" altLang="en-US" sz="2800" dirty="0">
                <a:solidFill>
                  <a:srgbClr val="FF0000"/>
                </a:solidFill>
              </a:rPr>
              <a:t>十进制</a:t>
            </a:r>
            <a:r>
              <a:rPr lang="zh-CN" altLang="en-US" sz="2800" dirty="0" smtClean="0">
                <a:solidFill>
                  <a:srgbClr val="FF0000"/>
                </a:solidFill>
              </a:rPr>
              <a:t>编码器</a:t>
            </a:r>
            <a:endParaRPr lang="en-US" altLang="zh-CN" sz="2800" dirty="0" smtClean="0">
              <a:solidFill>
                <a:srgbClr val="FF0000"/>
              </a:solidFill>
            </a:endParaRPr>
          </a:p>
          <a:p>
            <a:pPr lvl="1">
              <a:buSzPct val="100000"/>
            </a:pPr>
            <a:r>
              <a:rPr lang="zh-CN" altLang="en-US" sz="2400" dirty="0" smtClean="0"/>
              <a:t>是</a:t>
            </a:r>
            <a:r>
              <a:rPr lang="zh-CN" altLang="en-US" sz="2400" dirty="0">
                <a:solidFill>
                  <a:srgbClr val="0000CC"/>
                </a:solidFill>
              </a:rPr>
              <a:t>把十进制的</a:t>
            </a:r>
            <a:r>
              <a:rPr lang="en-US" altLang="zh-CN" sz="2400" dirty="0">
                <a:solidFill>
                  <a:srgbClr val="0000CC"/>
                </a:solidFill>
              </a:rPr>
              <a:t>10</a:t>
            </a:r>
            <a:r>
              <a:rPr lang="zh-CN" altLang="en-US" sz="2400" dirty="0">
                <a:solidFill>
                  <a:srgbClr val="0000CC"/>
                </a:solidFill>
              </a:rPr>
              <a:t>个状态编成</a:t>
            </a:r>
            <a:r>
              <a:rPr lang="en-US" altLang="zh-CN" sz="2400" dirty="0">
                <a:solidFill>
                  <a:srgbClr val="0000CC"/>
                </a:solidFill>
              </a:rPr>
              <a:t>10</a:t>
            </a:r>
            <a:r>
              <a:rPr lang="zh-CN" altLang="en-US" sz="2400" dirty="0" smtClean="0">
                <a:solidFill>
                  <a:srgbClr val="0000CC"/>
                </a:solidFill>
              </a:rPr>
              <a:t>个</a:t>
            </a:r>
            <a:r>
              <a:rPr lang="en-US" altLang="zh-CN" sz="2400" dirty="0" smtClean="0">
                <a:solidFill>
                  <a:srgbClr val="0000CC"/>
                </a:solidFill>
              </a:rPr>
              <a:t>BCD</a:t>
            </a:r>
            <a:r>
              <a:rPr lang="zh-CN" altLang="en-US" sz="2400" dirty="0">
                <a:solidFill>
                  <a:srgbClr val="0000CC"/>
                </a:solidFill>
              </a:rPr>
              <a:t>代码</a:t>
            </a:r>
            <a:r>
              <a:rPr lang="zh-CN" altLang="en-US" sz="2400" dirty="0"/>
              <a:t>，不同的</a:t>
            </a:r>
            <a:r>
              <a:rPr lang="en-US" altLang="zh-CN" sz="2400" dirty="0"/>
              <a:t>BCD</a:t>
            </a:r>
            <a:r>
              <a:rPr lang="zh-CN" altLang="en-US" sz="2400" dirty="0"/>
              <a:t>代码（如</a:t>
            </a:r>
            <a:r>
              <a:rPr lang="en-US" altLang="zh-CN" sz="2400" dirty="0"/>
              <a:t>8421</a:t>
            </a:r>
            <a:r>
              <a:rPr lang="zh-CN" altLang="en-US" sz="2400" dirty="0"/>
              <a:t>码、</a:t>
            </a:r>
            <a:r>
              <a:rPr lang="en-US" altLang="zh-CN" sz="2400" dirty="0"/>
              <a:t>2421</a:t>
            </a:r>
            <a:r>
              <a:rPr lang="zh-CN" altLang="en-US" sz="2400" dirty="0"/>
              <a:t>码、余</a:t>
            </a:r>
            <a:r>
              <a:rPr lang="en-US" altLang="zh-CN" sz="2400" dirty="0"/>
              <a:t>3</a:t>
            </a:r>
            <a:r>
              <a:rPr lang="zh-CN" altLang="en-US" sz="2400" dirty="0" smtClean="0"/>
              <a:t>码等</a:t>
            </a:r>
            <a:r>
              <a:rPr lang="zh-CN" altLang="en-US" sz="2400" dirty="0"/>
              <a:t>），对应于不同的编码方案，同时也就对应于不同</a:t>
            </a:r>
            <a:r>
              <a:rPr lang="zh-CN" altLang="en-US" sz="2400" dirty="0" smtClean="0"/>
              <a:t>的二</a:t>
            </a:r>
            <a:r>
              <a:rPr lang="en-US" altLang="zh-CN" sz="2400" dirty="0"/>
              <a:t>-</a:t>
            </a:r>
            <a:r>
              <a:rPr lang="zh-CN" altLang="en-US" sz="2400" dirty="0"/>
              <a:t>十进制编码器。</a:t>
            </a:r>
          </a:p>
          <a:p>
            <a:pPr>
              <a:buSzPct val="100000"/>
              <a:buFont typeface="Wingdings" pitchFamily="2" charset="2"/>
              <a:buChar char="p"/>
            </a:pPr>
            <a:r>
              <a:rPr lang="zh-CN" altLang="en-US" sz="2800" dirty="0"/>
              <a:t>目前，常用的二</a:t>
            </a:r>
            <a:r>
              <a:rPr lang="en-US" altLang="zh-CN" sz="2800" dirty="0"/>
              <a:t>-</a:t>
            </a:r>
            <a:r>
              <a:rPr lang="zh-CN" altLang="en-US" sz="2800" dirty="0"/>
              <a:t>十进制编码器有</a:t>
            </a:r>
            <a:r>
              <a:rPr lang="en-US" altLang="zh-CN" sz="2800" dirty="0" smtClean="0">
                <a:solidFill>
                  <a:srgbClr val="0000CC"/>
                </a:solidFill>
              </a:rPr>
              <a:t>74LS147-8421BCD</a:t>
            </a:r>
            <a:r>
              <a:rPr lang="zh-CN" altLang="en-US" sz="2800" dirty="0" smtClean="0">
                <a:solidFill>
                  <a:srgbClr val="0000CC"/>
                </a:solidFill>
              </a:rPr>
              <a:t>优先</a:t>
            </a:r>
            <a:r>
              <a:rPr lang="zh-CN" altLang="en-US" sz="2800" dirty="0">
                <a:solidFill>
                  <a:srgbClr val="0000CC"/>
                </a:solidFill>
              </a:rPr>
              <a:t>编码器</a:t>
            </a:r>
            <a:r>
              <a:rPr lang="zh-CN" altLang="en-US" sz="2800" dirty="0"/>
              <a:t>，其逻辑符号和功能表分别</a:t>
            </a:r>
            <a:r>
              <a:rPr lang="zh-CN" altLang="en-US" sz="2800" dirty="0" smtClean="0"/>
              <a:t>如下图和下表</a:t>
            </a:r>
            <a:r>
              <a:rPr lang="en-US" altLang="zh-CN" sz="2800" dirty="0" smtClean="0"/>
              <a:t> </a:t>
            </a:r>
            <a:r>
              <a:rPr lang="zh-CN" altLang="en-US" sz="2800" dirty="0"/>
              <a:t>所示。</a:t>
            </a:r>
          </a:p>
        </p:txBody>
      </p:sp>
      <p:sp>
        <p:nvSpPr>
          <p:cNvPr id="3" name="灯片编号占位符 2"/>
          <p:cNvSpPr>
            <a:spLocks noGrp="1"/>
          </p:cNvSpPr>
          <p:nvPr>
            <p:ph type="sldNum" sz="quarter" idx="12"/>
          </p:nvPr>
        </p:nvSpPr>
        <p:spPr/>
        <p:txBody>
          <a:bodyPr/>
          <a:lstStyle/>
          <a:p>
            <a:fld id="{0C913308-F349-4B6D-A68A-DD1791B4A57B}" type="slidenum">
              <a:rPr lang="zh-CN" altLang="en-US" smtClean="0">
                <a:solidFill>
                  <a:srgbClr val="000000"/>
                </a:solidFill>
              </a:rPr>
              <a:pPr/>
              <a:t>58</a:t>
            </a:fld>
            <a:endParaRPr lang="zh-CN" altLang="en-US">
              <a:solidFill>
                <a:srgbClr val="000000"/>
              </a:solidFill>
            </a:endParaRPr>
          </a:p>
        </p:txBody>
      </p:sp>
      <p:sp>
        <p:nvSpPr>
          <p:cNvPr id="5" name="标题 1"/>
          <p:cNvSpPr txBox="1">
            <a:spLocks/>
          </p:cNvSpPr>
          <p:nvPr/>
        </p:nvSpPr>
        <p:spPr bwMode="auto">
          <a:xfrm>
            <a:off x="1259632" y="116632"/>
            <a:ext cx="7793037"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4.3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编码器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45348469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编码器</a:t>
            </a:r>
            <a:r>
              <a:rPr lang="en-US" altLang="zh-CN" dirty="0"/>
              <a:t>----</a:t>
            </a:r>
            <a:r>
              <a:rPr lang="zh-CN" altLang="en-US" dirty="0" smtClean="0"/>
              <a:t>集成</a:t>
            </a:r>
            <a:r>
              <a:rPr lang="zh-CN" altLang="en-US" dirty="0"/>
              <a:t>二</a:t>
            </a:r>
            <a:r>
              <a:rPr lang="en-US" altLang="zh-CN" dirty="0"/>
              <a:t>-</a:t>
            </a:r>
            <a:r>
              <a:rPr lang="zh-CN" altLang="en-US" dirty="0"/>
              <a:t>十进制</a:t>
            </a:r>
            <a:r>
              <a:rPr lang="zh-CN" altLang="en-US" dirty="0" smtClean="0"/>
              <a:t>编码器</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solidFill>
                  <a:srgbClr val="000000"/>
                </a:solidFill>
              </a:rPr>
              <a:pPr/>
              <a:t>59</a:t>
            </a:fld>
            <a:endParaRPr lang="zh-CN" altLang="en-US">
              <a:solidFill>
                <a:srgbClr val="000000"/>
              </a:solidFill>
            </a:endParaRPr>
          </a:p>
        </p:txBody>
      </p:sp>
      <p:pic>
        <p:nvPicPr>
          <p:cNvPr id="4098" name="Picture 2" descr="E:\wrj\课件\数字电路与系统\数字电路与数字系统\tupian\4-74ls147.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991362" y="1713750"/>
            <a:ext cx="4265695" cy="3636000"/>
          </a:xfrm>
          <a:prstGeom prst="rect">
            <a:avLst/>
          </a:prstGeom>
          <a:noFill/>
          <a:extLst>
            <a:ext uri="{909E8E84-426E-40DD-AFC4-6F175D3DCCD1}">
              <a14:hiddenFill xmlns:a14="http://schemas.microsoft.com/office/drawing/2010/main" xmlns="">
                <a:solidFill>
                  <a:srgbClr val="FFFFFF"/>
                </a:solidFill>
              </a14:hiddenFill>
            </a:ext>
          </a:extLst>
        </p:spPr>
      </p:pic>
      <p:sp>
        <p:nvSpPr>
          <p:cNvPr id="2" name="矩形 1"/>
          <p:cNvSpPr/>
          <p:nvPr/>
        </p:nvSpPr>
        <p:spPr>
          <a:xfrm>
            <a:off x="2555776" y="5661248"/>
            <a:ext cx="2876108" cy="369332"/>
          </a:xfrm>
          <a:prstGeom prst="rect">
            <a:avLst/>
          </a:prstGeom>
        </p:spPr>
        <p:txBody>
          <a:bodyPr wrap="none">
            <a:spAutoFit/>
          </a:bodyPr>
          <a:lstStyle/>
          <a:p>
            <a:r>
              <a:rPr lang="zh-CN" altLang="en-US" dirty="0" smtClean="0"/>
              <a:t>图</a:t>
            </a:r>
            <a:r>
              <a:rPr lang="en-US" altLang="zh-CN" dirty="0" smtClean="0"/>
              <a:t>  </a:t>
            </a:r>
            <a:r>
              <a:rPr lang="en-US" altLang="zh-CN" dirty="0"/>
              <a:t>74LS147</a:t>
            </a:r>
            <a:r>
              <a:rPr lang="zh-CN" altLang="en-US" dirty="0"/>
              <a:t>常用逻辑符号</a:t>
            </a:r>
          </a:p>
        </p:txBody>
      </p:sp>
      <p:sp>
        <p:nvSpPr>
          <p:cNvPr id="7" name="标题 1"/>
          <p:cNvSpPr txBox="1">
            <a:spLocks/>
          </p:cNvSpPr>
          <p:nvPr/>
        </p:nvSpPr>
        <p:spPr bwMode="auto">
          <a:xfrm>
            <a:off x="1259632" y="116632"/>
            <a:ext cx="7793037"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4.3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编码器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86483116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编码器</a:t>
            </a:r>
            <a:r>
              <a:rPr lang="en-US" altLang="zh-CN" dirty="0"/>
              <a:t>----</a:t>
            </a:r>
            <a:r>
              <a:rPr lang="zh-CN" altLang="en-US" dirty="0" smtClean="0"/>
              <a:t>集成</a:t>
            </a:r>
            <a:r>
              <a:rPr lang="zh-CN" altLang="en-US" dirty="0"/>
              <a:t>二</a:t>
            </a:r>
            <a:r>
              <a:rPr lang="en-US" altLang="zh-CN" dirty="0"/>
              <a:t>-</a:t>
            </a:r>
            <a:r>
              <a:rPr lang="zh-CN" altLang="en-US" dirty="0"/>
              <a:t>十进制</a:t>
            </a:r>
            <a:r>
              <a:rPr lang="zh-CN" altLang="en-US" dirty="0" smtClean="0"/>
              <a:t>编码器</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solidFill>
                  <a:srgbClr val="000000"/>
                </a:solidFill>
              </a:rPr>
              <a:pPr/>
              <a:t>60</a:t>
            </a:fld>
            <a:endParaRPr lang="zh-CN" altLang="en-US">
              <a:solidFill>
                <a:srgbClr val="000000"/>
              </a:solidFill>
            </a:endParaRPr>
          </a:p>
        </p:txBody>
      </p:sp>
      <p:pic>
        <p:nvPicPr>
          <p:cNvPr id="4099"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756094" y="1772816"/>
            <a:ext cx="7565516" cy="3600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5" name="标题 1"/>
          <p:cNvSpPr txBox="1">
            <a:spLocks/>
          </p:cNvSpPr>
          <p:nvPr/>
        </p:nvSpPr>
        <p:spPr bwMode="auto">
          <a:xfrm>
            <a:off x="1259632" y="116632"/>
            <a:ext cx="7793037"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4.3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编码器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4294076457"/>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编码器</a:t>
            </a:r>
            <a:r>
              <a:rPr lang="en-US" altLang="zh-CN" dirty="0"/>
              <a:t>----</a:t>
            </a:r>
            <a:r>
              <a:rPr lang="zh-CN" altLang="en-US" dirty="0" smtClean="0"/>
              <a:t>集成</a:t>
            </a:r>
            <a:r>
              <a:rPr lang="zh-CN" altLang="en-US" dirty="0"/>
              <a:t>编码器的扩展应用</a:t>
            </a:r>
          </a:p>
        </p:txBody>
      </p:sp>
      <p:sp>
        <p:nvSpPr>
          <p:cNvPr id="4" name="内容占位符 3"/>
          <p:cNvSpPr>
            <a:spLocks noGrp="1"/>
          </p:cNvSpPr>
          <p:nvPr>
            <p:ph idx="1"/>
          </p:nvPr>
        </p:nvSpPr>
        <p:spPr>
          <a:xfrm>
            <a:off x="539552" y="1556792"/>
            <a:ext cx="8161338" cy="4911128"/>
          </a:xfrm>
        </p:spPr>
        <p:txBody>
          <a:bodyPr/>
          <a:lstStyle/>
          <a:p>
            <a:pPr>
              <a:buSzPct val="100000"/>
              <a:buFont typeface="Wingdings" pitchFamily="2" charset="2"/>
              <a:buChar char="p"/>
            </a:pPr>
            <a:r>
              <a:rPr lang="zh-CN" altLang="en-US" sz="2800" dirty="0"/>
              <a:t>由于集成电路受电路芯片面积和外部封装大小的</a:t>
            </a:r>
            <a:r>
              <a:rPr lang="zh-CN" altLang="en-US" sz="2800" dirty="0" smtClean="0"/>
              <a:t>限制</a:t>
            </a:r>
            <a:r>
              <a:rPr lang="zh-CN" altLang="en-US" sz="2800" dirty="0"/>
              <a:t>，其管脚数目通常是有限的，为适应实际应用的需求</a:t>
            </a:r>
            <a:r>
              <a:rPr lang="zh-CN" altLang="en-US" sz="2800" dirty="0" smtClean="0"/>
              <a:t>，如</a:t>
            </a:r>
            <a:r>
              <a:rPr lang="zh-CN" altLang="en-US" sz="2800" dirty="0"/>
              <a:t>当编码</a:t>
            </a:r>
            <a:r>
              <a:rPr lang="zh-CN" altLang="en-US" sz="2800" dirty="0">
                <a:solidFill>
                  <a:srgbClr val="0000CC"/>
                </a:solidFill>
              </a:rPr>
              <a:t>输入信号过多</a:t>
            </a:r>
            <a:r>
              <a:rPr lang="zh-CN" altLang="en-US" sz="2800" dirty="0"/>
              <a:t>时，就必须对芯片进行</a:t>
            </a:r>
            <a:r>
              <a:rPr lang="zh-CN" altLang="en-US" sz="2800" dirty="0">
                <a:solidFill>
                  <a:srgbClr val="0000CC"/>
                </a:solidFill>
              </a:rPr>
              <a:t>扩展</a:t>
            </a:r>
            <a:r>
              <a:rPr lang="zh-CN" altLang="en-US" sz="2800" dirty="0"/>
              <a:t>，以</a:t>
            </a:r>
            <a:r>
              <a:rPr lang="zh-CN" altLang="en-US" sz="2800" dirty="0" smtClean="0"/>
              <a:t>获得</a:t>
            </a:r>
            <a:r>
              <a:rPr lang="zh-CN" altLang="en-US" sz="2800" dirty="0">
                <a:solidFill>
                  <a:srgbClr val="0000CC"/>
                </a:solidFill>
              </a:rPr>
              <a:t>大容量的编码器</a:t>
            </a:r>
            <a:r>
              <a:rPr lang="zh-CN" altLang="en-US" sz="2800" dirty="0"/>
              <a:t>，</a:t>
            </a:r>
          </a:p>
          <a:p>
            <a:endParaRPr lang="zh-CN" altLang="en-US" dirty="0"/>
          </a:p>
        </p:txBody>
      </p:sp>
      <p:grpSp>
        <p:nvGrpSpPr>
          <p:cNvPr id="12" name="Group 20"/>
          <p:cNvGrpSpPr>
            <a:grpSpLocks/>
          </p:cNvGrpSpPr>
          <p:nvPr/>
        </p:nvGrpSpPr>
        <p:grpSpPr bwMode="auto">
          <a:xfrm>
            <a:off x="899592" y="3645024"/>
            <a:ext cx="7559675" cy="1570038"/>
            <a:chOff x="677" y="1929"/>
            <a:chExt cx="4762" cy="989"/>
          </a:xfrm>
        </p:grpSpPr>
        <p:sp>
          <p:nvSpPr>
            <p:cNvPr id="13" name="Text Box 16"/>
            <p:cNvSpPr txBox="1">
              <a:spLocks noChangeArrowheads="1"/>
            </p:cNvSpPr>
            <p:nvPr/>
          </p:nvSpPr>
          <p:spPr bwMode="auto">
            <a:xfrm>
              <a:off x="677" y="1929"/>
              <a:ext cx="4762" cy="98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kumimoji="1" lang="en-US" altLang="zh-CN" sz="2400" b="1" dirty="0" smtClean="0">
                  <a:solidFill>
                    <a:srgbClr val="FF0000"/>
                  </a:solidFill>
                  <a:latin typeface="楷体_GB2312" pitchFamily="49" charset="-122"/>
                  <a:ea typeface="楷体_GB2312" pitchFamily="49" charset="-122"/>
                </a:rPr>
                <a:t>【</a:t>
              </a:r>
              <a:r>
                <a:rPr kumimoji="1" lang="zh-CN" altLang="en-US" sz="2400" b="1" dirty="0" smtClean="0">
                  <a:solidFill>
                    <a:srgbClr val="FF0000"/>
                  </a:solidFill>
                  <a:latin typeface="楷体_GB2312" pitchFamily="49" charset="-122"/>
                  <a:ea typeface="楷体_GB2312" pitchFamily="49" charset="-122"/>
                </a:rPr>
                <a:t>例</a:t>
              </a:r>
              <a:r>
                <a:rPr kumimoji="1" lang="en-US" altLang="zh-CN" sz="2400" b="1" dirty="0" smtClean="0">
                  <a:solidFill>
                    <a:srgbClr val="FF0000"/>
                  </a:solidFill>
                  <a:latin typeface="楷体_GB2312" pitchFamily="49" charset="-122"/>
                  <a:ea typeface="楷体_GB2312" pitchFamily="49" charset="-122"/>
                </a:rPr>
                <a:t>】</a:t>
              </a:r>
              <a:r>
                <a:rPr kumimoji="1" lang="zh-CN" altLang="en-US" sz="2400" b="1" dirty="0">
                  <a:latin typeface="楷体_GB2312" pitchFamily="49" charset="-122"/>
                  <a:ea typeface="楷体_GB2312" pitchFamily="49" charset="-122"/>
                </a:rPr>
                <a:t>试用两片</a:t>
              </a:r>
              <a:r>
                <a:rPr kumimoji="1" lang="en-US" altLang="zh-CN" sz="2400" b="1" dirty="0">
                  <a:latin typeface="楷体_GB2312" pitchFamily="49" charset="-122"/>
                  <a:ea typeface="楷体_GB2312" pitchFamily="49" charset="-122"/>
                </a:rPr>
                <a:t>74LS148</a:t>
              </a:r>
              <a:r>
                <a:rPr kumimoji="1" lang="zh-CN" altLang="en-US" sz="2400" b="1" dirty="0">
                  <a:latin typeface="楷体_GB2312" pitchFamily="49" charset="-122"/>
                  <a:ea typeface="楷体_GB2312" pitchFamily="49" charset="-122"/>
                </a:rPr>
                <a:t>接成</a:t>
              </a:r>
              <a:r>
                <a:rPr kumimoji="1" lang="en-US" altLang="zh-CN" sz="2400" b="1" dirty="0">
                  <a:latin typeface="楷体_GB2312" pitchFamily="49" charset="-122"/>
                  <a:ea typeface="楷体_GB2312" pitchFamily="49" charset="-122"/>
                </a:rPr>
                <a:t>16</a:t>
              </a:r>
              <a:r>
                <a:rPr kumimoji="1" lang="zh-CN" altLang="en-US" sz="2400" b="1" dirty="0">
                  <a:latin typeface="楷体_GB2312" pitchFamily="49" charset="-122"/>
                  <a:ea typeface="楷体_GB2312" pitchFamily="49" charset="-122"/>
                </a:rPr>
                <a:t>线</a:t>
              </a:r>
              <a:r>
                <a:rPr kumimoji="1" lang="en-US" altLang="zh-CN" sz="2400" b="1" dirty="0">
                  <a:latin typeface="楷体_GB2312" pitchFamily="49" charset="-122"/>
                  <a:ea typeface="楷体_GB2312" pitchFamily="49" charset="-122"/>
                </a:rPr>
                <a:t>-4</a:t>
              </a:r>
              <a:r>
                <a:rPr kumimoji="1" lang="zh-CN" altLang="en-US" sz="2400" b="1" dirty="0">
                  <a:latin typeface="楷体_GB2312" pitchFamily="49" charset="-122"/>
                  <a:ea typeface="楷体_GB2312" pitchFamily="49" charset="-122"/>
                </a:rPr>
                <a:t>线优先编码器，将                  </a:t>
              </a:r>
              <a:r>
                <a:rPr kumimoji="1" lang="en-US" altLang="zh-CN" sz="2400" b="1" dirty="0">
                  <a:latin typeface="楷体_GB2312" pitchFamily="49" charset="-122"/>
                  <a:ea typeface="楷体_GB2312" pitchFamily="49" charset="-122"/>
                </a:rPr>
                <a:t>16</a:t>
              </a:r>
              <a:r>
                <a:rPr kumimoji="1" lang="zh-CN" altLang="en-US" sz="2400" b="1" dirty="0">
                  <a:latin typeface="楷体_GB2312" pitchFamily="49" charset="-122"/>
                  <a:ea typeface="楷体_GB2312" pitchFamily="49" charset="-122"/>
                </a:rPr>
                <a:t>个低电平输入信号         编为</a:t>
              </a:r>
              <a:r>
                <a:rPr kumimoji="1" lang="zh-CN" altLang="en-US" sz="2400" b="1" dirty="0">
                  <a:latin typeface="Times New Roman"/>
                  <a:ea typeface="楷体_GB2312" pitchFamily="49" charset="-122"/>
                </a:rPr>
                <a:t>‘</a:t>
              </a:r>
              <a:r>
                <a:rPr kumimoji="1" lang="en-US" altLang="zh-CN" sz="2400" b="1" dirty="0">
                  <a:latin typeface="楷体_GB2312" pitchFamily="49" charset="-122"/>
                  <a:ea typeface="楷体_GB2312" pitchFamily="49" charset="-122"/>
                </a:rPr>
                <a:t>0000</a:t>
              </a:r>
              <a:r>
                <a:rPr kumimoji="1" lang="zh-CN" altLang="en-US" sz="2400" b="1" dirty="0">
                  <a:latin typeface="楷体_GB2312" pitchFamily="49" charset="-122"/>
                  <a:ea typeface="楷体_GB2312" pitchFamily="49" charset="-122"/>
                </a:rPr>
                <a:t>－</a:t>
              </a:r>
              <a:r>
                <a:rPr kumimoji="1" lang="en-US" altLang="zh-CN" sz="2400" b="1" dirty="0">
                  <a:latin typeface="楷体_GB2312" pitchFamily="49" charset="-122"/>
                  <a:ea typeface="楷体_GB2312" pitchFamily="49" charset="-122"/>
                </a:rPr>
                <a:t>1111 </a:t>
              </a:r>
              <a:r>
                <a:rPr kumimoji="1" lang="en-US" altLang="zh-CN" sz="2400" b="1" dirty="0">
                  <a:latin typeface="Times New Roman"/>
                  <a:ea typeface="楷体_GB2312" pitchFamily="49" charset="-122"/>
                </a:rPr>
                <a:t>’</a:t>
              </a:r>
              <a:r>
                <a:rPr kumimoji="1" lang="en-US" altLang="zh-CN" sz="2400" b="1" dirty="0">
                  <a:latin typeface="楷体_GB2312" pitchFamily="49" charset="-122"/>
                  <a:ea typeface="楷体_GB2312" pitchFamily="49" charset="-122"/>
                </a:rPr>
                <a:t> 16</a:t>
              </a:r>
              <a:r>
                <a:rPr kumimoji="1" lang="zh-CN" altLang="en-US" sz="2400" b="1" dirty="0">
                  <a:latin typeface="楷体_GB2312" pitchFamily="49" charset="-122"/>
                  <a:ea typeface="楷体_GB2312" pitchFamily="49" charset="-122"/>
                </a:rPr>
                <a:t>个</a:t>
              </a:r>
              <a:r>
                <a:rPr kumimoji="1" lang="en-US" altLang="zh-CN" sz="2400" b="1" dirty="0">
                  <a:latin typeface="楷体_GB2312" pitchFamily="49" charset="-122"/>
                  <a:ea typeface="楷体_GB2312" pitchFamily="49" charset="-122"/>
                </a:rPr>
                <a:t>4</a:t>
              </a:r>
              <a:r>
                <a:rPr kumimoji="1" lang="zh-CN" altLang="en-US" sz="2400" b="1" dirty="0">
                  <a:latin typeface="楷体_GB2312" pitchFamily="49" charset="-122"/>
                  <a:ea typeface="楷体_GB2312" pitchFamily="49" charset="-122"/>
                </a:rPr>
                <a:t>位二进制代码，其中    的优先权最高，  的优先权最低。</a:t>
              </a:r>
            </a:p>
          </p:txBody>
        </p:sp>
        <p:graphicFrame>
          <p:nvGraphicFramePr>
            <p:cNvPr id="14" name="Object 13"/>
            <p:cNvGraphicFramePr>
              <a:graphicFrameLocks noChangeAspect="1"/>
            </p:cNvGraphicFramePr>
            <p:nvPr/>
          </p:nvGraphicFramePr>
          <p:xfrm>
            <a:off x="2472" y="2160"/>
            <a:ext cx="817" cy="345"/>
          </p:xfrm>
          <a:graphic>
            <a:graphicData uri="http://schemas.openxmlformats.org/presentationml/2006/ole">
              <p:oleObj spid="_x0000_s3999" name="Equation" r:id="rId3" imgW="545626" imgH="253780" progId="">
                <p:embed/>
              </p:oleObj>
            </a:graphicData>
          </a:graphic>
        </p:graphicFrame>
        <p:graphicFrame>
          <p:nvGraphicFramePr>
            <p:cNvPr id="15" name="Object 14"/>
            <p:cNvGraphicFramePr>
              <a:graphicFrameLocks noChangeAspect="1"/>
            </p:cNvGraphicFramePr>
            <p:nvPr>
              <p:extLst>
                <p:ext uri="{D42A27DB-BD31-4B8C-83A1-F6EECF244321}">
                  <p14:modId xmlns:p14="http://schemas.microsoft.com/office/powerpoint/2010/main" xmlns="" val="4294179805"/>
                </p:ext>
              </p:extLst>
            </p:nvPr>
          </p:nvGraphicFramePr>
          <p:xfrm>
            <a:off x="2763" y="2432"/>
            <a:ext cx="363" cy="346"/>
          </p:xfrm>
          <a:graphic>
            <a:graphicData uri="http://schemas.openxmlformats.org/presentationml/2006/ole">
              <p:oleObj spid="_x0000_s4000" name="Equation" r:id="rId4" imgW="241195" imgH="253890" progId="">
                <p:embed/>
              </p:oleObj>
            </a:graphicData>
          </a:graphic>
        </p:graphicFrame>
        <p:graphicFrame>
          <p:nvGraphicFramePr>
            <p:cNvPr id="16" name="Object 15"/>
            <p:cNvGraphicFramePr>
              <a:graphicFrameLocks noChangeAspect="1"/>
            </p:cNvGraphicFramePr>
            <p:nvPr>
              <p:extLst>
                <p:ext uri="{D42A27DB-BD31-4B8C-83A1-F6EECF244321}">
                  <p14:modId xmlns:p14="http://schemas.microsoft.com/office/powerpoint/2010/main" xmlns="" val="437246578"/>
                </p:ext>
              </p:extLst>
            </p:nvPr>
          </p:nvGraphicFramePr>
          <p:xfrm>
            <a:off x="4380" y="2387"/>
            <a:ext cx="289" cy="328"/>
          </p:xfrm>
          <a:graphic>
            <a:graphicData uri="http://schemas.openxmlformats.org/presentationml/2006/ole">
              <p:oleObj spid="_x0000_s4001" name="Equation" r:id="rId5" imgW="203024" imgH="253780" progId="">
                <p:embed/>
              </p:oleObj>
            </a:graphicData>
          </a:graphic>
        </p:graphicFrame>
      </p:grpSp>
      <p:sp>
        <p:nvSpPr>
          <p:cNvPr id="9" name="标题 1"/>
          <p:cNvSpPr txBox="1">
            <a:spLocks/>
          </p:cNvSpPr>
          <p:nvPr/>
        </p:nvSpPr>
        <p:spPr bwMode="auto">
          <a:xfrm>
            <a:off x="1259632" y="116632"/>
            <a:ext cx="7793037"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4.3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编码器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188865735"/>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编码器</a:t>
            </a:r>
            <a:r>
              <a:rPr lang="en-US" altLang="zh-CN" dirty="0"/>
              <a:t>----</a:t>
            </a:r>
            <a:r>
              <a:rPr lang="zh-CN" altLang="en-US" dirty="0" smtClean="0"/>
              <a:t>集成</a:t>
            </a:r>
            <a:r>
              <a:rPr lang="zh-CN" altLang="en-US" dirty="0"/>
              <a:t>编码器的扩展应用</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62</a:t>
            </a:fld>
            <a:endParaRPr lang="zh-CN" altLang="en-US"/>
          </a:p>
        </p:txBody>
      </p:sp>
      <p:sp>
        <p:nvSpPr>
          <p:cNvPr id="18" name="Text Box 7"/>
          <p:cNvSpPr txBox="1">
            <a:spLocks noChangeArrowheads="1"/>
          </p:cNvSpPr>
          <p:nvPr/>
        </p:nvSpPr>
        <p:spPr bwMode="auto">
          <a:xfrm>
            <a:off x="1042988" y="6513414"/>
            <a:ext cx="7056437"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sz="1800" b="1" dirty="0" smtClean="0">
                <a:latin typeface="楷体_GB2312" pitchFamily="49" charset="-122"/>
                <a:ea typeface="楷体_GB2312" pitchFamily="49" charset="-122"/>
              </a:rPr>
              <a:t>表 用</a:t>
            </a:r>
            <a:r>
              <a:rPr kumimoji="1" lang="zh-CN" altLang="en-US" sz="1800" b="1" dirty="0">
                <a:latin typeface="楷体_GB2312" pitchFamily="49" charset="-122"/>
                <a:ea typeface="楷体_GB2312" pitchFamily="49" charset="-122"/>
              </a:rPr>
              <a:t>两片</a:t>
            </a:r>
            <a:r>
              <a:rPr kumimoji="1" lang="en-US" altLang="zh-CN" sz="1800" b="1" dirty="0" smtClean="0">
                <a:latin typeface="楷体_GB2312" pitchFamily="49" charset="-122"/>
                <a:ea typeface="楷体_GB2312" pitchFamily="49" charset="-122"/>
              </a:rPr>
              <a:t>74LS148 8</a:t>
            </a:r>
            <a:r>
              <a:rPr kumimoji="1" lang="zh-CN" altLang="en-US" sz="1800" b="1" dirty="0" smtClean="0">
                <a:latin typeface="楷体_GB2312" pitchFamily="49" charset="-122"/>
                <a:ea typeface="楷体_GB2312" pitchFamily="49" charset="-122"/>
              </a:rPr>
              <a:t>线－</a:t>
            </a:r>
            <a:r>
              <a:rPr kumimoji="1" lang="en-US" altLang="zh-CN" sz="1800" b="1" dirty="0" smtClean="0">
                <a:latin typeface="楷体_GB2312" pitchFamily="49" charset="-122"/>
                <a:ea typeface="楷体_GB2312" pitchFamily="49" charset="-122"/>
              </a:rPr>
              <a:t>3</a:t>
            </a:r>
            <a:r>
              <a:rPr kumimoji="1" lang="zh-CN" altLang="en-US" sz="1800" b="1" dirty="0" smtClean="0">
                <a:latin typeface="楷体_GB2312" pitchFamily="49" charset="-122"/>
                <a:ea typeface="楷体_GB2312" pitchFamily="49" charset="-122"/>
              </a:rPr>
              <a:t>线</a:t>
            </a:r>
            <a:r>
              <a:rPr kumimoji="1" lang="zh-CN" altLang="en-US" sz="1800" b="1" dirty="0">
                <a:latin typeface="楷体_GB2312" pitchFamily="49" charset="-122"/>
                <a:ea typeface="楷体_GB2312" pitchFamily="49" charset="-122"/>
              </a:rPr>
              <a:t>优先</a:t>
            </a:r>
            <a:r>
              <a:rPr kumimoji="1" lang="zh-CN" altLang="en-US" sz="1800" b="1" dirty="0" smtClean="0">
                <a:latin typeface="楷体_GB2312" pitchFamily="49" charset="-122"/>
                <a:ea typeface="楷体_GB2312" pitchFamily="49" charset="-122"/>
              </a:rPr>
              <a:t>编码器</a:t>
            </a:r>
            <a:endParaRPr kumimoji="1" lang="zh-CN" altLang="en-US" sz="1800" b="1" dirty="0">
              <a:latin typeface="楷体_GB2312" pitchFamily="49" charset="-122"/>
              <a:ea typeface="楷体_GB2312" pitchFamily="49" charset="-122"/>
            </a:endParaRPr>
          </a:p>
        </p:txBody>
      </p:sp>
      <p:pic>
        <p:nvPicPr>
          <p:cNvPr id="19" name="Picture 8" descr="3-3-4"/>
          <p:cNvPicPr>
            <a:picLocks noChangeAspect="1" noChangeArrowheads="1"/>
          </p:cNvPicPr>
          <p:nvPr/>
        </p:nvPicPr>
        <p:blipFill>
          <a:blip r:embed="rId2" cstate="print">
            <a:clrChange>
              <a:clrFrom>
                <a:srgbClr val="F6F6F6"/>
              </a:clrFrom>
              <a:clrTo>
                <a:srgbClr val="F6F6F6">
                  <a:alpha val="0"/>
                </a:srgbClr>
              </a:clrTo>
            </a:clrChange>
            <a:lum contrast="24000"/>
            <a:extLst>
              <a:ext uri="{28A0092B-C50C-407E-A947-70E740481C1C}">
                <a14:useLocalDpi xmlns:a14="http://schemas.microsoft.com/office/drawing/2010/main" xmlns="" val="0"/>
              </a:ext>
            </a:extLst>
          </a:blip>
          <a:srcRect/>
          <a:stretch>
            <a:fillRect/>
          </a:stretch>
        </p:blipFill>
        <p:spPr bwMode="auto">
          <a:xfrm>
            <a:off x="1763713" y="1412776"/>
            <a:ext cx="5384800" cy="5106988"/>
          </a:xfrm>
          <a:prstGeom prst="rect">
            <a:avLst/>
          </a:prstGeom>
          <a:noFill/>
          <a:extLst>
            <a:ext uri="{909E8E84-426E-40DD-AFC4-6F175D3DCCD1}">
              <a14:hiddenFill xmlns:a14="http://schemas.microsoft.com/office/drawing/2010/main" xmlns="">
                <a:solidFill>
                  <a:srgbClr val="FFFFFF"/>
                </a:solidFill>
              </a14:hiddenFill>
            </a:ext>
          </a:extLst>
        </p:spPr>
      </p:pic>
      <p:sp>
        <p:nvSpPr>
          <p:cNvPr id="20" name="Rectangle 10"/>
          <p:cNvSpPr>
            <a:spLocks noChangeArrowheads="1"/>
          </p:cNvSpPr>
          <p:nvPr/>
        </p:nvSpPr>
        <p:spPr bwMode="auto">
          <a:xfrm>
            <a:off x="4284663" y="3136801"/>
            <a:ext cx="431800" cy="431800"/>
          </a:xfrm>
          <a:prstGeom prst="rect">
            <a:avLst/>
          </a:prstGeom>
          <a:solidFill>
            <a:schemeClr val="bg1"/>
          </a:solidFill>
          <a:ln w="9525">
            <a:noFill/>
            <a:miter lim="800000"/>
            <a:headEnd/>
            <a:tailEnd/>
          </a:ln>
          <a:effectLst/>
          <a:extLst/>
        </p:spPr>
        <p:txBody>
          <a:bodyPr wrap="none" anchor="ctr"/>
          <a:lstStyle/>
          <a:p>
            <a:endParaRPr lang="zh-CN" altLang="en-US"/>
          </a:p>
        </p:txBody>
      </p:sp>
      <p:sp>
        <p:nvSpPr>
          <p:cNvPr id="21" name="Rectangle 11"/>
          <p:cNvSpPr>
            <a:spLocks noChangeArrowheads="1"/>
          </p:cNvSpPr>
          <p:nvPr/>
        </p:nvSpPr>
        <p:spPr bwMode="auto">
          <a:xfrm>
            <a:off x="2268538" y="4287739"/>
            <a:ext cx="719137" cy="2089150"/>
          </a:xfrm>
          <a:prstGeom prst="rect">
            <a:avLst/>
          </a:prstGeom>
          <a:solidFill>
            <a:schemeClr val="bg1"/>
          </a:solidFill>
          <a:ln w="9525">
            <a:noFill/>
            <a:miter lim="800000"/>
            <a:headEnd/>
            <a:tailEnd/>
          </a:ln>
          <a:effectLst/>
          <a:extLst/>
        </p:spPr>
        <p:txBody>
          <a:bodyPr wrap="none" anchor="ctr"/>
          <a:lstStyle/>
          <a:p>
            <a:endParaRPr lang="zh-CN" altLang="en-US"/>
          </a:p>
        </p:txBody>
      </p:sp>
      <p:sp>
        <p:nvSpPr>
          <p:cNvPr id="22" name="Rectangle 12"/>
          <p:cNvSpPr>
            <a:spLocks noChangeArrowheads="1"/>
          </p:cNvSpPr>
          <p:nvPr/>
        </p:nvSpPr>
        <p:spPr bwMode="auto">
          <a:xfrm>
            <a:off x="2987675" y="4287739"/>
            <a:ext cx="3960813" cy="2089150"/>
          </a:xfrm>
          <a:prstGeom prst="rect">
            <a:avLst/>
          </a:prstGeom>
          <a:solidFill>
            <a:schemeClr val="bg1"/>
          </a:solidFill>
          <a:ln w="9525">
            <a:noFill/>
            <a:miter lim="800000"/>
            <a:headEnd/>
            <a:tailEnd/>
          </a:ln>
          <a:effectLst/>
          <a:extLst/>
        </p:spPr>
        <p:txBody>
          <a:bodyPr wrap="none" anchor="ctr"/>
          <a:lstStyle/>
          <a:p>
            <a:endParaRPr lang="zh-CN" altLang="en-US"/>
          </a:p>
        </p:txBody>
      </p:sp>
      <p:sp>
        <p:nvSpPr>
          <p:cNvPr id="23" name="Rectangle 13"/>
          <p:cNvSpPr>
            <a:spLocks noChangeArrowheads="1"/>
          </p:cNvSpPr>
          <p:nvPr/>
        </p:nvSpPr>
        <p:spPr bwMode="auto">
          <a:xfrm>
            <a:off x="1835150" y="3208239"/>
            <a:ext cx="431800" cy="431800"/>
          </a:xfrm>
          <a:prstGeom prst="rect">
            <a:avLst/>
          </a:prstGeom>
          <a:solidFill>
            <a:schemeClr val="bg1"/>
          </a:solidFill>
          <a:ln w="9525">
            <a:noFill/>
            <a:miter lim="800000"/>
            <a:headEnd/>
            <a:tailEnd/>
          </a:ln>
          <a:effectLst/>
          <a:extLst/>
        </p:spPr>
        <p:txBody>
          <a:bodyPr wrap="none" anchor="ctr"/>
          <a:lstStyle/>
          <a:p>
            <a:endParaRPr lang="zh-CN" altLang="en-US"/>
          </a:p>
        </p:txBody>
      </p:sp>
      <p:sp>
        <p:nvSpPr>
          <p:cNvPr id="10" name="TextBox 9"/>
          <p:cNvSpPr txBox="1"/>
          <p:nvPr/>
        </p:nvSpPr>
        <p:spPr>
          <a:xfrm>
            <a:off x="2438663" y="3480051"/>
            <a:ext cx="332142" cy="369332"/>
          </a:xfrm>
          <a:prstGeom prst="rect">
            <a:avLst/>
          </a:prstGeom>
          <a:noFill/>
        </p:spPr>
        <p:txBody>
          <a:bodyPr wrap="none" rtlCol="0">
            <a:spAutoFit/>
          </a:bodyPr>
          <a:lstStyle/>
          <a:p>
            <a:r>
              <a:rPr lang="en-US" altLang="zh-CN" b="1" dirty="0" smtClean="0">
                <a:solidFill>
                  <a:srgbClr val="FF0000"/>
                </a:solidFill>
              </a:rPr>
              <a:t>0</a:t>
            </a:r>
            <a:endParaRPr lang="zh-CN" altLang="en-US" b="1" dirty="0">
              <a:solidFill>
                <a:srgbClr val="FF0000"/>
              </a:solidFill>
            </a:endParaRPr>
          </a:p>
        </p:txBody>
      </p:sp>
      <p:sp>
        <p:nvSpPr>
          <p:cNvPr id="11" name="TextBox 10"/>
          <p:cNvSpPr txBox="1"/>
          <p:nvPr/>
        </p:nvSpPr>
        <p:spPr>
          <a:xfrm>
            <a:off x="3738968" y="3126514"/>
            <a:ext cx="332142" cy="369332"/>
          </a:xfrm>
          <a:prstGeom prst="rect">
            <a:avLst/>
          </a:prstGeom>
          <a:noFill/>
        </p:spPr>
        <p:txBody>
          <a:bodyPr wrap="none" rtlCol="0">
            <a:spAutoFit/>
          </a:bodyPr>
          <a:lstStyle/>
          <a:p>
            <a:r>
              <a:rPr lang="en-US" altLang="zh-CN" b="1" dirty="0" smtClean="0">
                <a:solidFill>
                  <a:srgbClr val="FF0000"/>
                </a:solidFill>
              </a:rPr>
              <a:t>1</a:t>
            </a:r>
            <a:endParaRPr lang="zh-CN" altLang="en-US" b="1" dirty="0">
              <a:solidFill>
                <a:srgbClr val="FF0000"/>
              </a:solidFill>
            </a:endParaRPr>
          </a:p>
        </p:txBody>
      </p:sp>
      <p:sp>
        <p:nvSpPr>
          <p:cNvPr id="12" name="椭圆 11"/>
          <p:cNvSpPr/>
          <p:nvPr/>
        </p:nvSpPr>
        <p:spPr>
          <a:xfrm>
            <a:off x="1763713" y="2996952"/>
            <a:ext cx="841021" cy="667765"/>
          </a:xfrm>
          <a:prstGeom prst="ellipse">
            <a:avLst/>
          </a:prstGeom>
          <a:noFill/>
          <a:ln w="15875">
            <a:solidFill>
              <a:srgbClr val="FF0000"/>
            </a:solidFill>
            <a:prstDash val="solid"/>
          </a:ln>
        </p:spPr>
        <p:txBody>
          <a:bodyPr wrap="square" rtlCol="0" anchor="ctr">
            <a:spAutoFit/>
          </a:bodyPr>
          <a:lstStyle/>
          <a:p>
            <a:pPr algn="ctr"/>
            <a:endParaRPr lang="zh-CN" altLang="en-US" sz="2000" b="1" dirty="0">
              <a:latin typeface="华文新魏" pitchFamily="2" charset="-122"/>
              <a:ea typeface="华文新魏" pitchFamily="2" charset="-122"/>
            </a:endParaRPr>
          </a:p>
        </p:txBody>
      </p:sp>
      <mc:AlternateContent xmlns:mc="http://schemas.openxmlformats.org/markup-compatibility/2006">
        <mc:Choice xmlns:a14="http://schemas.microsoft.com/office/drawing/2010/main" xmlns="" Requires="a14">
          <p:graphicFrame>
            <p:nvGraphicFramePr>
              <p:cNvPr id="14" name="表格 13"/>
              <p:cNvGraphicFramePr>
                <a:graphicFrameLocks noGrp="1"/>
              </p:cNvGraphicFramePr>
              <p:nvPr>
                <p:extLst>
                  <p:ext uri="{D42A27DB-BD31-4B8C-83A1-F6EECF244321}">
                    <p14:modId xmlns:p14="http://schemas.microsoft.com/office/powerpoint/2010/main" val="3031114318"/>
                  </p:ext>
                </p:extLst>
              </p:nvPr>
            </p:nvGraphicFramePr>
            <p:xfrm>
              <a:off x="179512" y="1495569"/>
              <a:ext cx="8856984" cy="5038321"/>
            </p:xfrm>
            <a:graphic>
              <a:graphicData uri="http://schemas.openxmlformats.org/drawingml/2006/table">
                <a:tbl>
                  <a:tblPr firstRow="1" bandRow="1">
                    <a:tableStyleId>{5C22544A-7EE6-4342-B048-85BDC9FD1C3A}</a:tableStyleId>
                  </a:tblPr>
                  <a:tblGrid>
                    <a:gridCol w="5976664">
                      <a:extLst>
                        <a:ext uri="{9D8B030D-6E8A-4147-A177-3AD203B41FA5}">
                          <a16:colId xmlns:a16="http://schemas.microsoft.com/office/drawing/2014/main" val="20000"/>
                        </a:ext>
                      </a:extLst>
                    </a:gridCol>
                    <a:gridCol w="2880320">
                      <a:extLst>
                        <a:ext uri="{9D8B030D-6E8A-4147-A177-3AD203B41FA5}">
                          <a16:colId xmlns:a16="http://schemas.microsoft.com/office/drawing/2014/main" val="20001"/>
                        </a:ext>
                      </a:extLst>
                    </a:gridCol>
                  </a:tblGrid>
                  <a:tr h="465749">
                    <a:tc>
                      <a:txBody>
                        <a:bodyPr/>
                        <a:lstStyle/>
                        <a:p>
                          <a:pPr algn="ctr"/>
                          <a:r>
                            <a:rPr lang="zh-CN" altLang="en-US" dirty="0" smtClean="0">
                              <a:solidFill>
                                <a:srgbClr val="0000CC"/>
                              </a:solidFill>
                            </a:rPr>
                            <a:t>输入</a:t>
                          </a:r>
                          <a:endParaRPr lang="zh-CN" altLang="en-US" dirty="0">
                            <a:solidFill>
                              <a:srgbClr val="0000CC"/>
                            </a:solidFill>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dirty="0" smtClean="0">
                              <a:solidFill>
                                <a:srgbClr val="0000CC"/>
                              </a:solidFill>
                            </a:rPr>
                            <a:t>输出</a:t>
                          </a:r>
                          <a:endParaRPr lang="zh-CN" altLang="en-US" dirty="0">
                            <a:solidFill>
                              <a:srgbClr val="0000CC"/>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00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acc>
                                <m:accPr>
                                  <m:chr m:val="̅"/>
                                  <m:ctrlPr>
                                    <a:rPr lang="en-US" altLang="zh-CN" b="1" i="1" dirty="0" smtClean="0">
                                      <a:latin typeface="Cambria Math" panose="02040503050406030204" pitchFamily="18" charset="0"/>
                                    </a:rPr>
                                  </m:ctrlPr>
                                </m:accPr>
                                <m:e>
                                  <m:r>
                                    <a:rPr lang="en-US" altLang="zh-CN" b="1" i="1" dirty="0" smtClean="0">
                                      <a:latin typeface="Cambria Math"/>
                                    </a:rPr>
                                    <m:t>𝑺𝑻</m:t>
                                  </m:r>
                                </m:e>
                              </m:acc>
                            </m:oMath>
                          </a14:m>
                          <a:r>
                            <a:rPr lang="en-US" altLang="zh-CN" b="1" dirty="0" smtClean="0"/>
                            <a:t>     </a:t>
                          </a:r>
                          <a14:m>
                            <m:oMath xmlns:m="http://schemas.openxmlformats.org/officeDocument/2006/math">
                              <m:acc>
                                <m:accPr>
                                  <m:chr m:val="̅"/>
                                  <m:ctrlPr>
                                    <a:rPr lang="en-US" altLang="zh-CN" b="1" i="1" smtClean="0">
                                      <a:latin typeface="Cambria Math" panose="02040503050406030204" pitchFamily="18" charset="0"/>
                                    </a:rPr>
                                  </m:ctrlPr>
                                </m:accPr>
                                <m:e>
                                  <m:r>
                                    <a:rPr lang="en-US" altLang="zh-CN" b="1" i="1" smtClean="0">
                                      <a:latin typeface="Cambria Math"/>
                                    </a:rPr>
                                    <m:t>𝑰𝑵</m:t>
                                  </m:r>
                                </m:e>
                              </m:acc>
                            </m:oMath>
                          </a14:m>
                          <a:r>
                            <a:rPr lang="en-US" altLang="zh-CN" sz="1800" b="1" kern="1200" baseline="-25000" dirty="0" smtClean="0">
                              <a:solidFill>
                                <a:schemeClr val="dk1"/>
                              </a:solidFill>
                              <a:latin typeface="+mn-lt"/>
                              <a:ea typeface="+mn-ea"/>
                              <a:cs typeface="+mn-cs"/>
                            </a:rPr>
                            <a:t>0</a:t>
                          </a:r>
                          <a:r>
                            <a:rPr lang="en-US" altLang="zh-CN" b="1" dirty="0" smtClean="0"/>
                            <a:t>     </a:t>
                          </a:r>
                          <a14:m>
                            <m:oMath xmlns:m="http://schemas.openxmlformats.org/officeDocument/2006/math">
                              <m:acc>
                                <m:accPr>
                                  <m:chr m:val="̅"/>
                                  <m:ctrlPr>
                                    <a:rPr lang="en-US" altLang="zh-CN" b="1" i="1" smtClean="0">
                                      <a:latin typeface="Cambria Math" panose="02040503050406030204" pitchFamily="18" charset="0"/>
                                    </a:rPr>
                                  </m:ctrlPr>
                                </m:accPr>
                                <m:e>
                                  <m:r>
                                    <a:rPr lang="en-US" altLang="zh-CN" b="1" i="1" smtClean="0">
                                      <a:latin typeface="Cambria Math"/>
                                    </a:rPr>
                                    <m:t>𝑰𝑵</m:t>
                                  </m:r>
                                </m:e>
                              </m:acc>
                            </m:oMath>
                          </a14:m>
                          <a:r>
                            <a:rPr lang="en-US" altLang="zh-CN" sz="1800" b="1" kern="1200" baseline="-25000" dirty="0" smtClean="0">
                              <a:solidFill>
                                <a:schemeClr val="dk1"/>
                              </a:solidFill>
                              <a:latin typeface="+mn-lt"/>
                              <a:ea typeface="+mn-ea"/>
                              <a:cs typeface="+mn-cs"/>
                            </a:rPr>
                            <a:t>1</a:t>
                          </a:r>
                          <a:r>
                            <a:rPr lang="en-US" altLang="zh-CN" b="1" dirty="0" smtClean="0"/>
                            <a:t>    </a:t>
                          </a:r>
                          <a14:m>
                            <m:oMath xmlns:m="http://schemas.openxmlformats.org/officeDocument/2006/math">
                              <m:acc>
                                <m:accPr>
                                  <m:chr m:val="̅"/>
                                  <m:ctrlPr>
                                    <a:rPr lang="en-US" altLang="zh-CN" b="1" i="1" smtClean="0">
                                      <a:latin typeface="Cambria Math" panose="02040503050406030204" pitchFamily="18" charset="0"/>
                                    </a:rPr>
                                  </m:ctrlPr>
                                </m:accPr>
                                <m:e>
                                  <m:r>
                                    <a:rPr lang="en-US" altLang="zh-CN" b="1" i="1" smtClean="0">
                                      <a:latin typeface="Cambria Math"/>
                                    </a:rPr>
                                    <m:t>𝑰𝑵</m:t>
                                  </m:r>
                                </m:e>
                              </m:acc>
                            </m:oMath>
                          </a14:m>
                          <a:r>
                            <a:rPr lang="en-US" altLang="zh-CN" sz="1800" b="1" kern="1200" baseline="-25000" dirty="0" smtClean="0">
                              <a:solidFill>
                                <a:schemeClr val="dk1"/>
                              </a:solidFill>
                              <a:latin typeface="+mn-lt"/>
                              <a:ea typeface="+mn-ea"/>
                              <a:cs typeface="+mn-cs"/>
                            </a:rPr>
                            <a:t>2</a:t>
                          </a:r>
                          <a:r>
                            <a:rPr lang="en-US" altLang="zh-CN" b="1" dirty="0" smtClean="0"/>
                            <a:t>     </a:t>
                          </a:r>
                          <a14:m>
                            <m:oMath xmlns:m="http://schemas.openxmlformats.org/officeDocument/2006/math">
                              <m:acc>
                                <m:accPr>
                                  <m:chr m:val="̅"/>
                                  <m:ctrlPr>
                                    <a:rPr lang="en-US" altLang="zh-CN" b="1" i="1" smtClean="0">
                                      <a:latin typeface="Cambria Math" panose="02040503050406030204" pitchFamily="18" charset="0"/>
                                    </a:rPr>
                                  </m:ctrlPr>
                                </m:accPr>
                                <m:e>
                                  <m:r>
                                    <a:rPr lang="en-US" altLang="zh-CN" b="1" i="1" smtClean="0">
                                      <a:latin typeface="Cambria Math"/>
                                    </a:rPr>
                                    <m:t>𝑰𝑵</m:t>
                                  </m:r>
                                </m:e>
                              </m:acc>
                            </m:oMath>
                          </a14:m>
                          <a:r>
                            <a:rPr lang="en-US" altLang="zh-CN" sz="1800" b="1" kern="1200" baseline="-25000" dirty="0" smtClean="0">
                              <a:solidFill>
                                <a:schemeClr val="dk1"/>
                              </a:solidFill>
                              <a:latin typeface="+mn-lt"/>
                              <a:ea typeface="+mn-ea"/>
                              <a:cs typeface="+mn-cs"/>
                            </a:rPr>
                            <a:t>3</a:t>
                          </a:r>
                          <a:r>
                            <a:rPr lang="en-US" altLang="zh-CN" b="1" dirty="0" smtClean="0"/>
                            <a:t>     </a:t>
                          </a:r>
                          <a14:m>
                            <m:oMath xmlns:m="http://schemas.openxmlformats.org/officeDocument/2006/math">
                              <m:acc>
                                <m:accPr>
                                  <m:chr m:val="̅"/>
                                  <m:ctrlPr>
                                    <a:rPr lang="en-US" altLang="zh-CN" b="1" i="1" smtClean="0">
                                      <a:latin typeface="Cambria Math" panose="02040503050406030204" pitchFamily="18" charset="0"/>
                                    </a:rPr>
                                  </m:ctrlPr>
                                </m:accPr>
                                <m:e>
                                  <m:r>
                                    <a:rPr lang="en-US" altLang="zh-CN" b="1" i="1" smtClean="0">
                                      <a:latin typeface="Cambria Math"/>
                                    </a:rPr>
                                    <m:t>𝑰𝑵</m:t>
                                  </m:r>
                                </m:e>
                              </m:acc>
                            </m:oMath>
                          </a14:m>
                          <a:r>
                            <a:rPr lang="en-US" altLang="zh-CN" sz="1800" b="1" kern="1200" baseline="-25000" dirty="0" smtClean="0">
                              <a:solidFill>
                                <a:schemeClr val="dk1"/>
                              </a:solidFill>
                              <a:latin typeface="+mn-lt"/>
                              <a:ea typeface="+mn-ea"/>
                              <a:cs typeface="+mn-cs"/>
                            </a:rPr>
                            <a:t>4</a:t>
                          </a:r>
                          <a:r>
                            <a:rPr lang="en-US" altLang="zh-CN" b="1" dirty="0" smtClean="0"/>
                            <a:t>     </a:t>
                          </a:r>
                          <a14:m>
                            <m:oMath xmlns:m="http://schemas.openxmlformats.org/officeDocument/2006/math">
                              <m:acc>
                                <m:accPr>
                                  <m:chr m:val="̅"/>
                                  <m:ctrlPr>
                                    <a:rPr lang="en-US" altLang="zh-CN" b="1" i="1" smtClean="0">
                                      <a:latin typeface="Cambria Math" panose="02040503050406030204" pitchFamily="18" charset="0"/>
                                    </a:rPr>
                                  </m:ctrlPr>
                                </m:accPr>
                                <m:e>
                                  <m:r>
                                    <a:rPr lang="en-US" altLang="zh-CN" b="1" i="1" smtClean="0">
                                      <a:latin typeface="Cambria Math"/>
                                    </a:rPr>
                                    <m:t>𝑰𝑵</m:t>
                                  </m:r>
                                </m:e>
                              </m:acc>
                            </m:oMath>
                          </a14:m>
                          <a:r>
                            <a:rPr lang="en-US" altLang="zh-CN" sz="1800" b="1" kern="1200" baseline="-25000" dirty="0" smtClean="0">
                              <a:solidFill>
                                <a:schemeClr val="dk1"/>
                              </a:solidFill>
                              <a:latin typeface="+mn-lt"/>
                              <a:ea typeface="+mn-ea"/>
                              <a:cs typeface="+mn-cs"/>
                            </a:rPr>
                            <a:t>5</a:t>
                          </a:r>
                          <a:r>
                            <a:rPr lang="en-US" altLang="zh-CN" b="1" dirty="0" smtClean="0"/>
                            <a:t>     </a:t>
                          </a:r>
                          <a14:m>
                            <m:oMath xmlns:m="http://schemas.openxmlformats.org/officeDocument/2006/math">
                              <m:acc>
                                <m:accPr>
                                  <m:chr m:val="̅"/>
                                  <m:ctrlPr>
                                    <a:rPr lang="en-US" altLang="zh-CN" b="1" i="1" smtClean="0">
                                      <a:latin typeface="Cambria Math" panose="02040503050406030204" pitchFamily="18" charset="0"/>
                                    </a:rPr>
                                  </m:ctrlPr>
                                </m:accPr>
                                <m:e>
                                  <m:r>
                                    <a:rPr lang="en-US" altLang="zh-CN" b="1" i="1" smtClean="0">
                                      <a:latin typeface="Cambria Math"/>
                                    </a:rPr>
                                    <m:t>𝑰𝑵</m:t>
                                  </m:r>
                                </m:e>
                              </m:acc>
                            </m:oMath>
                          </a14:m>
                          <a:r>
                            <a:rPr lang="en-US" altLang="zh-CN" sz="1800" b="1" kern="1200" baseline="-25000" dirty="0" smtClean="0">
                              <a:solidFill>
                                <a:schemeClr val="dk1"/>
                              </a:solidFill>
                              <a:latin typeface="+mn-lt"/>
                              <a:ea typeface="+mn-ea"/>
                              <a:cs typeface="+mn-cs"/>
                            </a:rPr>
                            <a:t>6</a:t>
                          </a:r>
                          <a:r>
                            <a:rPr lang="en-US" altLang="zh-CN" b="1" dirty="0" smtClean="0"/>
                            <a:t>   </a:t>
                          </a:r>
                          <a14:m>
                            <m:oMath xmlns:m="http://schemas.openxmlformats.org/officeDocument/2006/math">
                              <m:acc>
                                <m:accPr>
                                  <m:chr m:val="̅"/>
                                  <m:ctrlPr>
                                    <a:rPr lang="en-US" altLang="zh-CN" b="1" i="1" smtClean="0">
                                      <a:latin typeface="Cambria Math" panose="02040503050406030204" pitchFamily="18" charset="0"/>
                                    </a:rPr>
                                  </m:ctrlPr>
                                </m:accPr>
                                <m:e>
                                  <m:r>
                                    <a:rPr lang="en-US" altLang="zh-CN" b="1" i="1" smtClean="0">
                                      <a:latin typeface="Cambria Math"/>
                                    </a:rPr>
                                    <m:t>𝑰𝑵</m:t>
                                  </m:r>
                                </m:e>
                              </m:acc>
                            </m:oMath>
                          </a14:m>
                          <a:r>
                            <a:rPr lang="en-US" altLang="zh-CN" sz="1800" b="1" kern="1200" baseline="-25000" dirty="0" smtClean="0">
                              <a:solidFill>
                                <a:schemeClr val="dk1"/>
                              </a:solidFill>
                              <a:latin typeface="+mn-lt"/>
                              <a:ea typeface="+mn-ea"/>
                              <a:cs typeface="+mn-cs"/>
                            </a:rPr>
                            <a:t>7</a:t>
                          </a:r>
                          <a:r>
                            <a:rPr lang="en-US" altLang="zh-CN" b="1" dirty="0" smtClean="0"/>
                            <a:t> </a:t>
                          </a:r>
                          <a:endParaRPr lang="zh-CN" altLang="en-US" sz="1800" b="1" kern="1200" baseline="-25000" dirty="0">
                            <a:solidFill>
                              <a:schemeClr val="dk1"/>
                            </a:solidFill>
                            <a:latin typeface="+mn-lt"/>
                            <a:ea typeface="+mn-ea"/>
                            <a:cs typeface="+mn-cs"/>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14:m>
                            <m:oMath xmlns:m="http://schemas.openxmlformats.org/officeDocument/2006/math">
                              <m:acc>
                                <m:accPr>
                                  <m:chr m:val="̅"/>
                                  <m:ctrlPr>
                                    <a:rPr lang="en-US" altLang="zh-CN" b="1" i="1" dirty="0" smtClean="0">
                                      <a:latin typeface="Cambria Math" panose="02040503050406030204" pitchFamily="18" charset="0"/>
                                    </a:rPr>
                                  </m:ctrlPr>
                                </m:accPr>
                                <m:e>
                                  <m:r>
                                    <a:rPr lang="en-US" altLang="zh-CN" b="1" i="1" dirty="0" smtClean="0">
                                      <a:latin typeface="Cambria Math"/>
                                    </a:rPr>
                                    <m:t>𝒀</m:t>
                                  </m:r>
                                </m:e>
                              </m:acc>
                            </m:oMath>
                          </a14:m>
                          <a:r>
                            <a:rPr lang="en-US" altLang="zh-CN" sz="1800" b="1" kern="1200" baseline="-25000" dirty="0" smtClean="0">
                              <a:solidFill>
                                <a:schemeClr val="dk1"/>
                              </a:solidFill>
                              <a:latin typeface="+mn-lt"/>
                              <a:ea typeface="+mn-ea"/>
                              <a:cs typeface="+mn-cs"/>
                            </a:rPr>
                            <a:t>2</a:t>
                          </a:r>
                          <a:r>
                            <a:rPr lang="en-US" altLang="zh-CN" b="1" dirty="0" smtClean="0"/>
                            <a:t>     </a:t>
                          </a:r>
                          <a14:m>
                            <m:oMath xmlns:m="http://schemas.openxmlformats.org/officeDocument/2006/math">
                              <m:acc>
                                <m:accPr>
                                  <m:chr m:val="̅"/>
                                  <m:ctrlPr>
                                    <a:rPr lang="en-US" altLang="zh-CN" b="1" i="1" smtClean="0">
                                      <a:latin typeface="Cambria Math" panose="02040503050406030204" pitchFamily="18" charset="0"/>
                                    </a:rPr>
                                  </m:ctrlPr>
                                </m:accPr>
                                <m:e>
                                  <m:r>
                                    <a:rPr lang="en-US" altLang="zh-CN" b="1" i="1" smtClean="0">
                                      <a:latin typeface="Cambria Math"/>
                                    </a:rPr>
                                    <m:t>𝒀</m:t>
                                  </m:r>
                                </m:e>
                              </m:acc>
                            </m:oMath>
                          </a14:m>
                          <a:r>
                            <a:rPr lang="en-US" altLang="zh-CN" sz="1800" b="1" kern="1200" baseline="-25000" dirty="0" smtClean="0">
                              <a:solidFill>
                                <a:schemeClr val="dk1"/>
                              </a:solidFill>
                              <a:latin typeface="+mn-lt"/>
                              <a:ea typeface="+mn-ea"/>
                              <a:cs typeface="+mn-cs"/>
                            </a:rPr>
                            <a:t>1</a:t>
                          </a:r>
                          <a:r>
                            <a:rPr lang="en-US" altLang="zh-CN" b="1" dirty="0" smtClean="0"/>
                            <a:t>     </a:t>
                          </a:r>
                          <a14:m>
                            <m:oMath xmlns:m="http://schemas.openxmlformats.org/officeDocument/2006/math">
                              <m:acc>
                                <m:accPr>
                                  <m:chr m:val="̅"/>
                                  <m:ctrlPr>
                                    <a:rPr lang="en-US" altLang="zh-CN" b="1" i="1" smtClean="0">
                                      <a:latin typeface="Cambria Math" panose="02040503050406030204" pitchFamily="18" charset="0"/>
                                    </a:rPr>
                                  </m:ctrlPr>
                                </m:accPr>
                                <m:e>
                                  <m:r>
                                    <a:rPr lang="en-US" altLang="zh-CN" b="1" i="1" smtClean="0">
                                      <a:latin typeface="Cambria Math"/>
                                    </a:rPr>
                                    <m:t>𝒀</m:t>
                                  </m:r>
                                </m:e>
                              </m:acc>
                            </m:oMath>
                          </a14:m>
                          <a:r>
                            <a:rPr lang="en-US" altLang="zh-CN" sz="1800" b="1" kern="1200" baseline="-25000" dirty="0" smtClean="0">
                              <a:solidFill>
                                <a:schemeClr val="dk1"/>
                              </a:solidFill>
                              <a:latin typeface="+mn-lt"/>
                              <a:ea typeface="+mn-ea"/>
                              <a:cs typeface="+mn-cs"/>
                            </a:rPr>
                            <a:t>0</a:t>
                          </a:r>
                          <a:r>
                            <a:rPr lang="en-US" altLang="zh-CN" b="1" dirty="0" smtClean="0"/>
                            <a:t>    </a:t>
                          </a:r>
                          <a14:m>
                            <m:oMath xmlns:m="http://schemas.openxmlformats.org/officeDocument/2006/math">
                              <m:acc>
                                <m:accPr>
                                  <m:chr m:val="̅"/>
                                  <m:ctrlPr>
                                    <a:rPr lang="en-US" altLang="zh-CN" b="1" i="1" smtClean="0">
                                      <a:latin typeface="Cambria Math" panose="02040503050406030204" pitchFamily="18" charset="0"/>
                                    </a:rPr>
                                  </m:ctrlPr>
                                </m:accPr>
                                <m:e>
                                  <m:r>
                                    <a:rPr lang="en-US" altLang="zh-CN" b="1" i="1" smtClean="0">
                                      <a:latin typeface="Cambria Math"/>
                                    </a:rPr>
                                    <m:t>𝒀</m:t>
                                  </m:r>
                                </m:e>
                              </m:acc>
                            </m:oMath>
                          </a14:m>
                          <a:r>
                            <a:rPr lang="en-US" altLang="zh-CN" sz="1800" b="1" kern="1200" baseline="-25000" dirty="0" smtClean="0">
                              <a:solidFill>
                                <a:schemeClr val="dk1"/>
                              </a:solidFill>
                              <a:latin typeface="+mn-lt"/>
                              <a:ea typeface="+mn-ea"/>
                              <a:cs typeface="+mn-cs"/>
                            </a:rPr>
                            <a:t>EX</a:t>
                          </a:r>
                          <a:r>
                            <a:rPr lang="en-US" altLang="zh-CN" b="1" dirty="0" smtClean="0"/>
                            <a:t>     Y</a:t>
                          </a:r>
                          <a:r>
                            <a:rPr lang="en-US" altLang="zh-CN" sz="1800" b="1" kern="1200" baseline="-25000" dirty="0" smtClean="0">
                              <a:solidFill>
                                <a:schemeClr val="dk1"/>
                              </a:solidFill>
                              <a:latin typeface="+mn-lt"/>
                              <a:ea typeface="+mn-ea"/>
                              <a:cs typeface="+mn-cs"/>
                            </a:rPr>
                            <a:t>S</a:t>
                          </a:r>
                          <a:endParaRPr lang="zh-CN" altLang="en-US" sz="1800" b="1" kern="1200" baseline="-250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0001"/>
                      </a:ext>
                    </a:extLst>
                  </a:tr>
                  <a:tr h="3962460">
                    <a:tc>
                      <a:txBody>
                        <a:bodyPr/>
                        <a:lstStyle/>
                        <a:p>
                          <a:pPr algn="dist">
                            <a:lnSpc>
                              <a:spcPct val="150000"/>
                            </a:lnSpc>
                          </a:pPr>
                          <a:r>
                            <a:rPr lang="en-US" altLang="zh-CN" dirty="0" smtClean="0"/>
                            <a:t>1XXXXXXXX</a:t>
                          </a:r>
                        </a:p>
                        <a:p>
                          <a:pPr algn="dist">
                            <a:lnSpc>
                              <a:spcPct val="150000"/>
                            </a:lnSpc>
                          </a:pPr>
                          <a:r>
                            <a:rPr lang="en-US" altLang="zh-CN" dirty="0" smtClean="0"/>
                            <a:t>011111111</a:t>
                          </a:r>
                        </a:p>
                        <a:p>
                          <a:pPr algn="dist">
                            <a:lnSpc>
                              <a:spcPct val="150000"/>
                            </a:lnSpc>
                          </a:pPr>
                          <a:r>
                            <a:rPr lang="en-US" altLang="zh-CN" dirty="0" smtClean="0"/>
                            <a:t>0XXXXXXX</a:t>
                          </a:r>
                          <a:r>
                            <a:rPr lang="en-US" altLang="zh-CN" dirty="0" smtClean="0">
                              <a:solidFill>
                                <a:srgbClr val="FF0000"/>
                              </a:solidFill>
                            </a:rPr>
                            <a:t>0</a:t>
                          </a:r>
                        </a:p>
                        <a:p>
                          <a:pPr algn="dist">
                            <a:lnSpc>
                              <a:spcPct val="150000"/>
                            </a:lnSpc>
                          </a:pPr>
                          <a:r>
                            <a:rPr lang="en-US" altLang="zh-CN" dirty="0" smtClean="0"/>
                            <a:t>0XXXXXX</a:t>
                          </a:r>
                          <a:r>
                            <a:rPr lang="en-US" altLang="zh-CN" sz="1800" kern="1200" dirty="0" smtClean="0">
                              <a:solidFill>
                                <a:srgbClr val="FF0000"/>
                              </a:solidFill>
                              <a:latin typeface="+mn-lt"/>
                              <a:ea typeface="+mn-ea"/>
                              <a:cs typeface="+mn-cs"/>
                            </a:rPr>
                            <a:t>0</a:t>
                          </a:r>
                          <a:r>
                            <a:rPr lang="en-US" altLang="zh-CN" dirty="0" smtClean="0"/>
                            <a:t>1</a:t>
                          </a:r>
                        </a:p>
                        <a:p>
                          <a:pPr algn="dist">
                            <a:lnSpc>
                              <a:spcPct val="150000"/>
                            </a:lnSpc>
                          </a:pPr>
                          <a:r>
                            <a:rPr lang="en-US" altLang="zh-CN" dirty="0" smtClean="0"/>
                            <a:t>0XXXXX</a:t>
                          </a:r>
                          <a:r>
                            <a:rPr lang="en-US" altLang="zh-CN" sz="1800" kern="1200" dirty="0" smtClean="0">
                              <a:solidFill>
                                <a:srgbClr val="FF0000"/>
                              </a:solidFill>
                              <a:latin typeface="+mn-lt"/>
                              <a:ea typeface="+mn-ea"/>
                              <a:cs typeface="+mn-cs"/>
                            </a:rPr>
                            <a:t>0</a:t>
                          </a:r>
                          <a:r>
                            <a:rPr lang="en-US" altLang="zh-CN" dirty="0" smtClean="0"/>
                            <a:t>11</a:t>
                          </a:r>
                        </a:p>
                        <a:p>
                          <a:pPr algn="dist">
                            <a:lnSpc>
                              <a:spcPct val="150000"/>
                            </a:lnSpc>
                          </a:pPr>
                          <a:r>
                            <a:rPr lang="en-US" altLang="zh-CN" dirty="0" smtClean="0"/>
                            <a:t>0XXXX</a:t>
                          </a:r>
                          <a:r>
                            <a:rPr lang="en-US" altLang="zh-CN" sz="1800" kern="1200" dirty="0" smtClean="0">
                              <a:solidFill>
                                <a:srgbClr val="FF0000"/>
                              </a:solidFill>
                              <a:latin typeface="+mn-lt"/>
                              <a:ea typeface="+mn-ea"/>
                              <a:cs typeface="+mn-cs"/>
                            </a:rPr>
                            <a:t>0</a:t>
                          </a:r>
                          <a:r>
                            <a:rPr lang="en-US" altLang="zh-CN" dirty="0" smtClean="0"/>
                            <a:t>111</a:t>
                          </a:r>
                        </a:p>
                        <a:p>
                          <a:pPr algn="dist">
                            <a:lnSpc>
                              <a:spcPct val="150000"/>
                            </a:lnSpc>
                          </a:pPr>
                          <a:r>
                            <a:rPr lang="en-US" altLang="zh-CN" dirty="0" smtClean="0"/>
                            <a:t>0XXX</a:t>
                          </a:r>
                          <a:r>
                            <a:rPr lang="en-US" altLang="zh-CN" sz="1800" kern="1200" dirty="0" smtClean="0">
                              <a:solidFill>
                                <a:srgbClr val="FF0000"/>
                              </a:solidFill>
                              <a:latin typeface="+mn-lt"/>
                              <a:ea typeface="+mn-ea"/>
                              <a:cs typeface="+mn-cs"/>
                            </a:rPr>
                            <a:t>0</a:t>
                          </a:r>
                          <a:r>
                            <a:rPr lang="en-US" altLang="zh-CN" dirty="0" smtClean="0"/>
                            <a:t>1111</a:t>
                          </a:r>
                        </a:p>
                        <a:p>
                          <a:pPr algn="dist">
                            <a:lnSpc>
                              <a:spcPct val="150000"/>
                            </a:lnSpc>
                          </a:pPr>
                          <a:r>
                            <a:rPr lang="en-US" altLang="zh-CN" dirty="0" smtClean="0"/>
                            <a:t>0XX</a:t>
                          </a:r>
                          <a:r>
                            <a:rPr lang="en-US" altLang="zh-CN" sz="1800" kern="1200" dirty="0" smtClean="0">
                              <a:solidFill>
                                <a:srgbClr val="FF0000"/>
                              </a:solidFill>
                              <a:latin typeface="+mn-lt"/>
                              <a:ea typeface="+mn-ea"/>
                              <a:cs typeface="+mn-cs"/>
                            </a:rPr>
                            <a:t>0</a:t>
                          </a:r>
                          <a:r>
                            <a:rPr lang="en-US" altLang="zh-CN" dirty="0" smtClean="0"/>
                            <a:t>11111</a:t>
                          </a:r>
                        </a:p>
                        <a:p>
                          <a:pPr algn="dist">
                            <a:lnSpc>
                              <a:spcPct val="150000"/>
                            </a:lnSpc>
                          </a:pPr>
                          <a:r>
                            <a:rPr lang="en-US" altLang="zh-CN" dirty="0" smtClean="0"/>
                            <a:t>0X</a:t>
                          </a:r>
                          <a:r>
                            <a:rPr lang="en-US" altLang="zh-CN" sz="1800" kern="1200" dirty="0" smtClean="0">
                              <a:solidFill>
                                <a:srgbClr val="FF0000"/>
                              </a:solidFill>
                              <a:latin typeface="+mn-lt"/>
                              <a:ea typeface="+mn-ea"/>
                              <a:cs typeface="+mn-cs"/>
                            </a:rPr>
                            <a:t>0</a:t>
                          </a:r>
                          <a:r>
                            <a:rPr lang="en-US" altLang="zh-CN" dirty="0" smtClean="0"/>
                            <a:t>111111</a:t>
                          </a:r>
                        </a:p>
                        <a:p>
                          <a:pPr algn="dist">
                            <a:lnSpc>
                              <a:spcPct val="150000"/>
                            </a:lnSpc>
                          </a:pPr>
                          <a:r>
                            <a:rPr lang="en-US" altLang="zh-CN" dirty="0" smtClean="0"/>
                            <a:t>0</a:t>
                          </a:r>
                          <a:r>
                            <a:rPr lang="en-US" altLang="zh-CN" sz="1800" kern="1200" dirty="0" smtClean="0">
                              <a:solidFill>
                                <a:srgbClr val="FF0000"/>
                              </a:solidFill>
                              <a:latin typeface="+mn-lt"/>
                              <a:ea typeface="+mn-ea"/>
                              <a:cs typeface="+mn-cs"/>
                            </a:rPr>
                            <a:t>0</a:t>
                          </a:r>
                          <a:r>
                            <a:rPr lang="en-US" altLang="zh-CN" dirty="0" smtClean="0"/>
                            <a:t>1111111</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dist">
                            <a:lnSpc>
                              <a:spcPct val="150000"/>
                            </a:lnSpc>
                          </a:pPr>
                          <a:r>
                            <a:rPr lang="en-US" altLang="zh-CN" dirty="0" smtClean="0"/>
                            <a:t>11111</a:t>
                          </a:r>
                        </a:p>
                        <a:p>
                          <a:pPr algn="dist">
                            <a:lnSpc>
                              <a:spcPct val="150000"/>
                            </a:lnSpc>
                          </a:pPr>
                          <a:r>
                            <a:rPr lang="en-US" altLang="zh-CN" dirty="0" smtClean="0"/>
                            <a:t>1111</a:t>
                          </a:r>
                          <a:r>
                            <a:rPr lang="en-US" altLang="zh-CN" b="1" dirty="0" smtClean="0"/>
                            <a:t>0</a:t>
                          </a:r>
                        </a:p>
                        <a:p>
                          <a:pPr algn="dist">
                            <a:lnSpc>
                              <a:spcPct val="150000"/>
                            </a:lnSpc>
                          </a:pPr>
                          <a:r>
                            <a:rPr lang="en-US" altLang="zh-CN" dirty="0" smtClean="0"/>
                            <a:t>000</a:t>
                          </a:r>
                          <a:r>
                            <a:rPr lang="en-US" altLang="zh-CN" b="1" dirty="0" smtClean="0">
                              <a:solidFill>
                                <a:srgbClr val="FF0000"/>
                              </a:solidFill>
                            </a:rPr>
                            <a:t>01</a:t>
                          </a:r>
                        </a:p>
                        <a:p>
                          <a:pPr algn="dist">
                            <a:lnSpc>
                              <a:spcPct val="150000"/>
                            </a:lnSpc>
                          </a:pPr>
                          <a:r>
                            <a:rPr lang="en-US" altLang="zh-CN" dirty="0" smtClean="0"/>
                            <a:t>001</a:t>
                          </a:r>
                          <a:r>
                            <a:rPr lang="en-US" altLang="zh-CN" sz="1800" b="1" kern="1200" dirty="0" smtClean="0">
                              <a:solidFill>
                                <a:srgbClr val="FF0000"/>
                              </a:solidFill>
                              <a:latin typeface="+mn-lt"/>
                              <a:ea typeface="+mn-ea"/>
                              <a:cs typeface="+mn-cs"/>
                            </a:rPr>
                            <a:t>0</a:t>
                          </a:r>
                          <a:r>
                            <a:rPr lang="en-US" altLang="zh-CN" b="1" dirty="0" smtClean="0">
                              <a:solidFill>
                                <a:srgbClr val="FF0000"/>
                              </a:solidFill>
                            </a:rPr>
                            <a:t>1</a:t>
                          </a:r>
                        </a:p>
                        <a:p>
                          <a:pPr algn="dist">
                            <a:lnSpc>
                              <a:spcPct val="150000"/>
                            </a:lnSpc>
                          </a:pPr>
                          <a:r>
                            <a:rPr lang="en-US" altLang="zh-CN" dirty="0" smtClean="0"/>
                            <a:t>010</a:t>
                          </a:r>
                          <a:r>
                            <a:rPr lang="en-US" altLang="zh-CN" b="1" dirty="0" smtClean="0">
                              <a:solidFill>
                                <a:srgbClr val="FF0000"/>
                              </a:solidFill>
                            </a:rPr>
                            <a:t>01</a:t>
                          </a:r>
                        </a:p>
                        <a:p>
                          <a:pPr algn="dist">
                            <a:lnSpc>
                              <a:spcPct val="150000"/>
                            </a:lnSpc>
                          </a:pPr>
                          <a:r>
                            <a:rPr lang="en-US" altLang="zh-CN" dirty="0" smtClean="0"/>
                            <a:t>011</a:t>
                          </a:r>
                          <a:r>
                            <a:rPr lang="en-US" altLang="zh-CN" b="1" dirty="0" smtClean="0">
                              <a:solidFill>
                                <a:srgbClr val="FF0000"/>
                              </a:solidFill>
                            </a:rPr>
                            <a:t>01</a:t>
                          </a:r>
                        </a:p>
                        <a:p>
                          <a:pPr algn="dist">
                            <a:lnSpc>
                              <a:spcPct val="150000"/>
                            </a:lnSpc>
                          </a:pPr>
                          <a:r>
                            <a:rPr lang="en-US" altLang="zh-CN" dirty="0" smtClean="0"/>
                            <a:t>100</a:t>
                          </a:r>
                          <a:r>
                            <a:rPr lang="en-US" altLang="zh-CN" b="1" dirty="0" smtClean="0">
                              <a:solidFill>
                                <a:srgbClr val="FF0000"/>
                              </a:solidFill>
                            </a:rPr>
                            <a:t>01</a:t>
                          </a:r>
                        </a:p>
                        <a:p>
                          <a:pPr algn="dist">
                            <a:lnSpc>
                              <a:spcPct val="150000"/>
                            </a:lnSpc>
                          </a:pPr>
                          <a:r>
                            <a:rPr lang="en-US" altLang="zh-CN" dirty="0" smtClean="0"/>
                            <a:t>101</a:t>
                          </a:r>
                          <a:r>
                            <a:rPr lang="en-US" altLang="zh-CN" b="1" dirty="0" smtClean="0">
                              <a:solidFill>
                                <a:srgbClr val="FF0000"/>
                              </a:solidFill>
                            </a:rPr>
                            <a:t>01</a:t>
                          </a:r>
                        </a:p>
                        <a:p>
                          <a:pPr algn="dist">
                            <a:lnSpc>
                              <a:spcPct val="150000"/>
                            </a:lnSpc>
                          </a:pPr>
                          <a:r>
                            <a:rPr lang="en-US" altLang="zh-CN" dirty="0" smtClean="0"/>
                            <a:t>110</a:t>
                          </a:r>
                          <a:r>
                            <a:rPr lang="en-US" altLang="zh-CN" b="1" dirty="0" smtClean="0">
                              <a:solidFill>
                                <a:srgbClr val="FF0000"/>
                              </a:solidFill>
                            </a:rPr>
                            <a:t>01</a:t>
                          </a:r>
                        </a:p>
                        <a:p>
                          <a:pPr algn="dist">
                            <a:lnSpc>
                              <a:spcPct val="150000"/>
                            </a:lnSpc>
                          </a:pPr>
                          <a:r>
                            <a:rPr lang="en-US" altLang="zh-CN" dirty="0" smtClean="0"/>
                            <a:t>111</a:t>
                          </a:r>
                          <a:r>
                            <a:rPr lang="en-US" altLang="zh-CN" b="1" dirty="0" smtClean="0">
                              <a:solidFill>
                                <a:srgbClr val="FF0000"/>
                              </a:solidFill>
                            </a:rPr>
                            <a:t>01</a:t>
                          </a:r>
                          <a:endParaRPr lang="zh-CN" altLang="en-US" b="1" dirty="0">
                            <a:solidFill>
                              <a:srgbClr val="FF0000"/>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p:graphicFrame>
            <p:nvGraphicFramePr>
              <p:cNvPr id="14" name="表格 13"/>
              <p:cNvGraphicFramePr>
                <a:graphicFrameLocks noGrp="1"/>
              </p:cNvGraphicFramePr>
              <p:nvPr>
                <p:extLst>
                  <p:ext uri="{D42A27DB-BD31-4B8C-83A1-F6EECF244321}">
                    <p14:modId xmlns:p14="http://schemas.microsoft.com/office/powerpoint/2010/main" xmlns="" xmlns:a14="http://schemas.microsoft.com/office/drawing/2010/main" val="3031114318"/>
                  </p:ext>
                </p:extLst>
              </p:nvPr>
            </p:nvGraphicFramePr>
            <p:xfrm>
              <a:off x="179512" y="1495569"/>
              <a:ext cx="8856984" cy="5038321"/>
            </p:xfrm>
            <a:graphic>
              <a:graphicData uri="http://schemas.openxmlformats.org/drawingml/2006/table">
                <a:tbl>
                  <a:tblPr firstRow="1" bandRow="1">
                    <a:tableStyleId>{5C22544A-7EE6-4342-B048-85BDC9FD1C3A}</a:tableStyleId>
                  </a:tblPr>
                  <a:tblGrid>
                    <a:gridCol w="5976664">
                      <a:extLst>
                        <a:ext uri="{9D8B030D-6E8A-4147-A177-3AD203B41FA5}">
                          <a16:colId xmlns:a16="http://schemas.microsoft.com/office/drawing/2014/main" xmlns="" xmlns:a14="http://schemas.microsoft.com/office/drawing/2010/main" val="20000"/>
                        </a:ext>
                      </a:extLst>
                    </a:gridCol>
                    <a:gridCol w="2880320">
                      <a:extLst>
                        <a:ext uri="{9D8B030D-6E8A-4147-A177-3AD203B41FA5}">
                          <a16:colId xmlns:a16="http://schemas.microsoft.com/office/drawing/2014/main" xmlns="" xmlns:a14="http://schemas.microsoft.com/office/drawing/2010/main" val="20001"/>
                        </a:ext>
                      </a:extLst>
                    </a:gridCol>
                  </a:tblGrid>
                  <a:tr h="465749">
                    <a:tc>
                      <a:txBody>
                        <a:bodyPr/>
                        <a:lstStyle/>
                        <a:p>
                          <a:pPr algn="ctr"/>
                          <a:r>
                            <a:rPr lang="zh-CN" altLang="en-US" dirty="0" smtClean="0">
                              <a:solidFill>
                                <a:srgbClr val="0000CC"/>
                              </a:solidFill>
                            </a:rPr>
                            <a:t>输入</a:t>
                          </a:r>
                          <a:endParaRPr lang="zh-CN" altLang="en-US" dirty="0">
                            <a:solidFill>
                              <a:srgbClr val="0000CC"/>
                            </a:solidFill>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dirty="0" smtClean="0">
                              <a:solidFill>
                                <a:srgbClr val="0000CC"/>
                              </a:solidFill>
                            </a:rPr>
                            <a:t>输出</a:t>
                          </a:r>
                          <a:endParaRPr lang="zh-CN" altLang="en-US" dirty="0">
                            <a:solidFill>
                              <a:srgbClr val="0000CC"/>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0"/>
                      </a:ext>
                    </a:extLst>
                  </a:tr>
                  <a:tr h="366332">
                    <a:tc>
                      <a:txBody>
                        <a:bodyPr/>
                        <a:lstStyle/>
                        <a:p>
                          <a:endParaRPr lang="zh-CN"/>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2" t="-134426" r="-48420" b="-1142623"/>
                          </a:stretch>
                        </a:blipFill>
                      </a:tcPr>
                    </a:tc>
                    <a:tc>
                      <a:txBody>
                        <a:bodyPr/>
                        <a:lstStyle/>
                        <a:p>
                          <a:endParaRPr lang="zh-C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7611" t="-134426" r="-423" b="-1142623"/>
                          </a:stretch>
                        </a:blipFill>
                      </a:tcPr>
                    </a:tc>
                    <a:extLst>
                      <a:ext uri="{0D108BD9-81ED-4DB2-BD59-A6C34878D82A}">
                        <a16:rowId xmlns:a16="http://schemas.microsoft.com/office/drawing/2014/main" xmlns="" xmlns:a14="http://schemas.microsoft.com/office/drawing/2010/main" val="10001"/>
                      </a:ext>
                    </a:extLst>
                  </a:tr>
                  <a:tr h="4206240">
                    <a:tc>
                      <a:txBody>
                        <a:bodyPr/>
                        <a:lstStyle/>
                        <a:p>
                          <a:pPr algn="dist">
                            <a:lnSpc>
                              <a:spcPct val="150000"/>
                            </a:lnSpc>
                          </a:pPr>
                          <a:r>
                            <a:rPr lang="en-US" altLang="zh-CN" dirty="0" smtClean="0"/>
                            <a:t>1XXXXXXXX</a:t>
                          </a:r>
                        </a:p>
                        <a:p>
                          <a:pPr algn="dist">
                            <a:lnSpc>
                              <a:spcPct val="150000"/>
                            </a:lnSpc>
                          </a:pPr>
                          <a:r>
                            <a:rPr lang="en-US" altLang="zh-CN" dirty="0" smtClean="0"/>
                            <a:t>011111111</a:t>
                          </a:r>
                        </a:p>
                        <a:p>
                          <a:pPr algn="dist">
                            <a:lnSpc>
                              <a:spcPct val="150000"/>
                            </a:lnSpc>
                          </a:pPr>
                          <a:r>
                            <a:rPr lang="en-US" altLang="zh-CN" dirty="0" smtClean="0"/>
                            <a:t>0XXXXXXX</a:t>
                          </a:r>
                          <a:r>
                            <a:rPr lang="en-US" altLang="zh-CN" dirty="0" smtClean="0">
                              <a:solidFill>
                                <a:srgbClr val="FF0000"/>
                              </a:solidFill>
                            </a:rPr>
                            <a:t>0</a:t>
                          </a:r>
                        </a:p>
                        <a:p>
                          <a:pPr algn="dist">
                            <a:lnSpc>
                              <a:spcPct val="150000"/>
                            </a:lnSpc>
                          </a:pPr>
                          <a:r>
                            <a:rPr lang="en-US" altLang="zh-CN" dirty="0" smtClean="0"/>
                            <a:t>0XXXXXX</a:t>
                          </a:r>
                          <a:r>
                            <a:rPr lang="en-US" altLang="zh-CN" sz="1800" kern="1200" dirty="0" smtClean="0">
                              <a:solidFill>
                                <a:srgbClr val="FF0000"/>
                              </a:solidFill>
                              <a:latin typeface="+mn-lt"/>
                              <a:ea typeface="+mn-ea"/>
                              <a:cs typeface="+mn-cs"/>
                            </a:rPr>
                            <a:t>0</a:t>
                          </a:r>
                          <a:r>
                            <a:rPr lang="en-US" altLang="zh-CN" dirty="0" smtClean="0"/>
                            <a:t>1</a:t>
                          </a:r>
                        </a:p>
                        <a:p>
                          <a:pPr algn="dist">
                            <a:lnSpc>
                              <a:spcPct val="150000"/>
                            </a:lnSpc>
                          </a:pPr>
                          <a:r>
                            <a:rPr lang="en-US" altLang="zh-CN" dirty="0" smtClean="0"/>
                            <a:t>0XXXXX</a:t>
                          </a:r>
                          <a:r>
                            <a:rPr lang="en-US" altLang="zh-CN" sz="1800" kern="1200" dirty="0" smtClean="0">
                              <a:solidFill>
                                <a:srgbClr val="FF0000"/>
                              </a:solidFill>
                              <a:latin typeface="+mn-lt"/>
                              <a:ea typeface="+mn-ea"/>
                              <a:cs typeface="+mn-cs"/>
                            </a:rPr>
                            <a:t>0</a:t>
                          </a:r>
                          <a:r>
                            <a:rPr lang="en-US" altLang="zh-CN" dirty="0" smtClean="0"/>
                            <a:t>11</a:t>
                          </a:r>
                        </a:p>
                        <a:p>
                          <a:pPr algn="dist">
                            <a:lnSpc>
                              <a:spcPct val="150000"/>
                            </a:lnSpc>
                          </a:pPr>
                          <a:r>
                            <a:rPr lang="en-US" altLang="zh-CN" dirty="0" smtClean="0"/>
                            <a:t>0XXXX</a:t>
                          </a:r>
                          <a:r>
                            <a:rPr lang="en-US" altLang="zh-CN" sz="1800" kern="1200" dirty="0" smtClean="0">
                              <a:solidFill>
                                <a:srgbClr val="FF0000"/>
                              </a:solidFill>
                              <a:latin typeface="+mn-lt"/>
                              <a:ea typeface="+mn-ea"/>
                              <a:cs typeface="+mn-cs"/>
                            </a:rPr>
                            <a:t>0</a:t>
                          </a:r>
                          <a:r>
                            <a:rPr lang="en-US" altLang="zh-CN" dirty="0" smtClean="0"/>
                            <a:t>111</a:t>
                          </a:r>
                        </a:p>
                        <a:p>
                          <a:pPr algn="dist">
                            <a:lnSpc>
                              <a:spcPct val="150000"/>
                            </a:lnSpc>
                          </a:pPr>
                          <a:r>
                            <a:rPr lang="en-US" altLang="zh-CN" dirty="0" smtClean="0"/>
                            <a:t>0XXX</a:t>
                          </a:r>
                          <a:r>
                            <a:rPr lang="en-US" altLang="zh-CN" sz="1800" kern="1200" dirty="0" smtClean="0">
                              <a:solidFill>
                                <a:srgbClr val="FF0000"/>
                              </a:solidFill>
                              <a:latin typeface="+mn-lt"/>
                              <a:ea typeface="+mn-ea"/>
                              <a:cs typeface="+mn-cs"/>
                            </a:rPr>
                            <a:t>0</a:t>
                          </a:r>
                          <a:r>
                            <a:rPr lang="en-US" altLang="zh-CN" dirty="0" smtClean="0"/>
                            <a:t>1111</a:t>
                          </a:r>
                        </a:p>
                        <a:p>
                          <a:pPr algn="dist">
                            <a:lnSpc>
                              <a:spcPct val="150000"/>
                            </a:lnSpc>
                          </a:pPr>
                          <a:r>
                            <a:rPr lang="en-US" altLang="zh-CN" dirty="0" smtClean="0"/>
                            <a:t>0XX</a:t>
                          </a:r>
                          <a:r>
                            <a:rPr lang="en-US" altLang="zh-CN" sz="1800" kern="1200" dirty="0" smtClean="0">
                              <a:solidFill>
                                <a:srgbClr val="FF0000"/>
                              </a:solidFill>
                              <a:latin typeface="+mn-lt"/>
                              <a:ea typeface="+mn-ea"/>
                              <a:cs typeface="+mn-cs"/>
                            </a:rPr>
                            <a:t>0</a:t>
                          </a:r>
                          <a:r>
                            <a:rPr lang="en-US" altLang="zh-CN" dirty="0" smtClean="0"/>
                            <a:t>11111</a:t>
                          </a:r>
                        </a:p>
                        <a:p>
                          <a:pPr algn="dist">
                            <a:lnSpc>
                              <a:spcPct val="150000"/>
                            </a:lnSpc>
                          </a:pPr>
                          <a:r>
                            <a:rPr lang="en-US" altLang="zh-CN" dirty="0" smtClean="0"/>
                            <a:t>0X</a:t>
                          </a:r>
                          <a:r>
                            <a:rPr lang="en-US" altLang="zh-CN" sz="1800" kern="1200" dirty="0" smtClean="0">
                              <a:solidFill>
                                <a:srgbClr val="FF0000"/>
                              </a:solidFill>
                              <a:latin typeface="+mn-lt"/>
                              <a:ea typeface="+mn-ea"/>
                              <a:cs typeface="+mn-cs"/>
                            </a:rPr>
                            <a:t>0</a:t>
                          </a:r>
                          <a:r>
                            <a:rPr lang="en-US" altLang="zh-CN" dirty="0" smtClean="0"/>
                            <a:t>111111</a:t>
                          </a:r>
                        </a:p>
                        <a:p>
                          <a:pPr algn="dist">
                            <a:lnSpc>
                              <a:spcPct val="150000"/>
                            </a:lnSpc>
                          </a:pPr>
                          <a:r>
                            <a:rPr lang="en-US" altLang="zh-CN" dirty="0" smtClean="0"/>
                            <a:t>0</a:t>
                          </a:r>
                          <a:r>
                            <a:rPr lang="en-US" altLang="zh-CN" sz="1800" kern="1200" dirty="0" smtClean="0">
                              <a:solidFill>
                                <a:srgbClr val="FF0000"/>
                              </a:solidFill>
                              <a:latin typeface="+mn-lt"/>
                              <a:ea typeface="+mn-ea"/>
                              <a:cs typeface="+mn-cs"/>
                            </a:rPr>
                            <a:t>0</a:t>
                          </a:r>
                          <a:r>
                            <a:rPr lang="en-US" altLang="zh-CN" dirty="0" smtClean="0"/>
                            <a:t>1111111</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dist">
                            <a:lnSpc>
                              <a:spcPct val="150000"/>
                            </a:lnSpc>
                          </a:pPr>
                          <a:r>
                            <a:rPr lang="en-US" altLang="zh-CN" dirty="0" smtClean="0"/>
                            <a:t>11111</a:t>
                          </a:r>
                        </a:p>
                        <a:p>
                          <a:pPr algn="dist">
                            <a:lnSpc>
                              <a:spcPct val="150000"/>
                            </a:lnSpc>
                          </a:pPr>
                          <a:r>
                            <a:rPr lang="en-US" altLang="zh-CN" dirty="0" smtClean="0"/>
                            <a:t>1111</a:t>
                          </a:r>
                          <a:r>
                            <a:rPr lang="en-US" altLang="zh-CN" b="1" dirty="0" smtClean="0"/>
                            <a:t>0</a:t>
                          </a:r>
                        </a:p>
                        <a:p>
                          <a:pPr algn="dist">
                            <a:lnSpc>
                              <a:spcPct val="150000"/>
                            </a:lnSpc>
                          </a:pPr>
                          <a:r>
                            <a:rPr lang="en-US" altLang="zh-CN" dirty="0" smtClean="0"/>
                            <a:t>000</a:t>
                          </a:r>
                          <a:r>
                            <a:rPr lang="en-US" altLang="zh-CN" b="1" dirty="0" smtClean="0">
                              <a:solidFill>
                                <a:srgbClr val="FF0000"/>
                              </a:solidFill>
                            </a:rPr>
                            <a:t>01</a:t>
                          </a:r>
                        </a:p>
                        <a:p>
                          <a:pPr algn="dist">
                            <a:lnSpc>
                              <a:spcPct val="150000"/>
                            </a:lnSpc>
                          </a:pPr>
                          <a:r>
                            <a:rPr lang="en-US" altLang="zh-CN" dirty="0" smtClean="0"/>
                            <a:t>001</a:t>
                          </a:r>
                          <a:r>
                            <a:rPr lang="en-US" altLang="zh-CN" sz="1800" b="1" kern="1200" dirty="0" smtClean="0">
                              <a:solidFill>
                                <a:srgbClr val="FF0000"/>
                              </a:solidFill>
                              <a:latin typeface="+mn-lt"/>
                              <a:ea typeface="+mn-ea"/>
                              <a:cs typeface="+mn-cs"/>
                            </a:rPr>
                            <a:t>0</a:t>
                          </a:r>
                          <a:r>
                            <a:rPr lang="en-US" altLang="zh-CN" b="1" dirty="0" smtClean="0">
                              <a:solidFill>
                                <a:srgbClr val="FF0000"/>
                              </a:solidFill>
                            </a:rPr>
                            <a:t>1</a:t>
                          </a:r>
                        </a:p>
                        <a:p>
                          <a:pPr algn="dist">
                            <a:lnSpc>
                              <a:spcPct val="150000"/>
                            </a:lnSpc>
                          </a:pPr>
                          <a:r>
                            <a:rPr lang="en-US" altLang="zh-CN" dirty="0" smtClean="0"/>
                            <a:t>010</a:t>
                          </a:r>
                          <a:r>
                            <a:rPr lang="en-US" altLang="zh-CN" b="1" dirty="0" smtClean="0">
                              <a:solidFill>
                                <a:srgbClr val="FF0000"/>
                              </a:solidFill>
                            </a:rPr>
                            <a:t>01</a:t>
                          </a:r>
                        </a:p>
                        <a:p>
                          <a:pPr algn="dist">
                            <a:lnSpc>
                              <a:spcPct val="150000"/>
                            </a:lnSpc>
                          </a:pPr>
                          <a:r>
                            <a:rPr lang="en-US" altLang="zh-CN" dirty="0" smtClean="0"/>
                            <a:t>011</a:t>
                          </a:r>
                          <a:r>
                            <a:rPr lang="en-US" altLang="zh-CN" b="1" dirty="0" smtClean="0">
                              <a:solidFill>
                                <a:srgbClr val="FF0000"/>
                              </a:solidFill>
                            </a:rPr>
                            <a:t>01</a:t>
                          </a:r>
                        </a:p>
                        <a:p>
                          <a:pPr algn="dist">
                            <a:lnSpc>
                              <a:spcPct val="150000"/>
                            </a:lnSpc>
                          </a:pPr>
                          <a:r>
                            <a:rPr lang="en-US" altLang="zh-CN" dirty="0" smtClean="0"/>
                            <a:t>100</a:t>
                          </a:r>
                          <a:r>
                            <a:rPr lang="en-US" altLang="zh-CN" b="1" dirty="0" smtClean="0">
                              <a:solidFill>
                                <a:srgbClr val="FF0000"/>
                              </a:solidFill>
                            </a:rPr>
                            <a:t>01</a:t>
                          </a:r>
                        </a:p>
                        <a:p>
                          <a:pPr algn="dist">
                            <a:lnSpc>
                              <a:spcPct val="150000"/>
                            </a:lnSpc>
                          </a:pPr>
                          <a:r>
                            <a:rPr lang="en-US" altLang="zh-CN" dirty="0" smtClean="0"/>
                            <a:t>101</a:t>
                          </a:r>
                          <a:r>
                            <a:rPr lang="en-US" altLang="zh-CN" b="1" dirty="0" smtClean="0">
                              <a:solidFill>
                                <a:srgbClr val="FF0000"/>
                              </a:solidFill>
                            </a:rPr>
                            <a:t>01</a:t>
                          </a:r>
                        </a:p>
                        <a:p>
                          <a:pPr algn="dist">
                            <a:lnSpc>
                              <a:spcPct val="150000"/>
                            </a:lnSpc>
                          </a:pPr>
                          <a:r>
                            <a:rPr lang="en-US" altLang="zh-CN" dirty="0" smtClean="0"/>
                            <a:t>110</a:t>
                          </a:r>
                          <a:r>
                            <a:rPr lang="en-US" altLang="zh-CN" b="1" dirty="0" smtClean="0">
                              <a:solidFill>
                                <a:srgbClr val="FF0000"/>
                              </a:solidFill>
                            </a:rPr>
                            <a:t>01</a:t>
                          </a:r>
                        </a:p>
                        <a:p>
                          <a:pPr algn="dist">
                            <a:lnSpc>
                              <a:spcPct val="150000"/>
                            </a:lnSpc>
                          </a:pPr>
                          <a:r>
                            <a:rPr lang="en-US" altLang="zh-CN" dirty="0" smtClean="0"/>
                            <a:t>111</a:t>
                          </a:r>
                          <a:r>
                            <a:rPr lang="en-US" altLang="zh-CN" b="1" dirty="0" smtClean="0">
                              <a:solidFill>
                                <a:srgbClr val="FF0000"/>
                              </a:solidFill>
                            </a:rPr>
                            <a:t>01</a:t>
                          </a:r>
                          <a:endParaRPr lang="zh-CN" altLang="en-US" b="1" dirty="0">
                            <a:solidFill>
                              <a:srgbClr val="FF0000"/>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xmlns:a14="http://schemas.microsoft.com/office/drawing/2010/main" val="10002"/>
                      </a:ext>
                    </a:extLst>
                  </a:tr>
                </a:tbl>
              </a:graphicData>
            </a:graphic>
          </p:graphicFrame>
        </mc:Fallback>
      </mc:AlternateContent>
      <p:sp>
        <p:nvSpPr>
          <p:cNvPr id="15" name="标题 1"/>
          <p:cNvSpPr txBox="1">
            <a:spLocks/>
          </p:cNvSpPr>
          <p:nvPr/>
        </p:nvSpPr>
        <p:spPr bwMode="auto">
          <a:xfrm>
            <a:off x="1259632" y="116632"/>
            <a:ext cx="7793037"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4.3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编码器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555598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0" nodeType="clickEffect">
                                  <p:stCondLst>
                                    <p:cond delay="0"/>
                                  </p:stCondLst>
                                  <p:childTnLst>
                                    <p:animEffect transition="out" filter="blinds(horizontal)">
                                      <p:cBhvr>
                                        <p:cTn id="6" dur="500"/>
                                        <p:tgtEl>
                                          <p:spTgt spid="23"/>
                                        </p:tgtEl>
                                      </p:cBhvr>
                                    </p:animEffect>
                                    <p:set>
                                      <p:cBhvr>
                                        <p:cTn id="7" dur="1" fill="hold">
                                          <p:stCondLst>
                                            <p:cond delay="499"/>
                                          </p:stCondLst>
                                        </p:cTn>
                                        <p:tgtEl>
                                          <p:spTgt spid="2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3" presetClass="exit" presetSubtype="10" fill="hold" grpId="0" nodeType="clickEffect">
                                  <p:stCondLst>
                                    <p:cond delay="0"/>
                                  </p:stCondLst>
                                  <p:childTnLst>
                                    <p:animEffect transition="out" filter="blinds(horizontal)">
                                      <p:cBhvr>
                                        <p:cTn id="23" dur="500"/>
                                        <p:tgtEl>
                                          <p:spTgt spid="20"/>
                                        </p:tgtEl>
                                      </p:cBhvr>
                                    </p:animEffect>
                                    <p:set>
                                      <p:cBhvr>
                                        <p:cTn id="24" dur="1" fill="hold">
                                          <p:stCondLst>
                                            <p:cond delay="499"/>
                                          </p:stCondLst>
                                        </p:cTn>
                                        <p:tgtEl>
                                          <p:spTgt spid="20"/>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3" presetClass="exit" presetSubtype="10" fill="hold" grpId="0" nodeType="clickEffect">
                                  <p:stCondLst>
                                    <p:cond delay="0"/>
                                  </p:stCondLst>
                                  <p:childTnLst>
                                    <p:animEffect transition="out" filter="blinds(horizontal)">
                                      <p:cBhvr>
                                        <p:cTn id="28" dur="500"/>
                                        <p:tgtEl>
                                          <p:spTgt spid="21"/>
                                        </p:tgtEl>
                                      </p:cBhvr>
                                    </p:animEffect>
                                    <p:set>
                                      <p:cBhvr>
                                        <p:cTn id="29" dur="1" fill="hold">
                                          <p:stCondLst>
                                            <p:cond delay="499"/>
                                          </p:stCondLst>
                                        </p:cTn>
                                        <p:tgtEl>
                                          <p:spTgt spid="21"/>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3" presetClass="exit" presetSubtype="10" fill="hold" grpId="0" nodeType="clickEffect">
                                  <p:stCondLst>
                                    <p:cond delay="0"/>
                                  </p:stCondLst>
                                  <p:childTnLst>
                                    <p:animEffect transition="out" filter="blinds(horizontal)">
                                      <p:cBhvr>
                                        <p:cTn id="33" dur="500"/>
                                        <p:tgtEl>
                                          <p:spTgt spid="22"/>
                                        </p:tgtEl>
                                      </p:cBhvr>
                                    </p:animEffect>
                                    <p:set>
                                      <p:cBhvr>
                                        <p:cTn id="34" dur="1" fill="hold">
                                          <p:stCondLst>
                                            <p:cond delay="499"/>
                                          </p:stCondLst>
                                        </p:cTn>
                                        <p:tgtEl>
                                          <p:spTgt spid="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10" grpId="0"/>
      <p:bldP spid="11" grpId="0"/>
      <p:bldP spid="12"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编码器</a:t>
            </a:r>
            <a:r>
              <a:rPr lang="en-US" altLang="zh-CN" dirty="0"/>
              <a:t>----</a:t>
            </a:r>
            <a:r>
              <a:rPr lang="zh-CN" altLang="en-US" dirty="0" smtClean="0"/>
              <a:t>集成</a:t>
            </a:r>
            <a:r>
              <a:rPr lang="zh-CN" altLang="en-US" dirty="0"/>
              <a:t>编码器的扩展应用</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63</a:t>
            </a:fld>
            <a:endParaRPr lang="zh-CN" altLang="en-US"/>
          </a:p>
        </p:txBody>
      </p:sp>
      <p:sp>
        <p:nvSpPr>
          <p:cNvPr id="18" name="Text Box 7"/>
          <p:cNvSpPr txBox="1">
            <a:spLocks noChangeArrowheads="1"/>
          </p:cNvSpPr>
          <p:nvPr/>
        </p:nvSpPr>
        <p:spPr bwMode="auto">
          <a:xfrm>
            <a:off x="1042988" y="6513414"/>
            <a:ext cx="7056437"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sz="1800" b="1" dirty="0" smtClean="0">
                <a:latin typeface="楷体_GB2312" pitchFamily="49" charset="-122"/>
                <a:ea typeface="楷体_GB2312" pitchFamily="49" charset="-122"/>
              </a:rPr>
              <a:t>图</a:t>
            </a:r>
            <a:r>
              <a:rPr kumimoji="1" lang="en-US" altLang="zh-CN" sz="1800" b="1" dirty="0" smtClean="0">
                <a:latin typeface="楷体_GB2312" pitchFamily="49" charset="-122"/>
                <a:ea typeface="楷体_GB2312" pitchFamily="49" charset="-122"/>
              </a:rPr>
              <a:t>  </a:t>
            </a:r>
            <a:r>
              <a:rPr kumimoji="1" lang="zh-CN" altLang="en-US" sz="1800" b="1" dirty="0">
                <a:latin typeface="楷体_GB2312" pitchFamily="49" charset="-122"/>
                <a:ea typeface="楷体_GB2312" pitchFamily="49" charset="-122"/>
              </a:rPr>
              <a:t>用两片</a:t>
            </a:r>
            <a:r>
              <a:rPr kumimoji="1" lang="en-US" altLang="zh-CN" sz="1800" b="1" dirty="0">
                <a:latin typeface="楷体_GB2312" pitchFamily="49" charset="-122"/>
                <a:ea typeface="楷体_GB2312" pitchFamily="49" charset="-122"/>
              </a:rPr>
              <a:t>74LS148</a:t>
            </a:r>
            <a:r>
              <a:rPr kumimoji="1" lang="zh-CN" altLang="en-US" sz="1800" b="1" dirty="0">
                <a:latin typeface="楷体_GB2312" pitchFamily="49" charset="-122"/>
                <a:ea typeface="楷体_GB2312" pitchFamily="49" charset="-122"/>
              </a:rPr>
              <a:t>接成的</a:t>
            </a:r>
            <a:r>
              <a:rPr kumimoji="1" lang="en-US" altLang="zh-CN" sz="1800" b="1" dirty="0">
                <a:latin typeface="楷体_GB2312" pitchFamily="49" charset="-122"/>
                <a:ea typeface="楷体_GB2312" pitchFamily="49" charset="-122"/>
              </a:rPr>
              <a:t>16</a:t>
            </a:r>
            <a:r>
              <a:rPr kumimoji="1" lang="zh-CN" altLang="en-US" sz="1800" b="1" dirty="0">
                <a:latin typeface="楷体_GB2312" pitchFamily="49" charset="-122"/>
                <a:ea typeface="楷体_GB2312" pitchFamily="49" charset="-122"/>
              </a:rPr>
              <a:t>线－</a:t>
            </a:r>
            <a:r>
              <a:rPr kumimoji="1" lang="en-US" altLang="zh-CN" sz="1800" b="1" dirty="0">
                <a:latin typeface="楷体_GB2312" pitchFamily="49" charset="-122"/>
                <a:ea typeface="楷体_GB2312" pitchFamily="49" charset="-122"/>
              </a:rPr>
              <a:t>4</a:t>
            </a:r>
            <a:r>
              <a:rPr kumimoji="1" lang="zh-CN" altLang="en-US" sz="1800" b="1" dirty="0">
                <a:latin typeface="楷体_GB2312" pitchFamily="49" charset="-122"/>
                <a:ea typeface="楷体_GB2312" pitchFamily="49" charset="-122"/>
              </a:rPr>
              <a:t>线优先编码器逻辑图</a:t>
            </a:r>
          </a:p>
        </p:txBody>
      </p:sp>
      <p:pic>
        <p:nvPicPr>
          <p:cNvPr id="19" name="Picture 8" descr="3-3-4"/>
          <p:cNvPicPr>
            <a:picLocks noChangeAspect="1" noChangeArrowheads="1"/>
          </p:cNvPicPr>
          <p:nvPr/>
        </p:nvPicPr>
        <p:blipFill>
          <a:blip r:embed="rId2" cstate="print">
            <a:clrChange>
              <a:clrFrom>
                <a:srgbClr val="F6F6F6"/>
              </a:clrFrom>
              <a:clrTo>
                <a:srgbClr val="F6F6F6">
                  <a:alpha val="0"/>
                </a:srgbClr>
              </a:clrTo>
            </a:clrChange>
            <a:lum contrast="24000"/>
            <a:extLst>
              <a:ext uri="{28A0092B-C50C-407E-A947-70E740481C1C}">
                <a14:useLocalDpi xmlns:a14="http://schemas.microsoft.com/office/drawing/2010/main" xmlns="" val="0"/>
              </a:ext>
            </a:extLst>
          </a:blip>
          <a:srcRect/>
          <a:stretch>
            <a:fillRect/>
          </a:stretch>
        </p:blipFill>
        <p:spPr bwMode="auto">
          <a:xfrm>
            <a:off x="1763713" y="1412776"/>
            <a:ext cx="5384800" cy="5106988"/>
          </a:xfrm>
          <a:prstGeom prst="rect">
            <a:avLst/>
          </a:prstGeom>
          <a:noFill/>
          <a:extLst>
            <a:ext uri="{909E8E84-426E-40DD-AFC4-6F175D3DCCD1}">
              <a14:hiddenFill xmlns:a14="http://schemas.microsoft.com/office/drawing/2010/main" xmlns="">
                <a:solidFill>
                  <a:srgbClr val="FFFFFF"/>
                </a:solidFill>
              </a14:hiddenFill>
            </a:ext>
          </a:extLst>
        </p:spPr>
      </p:pic>
      <p:sp>
        <p:nvSpPr>
          <p:cNvPr id="20" name="Rectangle 10"/>
          <p:cNvSpPr>
            <a:spLocks noChangeArrowheads="1"/>
          </p:cNvSpPr>
          <p:nvPr/>
        </p:nvSpPr>
        <p:spPr bwMode="auto">
          <a:xfrm>
            <a:off x="4284663" y="3136801"/>
            <a:ext cx="431800" cy="431800"/>
          </a:xfrm>
          <a:prstGeom prst="rect">
            <a:avLst/>
          </a:prstGeom>
          <a:solidFill>
            <a:schemeClr val="bg1"/>
          </a:solidFill>
          <a:ln w="9525">
            <a:noFill/>
            <a:miter lim="800000"/>
            <a:headEnd/>
            <a:tailEnd/>
          </a:ln>
          <a:effectLst/>
          <a:extLst/>
        </p:spPr>
        <p:txBody>
          <a:bodyPr wrap="none" anchor="ctr"/>
          <a:lstStyle/>
          <a:p>
            <a:endParaRPr lang="zh-CN" altLang="en-US"/>
          </a:p>
        </p:txBody>
      </p:sp>
      <p:sp>
        <p:nvSpPr>
          <p:cNvPr id="21" name="Rectangle 11"/>
          <p:cNvSpPr>
            <a:spLocks noChangeArrowheads="1"/>
          </p:cNvSpPr>
          <p:nvPr/>
        </p:nvSpPr>
        <p:spPr bwMode="auto">
          <a:xfrm>
            <a:off x="2268538" y="4287739"/>
            <a:ext cx="719137" cy="2089150"/>
          </a:xfrm>
          <a:prstGeom prst="rect">
            <a:avLst/>
          </a:prstGeom>
          <a:solidFill>
            <a:schemeClr val="bg1"/>
          </a:solidFill>
          <a:ln w="9525">
            <a:noFill/>
            <a:miter lim="800000"/>
            <a:headEnd/>
            <a:tailEnd/>
          </a:ln>
          <a:effectLst/>
          <a:extLst/>
        </p:spPr>
        <p:txBody>
          <a:bodyPr wrap="none" anchor="ctr"/>
          <a:lstStyle/>
          <a:p>
            <a:endParaRPr lang="zh-CN" altLang="en-US"/>
          </a:p>
        </p:txBody>
      </p:sp>
      <p:sp>
        <p:nvSpPr>
          <p:cNvPr id="22" name="Rectangle 12"/>
          <p:cNvSpPr>
            <a:spLocks noChangeArrowheads="1"/>
          </p:cNvSpPr>
          <p:nvPr/>
        </p:nvSpPr>
        <p:spPr bwMode="auto">
          <a:xfrm>
            <a:off x="2987675" y="4287739"/>
            <a:ext cx="3960813" cy="2089150"/>
          </a:xfrm>
          <a:prstGeom prst="rect">
            <a:avLst/>
          </a:prstGeom>
          <a:solidFill>
            <a:schemeClr val="bg1"/>
          </a:solidFill>
          <a:ln w="9525">
            <a:noFill/>
            <a:miter lim="800000"/>
            <a:headEnd/>
            <a:tailEnd/>
          </a:ln>
          <a:effectLst/>
          <a:extLst/>
        </p:spPr>
        <p:txBody>
          <a:bodyPr wrap="none" anchor="ctr"/>
          <a:lstStyle/>
          <a:p>
            <a:endParaRPr lang="zh-CN" altLang="en-US"/>
          </a:p>
        </p:txBody>
      </p:sp>
      <p:sp>
        <p:nvSpPr>
          <p:cNvPr id="23" name="Rectangle 13"/>
          <p:cNvSpPr>
            <a:spLocks noChangeArrowheads="1"/>
          </p:cNvSpPr>
          <p:nvPr/>
        </p:nvSpPr>
        <p:spPr bwMode="auto">
          <a:xfrm>
            <a:off x="1835150" y="3208239"/>
            <a:ext cx="431800" cy="431800"/>
          </a:xfrm>
          <a:prstGeom prst="rect">
            <a:avLst/>
          </a:prstGeom>
          <a:solidFill>
            <a:schemeClr val="bg1"/>
          </a:solidFill>
          <a:ln w="9525">
            <a:noFill/>
            <a:miter lim="800000"/>
            <a:headEnd/>
            <a:tailEnd/>
          </a:ln>
          <a:effectLst/>
          <a:extLst/>
        </p:spPr>
        <p:txBody>
          <a:bodyPr wrap="none" anchor="ctr"/>
          <a:lstStyle/>
          <a:p>
            <a:endParaRPr lang="zh-CN" altLang="en-US"/>
          </a:p>
        </p:txBody>
      </p:sp>
      <p:sp>
        <p:nvSpPr>
          <p:cNvPr id="10" name="TextBox 9"/>
          <p:cNvSpPr txBox="1"/>
          <p:nvPr/>
        </p:nvSpPr>
        <p:spPr>
          <a:xfrm>
            <a:off x="2438663" y="3480051"/>
            <a:ext cx="332142" cy="369332"/>
          </a:xfrm>
          <a:prstGeom prst="rect">
            <a:avLst/>
          </a:prstGeom>
          <a:noFill/>
        </p:spPr>
        <p:txBody>
          <a:bodyPr wrap="none" rtlCol="0">
            <a:spAutoFit/>
          </a:bodyPr>
          <a:lstStyle/>
          <a:p>
            <a:r>
              <a:rPr lang="en-US" altLang="zh-CN" b="1" dirty="0" smtClean="0">
                <a:solidFill>
                  <a:srgbClr val="FF0000"/>
                </a:solidFill>
              </a:rPr>
              <a:t>0</a:t>
            </a:r>
            <a:endParaRPr lang="zh-CN" altLang="en-US" b="1" dirty="0">
              <a:solidFill>
                <a:srgbClr val="FF0000"/>
              </a:solidFill>
            </a:endParaRPr>
          </a:p>
        </p:txBody>
      </p:sp>
      <p:sp>
        <p:nvSpPr>
          <p:cNvPr id="11" name="TextBox 10"/>
          <p:cNvSpPr txBox="1"/>
          <p:nvPr/>
        </p:nvSpPr>
        <p:spPr>
          <a:xfrm>
            <a:off x="3738968" y="3126514"/>
            <a:ext cx="332142" cy="369332"/>
          </a:xfrm>
          <a:prstGeom prst="rect">
            <a:avLst/>
          </a:prstGeom>
          <a:noFill/>
        </p:spPr>
        <p:txBody>
          <a:bodyPr wrap="none" rtlCol="0">
            <a:spAutoFit/>
          </a:bodyPr>
          <a:lstStyle/>
          <a:p>
            <a:r>
              <a:rPr lang="en-US" altLang="zh-CN" b="1" dirty="0" smtClean="0">
                <a:solidFill>
                  <a:srgbClr val="FF0000"/>
                </a:solidFill>
              </a:rPr>
              <a:t>1</a:t>
            </a:r>
            <a:endParaRPr lang="zh-CN" altLang="en-US" b="1" dirty="0">
              <a:solidFill>
                <a:srgbClr val="FF0000"/>
              </a:solidFill>
            </a:endParaRPr>
          </a:p>
        </p:txBody>
      </p:sp>
      <p:sp>
        <p:nvSpPr>
          <p:cNvPr id="12" name="椭圆 11"/>
          <p:cNvSpPr/>
          <p:nvPr/>
        </p:nvSpPr>
        <p:spPr>
          <a:xfrm>
            <a:off x="1763713" y="2996952"/>
            <a:ext cx="841021" cy="667765"/>
          </a:xfrm>
          <a:prstGeom prst="ellipse">
            <a:avLst/>
          </a:prstGeom>
          <a:noFill/>
          <a:ln w="15875">
            <a:solidFill>
              <a:srgbClr val="FF0000"/>
            </a:solidFill>
            <a:prstDash val="solid"/>
          </a:ln>
        </p:spPr>
        <p:txBody>
          <a:bodyPr wrap="square" rtlCol="0" anchor="ctr">
            <a:spAutoFit/>
          </a:bodyPr>
          <a:lstStyle/>
          <a:p>
            <a:pPr algn="ctr"/>
            <a:endParaRPr lang="zh-CN" altLang="en-US" sz="2000" b="1" dirty="0">
              <a:latin typeface="华文新魏" pitchFamily="2" charset="-122"/>
              <a:ea typeface="华文新魏" pitchFamily="2" charset="-122"/>
            </a:endParaRPr>
          </a:p>
        </p:txBody>
      </p:sp>
      <p:sp>
        <p:nvSpPr>
          <p:cNvPr id="13" name="标题 1"/>
          <p:cNvSpPr txBox="1">
            <a:spLocks/>
          </p:cNvSpPr>
          <p:nvPr/>
        </p:nvSpPr>
        <p:spPr bwMode="auto">
          <a:xfrm>
            <a:off x="1259633" y="116632"/>
            <a:ext cx="7560840"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4.3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编码器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1077282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0" nodeType="clickEffect">
                                  <p:stCondLst>
                                    <p:cond delay="0"/>
                                  </p:stCondLst>
                                  <p:childTnLst>
                                    <p:animEffect transition="out" filter="blinds(horizontal)">
                                      <p:cBhvr>
                                        <p:cTn id="6" dur="500"/>
                                        <p:tgtEl>
                                          <p:spTgt spid="23"/>
                                        </p:tgtEl>
                                      </p:cBhvr>
                                    </p:animEffect>
                                    <p:set>
                                      <p:cBhvr>
                                        <p:cTn id="7" dur="1" fill="hold">
                                          <p:stCondLst>
                                            <p:cond delay="499"/>
                                          </p:stCondLst>
                                        </p:cTn>
                                        <p:tgtEl>
                                          <p:spTgt spid="2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3" presetClass="exit" presetSubtype="10" fill="hold" grpId="0" nodeType="clickEffect">
                                  <p:stCondLst>
                                    <p:cond delay="0"/>
                                  </p:stCondLst>
                                  <p:childTnLst>
                                    <p:animEffect transition="out" filter="blinds(horizontal)">
                                      <p:cBhvr>
                                        <p:cTn id="23" dur="500"/>
                                        <p:tgtEl>
                                          <p:spTgt spid="20"/>
                                        </p:tgtEl>
                                      </p:cBhvr>
                                    </p:animEffect>
                                    <p:set>
                                      <p:cBhvr>
                                        <p:cTn id="24" dur="1" fill="hold">
                                          <p:stCondLst>
                                            <p:cond delay="499"/>
                                          </p:stCondLst>
                                        </p:cTn>
                                        <p:tgtEl>
                                          <p:spTgt spid="20"/>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3" presetClass="exit" presetSubtype="10" fill="hold" grpId="0" nodeType="clickEffect">
                                  <p:stCondLst>
                                    <p:cond delay="0"/>
                                  </p:stCondLst>
                                  <p:childTnLst>
                                    <p:animEffect transition="out" filter="blinds(horizontal)">
                                      <p:cBhvr>
                                        <p:cTn id="28" dur="500"/>
                                        <p:tgtEl>
                                          <p:spTgt spid="21"/>
                                        </p:tgtEl>
                                      </p:cBhvr>
                                    </p:animEffect>
                                    <p:set>
                                      <p:cBhvr>
                                        <p:cTn id="29" dur="1" fill="hold">
                                          <p:stCondLst>
                                            <p:cond delay="499"/>
                                          </p:stCondLst>
                                        </p:cTn>
                                        <p:tgtEl>
                                          <p:spTgt spid="21"/>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3" presetClass="exit" presetSubtype="10" fill="hold" grpId="0" nodeType="clickEffect">
                                  <p:stCondLst>
                                    <p:cond delay="0"/>
                                  </p:stCondLst>
                                  <p:childTnLst>
                                    <p:animEffect transition="out" filter="blinds(horizontal)">
                                      <p:cBhvr>
                                        <p:cTn id="33" dur="500"/>
                                        <p:tgtEl>
                                          <p:spTgt spid="22"/>
                                        </p:tgtEl>
                                      </p:cBhvr>
                                    </p:animEffect>
                                    <p:set>
                                      <p:cBhvr>
                                        <p:cTn id="34" dur="1" fill="hold">
                                          <p:stCondLst>
                                            <p:cond delay="499"/>
                                          </p:stCondLst>
                                        </p:cTn>
                                        <p:tgtEl>
                                          <p:spTgt spid="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10" grpId="0"/>
      <p:bldP spid="11" grpId="0"/>
      <p:bldP spid="12"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编码器</a:t>
            </a:r>
            <a:r>
              <a:rPr lang="en-US" altLang="zh-CN" dirty="0"/>
              <a:t>----</a:t>
            </a:r>
            <a:r>
              <a:rPr lang="zh-CN" altLang="en-US" dirty="0" smtClean="0"/>
              <a:t>集成</a:t>
            </a:r>
            <a:r>
              <a:rPr lang="zh-CN" altLang="en-US" dirty="0"/>
              <a:t>编码器的扩展应用</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64</a:t>
            </a:fld>
            <a:endParaRPr lang="zh-CN" altLang="en-US"/>
          </a:p>
        </p:txBody>
      </p:sp>
      <p:sp>
        <p:nvSpPr>
          <p:cNvPr id="18" name="Text Box 7"/>
          <p:cNvSpPr txBox="1">
            <a:spLocks noChangeArrowheads="1"/>
          </p:cNvSpPr>
          <p:nvPr/>
        </p:nvSpPr>
        <p:spPr bwMode="auto">
          <a:xfrm>
            <a:off x="1042988" y="6513414"/>
            <a:ext cx="7056437"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sz="1800" b="1" dirty="0" smtClean="0">
                <a:latin typeface="楷体_GB2312" pitchFamily="49" charset="-122"/>
                <a:ea typeface="楷体_GB2312" pitchFamily="49" charset="-122"/>
              </a:rPr>
              <a:t>图</a:t>
            </a:r>
            <a:r>
              <a:rPr kumimoji="1" lang="en-US" altLang="zh-CN" sz="1800" b="1" dirty="0" smtClean="0">
                <a:latin typeface="楷体_GB2312" pitchFamily="49" charset="-122"/>
                <a:ea typeface="楷体_GB2312" pitchFamily="49" charset="-122"/>
              </a:rPr>
              <a:t>  </a:t>
            </a:r>
            <a:r>
              <a:rPr kumimoji="1" lang="zh-CN" altLang="en-US" sz="1800" b="1" dirty="0">
                <a:latin typeface="楷体_GB2312" pitchFamily="49" charset="-122"/>
                <a:ea typeface="楷体_GB2312" pitchFamily="49" charset="-122"/>
              </a:rPr>
              <a:t>用两片</a:t>
            </a:r>
            <a:r>
              <a:rPr kumimoji="1" lang="en-US" altLang="zh-CN" sz="1800" b="1" dirty="0">
                <a:latin typeface="楷体_GB2312" pitchFamily="49" charset="-122"/>
                <a:ea typeface="楷体_GB2312" pitchFamily="49" charset="-122"/>
              </a:rPr>
              <a:t>74LS148</a:t>
            </a:r>
            <a:r>
              <a:rPr kumimoji="1" lang="zh-CN" altLang="en-US" sz="1800" b="1" dirty="0">
                <a:latin typeface="楷体_GB2312" pitchFamily="49" charset="-122"/>
                <a:ea typeface="楷体_GB2312" pitchFamily="49" charset="-122"/>
              </a:rPr>
              <a:t>接成的</a:t>
            </a:r>
            <a:r>
              <a:rPr kumimoji="1" lang="en-US" altLang="zh-CN" sz="1800" b="1" dirty="0">
                <a:latin typeface="楷体_GB2312" pitchFamily="49" charset="-122"/>
                <a:ea typeface="楷体_GB2312" pitchFamily="49" charset="-122"/>
              </a:rPr>
              <a:t>16</a:t>
            </a:r>
            <a:r>
              <a:rPr kumimoji="1" lang="zh-CN" altLang="en-US" sz="1800" b="1" dirty="0">
                <a:latin typeface="楷体_GB2312" pitchFamily="49" charset="-122"/>
                <a:ea typeface="楷体_GB2312" pitchFamily="49" charset="-122"/>
              </a:rPr>
              <a:t>线－</a:t>
            </a:r>
            <a:r>
              <a:rPr kumimoji="1" lang="en-US" altLang="zh-CN" sz="1800" b="1" dirty="0">
                <a:latin typeface="楷体_GB2312" pitchFamily="49" charset="-122"/>
                <a:ea typeface="楷体_GB2312" pitchFamily="49" charset="-122"/>
              </a:rPr>
              <a:t>4</a:t>
            </a:r>
            <a:r>
              <a:rPr kumimoji="1" lang="zh-CN" altLang="en-US" sz="1800" b="1" dirty="0">
                <a:latin typeface="楷体_GB2312" pitchFamily="49" charset="-122"/>
                <a:ea typeface="楷体_GB2312" pitchFamily="49" charset="-122"/>
              </a:rPr>
              <a:t>线优先编码器逻辑图</a:t>
            </a:r>
          </a:p>
        </p:txBody>
      </p:sp>
      <p:pic>
        <p:nvPicPr>
          <p:cNvPr id="19" name="Picture 8" descr="3-3-4"/>
          <p:cNvPicPr>
            <a:picLocks noChangeAspect="1" noChangeArrowheads="1"/>
          </p:cNvPicPr>
          <p:nvPr/>
        </p:nvPicPr>
        <p:blipFill>
          <a:blip r:embed="rId2" cstate="print">
            <a:clrChange>
              <a:clrFrom>
                <a:srgbClr val="F6F6F6"/>
              </a:clrFrom>
              <a:clrTo>
                <a:srgbClr val="F6F6F6">
                  <a:alpha val="0"/>
                </a:srgbClr>
              </a:clrTo>
            </a:clrChange>
            <a:lum contrast="24000"/>
            <a:extLst>
              <a:ext uri="{28A0092B-C50C-407E-A947-70E740481C1C}">
                <a14:useLocalDpi xmlns:a14="http://schemas.microsoft.com/office/drawing/2010/main" xmlns="" val="0"/>
              </a:ext>
            </a:extLst>
          </a:blip>
          <a:srcRect/>
          <a:stretch>
            <a:fillRect/>
          </a:stretch>
        </p:blipFill>
        <p:spPr bwMode="auto">
          <a:xfrm>
            <a:off x="1763713" y="1412776"/>
            <a:ext cx="5384800" cy="5106988"/>
          </a:xfrm>
          <a:prstGeom prst="rect">
            <a:avLst/>
          </a:prstGeom>
          <a:noFill/>
          <a:extLst>
            <a:ext uri="{909E8E84-426E-40DD-AFC4-6F175D3DCCD1}">
              <a14:hiddenFill xmlns:a14="http://schemas.microsoft.com/office/drawing/2010/main" xmlns="">
                <a:solidFill>
                  <a:srgbClr val="FFFFFF"/>
                </a:solidFill>
              </a14:hiddenFill>
            </a:ext>
          </a:extLst>
        </p:spPr>
      </p:pic>
      <p:sp>
        <p:nvSpPr>
          <p:cNvPr id="3" name="TextBox 2"/>
          <p:cNvSpPr txBox="1"/>
          <p:nvPr/>
        </p:nvSpPr>
        <p:spPr>
          <a:xfrm>
            <a:off x="2438663" y="3480051"/>
            <a:ext cx="332142" cy="369332"/>
          </a:xfrm>
          <a:prstGeom prst="rect">
            <a:avLst/>
          </a:prstGeom>
          <a:noFill/>
        </p:spPr>
        <p:txBody>
          <a:bodyPr wrap="none" rtlCol="0">
            <a:spAutoFit/>
          </a:bodyPr>
          <a:lstStyle/>
          <a:p>
            <a:r>
              <a:rPr lang="en-US" altLang="zh-CN" b="1" dirty="0" smtClean="0">
                <a:solidFill>
                  <a:srgbClr val="FF0000"/>
                </a:solidFill>
              </a:rPr>
              <a:t>0</a:t>
            </a:r>
            <a:endParaRPr lang="zh-CN" altLang="en-US" b="1" dirty="0">
              <a:solidFill>
                <a:srgbClr val="FF0000"/>
              </a:solidFill>
            </a:endParaRPr>
          </a:p>
        </p:txBody>
      </p:sp>
      <p:sp>
        <p:nvSpPr>
          <p:cNvPr id="12" name="TextBox 11"/>
          <p:cNvSpPr txBox="1"/>
          <p:nvPr/>
        </p:nvSpPr>
        <p:spPr>
          <a:xfrm>
            <a:off x="3738968" y="3126514"/>
            <a:ext cx="332142" cy="369332"/>
          </a:xfrm>
          <a:prstGeom prst="rect">
            <a:avLst/>
          </a:prstGeom>
          <a:noFill/>
        </p:spPr>
        <p:txBody>
          <a:bodyPr wrap="none" rtlCol="0">
            <a:spAutoFit/>
          </a:bodyPr>
          <a:lstStyle/>
          <a:p>
            <a:r>
              <a:rPr lang="en-US" altLang="zh-CN" b="1" dirty="0" smtClean="0">
                <a:solidFill>
                  <a:srgbClr val="FF0000"/>
                </a:solidFill>
              </a:rPr>
              <a:t>1</a:t>
            </a:r>
            <a:endParaRPr lang="zh-CN" altLang="en-US" b="1" dirty="0">
              <a:solidFill>
                <a:srgbClr val="FF0000"/>
              </a:solidFill>
            </a:endParaRPr>
          </a:p>
        </p:txBody>
      </p:sp>
      <p:sp>
        <p:nvSpPr>
          <p:cNvPr id="5" name="椭圆 4"/>
          <p:cNvSpPr/>
          <p:nvPr/>
        </p:nvSpPr>
        <p:spPr>
          <a:xfrm>
            <a:off x="1763713" y="2996952"/>
            <a:ext cx="841021" cy="667765"/>
          </a:xfrm>
          <a:prstGeom prst="ellipse">
            <a:avLst/>
          </a:prstGeom>
          <a:noFill/>
          <a:ln w="15875">
            <a:solidFill>
              <a:srgbClr val="FF0000"/>
            </a:solidFill>
            <a:prstDash val="solid"/>
          </a:ln>
        </p:spPr>
        <p:txBody>
          <a:bodyPr wrap="square" rtlCol="0" anchor="ctr">
            <a:spAutoFit/>
          </a:bodyPr>
          <a:lstStyle/>
          <a:p>
            <a:pPr algn="ctr"/>
            <a:endParaRPr lang="zh-CN" altLang="en-US" sz="2000" b="1" dirty="0">
              <a:latin typeface="华文新魏" pitchFamily="2" charset="-122"/>
              <a:ea typeface="华文新魏" pitchFamily="2" charset="-122"/>
            </a:endParaRPr>
          </a:p>
        </p:txBody>
      </p:sp>
      <p:sp>
        <p:nvSpPr>
          <p:cNvPr id="14" name="TextBox 13"/>
          <p:cNvSpPr txBox="1"/>
          <p:nvPr/>
        </p:nvSpPr>
        <p:spPr>
          <a:xfrm>
            <a:off x="2196338" y="2132856"/>
            <a:ext cx="332142" cy="369332"/>
          </a:xfrm>
          <a:prstGeom prst="rect">
            <a:avLst/>
          </a:prstGeom>
          <a:noFill/>
        </p:spPr>
        <p:txBody>
          <a:bodyPr wrap="none" rtlCol="0">
            <a:spAutoFit/>
          </a:bodyPr>
          <a:lstStyle/>
          <a:p>
            <a:r>
              <a:rPr lang="en-US" altLang="zh-CN" b="1" dirty="0" smtClean="0">
                <a:solidFill>
                  <a:srgbClr val="FF0000"/>
                </a:solidFill>
              </a:rPr>
              <a:t>0</a:t>
            </a:r>
            <a:endParaRPr lang="zh-CN" altLang="en-US" b="1" dirty="0">
              <a:solidFill>
                <a:srgbClr val="FF0000"/>
              </a:solidFill>
            </a:endParaRPr>
          </a:p>
        </p:txBody>
      </p:sp>
      <p:sp>
        <p:nvSpPr>
          <p:cNvPr id="16" name="TextBox 15"/>
          <p:cNvSpPr txBox="1"/>
          <p:nvPr/>
        </p:nvSpPr>
        <p:spPr>
          <a:xfrm>
            <a:off x="6228184" y="3184556"/>
            <a:ext cx="332142" cy="369332"/>
          </a:xfrm>
          <a:prstGeom prst="rect">
            <a:avLst/>
          </a:prstGeom>
          <a:noFill/>
        </p:spPr>
        <p:txBody>
          <a:bodyPr wrap="none" rtlCol="0">
            <a:spAutoFit/>
          </a:bodyPr>
          <a:lstStyle/>
          <a:p>
            <a:r>
              <a:rPr lang="en-US" altLang="zh-CN" b="1" dirty="0" smtClean="0">
                <a:solidFill>
                  <a:srgbClr val="FF0000"/>
                </a:solidFill>
              </a:rPr>
              <a:t>1</a:t>
            </a:r>
            <a:endParaRPr lang="zh-CN" altLang="en-US" b="1" dirty="0">
              <a:solidFill>
                <a:srgbClr val="FF0000"/>
              </a:solidFill>
            </a:endParaRPr>
          </a:p>
        </p:txBody>
      </p:sp>
      <p:sp>
        <p:nvSpPr>
          <p:cNvPr id="17" name="TextBox 16"/>
          <p:cNvSpPr txBox="1"/>
          <p:nvPr/>
        </p:nvSpPr>
        <p:spPr>
          <a:xfrm>
            <a:off x="5148064" y="3924941"/>
            <a:ext cx="332142" cy="369332"/>
          </a:xfrm>
          <a:prstGeom prst="rect">
            <a:avLst/>
          </a:prstGeom>
          <a:noFill/>
        </p:spPr>
        <p:txBody>
          <a:bodyPr wrap="none" rtlCol="0">
            <a:spAutoFit/>
          </a:bodyPr>
          <a:lstStyle/>
          <a:p>
            <a:r>
              <a:rPr lang="en-US" altLang="zh-CN" b="1" dirty="0" smtClean="0">
                <a:solidFill>
                  <a:srgbClr val="FF0000"/>
                </a:solidFill>
              </a:rPr>
              <a:t>1</a:t>
            </a:r>
            <a:endParaRPr lang="zh-CN" altLang="en-US" b="1" dirty="0">
              <a:solidFill>
                <a:srgbClr val="FF0000"/>
              </a:solidFill>
            </a:endParaRPr>
          </a:p>
        </p:txBody>
      </p:sp>
      <p:sp>
        <p:nvSpPr>
          <p:cNvPr id="24" name="TextBox 23"/>
          <p:cNvSpPr txBox="1"/>
          <p:nvPr/>
        </p:nvSpPr>
        <p:spPr>
          <a:xfrm>
            <a:off x="5703787" y="3995772"/>
            <a:ext cx="332142" cy="369332"/>
          </a:xfrm>
          <a:prstGeom prst="rect">
            <a:avLst/>
          </a:prstGeom>
          <a:noFill/>
        </p:spPr>
        <p:txBody>
          <a:bodyPr wrap="none" rtlCol="0">
            <a:spAutoFit/>
          </a:bodyPr>
          <a:lstStyle/>
          <a:p>
            <a:r>
              <a:rPr lang="en-US" altLang="zh-CN" b="1" dirty="0" smtClean="0">
                <a:solidFill>
                  <a:srgbClr val="FF0000"/>
                </a:solidFill>
              </a:rPr>
              <a:t>1</a:t>
            </a:r>
            <a:endParaRPr lang="zh-CN" altLang="en-US" b="1" dirty="0">
              <a:solidFill>
                <a:srgbClr val="FF0000"/>
              </a:solidFill>
            </a:endParaRPr>
          </a:p>
        </p:txBody>
      </p:sp>
      <p:sp>
        <p:nvSpPr>
          <p:cNvPr id="25" name="TextBox 24"/>
          <p:cNvSpPr txBox="1"/>
          <p:nvPr/>
        </p:nvSpPr>
        <p:spPr>
          <a:xfrm>
            <a:off x="6092771" y="3978712"/>
            <a:ext cx="332142" cy="369332"/>
          </a:xfrm>
          <a:prstGeom prst="rect">
            <a:avLst/>
          </a:prstGeom>
          <a:noFill/>
        </p:spPr>
        <p:txBody>
          <a:bodyPr wrap="none" rtlCol="0">
            <a:spAutoFit/>
          </a:bodyPr>
          <a:lstStyle/>
          <a:p>
            <a:r>
              <a:rPr lang="en-US" altLang="zh-CN" b="1" dirty="0" smtClean="0">
                <a:solidFill>
                  <a:srgbClr val="FF0000"/>
                </a:solidFill>
              </a:rPr>
              <a:t>1</a:t>
            </a:r>
            <a:endParaRPr lang="zh-CN" altLang="en-US" b="1" dirty="0">
              <a:solidFill>
                <a:srgbClr val="FF0000"/>
              </a:solidFill>
            </a:endParaRPr>
          </a:p>
        </p:txBody>
      </p:sp>
      <p:sp>
        <p:nvSpPr>
          <p:cNvPr id="26" name="TextBox 25"/>
          <p:cNvSpPr txBox="1"/>
          <p:nvPr/>
        </p:nvSpPr>
        <p:spPr>
          <a:xfrm>
            <a:off x="4716016" y="3923764"/>
            <a:ext cx="332142" cy="369332"/>
          </a:xfrm>
          <a:prstGeom prst="rect">
            <a:avLst/>
          </a:prstGeom>
          <a:noFill/>
        </p:spPr>
        <p:txBody>
          <a:bodyPr wrap="none" rtlCol="0">
            <a:spAutoFit/>
          </a:bodyPr>
          <a:lstStyle/>
          <a:p>
            <a:r>
              <a:rPr lang="en-US" altLang="zh-CN" b="1" dirty="0" smtClean="0">
                <a:solidFill>
                  <a:srgbClr val="FF0000"/>
                </a:solidFill>
              </a:rPr>
              <a:t>1</a:t>
            </a:r>
            <a:endParaRPr lang="zh-CN" altLang="en-US" b="1" dirty="0">
              <a:solidFill>
                <a:srgbClr val="FF0000"/>
              </a:solidFill>
            </a:endParaRPr>
          </a:p>
        </p:txBody>
      </p:sp>
      <p:sp>
        <p:nvSpPr>
          <p:cNvPr id="27" name="TextBox 26"/>
          <p:cNvSpPr txBox="1"/>
          <p:nvPr/>
        </p:nvSpPr>
        <p:spPr>
          <a:xfrm>
            <a:off x="2727690" y="3861048"/>
            <a:ext cx="332142" cy="369332"/>
          </a:xfrm>
          <a:prstGeom prst="rect">
            <a:avLst/>
          </a:prstGeom>
          <a:noFill/>
        </p:spPr>
        <p:txBody>
          <a:bodyPr wrap="none" rtlCol="0">
            <a:spAutoFit/>
          </a:bodyPr>
          <a:lstStyle/>
          <a:p>
            <a:r>
              <a:rPr lang="en-US" altLang="zh-CN" b="1" dirty="0" smtClean="0">
                <a:solidFill>
                  <a:srgbClr val="FF0000"/>
                </a:solidFill>
              </a:rPr>
              <a:t>0</a:t>
            </a:r>
            <a:endParaRPr lang="zh-CN" altLang="en-US" b="1" dirty="0">
              <a:solidFill>
                <a:srgbClr val="FF0000"/>
              </a:solidFill>
            </a:endParaRPr>
          </a:p>
        </p:txBody>
      </p:sp>
      <p:sp>
        <p:nvSpPr>
          <p:cNvPr id="28" name="TextBox 27"/>
          <p:cNvSpPr txBox="1"/>
          <p:nvPr/>
        </p:nvSpPr>
        <p:spPr>
          <a:xfrm>
            <a:off x="3231746" y="3851756"/>
            <a:ext cx="332142" cy="369332"/>
          </a:xfrm>
          <a:prstGeom prst="rect">
            <a:avLst/>
          </a:prstGeom>
          <a:noFill/>
        </p:spPr>
        <p:txBody>
          <a:bodyPr wrap="none" rtlCol="0">
            <a:spAutoFit/>
          </a:bodyPr>
          <a:lstStyle/>
          <a:p>
            <a:r>
              <a:rPr lang="en-US" altLang="zh-CN" b="1" dirty="0" smtClean="0">
                <a:solidFill>
                  <a:srgbClr val="FF0000"/>
                </a:solidFill>
              </a:rPr>
              <a:t>0</a:t>
            </a:r>
            <a:endParaRPr lang="zh-CN" altLang="en-US" b="1" dirty="0">
              <a:solidFill>
                <a:srgbClr val="FF0000"/>
              </a:solidFill>
            </a:endParaRPr>
          </a:p>
        </p:txBody>
      </p:sp>
      <p:sp>
        <p:nvSpPr>
          <p:cNvPr id="29" name="TextBox 28"/>
          <p:cNvSpPr txBox="1"/>
          <p:nvPr/>
        </p:nvSpPr>
        <p:spPr>
          <a:xfrm>
            <a:off x="3735802" y="3851756"/>
            <a:ext cx="332142" cy="369332"/>
          </a:xfrm>
          <a:prstGeom prst="rect">
            <a:avLst/>
          </a:prstGeom>
          <a:noFill/>
        </p:spPr>
        <p:txBody>
          <a:bodyPr wrap="none" rtlCol="0">
            <a:spAutoFit/>
          </a:bodyPr>
          <a:lstStyle/>
          <a:p>
            <a:r>
              <a:rPr lang="en-US" altLang="zh-CN" b="1" dirty="0" smtClean="0">
                <a:solidFill>
                  <a:srgbClr val="FF0000"/>
                </a:solidFill>
              </a:rPr>
              <a:t>0</a:t>
            </a:r>
            <a:endParaRPr lang="zh-CN" altLang="en-US" b="1" dirty="0">
              <a:solidFill>
                <a:srgbClr val="FF0000"/>
              </a:solidFill>
            </a:endParaRPr>
          </a:p>
        </p:txBody>
      </p:sp>
      <p:sp>
        <p:nvSpPr>
          <p:cNvPr id="30" name="TextBox 29"/>
          <p:cNvSpPr txBox="1"/>
          <p:nvPr/>
        </p:nvSpPr>
        <p:spPr>
          <a:xfrm>
            <a:off x="2561619" y="5517232"/>
            <a:ext cx="332142" cy="369332"/>
          </a:xfrm>
          <a:prstGeom prst="rect">
            <a:avLst/>
          </a:prstGeom>
          <a:noFill/>
        </p:spPr>
        <p:txBody>
          <a:bodyPr wrap="none" rtlCol="0">
            <a:spAutoFit/>
          </a:bodyPr>
          <a:lstStyle/>
          <a:p>
            <a:r>
              <a:rPr lang="en-US" altLang="zh-CN" b="1" dirty="0" smtClean="0">
                <a:solidFill>
                  <a:srgbClr val="FF0000"/>
                </a:solidFill>
              </a:rPr>
              <a:t>1</a:t>
            </a:r>
            <a:endParaRPr lang="zh-CN" altLang="en-US" b="1" dirty="0">
              <a:solidFill>
                <a:srgbClr val="FF0000"/>
              </a:solidFill>
            </a:endParaRPr>
          </a:p>
        </p:txBody>
      </p:sp>
      <p:sp>
        <p:nvSpPr>
          <p:cNvPr id="31" name="TextBox 30"/>
          <p:cNvSpPr txBox="1"/>
          <p:nvPr/>
        </p:nvSpPr>
        <p:spPr>
          <a:xfrm>
            <a:off x="3519778" y="5445224"/>
            <a:ext cx="332142" cy="369332"/>
          </a:xfrm>
          <a:prstGeom prst="rect">
            <a:avLst/>
          </a:prstGeom>
          <a:noFill/>
        </p:spPr>
        <p:txBody>
          <a:bodyPr wrap="none" rtlCol="0">
            <a:spAutoFit/>
          </a:bodyPr>
          <a:lstStyle/>
          <a:p>
            <a:r>
              <a:rPr lang="en-US" altLang="zh-CN" b="1" dirty="0" smtClean="0">
                <a:solidFill>
                  <a:srgbClr val="FF0000"/>
                </a:solidFill>
              </a:rPr>
              <a:t>1</a:t>
            </a:r>
            <a:endParaRPr lang="zh-CN" altLang="en-US" b="1" dirty="0">
              <a:solidFill>
                <a:srgbClr val="FF0000"/>
              </a:solidFill>
            </a:endParaRPr>
          </a:p>
        </p:txBody>
      </p:sp>
      <p:sp>
        <p:nvSpPr>
          <p:cNvPr id="32" name="TextBox 31"/>
          <p:cNvSpPr txBox="1"/>
          <p:nvPr/>
        </p:nvSpPr>
        <p:spPr>
          <a:xfrm>
            <a:off x="4788024" y="5517232"/>
            <a:ext cx="332142" cy="369332"/>
          </a:xfrm>
          <a:prstGeom prst="rect">
            <a:avLst/>
          </a:prstGeom>
          <a:noFill/>
        </p:spPr>
        <p:txBody>
          <a:bodyPr wrap="none" rtlCol="0">
            <a:spAutoFit/>
          </a:bodyPr>
          <a:lstStyle/>
          <a:p>
            <a:r>
              <a:rPr lang="en-US" altLang="zh-CN" b="1" dirty="0" smtClean="0">
                <a:solidFill>
                  <a:srgbClr val="FF0000"/>
                </a:solidFill>
              </a:rPr>
              <a:t>1</a:t>
            </a:r>
            <a:endParaRPr lang="zh-CN" altLang="en-US" b="1" dirty="0">
              <a:solidFill>
                <a:srgbClr val="FF0000"/>
              </a:solidFill>
            </a:endParaRPr>
          </a:p>
        </p:txBody>
      </p:sp>
      <p:sp>
        <p:nvSpPr>
          <p:cNvPr id="33" name="TextBox 32"/>
          <p:cNvSpPr txBox="1"/>
          <p:nvPr/>
        </p:nvSpPr>
        <p:spPr>
          <a:xfrm>
            <a:off x="6012160" y="5517232"/>
            <a:ext cx="332142" cy="369332"/>
          </a:xfrm>
          <a:prstGeom prst="rect">
            <a:avLst/>
          </a:prstGeom>
          <a:noFill/>
        </p:spPr>
        <p:txBody>
          <a:bodyPr wrap="none" rtlCol="0">
            <a:spAutoFit/>
          </a:bodyPr>
          <a:lstStyle/>
          <a:p>
            <a:r>
              <a:rPr lang="en-US" altLang="zh-CN" b="1" dirty="0" smtClean="0">
                <a:solidFill>
                  <a:srgbClr val="FF0000"/>
                </a:solidFill>
              </a:rPr>
              <a:t>1</a:t>
            </a:r>
            <a:endParaRPr lang="zh-CN" altLang="en-US" b="1" dirty="0">
              <a:solidFill>
                <a:srgbClr val="FF0000"/>
              </a:solidFill>
            </a:endParaRPr>
          </a:p>
        </p:txBody>
      </p:sp>
      <p:sp>
        <p:nvSpPr>
          <p:cNvPr id="22" name="标题 1"/>
          <p:cNvSpPr txBox="1">
            <a:spLocks/>
          </p:cNvSpPr>
          <p:nvPr/>
        </p:nvSpPr>
        <p:spPr bwMode="auto">
          <a:xfrm>
            <a:off x="1259633" y="116632"/>
            <a:ext cx="7560840"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4.3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编码器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51130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p:bldP spid="5" grpId="0" animBg="1"/>
      <p:bldP spid="14" grpId="0"/>
      <p:bldP spid="16" grpId="0"/>
      <p:bldP spid="17" grpId="0"/>
      <p:bldP spid="24" grpId="0"/>
      <p:bldP spid="25" grpId="0"/>
      <p:bldP spid="26" grpId="0"/>
      <p:bldP spid="27" grpId="0"/>
      <p:bldP spid="28" grpId="0"/>
      <p:bldP spid="29" grpId="0"/>
      <p:bldP spid="30" grpId="0"/>
      <p:bldP spid="31" grpId="0"/>
      <p:bldP spid="32" grpId="0"/>
      <p:bldP spid="33"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descr="E:\wrj\课件\数字电路与系统\数字电路与数字系统\tupian\4-12.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763688" y="2204864"/>
            <a:ext cx="6286500" cy="3429000"/>
          </a:xfrm>
          <a:prstGeom prst="rect">
            <a:avLst/>
          </a:prstGeom>
          <a:noFill/>
          <a:extLst>
            <a:ext uri="{909E8E84-426E-40DD-AFC4-6F175D3DCCD1}">
              <a14:hiddenFill xmlns:a14="http://schemas.microsoft.com/office/drawing/2010/main" xmlns="">
                <a:solidFill>
                  <a:srgbClr val="FFFFFF"/>
                </a:solidFill>
              </a14:hiddenFill>
            </a:ext>
          </a:extLst>
        </p:spPr>
      </p:pic>
      <p:sp>
        <p:nvSpPr>
          <p:cNvPr id="2" name="标题 1"/>
          <p:cNvSpPr>
            <a:spLocks noGrp="1"/>
          </p:cNvSpPr>
          <p:nvPr>
            <p:ph type="title"/>
          </p:nvPr>
        </p:nvSpPr>
        <p:spPr/>
        <p:txBody>
          <a:bodyPr/>
          <a:lstStyle/>
          <a:p>
            <a:r>
              <a:rPr lang="zh-CN" altLang="en-US" dirty="0"/>
              <a:t>编码器</a:t>
            </a:r>
            <a:r>
              <a:rPr lang="en-US" altLang="zh-CN" dirty="0"/>
              <a:t>----</a:t>
            </a:r>
            <a:r>
              <a:rPr lang="zh-CN" altLang="en-US" dirty="0" smtClean="0"/>
              <a:t>集成</a:t>
            </a:r>
            <a:r>
              <a:rPr lang="zh-CN" altLang="en-US" dirty="0"/>
              <a:t>编码器的扩展应用</a:t>
            </a:r>
          </a:p>
        </p:txBody>
      </p:sp>
      <p:sp>
        <p:nvSpPr>
          <p:cNvPr id="6" name="内容占位符 5"/>
          <p:cNvSpPr>
            <a:spLocks noGrp="1"/>
          </p:cNvSpPr>
          <p:nvPr>
            <p:ph idx="1"/>
          </p:nvPr>
        </p:nvSpPr>
        <p:spPr>
          <a:xfrm>
            <a:off x="467544" y="1484784"/>
            <a:ext cx="8161338" cy="4911128"/>
          </a:xfrm>
        </p:spPr>
        <p:txBody>
          <a:bodyPr/>
          <a:lstStyle/>
          <a:p>
            <a:pPr>
              <a:buSzPct val="100000"/>
              <a:buFont typeface="Wingdings" pitchFamily="2" charset="2"/>
              <a:buChar char="p"/>
            </a:pPr>
            <a:r>
              <a:rPr lang="en-US" altLang="zh-CN" dirty="0" smtClean="0"/>
              <a:t>【</a:t>
            </a:r>
            <a:r>
              <a:rPr lang="zh-CN" altLang="en-US" dirty="0" smtClean="0"/>
              <a:t>例</a:t>
            </a:r>
            <a:r>
              <a:rPr lang="en-US" altLang="zh-CN" dirty="0" smtClean="0"/>
              <a:t>】</a:t>
            </a:r>
            <a:r>
              <a:rPr lang="zh-CN" altLang="en-US" dirty="0"/>
              <a:t>试用一片</a:t>
            </a:r>
            <a:r>
              <a:rPr lang="en-US" altLang="zh-CN" dirty="0"/>
              <a:t>74LS148</a:t>
            </a:r>
            <a:r>
              <a:rPr lang="zh-CN" altLang="en-US" dirty="0"/>
              <a:t>实现</a:t>
            </a:r>
            <a:r>
              <a:rPr lang="en-US" altLang="zh-CN" dirty="0"/>
              <a:t>8421-BCD</a:t>
            </a:r>
            <a:r>
              <a:rPr lang="zh-CN" altLang="en-US" dirty="0"/>
              <a:t>码优先编码器。</a:t>
            </a:r>
          </a:p>
        </p:txBody>
      </p:sp>
      <p:pic>
        <p:nvPicPr>
          <p:cNvPr id="5124" name="Picture 4" descr="E:\wrj\课件\数字电路与系统\数字电路与数字系统\tupian\4-12-1.jp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763688" y="2339905"/>
            <a:ext cx="6286500" cy="4114800"/>
          </a:xfrm>
          <a:prstGeom prst="rect">
            <a:avLst/>
          </a:prstGeom>
          <a:noFill/>
          <a:extLst>
            <a:ext uri="{909E8E84-426E-40DD-AFC4-6F175D3DCCD1}">
              <a14:hiddenFill xmlns:a14="http://schemas.microsoft.com/office/drawing/2010/main" xmlns="">
                <a:solidFill>
                  <a:srgbClr val="FFFFFF"/>
                </a:solidFill>
              </a14:hiddenFill>
            </a:ext>
          </a:extLst>
        </p:spPr>
      </p:pic>
      <p:pic>
        <p:nvPicPr>
          <p:cNvPr id="5125" name="Picture 5" descr="E:\wrj\课件\数字电路与系统\数字电路与数字系统\tupian\4-12-2.jpg"/>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619672" y="2054155"/>
            <a:ext cx="6134100" cy="4686300"/>
          </a:xfrm>
          <a:prstGeom prst="rect">
            <a:avLst/>
          </a:prstGeom>
          <a:noFill/>
          <a:extLst>
            <a:ext uri="{909E8E84-426E-40DD-AFC4-6F175D3DCCD1}">
              <a14:hiddenFill xmlns:a14="http://schemas.microsoft.com/office/drawing/2010/main" xmlns="">
                <a:solidFill>
                  <a:srgbClr val="FFFFFF"/>
                </a:solidFill>
              </a14:hiddenFill>
            </a:ext>
          </a:extLst>
        </p:spPr>
      </p:pic>
      <p:pic>
        <p:nvPicPr>
          <p:cNvPr id="5122" name="Picture 2" descr="E:\wrj\课件\数字电路与系统\数字电路与数字系统\tupian\4-12-3.jpg"/>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1635163" y="1977955"/>
            <a:ext cx="6210300" cy="4838700"/>
          </a:xfrm>
          <a:prstGeom prst="rect">
            <a:avLst/>
          </a:prstGeom>
          <a:noFill/>
          <a:extLst>
            <a:ext uri="{909E8E84-426E-40DD-AFC4-6F175D3DCCD1}">
              <a14:hiddenFill xmlns:a14="http://schemas.microsoft.com/office/drawing/2010/main" xmlns="">
                <a:solidFill>
                  <a:srgbClr val="FFFFFF"/>
                </a:solidFill>
              </a14:hiddenFill>
            </a:ext>
          </a:extLst>
        </p:spPr>
      </p:pic>
      <p:sp>
        <p:nvSpPr>
          <p:cNvPr id="34" name="TextBox 33"/>
          <p:cNvSpPr txBox="1"/>
          <p:nvPr/>
        </p:nvSpPr>
        <p:spPr>
          <a:xfrm>
            <a:off x="2196338" y="2132856"/>
            <a:ext cx="332142" cy="369332"/>
          </a:xfrm>
          <a:prstGeom prst="rect">
            <a:avLst/>
          </a:prstGeom>
          <a:noFill/>
        </p:spPr>
        <p:txBody>
          <a:bodyPr wrap="none" rtlCol="0">
            <a:spAutoFit/>
          </a:bodyPr>
          <a:lstStyle/>
          <a:p>
            <a:r>
              <a:rPr lang="en-US" altLang="zh-CN" b="1" dirty="0" smtClean="0">
                <a:solidFill>
                  <a:srgbClr val="008000"/>
                </a:solidFill>
              </a:rPr>
              <a:t>0</a:t>
            </a:r>
            <a:endParaRPr lang="zh-CN" altLang="en-US" b="1" dirty="0">
              <a:solidFill>
                <a:srgbClr val="008000"/>
              </a:solidFill>
            </a:endParaRPr>
          </a:p>
        </p:txBody>
      </p:sp>
      <p:sp>
        <p:nvSpPr>
          <p:cNvPr id="35" name="TextBox 34"/>
          <p:cNvSpPr txBox="1"/>
          <p:nvPr/>
        </p:nvSpPr>
        <p:spPr>
          <a:xfrm>
            <a:off x="5004048" y="3919364"/>
            <a:ext cx="332142" cy="369332"/>
          </a:xfrm>
          <a:prstGeom prst="rect">
            <a:avLst/>
          </a:prstGeom>
          <a:noFill/>
        </p:spPr>
        <p:txBody>
          <a:bodyPr wrap="none" rtlCol="0">
            <a:spAutoFit/>
          </a:bodyPr>
          <a:lstStyle/>
          <a:p>
            <a:r>
              <a:rPr lang="en-US" altLang="zh-CN" b="1" dirty="0">
                <a:solidFill>
                  <a:srgbClr val="008000"/>
                </a:solidFill>
              </a:rPr>
              <a:t>1</a:t>
            </a:r>
            <a:endParaRPr lang="zh-CN" altLang="en-US" b="1" dirty="0">
              <a:solidFill>
                <a:srgbClr val="008000"/>
              </a:solidFill>
            </a:endParaRPr>
          </a:p>
        </p:txBody>
      </p:sp>
      <p:sp>
        <p:nvSpPr>
          <p:cNvPr id="36" name="TextBox 35"/>
          <p:cNvSpPr txBox="1"/>
          <p:nvPr/>
        </p:nvSpPr>
        <p:spPr>
          <a:xfrm>
            <a:off x="2771800" y="6076456"/>
            <a:ext cx="332142" cy="369332"/>
          </a:xfrm>
          <a:prstGeom prst="rect">
            <a:avLst/>
          </a:prstGeom>
          <a:noFill/>
        </p:spPr>
        <p:txBody>
          <a:bodyPr wrap="none" rtlCol="0">
            <a:spAutoFit/>
          </a:bodyPr>
          <a:lstStyle/>
          <a:p>
            <a:r>
              <a:rPr lang="en-US" altLang="zh-CN" b="1" dirty="0">
                <a:solidFill>
                  <a:srgbClr val="008000"/>
                </a:solidFill>
              </a:rPr>
              <a:t>1</a:t>
            </a:r>
            <a:endParaRPr lang="zh-CN" altLang="en-US" b="1" dirty="0">
              <a:solidFill>
                <a:srgbClr val="008000"/>
              </a:solidFill>
            </a:endParaRPr>
          </a:p>
        </p:txBody>
      </p:sp>
      <p:sp>
        <p:nvSpPr>
          <p:cNvPr id="37" name="TextBox 36"/>
          <p:cNvSpPr txBox="1"/>
          <p:nvPr/>
        </p:nvSpPr>
        <p:spPr>
          <a:xfrm>
            <a:off x="5295162" y="5752798"/>
            <a:ext cx="332142" cy="369332"/>
          </a:xfrm>
          <a:prstGeom prst="rect">
            <a:avLst/>
          </a:prstGeom>
          <a:noFill/>
        </p:spPr>
        <p:txBody>
          <a:bodyPr wrap="none" rtlCol="0">
            <a:spAutoFit/>
          </a:bodyPr>
          <a:lstStyle/>
          <a:p>
            <a:r>
              <a:rPr lang="en-US" altLang="zh-CN" b="1" dirty="0" smtClean="0">
                <a:solidFill>
                  <a:srgbClr val="008000"/>
                </a:solidFill>
              </a:rPr>
              <a:t>0</a:t>
            </a:r>
            <a:endParaRPr lang="zh-CN" altLang="en-US" b="1" dirty="0">
              <a:solidFill>
                <a:srgbClr val="008000"/>
              </a:solidFill>
            </a:endParaRPr>
          </a:p>
        </p:txBody>
      </p:sp>
      <p:sp>
        <p:nvSpPr>
          <p:cNvPr id="38" name="TextBox 37"/>
          <p:cNvSpPr txBox="1"/>
          <p:nvPr/>
        </p:nvSpPr>
        <p:spPr>
          <a:xfrm>
            <a:off x="6876256" y="5771177"/>
            <a:ext cx="332142" cy="369332"/>
          </a:xfrm>
          <a:prstGeom prst="rect">
            <a:avLst/>
          </a:prstGeom>
          <a:noFill/>
        </p:spPr>
        <p:txBody>
          <a:bodyPr wrap="none" rtlCol="0">
            <a:spAutoFit/>
          </a:bodyPr>
          <a:lstStyle/>
          <a:p>
            <a:r>
              <a:rPr lang="en-US" altLang="zh-CN" b="1" dirty="0" smtClean="0">
                <a:solidFill>
                  <a:srgbClr val="008000"/>
                </a:solidFill>
              </a:rPr>
              <a:t>1</a:t>
            </a:r>
            <a:endParaRPr lang="zh-CN" altLang="en-US" b="1" dirty="0">
              <a:solidFill>
                <a:srgbClr val="008000"/>
              </a:solidFill>
            </a:endParaRPr>
          </a:p>
        </p:txBody>
      </p:sp>
      <p:sp>
        <p:nvSpPr>
          <p:cNvPr id="39" name="TextBox 38"/>
          <p:cNvSpPr txBox="1"/>
          <p:nvPr/>
        </p:nvSpPr>
        <p:spPr>
          <a:xfrm>
            <a:off x="6084168" y="5707124"/>
            <a:ext cx="332142" cy="369332"/>
          </a:xfrm>
          <a:prstGeom prst="rect">
            <a:avLst/>
          </a:prstGeom>
          <a:noFill/>
        </p:spPr>
        <p:txBody>
          <a:bodyPr wrap="none" rtlCol="0">
            <a:spAutoFit/>
          </a:bodyPr>
          <a:lstStyle/>
          <a:p>
            <a:r>
              <a:rPr lang="en-US" altLang="zh-CN" b="1" dirty="0" smtClean="0">
                <a:solidFill>
                  <a:srgbClr val="008000"/>
                </a:solidFill>
              </a:rPr>
              <a:t>0</a:t>
            </a:r>
            <a:endParaRPr lang="zh-CN" altLang="en-US" b="1" dirty="0">
              <a:solidFill>
                <a:srgbClr val="008000"/>
              </a:solidFill>
            </a:endParaRPr>
          </a:p>
        </p:txBody>
      </p:sp>
      <p:sp>
        <p:nvSpPr>
          <p:cNvPr id="40" name="TextBox 39"/>
          <p:cNvSpPr txBox="1"/>
          <p:nvPr/>
        </p:nvSpPr>
        <p:spPr>
          <a:xfrm>
            <a:off x="5536002" y="4725144"/>
            <a:ext cx="332142" cy="369332"/>
          </a:xfrm>
          <a:prstGeom prst="rect">
            <a:avLst/>
          </a:prstGeom>
          <a:noFill/>
        </p:spPr>
        <p:txBody>
          <a:bodyPr wrap="none" rtlCol="0">
            <a:spAutoFit/>
          </a:bodyPr>
          <a:lstStyle/>
          <a:p>
            <a:r>
              <a:rPr lang="en-US" altLang="zh-CN" b="1" dirty="0" smtClean="0">
                <a:solidFill>
                  <a:srgbClr val="008000"/>
                </a:solidFill>
              </a:rPr>
              <a:t>1</a:t>
            </a:r>
            <a:endParaRPr lang="zh-CN" altLang="en-US" b="1" dirty="0">
              <a:solidFill>
                <a:srgbClr val="008000"/>
              </a:solidFill>
            </a:endParaRPr>
          </a:p>
        </p:txBody>
      </p:sp>
      <p:sp>
        <p:nvSpPr>
          <p:cNvPr id="41" name="TextBox 40"/>
          <p:cNvSpPr txBox="1"/>
          <p:nvPr/>
        </p:nvSpPr>
        <p:spPr>
          <a:xfrm>
            <a:off x="6732240" y="4725144"/>
            <a:ext cx="332142" cy="369332"/>
          </a:xfrm>
          <a:prstGeom prst="rect">
            <a:avLst/>
          </a:prstGeom>
          <a:noFill/>
        </p:spPr>
        <p:txBody>
          <a:bodyPr wrap="none" rtlCol="0">
            <a:spAutoFit/>
          </a:bodyPr>
          <a:lstStyle/>
          <a:p>
            <a:r>
              <a:rPr lang="en-US" altLang="zh-CN" b="1" dirty="0" smtClean="0">
                <a:solidFill>
                  <a:srgbClr val="008000"/>
                </a:solidFill>
              </a:rPr>
              <a:t>1</a:t>
            </a:r>
            <a:endParaRPr lang="zh-CN" altLang="en-US" b="1" dirty="0">
              <a:solidFill>
                <a:srgbClr val="008000"/>
              </a:solidFill>
            </a:endParaRPr>
          </a:p>
        </p:txBody>
      </p:sp>
      <p:sp>
        <p:nvSpPr>
          <p:cNvPr id="42" name="TextBox 41"/>
          <p:cNvSpPr txBox="1"/>
          <p:nvPr/>
        </p:nvSpPr>
        <p:spPr>
          <a:xfrm>
            <a:off x="6156176" y="4725144"/>
            <a:ext cx="332142" cy="369332"/>
          </a:xfrm>
          <a:prstGeom prst="rect">
            <a:avLst/>
          </a:prstGeom>
          <a:noFill/>
        </p:spPr>
        <p:txBody>
          <a:bodyPr wrap="none" rtlCol="0">
            <a:spAutoFit/>
          </a:bodyPr>
          <a:lstStyle/>
          <a:p>
            <a:r>
              <a:rPr lang="en-US" altLang="zh-CN" b="1" dirty="0" smtClean="0">
                <a:solidFill>
                  <a:srgbClr val="008000"/>
                </a:solidFill>
              </a:rPr>
              <a:t>1</a:t>
            </a:r>
            <a:endParaRPr lang="zh-CN" altLang="en-US" b="1" dirty="0">
              <a:solidFill>
                <a:srgbClr val="008000"/>
              </a:solidFill>
            </a:endParaRPr>
          </a:p>
        </p:txBody>
      </p:sp>
      <p:sp>
        <p:nvSpPr>
          <p:cNvPr id="43" name="TextBox 42"/>
          <p:cNvSpPr txBox="1"/>
          <p:nvPr/>
        </p:nvSpPr>
        <p:spPr>
          <a:xfrm>
            <a:off x="2348738" y="2132856"/>
            <a:ext cx="332142" cy="369332"/>
          </a:xfrm>
          <a:prstGeom prst="rect">
            <a:avLst/>
          </a:prstGeom>
          <a:noFill/>
        </p:spPr>
        <p:txBody>
          <a:bodyPr wrap="none" rtlCol="0">
            <a:spAutoFit/>
          </a:bodyPr>
          <a:lstStyle/>
          <a:p>
            <a:r>
              <a:rPr lang="en-US" altLang="zh-CN" b="1" dirty="0" smtClean="0">
                <a:solidFill>
                  <a:srgbClr val="66CCFF"/>
                </a:solidFill>
              </a:rPr>
              <a:t>1</a:t>
            </a:r>
            <a:endParaRPr lang="zh-CN" altLang="en-US" b="1" dirty="0">
              <a:solidFill>
                <a:srgbClr val="66CCFF"/>
              </a:solidFill>
            </a:endParaRPr>
          </a:p>
        </p:txBody>
      </p:sp>
      <p:sp>
        <p:nvSpPr>
          <p:cNvPr id="44" name="TextBox 43"/>
          <p:cNvSpPr txBox="1"/>
          <p:nvPr/>
        </p:nvSpPr>
        <p:spPr>
          <a:xfrm>
            <a:off x="3107563" y="2155239"/>
            <a:ext cx="332142" cy="369332"/>
          </a:xfrm>
          <a:prstGeom prst="rect">
            <a:avLst/>
          </a:prstGeom>
          <a:noFill/>
        </p:spPr>
        <p:txBody>
          <a:bodyPr wrap="none" rtlCol="0">
            <a:spAutoFit/>
          </a:bodyPr>
          <a:lstStyle/>
          <a:p>
            <a:r>
              <a:rPr lang="en-US" altLang="zh-CN" b="1" dirty="0" smtClean="0">
                <a:solidFill>
                  <a:srgbClr val="66CCFF"/>
                </a:solidFill>
              </a:rPr>
              <a:t>0</a:t>
            </a:r>
            <a:endParaRPr lang="zh-CN" altLang="en-US" b="1" dirty="0">
              <a:solidFill>
                <a:srgbClr val="66CCFF"/>
              </a:solidFill>
            </a:endParaRPr>
          </a:p>
        </p:txBody>
      </p:sp>
      <p:sp>
        <p:nvSpPr>
          <p:cNvPr id="45" name="TextBox 44"/>
          <p:cNvSpPr txBox="1"/>
          <p:nvPr/>
        </p:nvSpPr>
        <p:spPr>
          <a:xfrm>
            <a:off x="5580112" y="4869160"/>
            <a:ext cx="332142" cy="369332"/>
          </a:xfrm>
          <a:prstGeom prst="rect">
            <a:avLst/>
          </a:prstGeom>
          <a:noFill/>
        </p:spPr>
        <p:txBody>
          <a:bodyPr wrap="none" rtlCol="0">
            <a:spAutoFit/>
          </a:bodyPr>
          <a:lstStyle/>
          <a:p>
            <a:r>
              <a:rPr lang="en-US" altLang="zh-CN" b="1" dirty="0" smtClean="0">
                <a:solidFill>
                  <a:srgbClr val="66CCFF"/>
                </a:solidFill>
              </a:rPr>
              <a:t>1</a:t>
            </a:r>
            <a:endParaRPr lang="zh-CN" altLang="en-US" b="1" dirty="0">
              <a:solidFill>
                <a:srgbClr val="66CCFF"/>
              </a:solidFill>
            </a:endParaRPr>
          </a:p>
        </p:txBody>
      </p:sp>
      <p:sp>
        <p:nvSpPr>
          <p:cNvPr id="46" name="TextBox 45"/>
          <p:cNvSpPr txBox="1"/>
          <p:nvPr/>
        </p:nvSpPr>
        <p:spPr>
          <a:xfrm>
            <a:off x="6776350" y="4869160"/>
            <a:ext cx="332142" cy="369332"/>
          </a:xfrm>
          <a:prstGeom prst="rect">
            <a:avLst/>
          </a:prstGeom>
          <a:noFill/>
        </p:spPr>
        <p:txBody>
          <a:bodyPr wrap="none" rtlCol="0">
            <a:spAutoFit/>
          </a:bodyPr>
          <a:lstStyle/>
          <a:p>
            <a:r>
              <a:rPr lang="en-US" altLang="zh-CN" b="1" dirty="0" smtClean="0">
                <a:solidFill>
                  <a:srgbClr val="66CCFF"/>
                </a:solidFill>
              </a:rPr>
              <a:t>1</a:t>
            </a:r>
            <a:endParaRPr lang="zh-CN" altLang="en-US" b="1" dirty="0">
              <a:solidFill>
                <a:srgbClr val="66CCFF"/>
              </a:solidFill>
            </a:endParaRPr>
          </a:p>
        </p:txBody>
      </p:sp>
      <p:sp>
        <p:nvSpPr>
          <p:cNvPr id="47" name="TextBox 46"/>
          <p:cNvSpPr txBox="1"/>
          <p:nvPr/>
        </p:nvSpPr>
        <p:spPr>
          <a:xfrm>
            <a:off x="6200286" y="4869160"/>
            <a:ext cx="332142" cy="369332"/>
          </a:xfrm>
          <a:prstGeom prst="rect">
            <a:avLst/>
          </a:prstGeom>
          <a:noFill/>
        </p:spPr>
        <p:txBody>
          <a:bodyPr wrap="none" rtlCol="0">
            <a:spAutoFit/>
          </a:bodyPr>
          <a:lstStyle/>
          <a:p>
            <a:r>
              <a:rPr lang="en-US" altLang="zh-CN" b="1" dirty="0" smtClean="0">
                <a:solidFill>
                  <a:srgbClr val="66CCFF"/>
                </a:solidFill>
              </a:rPr>
              <a:t>1</a:t>
            </a:r>
            <a:endParaRPr lang="zh-CN" altLang="en-US" b="1" dirty="0">
              <a:solidFill>
                <a:srgbClr val="66CCFF"/>
              </a:solidFill>
            </a:endParaRPr>
          </a:p>
        </p:txBody>
      </p:sp>
      <p:sp>
        <p:nvSpPr>
          <p:cNvPr id="48" name="TextBox 47"/>
          <p:cNvSpPr txBox="1"/>
          <p:nvPr/>
        </p:nvSpPr>
        <p:spPr>
          <a:xfrm>
            <a:off x="5364088" y="5905198"/>
            <a:ext cx="332142" cy="369332"/>
          </a:xfrm>
          <a:prstGeom prst="rect">
            <a:avLst/>
          </a:prstGeom>
          <a:noFill/>
        </p:spPr>
        <p:txBody>
          <a:bodyPr wrap="none" rtlCol="0">
            <a:spAutoFit/>
          </a:bodyPr>
          <a:lstStyle/>
          <a:p>
            <a:r>
              <a:rPr lang="en-US" altLang="zh-CN" b="1" dirty="0" smtClean="0">
                <a:solidFill>
                  <a:srgbClr val="66CCFF"/>
                </a:solidFill>
              </a:rPr>
              <a:t>0</a:t>
            </a:r>
            <a:endParaRPr lang="zh-CN" altLang="en-US" b="1" dirty="0">
              <a:solidFill>
                <a:srgbClr val="66CCFF"/>
              </a:solidFill>
            </a:endParaRPr>
          </a:p>
        </p:txBody>
      </p:sp>
      <p:sp>
        <p:nvSpPr>
          <p:cNvPr id="49" name="TextBox 48"/>
          <p:cNvSpPr txBox="1"/>
          <p:nvPr/>
        </p:nvSpPr>
        <p:spPr>
          <a:xfrm>
            <a:off x="6945182" y="5923577"/>
            <a:ext cx="332142" cy="369332"/>
          </a:xfrm>
          <a:prstGeom prst="rect">
            <a:avLst/>
          </a:prstGeom>
          <a:noFill/>
        </p:spPr>
        <p:txBody>
          <a:bodyPr wrap="none" rtlCol="0">
            <a:spAutoFit/>
          </a:bodyPr>
          <a:lstStyle/>
          <a:p>
            <a:r>
              <a:rPr lang="en-US" altLang="zh-CN" b="1" dirty="0" smtClean="0">
                <a:solidFill>
                  <a:srgbClr val="66CCFF"/>
                </a:solidFill>
              </a:rPr>
              <a:t>0</a:t>
            </a:r>
            <a:endParaRPr lang="zh-CN" altLang="en-US" b="1" dirty="0">
              <a:solidFill>
                <a:srgbClr val="66CCFF"/>
              </a:solidFill>
            </a:endParaRPr>
          </a:p>
        </p:txBody>
      </p:sp>
      <p:sp>
        <p:nvSpPr>
          <p:cNvPr id="50" name="TextBox 49"/>
          <p:cNvSpPr txBox="1"/>
          <p:nvPr/>
        </p:nvSpPr>
        <p:spPr>
          <a:xfrm>
            <a:off x="6153094" y="5859524"/>
            <a:ext cx="332142" cy="369332"/>
          </a:xfrm>
          <a:prstGeom prst="rect">
            <a:avLst/>
          </a:prstGeom>
          <a:noFill/>
        </p:spPr>
        <p:txBody>
          <a:bodyPr wrap="none" rtlCol="0">
            <a:spAutoFit/>
          </a:bodyPr>
          <a:lstStyle/>
          <a:p>
            <a:r>
              <a:rPr lang="en-US" altLang="zh-CN" b="1" dirty="0" smtClean="0">
                <a:solidFill>
                  <a:srgbClr val="66CCFF"/>
                </a:solidFill>
              </a:rPr>
              <a:t>0</a:t>
            </a:r>
            <a:endParaRPr lang="zh-CN" altLang="en-US" b="1" dirty="0">
              <a:solidFill>
                <a:srgbClr val="66CCFF"/>
              </a:solidFill>
            </a:endParaRPr>
          </a:p>
        </p:txBody>
      </p:sp>
      <p:sp>
        <p:nvSpPr>
          <p:cNvPr id="25" name="标题 1"/>
          <p:cNvSpPr txBox="1">
            <a:spLocks/>
          </p:cNvSpPr>
          <p:nvPr/>
        </p:nvSpPr>
        <p:spPr bwMode="auto">
          <a:xfrm>
            <a:off x="1259633" y="116632"/>
            <a:ext cx="7560840"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4.3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编码器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551381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7"/>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8"/>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p:bldP spid="36" grpId="0"/>
      <p:bldP spid="37" grpId="0"/>
      <p:bldP spid="38" grpId="0"/>
      <p:bldP spid="39" grpId="0"/>
      <p:bldP spid="40" grpId="0"/>
      <p:bldP spid="41" grpId="0"/>
      <p:bldP spid="42" grpId="0"/>
      <p:bldP spid="43" grpId="0"/>
      <p:bldP spid="44" grpId="0"/>
      <p:bldP spid="45" grpId="0"/>
      <p:bldP spid="46" grpId="0"/>
      <p:bldP spid="47" grpId="0"/>
      <p:bldP spid="48" grpId="0"/>
      <p:bldP spid="49" grpId="0"/>
      <p:bldP spid="50"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92696"/>
            <a:ext cx="7545014" cy="566936"/>
          </a:xfrm>
        </p:spPr>
        <p:txBody>
          <a:bodyPr/>
          <a:lstStyle/>
          <a:p>
            <a:r>
              <a:rPr lang="en-US" altLang="zh-CN" dirty="0" smtClean="0"/>
              <a:t>4.4 </a:t>
            </a:r>
            <a:r>
              <a:rPr lang="zh-CN" altLang="en-US" dirty="0" smtClean="0"/>
              <a:t>译码器</a:t>
            </a:r>
            <a:r>
              <a:rPr lang="zh-CN" altLang="en-US" dirty="0"/>
              <a:t>（</a:t>
            </a:r>
            <a:r>
              <a:rPr lang="en-US" altLang="zh-CN" dirty="0"/>
              <a:t>Decoder</a:t>
            </a:r>
            <a:r>
              <a:rPr lang="zh-CN" altLang="en-US" dirty="0" smtClean="0"/>
              <a:t>）</a:t>
            </a:r>
            <a:endParaRPr lang="zh-CN" altLang="en-US" dirty="0"/>
          </a:p>
        </p:txBody>
      </p:sp>
      <p:sp>
        <p:nvSpPr>
          <p:cNvPr id="3" name="内容占位符 2"/>
          <p:cNvSpPr>
            <a:spLocks noGrp="1"/>
          </p:cNvSpPr>
          <p:nvPr>
            <p:ph idx="1"/>
          </p:nvPr>
        </p:nvSpPr>
        <p:spPr>
          <a:xfrm>
            <a:off x="539552" y="1484784"/>
            <a:ext cx="8161338" cy="4911128"/>
          </a:xfrm>
        </p:spPr>
        <p:txBody>
          <a:bodyPr/>
          <a:lstStyle/>
          <a:p>
            <a:pPr>
              <a:lnSpc>
                <a:spcPct val="100000"/>
              </a:lnSpc>
              <a:spcBef>
                <a:spcPts val="600"/>
              </a:spcBef>
              <a:buSzPct val="100000"/>
              <a:buFont typeface="Wingdings" pitchFamily="2" charset="2"/>
              <a:buChar char="p"/>
            </a:pPr>
            <a:r>
              <a:rPr lang="zh-CN" altLang="en-US" sz="2800" dirty="0" smtClean="0"/>
              <a:t>译码器定义</a:t>
            </a:r>
            <a:endParaRPr lang="en-US" altLang="zh-CN" sz="2800" dirty="0" smtClean="0"/>
          </a:p>
          <a:p>
            <a:pPr lvl="1">
              <a:lnSpc>
                <a:spcPct val="100000"/>
              </a:lnSpc>
              <a:spcBef>
                <a:spcPts val="600"/>
              </a:spcBef>
              <a:buSzPct val="100000"/>
            </a:pPr>
            <a:r>
              <a:rPr lang="zh-CN" altLang="en-US" sz="2400" dirty="0" smtClean="0"/>
              <a:t>逻辑</a:t>
            </a:r>
            <a:r>
              <a:rPr lang="zh-CN" altLang="en-US" sz="2400" dirty="0"/>
              <a:t>功能：将每个输入的二进制代码</a:t>
            </a:r>
            <a:r>
              <a:rPr lang="zh-CN" altLang="en-US" sz="2400" dirty="0" smtClean="0"/>
              <a:t>对应输出</a:t>
            </a:r>
            <a:r>
              <a:rPr lang="zh-CN" altLang="en-US" sz="2400" dirty="0"/>
              <a:t>为</a:t>
            </a:r>
            <a:r>
              <a:rPr lang="zh-CN" altLang="en-US" sz="2400" dirty="0">
                <a:solidFill>
                  <a:srgbClr val="0000CC"/>
                </a:solidFill>
              </a:rPr>
              <a:t>高、低电平</a:t>
            </a:r>
            <a:r>
              <a:rPr lang="zh-CN" altLang="en-US" sz="2400" dirty="0"/>
              <a:t>信号。</a:t>
            </a:r>
          </a:p>
          <a:p>
            <a:pPr lvl="1">
              <a:lnSpc>
                <a:spcPct val="100000"/>
              </a:lnSpc>
              <a:spcBef>
                <a:spcPts val="600"/>
              </a:spcBef>
              <a:buSzPct val="100000"/>
            </a:pPr>
            <a:r>
              <a:rPr lang="zh-CN" altLang="en-US" sz="2400" dirty="0" smtClean="0"/>
              <a:t>译码</a:t>
            </a:r>
            <a:r>
              <a:rPr lang="zh-CN" altLang="en-US" sz="2400" dirty="0"/>
              <a:t>是编码的</a:t>
            </a:r>
            <a:r>
              <a:rPr lang="zh-CN" altLang="en-US" sz="2400" dirty="0">
                <a:solidFill>
                  <a:srgbClr val="0000CC"/>
                </a:solidFill>
              </a:rPr>
              <a:t>反操作</a:t>
            </a:r>
            <a:r>
              <a:rPr lang="zh-CN" altLang="en-US" sz="2400" dirty="0"/>
              <a:t>。</a:t>
            </a:r>
          </a:p>
          <a:p>
            <a:pPr lvl="1">
              <a:lnSpc>
                <a:spcPct val="100000"/>
              </a:lnSpc>
              <a:spcBef>
                <a:spcPts val="600"/>
              </a:spcBef>
              <a:buSzPct val="100000"/>
            </a:pPr>
            <a:r>
              <a:rPr lang="zh-CN" altLang="en-US" sz="2400" dirty="0" smtClean="0"/>
              <a:t>常用</a:t>
            </a:r>
            <a:r>
              <a:rPr lang="zh-CN" altLang="en-US" sz="2400" dirty="0"/>
              <a:t>的译码器有</a:t>
            </a:r>
            <a:r>
              <a:rPr lang="zh-CN" altLang="en-US" sz="2400" dirty="0">
                <a:solidFill>
                  <a:srgbClr val="0000CC"/>
                </a:solidFill>
              </a:rPr>
              <a:t>二进制译码器</a:t>
            </a:r>
            <a:r>
              <a:rPr lang="zh-CN" altLang="en-US" sz="2400" dirty="0"/>
              <a:t>（</a:t>
            </a:r>
            <a:r>
              <a:rPr lang="en-US" altLang="zh-CN" sz="2400" dirty="0"/>
              <a:t>binary decoder</a:t>
            </a:r>
            <a:r>
              <a:rPr lang="zh-CN" altLang="en-US" sz="2400" dirty="0"/>
              <a:t>）、</a:t>
            </a:r>
            <a:r>
              <a:rPr lang="zh-CN" altLang="en-US" sz="2400" dirty="0" smtClean="0">
                <a:solidFill>
                  <a:srgbClr val="0000CC"/>
                </a:solidFill>
              </a:rPr>
              <a:t>二</a:t>
            </a:r>
            <a:r>
              <a:rPr lang="en-US" altLang="zh-CN" sz="2400" dirty="0" smtClean="0">
                <a:solidFill>
                  <a:srgbClr val="0000CC"/>
                </a:solidFill>
              </a:rPr>
              <a:t>-</a:t>
            </a:r>
            <a:r>
              <a:rPr lang="zh-CN" altLang="en-US" sz="2400" dirty="0" smtClean="0">
                <a:solidFill>
                  <a:srgbClr val="0000CC"/>
                </a:solidFill>
              </a:rPr>
              <a:t>十进制</a:t>
            </a:r>
            <a:r>
              <a:rPr lang="zh-CN" altLang="en-US" sz="2400" dirty="0">
                <a:solidFill>
                  <a:srgbClr val="0000CC"/>
                </a:solidFill>
              </a:rPr>
              <a:t>译码器</a:t>
            </a:r>
            <a:r>
              <a:rPr lang="zh-CN" altLang="en-US" sz="2400" dirty="0"/>
              <a:t>（</a:t>
            </a:r>
            <a:r>
              <a:rPr lang="en-US" altLang="zh-CN" sz="2400" dirty="0"/>
              <a:t>binary-coded decimal decoder</a:t>
            </a:r>
            <a:r>
              <a:rPr lang="zh-CN" altLang="en-US" sz="2400" dirty="0"/>
              <a:t>）、</a:t>
            </a:r>
            <a:r>
              <a:rPr lang="zh-CN" altLang="en-US" sz="2400" dirty="0">
                <a:solidFill>
                  <a:srgbClr val="0000CC"/>
                </a:solidFill>
              </a:rPr>
              <a:t>显示译码器</a:t>
            </a:r>
            <a:r>
              <a:rPr lang="zh-CN" altLang="en-US" sz="2400" dirty="0"/>
              <a:t>（</a:t>
            </a:r>
            <a:r>
              <a:rPr lang="en-US" altLang="zh-CN" sz="2400" dirty="0"/>
              <a:t>display decoder</a:t>
            </a:r>
            <a:r>
              <a:rPr lang="zh-CN" altLang="en-US" sz="2400" dirty="0"/>
              <a:t>）等。</a:t>
            </a:r>
          </a:p>
          <a:p>
            <a:endParaRPr lang="en-US" altLang="zh-CN" dirty="0" smtClean="0"/>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66</a:t>
            </a:fld>
            <a:endParaRPr lang="zh-CN" altLang="en-US"/>
          </a:p>
        </p:txBody>
      </p:sp>
      <p:sp>
        <p:nvSpPr>
          <p:cNvPr id="5" name="标题 1"/>
          <p:cNvSpPr txBox="1">
            <a:spLocks/>
          </p:cNvSpPr>
          <p:nvPr/>
        </p:nvSpPr>
        <p:spPr bwMode="auto">
          <a:xfrm>
            <a:off x="1259632" y="0"/>
            <a:ext cx="7016824" cy="63894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fontAlgn="base">
              <a:spcBef>
                <a:spcPct val="0"/>
              </a:spcBef>
              <a:spcAft>
                <a:spcPct val="0"/>
              </a:spcAft>
              <a:defRPr/>
            </a:pP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第</a:t>
            </a:r>
            <a:r>
              <a:rPr kumimoji="1" lang="en-US" altLang="zh-CN" sz="3600" b="1" kern="0" dirty="0" smtClean="0">
                <a:solidFill>
                  <a:schemeClr val="tx2"/>
                </a:solidFill>
                <a:latin typeface="+mj-lt"/>
                <a:ea typeface="+mj-ea"/>
                <a:cs typeface="+mj-cs"/>
              </a:rPr>
              <a:t>4</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章　组合</a:t>
            </a:r>
            <a:r>
              <a:rPr kumimoji="1" lang="zh-CN" altLang="en-US" sz="3600" b="1" kern="0" dirty="0" smtClean="0">
                <a:solidFill>
                  <a:schemeClr val="tx2"/>
                </a:solidFill>
              </a:rPr>
              <a:t>逻辑</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电路</a:t>
            </a:r>
            <a:endParaRPr kumimoji="1" lang="zh-CN" altLang="en-US" sz="36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704657828"/>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0" y="692696"/>
            <a:ext cx="7793037" cy="566936"/>
          </a:xfrm>
        </p:spPr>
        <p:txBody>
          <a:bodyPr/>
          <a:lstStyle/>
          <a:p>
            <a:r>
              <a:rPr lang="en-US" altLang="zh-CN" dirty="0" smtClean="0"/>
              <a:t>4.4.1 </a:t>
            </a:r>
            <a:r>
              <a:rPr lang="zh-CN" altLang="en-US" dirty="0" smtClean="0"/>
              <a:t>二进制</a:t>
            </a:r>
            <a:r>
              <a:rPr lang="zh-CN" altLang="en-US" dirty="0"/>
              <a:t>译码器</a:t>
            </a:r>
          </a:p>
        </p:txBody>
      </p:sp>
      <p:sp>
        <p:nvSpPr>
          <p:cNvPr id="3" name="内容占位符 2"/>
          <p:cNvSpPr>
            <a:spLocks noGrp="1"/>
          </p:cNvSpPr>
          <p:nvPr>
            <p:ph idx="1"/>
          </p:nvPr>
        </p:nvSpPr>
        <p:spPr>
          <a:xfrm>
            <a:off x="467544" y="1556792"/>
            <a:ext cx="8278242" cy="4911128"/>
          </a:xfrm>
        </p:spPr>
        <p:txBody>
          <a:bodyPr/>
          <a:lstStyle/>
          <a:p>
            <a:pPr>
              <a:lnSpc>
                <a:spcPct val="100000"/>
              </a:lnSpc>
              <a:spcBef>
                <a:spcPts val="600"/>
              </a:spcBef>
              <a:buSzPct val="100000"/>
              <a:buFont typeface="Wingdings" pitchFamily="2" charset="2"/>
              <a:buChar char="p"/>
            </a:pPr>
            <a:r>
              <a:rPr lang="zh-CN" altLang="en-US" sz="2800" dirty="0" smtClean="0"/>
              <a:t>二进制</a:t>
            </a:r>
            <a:r>
              <a:rPr lang="zh-CN" altLang="en-US" sz="2800" dirty="0"/>
              <a:t>译码器（最小项译码器）</a:t>
            </a:r>
          </a:p>
          <a:p>
            <a:pPr lvl="1">
              <a:lnSpc>
                <a:spcPct val="100000"/>
              </a:lnSpc>
              <a:spcBef>
                <a:spcPts val="0"/>
              </a:spcBef>
              <a:buSzPct val="100000"/>
            </a:pPr>
            <a:r>
              <a:rPr lang="zh-CN" altLang="en-US" sz="2400" dirty="0" smtClean="0"/>
              <a:t>输入</a:t>
            </a:r>
            <a:r>
              <a:rPr lang="zh-CN" altLang="en-US" sz="2400" dirty="0"/>
              <a:t>：一组二进制代码</a:t>
            </a:r>
          </a:p>
          <a:p>
            <a:pPr lvl="1">
              <a:lnSpc>
                <a:spcPct val="100000"/>
              </a:lnSpc>
              <a:spcBef>
                <a:spcPts val="0"/>
              </a:spcBef>
              <a:buSzPct val="100000"/>
            </a:pPr>
            <a:r>
              <a:rPr lang="zh-CN" altLang="en-US" sz="2400" dirty="0" smtClean="0"/>
              <a:t>输出</a:t>
            </a:r>
            <a:r>
              <a:rPr lang="zh-CN" altLang="en-US" sz="2400" dirty="0"/>
              <a:t>：一组与输入代码一一对应的高、低电平信号</a:t>
            </a:r>
            <a:r>
              <a:rPr lang="zh-CN" altLang="en-US" sz="2400" dirty="0" smtClean="0"/>
              <a:t>。</a:t>
            </a:r>
            <a:endParaRPr lang="en-US" altLang="zh-CN" sz="2400" dirty="0" smtClean="0"/>
          </a:p>
          <a:p>
            <a:pPr lvl="1">
              <a:lnSpc>
                <a:spcPct val="100000"/>
              </a:lnSpc>
              <a:spcBef>
                <a:spcPts val="0"/>
              </a:spcBef>
              <a:buSzPct val="100000"/>
            </a:pPr>
            <a:r>
              <a:rPr lang="zh-CN" altLang="en-US" sz="2400" dirty="0"/>
              <a:t>例：</a:t>
            </a:r>
            <a:r>
              <a:rPr lang="en-US" altLang="zh-CN" sz="2400" dirty="0"/>
              <a:t>3</a:t>
            </a:r>
            <a:r>
              <a:rPr lang="zh-CN" altLang="en-US" sz="2400" dirty="0"/>
              <a:t>位二进制（</a:t>
            </a:r>
            <a:r>
              <a:rPr lang="en-US" altLang="zh-CN" sz="2400" dirty="0"/>
              <a:t>3</a:t>
            </a:r>
            <a:r>
              <a:rPr lang="zh-CN" altLang="en-US" sz="2400" dirty="0"/>
              <a:t>线－</a:t>
            </a:r>
            <a:r>
              <a:rPr lang="en-US" altLang="zh-CN" sz="2400" dirty="0"/>
              <a:t>8</a:t>
            </a:r>
            <a:r>
              <a:rPr lang="zh-CN" altLang="en-US" sz="2400" dirty="0"/>
              <a:t>线）译码器框图和真值表如下所示：</a:t>
            </a:r>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67</a:t>
            </a:fld>
            <a:endParaRPr lang="zh-CN" altLang="en-US"/>
          </a:p>
        </p:txBody>
      </p:sp>
      <p:sp>
        <p:nvSpPr>
          <p:cNvPr id="5" name="矩形 4"/>
          <p:cNvSpPr/>
          <p:nvPr/>
        </p:nvSpPr>
        <p:spPr>
          <a:xfrm>
            <a:off x="899592" y="6381328"/>
            <a:ext cx="2714205" cy="369332"/>
          </a:xfrm>
          <a:prstGeom prst="rect">
            <a:avLst/>
          </a:prstGeom>
        </p:spPr>
        <p:txBody>
          <a:bodyPr wrap="none">
            <a:spAutoFit/>
          </a:bodyPr>
          <a:lstStyle/>
          <a:p>
            <a:r>
              <a:rPr lang="zh-CN" altLang="en-US" dirty="0" smtClean="0"/>
              <a:t>图</a:t>
            </a:r>
            <a:r>
              <a:rPr lang="en-US" altLang="zh-CN" dirty="0" smtClean="0"/>
              <a:t>  </a:t>
            </a:r>
            <a:r>
              <a:rPr lang="en-US" altLang="zh-CN" dirty="0"/>
              <a:t>3</a:t>
            </a:r>
            <a:r>
              <a:rPr lang="zh-CN" altLang="en-US" dirty="0"/>
              <a:t>线－</a:t>
            </a:r>
            <a:r>
              <a:rPr lang="en-US" altLang="zh-CN" dirty="0"/>
              <a:t>8</a:t>
            </a:r>
            <a:r>
              <a:rPr lang="zh-CN" altLang="en-US" dirty="0"/>
              <a:t>线译码器框图</a:t>
            </a:r>
          </a:p>
        </p:txBody>
      </p:sp>
      <p:pic>
        <p:nvPicPr>
          <p:cNvPr id="4098" name="Picture 2" descr="E:\wrj\课件\数字电路与系统\数字电路与数字系统\tupian\4-13-2.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427984" y="3284984"/>
            <a:ext cx="3633140" cy="2988000"/>
          </a:xfrm>
          <a:prstGeom prst="rect">
            <a:avLst/>
          </a:prstGeom>
          <a:noFill/>
          <a:extLst>
            <a:ext uri="{909E8E84-426E-40DD-AFC4-6F175D3DCCD1}">
              <a14:hiddenFill xmlns:a14="http://schemas.microsoft.com/office/drawing/2010/main" xmlns="">
                <a:solidFill>
                  <a:srgbClr val="FFFFFF"/>
                </a:solidFill>
              </a14:hiddenFill>
            </a:ext>
          </a:extLst>
        </p:spPr>
      </p:pic>
      <p:pic>
        <p:nvPicPr>
          <p:cNvPr id="4099" name="Picture 3" descr="E:\wrj\课件\数字电路与系统\数字电路与数字系统\tupian\4-13-1.jp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827584" y="3573016"/>
            <a:ext cx="3003000" cy="2772000"/>
          </a:xfrm>
          <a:prstGeom prst="rect">
            <a:avLst/>
          </a:prstGeom>
          <a:noFill/>
          <a:extLst>
            <a:ext uri="{909E8E84-426E-40DD-AFC4-6F175D3DCCD1}">
              <a14:hiddenFill xmlns:a14="http://schemas.microsoft.com/office/drawing/2010/main" xmlns="">
                <a:solidFill>
                  <a:srgbClr val="FFFFFF"/>
                </a:solidFill>
              </a14:hiddenFill>
            </a:ext>
          </a:extLst>
        </p:spPr>
      </p:pic>
      <p:sp>
        <p:nvSpPr>
          <p:cNvPr id="8" name="矩形 7"/>
          <p:cNvSpPr/>
          <p:nvPr/>
        </p:nvSpPr>
        <p:spPr>
          <a:xfrm>
            <a:off x="4860032" y="6381328"/>
            <a:ext cx="2890535" cy="369332"/>
          </a:xfrm>
          <a:prstGeom prst="rect">
            <a:avLst/>
          </a:prstGeom>
        </p:spPr>
        <p:txBody>
          <a:bodyPr wrap="none">
            <a:spAutoFit/>
          </a:bodyPr>
          <a:lstStyle/>
          <a:p>
            <a:r>
              <a:rPr lang="zh-CN" altLang="en-US" dirty="0" smtClean="0"/>
              <a:t>图</a:t>
            </a:r>
            <a:r>
              <a:rPr lang="en-US" altLang="zh-CN" dirty="0" smtClean="0"/>
              <a:t>  </a:t>
            </a:r>
            <a:r>
              <a:rPr lang="en-US" altLang="zh-CN" dirty="0"/>
              <a:t>3</a:t>
            </a:r>
            <a:r>
              <a:rPr lang="zh-CN" altLang="en-US" dirty="0"/>
              <a:t>线－</a:t>
            </a:r>
            <a:r>
              <a:rPr lang="en-US" altLang="zh-CN" dirty="0"/>
              <a:t>8</a:t>
            </a:r>
            <a:r>
              <a:rPr lang="zh-CN" altLang="en-US" dirty="0"/>
              <a:t>线</a:t>
            </a:r>
            <a:r>
              <a:rPr lang="zh-CN" altLang="en-US" dirty="0" smtClean="0"/>
              <a:t>译码器真值表</a:t>
            </a:r>
            <a:endParaRPr lang="zh-CN" altLang="en-US" dirty="0"/>
          </a:p>
        </p:txBody>
      </p:sp>
      <p:sp>
        <p:nvSpPr>
          <p:cNvPr id="9" name="标题 1"/>
          <p:cNvSpPr txBox="1">
            <a:spLocks/>
          </p:cNvSpPr>
          <p:nvPr/>
        </p:nvSpPr>
        <p:spPr bwMode="auto">
          <a:xfrm>
            <a:off x="1259632" y="116632"/>
            <a:ext cx="7545014"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4.4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译码器（</a:t>
            </a: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Decoder</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239707197"/>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59632" y="692696"/>
            <a:ext cx="7736855" cy="566936"/>
          </a:xfrm>
        </p:spPr>
        <p:txBody>
          <a:bodyPr/>
          <a:lstStyle/>
          <a:p>
            <a:r>
              <a:rPr lang="en-US" altLang="zh-CN" dirty="0" smtClean="0"/>
              <a:t>4.4.1 </a:t>
            </a:r>
            <a:r>
              <a:rPr lang="zh-CN" altLang="en-US" dirty="0" smtClean="0"/>
              <a:t>二进制</a:t>
            </a:r>
            <a:r>
              <a:rPr lang="zh-CN" altLang="en-US" dirty="0"/>
              <a:t>译码器</a:t>
            </a:r>
          </a:p>
        </p:txBody>
      </p:sp>
      <p:sp>
        <p:nvSpPr>
          <p:cNvPr id="3" name="内容占位符 2"/>
          <p:cNvSpPr>
            <a:spLocks noGrp="1"/>
          </p:cNvSpPr>
          <p:nvPr>
            <p:ph idx="1"/>
          </p:nvPr>
        </p:nvSpPr>
        <p:spPr>
          <a:xfrm>
            <a:off x="467544" y="1556792"/>
            <a:ext cx="7810698" cy="4911128"/>
          </a:xfrm>
        </p:spPr>
        <p:txBody>
          <a:bodyPr/>
          <a:lstStyle/>
          <a:p>
            <a:pPr>
              <a:lnSpc>
                <a:spcPct val="100000"/>
              </a:lnSpc>
              <a:spcBef>
                <a:spcPts val="600"/>
              </a:spcBef>
              <a:buSzPct val="100000"/>
              <a:buFont typeface="Wingdings" pitchFamily="2" charset="2"/>
              <a:buChar char="p"/>
            </a:pPr>
            <a:r>
              <a:rPr lang="zh-CN" altLang="en-US" sz="2800" dirty="0"/>
              <a:t> </a:t>
            </a:r>
            <a:r>
              <a:rPr lang="zh-CN" altLang="en-US" sz="2800" dirty="0">
                <a:solidFill>
                  <a:srgbClr val="FF0000"/>
                </a:solidFill>
              </a:rPr>
              <a:t>中规模（</a:t>
            </a:r>
            <a:r>
              <a:rPr lang="en-US" altLang="zh-CN" sz="2800" dirty="0">
                <a:solidFill>
                  <a:srgbClr val="FF0000"/>
                </a:solidFill>
              </a:rPr>
              <a:t>MSI</a:t>
            </a:r>
            <a:r>
              <a:rPr lang="zh-CN" altLang="en-US" sz="2800" dirty="0">
                <a:solidFill>
                  <a:srgbClr val="FF0000"/>
                </a:solidFill>
              </a:rPr>
              <a:t>）集成电路</a:t>
            </a:r>
            <a:r>
              <a:rPr lang="zh-CN" altLang="en-US" sz="2800" dirty="0"/>
              <a:t>通常采用三极管集成门（如</a:t>
            </a:r>
            <a:r>
              <a:rPr lang="en-US" altLang="zh-CN" sz="2800" dirty="0"/>
              <a:t>TTL</a:t>
            </a:r>
            <a:r>
              <a:rPr lang="zh-CN" altLang="en-US" sz="2800" dirty="0"/>
              <a:t>）电路。</a:t>
            </a:r>
          </a:p>
          <a:p>
            <a:pPr>
              <a:lnSpc>
                <a:spcPct val="100000"/>
              </a:lnSpc>
              <a:spcBef>
                <a:spcPts val="600"/>
              </a:spcBef>
              <a:buSzPct val="100000"/>
              <a:buFont typeface="Wingdings" pitchFamily="2" charset="2"/>
              <a:buChar char="p"/>
            </a:pPr>
            <a:r>
              <a:rPr lang="zh-CN" altLang="en-US" sz="2800" dirty="0" smtClean="0"/>
              <a:t>以</a:t>
            </a:r>
            <a:r>
              <a:rPr lang="en-US" altLang="zh-CN" sz="2800" dirty="0"/>
              <a:t>74LS138 3</a:t>
            </a:r>
            <a:r>
              <a:rPr lang="zh-CN" altLang="en-US" sz="2800" dirty="0"/>
              <a:t>线－</a:t>
            </a:r>
            <a:r>
              <a:rPr lang="en-US" altLang="zh-CN" sz="2800" dirty="0"/>
              <a:t>8</a:t>
            </a:r>
            <a:r>
              <a:rPr lang="zh-CN" altLang="en-US" sz="2800" dirty="0"/>
              <a:t>线译码器为例来分析译码器的工作原理：</a:t>
            </a:r>
          </a:p>
        </p:txBody>
      </p:sp>
      <p:pic>
        <p:nvPicPr>
          <p:cNvPr id="9" name="Picture 6" descr="74-138"/>
          <p:cNvPicPr>
            <a:picLocks noChangeAspect="1" noChangeArrowheads="1"/>
          </p:cNvPicPr>
          <p:nvPr/>
        </p:nvPicPr>
        <p:blipFill>
          <a:blip r:embed="rId2" cstate="print">
            <a:extLst>
              <a:ext uri="{28A0092B-C50C-407E-A947-70E740481C1C}">
                <a14:useLocalDpi xmlns:a14="http://schemas.microsoft.com/office/drawing/2010/main" xmlns="" val="0"/>
              </a:ext>
            </a:extLst>
          </a:blip>
          <a:srcRect l="16438" t="25172" r="26570" b="20555"/>
          <a:stretch>
            <a:fillRect/>
          </a:stretch>
        </p:blipFill>
        <p:spPr bwMode="auto">
          <a:xfrm>
            <a:off x="4572000" y="3446640"/>
            <a:ext cx="4103687" cy="2552700"/>
          </a:xfrm>
          <a:prstGeom prst="rect">
            <a:avLst/>
          </a:prstGeom>
          <a:noFill/>
          <a:extLst>
            <a:ext uri="{909E8E84-426E-40DD-AFC4-6F175D3DCCD1}">
              <a14:hiddenFill xmlns:a14="http://schemas.microsoft.com/office/drawing/2010/main" xmlns="">
                <a:solidFill>
                  <a:srgbClr val="FFFFFF"/>
                </a:solidFill>
              </a14:hiddenFill>
            </a:ext>
          </a:extLst>
        </p:spPr>
      </p:pic>
      <p:pic>
        <p:nvPicPr>
          <p:cNvPr id="10" name="Picture 9" descr="3-3-6"/>
          <p:cNvPicPr>
            <a:picLocks noChangeAspect="1" noChangeArrowheads="1"/>
          </p:cNvPicPr>
          <p:nvPr/>
        </p:nvPicPr>
        <p:blipFill>
          <a:blip r:embed="rId3" cstate="print">
            <a:clrChange>
              <a:clrFrom>
                <a:srgbClr val="ECEDE7"/>
              </a:clrFrom>
              <a:clrTo>
                <a:srgbClr val="ECEDE7">
                  <a:alpha val="0"/>
                </a:srgbClr>
              </a:clrTo>
            </a:clrChange>
            <a:lum contrast="36000"/>
            <a:extLst>
              <a:ext uri="{28A0092B-C50C-407E-A947-70E740481C1C}">
                <a14:useLocalDpi xmlns:a14="http://schemas.microsoft.com/office/drawing/2010/main" xmlns="" val="0"/>
              </a:ext>
            </a:extLst>
          </a:blip>
          <a:srcRect/>
          <a:stretch>
            <a:fillRect/>
          </a:stretch>
        </p:blipFill>
        <p:spPr bwMode="auto">
          <a:xfrm>
            <a:off x="611560" y="3573016"/>
            <a:ext cx="3697287" cy="2430463"/>
          </a:xfrm>
          <a:prstGeom prst="rect">
            <a:avLst/>
          </a:prstGeom>
          <a:noFill/>
          <a:extLst>
            <a:ext uri="{909E8E84-426E-40DD-AFC4-6F175D3DCCD1}">
              <a14:hiddenFill xmlns:a14="http://schemas.microsoft.com/office/drawing/2010/main" xmlns="">
                <a:solidFill>
                  <a:srgbClr val="FFFFFF"/>
                </a:solidFill>
              </a14:hiddenFill>
            </a:ext>
          </a:extLst>
        </p:spPr>
      </p:pic>
      <p:sp>
        <p:nvSpPr>
          <p:cNvPr id="11" name="Text Box 8"/>
          <p:cNvSpPr txBox="1">
            <a:spLocks noChangeArrowheads="1"/>
          </p:cNvSpPr>
          <p:nvPr/>
        </p:nvSpPr>
        <p:spPr bwMode="auto">
          <a:xfrm>
            <a:off x="1835696" y="6237312"/>
            <a:ext cx="43688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sz="2000" b="1" dirty="0" smtClean="0">
                <a:latin typeface="楷体_GB2312" pitchFamily="49" charset="-122"/>
                <a:ea typeface="楷体_GB2312" pitchFamily="49" charset="-122"/>
              </a:rPr>
              <a:t>图</a:t>
            </a:r>
            <a:r>
              <a:rPr kumimoji="1" lang="en-US" altLang="zh-CN" sz="2000" b="1" dirty="0" smtClean="0">
                <a:latin typeface="楷体_GB2312" pitchFamily="49" charset="-122"/>
                <a:ea typeface="楷体_GB2312" pitchFamily="49" charset="-122"/>
              </a:rPr>
              <a:t>  </a:t>
            </a:r>
            <a:r>
              <a:rPr kumimoji="1" lang="en-US" altLang="zh-CN" sz="2000" b="1" dirty="0">
                <a:latin typeface="楷体_GB2312" pitchFamily="49" charset="-122"/>
                <a:ea typeface="楷体_GB2312" pitchFamily="49" charset="-122"/>
              </a:rPr>
              <a:t>74LS138</a:t>
            </a:r>
            <a:r>
              <a:rPr kumimoji="1" lang="zh-CN" altLang="en-US" sz="2000" b="1" dirty="0">
                <a:latin typeface="楷体_GB2312" pitchFamily="49" charset="-122"/>
                <a:ea typeface="楷体_GB2312" pitchFamily="49" charset="-122"/>
              </a:rPr>
              <a:t>框图及实物图</a:t>
            </a:r>
          </a:p>
        </p:txBody>
      </p:sp>
      <p:sp>
        <p:nvSpPr>
          <p:cNvPr id="6" name="矩形 5"/>
          <p:cNvSpPr/>
          <p:nvPr/>
        </p:nvSpPr>
        <p:spPr>
          <a:xfrm>
            <a:off x="930242" y="3933056"/>
            <a:ext cx="1529961" cy="360040"/>
          </a:xfrm>
          <a:prstGeom prst="rect">
            <a:avLst/>
          </a:prstGeom>
          <a:noFill/>
          <a:ln w="15875">
            <a:solidFill>
              <a:schemeClr val="accent1"/>
            </a:solidFill>
            <a:prstDash val="dash"/>
          </a:ln>
        </p:spPr>
        <p:txBody>
          <a:bodyPr wrap="square" rtlCol="0" anchor="ctr">
            <a:spAutoFit/>
          </a:bodyPr>
          <a:lstStyle/>
          <a:p>
            <a:pPr algn="ctr"/>
            <a:endParaRPr lang="zh-CN" altLang="en-US" sz="2000" b="1" dirty="0">
              <a:latin typeface="华文新魏" pitchFamily="2" charset="-122"/>
              <a:ea typeface="华文新魏" pitchFamily="2" charset="-122"/>
            </a:endParaRPr>
          </a:p>
        </p:txBody>
      </p:sp>
      <p:sp>
        <p:nvSpPr>
          <p:cNvPr id="13" name="矩形 12"/>
          <p:cNvSpPr/>
          <p:nvPr/>
        </p:nvSpPr>
        <p:spPr>
          <a:xfrm>
            <a:off x="930241" y="5095064"/>
            <a:ext cx="3120505" cy="360040"/>
          </a:xfrm>
          <a:prstGeom prst="rect">
            <a:avLst/>
          </a:prstGeom>
          <a:noFill/>
          <a:ln w="15875">
            <a:solidFill>
              <a:schemeClr val="accent1"/>
            </a:solidFill>
            <a:prstDash val="dash"/>
          </a:ln>
        </p:spPr>
        <p:txBody>
          <a:bodyPr wrap="square" rtlCol="0" anchor="ctr">
            <a:spAutoFit/>
          </a:bodyPr>
          <a:lstStyle/>
          <a:p>
            <a:pPr algn="ctr"/>
            <a:endParaRPr lang="zh-CN" altLang="en-US" sz="2000" b="1" dirty="0">
              <a:latin typeface="华文新魏" pitchFamily="2" charset="-122"/>
              <a:ea typeface="华文新魏" pitchFamily="2" charset="-122"/>
            </a:endParaRPr>
          </a:p>
        </p:txBody>
      </p:sp>
      <p:sp>
        <p:nvSpPr>
          <p:cNvPr id="14" name="矩形 13"/>
          <p:cNvSpPr/>
          <p:nvPr/>
        </p:nvSpPr>
        <p:spPr>
          <a:xfrm>
            <a:off x="2658434" y="3933056"/>
            <a:ext cx="1290248" cy="360040"/>
          </a:xfrm>
          <a:prstGeom prst="rect">
            <a:avLst/>
          </a:prstGeom>
          <a:noFill/>
          <a:ln w="15875">
            <a:solidFill>
              <a:schemeClr val="accent1"/>
            </a:solidFill>
            <a:prstDash val="dash"/>
          </a:ln>
        </p:spPr>
        <p:txBody>
          <a:bodyPr wrap="square" rtlCol="0" anchor="ctr">
            <a:spAutoFit/>
          </a:bodyPr>
          <a:lstStyle/>
          <a:p>
            <a:pPr algn="ctr"/>
            <a:endParaRPr lang="zh-CN" altLang="en-US" sz="2000" b="1" dirty="0">
              <a:latin typeface="华文新魏" pitchFamily="2" charset="-122"/>
              <a:ea typeface="华文新魏" pitchFamily="2" charset="-122"/>
            </a:endParaRPr>
          </a:p>
        </p:txBody>
      </p:sp>
      <p:sp>
        <p:nvSpPr>
          <p:cNvPr id="12" name="标题 1"/>
          <p:cNvSpPr txBox="1">
            <a:spLocks/>
          </p:cNvSpPr>
          <p:nvPr/>
        </p:nvSpPr>
        <p:spPr bwMode="auto">
          <a:xfrm>
            <a:off x="1259632" y="116632"/>
            <a:ext cx="7545014"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4.4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译码器（</a:t>
            </a: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Decoder</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4246174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3" grpId="0" animBg="1"/>
      <p:bldP spid="14"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8354" name="Group 2"/>
          <p:cNvGrpSpPr>
            <a:grpSpLocks/>
          </p:cNvGrpSpPr>
          <p:nvPr/>
        </p:nvGrpSpPr>
        <p:grpSpPr bwMode="auto">
          <a:xfrm>
            <a:off x="2771775" y="188913"/>
            <a:ext cx="4105275" cy="6337300"/>
            <a:chOff x="565" y="854"/>
            <a:chExt cx="1833" cy="2712"/>
          </a:xfrm>
        </p:grpSpPr>
        <p:grpSp>
          <p:nvGrpSpPr>
            <p:cNvPr id="228355" name="Group 3"/>
            <p:cNvGrpSpPr>
              <a:grpSpLocks/>
            </p:cNvGrpSpPr>
            <p:nvPr/>
          </p:nvGrpSpPr>
          <p:grpSpPr bwMode="auto">
            <a:xfrm>
              <a:off x="567" y="854"/>
              <a:ext cx="1831" cy="2712"/>
              <a:chOff x="567" y="854"/>
              <a:chExt cx="1831" cy="2712"/>
            </a:xfrm>
          </p:grpSpPr>
          <p:sp>
            <p:nvSpPr>
              <p:cNvPr id="228356" name="Line 4"/>
              <p:cNvSpPr>
                <a:spLocks noChangeShapeType="1"/>
              </p:cNvSpPr>
              <p:nvPr/>
            </p:nvSpPr>
            <p:spPr bwMode="auto">
              <a:xfrm flipH="1">
                <a:off x="1434" y="1312"/>
                <a:ext cx="624"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grpSp>
            <p:nvGrpSpPr>
              <p:cNvPr id="228357" name="Group 5"/>
              <p:cNvGrpSpPr>
                <a:grpSpLocks/>
              </p:cNvGrpSpPr>
              <p:nvPr/>
            </p:nvGrpSpPr>
            <p:grpSpPr bwMode="auto">
              <a:xfrm>
                <a:off x="2111" y="854"/>
                <a:ext cx="287" cy="283"/>
                <a:chOff x="2111" y="854"/>
                <a:chExt cx="287" cy="283"/>
              </a:xfrm>
            </p:grpSpPr>
            <p:sp>
              <p:nvSpPr>
                <p:cNvPr id="228358" name="Rectangle 6"/>
                <p:cNvSpPr>
                  <a:spLocks noChangeArrowheads="1"/>
                </p:cNvSpPr>
                <p:nvPr/>
              </p:nvSpPr>
              <p:spPr bwMode="auto">
                <a:xfrm>
                  <a:off x="2111" y="854"/>
                  <a:ext cx="171" cy="283"/>
                </a:xfrm>
                <a:prstGeom prst="rect">
                  <a:avLst/>
                </a:prstGeom>
                <a:gradFill rotWithShape="1">
                  <a:gsLst>
                    <a:gs pos="0">
                      <a:srgbClr val="FFEFD1"/>
                    </a:gs>
                    <a:gs pos="64999">
                      <a:srgbClr val="F0EBD5"/>
                    </a:gs>
                    <a:gs pos="100000">
                      <a:srgbClr val="D1C39F"/>
                    </a:gs>
                  </a:gsLst>
                  <a:path path="shape">
                    <a:fillToRect l="50000" t="50000" r="50000" b="50000"/>
                  </a:path>
                </a:gradFill>
                <a:ln w="25400">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r>
                    <a:rPr lang="en-US" altLang="zh-CN" b="1" smtClean="0">
                      <a:solidFill>
                        <a:srgbClr val="0000FF"/>
                      </a:solidFill>
                      <a:latin typeface="Times New Roman" pitchFamily="18" charset="0"/>
                      <a:ea typeface="黑体" pitchFamily="49" charset="-122"/>
                    </a:rPr>
                    <a:t>&amp;</a:t>
                  </a:r>
                </a:p>
              </p:txBody>
            </p:sp>
            <p:sp>
              <p:nvSpPr>
                <p:cNvPr id="228360" name="Line 8"/>
                <p:cNvSpPr>
                  <a:spLocks noChangeShapeType="1"/>
                </p:cNvSpPr>
                <p:nvPr/>
              </p:nvSpPr>
              <p:spPr bwMode="auto">
                <a:xfrm>
                  <a:off x="2331" y="997"/>
                  <a:ext cx="67"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grpSp>
          <p:grpSp>
            <p:nvGrpSpPr>
              <p:cNvPr id="228361" name="Group 9"/>
              <p:cNvGrpSpPr>
                <a:grpSpLocks/>
              </p:cNvGrpSpPr>
              <p:nvPr/>
            </p:nvGrpSpPr>
            <p:grpSpPr bwMode="auto">
              <a:xfrm>
                <a:off x="2111" y="1196"/>
                <a:ext cx="287" cy="283"/>
                <a:chOff x="2111" y="854"/>
                <a:chExt cx="287" cy="283"/>
              </a:xfrm>
            </p:grpSpPr>
            <p:sp>
              <p:nvSpPr>
                <p:cNvPr id="228362" name="Rectangle 10"/>
                <p:cNvSpPr>
                  <a:spLocks noChangeArrowheads="1"/>
                </p:cNvSpPr>
                <p:nvPr/>
              </p:nvSpPr>
              <p:spPr bwMode="auto">
                <a:xfrm>
                  <a:off x="2111" y="854"/>
                  <a:ext cx="171" cy="283"/>
                </a:xfrm>
                <a:prstGeom prst="rect">
                  <a:avLst/>
                </a:prstGeom>
                <a:gradFill rotWithShape="1">
                  <a:gsLst>
                    <a:gs pos="0">
                      <a:srgbClr val="FFEFD1"/>
                    </a:gs>
                    <a:gs pos="64999">
                      <a:srgbClr val="F0EBD5"/>
                    </a:gs>
                    <a:gs pos="100000">
                      <a:srgbClr val="D1C39F"/>
                    </a:gs>
                  </a:gsLst>
                  <a:path path="shape">
                    <a:fillToRect l="50000" t="50000" r="50000" b="50000"/>
                  </a:path>
                </a:gradFill>
                <a:ln w="25400">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r>
                    <a:rPr lang="en-US" altLang="zh-CN" b="1" smtClean="0">
                      <a:solidFill>
                        <a:srgbClr val="0000FF"/>
                      </a:solidFill>
                      <a:latin typeface="Times New Roman" pitchFamily="18" charset="0"/>
                      <a:ea typeface="黑体" pitchFamily="49" charset="-122"/>
                    </a:rPr>
                    <a:t>&amp;</a:t>
                  </a:r>
                </a:p>
              </p:txBody>
            </p:sp>
            <p:sp>
              <p:nvSpPr>
                <p:cNvPr id="228363" name="Oval 11"/>
                <p:cNvSpPr>
                  <a:spLocks noChangeAspect="1" noChangeArrowheads="1"/>
                </p:cNvSpPr>
                <p:nvPr/>
              </p:nvSpPr>
              <p:spPr bwMode="auto">
                <a:xfrm>
                  <a:off x="2282" y="975"/>
                  <a:ext cx="45" cy="45"/>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smtClean="0">
                    <a:solidFill>
                      <a:srgbClr val="000000"/>
                    </a:solidFill>
                  </a:endParaRPr>
                </a:p>
              </p:txBody>
            </p:sp>
            <p:sp>
              <p:nvSpPr>
                <p:cNvPr id="228364" name="Line 12"/>
                <p:cNvSpPr>
                  <a:spLocks noChangeShapeType="1"/>
                </p:cNvSpPr>
                <p:nvPr/>
              </p:nvSpPr>
              <p:spPr bwMode="auto">
                <a:xfrm>
                  <a:off x="2331" y="997"/>
                  <a:ext cx="67"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grpSp>
          <p:grpSp>
            <p:nvGrpSpPr>
              <p:cNvPr id="228365" name="Group 13"/>
              <p:cNvGrpSpPr>
                <a:grpSpLocks/>
              </p:cNvGrpSpPr>
              <p:nvPr/>
            </p:nvGrpSpPr>
            <p:grpSpPr bwMode="auto">
              <a:xfrm>
                <a:off x="2111" y="1540"/>
                <a:ext cx="287" cy="283"/>
                <a:chOff x="2111" y="854"/>
                <a:chExt cx="287" cy="283"/>
              </a:xfrm>
            </p:grpSpPr>
            <p:sp>
              <p:nvSpPr>
                <p:cNvPr id="228366" name="Rectangle 14"/>
                <p:cNvSpPr>
                  <a:spLocks noChangeArrowheads="1"/>
                </p:cNvSpPr>
                <p:nvPr/>
              </p:nvSpPr>
              <p:spPr bwMode="auto">
                <a:xfrm>
                  <a:off x="2111" y="854"/>
                  <a:ext cx="171" cy="283"/>
                </a:xfrm>
                <a:prstGeom prst="rect">
                  <a:avLst/>
                </a:prstGeom>
                <a:gradFill rotWithShape="1">
                  <a:gsLst>
                    <a:gs pos="0">
                      <a:srgbClr val="FFEFD1"/>
                    </a:gs>
                    <a:gs pos="64999">
                      <a:srgbClr val="F0EBD5"/>
                    </a:gs>
                    <a:gs pos="100000">
                      <a:srgbClr val="D1C39F"/>
                    </a:gs>
                  </a:gsLst>
                  <a:path path="shape">
                    <a:fillToRect l="50000" t="50000" r="50000" b="50000"/>
                  </a:path>
                </a:gradFill>
                <a:ln w="25400">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r>
                    <a:rPr lang="en-US" altLang="zh-CN" b="1" smtClean="0">
                      <a:solidFill>
                        <a:srgbClr val="0000FF"/>
                      </a:solidFill>
                      <a:latin typeface="Times New Roman" pitchFamily="18" charset="0"/>
                      <a:ea typeface="黑体" pitchFamily="49" charset="-122"/>
                    </a:rPr>
                    <a:t>&amp;</a:t>
                  </a:r>
                </a:p>
              </p:txBody>
            </p:sp>
            <p:sp>
              <p:nvSpPr>
                <p:cNvPr id="228367" name="Oval 15"/>
                <p:cNvSpPr>
                  <a:spLocks noChangeAspect="1" noChangeArrowheads="1"/>
                </p:cNvSpPr>
                <p:nvPr/>
              </p:nvSpPr>
              <p:spPr bwMode="auto">
                <a:xfrm>
                  <a:off x="2282" y="975"/>
                  <a:ext cx="45" cy="45"/>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smtClean="0">
                    <a:solidFill>
                      <a:srgbClr val="000000"/>
                    </a:solidFill>
                  </a:endParaRPr>
                </a:p>
              </p:txBody>
            </p:sp>
            <p:sp>
              <p:nvSpPr>
                <p:cNvPr id="228368" name="Line 16"/>
                <p:cNvSpPr>
                  <a:spLocks noChangeShapeType="1"/>
                </p:cNvSpPr>
                <p:nvPr/>
              </p:nvSpPr>
              <p:spPr bwMode="auto">
                <a:xfrm>
                  <a:off x="2331" y="997"/>
                  <a:ext cx="67"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grpSp>
          <p:grpSp>
            <p:nvGrpSpPr>
              <p:cNvPr id="228369" name="Group 17"/>
              <p:cNvGrpSpPr>
                <a:grpSpLocks/>
              </p:cNvGrpSpPr>
              <p:nvPr/>
            </p:nvGrpSpPr>
            <p:grpSpPr bwMode="auto">
              <a:xfrm>
                <a:off x="2111" y="1882"/>
                <a:ext cx="287" cy="283"/>
                <a:chOff x="2111" y="854"/>
                <a:chExt cx="287" cy="283"/>
              </a:xfrm>
            </p:grpSpPr>
            <p:sp>
              <p:nvSpPr>
                <p:cNvPr id="228370" name="Rectangle 18"/>
                <p:cNvSpPr>
                  <a:spLocks noChangeArrowheads="1"/>
                </p:cNvSpPr>
                <p:nvPr/>
              </p:nvSpPr>
              <p:spPr bwMode="auto">
                <a:xfrm>
                  <a:off x="2111" y="854"/>
                  <a:ext cx="171" cy="283"/>
                </a:xfrm>
                <a:prstGeom prst="rect">
                  <a:avLst/>
                </a:prstGeom>
                <a:gradFill rotWithShape="1">
                  <a:gsLst>
                    <a:gs pos="0">
                      <a:srgbClr val="FFEFD1"/>
                    </a:gs>
                    <a:gs pos="64999">
                      <a:srgbClr val="F0EBD5"/>
                    </a:gs>
                    <a:gs pos="100000">
                      <a:srgbClr val="D1C39F"/>
                    </a:gs>
                  </a:gsLst>
                  <a:path path="shape">
                    <a:fillToRect l="50000" t="50000" r="50000" b="50000"/>
                  </a:path>
                </a:gradFill>
                <a:ln w="25400">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r>
                    <a:rPr lang="en-US" altLang="zh-CN" b="1" smtClean="0">
                      <a:solidFill>
                        <a:srgbClr val="0000FF"/>
                      </a:solidFill>
                      <a:latin typeface="Times New Roman" pitchFamily="18" charset="0"/>
                      <a:ea typeface="黑体" pitchFamily="49" charset="-122"/>
                    </a:rPr>
                    <a:t>&amp;</a:t>
                  </a:r>
                </a:p>
              </p:txBody>
            </p:sp>
            <p:sp>
              <p:nvSpPr>
                <p:cNvPr id="228371" name="Oval 19"/>
                <p:cNvSpPr>
                  <a:spLocks noChangeAspect="1" noChangeArrowheads="1"/>
                </p:cNvSpPr>
                <p:nvPr/>
              </p:nvSpPr>
              <p:spPr bwMode="auto">
                <a:xfrm>
                  <a:off x="2282" y="975"/>
                  <a:ext cx="45" cy="45"/>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smtClean="0">
                    <a:solidFill>
                      <a:srgbClr val="000000"/>
                    </a:solidFill>
                  </a:endParaRPr>
                </a:p>
              </p:txBody>
            </p:sp>
            <p:sp>
              <p:nvSpPr>
                <p:cNvPr id="228372" name="Line 20"/>
                <p:cNvSpPr>
                  <a:spLocks noChangeShapeType="1"/>
                </p:cNvSpPr>
                <p:nvPr/>
              </p:nvSpPr>
              <p:spPr bwMode="auto">
                <a:xfrm>
                  <a:off x="2331" y="997"/>
                  <a:ext cx="67"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grpSp>
          <p:grpSp>
            <p:nvGrpSpPr>
              <p:cNvPr id="228373" name="Group 21"/>
              <p:cNvGrpSpPr>
                <a:grpSpLocks/>
              </p:cNvGrpSpPr>
              <p:nvPr/>
            </p:nvGrpSpPr>
            <p:grpSpPr bwMode="auto">
              <a:xfrm>
                <a:off x="2111" y="2225"/>
                <a:ext cx="287" cy="283"/>
                <a:chOff x="2111" y="854"/>
                <a:chExt cx="287" cy="283"/>
              </a:xfrm>
            </p:grpSpPr>
            <p:sp>
              <p:nvSpPr>
                <p:cNvPr id="228374" name="Rectangle 22"/>
                <p:cNvSpPr>
                  <a:spLocks noChangeArrowheads="1"/>
                </p:cNvSpPr>
                <p:nvPr/>
              </p:nvSpPr>
              <p:spPr bwMode="auto">
                <a:xfrm>
                  <a:off x="2111" y="854"/>
                  <a:ext cx="171" cy="283"/>
                </a:xfrm>
                <a:prstGeom prst="rect">
                  <a:avLst/>
                </a:prstGeom>
                <a:gradFill rotWithShape="1">
                  <a:gsLst>
                    <a:gs pos="0">
                      <a:srgbClr val="FFEFD1"/>
                    </a:gs>
                    <a:gs pos="64999">
                      <a:srgbClr val="F0EBD5"/>
                    </a:gs>
                    <a:gs pos="100000">
                      <a:srgbClr val="D1C39F"/>
                    </a:gs>
                  </a:gsLst>
                  <a:path path="shape">
                    <a:fillToRect l="50000" t="50000" r="50000" b="50000"/>
                  </a:path>
                </a:gradFill>
                <a:ln w="25400">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r>
                    <a:rPr lang="en-US" altLang="zh-CN" b="1" smtClean="0">
                      <a:solidFill>
                        <a:srgbClr val="0000FF"/>
                      </a:solidFill>
                      <a:latin typeface="Times New Roman" pitchFamily="18" charset="0"/>
                      <a:ea typeface="黑体" pitchFamily="49" charset="-122"/>
                    </a:rPr>
                    <a:t>&amp;</a:t>
                  </a:r>
                </a:p>
              </p:txBody>
            </p:sp>
            <p:sp>
              <p:nvSpPr>
                <p:cNvPr id="228375" name="Oval 23"/>
                <p:cNvSpPr>
                  <a:spLocks noChangeAspect="1" noChangeArrowheads="1"/>
                </p:cNvSpPr>
                <p:nvPr/>
              </p:nvSpPr>
              <p:spPr bwMode="auto">
                <a:xfrm>
                  <a:off x="2282" y="975"/>
                  <a:ext cx="45" cy="45"/>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smtClean="0">
                    <a:solidFill>
                      <a:srgbClr val="000000"/>
                    </a:solidFill>
                  </a:endParaRPr>
                </a:p>
              </p:txBody>
            </p:sp>
            <p:sp>
              <p:nvSpPr>
                <p:cNvPr id="228376" name="Line 24"/>
                <p:cNvSpPr>
                  <a:spLocks noChangeShapeType="1"/>
                </p:cNvSpPr>
                <p:nvPr/>
              </p:nvSpPr>
              <p:spPr bwMode="auto">
                <a:xfrm>
                  <a:off x="2331" y="997"/>
                  <a:ext cx="67"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grpSp>
          <p:grpSp>
            <p:nvGrpSpPr>
              <p:cNvPr id="228377" name="Group 25"/>
              <p:cNvGrpSpPr>
                <a:grpSpLocks/>
              </p:cNvGrpSpPr>
              <p:nvPr/>
            </p:nvGrpSpPr>
            <p:grpSpPr bwMode="auto">
              <a:xfrm>
                <a:off x="2111" y="2569"/>
                <a:ext cx="287" cy="283"/>
                <a:chOff x="2111" y="854"/>
                <a:chExt cx="287" cy="283"/>
              </a:xfrm>
            </p:grpSpPr>
            <p:sp>
              <p:nvSpPr>
                <p:cNvPr id="228378" name="Rectangle 26"/>
                <p:cNvSpPr>
                  <a:spLocks noChangeArrowheads="1"/>
                </p:cNvSpPr>
                <p:nvPr/>
              </p:nvSpPr>
              <p:spPr bwMode="auto">
                <a:xfrm>
                  <a:off x="2111" y="854"/>
                  <a:ext cx="171" cy="283"/>
                </a:xfrm>
                <a:prstGeom prst="rect">
                  <a:avLst/>
                </a:prstGeom>
                <a:gradFill rotWithShape="1">
                  <a:gsLst>
                    <a:gs pos="0">
                      <a:srgbClr val="FFEFD1"/>
                    </a:gs>
                    <a:gs pos="64999">
                      <a:srgbClr val="F0EBD5"/>
                    </a:gs>
                    <a:gs pos="100000">
                      <a:srgbClr val="D1C39F"/>
                    </a:gs>
                  </a:gsLst>
                  <a:path path="shape">
                    <a:fillToRect l="50000" t="50000" r="50000" b="50000"/>
                  </a:path>
                </a:gradFill>
                <a:ln w="25400">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r>
                    <a:rPr lang="en-US" altLang="zh-CN" b="1" smtClean="0">
                      <a:solidFill>
                        <a:srgbClr val="0000FF"/>
                      </a:solidFill>
                      <a:latin typeface="Times New Roman" pitchFamily="18" charset="0"/>
                      <a:ea typeface="黑体" pitchFamily="49" charset="-122"/>
                    </a:rPr>
                    <a:t>&amp;</a:t>
                  </a:r>
                </a:p>
              </p:txBody>
            </p:sp>
            <p:sp>
              <p:nvSpPr>
                <p:cNvPr id="228379" name="Oval 27"/>
                <p:cNvSpPr>
                  <a:spLocks noChangeAspect="1" noChangeArrowheads="1"/>
                </p:cNvSpPr>
                <p:nvPr/>
              </p:nvSpPr>
              <p:spPr bwMode="auto">
                <a:xfrm>
                  <a:off x="2282" y="975"/>
                  <a:ext cx="45" cy="45"/>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smtClean="0">
                    <a:solidFill>
                      <a:srgbClr val="000000"/>
                    </a:solidFill>
                  </a:endParaRPr>
                </a:p>
              </p:txBody>
            </p:sp>
            <p:sp>
              <p:nvSpPr>
                <p:cNvPr id="228380" name="Line 28"/>
                <p:cNvSpPr>
                  <a:spLocks noChangeShapeType="1"/>
                </p:cNvSpPr>
                <p:nvPr/>
              </p:nvSpPr>
              <p:spPr bwMode="auto">
                <a:xfrm>
                  <a:off x="2331" y="997"/>
                  <a:ext cx="67"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grpSp>
          <p:grpSp>
            <p:nvGrpSpPr>
              <p:cNvPr id="228381" name="Group 29"/>
              <p:cNvGrpSpPr>
                <a:grpSpLocks/>
              </p:cNvGrpSpPr>
              <p:nvPr/>
            </p:nvGrpSpPr>
            <p:grpSpPr bwMode="auto">
              <a:xfrm>
                <a:off x="2111" y="2907"/>
                <a:ext cx="287" cy="283"/>
                <a:chOff x="2111" y="2907"/>
                <a:chExt cx="287" cy="283"/>
              </a:xfrm>
            </p:grpSpPr>
            <p:sp>
              <p:nvSpPr>
                <p:cNvPr id="228382" name="Rectangle 30"/>
                <p:cNvSpPr>
                  <a:spLocks noChangeArrowheads="1"/>
                </p:cNvSpPr>
                <p:nvPr/>
              </p:nvSpPr>
              <p:spPr bwMode="auto">
                <a:xfrm>
                  <a:off x="2111" y="2907"/>
                  <a:ext cx="171" cy="283"/>
                </a:xfrm>
                <a:prstGeom prst="rect">
                  <a:avLst/>
                </a:prstGeom>
                <a:gradFill rotWithShape="1">
                  <a:gsLst>
                    <a:gs pos="0">
                      <a:srgbClr val="FFEFD1"/>
                    </a:gs>
                    <a:gs pos="64999">
                      <a:srgbClr val="F0EBD5"/>
                    </a:gs>
                    <a:gs pos="100000">
                      <a:srgbClr val="D1C39F"/>
                    </a:gs>
                  </a:gsLst>
                  <a:path path="shape">
                    <a:fillToRect l="50000" t="50000" r="50000" b="50000"/>
                  </a:path>
                </a:gradFill>
                <a:ln w="25400">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r>
                    <a:rPr lang="en-US" altLang="zh-CN" b="1" smtClean="0">
                      <a:solidFill>
                        <a:srgbClr val="0000FF"/>
                      </a:solidFill>
                      <a:latin typeface="Times New Roman" pitchFamily="18" charset="0"/>
                      <a:ea typeface="黑体" pitchFamily="49" charset="-122"/>
                    </a:rPr>
                    <a:t>&amp;</a:t>
                  </a:r>
                </a:p>
              </p:txBody>
            </p:sp>
            <p:sp>
              <p:nvSpPr>
                <p:cNvPr id="228383" name="Oval 31"/>
                <p:cNvSpPr>
                  <a:spLocks noChangeAspect="1" noChangeArrowheads="1"/>
                </p:cNvSpPr>
                <p:nvPr/>
              </p:nvSpPr>
              <p:spPr bwMode="auto">
                <a:xfrm>
                  <a:off x="2282" y="3028"/>
                  <a:ext cx="45" cy="45"/>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smtClean="0">
                    <a:solidFill>
                      <a:srgbClr val="000000"/>
                    </a:solidFill>
                  </a:endParaRPr>
                </a:p>
              </p:txBody>
            </p:sp>
            <p:sp>
              <p:nvSpPr>
                <p:cNvPr id="228384" name="Line 32"/>
                <p:cNvSpPr>
                  <a:spLocks noChangeShapeType="1"/>
                </p:cNvSpPr>
                <p:nvPr/>
              </p:nvSpPr>
              <p:spPr bwMode="auto">
                <a:xfrm>
                  <a:off x="2331" y="3050"/>
                  <a:ext cx="67"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grpSp>
          <p:grpSp>
            <p:nvGrpSpPr>
              <p:cNvPr id="228385" name="Group 33"/>
              <p:cNvGrpSpPr>
                <a:grpSpLocks/>
              </p:cNvGrpSpPr>
              <p:nvPr/>
            </p:nvGrpSpPr>
            <p:grpSpPr bwMode="auto">
              <a:xfrm>
                <a:off x="2111" y="3252"/>
                <a:ext cx="287" cy="283"/>
                <a:chOff x="2111" y="854"/>
                <a:chExt cx="287" cy="283"/>
              </a:xfrm>
            </p:grpSpPr>
            <p:sp>
              <p:nvSpPr>
                <p:cNvPr id="228386" name="Rectangle 34"/>
                <p:cNvSpPr>
                  <a:spLocks noChangeArrowheads="1"/>
                </p:cNvSpPr>
                <p:nvPr/>
              </p:nvSpPr>
              <p:spPr bwMode="auto">
                <a:xfrm>
                  <a:off x="2111" y="854"/>
                  <a:ext cx="171" cy="283"/>
                </a:xfrm>
                <a:prstGeom prst="rect">
                  <a:avLst/>
                </a:prstGeom>
                <a:gradFill rotWithShape="1">
                  <a:gsLst>
                    <a:gs pos="0">
                      <a:srgbClr val="FFEFD1"/>
                    </a:gs>
                    <a:gs pos="64999">
                      <a:srgbClr val="F0EBD5"/>
                    </a:gs>
                    <a:gs pos="100000">
                      <a:srgbClr val="D1C39F"/>
                    </a:gs>
                  </a:gsLst>
                  <a:path path="shape">
                    <a:fillToRect l="50000" t="50000" r="50000" b="50000"/>
                  </a:path>
                </a:gradFill>
                <a:ln w="25400">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r>
                    <a:rPr lang="en-US" altLang="zh-CN" b="1" smtClean="0">
                      <a:solidFill>
                        <a:srgbClr val="0000FF"/>
                      </a:solidFill>
                      <a:latin typeface="Times New Roman" pitchFamily="18" charset="0"/>
                      <a:ea typeface="黑体" pitchFamily="49" charset="-122"/>
                    </a:rPr>
                    <a:t>&amp;</a:t>
                  </a:r>
                </a:p>
              </p:txBody>
            </p:sp>
            <p:sp>
              <p:nvSpPr>
                <p:cNvPr id="228387" name="Oval 35"/>
                <p:cNvSpPr>
                  <a:spLocks noChangeAspect="1" noChangeArrowheads="1"/>
                </p:cNvSpPr>
                <p:nvPr/>
              </p:nvSpPr>
              <p:spPr bwMode="auto">
                <a:xfrm>
                  <a:off x="2282" y="975"/>
                  <a:ext cx="45" cy="45"/>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smtClean="0">
                    <a:solidFill>
                      <a:srgbClr val="000000"/>
                    </a:solidFill>
                  </a:endParaRPr>
                </a:p>
              </p:txBody>
            </p:sp>
            <p:sp>
              <p:nvSpPr>
                <p:cNvPr id="228388" name="Line 36"/>
                <p:cNvSpPr>
                  <a:spLocks noChangeShapeType="1"/>
                </p:cNvSpPr>
                <p:nvPr/>
              </p:nvSpPr>
              <p:spPr bwMode="auto">
                <a:xfrm>
                  <a:off x="2331" y="997"/>
                  <a:ext cx="67"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grpSp>
          <p:grpSp>
            <p:nvGrpSpPr>
              <p:cNvPr id="228389" name="Group 37"/>
              <p:cNvGrpSpPr>
                <a:grpSpLocks/>
              </p:cNvGrpSpPr>
              <p:nvPr/>
            </p:nvGrpSpPr>
            <p:grpSpPr bwMode="auto">
              <a:xfrm>
                <a:off x="1083" y="2995"/>
                <a:ext cx="215" cy="171"/>
                <a:chOff x="1083" y="2652"/>
                <a:chExt cx="215" cy="171"/>
              </a:xfrm>
            </p:grpSpPr>
            <p:sp>
              <p:nvSpPr>
                <p:cNvPr id="228390" name="Rectangle 38"/>
                <p:cNvSpPr>
                  <a:spLocks noChangeArrowheads="1"/>
                </p:cNvSpPr>
                <p:nvPr/>
              </p:nvSpPr>
              <p:spPr bwMode="auto">
                <a:xfrm>
                  <a:off x="1083" y="2652"/>
                  <a:ext cx="170" cy="171"/>
                </a:xfrm>
                <a:prstGeom prst="rect">
                  <a:avLst/>
                </a:prstGeom>
                <a:gradFill rotWithShape="1">
                  <a:gsLst>
                    <a:gs pos="0">
                      <a:srgbClr val="FFEBFA"/>
                    </a:gs>
                    <a:gs pos="30000">
                      <a:srgbClr val="C4D6EB"/>
                    </a:gs>
                    <a:gs pos="60001">
                      <a:srgbClr val="85C2FF"/>
                    </a:gs>
                    <a:gs pos="100000">
                      <a:srgbClr val="5E9EFF"/>
                    </a:gs>
                  </a:gsLst>
                  <a:path path="shape">
                    <a:fillToRect l="50000" t="50000" r="50000" b="50000"/>
                  </a:path>
                </a:gradFill>
                <a:ln w="25400">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r>
                    <a:rPr lang="en-US" altLang="zh-CN" b="1" smtClean="0">
                      <a:solidFill>
                        <a:srgbClr val="FF0000"/>
                      </a:solidFill>
                      <a:latin typeface="Times New Roman" pitchFamily="18" charset="0"/>
                      <a:ea typeface="黑体" pitchFamily="49" charset="-122"/>
                    </a:rPr>
                    <a:t>1</a:t>
                  </a:r>
                </a:p>
              </p:txBody>
            </p:sp>
            <p:sp>
              <p:nvSpPr>
                <p:cNvPr id="228391" name="Oval 39"/>
                <p:cNvSpPr>
                  <a:spLocks noChangeAspect="1" noChangeArrowheads="1"/>
                </p:cNvSpPr>
                <p:nvPr/>
              </p:nvSpPr>
              <p:spPr bwMode="auto">
                <a:xfrm>
                  <a:off x="1253" y="2716"/>
                  <a:ext cx="45" cy="45"/>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smtClean="0">
                    <a:solidFill>
                      <a:srgbClr val="000000"/>
                    </a:solidFill>
                  </a:endParaRPr>
                </a:p>
              </p:txBody>
            </p:sp>
          </p:grpSp>
          <p:grpSp>
            <p:nvGrpSpPr>
              <p:cNvPr id="228392" name="Group 40"/>
              <p:cNvGrpSpPr>
                <a:grpSpLocks/>
              </p:cNvGrpSpPr>
              <p:nvPr/>
            </p:nvGrpSpPr>
            <p:grpSpPr bwMode="auto">
              <a:xfrm>
                <a:off x="1539" y="2653"/>
                <a:ext cx="215" cy="171"/>
                <a:chOff x="1083" y="2652"/>
                <a:chExt cx="215" cy="171"/>
              </a:xfrm>
            </p:grpSpPr>
            <p:sp>
              <p:nvSpPr>
                <p:cNvPr id="228393" name="Rectangle 41"/>
                <p:cNvSpPr>
                  <a:spLocks noChangeArrowheads="1"/>
                </p:cNvSpPr>
                <p:nvPr/>
              </p:nvSpPr>
              <p:spPr bwMode="auto">
                <a:xfrm>
                  <a:off x="1083" y="2652"/>
                  <a:ext cx="170" cy="171"/>
                </a:xfrm>
                <a:prstGeom prst="rect">
                  <a:avLst/>
                </a:prstGeom>
                <a:gradFill rotWithShape="1">
                  <a:gsLst>
                    <a:gs pos="0">
                      <a:srgbClr val="FFEBFA"/>
                    </a:gs>
                    <a:gs pos="30000">
                      <a:srgbClr val="C4D6EB"/>
                    </a:gs>
                    <a:gs pos="60001">
                      <a:srgbClr val="85C2FF"/>
                    </a:gs>
                    <a:gs pos="100000">
                      <a:srgbClr val="5E9EFF"/>
                    </a:gs>
                  </a:gsLst>
                  <a:path path="shape">
                    <a:fillToRect l="50000" t="50000" r="50000" b="50000"/>
                  </a:path>
                </a:gradFill>
                <a:ln w="25400">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r>
                    <a:rPr lang="en-US" altLang="zh-CN" b="1" smtClean="0">
                      <a:solidFill>
                        <a:srgbClr val="FF0000"/>
                      </a:solidFill>
                      <a:latin typeface="Times New Roman" pitchFamily="18" charset="0"/>
                      <a:ea typeface="黑体" pitchFamily="49" charset="-122"/>
                    </a:rPr>
                    <a:t>1</a:t>
                  </a:r>
                </a:p>
              </p:txBody>
            </p:sp>
            <p:sp>
              <p:nvSpPr>
                <p:cNvPr id="228394" name="Oval 42"/>
                <p:cNvSpPr>
                  <a:spLocks noChangeAspect="1" noChangeArrowheads="1"/>
                </p:cNvSpPr>
                <p:nvPr/>
              </p:nvSpPr>
              <p:spPr bwMode="auto">
                <a:xfrm>
                  <a:off x="1253" y="2716"/>
                  <a:ext cx="45" cy="45"/>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smtClean="0">
                    <a:solidFill>
                      <a:srgbClr val="000000"/>
                    </a:solidFill>
                  </a:endParaRPr>
                </a:p>
              </p:txBody>
            </p:sp>
          </p:grpSp>
          <p:grpSp>
            <p:nvGrpSpPr>
              <p:cNvPr id="228395" name="Group 43"/>
              <p:cNvGrpSpPr>
                <a:grpSpLocks/>
              </p:cNvGrpSpPr>
              <p:nvPr/>
            </p:nvGrpSpPr>
            <p:grpSpPr bwMode="auto">
              <a:xfrm>
                <a:off x="1539" y="2995"/>
                <a:ext cx="215" cy="171"/>
                <a:chOff x="1083" y="2652"/>
                <a:chExt cx="215" cy="171"/>
              </a:xfrm>
            </p:grpSpPr>
            <p:sp>
              <p:nvSpPr>
                <p:cNvPr id="228396" name="Rectangle 44"/>
                <p:cNvSpPr>
                  <a:spLocks noChangeArrowheads="1"/>
                </p:cNvSpPr>
                <p:nvPr/>
              </p:nvSpPr>
              <p:spPr bwMode="auto">
                <a:xfrm>
                  <a:off x="1083" y="2652"/>
                  <a:ext cx="170" cy="171"/>
                </a:xfrm>
                <a:prstGeom prst="rect">
                  <a:avLst/>
                </a:prstGeom>
                <a:gradFill rotWithShape="1">
                  <a:gsLst>
                    <a:gs pos="0">
                      <a:srgbClr val="FFEBFA"/>
                    </a:gs>
                    <a:gs pos="30000">
                      <a:srgbClr val="C4D6EB"/>
                    </a:gs>
                    <a:gs pos="60001">
                      <a:srgbClr val="85C2FF"/>
                    </a:gs>
                    <a:gs pos="100000">
                      <a:srgbClr val="5E9EFF"/>
                    </a:gs>
                  </a:gsLst>
                  <a:path path="shape">
                    <a:fillToRect l="50000" t="50000" r="50000" b="50000"/>
                  </a:path>
                </a:gradFill>
                <a:ln w="25400">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r>
                    <a:rPr lang="en-US" altLang="zh-CN" b="1" smtClean="0">
                      <a:solidFill>
                        <a:srgbClr val="FF0000"/>
                      </a:solidFill>
                      <a:latin typeface="Times New Roman" pitchFamily="18" charset="0"/>
                      <a:ea typeface="黑体" pitchFamily="49" charset="-122"/>
                    </a:rPr>
                    <a:t>1</a:t>
                  </a:r>
                </a:p>
              </p:txBody>
            </p:sp>
            <p:sp>
              <p:nvSpPr>
                <p:cNvPr id="228397" name="Oval 45"/>
                <p:cNvSpPr>
                  <a:spLocks noChangeAspect="1" noChangeArrowheads="1"/>
                </p:cNvSpPr>
                <p:nvPr/>
              </p:nvSpPr>
              <p:spPr bwMode="auto">
                <a:xfrm>
                  <a:off x="1253" y="2716"/>
                  <a:ext cx="45" cy="45"/>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smtClean="0">
                    <a:solidFill>
                      <a:srgbClr val="000000"/>
                    </a:solidFill>
                  </a:endParaRPr>
                </a:p>
              </p:txBody>
            </p:sp>
          </p:grpSp>
          <p:grpSp>
            <p:nvGrpSpPr>
              <p:cNvPr id="228398" name="Group 46"/>
              <p:cNvGrpSpPr>
                <a:grpSpLocks/>
              </p:cNvGrpSpPr>
              <p:nvPr/>
            </p:nvGrpSpPr>
            <p:grpSpPr bwMode="auto">
              <a:xfrm>
                <a:off x="1083" y="3395"/>
                <a:ext cx="215" cy="171"/>
                <a:chOff x="1083" y="2652"/>
                <a:chExt cx="215" cy="171"/>
              </a:xfrm>
            </p:grpSpPr>
            <p:sp>
              <p:nvSpPr>
                <p:cNvPr id="228399" name="Rectangle 47"/>
                <p:cNvSpPr>
                  <a:spLocks noChangeArrowheads="1"/>
                </p:cNvSpPr>
                <p:nvPr/>
              </p:nvSpPr>
              <p:spPr bwMode="auto">
                <a:xfrm>
                  <a:off x="1083" y="2652"/>
                  <a:ext cx="170" cy="171"/>
                </a:xfrm>
                <a:prstGeom prst="rect">
                  <a:avLst/>
                </a:prstGeom>
                <a:gradFill rotWithShape="1">
                  <a:gsLst>
                    <a:gs pos="0">
                      <a:srgbClr val="FFEBFA"/>
                    </a:gs>
                    <a:gs pos="30000">
                      <a:srgbClr val="C4D6EB"/>
                    </a:gs>
                    <a:gs pos="60001">
                      <a:srgbClr val="85C2FF"/>
                    </a:gs>
                    <a:gs pos="100000">
                      <a:srgbClr val="5E9EFF"/>
                    </a:gs>
                  </a:gsLst>
                  <a:path path="shape">
                    <a:fillToRect l="50000" t="50000" r="50000" b="50000"/>
                  </a:path>
                </a:gradFill>
                <a:ln w="25400">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r>
                    <a:rPr lang="en-US" altLang="zh-CN" b="1" smtClean="0">
                      <a:solidFill>
                        <a:srgbClr val="FF0000"/>
                      </a:solidFill>
                      <a:latin typeface="Times New Roman" pitchFamily="18" charset="0"/>
                      <a:ea typeface="黑体" pitchFamily="49" charset="-122"/>
                    </a:rPr>
                    <a:t>1</a:t>
                  </a:r>
                </a:p>
              </p:txBody>
            </p:sp>
            <p:sp>
              <p:nvSpPr>
                <p:cNvPr id="228400" name="Oval 48"/>
                <p:cNvSpPr>
                  <a:spLocks noChangeAspect="1" noChangeArrowheads="1"/>
                </p:cNvSpPr>
                <p:nvPr/>
              </p:nvSpPr>
              <p:spPr bwMode="auto">
                <a:xfrm>
                  <a:off x="1253" y="2716"/>
                  <a:ext cx="45" cy="45"/>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smtClean="0">
                    <a:solidFill>
                      <a:srgbClr val="000000"/>
                    </a:solidFill>
                  </a:endParaRPr>
                </a:p>
              </p:txBody>
            </p:sp>
          </p:grpSp>
          <p:grpSp>
            <p:nvGrpSpPr>
              <p:cNvPr id="228401" name="Group 49"/>
              <p:cNvGrpSpPr>
                <a:grpSpLocks/>
              </p:cNvGrpSpPr>
              <p:nvPr/>
            </p:nvGrpSpPr>
            <p:grpSpPr bwMode="auto">
              <a:xfrm>
                <a:off x="1539" y="3395"/>
                <a:ext cx="215" cy="171"/>
                <a:chOff x="1083" y="2652"/>
                <a:chExt cx="215" cy="171"/>
              </a:xfrm>
            </p:grpSpPr>
            <p:sp>
              <p:nvSpPr>
                <p:cNvPr id="228402" name="Rectangle 50"/>
                <p:cNvSpPr>
                  <a:spLocks noChangeArrowheads="1"/>
                </p:cNvSpPr>
                <p:nvPr/>
              </p:nvSpPr>
              <p:spPr bwMode="auto">
                <a:xfrm>
                  <a:off x="1083" y="2652"/>
                  <a:ext cx="170" cy="171"/>
                </a:xfrm>
                <a:prstGeom prst="rect">
                  <a:avLst/>
                </a:prstGeom>
                <a:gradFill rotWithShape="1">
                  <a:gsLst>
                    <a:gs pos="0">
                      <a:srgbClr val="FFEBFA"/>
                    </a:gs>
                    <a:gs pos="30000">
                      <a:srgbClr val="C4D6EB"/>
                    </a:gs>
                    <a:gs pos="60001">
                      <a:srgbClr val="85C2FF"/>
                    </a:gs>
                    <a:gs pos="100000">
                      <a:srgbClr val="5E9EFF"/>
                    </a:gs>
                  </a:gsLst>
                  <a:path path="shape">
                    <a:fillToRect l="50000" t="50000" r="50000" b="50000"/>
                  </a:path>
                </a:gradFill>
                <a:ln w="25400">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r>
                    <a:rPr lang="en-US" altLang="zh-CN" b="1" smtClean="0">
                      <a:solidFill>
                        <a:srgbClr val="FF0000"/>
                      </a:solidFill>
                      <a:latin typeface="Times New Roman" pitchFamily="18" charset="0"/>
                      <a:ea typeface="黑体" pitchFamily="49" charset="-122"/>
                    </a:rPr>
                    <a:t>1</a:t>
                  </a:r>
                </a:p>
              </p:txBody>
            </p:sp>
            <p:sp>
              <p:nvSpPr>
                <p:cNvPr id="228403" name="Oval 51"/>
                <p:cNvSpPr>
                  <a:spLocks noChangeAspect="1" noChangeArrowheads="1"/>
                </p:cNvSpPr>
                <p:nvPr/>
              </p:nvSpPr>
              <p:spPr bwMode="auto">
                <a:xfrm>
                  <a:off x="1253" y="2716"/>
                  <a:ext cx="45" cy="45"/>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smtClean="0">
                    <a:solidFill>
                      <a:srgbClr val="000000"/>
                    </a:solidFill>
                  </a:endParaRPr>
                </a:p>
              </p:txBody>
            </p:sp>
          </p:grpSp>
          <p:grpSp>
            <p:nvGrpSpPr>
              <p:cNvPr id="228404" name="Group 52"/>
              <p:cNvGrpSpPr>
                <a:grpSpLocks/>
              </p:cNvGrpSpPr>
              <p:nvPr/>
            </p:nvGrpSpPr>
            <p:grpSpPr bwMode="auto">
              <a:xfrm>
                <a:off x="681" y="1737"/>
                <a:ext cx="215" cy="171"/>
                <a:chOff x="1083" y="2652"/>
                <a:chExt cx="215" cy="171"/>
              </a:xfrm>
            </p:grpSpPr>
            <p:sp>
              <p:nvSpPr>
                <p:cNvPr id="228405" name="Rectangle 53"/>
                <p:cNvSpPr>
                  <a:spLocks noChangeArrowheads="1"/>
                </p:cNvSpPr>
                <p:nvPr/>
              </p:nvSpPr>
              <p:spPr bwMode="auto">
                <a:xfrm>
                  <a:off x="1083" y="2652"/>
                  <a:ext cx="170" cy="171"/>
                </a:xfrm>
                <a:prstGeom prst="rect">
                  <a:avLst/>
                </a:prstGeom>
                <a:gradFill rotWithShape="1">
                  <a:gsLst>
                    <a:gs pos="0">
                      <a:srgbClr val="FFEBFA"/>
                    </a:gs>
                    <a:gs pos="30000">
                      <a:srgbClr val="C4D6EB"/>
                    </a:gs>
                    <a:gs pos="60001">
                      <a:srgbClr val="85C2FF"/>
                    </a:gs>
                    <a:gs pos="100000">
                      <a:srgbClr val="5E9EFF"/>
                    </a:gs>
                  </a:gsLst>
                  <a:path path="shape">
                    <a:fillToRect l="50000" t="50000" r="50000" b="50000"/>
                  </a:path>
                </a:gradFill>
                <a:ln w="25400">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r>
                    <a:rPr lang="en-US" altLang="zh-CN" b="1" smtClean="0">
                      <a:solidFill>
                        <a:srgbClr val="FF0000"/>
                      </a:solidFill>
                      <a:latin typeface="Times New Roman" pitchFamily="18" charset="0"/>
                      <a:ea typeface="黑体" pitchFamily="49" charset="-122"/>
                    </a:rPr>
                    <a:t>1</a:t>
                  </a:r>
                </a:p>
              </p:txBody>
            </p:sp>
            <p:sp>
              <p:nvSpPr>
                <p:cNvPr id="228406" name="Oval 54"/>
                <p:cNvSpPr>
                  <a:spLocks noChangeAspect="1" noChangeArrowheads="1"/>
                </p:cNvSpPr>
                <p:nvPr/>
              </p:nvSpPr>
              <p:spPr bwMode="auto">
                <a:xfrm>
                  <a:off x="1253" y="2716"/>
                  <a:ext cx="45" cy="45"/>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smtClean="0">
                    <a:solidFill>
                      <a:srgbClr val="000000"/>
                    </a:solidFill>
                  </a:endParaRPr>
                </a:p>
              </p:txBody>
            </p:sp>
          </p:grpSp>
          <p:grpSp>
            <p:nvGrpSpPr>
              <p:cNvPr id="228407" name="Group 55"/>
              <p:cNvGrpSpPr>
                <a:grpSpLocks/>
              </p:cNvGrpSpPr>
              <p:nvPr/>
            </p:nvGrpSpPr>
            <p:grpSpPr bwMode="auto">
              <a:xfrm>
                <a:off x="1083" y="2651"/>
                <a:ext cx="215" cy="171"/>
                <a:chOff x="1083" y="2652"/>
                <a:chExt cx="215" cy="171"/>
              </a:xfrm>
            </p:grpSpPr>
            <p:sp>
              <p:nvSpPr>
                <p:cNvPr id="228408" name="Rectangle 56"/>
                <p:cNvSpPr>
                  <a:spLocks noChangeArrowheads="1"/>
                </p:cNvSpPr>
                <p:nvPr/>
              </p:nvSpPr>
              <p:spPr bwMode="auto">
                <a:xfrm>
                  <a:off x="1083" y="2652"/>
                  <a:ext cx="170" cy="171"/>
                </a:xfrm>
                <a:prstGeom prst="rect">
                  <a:avLst/>
                </a:prstGeom>
                <a:gradFill rotWithShape="1">
                  <a:gsLst>
                    <a:gs pos="0">
                      <a:srgbClr val="FFEBFA"/>
                    </a:gs>
                    <a:gs pos="30000">
                      <a:srgbClr val="C4D6EB"/>
                    </a:gs>
                    <a:gs pos="60001">
                      <a:srgbClr val="85C2FF"/>
                    </a:gs>
                    <a:gs pos="100000">
                      <a:srgbClr val="5E9EFF"/>
                    </a:gs>
                  </a:gsLst>
                  <a:path path="shape">
                    <a:fillToRect l="50000" t="50000" r="50000" b="50000"/>
                  </a:path>
                </a:gradFill>
                <a:ln w="25400">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r>
                    <a:rPr lang="en-US" altLang="zh-CN" b="1" smtClean="0">
                      <a:solidFill>
                        <a:srgbClr val="FF0000"/>
                      </a:solidFill>
                      <a:latin typeface="Times New Roman" pitchFamily="18" charset="0"/>
                      <a:ea typeface="黑体" pitchFamily="49" charset="-122"/>
                    </a:rPr>
                    <a:t>1</a:t>
                  </a:r>
                </a:p>
              </p:txBody>
            </p:sp>
            <p:sp>
              <p:nvSpPr>
                <p:cNvPr id="228409" name="Oval 57"/>
                <p:cNvSpPr>
                  <a:spLocks noChangeAspect="1" noChangeArrowheads="1"/>
                </p:cNvSpPr>
                <p:nvPr/>
              </p:nvSpPr>
              <p:spPr bwMode="auto">
                <a:xfrm>
                  <a:off x="1253" y="2716"/>
                  <a:ext cx="45" cy="45"/>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smtClean="0">
                    <a:solidFill>
                      <a:srgbClr val="000000"/>
                    </a:solidFill>
                  </a:endParaRPr>
                </a:p>
              </p:txBody>
            </p:sp>
          </p:grpSp>
          <p:grpSp>
            <p:nvGrpSpPr>
              <p:cNvPr id="228410" name="Group 58"/>
              <p:cNvGrpSpPr>
                <a:grpSpLocks/>
              </p:cNvGrpSpPr>
              <p:nvPr/>
            </p:nvGrpSpPr>
            <p:grpSpPr bwMode="auto">
              <a:xfrm>
                <a:off x="1046" y="2025"/>
                <a:ext cx="207" cy="171"/>
                <a:chOff x="1046" y="2025"/>
                <a:chExt cx="207" cy="171"/>
              </a:xfrm>
            </p:grpSpPr>
            <p:sp>
              <p:nvSpPr>
                <p:cNvPr id="228411" name="Rectangle 59"/>
                <p:cNvSpPr>
                  <a:spLocks noChangeArrowheads="1"/>
                </p:cNvSpPr>
                <p:nvPr/>
              </p:nvSpPr>
              <p:spPr bwMode="auto">
                <a:xfrm>
                  <a:off x="1083" y="2025"/>
                  <a:ext cx="170" cy="171"/>
                </a:xfrm>
                <a:prstGeom prst="rect">
                  <a:avLst/>
                </a:prstGeom>
                <a:gradFill rotWithShape="1">
                  <a:gsLst>
                    <a:gs pos="0">
                      <a:srgbClr val="FFEBFA"/>
                    </a:gs>
                    <a:gs pos="30000">
                      <a:srgbClr val="C4D6EB"/>
                    </a:gs>
                    <a:gs pos="60001">
                      <a:srgbClr val="85C2FF"/>
                    </a:gs>
                    <a:gs pos="100000">
                      <a:srgbClr val="5E9EFF"/>
                    </a:gs>
                  </a:gsLst>
                  <a:path path="shape">
                    <a:fillToRect l="50000" t="50000" r="50000" b="50000"/>
                  </a:path>
                </a:gradFill>
                <a:ln w="25400">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r>
                    <a:rPr lang="en-US" altLang="zh-CN" b="1" smtClean="0">
                      <a:solidFill>
                        <a:srgbClr val="FF0000"/>
                      </a:solidFill>
                      <a:latin typeface="Times New Roman" pitchFamily="18" charset="0"/>
                      <a:ea typeface="黑体" pitchFamily="49" charset="-122"/>
                    </a:rPr>
                    <a:t>&amp;</a:t>
                  </a:r>
                </a:p>
              </p:txBody>
            </p:sp>
            <p:sp>
              <p:nvSpPr>
                <p:cNvPr id="228412" name="Oval 60"/>
                <p:cNvSpPr>
                  <a:spLocks noChangeAspect="1" noChangeArrowheads="1"/>
                </p:cNvSpPr>
                <p:nvPr/>
              </p:nvSpPr>
              <p:spPr bwMode="auto">
                <a:xfrm>
                  <a:off x="1046" y="2150"/>
                  <a:ext cx="32" cy="32"/>
                </a:xfrm>
                <a:prstGeom prst="ellipse">
                  <a:avLst/>
                </a:prstGeom>
                <a:noFill/>
                <a:ln w="1905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smtClean="0">
                    <a:solidFill>
                      <a:srgbClr val="000000"/>
                    </a:solidFill>
                  </a:endParaRPr>
                </a:p>
              </p:txBody>
            </p:sp>
            <p:sp>
              <p:nvSpPr>
                <p:cNvPr id="228413" name="Oval 61"/>
                <p:cNvSpPr>
                  <a:spLocks noChangeAspect="1" noChangeArrowheads="1"/>
                </p:cNvSpPr>
                <p:nvPr/>
              </p:nvSpPr>
              <p:spPr bwMode="auto">
                <a:xfrm>
                  <a:off x="1047" y="2090"/>
                  <a:ext cx="32" cy="32"/>
                </a:xfrm>
                <a:prstGeom prst="ellipse">
                  <a:avLst/>
                </a:prstGeom>
                <a:noFill/>
                <a:ln w="1905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smtClean="0">
                    <a:solidFill>
                      <a:srgbClr val="000000"/>
                    </a:solidFill>
                  </a:endParaRPr>
                </a:p>
              </p:txBody>
            </p:sp>
            <p:sp>
              <p:nvSpPr>
                <p:cNvPr id="228414" name="Oval 62"/>
                <p:cNvSpPr>
                  <a:spLocks noChangeAspect="1" noChangeArrowheads="1"/>
                </p:cNvSpPr>
                <p:nvPr/>
              </p:nvSpPr>
              <p:spPr bwMode="auto">
                <a:xfrm>
                  <a:off x="1046" y="2036"/>
                  <a:ext cx="32" cy="32"/>
                </a:xfrm>
                <a:prstGeom prst="ellipse">
                  <a:avLst/>
                </a:prstGeom>
                <a:noFill/>
                <a:ln w="1905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smtClean="0">
                    <a:solidFill>
                      <a:srgbClr val="000000"/>
                    </a:solidFill>
                  </a:endParaRPr>
                </a:p>
              </p:txBody>
            </p:sp>
          </p:grpSp>
          <p:sp>
            <p:nvSpPr>
              <p:cNvPr id="228415" name="Line 63"/>
              <p:cNvSpPr>
                <a:spLocks noChangeShapeType="1"/>
              </p:cNvSpPr>
              <p:nvPr/>
            </p:nvSpPr>
            <p:spPr bwMode="auto">
              <a:xfrm>
                <a:off x="1253" y="2110"/>
                <a:ext cx="858" cy="0"/>
              </a:xfrm>
              <a:prstGeom prst="line">
                <a:avLst/>
              </a:prstGeom>
              <a:noFill/>
              <a:ln w="19050">
                <a:solidFill>
                  <a:srgbClr val="FF33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16" name="Line 64"/>
              <p:cNvSpPr>
                <a:spLocks noChangeShapeType="1"/>
              </p:cNvSpPr>
              <p:nvPr/>
            </p:nvSpPr>
            <p:spPr bwMode="auto">
              <a:xfrm flipV="1">
                <a:off x="1997" y="1082"/>
                <a:ext cx="0" cy="2227"/>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17" name="Line 65"/>
              <p:cNvSpPr>
                <a:spLocks noChangeShapeType="1"/>
              </p:cNvSpPr>
              <p:nvPr/>
            </p:nvSpPr>
            <p:spPr bwMode="auto">
              <a:xfrm>
                <a:off x="1997" y="1082"/>
                <a:ext cx="114" cy="0"/>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18" name="Line 66"/>
              <p:cNvSpPr>
                <a:spLocks noChangeShapeType="1"/>
              </p:cNvSpPr>
              <p:nvPr/>
            </p:nvSpPr>
            <p:spPr bwMode="auto">
              <a:xfrm>
                <a:off x="1997" y="1429"/>
                <a:ext cx="114" cy="0"/>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19" name="Line 67"/>
              <p:cNvSpPr>
                <a:spLocks noChangeShapeType="1"/>
              </p:cNvSpPr>
              <p:nvPr/>
            </p:nvSpPr>
            <p:spPr bwMode="auto">
              <a:xfrm>
                <a:off x="1994" y="1769"/>
                <a:ext cx="114" cy="0"/>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20" name="Line 68"/>
              <p:cNvSpPr>
                <a:spLocks noChangeShapeType="1"/>
              </p:cNvSpPr>
              <p:nvPr/>
            </p:nvSpPr>
            <p:spPr bwMode="auto">
              <a:xfrm>
                <a:off x="1994" y="2451"/>
                <a:ext cx="114" cy="0"/>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21" name="Line 69"/>
              <p:cNvSpPr>
                <a:spLocks noChangeShapeType="1"/>
              </p:cNvSpPr>
              <p:nvPr/>
            </p:nvSpPr>
            <p:spPr bwMode="auto">
              <a:xfrm>
                <a:off x="567" y="1825"/>
                <a:ext cx="114" cy="0"/>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22" name="Line 70"/>
              <p:cNvSpPr>
                <a:spLocks noChangeShapeType="1"/>
              </p:cNvSpPr>
              <p:nvPr/>
            </p:nvSpPr>
            <p:spPr bwMode="auto">
              <a:xfrm>
                <a:off x="1994" y="2797"/>
                <a:ext cx="114" cy="0"/>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23" name="Line 71"/>
              <p:cNvSpPr>
                <a:spLocks noChangeShapeType="1"/>
              </p:cNvSpPr>
              <p:nvPr/>
            </p:nvSpPr>
            <p:spPr bwMode="auto">
              <a:xfrm>
                <a:off x="1994" y="3139"/>
                <a:ext cx="114" cy="0"/>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24" name="Line 72"/>
              <p:cNvSpPr>
                <a:spLocks noChangeShapeType="1"/>
              </p:cNvSpPr>
              <p:nvPr/>
            </p:nvSpPr>
            <p:spPr bwMode="auto">
              <a:xfrm>
                <a:off x="1994" y="3309"/>
                <a:ext cx="114" cy="0"/>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25" name="Line 73"/>
              <p:cNvSpPr>
                <a:spLocks noChangeShapeType="1"/>
              </p:cNvSpPr>
              <p:nvPr/>
            </p:nvSpPr>
            <p:spPr bwMode="auto">
              <a:xfrm>
                <a:off x="570" y="2106"/>
                <a:ext cx="476" cy="0"/>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26" name="Line 74"/>
              <p:cNvSpPr>
                <a:spLocks noChangeShapeType="1"/>
              </p:cNvSpPr>
              <p:nvPr/>
            </p:nvSpPr>
            <p:spPr bwMode="auto">
              <a:xfrm>
                <a:off x="569" y="2165"/>
                <a:ext cx="476" cy="0"/>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27" name="Line 75"/>
              <p:cNvSpPr>
                <a:spLocks noChangeShapeType="1"/>
              </p:cNvSpPr>
              <p:nvPr/>
            </p:nvSpPr>
            <p:spPr bwMode="auto">
              <a:xfrm>
                <a:off x="896" y="1825"/>
                <a:ext cx="70" cy="0"/>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28" name="Line 76"/>
              <p:cNvSpPr>
                <a:spLocks noChangeShapeType="1"/>
              </p:cNvSpPr>
              <p:nvPr/>
            </p:nvSpPr>
            <p:spPr bwMode="auto">
              <a:xfrm>
                <a:off x="966" y="1825"/>
                <a:ext cx="0" cy="223"/>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29" name="Line 77"/>
              <p:cNvSpPr>
                <a:spLocks noChangeShapeType="1"/>
              </p:cNvSpPr>
              <p:nvPr/>
            </p:nvSpPr>
            <p:spPr bwMode="auto">
              <a:xfrm>
                <a:off x="966" y="2050"/>
                <a:ext cx="79" cy="0"/>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30" name="Line 78"/>
              <p:cNvSpPr>
                <a:spLocks noChangeShapeType="1"/>
              </p:cNvSpPr>
              <p:nvPr/>
            </p:nvSpPr>
            <p:spPr bwMode="auto">
              <a:xfrm>
                <a:off x="1367" y="912"/>
                <a:ext cx="741"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31" name="Line 79"/>
              <p:cNvSpPr>
                <a:spLocks noChangeShapeType="1"/>
              </p:cNvSpPr>
              <p:nvPr/>
            </p:nvSpPr>
            <p:spPr bwMode="auto">
              <a:xfrm flipH="1">
                <a:off x="1428" y="969"/>
                <a:ext cx="680"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32" name="Line 80"/>
              <p:cNvSpPr>
                <a:spLocks noChangeShapeType="1"/>
              </p:cNvSpPr>
              <p:nvPr/>
            </p:nvSpPr>
            <p:spPr bwMode="auto">
              <a:xfrm flipH="1">
                <a:off x="1482" y="1026"/>
                <a:ext cx="626"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33" name="Line 81"/>
              <p:cNvSpPr>
                <a:spLocks noChangeShapeType="1"/>
              </p:cNvSpPr>
              <p:nvPr/>
            </p:nvSpPr>
            <p:spPr bwMode="auto">
              <a:xfrm flipH="1">
                <a:off x="1824" y="1257"/>
                <a:ext cx="284"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34" name="Line 82"/>
              <p:cNvSpPr>
                <a:spLocks noChangeShapeType="1"/>
              </p:cNvSpPr>
              <p:nvPr/>
            </p:nvSpPr>
            <p:spPr bwMode="auto">
              <a:xfrm flipH="1">
                <a:off x="1428" y="1313"/>
                <a:ext cx="683"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35" name="Line 83"/>
              <p:cNvSpPr>
                <a:spLocks noChangeShapeType="1"/>
              </p:cNvSpPr>
              <p:nvPr/>
            </p:nvSpPr>
            <p:spPr bwMode="auto">
              <a:xfrm flipH="1">
                <a:off x="1482" y="1368"/>
                <a:ext cx="626"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36" name="Line 84"/>
              <p:cNvSpPr>
                <a:spLocks noChangeShapeType="1"/>
              </p:cNvSpPr>
              <p:nvPr/>
            </p:nvSpPr>
            <p:spPr bwMode="auto">
              <a:xfrm flipH="1">
                <a:off x="1367" y="1596"/>
                <a:ext cx="744"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37" name="Line 85"/>
              <p:cNvSpPr>
                <a:spLocks noChangeShapeType="1"/>
              </p:cNvSpPr>
              <p:nvPr/>
            </p:nvSpPr>
            <p:spPr bwMode="auto">
              <a:xfrm flipH="1">
                <a:off x="1880" y="1655"/>
                <a:ext cx="228"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38" name="Line 86"/>
              <p:cNvSpPr>
                <a:spLocks noChangeShapeType="1"/>
              </p:cNvSpPr>
              <p:nvPr/>
            </p:nvSpPr>
            <p:spPr bwMode="auto">
              <a:xfrm flipH="1">
                <a:off x="1482" y="1712"/>
                <a:ext cx="626"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39" name="Line 87"/>
              <p:cNvSpPr>
                <a:spLocks noChangeShapeType="1"/>
              </p:cNvSpPr>
              <p:nvPr/>
            </p:nvSpPr>
            <p:spPr bwMode="auto">
              <a:xfrm flipH="1">
                <a:off x="1824" y="1938"/>
                <a:ext cx="284"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40" name="Line 88"/>
              <p:cNvSpPr>
                <a:spLocks noChangeShapeType="1"/>
              </p:cNvSpPr>
              <p:nvPr/>
            </p:nvSpPr>
            <p:spPr bwMode="auto">
              <a:xfrm flipH="1">
                <a:off x="1880" y="1997"/>
                <a:ext cx="228"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41" name="Line 89"/>
              <p:cNvSpPr>
                <a:spLocks noChangeShapeType="1"/>
              </p:cNvSpPr>
              <p:nvPr/>
            </p:nvSpPr>
            <p:spPr bwMode="auto">
              <a:xfrm flipH="1">
                <a:off x="1482" y="2054"/>
                <a:ext cx="626"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42" name="Line 90"/>
              <p:cNvSpPr>
                <a:spLocks noChangeShapeType="1"/>
              </p:cNvSpPr>
              <p:nvPr/>
            </p:nvSpPr>
            <p:spPr bwMode="auto">
              <a:xfrm flipH="1">
                <a:off x="1367" y="2282"/>
                <a:ext cx="741"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43" name="Line 91"/>
              <p:cNvSpPr>
                <a:spLocks noChangeShapeType="1"/>
              </p:cNvSpPr>
              <p:nvPr/>
            </p:nvSpPr>
            <p:spPr bwMode="auto">
              <a:xfrm flipH="1">
                <a:off x="1428" y="2340"/>
                <a:ext cx="680"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44" name="Line 92"/>
              <p:cNvSpPr>
                <a:spLocks noChangeShapeType="1"/>
              </p:cNvSpPr>
              <p:nvPr/>
            </p:nvSpPr>
            <p:spPr bwMode="auto">
              <a:xfrm flipH="1">
                <a:off x="1938" y="2397"/>
                <a:ext cx="170"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45" name="Line 93"/>
              <p:cNvSpPr>
                <a:spLocks noChangeShapeType="1"/>
              </p:cNvSpPr>
              <p:nvPr/>
            </p:nvSpPr>
            <p:spPr bwMode="auto">
              <a:xfrm flipH="1">
                <a:off x="1428" y="2624"/>
                <a:ext cx="680"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46" name="Line 94"/>
              <p:cNvSpPr>
                <a:spLocks noChangeShapeType="1"/>
              </p:cNvSpPr>
              <p:nvPr/>
            </p:nvSpPr>
            <p:spPr bwMode="auto">
              <a:xfrm flipH="1">
                <a:off x="1938" y="2682"/>
                <a:ext cx="170"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47" name="Line 95"/>
              <p:cNvSpPr>
                <a:spLocks noChangeShapeType="1"/>
              </p:cNvSpPr>
              <p:nvPr/>
            </p:nvSpPr>
            <p:spPr bwMode="auto">
              <a:xfrm flipH="1">
                <a:off x="1754" y="2739"/>
                <a:ext cx="357"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48" name="Line 96"/>
              <p:cNvSpPr>
                <a:spLocks noChangeShapeType="1"/>
              </p:cNvSpPr>
              <p:nvPr/>
            </p:nvSpPr>
            <p:spPr bwMode="auto">
              <a:xfrm flipH="1">
                <a:off x="1298" y="2739"/>
                <a:ext cx="241"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49" name="Line 97"/>
              <p:cNvSpPr>
                <a:spLocks noChangeShapeType="1"/>
              </p:cNvSpPr>
              <p:nvPr/>
            </p:nvSpPr>
            <p:spPr bwMode="auto">
              <a:xfrm flipH="1">
                <a:off x="1367" y="2966"/>
                <a:ext cx="744"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50" name="Line 98"/>
              <p:cNvSpPr>
                <a:spLocks noChangeShapeType="1"/>
              </p:cNvSpPr>
              <p:nvPr/>
            </p:nvSpPr>
            <p:spPr bwMode="auto">
              <a:xfrm flipH="1">
                <a:off x="1938" y="3024"/>
                <a:ext cx="170"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51" name="Line 99"/>
              <p:cNvSpPr>
                <a:spLocks noChangeShapeType="1"/>
              </p:cNvSpPr>
              <p:nvPr/>
            </p:nvSpPr>
            <p:spPr bwMode="auto">
              <a:xfrm flipH="1">
                <a:off x="1754" y="3081"/>
                <a:ext cx="354"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52" name="Line 100"/>
              <p:cNvSpPr>
                <a:spLocks noChangeShapeType="1"/>
              </p:cNvSpPr>
              <p:nvPr/>
            </p:nvSpPr>
            <p:spPr bwMode="auto">
              <a:xfrm flipH="1">
                <a:off x="1298" y="3081"/>
                <a:ext cx="241"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53" name="Line 101"/>
              <p:cNvSpPr>
                <a:spLocks noChangeShapeType="1"/>
              </p:cNvSpPr>
              <p:nvPr/>
            </p:nvSpPr>
            <p:spPr bwMode="auto">
              <a:xfrm flipH="1">
                <a:off x="1880" y="3367"/>
                <a:ext cx="228"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54" name="Line 102"/>
              <p:cNvSpPr>
                <a:spLocks noChangeShapeType="1"/>
              </p:cNvSpPr>
              <p:nvPr/>
            </p:nvSpPr>
            <p:spPr bwMode="auto">
              <a:xfrm flipH="1">
                <a:off x="1824" y="3424"/>
                <a:ext cx="287"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55" name="Line 103"/>
              <p:cNvSpPr>
                <a:spLocks noChangeShapeType="1"/>
              </p:cNvSpPr>
              <p:nvPr/>
            </p:nvSpPr>
            <p:spPr bwMode="auto">
              <a:xfrm flipH="1">
                <a:off x="1754" y="3482"/>
                <a:ext cx="354"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56" name="Line 104"/>
              <p:cNvSpPr>
                <a:spLocks noChangeShapeType="1"/>
              </p:cNvSpPr>
              <p:nvPr/>
            </p:nvSpPr>
            <p:spPr bwMode="auto">
              <a:xfrm flipH="1">
                <a:off x="1298" y="3482"/>
                <a:ext cx="241"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57" name="Line 105"/>
              <p:cNvSpPr>
                <a:spLocks noChangeShapeType="1"/>
              </p:cNvSpPr>
              <p:nvPr/>
            </p:nvSpPr>
            <p:spPr bwMode="auto">
              <a:xfrm flipV="1">
                <a:off x="1938" y="2391"/>
                <a:ext cx="0" cy="1091"/>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58" name="Line 106"/>
              <p:cNvSpPr>
                <a:spLocks noChangeShapeType="1"/>
              </p:cNvSpPr>
              <p:nvPr/>
            </p:nvSpPr>
            <p:spPr bwMode="auto">
              <a:xfrm>
                <a:off x="1880" y="1655"/>
                <a:ext cx="0" cy="1712"/>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59" name="Line 107"/>
              <p:cNvSpPr>
                <a:spLocks noChangeShapeType="1"/>
              </p:cNvSpPr>
              <p:nvPr/>
            </p:nvSpPr>
            <p:spPr bwMode="auto">
              <a:xfrm flipV="1">
                <a:off x="1824" y="1257"/>
                <a:ext cx="0" cy="2167"/>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60" name="Line 108"/>
              <p:cNvSpPr>
                <a:spLocks noChangeShapeType="1"/>
              </p:cNvSpPr>
              <p:nvPr/>
            </p:nvSpPr>
            <p:spPr bwMode="auto">
              <a:xfrm>
                <a:off x="1482" y="1026"/>
                <a:ext cx="0" cy="2456"/>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61" name="Line 109"/>
              <p:cNvSpPr>
                <a:spLocks noChangeShapeType="1"/>
              </p:cNvSpPr>
              <p:nvPr/>
            </p:nvSpPr>
            <p:spPr bwMode="auto">
              <a:xfrm flipV="1">
                <a:off x="1428" y="969"/>
                <a:ext cx="0" cy="2112"/>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62" name="Line 110"/>
              <p:cNvSpPr>
                <a:spLocks noChangeShapeType="1"/>
              </p:cNvSpPr>
              <p:nvPr/>
            </p:nvSpPr>
            <p:spPr bwMode="auto">
              <a:xfrm>
                <a:off x="1367" y="912"/>
                <a:ext cx="0" cy="205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63" name="Oval 111"/>
              <p:cNvSpPr>
                <a:spLocks noChangeAspect="1" noChangeArrowheads="1"/>
              </p:cNvSpPr>
              <p:nvPr/>
            </p:nvSpPr>
            <p:spPr bwMode="auto">
              <a:xfrm>
                <a:off x="1917" y="3461"/>
                <a:ext cx="41" cy="41"/>
              </a:xfrm>
              <a:prstGeom prst="ellipse">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smtClean="0">
                  <a:solidFill>
                    <a:srgbClr val="000000"/>
                  </a:solidFill>
                </a:endParaRPr>
              </a:p>
            </p:txBody>
          </p:sp>
          <p:sp>
            <p:nvSpPr>
              <p:cNvPr id="228464" name="Oval 112"/>
              <p:cNvSpPr>
                <a:spLocks noChangeAspect="1" noChangeArrowheads="1"/>
              </p:cNvSpPr>
              <p:nvPr/>
            </p:nvSpPr>
            <p:spPr bwMode="auto">
              <a:xfrm>
                <a:off x="1976" y="3118"/>
                <a:ext cx="41" cy="41"/>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smtClean="0">
                  <a:solidFill>
                    <a:srgbClr val="000000"/>
                  </a:solidFill>
                </a:endParaRPr>
              </a:p>
            </p:txBody>
          </p:sp>
          <p:sp>
            <p:nvSpPr>
              <p:cNvPr id="228465" name="Oval 113"/>
              <p:cNvSpPr>
                <a:spLocks noChangeAspect="1" noChangeArrowheads="1"/>
              </p:cNvSpPr>
              <p:nvPr/>
            </p:nvSpPr>
            <p:spPr bwMode="auto">
              <a:xfrm>
                <a:off x="1859" y="3060"/>
                <a:ext cx="41" cy="41"/>
              </a:xfrm>
              <a:prstGeom prst="ellipse">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smtClean="0">
                  <a:solidFill>
                    <a:srgbClr val="000000"/>
                  </a:solidFill>
                </a:endParaRPr>
              </a:p>
            </p:txBody>
          </p:sp>
          <p:sp>
            <p:nvSpPr>
              <p:cNvPr id="228466" name="Oval 114"/>
              <p:cNvSpPr>
                <a:spLocks noChangeAspect="1" noChangeArrowheads="1"/>
              </p:cNvSpPr>
              <p:nvPr/>
            </p:nvSpPr>
            <p:spPr bwMode="auto">
              <a:xfrm>
                <a:off x="1917" y="3003"/>
                <a:ext cx="41" cy="41"/>
              </a:xfrm>
              <a:prstGeom prst="ellipse">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smtClean="0">
                  <a:solidFill>
                    <a:srgbClr val="000000"/>
                  </a:solidFill>
                </a:endParaRPr>
              </a:p>
            </p:txBody>
          </p:sp>
          <p:sp>
            <p:nvSpPr>
              <p:cNvPr id="228467" name="Oval 115"/>
              <p:cNvSpPr>
                <a:spLocks noChangeAspect="1" noChangeArrowheads="1"/>
              </p:cNvSpPr>
              <p:nvPr/>
            </p:nvSpPr>
            <p:spPr bwMode="auto">
              <a:xfrm>
                <a:off x="1803" y="2717"/>
                <a:ext cx="41" cy="41"/>
              </a:xfrm>
              <a:prstGeom prst="ellipse">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smtClean="0">
                  <a:solidFill>
                    <a:srgbClr val="000000"/>
                  </a:solidFill>
                </a:endParaRPr>
              </a:p>
            </p:txBody>
          </p:sp>
          <p:sp>
            <p:nvSpPr>
              <p:cNvPr id="228468" name="Oval 116"/>
              <p:cNvSpPr>
                <a:spLocks noChangeAspect="1" noChangeArrowheads="1"/>
              </p:cNvSpPr>
              <p:nvPr/>
            </p:nvSpPr>
            <p:spPr bwMode="auto">
              <a:xfrm>
                <a:off x="1917" y="2661"/>
                <a:ext cx="41" cy="41"/>
              </a:xfrm>
              <a:prstGeom prst="ellipse">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smtClean="0">
                  <a:solidFill>
                    <a:srgbClr val="000000"/>
                  </a:solidFill>
                </a:endParaRPr>
              </a:p>
            </p:txBody>
          </p:sp>
          <p:sp>
            <p:nvSpPr>
              <p:cNvPr id="228469" name="Oval 117"/>
              <p:cNvSpPr>
                <a:spLocks noChangeAspect="1" noChangeArrowheads="1"/>
              </p:cNvSpPr>
              <p:nvPr/>
            </p:nvSpPr>
            <p:spPr bwMode="auto">
              <a:xfrm>
                <a:off x="1977" y="2781"/>
                <a:ext cx="41" cy="41"/>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smtClean="0">
                  <a:solidFill>
                    <a:srgbClr val="000000"/>
                  </a:solidFill>
                </a:endParaRPr>
              </a:p>
            </p:txBody>
          </p:sp>
          <p:sp>
            <p:nvSpPr>
              <p:cNvPr id="228470" name="Oval 118"/>
              <p:cNvSpPr>
                <a:spLocks noChangeAspect="1" noChangeArrowheads="1"/>
              </p:cNvSpPr>
              <p:nvPr/>
            </p:nvSpPr>
            <p:spPr bwMode="auto">
              <a:xfrm>
                <a:off x="1977" y="2428"/>
                <a:ext cx="41" cy="41"/>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smtClean="0">
                  <a:solidFill>
                    <a:srgbClr val="000000"/>
                  </a:solidFill>
                </a:endParaRPr>
              </a:p>
            </p:txBody>
          </p:sp>
          <p:sp>
            <p:nvSpPr>
              <p:cNvPr id="228471" name="Oval 119"/>
              <p:cNvSpPr>
                <a:spLocks noChangeAspect="1" noChangeArrowheads="1"/>
              </p:cNvSpPr>
              <p:nvPr/>
            </p:nvSpPr>
            <p:spPr bwMode="auto">
              <a:xfrm>
                <a:off x="1977" y="2089"/>
                <a:ext cx="41" cy="41"/>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smtClean="0">
                  <a:solidFill>
                    <a:srgbClr val="000000"/>
                  </a:solidFill>
                </a:endParaRPr>
              </a:p>
            </p:txBody>
          </p:sp>
          <p:sp>
            <p:nvSpPr>
              <p:cNvPr id="228472" name="Oval 120"/>
              <p:cNvSpPr>
                <a:spLocks noChangeAspect="1" noChangeArrowheads="1"/>
              </p:cNvSpPr>
              <p:nvPr/>
            </p:nvSpPr>
            <p:spPr bwMode="auto">
              <a:xfrm>
                <a:off x="1803" y="1917"/>
                <a:ext cx="41" cy="41"/>
              </a:xfrm>
              <a:prstGeom prst="ellipse">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smtClean="0">
                  <a:solidFill>
                    <a:srgbClr val="000000"/>
                  </a:solidFill>
                </a:endParaRPr>
              </a:p>
            </p:txBody>
          </p:sp>
          <p:sp>
            <p:nvSpPr>
              <p:cNvPr id="228473" name="Oval 121"/>
              <p:cNvSpPr>
                <a:spLocks noChangeAspect="1" noChangeArrowheads="1"/>
              </p:cNvSpPr>
              <p:nvPr/>
            </p:nvSpPr>
            <p:spPr bwMode="auto">
              <a:xfrm>
                <a:off x="1859" y="1976"/>
                <a:ext cx="41" cy="41"/>
              </a:xfrm>
              <a:prstGeom prst="ellipse">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smtClean="0">
                  <a:solidFill>
                    <a:srgbClr val="000000"/>
                  </a:solidFill>
                </a:endParaRPr>
              </a:p>
            </p:txBody>
          </p:sp>
          <p:sp>
            <p:nvSpPr>
              <p:cNvPr id="228474" name="Oval 122"/>
              <p:cNvSpPr>
                <a:spLocks noChangeAspect="1" noChangeArrowheads="1"/>
              </p:cNvSpPr>
              <p:nvPr/>
            </p:nvSpPr>
            <p:spPr bwMode="auto">
              <a:xfrm>
                <a:off x="1977" y="1748"/>
                <a:ext cx="41" cy="41"/>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smtClean="0">
                  <a:solidFill>
                    <a:srgbClr val="000000"/>
                  </a:solidFill>
                </a:endParaRPr>
              </a:p>
            </p:txBody>
          </p:sp>
          <p:sp>
            <p:nvSpPr>
              <p:cNvPr id="228475" name="Oval 123"/>
              <p:cNvSpPr>
                <a:spLocks noChangeAspect="1" noChangeArrowheads="1"/>
              </p:cNvSpPr>
              <p:nvPr/>
            </p:nvSpPr>
            <p:spPr bwMode="auto">
              <a:xfrm>
                <a:off x="1977" y="1408"/>
                <a:ext cx="41" cy="41"/>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smtClean="0">
                  <a:solidFill>
                    <a:srgbClr val="000000"/>
                  </a:solidFill>
                </a:endParaRPr>
              </a:p>
            </p:txBody>
          </p:sp>
          <p:sp>
            <p:nvSpPr>
              <p:cNvPr id="228476" name="Oval 124"/>
              <p:cNvSpPr>
                <a:spLocks noChangeAspect="1" noChangeArrowheads="1"/>
              </p:cNvSpPr>
              <p:nvPr/>
            </p:nvSpPr>
            <p:spPr bwMode="auto">
              <a:xfrm>
                <a:off x="1407" y="1290"/>
                <a:ext cx="41" cy="41"/>
              </a:xfrm>
              <a:prstGeom prst="ellipse">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smtClean="0">
                  <a:solidFill>
                    <a:srgbClr val="000000"/>
                  </a:solidFill>
                </a:endParaRPr>
              </a:p>
            </p:txBody>
          </p:sp>
          <p:sp>
            <p:nvSpPr>
              <p:cNvPr id="228477" name="Oval 125"/>
              <p:cNvSpPr>
                <a:spLocks noChangeAspect="1" noChangeArrowheads="1"/>
              </p:cNvSpPr>
              <p:nvPr/>
            </p:nvSpPr>
            <p:spPr bwMode="auto">
              <a:xfrm>
                <a:off x="1461" y="1347"/>
                <a:ext cx="41" cy="41"/>
              </a:xfrm>
              <a:prstGeom prst="ellipse">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smtClean="0">
                  <a:solidFill>
                    <a:srgbClr val="000000"/>
                  </a:solidFill>
                </a:endParaRPr>
              </a:p>
            </p:txBody>
          </p:sp>
          <p:sp>
            <p:nvSpPr>
              <p:cNvPr id="228478" name="Oval 126"/>
              <p:cNvSpPr>
                <a:spLocks noChangeAspect="1" noChangeArrowheads="1"/>
              </p:cNvSpPr>
              <p:nvPr/>
            </p:nvSpPr>
            <p:spPr bwMode="auto">
              <a:xfrm>
                <a:off x="1346" y="1575"/>
                <a:ext cx="41" cy="41"/>
              </a:xfrm>
              <a:prstGeom prst="ellipse">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smtClean="0">
                  <a:solidFill>
                    <a:srgbClr val="000000"/>
                  </a:solidFill>
                </a:endParaRPr>
              </a:p>
            </p:txBody>
          </p:sp>
          <p:sp>
            <p:nvSpPr>
              <p:cNvPr id="228479" name="Oval 127"/>
              <p:cNvSpPr>
                <a:spLocks noChangeAspect="1" noChangeArrowheads="1"/>
              </p:cNvSpPr>
              <p:nvPr/>
            </p:nvSpPr>
            <p:spPr bwMode="auto">
              <a:xfrm>
                <a:off x="1461" y="1691"/>
                <a:ext cx="41" cy="41"/>
              </a:xfrm>
              <a:prstGeom prst="ellipse">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smtClean="0">
                  <a:solidFill>
                    <a:srgbClr val="000000"/>
                  </a:solidFill>
                </a:endParaRPr>
              </a:p>
            </p:txBody>
          </p:sp>
          <p:sp>
            <p:nvSpPr>
              <p:cNvPr id="228480" name="Oval 128"/>
              <p:cNvSpPr>
                <a:spLocks noChangeAspect="1" noChangeArrowheads="1"/>
              </p:cNvSpPr>
              <p:nvPr/>
            </p:nvSpPr>
            <p:spPr bwMode="auto">
              <a:xfrm>
                <a:off x="1461" y="2033"/>
                <a:ext cx="41" cy="41"/>
              </a:xfrm>
              <a:prstGeom prst="ellipse">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smtClean="0">
                  <a:solidFill>
                    <a:srgbClr val="000000"/>
                  </a:solidFill>
                </a:endParaRPr>
              </a:p>
            </p:txBody>
          </p:sp>
          <p:sp>
            <p:nvSpPr>
              <p:cNvPr id="228481" name="Oval 129"/>
              <p:cNvSpPr>
                <a:spLocks noChangeAspect="1" noChangeArrowheads="1"/>
              </p:cNvSpPr>
              <p:nvPr/>
            </p:nvSpPr>
            <p:spPr bwMode="auto">
              <a:xfrm>
                <a:off x="1346" y="2261"/>
                <a:ext cx="41" cy="41"/>
              </a:xfrm>
              <a:prstGeom prst="ellipse">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smtClean="0">
                  <a:solidFill>
                    <a:srgbClr val="000000"/>
                  </a:solidFill>
                </a:endParaRPr>
              </a:p>
            </p:txBody>
          </p:sp>
          <p:sp>
            <p:nvSpPr>
              <p:cNvPr id="228482" name="Oval 130"/>
              <p:cNvSpPr>
                <a:spLocks noChangeAspect="1" noChangeArrowheads="1"/>
              </p:cNvSpPr>
              <p:nvPr/>
            </p:nvSpPr>
            <p:spPr bwMode="auto">
              <a:xfrm>
                <a:off x="1407" y="2319"/>
                <a:ext cx="41" cy="41"/>
              </a:xfrm>
              <a:prstGeom prst="ellipse">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smtClean="0">
                  <a:solidFill>
                    <a:srgbClr val="000000"/>
                  </a:solidFill>
                </a:endParaRPr>
              </a:p>
            </p:txBody>
          </p:sp>
          <p:sp>
            <p:nvSpPr>
              <p:cNvPr id="228483" name="Oval 131"/>
              <p:cNvSpPr>
                <a:spLocks noChangeAspect="1" noChangeArrowheads="1"/>
              </p:cNvSpPr>
              <p:nvPr/>
            </p:nvSpPr>
            <p:spPr bwMode="auto">
              <a:xfrm>
                <a:off x="1346" y="2719"/>
                <a:ext cx="41" cy="41"/>
              </a:xfrm>
              <a:prstGeom prst="ellipse">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smtClean="0">
                  <a:solidFill>
                    <a:srgbClr val="000000"/>
                  </a:solidFill>
                </a:endParaRPr>
              </a:p>
            </p:txBody>
          </p:sp>
          <p:sp>
            <p:nvSpPr>
              <p:cNvPr id="228484" name="Oval 132"/>
              <p:cNvSpPr>
                <a:spLocks noChangeAspect="1" noChangeArrowheads="1"/>
              </p:cNvSpPr>
              <p:nvPr/>
            </p:nvSpPr>
            <p:spPr bwMode="auto">
              <a:xfrm>
                <a:off x="1407" y="2603"/>
                <a:ext cx="41" cy="41"/>
              </a:xfrm>
              <a:prstGeom prst="ellipse">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smtClean="0">
                  <a:solidFill>
                    <a:srgbClr val="000000"/>
                  </a:solidFill>
                </a:endParaRPr>
              </a:p>
            </p:txBody>
          </p:sp>
          <p:sp>
            <p:nvSpPr>
              <p:cNvPr id="228485" name="Oval 133"/>
              <p:cNvSpPr>
                <a:spLocks noChangeAspect="1" noChangeArrowheads="1"/>
              </p:cNvSpPr>
              <p:nvPr/>
            </p:nvSpPr>
            <p:spPr bwMode="auto">
              <a:xfrm>
                <a:off x="1407" y="3059"/>
                <a:ext cx="41" cy="41"/>
              </a:xfrm>
              <a:prstGeom prst="ellipse">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smtClean="0">
                  <a:solidFill>
                    <a:srgbClr val="000000"/>
                  </a:solidFill>
                </a:endParaRPr>
              </a:p>
            </p:txBody>
          </p:sp>
          <p:sp>
            <p:nvSpPr>
              <p:cNvPr id="228486" name="Oval 134"/>
              <p:cNvSpPr>
                <a:spLocks noChangeAspect="1" noChangeArrowheads="1"/>
              </p:cNvSpPr>
              <p:nvPr/>
            </p:nvSpPr>
            <p:spPr bwMode="auto">
              <a:xfrm>
                <a:off x="1461" y="3459"/>
                <a:ext cx="41" cy="41"/>
              </a:xfrm>
              <a:prstGeom prst="ellipse">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smtClean="0">
                  <a:solidFill>
                    <a:srgbClr val="000000"/>
                  </a:solidFill>
                </a:endParaRPr>
              </a:p>
            </p:txBody>
          </p:sp>
        </p:grpSp>
        <p:sp>
          <p:nvSpPr>
            <p:cNvPr id="228487" name="Line 135"/>
            <p:cNvSpPr>
              <a:spLocks noChangeShapeType="1"/>
            </p:cNvSpPr>
            <p:nvPr/>
          </p:nvSpPr>
          <p:spPr bwMode="auto">
            <a:xfrm flipH="1">
              <a:off x="570" y="2735"/>
              <a:ext cx="513"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88" name="Line 136"/>
            <p:cNvSpPr>
              <a:spLocks noChangeShapeType="1"/>
            </p:cNvSpPr>
            <p:nvPr/>
          </p:nvSpPr>
          <p:spPr bwMode="auto">
            <a:xfrm flipH="1">
              <a:off x="570" y="3081"/>
              <a:ext cx="513"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sp>
          <p:nvSpPr>
            <p:cNvPr id="228489" name="Line 137"/>
            <p:cNvSpPr>
              <a:spLocks noChangeShapeType="1"/>
            </p:cNvSpPr>
            <p:nvPr/>
          </p:nvSpPr>
          <p:spPr bwMode="auto">
            <a:xfrm flipH="1">
              <a:off x="565" y="3482"/>
              <a:ext cx="513"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smtClean="0">
                <a:solidFill>
                  <a:srgbClr val="000000"/>
                </a:solidFill>
              </a:endParaRPr>
            </a:p>
          </p:txBody>
        </p:sp>
      </p:grpSp>
      <p:graphicFrame>
        <p:nvGraphicFramePr>
          <p:cNvPr id="228490" name="Object 138"/>
          <p:cNvGraphicFramePr>
            <a:graphicFrameLocks noChangeAspect="1"/>
          </p:cNvGraphicFramePr>
          <p:nvPr>
            <p:extLst>
              <p:ext uri="{D42A27DB-BD31-4B8C-83A1-F6EECF244321}">
                <p14:modId xmlns:p14="http://schemas.microsoft.com/office/powerpoint/2010/main" xmlns="" val="2344692404"/>
              </p:ext>
            </p:extLst>
          </p:nvPr>
        </p:nvGraphicFramePr>
        <p:xfrm>
          <a:off x="1774825" y="2163763"/>
          <a:ext cx="839788" cy="493712"/>
        </p:xfrm>
        <a:graphic>
          <a:graphicData uri="http://schemas.openxmlformats.org/presentationml/2006/ole">
            <p:oleObj spid="_x0000_s38766" name="Equation" r:id="rId3" imgW="431640" imgH="253800" progId="">
              <p:embed/>
            </p:oleObj>
          </a:graphicData>
        </a:graphic>
      </p:graphicFrame>
      <p:graphicFrame>
        <p:nvGraphicFramePr>
          <p:cNvPr id="228491" name="Object 139"/>
          <p:cNvGraphicFramePr>
            <a:graphicFrameLocks noChangeAspect="1"/>
          </p:cNvGraphicFramePr>
          <p:nvPr>
            <p:extLst>
              <p:ext uri="{D42A27DB-BD31-4B8C-83A1-F6EECF244321}">
                <p14:modId xmlns:p14="http://schemas.microsoft.com/office/powerpoint/2010/main" xmlns="" val="4099944523"/>
              </p:ext>
            </p:extLst>
          </p:nvPr>
        </p:nvGraphicFramePr>
        <p:xfrm>
          <a:off x="1770368" y="2809875"/>
          <a:ext cx="838200" cy="508000"/>
        </p:xfrm>
        <a:graphic>
          <a:graphicData uri="http://schemas.openxmlformats.org/presentationml/2006/ole">
            <p:oleObj spid="_x0000_s38767" name="Equation" r:id="rId4" imgW="444240" imgH="266400" progId="">
              <p:embed/>
            </p:oleObj>
          </a:graphicData>
        </a:graphic>
      </p:graphicFrame>
      <p:graphicFrame>
        <p:nvGraphicFramePr>
          <p:cNvPr id="228492" name="Object 140"/>
          <p:cNvGraphicFramePr>
            <a:graphicFrameLocks noChangeAspect="1"/>
          </p:cNvGraphicFramePr>
          <p:nvPr>
            <p:extLst>
              <p:ext uri="{D42A27DB-BD31-4B8C-83A1-F6EECF244321}">
                <p14:modId xmlns:p14="http://schemas.microsoft.com/office/powerpoint/2010/main" xmlns="" val="1658660608"/>
              </p:ext>
            </p:extLst>
          </p:nvPr>
        </p:nvGraphicFramePr>
        <p:xfrm>
          <a:off x="1791176" y="3200400"/>
          <a:ext cx="839788" cy="504825"/>
        </p:xfrm>
        <a:graphic>
          <a:graphicData uri="http://schemas.openxmlformats.org/presentationml/2006/ole">
            <p:oleObj spid="_x0000_s38768" name="Equation" r:id="rId5" imgW="444240" imgH="266400" progId="">
              <p:embed/>
            </p:oleObj>
          </a:graphicData>
        </a:graphic>
      </p:graphicFrame>
      <p:graphicFrame>
        <p:nvGraphicFramePr>
          <p:cNvPr id="228493" name="Object 141"/>
          <p:cNvGraphicFramePr>
            <a:graphicFrameLocks noChangeAspect="1"/>
          </p:cNvGraphicFramePr>
          <p:nvPr/>
        </p:nvGraphicFramePr>
        <p:xfrm>
          <a:off x="1763713" y="4365625"/>
          <a:ext cx="896937" cy="454025"/>
        </p:xfrm>
        <a:graphic>
          <a:graphicData uri="http://schemas.openxmlformats.org/presentationml/2006/ole">
            <p:oleObj spid="_x0000_s38769" name="Equation" r:id="rId6" imgW="533520" imgH="330120" progId="">
              <p:embed/>
            </p:oleObj>
          </a:graphicData>
        </a:graphic>
      </p:graphicFrame>
      <p:graphicFrame>
        <p:nvGraphicFramePr>
          <p:cNvPr id="228494" name="Object 142"/>
          <p:cNvGraphicFramePr>
            <a:graphicFrameLocks noChangeAspect="1"/>
          </p:cNvGraphicFramePr>
          <p:nvPr/>
        </p:nvGraphicFramePr>
        <p:xfrm>
          <a:off x="1763713" y="5157788"/>
          <a:ext cx="820737" cy="468312"/>
        </p:xfrm>
        <a:graphic>
          <a:graphicData uri="http://schemas.openxmlformats.org/presentationml/2006/ole">
            <p:oleObj spid="_x0000_s38770" name="Equation" r:id="rId7" imgW="533520" imgH="330120" progId="">
              <p:embed/>
            </p:oleObj>
          </a:graphicData>
        </a:graphic>
      </p:graphicFrame>
      <p:graphicFrame>
        <p:nvGraphicFramePr>
          <p:cNvPr id="228495" name="Object 143"/>
          <p:cNvGraphicFramePr>
            <a:graphicFrameLocks noChangeAspect="1"/>
          </p:cNvGraphicFramePr>
          <p:nvPr/>
        </p:nvGraphicFramePr>
        <p:xfrm>
          <a:off x="1763713" y="6021388"/>
          <a:ext cx="830262" cy="460375"/>
        </p:xfrm>
        <a:graphic>
          <a:graphicData uri="http://schemas.openxmlformats.org/presentationml/2006/ole">
            <p:oleObj spid="_x0000_s38771" name="Equation" r:id="rId8" imgW="546120" imgH="330120" progId="">
              <p:embed/>
            </p:oleObj>
          </a:graphicData>
        </a:graphic>
      </p:graphicFrame>
      <p:graphicFrame>
        <p:nvGraphicFramePr>
          <p:cNvPr id="228496" name="Object 144"/>
          <p:cNvGraphicFramePr>
            <a:graphicFrameLocks noChangeAspect="1"/>
          </p:cNvGraphicFramePr>
          <p:nvPr/>
        </p:nvGraphicFramePr>
        <p:xfrm>
          <a:off x="7019925" y="333375"/>
          <a:ext cx="928688" cy="501650"/>
        </p:xfrm>
        <a:graphic>
          <a:graphicData uri="http://schemas.openxmlformats.org/presentationml/2006/ole">
            <p:oleObj spid="_x0000_s38772" name="Equation" r:id="rId9" imgW="609840" imgH="330120" progId="">
              <p:embed/>
            </p:oleObj>
          </a:graphicData>
        </a:graphic>
      </p:graphicFrame>
      <p:graphicFrame>
        <p:nvGraphicFramePr>
          <p:cNvPr id="228497" name="Object 145"/>
          <p:cNvGraphicFramePr>
            <a:graphicFrameLocks noChangeAspect="1"/>
          </p:cNvGraphicFramePr>
          <p:nvPr/>
        </p:nvGraphicFramePr>
        <p:xfrm>
          <a:off x="7019925" y="1125538"/>
          <a:ext cx="928688" cy="501650"/>
        </p:xfrm>
        <a:graphic>
          <a:graphicData uri="http://schemas.openxmlformats.org/presentationml/2006/ole">
            <p:oleObj spid="_x0000_s38773" name="Equation" r:id="rId10" imgW="609840" imgH="330120" progId="">
              <p:embed/>
            </p:oleObj>
          </a:graphicData>
        </a:graphic>
      </p:graphicFrame>
      <p:graphicFrame>
        <p:nvGraphicFramePr>
          <p:cNvPr id="228498" name="Object 146"/>
          <p:cNvGraphicFramePr>
            <a:graphicFrameLocks noChangeAspect="1"/>
          </p:cNvGraphicFramePr>
          <p:nvPr/>
        </p:nvGraphicFramePr>
        <p:xfrm>
          <a:off x="7019925" y="1844675"/>
          <a:ext cx="925513" cy="501650"/>
        </p:xfrm>
        <a:graphic>
          <a:graphicData uri="http://schemas.openxmlformats.org/presentationml/2006/ole">
            <p:oleObj spid="_x0000_s38774" name="Equation" r:id="rId11" imgW="609840" imgH="330120" progId="">
              <p:embed/>
            </p:oleObj>
          </a:graphicData>
        </a:graphic>
      </p:graphicFrame>
      <p:graphicFrame>
        <p:nvGraphicFramePr>
          <p:cNvPr id="228499" name="Object 147"/>
          <p:cNvGraphicFramePr>
            <a:graphicFrameLocks noChangeAspect="1"/>
          </p:cNvGraphicFramePr>
          <p:nvPr/>
        </p:nvGraphicFramePr>
        <p:xfrm>
          <a:off x="7092950" y="3500438"/>
          <a:ext cx="925513" cy="501650"/>
        </p:xfrm>
        <a:graphic>
          <a:graphicData uri="http://schemas.openxmlformats.org/presentationml/2006/ole">
            <p:oleObj spid="_x0000_s38775" name="Equation" r:id="rId12" imgW="609840" imgH="330120" progId="">
              <p:embed/>
            </p:oleObj>
          </a:graphicData>
        </a:graphic>
      </p:graphicFrame>
      <p:graphicFrame>
        <p:nvGraphicFramePr>
          <p:cNvPr id="228500" name="Object 148"/>
          <p:cNvGraphicFramePr>
            <a:graphicFrameLocks noChangeAspect="1"/>
          </p:cNvGraphicFramePr>
          <p:nvPr/>
        </p:nvGraphicFramePr>
        <p:xfrm>
          <a:off x="7092950" y="4292600"/>
          <a:ext cx="928688" cy="501650"/>
        </p:xfrm>
        <a:graphic>
          <a:graphicData uri="http://schemas.openxmlformats.org/presentationml/2006/ole">
            <p:oleObj spid="_x0000_s38776" name="Equation" r:id="rId13" imgW="609840" imgH="330120" progId="">
              <p:embed/>
            </p:oleObj>
          </a:graphicData>
        </a:graphic>
      </p:graphicFrame>
      <p:graphicFrame>
        <p:nvGraphicFramePr>
          <p:cNvPr id="228501" name="Object 149"/>
          <p:cNvGraphicFramePr>
            <a:graphicFrameLocks noChangeAspect="1"/>
          </p:cNvGraphicFramePr>
          <p:nvPr/>
        </p:nvGraphicFramePr>
        <p:xfrm>
          <a:off x="7164388" y="5084763"/>
          <a:ext cx="800100" cy="501650"/>
        </p:xfrm>
        <a:graphic>
          <a:graphicData uri="http://schemas.openxmlformats.org/presentationml/2006/ole">
            <p:oleObj spid="_x0000_s38777" name="Equation" r:id="rId14" imgW="533520" imgH="330120" progId="">
              <p:embed/>
            </p:oleObj>
          </a:graphicData>
        </a:graphic>
      </p:graphicFrame>
      <p:graphicFrame>
        <p:nvGraphicFramePr>
          <p:cNvPr id="228502" name="Object 150"/>
          <p:cNvGraphicFramePr>
            <a:graphicFrameLocks noChangeAspect="1"/>
          </p:cNvGraphicFramePr>
          <p:nvPr/>
        </p:nvGraphicFramePr>
        <p:xfrm>
          <a:off x="7164388" y="5876925"/>
          <a:ext cx="801687" cy="501650"/>
        </p:xfrm>
        <a:graphic>
          <a:graphicData uri="http://schemas.openxmlformats.org/presentationml/2006/ole">
            <p:oleObj spid="_x0000_s38778" name="Equation" r:id="rId15" imgW="533520" imgH="330120" progId="">
              <p:embed/>
            </p:oleObj>
          </a:graphicData>
        </a:graphic>
      </p:graphicFrame>
      <p:graphicFrame>
        <p:nvGraphicFramePr>
          <p:cNvPr id="228503" name="Object 151"/>
          <p:cNvGraphicFramePr>
            <a:graphicFrameLocks noChangeAspect="1"/>
          </p:cNvGraphicFramePr>
          <p:nvPr/>
        </p:nvGraphicFramePr>
        <p:xfrm>
          <a:off x="7092950" y="2636838"/>
          <a:ext cx="928688" cy="501650"/>
        </p:xfrm>
        <a:graphic>
          <a:graphicData uri="http://schemas.openxmlformats.org/presentationml/2006/ole">
            <p:oleObj spid="_x0000_s38779" name="Equation" r:id="rId16" imgW="609840" imgH="330120" progId="">
              <p:embed/>
            </p:oleObj>
          </a:graphicData>
        </a:graphic>
      </p:graphicFrame>
      <p:sp>
        <p:nvSpPr>
          <p:cNvPr id="228504" name="Rectangle 152"/>
          <p:cNvSpPr>
            <a:spLocks noChangeArrowheads="1"/>
          </p:cNvSpPr>
          <p:nvPr/>
        </p:nvSpPr>
        <p:spPr bwMode="auto">
          <a:xfrm>
            <a:off x="900113" y="765175"/>
            <a:ext cx="3168650" cy="9461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lang="en-US" altLang="zh-CN" sz="2800" b="1" smtClean="0">
                <a:solidFill>
                  <a:srgbClr val="333399"/>
                </a:solidFill>
                <a:latin typeface="Times New Roman" pitchFamily="18" charset="0"/>
                <a:ea typeface="黑体" pitchFamily="49" charset="-122"/>
              </a:rPr>
              <a:t>3-8</a:t>
            </a:r>
            <a:r>
              <a:rPr lang="zh-CN" altLang="en-US" sz="2800" b="1" smtClean="0">
                <a:solidFill>
                  <a:srgbClr val="333399"/>
                </a:solidFill>
                <a:latin typeface="Times New Roman" pitchFamily="18" charset="0"/>
                <a:ea typeface="黑体" pitchFamily="49" charset="-122"/>
              </a:rPr>
              <a:t>译码器</a:t>
            </a:r>
            <a:r>
              <a:rPr lang="en-US" altLang="zh-CN" sz="2800" b="1" smtClean="0">
                <a:solidFill>
                  <a:srgbClr val="333399"/>
                </a:solidFill>
                <a:latin typeface="Times New Roman" pitchFamily="18" charset="0"/>
                <a:ea typeface="黑体" pitchFamily="49" charset="-122"/>
              </a:rPr>
              <a:t>74xx138</a:t>
            </a:r>
            <a:r>
              <a:rPr lang="zh-CN" altLang="en-US" sz="2800" b="1" smtClean="0">
                <a:solidFill>
                  <a:srgbClr val="333399"/>
                </a:solidFill>
                <a:latin typeface="Times New Roman" pitchFamily="18" charset="0"/>
                <a:ea typeface="黑体" pitchFamily="49" charset="-122"/>
              </a:rPr>
              <a:t>内部逻辑图</a:t>
            </a:r>
          </a:p>
        </p:txBody>
      </p:sp>
    </p:spTree>
    <p:extLst>
      <p:ext uri="{BB962C8B-B14F-4D97-AF65-F5344CB8AC3E}">
        <p14:creationId xmlns:p14="http://schemas.microsoft.com/office/powerpoint/2010/main" xmlns="" val="2123099466"/>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764704"/>
            <a:ext cx="7545014" cy="494928"/>
          </a:xfrm>
        </p:spPr>
        <p:txBody>
          <a:bodyPr/>
          <a:lstStyle/>
          <a:p>
            <a:r>
              <a:rPr lang="en-US" altLang="zh-CN" sz="3200" dirty="0" smtClean="0"/>
              <a:t>4.4.1 </a:t>
            </a:r>
            <a:r>
              <a:rPr lang="zh-CN" altLang="en-US" sz="3200" dirty="0" smtClean="0"/>
              <a:t>二进制</a:t>
            </a:r>
            <a:r>
              <a:rPr lang="zh-CN" altLang="en-US" sz="3200" dirty="0"/>
              <a:t>译码器</a:t>
            </a:r>
          </a:p>
        </p:txBody>
      </p:sp>
      <p:sp>
        <p:nvSpPr>
          <p:cNvPr id="4" name="Text Box 6"/>
          <p:cNvSpPr txBox="1">
            <a:spLocks noChangeArrowheads="1"/>
          </p:cNvSpPr>
          <p:nvPr/>
        </p:nvSpPr>
        <p:spPr bwMode="auto">
          <a:xfrm>
            <a:off x="2844031" y="1231925"/>
            <a:ext cx="3024113" cy="396875"/>
          </a:xfrm>
          <a:prstGeom prst="rect">
            <a:avLst/>
          </a:prstGeom>
          <a:solidFill>
            <a:schemeClr val="bg1"/>
          </a:solidFill>
          <a:ln>
            <a:noFill/>
          </a:ln>
          <a:effectLst/>
        </p:spPr>
        <p:txBody>
          <a:bodyPr wrap="square">
            <a:spAutoFit/>
          </a:bodyPr>
          <a:lstStyle/>
          <a:p>
            <a:pPr algn="ctr" fontAlgn="base">
              <a:spcBef>
                <a:spcPct val="50000"/>
              </a:spcBef>
              <a:spcAft>
                <a:spcPct val="0"/>
              </a:spcAft>
            </a:pPr>
            <a:r>
              <a:rPr kumimoji="1" lang="zh-CN" altLang="en-US" sz="2000" b="1" dirty="0" smtClean="0">
                <a:solidFill>
                  <a:srgbClr val="000000"/>
                </a:solidFill>
                <a:latin typeface="楷体_GB2312" pitchFamily="49" charset="-122"/>
                <a:ea typeface="楷体_GB2312" pitchFamily="49" charset="-122"/>
              </a:rPr>
              <a:t>表</a:t>
            </a:r>
            <a:r>
              <a:rPr kumimoji="1" lang="en-US" altLang="zh-CN" sz="2000" b="1" dirty="0" smtClean="0">
                <a:solidFill>
                  <a:srgbClr val="000000"/>
                </a:solidFill>
                <a:latin typeface="楷体_GB2312" pitchFamily="49" charset="-122"/>
                <a:ea typeface="楷体_GB2312" pitchFamily="49" charset="-122"/>
              </a:rPr>
              <a:t>  74LS138</a:t>
            </a:r>
            <a:r>
              <a:rPr kumimoji="1" lang="zh-CN" altLang="en-US" sz="2000" b="1" dirty="0" smtClean="0">
                <a:solidFill>
                  <a:srgbClr val="000000"/>
                </a:solidFill>
                <a:latin typeface="楷体_GB2312" pitchFamily="49" charset="-122"/>
                <a:ea typeface="楷体_GB2312" pitchFamily="49" charset="-122"/>
              </a:rPr>
              <a:t>功能表</a:t>
            </a:r>
          </a:p>
        </p:txBody>
      </p:sp>
      <p:grpSp>
        <p:nvGrpSpPr>
          <p:cNvPr id="5" name="Group 7"/>
          <p:cNvGrpSpPr>
            <a:grpSpLocks/>
          </p:cNvGrpSpPr>
          <p:nvPr/>
        </p:nvGrpSpPr>
        <p:grpSpPr bwMode="auto">
          <a:xfrm>
            <a:off x="250825" y="1556097"/>
            <a:ext cx="8497888" cy="4321175"/>
            <a:chOff x="204" y="739"/>
            <a:chExt cx="5353" cy="3099"/>
          </a:xfrm>
        </p:grpSpPr>
        <p:pic>
          <p:nvPicPr>
            <p:cNvPr id="6" name="Picture 8" descr="b3-3-3"/>
            <p:cNvPicPr>
              <a:picLocks noChangeAspect="1" noChangeArrowheads="1"/>
            </p:cNvPicPr>
            <p:nvPr/>
          </p:nvPicPr>
          <p:blipFill>
            <a:blip r:embed="rId3" cstate="print">
              <a:clrChange>
                <a:clrFrom>
                  <a:srgbClr val="F6F7F1"/>
                </a:clrFrom>
                <a:clrTo>
                  <a:srgbClr val="F6F7F1">
                    <a:alpha val="0"/>
                  </a:srgbClr>
                </a:clrTo>
              </a:clrChange>
              <a:lum contrast="30000"/>
              <a:extLst>
                <a:ext uri="{28A0092B-C50C-407E-A947-70E740481C1C}">
                  <a14:useLocalDpi xmlns:a14="http://schemas.microsoft.com/office/drawing/2010/main" xmlns="" val="0"/>
                </a:ext>
              </a:extLst>
            </a:blip>
            <a:srcRect/>
            <a:stretch>
              <a:fillRect/>
            </a:stretch>
          </p:blipFill>
          <p:spPr bwMode="auto">
            <a:xfrm>
              <a:off x="204" y="739"/>
              <a:ext cx="5353" cy="3099"/>
            </a:xfrm>
            <a:prstGeom prst="rect">
              <a:avLst/>
            </a:prstGeom>
            <a:noFill/>
            <a:extLst>
              <a:ext uri="{909E8E84-426E-40DD-AFC4-6F175D3DCCD1}">
                <a14:hiddenFill xmlns:a14="http://schemas.microsoft.com/office/drawing/2010/main" xmlns="">
                  <a:solidFill>
                    <a:srgbClr val="FFFFFF"/>
                  </a:solidFill>
                </a14:hiddenFill>
              </a:ext>
            </a:extLst>
          </p:spPr>
        </p:pic>
        <p:sp>
          <p:nvSpPr>
            <p:cNvPr id="7" name="Rectangle 9"/>
            <p:cNvSpPr>
              <a:spLocks noChangeArrowheads="1"/>
            </p:cNvSpPr>
            <p:nvPr/>
          </p:nvSpPr>
          <p:spPr bwMode="auto">
            <a:xfrm>
              <a:off x="1474" y="1752"/>
              <a:ext cx="3946" cy="1950"/>
            </a:xfrm>
            <a:prstGeom prst="rect">
              <a:avLst/>
            </a:prstGeom>
            <a:noFill/>
            <a:ln w="9525">
              <a:solidFill>
                <a:srgbClr val="FF0000"/>
              </a:solidFill>
              <a:prstDash val="dash"/>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smtClean="0">
                <a:solidFill>
                  <a:srgbClr val="000000"/>
                </a:solidFill>
              </a:endParaRPr>
            </a:p>
          </p:txBody>
        </p:sp>
      </p:grpSp>
      <p:graphicFrame>
        <p:nvGraphicFramePr>
          <p:cNvPr id="8" name="Object 10"/>
          <p:cNvGraphicFramePr>
            <a:graphicFrameLocks noChangeAspect="1"/>
          </p:cNvGraphicFramePr>
          <p:nvPr>
            <p:extLst>
              <p:ext uri="{D42A27DB-BD31-4B8C-83A1-F6EECF244321}">
                <p14:modId xmlns:p14="http://schemas.microsoft.com/office/powerpoint/2010/main" xmlns="" val="1042246398"/>
              </p:ext>
            </p:extLst>
          </p:nvPr>
        </p:nvGraphicFramePr>
        <p:xfrm>
          <a:off x="5148064" y="5793758"/>
          <a:ext cx="2654300" cy="1033462"/>
        </p:xfrm>
        <a:graphic>
          <a:graphicData uri="http://schemas.openxmlformats.org/presentationml/2006/ole">
            <p:oleObj spid="_x0000_s7452" name="Visio" r:id="rId4" imgW="2654198" imgH="1033794" progId="">
              <p:embed/>
            </p:oleObj>
          </a:graphicData>
        </a:graphic>
      </p:graphicFrame>
    </p:spTree>
    <p:extLst>
      <p:ext uri="{BB962C8B-B14F-4D97-AF65-F5344CB8AC3E}">
        <p14:creationId xmlns:p14="http://schemas.microsoft.com/office/powerpoint/2010/main" xmlns="" val="3583403116"/>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92696"/>
            <a:ext cx="7545014" cy="566936"/>
          </a:xfrm>
        </p:spPr>
        <p:txBody>
          <a:bodyPr/>
          <a:lstStyle/>
          <a:p>
            <a:r>
              <a:rPr lang="en-US" altLang="zh-CN" dirty="0" smtClean="0"/>
              <a:t>4.4.1 </a:t>
            </a:r>
            <a:r>
              <a:rPr lang="zh-CN" altLang="en-US" dirty="0" smtClean="0"/>
              <a:t>二进制</a:t>
            </a:r>
            <a:r>
              <a:rPr lang="zh-CN" altLang="en-US" dirty="0"/>
              <a:t>译码器</a:t>
            </a:r>
          </a:p>
        </p:txBody>
      </p:sp>
      <p:sp>
        <p:nvSpPr>
          <p:cNvPr id="3" name="内容占位符 2"/>
          <p:cNvSpPr>
            <a:spLocks noGrp="1"/>
          </p:cNvSpPr>
          <p:nvPr>
            <p:ph idx="1"/>
          </p:nvPr>
        </p:nvSpPr>
        <p:spPr>
          <a:xfrm>
            <a:off x="793750" y="1542208"/>
            <a:ext cx="7810698" cy="4911128"/>
          </a:xfrm>
        </p:spPr>
        <p:txBody>
          <a:bodyPr/>
          <a:lstStyle/>
          <a:p>
            <a:pPr marL="0" indent="0">
              <a:buNone/>
            </a:pPr>
            <a:r>
              <a:rPr lang="en-US" altLang="zh-CN" dirty="0"/>
              <a:t>74LS138</a:t>
            </a:r>
            <a:r>
              <a:rPr lang="zh-CN" altLang="en-US" dirty="0"/>
              <a:t>框图及其各输出函数表达式如下：</a:t>
            </a:r>
          </a:p>
          <a:p>
            <a:endParaRPr lang="zh-CN" altLang="en-US" dirty="0"/>
          </a:p>
        </p:txBody>
      </p:sp>
      <p:pic>
        <p:nvPicPr>
          <p:cNvPr id="4" name="Picture 7" descr="3-3-6(2)"/>
          <p:cNvPicPr>
            <a:picLocks noChangeAspect="1" noChangeArrowheads="1"/>
          </p:cNvPicPr>
          <p:nvPr/>
        </p:nvPicPr>
        <p:blipFill>
          <a:blip r:embed="rId2" cstate="print">
            <a:clrChange>
              <a:clrFrom>
                <a:srgbClr val="F9FAF4"/>
              </a:clrFrom>
              <a:clrTo>
                <a:srgbClr val="F9FAF4">
                  <a:alpha val="0"/>
                </a:srgbClr>
              </a:clrTo>
            </a:clrChange>
            <a:lum contrast="36000"/>
            <a:extLst>
              <a:ext uri="{28A0092B-C50C-407E-A947-70E740481C1C}">
                <a14:useLocalDpi xmlns:a14="http://schemas.microsoft.com/office/drawing/2010/main" xmlns="" val="0"/>
              </a:ext>
            </a:extLst>
          </a:blip>
          <a:srcRect/>
          <a:stretch>
            <a:fillRect/>
          </a:stretch>
        </p:blipFill>
        <p:spPr bwMode="auto">
          <a:xfrm>
            <a:off x="2484438" y="1988963"/>
            <a:ext cx="2751137" cy="4824413"/>
          </a:xfrm>
          <a:prstGeom prst="rect">
            <a:avLst/>
          </a:prstGeom>
          <a:noFill/>
          <a:extLst>
            <a:ext uri="{909E8E84-426E-40DD-AFC4-6F175D3DCCD1}">
              <a14:hiddenFill xmlns:a14="http://schemas.microsoft.com/office/drawing/2010/main" xmlns="">
                <a:solidFill>
                  <a:srgbClr val="FFFFFF"/>
                </a:solidFill>
              </a14:hiddenFill>
            </a:ext>
          </a:extLst>
        </p:spPr>
      </p:pic>
      <p:sp>
        <p:nvSpPr>
          <p:cNvPr id="5" name="AutoShape 8"/>
          <p:cNvSpPr>
            <a:spLocks noChangeArrowheads="1"/>
          </p:cNvSpPr>
          <p:nvPr/>
        </p:nvSpPr>
        <p:spPr bwMode="auto">
          <a:xfrm>
            <a:off x="5795963" y="2420889"/>
            <a:ext cx="3240533" cy="1222250"/>
          </a:xfrm>
          <a:prstGeom prst="wedgeRoundRectCallout">
            <a:avLst>
              <a:gd name="adj1" fmla="val -74947"/>
              <a:gd name="adj2" fmla="val 117529"/>
              <a:gd name="adj3" fmla="val 16667"/>
            </a:avLst>
          </a:prstGeom>
          <a:solidFill>
            <a:schemeClr val="accent1">
              <a:lumMod val="20000"/>
              <a:lumOff val="80000"/>
            </a:schemeClr>
          </a:solidFill>
          <a:ln w="28575">
            <a:solidFill>
              <a:schemeClr val="accent1"/>
            </a:solidFill>
            <a:miter lim="800000"/>
            <a:headEnd/>
            <a:tailEnd/>
          </a:ln>
          <a:effectLst/>
        </p:spPr>
        <p:txBody>
          <a:bodyPr/>
          <a:lstStyle/>
          <a:p>
            <a:r>
              <a:rPr kumimoji="1" lang="zh-CN" altLang="en-US" b="1" dirty="0">
                <a:latin typeface="Times New Roman" pitchFamily="18" charset="0"/>
              </a:rPr>
              <a:t>最小项</a:t>
            </a:r>
            <a:r>
              <a:rPr kumimoji="1" lang="zh-CN" altLang="en-US" b="1" dirty="0" smtClean="0">
                <a:latin typeface="Times New Roman" pitchFamily="18" charset="0"/>
              </a:rPr>
              <a:t>译码器</a:t>
            </a:r>
            <a:endParaRPr kumimoji="1" lang="en-US" altLang="zh-CN" b="1" dirty="0" smtClean="0">
              <a:latin typeface="Times New Roman" pitchFamily="18" charset="0"/>
            </a:endParaRPr>
          </a:p>
          <a:p>
            <a:r>
              <a:rPr kumimoji="1" lang="zh-CN" altLang="en-US" b="1" dirty="0" smtClean="0">
                <a:latin typeface="Times New Roman" pitchFamily="18" charset="0"/>
              </a:rPr>
              <a:t>特点：</a:t>
            </a:r>
            <a:r>
              <a:rPr kumimoji="1" lang="en-US" altLang="zh-CN" b="1" dirty="0" smtClean="0">
                <a:solidFill>
                  <a:srgbClr val="0000CC"/>
                </a:solidFill>
                <a:latin typeface="Times New Roman" pitchFamily="18" charset="0"/>
              </a:rPr>
              <a:t>n</a:t>
            </a:r>
            <a:r>
              <a:rPr kumimoji="1" lang="zh-CN" altLang="en-US" b="1" dirty="0" smtClean="0">
                <a:solidFill>
                  <a:srgbClr val="0000CC"/>
                </a:solidFill>
                <a:latin typeface="Times New Roman" pitchFamily="18" charset="0"/>
              </a:rPr>
              <a:t>线</a:t>
            </a:r>
            <a:r>
              <a:rPr kumimoji="1" lang="en-US" altLang="zh-CN" b="1" dirty="0" smtClean="0">
                <a:solidFill>
                  <a:srgbClr val="0000CC"/>
                </a:solidFill>
                <a:latin typeface="Times New Roman" pitchFamily="18" charset="0"/>
              </a:rPr>
              <a:t>——2</a:t>
            </a:r>
            <a:r>
              <a:rPr kumimoji="1" lang="en-US" altLang="zh-CN" b="1" baseline="30000" dirty="0" smtClean="0">
                <a:solidFill>
                  <a:srgbClr val="0000CC"/>
                </a:solidFill>
                <a:latin typeface="Times New Roman" pitchFamily="18" charset="0"/>
              </a:rPr>
              <a:t>n</a:t>
            </a:r>
            <a:r>
              <a:rPr kumimoji="1" lang="zh-CN" altLang="en-US" b="1" dirty="0" smtClean="0">
                <a:solidFill>
                  <a:srgbClr val="0000CC"/>
                </a:solidFill>
                <a:latin typeface="Times New Roman" pitchFamily="18" charset="0"/>
              </a:rPr>
              <a:t>线</a:t>
            </a:r>
            <a:endParaRPr kumimoji="1" lang="en-US" altLang="zh-CN" b="1" dirty="0">
              <a:solidFill>
                <a:srgbClr val="0000CC"/>
              </a:solidFill>
              <a:latin typeface="Times New Roman" pitchFamily="18" charset="0"/>
            </a:endParaRPr>
          </a:p>
          <a:p>
            <a:r>
              <a:rPr kumimoji="1" lang="zh-CN" altLang="en-US" b="1" dirty="0" smtClean="0">
                <a:latin typeface="Times New Roman" pitchFamily="18" charset="0"/>
              </a:rPr>
              <a:t>输出仅有</a:t>
            </a:r>
            <a:r>
              <a:rPr kumimoji="1" lang="en-US" altLang="zh-CN" b="1" dirty="0" smtClean="0">
                <a:solidFill>
                  <a:srgbClr val="0000CC"/>
                </a:solidFill>
                <a:latin typeface="Times New Roman" pitchFamily="18" charset="0"/>
              </a:rPr>
              <a:t>1</a:t>
            </a:r>
            <a:r>
              <a:rPr kumimoji="1" lang="zh-CN" altLang="en-US" b="1" dirty="0" smtClean="0">
                <a:solidFill>
                  <a:srgbClr val="0000CC"/>
                </a:solidFill>
                <a:latin typeface="Times New Roman" pitchFamily="18" charset="0"/>
              </a:rPr>
              <a:t>个有效信号</a:t>
            </a:r>
            <a:r>
              <a:rPr kumimoji="1" lang="zh-CN" altLang="en-US" b="1" dirty="0" smtClean="0">
                <a:latin typeface="Times New Roman" pitchFamily="18" charset="0"/>
              </a:rPr>
              <a:t>对应</a:t>
            </a:r>
            <a:endParaRPr kumimoji="1" lang="zh-CN" altLang="en-US" b="1" dirty="0">
              <a:latin typeface="Times New Roman" pitchFamily="18" charset="0"/>
            </a:endParaRPr>
          </a:p>
        </p:txBody>
      </p:sp>
    </p:spTree>
    <p:extLst>
      <p:ext uri="{BB962C8B-B14F-4D97-AF65-F5344CB8AC3E}">
        <p14:creationId xmlns:p14="http://schemas.microsoft.com/office/powerpoint/2010/main" xmlns="" val="2423321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59632" y="692696"/>
            <a:ext cx="7736855" cy="566936"/>
          </a:xfrm>
        </p:spPr>
        <p:txBody>
          <a:bodyPr/>
          <a:lstStyle/>
          <a:p>
            <a:r>
              <a:rPr lang="en-US" altLang="zh-CN" dirty="0" smtClean="0"/>
              <a:t>4.4.1 </a:t>
            </a:r>
            <a:r>
              <a:rPr lang="zh-CN" altLang="en-US" dirty="0" smtClean="0"/>
              <a:t>二进制</a:t>
            </a:r>
            <a:r>
              <a:rPr lang="zh-CN" altLang="en-US" dirty="0"/>
              <a:t>译码器</a:t>
            </a:r>
          </a:p>
        </p:txBody>
      </p:sp>
      <p:sp>
        <p:nvSpPr>
          <p:cNvPr id="3" name="内容占位符 2"/>
          <p:cNvSpPr>
            <a:spLocks noGrp="1"/>
          </p:cNvSpPr>
          <p:nvPr>
            <p:ph idx="1"/>
          </p:nvPr>
        </p:nvSpPr>
        <p:spPr>
          <a:xfrm>
            <a:off x="467544" y="1556792"/>
            <a:ext cx="7810698" cy="4911128"/>
          </a:xfrm>
        </p:spPr>
        <p:txBody>
          <a:bodyPr/>
          <a:lstStyle/>
          <a:p>
            <a:pPr>
              <a:lnSpc>
                <a:spcPct val="100000"/>
              </a:lnSpc>
              <a:spcBef>
                <a:spcPts val="600"/>
              </a:spcBef>
              <a:buSzPct val="100000"/>
              <a:buFont typeface="Wingdings" pitchFamily="2" charset="2"/>
              <a:buChar char="p"/>
            </a:pPr>
            <a:r>
              <a:rPr lang="zh-CN" altLang="en-US" sz="2800" dirty="0"/>
              <a:t> </a:t>
            </a:r>
            <a:r>
              <a:rPr lang="zh-CN" altLang="en-US" sz="2800" dirty="0" smtClean="0">
                <a:solidFill>
                  <a:srgbClr val="0000CC"/>
                </a:solidFill>
              </a:rPr>
              <a:t>例</a:t>
            </a:r>
            <a:r>
              <a:rPr lang="en-US" altLang="zh-CN" sz="2800" dirty="0" smtClean="0">
                <a:solidFill>
                  <a:srgbClr val="0000CC"/>
                </a:solidFill>
              </a:rPr>
              <a:t>4.6</a:t>
            </a:r>
            <a:r>
              <a:rPr lang="en-US" altLang="zh-CN" sz="2800" dirty="0" smtClean="0">
                <a:solidFill>
                  <a:srgbClr val="FF0000"/>
                </a:solidFill>
              </a:rPr>
              <a:t> </a:t>
            </a:r>
            <a:r>
              <a:rPr lang="zh-CN" altLang="en-US" sz="2800" dirty="0" smtClean="0"/>
              <a:t>将</a:t>
            </a:r>
            <a:r>
              <a:rPr lang="en-US" altLang="zh-CN" sz="2800" dirty="0" smtClean="0"/>
              <a:t>74138</a:t>
            </a:r>
            <a:r>
              <a:rPr lang="zh-CN" altLang="en-US" sz="2800" dirty="0" smtClean="0"/>
              <a:t>扩展成</a:t>
            </a:r>
            <a:r>
              <a:rPr lang="en-US" altLang="zh-CN" sz="2800" dirty="0" smtClean="0"/>
              <a:t>4</a:t>
            </a:r>
            <a:r>
              <a:rPr lang="zh-CN" altLang="en-US" sz="2800" dirty="0" smtClean="0"/>
              <a:t>线</a:t>
            </a:r>
            <a:r>
              <a:rPr lang="en-US" altLang="zh-CN" sz="2800" dirty="0" smtClean="0"/>
              <a:t>-16</a:t>
            </a:r>
            <a:r>
              <a:rPr lang="zh-CN" altLang="en-US" sz="2800" dirty="0" smtClean="0"/>
              <a:t>线译码器。</a:t>
            </a:r>
            <a:endParaRPr lang="en-US" altLang="zh-CN" sz="2800" dirty="0" smtClean="0"/>
          </a:p>
          <a:p>
            <a:pPr>
              <a:lnSpc>
                <a:spcPct val="100000"/>
              </a:lnSpc>
              <a:spcBef>
                <a:spcPts val="600"/>
              </a:spcBef>
              <a:buSzPct val="100000"/>
              <a:buFont typeface="Wingdings" pitchFamily="2" charset="2"/>
              <a:buChar char="p"/>
            </a:pPr>
            <a:r>
              <a:rPr lang="en-US" altLang="zh-CN" sz="2800" dirty="0" smtClean="0"/>
              <a:t> </a:t>
            </a:r>
            <a:r>
              <a:rPr lang="zh-CN" altLang="en-US" sz="2800" dirty="0" smtClean="0">
                <a:solidFill>
                  <a:srgbClr val="0000CC"/>
                </a:solidFill>
              </a:rPr>
              <a:t>解</a:t>
            </a:r>
            <a:r>
              <a:rPr lang="zh-CN" altLang="en-US" sz="2800" dirty="0" smtClean="0"/>
              <a:t>：利用</a:t>
            </a:r>
            <a:r>
              <a:rPr lang="en-US" altLang="zh-CN" sz="2800" dirty="0" smtClean="0"/>
              <a:t>74138</a:t>
            </a:r>
            <a:r>
              <a:rPr lang="zh-CN" altLang="en-US" sz="2800" dirty="0" smtClean="0"/>
              <a:t>的使能端实现扩展功能，逻辑图如图</a:t>
            </a:r>
            <a:r>
              <a:rPr lang="en-US" altLang="zh-CN" sz="2800" dirty="0" smtClean="0"/>
              <a:t>4.17</a:t>
            </a:r>
            <a:r>
              <a:rPr lang="zh-CN" altLang="en-US" sz="2800" dirty="0" smtClean="0"/>
              <a:t>所示。</a:t>
            </a:r>
            <a:endParaRPr lang="zh-CN" altLang="en-US" sz="2800" dirty="0"/>
          </a:p>
        </p:txBody>
      </p:sp>
      <p:sp>
        <p:nvSpPr>
          <p:cNvPr id="12" name="标题 1"/>
          <p:cNvSpPr txBox="1">
            <a:spLocks/>
          </p:cNvSpPr>
          <p:nvPr/>
        </p:nvSpPr>
        <p:spPr bwMode="auto">
          <a:xfrm>
            <a:off x="1259632" y="116632"/>
            <a:ext cx="7545014"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4.4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译码器（</a:t>
            </a: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Decoder</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pic>
        <p:nvPicPr>
          <p:cNvPr id="491522" name="Picture 2"/>
          <p:cNvPicPr>
            <a:picLocks noChangeAspect="1" noChangeArrowheads="1"/>
          </p:cNvPicPr>
          <p:nvPr/>
        </p:nvPicPr>
        <p:blipFill>
          <a:blip r:embed="rId2" cstate="print"/>
          <a:srcRect/>
          <a:stretch>
            <a:fillRect/>
          </a:stretch>
        </p:blipFill>
        <p:spPr bwMode="auto">
          <a:xfrm>
            <a:off x="2123728" y="2996952"/>
            <a:ext cx="5748846" cy="3528392"/>
          </a:xfrm>
          <a:prstGeom prst="rect">
            <a:avLst/>
          </a:prstGeom>
          <a:noFill/>
          <a:ln w="9525">
            <a:noFill/>
            <a:miter lim="800000"/>
            <a:headEnd/>
            <a:tailEnd/>
          </a:ln>
        </p:spPr>
      </p:pic>
    </p:spTree>
    <p:extLst>
      <p:ext uri="{BB962C8B-B14F-4D97-AF65-F5344CB8AC3E}">
        <p14:creationId xmlns:p14="http://schemas.microsoft.com/office/powerpoint/2010/main" xmlns="" val="4246174151"/>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59632" y="692696"/>
            <a:ext cx="7736855" cy="566936"/>
          </a:xfrm>
        </p:spPr>
        <p:txBody>
          <a:bodyPr/>
          <a:lstStyle/>
          <a:p>
            <a:r>
              <a:rPr lang="en-US" altLang="zh-CN" dirty="0" smtClean="0"/>
              <a:t>4.4.1 </a:t>
            </a:r>
            <a:r>
              <a:rPr lang="zh-CN" altLang="en-US" dirty="0" smtClean="0"/>
              <a:t>二进制</a:t>
            </a:r>
            <a:r>
              <a:rPr lang="zh-CN" altLang="en-US" dirty="0"/>
              <a:t>译码器</a:t>
            </a:r>
          </a:p>
        </p:txBody>
      </p:sp>
      <p:sp>
        <p:nvSpPr>
          <p:cNvPr id="3" name="内容占位符 2"/>
          <p:cNvSpPr>
            <a:spLocks noGrp="1"/>
          </p:cNvSpPr>
          <p:nvPr>
            <p:ph idx="1"/>
          </p:nvPr>
        </p:nvSpPr>
        <p:spPr>
          <a:xfrm>
            <a:off x="467544" y="1556792"/>
            <a:ext cx="5976664" cy="4911128"/>
          </a:xfrm>
        </p:spPr>
        <p:txBody>
          <a:bodyPr/>
          <a:lstStyle/>
          <a:p>
            <a:pPr>
              <a:lnSpc>
                <a:spcPct val="100000"/>
              </a:lnSpc>
              <a:spcBef>
                <a:spcPts val="600"/>
              </a:spcBef>
              <a:buSzPct val="100000"/>
              <a:buFont typeface="Wingdings" pitchFamily="2" charset="2"/>
              <a:buChar char="p"/>
            </a:pPr>
            <a:r>
              <a:rPr lang="zh-CN" altLang="en-US" sz="2800" dirty="0"/>
              <a:t> </a:t>
            </a:r>
            <a:r>
              <a:rPr lang="zh-CN" altLang="en-US" sz="2800" dirty="0" smtClean="0">
                <a:solidFill>
                  <a:srgbClr val="0000CC"/>
                </a:solidFill>
              </a:rPr>
              <a:t>例</a:t>
            </a:r>
            <a:r>
              <a:rPr lang="en-US" altLang="zh-CN" sz="2800" dirty="0" smtClean="0">
                <a:solidFill>
                  <a:srgbClr val="0000CC"/>
                </a:solidFill>
              </a:rPr>
              <a:t>4.7</a:t>
            </a:r>
            <a:r>
              <a:rPr lang="en-US" altLang="zh-CN" sz="2800" dirty="0" smtClean="0">
                <a:solidFill>
                  <a:srgbClr val="FF0000"/>
                </a:solidFill>
              </a:rPr>
              <a:t> </a:t>
            </a:r>
            <a:r>
              <a:rPr lang="zh-CN" altLang="en-US" sz="2800" dirty="0" smtClean="0"/>
              <a:t>用译码器</a:t>
            </a:r>
            <a:r>
              <a:rPr lang="en-US" altLang="zh-CN" sz="2800" dirty="0" smtClean="0"/>
              <a:t>74138</a:t>
            </a:r>
            <a:r>
              <a:rPr lang="zh-CN" altLang="en-US" sz="2800" dirty="0" smtClean="0"/>
              <a:t>实现下列函数</a:t>
            </a:r>
            <a:r>
              <a:rPr lang="en-US" altLang="zh-CN" sz="2800" dirty="0" smtClean="0"/>
              <a:t>    F(A,B,C) = A⊕B⊕C</a:t>
            </a:r>
          </a:p>
          <a:p>
            <a:pPr>
              <a:lnSpc>
                <a:spcPct val="100000"/>
              </a:lnSpc>
              <a:spcBef>
                <a:spcPts val="600"/>
              </a:spcBef>
              <a:buSzPct val="100000"/>
              <a:buNone/>
            </a:pPr>
            <a:r>
              <a:rPr lang="en-US" altLang="zh-CN" sz="2800" dirty="0" smtClean="0"/>
              <a:t>             G(A,B,C) = AB+BC+AC</a:t>
            </a:r>
          </a:p>
          <a:p>
            <a:pPr>
              <a:lnSpc>
                <a:spcPct val="100000"/>
              </a:lnSpc>
              <a:spcBef>
                <a:spcPts val="600"/>
              </a:spcBef>
              <a:buSzPct val="100000"/>
              <a:buFont typeface="Wingdings" pitchFamily="2" charset="2"/>
              <a:buChar char="p"/>
            </a:pPr>
            <a:r>
              <a:rPr lang="en-US" altLang="zh-CN" sz="2800" dirty="0" smtClean="0"/>
              <a:t> </a:t>
            </a:r>
            <a:r>
              <a:rPr lang="zh-CN" altLang="en-US" sz="2800" dirty="0" smtClean="0">
                <a:solidFill>
                  <a:srgbClr val="0000CC"/>
                </a:solidFill>
              </a:rPr>
              <a:t>解</a:t>
            </a:r>
            <a:r>
              <a:rPr lang="zh-CN" altLang="en-US" sz="2800" dirty="0" smtClean="0"/>
              <a:t>：</a:t>
            </a:r>
            <a:r>
              <a:rPr lang="en-US" altLang="zh-CN" sz="2800" dirty="0" smtClean="0"/>
              <a:t> </a:t>
            </a:r>
            <a:r>
              <a:rPr lang="zh-CN" altLang="en-US" sz="2800" dirty="0" smtClean="0"/>
              <a:t>将函数</a:t>
            </a:r>
            <a:r>
              <a:rPr lang="en-US" altLang="zh-CN" sz="2800" dirty="0" smtClean="0"/>
              <a:t>F, G</a:t>
            </a:r>
            <a:r>
              <a:rPr lang="zh-CN" altLang="en-US" sz="2800" dirty="0" smtClean="0"/>
              <a:t>化成最小项之和形式</a:t>
            </a:r>
            <a:endParaRPr lang="en-US" altLang="zh-CN" sz="2800" dirty="0" smtClean="0"/>
          </a:p>
          <a:p>
            <a:pPr>
              <a:lnSpc>
                <a:spcPct val="100000"/>
              </a:lnSpc>
              <a:spcBef>
                <a:spcPts val="600"/>
              </a:spcBef>
              <a:buSzPct val="100000"/>
              <a:buFont typeface="Wingdings" pitchFamily="2" charset="2"/>
              <a:buChar char="p"/>
            </a:pPr>
            <a:endParaRPr lang="en-US" altLang="zh-CN" sz="2800" dirty="0" smtClean="0"/>
          </a:p>
          <a:p>
            <a:pPr>
              <a:lnSpc>
                <a:spcPct val="100000"/>
              </a:lnSpc>
              <a:spcBef>
                <a:spcPts val="600"/>
              </a:spcBef>
              <a:buSzPct val="100000"/>
              <a:buFont typeface="Wingdings" pitchFamily="2" charset="2"/>
              <a:buChar char="p"/>
            </a:pPr>
            <a:endParaRPr lang="en-US" altLang="zh-CN" sz="2800" dirty="0" smtClean="0"/>
          </a:p>
          <a:p>
            <a:pPr>
              <a:lnSpc>
                <a:spcPct val="100000"/>
              </a:lnSpc>
              <a:spcBef>
                <a:spcPts val="600"/>
              </a:spcBef>
              <a:buSzPct val="100000"/>
              <a:buNone/>
            </a:pPr>
            <a:r>
              <a:rPr lang="en-US" altLang="zh-CN" sz="2800" dirty="0" smtClean="0"/>
              <a:t>         </a:t>
            </a:r>
          </a:p>
          <a:p>
            <a:pPr>
              <a:lnSpc>
                <a:spcPct val="100000"/>
              </a:lnSpc>
              <a:spcBef>
                <a:spcPts val="600"/>
              </a:spcBef>
              <a:buSzPct val="100000"/>
              <a:buNone/>
            </a:pPr>
            <a:r>
              <a:rPr lang="en-US" altLang="zh-CN" sz="2800" dirty="0" smtClean="0"/>
              <a:t>        </a:t>
            </a:r>
            <a:r>
              <a:rPr lang="zh-CN" altLang="en-US" sz="2800" dirty="0" smtClean="0"/>
              <a:t>用两个与非门分别组成函数</a:t>
            </a:r>
            <a:r>
              <a:rPr lang="en-US" altLang="zh-CN" sz="2800" dirty="0" smtClean="0"/>
              <a:t>F</a:t>
            </a:r>
            <a:r>
              <a:rPr lang="zh-CN" altLang="en-US" sz="2800" dirty="0" smtClean="0"/>
              <a:t>和</a:t>
            </a:r>
            <a:r>
              <a:rPr lang="en-US" altLang="zh-CN" sz="2800" dirty="0" smtClean="0"/>
              <a:t>G</a:t>
            </a:r>
            <a:r>
              <a:rPr lang="zh-CN" altLang="en-US" sz="2800" dirty="0" smtClean="0"/>
              <a:t>，如图</a:t>
            </a:r>
            <a:r>
              <a:rPr lang="en-US" altLang="zh-CN" sz="2800" dirty="0" smtClean="0"/>
              <a:t>4.18</a:t>
            </a:r>
            <a:r>
              <a:rPr lang="zh-CN" altLang="en-US" sz="2800" dirty="0" smtClean="0"/>
              <a:t>所示。</a:t>
            </a:r>
            <a:endParaRPr lang="zh-CN" altLang="en-US" sz="2800" dirty="0"/>
          </a:p>
        </p:txBody>
      </p:sp>
      <p:sp>
        <p:nvSpPr>
          <p:cNvPr id="12" name="标题 1"/>
          <p:cNvSpPr txBox="1">
            <a:spLocks/>
          </p:cNvSpPr>
          <p:nvPr/>
        </p:nvSpPr>
        <p:spPr bwMode="auto">
          <a:xfrm>
            <a:off x="1259632" y="116632"/>
            <a:ext cx="7545014"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4.4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译码器（</a:t>
            </a: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Decoder</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pic>
        <p:nvPicPr>
          <p:cNvPr id="492547" name="Picture 3"/>
          <p:cNvPicPr>
            <a:picLocks noChangeAspect="1" noChangeArrowheads="1"/>
          </p:cNvPicPr>
          <p:nvPr/>
        </p:nvPicPr>
        <p:blipFill>
          <a:blip r:embed="rId3" cstate="print"/>
          <a:srcRect/>
          <a:stretch>
            <a:fillRect/>
          </a:stretch>
        </p:blipFill>
        <p:spPr bwMode="auto">
          <a:xfrm>
            <a:off x="6444208" y="404664"/>
            <a:ext cx="2430128" cy="2812157"/>
          </a:xfrm>
          <a:prstGeom prst="rect">
            <a:avLst/>
          </a:prstGeom>
          <a:noFill/>
          <a:ln w="9525">
            <a:noFill/>
            <a:miter lim="800000"/>
            <a:headEnd/>
            <a:tailEnd/>
          </a:ln>
        </p:spPr>
      </p:pic>
      <p:graphicFrame>
        <p:nvGraphicFramePr>
          <p:cNvPr id="492548" name="Object 4"/>
          <p:cNvGraphicFramePr>
            <a:graphicFrameLocks noChangeAspect="1"/>
          </p:cNvGraphicFramePr>
          <p:nvPr/>
        </p:nvGraphicFramePr>
        <p:xfrm>
          <a:off x="1835695" y="3501008"/>
          <a:ext cx="5328592" cy="864096"/>
        </p:xfrm>
        <a:graphic>
          <a:graphicData uri="http://schemas.openxmlformats.org/presentationml/2006/ole">
            <p:oleObj spid="_x0000_s492548" r:id="rId4" imgW="2819160" imgH="457200" progId="">
              <p:embed/>
            </p:oleObj>
          </a:graphicData>
        </a:graphic>
      </p:graphicFrame>
      <p:graphicFrame>
        <p:nvGraphicFramePr>
          <p:cNvPr id="492549" name="Object 5"/>
          <p:cNvGraphicFramePr>
            <a:graphicFrameLocks noChangeAspect="1"/>
          </p:cNvGraphicFramePr>
          <p:nvPr/>
        </p:nvGraphicFramePr>
        <p:xfrm>
          <a:off x="1835695" y="4509120"/>
          <a:ext cx="5226581" cy="936104"/>
        </p:xfrm>
        <a:graphic>
          <a:graphicData uri="http://schemas.openxmlformats.org/presentationml/2006/ole">
            <p:oleObj spid="_x0000_s492549" r:id="rId5" imgW="2552400" imgH="457200" progId="">
              <p:embed/>
            </p:oleObj>
          </a:graphicData>
        </a:graphic>
      </p:graphicFrame>
    </p:spTree>
    <p:extLst>
      <p:ext uri="{BB962C8B-B14F-4D97-AF65-F5344CB8AC3E}">
        <p14:creationId xmlns:p14="http://schemas.microsoft.com/office/powerpoint/2010/main" xmlns="" val="4246174151"/>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59632" y="692696"/>
            <a:ext cx="7736855" cy="566936"/>
          </a:xfrm>
        </p:spPr>
        <p:txBody>
          <a:bodyPr/>
          <a:lstStyle/>
          <a:p>
            <a:r>
              <a:rPr lang="en-US" altLang="zh-CN" dirty="0" smtClean="0"/>
              <a:t>4.4.1 </a:t>
            </a:r>
            <a:r>
              <a:rPr lang="zh-CN" altLang="en-US" dirty="0" smtClean="0"/>
              <a:t>二进制</a:t>
            </a:r>
            <a:r>
              <a:rPr lang="zh-CN" altLang="en-US" dirty="0"/>
              <a:t>译码器</a:t>
            </a:r>
          </a:p>
        </p:txBody>
      </p:sp>
      <p:sp>
        <p:nvSpPr>
          <p:cNvPr id="3" name="内容占位符 2"/>
          <p:cNvSpPr>
            <a:spLocks noGrp="1"/>
          </p:cNvSpPr>
          <p:nvPr>
            <p:ph idx="1"/>
          </p:nvPr>
        </p:nvSpPr>
        <p:spPr>
          <a:xfrm>
            <a:off x="467544" y="1556792"/>
            <a:ext cx="8424936" cy="4911128"/>
          </a:xfrm>
        </p:spPr>
        <p:txBody>
          <a:bodyPr/>
          <a:lstStyle/>
          <a:p>
            <a:pPr>
              <a:lnSpc>
                <a:spcPct val="100000"/>
              </a:lnSpc>
              <a:spcBef>
                <a:spcPts val="600"/>
              </a:spcBef>
              <a:buSzPct val="100000"/>
              <a:buFont typeface="Wingdings" pitchFamily="2" charset="2"/>
              <a:buChar char="p"/>
            </a:pPr>
            <a:r>
              <a:rPr lang="zh-CN" altLang="en-US" sz="2800" dirty="0"/>
              <a:t> </a:t>
            </a:r>
            <a:r>
              <a:rPr lang="zh-CN" altLang="en-US" sz="2800" dirty="0" smtClean="0">
                <a:solidFill>
                  <a:srgbClr val="0000CC"/>
                </a:solidFill>
              </a:rPr>
              <a:t>例</a:t>
            </a:r>
            <a:r>
              <a:rPr lang="en-US" altLang="zh-CN" sz="2800" dirty="0" smtClean="0">
                <a:solidFill>
                  <a:srgbClr val="0000CC"/>
                </a:solidFill>
              </a:rPr>
              <a:t>4.8 </a:t>
            </a:r>
            <a:r>
              <a:rPr lang="zh-CN" altLang="en-US" sz="2800" dirty="0" smtClean="0"/>
              <a:t>用译码器</a:t>
            </a:r>
            <a:r>
              <a:rPr lang="en-US" altLang="zh-CN" sz="2800" dirty="0" smtClean="0"/>
              <a:t>74138</a:t>
            </a:r>
            <a:r>
              <a:rPr lang="zh-CN" altLang="en-US" sz="2800" dirty="0" smtClean="0"/>
              <a:t>设计一个</a:t>
            </a:r>
            <a:r>
              <a:rPr lang="en-US" altLang="zh-CN" sz="2800" dirty="0" smtClean="0"/>
              <a:t>1</a:t>
            </a:r>
            <a:r>
              <a:rPr lang="zh-CN" altLang="en-US" sz="2800" dirty="0" smtClean="0"/>
              <a:t>线</a:t>
            </a:r>
            <a:r>
              <a:rPr lang="en-US" altLang="zh-CN" sz="2800" dirty="0" smtClean="0"/>
              <a:t>-8</a:t>
            </a:r>
            <a:r>
              <a:rPr lang="zh-CN" altLang="en-US" sz="2800" dirty="0" smtClean="0"/>
              <a:t>线数据分配器</a:t>
            </a:r>
            <a:r>
              <a:rPr lang="en-US" altLang="zh-CN" sz="2800" dirty="0" smtClean="0"/>
              <a:t>——</a:t>
            </a:r>
            <a:r>
              <a:rPr lang="zh-CN" altLang="en-US" sz="2800" dirty="0" smtClean="0"/>
              <a:t>将</a:t>
            </a:r>
            <a:r>
              <a:rPr lang="en-US" altLang="zh-CN" sz="2800" dirty="0" smtClean="0"/>
              <a:t>1</a:t>
            </a:r>
            <a:r>
              <a:rPr lang="zh-CN" altLang="en-US" sz="2800" dirty="0" smtClean="0"/>
              <a:t>路输入数据根据地址选择码分配给</a:t>
            </a:r>
            <a:r>
              <a:rPr lang="en-US" altLang="zh-CN" sz="2800" dirty="0" smtClean="0"/>
              <a:t>8</a:t>
            </a:r>
            <a:r>
              <a:rPr lang="zh-CN" altLang="en-US" sz="2800" dirty="0" smtClean="0"/>
              <a:t>路输出数据中的某一路输出。</a:t>
            </a:r>
            <a:endParaRPr lang="en-US" altLang="zh-CN" sz="2800" dirty="0" smtClean="0"/>
          </a:p>
          <a:p>
            <a:pPr>
              <a:lnSpc>
                <a:spcPct val="100000"/>
              </a:lnSpc>
              <a:spcBef>
                <a:spcPts val="600"/>
              </a:spcBef>
              <a:buSzPct val="100000"/>
              <a:buFont typeface="Wingdings" pitchFamily="2" charset="2"/>
              <a:buChar char="p"/>
            </a:pPr>
            <a:r>
              <a:rPr lang="en-US" altLang="zh-CN" sz="2800" dirty="0" smtClean="0"/>
              <a:t> </a:t>
            </a:r>
            <a:r>
              <a:rPr lang="zh-CN" altLang="en-US" sz="2800" dirty="0" smtClean="0">
                <a:solidFill>
                  <a:srgbClr val="0000CC"/>
                </a:solidFill>
              </a:rPr>
              <a:t>解</a:t>
            </a:r>
            <a:r>
              <a:rPr lang="zh-CN" altLang="en-US" sz="2800" dirty="0" smtClean="0"/>
              <a:t>：利用</a:t>
            </a:r>
            <a:r>
              <a:rPr lang="en-US" altLang="zh-CN" sz="2800" dirty="0" smtClean="0"/>
              <a:t>74138</a:t>
            </a:r>
            <a:r>
              <a:rPr lang="zh-CN" altLang="en-US" sz="2800" dirty="0" smtClean="0"/>
              <a:t>的</a:t>
            </a:r>
            <a:r>
              <a:rPr lang="en-US" altLang="zh-CN" sz="2800" dirty="0" smtClean="0"/>
              <a:t>1</a:t>
            </a:r>
            <a:r>
              <a:rPr lang="zh-CN" altLang="en-US" sz="2800" dirty="0" smtClean="0"/>
              <a:t>个使能端做数据输入，输出为</a:t>
            </a:r>
            <a:r>
              <a:rPr lang="en-US" altLang="zh-CN" sz="2800" dirty="0" smtClean="0"/>
              <a:t>8</a:t>
            </a:r>
            <a:r>
              <a:rPr lang="zh-CN" altLang="en-US" sz="2800" dirty="0" smtClean="0"/>
              <a:t>个译码器输出端，由地址信号选择某一根输出线。</a:t>
            </a:r>
            <a:endParaRPr lang="zh-CN" altLang="en-US" sz="2800" dirty="0"/>
          </a:p>
        </p:txBody>
      </p:sp>
      <p:sp>
        <p:nvSpPr>
          <p:cNvPr id="12" name="标题 1"/>
          <p:cNvSpPr txBox="1">
            <a:spLocks/>
          </p:cNvSpPr>
          <p:nvPr/>
        </p:nvSpPr>
        <p:spPr bwMode="auto">
          <a:xfrm>
            <a:off x="1259632" y="116632"/>
            <a:ext cx="7545014"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4.4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译码器（</a:t>
            </a: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Decoder</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pic>
        <p:nvPicPr>
          <p:cNvPr id="493571" name="Picture 3"/>
          <p:cNvPicPr>
            <a:picLocks noChangeAspect="1" noChangeArrowheads="1"/>
          </p:cNvPicPr>
          <p:nvPr/>
        </p:nvPicPr>
        <p:blipFill>
          <a:blip r:embed="rId2" cstate="print"/>
          <a:srcRect/>
          <a:stretch>
            <a:fillRect/>
          </a:stretch>
        </p:blipFill>
        <p:spPr bwMode="auto">
          <a:xfrm>
            <a:off x="1115616" y="4005064"/>
            <a:ext cx="3312368" cy="2610099"/>
          </a:xfrm>
          <a:prstGeom prst="rect">
            <a:avLst/>
          </a:prstGeom>
          <a:noFill/>
          <a:ln w="9525">
            <a:noFill/>
            <a:miter lim="800000"/>
            <a:headEnd/>
            <a:tailEnd/>
          </a:ln>
        </p:spPr>
      </p:pic>
      <p:pic>
        <p:nvPicPr>
          <p:cNvPr id="493572" name="Picture 4"/>
          <p:cNvPicPr>
            <a:picLocks noChangeAspect="1" noChangeArrowheads="1"/>
          </p:cNvPicPr>
          <p:nvPr/>
        </p:nvPicPr>
        <p:blipFill>
          <a:blip r:embed="rId3" cstate="print"/>
          <a:srcRect/>
          <a:stretch>
            <a:fillRect/>
          </a:stretch>
        </p:blipFill>
        <p:spPr bwMode="auto">
          <a:xfrm>
            <a:off x="5148064" y="3861048"/>
            <a:ext cx="2448272" cy="2849282"/>
          </a:xfrm>
          <a:prstGeom prst="rect">
            <a:avLst/>
          </a:prstGeom>
          <a:noFill/>
          <a:ln w="9525">
            <a:noFill/>
            <a:miter lim="800000"/>
            <a:headEnd/>
            <a:tailEnd/>
          </a:ln>
        </p:spPr>
      </p:pic>
    </p:spTree>
    <p:extLst>
      <p:ext uri="{BB962C8B-B14F-4D97-AF65-F5344CB8AC3E}">
        <p14:creationId xmlns:p14="http://schemas.microsoft.com/office/powerpoint/2010/main" xmlns="" val="4246174151"/>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59632" y="692696"/>
            <a:ext cx="7736855" cy="566936"/>
          </a:xfrm>
        </p:spPr>
        <p:txBody>
          <a:bodyPr/>
          <a:lstStyle/>
          <a:p>
            <a:r>
              <a:rPr lang="en-US" altLang="zh-CN" dirty="0" smtClean="0"/>
              <a:t>4.4.1 </a:t>
            </a:r>
            <a:r>
              <a:rPr lang="zh-CN" altLang="en-US" dirty="0" smtClean="0"/>
              <a:t>二进制</a:t>
            </a:r>
            <a:r>
              <a:rPr lang="zh-CN" altLang="en-US" dirty="0"/>
              <a:t>译码器</a:t>
            </a:r>
          </a:p>
        </p:txBody>
      </p:sp>
      <p:sp>
        <p:nvSpPr>
          <p:cNvPr id="3" name="内容占位符 2"/>
          <p:cNvSpPr>
            <a:spLocks noGrp="1"/>
          </p:cNvSpPr>
          <p:nvPr>
            <p:ph idx="1"/>
          </p:nvPr>
        </p:nvSpPr>
        <p:spPr>
          <a:xfrm>
            <a:off x="467544" y="2564904"/>
            <a:ext cx="8352928" cy="3759000"/>
          </a:xfrm>
        </p:spPr>
        <p:txBody>
          <a:bodyPr/>
          <a:lstStyle/>
          <a:p>
            <a:pPr>
              <a:lnSpc>
                <a:spcPct val="100000"/>
              </a:lnSpc>
              <a:spcBef>
                <a:spcPts val="600"/>
              </a:spcBef>
              <a:buSzPct val="100000"/>
              <a:buFont typeface="Wingdings" pitchFamily="2" charset="2"/>
              <a:buChar char="p"/>
            </a:pPr>
            <a:r>
              <a:rPr lang="zh-CN" altLang="en-US" sz="2800" dirty="0"/>
              <a:t> </a:t>
            </a:r>
            <a:r>
              <a:rPr lang="zh-CN" altLang="en-US" sz="2800" dirty="0" smtClean="0">
                <a:solidFill>
                  <a:srgbClr val="0000CC"/>
                </a:solidFill>
              </a:rPr>
              <a:t>例</a:t>
            </a:r>
            <a:r>
              <a:rPr lang="en-US" altLang="zh-CN" sz="2800" dirty="0" smtClean="0">
                <a:solidFill>
                  <a:srgbClr val="0000CC"/>
                </a:solidFill>
              </a:rPr>
              <a:t>4.9</a:t>
            </a:r>
            <a:r>
              <a:rPr lang="en-US" altLang="zh-CN" sz="2800" dirty="0" smtClean="0">
                <a:solidFill>
                  <a:srgbClr val="FF0000"/>
                </a:solidFill>
              </a:rPr>
              <a:t> </a:t>
            </a:r>
            <a:r>
              <a:rPr lang="zh-CN" altLang="en-US" sz="2800" dirty="0" smtClean="0"/>
              <a:t>二进制译码器的实际应用：计算机外围设备的端口寻址。</a:t>
            </a:r>
            <a:endParaRPr lang="en-US" altLang="zh-CN" sz="2800" dirty="0" smtClean="0"/>
          </a:p>
          <a:p>
            <a:pPr lvl="1">
              <a:lnSpc>
                <a:spcPct val="100000"/>
              </a:lnSpc>
              <a:spcBef>
                <a:spcPts val="600"/>
              </a:spcBef>
              <a:buSzPct val="100000"/>
            </a:pPr>
            <a:r>
              <a:rPr lang="zh-CN" altLang="en-US" sz="2400" dirty="0" smtClean="0"/>
              <a:t>在实际的计算机系统中，计算机通过输入输出端口（</a:t>
            </a:r>
            <a:r>
              <a:rPr lang="en-US" altLang="zh-CN" sz="2400" dirty="0" smtClean="0"/>
              <a:t>I/O ports</a:t>
            </a:r>
            <a:r>
              <a:rPr lang="zh-CN" altLang="en-US" sz="2400" dirty="0" smtClean="0"/>
              <a:t>）同许多外围设备连接。</a:t>
            </a:r>
            <a:endParaRPr lang="en-US" altLang="zh-CN" sz="2400" dirty="0" smtClean="0"/>
          </a:p>
          <a:p>
            <a:pPr lvl="1">
              <a:lnSpc>
                <a:spcPct val="100000"/>
              </a:lnSpc>
              <a:spcBef>
                <a:spcPts val="600"/>
              </a:spcBef>
              <a:buSzPct val="100000"/>
            </a:pPr>
            <a:r>
              <a:rPr lang="zh-CN" altLang="en-US" sz="2400" dirty="0" smtClean="0"/>
              <a:t>计算机的控制及处理器根据实际需要，发出指令，打开相应端口的过程就是端口寻址。如图</a:t>
            </a:r>
            <a:r>
              <a:rPr lang="en-US" altLang="zh-CN" sz="2400" dirty="0" smtClean="0"/>
              <a:t>4.20</a:t>
            </a:r>
            <a:r>
              <a:rPr lang="zh-CN" altLang="en-US" sz="2400" dirty="0" smtClean="0"/>
              <a:t>所示。</a:t>
            </a:r>
            <a:endParaRPr lang="en-US" altLang="zh-CN" sz="2400" dirty="0" smtClean="0"/>
          </a:p>
          <a:p>
            <a:pPr lvl="1">
              <a:lnSpc>
                <a:spcPct val="100000"/>
              </a:lnSpc>
              <a:spcBef>
                <a:spcPts val="600"/>
              </a:spcBef>
              <a:buSzPct val="100000"/>
            </a:pPr>
            <a:r>
              <a:rPr lang="zh-CN" altLang="en-US" sz="2400" dirty="0" smtClean="0"/>
              <a:t>每一个</a:t>
            </a:r>
            <a:r>
              <a:rPr lang="en-US" altLang="zh-CN" sz="2400" dirty="0" smtClean="0"/>
              <a:t>I/O</a:t>
            </a:r>
            <a:r>
              <a:rPr lang="zh-CN" altLang="en-US" sz="2400" dirty="0" smtClean="0"/>
              <a:t>端口都有与之唯一对应的编号，即地址。译码器用来翻译该编号，从而将端口打开。</a:t>
            </a:r>
            <a:endParaRPr lang="en-US" altLang="zh-CN" sz="2400" dirty="0" smtClean="0"/>
          </a:p>
          <a:p>
            <a:pPr lvl="1">
              <a:lnSpc>
                <a:spcPct val="100000"/>
              </a:lnSpc>
              <a:spcBef>
                <a:spcPts val="600"/>
              </a:spcBef>
              <a:buSzPct val="100000"/>
            </a:pPr>
            <a:r>
              <a:rPr lang="zh-CN" altLang="en-US" sz="2400" dirty="0" smtClean="0"/>
              <a:t>计算机控制器、处理器同外围设备之间通过总线进行数据传输。</a:t>
            </a:r>
            <a:endParaRPr lang="zh-CN" altLang="en-US" sz="2800" dirty="0"/>
          </a:p>
        </p:txBody>
      </p:sp>
      <p:sp>
        <p:nvSpPr>
          <p:cNvPr id="12" name="标题 1"/>
          <p:cNvSpPr txBox="1">
            <a:spLocks/>
          </p:cNvSpPr>
          <p:nvPr/>
        </p:nvSpPr>
        <p:spPr bwMode="auto">
          <a:xfrm>
            <a:off x="1259632" y="116632"/>
            <a:ext cx="7545014"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4.4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译码器（</a:t>
            </a: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Decoder</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pic>
        <p:nvPicPr>
          <p:cNvPr id="494594" name="Picture 2"/>
          <p:cNvPicPr>
            <a:picLocks noChangeAspect="1" noChangeArrowheads="1"/>
          </p:cNvPicPr>
          <p:nvPr/>
        </p:nvPicPr>
        <p:blipFill>
          <a:blip r:embed="rId2" cstate="print"/>
          <a:srcRect/>
          <a:stretch>
            <a:fillRect/>
          </a:stretch>
        </p:blipFill>
        <p:spPr bwMode="auto">
          <a:xfrm>
            <a:off x="5559324" y="0"/>
            <a:ext cx="3584675" cy="2492896"/>
          </a:xfrm>
          <a:prstGeom prst="rect">
            <a:avLst/>
          </a:prstGeom>
          <a:noFill/>
          <a:ln w="9525">
            <a:noFill/>
            <a:miter lim="800000"/>
            <a:headEnd/>
            <a:tailEnd/>
          </a:ln>
        </p:spPr>
      </p:pic>
    </p:spTree>
    <p:extLst>
      <p:ext uri="{BB962C8B-B14F-4D97-AF65-F5344CB8AC3E}">
        <p14:creationId xmlns:p14="http://schemas.microsoft.com/office/powerpoint/2010/main" xmlns="" val="4246174151"/>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92696"/>
            <a:ext cx="7617022" cy="566936"/>
          </a:xfrm>
        </p:spPr>
        <p:txBody>
          <a:bodyPr/>
          <a:lstStyle/>
          <a:p>
            <a:r>
              <a:rPr lang="en-US" altLang="zh-CN" dirty="0" smtClean="0"/>
              <a:t>4.4.1 </a:t>
            </a:r>
            <a:r>
              <a:rPr lang="zh-CN" altLang="en-US" dirty="0" smtClean="0"/>
              <a:t>二进制</a:t>
            </a:r>
            <a:r>
              <a:rPr lang="zh-CN" altLang="en-US" dirty="0"/>
              <a:t>译码器</a:t>
            </a:r>
          </a:p>
        </p:txBody>
      </p:sp>
      <p:sp>
        <p:nvSpPr>
          <p:cNvPr id="3" name="内容占位符 2"/>
          <p:cNvSpPr>
            <a:spLocks noGrp="1"/>
          </p:cNvSpPr>
          <p:nvPr>
            <p:ph idx="1"/>
          </p:nvPr>
        </p:nvSpPr>
        <p:spPr>
          <a:xfrm>
            <a:off x="413061" y="1340768"/>
            <a:ext cx="7810698" cy="4911128"/>
          </a:xfrm>
        </p:spPr>
        <p:txBody>
          <a:bodyPr/>
          <a:lstStyle/>
          <a:p>
            <a:pPr lvl="1">
              <a:buSzPct val="100000"/>
            </a:pPr>
            <a:r>
              <a:rPr lang="zh-CN" altLang="en-US" sz="2400" dirty="0"/>
              <a:t>二进制译码器的</a:t>
            </a:r>
            <a:r>
              <a:rPr lang="en-US" altLang="zh-CN" sz="2400" dirty="0"/>
              <a:t>Verilog-HDL</a:t>
            </a:r>
            <a:r>
              <a:rPr lang="zh-CN" altLang="en-US" sz="2400" dirty="0"/>
              <a:t>设计</a:t>
            </a:r>
          </a:p>
          <a:p>
            <a:pPr marL="457200" lvl="1" indent="0">
              <a:buNone/>
            </a:pPr>
            <a:r>
              <a:rPr lang="en-US" altLang="zh-CN" dirty="0"/>
              <a:t>// 3</a:t>
            </a:r>
            <a:r>
              <a:rPr lang="zh-CN" altLang="en-US" dirty="0"/>
              <a:t>线</a:t>
            </a:r>
            <a:r>
              <a:rPr lang="en-US" altLang="zh-CN" dirty="0"/>
              <a:t>- 8</a:t>
            </a:r>
            <a:r>
              <a:rPr lang="zh-CN" altLang="en-US" dirty="0"/>
              <a:t>线译码器</a:t>
            </a:r>
            <a:r>
              <a:rPr lang="zh-CN" altLang="en-US" dirty="0" smtClean="0"/>
              <a:t>设计</a:t>
            </a:r>
            <a:endParaRPr lang="zh-CN" altLang="en-US" dirty="0"/>
          </a:p>
        </p:txBody>
      </p:sp>
      <p:sp>
        <p:nvSpPr>
          <p:cNvPr id="4" name="矩形 3"/>
          <p:cNvSpPr/>
          <p:nvPr/>
        </p:nvSpPr>
        <p:spPr>
          <a:xfrm>
            <a:off x="4211960" y="1759448"/>
            <a:ext cx="4572000" cy="5078313"/>
          </a:xfrm>
          <a:prstGeom prst="rect">
            <a:avLst/>
          </a:prstGeom>
          <a:ln>
            <a:solidFill>
              <a:schemeClr val="accent1"/>
            </a:solidFill>
          </a:ln>
        </p:spPr>
        <p:txBody>
          <a:bodyPr>
            <a:spAutoFit/>
          </a:bodyPr>
          <a:lstStyle/>
          <a:p>
            <a:r>
              <a:rPr lang="en-US" altLang="zh-CN" b="1" dirty="0"/>
              <a:t>module decode3_8(</a:t>
            </a:r>
            <a:r>
              <a:rPr lang="en-US" altLang="zh-CN" b="1" dirty="0" err="1"/>
              <a:t>out,in</a:t>
            </a:r>
            <a:r>
              <a:rPr lang="en-US" altLang="zh-CN" b="1" dirty="0"/>
              <a:t>);</a:t>
            </a:r>
          </a:p>
          <a:p>
            <a:r>
              <a:rPr lang="en-US" altLang="zh-CN" b="1" dirty="0">
                <a:solidFill>
                  <a:srgbClr val="0000CC"/>
                </a:solidFill>
              </a:rPr>
              <a:t>output[7:0] out;</a:t>
            </a:r>
          </a:p>
          <a:p>
            <a:r>
              <a:rPr lang="en-US" altLang="zh-CN" b="1" dirty="0">
                <a:solidFill>
                  <a:srgbClr val="0000CC"/>
                </a:solidFill>
              </a:rPr>
              <a:t>input[2:0] in;</a:t>
            </a:r>
          </a:p>
          <a:p>
            <a:r>
              <a:rPr lang="en-US" altLang="zh-CN" b="1" dirty="0" err="1">
                <a:solidFill>
                  <a:srgbClr val="0000CC"/>
                </a:solidFill>
              </a:rPr>
              <a:t>reg</a:t>
            </a:r>
            <a:r>
              <a:rPr lang="en-US" altLang="zh-CN" b="1" dirty="0">
                <a:solidFill>
                  <a:srgbClr val="0000CC"/>
                </a:solidFill>
              </a:rPr>
              <a:t>[7:0] out;</a:t>
            </a:r>
          </a:p>
          <a:p>
            <a:r>
              <a:rPr lang="en-US" altLang="zh-CN" b="1" dirty="0">
                <a:solidFill>
                  <a:srgbClr val="0000CC"/>
                </a:solidFill>
              </a:rPr>
              <a:t>always @(in)</a:t>
            </a:r>
          </a:p>
          <a:p>
            <a:r>
              <a:rPr lang="en-US" altLang="zh-CN" b="1" dirty="0"/>
              <a:t>begin</a:t>
            </a:r>
          </a:p>
          <a:p>
            <a:r>
              <a:rPr lang="en-US" altLang="zh-CN" b="1" dirty="0"/>
              <a:t>case(in)</a:t>
            </a:r>
          </a:p>
          <a:p>
            <a:r>
              <a:rPr lang="en-US" altLang="zh-CN" b="1" dirty="0">
                <a:solidFill>
                  <a:srgbClr val="0000CC"/>
                </a:solidFill>
              </a:rPr>
              <a:t>3'd0: out=8'b11111110;</a:t>
            </a:r>
          </a:p>
          <a:p>
            <a:r>
              <a:rPr lang="en-US" altLang="zh-CN" b="1" dirty="0">
                <a:solidFill>
                  <a:srgbClr val="0000CC"/>
                </a:solidFill>
              </a:rPr>
              <a:t>3'd1: out=8'b11111101;</a:t>
            </a:r>
          </a:p>
          <a:p>
            <a:r>
              <a:rPr lang="en-US" altLang="zh-CN" b="1" dirty="0">
                <a:solidFill>
                  <a:srgbClr val="0000CC"/>
                </a:solidFill>
              </a:rPr>
              <a:t>3'd2: out=8'b11111011;</a:t>
            </a:r>
          </a:p>
          <a:p>
            <a:r>
              <a:rPr lang="en-US" altLang="zh-CN" b="1" dirty="0">
                <a:solidFill>
                  <a:srgbClr val="0000CC"/>
                </a:solidFill>
              </a:rPr>
              <a:t>3'd3: out=8'b11110111;</a:t>
            </a:r>
          </a:p>
          <a:p>
            <a:r>
              <a:rPr lang="en-US" altLang="zh-CN" b="1" dirty="0">
                <a:solidFill>
                  <a:srgbClr val="0000CC"/>
                </a:solidFill>
              </a:rPr>
              <a:t>3'd4: out=8'b11101111;</a:t>
            </a:r>
          </a:p>
          <a:p>
            <a:r>
              <a:rPr lang="en-US" altLang="zh-CN" b="1" dirty="0">
                <a:solidFill>
                  <a:srgbClr val="0000CC"/>
                </a:solidFill>
              </a:rPr>
              <a:t>3'd5: out=8'b11011111;</a:t>
            </a:r>
          </a:p>
          <a:p>
            <a:r>
              <a:rPr lang="en-US" altLang="zh-CN" b="1" dirty="0">
                <a:solidFill>
                  <a:srgbClr val="0000CC"/>
                </a:solidFill>
              </a:rPr>
              <a:t>3'd6: out=8'b10111111;</a:t>
            </a:r>
          </a:p>
          <a:p>
            <a:r>
              <a:rPr lang="en-US" altLang="zh-CN" b="1" dirty="0">
                <a:solidFill>
                  <a:srgbClr val="0000CC"/>
                </a:solidFill>
              </a:rPr>
              <a:t>3'd7: out=8'b01111111;</a:t>
            </a:r>
          </a:p>
          <a:p>
            <a:r>
              <a:rPr lang="en-US" altLang="zh-CN" b="1" dirty="0" err="1"/>
              <a:t>endcase</a:t>
            </a:r>
            <a:endParaRPr lang="en-US" altLang="zh-CN" b="1" dirty="0"/>
          </a:p>
          <a:p>
            <a:r>
              <a:rPr lang="en-US" altLang="zh-CN" b="1" dirty="0"/>
              <a:t>end</a:t>
            </a:r>
          </a:p>
          <a:p>
            <a:r>
              <a:rPr lang="en-US" altLang="zh-CN" b="1" dirty="0" err="1"/>
              <a:t>endmodule</a:t>
            </a:r>
            <a:endParaRPr lang="zh-CN" altLang="en-US" b="1" dirty="0"/>
          </a:p>
        </p:txBody>
      </p:sp>
    </p:spTree>
    <p:extLst>
      <p:ext uri="{BB962C8B-B14F-4D97-AF65-F5344CB8AC3E}">
        <p14:creationId xmlns:p14="http://schemas.microsoft.com/office/powerpoint/2010/main" xmlns="" val="1253163183"/>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92696"/>
            <a:ext cx="7545014" cy="566936"/>
          </a:xfrm>
        </p:spPr>
        <p:txBody>
          <a:bodyPr/>
          <a:lstStyle/>
          <a:p>
            <a:r>
              <a:rPr lang="en-US" altLang="zh-CN" dirty="0" smtClean="0"/>
              <a:t>4.4.2 </a:t>
            </a:r>
            <a:r>
              <a:rPr lang="zh-CN" altLang="en-US" dirty="0" smtClean="0"/>
              <a:t>码制转换译码器</a:t>
            </a:r>
            <a:endParaRPr lang="zh-CN" altLang="en-US" dirty="0"/>
          </a:p>
        </p:txBody>
      </p:sp>
      <p:sp>
        <p:nvSpPr>
          <p:cNvPr id="3" name="内容占位符 2"/>
          <p:cNvSpPr>
            <a:spLocks noGrp="1"/>
          </p:cNvSpPr>
          <p:nvPr>
            <p:ph idx="1"/>
          </p:nvPr>
        </p:nvSpPr>
        <p:spPr>
          <a:xfrm>
            <a:off x="467544" y="1542208"/>
            <a:ext cx="8136904" cy="4911128"/>
          </a:xfrm>
        </p:spPr>
        <p:txBody>
          <a:bodyPr/>
          <a:lstStyle/>
          <a:p>
            <a:pPr>
              <a:lnSpc>
                <a:spcPct val="100000"/>
              </a:lnSpc>
              <a:spcBef>
                <a:spcPts val="600"/>
              </a:spcBef>
              <a:buSzPct val="100000"/>
              <a:buFont typeface="Wingdings" pitchFamily="2" charset="2"/>
              <a:buChar char="p"/>
            </a:pPr>
            <a:r>
              <a:rPr lang="zh-CN" altLang="en-US" sz="2800" dirty="0" smtClean="0">
                <a:solidFill>
                  <a:srgbClr val="FF0000"/>
                </a:solidFill>
              </a:rPr>
              <a:t>二</a:t>
            </a:r>
            <a:r>
              <a:rPr lang="en-US" altLang="zh-CN" sz="2800" dirty="0" smtClean="0">
                <a:solidFill>
                  <a:srgbClr val="FF0000"/>
                </a:solidFill>
              </a:rPr>
              <a:t>-</a:t>
            </a:r>
            <a:r>
              <a:rPr lang="zh-CN" altLang="en-US" sz="2800" dirty="0" smtClean="0">
                <a:solidFill>
                  <a:srgbClr val="FF0000"/>
                </a:solidFill>
              </a:rPr>
              <a:t>十进制译码器</a:t>
            </a:r>
            <a:endParaRPr lang="zh-CN" altLang="en-US" sz="2800" dirty="0">
              <a:solidFill>
                <a:srgbClr val="FF0000"/>
              </a:solidFill>
            </a:endParaRPr>
          </a:p>
          <a:p>
            <a:pPr lvl="1">
              <a:lnSpc>
                <a:spcPct val="100000"/>
              </a:lnSpc>
              <a:spcBef>
                <a:spcPts val="600"/>
              </a:spcBef>
              <a:buSzPct val="100000"/>
            </a:pPr>
            <a:r>
              <a:rPr lang="zh-CN" altLang="en-US" sz="2400" dirty="0" smtClean="0"/>
              <a:t>逻辑</a:t>
            </a:r>
            <a:r>
              <a:rPr lang="zh-CN" altLang="en-US" sz="2400" dirty="0"/>
              <a:t>功能：将输入的</a:t>
            </a:r>
            <a:r>
              <a:rPr lang="en-US" altLang="zh-CN" sz="2400" dirty="0">
                <a:solidFill>
                  <a:srgbClr val="0000CC"/>
                </a:solidFill>
              </a:rPr>
              <a:t>BCD</a:t>
            </a:r>
            <a:r>
              <a:rPr lang="zh-CN" altLang="en-US" sz="2400" dirty="0">
                <a:solidFill>
                  <a:srgbClr val="0000CC"/>
                </a:solidFill>
              </a:rPr>
              <a:t>码的</a:t>
            </a:r>
            <a:r>
              <a:rPr lang="en-US" altLang="zh-CN" sz="2400" dirty="0">
                <a:solidFill>
                  <a:srgbClr val="0000CC"/>
                </a:solidFill>
              </a:rPr>
              <a:t>10</a:t>
            </a:r>
            <a:r>
              <a:rPr lang="zh-CN" altLang="en-US" sz="2400" dirty="0">
                <a:solidFill>
                  <a:srgbClr val="0000CC"/>
                </a:solidFill>
              </a:rPr>
              <a:t>个代码译成</a:t>
            </a:r>
            <a:r>
              <a:rPr lang="en-US" altLang="zh-CN" sz="2400" dirty="0">
                <a:solidFill>
                  <a:srgbClr val="0000CC"/>
                </a:solidFill>
              </a:rPr>
              <a:t>10</a:t>
            </a:r>
            <a:r>
              <a:rPr lang="zh-CN" altLang="en-US" sz="2400" dirty="0">
                <a:solidFill>
                  <a:srgbClr val="0000CC"/>
                </a:solidFill>
              </a:rPr>
              <a:t>个高、低电平输出信号</a:t>
            </a:r>
            <a:r>
              <a:rPr lang="zh-CN" altLang="en-US" sz="2400" dirty="0"/>
              <a:t>。它属于码制变换译码器中的一种。</a:t>
            </a:r>
          </a:p>
          <a:p>
            <a:pPr>
              <a:lnSpc>
                <a:spcPct val="100000"/>
              </a:lnSpc>
              <a:spcBef>
                <a:spcPts val="600"/>
              </a:spcBef>
              <a:buSzPct val="100000"/>
              <a:buFont typeface="Wingdings" pitchFamily="2" charset="2"/>
              <a:buChar char="p"/>
            </a:pPr>
            <a:r>
              <a:rPr lang="en-US" altLang="zh-CN" sz="2800" dirty="0" smtClean="0"/>
              <a:t>4</a:t>
            </a:r>
            <a:r>
              <a:rPr lang="zh-CN" altLang="en-US" sz="2800" dirty="0"/>
              <a:t>线－</a:t>
            </a:r>
            <a:r>
              <a:rPr lang="en-US" altLang="zh-CN" sz="2800" dirty="0"/>
              <a:t>10</a:t>
            </a:r>
            <a:r>
              <a:rPr lang="zh-CN" altLang="en-US" sz="2800" dirty="0"/>
              <a:t>线译码器</a:t>
            </a:r>
            <a:r>
              <a:rPr lang="en-US" altLang="zh-CN" sz="2800" dirty="0"/>
              <a:t>74LS42</a:t>
            </a:r>
            <a:r>
              <a:rPr lang="zh-CN" altLang="en-US" sz="2800" dirty="0"/>
              <a:t>是二－十进制译码器的一个典型例子，它将所输入的</a:t>
            </a:r>
            <a:r>
              <a:rPr lang="en-US" altLang="zh-CN" sz="2800" dirty="0"/>
              <a:t>8421</a:t>
            </a:r>
            <a:r>
              <a:rPr lang="zh-CN" altLang="en-US" sz="2800" dirty="0"/>
              <a:t>－</a:t>
            </a:r>
            <a:r>
              <a:rPr lang="en-US" altLang="zh-CN" sz="2800" dirty="0"/>
              <a:t>BCD</a:t>
            </a:r>
            <a:r>
              <a:rPr lang="zh-CN" altLang="en-US" sz="2800" dirty="0"/>
              <a:t>码二进制代码译成十进制代码</a:t>
            </a:r>
            <a:r>
              <a:rPr lang="en-US" altLang="zh-CN" sz="2800" dirty="0"/>
              <a:t>0</a:t>
            </a:r>
            <a:r>
              <a:rPr lang="zh-CN" altLang="en-US" sz="2800" dirty="0"/>
              <a:t>～</a:t>
            </a:r>
            <a:r>
              <a:rPr lang="en-US" altLang="zh-CN" sz="2800" dirty="0"/>
              <a:t>9</a:t>
            </a:r>
            <a:r>
              <a:rPr lang="zh-CN" altLang="en-US" sz="2800" dirty="0"/>
              <a:t>。</a:t>
            </a:r>
          </a:p>
          <a:p>
            <a:endParaRPr lang="zh-CN" altLang="en-US" dirty="0"/>
          </a:p>
        </p:txBody>
      </p:sp>
    </p:spTree>
    <p:extLst>
      <p:ext uri="{BB962C8B-B14F-4D97-AF65-F5344CB8AC3E}">
        <p14:creationId xmlns:p14="http://schemas.microsoft.com/office/powerpoint/2010/main" xmlns="" val="2972411609"/>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92696"/>
            <a:ext cx="7617022" cy="566936"/>
          </a:xfrm>
        </p:spPr>
        <p:txBody>
          <a:bodyPr/>
          <a:lstStyle/>
          <a:p>
            <a:r>
              <a:rPr lang="zh-CN" altLang="en-US" dirty="0" smtClean="0"/>
              <a:t>二</a:t>
            </a:r>
            <a:r>
              <a:rPr lang="zh-CN" altLang="en-US" dirty="0"/>
              <a:t>－十进制译码器</a:t>
            </a:r>
          </a:p>
        </p:txBody>
      </p:sp>
      <p:sp>
        <p:nvSpPr>
          <p:cNvPr id="3" name="内容占位符 2"/>
          <p:cNvSpPr>
            <a:spLocks noGrp="1"/>
          </p:cNvSpPr>
          <p:nvPr>
            <p:ph idx="1"/>
          </p:nvPr>
        </p:nvSpPr>
        <p:spPr>
          <a:xfrm>
            <a:off x="793750" y="1340768"/>
            <a:ext cx="7810698" cy="4911128"/>
          </a:xfrm>
        </p:spPr>
        <p:txBody>
          <a:bodyPr/>
          <a:lstStyle/>
          <a:p>
            <a:pPr marL="0" indent="0">
              <a:buNone/>
            </a:pPr>
            <a:r>
              <a:rPr lang="en-US" altLang="zh-CN" dirty="0"/>
              <a:t> 74LS42</a:t>
            </a:r>
            <a:r>
              <a:rPr lang="zh-CN" altLang="en-US" dirty="0"/>
              <a:t>的功能表（真值表）如下所示：</a:t>
            </a:r>
          </a:p>
        </p:txBody>
      </p:sp>
      <p:pic>
        <p:nvPicPr>
          <p:cNvPr id="4" name="Picture 7" descr="b3-3-4"/>
          <p:cNvPicPr>
            <a:picLocks noChangeAspect="1" noChangeArrowheads="1"/>
          </p:cNvPicPr>
          <p:nvPr/>
        </p:nvPicPr>
        <p:blipFill>
          <a:blip r:embed="rId2" cstate="print">
            <a:clrChange>
              <a:clrFrom>
                <a:srgbClr val="FDFEF8"/>
              </a:clrFrom>
              <a:clrTo>
                <a:srgbClr val="FDFEF8">
                  <a:alpha val="0"/>
                </a:srgbClr>
              </a:clrTo>
            </a:clrChange>
            <a:lum contrast="36000"/>
            <a:extLst>
              <a:ext uri="{28A0092B-C50C-407E-A947-70E740481C1C}">
                <a14:useLocalDpi xmlns:a14="http://schemas.microsoft.com/office/drawing/2010/main" xmlns="" val="0"/>
              </a:ext>
            </a:extLst>
          </a:blip>
          <a:srcRect/>
          <a:stretch>
            <a:fillRect/>
          </a:stretch>
        </p:blipFill>
        <p:spPr bwMode="auto">
          <a:xfrm>
            <a:off x="1116013" y="1700808"/>
            <a:ext cx="6481762" cy="5318125"/>
          </a:xfrm>
          <a:prstGeom prst="rect">
            <a:avLst/>
          </a:prstGeom>
          <a:noFill/>
          <a:extLst>
            <a:ext uri="{909E8E84-426E-40DD-AFC4-6F175D3DCCD1}">
              <a14:hiddenFill xmlns:a14="http://schemas.microsoft.com/office/drawing/2010/main" xmlns="">
                <a:solidFill>
                  <a:srgbClr val="FFFFFF"/>
                </a:solidFill>
              </a14:hiddenFill>
            </a:ext>
          </a:extLst>
        </p:spPr>
      </p:pic>
      <p:sp>
        <p:nvSpPr>
          <p:cNvPr id="5" name="标题 1"/>
          <p:cNvSpPr txBox="1">
            <a:spLocks/>
          </p:cNvSpPr>
          <p:nvPr/>
        </p:nvSpPr>
        <p:spPr bwMode="auto">
          <a:xfrm>
            <a:off x="1259632" y="116632"/>
            <a:ext cx="7545014"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smtClean="0">
                <a:ln>
                  <a:noFill/>
                </a:ln>
                <a:solidFill>
                  <a:schemeClr val="tx2"/>
                </a:solidFill>
                <a:effectLst/>
                <a:uLnTx/>
                <a:uFillTx/>
                <a:latin typeface="+mj-lt"/>
                <a:ea typeface="+mj-ea"/>
                <a:cs typeface="+mj-cs"/>
              </a:rPr>
              <a:t>4.4.2 </a:t>
            </a:r>
            <a:r>
              <a:rPr kumimoji="1" lang="zh-CN" altLang="en-US" sz="3200" b="1" i="0" u="none" strike="noStrike" kern="0" cap="none" spc="0" normalizeH="0" baseline="0" noProof="0" smtClean="0">
                <a:ln>
                  <a:noFill/>
                </a:ln>
                <a:solidFill>
                  <a:schemeClr val="tx2"/>
                </a:solidFill>
                <a:effectLst/>
                <a:uLnTx/>
                <a:uFillTx/>
                <a:latin typeface="+mj-lt"/>
                <a:ea typeface="+mj-ea"/>
                <a:cs typeface="+mj-cs"/>
              </a:rPr>
              <a:t>码制转换译码器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621250414"/>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0" y="764704"/>
            <a:ext cx="7793037" cy="494928"/>
          </a:xfrm>
        </p:spPr>
        <p:txBody>
          <a:bodyPr/>
          <a:lstStyle/>
          <a:p>
            <a:r>
              <a:rPr lang="zh-CN" altLang="en-US" dirty="0" smtClean="0"/>
              <a:t>二</a:t>
            </a:r>
            <a:r>
              <a:rPr lang="zh-CN" altLang="en-US" dirty="0"/>
              <a:t>－十进制译码器</a:t>
            </a:r>
          </a:p>
        </p:txBody>
      </p:sp>
      <p:sp>
        <p:nvSpPr>
          <p:cNvPr id="4" name="Text Box 6"/>
          <p:cNvSpPr txBox="1">
            <a:spLocks noChangeArrowheads="1"/>
          </p:cNvSpPr>
          <p:nvPr/>
        </p:nvSpPr>
        <p:spPr bwMode="auto">
          <a:xfrm>
            <a:off x="1691680" y="6488668"/>
            <a:ext cx="3671888"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kumimoji="1" lang="zh-CN" altLang="en-US" b="1" dirty="0" smtClean="0">
                <a:solidFill>
                  <a:srgbClr val="000000"/>
                </a:solidFill>
                <a:latin typeface="楷体_GB2312" pitchFamily="49" charset="-122"/>
                <a:ea typeface="楷体_GB2312" pitchFamily="49" charset="-122"/>
              </a:rPr>
              <a:t>图</a:t>
            </a:r>
            <a:r>
              <a:rPr kumimoji="1" lang="en-US" altLang="zh-CN" b="1" dirty="0" smtClean="0">
                <a:solidFill>
                  <a:srgbClr val="000000"/>
                </a:solidFill>
                <a:latin typeface="楷体_GB2312" pitchFamily="49" charset="-122"/>
                <a:ea typeface="楷体_GB2312" pitchFamily="49" charset="-122"/>
              </a:rPr>
              <a:t> 74LS42</a:t>
            </a:r>
            <a:r>
              <a:rPr kumimoji="1" lang="zh-CN" altLang="en-US" b="1" dirty="0" smtClean="0">
                <a:solidFill>
                  <a:srgbClr val="000000"/>
                </a:solidFill>
                <a:latin typeface="楷体_GB2312" pitchFamily="49" charset="-122"/>
                <a:ea typeface="楷体_GB2312" pitchFamily="49" charset="-122"/>
              </a:rPr>
              <a:t>逻辑电路图</a:t>
            </a:r>
          </a:p>
        </p:txBody>
      </p:sp>
      <p:pic>
        <p:nvPicPr>
          <p:cNvPr id="5" name="Picture 7" descr="3-3-7"/>
          <p:cNvPicPr>
            <a:picLocks noChangeAspect="1" noChangeArrowheads="1"/>
          </p:cNvPicPr>
          <p:nvPr/>
        </p:nvPicPr>
        <p:blipFill>
          <a:blip r:embed="rId3" cstate="print">
            <a:clrChange>
              <a:clrFrom>
                <a:srgbClr val="F3F3EB"/>
              </a:clrFrom>
              <a:clrTo>
                <a:srgbClr val="F3F3EB">
                  <a:alpha val="0"/>
                </a:srgbClr>
              </a:clrTo>
            </a:clrChange>
            <a:lum bright="-6000" contrast="48000"/>
            <a:extLst>
              <a:ext uri="{28A0092B-C50C-407E-A947-70E740481C1C}">
                <a14:useLocalDpi xmlns:a14="http://schemas.microsoft.com/office/drawing/2010/main" xmlns="" val="0"/>
              </a:ext>
            </a:extLst>
          </a:blip>
          <a:srcRect/>
          <a:stretch>
            <a:fillRect/>
          </a:stretch>
        </p:blipFill>
        <p:spPr bwMode="auto">
          <a:xfrm>
            <a:off x="1460501" y="1772940"/>
            <a:ext cx="3543548" cy="4727324"/>
          </a:xfrm>
          <a:prstGeom prst="rect">
            <a:avLst/>
          </a:prstGeom>
          <a:noFill/>
          <a:extLst>
            <a:ext uri="{909E8E84-426E-40DD-AFC4-6F175D3DCCD1}">
              <a14:hiddenFill xmlns:a14="http://schemas.microsoft.com/office/drawing/2010/main" xmlns="">
                <a:solidFill>
                  <a:srgbClr val="FFFFFF"/>
                </a:solidFill>
              </a14:hiddenFill>
            </a:ext>
          </a:extLst>
        </p:spPr>
      </p:pic>
      <p:graphicFrame>
        <p:nvGraphicFramePr>
          <p:cNvPr id="6" name="Object 8"/>
          <p:cNvGraphicFramePr>
            <a:graphicFrameLocks noChangeAspect="1"/>
          </p:cNvGraphicFramePr>
          <p:nvPr>
            <p:extLst>
              <p:ext uri="{D42A27DB-BD31-4B8C-83A1-F6EECF244321}">
                <p14:modId xmlns:p14="http://schemas.microsoft.com/office/powerpoint/2010/main" xmlns="" val="2462595040"/>
              </p:ext>
            </p:extLst>
          </p:nvPr>
        </p:nvGraphicFramePr>
        <p:xfrm>
          <a:off x="5364088" y="1772816"/>
          <a:ext cx="1702914" cy="4848260"/>
        </p:xfrm>
        <a:graphic>
          <a:graphicData uri="http://schemas.openxmlformats.org/presentationml/2006/ole">
            <p:oleObj spid="_x0000_s9489" name="公式" r:id="rId4" imgW="1016000" imgH="2895600" progId="">
              <p:embed/>
            </p:oleObj>
          </a:graphicData>
        </a:graphic>
      </p:graphicFrame>
      <p:sp>
        <p:nvSpPr>
          <p:cNvPr id="7" name="Rectangle 9"/>
          <p:cNvSpPr>
            <a:spLocks noChangeArrowheads="1"/>
          </p:cNvSpPr>
          <p:nvPr/>
        </p:nvSpPr>
        <p:spPr bwMode="auto">
          <a:xfrm>
            <a:off x="900113" y="1387624"/>
            <a:ext cx="5399235"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000" b="1" dirty="0" smtClean="0">
                <a:solidFill>
                  <a:srgbClr val="000000"/>
                </a:solidFill>
                <a:latin typeface="Times New Roman" pitchFamily="18" charset="0"/>
              </a:rPr>
              <a:t>74LS42</a:t>
            </a:r>
            <a:r>
              <a:rPr kumimoji="1" lang="zh-CN" altLang="en-US" sz="2000" b="1" dirty="0" smtClean="0">
                <a:solidFill>
                  <a:srgbClr val="000000"/>
                </a:solidFill>
                <a:latin typeface="Times New Roman" pitchFamily="18" charset="0"/>
              </a:rPr>
              <a:t>逻辑电路图及各输出表达式如下所示：</a:t>
            </a:r>
          </a:p>
        </p:txBody>
      </p:sp>
      <p:sp>
        <p:nvSpPr>
          <p:cNvPr id="8" name="标题 1"/>
          <p:cNvSpPr txBox="1">
            <a:spLocks/>
          </p:cNvSpPr>
          <p:nvPr/>
        </p:nvSpPr>
        <p:spPr bwMode="auto">
          <a:xfrm>
            <a:off x="1259632" y="116632"/>
            <a:ext cx="7545014"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4.4.2 </a:t>
            </a:r>
            <a:r>
              <a:rPr kumimoji="1" lang="zh-CN" altLang="en-US" sz="2800" b="1" i="0" u="none" strike="noStrike" kern="0" cap="none" spc="0" normalizeH="0" baseline="0" noProof="0" dirty="0" smtClean="0">
                <a:ln>
                  <a:noFill/>
                </a:ln>
                <a:solidFill>
                  <a:schemeClr val="tx2"/>
                </a:solidFill>
                <a:effectLst/>
                <a:uLnTx/>
                <a:uFillTx/>
                <a:latin typeface="+mj-lt"/>
                <a:ea typeface="+mj-ea"/>
                <a:cs typeface="+mj-cs"/>
              </a:rPr>
              <a:t>码制转换译码器</a:t>
            </a:r>
            <a:endParaRPr kumimoji="1" lang="zh-CN" altLang="en-US" sz="28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1261675128"/>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9378" name="Picture 2" descr="opto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0" y="0"/>
            <a:ext cx="9144000" cy="6815138"/>
          </a:xfrm>
          <a:prstGeom prst="rect">
            <a:avLst/>
          </a:prstGeom>
          <a:noFill/>
          <a:extLst>
            <a:ext uri="{909E8E84-426E-40DD-AFC4-6F175D3DCCD1}">
              <a14:hiddenFill xmlns:a14="http://schemas.microsoft.com/office/drawing/2010/main" xmlns="">
                <a:solidFill>
                  <a:srgbClr val="FFFFFF"/>
                </a:solidFill>
              </a14:hiddenFill>
            </a:ext>
          </a:extLst>
        </p:spPr>
      </p:pic>
      <p:pic>
        <p:nvPicPr>
          <p:cNvPr id="229379" name="Picture 3" descr="2007122737022249"/>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23850" y="4941888"/>
            <a:ext cx="4248150" cy="1487487"/>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944509148"/>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92696"/>
            <a:ext cx="7545014" cy="566936"/>
          </a:xfrm>
        </p:spPr>
        <p:txBody>
          <a:bodyPr/>
          <a:lstStyle/>
          <a:p>
            <a:r>
              <a:rPr lang="en-US" altLang="zh-CN" dirty="0" smtClean="0"/>
              <a:t>4.4.3 </a:t>
            </a:r>
            <a:r>
              <a:rPr lang="zh-CN" altLang="en-US" dirty="0" smtClean="0"/>
              <a:t>显示</a:t>
            </a:r>
            <a:r>
              <a:rPr lang="zh-CN" altLang="en-US" dirty="0"/>
              <a:t>译码器</a:t>
            </a:r>
          </a:p>
        </p:txBody>
      </p:sp>
      <p:sp>
        <p:nvSpPr>
          <p:cNvPr id="3" name="内容占位符 2"/>
          <p:cNvSpPr>
            <a:spLocks noGrp="1"/>
          </p:cNvSpPr>
          <p:nvPr>
            <p:ph idx="1"/>
          </p:nvPr>
        </p:nvSpPr>
        <p:spPr>
          <a:xfrm>
            <a:off x="539552" y="1542208"/>
            <a:ext cx="8280920" cy="4911128"/>
          </a:xfrm>
        </p:spPr>
        <p:txBody>
          <a:bodyPr/>
          <a:lstStyle/>
          <a:p>
            <a:pPr>
              <a:lnSpc>
                <a:spcPct val="100000"/>
              </a:lnSpc>
              <a:spcBef>
                <a:spcPts val="600"/>
              </a:spcBef>
              <a:buSzPct val="100000"/>
              <a:buFont typeface="Wingdings" pitchFamily="2" charset="2"/>
              <a:buChar char="p"/>
            </a:pPr>
            <a:r>
              <a:rPr lang="zh-CN" altLang="en-US" sz="2800" dirty="0">
                <a:solidFill>
                  <a:srgbClr val="FF0000"/>
                </a:solidFill>
              </a:rPr>
              <a:t>显示译码器</a:t>
            </a:r>
          </a:p>
          <a:p>
            <a:pPr lvl="1">
              <a:lnSpc>
                <a:spcPct val="100000"/>
              </a:lnSpc>
              <a:spcBef>
                <a:spcPts val="600"/>
              </a:spcBef>
              <a:buSzPct val="100000"/>
            </a:pPr>
            <a:r>
              <a:rPr lang="zh-CN" altLang="en-US" dirty="0" smtClean="0"/>
              <a:t>逻辑</a:t>
            </a:r>
            <a:r>
              <a:rPr lang="zh-CN" altLang="en-US" dirty="0"/>
              <a:t>功能：将数字（</a:t>
            </a:r>
            <a:r>
              <a:rPr lang="en-US" altLang="zh-CN" dirty="0"/>
              <a:t>0</a:t>
            </a:r>
            <a:r>
              <a:rPr lang="zh-CN" altLang="en-US" dirty="0"/>
              <a:t>～</a:t>
            </a:r>
            <a:r>
              <a:rPr lang="en-US" altLang="zh-CN" dirty="0"/>
              <a:t>9</a:t>
            </a:r>
            <a:r>
              <a:rPr lang="zh-CN" altLang="en-US" dirty="0"/>
              <a:t>）、文字、符号（</a:t>
            </a:r>
            <a:r>
              <a:rPr lang="en-US" altLang="zh-CN" dirty="0"/>
              <a:t>A~F)</a:t>
            </a:r>
            <a:r>
              <a:rPr lang="zh-CN" altLang="en-US" dirty="0"/>
              <a:t>等的</a:t>
            </a:r>
            <a:r>
              <a:rPr lang="zh-CN" altLang="en-US" dirty="0">
                <a:solidFill>
                  <a:srgbClr val="0000CC"/>
                </a:solidFill>
              </a:rPr>
              <a:t>二进制代码翻译并显示</a:t>
            </a:r>
            <a:r>
              <a:rPr lang="zh-CN" altLang="en-US" dirty="0"/>
              <a:t>出来的电路叫</a:t>
            </a:r>
            <a:r>
              <a:rPr lang="zh-CN" altLang="en-US" dirty="0">
                <a:solidFill>
                  <a:srgbClr val="FF0000"/>
                </a:solidFill>
              </a:rPr>
              <a:t>显示译码器</a:t>
            </a:r>
            <a:r>
              <a:rPr lang="zh-CN" altLang="en-US" dirty="0"/>
              <a:t>。它包括译码驱动电路和数码显示器两部分。</a:t>
            </a:r>
          </a:p>
          <a:p>
            <a:pPr lvl="1">
              <a:lnSpc>
                <a:spcPct val="100000"/>
              </a:lnSpc>
              <a:spcBef>
                <a:spcPts val="600"/>
              </a:spcBef>
              <a:buSzPct val="100000"/>
            </a:pPr>
            <a:r>
              <a:rPr lang="zh-CN" altLang="en-US" dirty="0" smtClean="0">
                <a:solidFill>
                  <a:srgbClr val="FF0000"/>
                </a:solidFill>
              </a:rPr>
              <a:t>按</a:t>
            </a:r>
            <a:r>
              <a:rPr lang="zh-CN" altLang="en-US" dirty="0">
                <a:solidFill>
                  <a:srgbClr val="FF0000"/>
                </a:solidFill>
              </a:rPr>
              <a:t>发光物质分</a:t>
            </a:r>
            <a:r>
              <a:rPr lang="zh-CN" altLang="en-US" dirty="0"/>
              <a:t>，数码显示器可以分为以下四种类型：</a:t>
            </a:r>
          </a:p>
          <a:p>
            <a:pPr lvl="2">
              <a:lnSpc>
                <a:spcPct val="100000"/>
              </a:lnSpc>
              <a:spcBef>
                <a:spcPts val="600"/>
              </a:spcBef>
              <a:buSzPct val="100000"/>
              <a:buFont typeface="Wingdings" pitchFamily="2" charset="2"/>
              <a:buChar char="u"/>
            </a:pPr>
            <a:r>
              <a:rPr lang="en-US" altLang="zh-CN" dirty="0" smtClean="0"/>
              <a:t>1</a:t>
            </a:r>
            <a:r>
              <a:rPr lang="zh-CN" altLang="en-US" dirty="0"/>
              <a:t>）</a:t>
            </a:r>
            <a:r>
              <a:rPr lang="zh-CN" altLang="en-US" dirty="0">
                <a:solidFill>
                  <a:srgbClr val="0000CC"/>
                </a:solidFill>
              </a:rPr>
              <a:t>半导体显示器</a:t>
            </a:r>
            <a:r>
              <a:rPr lang="zh-CN" altLang="en-US" dirty="0"/>
              <a:t>，亦称发光二极管（</a:t>
            </a:r>
            <a:r>
              <a:rPr lang="en-US" altLang="zh-CN" dirty="0"/>
              <a:t>LED</a:t>
            </a:r>
            <a:r>
              <a:rPr lang="zh-CN" altLang="en-US" dirty="0"/>
              <a:t>）显示器；</a:t>
            </a:r>
          </a:p>
          <a:p>
            <a:pPr lvl="2">
              <a:lnSpc>
                <a:spcPct val="100000"/>
              </a:lnSpc>
              <a:spcBef>
                <a:spcPts val="600"/>
              </a:spcBef>
              <a:buSzPct val="100000"/>
              <a:buFont typeface="Wingdings" pitchFamily="2" charset="2"/>
              <a:buChar char="u"/>
            </a:pPr>
            <a:r>
              <a:rPr lang="en-US" altLang="zh-CN" dirty="0" smtClean="0"/>
              <a:t>2</a:t>
            </a:r>
            <a:r>
              <a:rPr lang="zh-CN" altLang="en-US" dirty="0"/>
              <a:t>）</a:t>
            </a:r>
            <a:r>
              <a:rPr lang="zh-CN" altLang="en-US" dirty="0">
                <a:solidFill>
                  <a:srgbClr val="0000CC"/>
                </a:solidFill>
              </a:rPr>
              <a:t>荧光数字显示器</a:t>
            </a:r>
            <a:r>
              <a:rPr lang="zh-CN" altLang="en-US" dirty="0"/>
              <a:t>，如荧光数码管、场效发光数字板等；</a:t>
            </a:r>
          </a:p>
          <a:p>
            <a:pPr lvl="2">
              <a:lnSpc>
                <a:spcPct val="100000"/>
              </a:lnSpc>
              <a:spcBef>
                <a:spcPts val="600"/>
              </a:spcBef>
              <a:buSzPct val="100000"/>
              <a:buFont typeface="Wingdings" pitchFamily="2" charset="2"/>
              <a:buChar char="u"/>
            </a:pPr>
            <a:r>
              <a:rPr lang="en-US" altLang="zh-CN" dirty="0" smtClean="0"/>
              <a:t>3</a:t>
            </a:r>
            <a:r>
              <a:rPr lang="zh-CN" altLang="en-US" dirty="0"/>
              <a:t>）</a:t>
            </a:r>
            <a:r>
              <a:rPr lang="zh-CN" altLang="en-US" dirty="0">
                <a:solidFill>
                  <a:srgbClr val="0000CC"/>
                </a:solidFill>
              </a:rPr>
              <a:t>液晶数字显示器</a:t>
            </a:r>
            <a:r>
              <a:rPr lang="zh-CN" altLang="en-US" dirty="0"/>
              <a:t>，如液晶显示器（</a:t>
            </a:r>
            <a:r>
              <a:rPr lang="en-US" altLang="zh-CN" dirty="0"/>
              <a:t>LCD)</a:t>
            </a:r>
            <a:r>
              <a:rPr lang="zh-CN" altLang="en-US" dirty="0"/>
              <a:t>、电泳显示器等；</a:t>
            </a:r>
          </a:p>
          <a:p>
            <a:pPr lvl="2">
              <a:lnSpc>
                <a:spcPct val="100000"/>
              </a:lnSpc>
              <a:spcBef>
                <a:spcPts val="600"/>
              </a:spcBef>
              <a:buSzPct val="100000"/>
              <a:buFont typeface="Wingdings" pitchFamily="2" charset="2"/>
              <a:buChar char="u"/>
            </a:pPr>
            <a:r>
              <a:rPr lang="en-US" altLang="zh-CN" dirty="0" smtClean="0"/>
              <a:t>4</a:t>
            </a:r>
            <a:r>
              <a:rPr lang="zh-CN" altLang="en-US" dirty="0"/>
              <a:t>）</a:t>
            </a:r>
            <a:r>
              <a:rPr lang="zh-CN" altLang="en-US" dirty="0">
                <a:solidFill>
                  <a:srgbClr val="0000CC"/>
                </a:solidFill>
              </a:rPr>
              <a:t>气体放电显示器</a:t>
            </a:r>
            <a:r>
              <a:rPr lang="zh-CN" altLang="en-US" dirty="0"/>
              <a:t>，如辉光数码管、等离子显示板等。</a:t>
            </a:r>
          </a:p>
          <a:p>
            <a:endParaRPr lang="zh-CN" altLang="en-US" dirty="0"/>
          </a:p>
        </p:txBody>
      </p:sp>
      <p:sp>
        <p:nvSpPr>
          <p:cNvPr id="4" name="标题 1"/>
          <p:cNvSpPr txBox="1">
            <a:spLocks/>
          </p:cNvSpPr>
          <p:nvPr/>
        </p:nvSpPr>
        <p:spPr bwMode="auto">
          <a:xfrm>
            <a:off x="1259632" y="116632"/>
            <a:ext cx="7545014"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4.4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译码器（</a:t>
            </a: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Decoder</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1092624143"/>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203451" y="764704"/>
            <a:ext cx="7689030" cy="494928"/>
          </a:xfrm>
        </p:spPr>
        <p:txBody>
          <a:bodyPr/>
          <a:lstStyle/>
          <a:p>
            <a:r>
              <a:rPr lang="en-US" altLang="zh-CN" sz="3200" dirty="0" smtClean="0"/>
              <a:t>4.4.3 </a:t>
            </a:r>
            <a:r>
              <a:rPr lang="zh-CN" altLang="en-US" sz="3200" dirty="0" smtClean="0"/>
              <a:t>显示</a:t>
            </a:r>
            <a:r>
              <a:rPr lang="zh-CN" altLang="en-US" sz="3200" dirty="0"/>
              <a:t>译码器</a:t>
            </a:r>
          </a:p>
        </p:txBody>
      </p:sp>
      <p:sp>
        <p:nvSpPr>
          <p:cNvPr id="7" name="Text Box 6"/>
          <p:cNvSpPr txBox="1">
            <a:spLocks noChangeArrowheads="1"/>
          </p:cNvSpPr>
          <p:nvPr/>
        </p:nvSpPr>
        <p:spPr bwMode="auto">
          <a:xfrm>
            <a:off x="1835150" y="4392811"/>
            <a:ext cx="5329238"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sz="1800" b="1">
                <a:latin typeface="Times New Roman" pitchFamily="18" charset="0"/>
              </a:rPr>
              <a:t>半导体数码管（八段）外形图及等效电路</a:t>
            </a:r>
          </a:p>
        </p:txBody>
      </p:sp>
      <p:graphicFrame>
        <p:nvGraphicFramePr>
          <p:cNvPr id="8" name="Object 7"/>
          <p:cNvGraphicFramePr>
            <a:graphicFrameLocks noChangeAspect="1"/>
          </p:cNvGraphicFramePr>
          <p:nvPr>
            <p:extLst>
              <p:ext uri="{D42A27DB-BD31-4B8C-83A1-F6EECF244321}">
                <p14:modId xmlns:p14="http://schemas.microsoft.com/office/powerpoint/2010/main" xmlns="" val="1598321978"/>
              </p:ext>
            </p:extLst>
          </p:nvPr>
        </p:nvGraphicFramePr>
        <p:xfrm>
          <a:off x="539750" y="1655961"/>
          <a:ext cx="8294688" cy="2638425"/>
        </p:xfrm>
        <a:graphic>
          <a:graphicData uri="http://schemas.openxmlformats.org/presentationml/2006/ole">
            <p:oleObj spid="_x0000_s10772" name="Visio" r:id="rId3" imgW="6506870" imgH="2070847" progId="">
              <p:embed/>
            </p:oleObj>
          </a:graphicData>
        </a:graphic>
      </p:graphicFrame>
      <p:sp>
        <p:nvSpPr>
          <p:cNvPr id="9" name="Text Box 8"/>
          <p:cNvSpPr txBox="1">
            <a:spLocks noChangeArrowheads="1"/>
          </p:cNvSpPr>
          <p:nvPr/>
        </p:nvSpPr>
        <p:spPr bwMode="auto">
          <a:xfrm>
            <a:off x="827088" y="6048573"/>
            <a:ext cx="78486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kumimoji="1" lang="zh-CN" altLang="en-US" b="1">
                <a:solidFill>
                  <a:srgbClr val="3333FF"/>
                </a:solidFill>
                <a:latin typeface="Times New Roman" pitchFamily="18" charset="0"/>
              </a:rPr>
              <a:t>缺点</a:t>
            </a:r>
            <a:r>
              <a:rPr kumimoji="1" lang="en-US" altLang="zh-CN" b="1">
                <a:solidFill>
                  <a:srgbClr val="3333FF"/>
                </a:solidFill>
                <a:latin typeface="Times New Roman" pitchFamily="18" charset="0"/>
              </a:rPr>
              <a:t>:</a:t>
            </a:r>
            <a:r>
              <a:rPr kumimoji="1" lang="en-US" altLang="zh-CN" b="1">
                <a:latin typeface="Times New Roman" pitchFamily="18" charset="0"/>
              </a:rPr>
              <a:t>  </a:t>
            </a:r>
            <a:r>
              <a:rPr kumimoji="1" lang="zh-CN" altLang="en-US" b="1">
                <a:latin typeface="Times New Roman" pitchFamily="18" charset="0"/>
              </a:rPr>
              <a:t>工作电流较大，每一段工作电流在</a:t>
            </a:r>
            <a:r>
              <a:rPr kumimoji="1" lang="en-US" altLang="zh-CN" b="1">
                <a:latin typeface="Times New Roman" pitchFamily="18" charset="0"/>
              </a:rPr>
              <a:t>10mA</a:t>
            </a:r>
            <a:r>
              <a:rPr kumimoji="1" lang="zh-CN" altLang="en-US" b="1">
                <a:latin typeface="Times New Roman" pitchFamily="18" charset="0"/>
              </a:rPr>
              <a:t>左右。</a:t>
            </a:r>
          </a:p>
        </p:txBody>
      </p:sp>
      <p:grpSp>
        <p:nvGrpSpPr>
          <p:cNvPr id="10" name="Group 9"/>
          <p:cNvGrpSpPr>
            <a:grpSpLocks/>
          </p:cNvGrpSpPr>
          <p:nvPr/>
        </p:nvGrpSpPr>
        <p:grpSpPr bwMode="auto">
          <a:xfrm>
            <a:off x="827088" y="5040511"/>
            <a:ext cx="7848600" cy="804862"/>
            <a:chOff x="521" y="2795"/>
            <a:chExt cx="4944" cy="507"/>
          </a:xfrm>
        </p:grpSpPr>
        <p:sp>
          <p:nvSpPr>
            <p:cNvPr id="11" name="Text Box 10"/>
            <p:cNvSpPr txBox="1">
              <a:spLocks noChangeArrowheads="1"/>
            </p:cNvSpPr>
            <p:nvPr/>
          </p:nvSpPr>
          <p:spPr bwMode="auto">
            <a:xfrm>
              <a:off x="521" y="2795"/>
              <a:ext cx="4944" cy="4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kumimoji="1" lang="zh-CN" altLang="en-US" b="1" dirty="0">
                  <a:solidFill>
                    <a:srgbClr val="FF0000"/>
                  </a:solidFill>
                  <a:latin typeface="Times New Roman" pitchFamily="18" charset="0"/>
                </a:rPr>
                <a:t>优点</a:t>
              </a:r>
              <a:r>
                <a:rPr kumimoji="1" lang="en-US" altLang="zh-CN" b="1" dirty="0">
                  <a:solidFill>
                    <a:srgbClr val="FF0000"/>
                  </a:solidFill>
                  <a:latin typeface="Times New Roman" pitchFamily="18" charset="0"/>
                </a:rPr>
                <a:t>:</a:t>
              </a:r>
              <a:r>
                <a:rPr kumimoji="1" lang="en-US" altLang="zh-CN" b="1" dirty="0">
                  <a:latin typeface="Times New Roman" pitchFamily="18" charset="0"/>
                </a:rPr>
                <a:t>  </a:t>
              </a:r>
              <a:r>
                <a:rPr kumimoji="1" lang="zh-CN" altLang="en-US" b="1" dirty="0">
                  <a:latin typeface="Times New Roman" pitchFamily="18" charset="0"/>
                </a:rPr>
                <a:t>工作电压低、体积小、寿命长、可靠性高，响应时  </a:t>
              </a:r>
            </a:p>
            <a:p>
              <a:pPr>
                <a:spcBef>
                  <a:spcPct val="50000"/>
                </a:spcBef>
              </a:pPr>
              <a:r>
                <a:rPr kumimoji="1" lang="zh-CN" altLang="en-US" b="1" dirty="0">
                  <a:latin typeface="Times New Roman" pitchFamily="18" charset="0"/>
                </a:rPr>
                <a:t>           间短（ </a:t>
              </a:r>
              <a:r>
                <a:rPr kumimoji="1" lang="zh-CN" altLang="en-US" b="1" dirty="0" smtClean="0">
                  <a:latin typeface="Times New Roman" pitchFamily="18" charset="0"/>
                </a:rPr>
                <a:t>                     </a:t>
              </a:r>
              <a:r>
                <a:rPr kumimoji="1" lang="zh-CN" altLang="en-US" b="1" dirty="0">
                  <a:latin typeface="Times New Roman" pitchFamily="18" charset="0"/>
                </a:rPr>
                <a:t>），亮度较高。</a:t>
              </a:r>
            </a:p>
          </p:txBody>
        </p:sp>
        <p:graphicFrame>
          <p:nvGraphicFramePr>
            <p:cNvPr id="12" name="Object 11"/>
            <p:cNvGraphicFramePr>
              <a:graphicFrameLocks noChangeAspect="1"/>
            </p:cNvGraphicFramePr>
            <p:nvPr>
              <p:extLst>
                <p:ext uri="{D42A27DB-BD31-4B8C-83A1-F6EECF244321}">
                  <p14:modId xmlns:p14="http://schemas.microsoft.com/office/powerpoint/2010/main" xmlns="" val="1527006056"/>
                </p:ext>
              </p:extLst>
            </p:nvPr>
          </p:nvGraphicFramePr>
          <p:xfrm>
            <a:off x="1428" y="3042"/>
            <a:ext cx="635" cy="260"/>
          </p:xfrm>
          <a:graphic>
            <a:graphicData uri="http://schemas.openxmlformats.org/presentationml/2006/ole">
              <p:oleObj spid="_x0000_s10773" name="公式" r:id="rId4" imgW="494870" imgH="203024" progId="">
                <p:embed/>
              </p:oleObj>
            </a:graphicData>
          </a:graphic>
        </p:graphicFrame>
      </p:grpSp>
      <p:sp>
        <p:nvSpPr>
          <p:cNvPr id="2" name="线形标注 1 1"/>
          <p:cNvSpPr/>
          <p:nvPr/>
        </p:nvSpPr>
        <p:spPr>
          <a:xfrm>
            <a:off x="7920038" y="824964"/>
            <a:ext cx="914400" cy="830997"/>
          </a:xfrm>
          <a:prstGeom prst="borderCallout1">
            <a:avLst>
              <a:gd name="adj1" fmla="val 68112"/>
              <a:gd name="adj2" fmla="val -2726"/>
              <a:gd name="adj3" fmla="val 129983"/>
              <a:gd name="adj4" fmla="val -143005"/>
            </a:avLst>
          </a:prstGeom>
          <a:noFill/>
          <a:ln w="15875">
            <a:solidFill>
              <a:srgbClr val="0000CC"/>
            </a:solidFill>
            <a:prstDash val="dash"/>
          </a:ln>
        </p:spPr>
        <p:txBody>
          <a:bodyPr wrap="square" rtlCol="0" anchor="ctr">
            <a:spAutoFit/>
          </a:bodyPr>
          <a:lstStyle/>
          <a:p>
            <a:pPr algn="ctr"/>
            <a:r>
              <a:rPr lang="zh-CN" altLang="en-US" sz="1600" b="1" dirty="0"/>
              <a:t>共阴极</a:t>
            </a:r>
            <a:r>
              <a:rPr lang="en-US" altLang="zh-CN" sz="1600" b="1" dirty="0"/>
              <a:t>LED</a:t>
            </a:r>
            <a:r>
              <a:rPr lang="zh-CN" altLang="en-US" sz="1600" b="1" dirty="0"/>
              <a:t>数码管</a:t>
            </a:r>
            <a:endParaRPr lang="zh-CN" altLang="en-US" sz="1600" b="1" dirty="0">
              <a:latin typeface="华文新魏" pitchFamily="2" charset="-122"/>
              <a:ea typeface="华文新魏" pitchFamily="2" charset="-122"/>
            </a:endParaRPr>
          </a:p>
        </p:txBody>
      </p:sp>
      <p:sp>
        <p:nvSpPr>
          <p:cNvPr id="13" name="线形标注 1 12"/>
          <p:cNvSpPr/>
          <p:nvPr/>
        </p:nvSpPr>
        <p:spPr>
          <a:xfrm>
            <a:off x="7737357" y="3878887"/>
            <a:ext cx="914400" cy="830997"/>
          </a:xfrm>
          <a:prstGeom prst="borderCallout1">
            <a:avLst>
              <a:gd name="adj1" fmla="val 68112"/>
              <a:gd name="adj2" fmla="val -2726"/>
              <a:gd name="adj3" fmla="val -21189"/>
              <a:gd name="adj4" fmla="val -124313"/>
            </a:avLst>
          </a:prstGeom>
          <a:noFill/>
          <a:ln w="15875">
            <a:solidFill>
              <a:srgbClr val="0000CC"/>
            </a:solidFill>
            <a:prstDash val="dash"/>
          </a:ln>
        </p:spPr>
        <p:txBody>
          <a:bodyPr wrap="square" rtlCol="0" anchor="ctr">
            <a:spAutoFit/>
          </a:bodyPr>
          <a:lstStyle/>
          <a:p>
            <a:pPr algn="ctr"/>
            <a:r>
              <a:rPr lang="zh-CN" altLang="en-US" sz="1600" b="1" dirty="0" smtClean="0"/>
              <a:t>共</a:t>
            </a:r>
            <a:r>
              <a:rPr lang="zh-CN" altLang="en-US" sz="1600" b="1" dirty="0"/>
              <a:t>阳</a:t>
            </a:r>
            <a:r>
              <a:rPr lang="zh-CN" altLang="en-US" sz="1600" b="1" dirty="0" smtClean="0"/>
              <a:t>极</a:t>
            </a:r>
            <a:r>
              <a:rPr lang="en-US" altLang="zh-CN" sz="1600" b="1" dirty="0"/>
              <a:t>LED</a:t>
            </a:r>
            <a:r>
              <a:rPr lang="zh-CN" altLang="en-US" sz="1600" b="1" dirty="0"/>
              <a:t>数码管</a:t>
            </a:r>
            <a:endParaRPr lang="zh-CN" altLang="en-US" sz="1600" b="1" dirty="0">
              <a:latin typeface="华文新魏" pitchFamily="2" charset="-122"/>
              <a:ea typeface="华文新魏" pitchFamily="2" charset="-122"/>
            </a:endParaRPr>
          </a:p>
        </p:txBody>
      </p:sp>
      <p:sp>
        <p:nvSpPr>
          <p:cNvPr id="14" name="标题 1"/>
          <p:cNvSpPr txBox="1">
            <a:spLocks/>
          </p:cNvSpPr>
          <p:nvPr/>
        </p:nvSpPr>
        <p:spPr bwMode="auto">
          <a:xfrm>
            <a:off x="1259632" y="116632"/>
            <a:ext cx="7545014"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4.4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译码器（</a:t>
            </a: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Decoder</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2005233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blinds(horizontal)">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blinds(horizontal)">
                                      <p:cBhvr>
                                        <p:cTn id="2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animBg="1"/>
      <p:bldP spid="13"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203451" y="764704"/>
            <a:ext cx="7617022" cy="494928"/>
          </a:xfrm>
        </p:spPr>
        <p:txBody>
          <a:bodyPr/>
          <a:lstStyle/>
          <a:p>
            <a:r>
              <a:rPr lang="en-US" altLang="zh-CN" dirty="0" smtClean="0"/>
              <a:t>4.4.3 </a:t>
            </a:r>
            <a:r>
              <a:rPr lang="zh-CN" altLang="en-US" dirty="0" smtClean="0"/>
              <a:t>显示</a:t>
            </a:r>
            <a:r>
              <a:rPr lang="zh-CN" altLang="en-US" dirty="0"/>
              <a:t>译码器</a:t>
            </a:r>
          </a:p>
        </p:txBody>
      </p:sp>
      <p:sp>
        <p:nvSpPr>
          <p:cNvPr id="5" name="内容占位符 4"/>
          <p:cNvSpPr>
            <a:spLocks noGrp="1"/>
          </p:cNvSpPr>
          <p:nvPr>
            <p:ph idx="1"/>
          </p:nvPr>
        </p:nvSpPr>
        <p:spPr>
          <a:xfrm>
            <a:off x="539552" y="1484784"/>
            <a:ext cx="8280920" cy="4911128"/>
          </a:xfrm>
        </p:spPr>
        <p:txBody>
          <a:bodyPr/>
          <a:lstStyle/>
          <a:p>
            <a:pPr>
              <a:lnSpc>
                <a:spcPct val="100000"/>
              </a:lnSpc>
              <a:spcBef>
                <a:spcPts val="600"/>
              </a:spcBef>
              <a:buSzPct val="100000"/>
              <a:buFont typeface="Wingdings" pitchFamily="2" charset="2"/>
              <a:buChar char="p"/>
            </a:pPr>
            <a:r>
              <a:rPr lang="en-US" altLang="zh-CN" sz="2800" dirty="0"/>
              <a:t>LED </a:t>
            </a:r>
            <a:r>
              <a:rPr lang="zh-CN" altLang="en-US" sz="2800" dirty="0" smtClean="0"/>
              <a:t>（</a:t>
            </a:r>
            <a:r>
              <a:rPr lang="en-US" altLang="zh-CN" sz="2800" b="0" dirty="0" smtClean="0"/>
              <a:t>Light Emitting Diode</a:t>
            </a:r>
            <a:r>
              <a:rPr lang="zh-CN" altLang="en-US" sz="2800" dirty="0" smtClean="0"/>
              <a:t>）的</a:t>
            </a:r>
            <a:r>
              <a:rPr lang="zh-CN" altLang="en-US" sz="2800" dirty="0"/>
              <a:t>驱动电路</a:t>
            </a:r>
            <a:r>
              <a:rPr lang="en-US" altLang="zh-CN" sz="2800" dirty="0"/>
              <a:t>——</a:t>
            </a:r>
          </a:p>
          <a:p>
            <a:pPr lvl="1">
              <a:lnSpc>
                <a:spcPct val="100000"/>
              </a:lnSpc>
              <a:spcBef>
                <a:spcPts val="600"/>
              </a:spcBef>
              <a:buSzPct val="100000"/>
            </a:pPr>
            <a:r>
              <a:rPr lang="zh-CN" altLang="en-US" sz="2400" dirty="0"/>
              <a:t>既可以用半导体三极管驱动，也可以用</a:t>
            </a:r>
            <a:r>
              <a:rPr lang="en-US" altLang="zh-CN" sz="2400" dirty="0"/>
              <a:t>TTL</a:t>
            </a:r>
            <a:r>
              <a:rPr lang="zh-CN" altLang="en-US" sz="2400" dirty="0"/>
              <a:t>与非门驱动。</a:t>
            </a:r>
          </a:p>
        </p:txBody>
      </p:sp>
      <p:sp>
        <p:nvSpPr>
          <p:cNvPr id="3" name="灯片编号占位符 2"/>
          <p:cNvSpPr>
            <a:spLocks noGrp="1"/>
          </p:cNvSpPr>
          <p:nvPr>
            <p:ph type="sldNum" sz="quarter" idx="12"/>
          </p:nvPr>
        </p:nvSpPr>
        <p:spPr/>
        <p:txBody>
          <a:bodyPr/>
          <a:lstStyle/>
          <a:p>
            <a:fld id="{0C913308-F349-4B6D-A68A-DD1791B4A57B}" type="slidenum">
              <a:rPr lang="zh-CN" altLang="en-US" smtClean="0"/>
              <a:pPr/>
              <a:t>83</a:t>
            </a:fld>
            <a:endParaRPr lang="zh-CN" altLang="en-US"/>
          </a:p>
        </p:txBody>
      </p:sp>
      <p:pic>
        <p:nvPicPr>
          <p:cNvPr id="31746" name="Picture 2" descr="E:\wrj\课件\数字电路与系统\数字电路与数字系统\tupian\4-led显示驱动.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403648" y="2636912"/>
            <a:ext cx="6929601" cy="3744416"/>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57133105"/>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203451" y="692696"/>
            <a:ext cx="7545014" cy="566936"/>
          </a:xfrm>
        </p:spPr>
        <p:txBody>
          <a:bodyPr/>
          <a:lstStyle/>
          <a:p>
            <a:r>
              <a:rPr lang="en-US" altLang="zh-CN" dirty="0" smtClean="0"/>
              <a:t>4.4.3 </a:t>
            </a:r>
            <a:r>
              <a:rPr lang="zh-CN" altLang="en-US" dirty="0" smtClean="0"/>
              <a:t>显示</a:t>
            </a:r>
            <a:r>
              <a:rPr lang="zh-CN" altLang="en-US" dirty="0"/>
              <a:t>译码器</a:t>
            </a:r>
          </a:p>
        </p:txBody>
      </p:sp>
      <p:sp>
        <p:nvSpPr>
          <p:cNvPr id="2" name="内容占位符 1"/>
          <p:cNvSpPr>
            <a:spLocks noGrp="1"/>
          </p:cNvSpPr>
          <p:nvPr>
            <p:ph idx="1"/>
          </p:nvPr>
        </p:nvSpPr>
        <p:spPr>
          <a:xfrm>
            <a:off x="467544" y="1556792"/>
            <a:ext cx="8161338" cy="4911128"/>
          </a:xfrm>
        </p:spPr>
        <p:txBody>
          <a:bodyPr/>
          <a:lstStyle/>
          <a:p>
            <a:pPr>
              <a:buSzPct val="100000"/>
              <a:buFont typeface="Wingdings" pitchFamily="2" charset="2"/>
              <a:buChar char="p"/>
            </a:pPr>
            <a:r>
              <a:rPr lang="en-US" altLang="zh-CN" sz="2800" dirty="0">
                <a:solidFill>
                  <a:schemeClr val="bg1">
                    <a:lumMod val="50000"/>
                  </a:schemeClr>
                </a:solidFill>
              </a:rPr>
              <a:t>LCD (Liquid Crystal Display)</a:t>
            </a:r>
            <a:r>
              <a:rPr lang="zh-CN" altLang="en-US" sz="2800" dirty="0">
                <a:solidFill>
                  <a:schemeClr val="bg1">
                    <a:lumMod val="50000"/>
                  </a:schemeClr>
                </a:solidFill>
              </a:rPr>
              <a:t>的显示电路</a:t>
            </a:r>
            <a:r>
              <a:rPr lang="en-US" altLang="zh-CN" sz="2800" dirty="0">
                <a:solidFill>
                  <a:schemeClr val="bg1">
                    <a:lumMod val="50000"/>
                  </a:schemeClr>
                </a:solidFill>
              </a:rPr>
              <a:t>——</a:t>
            </a:r>
            <a:endParaRPr lang="zh-CN" altLang="en-US" sz="2800" dirty="0">
              <a:solidFill>
                <a:schemeClr val="bg1">
                  <a:lumMod val="50000"/>
                </a:schemeClr>
              </a:solidFill>
            </a:endParaRPr>
          </a:p>
        </p:txBody>
      </p:sp>
      <p:sp>
        <p:nvSpPr>
          <p:cNvPr id="5" name="Text Box 6"/>
          <p:cNvSpPr txBox="1">
            <a:spLocks noChangeArrowheads="1"/>
          </p:cNvSpPr>
          <p:nvPr/>
        </p:nvSpPr>
        <p:spPr bwMode="auto">
          <a:xfrm>
            <a:off x="1475656" y="4869160"/>
            <a:ext cx="5975350"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sz="1800" b="1" dirty="0">
                <a:solidFill>
                  <a:schemeClr val="bg1">
                    <a:lumMod val="50000"/>
                  </a:schemeClr>
                </a:solidFill>
                <a:latin typeface="Times New Roman" pitchFamily="18" charset="0"/>
              </a:rPr>
              <a:t>有机化合物液晶显示器结构及工作原理（动态散射效应）</a:t>
            </a:r>
          </a:p>
        </p:txBody>
      </p:sp>
      <p:sp>
        <p:nvSpPr>
          <p:cNvPr id="6" name="Text Box 7"/>
          <p:cNvSpPr txBox="1">
            <a:spLocks noChangeArrowheads="1"/>
          </p:cNvSpPr>
          <p:nvPr/>
        </p:nvSpPr>
        <p:spPr bwMode="auto">
          <a:xfrm>
            <a:off x="755576" y="6165304"/>
            <a:ext cx="7848600"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kumimoji="1" lang="zh-CN" altLang="en-US" b="1" dirty="0">
                <a:solidFill>
                  <a:schemeClr val="bg1">
                    <a:lumMod val="50000"/>
                  </a:schemeClr>
                </a:solidFill>
                <a:latin typeface="Times New Roman" pitchFamily="18" charset="0"/>
              </a:rPr>
              <a:t>缺点</a:t>
            </a:r>
            <a:r>
              <a:rPr kumimoji="1" lang="en-US" altLang="zh-CN" b="1" dirty="0">
                <a:solidFill>
                  <a:schemeClr val="bg1">
                    <a:lumMod val="50000"/>
                  </a:schemeClr>
                </a:solidFill>
                <a:latin typeface="Times New Roman" pitchFamily="18" charset="0"/>
              </a:rPr>
              <a:t>:  </a:t>
            </a:r>
            <a:r>
              <a:rPr kumimoji="1" lang="zh-CN" altLang="en-US" b="1" dirty="0">
                <a:solidFill>
                  <a:schemeClr val="bg1">
                    <a:lumMod val="50000"/>
                  </a:schemeClr>
                </a:solidFill>
                <a:latin typeface="Times New Roman" pitchFamily="18" charset="0"/>
              </a:rPr>
              <a:t>亮度很差，响应速度较低（</a:t>
            </a:r>
            <a:r>
              <a:rPr kumimoji="1" lang="en-US" altLang="zh-CN" b="1" dirty="0">
                <a:solidFill>
                  <a:schemeClr val="bg1">
                    <a:lumMod val="50000"/>
                  </a:schemeClr>
                </a:solidFill>
                <a:latin typeface="Times New Roman" pitchFamily="18" charset="0"/>
              </a:rPr>
              <a:t>10</a:t>
            </a:r>
            <a:r>
              <a:rPr kumimoji="1" lang="zh-CN" altLang="en-US" b="1" dirty="0">
                <a:solidFill>
                  <a:schemeClr val="bg1">
                    <a:lumMod val="50000"/>
                  </a:schemeClr>
                </a:solidFill>
                <a:latin typeface="Times New Roman" pitchFamily="18" charset="0"/>
              </a:rPr>
              <a:t>～</a:t>
            </a:r>
            <a:r>
              <a:rPr kumimoji="1" lang="en-US" altLang="zh-CN" b="1" dirty="0">
                <a:solidFill>
                  <a:schemeClr val="bg1">
                    <a:lumMod val="50000"/>
                  </a:schemeClr>
                </a:solidFill>
                <a:latin typeface="Times New Roman" pitchFamily="18" charset="0"/>
              </a:rPr>
              <a:t>200ms</a:t>
            </a:r>
            <a:r>
              <a:rPr kumimoji="1" lang="zh-CN" altLang="en-US" b="1" dirty="0">
                <a:solidFill>
                  <a:schemeClr val="bg1">
                    <a:lumMod val="50000"/>
                  </a:schemeClr>
                </a:solidFill>
                <a:latin typeface="Times New Roman" pitchFamily="18" charset="0"/>
              </a:rPr>
              <a:t>）。</a:t>
            </a:r>
          </a:p>
        </p:txBody>
      </p:sp>
      <p:grpSp>
        <p:nvGrpSpPr>
          <p:cNvPr id="7" name="Group 8"/>
          <p:cNvGrpSpPr>
            <a:grpSpLocks/>
          </p:cNvGrpSpPr>
          <p:nvPr/>
        </p:nvGrpSpPr>
        <p:grpSpPr bwMode="auto">
          <a:xfrm>
            <a:off x="827088" y="5445224"/>
            <a:ext cx="7848600" cy="455910"/>
            <a:chOff x="521" y="2795"/>
            <a:chExt cx="4944" cy="303"/>
          </a:xfrm>
        </p:grpSpPr>
        <p:sp>
          <p:nvSpPr>
            <p:cNvPr id="8" name="Text Box 9"/>
            <p:cNvSpPr txBox="1">
              <a:spLocks noChangeArrowheads="1"/>
            </p:cNvSpPr>
            <p:nvPr/>
          </p:nvSpPr>
          <p:spPr bwMode="auto">
            <a:xfrm>
              <a:off x="521" y="2795"/>
              <a:ext cx="4944"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kumimoji="1" lang="zh-CN" altLang="en-US" b="1" dirty="0">
                  <a:solidFill>
                    <a:schemeClr val="bg1">
                      <a:lumMod val="50000"/>
                    </a:schemeClr>
                  </a:solidFill>
                  <a:latin typeface="Times New Roman" pitchFamily="18" charset="0"/>
                </a:rPr>
                <a:t>优点</a:t>
              </a:r>
              <a:r>
                <a:rPr kumimoji="1" lang="en-US" altLang="zh-CN" b="1" dirty="0">
                  <a:solidFill>
                    <a:schemeClr val="bg1">
                      <a:lumMod val="50000"/>
                    </a:schemeClr>
                  </a:solidFill>
                  <a:latin typeface="Times New Roman" pitchFamily="18" charset="0"/>
                </a:rPr>
                <a:t>:  </a:t>
              </a:r>
              <a:r>
                <a:rPr kumimoji="1" lang="zh-CN" altLang="en-US" b="1" dirty="0">
                  <a:solidFill>
                    <a:schemeClr val="bg1">
                      <a:lumMod val="50000"/>
                    </a:schemeClr>
                  </a:solidFill>
                  <a:latin typeface="Times New Roman" pitchFamily="18" charset="0"/>
                </a:rPr>
                <a:t>功耗极小  </a:t>
              </a:r>
              <a:r>
                <a:rPr kumimoji="1" lang="zh-CN" altLang="en-US" b="1" dirty="0" smtClean="0">
                  <a:solidFill>
                    <a:schemeClr val="bg1">
                      <a:lumMod val="50000"/>
                    </a:schemeClr>
                  </a:solidFill>
                  <a:latin typeface="Times New Roman" pitchFamily="18" charset="0"/>
                </a:rPr>
                <a:t>                                       </a:t>
              </a:r>
              <a:r>
                <a:rPr kumimoji="1" lang="zh-CN" altLang="en-US" b="1" dirty="0">
                  <a:solidFill>
                    <a:schemeClr val="bg1">
                      <a:lumMod val="50000"/>
                    </a:schemeClr>
                  </a:solidFill>
                  <a:latin typeface="Times New Roman" pitchFamily="18" charset="0"/>
                </a:rPr>
                <a:t>，工作电压很低（</a:t>
              </a:r>
              <a:r>
                <a:rPr kumimoji="1" lang="en-US" altLang="zh-CN" b="1" dirty="0">
                  <a:solidFill>
                    <a:schemeClr val="bg1">
                      <a:lumMod val="50000"/>
                    </a:schemeClr>
                  </a:solidFill>
                  <a:latin typeface="Times New Roman" pitchFamily="18" charset="0"/>
                </a:rPr>
                <a:t>&lt;1V</a:t>
              </a:r>
              <a:r>
                <a:rPr kumimoji="1" lang="zh-CN" altLang="en-US" b="1" dirty="0">
                  <a:solidFill>
                    <a:schemeClr val="bg1">
                      <a:lumMod val="50000"/>
                    </a:schemeClr>
                  </a:solidFill>
                  <a:latin typeface="Times New Roman" pitchFamily="18" charset="0"/>
                </a:rPr>
                <a:t>）。</a:t>
              </a:r>
            </a:p>
          </p:txBody>
        </p:sp>
        <p:graphicFrame>
          <p:nvGraphicFramePr>
            <p:cNvPr id="9" name="Object 10"/>
            <p:cNvGraphicFramePr>
              <a:graphicFrameLocks noChangeAspect="1"/>
            </p:cNvGraphicFramePr>
            <p:nvPr/>
          </p:nvGraphicFramePr>
          <p:xfrm>
            <a:off x="1866" y="2795"/>
            <a:ext cx="1195" cy="303"/>
          </p:xfrm>
          <a:graphic>
            <a:graphicData uri="http://schemas.openxmlformats.org/presentationml/2006/ole">
              <p:oleObj spid="_x0000_s12816" name="公式" r:id="rId3" imgW="901309" imgH="228501" progId="">
                <p:embed/>
              </p:oleObj>
            </a:graphicData>
          </a:graphic>
        </p:graphicFrame>
      </p:grpSp>
      <p:graphicFrame>
        <p:nvGraphicFramePr>
          <p:cNvPr id="10" name="Object 11"/>
          <p:cNvGraphicFramePr>
            <a:graphicFrameLocks noChangeAspect="1"/>
          </p:cNvGraphicFramePr>
          <p:nvPr>
            <p:extLst>
              <p:ext uri="{D42A27DB-BD31-4B8C-83A1-F6EECF244321}">
                <p14:modId xmlns:p14="http://schemas.microsoft.com/office/powerpoint/2010/main" xmlns="" val="3461730726"/>
              </p:ext>
            </p:extLst>
          </p:nvPr>
        </p:nvGraphicFramePr>
        <p:xfrm>
          <a:off x="539552" y="2204864"/>
          <a:ext cx="7848600" cy="2546350"/>
        </p:xfrm>
        <a:graphic>
          <a:graphicData uri="http://schemas.openxmlformats.org/presentationml/2006/ole">
            <p:oleObj spid="_x0000_s12817" name="Visio" r:id="rId4" imgW="5263693" imgH="1708591" progId="">
              <p:embed/>
            </p:oleObj>
          </a:graphicData>
        </a:graphic>
      </p:graphicFrame>
      <p:sp>
        <p:nvSpPr>
          <p:cNvPr id="11" name="AutoShape 12" descr="深色竖线"/>
          <p:cNvSpPr>
            <a:spLocks noChangeArrowheads="1"/>
          </p:cNvSpPr>
          <p:nvPr/>
        </p:nvSpPr>
        <p:spPr bwMode="auto">
          <a:xfrm>
            <a:off x="1330127" y="2349326"/>
            <a:ext cx="504825" cy="1511300"/>
          </a:xfrm>
          <a:prstGeom prst="downArrow">
            <a:avLst>
              <a:gd name="adj1" fmla="val 50000"/>
              <a:gd name="adj2" fmla="val 74843"/>
            </a:avLst>
          </a:prstGeom>
          <a:pattFill prst="dkVert">
            <a:fgClr>
              <a:srgbClr val="FF0000"/>
            </a:fgClr>
            <a:bgClr>
              <a:schemeClr val="bg1"/>
            </a:bgClr>
          </a:pattFill>
          <a:ln w="9525">
            <a:solidFill>
              <a:srgbClr val="FF0000"/>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solidFill>
                <a:schemeClr val="bg1">
                  <a:lumMod val="50000"/>
                </a:schemeClr>
              </a:solidFill>
            </a:endParaRPr>
          </a:p>
        </p:txBody>
      </p:sp>
      <p:sp>
        <p:nvSpPr>
          <p:cNvPr id="12" name="AutoShape 13" descr="深色竖线"/>
          <p:cNvSpPr>
            <a:spLocks noChangeArrowheads="1"/>
          </p:cNvSpPr>
          <p:nvPr/>
        </p:nvSpPr>
        <p:spPr bwMode="auto">
          <a:xfrm rot="10800000">
            <a:off x="1763514" y="2277889"/>
            <a:ext cx="504825" cy="1511300"/>
          </a:xfrm>
          <a:prstGeom prst="downArrow">
            <a:avLst>
              <a:gd name="adj1" fmla="val 50000"/>
              <a:gd name="adj2" fmla="val 74843"/>
            </a:avLst>
          </a:prstGeom>
          <a:pattFill prst="dkVert">
            <a:fgClr>
              <a:srgbClr val="FF0000"/>
            </a:fgClr>
            <a:bgClr>
              <a:schemeClr val="bg1"/>
            </a:bgClr>
          </a:pattFill>
          <a:ln w="9525">
            <a:solidFill>
              <a:srgbClr val="FF0000"/>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solidFill>
                <a:schemeClr val="bg1">
                  <a:lumMod val="50000"/>
                </a:schemeClr>
              </a:solidFill>
            </a:endParaRPr>
          </a:p>
        </p:txBody>
      </p:sp>
      <p:sp>
        <p:nvSpPr>
          <p:cNvPr id="13" name="AutoShape 14" descr="深色竖线"/>
          <p:cNvSpPr>
            <a:spLocks noChangeArrowheads="1"/>
          </p:cNvSpPr>
          <p:nvPr/>
        </p:nvSpPr>
        <p:spPr bwMode="auto">
          <a:xfrm>
            <a:off x="6083102" y="2420764"/>
            <a:ext cx="504825" cy="1439862"/>
          </a:xfrm>
          <a:prstGeom prst="downArrow">
            <a:avLst>
              <a:gd name="adj1" fmla="val 50000"/>
              <a:gd name="adj2" fmla="val 71305"/>
            </a:avLst>
          </a:prstGeom>
          <a:pattFill prst="dkVert">
            <a:fgClr>
              <a:srgbClr val="FF0000"/>
            </a:fgClr>
            <a:bgClr>
              <a:schemeClr val="bg1"/>
            </a:bgClr>
          </a:pattFill>
          <a:ln w="9525">
            <a:solidFill>
              <a:srgbClr val="FF0000"/>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solidFill>
                <a:schemeClr val="bg1">
                  <a:lumMod val="50000"/>
                </a:schemeClr>
              </a:solidFill>
            </a:endParaRPr>
          </a:p>
        </p:txBody>
      </p:sp>
      <p:sp>
        <p:nvSpPr>
          <p:cNvPr id="14" name="AutoShape 15" descr="深色竖线"/>
          <p:cNvSpPr>
            <a:spLocks noChangeArrowheads="1"/>
          </p:cNvSpPr>
          <p:nvPr/>
        </p:nvSpPr>
        <p:spPr bwMode="auto">
          <a:xfrm rot="10800000">
            <a:off x="6587927" y="2349326"/>
            <a:ext cx="142875" cy="1511300"/>
          </a:xfrm>
          <a:prstGeom prst="downArrow">
            <a:avLst>
              <a:gd name="adj1" fmla="val 50000"/>
              <a:gd name="adj2" fmla="val 264444"/>
            </a:avLst>
          </a:prstGeom>
          <a:pattFill prst="dkVert">
            <a:fgClr>
              <a:srgbClr val="FF0000"/>
            </a:fgClr>
            <a:bgClr>
              <a:schemeClr val="bg1"/>
            </a:bgClr>
          </a:pattFill>
          <a:ln w="9525">
            <a:solidFill>
              <a:srgbClr val="FF0000"/>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solidFill>
                <a:schemeClr val="bg1">
                  <a:lumMod val="50000"/>
                </a:schemeClr>
              </a:solidFill>
            </a:endParaRPr>
          </a:p>
        </p:txBody>
      </p:sp>
    </p:spTree>
    <p:extLst>
      <p:ext uri="{BB962C8B-B14F-4D97-AF65-F5344CB8AC3E}">
        <p14:creationId xmlns:p14="http://schemas.microsoft.com/office/powerpoint/2010/main" xmlns="" val="3184019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blinds(horizontal)">
                                      <p:cBhvr>
                                        <p:cTn id="11" dur="500"/>
                                        <p:tgtEl>
                                          <p:spTgt spid="12"/>
                                        </p:tgtEl>
                                      </p:cBhvr>
                                    </p:animEffect>
                                  </p:childTnLst>
                                </p:cTn>
                              </p:par>
                              <p:par>
                                <p:cTn id="12" presetID="3" presetClass="entr" presetSubtype="1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blinds(horizontal)">
                                      <p:cBhvr>
                                        <p:cTn id="14" dur="500"/>
                                        <p:tgtEl>
                                          <p:spTgt spid="13"/>
                                        </p:tgtEl>
                                      </p:cBhvr>
                                    </p:animEffect>
                                  </p:childTnLst>
                                </p:cTn>
                              </p:par>
                            </p:childTnLst>
                          </p:cTn>
                        </p:par>
                        <p:par>
                          <p:cTn id="15" fill="hold">
                            <p:stCondLst>
                              <p:cond delay="1000"/>
                            </p:stCondLst>
                            <p:childTnLst>
                              <p:par>
                                <p:cTn id="16" presetID="3" presetClass="entr" presetSubtype="10" fill="hold" grpId="0" nodeType="after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blinds(horizontal)">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blinds(horizontal)">
                                      <p:cBhvr>
                                        <p:cTn id="23" dur="500"/>
                                        <p:tgtEl>
                                          <p:spTgt spid="7"/>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blinds(horizontal)">
                                      <p:cBhvr>
                                        <p:cTn id="26"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animBg="1"/>
      <p:bldP spid="12" grpId="0" animBg="1"/>
      <p:bldP spid="13" grpId="0" animBg="1"/>
      <p:bldP spid="14"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203451" y="692696"/>
            <a:ext cx="7617022" cy="566936"/>
          </a:xfrm>
        </p:spPr>
        <p:txBody>
          <a:bodyPr/>
          <a:lstStyle/>
          <a:p>
            <a:r>
              <a:rPr lang="en-US" altLang="zh-CN" dirty="0" smtClean="0"/>
              <a:t>4.4.3 </a:t>
            </a:r>
            <a:r>
              <a:rPr lang="zh-CN" altLang="en-US" dirty="0" smtClean="0"/>
              <a:t>显示译码器</a:t>
            </a:r>
            <a:endParaRPr lang="zh-CN" altLang="en-US" dirty="0"/>
          </a:p>
        </p:txBody>
      </p:sp>
      <p:sp>
        <p:nvSpPr>
          <p:cNvPr id="2" name="内容占位符 1"/>
          <p:cNvSpPr>
            <a:spLocks noGrp="1"/>
          </p:cNvSpPr>
          <p:nvPr>
            <p:ph idx="1"/>
          </p:nvPr>
        </p:nvSpPr>
        <p:spPr>
          <a:xfrm>
            <a:off x="395536" y="1542208"/>
            <a:ext cx="8161338" cy="4911128"/>
          </a:xfrm>
        </p:spPr>
        <p:txBody>
          <a:bodyPr/>
          <a:lstStyle/>
          <a:p>
            <a:pPr lvl="1">
              <a:lnSpc>
                <a:spcPct val="100000"/>
              </a:lnSpc>
              <a:spcBef>
                <a:spcPts val="600"/>
              </a:spcBef>
              <a:buSzPct val="100000"/>
            </a:pPr>
            <a:r>
              <a:rPr lang="en-US" altLang="zh-CN" sz="2400" dirty="0">
                <a:solidFill>
                  <a:schemeClr val="bg1">
                    <a:lumMod val="50000"/>
                  </a:schemeClr>
                </a:solidFill>
              </a:rPr>
              <a:t>LCD</a:t>
            </a:r>
            <a:r>
              <a:rPr lang="zh-CN" altLang="en-US" sz="2400" dirty="0">
                <a:solidFill>
                  <a:schemeClr val="bg1">
                    <a:lumMod val="50000"/>
                  </a:schemeClr>
                </a:solidFill>
              </a:rPr>
              <a:t>的驱动方式</a:t>
            </a:r>
            <a:r>
              <a:rPr lang="en-US" altLang="zh-CN" sz="2400" dirty="0" smtClean="0">
                <a:solidFill>
                  <a:schemeClr val="bg1">
                    <a:lumMod val="50000"/>
                  </a:schemeClr>
                </a:solidFill>
              </a:rPr>
              <a:t>——</a:t>
            </a:r>
            <a:r>
              <a:rPr lang="zh-CN" altLang="en-US" sz="2400" dirty="0" smtClean="0">
                <a:solidFill>
                  <a:schemeClr val="bg1">
                    <a:lumMod val="50000"/>
                  </a:schemeClr>
                </a:solidFill>
              </a:rPr>
              <a:t>********</a:t>
            </a:r>
            <a:endParaRPr lang="en-US" altLang="zh-CN" sz="2400" dirty="0">
              <a:solidFill>
                <a:schemeClr val="bg1">
                  <a:lumMod val="50000"/>
                </a:schemeClr>
              </a:solidFill>
            </a:endParaRPr>
          </a:p>
          <a:p>
            <a:pPr lvl="2">
              <a:lnSpc>
                <a:spcPct val="100000"/>
              </a:lnSpc>
              <a:spcBef>
                <a:spcPts val="600"/>
              </a:spcBef>
              <a:buSzPct val="100000"/>
              <a:buFont typeface="Wingdings" pitchFamily="2" charset="2"/>
              <a:buChar char="u"/>
            </a:pPr>
            <a:r>
              <a:rPr lang="en-US" altLang="zh-CN" dirty="0">
                <a:solidFill>
                  <a:schemeClr val="bg1">
                    <a:lumMod val="50000"/>
                  </a:schemeClr>
                </a:solidFill>
              </a:rPr>
              <a:t>LCD</a:t>
            </a:r>
            <a:r>
              <a:rPr lang="zh-CN" altLang="en-US" dirty="0">
                <a:solidFill>
                  <a:schemeClr val="bg1">
                    <a:lumMod val="50000"/>
                  </a:schemeClr>
                </a:solidFill>
              </a:rPr>
              <a:t>器件采用交流驱动电路</a:t>
            </a:r>
            <a:r>
              <a:rPr lang="zh-CN" altLang="en-US" dirty="0" smtClean="0">
                <a:solidFill>
                  <a:schemeClr val="bg1">
                    <a:lumMod val="50000"/>
                  </a:schemeClr>
                </a:solidFill>
              </a:rPr>
              <a:t>：</a:t>
            </a:r>
            <a:endParaRPr lang="en-US" altLang="zh-CN" dirty="0" smtClean="0">
              <a:solidFill>
                <a:schemeClr val="bg1">
                  <a:lumMod val="50000"/>
                </a:schemeClr>
              </a:solidFill>
            </a:endParaRPr>
          </a:p>
          <a:p>
            <a:pPr lvl="2"/>
            <a:endParaRPr lang="en-US" altLang="zh-CN" dirty="0">
              <a:solidFill>
                <a:schemeClr val="bg1">
                  <a:lumMod val="50000"/>
                </a:schemeClr>
              </a:solidFill>
            </a:endParaRPr>
          </a:p>
          <a:p>
            <a:pPr lvl="2"/>
            <a:endParaRPr lang="en-US" altLang="zh-CN" dirty="0" smtClean="0">
              <a:solidFill>
                <a:schemeClr val="bg1">
                  <a:lumMod val="50000"/>
                </a:schemeClr>
              </a:solidFill>
            </a:endParaRPr>
          </a:p>
          <a:p>
            <a:pPr lvl="2"/>
            <a:endParaRPr lang="en-US" altLang="zh-CN" dirty="0">
              <a:solidFill>
                <a:schemeClr val="bg1">
                  <a:lumMod val="50000"/>
                </a:schemeClr>
              </a:solidFill>
            </a:endParaRPr>
          </a:p>
          <a:p>
            <a:pPr lvl="2"/>
            <a:endParaRPr lang="en-US" altLang="zh-CN" dirty="0" smtClean="0">
              <a:solidFill>
                <a:schemeClr val="bg1">
                  <a:lumMod val="50000"/>
                </a:schemeClr>
              </a:solidFill>
            </a:endParaRPr>
          </a:p>
          <a:p>
            <a:pPr lvl="2">
              <a:lnSpc>
                <a:spcPct val="100000"/>
              </a:lnSpc>
              <a:spcBef>
                <a:spcPts val="600"/>
              </a:spcBef>
              <a:buSzPct val="100000"/>
              <a:buFont typeface="Wingdings" pitchFamily="2" charset="2"/>
              <a:buChar char="u"/>
            </a:pPr>
            <a:r>
              <a:rPr lang="en-US" altLang="zh-CN" dirty="0" smtClean="0">
                <a:solidFill>
                  <a:schemeClr val="bg1">
                    <a:lumMod val="50000"/>
                  </a:schemeClr>
                </a:solidFill>
              </a:rPr>
              <a:t>P </a:t>
            </a:r>
            <a:r>
              <a:rPr lang="zh-CN" altLang="en-US" dirty="0">
                <a:solidFill>
                  <a:schemeClr val="bg1">
                    <a:lumMod val="50000"/>
                  </a:schemeClr>
                </a:solidFill>
              </a:rPr>
              <a:t>为输入脉冲</a:t>
            </a:r>
            <a:r>
              <a:rPr lang="en-US" altLang="zh-CN" dirty="0">
                <a:solidFill>
                  <a:schemeClr val="bg1">
                    <a:lumMod val="50000"/>
                  </a:schemeClr>
                </a:solidFill>
              </a:rPr>
              <a:t>(</a:t>
            </a:r>
            <a:r>
              <a:rPr lang="zh-CN" altLang="en-US" dirty="0">
                <a:solidFill>
                  <a:schemeClr val="bg1">
                    <a:lumMod val="50000"/>
                  </a:schemeClr>
                </a:solidFill>
              </a:rPr>
              <a:t>方波</a:t>
            </a:r>
            <a:r>
              <a:rPr lang="en-US" altLang="zh-CN" dirty="0">
                <a:solidFill>
                  <a:schemeClr val="bg1">
                    <a:lumMod val="50000"/>
                  </a:schemeClr>
                </a:solidFill>
              </a:rPr>
              <a:t>)</a:t>
            </a:r>
            <a:r>
              <a:rPr lang="zh-CN" altLang="en-US" dirty="0">
                <a:solidFill>
                  <a:schemeClr val="bg1">
                    <a:lumMod val="50000"/>
                  </a:schemeClr>
                </a:solidFill>
              </a:rPr>
              <a:t>，其工作频率</a:t>
            </a:r>
            <a:r>
              <a:rPr lang="en-US" altLang="zh-CN" dirty="0">
                <a:solidFill>
                  <a:schemeClr val="bg1">
                    <a:lumMod val="50000"/>
                  </a:schemeClr>
                </a:solidFill>
              </a:rPr>
              <a:t>50~60Hz</a:t>
            </a:r>
            <a:r>
              <a:rPr lang="zh-CN" altLang="en-US" dirty="0">
                <a:solidFill>
                  <a:schemeClr val="bg1">
                    <a:lumMod val="50000"/>
                  </a:schemeClr>
                </a:solidFill>
              </a:rPr>
              <a:t>。</a:t>
            </a:r>
          </a:p>
          <a:p>
            <a:pPr lvl="2">
              <a:lnSpc>
                <a:spcPct val="100000"/>
              </a:lnSpc>
              <a:spcBef>
                <a:spcPts val="600"/>
              </a:spcBef>
              <a:buSzPct val="100000"/>
              <a:buFont typeface="Wingdings" pitchFamily="2" charset="2"/>
              <a:buChar char="u"/>
            </a:pPr>
            <a:r>
              <a:rPr lang="en-US" altLang="zh-CN" dirty="0">
                <a:solidFill>
                  <a:schemeClr val="bg1">
                    <a:lumMod val="50000"/>
                  </a:schemeClr>
                </a:solidFill>
              </a:rPr>
              <a:t>a </a:t>
            </a:r>
            <a:r>
              <a:rPr lang="zh-CN" altLang="en-US" dirty="0">
                <a:solidFill>
                  <a:schemeClr val="bg1">
                    <a:lumMod val="50000"/>
                  </a:schemeClr>
                </a:solidFill>
              </a:rPr>
              <a:t>为译码电路输出的一个段位显示控制信号。</a:t>
            </a:r>
          </a:p>
          <a:p>
            <a:pPr lvl="2">
              <a:lnSpc>
                <a:spcPct val="100000"/>
              </a:lnSpc>
              <a:spcBef>
                <a:spcPts val="600"/>
              </a:spcBef>
              <a:buSzPct val="100000"/>
              <a:buFont typeface="Wingdings" pitchFamily="2" charset="2"/>
              <a:buChar char="u"/>
            </a:pPr>
            <a:r>
              <a:rPr lang="en-US" altLang="zh-CN" dirty="0">
                <a:solidFill>
                  <a:schemeClr val="bg1">
                    <a:lumMod val="50000"/>
                  </a:schemeClr>
                </a:solidFill>
              </a:rPr>
              <a:t>M </a:t>
            </a:r>
            <a:r>
              <a:rPr lang="zh-CN" altLang="en-US" dirty="0">
                <a:solidFill>
                  <a:schemeClr val="bg1">
                    <a:lumMod val="50000"/>
                  </a:schemeClr>
                </a:solidFill>
              </a:rPr>
              <a:t>、</a:t>
            </a:r>
            <a:r>
              <a:rPr lang="en-US" altLang="zh-CN" dirty="0">
                <a:solidFill>
                  <a:schemeClr val="bg1">
                    <a:lumMod val="50000"/>
                  </a:schemeClr>
                </a:solidFill>
              </a:rPr>
              <a:t>N </a:t>
            </a:r>
            <a:r>
              <a:rPr lang="zh-CN" altLang="en-US" dirty="0">
                <a:solidFill>
                  <a:schemeClr val="bg1">
                    <a:lumMod val="50000"/>
                  </a:schemeClr>
                </a:solidFill>
              </a:rPr>
              <a:t>为液晶电极控制信号。将输入脉冲和段位</a:t>
            </a:r>
            <a:r>
              <a:rPr lang="zh-CN" altLang="en-US" dirty="0" smtClean="0">
                <a:solidFill>
                  <a:schemeClr val="bg1">
                    <a:lumMod val="50000"/>
                  </a:schemeClr>
                </a:solidFill>
              </a:rPr>
              <a:t>控制信号</a:t>
            </a:r>
            <a:r>
              <a:rPr lang="zh-CN" altLang="en-US" dirty="0">
                <a:solidFill>
                  <a:schemeClr val="bg1">
                    <a:lumMod val="50000"/>
                  </a:schemeClr>
                </a:solidFill>
              </a:rPr>
              <a:t>相异或，产生一个</a:t>
            </a:r>
            <a:r>
              <a:rPr lang="en-US" altLang="zh-CN" dirty="0">
                <a:solidFill>
                  <a:schemeClr val="bg1">
                    <a:lumMod val="50000"/>
                  </a:schemeClr>
                </a:solidFill>
              </a:rPr>
              <a:t>M-N</a:t>
            </a:r>
            <a:r>
              <a:rPr lang="zh-CN" altLang="en-US" dirty="0">
                <a:solidFill>
                  <a:schemeClr val="bg1">
                    <a:lumMod val="50000"/>
                  </a:schemeClr>
                </a:solidFill>
              </a:rPr>
              <a:t>的交变电压信号，使</a:t>
            </a:r>
            <a:r>
              <a:rPr lang="zh-CN" altLang="en-US" dirty="0" smtClean="0">
                <a:solidFill>
                  <a:schemeClr val="bg1">
                    <a:lumMod val="50000"/>
                  </a:schemeClr>
                </a:solidFill>
              </a:rPr>
              <a:t>液晶显示器</a:t>
            </a:r>
            <a:r>
              <a:rPr lang="zh-CN" altLang="en-US" dirty="0">
                <a:solidFill>
                  <a:schemeClr val="bg1">
                    <a:lumMod val="50000"/>
                  </a:schemeClr>
                </a:solidFill>
              </a:rPr>
              <a:t>正常显示字符。</a:t>
            </a:r>
          </a:p>
        </p:txBody>
      </p:sp>
      <p:pic>
        <p:nvPicPr>
          <p:cNvPr id="1126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95536" y="2492896"/>
            <a:ext cx="8404223" cy="1620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895187740"/>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203451" y="692696"/>
            <a:ext cx="7545014" cy="566936"/>
          </a:xfrm>
        </p:spPr>
        <p:txBody>
          <a:bodyPr/>
          <a:lstStyle/>
          <a:p>
            <a:r>
              <a:rPr lang="en-US" altLang="zh-CN" dirty="0" smtClean="0"/>
              <a:t>4.4.3 </a:t>
            </a:r>
            <a:r>
              <a:rPr lang="zh-CN" altLang="en-US" dirty="0" smtClean="0"/>
              <a:t>显示译码器</a:t>
            </a:r>
            <a:endParaRPr lang="zh-CN" altLang="en-US" dirty="0"/>
          </a:p>
        </p:txBody>
      </p:sp>
      <p:sp>
        <p:nvSpPr>
          <p:cNvPr id="2" name="内容占位符 1"/>
          <p:cNvSpPr>
            <a:spLocks noGrp="1"/>
          </p:cNvSpPr>
          <p:nvPr>
            <p:ph idx="1"/>
          </p:nvPr>
        </p:nvSpPr>
        <p:spPr>
          <a:xfrm>
            <a:off x="467544" y="1542208"/>
            <a:ext cx="8089330" cy="4911128"/>
          </a:xfrm>
        </p:spPr>
        <p:txBody>
          <a:bodyPr/>
          <a:lstStyle/>
          <a:p>
            <a:pPr>
              <a:lnSpc>
                <a:spcPct val="100000"/>
              </a:lnSpc>
              <a:spcBef>
                <a:spcPts val="600"/>
              </a:spcBef>
              <a:buSzPct val="100000"/>
              <a:buFont typeface="Wingdings" pitchFamily="2" charset="2"/>
              <a:buChar char="p"/>
            </a:pPr>
            <a:r>
              <a:rPr lang="zh-CN" altLang="en-US" sz="2800" dirty="0"/>
              <a:t>显示译码器工作原理及</a:t>
            </a:r>
            <a:r>
              <a:rPr lang="zh-CN" altLang="en-US" sz="2800" dirty="0" smtClean="0"/>
              <a:t>设计</a:t>
            </a:r>
            <a:endParaRPr lang="en-US" altLang="zh-CN" sz="2800" dirty="0" smtClean="0"/>
          </a:p>
          <a:p>
            <a:pPr marL="457200" lvl="1" indent="0">
              <a:lnSpc>
                <a:spcPct val="100000"/>
              </a:lnSpc>
              <a:spcBef>
                <a:spcPts val="600"/>
              </a:spcBef>
              <a:buNone/>
            </a:pPr>
            <a:r>
              <a:rPr lang="en-US" altLang="zh-CN" sz="2400" dirty="0"/>
              <a:t>(1) </a:t>
            </a:r>
            <a:r>
              <a:rPr lang="zh-CN" altLang="en-US" sz="2400" dirty="0"/>
              <a:t>逻辑抽象</a:t>
            </a:r>
          </a:p>
          <a:p>
            <a:pPr lvl="1">
              <a:lnSpc>
                <a:spcPct val="100000"/>
              </a:lnSpc>
              <a:spcBef>
                <a:spcPts val="600"/>
              </a:spcBef>
              <a:buSzPct val="100000"/>
            </a:pPr>
            <a:r>
              <a:rPr lang="zh-CN" altLang="en-US" sz="2400" dirty="0"/>
              <a:t>十进制</a:t>
            </a:r>
            <a:r>
              <a:rPr lang="en-US" altLang="zh-CN" sz="2400" dirty="0"/>
              <a:t>0</a:t>
            </a:r>
            <a:r>
              <a:rPr lang="zh-CN" altLang="en-US" sz="2400" dirty="0"/>
              <a:t>～</a:t>
            </a:r>
            <a:r>
              <a:rPr lang="en-US" altLang="zh-CN" sz="2400" dirty="0"/>
              <a:t>9</a:t>
            </a:r>
            <a:r>
              <a:rPr lang="zh-CN" altLang="en-US" sz="2400" dirty="0"/>
              <a:t>十个字符可由七段组合而成。</a:t>
            </a:r>
          </a:p>
        </p:txBody>
      </p:sp>
      <p:pic>
        <p:nvPicPr>
          <p:cNvPr id="1331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115616" y="3212976"/>
            <a:ext cx="1257300" cy="2324100"/>
          </a:xfrm>
          <a:prstGeom prst="rect">
            <a:avLst/>
          </a:prstGeom>
          <a:noFill/>
          <a:ln w="9525">
            <a:solidFill>
              <a:schemeClr val="accent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3315"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843808" y="3475010"/>
            <a:ext cx="5729294" cy="756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3" name="矩形 2"/>
          <p:cNvSpPr/>
          <p:nvPr/>
        </p:nvSpPr>
        <p:spPr>
          <a:xfrm>
            <a:off x="2877213" y="4581128"/>
            <a:ext cx="4572000" cy="1200329"/>
          </a:xfrm>
          <a:prstGeom prst="rect">
            <a:avLst/>
          </a:prstGeom>
        </p:spPr>
        <p:txBody>
          <a:bodyPr>
            <a:spAutoFit/>
          </a:bodyPr>
          <a:lstStyle/>
          <a:p>
            <a:r>
              <a:rPr lang="zh-CN" altLang="en-US" b="1" dirty="0"/>
              <a:t>共阳极数码管</a:t>
            </a:r>
            <a:r>
              <a:rPr lang="zh-CN" altLang="en-US" b="1" dirty="0" smtClean="0"/>
              <a:t>：</a:t>
            </a:r>
            <a:endParaRPr lang="en-US" altLang="zh-CN" b="1" dirty="0" smtClean="0"/>
          </a:p>
          <a:p>
            <a:endParaRPr lang="zh-CN" altLang="en-US" b="1" dirty="0"/>
          </a:p>
          <a:p>
            <a:r>
              <a:rPr lang="zh-CN" altLang="en-US" b="1" dirty="0"/>
              <a:t>亮：逻辑</a:t>
            </a:r>
            <a:r>
              <a:rPr lang="zh-CN" altLang="en-US" b="1" dirty="0" smtClean="0"/>
              <a:t>“</a:t>
            </a:r>
            <a:r>
              <a:rPr lang="en-US" altLang="zh-CN" b="1" dirty="0" smtClean="0"/>
              <a:t>0”</a:t>
            </a:r>
            <a:endParaRPr lang="en-US" altLang="zh-CN" b="1" dirty="0"/>
          </a:p>
          <a:p>
            <a:r>
              <a:rPr lang="zh-CN" altLang="en-US" b="1" dirty="0"/>
              <a:t>灭：逻辑</a:t>
            </a:r>
            <a:r>
              <a:rPr lang="zh-CN" altLang="en-US" b="1" dirty="0" smtClean="0"/>
              <a:t>“</a:t>
            </a:r>
            <a:r>
              <a:rPr lang="en-US" altLang="zh-CN" b="1" dirty="0" smtClean="0"/>
              <a:t>1”</a:t>
            </a:r>
            <a:endParaRPr lang="zh-CN" altLang="en-US" b="1" dirty="0"/>
          </a:p>
        </p:txBody>
      </p:sp>
    </p:spTree>
    <p:extLst>
      <p:ext uri="{BB962C8B-B14F-4D97-AF65-F5344CB8AC3E}">
        <p14:creationId xmlns:p14="http://schemas.microsoft.com/office/powerpoint/2010/main" xmlns="" val="3581286089"/>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203450" y="692696"/>
            <a:ext cx="7617021" cy="566936"/>
          </a:xfrm>
        </p:spPr>
        <p:txBody>
          <a:bodyPr/>
          <a:lstStyle/>
          <a:p>
            <a:r>
              <a:rPr lang="en-US" altLang="zh-CN" dirty="0" smtClean="0"/>
              <a:t>4.4.3 </a:t>
            </a:r>
            <a:r>
              <a:rPr lang="zh-CN" altLang="en-US" dirty="0" smtClean="0"/>
              <a:t>显示译码器</a:t>
            </a:r>
            <a:endParaRPr lang="zh-CN" altLang="en-US" dirty="0"/>
          </a:p>
        </p:txBody>
      </p:sp>
      <p:sp>
        <p:nvSpPr>
          <p:cNvPr id="2" name="内容占位符 1"/>
          <p:cNvSpPr>
            <a:spLocks noGrp="1"/>
          </p:cNvSpPr>
          <p:nvPr>
            <p:ph idx="1"/>
          </p:nvPr>
        </p:nvSpPr>
        <p:spPr>
          <a:xfrm>
            <a:off x="467544" y="1542208"/>
            <a:ext cx="8089330" cy="4911128"/>
          </a:xfrm>
        </p:spPr>
        <p:txBody>
          <a:bodyPr/>
          <a:lstStyle/>
          <a:p>
            <a:pPr marL="400050" lvl="1" indent="0">
              <a:buNone/>
            </a:pPr>
            <a:r>
              <a:rPr lang="en-US" altLang="zh-CN" sz="2400" dirty="0"/>
              <a:t>(2) </a:t>
            </a:r>
            <a:r>
              <a:rPr lang="zh-CN" altLang="en-US" sz="2400" dirty="0" smtClean="0"/>
              <a:t>列真值表</a:t>
            </a:r>
            <a:r>
              <a:rPr lang="en-US" altLang="zh-CN" sz="2400" dirty="0"/>
              <a:t>(</a:t>
            </a:r>
            <a:r>
              <a:rPr lang="zh-CN" altLang="en-US" sz="2400" dirty="0"/>
              <a:t>设采用共阳极数码管</a:t>
            </a:r>
            <a:r>
              <a:rPr lang="en-US" altLang="zh-CN" sz="2400" dirty="0" smtClean="0"/>
              <a:t>)</a:t>
            </a:r>
          </a:p>
          <a:p>
            <a:pPr marL="400050" lvl="1" indent="0">
              <a:buNone/>
            </a:pPr>
            <a:endParaRPr lang="zh-CN" altLang="en-US" dirty="0"/>
          </a:p>
        </p:txBody>
      </p:sp>
      <p:pic>
        <p:nvPicPr>
          <p:cNvPr id="1433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347864" y="2097368"/>
            <a:ext cx="4978992" cy="4644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8"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115616" y="3068960"/>
            <a:ext cx="1257300" cy="2324100"/>
          </a:xfrm>
          <a:prstGeom prst="rect">
            <a:avLst/>
          </a:prstGeom>
          <a:noFill/>
          <a:ln w="9525">
            <a:solidFill>
              <a:schemeClr val="accent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356315923"/>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203451" y="692696"/>
            <a:ext cx="7617022" cy="566936"/>
          </a:xfrm>
        </p:spPr>
        <p:txBody>
          <a:bodyPr/>
          <a:lstStyle/>
          <a:p>
            <a:r>
              <a:rPr lang="en-US" altLang="zh-CN" dirty="0" smtClean="0"/>
              <a:t>4.4.3 </a:t>
            </a:r>
            <a:r>
              <a:rPr lang="zh-CN" altLang="en-US" dirty="0" smtClean="0"/>
              <a:t>显示译码器</a:t>
            </a:r>
            <a:endParaRPr lang="zh-CN" altLang="en-US" dirty="0"/>
          </a:p>
        </p:txBody>
      </p:sp>
      <p:sp>
        <p:nvSpPr>
          <p:cNvPr id="2" name="内容占位符 1"/>
          <p:cNvSpPr>
            <a:spLocks noGrp="1"/>
          </p:cNvSpPr>
          <p:nvPr>
            <p:ph idx="1"/>
          </p:nvPr>
        </p:nvSpPr>
        <p:spPr>
          <a:xfrm>
            <a:off x="539552" y="1412776"/>
            <a:ext cx="8017322" cy="4911128"/>
          </a:xfrm>
        </p:spPr>
        <p:txBody>
          <a:bodyPr/>
          <a:lstStyle/>
          <a:p>
            <a:pPr marL="400050" lvl="1" indent="0">
              <a:buNone/>
            </a:pPr>
            <a:r>
              <a:rPr lang="en-US" altLang="zh-CN" sz="2400" dirty="0"/>
              <a:t>(3) </a:t>
            </a:r>
            <a:r>
              <a:rPr lang="zh-CN" altLang="en-US" sz="2400" dirty="0"/>
              <a:t>画卡诺图</a:t>
            </a:r>
          </a:p>
        </p:txBody>
      </p:sp>
      <p:pic>
        <p:nvPicPr>
          <p:cNvPr id="15363" name="Picture 3" descr="E:\wrj\课件\数字电路与系统\数字电路与数字系统\tupian\4-14-3.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827584" y="4509120"/>
            <a:ext cx="7781170" cy="2304000"/>
          </a:xfrm>
          <a:prstGeom prst="rect">
            <a:avLst/>
          </a:prstGeom>
          <a:noFill/>
          <a:extLst>
            <a:ext uri="{909E8E84-426E-40DD-AFC4-6F175D3DCCD1}">
              <a14:hiddenFill xmlns:a14="http://schemas.microsoft.com/office/drawing/2010/main" xmlns="">
                <a:solidFill>
                  <a:srgbClr val="FFFFFF"/>
                </a:solidFill>
              </a14:hiddenFill>
            </a:ext>
          </a:extLst>
        </p:spPr>
      </p:pic>
      <p:pic>
        <p:nvPicPr>
          <p:cNvPr id="15364" name="Picture 4" descr="E:\wrj\课件\数字电路与系统\数字电路与数字系统\tupian\4-14-1.jp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673311" y="1881072"/>
            <a:ext cx="8147161" cy="2196000"/>
          </a:xfrm>
          <a:prstGeom prst="rect">
            <a:avLst/>
          </a:prstGeom>
          <a:noFill/>
          <a:extLst>
            <a:ext uri="{909E8E84-426E-40DD-AFC4-6F175D3DCCD1}">
              <a14:hiddenFill xmlns:a14="http://schemas.microsoft.com/office/drawing/2010/main" xmlns="">
                <a:solidFill>
                  <a:srgbClr val="FFFFFF"/>
                </a:solidFill>
              </a14:hiddenFill>
            </a:ext>
          </a:extLst>
        </p:spPr>
      </p:pic>
      <p:pic>
        <p:nvPicPr>
          <p:cNvPr id="15365" name="Picture 5" descr="E:\wrj\课件\数字电路与系统\数字电路与数字系统\tupian\4-14-2.jpg"/>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563200" y="4077120"/>
            <a:ext cx="8185264" cy="4320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4241854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92696"/>
            <a:ext cx="7617022" cy="566936"/>
          </a:xfrm>
        </p:spPr>
        <p:txBody>
          <a:bodyPr/>
          <a:lstStyle/>
          <a:p>
            <a:r>
              <a:rPr lang="en-US" altLang="zh-CN" dirty="0" smtClean="0"/>
              <a:t>4.4.3 </a:t>
            </a:r>
            <a:r>
              <a:rPr lang="zh-CN" altLang="en-US" dirty="0" smtClean="0"/>
              <a:t>显示译码器</a:t>
            </a:r>
            <a:endParaRPr lang="zh-CN" altLang="en-US" dirty="0"/>
          </a:p>
        </p:txBody>
      </p:sp>
      <p:sp>
        <p:nvSpPr>
          <p:cNvPr id="3" name="内容占位符 2"/>
          <p:cNvSpPr>
            <a:spLocks noGrp="1"/>
          </p:cNvSpPr>
          <p:nvPr>
            <p:ph idx="1"/>
          </p:nvPr>
        </p:nvSpPr>
        <p:spPr>
          <a:xfrm>
            <a:off x="539552" y="1542208"/>
            <a:ext cx="8415536" cy="4911128"/>
          </a:xfrm>
        </p:spPr>
        <p:txBody>
          <a:bodyPr/>
          <a:lstStyle/>
          <a:p>
            <a:pPr marL="400050" lvl="1" indent="0">
              <a:buNone/>
            </a:pPr>
            <a:r>
              <a:rPr lang="en-US" altLang="zh-CN" sz="2400" dirty="0" smtClean="0"/>
              <a:t>(</a:t>
            </a:r>
            <a:r>
              <a:rPr lang="en-US" altLang="zh-CN" sz="2400" dirty="0"/>
              <a:t>4) </a:t>
            </a:r>
            <a:r>
              <a:rPr lang="zh-CN" altLang="en-US" sz="2400" dirty="0"/>
              <a:t>逻辑图</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89</a:t>
            </a:fld>
            <a:endParaRPr lang="zh-CN" altLang="en-US"/>
          </a:p>
        </p:txBody>
      </p:sp>
      <p:pic>
        <p:nvPicPr>
          <p:cNvPr id="16386" name="Picture 2" descr="E:\wrj\课件\数字电路与系统\数字电路与数字系统\tupian\4-15.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23528" y="2132856"/>
            <a:ext cx="4573774" cy="4500000"/>
          </a:xfrm>
          <a:prstGeom prst="rect">
            <a:avLst/>
          </a:prstGeom>
          <a:noFill/>
          <a:extLst>
            <a:ext uri="{909E8E84-426E-40DD-AFC4-6F175D3DCCD1}">
              <a14:hiddenFill xmlns:a14="http://schemas.microsoft.com/office/drawing/2010/main" xmlns="">
                <a:solidFill>
                  <a:srgbClr val="FFFFFF"/>
                </a:solidFill>
              </a14:hiddenFill>
            </a:ext>
          </a:extLst>
        </p:spPr>
      </p:pic>
      <p:pic>
        <p:nvPicPr>
          <p:cNvPr id="16387"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364088" y="1994181"/>
            <a:ext cx="3273706" cy="4392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250769271"/>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92696"/>
            <a:ext cx="7617022" cy="566936"/>
          </a:xfrm>
        </p:spPr>
        <p:txBody>
          <a:bodyPr/>
          <a:lstStyle/>
          <a:p>
            <a:r>
              <a:rPr lang="en-US" altLang="zh-CN" dirty="0" smtClean="0"/>
              <a:t>4.4.3 </a:t>
            </a:r>
            <a:r>
              <a:rPr lang="zh-CN" altLang="en-US" dirty="0" smtClean="0"/>
              <a:t>显示译码器</a:t>
            </a:r>
            <a:endParaRPr lang="zh-CN" altLang="en-US" dirty="0"/>
          </a:p>
        </p:txBody>
      </p:sp>
      <p:sp>
        <p:nvSpPr>
          <p:cNvPr id="3" name="内容占位符 2"/>
          <p:cNvSpPr>
            <a:spLocks noGrp="1"/>
          </p:cNvSpPr>
          <p:nvPr>
            <p:ph idx="1"/>
          </p:nvPr>
        </p:nvSpPr>
        <p:spPr>
          <a:xfrm>
            <a:off x="539552" y="1542208"/>
            <a:ext cx="8415536" cy="4911128"/>
          </a:xfrm>
        </p:spPr>
        <p:txBody>
          <a:bodyPr/>
          <a:lstStyle/>
          <a:p>
            <a:pPr marL="400050" lvl="1" indent="0">
              <a:buNone/>
            </a:pPr>
            <a:r>
              <a:rPr lang="zh-CN" altLang="en-US" sz="2400" dirty="0"/>
              <a:t>（</a:t>
            </a:r>
            <a:r>
              <a:rPr lang="en-US" altLang="zh-CN" sz="2400" dirty="0"/>
              <a:t>5</a:t>
            </a:r>
            <a:r>
              <a:rPr lang="zh-CN" altLang="en-US" sz="2400" dirty="0"/>
              <a:t>）封装形成七段字型集成译码器</a:t>
            </a:r>
            <a:r>
              <a:rPr lang="en-US" altLang="zh-CN" sz="2400" dirty="0"/>
              <a:t>74xx48</a:t>
            </a:r>
            <a:endParaRPr lang="zh-CN" altLang="en-US" sz="24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90</a:t>
            </a:fld>
            <a:endParaRPr lang="zh-CN" altLang="en-US"/>
          </a:p>
        </p:txBody>
      </p:sp>
      <p:sp>
        <p:nvSpPr>
          <p:cNvPr id="5" name="矩形 4"/>
          <p:cNvSpPr/>
          <p:nvPr/>
        </p:nvSpPr>
        <p:spPr>
          <a:xfrm>
            <a:off x="827584" y="3152002"/>
            <a:ext cx="3960440" cy="1631216"/>
          </a:xfrm>
          <a:prstGeom prst="rect">
            <a:avLst/>
          </a:prstGeom>
        </p:spPr>
        <p:txBody>
          <a:bodyPr wrap="square">
            <a:spAutoFit/>
          </a:bodyPr>
          <a:lstStyle/>
          <a:p>
            <a:pPr marL="285750" indent="-285750">
              <a:buClr>
                <a:srgbClr val="FF0000"/>
              </a:buClr>
              <a:buFont typeface="Wingdings" pitchFamily="2" charset="2"/>
              <a:buChar char="n"/>
            </a:pPr>
            <a:r>
              <a:rPr lang="en-US" altLang="zh-CN" sz="2000" b="1" dirty="0" smtClean="0"/>
              <a:t>Y </a:t>
            </a:r>
            <a:r>
              <a:rPr lang="en-US" altLang="zh-CN" sz="2000" b="1" dirty="0"/>
              <a:t>a ~ Y g</a:t>
            </a:r>
            <a:r>
              <a:rPr lang="zh-CN" altLang="en-US" sz="2000" b="1" dirty="0"/>
              <a:t>表示字型译码器的</a:t>
            </a:r>
            <a:r>
              <a:rPr lang="zh-CN" altLang="en-US" sz="2000" b="1" dirty="0" smtClean="0"/>
              <a:t>段位</a:t>
            </a:r>
            <a:r>
              <a:rPr lang="zh-CN" altLang="en-US" sz="2000" b="1" dirty="0"/>
              <a:t>显示代码。并规定</a:t>
            </a:r>
            <a:r>
              <a:rPr lang="zh-CN" altLang="en-US" sz="2000" b="1" dirty="0">
                <a:solidFill>
                  <a:srgbClr val="0000CC"/>
                </a:solidFill>
              </a:rPr>
              <a:t>灯亮</a:t>
            </a:r>
            <a:r>
              <a:rPr lang="zh-CN" altLang="en-US" sz="2000" b="1" dirty="0" smtClean="0">
                <a:solidFill>
                  <a:srgbClr val="0000CC"/>
                </a:solidFill>
              </a:rPr>
              <a:t>为“</a:t>
            </a:r>
            <a:r>
              <a:rPr lang="en-US" altLang="zh-CN" sz="2000" b="1" dirty="0" smtClean="0">
                <a:solidFill>
                  <a:srgbClr val="0000CC"/>
                </a:solidFill>
              </a:rPr>
              <a:t>1”</a:t>
            </a:r>
            <a:r>
              <a:rPr lang="zh-CN" altLang="en-US" sz="2000" b="1" dirty="0">
                <a:solidFill>
                  <a:srgbClr val="0000CC"/>
                </a:solidFill>
              </a:rPr>
              <a:t>，不亮为“</a:t>
            </a:r>
            <a:r>
              <a:rPr lang="en-US" altLang="zh-CN" sz="2000" b="1" dirty="0">
                <a:solidFill>
                  <a:srgbClr val="0000CC"/>
                </a:solidFill>
              </a:rPr>
              <a:t>0”</a:t>
            </a:r>
            <a:r>
              <a:rPr lang="zh-CN" altLang="en-US" sz="2000" b="1" dirty="0"/>
              <a:t>。所以输出</a:t>
            </a:r>
            <a:r>
              <a:rPr lang="zh-CN" altLang="en-US" sz="2000" b="1" dirty="0" smtClean="0"/>
              <a:t>为高</a:t>
            </a:r>
            <a:r>
              <a:rPr lang="zh-CN" altLang="en-US" sz="2000" b="1" dirty="0"/>
              <a:t>电平，可以驱动共阴极</a:t>
            </a:r>
            <a:r>
              <a:rPr lang="en-US" altLang="zh-CN" sz="2000" b="1" dirty="0" smtClean="0"/>
              <a:t>LED</a:t>
            </a:r>
            <a:r>
              <a:rPr lang="zh-CN" altLang="en-US" sz="2000" b="1" dirty="0" smtClean="0"/>
              <a:t>数码</a:t>
            </a:r>
            <a:r>
              <a:rPr lang="zh-CN" altLang="en-US" sz="2000" b="1" dirty="0"/>
              <a:t>管。</a:t>
            </a:r>
          </a:p>
        </p:txBody>
      </p:sp>
      <p:sp>
        <p:nvSpPr>
          <p:cNvPr id="6" name="矩形 5"/>
          <p:cNvSpPr/>
          <p:nvPr/>
        </p:nvSpPr>
        <p:spPr>
          <a:xfrm>
            <a:off x="827584" y="2348880"/>
            <a:ext cx="3816424" cy="707886"/>
          </a:xfrm>
          <a:prstGeom prst="rect">
            <a:avLst/>
          </a:prstGeom>
        </p:spPr>
        <p:txBody>
          <a:bodyPr wrap="square">
            <a:spAutoFit/>
          </a:bodyPr>
          <a:lstStyle/>
          <a:p>
            <a:pPr marL="285750" indent="-285750">
              <a:buClr>
                <a:srgbClr val="FF0000"/>
              </a:buClr>
              <a:buFont typeface="Wingdings" pitchFamily="2" charset="2"/>
              <a:buChar char="n"/>
            </a:pPr>
            <a:r>
              <a:rPr lang="en-US" altLang="zh-CN" sz="2000" b="1" dirty="0"/>
              <a:t>A</a:t>
            </a:r>
            <a:r>
              <a:rPr lang="en-US" altLang="zh-CN" sz="2000" b="1" baseline="-25000" dirty="0"/>
              <a:t>3</a:t>
            </a:r>
            <a:r>
              <a:rPr lang="en-US" altLang="zh-CN" sz="2000" b="1" dirty="0"/>
              <a:t>~A</a:t>
            </a:r>
            <a:r>
              <a:rPr lang="en-US" altLang="zh-CN" sz="2000" b="1" baseline="-25000" dirty="0"/>
              <a:t>0</a:t>
            </a:r>
            <a:r>
              <a:rPr lang="zh-CN" altLang="en-US" sz="2000" b="1" dirty="0"/>
              <a:t>是字型译码器输入的</a:t>
            </a:r>
            <a:r>
              <a:rPr lang="en-US" altLang="zh-CN" sz="2000" b="1" dirty="0" smtClean="0"/>
              <a:t>BCD</a:t>
            </a:r>
            <a:r>
              <a:rPr lang="zh-CN" altLang="en-US" sz="2000" b="1" dirty="0" smtClean="0"/>
              <a:t>地址</a:t>
            </a:r>
            <a:r>
              <a:rPr lang="zh-CN" altLang="en-US" sz="2000" b="1" dirty="0"/>
              <a:t>代码。</a:t>
            </a:r>
          </a:p>
        </p:txBody>
      </p:sp>
      <p:pic>
        <p:nvPicPr>
          <p:cNvPr id="1331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405425" y="2362171"/>
            <a:ext cx="3187769" cy="2844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mc:AlternateContent xmlns:mc="http://schemas.openxmlformats.org/markup-compatibility/2006">
        <mc:Choice xmlns:a14="http://schemas.microsoft.com/office/drawing/2010/main" xmlns="" Requires="a14">
          <p:sp>
            <p:nvSpPr>
              <p:cNvPr id="7" name="矩形 6"/>
              <p:cNvSpPr/>
              <p:nvPr/>
            </p:nvSpPr>
            <p:spPr>
              <a:xfrm>
                <a:off x="4932040" y="4653136"/>
                <a:ext cx="1175322" cy="400815"/>
              </a:xfrm>
              <a:prstGeom prst="rect">
                <a:avLst/>
              </a:prstGeom>
              <a:solidFill>
                <a:schemeClr val="bg1"/>
              </a:solidFill>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000" i="1" smtClean="0">
                              <a:solidFill>
                                <a:srgbClr val="FF0000"/>
                              </a:solidFill>
                              <a:latin typeface="Cambria Math" panose="02040503050406030204" pitchFamily="18" charset="0"/>
                            </a:rPr>
                          </m:ctrlPr>
                        </m:accPr>
                        <m:e>
                          <m:r>
                            <a:rPr lang="en-US" altLang="zh-CN" sz="2000" b="0" i="1" smtClean="0">
                              <a:solidFill>
                                <a:srgbClr val="FF0000"/>
                              </a:solidFill>
                              <a:latin typeface="Cambria Math"/>
                            </a:rPr>
                            <m:t>𝐵𝐼</m:t>
                          </m:r>
                        </m:e>
                      </m:acc>
                      <m:r>
                        <a:rPr lang="en-US" altLang="zh-CN" sz="2000" b="0" i="1" smtClean="0">
                          <a:solidFill>
                            <a:srgbClr val="FF0000"/>
                          </a:solidFill>
                          <a:latin typeface="Cambria Math"/>
                        </a:rPr>
                        <m:t>/</m:t>
                      </m:r>
                      <m:acc>
                        <m:accPr>
                          <m:chr m:val="̅"/>
                          <m:ctrlPr>
                            <a:rPr lang="en-US" altLang="zh-CN" sz="2000" b="0" i="1" smtClean="0">
                              <a:solidFill>
                                <a:srgbClr val="FF0000"/>
                              </a:solidFill>
                              <a:latin typeface="Cambria Math" panose="02040503050406030204" pitchFamily="18" charset="0"/>
                            </a:rPr>
                          </m:ctrlPr>
                        </m:accPr>
                        <m:e>
                          <m:r>
                            <a:rPr lang="en-US" altLang="zh-CN" sz="2000" b="0" i="1" smtClean="0">
                              <a:solidFill>
                                <a:srgbClr val="FF0000"/>
                              </a:solidFill>
                              <a:latin typeface="Cambria Math"/>
                            </a:rPr>
                            <m:t>𝑅𝐵𝑂</m:t>
                          </m:r>
                        </m:e>
                      </m:acc>
                    </m:oMath>
                  </m:oMathPara>
                </a14:m>
                <a:endParaRPr lang="en-US" altLang="zh-CN" sz="2000" dirty="0">
                  <a:solidFill>
                    <a:srgbClr val="FF0000"/>
                  </a:solidFill>
                </a:endParaRPr>
              </a:p>
            </p:txBody>
          </p:sp>
        </mc:Choice>
        <mc:Fallback>
          <p:sp>
            <p:nvSpPr>
              <p:cNvPr id="7" name="矩形 6"/>
              <p:cNvSpPr>
                <a:spLocks noRot="1" noChangeAspect="1" noMove="1" noResize="1" noEditPoints="1" noAdjustHandles="1" noChangeArrowheads="1" noChangeShapeType="1" noTextEdit="1"/>
              </p:cNvSpPr>
              <p:nvPr/>
            </p:nvSpPr>
            <p:spPr>
              <a:xfrm>
                <a:off x="4932040" y="4653136"/>
                <a:ext cx="1175322" cy="400815"/>
              </a:xfrm>
              <a:prstGeom prst="rect">
                <a:avLst/>
              </a:prstGeom>
              <a:blipFill rotWithShape="1">
                <a:blip r:embed="rId3" cstate="print"/>
                <a:stretch>
                  <a:fillRect b="-16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xmlns="" val="2556625835"/>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92696"/>
            <a:ext cx="7617022" cy="566936"/>
          </a:xfrm>
        </p:spPr>
        <p:txBody>
          <a:bodyPr/>
          <a:lstStyle/>
          <a:p>
            <a:r>
              <a:rPr lang="en-US" altLang="zh-CN" dirty="0" smtClean="0"/>
              <a:t>4.4.3 </a:t>
            </a:r>
            <a:r>
              <a:rPr lang="zh-CN" altLang="en-US" dirty="0" smtClean="0"/>
              <a:t>显示译码器</a:t>
            </a:r>
            <a:endParaRPr lang="zh-CN" altLang="en-US" dirty="0"/>
          </a:p>
        </p:txBody>
      </p:sp>
      <p:sp>
        <p:nvSpPr>
          <p:cNvPr id="3" name="内容占位符 2"/>
          <p:cNvSpPr>
            <a:spLocks noGrp="1"/>
          </p:cNvSpPr>
          <p:nvPr>
            <p:ph idx="1"/>
          </p:nvPr>
        </p:nvSpPr>
        <p:spPr>
          <a:xfrm>
            <a:off x="539552" y="1484784"/>
            <a:ext cx="8473157" cy="4911128"/>
          </a:xfrm>
        </p:spPr>
        <p:txBody>
          <a:bodyPr/>
          <a:lstStyle/>
          <a:p>
            <a:pPr marL="400050" lvl="1" indent="0">
              <a:buNone/>
            </a:pPr>
            <a:r>
              <a:rPr lang="zh-CN" altLang="en-US" sz="2400" dirty="0"/>
              <a:t>（</a:t>
            </a:r>
            <a:r>
              <a:rPr lang="en-US" altLang="zh-CN" sz="2400" dirty="0"/>
              <a:t>5</a:t>
            </a:r>
            <a:r>
              <a:rPr lang="zh-CN" altLang="en-US" sz="2400" dirty="0"/>
              <a:t>）封装形成七段字型集成译码器</a:t>
            </a:r>
            <a:r>
              <a:rPr lang="en-US" altLang="zh-CN" sz="2400" dirty="0" smtClean="0"/>
              <a:t>74xx48</a:t>
            </a:r>
          </a:p>
          <a:p>
            <a:pPr marL="400050" lvl="1" indent="0">
              <a:buNone/>
            </a:pPr>
            <a:r>
              <a:rPr lang="zh-CN" altLang="en-US" dirty="0">
                <a:solidFill>
                  <a:srgbClr val="0000CC"/>
                </a:solidFill>
              </a:rPr>
              <a:t>控制端：</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91</a:t>
            </a:fld>
            <a:endParaRPr lang="zh-CN" altLang="en-US"/>
          </a:p>
        </p:txBody>
      </p:sp>
      <mc:AlternateContent xmlns:mc="http://schemas.openxmlformats.org/markup-compatibility/2006">
        <mc:Choice xmlns:a14="http://schemas.microsoft.com/office/drawing/2010/main" xmlns="" Requires="a14">
          <p:sp>
            <p:nvSpPr>
              <p:cNvPr id="5" name="矩形 4"/>
              <p:cNvSpPr/>
              <p:nvPr/>
            </p:nvSpPr>
            <p:spPr>
              <a:xfrm>
                <a:off x="1259632" y="2624417"/>
                <a:ext cx="3600400" cy="2400657"/>
              </a:xfrm>
              <a:prstGeom prst="rect">
                <a:avLst/>
              </a:prstGeom>
            </p:spPr>
            <p:txBody>
              <a:bodyPr wrap="square">
                <a:spAutoFit/>
              </a:bodyPr>
              <a:lstStyle/>
              <a:p>
                <a:pPr marL="285750" indent="-285750">
                  <a:lnSpc>
                    <a:spcPts val="3000"/>
                  </a:lnSpc>
                  <a:buClr>
                    <a:srgbClr val="0000CC"/>
                  </a:buClr>
                  <a:buFont typeface="Wingdings" pitchFamily="2" charset="2"/>
                  <a:buChar char="p"/>
                </a:pPr>
                <a:r>
                  <a:rPr lang="zh-CN" altLang="en-US" sz="2000" b="1" dirty="0" smtClean="0"/>
                  <a:t>灯测试输入端</a:t>
                </a:r>
                <a14:m>
                  <m:oMath xmlns:m="http://schemas.openxmlformats.org/officeDocument/2006/math">
                    <m:r>
                      <a:rPr lang="en-US" altLang="zh-CN" sz="2000" b="1" i="0" smtClean="0">
                        <a:latin typeface="Cambria Math"/>
                      </a:rPr>
                      <m:t>   </m:t>
                    </m:r>
                    <m:acc>
                      <m:accPr>
                        <m:chr m:val="̅"/>
                        <m:ctrlPr>
                          <a:rPr lang="zh-CN" altLang="en-US" sz="2000" b="1" i="1" smtClean="0">
                            <a:solidFill>
                              <a:srgbClr val="0000CC"/>
                            </a:solidFill>
                            <a:latin typeface="Cambria Math" panose="02040503050406030204" pitchFamily="18" charset="0"/>
                          </a:rPr>
                        </m:ctrlPr>
                      </m:accPr>
                      <m:e>
                        <m:r>
                          <m:rPr>
                            <m:nor/>
                          </m:rPr>
                          <a:rPr lang="en-US" altLang="zh-CN" sz="2000" b="1" i="0" smtClean="0">
                            <a:solidFill>
                              <a:srgbClr val="0000CC"/>
                            </a:solidFill>
                            <a:latin typeface="Cambria Math"/>
                          </a:rPr>
                          <m:t> </m:t>
                        </m:r>
                        <m:r>
                          <m:rPr>
                            <m:nor/>
                          </m:rPr>
                          <a:rPr lang="en-US" altLang="zh-CN" sz="2000" b="1" dirty="0">
                            <a:solidFill>
                              <a:srgbClr val="0000CC"/>
                            </a:solidFill>
                          </a:rPr>
                          <m:t>LT</m:t>
                        </m:r>
                        <m:r>
                          <m:rPr>
                            <m:nor/>
                          </m:rPr>
                          <a:rPr lang="en-US" altLang="zh-CN" sz="2000" b="1" dirty="0">
                            <a:solidFill>
                              <a:srgbClr val="0000CC"/>
                            </a:solidFill>
                          </a:rPr>
                          <m:t> </m:t>
                        </m:r>
                      </m:e>
                    </m:acc>
                  </m:oMath>
                </a14:m>
                <a:endParaRPr lang="en-US" altLang="zh-CN" sz="2000" b="1" dirty="0" smtClean="0"/>
              </a:p>
              <a:p>
                <a:pPr marL="285750" indent="-285750">
                  <a:lnSpc>
                    <a:spcPts val="3000"/>
                  </a:lnSpc>
                  <a:buClr>
                    <a:srgbClr val="0000CC"/>
                  </a:buClr>
                  <a:buFont typeface="Wingdings" pitchFamily="2" charset="2"/>
                  <a:buChar char="p"/>
                </a:pPr>
                <a:r>
                  <a:rPr lang="en-US" altLang="zh-CN" sz="2000" b="1" dirty="0" smtClean="0"/>
                  <a:t> </a:t>
                </a:r>
                <a:r>
                  <a:rPr lang="zh-CN" altLang="en-US" sz="2000" b="1" dirty="0"/>
                  <a:t>消隐（灭灯）输入端</a:t>
                </a:r>
                <a14:m>
                  <m:oMath xmlns:m="http://schemas.openxmlformats.org/officeDocument/2006/math">
                    <m:r>
                      <a:rPr lang="en-US" altLang="zh-CN" sz="2000" b="1">
                        <a:latin typeface="Cambria Math"/>
                      </a:rPr>
                      <m:t>   </m:t>
                    </m:r>
                    <m:acc>
                      <m:accPr>
                        <m:chr m:val="̅"/>
                        <m:ctrlPr>
                          <a:rPr lang="zh-CN" altLang="en-US" sz="2000" b="1" i="1" smtClean="0">
                            <a:solidFill>
                              <a:srgbClr val="0000CC"/>
                            </a:solidFill>
                            <a:latin typeface="Cambria Math" panose="02040503050406030204" pitchFamily="18" charset="0"/>
                          </a:rPr>
                        </m:ctrlPr>
                      </m:accPr>
                      <m:e>
                        <m:r>
                          <m:rPr>
                            <m:nor/>
                          </m:rPr>
                          <a:rPr lang="en-US" altLang="zh-CN" sz="2000" b="1">
                            <a:solidFill>
                              <a:srgbClr val="0000CC"/>
                            </a:solidFill>
                            <a:latin typeface="Cambria Math"/>
                          </a:rPr>
                          <m:t> </m:t>
                        </m:r>
                        <m:r>
                          <m:rPr>
                            <m:nor/>
                          </m:rPr>
                          <a:rPr lang="en-US" altLang="zh-CN" sz="2000" b="1" i="0" dirty="0" smtClean="0">
                            <a:solidFill>
                              <a:srgbClr val="0000CC"/>
                            </a:solidFill>
                          </a:rPr>
                          <m:t>BI</m:t>
                        </m:r>
                        <m:r>
                          <m:rPr>
                            <m:nor/>
                          </m:rPr>
                          <a:rPr lang="en-US" altLang="zh-CN" sz="2000" b="1" dirty="0" smtClean="0">
                            <a:solidFill>
                              <a:srgbClr val="0000CC"/>
                            </a:solidFill>
                          </a:rPr>
                          <m:t> </m:t>
                        </m:r>
                      </m:e>
                    </m:acc>
                    <m:r>
                      <a:rPr lang="en-US" altLang="zh-CN" sz="2000" b="1" i="1" dirty="0">
                        <a:solidFill>
                          <a:srgbClr val="0000CC"/>
                        </a:solidFill>
                        <a:latin typeface="Cambria Math"/>
                      </a:rPr>
                      <m:t> </m:t>
                    </m:r>
                  </m:oMath>
                </a14:m>
                <a:endParaRPr lang="en-US" altLang="zh-CN" sz="2000" b="1" dirty="0" smtClean="0">
                  <a:solidFill>
                    <a:srgbClr val="0000CC"/>
                  </a:solidFill>
                </a:endParaRPr>
              </a:p>
              <a:p>
                <a:pPr marL="285750" indent="-285750">
                  <a:lnSpc>
                    <a:spcPts val="3000"/>
                  </a:lnSpc>
                  <a:buClr>
                    <a:srgbClr val="0000CC"/>
                  </a:buClr>
                  <a:buFont typeface="Wingdings" pitchFamily="2" charset="2"/>
                  <a:buChar char="p"/>
                </a:pPr>
                <a:r>
                  <a:rPr lang="en-US" altLang="zh-CN" sz="2000" b="1" dirty="0" smtClean="0"/>
                  <a:t> </a:t>
                </a:r>
                <a:r>
                  <a:rPr lang="zh-CN" altLang="en-US" sz="2000" b="1" dirty="0"/>
                  <a:t>灭“</a:t>
                </a:r>
                <a:r>
                  <a:rPr lang="en-US" altLang="zh-CN" sz="2000" b="1" dirty="0"/>
                  <a:t>0”</a:t>
                </a:r>
                <a:r>
                  <a:rPr lang="zh-CN" altLang="en-US" sz="2000" b="1" dirty="0"/>
                  <a:t>输入端</a:t>
                </a:r>
                <a14:m>
                  <m:oMath xmlns:m="http://schemas.openxmlformats.org/officeDocument/2006/math">
                    <m:r>
                      <a:rPr lang="en-US" altLang="zh-CN" sz="2000" b="1">
                        <a:latin typeface="Cambria Math"/>
                      </a:rPr>
                      <m:t>   </m:t>
                    </m:r>
                    <m:acc>
                      <m:accPr>
                        <m:chr m:val="̅"/>
                        <m:ctrlPr>
                          <a:rPr lang="zh-CN" altLang="en-US" sz="2000" b="1" i="1" smtClean="0">
                            <a:solidFill>
                              <a:srgbClr val="0000CC"/>
                            </a:solidFill>
                            <a:latin typeface="Cambria Math" panose="02040503050406030204" pitchFamily="18" charset="0"/>
                          </a:rPr>
                        </m:ctrlPr>
                      </m:accPr>
                      <m:e>
                        <m:r>
                          <m:rPr>
                            <m:nor/>
                          </m:rPr>
                          <a:rPr lang="en-US" altLang="zh-CN" sz="2000" b="1">
                            <a:solidFill>
                              <a:srgbClr val="0000CC"/>
                            </a:solidFill>
                            <a:latin typeface="Cambria Math"/>
                          </a:rPr>
                          <m:t> </m:t>
                        </m:r>
                        <m:r>
                          <m:rPr>
                            <m:nor/>
                          </m:rPr>
                          <a:rPr lang="en-US" altLang="zh-CN" sz="2000" b="1" i="0" dirty="0" smtClean="0">
                            <a:solidFill>
                              <a:srgbClr val="0000CC"/>
                            </a:solidFill>
                          </a:rPr>
                          <m:t>RBI</m:t>
                        </m:r>
                        <m:r>
                          <m:rPr>
                            <m:nor/>
                          </m:rPr>
                          <a:rPr lang="en-US" altLang="zh-CN" sz="2000" b="1" dirty="0">
                            <a:solidFill>
                              <a:srgbClr val="0000CC"/>
                            </a:solidFill>
                          </a:rPr>
                          <m:t> </m:t>
                        </m:r>
                      </m:e>
                    </m:acc>
                    <m:r>
                      <a:rPr lang="en-US" altLang="zh-CN" sz="2000" b="1" i="1" dirty="0">
                        <a:solidFill>
                          <a:srgbClr val="0000CC"/>
                        </a:solidFill>
                        <a:latin typeface="Cambria Math"/>
                      </a:rPr>
                      <m:t> </m:t>
                    </m:r>
                  </m:oMath>
                </a14:m>
                <a:endParaRPr lang="en-US" altLang="zh-CN" sz="2000" b="1" dirty="0" smtClean="0">
                  <a:solidFill>
                    <a:srgbClr val="0000CC"/>
                  </a:solidFill>
                </a:endParaRPr>
              </a:p>
              <a:p>
                <a:pPr marL="285750" indent="-285750">
                  <a:lnSpc>
                    <a:spcPts val="3000"/>
                  </a:lnSpc>
                  <a:buClr>
                    <a:srgbClr val="0000CC"/>
                  </a:buClr>
                  <a:buFont typeface="Wingdings" pitchFamily="2" charset="2"/>
                  <a:buChar char="p"/>
                </a:pPr>
                <a:r>
                  <a:rPr lang="en-US" altLang="zh-CN" sz="2000" b="1" dirty="0" smtClean="0"/>
                  <a:t> </a:t>
                </a:r>
                <a:r>
                  <a:rPr lang="zh-CN" altLang="en-US" sz="2000" b="1" dirty="0"/>
                  <a:t>灭“</a:t>
                </a:r>
                <a:r>
                  <a:rPr lang="en-US" altLang="zh-CN" sz="2000" b="1" dirty="0"/>
                  <a:t>0”</a:t>
                </a:r>
                <a:r>
                  <a:rPr lang="zh-CN" altLang="en-US" sz="2000" b="1" dirty="0"/>
                  <a:t>输出端</a:t>
                </a:r>
                <a14:m>
                  <m:oMath xmlns:m="http://schemas.openxmlformats.org/officeDocument/2006/math">
                    <m:r>
                      <a:rPr lang="en-US" altLang="zh-CN" sz="2000" b="1">
                        <a:latin typeface="Cambria Math"/>
                      </a:rPr>
                      <m:t>   </m:t>
                    </m:r>
                    <m:acc>
                      <m:accPr>
                        <m:chr m:val="̅"/>
                        <m:ctrlPr>
                          <a:rPr lang="zh-CN" altLang="en-US" sz="2000" b="1" i="1">
                            <a:latin typeface="Cambria Math" panose="02040503050406030204" pitchFamily="18" charset="0"/>
                          </a:rPr>
                        </m:ctrlPr>
                      </m:accPr>
                      <m:e>
                        <m:r>
                          <m:rPr>
                            <m:nor/>
                          </m:rPr>
                          <a:rPr lang="en-US" altLang="zh-CN" sz="2000" b="1">
                            <a:latin typeface="Cambria Math"/>
                          </a:rPr>
                          <m:t> </m:t>
                        </m:r>
                        <m:r>
                          <m:rPr>
                            <m:nor/>
                          </m:rPr>
                          <a:rPr lang="en-US" altLang="zh-CN" sz="2000" b="1" i="0" dirty="0" smtClean="0">
                            <a:solidFill>
                              <a:srgbClr val="0000CC"/>
                            </a:solidFill>
                          </a:rPr>
                          <m:t>RBO</m:t>
                        </m:r>
                        <m:r>
                          <m:rPr>
                            <m:nor/>
                          </m:rPr>
                          <a:rPr lang="en-US" altLang="zh-CN" sz="2000" b="1" dirty="0" smtClean="0">
                            <a:solidFill>
                              <a:srgbClr val="0000CC"/>
                            </a:solidFill>
                          </a:rPr>
                          <m:t> </m:t>
                        </m:r>
                      </m:e>
                    </m:acc>
                  </m:oMath>
                </a14:m>
                <a:endParaRPr lang="en-US" altLang="zh-CN" sz="2000" b="1" dirty="0"/>
              </a:p>
              <a:p>
                <a:pPr marL="285750" indent="-285750">
                  <a:lnSpc>
                    <a:spcPts val="3000"/>
                  </a:lnSpc>
                  <a:buClr>
                    <a:srgbClr val="0000CC"/>
                  </a:buClr>
                  <a:buFont typeface="Wingdings" pitchFamily="2" charset="2"/>
                  <a:buChar char="p"/>
                </a:pPr>
                <a:r>
                  <a:rPr lang="zh-CN" altLang="en-US" sz="2000" b="1" dirty="0"/>
                  <a:t>控制端：</a:t>
                </a:r>
                <a14:m>
                  <m:oMath xmlns:m="http://schemas.openxmlformats.org/officeDocument/2006/math">
                    <m:acc>
                      <m:accPr>
                        <m:chr m:val="̅"/>
                        <m:ctrlPr>
                          <a:rPr lang="en-US" altLang="zh-CN" sz="2000" b="1" i="1" smtClean="0">
                            <a:solidFill>
                              <a:srgbClr val="0000CC"/>
                            </a:solidFill>
                            <a:latin typeface="Cambria Math" panose="02040503050406030204" pitchFamily="18" charset="0"/>
                          </a:rPr>
                        </m:ctrlPr>
                      </m:accPr>
                      <m:e>
                        <m:r>
                          <a:rPr lang="en-US" altLang="zh-CN" sz="2000" b="1" i="0">
                            <a:solidFill>
                              <a:srgbClr val="0000CC"/>
                            </a:solidFill>
                            <a:latin typeface="Cambria Math"/>
                          </a:rPr>
                          <m:t>𝐁𝐈</m:t>
                        </m:r>
                      </m:e>
                    </m:acc>
                    <m:r>
                      <a:rPr lang="en-US" altLang="zh-CN" sz="2000" b="1" i="0">
                        <a:solidFill>
                          <a:srgbClr val="0000CC"/>
                        </a:solidFill>
                        <a:latin typeface="Cambria Math"/>
                      </a:rPr>
                      <m:t>/</m:t>
                    </m:r>
                    <m:acc>
                      <m:accPr>
                        <m:chr m:val="̅"/>
                        <m:ctrlPr>
                          <a:rPr lang="en-US" altLang="zh-CN" sz="2000" b="1" i="1">
                            <a:solidFill>
                              <a:srgbClr val="0000CC"/>
                            </a:solidFill>
                            <a:latin typeface="Cambria Math" panose="02040503050406030204" pitchFamily="18" charset="0"/>
                          </a:rPr>
                        </m:ctrlPr>
                      </m:accPr>
                      <m:e>
                        <m:r>
                          <a:rPr lang="en-US" altLang="zh-CN" sz="2000" b="1" i="0">
                            <a:solidFill>
                              <a:srgbClr val="0000CC"/>
                            </a:solidFill>
                            <a:latin typeface="Cambria Math"/>
                          </a:rPr>
                          <m:t>𝐑𝐁𝐎</m:t>
                        </m:r>
                      </m:e>
                    </m:acc>
                  </m:oMath>
                </a14:m>
                <a:r>
                  <a:rPr lang="zh-CN" altLang="en-US" sz="2000" b="1" dirty="0"/>
                  <a:t>表示消隐输入</a:t>
                </a:r>
                <a:r>
                  <a:rPr lang="en-US" altLang="zh-CN" sz="2000" b="1" dirty="0"/>
                  <a:t>/ </a:t>
                </a:r>
                <a:r>
                  <a:rPr lang="zh-CN" altLang="en-US" sz="2000" b="1" dirty="0"/>
                  <a:t>灭</a:t>
                </a:r>
                <a:r>
                  <a:rPr lang="en-US" altLang="zh-CN" sz="2000" b="1" dirty="0"/>
                  <a:t>0 </a:t>
                </a:r>
                <a:r>
                  <a:rPr lang="zh-CN" altLang="en-US" sz="2000" b="1" dirty="0"/>
                  <a:t>输出端</a:t>
                </a:r>
                <a:r>
                  <a:rPr lang="zh-CN" altLang="en-US" sz="2000" b="1" dirty="0" smtClean="0"/>
                  <a:t>。</a:t>
                </a:r>
                <a:endParaRPr lang="en-US" altLang="zh-CN" sz="2000" b="1" dirty="0" smtClean="0"/>
              </a:p>
            </p:txBody>
          </p:sp>
        </mc:Choice>
        <mc:Fallback>
          <p:sp>
            <p:nvSpPr>
              <p:cNvPr id="5" name="矩形 4"/>
              <p:cNvSpPr>
                <a:spLocks noRot="1" noChangeAspect="1" noMove="1" noResize="1" noEditPoints="1" noAdjustHandles="1" noChangeArrowheads="1" noChangeShapeType="1" noTextEdit="1"/>
              </p:cNvSpPr>
              <p:nvPr/>
            </p:nvSpPr>
            <p:spPr>
              <a:xfrm>
                <a:off x="1259632" y="2624417"/>
                <a:ext cx="3600400" cy="2400657"/>
              </a:xfrm>
              <a:prstGeom prst="rect">
                <a:avLst/>
              </a:prstGeom>
              <a:blipFill rotWithShape="0">
                <a:blip r:embed="rId2" cstate="print"/>
                <a:stretch>
                  <a:fillRect l="-1525" t="-509" b="-2036"/>
                </a:stretch>
              </a:blipFill>
            </p:spPr>
            <p:txBody>
              <a:bodyPr/>
              <a:lstStyle/>
              <a:p>
                <a:r>
                  <a:rPr lang="zh-CN" altLang="en-US">
                    <a:noFill/>
                  </a:rPr>
                  <a:t> </a:t>
                </a:r>
              </a:p>
            </p:txBody>
          </p:sp>
        </mc:Fallback>
      </mc:AlternateContent>
    </p:spTree>
    <p:extLst>
      <p:ext uri="{BB962C8B-B14F-4D97-AF65-F5344CB8AC3E}">
        <p14:creationId xmlns:p14="http://schemas.microsoft.com/office/powerpoint/2010/main" xmlns="" val="1875700833"/>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3" name="内容占位符 2"/>
              <p:cNvSpPr>
                <a:spLocks noGrp="1"/>
              </p:cNvSpPr>
              <p:nvPr>
                <p:ph idx="1"/>
              </p:nvPr>
            </p:nvSpPr>
            <p:spPr>
              <a:xfrm>
                <a:off x="793750" y="1414018"/>
                <a:ext cx="8161338" cy="4911128"/>
              </a:xfrm>
            </p:spPr>
            <p:txBody>
              <a:bodyPr/>
              <a:lstStyle/>
              <a:p>
                <a:r>
                  <a:rPr lang="en-US" altLang="zh-CN" dirty="0"/>
                  <a:t>74XX48</a:t>
                </a:r>
                <a:r>
                  <a:rPr lang="zh-CN" altLang="en-US" dirty="0"/>
                  <a:t>附加控制功能</a:t>
                </a:r>
                <a:r>
                  <a:rPr lang="zh-CN" altLang="en-US" dirty="0" smtClean="0"/>
                  <a:t>介绍：</a:t>
                </a:r>
              </a:p>
              <a:p>
                <a:pPr lvl="1">
                  <a:lnSpc>
                    <a:spcPct val="150000"/>
                  </a:lnSpc>
                </a:pPr>
                <a:r>
                  <a:rPr lang="zh-CN" altLang="en-US" sz="1800" dirty="0" smtClean="0"/>
                  <a:t>灯测试输入端，主要用于检查</a:t>
                </a:r>
                <a:r>
                  <a:rPr lang="en-US" altLang="zh-CN" sz="1800" dirty="0" smtClean="0"/>
                  <a:t>LED</a:t>
                </a:r>
                <a:r>
                  <a:rPr lang="zh-CN" altLang="en-US" sz="1800" dirty="0" smtClean="0"/>
                  <a:t>的好坏</a:t>
                </a:r>
                <a:r>
                  <a:rPr lang="en-US" altLang="zh-CN" sz="1800" dirty="0" smtClean="0"/>
                  <a:t>:</a:t>
                </a:r>
              </a:p>
              <a:p>
                <a:pPr marL="457200" lvl="1" indent="0">
                  <a:lnSpc>
                    <a:spcPct val="150000"/>
                  </a:lnSpc>
                  <a:buNone/>
                </a:pPr>
                <a:r>
                  <a:rPr lang="en-US" altLang="zh-CN" sz="1800" dirty="0" smtClean="0">
                    <a:solidFill>
                      <a:srgbClr val="0000CC"/>
                    </a:solidFill>
                  </a:rPr>
                  <a:t> 	</a:t>
                </a:r>
                <a14:m>
                  <m:oMath xmlns:m="http://schemas.openxmlformats.org/officeDocument/2006/math">
                    <m:acc>
                      <m:accPr>
                        <m:chr m:val="̅"/>
                        <m:ctrlPr>
                          <a:rPr lang="zh-CN" altLang="en-US" sz="1800" i="1">
                            <a:solidFill>
                              <a:srgbClr val="0000CC"/>
                            </a:solidFill>
                            <a:latin typeface="Cambria Math" panose="02040503050406030204" pitchFamily="18" charset="0"/>
                          </a:rPr>
                        </m:ctrlPr>
                      </m:accPr>
                      <m:e>
                        <m:r>
                          <m:rPr>
                            <m:nor/>
                          </m:rPr>
                          <a:rPr lang="en-US" altLang="zh-CN" sz="1800">
                            <a:solidFill>
                              <a:srgbClr val="0000CC"/>
                            </a:solidFill>
                            <a:latin typeface="Cambria Math"/>
                          </a:rPr>
                          <m:t> </m:t>
                        </m:r>
                        <m:r>
                          <m:rPr>
                            <m:nor/>
                          </m:rPr>
                          <a:rPr lang="en-US" altLang="zh-CN" sz="1800" dirty="0">
                            <a:solidFill>
                              <a:srgbClr val="0000CC"/>
                            </a:solidFill>
                          </a:rPr>
                          <m:t>LT</m:t>
                        </m:r>
                        <m:r>
                          <m:rPr>
                            <m:nor/>
                          </m:rPr>
                          <a:rPr lang="en-US" altLang="zh-CN" sz="1800" dirty="0">
                            <a:solidFill>
                              <a:srgbClr val="0000CC"/>
                            </a:solidFill>
                          </a:rPr>
                          <m:t> </m:t>
                        </m:r>
                      </m:e>
                    </m:acc>
                  </m:oMath>
                </a14:m>
                <a:r>
                  <a:rPr lang="en-US" altLang="zh-CN" sz="1800" dirty="0" smtClean="0">
                    <a:solidFill>
                      <a:srgbClr val="0000CC"/>
                    </a:solidFill>
                  </a:rPr>
                  <a:t> =  </a:t>
                </a:r>
              </a:p>
              <a:p>
                <a:pPr lvl="1">
                  <a:lnSpc>
                    <a:spcPct val="150000"/>
                  </a:lnSpc>
                </a:pPr>
                <a:r>
                  <a:rPr lang="zh-CN" altLang="en-US" sz="1800" dirty="0" smtClean="0"/>
                  <a:t>消隐</a:t>
                </a:r>
                <a:r>
                  <a:rPr lang="zh-CN" altLang="en-US" sz="1800" dirty="0"/>
                  <a:t>输入端（与灭“</a:t>
                </a:r>
                <a:r>
                  <a:rPr lang="en-US" altLang="zh-CN" sz="1800" dirty="0"/>
                  <a:t>0”</a:t>
                </a:r>
                <a:r>
                  <a:rPr lang="zh-CN" altLang="en-US" sz="1800" dirty="0"/>
                  <a:t>输出端共用）</a:t>
                </a:r>
                <a:r>
                  <a:rPr lang="en-US" altLang="zh-CN" sz="1800" dirty="0" smtClean="0"/>
                  <a:t>:</a:t>
                </a:r>
              </a:p>
              <a:p>
                <a:pPr marL="457200" lvl="1" indent="0">
                  <a:lnSpc>
                    <a:spcPct val="150000"/>
                  </a:lnSpc>
                  <a:buNone/>
                </a:pPr>
                <a:r>
                  <a:rPr lang="en-US" altLang="zh-CN" sz="1800" dirty="0" smtClean="0">
                    <a:solidFill>
                      <a:srgbClr val="0000CC"/>
                    </a:solidFill>
                  </a:rPr>
                  <a:t>	</a:t>
                </a:r>
                <a14:m>
                  <m:oMath xmlns:m="http://schemas.openxmlformats.org/officeDocument/2006/math">
                    <m:acc>
                      <m:accPr>
                        <m:chr m:val="̅"/>
                        <m:ctrlPr>
                          <a:rPr lang="zh-CN" altLang="en-US" sz="1800" i="1">
                            <a:solidFill>
                              <a:srgbClr val="0000CC"/>
                            </a:solidFill>
                            <a:latin typeface="Cambria Math" panose="02040503050406030204" pitchFamily="18" charset="0"/>
                          </a:rPr>
                        </m:ctrlPr>
                      </m:accPr>
                      <m:e>
                        <m:r>
                          <m:rPr>
                            <m:nor/>
                          </m:rPr>
                          <a:rPr lang="en-US" altLang="zh-CN" sz="1800">
                            <a:solidFill>
                              <a:srgbClr val="0000CC"/>
                            </a:solidFill>
                            <a:latin typeface="Cambria Math"/>
                          </a:rPr>
                          <m:t> </m:t>
                        </m:r>
                        <m:r>
                          <m:rPr>
                            <m:nor/>
                          </m:rPr>
                          <a:rPr lang="en-US" altLang="zh-CN" sz="1800" dirty="0">
                            <a:solidFill>
                              <a:srgbClr val="0000CC"/>
                            </a:solidFill>
                          </a:rPr>
                          <m:t>BI</m:t>
                        </m:r>
                        <m:r>
                          <m:rPr>
                            <m:nor/>
                          </m:rPr>
                          <a:rPr lang="en-US" altLang="zh-CN" sz="1800" dirty="0">
                            <a:solidFill>
                              <a:srgbClr val="0000CC"/>
                            </a:solidFill>
                          </a:rPr>
                          <m:t> </m:t>
                        </m:r>
                      </m:e>
                    </m:acc>
                  </m:oMath>
                </a14:m>
                <a:r>
                  <a:rPr lang="en-US" altLang="zh-CN" sz="1800" dirty="0">
                    <a:solidFill>
                      <a:srgbClr val="0000CC"/>
                    </a:solidFill>
                  </a:rPr>
                  <a:t> =</a:t>
                </a:r>
              </a:p>
              <a:p>
                <a:pPr lvl="1"/>
                <a:r>
                  <a:rPr lang="zh-CN" altLang="en-US" sz="1800" dirty="0" smtClean="0"/>
                  <a:t>灭</a:t>
                </a:r>
                <a:r>
                  <a:rPr lang="zh-CN" altLang="en-US" sz="1800" dirty="0"/>
                  <a:t>“</a:t>
                </a:r>
                <a:r>
                  <a:rPr lang="en-US" altLang="zh-CN" sz="1800" dirty="0"/>
                  <a:t>0”</a:t>
                </a:r>
                <a:r>
                  <a:rPr lang="zh-CN" altLang="en-US" sz="1800" dirty="0"/>
                  <a:t>输入端，熄灭无意义的</a:t>
                </a:r>
                <a:r>
                  <a:rPr lang="en-US" altLang="zh-CN" sz="1800" dirty="0"/>
                  <a:t>0</a:t>
                </a:r>
                <a:r>
                  <a:rPr lang="en-US" altLang="zh-CN" sz="1800" dirty="0" smtClean="0"/>
                  <a:t>:</a:t>
                </a:r>
              </a:p>
              <a:p>
                <a:pPr marL="457200" lvl="1" indent="0">
                  <a:buNone/>
                </a:pPr>
                <a:r>
                  <a:rPr lang="en-US" altLang="zh-CN" sz="1800" dirty="0" smtClean="0">
                    <a:solidFill>
                      <a:srgbClr val="0000CC"/>
                    </a:solidFill>
                  </a:rPr>
                  <a:t>	</a:t>
                </a:r>
                <a:r>
                  <a:rPr lang="zh-CN" altLang="en-US" sz="1800" dirty="0">
                    <a:solidFill>
                      <a:srgbClr val="0000CC"/>
                    </a:solidFill>
                  </a:rPr>
                  <a:t> </a:t>
                </a:r>
                <a14:m>
                  <m:oMath xmlns:m="http://schemas.openxmlformats.org/officeDocument/2006/math">
                    <m:acc>
                      <m:accPr>
                        <m:chr m:val="̅"/>
                        <m:ctrlPr>
                          <a:rPr lang="zh-CN" altLang="en-US" sz="1800" i="1">
                            <a:solidFill>
                              <a:srgbClr val="0000CC"/>
                            </a:solidFill>
                            <a:latin typeface="Cambria Math" panose="02040503050406030204" pitchFamily="18" charset="0"/>
                          </a:rPr>
                        </m:ctrlPr>
                      </m:accPr>
                      <m:e>
                        <m:r>
                          <m:rPr>
                            <m:nor/>
                          </m:rPr>
                          <a:rPr lang="en-US" altLang="zh-CN" sz="1800">
                            <a:solidFill>
                              <a:srgbClr val="0000CC"/>
                            </a:solidFill>
                            <a:latin typeface="Cambria Math"/>
                          </a:rPr>
                          <m:t> </m:t>
                        </m:r>
                        <m:r>
                          <m:rPr>
                            <m:nor/>
                          </m:rPr>
                          <a:rPr lang="en-US" altLang="zh-CN" sz="1800" b="1" i="0" dirty="0" smtClean="0">
                            <a:solidFill>
                              <a:srgbClr val="0000CC"/>
                            </a:solidFill>
                          </a:rPr>
                          <m:t>RBI</m:t>
                        </m:r>
                        <m:r>
                          <m:rPr>
                            <m:nor/>
                          </m:rPr>
                          <a:rPr lang="en-US" altLang="zh-CN" sz="1800" dirty="0">
                            <a:solidFill>
                              <a:srgbClr val="0000CC"/>
                            </a:solidFill>
                          </a:rPr>
                          <m:t> </m:t>
                        </m:r>
                      </m:e>
                    </m:acc>
                  </m:oMath>
                </a14:m>
                <a:r>
                  <a:rPr lang="en-US" altLang="zh-CN" sz="1800" dirty="0">
                    <a:solidFill>
                      <a:srgbClr val="0000CC"/>
                    </a:solidFill>
                  </a:rPr>
                  <a:t> </a:t>
                </a:r>
                <a:r>
                  <a:rPr lang="en-US" altLang="zh-CN" sz="1800" dirty="0" smtClean="0">
                    <a:solidFill>
                      <a:srgbClr val="0000CC"/>
                    </a:solidFill>
                  </a:rPr>
                  <a:t>=</a:t>
                </a:r>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793750" y="1414018"/>
                <a:ext cx="8161338" cy="4911128"/>
              </a:xfrm>
              <a:blipFill>
                <a:blip r:embed="rId2" cstate="print"/>
                <a:stretch>
                  <a:fillRect l="-149" t="-1489"/>
                </a:stretch>
              </a:blipFill>
            </p:spPr>
            <p:txBody>
              <a:bodyPr/>
              <a:lstStyle/>
              <a:p>
                <a:r>
                  <a:rPr lang="zh-CN" altLang="en-US" dirty="0">
                    <a:noFill/>
                  </a:rPr>
                  <a:t> </a:t>
                </a:r>
              </a:p>
            </p:txBody>
          </p:sp>
        </mc:Fallback>
      </mc:AlternateContent>
      <p:sp>
        <p:nvSpPr>
          <p:cNvPr id="2" name="标题 1"/>
          <p:cNvSpPr>
            <a:spLocks noGrp="1"/>
          </p:cNvSpPr>
          <p:nvPr>
            <p:ph type="title"/>
          </p:nvPr>
        </p:nvSpPr>
        <p:spPr>
          <a:xfrm>
            <a:off x="1203451" y="692696"/>
            <a:ext cx="7617022" cy="566936"/>
          </a:xfrm>
        </p:spPr>
        <p:txBody>
          <a:bodyPr/>
          <a:lstStyle/>
          <a:p>
            <a:r>
              <a:rPr lang="en-US" altLang="zh-CN" dirty="0" smtClean="0"/>
              <a:t>4.4.3 </a:t>
            </a:r>
            <a:r>
              <a:rPr lang="zh-CN" altLang="en-US" dirty="0" smtClean="0"/>
              <a:t>显示译码器</a:t>
            </a:r>
            <a:endParaRPr lang="zh-CN" altLang="en-US" dirty="0"/>
          </a:p>
        </p:txBody>
      </p:sp>
      <p:sp>
        <p:nvSpPr>
          <p:cNvPr id="4" name="灯片编号占位符 3"/>
          <p:cNvSpPr>
            <a:spLocks noGrp="1"/>
          </p:cNvSpPr>
          <p:nvPr>
            <p:ph type="sldNum" sz="quarter" idx="12"/>
          </p:nvPr>
        </p:nvSpPr>
        <p:spPr>
          <a:xfrm>
            <a:off x="6660282" y="5852120"/>
            <a:ext cx="1905000" cy="457200"/>
          </a:xfrm>
        </p:spPr>
        <p:txBody>
          <a:bodyPr/>
          <a:lstStyle/>
          <a:p>
            <a:fld id="{0C913308-F349-4B6D-A68A-DD1791B4A57B}" type="slidenum">
              <a:rPr lang="zh-CN" altLang="en-US" smtClean="0"/>
              <a:pPr/>
              <a:t>92</a:t>
            </a:fld>
            <a:endParaRPr lang="zh-CN" altLang="en-US"/>
          </a:p>
        </p:txBody>
      </p:sp>
      <p:sp>
        <p:nvSpPr>
          <p:cNvPr id="5" name="矩形 4"/>
          <p:cNvSpPr/>
          <p:nvPr/>
        </p:nvSpPr>
        <p:spPr>
          <a:xfrm>
            <a:off x="2758802" y="2261057"/>
            <a:ext cx="4572000" cy="671851"/>
          </a:xfrm>
          <a:prstGeom prst="rect">
            <a:avLst/>
          </a:prstGeom>
        </p:spPr>
        <p:txBody>
          <a:bodyPr>
            <a:spAutoFit/>
          </a:bodyPr>
          <a:lstStyle/>
          <a:p>
            <a:pPr>
              <a:lnSpc>
                <a:spcPts val="2400"/>
              </a:lnSpc>
            </a:pPr>
            <a:r>
              <a:rPr lang="en-US" altLang="zh-CN" sz="1600" b="1" dirty="0"/>
              <a:t>0 </a:t>
            </a:r>
            <a:r>
              <a:rPr lang="zh-CN" altLang="en-US" sz="1600" b="1" dirty="0"/>
              <a:t>时，输出</a:t>
            </a:r>
            <a:r>
              <a:rPr lang="en-US" altLang="zh-CN" sz="1600" b="1" dirty="0"/>
              <a:t>a ~ g </a:t>
            </a:r>
            <a:r>
              <a:rPr lang="zh-CN" altLang="en-US" sz="1600" b="1" dirty="0"/>
              <a:t>全“</a:t>
            </a:r>
            <a:r>
              <a:rPr lang="en-US" altLang="zh-CN" sz="1600" b="1" dirty="0"/>
              <a:t>1”</a:t>
            </a:r>
            <a:r>
              <a:rPr lang="zh-CN" altLang="en-US" sz="1600" b="1" dirty="0"/>
              <a:t>七段全亮。</a:t>
            </a:r>
          </a:p>
          <a:p>
            <a:pPr>
              <a:lnSpc>
                <a:spcPts val="2400"/>
              </a:lnSpc>
            </a:pPr>
            <a:r>
              <a:rPr lang="en-US" altLang="zh-CN" sz="1600" b="1" dirty="0" smtClean="0"/>
              <a:t>1 </a:t>
            </a:r>
            <a:r>
              <a:rPr lang="zh-CN" altLang="en-US" sz="1600" b="1" dirty="0"/>
              <a:t>时，正常译码。</a:t>
            </a:r>
          </a:p>
        </p:txBody>
      </p:sp>
      <p:sp>
        <p:nvSpPr>
          <p:cNvPr id="6" name="矩形 5"/>
          <p:cNvSpPr/>
          <p:nvPr/>
        </p:nvSpPr>
        <p:spPr>
          <a:xfrm>
            <a:off x="2783582" y="3195222"/>
            <a:ext cx="4572000" cy="694293"/>
          </a:xfrm>
          <a:prstGeom prst="rect">
            <a:avLst/>
          </a:prstGeom>
        </p:spPr>
        <p:txBody>
          <a:bodyPr>
            <a:spAutoFit/>
          </a:bodyPr>
          <a:lstStyle/>
          <a:p>
            <a:pPr>
              <a:lnSpc>
                <a:spcPts val="2500"/>
              </a:lnSpc>
            </a:pPr>
            <a:r>
              <a:rPr lang="en-US" altLang="zh-CN" sz="1600" b="1" dirty="0"/>
              <a:t>0 </a:t>
            </a:r>
            <a:r>
              <a:rPr lang="zh-CN" altLang="en-US" sz="1600" b="1" dirty="0"/>
              <a:t>时，不管输入何种状态，输出段全灭</a:t>
            </a:r>
          </a:p>
          <a:p>
            <a:pPr>
              <a:lnSpc>
                <a:spcPts val="2500"/>
              </a:lnSpc>
            </a:pPr>
            <a:r>
              <a:rPr lang="en-US" altLang="zh-CN" sz="1600" b="1" dirty="0"/>
              <a:t>1 </a:t>
            </a:r>
            <a:r>
              <a:rPr lang="zh-CN" altLang="en-US" sz="1600" b="1" dirty="0"/>
              <a:t>时，正常译码。</a:t>
            </a:r>
          </a:p>
        </p:txBody>
      </p:sp>
      <p:sp>
        <p:nvSpPr>
          <p:cNvPr id="7" name="矩形 6"/>
          <p:cNvSpPr/>
          <p:nvPr/>
        </p:nvSpPr>
        <p:spPr>
          <a:xfrm>
            <a:off x="2880524" y="4172766"/>
            <a:ext cx="4572000" cy="836126"/>
          </a:xfrm>
          <a:prstGeom prst="rect">
            <a:avLst/>
          </a:prstGeom>
        </p:spPr>
        <p:txBody>
          <a:bodyPr>
            <a:spAutoFit/>
          </a:bodyPr>
          <a:lstStyle/>
          <a:p>
            <a:pPr>
              <a:lnSpc>
                <a:spcPts val="2900"/>
              </a:lnSpc>
            </a:pPr>
            <a:r>
              <a:rPr lang="en-US" altLang="zh-CN" sz="1600" b="1" dirty="0"/>
              <a:t>0 </a:t>
            </a:r>
            <a:r>
              <a:rPr lang="zh-CN" altLang="en-US" sz="1600" b="1" dirty="0"/>
              <a:t>时，灭掉不要显示的</a:t>
            </a:r>
            <a:r>
              <a:rPr lang="en-US" altLang="zh-CN" sz="1600" b="1" dirty="0"/>
              <a:t>0</a:t>
            </a:r>
            <a:r>
              <a:rPr lang="zh-CN" altLang="en-US" sz="1600" b="1" dirty="0"/>
              <a:t>，</a:t>
            </a:r>
            <a:r>
              <a:rPr lang="en-US" altLang="zh-CN" sz="1600" b="1" dirty="0"/>
              <a:t>001→1</a:t>
            </a:r>
          </a:p>
          <a:p>
            <a:pPr>
              <a:lnSpc>
                <a:spcPts val="2900"/>
              </a:lnSpc>
            </a:pPr>
            <a:r>
              <a:rPr lang="en-US" altLang="zh-CN" sz="1600" b="1" dirty="0"/>
              <a:t>1 </a:t>
            </a:r>
            <a:r>
              <a:rPr lang="zh-CN" altLang="en-US" sz="1600" b="1" dirty="0"/>
              <a:t>时，显示</a:t>
            </a:r>
            <a:r>
              <a:rPr lang="en-US" altLang="zh-CN" sz="1600" b="1" dirty="0"/>
              <a:t>0,</a:t>
            </a:r>
            <a:r>
              <a:rPr lang="zh-CN" altLang="en-US" sz="1600" b="1" dirty="0"/>
              <a:t>不灭中间</a:t>
            </a:r>
            <a:r>
              <a:rPr lang="en-US" altLang="zh-CN" sz="1600" b="1" dirty="0"/>
              <a:t>0</a:t>
            </a:r>
            <a:r>
              <a:rPr lang="zh-CN" altLang="en-US" sz="1600" b="1" dirty="0"/>
              <a:t>。</a:t>
            </a:r>
            <a:r>
              <a:rPr lang="en-US" altLang="zh-CN" sz="1600" b="1" dirty="0"/>
              <a:t>101→101</a:t>
            </a:r>
          </a:p>
        </p:txBody>
      </p:sp>
      <p:sp>
        <p:nvSpPr>
          <p:cNvPr id="8" name="左大括号 7"/>
          <p:cNvSpPr/>
          <p:nvPr/>
        </p:nvSpPr>
        <p:spPr bwMode="auto">
          <a:xfrm>
            <a:off x="2655306" y="2345322"/>
            <a:ext cx="108520" cy="502315"/>
          </a:xfrm>
          <a:prstGeom prst="leftBrace">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3600" b="0" i="0" u="none" strike="noStrike" cap="none" normalizeH="0" baseline="0" smtClean="0">
              <a:ln>
                <a:noFill/>
              </a:ln>
              <a:solidFill>
                <a:schemeClr val="tx1"/>
              </a:solidFill>
              <a:effectLst/>
              <a:latin typeface="Tahoma" pitchFamily="34" charset="0"/>
              <a:ea typeface="宋体" charset="-122"/>
            </a:endParaRPr>
          </a:p>
        </p:txBody>
      </p:sp>
      <p:sp>
        <p:nvSpPr>
          <p:cNvPr id="9" name="左大括号 8"/>
          <p:cNvSpPr/>
          <p:nvPr/>
        </p:nvSpPr>
        <p:spPr bwMode="auto">
          <a:xfrm>
            <a:off x="2666418" y="3356068"/>
            <a:ext cx="108520" cy="502315"/>
          </a:xfrm>
          <a:prstGeom prst="leftBrace">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3600" b="0" i="0" u="none" strike="noStrike" cap="none" normalizeH="0" baseline="0" smtClean="0">
              <a:ln>
                <a:noFill/>
              </a:ln>
              <a:solidFill>
                <a:schemeClr val="tx1"/>
              </a:solidFill>
              <a:effectLst/>
              <a:latin typeface="Tahoma" pitchFamily="34" charset="0"/>
              <a:ea typeface="宋体" charset="-122"/>
            </a:endParaRPr>
          </a:p>
        </p:txBody>
      </p:sp>
      <p:sp>
        <p:nvSpPr>
          <p:cNvPr id="10" name="左大括号 9"/>
          <p:cNvSpPr/>
          <p:nvPr/>
        </p:nvSpPr>
        <p:spPr bwMode="auto">
          <a:xfrm>
            <a:off x="2741414" y="4327069"/>
            <a:ext cx="108520" cy="502315"/>
          </a:xfrm>
          <a:prstGeom prst="leftBrace">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3600" b="0" i="0" u="none" strike="noStrike" cap="none" normalizeH="0" baseline="0" smtClean="0">
              <a:ln>
                <a:noFill/>
              </a:ln>
              <a:solidFill>
                <a:schemeClr val="tx1"/>
              </a:solidFill>
              <a:effectLst/>
              <a:latin typeface="Tahoma" pitchFamily="34" charset="0"/>
              <a:ea typeface="宋体" charset="-122"/>
            </a:endParaRPr>
          </a:p>
        </p:txBody>
      </p:sp>
      <p:pic>
        <p:nvPicPr>
          <p:cNvPr id="12"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6711938" y="1513199"/>
            <a:ext cx="2139200" cy="190850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mc:AlternateContent xmlns:mc="http://schemas.openxmlformats.org/markup-compatibility/2006">
        <mc:Choice xmlns:a14="http://schemas.microsoft.com/office/drawing/2010/main" xmlns="" Requires="a14">
          <p:sp>
            <p:nvSpPr>
              <p:cNvPr id="13" name="矩形 12"/>
              <p:cNvSpPr/>
              <p:nvPr/>
            </p:nvSpPr>
            <p:spPr>
              <a:xfrm>
                <a:off x="6185388" y="3041879"/>
                <a:ext cx="980076" cy="339132"/>
              </a:xfrm>
              <a:prstGeom prst="rect">
                <a:avLst/>
              </a:prstGeom>
              <a:solidFill>
                <a:schemeClr val="bg1"/>
              </a:solidFill>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altLang="zh-CN" sz="1600" i="1" smtClean="0">
                              <a:solidFill>
                                <a:srgbClr val="FF0000"/>
                              </a:solidFill>
                              <a:latin typeface="Cambria Math" panose="02040503050406030204" pitchFamily="18" charset="0"/>
                            </a:rPr>
                          </m:ctrlPr>
                        </m:accPr>
                        <m:e>
                          <m:r>
                            <a:rPr lang="en-US" altLang="zh-CN" sz="1600" b="0" i="1" smtClean="0">
                              <a:solidFill>
                                <a:srgbClr val="FF0000"/>
                              </a:solidFill>
                              <a:latin typeface="Cambria Math"/>
                            </a:rPr>
                            <m:t>𝐵𝐼</m:t>
                          </m:r>
                        </m:e>
                      </m:acc>
                      <m:r>
                        <a:rPr lang="en-US" altLang="zh-CN" sz="1600" b="0" i="1" smtClean="0">
                          <a:solidFill>
                            <a:srgbClr val="FF0000"/>
                          </a:solidFill>
                          <a:latin typeface="Cambria Math"/>
                        </a:rPr>
                        <m:t>/</m:t>
                      </m:r>
                      <m:acc>
                        <m:accPr>
                          <m:chr m:val="̅"/>
                          <m:ctrlPr>
                            <a:rPr lang="en-US" altLang="zh-CN" sz="1600" b="0" i="1" smtClean="0">
                              <a:solidFill>
                                <a:srgbClr val="FF0000"/>
                              </a:solidFill>
                              <a:latin typeface="Cambria Math" panose="02040503050406030204" pitchFamily="18" charset="0"/>
                            </a:rPr>
                          </m:ctrlPr>
                        </m:accPr>
                        <m:e>
                          <m:r>
                            <a:rPr lang="en-US" altLang="zh-CN" sz="1600" b="0" i="1" smtClean="0">
                              <a:solidFill>
                                <a:srgbClr val="FF0000"/>
                              </a:solidFill>
                              <a:latin typeface="Cambria Math"/>
                            </a:rPr>
                            <m:t>𝑅𝐵𝑂</m:t>
                          </m:r>
                        </m:e>
                      </m:acc>
                    </m:oMath>
                  </m:oMathPara>
                </a14:m>
                <a:endParaRPr lang="en-US" altLang="zh-CN" sz="1600" dirty="0">
                  <a:solidFill>
                    <a:srgbClr val="FF0000"/>
                  </a:solidFill>
                </a:endParaRPr>
              </a:p>
            </p:txBody>
          </p:sp>
        </mc:Choice>
        <mc:Fallback>
          <p:sp>
            <p:nvSpPr>
              <p:cNvPr id="13" name="矩形 12"/>
              <p:cNvSpPr>
                <a:spLocks noRot="1" noChangeAspect="1" noMove="1" noResize="1" noEditPoints="1" noAdjustHandles="1" noChangeArrowheads="1" noChangeShapeType="1" noTextEdit="1"/>
              </p:cNvSpPr>
              <p:nvPr/>
            </p:nvSpPr>
            <p:spPr>
              <a:xfrm>
                <a:off x="6185388" y="3041879"/>
                <a:ext cx="980076" cy="339132"/>
              </a:xfrm>
              <a:prstGeom prst="rect">
                <a:avLst/>
              </a:prstGeom>
              <a:blipFill rotWithShape="0">
                <a:blip r:embed="rId4" cstate="print"/>
                <a:stretch>
                  <a:fillRect b="-1250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xmlns="" Requires="a14">
          <p:sp>
            <p:nvSpPr>
              <p:cNvPr id="11" name="矩形 10"/>
              <p:cNvSpPr/>
              <p:nvPr/>
            </p:nvSpPr>
            <p:spPr>
              <a:xfrm>
                <a:off x="804838" y="5038442"/>
                <a:ext cx="7305650" cy="385555"/>
              </a:xfrm>
              <a:prstGeom prst="rect">
                <a:avLst/>
              </a:prstGeom>
            </p:spPr>
            <p:txBody>
              <a:bodyPr wrap="square">
                <a:spAutoFit/>
              </a:bodyPr>
              <a:lstStyle/>
              <a:p>
                <a:pPr marL="914400" lvl="1" indent="-457200">
                  <a:buClr>
                    <a:srgbClr val="FF0000"/>
                  </a:buClr>
                  <a:buSzPct val="60000"/>
                  <a:buFont typeface="Wingdings" panose="05000000000000000000" pitchFamily="2" charset="2"/>
                  <a:buChar char="n"/>
                </a:pPr>
                <a14:m>
                  <m:oMath xmlns:m="http://schemas.openxmlformats.org/officeDocument/2006/math">
                    <m:acc>
                      <m:accPr>
                        <m:chr m:val="̅"/>
                        <m:ctrlPr>
                          <a:rPr lang="zh-CN" altLang="en-US" b="1" i="1">
                            <a:solidFill>
                              <a:srgbClr val="0000CC"/>
                            </a:solidFill>
                            <a:latin typeface="Cambria Math" panose="02040503050406030204" pitchFamily="18" charset="0"/>
                          </a:rPr>
                        </m:ctrlPr>
                      </m:accPr>
                      <m:e>
                        <m:r>
                          <m:rPr>
                            <m:nor/>
                          </m:rPr>
                          <a:rPr lang="en-US" altLang="zh-CN" b="1">
                            <a:solidFill>
                              <a:srgbClr val="0000CC"/>
                            </a:solidFill>
                            <a:latin typeface="Cambria Math"/>
                          </a:rPr>
                          <m:t> </m:t>
                        </m:r>
                        <m:r>
                          <m:rPr>
                            <m:nor/>
                          </m:rPr>
                          <a:rPr lang="en-US" altLang="zh-CN" b="1" dirty="0">
                            <a:solidFill>
                              <a:srgbClr val="0000CC"/>
                            </a:solidFill>
                          </a:rPr>
                          <m:t>RBO</m:t>
                        </m:r>
                      </m:e>
                    </m:acc>
                  </m:oMath>
                </a14:m>
                <a:r>
                  <a:rPr lang="en-US" altLang="zh-CN" b="1" dirty="0">
                    <a:solidFill>
                      <a:srgbClr val="0000CC"/>
                    </a:solidFill>
                  </a:rPr>
                  <a:t> </a:t>
                </a:r>
                <a:r>
                  <a:rPr lang="en-US" altLang="zh-CN" b="1" dirty="0"/>
                  <a:t> </a:t>
                </a:r>
                <a:r>
                  <a:rPr lang="zh-CN" altLang="en-US" b="1" dirty="0" smtClean="0"/>
                  <a:t>为输出端，受控与</a:t>
                </a:r>
                <a14:m>
                  <m:oMath xmlns:m="http://schemas.openxmlformats.org/officeDocument/2006/math">
                    <m:acc>
                      <m:accPr>
                        <m:chr m:val="̅"/>
                        <m:ctrlPr>
                          <a:rPr lang="en-US" altLang="zh-CN" b="1" i="1" dirty="0" smtClean="0">
                            <a:solidFill>
                              <a:srgbClr val="005DA2"/>
                            </a:solidFill>
                            <a:latin typeface="Cambria Math" panose="02040503050406030204" pitchFamily="18" charset="0"/>
                          </a:rPr>
                        </m:ctrlPr>
                      </m:accPr>
                      <m:e>
                        <m:r>
                          <a:rPr lang="en-US" altLang="zh-CN" b="1" i="1" dirty="0">
                            <a:solidFill>
                              <a:srgbClr val="005DA2"/>
                            </a:solidFill>
                            <a:latin typeface="Cambria Math" panose="02040503050406030204" pitchFamily="18" charset="0"/>
                          </a:rPr>
                          <m:t>𝑳𝑻</m:t>
                        </m:r>
                      </m:e>
                    </m:acc>
                  </m:oMath>
                </a14:m>
                <a:r>
                  <a:rPr lang="zh-CN" altLang="en-US" b="1" dirty="0" smtClean="0"/>
                  <a:t>端和</a:t>
                </a:r>
                <a14:m>
                  <m:oMath xmlns:m="http://schemas.openxmlformats.org/officeDocument/2006/math">
                    <m:acc>
                      <m:accPr>
                        <m:chr m:val="̅"/>
                        <m:ctrlPr>
                          <a:rPr lang="en-US" altLang="zh-CN" b="1" i="1" dirty="0" smtClean="0">
                            <a:solidFill>
                              <a:srgbClr val="005DA2"/>
                            </a:solidFill>
                            <a:latin typeface="Cambria Math" panose="02040503050406030204" pitchFamily="18" charset="0"/>
                          </a:rPr>
                        </m:ctrlPr>
                      </m:accPr>
                      <m:e>
                        <m:r>
                          <a:rPr lang="en-US" altLang="zh-CN" b="1" i="1" dirty="0">
                            <a:solidFill>
                              <a:srgbClr val="005DA2"/>
                            </a:solidFill>
                            <a:latin typeface="Cambria Math" panose="02040503050406030204" pitchFamily="18" charset="0"/>
                          </a:rPr>
                          <m:t>𝑹𝑩𝑰</m:t>
                        </m:r>
                      </m:e>
                    </m:acc>
                  </m:oMath>
                </a14:m>
                <a:r>
                  <a:rPr lang="zh-CN" altLang="en-US" b="1" dirty="0" smtClean="0"/>
                  <a:t>端。</a:t>
                </a:r>
                <a:endParaRPr lang="zh-CN" altLang="en-US" b="1" dirty="0"/>
              </a:p>
            </p:txBody>
          </p:sp>
        </mc:Choice>
        <mc:Fallback>
          <p:sp>
            <p:nvSpPr>
              <p:cNvPr id="11" name="矩形 10"/>
              <p:cNvSpPr>
                <a:spLocks noRot="1" noChangeAspect="1" noMove="1" noResize="1" noEditPoints="1" noAdjustHandles="1" noChangeArrowheads="1" noChangeShapeType="1" noTextEdit="1"/>
              </p:cNvSpPr>
              <p:nvPr/>
            </p:nvSpPr>
            <p:spPr>
              <a:xfrm>
                <a:off x="804838" y="5038442"/>
                <a:ext cx="7305650" cy="385555"/>
              </a:xfrm>
              <a:prstGeom prst="rect">
                <a:avLst/>
              </a:prstGeom>
              <a:blipFill rotWithShape="0">
                <a:blip r:embed="rId5" cstate="print"/>
                <a:stretch>
                  <a:fillRect t="-9524" b="-2063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xmlns="" Requires="a14">
          <p:sp>
            <p:nvSpPr>
              <p:cNvPr id="14" name="矩形 13"/>
              <p:cNvSpPr/>
              <p:nvPr/>
            </p:nvSpPr>
            <p:spPr>
              <a:xfrm>
                <a:off x="804838" y="6156207"/>
                <a:ext cx="8202737" cy="385555"/>
              </a:xfrm>
              <a:prstGeom prst="rect">
                <a:avLst/>
              </a:prstGeom>
            </p:spPr>
            <p:txBody>
              <a:bodyPr wrap="square">
                <a:spAutoFit/>
              </a:bodyPr>
              <a:lstStyle/>
              <a:p>
                <a:pPr lvl="1"/>
                <a:r>
                  <a:rPr lang="zh-CN" altLang="en-US" b="1" dirty="0"/>
                  <a:t>显示</a:t>
                </a:r>
                <a14:m>
                  <m:oMath xmlns:m="http://schemas.openxmlformats.org/officeDocument/2006/math">
                    <m:r>
                      <a:rPr lang="zh-CN" altLang="en-US" b="1">
                        <a:latin typeface="Cambria Math" panose="02040503050406030204" pitchFamily="18" charset="0"/>
                      </a:rPr>
                      <m:t>多位数字时，</m:t>
                    </m:r>
                    <m:acc>
                      <m:accPr>
                        <m:chr m:val="̅"/>
                        <m:ctrlPr>
                          <a:rPr lang="zh-CN" altLang="en-US" b="1" i="1">
                            <a:latin typeface="Cambria Math" panose="02040503050406030204" pitchFamily="18" charset="0"/>
                          </a:rPr>
                        </m:ctrlPr>
                      </m:accPr>
                      <m:e>
                        <m:r>
                          <m:rPr>
                            <m:nor/>
                          </m:rPr>
                          <a:rPr lang="en-US" altLang="zh-CN" b="1"/>
                          <m:t> </m:t>
                        </m:r>
                        <m:r>
                          <m:rPr>
                            <m:nor/>
                          </m:rPr>
                          <a:rPr lang="en-US" altLang="zh-CN" b="1" dirty="0"/>
                          <m:t>RBO</m:t>
                        </m:r>
                      </m:e>
                    </m:acc>
                  </m:oMath>
                </a14:m>
                <a:r>
                  <a:rPr lang="en-US" altLang="zh-CN" b="1" dirty="0">
                    <a:solidFill>
                      <a:srgbClr val="0000CC"/>
                    </a:solidFill>
                  </a:rPr>
                  <a:t> </a:t>
                </a:r>
                <a:r>
                  <a:rPr lang="en-US" altLang="zh-CN" b="1" dirty="0"/>
                  <a:t> </a:t>
                </a:r>
                <a:r>
                  <a:rPr lang="zh-CN" altLang="en-US" b="1" dirty="0"/>
                  <a:t>灭“</a:t>
                </a:r>
                <a:r>
                  <a:rPr lang="en-US" altLang="zh-CN" b="1" dirty="0"/>
                  <a:t>0”</a:t>
                </a:r>
                <a:r>
                  <a:rPr lang="zh-CN" altLang="en-US" b="1" dirty="0"/>
                  <a:t>输出端与灭“</a:t>
                </a:r>
                <a:r>
                  <a:rPr lang="en-US" altLang="zh-CN" b="1" dirty="0"/>
                  <a:t>0”</a:t>
                </a:r>
                <a:r>
                  <a:rPr lang="zh-CN" altLang="en-US" b="1" dirty="0"/>
                  <a:t>输入端</a:t>
                </a:r>
                <a14:m>
                  <m:oMath xmlns:m="http://schemas.openxmlformats.org/officeDocument/2006/math">
                    <m:acc>
                      <m:accPr>
                        <m:chr m:val="̅"/>
                        <m:ctrlPr>
                          <a:rPr lang="zh-CN" altLang="en-US" b="1" i="1">
                            <a:solidFill>
                              <a:srgbClr val="0000CC"/>
                            </a:solidFill>
                            <a:latin typeface="Cambria Math" panose="02040503050406030204" pitchFamily="18" charset="0"/>
                          </a:rPr>
                        </m:ctrlPr>
                      </m:accPr>
                      <m:e>
                        <m:r>
                          <m:rPr>
                            <m:nor/>
                          </m:rPr>
                          <a:rPr lang="en-US" altLang="zh-CN" b="1">
                            <a:solidFill>
                              <a:srgbClr val="0000CC"/>
                            </a:solidFill>
                            <a:latin typeface="Cambria Math"/>
                          </a:rPr>
                          <m:t> </m:t>
                        </m:r>
                        <m:r>
                          <m:rPr>
                            <m:nor/>
                          </m:rPr>
                          <a:rPr lang="en-US" altLang="zh-CN" b="1" dirty="0">
                            <a:solidFill>
                              <a:srgbClr val="0000CC"/>
                            </a:solidFill>
                          </a:rPr>
                          <m:t>RBI</m:t>
                        </m:r>
                        <m:r>
                          <m:rPr>
                            <m:nor/>
                          </m:rPr>
                          <a:rPr lang="en-US" altLang="zh-CN" b="1" dirty="0">
                            <a:solidFill>
                              <a:srgbClr val="0000CC"/>
                            </a:solidFill>
                          </a:rPr>
                          <m:t> </m:t>
                        </m:r>
                      </m:e>
                    </m:acc>
                  </m:oMath>
                </a14:m>
                <a:r>
                  <a:rPr lang="zh-CN" altLang="en-US" b="1" dirty="0"/>
                  <a:t>配合使用。</a:t>
                </a:r>
              </a:p>
            </p:txBody>
          </p:sp>
        </mc:Choice>
        <mc:Fallback>
          <p:sp>
            <p:nvSpPr>
              <p:cNvPr id="14" name="矩形 13"/>
              <p:cNvSpPr>
                <a:spLocks noRot="1" noChangeAspect="1" noMove="1" noResize="1" noEditPoints="1" noAdjustHandles="1" noChangeArrowheads="1" noChangeShapeType="1" noTextEdit="1"/>
              </p:cNvSpPr>
              <p:nvPr/>
            </p:nvSpPr>
            <p:spPr>
              <a:xfrm>
                <a:off x="804838" y="6156207"/>
                <a:ext cx="8202737" cy="385555"/>
              </a:xfrm>
              <a:prstGeom prst="rect">
                <a:avLst/>
              </a:prstGeom>
              <a:blipFill rotWithShape="0">
                <a:blip r:embed="rId6" cstate="print"/>
                <a:stretch>
                  <a:fillRect t="-9524" b="-2381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xmlns="" Requires="a14">
          <p:sp>
            <p:nvSpPr>
              <p:cNvPr id="15" name="矩形 14"/>
              <p:cNvSpPr/>
              <p:nvPr/>
            </p:nvSpPr>
            <p:spPr>
              <a:xfrm>
                <a:off x="1259632" y="5380105"/>
                <a:ext cx="7305650" cy="733534"/>
              </a:xfrm>
              <a:prstGeom prst="rect">
                <a:avLst/>
              </a:prstGeom>
            </p:spPr>
            <p:txBody>
              <a:bodyPr wrap="square">
                <a:spAutoFit/>
              </a:bodyPr>
              <a:lstStyle/>
              <a:p>
                <a:pPr marL="914400" lvl="1" indent="-457200">
                  <a:lnSpc>
                    <a:spcPts val="2500"/>
                  </a:lnSpc>
                  <a:buClr>
                    <a:srgbClr val="FF0000"/>
                  </a:buClr>
                  <a:buSzPct val="60000"/>
                  <a:buFont typeface="+mj-ea"/>
                  <a:buAutoNum type="circleNumDbPlain"/>
                </a:pPr>
                <a14:m>
                  <m:oMath xmlns:m="http://schemas.openxmlformats.org/officeDocument/2006/math">
                    <m:acc>
                      <m:accPr>
                        <m:chr m:val="̅"/>
                        <m:ctrlPr>
                          <a:rPr lang="en-US" altLang="zh-CN" sz="1600" b="1" i="1" dirty="0" smtClean="0">
                            <a:solidFill>
                              <a:srgbClr val="005DA2"/>
                            </a:solidFill>
                            <a:latin typeface="Cambria Math" panose="02040503050406030204" pitchFamily="18" charset="0"/>
                          </a:rPr>
                        </m:ctrlPr>
                      </m:accPr>
                      <m:e>
                        <m:r>
                          <a:rPr lang="en-US" altLang="zh-CN" sz="1600" b="1" i="1" dirty="0">
                            <a:solidFill>
                              <a:srgbClr val="005DA2"/>
                            </a:solidFill>
                            <a:latin typeface="Cambria Math" panose="02040503050406030204" pitchFamily="18" charset="0"/>
                          </a:rPr>
                          <m:t>𝑳𝑻</m:t>
                        </m:r>
                      </m:e>
                    </m:acc>
                  </m:oMath>
                </a14:m>
                <a:r>
                  <a:rPr lang="en-US" altLang="zh-CN" sz="1600" b="1" dirty="0" smtClean="0"/>
                  <a:t>=1 </a:t>
                </a:r>
                <a14:m>
                  <m:oMath xmlns:m="http://schemas.openxmlformats.org/officeDocument/2006/math">
                    <m:acc>
                      <m:accPr>
                        <m:chr m:val="̅"/>
                        <m:ctrlPr>
                          <a:rPr lang="en-US" altLang="zh-CN" sz="1600" b="1" i="1" dirty="0" smtClean="0">
                            <a:solidFill>
                              <a:srgbClr val="005DA2"/>
                            </a:solidFill>
                            <a:latin typeface="Cambria Math" panose="02040503050406030204" pitchFamily="18" charset="0"/>
                          </a:rPr>
                        </m:ctrlPr>
                      </m:accPr>
                      <m:e>
                        <m:r>
                          <a:rPr lang="en-US" altLang="zh-CN" sz="1600" b="1" i="1" dirty="0">
                            <a:solidFill>
                              <a:srgbClr val="005DA2"/>
                            </a:solidFill>
                            <a:latin typeface="Cambria Math" panose="02040503050406030204" pitchFamily="18" charset="0"/>
                          </a:rPr>
                          <m:t>𝑹𝑩</m:t>
                        </m:r>
                        <m:r>
                          <a:rPr lang="en-US" altLang="zh-CN" sz="1600" b="1" i="1" dirty="0" smtClean="0">
                            <a:solidFill>
                              <a:srgbClr val="005DA2"/>
                            </a:solidFill>
                            <a:latin typeface="Cambria Math" panose="02040503050406030204" pitchFamily="18" charset="0"/>
                          </a:rPr>
                          <m:t>𝑰</m:t>
                        </m:r>
                      </m:e>
                    </m:acc>
                  </m:oMath>
                </a14:m>
                <a:r>
                  <a:rPr lang="en-US" altLang="zh-CN" sz="1600" b="1" dirty="0" smtClean="0"/>
                  <a:t>=0</a:t>
                </a:r>
                <a:r>
                  <a:rPr lang="zh-CN" altLang="en-US" sz="1600" b="1" dirty="0" smtClean="0"/>
                  <a:t>时，如果输入</a:t>
                </a:r>
                <a:r>
                  <a:rPr lang="en-US" altLang="zh-CN" sz="1600" b="1" dirty="0" smtClean="0"/>
                  <a:t>A</a:t>
                </a:r>
                <a:r>
                  <a:rPr lang="en-US" altLang="zh-CN" sz="1000" b="1" dirty="0" smtClean="0"/>
                  <a:t>0</a:t>
                </a:r>
                <a:r>
                  <a:rPr lang="en-US" altLang="zh-CN" sz="1600" b="1" dirty="0" smtClean="0"/>
                  <a:t>A</a:t>
                </a:r>
                <a:r>
                  <a:rPr lang="en-US" altLang="zh-CN" sz="1050" b="1" dirty="0" smtClean="0"/>
                  <a:t>1</a:t>
                </a:r>
                <a:r>
                  <a:rPr lang="en-US" altLang="zh-CN" sz="1600" b="1" dirty="0" smtClean="0"/>
                  <a:t>A</a:t>
                </a:r>
                <a:r>
                  <a:rPr lang="en-US" altLang="zh-CN" sz="1100" b="1" dirty="0" smtClean="0"/>
                  <a:t>2</a:t>
                </a:r>
                <a:r>
                  <a:rPr lang="en-US" altLang="zh-CN" sz="1600" b="1" dirty="0" smtClean="0"/>
                  <a:t>A</a:t>
                </a:r>
                <a:r>
                  <a:rPr lang="en-US" altLang="zh-CN" sz="1100" b="1" dirty="0" smtClean="0"/>
                  <a:t>3</a:t>
                </a:r>
                <a:r>
                  <a:rPr lang="zh-CN" altLang="en-US" sz="1600" b="1" dirty="0" smtClean="0"/>
                  <a:t>为</a:t>
                </a:r>
                <a:r>
                  <a:rPr lang="en-US" altLang="zh-CN" sz="1600" b="1" dirty="0" smtClean="0"/>
                  <a:t>0000</a:t>
                </a:r>
                <a:r>
                  <a:rPr lang="zh-CN" altLang="en-US" sz="1600" b="1" dirty="0" smtClean="0"/>
                  <a:t>，则</a:t>
                </a:r>
                <a14:m>
                  <m:oMath xmlns:m="http://schemas.openxmlformats.org/officeDocument/2006/math">
                    <m:acc>
                      <m:accPr>
                        <m:chr m:val="̅"/>
                        <m:ctrlPr>
                          <a:rPr lang="zh-CN" altLang="en-US" sz="1600" b="1" i="1">
                            <a:solidFill>
                              <a:srgbClr val="0000CC"/>
                            </a:solidFill>
                            <a:latin typeface="Cambria Math" panose="02040503050406030204" pitchFamily="18" charset="0"/>
                          </a:rPr>
                        </m:ctrlPr>
                      </m:accPr>
                      <m:e>
                        <m:r>
                          <m:rPr>
                            <m:nor/>
                          </m:rPr>
                          <a:rPr lang="en-US" altLang="zh-CN" sz="1600" b="1" smtClean="0">
                            <a:solidFill>
                              <a:srgbClr val="005DA2"/>
                            </a:solidFill>
                            <a:latin typeface="Cambria Math"/>
                          </a:rPr>
                          <m:t> </m:t>
                        </m:r>
                        <m:r>
                          <m:rPr>
                            <m:nor/>
                          </m:rPr>
                          <a:rPr lang="en-US" altLang="zh-CN" sz="1600" b="1" dirty="0" smtClean="0">
                            <a:solidFill>
                              <a:srgbClr val="005DA2"/>
                            </a:solidFill>
                          </a:rPr>
                          <m:t>RBO</m:t>
                        </m:r>
                      </m:e>
                    </m:acc>
                    <m:r>
                      <a:rPr lang="zh-CN" altLang="en-US" sz="1600" b="1" i="1" dirty="0" smtClean="0">
                        <a:solidFill>
                          <a:schemeClr val="tx1"/>
                        </a:solidFill>
                        <a:latin typeface="Cambria Math" panose="02040503050406030204" pitchFamily="18" charset="0"/>
                      </a:rPr>
                      <m:t>输出</m:t>
                    </m:r>
                  </m:oMath>
                </a14:m>
                <a:r>
                  <a:rPr lang="en-US" altLang="zh-CN" sz="1600" b="1" dirty="0" smtClean="0">
                    <a:solidFill>
                      <a:srgbClr val="005DA2"/>
                    </a:solidFill>
                  </a:rPr>
                  <a:t>0</a:t>
                </a:r>
              </a:p>
              <a:p>
                <a:pPr marL="914400" lvl="1" indent="-457200">
                  <a:lnSpc>
                    <a:spcPts val="2500"/>
                  </a:lnSpc>
                  <a:buClr>
                    <a:srgbClr val="FF0000"/>
                  </a:buClr>
                  <a:buSzPct val="60000"/>
                  <a:buFont typeface="+mj-ea"/>
                  <a:buAutoNum type="circleNumDbPlain"/>
                </a:pPr>
                <a14:m>
                  <m:oMath xmlns:m="http://schemas.openxmlformats.org/officeDocument/2006/math">
                    <m:acc>
                      <m:accPr>
                        <m:chr m:val="̅"/>
                        <m:ctrlPr>
                          <a:rPr lang="en-US" altLang="zh-CN" sz="1600" b="1" i="1" dirty="0">
                            <a:solidFill>
                              <a:srgbClr val="005DA2"/>
                            </a:solidFill>
                            <a:latin typeface="Cambria Math" panose="02040503050406030204" pitchFamily="18" charset="0"/>
                          </a:rPr>
                        </m:ctrlPr>
                      </m:accPr>
                      <m:e>
                        <m:r>
                          <a:rPr lang="en-US" altLang="zh-CN" sz="1600" b="1" i="1" dirty="0">
                            <a:solidFill>
                              <a:srgbClr val="005DA2"/>
                            </a:solidFill>
                            <a:latin typeface="Cambria Math" panose="02040503050406030204" pitchFamily="18" charset="0"/>
                          </a:rPr>
                          <m:t>𝑳𝑻</m:t>
                        </m:r>
                      </m:e>
                    </m:acc>
                  </m:oMath>
                </a14:m>
                <a:r>
                  <a:rPr lang="en-US" altLang="zh-CN" sz="1600" b="1" dirty="0" smtClean="0"/>
                  <a:t>=0</a:t>
                </a:r>
                <a:r>
                  <a:rPr lang="zh-CN" altLang="en-US" sz="1600" b="1" dirty="0" smtClean="0"/>
                  <a:t>或者</a:t>
                </a:r>
                <a:r>
                  <a:rPr lang="en-US" altLang="zh-CN" sz="1600" b="1" dirty="0" smtClean="0"/>
                  <a:t> </a:t>
                </a:r>
                <a14:m>
                  <m:oMath xmlns:m="http://schemas.openxmlformats.org/officeDocument/2006/math">
                    <m:acc>
                      <m:accPr>
                        <m:chr m:val="̅"/>
                        <m:ctrlPr>
                          <a:rPr lang="en-US" altLang="zh-CN" sz="1600" b="1" i="1" dirty="0">
                            <a:solidFill>
                              <a:srgbClr val="005DA2"/>
                            </a:solidFill>
                            <a:latin typeface="Cambria Math" panose="02040503050406030204" pitchFamily="18" charset="0"/>
                          </a:rPr>
                        </m:ctrlPr>
                      </m:accPr>
                      <m:e>
                        <m:r>
                          <a:rPr lang="en-US" altLang="zh-CN" sz="1600" b="1" i="1" dirty="0">
                            <a:solidFill>
                              <a:srgbClr val="005DA2"/>
                            </a:solidFill>
                            <a:latin typeface="Cambria Math" panose="02040503050406030204" pitchFamily="18" charset="0"/>
                          </a:rPr>
                          <m:t>𝑳𝑻</m:t>
                        </m:r>
                      </m:e>
                    </m:acc>
                  </m:oMath>
                </a14:m>
                <a:r>
                  <a:rPr lang="en-US" altLang="zh-CN" sz="1600" b="1" dirty="0"/>
                  <a:t>=</a:t>
                </a:r>
                <a14:m>
                  <m:oMath xmlns:m="http://schemas.openxmlformats.org/officeDocument/2006/math">
                    <m:r>
                      <a:rPr lang="en-US" altLang="zh-CN" sz="1600" b="1" i="1" dirty="0" smtClean="0">
                        <a:solidFill>
                          <a:srgbClr val="005DA2"/>
                        </a:solidFill>
                        <a:latin typeface="Cambria Math" panose="02040503050406030204" pitchFamily="18" charset="0"/>
                      </a:rPr>
                      <m:t>𝟏</m:t>
                    </m:r>
                    <m:r>
                      <a:rPr lang="en-US" altLang="zh-CN" sz="1600" b="1" i="1" dirty="0" smtClean="0">
                        <a:solidFill>
                          <a:srgbClr val="005DA2"/>
                        </a:solidFill>
                        <a:latin typeface="Cambria Math" panose="02040503050406030204" pitchFamily="18" charset="0"/>
                      </a:rPr>
                      <m:t> </m:t>
                    </m:r>
                    <m:acc>
                      <m:accPr>
                        <m:chr m:val="̅"/>
                        <m:ctrlPr>
                          <a:rPr lang="en-US" altLang="zh-CN" sz="1600" b="1" i="1" dirty="0">
                            <a:solidFill>
                              <a:srgbClr val="005DA2"/>
                            </a:solidFill>
                            <a:latin typeface="Cambria Math" panose="02040503050406030204" pitchFamily="18" charset="0"/>
                          </a:rPr>
                        </m:ctrlPr>
                      </m:accPr>
                      <m:e>
                        <m:r>
                          <a:rPr lang="en-US" altLang="zh-CN" sz="1600" b="1" i="1" dirty="0">
                            <a:solidFill>
                              <a:srgbClr val="005DA2"/>
                            </a:solidFill>
                            <a:latin typeface="Cambria Math" panose="02040503050406030204" pitchFamily="18" charset="0"/>
                          </a:rPr>
                          <m:t>𝑹𝑩𝑰</m:t>
                        </m:r>
                      </m:e>
                    </m:acc>
                  </m:oMath>
                </a14:m>
                <a:r>
                  <a:rPr lang="en-US" altLang="zh-CN" sz="1600" b="1" dirty="0" smtClean="0"/>
                  <a:t>=1</a:t>
                </a:r>
                <a:r>
                  <a:rPr lang="zh-CN" altLang="en-US" sz="1600" b="1" dirty="0" smtClean="0"/>
                  <a:t>时，</a:t>
                </a:r>
                <a14:m>
                  <m:oMath xmlns:m="http://schemas.openxmlformats.org/officeDocument/2006/math">
                    <m:acc>
                      <m:accPr>
                        <m:chr m:val="̅"/>
                        <m:ctrlPr>
                          <a:rPr lang="zh-CN" altLang="en-US" sz="1600" b="1" i="1">
                            <a:solidFill>
                              <a:srgbClr val="0000CC"/>
                            </a:solidFill>
                            <a:latin typeface="Cambria Math" panose="02040503050406030204" pitchFamily="18" charset="0"/>
                          </a:rPr>
                        </m:ctrlPr>
                      </m:accPr>
                      <m:e>
                        <m:r>
                          <m:rPr>
                            <m:nor/>
                          </m:rPr>
                          <a:rPr lang="en-US" altLang="zh-CN" sz="1600" b="1">
                            <a:solidFill>
                              <a:srgbClr val="0000CC"/>
                            </a:solidFill>
                            <a:latin typeface="Cambria Math"/>
                          </a:rPr>
                          <m:t> </m:t>
                        </m:r>
                        <m:r>
                          <m:rPr>
                            <m:nor/>
                          </m:rPr>
                          <a:rPr lang="en-US" altLang="zh-CN" sz="1600" b="1" dirty="0" smtClean="0">
                            <a:solidFill>
                              <a:srgbClr val="005DA2"/>
                            </a:solidFill>
                          </a:rPr>
                          <m:t>RBO</m:t>
                        </m:r>
                      </m:e>
                    </m:acc>
                    <m:r>
                      <a:rPr lang="zh-CN" altLang="en-US" sz="1600" b="1" i="1" dirty="0" smtClean="0">
                        <a:solidFill>
                          <a:schemeClr val="tx1"/>
                        </a:solidFill>
                        <a:latin typeface="Cambria Math" panose="02040503050406030204" pitchFamily="18" charset="0"/>
                      </a:rPr>
                      <m:t>输出</m:t>
                    </m:r>
                  </m:oMath>
                </a14:m>
                <a:r>
                  <a:rPr lang="en-US" altLang="zh-CN" sz="1600" b="1" dirty="0" smtClean="0">
                    <a:solidFill>
                      <a:srgbClr val="005DA2"/>
                    </a:solidFill>
                  </a:rPr>
                  <a:t>1</a:t>
                </a:r>
                <a:endParaRPr lang="zh-CN" altLang="en-US" sz="1600" b="1" dirty="0">
                  <a:solidFill>
                    <a:srgbClr val="005DA2"/>
                  </a:solidFill>
                </a:endParaRPr>
              </a:p>
            </p:txBody>
          </p:sp>
        </mc:Choice>
        <mc:Fallback>
          <p:sp>
            <p:nvSpPr>
              <p:cNvPr id="15" name="矩形 14"/>
              <p:cNvSpPr>
                <a:spLocks noRot="1" noChangeAspect="1" noMove="1" noResize="1" noEditPoints="1" noAdjustHandles="1" noChangeArrowheads="1" noChangeShapeType="1" noTextEdit="1"/>
              </p:cNvSpPr>
              <p:nvPr/>
            </p:nvSpPr>
            <p:spPr>
              <a:xfrm>
                <a:off x="1259632" y="5380105"/>
                <a:ext cx="7305650" cy="733534"/>
              </a:xfrm>
              <a:prstGeom prst="rect">
                <a:avLst/>
              </a:prstGeom>
              <a:blipFill rotWithShape="0">
                <a:blip r:embed="rId7" cstate="print"/>
                <a:stretch>
                  <a:fillRect b="-50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xmlns="" val="4116900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100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9" grpId="0" animBg="1"/>
      <p:bldP spid="10" grpId="0" animBg="1"/>
      <p:bldP spid="11" grpId="0" animBg="1"/>
      <p:bldP spid="14" grpId="0" animBg="1"/>
      <p:bldP spid="15"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542208"/>
            <a:ext cx="8487544" cy="4911128"/>
          </a:xfrm>
        </p:spPr>
        <p:txBody>
          <a:bodyPr/>
          <a:lstStyle/>
          <a:p>
            <a:pPr>
              <a:buSzPct val="100000"/>
              <a:buFont typeface="Wingdings" pitchFamily="2" charset="2"/>
              <a:buChar char="p"/>
            </a:pPr>
            <a:r>
              <a:rPr lang="en-US" altLang="zh-CN" sz="2800" dirty="0"/>
              <a:t>74XX48</a:t>
            </a:r>
            <a:r>
              <a:rPr lang="zh-CN" altLang="en-US" sz="2800" dirty="0"/>
              <a:t>附加控制功能</a:t>
            </a:r>
            <a:r>
              <a:rPr lang="zh-CN" altLang="en-US" sz="2800" dirty="0" smtClean="0"/>
              <a:t>介绍：</a:t>
            </a:r>
          </a:p>
        </p:txBody>
      </p:sp>
      <p:sp>
        <p:nvSpPr>
          <p:cNvPr id="2" name="标题 1"/>
          <p:cNvSpPr>
            <a:spLocks noGrp="1"/>
          </p:cNvSpPr>
          <p:nvPr>
            <p:ph type="title"/>
          </p:nvPr>
        </p:nvSpPr>
        <p:spPr>
          <a:xfrm>
            <a:off x="1203451" y="692696"/>
            <a:ext cx="7545014" cy="566936"/>
          </a:xfrm>
        </p:spPr>
        <p:txBody>
          <a:bodyPr/>
          <a:lstStyle/>
          <a:p>
            <a:r>
              <a:rPr lang="en-US" altLang="zh-CN" dirty="0" smtClean="0"/>
              <a:t>4.4.3 </a:t>
            </a:r>
            <a:r>
              <a:rPr lang="zh-CN" altLang="en-US" dirty="0" smtClean="0"/>
              <a:t>显示译码器</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93</a:t>
            </a:fld>
            <a:endParaRPr lang="zh-CN" altLang="en-US"/>
          </a:p>
        </p:txBody>
      </p:sp>
      <p:pic>
        <p:nvPicPr>
          <p:cNvPr id="12"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6857643" y="1224089"/>
            <a:ext cx="2139200" cy="190850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mc:AlternateContent xmlns:mc="http://schemas.openxmlformats.org/markup-compatibility/2006">
        <mc:Choice xmlns:a14="http://schemas.microsoft.com/office/drawing/2010/main" xmlns="" Requires="a14">
          <p:sp>
            <p:nvSpPr>
              <p:cNvPr id="13" name="矩形 12"/>
              <p:cNvSpPr/>
              <p:nvPr/>
            </p:nvSpPr>
            <p:spPr>
              <a:xfrm>
                <a:off x="6331093" y="2752769"/>
                <a:ext cx="980076" cy="339132"/>
              </a:xfrm>
              <a:prstGeom prst="rect">
                <a:avLst/>
              </a:prstGeom>
              <a:solidFill>
                <a:schemeClr val="bg1"/>
              </a:solidFill>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altLang="zh-CN" sz="1600" i="1" smtClean="0">
                              <a:solidFill>
                                <a:srgbClr val="FF0000"/>
                              </a:solidFill>
                              <a:latin typeface="Cambria Math" panose="02040503050406030204" pitchFamily="18" charset="0"/>
                            </a:rPr>
                          </m:ctrlPr>
                        </m:accPr>
                        <m:e>
                          <m:r>
                            <a:rPr lang="en-US" altLang="zh-CN" sz="1600" b="0" i="1" smtClean="0">
                              <a:solidFill>
                                <a:srgbClr val="FF0000"/>
                              </a:solidFill>
                              <a:latin typeface="Cambria Math"/>
                            </a:rPr>
                            <m:t>𝐵𝐼</m:t>
                          </m:r>
                        </m:e>
                      </m:acc>
                      <m:r>
                        <a:rPr lang="en-US" altLang="zh-CN" sz="1600" b="0" i="1" smtClean="0">
                          <a:solidFill>
                            <a:srgbClr val="FF0000"/>
                          </a:solidFill>
                          <a:latin typeface="Cambria Math"/>
                        </a:rPr>
                        <m:t>/</m:t>
                      </m:r>
                      <m:acc>
                        <m:accPr>
                          <m:chr m:val="̅"/>
                          <m:ctrlPr>
                            <a:rPr lang="en-US" altLang="zh-CN" sz="1600" b="0" i="1" smtClean="0">
                              <a:solidFill>
                                <a:srgbClr val="FF0000"/>
                              </a:solidFill>
                              <a:latin typeface="Cambria Math" panose="02040503050406030204" pitchFamily="18" charset="0"/>
                            </a:rPr>
                          </m:ctrlPr>
                        </m:accPr>
                        <m:e>
                          <m:r>
                            <a:rPr lang="en-US" altLang="zh-CN" sz="1600" b="0" i="1" smtClean="0">
                              <a:solidFill>
                                <a:srgbClr val="FF0000"/>
                              </a:solidFill>
                              <a:latin typeface="Cambria Math"/>
                            </a:rPr>
                            <m:t>𝑅𝐵𝑂</m:t>
                          </m:r>
                        </m:e>
                      </m:acc>
                    </m:oMath>
                  </m:oMathPara>
                </a14:m>
                <a:endParaRPr lang="en-US" altLang="zh-CN" sz="1600" dirty="0">
                  <a:solidFill>
                    <a:srgbClr val="FF0000"/>
                  </a:solidFill>
                </a:endParaRPr>
              </a:p>
            </p:txBody>
          </p:sp>
        </mc:Choice>
        <mc:Fallback>
          <p:sp>
            <p:nvSpPr>
              <p:cNvPr id="13" name="矩形 12"/>
              <p:cNvSpPr>
                <a:spLocks noRot="1" noChangeAspect="1" noMove="1" noResize="1" noEditPoints="1" noAdjustHandles="1" noChangeArrowheads="1" noChangeShapeType="1" noTextEdit="1"/>
              </p:cNvSpPr>
              <p:nvPr/>
            </p:nvSpPr>
            <p:spPr>
              <a:xfrm>
                <a:off x="6331093" y="2752769"/>
                <a:ext cx="980076" cy="339132"/>
              </a:xfrm>
              <a:prstGeom prst="rect">
                <a:avLst/>
              </a:prstGeom>
              <a:blipFill rotWithShape="0">
                <a:blip r:embed="rId4" cstate="print"/>
                <a:stretch>
                  <a:fillRect b="-14545"/>
                </a:stretch>
              </a:blipFill>
            </p:spPr>
            <p:txBody>
              <a:bodyPr/>
              <a:lstStyle/>
              <a:p>
                <a:r>
                  <a:rPr lang="zh-CN" altLang="en-US">
                    <a:noFill/>
                  </a:rPr>
                  <a:t> </a:t>
                </a:r>
              </a:p>
            </p:txBody>
          </p:sp>
        </mc:Fallback>
      </mc:AlternateContent>
      <p:graphicFrame>
        <p:nvGraphicFramePr>
          <p:cNvPr id="14" name="Group 611"/>
          <p:cNvGraphicFramePr>
            <a:graphicFrameLocks noGrp="1"/>
          </p:cNvGraphicFramePr>
          <p:nvPr>
            <p:extLst>
              <p:ext uri="{D42A27DB-BD31-4B8C-83A1-F6EECF244321}">
                <p14:modId xmlns:p14="http://schemas.microsoft.com/office/powerpoint/2010/main" xmlns="" val="2442170642"/>
              </p:ext>
            </p:extLst>
          </p:nvPr>
        </p:nvGraphicFramePr>
        <p:xfrm>
          <a:off x="611560" y="3185950"/>
          <a:ext cx="8161337" cy="3268216"/>
        </p:xfrm>
        <a:graphic>
          <a:graphicData uri="http://schemas.openxmlformats.org/drawingml/2006/table">
            <a:tbl>
              <a:tblPr/>
              <a:tblGrid>
                <a:gridCol w="544187">
                  <a:extLst>
                    <a:ext uri="{9D8B030D-6E8A-4147-A177-3AD203B41FA5}">
                      <a16:colId xmlns:a16="http://schemas.microsoft.com/office/drawing/2014/main" xmlns="" val="20000"/>
                    </a:ext>
                  </a:extLst>
                </a:gridCol>
                <a:gridCol w="544188">
                  <a:extLst>
                    <a:ext uri="{9D8B030D-6E8A-4147-A177-3AD203B41FA5}">
                      <a16:colId xmlns:a16="http://schemas.microsoft.com/office/drawing/2014/main" xmlns="" val="20001"/>
                    </a:ext>
                  </a:extLst>
                </a:gridCol>
                <a:gridCol w="517641">
                  <a:extLst>
                    <a:ext uri="{9D8B030D-6E8A-4147-A177-3AD203B41FA5}">
                      <a16:colId xmlns:a16="http://schemas.microsoft.com/office/drawing/2014/main" xmlns="" val="20002"/>
                    </a:ext>
                  </a:extLst>
                </a:gridCol>
                <a:gridCol w="467500">
                  <a:extLst>
                    <a:ext uri="{9D8B030D-6E8A-4147-A177-3AD203B41FA5}">
                      <a16:colId xmlns:a16="http://schemas.microsoft.com/office/drawing/2014/main" xmlns="" val="20003"/>
                    </a:ext>
                  </a:extLst>
                </a:gridCol>
                <a:gridCol w="535338">
                  <a:extLst>
                    <a:ext uri="{9D8B030D-6E8A-4147-A177-3AD203B41FA5}">
                      <a16:colId xmlns:a16="http://schemas.microsoft.com/office/drawing/2014/main" xmlns="" val="20004"/>
                    </a:ext>
                  </a:extLst>
                </a:gridCol>
                <a:gridCol w="468975">
                  <a:extLst>
                    <a:ext uri="{9D8B030D-6E8A-4147-A177-3AD203B41FA5}">
                      <a16:colId xmlns:a16="http://schemas.microsoft.com/office/drawing/2014/main" xmlns="" val="20005"/>
                    </a:ext>
                  </a:extLst>
                </a:gridCol>
                <a:gridCol w="467500">
                  <a:extLst>
                    <a:ext uri="{9D8B030D-6E8A-4147-A177-3AD203B41FA5}">
                      <a16:colId xmlns:a16="http://schemas.microsoft.com/office/drawing/2014/main" xmlns="" val="20006"/>
                    </a:ext>
                  </a:extLst>
                </a:gridCol>
                <a:gridCol w="870110">
                  <a:extLst>
                    <a:ext uri="{9D8B030D-6E8A-4147-A177-3AD203B41FA5}">
                      <a16:colId xmlns:a16="http://schemas.microsoft.com/office/drawing/2014/main" xmlns="" val="20007"/>
                    </a:ext>
                  </a:extLst>
                </a:gridCol>
                <a:gridCol w="480773">
                  <a:extLst>
                    <a:ext uri="{9D8B030D-6E8A-4147-A177-3AD203B41FA5}">
                      <a16:colId xmlns:a16="http://schemas.microsoft.com/office/drawing/2014/main" xmlns="" val="20008"/>
                    </a:ext>
                  </a:extLst>
                </a:gridCol>
                <a:gridCol w="544187">
                  <a:extLst>
                    <a:ext uri="{9D8B030D-6E8A-4147-A177-3AD203B41FA5}">
                      <a16:colId xmlns:a16="http://schemas.microsoft.com/office/drawing/2014/main" xmlns="" val="20009"/>
                    </a:ext>
                  </a:extLst>
                </a:gridCol>
                <a:gridCol w="544188">
                  <a:extLst>
                    <a:ext uri="{9D8B030D-6E8A-4147-A177-3AD203B41FA5}">
                      <a16:colId xmlns:a16="http://schemas.microsoft.com/office/drawing/2014/main" xmlns="" val="20010"/>
                    </a:ext>
                  </a:extLst>
                </a:gridCol>
                <a:gridCol w="544187">
                  <a:extLst>
                    <a:ext uri="{9D8B030D-6E8A-4147-A177-3AD203B41FA5}">
                      <a16:colId xmlns:a16="http://schemas.microsoft.com/office/drawing/2014/main" xmlns="" val="20011"/>
                    </a:ext>
                  </a:extLst>
                </a:gridCol>
                <a:gridCol w="544188">
                  <a:extLst>
                    <a:ext uri="{9D8B030D-6E8A-4147-A177-3AD203B41FA5}">
                      <a16:colId xmlns:a16="http://schemas.microsoft.com/office/drawing/2014/main" xmlns="" val="20012"/>
                    </a:ext>
                  </a:extLst>
                </a:gridCol>
                <a:gridCol w="544187">
                  <a:extLst>
                    <a:ext uri="{9D8B030D-6E8A-4147-A177-3AD203B41FA5}">
                      <a16:colId xmlns:a16="http://schemas.microsoft.com/office/drawing/2014/main" xmlns="" val="20013"/>
                    </a:ext>
                  </a:extLst>
                </a:gridCol>
                <a:gridCol w="544188">
                  <a:extLst>
                    <a:ext uri="{9D8B030D-6E8A-4147-A177-3AD203B41FA5}">
                      <a16:colId xmlns:a16="http://schemas.microsoft.com/office/drawing/2014/main" xmlns="" val="20014"/>
                    </a:ext>
                  </a:extLst>
                </a:gridCol>
              </a:tblGrid>
              <a:tr h="408527">
                <a:tc rowSpan="2">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i="0" u="none" strike="noStrike" cap="none" normalizeH="0" baseline="0" dirty="0" smtClean="0">
                          <a:ln>
                            <a:noFill/>
                          </a:ln>
                          <a:solidFill>
                            <a:schemeClr val="tx1"/>
                          </a:solidFill>
                          <a:effectLst/>
                          <a:latin typeface="Arial" panose="020B0604020202020204" pitchFamily="34" charset="0"/>
                          <a:ea typeface="黑体" panose="02010609060101010101" pitchFamily="49" charset="-122"/>
                        </a:rPr>
                        <a:t>序号</a:t>
                      </a:r>
                    </a:p>
                  </a:txBody>
                  <a:tcP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6">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i="0" u="none" strike="noStrike" cap="none" normalizeH="0" baseline="0" smtClean="0">
                          <a:ln>
                            <a:noFill/>
                          </a:ln>
                          <a:solidFill>
                            <a:schemeClr val="tx1"/>
                          </a:solidFill>
                          <a:effectLst/>
                          <a:latin typeface="Arial" panose="020B0604020202020204" pitchFamily="34" charset="0"/>
                          <a:ea typeface="黑体" panose="02010609060101010101" pitchFamily="49" charset="-122"/>
                        </a:rPr>
                        <a:t>输入</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1600" b="1" i="0" u="none" strike="noStrike" cap="none" normalizeH="0" baseline="0" smtClean="0">
                        <a:ln>
                          <a:noFill/>
                        </a:ln>
                        <a:solidFill>
                          <a:schemeClr val="tx1"/>
                        </a:solidFill>
                        <a:effectLst/>
                        <a:latin typeface="Arial" panose="020B060402020202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7">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i="0" u="none" strike="noStrike" cap="none" normalizeH="0" baseline="0" smtClean="0">
                          <a:ln>
                            <a:noFill/>
                          </a:ln>
                          <a:solidFill>
                            <a:schemeClr val="tx1"/>
                          </a:solidFill>
                          <a:effectLst/>
                          <a:latin typeface="Arial" panose="020B0604020202020204" pitchFamily="34" charset="0"/>
                          <a:ea typeface="黑体" panose="02010609060101010101" pitchFamily="49" charset="-122"/>
                        </a:rPr>
                        <a:t>输出</a:t>
                      </a:r>
                    </a:p>
                  </a:txBody>
                  <a:tcP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xmlns="" val="10000"/>
                  </a:ext>
                </a:extLst>
              </a:tr>
              <a:tr h="408527">
                <a:tc vMerge="1">
                  <a:txBody>
                    <a:bodyPr/>
                    <a:lstStyle/>
                    <a:p>
                      <a:endParaRPr lang="zh-CN" altLang="en-US"/>
                    </a:p>
                  </a:txBody>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Ya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Yb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Yc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Yd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Ye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Yf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Yg</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408527">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dirty="0" smtClean="0">
                          <a:ln>
                            <a:noFill/>
                          </a:ln>
                          <a:solidFill>
                            <a:srgbClr val="0000CC"/>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408527">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rgbClr val="0000CC"/>
                          </a:solidFill>
                          <a:effectLst/>
                          <a:latin typeface="Arial" panose="020B0604020202020204" pitchFamily="34" charset="0"/>
                          <a:ea typeface="宋体" panose="02010600030101010101" pitchFamily="2" charset="-122"/>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408527">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rgbClr val="0000CC"/>
                          </a:solidFill>
                          <a:effectLst/>
                          <a:latin typeface="Arial" panose="020B0604020202020204" pitchFamily="34" charset="0"/>
                          <a:ea typeface="宋体" panose="02010600030101010101" pitchFamily="2" charset="-122"/>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408527">
                <a:tc gridSpan="15">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dirty="0" smtClean="0">
                          <a:ln>
                            <a:noFill/>
                          </a:ln>
                          <a:solidFill>
                            <a:srgbClr val="0000CC"/>
                          </a:solidFill>
                          <a:effectLst/>
                          <a:latin typeface="Arial" panose="020B0604020202020204" pitchFamily="34" charset="0"/>
                          <a:ea typeface="宋体" panose="02010600030101010101" pitchFamily="2" charset="-122"/>
                        </a:rPr>
                        <a:t>……</a:t>
                      </a:r>
                    </a:p>
                  </a:txBody>
                  <a:tcPr horzOverflow="overflow">
                    <a:lnL cap="flat">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xmlns="" val="10005"/>
                  </a:ext>
                </a:extLst>
              </a:tr>
              <a:tr h="408527">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14</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rgbClr val="0000CC"/>
                          </a:solidFill>
                          <a:effectLst/>
                          <a:latin typeface="Arial" panose="020B0604020202020204" pitchFamily="34" charset="0"/>
                          <a:ea typeface="宋体" panose="02010600030101010101" pitchFamily="2" charset="-122"/>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6"/>
                  </a:ext>
                </a:extLst>
              </a:tr>
              <a:tr h="408527">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15</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rgbClr val="0000CC"/>
                          </a:solidFill>
                          <a:effectLst/>
                          <a:latin typeface="Arial" panose="020B0604020202020204" pitchFamily="34" charset="0"/>
                          <a:ea typeface="宋体" panose="02010600030101010101" pitchFamily="2" charset="-122"/>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rgbClr val="0000CC"/>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rgbClr val="0000CC"/>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rgbClr val="0000CC"/>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rgbClr val="0000CC"/>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rgbClr val="0000CC"/>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dirty="0" smtClean="0">
                          <a:ln>
                            <a:noFill/>
                          </a:ln>
                          <a:solidFill>
                            <a:srgbClr val="0000CC"/>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dirty="0" smtClean="0">
                          <a:ln>
                            <a:noFill/>
                          </a:ln>
                          <a:solidFill>
                            <a:srgbClr val="0000CC"/>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bl>
          </a:graphicData>
        </a:graphic>
      </p:graphicFrame>
      <p:sp>
        <p:nvSpPr>
          <p:cNvPr id="15" name="Text Box 6"/>
          <p:cNvSpPr txBox="1">
            <a:spLocks noChangeArrowheads="1"/>
          </p:cNvSpPr>
          <p:nvPr/>
        </p:nvSpPr>
        <p:spPr bwMode="auto">
          <a:xfrm>
            <a:off x="1204548" y="2723897"/>
            <a:ext cx="57150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sz="2000" b="1" dirty="0" smtClean="0">
                <a:latin typeface="楷体_GB2312" pitchFamily="49" charset="-122"/>
                <a:ea typeface="楷体_GB2312" pitchFamily="49" charset="-122"/>
              </a:rPr>
              <a:t>表</a:t>
            </a:r>
            <a:r>
              <a:rPr kumimoji="1" lang="en-US" altLang="zh-CN" sz="2000" b="1" dirty="0" smtClean="0">
                <a:latin typeface="楷体_GB2312" pitchFamily="49" charset="-122"/>
                <a:ea typeface="楷体_GB2312" pitchFamily="49" charset="-122"/>
              </a:rPr>
              <a:t>   </a:t>
            </a:r>
            <a:r>
              <a:rPr kumimoji="1" lang="en-US" altLang="zh-CN" sz="2000" b="1" dirty="0">
                <a:latin typeface="楷体_GB2312" pitchFamily="49" charset="-122"/>
                <a:ea typeface="楷体_GB2312" pitchFamily="49" charset="-122"/>
              </a:rPr>
              <a:t>74LS48</a:t>
            </a:r>
            <a:r>
              <a:rPr kumimoji="1" lang="zh-CN" altLang="en-US" sz="2000" b="1" dirty="0">
                <a:latin typeface="楷体_GB2312" pitchFamily="49" charset="-122"/>
                <a:ea typeface="楷体_GB2312" pitchFamily="49" charset="-122"/>
              </a:rPr>
              <a:t>功能表</a:t>
            </a:r>
          </a:p>
        </p:txBody>
      </p:sp>
      <p:graphicFrame>
        <p:nvGraphicFramePr>
          <p:cNvPr id="16" name="Object 175"/>
          <p:cNvGraphicFramePr>
            <a:graphicFrameLocks noChangeAspect="1"/>
          </p:cNvGraphicFramePr>
          <p:nvPr>
            <p:extLst>
              <p:ext uri="{D42A27DB-BD31-4B8C-83A1-F6EECF244321}">
                <p14:modId xmlns:p14="http://schemas.microsoft.com/office/powerpoint/2010/main" xmlns="" val="1515558859"/>
              </p:ext>
            </p:extLst>
          </p:nvPr>
        </p:nvGraphicFramePr>
        <p:xfrm>
          <a:off x="1225204" y="3645024"/>
          <a:ext cx="287288" cy="241871"/>
        </p:xfrm>
        <a:graphic>
          <a:graphicData uri="http://schemas.openxmlformats.org/presentationml/2006/ole">
            <p:oleObj spid="_x0000_s36124" name="公式" r:id="rId5" imgW="241195" imgH="203112" progId="">
              <p:embed/>
            </p:oleObj>
          </a:graphicData>
        </a:graphic>
      </p:graphicFrame>
      <p:graphicFrame>
        <p:nvGraphicFramePr>
          <p:cNvPr id="17" name="Object 176"/>
          <p:cNvGraphicFramePr>
            <a:graphicFrameLocks noChangeAspect="1"/>
          </p:cNvGraphicFramePr>
          <p:nvPr>
            <p:extLst>
              <p:ext uri="{D42A27DB-BD31-4B8C-83A1-F6EECF244321}">
                <p14:modId xmlns:p14="http://schemas.microsoft.com/office/powerpoint/2010/main" xmlns="" val="3093939628"/>
              </p:ext>
            </p:extLst>
          </p:nvPr>
        </p:nvGraphicFramePr>
        <p:xfrm>
          <a:off x="1798987" y="3682710"/>
          <a:ext cx="289917" cy="192863"/>
        </p:xfrm>
        <a:graphic>
          <a:graphicData uri="http://schemas.openxmlformats.org/presentationml/2006/ole">
            <p:oleObj spid="_x0000_s36125" name="公式" r:id="rId6" imgW="304536" imgH="203024" progId="">
              <p:embed/>
            </p:oleObj>
          </a:graphicData>
        </a:graphic>
      </p:graphicFrame>
      <p:graphicFrame>
        <p:nvGraphicFramePr>
          <p:cNvPr id="18" name="Object 177"/>
          <p:cNvGraphicFramePr>
            <a:graphicFrameLocks noChangeAspect="1"/>
          </p:cNvGraphicFramePr>
          <p:nvPr>
            <p:extLst>
              <p:ext uri="{D42A27DB-BD31-4B8C-83A1-F6EECF244321}">
                <p14:modId xmlns:p14="http://schemas.microsoft.com/office/powerpoint/2010/main" xmlns="" val="2169951666"/>
              </p:ext>
            </p:extLst>
          </p:nvPr>
        </p:nvGraphicFramePr>
        <p:xfrm>
          <a:off x="4248748" y="3662851"/>
          <a:ext cx="605740" cy="215503"/>
        </p:xfrm>
        <a:graphic>
          <a:graphicData uri="http://schemas.openxmlformats.org/presentationml/2006/ole">
            <p:oleObj spid="_x0000_s36126" name="公式" r:id="rId7" imgW="609336" imgH="215806" progId="">
              <p:embed/>
            </p:oleObj>
          </a:graphicData>
        </a:graphic>
      </p:graphicFrame>
    </p:spTree>
    <p:extLst>
      <p:ext uri="{BB962C8B-B14F-4D97-AF65-F5344CB8AC3E}">
        <p14:creationId xmlns:p14="http://schemas.microsoft.com/office/powerpoint/2010/main" xmlns="" val="515518489"/>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92696"/>
            <a:ext cx="7473006" cy="566936"/>
          </a:xfrm>
        </p:spPr>
        <p:txBody>
          <a:bodyPr/>
          <a:lstStyle/>
          <a:p>
            <a:r>
              <a:rPr lang="en-US" altLang="zh-CN" dirty="0" smtClean="0"/>
              <a:t>4.4.3 </a:t>
            </a:r>
            <a:r>
              <a:rPr lang="zh-CN" altLang="en-US" dirty="0" smtClean="0"/>
              <a:t>显示译码器</a:t>
            </a:r>
            <a:endParaRPr lang="zh-CN" altLang="en-US" dirty="0"/>
          </a:p>
        </p:txBody>
      </p:sp>
      <p:sp>
        <p:nvSpPr>
          <p:cNvPr id="3" name="内容占位符 2"/>
          <p:cNvSpPr>
            <a:spLocks noGrp="1"/>
          </p:cNvSpPr>
          <p:nvPr>
            <p:ph idx="1"/>
          </p:nvPr>
        </p:nvSpPr>
        <p:spPr>
          <a:xfrm>
            <a:off x="539552" y="1556792"/>
            <a:ext cx="8161338" cy="4911128"/>
          </a:xfrm>
        </p:spPr>
        <p:txBody>
          <a:bodyPr/>
          <a:lstStyle/>
          <a:p>
            <a:pPr>
              <a:buSzPct val="100000"/>
              <a:buFont typeface="Wingdings" pitchFamily="2" charset="2"/>
              <a:buChar char="p"/>
            </a:pPr>
            <a:r>
              <a:rPr lang="zh-CN" altLang="en-US" sz="2800" dirty="0" smtClean="0">
                <a:solidFill>
                  <a:srgbClr val="0000CC"/>
                </a:solidFill>
              </a:rPr>
              <a:t>例</a:t>
            </a:r>
            <a:r>
              <a:rPr lang="en-US" altLang="zh-CN" sz="2800" dirty="0" smtClean="0">
                <a:solidFill>
                  <a:srgbClr val="0000CC"/>
                </a:solidFill>
              </a:rPr>
              <a:t>1</a:t>
            </a:r>
            <a:r>
              <a:rPr lang="en-US" altLang="zh-CN" sz="2800" dirty="0" smtClean="0"/>
              <a:t>. 7448</a:t>
            </a:r>
            <a:r>
              <a:rPr lang="zh-CN" altLang="en-US" sz="2800" dirty="0"/>
              <a:t>驱动</a:t>
            </a:r>
            <a:r>
              <a:rPr lang="en-US" altLang="zh-CN" sz="2800" dirty="0"/>
              <a:t>BCD</a:t>
            </a:r>
            <a:r>
              <a:rPr lang="zh-CN" altLang="en-US" sz="2800" dirty="0"/>
              <a:t>七段字符译码显示电路：</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94</a:t>
            </a:fld>
            <a:endParaRPr lang="zh-CN" altLang="en-US"/>
          </a:p>
        </p:txBody>
      </p:sp>
      <p:pic>
        <p:nvPicPr>
          <p:cNvPr id="13314" name="Picture 2" descr="E:\wrj\课件\数字电路与系统\数字电路与数字系统\tupian\4-16.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396627" y="2132856"/>
            <a:ext cx="5464516" cy="3960000"/>
          </a:xfrm>
          <a:prstGeom prst="rect">
            <a:avLst/>
          </a:prstGeom>
          <a:noFill/>
          <a:extLst>
            <a:ext uri="{909E8E84-426E-40DD-AFC4-6F175D3DCCD1}">
              <a14:hiddenFill xmlns:a14="http://schemas.microsoft.com/office/drawing/2010/main" xmlns="">
                <a:solidFill>
                  <a:srgbClr val="FFFFFF"/>
                </a:solidFill>
              </a14:hiddenFill>
            </a:ext>
          </a:extLst>
        </p:spPr>
      </p:pic>
      <p:sp>
        <p:nvSpPr>
          <p:cNvPr id="5" name="矩形标注 4"/>
          <p:cNvSpPr/>
          <p:nvPr/>
        </p:nvSpPr>
        <p:spPr>
          <a:xfrm>
            <a:off x="4355976" y="2148602"/>
            <a:ext cx="2808312" cy="400110"/>
          </a:xfrm>
          <a:prstGeom prst="wedgeRectCallout">
            <a:avLst>
              <a:gd name="adj1" fmla="val -81580"/>
              <a:gd name="adj2" fmla="val 151186"/>
            </a:avLst>
          </a:prstGeom>
          <a:solidFill>
            <a:schemeClr val="accent1">
              <a:lumMod val="20000"/>
              <a:lumOff val="80000"/>
            </a:schemeClr>
          </a:solidFill>
          <a:ln w="15875">
            <a:solidFill>
              <a:srgbClr val="0000CC"/>
            </a:solidFill>
            <a:prstDash val="dash"/>
          </a:ln>
        </p:spPr>
        <p:txBody>
          <a:bodyPr wrap="square" rtlCol="0" anchor="ctr">
            <a:spAutoFit/>
          </a:bodyPr>
          <a:lstStyle/>
          <a:p>
            <a:pPr algn="ctr"/>
            <a:r>
              <a:rPr lang="zh-CN" altLang="en-US" sz="2000" dirty="0"/>
              <a:t>数码显示</a:t>
            </a:r>
            <a:r>
              <a:rPr lang="zh-CN" altLang="en-US" sz="2000" dirty="0" smtClean="0"/>
              <a:t>电路</a:t>
            </a:r>
            <a:endParaRPr lang="zh-CN" altLang="en-US" sz="2000" dirty="0"/>
          </a:p>
        </p:txBody>
      </p:sp>
      <p:sp>
        <p:nvSpPr>
          <p:cNvPr id="8" name="矩形标注 7"/>
          <p:cNvSpPr/>
          <p:nvPr/>
        </p:nvSpPr>
        <p:spPr>
          <a:xfrm>
            <a:off x="4355976" y="5892801"/>
            <a:ext cx="2808312" cy="400110"/>
          </a:xfrm>
          <a:prstGeom prst="wedgeRectCallout">
            <a:avLst>
              <a:gd name="adj1" fmla="val -82066"/>
              <a:gd name="adj2" fmla="val -166037"/>
            </a:avLst>
          </a:prstGeom>
          <a:solidFill>
            <a:schemeClr val="accent1">
              <a:lumMod val="20000"/>
              <a:lumOff val="80000"/>
            </a:schemeClr>
          </a:solidFill>
          <a:ln w="15875">
            <a:solidFill>
              <a:srgbClr val="0000CC"/>
            </a:solidFill>
            <a:prstDash val="dash"/>
          </a:ln>
        </p:spPr>
        <p:txBody>
          <a:bodyPr wrap="square" rtlCol="0" anchor="ctr">
            <a:spAutoFit/>
          </a:bodyPr>
          <a:lstStyle/>
          <a:p>
            <a:pPr algn="ctr"/>
            <a:r>
              <a:rPr lang="zh-CN" altLang="en-US" sz="2000" dirty="0"/>
              <a:t>译码驱动电路</a:t>
            </a:r>
          </a:p>
        </p:txBody>
      </p:sp>
      <p:sp>
        <p:nvSpPr>
          <p:cNvPr id="7" name="矩形 6"/>
          <p:cNvSpPr/>
          <p:nvPr/>
        </p:nvSpPr>
        <p:spPr>
          <a:xfrm>
            <a:off x="1362945" y="6211669"/>
            <a:ext cx="4572000" cy="646331"/>
          </a:xfrm>
          <a:prstGeom prst="rect">
            <a:avLst/>
          </a:prstGeom>
        </p:spPr>
        <p:txBody>
          <a:bodyPr>
            <a:spAutoFit/>
          </a:bodyPr>
          <a:lstStyle/>
          <a:p>
            <a:pPr algn="ctr"/>
            <a:r>
              <a:rPr lang="zh-CN" altLang="en-US" dirty="0" smtClean="0"/>
              <a:t>图</a:t>
            </a:r>
            <a:r>
              <a:rPr lang="en-US" altLang="zh-CN" dirty="0" smtClean="0"/>
              <a:t>        </a:t>
            </a:r>
            <a:r>
              <a:rPr lang="en-US" altLang="zh-CN" dirty="0"/>
              <a:t>7448</a:t>
            </a:r>
            <a:r>
              <a:rPr lang="zh-CN" altLang="en-US" dirty="0"/>
              <a:t>驱动</a:t>
            </a:r>
            <a:r>
              <a:rPr lang="en-US" altLang="zh-CN" dirty="0"/>
              <a:t>BS201A</a:t>
            </a:r>
          </a:p>
          <a:p>
            <a:pPr algn="ctr"/>
            <a:r>
              <a:rPr lang="zh-CN" altLang="en-US" dirty="0"/>
              <a:t>（</a:t>
            </a:r>
            <a:r>
              <a:rPr lang="en-US" altLang="zh-CN" dirty="0"/>
              <a:t>a</a:t>
            </a:r>
            <a:r>
              <a:rPr lang="zh-CN" altLang="en-US" dirty="0"/>
              <a:t>）接线图（</a:t>
            </a:r>
            <a:r>
              <a:rPr lang="en-US" altLang="zh-CN" dirty="0"/>
              <a:t>b</a:t>
            </a:r>
            <a:r>
              <a:rPr lang="zh-CN" altLang="en-US" dirty="0"/>
              <a:t>）七段显示字型</a:t>
            </a:r>
          </a:p>
        </p:txBody>
      </p:sp>
    </p:spTree>
    <p:extLst>
      <p:ext uri="{BB962C8B-B14F-4D97-AF65-F5344CB8AC3E}">
        <p14:creationId xmlns:p14="http://schemas.microsoft.com/office/powerpoint/2010/main" xmlns="" val="2172294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92696"/>
            <a:ext cx="7545014" cy="566936"/>
          </a:xfrm>
        </p:spPr>
        <p:txBody>
          <a:bodyPr/>
          <a:lstStyle/>
          <a:p>
            <a:r>
              <a:rPr lang="en-US" altLang="zh-CN" dirty="0" smtClean="0"/>
              <a:t>4.4.3 </a:t>
            </a:r>
            <a:r>
              <a:rPr lang="zh-CN" altLang="en-US" dirty="0" smtClean="0"/>
              <a:t>显示译码器</a:t>
            </a:r>
            <a:endParaRPr lang="zh-CN" altLang="en-US" dirty="0"/>
          </a:p>
        </p:txBody>
      </p:sp>
      <p:sp>
        <p:nvSpPr>
          <p:cNvPr id="3" name="内容占位符 2"/>
          <p:cNvSpPr>
            <a:spLocks noGrp="1"/>
          </p:cNvSpPr>
          <p:nvPr>
            <p:ph idx="1"/>
          </p:nvPr>
        </p:nvSpPr>
        <p:spPr/>
        <p:txBody>
          <a:bodyPr/>
          <a:lstStyle/>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95</a:t>
            </a:fld>
            <a:endParaRPr lang="zh-CN" altLang="en-US"/>
          </a:p>
        </p:txBody>
      </p:sp>
      <p:pic>
        <p:nvPicPr>
          <p:cNvPr id="5" name="图片 4"/>
          <p:cNvPicPr>
            <a:picLocks noChangeAspect="1"/>
          </p:cNvPicPr>
          <p:nvPr/>
        </p:nvPicPr>
        <p:blipFill rotWithShape="1">
          <a:blip r:embed="rId2" cstate="print"/>
          <a:srcRect l="20075" t="15000" r="20863" b="10801"/>
          <a:stretch/>
        </p:blipFill>
        <p:spPr>
          <a:xfrm>
            <a:off x="899592" y="1412776"/>
            <a:ext cx="7416824" cy="5241222"/>
          </a:xfrm>
          <a:prstGeom prst="rect">
            <a:avLst/>
          </a:prstGeom>
        </p:spPr>
      </p:pic>
      <p:pic>
        <p:nvPicPr>
          <p:cNvPr id="6" name="图片 5"/>
          <p:cNvPicPr>
            <a:picLocks noChangeAspect="1"/>
          </p:cNvPicPr>
          <p:nvPr/>
        </p:nvPicPr>
        <p:blipFill>
          <a:blip r:embed="rId3" cstate="print">
            <a:lum contrast="20000"/>
          </a:blip>
          <a:stretch>
            <a:fillRect/>
          </a:stretch>
        </p:blipFill>
        <p:spPr>
          <a:xfrm>
            <a:off x="4894569" y="2204864"/>
            <a:ext cx="3468649" cy="2664296"/>
          </a:xfrm>
          <a:prstGeom prst="rect">
            <a:avLst/>
          </a:prstGeom>
        </p:spPr>
      </p:pic>
      <p:pic>
        <p:nvPicPr>
          <p:cNvPr id="7" name="图片 6"/>
          <p:cNvPicPr>
            <a:picLocks noChangeAspect="1"/>
          </p:cNvPicPr>
          <p:nvPr/>
        </p:nvPicPr>
        <p:blipFill>
          <a:blip r:embed="rId4" cstate="print"/>
          <a:stretch>
            <a:fillRect/>
          </a:stretch>
        </p:blipFill>
        <p:spPr>
          <a:xfrm>
            <a:off x="793750" y="1446862"/>
            <a:ext cx="3922266" cy="4362137"/>
          </a:xfrm>
          <a:prstGeom prst="rect">
            <a:avLst/>
          </a:prstGeom>
        </p:spPr>
      </p:pic>
      <p:sp>
        <p:nvSpPr>
          <p:cNvPr id="8" name="矩形标注 7"/>
          <p:cNvSpPr/>
          <p:nvPr/>
        </p:nvSpPr>
        <p:spPr>
          <a:xfrm>
            <a:off x="6843441" y="1425124"/>
            <a:ext cx="2088232" cy="830997"/>
          </a:xfrm>
          <a:prstGeom prst="wedgeRectCallout">
            <a:avLst>
              <a:gd name="adj1" fmla="val -30387"/>
              <a:gd name="adj2" fmla="val 86072"/>
            </a:avLst>
          </a:prstGeom>
          <a:noFill/>
          <a:ln w="15875">
            <a:solidFill>
              <a:srgbClr val="0000CC"/>
            </a:solidFill>
            <a:prstDash val="dash"/>
          </a:ln>
        </p:spPr>
        <p:txBody>
          <a:bodyPr wrap="square" rtlCol="0" anchor="ctr">
            <a:spAutoFit/>
          </a:bodyPr>
          <a:lstStyle/>
          <a:p>
            <a:pPr algn="ctr"/>
            <a:r>
              <a:rPr lang="zh-CN" altLang="en-US" sz="1600" b="1" dirty="0" smtClean="0">
                <a:latin typeface="仿宋" panose="02010609060101010101" pitchFamily="49" charset="-122"/>
                <a:ea typeface="仿宋" panose="02010609060101010101" pitchFamily="49" charset="-122"/>
              </a:rPr>
              <a:t>并联电阻，增大电流，达到发光二极管发光电流要求（大于</a:t>
            </a:r>
            <a:r>
              <a:rPr lang="en-US" altLang="zh-CN" sz="1600" b="1" dirty="0" smtClean="0">
                <a:latin typeface="仿宋" panose="02010609060101010101" pitchFamily="49" charset="-122"/>
                <a:ea typeface="仿宋" panose="02010609060101010101" pitchFamily="49" charset="-122"/>
              </a:rPr>
              <a:t>10MA</a:t>
            </a:r>
            <a:r>
              <a:rPr lang="zh-CN" altLang="en-US" sz="1600" b="1" dirty="0" smtClean="0">
                <a:latin typeface="仿宋" panose="02010609060101010101" pitchFamily="49" charset="-122"/>
                <a:ea typeface="仿宋" panose="02010609060101010101" pitchFamily="49" charset="-122"/>
              </a:rPr>
              <a:t>）</a:t>
            </a:r>
            <a:endParaRPr lang="zh-CN" altLang="en-US" sz="1600" b="1" dirty="0">
              <a:latin typeface="仿宋" panose="02010609060101010101" pitchFamily="49" charset="-122"/>
              <a:ea typeface="仿宋" panose="02010609060101010101" pitchFamily="49" charset="-122"/>
            </a:endParaRPr>
          </a:p>
        </p:txBody>
      </p:sp>
      <p:sp>
        <p:nvSpPr>
          <p:cNvPr id="9" name="矩形标注 8"/>
          <p:cNvSpPr/>
          <p:nvPr/>
        </p:nvSpPr>
        <p:spPr>
          <a:xfrm>
            <a:off x="4805085" y="1434255"/>
            <a:ext cx="2088232" cy="584775"/>
          </a:xfrm>
          <a:prstGeom prst="wedgeRectCallout">
            <a:avLst>
              <a:gd name="adj1" fmla="val 62763"/>
              <a:gd name="adj2" fmla="val 184105"/>
            </a:avLst>
          </a:prstGeom>
          <a:noFill/>
          <a:ln w="15875">
            <a:solidFill>
              <a:srgbClr val="0000CC"/>
            </a:solidFill>
            <a:prstDash val="dash"/>
          </a:ln>
        </p:spPr>
        <p:txBody>
          <a:bodyPr wrap="square" rtlCol="0" anchor="ctr">
            <a:spAutoFit/>
          </a:bodyPr>
          <a:lstStyle/>
          <a:p>
            <a:pPr algn="ctr"/>
            <a:r>
              <a:rPr lang="zh-CN" altLang="en-US" sz="1600" b="1" dirty="0" smtClean="0">
                <a:latin typeface="仿宋" panose="02010609060101010101" pitchFamily="49" charset="-122"/>
                <a:ea typeface="仿宋" panose="02010609060101010101" pitchFamily="49" charset="-122"/>
              </a:rPr>
              <a:t> 电流</a:t>
            </a:r>
            <a:r>
              <a:rPr lang="en-US" altLang="zh-CN" sz="1600" b="1" dirty="0" smtClean="0">
                <a:latin typeface="仿宋" panose="02010609060101010101" pitchFamily="49" charset="-122"/>
                <a:ea typeface="仿宋" panose="02010609060101010101" pitchFamily="49" charset="-122"/>
              </a:rPr>
              <a:t>2MA</a:t>
            </a:r>
            <a:r>
              <a:rPr lang="zh-CN" altLang="en-US" sz="1600" b="1" dirty="0" smtClean="0">
                <a:latin typeface="仿宋" panose="02010609060101010101" pitchFamily="49" charset="-122"/>
                <a:ea typeface="仿宋" panose="02010609060101010101" pitchFamily="49" charset="-122"/>
              </a:rPr>
              <a:t>，达不到发光二极管要求</a:t>
            </a:r>
            <a:endParaRPr lang="zh-CN" altLang="en-US" sz="1600" b="1" dirty="0">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xmlns="" val="51646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20688"/>
            <a:ext cx="7545014" cy="638944"/>
          </a:xfrm>
        </p:spPr>
        <p:txBody>
          <a:bodyPr/>
          <a:lstStyle/>
          <a:p>
            <a:r>
              <a:rPr lang="en-US" altLang="zh-CN" dirty="0" smtClean="0"/>
              <a:t>4.4.3 </a:t>
            </a:r>
            <a:r>
              <a:rPr lang="zh-CN" altLang="en-US" dirty="0" smtClean="0"/>
              <a:t>显示译码器</a:t>
            </a:r>
            <a:endParaRPr lang="zh-CN" altLang="en-US" dirty="0"/>
          </a:p>
        </p:txBody>
      </p:sp>
      <p:sp>
        <p:nvSpPr>
          <p:cNvPr id="3" name="内容占位符 2"/>
          <p:cNvSpPr>
            <a:spLocks noGrp="1"/>
          </p:cNvSpPr>
          <p:nvPr>
            <p:ph idx="1"/>
          </p:nvPr>
        </p:nvSpPr>
        <p:spPr>
          <a:xfrm>
            <a:off x="467544" y="1542208"/>
            <a:ext cx="8487544" cy="4911128"/>
          </a:xfrm>
        </p:spPr>
        <p:txBody>
          <a:bodyPr/>
          <a:lstStyle/>
          <a:p>
            <a:pPr>
              <a:buSzPct val="100000"/>
              <a:buFont typeface="Wingdings" pitchFamily="2" charset="2"/>
              <a:buChar char="p"/>
            </a:pPr>
            <a:r>
              <a:rPr lang="zh-CN" altLang="en-US" sz="2800" dirty="0" smtClean="0">
                <a:solidFill>
                  <a:srgbClr val="0000CC"/>
                </a:solidFill>
              </a:rPr>
              <a:t>例</a:t>
            </a:r>
            <a:r>
              <a:rPr lang="en-US" altLang="zh-CN" sz="2800" dirty="0" smtClean="0">
                <a:solidFill>
                  <a:srgbClr val="0000CC"/>
                </a:solidFill>
              </a:rPr>
              <a:t>2</a:t>
            </a:r>
            <a:r>
              <a:rPr lang="en-US" altLang="zh-CN" sz="2800" dirty="0" smtClean="0"/>
              <a:t>. </a:t>
            </a:r>
            <a:r>
              <a:rPr lang="en-US" altLang="zh-CN" sz="2800" dirty="0"/>
              <a:t>7448</a:t>
            </a:r>
            <a:r>
              <a:rPr lang="zh-CN" altLang="en-US" sz="2800" dirty="0"/>
              <a:t>驱动</a:t>
            </a:r>
            <a:r>
              <a:rPr lang="en-US" altLang="zh-CN" sz="2800" dirty="0"/>
              <a:t>BCD</a:t>
            </a:r>
            <a:r>
              <a:rPr lang="zh-CN" altLang="en-US" sz="2800" dirty="0"/>
              <a:t>七段字符译码及灭</a:t>
            </a:r>
            <a:r>
              <a:rPr lang="en-US" altLang="zh-CN" sz="2800" dirty="0"/>
              <a:t>0</a:t>
            </a:r>
            <a:r>
              <a:rPr lang="zh-CN" altLang="en-US" sz="2800" dirty="0"/>
              <a:t>显示电路</a:t>
            </a:r>
            <a:r>
              <a:rPr lang="zh-CN" altLang="en-US" sz="2800" dirty="0" smtClean="0"/>
              <a:t>：</a:t>
            </a:r>
            <a:endParaRPr lang="en-US" altLang="zh-CN" sz="2800" dirty="0" smtClean="0"/>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96</a:t>
            </a:fld>
            <a:endParaRPr lang="zh-CN" altLang="en-US"/>
          </a:p>
        </p:txBody>
      </p:sp>
      <p:pic>
        <p:nvPicPr>
          <p:cNvPr id="14338" name="Picture 2" descr="E:\wrj\课件\数字电路与系统\数字电路与数字系统\tupian\4-17.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83568" y="2276872"/>
            <a:ext cx="7906748" cy="3600000"/>
          </a:xfrm>
          <a:prstGeom prst="rect">
            <a:avLst/>
          </a:prstGeom>
          <a:noFill/>
          <a:extLst>
            <a:ext uri="{909E8E84-426E-40DD-AFC4-6F175D3DCCD1}">
              <a14:hiddenFill xmlns:a14="http://schemas.microsoft.com/office/drawing/2010/main" xmlns="">
                <a:solidFill>
                  <a:srgbClr val="FFFFFF"/>
                </a:solidFill>
              </a14:hiddenFill>
            </a:ext>
          </a:extLst>
        </p:spPr>
      </p:pic>
      <p:sp>
        <p:nvSpPr>
          <p:cNvPr id="5" name="矩形 4"/>
          <p:cNvSpPr/>
          <p:nvPr/>
        </p:nvSpPr>
        <p:spPr>
          <a:xfrm>
            <a:off x="2483768" y="6021288"/>
            <a:ext cx="3647152" cy="369332"/>
          </a:xfrm>
          <a:prstGeom prst="rect">
            <a:avLst/>
          </a:prstGeom>
        </p:spPr>
        <p:txBody>
          <a:bodyPr wrap="none">
            <a:spAutoFit/>
          </a:bodyPr>
          <a:lstStyle/>
          <a:p>
            <a:r>
              <a:rPr lang="zh-CN" altLang="en-US" b="1" dirty="0"/>
              <a:t>有灭零控制的数码显示系统实例图</a:t>
            </a:r>
          </a:p>
        </p:txBody>
      </p:sp>
      <p:sp>
        <p:nvSpPr>
          <p:cNvPr id="6" name="矩形 5"/>
          <p:cNvSpPr/>
          <p:nvPr/>
        </p:nvSpPr>
        <p:spPr>
          <a:xfrm>
            <a:off x="611560" y="4653136"/>
            <a:ext cx="3384376" cy="1223736"/>
          </a:xfrm>
          <a:prstGeom prst="rect">
            <a:avLst/>
          </a:prstGeom>
          <a:solidFill>
            <a:schemeClr val="bg1"/>
          </a:solidFill>
          <a:ln w="15875">
            <a:solidFill>
              <a:schemeClr val="bg1"/>
            </a:solidFill>
            <a:prstDash val="dash"/>
          </a:ln>
        </p:spPr>
        <p:txBody>
          <a:bodyPr wrap="square" rtlCol="0" anchor="ctr">
            <a:spAutoFit/>
          </a:bodyPr>
          <a:lstStyle/>
          <a:p>
            <a:pPr algn="ctr"/>
            <a:endParaRPr lang="zh-CN" altLang="en-US" sz="2000" b="1" dirty="0">
              <a:latin typeface="华文新魏" pitchFamily="2" charset="-122"/>
              <a:ea typeface="华文新魏" pitchFamily="2" charset="-122"/>
            </a:endParaRPr>
          </a:p>
        </p:txBody>
      </p:sp>
      <p:sp>
        <p:nvSpPr>
          <p:cNvPr id="8" name="矩形 7"/>
          <p:cNvSpPr/>
          <p:nvPr/>
        </p:nvSpPr>
        <p:spPr>
          <a:xfrm>
            <a:off x="4307344" y="4658572"/>
            <a:ext cx="1823576" cy="1223736"/>
          </a:xfrm>
          <a:prstGeom prst="rect">
            <a:avLst/>
          </a:prstGeom>
          <a:solidFill>
            <a:schemeClr val="bg1"/>
          </a:solidFill>
          <a:ln w="15875">
            <a:noFill/>
            <a:prstDash val="dash"/>
          </a:ln>
        </p:spPr>
        <p:txBody>
          <a:bodyPr wrap="square" rtlCol="0" anchor="ctr">
            <a:spAutoFit/>
          </a:bodyPr>
          <a:lstStyle/>
          <a:p>
            <a:pPr algn="ctr"/>
            <a:endParaRPr lang="zh-CN" altLang="en-US" sz="2000" b="1" dirty="0">
              <a:latin typeface="华文新魏" pitchFamily="2" charset="-122"/>
              <a:ea typeface="华文新魏" pitchFamily="2" charset="-122"/>
            </a:endParaRPr>
          </a:p>
        </p:txBody>
      </p:sp>
      <p:sp>
        <p:nvSpPr>
          <p:cNvPr id="9" name="矩形 8"/>
          <p:cNvSpPr/>
          <p:nvPr/>
        </p:nvSpPr>
        <p:spPr>
          <a:xfrm>
            <a:off x="6448830" y="4655951"/>
            <a:ext cx="1823576" cy="1223736"/>
          </a:xfrm>
          <a:prstGeom prst="rect">
            <a:avLst/>
          </a:prstGeom>
          <a:solidFill>
            <a:schemeClr val="bg1"/>
          </a:solidFill>
          <a:ln w="15875">
            <a:solidFill>
              <a:schemeClr val="bg1"/>
            </a:solidFill>
            <a:prstDash val="dash"/>
          </a:ln>
        </p:spPr>
        <p:txBody>
          <a:bodyPr wrap="square" rtlCol="0" anchor="ctr">
            <a:spAutoFit/>
          </a:bodyPr>
          <a:lstStyle/>
          <a:p>
            <a:pPr algn="ctr"/>
            <a:endParaRPr lang="zh-CN" altLang="en-US" sz="2000" b="1" dirty="0">
              <a:latin typeface="华文新魏" pitchFamily="2" charset="-122"/>
              <a:ea typeface="华文新魏" pitchFamily="2" charset="-122"/>
            </a:endParaRPr>
          </a:p>
        </p:txBody>
      </p:sp>
    </p:spTree>
    <p:extLst>
      <p:ext uri="{BB962C8B-B14F-4D97-AF65-F5344CB8AC3E}">
        <p14:creationId xmlns:p14="http://schemas.microsoft.com/office/powerpoint/2010/main" xmlns="" val="3894999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20688"/>
            <a:ext cx="7545014" cy="638944"/>
          </a:xfrm>
        </p:spPr>
        <p:txBody>
          <a:bodyPr/>
          <a:lstStyle/>
          <a:p>
            <a:r>
              <a:rPr lang="en-US" altLang="zh-CN" dirty="0" smtClean="0"/>
              <a:t>4.4.3 </a:t>
            </a:r>
            <a:r>
              <a:rPr lang="zh-CN" altLang="en-US" dirty="0" smtClean="0"/>
              <a:t>显示译码器</a:t>
            </a:r>
            <a:endParaRPr lang="zh-CN" altLang="en-US" dirty="0"/>
          </a:p>
        </p:txBody>
      </p:sp>
      <p:sp>
        <p:nvSpPr>
          <p:cNvPr id="3" name="内容占位符 2"/>
          <p:cNvSpPr>
            <a:spLocks noGrp="1"/>
          </p:cNvSpPr>
          <p:nvPr>
            <p:ph idx="1"/>
          </p:nvPr>
        </p:nvSpPr>
        <p:spPr>
          <a:xfrm>
            <a:off x="467544" y="1628800"/>
            <a:ext cx="8487544" cy="4824536"/>
          </a:xfrm>
        </p:spPr>
        <p:txBody>
          <a:bodyPr/>
          <a:lstStyle/>
          <a:p>
            <a:pPr>
              <a:buSzPct val="100000"/>
              <a:buFont typeface="Wingdings" pitchFamily="2" charset="2"/>
              <a:buChar char="p"/>
            </a:pPr>
            <a:r>
              <a:rPr lang="zh-CN" altLang="en-US" sz="2800" dirty="0" smtClean="0">
                <a:solidFill>
                  <a:srgbClr val="0000CC"/>
                </a:solidFill>
              </a:rPr>
              <a:t>例</a:t>
            </a:r>
            <a:r>
              <a:rPr lang="en-US" altLang="zh-CN" sz="2800" dirty="0" smtClean="0">
                <a:solidFill>
                  <a:srgbClr val="0000CC"/>
                </a:solidFill>
              </a:rPr>
              <a:t>4.10 </a:t>
            </a:r>
            <a:r>
              <a:rPr lang="en-US" altLang="zh-CN" sz="2800" dirty="0" smtClean="0"/>
              <a:t> </a:t>
            </a:r>
            <a:r>
              <a:rPr lang="zh-CN" altLang="en-US" sz="2800" dirty="0" smtClean="0"/>
              <a:t>用与非门设计一个七段显示译码器，要求显示“</a:t>
            </a:r>
            <a:r>
              <a:rPr lang="en-US" altLang="zh-CN" sz="2800" dirty="0" smtClean="0"/>
              <a:t>H</a:t>
            </a:r>
            <a:r>
              <a:rPr lang="zh-CN" altLang="en-US" sz="2800" dirty="0" smtClean="0"/>
              <a:t>”、“</a:t>
            </a:r>
            <a:r>
              <a:rPr lang="en-US" altLang="zh-CN" sz="2800" dirty="0" smtClean="0"/>
              <a:t>E</a:t>
            </a:r>
            <a:r>
              <a:rPr lang="zh-CN" altLang="en-US" sz="2800" dirty="0" smtClean="0"/>
              <a:t>”、“</a:t>
            </a:r>
            <a:r>
              <a:rPr lang="en-US" altLang="zh-CN" sz="2800" dirty="0" smtClean="0"/>
              <a:t>L</a:t>
            </a:r>
            <a:r>
              <a:rPr lang="zh-CN" altLang="en-US" sz="2800" dirty="0" smtClean="0"/>
              <a:t>”、“</a:t>
            </a:r>
            <a:r>
              <a:rPr lang="en-US" altLang="zh-CN" sz="2800" dirty="0" smtClean="0"/>
              <a:t>P</a:t>
            </a:r>
            <a:r>
              <a:rPr lang="zh-CN" altLang="en-US" sz="2800" dirty="0" smtClean="0"/>
              <a:t>”四个符号。</a:t>
            </a:r>
            <a:endParaRPr lang="en-US" altLang="zh-CN" sz="2800" dirty="0" smtClean="0"/>
          </a:p>
          <a:p>
            <a:pPr>
              <a:buSzPct val="100000"/>
              <a:buFont typeface="Wingdings" pitchFamily="2" charset="2"/>
              <a:buChar char="p"/>
            </a:pPr>
            <a:r>
              <a:rPr lang="zh-CN" altLang="en-US" sz="2800" dirty="0" smtClean="0">
                <a:solidFill>
                  <a:srgbClr val="0000CC"/>
                </a:solidFill>
              </a:rPr>
              <a:t>解</a:t>
            </a:r>
            <a:r>
              <a:rPr lang="zh-CN" altLang="en-US" sz="2800" dirty="0" smtClean="0"/>
              <a:t>：显示</a:t>
            </a:r>
            <a:r>
              <a:rPr lang="en-US" altLang="zh-CN" sz="2800" dirty="0" smtClean="0"/>
              <a:t>4</a:t>
            </a:r>
            <a:r>
              <a:rPr lang="zh-CN" altLang="en-US" sz="2800" dirty="0" smtClean="0"/>
              <a:t>个符号需要</a:t>
            </a:r>
            <a:r>
              <a:rPr lang="en-US" altLang="zh-CN" sz="2800" dirty="0" smtClean="0"/>
              <a:t>2</a:t>
            </a:r>
            <a:r>
              <a:rPr lang="zh-CN" altLang="en-US" sz="2800" dirty="0" smtClean="0"/>
              <a:t>位译码输入，</a:t>
            </a:r>
            <a:r>
              <a:rPr lang="en-US" altLang="zh-CN" sz="2800" dirty="0" smtClean="0"/>
              <a:t>7</a:t>
            </a:r>
            <a:r>
              <a:rPr lang="zh-CN" altLang="en-US" sz="2800" dirty="0" smtClean="0"/>
              <a:t>位输出。</a:t>
            </a:r>
            <a:endParaRPr lang="en-US" altLang="zh-CN" sz="2800" dirty="0" smtClean="0"/>
          </a:p>
          <a:p>
            <a:pPr>
              <a:buSzPct val="100000"/>
              <a:buNone/>
            </a:pPr>
            <a:r>
              <a:rPr lang="en-US" altLang="zh-CN" sz="2800" dirty="0" smtClean="0"/>
              <a:t>        </a:t>
            </a:r>
            <a:r>
              <a:rPr lang="zh-CN" altLang="en-US" sz="2800" dirty="0" smtClean="0"/>
              <a:t>列出输入输出关系如表</a:t>
            </a:r>
            <a:r>
              <a:rPr lang="en-US" altLang="zh-CN" sz="2800" dirty="0" smtClean="0"/>
              <a:t>4.13</a:t>
            </a:r>
            <a:r>
              <a:rPr lang="zh-CN" altLang="en-US" sz="2800" dirty="0" smtClean="0"/>
              <a:t>所示。从而有</a:t>
            </a:r>
            <a:endParaRPr lang="en-US" altLang="zh-CN" sz="2800" dirty="0" smtClean="0"/>
          </a:p>
          <a:p>
            <a:pPr>
              <a:buNone/>
            </a:pPr>
            <a:r>
              <a:rPr lang="en-US" altLang="zh-CN" dirty="0" smtClean="0"/>
              <a:t>       </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97</a:t>
            </a:fld>
            <a:endParaRPr lang="zh-CN" altLang="en-US"/>
          </a:p>
        </p:txBody>
      </p:sp>
      <p:sp>
        <p:nvSpPr>
          <p:cNvPr id="6" name="矩形 5"/>
          <p:cNvSpPr/>
          <p:nvPr/>
        </p:nvSpPr>
        <p:spPr>
          <a:xfrm>
            <a:off x="611560" y="4653136"/>
            <a:ext cx="3384376" cy="1223736"/>
          </a:xfrm>
          <a:prstGeom prst="rect">
            <a:avLst/>
          </a:prstGeom>
          <a:solidFill>
            <a:schemeClr val="bg1"/>
          </a:solidFill>
          <a:ln w="15875">
            <a:solidFill>
              <a:schemeClr val="bg1"/>
            </a:solidFill>
            <a:prstDash val="dash"/>
          </a:ln>
        </p:spPr>
        <p:txBody>
          <a:bodyPr wrap="square" rtlCol="0" anchor="ctr">
            <a:spAutoFit/>
          </a:bodyPr>
          <a:lstStyle/>
          <a:p>
            <a:pPr algn="ctr"/>
            <a:endParaRPr lang="zh-CN" altLang="en-US" sz="2000" b="1" dirty="0">
              <a:latin typeface="华文新魏" pitchFamily="2" charset="-122"/>
              <a:ea typeface="华文新魏" pitchFamily="2" charset="-122"/>
            </a:endParaRPr>
          </a:p>
        </p:txBody>
      </p:sp>
      <p:sp>
        <p:nvSpPr>
          <p:cNvPr id="8" name="矩形 7"/>
          <p:cNvSpPr/>
          <p:nvPr/>
        </p:nvSpPr>
        <p:spPr>
          <a:xfrm>
            <a:off x="4307344" y="4658572"/>
            <a:ext cx="1823576" cy="1223736"/>
          </a:xfrm>
          <a:prstGeom prst="rect">
            <a:avLst/>
          </a:prstGeom>
          <a:solidFill>
            <a:schemeClr val="bg1"/>
          </a:solidFill>
          <a:ln w="15875">
            <a:noFill/>
            <a:prstDash val="dash"/>
          </a:ln>
        </p:spPr>
        <p:txBody>
          <a:bodyPr wrap="square" rtlCol="0" anchor="ctr">
            <a:spAutoFit/>
          </a:bodyPr>
          <a:lstStyle/>
          <a:p>
            <a:pPr algn="ctr"/>
            <a:endParaRPr lang="zh-CN" altLang="en-US" sz="2000" b="1" dirty="0">
              <a:latin typeface="华文新魏" pitchFamily="2" charset="-122"/>
              <a:ea typeface="华文新魏" pitchFamily="2" charset="-122"/>
            </a:endParaRPr>
          </a:p>
        </p:txBody>
      </p:sp>
      <p:sp>
        <p:nvSpPr>
          <p:cNvPr id="9" name="矩形 8"/>
          <p:cNvSpPr/>
          <p:nvPr/>
        </p:nvSpPr>
        <p:spPr>
          <a:xfrm>
            <a:off x="6448830" y="4655951"/>
            <a:ext cx="1823576" cy="1223736"/>
          </a:xfrm>
          <a:prstGeom prst="rect">
            <a:avLst/>
          </a:prstGeom>
          <a:solidFill>
            <a:schemeClr val="bg1"/>
          </a:solidFill>
          <a:ln w="15875">
            <a:solidFill>
              <a:schemeClr val="bg1"/>
            </a:solidFill>
            <a:prstDash val="dash"/>
          </a:ln>
        </p:spPr>
        <p:txBody>
          <a:bodyPr wrap="square" rtlCol="0" anchor="ctr">
            <a:spAutoFit/>
          </a:bodyPr>
          <a:lstStyle/>
          <a:p>
            <a:pPr algn="ctr"/>
            <a:endParaRPr lang="zh-CN" altLang="en-US" sz="2000" b="1" dirty="0">
              <a:latin typeface="华文新魏" pitchFamily="2" charset="-122"/>
              <a:ea typeface="华文新魏" pitchFamily="2" charset="-122"/>
            </a:endParaRPr>
          </a:p>
        </p:txBody>
      </p:sp>
      <p:pic>
        <p:nvPicPr>
          <p:cNvPr id="566273" name="Picture 1"/>
          <p:cNvPicPr>
            <a:picLocks noChangeAspect="1" noChangeArrowheads="1"/>
          </p:cNvPicPr>
          <p:nvPr/>
        </p:nvPicPr>
        <p:blipFill>
          <a:blip r:embed="rId3" cstate="print"/>
          <a:srcRect/>
          <a:stretch>
            <a:fillRect/>
          </a:stretch>
        </p:blipFill>
        <p:spPr bwMode="auto">
          <a:xfrm>
            <a:off x="5181600" y="0"/>
            <a:ext cx="3962400" cy="1628775"/>
          </a:xfrm>
          <a:prstGeom prst="rect">
            <a:avLst/>
          </a:prstGeom>
          <a:noFill/>
          <a:ln w="9525">
            <a:noFill/>
            <a:miter lim="800000"/>
            <a:headEnd/>
            <a:tailEnd/>
          </a:ln>
        </p:spPr>
      </p:pic>
      <p:graphicFrame>
        <p:nvGraphicFramePr>
          <p:cNvPr id="566274" name="Object 2"/>
          <p:cNvGraphicFramePr>
            <a:graphicFrameLocks noChangeAspect="1"/>
          </p:cNvGraphicFramePr>
          <p:nvPr/>
        </p:nvGraphicFramePr>
        <p:xfrm>
          <a:off x="1547664" y="3501008"/>
          <a:ext cx="2967837" cy="1368152"/>
        </p:xfrm>
        <a:graphic>
          <a:graphicData uri="http://schemas.openxmlformats.org/presentationml/2006/ole">
            <p:oleObj spid="_x0000_s566274" r:id="rId4" imgW="1790640" imgH="825480" progId="">
              <p:embed/>
            </p:oleObj>
          </a:graphicData>
        </a:graphic>
      </p:graphicFrame>
      <p:graphicFrame>
        <p:nvGraphicFramePr>
          <p:cNvPr id="566275" name="Object 3"/>
          <p:cNvGraphicFramePr>
            <a:graphicFrameLocks noChangeAspect="1"/>
          </p:cNvGraphicFramePr>
          <p:nvPr/>
        </p:nvGraphicFramePr>
        <p:xfrm>
          <a:off x="1547664" y="5157192"/>
          <a:ext cx="2376264" cy="1533074"/>
        </p:xfrm>
        <a:graphic>
          <a:graphicData uri="http://schemas.openxmlformats.org/presentationml/2006/ole">
            <p:oleObj spid="_x0000_s566275" r:id="rId5" imgW="1574640" imgH="1015920" progId="">
              <p:embed/>
            </p:oleObj>
          </a:graphicData>
        </a:graphic>
      </p:graphicFrame>
      <p:pic>
        <p:nvPicPr>
          <p:cNvPr id="11" name="Picture 2"/>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5076056" y="3501008"/>
            <a:ext cx="1257300" cy="2324100"/>
          </a:xfrm>
          <a:prstGeom prst="rect">
            <a:avLst/>
          </a:prstGeom>
          <a:noFill/>
          <a:ln w="9525">
            <a:solidFill>
              <a:schemeClr val="accent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894999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59633" y="692696"/>
            <a:ext cx="7560840" cy="566936"/>
          </a:xfrm>
        </p:spPr>
        <p:txBody>
          <a:bodyPr/>
          <a:lstStyle/>
          <a:p>
            <a:r>
              <a:rPr lang="zh-CN" altLang="en-US" dirty="0"/>
              <a:t>译码器（</a:t>
            </a:r>
            <a:r>
              <a:rPr lang="en-US" altLang="zh-CN" dirty="0"/>
              <a:t>Decoder</a:t>
            </a:r>
            <a:r>
              <a:rPr lang="zh-CN" altLang="en-US" dirty="0" smtClean="0"/>
              <a:t>）</a:t>
            </a:r>
            <a:r>
              <a:rPr lang="en-US" altLang="zh-CN" dirty="0" smtClean="0"/>
              <a:t>----</a:t>
            </a:r>
            <a:r>
              <a:rPr lang="zh-CN" altLang="en-US" dirty="0" smtClean="0"/>
              <a:t>应用</a:t>
            </a:r>
            <a:endParaRPr lang="zh-CN" altLang="en-US" dirty="0"/>
          </a:p>
        </p:txBody>
      </p:sp>
      <p:sp>
        <p:nvSpPr>
          <p:cNvPr id="3" name="内容占位符 2"/>
          <p:cNvSpPr>
            <a:spLocks noGrp="1"/>
          </p:cNvSpPr>
          <p:nvPr>
            <p:ph idx="1"/>
          </p:nvPr>
        </p:nvSpPr>
        <p:spPr>
          <a:xfrm>
            <a:off x="467545" y="1542208"/>
            <a:ext cx="3672407" cy="4911128"/>
          </a:xfrm>
        </p:spPr>
        <p:txBody>
          <a:bodyPr/>
          <a:lstStyle/>
          <a:p>
            <a:pPr>
              <a:buSzPct val="100000"/>
              <a:buFont typeface="Wingdings" pitchFamily="2" charset="2"/>
              <a:buChar char="p"/>
            </a:pPr>
            <a:r>
              <a:rPr lang="zh-CN" altLang="en-US" sz="2800" dirty="0"/>
              <a:t>在存储器中的</a:t>
            </a:r>
            <a:r>
              <a:rPr lang="zh-CN" altLang="en-US" sz="2800" dirty="0" smtClean="0"/>
              <a:t>应用</a:t>
            </a:r>
            <a:endParaRPr lang="en-US" altLang="zh-CN" sz="2800" dirty="0" smtClean="0"/>
          </a:p>
          <a:p>
            <a:pPr lvl="1">
              <a:buSzPct val="100000"/>
            </a:pPr>
            <a:r>
              <a:rPr lang="zh-CN" altLang="en-US" sz="2400" dirty="0" smtClean="0"/>
              <a:t>作</a:t>
            </a:r>
            <a:r>
              <a:rPr lang="zh-CN" altLang="en-US" sz="2400" dirty="0">
                <a:solidFill>
                  <a:srgbClr val="0000CC"/>
                </a:solidFill>
              </a:rPr>
              <a:t>地址译码器</a:t>
            </a:r>
            <a:r>
              <a:rPr lang="zh-CN" altLang="en-US" sz="2400" dirty="0"/>
              <a:t>或</a:t>
            </a:r>
            <a:r>
              <a:rPr lang="zh-CN" altLang="en-US" sz="2400" dirty="0">
                <a:solidFill>
                  <a:srgbClr val="0000CC"/>
                </a:solidFill>
              </a:rPr>
              <a:t>指令译码器</a:t>
            </a:r>
            <a:r>
              <a:rPr lang="zh-CN" altLang="en-US" sz="2400" dirty="0"/>
              <a:t>，译码器输入地址码，输出为存储单元地址</a:t>
            </a:r>
            <a:r>
              <a:rPr lang="zh-CN" altLang="en-US" sz="2400" dirty="0" smtClean="0"/>
              <a:t>。</a:t>
            </a:r>
            <a:endParaRPr lang="en-US" altLang="zh-CN" sz="2400" dirty="0" smtClean="0"/>
          </a:p>
          <a:p>
            <a:pPr lvl="2">
              <a:buSzPct val="100000"/>
              <a:buFont typeface="Wingdings" pitchFamily="2" charset="2"/>
              <a:buChar char="u"/>
            </a:pPr>
            <a:r>
              <a:rPr lang="zh-CN" altLang="en-US" dirty="0" smtClean="0"/>
              <a:t>如</a:t>
            </a:r>
            <a:r>
              <a:rPr lang="en-US" altLang="zh-CN" dirty="0"/>
              <a:t>n</a:t>
            </a:r>
            <a:r>
              <a:rPr lang="zh-CN" altLang="en-US" dirty="0"/>
              <a:t>位地址线可寻址</a:t>
            </a:r>
            <a:r>
              <a:rPr lang="en-US" altLang="zh-CN" dirty="0"/>
              <a:t>2</a:t>
            </a:r>
            <a:r>
              <a:rPr lang="en-US" altLang="zh-CN" sz="2800" baseline="30000" dirty="0"/>
              <a:t>n</a:t>
            </a:r>
            <a:r>
              <a:rPr lang="zh-CN" altLang="en-US" dirty="0"/>
              <a:t>个单元</a:t>
            </a:r>
            <a:r>
              <a:rPr lang="zh-CN" altLang="en-US" dirty="0" smtClean="0"/>
              <a:t>。</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98</a:t>
            </a:fld>
            <a:endParaRPr lang="zh-CN" altLang="en-US"/>
          </a:p>
        </p:txBody>
      </p:sp>
      <p:pic>
        <p:nvPicPr>
          <p:cNvPr id="5" name="图片 4"/>
          <p:cNvPicPr>
            <a:picLocks noChangeAspect="1"/>
          </p:cNvPicPr>
          <p:nvPr/>
        </p:nvPicPr>
        <p:blipFill>
          <a:blip r:embed="rId2" cstate="print">
            <a:lum contrast="20000"/>
          </a:blip>
          <a:stretch>
            <a:fillRect/>
          </a:stretch>
        </p:blipFill>
        <p:spPr>
          <a:xfrm>
            <a:off x="4139952" y="2132856"/>
            <a:ext cx="4804291" cy="3382077"/>
          </a:xfrm>
          <a:prstGeom prst="rect">
            <a:avLst/>
          </a:prstGeom>
        </p:spPr>
      </p:pic>
      <p:sp>
        <p:nvSpPr>
          <p:cNvPr id="6" name="标题 1"/>
          <p:cNvSpPr txBox="1">
            <a:spLocks/>
          </p:cNvSpPr>
          <p:nvPr/>
        </p:nvSpPr>
        <p:spPr bwMode="auto">
          <a:xfrm>
            <a:off x="1259632" y="116632"/>
            <a:ext cx="7545014"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4.4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译码器（</a:t>
            </a: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Decoder</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1505798207"/>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6" descr="3-3-9"/>
          <p:cNvPicPr>
            <a:picLocks noChangeAspect="1" noChangeArrowheads="1"/>
          </p:cNvPicPr>
          <p:nvPr/>
        </p:nvPicPr>
        <p:blipFill>
          <a:blip r:embed="rId3" cstate="print">
            <a:clrChange>
              <a:clrFrom>
                <a:srgbClr val="FAFBF5"/>
              </a:clrFrom>
              <a:clrTo>
                <a:srgbClr val="FAFBF5">
                  <a:alpha val="0"/>
                </a:srgbClr>
              </a:clrTo>
            </a:clrChange>
            <a:lum contrast="36000"/>
            <a:extLst>
              <a:ext uri="{28A0092B-C50C-407E-A947-70E740481C1C}">
                <a14:useLocalDpi xmlns:a14="http://schemas.microsoft.com/office/drawing/2010/main" xmlns="" val="0"/>
              </a:ext>
            </a:extLst>
          </a:blip>
          <a:srcRect l="859" t="24554" r="6784" b="11879"/>
          <a:stretch>
            <a:fillRect/>
          </a:stretch>
        </p:blipFill>
        <p:spPr bwMode="auto">
          <a:xfrm>
            <a:off x="1638139" y="4592390"/>
            <a:ext cx="6840686" cy="2134004"/>
          </a:xfrm>
          <a:prstGeom prst="rect">
            <a:avLst/>
          </a:prstGeom>
          <a:noFill/>
          <a:extLst>
            <a:ext uri="{909E8E84-426E-40DD-AFC4-6F175D3DCCD1}">
              <a14:hiddenFill xmlns:a14="http://schemas.microsoft.com/office/drawing/2010/main" xmlns="">
                <a:solidFill>
                  <a:srgbClr val="FFFFFF"/>
                </a:solidFill>
              </a14:hiddenFill>
            </a:ext>
          </a:extLst>
        </p:spPr>
      </p:pic>
      <mc:AlternateContent xmlns:mc="http://schemas.openxmlformats.org/markup-compatibility/2006">
        <mc:Choice xmlns:a14="http://schemas.microsoft.com/office/drawing/2010/main" xmlns="" Requires="a14">
          <p:sp>
            <p:nvSpPr>
              <p:cNvPr id="9" name="Rectangle 2"/>
              <p:cNvSpPr>
                <a:spLocks noChangeArrowheads="1"/>
              </p:cNvSpPr>
              <p:nvPr/>
            </p:nvSpPr>
            <p:spPr bwMode="auto">
              <a:xfrm>
                <a:off x="1693414" y="3442373"/>
                <a:ext cx="7107651" cy="923330"/>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kumimoji="0" lang="zh-CN" altLang="zh-CN" b="1" i="0" u="none" strike="noStrike" cap="none" normalizeH="0" baseline="0" dirty="0" smtClean="0">
                    <a:ln>
                      <a:noFill/>
                    </a:ln>
                    <a:solidFill>
                      <a:srgbClr val="000000"/>
                    </a:solidFill>
                    <a:effectLst/>
                    <a:latin typeface="+mn-ea"/>
                    <a:cs typeface="Calibri" panose="020F0502020204030204" pitchFamily="34" charset="0"/>
                  </a:rPr>
                  <a:t>分析：</a:t>
                </a:r>
                <a:r>
                  <a:rPr kumimoji="0" lang="zh-CN" altLang="zh-CN" b="1" i="0" u="none" strike="noStrike" cap="none" normalizeH="0" baseline="0" dirty="0" smtClean="0">
                    <a:ln>
                      <a:noFill/>
                    </a:ln>
                    <a:solidFill>
                      <a:srgbClr val="0000CC"/>
                    </a:solidFill>
                    <a:effectLst/>
                    <a:latin typeface="+mn-ea"/>
                    <a:cs typeface="Calibri" panose="020F0502020204030204" pitchFamily="34" charset="0"/>
                  </a:rPr>
                  <a:t>当</a:t>
                </a:r>
                <a:r>
                  <a:rPr kumimoji="0" lang="en-US" altLang="zh-CN" b="1" i="0" u="none" strike="noStrike" cap="none" normalizeH="0" baseline="0" dirty="0" smtClean="0">
                    <a:ln>
                      <a:noFill/>
                    </a:ln>
                    <a:solidFill>
                      <a:srgbClr val="0000CC"/>
                    </a:solidFill>
                    <a:effectLst/>
                    <a:latin typeface="+mn-ea"/>
                    <a:cs typeface="Calibri" panose="020F0502020204030204" pitchFamily="34" charset="0"/>
                  </a:rPr>
                  <a:t>D</a:t>
                </a:r>
                <a:r>
                  <a:rPr kumimoji="0" lang="en-US" altLang="zh-CN" b="1" i="0" u="none" strike="noStrike" cap="none" normalizeH="0" baseline="-30000" dirty="0" smtClean="0">
                    <a:ln>
                      <a:noFill/>
                    </a:ln>
                    <a:solidFill>
                      <a:srgbClr val="0000CC"/>
                    </a:solidFill>
                    <a:effectLst/>
                    <a:latin typeface="+mn-ea"/>
                    <a:cs typeface="Calibri" panose="020F0502020204030204" pitchFamily="34" charset="0"/>
                  </a:rPr>
                  <a:t>3</a:t>
                </a:r>
                <a:r>
                  <a:rPr kumimoji="0" lang="zh-CN" altLang="en-US" b="1" i="0" u="none" strike="noStrike" cap="none" normalizeH="0" baseline="0" dirty="0" smtClean="0">
                    <a:ln>
                      <a:noFill/>
                    </a:ln>
                    <a:solidFill>
                      <a:srgbClr val="0000CC"/>
                    </a:solidFill>
                    <a:effectLst/>
                    <a:latin typeface="+mn-ea"/>
                    <a:cs typeface="Calibri" panose="020F0502020204030204" pitchFamily="34" charset="0"/>
                  </a:rPr>
                  <a:t>为</a:t>
                </a:r>
                <a:r>
                  <a:rPr kumimoji="0" lang="en-US" altLang="zh-CN" b="1" i="0" u="none" strike="noStrike" cap="none" normalizeH="0" baseline="0" dirty="0" smtClean="0">
                    <a:ln>
                      <a:noFill/>
                    </a:ln>
                    <a:solidFill>
                      <a:srgbClr val="0000CC"/>
                    </a:solidFill>
                    <a:effectLst/>
                    <a:latin typeface="+mn-ea"/>
                    <a:cs typeface="Calibri" panose="020F0502020204030204" pitchFamily="34" charset="0"/>
                  </a:rPr>
                  <a:t>0</a:t>
                </a:r>
                <a:r>
                  <a:rPr kumimoji="0" lang="zh-CN" altLang="en-US" b="1" i="0" strike="noStrike" cap="none" normalizeH="0" baseline="0" dirty="0" smtClean="0">
                    <a:ln>
                      <a:noFill/>
                    </a:ln>
                    <a:solidFill>
                      <a:srgbClr val="0000CC"/>
                    </a:solidFill>
                    <a:effectLst/>
                    <a:latin typeface="+mn-ea"/>
                    <a:cs typeface="Calibri" panose="020F0502020204030204" pitchFamily="34" charset="0"/>
                  </a:rPr>
                  <a:t>时</a:t>
                </a:r>
                <a:r>
                  <a:rPr kumimoji="0" lang="zh-CN" altLang="en-US" b="1" i="0" u="none" strike="noStrike" cap="none" normalizeH="0" baseline="0" dirty="0" smtClean="0">
                    <a:ln>
                      <a:noFill/>
                    </a:ln>
                    <a:solidFill>
                      <a:srgbClr val="000000"/>
                    </a:solidFill>
                    <a:effectLst/>
                    <a:latin typeface="+mn-ea"/>
                    <a:cs typeface="Calibri" panose="020F0502020204030204" pitchFamily="34" charset="0"/>
                  </a:rPr>
                  <a:t>，（</a:t>
                </a:r>
                <a:r>
                  <a:rPr kumimoji="0" lang="en-US" altLang="zh-CN" b="1" i="0" u="none" strike="noStrike" cap="none" normalizeH="0" baseline="0" dirty="0" smtClean="0">
                    <a:ln>
                      <a:noFill/>
                    </a:ln>
                    <a:solidFill>
                      <a:srgbClr val="000000"/>
                    </a:solidFill>
                    <a:effectLst/>
                    <a:latin typeface="+mn-ea"/>
                    <a:cs typeface="Calibri" panose="020F0502020204030204" pitchFamily="34" charset="0"/>
                  </a:rPr>
                  <a:t>1</a:t>
                </a:r>
                <a:r>
                  <a:rPr kumimoji="0" lang="zh-CN" altLang="en-US" b="1" i="0" u="none" strike="noStrike" cap="none" normalizeH="0" baseline="0" dirty="0" smtClean="0">
                    <a:ln>
                      <a:noFill/>
                    </a:ln>
                    <a:solidFill>
                      <a:srgbClr val="000000"/>
                    </a:solidFill>
                    <a:effectLst/>
                    <a:latin typeface="+mn-ea"/>
                    <a:cs typeface="Calibri" panose="020F0502020204030204" pitchFamily="34" charset="0"/>
                  </a:rPr>
                  <a:t>）片正常工作，（</a:t>
                </a:r>
                <a:r>
                  <a:rPr kumimoji="0" lang="en-US" altLang="zh-CN" b="1" i="0" u="none" strike="noStrike" cap="none" normalizeH="0" baseline="0" dirty="0" smtClean="0">
                    <a:ln>
                      <a:noFill/>
                    </a:ln>
                    <a:solidFill>
                      <a:srgbClr val="000000"/>
                    </a:solidFill>
                    <a:effectLst/>
                    <a:latin typeface="+mn-ea"/>
                    <a:cs typeface="Calibri" panose="020F0502020204030204" pitchFamily="34" charset="0"/>
                  </a:rPr>
                  <a:t>2</a:t>
                </a:r>
                <a:r>
                  <a:rPr kumimoji="0" lang="zh-CN" altLang="en-US" b="1" i="0" u="none" strike="noStrike" cap="none" normalizeH="0" baseline="0" dirty="0" smtClean="0">
                    <a:ln>
                      <a:noFill/>
                    </a:ln>
                    <a:solidFill>
                      <a:srgbClr val="000000"/>
                    </a:solidFill>
                    <a:effectLst/>
                    <a:latin typeface="+mn-ea"/>
                    <a:cs typeface="Calibri" panose="020F0502020204030204" pitchFamily="34" charset="0"/>
                  </a:rPr>
                  <a:t>）片封锁，译出 </a:t>
                </a:r>
                <a14:m>
                  <m:oMath xmlns:m="http://schemas.openxmlformats.org/officeDocument/2006/math">
                    <m:acc>
                      <m:accPr>
                        <m:chr m:val="̅"/>
                        <m:ctrlPr>
                          <a:rPr kumimoji="0" lang="zh-CN" altLang="en-US" b="1" i="1" u="none" strike="noStrike" cap="none" normalizeH="0" baseline="0" smtClean="0">
                            <a:ln>
                              <a:noFill/>
                            </a:ln>
                            <a:solidFill>
                              <a:srgbClr val="000000"/>
                            </a:solidFill>
                            <a:effectLst/>
                            <a:latin typeface="Cambria Math" panose="02040503050406030204" pitchFamily="18" charset="0"/>
                            <a:cs typeface="Calibri" panose="020F0502020204030204" pitchFamily="34" charset="0"/>
                          </a:rPr>
                        </m:ctrlPr>
                      </m:accPr>
                      <m:e>
                        <m:r>
                          <a:rPr kumimoji="0" lang="en-US" altLang="zh-CN" b="1" i="1" u="none" strike="noStrike" cap="none" normalizeH="0" baseline="0" smtClean="0">
                            <a:ln>
                              <a:noFill/>
                            </a:ln>
                            <a:solidFill>
                              <a:srgbClr val="000000"/>
                            </a:solidFill>
                            <a:effectLst/>
                            <a:latin typeface="Cambria Math" panose="02040503050406030204" pitchFamily="18" charset="0"/>
                            <a:cs typeface="Calibri" panose="020F0502020204030204" pitchFamily="34" charset="0"/>
                          </a:rPr>
                          <m:t>𝒛</m:t>
                        </m:r>
                        <m:r>
                          <a:rPr kumimoji="0" lang="en-US" altLang="zh-CN" b="1" i="1" u="none" strike="noStrike" cap="none" normalizeH="0" baseline="-25000" smtClean="0">
                            <a:ln>
                              <a:noFill/>
                            </a:ln>
                            <a:solidFill>
                              <a:srgbClr val="000000"/>
                            </a:solidFill>
                            <a:effectLst/>
                            <a:latin typeface="Cambria Math" panose="02040503050406030204" pitchFamily="18" charset="0"/>
                            <a:cs typeface="Calibri" panose="020F0502020204030204" pitchFamily="34" charset="0"/>
                          </a:rPr>
                          <m:t>𝟎</m:t>
                        </m:r>
                      </m:e>
                    </m:acc>
                    <m:r>
                      <a:rPr lang="en-US" altLang="zh-CN" b="1" dirty="0">
                        <a:solidFill>
                          <a:srgbClr val="000000"/>
                        </a:solidFill>
                        <a:latin typeface="Cambria Math" panose="02040503050406030204" pitchFamily="18" charset="0"/>
                        <a:cs typeface="Calibri" panose="020F0502020204030204" pitchFamily="34" charset="0"/>
                      </a:rPr>
                      <m:t>∽</m:t>
                    </m:r>
                    <m:acc>
                      <m:accPr>
                        <m:chr m:val="̅"/>
                        <m:ctrlPr>
                          <a:rPr lang="zh-CN" altLang="en-US" b="1" i="1">
                            <a:solidFill>
                              <a:srgbClr val="000000"/>
                            </a:solidFill>
                            <a:latin typeface="Cambria Math" panose="02040503050406030204" pitchFamily="18" charset="0"/>
                            <a:cs typeface="Calibri" panose="020F0502020204030204" pitchFamily="34" charset="0"/>
                          </a:rPr>
                        </m:ctrlPr>
                      </m:accPr>
                      <m:e>
                        <m:r>
                          <a:rPr lang="en-US" altLang="zh-CN" b="1" i="1">
                            <a:solidFill>
                              <a:srgbClr val="000000"/>
                            </a:solidFill>
                            <a:latin typeface="Cambria Math" panose="02040503050406030204" pitchFamily="18" charset="0"/>
                            <a:cs typeface="Calibri" panose="020F0502020204030204" pitchFamily="34" charset="0"/>
                          </a:rPr>
                          <m:t>𝒛</m:t>
                        </m:r>
                        <m:r>
                          <a:rPr lang="en-US" altLang="zh-CN" b="1" i="1" baseline="-25000" smtClean="0">
                            <a:solidFill>
                              <a:srgbClr val="000000"/>
                            </a:solidFill>
                            <a:latin typeface="Cambria Math" panose="02040503050406030204" pitchFamily="18" charset="0"/>
                            <a:cs typeface="Calibri" panose="020F0502020204030204" pitchFamily="34" charset="0"/>
                          </a:rPr>
                          <m:t>𝟕</m:t>
                        </m:r>
                      </m:e>
                    </m:acc>
                  </m:oMath>
                </a14:m>
                <a:r>
                  <a:rPr kumimoji="0" lang="zh-CN" altLang="en-US" b="1" i="0" u="none" strike="noStrike" cap="none" normalizeH="0" baseline="0" dirty="0" smtClean="0">
                    <a:ln>
                      <a:noFill/>
                    </a:ln>
                    <a:solidFill>
                      <a:srgbClr val="000000"/>
                    </a:solidFill>
                    <a:effectLst/>
                    <a:latin typeface="+mn-ea"/>
                    <a:cs typeface="Calibri" panose="020F0502020204030204" pitchFamily="34" charset="0"/>
                  </a:rPr>
                  <a:t>；</a:t>
                </a:r>
                <a:endParaRPr kumimoji="0" lang="en-US" altLang="zh-CN" b="1" i="0" u="none" strike="noStrike" cap="none" normalizeH="0" baseline="0" dirty="0" smtClean="0">
                  <a:ln>
                    <a:noFill/>
                  </a:ln>
                  <a:solidFill>
                    <a:srgbClr val="000000"/>
                  </a:solidFill>
                  <a:effectLst/>
                  <a:latin typeface="+mn-ea"/>
                  <a:cs typeface="Calibri" panose="020F0502020204030204" pitchFamily="34" charset="0"/>
                </a:endParaRPr>
              </a:p>
              <a:p>
                <a:pPr eaLnBrk="0" fontAlgn="base" hangingPunct="0">
                  <a:lnSpc>
                    <a:spcPct val="150000"/>
                  </a:lnSpc>
                  <a:spcBef>
                    <a:spcPct val="0"/>
                  </a:spcBef>
                  <a:spcAft>
                    <a:spcPct val="0"/>
                  </a:spcAft>
                </a:pPr>
                <a:r>
                  <a:rPr lang="zh-CN" altLang="zh-CN" b="1" dirty="0" smtClean="0">
                    <a:solidFill>
                      <a:srgbClr val="0000CC"/>
                    </a:solidFill>
                    <a:latin typeface="+mn-ea"/>
                    <a:cs typeface="Calibri" panose="020F0502020204030204" pitchFamily="34" charset="0"/>
                  </a:rPr>
                  <a:t>当</a:t>
                </a:r>
                <a:r>
                  <a:rPr lang="en-US" altLang="zh-CN" b="1" dirty="0" smtClean="0">
                    <a:solidFill>
                      <a:srgbClr val="0000CC"/>
                    </a:solidFill>
                    <a:latin typeface="+mn-ea"/>
                    <a:cs typeface="Calibri" panose="020F0502020204030204" pitchFamily="34" charset="0"/>
                  </a:rPr>
                  <a:t>D</a:t>
                </a:r>
                <a:r>
                  <a:rPr lang="en-US" altLang="zh-CN" b="1" baseline="-30000" dirty="0" smtClean="0">
                    <a:solidFill>
                      <a:srgbClr val="0000CC"/>
                    </a:solidFill>
                    <a:latin typeface="+mn-ea"/>
                    <a:cs typeface="Calibri" panose="020F0502020204030204" pitchFamily="34" charset="0"/>
                  </a:rPr>
                  <a:t>3</a:t>
                </a:r>
                <a:r>
                  <a:rPr lang="zh-CN" altLang="en-US" b="1" dirty="0" smtClean="0">
                    <a:solidFill>
                      <a:srgbClr val="0000CC"/>
                    </a:solidFill>
                    <a:latin typeface="+mn-ea"/>
                    <a:cs typeface="Calibri" panose="020F0502020204030204" pitchFamily="34" charset="0"/>
                  </a:rPr>
                  <a:t>为</a:t>
                </a:r>
                <a:r>
                  <a:rPr lang="en-US" altLang="zh-CN" b="1" dirty="0">
                    <a:solidFill>
                      <a:srgbClr val="0000CC"/>
                    </a:solidFill>
                    <a:latin typeface="+mn-ea"/>
                    <a:cs typeface="Calibri" panose="020F0502020204030204" pitchFamily="34" charset="0"/>
                  </a:rPr>
                  <a:t>1</a:t>
                </a:r>
                <a:r>
                  <a:rPr lang="zh-CN" altLang="en-US" b="1" dirty="0">
                    <a:solidFill>
                      <a:srgbClr val="0000CC"/>
                    </a:solidFill>
                    <a:latin typeface="+mn-ea"/>
                    <a:cs typeface="Calibri" panose="020F0502020204030204" pitchFamily="34" charset="0"/>
                  </a:rPr>
                  <a:t>时</a:t>
                </a:r>
                <a:r>
                  <a:rPr lang="zh-CN" altLang="en-US" b="1" dirty="0">
                    <a:solidFill>
                      <a:srgbClr val="000000"/>
                    </a:solidFill>
                    <a:latin typeface="+mn-ea"/>
                    <a:cs typeface="Calibri" panose="020F0502020204030204" pitchFamily="34" charset="0"/>
                  </a:rPr>
                  <a:t>，（</a:t>
                </a:r>
                <a:r>
                  <a:rPr lang="en-US" altLang="zh-CN" b="1" dirty="0">
                    <a:solidFill>
                      <a:srgbClr val="000000"/>
                    </a:solidFill>
                    <a:latin typeface="+mn-ea"/>
                    <a:cs typeface="Calibri" panose="020F0502020204030204" pitchFamily="34" charset="0"/>
                  </a:rPr>
                  <a:t>1</a:t>
                </a:r>
                <a:r>
                  <a:rPr lang="zh-CN" altLang="en-US" b="1" dirty="0">
                    <a:solidFill>
                      <a:srgbClr val="000000"/>
                    </a:solidFill>
                    <a:latin typeface="+mn-ea"/>
                    <a:cs typeface="Calibri" panose="020F0502020204030204" pitchFamily="34" charset="0"/>
                  </a:rPr>
                  <a:t>）片封锁，（</a:t>
                </a:r>
                <a:r>
                  <a:rPr lang="en-US" altLang="zh-CN" b="1" dirty="0">
                    <a:solidFill>
                      <a:srgbClr val="000000"/>
                    </a:solidFill>
                    <a:latin typeface="+mn-ea"/>
                    <a:cs typeface="Calibri" panose="020F0502020204030204" pitchFamily="34" charset="0"/>
                  </a:rPr>
                  <a:t>2</a:t>
                </a:r>
                <a:r>
                  <a:rPr lang="zh-CN" altLang="en-US" b="1" dirty="0">
                    <a:solidFill>
                      <a:srgbClr val="000000"/>
                    </a:solidFill>
                    <a:latin typeface="+mn-ea"/>
                    <a:cs typeface="Calibri" panose="020F0502020204030204" pitchFamily="34" charset="0"/>
                  </a:rPr>
                  <a:t>）片正常工作，译出</a:t>
                </a:r>
                <a14:m>
                  <m:oMath xmlns:m="http://schemas.openxmlformats.org/officeDocument/2006/math">
                    <m:acc>
                      <m:accPr>
                        <m:chr m:val="̅"/>
                        <m:ctrlPr>
                          <a:rPr lang="zh-CN" altLang="en-US" b="1" i="1">
                            <a:solidFill>
                              <a:srgbClr val="000000"/>
                            </a:solidFill>
                            <a:latin typeface="Cambria Math" panose="02040503050406030204" pitchFamily="18" charset="0"/>
                            <a:cs typeface="Calibri" panose="020F0502020204030204" pitchFamily="34" charset="0"/>
                          </a:rPr>
                        </m:ctrlPr>
                      </m:accPr>
                      <m:e>
                        <m:r>
                          <a:rPr lang="en-US" altLang="zh-CN" b="1" i="1">
                            <a:solidFill>
                              <a:srgbClr val="000000"/>
                            </a:solidFill>
                            <a:latin typeface="Cambria Math" panose="02040503050406030204" pitchFamily="18" charset="0"/>
                            <a:cs typeface="Calibri" panose="020F0502020204030204" pitchFamily="34" charset="0"/>
                          </a:rPr>
                          <m:t>𝒛</m:t>
                        </m:r>
                        <m:r>
                          <a:rPr lang="en-US" altLang="zh-CN" b="1" i="1" baseline="-25000" smtClean="0">
                            <a:solidFill>
                              <a:srgbClr val="000000"/>
                            </a:solidFill>
                            <a:latin typeface="Cambria Math" panose="02040503050406030204" pitchFamily="18" charset="0"/>
                            <a:cs typeface="Calibri" panose="020F0502020204030204" pitchFamily="34" charset="0"/>
                          </a:rPr>
                          <m:t>𝟖</m:t>
                        </m:r>
                      </m:e>
                    </m:acc>
                    <m:r>
                      <a:rPr lang="en-US" altLang="zh-CN" b="1" dirty="0">
                        <a:solidFill>
                          <a:srgbClr val="000000"/>
                        </a:solidFill>
                        <a:latin typeface="Cambria Math" panose="02040503050406030204" pitchFamily="18" charset="0"/>
                        <a:cs typeface="Calibri" panose="020F0502020204030204" pitchFamily="34" charset="0"/>
                      </a:rPr>
                      <m:t>∽</m:t>
                    </m:r>
                    <m:acc>
                      <m:accPr>
                        <m:chr m:val="̅"/>
                        <m:ctrlPr>
                          <a:rPr lang="zh-CN" altLang="en-US" b="1" i="1">
                            <a:solidFill>
                              <a:srgbClr val="000000"/>
                            </a:solidFill>
                            <a:latin typeface="Cambria Math" panose="02040503050406030204" pitchFamily="18" charset="0"/>
                            <a:cs typeface="Calibri" panose="020F0502020204030204" pitchFamily="34" charset="0"/>
                          </a:rPr>
                        </m:ctrlPr>
                      </m:accPr>
                      <m:e>
                        <m:r>
                          <a:rPr lang="en-US" altLang="zh-CN" b="1" i="1">
                            <a:solidFill>
                              <a:srgbClr val="000000"/>
                            </a:solidFill>
                            <a:latin typeface="Cambria Math" panose="02040503050406030204" pitchFamily="18" charset="0"/>
                            <a:cs typeface="Calibri" panose="020F0502020204030204" pitchFamily="34" charset="0"/>
                          </a:rPr>
                          <m:t>𝒛</m:t>
                        </m:r>
                        <m:r>
                          <a:rPr lang="en-US" altLang="zh-CN" b="1" i="1" baseline="-25000" smtClean="0">
                            <a:solidFill>
                              <a:srgbClr val="000000"/>
                            </a:solidFill>
                            <a:latin typeface="Cambria Math" panose="02040503050406030204" pitchFamily="18" charset="0"/>
                            <a:cs typeface="Calibri" panose="020F0502020204030204" pitchFamily="34" charset="0"/>
                          </a:rPr>
                          <m:t>𝟏𝟓</m:t>
                        </m:r>
                      </m:e>
                    </m:acc>
                  </m:oMath>
                </a14:m>
                <a:r>
                  <a:rPr lang="zh-CN" altLang="en-US" b="1" dirty="0">
                    <a:solidFill>
                      <a:srgbClr val="000000"/>
                    </a:solidFill>
                    <a:latin typeface="+mn-ea"/>
                    <a:cs typeface="Calibri" panose="020F0502020204030204" pitchFamily="34" charset="0"/>
                  </a:rPr>
                  <a:t> </a:t>
                </a:r>
                <a:r>
                  <a:rPr lang="zh-CN" altLang="en-US" b="1" dirty="0" smtClean="0">
                    <a:solidFill>
                      <a:srgbClr val="000000"/>
                    </a:solidFill>
                    <a:latin typeface="+mn-ea"/>
                    <a:cs typeface="Calibri" panose="020F0502020204030204" pitchFamily="34" charset="0"/>
                  </a:rPr>
                  <a:t>。</a:t>
                </a:r>
                <a:endParaRPr kumimoji="0" lang="zh-CN" altLang="en-US" b="0" i="0" u="none" strike="noStrike" cap="none" normalizeH="0" baseline="0" dirty="0" smtClean="0">
                  <a:ln>
                    <a:noFill/>
                  </a:ln>
                  <a:solidFill>
                    <a:schemeClr val="tx1"/>
                  </a:solidFill>
                  <a:effectLst/>
                  <a:latin typeface="+mn-ea"/>
                </a:endParaRPr>
              </a:p>
            </p:txBody>
          </p:sp>
        </mc:Choice>
        <mc:Fallback>
          <p:sp>
            <p:nvSpPr>
              <p:cNvPr id="9" name="Rectangle 2"/>
              <p:cNvSpPr>
                <a:spLocks noRot="1" noChangeAspect="1" noMove="1" noResize="1" noEditPoints="1" noAdjustHandles="1" noChangeArrowheads="1" noChangeShapeType="1" noTextEdit="1"/>
              </p:cNvSpPr>
              <p:nvPr/>
            </p:nvSpPr>
            <p:spPr bwMode="auto">
              <a:xfrm>
                <a:off x="1693414" y="3442373"/>
                <a:ext cx="7107651" cy="923330"/>
              </a:xfrm>
              <a:prstGeom prst="rect">
                <a:avLst/>
              </a:prstGeom>
              <a:blipFill rotWithShape="0">
                <a:blip r:embed="rId4" cstate="print"/>
                <a:stretch>
                  <a:fillRect l="-772" r="-515" b="-3311"/>
                </a:stretch>
              </a:blipFill>
              <a:ln>
                <a:noFill/>
              </a:ln>
              <a:effectLst/>
            </p:spPr>
            <p:txBody>
              <a:bodyPr/>
              <a:lstStyle/>
              <a:p>
                <a:r>
                  <a:rPr lang="zh-CN" altLang="en-US">
                    <a:noFill/>
                  </a:rPr>
                  <a:t> </a:t>
                </a:r>
              </a:p>
            </p:txBody>
          </p:sp>
        </mc:Fallback>
      </mc:AlternateContent>
      <p:sp>
        <p:nvSpPr>
          <p:cNvPr id="2" name="标题 1"/>
          <p:cNvSpPr>
            <a:spLocks noGrp="1"/>
          </p:cNvSpPr>
          <p:nvPr>
            <p:ph type="title"/>
          </p:nvPr>
        </p:nvSpPr>
        <p:spPr/>
        <p:txBody>
          <a:bodyPr/>
          <a:lstStyle/>
          <a:p>
            <a:r>
              <a:rPr lang="zh-CN" altLang="en-US" dirty="0"/>
              <a:t>译码器（</a:t>
            </a:r>
            <a:r>
              <a:rPr lang="en-US" altLang="zh-CN" dirty="0"/>
              <a:t>Decoder</a:t>
            </a:r>
            <a:r>
              <a:rPr lang="zh-CN" altLang="en-US" dirty="0" smtClean="0"/>
              <a:t>）</a:t>
            </a:r>
            <a:r>
              <a:rPr lang="en-US" altLang="zh-CN" dirty="0" smtClean="0"/>
              <a:t>----</a:t>
            </a:r>
            <a:r>
              <a:rPr lang="zh-CN" altLang="en-US" dirty="0" smtClean="0"/>
              <a:t>应用</a:t>
            </a:r>
            <a:endParaRPr lang="zh-CN" altLang="en-US" dirty="0"/>
          </a:p>
        </p:txBody>
      </p:sp>
      <p:sp>
        <p:nvSpPr>
          <p:cNvPr id="3" name="内容占位符 2"/>
          <p:cNvSpPr>
            <a:spLocks noGrp="1"/>
          </p:cNvSpPr>
          <p:nvPr>
            <p:ph idx="1"/>
          </p:nvPr>
        </p:nvSpPr>
        <p:spPr>
          <a:xfrm>
            <a:off x="539552" y="1556792"/>
            <a:ext cx="6874595" cy="4911128"/>
          </a:xfrm>
        </p:spPr>
        <p:txBody>
          <a:bodyPr/>
          <a:lstStyle/>
          <a:p>
            <a:pPr>
              <a:buSzPct val="100000"/>
              <a:buFont typeface="Wingdings" pitchFamily="2" charset="2"/>
              <a:buChar char="p"/>
            </a:pPr>
            <a:r>
              <a:rPr lang="zh-CN" altLang="en-US" sz="2800" dirty="0"/>
              <a:t>扩展</a:t>
            </a:r>
            <a:r>
              <a:rPr lang="zh-CN" altLang="en-US" sz="2800" dirty="0" smtClean="0"/>
              <a:t>应用</a:t>
            </a:r>
            <a:endParaRPr lang="en-US" altLang="zh-CN" sz="2800" dirty="0" smtClean="0"/>
          </a:p>
          <a:p>
            <a:pPr marL="457200" lvl="1" indent="0">
              <a:buNone/>
            </a:pPr>
            <a:r>
              <a:rPr lang="zh-CN" altLang="en-US" dirty="0" smtClean="0"/>
              <a:t>在</a:t>
            </a:r>
            <a:r>
              <a:rPr lang="zh-CN" altLang="en-US" dirty="0"/>
              <a:t>需进行大容量译码时，可将芯片进行扩展。</a:t>
            </a:r>
          </a:p>
        </p:txBody>
      </p:sp>
      <p:sp>
        <p:nvSpPr>
          <p:cNvPr id="4" name="灯片编号占位符 3"/>
          <p:cNvSpPr>
            <a:spLocks noGrp="1"/>
          </p:cNvSpPr>
          <p:nvPr>
            <p:ph type="sldNum" sz="quarter" idx="12"/>
          </p:nvPr>
        </p:nvSpPr>
        <p:spPr>
          <a:xfrm>
            <a:off x="6872275" y="6158499"/>
            <a:ext cx="1905000" cy="457200"/>
          </a:xfrm>
        </p:spPr>
        <p:txBody>
          <a:bodyPr/>
          <a:lstStyle/>
          <a:p>
            <a:fld id="{0C913308-F349-4B6D-A68A-DD1791B4A57B}" type="slidenum">
              <a:rPr lang="zh-CN" altLang="en-US" smtClean="0"/>
              <a:pPr/>
              <a:t>99</a:t>
            </a:fld>
            <a:endParaRPr lang="zh-CN" altLang="en-US"/>
          </a:p>
        </p:txBody>
      </p:sp>
      <p:sp>
        <p:nvSpPr>
          <p:cNvPr id="6" name="矩形 5"/>
          <p:cNvSpPr/>
          <p:nvPr/>
        </p:nvSpPr>
        <p:spPr>
          <a:xfrm>
            <a:off x="1331640" y="2474650"/>
            <a:ext cx="6924836" cy="1754326"/>
          </a:xfrm>
          <a:prstGeom prst="rect">
            <a:avLst/>
          </a:prstGeom>
        </p:spPr>
        <p:txBody>
          <a:bodyPr wrap="square">
            <a:spAutoFit/>
          </a:bodyPr>
          <a:lstStyle/>
          <a:p>
            <a:pPr>
              <a:lnSpc>
                <a:spcPts val="2700"/>
              </a:lnSpc>
              <a:spcBef>
                <a:spcPct val="50000"/>
              </a:spcBef>
            </a:pPr>
            <a:r>
              <a:rPr kumimoji="1" lang="zh-CN" altLang="en-US" b="1" dirty="0" smtClean="0">
                <a:latin typeface="Times New Roman" panose="02020603050405020304" pitchFamily="18" charset="0"/>
              </a:rPr>
              <a:t>例：试用</a:t>
            </a:r>
            <a:r>
              <a:rPr kumimoji="1" lang="zh-CN" altLang="en-US" b="1" dirty="0">
                <a:latin typeface="Times New Roman" panose="02020603050405020304" pitchFamily="18" charset="0"/>
              </a:rPr>
              <a:t>两片</a:t>
            </a:r>
            <a:r>
              <a:rPr kumimoji="1" lang="en-US" altLang="zh-CN" b="1" dirty="0">
                <a:latin typeface="Times New Roman" panose="02020603050405020304" pitchFamily="18" charset="0"/>
              </a:rPr>
              <a:t>74LS138</a:t>
            </a:r>
            <a:r>
              <a:rPr kumimoji="1" lang="zh-CN" altLang="en-US" b="1" dirty="0">
                <a:latin typeface="Times New Roman" panose="02020603050405020304" pitchFamily="18" charset="0"/>
              </a:rPr>
              <a:t>组成</a:t>
            </a:r>
            <a:r>
              <a:rPr kumimoji="1" lang="en-US" altLang="zh-CN" b="1" dirty="0">
                <a:latin typeface="Times New Roman" panose="02020603050405020304" pitchFamily="18" charset="0"/>
              </a:rPr>
              <a:t>4</a:t>
            </a:r>
            <a:r>
              <a:rPr kumimoji="1" lang="zh-CN" altLang="en-US" b="1" dirty="0">
                <a:latin typeface="Times New Roman" panose="02020603050405020304" pitchFamily="18" charset="0"/>
              </a:rPr>
              <a:t>线－</a:t>
            </a:r>
            <a:r>
              <a:rPr kumimoji="1" lang="en-US" altLang="zh-CN" b="1" dirty="0">
                <a:latin typeface="Times New Roman" panose="02020603050405020304" pitchFamily="18" charset="0"/>
              </a:rPr>
              <a:t>16</a:t>
            </a:r>
            <a:r>
              <a:rPr kumimoji="1" lang="zh-CN" altLang="en-US" b="1" dirty="0">
                <a:latin typeface="Times New Roman" panose="02020603050405020304" pitchFamily="18" charset="0"/>
              </a:rPr>
              <a:t>线译码器，将输入的</a:t>
            </a:r>
            <a:r>
              <a:rPr kumimoji="1" lang="en-US" altLang="zh-CN" b="1" dirty="0">
                <a:latin typeface="Times New Roman" panose="02020603050405020304" pitchFamily="18" charset="0"/>
              </a:rPr>
              <a:t>4</a:t>
            </a:r>
            <a:r>
              <a:rPr kumimoji="1" lang="zh-CN" altLang="en-US" b="1" dirty="0">
                <a:latin typeface="Times New Roman" panose="02020603050405020304" pitchFamily="18" charset="0"/>
              </a:rPr>
              <a:t>位二进制代码 </a:t>
            </a:r>
            <a:r>
              <a:rPr kumimoji="1" lang="en-US" altLang="zh-CN" b="1" dirty="0" smtClean="0">
                <a:latin typeface="Times New Roman" panose="02020603050405020304" pitchFamily="18" charset="0"/>
              </a:rPr>
              <a:t>D</a:t>
            </a:r>
            <a:r>
              <a:rPr kumimoji="1" lang="en-US" altLang="zh-CN" b="1" baseline="-25000" dirty="0" smtClean="0">
                <a:latin typeface="Times New Roman" panose="02020603050405020304" pitchFamily="18" charset="0"/>
              </a:rPr>
              <a:t>3</a:t>
            </a:r>
            <a:r>
              <a:rPr kumimoji="1" lang="en-US" altLang="zh-CN" b="1" dirty="0" smtClean="0">
                <a:latin typeface="Times New Roman" panose="02020603050405020304" pitchFamily="18" charset="0"/>
              </a:rPr>
              <a:t>D</a:t>
            </a:r>
            <a:r>
              <a:rPr kumimoji="1" lang="en-US" altLang="zh-CN" b="1" baseline="-25000" dirty="0">
                <a:latin typeface="Times New Roman" panose="02020603050405020304" pitchFamily="18" charset="0"/>
              </a:rPr>
              <a:t>2</a:t>
            </a:r>
            <a:r>
              <a:rPr kumimoji="1" lang="en-US" altLang="zh-CN" b="1" dirty="0" smtClean="0">
                <a:latin typeface="Times New Roman" panose="02020603050405020304" pitchFamily="18" charset="0"/>
              </a:rPr>
              <a:t>D</a:t>
            </a:r>
            <a:r>
              <a:rPr kumimoji="1" lang="en-US" altLang="zh-CN" b="1" baseline="-25000" dirty="0">
                <a:latin typeface="Times New Roman" panose="02020603050405020304" pitchFamily="18" charset="0"/>
              </a:rPr>
              <a:t>1</a:t>
            </a:r>
            <a:r>
              <a:rPr kumimoji="1" lang="en-US" altLang="zh-CN" b="1" dirty="0" smtClean="0">
                <a:latin typeface="Times New Roman" panose="02020603050405020304" pitchFamily="18" charset="0"/>
              </a:rPr>
              <a:t>D</a:t>
            </a:r>
            <a:r>
              <a:rPr kumimoji="1" lang="en-US" altLang="zh-CN" b="1" baseline="-25000" dirty="0">
                <a:latin typeface="Times New Roman" panose="02020603050405020304" pitchFamily="18" charset="0"/>
              </a:rPr>
              <a:t>0</a:t>
            </a:r>
            <a:r>
              <a:rPr kumimoji="1" lang="zh-CN" altLang="en-US" b="1" dirty="0" smtClean="0">
                <a:latin typeface="Times New Roman" panose="02020603050405020304" pitchFamily="18" charset="0"/>
              </a:rPr>
              <a:t>译</a:t>
            </a:r>
            <a:r>
              <a:rPr kumimoji="1" lang="zh-CN" altLang="en-US" b="1" dirty="0">
                <a:latin typeface="Times New Roman" panose="02020603050405020304" pitchFamily="18" charset="0"/>
              </a:rPr>
              <a:t>成</a:t>
            </a:r>
            <a:r>
              <a:rPr kumimoji="1" lang="en-US" altLang="zh-CN" b="1" dirty="0">
                <a:latin typeface="Times New Roman" panose="02020603050405020304" pitchFamily="18" charset="0"/>
              </a:rPr>
              <a:t>16</a:t>
            </a:r>
            <a:r>
              <a:rPr kumimoji="1" lang="zh-CN" altLang="en-US" b="1" dirty="0">
                <a:latin typeface="Times New Roman" panose="02020603050405020304" pitchFamily="18" charset="0"/>
              </a:rPr>
              <a:t>个独立的低电平信号              </a:t>
            </a:r>
            <a:r>
              <a:rPr kumimoji="1" lang="zh-CN" altLang="en-US" b="1" dirty="0" smtClean="0">
                <a:latin typeface="Times New Roman" panose="02020603050405020304" pitchFamily="18" charset="0"/>
              </a:rPr>
              <a:t>。</a:t>
            </a:r>
            <a:endParaRPr kumimoji="1" lang="en-US" altLang="zh-CN" b="1" dirty="0" smtClean="0">
              <a:latin typeface="Times New Roman" panose="02020603050405020304" pitchFamily="18" charset="0"/>
            </a:endParaRPr>
          </a:p>
          <a:p>
            <a:pPr>
              <a:lnSpc>
                <a:spcPts val="2700"/>
              </a:lnSpc>
              <a:spcBef>
                <a:spcPct val="50000"/>
              </a:spcBef>
            </a:pPr>
            <a:r>
              <a:rPr lang="zh-CN" altLang="zh-CN" b="1" dirty="0">
                <a:solidFill>
                  <a:srgbClr val="FF0000"/>
                </a:solidFill>
                <a:latin typeface="+mn-ea"/>
                <a:cs typeface="Calibri" panose="020F0502020204030204" pitchFamily="34" charset="0"/>
              </a:rPr>
              <a:t>解：</a:t>
            </a:r>
            <a:endParaRPr lang="en-US" altLang="zh-CN" b="1" dirty="0">
              <a:solidFill>
                <a:srgbClr val="FF0000"/>
              </a:solidFill>
              <a:latin typeface="+mn-ea"/>
              <a:cs typeface="Calibri" panose="020F0502020204030204" pitchFamily="34" charset="0"/>
            </a:endParaRPr>
          </a:p>
          <a:p>
            <a:pPr>
              <a:lnSpc>
                <a:spcPts val="2700"/>
              </a:lnSpc>
              <a:spcBef>
                <a:spcPct val="50000"/>
              </a:spcBef>
            </a:pPr>
            <a:endParaRPr kumimoji="1" lang="zh-CN" altLang="en-US" b="1" dirty="0">
              <a:latin typeface="Times New Roman" panose="02020603050405020304" pitchFamily="18" charset="0"/>
            </a:endParaRPr>
          </a:p>
        </p:txBody>
      </p:sp>
      <p:graphicFrame>
        <p:nvGraphicFramePr>
          <p:cNvPr id="8" name="Object 10"/>
          <p:cNvGraphicFramePr>
            <a:graphicFrameLocks noChangeAspect="1"/>
          </p:cNvGraphicFramePr>
          <p:nvPr>
            <p:extLst>
              <p:ext uri="{D42A27DB-BD31-4B8C-83A1-F6EECF244321}">
                <p14:modId xmlns:p14="http://schemas.microsoft.com/office/powerpoint/2010/main" xmlns="" val="1775640936"/>
              </p:ext>
            </p:extLst>
          </p:nvPr>
        </p:nvGraphicFramePr>
        <p:xfrm>
          <a:off x="5652120" y="2856650"/>
          <a:ext cx="759546" cy="353080"/>
        </p:xfrm>
        <a:graphic>
          <a:graphicData uri="http://schemas.openxmlformats.org/presentationml/2006/ole">
            <p:oleObj spid="_x0000_s37000" name="Equation" r:id="rId5" imgW="545626" imgH="253780" progId="">
              <p:embed/>
            </p:oleObj>
          </a:graphicData>
        </a:graphic>
      </p:graphicFrame>
      <p:sp>
        <p:nvSpPr>
          <p:cNvPr id="13" name="Text Box 7"/>
          <p:cNvSpPr txBox="1">
            <a:spLocks noChangeArrowheads="1"/>
          </p:cNvSpPr>
          <p:nvPr/>
        </p:nvSpPr>
        <p:spPr bwMode="auto">
          <a:xfrm>
            <a:off x="3025237" y="6583430"/>
            <a:ext cx="5099309"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gn="ctr">
              <a:spcBef>
                <a:spcPct val="50000"/>
              </a:spcBef>
            </a:pPr>
            <a:r>
              <a:rPr kumimoji="1" lang="zh-CN" altLang="en-US" sz="1600" b="1" dirty="0" smtClean="0">
                <a:latin typeface="楷体_GB2312" pitchFamily="49" charset="-122"/>
                <a:ea typeface="楷体_GB2312" pitchFamily="49" charset="-122"/>
              </a:rPr>
              <a:t>图</a:t>
            </a:r>
            <a:r>
              <a:rPr kumimoji="1" lang="en-US" altLang="zh-CN" sz="1600" b="1" dirty="0" smtClean="0">
                <a:latin typeface="楷体_GB2312" pitchFamily="49" charset="-122"/>
                <a:ea typeface="楷体_GB2312" pitchFamily="49" charset="-122"/>
              </a:rPr>
              <a:t>  </a:t>
            </a:r>
            <a:r>
              <a:rPr kumimoji="1" lang="zh-CN" altLang="en-US" sz="1600" b="1" dirty="0">
                <a:latin typeface="楷体_GB2312" pitchFamily="49" charset="-122"/>
                <a:ea typeface="楷体_GB2312" pitchFamily="49" charset="-122"/>
              </a:rPr>
              <a:t>用两片</a:t>
            </a:r>
            <a:r>
              <a:rPr kumimoji="1" lang="en-US" altLang="zh-CN" sz="1600" b="1" dirty="0">
                <a:latin typeface="楷体_GB2312" pitchFamily="49" charset="-122"/>
                <a:ea typeface="楷体_GB2312" pitchFamily="49" charset="-122"/>
              </a:rPr>
              <a:t>74LS138</a:t>
            </a:r>
            <a:r>
              <a:rPr kumimoji="1" lang="zh-CN" altLang="en-US" sz="1600" b="1" dirty="0">
                <a:latin typeface="楷体_GB2312" pitchFamily="49" charset="-122"/>
                <a:ea typeface="楷体_GB2312" pitchFamily="49" charset="-122"/>
              </a:rPr>
              <a:t>接成的</a:t>
            </a:r>
            <a:r>
              <a:rPr kumimoji="1" lang="en-US" altLang="zh-CN" sz="1600" b="1" dirty="0">
                <a:latin typeface="楷体_GB2312" pitchFamily="49" charset="-122"/>
                <a:ea typeface="楷体_GB2312" pitchFamily="49" charset="-122"/>
              </a:rPr>
              <a:t>4</a:t>
            </a:r>
            <a:r>
              <a:rPr kumimoji="1" lang="zh-CN" altLang="en-US" sz="1600" b="1" dirty="0">
                <a:latin typeface="楷体_GB2312" pitchFamily="49" charset="-122"/>
                <a:ea typeface="楷体_GB2312" pitchFamily="49" charset="-122"/>
              </a:rPr>
              <a:t>线－</a:t>
            </a:r>
            <a:r>
              <a:rPr kumimoji="1" lang="en-US" altLang="zh-CN" sz="1600" b="1" dirty="0">
                <a:latin typeface="楷体_GB2312" pitchFamily="49" charset="-122"/>
                <a:ea typeface="楷体_GB2312" pitchFamily="49" charset="-122"/>
              </a:rPr>
              <a:t>16</a:t>
            </a:r>
            <a:r>
              <a:rPr kumimoji="1" lang="zh-CN" altLang="en-US" sz="1600" b="1" dirty="0">
                <a:latin typeface="楷体_GB2312" pitchFamily="49" charset="-122"/>
                <a:ea typeface="楷体_GB2312" pitchFamily="49" charset="-122"/>
              </a:rPr>
              <a:t>线译码器</a:t>
            </a:r>
          </a:p>
        </p:txBody>
      </p:sp>
      <p:pic>
        <p:nvPicPr>
          <p:cNvPr id="54" name="Picture 8" descr="b3-3-3"/>
          <p:cNvPicPr>
            <a:picLocks noChangeAspect="1" noChangeArrowheads="1"/>
          </p:cNvPicPr>
          <p:nvPr/>
        </p:nvPicPr>
        <p:blipFill>
          <a:blip r:embed="rId6" cstate="print">
            <a:clrChange>
              <a:clrFrom>
                <a:srgbClr val="F6F7F1"/>
              </a:clrFrom>
              <a:clrTo>
                <a:srgbClr val="F6F7F1">
                  <a:alpha val="0"/>
                </a:srgbClr>
              </a:clrTo>
            </a:clrChange>
            <a:lum contrast="30000"/>
            <a:extLst>
              <a:ext uri="{28A0092B-C50C-407E-A947-70E740481C1C}">
                <a14:useLocalDpi xmlns:a14="http://schemas.microsoft.com/office/drawing/2010/main" xmlns="" val="0"/>
              </a:ext>
            </a:extLst>
          </a:blip>
          <a:srcRect/>
          <a:stretch>
            <a:fillRect/>
          </a:stretch>
        </p:blipFill>
        <p:spPr bwMode="auto">
          <a:xfrm>
            <a:off x="3236336" y="390304"/>
            <a:ext cx="5892076" cy="3052069"/>
          </a:xfrm>
          <a:prstGeom prst="rect">
            <a:avLst/>
          </a:prstGeom>
          <a:solidFill>
            <a:schemeClr val="bg1"/>
          </a:solidFill>
          <a:extLst/>
        </p:spPr>
      </p:pic>
      <p:graphicFrame>
        <p:nvGraphicFramePr>
          <p:cNvPr id="56" name="Object 10"/>
          <p:cNvGraphicFramePr>
            <a:graphicFrameLocks noChangeAspect="1"/>
          </p:cNvGraphicFramePr>
          <p:nvPr>
            <p:extLst>
              <p:ext uri="{D42A27DB-BD31-4B8C-83A1-F6EECF244321}">
                <p14:modId xmlns:p14="http://schemas.microsoft.com/office/powerpoint/2010/main" xmlns="" val="1597289887"/>
              </p:ext>
            </p:extLst>
          </p:nvPr>
        </p:nvGraphicFramePr>
        <p:xfrm>
          <a:off x="582036" y="362699"/>
          <a:ext cx="2654300" cy="1033462"/>
        </p:xfrm>
        <a:graphic>
          <a:graphicData uri="http://schemas.openxmlformats.org/presentationml/2006/ole">
            <p:oleObj spid="_x0000_s37001" name="Visio" r:id="rId7" imgW="2654198" imgH="1033794" progId="">
              <p:embed/>
            </p:oleObj>
          </a:graphicData>
        </a:graphic>
      </p:graphicFrame>
    </p:spTree>
    <p:extLst>
      <p:ext uri="{BB962C8B-B14F-4D97-AF65-F5344CB8AC3E}">
        <p14:creationId xmlns:p14="http://schemas.microsoft.com/office/powerpoint/2010/main" xmlns="" val="3133422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6" descr="3-3-9"/>
          <p:cNvPicPr>
            <a:picLocks noChangeAspect="1" noChangeArrowheads="1"/>
          </p:cNvPicPr>
          <p:nvPr/>
        </p:nvPicPr>
        <p:blipFill>
          <a:blip r:embed="rId3" cstate="print">
            <a:clrChange>
              <a:clrFrom>
                <a:srgbClr val="FAFBF5"/>
              </a:clrFrom>
              <a:clrTo>
                <a:srgbClr val="FAFBF5">
                  <a:alpha val="0"/>
                </a:srgbClr>
              </a:clrTo>
            </a:clrChange>
            <a:lum contrast="36000"/>
            <a:extLst>
              <a:ext uri="{28A0092B-C50C-407E-A947-70E740481C1C}">
                <a14:useLocalDpi xmlns:a14="http://schemas.microsoft.com/office/drawing/2010/main" xmlns="" val="0"/>
              </a:ext>
            </a:extLst>
          </a:blip>
          <a:srcRect l="859" t="24554" r="6784" b="11879"/>
          <a:stretch>
            <a:fillRect/>
          </a:stretch>
        </p:blipFill>
        <p:spPr bwMode="auto">
          <a:xfrm>
            <a:off x="1638139" y="4592390"/>
            <a:ext cx="6840686" cy="2134004"/>
          </a:xfrm>
          <a:prstGeom prst="rect">
            <a:avLst/>
          </a:prstGeom>
          <a:noFill/>
          <a:extLst>
            <a:ext uri="{909E8E84-426E-40DD-AFC4-6F175D3DCCD1}">
              <a14:hiddenFill xmlns:a14="http://schemas.microsoft.com/office/drawing/2010/main" xmlns="">
                <a:solidFill>
                  <a:srgbClr val="FFFFFF"/>
                </a:solidFill>
              </a14:hiddenFill>
            </a:ext>
          </a:extLst>
        </p:spPr>
      </p:pic>
      <p:sp>
        <p:nvSpPr>
          <p:cNvPr id="2" name="标题 1"/>
          <p:cNvSpPr>
            <a:spLocks noGrp="1"/>
          </p:cNvSpPr>
          <p:nvPr>
            <p:ph type="title"/>
          </p:nvPr>
        </p:nvSpPr>
        <p:spPr>
          <a:xfrm>
            <a:off x="1259633" y="692696"/>
            <a:ext cx="7560840" cy="566936"/>
          </a:xfrm>
        </p:spPr>
        <p:txBody>
          <a:bodyPr/>
          <a:lstStyle/>
          <a:p>
            <a:r>
              <a:rPr lang="zh-CN" altLang="en-US" dirty="0"/>
              <a:t>译码器（</a:t>
            </a:r>
            <a:r>
              <a:rPr lang="en-US" altLang="zh-CN" dirty="0"/>
              <a:t>Decoder</a:t>
            </a:r>
            <a:r>
              <a:rPr lang="zh-CN" altLang="en-US" dirty="0" smtClean="0"/>
              <a:t>）</a:t>
            </a:r>
            <a:r>
              <a:rPr lang="en-US" altLang="zh-CN" dirty="0" smtClean="0"/>
              <a:t>----</a:t>
            </a:r>
            <a:r>
              <a:rPr lang="zh-CN" altLang="en-US" dirty="0" smtClean="0"/>
              <a:t>应用</a:t>
            </a:r>
            <a:endParaRPr lang="zh-CN" altLang="en-US" dirty="0"/>
          </a:p>
        </p:txBody>
      </p:sp>
      <p:sp>
        <p:nvSpPr>
          <p:cNvPr id="3" name="内容占位符 2"/>
          <p:cNvSpPr>
            <a:spLocks noGrp="1"/>
          </p:cNvSpPr>
          <p:nvPr>
            <p:ph idx="1"/>
          </p:nvPr>
        </p:nvSpPr>
        <p:spPr>
          <a:xfrm>
            <a:off x="539553" y="1542208"/>
            <a:ext cx="7128792" cy="4911128"/>
          </a:xfrm>
        </p:spPr>
        <p:txBody>
          <a:bodyPr/>
          <a:lstStyle/>
          <a:p>
            <a:pPr>
              <a:buSzPct val="100000"/>
              <a:buFont typeface="Wingdings" pitchFamily="2" charset="2"/>
              <a:buChar char="p"/>
            </a:pPr>
            <a:r>
              <a:rPr lang="zh-CN" altLang="en-US" sz="2800" dirty="0"/>
              <a:t>扩展</a:t>
            </a:r>
            <a:r>
              <a:rPr lang="zh-CN" altLang="en-US" sz="2800" dirty="0" smtClean="0"/>
              <a:t>应用</a:t>
            </a:r>
            <a:endParaRPr lang="en-US" altLang="zh-CN" sz="2800" dirty="0" smtClean="0"/>
          </a:p>
          <a:p>
            <a:pPr marL="457200" lvl="1" indent="0">
              <a:buNone/>
            </a:pPr>
            <a:r>
              <a:rPr lang="zh-CN" altLang="en-US" dirty="0" smtClean="0"/>
              <a:t>在</a:t>
            </a:r>
            <a:r>
              <a:rPr lang="zh-CN" altLang="en-US" dirty="0"/>
              <a:t>需进行大容量译码时，可将芯片进行扩展。</a:t>
            </a:r>
          </a:p>
        </p:txBody>
      </p:sp>
      <p:sp>
        <p:nvSpPr>
          <p:cNvPr id="4" name="灯片编号占位符 3"/>
          <p:cNvSpPr>
            <a:spLocks noGrp="1"/>
          </p:cNvSpPr>
          <p:nvPr>
            <p:ph type="sldNum" sz="quarter" idx="12"/>
          </p:nvPr>
        </p:nvSpPr>
        <p:spPr>
          <a:xfrm>
            <a:off x="6872275" y="6158499"/>
            <a:ext cx="1905000" cy="457200"/>
          </a:xfrm>
        </p:spPr>
        <p:txBody>
          <a:bodyPr/>
          <a:lstStyle/>
          <a:p>
            <a:fld id="{0C913308-F349-4B6D-A68A-DD1791B4A57B}" type="slidenum">
              <a:rPr lang="zh-CN" altLang="en-US" smtClean="0"/>
              <a:pPr/>
              <a:t>100</a:t>
            </a:fld>
            <a:endParaRPr lang="zh-CN" altLang="en-US"/>
          </a:p>
        </p:txBody>
      </p:sp>
      <p:sp>
        <p:nvSpPr>
          <p:cNvPr id="6" name="矩形 5"/>
          <p:cNvSpPr/>
          <p:nvPr/>
        </p:nvSpPr>
        <p:spPr>
          <a:xfrm>
            <a:off x="1331640" y="2474650"/>
            <a:ext cx="6924836" cy="1754326"/>
          </a:xfrm>
          <a:prstGeom prst="rect">
            <a:avLst/>
          </a:prstGeom>
        </p:spPr>
        <p:txBody>
          <a:bodyPr wrap="square">
            <a:spAutoFit/>
          </a:bodyPr>
          <a:lstStyle/>
          <a:p>
            <a:pPr>
              <a:lnSpc>
                <a:spcPts val="2700"/>
              </a:lnSpc>
              <a:spcBef>
                <a:spcPct val="50000"/>
              </a:spcBef>
            </a:pPr>
            <a:r>
              <a:rPr kumimoji="1" lang="zh-CN" altLang="en-US" b="1" dirty="0" smtClean="0">
                <a:latin typeface="Times New Roman" panose="02020603050405020304" pitchFamily="18" charset="0"/>
              </a:rPr>
              <a:t>例：试用</a:t>
            </a:r>
            <a:r>
              <a:rPr kumimoji="1" lang="zh-CN" altLang="en-US" b="1" dirty="0">
                <a:latin typeface="Times New Roman" panose="02020603050405020304" pitchFamily="18" charset="0"/>
              </a:rPr>
              <a:t>两片</a:t>
            </a:r>
            <a:r>
              <a:rPr kumimoji="1" lang="en-US" altLang="zh-CN" b="1" dirty="0">
                <a:latin typeface="Times New Roman" panose="02020603050405020304" pitchFamily="18" charset="0"/>
              </a:rPr>
              <a:t>74LS138</a:t>
            </a:r>
            <a:r>
              <a:rPr kumimoji="1" lang="zh-CN" altLang="en-US" b="1" dirty="0">
                <a:latin typeface="Times New Roman" panose="02020603050405020304" pitchFamily="18" charset="0"/>
              </a:rPr>
              <a:t>组成</a:t>
            </a:r>
            <a:r>
              <a:rPr kumimoji="1" lang="en-US" altLang="zh-CN" b="1" dirty="0">
                <a:latin typeface="Times New Roman" panose="02020603050405020304" pitchFamily="18" charset="0"/>
              </a:rPr>
              <a:t>4</a:t>
            </a:r>
            <a:r>
              <a:rPr kumimoji="1" lang="zh-CN" altLang="en-US" b="1" dirty="0">
                <a:latin typeface="Times New Roman" panose="02020603050405020304" pitchFamily="18" charset="0"/>
              </a:rPr>
              <a:t>线－</a:t>
            </a:r>
            <a:r>
              <a:rPr kumimoji="1" lang="en-US" altLang="zh-CN" b="1" dirty="0">
                <a:latin typeface="Times New Roman" panose="02020603050405020304" pitchFamily="18" charset="0"/>
              </a:rPr>
              <a:t>16</a:t>
            </a:r>
            <a:r>
              <a:rPr kumimoji="1" lang="zh-CN" altLang="en-US" b="1" dirty="0">
                <a:latin typeface="Times New Roman" panose="02020603050405020304" pitchFamily="18" charset="0"/>
              </a:rPr>
              <a:t>线译码器，将输入的</a:t>
            </a:r>
            <a:r>
              <a:rPr kumimoji="1" lang="en-US" altLang="zh-CN" b="1" dirty="0">
                <a:latin typeface="Times New Roman" panose="02020603050405020304" pitchFamily="18" charset="0"/>
              </a:rPr>
              <a:t>4</a:t>
            </a:r>
            <a:r>
              <a:rPr kumimoji="1" lang="zh-CN" altLang="en-US" b="1" dirty="0">
                <a:latin typeface="Times New Roman" panose="02020603050405020304" pitchFamily="18" charset="0"/>
              </a:rPr>
              <a:t>位二进制代码 </a:t>
            </a:r>
            <a:r>
              <a:rPr kumimoji="1" lang="en-US" altLang="zh-CN" b="1" dirty="0" smtClean="0">
                <a:latin typeface="Times New Roman" panose="02020603050405020304" pitchFamily="18" charset="0"/>
              </a:rPr>
              <a:t>D</a:t>
            </a:r>
            <a:r>
              <a:rPr kumimoji="1" lang="en-US" altLang="zh-CN" b="1" baseline="-25000" dirty="0" smtClean="0">
                <a:latin typeface="Times New Roman" panose="02020603050405020304" pitchFamily="18" charset="0"/>
              </a:rPr>
              <a:t>3</a:t>
            </a:r>
            <a:r>
              <a:rPr kumimoji="1" lang="en-US" altLang="zh-CN" b="1" dirty="0" smtClean="0">
                <a:latin typeface="Times New Roman" panose="02020603050405020304" pitchFamily="18" charset="0"/>
              </a:rPr>
              <a:t>D</a:t>
            </a:r>
            <a:r>
              <a:rPr kumimoji="1" lang="en-US" altLang="zh-CN" b="1" baseline="-25000" dirty="0">
                <a:latin typeface="Times New Roman" panose="02020603050405020304" pitchFamily="18" charset="0"/>
              </a:rPr>
              <a:t>2</a:t>
            </a:r>
            <a:r>
              <a:rPr kumimoji="1" lang="en-US" altLang="zh-CN" b="1" dirty="0" smtClean="0">
                <a:latin typeface="Times New Roman" panose="02020603050405020304" pitchFamily="18" charset="0"/>
              </a:rPr>
              <a:t>D</a:t>
            </a:r>
            <a:r>
              <a:rPr kumimoji="1" lang="en-US" altLang="zh-CN" b="1" baseline="-25000" dirty="0">
                <a:latin typeface="Times New Roman" panose="02020603050405020304" pitchFamily="18" charset="0"/>
              </a:rPr>
              <a:t>1</a:t>
            </a:r>
            <a:r>
              <a:rPr kumimoji="1" lang="en-US" altLang="zh-CN" b="1" dirty="0" smtClean="0">
                <a:latin typeface="Times New Roman" panose="02020603050405020304" pitchFamily="18" charset="0"/>
              </a:rPr>
              <a:t>D</a:t>
            </a:r>
            <a:r>
              <a:rPr kumimoji="1" lang="en-US" altLang="zh-CN" b="1" baseline="-25000" dirty="0">
                <a:latin typeface="Times New Roman" panose="02020603050405020304" pitchFamily="18" charset="0"/>
              </a:rPr>
              <a:t>0</a:t>
            </a:r>
            <a:r>
              <a:rPr kumimoji="1" lang="zh-CN" altLang="en-US" b="1" dirty="0" smtClean="0">
                <a:latin typeface="Times New Roman" panose="02020603050405020304" pitchFamily="18" charset="0"/>
              </a:rPr>
              <a:t>译</a:t>
            </a:r>
            <a:r>
              <a:rPr kumimoji="1" lang="zh-CN" altLang="en-US" b="1" dirty="0">
                <a:latin typeface="Times New Roman" panose="02020603050405020304" pitchFamily="18" charset="0"/>
              </a:rPr>
              <a:t>成</a:t>
            </a:r>
            <a:r>
              <a:rPr kumimoji="1" lang="en-US" altLang="zh-CN" b="1" dirty="0">
                <a:latin typeface="Times New Roman" panose="02020603050405020304" pitchFamily="18" charset="0"/>
              </a:rPr>
              <a:t>16</a:t>
            </a:r>
            <a:r>
              <a:rPr kumimoji="1" lang="zh-CN" altLang="en-US" b="1" dirty="0">
                <a:latin typeface="Times New Roman" panose="02020603050405020304" pitchFamily="18" charset="0"/>
              </a:rPr>
              <a:t>个独立的低电平信号              </a:t>
            </a:r>
            <a:r>
              <a:rPr kumimoji="1" lang="zh-CN" altLang="en-US" b="1" dirty="0" smtClean="0">
                <a:latin typeface="Times New Roman" panose="02020603050405020304" pitchFamily="18" charset="0"/>
              </a:rPr>
              <a:t>。</a:t>
            </a:r>
            <a:endParaRPr kumimoji="1" lang="en-US" altLang="zh-CN" b="1" dirty="0" smtClean="0">
              <a:latin typeface="Times New Roman" panose="02020603050405020304" pitchFamily="18" charset="0"/>
            </a:endParaRPr>
          </a:p>
          <a:p>
            <a:pPr>
              <a:lnSpc>
                <a:spcPts val="2700"/>
              </a:lnSpc>
              <a:spcBef>
                <a:spcPct val="50000"/>
              </a:spcBef>
            </a:pPr>
            <a:r>
              <a:rPr lang="zh-CN" altLang="zh-CN" b="1" dirty="0">
                <a:solidFill>
                  <a:srgbClr val="FF0000"/>
                </a:solidFill>
                <a:latin typeface="+mn-ea"/>
                <a:cs typeface="Calibri" panose="020F0502020204030204" pitchFamily="34" charset="0"/>
              </a:rPr>
              <a:t>解：</a:t>
            </a:r>
            <a:endParaRPr lang="en-US" altLang="zh-CN" b="1" dirty="0">
              <a:solidFill>
                <a:srgbClr val="FF0000"/>
              </a:solidFill>
              <a:latin typeface="+mn-ea"/>
              <a:cs typeface="Calibri" panose="020F0502020204030204" pitchFamily="34" charset="0"/>
            </a:endParaRPr>
          </a:p>
          <a:p>
            <a:pPr>
              <a:lnSpc>
                <a:spcPts val="2700"/>
              </a:lnSpc>
              <a:spcBef>
                <a:spcPct val="50000"/>
              </a:spcBef>
            </a:pPr>
            <a:endParaRPr kumimoji="1" lang="zh-CN" altLang="en-US" b="1" dirty="0">
              <a:latin typeface="Times New Roman" panose="02020603050405020304" pitchFamily="18" charset="0"/>
            </a:endParaRPr>
          </a:p>
        </p:txBody>
      </p:sp>
      <p:graphicFrame>
        <p:nvGraphicFramePr>
          <p:cNvPr id="8" name="Object 10"/>
          <p:cNvGraphicFramePr>
            <a:graphicFrameLocks noChangeAspect="1"/>
          </p:cNvGraphicFramePr>
          <p:nvPr>
            <p:extLst>
              <p:ext uri="{D42A27DB-BD31-4B8C-83A1-F6EECF244321}">
                <p14:modId xmlns:p14="http://schemas.microsoft.com/office/powerpoint/2010/main" xmlns="" val="1775640936"/>
              </p:ext>
            </p:extLst>
          </p:nvPr>
        </p:nvGraphicFramePr>
        <p:xfrm>
          <a:off x="5652120" y="2856650"/>
          <a:ext cx="759546" cy="353080"/>
        </p:xfrm>
        <a:graphic>
          <a:graphicData uri="http://schemas.openxmlformats.org/presentationml/2006/ole">
            <p:oleObj spid="_x0000_s39034" name="Equation" r:id="rId4" imgW="545626" imgH="253780" progId="">
              <p:embed/>
            </p:oleObj>
          </a:graphicData>
        </a:graphic>
      </p:graphicFrame>
      <p:sp>
        <p:nvSpPr>
          <p:cNvPr id="13" name="Text Box 7"/>
          <p:cNvSpPr txBox="1">
            <a:spLocks noChangeArrowheads="1"/>
          </p:cNvSpPr>
          <p:nvPr/>
        </p:nvSpPr>
        <p:spPr bwMode="auto">
          <a:xfrm>
            <a:off x="3025237" y="6583430"/>
            <a:ext cx="5099309"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gn="ctr">
              <a:spcBef>
                <a:spcPct val="50000"/>
              </a:spcBef>
            </a:pPr>
            <a:r>
              <a:rPr kumimoji="1" lang="zh-CN" altLang="en-US" sz="1600" b="1" dirty="0" smtClean="0">
                <a:latin typeface="楷体_GB2312" pitchFamily="49" charset="-122"/>
                <a:ea typeface="楷体_GB2312" pitchFamily="49" charset="-122"/>
              </a:rPr>
              <a:t>图</a:t>
            </a:r>
            <a:r>
              <a:rPr kumimoji="1" lang="en-US" altLang="zh-CN" sz="1600" b="1" dirty="0" smtClean="0">
                <a:latin typeface="楷体_GB2312" pitchFamily="49" charset="-122"/>
                <a:ea typeface="楷体_GB2312" pitchFamily="49" charset="-122"/>
              </a:rPr>
              <a:t>  </a:t>
            </a:r>
            <a:r>
              <a:rPr kumimoji="1" lang="zh-CN" altLang="en-US" sz="1600" b="1" dirty="0">
                <a:latin typeface="楷体_GB2312" pitchFamily="49" charset="-122"/>
                <a:ea typeface="楷体_GB2312" pitchFamily="49" charset="-122"/>
              </a:rPr>
              <a:t>用两片</a:t>
            </a:r>
            <a:r>
              <a:rPr kumimoji="1" lang="en-US" altLang="zh-CN" sz="1600" b="1" dirty="0">
                <a:latin typeface="楷体_GB2312" pitchFamily="49" charset="-122"/>
                <a:ea typeface="楷体_GB2312" pitchFamily="49" charset="-122"/>
              </a:rPr>
              <a:t>74LS138</a:t>
            </a:r>
            <a:r>
              <a:rPr kumimoji="1" lang="zh-CN" altLang="en-US" sz="1600" b="1" dirty="0">
                <a:latin typeface="楷体_GB2312" pitchFamily="49" charset="-122"/>
                <a:ea typeface="楷体_GB2312" pitchFamily="49" charset="-122"/>
              </a:rPr>
              <a:t>接成的</a:t>
            </a:r>
            <a:r>
              <a:rPr kumimoji="1" lang="en-US" altLang="zh-CN" sz="1600" b="1" dirty="0">
                <a:latin typeface="楷体_GB2312" pitchFamily="49" charset="-122"/>
                <a:ea typeface="楷体_GB2312" pitchFamily="49" charset="-122"/>
              </a:rPr>
              <a:t>4</a:t>
            </a:r>
            <a:r>
              <a:rPr kumimoji="1" lang="zh-CN" altLang="en-US" sz="1600" b="1" dirty="0">
                <a:latin typeface="楷体_GB2312" pitchFamily="49" charset="-122"/>
                <a:ea typeface="楷体_GB2312" pitchFamily="49" charset="-122"/>
              </a:rPr>
              <a:t>线－</a:t>
            </a:r>
            <a:r>
              <a:rPr kumimoji="1" lang="en-US" altLang="zh-CN" sz="1600" b="1" dirty="0">
                <a:latin typeface="楷体_GB2312" pitchFamily="49" charset="-122"/>
                <a:ea typeface="楷体_GB2312" pitchFamily="49" charset="-122"/>
              </a:rPr>
              <a:t>16</a:t>
            </a:r>
            <a:r>
              <a:rPr kumimoji="1" lang="zh-CN" altLang="en-US" sz="1600" b="1" dirty="0">
                <a:latin typeface="楷体_GB2312" pitchFamily="49" charset="-122"/>
                <a:ea typeface="楷体_GB2312" pitchFamily="49" charset="-122"/>
              </a:rPr>
              <a:t>线译码器</a:t>
            </a:r>
          </a:p>
        </p:txBody>
      </p:sp>
      <p:grpSp>
        <p:nvGrpSpPr>
          <p:cNvPr id="15" name="Group 29"/>
          <p:cNvGrpSpPr>
            <a:grpSpLocks/>
          </p:cNvGrpSpPr>
          <p:nvPr/>
        </p:nvGrpSpPr>
        <p:grpSpPr bwMode="auto">
          <a:xfrm>
            <a:off x="1843305" y="3671971"/>
            <a:ext cx="4914203" cy="935452"/>
            <a:chOff x="430" y="754"/>
            <a:chExt cx="3584" cy="862"/>
          </a:xfrm>
        </p:grpSpPr>
        <p:grpSp>
          <p:nvGrpSpPr>
            <p:cNvPr id="16" name="Group 12"/>
            <p:cNvGrpSpPr>
              <a:grpSpLocks/>
            </p:cNvGrpSpPr>
            <p:nvPr/>
          </p:nvGrpSpPr>
          <p:grpSpPr bwMode="auto">
            <a:xfrm>
              <a:off x="838" y="890"/>
              <a:ext cx="3176" cy="726"/>
              <a:chOff x="838" y="890"/>
              <a:chExt cx="3176" cy="726"/>
            </a:xfrm>
          </p:grpSpPr>
          <p:sp>
            <p:nvSpPr>
              <p:cNvPr id="32" name="Line 10"/>
              <p:cNvSpPr>
                <a:spLocks noChangeShapeType="1"/>
              </p:cNvSpPr>
              <p:nvPr/>
            </p:nvSpPr>
            <p:spPr bwMode="auto">
              <a:xfrm>
                <a:off x="838" y="890"/>
                <a:ext cx="3176" cy="0"/>
              </a:xfrm>
              <a:prstGeom prst="line">
                <a:avLst/>
              </a:prstGeom>
              <a:noFill/>
              <a:ln w="381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3" name="Line 11"/>
              <p:cNvSpPr>
                <a:spLocks noChangeShapeType="1"/>
              </p:cNvSpPr>
              <p:nvPr/>
            </p:nvSpPr>
            <p:spPr bwMode="auto">
              <a:xfrm>
                <a:off x="4014" y="890"/>
                <a:ext cx="0" cy="726"/>
              </a:xfrm>
              <a:prstGeom prst="line">
                <a:avLst/>
              </a:prstGeom>
              <a:noFill/>
              <a:ln w="381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grpSp>
          <p:nvGrpSpPr>
            <p:cNvPr id="17" name="Group 13"/>
            <p:cNvGrpSpPr>
              <a:grpSpLocks/>
            </p:cNvGrpSpPr>
            <p:nvPr/>
          </p:nvGrpSpPr>
          <p:grpSpPr bwMode="auto">
            <a:xfrm>
              <a:off x="839" y="1071"/>
              <a:ext cx="2903" cy="545"/>
              <a:chOff x="838" y="890"/>
              <a:chExt cx="3176" cy="726"/>
            </a:xfrm>
          </p:grpSpPr>
          <p:sp>
            <p:nvSpPr>
              <p:cNvPr id="30" name="Line 14"/>
              <p:cNvSpPr>
                <a:spLocks noChangeShapeType="1"/>
              </p:cNvSpPr>
              <p:nvPr/>
            </p:nvSpPr>
            <p:spPr bwMode="auto">
              <a:xfrm>
                <a:off x="838" y="890"/>
                <a:ext cx="3176" cy="0"/>
              </a:xfrm>
              <a:prstGeom prst="line">
                <a:avLst/>
              </a:prstGeom>
              <a:noFill/>
              <a:ln w="381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1" name="Line 15"/>
              <p:cNvSpPr>
                <a:spLocks noChangeShapeType="1"/>
              </p:cNvSpPr>
              <p:nvPr/>
            </p:nvSpPr>
            <p:spPr bwMode="auto">
              <a:xfrm>
                <a:off x="4014" y="890"/>
                <a:ext cx="0" cy="726"/>
              </a:xfrm>
              <a:prstGeom prst="line">
                <a:avLst/>
              </a:prstGeom>
              <a:noFill/>
              <a:ln w="381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grpSp>
          <p:nvGrpSpPr>
            <p:cNvPr id="18" name="Group 16"/>
            <p:cNvGrpSpPr>
              <a:grpSpLocks/>
            </p:cNvGrpSpPr>
            <p:nvPr/>
          </p:nvGrpSpPr>
          <p:grpSpPr bwMode="auto">
            <a:xfrm>
              <a:off x="839" y="1298"/>
              <a:ext cx="2585" cy="317"/>
              <a:chOff x="838" y="890"/>
              <a:chExt cx="3176" cy="726"/>
            </a:xfrm>
          </p:grpSpPr>
          <p:sp>
            <p:nvSpPr>
              <p:cNvPr id="28" name="Line 17"/>
              <p:cNvSpPr>
                <a:spLocks noChangeShapeType="1"/>
              </p:cNvSpPr>
              <p:nvPr/>
            </p:nvSpPr>
            <p:spPr bwMode="auto">
              <a:xfrm>
                <a:off x="838" y="890"/>
                <a:ext cx="3176" cy="0"/>
              </a:xfrm>
              <a:prstGeom prst="line">
                <a:avLst/>
              </a:prstGeom>
              <a:noFill/>
              <a:ln w="381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29" name="Line 18"/>
              <p:cNvSpPr>
                <a:spLocks noChangeShapeType="1"/>
              </p:cNvSpPr>
              <p:nvPr/>
            </p:nvSpPr>
            <p:spPr bwMode="auto">
              <a:xfrm>
                <a:off x="4014" y="890"/>
                <a:ext cx="0" cy="726"/>
              </a:xfrm>
              <a:prstGeom prst="line">
                <a:avLst/>
              </a:prstGeom>
              <a:noFill/>
              <a:ln w="381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sp>
          <p:nvSpPr>
            <p:cNvPr id="19" name="Line 20"/>
            <p:cNvSpPr>
              <a:spLocks noChangeShapeType="1"/>
            </p:cNvSpPr>
            <p:nvPr/>
          </p:nvSpPr>
          <p:spPr bwMode="auto">
            <a:xfrm>
              <a:off x="1292" y="1298"/>
              <a:ext cx="0" cy="318"/>
            </a:xfrm>
            <a:prstGeom prst="line">
              <a:avLst/>
            </a:prstGeom>
            <a:noFill/>
            <a:ln w="381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20" name="Line 21"/>
            <p:cNvSpPr>
              <a:spLocks noChangeShapeType="1"/>
            </p:cNvSpPr>
            <p:nvPr/>
          </p:nvSpPr>
          <p:spPr bwMode="auto">
            <a:xfrm flipV="1">
              <a:off x="1610" y="1071"/>
              <a:ext cx="0" cy="545"/>
            </a:xfrm>
            <a:prstGeom prst="line">
              <a:avLst/>
            </a:prstGeom>
            <a:noFill/>
            <a:ln w="381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21" name="Line 22"/>
            <p:cNvSpPr>
              <a:spLocks noChangeShapeType="1"/>
            </p:cNvSpPr>
            <p:nvPr/>
          </p:nvSpPr>
          <p:spPr bwMode="auto">
            <a:xfrm flipV="1">
              <a:off x="1882" y="890"/>
              <a:ext cx="0" cy="726"/>
            </a:xfrm>
            <a:prstGeom prst="line">
              <a:avLst/>
            </a:prstGeom>
            <a:noFill/>
            <a:ln w="381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22" name="Oval 23"/>
            <p:cNvSpPr>
              <a:spLocks noChangeArrowheads="1"/>
            </p:cNvSpPr>
            <p:nvPr/>
          </p:nvSpPr>
          <p:spPr bwMode="auto">
            <a:xfrm>
              <a:off x="1247" y="1253"/>
              <a:ext cx="90" cy="91"/>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23" name="Oval 24"/>
            <p:cNvSpPr>
              <a:spLocks noChangeArrowheads="1"/>
            </p:cNvSpPr>
            <p:nvPr/>
          </p:nvSpPr>
          <p:spPr bwMode="auto">
            <a:xfrm>
              <a:off x="1565" y="1026"/>
              <a:ext cx="90" cy="91"/>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24" name="Oval 25"/>
            <p:cNvSpPr>
              <a:spLocks noChangeArrowheads="1"/>
            </p:cNvSpPr>
            <p:nvPr/>
          </p:nvSpPr>
          <p:spPr bwMode="auto">
            <a:xfrm>
              <a:off x="1837" y="845"/>
              <a:ext cx="90" cy="91"/>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25" name="Text Box 26"/>
            <p:cNvSpPr txBox="1">
              <a:spLocks noChangeArrowheads="1"/>
            </p:cNvSpPr>
            <p:nvPr/>
          </p:nvSpPr>
          <p:spPr bwMode="auto">
            <a:xfrm>
              <a:off x="431" y="935"/>
              <a:ext cx="363"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a:solidFill>
                    <a:srgbClr val="FF0000"/>
                  </a:solidFill>
                </a:rPr>
                <a:t>D</a:t>
              </a:r>
              <a:r>
                <a:rPr lang="en-US" altLang="zh-CN" sz="1600">
                  <a:solidFill>
                    <a:srgbClr val="FF0000"/>
                  </a:solidFill>
                </a:rPr>
                <a:t>1</a:t>
              </a:r>
            </a:p>
          </p:txBody>
        </p:sp>
        <p:sp>
          <p:nvSpPr>
            <p:cNvPr id="26" name="Text Box 27"/>
            <p:cNvSpPr txBox="1">
              <a:spLocks noChangeArrowheads="1"/>
            </p:cNvSpPr>
            <p:nvPr/>
          </p:nvSpPr>
          <p:spPr bwMode="auto">
            <a:xfrm>
              <a:off x="431" y="1117"/>
              <a:ext cx="363"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a:solidFill>
                    <a:srgbClr val="FF0000"/>
                  </a:solidFill>
                </a:rPr>
                <a:t>D</a:t>
              </a:r>
              <a:r>
                <a:rPr lang="en-US" altLang="zh-CN" sz="1600">
                  <a:solidFill>
                    <a:srgbClr val="FF0000"/>
                  </a:solidFill>
                </a:rPr>
                <a:t>0</a:t>
              </a:r>
            </a:p>
          </p:txBody>
        </p:sp>
        <p:sp>
          <p:nvSpPr>
            <p:cNvPr id="27" name="Text Box 28"/>
            <p:cNvSpPr txBox="1">
              <a:spLocks noChangeArrowheads="1"/>
            </p:cNvSpPr>
            <p:nvPr/>
          </p:nvSpPr>
          <p:spPr bwMode="auto">
            <a:xfrm>
              <a:off x="430" y="754"/>
              <a:ext cx="363"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a:solidFill>
                    <a:srgbClr val="FF0000"/>
                  </a:solidFill>
                </a:rPr>
                <a:t>D</a:t>
              </a:r>
              <a:r>
                <a:rPr lang="en-US" altLang="zh-CN" sz="1600">
                  <a:solidFill>
                    <a:srgbClr val="FF0000"/>
                  </a:solidFill>
                </a:rPr>
                <a:t>2</a:t>
              </a:r>
            </a:p>
          </p:txBody>
        </p:sp>
      </p:grpSp>
      <p:grpSp>
        <p:nvGrpSpPr>
          <p:cNvPr id="34" name="Group 58"/>
          <p:cNvGrpSpPr>
            <a:grpSpLocks/>
          </p:cNvGrpSpPr>
          <p:nvPr/>
        </p:nvGrpSpPr>
        <p:grpSpPr bwMode="auto">
          <a:xfrm>
            <a:off x="1861823" y="3425085"/>
            <a:ext cx="5472261" cy="1181794"/>
            <a:chOff x="431" y="527"/>
            <a:chExt cx="3991" cy="1089"/>
          </a:xfrm>
        </p:grpSpPr>
        <p:grpSp>
          <p:nvGrpSpPr>
            <p:cNvPr id="35" name="Group 32"/>
            <p:cNvGrpSpPr>
              <a:grpSpLocks/>
            </p:cNvGrpSpPr>
            <p:nvPr/>
          </p:nvGrpSpPr>
          <p:grpSpPr bwMode="auto">
            <a:xfrm>
              <a:off x="839" y="663"/>
              <a:ext cx="3583" cy="953"/>
              <a:chOff x="839" y="663"/>
              <a:chExt cx="3583" cy="953"/>
            </a:xfrm>
          </p:grpSpPr>
          <p:sp>
            <p:nvSpPr>
              <p:cNvPr id="42" name="Line 30"/>
              <p:cNvSpPr>
                <a:spLocks noChangeShapeType="1"/>
              </p:cNvSpPr>
              <p:nvPr/>
            </p:nvSpPr>
            <p:spPr bwMode="auto">
              <a:xfrm>
                <a:off x="839" y="663"/>
                <a:ext cx="3583" cy="0"/>
              </a:xfrm>
              <a:prstGeom prst="line">
                <a:avLst/>
              </a:prstGeom>
              <a:noFill/>
              <a:ln w="381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3" name="Line 31"/>
              <p:cNvSpPr>
                <a:spLocks noChangeShapeType="1"/>
              </p:cNvSpPr>
              <p:nvPr/>
            </p:nvSpPr>
            <p:spPr bwMode="auto">
              <a:xfrm>
                <a:off x="4422" y="663"/>
                <a:ext cx="0" cy="953"/>
              </a:xfrm>
              <a:prstGeom prst="line">
                <a:avLst/>
              </a:prstGeom>
              <a:noFill/>
              <a:ln w="381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sp>
          <p:nvSpPr>
            <p:cNvPr id="36" name="Line 33"/>
            <p:cNvSpPr>
              <a:spLocks noChangeShapeType="1"/>
            </p:cNvSpPr>
            <p:nvPr/>
          </p:nvSpPr>
          <p:spPr bwMode="auto">
            <a:xfrm flipV="1">
              <a:off x="2562" y="663"/>
              <a:ext cx="0" cy="953"/>
            </a:xfrm>
            <a:prstGeom prst="line">
              <a:avLst/>
            </a:prstGeom>
            <a:noFill/>
            <a:ln w="381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7" name="Line 34"/>
            <p:cNvSpPr>
              <a:spLocks noChangeShapeType="1"/>
            </p:cNvSpPr>
            <p:nvPr/>
          </p:nvSpPr>
          <p:spPr bwMode="auto">
            <a:xfrm>
              <a:off x="2562" y="1389"/>
              <a:ext cx="318" cy="0"/>
            </a:xfrm>
            <a:prstGeom prst="line">
              <a:avLst/>
            </a:prstGeom>
            <a:noFill/>
            <a:ln w="381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8" name="Line 35"/>
            <p:cNvSpPr>
              <a:spLocks noChangeShapeType="1"/>
            </p:cNvSpPr>
            <p:nvPr/>
          </p:nvSpPr>
          <p:spPr bwMode="auto">
            <a:xfrm>
              <a:off x="2880" y="1389"/>
              <a:ext cx="0" cy="227"/>
            </a:xfrm>
            <a:prstGeom prst="line">
              <a:avLst/>
            </a:prstGeom>
            <a:noFill/>
            <a:ln w="381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9" name="Oval 55"/>
            <p:cNvSpPr>
              <a:spLocks noChangeArrowheads="1"/>
            </p:cNvSpPr>
            <p:nvPr/>
          </p:nvSpPr>
          <p:spPr bwMode="auto">
            <a:xfrm>
              <a:off x="2517" y="618"/>
              <a:ext cx="91" cy="91"/>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40" name="Oval 56"/>
            <p:cNvSpPr>
              <a:spLocks noChangeArrowheads="1"/>
            </p:cNvSpPr>
            <p:nvPr/>
          </p:nvSpPr>
          <p:spPr bwMode="auto">
            <a:xfrm>
              <a:off x="2517" y="1344"/>
              <a:ext cx="91" cy="91"/>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41" name="Rectangle 57"/>
            <p:cNvSpPr>
              <a:spLocks noChangeArrowheads="1"/>
            </p:cNvSpPr>
            <p:nvPr/>
          </p:nvSpPr>
          <p:spPr bwMode="auto">
            <a:xfrm>
              <a:off x="431" y="527"/>
              <a:ext cx="335"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50000"/>
                </a:spcBef>
              </a:pPr>
              <a:r>
                <a:rPr lang="en-US" altLang="zh-CN">
                  <a:solidFill>
                    <a:srgbClr val="FF0000"/>
                  </a:solidFill>
                </a:rPr>
                <a:t>D</a:t>
              </a:r>
              <a:r>
                <a:rPr lang="en-US" altLang="zh-CN" sz="1800">
                  <a:solidFill>
                    <a:srgbClr val="FF0000"/>
                  </a:solidFill>
                </a:rPr>
                <a:t>3</a:t>
              </a:r>
            </a:p>
          </p:txBody>
        </p:sp>
      </p:grpSp>
      <p:sp>
        <p:nvSpPr>
          <p:cNvPr id="44" name="Rectangle 59"/>
          <p:cNvSpPr>
            <a:spLocks noChangeArrowheads="1"/>
          </p:cNvSpPr>
          <p:nvPr/>
        </p:nvSpPr>
        <p:spPr bwMode="auto">
          <a:xfrm>
            <a:off x="4074506" y="4304038"/>
            <a:ext cx="621132"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ct val="50000"/>
              </a:spcBef>
            </a:pPr>
            <a:r>
              <a:rPr lang="en-US" altLang="zh-CN" dirty="0">
                <a:solidFill>
                  <a:srgbClr val="FF0000"/>
                </a:solidFill>
              </a:rPr>
              <a:t>+5v</a:t>
            </a:r>
          </a:p>
        </p:txBody>
      </p:sp>
      <p:grpSp>
        <p:nvGrpSpPr>
          <p:cNvPr id="45" name="Group 68"/>
          <p:cNvGrpSpPr>
            <a:grpSpLocks/>
          </p:cNvGrpSpPr>
          <p:nvPr/>
        </p:nvGrpSpPr>
        <p:grpSpPr bwMode="auto">
          <a:xfrm>
            <a:off x="7772245" y="4107182"/>
            <a:ext cx="994085" cy="590355"/>
            <a:chOff x="4740" y="1162"/>
            <a:chExt cx="725" cy="544"/>
          </a:xfrm>
        </p:grpSpPr>
        <p:sp>
          <p:nvSpPr>
            <p:cNvPr id="46" name="Line 62"/>
            <p:cNvSpPr>
              <a:spLocks noChangeShapeType="1"/>
            </p:cNvSpPr>
            <p:nvPr/>
          </p:nvSpPr>
          <p:spPr bwMode="auto">
            <a:xfrm flipV="1">
              <a:off x="4740" y="1207"/>
              <a:ext cx="0" cy="409"/>
            </a:xfrm>
            <a:prstGeom prst="line">
              <a:avLst/>
            </a:prstGeom>
            <a:noFill/>
            <a:ln w="381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7" name="Line 63"/>
            <p:cNvSpPr>
              <a:spLocks noChangeShapeType="1"/>
            </p:cNvSpPr>
            <p:nvPr/>
          </p:nvSpPr>
          <p:spPr bwMode="auto">
            <a:xfrm>
              <a:off x="4740" y="1207"/>
              <a:ext cx="635" cy="0"/>
            </a:xfrm>
            <a:prstGeom prst="line">
              <a:avLst/>
            </a:prstGeom>
            <a:noFill/>
            <a:ln w="381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8" name="Line 64"/>
            <p:cNvSpPr>
              <a:spLocks noChangeShapeType="1"/>
            </p:cNvSpPr>
            <p:nvPr/>
          </p:nvSpPr>
          <p:spPr bwMode="auto">
            <a:xfrm>
              <a:off x="5375" y="1207"/>
              <a:ext cx="0" cy="499"/>
            </a:xfrm>
            <a:prstGeom prst="line">
              <a:avLst/>
            </a:prstGeom>
            <a:noFill/>
            <a:ln w="381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9" name="Line 65"/>
            <p:cNvSpPr>
              <a:spLocks noChangeShapeType="1"/>
            </p:cNvSpPr>
            <p:nvPr/>
          </p:nvSpPr>
          <p:spPr bwMode="auto">
            <a:xfrm flipV="1">
              <a:off x="5012" y="1207"/>
              <a:ext cx="0" cy="409"/>
            </a:xfrm>
            <a:prstGeom prst="line">
              <a:avLst/>
            </a:prstGeom>
            <a:noFill/>
            <a:ln w="381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50" name="Oval 66"/>
            <p:cNvSpPr>
              <a:spLocks noChangeArrowheads="1"/>
            </p:cNvSpPr>
            <p:nvPr/>
          </p:nvSpPr>
          <p:spPr bwMode="auto">
            <a:xfrm>
              <a:off x="4967" y="1162"/>
              <a:ext cx="91" cy="91"/>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51" name="Line 67"/>
            <p:cNvSpPr>
              <a:spLocks noChangeShapeType="1"/>
            </p:cNvSpPr>
            <p:nvPr/>
          </p:nvSpPr>
          <p:spPr bwMode="auto">
            <a:xfrm>
              <a:off x="5284" y="1706"/>
              <a:ext cx="181" cy="0"/>
            </a:xfrm>
            <a:prstGeom prst="line">
              <a:avLst/>
            </a:prstGeom>
            <a:noFill/>
            <a:ln w="381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sp>
        <p:nvSpPr>
          <p:cNvPr id="52" name="AutoShape 69"/>
          <p:cNvSpPr>
            <a:spLocks noChangeArrowheads="1"/>
          </p:cNvSpPr>
          <p:nvPr/>
        </p:nvSpPr>
        <p:spPr bwMode="auto">
          <a:xfrm>
            <a:off x="240613" y="4544348"/>
            <a:ext cx="2260492" cy="1188907"/>
          </a:xfrm>
          <a:prstGeom prst="wedgeRoundRectCallout">
            <a:avLst>
              <a:gd name="adj1" fmla="val -10084"/>
              <a:gd name="adj2" fmla="val -52523"/>
              <a:gd name="adj3" fmla="val 16667"/>
            </a:avLst>
          </a:prstGeom>
          <a:solidFill>
            <a:srgbClr val="FFFFCC"/>
          </a:solidFill>
          <a:ln w="2857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r>
              <a:rPr kumimoji="1" lang="zh-CN" altLang="en-US" b="1" dirty="0">
                <a:latin typeface="Times New Roman" panose="02020603050405020304" pitchFamily="18" charset="0"/>
              </a:rPr>
              <a:t>如何用</a:t>
            </a:r>
            <a:r>
              <a:rPr kumimoji="1" lang="en-US" altLang="zh-CN" b="1" dirty="0">
                <a:latin typeface="Times New Roman" panose="02020603050405020304" pitchFamily="18" charset="0"/>
              </a:rPr>
              <a:t>74LS138</a:t>
            </a:r>
            <a:r>
              <a:rPr kumimoji="1" lang="zh-CN" altLang="en-US" b="1" dirty="0">
                <a:latin typeface="Times New Roman" panose="02020603050405020304" pitchFamily="18" charset="0"/>
              </a:rPr>
              <a:t>实现</a:t>
            </a:r>
            <a:r>
              <a:rPr kumimoji="1" lang="en-US" altLang="zh-CN" b="1" dirty="0">
                <a:latin typeface="Times New Roman" panose="02020603050405020304" pitchFamily="18" charset="0"/>
              </a:rPr>
              <a:t>5</a:t>
            </a:r>
            <a:r>
              <a:rPr kumimoji="1" lang="zh-CN" altLang="en-US" b="1" dirty="0">
                <a:latin typeface="Times New Roman" panose="02020603050405020304" pitchFamily="18" charset="0"/>
              </a:rPr>
              <a:t>线－</a:t>
            </a:r>
            <a:r>
              <a:rPr kumimoji="1" lang="en-US" altLang="zh-CN" b="1" dirty="0">
                <a:latin typeface="Times New Roman" panose="02020603050405020304" pitchFamily="18" charset="0"/>
              </a:rPr>
              <a:t>32</a:t>
            </a:r>
            <a:r>
              <a:rPr kumimoji="1" lang="zh-CN" altLang="en-US" b="1" dirty="0">
                <a:latin typeface="Times New Roman" panose="02020603050405020304" pitchFamily="18" charset="0"/>
              </a:rPr>
              <a:t>线</a:t>
            </a:r>
            <a:r>
              <a:rPr kumimoji="1" lang="zh-CN" altLang="en-US" b="1" dirty="0" smtClean="0">
                <a:latin typeface="Times New Roman" panose="02020603050405020304" pitchFamily="18" charset="0"/>
              </a:rPr>
              <a:t>译码器</a:t>
            </a:r>
            <a:endParaRPr kumimoji="1" lang="en-US" altLang="zh-CN" b="1" dirty="0" smtClean="0">
              <a:latin typeface="Times New Roman" panose="02020603050405020304" pitchFamily="18" charset="0"/>
            </a:endParaRPr>
          </a:p>
          <a:p>
            <a:pPr algn="ctr"/>
            <a:r>
              <a:rPr kumimoji="1" lang="zh-CN" altLang="en-US" sz="4000" b="1" dirty="0" smtClean="0">
                <a:solidFill>
                  <a:srgbClr val="FF0000"/>
                </a:solidFill>
                <a:latin typeface="Times New Roman" panose="02020603050405020304" pitchFamily="18" charset="0"/>
              </a:rPr>
              <a:t>？</a:t>
            </a:r>
            <a:endParaRPr kumimoji="1" lang="zh-CN" altLang="en-US" sz="4000" b="1" dirty="0">
              <a:solidFill>
                <a:srgbClr val="FF0000"/>
              </a:solidFill>
              <a:latin typeface="Times New Roman" panose="02020603050405020304" pitchFamily="18" charset="0"/>
            </a:endParaRPr>
          </a:p>
        </p:txBody>
      </p:sp>
      <p:graphicFrame>
        <p:nvGraphicFramePr>
          <p:cNvPr id="56" name="Object 10"/>
          <p:cNvGraphicFramePr>
            <a:graphicFrameLocks noChangeAspect="1"/>
          </p:cNvGraphicFramePr>
          <p:nvPr>
            <p:extLst>
              <p:ext uri="{D42A27DB-BD31-4B8C-83A1-F6EECF244321}">
                <p14:modId xmlns:p14="http://schemas.microsoft.com/office/powerpoint/2010/main" xmlns="" val="3939781573"/>
              </p:ext>
            </p:extLst>
          </p:nvPr>
        </p:nvGraphicFramePr>
        <p:xfrm>
          <a:off x="6489700" y="1031773"/>
          <a:ext cx="2654300" cy="1033462"/>
        </p:xfrm>
        <a:graphic>
          <a:graphicData uri="http://schemas.openxmlformats.org/presentationml/2006/ole">
            <p:oleObj spid="_x0000_s39035" name="Visio" r:id="rId5" imgW="2654198" imgH="1033794" progId="">
              <p:embed/>
            </p:oleObj>
          </a:graphicData>
        </a:graphic>
      </p:graphicFrame>
      <p:sp>
        <p:nvSpPr>
          <p:cNvPr id="53" name="标题 1"/>
          <p:cNvSpPr txBox="1">
            <a:spLocks/>
          </p:cNvSpPr>
          <p:nvPr/>
        </p:nvSpPr>
        <p:spPr bwMode="auto">
          <a:xfrm>
            <a:off x="1259632" y="116632"/>
            <a:ext cx="7545014"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4.4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译码器（</a:t>
            </a: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Decoder</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618846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blinds(horizontal)">
                                      <p:cBhvr>
                                        <p:cTn id="11" dur="500"/>
                                        <p:tgtEl>
                                          <p:spTgt spid="15"/>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blinds(horizontal)">
                                      <p:cBhvr>
                                        <p:cTn id="16" dur="500"/>
                                        <p:tgtEl>
                                          <p:spTgt spid="34"/>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44"/>
                                        </p:tgtEl>
                                        <p:attrNameLst>
                                          <p:attrName>style.visibility</p:attrName>
                                        </p:attrNameLst>
                                      </p:cBhvr>
                                      <p:to>
                                        <p:strVal val="visible"/>
                                      </p:to>
                                    </p:set>
                                    <p:animEffect transition="in" filter="blinds(horizontal)">
                                      <p:cBhvr>
                                        <p:cTn id="21" dur="500"/>
                                        <p:tgtEl>
                                          <p:spTgt spid="44"/>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45"/>
                                        </p:tgtEl>
                                        <p:attrNameLst>
                                          <p:attrName>style.visibility</p:attrName>
                                        </p:attrNameLst>
                                      </p:cBhvr>
                                      <p:to>
                                        <p:strVal val="visible"/>
                                      </p:to>
                                    </p:set>
                                    <p:animEffect transition="in" filter="blinds(horizontal)">
                                      <p:cBhvr>
                                        <p:cTn id="26" dur="500"/>
                                        <p:tgtEl>
                                          <p:spTgt spid="45"/>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52"/>
                                        </p:tgtEl>
                                        <p:attrNameLst>
                                          <p:attrName>style.visibility</p:attrName>
                                        </p:attrNameLst>
                                      </p:cBhvr>
                                      <p:to>
                                        <p:strVal val="visible"/>
                                      </p:to>
                                    </p:set>
                                    <p:animEffect transition="in" filter="blinds(horizontal)">
                                      <p:cBhvr>
                                        <p:cTn id="31"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52"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59633" y="692696"/>
            <a:ext cx="7488832" cy="566936"/>
          </a:xfrm>
        </p:spPr>
        <p:txBody>
          <a:bodyPr/>
          <a:lstStyle/>
          <a:p>
            <a:r>
              <a:rPr lang="zh-CN" altLang="en-US" dirty="0"/>
              <a:t>译码器（</a:t>
            </a:r>
            <a:r>
              <a:rPr lang="en-US" altLang="zh-CN" dirty="0"/>
              <a:t>Decoder</a:t>
            </a:r>
            <a:r>
              <a:rPr lang="zh-CN" altLang="en-US" dirty="0" smtClean="0"/>
              <a:t>）</a:t>
            </a:r>
            <a:r>
              <a:rPr lang="en-US" altLang="zh-CN" dirty="0" smtClean="0"/>
              <a:t>----</a:t>
            </a:r>
            <a:r>
              <a:rPr lang="zh-CN" altLang="en-US" dirty="0" smtClean="0"/>
              <a:t>应用</a:t>
            </a:r>
            <a:endParaRPr lang="zh-CN" altLang="en-US" dirty="0"/>
          </a:p>
        </p:txBody>
      </p:sp>
      <p:sp>
        <p:nvSpPr>
          <p:cNvPr id="3" name="内容占位符 2"/>
          <p:cNvSpPr>
            <a:spLocks noGrp="1"/>
          </p:cNvSpPr>
          <p:nvPr>
            <p:ph idx="1"/>
          </p:nvPr>
        </p:nvSpPr>
        <p:spPr>
          <a:xfrm>
            <a:off x="539552" y="1542208"/>
            <a:ext cx="8280920" cy="4911128"/>
          </a:xfrm>
        </p:spPr>
        <p:txBody>
          <a:bodyPr/>
          <a:lstStyle/>
          <a:p>
            <a:pPr>
              <a:lnSpc>
                <a:spcPct val="100000"/>
              </a:lnSpc>
              <a:spcBef>
                <a:spcPts val="600"/>
              </a:spcBef>
              <a:buSzPct val="100000"/>
              <a:buFont typeface="Wingdings" pitchFamily="2" charset="2"/>
              <a:buChar char="p"/>
            </a:pPr>
            <a:r>
              <a:rPr lang="zh-CN" altLang="en-US" sz="2800" dirty="0"/>
              <a:t>实现逻辑函数</a:t>
            </a:r>
          </a:p>
          <a:p>
            <a:pPr lvl="1">
              <a:lnSpc>
                <a:spcPct val="100000"/>
              </a:lnSpc>
              <a:spcBef>
                <a:spcPts val="600"/>
              </a:spcBef>
              <a:buSzPct val="100000"/>
            </a:pPr>
            <a:r>
              <a:rPr lang="zh-CN" altLang="en-US" sz="2400" dirty="0"/>
              <a:t>由于</a:t>
            </a:r>
            <a:r>
              <a:rPr lang="en-US" altLang="zh-CN" sz="2400" dirty="0"/>
              <a:t>n</a:t>
            </a:r>
            <a:r>
              <a:rPr lang="zh-CN" altLang="en-US" sz="2400" dirty="0"/>
              <a:t>变量二进制译码器</a:t>
            </a:r>
            <a:r>
              <a:rPr lang="zh-CN" altLang="en-US" sz="2400" dirty="0">
                <a:solidFill>
                  <a:srgbClr val="0000CC"/>
                </a:solidFill>
              </a:rPr>
              <a:t>可以提供变量的</a:t>
            </a:r>
            <a:r>
              <a:rPr lang="en-US" altLang="zh-CN" sz="2400" dirty="0">
                <a:solidFill>
                  <a:srgbClr val="0000CC"/>
                </a:solidFill>
              </a:rPr>
              <a:t>2</a:t>
            </a:r>
            <a:r>
              <a:rPr lang="en-US" altLang="zh-CN" sz="2400" baseline="30000" dirty="0">
                <a:solidFill>
                  <a:srgbClr val="0000CC"/>
                </a:solidFill>
              </a:rPr>
              <a:t>n</a:t>
            </a:r>
            <a:r>
              <a:rPr lang="zh-CN" altLang="en-US" sz="2400" dirty="0">
                <a:solidFill>
                  <a:srgbClr val="0000CC"/>
                </a:solidFill>
              </a:rPr>
              <a:t>个</a:t>
            </a:r>
            <a:r>
              <a:rPr lang="zh-CN" altLang="en-US" sz="2400" dirty="0" smtClean="0">
                <a:solidFill>
                  <a:srgbClr val="0000CC"/>
                </a:solidFill>
              </a:rPr>
              <a:t>最小</a:t>
            </a:r>
            <a:r>
              <a:rPr lang="zh-CN" altLang="en-US" sz="2400" dirty="0">
                <a:solidFill>
                  <a:srgbClr val="0000CC"/>
                </a:solidFill>
              </a:rPr>
              <a:t>项非的输出</a:t>
            </a:r>
            <a:r>
              <a:rPr lang="zh-CN" altLang="en-US" sz="2400" dirty="0"/>
              <a:t>，而任何逻辑函数均可化为最小项</a:t>
            </a:r>
            <a:r>
              <a:rPr lang="zh-CN" altLang="en-US" sz="2400" dirty="0" smtClean="0"/>
              <a:t>之和</a:t>
            </a:r>
            <a:r>
              <a:rPr lang="zh-CN" altLang="en-US" sz="2400" dirty="0"/>
              <a:t>的标准形式，所以</a:t>
            </a:r>
            <a:r>
              <a:rPr lang="zh-CN" altLang="en-US" sz="2400" dirty="0">
                <a:solidFill>
                  <a:srgbClr val="0000CC"/>
                </a:solidFill>
              </a:rPr>
              <a:t>利用二进制译码器和一些</a:t>
            </a:r>
            <a:r>
              <a:rPr lang="zh-CN" altLang="en-US" sz="2400" dirty="0" smtClean="0">
                <a:solidFill>
                  <a:srgbClr val="0000CC"/>
                </a:solidFill>
              </a:rPr>
              <a:t>必要的</a:t>
            </a:r>
            <a:r>
              <a:rPr lang="zh-CN" altLang="en-US" sz="2400" dirty="0">
                <a:solidFill>
                  <a:srgbClr val="0000CC"/>
                </a:solidFill>
              </a:rPr>
              <a:t>逻辑门可以</a:t>
            </a:r>
            <a:r>
              <a:rPr lang="zh-CN" altLang="en-US" sz="2400" dirty="0">
                <a:solidFill>
                  <a:srgbClr val="C00000"/>
                </a:solidFill>
              </a:rPr>
              <a:t>实现任意的组合逻辑函数</a:t>
            </a:r>
            <a:r>
              <a:rPr lang="zh-CN" altLang="en-US" sz="2400" dirty="0"/>
              <a:t>。</a:t>
            </a:r>
          </a:p>
          <a:p>
            <a:pPr lvl="1">
              <a:lnSpc>
                <a:spcPct val="100000"/>
              </a:lnSpc>
              <a:spcBef>
                <a:spcPts val="600"/>
              </a:spcBef>
              <a:buSzPct val="100000"/>
            </a:pPr>
            <a:r>
              <a:rPr lang="en-US" altLang="zh-CN" sz="2400" dirty="0"/>
              <a:t>【</a:t>
            </a:r>
            <a:r>
              <a:rPr lang="zh-CN" altLang="en-US" sz="2400" dirty="0"/>
              <a:t>例</a:t>
            </a:r>
            <a:r>
              <a:rPr lang="en-US" altLang="zh-CN" sz="2400" dirty="0"/>
              <a:t>】</a:t>
            </a:r>
            <a:r>
              <a:rPr lang="zh-CN" altLang="en-US" sz="2400" dirty="0"/>
              <a:t>试用</a:t>
            </a:r>
            <a:r>
              <a:rPr lang="en-US" altLang="zh-CN" sz="2400" dirty="0"/>
              <a:t>74LS138</a:t>
            </a:r>
            <a:r>
              <a:rPr lang="zh-CN" altLang="en-US" sz="2400" dirty="0"/>
              <a:t>和与非门设计一个多输出的</a:t>
            </a:r>
            <a:r>
              <a:rPr lang="zh-CN" altLang="en-US" sz="2400" dirty="0" smtClean="0"/>
              <a:t>组合逻辑电路</a:t>
            </a:r>
            <a:r>
              <a:rPr lang="zh-CN" altLang="en-US" sz="2400" dirty="0"/>
              <a:t>。输出的逻辑函数为：</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101</a:t>
            </a:fld>
            <a:endParaRPr lang="zh-CN" altLang="en-US"/>
          </a:p>
        </p:txBody>
      </p:sp>
      <p:pic>
        <p:nvPicPr>
          <p:cNvPr id="1536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915816" y="4509120"/>
            <a:ext cx="2572388" cy="1800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标题 1"/>
          <p:cNvSpPr txBox="1">
            <a:spLocks/>
          </p:cNvSpPr>
          <p:nvPr/>
        </p:nvSpPr>
        <p:spPr bwMode="auto">
          <a:xfrm>
            <a:off x="1259632" y="116632"/>
            <a:ext cx="7545014"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4.4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译码器（</a:t>
            </a: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Decoder</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3296403342"/>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59633" y="764704"/>
            <a:ext cx="7560840" cy="494928"/>
          </a:xfrm>
        </p:spPr>
        <p:txBody>
          <a:bodyPr/>
          <a:lstStyle/>
          <a:p>
            <a:r>
              <a:rPr lang="zh-CN" altLang="en-US" sz="3200" dirty="0"/>
              <a:t>译码器（</a:t>
            </a:r>
            <a:r>
              <a:rPr lang="en-US" altLang="zh-CN" sz="3200" dirty="0"/>
              <a:t>Decoder</a:t>
            </a:r>
            <a:r>
              <a:rPr lang="zh-CN" altLang="en-US" sz="3200" dirty="0"/>
              <a:t>）</a:t>
            </a:r>
            <a:r>
              <a:rPr lang="en-US" altLang="zh-CN" sz="3200" dirty="0"/>
              <a:t>----</a:t>
            </a:r>
            <a:r>
              <a:rPr lang="zh-CN" altLang="en-US" sz="3200" dirty="0"/>
              <a:t>应用</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102</a:t>
            </a:fld>
            <a:endParaRPr lang="zh-CN" altLang="en-US"/>
          </a:p>
        </p:txBody>
      </p:sp>
      <p:pic>
        <p:nvPicPr>
          <p:cNvPr id="5" name="Picture 9" descr="3-3-6"/>
          <p:cNvPicPr>
            <a:picLocks noChangeAspect="1" noChangeArrowheads="1"/>
          </p:cNvPicPr>
          <p:nvPr/>
        </p:nvPicPr>
        <p:blipFill>
          <a:blip r:embed="rId2" cstate="print">
            <a:clrChange>
              <a:clrFrom>
                <a:srgbClr val="ECEDE7"/>
              </a:clrFrom>
              <a:clrTo>
                <a:srgbClr val="ECEDE7">
                  <a:alpha val="0"/>
                </a:srgbClr>
              </a:clrTo>
            </a:clrChange>
            <a:lum contrast="36000"/>
            <a:extLst>
              <a:ext uri="{28A0092B-C50C-407E-A947-70E740481C1C}">
                <a14:useLocalDpi xmlns:a14="http://schemas.microsoft.com/office/drawing/2010/main" xmlns="" val="0"/>
              </a:ext>
            </a:extLst>
          </a:blip>
          <a:srcRect/>
          <a:stretch>
            <a:fillRect/>
          </a:stretch>
        </p:blipFill>
        <p:spPr bwMode="auto">
          <a:xfrm>
            <a:off x="971600" y="2996952"/>
            <a:ext cx="3697287" cy="2430463"/>
          </a:xfrm>
          <a:prstGeom prst="rect">
            <a:avLst/>
          </a:prstGeom>
          <a:noFill/>
          <a:extLst>
            <a:ext uri="{909E8E84-426E-40DD-AFC4-6F175D3DCCD1}">
              <a14:hiddenFill xmlns:a14="http://schemas.microsoft.com/office/drawing/2010/main" xmlns="">
                <a:solidFill>
                  <a:srgbClr val="FFFFFF"/>
                </a:solidFill>
              </a14:hiddenFill>
            </a:ext>
          </a:extLst>
        </p:spPr>
      </p:pic>
      <p:pic>
        <p:nvPicPr>
          <p:cNvPr id="6" name="Picture 7" descr="3-3-6(2)"/>
          <p:cNvPicPr>
            <a:picLocks noChangeAspect="1" noChangeArrowheads="1"/>
          </p:cNvPicPr>
          <p:nvPr/>
        </p:nvPicPr>
        <p:blipFill>
          <a:blip r:embed="rId3" cstate="print">
            <a:clrChange>
              <a:clrFrom>
                <a:srgbClr val="F9FAF4"/>
              </a:clrFrom>
              <a:clrTo>
                <a:srgbClr val="F9FAF4">
                  <a:alpha val="0"/>
                </a:srgbClr>
              </a:clrTo>
            </a:clrChange>
            <a:lum contrast="36000"/>
            <a:extLst>
              <a:ext uri="{28A0092B-C50C-407E-A947-70E740481C1C}">
                <a14:useLocalDpi xmlns:a14="http://schemas.microsoft.com/office/drawing/2010/main" xmlns="" val="0"/>
              </a:ext>
            </a:extLst>
          </a:blip>
          <a:srcRect/>
          <a:stretch>
            <a:fillRect/>
          </a:stretch>
        </p:blipFill>
        <p:spPr bwMode="auto">
          <a:xfrm>
            <a:off x="5508104" y="1579050"/>
            <a:ext cx="2751137" cy="4824413"/>
          </a:xfrm>
          <a:prstGeom prst="rect">
            <a:avLst/>
          </a:prstGeom>
          <a:noFill/>
          <a:extLst>
            <a:ext uri="{909E8E84-426E-40DD-AFC4-6F175D3DCCD1}">
              <a14:hiddenFill xmlns:a14="http://schemas.microsoft.com/office/drawing/2010/main" xmlns="">
                <a:solidFill>
                  <a:srgbClr val="FFFFFF"/>
                </a:solidFill>
              </a14:hiddenFill>
            </a:ext>
          </a:extLst>
        </p:spPr>
      </p:pic>
      <p:sp>
        <p:nvSpPr>
          <p:cNvPr id="7" name="标题 1"/>
          <p:cNvSpPr txBox="1">
            <a:spLocks/>
          </p:cNvSpPr>
          <p:nvPr/>
        </p:nvSpPr>
        <p:spPr bwMode="auto">
          <a:xfrm>
            <a:off x="1259632" y="116632"/>
            <a:ext cx="7545014"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4.4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译码器（</a:t>
            </a: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Decoder</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193699749"/>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508767" y="2344036"/>
            <a:ext cx="5439497" cy="194386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 name="标题 1"/>
          <p:cNvSpPr>
            <a:spLocks noGrp="1"/>
          </p:cNvSpPr>
          <p:nvPr>
            <p:ph type="title"/>
          </p:nvPr>
        </p:nvSpPr>
        <p:spPr>
          <a:xfrm>
            <a:off x="1259633" y="692696"/>
            <a:ext cx="7488832" cy="566936"/>
          </a:xfrm>
        </p:spPr>
        <p:txBody>
          <a:bodyPr/>
          <a:lstStyle/>
          <a:p>
            <a:r>
              <a:rPr lang="zh-CN" altLang="en-US" dirty="0"/>
              <a:t>译码器（</a:t>
            </a:r>
            <a:r>
              <a:rPr lang="en-US" altLang="zh-CN" dirty="0"/>
              <a:t>Decoder</a:t>
            </a:r>
            <a:r>
              <a:rPr lang="zh-CN" altLang="en-US" dirty="0"/>
              <a:t>）</a:t>
            </a:r>
            <a:r>
              <a:rPr lang="en-US" altLang="zh-CN" dirty="0"/>
              <a:t>----</a:t>
            </a:r>
            <a:r>
              <a:rPr lang="zh-CN" altLang="en-US" dirty="0"/>
              <a:t>应用</a:t>
            </a:r>
          </a:p>
        </p:txBody>
      </p:sp>
      <p:sp>
        <p:nvSpPr>
          <p:cNvPr id="3" name="内容占位符 2"/>
          <p:cNvSpPr>
            <a:spLocks noGrp="1"/>
          </p:cNvSpPr>
          <p:nvPr>
            <p:ph idx="1"/>
          </p:nvPr>
        </p:nvSpPr>
        <p:spPr>
          <a:xfrm>
            <a:off x="539552" y="1556792"/>
            <a:ext cx="8161338" cy="4911128"/>
          </a:xfrm>
        </p:spPr>
        <p:txBody>
          <a:bodyPr/>
          <a:lstStyle/>
          <a:p>
            <a:pPr marL="457200" lvl="1" indent="0">
              <a:lnSpc>
                <a:spcPct val="100000"/>
              </a:lnSpc>
              <a:spcBef>
                <a:spcPts val="600"/>
              </a:spcBef>
              <a:buNone/>
            </a:pPr>
            <a:r>
              <a:rPr lang="zh-CN" altLang="en-US" dirty="0"/>
              <a:t>解：将逻辑函数转换成最小项之和的形式，再变换成</a:t>
            </a:r>
            <a:r>
              <a:rPr lang="zh-CN" altLang="en-US" dirty="0" smtClean="0"/>
              <a:t>最小项</a:t>
            </a:r>
            <a:r>
              <a:rPr lang="zh-CN" altLang="en-US" dirty="0"/>
              <a:t>取反的形式：</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103</a:t>
            </a:fld>
            <a:endParaRPr lang="zh-CN" altLang="en-US"/>
          </a:p>
        </p:txBody>
      </p:sp>
      <p:pic>
        <p:nvPicPr>
          <p:cNvPr id="17411" name="Picture 3" descr="E:\wrj\课件\数字电路与系统\数字电路与数字系统\tupian\4-18.jp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195736" y="4441648"/>
            <a:ext cx="4320480" cy="2338405"/>
          </a:xfrm>
          <a:prstGeom prst="rect">
            <a:avLst/>
          </a:prstGeom>
          <a:noFill/>
          <a:extLst>
            <a:ext uri="{909E8E84-426E-40DD-AFC4-6F175D3DCCD1}">
              <a14:hiddenFill xmlns:a14="http://schemas.microsoft.com/office/drawing/2010/main" xmlns="">
                <a:solidFill>
                  <a:srgbClr val="FFFFFF"/>
                </a:solidFill>
              </a14:hiddenFill>
            </a:ext>
          </a:extLst>
        </p:spPr>
      </p:pic>
      <p:sp>
        <p:nvSpPr>
          <p:cNvPr id="7" name="标题 1"/>
          <p:cNvSpPr txBox="1">
            <a:spLocks/>
          </p:cNvSpPr>
          <p:nvPr/>
        </p:nvSpPr>
        <p:spPr bwMode="auto">
          <a:xfrm>
            <a:off x="1259632" y="116632"/>
            <a:ext cx="7545014"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4.4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译码器（</a:t>
            </a: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Decoder</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2666975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4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59631" y="692696"/>
            <a:ext cx="7416825" cy="566936"/>
          </a:xfrm>
        </p:spPr>
        <p:txBody>
          <a:bodyPr/>
          <a:lstStyle/>
          <a:p>
            <a:r>
              <a:rPr lang="en-US" altLang="zh-CN" dirty="0" smtClean="0"/>
              <a:t>4.5 </a:t>
            </a:r>
            <a:r>
              <a:rPr lang="zh-CN" altLang="en-US" dirty="0" smtClean="0"/>
              <a:t>数据</a:t>
            </a:r>
            <a:r>
              <a:rPr lang="zh-CN" altLang="en-US" dirty="0"/>
              <a:t>选择器（ </a:t>
            </a:r>
            <a:r>
              <a:rPr lang="en-US" altLang="zh-CN" dirty="0"/>
              <a:t>Multiplexer </a:t>
            </a:r>
            <a:r>
              <a:rPr lang="zh-CN" altLang="en-US" dirty="0" smtClean="0"/>
              <a:t>）</a:t>
            </a:r>
            <a:endParaRPr lang="zh-CN" altLang="en-US" dirty="0"/>
          </a:p>
        </p:txBody>
      </p:sp>
      <p:sp>
        <p:nvSpPr>
          <p:cNvPr id="3" name="内容占位符 2"/>
          <p:cNvSpPr>
            <a:spLocks noGrp="1"/>
          </p:cNvSpPr>
          <p:nvPr>
            <p:ph idx="1"/>
          </p:nvPr>
        </p:nvSpPr>
        <p:spPr>
          <a:xfrm>
            <a:off x="539552" y="1542208"/>
            <a:ext cx="8415536" cy="4911128"/>
          </a:xfrm>
        </p:spPr>
        <p:txBody>
          <a:bodyPr/>
          <a:lstStyle/>
          <a:p>
            <a:pPr>
              <a:lnSpc>
                <a:spcPct val="100000"/>
              </a:lnSpc>
              <a:spcBef>
                <a:spcPts val="600"/>
              </a:spcBef>
              <a:buSzPct val="100000"/>
              <a:buFont typeface="Wingdings" pitchFamily="2" charset="2"/>
              <a:buChar char="p"/>
            </a:pPr>
            <a:r>
              <a:rPr lang="zh-CN" altLang="en-US" sz="2800" dirty="0"/>
              <a:t>数据选择</a:t>
            </a:r>
            <a:r>
              <a:rPr lang="zh-CN" altLang="en-US" sz="2800" dirty="0" smtClean="0"/>
              <a:t>器</a:t>
            </a:r>
            <a:endParaRPr lang="en-US" altLang="zh-CN" sz="2800" dirty="0" smtClean="0"/>
          </a:p>
          <a:p>
            <a:pPr lvl="1">
              <a:lnSpc>
                <a:spcPct val="100000"/>
              </a:lnSpc>
              <a:spcBef>
                <a:spcPts val="600"/>
              </a:spcBef>
              <a:buSzPct val="100000"/>
            </a:pPr>
            <a:r>
              <a:rPr lang="zh-CN" altLang="en-US" dirty="0" smtClean="0"/>
              <a:t>能够</a:t>
            </a:r>
            <a:r>
              <a:rPr lang="zh-CN" altLang="en-US" dirty="0"/>
              <a:t>实现从多路数据中选择一路进行传输的电路叫做</a:t>
            </a:r>
            <a:r>
              <a:rPr lang="zh-CN" altLang="en-US" dirty="0">
                <a:solidFill>
                  <a:srgbClr val="0000CC"/>
                </a:solidFill>
              </a:rPr>
              <a:t>数据选择器</a:t>
            </a:r>
            <a:r>
              <a:rPr lang="zh-CN" altLang="en-US" dirty="0"/>
              <a:t>，亦称</a:t>
            </a:r>
            <a:r>
              <a:rPr lang="zh-CN" altLang="en-US" dirty="0">
                <a:solidFill>
                  <a:srgbClr val="0000CC"/>
                </a:solidFill>
              </a:rPr>
              <a:t>多路调制器</a:t>
            </a:r>
            <a:r>
              <a:rPr lang="zh-CN" altLang="en-US" dirty="0"/>
              <a:t>、</a:t>
            </a:r>
            <a:r>
              <a:rPr lang="zh-CN" altLang="en-US" dirty="0">
                <a:solidFill>
                  <a:srgbClr val="0000CC"/>
                </a:solidFill>
              </a:rPr>
              <a:t>多路开关</a:t>
            </a:r>
            <a:r>
              <a:rPr lang="zh-CN" altLang="en-US" dirty="0"/>
              <a:t>或</a:t>
            </a:r>
            <a:r>
              <a:rPr lang="zh-CN" altLang="en-US" dirty="0">
                <a:solidFill>
                  <a:srgbClr val="0000CC"/>
                </a:solidFill>
              </a:rPr>
              <a:t>多路选择器</a:t>
            </a:r>
            <a:r>
              <a:rPr lang="zh-CN" altLang="en-US" dirty="0"/>
              <a:t>（简称</a:t>
            </a:r>
            <a:r>
              <a:rPr lang="en-US" altLang="zh-CN" dirty="0"/>
              <a:t>MUX</a:t>
            </a:r>
            <a:r>
              <a:rPr lang="zh-CN" altLang="en-US" dirty="0"/>
              <a:t>）</a:t>
            </a:r>
            <a:r>
              <a:rPr lang="zh-CN" altLang="en-US" dirty="0" smtClean="0"/>
              <a:t>。</a:t>
            </a:r>
            <a:endParaRPr lang="en-US" altLang="zh-CN" dirty="0" smtClean="0"/>
          </a:p>
          <a:p>
            <a:pPr lvl="1"/>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104</a:t>
            </a:fld>
            <a:endParaRPr lang="zh-CN" altLang="en-US"/>
          </a:p>
        </p:txBody>
      </p:sp>
      <p:pic>
        <p:nvPicPr>
          <p:cNvPr id="13314" name="Picture 2" descr="E:\wrj\课件\数字电路与系统\数字电路与数字系统\tupian\4-23.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403648" y="3356992"/>
            <a:ext cx="2250324" cy="2556000"/>
          </a:xfrm>
          <a:prstGeom prst="rect">
            <a:avLst/>
          </a:prstGeom>
          <a:noFill/>
          <a:extLst>
            <a:ext uri="{909E8E84-426E-40DD-AFC4-6F175D3DCCD1}">
              <a14:hiddenFill xmlns:a14="http://schemas.microsoft.com/office/drawing/2010/main" xmlns="">
                <a:solidFill>
                  <a:srgbClr val="FFFFFF"/>
                </a:solidFill>
              </a14:hiddenFill>
            </a:ext>
          </a:extLst>
        </p:spPr>
      </p:pic>
      <p:sp>
        <p:nvSpPr>
          <p:cNvPr id="5" name="矩形 4"/>
          <p:cNvSpPr/>
          <p:nvPr/>
        </p:nvSpPr>
        <p:spPr>
          <a:xfrm>
            <a:off x="5220072" y="3573016"/>
            <a:ext cx="2031325" cy="369332"/>
          </a:xfrm>
          <a:prstGeom prst="rect">
            <a:avLst/>
          </a:prstGeom>
        </p:spPr>
        <p:txBody>
          <a:bodyPr wrap="none">
            <a:spAutoFit/>
          </a:bodyPr>
          <a:lstStyle/>
          <a:p>
            <a:r>
              <a:rPr lang="zh-CN" altLang="en-US" b="1" dirty="0"/>
              <a:t>逻辑函数表达式：</a:t>
            </a:r>
          </a:p>
        </p:txBody>
      </p:sp>
      <p:pic>
        <p:nvPicPr>
          <p:cNvPr id="13315"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139952" y="4077072"/>
            <a:ext cx="4300364" cy="360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矩形 5"/>
          <p:cNvSpPr/>
          <p:nvPr/>
        </p:nvSpPr>
        <p:spPr>
          <a:xfrm>
            <a:off x="1259632" y="6021288"/>
            <a:ext cx="2637260" cy="369332"/>
          </a:xfrm>
          <a:prstGeom prst="rect">
            <a:avLst/>
          </a:prstGeom>
        </p:spPr>
        <p:txBody>
          <a:bodyPr wrap="none">
            <a:spAutoFit/>
          </a:bodyPr>
          <a:lstStyle/>
          <a:p>
            <a:r>
              <a:rPr lang="zh-CN" altLang="en-US" dirty="0" smtClean="0"/>
              <a:t>图</a:t>
            </a:r>
            <a:r>
              <a:rPr lang="en-US" altLang="zh-CN" dirty="0" smtClean="0"/>
              <a:t>  </a:t>
            </a:r>
            <a:r>
              <a:rPr lang="zh-CN" altLang="en-US" dirty="0" smtClean="0"/>
              <a:t>数据</a:t>
            </a:r>
            <a:r>
              <a:rPr lang="zh-CN" altLang="en-US" dirty="0"/>
              <a:t>选择器原理框图</a:t>
            </a:r>
          </a:p>
        </p:txBody>
      </p:sp>
      <p:sp>
        <p:nvSpPr>
          <p:cNvPr id="9" name="标题 1"/>
          <p:cNvSpPr txBox="1">
            <a:spLocks/>
          </p:cNvSpPr>
          <p:nvPr/>
        </p:nvSpPr>
        <p:spPr bwMode="auto">
          <a:xfrm>
            <a:off x="1259632" y="0"/>
            <a:ext cx="7016824" cy="63894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fontAlgn="base">
              <a:spcBef>
                <a:spcPct val="0"/>
              </a:spcBef>
              <a:spcAft>
                <a:spcPct val="0"/>
              </a:spcAft>
              <a:defRPr/>
            </a:pP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第</a:t>
            </a:r>
            <a:r>
              <a:rPr kumimoji="1" lang="en-US" altLang="zh-CN" sz="3600" b="1" kern="0" dirty="0" smtClean="0">
                <a:solidFill>
                  <a:schemeClr val="tx2"/>
                </a:solidFill>
                <a:latin typeface="+mj-lt"/>
                <a:ea typeface="+mj-ea"/>
                <a:cs typeface="+mj-cs"/>
              </a:rPr>
              <a:t>4</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章　组合</a:t>
            </a:r>
            <a:r>
              <a:rPr kumimoji="1" lang="zh-CN" altLang="en-US" sz="3600" b="1" kern="0" dirty="0" smtClean="0">
                <a:solidFill>
                  <a:schemeClr val="tx2"/>
                </a:solidFill>
              </a:rPr>
              <a:t>逻辑</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电路</a:t>
            </a:r>
            <a:endParaRPr kumimoji="1" lang="zh-CN" altLang="en-US" sz="36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3995565319"/>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20688"/>
            <a:ext cx="7545014" cy="638944"/>
          </a:xfrm>
        </p:spPr>
        <p:txBody>
          <a:bodyPr/>
          <a:lstStyle/>
          <a:p>
            <a:r>
              <a:rPr lang="en-US" altLang="zh-CN" dirty="0" smtClean="0"/>
              <a:t>4.5 </a:t>
            </a:r>
            <a:r>
              <a:rPr lang="zh-CN" altLang="en-US" dirty="0" smtClean="0"/>
              <a:t>数据</a:t>
            </a:r>
            <a:r>
              <a:rPr lang="zh-CN" altLang="en-US" dirty="0"/>
              <a:t>选择器（ </a:t>
            </a:r>
            <a:r>
              <a:rPr lang="en-US" altLang="zh-CN" dirty="0"/>
              <a:t>Multiplexer </a:t>
            </a:r>
            <a:r>
              <a:rPr lang="zh-CN" altLang="en-US" dirty="0" smtClean="0"/>
              <a:t>）</a:t>
            </a:r>
            <a:endParaRPr lang="zh-CN" altLang="en-US" dirty="0"/>
          </a:p>
        </p:txBody>
      </p:sp>
      <p:sp>
        <p:nvSpPr>
          <p:cNvPr id="3" name="内容占位符 2"/>
          <p:cNvSpPr>
            <a:spLocks noGrp="1"/>
          </p:cNvSpPr>
          <p:nvPr>
            <p:ph idx="1"/>
          </p:nvPr>
        </p:nvSpPr>
        <p:spPr>
          <a:xfrm>
            <a:off x="467544" y="1542208"/>
            <a:ext cx="8487544" cy="4911128"/>
          </a:xfrm>
        </p:spPr>
        <p:txBody>
          <a:bodyPr/>
          <a:lstStyle/>
          <a:p>
            <a:pPr lvl="1">
              <a:buSzPct val="100000"/>
            </a:pPr>
            <a:r>
              <a:rPr lang="en-US" altLang="zh-CN" sz="2400" dirty="0"/>
              <a:t>4</a:t>
            </a:r>
            <a:r>
              <a:rPr lang="zh-CN" altLang="en-US" sz="2400" dirty="0"/>
              <a:t>选</a:t>
            </a:r>
            <a:r>
              <a:rPr lang="en-US" altLang="zh-CN" sz="2400" dirty="0"/>
              <a:t>1</a:t>
            </a:r>
            <a:r>
              <a:rPr lang="zh-CN" altLang="en-US" sz="2400" dirty="0"/>
              <a:t>数据选择器门级电路设计</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105</a:t>
            </a:fld>
            <a:endParaRPr lang="zh-CN" altLang="en-US"/>
          </a:p>
        </p:txBody>
      </p:sp>
      <p:sp>
        <p:nvSpPr>
          <p:cNvPr id="5" name="矩形 4"/>
          <p:cNvSpPr/>
          <p:nvPr/>
        </p:nvSpPr>
        <p:spPr>
          <a:xfrm>
            <a:off x="829842" y="2348880"/>
            <a:ext cx="2590030" cy="400110"/>
          </a:xfrm>
          <a:prstGeom prst="rect">
            <a:avLst/>
          </a:prstGeom>
        </p:spPr>
        <p:txBody>
          <a:bodyPr wrap="square">
            <a:spAutoFit/>
          </a:bodyPr>
          <a:lstStyle/>
          <a:p>
            <a:r>
              <a:rPr lang="zh-CN" altLang="en-US" sz="2000" b="1" dirty="0" smtClean="0"/>
              <a:t>表</a:t>
            </a:r>
            <a:r>
              <a:rPr lang="en-US" altLang="zh-CN" sz="2000" b="1" dirty="0" smtClean="0"/>
              <a:t>  </a:t>
            </a:r>
            <a:r>
              <a:rPr lang="en-US" altLang="zh-CN" sz="2000" b="1" dirty="0"/>
              <a:t>4</a:t>
            </a:r>
            <a:r>
              <a:rPr lang="zh-CN" altLang="en-US" sz="2000" b="1" dirty="0"/>
              <a:t>选</a:t>
            </a:r>
            <a:r>
              <a:rPr lang="en-US" altLang="zh-CN" sz="2000" b="1" dirty="0"/>
              <a:t>1MUX</a:t>
            </a:r>
            <a:r>
              <a:rPr lang="zh-CN" altLang="en-US" sz="2000" b="1" dirty="0"/>
              <a:t>真值表</a:t>
            </a:r>
          </a:p>
        </p:txBody>
      </p:sp>
      <p:pic>
        <p:nvPicPr>
          <p:cNvPr id="1433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67459" y="2852936"/>
            <a:ext cx="2636619" cy="2700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4339" name="Picture 3" descr="E:\wrj\课件\数字电路与系统\数字电路与数字系统\tupian\4-24.jp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067944" y="2502188"/>
            <a:ext cx="4600800" cy="3888000"/>
          </a:xfrm>
          <a:prstGeom prst="rect">
            <a:avLst/>
          </a:prstGeom>
          <a:noFill/>
          <a:extLst>
            <a:ext uri="{909E8E84-426E-40DD-AFC4-6F175D3DCCD1}">
              <a14:hiddenFill xmlns:a14="http://schemas.microsoft.com/office/drawing/2010/main" xmlns="">
                <a:solidFill>
                  <a:srgbClr val="FFFFFF"/>
                </a:solidFill>
              </a14:hiddenFill>
            </a:ext>
          </a:extLst>
        </p:spPr>
      </p:pic>
      <p:pic>
        <p:nvPicPr>
          <p:cNvPr id="8" name="Picture 3"/>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153896" y="6210188"/>
            <a:ext cx="4300364" cy="360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TextBox 5"/>
          <p:cNvSpPr txBox="1"/>
          <p:nvPr/>
        </p:nvSpPr>
        <p:spPr>
          <a:xfrm>
            <a:off x="5405088" y="6199576"/>
            <a:ext cx="480868" cy="369332"/>
          </a:xfrm>
          <a:prstGeom prst="rect">
            <a:avLst/>
          </a:prstGeom>
          <a:noFill/>
        </p:spPr>
        <p:txBody>
          <a:bodyPr wrap="none" rtlCol="0">
            <a:spAutoFit/>
          </a:bodyPr>
          <a:lstStyle/>
          <a:p>
            <a:r>
              <a:rPr lang="zh-CN" altLang="en-US" b="1" dirty="0" smtClean="0"/>
              <a:t>）</a:t>
            </a:r>
            <a:r>
              <a:rPr lang="en-US" altLang="zh-CN" b="1" dirty="0" smtClean="0"/>
              <a:t>ST</a:t>
            </a:r>
            <a:endParaRPr lang="zh-CN" altLang="en-US" b="1" dirty="0"/>
          </a:p>
        </p:txBody>
      </p:sp>
      <p:sp>
        <p:nvSpPr>
          <p:cNvPr id="7" name="TextBox 6"/>
          <p:cNvSpPr txBox="1"/>
          <p:nvPr/>
        </p:nvSpPr>
        <p:spPr>
          <a:xfrm>
            <a:off x="1372584" y="6178952"/>
            <a:ext cx="415498" cy="369332"/>
          </a:xfrm>
          <a:prstGeom prst="rect">
            <a:avLst/>
          </a:prstGeom>
          <a:noFill/>
        </p:spPr>
        <p:txBody>
          <a:bodyPr wrap="none" rtlCol="0">
            <a:spAutoFit/>
          </a:bodyPr>
          <a:lstStyle/>
          <a:p>
            <a:r>
              <a:rPr lang="zh-CN" altLang="en-US" b="1" dirty="0" smtClean="0"/>
              <a:t>（</a:t>
            </a:r>
            <a:endParaRPr lang="zh-CN" altLang="en-US" b="1" dirty="0"/>
          </a:p>
        </p:txBody>
      </p:sp>
    </p:spTree>
    <p:extLst>
      <p:ext uri="{BB962C8B-B14F-4D97-AF65-F5344CB8AC3E}">
        <p14:creationId xmlns:p14="http://schemas.microsoft.com/office/powerpoint/2010/main" xmlns="" val="796526851"/>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92696"/>
            <a:ext cx="7617022" cy="566936"/>
          </a:xfrm>
        </p:spPr>
        <p:txBody>
          <a:bodyPr/>
          <a:lstStyle/>
          <a:p>
            <a:r>
              <a:rPr lang="en-US" altLang="zh-CN" dirty="0" smtClean="0"/>
              <a:t>4.5 </a:t>
            </a:r>
            <a:r>
              <a:rPr lang="zh-CN" altLang="en-US" dirty="0" smtClean="0"/>
              <a:t>数据</a:t>
            </a:r>
            <a:r>
              <a:rPr lang="zh-CN" altLang="en-US" dirty="0"/>
              <a:t>选择器（ </a:t>
            </a:r>
            <a:r>
              <a:rPr lang="en-US" altLang="zh-CN" dirty="0"/>
              <a:t>Multiplexer </a:t>
            </a:r>
            <a:r>
              <a:rPr lang="zh-CN" altLang="en-US" dirty="0" smtClean="0"/>
              <a:t>）</a:t>
            </a:r>
            <a:endParaRPr lang="zh-CN" altLang="en-US" dirty="0"/>
          </a:p>
        </p:txBody>
      </p:sp>
      <p:sp>
        <p:nvSpPr>
          <p:cNvPr id="3" name="内容占位符 2"/>
          <p:cNvSpPr>
            <a:spLocks noGrp="1"/>
          </p:cNvSpPr>
          <p:nvPr>
            <p:ph idx="1"/>
          </p:nvPr>
        </p:nvSpPr>
        <p:spPr>
          <a:xfrm>
            <a:off x="539552" y="1340768"/>
            <a:ext cx="8161338" cy="4911128"/>
          </a:xfrm>
          <a:solidFill>
            <a:schemeClr val="bg1"/>
          </a:solidFill>
        </p:spPr>
        <p:txBody>
          <a:bodyPr/>
          <a:lstStyle/>
          <a:p>
            <a:pPr>
              <a:lnSpc>
                <a:spcPct val="100000"/>
              </a:lnSpc>
              <a:spcBef>
                <a:spcPts val="600"/>
              </a:spcBef>
              <a:buSzPct val="100000"/>
              <a:buFont typeface="Wingdings" pitchFamily="2" charset="2"/>
              <a:buChar char="p"/>
            </a:pPr>
            <a:r>
              <a:rPr lang="zh-CN" altLang="en-US" sz="2800" dirty="0"/>
              <a:t>八选一数据选择器</a:t>
            </a:r>
            <a:r>
              <a:rPr lang="en-US" altLang="zh-CN" sz="2800" dirty="0" smtClean="0"/>
              <a:t>74151</a:t>
            </a:r>
            <a:endParaRPr lang="en-US" altLang="zh-CN" sz="2800" dirty="0"/>
          </a:p>
          <a:p>
            <a:pPr lvl="1">
              <a:lnSpc>
                <a:spcPct val="100000"/>
              </a:lnSpc>
              <a:spcBef>
                <a:spcPts val="600"/>
              </a:spcBef>
              <a:buSzPct val="100000"/>
            </a:pPr>
            <a:r>
              <a:rPr lang="zh-CN" altLang="en-US" dirty="0" smtClean="0"/>
              <a:t>八</a:t>
            </a:r>
            <a:r>
              <a:rPr lang="zh-CN" altLang="en-US" dirty="0"/>
              <a:t>选一</a:t>
            </a:r>
            <a:r>
              <a:rPr lang="en-US" altLang="zh-CN" dirty="0"/>
              <a:t>MUX</a:t>
            </a:r>
            <a:r>
              <a:rPr lang="zh-CN" altLang="en-US" dirty="0"/>
              <a:t>需要</a:t>
            </a:r>
            <a:r>
              <a:rPr lang="en-US" altLang="zh-CN" dirty="0"/>
              <a:t>3</a:t>
            </a:r>
            <a:r>
              <a:rPr lang="zh-CN" altLang="en-US" dirty="0"/>
              <a:t>个选择输入端，</a:t>
            </a:r>
            <a:r>
              <a:rPr lang="en-US" altLang="zh-CN" dirty="0"/>
              <a:t>8</a:t>
            </a:r>
            <a:r>
              <a:rPr lang="zh-CN" altLang="en-US" dirty="0"/>
              <a:t>个数据输入端，并有互补的原码和反码两种输出形式。</a:t>
            </a:r>
          </a:p>
          <a:p>
            <a:pPr lvl="1">
              <a:lnSpc>
                <a:spcPct val="100000"/>
              </a:lnSpc>
              <a:spcBef>
                <a:spcPts val="600"/>
              </a:spcBef>
              <a:buSzPct val="100000"/>
            </a:pPr>
            <a:r>
              <a:rPr lang="en-US" altLang="zh-CN" dirty="0" smtClean="0"/>
              <a:t>74151</a:t>
            </a:r>
            <a:r>
              <a:rPr lang="zh-CN" altLang="en-US" dirty="0"/>
              <a:t>的惯用逻辑符号和真值表如下所示：</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106</a:t>
            </a:fld>
            <a:endParaRPr lang="zh-CN" altLang="en-US"/>
          </a:p>
        </p:txBody>
      </p:sp>
      <p:sp>
        <p:nvSpPr>
          <p:cNvPr id="5" name="Text Box 8"/>
          <p:cNvSpPr txBox="1">
            <a:spLocks noChangeArrowheads="1"/>
          </p:cNvSpPr>
          <p:nvPr/>
        </p:nvSpPr>
        <p:spPr bwMode="auto">
          <a:xfrm>
            <a:off x="539750" y="6447234"/>
            <a:ext cx="4105275"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kumimoji="1" lang="zh-CN" altLang="en-US" b="1" dirty="0" smtClean="0">
                <a:solidFill>
                  <a:srgbClr val="000000"/>
                </a:solidFill>
                <a:latin typeface="楷体_GB2312" pitchFamily="49" charset="-122"/>
                <a:ea typeface="楷体_GB2312" pitchFamily="49" charset="-122"/>
              </a:rPr>
              <a:t>图</a:t>
            </a:r>
            <a:r>
              <a:rPr kumimoji="1" lang="en-US" altLang="zh-CN" b="1" dirty="0" smtClean="0">
                <a:solidFill>
                  <a:srgbClr val="000000"/>
                </a:solidFill>
                <a:latin typeface="楷体_GB2312" pitchFamily="49" charset="-122"/>
                <a:ea typeface="楷体_GB2312" pitchFamily="49" charset="-122"/>
              </a:rPr>
              <a:t>   74151</a:t>
            </a:r>
            <a:r>
              <a:rPr kumimoji="1" lang="zh-CN" altLang="en-US" b="1" dirty="0" smtClean="0">
                <a:solidFill>
                  <a:srgbClr val="000000"/>
                </a:solidFill>
                <a:latin typeface="楷体_GB2312" pitchFamily="49" charset="-122"/>
                <a:ea typeface="楷体_GB2312" pitchFamily="49" charset="-122"/>
              </a:rPr>
              <a:t>惯用逻辑符号</a:t>
            </a:r>
          </a:p>
        </p:txBody>
      </p:sp>
      <p:sp>
        <p:nvSpPr>
          <p:cNvPr id="6" name="Text Box 9"/>
          <p:cNvSpPr txBox="1">
            <a:spLocks noChangeArrowheads="1"/>
          </p:cNvSpPr>
          <p:nvPr/>
        </p:nvSpPr>
        <p:spPr bwMode="auto">
          <a:xfrm>
            <a:off x="4932040" y="2996952"/>
            <a:ext cx="3195637"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gn="ctr" fontAlgn="base">
              <a:spcBef>
                <a:spcPct val="50000"/>
              </a:spcBef>
              <a:spcAft>
                <a:spcPct val="0"/>
              </a:spcAft>
            </a:pPr>
            <a:r>
              <a:rPr kumimoji="1" lang="zh-CN" altLang="en-US" sz="2000" b="1" dirty="0" smtClean="0">
                <a:solidFill>
                  <a:srgbClr val="000000"/>
                </a:solidFill>
                <a:latin typeface="楷体_GB2312" pitchFamily="49" charset="-122"/>
                <a:ea typeface="楷体_GB2312" pitchFamily="49" charset="-122"/>
              </a:rPr>
              <a:t>表</a:t>
            </a:r>
            <a:r>
              <a:rPr kumimoji="1" lang="en-US" altLang="zh-CN" sz="2000" b="1" dirty="0" smtClean="0">
                <a:solidFill>
                  <a:srgbClr val="000000"/>
                </a:solidFill>
                <a:latin typeface="楷体_GB2312" pitchFamily="49" charset="-122"/>
                <a:ea typeface="楷体_GB2312" pitchFamily="49" charset="-122"/>
              </a:rPr>
              <a:t>  74151</a:t>
            </a:r>
            <a:r>
              <a:rPr kumimoji="1" lang="zh-CN" altLang="en-US" sz="2000" b="1" dirty="0" smtClean="0">
                <a:solidFill>
                  <a:srgbClr val="000000"/>
                </a:solidFill>
                <a:latin typeface="楷体_GB2312" pitchFamily="49" charset="-122"/>
                <a:ea typeface="楷体_GB2312" pitchFamily="49" charset="-122"/>
              </a:rPr>
              <a:t>真值表</a:t>
            </a:r>
          </a:p>
        </p:txBody>
      </p:sp>
      <p:pic>
        <p:nvPicPr>
          <p:cNvPr id="7" name="Picture 10" descr="3-3-15"/>
          <p:cNvPicPr>
            <a:picLocks noChangeAspect="1" noChangeArrowheads="1"/>
          </p:cNvPicPr>
          <p:nvPr/>
        </p:nvPicPr>
        <p:blipFill>
          <a:blip r:embed="rId2" cstate="print">
            <a:clrChange>
              <a:clrFrom>
                <a:srgbClr val="F8F9F3"/>
              </a:clrFrom>
              <a:clrTo>
                <a:srgbClr val="F8F9F3">
                  <a:alpha val="0"/>
                </a:srgbClr>
              </a:clrTo>
            </a:clrChange>
            <a:lum bright="-12000" contrast="48000"/>
            <a:extLst>
              <a:ext uri="{28A0092B-C50C-407E-A947-70E740481C1C}">
                <a14:useLocalDpi xmlns:a14="http://schemas.microsoft.com/office/drawing/2010/main" xmlns="" val="0"/>
              </a:ext>
            </a:extLst>
          </a:blip>
          <a:srcRect/>
          <a:stretch>
            <a:fillRect/>
          </a:stretch>
        </p:blipFill>
        <p:spPr bwMode="auto">
          <a:xfrm>
            <a:off x="706624" y="3284984"/>
            <a:ext cx="3507611" cy="3159075"/>
          </a:xfrm>
          <a:prstGeom prst="rect">
            <a:avLst/>
          </a:prstGeom>
          <a:noFill/>
          <a:extLst>
            <a:ext uri="{909E8E84-426E-40DD-AFC4-6F175D3DCCD1}">
              <a14:hiddenFill xmlns:a14="http://schemas.microsoft.com/office/drawing/2010/main" xmlns="">
                <a:solidFill>
                  <a:srgbClr val="FFFFFF"/>
                </a:solidFill>
              </a14:hiddenFill>
            </a:ext>
          </a:extLst>
        </p:spPr>
      </p:pic>
      <p:pic>
        <p:nvPicPr>
          <p:cNvPr id="8" name="Picture 11" descr="b3-3-7"/>
          <p:cNvPicPr>
            <a:picLocks noChangeAspect="1" noChangeArrowheads="1"/>
          </p:cNvPicPr>
          <p:nvPr/>
        </p:nvPicPr>
        <p:blipFill>
          <a:blip r:embed="rId3" cstate="print">
            <a:clrChange>
              <a:clrFrom>
                <a:srgbClr val="FDFEF6"/>
              </a:clrFrom>
              <a:clrTo>
                <a:srgbClr val="FDFEF6">
                  <a:alpha val="0"/>
                </a:srgbClr>
              </a:clrTo>
            </a:clrChange>
            <a:lum bright="-18000" contrast="54000"/>
            <a:extLst>
              <a:ext uri="{28A0092B-C50C-407E-A947-70E740481C1C}">
                <a14:useLocalDpi xmlns:a14="http://schemas.microsoft.com/office/drawing/2010/main" xmlns="" val="0"/>
              </a:ext>
            </a:extLst>
          </a:blip>
          <a:srcRect/>
          <a:stretch>
            <a:fillRect/>
          </a:stretch>
        </p:blipFill>
        <p:spPr bwMode="auto">
          <a:xfrm>
            <a:off x="4427984" y="3356992"/>
            <a:ext cx="4445129" cy="3384376"/>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352691463"/>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92696"/>
            <a:ext cx="7545014" cy="566936"/>
          </a:xfrm>
        </p:spPr>
        <p:txBody>
          <a:bodyPr/>
          <a:lstStyle/>
          <a:p>
            <a:r>
              <a:rPr lang="en-US" altLang="zh-CN" dirty="0" smtClean="0"/>
              <a:t>4.5 </a:t>
            </a:r>
            <a:r>
              <a:rPr lang="zh-CN" altLang="en-US" dirty="0" smtClean="0"/>
              <a:t>数据</a:t>
            </a:r>
            <a:r>
              <a:rPr lang="zh-CN" altLang="en-US" dirty="0"/>
              <a:t>选择器（ </a:t>
            </a:r>
            <a:r>
              <a:rPr lang="en-US" altLang="zh-CN" dirty="0"/>
              <a:t>Multiplexer </a:t>
            </a:r>
            <a:r>
              <a:rPr lang="zh-CN" altLang="en-US" dirty="0" smtClean="0"/>
              <a:t>）</a:t>
            </a:r>
            <a:endParaRPr lang="zh-CN" altLang="en-US" dirty="0"/>
          </a:p>
        </p:txBody>
      </p:sp>
      <p:sp>
        <p:nvSpPr>
          <p:cNvPr id="3" name="内容占位符 2"/>
          <p:cNvSpPr>
            <a:spLocks noGrp="1"/>
          </p:cNvSpPr>
          <p:nvPr>
            <p:ph idx="1"/>
          </p:nvPr>
        </p:nvSpPr>
        <p:spPr/>
        <p:txBody>
          <a:bodyPr/>
          <a:lstStyle/>
          <a:p>
            <a:pPr lvl="1">
              <a:buSzPct val="100000"/>
            </a:pPr>
            <a:r>
              <a:rPr lang="en-US" altLang="zh-CN" sz="2400" dirty="0" smtClean="0"/>
              <a:t>【</a:t>
            </a:r>
            <a:r>
              <a:rPr lang="zh-CN" altLang="en-US" sz="2400" dirty="0" smtClean="0"/>
              <a:t>例</a:t>
            </a:r>
            <a:r>
              <a:rPr lang="en-US" altLang="zh-CN" sz="2400" dirty="0" smtClean="0"/>
              <a:t> 】</a:t>
            </a:r>
            <a:r>
              <a:rPr lang="zh-CN" altLang="en-US" sz="2400" dirty="0"/>
              <a:t>试用一片</a:t>
            </a:r>
            <a:r>
              <a:rPr lang="en-US" altLang="zh-CN" sz="2400" dirty="0"/>
              <a:t>74151</a:t>
            </a:r>
            <a:r>
              <a:rPr lang="zh-CN" altLang="en-US" sz="2400" dirty="0"/>
              <a:t>实现逻辑函数</a:t>
            </a:r>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107</a:t>
            </a:fld>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xmlns="" val="1953635667"/>
              </p:ext>
            </p:extLst>
          </p:nvPr>
        </p:nvGraphicFramePr>
        <p:xfrm>
          <a:off x="1259632" y="1988840"/>
          <a:ext cx="6697662" cy="541338"/>
        </p:xfrm>
        <a:graphic>
          <a:graphicData uri="http://schemas.openxmlformats.org/presentationml/2006/ole">
            <p:oleObj spid="_x0000_s16610" name="公式" r:id="rId3" imgW="2984500" imgH="241300" progId="">
              <p:embed/>
            </p:oleObj>
          </a:graphicData>
        </a:graphic>
      </p:graphicFrame>
      <p:pic>
        <p:nvPicPr>
          <p:cNvPr id="6" name="Picture 9" descr="3-3-20a"/>
          <p:cNvPicPr>
            <a:picLocks noChangeAspect="1" noChangeArrowheads="1"/>
          </p:cNvPicPr>
          <p:nvPr/>
        </p:nvPicPr>
        <p:blipFill>
          <a:blip r:embed="rId4" cstate="print">
            <a:clrChange>
              <a:clrFrom>
                <a:srgbClr val="F7F8F0"/>
              </a:clrFrom>
              <a:clrTo>
                <a:srgbClr val="F7F8F0">
                  <a:alpha val="0"/>
                </a:srgbClr>
              </a:clrTo>
            </a:clrChange>
            <a:lum contrast="18000"/>
            <a:extLst>
              <a:ext uri="{28A0092B-C50C-407E-A947-70E740481C1C}">
                <a14:useLocalDpi xmlns:a14="http://schemas.microsoft.com/office/drawing/2010/main" xmlns="" val="0"/>
              </a:ext>
            </a:extLst>
          </a:blip>
          <a:srcRect/>
          <a:stretch>
            <a:fillRect/>
          </a:stretch>
        </p:blipFill>
        <p:spPr bwMode="auto">
          <a:xfrm>
            <a:off x="826019" y="3356992"/>
            <a:ext cx="3241155" cy="1414041"/>
          </a:xfrm>
          <a:prstGeom prst="rect">
            <a:avLst/>
          </a:prstGeom>
          <a:noFill/>
          <a:extLst>
            <a:ext uri="{909E8E84-426E-40DD-AFC4-6F175D3DCCD1}">
              <a14:hiddenFill xmlns:a14="http://schemas.microsoft.com/office/drawing/2010/main" xmlns="">
                <a:solidFill>
                  <a:srgbClr val="FFFFFF"/>
                </a:solidFill>
              </a14:hiddenFill>
            </a:ext>
          </a:extLst>
        </p:spPr>
      </p:pic>
      <p:pic>
        <p:nvPicPr>
          <p:cNvPr id="7" name="Picture 10" descr="3-3-20b"/>
          <p:cNvPicPr>
            <a:picLocks noChangeAspect="1" noChangeArrowheads="1"/>
          </p:cNvPicPr>
          <p:nvPr/>
        </p:nvPicPr>
        <p:blipFill>
          <a:blip r:embed="rId5" cstate="print">
            <a:clrChange>
              <a:clrFrom>
                <a:srgbClr val="FBFCF6"/>
              </a:clrFrom>
              <a:clrTo>
                <a:srgbClr val="FBFCF6">
                  <a:alpha val="0"/>
                </a:srgbClr>
              </a:clrTo>
            </a:clrChange>
            <a:lum contrast="24000"/>
            <a:extLst>
              <a:ext uri="{28A0092B-C50C-407E-A947-70E740481C1C}">
                <a14:useLocalDpi xmlns:a14="http://schemas.microsoft.com/office/drawing/2010/main" xmlns="" val="0"/>
              </a:ext>
            </a:extLst>
          </a:blip>
          <a:srcRect/>
          <a:stretch>
            <a:fillRect/>
          </a:stretch>
        </p:blipFill>
        <p:spPr bwMode="auto">
          <a:xfrm>
            <a:off x="4500563" y="2655116"/>
            <a:ext cx="3527821" cy="3116392"/>
          </a:xfrm>
          <a:prstGeom prst="rect">
            <a:avLst/>
          </a:prstGeom>
          <a:noFill/>
          <a:extLst>
            <a:ext uri="{909E8E84-426E-40DD-AFC4-6F175D3DCCD1}">
              <a14:hiddenFill xmlns:a14="http://schemas.microsoft.com/office/drawing/2010/main" xmlns="">
                <a:solidFill>
                  <a:srgbClr val="FFFFFF"/>
                </a:solidFill>
              </a14:hiddenFill>
            </a:ext>
          </a:extLst>
        </p:spPr>
      </p:pic>
      <p:sp>
        <p:nvSpPr>
          <p:cNvPr id="8" name="Text Box 11"/>
          <p:cNvSpPr txBox="1">
            <a:spLocks noChangeArrowheads="1"/>
          </p:cNvSpPr>
          <p:nvPr/>
        </p:nvSpPr>
        <p:spPr bwMode="auto">
          <a:xfrm>
            <a:off x="899592" y="5229200"/>
            <a:ext cx="3386138"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kumimoji="1" lang="zh-CN" altLang="en-US" sz="2000" b="1" smtClean="0">
                <a:solidFill>
                  <a:srgbClr val="000000"/>
                </a:solidFill>
                <a:latin typeface="楷体_GB2312" pitchFamily="49" charset="-122"/>
                <a:ea typeface="楷体_GB2312" pitchFamily="49" charset="-122"/>
              </a:rPr>
              <a:t>（</a:t>
            </a:r>
            <a:r>
              <a:rPr kumimoji="1" lang="en-US" altLang="zh-CN" sz="2000" b="1" smtClean="0">
                <a:solidFill>
                  <a:srgbClr val="000000"/>
                </a:solidFill>
                <a:latin typeface="楷体_GB2312" pitchFamily="49" charset="-122"/>
                <a:ea typeface="楷体_GB2312" pitchFamily="49" charset="-122"/>
              </a:rPr>
              <a:t>a</a:t>
            </a:r>
            <a:r>
              <a:rPr kumimoji="1" lang="zh-CN" altLang="en-US" sz="2000" b="1" smtClean="0">
                <a:solidFill>
                  <a:srgbClr val="000000"/>
                </a:solidFill>
                <a:latin typeface="楷体_GB2312" pitchFamily="49" charset="-122"/>
                <a:ea typeface="楷体_GB2312" pitchFamily="49" charset="-122"/>
              </a:rPr>
              <a:t>） 引入变量的卡诺图</a:t>
            </a:r>
          </a:p>
        </p:txBody>
      </p:sp>
      <p:sp>
        <p:nvSpPr>
          <p:cNvPr id="9" name="Text Box 12"/>
          <p:cNvSpPr txBox="1">
            <a:spLocks noChangeArrowheads="1"/>
          </p:cNvSpPr>
          <p:nvPr/>
        </p:nvSpPr>
        <p:spPr bwMode="auto">
          <a:xfrm>
            <a:off x="4788024" y="5805264"/>
            <a:ext cx="3386138"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kumimoji="1" lang="zh-CN" altLang="en-US" sz="2000" b="1" dirty="0" smtClean="0">
                <a:solidFill>
                  <a:srgbClr val="000000"/>
                </a:solidFill>
                <a:latin typeface="楷体_GB2312" pitchFamily="49" charset="-122"/>
                <a:ea typeface="楷体_GB2312" pitchFamily="49" charset="-122"/>
              </a:rPr>
              <a:t>（</a:t>
            </a:r>
            <a:r>
              <a:rPr kumimoji="1" lang="en-US" altLang="zh-CN" sz="2000" b="1" dirty="0" smtClean="0">
                <a:solidFill>
                  <a:srgbClr val="000000"/>
                </a:solidFill>
                <a:latin typeface="楷体_GB2312" pitchFamily="49" charset="-122"/>
                <a:ea typeface="楷体_GB2312" pitchFamily="49" charset="-122"/>
              </a:rPr>
              <a:t>b</a:t>
            </a:r>
            <a:r>
              <a:rPr kumimoji="1" lang="zh-CN" altLang="en-US" sz="2000" b="1" dirty="0" smtClean="0">
                <a:solidFill>
                  <a:srgbClr val="000000"/>
                </a:solidFill>
                <a:latin typeface="楷体_GB2312" pitchFamily="49" charset="-122"/>
                <a:ea typeface="楷体_GB2312" pitchFamily="49" charset="-122"/>
              </a:rPr>
              <a:t>） 逻辑图</a:t>
            </a:r>
          </a:p>
        </p:txBody>
      </p:sp>
      <p:sp>
        <p:nvSpPr>
          <p:cNvPr id="10" name="Text Box 8"/>
          <p:cNvSpPr txBox="1">
            <a:spLocks noChangeArrowheads="1"/>
          </p:cNvSpPr>
          <p:nvPr/>
        </p:nvSpPr>
        <p:spPr bwMode="auto">
          <a:xfrm>
            <a:off x="2195736" y="6237312"/>
            <a:ext cx="4105275"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kumimoji="1" lang="zh-CN" altLang="en-US" sz="2000" b="1" dirty="0" smtClean="0">
                <a:solidFill>
                  <a:srgbClr val="000000"/>
                </a:solidFill>
                <a:latin typeface="楷体_GB2312" pitchFamily="49" charset="-122"/>
                <a:ea typeface="楷体_GB2312" pitchFamily="49" charset="-122"/>
              </a:rPr>
              <a:t>图</a:t>
            </a:r>
            <a:r>
              <a:rPr kumimoji="1" lang="en-US" altLang="zh-CN" sz="2000" b="1" dirty="0" smtClean="0">
                <a:solidFill>
                  <a:srgbClr val="000000"/>
                </a:solidFill>
                <a:latin typeface="楷体_GB2312" pitchFamily="49" charset="-122"/>
                <a:ea typeface="楷体_GB2312" pitchFamily="49" charset="-122"/>
              </a:rPr>
              <a:t>  </a:t>
            </a:r>
            <a:r>
              <a:rPr kumimoji="1" lang="zh-CN" altLang="en-US" sz="2000" b="1" dirty="0" smtClean="0">
                <a:solidFill>
                  <a:srgbClr val="000000"/>
                </a:solidFill>
                <a:latin typeface="楷体_GB2312" pitchFamily="49" charset="-122"/>
                <a:ea typeface="楷体_GB2312" pitchFamily="49" charset="-122"/>
              </a:rPr>
              <a:t>用</a:t>
            </a:r>
            <a:r>
              <a:rPr kumimoji="1" lang="en-US" altLang="zh-CN" sz="2000" b="1" dirty="0" smtClean="0">
                <a:solidFill>
                  <a:srgbClr val="000000"/>
                </a:solidFill>
                <a:latin typeface="楷体_GB2312" pitchFamily="49" charset="-122"/>
                <a:ea typeface="楷体_GB2312" pitchFamily="49" charset="-122"/>
              </a:rPr>
              <a:t>74151</a:t>
            </a:r>
            <a:r>
              <a:rPr kumimoji="1" lang="zh-CN" altLang="en-US" sz="2000" b="1" dirty="0" smtClean="0">
                <a:solidFill>
                  <a:srgbClr val="000000"/>
                </a:solidFill>
                <a:latin typeface="楷体_GB2312" pitchFamily="49" charset="-122"/>
                <a:ea typeface="楷体_GB2312" pitchFamily="49" charset="-122"/>
              </a:rPr>
              <a:t>实现逻辑函数</a:t>
            </a:r>
          </a:p>
        </p:txBody>
      </p:sp>
    </p:spTree>
    <p:extLst>
      <p:ext uri="{BB962C8B-B14F-4D97-AF65-F5344CB8AC3E}">
        <p14:creationId xmlns:p14="http://schemas.microsoft.com/office/powerpoint/2010/main" xmlns="" val="3467732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20688"/>
            <a:ext cx="7473006" cy="638944"/>
          </a:xfrm>
        </p:spPr>
        <p:txBody>
          <a:bodyPr/>
          <a:lstStyle/>
          <a:p>
            <a:r>
              <a:rPr lang="en-US" altLang="zh-CN" dirty="0" smtClean="0"/>
              <a:t>4.5 </a:t>
            </a:r>
            <a:r>
              <a:rPr lang="zh-CN" altLang="en-US" dirty="0" smtClean="0"/>
              <a:t>数据</a:t>
            </a:r>
            <a:r>
              <a:rPr lang="zh-CN" altLang="en-US" dirty="0"/>
              <a:t>选择器（ </a:t>
            </a:r>
            <a:r>
              <a:rPr lang="en-US" altLang="zh-CN" dirty="0"/>
              <a:t>Multiplexer </a:t>
            </a:r>
            <a:r>
              <a:rPr lang="zh-CN" altLang="en-US" dirty="0"/>
              <a:t>）</a:t>
            </a:r>
          </a:p>
        </p:txBody>
      </p:sp>
      <p:sp>
        <p:nvSpPr>
          <p:cNvPr id="3" name="内容占位符 2"/>
          <p:cNvSpPr>
            <a:spLocks noGrp="1"/>
          </p:cNvSpPr>
          <p:nvPr>
            <p:ph idx="1"/>
          </p:nvPr>
        </p:nvSpPr>
        <p:spPr>
          <a:xfrm>
            <a:off x="467544" y="1542208"/>
            <a:ext cx="8280920" cy="4911128"/>
          </a:xfrm>
        </p:spPr>
        <p:txBody>
          <a:bodyPr/>
          <a:lstStyle/>
          <a:p>
            <a:pPr>
              <a:lnSpc>
                <a:spcPct val="100000"/>
              </a:lnSpc>
              <a:spcBef>
                <a:spcPts val="600"/>
              </a:spcBef>
              <a:buSzPct val="100000"/>
              <a:buFont typeface="Wingdings" pitchFamily="2" charset="2"/>
              <a:buChar char="p"/>
            </a:pPr>
            <a:r>
              <a:rPr lang="zh-CN" altLang="en-US" sz="2800" dirty="0" smtClean="0"/>
              <a:t>用</a:t>
            </a:r>
            <a:r>
              <a:rPr lang="zh-CN" altLang="en-US" sz="2800" dirty="0"/>
              <a:t>数据选择器设计组合逻辑电路</a:t>
            </a:r>
          </a:p>
          <a:p>
            <a:pPr lvl="1">
              <a:lnSpc>
                <a:spcPct val="100000"/>
              </a:lnSpc>
              <a:spcBef>
                <a:spcPts val="600"/>
              </a:spcBef>
              <a:buSzPct val="100000"/>
            </a:pPr>
            <a:r>
              <a:rPr lang="zh-CN" altLang="en-US" sz="2400" dirty="0"/>
              <a:t>原理：若逻辑函数变量的数目与数据选择器选择</a:t>
            </a:r>
            <a:r>
              <a:rPr lang="zh-CN" altLang="en-US" sz="2400" dirty="0" smtClean="0"/>
              <a:t>输入端的</a:t>
            </a:r>
            <a:r>
              <a:rPr lang="zh-CN" altLang="en-US" sz="2400" dirty="0"/>
              <a:t>数目相等，则函数</a:t>
            </a:r>
            <a:r>
              <a:rPr lang="zh-CN" altLang="en-US" sz="2400" dirty="0">
                <a:solidFill>
                  <a:srgbClr val="0000CC"/>
                </a:solidFill>
              </a:rPr>
              <a:t>最小项的数目</a:t>
            </a:r>
            <a:r>
              <a:rPr lang="zh-CN" altLang="en-US" sz="2400" dirty="0"/>
              <a:t>就与</a:t>
            </a:r>
            <a:r>
              <a:rPr lang="zh-CN" altLang="en-US" sz="2400" dirty="0">
                <a:solidFill>
                  <a:srgbClr val="0000CC"/>
                </a:solidFill>
              </a:rPr>
              <a:t>数据选择器</a:t>
            </a:r>
            <a:r>
              <a:rPr lang="zh-CN" altLang="en-US" sz="2400" dirty="0" smtClean="0">
                <a:solidFill>
                  <a:srgbClr val="0000CC"/>
                </a:solidFill>
              </a:rPr>
              <a:t>输入端</a:t>
            </a:r>
            <a:r>
              <a:rPr lang="zh-CN" altLang="en-US" sz="2400" dirty="0" smtClean="0"/>
              <a:t>的</a:t>
            </a:r>
            <a:r>
              <a:rPr lang="zh-CN" altLang="en-US" sz="2400" dirty="0">
                <a:solidFill>
                  <a:srgbClr val="005DA2"/>
                </a:solidFill>
              </a:rPr>
              <a:t>数目相同</a:t>
            </a:r>
            <a:r>
              <a:rPr lang="zh-CN" altLang="en-US" sz="2400" dirty="0"/>
              <a:t>，这样</a:t>
            </a:r>
            <a:r>
              <a:rPr lang="zh-CN" altLang="en-US" sz="2400" dirty="0" smtClean="0"/>
              <a:t>可直接</a:t>
            </a:r>
            <a:r>
              <a:rPr lang="zh-CN" altLang="en-US" sz="2400" dirty="0"/>
              <a:t>用数据选择器实现逻辑函数</a:t>
            </a:r>
            <a:r>
              <a:rPr lang="zh-CN" altLang="en-US" sz="2400" dirty="0" smtClean="0"/>
              <a:t>。</a:t>
            </a:r>
            <a:endParaRPr lang="en-US" altLang="zh-CN" sz="2400" dirty="0" smtClean="0"/>
          </a:p>
          <a:p>
            <a:pPr lvl="1">
              <a:lnSpc>
                <a:spcPct val="100000"/>
              </a:lnSpc>
              <a:spcBef>
                <a:spcPts val="600"/>
              </a:spcBef>
              <a:buSzPct val="100000"/>
            </a:pPr>
            <a:r>
              <a:rPr lang="en-US" altLang="zh-CN" sz="2400" dirty="0"/>
              <a:t>【</a:t>
            </a:r>
            <a:r>
              <a:rPr lang="zh-CN" altLang="en-US" sz="2400" dirty="0" smtClean="0"/>
              <a:t>例</a:t>
            </a:r>
            <a:r>
              <a:rPr lang="en-US" altLang="zh-CN" sz="2400" dirty="0" smtClean="0"/>
              <a:t>】</a:t>
            </a:r>
            <a:r>
              <a:rPr lang="zh-CN" altLang="en-US" sz="2400" dirty="0"/>
              <a:t>试用</a:t>
            </a:r>
            <a:r>
              <a:rPr lang="en-US" altLang="zh-CN" sz="2400" dirty="0"/>
              <a:t>74151</a:t>
            </a:r>
            <a:r>
              <a:rPr lang="zh-CN" altLang="en-US" sz="2400" dirty="0"/>
              <a:t>实现逻辑函数</a:t>
            </a:r>
            <a:r>
              <a:rPr lang="en-US" altLang="zh-CN" sz="2400" dirty="0"/>
              <a:t>F(A,B,C)=AB+AC+BC</a:t>
            </a:r>
          </a:p>
          <a:p>
            <a:pPr marL="914400" lvl="2" indent="0">
              <a:lnSpc>
                <a:spcPct val="100000"/>
              </a:lnSpc>
              <a:spcBef>
                <a:spcPts val="600"/>
              </a:spcBef>
              <a:buNone/>
            </a:pPr>
            <a:r>
              <a:rPr lang="zh-CN" altLang="en-US" sz="2400" dirty="0"/>
              <a:t>解</a:t>
            </a:r>
            <a:r>
              <a:rPr lang="en-US" altLang="zh-CN" sz="2400" dirty="0" smtClean="0"/>
              <a:t>: </a:t>
            </a:r>
            <a:r>
              <a:rPr lang="zh-CN" altLang="en-US" sz="2400" dirty="0" smtClean="0"/>
              <a:t>首先</a:t>
            </a:r>
            <a:r>
              <a:rPr lang="zh-CN" altLang="en-US" sz="2400" dirty="0"/>
              <a:t>将逻辑函数化成标准最小式之和：</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108</a:t>
            </a:fld>
            <a:endParaRPr lang="zh-CN" altLang="en-US"/>
          </a:p>
        </p:txBody>
      </p:sp>
      <p:pic>
        <p:nvPicPr>
          <p:cNvPr id="3174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979712" y="4653136"/>
            <a:ext cx="6161826" cy="1800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620055209"/>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20688"/>
            <a:ext cx="7545014" cy="638944"/>
          </a:xfrm>
        </p:spPr>
        <p:txBody>
          <a:bodyPr/>
          <a:lstStyle/>
          <a:p>
            <a:r>
              <a:rPr lang="en-US" altLang="zh-CN" dirty="0" smtClean="0"/>
              <a:t>4.5 </a:t>
            </a:r>
            <a:r>
              <a:rPr lang="zh-CN" altLang="en-US" dirty="0" smtClean="0"/>
              <a:t>数据</a:t>
            </a:r>
            <a:r>
              <a:rPr lang="zh-CN" altLang="en-US" dirty="0"/>
              <a:t>选择器（ </a:t>
            </a:r>
            <a:r>
              <a:rPr lang="en-US" altLang="zh-CN" dirty="0"/>
              <a:t>Multiplexer </a:t>
            </a:r>
            <a:r>
              <a:rPr lang="zh-CN" altLang="en-US" dirty="0"/>
              <a:t>）</a:t>
            </a:r>
          </a:p>
        </p:txBody>
      </p:sp>
      <p:sp>
        <p:nvSpPr>
          <p:cNvPr id="3" name="内容占位符 2"/>
          <p:cNvSpPr>
            <a:spLocks noGrp="1"/>
          </p:cNvSpPr>
          <p:nvPr>
            <p:ph idx="1"/>
          </p:nvPr>
        </p:nvSpPr>
        <p:spPr/>
        <p:txBody>
          <a:bodyPr/>
          <a:lstStyle/>
          <a:p>
            <a:pPr marL="457200" lvl="1" indent="0">
              <a:buNone/>
            </a:pPr>
            <a:r>
              <a:rPr lang="zh-CN" altLang="en-US" dirty="0"/>
              <a:t>根据上式，只要将逻辑变量</a:t>
            </a:r>
            <a:r>
              <a:rPr lang="en-US" altLang="zh-CN" dirty="0"/>
              <a:t>A</a:t>
            </a:r>
            <a:r>
              <a:rPr lang="zh-CN" altLang="en-US" dirty="0"/>
              <a:t>、</a:t>
            </a:r>
            <a:r>
              <a:rPr lang="en-US" altLang="zh-CN" dirty="0"/>
              <a:t>B</a:t>
            </a:r>
            <a:r>
              <a:rPr lang="zh-CN" altLang="en-US" dirty="0"/>
              <a:t>、</a:t>
            </a:r>
            <a:r>
              <a:rPr lang="en-US" altLang="zh-CN" dirty="0"/>
              <a:t>C</a:t>
            </a:r>
            <a:r>
              <a:rPr lang="zh-CN" altLang="en-US" dirty="0"/>
              <a:t>依次接</a:t>
            </a:r>
            <a:r>
              <a:rPr lang="zh-CN" altLang="en-US" dirty="0" smtClean="0"/>
              <a:t>在</a:t>
            </a:r>
            <a:r>
              <a:rPr lang="en-US" altLang="zh-CN" dirty="0" smtClean="0"/>
              <a:t>74151</a:t>
            </a:r>
            <a:r>
              <a:rPr lang="zh-CN" altLang="en-US" dirty="0"/>
              <a:t>选择控制端</a:t>
            </a:r>
            <a:r>
              <a:rPr lang="en-US" altLang="zh-CN" dirty="0"/>
              <a:t>A</a:t>
            </a:r>
            <a:r>
              <a:rPr lang="en-US" altLang="zh-CN" baseline="-25000" dirty="0"/>
              <a:t>2</a:t>
            </a:r>
            <a:r>
              <a:rPr lang="zh-CN" altLang="en-US" dirty="0"/>
              <a:t>、</a:t>
            </a:r>
            <a:r>
              <a:rPr lang="en-US" altLang="zh-CN" dirty="0"/>
              <a:t>A</a:t>
            </a:r>
            <a:r>
              <a:rPr lang="en-US" altLang="zh-CN" baseline="-25000" dirty="0"/>
              <a:t>1</a:t>
            </a:r>
            <a:r>
              <a:rPr lang="zh-CN" altLang="en-US" dirty="0"/>
              <a:t>、</a:t>
            </a:r>
            <a:r>
              <a:rPr lang="en-US" altLang="zh-CN" dirty="0"/>
              <a:t>A</a:t>
            </a:r>
            <a:r>
              <a:rPr lang="en-US" altLang="zh-CN" baseline="-25000" dirty="0"/>
              <a:t>0</a:t>
            </a:r>
            <a:r>
              <a:rPr lang="zh-CN" altLang="en-US" dirty="0"/>
              <a:t>上，使能端接地</a:t>
            </a:r>
            <a:r>
              <a:rPr lang="en-US" altLang="zh-CN" dirty="0"/>
              <a:t>(</a:t>
            </a:r>
            <a:r>
              <a:rPr lang="en-US" altLang="zh-CN" dirty="0" smtClean="0"/>
              <a:t>0</a:t>
            </a:r>
            <a:r>
              <a:rPr lang="zh-CN" altLang="en-US" dirty="0" smtClean="0"/>
              <a:t>电平</a:t>
            </a:r>
            <a:r>
              <a:rPr lang="en-US" altLang="zh-CN" dirty="0"/>
              <a:t>)</a:t>
            </a:r>
            <a:r>
              <a:rPr lang="zh-CN" altLang="en-US" dirty="0"/>
              <a:t>，并将数据输入端</a:t>
            </a:r>
            <a:r>
              <a:rPr lang="en-US" altLang="zh-CN" dirty="0"/>
              <a:t>D</a:t>
            </a:r>
            <a:r>
              <a:rPr lang="en-US" altLang="zh-CN" baseline="-25000" dirty="0"/>
              <a:t>3</a:t>
            </a:r>
            <a:r>
              <a:rPr lang="zh-CN" altLang="en-US" dirty="0"/>
              <a:t>、</a:t>
            </a:r>
            <a:r>
              <a:rPr lang="en-US" altLang="zh-CN" dirty="0"/>
              <a:t>D</a:t>
            </a:r>
            <a:r>
              <a:rPr lang="en-US" altLang="zh-CN" baseline="-25000" dirty="0"/>
              <a:t>5</a:t>
            </a:r>
            <a:r>
              <a:rPr lang="zh-CN" altLang="en-US" dirty="0"/>
              <a:t>、</a:t>
            </a:r>
            <a:r>
              <a:rPr lang="en-US" altLang="zh-CN" dirty="0"/>
              <a:t>D</a:t>
            </a:r>
            <a:r>
              <a:rPr lang="en-US" altLang="zh-CN" baseline="-25000" dirty="0"/>
              <a:t>6</a:t>
            </a:r>
            <a:r>
              <a:rPr lang="zh-CN" altLang="en-US" dirty="0"/>
              <a:t>、</a:t>
            </a:r>
            <a:r>
              <a:rPr lang="en-US" altLang="zh-CN" dirty="0"/>
              <a:t>D</a:t>
            </a:r>
            <a:r>
              <a:rPr lang="en-US" altLang="zh-CN" baseline="-25000" dirty="0"/>
              <a:t>7 </a:t>
            </a:r>
            <a:r>
              <a:rPr lang="zh-CN" altLang="en-US" dirty="0"/>
              <a:t>接高</a:t>
            </a:r>
            <a:r>
              <a:rPr lang="zh-CN" altLang="en-US" dirty="0" smtClean="0"/>
              <a:t>电平</a:t>
            </a:r>
            <a:r>
              <a:rPr lang="zh-CN" altLang="en-US" dirty="0"/>
              <a:t>”</a:t>
            </a:r>
            <a:r>
              <a:rPr lang="en-US" altLang="zh-CN" dirty="0"/>
              <a:t>1”</a:t>
            </a:r>
            <a:r>
              <a:rPr lang="zh-CN" altLang="en-US" dirty="0"/>
              <a:t>，其余接“</a:t>
            </a:r>
            <a:r>
              <a:rPr lang="en-US" altLang="zh-CN" dirty="0"/>
              <a:t>0”</a:t>
            </a:r>
            <a:r>
              <a:rPr lang="zh-CN" altLang="en-US" dirty="0"/>
              <a:t>，就可以构成符合要求的</a:t>
            </a:r>
            <a:r>
              <a:rPr lang="zh-CN" altLang="en-US" dirty="0" smtClean="0"/>
              <a:t>函数发生器</a:t>
            </a:r>
            <a:r>
              <a:rPr lang="zh-CN" altLang="en-US" dirty="0"/>
              <a:t>。如下图所示</a:t>
            </a:r>
            <a:r>
              <a:rPr lang="en-US" altLang="zh-CN" dirty="0"/>
              <a:t>:</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109</a:t>
            </a:fld>
            <a:endParaRPr lang="zh-CN" altLang="en-US"/>
          </a:p>
        </p:txBody>
      </p:sp>
      <p:pic>
        <p:nvPicPr>
          <p:cNvPr id="32770" name="Picture 2" descr="E:\wrj\课件\数字电路与系统\数字电路与数字系统\tupian\4-34-74151.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35696" y="3284984"/>
            <a:ext cx="3982222" cy="2520000"/>
          </a:xfrm>
          <a:prstGeom prst="rect">
            <a:avLst/>
          </a:prstGeom>
          <a:noFill/>
          <a:extLst>
            <a:ext uri="{909E8E84-426E-40DD-AFC4-6F175D3DCCD1}">
              <a14:hiddenFill xmlns:a14="http://schemas.microsoft.com/office/drawing/2010/main" xmlns="">
                <a:solidFill>
                  <a:srgbClr val="FFFFFF"/>
                </a:solidFill>
              </a14:hiddenFill>
            </a:ext>
          </a:extLst>
        </p:spPr>
      </p:pic>
      <p:sp>
        <p:nvSpPr>
          <p:cNvPr id="5" name="矩形 4"/>
          <p:cNvSpPr/>
          <p:nvPr/>
        </p:nvSpPr>
        <p:spPr>
          <a:xfrm>
            <a:off x="1826853" y="6021288"/>
            <a:ext cx="4880888" cy="369332"/>
          </a:xfrm>
          <a:prstGeom prst="rect">
            <a:avLst/>
          </a:prstGeom>
        </p:spPr>
        <p:txBody>
          <a:bodyPr wrap="none">
            <a:spAutoFit/>
          </a:bodyPr>
          <a:lstStyle/>
          <a:p>
            <a:r>
              <a:rPr lang="zh-CN" altLang="en-US" dirty="0" smtClean="0"/>
              <a:t>图  用</a:t>
            </a:r>
            <a:r>
              <a:rPr lang="en-US" altLang="zh-CN" dirty="0"/>
              <a:t>8</a:t>
            </a:r>
            <a:r>
              <a:rPr lang="zh-CN" altLang="en-US" dirty="0"/>
              <a:t>选</a:t>
            </a:r>
            <a:r>
              <a:rPr lang="en-US" altLang="zh-CN" dirty="0"/>
              <a:t>1MUX-74151</a:t>
            </a:r>
            <a:r>
              <a:rPr lang="zh-CN" altLang="en-US" dirty="0"/>
              <a:t>实现</a:t>
            </a:r>
            <a:r>
              <a:rPr lang="en-US" altLang="zh-CN" dirty="0"/>
              <a:t>3</a:t>
            </a:r>
            <a:r>
              <a:rPr lang="zh-CN" altLang="en-US" dirty="0"/>
              <a:t>变量组合逻辑函数</a:t>
            </a:r>
          </a:p>
        </p:txBody>
      </p:sp>
    </p:spTree>
    <p:extLst>
      <p:ext uri="{BB962C8B-B14F-4D97-AF65-F5344CB8AC3E}">
        <p14:creationId xmlns:p14="http://schemas.microsoft.com/office/powerpoint/2010/main" xmlns="" val="3188353963"/>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20688"/>
            <a:ext cx="7545014" cy="638944"/>
          </a:xfrm>
        </p:spPr>
        <p:txBody>
          <a:bodyPr/>
          <a:lstStyle/>
          <a:p>
            <a:r>
              <a:rPr lang="en-US" altLang="zh-CN" dirty="0" smtClean="0"/>
              <a:t>4.5.2 </a:t>
            </a:r>
            <a:r>
              <a:rPr lang="zh-CN" altLang="en-US" dirty="0" smtClean="0"/>
              <a:t>数据选择器实现逻辑函数</a:t>
            </a:r>
            <a:endParaRPr lang="zh-CN" altLang="en-US" dirty="0"/>
          </a:p>
        </p:txBody>
      </p:sp>
      <p:sp>
        <p:nvSpPr>
          <p:cNvPr id="3" name="内容占位符 2"/>
          <p:cNvSpPr>
            <a:spLocks noGrp="1"/>
          </p:cNvSpPr>
          <p:nvPr>
            <p:ph idx="1"/>
          </p:nvPr>
        </p:nvSpPr>
        <p:spPr>
          <a:xfrm>
            <a:off x="467544" y="1542208"/>
            <a:ext cx="8487544" cy="4911128"/>
          </a:xfrm>
        </p:spPr>
        <p:txBody>
          <a:bodyPr/>
          <a:lstStyle/>
          <a:p>
            <a:pPr>
              <a:buSzPct val="100000"/>
              <a:buFont typeface="Wingdings" pitchFamily="2" charset="2"/>
              <a:buChar char="p"/>
            </a:pPr>
            <a:r>
              <a:rPr lang="zh-CN" altLang="en-US" sz="2800" dirty="0" smtClean="0">
                <a:solidFill>
                  <a:srgbClr val="0000CC"/>
                </a:solidFill>
              </a:rPr>
              <a:t>例</a:t>
            </a:r>
            <a:r>
              <a:rPr lang="en-US" altLang="zh-CN" sz="2800" dirty="0" smtClean="0">
                <a:solidFill>
                  <a:srgbClr val="0000CC"/>
                </a:solidFill>
              </a:rPr>
              <a:t>4.11 </a:t>
            </a:r>
            <a:r>
              <a:rPr lang="en-US" altLang="zh-CN" sz="2800" dirty="0" smtClean="0"/>
              <a:t> </a:t>
            </a:r>
            <a:r>
              <a:rPr lang="zh-CN" altLang="en-US" sz="2800" dirty="0" smtClean="0"/>
              <a:t>用</a:t>
            </a:r>
            <a:r>
              <a:rPr lang="en-US" altLang="zh-CN" sz="2800" dirty="0" smtClean="0"/>
              <a:t>74151</a:t>
            </a:r>
            <a:r>
              <a:rPr lang="zh-CN" altLang="en-US" sz="2800" dirty="0" smtClean="0"/>
              <a:t>实现逻辑函数</a:t>
            </a:r>
            <a:endParaRPr lang="en-US" altLang="zh-CN" sz="2800" dirty="0" smtClean="0"/>
          </a:p>
          <a:p>
            <a:pPr>
              <a:buSzPct val="100000"/>
              <a:buFont typeface="Wingdings" pitchFamily="2" charset="2"/>
              <a:buChar char="p"/>
            </a:pPr>
            <a:endParaRPr lang="en-US" altLang="zh-CN" sz="2800" dirty="0" smtClean="0"/>
          </a:p>
          <a:p>
            <a:pPr>
              <a:buSzPct val="100000"/>
              <a:buFont typeface="Wingdings" pitchFamily="2" charset="2"/>
              <a:buChar char="p"/>
            </a:pPr>
            <a:r>
              <a:rPr lang="zh-CN" altLang="en-US" sz="2800" dirty="0" smtClean="0">
                <a:solidFill>
                  <a:srgbClr val="0000CC"/>
                </a:solidFill>
              </a:rPr>
              <a:t>解</a:t>
            </a:r>
            <a:r>
              <a:rPr lang="zh-CN" altLang="en-US" sz="2800" dirty="0" smtClean="0"/>
              <a:t>：将函数化成最小项之和形式</a:t>
            </a:r>
            <a:endParaRPr lang="en-US" altLang="zh-CN" sz="2800" dirty="0" smtClean="0"/>
          </a:p>
          <a:p>
            <a:pPr>
              <a:buSzPct val="100000"/>
              <a:buFont typeface="Wingdings" pitchFamily="2" charset="2"/>
              <a:buChar char="p"/>
            </a:pPr>
            <a:endParaRPr lang="en-US" altLang="zh-CN" sz="2800" dirty="0" smtClean="0"/>
          </a:p>
          <a:p>
            <a:pPr>
              <a:buSzPct val="100000"/>
              <a:buFont typeface="Wingdings" pitchFamily="2" charset="2"/>
              <a:buChar char="p"/>
            </a:pPr>
            <a:endParaRPr lang="en-US" altLang="zh-CN" sz="2800" dirty="0" smtClean="0"/>
          </a:p>
          <a:p>
            <a:pPr>
              <a:buSzPct val="100000"/>
              <a:buFont typeface="Wingdings" pitchFamily="2" charset="2"/>
              <a:buChar char="p"/>
            </a:pPr>
            <a:endParaRPr lang="en-US" altLang="zh-CN" sz="2800" dirty="0" smtClean="0"/>
          </a:p>
          <a:p>
            <a:pPr>
              <a:buSzPct val="100000"/>
              <a:buNone/>
            </a:pPr>
            <a:endParaRPr lang="en-US" altLang="zh-CN" sz="2800" dirty="0" smtClean="0"/>
          </a:p>
          <a:p>
            <a:pPr>
              <a:buSzPct val="100000"/>
              <a:buNone/>
            </a:pPr>
            <a:r>
              <a:rPr lang="en-US" altLang="zh-CN" sz="2800" dirty="0" smtClean="0"/>
              <a:t>           </a:t>
            </a:r>
            <a:r>
              <a:rPr lang="zh-CN" altLang="en-US" sz="2800" dirty="0" smtClean="0"/>
              <a:t>按照图</a:t>
            </a:r>
            <a:r>
              <a:rPr lang="en-US" altLang="zh-CN" sz="2800" dirty="0" smtClean="0"/>
              <a:t>4.29</a:t>
            </a:r>
            <a:r>
              <a:rPr lang="zh-CN" altLang="en-US" sz="2800" dirty="0" smtClean="0"/>
              <a:t>所示连接</a:t>
            </a:r>
            <a:r>
              <a:rPr lang="en-US" altLang="zh-CN" sz="2800" dirty="0" smtClean="0"/>
              <a:t>74151</a:t>
            </a:r>
            <a:r>
              <a:rPr lang="zh-CN" altLang="en-US" sz="2800" dirty="0" smtClean="0"/>
              <a:t>的线路，其输出端就实现了逻辑函数</a:t>
            </a:r>
            <a:r>
              <a:rPr lang="en-US" altLang="zh-CN" sz="2800" dirty="0" smtClean="0"/>
              <a:t>F</a:t>
            </a:r>
            <a:r>
              <a:rPr lang="zh-CN" altLang="en-US" sz="2800" dirty="0" smtClean="0"/>
              <a:t>。</a:t>
            </a:r>
            <a:endParaRPr lang="en-US" altLang="zh-CN" sz="2800" dirty="0" smtClean="0"/>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110</a:t>
            </a:fld>
            <a:endParaRPr lang="zh-CN" altLang="en-US"/>
          </a:p>
        </p:txBody>
      </p:sp>
      <p:graphicFrame>
        <p:nvGraphicFramePr>
          <p:cNvPr id="593921" name="Object 1"/>
          <p:cNvGraphicFramePr>
            <a:graphicFrameLocks noChangeAspect="1"/>
          </p:cNvGraphicFramePr>
          <p:nvPr/>
        </p:nvGraphicFramePr>
        <p:xfrm>
          <a:off x="1475656" y="2060848"/>
          <a:ext cx="3768419" cy="432048"/>
        </p:xfrm>
        <a:graphic>
          <a:graphicData uri="http://schemas.openxmlformats.org/presentationml/2006/ole">
            <p:oleObj spid="_x0000_s593921" r:id="rId3" imgW="1993680" imgH="228600" progId="">
              <p:embed/>
            </p:oleObj>
          </a:graphicData>
        </a:graphic>
      </p:graphicFrame>
      <p:graphicFrame>
        <p:nvGraphicFramePr>
          <p:cNvPr id="593922" name="Object 2"/>
          <p:cNvGraphicFramePr>
            <a:graphicFrameLocks noChangeAspect="1"/>
          </p:cNvGraphicFramePr>
          <p:nvPr/>
        </p:nvGraphicFramePr>
        <p:xfrm>
          <a:off x="1811338" y="3127375"/>
          <a:ext cx="4017962" cy="1489075"/>
        </p:xfrm>
        <a:graphic>
          <a:graphicData uri="http://schemas.openxmlformats.org/presentationml/2006/ole">
            <p:oleObj spid="_x0000_s593922" r:id="rId4" imgW="2133360" imgH="736560" progId="">
              <p:embed/>
            </p:oleObj>
          </a:graphicData>
        </a:graphic>
      </p:graphicFrame>
      <p:pic>
        <p:nvPicPr>
          <p:cNvPr id="11" name="Picture 6"/>
          <p:cNvPicPr>
            <a:picLocks noChangeAspect="1" noChangeArrowheads="1"/>
          </p:cNvPicPr>
          <p:nvPr/>
        </p:nvPicPr>
        <p:blipFill>
          <a:blip r:embed="rId5" cstate="print"/>
          <a:srcRect/>
          <a:stretch>
            <a:fillRect/>
          </a:stretch>
        </p:blipFill>
        <p:spPr bwMode="auto">
          <a:xfrm>
            <a:off x="6372200" y="1340768"/>
            <a:ext cx="1944216" cy="3487437"/>
          </a:xfrm>
          <a:prstGeom prst="rect">
            <a:avLst/>
          </a:prstGeom>
          <a:noFill/>
          <a:ln w="9525">
            <a:noFill/>
            <a:miter lim="800000"/>
            <a:headEnd/>
            <a:tailEnd/>
          </a:ln>
        </p:spPr>
      </p:pic>
    </p:spTree>
    <p:extLst>
      <p:ext uri="{BB962C8B-B14F-4D97-AF65-F5344CB8AC3E}">
        <p14:creationId xmlns:p14="http://schemas.microsoft.com/office/powerpoint/2010/main" xmlns="" val="3894999216"/>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20688"/>
            <a:ext cx="7545014" cy="638944"/>
          </a:xfrm>
        </p:spPr>
        <p:txBody>
          <a:bodyPr/>
          <a:lstStyle/>
          <a:p>
            <a:r>
              <a:rPr lang="en-US" altLang="zh-CN" dirty="0" smtClean="0"/>
              <a:t>4.5.2 </a:t>
            </a:r>
            <a:r>
              <a:rPr lang="zh-CN" altLang="en-US" dirty="0" smtClean="0"/>
              <a:t>数据选择器实现逻辑函数</a:t>
            </a:r>
            <a:endParaRPr lang="zh-CN" altLang="en-US" dirty="0"/>
          </a:p>
        </p:txBody>
      </p:sp>
      <p:sp>
        <p:nvSpPr>
          <p:cNvPr id="3" name="内容占位符 2"/>
          <p:cNvSpPr>
            <a:spLocks noGrp="1"/>
          </p:cNvSpPr>
          <p:nvPr>
            <p:ph idx="1"/>
          </p:nvPr>
        </p:nvSpPr>
        <p:spPr>
          <a:xfrm>
            <a:off x="467544" y="1542208"/>
            <a:ext cx="8487544" cy="4911128"/>
          </a:xfrm>
        </p:spPr>
        <p:txBody>
          <a:bodyPr/>
          <a:lstStyle/>
          <a:p>
            <a:pPr>
              <a:buSzPct val="100000"/>
              <a:buFont typeface="Wingdings" pitchFamily="2" charset="2"/>
              <a:buChar char="p"/>
            </a:pPr>
            <a:r>
              <a:rPr lang="zh-CN" altLang="en-US" sz="2800" dirty="0" smtClean="0">
                <a:solidFill>
                  <a:srgbClr val="0000CC"/>
                </a:solidFill>
              </a:rPr>
              <a:t>例</a:t>
            </a:r>
            <a:r>
              <a:rPr lang="en-US" altLang="zh-CN" sz="2800" dirty="0" smtClean="0">
                <a:solidFill>
                  <a:srgbClr val="0000CC"/>
                </a:solidFill>
              </a:rPr>
              <a:t>4.12 </a:t>
            </a:r>
            <a:r>
              <a:rPr lang="en-US" altLang="zh-CN" sz="2800" dirty="0" smtClean="0"/>
              <a:t> </a:t>
            </a:r>
            <a:r>
              <a:rPr lang="zh-CN" altLang="en-US" sz="2800" dirty="0" smtClean="0"/>
              <a:t>用半片双四选已数据选择器</a:t>
            </a:r>
            <a:r>
              <a:rPr lang="en-US" altLang="zh-CN" sz="2800" dirty="0" smtClean="0"/>
              <a:t>74153</a:t>
            </a:r>
            <a:r>
              <a:rPr lang="zh-CN" altLang="en-US" sz="2800" dirty="0" smtClean="0"/>
              <a:t>实现函数</a:t>
            </a:r>
            <a:endParaRPr lang="en-US" altLang="zh-CN" sz="2800" dirty="0" smtClean="0"/>
          </a:p>
          <a:p>
            <a:pPr>
              <a:buSzPct val="100000"/>
              <a:buFont typeface="Wingdings" pitchFamily="2" charset="2"/>
              <a:buChar char="p"/>
            </a:pPr>
            <a:endParaRPr lang="en-US" altLang="zh-CN" sz="2800" dirty="0" smtClean="0"/>
          </a:p>
          <a:p>
            <a:pPr>
              <a:buSzPct val="100000"/>
              <a:buFont typeface="Wingdings" pitchFamily="2" charset="2"/>
              <a:buChar char="p"/>
            </a:pPr>
            <a:r>
              <a:rPr lang="zh-CN" altLang="en-US" sz="2800" dirty="0" smtClean="0">
                <a:solidFill>
                  <a:srgbClr val="0000CC"/>
                </a:solidFill>
              </a:rPr>
              <a:t>解</a:t>
            </a:r>
            <a:r>
              <a:rPr lang="zh-CN" altLang="en-US" sz="2800" dirty="0" smtClean="0"/>
              <a:t>：将函数</a:t>
            </a:r>
            <a:r>
              <a:rPr lang="en-US" altLang="zh-CN" sz="2800" dirty="0" smtClean="0"/>
              <a:t>G</a:t>
            </a:r>
            <a:r>
              <a:rPr lang="zh-CN" altLang="en-US" sz="2800" dirty="0" smtClean="0"/>
              <a:t>化成标准与或式</a:t>
            </a:r>
            <a:endParaRPr lang="en-US" altLang="zh-CN" sz="2800" dirty="0" smtClean="0"/>
          </a:p>
          <a:p>
            <a:pPr>
              <a:buSzPct val="100000"/>
              <a:buFont typeface="Wingdings" pitchFamily="2" charset="2"/>
              <a:buChar char="p"/>
            </a:pPr>
            <a:endParaRPr lang="en-US" altLang="zh-CN" sz="2800" dirty="0" smtClean="0"/>
          </a:p>
          <a:p>
            <a:pPr>
              <a:buSzPct val="100000"/>
              <a:buFont typeface="Wingdings" pitchFamily="2" charset="2"/>
              <a:buChar char="p"/>
            </a:pPr>
            <a:endParaRPr lang="en-US" altLang="zh-CN" sz="2800" dirty="0" smtClean="0"/>
          </a:p>
          <a:p>
            <a:pPr>
              <a:buSzPct val="100000"/>
              <a:buNone/>
            </a:pPr>
            <a:r>
              <a:rPr lang="en-US" altLang="zh-CN" sz="2800" dirty="0" smtClean="0"/>
              <a:t>         </a:t>
            </a:r>
            <a:r>
              <a:rPr lang="zh-CN" altLang="en-US" sz="2800" dirty="0" smtClean="0"/>
              <a:t>由于</a:t>
            </a:r>
            <a:r>
              <a:rPr lang="en-US" altLang="zh-CN" sz="2800" dirty="0" smtClean="0"/>
              <a:t>74153</a:t>
            </a:r>
            <a:r>
              <a:rPr lang="zh-CN" altLang="en-US" sz="2800" dirty="0" smtClean="0"/>
              <a:t>只有两个控制变量（即两位地址码），而函数 </a:t>
            </a:r>
            <a:r>
              <a:rPr lang="en-US" altLang="zh-CN" sz="2800" dirty="0" smtClean="0"/>
              <a:t>G</a:t>
            </a:r>
            <a:r>
              <a:rPr lang="zh-CN" altLang="en-US" sz="2800" dirty="0" smtClean="0"/>
              <a:t>有三个变量，需将变量</a:t>
            </a:r>
            <a:r>
              <a:rPr lang="en-US" altLang="zh-CN" sz="2800" dirty="0" smtClean="0"/>
              <a:t>Z</a:t>
            </a:r>
            <a:r>
              <a:rPr lang="zh-CN" altLang="en-US" sz="2800" dirty="0" smtClean="0"/>
              <a:t>分离出来，做引入变量卡诺图。</a:t>
            </a:r>
            <a:endParaRPr lang="en-US" altLang="zh-CN" sz="2800" dirty="0" smtClean="0"/>
          </a:p>
          <a:p>
            <a:pPr>
              <a:buNone/>
            </a:pP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111</a:t>
            </a:fld>
            <a:endParaRPr lang="zh-CN" altLang="en-US"/>
          </a:p>
        </p:txBody>
      </p:sp>
      <p:graphicFrame>
        <p:nvGraphicFramePr>
          <p:cNvPr id="592897" name="Object 1"/>
          <p:cNvGraphicFramePr>
            <a:graphicFrameLocks noChangeAspect="1"/>
          </p:cNvGraphicFramePr>
          <p:nvPr/>
        </p:nvGraphicFramePr>
        <p:xfrm>
          <a:off x="1979712" y="2348880"/>
          <a:ext cx="4008445" cy="432048"/>
        </p:xfrm>
        <a:graphic>
          <a:graphicData uri="http://schemas.openxmlformats.org/presentationml/2006/ole">
            <p:oleObj spid="_x0000_s592897" r:id="rId3" imgW="2120760" imgH="228600" progId="">
              <p:embed/>
            </p:oleObj>
          </a:graphicData>
        </a:graphic>
      </p:graphicFrame>
      <p:graphicFrame>
        <p:nvGraphicFramePr>
          <p:cNvPr id="592898" name="Object 2"/>
          <p:cNvGraphicFramePr>
            <a:graphicFrameLocks noChangeAspect="1"/>
          </p:cNvGraphicFramePr>
          <p:nvPr/>
        </p:nvGraphicFramePr>
        <p:xfrm>
          <a:off x="2123728" y="3356993"/>
          <a:ext cx="4536504" cy="948740"/>
        </p:xfrm>
        <a:graphic>
          <a:graphicData uri="http://schemas.openxmlformats.org/presentationml/2006/ole">
            <p:oleObj spid="_x0000_s592898" r:id="rId4" imgW="2438280" imgH="482400" progId="">
              <p:embed/>
            </p:oleObj>
          </a:graphicData>
        </a:graphic>
      </p:graphicFrame>
    </p:spTree>
    <p:extLst>
      <p:ext uri="{BB962C8B-B14F-4D97-AF65-F5344CB8AC3E}">
        <p14:creationId xmlns:p14="http://schemas.microsoft.com/office/powerpoint/2010/main" xmlns="" val="3894999216"/>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20688"/>
            <a:ext cx="7545014" cy="638944"/>
          </a:xfrm>
        </p:spPr>
        <p:txBody>
          <a:bodyPr/>
          <a:lstStyle/>
          <a:p>
            <a:r>
              <a:rPr lang="en-US" altLang="zh-CN" dirty="0" smtClean="0"/>
              <a:t>4.5.2 </a:t>
            </a:r>
            <a:r>
              <a:rPr lang="zh-CN" altLang="en-US" dirty="0" smtClean="0"/>
              <a:t>数据选择器实现逻辑函数</a:t>
            </a:r>
            <a:endParaRPr lang="zh-CN" altLang="en-US" dirty="0"/>
          </a:p>
        </p:txBody>
      </p:sp>
      <p:sp>
        <p:nvSpPr>
          <p:cNvPr id="3" name="内容占位符 2"/>
          <p:cNvSpPr>
            <a:spLocks noGrp="1"/>
          </p:cNvSpPr>
          <p:nvPr>
            <p:ph idx="1"/>
          </p:nvPr>
        </p:nvSpPr>
        <p:spPr>
          <a:xfrm>
            <a:off x="467544" y="1542208"/>
            <a:ext cx="8487544" cy="4911128"/>
          </a:xfrm>
        </p:spPr>
        <p:txBody>
          <a:bodyPr/>
          <a:lstStyle/>
          <a:p>
            <a:pPr>
              <a:buSzPct val="100000"/>
              <a:buFont typeface="Wingdings" pitchFamily="2" charset="2"/>
              <a:buChar char="p"/>
            </a:pPr>
            <a:r>
              <a:rPr lang="zh-CN" altLang="en-US" sz="2800" dirty="0" smtClean="0">
                <a:solidFill>
                  <a:srgbClr val="0000CC"/>
                </a:solidFill>
              </a:rPr>
              <a:t>例</a:t>
            </a:r>
            <a:r>
              <a:rPr lang="en-US" altLang="zh-CN" sz="2800" dirty="0" smtClean="0">
                <a:solidFill>
                  <a:srgbClr val="0000CC"/>
                </a:solidFill>
              </a:rPr>
              <a:t>4.12 </a:t>
            </a:r>
            <a:r>
              <a:rPr lang="zh-CN" altLang="en-US" sz="2800" dirty="0" smtClean="0">
                <a:solidFill>
                  <a:srgbClr val="0000CC"/>
                </a:solidFill>
              </a:rPr>
              <a:t>解</a:t>
            </a:r>
            <a:r>
              <a:rPr lang="zh-CN" altLang="en-US" sz="2800" dirty="0" smtClean="0"/>
              <a:t>：</a:t>
            </a:r>
            <a:endParaRPr lang="en-US" altLang="zh-CN" sz="2800" dirty="0" smtClean="0"/>
          </a:p>
          <a:p>
            <a:pPr>
              <a:lnSpc>
                <a:spcPct val="100000"/>
              </a:lnSpc>
              <a:spcBef>
                <a:spcPts val="1200"/>
              </a:spcBef>
              <a:buSzPct val="100000"/>
              <a:buNone/>
            </a:pPr>
            <a:r>
              <a:rPr lang="en-US" altLang="zh-CN" sz="2800" dirty="0" smtClean="0"/>
              <a:t>        </a:t>
            </a:r>
            <a:r>
              <a:rPr lang="zh-CN" altLang="en-US" sz="2800" dirty="0" smtClean="0"/>
              <a:t>如图</a:t>
            </a:r>
            <a:r>
              <a:rPr lang="en-US" altLang="zh-CN" sz="2800" dirty="0" smtClean="0"/>
              <a:t>4.29(a)</a:t>
            </a:r>
            <a:r>
              <a:rPr lang="zh-CN" altLang="en-US" sz="2800" dirty="0" smtClean="0"/>
              <a:t>的引入变量卡诺图所示，将</a:t>
            </a:r>
            <a:r>
              <a:rPr lang="en-US" altLang="zh-CN" sz="2800" dirty="0" smtClean="0"/>
              <a:t>X,Y</a:t>
            </a:r>
            <a:r>
              <a:rPr lang="zh-CN" altLang="en-US" sz="2800" dirty="0" smtClean="0"/>
              <a:t>接在</a:t>
            </a:r>
            <a:r>
              <a:rPr lang="en-US" altLang="zh-CN" sz="2800" dirty="0" smtClean="0"/>
              <a:t>74153</a:t>
            </a:r>
            <a:r>
              <a:rPr lang="zh-CN" altLang="en-US" sz="2800" dirty="0" smtClean="0"/>
              <a:t>控制输入</a:t>
            </a:r>
            <a:r>
              <a:rPr lang="en-US" altLang="zh-CN" sz="2800" dirty="0" smtClean="0"/>
              <a:t>A</a:t>
            </a:r>
            <a:r>
              <a:rPr lang="en-US" altLang="zh-CN" sz="2800" baseline="-25000" dirty="0" smtClean="0"/>
              <a:t>1</a:t>
            </a:r>
            <a:r>
              <a:rPr lang="zh-CN" altLang="en-US" sz="2800" dirty="0" smtClean="0"/>
              <a:t>、 </a:t>
            </a:r>
            <a:r>
              <a:rPr lang="en-US" altLang="zh-CN" sz="2800" dirty="0" smtClean="0"/>
              <a:t>A</a:t>
            </a:r>
            <a:r>
              <a:rPr lang="en-US" altLang="zh-CN" sz="2800" baseline="-25000" dirty="0" smtClean="0"/>
              <a:t>0</a:t>
            </a:r>
            <a:r>
              <a:rPr lang="zh-CN" altLang="en-US" sz="2800" dirty="0" smtClean="0"/>
              <a:t>，数据</a:t>
            </a:r>
            <a:r>
              <a:rPr lang="en-US" altLang="zh-CN" sz="2800" dirty="0" smtClean="0"/>
              <a:t>1</a:t>
            </a:r>
            <a:r>
              <a:rPr lang="zh-CN" altLang="en-US" sz="2800" dirty="0" smtClean="0"/>
              <a:t>，  ，</a:t>
            </a:r>
            <a:r>
              <a:rPr lang="en-US" altLang="zh-CN" sz="2800" dirty="0" smtClean="0"/>
              <a:t>Z</a:t>
            </a:r>
            <a:r>
              <a:rPr lang="zh-CN" altLang="en-US" sz="2800" dirty="0" smtClean="0"/>
              <a:t>，</a:t>
            </a:r>
            <a:r>
              <a:rPr lang="en-US" altLang="zh-CN" sz="2800" dirty="0" smtClean="0"/>
              <a:t>0</a:t>
            </a:r>
            <a:r>
              <a:rPr lang="zh-CN" altLang="en-US" sz="2800" dirty="0" smtClean="0"/>
              <a:t>分别接在</a:t>
            </a:r>
            <a:r>
              <a:rPr lang="en-US" altLang="zh-CN" sz="2800" dirty="0" smtClean="0"/>
              <a:t>D</a:t>
            </a:r>
            <a:r>
              <a:rPr lang="en-US" altLang="zh-CN" sz="2800" baseline="-25000" dirty="0" smtClean="0"/>
              <a:t>0</a:t>
            </a:r>
            <a:r>
              <a:rPr lang="zh-CN" altLang="en-US" sz="2800" dirty="0" smtClean="0"/>
              <a:t>、 </a:t>
            </a:r>
            <a:r>
              <a:rPr lang="en-US" altLang="zh-CN" sz="2800" dirty="0" smtClean="0"/>
              <a:t>D</a:t>
            </a:r>
            <a:r>
              <a:rPr lang="en-US" altLang="zh-CN" sz="2800" baseline="-25000" dirty="0" smtClean="0"/>
              <a:t>1</a:t>
            </a:r>
            <a:r>
              <a:rPr lang="zh-CN" altLang="en-US" sz="2800" dirty="0" smtClean="0"/>
              <a:t>、</a:t>
            </a:r>
            <a:r>
              <a:rPr lang="en-US" altLang="zh-CN" sz="2800" dirty="0" smtClean="0"/>
              <a:t> D</a:t>
            </a:r>
            <a:r>
              <a:rPr lang="en-US" altLang="zh-CN" sz="2800" baseline="-25000" dirty="0" smtClean="0"/>
              <a:t>2</a:t>
            </a:r>
            <a:r>
              <a:rPr lang="zh-CN" altLang="en-US" sz="2800" dirty="0" smtClean="0"/>
              <a:t>、 </a:t>
            </a:r>
            <a:r>
              <a:rPr lang="en-US" altLang="zh-CN" sz="2800" dirty="0" smtClean="0"/>
              <a:t>D</a:t>
            </a:r>
            <a:r>
              <a:rPr lang="en-US" altLang="zh-CN" sz="2800" baseline="-25000" dirty="0" smtClean="0"/>
              <a:t>3</a:t>
            </a:r>
            <a:r>
              <a:rPr lang="zh-CN" altLang="en-US" sz="2800" dirty="0" smtClean="0"/>
              <a:t>端，   接</a:t>
            </a:r>
            <a:r>
              <a:rPr lang="en-US" altLang="zh-CN" sz="2800" dirty="0" smtClean="0"/>
              <a:t>0</a:t>
            </a:r>
            <a:r>
              <a:rPr lang="zh-CN" altLang="en-US" sz="2800" dirty="0" smtClean="0"/>
              <a:t>，这样</a:t>
            </a:r>
            <a:r>
              <a:rPr lang="en-US" altLang="zh-CN" sz="2800" dirty="0" smtClean="0"/>
              <a:t>74153</a:t>
            </a:r>
            <a:r>
              <a:rPr lang="zh-CN" altLang="en-US" sz="2800" dirty="0" smtClean="0"/>
              <a:t>的输出</a:t>
            </a:r>
            <a:r>
              <a:rPr lang="en-US" altLang="zh-CN" sz="2800" dirty="0" smtClean="0"/>
              <a:t>Y</a:t>
            </a:r>
            <a:r>
              <a:rPr lang="zh-CN" altLang="en-US" sz="2800" dirty="0" smtClean="0"/>
              <a:t>就实现了逻辑函数</a:t>
            </a:r>
            <a:r>
              <a:rPr lang="en-US" altLang="zh-CN" sz="2800" dirty="0" smtClean="0"/>
              <a:t>G</a:t>
            </a:r>
            <a:r>
              <a:rPr lang="zh-CN" altLang="en-US" sz="2800" dirty="0" smtClean="0"/>
              <a:t>，如图</a:t>
            </a:r>
            <a:r>
              <a:rPr lang="en-US" altLang="zh-CN" sz="2800" dirty="0" smtClean="0"/>
              <a:t>4.30(b)</a:t>
            </a:r>
            <a:r>
              <a:rPr lang="zh-CN" altLang="en-US" sz="2800" dirty="0" smtClean="0"/>
              <a:t>所示。</a:t>
            </a:r>
            <a:endParaRPr lang="en-US" altLang="zh-CN" sz="2800" dirty="0" smtClean="0"/>
          </a:p>
          <a:p>
            <a:pPr>
              <a:buSzPct val="100000"/>
              <a:buFont typeface="Wingdings" pitchFamily="2" charset="2"/>
              <a:buChar char="p"/>
            </a:pPr>
            <a:endParaRPr lang="en-US" altLang="zh-CN" sz="2800" dirty="0" smtClean="0"/>
          </a:p>
          <a:p>
            <a:pPr>
              <a:buSzPct val="100000"/>
              <a:buNone/>
            </a:pPr>
            <a:r>
              <a:rPr lang="en-US" altLang="zh-CN" sz="2800" dirty="0" smtClean="0"/>
              <a:t>         </a:t>
            </a:r>
          </a:p>
          <a:p>
            <a:pPr>
              <a:buNone/>
            </a:pP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112</a:t>
            </a:fld>
            <a:endParaRPr lang="zh-CN" altLang="en-US"/>
          </a:p>
        </p:txBody>
      </p:sp>
      <p:graphicFrame>
        <p:nvGraphicFramePr>
          <p:cNvPr id="592898" name="Object 2"/>
          <p:cNvGraphicFramePr>
            <a:graphicFrameLocks noChangeAspect="1"/>
          </p:cNvGraphicFramePr>
          <p:nvPr/>
        </p:nvGraphicFramePr>
        <p:xfrm>
          <a:off x="2843808" y="1484784"/>
          <a:ext cx="4968552" cy="444593"/>
        </p:xfrm>
        <a:graphic>
          <a:graphicData uri="http://schemas.openxmlformats.org/presentationml/2006/ole">
            <p:oleObj spid="_x0000_s625667" r:id="rId3" imgW="2920680" imgH="228600" progId="">
              <p:embed/>
            </p:oleObj>
          </a:graphicData>
        </a:graphic>
      </p:graphicFrame>
      <p:graphicFrame>
        <p:nvGraphicFramePr>
          <p:cNvPr id="625668" name="Object 4"/>
          <p:cNvGraphicFramePr>
            <a:graphicFrameLocks noChangeAspect="1"/>
          </p:cNvGraphicFramePr>
          <p:nvPr/>
        </p:nvGraphicFramePr>
        <p:xfrm>
          <a:off x="6588224" y="2564904"/>
          <a:ext cx="374442" cy="432048"/>
        </p:xfrm>
        <a:graphic>
          <a:graphicData uri="http://schemas.openxmlformats.org/presentationml/2006/ole">
            <p:oleObj spid="_x0000_s625668" r:id="rId4" imgW="164880" imgH="190440" progId="">
              <p:embed/>
            </p:oleObj>
          </a:graphicData>
        </a:graphic>
      </p:graphicFrame>
      <p:graphicFrame>
        <p:nvGraphicFramePr>
          <p:cNvPr id="625669" name="Object 5"/>
          <p:cNvGraphicFramePr>
            <a:graphicFrameLocks noChangeAspect="1"/>
          </p:cNvGraphicFramePr>
          <p:nvPr/>
        </p:nvGraphicFramePr>
        <p:xfrm>
          <a:off x="5220072" y="2996952"/>
          <a:ext cx="470236" cy="444111"/>
        </p:xfrm>
        <a:graphic>
          <a:graphicData uri="http://schemas.openxmlformats.org/presentationml/2006/ole">
            <p:oleObj spid="_x0000_s625669" r:id="rId5" imgW="228600" imgH="215640" progId="">
              <p:embed/>
            </p:oleObj>
          </a:graphicData>
        </a:graphic>
      </p:graphicFrame>
      <p:pic>
        <p:nvPicPr>
          <p:cNvPr id="625671" name="Picture 7"/>
          <p:cNvPicPr>
            <a:picLocks noChangeAspect="1" noChangeArrowheads="1"/>
          </p:cNvPicPr>
          <p:nvPr/>
        </p:nvPicPr>
        <p:blipFill>
          <a:blip r:embed="rId6" cstate="print"/>
          <a:srcRect/>
          <a:stretch>
            <a:fillRect/>
          </a:stretch>
        </p:blipFill>
        <p:spPr bwMode="auto">
          <a:xfrm>
            <a:off x="5796135" y="3933056"/>
            <a:ext cx="1809335" cy="2664296"/>
          </a:xfrm>
          <a:prstGeom prst="rect">
            <a:avLst/>
          </a:prstGeom>
          <a:noFill/>
          <a:ln w="9525">
            <a:noFill/>
            <a:miter lim="800000"/>
            <a:headEnd/>
            <a:tailEnd/>
          </a:ln>
        </p:spPr>
      </p:pic>
      <p:pic>
        <p:nvPicPr>
          <p:cNvPr id="625672" name="Picture 8"/>
          <p:cNvPicPr>
            <a:picLocks noChangeAspect="1" noChangeArrowheads="1"/>
          </p:cNvPicPr>
          <p:nvPr/>
        </p:nvPicPr>
        <p:blipFill>
          <a:blip r:embed="rId7" cstate="print"/>
          <a:srcRect/>
          <a:stretch>
            <a:fillRect/>
          </a:stretch>
        </p:blipFill>
        <p:spPr bwMode="auto">
          <a:xfrm>
            <a:off x="1115616" y="4221088"/>
            <a:ext cx="2736304" cy="1922808"/>
          </a:xfrm>
          <a:prstGeom prst="rect">
            <a:avLst/>
          </a:prstGeom>
          <a:noFill/>
          <a:ln w="9525">
            <a:noFill/>
            <a:miter lim="800000"/>
            <a:headEnd/>
            <a:tailEnd/>
          </a:ln>
        </p:spPr>
      </p:pic>
    </p:spTree>
    <p:extLst>
      <p:ext uri="{BB962C8B-B14F-4D97-AF65-F5344CB8AC3E}">
        <p14:creationId xmlns:p14="http://schemas.microsoft.com/office/powerpoint/2010/main" xmlns="" val="3894999216"/>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20688"/>
            <a:ext cx="7545014" cy="638944"/>
          </a:xfrm>
        </p:spPr>
        <p:txBody>
          <a:bodyPr/>
          <a:lstStyle/>
          <a:p>
            <a:r>
              <a:rPr lang="en-US" altLang="zh-CN" dirty="0" smtClean="0"/>
              <a:t>4.5.2 </a:t>
            </a:r>
            <a:r>
              <a:rPr lang="zh-CN" altLang="en-US" dirty="0" smtClean="0"/>
              <a:t>数据选择器实现逻辑函数</a:t>
            </a:r>
            <a:endParaRPr lang="zh-CN" altLang="en-US" dirty="0"/>
          </a:p>
        </p:txBody>
      </p:sp>
      <p:sp>
        <p:nvSpPr>
          <p:cNvPr id="3" name="内容占位符 2"/>
          <p:cNvSpPr>
            <a:spLocks noGrp="1"/>
          </p:cNvSpPr>
          <p:nvPr>
            <p:ph idx="1"/>
          </p:nvPr>
        </p:nvSpPr>
        <p:spPr>
          <a:xfrm>
            <a:off x="467544" y="1542208"/>
            <a:ext cx="8487544" cy="4911128"/>
          </a:xfrm>
        </p:spPr>
        <p:txBody>
          <a:bodyPr/>
          <a:lstStyle/>
          <a:p>
            <a:pPr>
              <a:spcBef>
                <a:spcPts val="0"/>
              </a:spcBef>
              <a:buSzPct val="100000"/>
              <a:buFont typeface="Wingdings" pitchFamily="2" charset="2"/>
              <a:buChar char="p"/>
            </a:pPr>
            <a:r>
              <a:rPr lang="zh-CN" altLang="en-US" sz="2800" dirty="0" smtClean="0">
                <a:solidFill>
                  <a:srgbClr val="0000CC"/>
                </a:solidFill>
              </a:rPr>
              <a:t>例</a:t>
            </a:r>
            <a:r>
              <a:rPr lang="en-US" altLang="zh-CN" sz="2800" dirty="0" smtClean="0">
                <a:solidFill>
                  <a:srgbClr val="0000CC"/>
                </a:solidFill>
              </a:rPr>
              <a:t>4.13 </a:t>
            </a:r>
            <a:r>
              <a:rPr lang="en-US" altLang="zh-CN" sz="2800" dirty="0" smtClean="0"/>
              <a:t> </a:t>
            </a:r>
            <a:r>
              <a:rPr lang="zh-CN" altLang="en-US" sz="2800" dirty="0" smtClean="0"/>
              <a:t>试用一个</a:t>
            </a:r>
            <a:r>
              <a:rPr lang="en-US" altLang="zh-CN" sz="2800" dirty="0" smtClean="0"/>
              <a:t>8</a:t>
            </a:r>
            <a:r>
              <a:rPr lang="zh-CN" altLang="en-US" sz="2800" dirty="0" smtClean="0"/>
              <a:t>选</a:t>
            </a:r>
            <a:r>
              <a:rPr lang="en-US" altLang="zh-CN" sz="2800" dirty="0" smtClean="0"/>
              <a:t>1</a:t>
            </a:r>
            <a:r>
              <a:rPr lang="zh-CN" altLang="en-US" sz="2800" dirty="0" smtClean="0"/>
              <a:t>数据选择器</a:t>
            </a:r>
            <a:r>
              <a:rPr lang="en-US" altLang="zh-CN" sz="2800" dirty="0" smtClean="0"/>
              <a:t>MUX</a:t>
            </a:r>
            <a:r>
              <a:rPr lang="zh-CN" altLang="en-US" sz="2800" dirty="0" smtClean="0"/>
              <a:t>实现实现逻辑函数</a:t>
            </a:r>
            <a:endParaRPr lang="en-US" altLang="zh-CN" sz="2800" dirty="0" smtClean="0"/>
          </a:p>
          <a:p>
            <a:pPr>
              <a:spcBef>
                <a:spcPts val="0"/>
              </a:spcBef>
              <a:buSzPct val="100000"/>
              <a:buNone/>
            </a:pPr>
            <a:r>
              <a:rPr lang="en-US" altLang="zh-CN" sz="2800" dirty="0" smtClean="0"/>
              <a:t>   </a:t>
            </a:r>
            <a:r>
              <a:rPr lang="zh-CN" altLang="en-US" sz="2800" dirty="0" smtClean="0"/>
              <a:t>其中</a:t>
            </a:r>
            <a:r>
              <a:rPr lang="zh-CN" altLang="en-US" sz="2800" dirty="0" smtClean="0">
                <a:latin typeface="宋体"/>
                <a:ea typeface="宋体"/>
              </a:rPr>
              <a:t>∑</a:t>
            </a:r>
            <a:r>
              <a:rPr lang="en-US" altLang="zh-CN" sz="2800" dirty="0" smtClean="0">
                <a:latin typeface="宋体"/>
                <a:ea typeface="宋体"/>
              </a:rPr>
              <a:t>m(…)</a:t>
            </a:r>
            <a:r>
              <a:rPr lang="zh-CN" altLang="en-US" sz="2800" dirty="0" smtClean="0">
                <a:latin typeface="宋体"/>
                <a:ea typeface="宋体"/>
              </a:rPr>
              <a:t>为最小项之和，∑</a:t>
            </a:r>
            <a:r>
              <a:rPr lang="en-US" altLang="zh-CN" sz="2800" dirty="0" smtClean="0">
                <a:latin typeface="宋体"/>
                <a:ea typeface="宋体"/>
              </a:rPr>
              <a:t>d(…)</a:t>
            </a:r>
            <a:r>
              <a:rPr lang="zh-CN" altLang="en-US" sz="2800" dirty="0" smtClean="0">
                <a:latin typeface="宋体"/>
                <a:ea typeface="宋体"/>
              </a:rPr>
              <a:t>为随意项之和（输入允许使用反变量）。</a:t>
            </a:r>
            <a:endParaRPr lang="en-US" altLang="zh-CN" sz="2800" dirty="0" smtClean="0"/>
          </a:p>
          <a:p>
            <a:pPr>
              <a:spcBef>
                <a:spcPts val="0"/>
              </a:spcBef>
              <a:buSzPct val="100000"/>
              <a:buFont typeface="Wingdings" pitchFamily="2" charset="2"/>
              <a:buChar char="p"/>
            </a:pPr>
            <a:r>
              <a:rPr lang="zh-CN" altLang="en-US" sz="2800" dirty="0" smtClean="0">
                <a:solidFill>
                  <a:srgbClr val="0000CC"/>
                </a:solidFill>
              </a:rPr>
              <a:t>解</a:t>
            </a:r>
            <a:r>
              <a:rPr lang="zh-CN" altLang="en-US" sz="2800" dirty="0" smtClean="0"/>
              <a:t>：一个</a:t>
            </a:r>
            <a:r>
              <a:rPr lang="en-US" altLang="zh-CN" sz="2800" dirty="0" smtClean="0"/>
              <a:t>8</a:t>
            </a:r>
            <a:r>
              <a:rPr lang="zh-CN" altLang="en-US" sz="2800" dirty="0" smtClean="0"/>
              <a:t>选</a:t>
            </a:r>
            <a:r>
              <a:rPr lang="en-US" altLang="zh-CN" sz="2800" dirty="0" smtClean="0"/>
              <a:t>1</a:t>
            </a:r>
            <a:r>
              <a:rPr lang="zh-CN" altLang="en-US" sz="2800" dirty="0" smtClean="0"/>
              <a:t>数据选择器只有三个地址译码端，而函数输入有四个，所以先将函数的输入端转化为三个，如表</a:t>
            </a:r>
            <a:r>
              <a:rPr lang="en-US" altLang="zh-CN" sz="2800" dirty="0" smtClean="0"/>
              <a:t>4.16</a:t>
            </a:r>
            <a:r>
              <a:rPr lang="zh-CN" altLang="en-US" sz="2800" dirty="0" smtClean="0"/>
              <a:t>所示。</a:t>
            </a:r>
            <a:endParaRPr lang="en-US" altLang="zh-CN" sz="2800" dirty="0" smtClean="0"/>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113</a:t>
            </a:fld>
            <a:endParaRPr lang="zh-CN" altLang="en-US"/>
          </a:p>
        </p:txBody>
      </p:sp>
      <p:graphicFrame>
        <p:nvGraphicFramePr>
          <p:cNvPr id="638977" name="Object 1"/>
          <p:cNvGraphicFramePr>
            <a:graphicFrameLocks noChangeAspect="1"/>
          </p:cNvGraphicFramePr>
          <p:nvPr/>
        </p:nvGraphicFramePr>
        <p:xfrm>
          <a:off x="2483768" y="1988840"/>
          <a:ext cx="6112352" cy="487040"/>
        </p:xfrm>
        <a:graphic>
          <a:graphicData uri="http://schemas.openxmlformats.org/presentationml/2006/ole">
            <p:oleObj spid="_x0000_s668674" r:id="rId3" imgW="3187440" imgH="253800" progId="">
              <p:embed/>
            </p:oleObj>
          </a:graphicData>
        </a:graphic>
      </p:graphicFrame>
      <p:pic>
        <p:nvPicPr>
          <p:cNvPr id="668676" name="Picture 4"/>
          <p:cNvPicPr>
            <a:picLocks noChangeAspect="1" noChangeArrowheads="1"/>
          </p:cNvPicPr>
          <p:nvPr/>
        </p:nvPicPr>
        <p:blipFill>
          <a:blip r:embed="rId4" cstate="print"/>
          <a:srcRect/>
          <a:stretch>
            <a:fillRect/>
          </a:stretch>
        </p:blipFill>
        <p:spPr bwMode="auto">
          <a:xfrm>
            <a:off x="1187623" y="4365104"/>
            <a:ext cx="6470109" cy="2376264"/>
          </a:xfrm>
          <a:prstGeom prst="rect">
            <a:avLst/>
          </a:prstGeom>
          <a:noFill/>
          <a:ln w="9525">
            <a:noFill/>
            <a:miter lim="800000"/>
            <a:headEnd/>
            <a:tailEnd/>
          </a:ln>
        </p:spPr>
      </p:pic>
    </p:spTree>
    <p:extLst>
      <p:ext uri="{BB962C8B-B14F-4D97-AF65-F5344CB8AC3E}">
        <p14:creationId xmlns:p14="http://schemas.microsoft.com/office/powerpoint/2010/main" xmlns="" val="3894999216"/>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20688"/>
            <a:ext cx="7545014" cy="638944"/>
          </a:xfrm>
        </p:spPr>
        <p:txBody>
          <a:bodyPr/>
          <a:lstStyle/>
          <a:p>
            <a:r>
              <a:rPr lang="en-US" altLang="zh-CN" dirty="0" smtClean="0"/>
              <a:t>4.5.2 </a:t>
            </a:r>
            <a:r>
              <a:rPr lang="zh-CN" altLang="en-US" dirty="0" smtClean="0"/>
              <a:t>数据选择器实现逻辑函数</a:t>
            </a:r>
            <a:endParaRPr lang="zh-CN" altLang="en-US" dirty="0"/>
          </a:p>
        </p:txBody>
      </p:sp>
      <p:sp>
        <p:nvSpPr>
          <p:cNvPr id="3" name="内容占位符 2"/>
          <p:cNvSpPr>
            <a:spLocks noGrp="1"/>
          </p:cNvSpPr>
          <p:nvPr>
            <p:ph idx="1"/>
          </p:nvPr>
        </p:nvSpPr>
        <p:spPr>
          <a:xfrm>
            <a:off x="467544" y="1542208"/>
            <a:ext cx="8487544" cy="4911128"/>
          </a:xfrm>
        </p:spPr>
        <p:txBody>
          <a:bodyPr/>
          <a:lstStyle/>
          <a:p>
            <a:pPr>
              <a:buSzPct val="100000"/>
              <a:buFont typeface="Wingdings" pitchFamily="2" charset="2"/>
              <a:buChar char="p"/>
            </a:pPr>
            <a:r>
              <a:rPr lang="zh-CN" altLang="en-US" sz="2800" dirty="0" smtClean="0">
                <a:solidFill>
                  <a:srgbClr val="0000CC"/>
                </a:solidFill>
              </a:rPr>
              <a:t>例</a:t>
            </a:r>
            <a:r>
              <a:rPr lang="en-US" altLang="zh-CN" sz="2800" dirty="0" smtClean="0">
                <a:solidFill>
                  <a:srgbClr val="0000CC"/>
                </a:solidFill>
              </a:rPr>
              <a:t>4.13 </a:t>
            </a:r>
            <a:r>
              <a:rPr lang="en-US" altLang="zh-CN" sz="2800" dirty="0" smtClean="0"/>
              <a:t> </a:t>
            </a:r>
            <a:r>
              <a:rPr lang="zh-CN" altLang="en-US" sz="2800" dirty="0" smtClean="0">
                <a:solidFill>
                  <a:srgbClr val="0000CC"/>
                </a:solidFill>
              </a:rPr>
              <a:t>解</a:t>
            </a:r>
            <a:r>
              <a:rPr lang="zh-CN" altLang="en-US" sz="2800" dirty="0" smtClean="0"/>
              <a:t>：</a:t>
            </a:r>
            <a:endParaRPr lang="en-US" altLang="zh-CN" sz="2800" dirty="0" smtClean="0"/>
          </a:p>
          <a:p>
            <a:pPr>
              <a:buSzPct val="100000"/>
              <a:buNone/>
            </a:pPr>
            <a:r>
              <a:rPr lang="en-US" altLang="zh-CN" sz="2800" dirty="0" smtClean="0"/>
              <a:t>         </a:t>
            </a:r>
            <a:r>
              <a:rPr lang="zh-CN" altLang="en-US" sz="2800" dirty="0" smtClean="0"/>
              <a:t>转化成</a:t>
            </a:r>
            <a:r>
              <a:rPr lang="en-US" altLang="zh-CN" sz="2800" dirty="0" smtClean="0"/>
              <a:t>3</a:t>
            </a:r>
            <a:r>
              <a:rPr lang="zh-CN" altLang="en-US" sz="2800" dirty="0" smtClean="0"/>
              <a:t>个变量后，即可按上两例类似方法连接，结果如图</a:t>
            </a:r>
            <a:r>
              <a:rPr lang="en-US" altLang="zh-CN" sz="2800" dirty="0" smtClean="0"/>
              <a:t>4.31</a:t>
            </a:r>
            <a:r>
              <a:rPr lang="zh-CN" altLang="en-US" sz="2800" dirty="0" smtClean="0"/>
              <a:t>所示。</a:t>
            </a:r>
            <a:endParaRPr lang="en-US" altLang="zh-CN" sz="2800" dirty="0" smtClean="0"/>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114</a:t>
            </a:fld>
            <a:endParaRPr lang="zh-CN" altLang="en-US"/>
          </a:p>
        </p:txBody>
      </p:sp>
      <p:pic>
        <p:nvPicPr>
          <p:cNvPr id="638978" name="Picture 2"/>
          <p:cNvPicPr>
            <a:picLocks noChangeAspect="1" noChangeArrowheads="1"/>
          </p:cNvPicPr>
          <p:nvPr/>
        </p:nvPicPr>
        <p:blipFill>
          <a:blip r:embed="rId2" cstate="print"/>
          <a:srcRect/>
          <a:stretch>
            <a:fillRect/>
          </a:stretch>
        </p:blipFill>
        <p:spPr bwMode="auto">
          <a:xfrm>
            <a:off x="2915816" y="2924944"/>
            <a:ext cx="3074574" cy="3456384"/>
          </a:xfrm>
          <a:prstGeom prst="rect">
            <a:avLst/>
          </a:prstGeom>
          <a:noFill/>
          <a:ln w="9525">
            <a:noFill/>
            <a:miter lim="800000"/>
            <a:headEnd/>
            <a:tailEnd/>
          </a:ln>
        </p:spPr>
      </p:pic>
    </p:spTree>
    <p:extLst>
      <p:ext uri="{BB962C8B-B14F-4D97-AF65-F5344CB8AC3E}">
        <p14:creationId xmlns:p14="http://schemas.microsoft.com/office/powerpoint/2010/main" xmlns="" val="3894999216"/>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20688"/>
            <a:ext cx="7545014" cy="638944"/>
          </a:xfrm>
        </p:spPr>
        <p:txBody>
          <a:bodyPr/>
          <a:lstStyle/>
          <a:p>
            <a:r>
              <a:rPr lang="en-US" altLang="zh-CN" dirty="0" smtClean="0"/>
              <a:t>4.5.2 </a:t>
            </a:r>
            <a:r>
              <a:rPr lang="zh-CN" altLang="en-US" dirty="0" smtClean="0"/>
              <a:t>数据选择器实现逻辑函数</a:t>
            </a:r>
            <a:endParaRPr lang="zh-CN" altLang="en-US" dirty="0"/>
          </a:p>
        </p:txBody>
      </p:sp>
      <p:sp>
        <p:nvSpPr>
          <p:cNvPr id="3" name="内容占位符 2"/>
          <p:cNvSpPr>
            <a:spLocks noGrp="1"/>
          </p:cNvSpPr>
          <p:nvPr>
            <p:ph idx="1"/>
          </p:nvPr>
        </p:nvSpPr>
        <p:spPr>
          <a:xfrm>
            <a:off x="467544" y="1542208"/>
            <a:ext cx="8487544" cy="4911128"/>
          </a:xfrm>
        </p:spPr>
        <p:txBody>
          <a:bodyPr/>
          <a:lstStyle/>
          <a:p>
            <a:pPr>
              <a:lnSpc>
                <a:spcPct val="100000"/>
              </a:lnSpc>
              <a:spcBef>
                <a:spcPts val="600"/>
              </a:spcBef>
              <a:buSzPct val="100000"/>
              <a:buFont typeface="Wingdings" pitchFamily="2" charset="2"/>
              <a:buChar char="p"/>
            </a:pPr>
            <a:r>
              <a:rPr lang="zh-CN" altLang="en-US" sz="2800" dirty="0" smtClean="0">
                <a:solidFill>
                  <a:srgbClr val="0000CC"/>
                </a:solidFill>
              </a:rPr>
              <a:t>例</a:t>
            </a:r>
            <a:r>
              <a:rPr lang="en-US" altLang="zh-CN" sz="2800" dirty="0" smtClean="0">
                <a:solidFill>
                  <a:srgbClr val="0000CC"/>
                </a:solidFill>
              </a:rPr>
              <a:t>4.14 </a:t>
            </a:r>
            <a:r>
              <a:rPr lang="en-US" altLang="zh-CN" sz="2800" dirty="0" smtClean="0"/>
              <a:t> </a:t>
            </a:r>
            <a:r>
              <a:rPr lang="zh-CN" altLang="en-US" sz="2800" dirty="0" smtClean="0"/>
              <a:t>数据选择器的实际应用。</a:t>
            </a:r>
            <a:endParaRPr lang="en-US" altLang="zh-CN" sz="2800" dirty="0" smtClean="0"/>
          </a:p>
          <a:p>
            <a:pPr lvl="1">
              <a:lnSpc>
                <a:spcPct val="100000"/>
              </a:lnSpc>
              <a:spcBef>
                <a:spcPts val="600"/>
              </a:spcBef>
              <a:buSzPct val="100000"/>
            </a:pPr>
            <a:r>
              <a:rPr lang="en-US" altLang="zh-CN" sz="2400" dirty="0" smtClean="0"/>
              <a:t> </a:t>
            </a:r>
            <a:r>
              <a:rPr lang="zh-CN" altLang="en-US" sz="2400" dirty="0" smtClean="0"/>
              <a:t>应用</a:t>
            </a:r>
            <a:r>
              <a:rPr lang="en-US" altLang="zh-CN" sz="2400" dirty="0" smtClean="0"/>
              <a:t>1</a:t>
            </a:r>
            <a:r>
              <a:rPr lang="zh-CN" altLang="en-US" sz="2400" dirty="0" smtClean="0"/>
              <a:t>：传统以太网的总线拓扑结构</a:t>
            </a:r>
            <a:endParaRPr lang="en-US" altLang="zh-CN" sz="2400" dirty="0" smtClean="0"/>
          </a:p>
          <a:p>
            <a:pPr lvl="2">
              <a:lnSpc>
                <a:spcPct val="100000"/>
              </a:lnSpc>
              <a:spcBef>
                <a:spcPts val="600"/>
              </a:spcBef>
              <a:buSzPct val="100000"/>
              <a:buFont typeface="Wingdings" pitchFamily="2" charset="2"/>
              <a:buChar char="u"/>
            </a:pPr>
            <a:r>
              <a:rPr lang="zh-CN" altLang="en-US" dirty="0" smtClean="0"/>
              <a:t>公共总线，</a:t>
            </a:r>
            <a:endParaRPr lang="en-US" altLang="zh-CN" dirty="0" smtClean="0"/>
          </a:p>
          <a:p>
            <a:pPr lvl="2">
              <a:lnSpc>
                <a:spcPct val="100000"/>
              </a:lnSpc>
              <a:spcBef>
                <a:spcPts val="600"/>
              </a:spcBef>
              <a:buSzPct val="100000"/>
              <a:buFont typeface="Wingdings" pitchFamily="2" charset="2"/>
              <a:buChar char="u"/>
            </a:pPr>
            <a:r>
              <a:rPr lang="zh-CN" altLang="en-US" dirty="0" smtClean="0"/>
              <a:t>计算机与总线之间的连接由总线仲裁器（</a:t>
            </a:r>
            <a:r>
              <a:rPr lang="en-US" altLang="zh-CN" dirty="0" smtClean="0"/>
              <a:t>Bus </a:t>
            </a:r>
            <a:r>
              <a:rPr lang="en-US" altLang="zh-CN" dirty="0" err="1" smtClean="0"/>
              <a:t>Artiter</a:t>
            </a:r>
            <a:r>
              <a:rPr lang="zh-CN" altLang="en-US" dirty="0" smtClean="0"/>
              <a:t>，可以看作是一种特殊的数据选择器）进行控制。</a:t>
            </a:r>
            <a:endParaRPr lang="en-US" altLang="zh-CN" dirty="0" smtClean="0"/>
          </a:p>
          <a:p>
            <a:pPr lvl="2">
              <a:lnSpc>
                <a:spcPct val="100000"/>
              </a:lnSpc>
              <a:spcBef>
                <a:spcPts val="600"/>
              </a:spcBef>
              <a:buSzPct val="100000"/>
              <a:buFont typeface="Wingdings" pitchFamily="2" charset="2"/>
              <a:buChar char="u"/>
            </a:pPr>
            <a:r>
              <a:rPr lang="zh-CN" altLang="en-US" dirty="0" smtClean="0"/>
              <a:t>同一时间只有一台计算机可以使用</a:t>
            </a:r>
            <a:endParaRPr lang="en-US" altLang="zh-CN" dirty="0" smtClean="0"/>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115</a:t>
            </a:fld>
            <a:endParaRPr lang="zh-CN" altLang="en-US"/>
          </a:p>
        </p:txBody>
      </p:sp>
      <p:pic>
        <p:nvPicPr>
          <p:cNvPr id="637953" name="Picture 1"/>
          <p:cNvPicPr>
            <a:picLocks noChangeAspect="1" noChangeArrowheads="1"/>
          </p:cNvPicPr>
          <p:nvPr/>
        </p:nvPicPr>
        <p:blipFill>
          <a:blip r:embed="rId2" cstate="print"/>
          <a:srcRect/>
          <a:stretch>
            <a:fillRect/>
          </a:stretch>
        </p:blipFill>
        <p:spPr bwMode="auto">
          <a:xfrm>
            <a:off x="2195736" y="4005064"/>
            <a:ext cx="4405195" cy="2304256"/>
          </a:xfrm>
          <a:prstGeom prst="rect">
            <a:avLst/>
          </a:prstGeom>
          <a:noFill/>
          <a:ln w="9525">
            <a:noFill/>
            <a:miter lim="800000"/>
            <a:headEnd/>
            <a:tailEnd/>
          </a:ln>
        </p:spPr>
      </p:pic>
    </p:spTree>
    <p:extLst>
      <p:ext uri="{BB962C8B-B14F-4D97-AF65-F5344CB8AC3E}">
        <p14:creationId xmlns:p14="http://schemas.microsoft.com/office/powerpoint/2010/main" xmlns="" val="3894999216"/>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20688"/>
            <a:ext cx="7545014" cy="638944"/>
          </a:xfrm>
        </p:spPr>
        <p:txBody>
          <a:bodyPr/>
          <a:lstStyle/>
          <a:p>
            <a:r>
              <a:rPr lang="en-US" altLang="zh-CN" dirty="0" smtClean="0"/>
              <a:t>4.5.2 </a:t>
            </a:r>
            <a:r>
              <a:rPr lang="zh-CN" altLang="en-US" dirty="0" smtClean="0"/>
              <a:t>数据选择器实现逻辑函数</a:t>
            </a:r>
            <a:endParaRPr lang="zh-CN" altLang="en-US" dirty="0"/>
          </a:p>
        </p:txBody>
      </p:sp>
      <p:sp>
        <p:nvSpPr>
          <p:cNvPr id="3" name="内容占位符 2"/>
          <p:cNvSpPr>
            <a:spLocks noGrp="1"/>
          </p:cNvSpPr>
          <p:nvPr>
            <p:ph idx="1"/>
          </p:nvPr>
        </p:nvSpPr>
        <p:spPr>
          <a:xfrm>
            <a:off x="467544" y="1542208"/>
            <a:ext cx="8487544" cy="4911128"/>
          </a:xfrm>
        </p:spPr>
        <p:txBody>
          <a:bodyPr/>
          <a:lstStyle/>
          <a:p>
            <a:pPr>
              <a:lnSpc>
                <a:spcPct val="100000"/>
              </a:lnSpc>
              <a:spcBef>
                <a:spcPts val="0"/>
              </a:spcBef>
              <a:spcAft>
                <a:spcPts val="600"/>
              </a:spcAft>
              <a:buSzPct val="100000"/>
              <a:buFont typeface="Wingdings" pitchFamily="2" charset="2"/>
              <a:buChar char="p"/>
            </a:pPr>
            <a:r>
              <a:rPr lang="zh-CN" altLang="en-US" sz="2800" dirty="0" smtClean="0">
                <a:solidFill>
                  <a:srgbClr val="0000CC"/>
                </a:solidFill>
              </a:rPr>
              <a:t>例</a:t>
            </a:r>
            <a:r>
              <a:rPr lang="en-US" altLang="zh-CN" sz="2800" dirty="0" smtClean="0">
                <a:solidFill>
                  <a:srgbClr val="0000CC"/>
                </a:solidFill>
              </a:rPr>
              <a:t>4.14 </a:t>
            </a:r>
            <a:r>
              <a:rPr lang="en-US" altLang="zh-CN" sz="2800" dirty="0" smtClean="0"/>
              <a:t> </a:t>
            </a:r>
            <a:r>
              <a:rPr lang="zh-CN" altLang="en-US" sz="2800" dirty="0" smtClean="0"/>
              <a:t>数据选择器的实际应用。</a:t>
            </a:r>
            <a:endParaRPr lang="en-US" altLang="zh-CN" sz="2800" dirty="0" smtClean="0"/>
          </a:p>
          <a:p>
            <a:pPr lvl="1">
              <a:lnSpc>
                <a:spcPct val="100000"/>
              </a:lnSpc>
              <a:spcBef>
                <a:spcPts val="0"/>
              </a:spcBef>
              <a:spcAft>
                <a:spcPts val="600"/>
              </a:spcAft>
              <a:buSzPct val="100000"/>
            </a:pPr>
            <a:r>
              <a:rPr lang="en-US" altLang="zh-CN" sz="2400" dirty="0" smtClean="0"/>
              <a:t> </a:t>
            </a:r>
            <a:r>
              <a:rPr lang="zh-CN" altLang="en-US" sz="2400" dirty="0" smtClean="0"/>
              <a:t>应用</a:t>
            </a:r>
            <a:r>
              <a:rPr lang="en-US" altLang="zh-CN" sz="2400" dirty="0" smtClean="0"/>
              <a:t>2</a:t>
            </a:r>
            <a:r>
              <a:rPr lang="zh-CN" altLang="en-US" sz="2400" dirty="0" smtClean="0"/>
              <a:t>： 时分复用</a:t>
            </a:r>
            <a:endParaRPr lang="en-US" altLang="zh-CN" sz="2400" dirty="0" smtClean="0"/>
          </a:p>
          <a:p>
            <a:pPr lvl="2">
              <a:lnSpc>
                <a:spcPct val="100000"/>
              </a:lnSpc>
              <a:spcBef>
                <a:spcPts val="600"/>
              </a:spcBef>
              <a:buSzPct val="100000"/>
              <a:buFont typeface="Wingdings" pitchFamily="2" charset="2"/>
              <a:buChar char="u"/>
            </a:pPr>
            <a:r>
              <a:rPr lang="zh-CN" altLang="en-US" dirty="0" smtClean="0"/>
              <a:t>多路信号挂在同一条通信线路上进行传输。</a:t>
            </a:r>
            <a:endParaRPr lang="en-US" altLang="zh-CN" dirty="0" smtClean="0"/>
          </a:p>
          <a:p>
            <a:pPr lvl="2">
              <a:lnSpc>
                <a:spcPct val="100000"/>
              </a:lnSpc>
              <a:spcBef>
                <a:spcPts val="600"/>
              </a:spcBef>
              <a:buSzPct val="100000"/>
              <a:buFont typeface="Wingdings" pitchFamily="2" charset="2"/>
              <a:buChar char="u"/>
            </a:pPr>
            <a:r>
              <a:rPr lang="zh-CN" altLang="en-US" dirty="0" smtClean="0"/>
              <a:t>传输时间被分成若干个时隙，每一个时隙传输某一路输入信号。</a:t>
            </a:r>
            <a:endParaRPr lang="en-US" altLang="zh-CN" dirty="0" smtClean="0"/>
          </a:p>
          <a:p>
            <a:pPr lvl="2">
              <a:lnSpc>
                <a:spcPct val="100000"/>
              </a:lnSpc>
              <a:spcBef>
                <a:spcPts val="600"/>
              </a:spcBef>
              <a:buSzPct val="100000"/>
              <a:buFont typeface="Wingdings" pitchFamily="2" charset="2"/>
              <a:buChar char="u"/>
            </a:pPr>
            <a:r>
              <a:rPr lang="zh-CN" altLang="en-US" dirty="0" smtClean="0"/>
              <a:t>具体传输哪一路信号由输入端数据选择器的控制输入信号决定（开关信号）。</a:t>
            </a:r>
            <a:endParaRPr lang="en-US" altLang="zh-CN" dirty="0" smtClean="0"/>
          </a:p>
          <a:p>
            <a:pPr lvl="2">
              <a:lnSpc>
                <a:spcPct val="100000"/>
              </a:lnSpc>
              <a:spcBef>
                <a:spcPts val="600"/>
              </a:spcBef>
              <a:buSzPct val="100000"/>
              <a:buFont typeface="Wingdings" pitchFamily="2" charset="2"/>
              <a:buChar char="u"/>
            </a:pPr>
            <a:r>
              <a:rPr lang="zh-CN" altLang="en-US" dirty="0" smtClean="0"/>
              <a:t>与此同时，在输出端由与之同步的控制信号，通过数据分配器决定公共通信线路上传输的信号分配至哪一个输出端口。</a:t>
            </a:r>
            <a:endParaRPr lang="en-US" altLang="zh-CN" dirty="0" smtClean="0"/>
          </a:p>
          <a:p>
            <a:pPr>
              <a:buSzPct val="100000"/>
              <a:buFont typeface="Wingdings" pitchFamily="2" charset="2"/>
              <a:buChar char="p"/>
            </a:pPr>
            <a:endParaRPr lang="en-US" altLang="zh-CN" sz="2800" dirty="0" smtClean="0"/>
          </a:p>
          <a:p>
            <a:pPr>
              <a:buNone/>
            </a:pP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116</a:t>
            </a:fld>
            <a:endParaRPr lang="zh-CN" altLang="en-US"/>
          </a:p>
        </p:txBody>
      </p:sp>
      <p:pic>
        <p:nvPicPr>
          <p:cNvPr id="636930" name="Picture 2"/>
          <p:cNvPicPr>
            <a:picLocks noChangeAspect="1" noChangeArrowheads="1"/>
          </p:cNvPicPr>
          <p:nvPr/>
        </p:nvPicPr>
        <p:blipFill>
          <a:blip r:embed="rId2" cstate="print"/>
          <a:srcRect/>
          <a:stretch>
            <a:fillRect/>
          </a:stretch>
        </p:blipFill>
        <p:spPr bwMode="auto">
          <a:xfrm>
            <a:off x="1115616" y="4797152"/>
            <a:ext cx="6940081" cy="1872208"/>
          </a:xfrm>
          <a:prstGeom prst="rect">
            <a:avLst/>
          </a:prstGeom>
          <a:noFill/>
          <a:ln w="9525">
            <a:noFill/>
            <a:miter lim="800000"/>
            <a:headEnd/>
            <a:tailEnd/>
          </a:ln>
        </p:spPr>
      </p:pic>
    </p:spTree>
    <p:extLst>
      <p:ext uri="{BB962C8B-B14F-4D97-AF65-F5344CB8AC3E}">
        <p14:creationId xmlns:p14="http://schemas.microsoft.com/office/powerpoint/2010/main" xmlns="" val="3894999216"/>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0" y="620688"/>
            <a:ext cx="7793037" cy="638944"/>
          </a:xfrm>
        </p:spPr>
        <p:txBody>
          <a:bodyPr/>
          <a:lstStyle/>
          <a:p>
            <a:r>
              <a:rPr lang="en-US" altLang="zh-CN" dirty="0" smtClean="0"/>
              <a:t>4.6 </a:t>
            </a:r>
            <a:r>
              <a:rPr lang="zh-CN" altLang="en-US" dirty="0" smtClean="0"/>
              <a:t>数值</a:t>
            </a:r>
            <a:r>
              <a:rPr lang="zh-CN" altLang="en-US" dirty="0"/>
              <a:t>比较器（ </a:t>
            </a:r>
            <a:r>
              <a:rPr lang="en-US" altLang="zh-CN" dirty="0"/>
              <a:t>Digital Comparator </a:t>
            </a:r>
            <a:r>
              <a:rPr lang="zh-CN" altLang="en-US" dirty="0"/>
              <a:t>）</a:t>
            </a:r>
          </a:p>
        </p:txBody>
      </p:sp>
      <p:sp>
        <p:nvSpPr>
          <p:cNvPr id="3" name="内容占位符 2"/>
          <p:cNvSpPr>
            <a:spLocks noGrp="1"/>
          </p:cNvSpPr>
          <p:nvPr>
            <p:ph idx="1"/>
          </p:nvPr>
        </p:nvSpPr>
        <p:spPr>
          <a:xfrm>
            <a:off x="539552" y="1542208"/>
            <a:ext cx="8415536" cy="4911128"/>
          </a:xfrm>
        </p:spPr>
        <p:txBody>
          <a:bodyPr/>
          <a:lstStyle/>
          <a:p>
            <a:pPr>
              <a:lnSpc>
                <a:spcPct val="100000"/>
              </a:lnSpc>
              <a:spcBef>
                <a:spcPts val="600"/>
              </a:spcBef>
              <a:buSzPct val="100000"/>
              <a:buFont typeface="Wingdings" pitchFamily="2" charset="2"/>
              <a:buChar char="p"/>
            </a:pPr>
            <a:r>
              <a:rPr lang="zh-CN" altLang="en-US" sz="2800" dirty="0"/>
              <a:t>数值</a:t>
            </a:r>
            <a:r>
              <a:rPr lang="zh-CN" altLang="en-US" sz="2800" dirty="0" smtClean="0"/>
              <a:t>比较器</a:t>
            </a:r>
            <a:endParaRPr lang="en-US" altLang="zh-CN" sz="2800" dirty="0" smtClean="0"/>
          </a:p>
          <a:p>
            <a:pPr lvl="1">
              <a:lnSpc>
                <a:spcPct val="100000"/>
              </a:lnSpc>
              <a:spcBef>
                <a:spcPts val="600"/>
              </a:spcBef>
              <a:buSzPct val="100000"/>
            </a:pPr>
            <a:r>
              <a:rPr lang="zh-CN" altLang="en-US" sz="2400" dirty="0">
                <a:solidFill>
                  <a:srgbClr val="0000CC"/>
                </a:solidFill>
              </a:rPr>
              <a:t>数值比较器</a:t>
            </a:r>
            <a:r>
              <a:rPr lang="en-US" altLang="zh-CN" sz="2400" dirty="0"/>
              <a:t>(Digital Comparator)</a:t>
            </a:r>
            <a:r>
              <a:rPr lang="zh-CN" altLang="en-US" sz="2400" dirty="0"/>
              <a:t>是</a:t>
            </a:r>
            <a:r>
              <a:rPr lang="zh-CN" altLang="en-US" sz="2400" dirty="0" smtClean="0"/>
              <a:t>实现两</a:t>
            </a:r>
            <a:r>
              <a:rPr lang="zh-CN" altLang="en-US" sz="2400" dirty="0"/>
              <a:t>个数值之间的</a:t>
            </a:r>
            <a:r>
              <a:rPr lang="zh-CN" altLang="en-US" sz="2400" dirty="0">
                <a:solidFill>
                  <a:srgbClr val="0000CC"/>
                </a:solidFill>
              </a:rPr>
              <a:t>大、小、相等</a:t>
            </a:r>
            <a:r>
              <a:rPr lang="zh-CN" altLang="en-US" sz="2400" dirty="0"/>
              <a:t>比较，或只是</a:t>
            </a:r>
            <a:r>
              <a:rPr lang="zh-CN" altLang="en-US" sz="2400" dirty="0" smtClean="0"/>
              <a:t>比较</a:t>
            </a:r>
            <a:r>
              <a:rPr lang="zh-CN" altLang="en-US" sz="2400" dirty="0"/>
              <a:t>二者</a:t>
            </a:r>
            <a:r>
              <a:rPr lang="zh-CN" altLang="en-US" sz="2400" dirty="0">
                <a:solidFill>
                  <a:srgbClr val="0000CC"/>
                </a:solidFill>
              </a:rPr>
              <a:t>是否相等</a:t>
            </a:r>
            <a:r>
              <a:rPr lang="zh-CN" altLang="en-US" sz="2400" dirty="0"/>
              <a:t>的逻辑功能电路</a:t>
            </a:r>
            <a:r>
              <a:rPr lang="zh-CN" altLang="en-US" sz="2400" dirty="0" smtClean="0"/>
              <a:t>。</a:t>
            </a:r>
            <a:endParaRPr lang="zh-CN" altLang="en-US" sz="2400" dirty="0"/>
          </a:p>
          <a:p>
            <a:pPr>
              <a:lnSpc>
                <a:spcPct val="100000"/>
              </a:lnSpc>
              <a:spcBef>
                <a:spcPts val="600"/>
              </a:spcBef>
              <a:buSzPct val="100000"/>
              <a:buFont typeface="Wingdings" pitchFamily="2" charset="2"/>
              <a:buChar char="p"/>
            </a:pPr>
            <a:r>
              <a:rPr lang="en-US" altLang="zh-CN" sz="2800" dirty="0"/>
              <a:t>1</a:t>
            </a:r>
            <a:r>
              <a:rPr lang="zh-CN" altLang="en-US" sz="2800" dirty="0"/>
              <a:t>位数值比较器工作</a:t>
            </a:r>
            <a:r>
              <a:rPr lang="zh-CN" altLang="en-US" sz="2800" dirty="0" smtClean="0"/>
              <a:t>原理</a:t>
            </a:r>
            <a:endParaRPr lang="en-US" altLang="zh-CN" sz="2800" dirty="0" smtClean="0"/>
          </a:p>
          <a:p>
            <a:pPr lvl="1">
              <a:lnSpc>
                <a:spcPct val="100000"/>
              </a:lnSpc>
              <a:spcBef>
                <a:spcPts val="600"/>
              </a:spcBef>
              <a:buSzPct val="100000"/>
            </a:pPr>
            <a:r>
              <a:rPr lang="zh-CN" altLang="en-US" sz="2400" dirty="0"/>
              <a:t>两个</a:t>
            </a:r>
            <a:r>
              <a:rPr lang="en-US" altLang="zh-CN" sz="2400" dirty="0"/>
              <a:t>1</a:t>
            </a:r>
            <a:r>
              <a:rPr lang="zh-CN" altLang="en-US" sz="2400" dirty="0"/>
              <a:t>位二进制数</a:t>
            </a:r>
            <a:r>
              <a:rPr lang="en-US" altLang="zh-CN" sz="2400" dirty="0"/>
              <a:t>A</a:t>
            </a:r>
            <a:r>
              <a:rPr lang="zh-CN" altLang="en-US" sz="2400" dirty="0"/>
              <a:t>和</a:t>
            </a:r>
            <a:r>
              <a:rPr lang="en-US" altLang="zh-CN" sz="2400" dirty="0"/>
              <a:t>B</a:t>
            </a:r>
            <a:r>
              <a:rPr lang="zh-CN" altLang="en-US" sz="2400" dirty="0"/>
              <a:t>相比的情况有以下三种：</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117</a:t>
            </a:fld>
            <a:endParaRPr lang="zh-CN" altLang="en-US"/>
          </a:p>
        </p:txBody>
      </p:sp>
      <p:sp>
        <p:nvSpPr>
          <p:cNvPr id="5" name="矩形 4"/>
          <p:cNvSpPr/>
          <p:nvPr/>
        </p:nvSpPr>
        <p:spPr>
          <a:xfrm>
            <a:off x="1339080" y="4472464"/>
            <a:ext cx="2778325" cy="1477328"/>
          </a:xfrm>
          <a:prstGeom prst="rect">
            <a:avLst/>
          </a:prstGeom>
          <a:solidFill>
            <a:schemeClr val="bg1"/>
          </a:solidFill>
        </p:spPr>
        <p:txBody>
          <a:bodyPr wrap="none">
            <a:spAutoFit/>
          </a:bodyPr>
          <a:lstStyle/>
          <a:p>
            <a:pPr marL="342900" indent="-342900">
              <a:lnSpc>
                <a:spcPct val="150000"/>
              </a:lnSpc>
              <a:buFont typeface="+mj-ea"/>
              <a:buAutoNum type="circleNumDbPlain"/>
            </a:pPr>
            <a:r>
              <a:rPr kumimoji="1" lang="en-US" altLang="zh-CN" sz="2000" b="1" dirty="0" smtClean="0">
                <a:latin typeface="Times New Roman" panose="02020603050405020304" pitchFamily="18" charset="0"/>
              </a:rPr>
              <a:t>A&gt;B</a:t>
            </a:r>
            <a:r>
              <a:rPr kumimoji="1" lang="zh-CN" altLang="en-US" sz="2000" b="1" dirty="0">
                <a:latin typeface="Times New Roman" panose="02020603050405020304" pitchFamily="18" charset="0"/>
              </a:rPr>
              <a:t>（即</a:t>
            </a:r>
            <a:r>
              <a:rPr kumimoji="1" lang="en-US" altLang="zh-CN" sz="2000" b="1" dirty="0">
                <a:latin typeface="Times New Roman" panose="02020603050405020304" pitchFamily="18" charset="0"/>
              </a:rPr>
              <a:t>A=1,B=0</a:t>
            </a:r>
            <a:r>
              <a:rPr kumimoji="1" lang="zh-CN" altLang="en-US" sz="2000" b="1" dirty="0" smtClean="0">
                <a:latin typeface="Times New Roman" panose="02020603050405020304" pitchFamily="18" charset="0"/>
              </a:rPr>
              <a:t>）</a:t>
            </a:r>
            <a:endParaRPr kumimoji="1" lang="en-US" altLang="zh-CN" sz="2000" b="1" dirty="0" smtClean="0">
              <a:latin typeface="Times New Roman" panose="02020603050405020304" pitchFamily="18" charset="0"/>
            </a:endParaRPr>
          </a:p>
          <a:p>
            <a:pPr marL="342900" indent="-342900">
              <a:lnSpc>
                <a:spcPct val="150000"/>
              </a:lnSpc>
              <a:buFont typeface="+mj-ea"/>
              <a:buAutoNum type="circleNumDbPlain"/>
            </a:pPr>
            <a:r>
              <a:rPr kumimoji="1" lang="en-US" altLang="zh-CN" sz="2000" b="1" dirty="0" smtClean="0">
                <a:latin typeface="Times New Roman" panose="02020603050405020304" pitchFamily="18" charset="0"/>
              </a:rPr>
              <a:t>A&lt;B</a:t>
            </a:r>
            <a:r>
              <a:rPr kumimoji="1" lang="zh-CN" altLang="en-US" sz="2000" b="1" dirty="0">
                <a:latin typeface="Times New Roman" panose="02020603050405020304" pitchFamily="18" charset="0"/>
              </a:rPr>
              <a:t>（即</a:t>
            </a:r>
            <a:r>
              <a:rPr kumimoji="1" lang="en-US" altLang="zh-CN" sz="2000" b="1" dirty="0" smtClean="0">
                <a:latin typeface="Times New Roman" panose="02020603050405020304" pitchFamily="18" charset="0"/>
              </a:rPr>
              <a:t>A=1,B=0</a:t>
            </a:r>
            <a:r>
              <a:rPr kumimoji="1" lang="zh-CN" altLang="en-US" sz="2000" b="1" dirty="0" smtClean="0">
                <a:latin typeface="Times New Roman" panose="02020603050405020304" pitchFamily="18" charset="0"/>
              </a:rPr>
              <a:t>）</a:t>
            </a:r>
            <a:endParaRPr kumimoji="1" lang="en-US" altLang="zh-CN" sz="2000" b="1" dirty="0" smtClean="0">
              <a:latin typeface="Times New Roman" panose="02020603050405020304" pitchFamily="18" charset="0"/>
            </a:endParaRPr>
          </a:p>
          <a:p>
            <a:pPr marL="342900" indent="-342900">
              <a:lnSpc>
                <a:spcPct val="150000"/>
              </a:lnSpc>
              <a:buFont typeface="+mj-ea"/>
              <a:buAutoNum type="circleNumDbPlain"/>
            </a:pPr>
            <a:r>
              <a:rPr kumimoji="1" lang="en-US" altLang="zh-CN" sz="2000" b="1" dirty="0" smtClean="0">
                <a:latin typeface="Times New Roman" panose="02020603050405020304" pitchFamily="18" charset="0"/>
              </a:rPr>
              <a:t>A=B</a:t>
            </a:r>
            <a:r>
              <a:rPr kumimoji="1" lang="zh-CN" altLang="en-US" sz="2000" b="1" dirty="0">
                <a:latin typeface="Times New Roman" panose="02020603050405020304" pitchFamily="18" charset="0"/>
              </a:rPr>
              <a:t>（即</a:t>
            </a:r>
            <a:r>
              <a:rPr kumimoji="1" lang="en-US" altLang="zh-CN" sz="2000" b="1" dirty="0">
                <a:latin typeface="Times New Roman" panose="02020603050405020304" pitchFamily="18" charset="0"/>
              </a:rPr>
              <a:t>A=1,B=0</a:t>
            </a:r>
            <a:r>
              <a:rPr kumimoji="1" lang="zh-CN" altLang="en-US" sz="2000" b="1" dirty="0" smtClean="0">
                <a:latin typeface="Times New Roman" panose="02020603050405020304" pitchFamily="18" charset="0"/>
              </a:rPr>
              <a:t>）</a:t>
            </a:r>
            <a:endParaRPr lang="zh-CN" altLang="en-US" sz="2000" dirty="0"/>
          </a:p>
        </p:txBody>
      </p:sp>
      <p:pic>
        <p:nvPicPr>
          <p:cNvPr id="1741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403648" y="4581128"/>
            <a:ext cx="6779154" cy="1260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7" name="标题 1"/>
          <p:cNvSpPr txBox="1">
            <a:spLocks/>
          </p:cNvSpPr>
          <p:nvPr/>
        </p:nvSpPr>
        <p:spPr bwMode="auto">
          <a:xfrm>
            <a:off x="1259632" y="0"/>
            <a:ext cx="7016824" cy="63894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fontAlgn="base">
              <a:spcBef>
                <a:spcPct val="0"/>
              </a:spcBef>
              <a:spcAft>
                <a:spcPct val="0"/>
              </a:spcAft>
              <a:defRPr/>
            </a:pP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第</a:t>
            </a:r>
            <a:r>
              <a:rPr kumimoji="1" lang="en-US" altLang="zh-CN" sz="3600" b="1" kern="0" dirty="0" smtClean="0">
                <a:solidFill>
                  <a:schemeClr val="tx2"/>
                </a:solidFill>
                <a:latin typeface="+mj-lt"/>
                <a:ea typeface="+mj-ea"/>
                <a:cs typeface="+mj-cs"/>
              </a:rPr>
              <a:t>4</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章　组合</a:t>
            </a:r>
            <a:r>
              <a:rPr kumimoji="1" lang="zh-CN" altLang="en-US" sz="3600" b="1" kern="0" dirty="0" smtClean="0">
                <a:solidFill>
                  <a:schemeClr val="tx2"/>
                </a:solidFill>
              </a:rPr>
              <a:t>逻辑</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电路</a:t>
            </a:r>
            <a:endParaRPr kumimoji="1" lang="zh-CN" altLang="en-US" sz="36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3430540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4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92696"/>
            <a:ext cx="7545014" cy="566936"/>
          </a:xfrm>
        </p:spPr>
        <p:txBody>
          <a:bodyPr/>
          <a:lstStyle/>
          <a:p>
            <a:r>
              <a:rPr lang="en-US" altLang="zh-CN" dirty="0" smtClean="0"/>
              <a:t>4.6 </a:t>
            </a:r>
            <a:r>
              <a:rPr lang="zh-CN" altLang="en-US" dirty="0" smtClean="0"/>
              <a:t>数值比较器</a:t>
            </a:r>
            <a:endParaRPr lang="zh-CN" altLang="en-US" dirty="0"/>
          </a:p>
        </p:txBody>
      </p:sp>
      <p:sp>
        <p:nvSpPr>
          <p:cNvPr id="3" name="内容占位符 2"/>
          <p:cNvSpPr>
            <a:spLocks noGrp="1"/>
          </p:cNvSpPr>
          <p:nvPr>
            <p:ph idx="1"/>
          </p:nvPr>
        </p:nvSpPr>
        <p:spPr>
          <a:xfrm>
            <a:off x="539552" y="1542208"/>
            <a:ext cx="8280920" cy="4911128"/>
          </a:xfrm>
        </p:spPr>
        <p:txBody>
          <a:bodyPr/>
          <a:lstStyle/>
          <a:p>
            <a:pPr lvl="1">
              <a:buSzPct val="100000"/>
            </a:pPr>
            <a:r>
              <a:rPr lang="en-US" altLang="zh-CN" sz="2400" dirty="0"/>
              <a:t>1</a:t>
            </a:r>
            <a:r>
              <a:rPr lang="zh-CN" altLang="en-US" sz="2400" dirty="0"/>
              <a:t>位数值比较器的电路图可如下设计：</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118</a:t>
            </a:fld>
            <a:endParaRPr lang="zh-CN" altLang="en-US"/>
          </a:p>
        </p:txBody>
      </p:sp>
      <p:pic>
        <p:nvPicPr>
          <p:cNvPr id="18434" name="Picture 2" descr="E:\wrj\课件\数字电路与系统\数字电路与数字系统\tupian\4-25.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051711" y="2348880"/>
            <a:ext cx="5957999" cy="2124000"/>
          </a:xfrm>
          <a:prstGeom prst="rect">
            <a:avLst/>
          </a:prstGeom>
          <a:noFill/>
          <a:extLst>
            <a:ext uri="{909E8E84-426E-40DD-AFC4-6F175D3DCCD1}">
              <a14:hiddenFill xmlns:a14="http://schemas.microsoft.com/office/drawing/2010/main" xmlns="">
                <a:solidFill>
                  <a:srgbClr val="FFFFFF"/>
                </a:solidFill>
              </a14:hiddenFill>
            </a:ext>
          </a:extLst>
        </p:spPr>
      </p:pic>
      <p:sp>
        <p:nvSpPr>
          <p:cNvPr id="5" name="矩形 4"/>
          <p:cNvSpPr/>
          <p:nvPr/>
        </p:nvSpPr>
        <p:spPr>
          <a:xfrm>
            <a:off x="2560292" y="5013176"/>
            <a:ext cx="3094116" cy="369332"/>
          </a:xfrm>
          <a:prstGeom prst="rect">
            <a:avLst/>
          </a:prstGeom>
        </p:spPr>
        <p:txBody>
          <a:bodyPr wrap="none">
            <a:spAutoFit/>
          </a:bodyPr>
          <a:lstStyle/>
          <a:p>
            <a:pPr algn="ctr">
              <a:spcBef>
                <a:spcPct val="50000"/>
              </a:spcBef>
            </a:pPr>
            <a:r>
              <a:rPr kumimoji="1" lang="zh-CN" altLang="en-US" b="1" dirty="0" smtClean="0">
                <a:latin typeface="楷体_GB2312" pitchFamily="49" charset="-122"/>
                <a:ea typeface="楷体_GB2312" pitchFamily="49" charset="-122"/>
              </a:rPr>
              <a:t>图</a:t>
            </a:r>
            <a:r>
              <a:rPr kumimoji="1" lang="en-US" altLang="zh-CN" b="1" dirty="0" smtClean="0">
                <a:latin typeface="楷体_GB2312" pitchFamily="49" charset="-122"/>
                <a:ea typeface="楷体_GB2312" pitchFamily="49" charset="-122"/>
              </a:rPr>
              <a:t>    </a:t>
            </a:r>
            <a:r>
              <a:rPr kumimoji="1" lang="en-US" altLang="zh-CN" b="1" dirty="0">
                <a:latin typeface="楷体_GB2312" pitchFamily="49" charset="-122"/>
                <a:ea typeface="楷体_GB2312" pitchFamily="49" charset="-122"/>
              </a:rPr>
              <a:t>1</a:t>
            </a:r>
            <a:r>
              <a:rPr kumimoji="1" lang="zh-CN" altLang="en-US" b="1" dirty="0">
                <a:latin typeface="楷体_GB2312" pitchFamily="49" charset="-122"/>
                <a:ea typeface="楷体_GB2312" pitchFamily="49" charset="-122"/>
              </a:rPr>
              <a:t>位数值比较器逻辑图</a:t>
            </a:r>
          </a:p>
        </p:txBody>
      </p:sp>
    </p:spTree>
    <p:extLst>
      <p:ext uri="{BB962C8B-B14F-4D97-AF65-F5344CB8AC3E}">
        <p14:creationId xmlns:p14="http://schemas.microsoft.com/office/powerpoint/2010/main" xmlns="" val="2710860719"/>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92696"/>
            <a:ext cx="7473006" cy="566936"/>
          </a:xfrm>
        </p:spPr>
        <p:txBody>
          <a:bodyPr/>
          <a:lstStyle/>
          <a:p>
            <a:r>
              <a:rPr lang="en-US" altLang="zh-CN" dirty="0" smtClean="0"/>
              <a:t>4.6 </a:t>
            </a:r>
            <a:r>
              <a:rPr lang="zh-CN" altLang="en-US" dirty="0" smtClean="0"/>
              <a:t>数值比较器</a:t>
            </a:r>
            <a:endParaRPr lang="zh-CN" altLang="en-US" dirty="0"/>
          </a:p>
        </p:txBody>
      </p:sp>
      <p:sp>
        <p:nvSpPr>
          <p:cNvPr id="3" name="内容占位符 2"/>
          <p:cNvSpPr>
            <a:spLocks noGrp="1"/>
          </p:cNvSpPr>
          <p:nvPr>
            <p:ph idx="1"/>
          </p:nvPr>
        </p:nvSpPr>
        <p:spPr>
          <a:xfrm>
            <a:off x="539552" y="1542208"/>
            <a:ext cx="8415536" cy="4911128"/>
          </a:xfrm>
        </p:spPr>
        <p:txBody>
          <a:bodyPr/>
          <a:lstStyle/>
          <a:p>
            <a:pPr>
              <a:lnSpc>
                <a:spcPct val="100000"/>
              </a:lnSpc>
              <a:spcBef>
                <a:spcPts val="600"/>
              </a:spcBef>
              <a:buSzPct val="100000"/>
              <a:buFont typeface="Wingdings" pitchFamily="2" charset="2"/>
              <a:buChar char="p"/>
            </a:pPr>
            <a:r>
              <a:rPr lang="zh-CN" altLang="en-US" sz="2800" dirty="0"/>
              <a:t>多位数值比较器工作原理</a:t>
            </a:r>
          </a:p>
          <a:p>
            <a:pPr lvl="1">
              <a:lnSpc>
                <a:spcPct val="100000"/>
              </a:lnSpc>
              <a:spcBef>
                <a:spcPts val="600"/>
              </a:spcBef>
              <a:buSzPct val="100000"/>
            </a:pPr>
            <a:r>
              <a:rPr lang="zh-CN" altLang="en-US" sz="2400" dirty="0"/>
              <a:t>在比较两个多位数的大小时，必须</a:t>
            </a:r>
            <a:r>
              <a:rPr lang="zh-CN" altLang="en-US" sz="2400" dirty="0">
                <a:solidFill>
                  <a:srgbClr val="0000CC"/>
                </a:solidFill>
              </a:rPr>
              <a:t>自高而低</a:t>
            </a:r>
            <a:r>
              <a:rPr lang="zh-CN" altLang="en-US" sz="2400" dirty="0"/>
              <a:t>的逐位</a:t>
            </a:r>
            <a:r>
              <a:rPr lang="zh-CN" altLang="en-US" sz="2400" dirty="0" smtClean="0"/>
              <a:t>比较</a:t>
            </a:r>
            <a:r>
              <a:rPr lang="zh-CN" altLang="en-US" sz="2400" dirty="0"/>
              <a:t>，而且只有在高位相等时，才需比较较低位</a:t>
            </a:r>
            <a:r>
              <a:rPr lang="zh-CN" altLang="en-US" sz="2400" dirty="0" smtClean="0"/>
              <a:t>。</a:t>
            </a:r>
            <a:endParaRPr lang="zh-CN" altLang="en-US" sz="24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119</a:t>
            </a:fld>
            <a:endParaRPr lang="zh-CN" altLang="en-US"/>
          </a:p>
        </p:txBody>
      </p:sp>
      <p:sp>
        <p:nvSpPr>
          <p:cNvPr id="5" name="矩形 4"/>
          <p:cNvSpPr/>
          <p:nvPr/>
        </p:nvSpPr>
        <p:spPr>
          <a:xfrm>
            <a:off x="755576" y="2996952"/>
            <a:ext cx="4572000" cy="3154710"/>
          </a:xfrm>
          <a:prstGeom prst="rect">
            <a:avLst/>
          </a:prstGeom>
        </p:spPr>
        <p:txBody>
          <a:bodyPr>
            <a:spAutoFit/>
          </a:bodyPr>
          <a:lstStyle/>
          <a:p>
            <a:pPr>
              <a:spcBef>
                <a:spcPts val="600"/>
              </a:spcBef>
            </a:pPr>
            <a:r>
              <a:rPr lang="zh-CN" altLang="en-US" sz="2000" b="1" dirty="0"/>
              <a:t>图为</a:t>
            </a:r>
            <a:r>
              <a:rPr lang="en-US" altLang="zh-CN" sz="2000" b="1" dirty="0"/>
              <a:t>CC14585 </a:t>
            </a:r>
            <a:r>
              <a:rPr lang="zh-CN" altLang="en-US" sz="2000" b="1" dirty="0"/>
              <a:t>多位数值比较器的原件</a:t>
            </a:r>
            <a:r>
              <a:rPr lang="zh-CN" altLang="en-US" sz="2000" b="1" dirty="0" smtClean="0"/>
              <a:t>示意图</a:t>
            </a:r>
            <a:r>
              <a:rPr lang="en-US" altLang="zh-CN" sz="2000" b="1" dirty="0"/>
              <a:t>:</a:t>
            </a:r>
            <a:endParaRPr lang="en-US" altLang="zh-CN" sz="2000" b="1" dirty="0" smtClean="0"/>
          </a:p>
          <a:p>
            <a:pPr marL="342900" indent="-342900">
              <a:spcBef>
                <a:spcPts val="600"/>
              </a:spcBef>
              <a:buFont typeface="Wingdings" panose="05000000000000000000" pitchFamily="2" charset="2"/>
              <a:buChar char="ü"/>
            </a:pPr>
            <a:r>
              <a:rPr lang="zh-CN" altLang="en-US" b="1" dirty="0" smtClean="0"/>
              <a:t>有</a:t>
            </a:r>
            <a:r>
              <a:rPr lang="zh-CN" altLang="en-US" b="1" dirty="0">
                <a:solidFill>
                  <a:srgbClr val="0000CC"/>
                </a:solidFill>
              </a:rPr>
              <a:t>级联信号输入端</a:t>
            </a:r>
            <a:r>
              <a:rPr lang="en-US" altLang="zh-CN" b="1" dirty="0">
                <a:solidFill>
                  <a:srgbClr val="0000CC"/>
                </a:solidFill>
              </a:rPr>
              <a:t>A&gt;B</a:t>
            </a:r>
            <a:r>
              <a:rPr lang="zh-CN" altLang="en-US" b="1" dirty="0">
                <a:solidFill>
                  <a:srgbClr val="0000CC"/>
                </a:solidFill>
              </a:rPr>
              <a:t>、</a:t>
            </a:r>
            <a:r>
              <a:rPr lang="en-US" altLang="zh-CN" b="1" dirty="0">
                <a:solidFill>
                  <a:srgbClr val="0000CC"/>
                </a:solidFill>
              </a:rPr>
              <a:t>A&lt;B</a:t>
            </a:r>
            <a:r>
              <a:rPr lang="zh-CN" altLang="en-US" b="1" dirty="0">
                <a:solidFill>
                  <a:srgbClr val="0000CC"/>
                </a:solidFill>
              </a:rPr>
              <a:t>和</a:t>
            </a:r>
            <a:r>
              <a:rPr lang="en-US" altLang="zh-CN" b="1" dirty="0">
                <a:solidFill>
                  <a:srgbClr val="0000CC"/>
                </a:solidFill>
              </a:rPr>
              <a:t>A=B </a:t>
            </a:r>
            <a:r>
              <a:rPr lang="zh-CN" altLang="en-US" b="1" dirty="0">
                <a:solidFill>
                  <a:srgbClr val="0000CC"/>
                </a:solidFill>
              </a:rPr>
              <a:t>，</a:t>
            </a:r>
            <a:r>
              <a:rPr lang="zh-CN" altLang="en-US" b="1" dirty="0"/>
              <a:t>接收来自</a:t>
            </a:r>
            <a:r>
              <a:rPr lang="zh-CN" altLang="en-US" b="1" dirty="0">
                <a:solidFill>
                  <a:srgbClr val="0000CC"/>
                </a:solidFill>
              </a:rPr>
              <a:t>低位比较器</a:t>
            </a:r>
            <a:r>
              <a:rPr lang="zh-CN" altLang="en-US" b="1" dirty="0"/>
              <a:t>的输出结果。</a:t>
            </a:r>
          </a:p>
          <a:p>
            <a:pPr marL="342900" indent="-342900">
              <a:spcBef>
                <a:spcPts val="600"/>
              </a:spcBef>
              <a:buFont typeface="Wingdings" panose="05000000000000000000" pitchFamily="2" charset="2"/>
              <a:buChar char="ü"/>
            </a:pPr>
            <a:r>
              <a:rPr lang="zh-CN" altLang="en-US" b="1" dirty="0"/>
              <a:t>若比较器的各位比较结果都相等，最终结果取决于级联信号输入</a:t>
            </a:r>
            <a:r>
              <a:rPr lang="zh-CN" altLang="en-US" b="1" dirty="0" smtClean="0"/>
              <a:t>。</a:t>
            </a:r>
            <a:endParaRPr lang="en-US" altLang="zh-CN" b="1" dirty="0" smtClean="0"/>
          </a:p>
          <a:p>
            <a:pPr marL="342900" indent="-342900">
              <a:spcBef>
                <a:spcPts val="600"/>
              </a:spcBef>
              <a:buFont typeface="Wingdings" panose="05000000000000000000" pitchFamily="2" charset="2"/>
              <a:buChar char="ü"/>
            </a:pPr>
            <a:r>
              <a:rPr lang="zh-CN" altLang="en-US" b="1" dirty="0" smtClean="0"/>
              <a:t>在</a:t>
            </a:r>
            <a:r>
              <a:rPr lang="zh-CN" altLang="en-US" b="1" dirty="0"/>
              <a:t>单独使用或作为最低位片使用时，为了不影响比较结果，低位片级联输入</a:t>
            </a:r>
            <a:r>
              <a:rPr lang="en-US" altLang="zh-CN" b="1" dirty="0">
                <a:solidFill>
                  <a:srgbClr val="0000CC"/>
                </a:solidFill>
              </a:rPr>
              <a:t>A&gt;B</a:t>
            </a:r>
            <a:r>
              <a:rPr lang="zh-CN" altLang="en-US" b="1" dirty="0">
                <a:solidFill>
                  <a:srgbClr val="0000CC"/>
                </a:solidFill>
              </a:rPr>
              <a:t>、</a:t>
            </a:r>
            <a:r>
              <a:rPr lang="en-US" altLang="zh-CN" b="1" dirty="0">
                <a:solidFill>
                  <a:srgbClr val="0000CC"/>
                </a:solidFill>
              </a:rPr>
              <a:t>A=B</a:t>
            </a:r>
            <a:r>
              <a:rPr lang="zh-CN" altLang="en-US" b="1" dirty="0">
                <a:solidFill>
                  <a:srgbClr val="0000CC"/>
                </a:solidFill>
              </a:rPr>
              <a:t>应置</a:t>
            </a:r>
            <a:r>
              <a:rPr lang="en-US" altLang="zh-CN" b="1" dirty="0">
                <a:solidFill>
                  <a:srgbClr val="0000CC"/>
                </a:solidFill>
              </a:rPr>
              <a:t>0</a:t>
            </a:r>
            <a:r>
              <a:rPr lang="zh-CN" altLang="en-US" b="1" dirty="0">
                <a:solidFill>
                  <a:srgbClr val="0000CC"/>
                </a:solidFill>
              </a:rPr>
              <a:t>，</a:t>
            </a:r>
            <a:r>
              <a:rPr lang="en-US" altLang="zh-CN" b="1" dirty="0">
                <a:solidFill>
                  <a:srgbClr val="0000CC"/>
                </a:solidFill>
              </a:rPr>
              <a:t>A&gt;B</a:t>
            </a:r>
            <a:r>
              <a:rPr lang="zh-CN" altLang="en-US" b="1" dirty="0">
                <a:solidFill>
                  <a:srgbClr val="0000CC"/>
                </a:solidFill>
              </a:rPr>
              <a:t>置１</a:t>
            </a:r>
            <a:r>
              <a:rPr lang="zh-CN" altLang="en-US" b="1" dirty="0"/>
              <a:t>（仅做控制信号）。</a:t>
            </a:r>
          </a:p>
        </p:txBody>
      </p:sp>
      <p:pic>
        <p:nvPicPr>
          <p:cNvPr id="17410" name="Picture 2" descr="E:\wrj\课件\数字电路与系统\数字电路与数字系统\tupian\4-26.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508104" y="3068960"/>
            <a:ext cx="3375503" cy="3204000"/>
          </a:xfrm>
          <a:prstGeom prst="rect">
            <a:avLst/>
          </a:prstGeom>
          <a:noFill/>
          <a:extLst>
            <a:ext uri="{909E8E84-426E-40DD-AFC4-6F175D3DCCD1}">
              <a14:hiddenFill xmlns:a14="http://schemas.microsoft.com/office/drawing/2010/main" xmlns="">
                <a:solidFill>
                  <a:srgbClr val="FFFFFF"/>
                </a:solidFill>
              </a14:hiddenFill>
            </a:ext>
          </a:extLst>
        </p:spPr>
      </p:pic>
      <p:sp>
        <p:nvSpPr>
          <p:cNvPr id="6" name="矩形 5"/>
          <p:cNvSpPr/>
          <p:nvPr/>
        </p:nvSpPr>
        <p:spPr>
          <a:xfrm>
            <a:off x="5543061" y="6211821"/>
            <a:ext cx="3592555" cy="338554"/>
          </a:xfrm>
          <a:prstGeom prst="rect">
            <a:avLst/>
          </a:prstGeom>
        </p:spPr>
        <p:txBody>
          <a:bodyPr wrap="square">
            <a:spAutoFit/>
          </a:bodyPr>
          <a:lstStyle/>
          <a:p>
            <a:r>
              <a:rPr lang="zh-CN" altLang="en-US" sz="1600" b="1" dirty="0" smtClean="0"/>
              <a:t>图</a:t>
            </a:r>
            <a:r>
              <a:rPr lang="en-US" altLang="zh-CN" sz="1600" b="1" dirty="0" smtClean="0"/>
              <a:t> </a:t>
            </a:r>
            <a:r>
              <a:rPr lang="en-US" altLang="zh-CN" sz="1600" b="1" dirty="0"/>
              <a:t>4</a:t>
            </a:r>
            <a:r>
              <a:rPr lang="zh-CN" altLang="en-US" sz="1600" b="1" dirty="0"/>
              <a:t>位数值比较器</a:t>
            </a:r>
            <a:r>
              <a:rPr lang="en-US" altLang="zh-CN" sz="1600" b="1" dirty="0" smtClean="0"/>
              <a:t>CC14585</a:t>
            </a:r>
            <a:r>
              <a:rPr lang="zh-CN" altLang="en-US" sz="1600" b="1" dirty="0" smtClean="0"/>
              <a:t>逻辑符号</a:t>
            </a:r>
            <a:endParaRPr lang="zh-CN" altLang="en-US" sz="1600" b="1" dirty="0"/>
          </a:p>
        </p:txBody>
      </p:sp>
    </p:spTree>
    <p:extLst>
      <p:ext uri="{BB962C8B-B14F-4D97-AF65-F5344CB8AC3E}">
        <p14:creationId xmlns:p14="http://schemas.microsoft.com/office/powerpoint/2010/main" xmlns="" val="304828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4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92696"/>
            <a:ext cx="7545014" cy="566936"/>
          </a:xfrm>
        </p:spPr>
        <p:txBody>
          <a:bodyPr/>
          <a:lstStyle/>
          <a:p>
            <a:r>
              <a:rPr lang="en-US" altLang="zh-CN" sz="3200" dirty="0" smtClean="0"/>
              <a:t>4.6 </a:t>
            </a:r>
            <a:r>
              <a:rPr lang="zh-CN" altLang="en-US" sz="3200" dirty="0" smtClean="0"/>
              <a:t>数值比较器</a:t>
            </a:r>
            <a:endParaRPr lang="zh-CN" altLang="en-US" sz="32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120</a:t>
            </a:fld>
            <a:endParaRPr lang="zh-CN" altLang="en-US"/>
          </a:p>
        </p:txBody>
      </p:sp>
      <p:pic>
        <p:nvPicPr>
          <p:cNvPr id="18435" name="Picture 3" descr="E:\wrj\课件\数字电路与系统\数字电路与数字系统\tupian\4-27.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187624" y="2132856"/>
            <a:ext cx="6403707" cy="4284000"/>
          </a:xfrm>
          <a:prstGeom prst="rect">
            <a:avLst/>
          </a:prstGeom>
          <a:noFill/>
          <a:extLst>
            <a:ext uri="{909E8E84-426E-40DD-AFC4-6F175D3DCCD1}">
              <a14:hiddenFill xmlns:a14="http://schemas.microsoft.com/office/drawing/2010/main" xmlns="">
                <a:solidFill>
                  <a:srgbClr val="FFFFFF"/>
                </a:solidFill>
              </a14:hiddenFill>
            </a:ext>
          </a:extLst>
        </p:spPr>
      </p:pic>
      <p:sp>
        <p:nvSpPr>
          <p:cNvPr id="5" name="矩形 4"/>
          <p:cNvSpPr/>
          <p:nvPr/>
        </p:nvSpPr>
        <p:spPr>
          <a:xfrm>
            <a:off x="1979712" y="1628800"/>
            <a:ext cx="5112568" cy="461665"/>
          </a:xfrm>
          <a:prstGeom prst="rect">
            <a:avLst/>
          </a:prstGeom>
        </p:spPr>
        <p:txBody>
          <a:bodyPr wrap="square">
            <a:spAutoFit/>
          </a:bodyPr>
          <a:lstStyle/>
          <a:p>
            <a:pPr algn="ctr"/>
            <a:r>
              <a:rPr lang="zh-CN" altLang="en-US" sz="2400" b="1" dirty="0" smtClean="0"/>
              <a:t>表</a:t>
            </a:r>
            <a:r>
              <a:rPr lang="en-US" altLang="zh-CN" sz="2400" b="1" dirty="0" smtClean="0"/>
              <a:t>  </a:t>
            </a:r>
            <a:r>
              <a:rPr lang="en-US" altLang="zh-CN" sz="2400" b="1" dirty="0"/>
              <a:t>4</a:t>
            </a:r>
            <a:r>
              <a:rPr lang="zh-CN" altLang="en-US" sz="2400" b="1" dirty="0"/>
              <a:t>位数值比较器</a:t>
            </a:r>
            <a:r>
              <a:rPr lang="en-US" altLang="zh-CN" sz="2400" b="1" dirty="0"/>
              <a:t>CC14585</a:t>
            </a:r>
            <a:r>
              <a:rPr lang="zh-CN" altLang="en-US" sz="2400" b="1" dirty="0"/>
              <a:t>真值表</a:t>
            </a:r>
          </a:p>
        </p:txBody>
      </p:sp>
    </p:spTree>
    <p:extLst>
      <p:ext uri="{BB962C8B-B14F-4D97-AF65-F5344CB8AC3E}">
        <p14:creationId xmlns:p14="http://schemas.microsoft.com/office/powerpoint/2010/main" xmlns="" val="3516246655"/>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92696"/>
            <a:ext cx="7617022" cy="566936"/>
          </a:xfrm>
        </p:spPr>
        <p:txBody>
          <a:bodyPr/>
          <a:lstStyle/>
          <a:p>
            <a:r>
              <a:rPr lang="en-US" altLang="zh-CN" sz="3200" dirty="0" smtClean="0"/>
              <a:t>4.6 </a:t>
            </a:r>
            <a:r>
              <a:rPr lang="zh-CN" altLang="en-US" sz="3200" dirty="0" smtClean="0"/>
              <a:t>数值比较器</a:t>
            </a:r>
            <a:endParaRPr lang="zh-CN" altLang="en-US" sz="32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121</a:t>
            </a:fld>
            <a:endParaRPr lang="zh-CN" altLang="en-US"/>
          </a:p>
        </p:txBody>
      </p:sp>
      <p:sp>
        <p:nvSpPr>
          <p:cNvPr id="5" name="矩形 4"/>
          <p:cNvSpPr/>
          <p:nvPr/>
        </p:nvSpPr>
        <p:spPr>
          <a:xfrm>
            <a:off x="539552" y="1556792"/>
            <a:ext cx="4392488" cy="461665"/>
          </a:xfrm>
          <a:prstGeom prst="rect">
            <a:avLst/>
          </a:prstGeom>
        </p:spPr>
        <p:txBody>
          <a:bodyPr wrap="square">
            <a:spAutoFit/>
          </a:bodyPr>
          <a:lstStyle/>
          <a:p>
            <a:r>
              <a:rPr lang="en-US" altLang="zh-CN" sz="2400" b="1" dirty="0"/>
              <a:t>CC14585</a:t>
            </a:r>
            <a:r>
              <a:rPr lang="zh-CN" altLang="en-US" sz="2400" b="1" dirty="0"/>
              <a:t>逻辑函数表达式：</a:t>
            </a:r>
          </a:p>
        </p:txBody>
      </p:sp>
      <p:pic>
        <p:nvPicPr>
          <p:cNvPr id="1945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899593" y="2204864"/>
            <a:ext cx="7319210" cy="1656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9459"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912013" y="4149080"/>
            <a:ext cx="6684323" cy="540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9460"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899593" y="5013232"/>
            <a:ext cx="3685969" cy="504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73368743"/>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7" name="Picture 3" descr="E:\wrj\课件\数字电路与系统\数字电路与数字系统\tupian\4-28-1.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41537" y="1604815"/>
            <a:ext cx="7117500" cy="4680000"/>
          </a:xfrm>
          <a:prstGeom prst="rect">
            <a:avLst/>
          </a:prstGeom>
          <a:noFill/>
          <a:extLst>
            <a:ext uri="{909E8E84-426E-40DD-AFC4-6F175D3DCCD1}">
              <a14:hiddenFill xmlns:a14="http://schemas.microsoft.com/office/drawing/2010/main" xmlns="">
                <a:solidFill>
                  <a:srgbClr val="FFFFFF"/>
                </a:solidFill>
              </a14:hiddenFill>
            </a:ext>
          </a:extLst>
        </p:spPr>
      </p:pic>
      <p:sp>
        <p:nvSpPr>
          <p:cNvPr id="2" name="标题 1"/>
          <p:cNvSpPr>
            <a:spLocks noGrp="1"/>
          </p:cNvSpPr>
          <p:nvPr>
            <p:ph type="title"/>
          </p:nvPr>
        </p:nvSpPr>
        <p:spPr>
          <a:xfrm>
            <a:off x="1203451" y="692696"/>
            <a:ext cx="7545014" cy="566936"/>
          </a:xfrm>
        </p:spPr>
        <p:txBody>
          <a:bodyPr/>
          <a:lstStyle/>
          <a:p>
            <a:r>
              <a:rPr lang="en-US" altLang="zh-CN" sz="3200" dirty="0" smtClean="0"/>
              <a:t>4.6 </a:t>
            </a:r>
            <a:r>
              <a:rPr lang="zh-CN" altLang="en-US" sz="3200" dirty="0" smtClean="0"/>
              <a:t>数值比较器</a:t>
            </a:r>
            <a:endParaRPr lang="zh-CN" altLang="en-US" sz="32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122</a:t>
            </a:fld>
            <a:endParaRPr lang="zh-CN" altLang="en-US"/>
          </a:p>
        </p:txBody>
      </p:sp>
      <p:pic>
        <p:nvPicPr>
          <p:cNvPr id="21506" name="Picture 2" descr="E:\wrj\课件\数字电路与系统\数字电路与数字系统\tupian\4-28-2.jp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155401" y="1600171"/>
            <a:ext cx="7003636" cy="4680000"/>
          </a:xfrm>
          <a:prstGeom prst="rect">
            <a:avLst/>
          </a:prstGeom>
          <a:noFill/>
          <a:extLst>
            <a:ext uri="{909E8E84-426E-40DD-AFC4-6F175D3DCCD1}">
              <a14:hiddenFill xmlns:a14="http://schemas.microsoft.com/office/drawing/2010/main" xmlns="">
                <a:solidFill>
                  <a:srgbClr val="FFFFFF"/>
                </a:solidFill>
              </a14:hiddenFill>
            </a:ext>
          </a:extLst>
        </p:spPr>
      </p:pic>
      <p:sp>
        <p:nvSpPr>
          <p:cNvPr id="5" name="矩形 4"/>
          <p:cNvSpPr/>
          <p:nvPr/>
        </p:nvSpPr>
        <p:spPr>
          <a:xfrm>
            <a:off x="1379728" y="6444044"/>
            <a:ext cx="5760640" cy="369332"/>
          </a:xfrm>
          <a:prstGeom prst="rect">
            <a:avLst/>
          </a:prstGeom>
        </p:spPr>
        <p:txBody>
          <a:bodyPr wrap="square">
            <a:spAutoFit/>
          </a:bodyPr>
          <a:lstStyle/>
          <a:p>
            <a:r>
              <a:rPr lang="zh-CN" altLang="en-US" b="1" dirty="0" smtClean="0"/>
              <a:t>图</a:t>
            </a:r>
            <a:r>
              <a:rPr lang="en-US" altLang="zh-CN" b="1" dirty="0" smtClean="0"/>
              <a:t>  </a:t>
            </a:r>
            <a:r>
              <a:rPr lang="en-US" altLang="zh-CN" b="1" dirty="0"/>
              <a:t>4</a:t>
            </a:r>
            <a:r>
              <a:rPr lang="zh-CN" altLang="en-US" b="1" dirty="0"/>
              <a:t>位数值比较器</a:t>
            </a:r>
            <a:r>
              <a:rPr lang="en-US" altLang="zh-CN" b="1" dirty="0"/>
              <a:t>CC14585</a:t>
            </a:r>
            <a:r>
              <a:rPr lang="zh-CN" altLang="en-US" b="1" dirty="0"/>
              <a:t>门级逻辑电路图</a:t>
            </a:r>
          </a:p>
        </p:txBody>
      </p:sp>
      <p:sp>
        <p:nvSpPr>
          <p:cNvPr id="3" name="TextBox 2"/>
          <p:cNvSpPr txBox="1"/>
          <p:nvPr/>
        </p:nvSpPr>
        <p:spPr>
          <a:xfrm>
            <a:off x="1698576" y="5723964"/>
            <a:ext cx="311304" cy="369332"/>
          </a:xfrm>
          <a:prstGeom prst="rect">
            <a:avLst/>
          </a:prstGeom>
          <a:noFill/>
        </p:spPr>
        <p:txBody>
          <a:bodyPr wrap="none" rtlCol="0">
            <a:spAutoFit/>
          </a:bodyPr>
          <a:lstStyle/>
          <a:p>
            <a:r>
              <a:rPr lang="en-US" altLang="zh-CN" dirty="0" smtClean="0">
                <a:solidFill>
                  <a:srgbClr val="C00000"/>
                </a:solidFill>
              </a:rPr>
              <a:t>1</a:t>
            </a:r>
            <a:endParaRPr lang="zh-CN" altLang="en-US" dirty="0">
              <a:solidFill>
                <a:srgbClr val="C00000"/>
              </a:solidFill>
            </a:endParaRPr>
          </a:p>
        </p:txBody>
      </p:sp>
      <p:sp>
        <p:nvSpPr>
          <p:cNvPr id="9" name="TextBox 8"/>
          <p:cNvSpPr txBox="1"/>
          <p:nvPr/>
        </p:nvSpPr>
        <p:spPr>
          <a:xfrm>
            <a:off x="3396600" y="5795972"/>
            <a:ext cx="311304" cy="369332"/>
          </a:xfrm>
          <a:prstGeom prst="rect">
            <a:avLst/>
          </a:prstGeom>
          <a:noFill/>
        </p:spPr>
        <p:txBody>
          <a:bodyPr wrap="none" rtlCol="0">
            <a:spAutoFit/>
          </a:bodyPr>
          <a:lstStyle/>
          <a:p>
            <a:r>
              <a:rPr lang="en-US" altLang="zh-CN" dirty="0" smtClean="0">
                <a:solidFill>
                  <a:srgbClr val="C00000"/>
                </a:solidFill>
              </a:rPr>
              <a:t>0</a:t>
            </a:r>
            <a:endParaRPr lang="zh-CN" altLang="en-US" dirty="0">
              <a:solidFill>
                <a:srgbClr val="C00000"/>
              </a:solidFill>
            </a:endParaRPr>
          </a:p>
        </p:txBody>
      </p:sp>
      <p:sp>
        <p:nvSpPr>
          <p:cNvPr id="10" name="TextBox 9"/>
          <p:cNvSpPr txBox="1"/>
          <p:nvPr/>
        </p:nvSpPr>
        <p:spPr>
          <a:xfrm>
            <a:off x="4644008" y="4715852"/>
            <a:ext cx="311304" cy="369332"/>
          </a:xfrm>
          <a:prstGeom prst="rect">
            <a:avLst/>
          </a:prstGeom>
          <a:noFill/>
        </p:spPr>
        <p:txBody>
          <a:bodyPr wrap="none" rtlCol="0">
            <a:spAutoFit/>
          </a:bodyPr>
          <a:lstStyle/>
          <a:p>
            <a:r>
              <a:rPr lang="en-US" altLang="zh-CN" dirty="0" smtClean="0">
                <a:solidFill>
                  <a:srgbClr val="C00000"/>
                </a:solidFill>
              </a:rPr>
              <a:t>0</a:t>
            </a:r>
            <a:endParaRPr lang="zh-CN" altLang="en-US" dirty="0">
              <a:solidFill>
                <a:srgbClr val="C00000"/>
              </a:solidFill>
            </a:endParaRPr>
          </a:p>
        </p:txBody>
      </p:sp>
      <p:sp>
        <p:nvSpPr>
          <p:cNvPr id="11" name="TextBox 10"/>
          <p:cNvSpPr txBox="1"/>
          <p:nvPr/>
        </p:nvSpPr>
        <p:spPr>
          <a:xfrm>
            <a:off x="4067944" y="5363924"/>
            <a:ext cx="311304" cy="369332"/>
          </a:xfrm>
          <a:prstGeom prst="rect">
            <a:avLst/>
          </a:prstGeom>
          <a:noFill/>
        </p:spPr>
        <p:txBody>
          <a:bodyPr wrap="none" rtlCol="0">
            <a:spAutoFit/>
          </a:bodyPr>
          <a:lstStyle/>
          <a:p>
            <a:r>
              <a:rPr lang="en-US" altLang="zh-CN" dirty="0" smtClean="0">
                <a:solidFill>
                  <a:srgbClr val="C00000"/>
                </a:solidFill>
              </a:rPr>
              <a:t>0</a:t>
            </a:r>
            <a:endParaRPr lang="zh-CN" altLang="en-US" dirty="0">
              <a:solidFill>
                <a:srgbClr val="C00000"/>
              </a:solidFill>
            </a:endParaRPr>
          </a:p>
        </p:txBody>
      </p:sp>
      <p:sp>
        <p:nvSpPr>
          <p:cNvPr id="12" name="TextBox 11"/>
          <p:cNvSpPr txBox="1"/>
          <p:nvPr/>
        </p:nvSpPr>
        <p:spPr>
          <a:xfrm>
            <a:off x="4716016" y="5363924"/>
            <a:ext cx="311304" cy="369332"/>
          </a:xfrm>
          <a:prstGeom prst="rect">
            <a:avLst/>
          </a:prstGeom>
          <a:noFill/>
        </p:spPr>
        <p:txBody>
          <a:bodyPr wrap="none" rtlCol="0">
            <a:spAutoFit/>
          </a:bodyPr>
          <a:lstStyle/>
          <a:p>
            <a:r>
              <a:rPr lang="en-US" altLang="zh-CN" dirty="0" smtClean="0">
                <a:solidFill>
                  <a:srgbClr val="C00000"/>
                </a:solidFill>
              </a:rPr>
              <a:t>1</a:t>
            </a:r>
            <a:endParaRPr lang="zh-CN" altLang="en-US" dirty="0">
              <a:solidFill>
                <a:srgbClr val="C00000"/>
              </a:solidFill>
            </a:endParaRPr>
          </a:p>
        </p:txBody>
      </p:sp>
      <p:sp>
        <p:nvSpPr>
          <p:cNvPr id="13" name="TextBox 12"/>
          <p:cNvSpPr txBox="1"/>
          <p:nvPr/>
        </p:nvSpPr>
        <p:spPr>
          <a:xfrm>
            <a:off x="6420936" y="5435932"/>
            <a:ext cx="311304" cy="369332"/>
          </a:xfrm>
          <a:prstGeom prst="rect">
            <a:avLst/>
          </a:prstGeom>
          <a:noFill/>
        </p:spPr>
        <p:txBody>
          <a:bodyPr wrap="none" rtlCol="0">
            <a:spAutoFit/>
          </a:bodyPr>
          <a:lstStyle/>
          <a:p>
            <a:r>
              <a:rPr lang="en-US" altLang="zh-CN" dirty="0" smtClean="0">
                <a:solidFill>
                  <a:srgbClr val="C00000"/>
                </a:solidFill>
              </a:rPr>
              <a:t>1</a:t>
            </a:r>
            <a:endParaRPr lang="zh-CN" altLang="en-US" dirty="0">
              <a:solidFill>
                <a:srgbClr val="C00000"/>
              </a:solidFill>
            </a:endParaRPr>
          </a:p>
        </p:txBody>
      </p:sp>
      <p:sp>
        <p:nvSpPr>
          <p:cNvPr id="29" name="TextBox 9"/>
          <p:cNvSpPr txBox="1"/>
          <p:nvPr/>
        </p:nvSpPr>
        <p:spPr>
          <a:xfrm>
            <a:off x="3108568" y="1890914"/>
            <a:ext cx="311304" cy="369332"/>
          </a:xfrm>
          <a:prstGeom prst="rect">
            <a:avLst/>
          </a:prstGeom>
          <a:noFill/>
        </p:spPr>
        <p:txBody>
          <a:bodyPr wrap="none" rtlCol="0">
            <a:spAutoFit/>
          </a:bodyPr>
          <a:lstStyle/>
          <a:p>
            <a:r>
              <a:rPr lang="en-US" altLang="zh-CN" dirty="0" smtClean="0">
                <a:solidFill>
                  <a:srgbClr val="C00000"/>
                </a:solidFill>
              </a:rPr>
              <a:t>0</a:t>
            </a:r>
            <a:endParaRPr lang="zh-CN" altLang="en-US" dirty="0">
              <a:solidFill>
                <a:srgbClr val="C00000"/>
              </a:solidFill>
            </a:endParaRPr>
          </a:p>
        </p:txBody>
      </p:sp>
      <p:sp>
        <p:nvSpPr>
          <p:cNvPr id="30" name="TextBox 9"/>
          <p:cNvSpPr txBox="1"/>
          <p:nvPr/>
        </p:nvSpPr>
        <p:spPr>
          <a:xfrm>
            <a:off x="3100255" y="2733859"/>
            <a:ext cx="311304" cy="369332"/>
          </a:xfrm>
          <a:prstGeom prst="rect">
            <a:avLst/>
          </a:prstGeom>
          <a:noFill/>
        </p:spPr>
        <p:txBody>
          <a:bodyPr wrap="none" rtlCol="0">
            <a:spAutoFit/>
          </a:bodyPr>
          <a:lstStyle/>
          <a:p>
            <a:r>
              <a:rPr lang="en-US" altLang="zh-CN" dirty="0" smtClean="0">
                <a:solidFill>
                  <a:srgbClr val="C00000"/>
                </a:solidFill>
              </a:rPr>
              <a:t>0</a:t>
            </a:r>
            <a:endParaRPr lang="zh-CN" altLang="en-US" dirty="0">
              <a:solidFill>
                <a:srgbClr val="C00000"/>
              </a:solidFill>
            </a:endParaRPr>
          </a:p>
        </p:txBody>
      </p:sp>
      <p:sp>
        <p:nvSpPr>
          <p:cNvPr id="31" name="TextBox 9"/>
          <p:cNvSpPr txBox="1"/>
          <p:nvPr/>
        </p:nvSpPr>
        <p:spPr>
          <a:xfrm>
            <a:off x="3085296" y="3599609"/>
            <a:ext cx="311304" cy="369332"/>
          </a:xfrm>
          <a:prstGeom prst="rect">
            <a:avLst/>
          </a:prstGeom>
          <a:noFill/>
        </p:spPr>
        <p:txBody>
          <a:bodyPr wrap="none" rtlCol="0">
            <a:spAutoFit/>
          </a:bodyPr>
          <a:lstStyle/>
          <a:p>
            <a:r>
              <a:rPr lang="en-US" altLang="zh-CN" dirty="0" smtClean="0">
                <a:solidFill>
                  <a:srgbClr val="C00000"/>
                </a:solidFill>
              </a:rPr>
              <a:t>0</a:t>
            </a:r>
            <a:endParaRPr lang="zh-CN" altLang="en-US" dirty="0">
              <a:solidFill>
                <a:srgbClr val="C00000"/>
              </a:solidFill>
            </a:endParaRPr>
          </a:p>
        </p:txBody>
      </p:sp>
      <p:sp>
        <p:nvSpPr>
          <p:cNvPr id="32" name="TextBox 9"/>
          <p:cNvSpPr txBox="1"/>
          <p:nvPr/>
        </p:nvSpPr>
        <p:spPr>
          <a:xfrm>
            <a:off x="3080948" y="4470416"/>
            <a:ext cx="311304" cy="369332"/>
          </a:xfrm>
          <a:prstGeom prst="rect">
            <a:avLst/>
          </a:prstGeom>
          <a:noFill/>
        </p:spPr>
        <p:txBody>
          <a:bodyPr wrap="none" rtlCol="0">
            <a:spAutoFit/>
          </a:bodyPr>
          <a:lstStyle/>
          <a:p>
            <a:r>
              <a:rPr lang="en-US" altLang="zh-CN" dirty="0" smtClean="0">
                <a:solidFill>
                  <a:srgbClr val="C00000"/>
                </a:solidFill>
              </a:rPr>
              <a:t>0</a:t>
            </a:r>
            <a:endParaRPr lang="zh-CN" altLang="en-US" dirty="0">
              <a:solidFill>
                <a:srgbClr val="C00000"/>
              </a:solidFill>
            </a:endParaRPr>
          </a:p>
        </p:txBody>
      </p:sp>
      <p:sp>
        <p:nvSpPr>
          <p:cNvPr id="33" name="TextBox 9"/>
          <p:cNvSpPr txBox="1"/>
          <p:nvPr/>
        </p:nvSpPr>
        <p:spPr>
          <a:xfrm>
            <a:off x="2871428" y="1560286"/>
            <a:ext cx="311304" cy="369332"/>
          </a:xfrm>
          <a:prstGeom prst="rect">
            <a:avLst/>
          </a:prstGeom>
          <a:noFill/>
        </p:spPr>
        <p:txBody>
          <a:bodyPr wrap="none" rtlCol="0">
            <a:spAutoFit/>
          </a:bodyPr>
          <a:lstStyle/>
          <a:p>
            <a:r>
              <a:rPr lang="en-US" altLang="zh-CN" dirty="0" smtClean="0">
                <a:solidFill>
                  <a:srgbClr val="C00000"/>
                </a:solidFill>
              </a:rPr>
              <a:t>1</a:t>
            </a:r>
            <a:endParaRPr lang="zh-CN" altLang="en-US" dirty="0">
              <a:solidFill>
                <a:srgbClr val="C00000"/>
              </a:solidFill>
            </a:endParaRPr>
          </a:p>
        </p:txBody>
      </p:sp>
      <p:sp>
        <p:nvSpPr>
          <p:cNvPr id="34" name="TextBox 9"/>
          <p:cNvSpPr txBox="1"/>
          <p:nvPr/>
        </p:nvSpPr>
        <p:spPr>
          <a:xfrm>
            <a:off x="2863115" y="2403231"/>
            <a:ext cx="311304" cy="369332"/>
          </a:xfrm>
          <a:prstGeom prst="rect">
            <a:avLst/>
          </a:prstGeom>
          <a:noFill/>
        </p:spPr>
        <p:txBody>
          <a:bodyPr wrap="none" rtlCol="0">
            <a:spAutoFit/>
          </a:bodyPr>
          <a:lstStyle/>
          <a:p>
            <a:r>
              <a:rPr lang="en-US" altLang="zh-CN" dirty="0" smtClean="0">
                <a:solidFill>
                  <a:srgbClr val="C00000"/>
                </a:solidFill>
              </a:rPr>
              <a:t>1</a:t>
            </a:r>
            <a:endParaRPr lang="zh-CN" altLang="en-US" dirty="0">
              <a:solidFill>
                <a:srgbClr val="C00000"/>
              </a:solidFill>
            </a:endParaRPr>
          </a:p>
        </p:txBody>
      </p:sp>
      <p:sp>
        <p:nvSpPr>
          <p:cNvPr id="35" name="TextBox 9"/>
          <p:cNvSpPr txBox="1"/>
          <p:nvPr/>
        </p:nvSpPr>
        <p:spPr>
          <a:xfrm>
            <a:off x="2848156" y="3140968"/>
            <a:ext cx="311304" cy="369332"/>
          </a:xfrm>
          <a:prstGeom prst="rect">
            <a:avLst/>
          </a:prstGeom>
          <a:noFill/>
        </p:spPr>
        <p:txBody>
          <a:bodyPr wrap="none" rtlCol="0">
            <a:spAutoFit/>
          </a:bodyPr>
          <a:lstStyle/>
          <a:p>
            <a:r>
              <a:rPr lang="en-US" altLang="zh-CN" dirty="0" smtClean="0">
                <a:solidFill>
                  <a:srgbClr val="C00000"/>
                </a:solidFill>
              </a:rPr>
              <a:t>1</a:t>
            </a:r>
            <a:endParaRPr lang="zh-CN" altLang="en-US" dirty="0">
              <a:solidFill>
                <a:srgbClr val="C00000"/>
              </a:solidFill>
            </a:endParaRPr>
          </a:p>
        </p:txBody>
      </p:sp>
      <p:sp>
        <p:nvSpPr>
          <p:cNvPr id="36" name="TextBox 9"/>
          <p:cNvSpPr txBox="1"/>
          <p:nvPr/>
        </p:nvSpPr>
        <p:spPr>
          <a:xfrm>
            <a:off x="2771800" y="4005064"/>
            <a:ext cx="311304" cy="369332"/>
          </a:xfrm>
          <a:prstGeom prst="rect">
            <a:avLst/>
          </a:prstGeom>
          <a:noFill/>
        </p:spPr>
        <p:txBody>
          <a:bodyPr wrap="none" rtlCol="0">
            <a:spAutoFit/>
          </a:bodyPr>
          <a:lstStyle/>
          <a:p>
            <a:r>
              <a:rPr lang="en-US" altLang="zh-CN" dirty="0" smtClean="0">
                <a:solidFill>
                  <a:srgbClr val="C00000"/>
                </a:solidFill>
              </a:rPr>
              <a:t>1</a:t>
            </a:r>
            <a:endParaRPr lang="zh-CN" altLang="en-US" dirty="0">
              <a:solidFill>
                <a:srgbClr val="C00000"/>
              </a:solidFill>
            </a:endParaRPr>
          </a:p>
        </p:txBody>
      </p:sp>
      <p:sp>
        <p:nvSpPr>
          <p:cNvPr id="37" name="TextBox 9"/>
          <p:cNvSpPr txBox="1"/>
          <p:nvPr/>
        </p:nvSpPr>
        <p:spPr>
          <a:xfrm>
            <a:off x="4044672" y="2343082"/>
            <a:ext cx="311304" cy="369332"/>
          </a:xfrm>
          <a:prstGeom prst="rect">
            <a:avLst/>
          </a:prstGeom>
          <a:noFill/>
        </p:spPr>
        <p:txBody>
          <a:bodyPr wrap="none" rtlCol="0">
            <a:spAutoFit/>
          </a:bodyPr>
          <a:lstStyle/>
          <a:p>
            <a:r>
              <a:rPr lang="en-US" altLang="zh-CN" dirty="0" smtClean="0">
                <a:solidFill>
                  <a:srgbClr val="C00000"/>
                </a:solidFill>
              </a:rPr>
              <a:t>1</a:t>
            </a:r>
            <a:endParaRPr lang="zh-CN" altLang="en-US" dirty="0">
              <a:solidFill>
                <a:srgbClr val="C00000"/>
              </a:solidFill>
            </a:endParaRPr>
          </a:p>
        </p:txBody>
      </p:sp>
      <p:sp>
        <p:nvSpPr>
          <p:cNvPr id="38" name="TextBox 9"/>
          <p:cNvSpPr txBox="1"/>
          <p:nvPr/>
        </p:nvSpPr>
        <p:spPr>
          <a:xfrm>
            <a:off x="3965493" y="3059668"/>
            <a:ext cx="311304" cy="369332"/>
          </a:xfrm>
          <a:prstGeom prst="rect">
            <a:avLst/>
          </a:prstGeom>
          <a:noFill/>
        </p:spPr>
        <p:txBody>
          <a:bodyPr wrap="none" rtlCol="0">
            <a:spAutoFit/>
          </a:bodyPr>
          <a:lstStyle/>
          <a:p>
            <a:r>
              <a:rPr lang="en-US" altLang="zh-CN" dirty="0" smtClean="0">
                <a:solidFill>
                  <a:srgbClr val="C00000"/>
                </a:solidFill>
              </a:rPr>
              <a:t>1</a:t>
            </a:r>
            <a:endParaRPr lang="zh-CN" altLang="en-US" dirty="0">
              <a:solidFill>
                <a:srgbClr val="C00000"/>
              </a:solidFill>
            </a:endParaRPr>
          </a:p>
        </p:txBody>
      </p:sp>
      <p:sp>
        <p:nvSpPr>
          <p:cNvPr id="39" name="TextBox 9"/>
          <p:cNvSpPr txBox="1"/>
          <p:nvPr/>
        </p:nvSpPr>
        <p:spPr>
          <a:xfrm>
            <a:off x="4013087" y="3873886"/>
            <a:ext cx="311304" cy="369332"/>
          </a:xfrm>
          <a:prstGeom prst="rect">
            <a:avLst/>
          </a:prstGeom>
          <a:noFill/>
        </p:spPr>
        <p:txBody>
          <a:bodyPr wrap="none" rtlCol="0">
            <a:spAutoFit/>
          </a:bodyPr>
          <a:lstStyle/>
          <a:p>
            <a:r>
              <a:rPr lang="en-US" altLang="zh-CN" dirty="0" smtClean="0">
                <a:solidFill>
                  <a:srgbClr val="C00000"/>
                </a:solidFill>
              </a:rPr>
              <a:t>1</a:t>
            </a:r>
            <a:endParaRPr lang="zh-CN" altLang="en-US" dirty="0">
              <a:solidFill>
                <a:srgbClr val="C00000"/>
              </a:solidFill>
            </a:endParaRPr>
          </a:p>
        </p:txBody>
      </p:sp>
      <p:sp>
        <p:nvSpPr>
          <p:cNvPr id="40" name="TextBox 9"/>
          <p:cNvSpPr txBox="1"/>
          <p:nvPr/>
        </p:nvSpPr>
        <p:spPr>
          <a:xfrm>
            <a:off x="4044672" y="4581128"/>
            <a:ext cx="311304" cy="369332"/>
          </a:xfrm>
          <a:prstGeom prst="rect">
            <a:avLst/>
          </a:prstGeom>
          <a:noFill/>
        </p:spPr>
        <p:txBody>
          <a:bodyPr wrap="none" rtlCol="0">
            <a:spAutoFit/>
          </a:bodyPr>
          <a:lstStyle/>
          <a:p>
            <a:r>
              <a:rPr lang="en-US" altLang="zh-CN" dirty="0" smtClean="0">
                <a:solidFill>
                  <a:srgbClr val="C00000"/>
                </a:solidFill>
              </a:rPr>
              <a:t>1</a:t>
            </a:r>
            <a:endParaRPr lang="zh-CN" altLang="en-US" dirty="0">
              <a:solidFill>
                <a:srgbClr val="C00000"/>
              </a:solidFill>
            </a:endParaRPr>
          </a:p>
        </p:txBody>
      </p:sp>
      <p:sp>
        <p:nvSpPr>
          <p:cNvPr id="41" name="TextBox 9"/>
          <p:cNvSpPr txBox="1"/>
          <p:nvPr/>
        </p:nvSpPr>
        <p:spPr>
          <a:xfrm>
            <a:off x="4076488" y="1656048"/>
            <a:ext cx="311304" cy="369332"/>
          </a:xfrm>
          <a:prstGeom prst="rect">
            <a:avLst/>
          </a:prstGeom>
          <a:noFill/>
        </p:spPr>
        <p:txBody>
          <a:bodyPr wrap="none" rtlCol="0">
            <a:spAutoFit/>
          </a:bodyPr>
          <a:lstStyle/>
          <a:p>
            <a:r>
              <a:rPr lang="en-US" altLang="zh-CN" dirty="0" smtClean="0">
                <a:solidFill>
                  <a:srgbClr val="C00000"/>
                </a:solidFill>
              </a:rPr>
              <a:t>1</a:t>
            </a:r>
            <a:endParaRPr lang="zh-CN" altLang="en-US" dirty="0">
              <a:solidFill>
                <a:srgbClr val="C00000"/>
              </a:solidFill>
            </a:endParaRPr>
          </a:p>
        </p:txBody>
      </p:sp>
      <p:sp>
        <p:nvSpPr>
          <p:cNvPr id="43" name="TextBox 2"/>
          <p:cNvSpPr txBox="1"/>
          <p:nvPr/>
        </p:nvSpPr>
        <p:spPr>
          <a:xfrm>
            <a:off x="1691680" y="5423094"/>
            <a:ext cx="311304" cy="369332"/>
          </a:xfrm>
          <a:prstGeom prst="rect">
            <a:avLst/>
          </a:prstGeom>
          <a:noFill/>
        </p:spPr>
        <p:txBody>
          <a:bodyPr wrap="none" rtlCol="0">
            <a:spAutoFit/>
          </a:bodyPr>
          <a:lstStyle/>
          <a:p>
            <a:r>
              <a:rPr lang="en-US" altLang="zh-CN" dirty="0" smtClean="0">
                <a:solidFill>
                  <a:srgbClr val="C00000"/>
                </a:solidFill>
              </a:rPr>
              <a:t>0</a:t>
            </a:r>
            <a:endParaRPr lang="zh-CN" altLang="en-US" dirty="0">
              <a:solidFill>
                <a:srgbClr val="C00000"/>
              </a:solidFill>
            </a:endParaRPr>
          </a:p>
        </p:txBody>
      </p:sp>
      <p:sp>
        <p:nvSpPr>
          <p:cNvPr id="44" name="TextBox 2"/>
          <p:cNvSpPr txBox="1"/>
          <p:nvPr/>
        </p:nvSpPr>
        <p:spPr>
          <a:xfrm>
            <a:off x="1691680" y="5076871"/>
            <a:ext cx="311304" cy="369332"/>
          </a:xfrm>
          <a:prstGeom prst="rect">
            <a:avLst/>
          </a:prstGeom>
          <a:noFill/>
        </p:spPr>
        <p:txBody>
          <a:bodyPr wrap="none" rtlCol="0">
            <a:spAutoFit/>
          </a:bodyPr>
          <a:lstStyle/>
          <a:p>
            <a:r>
              <a:rPr lang="en-US" altLang="zh-CN" dirty="0" smtClean="0">
                <a:solidFill>
                  <a:srgbClr val="C00000"/>
                </a:solidFill>
              </a:rPr>
              <a:t>0</a:t>
            </a:r>
            <a:endParaRPr lang="zh-CN" altLang="en-US" dirty="0">
              <a:solidFill>
                <a:srgbClr val="C00000"/>
              </a:solidFill>
            </a:endParaRPr>
          </a:p>
        </p:txBody>
      </p:sp>
    </p:spTree>
    <p:extLst>
      <p:ext uri="{BB962C8B-B14F-4D97-AF65-F5344CB8AC3E}">
        <p14:creationId xmlns:p14="http://schemas.microsoft.com/office/powerpoint/2010/main" xmlns="" val="2403588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0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2150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P spid="10" grpId="0"/>
      <p:bldP spid="11" grpId="0"/>
      <p:bldP spid="12" grpId="0"/>
      <p:bldP spid="13" grpId="0"/>
      <p:bldP spid="29" grpId="0"/>
      <p:bldP spid="30" grpId="0"/>
      <p:bldP spid="31" grpId="0"/>
      <p:bldP spid="32" grpId="0"/>
      <p:bldP spid="33" grpId="0"/>
      <p:bldP spid="34" grpId="0"/>
      <p:bldP spid="35" grpId="0"/>
      <p:bldP spid="36" grpId="0"/>
      <p:bldP spid="37" grpId="0"/>
      <p:bldP spid="38" grpId="0"/>
      <p:bldP spid="39" grpId="0"/>
      <p:bldP spid="40" grpId="0"/>
      <p:bldP spid="41" grpId="0"/>
      <p:bldP spid="43" grpId="0"/>
      <p:bldP spid="44"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7" name="Picture 3" descr="E:\wrj\课件\数字电路与系统\数字电路与数字系统\tupian\4-28-1.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41537" y="1604815"/>
            <a:ext cx="7117500" cy="4680000"/>
          </a:xfrm>
          <a:prstGeom prst="rect">
            <a:avLst/>
          </a:prstGeom>
          <a:noFill/>
          <a:extLst>
            <a:ext uri="{909E8E84-426E-40DD-AFC4-6F175D3DCCD1}">
              <a14:hiddenFill xmlns:a14="http://schemas.microsoft.com/office/drawing/2010/main" xmlns="">
                <a:solidFill>
                  <a:srgbClr val="FFFFFF"/>
                </a:solidFill>
              </a14:hiddenFill>
            </a:ext>
          </a:extLst>
        </p:spPr>
      </p:pic>
      <p:sp>
        <p:nvSpPr>
          <p:cNvPr id="2" name="标题 1"/>
          <p:cNvSpPr>
            <a:spLocks noGrp="1"/>
          </p:cNvSpPr>
          <p:nvPr>
            <p:ph type="title"/>
          </p:nvPr>
        </p:nvSpPr>
        <p:spPr>
          <a:xfrm>
            <a:off x="1203451" y="692696"/>
            <a:ext cx="7545014" cy="566936"/>
          </a:xfrm>
        </p:spPr>
        <p:txBody>
          <a:bodyPr/>
          <a:lstStyle/>
          <a:p>
            <a:r>
              <a:rPr lang="en-US" altLang="zh-CN" sz="3200" dirty="0" smtClean="0"/>
              <a:t>4.6 </a:t>
            </a:r>
            <a:r>
              <a:rPr lang="zh-CN" altLang="en-US" sz="3200" dirty="0" smtClean="0"/>
              <a:t>数值比较器</a:t>
            </a:r>
            <a:endParaRPr lang="zh-CN" altLang="en-US" sz="32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123</a:t>
            </a:fld>
            <a:endParaRPr lang="zh-CN" altLang="en-US"/>
          </a:p>
        </p:txBody>
      </p:sp>
      <p:sp>
        <p:nvSpPr>
          <p:cNvPr id="5" name="矩形 4"/>
          <p:cNvSpPr/>
          <p:nvPr/>
        </p:nvSpPr>
        <p:spPr>
          <a:xfrm>
            <a:off x="1379728" y="6444044"/>
            <a:ext cx="5760640" cy="369332"/>
          </a:xfrm>
          <a:prstGeom prst="rect">
            <a:avLst/>
          </a:prstGeom>
        </p:spPr>
        <p:txBody>
          <a:bodyPr wrap="square">
            <a:spAutoFit/>
          </a:bodyPr>
          <a:lstStyle/>
          <a:p>
            <a:r>
              <a:rPr lang="zh-CN" altLang="en-US" b="1" dirty="0" smtClean="0"/>
              <a:t>图</a:t>
            </a:r>
            <a:r>
              <a:rPr lang="en-US" altLang="zh-CN" b="1" dirty="0" smtClean="0"/>
              <a:t>  </a:t>
            </a:r>
            <a:r>
              <a:rPr lang="en-US" altLang="zh-CN" b="1" dirty="0"/>
              <a:t>4</a:t>
            </a:r>
            <a:r>
              <a:rPr lang="zh-CN" altLang="en-US" b="1" dirty="0"/>
              <a:t>位数值比较器</a:t>
            </a:r>
            <a:r>
              <a:rPr lang="en-US" altLang="zh-CN" b="1" dirty="0"/>
              <a:t>CC14585</a:t>
            </a:r>
            <a:r>
              <a:rPr lang="zh-CN" altLang="en-US" b="1" dirty="0"/>
              <a:t>门级逻辑电路图</a:t>
            </a:r>
          </a:p>
        </p:txBody>
      </p:sp>
      <p:sp>
        <p:nvSpPr>
          <p:cNvPr id="14" name="TextBox 13"/>
          <p:cNvSpPr txBox="1"/>
          <p:nvPr/>
        </p:nvSpPr>
        <p:spPr>
          <a:xfrm>
            <a:off x="1691680" y="6011996"/>
            <a:ext cx="311304" cy="369332"/>
          </a:xfrm>
          <a:prstGeom prst="rect">
            <a:avLst/>
          </a:prstGeom>
          <a:noFill/>
        </p:spPr>
        <p:txBody>
          <a:bodyPr wrap="none" rtlCol="0">
            <a:spAutoFit/>
          </a:bodyPr>
          <a:lstStyle/>
          <a:p>
            <a:r>
              <a:rPr lang="en-US" altLang="zh-CN" dirty="0" smtClean="0">
                <a:solidFill>
                  <a:srgbClr val="00B050"/>
                </a:solidFill>
              </a:rPr>
              <a:t>0</a:t>
            </a:r>
            <a:endParaRPr lang="zh-CN" altLang="en-US" dirty="0">
              <a:solidFill>
                <a:srgbClr val="00B050"/>
              </a:solidFill>
            </a:endParaRPr>
          </a:p>
        </p:txBody>
      </p:sp>
      <p:sp>
        <p:nvSpPr>
          <p:cNvPr id="15" name="TextBox 14"/>
          <p:cNvSpPr txBox="1"/>
          <p:nvPr/>
        </p:nvSpPr>
        <p:spPr>
          <a:xfrm>
            <a:off x="3396600" y="6021288"/>
            <a:ext cx="311304" cy="369332"/>
          </a:xfrm>
          <a:prstGeom prst="rect">
            <a:avLst/>
          </a:prstGeom>
          <a:noFill/>
        </p:spPr>
        <p:txBody>
          <a:bodyPr wrap="none" rtlCol="0">
            <a:spAutoFit/>
          </a:bodyPr>
          <a:lstStyle/>
          <a:p>
            <a:r>
              <a:rPr lang="en-US" altLang="zh-CN" dirty="0" smtClean="0">
                <a:solidFill>
                  <a:srgbClr val="00B050"/>
                </a:solidFill>
              </a:rPr>
              <a:t>1</a:t>
            </a:r>
            <a:endParaRPr lang="zh-CN" altLang="en-US" dirty="0">
              <a:solidFill>
                <a:srgbClr val="00B050"/>
              </a:solidFill>
            </a:endParaRPr>
          </a:p>
        </p:txBody>
      </p:sp>
      <p:sp>
        <p:nvSpPr>
          <p:cNvPr id="16" name="TextBox 15"/>
          <p:cNvSpPr txBox="1"/>
          <p:nvPr/>
        </p:nvSpPr>
        <p:spPr>
          <a:xfrm>
            <a:off x="4692744" y="5579948"/>
            <a:ext cx="311304" cy="369332"/>
          </a:xfrm>
          <a:prstGeom prst="rect">
            <a:avLst/>
          </a:prstGeom>
          <a:noFill/>
        </p:spPr>
        <p:txBody>
          <a:bodyPr wrap="none" rtlCol="0">
            <a:spAutoFit/>
          </a:bodyPr>
          <a:lstStyle/>
          <a:p>
            <a:r>
              <a:rPr lang="en-US" altLang="zh-CN" dirty="0" smtClean="0">
                <a:solidFill>
                  <a:srgbClr val="00B050"/>
                </a:solidFill>
              </a:rPr>
              <a:t>0</a:t>
            </a:r>
            <a:endParaRPr lang="zh-CN" altLang="en-US" dirty="0">
              <a:solidFill>
                <a:srgbClr val="00B050"/>
              </a:solidFill>
            </a:endParaRPr>
          </a:p>
        </p:txBody>
      </p:sp>
      <p:sp>
        <p:nvSpPr>
          <p:cNvPr id="17" name="TextBox 16"/>
          <p:cNvSpPr txBox="1"/>
          <p:nvPr/>
        </p:nvSpPr>
        <p:spPr>
          <a:xfrm>
            <a:off x="6420936" y="5651956"/>
            <a:ext cx="311304" cy="369332"/>
          </a:xfrm>
          <a:prstGeom prst="rect">
            <a:avLst/>
          </a:prstGeom>
          <a:noFill/>
        </p:spPr>
        <p:txBody>
          <a:bodyPr wrap="none" rtlCol="0">
            <a:spAutoFit/>
          </a:bodyPr>
          <a:lstStyle/>
          <a:p>
            <a:r>
              <a:rPr lang="en-US" altLang="zh-CN" dirty="0" smtClean="0">
                <a:solidFill>
                  <a:srgbClr val="00B050"/>
                </a:solidFill>
              </a:rPr>
              <a:t>0</a:t>
            </a:r>
            <a:endParaRPr lang="zh-CN" altLang="en-US" dirty="0">
              <a:solidFill>
                <a:srgbClr val="00B050"/>
              </a:solidFill>
            </a:endParaRPr>
          </a:p>
        </p:txBody>
      </p:sp>
      <p:sp>
        <p:nvSpPr>
          <p:cNvPr id="18" name="TextBox 17"/>
          <p:cNvSpPr txBox="1"/>
          <p:nvPr/>
        </p:nvSpPr>
        <p:spPr>
          <a:xfrm>
            <a:off x="1532776" y="1634311"/>
            <a:ext cx="311304" cy="369332"/>
          </a:xfrm>
          <a:prstGeom prst="rect">
            <a:avLst/>
          </a:prstGeom>
          <a:noFill/>
        </p:spPr>
        <p:txBody>
          <a:bodyPr wrap="none" rtlCol="0">
            <a:spAutoFit/>
          </a:bodyPr>
          <a:lstStyle/>
          <a:p>
            <a:r>
              <a:rPr lang="en-US" altLang="zh-CN" dirty="0" smtClean="0">
                <a:solidFill>
                  <a:srgbClr val="00B050"/>
                </a:solidFill>
              </a:rPr>
              <a:t>0</a:t>
            </a:r>
            <a:endParaRPr lang="zh-CN" altLang="en-US" dirty="0">
              <a:solidFill>
                <a:srgbClr val="00B050"/>
              </a:solidFill>
            </a:endParaRPr>
          </a:p>
        </p:txBody>
      </p:sp>
      <p:sp>
        <p:nvSpPr>
          <p:cNvPr id="19" name="TextBox 18"/>
          <p:cNvSpPr txBox="1"/>
          <p:nvPr/>
        </p:nvSpPr>
        <p:spPr>
          <a:xfrm>
            <a:off x="1542924" y="2155740"/>
            <a:ext cx="311304" cy="369332"/>
          </a:xfrm>
          <a:prstGeom prst="rect">
            <a:avLst/>
          </a:prstGeom>
          <a:noFill/>
        </p:spPr>
        <p:txBody>
          <a:bodyPr wrap="none" rtlCol="0">
            <a:spAutoFit/>
          </a:bodyPr>
          <a:lstStyle/>
          <a:p>
            <a:r>
              <a:rPr lang="en-US" altLang="zh-CN" dirty="0" smtClean="0">
                <a:solidFill>
                  <a:srgbClr val="00B050"/>
                </a:solidFill>
              </a:rPr>
              <a:t>1</a:t>
            </a:r>
            <a:endParaRPr lang="zh-CN" altLang="en-US" dirty="0">
              <a:solidFill>
                <a:srgbClr val="00B050"/>
              </a:solidFill>
            </a:endParaRPr>
          </a:p>
        </p:txBody>
      </p:sp>
      <p:sp>
        <p:nvSpPr>
          <p:cNvPr id="20" name="TextBox 19"/>
          <p:cNvSpPr txBox="1"/>
          <p:nvPr/>
        </p:nvSpPr>
        <p:spPr>
          <a:xfrm>
            <a:off x="2195736" y="1646813"/>
            <a:ext cx="311304" cy="369332"/>
          </a:xfrm>
          <a:prstGeom prst="rect">
            <a:avLst/>
          </a:prstGeom>
          <a:noFill/>
        </p:spPr>
        <p:txBody>
          <a:bodyPr wrap="none" rtlCol="0">
            <a:spAutoFit/>
          </a:bodyPr>
          <a:lstStyle/>
          <a:p>
            <a:r>
              <a:rPr lang="en-US" altLang="zh-CN" dirty="0" smtClean="0">
                <a:solidFill>
                  <a:srgbClr val="00B050"/>
                </a:solidFill>
              </a:rPr>
              <a:t>1</a:t>
            </a:r>
            <a:endParaRPr lang="zh-CN" altLang="en-US" dirty="0">
              <a:solidFill>
                <a:srgbClr val="00B050"/>
              </a:solidFill>
            </a:endParaRPr>
          </a:p>
        </p:txBody>
      </p:sp>
      <p:sp>
        <p:nvSpPr>
          <p:cNvPr id="21" name="TextBox 20"/>
          <p:cNvSpPr txBox="1"/>
          <p:nvPr/>
        </p:nvSpPr>
        <p:spPr>
          <a:xfrm>
            <a:off x="2843808" y="1595605"/>
            <a:ext cx="311304" cy="369332"/>
          </a:xfrm>
          <a:prstGeom prst="rect">
            <a:avLst/>
          </a:prstGeom>
          <a:noFill/>
        </p:spPr>
        <p:txBody>
          <a:bodyPr wrap="none" rtlCol="0">
            <a:spAutoFit/>
          </a:bodyPr>
          <a:lstStyle/>
          <a:p>
            <a:r>
              <a:rPr lang="en-US" altLang="zh-CN" dirty="0" smtClean="0">
                <a:solidFill>
                  <a:srgbClr val="00B050"/>
                </a:solidFill>
              </a:rPr>
              <a:t>0</a:t>
            </a:r>
            <a:endParaRPr lang="zh-CN" altLang="en-US" dirty="0">
              <a:solidFill>
                <a:srgbClr val="00B050"/>
              </a:solidFill>
            </a:endParaRPr>
          </a:p>
        </p:txBody>
      </p:sp>
      <p:sp>
        <p:nvSpPr>
          <p:cNvPr id="22" name="TextBox 21"/>
          <p:cNvSpPr txBox="1"/>
          <p:nvPr/>
        </p:nvSpPr>
        <p:spPr>
          <a:xfrm>
            <a:off x="4692744" y="2924944"/>
            <a:ext cx="311304" cy="369332"/>
          </a:xfrm>
          <a:prstGeom prst="rect">
            <a:avLst/>
          </a:prstGeom>
          <a:noFill/>
        </p:spPr>
        <p:txBody>
          <a:bodyPr wrap="none" rtlCol="0">
            <a:spAutoFit/>
          </a:bodyPr>
          <a:lstStyle/>
          <a:p>
            <a:r>
              <a:rPr lang="en-US" altLang="zh-CN" dirty="0" smtClean="0">
                <a:solidFill>
                  <a:srgbClr val="00B050"/>
                </a:solidFill>
              </a:rPr>
              <a:t>1</a:t>
            </a:r>
            <a:endParaRPr lang="zh-CN" altLang="en-US" dirty="0">
              <a:solidFill>
                <a:srgbClr val="00B050"/>
              </a:solidFill>
            </a:endParaRPr>
          </a:p>
        </p:txBody>
      </p:sp>
      <p:sp>
        <p:nvSpPr>
          <p:cNvPr id="23" name="TextBox 22"/>
          <p:cNvSpPr txBox="1"/>
          <p:nvPr/>
        </p:nvSpPr>
        <p:spPr>
          <a:xfrm>
            <a:off x="6047647" y="2924944"/>
            <a:ext cx="311304" cy="369332"/>
          </a:xfrm>
          <a:prstGeom prst="rect">
            <a:avLst/>
          </a:prstGeom>
          <a:noFill/>
        </p:spPr>
        <p:txBody>
          <a:bodyPr wrap="none" rtlCol="0">
            <a:spAutoFit/>
          </a:bodyPr>
          <a:lstStyle/>
          <a:p>
            <a:r>
              <a:rPr lang="en-US" altLang="zh-CN" dirty="0" smtClean="0">
                <a:solidFill>
                  <a:srgbClr val="00B050"/>
                </a:solidFill>
              </a:rPr>
              <a:t>1</a:t>
            </a:r>
            <a:endParaRPr lang="zh-CN" altLang="en-US" dirty="0">
              <a:solidFill>
                <a:srgbClr val="00B050"/>
              </a:solidFill>
            </a:endParaRPr>
          </a:p>
        </p:txBody>
      </p:sp>
      <p:sp>
        <p:nvSpPr>
          <p:cNvPr id="24" name="TextBox 23"/>
          <p:cNvSpPr txBox="1"/>
          <p:nvPr/>
        </p:nvSpPr>
        <p:spPr>
          <a:xfrm>
            <a:off x="2195736" y="2195572"/>
            <a:ext cx="311304" cy="369332"/>
          </a:xfrm>
          <a:prstGeom prst="rect">
            <a:avLst/>
          </a:prstGeom>
          <a:noFill/>
        </p:spPr>
        <p:txBody>
          <a:bodyPr wrap="none" rtlCol="0">
            <a:spAutoFit/>
          </a:bodyPr>
          <a:lstStyle/>
          <a:p>
            <a:r>
              <a:rPr lang="en-US" altLang="zh-CN" dirty="0" smtClean="0">
                <a:solidFill>
                  <a:srgbClr val="00B050"/>
                </a:solidFill>
              </a:rPr>
              <a:t>0</a:t>
            </a:r>
            <a:endParaRPr lang="zh-CN" altLang="en-US" dirty="0">
              <a:solidFill>
                <a:srgbClr val="00B050"/>
              </a:solidFill>
            </a:endParaRPr>
          </a:p>
        </p:txBody>
      </p:sp>
      <p:sp>
        <p:nvSpPr>
          <p:cNvPr id="25" name="TextBox 24"/>
          <p:cNvSpPr txBox="1"/>
          <p:nvPr/>
        </p:nvSpPr>
        <p:spPr>
          <a:xfrm>
            <a:off x="2627784" y="2267580"/>
            <a:ext cx="311304" cy="369332"/>
          </a:xfrm>
          <a:prstGeom prst="rect">
            <a:avLst/>
          </a:prstGeom>
          <a:noFill/>
        </p:spPr>
        <p:txBody>
          <a:bodyPr wrap="none" rtlCol="0">
            <a:spAutoFit/>
          </a:bodyPr>
          <a:lstStyle/>
          <a:p>
            <a:r>
              <a:rPr lang="en-US" altLang="zh-CN" dirty="0" smtClean="0">
                <a:solidFill>
                  <a:srgbClr val="00B050"/>
                </a:solidFill>
              </a:rPr>
              <a:t>1</a:t>
            </a:r>
            <a:endParaRPr lang="zh-CN" altLang="en-US" dirty="0">
              <a:solidFill>
                <a:srgbClr val="00B050"/>
              </a:solidFill>
            </a:endParaRPr>
          </a:p>
        </p:txBody>
      </p:sp>
      <p:sp>
        <p:nvSpPr>
          <p:cNvPr id="26" name="TextBox 25"/>
          <p:cNvSpPr txBox="1"/>
          <p:nvPr/>
        </p:nvSpPr>
        <p:spPr>
          <a:xfrm>
            <a:off x="3252584" y="1907540"/>
            <a:ext cx="311304" cy="369332"/>
          </a:xfrm>
          <a:prstGeom prst="rect">
            <a:avLst/>
          </a:prstGeom>
          <a:noFill/>
        </p:spPr>
        <p:txBody>
          <a:bodyPr wrap="none" rtlCol="0">
            <a:spAutoFit/>
          </a:bodyPr>
          <a:lstStyle/>
          <a:p>
            <a:r>
              <a:rPr lang="en-US" altLang="zh-CN" dirty="0" smtClean="0">
                <a:solidFill>
                  <a:srgbClr val="00B050"/>
                </a:solidFill>
              </a:rPr>
              <a:t>1</a:t>
            </a:r>
            <a:endParaRPr lang="zh-CN" altLang="en-US" dirty="0">
              <a:solidFill>
                <a:srgbClr val="00B050"/>
              </a:solidFill>
            </a:endParaRPr>
          </a:p>
        </p:txBody>
      </p:sp>
      <p:sp>
        <p:nvSpPr>
          <p:cNvPr id="27" name="TextBox 26"/>
          <p:cNvSpPr txBox="1"/>
          <p:nvPr/>
        </p:nvSpPr>
        <p:spPr>
          <a:xfrm>
            <a:off x="4332704" y="5066600"/>
            <a:ext cx="311304" cy="369332"/>
          </a:xfrm>
          <a:prstGeom prst="rect">
            <a:avLst/>
          </a:prstGeom>
          <a:noFill/>
        </p:spPr>
        <p:txBody>
          <a:bodyPr wrap="none" rtlCol="0">
            <a:spAutoFit/>
          </a:bodyPr>
          <a:lstStyle/>
          <a:p>
            <a:r>
              <a:rPr lang="en-US" altLang="zh-CN" dirty="0" smtClean="0">
                <a:solidFill>
                  <a:srgbClr val="00B050"/>
                </a:solidFill>
              </a:rPr>
              <a:t>0</a:t>
            </a:r>
            <a:endParaRPr lang="zh-CN" altLang="en-US" dirty="0">
              <a:solidFill>
                <a:srgbClr val="00B050"/>
              </a:solidFill>
            </a:endParaRPr>
          </a:p>
        </p:txBody>
      </p:sp>
      <p:sp>
        <p:nvSpPr>
          <p:cNvPr id="28" name="TextBox 27"/>
          <p:cNvSpPr txBox="1"/>
          <p:nvPr/>
        </p:nvSpPr>
        <p:spPr>
          <a:xfrm>
            <a:off x="6576588" y="4994592"/>
            <a:ext cx="311304" cy="369332"/>
          </a:xfrm>
          <a:prstGeom prst="rect">
            <a:avLst/>
          </a:prstGeom>
          <a:noFill/>
        </p:spPr>
        <p:txBody>
          <a:bodyPr wrap="none" rtlCol="0">
            <a:spAutoFit/>
          </a:bodyPr>
          <a:lstStyle/>
          <a:p>
            <a:r>
              <a:rPr lang="en-US" altLang="zh-CN" dirty="0" smtClean="0">
                <a:solidFill>
                  <a:srgbClr val="00B050"/>
                </a:solidFill>
              </a:rPr>
              <a:t>0</a:t>
            </a:r>
            <a:endParaRPr lang="zh-CN" altLang="en-US" dirty="0">
              <a:solidFill>
                <a:srgbClr val="00B050"/>
              </a:solidFill>
            </a:endParaRPr>
          </a:p>
        </p:txBody>
      </p:sp>
    </p:spTree>
    <p:extLst>
      <p:ext uri="{BB962C8B-B14F-4D97-AF65-F5344CB8AC3E}">
        <p14:creationId xmlns:p14="http://schemas.microsoft.com/office/powerpoint/2010/main" xmlns="" val="3539465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1" name="Picture 3" descr="E:\wrj\课件\数字电路与系统\数字电路与数字系统\tupian\4-29-1.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62880" y="2641054"/>
            <a:ext cx="8115300" cy="3467100"/>
          </a:xfrm>
          <a:prstGeom prst="rect">
            <a:avLst/>
          </a:prstGeom>
          <a:noFill/>
          <a:extLst>
            <a:ext uri="{909E8E84-426E-40DD-AFC4-6F175D3DCCD1}">
              <a14:hiddenFill xmlns:a14="http://schemas.microsoft.com/office/drawing/2010/main" xmlns="">
                <a:solidFill>
                  <a:srgbClr val="FFFFFF"/>
                </a:solidFill>
              </a14:hiddenFill>
            </a:ext>
          </a:extLst>
        </p:spPr>
      </p:pic>
      <p:sp>
        <p:nvSpPr>
          <p:cNvPr id="2" name="标题 1"/>
          <p:cNvSpPr>
            <a:spLocks noGrp="1"/>
          </p:cNvSpPr>
          <p:nvPr>
            <p:ph type="title"/>
          </p:nvPr>
        </p:nvSpPr>
        <p:spPr>
          <a:xfrm>
            <a:off x="1203451" y="692696"/>
            <a:ext cx="7545014" cy="566936"/>
          </a:xfrm>
        </p:spPr>
        <p:txBody>
          <a:bodyPr/>
          <a:lstStyle/>
          <a:p>
            <a:r>
              <a:rPr lang="en-US" altLang="zh-CN" dirty="0" smtClean="0"/>
              <a:t>4.6 </a:t>
            </a:r>
            <a:r>
              <a:rPr lang="zh-CN" altLang="en-US" dirty="0" smtClean="0"/>
              <a:t>数值比较器</a:t>
            </a:r>
            <a:endParaRPr lang="zh-CN" altLang="en-US" dirty="0"/>
          </a:p>
        </p:txBody>
      </p:sp>
      <p:sp>
        <p:nvSpPr>
          <p:cNvPr id="3" name="内容占位符 2"/>
          <p:cNvSpPr>
            <a:spLocks noGrp="1"/>
          </p:cNvSpPr>
          <p:nvPr>
            <p:ph idx="1"/>
          </p:nvPr>
        </p:nvSpPr>
        <p:spPr>
          <a:xfrm>
            <a:off x="467544" y="1542208"/>
            <a:ext cx="8487544" cy="4911128"/>
          </a:xfrm>
        </p:spPr>
        <p:txBody>
          <a:bodyPr/>
          <a:lstStyle/>
          <a:p>
            <a:pPr>
              <a:lnSpc>
                <a:spcPct val="100000"/>
              </a:lnSpc>
              <a:spcBef>
                <a:spcPts val="600"/>
              </a:spcBef>
              <a:buSzPct val="100000"/>
              <a:buFont typeface="Wingdings" pitchFamily="2" charset="2"/>
              <a:buChar char="p"/>
            </a:pPr>
            <a:r>
              <a:rPr lang="en-US" altLang="zh-CN" sz="2800" dirty="0"/>
              <a:t>MSI</a:t>
            </a:r>
            <a:r>
              <a:rPr lang="zh-CN" altLang="en-US" sz="2800" dirty="0"/>
              <a:t>数值比较器的扩展</a:t>
            </a:r>
            <a:r>
              <a:rPr lang="zh-CN" altLang="en-US" sz="2800" dirty="0" smtClean="0"/>
              <a:t>应用</a:t>
            </a:r>
            <a:endParaRPr lang="en-US" altLang="zh-CN" sz="2800" dirty="0" smtClean="0"/>
          </a:p>
          <a:p>
            <a:pPr lvl="1">
              <a:lnSpc>
                <a:spcPct val="100000"/>
              </a:lnSpc>
              <a:spcBef>
                <a:spcPts val="600"/>
              </a:spcBef>
              <a:buSzPct val="100000"/>
            </a:pPr>
            <a:r>
              <a:rPr lang="en-US" altLang="zh-CN" sz="2400" dirty="0" smtClean="0"/>
              <a:t> (</a:t>
            </a:r>
            <a:r>
              <a:rPr lang="zh-CN" altLang="en-US" sz="2400" dirty="0"/>
              <a:t>一</a:t>
            </a:r>
            <a:r>
              <a:rPr lang="en-US" altLang="zh-CN" sz="2400" dirty="0"/>
              <a:t>) </a:t>
            </a:r>
            <a:r>
              <a:rPr lang="zh-CN" altLang="en-US" sz="2400" dirty="0"/>
              <a:t>级联扩展</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124</a:t>
            </a:fld>
            <a:endParaRPr lang="zh-CN" altLang="en-US"/>
          </a:p>
        </p:txBody>
      </p:sp>
      <p:pic>
        <p:nvPicPr>
          <p:cNvPr id="22530" name="Picture 2" descr="E:\wrj\课件\数字电路与系统\数字电路与数字系统\tupian\4-29-2.jp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48580" y="2583904"/>
            <a:ext cx="8343900" cy="3581400"/>
          </a:xfrm>
          <a:prstGeom prst="rect">
            <a:avLst/>
          </a:prstGeom>
          <a:noFill/>
          <a:extLst>
            <a:ext uri="{909E8E84-426E-40DD-AFC4-6F175D3DCCD1}">
              <a14:hiddenFill xmlns:a14="http://schemas.microsoft.com/office/drawing/2010/main" xmlns="">
                <a:solidFill>
                  <a:srgbClr val="FFFFFF"/>
                </a:solidFill>
              </a14:hiddenFill>
            </a:ext>
          </a:extLst>
        </p:spPr>
      </p:pic>
      <p:sp>
        <p:nvSpPr>
          <p:cNvPr id="5" name="矩形 4"/>
          <p:cNvSpPr/>
          <p:nvPr/>
        </p:nvSpPr>
        <p:spPr>
          <a:xfrm>
            <a:off x="662880" y="6108154"/>
            <a:ext cx="7797552" cy="646331"/>
          </a:xfrm>
          <a:prstGeom prst="rect">
            <a:avLst/>
          </a:prstGeom>
        </p:spPr>
        <p:txBody>
          <a:bodyPr wrap="square">
            <a:spAutoFit/>
          </a:bodyPr>
          <a:lstStyle/>
          <a:p>
            <a:r>
              <a:rPr lang="zh-CN" altLang="en-US" b="1" dirty="0"/>
              <a:t>由图可见，低４位的比较结果作为高４位的条件。级</a:t>
            </a:r>
            <a:r>
              <a:rPr lang="zh-CN" altLang="en-US" b="1" dirty="0" smtClean="0"/>
              <a:t>联扩展</a:t>
            </a:r>
            <a:r>
              <a:rPr lang="zh-CN" altLang="en-US" b="1" dirty="0"/>
              <a:t>法</a:t>
            </a:r>
            <a:r>
              <a:rPr lang="zh-CN" altLang="en-US" b="1" dirty="0">
                <a:solidFill>
                  <a:srgbClr val="0000CC"/>
                </a:solidFill>
              </a:rPr>
              <a:t>结构简单</a:t>
            </a:r>
            <a:r>
              <a:rPr lang="zh-CN" altLang="en-US" b="1" dirty="0"/>
              <a:t>，但</a:t>
            </a:r>
            <a:r>
              <a:rPr lang="zh-CN" altLang="en-US" b="1" dirty="0">
                <a:solidFill>
                  <a:srgbClr val="0000CC"/>
                </a:solidFill>
              </a:rPr>
              <a:t>运算速度低</a:t>
            </a:r>
            <a:r>
              <a:rPr lang="zh-CN" altLang="en-US" b="1" dirty="0"/>
              <a:t>。</a:t>
            </a:r>
          </a:p>
        </p:txBody>
      </p:sp>
    </p:spTree>
    <p:extLst>
      <p:ext uri="{BB962C8B-B14F-4D97-AF65-F5344CB8AC3E}">
        <p14:creationId xmlns:p14="http://schemas.microsoft.com/office/powerpoint/2010/main" xmlns="" val="2081489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5" name="Picture 3" descr="E:\wrj\课件\数字电路与系统\数字电路与数字系统\tupian\4-30-1.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02096" y="1732384"/>
            <a:ext cx="8534400" cy="4648200"/>
          </a:xfrm>
          <a:prstGeom prst="rect">
            <a:avLst/>
          </a:prstGeom>
          <a:noFill/>
          <a:extLst>
            <a:ext uri="{909E8E84-426E-40DD-AFC4-6F175D3DCCD1}">
              <a14:hiddenFill xmlns:a14="http://schemas.microsoft.com/office/drawing/2010/main" xmlns="">
                <a:solidFill>
                  <a:srgbClr val="FFFFFF"/>
                </a:solidFill>
              </a14:hiddenFill>
            </a:ext>
          </a:extLst>
        </p:spPr>
      </p:pic>
      <p:sp>
        <p:nvSpPr>
          <p:cNvPr id="2" name="标题 1"/>
          <p:cNvSpPr>
            <a:spLocks noGrp="1"/>
          </p:cNvSpPr>
          <p:nvPr>
            <p:ph type="title"/>
          </p:nvPr>
        </p:nvSpPr>
        <p:spPr>
          <a:xfrm>
            <a:off x="1203451" y="692696"/>
            <a:ext cx="7545014" cy="566936"/>
          </a:xfrm>
        </p:spPr>
        <p:txBody>
          <a:bodyPr/>
          <a:lstStyle/>
          <a:p>
            <a:r>
              <a:rPr lang="en-US" altLang="zh-CN" sz="3200" dirty="0" smtClean="0"/>
              <a:t>4.6 </a:t>
            </a:r>
            <a:r>
              <a:rPr lang="zh-CN" altLang="en-US" sz="3200" dirty="0" smtClean="0"/>
              <a:t>数值比较器</a:t>
            </a:r>
            <a:endParaRPr lang="zh-CN" altLang="en-US" sz="3200" dirty="0"/>
          </a:p>
        </p:txBody>
      </p:sp>
      <p:sp>
        <p:nvSpPr>
          <p:cNvPr id="4" name="灯片编号占位符 3"/>
          <p:cNvSpPr>
            <a:spLocks noGrp="1"/>
          </p:cNvSpPr>
          <p:nvPr>
            <p:ph type="sldNum" sz="quarter" idx="12"/>
          </p:nvPr>
        </p:nvSpPr>
        <p:spPr>
          <a:xfrm>
            <a:off x="7131496" y="6428184"/>
            <a:ext cx="1905000" cy="457200"/>
          </a:xfrm>
        </p:spPr>
        <p:txBody>
          <a:bodyPr/>
          <a:lstStyle/>
          <a:p>
            <a:fld id="{0C913308-F349-4B6D-A68A-DD1791B4A57B}" type="slidenum">
              <a:rPr lang="zh-CN" altLang="en-US" smtClean="0"/>
              <a:pPr/>
              <a:t>125</a:t>
            </a:fld>
            <a:endParaRPr lang="zh-CN" altLang="en-US"/>
          </a:p>
        </p:txBody>
      </p:sp>
      <p:pic>
        <p:nvPicPr>
          <p:cNvPr id="23554" name="Picture 2" descr="E:\wrj\课件\数字电路与系统\数字电路与数字系统\tupian\4-30-2.jp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59246" y="1751434"/>
            <a:ext cx="8420100" cy="4610100"/>
          </a:xfrm>
          <a:prstGeom prst="rect">
            <a:avLst/>
          </a:prstGeom>
          <a:noFill/>
          <a:extLst>
            <a:ext uri="{909E8E84-426E-40DD-AFC4-6F175D3DCCD1}">
              <a14:hiddenFill xmlns:a14="http://schemas.microsoft.com/office/drawing/2010/main" xmlns="">
                <a:solidFill>
                  <a:srgbClr val="FFFFFF"/>
                </a:solidFill>
              </a14:hiddenFill>
            </a:ext>
          </a:extLst>
        </p:spPr>
      </p:pic>
      <p:sp>
        <p:nvSpPr>
          <p:cNvPr id="5" name="矩形 4"/>
          <p:cNvSpPr/>
          <p:nvPr/>
        </p:nvSpPr>
        <p:spPr>
          <a:xfrm>
            <a:off x="1187624" y="1340768"/>
            <a:ext cx="3168352" cy="461665"/>
          </a:xfrm>
          <a:prstGeom prst="rect">
            <a:avLst/>
          </a:prstGeom>
        </p:spPr>
        <p:txBody>
          <a:bodyPr wrap="square">
            <a:spAutoFit/>
          </a:bodyPr>
          <a:lstStyle/>
          <a:p>
            <a:pPr>
              <a:buClr>
                <a:srgbClr val="FF0000"/>
              </a:buClr>
              <a:buFont typeface="Wingdings" pitchFamily="2" charset="2"/>
              <a:buChar char="n"/>
            </a:pPr>
            <a:r>
              <a:rPr lang="en-US" altLang="zh-CN" sz="2400" b="1" dirty="0" smtClean="0"/>
              <a:t> (</a:t>
            </a:r>
            <a:r>
              <a:rPr lang="zh-CN" altLang="en-US" sz="2400" b="1" dirty="0"/>
              <a:t>二</a:t>
            </a:r>
            <a:r>
              <a:rPr lang="en-US" altLang="zh-CN" sz="2400" b="1" dirty="0"/>
              <a:t>) </a:t>
            </a:r>
            <a:r>
              <a:rPr lang="zh-CN" altLang="en-US" sz="2400" b="1" dirty="0"/>
              <a:t>并联扩展</a:t>
            </a:r>
          </a:p>
        </p:txBody>
      </p:sp>
      <p:sp>
        <p:nvSpPr>
          <p:cNvPr id="6" name="矩形 5"/>
          <p:cNvSpPr/>
          <p:nvPr/>
        </p:nvSpPr>
        <p:spPr>
          <a:xfrm>
            <a:off x="467544" y="4797152"/>
            <a:ext cx="2213992" cy="1631216"/>
          </a:xfrm>
          <a:prstGeom prst="rect">
            <a:avLst/>
          </a:prstGeom>
        </p:spPr>
        <p:txBody>
          <a:bodyPr wrap="square">
            <a:spAutoFit/>
          </a:bodyPr>
          <a:lstStyle/>
          <a:p>
            <a:pPr>
              <a:spcBef>
                <a:spcPts val="600"/>
              </a:spcBef>
            </a:pPr>
            <a:r>
              <a:rPr lang="zh-CN" altLang="en-US" sz="2000" b="1" dirty="0"/>
              <a:t>并联扩展</a:t>
            </a:r>
            <a:r>
              <a:rPr lang="zh-CN" altLang="en-US" sz="2000" b="1" dirty="0" smtClean="0"/>
              <a:t>采用两</a:t>
            </a:r>
            <a:r>
              <a:rPr lang="zh-CN" altLang="en-US" sz="2000" b="1" dirty="0"/>
              <a:t>级比较法，各</a:t>
            </a:r>
            <a:r>
              <a:rPr lang="zh-CN" altLang="en-US" sz="2000" b="1" dirty="0" smtClean="0"/>
              <a:t>组的</a:t>
            </a:r>
            <a:r>
              <a:rPr lang="zh-CN" altLang="en-US" sz="2000" b="1" dirty="0"/>
              <a:t>比较是并行</a:t>
            </a:r>
            <a:r>
              <a:rPr lang="zh-CN" altLang="en-US" sz="2000" b="1" dirty="0" smtClean="0"/>
              <a:t>进行的，此</a:t>
            </a:r>
            <a:r>
              <a:rPr lang="zh-CN" altLang="en-US" sz="2000" b="1" dirty="0" smtClean="0">
                <a:solidFill>
                  <a:srgbClr val="0000CC"/>
                </a:solidFill>
              </a:rPr>
              <a:t>运算速度比</a:t>
            </a:r>
            <a:r>
              <a:rPr lang="zh-CN" altLang="en-US" sz="2000" b="1" dirty="0">
                <a:solidFill>
                  <a:srgbClr val="0000CC"/>
                </a:solidFill>
              </a:rPr>
              <a:t>级联扩展快</a:t>
            </a:r>
            <a:r>
              <a:rPr lang="zh-CN" altLang="en-US" sz="2000" b="1" dirty="0"/>
              <a:t>。</a:t>
            </a:r>
          </a:p>
        </p:txBody>
      </p:sp>
      <p:sp>
        <p:nvSpPr>
          <p:cNvPr id="7" name="矩形 6"/>
          <p:cNvSpPr/>
          <p:nvPr/>
        </p:nvSpPr>
        <p:spPr>
          <a:xfrm>
            <a:off x="3131840" y="6444044"/>
            <a:ext cx="3637534" cy="369332"/>
          </a:xfrm>
          <a:prstGeom prst="rect">
            <a:avLst/>
          </a:prstGeom>
        </p:spPr>
        <p:txBody>
          <a:bodyPr wrap="none">
            <a:spAutoFit/>
          </a:bodyPr>
          <a:lstStyle/>
          <a:p>
            <a:r>
              <a:rPr lang="zh-CN" altLang="en-US" b="1" dirty="0" smtClean="0"/>
              <a:t>图</a:t>
            </a:r>
            <a:r>
              <a:rPr lang="en-US" altLang="zh-CN" b="1" dirty="0" smtClean="0"/>
              <a:t> </a:t>
            </a:r>
            <a:r>
              <a:rPr lang="zh-CN" altLang="en-US" b="1" dirty="0" smtClean="0"/>
              <a:t>并联</a:t>
            </a:r>
            <a:r>
              <a:rPr lang="zh-CN" altLang="en-US" b="1" dirty="0"/>
              <a:t>方式扩展</a:t>
            </a:r>
            <a:r>
              <a:rPr lang="en-US" altLang="zh-CN" b="1" dirty="0"/>
              <a:t>16</a:t>
            </a:r>
            <a:r>
              <a:rPr lang="zh-CN" altLang="en-US" b="1" dirty="0"/>
              <a:t>位数值比较器</a:t>
            </a:r>
          </a:p>
        </p:txBody>
      </p:sp>
    </p:spTree>
    <p:extLst>
      <p:ext uri="{BB962C8B-B14F-4D97-AF65-F5344CB8AC3E}">
        <p14:creationId xmlns:p14="http://schemas.microsoft.com/office/powerpoint/2010/main" xmlns="" val="324353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5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92696"/>
            <a:ext cx="7617022" cy="566936"/>
          </a:xfrm>
        </p:spPr>
        <p:txBody>
          <a:bodyPr/>
          <a:lstStyle/>
          <a:p>
            <a:r>
              <a:rPr lang="en-US" altLang="zh-CN" dirty="0" smtClean="0"/>
              <a:t>4.7 </a:t>
            </a:r>
            <a:r>
              <a:rPr lang="zh-CN" altLang="en-US" dirty="0" smtClean="0"/>
              <a:t>加法电路</a:t>
            </a:r>
            <a:endParaRPr lang="zh-CN" altLang="en-US" dirty="0"/>
          </a:p>
        </p:txBody>
      </p:sp>
      <p:sp>
        <p:nvSpPr>
          <p:cNvPr id="3" name="内容占位符 2"/>
          <p:cNvSpPr>
            <a:spLocks noGrp="1"/>
          </p:cNvSpPr>
          <p:nvPr>
            <p:ph idx="1"/>
          </p:nvPr>
        </p:nvSpPr>
        <p:spPr>
          <a:xfrm>
            <a:off x="467544" y="1484784"/>
            <a:ext cx="8487544" cy="4911128"/>
          </a:xfrm>
        </p:spPr>
        <p:txBody>
          <a:bodyPr/>
          <a:lstStyle/>
          <a:p>
            <a:pPr>
              <a:lnSpc>
                <a:spcPct val="100000"/>
              </a:lnSpc>
              <a:spcBef>
                <a:spcPts val="600"/>
              </a:spcBef>
              <a:buSzPct val="100000"/>
              <a:buFont typeface="Wingdings" pitchFamily="2" charset="2"/>
              <a:buChar char="p"/>
            </a:pPr>
            <a:r>
              <a:rPr lang="zh-CN" altLang="en-US" sz="2800" dirty="0"/>
              <a:t>两个二进制数之间的</a:t>
            </a:r>
            <a:r>
              <a:rPr lang="zh-CN" altLang="en-US" sz="2800" dirty="0">
                <a:solidFill>
                  <a:srgbClr val="FF0000"/>
                </a:solidFill>
              </a:rPr>
              <a:t>算术运算</a:t>
            </a:r>
            <a:r>
              <a:rPr lang="zh-CN" altLang="en-US" sz="2800" dirty="0"/>
              <a:t>无论是加、减、乘、除</a:t>
            </a:r>
            <a:r>
              <a:rPr lang="zh-CN" altLang="en-US" sz="2800" dirty="0" smtClean="0"/>
              <a:t>，目前</a:t>
            </a:r>
            <a:r>
              <a:rPr lang="zh-CN" altLang="en-US" sz="2800" dirty="0"/>
              <a:t>在数字计算机中都是化为若干步</a:t>
            </a:r>
            <a:r>
              <a:rPr lang="zh-CN" altLang="en-US" sz="2800" dirty="0">
                <a:solidFill>
                  <a:srgbClr val="0000CC"/>
                </a:solidFill>
              </a:rPr>
              <a:t>加法运算</a:t>
            </a:r>
            <a:r>
              <a:rPr lang="zh-CN" altLang="en-US" sz="2800" dirty="0"/>
              <a:t>和</a:t>
            </a:r>
            <a:r>
              <a:rPr lang="zh-CN" altLang="en-US" sz="2800" dirty="0">
                <a:solidFill>
                  <a:srgbClr val="0000CC"/>
                </a:solidFill>
              </a:rPr>
              <a:t>移位</a:t>
            </a:r>
            <a:r>
              <a:rPr lang="zh-CN" altLang="en-US" sz="2800" dirty="0" smtClean="0"/>
              <a:t>进行的。</a:t>
            </a:r>
            <a:endParaRPr lang="en-US" altLang="zh-CN" sz="2800" dirty="0" smtClean="0"/>
          </a:p>
          <a:p>
            <a:pPr>
              <a:lnSpc>
                <a:spcPct val="100000"/>
              </a:lnSpc>
              <a:spcBef>
                <a:spcPts val="600"/>
              </a:spcBef>
              <a:buSzPct val="100000"/>
              <a:buFont typeface="Wingdings" pitchFamily="2" charset="2"/>
              <a:buChar char="p"/>
            </a:pPr>
            <a:r>
              <a:rPr lang="zh-CN" altLang="en-US" sz="2800" dirty="0" smtClean="0">
                <a:solidFill>
                  <a:srgbClr val="FF0000"/>
                </a:solidFill>
              </a:rPr>
              <a:t>加法器</a:t>
            </a:r>
            <a:r>
              <a:rPr lang="zh-CN" altLang="en-US" sz="2800" dirty="0"/>
              <a:t>是构成算术运算器的</a:t>
            </a:r>
            <a:r>
              <a:rPr lang="zh-CN" altLang="en-US" sz="2800" dirty="0">
                <a:solidFill>
                  <a:srgbClr val="0000CC"/>
                </a:solidFill>
              </a:rPr>
              <a:t>基本单元</a:t>
            </a:r>
            <a:r>
              <a:rPr lang="zh-CN" altLang="en-US" sz="2800" dirty="0"/>
              <a:t>。</a:t>
            </a:r>
          </a:p>
          <a:p>
            <a:pPr>
              <a:lnSpc>
                <a:spcPct val="100000"/>
              </a:lnSpc>
              <a:spcBef>
                <a:spcPts val="600"/>
              </a:spcBef>
              <a:buSzPct val="100000"/>
              <a:buFont typeface="Wingdings" pitchFamily="2" charset="2"/>
              <a:buChar char="p"/>
            </a:pPr>
            <a:r>
              <a:rPr lang="zh-CN" altLang="en-US" sz="2800" dirty="0" smtClean="0"/>
              <a:t>常用</a:t>
            </a:r>
            <a:r>
              <a:rPr lang="zh-CN" altLang="en-US" sz="2800" dirty="0"/>
              <a:t>加法器分类如下：</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126</a:t>
            </a:fld>
            <a:endParaRPr lang="zh-CN" altLang="en-US"/>
          </a:p>
        </p:txBody>
      </p:sp>
      <p:pic>
        <p:nvPicPr>
          <p:cNvPr id="24578" name="Picture 2" descr="E:\wrj\课件\数字电路与系统\数字电路与数字系统\tupian\4-31.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547664" y="3933056"/>
            <a:ext cx="5539462" cy="2196000"/>
          </a:xfrm>
          <a:prstGeom prst="rect">
            <a:avLst/>
          </a:prstGeom>
          <a:noFill/>
          <a:extLst>
            <a:ext uri="{909E8E84-426E-40DD-AFC4-6F175D3DCCD1}">
              <a14:hiddenFill xmlns:a14="http://schemas.microsoft.com/office/drawing/2010/main" xmlns="">
                <a:solidFill>
                  <a:srgbClr val="FFFFFF"/>
                </a:solidFill>
              </a14:hiddenFill>
            </a:ext>
          </a:extLst>
        </p:spPr>
      </p:pic>
      <p:sp>
        <p:nvSpPr>
          <p:cNvPr id="6" name="标题 1"/>
          <p:cNvSpPr txBox="1">
            <a:spLocks/>
          </p:cNvSpPr>
          <p:nvPr/>
        </p:nvSpPr>
        <p:spPr bwMode="auto">
          <a:xfrm>
            <a:off x="1259632" y="0"/>
            <a:ext cx="7016824" cy="63894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fontAlgn="base">
              <a:spcBef>
                <a:spcPct val="0"/>
              </a:spcBef>
              <a:spcAft>
                <a:spcPct val="0"/>
              </a:spcAft>
              <a:defRPr/>
            </a:pP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第</a:t>
            </a:r>
            <a:r>
              <a:rPr kumimoji="1" lang="en-US" altLang="zh-CN" sz="3600" b="1" kern="0" dirty="0" smtClean="0">
                <a:solidFill>
                  <a:schemeClr val="tx2"/>
                </a:solidFill>
                <a:latin typeface="+mj-lt"/>
                <a:ea typeface="+mj-ea"/>
                <a:cs typeface="+mj-cs"/>
              </a:rPr>
              <a:t>4</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章　组合</a:t>
            </a:r>
            <a:r>
              <a:rPr kumimoji="1" lang="zh-CN" altLang="en-US" sz="3600" b="1" kern="0" dirty="0" smtClean="0">
                <a:solidFill>
                  <a:schemeClr val="tx2"/>
                </a:solidFill>
              </a:rPr>
              <a:t>逻辑</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电路</a:t>
            </a:r>
            <a:endParaRPr kumimoji="1" lang="zh-CN" altLang="en-US" sz="36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1220630144"/>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92696"/>
            <a:ext cx="7473006" cy="566936"/>
          </a:xfrm>
        </p:spPr>
        <p:txBody>
          <a:bodyPr/>
          <a:lstStyle/>
          <a:p>
            <a:r>
              <a:rPr lang="en-US" altLang="zh-CN" dirty="0" smtClean="0"/>
              <a:t>4.7 </a:t>
            </a:r>
            <a:r>
              <a:rPr lang="zh-CN" altLang="en-US" dirty="0" smtClean="0"/>
              <a:t>加法电路</a:t>
            </a:r>
            <a:endParaRPr lang="zh-CN" altLang="en-US" dirty="0"/>
          </a:p>
        </p:txBody>
      </p:sp>
      <p:sp>
        <p:nvSpPr>
          <p:cNvPr id="3" name="内容占位符 2"/>
          <p:cNvSpPr>
            <a:spLocks noGrp="1"/>
          </p:cNvSpPr>
          <p:nvPr>
            <p:ph idx="1"/>
          </p:nvPr>
        </p:nvSpPr>
        <p:spPr>
          <a:xfrm>
            <a:off x="467544" y="1484784"/>
            <a:ext cx="8487544" cy="4911128"/>
          </a:xfrm>
        </p:spPr>
        <p:txBody>
          <a:bodyPr/>
          <a:lstStyle/>
          <a:p>
            <a:pPr>
              <a:lnSpc>
                <a:spcPct val="100000"/>
              </a:lnSpc>
              <a:spcBef>
                <a:spcPts val="600"/>
              </a:spcBef>
              <a:buSzPct val="100000"/>
              <a:buFont typeface="Wingdings" pitchFamily="2" charset="2"/>
              <a:buChar char="p"/>
            </a:pPr>
            <a:r>
              <a:rPr lang="en-US" altLang="zh-CN" sz="2800" dirty="0"/>
              <a:t>1</a:t>
            </a:r>
            <a:r>
              <a:rPr lang="zh-CN" altLang="en-US" sz="2800" dirty="0" smtClean="0"/>
              <a:t>位加法器</a:t>
            </a:r>
            <a:endParaRPr lang="zh-CN" altLang="en-US" sz="2800" dirty="0"/>
          </a:p>
          <a:p>
            <a:pPr lvl="1">
              <a:lnSpc>
                <a:spcPct val="100000"/>
              </a:lnSpc>
              <a:spcBef>
                <a:spcPts val="600"/>
              </a:spcBef>
              <a:buSzPct val="100000"/>
            </a:pPr>
            <a:r>
              <a:rPr lang="en-US" altLang="zh-CN" sz="2400" dirty="0" smtClean="0"/>
              <a:t>1</a:t>
            </a:r>
            <a:r>
              <a:rPr lang="zh-CN" altLang="en-US" sz="2400" dirty="0" smtClean="0"/>
              <a:t>、半加器</a:t>
            </a:r>
            <a:r>
              <a:rPr lang="zh-CN" altLang="en-US" sz="2400" dirty="0"/>
              <a:t>（</a:t>
            </a:r>
            <a:r>
              <a:rPr lang="en-US" altLang="zh-CN" sz="2400" dirty="0"/>
              <a:t>Half-adder</a:t>
            </a:r>
            <a:r>
              <a:rPr lang="zh-CN" altLang="en-US" sz="2400" dirty="0"/>
              <a:t>）</a:t>
            </a:r>
          </a:p>
          <a:p>
            <a:pPr lvl="2">
              <a:lnSpc>
                <a:spcPct val="100000"/>
              </a:lnSpc>
              <a:spcBef>
                <a:spcPts val="600"/>
              </a:spcBef>
              <a:buSzPct val="100000"/>
              <a:buFont typeface="Wingdings" pitchFamily="2" charset="2"/>
              <a:buChar char="u"/>
            </a:pPr>
            <a:r>
              <a:rPr lang="zh-CN" altLang="en-US" dirty="0"/>
              <a:t>若不考虑有来自低位的进位将两个</a:t>
            </a:r>
            <a:r>
              <a:rPr lang="en-US" altLang="zh-CN" dirty="0"/>
              <a:t>1</a:t>
            </a:r>
            <a:r>
              <a:rPr lang="zh-CN" altLang="en-US" dirty="0"/>
              <a:t>位二进制数相加</a:t>
            </a:r>
            <a:r>
              <a:rPr lang="zh-CN" altLang="en-US" dirty="0" smtClean="0"/>
              <a:t>，称为</a:t>
            </a:r>
            <a:r>
              <a:rPr lang="zh-CN" altLang="en-US" dirty="0">
                <a:solidFill>
                  <a:srgbClr val="0000CC"/>
                </a:solidFill>
              </a:rPr>
              <a:t>半加</a:t>
            </a:r>
            <a:r>
              <a:rPr lang="zh-CN" altLang="en-US" dirty="0"/>
              <a:t>。实现半加运算的电路叫做</a:t>
            </a:r>
            <a:r>
              <a:rPr lang="zh-CN" altLang="en-US" dirty="0">
                <a:solidFill>
                  <a:srgbClr val="0000CC"/>
                </a:solidFill>
              </a:rPr>
              <a:t>半加器</a:t>
            </a:r>
            <a:r>
              <a:rPr lang="zh-CN" altLang="en-US" dirty="0"/>
              <a:t>。</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127</a:t>
            </a:fld>
            <a:endParaRPr lang="zh-CN" altLang="en-US"/>
          </a:p>
        </p:txBody>
      </p:sp>
      <p:sp>
        <p:nvSpPr>
          <p:cNvPr id="6" name="Text Box 6"/>
          <p:cNvSpPr txBox="1">
            <a:spLocks noChangeArrowheads="1"/>
          </p:cNvSpPr>
          <p:nvPr/>
        </p:nvSpPr>
        <p:spPr bwMode="auto">
          <a:xfrm>
            <a:off x="755452" y="3393340"/>
            <a:ext cx="3195638"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b="1" dirty="0" smtClean="0">
                <a:latin typeface="楷体_GB2312" pitchFamily="49" charset="-122"/>
                <a:ea typeface="楷体_GB2312" pitchFamily="49" charset="-122"/>
              </a:rPr>
              <a:t>表</a:t>
            </a:r>
            <a:r>
              <a:rPr kumimoji="1" lang="en-US" altLang="zh-CN" b="1" dirty="0" smtClean="0">
                <a:latin typeface="楷体_GB2312" pitchFamily="49" charset="-122"/>
                <a:ea typeface="楷体_GB2312" pitchFamily="49" charset="-122"/>
              </a:rPr>
              <a:t>  </a:t>
            </a:r>
            <a:r>
              <a:rPr kumimoji="1" lang="zh-CN" altLang="en-US" b="1" dirty="0">
                <a:latin typeface="楷体_GB2312" pitchFamily="49" charset="-122"/>
                <a:ea typeface="楷体_GB2312" pitchFamily="49" charset="-122"/>
              </a:rPr>
              <a:t>半加器的真值表</a:t>
            </a:r>
          </a:p>
        </p:txBody>
      </p:sp>
      <p:sp>
        <p:nvSpPr>
          <p:cNvPr id="7" name="Text Box 11"/>
          <p:cNvSpPr txBox="1">
            <a:spLocks noChangeArrowheads="1"/>
          </p:cNvSpPr>
          <p:nvPr/>
        </p:nvSpPr>
        <p:spPr bwMode="auto">
          <a:xfrm>
            <a:off x="4571802" y="3212976"/>
            <a:ext cx="3195638"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b="1" dirty="0">
                <a:latin typeface="Times New Roman" pitchFamily="18" charset="0"/>
                <a:ea typeface="楷体_GB2312" pitchFamily="49" charset="-122"/>
              </a:rPr>
              <a:t>半加器的逻辑表达式</a:t>
            </a:r>
          </a:p>
        </p:txBody>
      </p:sp>
      <p:graphicFrame>
        <p:nvGraphicFramePr>
          <p:cNvPr id="8" name="Object 12"/>
          <p:cNvGraphicFramePr>
            <a:graphicFrameLocks noChangeAspect="1"/>
          </p:cNvGraphicFramePr>
          <p:nvPr>
            <p:extLst>
              <p:ext uri="{D42A27DB-BD31-4B8C-83A1-F6EECF244321}">
                <p14:modId xmlns:p14="http://schemas.microsoft.com/office/powerpoint/2010/main" xmlns="" val="2661015594"/>
              </p:ext>
            </p:extLst>
          </p:nvPr>
        </p:nvGraphicFramePr>
        <p:xfrm>
          <a:off x="4643958" y="3645025"/>
          <a:ext cx="3600450" cy="1008111"/>
        </p:xfrm>
        <a:graphic>
          <a:graphicData uri="http://schemas.openxmlformats.org/presentationml/2006/ole">
            <p:oleObj spid="_x0000_s25804" name="公式" r:id="rId3" imgW="1422400" imgH="508000" progId="">
              <p:embed/>
            </p:oleObj>
          </a:graphicData>
        </a:graphic>
      </p:graphicFrame>
      <p:graphicFrame>
        <p:nvGraphicFramePr>
          <p:cNvPr id="9" name="Group 13"/>
          <p:cNvGraphicFramePr>
            <a:graphicFrameLocks noGrp="1"/>
          </p:cNvGraphicFramePr>
          <p:nvPr>
            <p:extLst>
              <p:ext uri="{D42A27DB-BD31-4B8C-83A1-F6EECF244321}">
                <p14:modId xmlns:p14="http://schemas.microsoft.com/office/powerpoint/2010/main" xmlns="" val="589041710"/>
              </p:ext>
            </p:extLst>
          </p:nvPr>
        </p:nvGraphicFramePr>
        <p:xfrm>
          <a:off x="539552" y="3826728"/>
          <a:ext cx="3529013" cy="2194560"/>
        </p:xfrm>
        <a:graphic>
          <a:graphicData uri="http://schemas.openxmlformats.org/drawingml/2006/table">
            <a:tbl>
              <a:tblPr/>
              <a:tblGrid>
                <a:gridCol w="1765300">
                  <a:extLst>
                    <a:ext uri="{9D8B030D-6E8A-4147-A177-3AD203B41FA5}">
                      <a16:colId xmlns:a16="http://schemas.microsoft.com/office/drawing/2014/main" xmlns="" val="20000"/>
                    </a:ext>
                  </a:extLst>
                </a:gridCol>
                <a:gridCol w="1763713">
                  <a:extLst>
                    <a:ext uri="{9D8B030D-6E8A-4147-A177-3AD203B41FA5}">
                      <a16:colId xmlns:a16="http://schemas.microsoft.com/office/drawing/2014/main" xmlns="" val="20001"/>
                    </a:ext>
                  </a:extLst>
                </a:gridCol>
              </a:tblGrid>
              <a:tr h="3508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i="0" u="none" strike="noStrike" cap="none" normalizeH="0" baseline="0" dirty="0" smtClean="0">
                          <a:ln>
                            <a:noFill/>
                          </a:ln>
                          <a:solidFill>
                            <a:schemeClr val="tx1"/>
                          </a:solidFill>
                          <a:effectLst/>
                          <a:latin typeface="Arial" charset="0"/>
                          <a:ea typeface="宋体" charset="-122"/>
                        </a:rPr>
                        <a:t>输入</a:t>
                      </a:r>
                    </a:p>
                  </a:txBody>
                  <a:tcP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i="0" u="none" strike="noStrike" cap="none" normalizeH="0" baseline="0" smtClean="0">
                          <a:ln>
                            <a:noFill/>
                          </a:ln>
                          <a:solidFill>
                            <a:schemeClr val="tx1"/>
                          </a:solidFill>
                          <a:effectLst/>
                          <a:latin typeface="Arial" charset="0"/>
                          <a:ea typeface="宋体" charset="-122"/>
                        </a:rPr>
                        <a:t>输出</a:t>
                      </a:r>
                    </a:p>
                  </a:txBody>
                  <a:tcP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508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Arial" charset="0"/>
                          <a:ea typeface="宋体" charset="-122"/>
                        </a:rPr>
                        <a:t>A        B</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Arial" charset="0"/>
                          <a:ea typeface="宋体" charset="-122"/>
                        </a:rPr>
                        <a:t>S         CO</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508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Arial" charset="0"/>
                          <a:ea typeface="宋体" charset="-122"/>
                        </a:rPr>
                        <a:t>0        0</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Arial" charset="0"/>
                          <a:ea typeface="宋体" charset="-122"/>
                        </a:rPr>
                        <a:t>0           0</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3492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Arial" charset="0"/>
                          <a:ea typeface="宋体" charset="-122"/>
                        </a:rPr>
                        <a:t>0        1</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Arial" charset="0"/>
                          <a:ea typeface="宋体" charset="-122"/>
                        </a:rPr>
                        <a:t>1           0</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3508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Arial" charset="0"/>
                          <a:ea typeface="宋体" charset="-122"/>
                        </a:rPr>
                        <a:t>1        0</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Arial" charset="0"/>
                          <a:ea typeface="宋体" charset="-122"/>
                        </a:rPr>
                        <a:t>1           0</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3508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Arial" charset="0"/>
                          <a:ea typeface="宋体" charset="-122"/>
                        </a:rPr>
                        <a:t>1        1</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Arial" charset="0"/>
                          <a:ea typeface="宋体" charset="-122"/>
                        </a:rPr>
                        <a:t>0           1</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bl>
          </a:graphicData>
        </a:graphic>
      </p:graphicFrame>
      <p:sp>
        <p:nvSpPr>
          <p:cNvPr id="10" name="矩形 9"/>
          <p:cNvSpPr/>
          <p:nvPr/>
        </p:nvSpPr>
        <p:spPr>
          <a:xfrm>
            <a:off x="4713689" y="4715852"/>
            <a:ext cx="2954655" cy="369332"/>
          </a:xfrm>
          <a:prstGeom prst="rect">
            <a:avLst/>
          </a:prstGeom>
        </p:spPr>
        <p:txBody>
          <a:bodyPr wrap="none">
            <a:spAutoFit/>
          </a:bodyPr>
          <a:lstStyle/>
          <a:p>
            <a:r>
              <a:rPr lang="zh-CN" altLang="en-US" b="1" dirty="0"/>
              <a:t>半加器的逻辑电路及符号：</a:t>
            </a:r>
          </a:p>
        </p:txBody>
      </p:sp>
      <p:pic>
        <p:nvPicPr>
          <p:cNvPr id="25602" name="Picture 2" descr="E:\wrj\课件\数字电路与系统\数字电路与数字系统\tupian\4-31-2.jpg"/>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7020272" y="5293636"/>
            <a:ext cx="1958049" cy="1080000"/>
          </a:xfrm>
          <a:prstGeom prst="rect">
            <a:avLst/>
          </a:prstGeom>
          <a:noFill/>
          <a:extLst>
            <a:ext uri="{909E8E84-426E-40DD-AFC4-6F175D3DCCD1}">
              <a14:hiddenFill xmlns:a14="http://schemas.microsoft.com/office/drawing/2010/main" xmlns="">
                <a:solidFill>
                  <a:srgbClr val="FFFFFF"/>
                </a:solidFill>
              </a14:hiddenFill>
            </a:ext>
          </a:extLst>
        </p:spPr>
      </p:pic>
      <p:pic>
        <p:nvPicPr>
          <p:cNvPr id="25603" name="Picture 3" descr="E:\wrj\课件\数字电路与系统\数字电路与数字系统\tupian\4-32-1.jpg"/>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4541970" y="5229200"/>
            <a:ext cx="1928136" cy="14400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4013755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5603"/>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256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476672"/>
            <a:ext cx="7473006" cy="566936"/>
          </a:xfrm>
        </p:spPr>
        <p:txBody>
          <a:bodyPr/>
          <a:lstStyle/>
          <a:p>
            <a:r>
              <a:rPr lang="en-US" altLang="zh-CN" dirty="0" smtClean="0"/>
              <a:t>4.7 </a:t>
            </a:r>
            <a:r>
              <a:rPr lang="zh-CN" altLang="en-US" dirty="0" smtClean="0"/>
              <a:t>加法电路</a:t>
            </a:r>
            <a:endParaRPr lang="zh-CN" altLang="en-US" dirty="0"/>
          </a:p>
        </p:txBody>
      </p:sp>
      <p:sp>
        <p:nvSpPr>
          <p:cNvPr id="3" name="内容占位符 2"/>
          <p:cNvSpPr>
            <a:spLocks noGrp="1"/>
          </p:cNvSpPr>
          <p:nvPr>
            <p:ph idx="1"/>
          </p:nvPr>
        </p:nvSpPr>
        <p:spPr>
          <a:xfrm>
            <a:off x="323528" y="980728"/>
            <a:ext cx="8424936" cy="4911128"/>
          </a:xfrm>
          <a:solidFill>
            <a:schemeClr val="bg1"/>
          </a:solidFill>
        </p:spPr>
        <p:txBody>
          <a:bodyPr/>
          <a:lstStyle/>
          <a:p>
            <a:pPr lvl="1">
              <a:lnSpc>
                <a:spcPct val="100000"/>
              </a:lnSpc>
              <a:spcBef>
                <a:spcPts val="600"/>
              </a:spcBef>
              <a:buSzPct val="100000"/>
            </a:pPr>
            <a:r>
              <a:rPr lang="zh-CN" altLang="en-US" sz="2400" dirty="0"/>
              <a:t> </a:t>
            </a:r>
            <a:r>
              <a:rPr lang="en-US" altLang="zh-CN" sz="2400" dirty="0"/>
              <a:t>2</a:t>
            </a:r>
            <a:r>
              <a:rPr lang="zh-CN" altLang="en-US" sz="2400" dirty="0"/>
              <a:t>、全加器（</a:t>
            </a:r>
            <a:r>
              <a:rPr lang="en-US" altLang="zh-CN" sz="2400" dirty="0"/>
              <a:t>Full Adder</a:t>
            </a:r>
            <a:r>
              <a:rPr lang="zh-CN" altLang="en-US" sz="2400" dirty="0"/>
              <a:t>）</a:t>
            </a:r>
          </a:p>
          <a:p>
            <a:pPr lvl="2">
              <a:lnSpc>
                <a:spcPct val="100000"/>
              </a:lnSpc>
              <a:spcBef>
                <a:spcPts val="600"/>
              </a:spcBef>
              <a:buSzPct val="100000"/>
              <a:buFont typeface="Wingdings" pitchFamily="2" charset="2"/>
              <a:buChar char="u"/>
            </a:pPr>
            <a:r>
              <a:rPr lang="zh-CN" altLang="en-US" dirty="0" smtClean="0"/>
              <a:t>将</a:t>
            </a:r>
            <a:r>
              <a:rPr lang="zh-CN" altLang="en-US" dirty="0"/>
              <a:t>两个</a:t>
            </a:r>
            <a:r>
              <a:rPr lang="zh-CN" altLang="en-US" dirty="0">
                <a:solidFill>
                  <a:srgbClr val="0000CC"/>
                </a:solidFill>
              </a:rPr>
              <a:t>多位二进制数相加</a:t>
            </a:r>
            <a:r>
              <a:rPr lang="zh-CN" altLang="en-US" dirty="0"/>
              <a:t>时，</a:t>
            </a:r>
            <a:r>
              <a:rPr lang="zh-CN" altLang="en-US" dirty="0">
                <a:solidFill>
                  <a:srgbClr val="0000CC"/>
                </a:solidFill>
              </a:rPr>
              <a:t>除了最低位</a:t>
            </a:r>
            <a:r>
              <a:rPr lang="zh-CN" altLang="en-US" dirty="0"/>
              <a:t>以外，每一位都应</a:t>
            </a:r>
            <a:r>
              <a:rPr lang="zh-CN" altLang="en-US" dirty="0">
                <a:solidFill>
                  <a:srgbClr val="0000CC"/>
                </a:solidFill>
              </a:rPr>
              <a:t>考虑来自低位的进位</a:t>
            </a:r>
            <a:r>
              <a:rPr lang="zh-CN" altLang="en-US" dirty="0"/>
              <a:t>，即将两个对应的</a:t>
            </a:r>
            <a:r>
              <a:rPr lang="zh-CN" altLang="en-US" dirty="0">
                <a:solidFill>
                  <a:srgbClr val="0000CC"/>
                </a:solidFill>
              </a:rPr>
              <a:t>加数</a:t>
            </a:r>
            <a:r>
              <a:rPr lang="zh-CN" altLang="en-US" dirty="0"/>
              <a:t>和来自低位的</a:t>
            </a:r>
            <a:r>
              <a:rPr lang="zh-CN" altLang="en-US" dirty="0">
                <a:solidFill>
                  <a:srgbClr val="0000CC"/>
                </a:solidFill>
              </a:rPr>
              <a:t>进位</a:t>
            </a:r>
            <a:r>
              <a:rPr lang="en-US" altLang="zh-CN" dirty="0">
                <a:solidFill>
                  <a:srgbClr val="C00000"/>
                </a:solidFill>
              </a:rPr>
              <a:t>3</a:t>
            </a:r>
            <a:r>
              <a:rPr lang="zh-CN" altLang="en-US" dirty="0"/>
              <a:t>个数相加。这种运算称为</a:t>
            </a:r>
            <a:r>
              <a:rPr lang="zh-CN" altLang="en-US" dirty="0">
                <a:solidFill>
                  <a:srgbClr val="0000CC"/>
                </a:solidFill>
              </a:rPr>
              <a:t>全加</a:t>
            </a:r>
            <a:r>
              <a:rPr lang="zh-CN" altLang="en-US" dirty="0"/>
              <a:t>，所用电路称为</a:t>
            </a:r>
            <a:r>
              <a:rPr lang="zh-CN" altLang="en-US" dirty="0">
                <a:solidFill>
                  <a:srgbClr val="0000CC"/>
                </a:solidFill>
              </a:rPr>
              <a:t>全加器</a:t>
            </a:r>
            <a:r>
              <a:rPr lang="zh-CN" altLang="en-US" dirty="0" smtClean="0"/>
              <a:t>。</a:t>
            </a:r>
            <a:endParaRPr lang="zh-CN" altLang="en-US" dirty="0"/>
          </a:p>
        </p:txBody>
      </p:sp>
      <p:sp>
        <p:nvSpPr>
          <p:cNvPr id="4" name="灯片编号占位符 3"/>
          <p:cNvSpPr>
            <a:spLocks noGrp="1"/>
          </p:cNvSpPr>
          <p:nvPr>
            <p:ph type="sldNum" sz="quarter" idx="12"/>
          </p:nvPr>
        </p:nvSpPr>
        <p:spPr>
          <a:xfrm>
            <a:off x="8388424" y="6453336"/>
            <a:ext cx="720080" cy="385192"/>
          </a:xfrm>
        </p:spPr>
        <p:txBody>
          <a:bodyPr/>
          <a:lstStyle/>
          <a:p>
            <a:fld id="{0C913308-F349-4B6D-A68A-DD1791B4A57B}" type="slidenum">
              <a:rPr lang="zh-CN" altLang="en-US" smtClean="0"/>
              <a:pPr/>
              <a:t>128</a:t>
            </a:fld>
            <a:endParaRPr lang="zh-CN" altLang="en-US" dirty="0"/>
          </a:p>
        </p:txBody>
      </p:sp>
      <p:sp>
        <p:nvSpPr>
          <p:cNvPr id="5" name="Text Box 7"/>
          <p:cNvSpPr txBox="1">
            <a:spLocks noChangeArrowheads="1"/>
          </p:cNvSpPr>
          <p:nvPr/>
        </p:nvSpPr>
        <p:spPr bwMode="auto">
          <a:xfrm>
            <a:off x="538982" y="2884189"/>
            <a:ext cx="3195637"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sz="1800" b="1" dirty="0" smtClean="0">
                <a:latin typeface="楷体_GB2312" pitchFamily="49" charset="-122"/>
                <a:ea typeface="楷体_GB2312" pitchFamily="49" charset="-122"/>
              </a:rPr>
              <a:t>表</a:t>
            </a:r>
            <a:r>
              <a:rPr kumimoji="1" lang="en-US" altLang="zh-CN" sz="1800" b="1" dirty="0" smtClean="0">
                <a:latin typeface="楷体_GB2312" pitchFamily="49" charset="-122"/>
                <a:ea typeface="楷体_GB2312" pitchFamily="49" charset="-122"/>
              </a:rPr>
              <a:t>   </a:t>
            </a:r>
            <a:r>
              <a:rPr kumimoji="1" lang="zh-CN" altLang="en-US" sz="1800" b="1" dirty="0">
                <a:latin typeface="楷体_GB2312" pitchFamily="49" charset="-122"/>
                <a:ea typeface="楷体_GB2312" pitchFamily="49" charset="-122"/>
              </a:rPr>
              <a:t>全加器的真值表</a:t>
            </a:r>
          </a:p>
        </p:txBody>
      </p:sp>
      <p:graphicFrame>
        <p:nvGraphicFramePr>
          <p:cNvPr id="7" name="Object 10"/>
          <p:cNvGraphicFramePr>
            <a:graphicFrameLocks noChangeAspect="1"/>
          </p:cNvGraphicFramePr>
          <p:nvPr>
            <p:extLst>
              <p:ext uri="{D42A27DB-BD31-4B8C-83A1-F6EECF244321}">
                <p14:modId xmlns:p14="http://schemas.microsoft.com/office/powerpoint/2010/main" xmlns="" val="3018956486"/>
              </p:ext>
            </p:extLst>
          </p:nvPr>
        </p:nvGraphicFramePr>
        <p:xfrm>
          <a:off x="4104704" y="4612902"/>
          <a:ext cx="5003800" cy="1048346"/>
        </p:xfrm>
        <a:graphic>
          <a:graphicData uri="http://schemas.openxmlformats.org/presentationml/2006/ole">
            <p:oleObj spid="_x0000_s27025" name="公式" r:id="rId3" imgW="2552700" imgH="584200" progId="">
              <p:embed/>
            </p:oleObj>
          </a:graphicData>
        </a:graphic>
      </p:graphicFrame>
      <p:graphicFrame>
        <p:nvGraphicFramePr>
          <p:cNvPr id="8" name="Object 11"/>
          <p:cNvGraphicFramePr>
            <a:graphicFrameLocks noChangeAspect="1"/>
          </p:cNvGraphicFramePr>
          <p:nvPr>
            <p:extLst>
              <p:ext uri="{D42A27DB-BD31-4B8C-83A1-F6EECF244321}">
                <p14:modId xmlns:p14="http://schemas.microsoft.com/office/powerpoint/2010/main" xmlns="" val="1551926143"/>
              </p:ext>
            </p:extLst>
          </p:nvPr>
        </p:nvGraphicFramePr>
        <p:xfrm>
          <a:off x="4354909" y="5796433"/>
          <a:ext cx="3673475" cy="872927"/>
        </p:xfrm>
        <a:graphic>
          <a:graphicData uri="http://schemas.openxmlformats.org/presentationml/2006/ole">
            <p:oleObj spid="_x0000_s27026" name="公式" r:id="rId4" imgW="1587500" imgH="457200" progId="">
              <p:embed/>
            </p:oleObj>
          </a:graphicData>
        </a:graphic>
      </p:graphicFrame>
      <p:graphicFrame>
        <p:nvGraphicFramePr>
          <p:cNvPr id="9" name="Group 12"/>
          <p:cNvGraphicFramePr>
            <a:graphicFrameLocks noGrp="1"/>
          </p:cNvGraphicFramePr>
          <p:nvPr>
            <p:extLst>
              <p:ext uri="{D42A27DB-BD31-4B8C-83A1-F6EECF244321}">
                <p14:modId xmlns:p14="http://schemas.microsoft.com/office/powerpoint/2010/main" xmlns="" val="3668076995"/>
              </p:ext>
            </p:extLst>
          </p:nvPr>
        </p:nvGraphicFramePr>
        <p:xfrm>
          <a:off x="467544" y="3244552"/>
          <a:ext cx="3168650" cy="3352800"/>
        </p:xfrm>
        <a:graphic>
          <a:graphicData uri="http://schemas.openxmlformats.org/drawingml/2006/table">
            <a:tbl>
              <a:tblPr/>
              <a:tblGrid>
                <a:gridCol w="1585913">
                  <a:extLst>
                    <a:ext uri="{9D8B030D-6E8A-4147-A177-3AD203B41FA5}">
                      <a16:colId xmlns:a16="http://schemas.microsoft.com/office/drawing/2014/main" xmlns="" val="20000"/>
                    </a:ext>
                  </a:extLst>
                </a:gridCol>
                <a:gridCol w="1582737">
                  <a:extLst>
                    <a:ext uri="{9D8B030D-6E8A-4147-A177-3AD203B41FA5}">
                      <a16:colId xmlns:a16="http://schemas.microsoft.com/office/drawing/2014/main" xmlns="" val="20001"/>
                    </a:ext>
                  </a:extLst>
                </a:gridCol>
              </a:tblGrid>
              <a:tr h="2889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i="0" u="none" strike="noStrike" cap="none" normalizeH="0" baseline="0" dirty="0" smtClean="0">
                          <a:ln>
                            <a:noFill/>
                          </a:ln>
                          <a:solidFill>
                            <a:schemeClr val="tx1"/>
                          </a:solidFill>
                          <a:effectLst/>
                          <a:latin typeface="Arial" charset="0"/>
                          <a:ea typeface="宋体" charset="-122"/>
                        </a:rPr>
                        <a:t>输入</a:t>
                      </a:r>
                    </a:p>
                  </a:txBody>
                  <a:tcP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i="0" u="none" strike="noStrike" cap="none" normalizeH="0" baseline="0" smtClean="0">
                          <a:ln>
                            <a:noFill/>
                          </a:ln>
                          <a:solidFill>
                            <a:schemeClr val="tx1"/>
                          </a:solidFill>
                          <a:effectLst/>
                          <a:latin typeface="Arial" charset="0"/>
                          <a:ea typeface="宋体" charset="-122"/>
                        </a:rPr>
                        <a:t>输出</a:t>
                      </a:r>
                    </a:p>
                  </a:txBody>
                  <a:tcP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2905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charset="0"/>
                          <a:ea typeface="宋体" charset="-122"/>
                        </a:rPr>
                        <a:t>CI     A     B    </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charset="0"/>
                          <a:ea typeface="宋体" charset="-122"/>
                        </a:rPr>
                        <a:t>S       CO</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2889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charset="0"/>
                          <a:ea typeface="宋体" charset="-122"/>
                        </a:rPr>
                        <a:t>0       0       0</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charset="0"/>
                          <a:ea typeface="宋体" charset="-122"/>
                        </a:rPr>
                        <a:t>0         0</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2905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charset="0"/>
                          <a:ea typeface="宋体" charset="-122"/>
                        </a:rPr>
                        <a:t>0       0       1</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charset="0"/>
                          <a:ea typeface="宋体" charset="-122"/>
                        </a:rPr>
                        <a:t>1         0</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2889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charset="0"/>
                          <a:ea typeface="宋体" charset="-122"/>
                        </a:rPr>
                        <a:t>0       1       0</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charset="0"/>
                          <a:ea typeface="宋体" charset="-122"/>
                        </a:rPr>
                        <a:t>1         0</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2889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charset="0"/>
                          <a:ea typeface="宋体" charset="-122"/>
                        </a:rPr>
                        <a:t>0       1       1</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charset="0"/>
                          <a:ea typeface="宋体" charset="-122"/>
                        </a:rPr>
                        <a:t>0         1</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2905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charset="0"/>
                          <a:ea typeface="宋体" charset="-122"/>
                        </a:rPr>
                        <a:t>1       0       0</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charset="0"/>
                          <a:ea typeface="宋体" charset="-122"/>
                        </a:rPr>
                        <a:t>1         0</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6"/>
                  </a:ext>
                </a:extLst>
              </a:tr>
              <a:tr h="2889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charset="0"/>
                          <a:ea typeface="宋体" charset="-122"/>
                        </a:rPr>
                        <a:t>1       0       1</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charset="0"/>
                          <a:ea typeface="宋体" charset="-122"/>
                        </a:rPr>
                        <a:t>0         1</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2905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charset="0"/>
                          <a:ea typeface="宋体" charset="-122"/>
                        </a:rPr>
                        <a:t>1       1       0</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charset="0"/>
                          <a:ea typeface="宋体" charset="-122"/>
                        </a:rPr>
                        <a:t>0         1</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8"/>
                  </a:ext>
                </a:extLst>
              </a:tr>
              <a:tr h="2889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charset="0"/>
                          <a:ea typeface="宋体" charset="-122"/>
                        </a:rPr>
                        <a:t>1       1       1</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Arial" charset="0"/>
                          <a:ea typeface="宋体" charset="-122"/>
                        </a:rPr>
                        <a:t>1         1</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9"/>
                  </a:ext>
                </a:extLst>
              </a:tr>
            </a:tbl>
          </a:graphicData>
        </a:graphic>
      </p:graphicFrame>
      <p:pic>
        <p:nvPicPr>
          <p:cNvPr id="26626" name="Picture 2"/>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4007288" y="2884189"/>
            <a:ext cx="2220896" cy="1440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6627" name="Picture 3"/>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6444208" y="2884189"/>
            <a:ext cx="2318769" cy="1440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文本框 5"/>
          <p:cNvSpPr txBox="1"/>
          <p:nvPr/>
        </p:nvSpPr>
        <p:spPr>
          <a:xfrm>
            <a:off x="5085110" y="4288636"/>
            <a:ext cx="312906" cy="369332"/>
          </a:xfrm>
          <a:prstGeom prst="rect">
            <a:avLst/>
          </a:prstGeom>
          <a:noFill/>
        </p:spPr>
        <p:txBody>
          <a:bodyPr wrap="none" rtlCol="0">
            <a:spAutoFit/>
          </a:bodyPr>
          <a:lstStyle/>
          <a:p>
            <a:r>
              <a:rPr lang="en-US" altLang="zh-CN" dirty="0" smtClean="0"/>
              <a:t>S</a:t>
            </a:r>
            <a:endParaRPr lang="zh-CN" altLang="en-US" dirty="0"/>
          </a:p>
        </p:txBody>
      </p:sp>
      <p:sp>
        <p:nvSpPr>
          <p:cNvPr id="12" name="文本框 11"/>
          <p:cNvSpPr txBox="1"/>
          <p:nvPr/>
        </p:nvSpPr>
        <p:spPr>
          <a:xfrm>
            <a:off x="7715478" y="4288636"/>
            <a:ext cx="486030" cy="369332"/>
          </a:xfrm>
          <a:prstGeom prst="rect">
            <a:avLst/>
          </a:prstGeom>
          <a:noFill/>
        </p:spPr>
        <p:txBody>
          <a:bodyPr wrap="none" rtlCol="0">
            <a:spAutoFit/>
          </a:bodyPr>
          <a:lstStyle/>
          <a:p>
            <a:r>
              <a:rPr lang="en-US" altLang="zh-CN" dirty="0" smtClean="0"/>
              <a:t>CO</a:t>
            </a:r>
            <a:endParaRPr lang="zh-CN" altLang="en-US" dirty="0"/>
          </a:p>
        </p:txBody>
      </p:sp>
    </p:spTree>
    <p:extLst>
      <p:ext uri="{BB962C8B-B14F-4D97-AF65-F5344CB8AC3E}">
        <p14:creationId xmlns:p14="http://schemas.microsoft.com/office/powerpoint/2010/main" xmlns="" val="1911571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764704"/>
            <a:ext cx="7400998" cy="494928"/>
          </a:xfrm>
        </p:spPr>
        <p:txBody>
          <a:bodyPr/>
          <a:lstStyle/>
          <a:p>
            <a:r>
              <a:rPr lang="en-US" altLang="zh-CN" sz="3200" dirty="0" smtClean="0"/>
              <a:t>4.7 </a:t>
            </a:r>
            <a:r>
              <a:rPr lang="zh-CN" altLang="en-US" sz="3200" dirty="0" smtClean="0"/>
              <a:t>加法电路</a:t>
            </a:r>
            <a:endParaRPr lang="zh-CN" altLang="en-US" sz="32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129</a:t>
            </a:fld>
            <a:endParaRPr lang="zh-CN" altLang="en-US"/>
          </a:p>
        </p:txBody>
      </p:sp>
      <p:pic>
        <p:nvPicPr>
          <p:cNvPr id="27650" name="Picture 2" descr="E:\wrj\课件\数字电路与系统\数字电路与数字系统\tupian\4-33.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147024" y="1700808"/>
            <a:ext cx="3929032" cy="3600000"/>
          </a:xfrm>
          <a:prstGeom prst="rect">
            <a:avLst/>
          </a:prstGeom>
          <a:noFill/>
          <a:extLst>
            <a:ext uri="{909E8E84-426E-40DD-AFC4-6F175D3DCCD1}">
              <a14:hiddenFill xmlns:a14="http://schemas.microsoft.com/office/drawing/2010/main" xmlns="">
                <a:solidFill>
                  <a:srgbClr val="FFFFFF"/>
                </a:solidFill>
              </a14:hiddenFill>
            </a:ext>
          </a:extLst>
        </p:spPr>
      </p:pic>
      <p:pic>
        <p:nvPicPr>
          <p:cNvPr id="27651" name="Picture 3" descr="E:\wrj\课件\数字电路与系统\数字电路与数字系统\tupian\4-33-1.jp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582047" y="2636912"/>
            <a:ext cx="2518345" cy="1224000"/>
          </a:xfrm>
          <a:prstGeom prst="rect">
            <a:avLst/>
          </a:prstGeom>
          <a:noFill/>
          <a:extLst>
            <a:ext uri="{909E8E84-426E-40DD-AFC4-6F175D3DCCD1}">
              <a14:hiddenFill xmlns:a14="http://schemas.microsoft.com/office/drawing/2010/main" xmlns="">
                <a:solidFill>
                  <a:srgbClr val="FFFFFF"/>
                </a:solidFill>
              </a14:hiddenFill>
            </a:ext>
          </a:extLst>
        </p:spPr>
      </p:pic>
      <p:sp>
        <p:nvSpPr>
          <p:cNvPr id="5" name="矩形 4"/>
          <p:cNvSpPr/>
          <p:nvPr/>
        </p:nvSpPr>
        <p:spPr>
          <a:xfrm>
            <a:off x="2128324" y="5661248"/>
            <a:ext cx="5544616" cy="369332"/>
          </a:xfrm>
          <a:prstGeom prst="rect">
            <a:avLst/>
          </a:prstGeom>
        </p:spPr>
        <p:txBody>
          <a:bodyPr wrap="square">
            <a:spAutoFit/>
          </a:bodyPr>
          <a:lstStyle/>
          <a:p>
            <a:r>
              <a:rPr lang="zh-CN" altLang="en-US" b="1" dirty="0" smtClean="0"/>
              <a:t>图</a:t>
            </a:r>
            <a:r>
              <a:rPr lang="en-US" altLang="zh-CN" b="1" dirty="0"/>
              <a:t> </a:t>
            </a:r>
            <a:r>
              <a:rPr lang="en-US" altLang="zh-CN" b="1" dirty="0" smtClean="0"/>
              <a:t>  1</a:t>
            </a:r>
            <a:r>
              <a:rPr lang="zh-CN" altLang="en-US" b="1" dirty="0"/>
              <a:t>位全加器</a:t>
            </a:r>
            <a:r>
              <a:rPr lang="en-US" altLang="zh-CN" b="1" dirty="0"/>
              <a:t>74LS183</a:t>
            </a:r>
            <a:r>
              <a:rPr lang="zh-CN" altLang="en-US" b="1" dirty="0"/>
              <a:t>的逻辑图和惯用图形符号</a:t>
            </a:r>
          </a:p>
        </p:txBody>
      </p:sp>
    </p:spTree>
    <p:extLst>
      <p:ext uri="{BB962C8B-B14F-4D97-AF65-F5344CB8AC3E}">
        <p14:creationId xmlns:p14="http://schemas.microsoft.com/office/powerpoint/2010/main" xmlns="" val="75105180"/>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92696"/>
            <a:ext cx="7617022" cy="566936"/>
          </a:xfrm>
        </p:spPr>
        <p:txBody>
          <a:bodyPr/>
          <a:lstStyle/>
          <a:p>
            <a:r>
              <a:rPr lang="en-US" altLang="zh-CN" dirty="0" smtClean="0"/>
              <a:t>4.7 </a:t>
            </a:r>
            <a:r>
              <a:rPr lang="zh-CN" altLang="en-US" dirty="0" smtClean="0"/>
              <a:t>加法电路</a:t>
            </a:r>
            <a:endParaRPr lang="zh-CN" altLang="en-US" dirty="0"/>
          </a:p>
        </p:txBody>
      </p:sp>
      <p:sp>
        <p:nvSpPr>
          <p:cNvPr id="3" name="内容占位符 2"/>
          <p:cNvSpPr>
            <a:spLocks noGrp="1"/>
          </p:cNvSpPr>
          <p:nvPr>
            <p:ph idx="1"/>
          </p:nvPr>
        </p:nvSpPr>
        <p:spPr>
          <a:xfrm>
            <a:off x="467544" y="1542208"/>
            <a:ext cx="8487544" cy="4911128"/>
          </a:xfrm>
        </p:spPr>
        <p:txBody>
          <a:bodyPr/>
          <a:lstStyle/>
          <a:p>
            <a:pPr>
              <a:lnSpc>
                <a:spcPct val="100000"/>
              </a:lnSpc>
              <a:spcBef>
                <a:spcPts val="600"/>
              </a:spcBef>
              <a:buSzPct val="100000"/>
              <a:buFont typeface="Wingdings" pitchFamily="2" charset="2"/>
              <a:buChar char="p"/>
            </a:pPr>
            <a:r>
              <a:rPr lang="zh-CN" altLang="en-US" sz="2800" dirty="0"/>
              <a:t>多位全加器</a:t>
            </a:r>
          </a:p>
          <a:p>
            <a:pPr lvl="1">
              <a:lnSpc>
                <a:spcPct val="100000"/>
              </a:lnSpc>
              <a:spcBef>
                <a:spcPts val="600"/>
              </a:spcBef>
              <a:buSzPct val="100000"/>
            </a:pPr>
            <a:r>
              <a:rPr lang="zh-CN" altLang="en-US" sz="2400" dirty="0" smtClean="0"/>
              <a:t>串行</a:t>
            </a:r>
            <a:r>
              <a:rPr lang="zh-CN" altLang="en-US" sz="2400" dirty="0"/>
              <a:t>进位加法器</a:t>
            </a:r>
          </a:p>
          <a:p>
            <a:pPr lvl="2">
              <a:lnSpc>
                <a:spcPct val="100000"/>
              </a:lnSpc>
              <a:spcBef>
                <a:spcPts val="600"/>
              </a:spcBef>
              <a:buSzPct val="100000"/>
              <a:buFont typeface="Wingdings" pitchFamily="2" charset="2"/>
              <a:buChar char="u"/>
            </a:pPr>
            <a:r>
              <a:rPr lang="zh-CN" altLang="en-US" dirty="0" smtClean="0"/>
              <a:t>设计</a:t>
            </a:r>
            <a:r>
              <a:rPr lang="zh-CN" altLang="en-US" dirty="0"/>
              <a:t>思想：依次将低位全加器的进位输出端</a:t>
            </a:r>
            <a:r>
              <a:rPr lang="en-US" altLang="zh-CN" dirty="0"/>
              <a:t>CO</a:t>
            </a:r>
            <a:r>
              <a:rPr lang="zh-CN" altLang="en-US" dirty="0"/>
              <a:t>接到</a:t>
            </a:r>
            <a:r>
              <a:rPr lang="zh-CN" altLang="en-US" dirty="0" smtClean="0"/>
              <a:t>高位</a:t>
            </a:r>
            <a:r>
              <a:rPr lang="zh-CN" altLang="en-US" dirty="0"/>
              <a:t>全加器的进位输入端</a:t>
            </a:r>
            <a:r>
              <a:rPr lang="en-US" altLang="zh-CN" dirty="0"/>
              <a:t>CI</a:t>
            </a:r>
            <a:r>
              <a:rPr lang="zh-CN" altLang="en-US" dirty="0"/>
              <a:t>即可构成多位串行加法器</a:t>
            </a:r>
            <a:r>
              <a:rPr lang="zh-CN" altLang="en-US" dirty="0" smtClean="0"/>
              <a:t>。</a:t>
            </a:r>
            <a:endParaRPr lang="en-US" altLang="zh-CN" dirty="0" smtClean="0"/>
          </a:p>
          <a:p>
            <a:pPr lvl="2">
              <a:lnSpc>
                <a:spcPct val="100000"/>
              </a:lnSpc>
              <a:spcBef>
                <a:spcPts val="600"/>
              </a:spcBef>
              <a:buSzPct val="100000"/>
              <a:buFont typeface="Wingdings" pitchFamily="2" charset="2"/>
              <a:buChar char="u"/>
            </a:pPr>
            <a:r>
              <a:rPr lang="en-US" altLang="zh-CN" dirty="0"/>
              <a:t>【</a:t>
            </a:r>
            <a:r>
              <a:rPr lang="zh-CN" altLang="en-US" dirty="0"/>
              <a:t>例</a:t>
            </a:r>
            <a:r>
              <a:rPr lang="en-US" altLang="zh-CN" dirty="0"/>
              <a:t>】4</a:t>
            </a:r>
            <a:r>
              <a:rPr lang="zh-CN" altLang="en-US" dirty="0"/>
              <a:t>位串行进位加法器电路如下：</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130</a:t>
            </a:fld>
            <a:endParaRPr lang="zh-CN" altLang="en-US"/>
          </a:p>
        </p:txBody>
      </p:sp>
      <p:pic>
        <p:nvPicPr>
          <p:cNvPr id="2867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254040" y="3861048"/>
            <a:ext cx="7010131" cy="2160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5" name="矩形 4"/>
          <p:cNvSpPr/>
          <p:nvPr/>
        </p:nvSpPr>
        <p:spPr>
          <a:xfrm>
            <a:off x="1763688" y="6299727"/>
            <a:ext cx="3647152" cy="369332"/>
          </a:xfrm>
          <a:prstGeom prst="rect">
            <a:avLst/>
          </a:prstGeom>
        </p:spPr>
        <p:txBody>
          <a:bodyPr wrap="none">
            <a:spAutoFit/>
          </a:bodyPr>
          <a:lstStyle/>
          <a:p>
            <a:r>
              <a:rPr lang="zh-CN" altLang="en-US" b="1" dirty="0"/>
              <a:t>优点：电路简单；缺点：速度慢。</a:t>
            </a:r>
          </a:p>
        </p:txBody>
      </p:sp>
    </p:spTree>
    <p:extLst>
      <p:ext uri="{BB962C8B-B14F-4D97-AF65-F5344CB8AC3E}">
        <p14:creationId xmlns:p14="http://schemas.microsoft.com/office/powerpoint/2010/main" xmlns="" val="1472996571"/>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92696"/>
            <a:ext cx="7617022" cy="566936"/>
          </a:xfrm>
        </p:spPr>
        <p:txBody>
          <a:bodyPr/>
          <a:lstStyle/>
          <a:p>
            <a:r>
              <a:rPr lang="en-US" altLang="zh-CN" dirty="0" smtClean="0"/>
              <a:t>4.7 </a:t>
            </a:r>
            <a:r>
              <a:rPr lang="zh-CN" altLang="en-US" dirty="0" smtClean="0"/>
              <a:t>加法电路</a:t>
            </a:r>
            <a:endParaRPr lang="zh-CN" altLang="en-US" dirty="0"/>
          </a:p>
        </p:txBody>
      </p:sp>
      <p:sp>
        <p:nvSpPr>
          <p:cNvPr id="3" name="内容占位符 2"/>
          <p:cNvSpPr>
            <a:spLocks noGrp="1"/>
          </p:cNvSpPr>
          <p:nvPr>
            <p:ph idx="1"/>
          </p:nvPr>
        </p:nvSpPr>
        <p:spPr>
          <a:xfrm>
            <a:off x="539552" y="1542208"/>
            <a:ext cx="8415536" cy="4911128"/>
          </a:xfrm>
        </p:spPr>
        <p:txBody>
          <a:bodyPr/>
          <a:lstStyle/>
          <a:p>
            <a:pPr>
              <a:lnSpc>
                <a:spcPct val="100000"/>
              </a:lnSpc>
              <a:spcBef>
                <a:spcPts val="600"/>
              </a:spcBef>
              <a:buSzPct val="100000"/>
              <a:buFont typeface="Wingdings" pitchFamily="2" charset="2"/>
              <a:buChar char="p"/>
            </a:pPr>
            <a:r>
              <a:rPr lang="zh-CN" altLang="en-US" dirty="0"/>
              <a:t> </a:t>
            </a:r>
            <a:r>
              <a:rPr lang="en-US" altLang="zh-CN" sz="2800" dirty="0"/>
              <a:t>2</a:t>
            </a:r>
            <a:r>
              <a:rPr lang="zh-CN" altLang="en-US" sz="2800" dirty="0"/>
              <a:t>、超前进位加法器</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131</a:t>
            </a:fld>
            <a:endParaRPr lang="zh-CN" altLang="en-US"/>
          </a:p>
        </p:txBody>
      </p:sp>
      <p:sp>
        <p:nvSpPr>
          <p:cNvPr id="6" name="Text Box 8"/>
          <p:cNvSpPr txBox="1">
            <a:spLocks noChangeArrowheads="1"/>
          </p:cNvSpPr>
          <p:nvPr/>
        </p:nvSpPr>
        <p:spPr bwMode="auto">
          <a:xfrm>
            <a:off x="863602" y="2205035"/>
            <a:ext cx="7740846" cy="32316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marL="342900" indent="-342900">
              <a:spcBef>
                <a:spcPts val="600"/>
              </a:spcBef>
              <a:buClr>
                <a:srgbClr val="FF0000"/>
              </a:buClr>
              <a:buFont typeface="Wingdings" pitchFamily="2" charset="2"/>
              <a:buChar char="n"/>
            </a:pPr>
            <a:r>
              <a:rPr kumimoji="1" lang="zh-CN" altLang="en-US" sz="2400" b="1" dirty="0" smtClean="0">
                <a:latin typeface="Times New Roman" pitchFamily="18" charset="0"/>
              </a:rPr>
              <a:t>思想：</a:t>
            </a:r>
            <a:endParaRPr kumimoji="1" lang="en-US" altLang="zh-CN" sz="2400" b="1" dirty="0" smtClean="0">
              <a:latin typeface="Times New Roman" pitchFamily="18" charset="0"/>
            </a:endParaRPr>
          </a:p>
          <a:p>
            <a:pPr marL="800100" lvl="1" indent="-342900">
              <a:spcBef>
                <a:spcPts val="600"/>
              </a:spcBef>
              <a:buClr>
                <a:srgbClr val="0000CC"/>
              </a:buClr>
              <a:buFont typeface="Wingdings" pitchFamily="2" charset="2"/>
              <a:buChar char="u"/>
            </a:pPr>
            <a:r>
              <a:rPr kumimoji="1" lang="zh-CN" altLang="en-US" sz="2000" b="1" dirty="0" smtClean="0">
                <a:latin typeface="Times New Roman" pitchFamily="18" charset="0"/>
              </a:rPr>
              <a:t>为了</a:t>
            </a:r>
            <a:r>
              <a:rPr kumimoji="1" lang="zh-CN" altLang="en-US" sz="2000" b="1" dirty="0">
                <a:latin typeface="Times New Roman" pitchFamily="18" charset="0"/>
              </a:rPr>
              <a:t>提高运算速度，须减小或消除由于进位信号逐级传递所耗费的时间</a:t>
            </a:r>
            <a:r>
              <a:rPr kumimoji="1" lang="zh-CN" altLang="en-US" sz="2000" b="1" dirty="0" smtClean="0">
                <a:latin typeface="Times New Roman" pitchFamily="18" charset="0"/>
              </a:rPr>
              <a:t>。</a:t>
            </a:r>
            <a:endParaRPr kumimoji="1" lang="en-US" altLang="zh-CN" sz="2000" b="1" dirty="0" smtClean="0">
              <a:latin typeface="Times New Roman" pitchFamily="18" charset="0"/>
            </a:endParaRPr>
          </a:p>
          <a:p>
            <a:pPr marL="800100" lvl="1" indent="-342900">
              <a:spcBef>
                <a:spcPts val="600"/>
              </a:spcBef>
              <a:buClr>
                <a:srgbClr val="0000CC"/>
              </a:buClr>
              <a:buFont typeface="Wingdings" pitchFamily="2" charset="2"/>
              <a:buChar char="u"/>
            </a:pPr>
            <a:r>
              <a:rPr kumimoji="1" lang="zh-CN" altLang="en-US" sz="2000" b="1" dirty="0" smtClean="0">
                <a:latin typeface="Times New Roman" pitchFamily="18" charset="0"/>
              </a:rPr>
              <a:t>由于</a:t>
            </a:r>
            <a:r>
              <a:rPr kumimoji="1" lang="zh-CN" altLang="en-US" sz="2000" b="1" dirty="0">
                <a:latin typeface="Times New Roman" pitchFamily="18" charset="0"/>
              </a:rPr>
              <a:t>第</a:t>
            </a:r>
            <a:r>
              <a:rPr kumimoji="1" lang="en-US" altLang="zh-CN" sz="2000" b="1" dirty="0">
                <a:latin typeface="Times New Roman" pitchFamily="18" charset="0"/>
              </a:rPr>
              <a:t>i</a:t>
            </a:r>
            <a:r>
              <a:rPr kumimoji="1" lang="zh-CN" altLang="en-US" sz="2000" b="1" dirty="0">
                <a:latin typeface="Times New Roman" pitchFamily="18" charset="0"/>
              </a:rPr>
              <a:t>位的进位</a:t>
            </a:r>
            <a:r>
              <a:rPr kumimoji="1" lang="zh-CN" altLang="en-US" sz="2000" b="1" dirty="0" smtClean="0">
                <a:latin typeface="Times New Roman" pitchFamily="18" charset="0"/>
              </a:rPr>
              <a:t>输入信号 </a:t>
            </a:r>
            <a:r>
              <a:rPr kumimoji="1" lang="en-US" altLang="zh-CN" sz="2000" b="1" dirty="0" smtClean="0">
                <a:latin typeface="Times New Roman" pitchFamily="18" charset="0"/>
              </a:rPr>
              <a:t>(</a:t>
            </a:r>
            <a:r>
              <a:rPr kumimoji="1" lang="en-US" altLang="zh-CN" sz="2000" b="1" i="1" dirty="0" smtClean="0">
                <a:latin typeface="Times New Roman" pitchFamily="18" charset="0"/>
              </a:rPr>
              <a:t>CI</a:t>
            </a:r>
            <a:r>
              <a:rPr kumimoji="1" lang="en-US" altLang="zh-CN" sz="2000" b="1" dirty="0" smtClean="0">
                <a:latin typeface="Times New Roman" pitchFamily="18" charset="0"/>
              </a:rPr>
              <a:t>)</a:t>
            </a:r>
            <a:r>
              <a:rPr kumimoji="1" lang="en-US" altLang="zh-CN" sz="2000" b="1" i="1" baseline="-25000" dirty="0" smtClean="0">
                <a:latin typeface="Times New Roman" pitchFamily="18" charset="0"/>
              </a:rPr>
              <a:t>i</a:t>
            </a:r>
            <a:r>
              <a:rPr kumimoji="1" lang="zh-CN" altLang="en-US" sz="2000" b="1" dirty="0" smtClean="0">
                <a:latin typeface="Times New Roman" pitchFamily="18" charset="0"/>
              </a:rPr>
              <a:t>  一定</a:t>
            </a:r>
            <a:r>
              <a:rPr kumimoji="1" lang="zh-CN" altLang="en-US" sz="2000" b="1" dirty="0">
                <a:latin typeface="Times New Roman" pitchFamily="18" charset="0"/>
              </a:rPr>
              <a:t>能</a:t>
            </a:r>
            <a:r>
              <a:rPr kumimoji="1" lang="zh-CN" altLang="en-US" sz="2000" b="1" dirty="0" smtClean="0">
                <a:latin typeface="Times New Roman" pitchFamily="18" charset="0"/>
              </a:rPr>
              <a:t>由</a:t>
            </a:r>
            <a:r>
              <a:rPr kumimoji="1" lang="en-US" altLang="zh-CN" sz="2000" b="1" i="1" dirty="0" smtClean="0">
                <a:latin typeface="Times New Roman" pitchFamily="18" charset="0"/>
              </a:rPr>
              <a:t>A</a:t>
            </a:r>
            <a:r>
              <a:rPr kumimoji="1" lang="en-US" altLang="zh-CN" sz="2000" b="1" i="1" baseline="-25000" dirty="0" smtClean="0">
                <a:latin typeface="Times New Roman" pitchFamily="18" charset="0"/>
              </a:rPr>
              <a:t>i</a:t>
            </a:r>
            <a:r>
              <a:rPr kumimoji="1" lang="en-US" altLang="zh-CN" sz="2000" b="1" baseline="-25000" dirty="0" smtClean="0">
                <a:latin typeface="Times New Roman" pitchFamily="18" charset="0"/>
              </a:rPr>
              <a:t>-1</a:t>
            </a:r>
            <a:r>
              <a:rPr kumimoji="1" lang="en-US" altLang="zh-CN" sz="2000" b="1" i="1" dirty="0" smtClean="0">
                <a:latin typeface="Times New Roman" pitchFamily="18" charset="0"/>
              </a:rPr>
              <a:t>A</a:t>
            </a:r>
            <a:r>
              <a:rPr kumimoji="1" lang="en-US" altLang="zh-CN" sz="2000" b="1" i="1" baseline="-25000" dirty="0" smtClean="0">
                <a:latin typeface="Times New Roman" pitchFamily="18" charset="0"/>
              </a:rPr>
              <a:t>i</a:t>
            </a:r>
            <a:r>
              <a:rPr kumimoji="1" lang="en-US" altLang="zh-CN" sz="2000" b="1" baseline="-25000" dirty="0" smtClean="0">
                <a:latin typeface="Times New Roman" pitchFamily="18" charset="0"/>
              </a:rPr>
              <a:t>-2</a:t>
            </a:r>
            <a:r>
              <a:rPr kumimoji="1" lang="en-US" altLang="zh-CN" sz="2000" b="1" dirty="0" smtClean="0">
                <a:latin typeface="宋体"/>
                <a:ea typeface="宋体"/>
              </a:rPr>
              <a:t>…</a:t>
            </a:r>
            <a:r>
              <a:rPr kumimoji="1" lang="en-US" altLang="zh-CN" sz="2000" b="1" i="1" dirty="0" smtClean="0">
                <a:latin typeface="宋体"/>
                <a:ea typeface="宋体"/>
              </a:rPr>
              <a:t>A</a:t>
            </a:r>
            <a:r>
              <a:rPr kumimoji="1" lang="en-US" altLang="zh-CN" sz="2000" b="1" baseline="-25000" dirty="0" smtClean="0">
                <a:latin typeface="宋体"/>
                <a:ea typeface="宋体"/>
              </a:rPr>
              <a:t>0</a:t>
            </a:r>
            <a:r>
              <a:rPr kumimoji="1" lang="zh-CN" altLang="en-US" sz="2000" b="1" dirty="0" smtClean="0">
                <a:latin typeface="Times New Roman" pitchFamily="18" charset="0"/>
              </a:rPr>
              <a:t> 和   </a:t>
            </a:r>
            <a:endParaRPr kumimoji="1" lang="en-US" altLang="zh-CN" sz="2000" b="1" dirty="0" smtClean="0">
              <a:latin typeface="Times New Roman" pitchFamily="18" charset="0"/>
            </a:endParaRPr>
          </a:p>
          <a:p>
            <a:pPr marL="800100" lvl="1" indent="-342900">
              <a:spcBef>
                <a:spcPts val="600"/>
              </a:spcBef>
              <a:buClr>
                <a:srgbClr val="0000CC"/>
              </a:buClr>
            </a:pPr>
            <a:r>
              <a:rPr kumimoji="1" lang="en-US" altLang="zh-CN" sz="2000" b="1" i="1" dirty="0" smtClean="0">
                <a:latin typeface="Times New Roman" pitchFamily="18" charset="0"/>
              </a:rPr>
              <a:t>      A</a:t>
            </a:r>
            <a:r>
              <a:rPr kumimoji="1" lang="en-US" altLang="zh-CN" sz="2000" b="1" i="1" baseline="-25000" dirty="0" smtClean="0">
                <a:latin typeface="Times New Roman" pitchFamily="18" charset="0"/>
              </a:rPr>
              <a:t>i</a:t>
            </a:r>
            <a:r>
              <a:rPr kumimoji="1" lang="en-US" altLang="zh-CN" sz="2000" b="1" baseline="-25000" dirty="0" smtClean="0">
                <a:latin typeface="Times New Roman" pitchFamily="18" charset="0"/>
              </a:rPr>
              <a:t>-1</a:t>
            </a:r>
            <a:r>
              <a:rPr kumimoji="1" lang="en-US" altLang="zh-CN" sz="2000" b="1" i="1" dirty="0" smtClean="0">
                <a:latin typeface="Times New Roman" pitchFamily="18" charset="0"/>
              </a:rPr>
              <a:t>A</a:t>
            </a:r>
            <a:r>
              <a:rPr kumimoji="1" lang="en-US" altLang="zh-CN" sz="2000" b="1" i="1" baseline="-25000" dirty="0" smtClean="0">
                <a:latin typeface="Times New Roman" pitchFamily="18" charset="0"/>
              </a:rPr>
              <a:t>i</a:t>
            </a:r>
            <a:r>
              <a:rPr kumimoji="1" lang="en-US" altLang="zh-CN" sz="2000" b="1" baseline="-25000" dirty="0" smtClean="0">
                <a:latin typeface="Times New Roman" pitchFamily="18" charset="0"/>
              </a:rPr>
              <a:t>-2</a:t>
            </a:r>
            <a:r>
              <a:rPr kumimoji="1" lang="en-US" altLang="zh-CN" sz="2000" b="1" dirty="0" smtClean="0">
                <a:latin typeface="宋体"/>
              </a:rPr>
              <a:t>…</a:t>
            </a:r>
            <a:r>
              <a:rPr kumimoji="1" lang="en-US" altLang="zh-CN" sz="2000" b="1" i="1" dirty="0" smtClean="0">
                <a:latin typeface="宋体"/>
              </a:rPr>
              <a:t>A</a:t>
            </a:r>
            <a:r>
              <a:rPr kumimoji="1" lang="en-US" altLang="zh-CN" sz="2000" b="1" baseline="-25000" dirty="0" smtClean="0">
                <a:latin typeface="宋体"/>
              </a:rPr>
              <a:t>0</a:t>
            </a:r>
            <a:r>
              <a:rPr kumimoji="1" lang="zh-CN" altLang="en-US" sz="2000" b="1" dirty="0" smtClean="0">
                <a:latin typeface="Times New Roman" pitchFamily="18" charset="0"/>
              </a:rPr>
              <a:t>唯一</a:t>
            </a:r>
            <a:r>
              <a:rPr kumimoji="1" lang="zh-CN" altLang="en-US" sz="2000" b="1" dirty="0">
                <a:latin typeface="Times New Roman" pitchFamily="18" charset="0"/>
              </a:rPr>
              <a:t>确定，所以可</a:t>
            </a:r>
            <a:r>
              <a:rPr kumimoji="1" lang="zh-CN" altLang="en-US" sz="2000" b="1" dirty="0">
                <a:solidFill>
                  <a:srgbClr val="0000CC"/>
                </a:solidFill>
                <a:latin typeface="Times New Roman" pitchFamily="18" charset="0"/>
              </a:rPr>
              <a:t>先得出每一位全加器的进位输入信号</a:t>
            </a:r>
            <a:r>
              <a:rPr kumimoji="1" lang="zh-CN" altLang="en-US" sz="2000" b="1" dirty="0">
                <a:latin typeface="Times New Roman" pitchFamily="18" charset="0"/>
              </a:rPr>
              <a:t>，而无需再从最低位开始向高位逐级传递进位信号了，这就有效的提高了运算速度。</a:t>
            </a:r>
          </a:p>
          <a:p>
            <a:pPr marL="800100" lvl="1" indent="-342900">
              <a:spcBef>
                <a:spcPts val="600"/>
              </a:spcBef>
              <a:buClr>
                <a:srgbClr val="0000CC"/>
              </a:buClr>
              <a:buFont typeface="Wingdings" pitchFamily="2" charset="2"/>
              <a:buChar char="u"/>
            </a:pPr>
            <a:r>
              <a:rPr kumimoji="1" lang="zh-CN" altLang="en-US" sz="2000" b="1" dirty="0" smtClean="0">
                <a:latin typeface="Times New Roman" pitchFamily="18" charset="0"/>
              </a:rPr>
              <a:t>采用</a:t>
            </a:r>
            <a:r>
              <a:rPr kumimoji="1" lang="zh-CN" altLang="en-US" sz="2000" b="1" dirty="0">
                <a:latin typeface="Times New Roman" pitchFamily="18" charset="0"/>
              </a:rPr>
              <a:t>这种结构形式的加法器为</a:t>
            </a:r>
            <a:r>
              <a:rPr kumimoji="1" lang="zh-CN" altLang="en-US" sz="2000" b="1" dirty="0">
                <a:solidFill>
                  <a:srgbClr val="0000CC"/>
                </a:solidFill>
                <a:latin typeface="Times New Roman" pitchFamily="18" charset="0"/>
              </a:rPr>
              <a:t>超前进位</a:t>
            </a:r>
            <a:r>
              <a:rPr kumimoji="1" lang="zh-CN" altLang="en-US" sz="2000" b="1" dirty="0">
                <a:latin typeface="Times New Roman" pitchFamily="18" charset="0"/>
              </a:rPr>
              <a:t>（</a:t>
            </a:r>
            <a:r>
              <a:rPr kumimoji="1" lang="en-US" altLang="zh-CN" sz="2000" b="1" dirty="0">
                <a:solidFill>
                  <a:srgbClr val="0000CC"/>
                </a:solidFill>
                <a:latin typeface="Times New Roman" pitchFamily="18" charset="0"/>
              </a:rPr>
              <a:t>Carry- </a:t>
            </a:r>
            <a:r>
              <a:rPr kumimoji="1" lang="en-US" altLang="zh-CN" sz="2000" b="1" dirty="0" err="1">
                <a:solidFill>
                  <a:srgbClr val="0000CC"/>
                </a:solidFill>
                <a:latin typeface="Times New Roman" pitchFamily="18" charset="0"/>
              </a:rPr>
              <a:t>Lookahead</a:t>
            </a:r>
            <a:r>
              <a:rPr kumimoji="1" lang="zh-CN" altLang="en-US" sz="2000" b="1" dirty="0">
                <a:latin typeface="Times New Roman" pitchFamily="18" charset="0"/>
              </a:rPr>
              <a:t>）</a:t>
            </a:r>
            <a:r>
              <a:rPr kumimoji="1" lang="zh-CN" altLang="en-US" sz="2000" b="1" dirty="0">
                <a:solidFill>
                  <a:srgbClr val="0000CC"/>
                </a:solidFill>
                <a:latin typeface="Times New Roman" pitchFamily="18" charset="0"/>
              </a:rPr>
              <a:t>加法器</a:t>
            </a:r>
            <a:r>
              <a:rPr kumimoji="1" lang="zh-CN" altLang="en-US" sz="2000" b="1" dirty="0">
                <a:latin typeface="Times New Roman" pitchFamily="18" charset="0"/>
              </a:rPr>
              <a:t>。</a:t>
            </a:r>
          </a:p>
        </p:txBody>
      </p:sp>
    </p:spTree>
    <p:extLst>
      <p:ext uri="{BB962C8B-B14F-4D97-AF65-F5344CB8AC3E}">
        <p14:creationId xmlns:p14="http://schemas.microsoft.com/office/powerpoint/2010/main" xmlns="" val="1494407578"/>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92696"/>
            <a:ext cx="7545014" cy="566936"/>
          </a:xfrm>
        </p:spPr>
        <p:txBody>
          <a:bodyPr/>
          <a:lstStyle/>
          <a:p>
            <a:r>
              <a:rPr lang="en-US" altLang="zh-CN" dirty="0" smtClean="0"/>
              <a:t>4.7 </a:t>
            </a:r>
            <a:r>
              <a:rPr lang="zh-CN" altLang="en-US" dirty="0" smtClean="0"/>
              <a:t>加法电路</a:t>
            </a:r>
            <a:endParaRPr lang="zh-CN" altLang="en-US" dirty="0"/>
          </a:p>
        </p:txBody>
      </p:sp>
      <p:sp>
        <p:nvSpPr>
          <p:cNvPr id="3" name="内容占位符 2"/>
          <p:cNvSpPr>
            <a:spLocks noGrp="1"/>
          </p:cNvSpPr>
          <p:nvPr>
            <p:ph idx="1"/>
          </p:nvPr>
        </p:nvSpPr>
        <p:spPr>
          <a:xfrm>
            <a:off x="539552" y="1542208"/>
            <a:ext cx="8415536" cy="4911128"/>
          </a:xfrm>
        </p:spPr>
        <p:txBody>
          <a:bodyPr/>
          <a:lstStyle/>
          <a:p>
            <a:pPr lvl="1">
              <a:buSzPct val="100000"/>
            </a:pPr>
            <a:r>
              <a:rPr lang="zh-CN" altLang="en-US" sz="2400" dirty="0"/>
              <a:t>超前进位加法器设计原理</a:t>
            </a:r>
            <a:r>
              <a:rPr lang="zh-CN" altLang="en-US" sz="2400" dirty="0" smtClean="0"/>
              <a:t>推导</a:t>
            </a:r>
            <a:endParaRPr lang="en-US" altLang="zh-CN" sz="2400" dirty="0" smtClean="0"/>
          </a:p>
          <a:p>
            <a:pPr marL="457200" lvl="1" indent="0">
              <a:buNone/>
            </a:pPr>
            <a:r>
              <a:rPr lang="zh-CN" altLang="en-US" dirty="0"/>
              <a:t>已知单个全加器的逻辑为</a:t>
            </a:r>
            <a:r>
              <a:rPr lang="zh-CN" altLang="en-US" dirty="0" smtClean="0"/>
              <a:t>：</a:t>
            </a:r>
            <a:endParaRPr lang="en-US" altLang="zh-CN" dirty="0" smtClean="0"/>
          </a:p>
          <a:p>
            <a:pPr marL="457200" lvl="1" indent="0">
              <a:buNone/>
            </a:pPr>
            <a:endParaRPr lang="en-US" altLang="zh-CN" dirty="0" smtClean="0"/>
          </a:p>
          <a:p>
            <a:pPr marL="457200" lvl="1" indent="0">
              <a:buNone/>
            </a:pPr>
            <a:r>
              <a:rPr lang="zh-CN" altLang="en-US" dirty="0" smtClean="0"/>
              <a:t>第</a:t>
            </a:r>
            <a:r>
              <a:rPr lang="en-US" altLang="zh-CN" dirty="0"/>
              <a:t>i</a:t>
            </a:r>
            <a:r>
              <a:rPr lang="zh-CN" altLang="en-US" dirty="0"/>
              <a:t>位的进位位为</a:t>
            </a:r>
            <a:r>
              <a:rPr lang="zh-CN" altLang="en-US" dirty="0" smtClean="0"/>
              <a:t>：</a:t>
            </a:r>
            <a:endParaRPr lang="en-US" altLang="zh-CN" dirty="0" smtClean="0"/>
          </a:p>
          <a:p>
            <a:pPr marL="457200" lvl="1" indent="0">
              <a:buNone/>
            </a:pPr>
            <a:endParaRPr lang="en-US" altLang="zh-CN" dirty="0"/>
          </a:p>
          <a:p>
            <a:pPr marL="457200" lvl="1" indent="0">
              <a:buNone/>
            </a:pPr>
            <a:endParaRPr lang="en-US" altLang="zh-CN" dirty="0" smtClean="0"/>
          </a:p>
          <a:p>
            <a:pPr marL="457200" lvl="1" indent="0">
              <a:buNone/>
            </a:pPr>
            <a:r>
              <a:rPr lang="zh-CN" altLang="en-US" dirty="0" smtClean="0"/>
              <a:t>依次代入展开：</a:t>
            </a:r>
            <a:endParaRPr lang="en-US" altLang="zh-CN" dirty="0" smtClean="0"/>
          </a:p>
          <a:p>
            <a:pPr marL="457200" lvl="1" indent="0">
              <a:buNone/>
            </a:pPr>
            <a:r>
              <a:rPr lang="zh-CN" altLang="en-US" dirty="0"/>
              <a:t>第</a:t>
            </a:r>
            <a:r>
              <a:rPr lang="en-US" altLang="zh-CN" dirty="0"/>
              <a:t>i</a:t>
            </a:r>
            <a:r>
              <a:rPr lang="zh-CN" altLang="en-US" dirty="0"/>
              <a:t>位的和为：</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132</a:t>
            </a:fld>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xmlns="" val="3197274938"/>
              </p:ext>
            </p:extLst>
          </p:nvPr>
        </p:nvGraphicFramePr>
        <p:xfrm>
          <a:off x="4788024" y="1916832"/>
          <a:ext cx="3614738" cy="791790"/>
        </p:xfrm>
        <a:graphic>
          <a:graphicData uri="http://schemas.openxmlformats.org/presentationml/2006/ole">
            <p:oleObj spid="_x0000_s31106" name="公式" r:id="rId3" imgW="1562040" imgH="457200" progId="">
              <p:embed/>
            </p:oleObj>
          </a:graphicData>
        </a:graphic>
      </p:graphicFrame>
      <p:pic>
        <p:nvPicPr>
          <p:cNvPr id="30723" name="Picture 3"/>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3680216" y="2995795"/>
            <a:ext cx="3086100" cy="333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0724" name="Picture 4"/>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1331640" y="3577846"/>
            <a:ext cx="5905500" cy="4000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TextBox 5"/>
          <p:cNvSpPr txBox="1"/>
          <p:nvPr/>
        </p:nvSpPr>
        <p:spPr>
          <a:xfrm>
            <a:off x="3411264" y="4372330"/>
            <a:ext cx="4750018" cy="369332"/>
          </a:xfrm>
          <a:prstGeom prst="rect">
            <a:avLst/>
          </a:prstGeom>
          <a:noFill/>
        </p:spPr>
        <p:txBody>
          <a:bodyPr wrap="none" rtlCol="0">
            <a:spAutoFit/>
          </a:bodyPr>
          <a:lstStyle/>
          <a:p>
            <a:r>
              <a:rPr lang="en-US" altLang="zh-CN" b="1" dirty="0" smtClean="0"/>
              <a:t>(CO)</a:t>
            </a:r>
            <a:r>
              <a:rPr lang="en-US" altLang="zh-CN" b="1" baseline="-25000" dirty="0" smtClean="0"/>
              <a:t>i</a:t>
            </a:r>
            <a:r>
              <a:rPr lang="en-US" altLang="zh-CN" b="1" dirty="0" smtClean="0"/>
              <a:t>=G</a:t>
            </a:r>
            <a:r>
              <a:rPr lang="en-US" altLang="zh-CN" b="1" baseline="-25000" dirty="0" smtClean="0"/>
              <a:t>i</a:t>
            </a:r>
            <a:r>
              <a:rPr lang="en-US" altLang="zh-CN" b="1" dirty="0" smtClean="0"/>
              <a:t>+P</a:t>
            </a:r>
            <a:r>
              <a:rPr lang="en-US" altLang="zh-CN" b="1" baseline="-25000" dirty="0" smtClean="0"/>
              <a:t>i</a:t>
            </a:r>
            <a:r>
              <a:rPr lang="en-US" altLang="zh-CN" b="1" dirty="0" smtClean="0"/>
              <a:t>G</a:t>
            </a:r>
            <a:r>
              <a:rPr lang="en-US" altLang="zh-CN" b="1" baseline="-25000" dirty="0" smtClean="0"/>
              <a:t>i-1</a:t>
            </a:r>
            <a:r>
              <a:rPr lang="en-US" altLang="zh-CN" b="1" dirty="0" smtClean="0"/>
              <a:t>+P</a:t>
            </a:r>
            <a:r>
              <a:rPr lang="en-US" altLang="zh-CN" b="1" baseline="-25000" dirty="0" smtClean="0"/>
              <a:t>i</a:t>
            </a:r>
            <a:r>
              <a:rPr lang="en-US" altLang="zh-CN" b="1" dirty="0" smtClean="0"/>
              <a:t>P</a:t>
            </a:r>
            <a:r>
              <a:rPr lang="en-US" altLang="zh-CN" b="1" baseline="-25000" dirty="0" smtClean="0"/>
              <a:t>i-1</a:t>
            </a:r>
            <a:r>
              <a:rPr lang="en-US" altLang="zh-CN" b="1" dirty="0" smtClean="0"/>
              <a:t>G</a:t>
            </a:r>
            <a:r>
              <a:rPr lang="en-US" altLang="zh-CN" b="1" baseline="-25000" dirty="0" smtClean="0"/>
              <a:t>i-2</a:t>
            </a:r>
            <a:r>
              <a:rPr lang="en-US" altLang="zh-CN" b="1" dirty="0" smtClean="0"/>
              <a:t>+…+P</a:t>
            </a:r>
            <a:r>
              <a:rPr lang="en-US" altLang="zh-CN" b="1" baseline="-25000" dirty="0" smtClean="0"/>
              <a:t>i</a:t>
            </a:r>
            <a:r>
              <a:rPr lang="en-US" altLang="zh-CN" b="1" dirty="0" smtClean="0"/>
              <a:t>P</a:t>
            </a:r>
            <a:r>
              <a:rPr lang="en-US" altLang="zh-CN" b="1" baseline="-25000" dirty="0" smtClean="0"/>
              <a:t>i-1</a:t>
            </a:r>
            <a:r>
              <a:rPr lang="en-US" altLang="zh-CN" b="1" dirty="0" smtClean="0"/>
              <a:t>…G</a:t>
            </a:r>
            <a:r>
              <a:rPr lang="en-US" altLang="zh-CN" b="1" baseline="-25000" dirty="0" smtClean="0"/>
              <a:t>0</a:t>
            </a:r>
            <a:endParaRPr lang="zh-CN" altLang="en-US" b="1" dirty="0"/>
          </a:p>
        </p:txBody>
      </p:sp>
      <p:graphicFrame>
        <p:nvGraphicFramePr>
          <p:cNvPr id="7" name="对象 6"/>
          <p:cNvGraphicFramePr>
            <a:graphicFrameLocks noChangeAspect="1"/>
          </p:cNvGraphicFramePr>
          <p:nvPr>
            <p:extLst>
              <p:ext uri="{D42A27DB-BD31-4B8C-83A1-F6EECF244321}">
                <p14:modId xmlns:p14="http://schemas.microsoft.com/office/powerpoint/2010/main" xmlns="" val="419063555"/>
              </p:ext>
            </p:extLst>
          </p:nvPr>
        </p:nvGraphicFramePr>
        <p:xfrm>
          <a:off x="3652565" y="5085184"/>
          <a:ext cx="3584575" cy="419100"/>
        </p:xfrm>
        <a:graphic>
          <a:graphicData uri="http://schemas.openxmlformats.org/presentationml/2006/ole">
            <p:oleObj spid="_x0000_s31107" name="公式" r:id="rId6" imgW="1549080" imgH="241200" progId="">
              <p:embed/>
            </p:oleObj>
          </a:graphicData>
        </a:graphic>
      </p:graphicFrame>
      <p:sp>
        <p:nvSpPr>
          <p:cNvPr id="8" name="矩形标注 7"/>
          <p:cNvSpPr/>
          <p:nvPr/>
        </p:nvSpPr>
        <p:spPr>
          <a:xfrm>
            <a:off x="7045158" y="2793150"/>
            <a:ext cx="2232248" cy="369332"/>
          </a:xfrm>
          <a:prstGeom prst="wedgeRectCallout">
            <a:avLst>
              <a:gd name="adj1" fmla="val -65598"/>
              <a:gd name="adj2" fmla="val 37285"/>
            </a:avLst>
          </a:prstGeom>
          <a:noFill/>
          <a:ln w="15875">
            <a:solidFill>
              <a:schemeClr val="accent1"/>
            </a:solidFill>
            <a:prstDash val="dash"/>
          </a:ln>
        </p:spPr>
        <p:txBody>
          <a:bodyPr wrap="square" rtlCol="0" anchor="ctr">
            <a:spAutoFit/>
          </a:bodyPr>
          <a:lstStyle/>
          <a:p>
            <a:pPr algn="ctr"/>
            <a:r>
              <a:rPr lang="en-US" altLang="zh-CN" b="1" dirty="0" smtClean="0">
                <a:latin typeface="华文新魏" pitchFamily="2" charset="-122"/>
                <a:ea typeface="华文新魏" pitchFamily="2" charset="-122"/>
              </a:rPr>
              <a:t>(CI)</a:t>
            </a:r>
            <a:r>
              <a:rPr lang="en-US" altLang="zh-CN" b="1" baseline="-25000" dirty="0" smtClean="0">
                <a:latin typeface="华文新魏" pitchFamily="2" charset="-122"/>
                <a:ea typeface="华文新魏" pitchFamily="2" charset="-122"/>
              </a:rPr>
              <a:t>i</a:t>
            </a:r>
            <a:r>
              <a:rPr lang="en-US" altLang="zh-CN" b="1" dirty="0" smtClean="0">
                <a:latin typeface="华文新魏" pitchFamily="2" charset="-122"/>
                <a:ea typeface="华文新魏" pitchFamily="2" charset="-122"/>
              </a:rPr>
              <a:t>=(CO)</a:t>
            </a:r>
            <a:r>
              <a:rPr lang="en-US" altLang="zh-CN" b="1" baseline="-25000" dirty="0" smtClean="0">
                <a:latin typeface="华文新魏" pitchFamily="2" charset="-122"/>
                <a:ea typeface="华文新魏" pitchFamily="2" charset="-122"/>
              </a:rPr>
              <a:t>i-1</a:t>
            </a:r>
            <a:endParaRPr lang="zh-CN" altLang="en-US" b="1" baseline="-25000" dirty="0">
              <a:latin typeface="华文新魏" pitchFamily="2" charset="-122"/>
              <a:ea typeface="华文新魏" pitchFamily="2" charset="-122"/>
            </a:endParaRPr>
          </a:p>
        </p:txBody>
      </p:sp>
    </p:spTree>
    <p:extLst>
      <p:ext uri="{BB962C8B-B14F-4D97-AF65-F5344CB8AC3E}">
        <p14:creationId xmlns:p14="http://schemas.microsoft.com/office/powerpoint/2010/main" xmlns="" val="2696388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072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072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blinds(horizontal)">
                                      <p:cBhvr>
                                        <p:cTn id="2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animBg="1"/>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1203451" y="692696"/>
            <a:ext cx="7545014" cy="566936"/>
          </a:xfrm>
        </p:spPr>
        <p:txBody>
          <a:bodyPr/>
          <a:lstStyle/>
          <a:p>
            <a:r>
              <a:rPr lang="en-US" altLang="zh-CN" sz="3200" dirty="0" smtClean="0"/>
              <a:t>4.7 </a:t>
            </a:r>
            <a:r>
              <a:rPr lang="zh-CN" altLang="en-US" sz="3200" dirty="0" smtClean="0"/>
              <a:t>加法电路</a:t>
            </a:r>
            <a:endParaRPr lang="zh-CN" altLang="en-US" sz="32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133</a:t>
            </a:fld>
            <a:endParaRPr lang="zh-CN" altLang="en-US"/>
          </a:p>
        </p:txBody>
      </p:sp>
      <p:sp>
        <p:nvSpPr>
          <p:cNvPr id="5" name="Text Box 6"/>
          <p:cNvSpPr txBox="1">
            <a:spLocks noChangeArrowheads="1"/>
          </p:cNvSpPr>
          <p:nvPr/>
        </p:nvSpPr>
        <p:spPr bwMode="auto">
          <a:xfrm>
            <a:off x="899592" y="2204864"/>
            <a:ext cx="2735882" cy="12003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400" b="1" dirty="0" smtClean="0">
                <a:latin typeface="Times New Roman" pitchFamily="18" charset="0"/>
              </a:rPr>
              <a:t>如图所示，</a:t>
            </a:r>
            <a:r>
              <a:rPr kumimoji="1" lang="en-US" altLang="zh-CN" sz="2400" b="1" dirty="0" smtClean="0">
                <a:latin typeface="Times New Roman" pitchFamily="18" charset="0"/>
              </a:rPr>
              <a:t>4</a:t>
            </a:r>
            <a:r>
              <a:rPr kumimoji="1" lang="zh-CN" altLang="en-US" sz="2400" b="1" dirty="0">
                <a:latin typeface="Times New Roman" pitchFamily="18" charset="0"/>
              </a:rPr>
              <a:t>位超前进位加法器</a:t>
            </a:r>
            <a:r>
              <a:rPr kumimoji="1" lang="en-US" altLang="zh-CN" sz="2400" b="1" dirty="0">
                <a:latin typeface="Times New Roman" pitchFamily="18" charset="0"/>
              </a:rPr>
              <a:t>74LS283</a:t>
            </a:r>
            <a:r>
              <a:rPr kumimoji="1" lang="zh-CN" altLang="en-US" sz="2400" b="1" dirty="0">
                <a:latin typeface="Times New Roman" pitchFamily="18" charset="0"/>
              </a:rPr>
              <a:t>的</a:t>
            </a:r>
            <a:r>
              <a:rPr kumimoji="1" lang="zh-CN" altLang="en-US" sz="2400" b="1" dirty="0" smtClean="0">
                <a:latin typeface="Times New Roman" pitchFamily="18" charset="0"/>
              </a:rPr>
              <a:t>电路图。</a:t>
            </a:r>
            <a:endParaRPr kumimoji="1" lang="zh-CN" altLang="en-US" sz="2400" b="1" dirty="0">
              <a:latin typeface="Times New Roman" pitchFamily="18" charset="0"/>
            </a:endParaRPr>
          </a:p>
        </p:txBody>
      </p:sp>
      <p:sp>
        <p:nvSpPr>
          <p:cNvPr id="6" name="Text Box 7"/>
          <p:cNvSpPr txBox="1">
            <a:spLocks noChangeArrowheads="1"/>
          </p:cNvSpPr>
          <p:nvPr/>
        </p:nvSpPr>
        <p:spPr bwMode="auto">
          <a:xfrm>
            <a:off x="539552" y="5805264"/>
            <a:ext cx="3600450"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sz="2000" b="1" dirty="0" smtClean="0">
                <a:latin typeface="楷体_GB2312" pitchFamily="49" charset="-122"/>
                <a:ea typeface="楷体_GB2312" pitchFamily="49" charset="-122"/>
              </a:rPr>
              <a:t>图</a:t>
            </a:r>
            <a:r>
              <a:rPr kumimoji="1" lang="en-US" altLang="zh-CN" sz="2000" b="1" dirty="0" smtClean="0">
                <a:latin typeface="楷体_GB2312" pitchFamily="49" charset="-122"/>
                <a:ea typeface="楷体_GB2312" pitchFamily="49" charset="-122"/>
              </a:rPr>
              <a:t>  </a:t>
            </a:r>
            <a:r>
              <a:rPr kumimoji="1" lang="en-US" altLang="zh-CN" sz="2000" b="1" dirty="0">
                <a:latin typeface="楷体_GB2312" pitchFamily="49" charset="-122"/>
                <a:ea typeface="楷体_GB2312" pitchFamily="49" charset="-122"/>
              </a:rPr>
              <a:t>74LS283</a:t>
            </a:r>
            <a:r>
              <a:rPr kumimoji="1" lang="zh-CN" altLang="en-US" sz="2000" b="1" dirty="0">
                <a:latin typeface="楷体_GB2312" pitchFamily="49" charset="-122"/>
                <a:ea typeface="楷体_GB2312" pitchFamily="49" charset="-122"/>
              </a:rPr>
              <a:t>的逻辑图</a:t>
            </a:r>
          </a:p>
        </p:txBody>
      </p:sp>
      <p:pic>
        <p:nvPicPr>
          <p:cNvPr id="7" name="Picture 8" descr="3-3-29"/>
          <p:cNvPicPr>
            <a:picLocks noChangeAspect="1" noChangeArrowheads="1"/>
          </p:cNvPicPr>
          <p:nvPr/>
        </p:nvPicPr>
        <p:blipFill>
          <a:blip r:embed="rId2" cstate="print">
            <a:clrChange>
              <a:clrFrom>
                <a:srgbClr val="FCFCFC"/>
              </a:clrFrom>
              <a:clrTo>
                <a:srgbClr val="FCFCFC">
                  <a:alpha val="0"/>
                </a:srgbClr>
              </a:clrTo>
            </a:clrChange>
            <a:lum contrast="24000"/>
            <a:extLst>
              <a:ext uri="{28A0092B-C50C-407E-A947-70E740481C1C}">
                <a14:useLocalDpi xmlns:a14="http://schemas.microsoft.com/office/drawing/2010/main" xmlns="" val="0"/>
              </a:ext>
            </a:extLst>
          </a:blip>
          <a:srcRect/>
          <a:stretch>
            <a:fillRect/>
          </a:stretch>
        </p:blipFill>
        <p:spPr bwMode="auto">
          <a:xfrm>
            <a:off x="3851920" y="548680"/>
            <a:ext cx="4392488" cy="607536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328126028"/>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203451" y="692696"/>
            <a:ext cx="7545014" cy="566936"/>
          </a:xfrm>
        </p:spPr>
        <p:txBody>
          <a:bodyPr/>
          <a:lstStyle/>
          <a:p>
            <a:r>
              <a:rPr lang="en-US" altLang="zh-CN" dirty="0" smtClean="0"/>
              <a:t>4.7 </a:t>
            </a:r>
            <a:r>
              <a:rPr lang="zh-CN" altLang="en-US" dirty="0" smtClean="0"/>
              <a:t>加法电路</a:t>
            </a:r>
            <a:endParaRPr lang="zh-CN" altLang="en-US" dirty="0"/>
          </a:p>
        </p:txBody>
      </p:sp>
      <p:sp>
        <p:nvSpPr>
          <p:cNvPr id="5" name="内容占位符 4"/>
          <p:cNvSpPr>
            <a:spLocks noGrp="1"/>
          </p:cNvSpPr>
          <p:nvPr>
            <p:ph idx="1"/>
          </p:nvPr>
        </p:nvSpPr>
        <p:spPr>
          <a:xfrm>
            <a:off x="539552" y="1542208"/>
            <a:ext cx="8208912" cy="4911128"/>
          </a:xfrm>
        </p:spPr>
        <p:txBody>
          <a:bodyPr/>
          <a:lstStyle/>
          <a:p>
            <a:pPr>
              <a:lnSpc>
                <a:spcPct val="100000"/>
              </a:lnSpc>
              <a:spcBef>
                <a:spcPts val="600"/>
              </a:spcBef>
              <a:buSzPct val="100000"/>
              <a:buFont typeface="Wingdings" pitchFamily="2" charset="2"/>
              <a:buChar char="p"/>
            </a:pPr>
            <a:r>
              <a:rPr lang="zh-CN" altLang="en-US" sz="2800" dirty="0"/>
              <a:t>超前进位加法器特点</a:t>
            </a:r>
          </a:p>
          <a:p>
            <a:pPr lvl="1">
              <a:lnSpc>
                <a:spcPct val="100000"/>
              </a:lnSpc>
              <a:spcBef>
                <a:spcPts val="600"/>
              </a:spcBef>
              <a:buSzPct val="100000"/>
            </a:pPr>
            <a:r>
              <a:rPr lang="en-US" altLang="zh-CN" sz="2400" dirty="0" smtClean="0"/>
              <a:t>4</a:t>
            </a:r>
            <a:r>
              <a:rPr lang="zh-CN" altLang="en-US" sz="2400" dirty="0"/>
              <a:t>位超前进位加法器</a:t>
            </a:r>
            <a:r>
              <a:rPr lang="en-US" altLang="zh-CN" sz="2400" dirty="0"/>
              <a:t>74LS283</a:t>
            </a:r>
            <a:r>
              <a:rPr lang="zh-CN" altLang="en-US" sz="2400" dirty="0"/>
              <a:t>得到和输出</a:t>
            </a:r>
            <a:r>
              <a:rPr lang="zh-CN" altLang="en-US" sz="2400" dirty="0" smtClean="0"/>
              <a:t>仅需</a:t>
            </a:r>
            <a:r>
              <a:rPr lang="en-US" altLang="zh-CN" sz="2400" dirty="0">
                <a:solidFill>
                  <a:srgbClr val="0000CC"/>
                </a:solidFill>
              </a:rPr>
              <a:t>3</a:t>
            </a:r>
            <a:r>
              <a:rPr lang="zh-CN" altLang="en-US" sz="2400" dirty="0">
                <a:solidFill>
                  <a:srgbClr val="0000CC"/>
                </a:solidFill>
              </a:rPr>
              <a:t>级门延时</a:t>
            </a:r>
            <a:r>
              <a:rPr lang="zh-CN" altLang="en-US" sz="2400" dirty="0"/>
              <a:t>，获得进位输出信号仅需</a:t>
            </a:r>
            <a:r>
              <a:rPr lang="en-US" altLang="zh-CN" sz="2400" dirty="0">
                <a:solidFill>
                  <a:srgbClr val="0000CC"/>
                </a:solidFill>
              </a:rPr>
              <a:t>2</a:t>
            </a:r>
            <a:r>
              <a:rPr lang="zh-CN" altLang="en-US" sz="2400" dirty="0">
                <a:solidFill>
                  <a:srgbClr val="0000CC"/>
                </a:solidFill>
              </a:rPr>
              <a:t>级门延时</a:t>
            </a:r>
            <a:r>
              <a:rPr lang="zh-CN" altLang="en-US" sz="2400" dirty="0" smtClean="0"/>
              <a:t>。运算</a:t>
            </a:r>
            <a:r>
              <a:rPr lang="zh-CN" altLang="en-US" sz="2400" dirty="0"/>
              <a:t>时间大大缩短。</a:t>
            </a:r>
          </a:p>
          <a:p>
            <a:pPr lvl="1">
              <a:lnSpc>
                <a:spcPct val="100000"/>
              </a:lnSpc>
              <a:spcBef>
                <a:spcPts val="600"/>
              </a:spcBef>
              <a:buSzPct val="100000"/>
            </a:pPr>
            <a:r>
              <a:rPr lang="zh-CN" altLang="en-US" sz="2400" dirty="0" smtClean="0"/>
              <a:t>运算</a:t>
            </a:r>
            <a:r>
              <a:rPr lang="zh-CN" altLang="en-US" sz="2400" dirty="0"/>
              <a:t>时间得以缩短是</a:t>
            </a:r>
            <a:r>
              <a:rPr lang="zh-CN" altLang="en-US" sz="2400" dirty="0">
                <a:solidFill>
                  <a:srgbClr val="0000CC"/>
                </a:solidFill>
              </a:rPr>
              <a:t>用增加电路复杂</a:t>
            </a:r>
            <a:r>
              <a:rPr lang="zh-CN" altLang="en-US" sz="2400" dirty="0" smtClean="0">
                <a:solidFill>
                  <a:srgbClr val="0000CC"/>
                </a:solidFill>
              </a:rPr>
              <a:t>程度的</a:t>
            </a:r>
            <a:r>
              <a:rPr lang="zh-CN" altLang="en-US" sz="2400" dirty="0">
                <a:solidFill>
                  <a:srgbClr val="0000CC"/>
                </a:solidFill>
              </a:rPr>
              <a:t>代价换取的</a:t>
            </a:r>
            <a:r>
              <a:rPr lang="zh-CN" altLang="en-US" sz="2400" dirty="0"/>
              <a:t>。当加法器的</a:t>
            </a:r>
            <a:r>
              <a:rPr lang="zh-CN" altLang="en-US" sz="2400" dirty="0">
                <a:solidFill>
                  <a:srgbClr val="0000CC"/>
                </a:solidFill>
              </a:rPr>
              <a:t>位数增加</a:t>
            </a:r>
            <a:r>
              <a:rPr lang="zh-CN" altLang="en-US" sz="2400" dirty="0"/>
              <a:t>时，电路</a:t>
            </a:r>
            <a:r>
              <a:rPr lang="zh-CN" altLang="en-US" sz="2400" dirty="0" smtClean="0"/>
              <a:t>的</a:t>
            </a:r>
            <a:r>
              <a:rPr lang="zh-CN" altLang="en-US" sz="2400" dirty="0" smtClean="0">
                <a:solidFill>
                  <a:srgbClr val="0000CC"/>
                </a:solidFill>
              </a:rPr>
              <a:t>复杂</a:t>
            </a:r>
            <a:r>
              <a:rPr lang="zh-CN" altLang="en-US" sz="2400" dirty="0">
                <a:solidFill>
                  <a:srgbClr val="0000CC"/>
                </a:solidFill>
              </a:rPr>
              <a:t>程度也随之急剧上升</a:t>
            </a:r>
            <a:r>
              <a:rPr lang="zh-CN" altLang="en-US" sz="2400" dirty="0"/>
              <a:t>。</a:t>
            </a:r>
          </a:p>
        </p:txBody>
      </p:sp>
      <p:sp>
        <p:nvSpPr>
          <p:cNvPr id="3" name="灯片编号占位符 2"/>
          <p:cNvSpPr>
            <a:spLocks noGrp="1"/>
          </p:cNvSpPr>
          <p:nvPr>
            <p:ph type="sldNum" sz="quarter" idx="12"/>
          </p:nvPr>
        </p:nvSpPr>
        <p:spPr/>
        <p:txBody>
          <a:bodyPr/>
          <a:lstStyle/>
          <a:p>
            <a:fld id="{0C913308-F349-4B6D-A68A-DD1791B4A57B}" type="slidenum">
              <a:rPr lang="zh-CN" altLang="en-US" smtClean="0"/>
              <a:pPr/>
              <a:t>134</a:t>
            </a:fld>
            <a:endParaRPr lang="zh-CN" altLang="en-US"/>
          </a:p>
        </p:txBody>
      </p:sp>
    </p:spTree>
    <p:extLst>
      <p:ext uri="{BB962C8B-B14F-4D97-AF65-F5344CB8AC3E}">
        <p14:creationId xmlns:p14="http://schemas.microsoft.com/office/powerpoint/2010/main" xmlns="" val="511836040"/>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203451" y="692696"/>
            <a:ext cx="7400998" cy="566936"/>
          </a:xfrm>
        </p:spPr>
        <p:txBody>
          <a:bodyPr/>
          <a:lstStyle/>
          <a:p>
            <a:r>
              <a:rPr lang="en-US" altLang="zh-CN" dirty="0" smtClean="0"/>
              <a:t>4.7 </a:t>
            </a:r>
            <a:r>
              <a:rPr lang="zh-CN" altLang="en-US" dirty="0" smtClean="0"/>
              <a:t>加法电路</a:t>
            </a:r>
            <a:endParaRPr lang="zh-CN" altLang="en-US" dirty="0"/>
          </a:p>
        </p:txBody>
      </p:sp>
      <p:sp>
        <p:nvSpPr>
          <p:cNvPr id="5" name="内容占位符 4"/>
          <p:cNvSpPr>
            <a:spLocks noGrp="1"/>
          </p:cNvSpPr>
          <p:nvPr>
            <p:ph idx="1"/>
          </p:nvPr>
        </p:nvSpPr>
        <p:spPr>
          <a:xfrm>
            <a:off x="467544" y="1542208"/>
            <a:ext cx="5256584" cy="4911128"/>
          </a:xfrm>
        </p:spPr>
        <p:txBody>
          <a:bodyPr/>
          <a:lstStyle/>
          <a:p>
            <a:pPr>
              <a:lnSpc>
                <a:spcPct val="100000"/>
              </a:lnSpc>
              <a:spcBef>
                <a:spcPts val="600"/>
              </a:spcBef>
              <a:buSzPct val="100000"/>
              <a:buFont typeface="Wingdings" pitchFamily="2" charset="2"/>
              <a:buChar char="p"/>
            </a:pPr>
            <a:r>
              <a:rPr lang="zh-CN" altLang="en-US" sz="2800" dirty="0"/>
              <a:t>常见的</a:t>
            </a:r>
            <a:r>
              <a:rPr lang="en-US" altLang="zh-CN" sz="2800" dirty="0"/>
              <a:t>MSI</a:t>
            </a:r>
            <a:r>
              <a:rPr lang="zh-CN" altLang="en-US" sz="2800" dirty="0" smtClean="0"/>
              <a:t>加法器</a:t>
            </a:r>
            <a:endParaRPr lang="en-US" altLang="zh-CN" sz="2800" dirty="0" smtClean="0"/>
          </a:p>
          <a:p>
            <a:pPr lvl="1">
              <a:lnSpc>
                <a:spcPct val="100000"/>
              </a:lnSpc>
              <a:spcBef>
                <a:spcPts val="600"/>
              </a:spcBef>
              <a:buSzPct val="100000"/>
            </a:pPr>
            <a:r>
              <a:rPr lang="zh-CN" altLang="en-US" dirty="0"/>
              <a:t>四位超前进位加法器集成</a:t>
            </a:r>
            <a:r>
              <a:rPr lang="zh-CN" altLang="en-US" dirty="0" smtClean="0"/>
              <a:t>芯片</a:t>
            </a:r>
            <a:endParaRPr lang="en-US" altLang="zh-CN" dirty="0" smtClean="0"/>
          </a:p>
          <a:p>
            <a:pPr marL="1080000" lvl="3">
              <a:spcBef>
                <a:spcPts val="600"/>
              </a:spcBef>
              <a:buClr>
                <a:srgbClr val="0000CC"/>
              </a:buClr>
              <a:buSzPct val="100000"/>
              <a:buFont typeface="Wingdings" pitchFamily="2" charset="2"/>
              <a:buChar char="u"/>
            </a:pPr>
            <a:r>
              <a:rPr lang="en-US" altLang="zh-CN" dirty="0" smtClean="0"/>
              <a:t>TTL</a:t>
            </a:r>
            <a:r>
              <a:rPr lang="zh-CN" altLang="en-US" dirty="0"/>
              <a:t>型芯片：如</a:t>
            </a:r>
            <a:r>
              <a:rPr lang="en-US" altLang="zh-CN" dirty="0">
                <a:solidFill>
                  <a:srgbClr val="FF0000"/>
                </a:solidFill>
              </a:rPr>
              <a:t>74XX283</a:t>
            </a:r>
            <a:r>
              <a:rPr lang="zh-CN" altLang="en-US" dirty="0"/>
              <a:t>、</a:t>
            </a:r>
            <a:r>
              <a:rPr lang="en-US" altLang="zh-CN" dirty="0">
                <a:solidFill>
                  <a:srgbClr val="FF0000"/>
                </a:solidFill>
              </a:rPr>
              <a:t>74XX383</a:t>
            </a:r>
            <a:r>
              <a:rPr lang="zh-CN" altLang="en-US" dirty="0"/>
              <a:t>等型号芯片</a:t>
            </a:r>
            <a:r>
              <a:rPr lang="zh-CN" altLang="en-US" dirty="0" smtClean="0"/>
              <a:t>；</a:t>
            </a:r>
            <a:endParaRPr lang="en-US" altLang="zh-CN" dirty="0" smtClean="0"/>
          </a:p>
          <a:p>
            <a:pPr marL="1080000" lvl="3">
              <a:spcBef>
                <a:spcPts val="600"/>
              </a:spcBef>
              <a:buClr>
                <a:srgbClr val="0000CC"/>
              </a:buClr>
              <a:buSzPct val="100000"/>
              <a:buFont typeface="Wingdings" pitchFamily="2" charset="2"/>
              <a:buChar char="u"/>
            </a:pPr>
            <a:r>
              <a:rPr lang="en-US" altLang="zh-CN" dirty="0" smtClean="0"/>
              <a:t>CMOS</a:t>
            </a:r>
            <a:r>
              <a:rPr lang="zh-CN" altLang="en-US" dirty="0"/>
              <a:t>型芯片：如</a:t>
            </a:r>
            <a:r>
              <a:rPr lang="en-US" altLang="zh-CN" dirty="0">
                <a:solidFill>
                  <a:srgbClr val="FF0000"/>
                </a:solidFill>
              </a:rPr>
              <a:t>CC4008</a:t>
            </a:r>
            <a:r>
              <a:rPr lang="zh-CN" altLang="en-US" dirty="0"/>
              <a:t>型号芯片</a:t>
            </a:r>
            <a:r>
              <a:rPr lang="zh-CN" altLang="en-US" dirty="0" smtClean="0"/>
              <a:t>。</a:t>
            </a:r>
            <a:endParaRPr lang="en-US" altLang="zh-CN" dirty="0" smtClean="0"/>
          </a:p>
          <a:p>
            <a:pPr marL="1080000" lvl="3">
              <a:spcBef>
                <a:spcPts val="600"/>
              </a:spcBef>
              <a:buClr>
                <a:srgbClr val="0000CC"/>
              </a:buClr>
              <a:buSzPct val="100000"/>
              <a:buFont typeface="Wingdings" pitchFamily="2" charset="2"/>
              <a:buChar char="u"/>
            </a:pPr>
            <a:r>
              <a:rPr lang="en-US" altLang="zh-CN" dirty="0" smtClean="0"/>
              <a:t>74XX283</a:t>
            </a:r>
            <a:r>
              <a:rPr lang="zh-CN" altLang="en-US" dirty="0"/>
              <a:t>与</a:t>
            </a:r>
            <a:r>
              <a:rPr lang="en-US" altLang="zh-CN" dirty="0"/>
              <a:t>CC4008</a:t>
            </a:r>
            <a:r>
              <a:rPr lang="zh-CN" altLang="en-US" dirty="0"/>
              <a:t>型号芯片的逻辑功能相同，实现</a:t>
            </a:r>
            <a:r>
              <a:rPr lang="en-US" altLang="zh-CN" dirty="0"/>
              <a:t>4</a:t>
            </a:r>
            <a:r>
              <a:rPr lang="zh-CN" altLang="en-US" dirty="0"/>
              <a:t>位二进制数超前进位相加的逻辑功能。其中，</a:t>
            </a:r>
            <a:r>
              <a:rPr lang="en-US" altLang="zh-CN" dirty="0"/>
              <a:t>74XX283</a:t>
            </a:r>
            <a:r>
              <a:rPr lang="zh-CN" altLang="en-US" dirty="0"/>
              <a:t>的逻辑符号如图</a:t>
            </a:r>
            <a:r>
              <a:rPr lang="en-US" altLang="zh-CN" dirty="0"/>
              <a:t>1</a:t>
            </a:r>
            <a:r>
              <a:rPr lang="zh-CN" altLang="en-US" dirty="0"/>
              <a:t>所示。</a:t>
            </a:r>
            <a:endParaRPr lang="en-US" altLang="zh-CN" dirty="0" smtClean="0"/>
          </a:p>
        </p:txBody>
      </p:sp>
      <p:sp>
        <p:nvSpPr>
          <p:cNvPr id="3" name="灯片编号占位符 2"/>
          <p:cNvSpPr>
            <a:spLocks noGrp="1"/>
          </p:cNvSpPr>
          <p:nvPr>
            <p:ph type="sldNum" sz="quarter" idx="12"/>
          </p:nvPr>
        </p:nvSpPr>
        <p:spPr/>
        <p:txBody>
          <a:bodyPr/>
          <a:lstStyle/>
          <a:p>
            <a:fld id="{0C913308-F349-4B6D-A68A-DD1791B4A57B}" type="slidenum">
              <a:rPr lang="zh-CN" altLang="en-US" smtClean="0"/>
              <a:pPr/>
              <a:t>135</a:t>
            </a:fld>
            <a:endParaRPr lang="zh-CN" altLang="en-US"/>
          </a:p>
        </p:txBody>
      </p:sp>
      <p:pic>
        <p:nvPicPr>
          <p:cNvPr id="39938" name="Picture 2" descr="https://timgsa.baidu.com/timg?image&amp;quality=80&amp;size=b9999_10000&amp;sec=1574685150934&amp;di=9129a8d3aa1df76f7e589d802b11930c&amp;imgtype=0&amp;src=http%3A%2F%2Fimg.jdzj.com%2Fjishu%2F636531597676093750.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940152" y="2492896"/>
            <a:ext cx="2959596" cy="1674286"/>
          </a:xfrm>
          <a:prstGeom prst="rect">
            <a:avLst/>
          </a:prstGeom>
          <a:noFill/>
          <a:extLst>
            <a:ext uri="{909E8E84-426E-40DD-AFC4-6F175D3DCCD1}">
              <a14:hiddenFill xmlns:a14="http://schemas.microsoft.com/office/drawing/2010/main" xmlns="">
                <a:solidFill>
                  <a:srgbClr val="FFFFFF"/>
                </a:solidFill>
              </a14:hiddenFill>
            </a:ext>
          </a:extLst>
        </p:spPr>
      </p:pic>
      <p:sp>
        <p:nvSpPr>
          <p:cNvPr id="2" name="矩形 1"/>
          <p:cNvSpPr/>
          <p:nvPr/>
        </p:nvSpPr>
        <p:spPr>
          <a:xfrm>
            <a:off x="6300192" y="4509120"/>
            <a:ext cx="2241319" cy="369332"/>
          </a:xfrm>
          <a:prstGeom prst="rect">
            <a:avLst/>
          </a:prstGeom>
        </p:spPr>
        <p:txBody>
          <a:bodyPr wrap="none">
            <a:spAutoFit/>
          </a:bodyPr>
          <a:lstStyle/>
          <a:p>
            <a:r>
              <a:rPr lang="en-US" altLang="zh-CN" dirty="0"/>
              <a:t>74XX283</a:t>
            </a:r>
            <a:r>
              <a:rPr lang="zh-CN" altLang="en-US" dirty="0"/>
              <a:t>的逻辑符号</a:t>
            </a:r>
          </a:p>
        </p:txBody>
      </p:sp>
    </p:spTree>
    <p:extLst>
      <p:ext uri="{BB962C8B-B14F-4D97-AF65-F5344CB8AC3E}">
        <p14:creationId xmlns:p14="http://schemas.microsoft.com/office/powerpoint/2010/main" xmlns="" val="2045738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9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203451" y="620688"/>
            <a:ext cx="7617022" cy="638944"/>
          </a:xfrm>
        </p:spPr>
        <p:txBody>
          <a:bodyPr/>
          <a:lstStyle/>
          <a:p>
            <a:r>
              <a:rPr lang="en-US" altLang="zh-CN" dirty="0" smtClean="0"/>
              <a:t>4.7 </a:t>
            </a:r>
            <a:r>
              <a:rPr lang="zh-CN" altLang="en-US" dirty="0" smtClean="0"/>
              <a:t>加法电路</a:t>
            </a:r>
            <a:endParaRPr lang="zh-CN" altLang="en-US" dirty="0"/>
          </a:p>
        </p:txBody>
      </p:sp>
      <p:sp>
        <p:nvSpPr>
          <p:cNvPr id="5" name="内容占位符 4"/>
          <p:cNvSpPr>
            <a:spLocks noGrp="1"/>
          </p:cNvSpPr>
          <p:nvPr>
            <p:ph idx="1"/>
          </p:nvPr>
        </p:nvSpPr>
        <p:spPr>
          <a:xfrm>
            <a:off x="539552" y="1542208"/>
            <a:ext cx="8352928" cy="4911128"/>
          </a:xfrm>
        </p:spPr>
        <p:txBody>
          <a:bodyPr/>
          <a:lstStyle/>
          <a:p>
            <a:pPr lvl="1">
              <a:lnSpc>
                <a:spcPct val="100000"/>
              </a:lnSpc>
              <a:spcBef>
                <a:spcPts val="600"/>
              </a:spcBef>
              <a:buSzPct val="100000"/>
            </a:pPr>
            <a:r>
              <a:rPr lang="en-US" altLang="zh-CN" sz="2400" dirty="0"/>
              <a:t>74XX381</a:t>
            </a:r>
            <a:r>
              <a:rPr lang="zh-CN" altLang="en-US" sz="2400" dirty="0"/>
              <a:t>集成加法器</a:t>
            </a:r>
            <a:r>
              <a:rPr lang="zh-CN" altLang="en-US" sz="2400" dirty="0" smtClean="0"/>
              <a:t>芯片</a:t>
            </a:r>
            <a:endParaRPr lang="en-US" altLang="zh-CN" sz="2400" dirty="0" smtClean="0"/>
          </a:p>
          <a:p>
            <a:pPr lvl="2">
              <a:lnSpc>
                <a:spcPct val="100000"/>
              </a:lnSpc>
              <a:spcBef>
                <a:spcPts val="600"/>
              </a:spcBef>
              <a:buSzPct val="100000"/>
              <a:buFont typeface="Wingdings" pitchFamily="2" charset="2"/>
              <a:buChar char="u"/>
            </a:pPr>
            <a:r>
              <a:rPr lang="en-US" altLang="zh-CN" dirty="0" smtClean="0"/>
              <a:t>74XX381</a:t>
            </a:r>
            <a:r>
              <a:rPr lang="zh-CN" altLang="en-US" dirty="0"/>
              <a:t>芯片的逻辑功能与</a:t>
            </a:r>
            <a:r>
              <a:rPr lang="en-US" altLang="zh-CN" dirty="0"/>
              <a:t>74XX283</a:t>
            </a:r>
            <a:r>
              <a:rPr lang="zh-CN" altLang="en-US" dirty="0"/>
              <a:t>、</a:t>
            </a:r>
            <a:r>
              <a:rPr lang="en-US" altLang="zh-CN" dirty="0"/>
              <a:t>CC4008</a:t>
            </a:r>
            <a:r>
              <a:rPr lang="zh-CN" altLang="en-US" dirty="0"/>
              <a:t>型号芯片有区别，输入除有两个</a:t>
            </a:r>
            <a:r>
              <a:rPr lang="en-US" altLang="zh-CN" dirty="0"/>
              <a:t>4</a:t>
            </a:r>
            <a:r>
              <a:rPr lang="zh-CN" altLang="en-US" dirty="0"/>
              <a:t>位二进制数输入端，同时</a:t>
            </a:r>
            <a:r>
              <a:rPr lang="zh-CN" altLang="en-US" dirty="0">
                <a:solidFill>
                  <a:srgbClr val="FF0000"/>
                </a:solidFill>
              </a:rPr>
              <a:t>增加了逻辑功能控制输入端</a:t>
            </a:r>
            <a:r>
              <a:rPr lang="en-US" altLang="zh-CN" dirty="0">
                <a:solidFill>
                  <a:srgbClr val="FF0000"/>
                </a:solidFill>
              </a:rPr>
              <a:t>C</a:t>
            </a:r>
            <a:r>
              <a:rPr lang="zh-CN" altLang="en-US" dirty="0">
                <a:solidFill>
                  <a:srgbClr val="FF0000"/>
                </a:solidFill>
              </a:rPr>
              <a:t>、</a:t>
            </a:r>
            <a:r>
              <a:rPr lang="en-US" altLang="zh-CN" dirty="0">
                <a:solidFill>
                  <a:srgbClr val="FF0000"/>
                </a:solidFill>
              </a:rPr>
              <a:t>B</a:t>
            </a:r>
            <a:r>
              <a:rPr lang="zh-CN" altLang="en-US" dirty="0">
                <a:solidFill>
                  <a:srgbClr val="FF0000"/>
                </a:solidFill>
              </a:rPr>
              <a:t>、</a:t>
            </a:r>
            <a:r>
              <a:rPr lang="en-US" altLang="zh-CN" dirty="0">
                <a:solidFill>
                  <a:srgbClr val="FF0000"/>
                </a:solidFill>
              </a:rPr>
              <a:t>A</a:t>
            </a:r>
            <a:r>
              <a:rPr lang="zh-CN" altLang="en-US" dirty="0">
                <a:solidFill>
                  <a:srgbClr val="FF0000"/>
                </a:solidFill>
              </a:rPr>
              <a:t>端</a:t>
            </a:r>
            <a:r>
              <a:rPr lang="zh-CN" altLang="en-US" dirty="0"/>
              <a:t>，而</a:t>
            </a:r>
            <a:r>
              <a:rPr lang="zh-CN" altLang="en-US" dirty="0">
                <a:solidFill>
                  <a:srgbClr val="FF0000"/>
                </a:solidFill>
              </a:rPr>
              <a:t>输出增加两个功能信号的输出</a:t>
            </a:r>
            <a:r>
              <a:rPr lang="zh-CN" altLang="en-US" dirty="0" smtClean="0"/>
              <a:t>：</a:t>
            </a:r>
            <a:endParaRPr lang="en-US" altLang="zh-CN" dirty="0" smtClean="0"/>
          </a:p>
          <a:p>
            <a:pPr lvl="3">
              <a:spcBef>
                <a:spcPts val="600"/>
              </a:spcBef>
              <a:buNone/>
            </a:pPr>
            <a:r>
              <a:rPr lang="zh-CN" altLang="en-US" dirty="0" smtClean="0"/>
              <a:t>①</a:t>
            </a:r>
            <a:r>
              <a:rPr lang="zh-CN" altLang="en-US" dirty="0">
                <a:solidFill>
                  <a:srgbClr val="FF0000"/>
                </a:solidFill>
              </a:rPr>
              <a:t>进位信号传输输出</a:t>
            </a:r>
            <a:r>
              <a:rPr lang="en-US" altLang="zh-CN" dirty="0" err="1">
                <a:solidFill>
                  <a:srgbClr val="FF0000"/>
                </a:solidFill>
              </a:rPr>
              <a:t>Pn</a:t>
            </a:r>
            <a:r>
              <a:rPr lang="zh-CN" altLang="en-US" dirty="0"/>
              <a:t>，</a:t>
            </a:r>
            <a:r>
              <a:rPr lang="en-US" altLang="zh-CN" dirty="0" err="1"/>
              <a:t>Pn</a:t>
            </a:r>
            <a:r>
              <a:rPr lang="en-US" altLang="zh-CN" dirty="0"/>
              <a:t>=0</a:t>
            </a:r>
            <a:r>
              <a:rPr lang="zh-CN" altLang="en-US" dirty="0"/>
              <a:t>（低电平输出有效）时，直接将最低位的进位数传送到高位（超前进位传送）</a:t>
            </a:r>
            <a:r>
              <a:rPr lang="zh-CN" altLang="en-US" dirty="0" smtClean="0"/>
              <a:t>；</a:t>
            </a:r>
            <a:endParaRPr lang="en-US" altLang="zh-CN" dirty="0" smtClean="0"/>
          </a:p>
          <a:p>
            <a:pPr lvl="3">
              <a:spcBef>
                <a:spcPts val="600"/>
              </a:spcBef>
              <a:buNone/>
            </a:pPr>
            <a:r>
              <a:rPr lang="zh-CN" altLang="en-US" dirty="0" smtClean="0"/>
              <a:t>②</a:t>
            </a:r>
            <a:r>
              <a:rPr lang="zh-CN" altLang="en-US" dirty="0">
                <a:solidFill>
                  <a:srgbClr val="FF0000"/>
                </a:solidFill>
              </a:rPr>
              <a:t>进位信号产生输出</a:t>
            </a:r>
            <a:r>
              <a:rPr lang="en-US" altLang="zh-CN" dirty="0" err="1">
                <a:solidFill>
                  <a:srgbClr val="FF0000"/>
                </a:solidFill>
              </a:rPr>
              <a:t>Gn</a:t>
            </a:r>
            <a:r>
              <a:rPr lang="zh-CN" altLang="en-US" dirty="0"/>
              <a:t>，</a:t>
            </a:r>
            <a:r>
              <a:rPr lang="en-US" altLang="zh-CN" dirty="0" err="1"/>
              <a:t>Gn</a:t>
            </a:r>
            <a:r>
              <a:rPr lang="en-US" altLang="zh-CN" dirty="0"/>
              <a:t>=0</a:t>
            </a:r>
            <a:r>
              <a:rPr lang="zh-CN" altLang="en-US" dirty="0"/>
              <a:t>（低电平输出有效）时，直接输出进位数（超前进位）</a:t>
            </a:r>
            <a:r>
              <a:rPr lang="zh-CN" altLang="en-US" dirty="0" smtClean="0"/>
              <a:t>。</a:t>
            </a:r>
            <a:endParaRPr lang="en-US" altLang="zh-CN" dirty="0" smtClean="0"/>
          </a:p>
          <a:p>
            <a:pPr lvl="2">
              <a:lnSpc>
                <a:spcPct val="100000"/>
              </a:lnSpc>
              <a:spcBef>
                <a:spcPts val="600"/>
              </a:spcBef>
              <a:buSzPct val="100000"/>
              <a:buFont typeface="Wingdings" pitchFamily="2" charset="2"/>
              <a:buChar char="u"/>
            </a:pPr>
            <a:r>
              <a:rPr lang="en-US" altLang="zh-CN" dirty="0" smtClean="0"/>
              <a:t>74XX381</a:t>
            </a:r>
            <a:r>
              <a:rPr lang="zh-CN" altLang="en-US" dirty="0"/>
              <a:t>芯片除了具有超前进位加法功能外，还可以实现两个</a:t>
            </a:r>
            <a:r>
              <a:rPr lang="en-US" altLang="zh-CN" dirty="0"/>
              <a:t>4</a:t>
            </a:r>
            <a:r>
              <a:rPr lang="zh-CN" altLang="en-US" dirty="0"/>
              <a:t>位二进制数的其它逻辑运算，其功能表和逻辑符号分别见</a:t>
            </a:r>
            <a:r>
              <a:rPr lang="zh-CN" altLang="en-US" dirty="0" smtClean="0"/>
              <a:t>表和图。</a:t>
            </a:r>
            <a:endParaRPr lang="en-US" altLang="zh-CN" dirty="0" smtClean="0"/>
          </a:p>
        </p:txBody>
      </p:sp>
      <p:sp>
        <p:nvSpPr>
          <p:cNvPr id="3" name="灯片编号占位符 2"/>
          <p:cNvSpPr>
            <a:spLocks noGrp="1"/>
          </p:cNvSpPr>
          <p:nvPr>
            <p:ph type="sldNum" sz="quarter" idx="12"/>
          </p:nvPr>
        </p:nvSpPr>
        <p:spPr/>
        <p:txBody>
          <a:bodyPr/>
          <a:lstStyle/>
          <a:p>
            <a:fld id="{0C913308-F349-4B6D-A68A-DD1791B4A57B}" type="slidenum">
              <a:rPr lang="zh-CN" altLang="en-US" smtClean="0"/>
              <a:pPr/>
              <a:t>136</a:t>
            </a:fld>
            <a:endParaRPr lang="zh-CN" altLang="en-US"/>
          </a:p>
        </p:txBody>
      </p:sp>
    </p:spTree>
    <p:extLst>
      <p:ext uri="{BB962C8B-B14F-4D97-AF65-F5344CB8AC3E}">
        <p14:creationId xmlns:p14="http://schemas.microsoft.com/office/powerpoint/2010/main" xmlns="" val="2249262002"/>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203451" y="692696"/>
            <a:ext cx="7473006" cy="566936"/>
          </a:xfrm>
        </p:spPr>
        <p:txBody>
          <a:bodyPr/>
          <a:lstStyle/>
          <a:p>
            <a:r>
              <a:rPr lang="en-US" altLang="zh-CN" dirty="0" smtClean="0"/>
              <a:t>4.7 </a:t>
            </a:r>
            <a:r>
              <a:rPr lang="zh-CN" altLang="en-US" dirty="0" smtClean="0"/>
              <a:t>加法电路</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pPr/>
              <a:t>137</a:t>
            </a:fld>
            <a:endParaRPr lang="zh-CN" altLang="en-US"/>
          </a:p>
        </p:txBody>
      </p:sp>
      <p:pic>
        <p:nvPicPr>
          <p:cNvPr id="6" name="图片 5"/>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5724128" y="2780928"/>
            <a:ext cx="3128343" cy="1892846"/>
          </a:xfrm>
          <a:prstGeom prst="rect">
            <a:avLst/>
          </a:prstGeom>
        </p:spPr>
      </p:pic>
      <p:pic>
        <p:nvPicPr>
          <p:cNvPr id="7" name="图片 6"/>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971600" y="2389823"/>
            <a:ext cx="4201790" cy="3597566"/>
          </a:xfrm>
          <a:prstGeom prst="rect">
            <a:avLst/>
          </a:prstGeom>
        </p:spPr>
      </p:pic>
      <p:sp>
        <p:nvSpPr>
          <p:cNvPr id="8" name="矩形 7"/>
          <p:cNvSpPr/>
          <p:nvPr/>
        </p:nvSpPr>
        <p:spPr>
          <a:xfrm>
            <a:off x="1547664" y="1772816"/>
            <a:ext cx="3168352" cy="461665"/>
          </a:xfrm>
          <a:prstGeom prst="rect">
            <a:avLst/>
          </a:prstGeom>
        </p:spPr>
        <p:txBody>
          <a:bodyPr wrap="square">
            <a:spAutoFit/>
          </a:bodyPr>
          <a:lstStyle/>
          <a:p>
            <a:pPr algn="ctr"/>
            <a:r>
              <a:rPr lang="zh-CN" altLang="en-US" sz="2400" b="1" dirty="0" smtClean="0"/>
              <a:t>表  </a:t>
            </a:r>
            <a:r>
              <a:rPr lang="zh-CN" altLang="en-US" sz="2400" b="1" dirty="0"/>
              <a:t>74LS381功能表</a:t>
            </a:r>
          </a:p>
        </p:txBody>
      </p:sp>
      <p:sp>
        <p:nvSpPr>
          <p:cNvPr id="9" name="矩形 8"/>
          <p:cNvSpPr/>
          <p:nvPr/>
        </p:nvSpPr>
        <p:spPr>
          <a:xfrm>
            <a:off x="5652120" y="4869160"/>
            <a:ext cx="3240360" cy="400110"/>
          </a:xfrm>
          <a:prstGeom prst="rect">
            <a:avLst/>
          </a:prstGeom>
        </p:spPr>
        <p:txBody>
          <a:bodyPr wrap="square">
            <a:spAutoFit/>
          </a:bodyPr>
          <a:lstStyle/>
          <a:p>
            <a:pPr algn="ctr"/>
            <a:r>
              <a:rPr lang="zh-CN" altLang="en-US" sz="2000" b="1" dirty="0" smtClean="0"/>
              <a:t>图 </a:t>
            </a:r>
            <a:r>
              <a:rPr lang="zh-CN" altLang="en-US" sz="2000" b="1" dirty="0"/>
              <a:t>74XX381芯片逻辑符号</a:t>
            </a:r>
          </a:p>
        </p:txBody>
      </p:sp>
    </p:spTree>
    <p:extLst>
      <p:ext uri="{BB962C8B-B14F-4D97-AF65-F5344CB8AC3E}">
        <p14:creationId xmlns:p14="http://schemas.microsoft.com/office/powerpoint/2010/main" xmlns="" val="2879539854"/>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92696"/>
            <a:ext cx="7473006" cy="566936"/>
          </a:xfrm>
        </p:spPr>
        <p:txBody>
          <a:bodyPr/>
          <a:lstStyle/>
          <a:p>
            <a:r>
              <a:rPr lang="en-US" altLang="zh-CN" dirty="0" smtClean="0"/>
              <a:t>4.7 </a:t>
            </a:r>
            <a:r>
              <a:rPr lang="zh-CN" altLang="en-US" dirty="0" smtClean="0"/>
              <a:t>加法电路</a:t>
            </a:r>
            <a:endParaRPr lang="zh-CN" altLang="en-US" dirty="0"/>
          </a:p>
        </p:txBody>
      </p:sp>
      <p:sp>
        <p:nvSpPr>
          <p:cNvPr id="3" name="内容占位符 2"/>
          <p:cNvSpPr>
            <a:spLocks noGrp="1"/>
          </p:cNvSpPr>
          <p:nvPr>
            <p:ph idx="1"/>
          </p:nvPr>
        </p:nvSpPr>
        <p:spPr>
          <a:xfrm>
            <a:off x="793750" y="1542208"/>
            <a:ext cx="7954714" cy="4911128"/>
          </a:xfrm>
        </p:spPr>
        <p:txBody>
          <a:bodyPr/>
          <a:lstStyle/>
          <a:p>
            <a:pPr>
              <a:lnSpc>
                <a:spcPct val="100000"/>
              </a:lnSpc>
              <a:spcBef>
                <a:spcPts val="600"/>
              </a:spcBef>
              <a:buSzPct val="100000"/>
              <a:buFont typeface="Wingdings" pitchFamily="2" charset="2"/>
              <a:buChar char="p"/>
            </a:pPr>
            <a:r>
              <a:rPr lang="zh-CN" altLang="en-US" sz="2800" dirty="0" smtClean="0"/>
              <a:t>用</a:t>
            </a:r>
            <a:r>
              <a:rPr lang="zh-CN" altLang="en-US" sz="2800" dirty="0"/>
              <a:t>加法器设计组合逻辑电路</a:t>
            </a:r>
          </a:p>
          <a:p>
            <a:pPr lvl="1">
              <a:lnSpc>
                <a:spcPct val="100000"/>
              </a:lnSpc>
              <a:spcBef>
                <a:spcPts val="600"/>
              </a:spcBef>
              <a:buSzPct val="100000"/>
            </a:pPr>
            <a:r>
              <a:rPr lang="zh-CN" altLang="en-US" sz="2400" dirty="0"/>
              <a:t>对“变量＋变量”或“变量＋常量”类型的</a:t>
            </a:r>
            <a:r>
              <a:rPr lang="zh-CN" altLang="en-US" sz="2400" dirty="0" smtClean="0"/>
              <a:t>逻辑函数</a:t>
            </a:r>
            <a:r>
              <a:rPr lang="zh-CN" altLang="en-US" sz="2400" dirty="0"/>
              <a:t>，如码组变换，用加法器设计起来非常简单。</a:t>
            </a:r>
          </a:p>
          <a:p>
            <a:pPr lvl="1">
              <a:lnSpc>
                <a:spcPct val="100000"/>
              </a:lnSpc>
              <a:spcBef>
                <a:spcPts val="600"/>
              </a:spcBef>
              <a:buSzPct val="100000"/>
            </a:pPr>
            <a:r>
              <a:rPr lang="en-US" altLang="zh-CN" sz="2400" dirty="0"/>
              <a:t>【</a:t>
            </a:r>
            <a:r>
              <a:rPr lang="zh-CN" altLang="en-US" sz="2400" dirty="0" smtClean="0"/>
              <a:t>例</a:t>
            </a:r>
            <a:r>
              <a:rPr lang="en-US" altLang="zh-CN" sz="2400" dirty="0" smtClean="0"/>
              <a:t>】</a:t>
            </a:r>
            <a:r>
              <a:rPr lang="zh-CN" altLang="en-US" sz="2400" dirty="0"/>
              <a:t>试设计一个代码转换电路，将</a:t>
            </a:r>
            <a:r>
              <a:rPr lang="en-US" altLang="zh-CN" sz="2400" dirty="0"/>
              <a:t>BCD</a:t>
            </a:r>
            <a:r>
              <a:rPr lang="zh-CN" altLang="en-US" sz="2400" dirty="0"/>
              <a:t>代码的</a:t>
            </a:r>
            <a:r>
              <a:rPr lang="en-US" altLang="zh-CN" sz="2400" dirty="0" smtClean="0"/>
              <a:t>8421</a:t>
            </a:r>
            <a:r>
              <a:rPr lang="zh-CN" altLang="en-US" sz="2400" dirty="0" smtClean="0"/>
              <a:t>码</a:t>
            </a:r>
            <a:r>
              <a:rPr lang="zh-CN" altLang="en-US" sz="2400" dirty="0"/>
              <a:t>转换成余</a:t>
            </a:r>
            <a:r>
              <a:rPr lang="en-US" altLang="zh-CN" sz="2400" dirty="0"/>
              <a:t>3</a:t>
            </a:r>
            <a:r>
              <a:rPr lang="zh-CN" altLang="en-US" sz="2400" dirty="0"/>
              <a:t>码。</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138</a:t>
            </a:fld>
            <a:endParaRPr lang="zh-CN" altLang="en-US"/>
          </a:p>
        </p:txBody>
      </p:sp>
      <p:sp>
        <p:nvSpPr>
          <p:cNvPr id="5" name="矩形 4"/>
          <p:cNvSpPr/>
          <p:nvPr/>
        </p:nvSpPr>
        <p:spPr>
          <a:xfrm>
            <a:off x="1403648" y="3861048"/>
            <a:ext cx="3384376" cy="1569660"/>
          </a:xfrm>
          <a:prstGeom prst="rect">
            <a:avLst/>
          </a:prstGeom>
        </p:spPr>
        <p:txBody>
          <a:bodyPr wrap="square">
            <a:spAutoFit/>
          </a:bodyPr>
          <a:lstStyle/>
          <a:p>
            <a:r>
              <a:rPr lang="zh-CN" altLang="en-US" sz="2400" b="1" dirty="0"/>
              <a:t>解</a:t>
            </a:r>
            <a:r>
              <a:rPr lang="en-US" altLang="zh-CN" sz="2400" b="1" dirty="0"/>
              <a:t>:</a:t>
            </a:r>
            <a:r>
              <a:rPr lang="zh-CN" altLang="en-US" sz="2400" b="1" dirty="0"/>
              <a:t>设</a:t>
            </a:r>
            <a:r>
              <a:rPr lang="en-US" altLang="zh-CN" sz="2400" b="1" dirty="0"/>
              <a:t>DCBA</a:t>
            </a:r>
            <a:r>
              <a:rPr lang="zh-CN" altLang="en-US" sz="2400" b="1" dirty="0"/>
              <a:t>为输入</a:t>
            </a:r>
            <a:r>
              <a:rPr lang="en-US" altLang="zh-CN" sz="2400" b="1" dirty="0" smtClean="0"/>
              <a:t>8421BCD</a:t>
            </a:r>
            <a:r>
              <a:rPr lang="zh-CN" altLang="en-US" sz="2400" b="1" dirty="0" smtClean="0"/>
              <a:t>码</a:t>
            </a:r>
            <a:r>
              <a:rPr lang="en-US" altLang="zh-CN" sz="2400" b="1" dirty="0"/>
              <a:t>,Y</a:t>
            </a:r>
            <a:r>
              <a:rPr lang="en-US" altLang="zh-CN" sz="2400" b="1" baseline="-25000" dirty="0"/>
              <a:t>3</a:t>
            </a:r>
            <a:r>
              <a:rPr lang="en-US" altLang="zh-CN" sz="2400" b="1" dirty="0"/>
              <a:t>Y</a:t>
            </a:r>
            <a:r>
              <a:rPr lang="en-US" altLang="zh-CN" sz="2400" b="1" baseline="-25000" dirty="0"/>
              <a:t>2</a:t>
            </a:r>
            <a:r>
              <a:rPr lang="en-US" altLang="zh-CN" sz="2400" b="1" dirty="0"/>
              <a:t>Y</a:t>
            </a:r>
            <a:r>
              <a:rPr lang="en-US" altLang="zh-CN" sz="2400" b="1" baseline="-25000" dirty="0"/>
              <a:t>1</a:t>
            </a:r>
            <a:r>
              <a:rPr lang="en-US" altLang="zh-CN" sz="2400" b="1" dirty="0"/>
              <a:t>Y</a:t>
            </a:r>
            <a:r>
              <a:rPr lang="en-US" altLang="zh-CN" sz="2400" b="1" baseline="-25000" dirty="0"/>
              <a:t>0</a:t>
            </a:r>
            <a:r>
              <a:rPr lang="zh-CN" altLang="en-US" sz="2400" b="1" dirty="0"/>
              <a:t>为输出余</a:t>
            </a:r>
            <a:r>
              <a:rPr lang="en-US" altLang="zh-CN" sz="2400" b="1" dirty="0"/>
              <a:t>3</a:t>
            </a:r>
            <a:r>
              <a:rPr lang="zh-CN" altLang="en-US" sz="2400" b="1" dirty="0"/>
              <a:t>码，</a:t>
            </a:r>
          </a:p>
          <a:p>
            <a:r>
              <a:rPr lang="zh-CN" altLang="en-US" sz="2400" b="1" dirty="0"/>
              <a:t>则：</a:t>
            </a:r>
          </a:p>
        </p:txBody>
      </p:sp>
      <p:pic>
        <p:nvPicPr>
          <p:cNvPr id="33794" name="Picture 2" descr="E:\wrj\课件\数字电路与系统\数字电路与数字系统\tupian\4-35-74283.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788025" y="3356993"/>
            <a:ext cx="3240359" cy="3066516"/>
          </a:xfrm>
          <a:prstGeom prst="rect">
            <a:avLst/>
          </a:prstGeom>
          <a:noFill/>
          <a:extLst>
            <a:ext uri="{909E8E84-426E-40DD-AFC4-6F175D3DCCD1}">
              <a14:hiddenFill xmlns:a14="http://schemas.microsoft.com/office/drawing/2010/main" xmlns="">
                <a:solidFill>
                  <a:srgbClr val="FFFFFF"/>
                </a:solidFill>
              </a14:hiddenFill>
            </a:ext>
          </a:extLst>
        </p:spPr>
      </p:pic>
      <p:pic>
        <p:nvPicPr>
          <p:cNvPr id="33795"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403648" y="5517232"/>
            <a:ext cx="3307500" cy="360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矩形 5"/>
          <p:cNvSpPr/>
          <p:nvPr/>
        </p:nvSpPr>
        <p:spPr>
          <a:xfrm>
            <a:off x="5148064" y="6488668"/>
            <a:ext cx="3010311" cy="369332"/>
          </a:xfrm>
          <a:prstGeom prst="rect">
            <a:avLst/>
          </a:prstGeom>
        </p:spPr>
        <p:txBody>
          <a:bodyPr wrap="none">
            <a:spAutoFit/>
          </a:bodyPr>
          <a:lstStyle/>
          <a:p>
            <a:r>
              <a:rPr lang="zh-CN" altLang="en-US" dirty="0" smtClean="0"/>
              <a:t>图</a:t>
            </a:r>
            <a:r>
              <a:rPr lang="en-US" altLang="zh-CN" dirty="0" smtClean="0"/>
              <a:t>  8421BCD</a:t>
            </a:r>
            <a:r>
              <a:rPr lang="zh-CN" altLang="en-US" dirty="0"/>
              <a:t>码转换成余</a:t>
            </a:r>
            <a:r>
              <a:rPr lang="en-US" altLang="zh-CN" dirty="0"/>
              <a:t>3</a:t>
            </a:r>
            <a:r>
              <a:rPr lang="zh-CN" altLang="en-US" dirty="0"/>
              <a:t>码</a:t>
            </a:r>
          </a:p>
        </p:txBody>
      </p:sp>
    </p:spTree>
    <p:extLst>
      <p:ext uri="{BB962C8B-B14F-4D97-AF65-F5344CB8AC3E}">
        <p14:creationId xmlns:p14="http://schemas.microsoft.com/office/powerpoint/2010/main" xmlns="" val="2049039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92696"/>
            <a:ext cx="7473006" cy="566936"/>
          </a:xfrm>
        </p:spPr>
        <p:txBody>
          <a:bodyPr/>
          <a:lstStyle/>
          <a:p>
            <a:r>
              <a:rPr lang="en-US" altLang="zh-CN" dirty="0" smtClean="0"/>
              <a:t>4.7 </a:t>
            </a:r>
            <a:r>
              <a:rPr lang="zh-CN" altLang="en-US" dirty="0" smtClean="0"/>
              <a:t>加法电路</a:t>
            </a:r>
            <a:endParaRPr lang="zh-CN" altLang="en-US" dirty="0"/>
          </a:p>
        </p:txBody>
      </p:sp>
      <p:sp>
        <p:nvSpPr>
          <p:cNvPr id="3" name="内容占位符 2"/>
          <p:cNvSpPr>
            <a:spLocks noGrp="1"/>
          </p:cNvSpPr>
          <p:nvPr>
            <p:ph idx="1"/>
          </p:nvPr>
        </p:nvSpPr>
        <p:spPr>
          <a:xfrm>
            <a:off x="467544" y="1542208"/>
            <a:ext cx="8487544" cy="4911128"/>
          </a:xfrm>
        </p:spPr>
        <p:txBody>
          <a:bodyPr/>
          <a:lstStyle/>
          <a:p>
            <a:pPr lvl="1">
              <a:buSzPct val="100000"/>
            </a:pPr>
            <a:r>
              <a:rPr lang="en-US" altLang="zh-CN" sz="2400" dirty="0"/>
              <a:t>【</a:t>
            </a:r>
            <a:r>
              <a:rPr lang="zh-CN" altLang="en-US" sz="2400" dirty="0"/>
              <a:t>例</a:t>
            </a:r>
            <a:r>
              <a:rPr lang="en-US" altLang="zh-CN" sz="2400" dirty="0"/>
              <a:t>】</a:t>
            </a:r>
            <a:r>
              <a:rPr lang="zh-CN" altLang="en-US" sz="2400" dirty="0" smtClean="0"/>
              <a:t>试</a:t>
            </a:r>
            <a:r>
              <a:rPr lang="zh-CN" altLang="en-US" sz="2400" dirty="0"/>
              <a:t>设计一个代码转换电路，</a:t>
            </a:r>
            <a:r>
              <a:rPr lang="zh-CN" altLang="en-US" sz="2400" dirty="0" smtClean="0"/>
              <a:t>将</a:t>
            </a:r>
            <a:r>
              <a:rPr lang="zh-CN" altLang="en-US" sz="2400" dirty="0"/>
              <a:t>余</a:t>
            </a:r>
            <a:r>
              <a:rPr lang="en-US" altLang="zh-CN" sz="2400" dirty="0"/>
              <a:t>3</a:t>
            </a:r>
            <a:r>
              <a:rPr lang="zh-CN" altLang="en-US" sz="2400" dirty="0" smtClean="0"/>
              <a:t>码转换成</a:t>
            </a:r>
            <a:r>
              <a:rPr lang="en-US" altLang="zh-CN" sz="2400" dirty="0" smtClean="0"/>
              <a:t>8421BCD</a:t>
            </a:r>
            <a:r>
              <a:rPr lang="zh-CN" altLang="en-US" sz="2400" dirty="0" smtClean="0"/>
              <a:t>码。</a:t>
            </a:r>
            <a:endParaRPr lang="zh-CN" altLang="en-US" sz="24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139</a:t>
            </a:fld>
            <a:endParaRPr lang="zh-CN" altLang="en-US"/>
          </a:p>
        </p:txBody>
      </p:sp>
      <p:sp>
        <p:nvSpPr>
          <p:cNvPr id="5" name="矩形 4"/>
          <p:cNvSpPr/>
          <p:nvPr/>
        </p:nvSpPr>
        <p:spPr>
          <a:xfrm>
            <a:off x="1187624" y="2780928"/>
            <a:ext cx="3888432" cy="2677656"/>
          </a:xfrm>
          <a:prstGeom prst="rect">
            <a:avLst/>
          </a:prstGeom>
        </p:spPr>
        <p:txBody>
          <a:bodyPr wrap="square">
            <a:spAutoFit/>
          </a:bodyPr>
          <a:lstStyle/>
          <a:p>
            <a:r>
              <a:rPr lang="zh-CN" altLang="en-US" sz="2400" b="1" dirty="0" smtClean="0"/>
              <a:t>解:</a:t>
            </a:r>
            <a:r>
              <a:rPr lang="zh-CN" altLang="en-US" sz="2400" b="1" dirty="0"/>
              <a:t>设DCBA为</a:t>
            </a:r>
            <a:r>
              <a:rPr lang="zh-CN" altLang="en-US" sz="2400" b="1" dirty="0" smtClean="0"/>
              <a:t>输入</a:t>
            </a:r>
            <a:r>
              <a:rPr lang="zh-CN" altLang="en-US" sz="2400" b="1" dirty="0"/>
              <a:t>余3</a:t>
            </a:r>
            <a:r>
              <a:rPr lang="zh-CN" altLang="en-US" sz="2400" b="1" dirty="0" smtClean="0"/>
              <a:t>码，Y</a:t>
            </a:r>
            <a:r>
              <a:rPr lang="zh-CN" altLang="en-US" sz="2400" b="1" baseline="-25000" dirty="0"/>
              <a:t>3</a:t>
            </a:r>
            <a:r>
              <a:rPr lang="zh-CN" altLang="en-US" sz="2400" b="1" dirty="0"/>
              <a:t>Y</a:t>
            </a:r>
            <a:r>
              <a:rPr lang="zh-CN" altLang="en-US" sz="2400" b="1" baseline="-25000" dirty="0"/>
              <a:t>2</a:t>
            </a:r>
            <a:r>
              <a:rPr lang="zh-CN" altLang="en-US" sz="2400" b="1" dirty="0"/>
              <a:t>Y</a:t>
            </a:r>
            <a:r>
              <a:rPr lang="zh-CN" altLang="en-US" sz="2400" b="1" baseline="-25000" dirty="0"/>
              <a:t>1</a:t>
            </a:r>
            <a:r>
              <a:rPr lang="zh-CN" altLang="en-US" sz="2400" b="1" dirty="0"/>
              <a:t>Y</a:t>
            </a:r>
            <a:r>
              <a:rPr lang="zh-CN" altLang="en-US" sz="2400" b="1" baseline="-25000" dirty="0"/>
              <a:t>0</a:t>
            </a:r>
            <a:r>
              <a:rPr lang="zh-CN" altLang="en-US" sz="2400" b="1" dirty="0"/>
              <a:t>为</a:t>
            </a:r>
            <a:r>
              <a:rPr lang="zh-CN" altLang="en-US" sz="2400" b="1" dirty="0" smtClean="0"/>
              <a:t>输出</a:t>
            </a:r>
            <a:r>
              <a:rPr lang="zh-CN" altLang="en-US" sz="2400" b="1" dirty="0"/>
              <a:t>8421BCD码</a:t>
            </a:r>
            <a:r>
              <a:rPr lang="zh-CN" altLang="en-US" sz="2400" b="1" dirty="0" smtClean="0"/>
              <a:t>，则只需将余</a:t>
            </a:r>
            <a:r>
              <a:rPr lang="en-US" altLang="zh-CN" sz="2400" b="1" dirty="0" smtClean="0"/>
              <a:t>3</a:t>
            </a:r>
            <a:r>
              <a:rPr lang="zh-CN" altLang="en-US" sz="2400" b="1" dirty="0" smtClean="0"/>
              <a:t>码减去</a:t>
            </a:r>
            <a:r>
              <a:rPr lang="en-US" altLang="zh-CN" sz="2400" b="1" dirty="0" smtClean="0"/>
              <a:t>3</a:t>
            </a:r>
            <a:r>
              <a:rPr lang="zh-CN" altLang="en-US" sz="2400" b="1" dirty="0" smtClean="0"/>
              <a:t>（</a:t>
            </a:r>
            <a:r>
              <a:rPr lang="en-US" altLang="zh-CN" sz="2400" b="1" dirty="0" smtClean="0"/>
              <a:t>0011</a:t>
            </a:r>
            <a:r>
              <a:rPr lang="zh-CN" altLang="en-US" sz="2400" b="1" dirty="0" smtClean="0"/>
              <a:t>）即可，依据补码规则，相当于加</a:t>
            </a:r>
            <a:r>
              <a:rPr lang="en-US" altLang="zh-CN" sz="2400" b="1" dirty="0" smtClean="0"/>
              <a:t>1101</a:t>
            </a:r>
            <a:r>
              <a:rPr lang="zh-CN" altLang="en-US" sz="2400" b="1" dirty="0" smtClean="0"/>
              <a:t>，即有：</a:t>
            </a:r>
            <a:endParaRPr lang="en-US" altLang="zh-CN" sz="2400" b="1" dirty="0" smtClean="0"/>
          </a:p>
          <a:p>
            <a:r>
              <a:rPr lang="zh-CN" altLang="en-US" sz="2400" b="1" dirty="0"/>
              <a:t>Y</a:t>
            </a:r>
            <a:r>
              <a:rPr lang="zh-CN" altLang="en-US" sz="2400" b="1" baseline="-25000" dirty="0"/>
              <a:t>3</a:t>
            </a:r>
            <a:r>
              <a:rPr lang="zh-CN" altLang="en-US" sz="2400" b="1" dirty="0"/>
              <a:t>Y</a:t>
            </a:r>
            <a:r>
              <a:rPr lang="zh-CN" altLang="en-US" sz="2400" b="1" baseline="-25000" dirty="0"/>
              <a:t>2</a:t>
            </a:r>
            <a:r>
              <a:rPr lang="zh-CN" altLang="en-US" sz="2400" b="1" dirty="0"/>
              <a:t>Y</a:t>
            </a:r>
            <a:r>
              <a:rPr lang="zh-CN" altLang="en-US" sz="2400" b="1" baseline="-25000" dirty="0"/>
              <a:t>1</a:t>
            </a:r>
            <a:r>
              <a:rPr lang="zh-CN" altLang="en-US" sz="2400" b="1" dirty="0"/>
              <a:t>Y</a:t>
            </a:r>
            <a:r>
              <a:rPr lang="zh-CN" altLang="en-US" sz="2400" b="1" baseline="-25000" dirty="0"/>
              <a:t>0 </a:t>
            </a:r>
            <a:r>
              <a:rPr lang="en-US" altLang="zh-CN" sz="2400" b="1" dirty="0" smtClean="0"/>
              <a:t>=DCBA+1101</a:t>
            </a:r>
            <a:endParaRPr lang="zh-CN" altLang="en-US" sz="2400" b="1" dirty="0"/>
          </a:p>
        </p:txBody>
      </p:sp>
      <p:grpSp>
        <p:nvGrpSpPr>
          <p:cNvPr id="8" name="组合 7"/>
          <p:cNvGrpSpPr/>
          <p:nvPr/>
        </p:nvGrpSpPr>
        <p:grpSpPr>
          <a:xfrm>
            <a:off x="5076056" y="2492896"/>
            <a:ext cx="3575841" cy="3384000"/>
            <a:chOff x="5142039" y="2940600"/>
            <a:chExt cx="3575841" cy="3384000"/>
          </a:xfrm>
        </p:grpSpPr>
        <p:pic>
          <p:nvPicPr>
            <p:cNvPr id="6" name="Picture 2" descr="E:\wrj\课件\数字电路与系统\数字电路与数字系统\tupian\4-35-74283.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142039" y="2940600"/>
              <a:ext cx="3575841" cy="3384000"/>
            </a:xfrm>
            <a:prstGeom prst="rect">
              <a:avLst/>
            </a:prstGeom>
            <a:noFill/>
            <a:extLst>
              <a:ext uri="{909E8E84-426E-40DD-AFC4-6F175D3DCCD1}">
                <a14:hiddenFill xmlns:a14="http://schemas.microsoft.com/office/drawing/2010/main" xmlns="">
                  <a:solidFill>
                    <a:srgbClr val="FFFFFF"/>
                  </a:solidFill>
                </a14:hiddenFill>
              </a:ext>
            </a:extLst>
          </p:spPr>
        </p:pic>
        <p:pic>
          <p:nvPicPr>
            <p:cNvPr id="7" name="图片 6"/>
            <p:cNvPicPr>
              <a:picLocks noChangeAspect="1"/>
            </p:cNvPicPr>
            <p:nvPr/>
          </p:nvPicPr>
          <p:blipFill rotWithShape="1">
            <a:blip r:embed="rId3" cstate="print"/>
            <a:srcRect t="1188"/>
            <a:stretch/>
          </p:blipFill>
          <p:spPr>
            <a:xfrm>
              <a:off x="5853736" y="3162937"/>
              <a:ext cx="1166535" cy="2778530"/>
            </a:xfrm>
            <a:prstGeom prst="rect">
              <a:avLst/>
            </a:prstGeom>
          </p:spPr>
        </p:pic>
      </p:grpSp>
    </p:spTree>
    <p:extLst>
      <p:ext uri="{BB962C8B-B14F-4D97-AF65-F5344CB8AC3E}">
        <p14:creationId xmlns:p14="http://schemas.microsoft.com/office/powerpoint/2010/main" xmlns="" val="125840088"/>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20688"/>
            <a:ext cx="7545014" cy="638944"/>
          </a:xfrm>
        </p:spPr>
        <p:txBody>
          <a:bodyPr/>
          <a:lstStyle/>
          <a:p>
            <a:r>
              <a:rPr lang="en-US" altLang="zh-CN" dirty="0" smtClean="0"/>
              <a:t>4.7.3 </a:t>
            </a:r>
            <a:r>
              <a:rPr lang="zh-CN" altLang="en-US" dirty="0" smtClean="0"/>
              <a:t>超前进位加法器</a:t>
            </a:r>
            <a:r>
              <a:rPr lang="en-US" altLang="zh-CN" dirty="0" smtClean="0"/>
              <a:t>74283</a:t>
            </a:r>
            <a:endParaRPr lang="zh-CN" altLang="en-US" dirty="0"/>
          </a:p>
        </p:txBody>
      </p:sp>
      <p:sp>
        <p:nvSpPr>
          <p:cNvPr id="3" name="内容占位符 2"/>
          <p:cNvSpPr>
            <a:spLocks noGrp="1"/>
          </p:cNvSpPr>
          <p:nvPr>
            <p:ph idx="1"/>
          </p:nvPr>
        </p:nvSpPr>
        <p:spPr>
          <a:xfrm>
            <a:off x="467544" y="1542208"/>
            <a:ext cx="8487544" cy="4911128"/>
          </a:xfrm>
        </p:spPr>
        <p:txBody>
          <a:bodyPr/>
          <a:lstStyle/>
          <a:p>
            <a:pPr>
              <a:buSzPct val="100000"/>
              <a:buFont typeface="Wingdings" pitchFamily="2" charset="2"/>
              <a:buChar char="p"/>
            </a:pPr>
            <a:r>
              <a:rPr lang="zh-CN" altLang="en-US" sz="2800" dirty="0" smtClean="0">
                <a:solidFill>
                  <a:srgbClr val="0000CC"/>
                </a:solidFill>
              </a:rPr>
              <a:t>例</a:t>
            </a:r>
            <a:r>
              <a:rPr lang="en-US" altLang="zh-CN" sz="2800" dirty="0" smtClean="0">
                <a:solidFill>
                  <a:srgbClr val="0000CC"/>
                </a:solidFill>
              </a:rPr>
              <a:t>4.15 </a:t>
            </a:r>
            <a:r>
              <a:rPr lang="en-US" altLang="zh-CN" sz="2800" dirty="0" smtClean="0"/>
              <a:t> </a:t>
            </a:r>
            <a:r>
              <a:rPr lang="zh-CN" altLang="en-US" sz="2800" dirty="0" smtClean="0"/>
              <a:t>用全加器，超前进位加法器，显示译码器实现的</a:t>
            </a:r>
            <a:r>
              <a:rPr lang="en-US" altLang="zh-CN" sz="2800" dirty="0" smtClean="0"/>
              <a:t>6</a:t>
            </a:r>
            <a:r>
              <a:rPr lang="zh-CN" altLang="en-US" sz="2800" dirty="0" smtClean="0"/>
              <a:t>人投票选举电路如图</a:t>
            </a:r>
            <a:r>
              <a:rPr lang="en-US" altLang="zh-CN" sz="2800" dirty="0" smtClean="0"/>
              <a:t>4.41</a:t>
            </a:r>
            <a:r>
              <a:rPr lang="zh-CN" altLang="en-US" sz="2800" dirty="0" smtClean="0"/>
              <a:t>所示。其中每一个全加器实现</a:t>
            </a:r>
            <a:r>
              <a:rPr lang="en-US" altLang="zh-CN" sz="2800" dirty="0" smtClean="0"/>
              <a:t>3</a:t>
            </a:r>
            <a:r>
              <a:rPr lang="zh-CN" altLang="en-US" sz="2800" dirty="0" smtClean="0"/>
              <a:t>个同意或否决票的加法，其输出再作为后续的超前进位加法器的输入，从而实现</a:t>
            </a:r>
            <a:r>
              <a:rPr lang="en-US" altLang="zh-CN" sz="2800" dirty="0" smtClean="0"/>
              <a:t>6</a:t>
            </a:r>
            <a:r>
              <a:rPr lang="zh-CN" altLang="en-US" sz="2800" dirty="0" smtClean="0"/>
              <a:t>个统一或否决票的相加。相加的结果</a:t>
            </a:r>
            <a:r>
              <a:rPr lang="en-US" altLang="zh-CN" sz="2800" dirty="0" smtClean="0"/>
              <a:t>2</a:t>
            </a:r>
            <a:r>
              <a:rPr lang="zh-CN" altLang="en-US" sz="2800" dirty="0" smtClean="0"/>
              <a:t>经过显示译码器，转换为</a:t>
            </a:r>
            <a:r>
              <a:rPr lang="en-US" altLang="zh-CN" sz="2800" dirty="0" smtClean="0"/>
              <a:t>7</a:t>
            </a:r>
            <a:r>
              <a:rPr lang="zh-CN" altLang="en-US" sz="2800" dirty="0" smtClean="0"/>
              <a:t>段显示二极管的驱动信号，驱动显示管显示“同意”或“否决”票的数量。</a:t>
            </a:r>
            <a:endParaRPr lang="en-US" altLang="zh-CN" sz="2800" dirty="0" smtClean="0"/>
          </a:p>
          <a:p>
            <a:pPr lvl="1">
              <a:buSzPct val="100000"/>
            </a:pP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140</a:t>
            </a:fld>
            <a:endParaRPr lang="zh-CN" altLang="en-US"/>
          </a:p>
        </p:txBody>
      </p:sp>
    </p:spTree>
    <p:extLst>
      <p:ext uri="{BB962C8B-B14F-4D97-AF65-F5344CB8AC3E}">
        <p14:creationId xmlns:p14="http://schemas.microsoft.com/office/powerpoint/2010/main" xmlns="" val="3894999216"/>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20688"/>
            <a:ext cx="7545014" cy="638944"/>
          </a:xfrm>
        </p:spPr>
        <p:txBody>
          <a:bodyPr/>
          <a:lstStyle/>
          <a:p>
            <a:r>
              <a:rPr lang="en-US" altLang="zh-CN" dirty="0" smtClean="0"/>
              <a:t>4.7.3 </a:t>
            </a:r>
            <a:r>
              <a:rPr lang="zh-CN" altLang="en-US" dirty="0" smtClean="0"/>
              <a:t>超前进位加法器</a:t>
            </a:r>
            <a:r>
              <a:rPr lang="en-US" altLang="zh-CN" dirty="0" smtClean="0"/>
              <a:t>74283</a:t>
            </a:r>
            <a:endParaRPr lang="zh-CN" altLang="en-US" dirty="0"/>
          </a:p>
        </p:txBody>
      </p:sp>
      <p:sp>
        <p:nvSpPr>
          <p:cNvPr id="3" name="内容占位符 2"/>
          <p:cNvSpPr>
            <a:spLocks noGrp="1"/>
          </p:cNvSpPr>
          <p:nvPr>
            <p:ph idx="1"/>
          </p:nvPr>
        </p:nvSpPr>
        <p:spPr>
          <a:xfrm>
            <a:off x="467544" y="1542208"/>
            <a:ext cx="8487544" cy="4911128"/>
          </a:xfrm>
        </p:spPr>
        <p:txBody>
          <a:bodyPr/>
          <a:lstStyle/>
          <a:p>
            <a:pPr>
              <a:buSzPct val="100000"/>
              <a:buFont typeface="Wingdings" pitchFamily="2" charset="2"/>
              <a:buChar char="p"/>
            </a:pPr>
            <a:r>
              <a:rPr lang="zh-CN" altLang="en-US" sz="2800" dirty="0" smtClean="0">
                <a:solidFill>
                  <a:srgbClr val="0000CC"/>
                </a:solidFill>
              </a:rPr>
              <a:t>例</a:t>
            </a:r>
            <a:r>
              <a:rPr lang="en-US" altLang="zh-CN" sz="2800" dirty="0" smtClean="0">
                <a:solidFill>
                  <a:srgbClr val="0000CC"/>
                </a:solidFill>
              </a:rPr>
              <a:t>4.15 </a:t>
            </a:r>
            <a:r>
              <a:rPr lang="en-US" altLang="zh-CN" sz="2800" dirty="0" smtClean="0"/>
              <a:t> </a:t>
            </a:r>
            <a:r>
              <a:rPr lang="zh-CN" altLang="en-US" sz="2800" dirty="0" smtClean="0"/>
              <a:t>用全加器，超前进位加法器，显示译码器实现的</a:t>
            </a:r>
            <a:r>
              <a:rPr lang="en-US" altLang="zh-CN" sz="2800" dirty="0" smtClean="0"/>
              <a:t>6</a:t>
            </a:r>
            <a:r>
              <a:rPr lang="zh-CN" altLang="en-US" sz="2800" dirty="0" smtClean="0"/>
              <a:t>人投票选举电路如图</a:t>
            </a:r>
            <a:r>
              <a:rPr lang="en-US" altLang="zh-CN" sz="2800" dirty="0" smtClean="0"/>
              <a:t>4.41</a:t>
            </a:r>
            <a:r>
              <a:rPr lang="zh-CN" altLang="en-US" sz="2800" dirty="0" smtClean="0"/>
              <a:t>所示。</a:t>
            </a:r>
            <a:endParaRPr lang="en-US" altLang="zh-CN" sz="2800" dirty="0" smtClean="0"/>
          </a:p>
          <a:p>
            <a:pPr lvl="1">
              <a:buSzPct val="100000"/>
            </a:pP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141</a:t>
            </a:fld>
            <a:endParaRPr lang="zh-CN" altLang="en-US"/>
          </a:p>
        </p:txBody>
      </p:sp>
      <p:pic>
        <p:nvPicPr>
          <p:cNvPr id="655361" name="Picture 1"/>
          <p:cNvPicPr>
            <a:picLocks noChangeAspect="1" noChangeArrowheads="1"/>
          </p:cNvPicPr>
          <p:nvPr/>
        </p:nvPicPr>
        <p:blipFill>
          <a:blip r:embed="rId2" cstate="print"/>
          <a:srcRect/>
          <a:stretch>
            <a:fillRect/>
          </a:stretch>
        </p:blipFill>
        <p:spPr bwMode="auto">
          <a:xfrm>
            <a:off x="106381" y="476672"/>
            <a:ext cx="9037619" cy="5832648"/>
          </a:xfrm>
          <a:prstGeom prst="rect">
            <a:avLst/>
          </a:prstGeom>
          <a:noFill/>
          <a:ln w="9525">
            <a:noFill/>
            <a:miter lim="800000"/>
            <a:headEnd/>
            <a:tailEnd/>
          </a:ln>
        </p:spPr>
      </p:pic>
    </p:spTree>
    <p:extLst>
      <p:ext uri="{BB962C8B-B14F-4D97-AF65-F5344CB8AC3E}">
        <p14:creationId xmlns:p14="http://schemas.microsoft.com/office/powerpoint/2010/main" xmlns="" val="3894999216"/>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a:t>
            </a:r>
            <a:r>
              <a:rPr lang="zh-CN" altLang="en-US" dirty="0" smtClean="0"/>
              <a:t>分配器（</a:t>
            </a:r>
            <a:r>
              <a:rPr lang="en-US" altLang="zh-CN" sz="2400" dirty="0"/>
              <a:t>DEMUX</a:t>
            </a:r>
            <a:r>
              <a:rPr lang="zh-CN" altLang="en-US" dirty="0" smtClean="0"/>
              <a:t>）</a:t>
            </a:r>
            <a:endParaRPr lang="zh-CN" altLang="en-US" dirty="0"/>
          </a:p>
        </p:txBody>
      </p:sp>
      <p:sp>
        <p:nvSpPr>
          <p:cNvPr id="3" name="内容占位符 2"/>
          <p:cNvSpPr>
            <a:spLocks noGrp="1"/>
          </p:cNvSpPr>
          <p:nvPr>
            <p:ph idx="1"/>
          </p:nvPr>
        </p:nvSpPr>
        <p:spPr>
          <a:xfrm>
            <a:off x="467544" y="1542208"/>
            <a:ext cx="8487544" cy="4911128"/>
          </a:xfrm>
        </p:spPr>
        <p:txBody>
          <a:bodyPr/>
          <a:lstStyle/>
          <a:p>
            <a:pPr>
              <a:lnSpc>
                <a:spcPct val="100000"/>
              </a:lnSpc>
              <a:spcBef>
                <a:spcPts val="600"/>
              </a:spcBef>
              <a:buSzPct val="100000"/>
              <a:buFont typeface="Wingdings" pitchFamily="2" charset="2"/>
              <a:buChar char="p"/>
            </a:pPr>
            <a:r>
              <a:rPr lang="zh-CN" altLang="en-US" sz="2800" dirty="0"/>
              <a:t>数据分配器工作原理</a:t>
            </a:r>
          </a:p>
          <a:p>
            <a:pPr lvl="1">
              <a:lnSpc>
                <a:spcPct val="100000"/>
              </a:lnSpc>
              <a:spcBef>
                <a:spcPts val="600"/>
              </a:spcBef>
              <a:buSzPct val="100000"/>
            </a:pPr>
            <a:r>
              <a:rPr lang="zh-CN" altLang="en-US" sz="2400" dirty="0"/>
              <a:t>数据传输</a:t>
            </a:r>
            <a:r>
              <a:rPr lang="zh-CN" altLang="en-US" sz="2400" dirty="0" smtClean="0"/>
              <a:t>过程中</a:t>
            </a:r>
            <a:r>
              <a:rPr lang="zh-CN" altLang="en-US" sz="2400" dirty="0"/>
              <a:t>，有时需要将</a:t>
            </a:r>
            <a:r>
              <a:rPr lang="zh-CN" altLang="en-US" sz="2400" dirty="0" smtClean="0"/>
              <a:t>数据分配</a:t>
            </a:r>
            <a:r>
              <a:rPr lang="zh-CN" altLang="en-US" sz="2400" dirty="0"/>
              <a:t>到不同的</a:t>
            </a:r>
            <a:r>
              <a:rPr lang="zh-CN" altLang="en-US" sz="2400" dirty="0" smtClean="0"/>
              <a:t>数据通道</a:t>
            </a:r>
            <a:r>
              <a:rPr lang="zh-CN" altLang="en-US" sz="2400" dirty="0"/>
              <a:t>上，能够完成</a:t>
            </a:r>
            <a:r>
              <a:rPr lang="zh-CN" altLang="en-US" sz="2400" dirty="0" smtClean="0"/>
              <a:t>这种功能</a:t>
            </a:r>
            <a:r>
              <a:rPr lang="zh-CN" altLang="en-US" sz="2400" dirty="0"/>
              <a:t>的电路称为</a:t>
            </a:r>
            <a:r>
              <a:rPr lang="zh-CN" altLang="en-US" sz="2400" dirty="0" smtClean="0">
                <a:solidFill>
                  <a:srgbClr val="0000CC"/>
                </a:solidFill>
              </a:rPr>
              <a:t>数据分配器</a:t>
            </a:r>
            <a:r>
              <a:rPr lang="zh-CN" altLang="en-US" sz="2400" dirty="0"/>
              <a:t>，亦称</a:t>
            </a:r>
            <a:r>
              <a:rPr lang="zh-CN" altLang="en-US" sz="2400" dirty="0" smtClean="0">
                <a:solidFill>
                  <a:srgbClr val="0000CC"/>
                </a:solidFill>
              </a:rPr>
              <a:t>多路分配器</a:t>
            </a:r>
            <a:r>
              <a:rPr lang="zh-CN" altLang="en-US" sz="2400" dirty="0">
                <a:solidFill>
                  <a:srgbClr val="0000CC"/>
                </a:solidFill>
              </a:rPr>
              <a:t>、多路调节器</a:t>
            </a:r>
            <a:r>
              <a:rPr lang="zh-CN" altLang="en-US" sz="2400" dirty="0" smtClean="0"/>
              <a:t>，简称</a:t>
            </a:r>
            <a:r>
              <a:rPr lang="en-US" altLang="zh-CN" sz="2400" dirty="0" smtClean="0">
                <a:solidFill>
                  <a:srgbClr val="0000CC"/>
                </a:solidFill>
              </a:rPr>
              <a:t>DEMUX</a:t>
            </a:r>
            <a:r>
              <a:rPr lang="zh-CN" altLang="en-US" sz="2400" dirty="0" smtClean="0"/>
              <a:t>（</a:t>
            </a:r>
            <a:r>
              <a:rPr lang="en-US" altLang="zh-CN" sz="2400" dirty="0">
                <a:latin typeface="黑体" pitchFamily="49" charset="-122"/>
                <a:ea typeface="黑体" pitchFamily="49" charset="-122"/>
              </a:rPr>
              <a:t> </a:t>
            </a:r>
            <a:r>
              <a:rPr lang="en-US" altLang="zh-CN" sz="2400" dirty="0" err="1">
                <a:latin typeface="黑体" pitchFamily="49" charset="-122"/>
                <a:ea typeface="黑体" pitchFamily="49" charset="-122"/>
              </a:rPr>
              <a:t>Demultiplexer</a:t>
            </a:r>
            <a:r>
              <a:rPr lang="en-US" altLang="zh-CN" sz="2400" dirty="0">
                <a:latin typeface="黑体" pitchFamily="49" charset="-122"/>
                <a:ea typeface="黑体" pitchFamily="49" charset="-122"/>
              </a:rPr>
              <a:t> </a:t>
            </a:r>
            <a:r>
              <a:rPr lang="zh-CN" altLang="en-US" sz="2400" dirty="0" smtClean="0"/>
              <a:t>），</a:t>
            </a:r>
            <a:r>
              <a:rPr lang="zh-CN" altLang="en-US" sz="2400" dirty="0"/>
              <a:t>其</a:t>
            </a:r>
            <a:r>
              <a:rPr lang="zh-CN" altLang="en-US" sz="2400" dirty="0" smtClean="0"/>
              <a:t>电路为</a:t>
            </a:r>
            <a:r>
              <a:rPr lang="zh-CN" altLang="en-US" sz="2400" dirty="0"/>
              <a:t>单输入、多输出</a:t>
            </a:r>
            <a:r>
              <a:rPr lang="zh-CN" altLang="en-US" sz="2400" dirty="0" smtClean="0"/>
              <a:t>形式。</a:t>
            </a:r>
            <a:endParaRPr lang="en-US" altLang="zh-CN" sz="2400" dirty="0" smtClean="0"/>
          </a:p>
          <a:p>
            <a:pPr lvl="1">
              <a:lnSpc>
                <a:spcPct val="100000"/>
              </a:lnSpc>
              <a:spcBef>
                <a:spcPts val="600"/>
              </a:spcBef>
              <a:buSzPct val="100000"/>
            </a:pPr>
            <a:r>
              <a:rPr lang="zh-CN" altLang="en-US" sz="2400" dirty="0" smtClean="0"/>
              <a:t>其</a:t>
            </a:r>
            <a:r>
              <a:rPr lang="zh-CN" altLang="en-US" sz="2400" dirty="0"/>
              <a:t>原理框图如</a:t>
            </a:r>
            <a:r>
              <a:rPr lang="zh-CN" altLang="en-US" sz="2400" dirty="0" smtClean="0"/>
              <a:t>图所</a:t>
            </a:r>
            <a:r>
              <a:rPr lang="zh-CN" altLang="en-US" sz="2400" dirty="0"/>
              <a:t>示。</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solidFill>
                  <a:srgbClr val="000000"/>
                </a:solidFill>
              </a:rPr>
              <a:pPr/>
              <a:t>142</a:t>
            </a:fld>
            <a:endParaRPr lang="zh-CN" altLang="en-US">
              <a:solidFill>
                <a:srgbClr val="000000"/>
              </a:solidFill>
            </a:endParaRPr>
          </a:p>
        </p:txBody>
      </p:sp>
      <p:sp>
        <p:nvSpPr>
          <p:cNvPr id="5" name="矩形 4"/>
          <p:cNvSpPr/>
          <p:nvPr/>
        </p:nvSpPr>
        <p:spPr>
          <a:xfrm>
            <a:off x="3275856" y="6237312"/>
            <a:ext cx="2334293" cy="369332"/>
          </a:xfrm>
          <a:prstGeom prst="rect">
            <a:avLst/>
          </a:prstGeom>
        </p:spPr>
        <p:txBody>
          <a:bodyPr wrap="none">
            <a:spAutoFit/>
          </a:bodyPr>
          <a:lstStyle/>
          <a:p>
            <a:r>
              <a:rPr lang="zh-CN" altLang="en-US" dirty="0" smtClean="0">
                <a:solidFill>
                  <a:srgbClr val="000000"/>
                </a:solidFill>
              </a:rPr>
              <a:t>图</a:t>
            </a:r>
            <a:r>
              <a:rPr lang="en-US" altLang="zh-CN" dirty="0" smtClean="0">
                <a:solidFill>
                  <a:srgbClr val="000000"/>
                </a:solidFill>
              </a:rPr>
              <a:t> </a:t>
            </a:r>
            <a:r>
              <a:rPr lang="zh-CN" altLang="en-US" dirty="0" smtClean="0">
                <a:solidFill>
                  <a:srgbClr val="000000"/>
                </a:solidFill>
              </a:rPr>
              <a:t>数据</a:t>
            </a:r>
            <a:r>
              <a:rPr lang="zh-CN" altLang="en-US" dirty="0">
                <a:solidFill>
                  <a:srgbClr val="000000"/>
                </a:solidFill>
              </a:rPr>
              <a:t>分配器示意图</a:t>
            </a:r>
          </a:p>
        </p:txBody>
      </p:sp>
      <p:pic>
        <p:nvPicPr>
          <p:cNvPr id="6" name="图片 5"/>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496304" y="4149080"/>
            <a:ext cx="2161492" cy="2366972"/>
          </a:xfrm>
          <a:prstGeom prst="rect">
            <a:avLst/>
          </a:prstGeom>
        </p:spPr>
      </p:pic>
      <p:cxnSp>
        <p:nvCxnSpPr>
          <p:cNvPr id="8" name="直接连接符 7"/>
          <p:cNvCxnSpPr/>
          <p:nvPr/>
        </p:nvCxnSpPr>
        <p:spPr bwMode="auto">
          <a:xfrm flipV="1">
            <a:off x="2339752" y="4912533"/>
            <a:ext cx="419722" cy="176283"/>
          </a:xfrm>
          <a:prstGeom prst="line">
            <a:avLst/>
          </a:prstGeom>
          <a:noFill/>
          <a:ln w="25400" cap="flat" cmpd="sng" algn="ctr">
            <a:solidFill>
              <a:srgbClr val="FF0000"/>
            </a:solidFill>
            <a:prstDash val="solid"/>
            <a:miter lim="800000"/>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mc:AlternateContent xmlns:mc="http://schemas.openxmlformats.org/markup-compatibility/2006">
        <mc:Choice xmlns:a14="http://schemas.microsoft.com/office/drawing/2010/main" xmlns="" Requires="a14">
          <p:sp>
            <p:nvSpPr>
              <p:cNvPr id="9" name="文本框 8"/>
              <p:cNvSpPr txBox="1"/>
              <p:nvPr/>
            </p:nvSpPr>
            <p:spPr>
              <a:xfrm>
                <a:off x="3924505" y="4355235"/>
                <a:ext cx="1329210" cy="369909"/>
              </a:xfrm>
              <a:prstGeom prst="rect">
                <a:avLst/>
              </a:prstGeom>
              <a:noFill/>
            </p:spPr>
            <p:txBody>
              <a:bodyPr wrap="none" rtlCol="0">
                <a:spAutoFit/>
              </a:bodyPr>
              <a:lstStyle/>
              <a:p>
                <a:r>
                  <a:rPr lang="en-US" altLang="zh-CN" dirty="0" smtClean="0">
                    <a:solidFill>
                      <a:srgbClr val="FF0000"/>
                    </a:solidFill>
                  </a:rPr>
                  <a:t>Y</a:t>
                </a:r>
                <a:r>
                  <a:rPr lang="en-US" altLang="zh-CN" baseline="-25000" dirty="0" smtClean="0">
                    <a:solidFill>
                      <a:srgbClr val="FF0000"/>
                    </a:solidFill>
                  </a:rPr>
                  <a:t>0</a:t>
                </a:r>
                <a:r>
                  <a:rPr lang="en-US" altLang="zh-CN" dirty="0" smtClean="0">
                    <a:solidFill>
                      <a:srgbClr val="FF0000"/>
                    </a:solidFill>
                  </a:rPr>
                  <a:t>=</a:t>
                </a:r>
                <a14:m>
                  <m:oMath xmlns:m="http://schemas.openxmlformats.org/officeDocument/2006/math">
                    <m:acc>
                      <m:accPr>
                        <m:chr m:val="̅"/>
                        <m:ctrlPr>
                          <a:rPr lang="en-US" altLang="zh-CN" i="1" smtClean="0">
                            <a:solidFill>
                              <a:srgbClr val="FF0000"/>
                            </a:solidFill>
                            <a:latin typeface="Cambria Math" panose="02040503050406030204" pitchFamily="18" charset="0"/>
                          </a:rPr>
                        </m:ctrlPr>
                      </m:accPr>
                      <m:e>
                        <m:r>
                          <m:rPr>
                            <m:sty m:val="p"/>
                          </m:rPr>
                          <a:rPr lang="en-US" altLang="zh-CN" i="1">
                            <a:solidFill>
                              <a:srgbClr val="FF0000"/>
                            </a:solidFill>
                            <a:latin typeface="Cambria Math" panose="02040503050406030204" pitchFamily="18" charset="0"/>
                          </a:rPr>
                          <m:t>A</m:t>
                        </m:r>
                        <m:r>
                          <a:rPr lang="en-US" altLang="zh-CN" i="1" baseline="-25000">
                            <a:solidFill>
                              <a:srgbClr val="FF0000"/>
                            </a:solidFill>
                            <a:latin typeface="Cambria Math" panose="02040503050406030204" pitchFamily="18" charset="0"/>
                          </a:rPr>
                          <m:t>1</m:t>
                        </m:r>
                      </m:e>
                    </m:acc>
                  </m:oMath>
                </a14:m>
                <a:r>
                  <a:rPr lang="zh-CN" altLang="en-US" dirty="0" smtClean="0">
                    <a:solidFill>
                      <a:srgbClr val="FF0000"/>
                    </a:solidFill>
                  </a:rPr>
                  <a:t> </a:t>
                </a:r>
                <a14:m>
                  <m:oMath xmlns:m="http://schemas.openxmlformats.org/officeDocument/2006/math">
                    <m:acc>
                      <m:accPr>
                        <m:chr m:val="̅"/>
                        <m:ctrlPr>
                          <a:rPr lang="zh-CN" altLang="en-US" i="1" dirty="0" smtClean="0">
                            <a:solidFill>
                              <a:srgbClr val="FF0000"/>
                            </a:solidFill>
                            <a:latin typeface="Cambria Math" panose="02040503050406030204" pitchFamily="18" charset="0"/>
                          </a:rPr>
                        </m:ctrlPr>
                      </m:accPr>
                      <m:e>
                        <m:r>
                          <m:rPr>
                            <m:sty m:val="p"/>
                          </m:rPr>
                          <a:rPr lang="en-US" altLang="zh-CN" i="1" dirty="0">
                            <a:solidFill>
                              <a:srgbClr val="FF0000"/>
                            </a:solidFill>
                            <a:latin typeface="Cambria Math" panose="02040503050406030204" pitchFamily="18" charset="0"/>
                          </a:rPr>
                          <m:t>A</m:t>
                        </m:r>
                        <m:r>
                          <a:rPr lang="en-US" altLang="zh-CN" i="1" baseline="-25000" dirty="0">
                            <a:solidFill>
                              <a:srgbClr val="FF0000"/>
                            </a:solidFill>
                            <a:latin typeface="Cambria Math" panose="02040503050406030204" pitchFamily="18" charset="0"/>
                          </a:rPr>
                          <m:t>0</m:t>
                        </m:r>
                      </m:e>
                    </m:acc>
                  </m:oMath>
                </a14:m>
                <a:r>
                  <a:rPr lang="zh-CN" altLang="en-US" dirty="0" smtClean="0">
                    <a:solidFill>
                      <a:srgbClr val="FF0000"/>
                    </a:solidFill>
                  </a:rPr>
                  <a:t> </a:t>
                </a:r>
                <a:r>
                  <a:rPr lang="en-US" altLang="zh-CN" dirty="0" smtClean="0">
                    <a:solidFill>
                      <a:srgbClr val="FF0000"/>
                    </a:solidFill>
                  </a:rPr>
                  <a:t>D</a:t>
                </a:r>
                <a:endParaRPr lang="zh-CN" altLang="en-US" dirty="0">
                  <a:solidFill>
                    <a:srgbClr val="FF0000"/>
                  </a:solidFill>
                </a:endParaRPr>
              </a:p>
            </p:txBody>
          </p:sp>
        </mc:Choice>
        <mc:Fallback>
          <p:sp>
            <p:nvSpPr>
              <p:cNvPr id="9" name="文本框 8"/>
              <p:cNvSpPr txBox="1">
                <a:spLocks noRot="1" noChangeAspect="1" noMove="1" noResize="1" noEditPoints="1" noAdjustHandles="1" noChangeArrowheads="1" noChangeShapeType="1" noTextEdit="1"/>
              </p:cNvSpPr>
              <p:nvPr/>
            </p:nvSpPr>
            <p:spPr>
              <a:xfrm>
                <a:off x="3924505" y="4355235"/>
                <a:ext cx="1329210" cy="369909"/>
              </a:xfrm>
              <a:prstGeom prst="rect">
                <a:avLst/>
              </a:prstGeom>
              <a:blipFill rotWithShape="0">
                <a:blip r:embed="rId3" cstate="print"/>
                <a:stretch>
                  <a:fillRect l="-4128" t="-8197" r="-2752" b="-24590"/>
                </a:stretch>
              </a:blipFill>
            </p:spPr>
            <p:txBody>
              <a:bodyPr/>
              <a:lstStyle/>
              <a:p>
                <a:r>
                  <a:rPr lang="zh-CN" altLang="en-US">
                    <a:noFill/>
                  </a:rPr>
                  <a:t> </a:t>
                </a:r>
              </a:p>
            </p:txBody>
          </p:sp>
        </mc:Fallback>
      </mc:AlternateContent>
      <p:cxnSp>
        <p:nvCxnSpPr>
          <p:cNvPr id="11" name="直接连接符 10"/>
          <p:cNvCxnSpPr/>
          <p:nvPr/>
        </p:nvCxnSpPr>
        <p:spPr bwMode="auto">
          <a:xfrm flipV="1">
            <a:off x="2339752" y="4725144"/>
            <a:ext cx="237298" cy="343456"/>
          </a:xfrm>
          <a:prstGeom prst="line">
            <a:avLst/>
          </a:prstGeom>
          <a:noFill/>
          <a:ln w="25400" cap="flat" cmpd="sng" algn="ctr">
            <a:solidFill>
              <a:srgbClr val="FF0000"/>
            </a:solidFill>
            <a:prstDash val="solid"/>
            <a:miter lim="800000"/>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mc:AlternateContent xmlns:mc="http://schemas.openxmlformats.org/markup-compatibility/2006">
        <mc:Choice xmlns:a14="http://schemas.microsoft.com/office/drawing/2010/main" xmlns="" Requires="a14">
          <p:sp>
            <p:nvSpPr>
              <p:cNvPr id="14" name="文本框 13"/>
              <p:cNvSpPr txBox="1"/>
              <p:nvPr/>
            </p:nvSpPr>
            <p:spPr>
              <a:xfrm>
                <a:off x="3945555" y="4704422"/>
                <a:ext cx="1292341" cy="369909"/>
              </a:xfrm>
              <a:prstGeom prst="rect">
                <a:avLst/>
              </a:prstGeom>
              <a:noFill/>
            </p:spPr>
            <p:txBody>
              <a:bodyPr wrap="none" rtlCol="0">
                <a:spAutoFit/>
              </a:bodyPr>
              <a:lstStyle/>
              <a:p>
                <a:r>
                  <a:rPr lang="en-US" altLang="zh-CN" dirty="0" smtClean="0">
                    <a:solidFill>
                      <a:srgbClr val="FF0000"/>
                    </a:solidFill>
                  </a:rPr>
                  <a:t>Y</a:t>
                </a:r>
                <a:r>
                  <a:rPr lang="en-US" altLang="zh-CN" baseline="-25000" dirty="0" smtClean="0">
                    <a:solidFill>
                      <a:srgbClr val="FF0000"/>
                    </a:solidFill>
                  </a:rPr>
                  <a:t>1</a:t>
                </a:r>
                <a:r>
                  <a:rPr lang="en-US" altLang="zh-CN" dirty="0" smtClean="0">
                    <a:solidFill>
                      <a:srgbClr val="FF0000"/>
                    </a:solidFill>
                  </a:rPr>
                  <a:t>=</a:t>
                </a:r>
                <a14:m>
                  <m:oMath xmlns:m="http://schemas.openxmlformats.org/officeDocument/2006/math">
                    <m:acc>
                      <m:accPr>
                        <m:chr m:val="̅"/>
                        <m:ctrlPr>
                          <a:rPr lang="en-US" altLang="zh-CN" i="1" smtClean="0">
                            <a:solidFill>
                              <a:srgbClr val="FF0000"/>
                            </a:solidFill>
                            <a:latin typeface="Cambria Math" panose="02040503050406030204" pitchFamily="18" charset="0"/>
                          </a:rPr>
                        </m:ctrlPr>
                      </m:accPr>
                      <m:e>
                        <m:r>
                          <m:rPr>
                            <m:sty m:val="p"/>
                          </m:rPr>
                          <a:rPr lang="en-US" altLang="zh-CN" i="1">
                            <a:solidFill>
                              <a:srgbClr val="FF0000"/>
                            </a:solidFill>
                            <a:latin typeface="Cambria Math" panose="02040503050406030204" pitchFamily="18" charset="0"/>
                          </a:rPr>
                          <m:t>A</m:t>
                        </m:r>
                        <m:r>
                          <a:rPr lang="en-US" altLang="zh-CN" i="1" baseline="-25000">
                            <a:solidFill>
                              <a:srgbClr val="FF0000"/>
                            </a:solidFill>
                            <a:latin typeface="Cambria Math" panose="02040503050406030204" pitchFamily="18" charset="0"/>
                          </a:rPr>
                          <m:t>1</m:t>
                        </m:r>
                      </m:e>
                    </m:acc>
                  </m:oMath>
                </a14:m>
                <a:r>
                  <a:rPr lang="zh-CN" altLang="en-US" dirty="0" smtClean="0">
                    <a:solidFill>
                      <a:srgbClr val="FF0000"/>
                    </a:solidFill>
                  </a:rPr>
                  <a:t> </a:t>
                </a:r>
                <a:r>
                  <a:rPr lang="en-US" altLang="zh-CN" dirty="0" smtClean="0">
                    <a:solidFill>
                      <a:srgbClr val="FF0000"/>
                    </a:solidFill>
                  </a:rPr>
                  <a:t>A</a:t>
                </a:r>
                <a:r>
                  <a:rPr lang="en-US" altLang="zh-CN" baseline="-25000" dirty="0" smtClean="0">
                    <a:solidFill>
                      <a:srgbClr val="FF0000"/>
                    </a:solidFill>
                  </a:rPr>
                  <a:t>0 </a:t>
                </a:r>
                <a:r>
                  <a:rPr lang="en-US" altLang="zh-CN" dirty="0" smtClean="0">
                    <a:solidFill>
                      <a:srgbClr val="FF0000"/>
                    </a:solidFill>
                  </a:rPr>
                  <a:t>D</a:t>
                </a:r>
                <a:endParaRPr lang="zh-CN" altLang="en-US" dirty="0">
                  <a:solidFill>
                    <a:srgbClr val="FF0000"/>
                  </a:solidFill>
                </a:endParaRPr>
              </a:p>
            </p:txBody>
          </p:sp>
        </mc:Choice>
        <mc:Fallback>
          <p:sp>
            <p:nvSpPr>
              <p:cNvPr id="14" name="文本框 13"/>
              <p:cNvSpPr txBox="1">
                <a:spLocks noRot="1" noChangeAspect="1" noMove="1" noResize="1" noEditPoints="1" noAdjustHandles="1" noChangeArrowheads="1" noChangeShapeType="1" noTextEdit="1"/>
              </p:cNvSpPr>
              <p:nvPr/>
            </p:nvSpPr>
            <p:spPr>
              <a:xfrm>
                <a:off x="3945555" y="4704422"/>
                <a:ext cx="1292341" cy="369909"/>
              </a:xfrm>
              <a:prstGeom prst="rect">
                <a:avLst/>
              </a:prstGeom>
              <a:blipFill rotWithShape="0">
                <a:blip r:embed="rId4" cstate="print"/>
                <a:stretch>
                  <a:fillRect l="-3774" t="-10000" r="-3774" b="-2666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xmlns="" Requires="a14">
          <p:sp>
            <p:nvSpPr>
              <p:cNvPr id="15" name="文本框 14"/>
              <p:cNvSpPr txBox="1"/>
              <p:nvPr/>
            </p:nvSpPr>
            <p:spPr>
              <a:xfrm>
                <a:off x="3952152" y="5013176"/>
                <a:ext cx="1374094" cy="369909"/>
              </a:xfrm>
              <a:prstGeom prst="rect">
                <a:avLst/>
              </a:prstGeom>
              <a:noFill/>
            </p:spPr>
            <p:txBody>
              <a:bodyPr wrap="none" rtlCol="0">
                <a:spAutoFit/>
              </a:bodyPr>
              <a:lstStyle/>
              <a:p>
                <a:r>
                  <a:rPr lang="en-US" altLang="zh-CN" dirty="0" smtClean="0">
                    <a:solidFill>
                      <a:srgbClr val="FF0000"/>
                    </a:solidFill>
                  </a:rPr>
                  <a:t>Y</a:t>
                </a:r>
                <a:r>
                  <a:rPr lang="en-US" altLang="zh-CN" baseline="-25000" dirty="0" smtClean="0">
                    <a:solidFill>
                      <a:srgbClr val="FF0000"/>
                    </a:solidFill>
                  </a:rPr>
                  <a:t>2</a:t>
                </a:r>
                <a:r>
                  <a:rPr lang="en-US" altLang="zh-CN" dirty="0" smtClean="0">
                    <a:solidFill>
                      <a:srgbClr val="FF0000"/>
                    </a:solidFill>
                  </a:rPr>
                  <a:t>=</a:t>
                </a:r>
                <a14:m>
                  <m:oMath xmlns:m="http://schemas.openxmlformats.org/officeDocument/2006/math">
                    <m:r>
                      <a:rPr lang="en-US" altLang="zh-CN" b="0" i="1" smtClean="0">
                        <a:solidFill>
                          <a:srgbClr val="FF0000"/>
                        </a:solidFill>
                        <a:latin typeface="Cambria Math" panose="02040503050406030204" pitchFamily="18" charset="0"/>
                      </a:rPr>
                      <m:t>𝐴</m:t>
                    </m:r>
                    <m:r>
                      <a:rPr lang="en-US" altLang="zh-CN" b="0" i="1" baseline="-25000" smtClean="0">
                        <a:solidFill>
                          <a:srgbClr val="FF0000"/>
                        </a:solidFill>
                        <a:latin typeface="Cambria Math" panose="02040503050406030204" pitchFamily="18" charset="0"/>
                      </a:rPr>
                      <m:t>1</m:t>
                    </m:r>
                  </m:oMath>
                </a14:m>
                <a:r>
                  <a:rPr lang="zh-CN" altLang="en-US" dirty="0" smtClean="0">
                    <a:solidFill>
                      <a:srgbClr val="FF0000"/>
                    </a:solidFill>
                  </a:rPr>
                  <a:t> </a:t>
                </a:r>
                <a14:m>
                  <m:oMath xmlns:m="http://schemas.openxmlformats.org/officeDocument/2006/math">
                    <m:acc>
                      <m:accPr>
                        <m:chr m:val="̅"/>
                        <m:ctrlPr>
                          <a:rPr lang="zh-CN" altLang="en-US" i="1" dirty="0" smtClean="0">
                            <a:solidFill>
                              <a:srgbClr val="FF0000"/>
                            </a:solidFill>
                            <a:latin typeface="Cambria Math" panose="02040503050406030204" pitchFamily="18" charset="0"/>
                          </a:rPr>
                        </m:ctrlPr>
                      </m:accPr>
                      <m:e>
                        <m:r>
                          <m:rPr>
                            <m:sty m:val="p"/>
                          </m:rPr>
                          <a:rPr lang="en-US" altLang="zh-CN" i="1" dirty="0">
                            <a:solidFill>
                              <a:srgbClr val="FF0000"/>
                            </a:solidFill>
                            <a:latin typeface="Cambria Math" panose="02040503050406030204" pitchFamily="18" charset="0"/>
                          </a:rPr>
                          <m:t>A</m:t>
                        </m:r>
                        <m:r>
                          <a:rPr lang="en-US" altLang="zh-CN" i="1" baseline="-25000" dirty="0">
                            <a:solidFill>
                              <a:srgbClr val="FF0000"/>
                            </a:solidFill>
                            <a:latin typeface="Cambria Math" panose="02040503050406030204" pitchFamily="18" charset="0"/>
                          </a:rPr>
                          <m:t>0</m:t>
                        </m:r>
                      </m:e>
                    </m:acc>
                  </m:oMath>
                </a14:m>
                <a:r>
                  <a:rPr lang="zh-CN" altLang="en-US" dirty="0" smtClean="0">
                    <a:solidFill>
                      <a:srgbClr val="FF0000"/>
                    </a:solidFill>
                  </a:rPr>
                  <a:t> </a:t>
                </a:r>
                <a:r>
                  <a:rPr lang="en-US" altLang="zh-CN" dirty="0" smtClean="0">
                    <a:solidFill>
                      <a:srgbClr val="FF0000"/>
                    </a:solidFill>
                  </a:rPr>
                  <a:t>D</a:t>
                </a:r>
                <a:endParaRPr lang="zh-CN" altLang="en-US" dirty="0">
                  <a:solidFill>
                    <a:srgbClr val="FF0000"/>
                  </a:solidFill>
                </a:endParaRPr>
              </a:p>
            </p:txBody>
          </p:sp>
        </mc:Choice>
        <mc:Fallback>
          <p:sp>
            <p:nvSpPr>
              <p:cNvPr id="15" name="文本框 14"/>
              <p:cNvSpPr txBox="1">
                <a:spLocks noRot="1" noChangeAspect="1" noMove="1" noResize="1" noEditPoints="1" noAdjustHandles="1" noChangeArrowheads="1" noChangeShapeType="1" noTextEdit="1"/>
              </p:cNvSpPr>
              <p:nvPr/>
            </p:nvSpPr>
            <p:spPr>
              <a:xfrm>
                <a:off x="3952152" y="5013176"/>
                <a:ext cx="1374094" cy="369909"/>
              </a:xfrm>
              <a:prstGeom prst="rect">
                <a:avLst/>
              </a:prstGeom>
              <a:blipFill rotWithShape="0">
                <a:blip r:embed="rId5" cstate="print"/>
                <a:stretch>
                  <a:fillRect l="-3540" t="-8197" b="-2459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xmlns="" Requires="a14">
          <p:sp>
            <p:nvSpPr>
              <p:cNvPr id="16" name="文本框 15"/>
              <p:cNvSpPr txBox="1"/>
              <p:nvPr/>
            </p:nvSpPr>
            <p:spPr>
              <a:xfrm>
                <a:off x="3972104" y="5347578"/>
                <a:ext cx="1188146" cy="369332"/>
              </a:xfrm>
              <a:prstGeom prst="rect">
                <a:avLst/>
              </a:prstGeom>
              <a:noFill/>
            </p:spPr>
            <p:txBody>
              <a:bodyPr wrap="none" rtlCol="0">
                <a:spAutoFit/>
              </a:bodyPr>
              <a:lstStyle/>
              <a:p>
                <a:r>
                  <a:rPr lang="en-US" altLang="zh-CN" dirty="0" smtClean="0">
                    <a:solidFill>
                      <a:srgbClr val="FF0000"/>
                    </a:solidFill>
                  </a:rPr>
                  <a:t>Y</a:t>
                </a:r>
                <a:r>
                  <a:rPr lang="en-US" altLang="zh-CN" baseline="-25000" dirty="0" smtClean="0">
                    <a:solidFill>
                      <a:srgbClr val="FF0000"/>
                    </a:solidFill>
                  </a:rPr>
                  <a:t>3</a:t>
                </a:r>
                <a:r>
                  <a:rPr lang="en-US" altLang="zh-CN" dirty="0" smtClean="0">
                    <a:solidFill>
                      <a:srgbClr val="FF0000"/>
                    </a:solidFill>
                  </a:rPr>
                  <a:t>=</a:t>
                </a:r>
                <a14:m>
                  <m:oMath xmlns:m="http://schemas.openxmlformats.org/officeDocument/2006/math">
                    <m:r>
                      <a:rPr lang="en-US" altLang="zh-CN" b="0" i="1" smtClean="0">
                        <a:solidFill>
                          <a:srgbClr val="FF0000"/>
                        </a:solidFill>
                        <a:latin typeface="Cambria Math" panose="02040503050406030204" pitchFamily="18" charset="0"/>
                      </a:rPr>
                      <m:t>𝐴</m:t>
                    </m:r>
                    <m:r>
                      <a:rPr lang="en-US" altLang="zh-CN" b="0" i="1" baseline="-25000" smtClean="0">
                        <a:solidFill>
                          <a:srgbClr val="FF0000"/>
                        </a:solidFill>
                        <a:latin typeface="Cambria Math" panose="02040503050406030204" pitchFamily="18" charset="0"/>
                      </a:rPr>
                      <m:t>1</m:t>
                    </m:r>
                    <m:r>
                      <a:rPr lang="en-US" altLang="zh-CN" b="0" i="1" smtClean="0">
                        <a:solidFill>
                          <a:srgbClr val="FF0000"/>
                        </a:solidFill>
                        <a:latin typeface="Cambria Math" panose="02040503050406030204" pitchFamily="18" charset="0"/>
                      </a:rPr>
                      <m:t>𝐴</m:t>
                    </m:r>
                    <m:r>
                      <a:rPr lang="en-US" altLang="zh-CN" b="0" i="1" baseline="-25000" smtClean="0">
                        <a:solidFill>
                          <a:srgbClr val="FF0000"/>
                        </a:solidFill>
                        <a:latin typeface="Cambria Math" panose="02040503050406030204" pitchFamily="18" charset="0"/>
                      </a:rPr>
                      <m:t>0</m:t>
                    </m:r>
                  </m:oMath>
                </a14:m>
                <a:r>
                  <a:rPr lang="en-US" altLang="zh-CN" dirty="0" smtClean="0">
                    <a:solidFill>
                      <a:srgbClr val="FF0000"/>
                    </a:solidFill>
                  </a:rPr>
                  <a:t>D</a:t>
                </a:r>
                <a:endParaRPr lang="zh-CN" altLang="en-US" dirty="0">
                  <a:solidFill>
                    <a:srgbClr val="FF0000"/>
                  </a:solidFill>
                </a:endParaRPr>
              </a:p>
            </p:txBody>
          </p:sp>
        </mc:Choice>
        <mc:Fallback>
          <p:sp>
            <p:nvSpPr>
              <p:cNvPr id="16" name="文本框 15"/>
              <p:cNvSpPr txBox="1">
                <a:spLocks noRot="1" noChangeAspect="1" noMove="1" noResize="1" noEditPoints="1" noAdjustHandles="1" noChangeArrowheads="1" noChangeShapeType="1" noTextEdit="1"/>
              </p:cNvSpPr>
              <p:nvPr/>
            </p:nvSpPr>
            <p:spPr>
              <a:xfrm>
                <a:off x="3972104" y="5347578"/>
                <a:ext cx="1188146" cy="369332"/>
              </a:xfrm>
              <a:prstGeom prst="rect">
                <a:avLst/>
              </a:prstGeom>
              <a:blipFill rotWithShape="0">
                <a:blip r:embed="rId6" cstate="print"/>
                <a:stretch>
                  <a:fillRect l="-4639" t="-8197" r="-4639" b="-24590"/>
                </a:stretch>
              </a:blipFill>
            </p:spPr>
            <p:txBody>
              <a:bodyPr/>
              <a:lstStyle/>
              <a:p>
                <a:r>
                  <a:rPr lang="zh-CN" altLang="en-US">
                    <a:noFill/>
                  </a:rPr>
                  <a:t> </a:t>
                </a:r>
              </a:p>
            </p:txBody>
          </p:sp>
        </mc:Fallback>
      </mc:AlternateContent>
      <p:sp>
        <p:nvSpPr>
          <p:cNvPr id="13" name="文本框 12"/>
          <p:cNvSpPr txBox="1"/>
          <p:nvPr/>
        </p:nvSpPr>
        <p:spPr>
          <a:xfrm>
            <a:off x="3338803" y="4727867"/>
            <a:ext cx="381836" cy="307777"/>
          </a:xfrm>
          <a:prstGeom prst="rect">
            <a:avLst/>
          </a:prstGeom>
          <a:noFill/>
        </p:spPr>
        <p:txBody>
          <a:bodyPr wrap="none" rtlCol="0">
            <a:spAutoFit/>
          </a:bodyPr>
          <a:lstStyle/>
          <a:p>
            <a:r>
              <a:rPr lang="en-US" altLang="zh-CN" sz="1400" b="1" dirty="0" smtClean="0"/>
              <a:t>Y</a:t>
            </a:r>
            <a:r>
              <a:rPr lang="en-US" altLang="zh-CN" sz="1400" b="1" baseline="-25000" dirty="0" smtClean="0"/>
              <a:t>1</a:t>
            </a:r>
            <a:endParaRPr lang="zh-CN" altLang="en-US" sz="1400" b="1" baseline="-25000" dirty="0"/>
          </a:p>
        </p:txBody>
      </p:sp>
      <p:sp>
        <p:nvSpPr>
          <p:cNvPr id="18" name="文本框 17"/>
          <p:cNvSpPr txBox="1"/>
          <p:nvPr/>
        </p:nvSpPr>
        <p:spPr>
          <a:xfrm>
            <a:off x="3354283" y="5034031"/>
            <a:ext cx="381836" cy="307777"/>
          </a:xfrm>
          <a:prstGeom prst="rect">
            <a:avLst/>
          </a:prstGeom>
          <a:noFill/>
        </p:spPr>
        <p:txBody>
          <a:bodyPr wrap="none" rtlCol="0">
            <a:spAutoFit/>
          </a:bodyPr>
          <a:lstStyle/>
          <a:p>
            <a:r>
              <a:rPr lang="en-US" altLang="zh-CN" sz="1400" b="1" dirty="0" smtClean="0"/>
              <a:t>Y</a:t>
            </a:r>
            <a:r>
              <a:rPr lang="en-US" altLang="zh-CN" sz="1400" b="1" baseline="-25000" dirty="0" smtClean="0"/>
              <a:t>2</a:t>
            </a:r>
            <a:endParaRPr lang="zh-CN" altLang="en-US" sz="1400" b="1" baseline="-25000" dirty="0"/>
          </a:p>
        </p:txBody>
      </p:sp>
      <p:sp>
        <p:nvSpPr>
          <p:cNvPr id="19" name="文本框 18"/>
          <p:cNvSpPr txBox="1"/>
          <p:nvPr/>
        </p:nvSpPr>
        <p:spPr>
          <a:xfrm>
            <a:off x="3362829" y="5283630"/>
            <a:ext cx="381836" cy="307777"/>
          </a:xfrm>
          <a:prstGeom prst="rect">
            <a:avLst/>
          </a:prstGeom>
          <a:noFill/>
        </p:spPr>
        <p:txBody>
          <a:bodyPr wrap="none" rtlCol="0">
            <a:spAutoFit/>
          </a:bodyPr>
          <a:lstStyle/>
          <a:p>
            <a:r>
              <a:rPr lang="en-US" altLang="zh-CN" sz="1400" b="1" dirty="0" smtClean="0"/>
              <a:t>Y</a:t>
            </a:r>
            <a:r>
              <a:rPr lang="en-US" altLang="zh-CN" sz="1400" b="1" baseline="-25000" dirty="0" smtClean="0"/>
              <a:t>3</a:t>
            </a:r>
            <a:endParaRPr lang="zh-CN" altLang="en-US" sz="1400" b="1" baseline="-25000" dirty="0"/>
          </a:p>
        </p:txBody>
      </p:sp>
      <p:cxnSp>
        <p:nvCxnSpPr>
          <p:cNvPr id="20" name="直接连接符 19"/>
          <p:cNvCxnSpPr/>
          <p:nvPr/>
        </p:nvCxnSpPr>
        <p:spPr bwMode="auto">
          <a:xfrm>
            <a:off x="2326675" y="5124475"/>
            <a:ext cx="457568" cy="34022"/>
          </a:xfrm>
          <a:prstGeom prst="line">
            <a:avLst/>
          </a:prstGeom>
          <a:noFill/>
          <a:ln w="25400" cap="flat" cmpd="sng" algn="ctr">
            <a:solidFill>
              <a:srgbClr val="FF0000"/>
            </a:solidFill>
            <a:prstDash val="solid"/>
            <a:miter lim="800000"/>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1" name="直接连接符 20"/>
          <p:cNvCxnSpPr/>
          <p:nvPr/>
        </p:nvCxnSpPr>
        <p:spPr bwMode="auto">
          <a:xfrm>
            <a:off x="2326675" y="5151532"/>
            <a:ext cx="341587" cy="285987"/>
          </a:xfrm>
          <a:prstGeom prst="line">
            <a:avLst/>
          </a:prstGeom>
          <a:noFill/>
          <a:ln w="25400" cap="flat" cmpd="sng" algn="ctr">
            <a:solidFill>
              <a:srgbClr val="FF0000"/>
            </a:solidFill>
            <a:prstDash val="solid"/>
            <a:miter lim="800000"/>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2" name="标题 1"/>
          <p:cNvSpPr txBox="1">
            <a:spLocks/>
          </p:cNvSpPr>
          <p:nvPr/>
        </p:nvSpPr>
        <p:spPr bwMode="auto">
          <a:xfrm>
            <a:off x="1259632" y="0"/>
            <a:ext cx="7016824" cy="63894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fontAlgn="base">
              <a:spcBef>
                <a:spcPct val="0"/>
              </a:spcBef>
              <a:spcAft>
                <a:spcPct val="0"/>
              </a:spcAft>
              <a:defRPr/>
            </a:pP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第</a:t>
            </a:r>
            <a:r>
              <a:rPr kumimoji="1" lang="en-US" altLang="zh-CN" sz="3600" b="1" kern="0" dirty="0" smtClean="0">
                <a:solidFill>
                  <a:schemeClr val="tx2"/>
                </a:solidFill>
                <a:latin typeface="+mj-lt"/>
                <a:ea typeface="+mj-ea"/>
                <a:cs typeface="+mj-cs"/>
              </a:rPr>
              <a:t>4</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章　组合</a:t>
            </a:r>
            <a:r>
              <a:rPr kumimoji="1" lang="zh-CN" altLang="en-US" sz="3600" b="1" kern="0" dirty="0" smtClean="0">
                <a:solidFill>
                  <a:schemeClr val="tx2"/>
                </a:solidFill>
              </a:rPr>
              <a:t>逻辑</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电路</a:t>
            </a:r>
            <a:endParaRPr kumimoji="1" lang="zh-CN" altLang="en-US" sz="36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2423717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xit" presetSubtype="0" fill="hold" nodeType="withEffect">
                                  <p:stCondLst>
                                    <p:cond delay="0"/>
                                  </p:stCondLst>
                                  <p:childTnLst>
                                    <p:set>
                                      <p:cBhvr>
                                        <p:cTn id="14" dur="1" fill="hold">
                                          <p:stCondLst>
                                            <p:cond delay="0"/>
                                          </p:stCondLst>
                                        </p:cTn>
                                        <p:tgtEl>
                                          <p:spTgt spid="11"/>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8"/>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xit" presetSubtype="0" fill="hold"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4" grpId="0" animBg="1"/>
      <p:bldP spid="15" grpId="0" animBg="1"/>
      <p:bldP spid="16" grpId="0" animBg="1"/>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数据分配器（</a:t>
            </a:r>
            <a:r>
              <a:rPr lang="en-US" altLang="zh-CN" sz="2400" dirty="0"/>
              <a:t>DEMUX</a:t>
            </a:r>
            <a:r>
              <a:rPr lang="zh-CN" altLang="en-US" dirty="0"/>
              <a:t>）</a:t>
            </a:r>
          </a:p>
        </p:txBody>
      </p:sp>
      <p:sp>
        <p:nvSpPr>
          <p:cNvPr id="3" name="内容占位符 2"/>
          <p:cNvSpPr>
            <a:spLocks noGrp="1"/>
          </p:cNvSpPr>
          <p:nvPr>
            <p:ph idx="1"/>
          </p:nvPr>
        </p:nvSpPr>
        <p:spPr>
          <a:xfrm>
            <a:off x="539552" y="1556792"/>
            <a:ext cx="8208912" cy="4911128"/>
          </a:xfrm>
        </p:spPr>
        <p:txBody>
          <a:bodyPr/>
          <a:lstStyle/>
          <a:p>
            <a:pPr>
              <a:lnSpc>
                <a:spcPct val="100000"/>
              </a:lnSpc>
              <a:spcBef>
                <a:spcPts val="600"/>
              </a:spcBef>
              <a:buSzPct val="100000"/>
              <a:buFont typeface="Wingdings" pitchFamily="2" charset="2"/>
              <a:buChar char="p"/>
            </a:pPr>
            <a:r>
              <a:rPr lang="zh-CN" altLang="en-US" sz="2800" dirty="0"/>
              <a:t>数据分配器门级电路设计</a:t>
            </a:r>
            <a:r>
              <a:rPr lang="zh-CN" altLang="en-US" sz="2800" dirty="0" smtClean="0"/>
              <a:t>举例</a:t>
            </a:r>
            <a:endParaRPr lang="en-US" altLang="zh-CN" sz="2800" dirty="0" smtClean="0"/>
          </a:p>
          <a:p>
            <a:pPr lvl="1">
              <a:lnSpc>
                <a:spcPct val="100000"/>
              </a:lnSpc>
              <a:spcBef>
                <a:spcPts val="600"/>
              </a:spcBef>
              <a:buSzPct val="100000"/>
            </a:pPr>
            <a:r>
              <a:rPr lang="zh-CN" altLang="en-US" sz="2400" dirty="0" smtClean="0"/>
              <a:t>试用门电路设计一个</a:t>
            </a:r>
            <a:r>
              <a:rPr lang="en-US" altLang="zh-CN" sz="2400" dirty="0" smtClean="0"/>
              <a:t>1</a:t>
            </a:r>
            <a:r>
              <a:rPr lang="zh-CN" altLang="en-US" sz="2400" dirty="0" smtClean="0"/>
              <a:t>路</a:t>
            </a:r>
            <a:r>
              <a:rPr lang="en-US" altLang="zh-CN" sz="2400" dirty="0" smtClean="0"/>
              <a:t>-4</a:t>
            </a:r>
            <a:r>
              <a:rPr lang="zh-CN" altLang="en-US" sz="2400" dirty="0" smtClean="0"/>
              <a:t>路数据分配器。</a:t>
            </a:r>
            <a:endParaRPr lang="en-US" altLang="zh-CN" sz="2400" dirty="0" smtClean="0"/>
          </a:p>
          <a:p>
            <a:pPr marL="457200" lvl="1" indent="0">
              <a:lnSpc>
                <a:spcPct val="100000"/>
              </a:lnSpc>
              <a:spcBef>
                <a:spcPts val="600"/>
              </a:spcBef>
              <a:buNone/>
            </a:pPr>
            <a:r>
              <a:rPr lang="zh-CN" altLang="en-US" dirty="0"/>
              <a:t>解：</a:t>
            </a:r>
          </a:p>
          <a:p>
            <a:pPr lvl="1"/>
            <a:endParaRPr lang="zh-CN" altLang="en-US" b="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solidFill>
                  <a:srgbClr val="000000"/>
                </a:solidFill>
              </a:rPr>
              <a:pPr/>
              <a:t>143</a:t>
            </a:fld>
            <a:endParaRPr lang="zh-CN" altLang="en-US">
              <a:solidFill>
                <a:srgbClr val="000000"/>
              </a:solidFill>
            </a:endParaRPr>
          </a:p>
        </p:txBody>
      </p:sp>
      <p:sp>
        <p:nvSpPr>
          <p:cNvPr id="5" name="矩形 4"/>
          <p:cNvSpPr/>
          <p:nvPr/>
        </p:nvSpPr>
        <p:spPr>
          <a:xfrm>
            <a:off x="1259632" y="2991395"/>
            <a:ext cx="3312368" cy="2600712"/>
          </a:xfrm>
          <a:prstGeom prst="rect">
            <a:avLst/>
          </a:prstGeom>
        </p:spPr>
        <p:txBody>
          <a:bodyPr wrap="square">
            <a:spAutoFit/>
          </a:bodyPr>
          <a:lstStyle/>
          <a:p>
            <a:pPr>
              <a:spcBef>
                <a:spcPts val="600"/>
              </a:spcBef>
            </a:pPr>
            <a:r>
              <a:rPr lang="en-US" altLang="zh-CN" sz="2400" b="1" dirty="0">
                <a:solidFill>
                  <a:srgbClr val="000000"/>
                </a:solidFill>
              </a:rPr>
              <a:t>(1) </a:t>
            </a:r>
            <a:r>
              <a:rPr lang="zh-CN" altLang="en-US" sz="2400" b="1" dirty="0">
                <a:solidFill>
                  <a:srgbClr val="000000"/>
                </a:solidFill>
              </a:rPr>
              <a:t>逻辑抽象</a:t>
            </a:r>
          </a:p>
          <a:p>
            <a:pPr>
              <a:spcBef>
                <a:spcPts val="600"/>
              </a:spcBef>
              <a:buClr>
                <a:srgbClr val="0000CC"/>
              </a:buClr>
              <a:buFont typeface="Wingdings" pitchFamily="2" charset="2"/>
              <a:buChar char="u"/>
            </a:pPr>
            <a:r>
              <a:rPr lang="zh-CN" altLang="en-US" sz="2000" b="1" dirty="0" smtClean="0">
                <a:solidFill>
                  <a:srgbClr val="000000"/>
                </a:solidFill>
              </a:rPr>
              <a:t> </a:t>
            </a:r>
            <a:r>
              <a:rPr lang="zh-CN" altLang="en-US" sz="2000" b="1" dirty="0">
                <a:solidFill>
                  <a:srgbClr val="000000"/>
                </a:solidFill>
              </a:rPr>
              <a:t>输入信号：</a:t>
            </a:r>
            <a:r>
              <a:rPr lang="en-US" altLang="zh-CN" sz="2000" b="1" dirty="0">
                <a:solidFill>
                  <a:srgbClr val="000000"/>
                </a:solidFill>
              </a:rPr>
              <a:t>1</a:t>
            </a:r>
            <a:r>
              <a:rPr lang="zh-CN" altLang="en-US" sz="2000" b="1" dirty="0">
                <a:solidFill>
                  <a:srgbClr val="000000"/>
                </a:solidFill>
              </a:rPr>
              <a:t>路</a:t>
            </a:r>
            <a:r>
              <a:rPr lang="zh-CN" altLang="en-US" sz="2000" b="1" dirty="0" smtClean="0">
                <a:solidFill>
                  <a:srgbClr val="000000"/>
                </a:solidFill>
              </a:rPr>
              <a:t>输入数据</a:t>
            </a:r>
            <a:r>
              <a:rPr lang="zh-CN" altLang="en-US" sz="2000" b="1" dirty="0">
                <a:solidFill>
                  <a:srgbClr val="000000"/>
                </a:solidFill>
              </a:rPr>
              <a:t>，用</a:t>
            </a:r>
            <a:r>
              <a:rPr lang="en-US" altLang="zh-CN" sz="2000" b="1" dirty="0">
                <a:solidFill>
                  <a:srgbClr val="000000"/>
                </a:solidFill>
              </a:rPr>
              <a:t>D</a:t>
            </a:r>
            <a:r>
              <a:rPr lang="zh-CN" altLang="en-US" sz="2000" b="1" dirty="0">
                <a:solidFill>
                  <a:srgbClr val="000000"/>
                </a:solidFill>
              </a:rPr>
              <a:t>表示；</a:t>
            </a:r>
          </a:p>
          <a:p>
            <a:pPr>
              <a:spcBef>
                <a:spcPts val="600"/>
              </a:spcBef>
              <a:buClr>
                <a:srgbClr val="0000CC"/>
              </a:buClr>
              <a:buFont typeface="Wingdings" pitchFamily="2" charset="2"/>
              <a:buChar char="u"/>
            </a:pPr>
            <a:r>
              <a:rPr lang="zh-CN" altLang="en-US" sz="2000" b="1" dirty="0" smtClean="0">
                <a:solidFill>
                  <a:srgbClr val="000000"/>
                </a:solidFill>
              </a:rPr>
              <a:t> </a:t>
            </a:r>
            <a:r>
              <a:rPr lang="en-US" altLang="zh-CN" sz="2000" b="1" dirty="0">
                <a:solidFill>
                  <a:srgbClr val="000000"/>
                </a:solidFill>
              </a:rPr>
              <a:t>4</a:t>
            </a:r>
            <a:r>
              <a:rPr lang="zh-CN" altLang="en-US" sz="2000" b="1" dirty="0">
                <a:solidFill>
                  <a:srgbClr val="000000"/>
                </a:solidFill>
              </a:rPr>
              <a:t>个数据输出端，</a:t>
            </a:r>
            <a:r>
              <a:rPr lang="zh-CN" altLang="en-US" sz="2000" b="1" dirty="0" smtClean="0">
                <a:solidFill>
                  <a:srgbClr val="000000"/>
                </a:solidFill>
              </a:rPr>
              <a:t>用</a:t>
            </a:r>
            <a:r>
              <a:rPr lang="es-ES" altLang="zh-CN" sz="2000" b="1" dirty="0" smtClean="0">
                <a:solidFill>
                  <a:srgbClr val="000000"/>
                </a:solidFill>
              </a:rPr>
              <a:t>Y0</a:t>
            </a:r>
            <a:r>
              <a:rPr lang="zh-CN" altLang="es-ES" sz="2000" b="1" dirty="0">
                <a:solidFill>
                  <a:srgbClr val="000000"/>
                </a:solidFill>
              </a:rPr>
              <a:t>、</a:t>
            </a:r>
            <a:r>
              <a:rPr lang="es-ES" altLang="zh-CN" sz="2000" b="1" dirty="0">
                <a:solidFill>
                  <a:srgbClr val="000000"/>
                </a:solidFill>
              </a:rPr>
              <a:t>Y1</a:t>
            </a:r>
            <a:r>
              <a:rPr lang="zh-CN" altLang="es-ES" sz="2000" b="1" dirty="0">
                <a:solidFill>
                  <a:srgbClr val="000000"/>
                </a:solidFill>
              </a:rPr>
              <a:t>、</a:t>
            </a:r>
            <a:r>
              <a:rPr lang="es-ES" altLang="zh-CN" sz="2000" b="1" dirty="0">
                <a:solidFill>
                  <a:srgbClr val="000000"/>
                </a:solidFill>
              </a:rPr>
              <a:t>Y2</a:t>
            </a:r>
            <a:r>
              <a:rPr lang="zh-CN" altLang="es-ES" sz="2000" b="1" dirty="0">
                <a:solidFill>
                  <a:srgbClr val="000000"/>
                </a:solidFill>
              </a:rPr>
              <a:t>、</a:t>
            </a:r>
            <a:r>
              <a:rPr lang="es-ES" altLang="zh-CN" sz="2000" b="1" dirty="0">
                <a:solidFill>
                  <a:srgbClr val="000000"/>
                </a:solidFill>
              </a:rPr>
              <a:t>Y3</a:t>
            </a:r>
            <a:r>
              <a:rPr lang="zh-CN" altLang="es-ES" sz="2000" b="1" dirty="0">
                <a:solidFill>
                  <a:srgbClr val="000000"/>
                </a:solidFill>
              </a:rPr>
              <a:t>表示；</a:t>
            </a:r>
          </a:p>
          <a:p>
            <a:pPr>
              <a:spcBef>
                <a:spcPts val="600"/>
              </a:spcBef>
              <a:buClr>
                <a:srgbClr val="0000CC"/>
              </a:buClr>
              <a:buFont typeface="Wingdings" pitchFamily="2" charset="2"/>
              <a:buChar char="u"/>
            </a:pPr>
            <a:r>
              <a:rPr lang="en-US" altLang="zh-CN" sz="2000" b="1" dirty="0" smtClean="0">
                <a:solidFill>
                  <a:srgbClr val="000000"/>
                </a:solidFill>
              </a:rPr>
              <a:t>2</a:t>
            </a:r>
            <a:r>
              <a:rPr lang="zh-CN" altLang="en-US" sz="2000" b="1" dirty="0">
                <a:solidFill>
                  <a:srgbClr val="000000"/>
                </a:solidFill>
              </a:rPr>
              <a:t>个选择控制信号</a:t>
            </a:r>
            <a:r>
              <a:rPr lang="zh-CN" altLang="en-US" sz="2000" b="1" dirty="0" smtClean="0">
                <a:solidFill>
                  <a:srgbClr val="000000"/>
                </a:solidFill>
              </a:rPr>
              <a:t>，用</a:t>
            </a:r>
            <a:r>
              <a:rPr lang="en-US" altLang="zh-CN" sz="2000" b="1" dirty="0">
                <a:solidFill>
                  <a:srgbClr val="000000"/>
                </a:solidFill>
              </a:rPr>
              <a:t>A0</a:t>
            </a:r>
            <a:r>
              <a:rPr lang="zh-CN" altLang="en-US" sz="2000" b="1" dirty="0">
                <a:solidFill>
                  <a:srgbClr val="000000"/>
                </a:solidFill>
              </a:rPr>
              <a:t>、</a:t>
            </a:r>
            <a:r>
              <a:rPr lang="en-US" altLang="zh-CN" sz="2000" b="1" dirty="0">
                <a:solidFill>
                  <a:srgbClr val="000000"/>
                </a:solidFill>
              </a:rPr>
              <a:t>A1</a:t>
            </a:r>
            <a:r>
              <a:rPr lang="zh-CN" altLang="en-US" sz="2000" b="1" dirty="0">
                <a:solidFill>
                  <a:srgbClr val="000000"/>
                </a:solidFill>
              </a:rPr>
              <a:t>表示</a:t>
            </a:r>
            <a:r>
              <a:rPr lang="zh-CN" altLang="en-US" sz="2000" b="1" dirty="0" smtClean="0">
                <a:solidFill>
                  <a:srgbClr val="000000"/>
                </a:solidFill>
              </a:rPr>
              <a:t>。</a:t>
            </a:r>
            <a:endParaRPr lang="zh-CN" altLang="en-US" sz="2000" b="1" dirty="0">
              <a:solidFill>
                <a:srgbClr val="000000"/>
              </a:solidFill>
            </a:endParaRPr>
          </a:p>
        </p:txBody>
      </p:sp>
      <p:pic>
        <p:nvPicPr>
          <p:cNvPr id="1945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854172" y="3573016"/>
            <a:ext cx="3552787" cy="2160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矩形 5"/>
          <p:cNvSpPr/>
          <p:nvPr/>
        </p:nvSpPr>
        <p:spPr>
          <a:xfrm>
            <a:off x="5076056" y="3059668"/>
            <a:ext cx="2424062" cy="369332"/>
          </a:xfrm>
          <a:prstGeom prst="rect">
            <a:avLst/>
          </a:prstGeom>
        </p:spPr>
        <p:txBody>
          <a:bodyPr wrap="none">
            <a:spAutoFit/>
          </a:bodyPr>
          <a:lstStyle/>
          <a:p>
            <a:r>
              <a:rPr lang="zh-CN" altLang="en-US" b="1" dirty="0">
                <a:solidFill>
                  <a:srgbClr val="000000"/>
                </a:solidFill>
              </a:rPr>
              <a:t>（</a:t>
            </a:r>
            <a:r>
              <a:rPr lang="en-US" altLang="zh-CN" b="1" dirty="0">
                <a:solidFill>
                  <a:srgbClr val="000000"/>
                </a:solidFill>
              </a:rPr>
              <a:t>2</a:t>
            </a:r>
            <a:r>
              <a:rPr lang="zh-CN" altLang="en-US" b="1" dirty="0">
                <a:solidFill>
                  <a:srgbClr val="000000"/>
                </a:solidFill>
              </a:rPr>
              <a:t>）列真值表如下：</a:t>
            </a:r>
          </a:p>
        </p:txBody>
      </p:sp>
      <p:sp>
        <p:nvSpPr>
          <p:cNvPr id="8" name="标题 1"/>
          <p:cNvSpPr txBox="1">
            <a:spLocks/>
          </p:cNvSpPr>
          <p:nvPr/>
        </p:nvSpPr>
        <p:spPr bwMode="auto">
          <a:xfrm>
            <a:off x="1259632" y="0"/>
            <a:ext cx="7016824" cy="63894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fontAlgn="base">
              <a:spcBef>
                <a:spcPct val="0"/>
              </a:spcBef>
              <a:spcAft>
                <a:spcPct val="0"/>
              </a:spcAft>
              <a:defRPr/>
            </a:pP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第</a:t>
            </a:r>
            <a:r>
              <a:rPr kumimoji="1" lang="en-US" altLang="zh-CN" sz="3600" b="1" kern="0" dirty="0" smtClean="0">
                <a:solidFill>
                  <a:schemeClr val="tx2"/>
                </a:solidFill>
                <a:latin typeface="+mj-lt"/>
                <a:ea typeface="+mj-ea"/>
                <a:cs typeface="+mj-cs"/>
              </a:rPr>
              <a:t>4</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章　组合</a:t>
            </a:r>
            <a:r>
              <a:rPr kumimoji="1" lang="zh-CN" altLang="en-US" sz="3600" b="1" kern="0" dirty="0" smtClean="0">
                <a:solidFill>
                  <a:schemeClr val="tx2"/>
                </a:solidFill>
              </a:rPr>
              <a:t>逻辑</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电路</a:t>
            </a:r>
            <a:endParaRPr kumimoji="1" lang="zh-CN" altLang="en-US" sz="36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1736461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数据分配器（</a:t>
            </a:r>
            <a:r>
              <a:rPr lang="en-US" altLang="zh-CN" sz="2400" dirty="0"/>
              <a:t>DEMUX</a:t>
            </a:r>
            <a:r>
              <a:rPr lang="zh-CN" altLang="en-US" dirty="0"/>
              <a:t>）</a:t>
            </a:r>
          </a:p>
        </p:txBody>
      </p:sp>
      <p:sp>
        <p:nvSpPr>
          <p:cNvPr id="3" name="内容占位符 2"/>
          <p:cNvSpPr>
            <a:spLocks noGrp="1"/>
          </p:cNvSpPr>
          <p:nvPr>
            <p:ph idx="1"/>
          </p:nvPr>
        </p:nvSpPr>
        <p:spPr/>
        <p:txBody>
          <a:bodyPr/>
          <a:lstStyle/>
          <a:p>
            <a:pPr marL="0" indent="0">
              <a:buNone/>
            </a:pPr>
            <a:r>
              <a:rPr lang="en-US" altLang="zh-CN" dirty="0"/>
              <a:t>(3) </a:t>
            </a:r>
            <a:r>
              <a:rPr lang="zh-CN" altLang="en-US" dirty="0"/>
              <a:t>写逻辑表达</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solidFill>
                  <a:srgbClr val="000000"/>
                </a:solidFill>
              </a:rPr>
              <a:pPr/>
              <a:t>144</a:t>
            </a:fld>
            <a:endParaRPr lang="zh-CN" altLang="en-US">
              <a:solidFill>
                <a:srgbClr val="000000"/>
              </a:solidFill>
            </a:endParaRPr>
          </a:p>
        </p:txBody>
      </p:sp>
      <p:pic>
        <p:nvPicPr>
          <p:cNvPr id="20483"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21363" y="4437112"/>
            <a:ext cx="2001803" cy="2160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5" name="TextBox 4"/>
          <p:cNvSpPr txBox="1"/>
          <p:nvPr/>
        </p:nvSpPr>
        <p:spPr>
          <a:xfrm>
            <a:off x="412086" y="5301208"/>
            <a:ext cx="415498" cy="369332"/>
          </a:xfrm>
          <a:prstGeom prst="rect">
            <a:avLst/>
          </a:prstGeom>
          <a:noFill/>
        </p:spPr>
        <p:txBody>
          <a:bodyPr wrap="none" rtlCol="0">
            <a:spAutoFit/>
          </a:bodyPr>
          <a:lstStyle/>
          <a:p>
            <a:r>
              <a:rPr lang="zh-CN" altLang="en-US" b="1" dirty="0" smtClean="0">
                <a:solidFill>
                  <a:srgbClr val="000000"/>
                </a:solidFill>
              </a:rPr>
              <a:t>或</a:t>
            </a:r>
            <a:endParaRPr lang="zh-CN" altLang="en-US" b="1" dirty="0">
              <a:solidFill>
                <a:srgbClr val="000000"/>
              </a:solidFill>
            </a:endParaRPr>
          </a:p>
        </p:txBody>
      </p:sp>
      <p:sp>
        <p:nvSpPr>
          <p:cNvPr id="6" name="矩形 5"/>
          <p:cNvSpPr/>
          <p:nvPr/>
        </p:nvSpPr>
        <p:spPr>
          <a:xfrm>
            <a:off x="5652120" y="1556792"/>
            <a:ext cx="1986441" cy="461665"/>
          </a:xfrm>
          <a:prstGeom prst="rect">
            <a:avLst/>
          </a:prstGeom>
        </p:spPr>
        <p:txBody>
          <a:bodyPr wrap="none">
            <a:spAutoFit/>
          </a:bodyPr>
          <a:lstStyle/>
          <a:p>
            <a:r>
              <a:rPr lang="en-US" altLang="zh-CN" sz="2400" b="1" dirty="0">
                <a:solidFill>
                  <a:srgbClr val="000000"/>
                </a:solidFill>
              </a:rPr>
              <a:t>(4) </a:t>
            </a:r>
            <a:r>
              <a:rPr lang="zh-CN" altLang="en-US" sz="2400" b="1" dirty="0">
                <a:solidFill>
                  <a:srgbClr val="000000"/>
                </a:solidFill>
              </a:rPr>
              <a:t>画逻辑图</a:t>
            </a:r>
          </a:p>
        </p:txBody>
      </p:sp>
      <p:pic>
        <p:nvPicPr>
          <p:cNvPr id="20484" name="Picture 4" descr="E:\wrj\课件\数字电路与系统\数字电路与数字系统\tupian\4-20.jp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923928" y="2386681"/>
            <a:ext cx="4655433" cy="3456000"/>
          </a:xfrm>
          <a:prstGeom prst="rect">
            <a:avLst/>
          </a:prstGeom>
          <a:noFill/>
          <a:extLst>
            <a:ext uri="{909E8E84-426E-40DD-AFC4-6F175D3DCCD1}">
              <a14:hiddenFill xmlns:a14="http://schemas.microsoft.com/office/drawing/2010/main" xmlns="">
                <a:solidFill>
                  <a:srgbClr val="FFFFFF"/>
                </a:solidFill>
              </a14:hiddenFill>
            </a:ext>
          </a:extLst>
        </p:spPr>
      </p:pic>
      <p:sp>
        <p:nvSpPr>
          <p:cNvPr id="7" name="矩形 6"/>
          <p:cNvSpPr/>
          <p:nvPr/>
        </p:nvSpPr>
        <p:spPr>
          <a:xfrm>
            <a:off x="4134920" y="5939988"/>
            <a:ext cx="4572000" cy="369332"/>
          </a:xfrm>
          <a:prstGeom prst="rect">
            <a:avLst/>
          </a:prstGeom>
        </p:spPr>
        <p:txBody>
          <a:bodyPr>
            <a:spAutoFit/>
          </a:bodyPr>
          <a:lstStyle/>
          <a:p>
            <a:r>
              <a:rPr lang="zh-CN" altLang="en-US" b="1" dirty="0" smtClean="0">
                <a:solidFill>
                  <a:srgbClr val="000000"/>
                </a:solidFill>
              </a:rPr>
              <a:t>图</a:t>
            </a:r>
            <a:r>
              <a:rPr lang="en-US" altLang="zh-CN" b="1" dirty="0" smtClean="0">
                <a:solidFill>
                  <a:srgbClr val="000000"/>
                </a:solidFill>
              </a:rPr>
              <a:t>  </a:t>
            </a:r>
            <a:r>
              <a:rPr lang="en-US" altLang="zh-CN" b="1" dirty="0">
                <a:solidFill>
                  <a:srgbClr val="000000"/>
                </a:solidFill>
              </a:rPr>
              <a:t>1</a:t>
            </a:r>
            <a:r>
              <a:rPr lang="zh-CN" altLang="en-US" b="1" dirty="0">
                <a:solidFill>
                  <a:srgbClr val="000000"/>
                </a:solidFill>
              </a:rPr>
              <a:t>路</a:t>
            </a:r>
            <a:r>
              <a:rPr lang="en-US" altLang="zh-CN" b="1" dirty="0">
                <a:solidFill>
                  <a:srgbClr val="000000"/>
                </a:solidFill>
              </a:rPr>
              <a:t>-4</a:t>
            </a:r>
            <a:r>
              <a:rPr lang="zh-CN" altLang="en-US" b="1" dirty="0">
                <a:solidFill>
                  <a:srgbClr val="000000"/>
                </a:solidFill>
              </a:rPr>
              <a:t>路数据分配器</a:t>
            </a:r>
            <a:r>
              <a:rPr lang="zh-CN" altLang="en-US" b="1" dirty="0" smtClean="0">
                <a:solidFill>
                  <a:srgbClr val="000000"/>
                </a:solidFill>
              </a:rPr>
              <a:t>门级</a:t>
            </a:r>
            <a:r>
              <a:rPr lang="zh-CN" altLang="en-US" b="1" dirty="0">
                <a:solidFill>
                  <a:srgbClr val="000000"/>
                </a:solidFill>
              </a:rPr>
              <a:t>逻辑电路图</a:t>
            </a:r>
          </a:p>
        </p:txBody>
      </p:sp>
      <p:sp>
        <p:nvSpPr>
          <p:cNvPr id="11" name="灯片编号占位符 3"/>
          <p:cNvSpPr txBox="1">
            <a:spLocks/>
          </p:cNvSpPr>
          <p:nvPr/>
        </p:nvSpPr>
        <p:spPr bwMode="auto">
          <a:xfrm>
            <a:off x="4228861" y="4370053"/>
            <a:ext cx="1905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zh-CN"/>
            </a:defPPr>
            <a:lvl1pPr marL="0" algn="r" defTabSz="914400" rtl="0" eaLnBrk="1" latinLnBrk="0" hangingPunct="1">
              <a:defRPr kumimoji="0"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C913308-F349-4B6D-A68A-DD1791B4A57B}" type="slidenum">
              <a:rPr lang="zh-CN" altLang="en-US" smtClean="0">
                <a:solidFill>
                  <a:srgbClr val="000000"/>
                </a:solidFill>
              </a:rPr>
              <a:pPr/>
              <a:t>144</a:t>
            </a:fld>
            <a:endParaRPr lang="zh-CN" altLang="en-US">
              <a:solidFill>
                <a:srgbClr val="000000"/>
              </a:solidFill>
            </a:endParaRPr>
          </a:p>
        </p:txBody>
      </p:sp>
      <mc:AlternateContent xmlns:mc="http://schemas.openxmlformats.org/markup-compatibility/2006">
        <mc:Choice xmlns:a14="http://schemas.microsoft.com/office/drawing/2010/main" xmlns="" Requires="a14">
          <p:sp>
            <p:nvSpPr>
              <p:cNvPr id="12" name="文本框 11"/>
              <p:cNvSpPr txBox="1"/>
              <p:nvPr/>
            </p:nvSpPr>
            <p:spPr>
              <a:xfrm>
                <a:off x="1371566" y="2400688"/>
                <a:ext cx="1329210" cy="369909"/>
              </a:xfrm>
              <a:prstGeom prst="rect">
                <a:avLst/>
              </a:prstGeom>
              <a:noFill/>
            </p:spPr>
            <p:txBody>
              <a:bodyPr wrap="none" rtlCol="0">
                <a:spAutoFit/>
              </a:bodyPr>
              <a:lstStyle/>
              <a:p>
                <a:r>
                  <a:rPr lang="en-US" altLang="zh-CN" dirty="0" smtClean="0">
                    <a:solidFill>
                      <a:srgbClr val="FF0000"/>
                    </a:solidFill>
                  </a:rPr>
                  <a:t>Y</a:t>
                </a:r>
                <a:r>
                  <a:rPr lang="en-US" altLang="zh-CN" baseline="-25000" dirty="0" smtClean="0">
                    <a:solidFill>
                      <a:srgbClr val="FF0000"/>
                    </a:solidFill>
                  </a:rPr>
                  <a:t>0</a:t>
                </a:r>
                <a:r>
                  <a:rPr lang="en-US" altLang="zh-CN" dirty="0" smtClean="0">
                    <a:solidFill>
                      <a:srgbClr val="FF0000"/>
                    </a:solidFill>
                  </a:rPr>
                  <a:t>=</a:t>
                </a:r>
                <a14:m>
                  <m:oMath xmlns:m="http://schemas.openxmlformats.org/officeDocument/2006/math">
                    <m:acc>
                      <m:accPr>
                        <m:chr m:val="̅"/>
                        <m:ctrlPr>
                          <a:rPr lang="en-US" altLang="zh-CN" i="1" smtClean="0">
                            <a:solidFill>
                              <a:srgbClr val="FF0000"/>
                            </a:solidFill>
                            <a:latin typeface="Cambria Math" panose="02040503050406030204" pitchFamily="18" charset="0"/>
                          </a:rPr>
                        </m:ctrlPr>
                      </m:accPr>
                      <m:e>
                        <m:r>
                          <m:rPr>
                            <m:sty m:val="p"/>
                          </m:rPr>
                          <a:rPr lang="en-US" altLang="zh-CN" i="1">
                            <a:solidFill>
                              <a:srgbClr val="FF0000"/>
                            </a:solidFill>
                            <a:latin typeface="Cambria Math" panose="02040503050406030204" pitchFamily="18" charset="0"/>
                          </a:rPr>
                          <m:t>A</m:t>
                        </m:r>
                        <m:r>
                          <a:rPr lang="en-US" altLang="zh-CN" i="1" baseline="-25000">
                            <a:solidFill>
                              <a:srgbClr val="FF0000"/>
                            </a:solidFill>
                            <a:latin typeface="Cambria Math" panose="02040503050406030204" pitchFamily="18" charset="0"/>
                          </a:rPr>
                          <m:t>1</m:t>
                        </m:r>
                      </m:e>
                    </m:acc>
                  </m:oMath>
                </a14:m>
                <a:r>
                  <a:rPr lang="zh-CN" altLang="en-US" dirty="0" smtClean="0">
                    <a:solidFill>
                      <a:srgbClr val="FF0000"/>
                    </a:solidFill>
                  </a:rPr>
                  <a:t> </a:t>
                </a:r>
                <a14:m>
                  <m:oMath xmlns:m="http://schemas.openxmlformats.org/officeDocument/2006/math">
                    <m:acc>
                      <m:accPr>
                        <m:chr m:val="̅"/>
                        <m:ctrlPr>
                          <a:rPr lang="zh-CN" altLang="en-US" i="1" dirty="0" smtClean="0">
                            <a:solidFill>
                              <a:srgbClr val="FF0000"/>
                            </a:solidFill>
                            <a:latin typeface="Cambria Math" panose="02040503050406030204" pitchFamily="18" charset="0"/>
                          </a:rPr>
                        </m:ctrlPr>
                      </m:accPr>
                      <m:e>
                        <m:r>
                          <m:rPr>
                            <m:sty m:val="p"/>
                          </m:rPr>
                          <a:rPr lang="en-US" altLang="zh-CN" i="1" dirty="0">
                            <a:solidFill>
                              <a:srgbClr val="FF0000"/>
                            </a:solidFill>
                            <a:latin typeface="Cambria Math" panose="02040503050406030204" pitchFamily="18" charset="0"/>
                          </a:rPr>
                          <m:t>A</m:t>
                        </m:r>
                        <m:r>
                          <a:rPr lang="en-US" altLang="zh-CN" i="1" baseline="-25000" dirty="0">
                            <a:solidFill>
                              <a:srgbClr val="FF0000"/>
                            </a:solidFill>
                            <a:latin typeface="Cambria Math" panose="02040503050406030204" pitchFamily="18" charset="0"/>
                          </a:rPr>
                          <m:t>0</m:t>
                        </m:r>
                      </m:e>
                    </m:acc>
                  </m:oMath>
                </a14:m>
                <a:r>
                  <a:rPr lang="zh-CN" altLang="en-US" dirty="0" smtClean="0">
                    <a:solidFill>
                      <a:srgbClr val="FF0000"/>
                    </a:solidFill>
                  </a:rPr>
                  <a:t> </a:t>
                </a:r>
                <a:r>
                  <a:rPr lang="en-US" altLang="zh-CN" dirty="0" smtClean="0">
                    <a:solidFill>
                      <a:srgbClr val="FF0000"/>
                    </a:solidFill>
                  </a:rPr>
                  <a:t>D</a:t>
                </a:r>
                <a:endParaRPr lang="zh-CN" altLang="en-US" dirty="0">
                  <a:solidFill>
                    <a:srgbClr val="FF0000"/>
                  </a:solidFill>
                </a:endParaRPr>
              </a:p>
            </p:txBody>
          </p:sp>
        </mc:Choice>
        <mc:Fallback>
          <p:sp>
            <p:nvSpPr>
              <p:cNvPr id="12" name="文本框 11"/>
              <p:cNvSpPr txBox="1">
                <a:spLocks noRot="1" noChangeAspect="1" noMove="1" noResize="1" noEditPoints="1" noAdjustHandles="1" noChangeArrowheads="1" noChangeShapeType="1" noTextEdit="1"/>
              </p:cNvSpPr>
              <p:nvPr/>
            </p:nvSpPr>
            <p:spPr>
              <a:xfrm>
                <a:off x="1371566" y="2400688"/>
                <a:ext cx="1329210" cy="369909"/>
              </a:xfrm>
              <a:prstGeom prst="rect">
                <a:avLst/>
              </a:prstGeom>
              <a:blipFill rotWithShape="0">
                <a:blip r:embed="rId4" cstate="print"/>
                <a:stretch>
                  <a:fillRect l="-4128" t="-10000" r="-2752" b="-2666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xmlns="" Requires="a14">
          <p:sp>
            <p:nvSpPr>
              <p:cNvPr id="13" name="文本框 12"/>
              <p:cNvSpPr txBox="1"/>
              <p:nvPr/>
            </p:nvSpPr>
            <p:spPr>
              <a:xfrm>
                <a:off x="1392616" y="2749875"/>
                <a:ext cx="1292341" cy="369909"/>
              </a:xfrm>
              <a:prstGeom prst="rect">
                <a:avLst/>
              </a:prstGeom>
              <a:noFill/>
            </p:spPr>
            <p:txBody>
              <a:bodyPr wrap="none" rtlCol="0">
                <a:spAutoFit/>
              </a:bodyPr>
              <a:lstStyle/>
              <a:p>
                <a:r>
                  <a:rPr lang="en-US" altLang="zh-CN" dirty="0" smtClean="0">
                    <a:solidFill>
                      <a:srgbClr val="FF0000"/>
                    </a:solidFill>
                  </a:rPr>
                  <a:t>Y</a:t>
                </a:r>
                <a:r>
                  <a:rPr lang="en-US" altLang="zh-CN" baseline="-25000" dirty="0" smtClean="0">
                    <a:solidFill>
                      <a:srgbClr val="FF0000"/>
                    </a:solidFill>
                  </a:rPr>
                  <a:t>1</a:t>
                </a:r>
                <a:r>
                  <a:rPr lang="en-US" altLang="zh-CN" dirty="0" smtClean="0">
                    <a:solidFill>
                      <a:srgbClr val="FF0000"/>
                    </a:solidFill>
                  </a:rPr>
                  <a:t>=</a:t>
                </a:r>
                <a14:m>
                  <m:oMath xmlns:m="http://schemas.openxmlformats.org/officeDocument/2006/math">
                    <m:acc>
                      <m:accPr>
                        <m:chr m:val="̅"/>
                        <m:ctrlPr>
                          <a:rPr lang="en-US" altLang="zh-CN" i="1" smtClean="0">
                            <a:solidFill>
                              <a:srgbClr val="FF0000"/>
                            </a:solidFill>
                            <a:latin typeface="Cambria Math" panose="02040503050406030204" pitchFamily="18" charset="0"/>
                          </a:rPr>
                        </m:ctrlPr>
                      </m:accPr>
                      <m:e>
                        <m:r>
                          <m:rPr>
                            <m:sty m:val="p"/>
                          </m:rPr>
                          <a:rPr lang="en-US" altLang="zh-CN" i="1">
                            <a:solidFill>
                              <a:srgbClr val="FF0000"/>
                            </a:solidFill>
                            <a:latin typeface="Cambria Math" panose="02040503050406030204" pitchFamily="18" charset="0"/>
                          </a:rPr>
                          <m:t>A</m:t>
                        </m:r>
                        <m:r>
                          <a:rPr lang="en-US" altLang="zh-CN" i="1" baseline="-25000">
                            <a:solidFill>
                              <a:srgbClr val="FF0000"/>
                            </a:solidFill>
                            <a:latin typeface="Cambria Math" panose="02040503050406030204" pitchFamily="18" charset="0"/>
                          </a:rPr>
                          <m:t>1</m:t>
                        </m:r>
                      </m:e>
                    </m:acc>
                  </m:oMath>
                </a14:m>
                <a:r>
                  <a:rPr lang="zh-CN" altLang="en-US" dirty="0" smtClean="0">
                    <a:solidFill>
                      <a:srgbClr val="FF0000"/>
                    </a:solidFill>
                  </a:rPr>
                  <a:t> </a:t>
                </a:r>
                <a:r>
                  <a:rPr lang="en-US" altLang="zh-CN" dirty="0" smtClean="0">
                    <a:solidFill>
                      <a:srgbClr val="FF0000"/>
                    </a:solidFill>
                  </a:rPr>
                  <a:t>A</a:t>
                </a:r>
                <a:r>
                  <a:rPr lang="en-US" altLang="zh-CN" baseline="-25000" dirty="0" smtClean="0">
                    <a:solidFill>
                      <a:srgbClr val="FF0000"/>
                    </a:solidFill>
                  </a:rPr>
                  <a:t>0 </a:t>
                </a:r>
                <a:r>
                  <a:rPr lang="en-US" altLang="zh-CN" dirty="0" smtClean="0">
                    <a:solidFill>
                      <a:srgbClr val="FF0000"/>
                    </a:solidFill>
                  </a:rPr>
                  <a:t>D</a:t>
                </a:r>
                <a:endParaRPr lang="zh-CN" altLang="en-US" dirty="0">
                  <a:solidFill>
                    <a:srgbClr val="FF0000"/>
                  </a:solidFill>
                </a:endParaRPr>
              </a:p>
            </p:txBody>
          </p:sp>
        </mc:Choice>
        <mc:Fallback>
          <p:sp>
            <p:nvSpPr>
              <p:cNvPr id="13" name="文本框 12"/>
              <p:cNvSpPr txBox="1">
                <a:spLocks noRot="1" noChangeAspect="1" noMove="1" noResize="1" noEditPoints="1" noAdjustHandles="1" noChangeArrowheads="1" noChangeShapeType="1" noTextEdit="1"/>
              </p:cNvSpPr>
              <p:nvPr/>
            </p:nvSpPr>
            <p:spPr>
              <a:xfrm>
                <a:off x="1392616" y="2749875"/>
                <a:ext cx="1292341" cy="369909"/>
              </a:xfrm>
              <a:prstGeom prst="rect">
                <a:avLst/>
              </a:prstGeom>
              <a:blipFill rotWithShape="0">
                <a:blip r:embed="rId5" cstate="print"/>
                <a:stretch>
                  <a:fillRect l="-3774" t="-8197" r="-3774" b="-2459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xmlns="" Requires="a14">
          <p:sp>
            <p:nvSpPr>
              <p:cNvPr id="14" name="文本框 13"/>
              <p:cNvSpPr txBox="1"/>
              <p:nvPr/>
            </p:nvSpPr>
            <p:spPr>
              <a:xfrm>
                <a:off x="1399213" y="3058629"/>
                <a:ext cx="1374094" cy="369909"/>
              </a:xfrm>
              <a:prstGeom prst="rect">
                <a:avLst/>
              </a:prstGeom>
              <a:noFill/>
            </p:spPr>
            <p:txBody>
              <a:bodyPr wrap="none" rtlCol="0">
                <a:spAutoFit/>
              </a:bodyPr>
              <a:lstStyle/>
              <a:p>
                <a:r>
                  <a:rPr lang="en-US" altLang="zh-CN" dirty="0" smtClean="0">
                    <a:solidFill>
                      <a:srgbClr val="FF0000"/>
                    </a:solidFill>
                  </a:rPr>
                  <a:t>Y</a:t>
                </a:r>
                <a:r>
                  <a:rPr lang="en-US" altLang="zh-CN" baseline="-25000" dirty="0" smtClean="0">
                    <a:solidFill>
                      <a:srgbClr val="FF0000"/>
                    </a:solidFill>
                  </a:rPr>
                  <a:t>2</a:t>
                </a:r>
                <a:r>
                  <a:rPr lang="en-US" altLang="zh-CN" dirty="0" smtClean="0">
                    <a:solidFill>
                      <a:srgbClr val="FF0000"/>
                    </a:solidFill>
                  </a:rPr>
                  <a:t>=</a:t>
                </a:r>
                <a14:m>
                  <m:oMath xmlns:m="http://schemas.openxmlformats.org/officeDocument/2006/math">
                    <m:r>
                      <a:rPr lang="en-US" altLang="zh-CN" b="0" i="1" smtClean="0">
                        <a:solidFill>
                          <a:srgbClr val="FF0000"/>
                        </a:solidFill>
                        <a:latin typeface="Cambria Math" panose="02040503050406030204" pitchFamily="18" charset="0"/>
                      </a:rPr>
                      <m:t>𝐴</m:t>
                    </m:r>
                    <m:r>
                      <a:rPr lang="en-US" altLang="zh-CN" b="0" i="1" baseline="-25000" smtClean="0">
                        <a:solidFill>
                          <a:srgbClr val="FF0000"/>
                        </a:solidFill>
                        <a:latin typeface="Cambria Math" panose="02040503050406030204" pitchFamily="18" charset="0"/>
                      </a:rPr>
                      <m:t>1</m:t>
                    </m:r>
                  </m:oMath>
                </a14:m>
                <a:r>
                  <a:rPr lang="zh-CN" altLang="en-US" dirty="0" smtClean="0">
                    <a:solidFill>
                      <a:srgbClr val="FF0000"/>
                    </a:solidFill>
                  </a:rPr>
                  <a:t> </a:t>
                </a:r>
                <a14:m>
                  <m:oMath xmlns:m="http://schemas.openxmlformats.org/officeDocument/2006/math">
                    <m:acc>
                      <m:accPr>
                        <m:chr m:val="̅"/>
                        <m:ctrlPr>
                          <a:rPr lang="zh-CN" altLang="en-US" i="1" dirty="0" smtClean="0">
                            <a:solidFill>
                              <a:srgbClr val="FF0000"/>
                            </a:solidFill>
                            <a:latin typeface="Cambria Math" panose="02040503050406030204" pitchFamily="18" charset="0"/>
                          </a:rPr>
                        </m:ctrlPr>
                      </m:accPr>
                      <m:e>
                        <m:r>
                          <m:rPr>
                            <m:sty m:val="p"/>
                          </m:rPr>
                          <a:rPr lang="en-US" altLang="zh-CN" i="1" dirty="0">
                            <a:solidFill>
                              <a:srgbClr val="FF0000"/>
                            </a:solidFill>
                            <a:latin typeface="Cambria Math" panose="02040503050406030204" pitchFamily="18" charset="0"/>
                          </a:rPr>
                          <m:t>A</m:t>
                        </m:r>
                        <m:r>
                          <a:rPr lang="en-US" altLang="zh-CN" i="1" baseline="-25000" dirty="0">
                            <a:solidFill>
                              <a:srgbClr val="FF0000"/>
                            </a:solidFill>
                            <a:latin typeface="Cambria Math" panose="02040503050406030204" pitchFamily="18" charset="0"/>
                          </a:rPr>
                          <m:t>0</m:t>
                        </m:r>
                      </m:e>
                    </m:acc>
                  </m:oMath>
                </a14:m>
                <a:r>
                  <a:rPr lang="zh-CN" altLang="en-US" dirty="0" smtClean="0">
                    <a:solidFill>
                      <a:srgbClr val="FF0000"/>
                    </a:solidFill>
                  </a:rPr>
                  <a:t> </a:t>
                </a:r>
                <a:r>
                  <a:rPr lang="en-US" altLang="zh-CN" dirty="0" smtClean="0">
                    <a:solidFill>
                      <a:srgbClr val="FF0000"/>
                    </a:solidFill>
                  </a:rPr>
                  <a:t>D</a:t>
                </a:r>
                <a:endParaRPr lang="zh-CN" altLang="en-US" dirty="0">
                  <a:solidFill>
                    <a:srgbClr val="FF0000"/>
                  </a:solidFill>
                </a:endParaRPr>
              </a:p>
            </p:txBody>
          </p:sp>
        </mc:Choice>
        <mc:Fallback>
          <p:sp>
            <p:nvSpPr>
              <p:cNvPr id="14" name="文本框 13"/>
              <p:cNvSpPr txBox="1">
                <a:spLocks noRot="1" noChangeAspect="1" noMove="1" noResize="1" noEditPoints="1" noAdjustHandles="1" noChangeArrowheads="1" noChangeShapeType="1" noTextEdit="1"/>
              </p:cNvSpPr>
              <p:nvPr/>
            </p:nvSpPr>
            <p:spPr>
              <a:xfrm>
                <a:off x="1399213" y="3058629"/>
                <a:ext cx="1374094" cy="369909"/>
              </a:xfrm>
              <a:prstGeom prst="rect">
                <a:avLst/>
              </a:prstGeom>
              <a:blipFill rotWithShape="0">
                <a:blip r:embed="rId6" cstate="print"/>
                <a:stretch>
                  <a:fillRect l="-4000" t="-10000" b="-2666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xmlns="" Requires="a14">
          <p:sp>
            <p:nvSpPr>
              <p:cNvPr id="15" name="文本框 14"/>
              <p:cNvSpPr txBox="1"/>
              <p:nvPr/>
            </p:nvSpPr>
            <p:spPr>
              <a:xfrm>
                <a:off x="1419165" y="3393031"/>
                <a:ext cx="1188146" cy="369332"/>
              </a:xfrm>
              <a:prstGeom prst="rect">
                <a:avLst/>
              </a:prstGeom>
              <a:noFill/>
            </p:spPr>
            <p:txBody>
              <a:bodyPr wrap="none" rtlCol="0">
                <a:spAutoFit/>
              </a:bodyPr>
              <a:lstStyle/>
              <a:p>
                <a:r>
                  <a:rPr lang="en-US" altLang="zh-CN" dirty="0" smtClean="0">
                    <a:solidFill>
                      <a:srgbClr val="FF0000"/>
                    </a:solidFill>
                  </a:rPr>
                  <a:t>Y</a:t>
                </a:r>
                <a:r>
                  <a:rPr lang="en-US" altLang="zh-CN" baseline="-25000" dirty="0" smtClean="0">
                    <a:solidFill>
                      <a:srgbClr val="FF0000"/>
                    </a:solidFill>
                  </a:rPr>
                  <a:t>3</a:t>
                </a:r>
                <a:r>
                  <a:rPr lang="en-US" altLang="zh-CN" dirty="0" smtClean="0">
                    <a:solidFill>
                      <a:srgbClr val="FF0000"/>
                    </a:solidFill>
                  </a:rPr>
                  <a:t>=</a:t>
                </a:r>
                <a14:m>
                  <m:oMath xmlns:m="http://schemas.openxmlformats.org/officeDocument/2006/math">
                    <m:r>
                      <a:rPr lang="en-US" altLang="zh-CN" b="0" i="1" smtClean="0">
                        <a:solidFill>
                          <a:srgbClr val="FF0000"/>
                        </a:solidFill>
                        <a:latin typeface="Cambria Math" panose="02040503050406030204" pitchFamily="18" charset="0"/>
                      </a:rPr>
                      <m:t>𝐴</m:t>
                    </m:r>
                    <m:r>
                      <a:rPr lang="en-US" altLang="zh-CN" b="0" i="1" baseline="-25000" smtClean="0">
                        <a:solidFill>
                          <a:srgbClr val="FF0000"/>
                        </a:solidFill>
                        <a:latin typeface="Cambria Math" panose="02040503050406030204" pitchFamily="18" charset="0"/>
                      </a:rPr>
                      <m:t>1</m:t>
                    </m:r>
                    <m:r>
                      <a:rPr lang="en-US" altLang="zh-CN" b="0" i="1" smtClean="0">
                        <a:solidFill>
                          <a:srgbClr val="FF0000"/>
                        </a:solidFill>
                        <a:latin typeface="Cambria Math" panose="02040503050406030204" pitchFamily="18" charset="0"/>
                      </a:rPr>
                      <m:t>𝐴</m:t>
                    </m:r>
                    <m:r>
                      <a:rPr lang="en-US" altLang="zh-CN" b="0" i="1" baseline="-25000" smtClean="0">
                        <a:solidFill>
                          <a:srgbClr val="FF0000"/>
                        </a:solidFill>
                        <a:latin typeface="Cambria Math" panose="02040503050406030204" pitchFamily="18" charset="0"/>
                      </a:rPr>
                      <m:t>0</m:t>
                    </m:r>
                  </m:oMath>
                </a14:m>
                <a:r>
                  <a:rPr lang="en-US" altLang="zh-CN" dirty="0" smtClean="0">
                    <a:solidFill>
                      <a:srgbClr val="FF0000"/>
                    </a:solidFill>
                  </a:rPr>
                  <a:t>D</a:t>
                </a:r>
                <a:endParaRPr lang="zh-CN" altLang="en-US" dirty="0">
                  <a:solidFill>
                    <a:srgbClr val="FF0000"/>
                  </a:solidFill>
                </a:endParaRPr>
              </a:p>
            </p:txBody>
          </p:sp>
        </mc:Choice>
        <mc:Fallback>
          <p:sp>
            <p:nvSpPr>
              <p:cNvPr id="15" name="文本框 14"/>
              <p:cNvSpPr txBox="1">
                <a:spLocks noRot="1" noChangeAspect="1" noMove="1" noResize="1" noEditPoints="1" noAdjustHandles="1" noChangeArrowheads="1" noChangeShapeType="1" noTextEdit="1"/>
              </p:cNvSpPr>
              <p:nvPr/>
            </p:nvSpPr>
            <p:spPr>
              <a:xfrm>
                <a:off x="1419165" y="3393031"/>
                <a:ext cx="1188146" cy="369332"/>
              </a:xfrm>
              <a:prstGeom prst="rect">
                <a:avLst/>
              </a:prstGeom>
              <a:blipFill rotWithShape="0">
                <a:blip r:embed="rId7" cstate="print"/>
                <a:stretch>
                  <a:fillRect l="-4615" t="-10000" r="-4103" b="-26667"/>
                </a:stretch>
              </a:blipFill>
            </p:spPr>
            <p:txBody>
              <a:bodyPr/>
              <a:lstStyle/>
              <a:p>
                <a:r>
                  <a:rPr lang="zh-CN" altLang="en-US">
                    <a:noFill/>
                  </a:rPr>
                  <a:t> </a:t>
                </a:r>
              </a:p>
            </p:txBody>
          </p:sp>
        </mc:Fallback>
      </mc:AlternateContent>
      <p:sp>
        <p:nvSpPr>
          <p:cNvPr id="8" name="左大括号 7"/>
          <p:cNvSpPr/>
          <p:nvPr/>
        </p:nvSpPr>
        <p:spPr bwMode="auto">
          <a:xfrm>
            <a:off x="1039380" y="2517708"/>
            <a:ext cx="264886" cy="1127316"/>
          </a:xfrm>
          <a:prstGeom prst="leftBrace">
            <a:avLst/>
          </a:prstGeom>
          <a:noFill/>
          <a:ln w="25400" cap="flat" cmpd="sng" algn="ctr">
            <a:solidFill>
              <a:srgbClr val="FF0000"/>
            </a:solidFill>
            <a:prstDash val="solid"/>
            <a:miter lim="800000"/>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rtlCol="0" anchor="ctr"/>
          <a:lstStyle/>
          <a:p>
            <a:pPr algn="ctr"/>
            <a:endParaRPr lang="zh-CN" altLang="en-US"/>
          </a:p>
        </p:txBody>
      </p:sp>
      <p:sp>
        <p:nvSpPr>
          <p:cNvPr id="16" name="标题 1"/>
          <p:cNvSpPr txBox="1">
            <a:spLocks/>
          </p:cNvSpPr>
          <p:nvPr/>
        </p:nvSpPr>
        <p:spPr bwMode="auto">
          <a:xfrm>
            <a:off x="1259632" y="0"/>
            <a:ext cx="7016824" cy="63894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fontAlgn="base">
              <a:spcBef>
                <a:spcPct val="0"/>
              </a:spcBef>
              <a:spcAft>
                <a:spcPct val="0"/>
              </a:spcAft>
              <a:defRPr/>
            </a:pP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第</a:t>
            </a:r>
            <a:r>
              <a:rPr kumimoji="1" lang="en-US" altLang="zh-CN" sz="3600" b="1" kern="0" dirty="0" smtClean="0">
                <a:solidFill>
                  <a:schemeClr val="tx2"/>
                </a:solidFill>
                <a:latin typeface="+mj-lt"/>
                <a:ea typeface="+mj-ea"/>
                <a:cs typeface="+mj-cs"/>
              </a:rPr>
              <a:t>4</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章　组合</a:t>
            </a:r>
            <a:r>
              <a:rPr kumimoji="1" lang="zh-CN" altLang="en-US" sz="3600" b="1" kern="0" dirty="0" smtClean="0">
                <a:solidFill>
                  <a:schemeClr val="tx2"/>
                </a:solidFill>
              </a:rPr>
              <a:t>逻辑</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电路</a:t>
            </a:r>
            <a:endParaRPr kumimoji="1" lang="zh-CN" altLang="en-US" sz="36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2480964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048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48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2" grpId="0" animBg="1"/>
      <p:bldP spid="13" grpId="0" animBg="1"/>
      <p:bldP spid="14" grpId="0" animBg="1"/>
      <p:bldP spid="15" grpId="0" animBg="1"/>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数据分配器（</a:t>
            </a:r>
            <a:r>
              <a:rPr lang="en-US" altLang="zh-CN" sz="2400" dirty="0"/>
              <a:t>DEMUX</a:t>
            </a:r>
            <a:r>
              <a:rPr lang="zh-CN" altLang="en-US" dirty="0"/>
              <a:t>）</a:t>
            </a:r>
          </a:p>
        </p:txBody>
      </p:sp>
      <p:sp>
        <p:nvSpPr>
          <p:cNvPr id="3" name="内容占位符 2"/>
          <p:cNvSpPr>
            <a:spLocks noGrp="1"/>
          </p:cNvSpPr>
          <p:nvPr>
            <p:ph idx="1"/>
          </p:nvPr>
        </p:nvSpPr>
        <p:spPr>
          <a:xfrm>
            <a:off x="539552" y="1542208"/>
            <a:ext cx="8280920" cy="4911128"/>
          </a:xfrm>
        </p:spPr>
        <p:txBody>
          <a:bodyPr/>
          <a:lstStyle/>
          <a:p>
            <a:pPr>
              <a:lnSpc>
                <a:spcPct val="100000"/>
              </a:lnSpc>
              <a:spcBef>
                <a:spcPts val="600"/>
              </a:spcBef>
              <a:buSzPct val="100000"/>
              <a:buFont typeface="Wingdings" pitchFamily="2" charset="2"/>
              <a:buChar char="p"/>
            </a:pPr>
            <a:r>
              <a:rPr lang="zh-CN" altLang="en-US" sz="2800" dirty="0"/>
              <a:t>数据分配器和译码器的联系与区别</a:t>
            </a:r>
          </a:p>
          <a:p>
            <a:pPr lvl="1">
              <a:lnSpc>
                <a:spcPct val="100000"/>
              </a:lnSpc>
              <a:spcBef>
                <a:spcPts val="600"/>
              </a:spcBef>
              <a:buSzPct val="100000"/>
            </a:pPr>
            <a:r>
              <a:rPr lang="zh-CN" altLang="en-US" sz="2400" dirty="0" smtClean="0"/>
              <a:t>数据</a:t>
            </a:r>
            <a:r>
              <a:rPr lang="zh-CN" altLang="en-US" sz="2400" dirty="0"/>
              <a:t>分配器和译码器有着相同的基本电路</a:t>
            </a:r>
            <a:r>
              <a:rPr lang="zh-CN" altLang="en-US" sz="2400" dirty="0" smtClean="0"/>
              <a:t>结构形式</a:t>
            </a:r>
            <a:r>
              <a:rPr lang="en-US" altLang="zh-CN" sz="2400" dirty="0"/>
              <a:t>——</a:t>
            </a:r>
            <a:r>
              <a:rPr lang="zh-CN" altLang="en-US" sz="2400" dirty="0"/>
              <a:t>由</a:t>
            </a:r>
            <a:r>
              <a:rPr lang="zh-CN" altLang="en-US" sz="2400" dirty="0">
                <a:solidFill>
                  <a:srgbClr val="0000CC"/>
                </a:solidFill>
              </a:rPr>
              <a:t>与非门组成的阵列</a:t>
            </a:r>
            <a:r>
              <a:rPr lang="zh-CN" altLang="en-US" sz="2400" dirty="0"/>
              <a:t>；</a:t>
            </a:r>
          </a:p>
          <a:p>
            <a:pPr lvl="1">
              <a:lnSpc>
                <a:spcPct val="100000"/>
              </a:lnSpc>
              <a:spcBef>
                <a:spcPts val="600"/>
              </a:spcBef>
              <a:buSzPct val="100000"/>
            </a:pPr>
            <a:r>
              <a:rPr lang="zh-CN" altLang="en-US" sz="2400" dirty="0" smtClean="0"/>
              <a:t>在</a:t>
            </a:r>
            <a:r>
              <a:rPr lang="zh-CN" altLang="en-US" sz="2400" dirty="0"/>
              <a:t>数据分配器中，</a:t>
            </a:r>
            <a:r>
              <a:rPr lang="en-US" altLang="zh-CN" sz="2400" dirty="0">
                <a:solidFill>
                  <a:srgbClr val="0000CC"/>
                </a:solidFill>
              </a:rPr>
              <a:t>D</a:t>
            </a:r>
            <a:r>
              <a:rPr lang="zh-CN" altLang="en-US" sz="2400" dirty="0">
                <a:solidFill>
                  <a:srgbClr val="0000CC"/>
                </a:solidFill>
              </a:rPr>
              <a:t>是数据输入端</a:t>
            </a:r>
            <a:r>
              <a:rPr lang="zh-CN" altLang="en-US" sz="2400" dirty="0"/>
              <a:t>，</a:t>
            </a:r>
            <a:r>
              <a:rPr lang="en-US" altLang="zh-CN" sz="2400" dirty="0"/>
              <a:t>A</a:t>
            </a:r>
            <a:r>
              <a:rPr lang="en-US" altLang="zh-CN" sz="2400" baseline="-25000" dirty="0"/>
              <a:t>1</a:t>
            </a:r>
            <a:r>
              <a:rPr lang="en-US" altLang="zh-CN" sz="2400" dirty="0"/>
              <a:t>A</a:t>
            </a:r>
            <a:r>
              <a:rPr lang="en-US" altLang="zh-CN" sz="2400" baseline="-25000" dirty="0"/>
              <a:t>0</a:t>
            </a:r>
            <a:r>
              <a:rPr lang="zh-CN" altLang="en-US" sz="2400" dirty="0"/>
              <a:t>是</a:t>
            </a:r>
            <a:r>
              <a:rPr lang="zh-CN" altLang="en-US" sz="2400" dirty="0" smtClean="0"/>
              <a:t>选择信号</a:t>
            </a:r>
            <a:r>
              <a:rPr lang="zh-CN" altLang="en-US" sz="2400" dirty="0"/>
              <a:t>控制端；在二进制译码器中，与</a:t>
            </a:r>
            <a:r>
              <a:rPr lang="en-US" altLang="zh-CN" sz="2400" dirty="0">
                <a:solidFill>
                  <a:srgbClr val="0000CC"/>
                </a:solidFill>
              </a:rPr>
              <a:t>D</a:t>
            </a:r>
            <a:r>
              <a:rPr lang="zh-CN" altLang="en-US" sz="2400" dirty="0">
                <a:solidFill>
                  <a:srgbClr val="0000CC"/>
                </a:solidFill>
              </a:rPr>
              <a:t>相应的是</a:t>
            </a:r>
            <a:r>
              <a:rPr lang="zh-CN" altLang="en-US" sz="2400" dirty="0" smtClean="0">
                <a:solidFill>
                  <a:srgbClr val="0000CC"/>
                </a:solidFill>
              </a:rPr>
              <a:t>选通</a:t>
            </a:r>
            <a:r>
              <a:rPr lang="zh-CN" altLang="en-US" sz="2400" dirty="0">
                <a:solidFill>
                  <a:srgbClr val="0000CC"/>
                </a:solidFill>
              </a:rPr>
              <a:t>控制端</a:t>
            </a:r>
            <a:r>
              <a:rPr lang="zh-CN" altLang="en-US" sz="2400" dirty="0"/>
              <a:t>， </a:t>
            </a:r>
            <a:r>
              <a:rPr lang="en-US" altLang="zh-CN" sz="2400" dirty="0"/>
              <a:t>A</a:t>
            </a:r>
            <a:r>
              <a:rPr lang="en-US" altLang="zh-CN" sz="2400" baseline="-25000" dirty="0"/>
              <a:t>1</a:t>
            </a:r>
            <a:r>
              <a:rPr lang="en-US" altLang="zh-CN" sz="2400" dirty="0"/>
              <a:t>A</a:t>
            </a:r>
            <a:r>
              <a:rPr lang="en-US" altLang="zh-CN" sz="2400" baseline="-25000" dirty="0"/>
              <a:t>0</a:t>
            </a:r>
            <a:r>
              <a:rPr lang="zh-CN" altLang="en-US" sz="2400" dirty="0"/>
              <a:t>是译码输入端；</a:t>
            </a:r>
          </a:p>
          <a:p>
            <a:pPr lvl="1">
              <a:lnSpc>
                <a:spcPct val="100000"/>
              </a:lnSpc>
              <a:spcBef>
                <a:spcPts val="600"/>
              </a:spcBef>
              <a:buSzPct val="100000"/>
            </a:pPr>
            <a:r>
              <a:rPr lang="zh-CN" altLang="en-US" sz="2400" dirty="0" smtClean="0"/>
              <a:t>二进制</a:t>
            </a:r>
            <a:r>
              <a:rPr lang="zh-CN" altLang="en-US" sz="2400" dirty="0"/>
              <a:t>译码器通常即可用作数据分配器，</a:t>
            </a:r>
            <a:r>
              <a:rPr lang="en-US" altLang="zh-CN" sz="2400" dirty="0">
                <a:solidFill>
                  <a:srgbClr val="0000CC"/>
                </a:solidFill>
              </a:rPr>
              <a:t>n</a:t>
            </a:r>
            <a:r>
              <a:rPr lang="zh-CN" altLang="en-US" sz="2400" dirty="0">
                <a:solidFill>
                  <a:srgbClr val="0000CC"/>
                </a:solidFill>
              </a:rPr>
              <a:t>线</a:t>
            </a:r>
            <a:r>
              <a:rPr lang="en-US" altLang="zh-CN" sz="2400" dirty="0" smtClean="0">
                <a:solidFill>
                  <a:srgbClr val="0000CC"/>
                </a:solidFill>
              </a:rPr>
              <a:t>-2</a:t>
            </a:r>
            <a:r>
              <a:rPr lang="en-US" altLang="zh-CN" sz="2400" baseline="30000" dirty="0" smtClean="0">
                <a:solidFill>
                  <a:srgbClr val="0000CC"/>
                </a:solidFill>
              </a:rPr>
              <a:t>n</a:t>
            </a:r>
            <a:r>
              <a:rPr lang="zh-CN" altLang="en-US" sz="2400" dirty="0">
                <a:solidFill>
                  <a:srgbClr val="0000CC"/>
                </a:solidFill>
              </a:rPr>
              <a:t>线译码器</a:t>
            </a:r>
            <a:r>
              <a:rPr lang="zh-CN" altLang="en-US" sz="2400" dirty="0"/>
              <a:t>即为</a:t>
            </a:r>
            <a:r>
              <a:rPr lang="en-US" altLang="zh-CN" sz="2400" dirty="0">
                <a:solidFill>
                  <a:srgbClr val="0000CC"/>
                </a:solidFill>
              </a:rPr>
              <a:t>1</a:t>
            </a:r>
            <a:r>
              <a:rPr lang="zh-CN" altLang="en-US" sz="2400" dirty="0">
                <a:solidFill>
                  <a:srgbClr val="0000CC"/>
                </a:solidFill>
              </a:rPr>
              <a:t>路</a:t>
            </a:r>
            <a:r>
              <a:rPr lang="en-US" altLang="zh-CN" sz="2400" dirty="0">
                <a:solidFill>
                  <a:srgbClr val="0000CC"/>
                </a:solidFill>
              </a:rPr>
              <a:t>-2</a:t>
            </a:r>
            <a:r>
              <a:rPr lang="en-US" altLang="zh-CN" sz="2400" baseline="30000" dirty="0">
                <a:solidFill>
                  <a:srgbClr val="0000CC"/>
                </a:solidFill>
              </a:rPr>
              <a:t>n</a:t>
            </a:r>
            <a:r>
              <a:rPr lang="zh-CN" altLang="en-US" sz="2400" dirty="0">
                <a:solidFill>
                  <a:srgbClr val="0000CC"/>
                </a:solidFill>
              </a:rPr>
              <a:t>路数据分配器</a:t>
            </a:r>
            <a:r>
              <a:rPr lang="zh-CN" altLang="en-US" sz="2400" dirty="0"/>
              <a:t>。</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solidFill>
                  <a:srgbClr val="000000"/>
                </a:solidFill>
              </a:rPr>
              <a:pPr/>
              <a:t>145</a:t>
            </a:fld>
            <a:endParaRPr lang="zh-CN" altLang="en-US">
              <a:solidFill>
                <a:srgbClr val="000000"/>
              </a:solidFill>
            </a:endParaRPr>
          </a:p>
        </p:txBody>
      </p:sp>
      <p:sp>
        <p:nvSpPr>
          <p:cNvPr id="5" name="标题 1"/>
          <p:cNvSpPr txBox="1">
            <a:spLocks/>
          </p:cNvSpPr>
          <p:nvPr/>
        </p:nvSpPr>
        <p:spPr bwMode="auto">
          <a:xfrm>
            <a:off x="1259632" y="0"/>
            <a:ext cx="7016824" cy="63894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fontAlgn="base">
              <a:spcBef>
                <a:spcPct val="0"/>
              </a:spcBef>
              <a:spcAft>
                <a:spcPct val="0"/>
              </a:spcAft>
              <a:defRPr/>
            </a:pP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第</a:t>
            </a:r>
            <a:r>
              <a:rPr kumimoji="1" lang="en-US" altLang="zh-CN" sz="3600" b="1" kern="0" dirty="0" smtClean="0">
                <a:solidFill>
                  <a:schemeClr val="tx2"/>
                </a:solidFill>
                <a:latin typeface="+mj-lt"/>
                <a:ea typeface="+mj-ea"/>
                <a:cs typeface="+mj-cs"/>
              </a:rPr>
              <a:t>4</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章　组合</a:t>
            </a:r>
            <a:r>
              <a:rPr kumimoji="1" lang="zh-CN" altLang="en-US" sz="3600" b="1" kern="0" dirty="0" smtClean="0">
                <a:solidFill>
                  <a:schemeClr val="tx2"/>
                </a:solidFill>
              </a:rPr>
              <a:t>逻辑</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电路</a:t>
            </a:r>
            <a:endParaRPr kumimoji="1" lang="zh-CN" altLang="en-US" sz="36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2038396232"/>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数据分配器（</a:t>
            </a:r>
            <a:r>
              <a:rPr lang="en-US" altLang="zh-CN" sz="2400" dirty="0"/>
              <a:t>DEMUX</a:t>
            </a:r>
            <a:r>
              <a:rPr lang="zh-CN" altLang="en-US" dirty="0"/>
              <a:t>）</a:t>
            </a:r>
          </a:p>
        </p:txBody>
      </p:sp>
      <p:sp>
        <p:nvSpPr>
          <p:cNvPr id="3" name="内容占位符 2"/>
          <p:cNvSpPr>
            <a:spLocks noGrp="1"/>
          </p:cNvSpPr>
          <p:nvPr>
            <p:ph idx="1"/>
          </p:nvPr>
        </p:nvSpPr>
        <p:spPr>
          <a:xfrm>
            <a:off x="539552" y="1542208"/>
            <a:ext cx="8415536" cy="4911128"/>
          </a:xfrm>
        </p:spPr>
        <p:txBody>
          <a:bodyPr/>
          <a:lstStyle/>
          <a:p>
            <a:pPr>
              <a:lnSpc>
                <a:spcPct val="100000"/>
              </a:lnSpc>
              <a:spcBef>
                <a:spcPts val="600"/>
              </a:spcBef>
              <a:buSzPct val="100000"/>
              <a:buFont typeface="Wingdings" pitchFamily="2" charset="2"/>
              <a:buChar char="p"/>
            </a:pPr>
            <a:r>
              <a:rPr lang="en-US" altLang="zh-CN" sz="2800" dirty="0"/>
              <a:t>MSI</a:t>
            </a:r>
            <a:r>
              <a:rPr lang="zh-CN" altLang="en-US" sz="2800" dirty="0"/>
              <a:t>数据分配器</a:t>
            </a:r>
            <a:endParaRPr lang="en-US" altLang="zh-CN" sz="2800" dirty="0" smtClean="0"/>
          </a:p>
          <a:p>
            <a:pPr lvl="1">
              <a:lnSpc>
                <a:spcPct val="100000"/>
              </a:lnSpc>
              <a:spcBef>
                <a:spcPts val="600"/>
              </a:spcBef>
              <a:buSzPct val="100000"/>
            </a:pPr>
            <a:r>
              <a:rPr lang="zh-CN" altLang="en-US" sz="2400" dirty="0" smtClean="0"/>
              <a:t>（</a:t>
            </a:r>
            <a:r>
              <a:rPr lang="zh-CN" altLang="en-US" sz="2400" dirty="0"/>
              <a:t>一）</a:t>
            </a:r>
            <a:r>
              <a:rPr lang="en-US" altLang="zh-CN" sz="2400" dirty="0"/>
              <a:t>1</a:t>
            </a:r>
            <a:r>
              <a:rPr lang="zh-CN" altLang="en-US" sz="2400" dirty="0"/>
              <a:t>路</a:t>
            </a:r>
            <a:r>
              <a:rPr lang="en-US" altLang="zh-CN" sz="2400" dirty="0"/>
              <a:t>-4</a:t>
            </a:r>
            <a:r>
              <a:rPr lang="zh-CN" altLang="en-US" sz="2400" dirty="0"/>
              <a:t>路集成数据分配器</a:t>
            </a:r>
            <a:r>
              <a:rPr lang="en-US" altLang="zh-CN" sz="2400" dirty="0"/>
              <a:t>74XX139</a:t>
            </a:r>
            <a:endParaRPr lang="zh-CN" altLang="en-US" sz="24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solidFill>
                  <a:srgbClr val="000000"/>
                </a:solidFill>
              </a:rPr>
              <a:pPr/>
              <a:t>146</a:t>
            </a:fld>
            <a:endParaRPr lang="zh-CN" altLang="en-US">
              <a:solidFill>
                <a:srgbClr val="000000"/>
              </a:solidFill>
            </a:endParaRPr>
          </a:p>
        </p:txBody>
      </p:sp>
      <p:pic>
        <p:nvPicPr>
          <p:cNvPr id="21506" name="Picture 2" descr="E:\wrj\课件\数字电路与系统\数字电路与数字系统\tupian\4-21-1.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059832" y="2924944"/>
            <a:ext cx="2046316" cy="2160000"/>
          </a:xfrm>
          <a:prstGeom prst="rect">
            <a:avLst/>
          </a:prstGeom>
          <a:noFill/>
          <a:extLst>
            <a:ext uri="{909E8E84-426E-40DD-AFC4-6F175D3DCCD1}">
              <a14:hiddenFill xmlns:a14="http://schemas.microsoft.com/office/drawing/2010/main" xmlns="">
                <a:solidFill>
                  <a:srgbClr val="FFFFFF"/>
                </a:solidFill>
              </a14:hiddenFill>
            </a:ext>
          </a:extLst>
        </p:spPr>
      </p:pic>
      <p:pic>
        <p:nvPicPr>
          <p:cNvPr id="21507" name="Picture 3" descr="E:\wrj\课件\数字电路与系统\数字电路与数字系统\tupian\4-21-2.jp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683568" y="2852936"/>
            <a:ext cx="1740659" cy="2160000"/>
          </a:xfrm>
          <a:prstGeom prst="rect">
            <a:avLst/>
          </a:prstGeom>
          <a:noFill/>
          <a:extLst>
            <a:ext uri="{909E8E84-426E-40DD-AFC4-6F175D3DCCD1}">
              <a14:hiddenFill xmlns:a14="http://schemas.microsoft.com/office/drawing/2010/main" xmlns="">
                <a:solidFill>
                  <a:srgbClr val="FFFFFF"/>
                </a:solidFill>
              </a14:hiddenFill>
            </a:ext>
          </a:extLst>
        </p:spPr>
      </p:pic>
      <p:sp>
        <p:nvSpPr>
          <p:cNvPr id="5" name="矩形 4"/>
          <p:cNvSpPr/>
          <p:nvPr/>
        </p:nvSpPr>
        <p:spPr>
          <a:xfrm>
            <a:off x="611560" y="5229200"/>
            <a:ext cx="1944216" cy="646331"/>
          </a:xfrm>
          <a:prstGeom prst="rect">
            <a:avLst/>
          </a:prstGeom>
        </p:spPr>
        <p:txBody>
          <a:bodyPr wrap="square">
            <a:spAutoFit/>
          </a:bodyPr>
          <a:lstStyle/>
          <a:p>
            <a:r>
              <a:rPr lang="en-US" altLang="zh-CN" b="1" dirty="0">
                <a:solidFill>
                  <a:srgbClr val="000000"/>
                </a:solidFill>
              </a:rPr>
              <a:t>(a) 74139</a:t>
            </a:r>
            <a:r>
              <a:rPr lang="zh-CN" altLang="en-US" dirty="0">
                <a:solidFill>
                  <a:srgbClr val="000000"/>
                </a:solidFill>
              </a:rPr>
              <a:t>作</a:t>
            </a:r>
            <a:r>
              <a:rPr lang="en-US" altLang="zh-CN" b="1" dirty="0">
                <a:solidFill>
                  <a:srgbClr val="000000"/>
                </a:solidFill>
              </a:rPr>
              <a:t>2</a:t>
            </a:r>
            <a:r>
              <a:rPr lang="zh-CN" altLang="en-US" dirty="0">
                <a:solidFill>
                  <a:srgbClr val="000000"/>
                </a:solidFill>
              </a:rPr>
              <a:t>线</a:t>
            </a:r>
            <a:r>
              <a:rPr lang="en-US" altLang="zh-CN" b="1" dirty="0">
                <a:solidFill>
                  <a:srgbClr val="000000"/>
                </a:solidFill>
              </a:rPr>
              <a:t>-4</a:t>
            </a:r>
            <a:r>
              <a:rPr lang="zh-CN" altLang="en-US" dirty="0" smtClean="0">
                <a:solidFill>
                  <a:srgbClr val="000000"/>
                </a:solidFill>
              </a:rPr>
              <a:t>线译码器</a:t>
            </a:r>
            <a:endParaRPr lang="zh-CN" altLang="en-US" dirty="0">
              <a:solidFill>
                <a:srgbClr val="000000"/>
              </a:solidFill>
            </a:endParaRPr>
          </a:p>
        </p:txBody>
      </p:sp>
      <p:sp>
        <p:nvSpPr>
          <p:cNvPr id="6" name="矩形 5"/>
          <p:cNvSpPr/>
          <p:nvPr/>
        </p:nvSpPr>
        <p:spPr>
          <a:xfrm>
            <a:off x="2915816" y="5229200"/>
            <a:ext cx="2232248" cy="646331"/>
          </a:xfrm>
          <a:prstGeom prst="rect">
            <a:avLst/>
          </a:prstGeom>
        </p:spPr>
        <p:txBody>
          <a:bodyPr wrap="square">
            <a:spAutoFit/>
          </a:bodyPr>
          <a:lstStyle/>
          <a:p>
            <a:r>
              <a:rPr lang="pl-PL" altLang="zh-CN" b="1" dirty="0">
                <a:solidFill>
                  <a:srgbClr val="000000"/>
                </a:solidFill>
              </a:rPr>
              <a:t>(b) 74139</a:t>
            </a:r>
            <a:r>
              <a:rPr lang="zh-CN" altLang="pl-PL" dirty="0">
                <a:solidFill>
                  <a:srgbClr val="000000"/>
                </a:solidFill>
              </a:rPr>
              <a:t>作</a:t>
            </a:r>
            <a:r>
              <a:rPr lang="pl-PL" altLang="zh-CN" b="1" dirty="0">
                <a:solidFill>
                  <a:srgbClr val="000000"/>
                </a:solidFill>
              </a:rPr>
              <a:t>1</a:t>
            </a:r>
            <a:r>
              <a:rPr lang="zh-CN" altLang="pl-PL" dirty="0">
                <a:solidFill>
                  <a:srgbClr val="000000"/>
                </a:solidFill>
              </a:rPr>
              <a:t>路</a:t>
            </a:r>
            <a:r>
              <a:rPr lang="pl-PL" altLang="zh-CN" b="1" dirty="0">
                <a:solidFill>
                  <a:srgbClr val="000000"/>
                </a:solidFill>
              </a:rPr>
              <a:t>-4</a:t>
            </a:r>
            <a:r>
              <a:rPr lang="zh-CN" altLang="pl-PL" dirty="0" smtClean="0">
                <a:solidFill>
                  <a:srgbClr val="000000"/>
                </a:solidFill>
              </a:rPr>
              <a:t>路</a:t>
            </a:r>
            <a:r>
              <a:rPr lang="zh-CN" altLang="en-US" dirty="0" smtClean="0">
                <a:solidFill>
                  <a:srgbClr val="000000"/>
                </a:solidFill>
              </a:rPr>
              <a:t>数</a:t>
            </a:r>
            <a:r>
              <a:rPr lang="zh-CN" altLang="en-US" dirty="0">
                <a:solidFill>
                  <a:srgbClr val="000000"/>
                </a:solidFill>
              </a:rPr>
              <a:t>据分配器</a:t>
            </a:r>
          </a:p>
        </p:txBody>
      </p:sp>
      <p:pic>
        <p:nvPicPr>
          <p:cNvPr id="21508"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5652120" y="3052576"/>
            <a:ext cx="2512620" cy="2880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7" name="矩形 6"/>
          <p:cNvSpPr/>
          <p:nvPr/>
        </p:nvSpPr>
        <p:spPr>
          <a:xfrm>
            <a:off x="5902385" y="2630001"/>
            <a:ext cx="2012089" cy="369332"/>
          </a:xfrm>
          <a:prstGeom prst="rect">
            <a:avLst/>
          </a:prstGeom>
        </p:spPr>
        <p:txBody>
          <a:bodyPr wrap="none">
            <a:spAutoFit/>
          </a:bodyPr>
          <a:lstStyle/>
          <a:p>
            <a:r>
              <a:rPr lang="en-US" altLang="zh-CN" b="1" dirty="0">
                <a:solidFill>
                  <a:srgbClr val="000000"/>
                </a:solidFill>
              </a:rPr>
              <a:t>(c) 74139</a:t>
            </a:r>
            <a:r>
              <a:rPr lang="zh-CN" altLang="en-US" dirty="0">
                <a:solidFill>
                  <a:srgbClr val="000000"/>
                </a:solidFill>
              </a:rPr>
              <a:t>真值表</a:t>
            </a:r>
          </a:p>
        </p:txBody>
      </p:sp>
      <p:sp>
        <p:nvSpPr>
          <p:cNvPr id="11" name="标题 1"/>
          <p:cNvSpPr txBox="1">
            <a:spLocks/>
          </p:cNvSpPr>
          <p:nvPr/>
        </p:nvSpPr>
        <p:spPr bwMode="auto">
          <a:xfrm>
            <a:off x="1259632" y="0"/>
            <a:ext cx="7016824" cy="63894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fontAlgn="base">
              <a:spcBef>
                <a:spcPct val="0"/>
              </a:spcBef>
              <a:spcAft>
                <a:spcPct val="0"/>
              </a:spcAft>
              <a:defRPr/>
            </a:pP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第</a:t>
            </a:r>
            <a:r>
              <a:rPr kumimoji="1" lang="en-US" altLang="zh-CN" sz="3600" b="1" kern="0" dirty="0" smtClean="0">
                <a:solidFill>
                  <a:schemeClr val="tx2"/>
                </a:solidFill>
                <a:latin typeface="+mj-lt"/>
                <a:ea typeface="+mj-ea"/>
                <a:cs typeface="+mj-cs"/>
              </a:rPr>
              <a:t>4</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章　组合</a:t>
            </a:r>
            <a:r>
              <a:rPr kumimoji="1" lang="zh-CN" altLang="en-US" sz="3600" b="1" kern="0" dirty="0" smtClean="0">
                <a:solidFill>
                  <a:schemeClr val="tx2"/>
                </a:solidFill>
              </a:rPr>
              <a:t>逻辑</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电路</a:t>
            </a:r>
            <a:endParaRPr kumimoji="1" lang="zh-CN" altLang="en-US" sz="36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1753617898"/>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数据分配器（</a:t>
            </a:r>
            <a:r>
              <a:rPr lang="en-US" altLang="zh-CN" dirty="0"/>
              <a:t>DEMUX</a:t>
            </a:r>
            <a:r>
              <a:rPr lang="zh-CN" altLang="en-US" dirty="0"/>
              <a:t>）</a:t>
            </a:r>
          </a:p>
        </p:txBody>
      </p:sp>
      <p:sp>
        <p:nvSpPr>
          <p:cNvPr id="3" name="内容占位符 2"/>
          <p:cNvSpPr>
            <a:spLocks noGrp="1"/>
          </p:cNvSpPr>
          <p:nvPr>
            <p:ph idx="1"/>
          </p:nvPr>
        </p:nvSpPr>
        <p:spPr>
          <a:xfrm>
            <a:off x="467544" y="1542208"/>
            <a:ext cx="8487544" cy="4911128"/>
          </a:xfrm>
        </p:spPr>
        <p:txBody>
          <a:bodyPr/>
          <a:lstStyle/>
          <a:p>
            <a:pPr lvl="1">
              <a:buClr>
                <a:srgbClr val="FF0000"/>
              </a:buClr>
              <a:buSzPct val="100000"/>
            </a:pPr>
            <a:r>
              <a:rPr lang="zh-CN" altLang="en-US" sz="2400" dirty="0">
                <a:solidFill>
                  <a:srgbClr val="000000"/>
                </a:solidFill>
              </a:rPr>
              <a:t>（一）</a:t>
            </a:r>
            <a:r>
              <a:rPr lang="en-US" altLang="zh-CN" sz="2400" dirty="0">
                <a:solidFill>
                  <a:srgbClr val="000000"/>
                </a:solidFill>
              </a:rPr>
              <a:t>1</a:t>
            </a:r>
            <a:r>
              <a:rPr lang="zh-CN" altLang="en-US" sz="2400" dirty="0">
                <a:solidFill>
                  <a:srgbClr val="000000"/>
                </a:solidFill>
              </a:rPr>
              <a:t>路</a:t>
            </a:r>
            <a:r>
              <a:rPr lang="en-US" altLang="zh-CN" sz="2400" dirty="0">
                <a:solidFill>
                  <a:srgbClr val="000000"/>
                </a:solidFill>
              </a:rPr>
              <a:t>-4</a:t>
            </a:r>
            <a:r>
              <a:rPr lang="zh-CN" altLang="en-US" sz="2400" dirty="0">
                <a:solidFill>
                  <a:srgbClr val="000000"/>
                </a:solidFill>
              </a:rPr>
              <a:t>路集成数据分配器</a:t>
            </a:r>
            <a:r>
              <a:rPr lang="en-US" altLang="zh-CN" sz="2400" dirty="0">
                <a:solidFill>
                  <a:srgbClr val="000000"/>
                </a:solidFill>
              </a:rPr>
              <a:t>74XX139</a:t>
            </a:r>
            <a:endParaRPr lang="zh-CN" altLang="en-US" sz="2400" dirty="0">
              <a:solidFill>
                <a:srgbClr val="000000"/>
              </a:solidFill>
            </a:endParaRPr>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solidFill>
                  <a:srgbClr val="000000"/>
                </a:solidFill>
              </a:rPr>
              <a:pPr/>
              <a:t>147</a:t>
            </a:fld>
            <a:endParaRPr lang="zh-CN" altLang="en-US">
              <a:solidFill>
                <a:srgbClr val="000000"/>
              </a:solidFill>
            </a:endParaRPr>
          </a:p>
        </p:txBody>
      </p:sp>
      <p:pic>
        <p:nvPicPr>
          <p:cNvPr id="2253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71600" y="2492896"/>
            <a:ext cx="4151250" cy="2952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2531"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364088" y="3068960"/>
            <a:ext cx="2937209" cy="1800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7" name="标题 1"/>
          <p:cNvSpPr txBox="1">
            <a:spLocks/>
          </p:cNvSpPr>
          <p:nvPr/>
        </p:nvSpPr>
        <p:spPr bwMode="auto">
          <a:xfrm>
            <a:off x="1259632" y="0"/>
            <a:ext cx="7016824" cy="63894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fontAlgn="base">
              <a:spcBef>
                <a:spcPct val="0"/>
              </a:spcBef>
              <a:spcAft>
                <a:spcPct val="0"/>
              </a:spcAft>
              <a:defRPr/>
            </a:pP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第</a:t>
            </a:r>
            <a:r>
              <a:rPr kumimoji="1" lang="en-US" altLang="zh-CN" sz="3600" b="1" kern="0" dirty="0" smtClean="0">
                <a:solidFill>
                  <a:schemeClr val="tx2"/>
                </a:solidFill>
                <a:latin typeface="+mj-lt"/>
                <a:ea typeface="+mj-ea"/>
                <a:cs typeface="+mj-cs"/>
              </a:rPr>
              <a:t>4</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章　组合</a:t>
            </a:r>
            <a:r>
              <a:rPr kumimoji="1" lang="zh-CN" altLang="en-US" sz="3600" b="1" kern="0" dirty="0" smtClean="0">
                <a:solidFill>
                  <a:schemeClr val="tx2"/>
                </a:solidFill>
              </a:rPr>
              <a:t>逻辑</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电路</a:t>
            </a:r>
            <a:endParaRPr kumimoji="1" lang="zh-CN" altLang="en-US" sz="36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832943818"/>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数据分配器（</a:t>
            </a:r>
            <a:r>
              <a:rPr lang="en-US" altLang="zh-CN" dirty="0"/>
              <a:t>DEMUX</a:t>
            </a:r>
            <a:r>
              <a:rPr lang="zh-CN" altLang="en-US" dirty="0"/>
              <a:t>）</a:t>
            </a:r>
          </a:p>
        </p:txBody>
      </p:sp>
      <p:sp>
        <p:nvSpPr>
          <p:cNvPr id="3" name="内容占位符 2"/>
          <p:cNvSpPr>
            <a:spLocks noGrp="1"/>
          </p:cNvSpPr>
          <p:nvPr>
            <p:ph idx="1"/>
          </p:nvPr>
        </p:nvSpPr>
        <p:spPr>
          <a:xfrm>
            <a:off x="539552" y="1542208"/>
            <a:ext cx="8415536" cy="4911128"/>
          </a:xfrm>
        </p:spPr>
        <p:txBody>
          <a:bodyPr/>
          <a:lstStyle/>
          <a:p>
            <a:pPr>
              <a:lnSpc>
                <a:spcPct val="100000"/>
              </a:lnSpc>
              <a:spcBef>
                <a:spcPts val="600"/>
              </a:spcBef>
              <a:buSzPct val="100000"/>
              <a:buFont typeface="Wingdings" pitchFamily="2" charset="2"/>
              <a:buChar char="p"/>
            </a:pPr>
            <a:r>
              <a:rPr lang="en-US" altLang="zh-CN" sz="2800" dirty="0"/>
              <a:t>1</a:t>
            </a:r>
            <a:r>
              <a:rPr lang="zh-CN" altLang="en-US" sz="2800" dirty="0"/>
              <a:t>路</a:t>
            </a:r>
            <a:r>
              <a:rPr lang="en-US" altLang="zh-CN" sz="2800" dirty="0"/>
              <a:t>-8</a:t>
            </a:r>
            <a:r>
              <a:rPr lang="zh-CN" altLang="en-US" sz="2800" dirty="0"/>
              <a:t>路集成数据分配器</a:t>
            </a:r>
            <a:r>
              <a:rPr lang="en-US" altLang="zh-CN" sz="2800" dirty="0"/>
              <a:t>74XX138</a:t>
            </a:r>
          </a:p>
          <a:p>
            <a:pPr lvl="1">
              <a:lnSpc>
                <a:spcPct val="100000"/>
              </a:lnSpc>
              <a:spcBef>
                <a:spcPts val="600"/>
              </a:spcBef>
              <a:buSzPct val="100000"/>
            </a:pPr>
            <a:r>
              <a:rPr lang="en-US" altLang="zh-CN" sz="2400" dirty="0"/>
              <a:t>74XX138</a:t>
            </a:r>
            <a:r>
              <a:rPr lang="zh-CN" altLang="en-US" sz="2400" dirty="0"/>
              <a:t>不仅可以作</a:t>
            </a:r>
            <a:r>
              <a:rPr lang="en-US" altLang="zh-CN" sz="2400" dirty="0"/>
              <a:t>3</a:t>
            </a:r>
            <a:r>
              <a:rPr lang="zh-CN" altLang="en-US" sz="2400" dirty="0"/>
              <a:t>线－</a:t>
            </a:r>
            <a:r>
              <a:rPr lang="en-US" altLang="zh-CN" sz="2400" dirty="0"/>
              <a:t>8</a:t>
            </a:r>
            <a:r>
              <a:rPr lang="zh-CN" altLang="en-US" sz="2400" dirty="0"/>
              <a:t>线译码器，而且还</a:t>
            </a:r>
            <a:r>
              <a:rPr lang="zh-CN" altLang="en-US" sz="2400" dirty="0" smtClean="0"/>
              <a:t>可用作</a:t>
            </a:r>
            <a:r>
              <a:rPr lang="en-US" altLang="zh-CN" sz="2400" dirty="0"/>
              <a:t>1</a:t>
            </a:r>
            <a:r>
              <a:rPr lang="zh-CN" altLang="en-US" sz="2400" dirty="0"/>
              <a:t>路－</a:t>
            </a:r>
            <a:r>
              <a:rPr lang="en-US" altLang="zh-CN" sz="2400" dirty="0"/>
              <a:t>8</a:t>
            </a:r>
            <a:r>
              <a:rPr lang="zh-CN" altLang="en-US" sz="2400" dirty="0"/>
              <a:t>路数据分配器（如图</a:t>
            </a:r>
            <a:r>
              <a:rPr lang="en-US" altLang="zh-CN" sz="2400" dirty="0"/>
              <a:t>3</a:t>
            </a:r>
            <a:r>
              <a:rPr lang="zh-CN" altLang="en-US" sz="2400" dirty="0"/>
              <a:t>所示）。</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solidFill>
                  <a:srgbClr val="000000"/>
                </a:solidFill>
              </a:rPr>
              <a:pPr/>
              <a:t>148</a:t>
            </a:fld>
            <a:endParaRPr lang="zh-CN" altLang="en-US">
              <a:solidFill>
                <a:srgbClr val="000000"/>
              </a:solidFill>
            </a:endParaRPr>
          </a:p>
        </p:txBody>
      </p:sp>
      <p:sp>
        <p:nvSpPr>
          <p:cNvPr id="5" name="矩形 4"/>
          <p:cNvSpPr/>
          <p:nvPr/>
        </p:nvSpPr>
        <p:spPr>
          <a:xfrm>
            <a:off x="1331640" y="5768156"/>
            <a:ext cx="6480720" cy="646331"/>
          </a:xfrm>
          <a:prstGeom prst="rect">
            <a:avLst/>
          </a:prstGeom>
        </p:spPr>
        <p:txBody>
          <a:bodyPr wrap="square">
            <a:spAutoFit/>
          </a:bodyPr>
          <a:lstStyle/>
          <a:p>
            <a:pPr algn="ctr"/>
            <a:r>
              <a:rPr lang="zh-CN" altLang="en-US" dirty="0" smtClean="0">
                <a:solidFill>
                  <a:srgbClr val="000000"/>
                </a:solidFill>
              </a:rPr>
              <a:t>（</a:t>
            </a:r>
            <a:r>
              <a:rPr lang="en-US" altLang="zh-CN" dirty="0">
                <a:solidFill>
                  <a:srgbClr val="000000"/>
                </a:solidFill>
              </a:rPr>
              <a:t>a</a:t>
            </a:r>
            <a:r>
              <a:rPr lang="zh-CN" altLang="en-US" dirty="0">
                <a:solidFill>
                  <a:srgbClr val="000000"/>
                </a:solidFill>
              </a:rPr>
              <a:t>）国际</a:t>
            </a:r>
            <a:r>
              <a:rPr lang="zh-CN" altLang="en-US" dirty="0" smtClean="0">
                <a:solidFill>
                  <a:srgbClr val="000000"/>
                </a:solidFill>
              </a:rPr>
              <a:t>逻辑符号                    （</a:t>
            </a:r>
            <a:r>
              <a:rPr lang="en-US" altLang="zh-CN" dirty="0">
                <a:solidFill>
                  <a:srgbClr val="000000"/>
                </a:solidFill>
              </a:rPr>
              <a:t>b</a:t>
            </a:r>
            <a:r>
              <a:rPr lang="zh-CN" altLang="en-US" dirty="0">
                <a:solidFill>
                  <a:srgbClr val="000000"/>
                </a:solidFill>
              </a:rPr>
              <a:t>）惯用</a:t>
            </a:r>
            <a:r>
              <a:rPr lang="zh-CN" altLang="en-US" dirty="0" smtClean="0">
                <a:solidFill>
                  <a:srgbClr val="000000"/>
                </a:solidFill>
              </a:rPr>
              <a:t>逻辑符号</a:t>
            </a:r>
            <a:endParaRPr lang="en-US" altLang="zh-CN" dirty="0" smtClean="0">
              <a:solidFill>
                <a:srgbClr val="000000"/>
              </a:solidFill>
            </a:endParaRPr>
          </a:p>
          <a:p>
            <a:pPr algn="ctr"/>
            <a:r>
              <a:rPr lang="zh-CN" altLang="en-US" dirty="0" smtClean="0">
                <a:solidFill>
                  <a:srgbClr val="000000"/>
                </a:solidFill>
              </a:rPr>
              <a:t>图</a:t>
            </a:r>
            <a:r>
              <a:rPr lang="en-US" altLang="zh-CN" dirty="0" smtClean="0">
                <a:solidFill>
                  <a:srgbClr val="000000"/>
                </a:solidFill>
              </a:rPr>
              <a:t>  74138</a:t>
            </a:r>
            <a:r>
              <a:rPr lang="zh-CN" altLang="en-US" dirty="0" smtClean="0">
                <a:solidFill>
                  <a:srgbClr val="000000"/>
                </a:solidFill>
              </a:rPr>
              <a:t>用作</a:t>
            </a:r>
            <a:r>
              <a:rPr lang="en-US" altLang="zh-CN" dirty="0" smtClean="0">
                <a:solidFill>
                  <a:srgbClr val="000000"/>
                </a:solidFill>
              </a:rPr>
              <a:t>1</a:t>
            </a:r>
            <a:r>
              <a:rPr lang="zh-CN" altLang="en-US" dirty="0" smtClean="0">
                <a:solidFill>
                  <a:srgbClr val="000000"/>
                </a:solidFill>
              </a:rPr>
              <a:t>路－</a:t>
            </a:r>
            <a:r>
              <a:rPr lang="en-US" altLang="zh-CN" dirty="0" smtClean="0">
                <a:solidFill>
                  <a:srgbClr val="000000"/>
                </a:solidFill>
              </a:rPr>
              <a:t>8</a:t>
            </a:r>
            <a:r>
              <a:rPr lang="zh-CN" altLang="en-US" dirty="0" smtClean="0">
                <a:solidFill>
                  <a:srgbClr val="000000"/>
                </a:solidFill>
              </a:rPr>
              <a:t>路数据分配器的逻辑符号</a:t>
            </a:r>
            <a:endParaRPr lang="zh-CN" altLang="en-US" dirty="0">
              <a:solidFill>
                <a:srgbClr val="000000"/>
              </a:solidFill>
            </a:endParaRPr>
          </a:p>
        </p:txBody>
      </p:sp>
      <p:pic>
        <p:nvPicPr>
          <p:cNvPr id="13314" name="Picture 2" descr="E:\wrj\课件\数字电路与系统\数字电路与数字系统\tupian\4-22-2.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186792" y="2816952"/>
            <a:ext cx="2637037" cy="2880000"/>
          </a:xfrm>
          <a:prstGeom prst="rect">
            <a:avLst/>
          </a:prstGeom>
          <a:noFill/>
          <a:extLst>
            <a:ext uri="{909E8E84-426E-40DD-AFC4-6F175D3DCCD1}">
              <a14:hiddenFill xmlns:a14="http://schemas.microsoft.com/office/drawing/2010/main" xmlns="">
                <a:solidFill>
                  <a:srgbClr val="FFFFFF"/>
                </a:solidFill>
              </a14:hiddenFill>
            </a:ext>
          </a:extLst>
        </p:spPr>
      </p:pic>
      <p:pic>
        <p:nvPicPr>
          <p:cNvPr id="13315" name="Picture 3" descr="E:\wrj\课件\数字电路与系统\数字电路与数字系统\tupian\4-22-1.jp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115616" y="2996952"/>
            <a:ext cx="2673726" cy="2520000"/>
          </a:xfrm>
          <a:prstGeom prst="rect">
            <a:avLst/>
          </a:prstGeom>
          <a:noFill/>
          <a:extLst>
            <a:ext uri="{909E8E84-426E-40DD-AFC4-6F175D3DCCD1}">
              <a14:hiddenFill xmlns:a14="http://schemas.microsoft.com/office/drawing/2010/main" xmlns="">
                <a:solidFill>
                  <a:srgbClr val="FFFFFF"/>
                </a:solidFill>
              </a14:hiddenFill>
            </a:ext>
          </a:extLst>
        </p:spPr>
      </p:pic>
      <p:sp>
        <p:nvSpPr>
          <p:cNvPr id="8" name="标题 1"/>
          <p:cNvSpPr txBox="1">
            <a:spLocks/>
          </p:cNvSpPr>
          <p:nvPr/>
        </p:nvSpPr>
        <p:spPr bwMode="auto">
          <a:xfrm>
            <a:off x="1259632" y="0"/>
            <a:ext cx="7016824" cy="63894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fontAlgn="base">
              <a:spcBef>
                <a:spcPct val="0"/>
              </a:spcBef>
              <a:spcAft>
                <a:spcPct val="0"/>
              </a:spcAft>
              <a:defRPr/>
            </a:pP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第</a:t>
            </a:r>
            <a:r>
              <a:rPr kumimoji="1" lang="en-US" altLang="zh-CN" sz="3600" b="1" kern="0" dirty="0" smtClean="0">
                <a:solidFill>
                  <a:schemeClr val="tx2"/>
                </a:solidFill>
                <a:latin typeface="+mj-lt"/>
                <a:ea typeface="+mj-ea"/>
                <a:cs typeface="+mj-cs"/>
              </a:rPr>
              <a:t>4</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章　组合</a:t>
            </a:r>
            <a:r>
              <a:rPr kumimoji="1" lang="zh-CN" altLang="en-US" sz="3600" b="1" kern="0" dirty="0" smtClean="0">
                <a:solidFill>
                  <a:schemeClr val="tx2"/>
                </a:solidFill>
              </a:rPr>
              <a:t>逻辑</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电路</a:t>
            </a:r>
            <a:endParaRPr kumimoji="1" lang="zh-CN" altLang="en-US" sz="36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1339258447"/>
      </p:ext>
    </p:ext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20688"/>
            <a:ext cx="7256982" cy="638944"/>
          </a:xfrm>
        </p:spPr>
        <p:txBody>
          <a:bodyPr/>
          <a:lstStyle/>
          <a:p>
            <a:r>
              <a:rPr lang="en-US" altLang="zh-CN" dirty="0" smtClean="0"/>
              <a:t>4.8 </a:t>
            </a:r>
            <a:r>
              <a:rPr lang="zh-CN" altLang="en-US" dirty="0" smtClean="0"/>
              <a:t>组合逻辑电路</a:t>
            </a:r>
            <a:r>
              <a:rPr lang="zh-CN" altLang="en-US" dirty="0"/>
              <a:t>中的</a:t>
            </a:r>
            <a:r>
              <a:rPr lang="zh-CN" altLang="en-US" dirty="0" smtClean="0"/>
              <a:t>竞争冒险</a:t>
            </a:r>
            <a:endParaRPr lang="zh-CN" altLang="en-US" dirty="0"/>
          </a:p>
        </p:txBody>
      </p:sp>
      <p:sp>
        <p:nvSpPr>
          <p:cNvPr id="3" name="内容占位符 2"/>
          <p:cNvSpPr>
            <a:spLocks noGrp="1"/>
          </p:cNvSpPr>
          <p:nvPr>
            <p:ph idx="1"/>
          </p:nvPr>
        </p:nvSpPr>
        <p:spPr>
          <a:xfrm>
            <a:off x="539552" y="1484784"/>
            <a:ext cx="8415536" cy="4911128"/>
          </a:xfrm>
        </p:spPr>
        <p:txBody>
          <a:bodyPr/>
          <a:lstStyle/>
          <a:p>
            <a:pPr>
              <a:buSzPct val="100000"/>
              <a:buFont typeface="Wingdings" pitchFamily="2" charset="2"/>
              <a:buChar char="p"/>
            </a:pPr>
            <a:r>
              <a:rPr lang="zh-CN" altLang="en-US" sz="2800" dirty="0" smtClean="0"/>
              <a:t>竞争</a:t>
            </a:r>
            <a:r>
              <a:rPr lang="zh-CN" altLang="en-US" sz="2800" dirty="0"/>
              <a:t>－冒险现象及成因 </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149</a:t>
            </a:fld>
            <a:endParaRPr lang="zh-CN" altLang="en-US"/>
          </a:p>
        </p:txBody>
      </p:sp>
      <p:sp>
        <p:nvSpPr>
          <p:cNvPr id="6" name="Text Box 16"/>
          <p:cNvSpPr txBox="1">
            <a:spLocks noChangeArrowheads="1"/>
          </p:cNvSpPr>
          <p:nvPr/>
        </p:nvSpPr>
        <p:spPr bwMode="auto">
          <a:xfrm>
            <a:off x="1045287" y="6498212"/>
            <a:ext cx="3384550"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sz="1600" b="1" dirty="0" smtClean="0">
                <a:latin typeface="楷体_GB2312" pitchFamily="49" charset="-122"/>
                <a:ea typeface="楷体_GB2312" pitchFamily="49" charset="-122"/>
              </a:rPr>
              <a:t>图</a:t>
            </a:r>
            <a:r>
              <a:rPr kumimoji="1" lang="en-US" altLang="zh-CN" sz="1600" b="1" dirty="0" smtClean="0">
                <a:latin typeface="楷体_GB2312" pitchFamily="49" charset="-122"/>
                <a:ea typeface="楷体_GB2312" pitchFamily="49" charset="-122"/>
              </a:rPr>
              <a:t>  </a:t>
            </a:r>
            <a:r>
              <a:rPr kumimoji="1" lang="zh-CN" altLang="en-US" sz="1600" b="1" dirty="0">
                <a:latin typeface="楷体_GB2312" pitchFamily="49" charset="-122"/>
                <a:ea typeface="楷体_GB2312" pitchFamily="49" charset="-122"/>
              </a:rPr>
              <a:t>竞争－冒险现象</a:t>
            </a:r>
          </a:p>
        </p:txBody>
      </p:sp>
      <p:pic>
        <p:nvPicPr>
          <p:cNvPr id="7" name="Picture 17" descr="3-4-1"/>
          <p:cNvPicPr>
            <a:picLocks noChangeAspect="1" noChangeArrowheads="1"/>
          </p:cNvPicPr>
          <p:nvPr/>
        </p:nvPicPr>
        <p:blipFill>
          <a:blip r:embed="rId2" cstate="print">
            <a:clrChange>
              <a:clrFrom>
                <a:srgbClr val="F6F6F6"/>
              </a:clrFrom>
              <a:clrTo>
                <a:srgbClr val="F6F6F6">
                  <a:alpha val="0"/>
                </a:srgbClr>
              </a:clrTo>
            </a:clrChange>
            <a:lum contrast="30000"/>
            <a:extLst>
              <a:ext uri="{28A0092B-C50C-407E-A947-70E740481C1C}">
                <a14:useLocalDpi xmlns:a14="http://schemas.microsoft.com/office/drawing/2010/main" xmlns="" val="0"/>
              </a:ext>
            </a:extLst>
          </a:blip>
          <a:srcRect/>
          <a:stretch>
            <a:fillRect/>
          </a:stretch>
        </p:blipFill>
        <p:spPr bwMode="auto">
          <a:xfrm>
            <a:off x="829387" y="1940904"/>
            <a:ext cx="3816350" cy="4608512"/>
          </a:xfrm>
          <a:prstGeom prst="rect">
            <a:avLst/>
          </a:prstGeom>
          <a:noFill/>
          <a:extLst>
            <a:ext uri="{909E8E84-426E-40DD-AFC4-6F175D3DCCD1}">
              <a14:hiddenFill xmlns:a14="http://schemas.microsoft.com/office/drawing/2010/main" xmlns="">
                <a:solidFill>
                  <a:srgbClr val="FFFFFF"/>
                </a:solidFill>
              </a14:hiddenFill>
            </a:ext>
          </a:extLst>
        </p:spPr>
      </p:pic>
      <p:sp>
        <p:nvSpPr>
          <p:cNvPr id="8" name="矩形 7"/>
          <p:cNvSpPr/>
          <p:nvPr/>
        </p:nvSpPr>
        <p:spPr>
          <a:xfrm>
            <a:off x="4932040" y="2276872"/>
            <a:ext cx="3792512" cy="2939266"/>
          </a:xfrm>
          <a:prstGeom prst="rect">
            <a:avLst/>
          </a:prstGeom>
        </p:spPr>
        <p:txBody>
          <a:bodyPr wrap="square">
            <a:spAutoFit/>
          </a:bodyPr>
          <a:lstStyle/>
          <a:p>
            <a:pPr>
              <a:spcBef>
                <a:spcPts val="600"/>
              </a:spcBef>
            </a:pPr>
            <a:r>
              <a:rPr lang="zh-CN" altLang="en-US" sz="2000" b="1" dirty="0" smtClean="0"/>
              <a:t>成因：</a:t>
            </a:r>
            <a:endParaRPr lang="en-US" altLang="zh-CN" sz="2000" b="1" dirty="0" smtClean="0"/>
          </a:p>
          <a:p>
            <a:pPr>
              <a:spcBef>
                <a:spcPts val="600"/>
              </a:spcBef>
            </a:pPr>
            <a:r>
              <a:rPr lang="zh-CN" altLang="en-US" sz="2000" b="1" dirty="0" smtClean="0"/>
              <a:t>       当</a:t>
            </a:r>
            <a:r>
              <a:rPr lang="zh-CN" altLang="en-US" sz="2000" b="1" dirty="0"/>
              <a:t>两个输入信号</a:t>
            </a:r>
            <a:r>
              <a:rPr lang="zh-CN" altLang="en-US" sz="2000" b="1" dirty="0">
                <a:solidFill>
                  <a:srgbClr val="FF0000"/>
                </a:solidFill>
              </a:rPr>
              <a:t>同时</a:t>
            </a:r>
            <a:r>
              <a:rPr lang="zh-CN" altLang="en-US" sz="2000" b="1" dirty="0"/>
              <a:t>向相反的逻辑电平跳变时（一个从1变为0，一个从0变为1），由于存在时刻上的</a:t>
            </a:r>
            <a:r>
              <a:rPr lang="zh-CN" altLang="en-US" sz="2000" b="1" dirty="0">
                <a:solidFill>
                  <a:srgbClr val="0070C0"/>
                </a:solidFill>
              </a:rPr>
              <a:t>差异</a:t>
            </a:r>
            <a:r>
              <a:rPr lang="zh-CN" altLang="en-US" sz="2000" b="1" dirty="0"/>
              <a:t>，使两个信号在</a:t>
            </a:r>
            <a:r>
              <a:rPr lang="zh-CN" altLang="en-US" sz="2000" b="1" dirty="0">
                <a:solidFill>
                  <a:srgbClr val="FF0000"/>
                </a:solidFill>
              </a:rPr>
              <a:t>Δt</a:t>
            </a:r>
            <a:r>
              <a:rPr lang="zh-CN" altLang="en-US" sz="2000" b="1" dirty="0"/>
              <a:t>的极短时间内</a:t>
            </a:r>
            <a:r>
              <a:rPr lang="zh-CN" altLang="en-US" sz="2000" b="1" dirty="0">
                <a:solidFill>
                  <a:srgbClr val="FF0000"/>
                </a:solidFill>
              </a:rPr>
              <a:t>同时</a:t>
            </a:r>
            <a:r>
              <a:rPr lang="zh-CN" altLang="en-US" sz="2000" b="1" dirty="0"/>
              <a:t>为高电平或低电平，从而产生</a:t>
            </a:r>
            <a:r>
              <a:rPr lang="zh-CN" altLang="en-US" sz="2000" b="1" dirty="0">
                <a:solidFill>
                  <a:srgbClr val="FF0000"/>
                </a:solidFill>
              </a:rPr>
              <a:t>尖峰脉冲</a:t>
            </a:r>
            <a:r>
              <a:rPr lang="zh-CN" altLang="en-US" sz="2000" b="1" dirty="0"/>
              <a:t>，不符合门电路稳态下的逻辑功能，产生</a:t>
            </a:r>
            <a:r>
              <a:rPr lang="zh-CN" altLang="en-US" sz="2000" b="1" dirty="0">
                <a:solidFill>
                  <a:srgbClr val="FF0000"/>
                </a:solidFill>
              </a:rPr>
              <a:t>内部噪声</a:t>
            </a:r>
            <a:r>
              <a:rPr lang="zh-CN" altLang="en-US" sz="2000" b="1" dirty="0"/>
              <a:t>。</a:t>
            </a:r>
          </a:p>
        </p:txBody>
      </p:sp>
      <p:sp>
        <p:nvSpPr>
          <p:cNvPr id="9" name="标题 1"/>
          <p:cNvSpPr txBox="1">
            <a:spLocks/>
          </p:cNvSpPr>
          <p:nvPr/>
        </p:nvSpPr>
        <p:spPr bwMode="auto">
          <a:xfrm>
            <a:off x="1259632" y="0"/>
            <a:ext cx="7016824" cy="63894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fontAlgn="base">
              <a:spcBef>
                <a:spcPct val="0"/>
              </a:spcBef>
              <a:spcAft>
                <a:spcPct val="0"/>
              </a:spcAft>
              <a:defRPr/>
            </a:pP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第</a:t>
            </a:r>
            <a:r>
              <a:rPr kumimoji="1" lang="en-US" altLang="zh-CN" sz="3600" b="1" kern="0" dirty="0" smtClean="0">
                <a:solidFill>
                  <a:schemeClr val="tx2"/>
                </a:solidFill>
                <a:latin typeface="+mj-lt"/>
                <a:ea typeface="+mj-ea"/>
                <a:cs typeface="+mj-cs"/>
              </a:rPr>
              <a:t>4</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章　组合</a:t>
            </a:r>
            <a:r>
              <a:rPr kumimoji="1" lang="zh-CN" altLang="en-US" sz="3600" b="1" kern="0" dirty="0" smtClean="0">
                <a:solidFill>
                  <a:schemeClr val="tx2"/>
                </a:solidFill>
              </a:rPr>
              <a:t>逻辑</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电路</a:t>
            </a:r>
            <a:endParaRPr kumimoji="1" lang="zh-CN" altLang="en-US" sz="36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1430479006"/>
      </p:ext>
    </p:extLst>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92696"/>
            <a:ext cx="7473006" cy="566936"/>
          </a:xfrm>
        </p:spPr>
        <p:txBody>
          <a:bodyPr/>
          <a:lstStyle/>
          <a:p>
            <a:r>
              <a:rPr lang="en-US" altLang="zh-CN" dirty="0" smtClean="0"/>
              <a:t>4.8 </a:t>
            </a:r>
            <a:r>
              <a:rPr lang="zh-CN" altLang="en-US" dirty="0" smtClean="0"/>
              <a:t>组合逻辑电路中的竞争冒险</a:t>
            </a:r>
            <a:endParaRPr lang="zh-CN" altLang="en-US" dirty="0"/>
          </a:p>
        </p:txBody>
      </p:sp>
      <p:sp>
        <p:nvSpPr>
          <p:cNvPr id="3" name="内容占位符 2"/>
          <p:cNvSpPr>
            <a:spLocks noGrp="1"/>
          </p:cNvSpPr>
          <p:nvPr>
            <p:ph idx="1"/>
          </p:nvPr>
        </p:nvSpPr>
        <p:spPr>
          <a:xfrm>
            <a:off x="539552" y="1542208"/>
            <a:ext cx="8280920" cy="4911128"/>
          </a:xfrm>
        </p:spPr>
        <p:txBody>
          <a:bodyPr/>
          <a:lstStyle/>
          <a:p>
            <a:pPr>
              <a:lnSpc>
                <a:spcPct val="100000"/>
              </a:lnSpc>
              <a:spcBef>
                <a:spcPts val="600"/>
              </a:spcBef>
              <a:buSzPct val="100000"/>
              <a:buFont typeface="Wingdings" pitchFamily="2" charset="2"/>
              <a:buChar char="p"/>
            </a:pPr>
            <a:r>
              <a:rPr lang="zh-CN" altLang="en-US" sz="2800" dirty="0" smtClean="0"/>
              <a:t>基本概念</a:t>
            </a:r>
            <a:endParaRPr lang="en-US" altLang="zh-CN" sz="2800" dirty="0" smtClean="0"/>
          </a:p>
          <a:p>
            <a:pPr lvl="1">
              <a:lnSpc>
                <a:spcPct val="100000"/>
              </a:lnSpc>
              <a:spcBef>
                <a:spcPts val="600"/>
              </a:spcBef>
              <a:buSzPct val="100000"/>
            </a:pPr>
            <a:r>
              <a:rPr lang="zh-CN" altLang="en-US" sz="2400" dirty="0" smtClean="0"/>
              <a:t>竞争</a:t>
            </a:r>
            <a:endParaRPr lang="en-US" altLang="zh-CN" sz="2400" dirty="0" smtClean="0"/>
          </a:p>
          <a:p>
            <a:pPr lvl="2">
              <a:lnSpc>
                <a:spcPct val="100000"/>
              </a:lnSpc>
              <a:spcBef>
                <a:spcPts val="600"/>
              </a:spcBef>
              <a:buSzPct val="100000"/>
              <a:buFont typeface="Wingdings" pitchFamily="2" charset="2"/>
              <a:buChar char="u"/>
            </a:pPr>
            <a:r>
              <a:rPr lang="zh-CN" altLang="en-US" dirty="0" smtClean="0"/>
              <a:t>门电路</a:t>
            </a:r>
            <a:r>
              <a:rPr lang="zh-CN" altLang="en-US" dirty="0"/>
              <a:t>两个输入信号</a:t>
            </a:r>
            <a:r>
              <a:rPr lang="zh-CN" altLang="en-US" dirty="0">
                <a:solidFill>
                  <a:srgbClr val="FF0000"/>
                </a:solidFill>
              </a:rPr>
              <a:t>同时向相反</a:t>
            </a:r>
            <a:r>
              <a:rPr lang="zh-CN" altLang="en-US" dirty="0"/>
              <a:t>的逻辑电平跳变（一个从</a:t>
            </a:r>
            <a:r>
              <a:rPr lang="en-US" altLang="zh-CN" dirty="0"/>
              <a:t>1</a:t>
            </a:r>
            <a:r>
              <a:rPr lang="zh-CN" altLang="en-US" dirty="0"/>
              <a:t>变为</a:t>
            </a:r>
            <a:r>
              <a:rPr lang="en-US" altLang="zh-CN" dirty="0"/>
              <a:t>0</a:t>
            </a:r>
            <a:r>
              <a:rPr lang="zh-CN" altLang="en-US" dirty="0"/>
              <a:t>，一个从</a:t>
            </a:r>
            <a:r>
              <a:rPr lang="en-US" altLang="zh-CN" dirty="0"/>
              <a:t>0</a:t>
            </a:r>
            <a:r>
              <a:rPr lang="zh-CN" altLang="en-US" dirty="0"/>
              <a:t>变为</a:t>
            </a:r>
            <a:r>
              <a:rPr lang="en-US" altLang="zh-CN" dirty="0"/>
              <a:t>1</a:t>
            </a:r>
            <a:r>
              <a:rPr lang="zh-CN" altLang="en-US" dirty="0"/>
              <a:t>）的现象叫</a:t>
            </a:r>
            <a:r>
              <a:rPr lang="zh-CN" altLang="en-US" dirty="0">
                <a:solidFill>
                  <a:srgbClr val="0000CC"/>
                </a:solidFill>
              </a:rPr>
              <a:t>竞争</a:t>
            </a:r>
            <a:r>
              <a:rPr lang="zh-CN" altLang="en-US" dirty="0"/>
              <a:t>。</a:t>
            </a:r>
          </a:p>
          <a:p>
            <a:pPr lvl="1">
              <a:lnSpc>
                <a:spcPct val="100000"/>
              </a:lnSpc>
              <a:spcBef>
                <a:spcPts val="600"/>
              </a:spcBef>
              <a:buSzPct val="100000"/>
            </a:pPr>
            <a:r>
              <a:rPr lang="zh-CN" altLang="en-US" sz="2400" dirty="0"/>
              <a:t>竞争－</a:t>
            </a:r>
            <a:r>
              <a:rPr lang="zh-CN" altLang="en-US" sz="2400" dirty="0" smtClean="0"/>
              <a:t>冒险</a:t>
            </a:r>
            <a:endParaRPr lang="en-US" altLang="zh-CN" sz="2400" dirty="0" smtClean="0"/>
          </a:p>
          <a:p>
            <a:pPr lvl="2">
              <a:lnSpc>
                <a:spcPct val="100000"/>
              </a:lnSpc>
              <a:spcBef>
                <a:spcPts val="600"/>
              </a:spcBef>
              <a:buSzPct val="100000"/>
              <a:buFont typeface="Wingdings" pitchFamily="2" charset="2"/>
              <a:buChar char="u"/>
            </a:pPr>
            <a:r>
              <a:rPr lang="zh-CN" altLang="en-US" dirty="0" smtClean="0"/>
              <a:t>有</a:t>
            </a:r>
            <a:r>
              <a:rPr lang="zh-CN" altLang="en-US" dirty="0"/>
              <a:t>竞争不一定产生尖峰脉冲。</a:t>
            </a:r>
          </a:p>
          <a:p>
            <a:pPr lvl="2">
              <a:lnSpc>
                <a:spcPct val="100000"/>
              </a:lnSpc>
              <a:spcBef>
                <a:spcPts val="600"/>
              </a:spcBef>
              <a:buSzPct val="100000"/>
              <a:buFont typeface="Wingdings" pitchFamily="2" charset="2"/>
              <a:buChar char="u"/>
            </a:pPr>
            <a:r>
              <a:rPr lang="zh-CN" altLang="en-US" dirty="0" smtClean="0"/>
              <a:t>由于</a:t>
            </a:r>
            <a:r>
              <a:rPr lang="zh-CN" altLang="en-US" dirty="0"/>
              <a:t>竞争而在电路输出端可能产生</a:t>
            </a:r>
            <a:r>
              <a:rPr lang="zh-CN" altLang="en-US" dirty="0">
                <a:solidFill>
                  <a:srgbClr val="FF0000"/>
                </a:solidFill>
              </a:rPr>
              <a:t>尖峰脉冲</a:t>
            </a:r>
            <a:r>
              <a:rPr lang="zh-CN" altLang="en-US" dirty="0"/>
              <a:t>的现象叫做</a:t>
            </a:r>
            <a:r>
              <a:rPr lang="zh-CN" altLang="en-US" dirty="0">
                <a:solidFill>
                  <a:srgbClr val="0000CC"/>
                </a:solidFill>
              </a:rPr>
              <a:t>竞争－冒险</a:t>
            </a:r>
            <a:r>
              <a:rPr lang="zh-CN" altLang="en-US" dirty="0"/>
              <a:t>。</a:t>
            </a:r>
          </a:p>
          <a:p>
            <a:endParaRPr lang="zh-CN" altLang="en-US" dirty="0"/>
          </a:p>
        </p:txBody>
      </p:sp>
    </p:spTree>
    <p:extLst>
      <p:ext uri="{BB962C8B-B14F-4D97-AF65-F5344CB8AC3E}">
        <p14:creationId xmlns:p14="http://schemas.microsoft.com/office/powerpoint/2010/main" xmlns="" val="573496241"/>
      </p:ext>
    </p:extLst>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20688"/>
            <a:ext cx="7545014" cy="638944"/>
          </a:xfrm>
        </p:spPr>
        <p:txBody>
          <a:bodyPr/>
          <a:lstStyle/>
          <a:p>
            <a:r>
              <a:rPr lang="en-US" altLang="zh-CN" dirty="0" smtClean="0"/>
              <a:t>4.8 </a:t>
            </a:r>
            <a:r>
              <a:rPr lang="zh-CN" altLang="en-US" dirty="0" smtClean="0"/>
              <a:t>组合逻辑电路中的竞争冒险</a:t>
            </a:r>
            <a:endParaRPr lang="zh-CN" altLang="en-US" dirty="0"/>
          </a:p>
        </p:txBody>
      </p:sp>
      <p:sp>
        <p:nvSpPr>
          <p:cNvPr id="3" name="内容占位符 2"/>
          <p:cNvSpPr>
            <a:spLocks noGrp="1"/>
          </p:cNvSpPr>
          <p:nvPr>
            <p:ph idx="1"/>
          </p:nvPr>
        </p:nvSpPr>
        <p:spPr>
          <a:xfrm>
            <a:off x="467545" y="1556792"/>
            <a:ext cx="7992888" cy="4911128"/>
          </a:xfrm>
        </p:spPr>
        <p:txBody>
          <a:bodyPr/>
          <a:lstStyle/>
          <a:p>
            <a:pPr>
              <a:lnSpc>
                <a:spcPct val="100000"/>
              </a:lnSpc>
              <a:spcBef>
                <a:spcPts val="600"/>
              </a:spcBef>
              <a:buSzPct val="100000"/>
              <a:buFont typeface="Wingdings" pitchFamily="2" charset="2"/>
              <a:buChar char="p"/>
            </a:pPr>
            <a:r>
              <a:rPr lang="zh-CN" altLang="en-US" sz="2800" dirty="0"/>
              <a:t>检查竞争－冒险现象的方法</a:t>
            </a:r>
          </a:p>
          <a:p>
            <a:pPr marL="914400" lvl="1" indent="-457200">
              <a:lnSpc>
                <a:spcPct val="100000"/>
              </a:lnSpc>
              <a:spcBef>
                <a:spcPts val="600"/>
              </a:spcBef>
              <a:buSzPct val="80000"/>
              <a:buFont typeface="+mj-lt"/>
              <a:buAutoNum type="arabicPeriod"/>
            </a:pPr>
            <a:r>
              <a:rPr lang="zh-CN" altLang="en-US" sz="2400" dirty="0" smtClean="0"/>
              <a:t>可</a:t>
            </a:r>
            <a:r>
              <a:rPr lang="zh-CN" altLang="en-US" sz="2400" dirty="0"/>
              <a:t>通过逻辑函数式判断组合逻辑电路中是否有竞争－冒险存在。只要输出端的逻辑函数在一定条件下能化</a:t>
            </a:r>
            <a:r>
              <a:rPr lang="zh-CN" altLang="en-US" sz="2400" dirty="0" smtClean="0"/>
              <a:t>简成                   或                 的</a:t>
            </a:r>
            <a:r>
              <a:rPr lang="zh-CN" altLang="en-US" sz="2400" dirty="0"/>
              <a:t>形式，则可判定存在竞争－冒险（此方法适用于任何瞬间只可能有一个输入变量改变状态的情况）。</a:t>
            </a:r>
          </a:p>
          <a:p>
            <a:pPr marL="914400" lvl="1" indent="-457200">
              <a:lnSpc>
                <a:spcPct val="100000"/>
              </a:lnSpc>
              <a:spcBef>
                <a:spcPts val="600"/>
              </a:spcBef>
              <a:buSzPct val="80000"/>
              <a:buFont typeface="+mj-lt"/>
              <a:buAutoNum type="arabicPeriod" startAt="2"/>
            </a:pPr>
            <a:r>
              <a:rPr lang="zh-CN" altLang="en-US" sz="2400" dirty="0" smtClean="0"/>
              <a:t>用</a:t>
            </a:r>
            <a:r>
              <a:rPr lang="zh-CN" altLang="en-US" sz="2400" dirty="0"/>
              <a:t>计算机辅助分析，运行数字电路的模拟程序</a:t>
            </a:r>
            <a:r>
              <a:rPr lang="zh-CN" altLang="en-US" sz="2400" dirty="0" smtClean="0"/>
              <a:t>。      在</a:t>
            </a:r>
            <a:r>
              <a:rPr lang="en-US" altLang="zh-CN" sz="2400" dirty="0" smtClean="0"/>
              <a:t>EDA</a:t>
            </a:r>
            <a:r>
              <a:rPr lang="zh-CN" altLang="en-US" sz="2400" dirty="0" smtClean="0"/>
              <a:t>或</a:t>
            </a:r>
            <a:r>
              <a:rPr lang="en-US" altLang="zh-CN" sz="2400" dirty="0" smtClean="0"/>
              <a:t>Foundation</a:t>
            </a:r>
            <a:r>
              <a:rPr lang="zh-CN" altLang="en-US" sz="2400" dirty="0" smtClean="0"/>
              <a:t>中</a:t>
            </a:r>
            <a:r>
              <a:rPr lang="zh-CN" altLang="en-US" sz="2400" dirty="0"/>
              <a:t>演示顺序脉冲中的竞争－冒险现象。</a:t>
            </a:r>
          </a:p>
          <a:p>
            <a:pPr marL="914400" lvl="1" indent="-457200">
              <a:lnSpc>
                <a:spcPct val="100000"/>
              </a:lnSpc>
              <a:spcBef>
                <a:spcPts val="600"/>
              </a:spcBef>
              <a:buSzPct val="80000"/>
              <a:buFont typeface="+mj-lt"/>
              <a:buAutoNum type="arabicPeriod" startAt="2"/>
            </a:pPr>
            <a:r>
              <a:rPr lang="zh-CN" altLang="en-US" sz="2400" dirty="0" smtClean="0"/>
              <a:t>用</a:t>
            </a:r>
            <a:r>
              <a:rPr lang="zh-CN" altLang="en-US" sz="2400" dirty="0"/>
              <a:t>实验检查</a:t>
            </a:r>
            <a:r>
              <a:rPr lang="zh-CN" altLang="en-US" sz="2400" dirty="0" smtClean="0"/>
              <a:t>。</a:t>
            </a:r>
            <a:endParaRPr lang="zh-CN" altLang="en-US" sz="2400" dirty="0"/>
          </a:p>
        </p:txBody>
      </p:sp>
      <p:graphicFrame>
        <p:nvGraphicFramePr>
          <p:cNvPr id="4" name="Object 11"/>
          <p:cNvGraphicFramePr>
            <a:graphicFrameLocks noChangeAspect="1"/>
          </p:cNvGraphicFramePr>
          <p:nvPr>
            <p:extLst>
              <p:ext uri="{D42A27DB-BD31-4B8C-83A1-F6EECF244321}">
                <p14:modId xmlns:p14="http://schemas.microsoft.com/office/powerpoint/2010/main" xmlns="" val="3427908327"/>
              </p:ext>
            </p:extLst>
          </p:nvPr>
        </p:nvGraphicFramePr>
        <p:xfrm>
          <a:off x="2843808" y="2780928"/>
          <a:ext cx="1296988" cy="417513"/>
        </p:xfrm>
        <a:graphic>
          <a:graphicData uri="http://schemas.openxmlformats.org/presentationml/2006/ole">
            <p:oleObj spid="_x0000_s32062" name="Equation" r:id="rId3" imgW="588960" imgH="178560" progId="">
              <p:embed/>
            </p:oleObj>
          </a:graphicData>
        </a:graphic>
      </p:graphicFrame>
      <p:graphicFrame>
        <p:nvGraphicFramePr>
          <p:cNvPr id="5" name="Object 12"/>
          <p:cNvGraphicFramePr>
            <a:graphicFrameLocks noChangeAspect="1"/>
          </p:cNvGraphicFramePr>
          <p:nvPr>
            <p:extLst>
              <p:ext uri="{D42A27DB-BD31-4B8C-83A1-F6EECF244321}">
                <p14:modId xmlns:p14="http://schemas.microsoft.com/office/powerpoint/2010/main" xmlns="" val="4254005785"/>
              </p:ext>
            </p:extLst>
          </p:nvPr>
        </p:nvGraphicFramePr>
        <p:xfrm>
          <a:off x="4860032" y="2780928"/>
          <a:ext cx="1152525" cy="409575"/>
        </p:xfrm>
        <a:graphic>
          <a:graphicData uri="http://schemas.openxmlformats.org/presentationml/2006/ole">
            <p:oleObj spid="_x0000_s32063" name="Equation" r:id="rId4" imgW="526680" imgH="178560" progId="">
              <p:embed/>
            </p:oleObj>
          </a:graphicData>
        </a:graphic>
      </p:graphicFrame>
    </p:spTree>
    <p:extLst>
      <p:ext uri="{BB962C8B-B14F-4D97-AF65-F5344CB8AC3E}">
        <p14:creationId xmlns:p14="http://schemas.microsoft.com/office/powerpoint/2010/main" xmlns="" val="363596125"/>
      </p:ext>
    </p:extLst>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20688"/>
            <a:ext cx="7473006" cy="638944"/>
          </a:xfrm>
        </p:spPr>
        <p:txBody>
          <a:bodyPr/>
          <a:lstStyle/>
          <a:p>
            <a:r>
              <a:rPr lang="en-US" altLang="zh-CN" dirty="0" smtClean="0"/>
              <a:t>4.8 </a:t>
            </a:r>
            <a:r>
              <a:rPr lang="zh-CN" altLang="en-US" dirty="0" smtClean="0"/>
              <a:t>组合逻辑电路中的竞争冒险</a:t>
            </a:r>
            <a:endParaRPr lang="zh-CN" altLang="en-US" dirty="0"/>
          </a:p>
        </p:txBody>
      </p:sp>
      <p:sp>
        <p:nvSpPr>
          <p:cNvPr id="3" name="内容占位符 2"/>
          <p:cNvSpPr>
            <a:spLocks noGrp="1"/>
          </p:cNvSpPr>
          <p:nvPr>
            <p:ph idx="1"/>
          </p:nvPr>
        </p:nvSpPr>
        <p:spPr>
          <a:xfrm>
            <a:off x="539552" y="1484784"/>
            <a:ext cx="6041107" cy="4911128"/>
          </a:xfrm>
        </p:spPr>
        <p:txBody>
          <a:bodyPr/>
          <a:lstStyle/>
          <a:p>
            <a:pPr>
              <a:lnSpc>
                <a:spcPct val="100000"/>
              </a:lnSpc>
              <a:spcBef>
                <a:spcPts val="600"/>
              </a:spcBef>
              <a:buSzPct val="100000"/>
              <a:buFont typeface="Wingdings" pitchFamily="2" charset="2"/>
              <a:buChar char="p"/>
            </a:pPr>
            <a:r>
              <a:rPr lang="zh-CN" altLang="en-US" sz="2800" dirty="0"/>
              <a:t>消除竞争－冒险现象的方法</a:t>
            </a:r>
          </a:p>
          <a:p>
            <a:pPr lvl="1">
              <a:lnSpc>
                <a:spcPct val="100000"/>
              </a:lnSpc>
              <a:spcBef>
                <a:spcPts val="600"/>
              </a:spcBef>
              <a:buSzPct val="100000"/>
            </a:pPr>
            <a:r>
              <a:rPr lang="zh-CN" altLang="en-US" sz="2400" dirty="0" smtClean="0"/>
              <a:t>（</a:t>
            </a:r>
            <a:r>
              <a:rPr lang="zh-CN" altLang="en-US" sz="2400" dirty="0"/>
              <a:t>一）接入滤波</a:t>
            </a:r>
            <a:r>
              <a:rPr lang="zh-CN" altLang="en-US" sz="2400" dirty="0" smtClean="0"/>
              <a:t>电容</a:t>
            </a:r>
            <a:endParaRPr lang="en-US" altLang="zh-CN" sz="2400" dirty="0" smtClean="0"/>
          </a:p>
          <a:p>
            <a:pPr lvl="1">
              <a:lnSpc>
                <a:spcPct val="100000"/>
              </a:lnSpc>
              <a:spcBef>
                <a:spcPts val="600"/>
              </a:spcBef>
              <a:buSzPct val="100000"/>
            </a:pPr>
            <a:endParaRPr lang="en-US" altLang="zh-CN" sz="2400" dirty="0" smtClean="0"/>
          </a:p>
          <a:p>
            <a:pPr>
              <a:lnSpc>
                <a:spcPct val="100000"/>
              </a:lnSpc>
              <a:spcBef>
                <a:spcPts val="600"/>
              </a:spcBef>
            </a:pPr>
            <a:endParaRPr lang="zh-CN" altLang="en-US" dirty="0"/>
          </a:p>
        </p:txBody>
      </p:sp>
      <p:sp>
        <p:nvSpPr>
          <p:cNvPr id="10" name="Text Box 10"/>
          <p:cNvSpPr txBox="1">
            <a:spLocks noChangeArrowheads="1"/>
          </p:cNvSpPr>
          <p:nvPr/>
        </p:nvSpPr>
        <p:spPr bwMode="auto">
          <a:xfrm>
            <a:off x="5724128" y="6093296"/>
            <a:ext cx="2736850" cy="646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b="1" dirty="0" smtClean="0">
                <a:latin typeface="+mn-ea"/>
              </a:rPr>
              <a:t>图</a:t>
            </a:r>
            <a:r>
              <a:rPr kumimoji="1" lang="en-US" altLang="zh-CN" b="1" dirty="0" smtClean="0">
                <a:latin typeface="+mn-ea"/>
              </a:rPr>
              <a:t>  </a:t>
            </a:r>
            <a:r>
              <a:rPr kumimoji="1" lang="zh-CN" altLang="en-US" b="1" dirty="0">
                <a:latin typeface="+mn-ea"/>
              </a:rPr>
              <a:t>接入滤波电容消除竞争－冒险现象的示意图</a:t>
            </a:r>
          </a:p>
        </p:txBody>
      </p:sp>
      <p:pic>
        <p:nvPicPr>
          <p:cNvPr id="13" name="Picture 15" descr="3-4-2"/>
          <p:cNvPicPr>
            <a:picLocks noChangeAspect="1" noChangeArrowheads="1"/>
          </p:cNvPicPr>
          <p:nvPr/>
        </p:nvPicPr>
        <p:blipFill>
          <a:blip r:embed="rId2" cstate="print">
            <a:clrChange>
              <a:clrFrom>
                <a:srgbClr val="EBEBEB"/>
              </a:clrFrom>
              <a:clrTo>
                <a:srgbClr val="EBEBEB">
                  <a:alpha val="0"/>
                </a:srgbClr>
              </a:clrTo>
            </a:clrChange>
            <a:lum bright="-12000" contrast="48000"/>
            <a:extLst>
              <a:ext uri="{28A0092B-C50C-407E-A947-70E740481C1C}">
                <a14:useLocalDpi xmlns:a14="http://schemas.microsoft.com/office/drawing/2010/main" xmlns="" val="0"/>
              </a:ext>
            </a:extLst>
          </a:blip>
          <a:srcRect/>
          <a:stretch>
            <a:fillRect/>
          </a:stretch>
        </p:blipFill>
        <p:spPr bwMode="auto">
          <a:xfrm>
            <a:off x="5291463" y="2204864"/>
            <a:ext cx="3431353" cy="3936036"/>
          </a:xfrm>
          <a:prstGeom prst="rect">
            <a:avLst/>
          </a:prstGeom>
          <a:noFill/>
          <a:extLst>
            <a:ext uri="{909E8E84-426E-40DD-AFC4-6F175D3DCCD1}">
              <a14:hiddenFill xmlns:a14="http://schemas.microsoft.com/office/drawing/2010/main" xmlns="">
                <a:solidFill>
                  <a:srgbClr val="FFFFFF"/>
                </a:solidFill>
              </a14:hiddenFill>
            </a:ext>
          </a:extLst>
        </p:spPr>
      </p:pic>
      <p:sp>
        <p:nvSpPr>
          <p:cNvPr id="14" name="矩形 13"/>
          <p:cNvSpPr/>
          <p:nvPr/>
        </p:nvSpPr>
        <p:spPr>
          <a:xfrm>
            <a:off x="539552" y="2564904"/>
            <a:ext cx="4320480" cy="2246769"/>
          </a:xfrm>
          <a:prstGeom prst="rect">
            <a:avLst/>
          </a:prstGeom>
        </p:spPr>
        <p:txBody>
          <a:bodyPr wrap="square">
            <a:spAutoFit/>
          </a:bodyPr>
          <a:lstStyle/>
          <a:p>
            <a:pPr lvl="2">
              <a:spcBef>
                <a:spcPts val="600"/>
              </a:spcBef>
            </a:pPr>
            <a:r>
              <a:rPr lang="zh-CN" altLang="en-US" sz="2000" b="1" dirty="0">
                <a:latin typeface="+mn-ea"/>
              </a:rPr>
              <a:t> </a:t>
            </a:r>
            <a:r>
              <a:rPr lang="zh-CN" altLang="en-US" sz="2000" b="1" dirty="0" smtClean="0">
                <a:latin typeface="+mn-ea"/>
              </a:rPr>
              <a:t>  尖峰</a:t>
            </a:r>
            <a:r>
              <a:rPr lang="zh-CN" altLang="en-US" sz="2000" b="1" dirty="0">
                <a:latin typeface="+mn-ea"/>
              </a:rPr>
              <a:t>脉冲一般都很窄（</a:t>
            </a:r>
            <a:r>
              <a:rPr lang="zh-CN" altLang="en-US" sz="2000" b="1" dirty="0">
                <a:solidFill>
                  <a:srgbClr val="0070C0"/>
                </a:solidFill>
                <a:latin typeface="+mn-ea"/>
              </a:rPr>
              <a:t>几十</a:t>
            </a:r>
            <a:r>
              <a:rPr lang="en-US" altLang="zh-CN" sz="2000" b="1" dirty="0">
                <a:solidFill>
                  <a:srgbClr val="0070C0"/>
                </a:solidFill>
                <a:latin typeface="+mn-ea"/>
              </a:rPr>
              <a:t>ns</a:t>
            </a:r>
            <a:r>
              <a:rPr lang="zh-CN" altLang="en-US" sz="2000" b="1" dirty="0">
                <a:latin typeface="+mn-ea"/>
              </a:rPr>
              <a:t>以内），只要在输出端并接一个很小的滤波</a:t>
            </a:r>
            <a:r>
              <a:rPr lang="zh-CN" altLang="en-US" sz="2000" b="1" dirty="0" smtClean="0">
                <a:latin typeface="+mn-ea"/>
              </a:rPr>
              <a:t>电容</a:t>
            </a:r>
            <a:r>
              <a:rPr lang="en-US" altLang="zh-CN" sz="2000" b="1" i="1" dirty="0" smtClean="0">
                <a:latin typeface="+mn-ea"/>
              </a:rPr>
              <a:t>C</a:t>
            </a:r>
            <a:r>
              <a:rPr lang="en-US" altLang="zh-CN" sz="2000" b="1" i="1" baseline="-25000" dirty="0" smtClean="0">
                <a:latin typeface="+mn-ea"/>
              </a:rPr>
              <a:t>f</a:t>
            </a:r>
            <a:r>
              <a:rPr lang="zh-CN" altLang="en-US" sz="2000" b="1" dirty="0" smtClean="0">
                <a:latin typeface="+mn-ea"/>
              </a:rPr>
              <a:t>     </a:t>
            </a:r>
            <a:r>
              <a:rPr lang="zh-CN" altLang="en-US" sz="2000" b="1" dirty="0">
                <a:latin typeface="+mn-ea"/>
              </a:rPr>
              <a:t>（</a:t>
            </a:r>
            <a:r>
              <a:rPr lang="en-US" altLang="zh-CN" sz="2000" b="1" dirty="0">
                <a:latin typeface="+mn-ea"/>
              </a:rPr>
              <a:t>TTL</a:t>
            </a:r>
            <a:r>
              <a:rPr lang="zh-CN" altLang="en-US" sz="2000" b="1" dirty="0">
                <a:latin typeface="+mn-ea"/>
              </a:rPr>
              <a:t>电路中通常为</a:t>
            </a:r>
            <a:r>
              <a:rPr lang="zh-CN" altLang="en-US" sz="2000" b="1" dirty="0">
                <a:solidFill>
                  <a:srgbClr val="0070C0"/>
                </a:solidFill>
                <a:latin typeface="+mn-ea"/>
              </a:rPr>
              <a:t>几十～几百皮法</a:t>
            </a:r>
            <a:r>
              <a:rPr lang="zh-CN" altLang="en-US" sz="2000" b="1" dirty="0">
                <a:latin typeface="+mn-ea"/>
              </a:rPr>
              <a:t>），就足以将尖峰脉冲的幅度削弱至门电路的阈值电压以下。</a:t>
            </a:r>
          </a:p>
        </p:txBody>
      </p:sp>
      <p:sp>
        <p:nvSpPr>
          <p:cNvPr id="16" name="矩形 15"/>
          <p:cNvSpPr/>
          <p:nvPr/>
        </p:nvSpPr>
        <p:spPr>
          <a:xfrm>
            <a:off x="5321712" y="1918994"/>
            <a:ext cx="803425" cy="461665"/>
          </a:xfrm>
          <a:prstGeom prst="rect">
            <a:avLst/>
          </a:prstGeom>
        </p:spPr>
        <p:txBody>
          <a:bodyPr wrap="none">
            <a:spAutoFit/>
          </a:bodyPr>
          <a:lstStyle/>
          <a:p>
            <a:r>
              <a:rPr kumimoji="1" lang="zh-CN" altLang="en-US" sz="2400" b="1" dirty="0">
                <a:solidFill>
                  <a:srgbClr val="FF0000"/>
                </a:solidFill>
                <a:latin typeface="Times New Roman" panose="02020603050405020304" pitchFamily="18" charset="0"/>
                <a:ea typeface="楷体_GB2312" pitchFamily="49" charset="-122"/>
              </a:rPr>
              <a:t>例：</a:t>
            </a:r>
            <a:endParaRPr lang="zh-CN" altLang="en-US" sz="2400" dirty="0"/>
          </a:p>
        </p:txBody>
      </p:sp>
    </p:spTree>
    <p:extLst>
      <p:ext uri="{BB962C8B-B14F-4D97-AF65-F5344CB8AC3E}">
        <p14:creationId xmlns:p14="http://schemas.microsoft.com/office/powerpoint/2010/main" xmlns="" val="2074071062"/>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0" y="692696"/>
            <a:ext cx="7793037" cy="566936"/>
          </a:xfrm>
        </p:spPr>
        <p:txBody>
          <a:bodyPr/>
          <a:lstStyle/>
          <a:p>
            <a:r>
              <a:rPr lang="en-US" altLang="zh-CN" dirty="0" smtClean="0"/>
              <a:t>4.8 </a:t>
            </a:r>
            <a:r>
              <a:rPr lang="zh-CN" altLang="en-US" dirty="0" smtClean="0"/>
              <a:t>组合逻辑电路中的竞争冒险</a:t>
            </a:r>
            <a:endParaRPr lang="zh-CN" altLang="en-US" dirty="0"/>
          </a:p>
        </p:txBody>
      </p:sp>
      <p:sp>
        <p:nvSpPr>
          <p:cNvPr id="3" name="内容占位符 2"/>
          <p:cNvSpPr>
            <a:spLocks noGrp="1"/>
          </p:cNvSpPr>
          <p:nvPr>
            <p:ph idx="1"/>
          </p:nvPr>
        </p:nvSpPr>
        <p:spPr>
          <a:xfrm>
            <a:off x="539552" y="1556792"/>
            <a:ext cx="8136904" cy="4911128"/>
          </a:xfrm>
        </p:spPr>
        <p:txBody>
          <a:bodyPr/>
          <a:lstStyle/>
          <a:p>
            <a:pPr>
              <a:lnSpc>
                <a:spcPct val="100000"/>
              </a:lnSpc>
              <a:spcBef>
                <a:spcPts val="600"/>
              </a:spcBef>
              <a:buSzPct val="100000"/>
              <a:buFont typeface="Wingdings" pitchFamily="2" charset="2"/>
              <a:buChar char="p"/>
            </a:pPr>
            <a:r>
              <a:rPr lang="zh-CN" altLang="en-US" sz="2800" dirty="0"/>
              <a:t>消除竞争－冒险现象的方法</a:t>
            </a:r>
          </a:p>
          <a:p>
            <a:pPr lvl="1">
              <a:lnSpc>
                <a:spcPct val="100000"/>
              </a:lnSpc>
              <a:spcBef>
                <a:spcPts val="600"/>
              </a:spcBef>
              <a:buSzPct val="100000"/>
            </a:pPr>
            <a:r>
              <a:rPr lang="zh-CN" altLang="en-US" sz="2400" dirty="0"/>
              <a:t>（一）接入滤波</a:t>
            </a:r>
            <a:r>
              <a:rPr lang="zh-CN" altLang="en-US" sz="2400" dirty="0" smtClean="0"/>
              <a:t>电容</a:t>
            </a:r>
            <a:endParaRPr lang="en-US" altLang="zh-CN" sz="2400" dirty="0" smtClean="0"/>
          </a:p>
          <a:p>
            <a:pPr lvl="2">
              <a:lnSpc>
                <a:spcPct val="100000"/>
              </a:lnSpc>
              <a:spcBef>
                <a:spcPts val="600"/>
              </a:spcBef>
              <a:buSzPct val="100000"/>
              <a:buFont typeface="Wingdings" pitchFamily="2" charset="2"/>
              <a:buChar char="u"/>
            </a:pPr>
            <a:r>
              <a:rPr lang="zh-CN" altLang="en-US" dirty="0"/>
              <a:t>优点</a:t>
            </a:r>
            <a:r>
              <a:rPr lang="zh-CN" altLang="en-US" dirty="0" smtClean="0"/>
              <a:t>：</a:t>
            </a:r>
            <a:r>
              <a:rPr lang="zh-CN" altLang="en-US" dirty="0">
                <a:latin typeface="Times New Roman" panose="02020603050405020304" pitchFamily="18" charset="0"/>
              </a:rPr>
              <a:t>简单易行</a:t>
            </a:r>
            <a:r>
              <a:rPr lang="zh-CN" altLang="en-US" dirty="0" smtClean="0">
                <a:latin typeface="Times New Roman" panose="02020603050405020304" pitchFamily="18" charset="0"/>
              </a:rPr>
              <a:t>。</a:t>
            </a:r>
            <a:endParaRPr lang="zh-CN" altLang="en-US" dirty="0"/>
          </a:p>
          <a:p>
            <a:pPr lvl="2">
              <a:lnSpc>
                <a:spcPct val="100000"/>
              </a:lnSpc>
              <a:spcBef>
                <a:spcPts val="600"/>
              </a:spcBef>
              <a:buSzPct val="100000"/>
              <a:buFont typeface="Wingdings" pitchFamily="2" charset="2"/>
              <a:buChar char="u"/>
            </a:pPr>
            <a:r>
              <a:rPr lang="zh-CN" altLang="en-US" dirty="0"/>
              <a:t> 缺点：增加了输出电压波形的上升和下降时间，使波形变坏。</a:t>
            </a:r>
          </a:p>
          <a:p>
            <a:pPr lvl="2"/>
            <a:endParaRPr lang="zh-CN" altLang="en-US" dirty="0"/>
          </a:p>
          <a:p>
            <a:pPr lvl="1"/>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153</a:t>
            </a:fld>
            <a:endParaRPr lang="zh-CN" altLang="en-US"/>
          </a:p>
        </p:txBody>
      </p:sp>
      <p:pic>
        <p:nvPicPr>
          <p:cNvPr id="5" name="图片 4"/>
          <p:cNvPicPr>
            <a:picLocks noChangeAspect="1"/>
          </p:cNvPicPr>
          <p:nvPr/>
        </p:nvPicPr>
        <p:blipFill>
          <a:blip r:embed="rId2" cstate="print">
            <a:lum bright="-20000" contrast="40000"/>
          </a:blip>
          <a:stretch>
            <a:fillRect/>
          </a:stretch>
        </p:blipFill>
        <p:spPr>
          <a:xfrm>
            <a:off x="2699792" y="3501008"/>
            <a:ext cx="5349528" cy="2398381"/>
          </a:xfrm>
          <a:prstGeom prst="rect">
            <a:avLst/>
          </a:prstGeom>
        </p:spPr>
      </p:pic>
      <p:sp>
        <p:nvSpPr>
          <p:cNvPr id="6" name="矩形 5"/>
          <p:cNvSpPr/>
          <p:nvPr/>
        </p:nvSpPr>
        <p:spPr>
          <a:xfrm>
            <a:off x="2987824" y="6093296"/>
            <a:ext cx="4884838" cy="338554"/>
          </a:xfrm>
          <a:prstGeom prst="rect">
            <a:avLst/>
          </a:prstGeom>
        </p:spPr>
        <p:txBody>
          <a:bodyPr wrap="square">
            <a:spAutoFit/>
          </a:bodyPr>
          <a:lstStyle/>
          <a:p>
            <a:pPr algn="ctr"/>
            <a:r>
              <a:rPr lang="zh-CN" altLang="en-US" sz="1600" b="1" dirty="0" smtClean="0"/>
              <a:t>图  </a:t>
            </a:r>
            <a:r>
              <a:rPr lang="zh-CN" altLang="en-US" sz="1600" b="1" dirty="0"/>
              <a:t>接入滤波电容消除竞争－冒险现象的波形图</a:t>
            </a:r>
          </a:p>
        </p:txBody>
      </p:sp>
    </p:spTree>
    <p:extLst>
      <p:ext uri="{BB962C8B-B14F-4D97-AF65-F5344CB8AC3E}">
        <p14:creationId xmlns:p14="http://schemas.microsoft.com/office/powerpoint/2010/main" xmlns="" val="2175620841"/>
      </p:ext>
    </p:extLst>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20688"/>
            <a:ext cx="7545014" cy="638944"/>
          </a:xfrm>
        </p:spPr>
        <p:txBody>
          <a:bodyPr/>
          <a:lstStyle/>
          <a:p>
            <a:r>
              <a:rPr lang="en-US" altLang="zh-CN" dirty="0" smtClean="0"/>
              <a:t>4.8 </a:t>
            </a:r>
            <a:r>
              <a:rPr lang="zh-CN" altLang="en-US" dirty="0" smtClean="0"/>
              <a:t>组合逻辑电路中的竞争冒险</a:t>
            </a:r>
            <a:endParaRPr lang="zh-CN" altLang="en-US" dirty="0"/>
          </a:p>
        </p:txBody>
      </p:sp>
      <p:sp>
        <p:nvSpPr>
          <p:cNvPr id="3" name="内容占位符 2"/>
          <p:cNvSpPr>
            <a:spLocks noGrp="1"/>
          </p:cNvSpPr>
          <p:nvPr>
            <p:ph idx="1"/>
          </p:nvPr>
        </p:nvSpPr>
        <p:spPr>
          <a:xfrm>
            <a:off x="539552" y="1542208"/>
            <a:ext cx="8415536" cy="4911128"/>
          </a:xfrm>
        </p:spPr>
        <p:txBody>
          <a:bodyPr/>
          <a:lstStyle/>
          <a:p>
            <a:pPr>
              <a:spcBef>
                <a:spcPts val="600"/>
              </a:spcBef>
              <a:buSzPct val="100000"/>
              <a:buFont typeface="Wingdings" pitchFamily="2" charset="2"/>
              <a:buChar char="p"/>
            </a:pPr>
            <a:r>
              <a:rPr lang="zh-CN" altLang="en-US" sz="2800" dirty="0"/>
              <a:t>（二）引入选通脉冲</a:t>
            </a:r>
          </a:p>
          <a:p>
            <a:pPr lvl="1">
              <a:spcBef>
                <a:spcPts val="600"/>
              </a:spcBef>
              <a:buSzPct val="100000"/>
            </a:pPr>
            <a:r>
              <a:rPr lang="zh-CN" altLang="en-US" sz="2400" dirty="0" smtClean="0"/>
              <a:t>例</a:t>
            </a:r>
            <a:r>
              <a:rPr lang="zh-CN" altLang="en-US" sz="2400" dirty="0"/>
              <a:t>：</a:t>
            </a:r>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154</a:t>
            </a:fld>
            <a:endParaRPr lang="zh-CN" altLang="en-US"/>
          </a:p>
        </p:txBody>
      </p:sp>
      <p:pic>
        <p:nvPicPr>
          <p:cNvPr id="5" name="Picture 9" descr="3-4-3"/>
          <p:cNvPicPr>
            <a:picLocks noChangeAspect="1" noChangeArrowheads="1"/>
          </p:cNvPicPr>
          <p:nvPr/>
        </p:nvPicPr>
        <p:blipFill>
          <a:blip r:embed="rId2" cstate="print">
            <a:clrChange>
              <a:clrFrom>
                <a:srgbClr val="F3F3F3"/>
              </a:clrFrom>
              <a:clrTo>
                <a:srgbClr val="F3F3F3">
                  <a:alpha val="0"/>
                </a:srgbClr>
              </a:clrTo>
            </a:clrChange>
            <a:lum contrast="30000"/>
            <a:extLst>
              <a:ext uri="{28A0092B-C50C-407E-A947-70E740481C1C}">
                <a14:useLocalDpi xmlns:a14="http://schemas.microsoft.com/office/drawing/2010/main" xmlns="" val="0"/>
              </a:ext>
            </a:extLst>
          </a:blip>
          <a:srcRect/>
          <a:stretch>
            <a:fillRect/>
          </a:stretch>
        </p:blipFill>
        <p:spPr bwMode="auto">
          <a:xfrm>
            <a:off x="5480800" y="1433225"/>
            <a:ext cx="2878137" cy="4598987"/>
          </a:xfrm>
          <a:prstGeom prst="rect">
            <a:avLst/>
          </a:prstGeom>
          <a:noFill/>
          <a:extLst>
            <a:ext uri="{909E8E84-426E-40DD-AFC4-6F175D3DCCD1}">
              <a14:hiddenFill xmlns:a14="http://schemas.microsoft.com/office/drawing/2010/main" xmlns="">
                <a:solidFill>
                  <a:srgbClr val="FFFFFF"/>
                </a:solidFill>
              </a14:hiddenFill>
            </a:ext>
          </a:extLst>
        </p:spPr>
      </p:pic>
      <p:sp>
        <p:nvSpPr>
          <p:cNvPr id="6" name="Text Box 8"/>
          <p:cNvSpPr txBox="1">
            <a:spLocks noChangeArrowheads="1"/>
          </p:cNvSpPr>
          <p:nvPr/>
        </p:nvSpPr>
        <p:spPr bwMode="auto">
          <a:xfrm>
            <a:off x="5220072" y="6032212"/>
            <a:ext cx="2965277" cy="584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gn="ctr">
              <a:spcBef>
                <a:spcPct val="50000"/>
              </a:spcBef>
            </a:pPr>
            <a:r>
              <a:rPr kumimoji="1" lang="zh-CN" altLang="en-US" sz="1600" b="1" dirty="0" smtClean="0">
                <a:latin typeface="+mn-ea"/>
              </a:rPr>
              <a:t>图</a:t>
            </a:r>
            <a:r>
              <a:rPr kumimoji="1" lang="en-US" altLang="zh-CN" sz="1600" b="1" dirty="0" smtClean="0">
                <a:latin typeface="+mn-ea"/>
              </a:rPr>
              <a:t> </a:t>
            </a:r>
            <a:r>
              <a:rPr kumimoji="1" lang="zh-CN" altLang="en-US" sz="1600" b="1" dirty="0">
                <a:latin typeface="+mn-ea"/>
              </a:rPr>
              <a:t>引入选通脉冲消除竞争－冒险现象的示意图</a:t>
            </a:r>
          </a:p>
        </p:txBody>
      </p:sp>
      <p:sp>
        <p:nvSpPr>
          <p:cNvPr id="7" name="Text Box 7"/>
          <p:cNvSpPr txBox="1">
            <a:spLocks noChangeArrowheads="1"/>
          </p:cNvSpPr>
          <p:nvPr/>
        </p:nvSpPr>
        <p:spPr bwMode="auto">
          <a:xfrm>
            <a:off x="1241003" y="2850629"/>
            <a:ext cx="1170757" cy="144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pPr>
            <a:r>
              <a:rPr kumimoji="1" lang="zh-CN" altLang="en-US" sz="2200" b="1" dirty="0" smtClean="0">
                <a:solidFill>
                  <a:srgbClr val="FF0000"/>
                </a:solidFill>
                <a:latin typeface="Times New Roman" panose="02020603050405020304" pitchFamily="18" charset="0"/>
              </a:rPr>
              <a:t>优点</a:t>
            </a:r>
            <a:r>
              <a:rPr kumimoji="1" lang="zh-CN" altLang="en-US" sz="2200" b="1" dirty="0" smtClean="0">
                <a:solidFill>
                  <a:srgbClr val="000000"/>
                </a:solidFill>
                <a:latin typeface="Times New Roman" panose="02020603050405020304" pitchFamily="18" charset="0"/>
              </a:rPr>
              <a:t>：</a:t>
            </a:r>
            <a:endParaRPr kumimoji="1" lang="en-US" altLang="zh-CN" sz="2200" b="1" dirty="0" smtClean="0">
              <a:solidFill>
                <a:srgbClr val="000000"/>
              </a:solidFill>
              <a:latin typeface="Times New Roman" panose="02020603050405020304" pitchFamily="18" charset="0"/>
            </a:endParaRPr>
          </a:p>
          <a:p>
            <a:pPr fontAlgn="base">
              <a:spcBef>
                <a:spcPct val="50000"/>
              </a:spcBef>
              <a:spcAft>
                <a:spcPct val="0"/>
              </a:spcAft>
            </a:pPr>
            <a:endParaRPr kumimoji="1" lang="zh-CN" altLang="en-US" sz="2200" b="1" dirty="0" smtClean="0">
              <a:solidFill>
                <a:srgbClr val="000000"/>
              </a:solidFill>
              <a:latin typeface="Times New Roman" panose="02020603050405020304" pitchFamily="18" charset="0"/>
            </a:endParaRPr>
          </a:p>
          <a:p>
            <a:pPr fontAlgn="base">
              <a:spcBef>
                <a:spcPct val="50000"/>
              </a:spcBef>
              <a:spcAft>
                <a:spcPct val="0"/>
              </a:spcAft>
            </a:pPr>
            <a:r>
              <a:rPr kumimoji="1" lang="zh-CN" altLang="en-US" sz="2200" b="1" dirty="0" smtClean="0">
                <a:solidFill>
                  <a:srgbClr val="333399"/>
                </a:solidFill>
                <a:latin typeface="Times New Roman" panose="02020603050405020304" pitchFamily="18" charset="0"/>
              </a:rPr>
              <a:t>缺点</a:t>
            </a:r>
            <a:r>
              <a:rPr kumimoji="1" lang="zh-CN" altLang="en-US" sz="2200" b="1" dirty="0" smtClean="0">
                <a:solidFill>
                  <a:srgbClr val="000000"/>
                </a:solidFill>
                <a:latin typeface="Times New Roman" panose="02020603050405020304" pitchFamily="18" charset="0"/>
              </a:rPr>
              <a:t>：</a:t>
            </a:r>
          </a:p>
        </p:txBody>
      </p:sp>
      <p:sp>
        <p:nvSpPr>
          <p:cNvPr id="8" name="Rectangle 10"/>
          <p:cNvSpPr>
            <a:spLocks noChangeArrowheads="1"/>
          </p:cNvSpPr>
          <p:nvPr/>
        </p:nvSpPr>
        <p:spPr bwMode="auto">
          <a:xfrm>
            <a:off x="1998910" y="2850629"/>
            <a:ext cx="3221162" cy="76944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fontAlgn="base">
              <a:spcBef>
                <a:spcPct val="0"/>
              </a:spcBef>
              <a:spcAft>
                <a:spcPct val="0"/>
              </a:spcAft>
            </a:pPr>
            <a:r>
              <a:rPr kumimoji="1" lang="zh-CN" altLang="en-US" sz="2200" b="1" dirty="0" smtClean="0">
                <a:solidFill>
                  <a:srgbClr val="000000"/>
                </a:solidFill>
                <a:latin typeface="Times New Roman" panose="02020603050405020304" pitchFamily="18" charset="0"/>
              </a:rPr>
              <a:t>简单，不需增加电路元件。</a:t>
            </a:r>
          </a:p>
        </p:txBody>
      </p:sp>
      <p:sp>
        <p:nvSpPr>
          <p:cNvPr id="9" name="Rectangle 11"/>
          <p:cNvSpPr>
            <a:spLocks noChangeArrowheads="1"/>
          </p:cNvSpPr>
          <p:nvPr/>
        </p:nvSpPr>
        <p:spPr bwMode="auto">
          <a:xfrm>
            <a:off x="2070400" y="3964202"/>
            <a:ext cx="3236811" cy="178510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fontAlgn="base">
              <a:spcBef>
                <a:spcPct val="0"/>
              </a:spcBef>
              <a:spcAft>
                <a:spcPct val="0"/>
              </a:spcAft>
            </a:pPr>
            <a:r>
              <a:rPr kumimoji="1" lang="zh-CN" altLang="en-US" sz="2200" b="1" dirty="0" smtClean="0">
                <a:solidFill>
                  <a:srgbClr val="000000"/>
                </a:solidFill>
                <a:latin typeface="Times New Roman" panose="02020603050405020304" pitchFamily="18" charset="0"/>
              </a:rPr>
              <a:t>正常的输出信号也将变成脉冲信号，宽度与选通脉冲相同，且此选通脉冲必须与输入信号同步。</a:t>
            </a:r>
          </a:p>
        </p:txBody>
      </p:sp>
    </p:spTree>
    <p:extLst>
      <p:ext uri="{BB962C8B-B14F-4D97-AF65-F5344CB8AC3E}">
        <p14:creationId xmlns:p14="http://schemas.microsoft.com/office/powerpoint/2010/main" xmlns="" val="3247625042"/>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03451" y="620688"/>
            <a:ext cx="7473006" cy="638944"/>
          </a:xfrm>
        </p:spPr>
        <p:txBody>
          <a:bodyPr/>
          <a:lstStyle/>
          <a:p>
            <a:r>
              <a:rPr lang="en-US" altLang="zh-CN" dirty="0" smtClean="0"/>
              <a:t>4.8 </a:t>
            </a:r>
            <a:r>
              <a:rPr lang="zh-CN" altLang="en-US" dirty="0" smtClean="0"/>
              <a:t>组合逻辑电路中的竞争冒险</a:t>
            </a:r>
            <a:endParaRPr lang="zh-CN" altLang="en-US" dirty="0"/>
          </a:p>
        </p:txBody>
      </p:sp>
      <p:sp>
        <p:nvSpPr>
          <p:cNvPr id="3" name="内容占位符 2"/>
          <p:cNvSpPr>
            <a:spLocks noGrp="1"/>
          </p:cNvSpPr>
          <p:nvPr>
            <p:ph idx="1"/>
          </p:nvPr>
        </p:nvSpPr>
        <p:spPr>
          <a:xfrm>
            <a:off x="395536" y="1484784"/>
            <a:ext cx="8161338" cy="4911128"/>
          </a:xfrm>
        </p:spPr>
        <p:txBody>
          <a:bodyPr/>
          <a:lstStyle/>
          <a:p>
            <a:pPr lvl="1">
              <a:lnSpc>
                <a:spcPct val="100000"/>
              </a:lnSpc>
              <a:spcBef>
                <a:spcPts val="600"/>
              </a:spcBef>
              <a:buClr>
                <a:srgbClr val="FF0000"/>
              </a:buClr>
              <a:buSzPct val="100000"/>
            </a:pPr>
            <a:r>
              <a:rPr lang="zh-CN" altLang="en-US" sz="2400" dirty="0"/>
              <a:t>（三）修改逻辑设计</a:t>
            </a:r>
          </a:p>
          <a:p>
            <a:pPr marL="914400" lvl="2" indent="0">
              <a:lnSpc>
                <a:spcPct val="100000"/>
              </a:lnSpc>
              <a:spcBef>
                <a:spcPts val="600"/>
              </a:spcBef>
              <a:buClr>
                <a:srgbClr val="FF0000"/>
              </a:buClr>
              <a:buNone/>
            </a:pPr>
            <a:r>
              <a:rPr lang="zh-CN" altLang="en-US" sz="2400" dirty="0" smtClean="0"/>
              <a:t>有时</a:t>
            </a:r>
            <a:r>
              <a:rPr lang="zh-CN" altLang="en-US" sz="2400" dirty="0"/>
              <a:t>可用增加冗余项的方法消除竞争－冒险现象。</a:t>
            </a:r>
          </a:p>
          <a:p>
            <a:pPr>
              <a:lnSpc>
                <a:spcPct val="100000"/>
              </a:lnSpc>
              <a:spcBef>
                <a:spcPts val="600"/>
              </a:spcBef>
              <a:buClr>
                <a:srgbClr val="FF0000"/>
              </a:buClr>
            </a:pP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155</a:t>
            </a:fld>
            <a:endParaRPr lang="zh-CN" altLang="en-US"/>
          </a:p>
        </p:txBody>
      </p:sp>
      <p:sp>
        <p:nvSpPr>
          <p:cNvPr id="5" name="矩形 4"/>
          <p:cNvSpPr/>
          <p:nvPr/>
        </p:nvSpPr>
        <p:spPr>
          <a:xfrm>
            <a:off x="1364431" y="2636912"/>
            <a:ext cx="3855641" cy="1631216"/>
          </a:xfrm>
          <a:prstGeom prst="rect">
            <a:avLst/>
          </a:prstGeom>
        </p:spPr>
        <p:txBody>
          <a:bodyPr wrap="square">
            <a:spAutoFit/>
          </a:bodyPr>
          <a:lstStyle/>
          <a:p>
            <a:pPr>
              <a:lnSpc>
                <a:spcPts val="3000"/>
              </a:lnSpc>
            </a:pPr>
            <a:r>
              <a:rPr kumimoji="1" lang="zh-CN" altLang="en-US" sz="2000" b="1" dirty="0">
                <a:latin typeface="Times New Roman" panose="02020603050405020304" pitchFamily="18" charset="0"/>
              </a:rPr>
              <a:t> </a:t>
            </a:r>
            <a:r>
              <a:rPr kumimoji="1" lang="zh-CN" altLang="en-US" sz="2000" b="1" dirty="0">
                <a:solidFill>
                  <a:srgbClr val="FF0000"/>
                </a:solidFill>
                <a:latin typeface="Times New Roman" panose="02020603050405020304" pitchFamily="18" charset="0"/>
              </a:rPr>
              <a:t>例</a:t>
            </a:r>
            <a:r>
              <a:rPr kumimoji="1" lang="zh-CN" altLang="en-US" sz="2000" b="1" dirty="0">
                <a:latin typeface="Times New Roman" panose="02020603050405020304" pitchFamily="18" charset="0"/>
              </a:rPr>
              <a:t>：将                           化成                                     ，可使电路功能不变，而消去</a:t>
            </a:r>
            <a:r>
              <a:rPr kumimoji="1" lang="en-US" altLang="zh-CN" sz="2000" b="1" dirty="0">
                <a:latin typeface="Times New Roman" panose="02020603050405020304" pitchFamily="18" charset="0"/>
              </a:rPr>
              <a:t>B=C=1</a:t>
            </a:r>
            <a:r>
              <a:rPr kumimoji="1" lang="zh-CN" altLang="en-US" sz="2000" b="1" dirty="0">
                <a:latin typeface="Times New Roman" panose="02020603050405020304" pitchFamily="18" charset="0"/>
              </a:rPr>
              <a:t>时的竞争－冒险现象。</a:t>
            </a:r>
            <a:endParaRPr lang="zh-CN" altLang="en-US" sz="2000" dirty="0"/>
          </a:p>
        </p:txBody>
      </p:sp>
      <p:graphicFrame>
        <p:nvGraphicFramePr>
          <p:cNvPr id="6" name="Object 8"/>
          <p:cNvGraphicFramePr>
            <a:graphicFrameLocks noChangeAspect="1"/>
          </p:cNvGraphicFramePr>
          <p:nvPr>
            <p:extLst>
              <p:ext uri="{D42A27DB-BD31-4B8C-83A1-F6EECF244321}">
                <p14:modId xmlns:p14="http://schemas.microsoft.com/office/powerpoint/2010/main" xmlns="" val="1784501950"/>
              </p:ext>
            </p:extLst>
          </p:nvPr>
        </p:nvGraphicFramePr>
        <p:xfrm>
          <a:off x="2390167" y="2636912"/>
          <a:ext cx="1400764" cy="361022"/>
        </p:xfrm>
        <a:graphic>
          <a:graphicData uri="http://schemas.openxmlformats.org/presentationml/2006/ole">
            <p:oleObj spid="_x0000_s34094" name="Equation" r:id="rId3" imgW="837836" imgH="215806" progId="">
              <p:embed/>
            </p:oleObj>
          </a:graphicData>
        </a:graphic>
      </p:graphicFrame>
      <p:graphicFrame>
        <p:nvGraphicFramePr>
          <p:cNvPr id="7" name="Object 9"/>
          <p:cNvGraphicFramePr>
            <a:graphicFrameLocks noChangeAspect="1"/>
          </p:cNvGraphicFramePr>
          <p:nvPr>
            <p:extLst>
              <p:ext uri="{D42A27DB-BD31-4B8C-83A1-F6EECF244321}">
                <p14:modId xmlns:p14="http://schemas.microsoft.com/office/powerpoint/2010/main" xmlns="" val="3499969414"/>
              </p:ext>
            </p:extLst>
          </p:nvPr>
        </p:nvGraphicFramePr>
        <p:xfrm>
          <a:off x="1947190" y="3056460"/>
          <a:ext cx="1823994" cy="333251"/>
        </p:xfrm>
        <a:graphic>
          <a:graphicData uri="http://schemas.openxmlformats.org/presentationml/2006/ole">
            <p:oleObj spid="_x0000_s34095" name="Equation" r:id="rId4" imgW="1180588" imgH="215806" progId="">
              <p:embed/>
            </p:oleObj>
          </a:graphicData>
        </a:graphic>
      </p:graphicFrame>
      <p:pic>
        <p:nvPicPr>
          <p:cNvPr id="8" name="Picture 12" descr="3-4-4"/>
          <p:cNvPicPr>
            <a:picLocks noChangeAspect="1" noChangeArrowheads="1"/>
          </p:cNvPicPr>
          <p:nvPr/>
        </p:nvPicPr>
        <p:blipFill>
          <a:blip r:embed="rId5" cstate="print">
            <a:clrChange>
              <a:clrFrom>
                <a:srgbClr val="E7E7E7"/>
              </a:clrFrom>
              <a:clrTo>
                <a:srgbClr val="E7E7E7">
                  <a:alpha val="0"/>
                </a:srgbClr>
              </a:clrTo>
            </a:clrChange>
            <a:lum bright="-12000" contrast="66000"/>
            <a:extLst>
              <a:ext uri="{28A0092B-C50C-407E-A947-70E740481C1C}">
                <a14:useLocalDpi xmlns:a14="http://schemas.microsoft.com/office/drawing/2010/main" xmlns="" val="0"/>
              </a:ext>
            </a:extLst>
          </a:blip>
          <a:srcRect/>
          <a:stretch>
            <a:fillRect/>
          </a:stretch>
        </p:blipFill>
        <p:spPr bwMode="auto">
          <a:xfrm>
            <a:off x="5472113" y="2526878"/>
            <a:ext cx="3671887" cy="3062361"/>
          </a:xfrm>
          <a:prstGeom prst="rect">
            <a:avLst/>
          </a:prstGeom>
          <a:noFill/>
          <a:extLst>
            <a:ext uri="{909E8E84-426E-40DD-AFC4-6F175D3DCCD1}">
              <a14:hiddenFill xmlns:a14="http://schemas.microsoft.com/office/drawing/2010/main" xmlns="">
                <a:solidFill>
                  <a:srgbClr val="FFFFFF"/>
                </a:solidFill>
              </a14:hiddenFill>
            </a:ext>
          </a:extLst>
        </p:spPr>
      </p:pic>
      <p:sp>
        <p:nvSpPr>
          <p:cNvPr id="9" name="Text Box 11"/>
          <p:cNvSpPr txBox="1">
            <a:spLocks noChangeArrowheads="1"/>
          </p:cNvSpPr>
          <p:nvPr/>
        </p:nvSpPr>
        <p:spPr bwMode="auto">
          <a:xfrm>
            <a:off x="5903974" y="5664532"/>
            <a:ext cx="2808164" cy="59824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gn="ctr">
              <a:lnSpc>
                <a:spcPts val="2100"/>
              </a:lnSpc>
              <a:spcBef>
                <a:spcPct val="50000"/>
              </a:spcBef>
            </a:pPr>
            <a:r>
              <a:rPr kumimoji="1" lang="zh-CN" altLang="en-US" sz="1600" b="1" dirty="0" smtClean="0">
                <a:latin typeface="+mn-ea"/>
              </a:rPr>
              <a:t>图</a:t>
            </a:r>
            <a:r>
              <a:rPr kumimoji="1" lang="en-US" altLang="zh-CN" sz="1600" b="1" dirty="0" smtClean="0">
                <a:latin typeface="+mn-ea"/>
              </a:rPr>
              <a:t> </a:t>
            </a:r>
            <a:r>
              <a:rPr kumimoji="1" lang="zh-CN" altLang="en-US" sz="1600" b="1" dirty="0" smtClean="0">
                <a:latin typeface="+mn-ea"/>
              </a:rPr>
              <a:t>修改</a:t>
            </a:r>
            <a:r>
              <a:rPr kumimoji="1" lang="zh-CN" altLang="en-US" sz="1600" b="1" dirty="0">
                <a:latin typeface="+mn-ea"/>
              </a:rPr>
              <a:t>逻辑设计消除竞争－冒险现象的示意图</a:t>
            </a:r>
          </a:p>
        </p:txBody>
      </p:sp>
      <p:sp>
        <p:nvSpPr>
          <p:cNvPr id="10" name="Rectangle 10"/>
          <p:cNvSpPr>
            <a:spLocks noChangeArrowheads="1"/>
          </p:cNvSpPr>
          <p:nvPr/>
        </p:nvSpPr>
        <p:spPr bwMode="auto">
          <a:xfrm>
            <a:off x="1203450" y="4729631"/>
            <a:ext cx="4268663" cy="132343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r>
              <a:rPr kumimoji="1" lang="en-US" altLang="zh-CN" sz="2000" b="1" dirty="0">
                <a:solidFill>
                  <a:srgbClr val="FF0000"/>
                </a:solidFill>
                <a:latin typeface="+mn-ea"/>
              </a:rPr>
              <a:t> </a:t>
            </a:r>
            <a:r>
              <a:rPr kumimoji="1" lang="zh-CN" altLang="en-US" sz="2000" b="1" dirty="0">
                <a:solidFill>
                  <a:srgbClr val="FF0000"/>
                </a:solidFill>
                <a:latin typeface="+mn-ea"/>
              </a:rPr>
              <a:t>优点</a:t>
            </a:r>
            <a:r>
              <a:rPr kumimoji="1" lang="zh-CN" altLang="en-US" sz="2000" b="1" dirty="0">
                <a:latin typeface="+mn-ea"/>
              </a:rPr>
              <a:t>：运用得当可收到令人满意的结果。</a:t>
            </a:r>
          </a:p>
          <a:p>
            <a:r>
              <a:rPr kumimoji="1" lang="zh-CN" altLang="en-US" sz="2000" b="1" dirty="0">
                <a:latin typeface="+mn-ea"/>
              </a:rPr>
              <a:t> </a:t>
            </a:r>
            <a:r>
              <a:rPr kumimoji="1" lang="zh-CN" altLang="en-US" sz="2000" b="1" dirty="0">
                <a:solidFill>
                  <a:srgbClr val="005DA2"/>
                </a:solidFill>
                <a:latin typeface="+mn-ea"/>
              </a:rPr>
              <a:t>缺点</a:t>
            </a:r>
            <a:r>
              <a:rPr kumimoji="1" lang="zh-CN" altLang="en-US" sz="2000" b="1" dirty="0">
                <a:latin typeface="+mn-ea"/>
              </a:rPr>
              <a:t>：有利条件并不是任何时候都存在，其适用范围是有限的。</a:t>
            </a:r>
          </a:p>
        </p:txBody>
      </p:sp>
    </p:spTree>
    <p:extLst>
      <p:ext uri="{BB962C8B-B14F-4D97-AF65-F5344CB8AC3E}">
        <p14:creationId xmlns:p14="http://schemas.microsoft.com/office/powerpoint/2010/main" xmlns="" val="2449239789"/>
      </p:ext>
    </p:extLst>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203450" y="692696"/>
            <a:ext cx="7793037" cy="566936"/>
          </a:xfrm>
        </p:spPr>
        <p:txBody>
          <a:bodyPr/>
          <a:lstStyle/>
          <a:p>
            <a:r>
              <a:rPr lang="en-US" altLang="zh-CN" dirty="0" smtClean="0"/>
              <a:t>《</a:t>
            </a:r>
            <a:r>
              <a:rPr lang="zh-CN" altLang="en-US" dirty="0" smtClean="0"/>
              <a:t>第</a:t>
            </a:r>
            <a:r>
              <a:rPr lang="en-US" altLang="zh-CN" dirty="0" smtClean="0"/>
              <a:t>4</a:t>
            </a:r>
            <a:r>
              <a:rPr lang="zh-CN" altLang="en-US" dirty="0" smtClean="0"/>
              <a:t>章</a:t>
            </a:r>
            <a:r>
              <a:rPr lang="en-US" altLang="zh-CN" dirty="0" smtClean="0"/>
              <a:t>》</a:t>
            </a:r>
            <a:r>
              <a:rPr lang="zh-CN" altLang="en-US" dirty="0" smtClean="0"/>
              <a:t>课外作业</a:t>
            </a:r>
            <a:endParaRPr lang="zh-CN" altLang="en-US" dirty="0"/>
          </a:p>
        </p:txBody>
      </p:sp>
      <p:sp>
        <p:nvSpPr>
          <p:cNvPr id="4" name="内容占位符 3"/>
          <p:cNvSpPr>
            <a:spLocks noGrp="1"/>
          </p:cNvSpPr>
          <p:nvPr>
            <p:ph idx="1"/>
          </p:nvPr>
        </p:nvSpPr>
        <p:spPr>
          <a:xfrm>
            <a:off x="539552" y="1542208"/>
            <a:ext cx="7848872" cy="4911128"/>
          </a:xfrm>
        </p:spPr>
        <p:txBody>
          <a:bodyPr/>
          <a:lstStyle/>
          <a:p>
            <a:pPr>
              <a:buSzPct val="100000"/>
              <a:buFont typeface="Wingdings" pitchFamily="2" charset="2"/>
              <a:buChar char="p"/>
            </a:pPr>
            <a:r>
              <a:rPr lang="zh-CN" altLang="zh-CN" sz="2800" dirty="0" smtClean="0"/>
              <a:t>一 思考题</a:t>
            </a:r>
          </a:p>
          <a:p>
            <a:pPr>
              <a:buSzPct val="100000"/>
              <a:buNone/>
            </a:pPr>
            <a:r>
              <a:rPr lang="en-US" altLang="zh-CN" sz="2800" dirty="0" smtClean="0"/>
              <a:t>   4.1; 4.5; 4.15; 4.16; 4.17; 4.20; 4.22</a:t>
            </a:r>
            <a:r>
              <a:rPr lang="en-US" altLang="zh-CN" sz="2800" smtClean="0"/>
              <a:t>; 4.37 </a:t>
            </a:r>
            <a:endParaRPr lang="zh-CN" altLang="zh-CN" sz="2800" dirty="0" smtClean="0"/>
          </a:p>
          <a:p>
            <a:pPr>
              <a:buSzPct val="100000"/>
              <a:buFont typeface="Wingdings" pitchFamily="2" charset="2"/>
              <a:buChar char="p"/>
            </a:pPr>
            <a:r>
              <a:rPr lang="zh-CN" altLang="zh-CN" sz="2800" dirty="0" smtClean="0"/>
              <a:t>二 必做题</a:t>
            </a:r>
          </a:p>
          <a:p>
            <a:pPr>
              <a:buSzPct val="100000"/>
              <a:buNone/>
            </a:pPr>
            <a:r>
              <a:rPr lang="en-US" altLang="zh-CN" sz="2800" dirty="0" smtClean="0"/>
              <a:t>   4.2; 4.4; 4.6; 4.7; 4.8; 4.9; 4.12; 4.13; 4.18; 4.27; 4.29; 4.31;  4.35; 4.40</a:t>
            </a:r>
            <a:endParaRPr lang="zh-CN" altLang="zh-CN" sz="2800" dirty="0" smtClean="0"/>
          </a:p>
          <a:p>
            <a:pPr>
              <a:buSzPct val="100000"/>
              <a:buFont typeface="Wingdings" pitchFamily="2" charset="2"/>
              <a:buChar char="p"/>
            </a:pPr>
            <a:r>
              <a:rPr lang="zh-CN" altLang="zh-CN" sz="2800" dirty="0" smtClean="0"/>
              <a:t>三 选做题</a:t>
            </a:r>
          </a:p>
          <a:p>
            <a:pPr>
              <a:buSzPct val="100000"/>
              <a:buNone/>
            </a:pPr>
            <a:r>
              <a:rPr lang="en-US" altLang="zh-CN" sz="2800" dirty="0" smtClean="0"/>
              <a:t>   4.3;  4.10;  4.11;  4.14; 4.19; 4.30; 4.38</a:t>
            </a:r>
            <a:endParaRPr lang="zh-CN" altLang="en-US" sz="2400"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pPr/>
              <a:t>156</a:t>
            </a:fld>
            <a:endParaRPr lang="zh-CN" altLang="en-US"/>
          </a:p>
        </p:txBody>
      </p:sp>
      <p:sp>
        <p:nvSpPr>
          <p:cNvPr id="5" name="标题 1"/>
          <p:cNvSpPr txBox="1">
            <a:spLocks/>
          </p:cNvSpPr>
          <p:nvPr/>
        </p:nvSpPr>
        <p:spPr bwMode="auto">
          <a:xfrm>
            <a:off x="1259632" y="0"/>
            <a:ext cx="7016824" cy="63894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fontAlgn="base">
              <a:spcBef>
                <a:spcPct val="0"/>
              </a:spcBef>
              <a:spcAft>
                <a:spcPct val="0"/>
              </a:spcAft>
              <a:defRPr/>
            </a:pP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第</a:t>
            </a:r>
            <a:r>
              <a:rPr kumimoji="1" lang="en-US" altLang="zh-CN" sz="3600" b="1" kern="0" dirty="0" smtClean="0">
                <a:solidFill>
                  <a:schemeClr val="tx2"/>
                </a:solidFill>
                <a:latin typeface="+mj-lt"/>
                <a:ea typeface="+mj-ea"/>
                <a:cs typeface="+mj-cs"/>
              </a:rPr>
              <a:t>4</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章　组合</a:t>
            </a:r>
            <a:r>
              <a:rPr kumimoji="1" lang="zh-CN" altLang="en-US" sz="3600" b="1" kern="0" dirty="0" smtClean="0">
                <a:solidFill>
                  <a:schemeClr val="tx2"/>
                </a:solidFill>
              </a:rPr>
              <a:t>逻辑</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电路</a:t>
            </a:r>
            <a:endParaRPr kumimoji="1" lang="zh-CN" altLang="en-US" sz="36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1363126501"/>
      </p:ext>
    </p:extLst>
  </p:cSld>
  <p:clrMapOvr>
    <a:masterClrMapping/>
  </p:clrMapOvr>
  <p:timing>
    <p:tnLst>
      <p:par>
        <p:cTn id="1" dur="indefinite" restart="never" nodeType="tmRoot"/>
      </p:par>
    </p:tnLst>
  </p:timing>
</p:sld>
</file>

<file path=ppt/theme/theme1.xml><?xml version="1.0" encoding="utf-8"?>
<a:theme xmlns:a="http://schemas.openxmlformats.org/drawingml/2006/main" name="Blends">
  <a:themeElements>
    <a:clrScheme name="Blends 8">
      <a:dk1>
        <a:srgbClr val="000000"/>
      </a:dk1>
      <a:lt1>
        <a:srgbClr val="FFFFFF"/>
      </a:lt1>
      <a:dk2>
        <a:srgbClr val="6600CC"/>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5875">
          <a:solidFill>
            <a:srgbClr val="0000CC"/>
          </a:solidFill>
          <a:prstDash val="dash"/>
        </a:ln>
      </a:spPr>
      <a:bodyPr wrap="square" rtlCol="0" anchor="ctr">
        <a:spAutoFit/>
      </a:bodyPr>
      <a:lstStyle>
        <a:defPPr algn="ctr">
          <a:defRPr sz="2000" b="1" dirty="0">
            <a:latin typeface="华文新魏" pitchFamily="2" charset="-122"/>
            <a:ea typeface="华文新魏" pitchFamily="2" charset="-122"/>
          </a:defRPr>
        </a:defPPr>
      </a:lstStyle>
    </a:spDef>
    <a:lnDef>
      <a:spPr bwMode="auto">
        <a:noFill/>
        <a:ln w="25400" cap="flat" cmpd="sng" algn="ctr">
          <a:solidFill>
            <a:srgbClr val="FF0000"/>
          </a:solidFill>
          <a:prstDash val="solid"/>
          <a:miter lim="800000"/>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a:spPr>
      <a:body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8">
        <a:dk1>
          <a:srgbClr val="000000"/>
        </a:dk1>
        <a:lt1>
          <a:srgbClr val="FFFFFF"/>
        </a:lt1>
        <a:dk2>
          <a:srgbClr val="6600CC"/>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Blends">
  <a:themeElements>
    <a:clrScheme name="Blends 8">
      <a:dk1>
        <a:srgbClr val="000000"/>
      </a:dk1>
      <a:lt1>
        <a:srgbClr val="FFFFFF"/>
      </a:lt1>
      <a:dk2>
        <a:srgbClr val="6600CC"/>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spPr>
      <a:bodyPr wrap="none">
        <a:spAutoFit/>
      </a:bodyPr>
      <a:lstStyle>
        <a:defPPr>
          <a:defRPr sz="2000" b="1" dirty="0">
            <a:latin typeface="华文新魏" pitchFamily="2" charset="-122"/>
            <a:ea typeface="华文新魏" pitchFamily="2"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3600" b="0" i="0" u="none" strike="noStrike" cap="none" normalizeH="0" baseline="0" smtClean="0">
            <a:ln>
              <a:noFill/>
            </a:ln>
            <a:solidFill>
              <a:schemeClr val="tx1"/>
            </a:solidFill>
            <a:effectLst/>
            <a:latin typeface="Tahoma" pitchFamily="34" charset="0"/>
            <a:ea typeface="宋体"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8">
        <a:dk1>
          <a:srgbClr val="000000"/>
        </a:dk1>
        <a:lt1>
          <a:srgbClr val="FFFFFF"/>
        </a:lt1>
        <a:dk2>
          <a:srgbClr val="6600CC"/>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2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4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第2章 逻辑门电路</Template>
  <TotalTime>10748</TotalTime>
  <Words>8604</Words>
  <Application>Microsoft Office PowerPoint</Application>
  <PresentationFormat>全屏显示(4:3)</PresentationFormat>
  <Paragraphs>1546</Paragraphs>
  <Slides>156</Slides>
  <Notes>3</Notes>
  <HiddenSlides>0</HiddenSlides>
  <MMClips>0</MMClips>
  <ScaleCrop>false</ScaleCrop>
  <HeadingPairs>
    <vt:vector size="6" baseType="variant">
      <vt:variant>
        <vt:lpstr>主题</vt:lpstr>
      </vt:variant>
      <vt:variant>
        <vt:i4>7</vt:i4>
      </vt:variant>
      <vt:variant>
        <vt:lpstr>嵌入 OLE 服务器</vt:lpstr>
      </vt:variant>
      <vt:variant>
        <vt:i4>4</vt:i4>
      </vt:variant>
      <vt:variant>
        <vt:lpstr>幻灯片标题</vt:lpstr>
      </vt:variant>
      <vt:variant>
        <vt:i4>156</vt:i4>
      </vt:variant>
    </vt:vector>
  </HeadingPairs>
  <TitlesOfParts>
    <vt:vector size="167" baseType="lpstr">
      <vt:lpstr>Blends</vt:lpstr>
      <vt:lpstr>默认设计模板</vt:lpstr>
      <vt:lpstr>1_默认设计模板</vt:lpstr>
      <vt:lpstr>1_Blends</vt:lpstr>
      <vt:lpstr>2_默认设计模板</vt:lpstr>
      <vt:lpstr>3_默认设计模板</vt:lpstr>
      <vt:lpstr>4_默认设计模板</vt:lpstr>
      <vt:lpstr>Equation</vt:lpstr>
      <vt:lpstr>Visio</vt:lpstr>
      <vt:lpstr>公式</vt:lpstr>
      <vt:lpstr>图片</vt:lpstr>
      <vt:lpstr>幻灯片 1</vt:lpstr>
      <vt:lpstr>内容</vt:lpstr>
      <vt:lpstr>概述</vt:lpstr>
      <vt:lpstr>概述</vt:lpstr>
      <vt:lpstr>4.1 组合逻辑电路分析</vt:lpstr>
      <vt:lpstr>幻灯片 6</vt:lpstr>
      <vt:lpstr>幻灯片 7</vt:lpstr>
      <vt:lpstr>幻灯片 8</vt:lpstr>
      <vt:lpstr>幻灯片 9</vt:lpstr>
      <vt:lpstr>幻灯片 10</vt:lpstr>
      <vt:lpstr>幻灯片 11</vt:lpstr>
      <vt:lpstr>幻灯片 12</vt:lpstr>
      <vt:lpstr>幻灯片 13</vt:lpstr>
      <vt:lpstr>幻灯片 14</vt:lpstr>
      <vt:lpstr>4.1 组合逻辑电路分析</vt:lpstr>
      <vt:lpstr>4.1 组合逻辑电路分析</vt:lpstr>
      <vt:lpstr>4.1 组合逻辑电路分析</vt:lpstr>
      <vt:lpstr>4.1 组合逻辑电路分析</vt:lpstr>
      <vt:lpstr>4.1 组合逻辑电路分析</vt:lpstr>
      <vt:lpstr>4.1 组合逻辑电路分析</vt:lpstr>
      <vt:lpstr>4.1 组合逻辑电路分析</vt:lpstr>
      <vt:lpstr>4.1 组合逻辑电路分析</vt:lpstr>
      <vt:lpstr>4.1 组合逻辑电路分析</vt:lpstr>
      <vt:lpstr>4.1 组合逻辑电路分析</vt:lpstr>
      <vt:lpstr>4.1 组合逻辑电路分析</vt:lpstr>
      <vt:lpstr>4.2 组合逻辑电路设计</vt:lpstr>
      <vt:lpstr>4.2 组合逻辑电路设计</vt:lpstr>
      <vt:lpstr>4.2 组合逻辑电路设计</vt:lpstr>
      <vt:lpstr>4.2 组合逻辑电路设计</vt:lpstr>
      <vt:lpstr>4.2 组合逻辑电路设计</vt:lpstr>
      <vt:lpstr>4.2 组合逻辑电路设计</vt:lpstr>
      <vt:lpstr>4.2 组合逻辑电路设计</vt:lpstr>
      <vt:lpstr>4.2 组合逻辑电路设计</vt:lpstr>
      <vt:lpstr>4.2 组合逻辑电路设计</vt:lpstr>
      <vt:lpstr>4.2 组合逻辑电路设计</vt:lpstr>
      <vt:lpstr>4.2 组合逻辑电路设计</vt:lpstr>
      <vt:lpstr>4.2 组合逻辑电路设计</vt:lpstr>
      <vt:lpstr>4.2 组合逻辑电路设计</vt:lpstr>
      <vt:lpstr>4.2 组合逻辑电路设计</vt:lpstr>
      <vt:lpstr>4.2 组合逻辑电路设计</vt:lpstr>
      <vt:lpstr>4.2 组合逻辑电路设计</vt:lpstr>
      <vt:lpstr>幻灯片 42</vt:lpstr>
      <vt:lpstr>4.3.1 普通编码器</vt:lpstr>
      <vt:lpstr>4.3.1 普通编码器</vt:lpstr>
      <vt:lpstr>4.3.1 普通编码器</vt:lpstr>
      <vt:lpstr>4.3.1 普通编码器</vt:lpstr>
      <vt:lpstr>4.3.2 优先编码器（Priority Encoder）</vt:lpstr>
      <vt:lpstr>4.3.2 优先编码器（Priority Encoder）</vt:lpstr>
      <vt:lpstr>4.3.2 优先编码器</vt:lpstr>
      <vt:lpstr>4.3.2 优先编码器</vt:lpstr>
      <vt:lpstr>4.3.2 优先编码器</vt:lpstr>
      <vt:lpstr>4.3.2 优先编码器</vt:lpstr>
      <vt:lpstr>4.3.2 优先编码器</vt:lpstr>
      <vt:lpstr>4.3.2 优先编码器</vt:lpstr>
      <vt:lpstr>4.3.2 优先编码器</vt:lpstr>
      <vt:lpstr>4.3.2 优先编码器</vt:lpstr>
      <vt:lpstr>4.3.2 优先编码器</vt:lpstr>
      <vt:lpstr>编码器----集成二-十进制编码器</vt:lpstr>
      <vt:lpstr>编码器----集成二-十进制编码器</vt:lpstr>
      <vt:lpstr>编码器----集成二-十进制编码器</vt:lpstr>
      <vt:lpstr>编码器----集成编码器的扩展应用</vt:lpstr>
      <vt:lpstr>编码器----集成编码器的扩展应用</vt:lpstr>
      <vt:lpstr>编码器----集成编码器的扩展应用</vt:lpstr>
      <vt:lpstr>编码器----集成编码器的扩展应用</vt:lpstr>
      <vt:lpstr>编码器----集成编码器的扩展应用</vt:lpstr>
      <vt:lpstr>4.4 译码器（Decoder）</vt:lpstr>
      <vt:lpstr>4.4.1 二进制译码器</vt:lpstr>
      <vt:lpstr>4.4.1 二进制译码器</vt:lpstr>
      <vt:lpstr>幻灯片 69</vt:lpstr>
      <vt:lpstr>4.4.1 二进制译码器</vt:lpstr>
      <vt:lpstr>4.4.1 二进制译码器</vt:lpstr>
      <vt:lpstr>4.4.1 二进制译码器</vt:lpstr>
      <vt:lpstr>4.4.1 二进制译码器</vt:lpstr>
      <vt:lpstr>4.4.1 二进制译码器</vt:lpstr>
      <vt:lpstr>4.4.1 二进制译码器</vt:lpstr>
      <vt:lpstr>4.4.1 二进制译码器</vt:lpstr>
      <vt:lpstr>4.4.2 码制转换译码器</vt:lpstr>
      <vt:lpstr>二－十进制译码器</vt:lpstr>
      <vt:lpstr>二－十进制译码器</vt:lpstr>
      <vt:lpstr>幻灯片 80</vt:lpstr>
      <vt:lpstr>4.4.3 显示译码器</vt:lpstr>
      <vt:lpstr>4.4.3 显示译码器</vt:lpstr>
      <vt:lpstr>4.4.3 显示译码器</vt:lpstr>
      <vt:lpstr>4.4.3 显示译码器</vt:lpstr>
      <vt:lpstr>4.4.3 显示译码器</vt:lpstr>
      <vt:lpstr>4.4.3 显示译码器</vt:lpstr>
      <vt:lpstr>4.4.3 显示译码器</vt:lpstr>
      <vt:lpstr>4.4.3 显示译码器</vt:lpstr>
      <vt:lpstr>4.4.3 显示译码器</vt:lpstr>
      <vt:lpstr>4.4.3 显示译码器</vt:lpstr>
      <vt:lpstr>4.4.3 显示译码器</vt:lpstr>
      <vt:lpstr>4.4.3 显示译码器</vt:lpstr>
      <vt:lpstr>4.4.3 显示译码器</vt:lpstr>
      <vt:lpstr>4.4.3 显示译码器</vt:lpstr>
      <vt:lpstr>4.4.3 显示译码器</vt:lpstr>
      <vt:lpstr>4.4.3 显示译码器</vt:lpstr>
      <vt:lpstr>4.4.3 显示译码器</vt:lpstr>
      <vt:lpstr>译码器（Decoder）----应用</vt:lpstr>
      <vt:lpstr>译码器（Decoder）----应用</vt:lpstr>
      <vt:lpstr>译码器（Decoder）----应用</vt:lpstr>
      <vt:lpstr>译码器（Decoder）----应用</vt:lpstr>
      <vt:lpstr>译码器（Decoder）----应用</vt:lpstr>
      <vt:lpstr>译码器（Decoder）----应用</vt:lpstr>
      <vt:lpstr>4.5 数据选择器（ Multiplexer ）</vt:lpstr>
      <vt:lpstr>4.5 数据选择器（ Multiplexer ）</vt:lpstr>
      <vt:lpstr>4.5 数据选择器（ Multiplexer ）</vt:lpstr>
      <vt:lpstr>4.5 数据选择器（ Multiplexer ）</vt:lpstr>
      <vt:lpstr>4.5 数据选择器（ Multiplexer ）</vt:lpstr>
      <vt:lpstr>4.5 数据选择器（ Multiplexer ）</vt:lpstr>
      <vt:lpstr>4.5.2 数据选择器实现逻辑函数</vt:lpstr>
      <vt:lpstr>4.5.2 数据选择器实现逻辑函数</vt:lpstr>
      <vt:lpstr>4.5.2 数据选择器实现逻辑函数</vt:lpstr>
      <vt:lpstr>4.5.2 数据选择器实现逻辑函数</vt:lpstr>
      <vt:lpstr>4.5.2 数据选择器实现逻辑函数</vt:lpstr>
      <vt:lpstr>4.5.2 数据选择器实现逻辑函数</vt:lpstr>
      <vt:lpstr>4.5.2 数据选择器实现逻辑函数</vt:lpstr>
      <vt:lpstr>4.6 数值比较器（ Digital Comparator ）</vt:lpstr>
      <vt:lpstr>4.6 数值比较器</vt:lpstr>
      <vt:lpstr>4.6 数值比较器</vt:lpstr>
      <vt:lpstr>4.6 数值比较器</vt:lpstr>
      <vt:lpstr>4.6 数值比较器</vt:lpstr>
      <vt:lpstr>4.6 数值比较器</vt:lpstr>
      <vt:lpstr>4.6 数值比较器</vt:lpstr>
      <vt:lpstr>4.6 数值比较器</vt:lpstr>
      <vt:lpstr>4.6 数值比较器</vt:lpstr>
      <vt:lpstr>4.7 加法电路</vt:lpstr>
      <vt:lpstr>4.7 加法电路</vt:lpstr>
      <vt:lpstr>4.7 加法电路</vt:lpstr>
      <vt:lpstr>4.7 加法电路</vt:lpstr>
      <vt:lpstr>4.7 加法电路</vt:lpstr>
      <vt:lpstr>4.7 加法电路</vt:lpstr>
      <vt:lpstr>4.7 加法电路</vt:lpstr>
      <vt:lpstr>4.7 加法电路</vt:lpstr>
      <vt:lpstr>4.7 加法电路</vt:lpstr>
      <vt:lpstr>4.7 加法电路</vt:lpstr>
      <vt:lpstr>4.7 加法电路</vt:lpstr>
      <vt:lpstr>4.7 加法电路</vt:lpstr>
      <vt:lpstr>4.7 加法电路</vt:lpstr>
      <vt:lpstr>4.7 加法电路</vt:lpstr>
      <vt:lpstr>4.7.3 超前进位加法器74283</vt:lpstr>
      <vt:lpstr>4.7.3 超前进位加法器74283</vt:lpstr>
      <vt:lpstr>数据分配器（DEMUX）</vt:lpstr>
      <vt:lpstr>数据分配器（DEMUX）</vt:lpstr>
      <vt:lpstr>数据分配器（DEMUX）</vt:lpstr>
      <vt:lpstr>数据分配器（DEMUX）</vt:lpstr>
      <vt:lpstr>数据分配器（DEMUX）</vt:lpstr>
      <vt:lpstr>数据分配器（DEMUX）</vt:lpstr>
      <vt:lpstr>数据分配器（DEMUX）</vt:lpstr>
      <vt:lpstr>4.8 组合逻辑电路中的竞争冒险</vt:lpstr>
      <vt:lpstr>4.8 组合逻辑电路中的竞争冒险</vt:lpstr>
      <vt:lpstr>4.8 组合逻辑电路中的竞争冒险</vt:lpstr>
      <vt:lpstr>4.8 组合逻辑电路中的竞争冒险</vt:lpstr>
      <vt:lpstr>4.8 组合逻辑电路中的竞争冒险</vt:lpstr>
      <vt:lpstr>4.8 组合逻辑电路中的竞争冒险</vt:lpstr>
      <vt:lpstr>4.8 组合逻辑电路中的竞争冒险</vt:lpstr>
      <vt:lpstr>《第4章》课外作业</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wrj</dc:creator>
  <cp:lastModifiedBy>Sky123.Org</cp:lastModifiedBy>
  <cp:revision>358</cp:revision>
  <cp:lastPrinted>2019-11-11T14:37:30Z</cp:lastPrinted>
  <dcterms:created xsi:type="dcterms:W3CDTF">2017-11-13T00:30:34Z</dcterms:created>
  <dcterms:modified xsi:type="dcterms:W3CDTF">2021-11-15T08:29:06Z</dcterms:modified>
</cp:coreProperties>
</file>