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s/slide76.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Layouts/slideLayout6.xml" ContentType="application/vnd.openxmlformats-officedocument.presentationml.slideLayout+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docProps/custom.xml" ContentType="application/vnd.openxmlformats-officedocument.custom-properties+xml"/>
  <Override PartName="/ppt/slides/slide79.xml" ContentType="application/vnd.openxmlformats-officedocument.presentationml.slide+xml"/>
  <Override PartName="/ppt/slides/slide7.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68.xml" ContentType="application/vnd.openxmlformats-officedocument.presentationml.slide+xml"/>
  <Override PartName="/ppt/slides/slide77.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s/slide66.xml" ContentType="application/vnd.openxmlformats-officedocument.presentationml.slide+xml"/>
  <Override PartName="/ppt/slides/slide75.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Default Extension="bin" ContentType="application/vnd.openxmlformats-officedocument.oleObject"/>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slides/slide73.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s/slide71.xml" ContentType="application/vnd.openxmlformats-officedocument.presentationml.slide+xml"/>
  <Override PartName="/ppt/slides/slide80.xml" ContentType="application/vnd.openxmlformats-officedocument.presentationml.slide+xml"/>
  <Override PartName="/ppt/slideLayouts/slideLayout3.xml" ContentType="application/vnd.openxmlformats-officedocument.presentationml.slideLayout+xml"/>
  <Default Extension="emf" ContentType="image/x-emf"/>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2.xml" ContentType="application/vnd.openxmlformats-officedocument.presentationml.slideLayout+xml"/>
  <Override PartName="/ppt/slideLayouts/slideLayout10.xml" ContentType="application/vnd.openxmlformats-officedocument.presentationml.slideLayout+xml"/>
  <Default Extension="vml" ContentType="application/vnd.openxmlformats-officedocument.vmlDrawing"/>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slides/slide78.xml" ContentType="application/vnd.openxmlformats-officedocument.presentationml.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Layouts/slideLayout4.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Default Extension="wmf" ContentType="image/x-wmf"/>
  <Default Extension="rels" ContentType="application/vnd.openxmlformats-package.relationship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3"/>
  </p:notesMasterIdLst>
  <p:sldIdLst>
    <p:sldId id="348" r:id="rId2"/>
    <p:sldId id="257" r:id="rId3"/>
    <p:sldId id="337" r:id="rId4"/>
    <p:sldId id="355" r:id="rId5"/>
    <p:sldId id="339" r:id="rId6"/>
    <p:sldId id="260" r:id="rId7"/>
    <p:sldId id="261" r:id="rId8"/>
    <p:sldId id="340" r:id="rId9"/>
    <p:sldId id="341" r:id="rId10"/>
    <p:sldId id="342" r:id="rId11"/>
    <p:sldId id="343" r:id="rId12"/>
    <p:sldId id="344" r:id="rId13"/>
    <p:sldId id="345" r:id="rId14"/>
    <p:sldId id="347" r:id="rId15"/>
    <p:sldId id="346" r:id="rId16"/>
    <p:sldId id="262" r:id="rId17"/>
    <p:sldId id="266" r:id="rId18"/>
    <p:sldId id="267" r:id="rId19"/>
    <p:sldId id="319" r:id="rId20"/>
    <p:sldId id="349" r:id="rId21"/>
    <p:sldId id="268" r:id="rId22"/>
    <p:sldId id="269" r:id="rId23"/>
    <p:sldId id="272" r:id="rId24"/>
    <p:sldId id="270" r:id="rId25"/>
    <p:sldId id="273" r:id="rId26"/>
    <p:sldId id="271" r:id="rId27"/>
    <p:sldId id="275" r:id="rId28"/>
    <p:sldId id="274" r:id="rId29"/>
    <p:sldId id="350" r:id="rId30"/>
    <p:sldId id="278" r:id="rId31"/>
    <p:sldId id="276" r:id="rId32"/>
    <p:sldId id="277" r:id="rId33"/>
    <p:sldId id="279" r:id="rId34"/>
    <p:sldId id="280" r:id="rId35"/>
    <p:sldId id="362" r:id="rId36"/>
    <p:sldId id="283" r:id="rId37"/>
    <p:sldId id="282" r:id="rId38"/>
    <p:sldId id="284" r:id="rId39"/>
    <p:sldId id="285" r:id="rId40"/>
    <p:sldId id="286" r:id="rId41"/>
    <p:sldId id="360" r:id="rId42"/>
    <p:sldId id="335" r:id="rId43"/>
    <p:sldId id="288" r:id="rId44"/>
    <p:sldId id="289" r:id="rId45"/>
    <p:sldId id="320" r:id="rId46"/>
    <p:sldId id="321" r:id="rId47"/>
    <p:sldId id="290" r:id="rId48"/>
    <p:sldId id="291" r:id="rId49"/>
    <p:sldId id="292" r:id="rId50"/>
    <p:sldId id="295" r:id="rId51"/>
    <p:sldId id="296" r:id="rId52"/>
    <p:sldId id="297" r:id="rId53"/>
    <p:sldId id="298" r:id="rId54"/>
    <p:sldId id="353" r:id="rId55"/>
    <p:sldId id="354" r:id="rId56"/>
    <p:sldId id="351" r:id="rId57"/>
    <p:sldId id="352" r:id="rId58"/>
    <p:sldId id="299" r:id="rId59"/>
    <p:sldId id="300" r:id="rId60"/>
    <p:sldId id="323" r:id="rId61"/>
    <p:sldId id="324" r:id="rId62"/>
    <p:sldId id="334" r:id="rId63"/>
    <p:sldId id="336" r:id="rId64"/>
    <p:sldId id="301" r:id="rId65"/>
    <p:sldId id="302" r:id="rId66"/>
    <p:sldId id="303" r:id="rId67"/>
    <p:sldId id="305" r:id="rId68"/>
    <p:sldId id="304" r:id="rId69"/>
    <p:sldId id="306" r:id="rId70"/>
    <p:sldId id="307" r:id="rId71"/>
    <p:sldId id="309" r:id="rId72"/>
    <p:sldId id="310" r:id="rId73"/>
    <p:sldId id="308" r:id="rId74"/>
    <p:sldId id="361" r:id="rId75"/>
    <p:sldId id="318" r:id="rId76"/>
    <p:sldId id="359" r:id="rId77"/>
    <p:sldId id="326" r:id="rId78"/>
    <p:sldId id="331" r:id="rId79"/>
    <p:sldId id="357" r:id="rId80"/>
    <p:sldId id="358" r:id="rId81"/>
    <p:sldId id="356" r:id="rId82"/>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28">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CC"/>
    <a:srgbClr val="ABFFFF"/>
    <a:srgbClr val="66FFFF"/>
    <a:srgbClr val="E7FFF9"/>
    <a:srgbClr val="FF66FF"/>
    <a:srgbClr val="FF2F2F"/>
    <a:srgbClr val="66CCFF"/>
    <a:srgbClr val="E5FFFF"/>
    <a:srgbClr val="D5FFFF"/>
    <a:srgbClr val="FF9900"/>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706" autoAdjust="0"/>
    <p:restoredTop sz="98527" autoAdjust="0"/>
  </p:normalViewPr>
  <p:slideViewPr>
    <p:cSldViewPr>
      <p:cViewPr varScale="1">
        <p:scale>
          <a:sx n="82" d="100"/>
          <a:sy n="82" d="100"/>
        </p:scale>
        <p:origin x="-1517" y="-96"/>
      </p:cViewPr>
      <p:guideLst>
        <p:guide orient="horz" pos="2128"/>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image" Target="../media/image5.wmf"/><Relationship Id="rId1" Type="http://schemas.openxmlformats.org/officeDocument/2006/relationships/image" Target="../media/image4.wmf"/><Relationship Id="rId4" Type="http://schemas.openxmlformats.org/officeDocument/2006/relationships/image" Target="../media/image7.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image" Target="../media/image5.wmf"/><Relationship Id="rId1" Type="http://schemas.openxmlformats.org/officeDocument/2006/relationships/image" Target="../media/image4.wmf"/><Relationship Id="rId4" Type="http://schemas.openxmlformats.org/officeDocument/2006/relationships/image" Target="../media/image7.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image" Target="../media/image5.wmf"/><Relationship Id="rId1" Type="http://schemas.openxmlformats.org/officeDocument/2006/relationships/image" Target="../media/image4.wmf"/><Relationship Id="rId4" Type="http://schemas.openxmlformats.org/officeDocument/2006/relationships/image" Target="../media/image7.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image" Target="../media/image5.wmf"/><Relationship Id="rId1" Type="http://schemas.openxmlformats.org/officeDocument/2006/relationships/image" Target="../media/image4.wmf"/><Relationship Id="rId4" Type="http://schemas.openxmlformats.org/officeDocument/2006/relationships/image" Target="../media/image7.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image" Target="../media/image5.wmf"/><Relationship Id="rId1" Type="http://schemas.openxmlformats.org/officeDocument/2006/relationships/image" Target="../media/image4.wmf"/><Relationship Id="rId4" Type="http://schemas.openxmlformats.org/officeDocument/2006/relationships/image" Target="../media/image7.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image" Target="../media/image5.wmf"/><Relationship Id="rId1" Type="http://schemas.openxmlformats.org/officeDocument/2006/relationships/image" Target="../media/image4.wmf"/><Relationship Id="rId4" Type="http://schemas.openxmlformats.org/officeDocument/2006/relationships/image" Target="../media/image7.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image" Target="../media/image5.wmf"/><Relationship Id="rId1" Type="http://schemas.openxmlformats.org/officeDocument/2006/relationships/image" Target="../media/image4.wmf"/><Relationship Id="rId4" Type="http://schemas.openxmlformats.org/officeDocument/2006/relationships/image" Target="../media/image7.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image" Target="../media/image5.wmf"/><Relationship Id="rId1" Type="http://schemas.openxmlformats.org/officeDocument/2006/relationships/image" Target="../media/image4.wmf"/><Relationship Id="rId4" Type="http://schemas.openxmlformats.org/officeDocument/2006/relationships/image" Target="../media/image7.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image" Target="../media/image5.wmf"/><Relationship Id="rId1" Type="http://schemas.openxmlformats.org/officeDocument/2006/relationships/image" Target="../media/image4.wmf"/><Relationship Id="rId4" Type="http://schemas.openxmlformats.org/officeDocument/2006/relationships/image" Target="../media/image7.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image" Target="../media/image7.wmf"/><Relationship Id="rId1" Type="http://schemas.openxmlformats.org/officeDocument/2006/relationships/image" Target="../media/image6.wmf"/><Relationship Id="rId4" Type="http://schemas.openxmlformats.org/officeDocument/2006/relationships/image" Target="../media/image10.w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12.wmf"/><Relationship Id="rId1" Type="http://schemas.openxmlformats.org/officeDocument/2006/relationships/image" Target="../media/image10.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image" Target="../media/image6.wmf"/><Relationship Id="rId1" Type="http://schemas.openxmlformats.org/officeDocument/2006/relationships/image" Target="../media/image16.w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image" Target="../media/image23.wmf"/><Relationship Id="rId1" Type="http://schemas.openxmlformats.org/officeDocument/2006/relationships/image" Target="../media/image22.wmf"/><Relationship Id="rId4" Type="http://schemas.openxmlformats.org/officeDocument/2006/relationships/image" Target="../media/image25.wmf"/></Relationships>
</file>

<file path=ppt/drawings/_rels/vmlDrawing14.vml.rels><?xml version="1.0" encoding="UTF-8" standalone="yes"?>
<Relationships xmlns="http://schemas.openxmlformats.org/package/2006/relationships"><Relationship Id="rId2" Type="http://schemas.openxmlformats.org/officeDocument/2006/relationships/image" Target="../media/image34.wmf"/><Relationship Id="rId1" Type="http://schemas.openxmlformats.org/officeDocument/2006/relationships/image" Target="../media/image33.wmf"/></Relationships>
</file>

<file path=ppt/drawings/_rels/vmlDrawing15.vml.rels><?xml version="1.0" encoding="UTF-8" standalone="yes"?>
<Relationships xmlns="http://schemas.openxmlformats.org/package/2006/relationships"><Relationship Id="rId2" Type="http://schemas.openxmlformats.org/officeDocument/2006/relationships/image" Target="../media/image34.wmf"/><Relationship Id="rId1" Type="http://schemas.openxmlformats.org/officeDocument/2006/relationships/image" Target="../media/image33.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36.wmf"/></Relationships>
</file>

<file path=ppt/drawings/_rels/vmlDrawing17.vml.rels><?xml version="1.0" encoding="UTF-8" standalone="yes"?>
<Relationships xmlns="http://schemas.openxmlformats.org/package/2006/relationships"><Relationship Id="rId2" Type="http://schemas.openxmlformats.org/officeDocument/2006/relationships/image" Target="../media/image39.wmf"/><Relationship Id="rId1" Type="http://schemas.openxmlformats.org/officeDocument/2006/relationships/image" Target="../media/image38.w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42.w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46.e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48.emf"/></Relationships>
</file>

<file path=ppt/drawings/_rels/vmlDrawing21.vml.rels><?xml version="1.0" encoding="UTF-8" standalone="yes"?>
<Relationships xmlns="http://schemas.openxmlformats.org/package/2006/relationships"><Relationship Id="rId2" Type="http://schemas.openxmlformats.org/officeDocument/2006/relationships/image" Target="../media/image53.wmf"/><Relationship Id="rId1" Type="http://schemas.openxmlformats.org/officeDocument/2006/relationships/image" Target="../media/image52.wmf"/></Relationships>
</file>

<file path=ppt/drawings/_rels/vmlDrawing22.vml.rels><?xml version="1.0" encoding="UTF-8" standalone="yes"?>
<Relationships xmlns="http://schemas.openxmlformats.org/package/2006/relationships"><Relationship Id="rId2" Type="http://schemas.openxmlformats.org/officeDocument/2006/relationships/image" Target="../media/image56.wmf"/><Relationship Id="rId1" Type="http://schemas.openxmlformats.org/officeDocument/2006/relationships/image" Target="../media/image55.emf"/></Relationships>
</file>

<file path=ppt/drawings/_rels/vmlDrawing23.vml.rels><?xml version="1.0" encoding="UTF-8" standalone="yes"?>
<Relationships xmlns="http://schemas.openxmlformats.org/package/2006/relationships"><Relationship Id="rId2" Type="http://schemas.openxmlformats.org/officeDocument/2006/relationships/image" Target="../media/image60.emf"/><Relationship Id="rId1" Type="http://schemas.openxmlformats.org/officeDocument/2006/relationships/image" Target="../media/image59.e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62.emf"/></Relationships>
</file>

<file path=ppt/drawings/_rels/vmlDrawing25.vml.rels><?xml version="1.0" encoding="UTF-8" standalone="yes"?>
<Relationships xmlns="http://schemas.openxmlformats.org/package/2006/relationships"><Relationship Id="rId2" Type="http://schemas.openxmlformats.org/officeDocument/2006/relationships/image" Target="../media/image65.emf"/><Relationship Id="rId1" Type="http://schemas.openxmlformats.org/officeDocument/2006/relationships/image" Target="../media/image64.emf"/></Relationships>
</file>

<file path=ppt/drawings/_rels/vmlDrawing26.vml.rels><?xml version="1.0" encoding="UTF-8" standalone="yes"?>
<Relationships xmlns="http://schemas.openxmlformats.org/package/2006/relationships"><Relationship Id="rId3" Type="http://schemas.openxmlformats.org/officeDocument/2006/relationships/image" Target="../media/image70.emf"/><Relationship Id="rId2" Type="http://schemas.openxmlformats.org/officeDocument/2006/relationships/image" Target="../media/image69.wmf"/><Relationship Id="rId1" Type="http://schemas.openxmlformats.org/officeDocument/2006/relationships/image" Target="../media/image68.emf"/></Relationships>
</file>

<file path=ppt/drawings/_rels/vmlDrawing27.vml.rels><?xml version="1.0" encoding="UTF-8" standalone="yes"?>
<Relationships xmlns="http://schemas.openxmlformats.org/package/2006/relationships"><Relationship Id="rId2" Type="http://schemas.openxmlformats.org/officeDocument/2006/relationships/image" Target="../media/image73.wmf"/><Relationship Id="rId1" Type="http://schemas.openxmlformats.org/officeDocument/2006/relationships/image" Target="../media/image72.wmf"/></Relationships>
</file>

<file path=ppt/drawings/_rels/vmlDrawing28.vml.rels><?xml version="1.0" encoding="UTF-8" standalone="yes"?>
<Relationships xmlns="http://schemas.openxmlformats.org/package/2006/relationships"><Relationship Id="rId1" Type="http://schemas.openxmlformats.org/officeDocument/2006/relationships/image" Target="../media/image77.wmf"/></Relationships>
</file>

<file path=ppt/drawings/_rels/vmlDrawing29.vml.rels><?xml version="1.0" encoding="UTF-8" standalone="yes"?>
<Relationships xmlns="http://schemas.openxmlformats.org/package/2006/relationships"><Relationship Id="rId2" Type="http://schemas.openxmlformats.org/officeDocument/2006/relationships/image" Target="../media/image81.wmf"/><Relationship Id="rId1" Type="http://schemas.openxmlformats.org/officeDocument/2006/relationships/image" Target="../media/image80.wmf"/></Relationships>
</file>

<file path=ppt/drawings/_rels/vmlDrawing30.vml.rels><?xml version="1.0" encoding="UTF-8" standalone="yes"?>
<Relationships xmlns="http://schemas.openxmlformats.org/package/2006/relationships"><Relationship Id="rId1" Type="http://schemas.openxmlformats.org/officeDocument/2006/relationships/image" Target="../media/image81.wmf"/></Relationships>
</file>

<file path=ppt/drawings/_rels/vmlDrawing31.vml.rels><?xml version="1.0" encoding="UTF-8" standalone="yes"?>
<Relationships xmlns="http://schemas.openxmlformats.org/package/2006/relationships"><Relationship Id="rId2" Type="http://schemas.openxmlformats.org/officeDocument/2006/relationships/image" Target="../media/image84.wmf"/><Relationship Id="rId1" Type="http://schemas.openxmlformats.org/officeDocument/2006/relationships/image" Target="../media/image83.wmf"/></Relationships>
</file>

<file path=ppt/drawings/_rels/vmlDrawing32.vml.rels><?xml version="1.0" encoding="UTF-8" standalone="yes"?>
<Relationships xmlns="http://schemas.openxmlformats.org/package/2006/relationships"><Relationship Id="rId2" Type="http://schemas.openxmlformats.org/officeDocument/2006/relationships/image" Target="../media/image84.wmf"/><Relationship Id="rId1" Type="http://schemas.openxmlformats.org/officeDocument/2006/relationships/image" Target="../media/image83.wmf"/></Relationships>
</file>

<file path=ppt/drawings/_rels/vmlDrawing33.vml.rels><?xml version="1.0" encoding="UTF-8" standalone="yes"?>
<Relationships xmlns="http://schemas.openxmlformats.org/package/2006/relationships"><Relationship Id="rId2" Type="http://schemas.openxmlformats.org/officeDocument/2006/relationships/image" Target="../media/image84.wmf"/><Relationship Id="rId1" Type="http://schemas.openxmlformats.org/officeDocument/2006/relationships/image" Target="../media/image83.wmf"/></Relationships>
</file>

<file path=ppt/drawings/_rels/vmlDrawing34.vml.rels><?xml version="1.0" encoding="UTF-8" standalone="yes"?>
<Relationships xmlns="http://schemas.openxmlformats.org/package/2006/relationships"><Relationship Id="rId2" Type="http://schemas.openxmlformats.org/officeDocument/2006/relationships/image" Target="../media/image97.emf"/><Relationship Id="rId1" Type="http://schemas.openxmlformats.org/officeDocument/2006/relationships/image" Target="../media/image96.emf"/></Relationships>
</file>

<file path=ppt/drawings/_rels/vmlDrawing35.vml.rels><?xml version="1.0" encoding="UTF-8" standalone="yes"?>
<Relationships xmlns="http://schemas.openxmlformats.org/package/2006/relationships"><Relationship Id="rId2" Type="http://schemas.openxmlformats.org/officeDocument/2006/relationships/image" Target="../media/image101.wmf"/><Relationship Id="rId1" Type="http://schemas.openxmlformats.org/officeDocument/2006/relationships/image" Target="../media/image100.wmf"/></Relationships>
</file>

<file path=ppt/drawings/_rels/vmlDrawing36.vml.rels><?xml version="1.0" encoding="UTF-8" standalone="yes"?>
<Relationships xmlns="http://schemas.openxmlformats.org/package/2006/relationships"><Relationship Id="rId2" Type="http://schemas.openxmlformats.org/officeDocument/2006/relationships/image" Target="../media/image104.wmf"/><Relationship Id="rId1" Type="http://schemas.openxmlformats.org/officeDocument/2006/relationships/image" Target="../media/image103.wmf"/></Relationships>
</file>

<file path=ppt/drawings/_rels/vmlDrawing37.vml.rels><?xml version="1.0" encoding="UTF-8" standalone="yes"?>
<Relationships xmlns="http://schemas.openxmlformats.org/package/2006/relationships"><Relationship Id="rId1" Type="http://schemas.openxmlformats.org/officeDocument/2006/relationships/image" Target="../media/image108.wmf"/></Relationships>
</file>

<file path=ppt/drawings/_rels/vmlDrawing38.vml.rels><?xml version="1.0" encoding="UTF-8" standalone="yes"?>
<Relationships xmlns="http://schemas.openxmlformats.org/package/2006/relationships"><Relationship Id="rId2" Type="http://schemas.openxmlformats.org/officeDocument/2006/relationships/image" Target="../media/image104.wmf"/><Relationship Id="rId1" Type="http://schemas.openxmlformats.org/officeDocument/2006/relationships/image" Target="../media/image103.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133B7ED-3E2A-484A-9F54-F98DE44168C9}" type="datetimeFigureOut">
              <a:rPr lang="zh-CN" altLang="en-US" smtClean="0"/>
              <a:pPr/>
              <a:t>2021/12/7</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7E31B67-FA19-48D4-9513-ACEE5F6BF7EA}" type="slidenum">
              <a:rPr lang="zh-CN" altLang="en-US" smtClean="0"/>
              <a:pPr/>
              <a:t>‹#›</a:t>
            </a:fld>
            <a:endParaRPr lang="zh-CN" altLang="en-US"/>
          </a:p>
        </p:txBody>
      </p:sp>
    </p:spTree>
    <p:extLst>
      <p:ext uri="{BB962C8B-B14F-4D97-AF65-F5344CB8AC3E}">
        <p14:creationId xmlns:p14="http://schemas.microsoft.com/office/powerpoint/2010/main" xmlns="" val="19224034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E9B258-9FFB-4B0D-B815-A3578B96B5F2}" type="slidenum">
              <a:rPr lang="zh-CN" altLang="en-US" smtClean="0"/>
              <a:pPr/>
              <a:t>3</a:t>
            </a:fld>
            <a:endParaRPr lang="zh-CN" altLang="en-US"/>
          </a:p>
        </p:txBody>
      </p:sp>
    </p:spTree>
    <p:extLst>
      <p:ext uri="{BB962C8B-B14F-4D97-AF65-F5344CB8AC3E}">
        <p14:creationId xmlns:p14="http://schemas.microsoft.com/office/powerpoint/2010/main" xmlns="" val="21553672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7E31B67-FA19-48D4-9513-ACEE5F6BF7EA}" type="slidenum">
              <a:rPr lang="zh-CN" altLang="en-US" smtClean="0"/>
              <a:pPr/>
              <a:t>48</a:t>
            </a:fld>
            <a:endParaRPr lang="zh-CN" altLang="en-US"/>
          </a:p>
        </p:txBody>
      </p:sp>
    </p:spTree>
    <p:extLst>
      <p:ext uri="{BB962C8B-B14F-4D97-AF65-F5344CB8AC3E}">
        <p14:creationId xmlns:p14="http://schemas.microsoft.com/office/powerpoint/2010/main" xmlns="" val="26678070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114690" name="Group 2"/>
          <p:cNvGrpSpPr/>
          <p:nvPr/>
        </p:nvGrpSpPr>
        <p:grpSpPr bwMode="auto">
          <a:xfrm>
            <a:off x="0" y="2438400"/>
            <a:ext cx="9009063" cy="1052513"/>
            <a:chOff x="0" y="1536"/>
            <a:chExt cx="5675" cy="663"/>
          </a:xfrm>
        </p:grpSpPr>
        <p:grpSp>
          <p:nvGrpSpPr>
            <p:cNvPr id="114691" name="Group 3"/>
            <p:cNvGrpSpPr/>
            <p:nvPr/>
          </p:nvGrpSpPr>
          <p:grpSpPr bwMode="auto">
            <a:xfrm>
              <a:off x="183" y="1604"/>
              <a:ext cx="448" cy="299"/>
              <a:chOff x="720" y="336"/>
              <a:chExt cx="624" cy="432"/>
            </a:xfrm>
          </p:grpSpPr>
          <p:sp>
            <p:nvSpPr>
              <p:cNvPr id="114692" name="Rectangle 4"/>
              <p:cNvSpPr>
                <a:spLocks noChangeArrowheads="1"/>
              </p:cNvSpPr>
              <p:nvPr/>
            </p:nvSpPr>
            <p:spPr bwMode="auto">
              <a:xfrm>
                <a:off x="720" y="336"/>
                <a:ext cx="384" cy="432"/>
              </a:xfrm>
              <a:prstGeom prst="rect">
                <a:avLst/>
              </a:prstGeom>
              <a:solidFill>
                <a:schemeClr val="folHlink"/>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sp>
            <p:nvSpPr>
              <p:cNvPr id="114693"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grpSp>
        <p:grpSp>
          <p:nvGrpSpPr>
            <p:cNvPr id="114694" name="Group 6"/>
            <p:cNvGrpSpPr/>
            <p:nvPr/>
          </p:nvGrpSpPr>
          <p:grpSpPr bwMode="auto">
            <a:xfrm>
              <a:off x="261" y="1870"/>
              <a:ext cx="465" cy="299"/>
              <a:chOff x="912" y="2640"/>
              <a:chExt cx="672" cy="432"/>
            </a:xfrm>
          </p:grpSpPr>
          <p:sp>
            <p:nvSpPr>
              <p:cNvPr id="114695" name="Rectangle 7"/>
              <p:cNvSpPr>
                <a:spLocks noChangeArrowheads="1"/>
              </p:cNvSpPr>
              <p:nvPr/>
            </p:nvSpPr>
            <p:spPr bwMode="auto">
              <a:xfrm>
                <a:off x="912" y="2640"/>
                <a:ext cx="384" cy="432"/>
              </a:xfrm>
              <a:prstGeom prst="rect">
                <a:avLst/>
              </a:prstGeom>
              <a:solidFill>
                <a:schemeClr val="accent2"/>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sp>
            <p:nvSpPr>
              <p:cNvPr id="114696" name="Rectangle 8"/>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grpSp>
        <p:sp>
          <p:nvSpPr>
            <p:cNvPr id="114697"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sp>
          <p:nvSpPr>
            <p:cNvPr id="114698" name="Rectangle 10"/>
            <p:cNvSpPr>
              <a:spLocks noChangeArrowheads="1"/>
            </p:cNvSpPr>
            <p:nvPr/>
          </p:nvSpPr>
          <p:spPr bwMode="auto">
            <a:xfrm>
              <a:off x="400" y="1536"/>
              <a:ext cx="20" cy="663"/>
            </a:xfrm>
            <a:prstGeom prst="rect">
              <a:avLst/>
            </a:prstGeom>
            <a:solidFill>
              <a:schemeClr val="bg2"/>
            </a:solidFill>
            <a:ln>
              <a:noFill/>
            </a:ln>
            <a:effectLst/>
            <a:extLst>
              <a:ext uri="{91240B29-F687-4F45-9708-019B960494DF}">
                <a14:hiddenLine xmlns:a14="http://schemas.microsoft.com/office/drawing/2010/main" xmlns="" w="9525">
                  <a:solidFill>
                    <a:schemeClr val="bg2"/>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sp>
          <p:nvSpPr>
            <p:cNvPr id="114699"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grpSp>
      <p:sp>
        <p:nvSpPr>
          <p:cNvPr id="114700" name="Rectangle 12"/>
          <p:cNvSpPr>
            <a:spLocks noGrp="1" noChangeArrowheads="1"/>
          </p:cNvSpPr>
          <p:nvPr>
            <p:ph type="ctrTitle"/>
          </p:nvPr>
        </p:nvSpPr>
        <p:spPr>
          <a:xfrm>
            <a:off x="990600" y="1828800"/>
            <a:ext cx="7772400" cy="1143000"/>
          </a:xfrm>
        </p:spPr>
        <p:txBody>
          <a:bodyPr/>
          <a:lstStyle>
            <a:lvl1pPr>
              <a:defRPr/>
            </a:lvl1pPr>
          </a:lstStyle>
          <a:p>
            <a:pPr lvl="0"/>
            <a:r>
              <a:rPr lang="zh-CN" altLang="en-US" noProof="0" smtClean="0"/>
              <a:t>单击此处编辑母版标题样式</a:t>
            </a:r>
          </a:p>
        </p:txBody>
      </p:sp>
      <p:sp>
        <p:nvSpPr>
          <p:cNvPr id="114701" name="Rectangle 13"/>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a:lvl1pPr>
          </a:lstStyle>
          <a:p>
            <a:pPr lvl="0"/>
            <a:r>
              <a:rPr lang="zh-CN" altLang="en-US" noProof="0" smtClean="0"/>
              <a:t>单击此处编辑母版副标题样式</a:t>
            </a:r>
          </a:p>
        </p:txBody>
      </p:sp>
      <p:sp>
        <p:nvSpPr>
          <p:cNvPr id="114702" name="Rectangle 14"/>
          <p:cNvSpPr>
            <a:spLocks noGrp="1" noChangeArrowheads="1"/>
          </p:cNvSpPr>
          <p:nvPr>
            <p:ph type="dt" sz="half" idx="2"/>
          </p:nvPr>
        </p:nvSpPr>
        <p:spPr>
          <a:xfrm>
            <a:off x="990600" y="6248400"/>
            <a:ext cx="1905000" cy="457200"/>
          </a:xfrm>
        </p:spPr>
        <p:txBody>
          <a:bodyPr/>
          <a:lstStyle>
            <a:lvl1pPr>
              <a:defRPr>
                <a:solidFill>
                  <a:schemeClr val="bg2"/>
                </a:solidFill>
              </a:defRPr>
            </a:lvl1pPr>
          </a:lstStyle>
          <a:p>
            <a:fld id="{BDC37BE5-2B55-4183-A874-C866012BEEE3}" type="datetime1">
              <a:rPr lang="zh-CN" altLang="en-US" smtClean="0"/>
              <a:pPr/>
              <a:t>2021/12/7</a:t>
            </a:fld>
            <a:endParaRPr lang="zh-CN" altLang="en-US"/>
          </a:p>
        </p:txBody>
      </p:sp>
      <p:sp>
        <p:nvSpPr>
          <p:cNvPr id="114703" name="Rectangle 15"/>
          <p:cNvSpPr>
            <a:spLocks noGrp="1" noChangeArrowheads="1"/>
          </p:cNvSpPr>
          <p:nvPr>
            <p:ph type="ftr" sz="quarter" idx="3"/>
          </p:nvPr>
        </p:nvSpPr>
        <p:spPr>
          <a:xfrm>
            <a:off x="3429000" y="6248400"/>
            <a:ext cx="2895600" cy="457200"/>
          </a:xfrm>
        </p:spPr>
        <p:txBody>
          <a:bodyPr/>
          <a:lstStyle>
            <a:lvl1pPr>
              <a:defRPr>
                <a:solidFill>
                  <a:schemeClr val="bg2"/>
                </a:solidFill>
              </a:defRPr>
            </a:lvl1pPr>
          </a:lstStyle>
          <a:p>
            <a:endParaRPr lang="zh-CN" altLang="en-US"/>
          </a:p>
        </p:txBody>
      </p:sp>
      <p:sp>
        <p:nvSpPr>
          <p:cNvPr id="114704" name="Rectangle 16"/>
          <p:cNvSpPr>
            <a:spLocks noGrp="1" noChangeArrowheads="1"/>
          </p:cNvSpPr>
          <p:nvPr>
            <p:ph type="sldNum" sz="quarter" idx="4"/>
          </p:nvPr>
        </p:nvSpPr>
        <p:spPr>
          <a:xfrm>
            <a:off x="6858000" y="6248400"/>
            <a:ext cx="1905000" cy="457200"/>
          </a:xfrm>
        </p:spPr>
        <p:txBody>
          <a:bodyPr/>
          <a:lstStyle>
            <a:lvl1pPr>
              <a:defRPr>
                <a:solidFill>
                  <a:schemeClr val="bg2"/>
                </a:solidFill>
              </a:defRPr>
            </a:lvl1pPr>
          </a:lstStyle>
          <a:p>
            <a:fld id="{0C913308-F349-4B6D-A68A-DD1791B4A57B}" type="slidenum">
              <a:rPr lang="zh-CN" altLang="en-US" smtClean="0"/>
              <a:pPr/>
              <a:t>‹#›</a:t>
            </a:fld>
            <a:endParaRPr lang="zh-CN" altLang="en-US"/>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043608" y="548680"/>
            <a:ext cx="8100392" cy="1143000"/>
          </a:xfrm>
        </p:spPr>
        <p:txBody>
          <a:bodyPr/>
          <a:lstStyle>
            <a:lvl1pPr>
              <a:defRPr sz="3200"/>
            </a:lvl1pPr>
          </a:lstStyle>
          <a:p>
            <a:r>
              <a:rPr lang="zh-CN" altLang="en-US" dirty="0" smtClean="0"/>
              <a:t>单击此处编辑母版标题样式</a:t>
            </a:r>
            <a:endParaRPr lang="zh-CN" altLang="en-US" dirty="0"/>
          </a:p>
        </p:txBody>
      </p:sp>
      <p:sp>
        <p:nvSpPr>
          <p:cNvPr id="3" name="内容占位符 2"/>
          <p:cNvSpPr>
            <a:spLocks noGrp="1"/>
          </p:cNvSpPr>
          <p:nvPr>
            <p:ph idx="1"/>
          </p:nvPr>
        </p:nvSpPr>
        <p:spPr>
          <a:xfrm>
            <a:off x="793750" y="1844824"/>
            <a:ext cx="8161338" cy="4752528"/>
          </a:xfrm>
        </p:spPr>
        <p:txBody>
          <a:bodyPr/>
          <a:lstStyle>
            <a:lvl1pPr>
              <a:defRPr sz="2400" b="1"/>
            </a:lvl1pPr>
            <a:lvl2pPr>
              <a:defRPr sz="2200" b="1"/>
            </a:lvl2pPr>
            <a:lvl3pPr>
              <a:defRPr sz="2000"/>
            </a:lvl3p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zh-CN" altLang="en-US" dirty="0"/>
          </a:p>
        </p:txBody>
      </p:sp>
      <p:sp>
        <p:nvSpPr>
          <p:cNvPr id="4" name="日期占位符 3"/>
          <p:cNvSpPr>
            <a:spLocks noGrp="1"/>
          </p:cNvSpPr>
          <p:nvPr>
            <p:ph type="dt" sz="half" idx="10"/>
          </p:nvPr>
        </p:nvSpPr>
        <p:spPr>
          <a:xfrm>
            <a:off x="914400" y="6556920"/>
            <a:ext cx="1905000" cy="328464"/>
          </a:xfrm>
        </p:spPr>
        <p:txBody>
          <a:bodyPr/>
          <a:lstStyle>
            <a:lvl1pPr>
              <a:defRPr/>
            </a:lvl1pPr>
          </a:lstStyle>
          <a:p>
            <a:fld id="{75154E2A-93AA-4E15-9EE6-A3F3C98AB92C}" type="datetime1">
              <a:rPr lang="zh-CN" altLang="en-US" smtClean="0"/>
              <a:pPr/>
              <a:t>2021/12/7</a:t>
            </a:fld>
            <a:endParaRPr lang="zh-CN" altLang="en-US"/>
          </a:p>
        </p:txBody>
      </p:sp>
      <p:sp>
        <p:nvSpPr>
          <p:cNvPr id="5" name="页脚占位符 4"/>
          <p:cNvSpPr>
            <a:spLocks noGrp="1"/>
          </p:cNvSpPr>
          <p:nvPr>
            <p:ph type="ftr" sz="quarter" idx="11"/>
          </p:nvPr>
        </p:nvSpPr>
        <p:spPr>
          <a:xfrm>
            <a:off x="3352800" y="6556920"/>
            <a:ext cx="2895600" cy="328464"/>
          </a:xfrm>
        </p:spPr>
        <p:txBody>
          <a:bodyPr/>
          <a:lstStyle>
            <a:lvl1pPr>
              <a:defRPr/>
            </a:lvl1pPr>
          </a:lstStyle>
          <a:p>
            <a:endParaRPr lang="zh-CN" altLang="en-US"/>
          </a:p>
        </p:txBody>
      </p:sp>
      <p:sp>
        <p:nvSpPr>
          <p:cNvPr id="6" name="灯片编号占位符 5"/>
          <p:cNvSpPr>
            <a:spLocks noGrp="1"/>
          </p:cNvSpPr>
          <p:nvPr>
            <p:ph type="sldNum" sz="quarter" idx="12"/>
          </p:nvPr>
        </p:nvSpPr>
        <p:spPr>
          <a:xfrm>
            <a:off x="6781800" y="6556920"/>
            <a:ext cx="1905000" cy="328464"/>
          </a:xfrm>
        </p:spPr>
        <p:txBody>
          <a:bodyPr/>
          <a:lstStyle>
            <a:lvl1pPr>
              <a:defRPr/>
            </a:lvl1pPr>
          </a:lstStyle>
          <a:p>
            <a:fld id="{0C913308-F349-4B6D-A68A-DD1791B4A57B}" type="slidenum">
              <a:rPr lang="zh-CN" altLang="en-US" smtClean="0"/>
              <a:pPr/>
              <a:t>‹#›</a:t>
            </a:fld>
            <a:endParaRPr lang="zh-CN" altLang="en-US"/>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lvl1pPr>
              <a:defRPr/>
            </a:lvl1pPr>
          </a:lstStyle>
          <a:p>
            <a:fld id="{5E16B97F-0C23-4106-8A95-9E7C084AA426}" type="datetime1">
              <a:rPr lang="zh-CN" altLang="en-US" smtClean="0"/>
              <a:pPr/>
              <a:t>2021/12/7</a:t>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0C913308-F349-4B6D-A68A-DD1791B4A57B}" type="slidenum">
              <a:rPr lang="zh-CN" altLang="en-US" smtClean="0"/>
              <a:pPr/>
              <a:t>‹#›</a:t>
            </a:fld>
            <a:endParaRPr lang="zh-CN" altLang="en-US"/>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1182688" y="201771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5145088" y="201771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lvl1pPr>
              <a:defRPr/>
            </a:lvl1pPr>
          </a:lstStyle>
          <a:p>
            <a:fld id="{8328734A-09AB-40F1-A150-4F89A3AA1FDC}" type="datetime1">
              <a:rPr lang="zh-CN" altLang="en-US" smtClean="0"/>
              <a:pPr/>
              <a:t>2021/12/7</a:t>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0C913308-F349-4B6D-A68A-DD1791B4A57B}" type="slidenum">
              <a:rPr lang="zh-CN" altLang="en-US" smtClean="0"/>
              <a:pPr/>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lvl1pPr>
              <a:defRPr/>
            </a:lvl1pPr>
          </a:lstStyle>
          <a:p>
            <a:fld id="{A84C6AC8-6ACC-4E63-AFE7-0A3835A7E6E0}" type="datetime1">
              <a:rPr lang="zh-CN" altLang="en-US" smtClean="0"/>
              <a:pPr/>
              <a:t>2021/12/7</a:t>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0C913308-F349-4B6D-A68A-DD1791B4A57B}" type="slidenum">
              <a:rPr lang="zh-CN" altLang="en-US" smtClean="0"/>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97106202-96FD-43AB-80E0-BAE74EFCF2E3}" type="datetime1">
              <a:rPr lang="zh-CN" altLang="en-US" smtClean="0"/>
              <a:pPr/>
              <a:t>2021/12/7</a:t>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0C913308-F349-4B6D-A68A-DD1791B4A57B}" type="slidenum">
              <a:rPr lang="zh-CN" altLang="en-US" smtClean="0"/>
              <a:pPr/>
              <a:t>‹#›</a:t>
            </a:fld>
            <a:endParaRPr lang="zh-CN" altLang="en-US"/>
          </a:p>
        </p:txBody>
      </p:sp>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fld id="{2559874B-088A-4C3E-A792-1ADBE02E2B5B}" type="datetime1">
              <a:rPr lang="zh-CN" altLang="en-US" smtClean="0"/>
              <a:pPr/>
              <a:t>2021/12/7</a:t>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0C913308-F349-4B6D-A68A-DD1791B4A57B}" type="slidenum">
              <a:rPr lang="zh-CN" altLang="en-US" smtClean="0"/>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fld id="{4C745F81-9533-435E-90E4-D306FE0C114C}" type="datetime1">
              <a:rPr lang="zh-CN" altLang="en-US" smtClean="0"/>
              <a:pPr/>
              <a:t>2021/12/7</a:t>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0C913308-F349-4B6D-A68A-DD1791B4A57B}" type="slidenum">
              <a:rPr lang="zh-CN" altLang="en-US" smtClean="0"/>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单击图标添加图片</a:t>
            </a:r>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fld id="{E8657D41-4B9F-4A17-A132-F5EAFA63A05C}" type="datetime1">
              <a:rPr lang="zh-CN" altLang="en-US" smtClean="0"/>
              <a:pPr/>
              <a:t>2021/12/7</a:t>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0C913308-F349-4B6D-A68A-DD1791B4A57B}" type="slidenum">
              <a:rPr lang="zh-CN" altLang="en-US" smtClean="0"/>
              <a:pPr/>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fld id="{FECF0936-BE74-4357-AAB1-A80F18F4179E}" type="datetime1">
              <a:rPr lang="zh-CN" altLang="en-US" smtClean="0"/>
              <a:pPr/>
              <a:t>2021/12/7</a:t>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0C913308-F349-4B6D-A68A-DD1791B4A57B}" type="slidenum">
              <a:rPr lang="zh-CN" altLang="en-US" smtClean="0"/>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004050" y="617538"/>
            <a:ext cx="1951038" cy="551497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1150938" y="617538"/>
            <a:ext cx="5700712" cy="551497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fld id="{05FBC967-FD70-4EC3-A60E-DB0C49B3480E}" type="datetime1">
              <a:rPr lang="zh-CN" altLang="en-US" smtClean="0"/>
              <a:pPr/>
              <a:t>2021/12/7</a:t>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0C913308-F349-4B6D-A68A-DD1791B4A57B}" type="slidenum">
              <a:rPr lang="zh-CN" altLang="en-US" smtClean="0"/>
              <a:pPr/>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内容页_3张方形图">
    <p:spTree>
      <p:nvGrpSpPr>
        <p:cNvPr id="1" name=""/>
        <p:cNvGrpSpPr/>
        <p:nvPr/>
      </p:nvGrpSpPr>
      <p:grpSpPr>
        <a:xfrm>
          <a:off x="0" y="0"/>
          <a:ext cx="0" cy="0"/>
          <a:chOff x="0" y="0"/>
          <a:chExt cx="0" cy="0"/>
        </a:xfrm>
      </p:grpSpPr>
      <p:sp>
        <p:nvSpPr>
          <p:cNvPr id="20" name="文本占位符 47">
            <a:extLst>
              <a:ext uri="{FF2B5EF4-FFF2-40B4-BE49-F238E27FC236}">
                <a16:creationId xmlns:a16="http://schemas.microsoft.com/office/drawing/2014/main" xmlns="" id="{F0DE6DAA-35F3-4E8C-ADFB-D3DBCE7DF92A}"/>
              </a:ext>
            </a:extLst>
          </p:cNvPr>
          <p:cNvSpPr>
            <a:spLocks noGrp="1"/>
          </p:cNvSpPr>
          <p:nvPr>
            <p:ph type="body" sz="quarter" idx="10" hasCustomPrompt="1"/>
          </p:nvPr>
        </p:nvSpPr>
        <p:spPr>
          <a:xfrm>
            <a:off x="513148" y="209666"/>
            <a:ext cx="4972394" cy="538877"/>
          </a:xfrm>
          <a:prstGeom prst="rect">
            <a:avLst/>
          </a:prstGeom>
        </p:spPr>
        <p:txBody>
          <a:bodyPr lIns="36000" tIns="72000" rIns="36000" bIns="36000"/>
          <a:lstStyle>
            <a:lvl1pPr marL="0" indent="0" algn="l">
              <a:lnSpc>
                <a:spcPct val="100000"/>
              </a:lnSpc>
              <a:spcBef>
                <a:spcPts val="0"/>
              </a:spcBef>
              <a:buNone/>
              <a:defRPr sz="2100" b="1">
                <a:solidFill>
                  <a:schemeClr val="tx2"/>
                </a:solidFill>
                <a:latin typeface="+mj-ea"/>
                <a:ea typeface="+mj-ea"/>
              </a:defRPr>
            </a:lvl1pPr>
          </a:lstStyle>
          <a:p>
            <a:pPr lvl="0"/>
            <a:r>
              <a:rPr lang="zh-CN" altLang="en-US" dirty="0"/>
              <a:t>标题</a:t>
            </a:r>
          </a:p>
        </p:txBody>
      </p:sp>
      <p:sp>
        <p:nvSpPr>
          <p:cNvPr id="26" name="图片占位符 25">
            <a:extLst>
              <a:ext uri="{FF2B5EF4-FFF2-40B4-BE49-F238E27FC236}">
                <a16:creationId xmlns:a16="http://schemas.microsoft.com/office/drawing/2014/main" xmlns="" id="{F8EB7A1E-60DF-4B94-A5A7-53C1D67FE296}"/>
              </a:ext>
            </a:extLst>
          </p:cNvPr>
          <p:cNvSpPr>
            <a:spLocks noGrp="1" noChangeAspect="1"/>
          </p:cNvSpPr>
          <p:nvPr>
            <p:ph type="pic" sz="quarter" idx="18" hasCustomPrompt="1"/>
          </p:nvPr>
        </p:nvSpPr>
        <p:spPr>
          <a:xfrm>
            <a:off x="790312" y="1140726"/>
            <a:ext cx="2135306" cy="2847074"/>
          </a:xfrm>
          <a:custGeom>
            <a:avLst/>
            <a:gdLst>
              <a:gd name="connsiteX0" fmla="*/ 1605874 w 3211748"/>
              <a:gd name="connsiteY0" fmla="*/ 0 h 3211748"/>
              <a:gd name="connsiteX1" fmla="*/ 3211748 w 3211748"/>
              <a:gd name="connsiteY1" fmla="*/ 1605874 h 3211748"/>
              <a:gd name="connsiteX2" fmla="*/ 1605874 w 3211748"/>
              <a:gd name="connsiteY2" fmla="*/ 3211748 h 3211748"/>
              <a:gd name="connsiteX3" fmla="*/ 0 w 3211748"/>
              <a:gd name="connsiteY3" fmla="*/ 1605874 h 3211748"/>
            </a:gdLst>
            <a:ahLst/>
            <a:cxnLst>
              <a:cxn ang="0">
                <a:pos x="connsiteX0" y="connsiteY0"/>
              </a:cxn>
              <a:cxn ang="0">
                <a:pos x="connsiteX1" y="connsiteY1"/>
              </a:cxn>
              <a:cxn ang="0">
                <a:pos x="connsiteX2" y="connsiteY2"/>
              </a:cxn>
              <a:cxn ang="0">
                <a:pos x="connsiteX3" y="connsiteY3"/>
              </a:cxn>
            </a:cxnLst>
            <a:rect l="l" t="t" r="r" b="b"/>
            <a:pathLst>
              <a:path w="3211748" h="3211748">
                <a:moveTo>
                  <a:pt x="1605874" y="0"/>
                </a:moveTo>
                <a:lnTo>
                  <a:pt x="3211748" y="1605874"/>
                </a:lnTo>
                <a:lnTo>
                  <a:pt x="1605874" y="3211748"/>
                </a:lnTo>
                <a:lnTo>
                  <a:pt x="0" y="1605874"/>
                </a:lnTo>
                <a:close/>
              </a:path>
            </a:pathLst>
          </a:custGeom>
          <a:effectLst/>
        </p:spPr>
        <p:txBody>
          <a:bodyPr wrap="square">
            <a:noAutofit/>
          </a:bodyPr>
          <a:lstStyle>
            <a:lvl1pPr marL="0" indent="0" algn="ctr">
              <a:lnSpc>
                <a:spcPct val="200000"/>
              </a:lnSpc>
              <a:buNone/>
              <a:defRPr sz="1800"/>
            </a:lvl1pPr>
          </a:lstStyle>
          <a:p>
            <a:r>
              <a:rPr lang="zh-CN" altLang="en-US" dirty="0"/>
              <a:t>图片</a:t>
            </a:r>
          </a:p>
        </p:txBody>
      </p:sp>
      <p:sp>
        <p:nvSpPr>
          <p:cNvPr id="29" name="图片占位符 28">
            <a:extLst>
              <a:ext uri="{FF2B5EF4-FFF2-40B4-BE49-F238E27FC236}">
                <a16:creationId xmlns:a16="http://schemas.microsoft.com/office/drawing/2014/main" xmlns="" id="{987EAE44-6DFE-4EFC-99F7-367D1419962F}"/>
              </a:ext>
            </a:extLst>
          </p:cNvPr>
          <p:cNvSpPr>
            <a:spLocks noGrp="1" noChangeAspect="1"/>
          </p:cNvSpPr>
          <p:nvPr>
            <p:ph type="pic" sz="quarter" idx="19" hasCustomPrompt="1"/>
          </p:nvPr>
        </p:nvSpPr>
        <p:spPr>
          <a:xfrm>
            <a:off x="3504347" y="1140726"/>
            <a:ext cx="2135306" cy="2847074"/>
          </a:xfrm>
          <a:custGeom>
            <a:avLst/>
            <a:gdLst>
              <a:gd name="connsiteX0" fmla="*/ 1605874 w 3211748"/>
              <a:gd name="connsiteY0" fmla="*/ 0 h 3211748"/>
              <a:gd name="connsiteX1" fmla="*/ 3211748 w 3211748"/>
              <a:gd name="connsiteY1" fmla="*/ 1605874 h 3211748"/>
              <a:gd name="connsiteX2" fmla="*/ 1605874 w 3211748"/>
              <a:gd name="connsiteY2" fmla="*/ 3211748 h 3211748"/>
              <a:gd name="connsiteX3" fmla="*/ 0 w 3211748"/>
              <a:gd name="connsiteY3" fmla="*/ 1605874 h 3211748"/>
            </a:gdLst>
            <a:ahLst/>
            <a:cxnLst>
              <a:cxn ang="0">
                <a:pos x="connsiteX0" y="connsiteY0"/>
              </a:cxn>
              <a:cxn ang="0">
                <a:pos x="connsiteX1" y="connsiteY1"/>
              </a:cxn>
              <a:cxn ang="0">
                <a:pos x="connsiteX2" y="connsiteY2"/>
              </a:cxn>
              <a:cxn ang="0">
                <a:pos x="connsiteX3" y="connsiteY3"/>
              </a:cxn>
            </a:cxnLst>
            <a:rect l="l" t="t" r="r" b="b"/>
            <a:pathLst>
              <a:path w="3211748" h="3211748">
                <a:moveTo>
                  <a:pt x="1605874" y="0"/>
                </a:moveTo>
                <a:lnTo>
                  <a:pt x="3211748" y="1605874"/>
                </a:lnTo>
                <a:lnTo>
                  <a:pt x="1605874" y="3211748"/>
                </a:lnTo>
                <a:lnTo>
                  <a:pt x="0" y="1605874"/>
                </a:lnTo>
                <a:close/>
              </a:path>
            </a:pathLst>
          </a:custGeom>
          <a:effectLst/>
        </p:spPr>
        <p:txBody>
          <a:bodyPr wrap="square">
            <a:noAutofit/>
          </a:bodyPr>
          <a:lstStyle>
            <a:lvl1pPr marL="0" indent="0" algn="ctr">
              <a:lnSpc>
                <a:spcPct val="200000"/>
              </a:lnSpc>
              <a:buNone/>
              <a:defRPr sz="1800"/>
            </a:lvl1pPr>
          </a:lstStyle>
          <a:p>
            <a:r>
              <a:rPr lang="zh-CN" altLang="en-US" dirty="0"/>
              <a:t>图片</a:t>
            </a:r>
          </a:p>
        </p:txBody>
      </p:sp>
      <p:sp>
        <p:nvSpPr>
          <p:cNvPr id="30" name="图片占位符 29">
            <a:extLst>
              <a:ext uri="{FF2B5EF4-FFF2-40B4-BE49-F238E27FC236}">
                <a16:creationId xmlns:a16="http://schemas.microsoft.com/office/drawing/2014/main" xmlns="" id="{B60BBB37-49AC-44C9-94DD-B38653EB09EC}"/>
              </a:ext>
            </a:extLst>
          </p:cNvPr>
          <p:cNvSpPr>
            <a:spLocks noGrp="1" noChangeAspect="1"/>
          </p:cNvSpPr>
          <p:nvPr>
            <p:ph type="pic" sz="quarter" idx="20" hasCustomPrompt="1"/>
          </p:nvPr>
        </p:nvSpPr>
        <p:spPr>
          <a:xfrm>
            <a:off x="6218383" y="1140726"/>
            <a:ext cx="2135306" cy="2847074"/>
          </a:xfrm>
          <a:custGeom>
            <a:avLst/>
            <a:gdLst>
              <a:gd name="connsiteX0" fmla="*/ 1605874 w 3211748"/>
              <a:gd name="connsiteY0" fmla="*/ 0 h 3211748"/>
              <a:gd name="connsiteX1" fmla="*/ 3211748 w 3211748"/>
              <a:gd name="connsiteY1" fmla="*/ 1605874 h 3211748"/>
              <a:gd name="connsiteX2" fmla="*/ 1605874 w 3211748"/>
              <a:gd name="connsiteY2" fmla="*/ 3211748 h 3211748"/>
              <a:gd name="connsiteX3" fmla="*/ 0 w 3211748"/>
              <a:gd name="connsiteY3" fmla="*/ 1605874 h 3211748"/>
            </a:gdLst>
            <a:ahLst/>
            <a:cxnLst>
              <a:cxn ang="0">
                <a:pos x="connsiteX0" y="connsiteY0"/>
              </a:cxn>
              <a:cxn ang="0">
                <a:pos x="connsiteX1" y="connsiteY1"/>
              </a:cxn>
              <a:cxn ang="0">
                <a:pos x="connsiteX2" y="connsiteY2"/>
              </a:cxn>
              <a:cxn ang="0">
                <a:pos x="connsiteX3" y="connsiteY3"/>
              </a:cxn>
            </a:cxnLst>
            <a:rect l="l" t="t" r="r" b="b"/>
            <a:pathLst>
              <a:path w="3211748" h="3211748">
                <a:moveTo>
                  <a:pt x="1605874" y="0"/>
                </a:moveTo>
                <a:lnTo>
                  <a:pt x="3211748" y="1605874"/>
                </a:lnTo>
                <a:lnTo>
                  <a:pt x="1605874" y="3211748"/>
                </a:lnTo>
                <a:lnTo>
                  <a:pt x="0" y="1605874"/>
                </a:lnTo>
                <a:close/>
              </a:path>
            </a:pathLst>
          </a:custGeom>
          <a:effectLst/>
        </p:spPr>
        <p:txBody>
          <a:bodyPr wrap="square">
            <a:noAutofit/>
          </a:bodyPr>
          <a:lstStyle>
            <a:lvl1pPr marL="0" indent="0" algn="ctr">
              <a:lnSpc>
                <a:spcPct val="200000"/>
              </a:lnSpc>
              <a:buNone/>
              <a:defRPr sz="1800"/>
            </a:lvl1pPr>
          </a:lstStyle>
          <a:p>
            <a:r>
              <a:rPr lang="zh-CN" altLang="en-US" dirty="0"/>
              <a:t>图片</a:t>
            </a:r>
          </a:p>
        </p:txBody>
      </p:sp>
      <p:cxnSp>
        <p:nvCxnSpPr>
          <p:cNvPr id="24" name="直接连接符 23">
            <a:extLst>
              <a:ext uri="{FF2B5EF4-FFF2-40B4-BE49-F238E27FC236}">
                <a16:creationId xmlns:a16="http://schemas.microsoft.com/office/drawing/2014/main" xmlns="" id="{4B5EAB9E-21DE-4B01-89EE-90143B220DCD}"/>
              </a:ext>
            </a:extLst>
          </p:cNvPr>
          <p:cNvCxnSpPr>
            <a:cxnSpLocks/>
          </p:cNvCxnSpPr>
          <p:nvPr userDrawn="1"/>
        </p:nvCxnSpPr>
        <p:spPr>
          <a:xfrm>
            <a:off x="0" y="811050"/>
            <a:ext cx="914490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xmlns="" val="32014448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3666" name="Rectangle 2"/>
          <p:cNvSpPr>
            <a:spLocks noChangeArrowheads="1"/>
          </p:cNvSpPr>
          <p:nvPr/>
        </p:nvSpPr>
        <p:spPr bwMode="ltGray">
          <a:xfrm>
            <a:off x="417513" y="1098550"/>
            <a:ext cx="438150" cy="474663"/>
          </a:xfrm>
          <a:prstGeom prst="rect">
            <a:avLst/>
          </a:prstGeom>
          <a:solidFill>
            <a:schemeClr val="accent2"/>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endParaRPr lang="zh-CN" altLang="zh-CN" sz="2400"/>
          </a:p>
        </p:txBody>
      </p:sp>
      <p:sp>
        <p:nvSpPr>
          <p:cNvPr id="113667" name="Rectangle 3"/>
          <p:cNvSpPr>
            <a:spLocks noChangeArrowheads="1"/>
          </p:cNvSpPr>
          <p:nvPr/>
        </p:nvSpPr>
        <p:spPr bwMode="ltGray">
          <a:xfrm>
            <a:off x="800100" y="10985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endParaRPr lang="zh-CN" altLang="zh-CN" sz="2400"/>
          </a:p>
        </p:txBody>
      </p:sp>
      <p:sp>
        <p:nvSpPr>
          <p:cNvPr id="113668" name="Rectangle 4"/>
          <p:cNvSpPr>
            <a:spLocks noChangeArrowheads="1"/>
          </p:cNvSpPr>
          <p:nvPr/>
        </p:nvSpPr>
        <p:spPr bwMode="ltGray">
          <a:xfrm>
            <a:off x="541338" y="1520825"/>
            <a:ext cx="422275" cy="474663"/>
          </a:xfrm>
          <a:prstGeom prst="rect">
            <a:avLst/>
          </a:prstGeom>
          <a:solidFill>
            <a:schemeClr val="folHlink"/>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endParaRPr lang="zh-CN" altLang="zh-CN" sz="2400"/>
          </a:p>
        </p:txBody>
      </p:sp>
      <p:sp>
        <p:nvSpPr>
          <p:cNvPr id="113669" name="Rectangle 5"/>
          <p:cNvSpPr>
            <a:spLocks noChangeArrowheads="1"/>
          </p:cNvSpPr>
          <p:nvPr/>
        </p:nvSpPr>
        <p:spPr bwMode="ltGray">
          <a:xfrm>
            <a:off x="911225" y="15208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endParaRPr lang="zh-CN" altLang="zh-CN" sz="2400"/>
          </a:p>
        </p:txBody>
      </p:sp>
      <p:sp>
        <p:nvSpPr>
          <p:cNvPr id="113670" name="Rectangle 6"/>
          <p:cNvSpPr>
            <a:spLocks noChangeArrowheads="1"/>
          </p:cNvSpPr>
          <p:nvPr/>
        </p:nvSpPr>
        <p:spPr bwMode="ltGray">
          <a:xfrm>
            <a:off x="127000" y="14478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endParaRPr lang="zh-CN" altLang="zh-CN" sz="2400"/>
          </a:p>
        </p:txBody>
      </p:sp>
      <p:sp>
        <p:nvSpPr>
          <p:cNvPr id="113671" name="Rectangle 7"/>
          <p:cNvSpPr>
            <a:spLocks noChangeArrowheads="1"/>
          </p:cNvSpPr>
          <p:nvPr/>
        </p:nvSpPr>
        <p:spPr bwMode="gray">
          <a:xfrm>
            <a:off x="762000" y="990600"/>
            <a:ext cx="31750" cy="1052513"/>
          </a:xfrm>
          <a:prstGeom prst="rect">
            <a:avLst/>
          </a:prstGeom>
          <a:solidFill>
            <a:schemeClr val="bg2"/>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endParaRPr lang="zh-CN" altLang="zh-CN" sz="2400"/>
          </a:p>
        </p:txBody>
      </p:sp>
      <p:sp>
        <p:nvSpPr>
          <p:cNvPr id="113672" name="Rectangle 8"/>
          <p:cNvSpPr>
            <a:spLocks noChangeArrowheads="1"/>
          </p:cNvSpPr>
          <p:nvPr/>
        </p:nvSpPr>
        <p:spPr bwMode="gray">
          <a:xfrm>
            <a:off x="442913" y="1781175"/>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endParaRPr lang="zh-CN" altLang="zh-CN" sz="2400"/>
          </a:p>
        </p:txBody>
      </p:sp>
      <p:sp>
        <p:nvSpPr>
          <p:cNvPr id="113673" name="Rectangle 9"/>
          <p:cNvSpPr>
            <a:spLocks noGrp="1" noChangeArrowheads="1"/>
          </p:cNvSpPr>
          <p:nvPr>
            <p:ph type="title"/>
          </p:nvPr>
        </p:nvSpPr>
        <p:spPr bwMode="auto">
          <a:xfrm>
            <a:off x="1150938" y="617538"/>
            <a:ext cx="7793037" cy="1143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p>
            <a:pPr lvl="0"/>
            <a:r>
              <a:rPr lang="zh-CN" altLang="en-US" dirty="0" smtClean="0"/>
              <a:t>单击此处编辑母版标题样式</a:t>
            </a:r>
          </a:p>
        </p:txBody>
      </p:sp>
      <p:sp>
        <p:nvSpPr>
          <p:cNvPr id="113674" name="Rectangle 10"/>
          <p:cNvSpPr>
            <a:spLocks noGrp="1" noChangeArrowheads="1"/>
          </p:cNvSpPr>
          <p:nvPr>
            <p:ph type="body" idx="1"/>
          </p:nvPr>
        </p:nvSpPr>
        <p:spPr bwMode="auto">
          <a:xfrm>
            <a:off x="793750" y="2017712"/>
            <a:ext cx="8161338" cy="443562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p>
        </p:txBody>
      </p:sp>
      <p:sp>
        <p:nvSpPr>
          <p:cNvPr id="113675" name="Rectangle 11"/>
          <p:cNvSpPr>
            <a:spLocks noGrp="1" noChangeArrowheads="1"/>
          </p:cNvSpPr>
          <p:nvPr>
            <p:ph type="dt" sz="half" idx="2"/>
          </p:nvPr>
        </p:nvSpPr>
        <p:spPr bwMode="auto">
          <a:xfrm>
            <a:off x="914400" y="6324600"/>
            <a:ext cx="19050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kumimoji="0" sz="1400"/>
            </a:lvl1pPr>
          </a:lstStyle>
          <a:p>
            <a:fld id="{ECEE2B73-FBAB-42EB-BC08-7C400623014C}" type="datetime1">
              <a:rPr lang="zh-CN" altLang="en-US" smtClean="0"/>
              <a:pPr/>
              <a:t>2021/12/7</a:t>
            </a:fld>
            <a:endParaRPr lang="zh-CN" altLang="en-US"/>
          </a:p>
        </p:txBody>
      </p:sp>
      <p:sp>
        <p:nvSpPr>
          <p:cNvPr id="113676" name="Rectangle 12"/>
          <p:cNvSpPr>
            <a:spLocks noGrp="1" noChangeArrowheads="1"/>
          </p:cNvSpPr>
          <p:nvPr>
            <p:ph type="ftr" sz="quarter" idx="3"/>
          </p:nvPr>
        </p:nvSpPr>
        <p:spPr bwMode="auto">
          <a:xfrm>
            <a:off x="3352800" y="6324600"/>
            <a:ext cx="28956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ctr">
              <a:defRPr kumimoji="0" sz="1400"/>
            </a:lvl1pPr>
          </a:lstStyle>
          <a:p>
            <a:endParaRPr lang="zh-CN" altLang="en-US"/>
          </a:p>
        </p:txBody>
      </p:sp>
      <p:sp>
        <p:nvSpPr>
          <p:cNvPr id="113677" name="Rectangle 13"/>
          <p:cNvSpPr>
            <a:spLocks noGrp="1" noChangeArrowheads="1"/>
          </p:cNvSpPr>
          <p:nvPr>
            <p:ph type="sldNum" sz="quarter" idx="4"/>
          </p:nvPr>
        </p:nvSpPr>
        <p:spPr bwMode="auto">
          <a:xfrm>
            <a:off x="6781800" y="6324600"/>
            <a:ext cx="19050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a:defRPr kumimoji="0" sz="1400"/>
            </a:lvl1pPr>
          </a:lstStyle>
          <a:p>
            <a:fld id="{0C913308-F349-4B6D-A68A-DD1791B4A57B}"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rtl="0" eaLnBrk="1" fontAlgn="base" hangingPunct="1">
        <a:spcBef>
          <a:spcPct val="0"/>
        </a:spcBef>
        <a:spcAft>
          <a:spcPct val="0"/>
        </a:spcAft>
        <a:defRPr kumimoji="1" sz="3200" b="1">
          <a:solidFill>
            <a:schemeClr val="tx2"/>
          </a:solidFill>
          <a:latin typeface="+mj-lt"/>
          <a:ea typeface="+mj-ea"/>
          <a:cs typeface="+mj-cs"/>
        </a:defRPr>
      </a:lvl1pPr>
      <a:lvl2pPr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2pPr>
      <a:lvl3pPr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3pPr>
      <a:lvl4pPr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4pPr>
      <a:lvl5pPr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5pPr>
      <a:lvl6pPr marL="457200"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p:titleStyle>
    <p:bodyStyle>
      <a:lvl1pPr marL="342900" indent="-342900" algn="l" rtl="0" eaLnBrk="1" fontAlgn="base" hangingPunct="1">
        <a:lnSpc>
          <a:spcPts val="3120"/>
        </a:lnSpc>
        <a:spcBef>
          <a:spcPct val="20000"/>
        </a:spcBef>
        <a:spcAft>
          <a:spcPct val="0"/>
        </a:spcAft>
        <a:buClr>
          <a:schemeClr val="folHlink"/>
        </a:buClr>
        <a:buSzPct val="60000"/>
        <a:buFont typeface="Wingdings" panose="05000000000000000000" pitchFamily="2" charset="2"/>
        <a:buChar char="n"/>
        <a:defRPr kumimoji="1" sz="2600" b="1">
          <a:solidFill>
            <a:schemeClr val="tx1"/>
          </a:solidFill>
          <a:latin typeface="+mn-lt"/>
          <a:ea typeface="+mn-ea"/>
          <a:cs typeface="+mn-cs"/>
        </a:defRPr>
      </a:lvl1pPr>
      <a:lvl2pPr marL="742950" indent="-285750" algn="l" rtl="0" eaLnBrk="1" fontAlgn="base" hangingPunct="1">
        <a:lnSpc>
          <a:spcPts val="3120"/>
        </a:lnSpc>
        <a:spcBef>
          <a:spcPct val="20000"/>
        </a:spcBef>
        <a:spcAft>
          <a:spcPct val="0"/>
        </a:spcAft>
        <a:buClr>
          <a:schemeClr val="hlink"/>
        </a:buClr>
        <a:buSzPct val="55000"/>
        <a:buFont typeface="Wingdings" panose="05000000000000000000" pitchFamily="2" charset="2"/>
        <a:buChar char="n"/>
        <a:defRPr kumimoji="1" sz="2400" b="1">
          <a:solidFill>
            <a:schemeClr val="tx1"/>
          </a:solidFill>
          <a:latin typeface="+mn-lt"/>
          <a:ea typeface="+mn-ea"/>
        </a:defRPr>
      </a:lvl2pPr>
      <a:lvl3pPr marL="1143000" indent="-228600" algn="l" rtl="0" eaLnBrk="1" fontAlgn="base" hangingPunct="1">
        <a:lnSpc>
          <a:spcPts val="3120"/>
        </a:lnSpc>
        <a:spcBef>
          <a:spcPct val="20000"/>
        </a:spcBef>
        <a:spcAft>
          <a:spcPct val="0"/>
        </a:spcAft>
        <a:buClr>
          <a:schemeClr val="folHlink"/>
        </a:buClr>
        <a:buSzPct val="50000"/>
        <a:buFont typeface="Wingdings" panose="05000000000000000000" pitchFamily="2" charset="2"/>
        <a:buChar char="n"/>
        <a:defRPr kumimoji="1" sz="2200" b="1">
          <a:solidFill>
            <a:schemeClr val="tx1"/>
          </a:solidFill>
          <a:latin typeface="+mn-lt"/>
          <a:ea typeface="+mn-ea"/>
        </a:defRPr>
      </a:lvl3pPr>
      <a:lvl4pPr marL="1600200" indent="-228600" algn="l" rtl="0" eaLnBrk="1" fontAlgn="base" hangingPunct="1">
        <a:spcBef>
          <a:spcPct val="20000"/>
        </a:spcBef>
        <a:spcAft>
          <a:spcPct val="0"/>
        </a:spcAft>
        <a:buClr>
          <a:schemeClr val="accent2"/>
        </a:buClr>
        <a:buSzPct val="55000"/>
        <a:buFont typeface="Wingdings" panose="05000000000000000000" pitchFamily="2" charset="2"/>
        <a:buChar char="n"/>
        <a:defRPr kumimoji="1" sz="2000" b="1">
          <a:solidFill>
            <a:schemeClr val="tx1"/>
          </a:solidFill>
          <a:latin typeface="+mn-lt"/>
          <a:ea typeface="+mn-ea"/>
        </a:defRPr>
      </a:lvl4pPr>
      <a:lvl5pPr marL="2057400" indent="-228600" algn="l" rtl="0" eaLnBrk="1" fontAlgn="base" hangingPunct="1">
        <a:spcBef>
          <a:spcPct val="20000"/>
        </a:spcBef>
        <a:spcAft>
          <a:spcPct val="0"/>
        </a:spcAft>
        <a:buClr>
          <a:schemeClr val="accent1"/>
        </a:buClr>
        <a:buSzPct val="50000"/>
        <a:buFont typeface="Wingdings" panose="05000000000000000000" pitchFamily="2" charset="2"/>
        <a:buChar char="n"/>
        <a:defRPr kumimoji="1" sz="2000" b="1">
          <a:solidFill>
            <a:schemeClr val="tx1"/>
          </a:solidFill>
          <a:latin typeface="+mn-lt"/>
          <a:ea typeface="+mn-ea"/>
        </a:defRPr>
      </a:lvl5pPr>
      <a:lvl6pPr marL="2514600" indent="-228600" algn="l" rtl="0" eaLnBrk="1" fontAlgn="base" hangingPunct="1">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6pPr>
      <a:lvl7pPr marL="2971800" indent="-228600" algn="l" rtl="0" eaLnBrk="1" fontAlgn="base" hangingPunct="1">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7pPr>
      <a:lvl8pPr marL="3429000" indent="-228600" algn="l" rtl="0" eaLnBrk="1" fontAlgn="base" hangingPunct="1">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8pPr>
      <a:lvl9pPr marL="3886200" indent="-228600" algn="l" rtl="0" eaLnBrk="1" fontAlgn="base" hangingPunct="1">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1.bin"/><Relationship Id="rId7" Type="http://schemas.openxmlformats.org/officeDocument/2006/relationships/oleObject" Target="../embeddings/oleObject4.bin"/><Relationship Id="rId2" Type="http://schemas.openxmlformats.org/officeDocument/2006/relationships/slideLayout" Target="../slideLayouts/slideLayout6.xml"/><Relationship Id="rId1" Type="http://schemas.openxmlformats.org/officeDocument/2006/relationships/vmlDrawing" Target="../drawings/vmlDrawing1.vml"/><Relationship Id="rId6" Type="http://schemas.openxmlformats.org/officeDocument/2006/relationships/oleObject" Target="../embeddings/oleObject3.bin"/><Relationship Id="rId5" Type="http://schemas.openxmlformats.org/officeDocument/2006/relationships/image" Target="../media/image8.png"/><Relationship Id="rId4" Type="http://schemas.openxmlformats.org/officeDocument/2006/relationships/oleObject" Target="../embeddings/oleObject2.bin"/></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oleObject" Target="../embeddings/oleObject8.bin"/><Relationship Id="rId2" Type="http://schemas.openxmlformats.org/officeDocument/2006/relationships/slideLayout" Target="../slideLayouts/slideLayout6.xml"/><Relationship Id="rId1" Type="http://schemas.openxmlformats.org/officeDocument/2006/relationships/vmlDrawing" Target="../drawings/vmlDrawing2.vml"/><Relationship Id="rId6" Type="http://schemas.openxmlformats.org/officeDocument/2006/relationships/oleObject" Target="../embeddings/oleObject7.bin"/><Relationship Id="rId5" Type="http://schemas.openxmlformats.org/officeDocument/2006/relationships/oleObject" Target="../embeddings/oleObject6.bin"/><Relationship Id="rId4" Type="http://schemas.openxmlformats.org/officeDocument/2006/relationships/oleObject" Target="../embeddings/oleObject5.bin"/></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oleObject" Target="../embeddings/oleObject12.bin"/><Relationship Id="rId2" Type="http://schemas.openxmlformats.org/officeDocument/2006/relationships/slideLayout" Target="../slideLayouts/slideLayout6.xml"/><Relationship Id="rId1" Type="http://schemas.openxmlformats.org/officeDocument/2006/relationships/vmlDrawing" Target="../drawings/vmlDrawing3.vml"/><Relationship Id="rId6" Type="http://schemas.openxmlformats.org/officeDocument/2006/relationships/oleObject" Target="../embeddings/oleObject11.bin"/><Relationship Id="rId5" Type="http://schemas.openxmlformats.org/officeDocument/2006/relationships/oleObject" Target="../embeddings/oleObject10.bin"/><Relationship Id="rId4" Type="http://schemas.openxmlformats.org/officeDocument/2006/relationships/oleObject" Target="../embeddings/oleObject9.bin"/></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oleObject" Target="../embeddings/oleObject16.bin"/><Relationship Id="rId2" Type="http://schemas.openxmlformats.org/officeDocument/2006/relationships/slideLayout" Target="../slideLayouts/slideLayout6.xml"/><Relationship Id="rId1" Type="http://schemas.openxmlformats.org/officeDocument/2006/relationships/vmlDrawing" Target="../drawings/vmlDrawing4.vml"/><Relationship Id="rId6" Type="http://schemas.openxmlformats.org/officeDocument/2006/relationships/oleObject" Target="../embeddings/oleObject15.bin"/><Relationship Id="rId5" Type="http://schemas.openxmlformats.org/officeDocument/2006/relationships/oleObject" Target="../embeddings/oleObject14.bin"/><Relationship Id="rId4" Type="http://schemas.openxmlformats.org/officeDocument/2006/relationships/oleObject" Target="../embeddings/oleObject13.bin"/></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oleObject" Target="../embeddings/oleObject20.bin"/><Relationship Id="rId2" Type="http://schemas.openxmlformats.org/officeDocument/2006/relationships/slideLayout" Target="../slideLayouts/slideLayout6.xml"/><Relationship Id="rId1" Type="http://schemas.openxmlformats.org/officeDocument/2006/relationships/vmlDrawing" Target="../drawings/vmlDrawing5.vml"/><Relationship Id="rId6" Type="http://schemas.openxmlformats.org/officeDocument/2006/relationships/oleObject" Target="../embeddings/oleObject19.bin"/><Relationship Id="rId5" Type="http://schemas.openxmlformats.org/officeDocument/2006/relationships/oleObject" Target="../embeddings/oleObject18.bin"/><Relationship Id="rId4" Type="http://schemas.openxmlformats.org/officeDocument/2006/relationships/oleObject" Target="../embeddings/oleObject17.bin"/></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oleObject" Target="../embeddings/oleObject24.bin"/><Relationship Id="rId2" Type="http://schemas.openxmlformats.org/officeDocument/2006/relationships/slideLayout" Target="../slideLayouts/slideLayout6.xml"/><Relationship Id="rId1" Type="http://schemas.openxmlformats.org/officeDocument/2006/relationships/vmlDrawing" Target="../drawings/vmlDrawing6.vml"/><Relationship Id="rId6" Type="http://schemas.openxmlformats.org/officeDocument/2006/relationships/oleObject" Target="../embeddings/oleObject23.bin"/><Relationship Id="rId5" Type="http://schemas.openxmlformats.org/officeDocument/2006/relationships/oleObject" Target="../embeddings/oleObject22.bin"/><Relationship Id="rId4" Type="http://schemas.openxmlformats.org/officeDocument/2006/relationships/oleObject" Target="../embeddings/oleObject21.bin"/></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oleObject" Target="../embeddings/oleObject28.bin"/><Relationship Id="rId2" Type="http://schemas.openxmlformats.org/officeDocument/2006/relationships/slideLayout" Target="../slideLayouts/slideLayout6.xml"/><Relationship Id="rId1" Type="http://schemas.openxmlformats.org/officeDocument/2006/relationships/vmlDrawing" Target="../drawings/vmlDrawing7.vml"/><Relationship Id="rId6" Type="http://schemas.openxmlformats.org/officeDocument/2006/relationships/oleObject" Target="../embeddings/oleObject27.bin"/><Relationship Id="rId5" Type="http://schemas.openxmlformats.org/officeDocument/2006/relationships/oleObject" Target="../embeddings/oleObject26.bin"/><Relationship Id="rId4" Type="http://schemas.openxmlformats.org/officeDocument/2006/relationships/oleObject" Target="../embeddings/oleObject25.bin"/></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oleObject" Target="../embeddings/oleObject32.bin"/><Relationship Id="rId2" Type="http://schemas.openxmlformats.org/officeDocument/2006/relationships/slideLayout" Target="../slideLayouts/slideLayout6.xml"/><Relationship Id="rId1" Type="http://schemas.openxmlformats.org/officeDocument/2006/relationships/vmlDrawing" Target="../drawings/vmlDrawing8.vml"/><Relationship Id="rId6" Type="http://schemas.openxmlformats.org/officeDocument/2006/relationships/oleObject" Target="../embeddings/oleObject31.bin"/><Relationship Id="rId5" Type="http://schemas.openxmlformats.org/officeDocument/2006/relationships/oleObject" Target="../embeddings/oleObject30.bin"/><Relationship Id="rId4" Type="http://schemas.openxmlformats.org/officeDocument/2006/relationships/oleObject" Target="../embeddings/oleObject29.bin"/></Relationships>
</file>

<file path=ppt/slides/_rels/slide15.xml.rels><?xml version="1.0" encoding="UTF-8" standalone="yes"?>
<Relationships xmlns="http://schemas.openxmlformats.org/package/2006/relationships"><Relationship Id="rId8" Type="http://schemas.openxmlformats.org/officeDocument/2006/relationships/oleObject" Target="../embeddings/oleObject37.bin"/><Relationship Id="rId3" Type="http://schemas.openxmlformats.org/officeDocument/2006/relationships/image" Target="../media/image8.png"/><Relationship Id="rId7" Type="http://schemas.openxmlformats.org/officeDocument/2006/relationships/oleObject" Target="../embeddings/oleObject36.bin"/><Relationship Id="rId2" Type="http://schemas.openxmlformats.org/officeDocument/2006/relationships/slideLayout" Target="../slideLayouts/slideLayout6.xml"/><Relationship Id="rId1" Type="http://schemas.openxmlformats.org/officeDocument/2006/relationships/vmlDrawing" Target="../drawings/vmlDrawing9.vml"/><Relationship Id="rId6" Type="http://schemas.openxmlformats.org/officeDocument/2006/relationships/oleObject" Target="../embeddings/oleObject35.bin"/><Relationship Id="rId5" Type="http://schemas.openxmlformats.org/officeDocument/2006/relationships/oleObject" Target="../embeddings/oleObject34.bin"/><Relationship Id="rId4" Type="http://schemas.openxmlformats.org/officeDocument/2006/relationships/oleObject" Target="../embeddings/oleObject33.bin"/><Relationship Id="rId9" Type="http://schemas.openxmlformats.org/officeDocument/2006/relationships/oleObject" Target="../embeddings/oleObject38.bin"/></Relationships>
</file>

<file path=ppt/slides/_rels/slide16.xml.rels><?xml version="1.0" encoding="UTF-8" standalone="yes"?>
<Relationships xmlns="http://schemas.openxmlformats.org/package/2006/relationships"><Relationship Id="rId8" Type="http://schemas.openxmlformats.org/officeDocument/2006/relationships/oleObject" Target="../embeddings/oleObject43.bin"/><Relationship Id="rId3" Type="http://schemas.openxmlformats.org/officeDocument/2006/relationships/image" Target="../media/image11.png"/><Relationship Id="rId7" Type="http://schemas.openxmlformats.org/officeDocument/2006/relationships/oleObject" Target="../embeddings/oleObject42.bin"/><Relationship Id="rId2" Type="http://schemas.openxmlformats.org/officeDocument/2006/relationships/slideLayout" Target="../slideLayouts/slideLayout2.xml"/><Relationship Id="rId1" Type="http://schemas.openxmlformats.org/officeDocument/2006/relationships/vmlDrawing" Target="../drawings/vmlDrawing10.vml"/><Relationship Id="rId6" Type="http://schemas.openxmlformats.org/officeDocument/2006/relationships/oleObject" Target="../embeddings/oleObject41.bin"/><Relationship Id="rId5" Type="http://schemas.openxmlformats.org/officeDocument/2006/relationships/oleObject" Target="../embeddings/oleObject40.bin"/><Relationship Id="rId10" Type="http://schemas.openxmlformats.org/officeDocument/2006/relationships/oleObject" Target="../embeddings/oleObject45.bin"/><Relationship Id="rId4" Type="http://schemas.openxmlformats.org/officeDocument/2006/relationships/oleObject" Target="../embeddings/oleObject39.bin"/><Relationship Id="rId9" Type="http://schemas.openxmlformats.org/officeDocument/2006/relationships/oleObject" Target="../embeddings/oleObject44.bin"/></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oleObject" Target="../embeddings/oleObject47.bin"/><Relationship Id="rId2" Type="http://schemas.openxmlformats.org/officeDocument/2006/relationships/slideLayout" Target="../slideLayouts/slideLayout6.xml"/><Relationship Id="rId1" Type="http://schemas.openxmlformats.org/officeDocument/2006/relationships/vmlDrawing" Target="../drawings/vmlDrawing11.vml"/><Relationship Id="rId6" Type="http://schemas.openxmlformats.org/officeDocument/2006/relationships/image" Target="../media/image15.png"/><Relationship Id="rId5" Type="http://schemas.openxmlformats.org/officeDocument/2006/relationships/oleObject" Target="../embeddings/oleObject46.bin"/><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48.bin"/><Relationship Id="rId7" Type="http://schemas.openxmlformats.org/officeDocument/2006/relationships/oleObject" Target="../embeddings/oleObject50.bin"/><Relationship Id="rId2" Type="http://schemas.openxmlformats.org/officeDocument/2006/relationships/slideLayout" Target="../slideLayouts/slideLayout2.xml"/><Relationship Id="rId1" Type="http://schemas.openxmlformats.org/officeDocument/2006/relationships/vmlDrawing" Target="../drawings/vmlDrawing12.vml"/><Relationship Id="rId6" Type="http://schemas.openxmlformats.org/officeDocument/2006/relationships/oleObject" Target="../embeddings/oleObject49.bin"/><Relationship Id="rId5" Type="http://schemas.openxmlformats.org/officeDocument/2006/relationships/image" Target="../media/image18.jpeg"/><Relationship Id="rId4" Type="http://schemas.openxmlformats.org/officeDocument/2006/relationships/image" Target="../media/image17.jpeg"/></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20.xml.rels><?xml version="1.0" encoding="UTF-8" standalone="yes"?>
<Relationships xmlns="http://schemas.openxmlformats.org/package/2006/relationships"><Relationship Id="rId8" Type="http://schemas.openxmlformats.org/officeDocument/2006/relationships/oleObject" Target="../embeddings/oleObject55.bin"/><Relationship Id="rId3" Type="http://schemas.openxmlformats.org/officeDocument/2006/relationships/image" Target="../media/image13.png"/><Relationship Id="rId7" Type="http://schemas.openxmlformats.org/officeDocument/2006/relationships/oleObject" Target="../embeddings/oleObject54.bin"/><Relationship Id="rId2" Type="http://schemas.openxmlformats.org/officeDocument/2006/relationships/slideLayout" Target="../slideLayouts/slideLayout6.xml"/><Relationship Id="rId1" Type="http://schemas.openxmlformats.org/officeDocument/2006/relationships/vmlDrawing" Target="../drawings/vmlDrawing13.vml"/><Relationship Id="rId6" Type="http://schemas.openxmlformats.org/officeDocument/2006/relationships/oleObject" Target="../embeddings/oleObject53.bin"/><Relationship Id="rId5" Type="http://schemas.openxmlformats.org/officeDocument/2006/relationships/oleObject" Target="../embeddings/oleObject52.bin"/><Relationship Id="rId4" Type="http://schemas.openxmlformats.org/officeDocument/2006/relationships/oleObject" Target="../embeddings/oleObject51.bin"/><Relationship Id="rId9" Type="http://schemas.openxmlformats.org/officeDocument/2006/relationships/image" Target="../media/image26.png"/></Relationships>
</file>

<file path=ppt/slides/_rels/slide2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2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slideLayout" Target="../slideLayouts/slideLayout2.xml"/><Relationship Id="rId1" Type="http://schemas.openxmlformats.org/officeDocument/2006/relationships/vmlDrawing" Target="../drawings/vmlDrawing14.vml"/><Relationship Id="rId5" Type="http://schemas.openxmlformats.org/officeDocument/2006/relationships/oleObject" Target="../embeddings/oleObject57.bin"/><Relationship Id="rId4" Type="http://schemas.openxmlformats.org/officeDocument/2006/relationships/oleObject" Target="../embeddings/oleObject56.bin"/></Relationships>
</file>

<file path=ppt/slides/_rels/slide2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slideLayout" Target="../slideLayouts/slideLayout2.xml"/><Relationship Id="rId1" Type="http://schemas.openxmlformats.org/officeDocument/2006/relationships/vmlDrawing" Target="../drawings/vmlDrawing15.vml"/><Relationship Id="rId5" Type="http://schemas.openxmlformats.org/officeDocument/2006/relationships/oleObject" Target="../embeddings/oleObject59.bin"/><Relationship Id="rId4" Type="http://schemas.openxmlformats.org/officeDocument/2006/relationships/oleObject" Target="../embeddings/oleObject58.bin"/></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60.bin"/><Relationship Id="rId2" Type="http://schemas.openxmlformats.org/officeDocument/2006/relationships/slideLayout" Target="../slideLayouts/slideLayout2.xml"/><Relationship Id="rId1" Type="http://schemas.openxmlformats.org/officeDocument/2006/relationships/vmlDrawing" Target="../drawings/vmlDrawing16.vml"/><Relationship Id="rId4" Type="http://schemas.openxmlformats.org/officeDocument/2006/relationships/image" Target="../media/image37.png"/></Relationships>
</file>

<file path=ppt/slides/_rels/slide2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slideLayout" Target="../slideLayouts/slideLayout2.xml"/><Relationship Id="rId1" Type="http://schemas.openxmlformats.org/officeDocument/2006/relationships/vmlDrawing" Target="../drawings/vmlDrawing17.vml"/><Relationship Id="rId6" Type="http://schemas.openxmlformats.org/officeDocument/2006/relationships/oleObject" Target="../embeddings/oleObject62.bin"/><Relationship Id="rId5" Type="http://schemas.openxmlformats.org/officeDocument/2006/relationships/oleObject" Target="../embeddings/oleObject61.bin"/><Relationship Id="rId4" Type="http://schemas.openxmlformats.org/officeDocument/2006/relationships/image" Target="../media/image41.png"/></Relationships>
</file>

<file path=ppt/slides/_rels/slide2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slideLayout" Target="../slideLayouts/slideLayout2.xml"/><Relationship Id="rId1" Type="http://schemas.openxmlformats.org/officeDocument/2006/relationships/vmlDrawing" Target="../drawings/vmlDrawing18.vml"/><Relationship Id="rId5" Type="http://schemas.openxmlformats.org/officeDocument/2006/relationships/oleObject" Target="../embeddings/oleObject63.bin"/><Relationship Id="rId4" Type="http://schemas.openxmlformats.org/officeDocument/2006/relationships/image" Target="../media/image44.png"/></Relationships>
</file>

<file path=ppt/slides/_rels/slide29.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64.bin"/><Relationship Id="rId2" Type="http://schemas.openxmlformats.org/officeDocument/2006/relationships/slideLayout" Target="../slideLayouts/slideLayout2.xml"/><Relationship Id="rId1" Type="http://schemas.openxmlformats.org/officeDocument/2006/relationships/vmlDrawing" Target="../drawings/vmlDrawing19.vml"/></Relationships>
</file>

<file path=ppt/slides/_rels/slide31.xml.rels><?xml version="1.0" encoding="UTF-8" standalone="yes"?>
<Relationships xmlns="http://schemas.openxmlformats.org/package/2006/relationships"><Relationship Id="rId2" Type="http://schemas.openxmlformats.org/officeDocument/2006/relationships/image" Target="../media/image47.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slideLayout" Target="../slideLayouts/slideLayout2.xml"/><Relationship Id="rId1" Type="http://schemas.openxmlformats.org/officeDocument/2006/relationships/vmlDrawing" Target="../drawings/vmlDrawing20.vml"/><Relationship Id="rId4" Type="http://schemas.openxmlformats.org/officeDocument/2006/relationships/oleObject" Target="../embeddings/oleObject65.bin"/></Relationships>
</file>

<file path=ppt/slides/_rels/slide33.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51.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66.bin"/><Relationship Id="rId2" Type="http://schemas.openxmlformats.org/officeDocument/2006/relationships/slideLayout" Target="../slideLayouts/slideLayout2.xml"/><Relationship Id="rId1" Type="http://schemas.openxmlformats.org/officeDocument/2006/relationships/vmlDrawing" Target="../drawings/vmlDrawing21.vml"/><Relationship Id="rId5" Type="http://schemas.openxmlformats.org/officeDocument/2006/relationships/image" Target="../media/image54.jpeg"/><Relationship Id="rId4" Type="http://schemas.openxmlformats.org/officeDocument/2006/relationships/oleObject" Target="../embeddings/oleObject67.bin"/></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68.bin"/><Relationship Id="rId2" Type="http://schemas.openxmlformats.org/officeDocument/2006/relationships/slideLayout" Target="../slideLayouts/slideLayout2.xml"/><Relationship Id="rId1" Type="http://schemas.openxmlformats.org/officeDocument/2006/relationships/vmlDrawing" Target="../drawings/vmlDrawing22.vml"/><Relationship Id="rId5" Type="http://schemas.openxmlformats.org/officeDocument/2006/relationships/image" Target="../media/image57.png"/><Relationship Id="rId4" Type="http://schemas.openxmlformats.org/officeDocument/2006/relationships/oleObject" Target="../embeddings/oleObject69.bin"/></Relationships>
</file>

<file path=ppt/slides/_rels/slide37.xml.rels><?xml version="1.0" encoding="UTF-8" standalone="yes"?>
<Relationships xmlns="http://schemas.openxmlformats.org/package/2006/relationships"><Relationship Id="rId2" Type="http://schemas.openxmlformats.org/officeDocument/2006/relationships/image" Target="../media/image58.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70.bin"/><Relationship Id="rId2" Type="http://schemas.openxmlformats.org/officeDocument/2006/relationships/slideLayout" Target="../slideLayouts/slideLayout6.xml"/><Relationship Id="rId1" Type="http://schemas.openxmlformats.org/officeDocument/2006/relationships/vmlDrawing" Target="../drawings/vmlDrawing23.vml"/><Relationship Id="rId5" Type="http://schemas.openxmlformats.org/officeDocument/2006/relationships/image" Target="../media/image61.jpeg"/><Relationship Id="rId4" Type="http://schemas.openxmlformats.org/officeDocument/2006/relationships/oleObject" Target="../embeddings/oleObject71.bin"/></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72.bin"/><Relationship Id="rId2" Type="http://schemas.openxmlformats.org/officeDocument/2006/relationships/slideLayout" Target="../slideLayouts/slideLayout2.xml"/><Relationship Id="rId1" Type="http://schemas.openxmlformats.org/officeDocument/2006/relationships/vmlDrawing" Target="../drawings/vmlDrawing24.v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63.emf"/><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oleObject" Target="../embeddings/oleObject73.bin"/><Relationship Id="rId2" Type="http://schemas.openxmlformats.org/officeDocument/2006/relationships/slideLayout" Target="../slideLayouts/slideLayout2.xml"/><Relationship Id="rId1" Type="http://schemas.openxmlformats.org/officeDocument/2006/relationships/vmlDrawing" Target="../drawings/vmlDrawing25.vml"/><Relationship Id="rId4" Type="http://schemas.openxmlformats.org/officeDocument/2006/relationships/oleObject" Target="../embeddings/oleObject74.bin"/></Relationships>
</file>

<file path=ppt/slides/_rels/slide44.xml.rels><?xml version="1.0" encoding="UTF-8" standalone="yes"?>
<Relationships xmlns="http://schemas.openxmlformats.org/package/2006/relationships"><Relationship Id="rId3" Type="http://schemas.openxmlformats.org/officeDocument/2006/relationships/image" Target="../media/image67.jpeg"/><Relationship Id="rId2" Type="http://schemas.openxmlformats.org/officeDocument/2006/relationships/image" Target="../media/image66.jpeg"/><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3" Type="http://schemas.openxmlformats.org/officeDocument/2006/relationships/image" Target="../media/image67.jpeg"/><Relationship Id="rId2" Type="http://schemas.openxmlformats.org/officeDocument/2006/relationships/image" Target="../media/image66.jpeg"/><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3" Type="http://schemas.openxmlformats.org/officeDocument/2006/relationships/image" Target="../media/image67.jpeg"/><Relationship Id="rId2" Type="http://schemas.openxmlformats.org/officeDocument/2006/relationships/image" Target="../media/image66.jpeg"/><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3" Type="http://schemas.openxmlformats.org/officeDocument/2006/relationships/oleObject" Target="../embeddings/oleObject75.bin"/><Relationship Id="rId2" Type="http://schemas.openxmlformats.org/officeDocument/2006/relationships/slideLayout" Target="../slideLayouts/slideLayout2.xml"/><Relationship Id="rId1" Type="http://schemas.openxmlformats.org/officeDocument/2006/relationships/vmlDrawing" Target="../drawings/vmlDrawing26.vml"/><Relationship Id="rId6" Type="http://schemas.openxmlformats.org/officeDocument/2006/relationships/image" Target="../media/image37.png"/><Relationship Id="rId5" Type="http://schemas.openxmlformats.org/officeDocument/2006/relationships/oleObject" Target="../embeddings/oleObject77.bin"/><Relationship Id="rId4" Type="http://schemas.openxmlformats.org/officeDocument/2006/relationships/oleObject" Target="../embeddings/oleObject76.bin"/></Relationships>
</file>

<file path=ppt/slides/_rels/slide48.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66.jpe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74.jpeg"/><Relationship Id="rId2" Type="http://schemas.openxmlformats.org/officeDocument/2006/relationships/slideLayout" Target="../slideLayouts/slideLayout7.xml"/><Relationship Id="rId1" Type="http://schemas.openxmlformats.org/officeDocument/2006/relationships/vmlDrawing" Target="../drawings/vmlDrawing27.vml"/><Relationship Id="rId6" Type="http://schemas.openxmlformats.org/officeDocument/2006/relationships/image" Target="../media/image66.jpeg"/><Relationship Id="rId5" Type="http://schemas.openxmlformats.org/officeDocument/2006/relationships/oleObject" Target="../embeddings/oleObject79.bin"/><Relationship Id="rId4" Type="http://schemas.openxmlformats.org/officeDocument/2006/relationships/oleObject" Target="../embeddings/oleObject78.bin"/></Relationships>
</file>

<file path=ppt/slides/_rels/slide51.xml.rels><?xml version="1.0" encoding="UTF-8" standalone="yes"?>
<Relationships xmlns="http://schemas.openxmlformats.org/package/2006/relationships"><Relationship Id="rId3" Type="http://schemas.openxmlformats.org/officeDocument/2006/relationships/image" Target="../media/image76.jpeg"/><Relationship Id="rId2" Type="http://schemas.openxmlformats.org/officeDocument/2006/relationships/image" Target="../media/image75.jpe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78.jpeg"/><Relationship Id="rId2" Type="http://schemas.openxmlformats.org/officeDocument/2006/relationships/slideLayout" Target="../slideLayouts/slideLayout2.xml"/><Relationship Id="rId1" Type="http://schemas.openxmlformats.org/officeDocument/2006/relationships/vmlDrawing" Target="../drawings/vmlDrawing28.vml"/><Relationship Id="rId5" Type="http://schemas.openxmlformats.org/officeDocument/2006/relationships/image" Target="../media/image57.png"/><Relationship Id="rId4" Type="http://schemas.openxmlformats.org/officeDocument/2006/relationships/oleObject" Target="../embeddings/oleObject80.bin"/></Relationships>
</file>

<file path=ppt/slides/_rels/slide53.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oleObject" Target="../embeddings/oleObject81.bin"/><Relationship Id="rId7" Type="http://schemas.openxmlformats.org/officeDocument/2006/relationships/oleObject" Target="../embeddings/oleObject84.bin"/><Relationship Id="rId2" Type="http://schemas.openxmlformats.org/officeDocument/2006/relationships/slideLayout" Target="../slideLayouts/slideLayout2.xml"/><Relationship Id="rId1" Type="http://schemas.openxmlformats.org/officeDocument/2006/relationships/vmlDrawing" Target="../drawings/vmlDrawing29.vml"/><Relationship Id="rId6" Type="http://schemas.openxmlformats.org/officeDocument/2006/relationships/oleObject" Target="../embeddings/oleObject83.bin"/><Relationship Id="rId5" Type="http://schemas.openxmlformats.org/officeDocument/2006/relationships/image" Target="../media/image82.png"/><Relationship Id="rId4" Type="http://schemas.openxmlformats.org/officeDocument/2006/relationships/oleObject" Target="../embeddings/oleObject82.bin"/></Relationships>
</file>

<file path=ppt/slides/_rels/slide57.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slideLayout" Target="../slideLayouts/slideLayout2.xml"/><Relationship Id="rId1" Type="http://schemas.openxmlformats.org/officeDocument/2006/relationships/vmlDrawing" Target="../drawings/vmlDrawing30.vml"/><Relationship Id="rId4" Type="http://schemas.openxmlformats.org/officeDocument/2006/relationships/oleObject" Target="../embeddings/oleObject85.bin"/></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75.jpeg"/><Relationship Id="rId2" Type="http://schemas.openxmlformats.org/officeDocument/2006/relationships/slideLayout" Target="../slideLayouts/slideLayout6.xml"/><Relationship Id="rId1" Type="http://schemas.openxmlformats.org/officeDocument/2006/relationships/vmlDrawing" Target="../drawings/vmlDrawing31.vml"/><Relationship Id="rId6" Type="http://schemas.openxmlformats.org/officeDocument/2006/relationships/image" Target="../media/image85.png"/><Relationship Id="rId5" Type="http://schemas.openxmlformats.org/officeDocument/2006/relationships/oleObject" Target="../embeddings/oleObject87.bin"/><Relationship Id="rId4" Type="http://schemas.openxmlformats.org/officeDocument/2006/relationships/oleObject" Target="../embeddings/oleObject86.bin"/></Relationships>
</file>

<file path=ppt/slides/_rels/slide60.xml.rels><?xml version="1.0" encoding="UTF-8" standalone="yes"?>
<Relationships xmlns="http://schemas.openxmlformats.org/package/2006/relationships"><Relationship Id="rId3" Type="http://schemas.openxmlformats.org/officeDocument/2006/relationships/image" Target="../media/image75.jpeg"/><Relationship Id="rId2" Type="http://schemas.openxmlformats.org/officeDocument/2006/relationships/slideLayout" Target="../slideLayouts/slideLayout6.xml"/><Relationship Id="rId1" Type="http://schemas.openxmlformats.org/officeDocument/2006/relationships/vmlDrawing" Target="../drawings/vmlDrawing32.vml"/><Relationship Id="rId6" Type="http://schemas.openxmlformats.org/officeDocument/2006/relationships/image" Target="../media/image85.png"/><Relationship Id="rId5" Type="http://schemas.openxmlformats.org/officeDocument/2006/relationships/oleObject" Target="../embeddings/oleObject89.bin"/><Relationship Id="rId4" Type="http://schemas.openxmlformats.org/officeDocument/2006/relationships/oleObject" Target="../embeddings/oleObject88.bin"/></Relationships>
</file>

<file path=ppt/slides/_rels/slide61.xml.rels><?xml version="1.0" encoding="UTF-8" standalone="yes"?>
<Relationships xmlns="http://schemas.openxmlformats.org/package/2006/relationships"><Relationship Id="rId3" Type="http://schemas.openxmlformats.org/officeDocument/2006/relationships/image" Target="../media/image75.jpeg"/><Relationship Id="rId2" Type="http://schemas.openxmlformats.org/officeDocument/2006/relationships/slideLayout" Target="../slideLayouts/slideLayout6.xml"/><Relationship Id="rId1" Type="http://schemas.openxmlformats.org/officeDocument/2006/relationships/vmlDrawing" Target="../drawings/vmlDrawing33.vml"/><Relationship Id="rId6" Type="http://schemas.openxmlformats.org/officeDocument/2006/relationships/image" Target="../media/image85.png"/><Relationship Id="rId5" Type="http://schemas.openxmlformats.org/officeDocument/2006/relationships/oleObject" Target="../embeddings/oleObject91.bin"/><Relationship Id="rId4" Type="http://schemas.openxmlformats.org/officeDocument/2006/relationships/oleObject" Target="../embeddings/oleObject90.bin"/></Relationships>
</file>

<file path=ppt/slides/_rels/slide62.xml.rels><?xml version="1.0" encoding="UTF-8" standalone="yes"?>
<Relationships xmlns="http://schemas.openxmlformats.org/package/2006/relationships"><Relationship Id="rId3" Type="http://schemas.openxmlformats.org/officeDocument/2006/relationships/image" Target="../media/image87.jpeg"/><Relationship Id="rId2" Type="http://schemas.openxmlformats.org/officeDocument/2006/relationships/image" Target="../media/image86.png"/><Relationship Id="rId1" Type="http://schemas.openxmlformats.org/officeDocument/2006/relationships/slideLayout" Target="../slideLayouts/slideLayout2.xml"/><Relationship Id="rId6" Type="http://schemas.openxmlformats.org/officeDocument/2006/relationships/image" Target="../media/image90.png"/><Relationship Id="rId5" Type="http://schemas.openxmlformats.org/officeDocument/2006/relationships/image" Target="../media/image89.png"/><Relationship Id="rId4" Type="http://schemas.openxmlformats.org/officeDocument/2006/relationships/image" Target="../media/image88.png"/></Relationships>
</file>

<file path=ppt/slides/_rels/slide63.xml.rels><?xml version="1.0" encoding="UTF-8" standalone="yes"?>
<Relationships xmlns="http://schemas.openxmlformats.org/package/2006/relationships"><Relationship Id="rId3" Type="http://schemas.openxmlformats.org/officeDocument/2006/relationships/image" Target="../media/image92.emf"/><Relationship Id="rId2" Type="http://schemas.openxmlformats.org/officeDocument/2006/relationships/image" Target="../media/image91.emf"/><Relationship Id="rId1" Type="http://schemas.openxmlformats.org/officeDocument/2006/relationships/slideLayout" Target="../slideLayouts/slideLayout2.xml"/><Relationship Id="rId5" Type="http://schemas.openxmlformats.org/officeDocument/2006/relationships/image" Target="../media/image94.png"/><Relationship Id="rId4" Type="http://schemas.openxmlformats.org/officeDocument/2006/relationships/image" Target="../media/image93.emf"/></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98.jpeg"/><Relationship Id="rId2" Type="http://schemas.openxmlformats.org/officeDocument/2006/relationships/slideLayout" Target="../slideLayouts/slideLayout2.xml"/><Relationship Id="rId1" Type="http://schemas.openxmlformats.org/officeDocument/2006/relationships/vmlDrawing" Target="../drawings/vmlDrawing34.vml"/><Relationship Id="rId6" Type="http://schemas.openxmlformats.org/officeDocument/2006/relationships/image" Target="../media/image99.png"/><Relationship Id="rId5" Type="http://schemas.openxmlformats.org/officeDocument/2006/relationships/oleObject" Target="../embeddings/oleObject93.bin"/><Relationship Id="rId4" Type="http://schemas.openxmlformats.org/officeDocument/2006/relationships/oleObject" Target="../embeddings/oleObject92.bin"/></Relationships>
</file>

<file path=ppt/slides/_rels/slide68.xml.rels><?xml version="1.0" encoding="UTF-8" standalone="yes"?>
<Relationships xmlns="http://schemas.openxmlformats.org/package/2006/relationships"><Relationship Id="rId3" Type="http://schemas.openxmlformats.org/officeDocument/2006/relationships/oleObject" Target="../embeddings/oleObject94.bin"/><Relationship Id="rId2" Type="http://schemas.openxmlformats.org/officeDocument/2006/relationships/slideLayout" Target="../slideLayouts/slideLayout2.xml"/><Relationship Id="rId1" Type="http://schemas.openxmlformats.org/officeDocument/2006/relationships/vmlDrawing" Target="../drawings/vmlDrawing35.vml"/><Relationship Id="rId5" Type="http://schemas.openxmlformats.org/officeDocument/2006/relationships/image" Target="../media/image102.png"/><Relationship Id="rId4" Type="http://schemas.openxmlformats.org/officeDocument/2006/relationships/oleObject" Target="../embeddings/oleObject95.bin"/></Relationships>
</file>

<file path=ppt/slides/_rels/slide69.xml.rels><?xml version="1.0" encoding="UTF-8" standalone="yes"?>
<Relationships xmlns="http://schemas.openxmlformats.org/package/2006/relationships"><Relationship Id="rId3" Type="http://schemas.openxmlformats.org/officeDocument/2006/relationships/oleObject" Target="../embeddings/oleObject96.bin"/><Relationship Id="rId2" Type="http://schemas.openxmlformats.org/officeDocument/2006/relationships/slideLayout" Target="../slideLayouts/slideLayout6.xml"/><Relationship Id="rId1" Type="http://schemas.openxmlformats.org/officeDocument/2006/relationships/vmlDrawing" Target="../drawings/vmlDrawing36.vml"/><Relationship Id="rId5" Type="http://schemas.openxmlformats.org/officeDocument/2006/relationships/image" Target="../media/image105.jpeg"/><Relationship Id="rId4" Type="http://schemas.openxmlformats.org/officeDocument/2006/relationships/oleObject" Target="../embeddings/oleObject97.bin"/></Relationships>
</file>

<file path=ppt/slides/_rels/slide70.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image" Target="../media/image106.jpe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oleObject" Target="../embeddings/oleObject98.bin"/><Relationship Id="rId2" Type="http://schemas.openxmlformats.org/officeDocument/2006/relationships/slideLayout" Target="../slideLayouts/slideLayout6.xml"/><Relationship Id="rId1" Type="http://schemas.openxmlformats.org/officeDocument/2006/relationships/vmlDrawing" Target="../drawings/vmlDrawing37.vml"/><Relationship Id="rId4" Type="http://schemas.openxmlformats.org/officeDocument/2006/relationships/image" Target="../media/image106.jpeg"/></Relationships>
</file>

<file path=ppt/slides/_rels/slide72.xml.rels><?xml version="1.0" encoding="UTF-8" standalone="yes"?>
<Relationships xmlns="http://schemas.openxmlformats.org/package/2006/relationships"><Relationship Id="rId3" Type="http://schemas.openxmlformats.org/officeDocument/2006/relationships/oleObject" Target="../embeddings/oleObject99.bin"/><Relationship Id="rId2" Type="http://schemas.openxmlformats.org/officeDocument/2006/relationships/slideLayout" Target="../slideLayouts/slideLayout6.xml"/><Relationship Id="rId1" Type="http://schemas.openxmlformats.org/officeDocument/2006/relationships/vmlDrawing" Target="../drawings/vmlDrawing38.vml"/><Relationship Id="rId5" Type="http://schemas.openxmlformats.org/officeDocument/2006/relationships/image" Target="../media/image109.jpeg"/><Relationship Id="rId4" Type="http://schemas.openxmlformats.org/officeDocument/2006/relationships/oleObject" Target="../embeddings/oleObject100.bin"/></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image" Target="../media/image110.png"/><Relationship Id="rId1" Type="http://schemas.openxmlformats.org/officeDocument/2006/relationships/slideLayout" Target="../slideLayouts/slideLayout2.xml"/><Relationship Id="rId4" Type="http://schemas.openxmlformats.org/officeDocument/2006/relationships/image" Target="../media/image112.png"/></Relationships>
</file>

<file path=ppt/slides/_rels/slide77.xml.rels><?xml version="1.0" encoding="UTF-8" standalone="yes"?>
<Relationships xmlns="http://schemas.openxmlformats.org/package/2006/relationships"><Relationship Id="rId2" Type="http://schemas.openxmlformats.org/officeDocument/2006/relationships/image" Target="../media/image113.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image" Target="../media/image114.jpe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0C913308-F349-4B6D-A68A-DD1791B4A57B}" type="slidenum">
              <a:rPr lang="zh-CN" altLang="en-US" smtClean="0"/>
              <a:pPr/>
              <a:t>1</a:t>
            </a:fld>
            <a:endParaRPr lang="zh-CN" altLang="en-US" dirty="0"/>
          </a:p>
        </p:txBody>
      </p:sp>
      <p:sp>
        <p:nvSpPr>
          <p:cNvPr id="6" name="标题 1"/>
          <p:cNvSpPr txBox="1">
            <a:spLocks/>
          </p:cNvSpPr>
          <p:nvPr/>
        </p:nvSpPr>
        <p:spPr bwMode="auto">
          <a:xfrm>
            <a:off x="1371600" y="908720"/>
            <a:ext cx="7016824" cy="63894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3600" b="1" i="0" u="none" strike="noStrike" kern="0" cap="none" spc="0" normalizeH="0" baseline="0" noProof="0" dirty="0" smtClean="0">
                <a:ln>
                  <a:noFill/>
                </a:ln>
                <a:solidFill>
                  <a:schemeClr val="tx2"/>
                </a:solidFill>
                <a:effectLst/>
                <a:uLnTx/>
                <a:uFillTx/>
                <a:latin typeface="+mj-lt"/>
                <a:ea typeface="+mj-ea"/>
                <a:cs typeface="+mj-cs"/>
              </a:rPr>
              <a:t>第</a:t>
            </a:r>
            <a:r>
              <a:rPr kumimoji="1" lang="en-US" altLang="zh-CN" sz="3600" b="1" i="0" u="none" strike="noStrike" kern="0" cap="none" spc="0" normalizeH="0" baseline="0" noProof="0" dirty="0" smtClean="0">
                <a:ln>
                  <a:noFill/>
                </a:ln>
                <a:solidFill>
                  <a:schemeClr val="tx2"/>
                </a:solidFill>
                <a:effectLst/>
                <a:uLnTx/>
                <a:uFillTx/>
                <a:latin typeface="+mj-lt"/>
                <a:ea typeface="+mj-ea"/>
                <a:cs typeface="+mj-cs"/>
              </a:rPr>
              <a:t>5</a:t>
            </a:r>
            <a:r>
              <a:rPr kumimoji="1" lang="zh-CN" altLang="en-US" sz="3600" b="1" i="0" u="none" strike="noStrike" kern="0" cap="none" spc="0" normalizeH="0" baseline="0" noProof="0" dirty="0" smtClean="0">
                <a:ln>
                  <a:noFill/>
                </a:ln>
                <a:solidFill>
                  <a:schemeClr val="tx2"/>
                </a:solidFill>
                <a:effectLst/>
                <a:uLnTx/>
                <a:uFillTx/>
                <a:latin typeface="+mj-lt"/>
                <a:ea typeface="+mj-ea"/>
                <a:cs typeface="+mj-cs"/>
              </a:rPr>
              <a:t>章　触发器</a:t>
            </a:r>
            <a:endParaRPr kumimoji="1" lang="zh-CN" altLang="en-US" sz="3600" b="1" i="0" u="none" strike="noStrike" kern="0" cap="none" spc="0" normalizeH="0" baseline="0" noProof="0" dirty="0">
              <a:ln>
                <a:noFill/>
              </a:ln>
              <a:solidFill>
                <a:schemeClr val="tx2"/>
              </a:solidFill>
              <a:effectLst/>
              <a:uLnTx/>
              <a:uFillTx/>
              <a:latin typeface="+mj-lt"/>
              <a:ea typeface="+mj-ea"/>
              <a:cs typeface="+mj-cs"/>
            </a:endParaRPr>
          </a:p>
        </p:txBody>
      </p:sp>
      <p:sp>
        <p:nvSpPr>
          <p:cNvPr id="8" name="副标题 2"/>
          <p:cNvSpPr txBox="1">
            <a:spLocks/>
          </p:cNvSpPr>
          <p:nvPr/>
        </p:nvSpPr>
        <p:spPr bwMode="auto">
          <a:xfrm>
            <a:off x="539552" y="2060848"/>
            <a:ext cx="7992888" cy="46085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noAutofit/>
          </a:bodyPr>
          <a:lstStyle/>
          <a:p>
            <a:pPr marL="342900" marR="0" lvl="0" indent="-342900" algn="l" defTabSz="914400" rtl="0" eaLnBrk="1" fontAlgn="base" latinLnBrk="0" hangingPunct="1">
              <a:lnSpc>
                <a:spcPts val="2880"/>
              </a:lnSpc>
              <a:spcBef>
                <a:spcPct val="20000"/>
              </a:spcBef>
              <a:spcAft>
                <a:spcPct val="0"/>
              </a:spcAft>
              <a:buClr>
                <a:schemeClr val="folHlink"/>
              </a:buClr>
              <a:buSzPct val="60000"/>
              <a:tabLst/>
              <a:defRPr/>
            </a:pPr>
            <a:r>
              <a:rPr kumimoji="1" lang="zh-CN" altLang="en-US" sz="2800" b="1" i="0" u="none" strike="noStrike" kern="0" cap="none" spc="0" normalizeH="0" baseline="0" noProof="0" dirty="0" smtClean="0">
                <a:ln>
                  <a:noFill/>
                </a:ln>
                <a:solidFill>
                  <a:schemeClr val="tx1"/>
                </a:solidFill>
                <a:effectLst/>
                <a:uLnTx/>
                <a:uFillTx/>
                <a:latin typeface="+mn-lt"/>
                <a:ea typeface="+mn-ea"/>
                <a:cs typeface="+mn-cs"/>
              </a:rPr>
              <a:t>教材编著： 戚金清  （大连理工大学）</a:t>
            </a:r>
          </a:p>
          <a:p>
            <a:pPr marL="342900" marR="0" lvl="0" indent="-342900" algn="l" defTabSz="914400" rtl="0" eaLnBrk="1" fontAlgn="base" latinLnBrk="0" hangingPunct="1">
              <a:lnSpc>
                <a:spcPts val="2880"/>
              </a:lnSpc>
              <a:spcBef>
                <a:spcPct val="20000"/>
              </a:spcBef>
              <a:spcAft>
                <a:spcPct val="0"/>
              </a:spcAft>
              <a:buClr>
                <a:schemeClr val="folHlink"/>
              </a:buClr>
              <a:buSzPct val="60000"/>
              <a:tabLst/>
              <a:defRPr/>
            </a:pPr>
            <a:r>
              <a:rPr kumimoji="1" lang="zh-CN" altLang="en-US" sz="2800" b="1" i="0" u="none" strike="noStrike" kern="0" cap="none" spc="0" normalizeH="0" baseline="0" noProof="0" dirty="0" smtClean="0">
                <a:ln>
                  <a:noFill/>
                </a:ln>
                <a:solidFill>
                  <a:schemeClr val="tx1"/>
                </a:solidFill>
                <a:effectLst/>
                <a:uLnTx/>
                <a:uFillTx/>
                <a:latin typeface="+mn-lt"/>
                <a:ea typeface="+mn-ea"/>
                <a:cs typeface="+mn-cs"/>
              </a:rPr>
              <a:t>   </a:t>
            </a:r>
            <a:endParaRPr kumimoji="1" lang="en-US" altLang="zh-CN" sz="2800" b="1" i="0" u="none" strike="noStrike" kern="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ts val="2880"/>
              </a:lnSpc>
              <a:spcBef>
                <a:spcPct val="20000"/>
              </a:spcBef>
              <a:spcAft>
                <a:spcPct val="0"/>
              </a:spcAft>
              <a:buClr>
                <a:schemeClr val="folHlink"/>
              </a:buClr>
              <a:buSzPct val="60000"/>
              <a:tabLst/>
              <a:defRPr/>
            </a:pPr>
            <a:r>
              <a:rPr kumimoji="1" lang="zh-CN" altLang="en-US" sz="2800" b="1" i="0" u="none" strike="noStrike" kern="0" cap="none" spc="0" normalizeH="0" baseline="0" noProof="0" dirty="0" smtClean="0">
                <a:ln>
                  <a:noFill/>
                </a:ln>
                <a:solidFill>
                  <a:schemeClr val="tx1"/>
                </a:solidFill>
                <a:effectLst/>
                <a:uLnTx/>
                <a:uFillTx/>
                <a:latin typeface="+mn-lt"/>
                <a:ea typeface="+mn-ea"/>
                <a:cs typeface="+mn-cs"/>
              </a:rPr>
              <a:t>原始课件制作：王瑞娟  （郑州大学） </a:t>
            </a:r>
          </a:p>
          <a:p>
            <a:pPr marL="342900" marR="0" lvl="0" indent="-342900" algn="l" defTabSz="914400" rtl="0" eaLnBrk="1" fontAlgn="base" latinLnBrk="0" hangingPunct="1">
              <a:lnSpc>
                <a:spcPts val="2880"/>
              </a:lnSpc>
              <a:spcBef>
                <a:spcPct val="20000"/>
              </a:spcBef>
              <a:spcAft>
                <a:spcPct val="0"/>
              </a:spcAft>
              <a:buClr>
                <a:schemeClr val="folHlink"/>
              </a:buClr>
              <a:buSzPct val="60000"/>
              <a:tabLst/>
              <a:defRPr/>
            </a:pPr>
            <a:r>
              <a:rPr kumimoji="1" lang="zh-CN" altLang="en-US" sz="2800" b="1" i="0" u="none" strike="noStrike" kern="0" cap="none" spc="0" normalizeH="0" baseline="0" noProof="0" dirty="0" smtClean="0">
                <a:ln>
                  <a:noFill/>
                </a:ln>
                <a:solidFill>
                  <a:schemeClr val="tx1"/>
                </a:solidFill>
                <a:effectLst/>
                <a:uLnTx/>
                <a:uFillTx/>
                <a:latin typeface="+mn-lt"/>
                <a:ea typeface="+mn-ea"/>
                <a:cs typeface="+mn-cs"/>
              </a:rPr>
              <a:t>课件编辑修改：杨晓东  （郑州大学）</a:t>
            </a:r>
          </a:p>
          <a:p>
            <a:pPr marL="342900" marR="0" lvl="0" indent="-342900" algn="l" defTabSz="914400" rtl="0" eaLnBrk="1" fontAlgn="base" latinLnBrk="0" hangingPunct="1">
              <a:lnSpc>
                <a:spcPts val="2880"/>
              </a:lnSpc>
              <a:spcBef>
                <a:spcPct val="20000"/>
              </a:spcBef>
              <a:spcAft>
                <a:spcPct val="0"/>
              </a:spcAft>
              <a:buClr>
                <a:schemeClr val="folHlink"/>
              </a:buClr>
              <a:buSzPct val="60000"/>
              <a:tabLst/>
              <a:defRPr/>
            </a:pPr>
            <a:endParaRPr kumimoji="1" lang="en-US" altLang="zh-CN" sz="2800" b="1" i="0" u="none" strike="noStrike" kern="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ts val="2880"/>
              </a:lnSpc>
              <a:spcBef>
                <a:spcPct val="20000"/>
              </a:spcBef>
              <a:spcAft>
                <a:spcPct val="0"/>
              </a:spcAft>
              <a:buClr>
                <a:schemeClr val="folHlink"/>
              </a:buClr>
              <a:buSzPct val="60000"/>
              <a:tabLst/>
              <a:defRPr/>
            </a:pPr>
            <a:r>
              <a:rPr kumimoji="1" lang="zh-CN" altLang="en-US" sz="2800" b="1" i="0" u="none" strike="noStrike" kern="0" cap="none" spc="0" normalizeH="0" baseline="0" noProof="0" dirty="0" smtClean="0">
                <a:ln>
                  <a:noFill/>
                </a:ln>
                <a:solidFill>
                  <a:schemeClr val="tx1"/>
                </a:solidFill>
                <a:effectLst/>
                <a:uLnTx/>
                <a:uFillTx/>
                <a:latin typeface="+mn-lt"/>
                <a:ea typeface="+mn-ea"/>
                <a:cs typeface="+mn-cs"/>
              </a:rPr>
              <a:t>授课教师：杨晓东</a:t>
            </a:r>
            <a:endParaRPr kumimoji="1" lang="en-US" altLang="zh-CN" sz="2800" b="1" i="0" u="none" strike="noStrike" kern="0" cap="none" spc="0" normalizeH="0" baseline="0" noProof="0" dirty="0">
              <a:ln>
                <a:noFill/>
              </a:ln>
              <a:solidFill>
                <a:schemeClr val="tx1"/>
              </a:solidFill>
              <a:effectLst/>
              <a:uLnTx/>
              <a:uFillTx/>
              <a:latin typeface="+mn-lt"/>
              <a:ea typeface="+mn-ea"/>
              <a:cs typeface="+mn-cs"/>
            </a:endParaRPr>
          </a:p>
        </p:txBody>
      </p:sp>
    </p:spTree>
    <p:extLst>
      <p:ext uri="{BB962C8B-B14F-4D97-AF65-F5344CB8AC3E}">
        <p14:creationId xmlns="" xmlns:p14="http://schemas.microsoft.com/office/powerpoint/2010/main" val="337875439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187624" y="1124744"/>
            <a:ext cx="7956376" cy="566936"/>
          </a:xfrm>
        </p:spPr>
        <p:txBody>
          <a:bodyPr/>
          <a:lstStyle/>
          <a:p>
            <a:r>
              <a:rPr lang="zh-CN" altLang="en-US" dirty="0" smtClean="0"/>
              <a:t>教学内容</a:t>
            </a:r>
            <a:endParaRPr lang="zh-CN" altLang="en-US" dirty="0"/>
          </a:p>
        </p:txBody>
      </p:sp>
      <p:sp>
        <p:nvSpPr>
          <p:cNvPr id="3" name="内容占位符 2"/>
          <p:cNvSpPr>
            <a:spLocks noGrp="1"/>
          </p:cNvSpPr>
          <p:nvPr>
            <p:ph idx="1"/>
          </p:nvPr>
        </p:nvSpPr>
        <p:spPr>
          <a:xfrm>
            <a:off x="395536" y="1988840"/>
            <a:ext cx="8352928" cy="4608512"/>
          </a:xfrm>
        </p:spPr>
        <p:txBody>
          <a:bodyPr/>
          <a:lstStyle/>
          <a:p>
            <a:pPr>
              <a:buSzPct val="100000"/>
              <a:buFont typeface="Wingdings" pitchFamily="2" charset="2"/>
              <a:buChar char="p"/>
            </a:pPr>
            <a:r>
              <a:rPr lang="en-US" altLang="zh-CN" sz="2800" dirty="0" smtClean="0"/>
              <a:t>5.1 </a:t>
            </a:r>
            <a:r>
              <a:rPr lang="zh-CN" altLang="en-US" sz="2800" dirty="0" smtClean="0"/>
              <a:t>电平触发的触发器</a:t>
            </a:r>
            <a:endParaRPr lang="en-US" altLang="zh-CN" sz="2800" dirty="0" smtClean="0"/>
          </a:p>
          <a:p>
            <a:pPr>
              <a:buSzPct val="100000"/>
              <a:buFont typeface="Wingdings" pitchFamily="2" charset="2"/>
              <a:buChar char="p"/>
            </a:pPr>
            <a:r>
              <a:rPr lang="en-US" altLang="zh-CN" sz="2800" dirty="0" smtClean="0"/>
              <a:t>5.2 </a:t>
            </a:r>
            <a:r>
              <a:rPr lang="zh-CN" altLang="en-US" sz="2800" dirty="0" smtClean="0"/>
              <a:t>脉冲触发的触发器</a:t>
            </a:r>
            <a:endParaRPr lang="en-US" altLang="zh-CN" sz="2800" dirty="0" smtClean="0"/>
          </a:p>
          <a:p>
            <a:pPr>
              <a:buSzPct val="100000"/>
              <a:buFont typeface="Wingdings" pitchFamily="2" charset="2"/>
              <a:buChar char="p"/>
            </a:pPr>
            <a:r>
              <a:rPr lang="en-US" altLang="zh-CN" sz="2800" dirty="0" smtClean="0"/>
              <a:t>5.3 </a:t>
            </a:r>
            <a:r>
              <a:rPr lang="zh-CN" altLang="en-US" sz="2800" dirty="0" smtClean="0"/>
              <a:t>边沿触发的触发器</a:t>
            </a:r>
            <a:endParaRPr lang="en-US" altLang="zh-CN" sz="2800" dirty="0" smtClean="0"/>
          </a:p>
          <a:p>
            <a:pPr>
              <a:buSzPct val="100000"/>
              <a:buFont typeface="Wingdings" pitchFamily="2" charset="2"/>
              <a:buChar char="p"/>
            </a:pPr>
            <a:r>
              <a:rPr lang="en-US" altLang="zh-CN" sz="2800" dirty="0" smtClean="0"/>
              <a:t>5.4 </a:t>
            </a:r>
            <a:r>
              <a:rPr lang="zh-CN" altLang="en-US" sz="2800" dirty="0" smtClean="0"/>
              <a:t>触发器的分类和区别</a:t>
            </a:r>
            <a:endParaRPr lang="en-US" altLang="zh-CN" sz="2800" dirty="0" smtClean="0"/>
          </a:p>
          <a:p>
            <a:pPr>
              <a:buSzPct val="100000"/>
              <a:buFont typeface="Wingdings" pitchFamily="2" charset="2"/>
              <a:buChar char="p"/>
            </a:pPr>
            <a:r>
              <a:rPr lang="zh-CN" altLang="en-US" sz="2800" dirty="0" smtClean="0"/>
              <a:t>*</a:t>
            </a:r>
            <a:r>
              <a:rPr lang="en-US" altLang="zh-CN" sz="2800" dirty="0" smtClean="0"/>
              <a:t>5.5 </a:t>
            </a:r>
            <a:r>
              <a:rPr lang="zh-CN" altLang="en-US" sz="2800" dirty="0" smtClean="0"/>
              <a:t>触发器之间的转换（</a:t>
            </a:r>
            <a:r>
              <a:rPr lang="zh-CN" altLang="en-US" sz="2800" dirty="0" smtClean="0">
                <a:solidFill>
                  <a:srgbClr val="FF0000"/>
                </a:solidFill>
              </a:rPr>
              <a:t>不讲</a:t>
            </a:r>
            <a:r>
              <a:rPr lang="zh-CN" altLang="en-US" sz="2800" dirty="0" smtClean="0"/>
              <a:t>）</a:t>
            </a:r>
            <a:endParaRPr lang="en-US" altLang="zh-CN" sz="2800" dirty="0" smtClean="0"/>
          </a:p>
          <a:p>
            <a:pPr>
              <a:buSzPct val="100000"/>
              <a:buFont typeface="Wingdings" pitchFamily="2" charset="2"/>
              <a:buChar char="p"/>
            </a:pPr>
            <a:r>
              <a:rPr lang="en-US" altLang="zh-CN" sz="2800" dirty="0" smtClean="0"/>
              <a:t>5.6 </a:t>
            </a:r>
            <a:r>
              <a:rPr lang="zh-CN" altLang="en-US" sz="2800" dirty="0" smtClean="0"/>
              <a:t>触发器的典型应用</a:t>
            </a:r>
            <a:endParaRPr lang="zh-CN" altLang="en-US" sz="2800" dirty="0"/>
          </a:p>
          <a:p>
            <a:endParaRPr lang="zh-CN" altLang="en-US" dirty="0"/>
          </a:p>
          <a:p>
            <a:endParaRPr lang="zh-CN" altLang="en-US" dirty="0"/>
          </a:p>
          <a:p>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2</a:t>
            </a:fld>
            <a:endParaRPr lang="zh-CN" altLang="en-US"/>
          </a:p>
        </p:txBody>
      </p:sp>
      <p:sp>
        <p:nvSpPr>
          <p:cNvPr id="5" name="标题 1"/>
          <p:cNvSpPr txBox="1">
            <a:spLocks/>
          </p:cNvSpPr>
          <p:nvPr/>
        </p:nvSpPr>
        <p:spPr bwMode="auto">
          <a:xfrm>
            <a:off x="1187624" y="332656"/>
            <a:ext cx="7056784" cy="63894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3600" b="1" i="0" u="none" strike="noStrike" kern="0" cap="none" spc="0" normalizeH="0" baseline="0" noProof="0" dirty="0" smtClean="0">
                <a:ln>
                  <a:noFill/>
                </a:ln>
                <a:solidFill>
                  <a:schemeClr val="tx2"/>
                </a:solidFill>
                <a:effectLst/>
                <a:uLnTx/>
                <a:uFillTx/>
                <a:latin typeface="+mj-lt"/>
                <a:ea typeface="+mj-ea"/>
                <a:cs typeface="+mj-cs"/>
              </a:rPr>
              <a:t>第</a:t>
            </a:r>
            <a:r>
              <a:rPr kumimoji="1" lang="en-US" altLang="zh-CN" sz="3600" b="1" i="0" u="none" strike="noStrike" kern="0" cap="none" spc="0" normalizeH="0" baseline="0" noProof="0" dirty="0" smtClean="0">
                <a:ln>
                  <a:noFill/>
                </a:ln>
                <a:solidFill>
                  <a:schemeClr val="tx2"/>
                </a:solidFill>
                <a:effectLst/>
                <a:uLnTx/>
                <a:uFillTx/>
                <a:latin typeface="+mj-lt"/>
                <a:ea typeface="+mj-ea"/>
                <a:cs typeface="+mj-cs"/>
              </a:rPr>
              <a:t>5</a:t>
            </a:r>
            <a:r>
              <a:rPr kumimoji="1" lang="zh-CN" altLang="en-US" sz="3600" b="1" i="0" u="none" strike="noStrike" kern="0" cap="none" spc="0" normalizeH="0" baseline="0" noProof="0" dirty="0" smtClean="0">
                <a:ln>
                  <a:noFill/>
                </a:ln>
                <a:solidFill>
                  <a:schemeClr val="tx2"/>
                </a:solidFill>
                <a:effectLst/>
                <a:uLnTx/>
                <a:uFillTx/>
                <a:latin typeface="+mj-lt"/>
                <a:ea typeface="+mj-ea"/>
                <a:cs typeface="+mj-cs"/>
              </a:rPr>
              <a:t>章　触发器</a:t>
            </a:r>
            <a:endParaRPr kumimoji="1" lang="zh-CN" altLang="en-US" sz="3600" b="1" i="0" u="none" strike="noStrike" kern="0" cap="none" spc="0" normalizeH="0" baseline="0" noProof="0" dirty="0">
              <a:ln>
                <a:noFill/>
              </a:ln>
              <a:solidFill>
                <a:schemeClr val="tx2"/>
              </a:solidFill>
              <a:effectLst/>
              <a:uLnTx/>
              <a:uFillTx/>
              <a:latin typeface="+mj-lt"/>
              <a:ea typeface="+mj-ea"/>
              <a:cs typeface="+mj-cs"/>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755576" y="2780928"/>
            <a:ext cx="7337489" cy="1569660"/>
          </a:xfrm>
          <a:prstGeom prst="rect">
            <a:avLst/>
          </a:prstGeom>
          <a:noFill/>
          <a:ln>
            <a:solidFill>
              <a:schemeClr val="tx2"/>
            </a:solidFill>
          </a:ln>
        </p:spPr>
        <p:txBody>
          <a:bodyPr wrap="square">
            <a:spAutoFit/>
          </a:bodyPr>
          <a:lstStyle/>
          <a:p>
            <a:pPr marL="557204" lvl="1" indent="-214313">
              <a:buClr>
                <a:srgbClr val="FF0000"/>
              </a:buClr>
              <a:buFont typeface="Wingdings" panose="05000000000000000000" pitchFamily="2" charset="2"/>
              <a:buChar char="n"/>
            </a:pPr>
            <a:r>
              <a:rPr lang="zh-CN" altLang="en-US" sz="2400" b="1" dirty="0">
                <a:latin typeface="宋体" panose="02010600030101010101" pitchFamily="2" charset="-122"/>
                <a:ea typeface="宋体" panose="02010600030101010101" pitchFamily="2" charset="-122"/>
              </a:rPr>
              <a:t>能够</a:t>
            </a:r>
            <a:r>
              <a:rPr lang="zh-CN" altLang="en-US" sz="2400" b="1" dirty="0">
                <a:solidFill>
                  <a:srgbClr val="0231B6"/>
                </a:solidFill>
                <a:latin typeface="宋体" panose="02010600030101010101" pitchFamily="2" charset="-122"/>
                <a:ea typeface="宋体" panose="02010600030101010101" pitchFamily="2" charset="-122"/>
              </a:rPr>
              <a:t>存储</a:t>
            </a:r>
            <a:r>
              <a:rPr lang="en-US" altLang="zh-CN" sz="2400" b="1" dirty="0">
                <a:solidFill>
                  <a:srgbClr val="0231B6"/>
                </a:solidFill>
                <a:latin typeface="宋体" panose="02010600030101010101" pitchFamily="2" charset="-122"/>
                <a:ea typeface="宋体" panose="02010600030101010101" pitchFamily="2" charset="-122"/>
              </a:rPr>
              <a:t>1</a:t>
            </a:r>
            <a:r>
              <a:rPr lang="zh-CN" altLang="en-US" sz="2400" b="1" dirty="0">
                <a:solidFill>
                  <a:srgbClr val="0231B6"/>
                </a:solidFill>
                <a:latin typeface="宋体" panose="02010600030101010101" pitchFamily="2" charset="-122"/>
                <a:ea typeface="宋体" panose="02010600030101010101" pitchFamily="2" charset="-122"/>
              </a:rPr>
              <a:t>位二值信号（</a:t>
            </a:r>
            <a:r>
              <a:rPr lang="en-US" altLang="zh-CN" sz="2400" b="1" dirty="0">
                <a:solidFill>
                  <a:srgbClr val="0231B6"/>
                </a:solidFill>
                <a:latin typeface="宋体" panose="02010600030101010101" pitchFamily="2" charset="-122"/>
                <a:ea typeface="宋体" panose="02010600030101010101" pitchFamily="2" charset="-122"/>
              </a:rPr>
              <a:t>0</a:t>
            </a:r>
            <a:r>
              <a:rPr lang="zh-CN" altLang="en-US" sz="2400" b="1" dirty="0">
                <a:solidFill>
                  <a:srgbClr val="0231B6"/>
                </a:solidFill>
                <a:latin typeface="宋体" panose="02010600030101010101" pitchFamily="2" charset="-122"/>
                <a:ea typeface="宋体" panose="02010600030101010101" pitchFamily="2" charset="-122"/>
              </a:rPr>
              <a:t>或</a:t>
            </a:r>
            <a:r>
              <a:rPr lang="en-US" altLang="zh-CN" sz="2400" b="1" dirty="0">
                <a:solidFill>
                  <a:srgbClr val="0231B6"/>
                </a:solidFill>
                <a:latin typeface="宋体" panose="02010600030101010101" pitchFamily="2" charset="-122"/>
                <a:ea typeface="宋体" panose="02010600030101010101" pitchFamily="2" charset="-122"/>
              </a:rPr>
              <a:t>1</a:t>
            </a:r>
            <a:r>
              <a:rPr lang="zh-CN" altLang="en-US" sz="2400" b="1" dirty="0">
                <a:solidFill>
                  <a:srgbClr val="0231B6"/>
                </a:solidFill>
                <a:latin typeface="宋体" panose="02010600030101010101" pitchFamily="2" charset="-122"/>
                <a:ea typeface="宋体" panose="02010600030101010101" pitchFamily="2" charset="-122"/>
              </a:rPr>
              <a:t>）的基本单元电路</a:t>
            </a:r>
            <a:r>
              <a:rPr lang="zh-CN" altLang="en-US" sz="2400" b="1" dirty="0">
                <a:latin typeface="宋体" panose="02010600030101010101" pitchFamily="2" charset="-122"/>
                <a:ea typeface="宋体" panose="02010600030101010101" pitchFamily="2" charset="-122"/>
              </a:rPr>
              <a:t>统称为</a:t>
            </a:r>
            <a:r>
              <a:rPr lang="zh-CN" altLang="en-US" sz="2400" b="1" dirty="0">
                <a:solidFill>
                  <a:srgbClr val="0231B6"/>
                </a:solidFill>
                <a:latin typeface="宋体" panose="02010600030101010101" pitchFamily="2" charset="-122"/>
                <a:ea typeface="宋体" panose="02010600030101010101" pitchFamily="2" charset="-122"/>
              </a:rPr>
              <a:t>触发器（</a:t>
            </a:r>
            <a:r>
              <a:rPr lang="en-US" altLang="zh-CN" sz="2400" b="1" dirty="0">
                <a:solidFill>
                  <a:srgbClr val="0231B6"/>
                </a:solidFill>
                <a:latin typeface="宋体" panose="02010600030101010101" pitchFamily="2" charset="-122"/>
                <a:ea typeface="宋体" panose="02010600030101010101" pitchFamily="2" charset="-122"/>
              </a:rPr>
              <a:t>Flip-flop</a:t>
            </a:r>
            <a:r>
              <a:rPr lang="zh-CN" altLang="en-US" sz="2400" b="1" dirty="0">
                <a:solidFill>
                  <a:srgbClr val="0231B6"/>
                </a:solidFill>
                <a:latin typeface="宋体" panose="02010600030101010101" pitchFamily="2" charset="-122"/>
                <a:ea typeface="宋体" panose="02010600030101010101" pitchFamily="2" charset="-122"/>
              </a:rPr>
              <a:t>）</a:t>
            </a:r>
            <a:r>
              <a:rPr lang="zh-CN" altLang="en-US" sz="2400" b="1" dirty="0">
                <a:latin typeface="宋体" panose="02010600030101010101" pitchFamily="2" charset="-122"/>
                <a:ea typeface="宋体" panose="02010600030101010101" pitchFamily="2" charset="-122"/>
              </a:rPr>
              <a:t>。</a:t>
            </a:r>
            <a:endParaRPr lang="en-US" altLang="zh-CN" sz="2400" b="1" dirty="0">
              <a:latin typeface="宋体" panose="02010600030101010101" pitchFamily="2" charset="-122"/>
              <a:ea typeface="宋体" panose="02010600030101010101" pitchFamily="2" charset="-122"/>
            </a:endParaRPr>
          </a:p>
          <a:p>
            <a:pPr marL="557204" lvl="1" indent="-214313">
              <a:buClr>
                <a:srgbClr val="FF0000"/>
              </a:buClr>
              <a:buFont typeface="Wingdings" panose="05000000000000000000" pitchFamily="2" charset="2"/>
              <a:buChar char="n"/>
            </a:pPr>
            <a:r>
              <a:rPr lang="zh-CN" altLang="en-US" sz="2400" b="1" dirty="0">
                <a:latin typeface="宋体" panose="02010600030101010101" pitchFamily="2" charset="-122"/>
                <a:ea typeface="宋体" panose="02010600030101010101" pitchFamily="2" charset="-122"/>
              </a:rPr>
              <a:t>触发器是构成</a:t>
            </a:r>
            <a:r>
              <a:rPr lang="zh-CN" altLang="en-US" sz="2400" b="1" dirty="0">
                <a:solidFill>
                  <a:srgbClr val="C00000"/>
                </a:solidFill>
                <a:latin typeface="宋体" panose="02010600030101010101" pitchFamily="2" charset="-122"/>
                <a:ea typeface="宋体" panose="02010600030101010101" pitchFamily="2" charset="-122"/>
              </a:rPr>
              <a:t>时序逻辑电路</a:t>
            </a:r>
            <a:r>
              <a:rPr lang="zh-CN" altLang="en-US" sz="2400" b="1" dirty="0">
                <a:latin typeface="宋体" panose="02010600030101010101" pitchFamily="2" charset="-122"/>
                <a:ea typeface="宋体" panose="02010600030101010101" pitchFamily="2" charset="-122"/>
              </a:rPr>
              <a:t>的</a:t>
            </a:r>
            <a:r>
              <a:rPr lang="zh-CN" altLang="en-US" sz="2400" b="1" dirty="0">
                <a:solidFill>
                  <a:srgbClr val="C00000"/>
                </a:solidFill>
                <a:latin typeface="宋体" panose="02010600030101010101" pitchFamily="2" charset="-122"/>
                <a:ea typeface="宋体" panose="02010600030101010101" pitchFamily="2" charset="-122"/>
              </a:rPr>
              <a:t>基本电路</a:t>
            </a:r>
            <a:r>
              <a:rPr lang="zh-CN" altLang="en-US" sz="2400" b="1" dirty="0">
                <a:latin typeface="宋体" panose="02010600030101010101" pitchFamily="2" charset="-122"/>
                <a:ea typeface="宋体" panose="02010600030101010101" pitchFamily="2" charset="-122"/>
              </a:rPr>
              <a:t>，是联系组合逻辑电路和时序逻辑电路的</a:t>
            </a:r>
            <a:r>
              <a:rPr lang="zh-CN" altLang="en-US" sz="2400" b="1" dirty="0">
                <a:solidFill>
                  <a:srgbClr val="C00000"/>
                </a:solidFill>
                <a:latin typeface="宋体" panose="02010600030101010101" pitchFamily="2" charset="-122"/>
                <a:ea typeface="宋体" panose="02010600030101010101" pitchFamily="2" charset="-122"/>
              </a:rPr>
              <a:t>桥梁</a:t>
            </a:r>
            <a:r>
              <a:rPr lang="zh-CN" altLang="en-US" sz="2400" b="1" dirty="0">
                <a:latin typeface="宋体" panose="02010600030101010101" pitchFamily="2" charset="-122"/>
                <a:ea typeface="宋体" panose="02010600030101010101" pitchFamily="2" charset="-122"/>
              </a:rPr>
              <a:t>。</a:t>
            </a:r>
            <a:endParaRPr lang="en-US" altLang="zh-CN" sz="2400" b="1" dirty="0">
              <a:latin typeface="宋体" panose="02010600030101010101" pitchFamily="2" charset="-122"/>
              <a:ea typeface="宋体" panose="02010600030101010101" pitchFamily="2" charset="-122"/>
            </a:endParaRPr>
          </a:p>
        </p:txBody>
      </p:sp>
      <p:sp>
        <p:nvSpPr>
          <p:cNvPr id="4" name="矩形 3"/>
          <p:cNvSpPr/>
          <p:nvPr/>
        </p:nvSpPr>
        <p:spPr>
          <a:xfrm>
            <a:off x="611560" y="2132856"/>
            <a:ext cx="4464496" cy="523220"/>
          </a:xfrm>
          <a:prstGeom prst="rect">
            <a:avLst/>
          </a:prstGeom>
          <a:solidFill>
            <a:srgbClr val="0341E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a:spAutoFit/>
          </a:bodyPr>
          <a:lstStyle/>
          <a:p>
            <a:pPr algn="ctr"/>
            <a:r>
              <a:rPr lang="zh-CN" altLang="en-US" sz="2800" b="1" dirty="0">
                <a:solidFill>
                  <a:schemeClr val="bg1"/>
                </a:solidFill>
                <a:latin typeface="黑体" panose="02010609060101010101" pitchFamily="49" charset="-122"/>
                <a:ea typeface="黑体" panose="02010609060101010101" pitchFamily="49" charset="-122"/>
              </a:rPr>
              <a:t>触发器（</a:t>
            </a:r>
            <a:r>
              <a:rPr lang="en-US" altLang="zh-CN" sz="2800" b="1" dirty="0">
                <a:solidFill>
                  <a:schemeClr val="bg1"/>
                </a:solidFill>
                <a:latin typeface="黑体" panose="02010609060101010101" pitchFamily="49" charset="-122"/>
                <a:ea typeface="黑体" panose="02010609060101010101" pitchFamily="49" charset="-122"/>
              </a:rPr>
              <a:t>Flip-Flop</a:t>
            </a:r>
            <a:r>
              <a:rPr lang="zh-CN" altLang="en-US" sz="2800" b="1" dirty="0">
                <a:solidFill>
                  <a:schemeClr val="bg1"/>
                </a:solidFill>
                <a:latin typeface="黑体" panose="02010609060101010101" pitchFamily="49" charset="-122"/>
                <a:ea typeface="黑体" panose="02010609060101010101" pitchFamily="49" charset="-122"/>
              </a:rPr>
              <a:t>）定义</a:t>
            </a:r>
          </a:p>
        </p:txBody>
      </p:sp>
      <p:sp>
        <p:nvSpPr>
          <p:cNvPr id="6" name="标题 5"/>
          <p:cNvSpPr>
            <a:spLocks noGrp="1"/>
          </p:cNvSpPr>
          <p:nvPr>
            <p:ph type="title"/>
          </p:nvPr>
        </p:nvSpPr>
        <p:spPr/>
        <p:txBody>
          <a:bodyPr/>
          <a:lstStyle/>
          <a:p>
            <a:r>
              <a:rPr lang="zh-CN" altLang="en-US" dirty="0"/>
              <a:t>概述</a:t>
            </a:r>
          </a:p>
        </p:txBody>
      </p:sp>
      <p:sp>
        <p:nvSpPr>
          <p:cNvPr id="5" name="标题 1"/>
          <p:cNvSpPr txBox="1">
            <a:spLocks/>
          </p:cNvSpPr>
          <p:nvPr/>
        </p:nvSpPr>
        <p:spPr bwMode="auto">
          <a:xfrm>
            <a:off x="1043608" y="332656"/>
            <a:ext cx="7016824" cy="63894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3600" b="1" i="0" u="none" strike="noStrike" kern="0" cap="none" spc="0" normalizeH="0" baseline="0" noProof="0" dirty="0" smtClean="0">
                <a:ln>
                  <a:noFill/>
                </a:ln>
                <a:solidFill>
                  <a:schemeClr val="tx2"/>
                </a:solidFill>
                <a:effectLst/>
                <a:uLnTx/>
                <a:uFillTx/>
                <a:latin typeface="+mj-lt"/>
                <a:ea typeface="+mj-ea"/>
                <a:cs typeface="+mj-cs"/>
              </a:rPr>
              <a:t>第</a:t>
            </a:r>
            <a:r>
              <a:rPr kumimoji="1" lang="en-US" altLang="zh-CN" sz="3600" b="1" i="0" u="none" strike="noStrike" kern="0" cap="none" spc="0" normalizeH="0" baseline="0" noProof="0" dirty="0" smtClean="0">
                <a:ln>
                  <a:noFill/>
                </a:ln>
                <a:solidFill>
                  <a:schemeClr val="tx2"/>
                </a:solidFill>
                <a:effectLst/>
                <a:uLnTx/>
                <a:uFillTx/>
                <a:latin typeface="+mj-lt"/>
                <a:ea typeface="+mj-ea"/>
                <a:cs typeface="+mj-cs"/>
              </a:rPr>
              <a:t>5</a:t>
            </a:r>
            <a:r>
              <a:rPr kumimoji="1" lang="zh-CN" altLang="en-US" sz="3600" b="1" i="0" u="none" strike="noStrike" kern="0" cap="none" spc="0" normalizeH="0" baseline="0" noProof="0" dirty="0" smtClean="0">
                <a:ln>
                  <a:noFill/>
                </a:ln>
                <a:solidFill>
                  <a:schemeClr val="tx2"/>
                </a:solidFill>
                <a:effectLst/>
                <a:uLnTx/>
                <a:uFillTx/>
                <a:latin typeface="+mj-lt"/>
                <a:ea typeface="+mj-ea"/>
                <a:cs typeface="+mj-cs"/>
              </a:rPr>
              <a:t>章　触发器</a:t>
            </a:r>
            <a:endParaRPr kumimoji="1" lang="zh-CN" altLang="en-US" sz="3600" b="1" i="0" u="none" strike="noStrike" kern="0" cap="none" spc="0" normalizeH="0" baseline="0" noProof="0" dirty="0">
              <a:ln>
                <a:noFill/>
              </a:ln>
              <a:solidFill>
                <a:schemeClr val="tx2"/>
              </a:solidFill>
              <a:effectLst/>
              <a:uLnTx/>
              <a:uFillTx/>
              <a:latin typeface="+mj-lt"/>
              <a:ea typeface="+mj-ea"/>
              <a:cs typeface="+mj-cs"/>
            </a:endParaRPr>
          </a:p>
        </p:txBody>
      </p:sp>
      <p:sp>
        <p:nvSpPr>
          <p:cNvPr id="7" name="内容占位符 2"/>
          <p:cNvSpPr txBox="1">
            <a:spLocks/>
          </p:cNvSpPr>
          <p:nvPr/>
        </p:nvSpPr>
        <p:spPr>
          <a:xfrm>
            <a:off x="467544" y="4365104"/>
            <a:ext cx="8415536" cy="2088232"/>
          </a:xfrm>
          <a:prstGeom prst="rect">
            <a:avLst/>
          </a:prstGeom>
          <a:solidFill>
            <a:schemeClr val="bg1"/>
          </a:solidFill>
        </p:spPr>
        <p:txBody>
          <a:bodyPr/>
          <a:lstStyle/>
          <a:p>
            <a:pPr marL="342900" marR="0" lvl="0" indent="-342900" algn="l" defTabSz="914400" rtl="0" eaLnBrk="1" fontAlgn="base" latinLnBrk="0" hangingPunct="1">
              <a:lnSpc>
                <a:spcPct val="100000"/>
              </a:lnSpc>
              <a:spcBef>
                <a:spcPts val="600"/>
              </a:spcBef>
              <a:spcAft>
                <a:spcPct val="0"/>
              </a:spcAft>
              <a:buClr>
                <a:schemeClr val="folHlink"/>
              </a:buClr>
              <a:buSzPct val="100000"/>
              <a:buFont typeface="Wingdings" pitchFamily="2" charset="2"/>
              <a:buChar char="p"/>
              <a:tabLst/>
              <a:defRPr/>
            </a:pPr>
            <a:r>
              <a:rPr kumimoji="1" lang="zh-CN" altLang="en-US" sz="2800" b="1" i="0" u="none" strike="noStrike" kern="0" cap="none" spc="0" normalizeH="0" baseline="0" noProof="0" dirty="0" smtClean="0">
                <a:ln>
                  <a:noFill/>
                </a:ln>
                <a:solidFill>
                  <a:schemeClr val="tx1"/>
                </a:solidFill>
                <a:effectLst/>
                <a:uLnTx/>
                <a:uFillTx/>
                <a:latin typeface="+mn-lt"/>
                <a:ea typeface="+mn-ea"/>
                <a:cs typeface="+mn-cs"/>
              </a:rPr>
              <a:t>触发器的基本特点：</a:t>
            </a:r>
            <a:endParaRPr kumimoji="1" lang="en-US" altLang="zh-CN" sz="2800" b="1" i="0" u="none" strike="noStrike" kern="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base" latinLnBrk="0" hangingPunct="1">
              <a:lnSpc>
                <a:spcPct val="100000"/>
              </a:lnSpc>
              <a:spcAft>
                <a:spcPct val="0"/>
              </a:spcAft>
              <a:buClr>
                <a:schemeClr val="hlink"/>
              </a:buClr>
              <a:buSzPct val="100000"/>
              <a:buFont typeface="Wingdings" panose="05000000000000000000" pitchFamily="2" charset="2"/>
              <a:buChar char="n"/>
              <a:tabLst/>
              <a:defRPr/>
            </a:pPr>
            <a:r>
              <a:rPr kumimoji="1" lang="zh-CN" altLang="en-US" sz="2400" b="1" i="0" u="none" strike="noStrike" kern="0" cap="none" spc="0" normalizeH="0" baseline="0" noProof="0" dirty="0" smtClean="0">
                <a:ln>
                  <a:noFill/>
                </a:ln>
                <a:solidFill>
                  <a:schemeClr val="tx1"/>
                </a:solidFill>
                <a:effectLst/>
                <a:uLnTx/>
                <a:uFillTx/>
                <a:latin typeface="+mn-lt"/>
                <a:ea typeface="+mn-ea"/>
              </a:rPr>
              <a:t>具有</a:t>
            </a:r>
            <a:r>
              <a:rPr kumimoji="1" lang="zh-CN" altLang="en-US" sz="2400" b="1" i="0" u="none" strike="noStrike" kern="0" cap="none" spc="0" normalizeH="0" baseline="0" noProof="0" dirty="0" smtClean="0">
                <a:ln>
                  <a:noFill/>
                </a:ln>
                <a:solidFill>
                  <a:srgbClr val="FF0000"/>
                </a:solidFill>
                <a:effectLst/>
                <a:uLnTx/>
                <a:uFillTx/>
                <a:latin typeface="+mn-lt"/>
                <a:ea typeface="+mn-ea"/>
              </a:rPr>
              <a:t>两个互补输出</a:t>
            </a:r>
            <a:r>
              <a:rPr kumimoji="1" lang="en-US" altLang="zh-CN" sz="2400" b="1" i="1" u="none" strike="noStrike" kern="0" cap="none" spc="0" normalizeH="0" baseline="0" noProof="0" dirty="0" smtClean="0">
                <a:ln>
                  <a:noFill/>
                </a:ln>
                <a:solidFill>
                  <a:schemeClr val="tx1"/>
                </a:solidFill>
                <a:effectLst/>
                <a:uLnTx/>
                <a:uFillTx/>
                <a:latin typeface="+mn-lt"/>
                <a:ea typeface="+mn-ea"/>
              </a:rPr>
              <a:t>Q </a:t>
            </a:r>
            <a:r>
              <a:rPr kumimoji="1" lang="zh-CN" altLang="en-US" sz="2400" b="1" i="0" u="none" strike="noStrike" kern="0" cap="none" spc="0" normalizeH="0" baseline="0" noProof="0" dirty="0" smtClean="0">
                <a:ln>
                  <a:noFill/>
                </a:ln>
                <a:solidFill>
                  <a:schemeClr val="tx1"/>
                </a:solidFill>
                <a:effectLst/>
                <a:uLnTx/>
                <a:uFillTx/>
                <a:latin typeface="+mn-lt"/>
                <a:ea typeface="+mn-ea"/>
              </a:rPr>
              <a:t>和    </a:t>
            </a:r>
          </a:p>
          <a:p>
            <a:pPr marL="742950" marR="0" lvl="1" indent="-285750" algn="l" defTabSz="914400" rtl="0" eaLnBrk="1" fontAlgn="base" latinLnBrk="0" hangingPunct="1">
              <a:lnSpc>
                <a:spcPct val="100000"/>
              </a:lnSpc>
              <a:spcAft>
                <a:spcPct val="0"/>
              </a:spcAft>
              <a:buClr>
                <a:schemeClr val="hlink"/>
              </a:buClr>
              <a:buSzPct val="100000"/>
              <a:buFont typeface="Wingdings" panose="05000000000000000000" pitchFamily="2" charset="2"/>
              <a:buChar char="n"/>
              <a:tabLst/>
              <a:defRPr/>
            </a:pPr>
            <a:r>
              <a:rPr kumimoji="1" lang="zh-CN" altLang="en-US" sz="2400" b="1" i="0" u="none" strike="noStrike" kern="0" cap="none" spc="0" normalizeH="0" baseline="0" noProof="0" dirty="0" smtClean="0">
                <a:ln>
                  <a:noFill/>
                </a:ln>
                <a:solidFill>
                  <a:schemeClr val="tx1"/>
                </a:solidFill>
                <a:effectLst/>
                <a:uLnTx/>
                <a:uFillTx/>
                <a:latin typeface="+mn-lt"/>
                <a:ea typeface="+mn-ea"/>
              </a:rPr>
              <a:t>具有两个稳定状态：“</a:t>
            </a:r>
            <a:r>
              <a:rPr kumimoji="1" lang="en-US" altLang="zh-CN" sz="2400" b="1" i="0" u="none" strike="noStrike" kern="0" cap="none" spc="0" normalizeH="0" baseline="0" noProof="0" dirty="0" smtClean="0">
                <a:ln>
                  <a:noFill/>
                </a:ln>
                <a:solidFill>
                  <a:schemeClr val="tx1"/>
                </a:solidFill>
                <a:effectLst/>
                <a:uLnTx/>
                <a:uFillTx/>
                <a:latin typeface="+mn-lt"/>
                <a:ea typeface="+mn-ea"/>
              </a:rPr>
              <a:t>1</a:t>
            </a:r>
            <a:r>
              <a:rPr kumimoji="1" lang="zh-CN" altLang="en-US" sz="2400" b="1" i="0" u="none" strike="noStrike" kern="0" cap="none" spc="0" normalizeH="0" baseline="0" noProof="0" dirty="0" smtClean="0">
                <a:ln>
                  <a:noFill/>
                </a:ln>
                <a:solidFill>
                  <a:schemeClr val="tx1"/>
                </a:solidFill>
                <a:effectLst/>
                <a:uLnTx/>
                <a:uFillTx/>
                <a:latin typeface="+mn-lt"/>
                <a:ea typeface="+mn-ea"/>
              </a:rPr>
              <a:t>”和“</a:t>
            </a:r>
            <a:r>
              <a:rPr kumimoji="1" lang="en-US" altLang="zh-CN" sz="2400" b="1" i="0" u="none" strike="noStrike" kern="0" cap="none" spc="0" normalizeH="0" baseline="0" noProof="0" dirty="0" smtClean="0">
                <a:ln>
                  <a:noFill/>
                </a:ln>
                <a:solidFill>
                  <a:schemeClr val="tx1"/>
                </a:solidFill>
                <a:effectLst/>
                <a:uLnTx/>
                <a:uFillTx/>
                <a:latin typeface="+mn-lt"/>
                <a:ea typeface="+mn-ea"/>
              </a:rPr>
              <a:t>0</a:t>
            </a:r>
            <a:r>
              <a:rPr kumimoji="1" lang="zh-CN" altLang="en-US" sz="2400" b="1" i="0" u="none" strike="noStrike" kern="0" cap="none" spc="0" normalizeH="0" baseline="0" noProof="0" dirty="0" smtClean="0">
                <a:ln>
                  <a:noFill/>
                </a:ln>
                <a:solidFill>
                  <a:schemeClr val="tx1"/>
                </a:solidFill>
                <a:effectLst/>
                <a:uLnTx/>
                <a:uFillTx/>
                <a:latin typeface="+mn-lt"/>
                <a:ea typeface="+mn-ea"/>
              </a:rPr>
              <a:t>”</a:t>
            </a:r>
          </a:p>
          <a:p>
            <a:pPr marL="1143000" marR="0" lvl="2" indent="-228600" algn="l" defTabSz="914400" rtl="0" eaLnBrk="1" fontAlgn="base" latinLnBrk="0" hangingPunct="1">
              <a:lnSpc>
                <a:spcPct val="100000"/>
              </a:lnSpc>
              <a:spcAft>
                <a:spcPct val="0"/>
              </a:spcAft>
              <a:buClr>
                <a:schemeClr val="folHlink"/>
              </a:buClr>
              <a:buSzPct val="100000"/>
              <a:buFont typeface="Wingdings" pitchFamily="2" charset="2"/>
              <a:buChar char="u"/>
              <a:tabLst/>
              <a:defRPr/>
            </a:pPr>
            <a:r>
              <a:rPr kumimoji="1" lang="zh-CN" altLang="en-US" sz="2200" b="1" i="0" u="none" strike="noStrike" kern="0" cap="none" spc="0" normalizeH="0" baseline="0" noProof="0" dirty="0" smtClean="0">
                <a:ln>
                  <a:noFill/>
                </a:ln>
                <a:solidFill>
                  <a:srgbClr val="FF0000"/>
                </a:solidFill>
                <a:effectLst/>
                <a:uLnTx/>
                <a:uFillTx/>
                <a:latin typeface="+mn-lt"/>
                <a:ea typeface="+mn-ea"/>
              </a:rPr>
              <a:t>“</a:t>
            </a:r>
            <a:r>
              <a:rPr kumimoji="1" lang="en-US" altLang="zh-CN" sz="2200" b="1" i="0" u="none" strike="noStrike" kern="0" cap="none" spc="0" normalizeH="0" baseline="0" noProof="0" dirty="0" smtClean="0">
                <a:ln>
                  <a:noFill/>
                </a:ln>
                <a:solidFill>
                  <a:srgbClr val="FF0000"/>
                </a:solidFill>
                <a:effectLst/>
                <a:uLnTx/>
                <a:uFillTx/>
                <a:latin typeface="+mn-lt"/>
                <a:ea typeface="+mn-ea"/>
              </a:rPr>
              <a:t>1</a:t>
            </a:r>
            <a:r>
              <a:rPr kumimoji="1" lang="zh-CN" altLang="en-US" sz="2200" b="1" i="0" u="none" strike="noStrike" kern="0" cap="none" spc="0" normalizeH="0" baseline="0" noProof="0" dirty="0" smtClean="0">
                <a:ln>
                  <a:noFill/>
                </a:ln>
                <a:solidFill>
                  <a:srgbClr val="FF0000"/>
                </a:solidFill>
                <a:effectLst/>
                <a:uLnTx/>
                <a:uFillTx/>
                <a:latin typeface="+mn-lt"/>
                <a:ea typeface="+mn-ea"/>
              </a:rPr>
              <a:t>”状态</a:t>
            </a:r>
            <a:r>
              <a:rPr kumimoji="1" lang="zh-CN" altLang="en-US" sz="2200" b="1" i="0" u="none" strike="noStrike" kern="0" cap="none" spc="0" normalizeH="0" baseline="0" noProof="0" dirty="0" smtClean="0">
                <a:ln>
                  <a:noFill/>
                </a:ln>
                <a:solidFill>
                  <a:schemeClr val="tx1"/>
                </a:solidFill>
                <a:effectLst/>
                <a:uLnTx/>
                <a:uFillTx/>
                <a:latin typeface="+mn-lt"/>
                <a:ea typeface="+mn-ea"/>
              </a:rPr>
              <a:t>： </a:t>
            </a:r>
            <a:r>
              <a:rPr kumimoji="1" lang="en-US" altLang="zh-CN" sz="2200" b="1" i="1" u="none" strike="noStrike" kern="0" cap="none" spc="0" normalizeH="0" baseline="0" noProof="0" dirty="0" smtClean="0">
                <a:ln>
                  <a:noFill/>
                </a:ln>
                <a:solidFill>
                  <a:schemeClr val="tx1"/>
                </a:solidFill>
                <a:effectLst/>
                <a:uLnTx/>
                <a:uFillTx/>
                <a:latin typeface="+mn-lt"/>
                <a:ea typeface="+mn-ea"/>
              </a:rPr>
              <a:t>Q</a:t>
            </a:r>
            <a:r>
              <a:rPr kumimoji="1" lang="en-US" altLang="zh-CN" sz="2200" b="1" i="0" u="none" strike="noStrike" kern="0" cap="none" spc="0" normalizeH="0" baseline="0" noProof="0" dirty="0" smtClean="0">
                <a:ln>
                  <a:noFill/>
                </a:ln>
                <a:solidFill>
                  <a:schemeClr val="tx1"/>
                </a:solidFill>
                <a:effectLst/>
                <a:uLnTx/>
                <a:uFillTx/>
                <a:latin typeface="+mn-lt"/>
                <a:ea typeface="+mn-ea"/>
              </a:rPr>
              <a:t> = 1, </a:t>
            </a:r>
          </a:p>
          <a:p>
            <a:pPr marL="1143000" marR="0" lvl="2" indent="-228600" algn="l" defTabSz="914400" rtl="0" eaLnBrk="1" fontAlgn="base" latinLnBrk="0" hangingPunct="1">
              <a:lnSpc>
                <a:spcPct val="100000"/>
              </a:lnSpc>
              <a:spcAft>
                <a:spcPct val="0"/>
              </a:spcAft>
              <a:buClr>
                <a:schemeClr val="folHlink"/>
              </a:buClr>
              <a:buSzPct val="100000"/>
              <a:buFont typeface="Wingdings" pitchFamily="2" charset="2"/>
              <a:buChar char="u"/>
              <a:tabLst/>
              <a:defRPr/>
            </a:pPr>
            <a:r>
              <a:rPr kumimoji="1" lang="zh-CN" altLang="en-US" sz="2200" b="1" i="0" u="none" strike="noStrike" kern="0" cap="none" spc="0" normalizeH="0" baseline="0" noProof="0" dirty="0" smtClean="0">
                <a:ln>
                  <a:noFill/>
                </a:ln>
                <a:solidFill>
                  <a:srgbClr val="FF0000"/>
                </a:solidFill>
                <a:effectLst/>
                <a:uLnTx/>
                <a:uFillTx/>
                <a:latin typeface="+mn-lt"/>
                <a:ea typeface="+mn-ea"/>
              </a:rPr>
              <a:t>“</a:t>
            </a:r>
            <a:r>
              <a:rPr kumimoji="1" lang="en-US" altLang="zh-CN" sz="2200" b="1" i="0" u="none" strike="noStrike" kern="0" cap="none" spc="0" normalizeH="0" baseline="0" noProof="0" dirty="0" smtClean="0">
                <a:ln>
                  <a:noFill/>
                </a:ln>
                <a:solidFill>
                  <a:srgbClr val="FF0000"/>
                </a:solidFill>
                <a:effectLst/>
                <a:uLnTx/>
                <a:uFillTx/>
                <a:latin typeface="+mn-lt"/>
                <a:ea typeface="+mn-ea"/>
              </a:rPr>
              <a:t>0</a:t>
            </a:r>
            <a:r>
              <a:rPr kumimoji="1" lang="zh-CN" altLang="en-US" sz="2200" b="1" i="0" u="none" strike="noStrike" kern="0" cap="none" spc="0" normalizeH="0" baseline="0" noProof="0" dirty="0" smtClean="0">
                <a:ln>
                  <a:noFill/>
                </a:ln>
                <a:solidFill>
                  <a:srgbClr val="FF0000"/>
                </a:solidFill>
                <a:effectLst/>
                <a:uLnTx/>
                <a:uFillTx/>
                <a:latin typeface="+mn-lt"/>
                <a:ea typeface="+mn-ea"/>
              </a:rPr>
              <a:t>”状态</a:t>
            </a:r>
            <a:r>
              <a:rPr kumimoji="1" lang="zh-CN" altLang="en-US" sz="2200" b="1" i="0" u="none" strike="noStrike" kern="0" cap="none" spc="0" normalizeH="0" baseline="0" noProof="0" dirty="0" smtClean="0">
                <a:ln>
                  <a:noFill/>
                </a:ln>
                <a:solidFill>
                  <a:schemeClr val="tx1"/>
                </a:solidFill>
                <a:effectLst/>
                <a:uLnTx/>
                <a:uFillTx/>
                <a:latin typeface="+mn-lt"/>
                <a:ea typeface="+mn-ea"/>
              </a:rPr>
              <a:t>：</a:t>
            </a:r>
            <a:r>
              <a:rPr kumimoji="1" lang="en-US" altLang="zh-CN" sz="2200" b="1" i="1" u="none" strike="noStrike" kern="0" cap="none" spc="0" normalizeH="0" baseline="0" noProof="0" dirty="0" smtClean="0">
                <a:ln>
                  <a:noFill/>
                </a:ln>
                <a:solidFill>
                  <a:schemeClr val="tx1"/>
                </a:solidFill>
                <a:effectLst/>
                <a:uLnTx/>
                <a:uFillTx/>
                <a:latin typeface="+mn-lt"/>
                <a:ea typeface="+mn-ea"/>
              </a:rPr>
              <a:t>Q</a:t>
            </a:r>
            <a:r>
              <a:rPr kumimoji="1" lang="en-US" altLang="zh-CN" sz="2200" b="1" i="0" u="none" strike="noStrike" kern="0" cap="none" spc="0" normalizeH="0" baseline="0" noProof="0" dirty="0" smtClean="0">
                <a:ln>
                  <a:noFill/>
                </a:ln>
                <a:solidFill>
                  <a:schemeClr val="tx1"/>
                </a:solidFill>
                <a:effectLst/>
                <a:uLnTx/>
                <a:uFillTx/>
                <a:latin typeface="+mn-lt"/>
                <a:ea typeface="+mn-ea"/>
              </a:rPr>
              <a:t> = 0, </a:t>
            </a:r>
            <a:endParaRPr kumimoji="1" lang="zh-CN" altLang="en-US" sz="2200" b="1" i="0" u="none" strike="noStrike" kern="0" cap="none" spc="0" normalizeH="0" baseline="0" noProof="0" dirty="0" smtClean="0">
              <a:ln>
                <a:noFill/>
              </a:ln>
              <a:solidFill>
                <a:schemeClr val="tx1"/>
              </a:solidFill>
              <a:effectLst/>
              <a:uLnTx/>
              <a:uFillTx/>
              <a:latin typeface="+mn-lt"/>
              <a:ea typeface="+mn-ea"/>
            </a:endParaRPr>
          </a:p>
          <a:p>
            <a:pPr marL="742950" marR="0" lvl="1" indent="-285750" algn="l" defTabSz="914400" rtl="0" eaLnBrk="1" fontAlgn="base" latinLnBrk="0" hangingPunct="1">
              <a:lnSpc>
                <a:spcPct val="100000"/>
              </a:lnSpc>
              <a:spcAft>
                <a:spcPct val="0"/>
              </a:spcAft>
              <a:buClr>
                <a:schemeClr val="hlink"/>
              </a:buClr>
              <a:buSzPct val="100000"/>
              <a:buFont typeface="Wingdings" panose="05000000000000000000" pitchFamily="2" charset="2"/>
              <a:buChar char="n"/>
              <a:tabLst/>
              <a:defRPr/>
            </a:pPr>
            <a:r>
              <a:rPr kumimoji="1" lang="zh-CN" altLang="en-US" sz="2400" b="1" i="0" u="none" strike="noStrike" kern="0" cap="none" spc="0" normalizeH="0" baseline="0" noProof="0" dirty="0" smtClean="0">
                <a:ln>
                  <a:noFill/>
                </a:ln>
                <a:solidFill>
                  <a:schemeClr val="tx1"/>
                </a:solidFill>
                <a:effectLst/>
                <a:uLnTx/>
                <a:uFillTx/>
                <a:latin typeface="+mn-lt"/>
                <a:ea typeface="+mn-ea"/>
              </a:rPr>
              <a:t>根据</a:t>
            </a:r>
            <a:r>
              <a:rPr kumimoji="1" lang="zh-CN" altLang="en-US" sz="2400" b="1" i="0" u="none" strike="noStrike" kern="0" cap="none" spc="0" normalizeH="0" baseline="0" noProof="0" dirty="0" smtClean="0">
                <a:ln>
                  <a:noFill/>
                </a:ln>
                <a:solidFill>
                  <a:srgbClr val="FF0000"/>
                </a:solidFill>
                <a:effectLst/>
                <a:uLnTx/>
                <a:uFillTx/>
                <a:latin typeface="+mn-lt"/>
                <a:ea typeface="+mn-ea"/>
              </a:rPr>
              <a:t>不同的输入信号</a:t>
            </a:r>
            <a:r>
              <a:rPr kumimoji="1" lang="zh-CN" altLang="en-US" sz="2400" b="1" i="0" u="none" strike="noStrike" kern="0" cap="none" spc="0" normalizeH="0" baseline="0" noProof="0" dirty="0" smtClean="0">
                <a:ln>
                  <a:noFill/>
                </a:ln>
                <a:solidFill>
                  <a:schemeClr val="tx1"/>
                </a:solidFill>
                <a:effectLst/>
                <a:uLnTx/>
                <a:uFillTx/>
                <a:latin typeface="+mn-lt"/>
                <a:ea typeface="+mn-ea"/>
              </a:rPr>
              <a:t>可以</a:t>
            </a:r>
            <a:r>
              <a:rPr kumimoji="1" lang="zh-CN" altLang="en-US" sz="2400" b="1" i="0" u="none" strike="noStrike" kern="0" cap="none" spc="0" normalizeH="0" baseline="0" noProof="0" dirty="0" smtClean="0">
                <a:ln>
                  <a:noFill/>
                </a:ln>
                <a:solidFill>
                  <a:srgbClr val="0000CC"/>
                </a:solidFill>
                <a:effectLst/>
                <a:uLnTx/>
                <a:uFillTx/>
                <a:latin typeface="+mn-lt"/>
                <a:ea typeface="+mn-ea"/>
              </a:rPr>
              <a:t>置成“</a:t>
            </a:r>
            <a:r>
              <a:rPr kumimoji="1" lang="en-US" altLang="zh-CN" sz="2400" b="1" i="0" u="none" strike="noStrike" kern="0" cap="none" spc="0" normalizeH="0" baseline="0" noProof="0" dirty="0" smtClean="0">
                <a:ln>
                  <a:noFill/>
                </a:ln>
                <a:solidFill>
                  <a:srgbClr val="0000CC"/>
                </a:solidFill>
                <a:effectLst/>
                <a:uLnTx/>
                <a:uFillTx/>
                <a:latin typeface="+mn-lt"/>
                <a:ea typeface="+mn-ea"/>
              </a:rPr>
              <a:t>1</a:t>
            </a:r>
            <a:r>
              <a:rPr kumimoji="1" lang="zh-CN" altLang="en-US" sz="2400" b="1" i="0" u="none" strike="noStrike" kern="0" cap="none" spc="0" normalizeH="0" baseline="0" noProof="0" dirty="0" smtClean="0">
                <a:ln>
                  <a:noFill/>
                </a:ln>
                <a:solidFill>
                  <a:srgbClr val="0000CC"/>
                </a:solidFill>
                <a:effectLst/>
                <a:uLnTx/>
                <a:uFillTx/>
                <a:latin typeface="+mn-lt"/>
                <a:ea typeface="+mn-ea"/>
              </a:rPr>
              <a:t>”或“</a:t>
            </a:r>
            <a:r>
              <a:rPr kumimoji="1" lang="en-US" altLang="zh-CN" sz="2400" b="1" i="0" u="none" strike="noStrike" kern="0" cap="none" spc="0" normalizeH="0" baseline="0" noProof="0" dirty="0" smtClean="0">
                <a:ln>
                  <a:noFill/>
                </a:ln>
                <a:solidFill>
                  <a:srgbClr val="0000CC"/>
                </a:solidFill>
                <a:effectLst/>
                <a:uLnTx/>
                <a:uFillTx/>
                <a:latin typeface="+mn-lt"/>
                <a:ea typeface="+mn-ea"/>
              </a:rPr>
              <a:t>0</a:t>
            </a:r>
            <a:r>
              <a:rPr kumimoji="1" lang="zh-CN" altLang="en-US" sz="2400" b="1" i="0" u="none" strike="noStrike" kern="0" cap="none" spc="0" normalizeH="0" baseline="0" noProof="0" dirty="0" smtClean="0">
                <a:ln>
                  <a:noFill/>
                </a:ln>
                <a:solidFill>
                  <a:srgbClr val="0000CC"/>
                </a:solidFill>
                <a:effectLst/>
                <a:uLnTx/>
                <a:uFillTx/>
                <a:latin typeface="+mn-lt"/>
                <a:ea typeface="+mn-ea"/>
              </a:rPr>
              <a:t>”状态</a:t>
            </a:r>
            <a:r>
              <a:rPr kumimoji="1" lang="zh-CN" altLang="en-US" sz="2400" b="1" i="0" u="none" strike="noStrike" kern="0" cap="none" spc="0" normalizeH="0" baseline="0" noProof="0" dirty="0" smtClean="0">
                <a:ln>
                  <a:noFill/>
                </a:ln>
                <a:solidFill>
                  <a:schemeClr val="tx1"/>
                </a:solidFill>
                <a:effectLst/>
                <a:uLnTx/>
                <a:uFillTx/>
                <a:latin typeface="+mn-lt"/>
                <a:ea typeface="+mn-ea"/>
              </a:rPr>
              <a:t>。</a:t>
            </a:r>
            <a:endParaRPr kumimoji="1" lang="zh-CN" altLang="en-US" sz="2600" b="1" i="0" u="none" strike="noStrike" kern="0" cap="none" spc="0" normalizeH="0" baseline="0" noProof="0" dirty="0">
              <a:ln>
                <a:noFill/>
              </a:ln>
              <a:solidFill>
                <a:schemeClr val="tx1"/>
              </a:solidFill>
              <a:effectLst/>
              <a:uLnTx/>
              <a:uFillTx/>
              <a:latin typeface="+mn-lt"/>
              <a:ea typeface="+mn-ea"/>
              <a:cs typeface="+mn-cs"/>
            </a:endParaRPr>
          </a:p>
        </p:txBody>
      </p:sp>
    </p:spTree>
    <p:extLst>
      <p:ext uri="{BB962C8B-B14F-4D97-AF65-F5344CB8AC3E}">
        <p14:creationId xmlns:p14="http://schemas.microsoft.com/office/powerpoint/2010/main" xmlns="" val="639337023"/>
      </p:ext>
    </p:extLst>
  </p:cSld>
  <p:clrMapOvr>
    <a:masterClrMapping/>
  </p:clrMapOvr>
  <mc:AlternateContent xmlns:mc="http://schemas.openxmlformats.org/markup-compatibility/2006">
    <mc:Choice xmlns:p14="http://schemas.microsoft.com/office/powerpoint/2010/main" xmlns="" Requires="p14">
      <p:transition spd="slow" p14:dur="2000" advTm="44315"/>
    </mc:Choice>
    <mc:Fallback>
      <p:transition spd="slow" advTm="44315"/>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43608" y="764704"/>
            <a:ext cx="8100392" cy="710952"/>
          </a:xfrm>
        </p:spPr>
        <p:txBody>
          <a:bodyPr/>
          <a:lstStyle/>
          <a:p>
            <a:r>
              <a:rPr lang="zh-CN" altLang="en-US" dirty="0"/>
              <a:t>概述</a:t>
            </a:r>
          </a:p>
        </p:txBody>
      </p:sp>
      <p:sp>
        <p:nvSpPr>
          <p:cNvPr id="3" name="内容占位符 2"/>
          <p:cNvSpPr>
            <a:spLocks noGrp="1"/>
          </p:cNvSpPr>
          <p:nvPr>
            <p:ph idx="1"/>
          </p:nvPr>
        </p:nvSpPr>
        <p:spPr>
          <a:xfrm>
            <a:off x="395536" y="1988840"/>
            <a:ext cx="8415536" cy="4104456"/>
          </a:xfrm>
          <a:solidFill>
            <a:schemeClr val="bg1"/>
          </a:solidFill>
        </p:spPr>
        <p:txBody>
          <a:bodyPr/>
          <a:lstStyle/>
          <a:p>
            <a:pPr>
              <a:lnSpc>
                <a:spcPct val="100000"/>
              </a:lnSpc>
              <a:spcBef>
                <a:spcPts val="0"/>
              </a:spcBef>
              <a:buSzPct val="100000"/>
              <a:buFont typeface="Wingdings" pitchFamily="2" charset="2"/>
              <a:buChar char="p"/>
            </a:pPr>
            <a:r>
              <a:rPr lang="zh-CN" altLang="en-US" sz="2800" dirty="0"/>
              <a:t>触发器的分类</a:t>
            </a:r>
            <a:r>
              <a:rPr lang="zh-CN" altLang="en-US" sz="2800" dirty="0" smtClean="0"/>
              <a:t>：</a:t>
            </a:r>
            <a:endParaRPr lang="en-US" altLang="zh-CN" sz="2800" dirty="0" smtClean="0"/>
          </a:p>
          <a:p>
            <a:pPr lvl="1">
              <a:lnSpc>
                <a:spcPct val="100000"/>
              </a:lnSpc>
              <a:spcBef>
                <a:spcPts val="0"/>
              </a:spcBef>
              <a:buSzPct val="100000"/>
            </a:pPr>
            <a:r>
              <a:rPr lang="zh-CN" altLang="en-US" sz="2400" dirty="0" smtClean="0"/>
              <a:t>按</a:t>
            </a:r>
            <a:r>
              <a:rPr lang="zh-CN" altLang="en-US" sz="2400" dirty="0" smtClean="0">
                <a:solidFill>
                  <a:srgbClr val="FF0000"/>
                </a:solidFill>
              </a:rPr>
              <a:t>触发方式</a:t>
            </a:r>
            <a:r>
              <a:rPr lang="zh-CN" altLang="en-US" sz="2400" dirty="0" smtClean="0"/>
              <a:t>可分为：</a:t>
            </a:r>
            <a:r>
              <a:rPr lang="zh-CN" altLang="en-US" sz="2400" dirty="0" smtClean="0">
                <a:solidFill>
                  <a:srgbClr val="0000CC"/>
                </a:solidFill>
              </a:rPr>
              <a:t>电平触发</a:t>
            </a:r>
            <a:r>
              <a:rPr lang="zh-CN" altLang="en-US" sz="2400" dirty="0" smtClean="0"/>
              <a:t>、</a:t>
            </a:r>
            <a:r>
              <a:rPr lang="zh-CN" altLang="en-US" sz="2400" dirty="0" smtClean="0">
                <a:solidFill>
                  <a:srgbClr val="0000CC"/>
                </a:solidFill>
              </a:rPr>
              <a:t>脉冲触发</a:t>
            </a:r>
            <a:r>
              <a:rPr lang="zh-CN" altLang="en-US" sz="2400" dirty="0" smtClean="0"/>
              <a:t>和</a:t>
            </a:r>
            <a:r>
              <a:rPr lang="zh-CN" altLang="en-US" sz="2400" dirty="0" smtClean="0">
                <a:solidFill>
                  <a:srgbClr val="0000CC"/>
                </a:solidFill>
              </a:rPr>
              <a:t>边沿触发</a:t>
            </a:r>
            <a:r>
              <a:rPr lang="zh-CN" altLang="en-US" sz="2400" dirty="0" smtClean="0"/>
              <a:t>。</a:t>
            </a:r>
            <a:endParaRPr lang="en-US" altLang="zh-CN" sz="2400" dirty="0" smtClean="0"/>
          </a:p>
          <a:p>
            <a:pPr lvl="1">
              <a:lnSpc>
                <a:spcPct val="100000"/>
              </a:lnSpc>
              <a:spcBef>
                <a:spcPts val="0"/>
              </a:spcBef>
              <a:buSzPct val="100000"/>
            </a:pPr>
            <a:r>
              <a:rPr lang="zh-CN" altLang="en-US" sz="2400" dirty="0" smtClean="0"/>
              <a:t>按</a:t>
            </a:r>
            <a:r>
              <a:rPr lang="zh-CN" altLang="en-US" sz="2400" dirty="0">
                <a:solidFill>
                  <a:srgbClr val="FF0000"/>
                </a:solidFill>
              </a:rPr>
              <a:t>电路结构</a:t>
            </a:r>
            <a:r>
              <a:rPr lang="zh-CN" altLang="en-US" sz="2400" dirty="0"/>
              <a:t>形式不同可分为</a:t>
            </a:r>
          </a:p>
          <a:p>
            <a:pPr lvl="2">
              <a:lnSpc>
                <a:spcPct val="100000"/>
              </a:lnSpc>
              <a:spcBef>
                <a:spcPts val="0"/>
              </a:spcBef>
              <a:buSzPct val="100000"/>
              <a:buFont typeface="Wingdings" pitchFamily="2" charset="2"/>
              <a:buChar char="u"/>
            </a:pPr>
            <a:r>
              <a:rPr lang="zh-CN" altLang="en-US" dirty="0" smtClean="0">
                <a:solidFill>
                  <a:srgbClr val="0000CC"/>
                </a:solidFill>
              </a:rPr>
              <a:t>基本</a:t>
            </a:r>
            <a:r>
              <a:rPr lang="en-US" altLang="zh-CN" dirty="0"/>
              <a:t>RS-FF</a:t>
            </a:r>
            <a:r>
              <a:rPr lang="zh-CN" altLang="en-US" dirty="0"/>
              <a:t>（锁存器）</a:t>
            </a:r>
          </a:p>
          <a:p>
            <a:pPr lvl="2">
              <a:lnSpc>
                <a:spcPct val="100000"/>
              </a:lnSpc>
              <a:spcBef>
                <a:spcPts val="0"/>
              </a:spcBef>
              <a:buSzPct val="100000"/>
              <a:buFont typeface="Wingdings" pitchFamily="2" charset="2"/>
              <a:buChar char="u"/>
            </a:pPr>
            <a:r>
              <a:rPr lang="zh-CN" altLang="en-US" dirty="0" smtClean="0">
                <a:solidFill>
                  <a:srgbClr val="0000CC"/>
                </a:solidFill>
              </a:rPr>
              <a:t>同步</a:t>
            </a:r>
            <a:r>
              <a:rPr lang="en-US" altLang="zh-CN" dirty="0"/>
              <a:t>FF</a:t>
            </a:r>
            <a:r>
              <a:rPr lang="zh-CN" altLang="en-US" dirty="0"/>
              <a:t>（电平触发）</a:t>
            </a:r>
          </a:p>
          <a:p>
            <a:pPr lvl="2">
              <a:lnSpc>
                <a:spcPct val="100000"/>
              </a:lnSpc>
              <a:spcBef>
                <a:spcPts val="0"/>
              </a:spcBef>
              <a:buSzPct val="100000"/>
              <a:buFont typeface="Wingdings" pitchFamily="2" charset="2"/>
              <a:buChar char="u"/>
            </a:pPr>
            <a:r>
              <a:rPr lang="zh-CN" altLang="en-US" dirty="0" smtClean="0">
                <a:solidFill>
                  <a:srgbClr val="0000CC"/>
                </a:solidFill>
              </a:rPr>
              <a:t>主从</a:t>
            </a:r>
            <a:r>
              <a:rPr lang="en-US" altLang="zh-CN" dirty="0"/>
              <a:t>FF</a:t>
            </a:r>
            <a:r>
              <a:rPr lang="zh-CN" altLang="en-US" dirty="0"/>
              <a:t>（脉冲触发）</a:t>
            </a:r>
          </a:p>
          <a:p>
            <a:pPr lvl="2">
              <a:lnSpc>
                <a:spcPct val="100000"/>
              </a:lnSpc>
              <a:spcBef>
                <a:spcPts val="0"/>
              </a:spcBef>
              <a:buSzPct val="100000"/>
              <a:buFont typeface="Wingdings" pitchFamily="2" charset="2"/>
              <a:buChar char="u"/>
            </a:pPr>
            <a:r>
              <a:rPr lang="zh-CN" altLang="en-US" dirty="0" smtClean="0">
                <a:solidFill>
                  <a:srgbClr val="0000CC"/>
                </a:solidFill>
              </a:rPr>
              <a:t>边沿</a:t>
            </a:r>
            <a:r>
              <a:rPr lang="en-US" altLang="zh-CN" dirty="0"/>
              <a:t>FF</a:t>
            </a:r>
            <a:r>
              <a:rPr lang="zh-CN" altLang="en-US" dirty="0"/>
              <a:t>（边沿触发）</a:t>
            </a:r>
          </a:p>
          <a:p>
            <a:pPr lvl="2">
              <a:lnSpc>
                <a:spcPct val="100000"/>
              </a:lnSpc>
              <a:spcBef>
                <a:spcPts val="0"/>
              </a:spcBef>
              <a:buSzPct val="100000"/>
              <a:buFont typeface="Wingdings" pitchFamily="2" charset="2"/>
              <a:buChar char="u"/>
            </a:pPr>
            <a:r>
              <a:rPr lang="en-US" altLang="zh-CN" dirty="0" smtClean="0"/>
              <a:t>CMOS</a:t>
            </a:r>
            <a:r>
              <a:rPr lang="zh-CN" altLang="en-US" dirty="0"/>
              <a:t>工艺</a:t>
            </a:r>
            <a:r>
              <a:rPr lang="en-US" altLang="zh-CN" dirty="0"/>
              <a:t>FF</a:t>
            </a:r>
          </a:p>
          <a:p>
            <a:pPr lvl="1">
              <a:lnSpc>
                <a:spcPct val="100000"/>
              </a:lnSpc>
              <a:spcBef>
                <a:spcPts val="0"/>
              </a:spcBef>
              <a:buSzPct val="100000"/>
            </a:pPr>
            <a:r>
              <a:rPr lang="zh-CN" altLang="en-US" sz="2400" dirty="0" smtClean="0"/>
              <a:t>按</a:t>
            </a:r>
            <a:r>
              <a:rPr lang="zh-CN" altLang="en-US" sz="2400" dirty="0">
                <a:solidFill>
                  <a:srgbClr val="FF0000"/>
                </a:solidFill>
              </a:rPr>
              <a:t>逻辑功能</a:t>
            </a:r>
            <a:r>
              <a:rPr lang="zh-CN" altLang="en-US" sz="2400" dirty="0"/>
              <a:t>分</a:t>
            </a:r>
          </a:p>
          <a:p>
            <a:pPr lvl="2">
              <a:lnSpc>
                <a:spcPct val="100000"/>
              </a:lnSpc>
              <a:spcBef>
                <a:spcPts val="0"/>
              </a:spcBef>
              <a:buSzPct val="100000"/>
              <a:buFont typeface="Wingdings" pitchFamily="2" charset="2"/>
              <a:buChar char="u"/>
            </a:pPr>
            <a:r>
              <a:rPr lang="en-US" altLang="zh-CN" dirty="0" smtClean="0"/>
              <a:t>RS</a:t>
            </a:r>
            <a:r>
              <a:rPr lang="zh-CN" altLang="en-US" dirty="0"/>
              <a:t>、</a:t>
            </a:r>
            <a:r>
              <a:rPr lang="en-US" altLang="zh-CN" dirty="0"/>
              <a:t>JK</a:t>
            </a:r>
            <a:r>
              <a:rPr lang="zh-CN" altLang="en-US" dirty="0"/>
              <a:t>、</a:t>
            </a:r>
            <a:r>
              <a:rPr lang="en-US" altLang="zh-CN" dirty="0"/>
              <a:t>D</a:t>
            </a:r>
            <a:r>
              <a:rPr lang="zh-CN" altLang="en-US" dirty="0"/>
              <a:t>、</a:t>
            </a:r>
            <a:r>
              <a:rPr lang="en-US" altLang="zh-CN" dirty="0"/>
              <a:t>T</a:t>
            </a:r>
            <a:r>
              <a:rPr lang="zh-CN" altLang="en-US" dirty="0"/>
              <a:t>、</a:t>
            </a:r>
            <a:r>
              <a:rPr lang="en-US" altLang="zh-CN" dirty="0"/>
              <a:t>T’</a:t>
            </a:r>
            <a:r>
              <a:rPr lang="zh-CN" altLang="en-US" dirty="0"/>
              <a:t>等</a:t>
            </a:r>
          </a:p>
          <a:p>
            <a:pPr lvl="1">
              <a:lnSpc>
                <a:spcPct val="100000"/>
              </a:lnSpc>
              <a:spcBef>
                <a:spcPts val="0"/>
              </a:spcBef>
              <a:buSzPct val="100000"/>
            </a:pPr>
            <a:r>
              <a:rPr lang="zh-CN" altLang="en-US" sz="2400" dirty="0" smtClean="0"/>
              <a:t>按</a:t>
            </a:r>
            <a:r>
              <a:rPr lang="zh-CN" altLang="en-US" sz="2400" dirty="0">
                <a:solidFill>
                  <a:srgbClr val="FF0000"/>
                </a:solidFill>
              </a:rPr>
              <a:t>存储数据的原理</a:t>
            </a:r>
            <a:r>
              <a:rPr lang="zh-CN" altLang="en-US" sz="2400" dirty="0"/>
              <a:t>不同可</a:t>
            </a:r>
            <a:r>
              <a:rPr lang="zh-CN" altLang="en-US" sz="2400" dirty="0" smtClean="0"/>
              <a:t>分为</a:t>
            </a:r>
            <a:endParaRPr lang="en-US" altLang="zh-CN" sz="2400" dirty="0" smtClean="0"/>
          </a:p>
          <a:p>
            <a:pPr lvl="2">
              <a:lnSpc>
                <a:spcPct val="100000"/>
              </a:lnSpc>
              <a:spcBef>
                <a:spcPts val="0"/>
              </a:spcBef>
              <a:buSzPct val="100000"/>
              <a:buFont typeface="Wingdings" pitchFamily="2" charset="2"/>
              <a:buChar char="u"/>
            </a:pPr>
            <a:r>
              <a:rPr lang="zh-CN" altLang="en-US" dirty="0" smtClean="0"/>
              <a:t>静态</a:t>
            </a:r>
            <a:r>
              <a:rPr lang="en-US" altLang="zh-CN" dirty="0" smtClean="0"/>
              <a:t>FF</a:t>
            </a:r>
            <a:r>
              <a:rPr lang="zh-CN" altLang="en-US" dirty="0" smtClean="0"/>
              <a:t>（利用门电路状态自锁存储数据）</a:t>
            </a:r>
            <a:endParaRPr lang="en-US" altLang="zh-CN" dirty="0" smtClean="0"/>
          </a:p>
          <a:p>
            <a:pPr lvl="2">
              <a:lnSpc>
                <a:spcPct val="100000"/>
              </a:lnSpc>
              <a:spcBef>
                <a:spcPts val="0"/>
              </a:spcBef>
              <a:buSzPct val="100000"/>
              <a:buFont typeface="Wingdings" pitchFamily="2" charset="2"/>
              <a:buChar char="u"/>
            </a:pPr>
            <a:r>
              <a:rPr lang="zh-CN" altLang="en-US" dirty="0" smtClean="0"/>
              <a:t>动态</a:t>
            </a:r>
            <a:r>
              <a:rPr lang="en-US" altLang="zh-CN" dirty="0" smtClean="0"/>
              <a:t>FF</a:t>
            </a:r>
            <a:r>
              <a:rPr lang="zh-CN" altLang="en-US" dirty="0" smtClean="0"/>
              <a:t>（利用栅极电容存储电荷效应来存储</a:t>
            </a:r>
            <a:r>
              <a:rPr lang="en-US" altLang="zh-CN" dirty="0" smtClean="0"/>
              <a:t>0</a:t>
            </a:r>
            <a:r>
              <a:rPr lang="zh-CN" altLang="en-US" dirty="0" smtClean="0"/>
              <a:t>、</a:t>
            </a:r>
            <a:r>
              <a:rPr lang="en-US" altLang="zh-CN" dirty="0" smtClean="0"/>
              <a:t>1</a:t>
            </a:r>
            <a:r>
              <a:rPr lang="zh-CN" altLang="en-US" dirty="0" smtClean="0"/>
              <a:t>信息）</a:t>
            </a:r>
            <a:endParaRPr lang="zh-CN" altLang="en-US" dirty="0"/>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4</a:t>
            </a:fld>
            <a:endParaRPr lang="zh-CN" altLang="en-US"/>
          </a:p>
        </p:txBody>
      </p:sp>
      <p:sp>
        <p:nvSpPr>
          <p:cNvPr id="6" name="标题 1"/>
          <p:cNvSpPr txBox="1">
            <a:spLocks/>
          </p:cNvSpPr>
          <p:nvPr/>
        </p:nvSpPr>
        <p:spPr bwMode="auto">
          <a:xfrm>
            <a:off x="1043608" y="332656"/>
            <a:ext cx="7016824" cy="63894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3600" b="1" i="0" u="none" strike="noStrike" kern="0" cap="none" spc="0" normalizeH="0" baseline="0" noProof="0" dirty="0" smtClean="0">
                <a:ln>
                  <a:noFill/>
                </a:ln>
                <a:solidFill>
                  <a:schemeClr val="tx2"/>
                </a:solidFill>
                <a:effectLst/>
                <a:uLnTx/>
                <a:uFillTx/>
                <a:latin typeface="+mj-lt"/>
                <a:ea typeface="+mj-ea"/>
                <a:cs typeface="+mj-cs"/>
              </a:rPr>
              <a:t>第</a:t>
            </a:r>
            <a:r>
              <a:rPr kumimoji="1" lang="en-US" altLang="zh-CN" sz="3600" b="1" i="0" u="none" strike="noStrike" kern="0" cap="none" spc="0" normalizeH="0" baseline="0" noProof="0" dirty="0" smtClean="0">
                <a:ln>
                  <a:noFill/>
                </a:ln>
                <a:solidFill>
                  <a:schemeClr val="tx2"/>
                </a:solidFill>
                <a:effectLst/>
                <a:uLnTx/>
                <a:uFillTx/>
                <a:latin typeface="+mj-lt"/>
                <a:ea typeface="+mj-ea"/>
                <a:cs typeface="+mj-cs"/>
              </a:rPr>
              <a:t>5</a:t>
            </a:r>
            <a:r>
              <a:rPr kumimoji="1" lang="zh-CN" altLang="en-US" sz="3600" b="1" i="0" u="none" strike="noStrike" kern="0" cap="none" spc="0" normalizeH="0" baseline="0" noProof="0" dirty="0" smtClean="0">
                <a:ln>
                  <a:noFill/>
                </a:ln>
                <a:solidFill>
                  <a:schemeClr val="tx2"/>
                </a:solidFill>
                <a:effectLst/>
                <a:uLnTx/>
                <a:uFillTx/>
                <a:latin typeface="+mj-lt"/>
                <a:ea typeface="+mj-ea"/>
                <a:cs typeface="+mj-cs"/>
              </a:rPr>
              <a:t>章　触发器</a:t>
            </a:r>
            <a:endParaRPr kumimoji="1" lang="zh-CN" altLang="en-US" sz="3600" b="1" i="0" u="none" strike="noStrike" kern="0" cap="none" spc="0" normalizeH="0" baseline="0" noProof="0" dirty="0">
              <a:ln>
                <a:noFill/>
              </a:ln>
              <a:solidFill>
                <a:schemeClr val="tx2"/>
              </a:solidFill>
              <a:effectLst/>
              <a:uLnTx/>
              <a:uFillTx/>
              <a:latin typeface="+mj-lt"/>
              <a:ea typeface="+mj-ea"/>
              <a:cs typeface="+mj-cs"/>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43608" y="764704"/>
            <a:ext cx="8100392" cy="710952"/>
          </a:xfrm>
        </p:spPr>
        <p:txBody>
          <a:bodyPr/>
          <a:lstStyle/>
          <a:p>
            <a:r>
              <a:rPr lang="zh-CN" altLang="en-US" dirty="0"/>
              <a:t>概述</a:t>
            </a:r>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5</a:t>
            </a:fld>
            <a:endParaRPr lang="zh-CN" altLang="en-US"/>
          </a:p>
        </p:txBody>
      </p:sp>
      <p:sp>
        <p:nvSpPr>
          <p:cNvPr id="6" name="矩形 5"/>
          <p:cNvSpPr/>
          <p:nvPr/>
        </p:nvSpPr>
        <p:spPr>
          <a:xfrm>
            <a:off x="444661" y="2190040"/>
            <a:ext cx="1607059" cy="461665"/>
          </a:xfrm>
          <a:prstGeom prst="rect">
            <a:avLst/>
          </a:prstGeom>
          <a:solidFill>
            <a:srgbClr val="0341E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anchor="ctr">
            <a:spAutoFit/>
          </a:bodyPr>
          <a:lstStyle/>
          <a:p>
            <a:pPr algn="ctr">
              <a:spcBef>
                <a:spcPct val="50000"/>
              </a:spcBef>
            </a:pPr>
            <a:r>
              <a:rPr lang="zh-CN" altLang="en-US" sz="2400" b="1" dirty="0">
                <a:solidFill>
                  <a:schemeClr val="bg1"/>
                </a:solidFill>
                <a:ea typeface="黑体" panose="02010609060101010101" pitchFamily="49" charset="-122"/>
              </a:rPr>
              <a:t>专业</a:t>
            </a:r>
            <a:r>
              <a:rPr lang="zh-CN" altLang="en-US" sz="2400" b="1" dirty="0" smtClean="0">
                <a:solidFill>
                  <a:schemeClr val="bg1"/>
                </a:solidFill>
                <a:ea typeface="黑体" panose="02010609060101010101" pitchFamily="49" charset="-122"/>
              </a:rPr>
              <a:t>名词</a:t>
            </a:r>
            <a:endParaRPr lang="zh-CN" altLang="en-US" sz="2400" b="1" dirty="0">
              <a:solidFill>
                <a:schemeClr val="bg1"/>
              </a:solidFill>
              <a:ea typeface="黑体" panose="02010609060101010101" pitchFamily="49" charset="-122"/>
            </a:endParaRPr>
          </a:p>
        </p:txBody>
      </p:sp>
      <p:pic>
        <p:nvPicPr>
          <p:cNvPr id="7" name="图片 6"/>
          <p:cNvPicPr>
            <a:picLocks noChangeAspect="1"/>
          </p:cNvPicPr>
          <p:nvPr/>
        </p:nvPicPr>
        <p:blipFill>
          <a:blip r:embed="rId2" cstate="print"/>
          <a:stretch>
            <a:fillRect/>
          </a:stretch>
        </p:blipFill>
        <p:spPr>
          <a:xfrm>
            <a:off x="1155753" y="2907157"/>
            <a:ext cx="3960366" cy="2081213"/>
          </a:xfrm>
          <a:prstGeom prst="rect">
            <a:avLst/>
          </a:prstGeom>
        </p:spPr>
      </p:pic>
      <p:pic>
        <p:nvPicPr>
          <p:cNvPr id="8" name="图片 7"/>
          <p:cNvPicPr>
            <a:picLocks noChangeAspect="1"/>
          </p:cNvPicPr>
          <p:nvPr/>
        </p:nvPicPr>
        <p:blipFill>
          <a:blip r:embed="rId3" cstate="print"/>
          <a:stretch>
            <a:fillRect/>
          </a:stretch>
        </p:blipFill>
        <p:spPr>
          <a:xfrm>
            <a:off x="5104087" y="4355422"/>
            <a:ext cx="3610129" cy="1953243"/>
          </a:xfrm>
          <a:prstGeom prst="rect">
            <a:avLst/>
          </a:prstGeom>
        </p:spPr>
      </p:pic>
      <p:sp>
        <p:nvSpPr>
          <p:cNvPr id="9" name="文本框 8"/>
          <p:cNvSpPr txBox="1"/>
          <p:nvPr/>
        </p:nvSpPr>
        <p:spPr>
          <a:xfrm>
            <a:off x="1115616" y="5229200"/>
            <a:ext cx="4578497" cy="1384995"/>
          </a:xfrm>
          <a:prstGeom prst="rect">
            <a:avLst/>
          </a:prstGeom>
          <a:noFill/>
        </p:spPr>
        <p:txBody>
          <a:bodyPr wrap="none" rtlCol="0">
            <a:spAutoFit/>
          </a:bodyPr>
          <a:lstStyle/>
          <a:p>
            <a:pPr marL="285750" indent="-285750">
              <a:buClr>
                <a:srgbClr val="0000CC"/>
              </a:buClr>
              <a:buFont typeface="Wingdings" pitchFamily="2" charset="2"/>
              <a:buChar char="p"/>
            </a:pPr>
            <a:r>
              <a:rPr lang="zh-CN" altLang="en-US" sz="2800" b="1" dirty="0" smtClean="0"/>
              <a:t> </a:t>
            </a:r>
            <a:r>
              <a:rPr lang="zh-CN" altLang="en-US" sz="2800" b="1" dirty="0" smtClean="0">
                <a:solidFill>
                  <a:srgbClr val="0000CC"/>
                </a:solidFill>
              </a:rPr>
              <a:t>输入信号作用前的状态</a:t>
            </a:r>
            <a:r>
              <a:rPr lang="zh-CN" altLang="en-US" sz="2800" b="1" dirty="0" smtClean="0"/>
              <a:t>，</a:t>
            </a:r>
            <a:endParaRPr lang="en-US" altLang="zh-CN" sz="2800" b="1" dirty="0" smtClean="0"/>
          </a:p>
          <a:p>
            <a:pPr>
              <a:buClr>
                <a:srgbClr val="0000CC"/>
              </a:buClr>
            </a:pPr>
            <a:r>
              <a:rPr lang="zh-CN" altLang="en-US" sz="2800" b="1" dirty="0" smtClean="0"/>
              <a:t>    记作 </a:t>
            </a:r>
            <a:r>
              <a:rPr lang="en-US" altLang="zh-CN" sz="2800" b="1" dirty="0" smtClean="0">
                <a:solidFill>
                  <a:srgbClr val="FF0000"/>
                </a:solidFill>
              </a:rPr>
              <a:t>Q</a:t>
            </a:r>
            <a:r>
              <a:rPr lang="en-US" altLang="zh-CN" sz="2800" b="1" baseline="30000" dirty="0" smtClean="0">
                <a:solidFill>
                  <a:srgbClr val="FF0000"/>
                </a:solidFill>
              </a:rPr>
              <a:t>n</a:t>
            </a:r>
            <a:endParaRPr lang="en-US" altLang="zh-CN" sz="2800" b="1" dirty="0" smtClean="0">
              <a:solidFill>
                <a:srgbClr val="FF0000"/>
              </a:solidFill>
            </a:endParaRPr>
          </a:p>
          <a:p>
            <a:pPr marL="285750" indent="-285750">
              <a:buClr>
                <a:srgbClr val="0000CC"/>
              </a:buClr>
              <a:buFont typeface="Wingdings" pitchFamily="2" charset="2"/>
              <a:buChar char="p"/>
            </a:pPr>
            <a:r>
              <a:rPr lang="zh-CN" altLang="en-US" sz="2800" b="1" dirty="0" smtClean="0"/>
              <a:t> 一般简记为</a:t>
            </a:r>
            <a:r>
              <a:rPr lang="en-US" altLang="zh-CN" sz="2800" b="1" dirty="0" smtClean="0">
                <a:solidFill>
                  <a:srgbClr val="FF0000"/>
                </a:solidFill>
              </a:rPr>
              <a:t>Q</a:t>
            </a:r>
            <a:endParaRPr lang="zh-CN" altLang="en-US" sz="2800" b="1" dirty="0">
              <a:solidFill>
                <a:srgbClr val="FF0000"/>
              </a:solidFill>
            </a:endParaRPr>
          </a:p>
        </p:txBody>
      </p:sp>
      <p:sp>
        <p:nvSpPr>
          <p:cNvPr id="10" name="文本框 9"/>
          <p:cNvSpPr txBox="1"/>
          <p:nvPr/>
        </p:nvSpPr>
        <p:spPr>
          <a:xfrm>
            <a:off x="4499992" y="2276872"/>
            <a:ext cx="4578497" cy="1384995"/>
          </a:xfrm>
          <a:prstGeom prst="rect">
            <a:avLst/>
          </a:prstGeom>
          <a:noFill/>
        </p:spPr>
        <p:txBody>
          <a:bodyPr wrap="none" rtlCol="0">
            <a:spAutoFit/>
          </a:bodyPr>
          <a:lstStyle/>
          <a:p>
            <a:pPr marL="285750" indent="-285750">
              <a:buClr>
                <a:srgbClr val="0000CC"/>
              </a:buClr>
              <a:buFont typeface="Wingdings" pitchFamily="2" charset="2"/>
              <a:buChar char="p"/>
            </a:pPr>
            <a:r>
              <a:rPr lang="zh-CN" altLang="en-US" sz="2800" b="1" dirty="0" smtClean="0"/>
              <a:t> </a:t>
            </a:r>
            <a:r>
              <a:rPr lang="zh-CN" altLang="en-US" sz="2800" b="1" dirty="0" smtClean="0">
                <a:solidFill>
                  <a:srgbClr val="0000CC"/>
                </a:solidFill>
              </a:rPr>
              <a:t>输入信号作用后的状态</a:t>
            </a:r>
            <a:r>
              <a:rPr lang="zh-CN" altLang="en-US" sz="2800" b="1" dirty="0" smtClean="0"/>
              <a:t>，</a:t>
            </a:r>
            <a:endParaRPr lang="en-US" altLang="zh-CN" sz="2800" b="1" dirty="0" smtClean="0"/>
          </a:p>
          <a:p>
            <a:pPr>
              <a:buClr>
                <a:srgbClr val="0000CC"/>
              </a:buClr>
            </a:pPr>
            <a:r>
              <a:rPr lang="zh-CN" altLang="en-US" sz="2800" b="1" dirty="0" smtClean="0"/>
              <a:t>    记作 </a:t>
            </a:r>
            <a:r>
              <a:rPr lang="en-US" altLang="zh-CN" sz="2800" b="1" dirty="0" smtClean="0">
                <a:solidFill>
                  <a:srgbClr val="FF0000"/>
                </a:solidFill>
              </a:rPr>
              <a:t>Q</a:t>
            </a:r>
            <a:r>
              <a:rPr lang="en-US" altLang="zh-CN" sz="2800" b="1" baseline="30000" dirty="0" smtClean="0">
                <a:solidFill>
                  <a:srgbClr val="FF0000"/>
                </a:solidFill>
              </a:rPr>
              <a:t>n+1</a:t>
            </a:r>
          </a:p>
          <a:p>
            <a:pPr>
              <a:buClr>
                <a:srgbClr val="0000CC"/>
              </a:buClr>
            </a:pPr>
            <a:r>
              <a:rPr lang="zh-CN" altLang="en-US" sz="2800" b="1" dirty="0" smtClean="0"/>
              <a:t>    </a:t>
            </a:r>
            <a:r>
              <a:rPr lang="zh-CN" altLang="en-US" sz="2800" b="1" dirty="0" smtClean="0">
                <a:solidFill>
                  <a:srgbClr val="FF0000"/>
                </a:solidFill>
              </a:rPr>
              <a:t>次态</a:t>
            </a:r>
            <a:r>
              <a:rPr lang="zh-CN" altLang="en-US" sz="2800" b="1" dirty="0" smtClean="0"/>
              <a:t>是</a:t>
            </a:r>
            <a:r>
              <a:rPr lang="zh-CN" altLang="en-US" sz="2800" b="1" dirty="0" smtClean="0">
                <a:solidFill>
                  <a:srgbClr val="0000CC"/>
                </a:solidFill>
              </a:rPr>
              <a:t>现态和输入的函数</a:t>
            </a:r>
            <a:endParaRPr lang="zh-CN" altLang="en-US" sz="2800" b="1" dirty="0">
              <a:solidFill>
                <a:srgbClr val="0000CC"/>
              </a:solidFill>
            </a:endParaRPr>
          </a:p>
        </p:txBody>
      </p:sp>
      <p:sp>
        <p:nvSpPr>
          <p:cNvPr id="11" name="标题 1"/>
          <p:cNvSpPr txBox="1">
            <a:spLocks/>
          </p:cNvSpPr>
          <p:nvPr/>
        </p:nvSpPr>
        <p:spPr bwMode="auto">
          <a:xfrm>
            <a:off x="1043608" y="332656"/>
            <a:ext cx="7016824" cy="63894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3600" b="1" i="0" u="none" strike="noStrike" kern="0" cap="none" spc="0" normalizeH="0" baseline="0" noProof="0" dirty="0" smtClean="0">
                <a:ln>
                  <a:noFill/>
                </a:ln>
                <a:solidFill>
                  <a:schemeClr val="tx2"/>
                </a:solidFill>
                <a:effectLst/>
                <a:uLnTx/>
                <a:uFillTx/>
                <a:latin typeface="+mj-lt"/>
                <a:ea typeface="+mj-ea"/>
                <a:cs typeface="+mj-cs"/>
              </a:rPr>
              <a:t>第</a:t>
            </a:r>
            <a:r>
              <a:rPr kumimoji="1" lang="en-US" altLang="zh-CN" sz="3600" b="1" i="0" u="none" strike="noStrike" kern="0" cap="none" spc="0" normalizeH="0" baseline="0" noProof="0" dirty="0" smtClean="0">
                <a:ln>
                  <a:noFill/>
                </a:ln>
                <a:solidFill>
                  <a:schemeClr val="tx2"/>
                </a:solidFill>
                <a:effectLst/>
                <a:uLnTx/>
                <a:uFillTx/>
                <a:latin typeface="+mj-lt"/>
                <a:ea typeface="+mj-ea"/>
                <a:cs typeface="+mj-cs"/>
              </a:rPr>
              <a:t>5</a:t>
            </a:r>
            <a:r>
              <a:rPr kumimoji="1" lang="zh-CN" altLang="en-US" sz="3600" b="1" i="0" u="none" strike="noStrike" kern="0" cap="none" spc="0" normalizeH="0" baseline="0" noProof="0" dirty="0" smtClean="0">
                <a:ln>
                  <a:noFill/>
                </a:ln>
                <a:solidFill>
                  <a:schemeClr val="tx2"/>
                </a:solidFill>
                <a:effectLst/>
                <a:uLnTx/>
                <a:uFillTx/>
                <a:latin typeface="+mj-lt"/>
                <a:ea typeface="+mj-ea"/>
                <a:cs typeface="+mj-cs"/>
              </a:rPr>
              <a:t>章　触发器</a:t>
            </a:r>
            <a:endParaRPr kumimoji="1" lang="zh-CN" altLang="en-US" sz="3600" b="1" i="0" u="none" strike="noStrike" kern="0" cap="none" spc="0" normalizeH="0" baseline="0" noProof="0" dirty="0">
              <a:ln>
                <a:noFill/>
              </a:ln>
              <a:solidFill>
                <a:schemeClr val="tx2"/>
              </a:solidFill>
              <a:effectLst/>
              <a:uLnTx/>
              <a:uFillTx/>
              <a:latin typeface="+mj-lt"/>
              <a:ea typeface="+mj-ea"/>
              <a:cs typeface="+mj-cs"/>
            </a:endParaRPr>
          </a:p>
        </p:txBody>
      </p:sp>
    </p:spTree>
    <p:extLst>
      <p:ext uri="{BB962C8B-B14F-4D97-AF65-F5344CB8AC3E}">
        <p14:creationId xmlns:p14="http://schemas.microsoft.com/office/powerpoint/2010/main" xmlns="" val="371249606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8023" name="Picture 199"/>
          <p:cNvPicPr>
            <a:picLocks noChangeAspect="1" noChangeArrowheads="1"/>
          </p:cNvPicPr>
          <p:nvPr/>
        </p:nvPicPr>
        <p:blipFill>
          <a:blip r:embed="rId2" cstate="print"/>
          <a:srcRect/>
          <a:stretch>
            <a:fillRect/>
          </a:stretch>
        </p:blipFill>
        <p:spPr bwMode="auto">
          <a:xfrm>
            <a:off x="3563888" y="4293096"/>
            <a:ext cx="2952328" cy="2453100"/>
          </a:xfrm>
          <a:prstGeom prst="rect">
            <a:avLst/>
          </a:prstGeom>
          <a:noFill/>
          <a:ln w="9525">
            <a:noFill/>
            <a:miter lim="800000"/>
            <a:headEnd/>
            <a:tailEnd/>
          </a:ln>
        </p:spPr>
      </p:pic>
      <p:sp>
        <p:nvSpPr>
          <p:cNvPr id="2" name="标题 1"/>
          <p:cNvSpPr>
            <a:spLocks noGrp="1"/>
          </p:cNvSpPr>
          <p:nvPr>
            <p:ph type="title"/>
          </p:nvPr>
        </p:nvSpPr>
        <p:spPr>
          <a:xfrm>
            <a:off x="1043608" y="1124744"/>
            <a:ext cx="7848872" cy="566936"/>
          </a:xfrm>
        </p:spPr>
        <p:txBody>
          <a:bodyPr/>
          <a:lstStyle/>
          <a:p>
            <a:r>
              <a:rPr lang="en-US" altLang="zh-CN" dirty="0" smtClean="0"/>
              <a:t>5.1.1 </a:t>
            </a:r>
            <a:r>
              <a:rPr lang="zh-CN" altLang="en-US" dirty="0" smtClean="0"/>
              <a:t>由与非门构成的基本</a:t>
            </a:r>
            <a:r>
              <a:rPr lang="en-US" altLang="zh-CN" dirty="0"/>
              <a:t>RS</a:t>
            </a:r>
            <a:r>
              <a:rPr lang="zh-CN" altLang="en-US" dirty="0"/>
              <a:t>触发器</a:t>
            </a:r>
          </a:p>
        </p:txBody>
      </p:sp>
      <p:sp>
        <p:nvSpPr>
          <p:cNvPr id="13" name="灯片编号占位符 12"/>
          <p:cNvSpPr>
            <a:spLocks noGrp="1"/>
          </p:cNvSpPr>
          <p:nvPr>
            <p:ph type="sldNum" sz="quarter" idx="12"/>
          </p:nvPr>
        </p:nvSpPr>
        <p:spPr/>
        <p:txBody>
          <a:bodyPr/>
          <a:lstStyle/>
          <a:p>
            <a:fld id="{0C913308-F349-4B6D-A68A-DD1791B4A57B}" type="slidenum">
              <a:rPr lang="zh-CN" altLang="en-US" smtClean="0"/>
              <a:pPr/>
              <a:t>6</a:t>
            </a:fld>
            <a:endParaRPr lang="zh-CN" altLang="en-US"/>
          </a:p>
        </p:txBody>
      </p:sp>
      <p:sp>
        <p:nvSpPr>
          <p:cNvPr id="14" name="矩形 13"/>
          <p:cNvSpPr/>
          <p:nvPr/>
        </p:nvSpPr>
        <p:spPr>
          <a:xfrm>
            <a:off x="175250" y="2776377"/>
            <a:ext cx="8820472" cy="1464632"/>
          </a:xfrm>
          <a:prstGeom prst="rect">
            <a:avLst/>
          </a:prstGeom>
          <a:noFill/>
          <a:ln>
            <a:solidFill>
              <a:schemeClr val="tx2"/>
            </a:solidFill>
          </a:ln>
        </p:spPr>
        <p:txBody>
          <a:bodyPr wrap="square">
            <a:spAutoFit/>
          </a:bodyPr>
          <a:lstStyle/>
          <a:p>
            <a:pPr lvl="1">
              <a:lnSpc>
                <a:spcPct val="130000"/>
              </a:lnSpc>
              <a:buClr>
                <a:schemeClr val="tx2">
                  <a:lumMod val="60000"/>
                  <a:lumOff val="40000"/>
                </a:schemeClr>
              </a:buClr>
            </a:pPr>
            <a:r>
              <a:rPr lang="zh-CN" altLang="en-US" sz="2400" b="1" dirty="0">
                <a:solidFill>
                  <a:srgbClr val="0231B6"/>
                </a:solidFill>
                <a:latin typeface="宋体" panose="02010600030101010101" pitchFamily="2" charset="-122"/>
                <a:ea typeface="宋体" panose="02010600030101010101" pitchFamily="2" charset="-122"/>
              </a:rPr>
              <a:t>基本</a:t>
            </a:r>
            <a:r>
              <a:rPr lang="en-US" altLang="zh-CN" sz="2400" b="1" dirty="0">
                <a:solidFill>
                  <a:srgbClr val="0231B6"/>
                </a:solidFill>
                <a:latin typeface="宋体" panose="02010600030101010101" pitchFamily="2" charset="-122"/>
                <a:ea typeface="宋体" panose="02010600030101010101" pitchFamily="2" charset="-122"/>
              </a:rPr>
              <a:t>RS</a:t>
            </a:r>
            <a:r>
              <a:rPr lang="zh-CN" altLang="en-US" sz="2400" b="1" dirty="0">
                <a:solidFill>
                  <a:srgbClr val="0231B6"/>
                </a:solidFill>
                <a:latin typeface="宋体" panose="02010600030101010101" pitchFamily="2" charset="-122"/>
                <a:ea typeface="宋体" panose="02010600030101010101" pitchFamily="2" charset="-122"/>
              </a:rPr>
              <a:t>触发器</a:t>
            </a:r>
            <a:r>
              <a:rPr lang="zh-CN" altLang="en-US" sz="2400" b="1" dirty="0">
                <a:latin typeface="宋体" panose="02010600030101010101" pitchFamily="2" charset="-122"/>
                <a:ea typeface="宋体" panose="02010600030101010101" pitchFamily="2" charset="-122"/>
              </a:rPr>
              <a:t>又</a:t>
            </a:r>
            <a:r>
              <a:rPr lang="zh-CN" altLang="en-US" sz="2400" b="1" dirty="0" smtClean="0">
                <a:latin typeface="宋体" panose="02010600030101010101" pitchFamily="2" charset="-122"/>
                <a:ea typeface="宋体" panose="02010600030101010101" pitchFamily="2" charset="-122"/>
              </a:rPr>
              <a:t>称</a:t>
            </a:r>
            <a:r>
              <a:rPr lang="zh-CN" altLang="en-US" sz="2400" b="1" dirty="0" smtClean="0">
                <a:solidFill>
                  <a:srgbClr val="FF0000"/>
                </a:solidFill>
                <a:latin typeface="宋体" panose="02010600030101010101" pitchFamily="2" charset="-122"/>
                <a:ea typeface="宋体" panose="02010600030101010101" pitchFamily="2" charset="-122"/>
              </a:rPr>
              <a:t>锁存器</a:t>
            </a:r>
            <a:r>
              <a:rPr lang="zh-CN" altLang="en-US" sz="2400" b="1" dirty="0" smtClean="0">
                <a:solidFill>
                  <a:srgbClr val="0231B6"/>
                </a:solidFill>
                <a:latin typeface="宋体" panose="02010600030101010101" pitchFamily="2" charset="-122"/>
                <a:ea typeface="宋体" panose="02010600030101010101" pitchFamily="2" charset="-122"/>
              </a:rPr>
              <a:t>（</a:t>
            </a:r>
            <a:r>
              <a:rPr lang="en-US" altLang="zh-CN" sz="2400" b="1" dirty="0" smtClean="0">
                <a:solidFill>
                  <a:srgbClr val="0231B6"/>
                </a:solidFill>
                <a:latin typeface="宋体" panose="02010600030101010101" pitchFamily="2" charset="-122"/>
                <a:ea typeface="宋体" panose="02010600030101010101" pitchFamily="2" charset="-122"/>
              </a:rPr>
              <a:t>Latch</a:t>
            </a:r>
            <a:r>
              <a:rPr lang="zh-CN" altLang="en-US" sz="2400" b="1" dirty="0" smtClean="0">
                <a:solidFill>
                  <a:srgbClr val="0231B6"/>
                </a:solidFill>
                <a:latin typeface="宋体" panose="02010600030101010101" pitchFamily="2" charset="-122"/>
                <a:ea typeface="宋体" panose="02010600030101010101" pitchFamily="2" charset="-122"/>
              </a:rPr>
              <a:t>）</a:t>
            </a:r>
            <a:r>
              <a:rPr lang="en-US" altLang="zh-CN" sz="2400" b="1" dirty="0" smtClean="0">
                <a:latin typeface="宋体" panose="02010600030101010101" pitchFamily="2" charset="-122"/>
                <a:ea typeface="宋体" panose="02010600030101010101" pitchFamily="2" charset="-122"/>
              </a:rPr>
              <a:t>,</a:t>
            </a:r>
            <a:r>
              <a:rPr lang="zh-CN" altLang="en-US" sz="2400" b="1" dirty="0" smtClean="0">
                <a:latin typeface="宋体" panose="02010600030101010101" pitchFamily="2" charset="-122"/>
                <a:ea typeface="宋体" panose="02010600030101010101" pitchFamily="2" charset="-122"/>
              </a:rPr>
              <a:t>是</a:t>
            </a:r>
            <a:r>
              <a:rPr lang="zh-CN" altLang="en-US" sz="2400" b="1" dirty="0">
                <a:latin typeface="宋体" panose="02010600030101010101" pitchFamily="2" charset="-122"/>
                <a:ea typeface="宋体" panose="02010600030101010101" pitchFamily="2" charset="-122"/>
              </a:rPr>
              <a:t>各种触发器电路中</a:t>
            </a:r>
            <a:r>
              <a:rPr lang="zh-CN" altLang="en-US" sz="2400" b="1" dirty="0">
                <a:solidFill>
                  <a:srgbClr val="C00000"/>
                </a:solidFill>
                <a:latin typeface="宋体" panose="02010600030101010101" pitchFamily="2" charset="-122"/>
                <a:ea typeface="宋体" panose="02010600030101010101" pitchFamily="2" charset="-122"/>
              </a:rPr>
              <a:t>结构形式最简单</a:t>
            </a:r>
            <a:r>
              <a:rPr lang="zh-CN" altLang="en-US" sz="2400" b="1" dirty="0">
                <a:latin typeface="宋体" panose="02010600030101010101" pitchFamily="2" charset="-122"/>
                <a:ea typeface="宋体" panose="02010600030101010101" pitchFamily="2" charset="-122"/>
              </a:rPr>
              <a:t>的一种</a:t>
            </a:r>
            <a:r>
              <a:rPr lang="zh-CN" altLang="en-US" sz="2400" b="1" dirty="0" smtClean="0">
                <a:latin typeface="宋体" panose="02010600030101010101" pitchFamily="2" charset="-122"/>
                <a:ea typeface="宋体" panose="02010600030101010101" pitchFamily="2" charset="-122"/>
              </a:rPr>
              <a:t>，又是</a:t>
            </a:r>
            <a:r>
              <a:rPr lang="zh-CN" altLang="en-US" sz="2400" b="1" dirty="0">
                <a:latin typeface="宋体" panose="02010600030101010101" pitchFamily="2" charset="-122"/>
                <a:ea typeface="宋体" panose="02010600030101010101" pitchFamily="2" charset="-122"/>
              </a:rPr>
              <a:t>许多复杂电路结构触发器的</a:t>
            </a:r>
            <a:r>
              <a:rPr lang="zh-CN" altLang="en-US" sz="2400" b="1" dirty="0">
                <a:solidFill>
                  <a:srgbClr val="C00000"/>
                </a:solidFill>
                <a:latin typeface="宋体" panose="02010600030101010101" pitchFamily="2" charset="-122"/>
                <a:ea typeface="宋体" panose="02010600030101010101" pitchFamily="2" charset="-122"/>
              </a:rPr>
              <a:t>基本组成部分</a:t>
            </a:r>
            <a:r>
              <a:rPr lang="zh-CN" altLang="en-US" sz="2400" b="1" dirty="0">
                <a:latin typeface="宋体" panose="02010600030101010101" pitchFamily="2" charset="-122"/>
                <a:ea typeface="宋体" panose="02010600030101010101" pitchFamily="2" charset="-122"/>
              </a:rPr>
              <a:t>。</a:t>
            </a:r>
          </a:p>
        </p:txBody>
      </p:sp>
      <p:sp>
        <p:nvSpPr>
          <p:cNvPr id="15" name="矩形 14"/>
          <p:cNvSpPr/>
          <p:nvPr/>
        </p:nvSpPr>
        <p:spPr>
          <a:xfrm>
            <a:off x="323528" y="2132856"/>
            <a:ext cx="2154254" cy="461665"/>
          </a:xfrm>
          <a:prstGeom prst="rect">
            <a:avLst/>
          </a:prstGeom>
          <a:solidFill>
            <a:srgbClr val="0341E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anchor="ctr">
            <a:spAutoFit/>
          </a:bodyPr>
          <a:lstStyle/>
          <a:p>
            <a:pPr algn="ctr"/>
            <a:r>
              <a:rPr lang="zh-CN" altLang="en-US" sz="2400" b="1" dirty="0">
                <a:solidFill>
                  <a:schemeClr val="bg1"/>
                </a:solidFill>
                <a:latin typeface="黑体" panose="02010609060101010101" pitchFamily="49" charset="-122"/>
                <a:ea typeface="黑体" panose="02010609060101010101" pitchFamily="49" charset="-122"/>
              </a:rPr>
              <a:t>基本</a:t>
            </a:r>
            <a:r>
              <a:rPr lang="en-US" altLang="zh-CN" sz="2400" b="1" dirty="0">
                <a:solidFill>
                  <a:schemeClr val="bg1"/>
                </a:solidFill>
                <a:latin typeface="黑体" panose="02010609060101010101" pitchFamily="49" charset="-122"/>
                <a:ea typeface="黑体" panose="02010609060101010101" pitchFamily="49" charset="-122"/>
              </a:rPr>
              <a:t>RS</a:t>
            </a:r>
            <a:r>
              <a:rPr lang="zh-CN" altLang="en-US" sz="2400" b="1" dirty="0" smtClean="0">
                <a:solidFill>
                  <a:schemeClr val="bg1"/>
                </a:solidFill>
                <a:latin typeface="黑体" panose="02010609060101010101" pitchFamily="49" charset="-122"/>
                <a:ea typeface="黑体" panose="02010609060101010101" pitchFamily="49" charset="-122"/>
              </a:rPr>
              <a:t>触发器</a:t>
            </a:r>
            <a:endParaRPr lang="zh-CN" altLang="en-US" sz="2400" b="1" dirty="0">
              <a:solidFill>
                <a:schemeClr val="bg1"/>
              </a:solidFill>
              <a:latin typeface="黑体" panose="02010609060101010101" pitchFamily="49" charset="-122"/>
              <a:ea typeface="黑体" panose="02010609060101010101" pitchFamily="49" charset="-122"/>
            </a:endParaRPr>
          </a:p>
        </p:txBody>
      </p:sp>
      <p:sp>
        <p:nvSpPr>
          <p:cNvPr id="16" name="矩形 15"/>
          <p:cNvSpPr/>
          <p:nvPr/>
        </p:nvSpPr>
        <p:spPr>
          <a:xfrm>
            <a:off x="562030" y="4405325"/>
            <a:ext cx="2281778" cy="461665"/>
          </a:xfrm>
          <a:prstGeom prst="rect">
            <a:avLst/>
          </a:prstGeom>
          <a:solidFill>
            <a:srgbClr val="0341E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anchor="ctr">
            <a:spAutoFit/>
          </a:bodyPr>
          <a:lstStyle/>
          <a:p>
            <a:pPr algn="ctr">
              <a:spcBef>
                <a:spcPct val="50000"/>
              </a:spcBef>
            </a:pPr>
            <a:r>
              <a:rPr lang="zh-CN" altLang="en-US" sz="2400" b="1" dirty="0" smtClean="0">
                <a:solidFill>
                  <a:schemeClr val="bg1"/>
                </a:solidFill>
                <a:ea typeface="黑体" panose="02010609060101010101" pitchFamily="49" charset="-122"/>
              </a:rPr>
              <a:t>触发器的演变</a:t>
            </a:r>
            <a:endParaRPr lang="zh-CN" altLang="en-US" sz="2400" b="1" dirty="0">
              <a:solidFill>
                <a:schemeClr val="bg1"/>
              </a:solidFill>
              <a:ea typeface="黑体" panose="02010609060101010101" pitchFamily="49" charset="-122"/>
            </a:endParaRPr>
          </a:p>
        </p:txBody>
      </p:sp>
      <p:sp>
        <p:nvSpPr>
          <p:cNvPr id="17" name="内容占位符 2"/>
          <p:cNvSpPr txBox="1">
            <a:spLocks/>
          </p:cNvSpPr>
          <p:nvPr/>
        </p:nvSpPr>
        <p:spPr>
          <a:xfrm>
            <a:off x="4438861" y="1303390"/>
            <a:ext cx="3418210" cy="4752528"/>
          </a:xfrm>
          <a:prstGeom prst="rect">
            <a:avLst/>
          </a:prstGeom>
        </p:spPr>
        <p:txBody>
          <a:bodyPr/>
          <a:lst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dirty="0"/>
          </a:p>
        </p:txBody>
      </p:sp>
      <p:grpSp>
        <p:nvGrpSpPr>
          <p:cNvPr id="19" name="Group 17"/>
          <p:cNvGrpSpPr>
            <a:grpSpLocks/>
          </p:cNvGrpSpPr>
          <p:nvPr/>
        </p:nvGrpSpPr>
        <p:grpSpPr bwMode="auto">
          <a:xfrm>
            <a:off x="4059893" y="5148639"/>
            <a:ext cx="683647" cy="1279455"/>
            <a:chOff x="1973" y="2069"/>
            <a:chExt cx="544" cy="1180"/>
          </a:xfrm>
        </p:grpSpPr>
        <p:grpSp>
          <p:nvGrpSpPr>
            <p:cNvPr id="20" name="Group 18"/>
            <p:cNvGrpSpPr>
              <a:grpSpLocks/>
            </p:cNvGrpSpPr>
            <p:nvPr/>
          </p:nvGrpSpPr>
          <p:grpSpPr bwMode="auto">
            <a:xfrm>
              <a:off x="2018" y="2069"/>
              <a:ext cx="499" cy="1134"/>
              <a:chOff x="2018" y="2069"/>
              <a:chExt cx="499" cy="1134"/>
            </a:xfrm>
          </p:grpSpPr>
          <p:sp>
            <p:nvSpPr>
              <p:cNvPr id="22" name="Line 19"/>
              <p:cNvSpPr>
                <a:spLocks noChangeShapeType="1"/>
              </p:cNvSpPr>
              <p:nvPr/>
            </p:nvSpPr>
            <p:spPr bwMode="auto">
              <a:xfrm flipV="1">
                <a:off x="2018" y="2069"/>
                <a:ext cx="0" cy="1134"/>
              </a:xfrm>
              <a:prstGeom prst="line">
                <a:avLst/>
              </a:prstGeom>
              <a:noFill/>
              <a:ln w="28575">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23" name="Line 20"/>
              <p:cNvSpPr>
                <a:spLocks noChangeShapeType="1"/>
              </p:cNvSpPr>
              <p:nvPr/>
            </p:nvSpPr>
            <p:spPr bwMode="auto">
              <a:xfrm>
                <a:off x="2018" y="2069"/>
                <a:ext cx="499" cy="0"/>
              </a:xfrm>
              <a:prstGeom prst="line">
                <a:avLst/>
              </a:prstGeom>
              <a:noFill/>
              <a:ln w="28575">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grpSp>
        <p:sp>
          <p:nvSpPr>
            <p:cNvPr id="21" name="Oval 21"/>
            <p:cNvSpPr>
              <a:spLocks noChangeArrowheads="1"/>
            </p:cNvSpPr>
            <p:nvPr/>
          </p:nvSpPr>
          <p:spPr bwMode="auto">
            <a:xfrm>
              <a:off x="1973" y="3158"/>
              <a:ext cx="91" cy="91"/>
            </a:xfrm>
            <a:prstGeom prst="ellipse">
              <a:avLst/>
            </a:prstGeom>
            <a:solidFill>
              <a:srgbClr val="FF0000"/>
            </a:solidFill>
            <a:ln w="9525">
              <a:solidFill>
                <a:srgbClr val="FF0000"/>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grpSp>
      <p:sp>
        <p:nvSpPr>
          <p:cNvPr id="24" name="标题 1"/>
          <p:cNvSpPr txBox="1">
            <a:spLocks/>
          </p:cNvSpPr>
          <p:nvPr/>
        </p:nvSpPr>
        <p:spPr bwMode="auto">
          <a:xfrm>
            <a:off x="1043608" y="332656"/>
            <a:ext cx="7848872" cy="5669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5.1 </a:t>
            </a:r>
            <a:r>
              <a:rPr kumimoji="1" lang="zh-CN" altLang="en-US" sz="3200" b="1" kern="0" dirty="0" smtClean="0">
                <a:solidFill>
                  <a:schemeClr val="tx2"/>
                </a:solidFill>
                <a:latin typeface="+mj-lt"/>
                <a:ea typeface="+mj-ea"/>
                <a:cs typeface="+mj-cs"/>
              </a:rPr>
              <a:t>电平触发的</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触发器</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blinds(horizontal)">
                                      <p:cBhvr>
                                        <p:cTn id="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Text Box 9"/>
          <p:cNvSpPr txBox="1">
            <a:spLocks noChangeArrowheads="1"/>
          </p:cNvSpPr>
          <p:nvPr/>
        </p:nvSpPr>
        <p:spPr bwMode="auto">
          <a:xfrm>
            <a:off x="4788025" y="2204864"/>
            <a:ext cx="4355976" cy="64633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p>
            <a:pPr algn="ctr">
              <a:spcBef>
                <a:spcPct val="50000"/>
              </a:spcBef>
            </a:pPr>
            <a:r>
              <a:rPr lang="zh-CN" altLang="en-US" b="1" dirty="0" smtClean="0">
                <a:latin typeface="楷体_GB2312" pitchFamily="49" charset="-122"/>
                <a:ea typeface="楷体_GB2312" pitchFamily="49" charset="-122"/>
              </a:rPr>
              <a:t>表</a:t>
            </a:r>
            <a:r>
              <a:rPr lang="en-US" altLang="zh-CN" b="1" dirty="0" smtClean="0">
                <a:latin typeface="楷体_GB2312" pitchFamily="49" charset="-122"/>
                <a:ea typeface="楷体_GB2312" pitchFamily="49" charset="-122"/>
              </a:rPr>
              <a:t> </a:t>
            </a:r>
            <a:r>
              <a:rPr lang="en-US" altLang="zh-CN" dirty="0" smtClean="0">
                <a:latin typeface="楷体_GB2312" pitchFamily="49" charset="-122"/>
                <a:ea typeface="楷体_GB2312" pitchFamily="49" charset="-122"/>
              </a:rPr>
              <a:t> </a:t>
            </a:r>
            <a:r>
              <a:rPr lang="zh-CN" altLang="en-US" b="1" dirty="0">
                <a:latin typeface="楷体_GB2312" pitchFamily="49" charset="-122"/>
                <a:ea typeface="楷体_GB2312" pitchFamily="49" charset="-122"/>
              </a:rPr>
              <a:t>与非门构成的基本</a:t>
            </a:r>
            <a:r>
              <a:rPr lang="en-US" altLang="zh-CN" b="1" dirty="0">
                <a:latin typeface="楷体_GB2312" pitchFamily="49" charset="-122"/>
                <a:ea typeface="楷体_GB2312" pitchFamily="49" charset="-122"/>
              </a:rPr>
              <a:t>RS-FF</a:t>
            </a:r>
            <a:r>
              <a:rPr lang="zh-CN" altLang="en-US" b="1" dirty="0">
                <a:latin typeface="楷体_GB2312" pitchFamily="49" charset="-122"/>
                <a:ea typeface="楷体_GB2312" pitchFamily="49" charset="-122"/>
              </a:rPr>
              <a:t>的真值表（特性表）</a:t>
            </a:r>
            <a:r>
              <a:rPr lang="zh-CN" altLang="en-US" dirty="0">
                <a:latin typeface="楷体_GB2312" pitchFamily="49" charset="-122"/>
                <a:ea typeface="楷体_GB2312" pitchFamily="49" charset="-122"/>
              </a:rPr>
              <a:t>  </a:t>
            </a:r>
          </a:p>
        </p:txBody>
      </p:sp>
      <p:graphicFrame>
        <p:nvGraphicFramePr>
          <p:cNvPr id="40" name="Group 304"/>
          <p:cNvGraphicFramePr>
            <a:graphicFrameLocks noGrp="1"/>
          </p:cNvGraphicFramePr>
          <p:nvPr>
            <p:extLst>
              <p:ext uri="{D42A27DB-BD31-4B8C-83A1-F6EECF244321}">
                <p14:modId xmlns:p14="http://schemas.microsoft.com/office/powerpoint/2010/main" xmlns="" val="4210150507"/>
              </p:ext>
            </p:extLst>
          </p:nvPr>
        </p:nvGraphicFramePr>
        <p:xfrm>
          <a:off x="5254565" y="3132553"/>
          <a:ext cx="3671887" cy="3568383"/>
        </p:xfrm>
        <a:graphic>
          <a:graphicData uri="http://schemas.openxmlformats.org/drawingml/2006/table">
            <a:tbl>
              <a:tblPr/>
              <a:tblGrid>
                <a:gridCol w="1368425">
                  <a:extLst>
                    <a:ext uri="{9D8B030D-6E8A-4147-A177-3AD203B41FA5}">
                      <a16:colId xmlns:a16="http://schemas.microsoft.com/office/drawing/2014/main" xmlns="" val="20000"/>
                    </a:ext>
                  </a:extLst>
                </a:gridCol>
                <a:gridCol w="792162">
                  <a:extLst>
                    <a:ext uri="{9D8B030D-6E8A-4147-A177-3AD203B41FA5}">
                      <a16:colId xmlns:a16="http://schemas.microsoft.com/office/drawing/2014/main" xmlns="" val="20001"/>
                    </a:ext>
                  </a:extLst>
                </a:gridCol>
                <a:gridCol w="720725">
                  <a:extLst>
                    <a:ext uri="{9D8B030D-6E8A-4147-A177-3AD203B41FA5}">
                      <a16:colId xmlns:a16="http://schemas.microsoft.com/office/drawing/2014/main" xmlns="" val="20002"/>
                    </a:ext>
                  </a:extLst>
                </a:gridCol>
                <a:gridCol w="790575">
                  <a:extLst>
                    <a:ext uri="{9D8B030D-6E8A-4147-A177-3AD203B41FA5}">
                      <a16:colId xmlns:a16="http://schemas.microsoft.com/office/drawing/2014/main" xmlns="" val="20003"/>
                    </a:ext>
                  </a:extLst>
                </a:gridCol>
              </a:tblGrid>
              <a:tr h="323850">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20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功能</a:t>
                      </a:r>
                    </a:p>
                  </a:txBody>
                  <a:tcPr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0"/>
                  </a:ext>
                </a:extLst>
              </a:tr>
              <a:tr h="323850">
                <a:tc rowSpan="2">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   1       1  </a:t>
                      </a:r>
                    </a:p>
                  </a:txBody>
                  <a:tcPr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en-US"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r h="323850">
                <a:tc vMerge="1">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en-US"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en-US"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zh-CN"/>
                    </a:p>
                  </a:txBody>
                  <a:tcPr/>
                </a:tc>
                <a:extLst>
                  <a:ext uri="{0D108BD9-81ED-4DB2-BD59-A6C34878D82A}">
                    <a16:rowId xmlns:a16="http://schemas.microsoft.com/office/drawing/2014/main" xmlns="" val="10002"/>
                  </a:ext>
                </a:extLst>
              </a:tr>
              <a:tr h="323850">
                <a:tc rowSpan="2">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   0       1</a:t>
                      </a:r>
                    </a:p>
                  </a:txBody>
                  <a:tcPr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en-US" altLang="zh-CN"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3"/>
                  </a:ext>
                </a:extLst>
              </a:tr>
              <a:tr h="322263">
                <a:tc vMerge="1">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en-US"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en-US" altLang="zh-CN"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zh-CN"/>
                    </a:p>
                  </a:txBody>
                  <a:tcPr/>
                </a:tc>
                <a:extLst>
                  <a:ext uri="{0D108BD9-81ED-4DB2-BD59-A6C34878D82A}">
                    <a16:rowId xmlns:a16="http://schemas.microsoft.com/office/drawing/2014/main" xmlns="" val="10004"/>
                  </a:ext>
                </a:extLst>
              </a:tr>
              <a:tr h="398463">
                <a:tc rowSpan="2">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   1       0</a:t>
                      </a:r>
                    </a:p>
                  </a:txBody>
                  <a:tcPr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en-US"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5"/>
                  </a:ext>
                </a:extLst>
              </a:tr>
              <a:tr h="323850">
                <a:tc vMerge="1">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en-US"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en-US"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zh-CN"/>
                    </a:p>
                  </a:txBody>
                  <a:tcPr/>
                </a:tc>
                <a:extLst>
                  <a:ext uri="{0D108BD9-81ED-4DB2-BD59-A6C34878D82A}">
                    <a16:rowId xmlns:a16="http://schemas.microsoft.com/office/drawing/2014/main" xmlns="" val="10006"/>
                  </a:ext>
                </a:extLst>
              </a:tr>
              <a:tr h="323850">
                <a:tc rowSpan="2">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   0       0</a:t>
                      </a: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en-US"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7"/>
                  </a:ext>
                </a:extLst>
              </a:tr>
              <a:tr h="323850">
                <a:tc vMerge="1">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en-US"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en-US"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zh-CN"/>
                    </a:p>
                  </a:txBody>
                  <a:tcPr/>
                </a:tc>
                <a:extLst>
                  <a:ext uri="{0D108BD9-81ED-4DB2-BD59-A6C34878D82A}">
                    <a16:rowId xmlns:a16="http://schemas.microsoft.com/office/drawing/2014/main" xmlns="" val="10008"/>
                  </a:ext>
                </a:extLst>
              </a:tr>
            </a:tbl>
          </a:graphicData>
        </a:graphic>
      </p:graphicFrame>
      <p:graphicFrame>
        <p:nvGraphicFramePr>
          <p:cNvPr id="43" name="Object 307"/>
          <p:cNvGraphicFramePr>
            <a:graphicFrameLocks noChangeAspect="1"/>
          </p:cNvGraphicFramePr>
          <p:nvPr>
            <p:extLst>
              <p:ext uri="{D42A27DB-BD31-4B8C-83A1-F6EECF244321}">
                <p14:modId xmlns:p14="http://schemas.microsoft.com/office/powerpoint/2010/main" xmlns="" val="1339873208"/>
              </p:ext>
            </p:extLst>
          </p:nvPr>
        </p:nvGraphicFramePr>
        <p:xfrm>
          <a:off x="6910327" y="3132553"/>
          <a:ext cx="365125" cy="387350"/>
        </p:xfrm>
        <a:graphic>
          <a:graphicData uri="http://schemas.openxmlformats.org/presentationml/2006/ole">
            <p:oleObj spid="_x0000_s79624" name="公式" r:id="rId3" imgW="215806" imgH="228501" progId="">
              <p:embed/>
            </p:oleObj>
          </a:graphicData>
        </a:graphic>
      </p:graphicFrame>
      <p:graphicFrame>
        <p:nvGraphicFramePr>
          <p:cNvPr id="44" name="Object 308"/>
          <p:cNvGraphicFramePr>
            <a:graphicFrameLocks noChangeAspect="1"/>
          </p:cNvGraphicFramePr>
          <p:nvPr>
            <p:extLst>
              <p:ext uri="{D42A27DB-BD31-4B8C-83A1-F6EECF244321}">
                <p14:modId xmlns:p14="http://schemas.microsoft.com/office/powerpoint/2010/main" xmlns="" val="793530257"/>
              </p:ext>
            </p:extLst>
          </p:nvPr>
        </p:nvGraphicFramePr>
        <p:xfrm>
          <a:off x="7558027" y="3132553"/>
          <a:ext cx="515938" cy="387350"/>
        </p:xfrm>
        <a:graphic>
          <a:graphicData uri="http://schemas.openxmlformats.org/presentationml/2006/ole">
            <p:oleObj spid="_x0000_s79625" name="公式" r:id="rId4" imgW="304668" imgH="228501" progId="">
              <p:embed/>
            </p:oleObj>
          </a:graphicData>
        </a:graphic>
      </p:graphicFrame>
      <p:sp>
        <p:nvSpPr>
          <p:cNvPr id="46" name="矩形 45"/>
          <p:cNvSpPr/>
          <p:nvPr/>
        </p:nvSpPr>
        <p:spPr>
          <a:xfrm>
            <a:off x="683568" y="6093296"/>
            <a:ext cx="3972562" cy="369332"/>
          </a:xfrm>
          <a:prstGeom prst="rect">
            <a:avLst/>
          </a:prstGeom>
        </p:spPr>
        <p:txBody>
          <a:bodyPr wrap="none">
            <a:spAutoFit/>
          </a:bodyPr>
          <a:lstStyle/>
          <a:p>
            <a:r>
              <a:rPr lang="zh-CN" altLang="en-US" b="1" dirty="0" smtClean="0">
                <a:latin typeface="楷体_GB2312" pitchFamily="49" charset="-122"/>
                <a:ea typeface="楷体_GB2312" pitchFamily="49" charset="-122"/>
              </a:rPr>
              <a:t>图 与非门</a:t>
            </a:r>
            <a:r>
              <a:rPr lang="zh-CN" altLang="en-US" b="1" dirty="0">
                <a:latin typeface="楷体_GB2312" pitchFamily="49" charset="-122"/>
                <a:ea typeface="楷体_GB2312" pitchFamily="49" charset="-122"/>
              </a:rPr>
              <a:t>构成的基本</a:t>
            </a:r>
            <a:r>
              <a:rPr lang="en-US" altLang="zh-CN" b="1" dirty="0">
                <a:latin typeface="楷体_GB2312" pitchFamily="49" charset="-122"/>
                <a:ea typeface="楷体_GB2312" pitchFamily="49" charset="-122"/>
              </a:rPr>
              <a:t>RS-FF</a:t>
            </a:r>
            <a:r>
              <a:rPr lang="zh-CN" altLang="en-US" b="1" dirty="0">
                <a:latin typeface="楷体_GB2312" pitchFamily="49" charset="-122"/>
                <a:ea typeface="楷体_GB2312" pitchFamily="49" charset="-122"/>
              </a:rPr>
              <a:t>的逻辑图</a:t>
            </a:r>
            <a:r>
              <a:rPr lang="zh-CN" altLang="en-US" dirty="0"/>
              <a:t> </a:t>
            </a:r>
          </a:p>
        </p:txBody>
      </p:sp>
      <p:sp>
        <p:nvSpPr>
          <p:cNvPr id="47" name="矩形 46"/>
          <p:cNvSpPr/>
          <p:nvPr/>
        </p:nvSpPr>
        <p:spPr>
          <a:xfrm>
            <a:off x="386476" y="2037363"/>
            <a:ext cx="4315604" cy="400110"/>
          </a:xfrm>
          <a:prstGeom prst="rect">
            <a:avLst/>
          </a:prstGeom>
          <a:solidFill>
            <a:srgbClr val="0341E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nchor="ctr">
            <a:spAutoFit/>
          </a:bodyPr>
          <a:lstStyle/>
          <a:p>
            <a:pPr algn="ctr"/>
            <a:r>
              <a:rPr lang="zh-CN" altLang="en-US" sz="2000" b="1" dirty="0">
                <a:solidFill>
                  <a:schemeClr val="bg1"/>
                </a:solidFill>
                <a:latin typeface="黑体" panose="02010609060101010101" pitchFamily="49" charset="-122"/>
                <a:ea typeface="黑体" panose="02010609060101010101" pitchFamily="49" charset="-122"/>
              </a:rPr>
              <a:t>与非门构成的基本</a:t>
            </a:r>
            <a:r>
              <a:rPr lang="en-US" altLang="zh-CN" sz="2000" b="1" dirty="0" smtClean="0">
                <a:solidFill>
                  <a:schemeClr val="bg1"/>
                </a:solidFill>
                <a:latin typeface="黑体" panose="02010609060101010101" pitchFamily="49" charset="-122"/>
                <a:ea typeface="黑体" panose="02010609060101010101" pitchFamily="49" charset="-122"/>
              </a:rPr>
              <a:t>RS</a:t>
            </a:r>
            <a:r>
              <a:rPr lang="zh-CN" altLang="en-US" sz="2000" b="1" dirty="0" smtClean="0">
                <a:solidFill>
                  <a:schemeClr val="bg1"/>
                </a:solidFill>
                <a:latin typeface="黑体" panose="02010609060101010101" pitchFamily="49" charset="-122"/>
                <a:ea typeface="黑体" panose="02010609060101010101" pitchFamily="49" charset="-122"/>
              </a:rPr>
              <a:t>锁存器工作原理</a:t>
            </a:r>
            <a:endParaRPr lang="zh-CN" altLang="en-US" sz="2000" b="1" dirty="0">
              <a:solidFill>
                <a:schemeClr val="bg1"/>
              </a:solidFill>
              <a:latin typeface="黑体" panose="02010609060101010101" pitchFamily="49" charset="-122"/>
              <a:ea typeface="黑体" panose="02010609060101010101" pitchFamily="49" charset="-122"/>
            </a:endParaRPr>
          </a:p>
        </p:txBody>
      </p:sp>
      <p:sp>
        <p:nvSpPr>
          <p:cNvPr id="14" name="标题 1"/>
          <p:cNvSpPr>
            <a:spLocks noGrp="1"/>
          </p:cNvSpPr>
          <p:nvPr>
            <p:ph type="title"/>
          </p:nvPr>
        </p:nvSpPr>
        <p:spPr>
          <a:xfrm>
            <a:off x="1043608" y="1124744"/>
            <a:ext cx="7704856" cy="566936"/>
          </a:xfrm>
        </p:spPr>
        <p:txBody>
          <a:bodyPr/>
          <a:lstStyle/>
          <a:p>
            <a:r>
              <a:rPr lang="en-US" altLang="zh-CN" dirty="0" smtClean="0"/>
              <a:t>5.1.1 </a:t>
            </a:r>
            <a:r>
              <a:rPr lang="zh-CN" altLang="en-US" dirty="0" smtClean="0"/>
              <a:t>由与非门构成的基本</a:t>
            </a:r>
            <a:r>
              <a:rPr lang="en-US" altLang="zh-CN" dirty="0"/>
              <a:t>RS</a:t>
            </a:r>
            <a:r>
              <a:rPr lang="zh-CN" altLang="en-US" dirty="0"/>
              <a:t>触发器</a:t>
            </a:r>
          </a:p>
        </p:txBody>
      </p:sp>
      <p:sp>
        <p:nvSpPr>
          <p:cNvPr id="15" name="标题 1"/>
          <p:cNvSpPr txBox="1">
            <a:spLocks/>
          </p:cNvSpPr>
          <p:nvPr/>
        </p:nvSpPr>
        <p:spPr bwMode="auto">
          <a:xfrm>
            <a:off x="1043608" y="332656"/>
            <a:ext cx="7704856" cy="5669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5.1 </a:t>
            </a:r>
            <a:r>
              <a:rPr kumimoji="1" lang="zh-CN" altLang="en-US" sz="3200" b="1" kern="0" dirty="0" smtClean="0">
                <a:solidFill>
                  <a:schemeClr val="tx2"/>
                </a:solidFill>
                <a:latin typeface="+mj-lt"/>
                <a:ea typeface="+mj-ea"/>
                <a:cs typeface="+mj-cs"/>
              </a:rPr>
              <a:t>电平触发的</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触发器</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pic>
        <p:nvPicPr>
          <p:cNvPr id="79626" name="Picture 778"/>
          <p:cNvPicPr>
            <a:picLocks noChangeAspect="1" noChangeArrowheads="1"/>
          </p:cNvPicPr>
          <p:nvPr/>
        </p:nvPicPr>
        <p:blipFill>
          <a:blip r:embed="rId5" cstate="print"/>
          <a:srcRect/>
          <a:stretch>
            <a:fillRect/>
          </a:stretch>
        </p:blipFill>
        <p:spPr bwMode="auto">
          <a:xfrm>
            <a:off x="1187624" y="2924944"/>
            <a:ext cx="2736304" cy="2958439"/>
          </a:xfrm>
          <a:prstGeom prst="rect">
            <a:avLst/>
          </a:prstGeom>
          <a:noFill/>
          <a:ln w="9525">
            <a:noFill/>
            <a:miter lim="800000"/>
            <a:headEnd/>
            <a:tailEnd/>
          </a:ln>
        </p:spPr>
      </p:pic>
      <p:graphicFrame>
        <p:nvGraphicFramePr>
          <p:cNvPr id="79627" name="Object 779"/>
          <p:cNvGraphicFramePr>
            <a:graphicFrameLocks noChangeAspect="1"/>
          </p:cNvGraphicFramePr>
          <p:nvPr/>
        </p:nvGraphicFramePr>
        <p:xfrm>
          <a:off x="5508104" y="3140968"/>
          <a:ext cx="288925" cy="382588"/>
        </p:xfrm>
        <a:graphic>
          <a:graphicData uri="http://schemas.openxmlformats.org/presentationml/2006/ole">
            <p:oleObj spid="_x0000_s79627" r:id="rId6" imgW="152280" imgH="203040" progId="">
              <p:embed/>
            </p:oleObj>
          </a:graphicData>
        </a:graphic>
      </p:graphicFrame>
      <p:graphicFrame>
        <p:nvGraphicFramePr>
          <p:cNvPr id="79628" name="Object 780"/>
          <p:cNvGraphicFramePr>
            <a:graphicFrameLocks noChangeAspect="1"/>
          </p:cNvGraphicFramePr>
          <p:nvPr/>
        </p:nvGraphicFramePr>
        <p:xfrm>
          <a:off x="6084366" y="3164781"/>
          <a:ext cx="279400" cy="320675"/>
        </p:xfrm>
        <a:graphic>
          <a:graphicData uri="http://schemas.openxmlformats.org/presentationml/2006/ole">
            <p:oleObj spid="_x0000_s79628" r:id="rId7" imgW="164880" imgH="190440" progId="">
              <p:embed/>
            </p:oleObj>
          </a:graphicData>
        </a:graphic>
      </p:graphicFrame>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0882" name="Picture 50"/>
          <p:cNvPicPr>
            <a:picLocks noChangeAspect="1" noChangeArrowheads="1"/>
          </p:cNvPicPr>
          <p:nvPr/>
        </p:nvPicPr>
        <p:blipFill>
          <a:blip r:embed="rId3" cstate="print"/>
          <a:srcRect/>
          <a:stretch>
            <a:fillRect/>
          </a:stretch>
        </p:blipFill>
        <p:spPr bwMode="auto">
          <a:xfrm>
            <a:off x="467544" y="2780928"/>
            <a:ext cx="2581275" cy="2790825"/>
          </a:xfrm>
          <a:prstGeom prst="rect">
            <a:avLst/>
          </a:prstGeom>
          <a:noFill/>
          <a:ln w="9525">
            <a:noFill/>
            <a:miter lim="800000"/>
            <a:headEnd/>
            <a:tailEnd/>
          </a:ln>
        </p:spPr>
      </p:pic>
      <p:sp>
        <p:nvSpPr>
          <p:cNvPr id="3" name="矩形 2"/>
          <p:cNvSpPr/>
          <p:nvPr/>
        </p:nvSpPr>
        <p:spPr>
          <a:xfrm>
            <a:off x="386476" y="2037363"/>
            <a:ext cx="4315604" cy="400110"/>
          </a:xfrm>
          <a:prstGeom prst="rect">
            <a:avLst/>
          </a:prstGeom>
          <a:solidFill>
            <a:srgbClr val="0341E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nchor="ctr">
            <a:spAutoFit/>
          </a:bodyPr>
          <a:lstStyle/>
          <a:p>
            <a:pPr algn="ctr"/>
            <a:r>
              <a:rPr lang="zh-CN" altLang="en-US" sz="2000" b="1" dirty="0">
                <a:solidFill>
                  <a:schemeClr val="bg1"/>
                </a:solidFill>
                <a:latin typeface="黑体" panose="02010609060101010101" pitchFamily="49" charset="-122"/>
                <a:ea typeface="黑体" panose="02010609060101010101" pitchFamily="49" charset="-122"/>
              </a:rPr>
              <a:t>与非门构成的基本</a:t>
            </a:r>
            <a:r>
              <a:rPr lang="en-US" altLang="zh-CN" sz="2000" b="1" dirty="0" smtClean="0">
                <a:solidFill>
                  <a:schemeClr val="bg1"/>
                </a:solidFill>
                <a:latin typeface="黑体" panose="02010609060101010101" pitchFamily="49" charset="-122"/>
                <a:ea typeface="黑体" panose="02010609060101010101" pitchFamily="49" charset="-122"/>
              </a:rPr>
              <a:t>RS</a:t>
            </a:r>
            <a:r>
              <a:rPr lang="zh-CN" altLang="en-US" sz="2000" b="1" dirty="0" smtClean="0">
                <a:solidFill>
                  <a:schemeClr val="bg1"/>
                </a:solidFill>
                <a:latin typeface="黑体" panose="02010609060101010101" pitchFamily="49" charset="-122"/>
                <a:ea typeface="黑体" panose="02010609060101010101" pitchFamily="49" charset="-122"/>
              </a:rPr>
              <a:t>锁存器工作原理</a:t>
            </a:r>
            <a:endParaRPr lang="zh-CN" altLang="en-US" sz="2000" b="1" dirty="0">
              <a:solidFill>
                <a:schemeClr val="bg1"/>
              </a:solidFill>
              <a:latin typeface="黑体" panose="02010609060101010101" pitchFamily="49" charset="-122"/>
              <a:ea typeface="黑体" panose="02010609060101010101" pitchFamily="49" charset="-122"/>
            </a:endParaRPr>
          </a:p>
        </p:txBody>
      </p:sp>
      <p:sp>
        <p:nvSpPr>
          <p:cNvPr id="5" name="Text Box 9"/>
          <p:cNvSpPr txBox="1">
            <a:spLocks noChangeArrowheads="1"/>
          </p:cNvSpPr>
          <p:nvPr/>
        </p:nvSpPr>
        <p:spPr bwMode="auto">
          <a:xfrm>
            <a:off x="4986919" y="2127566"/>
            <a:ext cx="4049577" cy="64633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p>
            <a:pPr algn="ctr">
              <a:spcBef>
                <a:spcPct val="50000"/>
              </a:spcBef>
            </a:pPr>
            <a:r>
              <a:rPr lang="zh-CN" altLang="en-US" b="1" dirty="0" smtClean="0">
                <a:latin typeface="楷体_GB2312" pitchFamily="49" charset="-122"/>
                <a:ea typeface="楷体_GB2312" pitchFamily="49" charset="-122"/>
              </a:rPr>
              <a:t>表</a:t>
            </a:r>
            <a:r>
              <a:rPr lang="en-US" altLang="zh-CN" b="1" dirty="0" smtClean="0">
                <a:latin typeface="楷体_GB2312" pitchFamily="49" charset="-122"/>
                <a:ea typeface="楷体_GB2312" pitchFamily="49" charset="-122"/>
              </a:rPr>
              <a:t> </a:t>
            </a:r>
            <a:r>
              <a:rPr lang="en-US" altLang="zh-CN" dirty="0" smtClean="0">
                <a:latin typeface="楷体_GB2312" pitchFamily="49" charset="-122"/>
                <a:ea typeface="楷体_GB2312" pitchFamily="49" charset="-122"/>
              </a:rPr>
              <a:t> </a:t>
            </a:r>
            <a:r>
              <a:rPr lang="zh-CN" altLang="en-US" b="1" dirty="0" smtClean="0">
                <a:latin typeface="楷体_GB2312" pitchFamily="49" charset="-122"/>
                <a:ea typeface="楷体_GB2312" pitchFamily="49" charset="-122"/>
              </a:rPr>
              <a:t>与非门</a:t>
            </a:r>
            <a:r>
              <a:rPr lang="zh-CN" altLang="en-US" b="1" dirty="0">
                <a:latin typeface="楷体_GB2312" pitchFamily="49" charset="-122"/>
                <a:ea typeface="楷体_GB2312" pitchFamily="49" charset="-122"/>
              </a:rPr>
              <a:t>构成的基本</a:t>
            </a:r>
            <a:r>
              <a:rPr lang="en-US" altLang="zh-CN" b="1" dirty="0">
                <a:latin typeface="楷体_GB2312" pitchFamily="49" charset="-122"/>
                <a:ea typeface="楷体_GB2312" pitchFamily="49" charset="-122"/>
              </a:rPr>
              <a:t>RS-FF</a:t>
            </a:r>
            <a:r>
              <a:rPr lang="zh-CN" altLang="en-US" b="1" dirty="0">
                <a:latin typeface="楷体_GB2312" pitchFamily="49" charset="-122"/>
                <a:ea typeface="楷体_GB2312" pitchFamily="49" charset="-122"/>
              </a:rPr>
              <a:t>的真值表（特性表）</a:t>
            </a:r>
            <a:r>
              <a:rPr lang="zh-CN" altLang="en-US" dirty="0">
                <a:latin typeface="楷体_GB2312" pitchFamily="49" charset="-122"/>
                <a:ea typeface="楷体_GB2312" pitchFamily="49" charset="-122"/>
              </a:rPr>
              <a:t>  </a:t>
            </a:r>
          </a:p>
        </p:txBody>
      </p:sp>
      <p:graphicFrame>
        <p:nvGraphicFramePr>
          <p:cNvPr id="6" name="Group 304"/>
          <p:cNvGraphicFramePr>
            <a:graphicFrameLocks noGrp="1"/>
          </p:cNvGraphicFramePr>
          <p:nvPr>
            <p:extLst>
              <p:ext uri="{D42A27DB-BD31-4B8C-83A1-F6EECF244321}">
                <p14:modId xmlns:p14="http://schemas.microsoft.com/office/powerpoint/2010/main" xmlns="" val="1753830321"/>
              </p:ext>
            </p:extLst>
          </p:nvPr>
        </p:nvGraphicFramePr>
        <p:xfrm>
          <a:off x="5191617" y="2916529"/>
          <a:ext cx="3671887" cy="3568383"/>
        </p:xfrm>
        <a:graphic>
          <a:graphicData uri="http://schemas.openxmlformats.org/drawingml/2006/table">
            <a:tbl>
              <a:tblPr/>
              <a:tblGrid>
                <a:gridCol w="1368425">
                  <a:extLst>
                    <a:ext uri="{9D8B030D-6E8A-4147-A177-3AD203B41FA5}">
                      <a16:colId xmlns:a16="http://schemas.microsoft.com/office/drawing/2014/main" xmlns="" val="20000"/>
                    </a:ext>
                  </a:extLst>
                </a:gridCol>
                <a:gridCol w="792162">
                  <a:extLst>
                    <a:ext uri="{9D8B030D-6E8A-4147-A177-3AD203B41FA5}">
                      <a16:colId xmlns:a16="http://schemas.microsoft.com/office/drawing/2014/main" xmlns="" val="20001"/>
                    </a:ext>
                  </a:extLst>
                </a:gridCol>
                <a:gridCol w="720725">
                  <a:extLst>
                    <a:ext uri="{9D8B030D-6E8A-4147-A177-3AD203B41FA5}">
                      <a16:colId xmlns:a16="http://schemas.microsoft.com/office/drawing/2014/main" xmlns="" val="20002"/>
                    </a:ext>
                  </a:extLst>
                </a:gridCol>
                <a:gridCol w="790575">
                  <a:extLst>
                    <a:ext uri="{9D8B030D-6E8A-4147-A177-3AD203B41FA5}">
                      <a16:colId xmlns:a16="http://schemas.microsoft.com/office/drawing/2014/main" xmlns="" val="20003"/>
                    </a:ext>
                  </a:extLst>
                </a:gridCol>
              </a:tblGrid>
              <a:tr h="323850">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20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功能</a:t>
                      </a:r>
                    </a:p>
                  </a:txBody>
                  <a:tcPr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0"/>
                  </a:ext>
                </a:extLst>
              </a:tr>
              <a:tr h="323850">
                <a:tc rowSpan="2">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   1       1  </a:t>
                      </a:r>
                    </a:p>
                  </a:txBody>
                  <a:tcPr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en-US"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r h="323850">
                <a:tc vMerge="1">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en-US"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en-US"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zh-CN"/>
                    </a:p>
                  </a:txBody>
                  <a:tcPr/>
                </a:tc>
                <a:extLst>
                  <a:ext uri="{0D108BD9-81ED-4DB2-BD59-A6C34878D82A}">
                    <a16:rowId xmlns:a16="http://schemas.microsoft.com/office/drawing/2014/main" xmlns="" val="10002"/>
                  </a:ext>
                </a:extLst>
              </a:tr>
              <a:tr h="323850">
                <a:tc rowSpan="2">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   0       1</a:t>
                      </a:r>
                    </a:p>
                  </a:txBody>
                  <a:tcPr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en-US" altLang="zh-CN"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3"/>
                  </a:ext>
                </a:extLst>
              </a:tr>
              <a:tr h="322263">
                <a:tc vMerge="1">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en-US"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en-US" altLang="zh-CN"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zh-CN"/>
                    </a:p>
                  </a:txBody>
                  <a:tcPr/>
                </a:tc>
                <a:extLst>
                  <a:ext uri="{0D108BD9-81ED-4DB2-BD59-A6C34878D82A}">
                    <a16:rowId xmlns:a16="http://schemas.microsoft.com/office/drawing/2014/main" xmlns="" val="10004"/>
                  </a:ext>
                </a:extLst>
              </a:tr>
              <a:tr h="398463">
                <a:tc rowSpan="2">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   1       0</a:t>
                      </a:r>
                    </a:p>
                  </a:txBody>
                  <a:tcPr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en-US"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5"/>
                  </a:ext>
                </a:extLst>
              </a:tr>
              <a:tr h="323850">
                <a:tc vMerge="1">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en-US"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en-US"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zh-CN"/>
                    </a:p>
                  </a:txBody>
                  <a:tcPr/>
                </a:tc>
                <a:extLst>
                  <a:ext uri="{0D108BD9-81ED-4DB2-BD59-A6C34878D82A}">
                    <a16:rowId xmlns:a16="http://schemas.microsoft.com/office/drawing/2014/main" xmlns="" val="10006"/>
                  </a:ext>
                </a:extLst>
              </a:tr>
              <a:tr h="323850">
                <a:tc rowSpan="2">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   0       0</a:t>
                      </a: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en-US"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7"/>
                  </a:ext>
                </a:extLst>
              </a:tr>
              <a:tr h="323850">
                <a:tc vMerge="1">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en-US"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en-US"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zh-CN"/>
                    </a:p>
                  </a:txBody>
                  <a:tcPr/>
                </a:tc>
                <a:extLst>
                  <a:ext uri="{0D108BD9-81ED-4DB2-BD59-A6C34878D82A}">
                    <a16:rowId xmlns:a16="http://schemas.microsoft.com/office/drawing/2014/main" xmlns="" val="10008"/>
                  </a:ext>
                </a:extLst>
              </a:tr>
            </a:tbl>
          </a:graphicData>
        </a:graphic>
      </p:graphicFrame>
      <p:graphicFrame>
        <p:nvGraphicFramePr>
          <p:cNvPr id="9" name="Object 307"/>
          <p:cNvGraphicFramePr>
            <a:graphicFrameLocks noChangeAspect="1"/>
          </p:cNvGraphicFramePr>
          <p:nvPr>
            <p:extLst>
              <p:ext uri="{D42A27DB-BD31-4B8C-83A1-F6EECF244321}">
                <p14:modId xmlns:p14="http://schemas.microsoft.com/office/powerpoint/2010/main" xmlns="" val="2690276513"/>
              </p:ext>
            </p:extLst>
          </p:nvPr>
        </p:nvGraphicFramePr>
        <p:xfrm>
          <a:off x="6847379" y="2916529"/>
          <a:ext cx="365125" cy="387350"/>
        </p:xfrm>
        <a:graphic>
          <a:graphicData uri="http://schemas.openxmlformats.org/presentationml/2006/ole">
            <p:oleObj spid="_x0000_s120880" name="公式" r:id="rId4" imgW="215806" imgH="228501" progId="">
              <p:embed/>
            </p:oleObj>
          </a:graphicData>
        </a:graphic>
      </p:graphicFrame>
      <p:graphicFrame>
        <p:nvGraphicFramePr>
          <p:cNvPr id="10" name="Object 308"/>
          <p:cNvGraphicFramePr>
            <a:graphicFrameLocks noChangeAspect="1"/>
          </p:cNvGraphicFramePr>
          <p:nvPr>
            <p:extLst>
              <p:ext uri="{D42A27DB-BD31-4B8C-83A1-F6EECF244321}">
                <p14:modId xmlns:p14="http://schemas.microsoft.com/office/powerpoint/2010/main" xmlns="" val="3362021309"/>
              </p:ext>
            </p:extLst>
          </p:nvPr>
        </p:nvGraphicFramePr>
        <p:xfrm>
          <a:off x="7495079" y="2916529"/>
          <a:ext cx="515938" cy="387350"/>
        </p:xfrm>
        <a:graphic>
          <a:graphicData uri="http://schemas.openxmlformats.org/presentationml/2006/ole">
            <p:oleObj spid="_x0000_s120881" name="公式" r:id="rId5" imgW="304668" imgH="228501" progId="">
              <p:embed/>
            </p:oleObj>
          </a:graphicData>
        </a:graphic>
      </p:graphicFrame>
      <p:sp>
        <p:nvSpPr>
          <p:cNvPr id="11" name="Rectangle 347"/>
          <p:cNvSpPr>
            <a:spLocks noChangeArrowheads="1"/>
          </p:cNvSpPr>
          <p:nvPr/>
        </p:nvSpPr>
        <p:spPr bwMode="auto">
          <a:xfrm>
            <a:off x="7495079" y="3322929"/>
            <a:ext cx="325438"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pPr>
              <a:spcBef>
                <a:spcPct val="20000"/>
              </a:spcBef>
            </a:pPr>
            <a:r>
              <a:rPr lang="en-US" altLang="zh-CN" sz="2000" b="1" dirty="0">
                <a:solidFill>
                  <a:srgbClr val="0000CC"/>
                </a:solidFill>
              </a:rPr>
              <a:t>0</a:t>
            </a:r>
          </a:p>
        </p:txBody>
      </p:sp>
      <p:sp>
        <p:nvSpPr>
          <p:cNvPr id="13" name="矩形 12"/>
          <p:cNvSpPr/>
          <p:nvPr/>
        </p:nvSpPr>
        <p:spPr>
          <a:xfrm>
            <a:off x="323528" y="6179364"/>
            <a:ext cx="3972562" cy="369332"/>
          </a:xfrm>
          <a:prstGeom prst="rect">
            <a:avLst/>
          </a:prstGeom>
        </p:spPr>
        <p:txBody>
          <a:bodyPr wrap="none">
            <a:spAutoFit/>
          </a:bodyPr>
          <a:lstStyle/>
          <a:p>
            <a:r>
              <a:rPr lang="zh-CN" altLang="en-US" b="1" dirty="0" smtClean="0">
                <a:latin typeface="楷体_GB2312" pitchFamily="49" charset="-122"/>
                <a:ea typeface="楷体_GB2312" pitchFamily="49" charset="-122"/>
              </a:rPr>
              <a:t>图 与非门</a:t>
            </a:r>
            <a:r>
              <a:rPr lang="zh-CN" altLang="en-US" b="1" dirty="0">
                <a:latin typeface="楷体_GB2312" pitchFamily="49" charset="-122"/>
                <a:ea typeface="楷体_GB2312" pitchFamily="49" charset="-122"/>
              </a:rPr>
              <a:t>构成的基本</a:t>
            </a:r>
            <a:r>
              <a:rPr lang="en-US" altLang="zh-CN" b="1" dirty="0">
                <a:latin typeface="楷体_GB2312" pitchFamily="49" charset="-122"/>
                <a:ea typeface="楷体_GB2312" pitchFamily="49" charset="-122"/>
              </a:rPr>
              <a:t>RS-FF</a:t>
            </a:r>
            <a:r>
              <a:rPr lang="zh-CN" altLang="en-US" b="1" dirty="0">
                <a:latin typeface="楷体_GB2312" pitchFamily="49" charset="-122"/>
                <a:ea typeface="楷体_GB2312" pitchFamily="49" charset="-122"/>
              </a:rPr>
              <a:t>的逻辑图</a:t>
            </a:r>
            <a:r>
              <a:rPr lang="zh-CN" altLang="en-US" dirty="0"/>
              <a:t> </a:t>
            </a:r>
          </a:p>
        </p:txBody>
      </p:sp>
      <p:sp>
        <p:nvSpPr>
          <p:cNvPr id="14" name="文本框 13"/>
          <p:cNvSpPr txBox="1"/>
          <p:nvPr/>
        </p:nvSpPr>
        <p:spPr>
          <a:xfrm>
            <a:off x="833047" y="2673053"/>
            <a:ext cx="312906" cy="369332"/>
          </a:xfrm>
          <a:prstGeom prst="rect">
            <a:avLst/>
          </a:prstGeom>
          <a:noFill/>
        </p:spPr>
        <p:txBody>
          <a:bodyPr wrap="none" rtlCol="0">
            <a:spAutoFit/>
          </a:bodyPr>
          <a:lstStyle/>
          <a:p>
            <a:r>
              <a:rPr lang="en-US" altLang="zh-CN" b="1" dirty="0" smtClean="0">
                <a:solidFill>
                  <a:srgbClr val="C00000"/>
                </a:solidFill>
              </a:rPr>
              <a:t>1</a:t>
            </a:r>
            <a:endParaRPr lang="zh-CN" altLang="en-US" b="1" dirty="0">
              <a:solidFill>
                <a:srgbClr val="C00000"/>
              </a:solidFill>
            </a:endParaRPr>
          </a:p>
        </p:txBody>
      </p:sp>
      <p:sp>
        <p:nvSpPr>
          <p:cNvPr id="15" name="文本框 14"/>
          <p:cNvSpPr txBox="1"/>
          <p:nvPr/>
        </p:nvSpPr>
        <p:spPr>
          <a:xfrm>
            <a:off x="792931" y="4810660"/>
            <a:ext cx="312906" cy="369332"/>
          </a:xfrm>
          <a:prstGeom prst="rect">
            <a:avLst/>
          </a:prstGeom>
          <a:noFill/>
        </p:spPr>
        <p:txBody>
          <a:bodyPr wrap="none" rtlCol="0">
            <a:spAutoFit/>
          </a:bodyPr>
          <a:lstStyle/>
          <a:p>
            <a:r>
              <a:rPr lang="en-US" altLang="zh-CN" b="1" dirty="0" smtClean="0">
                <a:solidFill>
                  <a:srgbClr val="C00000"/>
                </a:solidFill>
              </a:rPr>
              <a:t>1</a:t>
            </a:r>
            <a:endParaRPr lang="zh-CN" altLang="en-US" b="1" dirty="0">
              <a:solidFill>
                <a:srgbClr val="C00000"/>
              </a:solidFill>
            </a:endParaRPr>
          </a:p>
        </p:txBody>
      </p:sp>
      <p:sp>
        <p:nvSpPr>
          <p:cNvPr id="16" name="文本框 15"/>
          <p:cNvSpPr txBox="1"/>
          <p:nvPr/>
        </p:nvSpPr>
        <p:spPr>
          <a:xfrm>
            <a:off x="3062022" y="3042385"/>
            <a:ext cx="312906" cy="369332"/>
          </a:xfrm>
          <a:prstGeom prst="rect">
            <a:avLst/>
          </a:prstGeom>
          <a:noFill/>
        </p:spPr>
        <p:txBody>
          <a:bodyPr wrap="none" rtlCol="0">
            <a:spAutoFit/>
          </a:bodyPr>
          <a:lstStyle/>
          <a:p>
            <a:r>
              <a:rPr lang="en-US" altLang="zh-CN" b="1" dirty="0" smtClean="0">
                <a:solidFill>
                  <a:srgbClr val="0231B6"/>
                </a:solidFill>
              </a:rPr>
              <a:t>0</a:t>
            </a:r>
            <a:endParaRPr lang="zh-CN" altLang="en-US" b="1" dirty="0">
              <a:solidFill>
                <a:srgbClr val="0231B6"/>
              </a:solidFill>
            </a:endParaRPr>
          </a:p>
        </p:txBody>
      </p:sp>
      <p:sp>
        <p:nvSpPr>
          <p:cNvPr id="17" name="文本框 16"/>
          <p:cNvSpPr txBox="1"/>
          <p:nvPr/>
        </p:nvSpPr>
        <p:spPr>
          <a:xfrm>
            <a:off x="3051617" y="4777647"/>
            <a:ext cx="312906" cy="369332"/>
          </a:xfrm>
          <a:prstGeom prst="rect">
            <a:avLst/>
          </a:prstGeom>
          <a:noFill/>
        </p:spPr>
        <p:txBody>
          <a:bodyPr wrap="none" rtlCol="0">
            <a:spAutoFit/>
          </a:bodyPr>
          <a:lstStyle/>
          <a:p>
            <a:r>
              <a:rPr lang="en-US" altLang="zh-CN" b="1" dirty="0" smtClean="0">
                <a:solidFill>
                  <a:srgbClr val="C00000"/>
                </a:solidFill>
              </a:rPr>
              <a:t>1</a:t>
            </a:r>
            <a:endParaRPr lang="zh-CN" altLang="en-US" b="1" dirty="0">
              <a:solidFill>
                <a:srgbClr val="C00000"/>
              </a:solidFill>
            </a:endParaRPr>
          </a:p>
        </p:txBody>
      </p:sp>
      <p:sp>
        <p:nvSpPr>
          <p:cNvPr id="18" name="文本框 17"/>
          <p:cNvSpPr txBox="1"/>
          <p:nvPr/>
        </p:nvSpPr>
        <p:spPr>
          <a:xfrm>
            <a:off x="2937694" y="3038369"/>
            <a:ext cx="312906" cy="369332"/>
          </a:xfrm>
          <a:prstGeom prst="rect">
            <a:avLst/>
          </a:prstGeom>
          <a:noFill/>
        </p:spPr>
        <p:txBody>
          <a:bodyPr wrap="none" rtlCol="0">
            <a:spAutoFit/>
          </a:bodyPr>
          <a:lstStyle/>
          <a:p>
            <a:r>
              <a:rPr lang="en-US" altLang="zh-CN" b="1" dirty="0" smtClean="0">
                <a:solidFill>
                  <a:srgbClr val="0231B6"/>
                </a:solidFill>
              </a:rPr>
              <a:t>0</a:t>
            </a:r>
            <a:endParaRPr lang="zh-CN" altLang="en-US" b="1" dirty="0">
              <a:solidFill>
                <a:srgbClr val="0231B6"/>
              </a:solidFill>
            </a:endParaRPr>
          </a:p>
        </p:txBody>
      </p:sp>
      <p:sp>
        <p:nvSpPr>
          <p:cNvPr id="19" name="文本框 18"/>
          <p:cNvSpPr txBox="1"/>
          <p:nvPr/>
        </p:nvSpPr>
        <p:spPr>
          <a:xfrm>
            <a:off x="2457274" y="4571538"/>
            <a:ext cx="312906" cy="369332"/>
          </a:xfrm>
          <a:prstGeom prst="rect">
            <a:avLst/>
          </a:prstGeom>
          <a:noFill/>
        </p:spPr>
        <p:txBody>
          <a:bodyPr wrap="none" rtlCol="0">
            <a:spAutoFit/>
          </a:bodyPr>
          <a:lstStyle/>
          <a:p>
            <a:r>
              <a:rPr lang="en-US" altLang="zh-CN" b="1" dirty="0" smtClean="0">
                <a:solidFill>
                  <a:srgbClr val="C00000"/>
                </a:solidFill>
              </a:rPr>
              <a:t>1</a:t>
            </a:r>
            <a:endParaRPr lang="zh-CN" altLang="en-US" b="1" dirty="0">
              <a:solidFill>
                <a:srgbClr val="C00000"/>
              </a:solidFill>
            </a:endParaRPr>
          </a:p>
        </p:txBody>
      </p:sp>
      <p:sp>
        <p:nvSpPr>
          <p:cNvPr id="20" name="文本框 19"/>
          <p:cNvSpPr txBox="1"/>
          <p:nvPr/>
        </p:nvSpPr>
        <p:spPr>
          <a:xfrm>
            <a:off x="1862931" y="4625994"/>
            <a:ext cx="312906" cy="369332"/>
          </a:xfrm>
          <a:prstGeom prst="rect">
            <a:avLst/>
          </a:prstGeom>
          <a:noFill/>
        </p:spPr>
        <p:txBody>
          <a:bodyPr wrap="none" rtlCol="0">
            <a:spAutoFit/>
          </a:bodyPr>
          <a:lstStyle/>
          <a:p>
            <a:r>
              <a:rPr lang="en-US" altLang="zh-CN" b="1" dirty="0" smtClean="0">
                <a:solidFill>
                  <a:srgbClr val="C00000"/>
                </a:solidFill>
              </a:rPr>
              <a:t>1</a:t>
            </a:r>
            <a:endParaRPr lang="zh-CN" altLang="en-US" b="1" dirty="0">
              <a:solidFill>
                <a:srgbClr val="C00000"/>
              </a:solidFill>
            </a:endParaRPr>
          </a:p>
        </p:txBody>
      </p:sp>
      <p:sp>
        <p:nvSpPr>
          <p:cNvPr id="21" name="文本框 20"/>
          <p:cNvSpPr txBox="1"/>
          <p:nvPr/>
        </p:nvSpPr>
        <p:spPr>
          <a:xfrm>
            <a:off x="1885027" y="2934547"/>
            <a:ext cx="312906" cy="369332"/>
          </a:xfrm>
          <a:prstGeom prst="rect">
            <a:avLst/>
          </a:prstGeom>
          <a:noFill/>
        </p:spPr>
        <p:txBody>
          <a:bodyPr wrap="none" rtlCol="0">
            <a:spAutoFit/>
          </a:bodyPr>
          <a:lstStyle/>
          <a:p>
            <a:r>
              <a:rPr lang="en-US" altLang="zh-CN" b="1" dirty="0" smtClean="0">
                <a:solidFill>
                  <a:srgbClr val="0231B6"/>
                </a:solidFill>
              </a:rPr>
              <a:t>0</a:t>
            </a:r>
            <a:endParaRPr lang="zh-CN" altLang="en-US" b="1" dirty="0">
              <a:solidFill>
                <a:srgbClr val="0231B6"/>
              </a:solidFill>
            </a:endParaRPr>
          </a:p>
        </p:txBody>
      </p:sp>
      <p:sp>
        <p:nvSpPr>
          <p:cNvPr id="22" name="Rectangle 347"/>
          <p:cNvSpPr>
            <a:spLocks noChangeArrowheads="1"/>
          </p:cNvSpPr>
          <p:nvPr/>
        </p:nvSpPr>
        <p:spPr bwMode="auto">
          <a:xfrm>
            <a:off x="6801341" y="3303879"/>
            <a:ext cx="328936"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pPr>
              <a:spcBef>
                <a:spcPct val="20000"/>
              </a:spcBef>
            </a:pPr>
            <a:r>
              <a:rPr lang="en-US" altLang="zh-CN" sz="2000" b="1" dirty="0"/>
              <a:t>0</a:t>
            </a:r>
          </a:p>
        </p:txBody>
      </p:sp>
      <p:sp>
        <p:nvSpPr>
          <p:cNvPr id="24" name="标题 1"/>
          <p:cNvSpPr>
            <a:spLocks noGrp="1"/>
          </p:cNvSpPr>
          <p:nvPr>
            <p:ph type="title"/>
          </p:nvPr>
        </p:nvSpPr>
        <p:spPr>
          <a:xfrm>
            <a:off x="1043608" y="1124744"/>
            <a:ext cx="7704856" cy="566936"/>
          </a:xfrm>
        </p:spPr>
        <p:txBody>
          <a:bodyPr/>
          <a:lstStyle/>
          <a:p>
            <a:r>
              <a:rPr lang="en-US" altLang="zh-CN" dirty="0" smtClean="0"/>
              <a:t>5.1.1 </a:t>
            </a:r>
            <a:r>
              <a:rPr lang="zh-CN" altLang="en-US" dirty="0" smtClean="0"/>
              <a:t>由与非门构成的基本</a:t>
            </a:r>
            <a:r>
              <a:rPr lang="en-US" altLang="zh-CN" dirty="0"/>
              <a:t>RS</a:t>
            </a:r>
            <a:r>
              <a:rPr lang="zh-CN" altLang="en-US" dirty="0"/>
              <a:t>触发器</a:t>
            </a:r>
          </a:p>
        </p:txBody>
      </p:sp>
      <p:sp>
        <p:nvSpPr>
          <p:cNvPr id="25" name="标题 1"/>
          <p:cNvSpPr txBox="1">
            <a:spLocks/>
          </p:cNvSpPr>
          <p:nvPr/>
        </p:nvSpPr>
        <p:spPr bwMode="auto">
          <a:xfrm>
            <a:off x="1043608" y="332656"/>
            <a:ext cx="7704856" cy="5669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5.1 </a:t>
            </a:r>
            <a:r>
              <a:rPr kumimoji="1" lang="zh-CN" altLang="en-US" sz="3200" b="1" kern="0" dirty="0" smtClean="0">
                <a:solidFill>
                  <a:schemeClr val="tx2"/>
                </a:solidFill>
                <a:latin typeface="+mj-lt"/>
                <a:ea typeface="+mj-ea"/>
                <a:cs typeface="+mj-cs"/>
              </a:rPr>
              <a:t>电平触发的</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触发器</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graphicFrame>
        <p:nvGraphicFramePr>
          <p:cNvPr id="120883" name="Object 51"/>
          <p:cNvGraphicFramePr>
            <a:graphicFrameLocks noChangeAspect="1"/>
          </p:cNvGraphicFramePr>
          <p:nvPr/>
        </p:nvGraphicFramePr>
        <p:xfrm>
          <a:off x="5436096" y="2924944"/>
          <a:ext cx="288925" cy="382588"/>
        </p:xfrm>
        <a:graphic>
          <a:graphicData uri="http://schemas.openxmlformats.org/presentationml/2006/ole">
            <p:oleObj spid="_x0000_s120883" r:id="rId6" imgW="152280" imgH="203040" progId="">
              <p:embed/>
            </p:oleObj>
          </a:graphicData>
        </a:graphic>
      </p:graphicFrame>
      <p:graphicFrame>
        <p:nvGraphicFramePr>
          <p:cNvPr id="120884" name="Object 52"/>
          <p:cNvGraphicFramePr>
            <a:graphicFrameLocks noChangeAspect="1"/>
          </p:cNvGraphicFramePr>
          <p:nvPr/>
        </p:nvGraphicFramePr>
        <p:xfrm>
          <a:off x="6012358" y="2948757"/>
          <a:ext cx="279400" cy="320675"/>
        </p:xfrm>
        <a:graphic>
          <a:graphicData uri="http://schemas.openxmlformats.org/presentationml/2006/ole">
            <p:oleObj spid="_x0000_s120884" r:id="rId7" imgW="164880" imgH="190440" progId="">
              <p:embed/>
            </p:oleObj>
          </a:graphicData>
        </a:graphic>
      </p:graphicFrame>
    </p:spTree>
    <p:extLst>
      <p:ext uri="{BB962C8B-B14F-4D97-AF65-F5344CB8AC3E}">
        <p14:creationId xmlns:p14="http://schemas.microsoft.com/office/powerpoint/2010/main" xmlns="" val="33191663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par>
                                <p:cTn id="23" presetID="0" presetClass="path" presetSubtype="0" accel="50000" decel="50000" fill="hold" grpId="1" nodeType="withEffect">
                                  <p:stCondLst>
                                    <p:cond delay="0"/>
                                  </p:stCondLst>
                                  <p:childTnLst>
                                    <p:animMotion origin="layout" path="M -0.01893 2.59259E-6 L -0.01893 0.00023 C -0.02778 0.00023 -0.03663 -0.00255 -0.04531 0.00069 C -0.04705 0.00139 -0.04514 0.00694 -0.04479 0.00972 C -0.04462 0.01157 -0.0441 0.01296 -0.04393 0.01481 L -0.04358 0.01967 C -0.04358 0.0206 -0.04236 0.0706 -0.04358 0.07523 C -0.0441 0.07824 -0.04705 0.07592 -0.04896 0.07615 L -0.05313 0.07847 C -0.05452 0.0794 -0.05486 0.0794 -0.05643 0.08102 C -0.05729 0.08194 -0.05799 0.08379 -0.05903 0.08426 L -0.06181 0.08588 C -0.06337 0.09004 -0.06198 0.08727 -0.06424 0.08912 C -0.06684 0.09166 -0.06424 0.09028 -0.06736 0.09259 C -0.06788 0.09282 -0.06858 0.09305 -0.06927 0.09328 C -0.06962 0.09352 -0.07014 0.09375 -0.07049 0.09421 C -0.07118 0.0949 -0.0717 0.09606 -0.0724 0.09653 C -0.07327 0.09722 -0.07431 0.09699 -0.07518 0.09745 C -0.0757 0.09768 -0.07639 0.09791 -0.07709 0.09815 C -0.07743 0.09884 -0.07795 0.0993 -0.0783 0.09977 C -0.07882 0.10023 -0.07934 0.10023 -0.07986 0.10069 C -0.08038 0.10115 -0.08108 0.10162 -0.0816 0.10231 C -0.08212 0.10278 -0.08247 0.1037 -0.08299 0.10393 C -0.0842 0.10463 -0.08559 0.10509 -0.08663 0.10555 L -0.08854 0.10648 C -0.08906 0.10694 -0.08941 0.10764 -0.08993 0.1081 C -0.09028 0.10833 -0.0908 0.10833 -0.09132 0.10879 C -0.09254 0.11041 -0.09375 0.11227 -0.09497 0.11365 C -0.09549 0.11435 -0.09584 0.11504 -0.09636 0.11551 C -0.09722 0.1162 -0.09913 0.11713 -0.09913 0.11736 C -0.10347 0.12477 -0.09653 0.11319 -0.1033 0.12106 C -0.10382 0.12176 -0.10417 0.12222 -0.10469 0.12268 C -0.10504 0.12315 -0.10556 0.12338 -0.10608 0.12361 C -0.10677 0.12407 -0.10747 0.12477 -0.10834 0.12523 C -0.11042 0.12639 -0.11233 0.12685 -0.11424 0.12778 C -0.12101 0.13565 -0.11389 0.12754 -0.11893 0.13264 C -0.11945 0.1331 -0.11979 0.13379 -0.12031 0.13426 C -0.12101 0.13472 -0.12292 0.13565 -0.12361 0.13588 C -0.12743 0.14051 -0.12257 0.13495 -0.12622 0.13842 C -0.12674 0.13865 -0.12726 0.13958 -0.12761 0.14004 C -0.12813 0.14028 -0.13056 0.14213 -0.13143 0.14236 C -0.13212 0.14282 -0.13299 0.14305 -0.13351 0.14328 C -0.1342 0.14375 -0.1349 0.14421 -0.13559 0.1449 C -0.13611 0.1456 -0.13663 0.14676 -0.13733 0.14722 C -0.13785 0.14791 -0.14011 0.14884 -0.14045 0.14907 C -0.14097 0.14953 -0.14132 0.15023 -0.14184 0.15069 C -0.14288 0.15139 -0.14393 0.15139 -0.14462 0.15231 C -0.14948 0.15787 -0.14202 0.1493 -0.14792 0.15555 C -0.14983 0.1574 -0.1507 0.15926 -0.15243 0.16041 C -0.15313 0.16088 -0.15382 0.16088 -0.15434 0.16134 C -0.15903 0.16782 -0.15434 0.16227 -0.15903 0.16528 C -0.15955 0.16574 -0.15972 0.16666 -0.16024 0.1669 C -0.16094 0.16736 -0.16163 0.16759 -0.16233 0.16782 C -0.16372 0.17592 -0.1625 0.16898 -0.16233 0.18819 C -0.16111 0.24004 -0.16736 0.2162 -0.12118 0.2162 L -0.11945 0.2162 L -0.1217 0.21435 L -0.12205 0.21528 L -0.12205 0.21551 L -0.12118 0.2162 L -0.12118 0.21643 L -0.12118 0.21528 L -0.12257 0.21528 L -0.12257 0.21551 " pathEditMode="relative" rAng="0" ptsTypes="AAAAAAAAAAAAAAAAAAAAAAAAAAAAAAAAAAAAAAAAAAAAAAAAAAAAAAAAAAAAAAAA">
                                      <p:cBhvr>
                                        <p:cTn id="24" dur="1000" fill="hold"/>
                                        <p:tgtEl>
                                          <p:spTgt spid="18"/>
                                        </p:tgtEl>
                                        <p:attrNameLst>
                                          <p:attrName>ppt_x</p:attrName>
                                          <p:attrName>ppt_y</p:attrName>
                                        </p:attrNameLst>
                                      </p:cBhvr>
                                      <p:rCtr x="-7205" y="11019"/>
                                    </p:animMotion>
                                  </p:childTnLst>
                                </p:cTn>
                              </p:par>
                              <p:par>
                                <p:cTn id="25" presetID="0" presetClass="path" presetSubtype="0" accel="25000" decel="25000" fill="hold" grpId="1" nodeType="withEffect">
                                  <p:stCondLst>
                                    <p:cond delay="0"/>
                                  </p:stCondLst>
                                  <p:childTnLst>
                                    <p:animMotion origin="layout" path="M 5.55556E-7 -7.40741E-7 L 5.55556E-7 0.00023 C 0.00121 0.00023 0.00278 0.0007 0.00399 0.00093 C 0.01823 0.00255 0.03229 0.00208 0.04635 0.00093 C 0.0467 0.00093 0.04635 -0.00023 0.04635 -0.00069 " pathEditMode="relative" rAng="0" ptsTypes="AAAAA">
                                      <p:cBhvr>
                                        <p:cTn id="26" dur="1000" fill="hold"/>
                                        <p:tgtEl>
                                          <p:spTgt spid="15"/>
                                        </p:tgtEl>
                                        <p:attrNameLst>
                                          <p:attrName>ppt_x</p:attrName>
                                          <p:attrName>ppt_y</p:attrName>
                                        </p:attrNameLst>
                                      </p:cBhvr>
                                      <p:rCtr x="2309" y="46"/>
                                    </p:animMotion>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1" nodeType="click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par>
                                <p:cTn id="31" presetID="0" presetClass="path" presetSubtype="0" accel="50000" decel="50000" fill="hold" grpId="0" nodeType="withEffect">
                                  <p:stCondLst>
                                    <p:cond delay="0"/>
                                  </p:stCondLst>
                                  <p:childTnLst>
                                    <p:animMotion origin="layout" path="M -3.33333E-6 1.11111E-6 L 0.04827 1.11111E-6 " pathEditMode="relative" rAng="0" ptsTypes="AA">
                                      <p:cBhvr>
                                        <p:cTn id="32" dur="1000" fill="hold"/>
                                        <p:tgtEl>
                                          <p:spTgt spid="20"/>
                                        </p:tgtEl>
                                        <p:attrNameLst>
                                          <p:attrName>ppt_x</p:attrName>
                                          <p:attrName>ppt_y</p:attrName>
                                        </p:attrNameLst>
                                      </p:cBhvr>
                                      <p:rCtr x="2413" y="0"/>
                                    </p:animMotion>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1" nodeType="clickEffect">
                                  <p:stCondLst>
                                    <p:cond delay="0"/>
                                  </p:stCondLst>
                                  <p:childTnLst>
                                    <p:set>
                                      <p:cBhvr>
                                        <p:cTn id="36" dur="1" fill="hold">
                                          <p:stCondLst>
                                            <p:cond delay="0"/>
                                          </p:stCondLst>
                                        </p:cTn>
                                        <p:tgtEl>
                                          <p:spTgt spid="19"/>
                                        </p:tgtEl>
                                        <p:attrNameLst>
                                          <p:attrName>style.visibility</p:attrName>
                                        </p:attrNameLst>
                                      </p:cBhvr>
                                      <p:to>
                                        <p:strVal val="visible"/>
                                      </p:to>
                                    </p:set>
                                  </p:childTnLst>
                                </p:cTn>
                              </p:par>
                              <p:par>
                                <p:cTn id="37" presetID="0" presetClass="path" presetSubtype="0" accel="50000" decel="50000" fill="hold" grpId="0" nodeType="withEffect">
                                  <p:stCondLst>
                                    <p:cond delay="0"/>
                                  </p:stCondLst>
                                  <p:childTnLst>
                                    <p:animMotion origin="layout" path="M -3.88889E-6 1.48148E-6 L -3.88889E-6 0.00023 C -0.00034 -0.00255 -0.00069 -0.00509 -0.00104 -0.00741 C -0.00138 -0.01204 -0.00243 -0.0213 -0.00243 -0.02107 C -0.00225 -0.02685 -0.00225 -0.03241 -0.00191 -0.03773 C -0.00191 -0.03935 -0.00034 -0.04514 -3.88889E-6 -0.04676 C -0.00191 -0.04815 -0.0026 -0.04838 -0.00416 -0.05 C -0.00746 -0.05324 -0.00538 -0.05185 -0.00798 -0.05324 C -0.00816 -0.0544 -0.00816 -0.05579 -0.00885 -0.05671 C -0.00972 -0.05764 -0.01163 -0.05833 -0.01163 -0.0581 C -0.0125 -0.05926 -0.01319 -0.06065 -0.01441 -0.06158 C -0.01493 -0.06204 -0.01562 -0.0625 -0.01614 -0.0632 C -0.01701 -0.06412 -0.01805 -0.06551 -0.01892 -0.06644 C -0.01944 -0.0669 -0.02013 -0.06736 -0.02066 -0.06806 C -0.02326 -0.0706 -0.021 -0.06898 -0.02361 -0.0706 C -0.02413 -0.0713 -0.02482 -0.07222 -0.02534 -0.07292 C -0.0276 -0.07546 -0.02656 -0.07384 -0.02864 -0.07546 C -0.02916 -0.07593 -0.02986 -0.07639 -0.03055 -0.07708 C -0.0309 -0.07755 -0.03125 -0.07824 -0.03177 -0.07871 C -0.03263 -0.0794 -0.03368 -0.07963 -0.03454 -0.08033 C -0.03524 -0.08079 -0.03576 -0.08148 -0.03645 -0.08195 C -0.03715 -0.08241 -0.03784 -0.08241 -0.03871 -0.08287 C -0.03941 -0.0831 -0.03993 -0.08333 -0.04045 -0.08357 C -0.04392 -0.08773 -0.03958 -0.08287 -0.04375 -0.08611 C -0.04427 -0.08658 -0.04461 -0.08727 -0.04513 -0.08773 C -0.04635 -0.08889 -0.04774 -0.08958 -0.04878 -0.09097 C -0.05069 -0.09306 -0.04982 -0.09236 -0.05156 -0.09352 C -0.05191 -0.09375 -0.05434 -0.09699 -0.05486 -0.09746 C -0.05573 -0.09815 -0.05659 -0.09861 -0.05746 -0.09908 C -0.05816 -0.1 -0.05868 -0.10093 -0.05937 -0.10162 C -0.06163 -0.10417 -0.06076 -0.10255 -0.06267 -0.10417 C -0.06319 -0.10463 -0.06371 -0.10533 -0.06441 -0.10579 C -0.06545 -0.10625 -0.06632 -0.10671 -0.06718 -0.10741 L -0.06857 -0.1081 C -0.06892 -0.10833 -0.06944 -0.10857 -0.06996 -0.10903 L -0.07378 -0.11227 C -0.0743 -0.11273 -0.07482 -0.11343 -0.07552 -0.11389 L -0.07829 -0.11551 C -0.07882 -0.11574 -0.07934 -0.11597 -0.07968 -0.11644 C -0.08142 -0.11852 -0.08055 -0.11783 -0.08281 -0.11875 C -0.08333 -0.11968 -0.08368 -0.1206 -0.0842 -0.1213 C -0.08541 -0.12269 -0.08767 -0.12384 -0.08871 -0.12454 C -0.08941 -0.12477 -0.08993 -0.125 -0.09027 -0.12546 C -0.09097 -0.12593 -0.09149 -0.12639 -0.09201 -0.12708 C -0.09253 -0.12755 -0.09305 -0.12824 -0.09357 -0.12871 C -0.09965 -0.13333 -0.09184 -0.12639 -0.0967 -0.13033 C -0.10434 -0.13658 -0.09774 -0.13125 -0.10173 -0.13519 C -0.10243 -0.13588 -0.10295 -0.13634 -0.10347 -0.13681 C -0.10399 -0.13727 -0.10451 -0.13727 -0.10503 -0.13773 C -0.1085 -0.14074 -0.10434 -0.13796 -0.10763 -0.14005 C -0.10816 -0.14074 -0.10868 -0.14144 -0.1092 -0.14167 C -0.11111 -0.14306 -0.11232 -0.1419 -0.11423 -0.14421 L -0.11701 -0.14746 C -0.11805 -0.15371 -0.11701 -0.14769 -0.11788 -0.16065 C -0.11805 -0.16528 -0.1184 -0.16505 -0.11875 -0.16968 C -0.11892 -0.17176 -0.11892 -0.17384 -0.11909 -0.17616 C -0.11892 -0.1794 -0.11892 -0.18264 -0.11875 -0.18588 C -0.11857 -0.18681 -0.11857 -0.18773 -0.11823 -0.18843 C -0.11753 -0.18982 -0.11649 -0.19028 -0.11545 -0.19074 C -0.10868 -0.19051 -0.10208 -0.19074 -0.09531 -0.19005 C -0.0934 -0.18982 -0.09166 -0.18889 -0.08975 -0.18843 C -0.08767 -0.18796 -0.08576 -0.18796 -0.08368 -0.1875 C -0.08159 -0.18634 -0.08211 -0.18634 -0.07916 -0.1875 C -0.07899 -0.18773 -0.07899 -0.1882 -0.07882 -0.18843 " pathEditMode="relative" rAng="0" ptsTypes="AAAAAAAAAAAAAAAAAAAAAAAAAAAAAAAAAAAAAAAAAAAAAAAAAAAAAAAAAAAAAAAA">
                                      <p:cBhvr>
                                        <p:cTn id="38" dur="1000" fill="hold"/>
                                        <p:tgtEl>
                                          <p:spTgt spid="19"/>
                                        </p:tgtEl>
                                        <p:attrNameLst>
                                          <p:attrName>ppt_x</p:attrName>
                                          <p:attrName>ppt_y</p:attrName>
                                        </p:attrNameLst>
                                      </p:cBhvr>
                                      <p:rCtr x="-5955" y="-9537"/>
                                    </p:animMotion>
                                  </p:childTnLst>
                                </p:cTn>
                              </p:par>
                              <p:par>
                                <p:cTn id="39" presetID="0" presetClass="path" presetSubtype="0" accel="50000" decel="50000" fill="hold" grpId="1" nodeType="withEffect">
                                  <p:stCondLst>
                                    <p:cond delay="0"/>
                                  </p:stCondLst>
                                  <p:childTnLst>
                                    <p:animMotion origin="layout" path="M 2.77778E-7 3.33333E-6 L 2.77778E-7 0.00023 C 0.01858 0.00092 0.01858 0.00139 0.03941 3.33333E-6 C 0.03993 -0.00023 0.04045 -0.00093 0.0408 -0.00093 C 0.04149 -0.00116 0.04201 -0.00093 0.04271 -0.00093 " pathEditMode="relative" rAng="0" ptsTypes="AAAAA">
                                      <p:cBhvr>
                                        <p:cTn id="40" dur="1000" fill="hold"/>
                                        <p:tgtEl>
                                          <p:spTgt spid="14"/>
                                        </p:tgtEl>
                                        <p:attrNameLst>
                                          <p:attrName>ppt_x</p:attrName>
                                          <p:attrName>ppt_y</p:attrName>
                                        </p:attrNameLst>
                                      </p:cBhvr>
                                      <p:rCtr x="2135" y="-23"/>
                                    </p:animMotion>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1"/>
                                        </p:tgtEl>
                                        <p:attrNameLst>
                                          <p:attrName>style.visibility</p:attrName>
                                        </p:attrNameLst>
                                      </p:cBhvr>
                                      <p:to>
                                        <p:strVal val="visible"/>
                                      </p:to>
                                    </p:set>
                                  </p:childTnLst>
                                </p:cTn>
                              </p:par>
                              <p:par>
                                <p:cTn id="45" presetID="0" presetClass="path" presetSubtype="0" accel="50000" decel="50000" fill="hold" grpId="1" nodeType="withEffect">
                                  <p:stCondLst>
                                    <p:cond delay="0"/>
                                  </p:stCondLst>
                                  <p:childTnLst>
                                    <p:animMotion origin="layout" path="M -3.88889E-6 -1.11111E-6 L -3.88889E-6 0.00023 C 0.00157 -0.00023 0.0033 -0.00023 0.00504 -0.00069 C 0.00608 -0.00092 0.00677 -0.00139 0.00782 -0.00139 C 0.01233 -0.00185 0.01667 -0.00185 0.02118 -0.00208 L 0.04271 -0.00139 C 0.04966 -0.00116 0.04809 -0.00162 0.05191 -1.11111E-6 L 0.06389 -0.00069 C 0.06997 -0.00116 0.06615 -0.00208 0.07049 -0.00069 C 0.06754 0.00093 0.06962 -1.11111E-6 0.06389 -1.11111E-6 " pathEditMode="relative" rAng="0" ptsTypes="AAAAAAAAAA">
                                      <p:cBhvr>
                                        <p:cTn id="46" dur="1000" fill="hold"/>
                                        <p:tgtEl>
                                          <p:spTgt spid="21"/>
                                        </p:tgtEl>
                                        <p:attrNameLst>
                                          <p:attrName>ppt_x</p:attrName>
                                          <p:attrName>ppt_y</p:attrName>
                                        </p:attrNameLst>
                                      </p:cBhvr>
                                      <p:rCtr x="3524" y="-93"/>
                                    </p:animMotion>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4" grpId="0"/>
      <p:bldP spid="14" grpId="1"/>
      <p:bldP spid="15" grpId="0"/>
      <p:bldP spid="15" grpId="1"/>
      <p:bldP spid="16" grpId="0"/>
      <p:bldP spid="17" grpId="0"/>
      <p:bldP spid="18" grpId="0"/>
      <p:bldP spid="18" grpId="1"/>
      <p:bldP spid="19" grpId="0"/>
      <p:bldP spid="19" grpId="1"/>
      <p:bldP spid="20" grpId="0"/>
      <p:bldP spid="20" grpId="1"/>
      <p:bldP spid="21" grpId="0"/>
      <p:bldP spid="21" grpId="1"/>
      <p:bldP spid="2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1898" name="Picture 42"/>
          <p:cNvPicPr>
            <a:picLocks noChangeAspect="1" noChangeArrowheads="1"/>
          </p:cNvPicPr>
          <p:nvPr/>
        </p:nvPicPr>
        <p:blipFill>
          <a:blip r:embed="rId3" cstate="print"/>
          <a:srcRect/>
          <a:stretch>
            <a:fillRect/>
          </a:stretch>
        </p:blipFill>
        <p:spPr bwMode="auto">
          <a:xfrm>
            <a:off x="467544" y="2708920"/>
            <a:ext cx="2581275" cy="2790825"/>
          </a:xfrm>
          <a:prstGeom prst="rect">
            <a:avLst/>
          </a:prstGeom>
          <a:noFill/>
          <a:ln w="9525">
            <a:noFill/>
            <a:miter lim="800000"/>
            <a:headEnd/>
            <a:tailEnd/>
          </a:ln>
        </p:spPr>
      </p:pic>
      <p:sp>
        <p:nvSpPr>
          <p:cNvPr id="3" name="矩形 2"/>
          <p:cNvSpPr/>
          <p:nvPr/>
        </p:nvSpPr>
        <p:spPr>
          <a:xfrm>
            <a:off x="386476" y="2037363"/>
            <a:ext cx="4315604" cy="400110"/>
          </a:xfrm>
          <a:prstGeom prst="rect">
            <a:avLst/>
          </a:prstGeom>
          <a:solidFill>
            <a:srgbClr val="0341E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nchor="ctr">
            <a:spAutoFit/>
          </a:bodyPr>
          <a:lstStyle/>
          <a:p>
            <a:pPr algn="ctr"/>
            <a:r>
              <a:rPr lang="zh-CN" altLang="en-US" sz="2000" b="1" dirty="0">
                <a:solidFill>
                  <a:schemeClr val="bg1"/>
                </a:solidFill>
                <a:latin typeface="黑体" panose="02010609060101010101" pitchFamily="49" charset="-122"/>
                <a:ea typeface="黑体" panose="02010609060101010101" pitchFamily="49" charset="-122"/>
              </a:rPr>
              <a:t>与非门构成的基本</a:t>
            </a:r>
            <a:r>
              <a:rPr lang="en-US" altLang="zh-CN" sz="2000" b="1" dirty="0" smtClean="0">
                <a:solidFill>
                  <a:schemeClr val="bg1"/>
                </a:solidFill>
                <a:latin typeface="黑体" panose="02010609060101010101" pitchFamily="49" charset="-122"/>
                <a:ea typeface="黑体" panose="02010609060101010101" pitchFamily="49" charset="-122"/>
              </a:rPr>
              <a:t>RS</a:t>
            </a:r>
            <a:r>
              <a:rPr lang="zh-CN" altLang="en-US" sz="2000" b="1" dirty="0" smtClean="0">
                <a:solidFill>
                  <a:schemeClr val="bg1"/>
                </a:solidFill>
                <a:latin typeface="黑体" panose="02010609060101010101" pitchFamily="49" charset="-122"/>
                <a:ea typeface="黑体" panose="02010609060101010101" pitchFamily="49" charset="-122"/>
              </a:rPr>
              <a:t>锁存器工作原理</a:t>
            </a:r>
            <a:endParaRPr lang="zh-CN" altLang="en-US" sz="2000" b="1" dirty="0">
              <a:solidFill>
                <a:schemeClr val="bg1"/>
              </a:solidFill>
              <a:latin typeface="黑体" panose="02010609060101010101" pitchFamily="49" charset="-122"/>
              <a:ea typeface="黑体" panose="02010609060101010101" pitchFamily="49" charset="-122"/>
            </a:endParaRPr>
          </a:p>
        </p:txBody>
      </p:sp>
      <p:sp>
        <p:nvSpPr>
          <p:cNvPr id="5" name="Text Box 9"/>
          <p:cNvSpPr txBox="1">
            <a:spLocks noChangeArrowheads="1"/>
          </p:cNvSpPr>
          <p:nvPr/>
        </p:nvSpPr>
        <p:spPr bwMode="auto">
          <a:xfrm>
            <a:off x="4986919" y="2127566"/>
            <a:ext cx="4049577" cy="64633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p>
            <a:pPr algn="ctr">
              <a:spcBef>
                <a:spcPct val="50000"/>
              </a:spcBef>
            </a:pPr>
            <a:r>
              <a:rPr lang="zh-CN" altLang="en-US" b="1" dirty="0" smtClean="0">
                <a:latin typeface="楷体_GB2312" pitchFamily="49" charset="-122"/>
                <a:ea typeface="楷体_GB2312" pitchFamily="49" charset="-122"/>
              </a:rPr>
              <a:t>表</a:t>
            </a:r>
            <a:r>
              <a:rPr lang="en-US" altLang="zh-CN" b="1" dirty="0" smtClean="0">
                <a:latin typeface="楷体_GB2312" pitchFamily="49" charset="-122"/>
                <a:ea typeface="楷体_GB2312" pitchFamily="49" charset="-122"/>
              </a:rPr>
              <a:t> </a:t>
            </a:r>
            <a:r>
              <a:rPr lang="en-US" altLang="zh-CN" dirty="0" smtClean="0">
                <a:latin typeface="楷体_GB2312" pitchFamily="49" charset="-122"/>
                <a:ea typeface="楷体_GB2312" pitchFamily="49" charset="-122"/>
              </a:rPr>
              <a:t> </a:t>
            </a:r>
            <a:r>
              <a:rPr lang="zh-CN" altLang="en-US" b="1" dirty="0" smtClean="0">
                <a:latin typeface="楷体_GB2312" pitchFamily="49" charset="-122"/>
                <a:ea typeface="楷体_GB2312" pitchFamily="49" charset="-122"/>
              </a:rPr>
              <a:t>与非门</a:t>
            </a:r>
            <a:r>
              <a:rPr lang="zh-CN" altLang="en-US" b="1" dirty="0">
                <a:latin typeface="楷体_GB2312" pitchFamily="49" charset="-122"/>
                <a:ea typeface="楷体_GB2312" pitchFamily="49" charset="-122"/>
              </a:rPr>
              <a:t>构成的基本</a:t>
            </a:r>
            <a:r>
              <a:rPr lang="en-US" altLang="zh-CN" b="1" dirty="0">
                <a:latin typeface="楷体_GB2312" pitchFamily="49" charset="-122"/>
                <a:ea typeface="楷体_GB2312" pitchFamily="49" charset="-122"/>
              </a:rPr>
              <a:t>RS-FF</a:t>
            </a:r>
            <a:r>
              <a:rPr lang="zh-CN" altLang="en-US" b="1" dirty="0">
                <a:latin typeface="楷体_GB2312" pitchFamily="49" charset="-122"/>
                <a:ea typeface="楷体_GB2312" pitchFamily="49" charset="-122"/>
              </a:rPr>
              <a:t>的真值表（特性表）</a:t>
            </a:r>
            <a:r>
              <a:rPr lang="zh-CN" altLang="en-US" dirty="0">
                <a:latin typeface="楷体_GB2312" pitchFamily="49" charset="-122"/>
                <a:ea typeface="楷体_GB2312" pitchFamily="49" charset="-122"/>
              </a:rPr>
              <a:t>  </a:t>
            </a:r>
          </a:p>
        </p:txBody>
      </p:sp>
      <p:graphicFrame>
        <p:nvGraphicFramePr>
          <p:cNvPr id="6" name="Group 304"/>
          <p:cNvGraphicFramePr>
            <a:graphicFrameLocks noGrp="1"/>
          </p:cNvGraphicFramePr>
          <p:nvPr>
            <p:extLst>
              <p:ext uri="{D42A27DB-BD31-4B8C-83A1-F6EECF244321}">
                <p14:modId xmlns:p14="http://schemas.microsoft.com/office/powerpoint/2010/main" xmlns="" val="998864538"/>
              </p:ext>
            </p:extLst>
          </p:nvPr>
        </p:nvGraphicFramePr>
        <p:xfrm>
          <a:off x="5191617" y="2916529"/>
          <a:ext cx="3671887" cy="3568383"/>
        </p:xfrm>
        <a:graphic>
          <a:graphicData uri="http://schemas.openxmlformats.org/drawingml/2006/table">
            <a:tbl>
              <a:tblPr/>
              <a:tblGrid>
                <a:gridCol w="1368425">
                  <a:extLst>
                    <a:ext uri="{9D8B030D-6E8A-4147-A177-3AD203B41FA5}">
                      <a16:colId xmlns:a16="http://schemas.microsoft.com/office/drawing/2014/main" xmlns="" val="20000"/>
                    </a:ext>
                  </a:extLst>
                </a:gridCol>
                <a:gridCol w="792162">
                  <a:extLst>
                    <a:ext uri="{9D8B030D-6E8A-4147-A177-3AD203B41FA5}">
                      <a16:colId xmlns:a16="http://schemas.microsoft.com/office/drawing/2014/main" xmlns="" val="20001"/>
                    </a:ext>
                  </a:extLst>
                </a:gridCol>
                <a:gridCol w="720725">
                  <a:extLst>
                    <a:ext uri="{9D8B030D-6E8A-4147-A177-3AD203B41FA5}">
                      <a16:colId xmlns:a16="http://schemas.microsoft.com/office/drawing/2014/main" xmlns="" val="20002"/>
                    </a:ext>
                  </a:extLst>
                </a:gridCol>
                <a:gridCol w="790575">
                  <a:extLst>
                    <a:ext uri="{9D8B030D-6E8A-4147-A177-3AD203B41FA5}">
                      <a16:colId xmlns:a16="http://schemas.microsoft.com/office/drawing/2014/main" xmlns="" val="20003"/>
                    </a:ext>
                  </a:extLst>
                </a:gridCol>
              </a:tblGrid>
              <a:tr h="323850">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20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功能</a:t>
                      </a:r>
                    </a:p>
                  </a:txBody>
                  <a:tcPr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0"/>
                  </a:ext>
                </a:extLst>
              </a:tr>
              <a:tr h="323850">
                <a:tc rowSpan="2">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   1       1  </a:t>
                      </a:r>
                    </a:p>
                  </a:txBody>
                  <a:tcPr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dirty="0" smtClean="0">
                          <a:ln>
                            <a:noFill/>
                          </a:ln>
                          <a:solidFill>
                            <a:srgbClr val="0000CC"/>
                          </a:solidFill>
                          <a:effectLst/>
                          <a:latin typeface="Arial" panose="020B0604020202020204" pitchFamily="34" charset="0"/>
                          <a:ea typeface="宋体" panose="02010600030101010101" pitchFamily="2" charset="-122"/>
                        </a:rPr>
                        <a:t>0</a:t>
                      </a:r>
                      <a:endParaRPr kumimoji="0" lang="zh-CN" altLang="zh-CN" sz="2000" b="1" i="0" u="none" strike="noStrike" cap="none" normalizeH="0" baseline="0" dirty="0" smtClean="0">
                        <a:ln>
                          <a:noFill/>
                        </a:ln>
                        <a:solidFill>
                          <a:srgbClr val="0000CC"/>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r h="323850">
                <a:tc vMerge="1">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en-US"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en-US"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zh-CN"/>
                    </a:p>
                  </a:txBody>
                  <a:tcPr/>
                </a:tc>
                <a:extLst>
                  <a:ext uri="{0D108BD9-81ED-4DB2-BD59-A6C34878D82A}">
                    <a16:rowId xmlns:a16="http://schemas.microsoft.com/office/drawing/2014/main" xmlns="" val="10002"/>
                  </a:ext>
                </a:extLst>
              </a:tr>
              <a:tr h="323850">
                <a:tc rowSpan="2">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   0       1</a:t>
                      </a:r>
                    </a:p>
                  </a:txBody>
                  <a:tcPr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en-US" altLang="zh-CN"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3"/>
                  </a:ext>
                </a:extLst>
              </a:tr>
              <a:tr h="322263">
                <a:tc vMerge="1">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en-US"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en-US" altLang="zh-CN"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zh-CN"/>
                    </a:p>
                  </a:txBody>
                  <a:tcPr/>
                </a:tc>
                <a:extLst>
                  <a:ext uri="{0D108BD9-81ED-4DB2-BD59-A6C34878D82A}">
                    <a16:rowId xmlns:a16="http://schemas.microsoft.com/office/drawing/2014/main" xmlns="" val="10004"/>
                  </a:ext>
                </a:extLst>
              </a:tr>
              <a:tr h="398463">
                <a:tc rowSpan="2">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   1       0</a:t>
                      </a:r>
                    </a:p>
                  </a:txBody>
                  <a:tcPr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en-US"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5"/>
                  </a:ext>
                </a:extLst>
              </a:tr>
              <a:tr h="323850">
                <a:tc vMerge="1">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en-US"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en-US"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zh-CN"/>
                    </a:p>
                  </a:txBody>
                  <a:tcPr/>
                </a:tc>
                <a:extLst>
                  <a:ext uri="{0D108BD9-81ED-4DB2-BD59-A6C34878D82A}">
                    <a16:rowId xmlns:a16="http://schemas.microsoft.com/office/drawing/2014/main" xmlns="" val="10006"/>
                  </a:ext>
                </a:extLst>
              </a:tr>
              <a:tr h="323850">
                <a:tc rowSpan="2">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   0       0</a:t>
                      </a: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en-US"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7"/>
                  </a:ext>
                </a:extLst>
              </a:tr>
              <a:tr h="323850">
                <a:tc vMerge="1">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en-US"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en-US"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zh-CN"/>
                    </a:p>
                  </a:txBody>
                  <a:tcPr/>
                </a:tc>
                <a:extLst>
                  <a:ext uri="{0D108BD9-81ED-4DB2-BD59-A6C34878D82A}">
                    <a16:rowId xmlns:a16="http://schemas.microsoft.com/office/drawing/2014/main" xmlns="" val="10008"/>
                  </a:ext>
                </a:extLst>
              </a:tr>
            </a:tbl>
          </a:graphicData>
        </a:graphic>
      </p:graphicFrame>
      <p:graphicFrame>
        <p:nvGraphicFramePr>
          <p:cNvPr id="9" name="Object 307"/>
          <p:cNvGraphicFramePr>
            <a:graphicFrameLocks noChangeAspect="1"/>
          </p:cNvGraphicFramePr>
          <p:nvPr>
            <p:extLst>
              <p:ext uri="{D42A27DB-BD31-4B8C-83A1-F6EECF244321}">
                <p14:modId xmlns:p14="http://schemas.microsoft.com/office/powerpoint/2010/main" xmlns="" val="2499798253"/>
              </p:ext>
            </p:extLst>
          </p:nvPr>
        </p:nvGraphicFramePr>
        <p:xfrm>
          <a:off x="6847379" y="2916529"/>
          <a:ext cx="365125" cy="387350"/>
        </p:xfrm>
        <a:graphic>
          <a:graphicData uri="http://schemas.openxmlformats.org/presentationml/2006/ole">
            <p:oleObj spid="_x0000_s121896" name="公式" r:id="rId4" imgW="215806" imgH="228501" progId="">
              <p:embed/>
            </p:oleObj>
          </a:graphicData>
        </a:graphic>
      </p:graphicFrame>
      <p:graphicFrame>
        <p:nvGraphicFramePr>
          <p:cNvPr id="10" name="Object 308"/>
          <p:cNvGraphicFramePr>
            <a:graphicFrameLocks noChangeAspect="1"/>
          </p:cNvGraphicFramePr>
          <p:nvPr>
            <p:extLst>
              <p:ext uri="{D42A27DB-BD31-4B8C-83A1-F6EECF244321}">
                <p14:modId xmlns:p14="http://schemas.microsoft.com/office/powerpoint/2010/main" xmlns="" val="241695855"/>
              </p:ext>
            </p:extLst>
          </p:nvPr>
        </p:nvGraphicFramePr>
        <p:xfrm>
          <a:off x="7495079" y="2916529"/>
          <a:ext cx="515938" cy="387350"/>
        </p:xfrm>
        <a:graphic>
          <a:graphicData uri="http://schemas.openxmlformats.org/presentationml/2006/ole">
            <p:oleObj spid="_x0000_s121897" name="公式" r:id="rId5" imgW="304668" imgH="228501" progId="">
              <p:embed/>
            </p:oleObj>
          </a:graphicData>
        </a:graphic>
      </p:graphicFrame>
      <p:sp>
        <p:nvSpPr>
          <p:cNvPr id="11" name="Rectangle 347"/>
          <p:cNvSpPr>
            <a:spLocks noChangeArrowheads="1"/>
          </p:cNvSpPr>
          <p:nvPr/>
        </p:nvSpPr>
        <p:spPr bwMode="auto">
          <a:xfrm>
            <a:off x="7524225" y="3717777"/>
            <a:ext cx="328936"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pPr>
              <a:spcBef>
                <a:spcPct val="20000"/>
              </a:spcBef>
            </a:pPr>
            <a:r>
              <a:rPr lang="en-US" altLang="zh-CN" sz="2000" b="1" dirty="0" smtClean="0">
                <a:solidFill>
                  <a:srgbClr val="C00000"/>
                </a:solidFill>
              </a:rPr>
              <a:t>1</a:t>
            </a:r>
            <a:endParaRPr lang="en-US" altLang="zh-CN" sz="2000" b="1" dirty="0">
              <a:solidFill>
                <a:srgbClr val="C00000"/>
              </a:solidFill>
            </a:endParaRPr>
          </a:p>
        </p:txBody>
      </p:sp>
      <p:sp>
        <p:nvSpPr>
          <p:cNvPr id="13" name="矩形 12"/>
          <p:cNvSpPr/>
          <p:nvPr/>
        </p:nvSpPr>
        <p:spPr>
          <a:xfrm>
            <a:off x="323528" y="6179364"/>
            <a:ext cx="3972562" cy="369332"/>
          </a:xfrm>
          <a:prstGeom prst="rect">
            <a:avLst/>
          </a:prstGeom>
        </p:spPr>
        <p:txBody>
          <a:bodyPr wrap="none">
            <a:spAutoFit/>
          </a:bodyPr>
          <a:lstStyle/>
          <a:p>
            <a:r>
              <a:rPr lang="zh-CN" altLang="en-US" b="1" dirty="0" smtClean="0">
                <a:latin typeface="楷体_GB2312" pitchFamily="49" charset="-122"/>
                <a:ea typeface="楷体_GB2312" pitchFamily="49" charset="-122"/>
              </a:rPr>
              <a:t>图 与非门</a:t>
            </a:r>
            <a:r>
              <a:rPr lang="zh-CN" altLang="en-US" b="1" dirty="0">
                <a:latin typeface="楷体_GB2312" pitchFamily="49" charset="-122"/>
                <a:ea typeface="楷体_GB2312" pitchFamily="49" charset="-122"/>
              </a:rPr>
              <a:t>构成的基本</a:t>
            </a:r>
            <a:r>
              <a:rPr lang="en-US" altLang="zh-CN" b="1" dirty="0">
                <a:latin typeface="楷体_GB2312" pitchFamily="49" charset="-122"/>
                <a:ea typeface="楷体_GB2312" pitchFamily="49" charset="-122"/>
              </a:rPr>
              <a:t>RS-FF</a:t>
            </a:r>
            <a:r>
              <a:rPr lang="zh-CN" altLang="en-US" b="1" dirty="0">
                <a:latin typeface="楷体_GB2312" pitchFamily="49" charset="-122"/>
                <a:ea typeface="楷体_GB2312" pitchFamily="49" charset="-122"/>
              </a:rPr>
              <a:t>的逻辑图</a:t>
            </a:r>
            <a:r>
              <a:rPr lang="zh-CN" altLang="en-US" dirty="0"/>
              <a:t> </a:t>
            </a:r>
          </a:p>
        </p:txBody>
      </p:sp>
      <p:sp>
        <p:nvSpPr>
          <p:cNvPr id="14" name="文本框 13"/>
          <p:cNvSpPr txBox="1"/>
          <p:nvPr/>
        </p:nvSpPr>
        <p:spPr>
          <a:xfrm>
            <a:off x="833047" y="2673053"/>
            <a:ext cx="312906" cy="369332"/>
          </a:xfrm>
          <a:prstGeom prst="rect">
            <a:avLst/>
          </a:prstGeom>
          <a:noFill/>
        </p:spPr>
        <p:txBody>
          <a:bodyPr wrap="none" rtlCol="0">
            <a:spAutoFit/>
          </a:bodyPr>
          <a:lstStyle/>
          <a:p>
            <a:r>
              <a:rPr lang="en-US" altLang="zh-CN" b="1" dirty="0" smtClean="0">
                <a:solidFill>
                  <a:srgbClr val="C00000"/>
                </a:solidFill>
              </a:rPr>
              <a:t>1</a:t>
            </a:r>
            <a:endParaRPr lang="zh-CN" altLang="en-US" b="1" dirty="0">
              <a:solidFill>
                <a:srgbClr val="C00000"/>
              </a:solidFill>
            </a:endParaRPr>
          </a:p>
        </p:txBody>
      </p:sp>
      <p:sp>
        <p:nvSpPr>
          <p:cNvPr id="15" name="文本框 14"/>
          <p:cNvSpPr txBox="1"/>
          <p:nvPr/>
        </p:nvSpPr>
        <p:spPr>
          <a:xfrm>
            <a:off x="792931" y="4810660"/>
            <a:ext cx="312906" cy="369332"/>
          </a:xfrm>
          <a:prstGeom prst="rect">
            <a:avLst/>
          </a:prstGeom>
          <a:noFill/>
        </p:spPr>
        <p:txBody>
          <a:bodyPr wrap="none" rtlCol="0">
            <a:spAutoFit/>
          </a:bodyPr>
          <a:lstStyle/>
          <a:p>
            <a:r>
              <a:rPr lang="en-US" altLang="zh-CN" b="1" dirty="0" smtClean="0">
                <a:solidFill>
                  <a:srgbClr val="C00000"/>
                </a:solidFill>
              </a:rPr>
              <a:t>1</a:t>
            </a:r>
            <a:endParaRPr lang="zh-CN" altLang="en-US" b="1" dirty="0">
              <a:solidFill>
                <a:srgbClr val="C00000"/>
              </a:solidFill>
            </a:endParaRPr>
          </a:p>
        </p:txBody>
      </p:sp>
      <p:sp>
        <p:nvSpPr>
          <p:cNvPr id="16" name="文本框 15"/>
          <p:cNvSpPr txBox="1"/>
          <p:nvPr/>
        </p:nvSpPr>
        <p:spPr>
          <a:xfrm>
            <a:off x="3062022" y="3042385"/>
            <a:ext cx="312906" cy="369332"/>
          </a:xfrm>
          <a:prstGeom prst="rect">
            <a:avLst/>
          </a:prstGeom>
          <a:noFill/>
        </p:spPr>
        <p:txBody>
          <a:bodyPr wrap="none" rtlCol="0">
            <a:spAutoFit/>
          </a:bodyPr>
          <a:lstStyle/>
          <a:p>
            <a:r>
              <a:rPr lang="en-US" altLang="zh-CN" b="1" dirty="0" smtClean="0">
                <a:solidFill>
                  <a:srgbClr val="C00000"/>
                </a:solidFill>
              </a:rPr>
              <a:t>1</a:t>
            </a:r>
            <a:endParaRPr lang="zh-CN" altLang="en-US" b="1" dirty="0">
              <a:solidFill>
                <a:srgbClr val="C00000"/>
              </a:solidFill>
            </a:endParaRPr>
          </a:p>
        </p:txBody>
      </p:sp>
      <p:sp>
        <p:nvSpPr>
          <p:cNvPr id="17" name="文本框 16"/>
          <p:cNvSpPr txBox="1"/>
          <p:nvPr/>
        </p:nvSpPr>
        <p:spPr>
          <a:xfrm>
            <a:off x="3051617" y="4777647"/>
            <a:ext cx="312906" cy="369332"/>
          </a:xfrm>
          <a:prstGeom prst="rect">
            <a:avLst/>
          </a:prstGeom>
          <a:noFill/>
        </p:spPr>
        <p:txBody>
          <a:bodyPr wrap="none" rtlCol="0">
            <a:spAutoFit/>
          </a:bodyPr>
          <a:lstStyle/>
          <a:p>
            <a:r>
              <a:rPr lang="en-US" altLang="zh-CN" b="1" dirty="0" smtClean="0">
                <a:solidFill>
                  <a:srgbClr val="022588"/>
                </a:solidFill>
              </a:rPr>
              <a:t>0</a:t>
            </a:r>
            <a:endParaRPr lang="zh-CN" altLang="en-US" b="1" dirty="0">
              <a:solidFill>
                <a:srgbClr val="022588"/>
              </a:solidFill>
            </a:endParaRPr>
          </a:p>
        </p:txBody>
      </p:sp>
      <p:sp>
        <p:nvSpPr>
          <p:cNvPr id="18" name="文本框 17"/>
          <p:cNvSpPr txBox="1"/>
          <p:nvPr/>
        </p:nvSpPr>
        <p:spPr>
          <a:xfrm>
            <a:off x="2937694" y="3038369"/>
            <a:ext cx="312906" cy="369332"/>
          </a:xfrm>
          <a:prstGeom prst="rect">
            <a:avLst/>
          </a:prstGeom>
          <a:noFill/>
        </p:spPr>
        <p:txBody>
          <a:bodyPr wrap="none" rtlCol="0">
            <a:spAutoFit/>
          </a:bodyPr>
          <a:lstStyle/>
          <a:p>
            <a:r>
              <a:rPr lang="en-US" altLang="zh-CN" b="1" dirty="0" smtClean="0">
                <a:solidFill>
                  <a:srgbClr val="C00000"/>
                </a:solidFill>
              </a:rPr>
              <a:t>1</a:t>
            </a:r>
            <a:endParaRPr lang="zh-CN" altLang="en-US" b="1" dirty="0">
              <a:solidFill>
                <a:srgbClr val="C00000"/>
              </a:solidFill>
            </a:endParaRPr>
          </a:p>
        </p:txBody>
      </p:sp>
      <p:sp>
        <p:nvSpPr>
          <p:cNvPr id="19" name="文本框 18"/>
          <p:cNvSpPr txBox="1"/>
          <p:nvPr/>
        </p:nvSpPr>
        <p:spPr>
          <a:xfrm>
            <a:off x="2457274" y="4571538"/>
            <a:ext cx="312906" cy="369332"/>
          </a:xfrm>
          <a:prstGeom prst="rect">
            <a:avLst/>
          </a:prstGeom>
          <a:noFill/>
        </p:spPr>
        <p:txBody>
          <a:bodyPr wrap="none" rtlCol="0">
            <a:spAutoFit/>
          </a:bodyPr>
          <a:lstStyle/>
          <a:p>
            <a:r>
              <a:rPr lang="en-US" altLang="zh-CN" b="1" dirty="0" smtClean="0">
                <a:solidFill>
                  <a:srgbClr val="022588"/>
                </a:solidFill>
              </a:rPr>
              <a:t>0</a:t>
            </a:r>
            <a:endParaRPr lang="zh-CN" altLang="en-US" b="1" dirty="0">
              <a:solidFill>
                <a:srgbClr val="022588"/>
              </a:solidFill>
            </a:endParaRPr>
          </a:p>
        </p:txBody>
      </p:sp>
      <p:sp>
        <p:nvSpPr>
          <p:cNvPr id="20" name="文本框 19"/>
          <p:cNvSpPr txBox="1"/>
          <p:nvPr/>
        </p:nvSpPr>
        <p:spPr>
          <a:xfrm>
            <a:off x="1862931" y="4625994"/>
            <a:ext cx="312906" cy="369332"/>
          </a:xfrm>
          <a:prstGeom prst="rect">
            <a:avLst/>
          </a:prstGeom>
          <a:noFill/>
        </p:spPr>
        <p:txBody>
          <a:bodyPr wrap="none" rtlCol="0">
            <a:spAutoFit/>
          </a:bodyPr>
          <a:lstStyle/>
          <a:p>
            <a:r>
              <a:rPr lang="en-US" altLang="zh-CN" b="1" dirty="0" smtClean="0">
                <a:solidFill>
                  <a:srgbClr val="022588"/>
                </a:solidFill>
              </a:rPr>
              <a:t>0</a:t>
            </a:r>
            <a:endParaRPr lang="zh-CN" altLang="en-US" b="1" dirty="0">
              <a:solidFill>
                <a:srgbClr val="022588"/>
              </a:solidFill>
            </a:endParaRPr>
          </a:p>
        </p:txBody>
      </p:sp>
      <p:sp>
        <p:nvSpPr>
          <p:cNvPr id="21" name="文本框 20"/>
          <p:cNvSpPr txBox="1"/>
          <p:nvPr/>
        </p:nvSpPr>
        <p:spPr>
          <a:xfrm>
            <a:off x="1885027" y="2934547"/>
            <a:ext cx="312906" cy="369332"/>
          </a:xfrm>
          <a:prstGeom prst="rect">
            <a:avLst/>
          </a:prstGeom>
          <a:noFill/>
        </p:spPr>
        <p:txBody>
          <a:bodyPr wrap="none" rtlCol="0">
            <a:spAutoFit/>
          </a:bodyPr>
          <a:lstStyle/>
          <a:p>
            <a:r>
              <a:rPr lang="en-US" altLang="zh-CN" b="1" dirty="0" smtClean="0">
                <a:solidFill>
                  <a:srgbClr val="C00000"/>
                </a:solidFill>
              </a:rPr>
              <a:t>1</a:t>
            </a:r>
            <a:endParaRPr lang="zh-CN" altLang="en-US" b="1" dirty="0">
              <a:solidFill>
                <a:srgbClr val="C00000"/>
              </a:solidFill>
            </a:endParaRPr>
          </a:p>
        </p:txBody>
      </p:sp>
      <p:sp>
        <p:nvSpPr>
          <p:cNvPr id="22" name="Rectangle 347"/>
          <p:cNvSpPr>
            <a:spLocks noChangeArrowheads="1"/>
          </p:cNvSpPr>
          <p:nvPr/>
        </p:nvSpPr>
        <p:spPr bwMode="auto">
          <a:xfrm>
            <a:off x="6808708" y="3700139"/>
            <a:ext cx="328936"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pPr>
              <a:spcBef>
                <a:spcPct val="20000"/>
              </a:spcBef>
            </a:pPr>
            <a:r>
              <a:rPr lang="en-US" altLang="zh-CN" sz="2000" b="1" dirty="0" smtClean="0"/>
              <a:t>1</a:t>
            </a:r>
            <a:endParaRPr lang="en-US" altLang="zh-CN" sz="2000" b="1" dirty="0"/>
          </a:p>
        </p:txBody>
      </p:sp>
      <p:sp>
        <p:nvSpPr>
          <p:cNvPr id="23" name="Text Box 309"/>
          <p:cNvSpPr txBox="1">
            <a:spLocks noChangeArrowheads="1"/>
          </p:cNvSpPr>
          <p:nvPr/>
        </p:nvSpPr>
        <p:spPr bwMode="auto">
          <a:xfrm>
            <a:off x="8142779" y="3491204"/>
            <a:ext cx="865188"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zh-CN" altLang="en-US" dirty="0">
                <a:solidFill>
                  <a:srgbClr val="FF0000"/>
                </a:solidFill>
                <a:ea typeface="黑体" panose="02010609060101010101" pitchFamily="2" charset="-122"/>
              </a:rPr>
              <a:t>保持</a:t>
            </a:r>
          </a:p>
        </p:txBody>
      </p:sp>
      <p:sp>
        <p:nvSpPr>
          <p:cNvPr id="25" name="标题 1"/>
          <p:cNvSpPr>
            <a:spLocks noGrp="1"/>
          </p:cNvSpPr>
          <p:nvPr>
            <p:ph type="title"/>
          </p:nvPr>
        </p:nvSpPr>
        <p:spPr>
          <a:xfrm>
            <a:off x="1043608" y="1124744"/>
            <a:ext cx="7704856" cy="566936"/>
          </a:xfrm>
        </p:spPr>
        <p:txBody>
          <a:bodyPr/>
          <a:lstStyle/>
          <a:p>
            <a:r>
              <a:rPr lang="en-US" altLang="zh-CN" dirty="0" smtClean="0"/>
              <a:t>5.1.1 </a:t>
            </a:r>
            <a:r>
              <a:rPr lang="zh-CN" altLang="en-US" dirty="0" smtClean="0"/>
              <a:t>由与非门构成的基本</a:t>
            </a:r>
            <a:r>
              <a:rPr lang="en-US" altLang="zh-CN" dirty="0"/>
              <a:t>RS</a:t>
            </a:r>
            <a:r>
              <a:rPr lang="zh-CN" altLang="en-US" dirty="0"/>
              <a:t>触发器</a:t>
            </a:r>
          </a:p>
        </p:txBody>
      </p:sp>
      <p:sp>
        <p:nvSpPr>
          <p:cNvPr id="26" name="标题 1"/>
          <p:cNvSpPr txBox="1">
            <a:spLocks/>
          </p:cNvSpPr>
          <p:nvPr/>
        </p:nvSpPr>
        <p:spPr bwMode="auto">
          <a:xfrm>
            <a:off x="1043608" y="332656"/>
            <a:ext cx="7704856" cy="5669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5.1 </a:t>
            </a:r>
            <a:r>
              <a:rPr kumimoji="1" lang="zh-CN" altLang="en-US" sz="3200" b="1" kern="0" dirty="0" smtClean="0">
                <a:solidFill>
                  <a:schemeClr val="tx2"/>
                </a:solidFill>
                <a:latin typeface="+mj-lt"/>
                <a:ea typeface="+mj-ea"/>
                <a:cs typeface="+mj-cs"/>
              </a:rPr>
              <a:t>电平触发的</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触发器</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graphicFrame>
        <p:nvGraphicFramePr>
          <p:cNvPr id="121899" name="Object 43"/>
          <p:cNvGraphicFramePr>
            <a:graphicFrameLocks noChangeAspect="1"/>
          </p:cNvGraphicFramePr>
          <p:nvPr/>
        </p:nvGraphicFramePr>
        <p:xfrm>
          <a:off x="5436096" y="2924944"/>
          <a:ext cx="288925" cy="382588"/>
        </p:xfrm>
        <a:graphic>
          <a:graphicData uri="http://schemas.openxmlformats.org/presentationml/2006/ole">
            <p:oleObj spid="_x0000_s121899" r:id="rId6" imgW="152280" imgH="203040" progId="">
              <p:embed/>
            </p:oleObj>
          </a:graphicData>
        </a:graphic>
      </p:graphicFrame>
      <p:graphicFrame>
        <p:nvGraphicFramePr>
          <p:cNvPr id="121900" name="Object 44"/>
          <p:cNvGraphicFramePr>
            <a:graphicFrameLocks noChangeAspect="1"/>
          </p:cNvGraphicFramePr>
          <p:nvPr/>
        </p:nvGraphicFramePr>
        <p:xfrm>
          <a:off x="6012358" y="2948757"/>
          <a:ext cx="279400" cy="320675"/>
        </p:xfrm>
        <a:graphic>
          <a:graphicData uri="http://schemas.openxmlformats.org/presentationml/2006/ole">
            <p:oleObj spid="_x0000_s121900" r:id="rId7" imgW="164880" imgH="190440" progId="">
              <p:embed/>
            </p:oleObj>
          </a:graphicData>
        </a:graphic>
      </p:graphicFrame>
    </p:spTree>
    <p:extLst>
      <p:ext uri="{BB962C8B-B14F-4D97-AF65-F5344CB8AC3E}">
        <p14:creationId xmlns:p14="http://schemas.microsoft.com/office/powerpoint/2010/main" xmlns="" val="4723134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par>
                                <p:cTn id="17" presetID="0" presetClass="path" presetSubtype="0" accel="50000" decel="50000" fill="hold" grpId="1" nodeType="withEffect">
                                  <p:stCondLst>
                                    <p:cond delay="0"/>
                                  </p:stCondLst>
                                  <p:childTnLst>
                                    <p:animMotion origin="layout" path="M -0.01893 2.59259E-6 L -0.01893 0.00023 C -0.02778 0.00023 -0.03663 -0.00255 -0.04531 0.00069 C -0.04705 0.00139 -0.04514 0.00694 -0.04479 0.00972 C -0.04462 0.01157 -0.0441 0.01296 -0.04393 0.01481 L -0.04358 0.01967 C -0.04358 0.0206 -0.04236 0.0706 -0.04358 0.07523 C -0.0441 0.07824 -0.04705 0.07592 -0.04896 0.07615 L -0.05313 0.07847 C -0.05452 0.0794 -0.05486 0.0794 -0.05643 0.08102 C -0.05729 0.08194 -0.05799 0.08379 -0.05903 0.08426 L -0.06181 0.08588 C -0.06337 0.09004 -0.06198 0.08727 -0.06424 0.08912 C -0.06684 0.09166 -0.06424 0.09028 -0.06736 0.09259 C -0.06788 0.09282 -0.06858 0.09305 -0.06927 0.09328 C -0.06962 0.09352 -0.07014 0.09375 -0.07049 0.09421 C -0.07118 0.0949 -0.0717 0.09606 -0.0724 0.09653 C -0.07327 0.09722 -0.07431 0.09699 -0.07518 0.09745 C -0.0757 0.09768 -0.07639 0.09791 -0.07709 0.09815 C -0.07743 0.09884 -0.07795 0.0993 -0.0783 0.09977 C -0.07882 0.10023 -0.07934 0.10023 -0.07986 0.10069 C -0.08038 0.10115 -0.08108 0.10162 -0.0816 0.10231 C -0.08212 0.10278 -0.08247 0.1037 -0.08299 0.10393 C -0.0842 0.10463 -0.08559 0.10509 -0.08663 0.10555 L -0.08854 0.10648 C -0.08906 0.10694 -0.08941 0.10764 -0.08993 0.1081 C -0.09028 0.10833 -0.0908 0.10833 -0.09132 0.10879 C -0.09254 0.11041 -0.09375 0.11227 -0.09497 0.11365 C -0.09549 0.11435 -0.09584 0.11504 -0.09636 0.11551 C -0.09722 0.1162 -0.09913 0.11713 -0.09913 0.11736 C -0.10347 0.12477 -0.09653 0.11319 -0.1033 0.12106 C -0.10382 0.12176 -0.10417 0.12222 -0.10469 0.12268 C -0.10504 0.12315 -0.10556 0.12338 -0.10608 0.12361 C -0.10677 0.12407 -0.10747 0.12477 -0.10834 0.12523 C -0.11042 0.12639 -0.11233 0.12685 -0.11424 0.12778 C -0.12101 0.13565 -0.11389 0.12754 -0.11893 0.13264 C -0.11945 0.1331 -0.11979 0.13379 -0.12031 0.13426 C -0.12101 0.13472 -0.12292 0.13565 -0.12361 0.13588 C -0.12743 0.14051 -0.12257 0.13495 -0.12622 0.13842 C -0.12674 0.13865 -0.12726 0.13958 -0.12761 0.14004 C -0.12813 0.14028 -0.13056 0.14213 -0.13143 0.14236 C -0.13212 0.14282 -0.13299 0.14305 -0.13351 0.14328 C -0.1342 0.14375 -0.1349 0.14421 -0.13559 0.1449 C -0.13611 0.1456 -0.13663 0.14676 -0.13733 0.14722 C -0.13785 0.14791 -0.14011 0.14884 -0.14045 0.14907 C -0.14097 0.14953 -0.14132 0.15023 -0.14184 0.15069 C -0.14288 0.15139 -0.14393 0.15139 -0.14462 0.15231 C -0.14948 0.15787 -0.14202 0.1493 -0.14792 0.15555 C -0.14983 0.1574 -0.1507 0.15926 -0.15243 0.16041 C -0.15313 0.16088 -0.15382 0.16088 -0.15434 0.16134 C -0.15903 0.16782 -0.15434 0.16227 -0.15903 0.16528 C -0.15955 0.16574 -0.15972 0.16666 -0.16024 0.1669 C -0.16094 0.16736 -0.16163 0.16759 -0.16233 0.16782 C -0.16372 0.17592 -0.1625 0.16898 -0.16233 0.18819 C -0.16111 0.24004 -0.16736 0.2162 -0.12118 0.2162 L -0.11945 0.2162 L -0.1217 0.21435 L -0.12205 0.21528 L -0.12205 0.21551 L -0.12118 0.2162 L -0.12118 0.21643 L -0.12118 0.21528 L -0.12257 0.21528 L -0.12257 0.21551 " pathEditMode="relative" rAng="0" ptsTypes="AAAAAAAAAAAAAAAAAAAAAAAAAAAAAAAAAAAAAAAAAAAAAAAAAAAAAAAAAAAAAAAA">
                                      <p:cBhvr>
                                        <p:cTn id="18" dur="2000" fill="hold"/>
                                        <p:tgtEl>
                                          <p:spTgt spid="18"/>
                                        </p:tgtEl>
                                        <p:attrNameLst>
                                          <p:attrName>ppt_x</p:attrName>
                                          <p:attrName>ppt_y</p:attrName>
                                        </p:attrNameLst>
                                      </p:cBhvr>
                                      <p:rCtr x="-7205" y="11019"/>
                                    </p:animMotion>
                                  </p:childTnLst>
                                </p:cTn>
                              </p:par>
                              <p:par>
                                <p:cTn id="19" presetID="0" presetClass="path" presetSubtype="0" accel="25000" decel="25000" fill="hold" grpId="0" nodeType="withEffect">
                                  <p:stCondLst>
                                    <p:cond delay="0"/>
                                  </p:stCondLst>
                                  <p:childTnLst>
                                    <p:animMotion origin="layout" path="M 5.55556E-7 -7.40741E-7 L 5.55556E-7 0.00023 C 0.00121 0.00023 0.00278 0.0007 0.00399 0.00093 C 0.01823 0.00255 0.03229 0.00208 0.04635 0.00093 C 0.0467 0.00093 0.04635 -0.00023 0.04635 -0.00069 " pathEditMode="relative" rAng="0" ptsTypes="AAAAA">
                                      <p:cBhvr>
                                        <p:cTn id="20" dur="2000" fill="hold"/>
                                        <p:tgtEl>
                                          <p:spTgt spid="15"/>
                                        </p:tgtEl>
                                        <p:attrNameLst>
                                          <p:attrName>ppt_x</p:attrName>
                                          <p:attrName>ppt_y</p:attrName>
                                        </p:attrNameLst>
                                      </p:cBhvr>
                                      <p:rCtr x="2309" y="46"/>
                                    </p:animMotion>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1"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0" presetClass="path" presetSubtype="0" accel="50000" decel="50000" fill="hold" grpId="0" nodeType="withEffect">
                                  <p:stCondLst>
                                    <p:cond delay="0"/>
                                  </p:stCondLst>
                                  <p:childTnLst>
                                    <p:animMotion origin="layout" path="M 0.00417 1.11111E-6 L 0.05243 1.11111E-6 " pathEditMode="relative" rAng="0" ptsTypes="AA">
                                      <p:cBhvr>
                                        <p:cTn id="26" dur="2000" fill="hold"/>
                                        <p:tgtEl>
                                          <p:spTgt spid="20"/>
                                        </p:tgtEl>
                                        <p:attrNameLst>
                                          <p:attrName>ppt_x</p:attrName>
                                          <p:attrName>ppt_y</p:attrName>
                                        </p:attrNameLst>
                                      </p:cBhvr>
                                      <p:rCtr x="2413" y="0"/>
                                    </p:animMotion>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1" nodeType="click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par>
                                <p:cTn id="31" presetID="0" presetClass="path" presetSubtype="0" accel="50000" decel="50000" fill="hold" grpId="0" nodeType="withEffect">
                                  <p:stCondLst>
                                    <p:cond delay="0"/>
                                  </p:stCondLst>
                                  <p:childTnLst>
                                    <p:animMotion origin="layout" path="M -3.88889E-6 1.48148E-6 L -3.88889E-6 0.00023 C -0.00034 -0.00255 -0.00069 -0.00509 -0.00104 -0.00741 C -0.00138 -0.01204 -0.00243 -0.0213 -0.00243 -0.02107 C -0.00225 -0.02685 -0.00225 -0.03241 -0.00191 -0.03773 C -0.00191 -0.03935 -0.00034 -0.04514 -3.88889E-6 -0.04676 C -0.00191 -0.04815 -0.0026 -0.04838 -0.00416 -0.05 C -0.00746 -0.05324 -0.00538 -0.05185 -0.00798 -0.05324 C -0.00816 -0.0544 -0.00816 -0.05579 -0.00885 -0.05671 C -0.00972 -0.05764 -0.01163 -0.05833 -0.01163 -0.0581 C -0.0125 -0.05926 -0.01319 -0.06065 -0.01441 -0.06158 C -0.01493 -0.06204 -0.01562 -0.0625 -0.01614 -0.0632 C -0.01701 -0.06412 -0.01805 -0.06551 -0.01892 -0.06644 C -0.01944 -0.0669 -0.02013 -0.06736 -0.02066 -0.06806 C -0.02326 -0.0706 -0.021 -0.06898 -0.02361 -0.0706 C -0.02413 -0.0713 -0.02482 -0.07222 -0.02534 -0.07292 C -0.0276 -0.07546 -0.02656 -0.07384 -0.02864 -0.07546 C -0.02916 -0.07593 -0.02986 -0.07639 -0.03055 -0.07708 C -0.0309 -0.07755 -0.03125 -0.07824 -0.03177 -0.07871 C -0.03263 -0.0794 -0.03368 -0.07963 -0.03454 -0.08033 C -0.03524 -0.08079 -0.03576 -0.08148 -0.03645 -0.08195 C -0.03715 -0.08241 -0.03784 -0.08241 -0.03871 -0.08287 C -0.03941 -0.0831 -0.03993 -0.08333 -0.04045 -0.08357 C -0.04392 -0.08773 -0.03958 -0.08287 -0.04375 -0.08611 C -0.04427 -0.08658 -0.04461 -0.08727 -0.04513 -0.08773 C -0.04635 -0.08889 -0.04774 -0.08958 -0.04878 -0.09097 C -0.05069 -0.09306 -0.04982 -0.09236 -0.05156 -0.09352 C -0.05191 -0.09375 -0.05434 -0.09699 -0.05486 -0.09746 C -0.05573 -0.09815 -0.05659 -0.09861 -0.05746 -0.09908 C -0.05816 -0.1 -0.05868 -0.10093 -0.05937 -0.10162 C -0.06163 -0.10417 -0.06076 -0.10255 -0.06267 -0.10417 C -0.06319 -0.10463 -0.06371 -0.10533 -0.06441 -0.10579 C -0.06545 -0.10625 -0.06632 -0.10671 -0.06718 -0.10741 L -0.06857 -0.1081 C -0.06892 -0.10833 -0.06944 -0.10857 -0.06996 -0.10903 L -0.07378 -0.11227 C -0.0743 -0.11273 -0.07482 -0.11343 -0.07552 -0.11389 L -0.07829 -0.11551 C -0.07882 -0.11574 -0.07934 -0.11597 -0.07968 -0.11644 C -0.08142 -0.11852 -0.08055 -0.11783 -0.08281 -0.11875 C -0.08333 -0.11968 -0.08368 -0.1206 -0.0842 -0.1213 C -0.08541 -0.12269 -0.08767 -0.12384 -0.08871 -0.12454 C -0.08941 -0.12477 -0.08993 -0.125 -0.09027 -0.12546 C -0.09097 -0.12593 -0.09149 -0.12639 -0.09201 -0.12708 C -0.09253 -0.12755 -0.09305 -0.12824 -0.09357 -0.12871 C -0.09965 -0.13333 -0.09184 -0.12639 -0.0967 -0.13033 C -0.10434 -0.13658 -0.09774 -0.13125 -0.10173 -0.13519 C -0.10243 -0.13588 -0.10295 -0.13634 -0.10347 -0.13681 C -0.10399 -0.13727 -0.10451 -0.13727 -0.10503 -0.13773 C -0.1085 -0.14074 -0.10434 -0.13796 -0.10763 -0.14005 C -0.10816 -0.14074 -0.10868 -0.14144 -0.1092 -0.14167 C -0.11111 -0.14306 -0.11232 -0.1419 -0.11423 -0.14421 L -0.11701 -0.14746 C -0.11805 -0.15371 -0.11701 -0.14769 -0.11788 -0.16065 C -0.11805 -0.16528 -0.1184 -0.16505 -0.11875 -0.16968 C -0.11892 -0.17176 -0.11892 -0.17384 -0.11909 -0.17616 C -0.11892 -0.1794 -0.11892 -0.18264 -0.11875 -0.18588 C -0.11857 -0.18681 -0.11857 -0.18773 -0.11823 -0.18843 C -0.11753 -0.18982 -0.11649 -0.19028 -0.11545 -0.19074 C -0.10868 -0.19051 -0.10208 -0.19074 -0.09531 -0.19005 C -0.0934 -0.18982 -0.09166 -0.18889 -0.08975 -0.18843 C -0.08767 -0.18796 -0.08576 -0.18796 -0.08368 -0.1875 C -0.08159 -0.18634 -0.08211 -0.18634 -0.07916 -0.1875 C -0.07899 -0.18773 -0.07899 -0.1882 -0.07882 -0.18843 " pathEditMode="relative" rAng="0" ptsTypes="AAAAAAAAAAAAAAAAAAAAAAAAAAAAAAAAAAAAAAAAAAAAAAAAAAAAAAAAAAAAAAAA">
                                      <p:cBhvr>
                                        <p:cTn id="32" dur="2000" fill="hold"/>
                                        <p:tgtEl>
                                          <p:spTgt spid="19"/>
                                        </p:tgtEl>
                                        <p:attrNameLst>
                                          <p:attrName>ppt_x</p:attrName>
                                          <p:attrName>ppt_y</p:attrName>
                                        </p:attrNameLst>
                                      </p:cBhvr>
                                      <p:rCtr x="-5955" y="-9537"/>
                                    </p:animMotion>
                                  </p:childTnLst>
                                </p:cTn>
                              </p:par>
                              <p:par>
                                <p:cTn id="33" presetID="0" presetClass="path" presetSubtype="0" accel="50000" decel="50000" fill="hold" grpId="0" nodeType="withEffect">
                                  <p:stCondLst>
                                    <p:cond delay="0"/>
                                  </p:stCondLst>
                                  <p:childTnLst>
                                    <p:animMotion origin="layout" path="M 2.77778E-7 3.33333E-6 L 2.77778E-7 0.00023 C 0.01858 0.00092 0.01858 0.00139 0.03941 3.33333E-6 C 0.03993 -0.00023 0.04045 -0.00093 0.0408 -0.00093 C 0.04149 -0.00116 0.04201 -0.00093 0.04271 -0.00093 " pathEditMode="relative" rAng="0" ptsTypes="AAAAA">
                                      <p:cBhvr>
                                        <p:cTn id="34" dur="2000" fill="hold"/>
                                        <p:tgtEl>
                                          <p:spTgt spid="14"/>
                                        </p:tgtEl>
                                        <p:attrNameLst>
                                          <p:attrName>ppt_x</p:attrName>
                                          <p:attrName>ppt_y</p:attrName>
                                        </p:attrNameLst>
                                      </p:cBhvr>
                                      <p:rCtr x="2135" y="-23"/>
                                    </p:animMotion>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par>
                                <p:cTn id="39" presetID="0" presetClass="path" presetSubtype="0" accel="50000" decel="50000" fill="hold" grpId="1" nodeType="withEffect">
                                  <p:stCondLst>
                                    <p:cond delay="0"/>
                                  </p:stCondLst>
                                  <p:childTnLst>
                                    <p:animMotion origin="layout" path="M -3.88889E-6 -1.11111E-6 L -3.88889E-6 0.00023 C 0.00157 -0.00023 0.0033 -0.00023 0.00504 -0.00069 C 0.00608 -0.00092 0.00677 -0.00139 0.00782 -0.00139 C 0.01233 -0.00185 0.01667 -0.00185 0.02118 -0.00208 L 0.04271 -0.00139 C 0.04966 -0.00116 0.04809 -0.00162 0.05191 -1.11111E-6 L 0.06389 -0.00069 C 0.06997 -0.00116 0.06615 -0.00208 0.07049 -0.00069 C 0.06754 0.00093 0.06962 -1.11111E-6 0.06389 -1.11111E-6 " pathEditMode="relative" rAng="0" ptsTypes="AAAAAAAAAA">
                                      <p:cBhvr>
                                        <p:cTn id="40" dur="2000" fill="hold"/>
                                        <p:tgtEl>
                                          <p:spTgt spid="21"/>
                                        </p:tgtEl>
                                        <p:attrNameLst>
                                          <p:attrName>ppt_x</p:attrName>
                                          <p:attrName>ppt_y</p:attrName>
                                        </p:attrNameLst>
                                      </p:cBhvr>
                                      <p:rCtr x="3524" y="-93"/>
                                    </p:animMotion>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1"/>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3" presetClass="entr" presetSubtype="10" fill="hold" grpId="0" nodeType="clickEffect">
                                  <p:stCondLst>
                                    <p:cond delay="0"/>
                                  </p:stCondLst>
                                  <p:childTnLst>
                                    <p:set>
                                      <p:cBhvr>
                                        <p:cTn id="48" dur="1" fill="hold">
                                          <p:stCondLst>
                                            <p:cond delay="0"/>
                                          </p:stCondLst>
                                        </p:cTn>
                                        <p:tgtEl>
                                          <p:spTgt spid="23"/>
                                        </p:tgtEl>
                                        <p:attrNameLst>
                                          <p:attrName>style.visibility</p:attrName>
                                        </p:attrNameLst>
                                      </p:cBhvr>
                                      <p:to>
                                        <p:strVal val="visible"/>
                                      </p:to>
                                    </p:set>
                                    <p:animEffect transition="in" filter="blinds(horizontal)">
                                      <p:cBhvr>
                                        <p:cTn id="49"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4" grpId="0"/>
      <p:bldP spid="15" grpId="0"/>
      <p:bldP spid="16" grpId="0"/>
      <p:bldP spid="17" grpId="0"/>
      <p:bldP spid="18" grpId="0"/>
      <p:bldP spid="18" grpId="1"/>
      <p:bldP spid="19" grpId="0"/>
      <p:bldP spid="19" grpId="1"/>
      <p:bldP spid="20" grpId="0"/>
      <p:bldP spid="20" grpId="1"/>
      <p:bldP spid="21" grpId="0"/>
      <p:bldP spid="21" grpId="1"/>
      <p:bldP spid="22" grpId="0"/>
      <p:bldP spid="2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22" name="Picture 42"/>
          <p:cNvPicPr>
            <a:picLocks noChangeAspect="1" noChangeArrowheads="1"/>
          </p:cNvPicPr>
          <p:nvPr/>
        </p:nvPicPr>
        <p:blipFill>
          <a:blip r:embed="rId3" cstate="print"/>
          <a:srcRect/>
          <a:stretch>
            <a:fillRect/>
          </a:stretch>
        </p:blipFill>
        <p:spPr bwMode="auto">
          <a:xfrm>
            <a:off x="683568" y="2852936"/>
            <a:ext cx="2581275" cy="2790825"/>
          </a:xfrm>
          <a:prstGeom prst="rect">
            <a:avLst/>
          </a:prstGeom>
          <a:noFill/>
          <a:ln w="9525">
            <a:noFill/>
            <a:miter lim="800000"/>
            <a:headEnd/>
            <a:tailEnd/>
          </a:ln>
        </p:spPr>
      </p:pic>
      <p:sp>
        <p:nvSpPr>
          <p:cNvPr id="3" name="矩形 2"/>
          <p:cNvSpPr/>
          <p:nvPr/>
        </p:nvSpPr>
        <p:spPr>
          <a:xfrm>
            <a:off x="386476" y="2037363"/>
            <a:ext cx="4315604" cy="400110"/>
          </a:xfrm>
          <a:prstGeom prst="rect">
            <a:avLst/>
          </a:prstGeom>
          <a:solidFill>
            <a:srgbClr val="0341E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nchor="ctr">
            <a:spAutoFit/>
          </a:bodyPr>
          <a:lstStyle/>
          <a:p>
            <a:pPr algn="ctr"/>
            <a:r>
              <a:rPr lang="zh-CN" altLang="en-US" sz="2000" b="1" dirty="0">
                <a:solidFill>
                  <a:schemeClr val="bg1"/>
                </a:solidFill>
                <a:latin typeface="黑体" panose="02010609060101010101" pitchFamily="49" charset="-122"/>
                <a:ea typeface="黑体" panose="02010609060101010101" pitchFamily="49" charset="-122"/>
              </a:rPr>
              <a:t>与非门构成的基本</a:t>
            </a:r>
            <a:r>
              <a:rPr lang="en-US" altLang="zh-CN" sz="2000" b="1" dirty="0" smtClean="0">
                <a:solidFill>
                  <a:schemeClr val="bg1"/>
                </a:solidFill>
                <a:latin typeface="黑体" panose="02010609060101010101" pitchFamily="49" charset="-122"/>
                <a:ea typeface="黑体" panose="02010609060101010101" pitchFamily="49" charset="-122"/>
              </a:rPr>
              <a:t>RS</a:t>
            </a:r>
            <a:r>
              <a:rPr lang="zh-CN" altLang="en-US" sz="2000" b="1" dirty="0" smtClean="0">
                <a:solidFill>
                  <a:schemeClr val="bg1"/>
                </a:solidFill>
                <a:latin typeface="黑体" panose="02010609060101010101" pitchFamily="49" charset="-122"/>
                <a:ea typeface="黑体" panose="02010609060101010101" pitchFamily="49" charset="-122"/>
              </a:rPr>
              <a:t>锁存器工作原理</a:t>
            </a:r>
            <a:endParaRPr lang="zh-CN" altLang="en-US" sz="2000" b="1" dirty="0">
              <a:solidFill>
                <a:schemeClr val="bg1"/>
              </a:solidFill>
              <a:latin typeface="黑体" panose="02010609060101010101" pitchFamily="49" charset="-122"/>
              <a:ea typeface="黑体" panose="02010609060101010101" pitchFamily="49" charset="-122"/>
            </a:endParaRPr>
          </a:p>
        </p:txBody>
      </p:sp>
      <p:sp>
        <p:nvSpPr>
          <p:cNvPr id="4" name="矩形 3"/>
          <p:cNvSpPr/>
          <p:nvPr/>
        </p:nvSpPr>
        <p:spPr>
          <a:xfrm>
            <a:off x="205238" y="6133741"/>
            <a:ext cx="3972562" cy="369332"/>
          </a:xfrm>
          <a:prstGeom prst="rect">
            <a:avLst/>
          </a:prstGeom>
        </p:spPr>
        <p:txBody>
          <a:bodyPr wrap="none">
            <a:spAutoFit/>
          </a:bodyPr>
          <a:lstStyle/>
          <a:p>
            <a:r>
              <a:rPr lang="zh-CN" altLang="en-US" b="1" dirty="0" smtClean="0">
                <a:latin typeface="楷体_GB2312" pitchFamily="49" charset="-122"/>
                <a:ea typeface="楷体_GB2312" pitchFamily="49" charset="-122"/>
              </a:rPr>
              <a:t>图 与非门</a:t>
            </a:r>
            <a:r>
              <a:rPr lang="zh-CN" altLang="en-US" b="1" dirty="0">
                <a:latin typeface="楷体_GB2312" pitchFamily="49" charset="-122"/>
                <a:ea typeface="楷体_GB2312" pitchFamily="49" charset="-122"/>
              </a:rPr>
              <a:t>构成的基本</a:t>
            </a:r>
            <a:r>
              <a:rPr lang="en-US" altLang="zh-CN" b="1" dirty="0">
                <a:latin typeface="楷体_GB2312" pitchFamily="49" charset="-122"/>
                <a:ea typeface="楷体_GB2312" pitchFamily="49" charset="-122"/>
              </a:rPr>
              <a:t>RS-FF</a:t>
            </a:r>
            <a:r>
              <a:rPr lang="zh-CN" altLang="en-US" b="1" dirty="0">
                <a:latin typeface="楷体_GB2312" pitchFamily="49" charset="-122"/>
                <a:ea typeface="楷体_GB2312" pitchFamily="49" charset="-122"/>
              </a:rPr>
              <a:t>的逻辑图</a:t>
            </a:r>
            <a:r>
              <a:rPr lang="zh-CN" altLang="en-US" dirty="0"/>
              <a:t> </a:t>
            </a:r>
          </a:p>
        </p:txBody>
      </p:sp>
      <p:sp>
        <p:nvSpPr>
          <p:cNvPr id="6" name="Text Box 9"/>
          <p:cNvSpPr txBox="1">
            <a:spLocks noChangeArrowheads="1"/>
          </p:cNvSpPr>
          <p:nvPr/>
        </p:nvSpPr>
        <p:spPr bwMode="auto">
          <a:xfrm>
            <a:off x="5076812" y="2301810"/>
            <a:ext cx="4067188" cy="64633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p>
            <a:pPr algn="ctr">
              <a:spcBef>
                <a:spcPct val="50000"/>
              </a:spcBef>
            </a:pPr>
            <a:r>
              <a:rPr lang="zh-CN" altLang="en-US" b="1" dirty="0" smtClean="0">
                <a:latin typeface="楷体_GB2312" pitchFamily="49" charset="-122"/>
                <a:ea typeface="楷体_GB2312" pitchFamily="49" charset="-122"/>
              </a:rPr>
              <a:t>表</a:t>
            </a:r>
            <a:r>
              <a:rPr lang="en-US" altLang="zh-CN" b="1" dirty="0" smtClean="0">
                <a:latin typeface="楷体_GB2312" pitchFamily="49" charset="-122"/>
                <a:ea typeface="楷体_GB2312" pitchFamily="49" charset="-122"/>
              </a:rPr>
              <a:t> </a:t>
            </a:r>
            <a:r>
              <a:rPr lang="en-US" altLang="zh-CN" dirty="0" smtClean="0">
                <a:latin typeface="楷体_GB2312" pitchFamily="49" charset="-122"/>
                <a:ea typeface="楷体_GB2312" pitchFamily="49" charset="-122"/>
              </a:rPr>
              <a:t> </a:t>
            </a:r>
            <a:r>
              <a:rPr lang="zh-CN" altLang="en-US" b="1" dirty="0" smtClean="0">
                <a:latin typeface="楷体_GB2312" pitchFamily="49" charset="-122"/>
                <a:ea typeface="楷体_GB2312" pitchFamily="49" charset="-122"/>
              </a:rPr>
              <a:t>与非门</a:t>
            </a:r>
            <a:r>
              <a:rPr lang="zh-CN" altLang="en-US" b="1" dirty="0">
                <a:latin typeface="楷体_GB2312" pitchFamily="49" charset="-122"/>
                <a:ea typeface="楷体_GB2312" pitchFamily="49" charset="-122"/>
              </a:rPr>
              <a:t>构成的基本</a:t>
            </a:r>
            <a:r>
              <a:rPr lang="en-US" altLang="zh-CN" b="1" dirty="0">
                <a:latin typeface="楷体_GB2312" pitchFamily="49" charset="-122"/>
                <a:ea typeface="楷体_GB2312" pitchFamily="49" charset="-122"/>
              </a:rPr>
              <a:t>RS-FF</a:t>
            </a:r>
            <a:r>
              <a:rPr lang="zh-CN" altLang="en-US" b="1" dirty="0">
                <a:latin typeface="楷体_GB2312" pitchFamily="49" charset="-122"/>
                <a:ea typeface="楷体_GB2312" pitchFamily="49" charset="-122"/>
              </a:rPr>
              <a:t>的</a:t>
            </a:r>
            <a:r>
              <a:rPr lang="zh-CN" altLang="en-US" b="1" dirty="0" smtClean="0">
                <a:latin typeface="楷体_GB2312" pitchFamily="49" charset="-122"/>
                <a:ea typeface="楷体_GB2312" pitchFamily="49" charset="-122"/>
              </a:rPr>
              <a:t>真值表（</a:t>
            </a:r>
            <a:r>
              <a:rPr lang="zh-CN" altLang="en-US" b="1" dirty="0">
                <a:latin typeface="楷体_GB2312" pitchFamily="49" charset="-122"/>
                <a:ea typeface="楷体_GB2312" pitchFamily="49" charset="-122"/>
              </a:rPr>
              <a:t>特性表）</a:t>
            </a:r>
            <a:r>
              <a:rPr lang="zh-CN" altLang="en-US" dirty="0">
                <a:latin typeface="楷体_GB2312" pitchFamily="49" charset="-122"/>
                <a:ea typeface="楷体_GB2312" pitchFamily="49" charset="-122"/>
              </a:rPr>
              <a:t>  </a:t>
            </a:r>
          </a:p>
        </p:txBody>
      </p:sp>
      <p:graphicFrame>
        <p:nvGraphicFramePr>
          <p:cNvPr id="7" name="Group 304"/>
          <p:cNvGraphicFramePr>
            <a:graphicFrameLocks noGrp="1"/>
          </p:cNvGraphicFramePr>
          <p:nvPr>
            <p:extLst>
              <p:ext uri="{D42A27DB-BD31-4B8C-83A1-F6EECF244321}">
                <p14:modId xmlns:p14="http://schemas.microsoft.com/office/powerpoint/2010/main" xmlns="" val="68181672"/>
              </p:ext>
            </p:extLst>
          </p:nvPr>
        </p:nvGraphicFramePr>
        <p:xfrm>
          <a:off x="5187627" y="3052380"/>
          <a:ext cx="3671887" cy="3568383"/>
        </p:xfrm>
        <a:graphic>
          <a:graphicData uri="http://schemas.openxmlformats.org/drawingml/2006/table">
            <a:tbl>
              <a:tblPr/>
              <a:tblGrid>
                <a:gridCol w="1368425">
                  <a:extLst>
                    <a:ext uri="{9D8B030D-6E8A-4147-A177-3AD203B41FA5}">
                      <a16:colId xmlns:a16="http://schemas.microsoft.com/office/drawing/2014/main" xmlns="" val="20000"/>
                    </a:ext>
                  </a:extLst>
                </a:gridCol>
                <a:gridCol w="792162">
                  <a:extLst>
                    <a:ext uri="{9D8B030D-6E8A-4147-A177-3AD203B41FA5}">
                      <a16:colId xmlns:a16="http://schemas.microsoft.com/office/drawing/2014/main" xmlns="" val="20001"/>
                    </a:ext>
                  </a:extLst>
                </a:gridCol>
                <a:gridCol w="720725">
                  <a:extLst>
                    <a:ext uri="{9D8B030D-6E8A-4147-A177-3AD203B41FA5}">
                      <a16:colId xmlns:a16="http://schemas.microsoft.com/office/drawing/2014/main" xmlns="" val="20002"/>
                    </a:ext>
                  </a:extLst>
                </a:gridCol>
                <a:gridCol w="790575">
                  <a:extLst>
                    <a:ext uri="{9D8B030D-6E8A-4147-A177-3AD203B41FA5}">
                      <a16:colId xmlns:a16="http://schemas.microsoft.com/office/drawing/2014/main" xmlns="" val="20003"/>
                    </a:ext>
                  </a:extLst>
                </a:gridCol>
              </a:tblGrid>
              <a:tr h="323850">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20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功能</a:t>
                      </a:r>
                    </a:p>
                  </a:txBody>
                  <a:tcPr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0"/>
                  </a:ext>
                </a:extLst>
              </a:tr>
              <a:tr h="323850">
                <a:tc rowSpan="2">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   1       1   </a:t>
                      </a:r>
                    </a:p>
                  </a:txBody>
                  <a:tcPr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0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r h="323850">
                <a:tc vMerge="1">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en-US"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zh-CN"/>
                    </a:p>
                  </a:txBody>
                  <a:tcPr/>
                </a:tc>
                <a:extLst>
                  <a:ext uri="{0D108BD9-81ED-4DB2-BD59-A6C34878D82A}">
                    <a16:rowId xmlns:a16="http://schemas.microsoft.com/office/drawing/2014/main" xmlns="" val="10002"/>
                  </a:ext>
                </a:extLst>
              </a:tr>
              <a:tr h="323850">
                <a:tc rowSpan="2">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   0       1</a:t>
                      </a:r>
                    </a:p>
                  </a:txBody>
                  <a:tcPr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3"/>
                  </a:ext>
                </a:extLst>
              </a:tr>
              <a:tr h="322263">
                <a:tc vMerge="1">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en-US"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zh-CN"/>
                    </a:p>
                  </a:txBody>
                  <a:tcPr/>
                </a:tc>
                <a:extLst>
                  <a:ext uri="{0D108BD9-81ED-4DB2-BD59-A6C34878D82A}">
                    <a16:rowId xmlns:a16="http://schemas.microsoft.com/office/drawing/2014/main" xmlns="" val="10004"/>
                  </a:ext>
                </a:extLst>
              </a:tr>
              <a:tr h="398463">
                <a:tc rowSpan="2">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  1       0</a:t>
                      </a:r>
                    </a:p>
                  </a:txBody>
                  <a:tcPr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en-US" altLang="zh-CN"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5"/>
                  </a:ext>
                </a:extLst>
              </a:tr>
              <a:tr h="323850">
                <a:tc vMerge="1">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en-US"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en-US"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zh-CN"/>
                    </a:p>
                  </a:txBody>
                  <a:tcPr/>
                </a:tc>
                <a:extLst>
                  <a:ext uri="{0D108BD9-81ED-4DB2-BD59-A6C34878D82A}">
                    <a16:rowId xmlns:a16="http://schemas.microsoft.com/office/drawing/2014/main" xmlns="" val="10006"/>
                  </a:ext>
                </a:extLst>
              </a:tr>
              <a:tr h="323850">
                <a:tc rowSpan="2">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  0       0</a:t>
                      </a:r>
                    </a:p>
                  </a:txBody>
                  <a:tcPr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en-US"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7"/>
                  </a:ext>
                </a:extLst>
              </a:tr>
              <a:tr h="323850">
                <a:tc vMerge="1">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en-US"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en-US"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zh-CN"/>
                    </a:p>
                  </a:txBody>
                  <a:tcPr/>
                </a:tc>
                <a:extLst>
                  <a:ext uri="{0D108BD9-81ED-4DB2-BD59-A6C34878D82A}">
                    <a16:rowId xmlns:a16="http://schemas.microsoft.com/office/drawing/2014/main" xmlns="" val="10008"/>
                  </a:ext>
                </a:extLst>
              </a:tr>
            </a:tbl>
          </a:graphicData>
        </a:graphic>
      </p:graphicFrame>
      <p:graphicFrame>
        <p:nvGraphicFramePr>
          <p:cNvPr id="10" name="Object 307"/>
          <p:cNvGraphicFramePr>
            <a:graphicFrameLocks noChangeAspect="1"/>
          </p:cNvGraphicFramePr>
          <p:nvPr>
            <p:extLst>
              <p:ext uri="{D42A27DB-BD31-4B8C-83A1-F6EECF244321}">
                <p14:modId xmlns:p14="http://schemas.microsoft.com/office/powerpoint/2010/main" xmlns="" val="1197558002"/>
              </p:ext>
            </p:extLst>
          </p:nvPr>
        </p:nvGraphicFramePr>
        <p:xfrm>
          <a:off x="6843389" y="3052380"/>
          <a:ext cx="365125" cy="387350"/>
        </p:xfrm>
        <a:graphic>
          <a:graphicData uri="http://schemas.openxmlformats.org/presentationml/2006/ole">
            <p:oleObj spid="_x0000_s122920" name="公式" r:id="rId4" imgW="215806" imgH="228501" progId="">
              <p:embed/>
            </p:oleObj>
          </a:graphicData>
        </a:graphic>
      </p:graphicFrame>
      <p:graphicFrame>
        <p:nvGraphicFramePr>
          <p:cNvPr id="11" name="Object 308"/>
          <p:cNvGraphicFramePr>
            <a:graphicFrameLocks noChangeAspect="1"/>
          </p:cNvGraphicFramePr>
          <p:nvPr>
            <p:extLst>
              <p:ext uri="{D42A27DB-BD31-4B8C-83A1-F6EECF244321}">
                <p14:modId xmlns:p14="http://schemas.microsoft.com/office/powerpoint/2010/main" xmlns="" val="962162632"/>
              </p:ext>
            </p:extLst>
          </p:nvPr>
        </p:nvGraphicFramePr>
        <p:xfrm>
          <a:off x="7491089" y="3052380"/>
          <a:ext cx="515938" cy="387350"/>
        </p:xfrm>
        <a:graphic>
          <a:graphicData uri="http://schemas.openxmlformats.org/presentationml/2006/ole">
            <p:oleObj spid="_x0000_s122921" name="公式" r:id="rId5" imgW="304668" imgH="228501" progId="">
              <p:embed/>
            </p:oleObj>
          </a:graphicData>
        </a:graphic>
      </p:graphicFrame>
      <p:sp>
        <p:nvSpPr>
          <p:cNvPr id="12" name="Text Box 309"/>
          <p:cNvSpPr txBox="1">
            <a:spLocks noChangeArrowheads="1"/>
          </p:cNvSpPr>
          <p:nvPr/>
        </p:nvSpPr>
        <p:spPr bwMode="auto">
          <a:xfrm>
            <a:off x="8138789" y="3627055"/>
            <a:ext cx="865188"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zh-CN" altLang="en-US">
                <a:solidFill>
                  <a:srgbClr val="FF0000"/>
                </a:solidFill>
                <a:ea typeface="黑体" panose="02010609060101010101" pitchFamily="2" charset="-122"/>
              </a:rPr>
              <a:t>保持</a:t>
            </a:r>
          </a:p>
        </p:txBody>
      </p:sp>
      <p:sp>
        <p:nvSpPr>
          <p:cNvPr id="13" name="Rectangle 347"/>
          <p:cNvSpPr>
            <a:spLocks noChangeArrowheads="1"/>
          </p:cNvSpPr>
          <p:nvPr/>
        </p:nvSpPr>
        <p:spPr bwMode="auto">
          <a:xfrm>
            <a:off x="7491089" y="3458780"/>
            <a:ext cx="328936"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pPr>
              <a:spcBef>
                <a:spcPct val="20000"/>
              </a:spcBef>
            </a:pPr>
            <a:r>
              <a:rPr lang="en-US" altLang="zh-CN" sz="2000" b="1"/>
              <a:t>0</a:t>
            </a:r>
          </a:p>
        </p:txBody>
      </p:sp>
      <p:sp>
        <p:nvSpPr>
          <p:cNvPr id="14" name="Rectangle 348"/>
          <p:cNvSpPr>
            <a:spLocks noChangeArrowheads="1"/>
          </p:cNvSpPr>
          <p:nvPr/>
        </p:nvSpPr>
        <p:spPr bwMode="auto">
          <a:xfrm>
            <a:off x="7491089" y="3866768"/>
            <a:ext cx="328936"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pPr>
              <a:spcBef>
                <a:spcPct val="20000"/>
              </a:spcBef>
            </a:pPr>
            <a:r>
              <a:rPr lang="en-US" altLang="zh-CN" sz="2000" b="1"/>
              <a:t>1</a:t>
            </a:r>
          </a:p>
        </p:txBody>
      </p:sp>
      <p:sp>
        <p:nvSpPr>
          <p:cNvPr id="15" name="Rectangle 349"/>
          <p:cNvSpPr>
            <a:spLocks noChangeArrowheads="1"/>
          </p:cNvSpPr>
          <p:nvPr/>
        </p:nvSpPr>
        <p:spPr bwMode="auto">
          <a:xfrm>
            <a:off x="7491089" y="4250943"/>
            <a:ext cx="325438"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pPr>
              <a:spcBef>
                <a:spcPct val="20000"/>
              </a:spcBef>
            </a:pPr>
            <a:r>
              <a:rPr lang="en-US" altLang="zh-CN" sz="2000" b="1" dirty="0">
                <a:solidFill>
                  <a:srgbClr val="0000CC"/>
                </a:solidFill>
              </a:rPr>
              <a:t>1</a:t>
            </a:r>
          </a:p>
        </p:txBody>
      </p:sp>
      <p:sp>
        <p:nvSpPr>
          <p:cNvPr id="16" name="Rectangle 350"/>
          <p:cNvSpPr>
            <a:spLocks noChangeArrowheads="1"/>
          </p:cNvSpPr>
          <p:nvPr/>
        </p:nvSpPr>
        <p:spPr bwMode="auto">
          <a:xfrm>
            <a:off x="7491089" y="4658930"/>
            <a:ext cx="325438"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pPr>
              <a:spcBef>
                <a:spcPct val="20000"/>
              </a:spcBef>
            </a:pPr>
            <a:r>
              <a:rPr lang="en-US" altLang="zh-CN" sz="2000" b="1" dirty="0">
                <a:solidFill>
                  <a:srgbClr val="0000CC"/>
                </a:solidFill>
              </a:rPr>
              <a:t>1</a:t>
            </a:r>
          </a:p>
        </p:txBody>
      </p:sp>
      <p:sp>
        <p:nvSpPr>
          <p:cNvPr id="17" name="Text Box 355"/>
          <p:cNvSpPr txBox="1">
            <a:spLocks noChangeArrowheads="1"/>
          </p:cNvSpPr>
          <p:nvPr/>
        </p:nvSpPr>
        <p:spPr bwMode="auto">
          <a:xfrm>
            <a:off x="8210227" y="4419218"/>
            <a:ext cx="865187"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zh-CN" altLang="en-US" dirty="0">
                <a:solidFill>
                  <a:srgbClr val="FF0000"/>
                </a:solidFill>
                <a:ea typeface="黑体" panose="02010609060101010101" pitchFamily="2" charset="-122"/>
              </a:rPr>
              <a:t>置</a:t>
            </a:r>
            <a:r>
              <a:rPr lang="en-US" altLang="zh-CN" dirty="0">
                <a:solidFill>
                  <a:srgbClr val="FF0000"/>
                </a:solidFill>
                <a:ea typeface="黑体" panose="02010609060101010101" pitchFamily="2" charset="-122"/>
              </a:rPr>
              <a:t>1</a:t>
            </a:r>
          </a:p>
        </p:txBody>
      </p:sp>
      <p:sp>
        <p:nvSpPr>
          <p:cNvPr id="18" name="TextBox 27"/>
          <p:cNvSpPr txBox="1"/>
          <p:nvPr/>
        </p:nvSpPr>
        <p:spPr>
          <a:xfrm>
            <a:off x="2716249" y="2999608"/>
            <a:ext cx="348172" cy="400110"/>
          </a:xfrm>
          <a:prstGeom prst="rect">
            <a:avLst/>
          </a:prstGeom>
          <a:noFill/>
        </p:spPr>
        <p:txBody>
          <a:bodyPr wrap="none" rtlCol="0">
            <a:spAutoFit/>
          </a:bodyPr>
          <a:lstStyle/>
          <a:p>
            <a:r>
              <a:rPr lang="en-US" altLang="zh-CN" sz="2000" b="1" dirty="0" smtClean="0">
                <a:solidFill>
                  <a:srgbClr val="FF0000"/>
                </a:solidFill>
              </a:rPr>
              <a:t>1</a:t>
            </a:r>
            <a:endParaRPr lang="zh-CN" altLang="en-US" sz="2000" b="1" dirty="0">
              <a:solidFill>
                <a:srgbClr val="FF0000"/>
              </a:solidFill>
            </a:endParaRPr>
          </a:p>
        </p:txBody>
      </p:sp>
      <p:sp>
        <p:nvSpPr>
          <p:cNvPr id="19" name="TextBox 28"/>
          <p:cNvSpPr txBox="1"/>
          <p:nvPr/>
        </p:nvSpPr>
        <p:spPr>
          <a:xfrm>
            <a:off x="932284" y="2851195"/>
            <a:ext cx="328936" cy="400110"/>
          </a:xfrm>
          <a:prstGeom prst="rect">
            <a:avLst/>
          </a:prstGeom>
          <a:noFill/>
        </p:spPr>
        <p:txBody>
          <a:bodyPr wrap="none" rtlCol="0">
            <a:spAutoFit/>
          </a:bodyPr>
          <a:lstStyle/>
          <a:p>
            <a:r>
              <a:rPr lang="en-US" altLang="zh-CN" sz="2000" b="1" dirty="0" smtClean="0">
                <a:solidFill>
                  <a:srgbClr val="0231B6"/>
                </a:solidFill>
              </a:rPr>
              <a:t>0</a:t>
            </a:r>
            <a:endParaRPr lang="zh-CN" altLang="en-US" sz="2000" b="1" dirty="0">
              <a:solidFill>
                <a:srgbClr val="0231B6"/>
              </a:solidFill>
            </a:endParaRPr>
          </a:p>
        </p:txBody>
      </p:sp>
      <p:sp>
        <p:nvSpPr>
          <p:cNvPr id="20" name="TextBox 29"/>
          <p:cNvSpPr txBox="1"/>
          <p:nvPr/>
        </p:nvSpPr>
        <p:spPr>
          <a:xfrm>
            <a:off x="1001711" y="4971465"/>
            <a:ext cx="348172" cy="400110"/>
          </a:xfrm>
          <a:prstGeom prst="rect">
            <a:avLst/>
          </a:prstGeom>
          <a:noFill/>
        </p:spPr>
        <p:txBody>
          <a:bodyPr wrap="none" rtlCol="0">
            <a:spAutoFit/>
          </a:bodyPr>
          <a:lstStyle/>
          <a:p>
            <a:r>
              <a:rPr lang="en-US" altLang="zh-CN" sz="2000" b="1" dirty="0" smtClean="0">
                <a:solidFill>
                  <a:srgbClr val="FF0000"/>
                </a:solidFill>
              </a:rPr>
              <a:t>1</a:t>
            </a:r>
            <a:endParaRPr lang="zh-CN" altLang="en-US" sz="2000" b="1" dirty="0">
              <a:solidFill>
                <a:srgbClr val="FF0000"/>
              </a:solidFill>
            </a:endParaRPr>
          </a:p>
        </p:txBody>
      </p:sp>
      <p:sp>
        <p:nvSpPr>
          <p:cNvPr id="21" name="TextBox 30"/>
          <p:cNvSpPr txBox="1"/>
          <p:nvPr/>
        </p:nvSpPr>
        <p:spPr>
          <a:xfrm>
            <a:off x="2104738" y="2999608"/>
            <a:ext cx="328936" cy="400110"/>
          </a:xfrm>
          <a:prstGeom prst="rect">
            <a:avLst/>
          </a:prstGeom>
          <a:noFill/>
        </p:spPr>
        <p:txBody>
          <a:bodyPr wrap="none" rtlCol="0">
            <a:spAutoFit/>
          </a:bodyPr>
          <a:lstStyle/>
          <a:p>
            <a:r>
              <a:rPr lang="en-US" altLang="zh-CN" sz="2000" b="1" dirty="0" smtClean="0">
                <a:solidFill>
                  <a:srgbClr val="C00000"/>
                </a:solidFill>
              </a:rPr>
              <a:t>1</a:t>
            </a:r>
            <a:endParaRPr lang="zh-CN" altLang="en-US" sz="2000" b="1" dirty="0">
              <a:solidFill>
                <a:srgbClr val="C00000"/>
              </a:solidFill>
            </a:endParaRPr>
          </a:p>
        </p:txBody>
      </p:sp>
      <p:sp>
        <p:nvSpPr>
          <p:cNvPr id="22" name="TextBox 31"/>
          <p:cNvSpPr txBox="1"/>
          <p:nvPr/>
        </p:nvSpPr>
        <p:spPr>
          <a:xfrm>
            <a:off x="2017047" y="4771410"/>
            <a:ext cx="348172" cy="400110"/>
          </a:xfrm>
          <a:prstGeom prst="rect">
            <a:avLst/>
          </a:prstGeom>
          <a:noFill/>
        </p:spPr>
        <p:txBody>
          <a:bodyPr wrap="none" rtlCol="0">
            <a:spAutoFit/>
          </a:bodyPr>
          <a:lstStyle/>
          <a:p>
            <a:r>
              <a:rPr lang="en-US" altLang="zh-CN" sz="2000" b="1" dirty="0" smtClean="0">
                <a:solidFill>
                  <a:srgbClr val="0000CC"/>
                </a:solidFill>
              </a:rPr>
              <a:t>0</a:t>
            </a:r>
            <a:endParaRPr lang="zh-CN" altLang="en-US" sz="2000" b="1" dirty="0">
              <a:solidFill>
                <a:srgbClr val="0000CC"/>
              </a:solidFill>
            </a:endParaRPr>
          </a:p>
        </p:txBody>
      </p:sp>
      <p:sp>
        <p:nvSpPr>
          <p:cNvPr id="24" name="标题 1"/>
          <p:cNvSpPr>
            <a:spLocks noGrp="1"/>
          </p:cNvSpPr>
          <p:nvPr>
            <p:ph type="title"/>
          </p:nvPr>
        </p:nvSpPr>
        <p:spPr>
          <a:xfrm>
            <a:off x="1043608" y="1124744"/>
            <a:ext cx="7704856" cy="566936"/>
          </a:xfrm>
        </p:spPr>
        <p:txBody>
          <a:bodyPr/>
          <a:lstStyle/>
          <a:p>
            <a:r>
              <a:rPr lang="en-US" altLang="zh-CN" dirty="0" smtClean="0"/>
              <a:t>5.1.1 </a:t>
            </a:r>
            <a:r>
              <a:rPr lang="zh-CN" altLang="en-US" dirty="0" smtClean="0"/>
              <a:t>由与非门构成的基本</a:t>
            </a:r>
            <a:r>
              <a:rPr lang="en-US" altLang="zh-CN" dirty="0"/>
              <a:t>RS</a:t>
            </a:r>
            <a:r>
              <a:rPr lang="zh-CN" altLang="en-US" dirty="0"/>
              <a:t>触发器</a:t>
            </a:r>
          </a:p>
        </p:txBody>
      </p:sp>
      <p:sp>
        <p:nvSpPr>
          <p:cNvPr id="25" name="标题 1"/>
          <p:cNvSpPr txBox="1">
            <a:spLocks/>
          </p:cNvSpPr>
          <p:nvPr/>
        </p:nvSpPr>
        <p:spPr bwMode="auto">
          <a:xfrm>
            <a:off x="1043608" y="332656"/>
            <a:ext cx="7704856" cy="5669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5.1 </a:t>
            </a:r>
            <a:r>
              <a:rPr kumimoji="1" lang="zh-CN" altLang="en-US" sz="3200" b="1" kern="0" dirty="0" smtClean="0">
                <a:solidFill>
                  <a:schemeClr val="tx2"/>
                </a:solidFill>
                <a:latin typeface="+mj-lt"/>
                <a:ea typeface="+mj-ea"/>
                <a:cs typeface="+mj-cs"/>
              </a:rPr>
              <a:t>电平触发的</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触发器</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graphicFrame>
        <p:nvGraphicFramePr>
          <p:cNvPr id="122923" name="Object 43"/>
          <p:cNvGraphicFramePr>
            <a:graphicFrameLocks noChangeAspect="1"/>
          </p:cNvGraphicFramePr>
          <p:nvPr/>
        </p:nvGraphicFramePr>
        <p:xfrm>
          <a:off x="5436096" y="3068960"/>
          <a:ext cx="288925" cy="382588"/>
        </p:xfrm>
        <a:graphic>
          <a:graphicData uri="http://schemas.openxmlformats.org/presentationml/2006/ole">
            <p:oleObj spid="_x0000_s122923" r:id="rId6" imgW="152280" imgH="203040" progId="">
              <p:embed/>
            </p:oleObj>
          </a:graphicData>
        </a:graphic>
      </p:graphicFrame>
      <p:graphicFrame>
        <p:nvGraphicFramePr>
          <p:cNvPr id="122924" name="Object 44"/>
          <p:cNvGraphicFramePr>
            <a:graphicFrameLocks noChangeAspect="1"/>
          </p:cNvGraphicFramePr>
          <p:nvPr/>
        </p:nvGraphicFramePr>
        <p:xfrm>
          <a:off x="6012358" y="3092773"/>
          <a:ext cx="279400" cy="320675"/>
        </p:xfrm>
        <a:graphic>
          <a:graphicData uri="http://schemas.openxmlformats.org/presentationml/2006/ole">
            <p:oleObj spid="_x0000_s122924" r:id="rId7" imgW="164880" imgH="190440" progId="">
              <p:embed/>
            </p:oleObj>
          </a:graphicData>
        </a:graphic>
      </p:graphicFrame>
    </p:spTree>
    <p:extLst>
      <p:ext uri="{BB962C8B-B14F-4D97-AF65-F5344CB8AC3E}">
        <p14:creationId xmlns:p14="http://schemas.microsoft.com/office/powerpoint/2010/main" xmlns="" val="11160330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par>
                                <p:cTn id="7" presetID="0" presetClass="path" presetSubtype="0" accel="50000" decel="50000" fill="hold" grpId="0" nodeType="withEffect">
                                  <p:stCondLst>
                                    <p:cond delay="0"/>
                                  </p:stCondLst>
                                  <p:childTnLst>
                                    <p:animMotion origin="layout" path="M -2.77778E-7 3.33333E-6 L -2.77778E-7 0.00023 C 0.01719 -0.00301 0.00191 -0.0007 0.04219 3.33333E-6 C 0.04618 0.00023 0.05052 3.33333E-6 0.05469 3.33333E-6 " pathEditMode="relative" rAng="0" ptsTypes="AAAA">
                                      <p:cBhvr>
                                        <p:cTn id="8" dur="1000" fill="hold"/>
                                        <p:tgtEl>
                                          <p:spTgt spid="21"/>
                                        </p:tgtEl>
                                        <p:attrNameLst>
                                          <p:attrName>ppt_x</p:attrName>
                                          <p:attrName>ppt_y</p:attrName>
                                        </p:attrNameLst>
                                      </p:cBhvr>
                                      <p:rCtr x="2726" y="-69"/>
                                    </p:animMotion>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par>
                                <p:cTn id="13" presetID="0" presetClass="path" presetSubtype="0" accel="50000" decel="50000" fill="hold" grpId="1" nodeType="withEffect">
                                  <p:stCondLst>
                                    <p:cond delay="0"/>
                                  </p:stCondLst>
                                  <p:childTnLst>
                                    <p:animMotion origin="layout" path="M -0.01666 0.01389 L -0.01666 0.01412 C -0.01649 0.01643 -0.01649 0.01944 -0.01614 0.02199 C -0.01597 0.02314 -0.0158 0.02384 -0.01562 0.02477 C -0.01528 0.02893 -0.01493 0.03472 -0.01458 0.03865 C -0.01441 0.0412 -0.01389 0.04305 -0.01354 0.04514 C -0.01215 0.06273 -0.01232 0.05787 -0.01354 0.08958 C -0.01354 0.09074 -0.01406 0.09166 -0.01458 0.09236 C -0.01528 0.09328 -0.01597 0.09375 -0.01666 0.09421 C -0.01701 0.09514 -0.01719 0.09652 -0.01771 0.09699 C -0.0184 0.09791 -0.01909 0.09745 -0.01979 0.09791 C -0.021 0.09907 -0.02205 0.10023 -0.02291 0.10162 C -0.02534 0.10625 -0.02361 0.10324 -0.02708 0.10717 C -0.02812 0.10856 -0.02899 0.11018 -0.03021 0.11088 C -0.03125 0.11157 -0.03246 0.1118 -0.03333 0.11273 C -0.03385 0.11342 -0.03437 0.11412 -0.03489 0.11458 C -0.03576 0.11527 -0.03784 0.1162 -0.03854 0.11643 C -0.04305 0.12176 -0.03732 0.11551 -0.04166 0.11921 C -0.04462 0.12199 -0.04166 0.1206 -0.04531 0.12291 C -0.046 0.12338 -0.0467 0.12361 -0.04739 0.12384 C -0.05104 0.12824 -0.04653 0.12314 -0.05156 0.12754 C -0.05208 0.12824 -0.0526 0.12916 -0.05312 0.12939 C -0.05573 0.13148 -0.06007 0.1324 -0.0625 0.1331 C -0.06337 0.13379 -0.06423 0.13449 -0.0651 0.13495 C -0.06614 0.13564 -0.06788 0.13611 -0.06875 0.1368 C -0.06944 0.1375 -0.06979 0.13842 -0.07031 0.13865 C -0.071 0.13935 -0.0717 0.13935 -0.07239 0.13958 C -0.075 0.14074 -0.07778 0.14097 -0.08021 0.14236 C -0.08073 0.14282 -0.08125 0.14305 -0.08177 0.14328 C -0.08264 0.14375 -0.08368 0.14398 -0.08437 0.14421 C -0.08541 0.1449 -0.08663 0.14514 -0.0875 0.14606 C -0.08802 0.14676 -0.08854 0.14768 -0.08906 0.14791 C -0.09427 0.15115 -0.09045 0.14745 -0.09375 0.14977 C -0.09878 0.1537 -0.09305 0.14953 -0.09739 0.15439 C -0.09791 0.15509 -0.09861 0.15486 -0.09896 0.15532 C -0.10017 0.15648 -0.10104 0.1581 -0.10208 0.15902 C -0.10295 0.15972 -0.10347 0.16041 -0.10416 0.16088 C -0.10521 0.1618 -0.10642 0.16203 -0.10729 0.16273 C -0.10816 0.16342 -0.10868 0.16412 -0.10937 0.16458 C -0.10989 0.16504 -0.11059 0.16527 -0.11094 0.16551 C -0.11163 0.1662 -0.11198 0.16713 -0.1125 0.16736 C -0.11354 0.16828 -0.11475 0.16828 -0.11562 0.16921 C -0.11614 0.1699 -0.11684 0.17037 -0.11719 0.17106 C -0.11788 0.17199 -0.11823 0.17314 -0.11875 0.17384 C -0.11927 0.17453 -0.11996 0.17453 -0.12031 0.17477 C -0.121 0.17546 -0.12135 0.17639 -0.12187 0.17662 C -0.12257 0.17731 -0.12326 0.17708 -0.12396 0.17754 C -0.12534 0.1787 -0.12691 0.18009 -0.12812 0.18125 C -0.12899 0.18194 -0.12969 0.18217 -0.13021 0.1831 C -0.13073 0.18402 -0.13125 0.18518 -0.13177 0.18588 C -0.13246 0.18703 -0.13316 0.18773 -0.13385 0.18865 C -0.13541 0.1912 -0.13541 0.19143 -0.13646 0.19421 C -0.13576 0.26041 -0.14409 0.23773 -0.09791 0.23773 " pathEditMode="relative" rAng="0" ptsTypes="AAAAAAAAAAAAAAAAAAAAAAAAAAAAAAAAAAAAAAAAAAAAAAAAAAAAA">
                                      <p:cBhvr>
                                        <p:cTn id="14" dur="1000" fill="hold"/>
                                        <p:tgtEl>
                                          <p:spTgt spid="18"/>
                                        </p:tgtEl>
                                        <p:attrNameLst>
                                          <p:attrName>ppt_x</p:attrName>
                                          <p:attrName>ppt_y</p:attrName>
                                        </p:attrNameLst>
                                      </p:cBhvr>
                                      <p:rCtr x="-5816" y="11366"/>
                                    </p:animMotion>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par>
                                <p:cTn id="19" presetID="0" presetClass="path" presetSubtype="0" accel="50000" decel="50000" fill="hold" grpId="1" nodeType="withEffect">
                                  <p:stCondLst>
                                    <p:cond delay="0"/>
                                  </p:stCondLst>
                                  <p:childTnLst>
                                    <p:animMotion origin="layout" path="M 0.00157 1.11022E-16 L 0.00157 0.00023 C 0.00539 0.00023 0.00955 0.00046 0.01355 0.00093 C 0.01476 0.00093 0.0158 0.00139 0.01719 0.00185 C 0.02657 0.0044 0.0132 0.00093 0.02396 0.0037 C 0.03039 0.00324 0.03664 0.00347 0.04323 0.00278 C 0.04375 0.00255 0.0441 0.00139 0.0448 0.00093 C 0.04514 0.00046 0.04566 1.11022E-16 0.04636 1.11022E-16 C 0.04809 -0.00023 0.04983 1.11022E-16 0.05157 1.11022E-16 " pathEditMode="relative" rAng="0" ptsTypes="AAAAAAAAA">
                                      <p:cBhvr>
                                        <p:cTn id="20" dur="1000" fill="hold"/>
                                        <p:tgtEl>
                                          <p:spTgt spid="22"/>
                                        </p:tgtEl>
                                        <p:attrNameLst>
                                          <p:attrName>ppt_x</p:attrName>
                                          <p:attrName>ppt_y</p:attrName>
                                        </p:attrNameLst>
                                      </p:cBhvr>
                                      <p:rCtr x="2500" y="162"/>
                                    </p:animMotion>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17" grpId="0"/>
      <p:bldP spid="18" grpId="0"/>
      <p:bldP spid="18" grpId="1"/>
      <p:bldP spid="21" grpId="0"/>
      <p:bldP spid="21" grpId="1"/>
      <p:bldP spid="22" grpId="0"/>
      <p:bldP spid="22" grpId="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3946" name="Picture 42"/>
          <p:cNvPicPr>
            <a:picLocks noChangeAspect="1" noChangeArrowheads="1"/>
          </p:cNvPicPr>
          <p:nvPr/>
        </p:nvPicPr>
        <p:blipFill>
          <a:blip r:embed="rId3" cstate="print"/>
          <a:srcRect/>
          <a:stretch>
            <a:fillRect/>
          </a:stretch>
        </p:blipFill>
        <p:spPr bwMode="auto">
          <a:xfrm>
            <a:off x="683568" y="2852936"/>
            <a:ext cx="2581275" cy="2790825"/>
          </a:xfrm>
          <a:prstGeom prst="rect">
            <a:avLst/>
          </a:prstGeom>
          <a:noFill/>
          <a:ln w="9525">
            <a:noFill/>
            <a:miter lim="800000"/>
            <a:headEnd/>
            <a:tailEnd/>
          </a:ln>
        </p:spPr>
      </p:pic>
      <p:sp>
        <p:nvSpPr>
          <p:cNvPr id="3" name="矩形 2"/>
          <p:cNvSpPr/>
          <p:nvPr/>
        </p:nvSpPr>
        <p:spPr>
          <a:xfrm>
            <a:off x="386476" y="2037363"/>
            <a:ext cx="4315604" cy="400110"/>
          </a:xfrm>
          <a:prstGeom prst="rect">
            <a:avLst/>
          </a:prstGeom>
          <a:solidFill>
            <a:srgbClr val="0341E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nchor="ctr">
            <a:spAutoFit/>
          </a:bodyPr>
          <a:lstStyle/>
          <a:p>
            <a:pPr algn="ctr"/>
            <a:r>
              <a:rPr lang="zh-CN" altLang="en-US" sz="2000" b="1" dirty="0">
                <a:solidFill>
                  <a:schemeClr val="bg1"/>
                </a:solidFill>
                <a:latin typeface="黑体" panose="02010609060101010101" pitchFamily="49" charset="-122"/>
                <a:ea typeface="黑体" panose="02010609060101010101" pitchFamily="49" charset="-122"/>
              </a:rPr>
              <a:t>与非门构成的基本</a:t>
            </a:r>
            <a:r>
              <a:rPr lang="en-US" altLang="zh-CN" sz="2000" b="1" dirty="0" smtClean="0">
                <a:solidFill>
                  <a:schemeClr val="bg1"/>
                </a:solidFill>
                <a:latin typeface="黑体" panose="02010609060101010101" pitchFamily="49" charset="-122"/>
                <a:ea typeface="黑体" panose="02010609060101010101" pitchFamily="49" charset="-122"/>
              </a:rPr>
              <a:t>RS</a:t>
            </a:r>
            <a:r>
              <a:rPr lang="zh-CN" altLang="en-US" sz="2000" b="1" dirty="0" smtClean="0">
                <a:solidFill>
                  <a:schemeClr val="bg1"/>
                </a:solidFill>
                <a:latin typeface="黑体" panose="02010609060101010101" pitchFamily="49" charset="-122"/>
                <a:ea typeface="黑体" panose="02010609060101010101" pitchFamily="49" charset="-122"/>
              </a:rPr>
              <a:t>锁存器工作原理</a:t>
            </a:r>
            <a:endParaRPr lang="zh-CN" altLang="en-US" sz="2000" b="1" dirty="0">
              <a:solidFill>
                <a:schemeClr val="bg1"/>
              </a:solidFill>
              <a:latin typeface="黑体" panose="02010609060101010101" pitchFamily="49" charset="-122"/>
              <a:ea typeface="黑体" panose="02010609060101010101" pitchFamily="49" charset="-122"/>
            </a:endParaRPr>
          </a:p>
        </p:txBody>
      </p:sp>
      <p:sp>
        <p:nvSpPr>
          <p:cNvPr id="4" name="矩形 3"/>
          <p:cNvSpPr/>
          <p:nvPr/>
        </p:nvSpPr>
        <p:spPr>
          <a:xfrm>
            <a:off x="251520" y="6110330"/>
            <a:ext cx="3972562" cy="369332"/>
          </a:xfrm>
          <a:prstGeom prst="rect">
            <a:avLst/>
          </a:prstGeom>
        </p:spPr>
        <p:txBody>
          <a:bodyPr wrap="none">
            <a:spAutoFit/>
          </a:bodyPr>
          <a:lstStyle/>
          <a:p>
            <a:r>
              <a:rPr lang="zh-CN" altLang="en-US" b="1" dirty="0" smtClean="0">
                <a:latin typeface="楷体_GB2312" pitchFamily="49" charset="-122"/>
                <a:ea typeface="楷体_GB2312" pitchFamily="49" charset="-122"/>
              </a:rPr>
              <a:t>图 与非门</a:t>
            </a:r>
            <a:r>
              <a:rPr lang="zh-CN" altLang="en-US" b="1" dirty="0">
                <a:latin typeface="楷体_GB2312" pitchFamily="49" charset="-122"/>
                <a:ea typeface="楷体_GB2312" pitchFamily="49" charset="-122"/>
              </a:rPr>
              <a:t>构成的基本</a:t>
            </a:r>
            <a:r>
              <a:rPr lang="en-US" altLang="zh-CN" b="1" dirty="0">
                <a:latin typeface="楷体_GB2312" pitchFamily="49" charset="-122"/>
                <a:ea typeface="楷体_GB2312" pitchFamily="49" charset="-122"/>
              </a:rPr>
              <a:t>RS-FF</a:t>
            </a:r>
            <a:r>
              <a:rPr lang="zh-CN" altLang="en-US" b="1" dirty="0">
                <a:latin typeface="楷体_GB2312" pitchFamily="49" charset="-122"/>
                <a:ea typeface="楷体_GB2312" pitchFamily="49" charset="-122"/>
              </a:rPr>
              <a:t>的逻辑图</a:t>
            </a:r>
            <a:r>
              <a:rPr lang="zh-CN" altLang="en-US" dirty="0"/>
              <a:t> </a:t>
            </a:r>
          </a:p>
        </p:txBody>
      </p:sp>
      <p:sp>
        <p:nvSpPr>
          <p:cNvPr id="6" name="Text Box 9"/>
          <p:cNvSpPr txBox="1">
            <a:spLocks noChangeArrowheads="1"/>
          </p:cNvSpPr>
          <p:nvPr/>
        </p:nvSpPr>
        <p:spPr bwMode="auto">
          <a:xfrm>
            <a:off x="5123094" y="2181453"/>
            <a:ext cx="4020906" cy="64633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p>
            <a:pPr algn="ctr">
              <a:spcBef>
                <a:spcPct val="50000"/>
              </a:spcBef>
            </a:pPr>
            <a:r>
              <a:rPr lang="zh-CN" altLang="en-US" b="1" dirty="0" smtClean="0">
                <a:latin typeface="楷体_GB2312" pitchFamily="49" charset="-122"/>
                <a:ea typeface="楷体_GB2312" pitchFamily="49" charset="-122"/>
              </a:rPr>
              <a:t>表</a:t>
            </a:r>
            <a:r>
              <a:rPr lang="en-US" altLang="zh-CN" b="1" dirty="0" smtClean="0">
                <a:latin typeface="楷体_GB2312" pitchFamily="49" charset="-122"/>
                <a:ea typeface="楷体_GB2312" pitchFamily="49" charset="-122"/>
              </a:rPr>
              <a:t> </a:t>
            </a:r>
            <a:r>
              <a:rPr lang="en-US" altLang="zh-CN" dirty="0" smtClean="0">
                <a:latin typeface="楷体_GB2312" pitchFamily="49" charset="-122"/>
                <a:ea typeface="楷体_GB2312" pitchFamily="49" charset="-122"/>
              </a:rPr>
              <a:t> </a:t>
            </a:r>
            <a:r>
              <a:rPr lang="zh-CN" altLang="en-US" b="1" dirty="0" smtClean="0">
                <a:latin typeface="楷体_GB2312" pitchFamily="49" charset="-122"/>
                <a:ea typeface="楷体_GB2312" pitchFamily="49" charset="-122"/>
              </a:rPr>
              <a:t>与非门</a:t>
            </a:r>
            <a:r>
              <a:rPr lang="zh-CN" altLang="en-US" b="1" dirty="0">
                <a:latin typeface="楷体_GB2312" pitchFamily="49" charset="-122"/>
                <a:ea typeface="楷体_GB2312" pitchFamily="49" charset="-122"/>
              </a:rPr>
              <a:t>构成的基本</a:t>
            </a:r>
            <a:r>
              <a:rPr lang="en-US" altLang="zh-CN" b="1" dirty="0">
                <a:latin typeface="楷体_GB2312" pitchFamily="49" charset="-122"/>
                <a:ea typeface="楷体_GB2312" pitchFamily="49" charset="-122"/>
              </a:rPr>
              <a:t>RS-FF</a:t>
            </a:r>
            <a:r>
              <a:rPr lang="zh-CN" altLang="en-US" b="1" dirty="0">
                <a:latin typeface="楷体_GB2312" pitchFamily="49" charset="-122"/>
                <a:ea typeface="楷体_GB2312" pitchFamily="49" charset="-122"/>
              </a:rPr>
              <a:t>的</a:t>
            </a:r>
            <a:r>
              <a:rPr lang="zh-CN" altLang="en-US" b="1" dirty="0" smtClean="0">
                <a:latin typeface="楷体_GB2312" pitchFamily="49" charset="-122"/>
                <a:ea typeface="楷体_GB2312" pitchFamily="49" charset="-122"/>
              </a:rPr>
              <a:t>真值表（</a:t>
            </a:r>
            <a:r>
              <a:rPr lang="zh-CN" altLang="en-US" b="1" dirty="0">
                <a:latin typeface="楷体_GB2312" pitchFamily="49" charset="-122"/>
                <a:ea typeface="楷体_GB2312" pitchFamily="49" charset="-122"/>
              </a:rPr>
              <a:t>特性表）</a:t>
            </a:r>
            <a:r>
              <a:rPr lang="zh-CN" altLang="en-US" dirty="0">
                <a:latin typeface="楷体_GB2312" pitchFamily="49" charset="-122"/>
                <a:ea typeface="楷体_GB2312" pitchFamily="49" charset="-122"/>
              </a:rPr>
              <a:t>  </a:t>
            </a:r>
          </a:p>
        </p:txBody>
      </p:sp>
      <p:graphicFrame>
        <p:nvGraphicFramePr>
          <p:cNvPr id="7" name="Group 304"/>
          <p:cNvGraphicFramePr>
            <a:graphicFrameLocks noGrp="1"/>
          </p:cNvGraphicFramePr>
          <p:nvPr>
            <p:extLst>
              <p:ext uri="{D42A27DB-BD31-4B8C-83A1-F6EECF244321}">
                <p14:modId xmlns:p14="http://schemas.microsoft.com/office/powerpoint/2010/main" xmlns="" val="2838900810"/>
              </p:ext>
            </p:extLst>
          </p:nvPr>
        </p:nvGraphicFramePr>
        <p:xfrm>
          <a:off x="5233909" y="3028969"/>
          <a:ext cx="3671887" cy="3568383"/>
        </p:xfrm>
        <a:graphic>
          <a:graphicData uri="http://schemas.openxmlformats.org/drawingml/2006/table">
            <a:tbl>
              <a:tblPr/>
              <a:tblGrid>
                <a:gridCol w="1368425">
                  <a:extLst>
                    <a:ext uri="{9D8B030D-6E8A-4147-A177-3AD203B41FA5}">
                      <a16:colId xmlns:a16="http://schemas.microsoft.com/office/drawing/2014/main" xmlns="" val="20000"/>
                    </a:ext>
                  </a:extLst>
                </a:gridCol>
                <a:gridCol w="792162">
                  <a:extLst>
                    <a:ext uri="{9D8B030D-6E8A-4147-A177-3AD203B41FA5}">
                      <a16:colId xmlns:a16="http://schemas.microsoft.com/office/drawing/2014/main" xmlns="" val="20001"/>
                    </a:ext>
                  </a:extLst>
                </a:gridCol>
                <a:gridCol w="720725">
                  <a:extLst>
                    <a:ext uri="{9D8B030D-6E8A-4147-A177-3AD203B41FA5}">
                      <a16:colId xmlns:a16="http://schemas.microsoft.com/office/drawing/2014/main" xmlns="" val="20002"/>
                    </a:ext>
                  </a:extLst>
                </a:gridCol>
                <a:gridCol w="790575">
                  <a:extLst>
                    <a:ext uri="{9D8B030D-6E8A-4147-A177-3AD203B41FA5}">
                      <a16:colId xmlns:a16="http://schemas.microsoft.com/office/drawing/2014/main" xmlns="" val="20003"/>
                    </a:ext>
                  </a:extLst>
                </a:gridCol>
              </a:tblGrid>
              <a:tr h="323850">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20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功能</a:t>
                      </a:r>
                    </a:p>
                  </a:txBody>
                  <a:tcPr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0"/>
                  </a:ext>
                </a:extLst>
              </a:tr>
              <a:tr h="323850">
                <a:tc rowSpan="2">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   1       1   </a:t>
                      </a:r>
                    </a:p>
                  </a:txBody>
                  <a:tcPr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0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r h="323850">
                <a:tc vMerge="1">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en-US"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zh-CN"/>
                    </a:p>
                  </a:txBody>
                  <a:tcPr/>
                </a:tc>
                <a:extLst>
                  <a:ext uri="{0D108BD9-81ED-4DB2-BD59-A6C34878D82A}">
                    <a16:rowId xmlns:a16="http://schemas.microsoft.com/office/drawing/2014/main" xmlns="" val="10002"/>
                  </a:ext>
                </a:extLst>
              </a:tr>
              <a:tr h="323850">
                <a:tc rowSpan="2">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   0       1</a:t>
                      </a:r>
                    </a:p>
                  </a:txBody>
                  <a:tcPr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3"/>
                  </a:ext>
                </a:extLst>
              </a:tr>
              <a:tr h="322263">
                <a:tc vMerge="1">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en-US"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zh-CN"/>
                    </a:p>
                  </a:txBody>
                  <a:tcPr/>
                </a:tc>
                <a:extLst>
                  <a:ext uri="{0D108BD9-81ED-4DB2-BD59-A6C34878D82A}">
                    <a16:rowId xmlns:a16="http://schemas.microsoft.com/office/drawing/2014/main" xmlns="" val="10004"/>
                  </a:ext>
                </a:extLst>
              </a:tr>
              <a:tr h="398463">
                <a:tc rowSpan="2">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   1       0</a:t>
                      </a:r>
                    </a:p>
                  </a:txBody>
                  <a:tcPr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5"/>
                  </a:ext>
                </a:extLst>
              </a:tr>
              <a:tr h="323850">
                <a:tc vMerge="1">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en-US"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zh-CN"/>
                    </a:p>
                  </a:txBody>
                  <a:tcPr/>
                </a:tc>
                <a:extLst>
                  <a:ext uri="{0D108BD9-81ED-4DB2-BD59-A6C34878D82A}">
                    <a16:rowId xmlns:a16="http://schemas.microsoft.com/office/drawing/2014/main" xmlns="" val="10006"/>
                  </a:ext>
                </a:extLst>
              </a:tr>
              <a:tr h="323850">
                <a:tc rowSpan="2">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   0       0</a:t>
                      </a:r>
                    </a:p>
                  </a:txBody>
                  <a:tcPr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en-US"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7"/>
                  </a:ext>
                </a:extLst>
              </a:tr>
              <a:tr h="323850">
                <a:tc vMerge="1">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en-US"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en-US"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zh-CN"/>
                    </a:p>
                  </a:txBody>
                  <a:tcPr/>
                </a:tc>
                <a:extLst>
                  <a:ext uri="{0D108BD9-81ED-4DB2-BD59-A6C34878D82A}">
                    <a16:rowId xmlns:a16="http://schemas.microsoft.com/office/drawing/2014/main" xmlns="" val="10008"/>
                  </a:ext>
                </a:extLst>
              </a:tr>
            </a:tbl>
          </a:graphicData>
        </a:graphic>
      </p:graphicFrame>
      <p:graphicFrame>
        <p:nvGraphicFramePr>
          <p:cNvPr id="10" name="Object 307"/>
          <p:cNvGraphicFramePr>
            <a:graphicFrameLocks noChangeAspect="1"/>
          </p:cNvGraphicFramePr>
          <p:nvPr>
            <p:extLst>
              <p:ext uri="{D42A27DB-BD31-4B8C-83A1-F6EECF244321}">
                <p14:modId xmlns:p14="http://schemas.microsoft.com/office/powerpoint/2010/main" xmlns="" val="1198494178"/>
              </p:ext>
            </p:extLst>
          </p:nvPr>
        </p:nvGraphicFramePr>
        <p:xfrm>
          <a:off x="6889671" y="3028969"/>
          <a:ext cx="365125" cy="387350"/>
        </p:xfrm>
        <a:graphic>
          <a:graphicData uri="http://schemas.openxmlformats.org/presentationml/2006/ole">
            <p:oleObj spid="_x0000_s123944" name="公式" r:id="rId4" imgW="215806" imgH="228501" progId="">
              <p:embed/>
            </p:oleObj>
          </a:graphicData>
        </a:graphic>
      </p:graphicFrame>
      <p:graphicFrame>
        <p:nvGraphicFramePr>
          <p:cNvPr id="11" name="Object 308"/>
          <p:cNvGraphicFramePr>
            <a:graphicFrameLocks noChangeAspect="1"/>
          </p:cNvGraphicFramePr>
          <p:nvPr>
            <p:extLst>
              <p:ext uri="{D42A27DB-BD31-4B8C-83A1-F6EECF244321}">
                <p14:modId xmlns:p14="http://schemas.microsoft.com/office/powerpoint/2010/main" xmlns="" val="1549841693"/>
              </p:ext>
            </p:extLst>
          </p:nvPr>
        </p:nvGraphicFramePr>
        <p:xfrm>
          <a:off x="7537371" y="3028969"/>
          <a:ext cx="515938" cy="387350"/>
        </p:xfrm>
        <a:graphic>
          <a:graphicData uri="http://schemas.openxmlformats.org/presentationml/2006/ole">
            <p:oleObj spid="_x0000_s123945" name="公式" r:id="rId5" imgW="304668" imgH="228501" progId="">
              <p:embed/>
            </p:oleObj>
          </a:graphicData>
        </a:graphic>
      </p:graphicFrame>
      <p:sp>
        <p:nvSpPr>
          <p:cNvPr id="12" name="Text Box 309"/>
          <p:cNvSpPr txBox="1">
            <a:spLocks noChangeArrowheads="1"/>
          </p:cNvSpPr>
          <p:nvPr/>
        </p:nvSpPr>
        <p:spPr bwMode="auto">
          <a:xfrm>
            <a:off x="8185071" y="3603644"/>
            <a:ext cx="865188"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zh-CN" altLang="en-US">
                <a:solidFill>
                  <a:srgbClr val="FF0000"/>
                </a:solidFill>
                <a:ea typeface="黑体" panose="02010609060101010101" pitchFamily="2" charset="-122"/>
              </a:rPr>
              <a:t>保持</a:t>
            </a:r>
          </a:p>
        </p:txBody>
      </p:sp>
      <p:sp>
        <p:nvSpPr>
          <p:cNvPr id="13" name="Rectangle 347"/>
          <p:cNvSpPr>
            <a:spLocks noChangeArrowheads="1"/>
          </p:cNvSpPr>
          <p:nvPr/>
        </p:nvSpPr>
        <p:spPr bwMode="auto">
          <a:xfrm>
            <a:off x="7537371" y="3435369"/>
            <a:ext cx="328936"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pPr>
              <a:spcBef>
                <a:spcPct val="20000"/>
              </a:spcBef>
            </a:pPr>
            <a:r>
              <a:rPr lang="en-US" altLang="zh-CN" sz="2000" b="1" dirty="0"/>
              <a:t>0</a:t>
            </a:r>
          </a:p>
        </p:txBody>
      </p:sp>
      <p:sp>
        <p:nvSpPr>
          <p:cNvPr id="14" name="Rectangle 348"/>
          <p:cNvSpPr>
            <a:spLocks noChangeArrowheads="1"/>
          </p:cNvSpPr>
          <p:nvPr/>
        </p:nvSpPr>
        <p:spPr bwMode="auto">
          <a:xfrm>
            <a:off x="7537371" y="3843357"/>
            <a:ext cx="328936"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pPr>
              <a:spcBef>
                <a:spcPct val="20000"/>
              </a:spcBef>
            </a:pPr>
            <a:r>
              <a:rPr lang="en-US" altLang="zh-CN" sz="2000" b="1"/>
              <a:t>1</a:t>
            </a:r>
          </a:p>
        </p:txBody>
      </p:sp>
      <p:sp>
        <p:nvSpPr>
          <p:cNvPr id="15" name="Rectangle 349"/>
          <p:cNvSpPr>
            <a:spLocks noChangeArrowheads="1"/>
          </p:cNvSpPr>
          <p:nvPr/>
        </p:nvSpPr>
        <p:spPr bwMode="auto">
          <a:xfrm>
            <a:off x="7537371" y="4227532"/>
            <a:ext cx="328936"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pPr>
              <a:spcBef>
                <a:spcPct val="20000"/>
              </a:spcBef>
            </a:pPr>
            <a:r>
              <a:rPr lang="en-US" altLang="zh-CN" sz="2000" b="1" dirty="0"/>
              <a:t>1</a:t>
            </a:r>
          </a:p>
        </p:txBody>
      </p:sp>
      <p:sp>
        <p:nvSpPr>
          <p:cNvPr id="16" name="Rectangle 350"/>
          <p:cNvSpPr>
            <a:spLocks noChangeArrowheads="1"/>
          </p:cNvSpPr>
          <p:nvPr/>
        </p:nvSpPr>
        <p:spPr bwMode="auto">
          <a:xfrm>
            <a:off x="7537371" y="4635519"/>
            <a:ext cx="328936"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pPr>
              <a:spcBef>
                <a:spcPct val="20000"/>
              </a:spcBef>
            </a:pPr>
            <a:r>
              <a:rPr lang="en-US" altLang="zh-CN" sz="2000" b="1" dirty="0"/>
              <a:t>1</a:t>
            </a:r>
          </a:p>
        </p:txBody>
      </p:sp>
      <p:sp>
        <p:nvSpPr>
          <p:cNvPr id="17" name="Text Box 355"/>
          <p:cNvSpPr txBox="1">
            <a:spLocks noChangeArrowheads="1"/>
          </p:cNvSpPr>
          <p:nvPr/>
        </p:nvSpPr>
        <p:spPr bwMode="auto">
          <a:xfrm>
            <a:off x="8256509" y="4395807"/>
            <a:ext cx="865187"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zh-CN" altLang="en-US" dirty="0">
                <a:solidFill>
                  <a:srgbClr val="FF0000"/>
                </a:solidFill>
                <a:ea typeface="黑体" panose="02010609060101010101" pitchFamily="2" charset="-122"/>
              </a:rPr>
              <a:t>置</a:t>
            </a:r>
            <a:r>
              <a:rPr lang="en-US" altLang="zh-CN" dirty="0">
                <a:solidFill>
                  <a:srgbClr val="FF0000"/>
                </a:solidFill>
                <a:ea typeface="黑体" panose="02010609060101010101" pitchFamily="2" charset="-122"/>
              </a:rPr>
              <a:t>1</a:t>
            </a:r>
          </a:p>
        </p:txBody>
      </p:sp>
      <p:sp>
        <p:nvSpPr>
          <p:cNvPr id="18" name="TextBox 28"/>
          <p:cNvSpPr txBox="1"/>
          <p:nvPr/>
        </p:nvSpPr>
        <p:spPr>
          <a:xfrm>
            <a:off x="978566" y="2827784"/>
            <a:ext cx="328936" cy="400110"/>
          </a:xfrm>
          <a:prstGeom prst="rect">
            <a:avLst/>
          </a:prstGeom>
          <a:noFill/>
        </p:spPr>
        <p:txBody>
          <a:bodyPr wrap="none" rtlCol="0">
            <a:spAutoFit/>
          </a:bodyPr>
          <a:lstStyle/>
          <a:p>
            <a:r>
              <a:rPr lang="en-US" altLang="zh-CN" sz="2000" b="1" dirty="0" smtClean="0">
                <a:solidFill>
                  <a:srgbClr val="C00000"/>
                </a:solidFill>
              </a:rPr>
              <a:t>1</a:t>
            </a:r>
            <a:endParaRPr lang="zh-CN" altLang="en-US" sz="2000" b="1" dirty="0">
              <a:solidFill>
                <a:srgbClr val="C00000"/>
              </a:solidFill>
            </a:endParaRPr>
          </a:p>
        </p:txBody>
      </p:sp>
      <p:sp>
        <p:nvSpPr>
          <p:cNvPr id="19" name="TextBox 29"/>
          <p:cNvSpPr txBox="1"/>
          <p:nvPr/>
        </p:nvSpPr>
        <p:spPr>
          <a:xfrm>
            <a:off x="1047993" y="4948054"/>
            <a:ext cx="328936" cy="400110"/>
          </a:xfrm>
          <a:prstGeom prst="rect">
            <a:avLst/>
          </a:prstGeom>
          <a:noFill/>
        </p:spPr>
        <p:txBody>
          <a:bodyPr wrap="none" rtlCol="0">
            <a:spAutoFit/>
          </a:bodyPr>
          <a:lstStyle/>
          <a:p>
            <a:r>
              <a:rPr lang="en-US" altLang="zh-CN" sz="2000" b="1" dirty="0" smtClean="0">
                <a:solidFill>
                  <a:srgbClr val="0000CC"/>
                </a:solidFill>
              </a:rPr>
              <a:t>0</a:t>
            </a:r>
            <a:endParaRPr lang="zh-CN" altLang="en-US" sz="2000" b="1" dirty="0">
              <a:solidFill>
                <a:srgbClr val="0000CC"/>
              </a:solidFill>
            </a:endParaRPr>
          </a:p>
        </p:txBody>
      </p:sp>
      <p:sp>
        <p:nvSpPr>
          <p:cNvPr id="20" name="TextBox 30"/>
          <p:cNvSpPr txBox="1"/>
          <p:nvPr/>
        </p:nvSpPr>
        <p:spPr>
          <a:xfrm>
            <a:off x="2658337" y="4747956"/>
            <a:ext cx="328936" cy="400110"/>
          </a:xfrm>
          <a:prstGeom prst="rect">
            <a:avLst/>
          </a:prstGeom>
          <a:noFill/>
        </p:spPr>
        <p:txBody>
          <a:bodyPr wrap="none" rtlCol="0">
            <a:spAutoFit/>
          </a:bodyPr>
          <a:lstStyle/>
          <a:p>
            <a:r>
              <a:rPr lang="en-US" altLang="zh-CN" sz="2000" b="1" dirty="0" smtClean="0">
                <a:solidFill>
                  <a:srgbClr val="C00000"/>
                </a:solidFill>
              </a:rPr>
              <a:t>1</a:t>
            </a:r>
            <a:endParaRPr lang="zh-CN" altLang="en-US" sz="2000" b="1" dirty="0">
              <a:solidFill>
                <a:srgbClr val="C00000"/>
              </a:solidFill>
            </a:endParaRPr>
          </a:p>
        </p:txBody>
      </p:sp>
      <p:sp>
        <p:nvSpPr>
          <p:cNvPr id="21" name="TextBox 31"/>
          <p:cNvSpPr txBox="1"/>
          <p:nvPr/>
        </p:nvSpPr>
        <p:spPr>
          <a:xfrm>
            <a:off x="2063715" y="4747999"/>
            <a:ext cx="328936" cy="400110"/>
          </a:xfrm>
          <a:prstGeom prst="rect">
            <a:avLst/>
          </a:prstGeom>
          <a:noFill/>
        </p:spPr>
        <p:txBody>
          <a:bodyPr wrap="none" rtlCol="0">
            <a:spAutoFit/>
          </a:bodyPr>
          <a:lstStyle/>
          <a:p>
            <a:r>
              <a:rPr lang="en-US" altLang="zh-CN" sz="2000" b="1" dirty="0" smtClean="0">
                <a:solidFill>
                  <a:srgbClr val="C00000"/>
                </a:solidFill>
              </a:rPr>
              <a:t>1</a:t>
            </a:r>
            <a:endParaRPr lang="zh-CN" altLang="en-US" sz="2000" b="1" dirty="0">
              <a:solidFill>
                <a:srgbClr val="C00000"/>
              </a:solidFill>
            </a:endParaRPr>
          </a:p>
        </p:txBody>
      </p:sp>
      <p:sp>
        <p:nvSpPr>
          <p:cNvPr id="22" name="TextBox 29"/>
          <p:cNvSpPr txBox="1"/>
          <p:nvPr/>
        </p:nvSpPr>
        <p:spPr>
          <a:xfrm>
            <a:off x="2073333" y="2976197"/>
            <a:ext cx="328936" cy="400110"/>
          </a:xfrm>
          <a:prstGeom prst="rect">
            <a:avLst/>
          </a:prstGeom>
          <a:noFill/>
        </p:spPr>
        <p:txBody>
          <a:bodyPr wrap="none" rtlCol="0">
            <a:spAutoFit/>
          </a:bodyPr>
          <a:lstStyle/>
          <a:p>
            <a:r>
              <a:rPr lang="en-US" altLang="zh-CN" sz="2000" b="1" dirty="0" smtClean="0">
                <a:solidFill>
                  <a:srgbClr val="0000CC"/>
                </a:solidFill>
              </a:rPr>
              <a:t>0</a:t>
            </a:r>
            <a:endParaRPr lang="zh-CN" altLang="en-US" sz="2000" b="1" dirty="0">
              <a:solidFill>
                <a:srgbClr val="0000CC"/>
              </a:solidFill>
            </a:endParaRPr>
          </a:p>
        </p:txBody>
      </p:sp>
      <p:sp>
        <p:nvSpPr>
          <p:cNvPr id="23" name="Text Box 355"/>
          <p:cNvSpPr txBox="1">
            <a:spLocks noChangeArrowheads="1"/>
          </p:cNvSpPr>
          <p:nvPr/>
        </p:nvSpPr>
        <p:spPr bwMode="auto">
          <a:xfrm>
            <a:off x="7535921" y="5028480"/>
            <a:ext cx="339018"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p>
            <a:pPr>
              <a:spcBef>
                <a:spcPct val="50000"/>
              </a:spcBef>
            </a:pPr>
            <a:r>
              <a:rPr lang="en-US" altLang="zh-CN" b="1" dirty="0" smtClean="0">
                <a:solidFill>
                  <a:srgbClr val="0000CC"/>
                </a:solidFill>
                <a:ea typeface="黑体" panose="02010609060101010101" pitchFamily="2" charset="-122"/>
              </a:rPr>
              <a:t>0</a:t>
            </a:r>
            <a:endParaRPr lang="en-US" altLang="zh-CN" b="1" dirty="0">
              <a:solidFill>
                <a:srgbClr val="0000CC"/>
              </a:solidFill>
              <a:ea typeface="黑体" panose="02010609060101010101" pitchFamily="2" charset="-122"/>
            </a:endParaRPr>
          </a:p>
        </p:txBody>
      </p:sp>
      <p:sp>
        <p:nvSpPr>
          <p:cNvPr id="24" name="Text Box 355"/>
          <p:cNvSpPr txBox="1">
            <a:spLocks noChangeArrowheads="1"/>
          </p:cNvSpPr>
          <p:nvPr/>
        </p:nvSpPr>
        <p:spPr bwMode="auto">
          <a:xfrm>
            <a:off x="7539485" y="5451310"/>
            <a:ext cx="339018"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p>
            <a:pPr>
              <a:spcBef>
                <a:spcPct val="50000"/>
              </a:spcBef>
            </a:pPr>
            <a:r>
              <a:rPr lang="en-US" altLang="zh-CN" b="1" dirty="0" smtClean="0">
                <a:solidFill>
                  <a:srgbClr val="0000CC"/>
                </a:solidFill>
                <a:ea typeface="黑体" panose="02010609060101010101" pitchFamily="2" charset="-122"/>
              </a:rPr>
              <a:t>0</a:t>
            </a:r>
            <a:endParaRPr lang="en-US" altLang="zh-CN" b="1" dirty="0">
              <a:solidFill>
                <a:srgbClr val="0000CC"/>
              </a:solidFill>
              <a:ea typeface="黑体" panose="02010609060101010101" pitchFamily="2" charset="-122"/>
            </a:endParaRPr>
          </a:p>
        </p:txBody>
      </p:sp>
      <p:sp>
        <p:nvSpPr>
          <p:cNvPr id="25" name="Text Box 355"/>
          <p:cNvSpPr txBox="1">
            <a:spLocks noChangeArrowheads="1"/>
          </p:cNvSpPr>
          <p:nvPr/>
        </p:nvSpPr>
        <p:spPr bwMode="auto">
          <a:xfrm>
            <a:off x="8219525" y="5193560"/>
            <a:ext cx="865187"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zh-CN" altLang="en-US" dirty="0" smtClean="0">
                <a:solidFill>
                  <a:srgbClr val="FF0000"/>
                </a:solidFill>
                <a:ea typeface="黑体" panose="02010609060101010101" pitchFamily="2" charset="-122"/>
              </a:rPr>
              <a:t>置</a:t>
            </a:r>
            <a:r>
              <a:rPr lang="en-US" altLang="zh-CN" dirty="0" smtClean="0">
                <a:solidFill>
                  <a:srgbClr val="FF0000"/>
                </a:solidFill>
                <a:ea typeface="黑体" panose="02010609060101010101" pitchFamily="2" charset="-122"/>
              </a:rPr>
              <a:t>0</a:t>
            </a:r>
            <a:endParaRPr lang="en-US" altLang="zh-CN" dirty="0">
              <a:solidFill>
                <a:srgbClr val="FF0000"/>
              </a:solidFill>
              <a:ea typeface="黑体" panose="02010609060101010101" pitchFamily="2" charset="-122"/>
            </a:endParaRPr>
          </a:p>
        </p:txBody>
      </p:sp>
      <p:sp>
        <p:nvSpPr>
          <p:cNvPr id="27" name="标题 1"/>
          <p:cNvSpPr>
            <a:spLocks noGrp="1"/>
          </p:cNvSpPr>
          <p:nvPr>
            <p:ph type="title"/>
          </p:nvPr>
        </p:nvSpPr>
        <p:spPr>
          <a:xfrm>
            <a:off x="1043608" y="1124744"/>
            <a:ext cx="7704856" cy="566936"/>
          </a:xfrm>
        </p:spPr>
        <p:txBody>
          <a:bodyPr/>
          <a:lstStyle/>
          <a:p>
            <a:r>
              <a:rPr lang="en-US" altLang="zh-CN" dirty="0" smtClean="0"/>
              <a:t>5.1.1 </a:t>
            </a:r>
            <a:r>
              <a:rPr lang="zh-CN" altLang="en-US" dirty="0" smtClean="0"/>
              <a:t>由与非门构成的基本</a:t>
            </a:r>
            <a:r>
              <a:rPr lang="en-US" altLang="zh-CN" dirty="0"/>
              <a:t>RS</a:t>
            </a:r>
            <a:r>
              <a:rPr lang="zh-CN" altLang="en-US" dirty="0"/>
              <a:t>触发器</a:t>
            </a:r>
          </a:p>
        </p:txBody>
      </p:sp>
      <p:sp>
        <p:nvSpPr>
          <p:cNvPr id="28" name="标题 1"/>
          <p:cNvSpPr txBox="1">
            <a:spLocks/>
          </p:cNvSpPr>
          <p:nvPr/>
        </p:nvSpPr>
        <p:spPr bwMode="auto">
          <a:xfrm>
            <a:off x="1043608" y="332656"/>
            <a:ext cx="7704856" cy="5669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5.1 </a:t>
            </a:r>
            <a:r>
              <a:rPr kumimoji="1" lang="zh-CN" altLang="en-US" sz="3200" b="1" kern="0" dirty="0" smtClean="0">
                <a:solidFill>
                  <a:schemeClr val="tx2"/>
                </a:solidFill>
                <a:latin typeface="+mj-lt"/>
                <a:ea typeface="+mj-ea"/>
                <a:cs typeface="+mj-cs"/>
              </a:rPr>
              <a:t>电平触发的</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触发器</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graphicFrame>
        <p:nvGraphicFramePr>
          <p:cNvPr id="123947" name="Object 43"/>
          <p:cNvGraphicFramePr>
            <a:graphicFrameLocks noChangeAspect="1"/>
          </p:cNvGraphicFramePr>
          <p:nvPr/>
        </p:nvGraphicFramePr>
        <p:xfrm>
          <a:off x="5508104" y="3068960"/>
          <a:ext cx="288925" cy="382588"/>
        </p:xfrm>
        <a:graphic>
          <a:graphicData uri="http://schemas.openxmlformats.org/presentationml/2006/ole">
            <p:oleObj spid="_x0000_s123947" r:id="rId6" imgW="152280" imgH="203040" progId="">
              <p:embed/>
            </p:oleObj>
          </a:graphicData>
        </a:graphic>
      </p:graphicFrame>
      <p:graphicFrame>
        <p:nvGraphicFramePr>
          <p:cNvPr id="123948" name="Object 44"/>
          <p:cNvGraphicFramePr>
            <a:graphicFrameLocks noChangeAspect="1"/>
          </p:cNvGraphicFramePr>
          <p:nvPr/>
        </p:nvGraphicFramePr>
        <p:xfrm>
          <a:off x="6084366" y="3092773"/>
          <a:ext cx="279400" cy="320675"/>
        </p:xfrm>
        <a:graphic>
          <a:graphicData uri="http://schemas.openxmlformats.org/presentationml/2006/ole">
            <p:oleObj spid="_x0000_s123948" r:id="rId7" imgW="164880" imgH="190440" progId="">
              <p:embed/>
            </p:oleObj>
          </a:graphicData>
        </a:graphic>
      </p:graphicFrame>
    </p:spTree>
    <p:extLst>
      <p:ext uri="{BB962C8B-B14F-4D97-AF65-F5344CB8AC3E}">
        <p14:creationId xmlns:p14="http://schemas.microsoft.com/office/powerpoint/2010/main" xmlns="" val="31176353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grpId="0" nodeType="clickEffect">
                                  <p:stCondLst>
                                    <p:cond delay="0"/>
                                  </p:stCondLst>
                                  <p:childTnLst>
                                    <p:animMotion origin="layout" path="M 4.72222E-6 -4.44444E-6 L 4.72222E-6 0.00024 C 0.00121 -4.44444E-6 0.01423 -0.00046 0.01944 0.00186 C 0.02066 0.00232 0.0217 0.00325 0.02291 0.00394 C 0.02604 0.00348 0.02916 0.00348 0.03246 0.00278 C 0.03975 0.00162 0.02864 0.00186 0.03576 0.00186 " pathEditMode="relative" rAng="0" ptsTypes="AAAAAA">
                                      <p:cBhvr>
                                        <p:cTn id="6" dur="1000" fill="hold"/>
                                        <p:tgtEl>
                                          <p:spTgt spid="19"/>
                                        </p:tgtEl>
                                        <p:attrNameLst>
                                          <p:attrName>ppt_x</p:attrName>
                                          <p:attrName>ppt_y</p:attrName>
                                        </p:attrNameLst>
                                      </p:cBhvr>
                                      <p:rCtr x="1788" y="185"/>
                                    </p:animMotion>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1"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par>
                                <p:cTn id="11" presetID="0" presetClass="path" presetSubtype="0" accel="50000" decel="50000" fill="hold" grpId="0" nodeType="withEffect">
                                  <p:stCondLst>
                                    <p:cond delay="0"/>
                                  </p:stCondLst>
                                  <p:childTnLst>
                                    <p:animMotion origin="layout" path="M 3.61111E-6 2.22222E-6 L 3.61111E-6 0.00023 C 0.00173 0.00023 0.0033 0.00069 0.0052 0.00069 C 0.03159 0.00185 0.03906 0.00162 0.05885 0.00162 " pathEditMode="relative" rAng="0" ptsTypes="AAAA">
                                      <p:cBhvr>
                                        <p:cTn id="12" dur="1000" fill="hold"/>
                                        <p:tgtEl>
                                          <p:spTgt spid="21"/>
                                        </p:tgtEl>
                                        <p:attrNameLst>
                                          <p:attrName>ppt_x</p:attrName>
                                          <p:attrName>ppt_y</p:attrName>
                                        </p:attrNameLst>
                                      </p:cBhvr>
                                      <p:rCtr x="2934" y="69"/>
                                    </p:animMotion>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0"/>
                                        </p:tgtEl>
                                        <p:attrNameLst>
                                          <p:attrName>style.visibility</p:attrName>
                                        </p:attrNameLst>
                                      </p:cBhvr>
                                      <p:to>
                                        <p:strVal val="visible"/>
                                      </p:to>
                                    </p:set>
                                  </p:childTnLst>
                                </p:cTn>
                              </p:par>
                              <p:par>
                                <p:cTn id="17" presetID="0" presetClass="path" presetSubtype="0" accel="50000" decel="50000" fill="hold" grpId="1" nodeType="withEffect">
                                  <p:stCondLst>
                                    <p:cond delay="0"/>
                                  </p:stCondLst>
                                  <p:childTnLst>
                                    <p:animMotion origin="layout" path="M -0.00521 2.22222E-6 L -0.00521 0.00023 C -0.00087 -0.0206 -0.00226 -0.01065 -0.00417 -0.05278 C -0.00434 -0.0544 -0.00503 -0.05556 -0.00573 -0.05648 C -0.00608 -0.05695 -0.0092 -0.05834 -0.00937 -0.05834 C -0.01042 -0.05972 -0.01128 -0.06134 -0.0125 -0.06204 C -0.01962 -0.06644 -0.01233 -0.06181 -0.01771 -0.06574 C -0.01823 -0.06621 -0.01875 -0.06644 -0.01927 -0.06667 C -0.01996 -0.06736 -0.02066 -0.06783 -0.02135 -0.06852 C -0.02187 -0.06922 -0.0224 -0.06991 -0.02292 -0.07037 C -0.02396 -0.0713 -0.02517 -0.0713 -0.02604 -0.07222 C -0.02951 -0.07639 -0.02569 -0.07246 -0.02917 -0.075 C -0.03246 -0.07778 -0.03299 -0.07894 -0.03594 -0.08056 C -0.03663 -0.08102 -0.03733 -0.08102 -0.03802 -0.08148 C -0.03871 -0.08195 -0.03941 -0.08287 -0.0401 -0.08334 C -0.04062 -0.0838 -0.04115 -0.08403 -0.04167 -0.08426 C -0.04722 -0.08866 -0.03993 -0.0838 -0.04635 -0.08797 C -0.04687 -0.08843 -0.04757 -0.08843 -0.04792 -0.08889 C -0.04861 -0.08959 -0.04896 -0.09051 -0.04948 -0.09074 C -0.05469 -0.09468 -0.05278 -0.09283 -0.05677 -0.09445 C -0.05729 -0.09468 -0.05781 -0.09514 -0.05833 -0.09537 C -0.05903 -0.09584 -0.05972 -0.09607 -0.06042 -0.0963 C -0.06094 -0.09676 -0.06146 -0.09699 -0.06198 -0.09722 C -0.06337 -0.09792 -0.06615 -0.09908 -0.06615 -0.09884 C -0.06719 -0.10047 -0.06805 -0.10232 -0.06927 -0.10278 C -0.07031 -0.10324 -0.07187 -0.10394 -0.07292 -0.10463 C -0.07378 -0.10533 -0.0743 -0.10602 -0.075 -0.10648 C -0.07587 -0.10718 -0.07674 -0.10764 -0.0776 -0.10834 C -0.0783 -0.1088 -0.07865 -0.10972 -0.07917 -0.11019 C -0.07969 -0.11065 -0.08038 -0.11065 -0.08073 -0.11111 C -0.08264 -0.11297 -0.08212 -0.1132 -0.08385 -0.11574 C -0.08437 -0.11644 -0.08507 -0.1169 -0.08542 -0.11759 C -0.08611 -0.11852 -0.08646 -0.11968 -0.08698 -0.12037 C -0.08767 -0.1213 -0.08837 -0.12153 -0.08906 -0.12222 C -0.09097 -0.12431 -0.09045 -0.12454 -0.09271 -0.12593 C -0.09358 -0.12639 -0.0941 -0.12662 -0.09479 -0.12685 C -0.09583 -0.12824 -0.0967 -0.12986 -0.09792 -0.13056 C -0.09844 -0.13102 -0.09913 -0.13102 -0.09948 -0.13148 C -0.10017 -0.13195 -0.10052 -0.13287 -0.10104 -0.13334 C -0.10434 -0.13611 -0.10295 -0.13426 -0.10573 -0.13704 C -0.10694 -0.1382 -0.10781 -0.13959 -0.10885 -0.14074 C -0.10937 -0.14144 -0.1099 -0.14236 -0.11042 -0.14259 C -0.11753 -0.14699 -0.11024 -0.14236 -0.11562 -0.1463 C -0.11615 -0.14676 -0.11684 -0.14676 -0.11719 -0.14722 C -0.11788 -0.14769 -0.11823 -0.14861 -0.11875 -0.14908 C -0.11944 -0.14977 -0.1217 -0.1507 -0.1224 -0.15093 C -0.12292 -0.15185 -0.12344 -0.15301 -0.12396 -0.15371 C -0.12448 -0.1544 -0.12517 -0.15486 -0.12552 -0.15556 C -0.12587 -0.15648 -0.12587 -0.15741 -0.12604 -0.15834 C -0.12587 -0.1713 -0.12604 -0.18426 -0.12552 -0.19722 C -0.12552 -0.19931 -0.125 -0.20093 -0.12448 -0.20278 C -0.11927 -0.22616 -0.10347 -0.20648 -0.08646 -0.20648 " pathEditMode="relative" rAng="0" ptsTypes="AAAAAAAAAAAAAAAAAAAAAAAAAAAAAAAAAAAAAAAAAAAAAAAAAAAA">
                                      <p:cBhvr>
                                        <p:cTn id="18" dur="1000" fill="hold"/>
                                        <p:tgtEl>
                                          <p:spTgt spid="20"/>
                                        </p:tgtEl>
                                        <p:attrNameLst>
                                          <p:attrName>ppt_x</p:attrName>
                                          <p:attrName>ppt_y</p:attrName>
                                        </p:attrNameLst>
                                      </p:cBhvr>
                                      <p:rCtr x="-5903" y="-10718"/>
                                    </p:animMotion>
                                  </p:childTnLst>
                                </p:cTn>
                              </p:par>
                              <p:par>
                                <p:cTn id="19" presetID="0" presetClass="path" presetSubtype="0" accel="50000" decel="50000" fill="hold" grpId="0" nodeType="withEffect">
                                  <p:stCondLst>
                                    <p:cond delay="0"/>
                                  </p:stCondLst>
                                  <p:childTnLst>
                                    <p:animMotion origin="layout" path="M 0 4.81481E-6 L 0 0.00023 L 0.03646 4.81481E-6 " pathEditMode="relative" rAng="0" ptsTypes="AAA">
                                      <p:cBhvr>
                                        <p:cTn id="20" dur="1000" fill="hold"/>
                                        <p:tgtEl>
                                          <p:spTgt spid="18"/>
                                        </p:tgtEl>
                                        <p:attrNameLst>
                                          <p:attrName>ppt_x</p:attrName>
                                          <p:attrName>ppt_y</p:attrName>
                                        </p:attrNameLst>
                                      </p:cBhvr>
                                      <p:rCtr x="1823" y="0"/>
                                    </p:animMotion>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par>
                                <p:cTn id="25" presetID="0" presetClass="path" presetSubtype="0" accel="50000" decel="50000" fill="hold" grpId="1" nodeType="withEffect">
                                  <p:stCondLst>
                                    <p:cond delay="0"/>
                                  </p:stCondLst>
                                  <p:childTnLst>
                                    <p:animMotion origin="layout" path="M 1.94444E-6 -4.44444E-6 L 1.94444E-6 0.00024 C 0.00173 0.00024 0.0033 0.00093 0.00503 0.00093 C 0.02882 0.00093 0.02604 0.00116 0.04045 -0.00092 C 0.04687 -0.00393 0.04548 -0.0037 0.05712 -0.00092 C 0.05781 -0.00092 0.05625 0.00047 0.05555 0.00093 C 0.05521 0.00116 0.05451 0.00093 0.05399 0.00093 " pathEditMode="relative" rAng="0" ptsTypes="AAAAAAA">
                                      <p:cBhvr>
                                        <p:cTn id="26" dur="1000" fill="hold"/>
                                        <p:tgtEl>
                                          <p:spTgt spid="22"/>
                                        </p:tgtEl>
                                        <p:attrNameLst>
                                          <p:attrName>ppt_x</p:attrName>
                                          <p:attrName>ppt_y</p:attrName>
                                        </p:attrNameLst>
                                      </p:cBhvr>
                                      <p:rCtr x="2865" y="-116"/>
                                    </p:animMotion>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p:bldP spid="20" grpId="0"/>
      <p:bldP spid="20" grpId="1"/>
      <p:bldP spid="21" grpId="0"/>
      <p:bldP spid="21" grpId="1"/>
      <p:bldP spid="22" grpId="0"/>
      <p:bldP spid="22" grpId="1"/>
      <p:bldP spid="23" grpId="0"/>
      <p:bldP spid="24" grpId="0"/>
      <p:bldP spid="2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4966" name="Picture 38"/>
          <p:cNvPicPr>
            <a:picLocks noChangeAspect="1" noChangeArrowheads="1"/>
          </p:cNvPicPr>
          <p:nvPr/>
        </p:nvPicPr>
        <p:blipFill>
          <a:blip r:embed="rId3" cstate="print"/>
          <a:srcRect/>
          <a:stretch>
            <a:fillRect/>
          </a:stretch>
        </p:blipFill>
        <p:spPr bwMode="auto">
          <a:xfrm>
            <a:off x="539552" y="2852936"/>
            <a:ext cx="2581275" cy="2790825"/>
          </a:xfrm>
          <a:prstGeom prst="rect">
            <a:avLst/>
          </a:prstGeom>
          <a:noFill/>
          <a:ln w="9525">
            <a:noFill/>
            <a:miter lim="800000"/>
            <a:headEnd/>
            <a:tailEnd/>
          </a:ln>
        </p:spPr>
      </p:pic>
      <p:sp>
        <p:nvSpPr>
          <p:cNvPr id="3" name="矩形 2"/>
          <p:cNvSpPr/>
          <p:nvPr/>
        </p:nvSpPr>
        <p:spPr>
          <a:xfrm>
            <a:off x="386476" y="2037363"/>
            <a:ext cx="4315604" cy="400110"/>
          </a:xfrm>
          <a:prstGeom prst="rect">
            <a:avLst/>
          </a:prstGeom>
          <a:solidFill>
            <a:srgbClr val="0341E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nchor="ctr">
            <a:spAutoFit/>
          </a:bodyPr>
          <a:lstStyle/>
          <a:p>
            <a:pPr algn="ctr"/>
            <a:r>
              <a:rPr lang="zh-CN" altLang="en-US" sz="2000" b="1" dirty="0">
                <a:solidFill>
                  <a:schemeClr val="bg1"/>
                </a:solidFill>
                <a:latin typeface="黑体" panose="02010609060101010101" pitchFamily="49" charset="-122"/>
                <a:ea typeface="黑体" panose="02010609060101010101" pitchFamily="49" charset="-122"/>
              </a:rPr>
              <a:t>与非门构成的基本</a:t>
            </a:r>
            <a:r>
              <a:rPr lang="en-US" altLang="zh-CN" sz="2000" b="1" dirty="0" smtClean="0">
                <a:solidFill>
                  <a:schemeClr val="bg1"/>
                </a:solidFill>
                <a:latin typeface="黑体" panose="02010609060101010101" pitchFamily="49" charset="-122"/>
                <a:ea typeface="黑体" panose="02010609060101010101" pitchFamily="49" charset="-122"/>
              </a:rPr>
              <a:t>RS</a:t>
            </a:r>
            <a:r>
              <a:rPr lang="zh-CN" altLang="en-US" sz="2000" b="1" dirty="0" smtClean="0">
                <a:solidFill>
                  <a:schemeClr val="bg1"/>
                </a:solidFill>
                <a:latin typeface="黑体" panose="02010609060101010101" pitchFamily="49" charset="-122"/>
                <a:ea typeface="黑体" panose="02010609060101010101" pitchFamily="49" charset="-122"/>
              </a:rPr>
              <a:t>锁存器工作原理</a:t>
            </a:r>
            <a:endParaRPr lang="zh-CN" altLang="en-US" sz="2000" b="1" dirty="0">
              <a:solidFill>
                <a:schemeClr val="bg1"/>
              </a:solidFill>
              <a:latin typeface="黑体" panose="02010609060101010101" pitchFamily="49" charset="-122"/>
              <a:ea typeface="黑体" panose="02010609060101010101" pitchFamily="49" charset="-122"/>
            </a:endParaRPr>
          </a:p>
        </p:txBody>
      </p:sp>
      <p:sp>
        <p:nvSpPr>
          <p:cNvPr id="4" name="矩形 3"/>
          <p:cNvSpPr/>
          <p:nvPr/>
        </p:nvSpPr>
        <p:spPr>
          <a:xfrm>
            <a:off x="133230" y="6182338"/>
            <a:ext cx="3972562" cy="369332"/>
          </a:xfrm>
          <a:prstGeom prst="rect">
            <a:avLst/>
          </a:prstGeom>
        </p:spPr>
        <p:txBody>
          <a:bodyPr wrap="none">
            <a:spAutoFit/>
          </a:bodyPr>
          <a:lstStyle/>
          <a:p>
            <a:r>
              <a:rPr lang="zh-CN" altLang="en-US" b="1" dirty="0" smtClean="0">
                <a:latin typeface="楷体_GB2312" pitchFamily="49" charset="-122"/>
                <a:ea typeface="楷体_GB2312" pitchFamily="49" charset="-122"/>
              </a:rPr>
              <a:t>图 与非门</a:t>
            </a:r>
            <a:r>
              <a:rPr lang="zh-CN" altLang="en-US" b="1" dirty="0">
                <a:latin typeface="楷体_GB2312" pitchFamily="49" charset="-122"/>
                <a:ea typeface="楷体_GB2312" pitchFamily="49" charset="-122"/>
              </a:rPr>
              <a:t>构成的基本</a:t>
            </a:r>
            <a:r>
              <a:rPr lang="en-US" altLang="zh-CN" b="1" dirty="0">
                <a:latin typeface="楷体_GB2312" pitchFamily="49" charset="-122"/>
                <a:ea typeface="楷体_GB2312" pitchFamily="49" charset="-122"/>
              </a:rPr>
              <a:t>RS-FF</a:t>
            </a:r>
            <a:r>
              <a:rPr lang="zh-CN" altLang="en-US" b="1" dirty="0">
                <a:latin typeface="楷体_GB2312" pitchFamily="49" charset="-122"/>
                <a:ea typeface="楷体_GB2312" pitchFamily="49" charset="-122"/>
              </a:rPr>
              <a:t>的逻辑图</a:t>
            </a:r>
            <a:r>
              <a:rPr lang="zh-CN" altLang="en-US" dirty="0"/>
              <a:t> </a:t>
            </a:r>
          </a:p>
        </p:txBody>
      </p:sp>
      <p:sp>
        <p:nvSpPr>
          <p:cNvPr id="6" name="Text Box 9"/>
          <p:cNvSpPr txBox="1">
            <a:spLocks noChangeArrowheads="1"/>
          </p:cNvSpPr>
          <p:nvPr/>
        </p:nvSpPr>
        <p:spPr bwMode="auto">
          <a:xfrm>
            <a:off x="5004804" y="2253461"/>
            <a:ext cx="4031692" cy="64633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p>
            <a:pPr algn="ctr">
              <a:spcBef>
                <a:spcPct val="50000"/>
              </a:spcBef>
            </a:pPr>
            <a:r>
              <a:rPr lang="zh-CN" altLang="en-US" b="1" dirty="0" smtClean="0">
                <a:latin typeface="楷体_GB2312" pitchFamily="49" charset="-122"/>
                <a:ea typeface="楷体_GB2312" pitchFamily="49" charset="-122"/>
              </a:rPr>
              <a:t>表</a:t>
            </a:r>
            <a:r>
              <a:rPr lang="en-US" altLang="zh-CN" b="1" dirty="0" smtClean="0">
                <a:latin typeface="楷体_GB2312" pitchFamily="49" charset="-122"/>
                <a:ea typeface="楷体_GB2312" pitchFamily="49" charset="-122"/>
              </a:rPr>
              <a:t>  </a:t>
            </a:r>
            <a:r>
              <a:rPr lang="zh-CN" altLang="en-US" b="1" dirty="0" smtClean="0">
                <a:latin typeface="楷体_GB2312" pitchFamily="49" charset="-122"/>
                <a:ea typeface="楷体_GB2312" pitchFamily="49" charset="-122"/>
              </a:rPr>
              <a:t>与非门</a:t>
            </a:r>
            <a:r>
              <a:rPr lang="zh-CN" altLang="en-US" b="1" dirty="0">
                <a:latin typeface="楷体_GB2312" pitchFamily="49" charset="-122"/>
                <a:ea typeface="楷体_GB2312" pitchFamily="49" charset="-122"/>
              </a:rPr>
              <a:t>构成的基本</a:t>
            </a:r>
            <a:r>
              <a:rPr lang="en-US" altLang="zh-CN" b="1" dirty="0">
                <a:latin typeface="楷体_GB2312" pitchFamily="49" charset="-122"/>
                <a:ea typeface="楷体_GB2312" pitchFamily="49" charset="-122"/>
              </a:rPr>
              <a:t>RS-FF</a:t>
            </a:r>
            <a:r>
              <a:rPr lang="zh-CN" altLang="en-US" b="1" dirty="0">
                <a:latin typeface="楷体_GB2312" pitchFamily="49" charset="-122"/>
                <a:ea typeface="楷体_GB2312" pitchFamily="49" charset="-122"/>
              </a:rPr>
              <a:t>的</a:t>
            </a:r>
            <a:r>
              <a:rPr lang="zh-CN" altLang="en-US" b="1" dirty="0" smtClean="0">
                <a:latin typeface="楷体_GB2312" pitchFamily="49" charset="-122"/>
                <a:ea typeface="楷体_GB2312" pitchFamily="49" charset="-122"/>
              </a:rPr>
              <a:t>真值表（</a:t>
            </a:r>
            <a:r>
              <a:rPr lang="zh-CN" altLang="en-US" b="1" dirty="0">
                <a:latin typeface="楷体_GB2312" pitchFamily="49" charset="-122"/>
                <a:ea typeface="楷体_GB2312" pitchFamily="49" charset="-122"/>
              </a:rPr>
              <a:t>特性表）</a:t>
            </a:r>
            <a:r>
              <a:rPr lang="zh-CN" altLang="en-US" dirty="0">
                <a:latin typeface="楷体_GB2312" pitchFamily="49" charset="-122"/>
                <a:ea typeface="楷体_GB2312" pitchFamily="49" charset="-122"/>
              </a:rPr>
              <a:t>  </a:t>
            </a:r>
          </a:p>
        </p:txBody>
      </p:sp>
      <p:graphicFrame>
        <p:nvGraphicFramePr>
          <p:cNvPr id="7" name="Group 304"/>
          <p:cNvGraphicFramePr>
            <a:graphicFrameLocks noGrp="1"/>
          </p:cNvGraphicFramePr>
          <p:nvPr>
            <p:extLst>
              <p:ext uri="{D42A27DB-BD31-4B8C-83A1-F6EECF244321}">
                <p14:modId xmlns:p14="http://schemas.microsoft.com/office/powerpoint/2010/main" xmlns="" val="2328134747"/>
              </p:ext>
            </p:extLst>
          </p:nvPr>
        </p:nvGraphicFramePr>
        <p:xfrm>
          <a:off x="5115619" y="3100977"/>
          <a:ext cx="3671887" cy="3568383"/>
        </p:xfrm>
        <a:graphic>
          <a:graphicData uri="http://schemas.openxmlformats.org/drawingml/2006/table">
            <a:tbl>
              <a:tblPr/>
              <a:tblGrid>
                <a:gridCol w="1368425">
                  <a:extLst>
                    <a:ext uri="{9D8B030D-6E8A-4147-A177-3AD203B41FA5}">
                      <a16:colId xmlns:a16="http://schemas.microsoft.com/office/drawing/2014/main" xmlns="" val="20000"/>
                    </a:ext>
                  </a:extLst>
                </a:gridCol>
                <a:gridCol w="792162">
                  <a:extLst>
                    <a:ext uri="{9D8B030D-6E8A-4147-A177-3AD203B41FA5}">
                      <a16:colId xmlns:a16="http://schemas.microsoft.com/office/drawing/2014/main" xmlns="" val="20001"/>
                    </a:ext>
                  </a:extLst>
                </a:gridCol>
                <a:gridCol w="720725">
                  <a:extLst>
                    <a:ext uri="{9D8B030D-6E8A-4147-A177-3AD203B41FA5}">
                      <a16:colId xmlns:a16="http://schemas.microsoft.com/office/drawing/2014/main" xmlns="" val="20002"/>
                    </a:ext>
                  </a:extLst>
                </a:gridCol>
                <a:gridCol w="790575">
                  <a:extLst>
                    <a:ext uri="{9D8B030D-6E8A-4147-A177-3AD203B41FA5}">
                      <a16:colId xmlns:a16="http://schemas.microsoft.com/office/drawing/2014/main" xmlns="" val="20003"/>
                    </a:ext>
                  </a:extLst>
                </a:gridCol>
              </a:tblGrid>
              <a:tr h="323850">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20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功能</a:t>
                      </a:r>
                    </a:p>
                  </a:txBody>
                  <a:tcPr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0"/>
                  </a:ext>
                </a:extLst>
              </a:tr>
              <a:tr h="323850">
                <a:tc rowSpan="2">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   1       1   </a:t>
                      </a:r>
                    </a:p>
                  </a:txBody>
                  <a:tcPr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0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r h="323850">
                <a:tc vMerge="1">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en-US"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zh-CN"/>
                    </a:p>
                  </a:txBody>
                  <a:tcPr/>
                </a:tc>
                <a:extLst>
                  <a:ext uri="{0D108BD9-81ED-4DB2-BD59-A6C34878D82A}">
                    <a16:rowId xmlns:a16="http://schemas.microsoft.com/office/drawing/2014/main" xmlns="" val="10002"/>
                  </a:ext>
                </a:extLst>
              </a:tr>
              <a:tr h="323850">
                <a:tc rowSpan="2">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   0       1</a:t>
                      </a:r>
                    </a:p>
                  </a:txBody>
                  <a:tcPr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3"/>
                  </a:ext>
                </a:extLst>
              </a:tr>
              <a:tr h="322263">
                <a:tc vMerge="1">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en-US"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zh-CN"/>
                    </a:p>
                  </a:txBody>
                  <a:tcPr/>
                </a:tc>
                <a:extLst>
                  <a:ext uri="{0D108BD9-81ED-4DB2-BD59-A6C34878D82A}">
                    <a16:rowId xmlns:a16="http://schemas.microsoft.com/office/drawing/2014/main" xmlns="" val="10004"/>
                  </a:ext>
                </a:extLst>
              </a:tr>
              <a:tr h="398463">
                <a:tc rowSpan="2">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   1       0</a:t>
                      </a:r>
                    </a:p>
                  </a:txBody>
                  <a:tcPr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0</a:t>
                      </a:r>
                      <a:endParaRPr kumimoji="0" lang="zh-CN"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5"/>
                  </a:ext>
                </a:extLst>
              </a:tr>
              <a:tr h="323850">
                <a:tc vMerge="1">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en-US"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0</a:t>
                      </a:r>
                      <a:endParaRPr kumimoji="0" lang="zh-CN"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zh-CN"/>
                    </a:p>
                  </a:txBody>
                  <a:tcPr/>
                </a:tc>
                <a:extLst>
                  <a:ext uri="{0D108BD9-81ED-4DB2-BD59-A6C34878D82A}">
                    <a16:rowId xmlns:a16="http://schemas.microsoft.com/office/drawing/2014/main" xmlns="" val="10006"/>
                  </a:ext>
                </a:extLst>
              </a:tr>
              <a:tr h="323850">
                <a:tc rowSpan="2">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   0       0</a:t>
                      </a:r>
                    </a:p>
                  </a:txBody>
                  <a:tcPr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7"/>
                  </a:ext>
                </a:extLst>
              </a:tr>
              <a:tr h="323850">
                <a:tc vMerge="1">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en-US"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zh-CN"/>
                    </a:p>
                  </a:txBody>
                  <a:tcPr/>
                </a:tc>
                <a:extLst>
                  <a:ext uri="{0D108BD9-81ED-4DB2-BD59-A6C34878D82A}">
                    <a16:rowId xmlns:a16="http://schemas.microsoft.com/office/drawing/2014/main" xmlns="" val="10008"/>
                  </a:ext>
                </a:extLst>
              </a:tr>
            </a:tbl>
          </a:graphicData>
        </a:graphic>
      </p:graphicFrame>
      <p:graphicFrame>
        <p:nvGraphicFramePr>
          <p:cNvPr id="10" name="Object 307"/>
          <p:cNvGraphicFramePr>
            <a:graphicFrameLocks noChangeAspect="1"/>
          </p:cNvGraphicFramePr>
          <p:nvPr>
            <p:extLst>
              <p:ext uri="{D42A27DB-BD31-4B8C-83A1-F6EECF244321}">
                <p14:modId xmlns:p14="http://schemas.microsoft.com/office/powerpoint/2010/main" xmlns="" val="3170743574"/>
              </p:ext>
            </p:extLst>
          </p:nvPr>
        </p:nvGraphicFramePr>
        <p:xfrm>
          <a:off x="6771381" y="3100977"/>
          <a:ext cx="365125" cy="387350"/>
        </p:xfrm>
        <a:graphic>
          <a:graphicData uri="http://schemas.openxmlformats.org/presentationml/2006/ole">
            <p:oleObj spid="_x0000_s124964" name="公式" r:id="rId4" imgW="215806" imgH="228501" progId="">
              <p:embed/>
            </p:oleObj>
          </a:graphicData>
        </a:graphic>
      </p:graphicFrame>
      <p:graphicFrame>
        <p:nvGraphicFramePr>
          <p:cNvPr id="11" name="Object 308"/>
          <p:cNvGraphicFramePr>
            <a:graphicFrameLocks noChangeAspect="1"/>
          </p:cNvGraphicFramePr>
          <p:nvPr>
            <p:extLst>
              <p:ext uri="{D42A27DB-BD31-4B8C-83A1-F6EECF244321}">
                <p14:modId xmlns:p14="http://schemas.microsoft.com/office/powerpoint/2010/main" xmlns="" val="1372344329"/>
              </p:ext>
            </p:extLst>
          </p:nvPr>
        </p:nvGraphicFramePr>
        <p:xfrm>
          <a:off x="7419081" y="3100977"/>
          <a:ext cx="515938" cy="387350"/>
        </p:xfrm>
        <a:graphic>
          <a:graphicData uri="http://schemas.openxmlformats.org/presentationml/2006/ole">
            <p:oleObj spid="_x0000_s124965" name="公式" r:id="rId5" imgW="304668" imgH="228501" progId="">
              <p:embed/>
            </p:oleObj>
          </a:graphicData>
        </a:graphic>
      </p:graphicFrame>
      <p:sp>
        <p:nvSpPr>
          <p:cNvPr id="12" name="Text Box 309"/>
          <p:cNvSpPr txBox="1">
            <a:spLocks noChangeArrowheads="1"/>
          </p:cNvSpPr>
          <p:nvPr/>
        </p:nvSpPr>
        <p:spPr bwMode="auto">
          <a:xfrm>
            <a:off x="8066781" y="3675652"/>
            <a:ext cx="865188"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zh-CN" altLang="en-US">
                <a:solidFill>
                  <a:srgbClr val="FF0000"/>
                </a:solidFill>
                <a:ea typeface="黑体" panose="02010609060101010101" pitchFamily="2" charset="-122"/>
              </a:rPr>
              <a:t>保持</a:t>
            </a:r>
          </a:p>
        </p:txBody>
      </p:sp>
      <p:sp>
        <p:nvSpPr>
          <p:cNvPr id="13" name="Rectangle 347"/>
          <p:cNvSpPr>
            <a:spLocks noChangeArrowheads="1"/>
          </p:cNvSpPr>
          <p:nvPr/>
        </p:nvSpPr>
        <p:spPr bwMode="auto">
          <a:xfrm>
            <a:off x="7419081" y="3507377"/>
            <a:ext cx="328936"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pPr>
              <a:spcBef>
                <a:spcPct val="20000"/>
              </a:spcBef>
            </a:pPr>
            <a:r>
              <a:rPr lang="en-US" altLang="zh-CN" sz="2000" b="1" dirty="0"/>
              <a:t>0</a:t>
            </a:r>
          </a:p>
        </p:txBody>
      </p:sp>
      <p:sp>
        <p:nvSpPr>
          <p:cNvPr id="14" name="Rectangle 348"/>
          <p:cNvSpPr>
            <a:spLocks noChangeArrowheads="1"/>
          </p:cNvSpPr>
          <p:nvPr/>
        </p:nvSpPr>
        <p:spPr bwMode="auto">
          <a:xfrm>
            <a:off x="7419081" y="3915365"/>
            <a:ext cx="328936"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pPr>
              <a:spcBef>
                <a:spcPct val="20000"/>
              </a:spcBef>
            </a:pPr>
            <a:r>
              <a:rPr lang="en-US" altLang="zh-CN" sz="2000" b="1"/>
              <a:t>1</a:t>
            </a:r>
          </a:p>
        </p:txBody>
      </p:sp>
      <p:sp>
        <p:nvSpPr>
          <p:cNvPr id="15" name="Rectangle 349"/>
          <p:cNvSpPr>
            <a:spLocks noChangeArrowheads="1"/>
          </p:cNvSpPr>
          <p:nvPr/>
        </p:nvSpPr>
        <p:spPr bwMode="auto">
          <a:xfrm>
            <a:off x="7419081" y="4299540"/>
            <a:ext cx="328936"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pPr>
              <a:spcBef>
                <a:spcPct val="20000"/>
              </a:spcBef>
            </a:pPr>
            <a:r>
              <a:rPr lang="en-US" altLang="zh-CN" sz="2000" b="1" dirty="0"/>
              <a:t>1</a:t>
            </a:r>
          </a:p>
        </p:txBody>
      </p:sp>
      <p:sp>
        <p:nvSpPr>
          <p:cNvPr id="16" name="Rectangle 350"/>
          <p:cNvSpPr>
            <a:spLocks noChangeArrowheads="1"/>
          </p:cNvSpPr>
          <p:nvPr/>
        </p:nvSpPr>
        <p:spPr bwMode="auto">
          <a:xfrm>
            <a:off x="7419081" y="4707527"/>
            <a:ext cx="328936"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pPr>
              <a:spcBef>
                <a:spcPct val="20000"/>
              </a:spcBef>
            </a:pPr>
            <a:r>
              <a:rPr lang="en-US" altLang="zh-CN" sz="2000" b="1" dirty="0"/>
              <a:t>1</a:t>
            </a:r>
          </a:p>
        </p:txBody>
      </p:sp>
      <p:sp>
        <p:nvSpPr>
          <p:cNvPr id="17" name="Text Box 355"/>
          <p:cNvSpPr txBox="1">
            <a:spLocks noChangeArrowheads="1"/>
          </p:cNvSpPr>
          <p:nvPr/>
        </p:nvSpPr>
        <p:spPr bwMode="auto">
          <a:xfrm>
            <a:off x="8138219" y="4467815"/>
            <a:ext cx="865187"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zh-CN" altLang="en-US" dirty="0">
                <a:solidFill>
                  <a:srgbClr val="FF0000"/>
                </a:solidFill>
                <a:ea typeface="黑体" panose="02010609060101010101" pitchFamily="2" charset="-122"/>
              </a:rPr>
              <a:t>置</a:t>
            </a:r>
            <a:r>
              <a:rPr lang="en-US" altLang="zh-CN" dirty="0">
                <a:solidFill>
                  <a:srgbClr val="FF0000"/>
                </a:solidFill>
                <a:ea typeface="黑体" panose="02010609060101010101" pitchFamily="2" charset="-122"/>
              </a:rPr>
              <a:t>1</a:t>
            </a:r>
          </a:p>
        </p:txBody>
      </p:sp>
      <p:sp>
        <p:nvSpPr>
          <p:cNvPr id="18" name="TextBox 28"/>
          <p:cNvSpPr txBox="1"/>
          <p:nvPr/>
        </p:nvSpPr>
        <p:spPr>
          <a:xfrm>
            <a:off x="860276" y="2899792"/>
            <a:ext cx="328936" cy="400110"/>
          </a:xfrm>
          <a:prstGeom prst="rect">
            <a:avLst/>
          </a:prstGeom>
          <a:noFill/>
        </p:spPr>
        <p:txBody>
          <a:bodyPr wrap="none" rtlCol="0">
            <a:spAutoFit/>
          </a:bodyPr>
          <a:lstStyle/>
          <a:p>
            <a:r>
              <a:rPr lang="en-US" altLang="zh-CN" sz="2000" b="1" dirty="0" smtClean="0">
                <a:solidFill>
                  <a:srgbClr val="0000CC"/>
                </a:solidFill>
              </a:rPr>
              <a:t>0</a:t>
            </a:r>
            <a:endParaRPr lang="zh-CN" altLang="en-US" sz="2000" b="1" dirty="0">
              <a:solidFill>
                <a:srgbClr val="0000CC"/>
              </a:solidFill>
            </a:endParaRPr>
          </a:p>
        </p:txBody>
      </p:sp>
      <p:sp>
        <p:nvSpPr>
          <p:cNvPr id="19" name="TextBox 29"/>
          <p:cNvSpPr txBox="1"/>
          <p:nvPr/>
        </p:nvSpPr>
        <p:spPr>
          <a:xfrm>
            <a:off x="929703" y="5020062"/>
            <a:ext cx="328936" cy="400110"/>
          </a:xfrm>
          <a:prstGeom prst="rect">
            <a:avLst/>
          </a:prstGeom>
          <a:noFill/>
        </p:spPr>
        <p:txBody>
          <a:bodyPr wrap="none" rtlCol="0">
            <a:spAutoFit/>
          </a:bodyPr>
          <a:lstStyle/>
          <a:p>
            <a:r>
              <a:rPr lang="en-US" altLang="zh-CN" sz="2000" b="1" dirty="0" smtClean="0">
                <a:solidFill>
                  <a:srgbClr val="0000CC"/>
                </a:solidFill>
              </a:rPr>
              <a:t>0</a:t>
            </a:r>
            <a:endParaRPr lang="zh-CN" altLang="en-US" sz="2000" b="1" dirty="0">
              <a:solidFill>
                <a:srgbClr val="0000CC"/>
              </a:solidFill>
            </a:endParaRPr>
          </a:p>
        </p:txBody>
      </p:sp>
      <p:sp>
        <p:nvSpPr>
          <p:cNvPr id="20" name="TextBox 30"/>
          <p:cNvSpPr txBox="1"/>
          <p:nvPr/>
        </p:nvSpPr>
        <p:spPr>
          <a:xfrm>
            <a:off x="2540047" y="4819964"/>
            <a:ext cx="328936" cy="400110"/>
          </a:xfrm>
          <a:prstGeom prst="rect">
            <a:avLst/>
          </a:prstGeom>
          <a:noFill/>
        </p:spPr>
        <p:txBody>
          <a:bodyPr wrap="none" rtlCol="0">
            <a:spAutoFit/>
          </a:bodyPr>
          <a:lstStyle/>
          <a:p>
            <a:r>
              <a:rPr lang="en-US" altLang="zh-CN" sz="2000" b="1" dirty="0" smtClean="0">
                <a:solidFill>
                  <a:srgbClr val="C00000"/>
                </a:solidFill>
              </a:rPr>
              <a:t>1</a:t>
            </a:r>
            <a:endParaRPr lang="zh-CN" altLang="en-US" sz="2000" b="1" dirty="0">
              <a:solidFill>
                <a:srgbClr val="C00000"/>
              </a:solidFill>
            </a:endParaRPr>
          </a:p>
        </p:txBody>
      </p:sp>
      <p:sp>
        <p:nvSpPr>
          <p:cNvPr id="21" name="TextBox 31"/>
          <p:cNvSpPr txBox="1"/>
          <p:nvPr/>
        </p:nvSpPr>
        <p:spPr>
          <a:xfrm>
            <a:off x="1945425" y="4820007"/>
            <a:ext cx="328936" cy="400110"/>
          </a:xfrm>
          <a:prstGeom prst="rect">
            <a:avLst/>
          </a:prstGeom>
          <a:noFill/>
        </p:spPr>
        <p:txBody>
          <a:bodyPr wrap="none" rtlCol="0">
            <a:spAutoFit/>
          </a:bodyPr>
          <a:lstStyle/>
          <a:p>
            <a:r>
              <a:rPr lang="en-US" altLang="zh-CN" sz="2000" b="1" dirty="0" smtClean="0">
                <a:solidFill>
                  <a:srgbClr val="C00000"/>
                </a:solidFill>
              </a:rPr>
              <a:t>1</a:t>
            </a:r>
            <a:endParaRPr lang="zh-CN" altLang="en-US" sz="2000" b="1" dirty="0">
              <a:solidFill>
                <a:srgbClr val="C00000"/>
              </a:solidFill>
            </a:endParaRPr>
          </a:p>
        </p:txBody>
      </p:sp>
      <p:sp>
        <p:nvSpPr>
          <p:cNvPr id="22" name="TextBox 29"/>
          <p:cNvSpPr txBox="1"/>
          <p:nvPr/>
        </p:nvSpPr>
        <p:spPr>
          <a:xfrm>
            <a:off x="1955043" y="3048205"/>
            <a:ext cx="328936" cy="400110"/>
          </a:xfrm>
          <a:prstGeom prst="rect">
            <a:avLst/>
          </a:prstGeom>
          <a:noFill/>
        </p:spPr>
        <p:txBody>
          <a:bodyPr wrap="none" rtlCol="0">
            <a:spAutoFit/>
          </a:bodyPr>
          <a:lstStyle/>
          <a:p>
            <a:r>
              <a:rPr lang="en-US" altLang="zh-CN" sz="2000" b="1" dirty="0" smtClean="0">
                <a:solidFill>
                  <a:srgbClr val="C00000"/>
                </a:solidFill>
              </a:rPr>
              <a:t>1</a:t>
            </a:r>
            <a:endParaRPr lang="zh-CN" altLang="en-US" sz="2000" b="1" dirty="0">
              <a:solidFill>
                <a:srgbClr val="C00000"/>
              </a:solidFill>
            </a:endParaRPr>
          </a:p>
        </p:txBody>
      </p:sp>
      <p:sp>
        <p:nvSpPr>
          <p:cNvPr id="23" name="Text Box 355"/>
          <p:cNvSpPr txBox="1">
            <a:spLocks noChangeArrowheads="1"/>
          </p:cNvSpPr>
          <p:nvPr/>
        </p:nvSpPr>
        <p:spPr bwMode="auto">
          <a:xfrm>
            <a:off x="7419081" y="5877198"/>
            <a:ext cx="339018"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p>
            <a:pPr>
              <a:spcBef>
                <a:spcPct val="50000"/>
              </a:spcBef>
            </a:pPr>
            <a:r>
              <a:rPr lang="en-US" altLang="zh-CN" b="1" dirty="0" smtClean="0">
                <a:solidFill>
                  <a:srgbClr val="0000CC"/>
                </a:solidFill>
                <a:ea typeface="黑体" panose="02010609060101010101" pitchFamily="2" charset="-122"/>
              </a:rPr>
              <a:t>1</a:t>
            </a:r>
            <a:endParaRPr lang="en-US" altLang="zh-CN" b="1" dirty="0">
              <a:solidFill>
                <a:srgbClr val="0000CC"/>
              </a:solidFill>
              <a:ea typeface="黑体" panose="02010609060101010101" pitchFamily="2" charset="-122"/>
            </a:endParaRPr>
          </a:p>
        </p:txBody>
      </p:sp>
      <p:sp>
        <p:nvSpPr>
          <p:cNvPr id="24" name="Text Box 355"/>
          <p:cNvSpPr txBox="1">
            <a:spLocks noChangeArrowheads="1"/>
          </p:cNvSpPr>
          <p:nvPr/>
        </p:nvSpPr>
        <p:spPr bwMode="auto">
          <a:xfrm>
            <a:off x="7422645" y="6300028"/>
            <a:ext cx="339018"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p>
            <a:pPr>
              <a:spcBef>
                <a:spcPct val="50000"/>
              </a:spcBef>
            </a:pPr>
            <a:r>
              <a:rPr lang="en-US" altLang="zh-CN" b="1" dirty="0" smtClean="0">
                <a:solidFill>
                  <a:srgbClr val="0000CC"/>
                </a:solidFill>
                <a:ea typeface="黑体" panose="02010609060101010101" pitchFamily="2" charset="-122"/>
              </a:rPr>
              <a:t>1</a:t>
            </a:r>
            <a:endParaRPr lang="en-US" altLang="zh-CN" b="1" dirty="0">
              <a:solidFill>
                <a:srgbClr val="0000CC"/>
              </a:solidFill>
              <a:ea typeface="黑体" panose="02010609060101010101" pitchFamily="2" charset="-122"/>
            </a:endParaRPr>
          </a:p>
        </p:txBody>
      </p:sp>
      <p:sp>
        <p:nvSpPr>
          <p:cNvPr id="25" name="Text Box 355"/>
          <p:cNvSpPr txBox="1">
            <a:spLocks noChangeArrowheads="1"/>
          </p:cNvSpPr>
          <p:nvPr/>
        </p:nvSpPr>
        <p:spPr bwMode="auto">
          <a:xfrm>
            <a:off x="8101235" y="5265568"/>
            <a:ext cx="865187"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zh-CN" altLang="en-US" dirty="0" smtClean="0">
                <a:solidFill>
                  <a:srgbClr val="FF0000"/>
                </a:solidFill>
                <a:ea typeface="黑体" panose="02010609060101010101" pitchFamily="2" charset="-122"/>
              </a:rPr>
              <a:t>置</a:t>
            </a:r>
            <a:r>
              <a:rPr lang="en-US" altLang="zh-CN" dirty="0" smtClean="0">
                <a:solidFill>
                  <a:srgbClr val="FF0000"/>
                </a:solidFill>
                <a:ea typeface="黑体" panose="02010609060101010101" pitchFamily="2" charset="-122"/>
              </a:rPr>
              <a:t>0</a:t>
            </a:r>
            <a:endParaRPr lang="en-US" altLang="zh-CN" dirty="0">
              <a:solidFill>
                <a:srgbClr val="FF0000"/>
              </a:solidFill>
              <a:ea typeface="黑体" panose="02010609060101010101" pitchFamily="2" charset="-122"/>
            </a:endParaRPr>
          </a:p>
        </p:txBody>
      </p:sp>
      <p:sp>
        <p:nvSpPr>
          <p:cNvPr id="26" name="TextBox 29"/>
          <p:cNvSpPr txBox="1"/>
          <p:nvPr/>
        </p:nvSpPr>
        <p:spPr>
          <a:xfrm>
            <a:off x="2575389" y="3107267"/>
            <a:ext cx="328936" cy="400110"/>
          </a:xfrm>
          <a:prstGeom prst="rect">
            <a:avLst/>
          </a:prstGeom>
          <a:noFill/>
        </p:spPr>
        <p:txBody>
          <a:bodyPr wrap="none" rtlCol="0">
            <a:spAutoFit/>
          </a:bodyPr>
          <a:lstStyle/>
          <a:p>
            <a:r>
              <a:rPr lang="en-US" altLang="zh-CN" sz="2000" b="1" dirty="0" smtClean="0">
                <a:solidFill>
                  <a:srgbClr val="C00000"/>
                </a:solidFill>
              </a:rPr>
              <a:t>1</a:t>
            </a:r>
            <a:endParaRPr lang="zh-CN" altLang="en-US" sz="2000" b="1" dirty="0">
              <a:solidFill>
                <a:srgbClr val="C00000"/>
              </a:solidFill>
            </a:endParaRPr>
          </a:p>
        </p:txBody>
      </p:sp>
      <p:sp>
        <p:nvSpPr>
          <p:cNvPr id="28" name="标题 1"/>
          <p:cNvSpPr>
            <a:spLocks noGrp="1"/>
          </p:cNvSpPr>
          <p:nvPr>
            <p:ph type="title"/>
          </p:nvPr>
        </p:nvSpPr>
        <p:spPr>
          <a:xfrm>
            <a:off x="1043608" y="1124744"/>
            <a:ext cx="7704856" cy="566936"/>
          </a:xfrm>
        </p:spPr>
        <p:txBody>
          <a:bodyPr/>
          <a:lstStyle/>
          <a:p>
            <a:r>
              <a:rPr lang="en-US" altLang="zh-CN" dirty="0" smtClean="0"/>
              <a:t>5.1.1 </a:t>
            </a:r>
            <a:r>
              <a:rPr lang="zh-CN" altLang="en-US" dirty="0" smtClean="0"/>
              <a:t>由与非门构成的基本</a:t>
            </a:r>
            <a:r>
              <a:rPr lang="en-US" altLang="zh-CN" dirty="0"/>
              <a:t>RS</a:t>
            </a:r>
            <a:r>
              <a:rPr lang="zh-CN" altLang="en-US" dirty="0"/>
              <a:t>触发器</a:t>
            </a:r>
          </a:p>
        </p:txBody>
      </p:sp>
      <p:sp>
        <p:nvSpPr>
          <p:cNvPr id="29" name="标题 1"/>
          <p:cNvSpPr txBox="1">
            <a:spLocks/>
          </p:cNvSpPr>
          <p:nvPr/>
        </p:nvSpPr>
        <p:spPr bwMode="auto">
          <a:xfrm>
            <a:off x="1043608" y="332656"/>
            <a:ext cx="7704856" cy="5669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5.1 </a:t>
            </a:r>
            <a:r>
              <a:rPr kumimoji="1" lang="zh-CN" altLang="en-US" sz="3200" b="1" kern="0" dirty="0" smtClean="0">
                <a:solidFill>
                  <a:schemeClr val="tx2"/>
                </a:solidFill>
                <a:latin typeface="+mj-lt"/>
                <a:ea typeface="+mj-ea"/>
                <a:cs typeface="+mj-cs"/>
              </a:rPr>
              <a:t>电平触发的</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触发器</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graphicFrame>
        <p:nvGraphicFramePr>
          <p:cNvPr id="124967" name="Object 39"/>
          <p:cNvGraphicFramePr>
            <a:graphicFrameLocks noChangeAspect="1"/>
          </p:cNvGraphicFramePr>
          <p:nvPr/>
        </p:nvGraphicFramePr>
        <p:xfrm>
          <a:off x="5364088" y="3140968"/>
          <a:ext cx="289768" cy="383704"/>
        </p:xfrm>
        <a:graphic>
          <a:graphicData uri="http://schemas.openxmlformats.org/presentationml/2006/ole">
            <p:oleObj spid="_x0000_s124967" r:id="rId6" imgW="152280" imgH="203040" progId="">
              <p:embed/>
            </p:oleObj>
          </a:graphicData>
        </a:graphic>
      </p:graphicFrame>
      <p:graphicFrame>
        <p:nvGraphicFramePr>
          <p:cNvPr id="124968" name="Object 40"/>
          <p:cNvGraphicFramePr>
            <a:graphicFrameLocks noChangeAspect="1"/>
          </p:cNvGraphicFramePr>
          <p:nvPr/>
        </p:nvGraphicFramePr>
        <p:xfrm>
          <a:off x="5940152" y="3140968"/>
          <a:ext cx="279400" cy="320675"/>
        </p:xfrm>
        <a:graphic>
          <a:graphicData uri="http://schemas.openxmlformats.org/presentationml/2006/ole">
            <p:oleObj spid="_x0000_s124968" r:id="rId7" imgW="164880" imgH="190440" progId="">
              <p:embed/>
            </p:oleObj>
          </a:graphicData>
        </a:graphic>
      </p:graphicFrame>
    </p:spTree>
    <p:extLst>
      <p:ext uri="{BB962C8B-B14F-4D97-AF65-F5344CB8AC3E}">
        <p14:creationId xmlns:p14="http://schemas.microsoft.com/office/powerpoint/2010/main" xmlns="" val="42310003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grpId="0" nodeType="clickEffect">
                                  <p:stCondLst>
                                    <p:cond delay="0"/>
                                  </p:stCondLst>
                                  <p:childTnLst>
                                    <p:animMotion origin="layout" path="M 1.94444E-6 -1.11111E-6 L 1.94444E-6 0.00023 C 0.00121 -1.11111E-6 0.01423 -0.00046 0.01944 0.00185 C 0.02066 0.00232 0.0217 0.00324 0.02291 0.00394 C 0.02604 0.00347 0.02916 0.00347 0.03246 0.00278 C 0.03976 0.00162 0.02864 0.00185 0.03576 0.00185 " pathEditMode="relative" rAng="0" ptsTypes="AAAAAA">
                                      <p:cBhvr>
                                        <p:cTn id="6" dur="500" fill="hold"/>
                                        <p:tgtEl>
                                          <p:spTgt spid="19"/>
                                        </p:tgtEl>
                                        <p:attrNameLst>
                                          <p:attrName>ppt_x</p:attrName>
                                          <p:attrName>ppt_y</p:attrName>
                                        </p:attrNameLst>
                                      </p:cBhvr>
                                      <p:rCtr x="1788" y="185"/>
                                    </p:animMotion>
                                  </p:childTnLst>
                                </p:cTn>
                              </p:par>
                              <p:par>
                                <p:cTn id="7" presetID="0" presetClass="path" presetSubtype="0" accel="50000" decel="50000" fill="hold" grpId="0" nodeType="withEffect">
                                  <p:stCondLst>
                                    <p:cond delay="0"/>
                                  </p:stCondLst>
                                  <p:childTnLst>
                                    <p:animMotion origin="layout" path="M 8.33333E-7 -3.33333E-6 L 8.33333E-7 0.00023 L 0.03646 -3.33333E-6 " pathEditMode="relative" rAng="0" ptsTypes="AAA">
                                      <p:cBhvr>
                                        <p:cTn id="8" dur="500" fill="hold"/>
                                        <p:tgtEl>
                                          <p:spTgt spid="18"/>
                                        </p:tgtEl>
                                        <p:attrNameLst>
                                          <p:attrName>ppt_x</p:attrName>
                                          <p:attrName>ppt_y</p:attrName>
                                        </p:attrNameLst>
                                      </p:cBhvr>
                                      <p:rCtr x="1823" y="0"/>
                                    </p:animMotion>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par>
                                <p:cTn id="13" presetID="0" presetClass="path" presetSubtype="0" accel="50000" decel="50000" fill="hold" grpId="0" nodeType="withEffect">
                                  <p:stCondLst>
                                    <p:cond delay="0"/>
                                  </p:stCondLst>
                                  <p:childTnLst>
                                    <p:animMotion origin="layout" path="M 8.33333E-7 -4.44444E-6 L 8.33333E-7 0.00024 C 0.00174 0.00024 0.0033 0.0007 0.00521 0.0007 C 0.0316 0.00186 0.03906 0.00162 0.05885 0.00162 " pathEditMode="relative" rAng="0" ptsTypes="AAAA">
                                      <p:cBhvr>
                                        <p:cTn id="14" dur="500" fill="hold"/>
                                        <p:tgtEl>
                                          <p:spTgt spid="21"/>
                                        </p:tgtEl>
                                        <p:attrNameLst>
                                          <p:attrName>ppt_x</p:attrName>
                                          <p:attrName>ppt_y</p:attrName>
                                        </p:attrNameLst>
                                      </p:cBhvr>
                                      <p:rCtr x="2934" y="69"/>
                                    </p:animMotion>
                                  </p:childTnLst>
                                </p:cTn>
                              </p:par>
                              <p:par>
                                <p:cTn id="15" presetID="1" presetClass="entr" presetSubtype="0" fill="hold" grpId="0" nodeType="withEffect">
                                  <p:stCondLst>
                                    <p:cond delay="0"/>
                                  </p:stCondLst>
                                  <p:childTnLst>
                                    <p:set>
                                      <p:cBhvr>
                                        <p:cTn id="16" dur="1" fill="hold">
                                          <p:stCondLst>
                                            <p:cond delay="0"/>
                                          </p:stCondLst>
                                        </p:cTn>
                                        <p:tgtEl>
                                          <p:spTgt spid="22"/>
                                        </p:tgtEl>
                                        <p:attrNameLst>
                                          <p:attrName>style.visibility</p:attrName>
                                        </p:attrNameLst>
                                      </p:cBhvr>
                                      <p:to>
                                        <p:strVal val="visible"/>
                                      </p:to>
                                    </p:set>
                                  </p:childTnLst>
                                </p:cTn>
                              </p:par>
                              <p:par>
                                <p:cTn id="17" presetID="0" presetClass="path" presetSubtype="0" accel="50000" decel="50000" fill="hold" grpId="1" nodeType="withEffect">
                                  <p:stCondLst>
                                    <p:cond delay="0"/>
                                  </p:stCondLst>
                                  <p:childTnLst>
                                    <p:animMotion origin="layout" path="M -8.33333E-7 -1.11111E-6 L -8.33333E-7 0.00023 C 0.00174 0.00023 0.0033 0.00093 0.00504 0.00093 C 0.02882 0.00093 0.02604 0.00116 0.04045 -0.00092 C 0.04688 -0.00393 0.04549 -0.0037 0.05712 -0.00092 C 0.05781 -0.00092 0.05625 0.00046 0.05556 0.00093 C 0.05521 0.00116 0.05451 0.00093 0.05399 0.00093 " pathEditMode="relative" rAng="0" ptsTypes="AAAAAAA">
                                      <p:cBhvr>
                                        <p:cTn id="18" dur="500" fill="hold"/>
                                        <p:tgtEl>
                                          <p:spTgt spid="22"/>
                                        </p:tgtEl>
                                        <p:attrNameLst>
                                          <p:attrName>ppt_x</p:attrName>
                                          <p:attrName>ppt_y</p:attrName>
                                        </p:attrNameLst>
                                      </p:cBhvr>
                                      <p:rCtr x="2865" y="-116"/>
                                    </p:animMotion>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par>
                                <p:cTn id="23" presetID="0" presetClass="path" presetSubtype="0" accel="50000" decel="50000" fill="hold" grpId="1" nodeType="withEffect">
                                  <p:stCondLst>
                                    <p:cond delay="0"/>
                                  </p:stCondLst>
                                  <p:childTnLst>
                                    <p:animMotion origin="layout" path="M -0.00521 -4.44444E-6 L -0.00521 0.00024 C -0.00087 -0.0206 -0.00226 -0.01064 -0.00417 -0.05277 C -0.00434 -0.05439 -0.00503 -0.05555 -0.00573 -0.05648 C -0.00608 -0.05694 -0.0092 -0.05833 -0.00938 -0.05833 C -0.01042 -0.05972 -0.01128 -0.06134 -0.0125 -0.06203 C -0.01962 -0.06643 -0.01233 -0.0618 -0.01771 -0.06574 C -0.01823 -0.0662 -0.01875 -0.06643 -0.01927 -0.06666 C -0.01997 -0.06736 -0.02066 -0.06782 -0.02135 -0.06851 C -0.02188 -0.06921 -0.0224 -0.0699 -0.02292 -0.07037 C -0.02396 -0.07129 -0.02517 -0.07129 -0.02604 -0.07222 C -0.02951 -0.07638 -0.02569 -0.07245 -0.02917 -0.075 C -0.03247 -0.07777 -0.03299 -0.07893 -0.03594 -0.08055 C -0.03663 -0.08101 -0.03733 -0.08101 -0.03802 -0.08148 C -0.03872 -0.08194 -0.03941 -0.08287 -0.0401 -0.08333 C -0.04063 -0.08379 -0.04115 -0.08402 -0.04167 -0.08425 C -0.04722 -0.08865 -0.03993 -0.08379 -0.04635 -0.08796 C -0.04688 -0.08842 -0.04757 -0.08842 -0.04792 -0.08888 C -0.04861 -0.08958 -0.04896 -0.0905 -0.04948 -0.09074 C -0.05469 -0.09467 -0.05278 -0.09282 -0.05677 -0.09444 C -0.05729 -0.09467 -0.05781 -0.09513 -0.05833 -0.09537 C -0.05903 -0.09583 -0.05972 -0.09606 -0.06042 -0.09629 C -0.06094 -0.09675 -0.06146 -0.09699 -0.06198 -0.09722 C -0.06337 -0.09791 -0.06615 -0.09907 -0.06615 -0.09884 C -0.06719 -0.10046 -0.06806 -0.10231 -0.06927 -0.10277 C -0.07031 -0.10324 -0.07188 -0.10393 -0.07292 -0.10463 C -0.07378 -0.10532 -0.07431 -0.10601 -0.075 -0.10648 C -0.07587 -0.10717 -0.07674 -0.10763 -0.0776 -0.10833 C -0.0783 -0.10879 -0.07865 -0.10972 -0.07917 -0.11018 C -0.07969 -0.11064 -0.08038 -0.11064 -0.08073 -0.11111 C -0.08264 -0.11296 -0.08212 -0.11319 -0.08385 -0.11574 C -0.08438 -0.11643 -0.08507 -0.11689 -0.08542 -0.11759 C -0.08611 -0.11851 -0.08646 -0.11967 -0.08698 -0.12037 C -0.08767 -0.12129 -0.08837 -0.12152 -0.08906 -0.12222 C -0.09097 -0.1243 -0.09045 -0.12453 -0.09271 -0.12592 C -0.09358 -0.12638 -0.0941 -0.12662 -0.09479 -0.12685 C -0.09583 -0.12824 -0.0967 -0.12986 -0.09792 -0.13055 C -0.09844 -0.13101 -0.09913 -0.13101 -0.09948 -0.13148 C -0.10017 -0.13194 -0.10052 -0.13287 -0.10104 -0.13333 C -0.10434 -0.13611 -0.10295 -0.13425 -0.10573 -0.13703 C -0.10694 -0.13819 -0.10781 -0.13958 -0.10885 -0.14074 C -0.10938 -0.14143 -0.1099 -0.14236 -0.11042 -0.14259 C -0.11753 -0.14699 -0.11024 -0.14236 -0.11563 -0.14629 C -0.11615 -0.14675 -0.11684 -0.14675 -0.11719 -0.14722 C -0.11788 -0.14768 -0.11823 -0.14861 -0.11875 -0.14907 C -0.11944 -0.14976 -0.1217 -0.15069 -0.1224 -0.15092 C -0.12292 -0.15185 -0.12344 -0.153 -0.12396 -0.1537 C -0.12448 -0.15439 -0.12517 -0.15486 -0.12552 -0.15555 C -0.12587 -0.15648 -0.12587 -0.1574 -0.12604 -0.15833 C -0.12587 -0.17129 -0.12604 -0.18425 -0.12552 -0.19722 C -0.12552 -0.1993 -0.125 -0.20092 -0.12448 -0.20277 C -0.11927 -0.22615 -0.10347 -0.20648 -0.08646 -0.20648 " pathEditMode="relative" rAng="0" ptsTypes="AAAAAAAAAAAAAAAAAAAAAAAAAAAAAAAAAAAAAAAAAAAAAAAAAAAA">
                                      <p:cBhvr>
                                        <p:cTn id="24" dur="1000" fill="hold"/>
                                        <p:tgtEl>
                                          <p:spTgt spid="20"/>
                                        </p:tgtEl>
                                        <p:attrNameLst>
                                          <p:attrName>ppt_x</p:attrName>
                                          <p:attrName>ppt_y</p:attrName>
                                        </p:attrNameLst>
                                      </p:cBhvr>
                                      <p:rCtr x="-5903" y="-10718"/>
                                    </p:animMotion>
                                  </p:childTnLst>
                                </p:cTn>
                              </p:par>
                              <p:par>
                                <p:cTn id="25" presetID="1" presetClass="entr" presetSubtype="0" fill="hold" grpId="0" nodeType="withEffect">
                                  <p:stCondLst>
                                    <p:cond delay="0"/>
                                  </p:stCondLst>
                                  <p:childTnLst>
                                    <p:set>
                                      <p:cBhvr>
                                        <p:cTn id="26" dur="1" fill="hold">
                                          <p:stCondLst>
                                            <p:cond delay="0"/>
                                          </p:stCondLst>
                                        </p:cTn>
                                        <p:tgtEl>
                                          <p:spTgt spid="26"/>
                                        </p:tgtEl>
                                        <p:attrNameLst>
                                          <p:attrName>style.visibility</p:attrName>
                                        </p:attrNameLst>
                                      </p:cBhvr>
                                      <p:to>
                                        <p:strVal val="visible"/>
                                      </p:to>
                                    </p:set>
                                  </p:childTnLst>
                                </p:cTn>
                              </p:par>
                              <p:par>
                                <p:cTn id="27" presetID="0" presetClass="path" presetSubtype="0" accel="50000" decel="50000" fill="hold" grpId="1" nodeType="withEffect">
                                  <p:stCondLst>
                                    <p:cond delay="0"/>
                                  </p:stCondLst>
                                  <p:childTnLst>
                                    <p:animMotion origin="layout" path="M -0.0151 0.01296 L -0.0151 0.01319 C -0.01493 0.02916 -0.01493 0.04537 -0.01441 0.06157 C -0.01441 0.06273 -0.01406 0.06365 -0.01389 0.06458 C -0.0125 0.07338 -0.01424 0.06435 -0.01267 0.07152 C -0.0132 0.07708 -0.0132 0.08287 -0.01389 0.08842 C -0.01441 0.09143 -0.01563 0.09166 -0.01684 0.09351 C -0.01806 0.09537 -0.01875 0.09791 -0.01997 0.0993 C -0.02153 0.10092 -0.0224 0.10231 -0.02396 0.10347 C -0.02483 0.10393 -0.02552 0.10393 -0.02622 0.10439 C -0.02691 0.10463 -0.02743 0.10509 -0.02795 0.10532 C -0.02899 0.10578 -0.02986 0.10601 -0.03073 0.10625 C -0.03125 0.10648 -0.03177 0.10717 -0.03247 0.1074 C -0.03351 0.10787 -0.03472 0.10787 -0.03576 0.10833 C -0.03681 0.10856 -0.03767 0.10902 -0.03854 0.10926 C -0.0401 0.10995 -0.04149 0.11088 -0.04306 0.11134 C -0.04531 0.1118 -0.04757 0.11203 -0.04983 0.11226 C -0.05469 0.11527 -0.04688 0.11064 -0.05417 0.11527 C -0.05538 0.11597 -0.05642 0.11643 -0.05747 0.11736 C -0.0625 0.12083 -0.05712 0.11805 -0.06215 0.12037 C -0.06788 0.12708 -0.05885 0.11666 -0.06597 0.1243 C -0.07083 0.12939 -0.06754 0.12731 -0.07101 0.12916 C -0.07292 0.13148 -0.07448 0.13356 -0.07656 0.13518 C -0.07778 0.13588 -0.08004 0.13726 -0.08004 0.1375 C -0.08472 0.14282 -0.07865 0.13611 -0.08333 0.14004 C -0.08802 0.14444 -0.08177 0.13958 -0.08681 0.14513 C -0.0875 0.14606 -0.08854 0.14652 -0.08941 0.14722 C -0.09063 0.14791 -0.09167 0.14838 -0.09288 0.14907 L -0.09445 0.15 C -0.09566 0.15138 -0.09688 0.15231 -0.09792 0.15416 C -0.09844 0.15509 -0.09879 0.15648 -0.09948 0.15717 C -0.10052 0.15787 -0.10191 0.15763 -0.10295 0.1581 L -0.10799 0.16111 L -0.10972 0.16203 C -0.11024 0.16226 -0.11076 0.1625 -0.11129 0.16296 C -0.11198 0.16365 -0.11267 0.16435 -0.11354 0.16504 C -0.11406 0.16551 -0.11458 0.16643 -0.11528 0.16713 C -0.1158 0.16759 -0.11632 0.16759 -0.11701 0.16805 C -0.11754 0.16898 -0.11823 0.17013 -0.1191 0.17106 C -0.11979 0.17152 -0.12066 0.17152 -0.12135 0.17199 C -0.12188 0.17222 -0.12257 0.17268 -0.12309 0.17291 C -0.12431 0.17523 -0.12483 0.17662 -0.12639 0.17801 C -0.12691 0.17847 -0.12743 0.1787 -0.12813 0.17893 C -0.12934 0.18125 -0.12986 0.18263 -0.13142 0.18402 C -0.13195 0.18449 -0.13247 0.18449 -0.13316 0.18495 C -0.13264 0.18634 -0.13195 0.1875 -0.13195 0.18888 C -0.13195 0.19027 -0.13229 0.19166 -0.13247 0.19282 C -0.13368 0.19976 -0.13264 0.19097 -0.13368 0.20185 C -0.13351 0.21018 -0.13733 0.22314 -0.13316 0.22662 C -0.12379 0.23472 -0.11233 0.22801 -0.10191 0.2287 C -0.09861 0.22893 -0.09549 0.22939 -0.09236 0.22963 L -0.09063 0.23078 " pathEditMode="relative" rAng="0" ptsTypes="AAAAAAAAAAAAAAAAAAAAAAAAAAAAAAAAAAAAAAAAAAAAAAAAAAAA">
                                      <p:cBhvr>
                                        <p:cTn id="28" dur="1000" fill="hold"/>
                                        <p:tgtEl>
                                          <p:spTgt spid="26"/>
                                        </p:tgtEl>
                                        <p:attrNameLst>
                                          <p:attrName>ppt_x</p:attrName>
                                          <p:attrName>ppt_y</p:attrName>
                                        </p:attrNameLst>
                                      </p:cBhvr>
                                      <p:rCtr x="-5885" y="10880"/>
                                    </p:animMotion>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p:bldP spid="20" grpId="0"/>
      <p:bldP spid="20" grpId="1"/>
      <p:bldP spid="21" grpId="0"/>
      <p:bldP spid="21" grpId="1"/>
      <p:bldP spid="22" grpId="0"/>
      <p:bldP spid="22" grpId="1"/>
      <p:bldP spid="23" grpId="0"/>
      <p:bldP spid="24" grpId="0"/>
      <p:bldP spid="26" grpId="0"/>
      <p:bldP spid="26" grpId="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5986" name="Picture 34"/>
          <p:cNvPicPr>
            <a:picLocks noChangeAspect="1" noChangeArrowheads="1"/>
          </p:cNvPicPr>
          <p:nvPr/>
        </p:nvPicPr>
        <p:blipFill>
          <a:blip r:embed="rId3" cstate="print"/>
          <a:srcRect/>
          <a:stretch>
            <a:fillRect/>
          </a:stretch>
        </p:blipFill>
        <p:spPr bwMode="auto">
          <a:xfrm>
            <a:off x="539552" y="2924944"/>
            <a:ext cx="2581275" cy="2790825"/>
          </a:xfrm>
          <a:prstGeom prst="rect">
            <a:avLst/>
          </a:prstGeom>
          <a:noFill/>
          <a:ln w="9525">
            <a:noFill/>
            <a:miter lim="800000"/>
            <a:headEnd/>
            <a:tailEnd/>
          </a:ln>
        </p:spPr>
      </p:pic>
      <p:sp>
        <p:nvSpPr>
          <p:cNvPr id="3" name="矩形 2"/>
          <p:cNvSpPr/>
          <p:nvPr/>
        </p:nvSpPr>
        <p:spPr>
          <a:xfrm>
            <a:off x="386476" y="2037363"/>
            <a:ext cx="4315604" cy="400110"/>
          </a:xfrm>
          <a:prstGeom prst="rect">
            <a:avLst/>
          </a:prstGeom>
          <a:solidFill>
            <a:srgbClr val="0341E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nchor="ctr">
            <a:spAutoFit/>
          </a:bodyPr>
          <a:lstStyle/>
          <a:p>
            <a:pPr algn="ctr"/>
            <a:r>
              <a:rPr lang="zh-CN" altLang="en-US" sz="2000" b="1" dirty="0">
                <a:solidFill>
                  <a:schemeClr val="bg1"/>
                </a:solidFill>
                <a:latin typeface="黑体" panose="02010609060101010101" pitchFamily="49" charset="-122"/>
                <a:ea typeface="黑体" panose="02010609060101010101" pitchFamily="49" charset="-122"/>
              </a:rPr>
              <a:t>与非门构成的基本</a:t>
            </a:r>
            <a:r>
              <a:rPr lang="en-US" altLang="zh-CN" sz="2000" b="1" dirty="0" smtClean="0">
                <a:solidFill>
                  <a:schemeClr val="bg1"/>
                </a:solidFill>
                <a:latin typeface="黑体" panose="02010609060101010101" pitchFamily="49" charset="-122"/>
                <a:ea typeface="黑体" panose="02010609060101010101" pitchFamily="49" charset="-122"/>
              </a:rPr>
              <a:t>RS</a:t>
            </a:r>
            <a:r>
              <a:rPr lang="zh-CN" altLang="en-US" sz="2000" b="1" dirty="0" smtClean="0">
                <a:solidFill>
                  <a:schemeClr val="bg1"/>
                </a:solidFill>
                <a:latin typeface="黑体" panose="02010609060101010101" pitchFamily="49" charset="-122"/>
                <a:ea typeface="黑体" panose="02010609060101010101" pitchFamily="49" charset="-122"/>
              </a:rPr>
              <a:t>锁存器工作原理</a:t>
            </a:r>
            <a:endParaRPr lang="zh-CN" altLang="en-US" sz="2000" b="1" dirty="0">
              <a:solidFill>
                <a:schemeClr val="bg1"/>
              </a:solidFill>
              <a:latin typeface="黑体" panose="02010609060101010101" pitchFamily="49" charset="-122"/>
              <a:ea typeface="黑体" panose="02010609060101010101" pitchFamily="49" charset="-122"/>
            </a:endParaRPr>
          </a:p>
        </p:txBody>
      </p:sp>
      <p:sp>
        <p:nvSpPr>
          <p:cNvPr id="4" name="矩形 3"/>
          <p:cNvSpPr/>
          <p:nvPr/>
        </p:nvSpPr>
        <p:spPr>
          <a:xfrm>
            <a:off x="-82794" y="6167480"/>
            <a:ext cx="3972562" cy="369332"/>
          </a:xfrm>
          <a:prstGeom prst="rect">
            <a:avLst/>
          </a:prstGeom>
        </p:spPr>
        <p:txBody>
          <a:bodyPr wrap="none">
            <a:spAutoFit/>
          </a:bodyPr>
          <a:lstStyle/>
          <a:p>
            <a:r>
              <a:rPr lang="zh-CN" altLang="en-US" b="1" dirty="0" smtClean="0">
                <a:latin typeface="楷体_GB2312" pitchFamily="49" charset="-122"/>
                <a:ea typeface="楷体_GB2312" pitchFamily="49" charset="-122"/>
              </a:rPr>
              <a:t>图 与非门</a:t>
            </a:r>
            <a:r>
              <a:rPr lang="zh-CN" altLang="en-US" b="1" dirty="0">
                <a:latin typeface="楷体_GB2312" pitchFamily="49" charset="-122"/>
                <a:ea typeface="楷体_GB2312" pitchFamily="49" charset="-122"/>
              </a:rPr>
              <a:t>构成的基本</a:t>
            </a:r>
            <a:r>
              <a:rPr lang="en-US" altLang="zh-CN" b="1" dirty="0">
                <a:latin typeface="楷体_GB2312" pitchFamily="49" charset="-122"/>
                <a:ea typeface="楷体_GB2312" pitchFamily="49" charset="-122"/>
              </a:rPr>
              <a:t>RS-FF</a:t>
            </a:r>
            <a:r>
              <a:rPr lang="zh-CN" altLang="en-US" b="1" dirty="0">
                <a:latin typeface="楷体_GB2312" pitchFamily="49" charset="-122"/>
                <a:ea typeface="楷体_GB2312" pitchFamily="49" charset="-122"/>
              </a:rPr>
              <a:t>的逻辑图</a:t>
            </a:r>
            <a:r>
              <a:rPr lang="zh-CN" altLang="en-US" dirty="0"/>
              <a:t> </a:t>
            </a:r>
          </a:p>
        </p:txBody>
      </p:sp>
      <p:sp>
        <p:nvSpPr>
          <p:cNvPr id="5" name="Text Box 9"/>
          <p:cNvSpPr txBox="1">
            <a:spLocks noChangeArrowheads="1"/>
          </p:cNvSpPr>
          <p:nvPr/>
        </p:nvSpPr>
        <p:spPr bwMode="auto">
          <a:xfrm>
            <a:off x="4788780" y="2238603"/>
            <a:ext cx="4247716" cy="64633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p>
            <a:pPr algn="ctr">
              <a:spcBef>
                <a:spcPct val="50000"/>
              </a:spcBef>
            </a:pPr>
            <a:r>
              <a:rPr lang="zh-CN" altLang="en-US" b="1" dirty="0" smtClean="0">
                <a:latin typeface="楷体_GB2312" pitchFamily="49" charset="-122"/>
                <a:ea typeface="楷体_GB2312" pitchFamily="49" charset="-122"/>
              </a:rPr>
              <a:t>表 </a:t>
            </a:r>
            <a:r>
              <a:rPr lang="en-US" altLang="zh-CN" dirty="0" smtClean="0">
                <a:latin typeface="楷体_GB2312" pitchFamily="49" charset="-122"/>
                <a:ea typeface="楷体_GB2312" pitchFamily="49" charset="-122"/>
              </a:rPr>
              <a:t> </a:t>
            </a:r>
            <a:r>
              <a:rPr lang="zh-CN" altLang="en-US" b="1" dirty="0">
                <a:latin typeface="楷体_GB2312" pitchFamily="49" charset="-122"/>
                <a:ea typeface="楷体_GB2312" pitchFamily="49" charset="-122"/>
              </a:rPr>
              <a:t>与非门构成的基本</a:t>
            </a:r>
            <a:r>
              <a:rPr lang="en-US" altLang="zh-CN" b="1" dirty="0">
                <a:latin typeface="楷体_GB2312" pitchFamily="49" charset="-122"/>
                <a:ea typeface="楷体_GB2312" pitchFamily="49" charset="-122"/>
              </a:rPr>
              <a:t>RS-FF</a:t>
            </a:r>
            <a:r>
              <a:rPr lang="zh-CN" altLang="en-US" b="1" dirty="0">
                <a:latin typeface="楷体_GB2312" pitchFamily="49" charset="-122"/>
                <a:ea typeface="楷体_GB2312" pitchFamily="49" charset="-122"/>
              </a:rPr>
              <a:t>的</a:t>
            </a:r>
            <a:r>
              <a:rPr lang="zh-CN" altLang="en-US" b="1" dirty="0" smtClean="0">
                <a:latin typeface="楷体_GB2312" pitchFamily="49" charset="-122"/>
                <a:ea typeface="楷体_GB2312" pitchFamily="49" charset="-122"/>
              </a:rPr>
              <a:t>真值表（</a:t>
            </a:r>
            <a:r>
              <a:rPr lang="zh-CN" altLang="en-US" b="1" dirty="0">
                <a:latin typeface="楷体_GB2312" pitchFamily="49" charset="-122"/>
                <a:ea typeface="楷体_GB2312" pitchFamily="49" charset="-122"/>
              </a:rPr>
              <a:t>特性表）</a:t>
            </a:r>
            <a:r>
              <a:rPr lang="zh-CN" altLang="en-US" dirty="0">
                <a:latin typeface="楷体_GB2312" pitchFamily="49" charset="-122"/>
                <a:ea typeface="楷体_GB2312" pitchFamily="49" charset="-122"/>
              </a:rPr>
              <a:t>  </a:t>
            </a:r>
          </a:p>
        </p:txBody>
      </p:sp>
      <p:graphicFrame>
        <p:nvGraphicFramePr>
          <p:cNvPr id="7" name="Group 304"/>
          <p:cNvGraphicFramePr>
            <a:graphicFrameLocks noGrp="1"/>
          </p:cNvGraphicFramePr>
          <p:nvPr>
            <p:extLst>
              <p:ext uri="{D42A27DB-BD31-4B8C-83A1-F6EECF244321}">
                <p14:modId xmlns:p14="http://schemas.microsoft.com/office/powerpoint/2010/main" xmlns="" val="2455572284"/>
              </p:ext>
            </p:extLst>
          </p:nvPr>
        </p:nvGraphicFramePr>
        <p:xfrm>
          <a:off x="5194870" y="3028969"/>
          <a:ext cx="3671887" cy="3568383"/>
        </p:xfrm>
        <a:graphic>
          <a:graphicData uri="http://schemas.openxmlformats.org/drawingml/2006/table">
            <a:tbl>
              <a:tblPr/>
              <a:tblGrid>
                <a:gridCol w="1368425">
                  <a:extLst>
                    <a:ext uri="{9D8B030D-6E8A-4147-A177-3AD203B41FA5}">
                      <a16:colId xmlns:a16="http://schemas.microsoft.com/office/drawing/2014/main" xmlns="" val="20000"/>
                    </a:ext>
                  </a:extLst>
                </a:gridCol>
                <a:gridCol w="792162">
                  <a:extLst>
                    <a:ext uri="{9D8B030D-6E8A-4147-A177-3AD203B41FA5}">
                      <a16:colId xmlns:a16="http://schemas.microsoft.com/office/drawing/2014/main" xmlns="" val="20001"/>
                    </a:ext>
                  </a:extLst>
                </a:gridCol>
                <a:gridCol w="720725">
                  <a:extLst>
                    <a:ext uri="{9D8B030D-6E8A-4147-A177-3AD203B41FA5}">
                      <a16:colId xmlns:a16="http://schemas.microsoft.com/office/drawing/2014/main" xmlns="" val="20002"/>
                    </a:ext>
                  </a:extLst>
                </a:gridCol>
                <a:gridCol w="790575">
                  <a:extLst>
                    <a:ext uri="{9D8B030D-6E8A-4147-A177-3AD203B41FA5}">
                      <a16:colId xmlns:a16="http://schemas.microsoft.com/office/drawing/2014/main" xmlns="" val="20003"/>
                    </a:ext>
                  </a:extLst>
                </a:gridCol>
              </a:tblGrid>
              <a:tr h="323850">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20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功能</a:t>
                      </a:r>
                    </a:p>
                  </a:txBody>
                  <a:tcPr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0"/>
                  </a:ext>
                </a:extLst>
              </a:tr>
              <a:tr h="323850">
                <a:tc rowSpan="2">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   1       1</a:t>
                      </a:r>
                    </a:p>
                  </a:txBody>
                  <a:tcPr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r h="323850">
                <a:tc vMerge="1">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en-US"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zh-CN"/>
                    </a:p>
                  </a:txBody>
                  <a:tcPr/>
                </a:tc>
                <a:extLst>
                  <a:ext uri="{0D108BD9-81ED-4DB2-BD59-A6C34878D82A}">
                    <a16:rowId xmlns:a16="http://schemas.microsoft.com/office/drawing/2014/main" xmlns="" val="10002"/>
                  </a:ext>
                </a:extLst>
              </a:tr>
              <a:tr h="323850">
                <a:tc rowSpan="2">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   0       1</a:t>
                      </a:r>
                    </a:p>
                  </a:txBody>
                  <a:tcPr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3"/>
                  </a:ext>
                </a:extLst>
              </a:tr>
              <a:tr h="322263">
                <a:tc vMerge="1">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en-US"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zh-CN"/>
                    </a:p>
                  </a:txBody>
                  <a:tcPr/>
                </a:tc>
                <a:extLst>
                  <a:ext uri="{0D108BD9-81ED-4DB2-BD59-A6C34878D82A}">
                    <a16:rowId xmlns:a16="http://schemas.microsoft.com/office/drawing/2014/main" xmlns="" val="10004"/>
                  </a:ext>
                </a:extLst>
              </a:tr>
              <a:tr h="398463">
                <a:tc rowSpan="2">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   1       0</a:t>
                      </a:r>
                    </a:p>
                  </a:txBody>
                  <a:tcPr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5"/>
                  </a:ext>
                </a:extLst>
              </a:tr>
              <a:tr h="323850">
                <a:tc vMerge="1">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en-US"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zh-CN"/>
                    </a:p>
                  </a:txBody>
                  <a:tcPr/>
                </a:tc>
                <a:extLst>
                  <a:ext uri="{0D108BD9-81ED-4DB2-BD59-A6C34878D82A}">
                    <a16:rowId xmlns:a16="http://schemas.microsoft.com/office/drawing/2014/main" xmlns="" val="10006"/>
                  </a:ext>
                </a:extLst>
              </a:tr>
              <a:tr h="323850">
                <a:tc rowSpan="2">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   0       0</a:t>
                      </a:r>
                    </a:p>
                  </a:txBody>
                  <a:tcPr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7"/>
                  </a:ext>
                </a:extLst>
              </a:tr>
              <a:tr h="323850">
                <a:tc vMerge="1">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en-US"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zh-CN"/>
                    </a:p>
                  </a:txBody>
                  <a:tcPr/>
                </a:tc>
                <a:extLst>
                  <a:ext uri="{0D108BD9-81ED-4DB2-BD59-A6C34878D82A}">
                    <a16:rowId xmlns:a16="http://schemas.microsoft.com/office/drawing/2014/main" xmlns="" val="10008"/>
                  </a:ext>
                </a:extLst>
              </a:tr>
            </a:tbl>
          </a:graphicData>
        </a:graphic>
      </p:graphicFrame>
      <p:graphicFrame>
        <p:nvGraphicFramePr>
          <p:cNvPr id="10" name="Object 307"/>
          <p:cNvGraphicFramePr>
            <a:graphicFrameLocks noChangeAspect="1"/>
          </p:cNvGraphicFramePr>
          <p:nvPr>
            <p:extLst>
              <p:ext uri="{D42A27DB-BD31-4B8C-83A1-F6EECF244321}">
                <p14:modId xmlns:p14="http://schemas.microsoft.com/office/powerpoint/2010/main" xmlns="" val="3143143136"/>
              </p:ext>
            </p:extLst>
          </p:nvPr>
        </p:nvGraphicFramePr>
        <p:xfrm>
          <a:off x="6850632" y="3028969"/>
          <a:ext cx="365125" cy="387350"/>
        </p:xfrm>
        <a:graphic>
          <a:graphicData uri="http://schemas.openxmlformats.org/presentationml/2006/ole">
            <p:oleObj spid="_x0000_s125984" name="公式" r:id="rId4" imgW="215806" imgH="228501" progId="">
              <p:embed/>
            </p:oleObj>
          </a:graphicData>
        </a:graphic>
      </p:graphicFrame>
      <p:graphicFrame>
        <p:nvGraphicFramePr>
          <p:cNvPr id="11" name="Object 308"/>
          <p:cNvGraphicFramePr>
            <a:graphicFrameLocks noChangeAspect="1"/>
          </p:cNvGraphicFramePr>
          <p:nvPr>
            <p:extLst>
              <p:ext uri="{D42A27DB-BD31-4B8C-83A1-F6EECF244321}">
                <p14:modId xmlns:p14="http://schemas.microsoft.com/office/powerpoint/2010/main" xmlns="" val="317345544"/>
              </p:ext>
            </p:extLst>
          </p:nvPr>
        </p:nvGraphicFramePr>
        <p:xfrm>
          <a:off x="7498332" y="3028969"/>
          <a:ext cx="515938" cy="387350"/>
        </p:xfrm>
        <a:graphic>
          <a:graphicData uri="http://schemas.openxmlformats.org/presentationml/2006/ole">
            <p:oleObj spid="_x0000_s125985" name="公式" r:id="rId5" imgW="304668" imgH="228501" progId="">
              <p:embed/>
            </p:oleObj>
          </a:graphicData>
        </a:graphic>
      </p:graphicFrame>
      <p:sp>
        <p:nvSpPr>
          <p:cNvPr id="12" name="Text Box 309"/>
          <p:cNvSpPr txBox="1">
            <a:spLocks noChangeArrowheads="1"/>
          </p:cNvSpPr>
          <p:nvPr/>
        </p:nvSpPr>
        <p:spPr bwMode="auto">
          <a:xfrm>
            <a:off x="8146032" y="3603644"/>
            <a:ext cx="865188"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zh-CN" altLang="en-US" dirty="0">
                <a:solidFill>
                  <a:srgbClr val="FF0000"/>
                </a:solidFill>
                <a:ea typeface="黑体" panose="02010609060101010101" pitchFamily="2" charset="-122"/>
              </a:rPr>
              <a:t>保持</a:t>
            </a:r>
          </a:p>
        </p:txBody>
      </p:sp>
      <p:sp>
        <p:nvSpPr>
          <p:cNvPr id="13" name="Rectangle 347"/>
          <p:cNvSpPr>
            <a:spLocks noChangeArrowheads="1"/>
          </p:cNvSpPr>
          <p:nvPr/>
        </p:nvSpPr>
        <p:spPr bwMode="auto">
          <a:xfrm>
            <a:off x="7498332" y="3435369"/>
            <a:ext cx="328936"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pPr>
              <a:spcBef>
                <a:spcPct val="20000"/>
              </a:spcBef>
            </a:pPr>
            <a:r>
              <a:rPr lang="en-US" altLang="zh-CN" sz="2000" b="1" dirty="0"/>
              <a:t>0</a:t>
            </a:r>
          </a:p>
        </p:txBody>
      </p:sp>
      <p:sp>
        <p:nvSpPr>
          <p:cNvPr id="14" name="Rectangle 348"/>
          <p:cNvSpPr>
            <a:spLocks noChangeArrowheads="1"/>
          </p:cNvSpPr>
          <p:nvPr/>
        </p:nvSpPr>
        <p:spPr bwMode="auto">
          <a:xfrm>
            <a:off x="7498332" y="3843357"/>
            <a:ext cx="328936"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pPr>
              <a:spcBef>
                <a:spcPct val="20000"/>
              </a:spcBef>
            </a:pPr>
            <a:r>
              <a:rPr lang="en-US" altLang="zh-CN" sz="2000" b="1"/>
              <a:t>1</a:t>
            </a:r>
          </a:p>
        </p:txBody>
      </p:sp>
      <p:sp>
        <p:nvSpPr>
          <p:cNvPr id="15" name="Rectangle 349"/>
          <p:cNvSpPr>
            <a:spLocks noChangeArrowheads="1"/>
          </p:cNvSpPr>
          <p:nvPr/>
        </p:nvSpPr>
        <p:spPr bwMode="auto">
          <a:xfrm>
            <a:off x="7498332" y="4227532"/>
            <a:ext cx="328936"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pPr>
              <a:spcBef>
                <a:spcPct val="20000"/>
              </a:spcBef>
            </a:pPr>
            <a:r>
              <a:rPr lang="en-US" altLang="zh-CN" sz="2000" b="1"/>
              <a:t>1</a:t>
            </a:r>
          </a:p>
        </p:txBody>
      </p:sp>
      <p:sp>
        <p:nvSpPr>
          <p:cNvPr id="16" name="Rectangle 350"/>
          <p:cNvSpPr>
            <a:spLocks noChangeArrowheads="1"/>
          </p:cNvSpPr>
          <p:nvPr/>
        </p:nvSpPr>
        <p:spPr bwMode="auto">
          <a:xfrm>
            <a:off x="7498332" y="4635519"/>
            <a:ext cx="328936"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pPr>
              <a:spcBef>
                <a:spcPct val="20000"/>
              </a:spcBef>
            </a:pPr>
            <a:r>
              <a:rPr lang="en-US" altLang="zh-CN" sz="2000" b="1"/>
              <a:t>1</a:t>
            </a:r>
          </a:p>
        </p:txBody>
      </p:sp>
      <p:sp>
        <p:nvSpPr>
          <p:cNvPr id="17" name="Rectangle 351"/>
          <p:cNvSpPr>
            <a:spLocks noChangeArrowheads="1"/>
          </p:cNvSpPr>
          <p:nvPr/>
        </p:nvSpPr>
        <p:spPr bwMode="auto">
          <a:xfrm>
            <a:off x="7498332" y="4972069"/>
            <a:ext cx="328936"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pPr>
              <a:spcBef>
                <a:spcPct val="20000"/>
              </a:spcBef>
            </a:pPr>
            <a:r>
              <a:rPr lang="en-US" altLang="zh-CN" sz="2000" b="1" dirty="0"/>
              <a:t>0</a:t>
            </a:r>
          </a:p>
        </p:txBody>
      </p:sp>
      <p:sp>
        <p:nvSpPr>
          <p:cNvPr id="18" name="Rectangle 352"/>
          <p:cNvSpPr>
            <a:spLocks noChangeArrowheads="1"/>
          </p:cNvSpPr>
          <p:nvPr/>
        </p:nvSpPr>
        <p:spPr bwMode="auto">
          <a:xfrm>
            <a:off x="7498332" y="5403869"/>
            <a:ext cx="328936"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pPr>
              <a:spcBef>
                <a:spcPct val="20000"/>
              </a:spcBef>
            </a:pPr>
            <a:r>
              <a:rPr lang="en-US" altLang="zh-CN" sz="2000" b="1" dirty="0"/>
              <a:t>0</a:t>
            </a:r>
          </a:p>
        </p:txBody>
      </p:sp>
      <p:sp>
        <p:nvSpPr>
          <p:cNvPr id="19" name="Rectangle 353"/>
          <p:cNvSpPr>
            <a:spLocks noChangeArrowheads="1"/>
          </p:cNvSpPr>
          <p:nvPr/>
        </p:nvSpPr>
        <p:spPr bwMode="auto">
          <a:xfrm>
            <a:off x="7498332" y="5764232"/>
            <a:ext cx="328936"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pPr>
              <a:spcBef>
                <a:spcPct val="20000"/>
              </a:spcBef>
            </a:pPr>
            <a:r>
              <a:rPr lang="en-US" altLang="zh-CN" sz="2000" b="1" dirty="0" smtClean="0">
                <a:solidFill>
                  <a:srgbClr val="0000CC"/>
                </a:solidFill>
              </a:rPr>
              <a:t>1</a:t>
            </a:r>
            <a:endParaRPr lang="en-US" altLang="zh-CN" sz="2000" b="1" dirty="0">
              <a:solidFill>
                <a:srgbClr val="0000CC"/>
              </a:solidFill>
            </a:endParaRPr>
          </a:p>
        </p:txBody>
      </p:sp>
      <p:sp>
        <p:nvSpPr>
          <p:cNvPr id="20" name="Rectangle 354"/>
          <p:cNvSpPr>
            <a:spLocks noChangeArrowheads="1"/>
          </p:cNvSpPr>
          <p:nvPr/>
        </p:nvSpPr>
        <p:spPr bwMode="auto">
          <a:xfrm>
            <a:off x="7506270" y="6196032"/>
            <a:ext cx="328936"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pPr>
              <a:spcBef>
                <a:spcPct val="20000"/>
              </a:spcBef>
            </a:pPr>
            <a:r>
              <a:rPr lang="en-US" altLang="zh-CN" sz="2000" b="1" dirty="0" smtClean="0">
                <a:solidFill>
                  <a:srgbClr val="0000CC"/>
                </a:solidFill>
              </a:rPr>
              <a:t>1</a:t>
            </a:r>
            <a:endParaRPr lang="en-US" altLang="zh-CN" sz="2000" b="1" dirty="0">
              <a:solidFill>
                <a:srgbClr val="0000CC"/>
              </a:solidFill>
            </a:endParaRPr>
          </a:p>
        </p:txBody>
      </p:sp>
      <p:sp>
        <p:nvSpPr>
          <p:cNvPr id="21" name="Text Box 355"/>
          <p:cNvSpPr txBox="1">
            <a:spLocks noChangeArrowheads="1"/>
          </p:cNvSpPr>
          <p:nvPr/>
        </p:nvSpPr>
        <p:spPr bwMode="auto">
          <a:xfrm>
            <a:off x="8217470" y="4395807"/>
            <a:ext cx="865187"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zh-CN" altLang="en-US">
                <a:solidFill>
                  <a:srgbClr val="FF0000"/>
                </a:solidFill>
                <a:ea typeface="黑体" panose="02010609060101010101" pitchFamily="2" charset="-122"/>
              </a:rPr>
              <a:t>置</a:t>
            </a:r>
            <a:r>
              <a:rPr lang="en-US" altLang="zh-CN">
                <a:solidFill>
                  <a:srgbClr val="FF0000"/>
                </a:solidFill>
                <a:ea typeface="黑体" panose="02010609060101010101" pitchFamily="2" charset="-122"/>
              </a:rPr>
              <a:t>1</a:t>
            </a:r>
          </a:p>
        </p:txBody>
      </p:sp>
      <p:sp>
        <p:nvSpPr>
          <p:cNvPr id="22" name="Text Box 356"/>
          <p:cNvSpPr txBox="1">
            <a:spLocks noChangeArrowheads="1"/>
          </p:cNvSpPr>
          <p:nvPr/>
        </p:nvSpPr>
        <p:spPr bwMode="auto">
          <a:xfrm>
            <a:off x="8217470" y="5187969"/>
            <a:ext cx="865187"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zh-CN" altLang="en-US" dirty="0">
                <a:solidFill>
                  <a:srgbClr val="FF0000"/>
                </a:solidFill>
                <a:ea typeface="黑体" panose="02010609060101010101" pitchFamily="2" charset="-122"/>
              </a:rPr>
              <a:t>置</a:t>
            </a:r>
            <a:r>
              <a:rPr lang="en-US" altLang="zh-CN" dirty="0">
                <a:solidFill>
                  <a:srgbClr val="FF0000"/>
                </a:solidFill>
                <a:ea typeface="黑体" panose="02010609060101010101" pitchFamily="2" charset="-122"/>
              </a:rPr>
              <a:t>0</a:t>
            </a:r>
          </a:p>
        </p:txBody>
      </p:sp>
      <p:sp>
        <p:nvSpPr>
          <p:cNvPr id="23" name="TextBox 3"/>
          <p:cNvSpPr txBox="1"/>
          <p:nvPr/>
        </p:nvSpPr>
        <p:spPr>
          <a:xfrm>
            <a:off x="2580636" y="3197483"/>
            <a:ext cx="328936" cy="400110"/>
          </a:xfrm>
          <a:prstGeom prst="rect">
            <a:avLst/>
          </a:prstGeom>
          <a:noFill/>
        </p:spPr>
        <p:txBody>
          <a:bodyPr wrap="none" rtlCol="0">
            <a:spAutoFit/>
          </a:bodyPr>
          <a:lstStyle/>
          <a:p>
            <a:r>
              <a:rPr lang="en-US" altLang="zh-CN" sz="2000" b="1" dirty="0" smtClean="0">
                <a:solidFill>
                  <a:srgbClr val="C00000"/>
                </a:solidFill>
              </a:rPr>
              <a:t>1</a:t>
            </a:r>
            <a:endParaRPr lang="zh-CN" altLang="en-US" sz="2000" b="1" dirty="0">
              <a:solidFill>
                <a:srgbClr val="C00000"/>
              </a:solidFill>
            </a:endParaRPr>
          </a:p>
        </p:txBody>
      </p:sp>
      <p:sp>
        <p:nvSpPr>
          <p:cNvPr id="24" name="TextBox 24"/>
          <p:cNvSpPr txBox="1"/>
          <p:nvPr/>
        </p:nvSpPr>
        <p:spPr>
          <a:xfrm>
            <a:off x="2547985" y="4884404"/>
            <a:ext cx="328936" cy="400110"/>
          </a:xfrm>
          <a:prstGeom prst="rect">
            <a:avLst/>
          </a:prstGeom>
          <a:noFill/>
        </p:spPr>
        <p:txBody>
          <a:bodyPr wrap="none" rtlCol="0">
            <a:spAutoFit/>
          </a:bodyPr>
          <a:lstStyle/>
          <a:p>
            <a:r>
              <a:rPr lang="en-US" altLang="zh-CN" sz="2000" b="1" dirty="0" smtClean="0">
                <a:solidFill>
                  <a:srgbClr val="C00000"/>
                </a:solidFill>
              </a:rPr>
              <a:t>1</a:t>
            </a:r>
            <a:endParaRPr lang="zh-CN" altLang="en-US" sz="2000" b="1" dirty="0">
              <a:solidFill>
                <a:srgbClr val="C00000"/>
              </a:solidFill>
            </a:endParaRPr>
          </a:p>
        </p:txBody>
      </p:sp>
      <p:sp>
        <p:nvSpPr>
          <p:cNvPr id="25" name="TextBox 28"/>
          <p:cNvSpPr txBox="1"/>
          <p:nvPr/>
        </p:nvSpPr>
        <p:spPr>
          <a:xfrm>
            <a:off x="777602" y="2980184"/>
            <a:ext cx="328936" cy="400110"/>
          </a:xfrm>
          <a:prstGeom prst="rect">
            <a:avLst/>
          </a:prstGeom>
          <a:noFill/>
        </p:spPr>
        <p:txBody>
          <a:bodyPr wrap="none" rtlCol="0">
            <a:spAutoFit/>
          </a:bodyPr>
          <a:lstStyle/>
          <a:p>
            <a:r>
              <a:rPr lang="en-US" altLang="zh-CN" sz="2000" b="1" dirty="0" smtClean="0">
                <a:solidFill>
                  <a:srgbClr val="0000CC"/>
                </a:solidFill>
              </a:rPr>
              <a:t>0</a:t>
            </a:r>
            <a:endParaRPr lang="zh-CN" altLang="en-US" sz="2000" b="1" dirty="0">
              <a:solidFill>
                <a:srgbClr val="0000CC"/>
              </a:solidFill>
            </a:endParaRPr>
          </a:p>
        </p:txBody>
      </p:sp>
      <p:sp>
        <p:nvSpPr>
          <p:cNvPr id="26" name="TextBox 29"/>
          <p:cNvSpPr txBox="1"/>
          <p:nvPr/>
        </p:nvSpPr>
        <p:spPr>
          <a:xfrm>
            <a:off x="847029" y="5100454"/>
            <a:ext cx="328936" cy="400110"/>
          </a:xfrm>
          <a:prstGeom prst="rect">
            <a:avLst/>
          </a:prstGeom>
          <a:noFill/>
        </p:spPr>
        <p:txBody>
          <a:bodyPr wrap="none" rtlCol="0">
            <a:spAutoFit/>
          </a:bodyPr>
          <a:lstStyle/>
          <a:p>
            <a:r>
              <a:rPr lang="en-US" altLang="zh-CN" sz="2000" b="1" dirty="0" smtClean="0">
                <a:solidFill>
                  <a:srgbClr val="0000CC"/>
                </a:solidFill>
              </a:rPr>
              <a:t>0</a:t>
            </a:r>
            <a:endParaRPr lang="zh-CN" altLang="en-US" sz="2000" b="1" dirty="0">
              <a:solidFill>
                <a:srgbClr val="0000CC"/>
              </a:solidFill>
            </a:endParaRPr>
          </a:p>
        </p:txBody>
      </p:sp>
      <p:cxnSp>
        <p:nvCxnSpPr>
          <p:cNvPr id="27" name="肘形连接符 26"/>
          <p:cNvCxnSpPr/>
          <p:nvPr/>
        </p:nvCxnSpPr>
        <p:spPr bwMode="auto">
          <a:xfrm flipV="1">
            <a:off x="203299" y="3072620"/>
            <a:ext cx="348172" cy="249725"/>
          </a:xfrm>
          <a:prstGeom prst="bentConnector3">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 name="肘形连接符 27"/>
          <p:cNvCxnSpPr/>
          <p:nvPr/>
        </p:nvCxnSpPr>
        <p:spPr bwMode="auto">
          <a:xfrm flipV="1">
            <a:off x="256895" y="5187969"/>
            <a:ext cx="348172" cy="249725"/>
          </a:xfrm>
          <a:prstGeom prst="bentConnector3">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0" name="标题 1"/>
          <p:cNvSpPr>
            <a:spLocks noGrp="1"/>
          </p:cNvSpPr>
          <p:nvPr>
            <p:ph type="title"/>
          </p:nvPr>
        </p:nvSpPr>
        <p:spPr>
          <a:xfrm>
            <a:off x="1043608" y="1124744"/>
            <a:ext cx="7704856" cy="566936"/>
          </a:xfrm>
        </p:spPr>
        <p:txBody>
          <a:bodyPr/>
          <a:lstStyle/>
          <a:p>
            <a:r>
              <a:rPr lang="en-US" altLang="zh-CN" dirty="0" smtClean="0"/>
              <a:t>5.1.1 </a:t>
            </a:r>
            <a:r>
              <a:rPr lang="zh-CN" altLang="en-US" dirty="0" smtClean="0"/>
              <a:t>由与非门构成的基本</a:t>
            </a:r>
            <a:r>
              <a:rPr lang="en-US" altLang="zh-CN" dirty="0"/>
              <a:t>RS</a:t>
            </a:r>
            <a:r>
              <a:rPr lang="zh-CN" altLang="en-US" dirty="0"/>
              <a:t>触发器</a:t>
            </a:r>
          </a:p>
        </p:txBody>
      </p:sp>
      <p:sp>
        <p:nvSpPr>
          <p:cNvPr id="31" name="标题 1"/>
          <p:cNvSpPr txBox="1">
            <a:spLocks/>
          </p:cNvSpPr>
          <p:nvPr/>
        </p:nvSpPr>
        <p:spPr bwMode="auto">
          <a:xfrm>
            <a:off x="1043608" y="332656"/>
            <a:ext cx="7704856" cy="5669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5.1 </a:t>
            </a:r>
            <a:r>
              <a:rPr kumimoji="1" lang="zh-CN" altLang="en-US" sz="3200" b="1" kern="0" dirty="0" smtClean="0">
                <a:solidFill>
                  <a:schemeClr val="tx2"/>
                </a:solidFill>
                <a:latin typeface="+mj-lt"/>
                <a:ea typeface="+mj-ea"/>
                <a:cs typeface="+mj-cs"/>
              </a:rPr>
              <a:t>电平触发的</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触发器</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graphicFrame>
        <p:nvGraphicFramePr>
          <p:cNvPr id="125987" name="Object 35"/>
          <p:cNvGraphicFramePr>
            <a:graphicFrameLocks noChangeAspect="1"/>
          </p:cNvGraphicFramePr>
          <p:nvPr/>
        </p:nvGraphicFramePr>
        <p:xfrm>
          <a:off x="5436096" y="3068960"/>
          <a:ext cx="289768" cy="383704"/>
        </p:xfrm>
        <a:graphic>
          <a:graphicData uri="http://schemas.openxmlformats.org/presentationml/2006/ole">
            <p:oleObj spid="_x0000_s125987" r:id="rId6" imgW="152280" imgH="203040" progId="">
              <p:embed/>
            </p:oleObj>
          </a:graphicData>
        </a:graphic>
      </p:graphicFrame>
      <p:graphicFrame>
        <p:nvGraphicFramePr>
          <p:cNvPr id="125988" name="Object 36"/>
          <p:cNvGraphicFramePr>
            <a:graphicFrameLocks noChangeAspect="1"/>
          </p:cNvGraphicFramePr>
          <p:nvPr/>
        </p:nvGraphicFramePr>
        <p:xfrm>
          <a:off x="6084168" y="3068960"/>
          <a:ext cx="279400" cy="320675"/>
        </p:xfrm>
        <a:graphic>
          <a:graphicData uri="http://schemas.openxmlformats.org/presentationml/2006/ole">
            <p:oleObj spid="_x0000_s125988" r:id="rId7" imgW="164880" imgH="190440" progId="">
              <p:embed/>
            </p:oleObj>
          </a:graphicData>
        </a:graphic>
      </p:graphicFrame>
    </p:spTree>
    <p:extLst>
      <p:ext uri="{BB962C8B-B14F-4D97-AF65-F5344CB8AC3E}">
        <p14:creationId xmlns:p14="http://schemas.microsoft.com/office/powerpoint/2010/main" xmlns="" val="161743573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7010" name="Picture 34"/>
          <p:cNvPicPr>
            <a:picLocks noChangeAspect="1" noChangeArrowheads="1"/>
          </p:cNvPicPr>
          <p:nvPr/>
        </p:nvPicPr>
        <p:blipFill>
          <a:blip r:embed="rId3" cstate="print"/>
          <a:srcRect/>
          <a:stretch>
            <a:fillRect/>
          </a:stretch>
        </p:blipFill>
        <p:spPr bwMode="auto">
          <a:xfrm>
            <a:off x="683568" y="2924944"/>
            <a:ext cx="2581275" cy="2790825"/>
          </a:xfrm>
          <a:prstGeom prst="rect">
            <a:avLst/>
          </a:prstGeom>
          <a:noFill/>
          <a:ln w="9525">
            <a:noFill/>
            <a:miter lim="800000"/>
            <a:headEnd/>
            <a:tailEnd/>
          </a:ln>
        </p:spPr>
      </p:pic>
      <p:sp>
        <p:nvSpPr>
          <p:cNvPr id="3" name="矩形 2"/>
          <p:cNvSpPr/>
          <p:nvPr/>
        </p:nvSpPr>
        <p:spPr>
          <a:xfrm>
            <a:off x="386476" y="2037363"/>
            <a:ext cx="4315604" cy="400110"/>
          </a:xfrm>
          <a:prstGeom prst="rect">
            <a:avLst/>
          </a:prstGeom>
          <a:solidFill>
            <a:srgbClr val="0341E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nchor="ctr">
            <a:spAutoFit/>
          </a:bodyPr>
          <a:lstStyle/>
          <a:p>
            <a:pPr algn="ctr"/>
            <a:r>
              <a:rPr lang="zh-CN" altLang="en-US" sz="2000" b="1" dirty="0">
                <a:solidFill>
                  <a:schemeClr val="bg1"/>
                </a:solidFill>
                <a:latin typeface="黑体" panose="02010609060101010101" pitchFamily="49" charset="-122"/>
                <a:ea typeface="黑体" panose="02010609060101010101" pitchFamily="49" charset="-122"/>
              </a:rPr>
              <a:t>与非门构成的基本</a:t>
            </a:r>
            <a:r>
              <a:rPr lang="en-US" altLang="zh-CN" sz="2000" b="1" dirty="0" smtClean="0">
                <a:solidFill>
                  <a:schemeClr val="bg1"/>
                </a:solidFill>
                <a:latin typeface="黑体" panose="02010609060101010101" pitchFamily="49" charset="-122"/>
                <a:ea typeface="黑体" panose="02010609060101010101" pitchFamily="49" charset="-122"/>
              </a:rPr>
              <a:t>RS</a:t>
            </a:r>
            <a:r>
              <a:rPr lang="zh-CN" altLang="en-US" sz="2000" b="1" dirty="0" smtClean="0">
                <a:solidFill>
                  <a:schemeClr val="bg1"/>
                </a:solidFill>
                <a:latin typeface="黑体" panose="02010609060101010101" pitchFamily="49" charset="-122"/>
                <a:ea typeface="黑体" panose="02010609060101010101" pitchFamily="49" charset="-122"/>
              </a:rPr>
              <a:t>锁存器工作原理</a:t>
            </a:r>
            <a:endParaRPr lang="zh-CN" altLang="en-US" sz="2000" b="1" dirty="0">
              <a:solidFill>
                <a:schemeClr val="bg1"/>
              </a:solidFill>
              <a:latin typeface="黑体" panose="02010609060101010101" pitchFamily="49" charset="-122"/>
              <a:ea typeface="黑体" panose="02010609060101010101" pitchFamily="49" charset="-122"/>
            </a:endParaRPr>
          </a:p>
        </p:txBody>
      </p:sp>
      <p:sp>
        <p:nvSpPr>
          <p:cNvPr id="4" name="矩形 3"/>
          <p:cNvSpPr/>
          <p:nvPr/>
        </p:nvSpPr>
        <p:spPr>
          <a:xfrm>
            <a:off x="323528" y="5805264"/>
            <a:ext cx="4044570" cy="369332"/>
          </a:xfrm>
          <a:prstGeom prst="rect">
            <a:avLst/>
          </a:prstGeom>
        </p:spPr>
        <p:txBody>
          <a:bodyPr wrap="square">
            <a:spAutoFit/>
          </a:bodyPr>
          <a:lstStyle/>
          <a:p>
            <a:r>
              <a:rPr lang="zh-CN" altLang="en-US" b="1" dirty="0" smtClean="0">
                <a:latin typeface="楷体_GB2312" pitchFamily="49" charset="-122"/>
                <a:ea typeface="楷体_GB2312" pitchFamily="49" charset="-122"/>
              </a:rPr>
              <a:t>图 与非门</a:t>
            </a:r>
            <a:r>
              <a:rPr lang="zh-CN" altLang="en-US" b="1" dirty="0">
                <a:latin typeface="楷体_GB2312" pitchFamily="49" charset="-122"/>
                <a:ea typeface="楷体_GB2312" pitchFamily="49" charset="-122"/>
              </a:rPr>
              <a:t>构成的基本</a:t>
            </a:r>
            <a:r>
              <a:rPr lang="en-US" altLang="zh-CN" b="1" dirty="0">
                <a:latin typeface="楷体_GB2312" pitchFamily="49" charset="-122"/>
                <a:ea typeface="楷体_GB2312" pitchFamily="49" charset="-122"/>
              </a:rPr>
              <a:t>RS-FF</a:t>
            </a:r>
            <a:r>
              <a:rPr lang="zh-CN" altLang="en-US" b="1" dirty="0">
                <a:latin typeface="楷体_GB2312" pitchFamily="49" charset="-122"/>
                <a:ea typeface="楷体_GB2312" pitchFamily="49" charset="-122"/>
              </a:rPr>
              <a:t>的逻辑图</a:t>
            </a:r>
            <a:r>
              <a:rPr lang="zh-CN" altLang="en-US" dirty="0"/>
              <a:t> </a:t>
            </a:r>
          </a:p>
        </p:txBody>
      </p:sp>
      <p:sp>
        <p:nvSpPr>
          <p:cNvPr id="5" name="Text Box 9"/>
          <p:cNvSpPr txBox="1">
            <a:spLocks noChangeArrowheads="1"/>
          </p:cNvSpPr>
          <p:nvPr/>
        </p:nvSpPr>
        <p:spPr bwMode="auto">
          <a:xfrm>
            <a:off x="4932796" y="2166595"/>
            <a:ext cx="4211204" cy="64633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p>
            <a:pPr algn="ctr">
              <a:spcBef>
                <a:spcPct val="50000"/>
              </a:spcBef>
            </a:pPr>
            <a:r>
              <a:rPr lang="zh-CN" altLang="en-US" b="1" dirty="0" smtClean="0">
                <a:latin typeface="楷体_GB2312" pitchFamily="49" charset="-122"/>
                <a:ea typeface="楷体_GB2312" pitchFamily="49" charset="-122"/>
              </a:rPr>
              <a:t>表</a:t>
            </a:r>
            <a:r>
              <a:rPr lang="en-US" altLang="zh-CN" b="1" dirty="0" smtClean="0">
                <a:latin typeface="楷体_GB2312" pitchFamily="49" charset="-122"/>
                <a:ea typeface="楷体_GB2312" pitchFamily="49" charset="-122"/>
              </a:rPr>
              <a:t> </a:t>
            </a:r>
            <a:r>
              <a:rPr lang="en-US" altLang="zh-CN" dirty="0" smtClean="0">
                <a:latin typeface="楷体_GB2312" pitchFamily="49" charset="-122"/>
                <a:ea typeface="楷体_GB2312" pitchFamily="49" charset="-122"/>
              </a:rPr>
              <a:t>  </a:t>
            </a:r>
            <a:r>
              <a:rPr lang="zh-CN" altLang="en-US" b="1" dirty="0">
                <a:latin typeface="楷体_GB2312" pitchFamily="49" charset="-122"/>
                <a:ea typeface="楷体_GB2312" pitchFamily="49" charset="-122"/>
              </a:rPr>
              <a:t>与非门构成的基本</a:t>
            </a:r>
            <a:r>
              <a:rPr lang="en-US" altLang="zh-CN" b="1" dirty="0">
                <a:latin typeface="楷体_GB2312" pitchFamily="49" charset="-122"/>
                <a:ea typeface="楷体_GB2312" pitchFamily="49" charset="-122"/>
              </a:rPr>
              <a:t>RS-FF</a:t>
            </a:r>
            <a:r>
              <a:rPr lang="zh-CN" altLang="en-US" b="1" dirty="0">
                <a:latin typeface="楷体_GB2312" pitchFamily="49" charset="-122"/>
                <a:ea typeface="楷体_GB2312" pitchFamily="49" charset="-122"/>
              </a:rPr>
              <a:t>的</a:t>
            </a:r>
            <a:r>
              <a:rPr lang="zh-CN" altLang="en-US" b="1" dirty="0" smtClean="0">
                <a:latin typeface="楷体_GB2312" pitchFamily="49" charset="-122"/>
                <a:ea typeface="楷体_GB2312" pitchFamily="49" charset="-122"/>
              </a:rPr>
              <a:t>真值表（</a:t>
            </a:r>
            <a:r>
              <a:rPr lang="zh-CN" altLang="en-US" b="1" dirty="0">
                <a:latin typeface="楷体_GB2312" pitchFamily="49" charset="-122"/>
                <a:ea typeface="楷体_GB2312" pitchFamily="49" charset="-122"/>
              </a:rPr>
              <a:t>特性表）</a:t>
            </a:r>
            <a:r>
              <a:rPr lang="zh-CN" altLang="en-US" dirty="0">
                <a:latin typeface="楷体_GB2312" pitchFamily="49" charset="-122"/>
                <a:ea typeface="楷体_GB2312" pitchFamily="49" charset="-122"/>
              </a:rPr>
              <a:t>  </a:t>
            </a:r>
          </a:p>
        </p:txBody>
      </p:sp>
      <p:graphicFrame>
        <p:nvGraphicFramePr>
          <p:cNvPr id="7" name="Group 304"/>
          <p:cNvGraphicFramePr>
            <a:graphicFrameLocks noGrp="1"/>
          </p:cNvGraphicFramePr>
          <p:nvPr>
            <p:extLst>
              <p:ext uri="{D42A27DB-BD31-4B8C-83A1-F6EECF244321}">
                <p14:modId xmlns:p14="http://schemas.microsoft.com/office/powerpoint/2010/main" xmlns="" val="3378115807"/>
              </p:ext>
            </p:extLst>
          </p:nvPr>
        </p:nvGraphicFramePr>
        <p:xfrm>
          <a:off x="5338886" y="2956961"/>
          <a:ext cx="3671887" cy="3568383"/>
        </p:xfrm>
        <a:graphic>
          <a:graphicData uri="http://schemas.openxmlformats.org/drawingml/2006/table">
            <a:tbl>
              <a:tblPr/>
              <a:tblGrid>
                <a:gridCol w="1368425">
                  <a:extLst>
                    <a:ext uri="{9D8B030D-6E8A-4147-A177-3AD203B41FA5}">
                      <a16:colId xmlns:a16="http://schemas.microsoft.com/office/drawing/2014/main" xmlns="" val="20000"/>
                    </a:ext>
                  </a:extLst>
                </a:gridCol>
                <a:gridCol w="792162">
                  <a:extLst>
                    <a:ext uri="{9D8B030D-6E8A-4147-A177-3AD203B41FA5}">
                      <a16:colId xmlns:a16="http://schemas.microsoft.com/office/drawing/2014/main" xmlns="" val="20001"/>
                    </a:ext>
                  </a:extLst>
                </a:gridCol>
                <a:gridCol w="720725">
                  <a:extLst>
                    <a:ext uri="{9D8B030D-6E8A-4147-A177-3AD203B41FA5}">
                      <a16:colId xmlns:a16="http://schemas.microsoft.com/office/drawing/2014/main" xmlns="" val="20002"/>
                    </a:ext>
                  </a:extLst>
                </a:gridCol>
                <a:gridCol w="790575">
                  <a:extLst>
                    <a:ext uri="{9D8B030D-6E8A-4147-A177-3AD203B41FA5}">
                      <a16:colId xmlns:a16="http://schemas.microsoft.com/office/drawing/2014/main" xmlns="" val="20003"/>
                    </a:ext>
                  </a:extLst>
                </a:gridCol>
              </a:tblGrid>
              <a:tr h="323850">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20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功能</a:t>
                      </a:r>
                    </a:p>
                  </a:txBody>
                  <a:tcPr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0"/>
                  </a:ext>
                </a:extLst>
              </a:tr>
              <a:tr h="323850">
                <a:tc rowSpan="2">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   1       1</a:t>
                      </a:r>
                    </a:p>
                  </a:txBody>
                  <a:tcPr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r h="323850">
                <a:tc vMerge="1">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en-US"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zh-CN"/>
                    </a:p>
                  </a:txBody>
                  <a:tcPr/>
                </a:tc>
                <a:extLst>
                  <a:ext uri="{0D108BD9-81ED-4DB2-BD59-A6C34878D82A}">
                    <a16:rowId xmlns:a16="http://schemas.microsoft.com/office/drawing/2014/main" xmlns="" val="10002"/>
                  </a:ext>
                </a:extLst>
              </a:tr>
              <a:tr h="323850">
                <a:tc rowSpan="2">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   0       1</a:t>
                      </a:r>
                    </a:p>
                  </a:txBody>
                  <a:tcPr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3"/>
                  </a:ext>
                </a:extLst>
              </a:tr>
              <a:tr h="322263">
                <a:tc vMerge="1">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en-US"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zh-CN"/>
                    </a:p>
                  </a:txBody>
                  <a:tcPr/>
                </a:tc>
                <a:extLst>
                  <a:ext uri="{0D108BD9-81ED-4DB2-BD59-A6C34878D82A}">
                    <a16:rowId xmlns:a16="http://schemas.microsoft.com/office/drawing/2014/main" xmlns="" val="10004"/>
                  </a:ext>
                </a:extLst>
              </a:tr>
              <a:tr h="398463">
                <a:tc rowSpan="2">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   1       0</a:t>
                      </a:r>
                    </a:p>
                  </a:txBody>
                  <a:tcPr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5"/>
                  </a:ext>
                </a:extLst>
              </a:tr>
              <a:tr h="323850">
                <a:tc vMerge="1">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en-US"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zh-CN"/>
                    </a:p>
                  </a:txBody>
                  <a:tcPr/>
                </a:tc>
                <a:extLst>
                  <a:ext uri="{0D108BD9-81ED-4DB2-BD59-A6C34878D82A}">
                    <a16:rowId xmlns:a16="http://schemas.microsoft.com/office/drawing/2014/main" xmlns="" val="10006"/>
                  </a:ext>
                </a:extLst>
              </a:tr>
              <a:tr h="323850">
                <a:tc rowSpan="2">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   0       0</a:t>
                      </a:r>
                    </a:p>
                  </a:txBody>
                  <a:tcPr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7"/>
                  </a:ext>
                </a:extLst>
              </a:tr>
              <a:tr h="323850">
                <a:tc vMerge="1">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en-US"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zh-CN"/>
                    </a:p>
                  </a:txBody>
                  <a:tcPr/>
                </a:tc>
                <a:extLst>
                  <a:ext uri="{0D108BD9-81ED-4DB2-BD59-A6C34878D82A}">
                    <a16:rowId xmlns:a16="http://schemas.microsoft.com/office/drawing/2014/main" xmlns="" val="10008"/>
                  </a:ext>
                </a:extLst>
              </a:tr>
            </a:tbl>
          </a:graphicData>
        </a:graphic>
      </p:graphicFrame>
      <p:graphicFrame>
        <p:nvGraphicFramePr>
          <p:cNvPr id="10" name="Object 307"/>
          <p:cNvGraphicFramePr>
            <a:graphicFrameLocks noChangeAspect="1"/>
          </p:cNvGraphicFramePr>
          <p:nvPr>
            <p:extLst>
              <p:ext uri="{D42A27DB-BD31-4B8C-83A1-F6EECF244321}">
                <p14:modId xmlns:p14="http://schemas.microsoft.com/office/powerpoint/2010/main" xmlns="" val="4224645609"/>
              </p:ext>
            </p:extLst>
          </p:nvPr>
        </p:nvGraphicFramePr>
        <p:xfrm>
          <a:off x="6994648" y="2956961"/>
          <a:ext cx="365125" cy="387350"/>
        </p:xfrm>
        <a:graphic>
          <a:graphicData uri="http://schemas.openxmlformats.org/presentationml/2006/ole">
            <p:oleObj spid="_x0000_s127008" name="公式" r:id="rId4" imgW="215806" imgH="228501" progId="">
              <p:embed/>
            </p:oleObj>
          </a:graphicData>
        </a:graphic>
      </p:graphicFrame>
      <p:graphicFrame>
        <p:nvGraphicFramePr>
          <p:cNvPr id="11" name="Object 308"/>
          <p:cNvGraphicFramePr>
            <a:graphicFrameLocks noChangeAspect="1"/>
          </p:cNvGraphicFramePr>
          <p:nvPr>
            <p:extLst>
              <p:ext uri="{D42A27DB-BD31-4B8C-83A1-F6EECF244321}">
                <p14:modId xmlns:p14="http://schemas.microsoft.com/office/powerpoint/2010/main" xmlns="" val="2236013941"/>
              </p:ext>
            </p:extLst>
          </p:nvPr>
        </p:nvGraphicFramePr>
        <p:xfrm>
          <a:off x="7642348" y="2956961"/>
          <a:ext cx="515938" cy="387350"/>
        </p:xfrm>
        <a:graphic>
          <a:graphicData uri="http://schemas.openxmlformats.org/presentationml/2006/ole">
            <p:oleObj spid="_x0000_s127009" name="公式" r:id="rId5" imgW="304668" imgH="228501" progId="">
              <p:embed/>
            </p:oleObj>
          </a:graphicData>
        </a:graphic>
      </p:graphicFrame>
      <p:sp>
        <p:nvSpPr>
          <p:cNvPr id="12" name="Text Box 309"/>
          <p:cNvSpPr txBox="1">
            <a:spLocks noChangeArrowheads="1"/>
          </p:cNvSpPr>
          <p:nvPr/>
        </p:nvSpPr>
        <p:spPr bwMode="auto">
          <a:xfrm>
            <a:off x="8290048" y="3531636"/>
            <a:ext cx="865188"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zh-CN" altLang="en-US" dirty="0">
                <a:solidFill>
                  <a:srgbClr val="FF0000"/>
                </a:solidFill>
                <a:ea typeface="黑体" panose="02010609060101010101" pitchFamily="2" charset="-122"/>
              </a:rPr>
              <a:t>保持</a:t>
            </a:r>
          </a:p>
        </p:txBody>
      </p:sp>
      <p:sp>
        <p:nvSpPr>
          <p:cNvPr id="13" name="Rectangle 347"/>
          <p:cNvSpPr>
            <a:spLocks noChangeArrowheads="1"/>
          </p:cNvSpPr>
          <p:nvPr/>
        </p:nvSpPr>
        <p:spPr bwMode="auto">
          <a:xfrm>
            <a:off x="7642348" y="3363361"/>
            <a:ext cx="328936"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pPr>
              <a:spcBef>
                <a:spcPct val="20000"/>
              </a:spcBef>
            </a:pPr>
            <a:r>
              <a:rPr lang="en-US" altLang="zh-CN" sz="2000" b="1" dirty="0"/>
              <a:t>0</a:t>
            </a:r>
          </a:p>
        </p:txBody>
      </p:sp>
      <p:sp>
        <p:nvSpPr>
          <p:cNvPr id="14" name="Rectangle 348"/>
          <p:cNvSpPr>
            <a:spLocks noChangeArrowheads="1"/>
          </p:cNvSpPr>
          <p:nvPr/>
        </p:nvSpPr>
        <p:spPr bwMode="auto">
          <a:xfrm>
            <a:off x="7642348" y="3771349"/>
            <a:ext cx="328936"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pPr>
              <a:spcBef>
                <a:spcPct val="20000"/>
              </a:spcBef>
            </a:pPr>
            <a:r>
              <a:rPr lang="en-US" altLang="zh-CN" sz="2000" b="1"/>
              <a:t>1</a:t>
            </a:r>
          </a:p>
        </p:txBody>
      </p:sp>
      <p:sp>
        <p:nvSpPr>
          <p:cNvPr id="15" name="Rectangle 349"/>
          <p:cNvSpPr>
            <a:spLocks noChangeArrowheads="1"/>
          </p:cNvSpPr>
          <p:nvPr/>
        </p:nvSpPr>
        <p:spPr bwMode="auto">
          <a:xfrm>
            <a:off x="7642348" y="4155524"/>
            <a:ext cx="328936"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pPr>
              <a:spcBef>
                <a:spcPct val="20000"/>
              </a:spcBef>
            </a:pPr>
            <a:r>
              <a:rPr lang="en-US" altLang="zh-CN" sz="2000" b="1"/>
              <a:t>1</a:t>
            </a:r>
          </a:p>
        </p:txBody>
      </p:sp>
      <p:sp>
        <p:nvSpPr>
          <p:cNvPr id="16" name="Rectangle 350"/>
          <p:cNvSpPr>
            <a:spLocks noChangeArrowheads="1"/>
          </p:cNvSpPr>
          <p:nvPr/>
        </p:nvSpPr>
        <p:spPr bwMode="auto">
          <a:xfrm>
            <a:off x="7642348" y="4563511"/>
            <a:ext cx="328936"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pPr>
              <a:spcBef>
                <a:spcPct val="20000"/>
              </a:spcBef>
            </a:pPr>
            <a:r>
              <a:rPr lang="en-US" altLang="zh-CN" sz="2000" b="1"/>
              <a:t>1</a:t>
            </a:r>
          </a:p>
        </p:txBody>
      </p:sp>
      <p:sp>
        <p:nvSpPr>
          <p:cNvPr id="17" name="Rectangle 351"/>
          <p:cNvSpPr>
            <a:spLocks noChangeArrowheads="1"/>
          </p:cNvSpPr>
          <p:nvPr/>
        </p:nvSpPr>
        <p:spPr bwMode="auto">
          <a:xfrm>
            <a:off x="7642348" y="4900061"/>
            <a:ext cx="328936"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pPr>
              <a:spcBef>
                <a:spcPct val="20000"/>
              </a:spcBef>
            </a:pPr>
            <a:r>
              <a:rPr lang="en-US" altLang="zh-CN" sz="2000" b="1" dirty="0"/>
              <a:t>0</a:t>
            </a:r>
          </a:p>
        </p:txBody>
      </p:sp>
      <p:sp>
        <p:nvSpPr>
          <p:cNvPr id="18" name="Rectangle 352"/>
          <p:cNvSpPr>
            <a:spLocks noChangeArrowheads="1"/>
          </p:cNvSpPr>
          <p:nvPr/>
        </p:nvSpPr>
        <p:spPr bwMode="auto">
          <a:xfrm>
            <a:off x="7642348" y="5331861"/>
            <a:ext cx="328936"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pPr>
              <a:spcBef>
                <a:spcPct val="20000"/>
              </a:spcBef>
            </a:pPr>
            <a:r>
              <a:rPr lang="en-US" altLang="zh-CN" sz="2000" b="1" dirty="0"/>
              <a:t>0</a:t>
            </a:r>
          </a:p>
        </p:txBody>
      </p:sp>
      <p:sp>
        <p:nvSpPr>
          <p:cNvPr id="19" name="Rectangle 353"/>
          <p:cNvSpPr>
            <a:spLocks noChangeArrowheads="1"/>
          </p:cNvSpPr>
          <p:nvPr/>
        </p:nvSpPr>
        <p:spPr bwMode="auto">
          <a:xfrm>
            <a:off x="7642348" y="5692224"/>
            <a:ext cx="423863"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pPr>
              <a:spcBef>
                <a:spcPct val="20000"/>
              </a:spcBef>
            </a:pPr>
            <a:r>
              <a:rPr lang="en-US" altLang="zh-CN" sz="2000" b="1">
                <a:solidFill>
                  <a:srgbClr val="0000CC"/>
                </a:solidFill>
              </a:rPr>
              <a:t>1*</a:t>
            </a:r>
          </a:p>
        </p:txBody>
      </p:sp>
      <p:sp>
        <p:nvSpPr>
          <p:cNvPr id="20" name="Rectangle 354"/>
          <p:cNvSpPr>
            <a:spLocks noChangeArrowheads="1"/>
          </p:cNvSpPr>
          <p:nvPr/>
        </p:nvSpPr>
        <p:spPr bwMode="auto">
          <a:xfrm>
            <a:off x="7650286" y="6124024"/>
            <a:ext cx="423862"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pPr>
              <a:spcBef>
                <a:spcPct val="20000"/>
              </a:spcBef>
            </a:pPr>
            <a:r>
              <a:rPr lang="en-US" altLang="zh-CN" sz="2000" b="1">
                <a:solidFill>
                  <a:srgbClr val="0000CC"/>
                </a:solidFill>
              </a:rPr>
              <a:t>1*</a:t>
            </a:r>
          </a:p>
        </p:txBody>
      </p:sp>
      <p:sp>
        <p:nvSpPr>
          <p:cNvPr id="21" name="Text Box 355"/>
          <p:cNvSpPr txBox="1">
            <a:spLocks noChangeArrowheads="1"/>
          </p:cNvSpPr>
          <p:nvPr/>
        </p:nvSpPr>
        <p:spPr bwMode="auto">
          <a:xfrm>
            <a:off x="8361486" y="4323799"/>
            <a:ext cx="865187"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zh-CN" altLang="en-US">
                <a:solidFill>
                  <a:srgbClr val="FF0000"/>
                </a:solidFill>
                <a:ea typeface="黑体" panose="02010609060101010101" pitchFamily="2" charset="-122"/>
              </a:rPr>
              <a:t>置</a:t>
            </a:r>
            <a:r>
              <a:rPr lang="en-US" altLang="zh-CN">
                <a:solidFill>
                  <a:srgbClr val="FF0000"/>
                </a:solidFill>
                <a:ea typeface="黑体" panose="02010609060101010101" pitchFamily="2" charset="-122"/>
              </a:rPr>
              <a:t>1</a:t>
            </a:r>
          </a:p>
        </p:txBody>
      </p:sp>
      <p:sp>
        <p:nvSpPr>
          <p:cNvPr id="22" name="Text Box 356"/>
          <p:cNvSpPr txBox="1">
            <a:spLocks noChangeArrowheads="1"/>
          </p:cNvSpPr>
          <p:nvPr/>
        </p:nvSpPr>
        <p:spPr bwMode="auto">
          <a:xfrm>
            <a:off x="8361486" y="5115961"/>
            <a:ext cx="865187"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zh-CN" altLang="en-US" dirty="0">
                <a:solidFill>
                  <a:srgbClr val="FF0000"/>
                </a:solidFill>
                <a:ea typeface="黑体" panose="02010609060101010101" pitchFamily="2" charset="-122"/>
              </a:rPr>
              <a:t>置</a:t>
            </a:r>
            <a:r>
              <a:rPr lang="en-US" altLang="zh-CN" dirty="0">
                <a:solidFill>
                  <a:srgbClr val="FF0000"/>
                </a:solidFill>
                <a:ea typeface="黑体" panose="02010609060101010101" pitchFamily="2" charset="-122"/>
              </a:rPr>
              <a:t>0</a:t>
            </a:r>
          </a:p>
        </p:txBody>
      </p:sp>
      <p:sp>
        <p:nvSpPr>
          <p:cNvPr id="23" name="TextBox 3"/>
          <p:cNvSpPr txBox="1"/>
          <p:nvPr/>
        </p:nvSpPr>
        <p:spPr>
          <a:xfrm>
            <a:off x="3086827" y="3247395"/>
            <a:ext cx="328936" cy="400110"/>
          </a:xfrm>
          <a:prstGeom prst="rect">
            <a:avLst/>
          </a:prstGeom>
          <a:noFill/>
        </p:spPr>
        <p:txBody>
          <a:bodyPr wrap="none" rtlCol="0">
            <a:spAutoFit/>
          </a:bodyPr>
          <a:lstStyle/>
          <a:p>
            <a:r>
              <a:rPr lang="en-US" altLang="zh-CN" sz="2000" b="1" dirty="0" smtClean="0">
                <a:solidFill>
                  <a:srgbClr val="C00000"/>
                </a:solidFill>
              </a:rPr>
              <a:t>1</a:t>
            </a:r>
            <a:endParaRPr lang="zh-CN" altLang="en-US" sz="2000" b="1" dirty="0">
              <a:solidFill>
                <a:srgbClr val="C00000"/>
              </a:solidFill>
            </a:endParaRPr>
          </a:p>
        </p:txBody>
      </p:sp>
      <p:sp>
        <p:nvSpPr>
          <p:cNvPr id="24" name="TextBox 24"/>
          <p:cNvSpPr txBox="1"/>
          <p:nvPr/>
        </p:nvSpPr>
        <p:spPr>
          <a:xfrm>
            <a:off x="3151970" y="4865176"/>
            <a:ext cx="328936" cy="400110"/>
          </a:xfrm>
          <a:prstGeom prst="rect">
            <a:avLst/>
          </a:prstGeom>
          <a:noFill/>
        </p:spPr>
        <p:txBody>
          <a:bodyPr wrap="none" rtlCol="0">
            <a:spAutoFit/>
          </a:bodyPr>
          <a:lstStyle/>
          <a:p>
            <a:r>
              <a:rPr lang="en-US" altLang="zh-CN" sz="2000" b="1" dirty="0" smtClean="0">
                <a:solidFill>
                  <a:srgbClr val="C00000"/>
                </a:solidFill>
              </a:rPr>
              <a:t>1</a:t>
            </a:r>
            <a:endParaRPr lang="zh-CN" altLang="en-US" sz="2000" b="1" dirty="0">
              <a:solidFill>
                <a:srgbClr val="C00000"/>
              </a:solidFill>
            </a:endParaRPr>
          </a:p>
        </p:txBody>
      </p:sp>
      <p:sp>
        <p:nvSpPr>
          <p:cNvPr id="25" name="TextBox 28"/>
          <p:cNvSpPr txBox="1"/>
          <p:nvPr/>
        </p:nvSpPr>
        <p:spPr>
          <a:xfrm>
            <a:off x="921618" y="2908176"/>
            <a:ext cx="328936" cy="400110"/>
          </a:xfrm>
          <a:prstGeom prst="rect">
            <a:avLst/>
          </a:prstGeom>
          <a:noFill/>
        </p:spPr>
        <p:txBody>
          <a:bodyPr wrap="none" rtlCol="0">
            <a:spAutoFit/>
          </a:bodyPr>
          <a:lstStyle/>
          <a:p>
            <a:r>
              <a:rPr lang="en-US" altLang="zh-CN" sz="2000" b="1" dirty="0" smtClean="0">
                <a:solidFill>
                  <a:srgbClr val="0000CC"/>
                </a:solidFill>
              </a:rPr>
              <a:t>0</a:t>
            </a:r>
            <a:endParaRPr lang="zh-CN" altLang="en-US" sz="2000" b="1" dirty="0">
              <a:solidFill>
                <a:srgbClr val="0000CC"/>
              </a:solidFill>
            </a:endParaRPr>
          </a:p>
        </p:txBody>
      </p:sp>
      <p:sp>
        <p:nvSpPr>
          <p:cNvPr id="26" name="TextBox 29"/>
          <p:cNvSpPr txBox="1"/>
          <p:nvPr/>
        </p:nvSpPr>
        <p:spPr>
          <a:xfrm>
            <a:off x="991045" y="5028446"/>
            <a:ext cx="328936" cy="400110"/>
          </a:xfrm>
          <a:prstGeom prst="rect">
            <a:avLst/>
          </a:prstGeom>
          <a:noFill/>
        </p:spPr>
        <p:txBody>
          <a:bodyPr wrap="none" rtlCol="0">
            <a:spAutoFit/>
          </a:bodyPr>
          <a:lstStyle/>
          <a:p>
            <a:r>
              <a:rPr lang="en-US" altLang="zh-CN" sz="2000" b="1" dirty="0" smtClean="0">
                <a:solidFill>
                  <a:srgbClr val="0000CC"/>
                </a:solidFill>
              </a:rPr>
              <a:t>0</a:t>
            </a:r>
            <a:endParaRPr lang="zh-CN" altLang="en-US" sz="2000" b="1" dirty="0">
              <a:solidFill>
                <a:srgbClr val="0000CC"/>
              </a:solidFill>
            </a:endParaRPr>
          </a:p>
        </p:txBody>
      </p:sp>
      <p:cxnSp>
        <p:nvCxnSpPr>
          <p:cNvPr id="27" name="肘形连接符 26"/>
          <p:cNvCxnSpPr/>
          <p:nvPr/>
        </p:nvCxnSpPr>
        <p:spPr bwMode="auto">
          <a:xfrm flipV="1">
            <a:off x="183452" y="3081554"/>
            <a:ext cx="348172" cy="249725"/>
          </a:xfrm>
          <a:prstGeom prst="bentConnector3">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 name="肘形连接符 27"/>
          <p:cNvCxnSpPr/>
          <p:nvPr/>
        </p:nvCxnSpPr>
        <p:spPr bwMode="auto">
          <a:xfrm flipV="1">
            <a:off x="125777" y="5140424"/>
            <a:ext cx="348172" cy="249725"/>
          </a:xfrm>
          <a:prstGeom prst="bentConnector3">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9" name="TextBox 24"/>
          <p:cNvSpPr txBox="1"/>
          <p:nvPr/>
        </p:nvSpPr>
        <p:spPr>
          <a:xfrm>
            <a:off x="996330" y="4996474"/>
            <a:ext cx="328936" cy="400110"/>
          </a:xfrm>
          <a:prstGeom prst="rect">
            <a:avLst/>
          </a:prstGeom>
          <a:noFill/>
        </p:spPr>
        <p:txBody>
          <a:bodyPr wrap="none" rtlCol="0">
            <a:spAutoFit/>
          </a:bodyPr>
          <a:lstStyle/>
          <a:p>
            <a:r>
              <a:rPr lang="en-US" altLang="zh-CN" sz="2000" b="1" dirty="0" smtClean="0">
                <a:solidFill>
                  <a:srgbClr val="C00000"/>
                </a:solidFill>
              </a:rPr>
              <a:t>1</a:t>
            </a:r>
            <a:endParaRPr lang="zh-CN" altLang="en-US" sz="2000" b="1" dirty="0">
              <a:solidFill>
                <a:srgbClr val="C00000"/>
              </a:solidFill>
            </a:endParaRPr>
          </a:p>
        </p:txBody>
      </p:sp>
      <p:sp>
        <p:nvSpPr>
          <p:cNvPr id="30" name="TextBox 28"/>
          <p:cNvSpPr txBox="1"/>
          <p:nvPr/>
        </p:nvSpPr>
        <p:spPr>
          <a:xfrm>
            <a:off x="2047503" y="4816792"/>
            <a:ext cx="328936" cy="400110"/>
          </a:xfrm>
          <a:prstGeom prst="rect">
            <a:avLst/>
          </a:prstGeom>
          <a:noFill/>
        </p:spPr>
        <p:txBody>
          <a:bodyPr wrap="none" rtlCol="0">
            <a:spAutoFit/>
          </a:bodyPr>
          <a:lstStyle/>
          <a:p>
            <a:r>
              <a:rPr lang="en-US" altLang="zh-CN" sz="2000" b="1" dirty="0" smtClean="0">
                <a:solidFill>
                  <a:srgbClr val="0000CC"/>
                </a:solidFill>
              </a:rPr>
              <a:t>0</a:t>
            </a:r>
            <a:endParaRPr lang="zh-CN" altLang="en-US" sz="2000" b="1" dirty="0">
              <a:solidFill>
                <a:srgbClr val="0000CC"/>
              </a:solidFill>
            </a:endParaRPr>
          </a:p>
        </p:txBody>
      </p:sp>
      <p:sp>
        <p:nvSpPr>
          <p:cNvPr id="31" name="TextBox 28"/>
          <p:cNvSpPr txBox="1"/>
          <p:nvPr/>
        </p:nvSpPr>
        <p:spPr>
          <a:xfrm>
            <a:off x="2572840" y="4780999"/>
            <a:ext cx="328936" cy="400110"/>
          </a:xfrm>
          <a:prstGeom prst="rect">
            <a:avLst/>
          </a:prstGeom>
          <a:noFill/>
        </p:spPr>
        <p:txBody>
          <a:bodyPr wrap="none" rtlCol="0">
            <a:spAutoFit/>
          </a:bodyPr>
          <a:lstStyle/>
          <a:p>
            <a:r>
              <a:rPr lang="en-US" altLang="zh-CN" sz="2000" b="1" dirty="0" smtClean="0">
                <a:solidFill>
                  <a:srgbClr val="0000CC"/>
                </a:solidFill>
              </a:rPr>
              <a:t>0</a:t>
            </a:r>
            <a:endParaRPr lang="zh-CN" altLang="en-US" sz="2000" b="1" dirty="0">
              <a:solidFill>
                <a:srgbClr val="0000CC"/>
              </a:solidFill>
            </a:endParaRPr>
          </a:p>
        </p:txBody>
      </p:sp>
      <p:sp>
        <p:nvSpPr>
          <p:cNvPr id="32" name="TextBox 3"/>
          <p:cNvSpPr txBox="1"/>
          <p:nvPr/>
        </p:nvSpPr>
        <p:spPr>
          <a:xfrm>
            <a:off x="2068580" y="3051737"/>
            <a:ext cx="328936" cy="400110"/>
          </a:xfrm>
          <a:prstGeom prst="rect">
            <a:avLst/>
          </a:prstGeom>
          <a:noFill/>
        </p:spPr>
        <p:txBody>
          <a:bodyPr wrap="none" rtlCol="0">
            <a:spAutoFit/>
          </a:bodyPr>
          <a:lstStyle/>
          <a:p>
            <a:r>
              <a:rPr lang="en-US" altLang="zh-CN" sz="2000" b="1" dirty="0" smtClean="0">
                <a:solidFill>
                  <a:srgbClr val="C00000"/>
                </a:solidFill>
              </a:rPr>
              <a:t>1</a:t>
            </a:r>
            <a:endParaRPr lang="zh-CN" altLang="en-US" sz="2000" b="1" dirty="0">
              <a:solidFill>
                <a:srgbClr val="C00000"/>
              </a:solidFill>
            </a:endParaRPr>
          </a:p>
        </p:txBody>
      </p:sp>
      <p:sp>
        <p:nvSpPr>
          <p:cNvPr id="33" name="TextBox 3"/>
          <p:cNvSpPr txBox="1"/>
          <p:nvPr/>
        </p:nvSpPr>
        <p:spPr>
          <a:xfrm>
            <a:off x="3231290" y="3293870"/>
            <a:ext cx="328936" cy="400110"/>
          </a:xfrm>
          <a:prstGeom prst="rect">
            <a:avLst/>
          </a:prstGeom>
          <a:noFill/>
        </p:spPr>
        <p:txBody>
          <a:bodyPr wrap="none" rtlCol="0">
            <a:spAutoFit/>
          </a:bodyPr>
          <a:lstStyle/>
          <a:p>
            <a:r>
              <a:rPr lang="en-US" altLang="zh-CN" sz="2000" b="1" dirty="0" smtClean="0">
                <a:solidFill>
                  <a:srgbClr val="C00000"/>
                </a:solidFill>
              </a:rPr>
              <a:t>1</a:t>
            </a:r>
            <a:endParaRPr lang="zh-CN" altLang="en-US" sz="2000" b="1" dirty="0">
              <a:solidFill>
                <a:srgbClr val="C00000"/>
              </a:solidFill>
            </a:endParaRPr>
          </a:p>
        </p:txBody>
      </p:sp>
      <p:sp>
        <p:nvSpPr>
          <p:cNvPr id="34" name="矩形 33"/>
          <p:cNvSpPr/>
          <p:nvPr/>
        </p:nvSpPr>
        <p:spPr>
          <a:xfrm>
            <a:off x="2761284" y="3108231"/>
            <a:ext cx="741449" cy="504532"/>
          </a:xfrm>
          <a:prstGeom prst="rect">
            <a:avLst/>
          </a:prstGeom>
          <a:noFill/>
          <a:ln>
            <a:solidFill>
              <a:srgbClr val="FF33CC"/>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zh-CN" altLang="en-US" dirty="0"/>
          </a:p>
        </p:txBody>
      </p:sp>
      <p:sp>
        <p:nvSpPr>
          <p:cNvPr id="35" name="TextBox 28"/>
          <p:cNvSpPr txBox="1"/>
          <p:nvPr/>
        </p:nvSpPr>
        <p:spPr>
          <a:xfrm>
            <a:off x="922974" y="2876204"/>
            <a:ext cx="328936" cy="400110"/>
          </a:xfrm>
          <a:prstGeom prst="rect">
            <a:avLst/>
          </a:prstGeom>
          <a:noFill/>
        </p:spPr>
        <p:txBody>
          <a:bodyPr wrap="none" rtlCol="0">
            <a:spAutoFit/>
          </a:bodyPr>
          <a:lstStyle/>
          <a:p>
            <a:r>
              <a:rPr lang="en-US" altLang="zh-CN" sz="2000" b="1" dirty="0" smtClean="0">
                <a:solidFill>
                  <a:srgbClr val="C00000"/>
                </a:solidFill>
              </a:rPr>
              <a:t>1</a:t>
            </a:r>
            <a:endParaRPr lang="zh-CN" altLang="en-US" sz="2000" b="1" dirty="0">
              <a:solidFill>
                <a:srgbClr val="C00000"/>
              </a:solidFill>
            </a:endParaRPr>
          </a:p>
        </p:txBody>
      </p:sp>
      <p:sp>
        <p:nvSpPr>
          <p:cNvPr id="37" name="标题 1"/>
          <p:cNvSpPr>
            <a:spLocks noGrp="1"/>
          </p:cNvSpPr>
          <p:nvPr>
            <p:ph type="title"/>
          </p:nvPr>
        </p:nvSpPr>
        <p:spPr>
          <a:xfrm>
            <a:off x="1043608" y="1124744"/>
            <a:ext cx="7704856" cy="566936"/>
          </a:xfrm>
        </p:spPr>
        <p:txBody>
          <a:bodyPr/>
          <a:lstStyle/>
          <a:p>
            <a:r>
              <a:rPr lang="en-US" altLang="zh-CN" dirty="0" smtClean="0"/>
              <a:t>5.1.1 </a:t>
            </a:r>
            <a:r>
              <a:rPr lang="zh-CN" altLang="en-US" dirty="0" smtClean="0"/>
              <a:t>由与非门构成的基本</a:t>
            </a:r>
            <a:r>
              <a:rPr lang="en-US" altLang="zh-CN" dirty="0"/>
              <a:t>RS</a:t>
            </a:r>
            <a:r>
              <a:rPr lang="zh-CN" altLang="en-US" dirty="0"/>
              <a:t>触发器</a:t>
            </a:r>
          </a:p>
        </p:txBody>
      </p:sp>
      <p:sp>
        <p:nvSpPr>
          <p:cNvPr id="38" name="标题 1"/>
          <p:cNvSpPr txBox="1">
            <a:spLocks/>
          </p:cNvSpPr>
          <p:nvPr/>
        </p:nvSpPr>
        <p:spPr bwMode="auto">
          <a:xfrm>
            <a:off x="1043608" y="332656"/>
            <a:ext cx="7704856" cy="5669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5.1 </a:t>
            </a:r>
            <a:r>
              <a:rPr kumimoji="1" lang="zh-CN" altLang="en-US" sz="3200" b="1" kern="0" dirty="0" smtClean="0">
                <a:solidFill>
                  <a:schemeClr val="tx2"/>
                </a:solidFill>
                <a:latin typeface="+mj-lt"/>
                <a:ea typeface="+mj-ea"/>
                <a:cs typeface="+mj-cs"/>
              </a:rPr>
              <a:t>电平触发的</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触发器</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graphicFrame>
        <p:nvGraphicFramePr>
          <p:cNvPr id="127011" name="Object 35"/>
          <p:cNvGraphicFramePr>
            <a:graphicFrameLocks noChangeAspect="1"/>
          </p:cNvGraphicFramePr>
          <p:nvPr/>
        </p:nvGraphicFramePr>
        <p:xfrm>
          <a:off x="5580112" y="2996952"/>
          <a:ext cx="288576" cy="382126"/>
        </p:xfrm>
        <a:graphic>
          <a:graphicData uri="http://schemas.openxmlformats.org/presentationml/2006/ole">
            <p:oleObj spid="_x0000_s127011" r:id="rId6" imgW="152280" imgH="203040" progId="">
              <p:embed/>
            </p:oleObj>
          </a:graphicData>
        </a:graphic>
      </p:graphicFrame>
      <p:graphicFrame>
        <p:nvGraphicFramePr>
          <p:cNvPr id="127012" name="Object 36"/>
          <p:cNvGraphicFramePr>
            <a:graphicFrameLocks noChangeAspect="1"/>
          </p:cNvGraphicFramePr>
          <p:nvPr/>
        </p:nvGraphicFramePr>
        <p:xfrm>
          <a:off x="6228184" y="2996952"/>
          <a:ext cx="279400" cy="320675"/>
        </p:xfrm>
        <a:graphic>
          <a:graphicData uri="http://schemas.openxmlformats.org/presentationml/2006/ole">
            <p:oleObj spid="_x0000_s127012" r:id="rId7" imgW="164880" imgH="190440" progId="">
              <p:embed/>
            </p:oleObj>
          </a:graphicData>
        </a:graphic>
      </p:graphicFrame>
    </p:spTree>
    <p:extLst>
      <p:ext uri="{BB962C8B-B14F-4D97-AF65-F5344CB8AC3E}">
        <p14:creationId xmlns:p14="http://schemas.microsoft.com/office/powerpoint/2010/main" xmlns="" val="36695446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hidden"/>
                                      </p:to>
                                    </p:set>
                                  </p:childTnLst>
                                </p:cTn>
                              </p:par>
                              <p:par>
                                <p:cTn id="7" presetID="1" presetClass="entr" presetSubtype="0" fill="hold" grpId="0" nodeType="withEffect">
                                  <p:stCondLst>
                                    <p:cond delay="0"/>
                                  </p:stCondLst>
                                  <p:childTnLst>
                                    <p:set>
                                      <p:cBhvr>
                                        <p:cTn id="8" dur="1" fill="hold">
                                          <p:stCondLst>
                                            <p:cond delay="0"/>
                                          </p:stCondLst>
                                        </p:cTn>
                                        <p:tgtEl>
                                          <p:spTgt spid="2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3"/>
                                        </p:tgtEl>
                                        <p:attrNameLst>
                                          <p:attrName>style.visibility</p:attrName>
                                        </p:attrNameLst>
                                      </p:cBhvr>
                                      <p:to>
                                        <p:strVal val="visible"/>
                                      </p:to>
                                    </p:set>
                                  </p:childTnLst>
                                </p:cTn>
                              </p:par>
                              <p:par>
                                <p:cTn id="13" presetID="0" presetClass="path" presetSubtype="0" accel="50000" decel="50000" fill="hold" grpId="1" nodeType="withEffect">
                                  <p:stCondLst>
                                    <p:cond delay="0"/>
                                  </p:stCondLst>
                                  <p:childTnLst>
                                    <p:animMotion origin="layout" path="M -0.01094 -0.00834 L -0.01094 -0.0081 C -0.02414 -0.01273 -0.03021 -0.01528 -0.04792 -0.00949 C -0.04966 -0.0088 -0.04705 -0.00347 -0.04688 -0.00047 C -0.04653 0.00116 -0.04653 0.00278 -0.04618 0.00463 C -0.0448 0.02014 -0.04671 0.00162 -0.04514 0.02153 C -0.04497 0.02268 -0.0448 0.02407 -0.04445 0.02546 C -0.04445 0.03935 -0.04341 0.05324 -0.04393 0.06713 C -0.0441 0.06875 -0.04601 0.06736 -0.04688 0.06805 C -0.04775 0.06898 -0.04809 0.07106 -0.04914 0.07222 C -0.04983 0.07315 -0.0507 0.07338 -0.05122 0.07407 C -0.05191 0.075 -0.05226 0.07616 -0.05296 0.07708 C -0.054 0.07847 -0.05521 0.07986 -0.05643 0.08102 C -0.05695 0.08171 -0.05747 0.08217 -0.05799 0.0831 C -0.06112 0.08866 -0.05816 0.08426 -0.06129 0.08703 C -0.0658 0.09097 -0.06059 0.0875 -0.06476 0.09004 C -0.06528 0.09074 -0.0658 0.09143 -0.06632 0.09213 C -0.06893 0.09421 -0.06893 0.09375 -0.07153 0.09491 C -0.07205 0.09537 -0.07257 0.0956 -0.07309 0.09606 C -0.07726 0.10092 -0.07205 0.09491 -0.07709 0.1 C -0.07761 0.10069 -0.07813 0.10139 -0.07882 0.10208 C -0.07987 0.10278 -0.08108 0.10324 -0.08212 0.10393 L -0.08368 0.10486 C -0.0849 0.10625 -0.08577 0.1081 -0.08716 0.10903 C -0.0908 0.11111 -0.08612 0.10833 -0.09167 0.11203 C -0.09219 0.11227 -0.09271 0.1125 -0.09323 0.11296 C -0.09393 0.11342 -0.0948 0.11412 -0.09549 0.11481 C -0.09601 0.11551 -0.09653 0.11643 -0.09723 0.1169 C -0.09983 0.11875 -0.10174 0.11898 -0.10434 0.11991 C -0.10539 0.1206 -0.10643 0.12129 -0.1073 0.12176 C -0.10799 0.12222 -0.10868 0.12245 -0.10955 0.12291 C -0.11007 0.12315 -0.11059 0.12361 -0.11112 0.12384 C -0.11337 0.125 -0.11563 0.12592 -0.11789 0.12685 C -0.12136 0.12824 -0.11945 0.12731 -0.12362 0.12986 L -0.12518 0.13078 C -0.12587 0.13171 -0.12657 0.1331 -0.12743 0.13379 C -0.12987 0.13634 -0.13039 0.13565 -0.13299 0.1368 C -0.13351 0.13703 -0.13403 0.1375 -0.13473 0.13773 C -0.13525 0.13842 -0.13577 0.13935 -0.13646 0.13981 C -0.1375 0.14051 -0.13976 0.14166 -0.13976 0.1419 C -0.14271 0.14537 -0.14011 0.14259 -0.14428 0.14583 C -0.14497 0.14629 -0.14566 0.14699 -0.14653 0.14768 C -0.14705 0.14838 -0.14757 0.1493 -0.14809 0.14977 C -0.14914 0.15046 -0.15053 0.15069 -0.15157 0.15162 L -0.15382 0.1537 C -0.15643 0.15995 -0.15487 0.15648 -0.15886 0.16366 L -0.16042 0.16666 C -0.16337 0.18241 -0.1632 0.17916 -0.16112 0.20833 C -0.16094 0.20972 -0.15955 0.20903 -0.15886 0.20949 L -0.13803 0.20833 C -0.12032 0.20694 -0.14931 0.20741 -0.12796 0.20741 " pathEditMode="relative" rAng="0" ptsTypes="AAAAAAAAAAAAAAAAAAAAAAAAAAAAAAAAAAAAAAAAAAAAAAAAAAA">
                                      <p:cBhvr>
                                        <p:cTn id="14" dur="1000" fill="hold"/>
                                        <p:tgtEl>
                                          <p:spTgt spid="23"/>
                                        </p:tgtEl>
                                        <p:attrNameLst>
                                          <p:attrName>ppt_x</p:attrName>
                                          <p:attrName>ppt_y</p:attrName>
                                        </p:attrNameLst>
                                      </p:cBhvr>
                                      <p:rCtr x="-7587" y="10648"/>
                                    </p:animMotion>
                                  </p:childTnLst>
                                </p:cTn>
                              </p:par>
                              <p:par>
                                <p:cTn id="15" presetID="0" presetClass="path" presetSubtype="0" accel="50000" decel="50000" fill="hold" grpId="1" nodeType="withEffect">
                                  <p:stCondLst>
                                    <p:cond delay="0"/>
                                  </p:stCondLst>
                                  <p:childTnLst>
                                    <p:animMotion origin="layout" path="M 2.77778E-7 1.11111E-6 L 2.77778E-7 0.00023 L 0.03351 0.00092 C 0.05521 0.00208 0.02448 0.00185 0.03785 0.00185 " pathEditMode="relative" rAng="0" ptsTypes="AAAA">
                                      <p:cBhvr>
                                        <p:cTn id="16" dur="1000" fill="hold"/>
                                        <p:tgtEl>
                                          <p:spTgt spid="29"/>
                                        </p:tgtEl>
                                        <p:attrNameLst>
                                          <p:attrName>ppt_x</p:attrName>
                                          <p:attrName>ppt_y</p:attrName>
                                        </p:attrNameLst>
                                      </p:cBhvr>
                                      <p:rCtr x="2066" y="93"/>
                                    </p:animMotion>
                                  </p:childTnLst>
                                </p:cTn>
                              </p:par>
                              <p:par>
                                <p:cTn id="17" presetID="1" presetClass="entr" presetSubtype="0" fill="hold" grpId="1" nodeType="withEffect">
                                  <p:stCondLst>
                                    <p:cond delay="0"/>
                                  </p:stCondLst>
                                  <p:childTnLst>
                                    <p:set>
                                      <p:cBhvr>
                                        <p:cTn id="18" dur="1" fill="hold">
                                          <p:stCondLst>
                                            <p:cond delay="0"/>
                                          </p:stCondLst>
                                        </p:cTn>
                                        <p:tgtEl>
                                          <p:spTgt spid="30"/>
                                        </p:tgtEl>
                                        <p:attrNameLst>
                                          <p:attrName>style.visibility</p:attrName>
                                        </p:attrNameLst>
                                      </p:cBhvr>
                                      <p:to>
                                        <p:strVal val="visible"/>
                                      </p:to>
                                    </p:set>
                                  </p:childTnLst>
                                </p:cTn>
                              </p:par>
                              <p:par>
                                <p:cTn id="19" presetID="0" presetClass="path" presetSubtype="0" accel="50000" decel="50000" fill="hold" grpId="0" nodeType="withEffect">
                                  <p:stCondLst>
                                    <p:cond delay="0"/>
                                  </p:stCondLst>
                                  <p:childTnLst>
                                    <p:animMotion origin="layout" path="M 0.00729 -1.48148E-6 L 0.00729 0.00023 C 0.01181 0.00023 0.01649 0.00046 0.02118 0.00093 C 0.02222 0.00116 0.02344 0.00162 0.02465 0.00185 C 0.02708 0.00232 0.02986 0.00255 0.03247 0.00301 L 0.0441 0.00185 C 0.04635 0.00162 0.04861 0.00139 0.05069 0.00093 C 0.05712 -0.00046 0.04583 -1.48148E-6 0.05538 -1.48148E-6 " pathEditMode="relative" rAng="0" ptsTypes="AAAAAAAA">
                                      <p:cBhvr>
                                        <p:cTn id="20" dur="1000" fill="hold"/>
                                        <p:tgtEl>
                                          <p:spTgt spid="30"/>
                                        </p:tgtEl>
                                        <p:attrNameLst>
                                          <p:attrName>ppt_x</p:attrName>
                                          <p:attrName>ppt_y</p:attrName>
                                        </p:attrNameLst>
                                      </p:cBhvr>
                                      <p:rCtr x="2396" y="139"/>
                                    </p:animMotion>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1"/>
                                        </p:tgtEl>
                                        <p:attrNameLst>
                                          <p:attrName>style.visibility</p:attrName>
                                        </p:attrNameLst>
                                      </p:cBhvr>
                                      <p:to>
                                        <p:strVal val="visible"/>
                                      </p:to>
                                    </p:set>
                                  </p:childTnLst>
                                </p:cTn>
                              </p:par>
                              <p:par>
                                <p:cTn id="25" presetID="0" presetClass="path" presetSubtype="0" accel="50000" decel="50000" fill="hold" grpId="1" nodeType="withEffect">
                                  <p:stCondLst>
                                    <p:cond delay="0"/>
                                  </p:stCondLst>
                                  <p:childTnLst>
                                    <p:animMotion origin="layout" path="M 4.44444E-6 1.11111E-6 L 4.44444E-6 0.00023 C 0.00052 -0.00278 0.00121 -0.00533 0.00173 -0.0081 C 0.00173 -0.00903 0.00208 -0.00995 0.00225 -0.01111 C 0.00243 -0.01343 0.0026 -0.01574 0.00277 -0.01806 C 0.0026 -0.02894 0.0026 -0.03982 0.00225 -0.05093 C 0.00225 -0.05185 0.00191 -0.05301 0.00173 -0.05394 C 0.00121 -0.05509 0.00069 -0.05602 4.44444E-6 -0.05695 C -0.0007 -0.05764 -0.00139 -0.0581 -0.00226 -0.0588 C -0.00278 -0.05972 -0.0033 -0.06088 -0.004 -0.06181 C -0.00469 -0.06296 -0.00539 -0.06389 -0.00608 -0.06482 C -0.0066 -0.06551 -0.0073 -0.06597 -0.00782 -0.06667 C -0.00851 -0.06759 -0.00886 -0.06898 -0.00955 -0.06968 C -0.01042 -0.0706 -0.01146 -0.07083 -0.01233 -0.07176 C -0.01355 -0.07292 -0.01441 -0.075 -0.01563 -0.0757 C -0.01632 -0.07616 -0.01684 -0.07616 -0.01737 -0.07662 C -0.01806 -0.07732 -0.01858 -0.07824 -0.01893 -0.0787 C -0.0198 -0.0794 -0.02066 -0.08009 -0.02118 -0.08079 C -0.02223 -0.08171 -0.02309 -0.08287 -0.02414 -0.0838 C -0.02483 -0.08426 -0.02553 -0.08426 -0.02639 -0.08472 C -0.02709 -0.08542 -0.02778 -0.08611 -0.02848 -0.08658 C -0.029 -0.08704 -0.02969 -0.08727 -0.03021 -0.08773 C -0.03108 -0.08843 -0.0316 -0.08982 -0.03247 -0.09074 C -0.03629 -0.09398 -0.0349 -0.09144 -0.03803 -0.09375 C -0.03889 -0.09421 -0.03959 -0.09514 -0.04028 -0.0956 C -0.04098 -0.09607 -0.0415 -0.0963 -0.04202 -0.09653 C -0.04271 -0.09699 -0.04358 -0.09699 -0.04428 -0.09769 C -0.04566 -0.09884 -0.04723 -0.10023 -0.04879 -0.10162 C -0.04948 -0.10232 -0.05018 -0.10278 -0.05087 -0.1037 C -0.05139 -0.10417 -0.05191 -0.10533 -0.05261 -0.10556 C -0.05434 -0.10648 -0.05608 -0.10671 -0.05764 -0.10764 C -0.05938 -0.10833 -0.06094 -0.10972 -0.06268 -0.11065 C -0.06389 -0.11111 -0.06546 -0.11181 -0.06667 -0.1125 C -0.06754 -0.11296 -0.06806 -0.11412 -0.06893 -0.11458 C -0.07032 -0.11551 -0.07188 -0.11574 -0.07327 -0.11644 C -0.07379 -0.1169 -0.07448 -0.11713 -0.075 -0.11759 C -0.0757 -0.11783 -0.07657 -0.11806 -0.07726 -0.11852 C -0.07848 -0.11921 -0.07952 -0.12037 -0.08056 -0.1206 L -0.08577 -0.12153 C -0.08629 -0.12176 -0.08681 -0.12199 -0.08733 -0.12245 C -0.08785 -0.12315 -0.08837 -0.12408 -0.08889 -0.12454 C -0.08993 -0.125 -0.09098 -0.12523 -0.09184 -0.12546 C -0.09775 -0.13264 -0.08872 -0.12153 -0.09514 -0.13056 C -0.09618 -0.13195 -0.09862 -0.13449 -0.09862 -0.13426 C -0.09931 -0.13658 -0.1 -0.13889 -0.10139 -0.14051 C -0.10191 -0.14097 -0.10243 -0.14097 -0.10296 -0.14144 C -0.10348 -0.14236 -0.10365 -0.14375 -0.10417 -0.14445 C -0.10452 -0.14514 -0.10521 -0.14491 -0.10573 -0.14537 C -0.10643 -0.14583 -0.10695 -0.14676 -0.10747 -0.14745 C -0.10834 -0.14815 -0.10938 -0.14884 -0.11025 -0.14931 C -0.11077 -0.14977 -0.11146 -0.15 -0.11198 -0.15046 C -0.1125 -0.15093 -0.11303 -0.15185 -0.11372 -0.15232 C -0.11476 -0.15324 -0.11702 -0.1544 -0.11702 -0.15417 C -0.11841 -0.15625 -0.11962 -0.15718 -0.12032 -0.16042 C -0.12066 -0.16181 -0.12066 -0.16366 -0.12084 -0.16528 C -0.12066 -0.17523 -0.12066 -0.18519 -0.1198 -0.19514 C -0.11962 -0.19676 -0.11945 -0.19838 -0.11928 -0.2 C -0.08872 -0.19908 -0.09983 -0.19908 -0.08577 -0.19908 " pathEditMode="relative" rAng="0" ptsTypes="AAAAAAAAAAAAAAAAAAAAAAAAAAAAAAAAAAAAAAAAAAAAAAAAAAAAAAAAAA">
                                      <p:cBhvr>
                                        <p:cTn id="26" dur="2000" fill="hold"/>
                                        <p:tgtEl>
                                          <p:spTgt spid="31"/>
                                        </p:tgtEl>
                                        <p:attrNameLst>
                                          <p:attrName>ppt_x</p:attrName>
                                          <p:attrName>ppt_y</p:attrName>
                                        </p:attrNameLst>
                                      </p:cBhvr>
                                      <p:rCtr x="-5903" y="-10000"/>
                                    </p:animMotion>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2"/>
                                        </p:tgtEl>
                                        <p:attrNameLst>
                                          <p:attrName>style.visibility</p:attrName>
                                        </p:attrNameLst>
                                      </p:cBhvr>
                                      <p:to>
                                        <p:strVal val="visible"/>
                                      </p:to>
                                    </p:set>
                                  </p:childTnLst>
                                </p:cTn>
                              </p:par>
                              <p:par>
                                <p:cTn id="31" presetID="0" presetClass="path" presetSubtype="0" accel="50000" decel="50000" fill="hold" grpId="1" nodeType="withEffect">
                                  <p:stCondLst>
                                    <p:cond delay="0"/>
                                  </p:stCondLst>
                                  <p:childTnLst>
                                    <p:animMotion origin="layout" path="M 0.00156 -4.07407E-6 L 0.00156 0.00024 C 0.01562 0.00232 -0.00087 -4.07407E-6 0.02778 -4.07407E-6 C 0.03073 -4.07407E-6 0.03368 0.00047 0.0368 0.00093 C 0.05069 0.00301 0.04323 0.00278 0.04965 0.00278 " pathEditMode="relative" rAng="0" ptsTypes="AAAAA">
                                      <p:cBhvr>
                                        <p:cTn id="32" dur="1000" fill="hold"/>
                                        <p:tgtEl>
                                          <p:spTgt spid="32"/>
                                        </p:tgtEl>
                                        <p:attrNameLst>
                                          <p:attrName>ppt_x</p:attrName>
                                          <p:attrName>ppt_y</p:attrName>
                                        </p:attrNameLst>
                                      </p:cBhvr>
                                      <p:rCtr x="2396" y="139"/>
                                    </p:animMotion>
                                  </p:childTnLst>
                                </p:cTn>
                              </p:par>
                            </p:childTnLst>
                          </p:cTn>
                        </p:par>
                      </p:childTnLst>
                    </p:cTn>
                  </p:par>
                  <p:par>
                    <p:cTn id="33" fill="hold">
                      <p:stCondLst>
                        <p:cond delay="indefinite"/>
                      </p:stCondLst>
                      <p:childTnLst>
                        <p:par>
                          <p:cTn id="34" fill="hold">
                            <p:stCondLst>
                              <p:cond delay="0"/>
                            </p:stCondLst>
                            <p:childTnLst>
                              <p:par>
                                <p:cTn id="35" presetID="1" presetClass="exit" presetSubtype="0" fill="hold" grpId="0" nodeType="clickEffect">
                                  <p:stCondLst>
                                    <p:cond delay="0"/>
                                  </p:stCondLst>
                                  <p:childTnLst>
                                    <p:set>
                                      <p:cBhvr>
                                        <p:cTn id="36" dur="1" fill="hold">
                                          <p:stCondLst>
                                            <p:cond delay="0"/>
                                          </p:stCondLst>
                                        </p:cTn>
                                        <p:tgtEl>
                                          <p:spTgt spid="25"/>
                                        </p:tgtEl>
                                        <p:attrNameLst>
                                          <p:attrName>style.visibility</p:attrName>
                                        </p:attrNameLst>
                                      </p:cBhvr>
                                      <p:to>
                                        <p:strVal val="hidden"/>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5"/>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3" grpId="1"/>
      <p:bldP spid="25" grpId="0"/>
      <p:bldP spid="26" grpId="0"/>
      <p:bldP spid="29" grpId="0"/>
      <p:bldP spid="29" grpId="1"/>
      <p:bldP spid="30" grpId="0"/>
      <p:bldP spid="30" grpId="1"/>
      <p:bldP spid="31" grpId="0"/>
      <p:bldP spid="31" grpId="1"/>
      <p:bldP spid="32" grpId="0"/>
      <p:bldP spid="32" grpId="1"/>
      <p:bldP spid="34" grpId="0" animBg="1"/>
      <p:bldP spid="3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8056" name="Picture 56"/>
          <p:cNvPicPr>
            <a:picLocks noChangeAspect="1" noChangeArrowheads="1"/>
          </p:cNvPicPr>
          <p:nvPr/>
        </p:nvPicPr>
        <p:blipFill>
          <a:blip r:embed="rId3" cstate="print"/>
          <a:srcRect/>
          <a:stretch>
            <a:fillRect/>
          </a:stretch>
        </p:blipFill>
        <p:spPr bwMode="auto">
          <a:xfrm>
            <a:off x="611560" y="2708920"/>
            <a:ext cx="2581275" cy="2790825"/>
          </a:xfrm>
          <a:prstGeom prst="rect">
            <a:avLst/>
          </a:prstGeom>
          <a:noFill/>
          <a:ln w="9525">
            <a:noFill/>
            <a:miter lim="800000"/>
            <a:headEnd/>
            <a:tailEnd/>
          </a:ln>
        </p:spPr>
      </p:pic>
      <p:sp>
        <p:nvSpPr>
          <p:cNvPr id="3" name="矩形 2"/>
          <p:cNvSpPr/>
          <p:nvPr/>
        </p:nvSpPr>
        <p:spPr>
          <a:xfrm>
            <a:off x="386476" y="2037363"/>
            <a:ext cx="4315604" cy="400110"/>
          </a:xfrm>
          <a:prstGeom prst="rect">
            <a:avLst/>
          </a:prstGeom>
          <a:solidFill>
            <a:srgbClr val="0341EF"/>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nchor="ctr">
            <a:spAutoFit/>
          </a:bodyPr>
          <a:lstStyle/>
          <a:p>
            <a:pPr algn="ctr"/>
            <a:r>
              <a:rPr lang="zh-CN" altLang="en-US" sz="2000" b="1" dirty="0">
                <a:solidFill>
                  <a:schemeClr val="bg1"/>
                </a:solidFill>
                <a:latin typeface="黑体" panose="02010609060101010101" pitchFamily="49" charset="-122"/>
                <a:ea typeface="黑体" panose="02010609060101010101" pitchFamily="49" charset="-122"/>
              </a:rPr>
              <a:t>与非门构成的基本</a:t>
            </a:r>
            <a:r>
              <a:rPr lang="en-US" altLang="zh-CN" sz="2000" b="1" dirty="0" smtClean="0">
                <a:solidFill>
                  <a:schemeClr val="bg1"/>
                </a:solidFill>
                <a:latin typeface="黑体" panose="02010609060101010101" pitchFamily="49" charset="-122"/>
                <a:ea typeface="黑体" panose="02010609060101010101" pitchFamily="49" charset="-122"/>
              </a:rPr>
              <a:t>RS</a:t>
            </a:r>
            <a:r>
              <a:rPr lang="zh-CN" altLang="en-US" sz="2000" b="1" dirty="0" smtClean="0">
                <a:solidFill>
                  <a:schemeClr val="bg1"/>
                </a:solidFill>
                <a:latin typeface="黑体" panose="02010609060101010101" pitchFamily="49" charset="-122"/>
                <a:ea typeface="黑体" panose="02010609060101010101" pitchFamily="49" charset="-122"/>
              </a:rPr>
              <a:t>锁存器工作原理</a:t>
            </a:r>
            <a:endParaRPr lang="zh-CN" altLang="en-US" sz="2000" b="1" dirty="0">
              <a:solidFill>
                <a:schemeClr val="bg1"/>
              </a:solidFill>
              <a:latin typeface="黑体" panose="02010609060101010101" pitchFamily="49" charset="-122"/>
              <a:ea typeface="黑体" panose="02010609060101010101" pitchFamily="49" charset="-122"/>
            </a:endParaRPr>
          </a:p>
        </p:txBody>
      </p:sp>
      <p:sp>
        <p:nvSpPr>
          <p:cNvPr id="4" name="矩形 3"/>
          <p:cNvSpPr/>
          <p:nvPr/>
        </p:nvSpPr>
        <p:spPr>
          <a:xfrm>
            <a:off x="35496" y="5975516"/>
            <a:ext cx="3972562" cy="369332"/>
          </a:xfrm>
          <a:prstGeom prst="rect">
            <a:avLst/>
          </a:prstGeom>
        </p:spPr>
        <p:txBody>
          <a:bodyPr wrap="none">
            <a:spAutoFit/>
          </a:bodyPr>
          <a:lstStyle/>
          <a:p>
            <a:r>
              <a:rPr lang="zh-CN" altLang="en-US" b="1" dirty="0" smtClean="0">
                <a:latin typeface="楷体_GB2312" pitchFamily="49" charset="-122"/>
                <a:ea typeface="楷体_GB2312" pitchFamily="49" charset="-122"/>
              </a:rPr>
              <a:t>图 与非门</a:t>
            </a:r>
            <a:r>
              <a:rPr lang="zh-CN" altLang="en-US" b="1" dirty="0">
                <a:latin typeface="楷体_GB2312" pitchFamily="49" charset="-122"/>
                <a:ea typeface="楷体_GB2312" pitchFamily="49" charset="-122"/>
              </a:rPr>
              <a:t>构成的基本</a:t>
            </a:r>
            <a:r>
              <a:rPr lang="en-US" altLang="zh-CN" b="1" dirty="0">
                <a:latin typeface="楷体_GB2312" pitchFamily="49" charset="-122"/>
                <a:ea typeface="楷体_GB2312" pitchFamily="49" charset="-122"/>
              </a:rPr>
              <a:t>RS-FF</a:t>
            </a:r>
            <a:r>
              <a:rPr lang="zh-CN" altLang="en-US" b="1" dirty="0">
                <a:latin typeface="楷体_GB2312" pitchFamily="49" charset="-122"/>
                <a:ea typeface="楷体_GB2312" pitchFamily="49" charset="-122"/>
              </a:rPr>
              <a:t>的逻辑图</a:t>
            </a:r>
            <a:r>
              <a:rPr lang="zh-CN" altLang="en-US" dirty="0"/>
              <a:t> </a:t>
            </a:r>
          </a:p>
        </p:txBody>
      </p:sp>
      <p:sp>
        <p:nvSpPr>
          <p:cNvPr id="5" name="Text Box 9"/>
          <p:cNvSpPr txBox="1">
            <a:spLocks noChangeArrowheads="1"/>
          </p:cNvSpPr>
          <p:nvPr/>
        </p:nvSpPr>
        <p:spPr bwMode="auto">
          <a:xfrm>
            <a:off x="4907070" y="2046639"/>
            <a:ext cx="4535748" cy="64633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p>
            <a:pPr algn="ctr">
              <a:spcBef>
                <a:spcPct val="50000"/>
              </a:spcBef>
            </a:pPr>
            <a:r>
              <a:rPr lang="zh-CN" altLang="en-US" b="1" dirty="0" smtClean="0">
                <a:latin typeface="楷体_GB2312" pitchFamily="49" charset="-122"/>
                <a:ea typeface="楷体_GB2312" pitchFamily="49" charset="-122"/>
              </a:rPr>
              <a:t>表</a:t>
            </a:r>
            <a:r>
              <a:rPr lang="en-US" altLang="zh-CN" b="1" dirty="0" smtClean="0">
                <a:latin typeface="楷体_GB2312" pitchFamily="49" charset="-122"/>
                <a:ea typeface="楷体_GB2312" pitchFamily="49" charset="-122"/>
              </a:rPr>
              <a:t> </a:t>
            </a:r>
            <a:r>
              <a:rPr lang="en-US" altLang="zh-CN" dirty="0" smtClean="0">
                <a:latin typeface="楷体_GB2312" pitchFamily="49" charset="-122"/>
                <a:ea typeface="楷体_GB2312" pitchFamily="49" charset="-122"/>
              </a:rPr>
              <a:t>  </a:t>
            </a:r>
            <a:r>
              <a:rPr lang="zh-CN" altLang="en-US" b="1" dirty="0">
                <a:latin typeface="楷体_GB2312" pitchFamily="49" charset="-122"/>
                <a:ea typeface="楷体_GB2312" pitchFamily="49" charset="-122"/>
              </a:rPr>
              <a:t>与非门构成的基本</a:t>
            </a:r>
            <a:r>
              <a:rPr lang="en-US" altLang="zh-CN" b="1" dirty="0">
                <a:latin typeface="楷体_GB2312" pitchFamily="49" charset="-122"/>
                <a:ea typeface="楷体_GB2312" pitchFamily="49" charset="-122"/>
              </a:rPr>
              <a:t>RS-FF</a:t>
            </a:r>
            <a:r>
              <a:rPr lang="zh-CN" altLang="en-US" b="1" dirty="0">
                <a:latin typeface="楷体_GB2312" pitchFamily="49" charset="-122"/>
                <a:ea typeface="楷体_GB2312" pitchFamily="49" charset="-122"/>
              </a:rPr>
              <a:t>的</a:t>
            </a:r>
            <a:r>
              <a:rPr lang="zh-CN" altLang="en-US" b="1" dirty="0" smtClean="0">
                <a:latin typeface="楷体_GB2312" pitchFamily="49" charset="-122"/>
                <a:ea typeface="楷体_GB2312" pitchFamily="49" charset="-122"/>
              </a:rPr>
              <a:t>真值表（</a:t>
            </a:r>
            <a:r>
              <a:rPr lang="zh-CN" altLang="en-US" b="1" dirty="0">
                <a:latin typeface="楷体_GB2312" pitchFamily="49" charset="-122"/>
                <a:ea typeface="楷体_GB2312" pitchFamily="49" charset="-122"/>
              </a:rPr>
              <a:t>特性表）</a:t>
            </a:r>
            <a:r>
              <a:rPr lang="zh-CN" altLang="en-US" dirty="0">
                <a:latin typeface="楷体_GB2312" pitchFamily="49" charset="-122"/>
                <a:ea typeface="楷体_GB2312" pitchFamily="49" charset="-122"/>
              </a:rPr>
              <a:t>  </a:t>
            </a:r>
          </a:p>
        </p:txBody>
      </p:sp>
      <p:graphicFrame>
        <p:nvGraphicFramePr>
          <p:cNvPr id="7" name="Group 304"/>
          <p:cNvGraphicFramePr>
            <a:graphicFrameLocks noGrp="1"/>
          </p:cNvGraphicFramePr>
          <p:nvPr>
            <p:extLst>
              <p:ext uri="{D42A27DB-BD31-4B8C-83A1-F6EECF244321}">
                <p14:modId xmlns:p14="http://schemas.microsoft.com/office/powerpoint/2010/main" xmlns="" val="2312595175"/>
              </p:ext>
            </p:extLst>
          </p:nvPr>
        </p:nvGraphicFramePr>
        <p:xfrm>
          <a:off x="5313160" y="2837005"/>
          <a:ext cx="3671887" cy="3568383"/>
        </p:xfrm>
        <a:graphic>
          <a:graphicData uri="http://schemas.openxmlformats.org/drawingml/2006/table">
            <a:tbl>
              <a:tblPr/>
              <a:tblGrid>
                <a:gridCol w="1368425">
                  <a:extLst>
                    <a:ext uri="{9D8B030D-6E8A-4147-A177-3AD203B41FA5}">
                      <a16:colId xmlns:a16="http://schemas.microsoft.com/office/drawing/2014/main" xmlns="" val="20000"/>
                    </a:ext>
                  </a:extLst>
                </a:gridCol>
                <a:gridCol w="792162">
                  <a:extLst>
                    <a:ext uri="{9D8B030D-6E8A-4147-A177-3AD203B41FA5}">
                      <a16:colId xmlns:a16="http://schemas.microsoft.com/office/drawing/2014/main" xmlns="" val="20001"/>
                    </a:ext>
                  </a:extLst>
                </a:gridCol>
                <a:gridCol w="720725">
                  <a:extLst>
                    <a:ext uri="{9D8B030D-6E8A-4147-A177-3AD203B41FA5}">
                      <a16:colId xmlns:a16="http://schemas.microsoft.com/office/drawing/2014/main" xmlns="" val="20002"/>
                    </a:ext>
                  </a:extLst>
                </a:gridCol>
                <a:gridCol w="790575">
                  <a:extLst>
                    <a:ext uri="{9D8B030D-6E8A-4147-A177-3AD203B41FA5}">
                      <a16:colId xmlns:a16="http://schemas.microsoft.com/office/drawing/2014/main" xmlns="" val="20003"/>
                    </a:ext>
                  </a:extLst>
                </a:gridCol>
              </a:tblGrid>
              <a:tr h="323850">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20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功能</a:t>
                      </a:r>
                    </a:p>
                  </a:txBody>
                  <a:tcPr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0"/>
                  </a:ext>
                </a:extLst>
              </a:tr>
              <a:tr h="323850">
                <a:tc rowSpan="2">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   1       1</a:t>
                      </a: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r h="323850">
                <a:tc vMerge="1">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en-US"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zh-CN"/>
                    </a:p>
                  </a:txBody>
                  <a:tcPr/>
                </a:tc>
                <a:extLst>
                  <a:ext uri="{0D108BD9-81ED-4DB2-BD59-A6C34878D82A}">
                    <a16:rowId xmlns:a16="http://schemas.microsoft.com/office/drawing/2014/main" xmlns="" val="10002"/>
                  </a:ext>
                </a:extLst>
              </a:tr>
              <a:tr h="323850">
                <a:tc rowSpan="2">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   0       1</a:t>
                      </a:r>
                    </a:p>
                  </a:txBody>
                  <a:tcPr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3"/>
                  </a:ext>
                </a:extLst>
              </a:tr>
              <a:tr h="322263">
                <a:tc vMerge="1">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en-US"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zh-CN"/>
                    </a:p>
                  </a:txBody>
                  <a:tcPr/>
                </a:tc>
                <a:extLst>
                  <a:ext uri="{0D108BD9-81ED-4DB2-BD59-A6C34878D82A}">
                    <a16:rowId xmlns:a16="http://schemas.microsoft.com/office/drawing/2014/main" xmlns="" val="10004"/>
                  </a:ext>
                </a:extLst>
              </a:tr>
              <a:tr h="398463">
                <a:tc rowSpan="2">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   1       0</a:t>
                      </a:r>
                    </a:p>
                  </a:txBody>
                  <a:tcPr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5"/>
                  </a:ext>
                </a:extLst>
              </a:tr>
              <a:tr h="323850">
                <a:tc vMerge="1">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en-US"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zh-CN"/>
                    </a:p>
                  </a:txBody>
                  <a:tcPr/>
                </a:tc>
                <a:extLst>
                  <a:ext uri="{0D108BD9-81ED-4DB2-BD59-A6C34878D82A}">
                    <a16:rowId xmlns:a16="http://schemas.microsoft.com/office/drawing/2014/main" xmlns="" val="10006"/>
                  </a:ext>
                </a:extLst>
              </a:tr>
              <a:tr h="323850">
                <a:tc rowSpan="2">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   0       0</a:t>
                      </a:r>
                    </a:p>
                  </a:txBody>
                  <a:tcPr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7"/>
                  </a:ext>
                </a:extLst>
              </a:tr>
              <a:tr h="323850">
                <a:tc vMerge="1">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en-US"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zh-CN"/>
                    </a:p>
                  </a:txBody>
                  <a:tcPr/>
                </a:tc>
                <a:extLst>
                  <a:ext uri="{0D108BD9-81ED-4DB2-BD59-A6C34878D82A}">
                    <a16:rowId xmlns:a16="http://schemas.microsoft.com/office/drawing/2014/main" xmlns="" val="10008"/>
                  </a:ext>
                </a:extLst>
              </a:tr>
            </a:tbl>
          </a:graphicData>
        </a:graphic>
      </p:graphicFrame>
      <p:graphicFrame>
        <p:nvGraphicFramePr>
          <p:cNvPr id="10" name="Object 307"/>
          <p:cNvGraphicFramePr>
            <a:graphicFrameLocks noChangeAspect="1"/>
          </p:cNvGraphicFramePr>
          <p:nvPr>
            <p:extLst>
              <p:ext uri="{D42A27DB-BD31-4B8C-83A1-F6EECF244321}">
                <p14:modId xmlns:p14="http://schemas.microsoft.com/office/powerpoint/2010/main" xmlns="" val="592175109"/>
              </p:ext>
            </p:extLst>
          </p:nvPr>
        </p:nvGraphicFramePr>
        <p:xfrm>
          <a:off x="6968922" y="2837005"/>
          <a:ext cx="365125" cy="387350"/>
        </p:xfrm>
        <a:graphic>
          <a:graphicData uri="http://schemas.openxmlformats.org/presentationml/2006/ole">
            <p:oleObj spid="_x0000_s128052" name="公式" r:id="rId4" imgW="215806" imgH="228501" progId="">
              <p:embed/>
            </p:oleObj>
          </a:graphicData>
        </a:graphic>
      </p:graphicFrame>
      <p:graphicFrame>
        <p:nvGraphicFramePr>
          <p:cNvPr id="11" name="Object 308"/>
          <p:cNvGraphicFramePr>
            <a:graphicFrameLocks noChangeAspect="1"/>
          </p:cNvGraphicFramePr>
          <p:nvPr>
            <p:extLst>
              <p:ext uri="{D42A27DB-BD31-4B8C-83A1-F6EECF244321}">
                <p14:modId xmlns:p14="http://schemas.microsoft.com/office/powerpoint/2010/main" xmlns="" val="3195328919"/>
              </p:ext>
            </p:extLst>
          </p:nvPr>
        </p:nvGraphicFramePr>
        <p:xfrm>
          <a:off x="7616622" y="2837005"/>
          <a:ext cx="515938" cy="387350"/>
        </p:xfrm>
        <a:graphic>
          <a:graphicData uri="http://schemas.openxmlformats.org/presentationml/2006/ole">
            <p:oleObj spid="_x0000_s128053" name="公式" r:id="rId5" imgW="304668" imgH="228501" progId="">
              <p:embed/>
            </p:oleObj>
          </a:graphicData>
        </a:graphic>
      </p:graphicFrame>
      <p:sp>
        <p:nvSpPr>
          <p:cNvPr id="12" name="Text Box 309"/>
          <p:cNvSpPr txBox="1">
            <a:spLocks noChangeArrowheads="1"/>
          </p:cNvSpPr>
          <p:nvPr/>
        </p:nvSpPr>
        <p:spPr bwMode="auto">
          <a:xfrm>
            <a:off x="8264322" y="3411680"/>
            <a:ext cx="865188"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zh-CN" altLang="en-US" dirty="0">
                <a:solidFill>
                  <a:srgbClr val="FF0000"/>
                </a:solidFill>
                <a:ea typeface="黑体" panose="02010609060101010101" pitchFamily="2" charset="-122"/>
              </a:rPr>
              <a:t>保持</a:t>
            </a:r>
          </a:p>
        </p:txBody>
      </p:sp>
      <p:sp>
        <p:nvSpPr>
          <p:cNvPr id="13" name="Rectangle 347"/>
          <p:cNvSpPr>
            <a:spLocks noChangeArrowheads="1"/>
          </p:cNvSpPr>
          <p:nvPr/>
        </p:nvSpPr>
        <p:spPr bwMode="auto">
          <a:xfrm>
            <a:off x="7616622" y="3243405"/>
            <a:ext cx="328936"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pPr>
              <a:spcBef>
                <a:spcPct val="20000"/>
              </a:spcBef>
            </a:pPr>
            <a:r>
              <a:rPr lang="en-US" altLang="zh-CN" sz="2000" b="1" dirty="0"/>
              <a:t>0</a:t>
            </a:r>
          </a:p>
        </p:txBody>
      </p:sp>
      <p:sp>
        <p:nvSpPr>
          <p:cNvPr id="14" name="Rectangle 348"/>
          <p:cNvSpPr>
            <a:spLocks noChangeArrowheads="1"/>
          </p:cNvSpPr>
          <p:nvPr/>
        </p:nvSpPr>
        <p:spPr bwMode="auto">
          <a:xfrm>
            <a:off x="7616622" y="3651393"/>
            <a:ext cx="328936"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pPr>
              <a:spcBef>
                <a:spcPct val="20000"/>
              </a:spcBef>
            </a:pPr>
            <a:r>
              <a:rPr lang="en-US" altLang="zh-CN" sz="2000" b="1"/>
              <a:t>1</a:t>
            </a:r>
          </a:p>
        </p:txBody>
      </p:sp>
      <p:sp>
        <p:nvSpPr>
          <p:cNvPr id="15" name="Rectangle 349"/>
          <p:cNvSpPr>
            <a:spLocks noChangeArrowheads="1"/>
          </p:cNvSpPr>
          <p:nvPr/>
        </p:nvSpPr>
        <p:spPr bwMode="auto">
          <a:xfrm>
            <a:off x="7616622" y="4035568"/>
            <a:ext cx="328936"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pPr>
              <a:spcBef>
                <a:spcPct val="20000"/>
              </a:spcBef>
            </a:pPr>
            <a:r>
              <a:rPr lang="en-US" altLang="zh-CN" sz="2000" b="1" dirty="0"/>
              <a:t>1</a:t>
            </a:r>
          </a:p>
        </p:txBody>
      </p:sp>
      <p:sp>
        <p:nvSpPr>
          <p:cNvPr id="16" name="Rectangle 350"/>
          <p:cNvSpPr>
            <a:spLocks noChangeArrowheads="1"/>
          </p:cNvSpPr>
          <p:nvPr/>
        </p:nvSpPr>
        <p:spPr bwMode="auto">
          <a:xfrm>
            <a:off x="7616622" y="4443555"/>
            <a:ext cx="328936"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pPr>
              <a:spcBef>
                <a:spcPct val="20000"/>
              </a:spcBef>
            </a:pPr>
            <a:r>
              <a:rPr lang="en-US" altLang="zh-CN" sz="2000" b="1"/>
              <a:t>1</a:t>
            </a:r>
          </a:p>
        </p:txBody>
      </p:sp>
      <p:sp>
        <p:nvSpPr>
          <p:cNvPr id="17" name="Rectangle 351"/>
          <p:cNvSpPr>
            <a:spLocks noChangeArrowheads="1"/>
          </p:cNvSpPr>
          <p:nvPr/>
        </p:nvSpPr>
        <p:spPr bwMode="auto">
          <a:xfrm>
            <a:off x="7616622" y="4780105"/>
            <a:ext cx="328936"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pPr>
              <a:spcBef>
                <a:spcPct val="20000"/>
              </a:spcBef>
            </a:pPr>
            <a:r>
              <a:rPr lang="en-US" altLang="zh-CN" sz="2000" b="1" dirty="0"/>
              <a:t>0</a:t>
            </a:r>
          </a:p>
        </p:txBody>
      </p:sp>
      <p:sp>
        <p:nvSpPr>
          <p:cNvPr id="18" name="Rectangle 352"/>
          <p:cNvSpPr>
            <a:spLocks noChangeArrowheads="1"/>
          </p:cNvSpPr>
          <p:nvPr/>
        </p:nvSpPr>
        <p:spPr bwMode="auto">
          <a:xfrm>
            <a:off x="7616622" y="5211905"/>
            <a:ext cx="328936"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pPr>
              <a:spcBef>
                <a:spcPct val="20000"/>
              </a:spcBef>
            </a:pPr>
            <a:r>
              <a:rPr lang="en-US" altLang="zh-CN" sz="2000" b="1" dirty="0"/>
              <a:t>0</a:t>
            </a:r>
          </a:p>
        </p:txBody>
      </p:sp>
      <p:sp>
        <p:nvSpPr>
          <p:cNvPr id="19" name="Rectangle 353"/>
          <p:cNvSpPr>
            <a:spLocks noChangeArrowheads="1"/>
          </p:cNvSpPr>
          <p:nvPr/>
        </p:nvSpPr>
        <p:spPr bwMode="auto">
          <a:xfrm>
            <a:off x="7616622" y="5572268"/>
            <a:ext cx="423863"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pPr>
              <a:spcBef>
                <a:spcPct val="20000"/>
              </a:spcBef>
            </a:pPr>
            <a:r>
              <a:rPr lang="en-US" altLang="zh-CN" sz="2000" b="1">
                <a:solidFill>
                  <a:srgbClr val="0000CC"/>
                </a:solidFill>
              </a:rPr>
              <a:t>1*</a:t>
            </a:r>
          </a:p>
        </p:txBody>
      </p:sp>
      <p:sp>
        <p:nvSpPr>
          <p:cNvPr id="20" name="Rectangle 354"/>
          <p:cNvSpPr>
            <a:spLocks noChangeArrowheads="1"/>
          </p:cNvSpPr>
          <p:nvPr/>
        </p:nvSpPr>
        <p:spPr bwMode="auto">
          <a:xfrm>
            <a:off x="7624560" y="6004068"/>
            <a:ext cx="423862"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pPr>
              <a:spcBef>
                <a:spcPct val="20000"/>
              </a:spcBef>
            </a:pPr>
            <a:r>
              <a:rPr lang="en-US" altLang="zh-CN" sz="2000" b="1">
                <a:solidFill>
                  <a:srgbClr val="0000CC"/>
                </a:solidFill>
              </a:rPr>
              <a:t>1*</a:t>
            </a:r>
          </a:p>
        </p:txBody>
      </p:sp>
      <p:sp>
        <p:nvSpPr>
          <p:cNvPr id="21" name="Text Box 355"/>
          <p:cNvSpPr txBox="1">
            <a:spLocks noChangeArrowheads="1"/>
          </p:cNvSpPr>
          <p:nvPr/>
        </p:nvSpPr>
        <p:spPr bwMode="auto">
          <a:xfrm>
            <a:off x="8335760" y="4203843"/>
            <a:ext cx="865187"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zh-CN" altLang="en-US">
                <a:solidFill>
                  <a:srgbClr val="FF0000"/>
                </a:solidFill>
                <a:ea typeface="黑体" panose="02010609060101010101" pitchFamily="2" charset="-122"/>
              </a:rPr>
              <a:t>置</a:t>
            </a:r>
            <a:r>
              <a:rPr lang="en-US" altLang="zh-CN">
                <a:solidFill>
                  <a:srgbClr val="FF0000"/>
                </a:solidFill>
                <a:ea typeface="黑体" panose="02010609060101010101" pitchFamily="2" charset="-122"/>
              </a:rPr>
              <a:t>1</a:t>
            </a:r>
          </a:p>
        </p:txBody>
      </p:sp>
      <p:sp>
        <p:nvSpPr>
          <p:cNvPr id="22" name="Text Box 356"/>
          <p:cNvSpPr txBox="1">
            <a:spLocks noChangeArrowheads="1"/>
          </p:cNvSpPr>
          <p:nvPr/>
        </p:nvSpPr>
        <p:spPr bwMode="auto">
          <a:xfrm>
            <a:off x="8335760" y="4996005"/>
            <a:ext cx="865187"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zh-CN" altLang="en-US" dirty="0">
                <a:solidFill>
                  <a:srgbClr val="FF0000"/>
                </a:solidFill>
                <a:ea typeface="黑体" panose="02010609060101010101" pitchFamily="2" charset="-122"/>
              </a:rPr>
              <a:t>置</a:t>
            </a:r>
            <a:r>
              <a:rPr lang="en-US" altLang="zh-CN" dirty="0">
                <a:solidFill>
                  <a:srgbClr val="FF0000"/>
                </a:solidFill>
                <a:ea typeface="黑体" panose="02010609060101010101" pitchFamily="2" charset="-122"/>
              </a:rPr>
              <a:t>0</a:t>
            </a:r>
          </a:p>
        </p:txBody>
      </p:sp>
      <p:sp>
        <p:nvSpPr>
          <p:cNvPr id="23" name="Text Box 358"/>
          <p:cNvSpPr txBox="1">
            <a:spLocks noChangeArrowheads="1"/>
          </p:cNvSpPr>
          <p:nvPr/>
        </p:nvSpPr>
        <p:spPr bwMode="auto">
          <a:xfrm>
            <a:off x="8264322" y="5788168"/>
            <a:ext cx="865188"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zh-CN" altLang="en-US">
                <a:solidFill>
                  <a:srgbClr val="FF0000"/>
                </a:solidFill>
                <a:ea typeface="黑体" panose="02010609060101010101" pitchFamily="2" charset="-122"/>
              </a:rPr>
              <a:t>不定</a:t>
            </a:r>
          </a:p>
        </p:txBody>
      </p:sp>
      <p:sp>
        <p:nvSpPr>
          <p:cNvPr id="24" name="TextBox 3"/>
          <p:cNvSpPr txBox="1"/>
          <p:nvPr/>
        </p:nvSpPr>
        <p:spPr>
          <a:xfrm>
            <a:off x="3053164" y="3021514"/>
            <a:ext cx="328936" cy="400110"/>
          </a:xfrm>
          <a:prstGeom prst="rect">
            <a:avLst/>
          </a:prstGeom>
          <a:noFill/>
        </p:spPr>
        <p:txBody>
          <a:bodyPr wrap="none" rtlCol="0">
            <a:spAutoFit/>
          </a:bodyPr>
          <a:lstStyle/>
          <a:p>
            <a:r>
              <a:rPr lang="en-US" altLang="zh-CN" sz="2000" b="1" dirty="0" smtClean="0">
                <a:solidFill>
                  <a:srgbClr val="C00000"/>
                </a:solidFill>
              </a:rPr>
              <a:t>1</a:t>
            </a:r>
            <a:endParaRPr lang="zh-CN" altLang="en-US" sz="2000" b="1" dirty="0">
              <a:solidFill>
                <a:srgbClr val="C00000"/>
              </a:solidFill>
            </a:endParaRPr>
          </a:p>
        </p:txBody>
      </p:sp>
      <p:sp>
        <p:nvSpPr>
          <p:cNvPr id="25" name="TextBox 24"/>
          <p:cNvSpPr txBox="1"/>
          <p:nvPr/>
        </p:nvSpPr>
        <p:spPr>
          <a:xfrm>
            <a:off x="3054733" y="4708435"/>
            <a:ext cx="328936" cy="400110"/>
          </a:xfrm>
          <a:prstGeom prst="rect">
            <a:avLst/>
          </a:prstGeom>
          <a:noFill/>
        </p:spPr>
        <p:txBody>
          <a:bodyPr wrap="none" rtlCol="0">
            <a:spAutoFit/>
          </a:bodyPr>
          <a:lstStyle/>
          <a:p>
            <a:r>
              <a:rPr lang="en-US" altLang="zh-CN" sz="2000" b="1" dirty="0" smtClean="0">
                <a:solidFill>
                  <a:srgbClr val="C00000"/>
                </a:solidFill>
              </a:rPr>
              <a:t>1</a:t>
            </a:r>
            <a:endParaRPr lang="zh-CN" altLang="en-US" sz="2000" b="1" dirty="0">
              <a:solidFill>
                <a:srgbClr val="C00000"/>
              </a:solidFill>
            </a:endParaRPr>
          </a:p>
        </p:txBody>
      </p:sp>
      <p:sp>
        <p:nvSpPr>
          <p:cNvPr id="26" name="TextBox 28"/>
          <p:cNvSpPr txBox="1"/>
          <p:nvPr/>
        </p:nvSpPr>
        <p:spPr>
          <a:xfrm>
            <a:off x="931232" y="4908490"/>
            <a:ext cx="328936" cy="400110"/>
          </a:xfrm>
          <a:prstGeom prst="rect">
            <a:avLst/>
          </a:prstGeom>
          <a:noFill/>
        </p:spPr>
        <p:txBody>
          <a:bodyPr wrap="none" rtlCol="0">
            <a:spAutoFit/>
          </a:bodyPr>
          <a:lstStyle/>
          <a:p>
            <a:r>
              <a:rPr lang="en-US" altLang="zh-CN" sz="2000" b="1" dirty="0" smtClean="0">
                <a:solidFill>
                  <a:srgbClr val="0000CC"/>
                </a:solidFill>
              </a:rPr>
              <a:t>0</a:t>
            </a:r>
            <a:endParaRPr lang="zh-CN" altLang="en-US" sz="2000" b="1" dirty="0">
              <a:solidFill>
                <a:srgbClr val="0000CC"/>
              </a:solidFill>
            </a:endParaRPr>
          </a:p>
        </p:txBody>
      </p:sp>
      <p:sp>
        <p:nvSpPr>
          <p:cNvPr id="27" name="TextBox 29"/>
          <p:cNvSpPr txBox="1"/>
          <p:nvPr/>
        </p:nvSpPr>
        <p:spPr>
          <a:xfrm>
            <a:off x="856146" y="2719934"/>
            <a:ext cx="328936" cy="400110"/>
          </a:xfrm>
          <a:prstGeom prst="rect">
            <a:avLst/>
          </a:prstGeom>
          <a:noFill/>
        </p:spPr>
        <p:txBody>
          <a:bodyPr wrap="none" rtlCol="0">
            <a:spAutoFit/>
          </a:bodyPr>
          <a:lstStyle/>
          <a:p>
            <a:r>
              <a:rPr lang="en-US" altLang="zh-CN" sz="2000" b="1" dirty="0" smtClean="0">
                <a:solidFill>
                  <a:srgbClr val="0000CC"/>
                </a:solidFill>
              </a:rPr>
              <a:t>0</a:t>
            </a:r>
            <a:endParaRPr lang="zh-CN" altLang="en-US" sz="2000" b="1" dirty="0">
              <a:solidFill>
                <a:srgbClr val="0000CC"/>
              </a:solidFill>
            </a:endParaRPr>
          </a:p>
        </p:txBody>
      </p:sp>
      <p:cxnSp>
        <p:nvCxnSpPr>
          <p:cNvPr id="28" name="肘形连接符 27"/>
          <p:cNvCxnSpPr/>
          <p:nvPr/>
        </p:nvCxnSpPr>
        <p:spPr bwMode="auto">
          <a:xfrm flipV="1">
            <a:off x="272499" y="2919989"/>
            <a:ext cx="348172" cy="249725"/>
          </a:xfrm>
          <a:prstGeom prst="bentConnector3">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 name="肘形连接符 28"/>
          <p:cNvCxnSpPr/>
          <p:nvPr/>
        </p:nvCxnSpPr>
        <p:spPr bwMode="auto">
          <a:xfrm flipV="1">
            <a:off x="199444" y="5020468"/>
            <a:ext cx="348172" cy="249725"/>
          </a:xfrm>
          <a:prstGeom prst="bentConnector3">
            <a:avLst/>
          </a:prstGeom>
          <a:ln w="381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0" name="Text Box 359"/>
          <p:cNvSpPr txBox="1">
            <a:spLocks noChangeArrowheads="1"/>
          </p:cNvSpPr>
          <p:nvPr/>
        </p:nvSpPr>
        <p:spPr bwMode="auto">
          <a:xfrm>
            <a:off x="4427984" y="6491287"/>
            <a:ext cx="4716016"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p>
            <a:pPr>
              <a:spcBef>
                <a:spcPct val="50000"/>
              </a:spcBef>
            </a:pPr>
            <a:r>
              <a:rPr lang="zh-CN" altLang="en-US" sz="1800" b="1" dirty="0">
                <a:solidFill>
                  <a:srgbClr val="FF0000"/>
                </a:solidFill>
                <a:latin typeface="楷体_GB2312" pitchFamily="49" charset="-122"/>
                <a:ea typeface="楷体_GB2312" pitchFamily="49" charset="-122"/>
              </a:rPr>
              <a:t>注：</a:t>
            </a:r>
            <a:r>
              <a:rPr lang="zh-CN" altLang="en-US" sz="1800" dirty="0">
                <a:solidFill>
                  <a:srgbClr val="FF0000"/>
                </a:solidFill>
              </a:rPr>
              <a:t>    </a:t>
            </a:r>
            <a:r>
              <a:rPr lang="zh-CN" altLang="en-US" sz="1800" b="1" dirty="0">
                <a:solidFill>
                  <a:srgbClr val="FF0000"/>
                </a:solidFill>
                <a:latin typeface="楷体_GB2312" pitchFamily="49" charset="-122"/>
                <a:ea typeface="楷体_GB2312" pitchFamily="49" charset="-122"/>
              </a:rPr>
              <a:t>和   的</a:t>
            </a:r>
            <a:r>
              <a:rPr lang="en-US" altLang="zh-CN" sz="1800" b="1" dirty="0">
                <a:solidFill>
                  <a:srgbClr val="FF0000"/>
                </a:solidFill>
                <a:latin typeface="楷体_GB2312" pitchFamily="49" charset="-122"/>
                <a:ea typeface="楷体_GB2312" pitchFamily="49" charset="-122"/>
              </a:rPr>
              <a:t>0</a:t>
            </a:r>
            <a:r>
              <a:rPr lang="zh-CN" altLang="en-US" sz="1800" b="1" dirty="0">
                <a:solidFill>
                  <a:srgbClr val="FF0000"/>
                </a:solidFill>
                <a:latin typeface="楷体_GB2312" pitchFamily="49" charset="-122"/>
                <a:ea typeface="楷体_GB2312" pitchFamily="49" charset="-122"/>
              </a:rPr>
              <a:t>状态同时消失后状态将不定。</a:t>
            </a:r>
            <a:r>
              <a:rPr lang="zh-CN" altLang="en-US" sz="1800" b="1" dirty="0">
                <a:latin typeface="楷体_GB2312" pitchFamily="49" charset="-122"/>
                <a:ea typeface="楷体_GB2312" pitchFamily="49" charset="-122"/>
              </a:rPr>
              <a:t> </a:t>
            </a:r>
          </a:p>
        </p:txBody>
      </p:sp>
      <p:sp>
        <p:nvSpPr>
          <p:cNvPr id="33" name="TextBox 24"/>
          <p:cNvSpPr txBox="1"/>
          <p:nvPr/>
        </p:nvSpPr>
        <p:spPr>
          <a:xfrm>
            <a:off x="861431" y="2687962"/>
            <a:ext cx="328936" cy="400110"/>
          </a:xfrm>
          <a:prstGeom prst="rect">
            <a:avLst/>
          </a:prstGeom>
          <a:noFill/>
        </p:spPr>
        <p:txBody>
          <a:bodyPr wrap="none" rtlCol="0">
            <a:spAutoFit/>
          </a:bodyPr>
          <a:lstStyle/>
          <a:p>
            <a:r>
              <a:rPr lang="en-US" altLang="zh-CN" sz="2000" b="1" dirty="0" smtClean="0">
                <a:solidFill>
                  <a:srgbClr val="C00000"/>
                </a:solidFill>
              </a:rPr>
              <a:t>1</a:t>
            </a:r>
            <a:endParaRPr lang="zh-CN" altLang="en-US" sz="2000" b="1" dirty="0">
              <a:solidFill>
                <a:srgbClr val="C00000"/>
              </a:solidFill>
            </a:endParaRPr>
          </a:p>
        </p:txBody>
      </p:sp>
      <p:sp>
        <p:nvSpPr>
          <p:cNvPr id="34" name="TextBox 28"/>
          <p:cNvSpPr txBox="1"/>
          <p:nvPr/>
        </p:nvSpPr>
        <p:spPr>
          <a:xfrm>
            <a:off x="2086292" y="2919989"/>
            <a:ext cx="328936" cy="400110"/>
          </a:xfrm>
          <a:prstGeom prst="rect">
            <a:avLst/>
          </a:prstGeom>
          <a:noFill/>
        </p:spPr>
        <p:txBody>
          <a:bodyPr wrap="none" rtlCol="0">
            <a:spAutoFit/>
          </a:bodyPr>
          <a:lstStyle/>
          <a:p>
            <a:r>
              <a:rPr lang="en-US" altLang="zh-CN" sz="2000" b="1" dirty="0" smtClean="0">
                <a:solidFill>
                  <a:srgbClr val="0000CC"/>
                </a:solidFill>
              </a:rPr>
              <a:t>0</a:t>
            </a:r>
            <a:endParaRPr lang="zh-CN" altLang="en-US" sz="2000" b="1" dirty="0">
              <a:solidFill>
                <a:srgbClr val="0000CC"/>
              </a:solidFill>
            </a:endParaRPr>
          </a:p>
        </p:txBody>
      </p:sp>
      <p:sp>
        <p:nvSpPr>
          <p:cNvPr id="35" name="TextBox 28"/>
          <p:cNvSpPr txBox="1"/>
          <p:nvPr/>
        </p:nvSpPr>
        <p:spPr>
          <a:xfrm>
            <a:off x="2611629" y="2966084"/>
            <a:ext cx="328936" cy="400110"/>
          </a:xfrm>
          <a:prstGeom prst="rect">
            <a:avLst/>
          </a:prstGeom>
          <a:noFill/>
        </p:spPr>
        <p:txBody>
          <a:bodyPr wrap="none" rtlCol="0">
            <a:spAutoFit/>
          </a:bodyPr>
          <a:lstStyle/>
          <a:p>
            <a:r>
              <a:rPr lang="en-US" altLang="zh-CN" sz="2000" b="1" dirty="0" smtClean="0">
                <a:solidFill>
                  <a:srgbClr val="0000CC"/>
                </a:solidFill>
              </a:rPr>
              <a:t>0</a:t>
            </a:r>
            <a:endParaRPr lang="zh-CN" altLang="en-US" sz="2000" b="1" dirty="0">
              <a:solidFill>
                <a:srgbClr val="0000CC"/>
              </a:solidFill>
            </a:endParaRPr>
          </a:p>
        </p:txBody>
      </p:sp>
      <p:sp>
        <p:nvSpPr>
          <p:cNvPr id="36" name="TextBox 3"/>
          <p:cNvSpPr txBox="1"/>
          <p:nvPr/>
        </p:nvSpPr>
        <p:spPr>
          <a:xfrm>
            <a:off x="2033926" y="4687735"/>
            <a:ext cx="328936" cy="400110"/>
          </a:xfrm>
          <a:prstGeom prst="rect">
            <a:avLst/>
          </a:prstGeom>
          <a:noFill/>
        </p:spPr>
        <p:txBody>
          <a:bodyPr wrap="none" rtlCol="0">
            <a:spAutoFit/>
          </a:bodyPr>
          <a:lstStyle/>
          <a:p>
            <a:r>
              <a:rPr lang="en-US" altLang="zh-CN" sz="2000" b="1" dirty="0" smtClean="0">
                <a:solidFill>
                  <a:srgbClr val="C00000"/>
                </a:solidFill>
              </a:rPr>
              <a:t>1</a:t>
            </a:r>
            <a:endParaRPr lang="zh-CN" altLang="en-US" sz="2000" b="1" dirty="0">
              <a:solidFill>
                <a:srgbClr val="C00000"/>
              </a:solidFill>
            </a:endParaRPr>
          </a:p>
        </p:txBody>
      </p:sp>
      <p:sp>
        <p:nvSpPr>
          <p:cNvPr id="37" name="矩形 36"/>
          <p:cNvSpPr/>
          <p:nvPr/>
        </p:nvSpPr>
        <p:spPr>
          <a:xfrm>
            <a:off x="2686171" y="2966084"/>
            <a:ext cx="714541" cy="477078"/>
          </a:xfrm>
          <a:prstGeom prst="rect">
            <a:avLst/>
          </a:prstGeom>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dirty="0"/>
          </a:p>
        </p:txBody>
      </p:sp>
      <p:sp>
        <p:nvSpPr>
          <p:cNvPr id="38" name="TextBox 3"/>
          <p:cNvSpPr txBox="1"/>
          <p:nvPr/>
        </p:nvSpPr>
        <p:spPr>
          <a:xfrm>
            <a:off x="2907937" y="4691379"/>
            <a:ext cx="328936" cy="400110"/>
          </a:xfrm>
          <a:prstGeom prst="rect">
            <a:avLst/>
          </a:prstGeom>
          <a:noFill/>
        </p:spPr>
        <p:txBody>
          <a:bodyPr wrap="none" rtlCol="0">
            <a:spAutoFit/>
          </a:bodyPr>
          <a:lstStyle/>
          <a:p>
            <a:r>
              <a:rPr lang="en-US" altLang="zh-CN" sz="2000" b="1" dirty="0" smtClean="0">
                <a:solidFill>
                  <a:srgbClr val="C00000"/>
                </a:solidFill>
              </a:rPr>
              <a:t>1</a:t>
            </a:r>
            <a:endParaRPr lang="zh-CN" altLang="en-US" sz="2000" b="1" dirty="0">
              <a:solidFill>
                <a:srgbClr val="C00000"/>
              </a:solidFill>
            </a:endParaRPr>
          </a:p>
        </p:txBody>
      </p:sp>
      <p:sp>
        <p:nvSpPr>
          <p:cNvPr id="39" name="TextBox 28"/>
          <p:cNvSpPr txBox="1"/>
          <p:nvPr/>
        </p:nvSpPr>
        <p:spPr>
          <a:xfrm>
            <a:off x="885918" y="4876518"/>
            <a:ext cx="328936" cy="400110"/>
          </a:xfrm>
          <a:prstGeom prst="rect">
            <a:avLst/>
          </a:prstGeom>
          <a:noFill/>
        </p:spPr>
        <p:txBody>
          <a:bodyPr wrap="none" rtlCol="0">
            <a:spAutoFit/>
          </a:bodyPr>
          <a:lstStyle/>
          <a:p>
            <a:r>
              <a:rPr lang="en-US" altLang="zh-CN" sz="2000" b="1" dirty="0" smtClean="0">
                <a:solidFill>
                  <a:srgbClr val="0000CC"/>
                </a:solidFill>
              </a:rPr>
              <a:t>1</a:t>
            </a:r>
            <a:endParaRPr lang="zh-CN" altLang="en-US" sz="2000" b="1" dirty="0">
              <a:solidFill>
                <a:srgbClr val="0000CC"/>
              </a:solidFill>
            </a:endParaRPr>
          </a:p>
        </p:txBody>
      </p:sp>
      <p:sp>
        <p:nvSpPr>
          <p:cNvPr id="41" name="标题 1"/>
          <p:cNvSpPr>
            <a:spLocks noGrp="1"/>
          </p:cNvSpPr>
          <p:nvPr>
            <p:ph type="title"/>
          </p:nvPr>
        </p:nvSpPr>
        <p:spPr>
          <a:xfrm>
            <a:off x="1043608" y="1124744"/>
            <a:ext cx="7704856" cy="566936"/>
          </a:xfrm>
        </p:spPr>
        <p:txBody>
          <a:bodyPr/>
          <a:lstStyle/>
          <a:p>
            <a:r>
              <a:rPr lang="en-US" altLang="zh-CN" dirty="0" smtClean="0"/>
              <a:t>5.1.1 </a:t>
            </a:r>
            <a:r>
              <a:rPr lang="zh-CN" altLang="en-US" dirty="0" smtClean="0"/>
              <a:t>由与非门构成的基本</a:t>
            </a:r>
            <a:r>
              <a:rPr lang="en-US" altLang="zh-CN" dirty="0"/>
              <a:t>RS</a:t>
            </a:r>
            <a:r>
              <a:rPr lang="zh-CN" altLang="en-US" dirty="0"/>
              <a:t>触发器</a:t>
            </a:r>
          </a:p>
        </p:txBody>
      </p:sp>
      <p:sp>
        <p:nvSpPr>
          <p:cNvPr id="42" name="标题 1"/>
          <p:cNvSpPr txBox="1">
            <a:spLocks/>
          </p:cNvSpPr>
          <p:nvPr/>
        </p:nvSpPr>
        <p:spPr bwMode="auto">
          <a:xfrm>
            <a:off x="1043608" y="332656"/>
            <a:ext cx="7704856" cy="5669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5.1 </a:t>
            </a:r>
            <a:r>
              <a:rPr kumimoji="1" lang="zh-CN" altLang="en-US" sz="3200" b="1" kern="0" dirty="0" smtClean="0">
                <a:solidFill>
                  <a:schemeClr val="tx2"/>
                </a:solidFill>
                <a:latin typeface="+mj-lt"/>
                <a:ea typeface="+mj-ea"/>
                <a:cs typeface="+mj-cs"/>
              </a:rPr>
              <a:t>电平触发的</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触发器</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graphicFrame>
        <p:nvGraphicFramePr>
          <p:cNvPr id="128057" name="Object 57"/>
          <p:cNvGraphicFramePr>
            <a:graphicFrameLocks noChangeAspect="1"/>
          </p:cNvGraphicFramePr>
          <p:nvPr/>
        </p:nvGraphicFramePr>
        <p:xfrm>
          <a:off x="5508104" y="2852936"/>
          <a:ext cx="288925" cy="382588"/>
        </p:xfrm>
        <a:graphic>
          <a:graphicData uri="http://schemas.openxmlformats.org/presentationml/2006/ole">
            <p:oleObj spid="_x0000_s128057" r:id="rId6" imgW="152280" imgH="203040" progId="">
              <p:embed/>
            </p:oleObj>
          </a:graphicData>
        </a:graphic>
      </p:graphicFrame>
      <p:graphicFrame>
        <p:nvGraphicFramePr>
          <p:cNvPr id="128058" name="Object 58"/>
          <p:cNvGraphicFramePr>
            <a:graphicFrameLocks noChangeAspect="1"/>
          </p:cNvGraphicFramePr>
          <p:nvPr/>
        </p:nvGraphicFramePr>
        <p:xfrm>
          <a:off x="6156176" y="2852936"/>
          <a:ext cx="313698" cy="360040"/>
        </p:xfrm>
        <a:graphic>
          <a:graphicData uri="http://schemas.openxmlformats.org/presentationml/2006/ole">
            <p:oleObj spid="_x0000_s128058" r:id="rId7" imgW="164880" imgH="190440" progId="">
              <p:embed/>
            </p:oleObj>
          </a:graphicData>
        </a:graphic>
      </p:graphicFrame>
      <p:graphicFrame>
        <p:nvGraphicFramePr>
          <p:cNvPr id="128059" name="Object 59"/>
          <p:cNvGraphicFramePr>
            <a:graphicFrameLocks noChangeAspect="1"/>
          </p:cNvGraphicFramePr>
          <p:nvPr/>
        </p:nvGraphicFramePr>
        <p:xfrm>
          <a:off x="4932040" y="6525344"/>
          <a:ext cx="251217" cy="332656"/>
        </p:xfrm>
        <a:graphic>
          <a:graphicData uri="http://schemas.openxmlformats.org/presentationml/2006/ole">
            <p:oleObj spid="_x0000_s128059" r:id="rId8" imgW="152280" imgH="203040" progId="">
              <p:embed/>
            </p:oleObj>
          </a:graphicData>
        </a:graphic>
      </p:graphicFrame>
      <p:graphicFrame>
        <p:nvGraphicFramePr>
          <p:cNvPr id="128060" name="Object 60"/>
          <p:cNvGraphicFramePr>
            <a:graphicFrameLocks noChangeAspect="1"/>
          </p:cNvGraphicFramePr>
          <p:nvPr/>
        </p:nvGraphicFramePr>
        <p:xfrm>
          <a:off x="5508302" y="6499225"/>
          <a:ext cx="279400" cy="320675"/>
        </p:xfrm>
        <a:graphic>
          <a:graphicData uri="http://schemas.openxmlformats.org/presentationml/2006/ole">
            <p:oleObj spid="_x0000_s128060" r:id="rId9" imgW="164880" imgH="190440" progId="">
              <p:embed/>
            </p:oleObj>
          </a:graphicData>
        </a:graphic>
      </p:graphicFrame>
    </p:spTree>
    <p:extLst>
      <p:ext uri="{BB962C8B-B14F-4D97-AF65-F5344CB8AC3E}">
        <p14:creationId xmlns:p14="http://schemas.microsoft.com/office/powerpoint/2010/main" xmlns="" val="10572541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hidden"/>
                                      </p:to>
                                    </p:set>
                                  </p:childTnLst>
                                </p:cTn>
                              </p:par>
                              <p:par>
                                <p:cTn id="7" presetID="1" presetClass="entr" presetSubtype="0" fill="hold" grpId="0" nodeType="withEffect">
                                  <p:stCondLst>
                                    <p:cond delay="0"/>
                                  </p:stCondLst>
                                  <p:childTnLst>
                                    <p:set>
                                      <p:cBhvr>
                                        <p:cTn id="8" dur="1" fill="hold">
                                          <p:stCondLst>
                                            <p:cond delay="0"/>
                                          </p:stCondLst>
                                        </p:cTn>
                                        <p:tgtEl>
                                          <p:spTgt spid="3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8"/>
                                        </p:tgtEl>
                                        <p:attrNameLst>
                                          <p:attrName>style.visibility</p:attrName>
                                        </p:attrNameLst>
                                      </p:cBhvr>
                                      <p:to>
                                        <p:strVal val="visible"/>
                                      </p:to>
                                    </p:set>
                                  </p:childTnLst>
                                </p:cTn>
                              </p:par>
                              <p:par>
                                <p:cTn id="13" presetID="0" presetClass="path" presetSubtype="0" accel="50000" decel="50000" fill="hold" grpId="1" nodeType="withEffect">
                                  <p:stCondLst>
                                    <p:cond delay="0"/>
                                  </p:stCondLst>
                                  <p:childTnLst>
                                    <p:animMotion origin="layout" path="M -0.01476 0.00602 L -0.01476 0.00625 C -0.01875 0.00232 -0.01858 0.00232 -0.02205 -4.44444E-6 C -0.02413 -0.00138 -0.02361 -0.00069 -0.02604 -0.00208 C -0.02656 -0.00231 -0.02709 -0.00277 -0.02761 -0.003 C -0.02952 -0.00347 -0.03143 -0.0037 -0.03316 -0.00393 C -0.03351 -0.01435 -0.03351 -0.02453 -0.03386 -0.03495 C -0.03386 -0.03588 -0.0342 -0.0368 -0.03438 -0.03796 C -0.03472 -0.04027 -0.03507 -0.04259 -0.03559 -0.0449 C -0.03559 -0.04814 -0.03577 -0.05138 -0.03611 -0.05486 C -0.03611 -0.05717 -0.03559 -0.06018 -0.03663 -0.0618 C -0.03768 -0.06365 -0.04115 -0.06365 -0.04115 -0.06342 C -0.04184 -0.06481 -0.04254 -0.06597 -0.04341 -0.06666 C -0.04393 -0.06713 -0.04445 -0.06736 -0.04497 -0.06759 C -0.04584 -0.06828 -0.04653 -0.06898 -0.04722 -0.06967 C -0.04931 -0.07175 -0.04861 -0.07199 -0.05122 -0.07361 C -0.05191 -0.07407 -0.05261 -0.0743 -0.0533 -0.07476 C -0.05608 -0.07777 -0.05434 -0.07615 -0.05851 -0.0787 L -0.06007 -0.07963 C -0.06736 -0.08935 -0.05851 -0.07824 -0.06406 -0.08356 C -0.06528 -0.08472 -0.06632 -0.08634 -0.06736 -0.0875 C -0.06788 -0.08819 -0.06858 -0.08912 -0.0691 -0.08958 C -0.07101 -0.09074 -0.07101 -0.0905 -0.07309 -0.09259 C -0.07361 -0.09305 -0.07413 -0.09398 -0.07483 -0.09444 C -0.07518 -0.0949 -0.07587 -0.09513 -0.07639 -0.0956 C -0.07761 -0.09675 -0.07882 -0.09791 -0.07969 -0.09953 C -0.08038 -0.10046 -0.08073 -0.10185 -0.08143 -0.10254 C -0.08247 -0.10347 -0.08368 -0.10347 -0.08472 -0.10439 C -0.08611 -0.10625 -0.08768 -0.10856 -0.08924 -0.10949 C -0.08976 -0.10972 -0.09028 -0.10995 -0.0908 -0.11041 C -0.0915 -0.11111 -0.09202 -0.11203 -0.09254 -0.1125 C -0.09375 -0.11319 -0.09601 -0.11435 -0.09601 -0.11412 C -0.09879 -0.11782 -0.09653 -0.1155 -0.10104 -0.11851 C -0.10191 -0.11898 -0.10278 -0.1199 -0.10382 -0.12037 C -0.10452 -0.12083 -0.10538 -0.12083 -0.10608 -0.12129 C -0.10677 -0.12199 -0.10747 -0.12268 -0.10834 -0.12338 C -0.11216 -0.13009 -0.10764 -0.12338 -0.11233 -0.12731 C -0.11302 -0.128 -0.11372 -0.12939 -0.11441 -0.13032 C -0.11545 -0.13171 -0.11667 -0.1331 -0.11788 -0.13425 C -0.11841 -0.13495 -0.11893 -0.13588 -0.11945 -0.13634 C -0.12014 -0.13703 -0.12101 -0.1375 -0.1217 -0.13819 C -0.12518 -0.14213 -0.12344 -0.14236 -0.1283 -0.14537 C -0.13247 -0.14768 -0.12743 -0.14467 -0.13247 -0.14814 C -0.13299 -0.14861 -0.13351 -0.14884 -0.13403 -0.1493 C -0.13455 -0.14976 -0.13507 -0.15069 -0.13559 -0.15115 C -0.13611 -0.15162 -0.13681 -0.15185 -0.13733 -0.15231 C -0.13802 -0.15277 -0.13837 -0.1537 -0.13906 -0.15416 C -0.14045 -0.15509 -0.14202 -0.15532 -0.14358 -0.15625 C -0.1441 -0.15648 -0.14462 -0.15694 -0.14514 -0.15717 C -0.14688 -0.15763 -0.14861 -0.15787 -0.15018 -0.1581 C -0.15104 -0.15856 -0.15226 -0.15787 -0.15243 -0.15925 C -0.15278 -0.16134 -0.15174 -0.18634 -0.15139 -0.19097 C -0.15122 -0.19398 -0.15122 -0.19699 -0.1507 -0.2 C -0.1507 -0.20069 -0.14983 -0.20578 -0.14913 -0.20601 C -0.13889 -0.20694 -0.12865 -0.20601 -0.11841 -0.20601 " pathEditMode="relative" rAng="0" ptsTypes="AAAAAAAAAAAAAAAAAAAAAAAAAAAAAAAAAAAAAAAAAAAAAAAAAAAAAAA">
                                      <p:cBhvr>
                                        <p:cTn id="14" dur="1000" fill="hold"/>
                                        <p:tgtEl>
                                          <p:spTgt spid="38"/>
                                        </p:tgtEl>
                                        <p:attrNameLst>
                                          <p:attrName>ppt_x</p:attrName>
                                          <p:attrName>ppt_y</p:attrName>
                                        </p:attrNameLst>
                                      </p:cBhvr>
                                      <p:rCtr x="-6892" y="-10625"/>
                                    </p:animMotion>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1" nodeType="clickEffect">
                                  <p:stCondLst>
                                    <p:cond delay="0"/>
                                  </p:stCondLst>
                                  <p:childTnLst>
                                    <p:set>
                                      <p:cBhvr>
                                        <p:cTn id="18" dur="1" fill="hold">
                                          <p:stCondLst>
                                            <p:cond delay="0"/>
                                          </p:stCondLst>
                                        </p:cTn>
                                        <p:tgtEl>
                                          <p:spTgt spid="34"/>
                                        </p:tgtEl>
                                        <p:attrNameLst>
                                          <p:attrName>style.visibility</p:attrName>
                                        </p:attrNameLst>
                                      </p:cBhvr>
                                      <p:to>
                                        <p:strVal val="visible"/>
                                      </p:to>
                                    </p:set>
                                  </p:childTnLst>
                                </p:cTn>
                              </p:par>
                              <p:par>
                                <p:cTn id="19" presetID="0" presetClass="path" presetSubtype="0" accel="50000" decel="50000" fill="hold" grpId="0" nodeType="withEffect">
                                  <p:stCondLst>
                                    <p:cond delay="0"/>
                                  </p:stCondLst>
                                  <p:childTnLst>
                                    <p:animMotion origin="layout" path="M 3.05556E-6 -1.11111E-6 L 3.05556E-6 0.00023 C 0.00451 0.00023 0.0092 0.00046 0.01389 0.00093 C 0.01493 0.00116 0.01614 0.00162 0.01736 0.00185 C 0.01979 0.00232 0.02257 0.00255 0.02517 0.00301 L 0.0368 0.00185 C 0.03906 0.00162 0.04132 0.00139 0.04357 0.00093 C 0.04982 -0.00046 0.03854 -1.11111E-6 0.04809 -1.11111E-6 " pathEditMode="relative" rAng="0" ptsTypes="AAAAAAAA">
                                      <p:cBhvr>
                                        <p:cTn id="20" dur="1000" fill="hold"/>
                                        <p:tgtEl>
                                          <p:spTgt spid="34"/>
                                        </p:tgtEl>
                                        <p:attrNameLst>
                                          <p:attrName>ppt_x</p:attrName>
                                          <p:attrName>ppt_y</p:attrName>
                                        </p:attrNameLst>
                                      </p:cBhvr>
                                      <p:rCtr x="2396" y="139"/>
                                    </p:animMotion>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2" nodeType="clickEffect">
                                  <p:stCondLst>
                                    <p:cond delay="0"/>
                                  </p:stCondLst>
                                  <p:childTnLst>
                                    <p:set>
                                      <p:cBhvr>
                                        <p:cTn id="24" dur="1" fill="hold">
                                          <p:stCondLst>
                                            <p:cond delay="0"/>
                                          </p:stCondLst>
                                        </p:cTn>
                                        <p:tgtEl>
                                          <p:spTgt spid="35"/>
                                        </p:tgtEl>
                                        <p:attrNameLst>
                                          <p:attrName>style.visibility</p:attrName>
                                        </p:attrNameLst>
                                      </p:cBhvr>
                                      <p:to>
                                        <p:strVal val="visible"/>
                                      </p:to>
                                    </p:set>
                                  </p:childTnLst>
                                </p:cTn>
                              </p:par>
                              <p:par>
                                <p:cTn id="25" presetID="0" presetClass="path" presetSubtype="0" accel="50000" decel="50000" fill="hold" grpId="1" nodeType="withEffect">
                                  <p:stCondLst>
                                    <p:cond delay="0"/>
                                  </p:stCondLst>
                                  <p:childTnLst>
                                    <p:animMotion origin="layout" path="M -0.00694 0.01945 L -0.00694 0.01968 C -0.00729 0.02524 -0.00729 0.03125 -0.00764 0.03727 C -0.00764 0.0382 -0.00816 0.03912 -0.00816 0.04028 C -0.0085 0.0551 -0.00798 0.07014 -0.00868 0.08496 C -0.00885 0.08635 -0.00972 0.08727 -0.01041 0.08797 C -0.01128 0.08889 -0.01198 0.08912 -0.01267 0.09005 C -0.01562 0.09375 -0.01319 0.09237 -0.01597 0.09491 C -0.01649 0.09537 -0.01719 0.09537 -0.01771 0.09607 C -0.01892 0.09723 -0.01979 0.09931 -0.02118 0.1 C -0.02378 0.10162 -0.02621 0.10301 -0.02899 0.10394 C -0.03107 0.10463 -0.0335 0.10487 -0.03559 0.10602 L -0.03958 0.10787 C -0.04097 0.10857 -0.04253 0.10903 -0.04409 0.10996 L -0.04739 0.11181 C -0.04791 0.11227 -0.04844 0.11274 -0.04913 0.11297 C -0.05416 0.11505 -0.05208 0.11412 -0.05521 0.11598 C -0.05659 0.11783 -0.05955 0.12153 -0.06076 0.12292 L -0.06528 0.12686 C -0.06597 0.12755 -0.06684 0.12801 -0.06753 0.12894 L -0.07083 0.13287 C -0.07257 0.13473 -0.07274 0.13519 -0.07482 0.13681 C -0.07534 0.13727 -0.07587 0.1375 -0.07639 0.13774 C -0.07708 0.13889 -0.07743 0.14005 -0.07812 0.14074 C -0.08003 0.14283 -0.0842 0.14399 -0.08611 0.14468 L -0.08941 0.14885 C -0.08993 0.14931 -0.09045 0.15024 -0.09097 0.1507 C -0.09184 0.15139 -0.09253 0.15209 -0.09323 0.15278 C -0.09392 0.15324 -0.09444 0.15417 -0.09496 0.15463 C -0.09548 0.1551 -0.09618 0.1551 -0.0967 0.15579 C -0.10243 0.16135 -0.09791 0.15834 -0.10173 0.16065 C -0.10225 0.16135 -0.10278 0.16227 -0.10347 0.16274 C -0.10486 0.16366 -0.10781 0.16459 -0.10781 0.16482 C -0.10937 0.16644 -0.11111 0.16737 -0.11232 0.16968 C -0.11337 0.17153 -0.11441 0.17362 -0.11562 0.17454 C -0.11649 0.17524 -0.11719 0.17524 -0.11805 0.1757 C -0.11909 0.17778 -0.11962 0.17917 -0.12118 0.18056 C -0.1217 0.18102 -0.12239 0.18125 -0.12291 0.18149 C -0.12326 0.18264 -0.12344 0.18357 -0.12344 0.18449 C -0.12344 0.19792 -0.12326 0.21112 -0.12291 0.22431 C -0.12291 0.22547 -0.12291 0.22709 -0.12239 0.22732 C -0.12066 0.22848 -0.11857 0.22801 -0.11684 0.22848 C -0.11232 0.22917 -0.10781 0.23033 -0.10347 0.23149 C -0.09826 0.23102 -0.09288 0.23102 -0.08767 0.23033 C -0.08715 0.23033 -0.08941 0.2294 -0.08941 0.22963 " pathEditMode="relative" rAng="0" ptsTypes="AAAAAAAAAAAAAAAAAAAAAAAAAAAAAAAAAAAAAAAAAAAAA">
                                      <p:cBhvr>
                                        <p:cTn id="26" dur="2000" fill="hold"/>
                                        <p:tgtEl>
                                          <p:spTgt spid="35"/>
                                        </p:tgtEl>
                                        <p:attrNameLst>
                                          <p:attrName>ppt_x</p:attrName>
                                          <p:attrName>ppt_y</p:attrName>
                                        </p:attrNameLst>
                                      </p:cBhvr>
                                      <p:rCtr x="-5833" y="10602"/>
                                    </p:animMotion>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5"/>
                                        </p:tgtEl>
                                        <p:attrNameLst>
                                          <p:attrName>style.visibility</p:attrName>
                                        </p:attrNameLst>
                                      </p:cBhvr>
                                      <p:to>
                                        <p:strVal val="visible"/>
                                      </p:to>
                                    </p:set>
                                  </p:childTnLst>
                                </p:cTn>
                              </p:par>
                              <p:par>
                                <p:cTn id="31" presetID="1" presetClass="entr" presetSubtype="0" fill="hold" grpId="1" nodeType="withEffect">
                                  <p:stCondLst>
                                    <p:cond delay="0"/>
                                  </p:stCondLst>
                                  <p:childTnLst>
                                    <p:set>
                                      <p:cBhvr>
                                        <p:cTn id="32" dur="1" fill="hold">
                                          <p:stCondLst>
                                            <p:cond delay="0"/>
                                          </p:stCondLst>
                                        </p:cTn>
                                        <p:tgtEl>
                                          <p:spTgt spid="36"/>
                                        </p:tgtEl>
                                        <p:attrNameLst>
                                          <p:attrName>style.visibility</p:attrName>
                                        </p:attrNameLst>
                                      </p:cBhvr>
                                      <p:to>
                                        <p:strVal val="visible"/>
                                      </p:to>
                                    </p:set>
                                  </p:childTnLst>
                                </p:cTn>
                              </p:par>
                              <p:par>
                                <p:cTn id="33" presetID="0" presetClass="path" presetSubtype="0" accel="50000" decel="50000" fill="hold" grpId="0" nodeType="withEffect">
                                  <p:stCondLst>
                                    <p:cond delay="0"/>
                                  </p:stCondLst>
                                  <p:childTnLst>
                                    <p:animMotion origin="layout" path="M 2.22222E-6 -1.48148E-6 L 2.22222E-6 0.00023 C 0.01406 0.00232 -0.00243 -1.48148E-6 0.02621 -1.48148E-6 C 0.02916 -1.48148E-6 0.03212 0.00046 0.03507 0.00093 C 0.04913 0.00301 0.04166 0.00278 0.04809 0.00278 " pathEditMode="relative" rAng="0" ptsTypes="AAAAA">
                                      <p:cBhvr>
                                        <p:cTn id="34" dur="2000" fill="hold"/>
                                        <p:tgtEl>
                                          <p:spTgt spid="36"/>
                                        </p:tgtEl>
                                        <p:attrNameLst>
                                          <p:attrName>ppt_x</p:attrName>
                                          <p:attrName>ppt_y</p:attrName>
                                        </p:attrNameLst>
                                      </p:cBhvr>
                                      <p:rCtr x="2396" y="139"/>
                                    </p:animMotion>
                                  </p:childTnLst>
                                </p:cTn>
                              </p:par>
                            </p:childTnLst>
                          </p:cTn>
                        </p:par>
                      </p:childTnLst>
                    </p:cTn>
                  </p:par>
                  <p:par>
                    <p:cTn id="35" fill="hold">
                      <p:stCondLst>
                        <p:cond delay="indefinite"/>
                      </p:stCondLst>
                      <p:childTnLst>
                        <p:par>
                          <p:cTn id="36" fill="hold">
                            <p:stCondLst>
                              <p:cond delay="0"/>
                            </p:stCondLst>
                            <p:childTnLst>
                              <p:par>
                                <p:cTn id="37" presetID="1" presetClass="exit" presetSubtype="0" fill="hold" grpId="0" nodeType="clickEffect">
                                  <p:stCondLst>
                                    <p:cond delay="0"/>
                                  </p:stCondLst>
                                  <p:childTnLst>
                                    <p:set>
                                      <p:cBhvr>
                                        <p:cTn id="38" dur="1" fill="hold">
                                          <p:stCondLst>
                                            <p:cond delay="0"/>
                                          </p:stCondLst>
                                        </p:cTn>
                                        <p:tgtEl>
                                          <p:spTgt spid="26"/>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7"/>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6" grpId="0"/>
      <p:bldP spid="27" grpId="0"/>
      <p:bldP spid="33" grpId="0"/>
      <p:bldP spid="34" grpId="0"/>
      <p:bldP spid="34" grpId="1"/>
      <p:bldP spid="35" grpId="0"/>
      <p:bldP spid="35" grpId="1"/>
      <p:bldP spid="35" grpId="2"/>
      <p:bldP spid="36" grpId="0"/>
      <p:bldP spid="36" grpId="1"/>
      <p:bldP spid="37" grpId="0" animBg="1"/>
      <p:bldP spid="38" grpId="0"/>
      <p:bldP spid="38" grpId="1"/>
      <p:bldP spid="39"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9893" name="Picture 1109"/>
          <p:cNvPicPr>
            <a:picLocks noChangeAspect="1" noChangeArrowheads="1"/>
          </p:cNvPicPr>
          <p:nvPr/>
        </p:nvPicPr>
        <p:blipFill>
          <a:blip r:embed="rId3" cstate="print"/>
          <a:srcRect/>
          <a:stretch>
            <a:fillRect/>
          </a:stretch>
        </p:blipFill>
        <p:spPr bwMode="auto">
          <a:xfrm>
            <a:off x="539552" y="1916832"/>
            <a:ext cx="8286750" cy="3895725"/>
          </a:xfrm>
          <a:prstGeom prst="rect">
            <a:avLst/>
          </a:prstGeom>
          <a:noFill/>
          <a:ln w="9525">
            <a:noFill/>
            <a:miter lim="800000"/>
            <a:headEnd/>
            <a:tailEnd/>
          </a:ln>
        </p:spPr>
      </p:pic>
      <p:sp>
        <p:nvSpPr>
          <p:cNvPr id="10" name="灯片编号占位符 9"/>
          <p:cNvSpPr>
            <a:spLocks noGrp="1"/>
          </p:cNvSpPr>
          <p:nvPr>
            <p:ph type="sldNum" sz="quarter" idx="12"/>
          </p:nvPr>
        </p:nvSpPr>
        <p:spPr/>
        <p:txBody>
          <a:bodyPr/>
          <a:lstStyle/>
          <a:p>
            <a:fld id="{0C913308-F349-4B6D-A68A-DD1791B4A57B}" type="slidenum">
              <a:rPr lang="zh-CN" altLang="en-US" smtClean="0"/>
              <a:pPr/>
              <a:t>16</a:t>
            </a:fld>
            <a:endParaRPr lang="zh-CN" altLang="en-US"/>
          </a:p>
        </p:txBody>
      </p:sp>
      <p:sp>
        <p:nvSpPr>
          <p:cNvPr id="12" name="标题 1"/>
          <p:cNvSpPr>
            <a:spLocks noGrp="1"/>
          </p:cNvSpPr>
          <p:nvPr>
            <p:ph type="title"/>
          </p:nvPr>
        </p:nvSpPr>
        <p:spPr>
          <a:xfrm>
            <a:off x="1043608" y="1124744"/>
            <a:ext cx="7704856" cy="566936"/>
          </a:xfrm>
        </p:spPr>
        <p:txBody>
          <a:bodyPr/>
          <a:lstStyle/>
          <a:p>
            <a:r>
              <a:rPr lang="en-US" altLang="zh-CN" dirty="0" smtClean="0"/>
              <a:t>5.1.1 </a:t>
            </a:r>
            <a:r>
              <a:rPr lang="zh-CN" altLang="en-US" dirty="0" smtClean="0"/>
              <a:t>由与非门构成的基本</a:t>
            </a:r>
            <a:r>
              <a:rPr lang="en-US" altLang="zh-CN" dirty="0"/>
              <a:t>RS</a:t>
            </a:r>
            <a:r>
              <a:rPr lang="zh-CN" altLang="en-US" dirty="0"/>
              <a:t>触发器</a:t>
            </a:r>
          </a:p>
        </p:txBody>
      </p:sp>
      <p:sp>
        <p:nvSpPr>
          <p:cNvPr id="13" name="标题 1"/>
          <p:cNvSpPr txBox="1">
            <a:spLocks/>
          </p:cNvSpPr>
          <p:nvPr/>
        </p:nvSpPr>
        <p:spPr bwMode="auto">
          <a:xfrm>
            <a:off x="1043608" y="332656"/>
            <a:ext cx="7704856" cy="5669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5.1 </a:t>
            </a:r>
            <a:r>
              <a:rPr kumimoji="1" lang="zh-CN" altLang="en-US" sz="3200" b="1" kern="0" dirty="0" smtClean="0">
                <a:solidFill>
                  <a:schemeClr val="tx2"/>
                </a:solidFill>
                <a:latin typeface="+mj-lt"/>
                <a:ea typeface="+mj-ea"/>
                <a:cs typeface="+mj-cs"/>
              </a:rPr>
              <a:t>电平触发的</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触发器</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graphicFrame>
        <p:nvGraphicFramePr>
          <p:cNvPr id="119887" name="Object 1103"/>
          <p:cNvGraphicFramePr>
            <a:graphicFrameLocks noChangeAspect="1"/>
          </p:cNvGraphicFramePr>
          <p:nvPr/>
        </p:nvGraphicFramePr>
        <p:xfrm>
          <a:off x="5724128" y="3356992"/>
          <a:ext cx="288925" cy="310579"/>
        </p:xfrm>
        <a:graphic>
          <a:graphicData uri="http://schemas.openxmlformats.org/presentationml/2006/ole">
            <p:oleObj spid="_x0000_s119887" r:id="rId4" imgW="152280" imgH="203040" progId="">
              <p:embed/>
            </p:oleObj>
          </a:graphicData>
        </a:graphic>
      </p:graphicFrame>
      <p:graphicFrame>
        <p:nvGraphicFramePr>
          <p:cNvPr id="119888" name="Object 1104"/>
          <p:cNvGraphicFramePr>
            <a:graphicFrameLocks noChangeAspect="1"/>
          </p:cNvGraphicFramePr>
          <p:nvPr/>
        </p:nvGraphicFramePr>
        <p:xfrm>
          <a:off x="6300192" y="3356992"/>
          <a:ext cx="279400" cy="320675"/>
        </p:xfrm>
        <a:graphic>
          <a:graphicData uri="http://schemas.openxmlformats.org/presentationml/2006/ole">
            <p:oleObj spid="_x0000_s119888" r:id="rId5" imgW="164880" imgH="190440" progId="">
              <p:embed/>
            </p:oleObj>
          </a:graphicData>
        </a:graphic>
      </p:graphicFrame>
      <p:graphicFrame>
        <p:nvGraphicFramePr>
          <p:cNvPr id="119889" name="Object 1105"/>
          <p:cNvGraphicFramePr>
            <a:graphicFrameLocks noChangeAspect="1"/>
          </p:cNvGraphicFramePr>
          <p:nvPr/>
        </p:nvGraphicFramePr>
        <p:xfrm>
          <a:off x="1331640" y="4581128"/>
          <a:ext cx="288925" cy="382587"/>
        </p:xfrm>
        <a:graphic>
          <a:graphicData uri="http://schemas.openxmlformats.org/presentationml/2006/ole">
            <p:oleObj spid="_x0000_s119889" r:id="rId6" imgW="152280" imgH="203040" progId="">
              <p:embed/>
            </p:oleObj>
          </a:graphicData>
        </a:graphic>
      </p:graphicFrame>
      <p:graphicFrame>
        <p:nvGraphicFramePr>
          <p:cNvPr id="119890" name="Object 1106"/>
          <p:cNvGraphicFramePr>
            <a:graphicFrameLocks noChangeAspect="1"/>
          </p:cNvGraphicFramePr>
          <p:nvPr/>
        </p:nvGraphicFramePr>
        <p:xfrm>
          <a:off x="1907704" y="4581128"/>
          <a:ext cx="313700" cy="360041"/>
        </p:xfrm>
        <a:graphic>
          <a:graphicData uri="http://schemas.openxmlformats.org/presentationml/2006/ole">
            <p:oleObj spid="_x0000_s119890" r:id="rId7" imgW="164880" imgH="190440" progId="">
              <p:embed/>
            </p:oleObj>
          </a:graphicData>
        </a:graphic>
      </p:graphicFrame>
      <p:graphicFrame>
        <p:nvGraphicFramePr>
          <p:cNvPr id="119891" name="Object 1107"/>
          <p:cNvGraphicFramePr>
            <a:graphicFrameLocks noChangeAspect="1"/>
          </p:cNvGraphicFramePr>
          <p:nvPr/>
        </p:nvGraphicFramePr>
        <p:xfrm>
          <a:off x="2195736" y="4221088"/>
          <a:ext cx="1147628" cy="360040"/>
        </p:xfrm>
        <a:graphic>
          <a:graphicData uri="http://schemas.openxmlformats.org/presentationml/2006/ole">
            <p:oleObj spid="_x0000_s119891" r:id="rId8" imgW="647640" imgH="203040" progId="">
              <p:embed/>
            </p:oleObj>
          </a:graphicData>
        </a:graphic>
      </p:graphicFrame>
      <p:graphicFrame>
        <p:nvGraphicFramePr>
          <p:cNvPr id="119892" name="Object 1108"/>
          <p:cNvGraphicFramePr>
            <a:graphicFrameLocks noChangeAspect="1"/>
          </p:cNvGraphicFramePr>
          <p:nvPr/>
        </p:nvGraphicFramePr>
        <p:xfrm>
          <a:off x="7740352" y="5013176"/>
          <a:ext cx="1008112" cy="316270"/>
        </p:xfrm>
        <a:graphic>
          <a:graphicData uri="http://schemas.openxmlformats.org/presentationml/2006/ole">
            <p:oleObj spid="_x0000_s119892" r:id="rId9" imgW="647640" imgH="203040" progId="">
              <p:embed/>
            </p:oleObj>
          </a:graphicData>
        </a:graphic>
      </p:graphicFrame>
      <p:graphicFrame>
        <p:nvGraphicFramePr>
          <p:cNvPr id="119894" name="Object 1110"/>
          <p:cNvGraphicFramePr>
            <a:graphicFrameLocks noChangeAspect="1"/>
          </p:cNvGraphicFramePr>
          <p:nvPr/>
        </p:nvGraphicFramePr>
        <p:xfrm>
          <a:off x="3419872" y="5013176"/>
          <a:ext cx="1109663" cy="390525"/>
        </p:xfrm>
        <a:graphic>
          <a:graphicData uri="http://schemas.openxmlformats.org/presentationml/2006/ole">
            <p:oleObj spid="_x0000_s119894" r:id="rId10" imgW="609480" imgH="203040" progId="">
              <p:embed/>
            </p:oleObj>
          </a:graphicData>
        </a:graphic>
      </p:graphicFrame>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右箭头 3"/>
          <p:cNvSpPr/>
          <p:nvPr/>
        </p:nvSpPr>
        <p:spPr bwMode="auto">
          <a:xfrm>
            <a:off x="4211960" y="4149080"/>
            <a:ext cx="1152128" cy="360120"/>
          </a:xfrm>
          <a:prstGeom prst="rightArrow">
            <a:avLst/>
          </a:prstGeom>
          <a:solidFill>
            <a:srgbClr val="66FFFF"/>
          </a:solidFill>
          <a:ln w="9525" cap="flat" cmpd="sng" algn="ctr">
            <a:solidFill>
              <a:schemeClr val="tx1"/>
            </a:solidFill>
            <a:prstDash val="solid"/>
            <a:miter lim="800000"/>
            <a:headEnd type="none" w="med" len="med"/>
            <a:tailEnd type="none" w="med" len="med"/>
          </a:ln>
          <a:effectLst/>
        </p:spPr>
        <p:txBody>
          <a:bodyPr vert="horz" wrap="square" lIns="90000" tIns="46800" rIns="90000" bIns="4680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36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endParaRPr>
          </a:p>
        </p:txBody>
      </p:sp>
      <p:sp>
        <p:nvSpPr>
          <p:cNvPr id="5" name="矩形 4"/>
          <p:cNvSpPr/>
          <p:nvPr/>
        </p:nvSpPr>
        <p:spPr>
          <a:xfrm>
            <a:off x="467544" y="1988840"/>
            <a:ext cx="8208912" cy="1261884"/>
          </a:xfrm>
          <a:prstGeom prst="rect">
            <a:avLst/>
          </a:prstGeom>
        </p:spPr>
        <p:txBody>
          <a:bodyPr wrap="square">
            <a:spAutoFit/>
          </a:bodyPr>
          <a:lstStyle/>
          <a:p>
            <a:pPr marL="285750" indent="-285750">
              <a:buClr>
                <a:srgbClr val="0000CC"/>
              </a:buClr>
              <a:buFont typeface="Wingdings" pitchFamily="2" charset="2"/>
              <a:buChar char="p"/>
            </a:pPr>
            <a:r>
              <a:rPr lang="zh-CN" altLang="en-US" sz="2800" b="1" dirty="0"/>
              <a:t>与非门构成的</a:t>
            </a:r>
            <a:r>
              <a:rPr lang="en-US" altLang="zh-CN" sz="2800" b="1" dirty="0"/>
              <a:t>SR</a:t>
            </a:r>
            <a:r>
              <a:rPr lang="zh-CN" altLang="en-US" sz="2800" b="1" dirty="0"/>
              <a:t>锁存器描述</a:t>
            </a:r>
          </a:p>
          <a:p>
            <a:pPr marL="742950" lvl="1" indent="-285750">
              <a:buClr>
                <a:srgbClr val="FF0000"/>
              </a:buClr>
              <a:buFont typeface="Wingdings" pitchFamily="2" charset="2"/>
              <a:buChar char="n"/>
            </a:pPr>
            <a:r>
              <a:rPr lang="zh-CN" altLang="en-US" sz="2400" b="1" dirty="0" smtClean="0">
                <a:latin typeface="+mn-ea"/>
              </a:rPr>
              <a:t>将  </a:t>
            </a:r>
            <a:r>
              <a:rPr lang="en-US" altLang="zh-CN" sz="2400" b="1" i="1" dirty="0" smtClean="0">
                <a:latin typeface="+mn-ea"/>
              </a:rPr>
              <a:t>      </a:t>
            </a:r>
            <a:r>
              <a:rPr lang="zh-CN" altLang="en-US" sz="2400" b="1" dirty="0" smtClean="0">
                <a:latin typeface="+mn-ea"/>
              </a:rPr>
              <a:t>作为</a:t>
            </a:r>
            <a:r>
              <a:rPr lang="zh-CN" altLang="en-US" sz="2400" b="1" dirty="0">
                <a:latin typeface="+mn-ea"/>
              </a:rPr>
              <a:t>输入约束条件，由卡诺图化</a:t>
            </a:r>
            <a:r>
              <a:rPr lang="zh-CN" altLang="en-US" sz="2400" b="1" dirty="0" smtClean="0">
                <a:latin typeface="+mn-ea"/>
              </a:rPr>
              <a:t>简可</a:t>
            </a:r>
            <a:r>
              <a:rPr lang="zh-CN" altLang="en-US" sz="2400" b="1" dirty="0">
                <a:latin typeface="+mn-ea"/>
              </a:rPr>
              <a:t>得与非门构成的基本</a:t>
            </a:r>
            <a:r>
              <a:rPr lang="en-US" altLang="zh-CN" sz="2400" b="1" dirty="0">
                <a:latin typeface="+mn-ea"/>
              </a:rPr>
              <a:t>RS-</a:t>
            </a:r>
            <a:r>
              <a:rPr lang="zh-CN" altLang="en-US" sz="2400" b="1" dirty="0">
                <a:latin typeface="+mn-ea"/>
              </a:rPr>
              <a:t>触发器的特性方程如下：</a:t>
            </a:r>
          </a:p>
        </p:txBody>
      </p:sp>
      <p:sp>
        <p:nvSpPr>
          <p:cNvPr id="6" name="矩形 5"/>
          <p:cNvSpPr/>
          <p:nvPr/>
        </p:nvSpPr>
        <p:spPr>
          <a:xfrm>
            <a:off x="1835696" y="5373216"/>
            <a:ext cx="2952327" cy="707886"/>
          </a:xfrm>
          <a:prstGeom prst="rect">
            <a:avLst/>
          </a:prstGeom>
        </p:spPr>
        <p:txBody>
          <a:bodyPr wrap="square">
            <a:spAutoFit/>
          </a:bodyPr>
          <a:lstStyle/>
          <a:p>
            <a:r>
              <a:rPr lang="zh-CN" altLang="en-US" sz="2000" b="1" dirty="0"/>
              <a:t>与非门构成的基本</a:t>
            </a:r>
            <a:r>
              <a:rPr lang="en-US" altLang="zh-CN" sz="2000" b="1" dirty="0"/>
              <a:t>RS-</a:t>
            </a:r>
            <a:r>
              <a:rPr lang="zh-CN" altLang="en-US" sz="2000" b="1" dirty="0"/>
              <a:t>触发器的</a:t>
            </a:r>
            <a:r>
              <a:rPr lang="zh-CN" altLang="en-US" sz="2000" b="1" dirty="0" smtClean="0"/>
              <a:t>图形符号为：</a:t>
            </a:r>
            <a:endParaRPr lang="zh-CN" altLang="en-US" sz="2000" b="1" dirty="0"/>
          </a:p>
        </p:txBody>
      </p:sp>
      <p:sp>
        <p:nvSpPr>
          <p:cNvPr id="7" name="灯片编号占位符 6"/>
          <p:cNvSpPr>
            <a:spLocks noGrp="1"/>
          </p:cNvSpPr>
          <p:nvPr>
            <p:ph type="sldNum" sz="quarter" idx="12"/>
          </p:nvPr>
        </p:nvSpPr>
        <p:spPr/>
        <p:txBody>
          <a:bodyPr/>
          <a:lstStyle/>
          <a:p>
            <a:fld id="{0C913308-F349-4B6D-A68A-DD1791B4A57B}" type="slidenum">
              <a:rPr lang="zh-CN" altLang="en-US" smtClean="0"/>
              <a:pPr/>
              <a:t>17</a:t>
            </a:fld>
            <a:endParaRPr lang="zh-CN" altLang="en-US"/>
          </a:p>
        </p:txBody>
      </p:sp>
      <p:sp>
        <p:nvSpPr>
          <p:cNvPr id="11" name="标题 1"/>
          <p:cNvSpPr>
            <a:spLocks noGrp="1"/>
          </p:cNvSpPr>
          <p:nvPr>
            <p:ph type="title"/>
          </p:nvPr>
        </p:nvSpPr>
        <p:spPr>
          <a:xfrm>
            <a:off x="1043608" y="1124744"/>
            <a:ext cx="7704856" cy="566936"/>
          </a:xfrm>
        </p:spPr>
        <p:txBody>
          <a:bodyPr/>
          <a:lstStyle/>
          <a:p>
            <a:r>
              <a:rPr lang="en-US" altLang="zh-CN" dirty="0" smtClean="0"/>
              <a:t>5.1.1 </a:t>
            </a:r>
            <a:r>
              <a:rPr lang="zh-CN" altLang="en-US" dirty="0" smtClean="0"/>
              <a:t>由与非门构成的基本</a:t>
            </a:r>
            <a:r>
              <a:rPr lang="en-US" altLang="zh-CN" dirty="0"/>
              <a:t>RS</a:t>
            </a:r>
            <a:r>
              <a:rPr lang="zh-CN" altLang="en-US" dirty="0"/>
              <a:t>触发器</a:t>
            </a:r>
          </a:p>
        </p:txBody>
      </p:sp>
      <p:sp>
        <p:nvSpPr>
          <p:cNvPr id="12" name="标题 1"/>
          <p:cNvSpPr txBox="1">
            <a:spLocks/>
          </p:cNvSpPr>
          <p:nvPr/>
        </p:nvSpPr>
        <p:spPr bwMode="auto">
          <a:xfrm>
            <a:off x="1043608" y="332656"/>
            <a:ext cx="7704856" cy="5669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5.1 </a:t>
            </a:r>
            <a:r>
              <a:rPr kumimoji="1" lang="zh-CN" altLang="en-US" sz="3200" b="1" kern="0" dirty="0" smtClean="0">
                <a:solidFill>
                  <a:schemeClr val="tx2"/>
                </a:solidFill>
                <a:latin typeface="+mj-lt"/>
                <a:ea typeface="+mj-ea"/>
                <a:cs typeface="+mj-cs"/>
              </a:rPr>
              <a:t>电平触发的</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触发器</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pic>
        <p:nvPicPr>
          <p:cNvPr id="130049" name="Picture 1"/>
          <p:cNvPicPr>
            <a:picLocks noChangeAspect="1" noChangeArrowheads="1"/>
          </p:cNvPicPr>
          <p:nvPr/>
        </p:nvPicPr>
        <p:blipFill>
          <a:blip r:embed="rId3" cstate="print"/>
          <a:srcRect/>
          <a:stretch>
            <a:fillRect/>
          </a:stretch>
        </p:blipFill>
        <p:spPr bwMode="auto">
          <a:xfrm>
            <a:off x="5292080" y="4941168"/>
            <a:ext cx="2724150" cy="1600200"/>
          </a:xfrm>
          <a:prstGeom prst="rect">
            <a:avLst/>
          </a:prstGeom>
          <a:noFill/>
          <a:ln w="9525">
            <a:noFill/>
            <a:miter lim="800000"/>
            <a:headEnd/>
            <a:tailEnd/>
          </a:ln>
        </p:spPr>
      </p:pic>
      <p:pic>
        <p:nvPicPr>
          <p:cNvPr id="130050" name="Picture 2"/>
          <p:cNvPicPr>
            <a:picLocks noChangeAspect="1" noChangeArrowheads="1"/>
          </p:cNvPicPr>
          <p:nvPr/>
        </p:nvPicPr>
        <p:blipFill>
          <a:blip r:embed="rId4" cstate="print"/>
          <a:srcRect/>
          <a:stretch>
            <a:fillRect/>
          </a:stretch>
        </p:blipFill>
        <p:spPr bwMode="auto">
          <a:xfrm>
            <a:off x="1115616" y="3573016"/>
            <a:ext cx="3000375" cy="1924050"/>
          </a:xfrm>
          <a:prstGeom prst="rect">
            <a:avLst/>
          </a:prstGeom>
          <a:noFill/>
          <a:ln w="9525">
            <a:noFill/>
            <a:miter lim="800000"/>
            <a:headEnd/>
            <a:tailEnd/>
          </a:ln>
        </p:spPr>
      </p:pic>
      <p:graphicFrame>
        <p:nvGraphicFramePr>
          <p:cNvPr id="130052" name="Object 4"/>
          <p:cNvGraphicFramePr>
            <a:graphicFrameLocks noChangeAspect="1"/>
          </p:cNvGraphicFramePr>
          <p:nvPr/>
        </p:nvGraphicFramePr>
        <p:xfrm>
          <a:off x="1691680" y="2492896"/>
          <a:ext cx="1109662" cy="390525"/>
        </p:xfrm>
        <a:graphic>
          <a:graphicData uri="http://schemas.openxmlformats.org/presentationml/2006/ole">
            <p:oleObj spid="_x0000_s130052" r:id="rId5" imgW="609480" imgH="203040" progId="">
              <p:embed/>
            </p:oleObj>
          </a:graphicData>
        </a:graphic>
      </p:graphicFrame>
      <p:pic>
        <p:nvPicPr>
          <p:cNvPr id="130053" name="Picture 5"/>
          <p:cNvPicPr>
            <a:picLocks noChangeAspect="1" noChangeArrowheads="1"/>
          </p:cNvPicPr>
          <p:nvPr/>
        </p:nvPicPr>
        <p:blipFill>
          <a:blip r:embed="rId6" cstate="print"/>
          <a:srcRect/>
          <a:stretch>
            <a:fillRect/>
          </a:stretch>
        </p:blipFill>
        <p:spPr bwMode="auto">
          <a:xfrm>
            <a:off x="5364088" y="3645024"/>
            <a:ext cx="2466975" cy="1162050"/>
          </a:xfrm>
          <a:prstGeom prst="rect">
            <a:avLst/>
          </a:prstGeom>
          <a:noFill/>
          <a:ln w="9525">
            <a:noFill/>
            <a:miter lim="800000"/>
            <a:headEnd/>
            <a:tailEnd/>
          </a:ln>
        </p:spPr>
      </p:pic>
      <p:sp>
        <p:nvSpPr>
          <p:cNvPr id="13" name="圆角矩形标注 12"/>
          <p:cNvSpPr/>
          <p:nvPr/>
        </p:nvSpPr>
        <p:spPr bwMode="auto">
          <a:xfrm>
            <a:off x="2267744" y="3212976"/>
            <a:ext cx="2664296" cy="717503"/>
          </a:xfrm>
          <a:prstGeom prst="wedgeRoundRectCallout">
            <a:avLst>
              <a:gd name="adj1" fmla="val -44440"/>
              <a:gd name="adj2" fmla="val 67654"/>
              <a:gd name="adj3" fmla="val 16667"/>
            </a:avLst>
          </a:prstGeom>
          <a:solidFill>
            <a:srgbClr val="FFFF00"/>
          </a:solidFill>
          <a:ln w="9525" cap="flat" cmpd="sng" algn="ctr">
            <a:solidFill>
              <a:srgbClr val="FF0000"/>
            </a:solidFill>
            <a:prstDash val="solid"/>
            <a:miter lim="800000"/>
            <a:headEnd type="none" w="med" len="med"/>
            <a:tailEnd type="none" w="med" len="med"/>
          </a:ln>
        </p:spPr>
        <p:txBody>
          <a:bodyPr vert="horz" wrap="square" lIns="90000" tIns="46800" rIns="90000" bIns="4680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3600" b="1" i="0" u="none" strike="noStrike" cap="none" normalizeH="0" baseline="0" dirty="0" smtClean="0">
              <a:ln>
                <a:noFill/>
              </a:ln>
              <a:solidFill>
                <a:srgbClr val="FF0000"/>
              </a:solidFill>
              <a:effectLst/>
              <a:latin typeface="Tahoma" panose="020B0604030504040204" pitchFamily="34" charset="0"/>
              <a:ea typeface="宋体" panose="02010600030101010101" pitchFamily="2" charset="-122"/>
            </a:endParaRPr>
          </a:p>
        </p:txBody>
      </p:sp>
      <p:graphicFrame>
        <p:nvGraphicFramePr>
          <p:cNvPr id="2" name="Object 5"/>
          <p:cNvGraphicFramePr>
            <a:graphicFrameLocks noChangeAspect="1"/>
          </p:cNvGraphicFramePr>
          <p:nvPr/>
        </p:nvGraphicFramePr>
        <p:xfrm>
          <a:off x="2339752" y="3212976"/>
          <a:ext cx="2533372" cy="648072"/>
        </p:xfrm>
        <a:graphic>
          <a:graphicData uri="http://schemas.openxmlformats.org/presentationml/2006/ole">
            <p:oleObj spid="_x0000_s130053" r:id="rId7" imgW="2184120" imgH="558720" progId="">
              <p:embed/>
            </p:oleObj>
          </a:graphicData>
        </a:graphic>
      </p:graphicFrame>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95536" y="1988840"/>
            <a:ext cx="8280920" cy="4608512"/>
          </a:xfrm>
        </p:spPr>
        <p:txBody>
          <a:bodyPr/>
          <a:lstStyle/>
          <a:p>
            <a:pPr>
              <a:buSzPct val="100000"/>
              <a:buFont typeface="Wingdings" pitchFamily="2" charset="2"/>
              <a:buChar char="p"/>
            </a:pPr>
            <a:r>
              <a:rPr lang="zh-CN" altLang="en-US" sz="2800" dirty="0"/>
              <a:t>与非门构成的</a:t>
            </a:r>
            <a:r>
              <a:rPr lang="en-US" altLang="zh-CN" sz="2800" dirty="0"/>
              <a:t>SR</a:t>
            </a:r>
            <a:r>
              <a:rPr lang="zh-CN" altLang="en-US" sz="2800" dirty="0"/>
              <a:t>锁存器应用举例</a:t>
            </a:r>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18</a:t>
            </a:fld>
            <a:endParaRPr lang="zh-CN" altLang="en-US"/>
          </a:p>
        </p:txBody>
      </p:sp>
      <p:grpSp>
        <p:nvGrpSpPr>
          <p:cNvPr id="6" name="Group 7"/>
          <p:cNvGrpSpPr/>
          <p:nvPr/>
        </p:nvGrpSpPr>
        <p:grpSpPr bwMode="auto">
          <a:xfrm>
            <a:off x="597148" y="2475630"/>
            <a:ext cx="3758828" cy="1938338"/>
            <a:chOff x="512" y="1842"/>
            <a:chExt cx="2229" cy="1221"/>
          </a:xfrm>
        </p:grpSpPr>
        <p:sp>
          <p:nvSpPr>
            <p:cNvPr id="10" name="Text Box 11"/>
            <p:cNvSpPr txBox="1">
              <a:spLocks noChangeArrowheads="1"/>
            </p:cNvSpPr>
            <p:nvPr/>
          </p:nvSpPr>
          <p:spPr bwMode="auto">
            <a:xfrm>
              <a:off x="512" y="1842"/>
              <a:ext cx="2229" cy="122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p>
              <a:pPr>
                <a:lnSpc>
                  <a:spcPct val="150000"/>
                </a:lnSpc>
                <a:spcBef>
                  <a:spcPct val="50000"/>
                </a:spcBef>
              </a:pPr>
              <a:r>
                <a:rPr lang="zh-CN" altLang="en-US" sz="2000" b="1" dirty="0" smtClean="0">
                  <a:solidFill>
                    <a:srgbClr val="FF0000"/>
                  </a:solidFill>
                  <a:latin typeface="楷体_GB2312" pitchFamily="49" charset="-122"/>
                  <a:ea typeface="楷体_GB2312" pitchFamily="49" charset="-122"/>
                </a:rPr>
                <a:t>例 ：</a:t>
              </a:r>
              <a:r>
                <a:rPr lang="zh-CN" altLang="en-US" sz="2000" b="1" dirty="0"/>
                <a:t>已知基本</a:t>
              </a:r>
              <a:r>
                <a:rPr lang="en-US" altLang="zh-CN" sz="2000" b="1" dirty="0"/>
                <a:t>RS-FF</a:t>
              </a:r>
              <a:r>
                <a:rPr lang="zh-CN" altLang="en-US" sz="2000" b="1" dirty="0"/>
                <a:t>中     和  </a:t>
              </a:r>
              <a:r>
                <a:rPr lang="zh-CN" altLang="en-US" sz="2000" b="1" dirty="0" smtClean="0"/>
                <a:t>     </a:t>
              </a:r>
              <a:r>
                <a:rPr lang="zh-CN" altLang="en-US" sz="2000" b="1" dirty="0"/>
                <a:t>的电压波形如下图所示，试画出</a:t>
              </a:r>
              <a:r>
                <a:rPr lang="en-US" altLang="zh-CN" sz="2000" b="1" dirty="0"/>
                <a:t>Q</a:t>
              </a:r>
              <a:r>
                <a:rPr lang="zh-CN" altLang="en-US" sz="2000" b="1" dirty="0"/>
                <a:t>和   </a:t>
              </a:r>
              <a:r>
                <a:rPr lang="zh-CN" altLang="en-US" sz="2000" b="1" dirty="0" smtClean="0"/>
                <a:t>  </a:t>
              </a:r>
              <a:r>
                <a:rPr lang="zh-CN" altLang="en-US" sz="2000" b="1" dirty="0"/>
                <a:t>端对应的电压波形（</a:t>
              </a:r>
              <a:r>
                <a:rPr lang="zh-CN" altLang="en-US" sz="2000" b="1" dirty="0" smtClean="0"/>
                <a:t>令初态</a:t>
              </a:r>
              <a:r>
                <a:rPr lang="en-US" altLang="zh-CN" sz="2000" b="1" dirty="0" smtClean="0"/>
                <a:t>Q=0</a:t>
              </a:r>
              <a:r>
                <a:rPr lang="zh-CN" altLang="en-US" sz="2000" b="1" dirty="0" smtClean="0"/>
                <a:t>）</a:t>
              </a:r>
              <a:r>
                <a:rPr lang="zh-CN" altLang="en-US" sz="2000" b="1" dirty="0"/>
                <a:t>。</a:t>
              </a:r>
            </a:p>
          </p:txBody>
        </p:sp>
        <p:graphicFrame>
          <p:nvGraphicFramePr>
            <p:cNvPr id="9" name="Object 10"/>
            <p:cNvGraphicFramePr>
              <a:graphicFrameLocks noChangeAspect="1"/>
            </p:cNvGraphicFramePr>
            <p:nvPr>
              <p:extLst>
                <p:ext uri="{D42A27DB-BD31-4B8C-83A1-F6EECF244321}">
                  <p14:modId xmlns:p14="http://schemas.microsoft.com/office/powerpoint/2010/main" xmlns="" val="180115062"/>
                </p:ext>
              </p:extLst>
            </p:nvPr>
          </p:nvGraphicFramePr>
          <p:xfrm>
            <a:off x="1033" y="2488"/>
            <a:ext cx="162" cy="257"/>
          </p:xfrm>
          <a:graphic>
            <a:graphicData uri="http://schemas.openxmlformats.org/presentationml/2006/ole">
              <p:oleObj spid="_x0000_s84670" name="公式" r:id="rId3" imgW="152334" imgH="241195" progId="">
                <p:embed/>
              </p:oleObj>
            </a:graphicData>
          </a:graphic>
        </p:graphicFrame>
      </p:grpSp>
      <p:sp>
        <p:nvSpPr>
          <p:cNvPr id="12" name="Text Box 14"/>
          <p:cNvSpPr txBox="1">
            <a:spLocks noChangeArrowheads="1"/>
          </p:cNvSpPr>
          <p:nvPr/>
        </p:nvSpPr>
        <p:spPr bwMode="auto">
          <a:xfrm>
            <a:off x="3924300" y="4508078"/>
            <a:ext cx="938213"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zh-CN" altLang="en-US" b="1">
                <a:solidFill>
                  <a:srgbClr val="FF0000"/>
                </a:solidFill>
              </a:rPr>
              <a:t>解：</a:t>
            </a:r>
          </a:p>
        </p:txBody>
      </p:sp>
      <p:pic>
        <p:nvPicPr>
          <p:cNvPr id="13" name="Picture 15" descr="L1(1)"/>
          <p:cNvPicPr>
            <a:picLocks noChangeAspect="1" noChangeArrowheads="1"/>
          </p:cNvPicPr>
          <p:nvPr/>
        </p:nvPicPr>
        <p:blipFill>
          <a:blip r:embed="rId4" cstate="print">
            <a:clrChange>
              <a:clrFrom>
                <a:srgbClr val="F8F8F8"/>
              </a:clrFrom>
              <a:clrTo>
                <a:srgbClr val="F8F8F8">
                  <a:alpha val="0"/>
                </a:srgbClr>
              </a:clrTo>
            </a:clrChange>
            <a:lum contrast="12000"/>
            <a:extLst>
              <a:ext uri="{28A0092B-C50C-407E-A947-70E740481C1C}">
                <a14:useLocalDpi xmlns:a14="http://schemas.microsoft.com/office/drawing/2010/main" xmlns="" val="0"/>
              </a:ext>
            </a:extLst>
          </a:blip>
          <a:srcRect/>
          <a:stretch>
            <a:fillRect/>
          </a:stretch>
        </p:blipFill>
        <p:spPr bwMode="auto">
          <a:xfrm>
            <a:off x="4622645" y="2776115"/>
            <a:ext cx="3878263" cy="1695450"/>
          </a:xfrm>
          <a:prstGeom prst="rect">
            <a:avLst/>
          </a:prstGeom>
          <a:noFill/>
          <a:extLst>
            <a:ext uri="{909E8E84-426E-40DD-AFC4-6F175D3DCCD1}">
              <a14:hiddenFill xmlns:a14="http://schemas.microsoft.com/office/drawing/2010/main" xmlns="">
                <a:solidFill>
                  <a:srgbClr val="FFFFFF"/>
                </a:solidFill>
              </a14:hiddenFill>
            </a:ext>
          </a:extLst>
        </p:spPr>
      </p:pic>
      <p:pic>
        <p:nvPicPr>
          <p:cNvPr id="14" name="Picture 17" descr="L1(2)"/>
          <p:cNvPicPr>
            <a:picLocks noChangeAspect="1" noChangeArrowheads="1"/>
          </p:cNvPicPr>
          <p:nvPr/>
        </p:nvPicPr>
        <p:blipFill>
          <a:blip r:embed="rId5" cstate="print">
            <a:clrChange>
              <a:clrFrom>
                <a:srgbClr val="FBFBFB"/>
              </a:clrFrom>
              <a:clrTo>
                <a:srgbClr val="FBFBFB">
                  <a:alpha val="0"/>
                </a:srgbClr>
              </a:clrTo>
            </a:clrChange>
            <a:lum bright="-24000" contrast="60000"/>
            <a:extLst>
              <a:ext uri="{28A0092B-C50C-407E-A947-70E740481C1C}">
                <a14:useLocalDpi xmlns:a14="http://schemas.microsoft.com/office/drawing/2010/main" xmlns="" val="0"/>
              </a:ext>
            </a:extLst>
          </a:blip>
          <a:srcRect/>
          <a:stretch>
            <a:fillRect/>
          </a:stretch>
        </p:blipFill>
        <p:spPr bwMode="auto">
          <a:xfrm>
            <a:off x="4572000" y="4508078"/>
            <a:ext cx="3886200" cy="1643062"/>
          </a:xfrm>
          <a:prstGeom prst="rect">
            <a:avLst/>
          </a:prstGeom>
          <a:noFill/>
          <a:extLst>
            <a:ext uri="{909E8E84-426E-40DD-AFC4-6F175D3DCCD1}">
              <a14:hiddenFill xmlns:a14="http://schemas.microsoft.com/office/drawing/2010/main" xmlns="">
                <a:solidFill>
                  <a:srgbClr val="FFFFFF"/>
                </a:solidFill>
              </a14:hiddenFill>
            </a:ext>
          </a:extLst>
        </p:spPr>
      </p:pic>
      <p:sp>
        <p:nvSpPr>
          <p:cNvPr id="15" name="Line 18"/>
          <p:cNvSpPr>
            <a:spLocks noChangeShapeType="1"/>
          </p:cNvSpPr>
          <p:nvPr/>
        </p:nvSpPr>
        <p:spPr bwMode="auto">
          <a:xfrm>
            <a:off x="5724525" y="2850728"/>
            <a:ext cx="0" cy="3529012"/>
          </a:xfrm>
          <a:prstGeom prst="line">
            <a:avLst/>
          </a:prstGeom>
          <a:noFill/>
          <a:ln w="28575">
            <a:solidFill>
              <a:srgbClr val="FF0000"/>
            </a:solidFill>
            <a:prstDash val="dash"/>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16" name="Line 19"/>
          <p:cNvSpPr>
            <a:spLocks noChangeShapeType="1"/>
          </p:cNvSpPr>
          <p:nvPr/>
        </p:nvSpPr>
        <p:spPr bwMode="auto">
          <a:xfrm>
            <a:off x="5940425" y="2852314"/>
            <a:ext cx="0" cy="3527425"/>
          </a:xfrm>
          <a:prstGeom prst="line">
            <a:avLst/>
          </a:prstGeom>
          <a:noFill/>
          <a:ln w="28575">
            <a:solidFill>
              <a:srgbClr val="FF0000"/>
            </a:solidFill>
            <a:prstDash val="dash"/>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17" name="Line 20"/>
          <p:cNvSpPr>
            <a:spLocks noChangeShapeType="1"/>
          </p:cNvSpPr>
          <p:nvPr/>
        </p:nvSpPr>
        <p:spPr bwMode="auto">
          <a:xfrm>
            <a:off x="6948488" y="2850728"/>
            <a:ext cx="0" cy="3529012"/>
          </a:xfrm>
          <a:prstGeom prst="line">
            <a:avLst/>
          </a:prstGeom>
          <a:noFill/>
          <a:ln w="28575">
            <a:solidFill>
              <a:srgbClr val="FF0000"/>
            </a:solidFill>
            <a:prstDash val="dash"/>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18" name="Line 21"/>
          <p:cNvSpPr>
            <a:spLocks noChangeShapeType="1"/>
          </p:cNvSpPr>
          <p:nvPr/>
        </p:nvSpPr>
        <p:spPr bwMode="auto">
          <a:xfrm>
            <a:off x="7308850" y="2852315"/>
            <a:ext cx="0" cy="3527424"/>
          </a:xfrm>
          <a:prstGeom prst="line">
            <a:avLst/>
          </a:prstGeom>
          <a:noFill/>
          <a:ln w="28575">
            <a:solidFill>
              <a:srgbClr val="FF0000"/>
            </a:solidFill>
            <a:prstDash val="dash"/>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19" name="Line 22"/>
          <p:cNvSpPr>
            <a:spLocks noChangeShapeType="1"/>
          </p:cNvSpPr>
          <p:nvPr/>
        </p:nvSpPr>
        <p:spPr bwMode="auto">
          <a:xfrm>
            <a:off x="6300788" y="2850728"/>
            <a:ext cx="0" cy="3529012"/>
          </a:xfrm>
          <a:prstGeom prst="line">
            <a:avLst/>
          </a:prstGeom>
          <a:noFill/>
          <a:ln w="28575">
            <a:solidFill>
              <a:srgbClr val="FF0000"/>
            </a:solidFill>
            <a:prstDash val="dash"/>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20" name="Line 24"/>
          <p:cNvSpPr>
            <a:spLocks noChangeShapeType="1"/>
          </p:cNvSpPr>
          <p:nvPr/>
        </p:nvSpPr>
        <p:spPr bwMode="auto">
          <a:xfrm>
            <a:off x="5364163" y="2852315"/>
            <a:ext cx="0" cy="3529013"/>
          </a:xfrm>
          <a:prstGeom prst="line">
            <a:avLst/>
          </a:prstGeom>
          <a:noFill/>
          <a:ln w="28575">
            <a:solidFill>
              <a:srgbClr val="FF0000"/>
            </a:solidFill>
            <a:prstDash val="dash"/>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22" name="标题 1"/>
          <p:cNvSpPr>
            <a:spLocks noGrp="1"/>
          </p:cNvSpPr>
          <p:nvPr>
            <p:ph type="title"/>
          </p:nvPr>
        </p:nvSpPr>
        <p:spPr>
          <a:xfrm>
            <a:off x="1043608" y="1124744"/>
            <a:ext cx="7704856" cy="566936"/>
          </a:xfrm>
        </p:spPr>
        <p:txBody>
          <a:bodyPr/>
          <a:lstStyle/>
          <a:p>
            <a:r>
              <a:rPr lang="en-US" altLang="zh-CN" dirty="0" smtClean="0"/>
              <a:t>5.1.1 </a:t>
            </a:r>
            <a:r>
              <a:rPr lang="zh-CN" altLang="en-US" dirty="0" smtClean="0"/>
              <a:t>由与非门构成的基本</a:t>
            </a:r>
            <a:r>
              <a:rPr lang="en-US" altLang="zh-CN" dirty="0"/>
              <a:t>RS</a:t>
            </a:r>
            <a:r>
              <a:rPr lang="zh-CN" altLang="en-US" dirty="0"/>
              <a:t>触发器</a:t>
            </a:r>
          </a:p>
        </p:txBody>
      </p:sp>
      <p:sp>
        <p:nvSpPr>
          <p:cNvPr id="23" name="标题 1"/>
          <p:cNvSpPr txBox="1">
            <a:spLocks/>
          </p:cNvSpPr>
          <p:nvPr/>
        </p:nvSpPr>
        <p:spPr bwMode="auto">
          <a:xfrm>
            <a:off x="1043608" y="332656"/>
            <a:ext cx="7704856" cy="5669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5.1 </a:t>
            </a:r>
            <a:r>
              <a:rPr kumimoji="1" lang="zh-CN" altLang="en-US" sz="3200" b="1" kern="0" dirty="0" smtClean="0">
                <a:solidFill>
                  <a:schemeClr val="tx2"/>
                </a:solidFill>
                <a:latin typeface="+mj-lt"/>
                <a:ea typeface="+mj-ea"/>
                <a:cs typeface="+mj-cs"/>
              </a:rPr>
              <a:t>电平触发的</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触发器</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graphicFrame>
        <p:nvGraphicFramePr>
          <p:cNvPr id="84672" name="Object 704"/>
          <p:cNvGraphicFramePr>
            <a:graphicFrameLocks noChangeAspect="1"/>
          </p:cNvGraphicFramePr>
          <p:nvPr/>
        </p:nvGraphicFramePr>
        <p:xfrm>
          <a:off x="3419872" y="2540901"/>
          <a:ext cx="288032" cy="384043"/>
        </p:xfrm>
        <a:graphic>
          <a:graphicData uri="http://schemas.openxmlformats.org/presentationml/2006/ole">
            <p:oleObj spid="_x0000_s84672" r:id="rId6" imgW="152280" imgH="203040" progId="">
              <p:embed/>
            </p:oleObj>
          </a:graphicData>
        </a:graphic>
      </p:graphicFrame>
      <p:graphicFrame>
        <p:nvGraphicFramePr>
          <p:cNvPr id="84673" name="Object 705"/>
          <p:cNvGraphicFramePr>
            <a:graphicFrameLocks noChangeAspect="1"/>
          </p:cNvGraphicFramePr>
          <p:nvPr/>
        </p:nvGraphicFramePr>
        <p:xfrm>
          <a:off x="3995936" y="2564904"/>
          <a:ext cx="278431" cy="321266"/>
        </p:xfrm>
        <a:graphic>
          <a:graphicData uri="http://schemas.openxmlformats.org/presentationml/2006/ole">
            <p:oleObj spid="_x0000_s84673" r:id="rId7" imgW="164880" imgH="190440" progId="">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blinds(horizontal)">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blinds(horizontal)">
                                      <p:cBhvr>
                                        <p:cTn id="12" dur="5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blinds(horizontal)">
                                      <p:cBhvr>
                                        <p:cTn id="17" dur="5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blinds(horizontal)">
                                      <p:cBhvr>
                                        <p:cTn id="22" dur="5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blinds(horizontal)">
                                      <p:cBhvr>
                                        <p:cTn id="27" dur="500"/>
                                        <p:tgtEl>
                                          <p:spTgt spid="19"/>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blinds(horizontal)">
                                      <p:cBhvr>
                                        <p:cTn id="32" dur="500"/>
                                        <p:tgtEl>
                                          <p:spTgt spid="17"/>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blinds(horizontal)">
                                      <p:cBhvr>
                                        <p:cTn id="3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8" grpId="0" animBg="1"/>
      <p:bldP spid="19" grpId="0" animBg="1"/>
      <p:bldP spid="20"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2099" name="Picture 3"/>
          <p:cNvPicPr>
            <a:picLocks noChangeAspect="1" noChangeArrowheads="1"/>
          </p:cNvPicPr>
          <p:nvPr/>
        </p:nvPicPr>
        <p:blipFill>
          <a:blip r:embed="rId2" cstate="print"/>
          <a:srcRect/>
          <a:stretch>
            <a:fillRect/>
          </a:stretch>
        </p:blipFill>
        <p:spPr bwMode="auto">
          <a:xfrm>
            <a:off x="4932040" y="4397565"/>
            <a:ext cx="4090417" cy="1843964"/>
          </a:xfrm>
          <a:prstGeom prst="rect">
            <a:avLst/>
          </a:prstGeom>
          <a:noFill/>
          <a:ln w="9525">
            <a:noFill/>
            <a:miter lim="800000"/>
            <a:headEnd/>
            <a:tailEnd/>
          </a:ln>
        </p:spPr>
      </p:pic>
      <p:pic>
        <p:nvPicPr>
          <p:cNvPr id="132097" name="Picture 1"/>
          <p:cNvPicPr>
            <a:picLocks noChangeAspect="1" noChangeArrowheads="1"/>
          </p:cNvPicPr>
          <p:nvPr/>
        </p:nvPicPr>
        <p:blipFill>
          <a:blip r:embed="rId3" cstate="print"/>
          <a:srcRect/>
          <a:stretch>
            <a:fillRect/>
          </a:stretch>
        </p:blipFill>
        <p:spPr bwMode="auto">
          <a:xfrm>
            <a:off x="6089161" y="2928776"/>
            <a:ext cx="1647825" cy="1762125"/>
          </a:xfrm>
          <a:prstGeom prst="rect">
            <a:avLst/>
          </a:prstGeom>
          <a:noFill/>
          <a:ln w="9525">
            <a:noFill/>
            <a:miter lim="800000"/>
            <a:headEnd/>
            <a:tailEnd/>
          </a:ln>
        </p:spPr>
      </p:pic>
      <p:sp>
        <p:nvSpPr>
          <p:cNvPr id="3" name="内容占位符 2"/>
          <p:cNvSpPr>
            <a:spLocks noGrp="1"/>
          </p:cNvSpPr>
          <p:nvPr>
            <p:ph idx="1"/>
          </p:nvPr>
        </p:nvSpPr>
        <p:spPr>
          <a:xfrm>
            <a:off x="467544" y="1988840"/>
            <a:ext cx="8352928" cy="4752528"/>
          </a:xfrm>
        </p:spPr>
        <p:txBody>
          <a:bodyPr/>
          <a:lstStyle/>
          <a:p>
            <a:pPr>
              <a:buSzPct val="100000"/>
              <a:buFont typeface="Wingdings" pitchFamily="2" charset="2"/>
              <a:buChar char="p"/>
            </a:pPr>
            <a:r>
              <a:rPr lang="zh-CN" altLang="en-US" sz="2800" dirty="0"/>
              <a:t>与非门构成的</a:t>
            </a:r>
            <a:r>
              <a:rPr lang="en-US" altLang="zh-CN" sz="2800" dirty="0"/>
              <a:t>SR</a:t>
            </a:r>
            <a:r>
              <a:rPr lang="zh-CN" altLang="en-US" sz="2800" dirty="0"/>
              <a:t>锁存器应用</a:t>
            </a:r>
            <a:r>
              <a:rPr lang="zh-CN" altLang="en-US" sz="2800" dirty="0" smtClean="0"/>
              <a:t>举例</a:t>
            </a:r>
            <a:endParaRPr lang="en-US" altLang="zh-CN" sz="2800" dirty="0" smtClean="0"/>
          </a:p>
          <a:p>
            <a:pPr lvl="1">
              <a:lnSpc>
                <a:spcPct val="100000"/>
              </a:lnSpc>
              <a:spcBef>
                <a:spcPts val="0"/>
              </a:spcBef>
              <a:buSzPct val="100000"/>
            </a:pPr>
            <a:r>
              <a:rPr lang="zh-CN" altLang="en-US" sz="2400" dirty="0" smtClean="0"/>
              <a:t>基本</a:t>
            </a:r>
            <a:r>
              <a:rPr lang="en-US" altLang="zh-CN" sz="2400" dirty="0" smtClean="0"/>
              <a:t>RS</a:t>
            </a:r>
            <a:r>
              <a:rPr lang="zh-CN" altLang="en-US" sz="2400" dirty="0" smtClean="0"/>
              <a:t>触发器常用于</a:t>
            </a:r>
            <a:r>
              <a:rPr lang="zh-CN" altLang="en-US" sz="2400" dirty="0" smtClean="0">
                <a:solidFill>
                  <a:srgbClr val="FF0000"/>
                </a:solidFill>
              </a:rPr>
              <a:t>键盘输入、消除开关噪声</a:t>
            </a:r>
            <a:r>
              <a:rPr lang="zh-CN" altLang="en-US" sz="2400" dirty="0" smtClean="0"/>
              <a:t>等场所</a:t>
            </a:r>
          </a:p>
          <a:p>
            <a:pPr>
              <a:lnSpc>
                <a:spcPct val="100000"/>
              </a:lnSpc>
              <a:spcBef>
                <a:spcPts val="600"/>
              </a:spcBef>
              <a:buSzPct val="100000"/>
              <a:buFont typeface="Wingdings" pitchFamily="2" charset="2"/>
              <a:buChar char="p"/>
            </a:pPr>
            <a:r>
              <a:rPr lang="zh-CN" altLang="en-US" sz="2800" dirty="0" smtClean="0">
                <a:solidFill>
                  <a:srgbClr val="0000CC"/>
                </a:solidFill>
                <a:ea typeface="楷体_GB2312" pitchFamily="49" charset="-122"/>
              </a:rPr>
              <a:t>例：</a:t>
            </a:r>
            <a:r>
              <a:rPr lang="zh-CN" altLang="en-US" sz="2800" dirty="0" smtClean="0"/>
              <a:t>键盘消抖示例</a:t>
            </a:r>
            <a:endParaRPr lang="zh-CN" altLang="en-US" sz="2600"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19</a:t>
            </a:fld>
            <a:endParaRPr lang="zh-CN" altLang="en-US"/>
          </a:p>
        </p:txBody>
      </p:sp>
      <p:grpSp>
        <p:nvGrpSpPr>
          <p:cNvPr id="68" name="组合 67"/>
          <p:cNvGrpSpPr/>
          <p:nvPr/>
        </p:nvGrpSpPr>
        <p:grpSpPr>
          <a:xfrm>
            <a:off x="5652120" y="3068960"/>
            <a:ext cx="391738" cy="272018"/>
            <a:chOff x="6439215" y="2921112"/>
            <a:chExt cx="391738" cy="272018"/>
          </a:xfrm>
        </p:grpSpPr>
        <p:cxnSp>
          <p:nvCxnSpPr>
            <p:cNvPr id="40" name="肘形连接符 39"/>
            <p:cNvCxnSpPr/>
            <p:nvPr/>
          </p:nvCxnSpPr>
          <p:spPr bwMode="auto">
            <a:xfrm rot="16200000" flipH="1">
              <a:off x="6342624" y="3017704"/>
              <a:ext cx="272017" cy="78835"/>
            </a:xfrm>
            <a:prstGeom prst="bentConnector3">
              <a:avLst>
                <a:gd name="adj1" fmla="val 1978"/>
              </a:avLst>
            </a:prstGeom>
            <a:noFill/>
            <a:ln w="19050" cap="flat" cmpd="sng" algn="ctr">
              <a:solidFill>
                <a:srgbClr val="C00000"/>
              </a:solidFill>
              <a:prstDash val="solid"/>
              <a:miter lim="800000"/>
              <a:headEnd type="none" w="med" len="med"/>
              <a:tailEnd type="none" w="med" len="med"/>
            </a:ln>
          </p:spPr>
        </p:cxnSp>
        <p:cxnSp>
          <p:nvCxnSpPr>
            <p:cNvPr id="47" name="肘形连接符 46"/>
            <p:cNvCxnSpPr/>
            <p:nvPr/>
          </p:nvCxnSpPr>
          <p:spPr bwMode="auto">
            <a:xfrm rot="5400000">
              <a:off x="6409007" y="3033977"/>
              <a:ext cx="272017" cy="46289"/>
            </a:xfrm>
            <a:prstGeom prst="bentConnector3">
              <a:avLst>
                <a:gd name="adj1" fmla="val 98022"/>
              </a:avLst>
            </a:prstGeom>
            <a:noFill/>
            <a:ln w="19050" cap="flat" cmpd="sng" algn="ctr">
              <a:solidFill>
                <a:srgbClr val="C00000"/>
              </a:solidFill>
              <a:prstDash val="solid"/>
              <a:miter lim="800000"/>
              <a:headEnd type="none" w="med" len="med"/>
              <a:tailEnd type="none" w="med" len="med"/>
            </a:ln>
          </p:spPr>
        </p:cxnSp>
        <p:cxnSp>
          <p:nvCxnSpPr>
            <p:cNvPr id="51" name="肘形连接符 50"/>
            <p:cNvCxnSpPr/>
            <p:nvPr/>
          </p:nvCxnSpPr>
          <p:spPr bwMode="auto">
            <a:xfrm rot="16200000" flipH="1">
              <a:off x="6476444" y="3017704"/>
              <a:ext cx="272017" cy="78835"/>
            </a:xfrm>
            <a:prstGeom prst="bentConnector3">
              <a:avLst>
                <a:gd name="adj1" fmla="val 1978"/>
              </a:avLst>
            </a:prstGeom>
            <a:noFill/>
            <a:ln w="19050" cap="flat" cmpd="sng" algn="ctr">
              <a:solidFill>
                <a:srgbClr val="C00000"/>
              </a:solidFill>
              <a:prstDash val="solid"/>
              <a:miter lim="800000"/>
              <a:headEnd type="none" w="med" len="med"/>
              <a:tailEnd type="none" w="med" len="med"/>
            </a:ln>
          </p:spPr>
        </p:cxnSp>
        <p:cxnSp>
          <p:nvCxnSpPr>
            <p:cNvPr id="52" name="肘形连接符 51"/>
            <p:cNvCxnSpPr/>
            <p:nvPr/>
          </p:nvCxnSpPr>
          <p:spPr bwMode="auto">
            <a:xfrm rot="5400000">
              <a:off x="6542827" y="3033977"/>
              <a:ext cx="272017" cy="46289"/>
            </a:xfrm>
            <a:prstGeom prst="bentConnector3">
              <a:avLst>
                <a:gd name="adj1" fmla="val 98022"/>
              </a:avLst>
            </a:prstGeom>
            <a:noFill/>
            <a:ln w="19050" cap="flat" cmpd="sng" algn="ctr">
              <a:solidFill>
                <a:srgbClr val="C00000"/>
              </a:solidFill>
              <a:prstDash val="solid"/>
              <a:miter lim="800000"/>
              <a:headEnd type="none" w="med" len="med"/>
              <a:tailEnd type="none" w="med" len="med"/>
            </a:ln>
          </p:spPr>
        </p:cxnSp>
        <p:cxnSp>
          <p:nvCxnSpPr>
            <p:cNvPr id="55" name="肘形连接符 54"/>
            <p:cNvCxnSpPr/>
            <p:nvPr/>
          </p:nvCxnSpPr>
          <p:spPr bwMode="auto">
            <a:xfrm rot="16200000" flipH="1">
              <a:off x="6605417" y="3017703"/>
              <a:ext cx="272017" cy="78835"/>
            </a:xfrm>
            <a:prstGeom prst="bentConnector3">
              <a:avLst>
                <a:gd name="adj1" fmla="val 1978"/>
              </a:avLst>
            </a:prstGeom>
            <a:noFill/>
            <a:ln w="19050" cap="flat" cmpd="sng" algn="ctr">
              <a:solidFill>
                <a:srgbClr val="C00000"/>
              </a:solidFill>
              <a:prstDash val="solid"/>
              <a:miter lim="800000"/>
              <a:headEnd type="none" w="med" len="med"/>
              <a:tailEnd type="none" w="med" len="med"/>
            </a:ln>
          </p:spPr>
        </p:cxnSp>
        <p:cxnSp>
          <p:nvCxnSpPr>
            <p:cNvPr id="56" name="肘形连接符 55"/>
            <p:cNvCxnSpPr/>
            <p:nvPr/>
          </p:nvCxnSpPr>
          <p:spPr bwMode="auto">
            <a:xfrm rot="5400000">
              <a:off x="6671800" y="3033976"/>
              <a:ext cx="272017" cy="46289"/>
            </a:xfrm>
            <a:prstGeom prst="bentConnector3">
              <a:avLst>
                <a:gd name="adj1" fmla="val 98022"/>
              </a:avLst>
            </a:prstGeom>
            <a:noFill/>
            <a:ln w="19050" cap="flat" cmpd="sng" algn="ctr">
              <a:solidFill>
                <a:srgbClr val="C00000"/>
              </a:solidFill>
              <a:prstDash val="solid"/>
              <a:miter lim="800000"/>
              <a:headEnd type="none" w="med" len="med"/>
              <a:tailEnd type="none" w="med" len="med"/>
            </a:ln>
          </p:spPr>
        </p:cxnSp>
      </p:grpSp>
      <p:grpSp>
        <p:nvGrpSpPr>
          <p:cNvPr id="69" name="组合 68"/>
          <p:cNvGrpSpPr/>
          <p:nvPr/>
        </p:nvGrpSpPr>
        <p:grpSpPr>
          <a:xfrm>
            <a:off x="5781065" y="4238715"/>
            <a:ext cx="400734" cy="259166"/>
            <a:chOff x="6568160" y="4090867"/>
            <a:chExt cx="400734" cy="259166"/>
          </a:xfrm>
        </p:grpSpPr>
        <p:cxnSp>
          <p:nvCxnSpPr>
            <p:cNvPr id="57" name="肘形连接符 56"/>
            <p:cNvCxnSpPr/>
            <p:nvPr/>
          </p:nvCxnSpPr>
          <p:spPr bwMode="auto">
            <a:xfrm rot="5400000">
              <a:off x="6485531" y="4173498"/>
              <a:ext cx="259164" cy="93905"/>
            </a:xfrm>
            <a:prstGeom prst="bentConnector3">
              <a:avLst>
                <a:gd name="adj1" fmla="val 100404"/>
              </a:avLst>
            </a:prstGeom>
            <a:noFill/>
            <a:ln w="19050" cap="flat" cmpd="sng" algn="ctr">
              <a:solidFill>
                <a:srgbClr val="C00000"/>
              </a:solidFill>
              <a:prstDash val="solid"/>
              <a:miter lim="800000"/>
              <a:headEnd type="none" w="med" len="med"/>
              <a:tailEnd type="none" w="med" len="med"/>
            </a:ln>
          </p:spPr>
        </p:cxnSp>
        <p:cxnSp>
          <p:nvCxnSpPr>
            <p:cNvPr id="58" name="肘形连接符 57"/>
            <p:cNvCxnSpPr/>
            <p:nvPr/>
          </p:nvCxnSpPr>
          <p:spPr bwMode="auto">
            <a:xfrm>
              <a:off x="6665895" y="4090867"/>
              <a:ext cx="302999" cy="3"/>
            </a:xfrm>
            <a:prstGeom prst="bentConnector3">
              <a:avLst>
                <a:gd name="adj1" fmla="val 50000"/>
              </a:avLst>
            </a:prstGeom>
            <a:noFill/>
            <a:ln w="19050" cap="flat" cmpd="sng" algn="ctr">
              <a:solidFill>
                <a:srgbClr val="C00000"/>
              </a:solidFill>
              <a:prstDash val="solid"/>
              <a:miter lim="800000"/>
              <a:headEnd type="none" w="med" len="med"/>
              <a:tailEnd type="none" w="med" len="med"/>
            </a:ln>
          </p:spPr>
        </p:cxnSp>
      </p:grpSp>
      <p:cxnSp>
        <p:nvCxnSpPr>
          <p:cNvPr id="73" name="直接箭头连接符 72"/>
          <p:cNvCxnSpPr/>
          <p:nvPr/>
        </p:nvCxnSpPr>
        <p:spPr bwMode="auto">
          <a:xfrm flipV="1">
            <a:off x="5292080" y="6653138"/>
            <a:ext cx="3394720" cy="26330"/>
          </a:xfrm>
          <a:prstGeom prst="straightConnector1">
            <a:avLst/>
          </a:prstGeom>
          <a:noFill/>
          <a:ln w="15875" cap="flat" cmpd="sng" algn="ctr">
            <a:solidFill>
              <a:schemeClr val="tx1"/>
            </a:solidFill>
            <a:prstDash val="solid"/>
            <a:miter lim="800000"/>
            <a:headEnd type="none" w="med" len="med"/>
            <a:tailEnd type="triangle"/>
          </a:ln>
        </p:spPr>
      </p:cxnSp>
      <p:cxnSp>
        <p:nvCxnSpPr>
          <p:cNvPr id="76" name="直接箭头连接符 75"/>
          <p:cNvCxnSpPr/>
          <p:nvPr/>
        </p:nvCxnSpPr>
        <p:spPr bwMode="auto">
          <a:xfrm flipV="1">
            <a:off x="5292080" y="6197242"/>
            <a:ext cx="0" cy="472297"/>
          </a:xfrm>
          <a:prstGeom prst="straightConnector1">
            <a:avLst/>
          </a:prstGeom>
          <a:noFill/>
          <a:ln w="15875" cap="flat" cmpd="sng" algn="ctr">
            <a:solidFill>
              <a:schemeClr val="tx1"/>
            </a:solidFill>
            <a:prstDash val="solid"/>
            <a:miter lim="800000"/>
            <a:headEnd type="none" w="med" len="med"/>
            <a:tailEnd type="triangle"/>
          </a:ln>
        </p:spPr>
      </p:cxnSp>
      <p:cxnSp>
        <p:nvCxnSpPr>
          <p:cNvPr id="83" name="直接连接符 82"/>
          <p:cNvCxnSpPr/>
          <p:nvPr/>
        </p:nvCxnSpPr>
        <p:spPr bwMode="auto">
          <a:xfrm>
            <a:off x="5292080" y="6597352"/>
            <a:ext cx="576064" cy="0"/>
          </a:xfrm>
          <a:prstGeom prst="line">
            <a:avLst/>
          </a:prstGeom>
          <a:noFill/>
          <a:ln w="15875" cap="flat" cmpd="sng" algn="ctr">
            <a:solidFill>
              <a:srgbClr val="0000CC"/>
            </a:solidFill>
            <a:prstDash val="solid"/>
            <a:miter lim="800000"/>
            <a:headEnd type="none" w="med" len="med"/>
            <a:tailEnd type="none" w="med" len="med"/>
          </a:ln>
        </p:spPr>
      </p:cxnSp>
      <p:cxnSp>
        <p:nvCxnSpPr>
          <p:cNvPr id="84" name="直接连接符 83"/>
          <p:cNvCxnSpPr/>
          <p:nvPr/>
        </p:nvCxnSpPr>
        <p:spPr bwMode="auto">
          <a:xfrm>
            <a:off x="5863151" y="6309320"/>
            <a:ext cx="1445153" cy="0"/>
          </a:xfrm>
          <a:prstGeom prst="line">
            <a:avLst/>
          </a:prstGeom>
          <a:noFill/>
          <a:ln w="15875" cap="flat" cmpd="sng" algn="ctr">
            <a:solidFill>
              <a:srgbClr val="0000CC"/>
            </a:solidFill>
            <a:prstDash val="solid"/>
            <a:miter lim="800000"/>
            <a:headEnd type="none" w="med" len="med"/>
            <a:tailEnd type="none" w="med" len="med"/>
          </a:ln>
        </p:spPr>
      </p:cxnSp>
      <p:cxnSp>
        <p:nvCxnSpPr>
          <p:cNvPr id="86" name="直接连接符 85"/>
          <p:cNvCxnSpPr/>
          <p:nvPr/>
        </p:nvCxnSpPr>
        <p:spPr bwMode="auto">
          <a:xfrm>
            <a:off x="5863151" y="6309320"/>
            <a:ext cx="4993" cy="288032"/>
          </a:xfrm>
          <a:prstGeom prst="line">
            <a:avLst/>
          </a:prstGeom>
          <a:noFill/>
          <a:ln w="15875" cap="flat" cmpd="sng" algn="ctr">
            <a:solidFill>
              <a:schemeClr val="tx1"/>
            </a:solidFill>
            <a:prstDash val="solid"/>
            <a:miter lim="800000"/>
            <a:headEnd type="none" w="med" len="med"/>
            <a:tailEnd type="none" w="med" len="med"/>
          </a:ln>
        </p:spPr>
      </p:cxnSp>
      <p:cxnSp>
        <p:nvCxnSpPr>
          <p:cNvPr id="89" name="直接连接符 88"/>
          <p:cNvCxnSpPr/>
          <p:nvPr/>
        </p:nvCxnSpPr>
        <p:spPr bwMode="auto">
          <a:xfrm>
            <a:off x="7308304" y="6286390"/>
            <a:ext cx="4993" cy="288032"/>
          </a:xfrm>
          <a:prstGeom prst="line">
            <a:avLst/>
          </a:prstGeom>
          <a:noFill/>
          <a:ln w="15875" cap="flat" cmpd="sng" algn="ctr">
            <a:solidFill>
              <a:schemeClr val="tx1"/>
            </a:solidFill>
            <a:prstDash val="solid"/>
            <a:miter lim="800000"/>
            <a:headEnd type="none" w="med" len="med"/>
            <a:tailEnd type="none" w="med" len="med"/>
          </a:ln>
        </p:spPr>
      </p:cxnSp>
      <p:cxnSp>
        <p:nvCxnSpPr>
          <p:cNvPr id="90" name="直接连接符 89"/>
          <p:cNvCxnSpPr/>
          <p:nvPr/>
        </p:nvCxnSpPr>
        <p:spPr bwMode="auto">
          <a:xfrm flipV="1">
            <a:off x="7308304" y="6556920"/>
            <a:ext cx="1224136" cy="609"/>
          </a:xfrm>
          <a:prstGeom prst="line">
            <a:avLst/>
          </a:prstGeom>
          <a:noFill/>
          <a:ln w="15875" cap="flat" cmpd="sng" algn="ctr">
            <a:solidFill>
              <a:srgbClr val="0000CC"/>
            </a:solidFill>
            <a:prstDash val="solid"/>
            <a:miter lim="800000"/>
            <a:headEnd type="none" w="med" len="med"/>
            <a:tailEnd type="none" w="med" len="med"/>
          </a:ln>
        </p:spPr>
      </p:cxnSp>
      <p:sp>
        <p:nvSpPr>
          <p:cNvPr id="92" name="文本框 91"/>
          <p:cNvSpPr txBox="1"/>
          <p:nvPr/>
        </p:nvSpPr>
        <p:spPr>
          <a:xfrm>
            <a:off x="7404027" y="2917071"/>
            <a:ext cx="332142" cy="369332"/>
          </a:xfrm>
          <a:prstGeom prst="rect">
            <a:avLst/>
          </a:prstGeom>
          <a:noFill/>
        </p:spPr>
        <p:txBody>
          <a:bodyPr wrap="none" rtlCol="0">
            <a:spAutoFit/>
          </a:bodyPr>
          <a:lstStyle/>
          <a:p>
            <a:r>
              <a:rPr lang="en-US" altLang="zh-CN" b="1" dirty="0" smtClean="0">
                <a:solidFill>
                  <a:srgbClr val="0000CC"/>
                </a:solidFill>
              </a:rPr>
              <a:t>0</a:t>
            </a:r>
            <a:endParaRPr lang="zh-CN" altLang="en-US" b="1" dirty="0">
              <a:solidFill>
                <a:srgbClr val="0000CC"/>
              </a:solidFill>
            </a:endParaRPr>
          </a:p>
        </p:txBody>
      </p:sp>
      <p:sp>
        <p:nvSpPr>
          <p:cNvPr id="93" name="文本框 92"/>
          <p:cNvSpPr txBox="1"/>
          <p:nvPr/>
        </p:nvSpPr>
        <p:spPr>
          <a:xfrm>
            <a:off x="7340784" y="3957805"/>
            <a:ext cx="332142" cy="369332"/>
          </a:xfrm>
          <a:prstGeom prst="rect">
            <a:avLst/>
          </a:prstGeom>
          <a:noFill/>
        </p:spPr>
        <p:txBody>
          <a:bodyPr wrap="none" rtlCol="0">
            <a:spAutoFit/>
          </a:bodyPr>
          <a:lstStyle/>
          <a:p>
            <a:r>
              <a:rPr lang="en-US" altLang="zh-CN" b="1" dirty="0" smtClean="0">
                <a:solidFill>
                  <a:srgbClr val="0000CC"/>
                </a:solidFill>
              </a:rPr>
              <a:t>1</a:t>
            </a:r>
            <a:endParaRPr lang="zh-CN" altLang="en-US" b="1" dirty="0">
              <a:solidFill>
                <a:srgbClr val="0000CC"/>
              </a:solidFill>
            </a:endParaRPr>
          </a:p>
        </p:txBody>
      </p:sp>
      <p:sp>
        <p:nvSpPr>
          <p:cNvPr id="94" name="文本框 93"/>
          <p:cNvSpPr txBox="1"/>
          <p:nvPr/>
        </p:nvSpPr>
        <p:spPr>
          <a:xfrm>
            <a:off x="7488372" y="2884293"/>
            <a:ext cx="332142" cy="369332"/>
          </a:xfrm>
          <a:prstGeom prst="rect">
            <a:avLst/>
          </a:prstGeom>
          <a:noFill/>
        </p:spPr>
        <p:txBody>
          <a:bodyPr wrap="none" rtlCol="0">
            <a:spAutoFit/>
          </a:bodyPr>
          <a:lstStyle/>
          <a:p>
            <a:r>
              <a:rPr lang="en-US" altLang="zh-CN" b="1" dirty="0" smtClean="0">
                <a:solidFill>
                  <a:srgbClr val="C00000"/>
                </a:solidFill>
              </a:rPr>
              <a:t>1</a:t>
            </a:r>
            <a:endParaRPr lang="zh-CN" altLang="en-US" b="1" dirty="0">
              <a:solidFill>
                <a:srgbClr val="C00000"/>
              </a:solidFill>
            </a:endParaRPr>
          </a:p>
        </p:txBody>
      </p:sp>
      <p:sp>
        <p:nvSpPr>
          <p:cNvPr id="95" name="文本框 94"/>
          <p:cNvSpPr txBox="1"/>
          <p:nvPr/>
        </p:nvSpPr>
        <p:spPr>
          <a:xfrm>
            <a:off x="7425129" y="3925027"/>
            <a:ext cx="332142" cy="369332"/>
          </a:xfrm>
          <a:prstGeom prst="rect">
            <a:avLst/>
          </a:prstGeom>
          <a:noFill/>
        </p:spPr>
        <p:txBody>
          <a:bodyPr wrap="none" rtlCol="0">
            <a:spAutoFit/>
          </a:bodyPr>
          <a:lstStyle/>
          <a:p>
            <a:r>
              <a:rPr lang="en-US" altLang="zh-CN" b="1" dirty="0" smtClean="0">
                <a:solidFill>
                  <a:srgbClr val="C00000"/>
                </a:solidFill>
              </a:rPr>
              <a:t>0</a:t>
            </a:r>
            <a:endParaRPr lang="zh-CN" altLang="en-US" b="1" dirty="0">
              <a:solidFill>
                <a:srgbClr val="C00000"/>
              </a:solidFill>
            </a:endParaRPr>
          </a:p>
        </p:txBody>
      </p:sp>
      <p:sp>
        <p:nvSpPr>
          <p:cNvPr id="32" name="标题 1"/>
          <p:cNvSpPr>
            <a:spLocks noGrp="1"/>
          </p:cNvSpPr>
          <p:nvPr>
            <p:ph type="title"/>
          </p:nvPr>
        </p:nvSpPr>
        <p:spPr>
          <a:xfrm>
            <a:off x="1043608" y="1124744"/>
            <a:ext cx="7704856" cy="566936"/>
          </a:xfrm>
        </p:spPr>
        <p:txBody>
          <a:bodyPr/>
          <a:lstStyle/>
          <a:p>
            <a:r>
              <a:rPr lang="en-US" altLang="zh-CN" dirty="0" smtClean="0"/>
              <a:t>5.1.1 </a:t>
            </a:r>
            <a:r>
              <a:rPr lang="zh-CN" altLang="en-US" dirty="0" smtClean="0"/>
              <a:t>由与非门构成的基本</a:t>
            </a:r>
            <a:r>
              <a:rPr lang="en-US" altLang="zh-CN" dirty="0"/>
              <a:t>RS</a:t>
            </a:r>
            <a:r>
              <a:rPr lang="zh-CN" altLang="en-US" dirty="0"/>
              <a:t>触发器</a:t>
            </a:r>
          </a:p>
        </p:txBody>
      </p:sp>
      <p:sp>
        <p:nvSpPr>
          <p:cNvPr id="33" name="标题 1"/>
          <p:cNvSpPr txBox="1">
            <a:spLocks/>
          </p:cNvSpPr>
          <p:nvPr/>
        </p:nvSpPr>
        <p:spPr bwMode="auto">
          <a:xfrm>
            <a:off x="1043608" y="332656"/>
            <a:ext cx="7704856" cy="5669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5.1 </a:t>
            </a:r>
            <a:r>
              <a:rPr kumimoji="1" lang="zh-CN" altLang="en-US" sz="3200" b="1" kern="0" dirty="0" smtClean="0">
                <a:solidFill>
                  <a:schemeClr val="tx2"/>
                </a:solidFill>
                <a:latin typeface="+mj-lt"/>
                <a:ea typeface="+mj-ea"/>
                <a:cs typeface="+mj-cs"/>
              </a:rPr>
              <a:t>电平触发的</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触发器</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pic>
        <p:nvPicPr>
          <p:cNvPr id="132098" name="Picture 2"/>
          <p:cNvPicPr>
            <a:picLocks noChangeAspect="1" noChangeArrowheads="1"/>
          </p:cNvPicPr>
          <p:nvPr/>
        </p:nvPicPr>
        <p:blipFill>
          <a:blip r:embed="rId4" cstate="print"/>
          <a:srcRect/>
          <a:stretch>
            <a:fillRect/>
          </a:stretch>
        </p:blipFill>
        <p:spPr bwMode="auto">
          <a:xfrm>
            <a:off x="1043608" y="3789040"/>
            <a:ext cx="3600400" cy="2099489"/>
          </a:xfrm>
          <a:prstGeom prst="rect">
            <a:avLst/>
          </a:prstGeom>
          <a:noFill/>
          <a:ln w="9525">
            <a:noFill/>
            <a:miter lim="800000"/>
            <a:headEnd/>
            <a:tailEnd/>
          </a:ln>
        </p:spPr>
      </p:pic>
    </p:spTree>
    <p:extLst>
      <p:ext uri="{BB962C8B-B14F-4D97-AF65-F5344CB8AC3E}">
        <p14:creationId xmlns:p14="http://schemas.microsoft.com/office/powerpoint/2010/main" xmlns="" val="34342104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3"/>
                                        </p:tgtEl>
                                        <p:attrNameLst>
                                          <p:attrName>style.visibility</p:attrName>
                                        </p:attrNameLst>
                                      </p:cBhvr>
                                      <p:to>
                                        <p:strVal val="visible"/>
                                      </p:to>
                                    </p:set>
                                    <p:animEffect transition="in" filter="fade">
                                      <p:cBhvr>
                                        <p:cTn id="7" dur="500"/>
                                        <p:tgtEl>
                                          <p:spTgt spid="83"/>
                                        </p:tgtEl>
                                      </p:cBhvr>
                                    </p:animEffect>
                                  </p:childTnLst>
                                </p:cTn>
                              </p:par>
                              <p:par>
                                <p:cTn id="8" presetID="1" presetClass="entr" presetSubtype="0" fill="hold" grpId="0" nodeType="withEffect">
                                  <p:stCondLst>
                                    <p:cond delay="0"/>
                                  </p:stCondLst>
                                  <p:childTnLst>
                                    <p:set>
                                      <p:cBhvr>
                                        <p:cTn id="9" dur="1" fill="hold">
                                          <p:stCondLst>
                                            <p:cond delay="0"/>
                                          </p:stCondLst>
                                        </p:cTn>
                                        <p:tgtEl>
                                          <p:spTgt spid="92"/>
                                        </p:tgtEl>
                                        <p:attrNameLst>
                                          <p:attrName>style.visibility</p:attrName>
                                        </p:attrNameLst>
                                      </p:cBhvr>
                                      <p:to>
                                        <p:strVal val="visible"/>
                                      </p:to>
                                    </p:set>
                                  </p:childTnLst>
                                </p:cTn>
                              </p:par>
                              <p:par>
                                <p:cTn id="10" presetID="1" presetClass="entr" presetSubtype="0" fill="hold" grpId="0" nodeType="withEffect">
                                  <p:stCondLst>
                                    <p:cond delay="0"/>
                                  </p:stCondLst>
                                  <p:childTnLst>
                                    <p:set>
                                      <p:cBhvr>
                                        <p:cTn id="11" dur="1" fill="hold">
                                          <p:stCondLst>
                                            <p:cond delay="0"/>
                                          </p:stCondLst>
                                        </p:cTn>
                                        <p:tgtEl>
                                          <p:spTgt spid="93"/>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86"/>
                                        </p:tgtEl>
                                        <p:attrNameLst>
                                          <p:attrName>style.visibility</p:attrName>
                                        </p:attrNameLst>
                                      </p:cBhvr>
                                      <p:to>
                                        <p:strVal val="visible"/>
                                      </p:to>
                                    </p:set>
                                    <p:animEffect transition="in" filter="fade">
                                      <p:cBhvr>
                                        <p:cTn id="16" dur="500"/>
                                        <p:tgtEl>
                                          <p:spTgt spid="86"/>
                                        </p:tgtEl>
                                      </p:cBhvr>
                                    </p:animEffect>
                                  </p:childTnLst>
                                </p:cTn>
                              </p:par>
                              <p:par>
                                <p:cTn id="17" presetID="10" presetClass="entr" presetSubtype="0" fill="hold" nodeType="withEffect">
                                  <p:stCondLst>
                                    <p:cond delay="0"/>
                                  </p:stCondLst>
                                  <p:childTnLst>
                                    <p:set>
                                      <p:cBhvr>
                                        <p:cTn id="18" dur="1" fill="hold">
                                          <p:stCondLst>
                                            <p:cond delay="0"/>
                                          </p:stCondLst>
                                        </p:cTn>
                                        <p:tgtEl>
                                          <p:spTgt spid="84"/>
                                        </p:tgtEl>
                                        <p:attrNameLst>
                                          <p:attrName>style.visibility</p:attrName>
                                        </p:attrNameLst>
                                      </p:cBhvr>
                                      <p:to>
                                        <p:strVal val="visible"/>
                                      </p:to>
                                    </p:set>
                                    <p:animEffect transition="in" filter="fade">
                                      <p:cBhvr>
                                        <p:cTn id="19" dur="500"/>
                                        <p:tgtEl>
                                          <p:spTgt spid="84"/>
                                        </p:tgtEl>
                                      </p:cBhvr>
                                    </p:animEffect>
                                  </p:childTnLst>
                                </p:cTn>
                              </p:par>
                              <p:par>
                                <p:cTn id="20" presetID="1" presetClass="entr" presetSubtype="0" fill="hold" grpId="0" nodeType="withEffect">
                                  <p:stCondLst>
                                    <p:cond delay="0"/>
                                  </p:stCondLst>
                                  <p:childTnLst>
                                    <p:set>
                                      <p:cBhvr>
                                        <p:cTn id="21" dur="1" fill="hold">
                                          <p:stCondLst>
                                            <p:cond delay="0"/>
                                          </p:stCondLst>
                                        </p:cTn>
                                        <p:tgtEl>
                                          <p:spTgt spid="94"/>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95"/>
                                        </p:tgtEl>
                                        <p:attrNameLst>
                                          <p:attrName>style.visibility</p:attrName>
                                        </p:attrNameLst>
                                      </p:cBhvr>
                                      <p:to>
                                        <p:strVal val="visible"/>
                                      </p:to>
                                    </p:set>
                                  </p:childTnLst>
                                </p:cTn>
                              </p:par>
                              <p:par>
                                <p:cTn id="24" presetID="1" presetClass="exit" presetSubtype="0" fill="hold" grpId="1" nodeType="withEffect">
                                  <p:stCondLst>
                                    <p:cond delay="0"/>
                                  </p:stCondLst>
                                  <p:childTnLst>
                                    <p:set>
                                      <p:cBhvr>
                                        <p:cTn id="25" dur="1" fill="hold">
                                          <p:stCondLst>
                                            <p:cond delay="0"/>
                                          </p:stCondLst>
                                        </p:cTn>
                                        <p:tgtEl>
                                          <p:spTgt spid="92"/>
                                        </p:tgtEl>
                                        <p:attrNameLst>
                                          <p:attrName>style.visibility</p:attrName>
                                        </p:attrNameLst>
                                      </p:cBhvr>
                                      <p:to>
                                        <p:strVal val="hidden"/>
                                      </p:to>
                                    </p:set>
                                  </p:childTnLst>
                                </p:cTn>
                              </p:par>
                              <p:par>
                                <p:cTn id="26" presetID="1" presetClass="exit" presetSubtype="0" fill="hold" grpId="1" nodeType="withEffect">
                                  <p:stCondLst>
                                    <p:cond delay="0"/>
                                  </p:stCondLst>
                                  <p:childTnLst>
                                    <p:set>
                                      <p:cBhvr>
                                        <p:cTn id="27" dur="1" fill="hold">
                                          <p:stCondLst>
                                            <p:cond delay="0"/>
                                          </p:stCondLst>
                                        </p:cTn>
                                        <p:tgtEl>
                                          <p:spTgt spid="93"/>
                                        </p:tgtEl>
                                        <p:attrNameLst>
                                          <p:attrName>style.visibility</p:attrName>
                                        </p:attrNameLst>
                                      </p:cBhvr>
                                      <p:to>
                                        <p:strVal val="hidden"/>
                                      </p:to>
                                    </p:set>
                                  </p:childTnLst>
                                </p:cTn>
                              </p:par>
                              <p:par>
                                <p:cTn id="28" presetID="10" presetClass="entr" presetSubtype="0" fill="hold" nodeType="withEffect">
                                  <p:stCondLst>
                                    <p:cond delay="0"/>
                                  </p:stCondLst>
                                  <p:childTnLst>
                                    <p:set>
                                      <p:cBhvr>
                                        <p:cTn id="29" dur="1" fill="hold">
                                          <p:stCondLst>
                                            <p:cond delay="0"/>
                                          </p:stCondLst>
                                        </p:cTn>
                                        <p:tgtEl>
                                          <p:spTgt spid="89"/>
                                        </p:tgtEl>
                                        <p:attrNameLst>
                                          <p:attrName>style.visibility</p:attrName>
                                        </p:attrNameLst>
                                      </p:cBhvr>
                                      <p:to>
                                        <p:strVal val="visible"/>
                                      </p:to>
                                    </p:set>
                                    <p:animEffect transition="in" filter="fade">
                                      <p:cBhvr>
                                        <p:cTn id="30" dur="300"/>
                                        <p:tgtEl>
                                          <p:spTgt spid="89"/>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90"/>
                                        </p:tgtEl>
                                        <p:attrNameLst>
                                          <p:attrName>style.visibility</p:attrName>
                                        </p:attrNameLst>
                                      </p:cBhvr>
                                      <p:to>
                                        <p:strVal val="visible"/>
                                      </p:to>
                                    </p:set>
                                    <p:animEffect transition="in" filter="fade">
                                      <p:cBhvr>
                                        <p:cTn id="35" dur="500"/>
                                        <p:tgtEl>
                                          <p:spTgt spid="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 grpId="0"/>
      <p:bldP spid="92" grpId="1"/>
      <p:bldP spid="93" grpId="0"/>
      <p:bldP spid="93" grpId="1"/>
      <p:bldP spid="94" grpId="0"/>
      <p:bldP spid="95"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467544" y="1988840"/>
            <a:ext cx="5832648" cy="4401205"/>
          </a:xfrm>
          <a:prstGeom prst="rect">
            <a:avLst/>
          </a:prstGeom>
        </p:spPr>
        <p:txBody>
          <a:bodyPr wrap="square">
            <a:spAutoFit/>
          </a:bodyPr>
          <a:lstStyle/>
          <a:p>
            <a:pPr marL="285750" indent="-285750">
              <a:buClr>
                <a:srgbClr val="0000CC"/>
              </a:buClr>
              <a:buFont typeface="Wingdings" pitchFamily="2" charset="2"/>
              <a:buChar char="p"/>
            </a:pPr>
            <a:r>
              <a:rPr lang="en-US" altLang="zh-CN" sz="2800" b="1" dirty="0" smtClean="0"/>
              <a:t> </a:t>
            </a:r>
            <a:r>
              <a:rPr lang="zh-CN" altLang="en-US" sz="2800" b="1" dirty="0" smtClean="0">
                <a:solidFill>
                  <a:srgbClr val="0000CC"/>
                </a:solidFill>
              </a:rPr>
              <a:t>例</a:t>
            </a:r>
            <a:r>
              <a:rPr lang="en-US" altLang="zh-CN" sz="2800" b="1" dirty="0" smtClean="0">
                <a:solidFill>
                  <a:srgbClr val="0000CC"/>
                </a:solidFill>
              </a:rPr>
              <a:t>5.1</a:t>
            </a:r>
            <a:r>
              <a:rPr lang="en-US" altLang="zh-CN" sz="2800" b="1" dirty="0" smtClean="0"/>
              <a:t> </a:t>
            </a:r>
            <a:r>
              <a:rPr lang="zh-CN" altLang="en-US" sz="2800" b="1" dirty="0" smtClean="0"/>
              <a:t>在图</a:t>
            </a:r>
            <a:r>
              <a:rPr lang="en-US" altLang="zh-CN" sz="2800" b="1" dirty="0" smtClean="0"/>
              <a:t>5.5(a)</a:t>
            </a:r>
            <a:r>
              <a:rPr lang="zh-CN" altLang="en-US" sz="2800" b="1" dirty="0" smtClean="0"/>
              <a:t>的基本</a:t>
            </a:r>
            <a:r>
              <a:rPr lang="en-US" altLang="zh-CN" sz="2800" b="1" dirty="0" smtClean="0"/>
              <a:t>RS</a:t>
            </a:r>
            <a:r>
              <a:rPr lang="zh-CN" altLang="en-US" sz="2800" b="1" dirty="0" smtClean="0"/>
              <a:t>触发器中，在给定输入条件下的波形图如图</a:t>
            </a:r>
            <a:r>
              <a:rPr lang="en-US" altLang="zh-CN" sz="2800" b="1" dirty="0" smtClean="0"/>
              <a:t>5.5(b)</a:t>
            </a:r>
            <a:r>
              <a:rPr lang="zh-CN" altLang="en-US" sz="2800" b="1" dirty="0" smtClean="0"/>
              <a:t>所示，画出</a:t>
            </a:r>
            <a:r>
              <a:rPr lang="en-US" altLang="zh-CN" sz="2800" b="1" dirty="0" smtClean="0"/>
              <a:t>Q</a:t>
            </a:r>
            <a:r>
              <a:rPr lang="zh-CN" altLang="en-US" sz="2800" b="1" dirty="0" smtClean="0"/>
              <a:t>和    端对应的波形。 </a:t>
            </a:r>
            <a:endParaRPr lang="en-US" altLang="zh-CN" sz="2800" b="1" dirty="0" smtClean="0"/>
          </a:p>
          <a:p>
            <a:pPr marL="285750" indent="-285750">
              <a:buClr>
                <a:srgbClr val="0000CC"/>
              </a:buClr>
              <a:buFont typeface="Wingdings" pitchFamily="2" charset="2"/>
              <a:buChar char="p"/>
            </a:pPr>
            <a:r>
              <a:rPr lang="en-US" altLang="zh-CN" sz="2800" b="1" dirty="0" smtClean="0"/>
              <a:t> </a:t>
            </a:r>
            <a:r>
              <a:rPr lang="zh-CN" altLang="en-US" sz="2800" b="1" dirty="0" smtClean="0">
                <a:solidFill>
                  <a:srgbClr val="0000CC"/>
                </a:solidFill>
              </a:rPr>
              <a:t>解</a:t>
            </a:r>
            <a:r>
              <a:rPr lang="zh-CN" altLang="en-US" sz="2800" b="1" dirty="0" smtClean="0"/>
              <a:t>：波形图如图所示。从图中可以看出，虽然在</a:t>
            </a:r>
            <a:r>
              <a:rPr lang="en-US" altLang="zh-CN" sz="2800" b="1" dirty="0" smtClean="0"/>
              <a:t>t</a:t>
            </a:r>
            <a:r>
              <a:rPr lang="en-US" altLang="zh-CN" sz="2800" b="1" baseline="-25000" dirty="0" smtClean="0"/>
              <a:t>3</a:t>
            </a:r>
            <a:r>
              <a:rPr lang="zh-CN" altLang="en-US" sz="2800" b="1" dirty="0" smtClean="0">
                <a:latin typeface="宋体"/>
                <a:ea typeface="宋体"/>
              </a:rPr>
              <a:t>～</a:t>
            </a:r>
            <a:r>
              <a:rPr lang="en-US" altLang="zh-CN" sz="2800" b="1" dirty="0" smtClean="0"/>
              <a:t>t</a:t>
            </a:r>
            <a:r>
              <a:rPr lang="en-US" altLang="zh-CN" sz="2800" b="1" baseline="-25000" dirty="0" smtClean="0"/>
              <a:t>4</a:t>
            </a:r>
            <a:r>
              <a:rPr lang="zh-CN" altLang="en-US" sz="2800" b="1" dirty="0" smtClean="0"/>
              <a:t>和</a:t>
            </a:r>
            <a:r>
              <a:rPr lang="en-US" altLang="zh-CN" sz="2800" b="1" dirty="0" smtClean="0"/>
              <a:t>t</a:t>
            </a:r>
            <a:r>
              <a:rPr lang="en-US" altLang="zh-CN" sz="2800" b="1" baseline="-25000" dirty="0" smtClean="0"/>
              <a:t>7</a:t>
            </a:r>
            <a:r>
              <a:rPr lang="zh-CN" altLang="en-US" sz="2800" b="1" dirty="0" smtClean="0">
                <a:latin typeface="宋体"/>
                <a:ea typeface="宋体"/>
              </a:rPr>
              <a:t>～</a:t>
            </a:r>
            <a:r>
              <a:rPr lang="en-US" altLang="zh-CN" sz="2800" b="1" dirty="0" smtClean="0"/>
              <a:t>t</a:t>
            </a:r>
            <a:r>
              <a:rPr lang="en-US" altLang="zh-CN" sz="2800" b="1" baseline="-25000" dirty="0" smtClean="0"/>
              <a:t>8</a:t>
            </a:r>
            <a:r>
              <a:rPr lang="zh-CN" altLang="en-US" sz="2800" b="1" dirty="0" smtClean="0"/>
              <a:t>期间出现了            的情况，但是由于   和   不是同时变为高电平，即 </a:t>
            </a:r>
            <a:endParaRPr lang="en-US" altLang="zh-CN" sz="2800" b="1" dirty="0" smtClean="0"/>
          </a:p>
          <a:p>
            <a:pPr marL="285750" indent="-285750">
              <a:buClr>
                <a:srgbClr val="0000CC"/>
              </a:buClr>
            </a:pPr>
            <a:r>
              <a:rPr lang="zh-CN" altLang="en-US" sz="2800" b="1" dirty="0" smtClean="0"/>
              <a:t>      首先回到高电平，所以</a:t>
            </a:r>
            <a:r>
              <a:rPr lang="zh-CN" altLang="en-US" sz="2800" b="1" dirty="0" smtClean="0">
                <a:solidFill>
                  <a:srgbClr val="FF0000"/>
                </a:solidFill>
              </a:rPr>
              <a:t>触发器的状态仍是可控的</a:t>
            </a:r>
            <a:r>
              <a:rPr lang="zh-CN" altLang="en-US" sz="2800" b="1" dirty="0" smtClean="0"/>
              <a:t>。</a:t>
            </a:r>
            <a:endParaRPr lang="zh-CN" altLang="en-US" sz="2800" b="1" dirty="0"/>
          </a:p>
        </p:txBody>
      </p:sp>
      <p:sp>
        <p:nvSpPr>
          <p:cNvPr id="6" name="矩形 5"/>
          <p:cNvSpPr/>
          <p:nvPr/>
        </p:nvSpPr>
        <p:spPr>
          <a:xfrm>
            <a:off x="6660232" y="3356992"/>
            <a:ext cx="2160240" cy="400110"/>
          </a:xfrm>
          <a:prstGeom prst="rect">
            <a:avLst/>
          </a:prstGeom>
        </p:spPr>
        <p:txBody>
          <a:bodyPr wrap="square">
            <a:spAutoFit/>
          </a:bodyPr>
          <a:lstStyle/>
          <a:p>
            <a:pPr algn="ctr"/>
            <a:r>
              <a:rPr lang="zh-CN" altLang="en-US" sz="2000" b="1" dirty="0" smtClean="0"/>
              <a:t>（</a:t>
            </a:r>
            <a:r>
              <a:rPr lang="en-US" altLang="zh-CN" sz="2000" b="1" dirty="0" smtClean="0"/>
              <a:t>a</a:t>
            </a:r>
            <a:r>
              <a:rPr lang="zh-CN" altLang="en-US" sz="2000" b="1" dirty="0" smtClean="0"/>
              <a:t>）</a:t>
            </a:r>
            <a:r>
              <a:rPr lang="en-US" altLang="zh-CN" sz="2000" b="1" dirty="0" smtClean="0"/>
              <a:t>RS-</a:t>
            </a:r>
            <a:r>
              <a:rPr lang="zh-CN" altLang="en-US" sz="2000" b="1" dirty="0" smtClean="0"/>
              <a:t>触发器</a:t>
            </a:r>
            <a:endParaRPr lang="zh-CN" altLang="en-US" sz="2000" b="1" dirty="0"/>
          </a:p>
        </p:txBody>
      </p:sp>
      <p:sp>
        <p:nvSpPr>
          <p:cNvPr id="7" name="灯片编号占位符 6"/>
          <p:cNvSpPr>
            <a:spLocks noGrp="1"/>
          </p:cNvSpPr>
          <p:nvPr>
            <p:ph type="sldNum" sz="quarter" idx="12"/>
          </p:nvPr>
        </p:nvSpPr>
        <p:spPr/>
        <p:txBody>
          <a:bodyPr/>
          <a:lstStyle/>
          <a:p>
            <a:fld id="{0C913308-F349-4B6D-A68A-DD1791B4A57B}" type="slidenum">
              <a:rPr lang="zh-CN" altLang="en-US" smtClean="0"/>
              <a:pPr/>
              <a:t>20</a:t>
            </a:fld>
            <a:endParaRPr lang="zh-CN" altLang="en-US"/>
          </a:p>
        </p:txBody>
      </p:sp>
      <p:sp>
        <p:nvSpPr>
          <p:cNvPr id="11" name="标题 1"/>
          <p:cNvSpPr>
            <a:spLocks noGrp="1"/>
          </p:cNvSpPr>
          <p:nvPr>
            <p:ph type="title"/>
          </p:nvPr>
        </p:nvSpPr>
        <p:spPr>
          <a:xfrm>
            <a:off x="1043608" y="1124744"/>
            <a:ext cx="7704856" cy="566936"/>
          </a:xfrm>
        </p:spPr>
        <p:txBody>
          <a:bodyPr/>
          <a:lstStyle/>
          <a:p>
            <a:r>
              <a:rPr lang="en-US" altLang="zh-CN" dirty="0" smtClean="0"/>
              <a:t>5.1.1 </a:t>
            </a:r>
            <a:r>
              <a:rPr lang="zh-CN" altLang="en-US" dirty="0" smtClean="0"/>
              <a:t>由与非门构成的基本</a:t>
            </a:r>
            <a:r>
              <a:rPr lang="en-US" altLang="zh-CN" dirty="0"/>
              <a:t>RS</a:t>
            </a:r>
            <a:r>
              <a:rPr lang="zh-CN" altLang="en-US" dirty="0"/>
              <a:t>触发器</a:t>
            </a:r>
          </a:p>
        </p:txBody>
      </p:sp>
      <p:sp>
        <p:nvSpPr>
          <p:cNvPr id="12" name="标题 1"/>
          <p:cNvSpPr txBox="1">
            <a:spLocks/>
          </p:cNvSpPr>
          <p:nvPr/>
        </p:nvSpPr>
        <p:spPr bwMode="auto">
          <a:xfrm>
            <a:off x="1043608" y="332656"/>
            <a:ext cx="7704856" cy="5669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5.1 </a:t>
            </a:r>
            <a:r>
              <a:rPr kumimoji="1" lang="zh-CN" altLang="en-US" sz="3200" b="1" kern="0" dirty="0" smtClean="0">
                <a:solidFill>
                  <a:schemeClr val="tx2"/>
                </a:solidFill>
                <a:latin typeface="+mj-lt"/>
                <a:ea typeface="+mj-ea"/>
                <a:cs typeface="+mj-cs"/>
              </a:rPr>
              <a:t>电平触发的</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触发器</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pic>
        <p:nvPicPr>
          <p:cNvPr id="130049" name="Picture 1"/>
          <p:cNvPicPr>
            <a:picLocks noChangeAspect="1" noChangeArrowheads="1"/>
          </p:cNvPicPr>
          <p:nvPr/>
        </p:nvPicPr>
        <p:blipFill>
          <a:blip r:embed="rId3" cstate="print"/>
          <a:srcRect/>
          <a:stretch>
            <a:fillRect/>
          </a:stretch>
        </p:blipFill>
        <p:spPr bwMode="auto">
          <a:xfrm>
            <a:off x="6516216" y="1844824"/>
            <a:ext cx="2376264" cy="1395847"/>
          </a:xfrm>
          <a:prstGeom prst="rect">
            <a:avLst/>
          </a:prstGeom>
          <a:noFill/>
          <a:ln w="9525">
            <a:noFill/>
            <a:miter lim="800000"/>
            <a:headEnd/>
            <a:tailEnd/>
          </a:ln>
        </p:spPr>
      </p:pic>
      <p:graphicFrame>
        <p:nvGraphicFramePr>
          <p:cNvPr id="174084" name="Object 4"/>
          <p:cNvGraphicFramePr>
            <a:graphicFrameLocks noChangeAspect="1"/>
          </p:cNvGraphicFramePr>
          <p:nvPr/>
        </p:nvGraphicFramePr>
        <p:xfrm>
          <a:off x="5148064" y="2924944"/>
          <a:ext cx="336038" cy="432049"/>
        </p:xfrm>
        <a:graphic>
          <a:graphicData uri="http://schemas.openxmlformats.org/presentationml/2006/ole">
            <p:oleObj spid="_x0000_s174084" r:id="rId4" imgW="177480" imgH="228600" progId="">
              <p:embed/>
            </p:oleObj>
          </a:graphicData>
        </a:graphic>
      </p:graphicFrame>
      <p:graphicFrame>
        <p:nvGraphicFramePr>
          <p:cNvPr id="174085" name="Object 5"/>
          <p:cNvGraphicFramePr>
            <a:graphicFrameLocks noChangeAspect="1"/>
          </p:cNvGraphicFramePr>
          <p:nvPr/>
        </p:nvGraphicFramePr>
        <p:xfrm>
          <a:off x="2339752" y="4653136"/>
          <a:ext cx="1147628" cy="360040"/>
        </p:xfrm>
        <a:graphic>
          <a:graphicData uri="http://schemas.openxmlformats.org/presentationml/2006/ole">
            <p:oleObj spid="_x0000_s174085" r:id="rId5" imgW="647640" imgH="203040" progId="">
              <p:embed/>
            </p:oleObj>
          </a:graphicData>
        </a:graphic>
      </p:graphicFrame>
      <p:graphicFrame>
        <p:nvGraphicFramePr>
          <p:cNvPr id="174086" name="Object 6"/>
          <p:cNvGraphicFramePr>
            <a:graphicFrameLocks noChangeAspect="1"/>
          </p:cNvGraphicFramePr>
          <p:nvPr/>
        </p:nvGraphicFramePr>
        <p:xfrm>
          <a:off x="1187624" y="5085184"/>
          <a:ext cx="288032" cy="384043"/>
        </p:xfrm>
        <a:graphic>
          <a:graphicData uri="http://schemas.openxmlformats.org/presentationml/2006/ole">
            <p:oleObj spid="_x0000_s174086" r:id="rId6" imgW="152280" imgH="203040" progId="">
              <p:embed/>
            </p:oleObj>
          </a:graphicData>
        </a:graphic>
      </p:graphicFrame>
      <p:graphicFrame>
        <p:nvGraphicFramePr>
          <p:cNvPr id="174087" name="Object 7"/>
          <p:cNvGraphicFramePr>
            <a:graphicFrameLocks noChangeAspect="1"/>
          </p:cNvGraphicFramePr>
          <p:nvPr/>
        </p:nvGraphicFramePr>
        <p:xfrm>
          <a:off x="1907703" y="5085184"/>
          <a:ext cx="312035" cy="360040"/>
        </p:xfrm>
        <a:graphic>
          <a:graphicData uri="http://schemas.openxmlformats.org/presentationml/2006/ole">
            <p:oleObj spid="_x0000_s174087" r:id="rId7" imgW="164880" imgH="190440" progId="">
              <p:embed/>
            </p:oleObj>
          </a:graphicData>
        </a:graphic>
      </p:graphicFrame>
      <p:graphicFrame>
        <p:nvGraphicFramePr>
          <p:cNvPr id="174088" name="Object 8"/>
          <p:cNvGraphicFramePr>
            <a:graphicFrameLocks noChangeAspect="1"/>
          </p:cNvGraphicFramePr>
          <p:nvPr/>
        </p:nvGraphicFramePr>
        <p:xfrm>
          <a:off x="899592" y="5517232"/>
          <a:ext cx="288925" cy="384175"/>
        </p:xfrm>
        <a:graphic>
          <a:graphicData uri="http://schemas.openxmlformats.org/presentationml/2006/ole">
            <p:oleObj spid="_x0000_s174088" r:id="rId8" imgW="152280" imgH="203040" progId="">
              <p:embed/>
            </p:oleObj>
          </a:graphicData>
        </a:graphic>
      </p:graphicFrame>
      <p:pic>
        <p:nvPicPr>
          <p:cNvPr id="174090" name="Picture 10"/>
          <p:cNvPicPr>
            <a:picLocks noChangeAspect="1" noChangeArrowheads="1"/>
          </p:cNvPicPr>
          <p:nvPr/>
        </p:nvPicPr>
        <p:blipFill>
          <a:blip r:embed="rId9" cstate="print"/>
          <a:srcRect/>
          <a:stretch>
            <a:fillRect/>
          </a:stretch>
        </p:blipFill>
        <p:spPr bwMode="auto">
          <a:xfrm>
            <a:off x="6516216" y="3789040"/>
            <a:ext cx="2268267" cy="269574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5514" name="Picture 522"/>
          <p:cNvPicPr>
            <a:picLocks noChangeAspect="1" noChangeArrowheads="1"/>
          </p:cNvPicPr>
          <p:nvPr/>
        </p:nvPicPr>
        <p:blipFill>
          <a:blip r:embed="rId2" cstate="print"/>
          <a:srcRect/>
          <a:stretch>
            <a:fillRect/>
          </a:stretch>
        </p:blipFill>
        <p:spPr bwMode="auto">
          <a:xfrm>
            <a:off x="4715843" y="3358306"/>
            <a:ext cx="3038475" cy="2647950"/>
          </a:xfrm>
          <a:prstGeom prst="rect">
            <a:avLst/>
          </a:prstGeom>
          <a:noFill/>
          <a:ln w="9525">
            <a:noFill/>
            <a:miter lim="800000"/>
            <a:headEnd/>
            <a:tailEnd/>
          </a:ln>
        </p:spPr>
      </p:pic>
      <p:sp>
        <p:nvSpPr>
          <p:cNvPr id="3" name="内容占位符 2"/>
          <p:cNvSpPr>
            <a:spLocks noGrp="1"/>
          </p:cNvSpPr>
          <p:nvPr>
            <p:ph idx="1"/>
          </p:nvPr>
        </p:nvSpPr>
        <p:spPr>
          <a:xfrm>
            <a:off x="395536" y="1988840"/>
            <a:ext cx="8352928" cy="4608512"/>
          </a:xfrm>
        </p:spPr>
        <p:txBody>
          <a:bodyPr/>
          <a:lstStyle/>
          <a:p>
            <a:pPr>
              <a:buSzPct val="100000"/>
              <a:buNone/>
            </a:pPr>
            <a:r>
              <a:rPr lang="en-US" altLang="zh-CN" sz="2800" dirty="0" smtClean="0"/>
              <a:t>3. </a:t>
            </a:r>
            <a:r>
              <a:rPr lang="zh-CN" altLang="en-US" sz="2800" dirty="0" smtClean="0"/>
              <a:t>或非门构成的基本</a:t>
            </a:r>
            <a:r>
              <a:rPr lang="en-US" altLang="zh-CN" sz="2800" dirty="0" smtClean="0"/>
              <a:t>RS</a:t>
            </a:r>
            <a:r>
              <a:rPr lang="zh-CN" altLang="en-US" sz="2800" dirty="0" smtClean="0"/>
              <a:t>触发器</a:t>
            </a:r>
            <a:endParaRPr lang="en-US" altLang="zh-CN" sz="2800" dirty="0" smtClean="0"/>
          </a:p>
          <a:p>
            <a:pPr>
              <a:buSzPct val="100000"/>
              <a:buFont typeface="Wingdings" pitchFamily="2" charset="2"/>
              <a:buChar char="p"/>
            </a:pPr>
            <a:r>
              <a:rPr lang="zh-CN" altLang="en-US" sz="2800" dirty="0" smtClean="0"/>
              <a:t>或非门</a:t>
            </a:r>
            <a:r>
              <a:rPr lang="zh-CN" altLang="en-US" sz="2800" dirty="0"/>
              <a:t>构成的基本</a:t>
            </a:r>
            <a:r>
              <a:rPr lang="en-US" altLang="zh-CN" sz="2800" dirty="0"/>
              <a:t>RS</a:t>
            </a:r>
            <a:r>
              <a:rPr lang="zh-CN" altLang="en-US" sz="2800" dirty="0" smtClean="0"/>
              <a:t>触发器</a:t>
            </a:r>
            <a:endParaRPr lang="en-US" altLang="zh-CN" sz="2800" dirty="0" smtClean="0"/>
          </a:p>
          <a:p>
            <a:pPr lvl="1"/>
            <a:endParaRPr lang="zh-CN" altLang="en-US" dirty="0"/>
          </a:p>
          <a:p>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21</a:t>
            </a:fld>
            <a:endParaRPr lang="zh-CN" altLang="en-US"/>
          </a:p>
        </p:txBody>
      </p:sp>
      <p:sp>
        <p:nvSpPr>
          <p:cNvPr id="7" name="Text Box 9"/>
          <p:cNvSpPr txBox="1">
            <a:spLocks noChangeArrowheads="1"/>
          </p:cNvSpPr>
          <p:nvPr/>
        </p:nvSpPr>
        <p:spPr bwMode="auto">
          <a:xfrm>
            <a:off x="4211788" y="2926258"/>
            <a:ext cx="4752528"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p>
            <a:pPr>
              <a:spcBef>
                <a:spcPct val="50000"/>
              </a:spcBef>
            </a:pPr>
            <a:r>
              <a:rPr lang="zh-CN" altLang="en-US" sz="2000" b="1" dirty="0" smtClean="0">
                <a:latin typeface="楷体_GB2312" pitchFamily="49" charset="-122"/>
                <a:ea typeface="楷体_GB2312" pitchFamily="49" charset="-122"/>
              </a:rPr>
              <a:t>表</a:t>
            </a:r>
            <a:r>
              <a:rPr lang="en-US" altLang="zh-CN" sz="2000" b="1" dirty="0" smtClean="0">
                <a:latin typeface="楷体_GB2312" pitchFamily="49" charset="-122"/>
                <a:ea typeface="楷体_GB2312" pitchFamily="49" charset="-122"/>
              </a:rPr>
              <a:t> </a:t>
            </a:r>
            <a:r>
              <a:rPr lang="en-US" altLang="zh-CN" sz="2000" dirty="0" smtClean="0">
                <a:latin typeface="楷体_GB2312" pitchFamily="49" charset="-122"/>
                <a:ea typeface="楷体_GB2312" pitchFamily="49" charset="-122"/>
              </a:rPr>
              <a:t>  </a:t>
            </a:r>
            <a:r>
              <a:rPr lang="zh-CN" altLang="en-US" sz="2000" b="1" dirty="0">
                <a:latin typeface="楷体_GB2312" pitchFamily="49" charset="-122"/>
                <a:ea typeface="楷体_GB2312" pitchFamily="49" charset="-122"/>
              </a:rPr>
              <a:t>或非门构成的基本</a:t>
            </a:r>
            <a:r>
              <a:rPr lang="en-US" altLang="zh-CN" sz="2000" b="1" dirty="0">
                <a:latin typeface="楷体_GB2312" pitchFamily="49" charset="-122"/>
                <a:ea typeface="楷体_GB2312" pitchFamily="49" charset="-122"/>
              </a:rPr>
              <a:t>RS-FF</a:t>
            </a:r>
            <a:r>
              <a:rPr lang="zh-CN" altLang="en-US" sz="2000" b="1" dirty="0">
                <a:latin typeface="楷体_GB2312" pitchFamily="49" charset="-122"/>
                <a:ea typeface="楷体_GB2312" pitchFamily="49" charset="-122"/>
              </a:rPr>
              <a:t>的</a:t>
            </a:r>
            <a:r>
              <a:rPr lang="zh-CN" altLang="en-US" sz="2000" b="1" dirty="0" smtClean="0">
                <a:latin typeface="楷体_GB2312" pitchFamily="49" charset="-122"/>
                <a:ea typeface="楷体_GB2312" pitchFamily="49" charset="-122"/>
              </a:rPr>
              <a:t>真值表</a:t>
            </a:r>
            <a:endParaRPr lang="zh-CN" altLang="en-US" sz="2000" dirty="0">
              <a:latin typeface="楷体_GB2312" pitchFamily="49" charset="-122"/>
              <a:ea typeface="楷体_GB2312" pitchFamily="49" charset="-122"/>
            </a:endParaRPr>
          </a:p>
        </p:txBody>
      </p:sp>
      <p:sp>
        <p:nvSpPr>
          <p:cNvPr id="8" name="Rectangle 11"/>
          <p:cNvSpPr>
            <a:spLocks noChangeArrowheads="1"/>
          </p:cNvSpPr>
          <p:nvPr/>
        </p:nvSpPr>
        <p:spPr bwMode="auto">
          <a:xfrm>
            <a:off x="4788024" y="3789858"/>
            <a:ext cx="2951163" cy="431800"/>
          </a:xfrm>
          <a:prstGeom prst="rect">
            <a:avLst/>
          </a:prstGeom>
          <a:noFill/>
          <a:ln w="28575">
            <a:solidFill>
              <a:schemeClr val="accent1"/>
            </a:solidFill>
            <a:prstDash val="sysDot"/>
            <a:miter lim="800000"/>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sp>
        <p:nvSpPr>
          <p:cNvPr id="9" name="Text Box 12"/>
          <p:cNvSpPr txBox="1">
            <a:spLocks noChangeArrowheads="1"/>
          </p:cNvSpPr>
          <p:nvPr/>
        </p:nvSpPr>
        <p:spPr bwMode="auto">
          <a:xfrm>
            <a:off x="7885237" y="3869233"/>
            <a:ext cx="647700" cy="3667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zh-CN" altLang="en-US" sz="1800" b="1" dirty="0">
                <a:solidFill>
                  <a:srgbClr val="FF0000"/>
                </a:solidFill>
              </a:rPr>
              <a:t>保持</a:t>
            </a:r>
          </a:p>
        </p:txBody>
      </p:sp>
      <p:sp>
        <p:nvSpPr>
          <p:cNvPr id="10" name="Rectangle 13"/>
          <p:cNvSpPr>
            <a:spLocks noChangeArrowheads="1"/>
          </p:cNvSpPr>
          <p:nvPr/>
        </p:nvSpPr>
        <p:spPr bwMode="auto">
          <a:xfrm>
            <a:off x="4788024" y="4293096"/>
            <a:ext cx="2951163" cy="433387"/>
          </a:xfrm>
          <a:prstGeom prst="rect">
            <a:avLst/>
          </a:prstGeom>
          <a:noFill/>
          <a:ln w="28575">
            <a:solidFill>
              <a:schemeClr val="accent1"/>
            </a:solidFill>
            <a:prstDash val="sysDot"/>
            <a:miter lim="800000"/>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sp>
        <p:nvSpPr>
          <p:cNvPr id="11" name="Text Box 14"/>
          <p:cNvSpPr txBox="1">
            <a:spLocks noChangeArrowheads="1"/>
          </p:cNvSpPr>
          <p:nvPr/>
        </p:nvSpPr>
        <p:spPr bwMode="auto">
          <a:xfrm>
            <a:off x="7885237" y="4374058"/>
            <a:ext cx="647700" cy="3667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zh-CN" altLang="en-US" sz="1800" b="1">
                <a:solidFill>
                  <a:srgbClr val="FF0000"/>
                </a:solidFill>
              </a:rPr>
              <a:t>置</a:t>
            </a:r>
            <a:r>
              <a:rPr lang="en-US" altLang="zh-CN" sz="1800" b="1">
                <a:solidFill>
                  <a:srgbClr val="FF0000"/>
                </a:solidFill>
              </a:rPr>
              <a:t>1</a:t>
            </a:r>
          </a:p>
        </p:txBody>
      </p:sp>
      <p:sp>
        <p:nvSpPr>
          <p:cNvPr id="12" name="Rectangle 15"/>
          <p:cNvSpPr>
            <a:spLocks noChangeArrowheads="1"/>
          </p:cNvSpPr>
          <p:nvPr/>
        </p:nvSpPr>
        <p:spPr bwMode="auto">
          <a:xfrm>
            <a:off x="4788024" y="4797921"/>
            <a:ext cx="2951163" cy="504825"/>
          </a:xfrm>
          <a:prstGeom prst="rect">
            <a:avLst/>
          </a:prstGeom>
          <a:noFill/>
          <a:ln w="28575">
            <a:solidFill>
              <a:schemeClr val="accent1"/>
            </a:solidFill>
            <a:prstDash val="sysDot"/>
            <a:miter lim="800000"/>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sp>
        <p:nvSpPr>
          <p:cNvPr id="13" name="Text Box 16"/>
          <p:cNvSpPr txBox="1">
            <a:spLocks noChangeArrowheads="1"/>
          </p:cNvSpPr>
          <p:nvPr/>
        </p:nvSpPr>
        <p:spPr bwMode="auto">
          <a:xfrm>
            <a:off x="7885237" y="4942383"/>
            <a:ext cx="647700" cy="3667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zh-CN" altLang="en-US" sz="1800" b="1">
                <a:solidFill>
                  <a:srgbClr val="FF0000"/>
                </a:solidFill>
              </a:rPr>
              <a:t>置</a:t>
            </a:r>
            <a:r>
              <a:rPr lang="en-US" altLang="zh-CN" sz="1800" b="1">
                <a:solidFill>
                  <a:srgbClr val="FF0000"/>
                </a:solidFill>
              </a:rPr>
              <a:t>0</a:t>
            </a:r>
          </a:p>
        </p:txBody>
      </p:sp>
      <p:sp>
        <p:nvSpPr>
          <p:cNvPr id="14" name="Rectangle 17"/>
          <p:cNvSpPr>
            <a:spLocks noChangeArrowheads="1"/>
          </p:cNvSpPr>
          <p:nvPr/>
        </p:nvSpPr>
        <p:spPr bwMode="auto">
          <a:xfrm>
            <a:off x="4788024" y="5375771"/>
            <a:ext cx="2951163" cy="503237"/>
          </a:xfrm>
          <a:prstGeom prst="rect">
            <a:avLst/>
          </a:prstGeom>
          <a:noFill/>
          <a:ln w="28575">
            <a:solidFill>
              <a:schemeClr val="accent1"/>
            </a:solidFill>
            <a:prstDash val="sysDot"/>
            <a:miter lim="800000"/>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sp>
        <p:nvSpPr>
          <p:cNvPr id="15" name="Text Box 18"/>
          <p:cNvSpPr txBox="1">
            <a:spLocks noChangeArrowheads="1"/>
          </p:cNvSpPr>
          <p:nvPr/>
        </p:nvSpPr>
        <p:spPr bwMode="auto">
          <a:xfrm>
            <a:off x="7885237" y="5447208"/>
            <a:ext cx="647700" cy="3667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zh-CN" altLang="en-US" sz="1800" b="1">
                <a:solidFill>
                  <a:srgbClr val="FF0000"/>
                </a:solidFill>
              </a:rPr>
              <a:t>不定</a:t>
            </a:r>
          </a:p>
        </p:txBody>
      </p:sp>
      <p:sp>
        <p:nvSpPr>
          <p:cNvPr id="17" name="Text Box 20"/>
          <p:cNvSpPr txBox="1">
            <a:spLocks noChangeArrowheads="1"/>
          </p:cNvSpPr>
          <p:nvPr/>
        </p:nvSpPr>
        <p:spPr bwMode="auto">
          <a:xfrm>
            <a:off x="3347864" y="6093296"/>
            <a:ext cx="5364088"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p>
            <a:pPr>
              <a:spcBef>
                <a:spcPct val="50000"/>
              </a:spcBef>
            </a:pPr>
            <a:r>
              <a:rPr lang="zh-CN" altLang="en-US" sz="2000" b="1" dirty="0">
                <a:solidFill>
                  <a:srgbClr val="0000CC"/>
                </a:solidFill>
                <a:latin typeface="楷体_GB2312" pitchFamily="49" charset="-122"/>
                <a:ea typeface="楷体_GB2312" pitchFamily="49" charset="-122"/>
              </a:rPr>
              <a:t>注：</a:t>
            </a:r>
            <a:r>
              <a:rPr lang="zh-CN" altLang="en-US" sz="2000" dirty="0">
                <a:solidFill>
                  <a:srgbClr val="0000CC"/>
                </a:solidFill>
              </a:rPr>
              <a:t> </a:t>
            </a:r>
            <a:r>
              <a:rPr lang="en-US" altLang="zh-CN" sz="2000" i="1" dirty="0" smtClean="0">
                <a:solidFill>
                  <a:srgbClr val="FF0000"/>
                </a:solidFill>
              </a:rPr>
              <a:t>S</a:t>
            </a:r>
            <a:r>
              <a:rPr lang="zh-CN" altLang="en-US" sz="2000" i="1" dirty="0" smtClean="0">
                <a:solidFill>
                  <a:srgbClr val="FF0000"/>
                </a:solidFill>
              </a:rPr>
              <a:t> </a:t>
            </a:r>
            <a:r>
              <a:rPr lang="zh-CN" altLang="en-US" sz="2000" dirty="0" smtClean="0">
                <a:solidFill>
                  <a:srgbClr val="0000CC"/>
                </a:solidFill>
              </a:rPr>
              <a:t> </a:t>
            </a:r>
            <a:r>
              <a:rPr lang="zh-CN" altLang="en-US" sz="2000" b="1" dirty="0" smtClean="0">
                <a:solidFill>
                  <a:srgbClr val="0000CC"/>
                </a:solidFill>
                <a:latin typeface="楷体_GB2312" pitchFamily="49" charset="-122"/>
                <a:ea typeface="楷体_GB2312" pitchFamily="49" charset="-122"/>
              </a:rPr>
              <a:t>和 </a:t>
            </a:r>
            <a:r>
              <a:rPr lang="en-US" altLang="zh-CN" sz="2000" b="1" i="1" dirty="0" smtClean="0">
                <a:solidFill>
                  <a:srgbClr val="FF0000"/>
                </a:solidFill>
                <a:latin typeface="楷体_GB2312" pitchFamily="49" charset="-122"/>
                <a:ea typeface="楷体_GB2312" pitchFamily="49" charset="-122"/>
              </a:rPr>
              <a:t>R</a:t>
            </a:r>
            <a:r>
              <a:rPr lang="zh-CN" altLang="en-US" sz="2000" b="1" dirty="0" smtClean="0">
                <a:solidFill>
                  <a:srgbClr val="0000CC"/>
                </a:solidFill>
                <a:latin typeface="楷体_GB2312" pitchFamily="49" charset="-122"/>
                <a:ea typeface="楷体_GB2312" pitchFamily="49" charset="-122"/>
              </a:rPr>
              <a:t> 的</a:t>
            </a:r>
            <a:r>
              <a:rPr lang="en-US" altLang="zh-CN" sz="2000" b="1" dirty="0">
                <a:solidFill>
                  <a:srgbClr val="0000CC"/>
                </a:solidFill>
                <a:latin typeface="楷体_GB2312" pitchFamily="49" charset="-122"/>
                <a:ea typeface="楷体_GB2312" pitchFamily="49" charset="-122"/>
              </a:rPr>
              <a:t>1</a:t>
            </a:r>
            <a:r>
              <a:rPr lang="zh-CN" altLang="en-US" sz="2000" b="1" dirty="0">
                <a:solidFill>
                  <a:srgbClr val="0000CC"/>
                </a:solidFill>
                <a:latin typeface="楷体_GB2312" pitchFamily="49" charset="-122"/>
                <a:ea typeface="楷体_GB2312" pitchFamily="49" charset="-122"/>
              </a:rPr>
              <a:t>状态同时消失后状态将不定。</a:t>
            </a:r>
            <a:r>
              <a:rPr lang="zh-CN" altLang="en-US" sz="2000" b="1" dirty="0">
                <a:latin typeface="楷体_GB2312" pitchFamily="49" charset="-122"/>
                <a:ea typeface="楷体_GB2312" pitchFamily="49" charset="-122"/>
              </a:rPr>
              <a:t> </a:t>
            </a:r>
          </a:p>
        </p:txBody>
      </p:sp>
      <p:sp>
        <p:nvSpPr>
          <p:cNvPr id="21" name="标题 1"/>
          <p:cNvSpPr>
            <a:spLocks noGrp="1"/>
          </p:cNvSpPr>
          <p:nvPr>
            <p:ph type="title"/>
          </p:nvPr>
        </p:nvSpPr>
        <p:spPr>
          <a:xfrm>
            <a:off x="1187624" y="1124744"/>
            <a:ext cx="7704856" cy="566936"/>
          </a:xfrm>
        </p:spPr>
        <p:txBody>
          <a:bodyPr/>
          <a:lstStyle/>
          <a:p>
            <a:r>
              <a:rPr lang="en-US" altLang="zh-CN" dirty="0" smtClean="0"/>
              <a:t>5.1.1 </a:t>
            </a:r>
            <a:r>
              <a:rPr lang="zh-CN" altLang="en-US" dirty="0" smtClean="0"/>
              <a:t>由与非门构成的基本</a:t>
            </a:r>
            <a:r>
              <a:rPr lang="en-US" altLang="zh-CN" dirty="0"/>
              <a:t>RS</a:t>
            </a:r>
            <a:r>
              <a:rPr lang="zh-CN" altLang="en-US" dirty="0"/>
              <a:t>触发器</a:t>
            </a:r>
          </a:p>
        </p:txBody>
      </p:sp>
      <p:sp>
        <p:nvSpPr>
          <p:cNvPr id="22" name="标题 1"/>
          <p:cNvSpPr txBox="1">
            <a:spLocks/>
          </p:cNvSpPr>
          <p:nvPr/>
        </p:nvSpPr>
        <p:spPr bwMode="auto">
          <a:xfrm>
            <a:off x="1259632" y="476672"/>
            <a:ext cx="7560840" cy="5669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5.1 </a:t>
            </a:r>
            <a:r>
              <a:rPr kumimoji="1" lang="zh-CN" altLang="en-US" sz="3200" b="1" kern="0" dirty="0" smtClean="0">
                <a:solidFill>
                  <a:schemeClr val="tx2"/>
                </a:solidFill>
                <a:latin typeface="+mj-lt"/>
                <a:ea typeface="+mj-ea"/>
                <a:cs typeface="+mj-cs"/>
              </a:rPr>
              <a:t>电平触发的</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触发器</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pic>
        <p:nvPicPr>
          <p:cNvPr id="85513" name="Picture 521"/>
          <p:cNvPicPr>
            <a:picLocks noChangeAspect="1" noChangeArrowheads="1"/>
          </p:cNvPicPr>
          <p:nvPr/>
        </p:nvPicPr>
        <p:blipFill>
          <a:blip r:embed="rId3" cstate="print"/>
          <a:srcRect/>
          <a:stretch>
            <a:fillRect/>
          </a:stretch>
        </p:blipFill>
        <p:spPr bwMode="auto">
          <a:xfrm>
            <a:off x="395536" y="3068960"/>
            <a:ext cx="2088232" cy="2191355"/>
          </a:xfrm>
          <a:prstGeom prst="rect">
            <a:avLst/>
          </a:prstGeom>
          <a:noFill/>
          <a:ln w="9525">
            <a:noFill/>
            <a:miter lim="800000"/>
            <a:headEnd/>
            <a:tailEnd/>
          </a:ln>
        </p:spPr>
      </p:pic>
      <p:pic>
        <p:nvPicPr>
          <p:cNvPr id="178177" name="Picture 1"/>
          <p:cNvPicPr>
            <a:picLocks noChangeAspect="1" noChangeArrowheads="1"/>
          </p:cNvPicPr>
          <p:nvPr/>
        </p:nvPicPr>
        <p:blipFill>
          <a:blip r:embed="rId4" cstate="print"/>
          <a:srcRect/>
          <a:stretch>
            <a:fillRect/>
          </a:stretch>
        </p:blipFill>
        <p:spPr bwMode="auto">
          <a:xfrm>
            <a:off x="5940152" y="1052736"/>
            <a:ext cx="2952750" cy="1838325"/>
          </a:xfrm>
          <a:prstGeom prst="rect">
            <a:avLst/>
          </a:prstGeom>
          <a:noFill/>
          <a:ln w="9525">
            <a:noFill/>
            <a:miter lim="800000"/>
            <a:headEnd/>
            <a:tailEnd/>
          </a:ln>
        </p:spPr>
      </p:pic>
      <p:pic>
        <p:nvPicPr>
          <p:cNvPr id="178178" name="Picture 2"/>
          <p:cNvPicPr>
            <a:picLocks noChangeAspect="1" noChangeArrowheads="1"/>
          </p:cNvPicPr>
          <p:nvPr/>
        </p:nvPicPr>
        <p:blipFill>
          <a:blip r:embed="rId5" cstate="print"/>
          <a:srcRect/>
          <a:stretch>
            <a:fillRect/>
          </a:stretch>
        </p:blipFill>
        <p:spPr bwMode="auto">
          <a:xfrm>
            <a:off x="426741" y="5373216"/>
            <a:ext cx="2633092" cy="1229460"/>
          </a:xfrm>
          <a:prstGeom prst="rect">
            <a:avLst/>
          </a:prstGeom>
          <a:noFill/>
          <a:ln w="9525">
            <a:noFill/>
            <a:miter lim="800000"/>
            <a:headEnd/>
            <a:tailEnd/>
          </a:ln>
        </p:spPr>
      </p:pic>
      <p:pic>
        <p:nvPicPr>
          <p:cNvPr id="185346" name="Picture 2"/>
          <p:cNvPicPr>
            <a:picLocks noChangeAspect="1" noChangeArrowheads="1"/>
          </p:cNvPicPr>
          <p:nvPr/>
        </p:nvPicPr>
        <p:blipFill>
          <a:blip r:embed="rId6" cstate="print"/>
          <a:srcRect/>
          <a:stretch>
            <a:fillRect/>
          </a:stretch>
        </p:blipFill>
        <p:spPr bwMode="auto">
          <a:xfrm>
            <a:off x="2555776" y="3645024"/>
            <a:ext cx="1944216" cy="1106073"/>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blinds(horizontal)">
                                      <p:cBhvr>
                                        <p:cTn id="10" dur="500"/>
                                        <p:tgtEl>
                                          <p:spTgt spid="9"/>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blinds(horizontal)">
                                      <p:cBhvr>
                                        <p:cTn id="15" dur="500"/>
                                        <p:tgtEl>
                                          <p:spTgt spid="10"/>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blinds(horizontal)">
                                      <p:cBhvr>
                                        <p:cTn id="18" dur="500"/>
                                        <p:tgtEl>
                                          <p:spTgt spid="11"/>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blinds(horizontal)">
                                      <p:cBhvr>
                                        <p:cTn id="23" dur="500"/>
                                        <p:tgtEl>
                                          <p:spTgt spid="12"/>
                                        </p:tgtEl>
                                      </p:cBhvr>
                                    </p:animEffect>
                                  </p:childTnLst>
                                </p:cTn>
                              </p:par>
                              <p:par>
                                <p:cTn id="24" presetID="3" presetClass="entr" presetSubtype="10" fill="hold" grpId="0" nodeType="with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blinds(horizontal)">
                                      <p:cBhvr>
                                        <p:cTn id="26" dur="500"/>
                                        <p:tgtEl>
                                          <p:spTgt spid="13"/>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blinds(horizontal)">
                                      <p:cBhvr>
                                        <p:cTn id="31" dur="500"/>
                                        <p:tgtEl>
                                          <p:spTgt spid="14"/>
                                        </p:tgtEl>
                                      </p:cBhvr>
                                    </p:animEffect>
                                  </p:childTnLst>
                                </p:cTn>
                              </p:par>
                              <p:par>
                                <p:cTn id="32" presetID="3" presetClass="entr" presetSubtype="10"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blinds(horizontal)">
                                      <p:cBhvr>
                                        <p:cTn id="34"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p:bldP spid="10" grpId="0" animBg="1"/>
      <p:bldP spid="11" grpId="0"/>
      <p:bldP spid="12" grpId="0" animBg="1"/>
      <p:bldP spid="13" grpId="0"/>
      <p:bldP spid="14" grpId="0" animBg="1"/>
      <p:bldP spid="15"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0C913308-F349-4B6D-A68A-DD1791B4A57B}" type="slidenum">
              <a:rPr lang="zh-CN" altLang="en-US" smtClean="0"/>
              <a:pPr/>
              <a:t>22</a:t>
            </a:fld>
            <a:endParaRPr lang="zh-CN" altLang="en-US"/>
          </a:p>
        </p:txBody>
      </p:sp>
      <p:sp>
        <p:nvSpPr>
          <p:cNvPr id="6" name="标题 1"/>
          <p:cNvSpPr>
            <a:spLocks noGrp="1"/>
          </p:cNvSpPr>
          <p:nvPr>
            <p:ph type="title"/>
          </p:nvPr>
        </p:nvSpPr>
        <p:spPr>
          <a:xfrm>
            <a:off x="1043608" y="1124744"/>
            <a:ext cx="7704856" cy="566936"/>
          </a:xfrm>
        </p:spPr>
        <p:txBody>
          <a:bodyPr/>
          <a:lstStyle/>
          <a:p>
            <a:r>
              <a:rPr lang="en-US" altLang="zh-CN" dirty="0" smtClean="0"/>
              <a:t>5.1.1 </a:t>
            </a:r>
            <a:r>
              <a:rPr lang="zh-CN" altLang="en-US" dirty="0" smtClean="0"/>
              <a:t>由与非门构成的基本</a:t>
            </a:r>
            <a:r>
              <a:rPr lang="en-US" altLang="zh-CN" dirty="0"/>
              <a:t>RS</a:t>
            </a:r>
            <a:r>
              <a:rPr lang="zh-CN" altLang="en-US" dirty="0"/>
              <a:t>触发器</a:t>
            </a:r>
          </a:p>
        </p:txBody>
      </p:sp>
      <p:sp>
        <p:nvSpPr>
          <p:cNvPr id="7" name="标题 1"/>
          <p:cNvSpPr txBox="1">
            <a:spLocks/>
          </p:cNvSpPr>
          <p:nvPr/>
        </p:nvSpPr>
        <p:spPr bwMode="auto">
          <a:xfrm>
            <a:off x="1043608" y="332656"/>
            <a:ext cx="7704856" cy="5669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5.1 </a:t>
            </a:r>
            <a:r>
              <a:rPr kumimoji="1" lang="zh-CN" altLang="en-US" sz="3200" b="1" kern="0" dirty="0" smtClean="0">
                <a:solidFill>
                  <a:schemeClr val="tx2"/>
                </a:solidFill>
                <a:latin typeface="+mj-lt"/>
                <a:ea typeface="+mj-ea"/>
                <a:cs typeface="+mj-cs"/>
              </a:rPr>
              <a:t>电平触发的</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触发器</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pic>
        <p:nvPicPr>
          <p:cNvPr id="135169" name="Picture 1"/>
          <p:cNvPicPr>
            <a:picLocks noChangeAspect="1" noChangeArrowheads="1"/>
          </p:cNvPicPr>
          <p:nvPr/>
        </p:nvPicPr>
        <p:blipFill>
          <a:blip r:embed="rId2" cstate="print"/>
          <a:srcRect/>
          <a:stretch>
            <a:fillRect/>
          </a:stretch>
        </p:blipFill>
        <p:spPr bwMode="auto">
          <a:xfrm>
            <a:off x="683568" y="2060848"/>
            <a:ext cx="7930469" cy="396044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187624" y="1124744"/>
            <a:ext cx="7704856" cy="566936"/>
          </a:xfrm>
        </p:spPr>
        <p:txBody>
          <a:bodyPr/>
          <a:lstStyle/>
          <a:p>
            <a:r>
              <a:rPr lang="en-US" altLang="zh-CN" dirty="0" smtClean="0">
                <a:solidFill>
                  <a:srgbClr val="6600CC"/>
                </a:solidFill>
              </a:rPr>
              <a:t>5.1.2 </a:t>
            </a:r>
            <a:r>
              <a:rPr lang="zh-CN" altLang="en-US" dirty="0" smtClean="0">
                <a:solidFill>
                  <a:srgbClr val="6600CC"/>
                </a:solidFill>
              </a:rPr>
              <a:t>时钟（同步）触发器</a:t>
            </a:r>
            <a:endParaRPr lang="zh-CN" altLang="en-US" dirty="0"/>
          </a:p>
        </p:txBody>
      </p:sp>
      <p:sp>
        <p:nvSpPr>
          <p:cNvPr id="3" name="内容占位符 2"/>
          <p:cNvSpPr>
            <a:spLocks noGrp="1"/>
          </p:cNvSpPr>
          <p:nvPr>
            <p:ph idx="1"/>
          </p:nvPr>
        </p:nvSpPr>
        <p:spPr>
          <a:xfrm>
            <a:off x="395536" y="1988840"/>
            <a:ext cx="8559552" cy="4608512"/>
          </a:xfrm>
        </p:spPr>
        <p:txBody>
          <a:bodyPr/>
          <a:lstStyle/>
          <a:p>
            <a:pPr marL="0" indent="0">
              <a:lnSpc>
                <a:spcPct val="100000"/>
              </a:lnSpc>
              <a:spcBef>
                <a:spcPts val="600"/>
              </a:spcBef>
              <a:buNone/>
            </a:pPr>
            <a:r>
              <a:rPr lang="zh-CN" altLang="en-US" dirty="0"/>
              <a:t> 在数字系统中，为协调各部分的动作，常要求某些触发器于</a:t>
            </a:r>
            <a:r>
              <a:rPr lang="zh-CN" altLang="en-US" dirty="0">
                <a:solidFill>
                  <a:srgbClr val="0000CC"/>
                </a:solidFill>
              </a:rPr>
              <a:t>同一时刻</a:t>
            </a:r>
            <a:r>
              <a:rPr lang="zh-CN" altLang="en-US" dirty="0"/>
              <a:t>动作</a:t>
            </a:r>
            <a:r>
              <a:rPr lang="zh-CN" altLang="en-US" dirty="0" smtClean="0"/>
              <a:t>。</a:t>
            </a:r>
            <a:endParaRPr lang="en-US" altLang="zh-CN" dirty="0" smtClean="0"/>
          </a:p>
          <a:p>
            <a:pPr>
              <a:lnSpc>
                <a:spcPct val="100000"/>
              </a:lnSpc>
              <a:spcBef>
                <a:spcPts val="600"/>
              </a:spcBef>
              <a:buSzPct val="100000"/>
              <a:buFont typeface="Wingdings" pitchFamily="2" charset="2"/>
              <a:buChar char="p"/>
            </a:pPr>
            <a:r>
              <a:rPr lang="zh-CN" altLang="en-US" sz="2800" dirty="0" smtClean="0">
                <a:solidFill>
                  <a:srgbClr val="FF0000"/>
                </a:solidFill>
              </a:rPr>
              <a:t>时钟脉冲</a:t>
            </a:r>
            <a:endParaRPr lang="en-US" altLang="zh-CN" sz="2800" dirty="0" smtClean="0">
              <a:solidFill>
                <a:srgbClr val="FF0000"/>
              </a:solidFill>
            </a:endParaRPr>
          </a:p>
          <a:p>
            <a:pPr lvl="1">
              <a:lnSpc>
                <a:spcPct val="100000"/>
              </a:lnSpc>
              <a:spcBef>
                <a:spcPts val="600"/>
              </a:spcBef>
              <a:buSzPct val="100000"/>
            </a:pPr>
            <a:r>
              <a:rPr lang="zh-CN" altLang="en-US" dirty="0"/>
              <a:t>引入</a:t>
            </a:r>
            <a:r>
              <a:rPr lang="zh-CN" altLang="en-US" dirty="0">
                <a:solidFill>
                  <a:srgbClr val="0000CC"/>
                </a:solidFill>
              </a:rPr>
              <a:t>同步信号</a:t>
            </a:r>
            <a:r>
              <a:rPr lang="zh-CN" altLang="en-US" dirty="0"/>
              <a:t>，使这些触发器只有在同步信号到达时才按输入信号改变状态</a:t>
            </a:r>
            <a:r>
              <a:rPr lang="zh-CN" altLang="en-US" dirty="0" smtClean="0"/>
              <a:t>。把</a:t>
            </a:r>
            <a:r>
              <a:rPr lang="zh-CN" altLang="en-US" dirty="0">
                <a:solidFill>
                  <a:srgbClr val="0000CC"/>
                </a:solidFill>
              </a:rPr>
              <a:t>这个同步信号叫做时钟脉冲，或称为时钟信号，简称时钟，</a:t>
            </a:r>
            <a:r>
              <a:rPr lang="zh-CN" altLang="en-US" dirty="0" smtClean="0">
                <a:solidFill>
                  <a:srgbClr val="0000CC"/>
                </a:solidFill>
              </a:rPr>
              <a:t>用</a:t>
            </a:r>
            <a:r>
              <a:rPr lang="en-US" altLang="zh-CN" dirty="0" smtClean="0">
                <a:solidFill>
                  <a:srgbClr val="0000CC"/>
                </a:solidFill>
              </a:rPr>
              <a:t>CLK</a:t>
            </a:r>
            <a:r>
              <a:rPr lang="zh-CN" altLang="en-US" dirty="0" smtClean="0"/>
              <a:t>（</a:t>
            </a:r>
            <a:r>
              <a:rPr lang="en-US" altLang="zh-CN" dirty="0" smtClean="0"/>
              <a:t>Clock</a:t>
            </a:r>
            <a:r>
              <a:rPr lang="zh-CN" altLang="en-US" dirty="0" smtClean="0"/>
              <a:t>）或</a:t>
            </a:r>
            <a:r>
              <a:rPr lang="en-US" altLang="zh-CN" dirty="0" smtClean="0">
                <a:solidFill>
                  <a:srgbClr val="0000CC"/>
                </a:solidFill>
              </a:rPr>
              <a:t>CP</a:t>
            </a:r>
            <a:r>
              <a:rPr lang="zh-CN" altLang="en-US" dirty="0" smtClean="0"/>
              <a:t>（</a:t>
            </a:r>
            <a:r>
              <a:rPr lang="en-US" altLang="zh-CN" dirty="0"/>
              <a:t>Clock Pulse</a:t>
            </a:r>
            <a:r>
              <a:rPr lang="zh-CN" altLang="en-US" dirty="0"/>
              <a:t>）表示。</a:t>
            </a:r>
          </a:p>
          <a:p>
            <a:pPr marL="342900" lvl="1" indent="-342900">
              <a:lnSpc>
                <a:spcPct val="100000"/>
              </a:lnSpc>
              <a:spcBef>
                <a:spcPts val="600"/>
              </a:spcBef>
              <a:buClr>
                <a:schemeClr val="folHlink"/>
              </a:buClr>
              <a:buSzPct val="100000"/>
              <a:buFont typeface="Wingdings" pitchFamily="2" charset="2"/>
              <a:buChar char="p"/>
            </a:pPr>
            <a:r>
              <a:rPr lang="zh-CN" altLang="en-US" sz="2800" dirty="0" smtClean="0">
                <a:solidFill>
                  <a:srgbClr val="FF0000"/>
                </a:solidFill>
              </a:rPr>
              <a:t>时钟触发器 ：</a:t>
            </a:r>
            <a:r>
              <a:rPr lang="zh-CN" altLang="en-US" sz="2800" dirty="0" smtClean="0"/>
              <a:t>即时钟控制的电平触发器。</a:t>
            </a:r>
            <a:endParaRPr lang="en-US" altLang="zh-CN" sz="2800" dirty="0" smtClean="0">
              <a:solidFill>
                <a:srgbClr val="FF0000"/>
              </a:solidFill>
            </a:endParaRPr>
          </a:p>
          <a:p>
            <a:pPr lvl="1">
              <a:lnSpc>
                <a:spcPct val="100000"/>
              </a:lnSpc>
              <a:spcBef>
                <a:spcPts val="600"/>
              </a:spcBef>
              <a:buSzPct val="100000"/>
            </a:pPr>
            <a:r>
              <a:rPr lang="zh-CN" altLang="en-US" dirty="0" smtClean="0"/>
              <a:t>又称为“</a:t>
            </a:r>
            <a:r>
              <a:rPr lang="zh-CN" altLang="en-US" dirty="0" smtClean="0">
                <a:solidFill>
                  <a:srgbClr val="0000CC"/>
                </a:solidFill>
              </a:rPr>
              <a:t>同步触发器</a:t>
            </a:r>
            <a:r>
              <a:rPr lang="zh-CN" altLang="en-US" dirty="0" smtClean="0"/>
              <a:t>” 、“</a:t>
            </a:r>
            <a:r>
              <a:rPr lang="zh-CN" altLang="en-US" dirty="0" smtClean="0">
                <a:solidFill>
                  <a:srgbClr val="0000CC"/>
                </a:solidFill>
              </a:rPr>
              <a:t>钟控触发器</a:t>
            </a:r>
            <a:r>
              <a:rPr lang="zh-CN" altLang="en-US" dirty="0" smtClean="0"/>
              <a:t>”。</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23</a:t>
            </a:fld>
            <a:endParaRPr lang="zh-CN" altLang="en-US"/>
          </a:p>
        </p:txBody>
      </p:sp>
      <p:sp>
        <p:nvSpPr>
          <p:cNvPr id="5" name="标题 1"/>
          <p:cNvSpPr txBox="1">
            <a:spLocks/>
          </p:cNvSpPr>
          <p:nvPr/>
        </p:nvSpPr>
        <p:spPr bwMode="auto">
          <a:xfrm>
            <a:off x="1187624" y="332656"/>
            <a:ext cx="7632848" cy="5669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5.1 </a:t>
            </a:r>
            <a:r>
              <a:rPr kumimoji="1" lang="zh-CN" altLang="en-US" sz="3200" b="1" kern="0" dirty="0" smtClean="0">
                <a:solidFill>
                  <a:schemeClr val="tx2"/>
                </a:solidFill>
                <a:latin typeface="+mj-lt"/>
                <a:ea typeface="+mj-ea"/>
                <a:cs typeface="+mj-cs"/>
              </a:rPr>
              <a:t>电平触发的</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触发器</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6355" name="Picture 339"/>
          <p:cNvPicPr>
            <a:picLocks noChangeAspect="1" noChangeArrowheads="1"/>
          </p:cNvPicPr>
          <p:nvPr/>
        </p:nvPicPr>
        <p:blipFill>
          <a:blip r:embed="rId3" cstate="print"/>
          <a:srcRect/>
          <a:stretch>
            <a:fillRect/>
          </a:stretch>
        </p:blipFill>
        <p:spPr bwMode="auto">
          <a:xfrm>
            <a:off x="107504" y="2924944"/>
            <a:ext cx="3914775" cy="3028950"/>
          </a:xfrm>
          <a:prstGeom prst="rect">
            <a:avLst/>
          </a:prstGeom>
          <a:noFill/>
          <a:ln w="9525">
            <a:noFill/>
            <a:miter lim="800000"/>
            <a:headEnd/>
            <a:tailEnd/>
          </a:ln>
        </p:spPr>
      </p:pic>
      <p:sp>
        <p:nvSpPr>
          <p:cNvPr id="3" name="内容占位符 2"/>
          <p:cNvSpPr>
            <a:spLocks noGrp="1"/>
          </p:cNvSpPr>
          <p:nvPr>
            <p:ph idx="1"/>
          </p:nvPr>
        </p:nvSpPr>
        <p:spPr>
          <a:xfrm>
            <a:off x="395536" y="1988840"/>
            <a:ext cx="8161338" cy="4536504"/>
          </a:xfrm>
        </p:spPr>
        <p:txBody>
          <a:bodyPr/>
          <a:lstStyle/>
          <a:p>
            <a:pPr>
              <a:buSzPct val="100000"/>
              <a:buFont typeface="Wingdings" pitchFamily="2" charset="2"/>
              <a:buChar char="p"/>
            </a:pPr>
            <a:r>
              <a:rPr lang="zh-CN" altLang="en-US" sz="2800" dirty="0" smtClean="0"/>
              <a:t>时钟</a:t>
            </a:r>
            <a:r>
              <a:rPr lang="en-US" altLang="zh-CN" sz="2800" dirty="0" smtClean="0"/>
              <a:t>RS</a:t>
            </a:r>
            <a:r>
              <a:rPr lang="zh-CN" altLang="en-US" sz="2800" dirty="0" smtClean="0"/>
              <a:t>触发器</a:t>
            </a:r>
            <a:endParaRPr lang="en-US" altLang="zh-CN" sz="2800" dirty="0" smtClean="0"/>
          </a:p>
          <a:p>
            <a:pPr lvl="1">
              <a:buSzPct val="100000"/>
            </a:pPr>
            <a:r>
              <a:rPr lang="zh-CN" altLang="en-US" sz="2400" dirty="0"/>
              <a:t>电路结构及工作</a:t>
            </a:r>
            <a:r>
              <a:rPr lang="zh-CN" altLang="en-US" sz="2400" dirty="0" smtClean="0"/>
              <a:t>原理</a:t>
            </a:r>
            <a:endParaRPr lang="en-US" altLang="zh-CN" sz="2400" dirty="0" smtClean="0"/>
          </a:p>
          <a:p>
            <a:pPr lvl="1"/>
            <a:endParaRPr lang="zh-CN" altLang="en-US" dirty="0"/>
          </a:p>
        </p:txBody>
      </p:sp>
      <p:sp>
        <p:nvSpPr>
          <p:cNvPr id="6" name="Text Box 8"/>
          <p:cNvSpPr txBox="1">
            <a:spLocks noChangeArrowheads="1"/>
          </p:cNvSpPr>
          <p:nvPr/>
        </p:nvSpPr>
        <p:spPr bwMode="auto">
          <a:xfrm>
            <a:off x="4572000" y="1772493"/>
            <a:ext cx="3528392"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p>
            <a:pPr algn="ctr">
              <a:spcBef>
                <a:spcPct val="50000"/>
              </a:spcBef>
            </a:pPr>
            <a:r>
              <a:rPr lang="zh-CN" altLang="en-US" sz="2000" b="1" dirty="0" smtClean="0">
                <a:latin typeface="楷体_GB2312" pitchFamily="49" charset="-122"/>
                <a:ea typeface="楷体_GB2312" pitchFamily="49" charset="-122"/>
              </a:rPr>
              <a:t>表</a:t>
            </a:r>
            <a:r>
              <a:rPr lang="en-US" altLang="zh-CN" sz="2000" b="1" dirty="0" smtClean="0">
                <a:latin typeface="楷体_GB2312" pitchFamily="49" charset="-122"/>
                <a:ea typeface="楷体_GB2312" pitchFamily="49" charset="-122"/>
              </a:rPr>
              <a:t>  </a:t>
            </a:r>
            <a:r>
              <a:rPr lang="zh-CN" altLang="en-US" sz="2000" b="1" dirty="0">
                <a:latin typeface="楷体_GB2312" pitchFamily="49" charset="-122"/>
                <a:ea typeface="楷体_GB2312" pitchFamily="49" charset="-122"/>
              </a:rPr>
              <a:t>同步</a:t>
            </a:r>
            <a:r>
              <a:rPr lang="en-US" altLang="zh-CN" sz="2000" b="1" dirty="0">
                <a:latin typeface="楷体_GB2312" pitchFamily="49" charset="-122"/>
                <a:ea typeface="楷体_GB2312" pitchFamily="49" charset="-122"/>
              </a:rPr>
              <a:t>RS-FF</a:t>
            </a:r>
            <a:r>
              <a:rPr lang="zh-CN" altLang="en-US" sz="2000" b="1" dirty="0">
                <a:latin typeface="楷体_GB2312" pitchFamily="49" charset="-122"/>
                <a:ea typeface="楷体_GB2312" pitchFamily="49" charset="-122"/>
              </a:rPr>
              <a:t>的特性表</a:t>
            </a:r>
            <a:endParaRPr lang="zh-CN" altLang="en-US" sz="2000" dirty="0">
              <a:latin typeface="楷体_GB2312" pitchFamily="49" charset="-122"/>
              <a:ea typeface="楷体_GB2312" pitchFamily="49" charset="-122"/>
            </a:endParaRPr>
          </a:p>
        </p:txBody>
      </p:sp>
      <p:graphicFrame>
        <p:nvGraphicFramePr>
          <p:cNvPr id="8" name="Group 276"/>
          <p:cNvGraphicFramePr>
            <a:graphicFrameLocks noGrp="1"/>
          </p:cNvGraphicFramePr>
          <p:nvPr/>
        </p:nvGraphicFramePr>
        <p:xfrm>
          <a:off x="4427538" y="2204293"/>
          <a:ext cx="3673475" cy="4053840"/>
        </p:xfrm>
        <a:graphic>
          <a:graphicData uri="http://schemas.openxmlformats.org/drawingml/2006/table">
            <a:tbl>
              <a:tblPr/>
              <a:tblGrid>
                <a:gridCol w="735012">
                  <a:extLst>
                    <a:ext uri="{9D8B030D-6E8A-4147-A177-3AD203B41FA5}">
                      <a16:colId xmlns:a16="http://schemas.microsoft.com/office/drawing/2014/main" xmlns="" val="20000"/>
                    </a:ext>
                  </a:extLst>
                </a:gridCol>
                <a:gridCol w="611188">
                  <a:extLst>
                    <a:ext uri="{9D8B030D-6E8A-4147-A177-3AD203B41FA5}">
                      <a16:colId xmlns:a16="http://schemas.microsoft.com/office/drawing/2014/main" xmlns="" val="20001"/>
                    </a:ext>
                  </a:extLst>
                </a:gridCol>
                <a:gridCol w="612775">
                  <a:extLst>
                    <a:ext uri="{9D8B030D-6E8A-4147-A177-3AD203B41FA5}">
                      <a16:colId xmlns:a16="http://schemas.microsoft.com/office/drawing/2014/main" xmlns="" val="20002"/>
                    </a:ext>
                  </a:extLst>
                </a:gridCol>
                <a:gridCol w="674687">
                  <a:extLst>
                    <a:ext uri="{9D8B030D-6E8A-4147-A177-3AD203B41FA5}">
                      <a16:colId xmlns:a16="http://schemas.microsoft.com/office/drawing/2014/main" xmlns="" val="20003"/>
                    </a:ext>
                  </a:extLst>
                </a:gridCol>
                <a:gridCol w="1039813">
                  <a:extLst>
                    <a:ext uri="{9D8B030D-6E8A-4147-A177-3AD203B41FA5}">
                      <a16:colId xmlns:a16="http://schemas.microsoft.com/office/drawing/2014/main" xmlns="" val="20004"/>
                    </a:ext>
                  </a:extLst>
                </a:gridCol>
              </a:tblGrid>
              <a:tr h="355600">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CP</a:t>
                      </a:r>
                    </a:p>
                  </a:txBody>
                  <a:tcPr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R</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0"/>
                  </a:ext>
                </a:extLst>
              </a:tr>
              <a:tr h="355600">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smtClean="0">
                          <a:ln>
                            <a:noFill/>
                          </a:ln>
                          <a:solidFill>
                            <a:srgbClr val="0000CC"/>
                          </a:solidFill>
                          <a:effectLst/>
                          <a:latin typeface="Arial" panose="020B0604020202020204" pitchFamily="34" charset="0"/>
                          <a:ea typeface="宋体" panose="02010600030101010101" pitchFamily="2" charset="-122"/>
                        </a:rPr>
                        <a:t>0</a:t>
                      </a: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smtClean="0">
                          <a:ln>
                            <a:noFill/>
                          </a:ln>
                          <a:solidFill>
                            <a:srgbClr val="0000CC"/>
                          </a:solidFill>
                          <a:effectLst/>
                          <a:latin typeface="Arial" panose="020B0604020202020204" pitchFamily="34" charset="0"/>
                          <a:ea typeface="宋体" panose="02010600030101010101" pitchFamily="2" charset="-122"/>
                        </a:rPr>
                        <a:t>x</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smtClean="0">
                          <a:ln>
                            <a:noFill/>
                          </a:ln>
                          <a:solidFill>
                            <a:srgbClr val="0000CC"/>
                          </a:solidFill>
                          <a:effectLst/>
                          <a:latin typeface="Arial" panose="020B0604020202020204" pitchFamily="34" charset="0"/>
                          <a:ea typeface="宋体" panose="02010600030101010101" pitchFamily="2" charset="-122"/>
                        </a:rPr>
                        <a:t>x</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smtClean="0">
                          <a:ln>
                            <a:noFill/>
                          </a:ln>
                          <a:solidFill>
                            <a:srgbClr val="0000CC"/>
                          </a:solidFill>
                          <a:effectLst/>
                          <a:latin typeface="Arial" panose="020B0604020202020204" pitchFamily="34"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smtClean="0">
                          <a:ln>
                            <a:noFill/>
                          </a:ln>
                          <a:solidFill>
                            <a:srgbClr val="0000CC"/>
                          </a:solidFill>
                          <a:effectLst/>
                          <a:latin typeface="Arial" panose="020B0604020202020204" pitchFamily="34"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r h="355600">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smtClean="0">
                          <a:ln>
                            <a:noFill/>
                          </a:ln>
                          <a:solidFill>
                            <a:srgbClr val="0000CC"/>
                          </a:solidFill>
                          <a:effectLst/>
                          <a:latin typeface="Arial" panose="020B0604020202020204" pitchFamily="34" charset="0"/>
                          <a:ea typeface="宋体" panose="02010600030101010101" pitchFamily="2" charset="-122"/>
                        </a:rPr>
                        <a:t>0</a:t>
                      </a: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smtClean="0">
                          <a:ln>
                            <a:noFill/>
                          </a:ln>
                          <a:solidFill>
                            <a:srgbClr val="0000CC"/>
                          </a:solidFill>
                          <a:effectLst/>
                          <a:latin typeface="Arial" panose="020B0604020202020204" pitchFamily="34" charset="0"/>
                          <a:ea typeface="宋体" panose="02010600030101010101" pitchFamily="2" charset="-122"/>
                        </a:rPr>
                        <a:t>x</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smtClean="0">
                          <a:ln>
                            <a:noFill/>
                          </a:ln>
                          <a:solidFill>
                            <a:srgbClr val="0000CC"/>
                          </a:solidFill>
                          <a:effectLst/>
                          <a:latin typeface="Arial" panose="020B0604020202020204" pitchFamily="34" charset="0"/>
                          <a:ea typeface="宋体" panose="02010600030101010101" pitchFamily="2" charset="-122"/>
                        </a:rPr>
                        <a:t>x</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smtClean="0">
                          <a:ln>
                            <a:noFill/>
                          </a:ln>
                          <a:solidFill>
                            <a:srgbClr val="0000CC"/>
                          </a:solidFill>
                          <a:effectLst/>
                          <a:latin typeface="Arial" panose="020B0604020202020204" pitchFamily="34"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smtClean="0">
                          <a:ln>
                            <a:noFill/>
                          </a:ln>
                          <a:solidFill>
                            <a:srgbClr val="0000CC"/>
                          </a:solidFill>
                          <a:effectLst/>
                          <a:latin typeface="Arial" panose="020B0604020202020204" pitchFamily="34"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2"/>
                  </a:ext>
                </a:extLst>
              </a:tr>
              <a:tr h="355600">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3"/>
                  </a:ext>
                </a:extLst>
              </a:tr>
              <a:tr h="357188">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4"/>
                  </a:ext>
                </a:extLst>
              </a:tr>
              <a:tr h="355600">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5"/>
                  </a:ext>
                </a:extLst>
              </a:tr>
              <a:tr h="355600">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6"/>
                  </a:ext>
                </a:extLst>
              </a:tr>
              <a:tr h="355600">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7"/>
                  </a:ext>
                </a:extLst>
              </a:tr>
              <a:tr h="355600">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8"/>
                  </a:ext>
                </a:extLst>
              </a:tr>
              <a:tr h="355600">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9"/>
                  </a:ext>
                </a:extLst>
              </a:tr>
              <a:tr h="355600">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10"/>
                  </a:ext>
                </a:extLst>
              </a:tr>
            </a:tbl>
          </a:graphicData>
        </a:graphic>
      </p:graphicFrame>
      <p:graphicFrame>
        <p:nvGraphicFramePr>
          <p:cNvPr id="9" name="Object 238"/>
          <p:cNvGraphicFramePr>
            <a:graphicFrameLocks noChangeAspect="1"/>
          </p:cNvGraphicFramePr>
          <p:nvPr/>
        </p:nvGraphicFramePr>
        <p:xfrm>
          <a:off x="6516216" y="2204864"/>
          <a:ext cx="448147" cy="475163"/>
        </p:xfrm>
        <a:graphic>
          <a:graphicData uri="http://schemas.openxmlformats.org/presentationml/2006/ole">
            <p:oleObj spid="_x0000_s86353" name="公式" r:id="rId4" imgW="215806" imgH="228501" progId="">
              <p:embed/>
            </p:oleObj>
          </a:graphicData>
        </a:graphic>
      </p:graphicFrame>
      <p:graphicFrame>
        <p:nvGraphicFramePr>
          <p:cNvPr id="10" name="Object 239"/>
          <p:cNvGraphicFramePr>
            <a:graphicFrameLocks noChangeAspect="1"/>
          </p:cNvGraphicFramePr>
          <p:nvPr/>
        </p:nvGraphicFramePr>
        <p:xfrm>
          <a:off x="7380288" y="2204293"/>
          <a:ext cx="631825" cy="474662"/>
        </p:xfrm>
        <a:graphic>
          <a:graphicData uri="http://schemas.openxmlformats.org/presentationml/2006/ole">
            <p:oleObj spid="_x0000_s86354" name="公式" r:id="rId5" imgW="304668" imgH="228501" progId="">
              <p:embed/>
            </p:oleObj>
          </a:graphicData>
        </a:graphic>
      </p:graphicFrame>
      <p:sp>
        <p:nvSpPr>
          <p:cNvPr id="11" name="Rectangle 273"/>
          <p:cNvSpPr>
            <a:spLocks noChangeArrowheads="1"/>
          </p:cNvSpPr>
          <p:nvPr/>
        </p:nvSpPr>
        <p:spPr bwMode="auto">
          <a:xfrm>
            <a:off x="4572000" y="2637680"/>
            <a:ext cx="3455988" cy="1366838"/>
          </a:xfrm>
          <a:prstGeom prst="rect">
            <a:avLst/>
          </a:prstGeom>
          <a:noFill/>
          <a:ln w="28575">
            <a:solidFill>
              <a:srgbClr val="FF0000"/>
            </a:solidFill>
            <a:prstDash val="dash"/>
            <a:miter lim="800000"/>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sp>
        <p:nvSpPr>
          <p:cNvPr id="12" name="Text Box 277"/>
          <p:cNvSpPr txBox="1">
            <a:spLocks noChangeArrowheads="1"/>
          </p:cNvSpPr>
          <p:nvPr/>
        </p:nvSpPr>
        <p:spPr bwMode="auto">
          <a:xfrm>
            <a:off x="8243888" y="3140918"/>
            <a:ext cx="720725" cy="395287"/>
          </a:xfrm>
          <a:prstGeom prst="rect">
            <a:avLst/>
          </a:prstGeom>
          <a:noFill/>
          <a:ln w="28575">
            <a:solidFill>
              <a:schemeClr val="tx1"/>
            </a:solidFill>
            <a:miter lim="800000"/>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zh-CN" altLang="en-US" sz="1800" b="1">
                <a:solidFill>
                  <a:srgbClr val="FF0000"/>
                </a:solidFill>
              </a:rPr>
              <a:t>保持</a:t>
            </a:r>
          </a:p>
        </p:txBody>
      </p:sp>
      <p:sp>
        <p:nvSpPr>
          <p:cNvPr id="5" name="TextBox 4"/>
          <p:cNvSpPr txBox="1"/>
          <p:nvPr/>
        </p:nvSpPr>
        <p:spPr>
          <a:xfrm>
            <a:off x="539552" y="4077072"/>
            <a:ext cx="332142" cy="369332"/>
          </a:xfrm>
          <a:prstGeom prst="rect">
            <a:avLst/>
          </a:prstGeom>
          <a:noFill/>
        </p:spPr>
        <p:txBody>
          <a:bodyPr wrap="none" rtlCol="0">
            <a:spAutoFit/>
          </a:bodyPr>
          <a:lstStyle/>
          <a:p>
            <a:r>
              <a:rPr lang="en-US" altLang="zh-CN" b="1" dirty="0" smtClean="0">
                <a:solidFill>
                  <a:srgbClr val="0000CC"/>
                </a:solidFill>
              </a:rPr>
              <a:t>0</a:t>
            </a:r>
            <a:endParaRPr lang="zh-CN" altLang="en-US" b="1" dirty="0">
              <a:solidFill>
                <a:srgbClr val="0000CC"/>
              </a:solidFill>
            </a:endParaRPr>
          </a:p>
        </p:txBody>
      </p:sp>
      <p:sp>
        <p:nvSpPr>
          <p:cNvPr id="20" name="TextBox 19"/>
          <p:cNvSpPr txBox="1"/>
          <p:nvPr/>
        </p:nvSpPr>
        <p:spPr>
          <a:xfrm>
            <a:off x="1835696" y="3284984"/>
            <a:ext cx="332142" cy="369332"/>
          </a:xfrm>
          <a:prstGeom prst="rect">
            <a:avLst/>
          </a:prstGeom>
          <a:noFill/>
        </p:spPr>
        <p:txBody>
          <a:bodyPr wrap="none" rtlCol="0">
            <a:spAutoFit/>
          </a:bodyPr>
          <a:lstStyle/>
          <a:p>
            <a:r>
              <a:rPr lang="en-US" altLang="zh-CN" b="1" dirty="0" smtClean="0">
                <a:solidFill>
                  <a:srgbClr val="0000CC"/>
                </a:solidFill>
              </a:rPr>
              <a:t>1</a:t>
            </a:r>
            <a:endParaRPr lang="zh-CN" altLang="en-US" b="1" dirty="0">
              <a:solidFill>
                <a:srgbClr val="0000CC"/>
              </a:solidFill>
            </a:endParaRPr>
          </a:p>
        </p:txBody>
      </p:sp>
      <p:sp>
        <p:nvSpPr>
          <p:cNvPr id="21" name="TextBox 20"/>
          <p:cNvSpPr txBox="1"/>
          <p:nvPr/>
        </p:nvSpPr>
        <p:spPr>
          <a:xfrm>
            <a:off x="1822025" y="4840892"/>
            <a:ext cx="332142" cy="369332"/>
          </a:xfrm>
          <a:prstGeom prst="rect">
            <a:avLst/>
          </a:prstGeom>
          <a:noFill/>
        </p:spPr>
        <p:txBody>
          <a:bodyPr wrap="none" rtlCol="0">
            <a:spAutoFit/>
          </a:bodyPr>
          <a:lstStyle/>
          <a:p>
            <a:r>
              <a:rPr lang="en-US" altLang="zh-CN" b="1" dirty="0" smtClean="0">
                <a:solidFill>
                  <a:srgbClr val="0000CC"/>
                </a:solidFill>
              </a:rPr>
              <a:t>1</a:t>
            </a:r>
            <a:endParaRPr lang="zh-CN" altLang="en-US" b="1" dirty="0">
              <a:solidFill>
                <a:srgbClr val="0000CC"/>
              </a:solidFill>
            </a:endParaRPr>
          </a:p>
        </p:txBody>
      </p:sp>
      <p:sp>
        <p:nvSpPr>
          <p:cNvPr id="22" name="TextBox 21"/>
          <p:cNvSpPr txBox="1"/>
          <p:nvPr/>
        </p:nvSpPr>
        <p:spPr>
          <a:xfrm>
            <a:off x="639458" y="4077072"/>
            <a:ext cx="332142" cy="369332"/>
          </a:xfrm>
          <a:prstGeom prst="rect">
            <a:avLst/>
          </a:prstGeom>
          <a:noFill/>
        </p:spPr>
        <p:txBody>
          <a:bodyPr wrap="none" rtlCol="0">
            <a:spAutoFit/>
          </a:bodyPr>
          <a:lstStyle/>
          <a:p>
            <a:r>
              <a:rPr lang="en-US" altLang="zh-CN" b="1" dirty="0" smtClean="0">
                <a:solidFill>
                  <a:srgbClr val="0000CC"/>
                </a:solidFill>
              </a:rPr>
              <a:t>1</a:t>
            </a:r>
            <a:endParaRPr lang="zh-CN" altLang="en-US" b="1" dirty="0">
              <a:solidFill>
                <a:srgbClr val="0000CC"/>
              </a:solidFill>
            </a:endParaRPr>
          </a:p>
        </p:txBody>
      </p:sp>
      <p:sp>
        <p:nvSpPr>
          <p:cNvPr id="23" name="TextBox 22"/>
          <p:cNvSpPr txBox="1"/>
          <p:nvPr/>
        </p:nvSpPr>
        <p:spPr>
          <a:xfrm>
            <a:off x="395536" y="3140968"/>
            <a:ext cx="332142" cy="369332"/>
          </a:xfrm>
          <a:prstGeom prst="rect">
            <a:avLst/>
          </a:prstGeom>
          <a:noFill/>
        </p:spPr>
        <p:txBody>
          <a:bodyPr wrap="none" rtlCol="0">
            <a:spAutoFit/>
          </a:bodyPr>
          <a:lstStyle/>
          <a:p>
            <a:r>
              <a:rPr lang="en-US" altLang="zh-CN" b="1" dirty="0" smtClean="0">
                <a:solidFill>
                  <a:srgbClr val="0000CC"/>
                </a:solidFill>
              </a:rPr>
              <a:t>0</a:t>
            </a:r>
            <a:endParaRPr lang="zh-CN" altLang="en-US" b="1" dirty="0">
              <a:solidFill>
                <a:srgbClr val="0000CC"/>
              </a:solidFill>
            </a:endParaRPr>
          </a:p>
        </p:txBody>
      </p:sp>
      <p:sp>
        <p:nvSpPr>
          <p:cNvPr id="24" name="TextBox 23"/>
          <p:cNvSpPr txBox="1"/>
          <p:nvPr/>
        </p:nvSpPr>
        <p:spPr>
          <a:xfrm>
            <a:off x="404373" y="5012580"/>
            <a:ext cx="332142" cy="369332"/>
          </a:xfrm>
          <a:prstGeom prst="rect">
            <a:avLst/>
          </a:prstGeom>
          <a:noFill/>
        </p:spPr>
        <p:txBody>
          <a:bodyPr wrap="none" rtlCol="0">
            <a:spAutoFit/>
          </a:bodyPr>
          <a:lstStyle/>
          <a:p>
            <a:r>
              <a:rPr lang="en-US" altLang="zh-CN" b="1" dirty="0" smtClean="0">
                <a:solidFill>
                  <a:srgbClr val="0000CC"/>
                </a:solidFill>
              </a:rPr>
              <a:t>0</a:t>
            </a:r>
            <a:endParaRPr lang="zh-CN" altLang="en-US" b="1" dirty="0">
              <a:solidFill>
                <a:srgbClr val="0000CC"/>
              </a:solidFill>
            </a:endParaRPr>
          </a:p>
        </p:txBody>
      </p:sp>
      <p:sp>
        <p:nvSpPr>
          <p:cNvPr id="25" name="TextBox 24"/>
          <p:cNvSpPr txBox="1"/>
          <p:nvPr/>
        </p:nvSpPr>
        <p:spPr>
          <a:xfrm>
            <a:off x="2007610" y="3284984"/>
            <a:ext cx="332142" cy="369332"/>
          </a:xfrm>
          <a:prstGeom prst="rect">
            <a:avLst/>
          </a:prstGeom>
          <a:noFill/>
        </p:spPr>
        <p:txBody>
          <a:bodyPr wrap="none" rtlCol="0">
            <a:spAutoFit/>
          </a:bodyPr>
          <a:lstStyle/>
          <a:p>
            <a:r>
              <a:rPr lang="en-US" altLang="zh-CN" b="1" dirty="0" smtClean="0">
                <a:solidFill>
                  <a:srgbClr val="0000CC"/>
                </a:solidFill>
              </a:rPr>
              <a:t>1</a:t>
            </a:r>
            <a:endParaRPr lang="zh-CN" altLang="en-US" b="1" dirty="0">
              <a:solidFill>
                <a:srgbClr val="0000CC"/>
              </a:solidFill>
            </a:endParaRPr>
          </a:p>
        </p:txBody>
      </p:sp>
      <p:sp>
        <p:nvSpPr>
          <p:cNvPr id="26" name="TextBox 25"/>
          <p:cNvSpPr txBox="1"/>
          <p:nvPr/>
        </p:nvSpPr>
        <p:spPr>
          <a:xfrm>
            <a:off x="1988096" y="4859868"/>
            <a:ext cx="332142" cy="369332"/>
          </a:xfrm>
          <a:prstGeom prst="rect">
            <a:avLst/>
          </a:prstGeom>
          <a:noFill/>
        </p:spPr>
        <p:txBody>
          <a:bodyPr wrap="none" rtlCol="0">
            <a:spAutoFit/>
          </a:bodyPr>
          <a:lstStyle/>
          <a:p>
            <a:r>
              <a:rPr lang="en-US" altLang="zh-CN" b="1" dirty="0" smtClean="0">
                <a:solidFill>
                  <a:srgbClr val="0000CC"/>
                </a:solidFill>
              </a:rPr>
              <a:t>1</a:t>
            </a:r>
            <a:endParaRPr lang="zh-CN" altLang="en-US" b="1" dirty="0">
              <a:solidFill>
                <a:srgbClr val="0000CC"/>
              </a:solidFill>
            </a:endParaRPr>
          </a:p>
        </p:txBody>
      </p:sp>
      <p:sp>
        <p:nvSpPr>
          <p:cNvPr id="27" name="标题 1"/>
          <p:cNvSpPr>
            <a:spLocks noGrp="1"/>
          </p:cNvSpPr>
          <p:nvPr>
            <p:ph type="title"/>
          </p:nvPr>
        </p:nvSpPr>
        <p:spPr>
          <a:xfrm>
            <a:off x="1187624" y="1124744"/>
            <a:ext cx="7704856" cy="566936"/>
          </a:xfrm>
        </p:spPr>
        <p:txBody>
          <a:bodyPr/>
          <a:lstStyle/>
          <a:p>
            <a:r>
              <a:rPr lang="en-US" altLang="zh-CN" dirty="0" smtClean="0">
                <a:solidFill>
                  <a:srgbClr val="6600CC"/>
                </a:solidFill>
              </a:rPr>
              <a:t>1. </a:t>
            </a:r>
            <a:r>
              <a:rPr lang="zh-CN" altLang="en-US" dirty="0" smtClean="0">
                <a:solidFill>
                  <a:srgbClr val="6600CC"/>
                </a:solidFill>
              </a:rPr>
              <a:t>时钟（同步）</a:t>
            </a:r>
            <a:r>
              <a:rPr lang="en-US" altLang="zh-CN" dirty="0" smtClean="0">
                <a:solidFill>
                  <a:srgbClr val="6600CC"/>
                </a:solidFill>
              </a:rPr>
              <a:t>RS</a:t>
            </a:r>
            <a:r>
              <a:rPr lang="zh-CN" altLang="en-US" dirty="0" smtClean="0">
                <a:solidFill>
                  <a:srgbClr val="6600CC"/>
                </a:solidFill>
              </a:rPr>
              <a:t>触发器</a:t>
            </a:r>
            <a:endParaRPr lang="zh-CN" altLang="en-US" dirty="0"/>
          </a:p>
        </p:txBody>
      </p:sp>
      <p:sp>
        <p:nvSpPr>
          <p:cNvPr id="28" name="标题 1"/>
          <p:cNvSpPr txBox="1">
            <a:spLocks/>
          </p:cNvSpPr>
          <p:nvPr/>
        </p:nvSpPr>
        <p:spPr bwMode="auto">
          <a:xfrm>
            <a:off x="1187624" y="332656"/>
            <a:ext cx="7632848" cy="5669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p>
            <a:pPr lvl="0" fontAlgn="base">
              <a:spcBef>
                <a:spcPct val="0"/>
              </a:spcBef>
              <a:spcAft>
                <a:spcPct val="0"/>
              </a:spcAft>
              <a:defRPr/>
            </a:pPr>
            <a:r>
              <a:rPr lang="en-US" altLang="zh-CN" sz="3200" b="1" dirty="0" smtClean="0">
                <a:solidFill>
                  <a:srgbClr val="6600CC"/>
                </a:solidFill>
              </a:rPr>
              <a:t>5.1.2 </a:t>
            </a:r>
            <a:r>
              <a:rPr lang="zh-CN" altLang="en-US" sz="3200" b="1" dirty="0" smtClean="0">
                <a:solidFill>
                  <a:srgbClr val="6600CC"/>
                </a:solidFill>
              </a:rPr>
              <a:t>时钟触发器</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linds(horizontal)">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blinds(horizontal)">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grpId="1" nodeType="clickEffect">
                                  <p:stCondLst>
                                    <p:cond delay="0"/>
                                  </p:stCondLst>
                                  <p:childTnLst>
                                    <p:set>
                                      <p:cBhvr>
                                        <p:cTn id="26" dur="1" fill="hold">
                                          <p:stCondLst>
                                            <p:cond delay="0"/>
                                          </p:stCondLst>
                                        </p:cTn>
                                        <p:tgtEl>
                                          <p:spTgt spid="5"/>
                                        </p:tgtEl>
                                        <p:attrNameLst>
                                          <p:attrName>style.visibility</p:attrName>
                                        </p:attrNameLst>
                                      </p:cBhvr>
                                      <p:to>
                                        <p:strVal val="hidden"/>
                                      </p:to>
                                    </p:set>
                                  </p:childTnLst>
                                </p:cTn>
                              </p:par>
                              <p:par>
                                <p:cTn id="27" presetID="1" presetClass="exit" presetSubtype="0" fill="hold" grpId="1" nodeType="withEffect">
                                  <p:stCondLst>
                                    <p:cond delay="0"/>
                                  </p:stCondLst>
                                  <p:childTnLst>
                                    <p:set>
                                      <p:cBhvr>
                                        <p:cTn id="28" dur="1" fill="hold">
                                          <p:stCondLst>
                                            <p:cond delay="0"/>
                                          </p:stCondLst>
                                        </p:cTn>
                                        <p:tgtEl>
                                          <p:spTgt spid="20"/>
                                        </p:tgtEl>
                                        <p:attrNameLst>
                                          <p:attrName>style.visibility</p:attrName>
                                        </p:attrNameLst>
                                      </p:cBhvr>
                                      <p:to>
                                        <p:strVal val="hidden"/>
                                      </p:to>
                                    </p:set>
                                  </p:childTnLst>
                                </p:cTn>
                              </p:par>
                              <p:par>
                                <p:cTn id="29" presetID="1" presetClass="exit" presetSubtype="0" fill="hold" grpId="1" nodeType="withEffect">
                                  <p:stCondLst>
                                    <p:cond delay="0"/>
                                  </p:stCondLst>
                                  <p:childTnLst>
                                    <p:set>
                                      <p:cBhvr>
                                        <p:cTn id="30" dur="1" fill="hold">
                                          <p:stCondLst>
                                            <p:cond delay="0"/>
                                          </p:stCondLst>
                                        </p:cTn>
                                        <p:tgtEl>
                                          <p:spTgt spid="21"/>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3"/>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4"/>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5"/>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5" grpId="0"/>
      <p:bldP spid="5" grpId="1"/>
      <p:bldP spid="20" grpId="0"/>
      <p:bldP spid="20" grpId="1"/>
      <p:bldP spid="21" grpId="0"/>
      <p:bldP spid="21" grpId="1"/>
      <p:bldP spid="22" grpId="0"/>
      <p:bldP spid="23" grpId="0"/>
      <p:bldP spid="24" grpId="0"/>
      <p:bldP spid="25" grpId="0"/>
      <p:bldP spid="26"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7374" name="Picture 334"/>
          <p:cNvPicPr>
            <a:picLocks noChangeAspect="1" noChangeArrowheads="1"/>
          </p:cNvPicPr>
          <p:nvPr/>
        </p:nvPicPr>
        <p:blipFill>
          <a:blip r:embed="rId3" cstate="print"/>
          <a:srcRect/>
          <a:stretch>
            <a:fillRect/>
          </a:stretch>
        </p:blipFill>
        <p:spPr bwMode="auto">
          <a:xfrm>
            <a:off x="107504" y="2852936"/>
            <a:ext cx="3914775" cy="3028950"/>
          </a:xfrm>
          <a:prstGeom prst="rect">
            <a:avLst/>
          </a:prstGeom>
          <a:noFill/>
          <a:ln w="9525">
            <a:noFill/>
            <a:miter lim="800000"/>
            <a:headEnd/>
            <a:tailEnd/>
          </a:ln>
        </p:spPr>
      </p:pic>
      <p:sp>
        <p:nvSpPr>
          <p:cNvPr id="3" name="内容占位符 2"/>
          <p:cNvSpPr>
            <a:spLocks noGrp="1"/>
          </p:cNvSpPr>
          <p:nvPr>
            <p:ph idx="1"/>
          </p:nvPr>
        </p:nvSpPr>
        <p:spPr>
          <a:xfrm>
            <a:off x="395536" y="1988840"/>
            <a:ext cx="8161338" cy="4752528"/>
          </a:xfrm>
        </p:spPr>
        <p:txBody>
          <a:bodyPr/>
          <a:lstStyle/>
          <a:p>
            <a:pPr>
              <a:buSzPct val="100000"/>
              <a:buFont typeface="Wingdings" pitchFamily="2" charset="2"/>
              <a:buChar char="p"/>
            </a:pPr>
            <a:r>
              <a:rPr lang="zh-CN" altLang="en-US" sz="2800" dirty="0" smtClean="0"/>
              <a:t>时钟</a:t>
            </a:r>
            <a:r>
              <a:rPr lang="en-US" altLang="zh-CN" sz="2800" dirty="0" smtClean="0"/>
              <a:t>RS</a:t>
            </a:r>
            <a:r>
              <a:rPr lang="zh-CN" altLang="en-US" sz="2800" dirty="0" smtClean="0"/>
              <a:t>触发器</a:t>
            </a:r>
            <a:endParaRPr lang="en-US" altLang="zh-CN" sz="2800" dirty="0" smtClean="0"/>
          </a:p>
          <a:p>
            <a:pPr lvl="1">
              <a:buSzPct val="100000"/>
            </a:pPr>
            <a:r>
              <a:rPr lang="zh-CN" altLang="en-US" sz="2400" dirty="0"/>
              <a:t>电路结构及工作</a:t>
            </a:r>
            <a:r>
              <a:rPr lang="zh-CN" altLang="en-US" sz="2400" dirty="0" smtClean="0"/>
              <a:t>原理</a:t>
            </a:r>
            <a:endParaRPr lang="en-US" altLang="zh-CN" sz="2400" dirty="0" smtClean="0"/>
          </a:p>
          <a:p>
            <a:pPr lvl="1"/>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25</a:t>
            </a:fld>
            <a:endParaRPr lang="zh-CN" altLang="en-US"/>
          </a:p>
        </p:txBody>
      </p:sp>
      <p:sp>
        <p:nvSpPr>
          <p:cNvPr id="6" name="Text Box 8"/>
          <p:cNvSpPr txBox="1">
            <a:spLocks noChangeArrowheads="1"/>
          </p:cNvSpPr>
          <p:nvPr/>
        </p:nvSpPr>
        <p:spPr bwMode="auto">
          <a:xfrm>
            <a:off x="4572000" y="1772493"/>
            <a:ext cx="3671888"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lgn="ctr">
              <a:spcBef>
                <a:spcPct val="50000"/>
              </a:spcBef>
            </a:pPr>
            <a:r>
              <a:rPr lang="zh-CN" altLang="en-US" sz="2000" b="1" dirty="0" smtClean="0">
                <a:latin typeface="楷体_GB2312" pitchFamily="49" charset="-122"/>
                <a:ea typeface="楷体_GB2312" pitchFamily="49" charset="-122"/>
              </a:rPr>
              <a:t>表</a:t>
            </a:r>
            <a:r>
              <a:rPr lang="en-US" altLang="zh-CN" sz="2000" b="1" dirty="0" smtClean="0">
                <a:latin typeface="楷体_GB2312" pitchFamily="49" charset="-122"/>
                <a:ea typeface="楷体_GB2312" pitchFamily="49" charset="-122"/>
              </a:rPr>
              <a:t>  </a:t>
            </a:r>
            <a:r>
              <a:rPr lang="zh-CN" altLang="en-US" sz="2000" b="1" dirty="0">
                <a:latin typeface="楷体_GB2312" pitchFamily="49" charset="-122"/>
                <a:ea typeface="楷体_GB2312" pitchFamily="49" charset="-122"/>
              </a:rPr>
              <a:t>同步</a:t>
            </a:r>
            <a:r>
              <a:rPr lang="en-US" altLang="zh-CN" sz="2000" b="1" dirty="0">
                <a:latin typeface="楷体_GB2312" pitchFamily="49" charset="-122"/>
                <a:ea typeface="楷体_GB2312" pitchFamily="49" charset="-122"/>
              </a:rPr>
              <a:t>RS-FF</a:t>
            </a:r>
            <a:r>
              <a:rPr lang="zh-CN" altLang="en-US" sz="2000" b="1" dirty="0">
                <a:latin typeface="楷体_GB2312" pitchFamily="49" charset="-122"/>
                <a:ea typeface="楷体_GB2312" pitchFamily="49" charset="-122"/>
              </a:rPr>
              <a:t>的特性表</a:t>
            </a:r>
            <a:endParaRPr lang="zh-CN" altLang="en-US" sz="2000" dirty="0">
              <a:latin typeface="楷体_GB2312" pitchFamily="49" charset="-122"/>
              <a:ea typeface="楷体_GB2312" pitchFamily="49" charset="-122"/>
            </a:endParaRPr>
          </a:p>
        </p:txBody>
      </p:sp>
      <p:sp>
        <p:nvSpPr>
          <p:cNvPr id="7" name="Text Box 19"/>
          <p:cNvSpPr txBox="1">
            <a:spLocks noChangeArrowheads="1"/>
          </p:cNvSpPr>
          <p:nvPr/>
        </p:nvSpPr>
        <p:spPr bwMode="auto">
          <a:xfrm>
            <a:off x="4427538" y="6344493"/>
            <a:ext cx="4032250"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zh-CN" altLang="en-US" sz="2000" b="1">
                <a:latin typeface="楷体_GB2312" pitchFamily="49" charset="-122"/>
                <a:ea typeface="楷体_GB2312" pitchFamily="49" charset="-122"/>
              </a:rPr>
              <a:t>注：*</a:t>
            </a:r>
            <a:r>
              <a:rPr lang="en-US" altLang="zh-CN" sz="2000" b="1">
                <a:solidFill>
                  <a:srgbClr val="FF0000"/>
                </a:solidFill>
                <a:latin typeface="楷体_GB2312" pitchFamily="49" charset="-122"/>
                <a:ea typeface="楷体_GB2312" pitchFamily="49" charset="-122"/>
              </a:rPr>
              <a:t>CP</a:t>
            </a:r>
            <a:r>
              <a:rPr lang="zh-CN" altLang="en-US" sz="2000" b="1">
                <a:latin typeface="楷体_GB2312" pitchFamily="49" charset="-122"/>
                <a:ea typeface="楷体_GB2312" pitchFamily="49" charset="-122"/>
              </a:rPr>
              <a:t>回到低电平后状态不定。</a:t>
            </a:r>
          </a:p>
        </p:txBody>
      </p:sp>
      <p:graphicFrame>
        <p:nvGraphicFramePr>
          <p:cNvPr id="8" name="Group 276"/>
          <p:cNvGraphicFramePr>
            <a:graphicFrameLocks noGrp="1"/>
          </p:cNvGraphicFramePr>
          <p:nvPr/>
        </p:nvGraphicFramePr>
        <p:xfrm>
          <a:off x="4427538" y="2204293"/>
          <a:ext cx="3673475" cy="4053840"/>
        </p:xfrm>
        <a:graphic>
          <a:graphicData uri="http://schemas.openxmlformats.org/drawingml/2006/table">
            <a:tbl>
              <a:tblPr/>
              <a:tblGrid>
                <a:gridCol w="735012">
                  <a:extLst>
                    <a:ext uri="{9D8B030D-6E8A-4147-A177-3AD203B41FA5}">
                      <a16:colId xmlns:a16="http://schemas.microsoft.com/office/drawing/2014/main" xmlns="" val="20000"/>
                    </a:ext>
                  </a:extLst>
                </a:gridCol>
                <a:gridCol w="611188">
                  <a:extLst>
                    <a:ext uri="{9D8B030D-6E8A-4147-A177-3AD203B41FA5}">
                      <a16:colId xmlns:a16="http://schemas.microsoft.com/office/drawing/2014/main" xmlns="" val="20001"/>
                    </a:ext>
                  </a:extLst>
                </a:gridCol>
                <a:gridCol w="612775">
                  <a:extLst>
                    <a:ext uri="{9D8B030D-6E8A-4147-A177-3AD203B41FA5}">
                      <a16:colId xmlns:a16="http://schemas.microsoft.com/office/drawing/2014/main" xmlns="" val="20002"/>
                    </a:ext>
                  </a:extLst>
                </a:gridCol>
                <a:gridCol w="674687">
                  <a:extLst>
                    <a:ext uri="{9D8B030D-6E8A-4147-A177-3AD203B41FA5}">
                      <a16:colId xmlns:a16="http://schemas.microsoft.com/office/drawing/2014/main" xmlns="" val="20003"/>
                    </a:ext>
                  </a:extLst>
                </a:gridCol>
                <a:gridCol w="1039813">
                  <a:extLst>
                    <a:ext uri="{9D8B030D-6E8A-4147-A177-3AD203B41FA5}">
                      <a16:colId xmlns:a16="http://schemas.microsoft.com/office/drawing/2014/main" xmlns="" val="20004"/>
                    </a:ext>
                  </a:extLst>
                </a:gridCol>
              </a:tblGrid>
              <a:tr h="355600">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CP</a:t>
                      </a:r>
                    </a:p>
                  </a:txBody>
                  <a:tcPr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R</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0"/>
                  </a:ext>
                </a:extLst>
              </a:tr>
              <a:tr h="355600">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smtClean="0">
                          <a:ln>
                            <a:noFill/>
                          </a:ln>
                          <a:solidFill>
                            <a:srgbClr val="0000CC"/>
                          </a:solidFill>
                          <a:effectLst/>
                          <a:latin typeface="Arial" panose="020B0604020202020204" pitchFamily="34" charset="0"/>
                          <a:ea typeface="宋体" panose="02010600030101010101" pitchFamily="2" charset="-122"/>
                        </a:rPr>
                        <a:t>0</a:t>
                      </a: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smtClean="0">
                          <a:ln>
                            <a:noFill/>
                          </a:ln>
                          <a:solidFill>
                            <a:srgbClr val="0000CC"/>
                          </a:solidFill>
                          <a:effectLst/>
                          <a:latin typeface="Arial" panose="020B0604020202020204" pitchFamily="34" charset="0"/>
                          <a:ea typeface="宋体" panose="02010600030101010101" pitchFamily="2" charset="-122"/>
                        </a:rPr>
                        <a:t>x</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smtClean="0">
                          <a:ln>
                            <a:noFill/>
                          </a:ln>
                          <a:solidFill>
                            <a:srgbClr val="0000CC"/>
                          </a:solidFill>
                          <a:effectLst/>
                          <a:latin typeface="Arial" panose="020B0604020202020204" pitchFamily="34" charset="0"/>
                          <a:ea typeface="宋体" panose="02010600030101010101" pitchFamily="2" charset="-122"/>
                        </a:rPr>
                        <a:t>x</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smtClean="0">
                          <a:ln>
                            <a:noFill/>
                          </a:ln>
                          <a:solidFill>
                            <a:srgbClr val="0000CC"/>
                          </a:solidFill>
                          <a:effectLst/>
                          <a:latin typeface="Arial" panose="020B0604020202020204" pitchFamily="34"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smtClean="0">
                          <a:ln>
                            <a:noFill/>
                          </a:ln>
                          <a:solidFill>
                            <a:srgbClr val="0000CC"/>
                          </a:solidFill>
                          <a:effectLst/>
                          <a:latin typeface="Arial" panose="020B0604020202020204" pitchFamily="34"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r h="355600">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smtClean="0">
                          <a:ln>
                            <a:noFill/>
                          </a:ln>
                          <a:solidFill>
                            <a:srgbClr val="0000CC"/>
                          </a:solidFill>
                          <a:effectLst/>
                          <a:latin typeface="Arial" panose="020B0604020202020204" pitchFamily="34" charset="0"/>
                          <a:ea typeface="宋体" panose="02010600030101010101" pitchFamily="2" charset="-122"/>
                        </a:rPr>
                        <a:t>0</a:t>
                      </a: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smtClean="0">
                          <a:ln>
                            <a:noFill/>
                          </a:ln>
                          <a:solidFill>
                            <a:srgbClr val="0000CC"/>
                          </a:solidFill>
                          <a:effectLst/>
                          <a:latin typeface="Arial" panose="020B0604020202020204" pitchFamily="34" charset="0"/>
                          <a:ea typeface="宋体" panose="02010600030101010101" pitchFamily="2" charset="-122"/>
                        </a:rPr>
                        <a:t>x</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smtClean="0">
                          <a:ln>
                            <a:noFill/>
                          </a:ln>
                          <a:solidFill>
                            <a:srgbClr val="0000CC"/>
                          </a:solidFill>
                          <a:effectLst/>
                          <a:latin typeface="Arial" panose="020B0604020202020204" pitchFamily="34" charset="0"/>
                          <a:ea typeface="宋体" panose="02010600030101010101" pitchFamily="2" charset="-122"/>
                        </a:rPr>
                        <a:t>x</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smtClean="0">
                          <a:ln>
                            <a:noFill/>
                          </a:ln>
                          <a:solidFill>
                            <a:srgbClr val="0000CC"/>
                          </a:solidFill>
                          <a:effectLst/>
                          <a:latin typeface="Arial" panose="020B0604020202020204" pitchFamily="34"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smtClean="0">
                          <a:ln>
                            <a:noFill/>
                          </a:ln>
                          <a:solidFill>
                            <a:srgbClr val="0000CC"/>
                          </a:solidFill>
                          <a:effectLst/>
                          <a:latin typeface="Arial" panose="020B0604020202020204" pitchFamily="34"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2"/>
                  </a:ext>
                </a:extLst>
              </a:tr>
              <a:tr h="355600">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3"/>
                  </a:ext>
                </a:extLst>
              </a:tr>
              <a:tr h="357188">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4"/>
                  </a:ext>
                </a:extLst>
              </a:tr>
              <a:tr h="355600">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5"/>
                  </a:ext>
                </a:extLst>
              </a:tr>
              <a:tr h="355600">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6"/>
                  </a:ext>
                </a:extLst>
              </a:tr>
              <a:tr h="355600">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7"/>
                  </a:ext>
                </a:extLst>
              </a:tr>
              <a:tr h="355600">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8"/>
                  </a:ext>
                </a:extLst>
              </a:tr>
              <a:tr h="355600">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9"/>
                  </a:ext>
                </a:extLst>
              </a:tr>
              <a:tr h="355600">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10"/>
                  </a:ext>
                </a:extLst>
              </a:tr>
            </a:tbl>
          </a:graphicData>
        </a:graphic>
      </p:graphicFrame>
      <p:graphicFrame>
        <p:nvGraphicFramePr>
          <p:cNvPr id="9" name="Object 238"/>
          <p:cNvGraphicFramePr>
            <a:graphicFrameLocks noChangeAspect="1"/>
          </p:cNvGraphicFramePr>
          <p:nvPr/>
        </p:nvGraphicFramePr>
        <p:xfrm>
          <a:off x="6516217" y="2204865"/>
          <a:ext cx="407483" cy="432047"/>
        </p:xfrm>
        <a:graphic>
          <a:graphicData uri="http://schemas.openxmlformats.org/presentationml/2006/ole">
            <p:oleObj spid="_x0000_s87372" name="公式" r:id="rId4" imgW="215806" imgH="228501" progId="">
              <p:embed/>
            </p:oleObj>
          </a:graphicData>
        </a:graphic>
      </p:graphicFrame>
      <p:graphicFrame>
        <p:nvGraphicFramePr>
          <p:cNvPr id="10" name="Object 239"/>
          <p:cNvGraphicFramePr>
            <a:graphicFrameLocks noChangeAspect="1"/>
          </p:cNvGraphicFramePr>
          <p:nvPr/>
        </p:nvGraphicFramePr>
        <p:xfrm>
          <a:off x="7380289" y="2204294"/>
          <a:ext cx="576087" cy="432788"/>
        </p:xfrm>
        <a:graphic>
          <a:graphicData uri="http://schemas.openxmlformats.org/presentationml/2006/ole">
            <p:oleObj spid="_x0000_s87373" name="公式" r:id="rId5" imgW="304668" imgH="228501" progId="">
              <p:embed/>
            </p:oleObj>
          </a:graphicData>
        </a:graphic>
      </p:graphicFrame>
      <p:sp>
        <p:nvSpPr>
          <p:cNvPr id="11" name="Rectangle 273"/>
          <p:cNvSpPr>
            <a:spLocks noChangeArrowheads="1"/>
          </p:cNvSpPr>
          <p:nvPr/>
        </p:nvSpPr>
        <p:spPr bwMode="auto">
          <a:xfrm>
            <a:off x="4572000" y="2637680"/>
            <a:ext cx="3455988" cy="1366838"/>
          </a:xfrm>
          <a:prstGeom prst="rect">
            <a:avLst/>
          </a:prstGeom>
          <a:noFill/>
          <a:ln w="28575">
            <a:solidFill>
              <a:schemeClr val="accent1"/>
            </a:solidFill>
            <a:prstDash val="dash"/>
            <a:miter lim="800000"/>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sp>
        <p:nvSpPr>
          <p:cNvPr id="12" name="Text Box 277"/>
          <p:cNvSpPr txBox="1">
            <a:spLocks noChangeArrowheads="1"/>
          </p:cNvSpPr>
          <p:nvPr/>
        </p:nvSpPr>
        <p:spPr bwMode="auto">
          <a:xfrm>
            <a:off x="8243888" y="3140918"/>
            <a:ext cx="720725" cy="395287"/>
          </a:xfrm>
          <a:prstGeom prst="rect">
            <a:avLst/>
          </a:prstGeom>
          <a:noFill/>
          <a:ln w="28575">
            <a:solidFill>
              <a:schemeClr val="tx1"/>
            </a:solidFill>
            <a:miter lim="800000"/>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zh-CN" altLang="en-US" sz="1800" b="1">
                <a:solidFill>
                  <a:srgbClr val="FF0000"/>
                </a:solidFill>
              </a:rPr>
              <a:t>保持</a:t>
            </a:r>
          </a:p>
        </p:txBody>
      </p:sp>
      <p:sp>
        <p:nvSpPr>
          <p:cNvPr id="13" name="Rectangle 278"/>
          <p:cNvSpPr>
            <a:spLocks noChangeArrowheads="1"/>
          </p:cNvSpPr>
          <p:nvPr/>
        </p:nvSpPr>
        <p:spPr bwMode="auto">
          <a:xfrm>
            <a:off x="4572000" y="4077543"/>
            <a:ext cx="3455988" cy="647700"/>
          </a:xfrm>
          <a:prstGeom prst="rect">
            <a:avLst/>
          </a:prstGeom>
          <a:noFill/>
          <a:ln w="28575">
            <a:solidFill>
              <a:schemeClr val="accent1"/>
            </a:solidFill>
            <a:prstDash val="dash"/>
            <a:miter lim="800000"/>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sp>
        <p:nvSpPr>
          <p:cNvPr id="14" name="Rectangle 279"/>
          <p:cNvSpPr>
            <a:spLocks noChangeArrowheads="1"/>
          </p:cNvSpPr>
          <p:nvPr/>
        </p:nvSpPr>
        <p:spPr bwMode="auto">
          <a:xfrm>
            <a:off x="4572000" y="4798268"/>
            <a:ext cx="3455988" cy="647700"/>
          </a:xfrm>
          <a:prstGeom prst="rect">
            <a:avLst/>
          </a:prstGeom>
          <a:noFill/>
          <a:ln w="28575">
            <a:solidFill>
              <a:schemeClr val="accent1"/>
            </a:solidFill>
            <a:prstDash val="dash"/>
            <a:miter lim="800000"/>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sp>
        <p:nvSpPr>
          <p:cNvPr id="15" name="Rectangle 280"/>
          <p:cNvSpPr>
            <a:spLocks noChangeArrowheads="1"/>
          </p:cNvSpPr>
          <p:nvPr/>
        </p:nvSpPr>
        <p:spPr bwMode="auto">
          <a:xfrm>
            <a:off x="4572000" y="5517405"/>
            <a:ext cx="3455988" cy="647700"/>
          </a:xfrm>
          <a:prstGeom prst="rect">
            <a:avLst/>
          </a:prstGeom>
          <a:noFill/>
          <a:ln w="28575">
            <a:solidFill>
              <a:schemeClr val="accent1"/>
            </a:solidFill>
            <a:prstDash val="dash"/>
            <a:miter lim="800000"/>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sp>
        <p:nvSpPr>
          <p:cNvPr id="16" name="Text Box 281"/>
          <p:cNvSpPr txBox="1">
            <a:spLocks noChangeArrowheads="1"/>
          </p:cNvSpPr>
          <p:nvPr/>
        </p:nvSpPr>
        <p:spPr bwMode="auto">
          <a:xfrm>
            <a:off x="8243888" y="4222005"/>
            <a:ext cx="647700" cy="395288"/>
          </a:xfrm>
          <a:prstGeom prst="rect">
            <a:avLst/>
          </a:prstGeom>
          <a:noFill/>
          <a:ln w="28575">
            <a:solidFill>
              <a:schemeClr val="tx1"/>
            </a:solidFill>
            <a:miter lim="800000"/>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zh-CN" altLang="en-US" sz="1800" b="1">
                <a:solidFill>
                  <a:srgbClr val="FF0000"/>
                </a:solidFill>
              </a:rPr>
              <a:t>置</a:t>
            </a:r>
            <a:r>
              <a:rPr lang="en-US" altLang="zh-CN" sz="1800" b="1">
                <a:solidFill>
                  <a:srgbClr val="FF0000"/>
                </a:solidFill>
              </a:rPr>
              <a:t>1</a:t>
            </a:r>
          </a:p>
        </p:txBody>
      </p:sp>
      <p:sp>
        <p:nvSpPr>
          <p:cNvPr id="17" name="Text Box 282"/>
          <p:cNvSpPr txBox="1">
            <a:spLocks noChangeArrowheads="1"/>
          </p:cNvSpPr>
          <p:nvPr/>
        </p:nvSpPr>
        <p:spPr bwMode="auto">
          <a:xfrm>
            <a:off x="8243888" y="5012580"/>
            <a:ext cx="647700" cy="395288"/>
          </a:xfrm>
          <a:prstGeom prst="rect">
            <a:avLst/>
          </a:prstGeom>
          <a:noFill/>
          <a:ln w="28575">
            <a:solidFill>
              <a:schemeClr val="tx1"/>
            </a:solidFill>
            <a:miter lim="800000"/>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zh-CN" altLang="en-US" sz="1800" b="1">
                <a:solidFill>
                  <a:srgbClr val="FF0000"/>
                </a:solidFill>
              </a:rPr>
              <a:t>置</a:t>
            </a:r>
            <a:r>
              <a:rPr lang="en-US" altLang="zh-CN" sz="1800" b="1">
                <a:solidFill>
                  <a:srgbClr val="FF0000"/>
                </a:solidFill>
              </a:rPr>
              <a:t>0</a:t>
            </a:r>
          </a:p>
        </p:txBody>
      </p:sp>
      <p:sp>
        <p:nvSpPr>
          <p:cNvPr id="18" name="Text Box 283"/>
          <p:cNvSpPr txBox="1">
            <a:spLocks noChangeArrowheads="1"/>
          </p:cNvSpPr>
          <p:nvPr/>
        </p:nvSpPr>
        <p:spPr bwMode="auto">
          <a:xfrm>
            <a:off x="8243888" y="5661868"/>
            <a:ext cx="720725" cy="395287"/>
          </a:xfrm>
          <a:prstGeom prst="rect">
            <a:avLst/>
          </a:prstGeom>
          <a:noFill/>
          <a:ln w="28575">
            <a:solidFill>
              <a:schemeClr val="tx1"/>
            </a:solidFill>
            <a:miter lim="800000"/>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zh-CN" altLang="en-US" sz="1800" b="1">
                <a:solidFill>
                  <a:srgbClr val="FF0000"/>
                </a:solidFill>
              </a:rPr>
              <a:t>不定</a:t>
            </a:r>
          </a:p>
        </p:txBody>
      </p:sp>
      <p:sp>
        <p:nvSpPr>
          <p:cNvPr id="20" name="TextBox 19"/>
          <p:cNvSpPr txBox="1"/>
          <p:nvPr/>
        </p:nvSpPr>
        <p:spPr>
          <a:xfrm>
            <a:off x="1835696" y="3284984"/>
            <a:ext cx="332142" cy="369332"/>
          </a:xfrm>
          <a:prstGeom prst="rect">
            <a:avLst/>
          </a:prstGeom>
          <a:noFill/>
        </p:spPr>
        <p:txBody>
          <a:bodyPr wrap="none" rtlCol="0">
            <a:spAutoFit/>
          </a:bodyPr>
          <a:lstStyle/>
          <a:p>
            <a:r>
              <a:rPr lang="en-US" altLang="zh-CN" b="1" dirty="0" smtClean="0">
                <a:solidFill>
                  <a:srgbClr val="0000CC"/>
                </a:solidFill>
              </a:rPr>
              <a:t>0</a:t>
            </a:r>
            <a:endParaRPr lang="zh-CN" altLang="en-US" b="1" dirty="0">
              <a:solidFill>
                <a:srgbClr val="0000CC"/>
              </a:solidFill>
            </a:endParaRPr>
          </a:p>
        </p:txBody>
      </p:sp>
      <p:sp>
        <p:nvSpPr>
          <p:cNvPr id="21" name="TextBox 20"/>
          <p:cNvSpPr txBox="1"/>
          <p:nvPr/>
        </p:nvSpPr>
        <p:spPr>
          <a:xfrm>
            <a:off x="1822025" y="4840892"/>
            <a:ext cx="332142" cy="369332"/>
          </a:xfrm>
          <a:prstGeom prst="rect">
            <a:avLst/>
          </a:prstGeom>
          <a:noFill/>
        </p:spPr>
        <p:txBody>
          <a:bodyPr wrap="none" rtlCol="0">
            <a:spAutoFit/>
          </a:bodyPr>
          <a:lstStyle/>
          <a:p>
            <a:r>
              <a:rPr lang="en-US" altLang="zh-CN" b="1" dirty="0" smtClean="0">
                <a:solidFill>
                  <a:srgbClr val="0000CC"/>
                </a:solidFill>
              </a:rPr>
              <a:t>1</a:t>
            </a:r>
            <a:endParaRPr lang="zh-CN" altLang="en-US" b="1" dirty="0">
              <a:solidFill>
                <a:srgbClr val="0000CC"/>
              </a:solidFill>
            </a:endParaRPr>
          </a:p>
        </p:txBody>
      </p:sp>
      <p:sp>
        <p:nvSpPr>
          <p:cNvPr id="22" name="TextBox 21"/>
          <p:cNvSpPr txBox="1"/>
          <p:nvPr/>
        </p:nvSpPr>
        <p:spPr>
          <a:xfrm>
            <a:off x="404373" y="4032061"/>
            <a:ext cx="332142" cy="369332"/>
          </a:xfrm>
          <a:prstGeom prst="rect">
            <a:avLst/>
          </a:prstGeom>
          <a:noFill/>
        </p:spPr>
        <p:txBody>
          <a:bodyPr wrap="none" rtlCol="0">
            <a:spAutoFit/>
          </a:bodyPr>
          <a:lstStyle/>
          <a:p>
            <a:r>
              <a:rPr lang="en-US" altLang="zh-CN" b="1" dirty="0" smtClean="0">
                <a:solidFill>
                  <a:srgbClr val="0000CC"/>
                </a:solidFill>
              </a:rPr>
              <a:t>1</a:t>
            </a:r>
            <a:endParaRPr lang="zh-CN" altLang="en-US" b="1" dirty="0">
              <a:solidFill>
                <a:srgbClr val="0000CC"/>
              </a:solidFill>
            </a:endParaRPr>
          </a:p>
        </p:txBody>
      </p:sp>
      <p:sp>
        <p:nvSpPr>
          <p:cNvPr id="23" name="TextBox 22"/>
          <p:cNvSpPr txBox="1"/>
          <p:nvPr/>
        </p:nvSpPr>
        <p:spPr>
          <a:xfrm>
            <a:off x="395536" y="3140968"/>
            <a:ext cx="332142" cy="369332"/>
          </a:xfrm>
          <a:prstGeom prst="rect">
            <a:avLst/>
          </a:prstGeom>
          <a:noFill/>
        </p:spPr>
        <p:txBody>
          <a:bodyPr wrap="none" rtlCol="0">
            <a:spAutoFit/>
          </a:bodyPr>
          <a:lstStyle/>
          <a:p>
            <a:r>
              <a:rPr lang="en-US" altLang="zh-CN" b="1" dirty="0" smtClean="0">
                <a:solidFill>
                  <a:srgbClr val="0000CC"/>
                </a:solidFill>
              </a:rPr>
              <a:t>1</a:t>
            </a:r>
            <a:endParaRPr lang="zh-CN" altLang="en-US" b="1" dirty="0">
              <a:solidFill>
                <a:srgbClr val="0000CC"/>
              </a:solidFill>
            </a:endParaRPr>
          </a:p>
        </p:txBody>
      </p:sp>
      <p:sp>
        <p:nvSpPr>
          <p:cNvPr id="24" name="TextBox 23"/>
          <p:cNvSpPr txBox="1"/>
          <p:nvPr/>
        </p:nvSpPr>
        <p:spPr>
          <a:xfrm>
            <a:off x="404373" y="5012580"/>
            <a:ext cx="332142" cy="369332"/>
          </a:xfrm>
          <a:prstGeom prst="rect">
            <a:avLst/>
          </a:prstGeom>
          <a:noFill/>
        </p:spPr>
        <p:txBody>
          <a:bodyPr wrap="none" rtlCol="0">
            <a:spAutoFit/>
          </a:bodyPr>
          <a:lstStyle/>
          <a:p>
            <a:r>
              <a:rPr lang="en-US" altLang="zh-CN" b="1" dirty="0" smtClean="0">
                <a:solidFill>
                  <a:srgbClr val="0000CC"/>
                </a:solidFill>
              </a:rPr>
              <a:t>0</a:t>
            </a:r>
            <a:endParaRPr lang="zh-CN" altLang="en-US" b="1" dirty="0">
              <a:solidFill>
                <a:srgbClr val="0000CC"/>
              </a:solidFill>
            </a:endParaRPr>
          </a:p>
        </p:txBody>
      </p:sp>
      <p:sp>
        <p:nvSpPr>
          <p:cNvPr id="25" name="TextBox 24"/>
          <p:cNvSpPr txBox="1"/>
          <p:nvPr/>
        </p:nvSpPr>
        <p:spPr>
          <a:xfrm>
            <a:off x="3419872" y="3402124"/>
            <a:ext cx="332142" cy="369332"/>
          </a:xfrm>
          <a:prstGeom prst="rect">
            <a:avLst/>
          </a:prstGeom>
          <a:noFill/>
        </p:spPr>
        <p:txBody>
          <a:bodyPr wrap="none" rtlCol="0">
            <a:spAutoFit/>
          </a:bodyPr>
          <a:lstStyle/>
          <a:p>
            <a:r>
              <a:rPr lang="en-US" altLang="zh-CN" b="1" dirty="0" smtClean="0">
                <a:solidFill>
                  <a:srgbClr val="0000CC"/>
                </a:solidFill>
              </a:rPr>
              <a:t>1</a:t>
            </a:r>
            <a:endParaRPr lang="zh-CN" altLang="en-US" b="1" dirty="0">
              <a:solidFill>
                <a:srgbClr val="0000CC"/>
              </a:solidFill>
            </a:endParaRPr>
          </a:p>
        </p:txBody>
      </p:sp>
      <p:sp>
        <p:nvSpPr>
          <p:cNvPr id="26" name="TextBox 25"/>
          <p:cNvSpPr txBox="1"/>
          <p:nvPr/>
        </p:nvSpPr>
        <p:spPr>
          <a:xfrm>
            <a:off x="3419872" y="4752786"/>
            <a:ext cx="332142" cy="369332"/>
          </a:xfrm>
          <a:prstGeom prst="rect">
            <a:avLst/>
          </a:prstGeom>
          <a:noFill/>
        </p:spPr>
        <p:txBody>
          <a:bodyPr wrap="none" rtlCol="0">
            <a:spAutoFit/>
          </a:bodyPr>
          <a:lstStyle/>
          <a:p>
            <a:r>
              <a:rPr lang="en-US" altLang="zh-CN" b="1" dirty="0" smtClean="0">
                <a:solidFill>
                  <a:srgbClr val="0000CC"/>
                </a:solidFill>
              </a:rPr>
              <a:t>0</a:t>
            </a:r>
            <a:endParaRPr lang="zh-CN" altLang="en-US" b="1" dirty="0">
              <a:solidFill>
                <a:srgbClr val="0000CC"/>
              </a:solidFill>
            </a:endParaRPr>
          </a:p>
        </p:txBody>
      </p:sp>
      <p:sp>
        <p:nvSpPr>
          <p:cNvPr id="27" name="TextBox 26"/>
          <p:cNvSpPr txBox="1"/>
          <p:nvPr/>
        </p:nvSpPr>
        <p:spPr>
          <a:xfrm>
            <a:off x="736515" y="3108702"/>
            <a:ext cx="332142" cy="369332"/>
          </a:xfrm>
          <a:prstGeom prst="rect">
            <a:avLst/>
          </a:prstGeom>
          <a:noFill/>
        </p:spPr>
        <p:txBody>
          <a:bodyPr wrap="none" rtlCol="0">
            <a:spAutoFit/>
          </a:bodyPr>
          <a:lstStyle/>
          <a:p>
            <a:r>
              <a:rPr lang="en-US" altLang="zh-CN" b="1" dirty="0" smtClean="0">
                <a:solidFill>
                  <a:srgbClr val="0000CC"/>
                </a:solidFill>
              </a:rPr>
              <a:t>0</a:t>
            </a:r>
            <a:endParaRPr lang="zh-CN" altLang="en-US" b="1" dirty="0">
              <a:solidFill>
                <a:srgbClr val="0000CC"/>
              </a:solidFill>
            </a:endParaRPr>
          </a:p>
        </p:txBody>
      </p:sp>
      <p:sp>
        <p:nvSpPr>
          <p:cNvPr id="28" name="TextBox 27"/>
          <p:cNvSpPr txBox="1"/>
          <p:nvPr/>
        </p:nvSpPr>
        <p:spPr>
          <a:xfrm>
            <a:off x="600671" y="5004832"/>
            <a:ext cx="332142" cy="369332"/>
          </a:xfrm>
          <a:prstGeom prst="rect">
            <a:avLst/>
          </a:prstGeom>
          <a:noFill/>
        </p:spPr>
        <p:txBody>
          <a:bodyPr wrap="none" rtlCol="0">
            <a:spAutoFit/>
          </a:bodyPr>
          <a:lstStyle/>
          <a:p>
            <a:r>
              <a:rPr lang="en-US" altLang="zh-CN" b="1" dirty="0" smtClean="0">
                <a:solidFill>
                  <a:srgbClr val="0000CC"/>
                </a:solidFill>
              </a:rPr>
              <a:t>1</a:t>
            </a:r>
            <a:endParaRPr lang="zh-CN" altLang="en-US" b="1" dirty="0">
              <a:solidFill>
                <a:srgbClr val="0000CC"/>
              </a:solidFill>
            </a:endParaRPr>
          </a:p>
        </p:txBody>
      </p:sp>
      <p:sp>
        <p:nvSpPr>
          <p:cNvPr id="29" name="TextBox 28"/>
          <p:cNvSpPr txBox="1"/>
          <p:nvPr/>
        </p:nvSpPr>
        <p:spPr>
          <a:xfrm>
            <a:off x="1988096" y="3284984"/>
            <a:ext cx="332142" cy="369332"/>
          </a:xfrm>
          <a:prstGeom prst="rect">
            <a:avLst/>
          </a:prstGeom>
          <a:noFill/>
        </p:spPr>
        <p:txBody>
          <a:bodyPr wrap="none" rtlCol="0">
            <a:spAutoFit/>
          </a:bodyPr>
          <a:lstStyle/>
          <a:p>
            <a:r>
              <a:rPr lang="en-US" altLang="zh-CN" b="1" dirty="0" smtClean="0">
                <a:solidFill>
                  <a:srgbClr val="0000CC"/>
                </a:solidFill>
              </a:rPr>
              <a:t>1</a:t>
            </a:r>
            <a:endParaRPr lang="zh-CN" altLang="en-US" b="1" dirty="0">
              <a:solidFill>
                <a:srgbClr val="0000CC"/>
              </a:solidFill>
            </a:endParaRPr>
          </a:p>
        </p:txBody>
      </p:sp>
      <p:sp>
        <p:nvSpPr>
          <p:cNvPr id="30" name="TextBox 29"/>
          <p:cNvSpPr txBox="1"/>
          <p:nvPr/>
        </p:nvSpPr>
        <p:spPr>
          <a:xfrm>
            <a:off x="2001767" y="4827914"/>
            <a:ext cx="332142" cy="369332"/>
          </a:xfrm>
          <a:prstGeom prst="rect">
            <a:avLst/>
          </a:prstGeom>
          <a:noFill/>
        </p:spPr>
        <p:txBody>
          <a:bodyPr wrap="none" rtlCol="0">
            <a:spAutoFit/>
          </a:bodyPr>
          <a:lstStyle/>
          <a:p>
            <a:r>
              <a:rPr lang="en-US" altLang="zh-CN" b="1" dirty="0" smtClean="0">
                <a:solidFill>
                  <a:srgbClr val="0000CC"/>
                </a:solidFill>
              </a:rPr>
              <a:t>0</a:t>
            </a:r>
            <a:endParaRPr lang="zh-CN" altLang="en-US" b="1" dirty="0">
              <a:solidFill>
                <a:srgbClr val="0000CC"/>
              </a:solidFill>
            </a:endParaRPr>
          </a:p>
        </p:txBody>
      </p:sp>
      <p:sp>
        <p:nvSpPr>
          <p:cNvPr id="31" name="TextBox 30"/>
          <p:cNvSpPr txBox="1"/>
          <p:nvPr/>
        </p:nvSpPr>
        <p:spPr>
          <a:xfrm>
            <a:off x="3585943" y="3351539"/>
            <a:ext cx="332142" cy="369332"/>
          </a:xfrm>
          <a:prstGeom prst="rect">
            <a:avLst/>
          </a:prstGeom>
          <a:noFill/>
        </p:spPr>
        <p:txBody>
          <a:bodyPr wrap="none" rtlCol="0">
            <a:spAutoFit/>
          </a:bodyPr>
          <a:lstStyle/>
          <a:p>
            <a:r>
              <a:rPr lang="en-US" altLang="zh-CN" b="1" dirty="0" smtClean="0">
                <a:solidFill>
                  <a:srgbClr val="0000CC"/>
                </a:solidFill>
              </a:rPr>
              <a:t>0</a:t>
            </a:r>
            <a:endParaRPr lang="zh-CN" altLang="en-US" b="1" dirty="0">
              <a:solidFill>
                <a:srgbClr val="0000CC"/>
              </a:solidFill>
            </a:endParaRPr>
          </a:p>
        </p:txBody>
      </p:sp>
      <p:sp>
        <p:nvSpPr>
          <p:cNvPr id="32" name="TextBox 31"/>
          <p:cNvSpPr txBox="1"/>
          <p:nvPr/>
        </p:nvSpPr>
        <p:spPr>
          <a:xfrm>
            <a:off x="3613362" y="4650474"/>
            <a:ext cx="332142" cy="369332"/>
          </a:xfrm>
          <a:prstGeom prst="rect">
            <a:avLst/>
          </a:prstGeom>
          <a:noFill/>
        </p:spPr>
        <p:txBody>
          <a:bodyPr wrap="none" rtlCol="0">
            <a:spAutoFit/>
          </a:bodyPr>
          <a:lstStyle/>
          <a:p>
            <a:r>
              <a:rPr lang="en-US" altLang="zh-CN" b="1" dirty="0" smtClean="0">
                <a:solidFill>
                  <a:srgbClr val="0000CC"/>
                </a:solidFill>
              </a:rPr>
              <a:t>1</a:t>
            </a:r>
            <a:endParaRPr lang="zh-CN" altLang="en-US" b="1" dirty="0">
              <a:solidFill>
                <a:srgbClr val="0000CC"/>
              </a:solidFill>
            </a:endParaRPr>
          </a:p>
        </p:txBody>
      </p:sp>
      <p:sp>
        <p:nvSpPr>
          <p:cNvPr id="36" name="标题 1"/>
          <p:cNvSpPr txBox="1">
            <a:spLocks/>
          </p:cNvSpPr>
          <p:nvPr/>
        </p:nvSpPr>
        <p:spPr bwMode="auto">
          <a:xfrm>
            <a:off x="1187624" y="1124744"/>
            <a:ext cx="7704856" cy="5669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p>
            <a:pPr lvl="0" fontAlgn="base">
              <a:spcBef>
                <a:spcPct val="0"/>
              </a:spcBef>
              <a:spcAft>
                <a:spcPct val="0"/>
              </a:spcAft>
            </a:pPr>
            <a:r>
              <a:rPr kumimoji="1" lang="en-US" altLang="zh-CN" sz="3200" b="1" i="0" u="none" strike="noStrike" kern="0" cap="none" spc="0" normalizeH="0" baseline="0" noProof="0" dirty="0" smtClean="0">
                <a:ln>
                  <a:noFill/>
                </a:ln>
                <a:solidFill>
                  <a:srgbClr val="6600CC"/>
                </a:solidFill>
                <a:effectLst/>
                <a:uLnTx/>
                <a:uFillTx/>
                <a:latin typeface="+mj-lt"/>
                <a:ea typeface="+mj-ea"/>
                <a:cs typeface="+mj-cs"/>
              </a:rPr>
              <a:t>1. </a:t>
            </a:r>
            <a:r>
              <a:rPr kumimoji="1" lang="zh-CN" altLang="en-US" sz="3200" b="1" i="0" u="none" strike="noStrike" kern="0" cap="none" spc="0" normalizeH="0" baseline="0" noProof="0" dirty="0" smtClean="0">
                <a:ln>
                  <a:noFill/>
                </a:ln>
                <a:solidFill>
                  <a:srgbClr val="6600CC"/>
                </a:solidFill>
                <a:effectLst/>
                <a:uLnTx/>
                <a:uFillTx/>
                <a:latin typeface="+mj-lt"/>
                <a:ea typeface="+mj-ea"/>
                <a:cs typeface="+mj-cs"/>
              </a:rPr>
              <a:t>时钟</a:t>
            </a:r>
            <a:r>
              <a:rPr lang="zh-CN" altLang="en-US" sz="3200" b="1" dirty="0" smtClean="0">
                <a:solidFill>
                  <a:srgbClr val="6600CC"/>
                </a:solidFill>
              </a:rPr>
              <a:t>（同步）</a:t>
            </a:r>
            <a:r>
              <a:rPr kumimoji="1" lang="en-US" altLang="zh-CN" sz="3200" b="1" i="0" u="none" strike="noStrike" kern="0" cap="none" spc="0" normalizeH="0" baseline="0" noProof="0" dirty="0" smtClean="0">
                <a:ln>
                  <a:noFill/>
                </a:ln>
                <a:solidFill>
                  <a:srgbClr val="6600CC"/>
                </a:solidFill>
                <a:effectLst/>
                <a:uLnTx/>
                <a:uFillTx/>
                <a:latin typeface="+mj-lt"/>
                <a:ea typeface="+mj-ea"/>
                <a:cs typeface="+mj-cs"/>
              </a:rPr>
              <a:t>RS</a:t>
            </a:r>
            <a:r>
              <a:rPr kumimoji="1" lang="zh-CN" altLang="en-US" sz="3200" b="1" i="0" u="none" strike="noStrike" kern="0" cap="none" spc="0" normalizeH="0" baseline="0" noProof="0" dirty="0" smtClean="0">
                <a:ln>
                  <a:noFill/>
                </a:ln>
                <a:solidFill>
                  <a:srgbClr val="6600CC"/>
                </a:solidFill>
                <a:effectLst/>
                <a:uLnTx/>
                <a:uFillTx/>
                <a:latin typeface="+mj-lt"/>
                <a:ea typeface="+mj-ea"/>
                <a:cs typeface="+mj-cs"/>
              </a:rPr>
              <a:t>触发器</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sp>
        <p:nvSpPr>
          <p:cNvPr id="37" name="标题 1"/>
          <p:cNvSpPr txBox="1">
            <a:spLocks/>
          </p:cNvSpPr>
          <p:nvPr/>
        </p:nvSpPr>
        <p:spPr bwMode="auto">
          <a:xfrm>
            <a:off x="1187624" y="332656"/>
            <a:ext cx="7632848" cy="5669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p>
            <a:pPr lvl="0" fontAlgn="base">
              <a:spcBef>
                <a:spcPct val="0"/>
              </a:spcBef>
              <a:spcAft>
                <a:spcPct val="0"/>
              </a:spcAft>
              <a:defRPr/>
            </a:pPr>
            <a:r>
              <a:rPr lang="en-US" altLang="zh-CN" sz="3200" b="1" dirty="0" smtClean="0">
                <a:solidFill>
                  <a:srgbClr val="6600CC"/>
                </a:solidFill>
              </a:rPr>
              <a:t>5.1.2 </a:t>
            </a:r>
            <a:r>
              <a:rPr lang="zh-CN" altLang="en-US" sz="3200" b="1" dirty="0" smtClean="0">
                <a:solidFill>
                  <a:srgbClr val="6600CC"/>
                </a:solidFill>
              </a:rPr>
              <a:t>时钟触发器</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blinds(horizontal)">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blinds(horizontal)">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grpId="1" nodeType="clickEffect">
                                  <p:stCondLst>
                                    <p:cond delay="0"/>
                                  </p:stCondLst>
                                  <p:childTnLst>
                                    <p:set>
                                      <p:cBhvr>
                                        <p:cTn id="34" dur="1" fill="hold">
                                          <p:stCondLst>
                                            <p:cond delay="0"/>
                                          </p:stCondLst>
                                        </p:cTn>
                                        <p:tgtEl>
                                          <p:spTgt spid="20"/>
                                        </p:tgtEl>
                                        <p:attrNameLst>
                                          <p:attrName>style.visibility</p:attrName>
                                        </p:attrNameLst>
                                      </p:cBhvr>
                                      <p:to>
                                        <p:strVal val="hidden"/>
                                      </p:to>
                                    </p:set>
                                  </p:childTnLst>
                                </p:cTn>
                              </p:par>
                              <p:par>
                                <p:cTn id="35" presetID="1" presetClass="exit" presetSubtype="0" fill="hold" grpId="1" nodeType="withEffect">
                                  <p:stCondLst>
                                    <p:cond delay="0"/>
                                  </p:stCondLst>
                                  <p:childTnLst>
                                    <p:set>
                                      <p:cBhvr>
                                        <p:cTn id="36" dur="1" fill="hold">
                                          <p:stCondLst>
                                            <p:cond delay="0"/>
                                          </p:stCondLst>
                                        </p:cTn>
                                        <p:tgtEl>
                                          <p:spTgt spid="21"/>
                                        </p:tgtEl>
                                        <p:attrNameLst>
                                          <p:attrName>style.visibility</p:attrName>
                                        </p:attrNameLst>
                                      </p:cBhvr>
                                      <p:to>
                                        <p:strVal val="hidden"/>
                                      </p:to>
                                    </p:set>
                                  </p:childTnLst>
                                </p:cTn>
                              </p:par>
                              <p:par>
                                <p:cTn id="37" presetID="1" presetClass="exit" presetSubtype="0" fill="hold" grpId="1" nodeType="withEffect">
                                  <p:stCondLst>
                                    <p:cond delay="0"/>
                                  </p:stCondLst>
                                  <p:childTnLst>
                                    <p:set>
                                      <p:cBhvr>
                                        <p:cTn id="38" dur="1" fill="hold">
                                          <p:stCondLst>
                                            <p:cond delay="0"/>
                                          </p:stCondLst>
                                        </p:cTn>
                                        <p:tgtEl>
                                          <p:spTgt spid="25"/>
                                        </p:tgtEl>
                                        <p:attrNameLst>
                                          <p:attrName>style.visibility</p:attrName>
                                        </p:attrNameLst>
                                      </p:cBhvr>
                                      <p:to>
                                        <p:strVal val="hidden"/>
                                      </p:to>
                                    </p:set>
                                  </p:childTnLst>
                                </p:cTn>
                              </p:par>
                              <p:par>
                                <p:cTn id="39" presetID="1" presetClass="exit" presetSubtype="0" fill="hold" grpId="1" nodeType="withEffect">
                                  <p:stCondLst>
                                    <p:cond delay="0"/>
                                  </p:stCondLst>
                                  <p:childTnLst>
                                    <p:set>
                                      <p:cBhvr>
                                        <p:cTn id="40" dur="1" fill="hold">
                                          <p:stCondLst>
                                            <p:cond delay="0"/>
                                          </p:stCondLst>
                                        </p:cTn>
                                        <p:tgtEl>
                                          <p:spTgt spid="26"/>
                                        </p:tgtEl>
                                        <p:attrNameLst>
                                          <p:attrName>style.visibility</p:attrName>
                                        </p:attrNameLst>
                                      </p:cBhvr>
                                      <p:to>
                                        <p:strVal val="hidden"/>
                                      </p:to>
                                    </p:set>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grpId="0" nodeType="clickEffect">
                                  <p:stCondLst>
                                    <p:cond delay="0"/>
                                  </p:stCondLst>
                                  <p:childTnLst>
                                    <p:set>
                                      <p:cBhvr>
                                        <p:cTn id="44" dur="1" fill="hold">
                                          <p:stCondLst>
                                            <p:cond delay="0"/>
                                          </p:stCondLst>
                                        </p:cTn>
                                        <p:tgtEl>
                                          <p:spTgt spid="14"/>
                                        </p:tgtEl>
                                        <p:attrNameLst>
                                          <p:attrName>style.visibility</p:attrName>
                                        </p:attrNameLst>
                                      </p:cBhvr>
                                      <p:to>
                                        <p:strVal val="visible"/>
                                      </p:to>
                                    </p:set>
                                    <p:animEffect transition="in" filter="blinds(horizontal)">
                                      <p:cBhvr>
                                        <p:cTn id="45" dur="500"/>
                                        <p:tgtEl>
                                          <p:spTgt spid="14"/>
                                        </p:tgtEl>
                                      </p:cBhvr>
                                    </p:animEffec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grpId="0" nodeType="clickEffect">
                                  <p:stCondLst>
                                    <p:cond delay="0"/>
                                  </p:stCondLst>
                                  <p:childTnLst>
                                    <p:set>
                                      <p:cBhvr>
                                        <p:cTn id="49" dur="1" fill="hold">
                                          <p:stCondLst>
                                            <p:cond delay="0"/>
                                          </p:stCondLst>
                                        </p:cTn>
                                        <p:tgtEl>
                                          <p:spTgt spid="17"/>
                                        </p:tgtEl>
                                        <p:attrNameLst>
                                          <p:attrName>style.visibility</p:attrName>
                                        </p:attrNameLst>
                                      </p:cBhvr>
                                      <p:to>
                                        <p:strVal val="visible"/>
                                      </p:to>
                                    </p:set>
                                    <p:animEffect transition="in" filter="blinds(horizontal)">
                                      <p:cBhvr>
                                        <p:cTn id="50" dur="500"/>
                                        <p:tgtEl>
                                          <p:spTgt spid="17"/>
                                        </p:tgtEl>
                                      </p:cBhvr>
                                    </p:animEffect>
                                  </p:childTnLst>
                                </p:cTn>
                              </p:par>
                            </p:childTnLst>
                          </p:cTn>
                        </p:par>
                      </p:childTnLst>
                    </p:cTn>
                  </p:par>
                  <p:par>
                    <p:cTn id="51" fill="hold">
                      <p:stCondLst>
                        <p:cond delay="indefinite"/>
                      </p:stCondLst>
                      <p:childTnLst>
                        <p:par>
                          <p:cTn id="52" fill="hold">
                            <p:stCondLst>
                              <p:cond delay="0"/>
                            </p:stCondLst>
                            <p:childTnLst>
                              <p:par>
                                <p:cTn id="53" presetID="1" presetClass="exit" presetSubtype="0" fill="hold" grpId="1" nodeType="clickEffect">
                                  <p:stCondLst>
                                    <p:cond delay="0"/>
                                  </p:stCondLst>
                                  <p:childTnLst>
                                    <p:set>
                                      <p:cBhvr>
                                        <p:cTn id="54" dur="1" fill="hold">
                                          <p:stCondLst>
                                            <p:cond delay="0"/>
                                          </p:stCondLst>
                                        </p:cTn>
                                        <p:tgtEl>
                                          <p:spTgt spid="23"/>
                                        </p:tgtEl>
                                        <p:attrNameLst>
                                          <p:attrName>style.visibility</p:attrName>
                                        </p:attrNameLst>
                                      </p:cBhvr>
                                      <p:to>
                                        <p:strVal val="hidden"/>
                                      </p:to>
                                    </p:set>
                                  </p:childTnLst>
                                </p:cTn>
                              </p:par>
                              <p:par>
                                <p:cTn id="55" presetID="1" presetClass="exit" presetSubtype="0" fill="hold" grpId="1" nodeType="withEffect">
                                  <p:stCondLst>
                                    <p:cond delay="0"/>
                                  </p:stCondLst>
                                  <p:childTnLst>
                                    <p:set>
                                      <p:cBhvr>
                                        <p:cTn id="56" dur="1" fill="hold">
                                          <p:stCondLst>
                                            <p:cond delay="0"/>
                                          </p:stCondLst>
                                        </p:cTn>
                                        <p:tgtEl>
                                          <p:spTgt spid="24"/>
                                        </p:tgtEl>
                                        <p:attrNameLst>
                                          <p:attrName>style.visibility</p:attrName>
                                        </p:attrNameLst>
                                      </p:cBhvr>
                                      <p:to>
                                        <p:strVal val="hidden"/>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27"/>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28"/>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29"/>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30"/>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31"/>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32"/>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xit" presetSubtype="0" fill="hold" grpId="1" nodeType="clickEffect">
                                  <p:stCondLst>
                                    <p:cond delay="0"/>
                                  </p:stCondLst>
                                  <p:childTnLst>
                                    <p:set>
                                      <p:cBhvr>
                                        <p:cTn id="78" dur="1" fill="hold">
                                          <p:stCondLst>
                                            <p:cond delay="0"/>
                                          </p:stCondLst>
                                        </p:cTn>
                                        <p:tgtEl>
                                          <p:spTgt spid="27"/>
                                        </p:tgtEl>
                                        <p:attrNameLst>
                                          <p:attrName>style.visibility</p:attrName>
                                        </p:attrNameLst>
                                      </p:cBhvr>
                                      <p:to>
                                        <p:strVal val="hidden"/>
                                      </p:to>
                                    </p:set>
                                  </p:childTnLst>
                                </p:cTn>
                              </p:par>
                              <p:par>
                                <p:cTn id="79" presetID="1" presetClass="exit" presetSubtype="0" fill="hold" grpId="1" nodeType="withEffect">
                                  <p:stCondLst>
                                    <p:cond delay="0"/>
                                  </p:stCondLst>
                                  <p:childTnLst>
                                    <p:set>
                                      <p:cBhvr>
                                        <p:cTn id="80" dur="1" fill="hold">
                                          <p:stCondLst>
                                            <p:cond delay="0"/>
                                          </p:stCondLst>
                                        </p:cTn>
                                        <p:tgtEl>
                                          <p:spTgt spid="28"/>
                                        </p:tgtEl>
                                        <p:attrNameLst>
                                          <p:attrName>style.visibility</p:attrName>
                                        </p:attrNameLst>
                                      </p:cBhvr>
                                      <p:to>
                                        <p:strVal val="hidden"/>
                                      </p:to>
                                    </p:set>
                                  </p:childTnLst>
                                </p:cTn>
                              </p:par>
                              <p:par>
                                <p:cTn id="81" presetID="1" presetClass="exit" presetSubtype="0" fill="hold" grpId="1" nodeType="withEffect">
                                  <p:stCondLst>
                                    <p:cond delay="0"/>
                                  </p:stCondLst>
                                  <p:childTnLst>
                                    <p:set>
                                      <p:cBhvr>
                                        <p:cTn id="82" dur="1" fill="hold">
                                          <p:stCondLst>
                                            <p:cond delay="0"/>
                                          </p:stCondLst>
                                        </p:cTn>
                                        <p:tgtEl>
                                          <p:spTgt spid="29"/>
                                        </p:tgtEl>
                                        <p:attrNameLst>
                                          <p:attrName>style.visibility</p:attrName>
                                        </p:attrNameLst>
                                      </p:cBhvr>
                                      <p:to>
                                        <p:strVal val="hidden"/>
                                      </p:to>
                                    </p:set>
                                  </p:childTnLst>
                                </p:cTn>
                              </p:par>
                              <p:par>
                                <p:cTn id="83" presetID="1" presetClass="exit" presetSubtype="0" fill="hold" grpId="1" nodeType="withEffect">
                                  <p:stCondLst>
                                    <p:cond delay="0"/>
                                  </p:stCondLst>
                                  <p:childTnLst>
                                    <p:set>
                                      <p:cBhvr>
                                        <p:cTn id="84" dur="1" fill="hold">
                                          <p:stCondLst>
                                            <p:cond delay="0"/>
                                          </p:stCondLst>
                                        </p:cTn>
                                        <p:tgtEl>
                                          <p:spTgt spid="30"/>
                                        </p:tgtEl>
                                        <p:attrNameLst>
                                          <p:attrName>style.visibility</p:attrName>
                                        </p:attrNameLst>
                                      </p:cBhvr>
                                      <p:to>
                                        <p:strVal val="hidden"/>
                                      </p:to>
                                    </p:set>
                                  </p:childTnLst>
                                </p:cTn>
                              </p:par>
                              <p:par>
                                <p:cTn id="85" presetID="1" presetClass="exit" presetSubtype="0" fill="hold" grpId="1" nodeType="withEffect">
                                  <p:stCondLst>
                                    <p:cond delay="0"/>
                                  </p:stCondLst>
                                  <p:childTnLst>
                                    <p:set>
                                      <p:cBhvr>
                                        <p:cTn id="86" dur="1" fill="hold">
                                          <p:stCondLst>
                                            <p:cond delay="0"/>
                                          </p:stCondLst>
                                        </p:cTn>
                                        <p:tgtEl>
                                          <p:spTgt spid="31"/>
                                        </p:tgtEl>
                                        <p:attrNameLst>
                                          <p:attrName>style.visibility</p:attrName>
                                        </p:attrNameLst>
                                      </p:cBhvr>
                                      <p:to>
                                        <p:strVal val="hidden"/>
                                      </p:to>
                                    </p:set>
                                  </p:childTnLst>
                                </p:cTn>
                              </p:par>
                              <p:par>
                                <p:cTn id="87" presetID="1" presetClass="exit" presetSubtype="0" fill="hold" grpId="1" nodeType="withEffect">
                                  <p:stCondLst>
                                    <p:cond delay="0"/>
                                  </p:stCondLst>
                                  <p:childTnLst>
                                    <p:set>
                                      <p:cBhvr>
                                        <p:cTn id="88" dur="1" fill="hold">
                                          <p:stCondLst>
                                            <p:cond delay="0"/>
                                          </p:stCondLst>
                                        </p:cTn>
                                        <p:tgtEl>
                                          <p:spTgt spid="32"/>
                                        </p:tgtEl>
                                        <p:attrNameLst>
                                          <p:attrName>style.visibility</p:attrName>
                                        </p:attrNameLst>
                                      </p:cBhvr>
                                      <p:to>
                                        <p:strVal val="hidden"/>
                                      </p:to>
                                    </p:set>
                                  </p:childTnLst>
                                </p:cTn>
                              </p:par>
                            </p:childTnLst>
                          </p:cTn>
                        </p:par>
                      </p:childTnLst>
                    </p:cTn>
                  </p:par>
                  <p:par>
                    <p:cTn id="89" fill="hold">
                      <p:stCondLst>
                        <p:cond delay="indefinite"/>
                      </p:stCondLst>
                      <p:childTnLst>
                        <p:par>
                          <p:cTn id="90" fill="hold">
                            <p:stCondLst>
                              <p:cond delay="0"/>
                            </p:stCondLst>
                            <p:childTnLst>
                              <p:par>
                                <p:cTn id="91" presetID="3" presetClass="entr" presetSubtype="10" fill="hold" grpId="0" nodeType="clickEffect">
                                  <p:stCondLst>
                                    <p:cond delay="0"/>
                                  </p:stCondLst>
                                  <p:childTnLst>
                                    <p:set>
                                      <p:cBhvr>
                                        <p:cTn id="92" dur="1" fill="hold">
                                          <p:stCondLst>
                                            <p:cond delay="0"/>
                                          </p:stCondLst>
                                        </p:cTn>
                                        <p:tgtEl>
                                          <p:spTgt spid="15"/>
                                        </p:tgtEl>
                                        <p:attrNameLst>
                                          <p:attrName>style.visibility</p:attrName>
                                        </p:attrNameLst>
                                      </p:cBhvr>
                                      <p:to>
                                        <p:strVal val="visible"/>
                                      </p:to>
                                    </p:set>
                                    <p:animEffect transition="in" filter="blinds(horizontal)">
                                      <p:cBhvr>
                                        <p:cTn id="93" dur="500"/>
                                        <p:tgtEl>
                                          <p:spTgt spid="15"/>
                                        </p:tgtEl>
                                      </p:cBhvr>
                                    </p:animEffect>
                                  </p:childTnLst>
                                </p:cTn>
                              </p:par>
                            </p:childTnLst>
                          </p:cTn>
                        </p:par>
                      </p:childTnLst>
                    </p:cTn>
                  </p:par>
                  <p:par>
                    <p:cTn id="94" fill="hold">
                      <p:stCondLst>
                        <p:cond delay="indefinite"/>
                      </p:stCondLst>
                      <p:childTnLst>
                        <p:par>
                          <p:cTn id="95" fill="hold">
                            <p:stCondLst>
                              <p:cond delay="0"/>
                            </p:stCondLst>
                            <p:childTnLst>
                              <p:par>
                                <p:cTn id="96" presetID="3" presetClass="entr" presetSubtype="10" fill="hold" grpId="0" nodeType="clickEffect">
                                  <p:stCondLst>
                                    <p:cond delay="0"/>
                                  </p:stCondLst>
                                  <p:childTnLst>
                                    <p:set>
                                      <p:cBhvr>
                                        <p:cTn id="97" dur="1" fill="hold">
                                          <p:stCondLst>
                                            <p:cond delay="0"/>
                                          </p:stCondLst>
                                        </p:cTn>
                                        <p:tgtEl>
                                          <p:spTgt spid="7"/>
                                        </p:tgtEl>
                                        <p:attrNameLst>
                                          <p:attrName>style.visibility</p:attrName>
                                        </p:attrNameLst>
                                      </p:cBhvr>
                                      <p:to>
                                        <p:strVal val="visible"/>
                                      </p:to>
                                    </p:set>
                                    <p:animEffect transition="in" filter="blinds(horizontal)">
                                      <p:cBhvr>
                                        <p:cTn id="98" dur="500"/>
                                        <p:tgtEl>
                                          <p:spTgt spid="7"/>
                                        </p:tgtEl>
                                      </p:cBhvr>
                                    </p:animEffect>
                                  </p:childTnLst>
                                </p:cTn>
                              </p:par>
                            </p:childTnLst>
                          </p:cTn>
                        </p:par>
                      </p:childTnLst>
                    </p:cTn>
                  </p:par>
                  <p:par>
                    <p:cTn id="99" fill="hold">
                      <p:stCondLst>
                        <p:cond delay="indefinite"/>
                      </p:stCondLst>
                      <p:childTnLst>
                        <p:par>
                          <p:cTn id="100" fill="hold">
                            <p:stCondLst>
                              <p:cond delay="0"/>
                            </p:stCondLst>
                            <p:childTnLst>
                              <p:par>
                                <p:cTn id="101" presetID="3" presetClass="entr" presetSubtype="10" fill="hold" grpId="0" nodeType="clickEffect">
                                  <p:stCondLst>
                                    <p:cond delay="0"/>
                                  </p:stCondLst>
                                  <p:childTnLst>
                                    <p:set>
                                      <p:cBhvr>
                                        <p:cTn id="102" dur="1" fill="hold">
                                          <p:stCondLst>
                                            <p:cond delay="0"/>
                                          </p:stCondLst>
                                        </p:cTn>
                                        <p:tgtEl>
                                          <p:spTgt spid="18"/>
                                        </p:tgtEl>
                                        <p:attrNameLst>
                                          <p:attrName>style.visibility</p:attrName>
                                        </p:attrNameLst>
                                      </p:cBhvr>
                                      <p:to>
                                        <p:strVal val="visible"/>
                                      </p:to>
                                    </p:set>
                                    <p:animEffect transition="in" filter="blinds(horizontal)">
                                      <p:cBhvr>
                                        <p:cTn id="103"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3" grpId="0" animBg="1"/>
      <p:bldP spid="14" grpId="0" animBg="1"/>
      <p:bldP spid="15" grpId="0" animBg="1"/>
      <p:bldP spid="16" grpId="0" animBg="1"/>
      <p:bldP spid="17" grpId="0" animBg="1"/>
      <p:bldP spid="18" grpId="0" animBg="1"/>
      <p:bldP spid="20" grpId="0"/>
      <p:bldP spid="20" grpId="1"/>
      <p:bldP spid="21" grpId="0"/>
      <p:bldP spid="21" grpId="1"/>
      <p:bldP spid="23" grpId="0"/>
      <p:bldP spid="23" grpId="1"/>
      <p:bldP spid="24" grpId="0"/>
      <p:bldP spid="24" grpId="1"/>
      <p:bldP spid="25" grpId="0"/>
      <p:bldP spid="25" grpId="1"/>
      <p:bldP spid="26" grpId="0"/>
      <p:bldP spid="26" grpId="1"/>
      <p:bldP spid="27" grpId="0"/>
      <p:bldP spid="27" grpId="1"/>
      <p:bldP spid="28" grpId="0"/>
      <p:bldP spid="28" grpId="1"/>
      <p:bldP spid="29" grpId="0"/>
      <p:bldP spid="29" grpId="1"/>
      <p:bldP spid="30" grpId="0"/>
      <p:bldP spid="30" grpId="1"/>
      <p:bldP spid="31" grpId="0"/>
      <p:bldP spid="31" grpId="1"/>
      <p:bldP spid="32" grpId="0"/>
      <p:bldP spid="32" grpId="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95536" y="1988840"/>
            <a:ext cx="8280920" cy="4752528"/>
          </a:xfrm>
        </p:spPr>
        <p:txBody>
          <a:bodyPr/>
          <a:lstStyle/>
          <a:p>
            <a:pPr>
              <a:lnSpc>
                <a:spcPct val="100000"/>
              </a:lnSpc>
              <a:spcBef>
                <a:spcPts val="600"/>
              </a:spcBef>
              <a:buSzPct val="100000"/>
              <a:buFont typeface="Wingdings" pitchFamily="2" charset="2"/>
              <a:buChar char="p"/>
            </a:pPr>
            <a:r>
              <a:rPr lang="zh-CN" altLang="en-US" sz="2800" dirty="0"/>
              <a:t>从同步</a:t>
            </a:r>
            <a:r>
              <a:rPr lang="en-US" altLang="zh-CN" sz="2800" dirty="0"/>
              <a:t>RS-FF</a:t>
            </a:r>
            <a:r>
              <a:rPr lang="zh-CN" altLang="en-US" sz="2800" dirty="0"/>
              <a:t>的特性表</a:t>
            </a:r>
            <a:r>
              <a:rPr lang="zh-CN" altLang="en-US" sz="2800" dirty="0" smtClean="0"/>
              <a:t>可知</a:t>
            </a:r>
            <a:endParaRPr lang="en-US" altLang="zh-CN" sz="2800" dirty="0" smtClean="0"/>
          </a:p>
          <a:p>
            <a:pPr lvl="1">
              <a:lnSpc>
                <a:spcPct val="100000"/>
              </a:lnSpc>
              <a:spcBef>
                <a:spcPts val="600"/>
              </a:spcBef>
              <a:buSzPct val="100000"/>
            </a:pPr>
            <a:r>
              <a:rPr lang="zh-CN" altLang="en-US" sz="2400" dirty="0" smtClean="0"/>
              <a:t>只有</a:t>
            </a:r>
            <a:r>
              <a:rPr lang="en-US" altLang="zh-CN" sz="2400" dirty="0">
                <a:solidFill>
                  <a:srgbClr val="0000CC"/>
                </a:solidFill>
              </a:rPr>
              <a:t>CP=1</a:t>
            </a:r>
            <a:r>
              <a:rPr lang="zh-CN" altLang="en-US" sz="2400" dirty="0"/>
              <a:t>时，</a:t>
            </a:r>
            <a:r>
              <a:rPr lang="en-US" altLang="zh-CN" sz="2400" dirty="0"/>
              <a:t>FF</a:t>
            </a:r>
            <a:r>
              <a:rPr lang="zh-CN" altLang="en-US" sz="2400" dirty="0"/>
              <a:t>输出端的状态才会受输入信号的控制，而且在</a:t>
            </a:r>
            <a:r>
              <a:rPr lang="en-US" altLang="zh-CN" sz="2400" dirty="0"/>
              <a:t>CP=1</a:t>
            </a:r>
            <a:r>
              <a:rPr lang="zh-CN" altLang="en-US" sz="2400" dirty="0"/>
              <a:t>时的特性表与基本</a:t>
            </a:r>
            <a:r>
              <a:rPr lang="en-US" altLang="zh-CN" sz="2400" dirty="0"/>
              <a:t>RS-FF</a:t>
            </a:r>
            <a:r>
              <a:rPr lang="zh-CN" altLang="en-US" sz="2400" dirty="0"/>
              <a:t>的特性表相同</a:t>
            </a:r>
            <a:r>
              <a:rPr lang="zh-CN" altLang="en-US" sz="2400" dirty="0" smtClean="0"/>
              <a:t>。</a:t>
            </a:r>
            <a:endParaRPr lang="en-US" altLang="zh-CN" sz="2400" dirty="0" smtClean="0"/>
          </a:p>
          <a:p>
            <a:pPr lvl="1">
              <a:lnSpc>
                <a:spcPct val="100000"/>
              </a:lnSpc>
              <a:spcBef>
                <a:spcPts val="600"/>
              </a:spcBef>
              <a:buSzPct val="100000"/>
            </a:pPr>
            <a:r>
              <a:rPr lang="zh-CN" altLang="en-US" sz="2400" dirty="0" smtClean="0"/>
              <a:t>输入信号</a:t>
            </a:r>
            <a:r>
              <a:rPr lang="zh-CN" altLang="en-US" sz="2400" dirty="0"/>
              <a:t>同样需要遵守</a:t>
            </a:r>
            <a:r>
              <a:rPr lang="en-US" altLang="zh-CN" sz="2400" dirty="0">
                <a:solidFill>
                  <a:srgbClr val="0000CC"/>
                </a:solidFill>
              </a:rPr>
              <a:t>S•R=0</a:t>
            </a:r>
            <a:r>
              <a:rPr lang="zh-CN" altLang="en-US" sz="2400" dirty="0"/>
              <a:t>的约束条件</a:t>
            </a:r>
            <a:r>
              <a:rPr lang="zh-CN" altLang="en-US" sz="2400" dirty="0" smtClean="0"/>
              <a:t>。</a:t>
            </a:r>
            <a:endParaRPr lang="en-US" altLang="zh-CN" sz="2400" dirty="0" smtClean="0"/>
          </a:p>
          <a:p>
            <a:pPr lvl="1">
              <a:lnSpc>
                <a:spcPct val="100000"/>
              </a:lnSpc>
              <a:spcBef>
                <a:spcPts val="600"/>
              </a:spcBef>
              <a:buSzPct val="100000"/>
            </a:pPr>
            <a:r>
              <a:rPr lang="zh-CN" altLang="en-US" sz="2400" dirty="0" smtClean="0"/>
              <a:t>且</a:t>
            </a:r>
            <a:r>
              <a:rPr lang="zh-CN" altLang="en-US" sz="2400" dirty="0"/>
              <a:t>由表可得同步</a:t>
            </a:r>
            <a:r>
              <a:rPr lang="en-US" altLang="zh-CN" sz="2400" dirty="0"/>
              <a:t>RS-FF</a:t>
            </a:r>
            <a:r>
              <a:rPr lang="zh-CN" altLang="en-US" sz="2400" dirty="0"/>
              <a:t>的特性方程和控制输入端的约束条件如下：</a:t>
            </a:r>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26</a:t>
            </a:fld>
            <a:endParaRPr lang="zh-CN" altLang="en-US"/>
          </a:p>
        </p:txBody>
      </p:sp>
      <p:graphicFrame>
        <p:nvGraphicFramePr>
          <p:cNvPr id="5" name="对象 4"/>
          <p:cNvGraphicFramePr>
            <a:graphicFrameLocks noChangeAspect="1"/>
          </p:cNvGraphicFramePr>
          <p:nvPr/>
        </p:nvGraphicFramePr>
        <p:xfrm>
          <a:off x="1259632" y="4869160"/>
          <a:ext cx="3134852" cy="1080120"/>
        </p:xfrm>
        <a:graphic>
          <a:graphicData uri="http://schemas.openxmlformats.org/presentationml/2006/ole">
            <p:oleObj spid="_x0000_s88228" name="公式" r:id="rId3" imgW="28041600" imgH="12192000" progId="">
              <p:embed/>
            </p:oleObj>
          </a:graphicData>
        </a:graphic>
      </p:graphicFrame>
      <p:pic>
        <p:nvPicPr>
          <p:cNvPr id="88229" name="Picture 165"/>
          <p:cNvPicPr>
            <a:picLocks noChangeAspect="1" noChangeArrowheads="1"/>
          </p:cNvPicPr>
          <p:nvPr/>
        </p:nvPicPr>
        <p:blipFill>
          <a:blip r:embed="rId4" cstate="print"/>
          <a:srcRect/>
          <a:stretch>
            <a:fillRect/>
          </a:stretch>
        </p:blipFill>
        <p:spPr bwMode="auto">
          <a:xfrm>
            <a:off x="4860032" y="4437112"/>
            <a:ext cx="3743325" cy="1857375"/>
          </a:xfrm>
          <a:prstGeom prst="rect">
            <a:avLst/>
          </a:prstGeom>
          <a:noFill/>
          <a:ln w="9525">
            <a:noFill/>
            <a:miter lim="800000"/>
            <a:headEnd/>
            <a:tailEnd/>
          </a:ln>
        </p:spPr>
      </p:pic>
      <p:sp>
        <p:nvSpPr>
          <p:cNvPr id="10" name="标题 1"/>
          <p:cNvSpPr>
            <a:spLocks noGrp="1"/>
          </p:cNvSpPr>
          <p:nvPr>
            <p:ph type="title"/>
          </p:nvPr>
        </p:nvSpPr>
        <p:spPr>
          <a:xfrm>
            <a:off x="1187624" y="1124744"/>
            <a:ext cx="7704856" cy="566936"/>
          </a:xfrm>
        </p:spPr>
        <p:txBody>
          <a:bodyPr/>
          <a:lstStyle/>
          <a:p>
            <a:r>
              <a:rPr lang="en-US" altLang="zh-CN" dirty="0" smtClean="0">
                <a:solidFill>
                  <a:srgbClr val="6600CC"/>
                </a:solidFill>
              </a:rPr>
              <a:t>1. </a:t>
            </a:r>
            <a:r>
              <a:rPr lang="zh-CN" altLang="en-US" dirty="0" smtClean="0">
                <a:solidFill>
                  <a:srgbClr val="6600CC"/>
                </a:solidFill>
              </a:rPr>
              <a:t>时钟（同步）</a:t>
            </a:r>
            <a:r>
              <a:rPr lang="en-US" altLang="zh-CN" dirty="0" smtClean="0">
                <a:solidFill>
                  <a:srgbClr val="6600CC"/>
                </a:solidFill>
              </a:rPr>
              <a:t>RS</a:t>
            </a:r>
            <a:r>
              <a:rPr lang="zh-CN" altLang="en-US" dirty="0" smtClean="0">
                <a:solidFill>
                  <a:srgbClr val="6600CC"/>
                </a:solidFill>
              </a:rPr>
              <a:t>触发器</a:t>
            </a:r>
            <a:endParaRPr lang="zh-CN" altLang="en-US" dirty="0"/>
          </a:p>
        </p:txBody>
      </p:sp>
      <p:sp>
        <p:nvSpPr>
          <p:cNvPr id="11" name="标题 1"/>
          <p:cNvSpPr txBox="1">
            <a:spLocks/>
          </p:cNvSpPr>
          <p:nvPr/>
        </p:nvSpPr>
        <p:spPr bwMode="auto">
          <a:xfrm>
            <a:off x="1187624" y="332656"/>
            <a:ext cx="7632848" cy="5669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p>
            <a:pPr lvl="0" fontAlgn="base">
              <a:spcBef>
                <a:spcPct val="0"/>
              </a:spcBef>
              <a:spcAft>
                <a:spcPct val="0"/>
              </a:spcAft>
              <a:defRPr/>
            </a:pPr>
            <a:r>
              <a:rPr lang="en-US" altLang="zh-CN" sz="3200" b="1" dirty="0" smtClean="0">
                <a:solidFill>
                  <a:srgbClr val="6600CC"/>
                </a:solidFill>
              </a:rPr>
              <a:t>5.1.2 </a:t>
            </a:r>
            <a:r>
              <a:rPr lang="zh-CN" altLang="en-US" sz="3200" b="1" dirty="0" smtClean="0">
                <a:solidFill>
                  <a:srgbClr val="6600CC"/>
                </a:solidFill>
              </a:rPr>
              <a:t>时钟触发器</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39552" y="1844824"/>
            <a:ext cx="8487544" cy="4608512"/>
          </a:xfrm>
        </p:spPr>
        <p:txBody>
          <a:bodyPr/>
          <a:lstStyle/>
          <a:p>
            <a:pPr lvl="1">
              <a:lnSpc>
                <a:spcPct val="100000"/>
              </a:lnSpc>
              <a:spcBef>
                <a:spcPts val="0"/>
              </a:spcBef>
              <a:buSzPct val="100000"/>
            </a:pPr>
            <a:r>
              <a:rPr lang="zh-CN" altLang="en-US" sz="2400" dirty="0"/>
              <a:t>在使用同步</a:t>
            </a:r>
            <a:r>
              <a:rPr lang="en-US" altLang="zh-CN" sz="2400" dirty="0"/>
              <a:t>RS-FF</a:t>
            </a:r>
            <a:r>
              <a:rPr lang="zh-CN" altLang="en-US" sz="2400" dirty="0"/>
              <a:t>时，有时还需要在</a:t>
            </a:r>
            <a:r>
              <a:rPr lang="en-US" altLang="zh-CN" sz="2400" dirty="0"/>
              <a:t>CP</a:t>
            </a:r>
            <a:r>
              <a:rPr lang="zh-CN" altLang="en-US" sz="2400" dirty="0"/>
              <a:t>信号到来之前将触发器预先置成指定的</a:t>
            </a:r>
            <a:r>
              <a:rPr lang="zh-CN" altLang="en-US" sz="2400" dirty="0" smtClean="0"/>
              <a:t>状态</a:t>
            </a:r>
            <a:endParaRPr lang="en-US" altLang="zh-CN" sz="2400" dirty="0" smtClean="0"/>
          </a:p>
          <a:p>
            <a:pPr lvl="1">
              <a:lnSpc>
                <a:spcPct val="100000"/>
              </a:lnSpc>
              <a:spcBef>
                <a:spcPts val="0"/>
              </a:spcBef>
              <a:buSzPct val="100000"/>
            </a:pPr>
            <a:r>
              <a:rPr lang="zh-CN" altLang="en-US" sz="2400" dirty="0" smtClean="0"/>
              <a:t>为此</a:t>
            </a:r>
            <a:r>
              <a:rPr lang="zh-CN" altLang="en-US" sz="2400" dirty="0"/>
              <a:t>在实用的同步</a:t>
            </a:r>
            <a:r>
              <a:rPr lang="en-US" altLang="zh-CN" sz="2400" dirty="0"/>
              <a:t>RS-FF</a:t>
            </a:r>
            <a:r>
              <a:rPr lang="zh-CN" altLang="en-US" sz="2400" dirty="0"/>
              <a:t>电路上往往还设有专门的</a:t>
            </a:r>
            <a:r>
              <a:rPr lang="zh-CN" altLang="en-US" sz="2400" dirty="0" smtClean="0">
                <a:solidFill>
                  <a:srgbClr val="FF0000"/>
                </a:solidFill>
              </a:rPr>
              <a:t>异步（直接）置位（置</a:t>
            </a:r>
            <a:r>
              <a:rPr lang="en-US" altLang="zh-CN" sz="2400" dirty="0" smtClean="0">
                <a:solidFill>
                  <a:srgbClr val="FF0000"/>
                </a:solidFill>
              </a:rPr>
              <a:t>1</a:t>
            </a:r>
            <a:r>
              <a:rPr lang="zh-CN" altLang="en-US" sz="2400" dirty="0" smtClean="0">
                <a:solidFill>
                  <a:srgbClr val="FF0000"/>
                </a:solidFill>
              </a:rPr>
              <a:t>）输入端       </a:t>
            </a:r>
            <a:r>
              <a:rPr lang="zh-CN" altLang="en-US" sz="2400" dirty="0" smtClean="0"/>
              <a:t>和</a:t>
            </a:r>
            <a:r>
              <a:rPr lang="zh-CN" altLang="en-US" sz="2400" dirty="0" smtClean="0">
                <a:solidFill>
                  <a:srgbClr val="FF0000"/>
                </a:solidFill>
              </a:rPr>
              <a:t>异步（直接）复位（置</a:t>
            </a:r>
            <a:r>
              <a:rPr lang="en-US" altLang="zh-CN" sz="2400" dirty="0" smtClean="0">
                <a:solidFill>
                  <a:srgbClr val="FF0000"/>
                </a:solidFill>
              </a:rPr>
              <a:t>0</a:t>
            </a:r>
            <a:r>
              <a:rPr lang="zh-CN" altLang="en-US" sz="2400" dirty="0" smtClean="0">
                <a:solidFill>
                  <a:srgbClr val="FF0000"/>
                </a:solidFill>
              </a:rPr>
              <a:t>）输入端</a:t>
            </a:r>
            <a:endParaRPr lang="en-US" altLang="zh-CN" sz="2400" dirty="0" smtClean="0">
              <a:solidFill>
                <a:srgbClr val="FF0000"/>
              </a:solidFill>
            </a:endParaRPr>
          </a:p>
          <a:p>
            <a:pPr lvl="1">
              <a:lnSpc>
                <a:spcPct val="100000"/>
              </a:lnSpc>
              <a:spcBef>
                <a:spcPts val="0"/>
              </a:spcBef>
              <a:buSzPct val="100000"/>
            </a:pPr>
            <a:r>
              <a:rPr lang="zh-CN" altLang="en-US" sz="2400" dirty="0" smtClean="0"/>
              <a:t>其</a:t>
            </a:r>
            <a:r>
              <a:rPr lang="zh-CN" altLang="en-US" sz="2400" dirty="0"/>
              <a:t>逻辑图和图形符号如下所</a:t>
            </a:r>
            <a:r>
              <a:rPr lang="zh-CN" altLang="en-US" sz="2400" dirty="0" smtClean="0"/>
              <a:t>示：</a:t>
            </a:r>
            <a:endParaRPr lang="zh-CN" altLang="en-US" sz="2400"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27</a:t>
            </a:fld>
            <a:endParaRPr lang="zh-CN" altLang="en-US"/>
          </a:p>
        </p:txBody>
      </p:sp>
      <p:sp>
        <p:nvSpPr>
          <p:cNvPr id="20" name="矩形 19"/>
          <p:cNvSpPr/>
          <p:nvPr/>
        </p:nvSpPr>
        <p:spPr>
          <a:xfrm>
            <a:off x="3203848" y="6381328"/>
            <a:ext cx="4243469" cy="369332"/>
          </a:xfrm>
          <a:prstGeom prst="rect">
            <a:avLst/>
          </a:prstGeom>
        </p:spPr>
        <p:txBody>
          <a:bodyPr wrap="none">
            <a:spAutoFit/>
          </a:bodyPr>
          <a:lstStyle/>
          <a:p>
            <a:r>
              <a:rPr lang="zh-CN" altLang="en-US" dirty="0" smtClean="0"/>
              <a:t>图  实用</a:t>
            </a:r>
            <a:r>
              <a:rPr lang="zh-CN" altLang="en-US" dirty="0"/>
              <a:t>同步</a:t>
            </a:r>
            <a:r>
              <a:rPr lang="en-US" altLang="zh-CN" b="1" dirty="0"/>
              <a:t>RS-FF</a:t>
            </a:r>
            <a:r>
              <a:rPr lang="zh-CN" altLang="en-US" dirty="0"/>
              <a:t>的逻辑图和逻辑符号</a:t>
            </a:r>
          </a:p>
        </p:txBody>
      </p:sp>
      <p:pic>
        <p:nvPicPr>
          <p:cNvPr id="184321" name="Picture 1"/>
          <p:cNvPicPr>
            <a:picLocks noChangeAspect="1" noChangeArrowheads="1"/>
          </p:cNvPicPr>
          <p:nvPr/>
        </p:nvPicPr>
        <p:blipFill>
          <a:blip r:embed="rId3" cstate="print"/>
          <a:srcRect/>
          <a:stretch>
            <a:fillRect/>
          </a:stretch>
        </p:blipFill>
        <p:spPr bwMode="auto">
          <a:xfrm>
            <a:off x="1763687" y="4149080"/>
            <a:ext cx="2823396" cy="2232248"/>
          </a:xfrm>
          <a:prstGeom prst="rect">
            <a:avLst/>
          </a:prstGeom>
          <a:noFill/>
          <a:ln w="9525">
            <a:noFill/>
            <a:miter lim="800000"/>
            <a:headEnd/>
            <a:tailEnd/>
          </a:ln>
        </p:spPr>
      </p:pic>
      <p:pic>
        <p:nvPicPr>
          <p:cNvPr id="11" name="Picture 5"/>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4932040" y="4437112"/>
            <a:ext cx="2731980" cy="1800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graphicFrame>
        <p:nvGraphicFramePr>
          <p:cNvPr id="184322" name="Object 2"/>
          <p:cNvGraphicFramePr>
            <a:graphicFrameLocks noChangeAspect="1"/>
          </p:cNvGraphicFramePr>
          <p:nvPr/>
        </p:nvGraphicFramePr>
        <p:xfrm>
          <a:off x="5436096" y="2996952"/>
          <a:ext cx="360040" cy="402398"/>
        </p:xfrm>
        <a:graphic>
          <a:graphicData uri="http://schemas.openxmlformats.org/presentationml/2006/ole">
            <p:oleObj spid="_x0000_s184322" r:id="rId5" imgW="215640" imgH="241200" progId="">
              <p:embed/>
            </p:oleObj>
          </a:graphicData>
        </a:graphic>
      </p:graphicFrame>
      <p:graphicFrame>
        <p:nvGraphicFramePr>
          <p:cNvPr id="184323" name="Object 3"/>
          <p:cNvGraphicFramePr>
            <a:graphicFrameLocks noChangeAspect="1"/>
          </p:cNvGraphicFramePr>
          <p:nvPr/>
        </p:nvGraphicFramePr>
        <p:xfrm>
          <a:off x="3491880" y="3356992"/>
          <a:ext cx="341091" cy="360040"/>
        </p:xfrm>
        <a:graphic>
          <a:graphicData uri="http://schemas.openxmlformats.org/presentationml/2006/ole">
            <p:oleObj spid="_x0000_s184323" r:id="rId6" imgW="228600" imgH="241200" progId="">
              <p:embed/>
            </p:oleObj>
          </a:graphicData>
        </a:graphic>
      </p:graphicFrame>
      <p:sp>
        <p:nvSpPr>
          <p:cNvPr id="13" name="标题 1"/>
          <p:cNvSpPr>
            <a:spLocks noGrp="1"/>
          </p:cNvSpPr>
          <p:nvPr>
            <p:ph type="title"/>
          </p:nvPr>
        </p:nvSpPr>
        <p:spPr>
          <a:xfrm>
            <a:off x="1187624" y="1124744"/>
            <a:ext cx="7704856" cy="566936"/>
          </a:xfrm>
        </p:spPr>
        <p:txBody>
          <a:bodyPr/>
          <a:lstStyle/>
          <a:p>
            <a:r>
              <a:rPr lang="en-US" altLang="zh-CN" dirty="0" smtClean="0">
                <a:solidFill>
                  <a:srgbClr val="6600CC"/>
                </a:solidFill>
              </a:rPr>
              <a:t>1. </a:t>
            </a:r>
            <a:r>
              <a:rPr lang="zh-CN" altLang="en-US" dirty="0" smtClean="0">
                <a:solidFill>
                  <a:srgbClr val="6600CC"/>
                </a:solidFill>
              </a:rPr>
              <a:t>时钟（同步）</a:t>
            </a:r>
            <a:r>
              <a:rPr lang="en-US" altLang="zh-CN" dirty="0" smtClean="0">
                <a:solidFill>
                  <a:srgbClr val="6600CC"/>
                </a:solidFill>
              </a:rPr>
              <a:t>RS</a:t>
            </a:r>
            <a:r>
              <a:rPr lang="zh-CN" altLang="en-US" dirty="0" smtClean="0">
                <a:solidFill>
                  <a:srgbClr val="6600CC"/>
                </a:solidFill>
              </a:rPr>
              <a:t>触发器</a:t>
            </a:r>
            <a:endParaRPr lang="zh-CN" altLang="en-US" dirty="0"/>
          </a:p>
        </p:txBody>
      </p:sp>
      <p:sp>
        <p:nvSpPr>
          <p:cNvPr id="15" name="标题 1"/>
          <p:cNvSpPr txBox="1">
            <a:spLocks/>
          </p:cNvSpPr>
          <p:nvPr/>
        </p:nvSpPr>
        <p:spPr bwMode="auto">
          <a:xfrm>
            <a:off x="1187624" y="332656"/>
            <a:ext cx="7632848" cy="5669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p>
            <a:pPr lvl="0" fontAlgn="base">
              <a:spcBef>
                <a:spcPct val="0"/>
              </a:spcBef>
              <a:spcAft>
                <a:spcPct val="0"/>
              </a:spcAft>
              <a:defRPr/>
            </a:pPr>
            <a:r>
              <a:rPr lang="en-US" altLang="zh-CN" sz="3200" b="1" dirty="0" smtClean="0">
                <a:solidFill>
                  <a:srgbClr val="6600CC"/>
                </a:solidFill>
              </a:rPr>
              <a:t>5.1.2 </a:t>
            </a:r>
            <a:r>
              <a:rPr lang="zh-CN" altLang="en-US" sz="3200" b="1" dirty="0" smtClean="0">
                <a:solidFill>
                  <a:srgbClr val="6600CC"/>
                </a:solidFill>
              </a:rPr>
              <a:t>时钟触发器</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0C913308-F349-4B6D-A68A-DD1791B4A57B}" type="slidenum">
              <a:rPr lang="zh-CN" altLang="en-US" smtClean="0"/>
              <a:pPr/>
              <a:t>28</a:t>
            </a:fld>
            <a:endParaRPr lang="zh-CN" altLang="en-US"/>
          </a:p>
        </p:txBody>
      </p:sp>
      <p:pic>
        <p:nvPicPr>
          <p:cNvPr id="90114" name="Picture 2"/>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193600" y="2978728"/>
            <a:ext cx="5567624" cy="182922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cxnSp>
        <p:nvCxnSpPr>
          <p:cNvPr id="6" name="直接连接符 5"/>
          <p:cNvCxnSpPr/>
          <p:nvPr/>
        </p:nvCxnSpPr>
        <p:spPr bwMode="auto">
          <a:xfrm>
            <a:off x="2385123" y="3426267"/>
            <a:ext cx="8709" cy="3300861"/>
          </a:xfrm>
          <a:prstGeom prst="line">
            <a:avLst/>
          </a:prstGeom>
          <a:noFill/>
          <a:ln w="15875" cap="flat" cmpd="sng" algn="ctr">
            <a:solidFill>
              <a:srgbClr val="FF0000"/>
            </a:solidFill>
            <a:prstDash val="dash"/>
            <a:miter lim="800000"/>
            <a:headEnd type="none" w="med" len="med"/>
            <a:tailEnd type="none" w="med" len="med"/>
          </a:ln>
        </p:spPr>
      </p:cxnSp>
      <p:cxnSp>
        <p:nvCxnSpPr>
          <p:cNvPr id="10" name="直接连接符 9"/>
          <p:cNvCxnSpPr/>
          <p:nvPr/>
        </p:nvCxnSpPr>
        <p:spPr bwMode="auto">
          <a:xfrm>
            <a:off x="2745163" y="3429000"/>
            <a:ext cx="8709" cy="3300861"/>
          </a:xfrm>
          <a:prstGeom prst="line">
            <a:avLst/>
          </a:prstGeom>
          <a:noFill/>
          <a:ln w="15875" cap="flat" cmpd="sng" algn="ctr">
            <a:solidFill>
              <a:srgbClr val="FF0000"/>
            </a:solidFill>
            <a:prstDash val="dash"/>
            <a:miter lim="800000"/>
            <a:headEnd type="none" w="med" len="med"/>
            <a:tailEnd type="none" w="med" len="med"/>
          </a:ln>
        </p:spPr>
      </p:cxnSp>
      <p:cxnSp>
        <p:nvCxnSpPr>
          <p:cNvPr id="11" name="直接连接符 10"/>
          <p:cNvCxnSpPr/>
          <p:nvPr/>
        </p:nvCxnSpPr>
        <p:spPr bwMode="auto">
          <a:xfrm>
            <a:off x="3429091" y="3424638"/>
            <a:ext cx="8709" cy="3300861"/>
          </a:xfrm>
          <a:prstGeom prst="line">
            <a:avLst/>
          </a:prstGeom>
          <a:noFill/>
          <a:ln w="15875" cap="flat" cmpd="sng" algn="ctr">
            <a:solidFill>
              <a:srgbClr val="FF0000"/>
            </a:solidFill>
            <a:prstDash val="dash"/>
            <a:miter lim="800000"/>
            <a:headEnd type="none" w="med" len="med"/>
            <a:tailEnd type="none" w="med" len="med"/>
          </a:ln>
        </p:spPr>
      </p:cxnSp>
      <p:cxnSp>
        <p:nvCxnSpPr>
          <p:cNvPr id="12" name="直接连接符 11"/>
          <p:cNvCxnSpPr/>
          <p:nvPr/>
        </p:nvCxnSpPr>
        <p:spPr bwMode="auto">
          <a:xfrm>
            <a:off x="3807966" y="3429000"/>
            <a:ext cx="8709" cy="3300861"/>
          </a:xfrm>
          <a:prstGeom prst="line">
            <a:avLst/>
          </a:prstGeom>
          <a:noFill/>
          <a:ln w="15875" cap="flat" cmpd="sng" algn="ctr">
            <a:solidFill>
              <a:srgbClr val="FF0000"/>
            </a:solidFill>
            <a:prstDash val="dash"/>
            <a:miter lim="800000"/>
            <a:headEnd type="none" w="med" len="med"/>
            <a:tailEnd type="none" w="med" len="med"/>
          </a:ln>
        </p:spPr>
      </p:cxnSp>
      <p:cxnSp>
        <p:nvCxnSpPr>
          <p:cNvPr id="13" name="直接连接符 12"/>
          <p:cNvCxnSpPr/>
          <p:nvPr/>
        </p:nvCxnSpPr>
        <p:spPr bwMode="auto">
          <a:xfrm>
            <a:off x="4405100" y="3429000"/>
            <a:ext cx="8709" cy="3300861"/>
          </a:xfrm>
          <a:prstGeom prst="line">
            <a:avLst/>
          </a:prstGeom>
          <a:noFill/>
          <a:ln w="15875" cap="flat" cmpd="sng" algn="ctr">
            <a:solidFill>
              <a:srgbClr val="FF0000"/>
            </a:solidFill>
            <a:prstDash val="dash"/>
            <a:miter lim="800000"/>
            <a:headEnd type="none" w="med" len="med"/>
            <a:tailEnd type="none" w="med" len="med"/>
          </a:ln>
        </p:spPr>
      </p:cxnSp>
      <p:cxnSp>
        <p:nvCxnSpPr>
          <p:cNvPr id="14" name="直接连接符 13"/>
          <p:cNvCxnSpPr/>
          <p:nvPr/>
        </p:nvCxnSpPr>
        <p:spPr bwMode="auto">
          <a:xfrm>
            <a:off x="4779381" y="3459474"/>
            <a:ext cx="8709" cy="3300861"/>
          </a:xfrm>
          <a:prstGeom prst="line">
            <a:avLst/>
          </a:prstGeom>
          <a:noFill/>
          <a:ln w="15875" cap="flat" cmpd="sng" algn="ctr">
            <a:solidFill>
              <a:srgbClr val="FF0000"/>
            </a:solidFill>
            <a:prstDash val="dash"/>
            <a:miter lim="800000"/>
            <a:headEnd type="none" w="med" len="med"/>
            <a:tailEnd type="none" w="med" len="med"/>
          </a:ln>
        </p:spPr>
      </p:cxnSp>
      <p:cxnSp>
        <p:nvCxnSpPr>
          <p:cNvPr id="15" name="直接连接符 14"/>
          <p:cNvCxnSpPr/>
          <p:nvPr/>
        </p:nvCxnSpPr>
        <p:spPr bwMode="auto">
          <a:xfrm>
            <a:off x="5443290" y="3432604"/>
            <a:ext cx="8709" cy="3300861"/>
          </a:xfrm>
          <a:prstGeom prst="line">
            <a:avLst/>
          </a:prstGeom>
          <a:noFill/>
          <a:ln w="15875" cap="flat" cmpd="sng" algn="ctr">
            <a:solidFill>
              <a:srgbClr val="FF0000"/>
            </a:solidFill>
            <a:prstDash val="dash"/>
            <a:miter lim="800000"/>
            <a:headEnd type="none" w="med" len="med"/>
            <a:tailEnd type="none" w="med" len="med"/>
          </a:ln>
        </p:spPr>
      </p:cxnSp>
      <p:cxnSp>
        <p:nvCxnSpPr>
          <p:cNvPr id="9" name="直接连接符 8"/>
          <p:cNvCxnSpPr/>
          <p:nvPr/>
        </p:nvCxnSpPr>
        <p:spPr bwMode="auto">
          <a:xfrm>
            <a:off x="1835696" y="4869160"/>
            <a:ext cx="567355" cy="0"/>
          </a:xfrm>
          <a:prstGeom prst="line">
            <a:avLst/>
          </a:prstGeom>
          <a:noFill/>
          <a:ln w="19050" cap="flat" cmpd="sng" algn="ctr">
            <a:solidFill>
              <a:srgbClr val="0000CC"/>
            </a:solidFill>
            <a:prstDash val="solid"/>
            <a:miter lim="800000"/>
            <a:headEnd type="none" w="med" len="med"/>
            <a:tailEnd type="none" w="med" len="med"/>
          </a:ln>
        </p:spPr>
      </p:cxnSp>
      <p:cxnSp>
        <p:nvCxnSpPr>
          <p:cNvPr id="18" name="直接连接符 17"/>
          <p:cNvCxnSpPr/>
          <p:nvPr/>
        </p:nvCxnSpPr>
        <p:spPr bwMode="auto">
          <a:xfrm>
            <a:off x="2403051" y="4869160"/>
            <a:ext cx="0" cy="267658"/>
          </a:xfrm>
          <a:prstGeom prst="line">
            <a:avLst/>
          </a:prstGeom>
          <a:noFill/>
          <a:ln w="19050" cap="flat" cmpd="sng" algn="ctr">
            <a:solidFill>
              <a:srgbClr val="0000CC"/>
            </a:solidFill>
            <a:prstDash val="solid"/>
            <a:miter lim="800000"/>
            <a:headEnd type="none" w="med" len="med"/>
            <a:tailEnd type="none" w="med" len="med"/>
          </a:ln>
        </p:spPr>
      </p:cxnSp>
      <p:cxnSp>
        <p:nvCxnSpPr>
          <p:cNvPr id="16" name="直接连接符 15"/>
          <p:cNvCxnSpPr/>
          <p:nvPr/>
        </p:nvCxnSpPr>
        <p:spPr bwMode="auto">
          <a:xfrm>
            <a:off x="5801425" y="3466653"/>
            <a:ext cx="8709" cy="3300861"/>
          </a:xfrm>
          <a:prstGeom prst="line">
            <a:avLst/>
          </a:prstGeom>
          <a:noFill/>
          <a:ln w="15875" cap="flat" cmpd="sng" algn="ctr">
            <a:solidFill>
              <a:srgbClr val="FF0000"/>
            </a:solidFill>
            <a:prstDash val="dash"/>
            <a:miter lim="800000"/>
            <a:headEnd type="none" w="med" len="med"/>
            <a:tailEnd type="none" w="med" len="med"/>
          </a:ln>
        </p:spPr>
      </p:cxnSp>
      <p:grpSp>
        <p:nvGrpSpPr>
          <p:cNvPr id="19" name="组合 18"/>
          <p:cNvGrpSpPr/>
          <p:nvPr/>
        </p:nvGrpSpPr>
        <p:grpSpPr>
          <a:xfrm>
            <a:off x="1331640" y="3054790"/>
            <a:ext cx="5937173" cy="3382071"/>
            <a:chOff x="179512" y="3645024"/>
            <a:chExt cx="5937173" cy="3382071"/>
          </a:xfrm>
        </p:grpSpPr>
        <p:grpSp>
          <p:nvGrpSpPr>
            <p:cNvPr id="17" name="组合 16"/>
            <p:cNvGrpSpPr/>
            <p:nvPr/>
          </p:nvGrpSpPr>
          <p:grpSpPr>
            <a:xfrm>
              <a:off x="179512" y="3645024"/>
              <a:ext cx="5937173" cy="3382071"/>
              <a:chOff x="1371131" y="3053337"/>
              <a:chExt cx="5937173" cy="3382071"/>
            </a:xfrm>
          </p:grpSpPr>
          <p:pic>
            <p:nvPicPr>
              <p:cNvPr id="90115" name="Picture 3"/>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1371131" y="3053337"/>
                <a:ext cx="5400000" cy="321047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8" name="矩形 7"/>
              <p:cNvSpPr/>
              <p:nvPr/>
            </p:nvSpPr>
            <p:spPr bwMode="auto">
              <a:xfrm>
                <a:off x="5796136" y="5787336"/>
                <a:ext cx="1512168" cy="648072"/>
              </a:xfrm>
              <a:prstGeom prst="rect">
                <a:avLst/>
              </a:prstGeom>
              <a:solidFill>
                <a:schemeClr val="bg1"/>
              </a:solidFill>
              <a:ln w="9525" cap="flat" cmpd="sng" algn="ctr">
                <a:noFill/>
                <a:prstDash val="solid"/>
                <a:miter lim="800000"/>
                <a:headEnd type="none" w="med" len="med"/>
                <a:tailEnd type="none" w="med" len="med"/>
              </a:ln>
            </p:spPr>
            <p:txBody>
              <a:bodyPr vert="horz" wrap="square" lIns="90000" tIns="46800" rIns="90000" bIns="4680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36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endParaRPr>
              </a:p>
            </p:txBody>
          </p:sp>
        </p:grpSp>
        <p:cxnSp>
          <p:nvCxnSpPr>
            <p:cNvPr id="7" name="直接连接符 6"/>
            <p:cNvCxnSpPr/>
            <p:nvPr/>
          </p:nvCxnSpPr>
          <p:spPr bwMode="auto">
            <a:xfrm>
              <a:off x="4708457" y="6351152"/>
              <a:ext cx="871055" cy="0"/>
            </a:xfrm>
            <a:prstGeom prst="line">
              <a:avLst/>
            </a:prstGeom>
            <a:noFill/>
            <a:ln w="44450" cap="flat" cmpd="sng" algn="ctr">
              <a:solidFill>
                <a:srgbClr val="0000CC"/>
              </a:solidFill>
              <a:prstDash val="solid"/>
              <a:miter lim="800000"/>
              <a:headEnd type="none" w="med" len="med"/>
              <a:tailEnd type="none" w="med" len="med"/>
            </a:ln>
          </p:spPr>
        </p:cxnSp>
      </p:grpSp>
      <p:sp>
        <p:nvSpPr>
          <p:cNvPr id="25" name="内容占位符 24"/>
          <p:cNvSpPr>
            <a:spLocks noGrp="1"/>
          </p:cNvSpPr>
          <p:nvPr>
            <p:ph idx="1"/>
          </p:nvPr>
        </p:nvSpPr>
        <p:spPr>
          <a:xfrm>
            <a:off x="539552" y="1988840"/>
            <a:ext cx="8208912" cy="4608512"/>
          </a:xfrm>
        </p:spPr>
        <p:txBody>
          <a:bodyPr/>
          <a:lstStyle/>
          <a:p>
            <a:pPr lvl="0">
              <a:buSzPct val="100000"/>
              <a:buFont typeface="Wingdings" pitchFamily="2" charset="2"/>
              <a:buChar char="p"/>
            </a:pPr>
            <a:r>
              <a:rPr lang="zh-CN" altLang="en-US" sz="2800" dirty="0" smtClean="0"/>
              <a:t>例：已知同步</a:t>
            </a:r>
            <a:r>
              <a:rPr lang="en-US" altLang="zh-CN" sz="2800" dirty="0" smtClean="0"/>
              <a:t>RS-FF</a:t>
            </a:r>
            <a:r>
              <a:rPr lang="zh-CN" altLang="en-US" sz="2800" dirty="0" smtClean="0"/>
              <a:t>的 </a:t>
            </a:r>
            <a:r>
              <a:rPr lang="en-US" altLang="zh-CN" sz="2800" dirty="0" smtClean="0"/>
              <a:t>CP</a:t>
            </a:r>
            <a:r>
              <a:rPr lang="zh-CN" altLang="en-US" sz="2800" dirty="0" smtClean="0"/>
              <a:t>、</a:t>
            </a:r>
            <a:r>
              <a:rPr lang="en-US" altLang="zh-CN" sz="2800" dirty="0" smtClean="0"/>
              <a:t>S</a:t>
            </a:r>
            <a:r>
              <a:rPr lang="zh-CN" altLang="en-US" sz="2800" dirty="0" smtClean="0"/>
              <a:t>、</a:t>
            </a:r>
            <a:r>
              <a:rPr lang="en-US" altLang="zh-CN" sz="2800" dirty="0" smtClean="0"/>
              <a:t>R</a:t>
            </a:r>
            <a:r>
              <a:rPr lang="zh-CN" altLang="en-US" sz="2800" dirty="0" smtClean="0"/>
              <a:t>的波形，且触发器的初态</a:t>
            </a:r>
            <a:r>
              <a:rPr lang="en-US" altLang="zh-CN" sz="2800" dirty="0" smtClean="0"/>
              <a:t>Q=1</a:t>
            </a:r>
            <a:r>
              <a:rPr lang="zh-CN" altLang="en-US" sz="2800" dirty="0" smtClean="0"/>
              <a:t>，试画出 </a:t>
            </a:r>
            <a:r>
              <a:rPr lang="en-US" altLang="zh-CN" sz="2800" i="1" dirty="0" smtClean="0"/>
              <a:t>Q</a:t>
            </a:r>
            <a:r>
              <a:rPr lang="zh-CN" altLang="en-US" sz="2800" dirty="0" smtClean="0"/>
              <a:t>、   的波形。</a:t>
            </a:r>
            <a:endParaRPr lang="en-US" altLang="zh-CN" sz="2800" dirty="0" smtClean="0"/>
          </a:p>
          <a:p>
            <a:pPr>
              <a:buSzPct val="100000"/>
              <a:buFont typeface="Wingdings" pitchFamily="2" charset="2"/>
              <a:buChar char="p"/>
            </a:pPr>
            <a:endParaRPr lang="zh-CN" altLang="en-US" sz="2800" dirty="0"/>
          </a:p>
        </p:txBody>
      </p:sp>
      <p:graphicFrame>
        <p:nvGraphicFramePr>
          <p:cNvPr id="183297" name="Object 1"/>
          <p:cNvGraphicFramePr>
            <a:graphicFrameLocks noChangeAspect="1"/>
          </p:cNvGraphicFramePr>
          <p:nvPr/>
        </p:nvGraphicFramePr>
        <p:xfrm>
          <a:off x="5580112" y="2420888"/>
          <a:ext cx="408046" cy="524631"/>
        </p:xfrm>
        <a:graphic>
          <a:graphicData uri="http://schemas.openxmlformats.org/presentationml/2006/ole">
            <p:oleObj spid="_x0000_s183297" r:id="rId5" imgW="177480" imgH="228600" progId="">
              <p:embed/>
            </p:oleObj>
          </a:graphicData>
        </a:graphic>
      </p:graphicFrame>
      <p:sp>
        <p:nvSpPr>
          <p:cNvPr id="26" name="标题 1"/>
          <p:cNvSpPr>
            <a:spLocks noGrp="1"/>
          </p:cNvSpPr>
          <p:nvPr>
            <p:ph type="title"/>
          </p:nvPr>
        </p:nvSpPr>
        <p:spPr>
          <a:xfrm>
            <a:off x="1187624" y="1124744"/>
            <a:ext cx="7704856" cy="566936"/>
          </a:xfrm>
        </p:spPr>
        <p:txBody>
          <a:bodyPr/>
          <a:lstStyle/>
          <a:p>
            <a:r>
              <a:rPr lang="en-US" altLang="zh-CN" dirty="0" smtClean="0">
                <a:solidFill>
                  <a:srgbClr val="6600CC"/>
                </a:solidFill>
              </a:rPr>
              <a:t>1. </a:t>
            </a:r>
            <a:r>
              <a:rPr lang="zh-CN" altLang="en-US" dirty="0" smtClean="0">
                <a:solidFill>
                  <a:srgbClr val="6600CC"/>
                </a:solidFill>
              </a:rPr>
              <a:t>时钟（同步）</a:t>
            </a:r>
            <a:r>
              <a:rPr lang="en-US" altLang="zh-CN" dirty="0" smtClean="0">
                <a:solidFill>
                  <a:srgbClr val="6600CC"/>
                </a:solidFill>
              </a:rPr>
              <a:t>RS</a:t>
            </a:r>
            <a:r>
              <a:rPr lang="zh-CN" altLang="en-US" dirty="0" smtClean="0">
                <a:solidFill>
                  <a:srgbClr val="6600CC"/>
                </a:solidFill>
              </a:rPr>
              <a:t>触发器</a:t>
            </a:r>
            <a:endParaRPr lang="zh-CN" altLang="en-US" dirty="0"/>
          </a:p>
        </p:txBody>
      </p:sp>
      <p:sp>
        <p:nvSpPr>
          <p:cNvPr id="27" name="标题 1"/>
          <p:cNvSpPr txBox="1">
            <a:spLocks/>
          </p:cNvSpPr>
          <p:nvPr/>
        </p:nvSpPr>
        <p:spPr bwMode="auto">
          <a:xfrm>
            <a:off x="1187624" y="332656"/>
            <a:ext cx="7632848" cy="5669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p>
            <a:pPr lvl="0" fontAlgn="base">
              <a:spcBef>
                <a:spcPct val="0"/>
              </a:spcBef>
              <a:spcAft>
                <a:spcPct val="0"/>
              </a:spcAft>
              <a:defRPr/>
            </a:pPr>
            <a:r>
              <a:rPr lang="en-US" altLang="zh-CN" sz="3200" b="1" dirty="0" smtClean="0">
                <a:solidFill>
                  <a:srgbClr val="6600CC"/>
                </a:solidFill>
              </a:rPr>
              <a:t>5.1.2 </a:t>
            </a:r>
            <a:r>
              <a:rPr lang="zh-CN" altLang="en-US" sz="3200" b="1" dirty="0" smtClean="0">
                <a:solidFill>
                  <a:srgbClr val="6600CC"/>
                </a:solidFill>
              </a:rPr>
              <a:t>时钟触发器</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95536" y="1988840"/>
            <a:ext cx="4608512" cy="4536504"/>
          </a:xfrm>
        </p:spPr>
        <p:txBody>
          <a:bodyPr/>
          <a:lstStyle/>
          <a:p>
            <a:pPr>
              <a:lnSpc>
                <a:spcPct val="100000"/>
              </a:lnSpc>
              <a:spcBef>
                <a:spcPts val="600"/>
              </a:spcBef>
              <a:buSzPct val="100000"/>
              <a:buFont typeface="Wingdings" pitchFamily="2" charset="2"/>
              <a:buChar char="p"/>
            </a:pPr>
            <a:r>
              <a:rPr lang="zh-CN" altLang="en-US" sz="2800" dirty="0" smtClean="0">
                <a:solidFill>
                  <a:srgbClr val="0000CC"/>
                </a:solidFill>
              </a:rPr>
              <a:t>例</a:t>
            </a:r>
            <a:r>
              <a:rPr lang="en-US" altLang="zh-CN" sz="2800" dirty="0" smtClean="0">
                <a:solidFill>
                  <a:srgbClr val="0000CC"/>
                </a:solidFill>
              </a:rPr>
              <a:t>5.2 </a:t>
            </a:r>
            <a:r>
              <a:rPr lang="en-US" altLang="zh-CN" sz="2800" dirty="0" smtClean="0"/>
              <a:t> </a:t>
            </a:r>
            <a:r>
              <a:rPr lang="zh-CN" altLang="en-US" sz="2800" dirty="0" smtClean="0"/>
              <a:t>分析时钟</a:t>
            </a:r>
            <a:r>
              <a:rPr lang="en-US" altLang="zh-CN" sz="2800" dirty="0" smtClean="0"/>
              <a:t>RS</a:t>
            </a:r>
            <a:r>
              <a:rPr lang="zh-CN" altLang="en-US" sz="2800" dirty="0" smtClean="0"/>
              <a:t>触发器在图</a:t>
            </a:r>
            <a:r>
              <a:rPr lang="en-US" altLang="zh-CN" sz="2800" dirty="0" smtClean="0"/>
              <a:t>5.10</a:t>
            </a:r>
            <a:r>
              <a:rPr lang="zh-CN" altLang="en-US" sz="2800" dirty="0" smtClean="0"/>
              <a:t>所示的</a:t>
            </a:r>
            <a:r>
              <a:rPr lang="en-US" altLang="zh-CN" sz="2800" dirty="0" smtClean="0"/>
              <a:t>S</a:t>
            </a:r>
            <a:r>
              <a:rPr lang="zh-CN" altLang="en-US" sz="2800" dirty="0" smtClean="0"/>
              <a:t>、</a:t>
            </a:r>
            <a:r>
              <a:rPr lang="en-US" altLang="zh-CN" sz="2800" dirty="0" smtClean="0"/>
              <a:t>R</a:t>
            </a:r>
            <a:r>
              <a:rPr lang="zh-CN" altLang="en-US" sz="2800" dirty="0" smtClean="0"/>
              <a:t>输入下的输出波形。</a:t>
            </a:r>
            <a:endParaRPr lang="en-US" altLang="zh-CN" sz="2800" dirty="0" smtClean="0"/>
          </a:p>
          <a:p>
            <a:pPr>
              <a:lnSpc>
                <a:spcPct val="100000"/>
              </a:lnSpc>
              <a:spcBef>
                <a:spcPts val="600"/>
              </a:spcBef>
              <a:buSzPct val="100000"/>
              <a:buFont typeface="Wingdings" pitchFamily="2" charset="2"/>
              <a:buChar char="p"/>
            </a:pPr>
            <a:r>
              <a:rPr lang="zh-CN" altLang="en-US" sz="2800" dirty="0" smtClean="0">
                <a:solidFill>
                  <a:srgbClr val="0000CC"/>
                </a:solidFill>
              </a:rPr>
              <a:t>解</a:t>
            </a:r>
            <a:r>
              <a:rPr lang="zh-CN" altLang="en-US" sz="2800" dirty="0" smtClean="0"/>
              <a:t>：时钟触发器在</a:t>
            </a:r>
            <a:r>
              <a:rPr lang="en-US" altLang="zh-CN" sz="2800" dirty="0" smtClean="0"/>
              <a:t>CLK=0</a:t>
            </a:r>
            <a:r>
              <a:rPr lang="zh-CN" altLang="en-US" sz="2800" dirty="0" smtClean="0"/>
              <a:t>期间，触发器状态保持不变；在 </a:t>
            </a:r>
            <a:r>
              <a:rPr lang="en-US" altLang="zh-CN" sz="2800" dirty="0" smtClean="0"/>
              <a:t>CLK=1</a:t>
            </a:r>
            <a:r>
              <a:rPr lang="zh-CN" altLang="en-US" sz="2800" dirty="0" smtClean="0"/>
              <a:t>期间，</a:t>
            </a:r>
            <a:r>
              <a:rPr lang="en-US" altLang="zh-CN" sz="2800" dirty="0" smtClean="0"/>
              <a:t>S</a:t>
            </a:r>
            <a:r>
              <a:rPr lang="zh-CN" altLang="en-US" sz="2800" dirty="0" smtClean="0"/>
              <a:t>、</a:t>
            </a:r>
            <a:r>
              <a:rPr lang="en-US" altLang="zh-CN" sz="2800" dirty="0" smtClean="0"/>
              <a:t>R</a:t>
            </a:r>
            <a:r>
              <a:rPr lang="zh-CN" altLang="en-US" sz="2800" dirty="0" smtClean="0"/>
              <a:t>的变化引起触发器状态变化。</a:t>
            </a:r>
            <a:endParaRPr lang="en-US" altLang="zh-CN" sz="2800" dirty="0" smtClean="0"/>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29</a:t>
            </a:fld>
            <a:endParaRPr lang="zh-CN" altLang="en-US"/>
          </a:p>
        </p:txBody>
      </p:sp>
      <p:pic>
        <p:nvPicPr>
          <p:cNvPr id="182273" name="Picture 1"/>
          <p:cNvPicPr>
            <a:picLocks noChangeAspect="1" noChangeArrowheads="1"/>
          </p:cNvPicPr>
          <p:nvPr/>
        </p:nvPicPr>
        <p:blipFill>
          <a:blip r:embed="rId2" cstate="print"/>
          <a:srcRect/>
          <a:stretch>
            <a:fillRect/>
          </a:stretch>
        </p:blipFill>
        <p:spPr bwMode="auto">
          <a:xfrm>
            <a:off x="5220072" y="2132856"/>
            <a:ext cx="3629025" cy="3714750"/>
          </a:xfrm>
          <a:prstGeom prst="rect">
            <a:avLst/>
          </a:prstGeom>
          <a:noFill/>
          <a:ln w="9525">
            <a:noFill/>
            <a:miter lim="800000"/>
            <a:headEnd/>
            <a:tailEnd/>
          </a:ln>
        </p:spPr>
      </p:pic>
      <p:sp>
        <p:nvSpPr>
          <p:cNvPr id="8" name="标题 1"/>
          <p:cNvSpPr>
            <a:spLocks noGrp="1"/>
          </p:cNvSpPr>
          <p:nvPr>
            <p:ph type="title"/>
          </p:nvPr>
        </p:nvSpPr>
        <p:spPr>
          <a:xfrm>
            <a:off x="1187624" y="1124744"/>
            <a:ext cx="7704856" cy="566936"/>
          </a:xfrm>
        </p:spPr>
        <p:txBody>
          <a:bodyPr/>
          <a:lstStyle/>
          <a:p>
            <a:r>
              <a:rPr lang="en-US" altLang="zh-CN" dirty="0" smtClean="0">
                <a:solidFill>
                  <a:srgbClr val="6600CC"/>
                </a:solidFill>
              </a:rPr>
              <a:t>1. </a:t>
            </a:r>
            <a:r>
              <a:rPr lang="zh-CN" altLang="en-US" dirty="0" smtClean="0">
                <a:solidFill>
                  <a:srgbClr val="6600CC"/>
                </a:solidFill>
              </a:rPr>
              <a:t>时钟（同步）</a:t>
            </a:r>
            <a:r>
              <a:rPr lang="en-US" altLang="zh-CN" dirty="0" smtClean="0">
                <a:solidFill>
                  <a:srgbClr val="6600CC"/>
                </a:solidFill>
              </a:rPr>
              <a:t>RS</a:t>
            </a:r>
            <a:r>
              <a:rPr lang="zh-CN" altLang="en-US" dirty="0" smtClean="0">
                <a:solidFill>
                  <a:srgbClr val="6600CC"/>
                </a:solidFill>
              </a:rPr>
              <a:t>触发器</a:t>
            </a:r>
            <a:endParaRPr lang="zh-CN" altLang="en-US" dirty="0"/>
          </a:p>
        </p:txBody>
      </p:sp>
      <p:sp>
        <p:nvSpPr>
          <p:cNvPr id="9" name="标题 1"/>
          <p:cNvSpPr txBox="1">
            <a:spLocks/>
          </p:cNvSpPr>
          <p:nvPr/>
        </p:nvSpPr>
        <p:spPr bwMode="auto">
          <a:xfrm>
            <a:off x="1187624" y="332656"/>
            <a:ext cx="7632848" cy="5669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p>
            <a:pPr lvl="0" fontAlgn="base">
              <a:spcBef>
                <a:spcPct val="0"/>
              </a:spcBef>
              <a:spcAft>
                <a:spcPct val="0"/>
              </a:spcAft>
              <a:defRPr/>
            </a:pPr>
            <a:r>
              <a:rPr lang="en-US" altLang="zh-CN" sz="3200" b="1" dirty="0" smtClean="0">
                <a:solidFill>
                  <a:srgbClr val="6600CC"/>
                </a:solidFill>
              </a:rPr>
              <a:t>5.1.2 </a:t>
            </a:r>
            <a:r>
              <a:rPr lang="zh-CN" altLang="en-US" sz="3200" b="1" dirty="0" smtClean="0">
                <a:solidFill>
                  <a:srgbClr val="6600CC"/>
                </a:solidFill>
              </a:rPr>
              <a:t>时钟触发器</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95536" y="1988840"/>
            <a:ext cx="8568952" cy="4392488"/>
          </a:xfrm>
        </p:spPr>
        <p:txBody>
          <a:bodyPr/>
          <a:lstStyle/>
          <a:p>
            <a:pPr marL="319950" indent="-360000">
              <a:lnSpc>
                <a:spcPct val="100000"/>
              </a:lnSpc>
              <a:spcBef>
                <a:spcPts val="600"/>
              </a:spcBef>
              <a:buSzPct val="100000"/>
              <a:buFont typeface="Wingdings" pitchFamily="2" charset="2"/>
              <a:buChar char="p"/>
            </a:pPr>
            <a:r>
              <a:rPr lang="zh-CN" altLang="en-US" sz="2800" dirty="0" smtClean="0"/>
              <a:t>同步</a:t>
            </a:r>
            <a:r>
              <a:rPr lang="en-US" altLang="zh-CN" sz="2800" dirty="0"/>
              <a:t>RS-FF</a:t>
            </a:r>
            <a:r>
              <a:rPr lang="zh-CN" altLang="en-US" sz="2800" dirty="0"/>
              <a:t>的动作特点</a:t>
            </a:r>
            <a:r>
              <a:rPr lang="zh-CN" altLang="en-US" sz="2800" dirty="0" smtClean="0"/>
              <a:t>：</a:t>
            </a:r>
            <a:endParaRPr lang="en-US" altLang="zh-CN" sz="2800" dirty="0" smtClean="0"/>
          </a:p>
          <a:p>
            <a:pPr marL="679950" lvl="1" indent="-288000">
              <a:lnSpc>
                <a:spcPct val="100000"/>
              </a:lnSpc>
              <a:spcBef>
                <a:spcPts val="600"/>
              </a:spcBef>
              <a:buSzPct val="100000"/>
            </a:pPr>
            <a:r>
              <a:rPr lang="zh-CN" altLang="en-US" sz="2400" dirty="0" smtClean="0"/>
              <a:t>在</a:t>
            </a:r>
            <a:r>
              <a:rPr lang="en-US" altLang="zh-CN" sz="2400" dirty="0"/>
              <a:t>CP=1</a:t>
            </a:r>
            <a:r>
              <a:rPr lang="zh-CN" altLang="en-US" sz="2400" dirty="0"/>
              <a:t>的全部时间里</a:t>
            </a:r>
            <a:r>
              <a:rPr lang="en-US" altLang="zh-CN" sz="2400" dirty="0"/>
              <a:t>S</a:t>
            </a:r>
            <a:r>
              <a:rPr lang="zh-CN" altLang="en-US" sz="2400" dirty="0"/>
              <a:t>和</a:t>
            </a:r>
            <a:r>
              <a:rPr lang="en-US" altLang="zh-CN" sz="2400" dirty="0"/>
              <a:t>R</a:t>
            </a:r>
            <a:r>
              <a:rPr lang="zh-CN" altLang="en-US" sz="2400" dirty="0"/>
              <a:t>的变化都将引起</a:t>
            </a:r>
            <a:r>
              <a:rPr lang="en-US" altLang="zh-CN" sz="2400" dirty="0"/>
              <a:t>FF</a:t>
            </a:r>
            <a:r>
              <a:rPr lang="zh-CN" altLang="en-US" sz="2400" dirty="0"/>
              <a:t>输出端状态的变化</a:t>
            </a:r>
            <a:r>
              <a:rPr lang="zh-CN" altLang="en-US" sz="2400" dirty="0" smtClean="0"/>
              <a:t>。</a:t>
            </a:r>
            <a:endParaRPr lang="en-US" altLang="zh-CN" sz="2400" dirty="0" smtClean="0"/>
          </a:p>
          <a:p>
            <a:pPr marL="679950" lvl="1" indent="-288000">
              <a:lnSpc>
                <a:spcPct val="100000"/>
              </a:lnSpc>
              <a:spcBef>
                <a:spcPts val="600"/>
              </a:spcBef>
              <a:buSzPct val="100000"/>
            </a:pPr>
            <a:r>
              <a:rPr lang="zh-CN" altLang="en-US" sz="2400" dirty="0" smtClean="0"/>
              <a:t>若</a:t>
            </a:r>
            <a:r>
              <a:rPr lang="zh-CN" altLang="en-US" sz="2400" dirty="0"/>
              <a:t>在</a:t>
            </a:r>
            <a:r>
              <a:rPr lang="en-US" altLang="zh-CN" sz="2400" dirty="0">
                <a:solidFill>
                  <a:srgbClr val="0000CC"/>
                </a:solidFill>
              </a:rPr>
              <a:t>CP=1</a:t>
            </a:r>
            <a:r>
              <a:rPr lang="zh-CN" altLang="en-US" sz="2400" dirty="0">
                <a:solidFill>
                  <a:srgbClr val="0000CC"/>
                </a:solidFill>
              </a:rPr>
              <a:t>的期间内输入信号发生多次变化，则</a:t>
            </a:r>
            <a:r>
              <a:rPr lang="en-US" altLang="zh-CN" sz="2400" dirty="0">
                <a:solidFill>
                  <a:srgbClr val="0000CC"/>
                </a:solidFill>
              </a:rPr>
              <a:t>FF</a:t>
            </a:r>
            <a:r>
              <a:rPr lang="zh-CN" altLang="en-US" sz="2400" dirty="0">
                <a:solidFill>
                  <a:srgbClr val="0000CC"/>
                </a:solidFill>
              </a:rPr>
              <a:t>的状态也会发生多次</a:t>
            </a:r>
            <a:r>
              <a:rPr lang="zh-CN" altLang="en-US" sz="2400" dirty="0">
                <a:solidFill>
                  <a:srgbClr val="FF0000"/>
                </a:solidFill>
              </a:rPr>
              <a:t>翻转</a:t>
            </a:r>
            <a:r>
              <a:rPr lang="zh-CN" altLang="en-US" sz="2400" dirty="0"/>
              <a:t>，这就降低了电路的抗干扰能力。 </a:t>
            </a:r>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30</a:t>
            </a:fld>
            <a:endParaRPr lang="zh-CN" altLang="en-US"/>
          </a:p>
        </p:txBody>
      </p:sp>
      <p:graphicFrame>
        <p:nvGraphicFramePr>
          <p:cNvPr id="5" name="对象 4"/>
          <p:cNvGraphicFramePr>
            <a:graphicFrameLocks noChangeAspect="1"/>
          </p:cNvGraphicFramePr>
          <p:nvPr/>
        </p:nvGraphicFramePr>
        <p:xfrm>
          <a:off x="2339752" y="4221088"/>
          <a:ext cx="3311351" cy="2366741"/>
        </p:xfrm>
        <a:graphic>
          <a:graphicData uri="http://schemas.openxmlformats.org/presentationml/2006/ole">
            <p:oleObj spid="_x0000_s91289" name="Visio" r:id="rId3" imgW="2440713" imgH="1744868" progId="">
              <p:embed/>
            </p:oleObj>
          </a:graphicData>
        </a:graphic>
      </p:graphicFrame>
      <p:sp>
        <p:nvSpPr>
          <p:cNvPr id="10" name="标题 1"/>
          <p:cNvSpPr>
            <a:spLocks noGrp="1"/>
          </p:cNvSpPr>
          <p:nvPr>
            <p:ph type="title"/>
          </p:nvPr>
        </p:nvSpPr>
        <p:spPr>
          <a:xfrm>
            <a:off x="1187624" y="1124744"/>
            <a:ext cx="7704856" cy="566936"/>
          </a:xfrm>
        </p:spPr>
        <p:txBody>
          <a:bodyPr/>
          <a:lstStyle/>
          <a:p>
            <a:r>
              <a:rPr lang="en-US" altLang="zh-CN" dirty="0" smtClean="0">
                <a:solidFill>
                  <a:srgbClr val="6600CC"/>
                </a:solidFill>
              </a:rPr>
              <a:t>1. </a:t>
            </a:r>
            <a:r>
              <a:rPr lang="zh-CN" altLang="en-US" dirty="0" smtClean="0">
                <a:solidFill>
                  <a:srgbClr val="6600CC"/>
                </a:solidFill>
              </a:rPr>
              <a:t>时钟（同步）</a:t>
            </a:r>
            <a:r>
              <a:rPr lang="en-US" altLang="zh-CN" dirty="0" smtClean="0">
                <a:solidFill>
                  <a:srgbClr val="6600CC"/>
                </a:solidFill>
              </a:rPr>
              <a:t>RS</a:t>
            </a:r>
            <a:r>
              <a:rPr lang="zh-CN" altLang="en-US" dirty="0" smtClean="0">
                <a:solidFill>
                  <a:srgbClr val="6600CC"/>
                </a:solidFill>
              </a:rPr>
              <a:t>触发器</a:t>
            </a:r>
            <a:endParaRPr lang="zh-CN" altLang="en-US" dirty="0"/>
          </a:p>
        </p:txBody>
      </p:sp>
      <p:sp>
        <p:nvSpPr>
          <p:cNvPr id="11" name="标题 1"/>
          <p:cNvSpPr txBox="1">
            <a:spLocks/>
          </p:cNvSpPr>
          <p:nvPr/>
        </p:nvSpPr>
        <p:spPr bwMode="auto">
          <a:xfrm>
            <a:off x="1187624" y="332656"/>
            <a:ext cx="7632848" cy="5669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p>
            <a:pPr lvl="0" fontAlgn="base">
              <a:spcBef>
                <a:spcPct val="0"/>
              </a:spcBef>
              <a:spcAft>
                <a:spcPct val="0"/>
              </a:spcAft>
              <a:defRPr/>
            </a:pPr>
            <a:r>
              <a:rPr lang="en-US" altLang="zh-CN" sz="3200" b="1" dirty="0" smtClean="0">
                <a:solidFill>
                  <a:srgbClr val="6600CC"/>
                </a:solidFill>
              </a:rPr>
              <a:t>5.1.2 </a:t>
            </a:r>
            <a:r>
              <a:rPr lang="zh-CN" altLang="en-US" sz="3200" b="1" dirty="0" smtClean="0">
                <a:solidFill>
                  <a:srgbClr val="6600CC"/>
                </a:solidFill>
              </a:rPr>
              <a:t>时钟触发器</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95536" y="1988840"/>
            <a:ext cx="8487544" cy="4752528"/>
          </a:xfrm>
        </p:spPr>
        <p:txBody>
          <a:bodyPr/>
          <a:lstStyle/>
          <a:p>
            <a:pPr>
              <a:lnSpc>
                <a:spcPct val="100000"/>
              </a:lnSpc>
              <a:spcBef>
                <a:spcPts val="600"/>
              </a:spcBef>
              <a:buSzPct val="100000"/>
              <a:buFont typeface="Wingdings" pitchFamily="2" charset="2"/>
              <a:buChar char="p"/>
            </a:pPr>
            <a:r>
              <a:rPr lang="zh-CN" altLang="en-US" sz="2800" dirty="0" smtClean="0"/>
              <a:t>时钟</a:t>
            </a:r>
            <a:r>
              <a:rPr lang="en-US" altLang="zh-CN" sz="2800" dirty="0" smtClean="0"/>
              <a:t>D</a:t>
            </a:r>
            <a:r>
              <a:rPr lang="zh-CN" altLang="en-US" sz="2800" dirty="0"/>
              <a:t>触发器</a:t>
            </a:r>
          </a:p>
          <a:p>
            <a:pPr lvl="1">
              <a:lnSpc>
                <a:spcPct val="100000"/>
              </a:lnSpc>
              <a:spcBef>
                <a:spcPts val="0"/>
              </a:spcBef>
              <a:buSzPct val="100000"/>
            </a:pPr>
            <a:r>
              <a:rPr lang="zh-CN" altLang="en-US" sz="2400" dirty="0" smtClean="0"/>
              <a:t>为了</a:t>
            </a:r>
            <a:r>
              <a:rPr lang="zh-CN" altLang="en-US" sz="2400" dirty="0"/>
              <a:t>从根本上避免同步</a:t>
            </a:r>
            <a:r>
              <a:rPr lang="en-US" altLang="zh-CN" sz="2400" dirty="0"/>
              <a:t>RS</a:t>
            </a:r>
            <a:r>
              <a:rPr lang="zh-CN" altLang="en-US" sz="2400" dirty="0"/>
              <a:t>触发器</a:t>
            </a:r>
            <a:r>
              <a:rPr lang="en-US" altLang="zh-CN" sz="2400" dirty="0"/>
              <a:t>R</a:t>
            </a:r>
            <a:r>
              <a:rPr lang="zh-CN" altLang="en-US" sz="2400" dirty="0"/>
              <a:t>、</a:t>
            </a:r>
            <a:r>
              <a:rPr lang="en-US" altLang="zh-CN" sz="2400" dirty="0"/>
              <a:t>S</a:t>
            </a:r>
            <a:r>
              <a:rPr lang="zh-CN" altLang="en-US" sz="2400" dirty="0"/>
              <a:t>同时为</a:t>
            </a:r>
            <a:r>
              <a:rPr lang="en-US" altLang="zh-CN" sz="2400" dirty="0"/>
              <a:t>1</a:t>
            </a:r>
            <a:r>
              <a:rPr lang="zh-CN" altLang="en-US" sz="2400" dirty="0"/>
              <a:t>的情况出现，可以在</a:t>
            </a:r>
            <a:r>
              <a:rPr lang="en-US" altLang="zh-CN" sz="2400" dirty="0"/>
              <a:t>R</a:t>
            </a:r>
            <a:r>
              <a:rPr lang="zh-CN" altLang="en-US" sz="2400" dirty="0"/>
              <a:t>和</a:t>
            </a:r>
            <a:r>
              <a:rPr lang="en-US" altLang="zh-CN" sz="2400" dirty="0"/>
              <a:t>S</a:t>
            </a:r>
            <a:r>
              <a:rPr lang="zh-CN" altLang="en-US" sz="2400" dirty="0"/>
              <a:t>之间接一</a:t>
            </a:r>
            <a:r>
              <a:rPr lang="zh-CN" altLang="en-US" sz="2400" dirty="0" smtClean="0"/>
              <a:t>非门，使</a:t>
            </a:r>
            <a:r>
              <a:rPr lang="en-US" altLang="zh-CN" sz="2400" dirty="0" smtClean="0">
                <a:solidFill>
                  <a:srgbClr val="0000CC"/>
                </a:solidFill>
                <a:cs typeface="+mn-cs"/>
              </a:rPr>
              <a:t> </a:t>
            </a:r>
            <a:r>
              <a:rPr lang="en-US" altLang="zh-CN" sz="2400" dirty="0">
                <a:solidFill>
                  <a:srgbClr val="0000CC"/>
                </a:solidFill>
                <a:cs typeface="+mn-cs"/>
              </a:rPr>
              <a:t>S•R=0 </a:t>
            </a:r>
            <a:r>
              <a:rPr lang="zh-CN" altLang="en-US" sz="2400" dirty="0" smtClean="0"/>
              <a:t>。</a:t>
            </a:r>
            <a:endParaRPr lang="en-US" altLang="zh-CN" sz="2400" dirty="0" smtClean="0"/>
          </a:p>
          <a:p>
            <a:pPr lvl="1">
              <a:lnSpc>
                <a:spcPct val="100000"/>
              </a:lnSpc>
              <a:spcBef>
                <a:spcPts val="0"/>
              </a:spcBef>
              <a:buSzPct val="100000"/>
            </a:pPr>
            <a:r>
              <a:rPr lang="zh-CN" altLang="en-US" sz="2400" dirty="0" smtClean="0"/>
              <a:t>这种</a:t>
            </a:r>
            <a:r>
              <a:rPr lang="zh-CN" altLang="en-US" sz="2400" dirty="0"/>
              <a:t>单输入的</a:t>
            </a:r>
            <a:r>
              <a:rPr lang="en-US" altLang="zh-CN" sz="2400" dirty="0"/>
              <a:t>FF</a:t>
            </a:r>
            <a:r>
              <a:rPr lang="zh-CN" altLang="en-US" sz="2400" dirty="0" smtClean="0"/>
              <a:t>叫做</a:t>
            </a:r>
            <a:r>
              <a:rPr lang="zh-CN" altLang="en-US" sz="2400" dirty="0" smtClean="0">
                <a:solidFill>
                  <a:srgbClr val="0000CC"/>
                </a:solidFill>
              </a:rPr>
              <a:t>时钟</a:t>
            </a:r>
            <a:r>
              <a:rPr lang="en-US" altLang="zh-CN" sz="2400" dirty="0" smtClean="0">
                <a:solidFill>
                  <a:srgbClr val="0000CC"/>
                </a:solidFill>
              </a:rPr>
              <a:t>D</a:t>
            </a:r>
            <a:r>
              <a:rPr lang="zh-CN" altLang="en-US" sz="2400" dirty="0">
                <a:solidFill>
                  <a:srgbClr val="0000CC"/>
                </a:solidFill>
              </a:rPr>
              <a:t>触发器</a:t>
            </a:r>
            <a:r>
              <a:rPr lang="zh-CN" altLang="en-US" sz="2400" dirty="0"/>
              <a:t>（又称</a:t>
            </a:r>
            <a:r>
              <a:rPr lang="en-US" altLang="zh-CN" sz="2400" dirty="0">
                <a:solidFill>
                  <a:srgbClr val="0000CC"/>
                </a:solidFill>
              </a:rPr>
              <a:t>D</a:t>
            </a:r>
            <a:r>
              <a:rPr lang="zh-CN" altLang="en-US" sz="2400" dirty="0">
                <a:solidFill>
                  <a:srgbClr val="0000CC"/>
                </a:solidFill>
              </a:rPr>
              <a:t>锁存器</a:t>
            </a:r>
            <a:r>
              <a:rPr lang="zh-CN" altLang="en-US" sz="2400" dirty="0" smtClean="0"/>
              <a:t>）</a:t>
            </a:r>
            <a:endParaRPr lang="en-US" altLang="zh-CN" sz="2400" dirty="0" smtClean="0"/>
          </a:p>
          <a:p>
            <a:pPr lvl="1">
              <a:lnSpc>
                <a:spcPct val="100000"/>
              </a:lnSpc>
              <a:spcBef>
                <a:spcPts val="0"/>
              </a:spcBef>
              <a:buSzPct val="100000"/>
            </a:pPr>
            <a:r>
              <a:rPr lang="zh-CN" altLang="en-US" sz="2400" dirty="0" smtClean="0"/>
              <a:t>其</a:t>
            </a:r>
            <a:r>
              <a:rPr lang="zh-CN" altLang="en-US" sz="2400" dirty="0"/>
              <a:t>逻辑图和特性表如下所示：</a:t>
            </a:r>
          </a:p>
          <a:p>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31</a:t>
            </a:fld>
            <a:endParaRPr lang="zh-CN" altLang="en-US"/>
          </a:p>
        </p:txBody>
      </p:sp>
      <p:sp>
        <p:nvSpPr>
          <p:cNvPr id="5" name="Text Box 6"/>
          <p:cNvSpPr txBox="1">
            <a:spLocks noChangeArrowheads="1"/>
          </p:cNvSpPr>
          <p:nvPr/>
        </p:nvSpPr>
        <p:spPr bwMode="auto">
          <a:xfrm>
            <a:off x="1691680" y="6237312"/>
            <a:ext cx="4896543"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p>
            <a:pPr algn="ctr">
              <a:spcBef>
                <a:spcPct val="50000"/>
              </a:spcBef>
            </a:pPr>
            <a:r>
              <a:rPr lang="zh-CN" altLang="en-US" sz="2000" b="1" dirty="0" smtClean="0">
                <a:latin typeface="楷体_GB2312" pitchFamily="49" charset="-122"/>
                <a:ea typeface="楷体_GB2312" pitchFamily="49" charset="-122"/>
              </a:rPr>
              <a:t>图</a:t>
            </a:r>
            <a:r>
              <a:rPr lang="en-US" altLang="zh-CN" sz="2000" b="1" dirty="0" smtClean="0">
                <a:latin typeface="楷体_GB2312" pitchFamily="49" charset="-122"/>
                <a:ea typeface="楷体_GB2312" pitchFamily="49" charset="-122"/>
              </a:rPr>
              <a:t> </a:t>
            </a:r>
            <a:r>
              <a:rPr lang="en-US" altLang="zh-CN" sz="2000" dirty="0" smtClean="0">
                <a:latin typeface="楷体_GB2312" pitchFamily="49" charset="-122"/>
                <a:ea typeface="楷体_GB2312" pitchFamily="49" charset="-122"/>
              </a:rPr>
              <a:t>  </a:t>
            </a:r>
            <a:r>
              <a:rPr lang="zh-CN" altLang="en-US" sz="2000" b="1" dirty="0" smtClean="0">
                <a:latin typeface="楷体_GB2312" pitchFamily="49" charset="-122"/>
                <a:ea typeface="楷体_GB2312" pitchFamily="49" charset="-122"/>
              </a:rPr>
              <a:t>时钟</a:t>
            </a:r>
            <a:r>
              <a:rPr lang="en-US" altLang="zh-CN" sz="2000" b="1" dirty="0" smtClean="0">
                <a:latin typeface="楷体_GB2312" pitchFamily="49" charset="-122"/>
                <a:ea typeface="楷体_GB2312" pitchFamily="49" charset="-122"/>
              </a:rPr>
              <a:t>D-FF</a:t>
            </a:r>
            <a:r>
              <a:rPr lang="zh-CN" altLang="en-US" sz="2000" b="1" dirty="0">
                <a:latin typeface="楷体_GB2312" pitchFamily="49" charset="-122"/>
                <a:ea typeface="楷体_GB2312" pitchFamily="49" charset="-122"/>
              </a:rPr>
              <a:t>的惯用符号和国标符号</a:t>
            </a:r>
            <a:r>
              <a:rPr lang="zh-CN" altLang="en-US" sz="1800" dirty="0"/>
              <a:t>  </a:t>
            </a:r>
          </a:p>
        </p:txBody>
      </p:sp>
      <p:pic>
        <p:nvPicPr>
          <p:cNvPr id="6" name="Picture 11" descr="4-2-7"/>
          <p:cNvPicPr>
            <a:picLocks noChangeAspect="1" noChangeArrowheads="1"/>
          </p:cNvPicPr>
          <p:nvPr/>
        </p:nvPicPr>
        <p:blipFill>
          <a:blip r:embed="rId2" cstate="print">
            <a:clrChange>
              <a:clrFrom>
                <a:srgbClr val="FAFAFA"/>
              </a:clrFrom>
              <a:clrTo>
                <a:srgbClr val="FAFAFA">
                  <a:alpha val="0"/>
                </a:srgbClr>
              </a:clrTo>
            </a:clrChange>
            <a:lum contrast="24000"/>
            <a:extLst>
              <a:ext uri="{28A0092B-C50C-407E-A947-70E740481C1C}">
                <a14:useLocalDpi xmlns:a14="http://schemas.microsoft.com/office/drawing/2010/main" xmlns="" val="0"/>
              </a:ext>
            </a:extLst>
          </a:blip>
          <a:srcRect/>
          <a:stretch>
            <a:fillRect/>
          </a:stretch>
        </p:blipFill>
        <p:spPr bwMode="auto">
          <a:xfrm>
            <a:off x="2411760" y="3933056"/>
            <a:ext cx="3096344" cy="2376388"/>
          </a:xfrm>
          <a:prstGeom prst="rect">
            <a:avLst/>
          </a:prstGeom>
          <a:noFill/>
          <a:extLst>
            <a:ext uri="{909E8E84-426E-40DD-AFC4-6F175D3DCCD1}">
              <a14:hiddenFill xmlns:a14="http://schemas.microsoft.com/office/drawing/2010/main" xmlns="">
                <a:solidFill>
                  <a:srgbClr val="FFFFFF"/>
                </a:solidFill>
              </a14:hiddenFill>
            </a:ext>
          </a:extLst>
        </p:spPr>
      </p:pic>
      <p:sp>
        <p:nvSpPr>
          <p:cNvPr id="11" name="标题 1"/>
          <p:cNvSpPr>
            <a:spLocks noGrp="1"/>
          </p:cNvSpPr>
          <p:nvPr>
            <p:ph type="title"/>
          </p:nvPr>
        </p:nvSpPr>
        <p:spPr>
          <a:xfrm>
            <a:off x="1187624" y="1124744"/>
            <a:ext cx="7704856" cy="566936"/>
          </a:xfrm>
        </p:spPr>
        <p:txBody>
          <a:bodyPr/>
          <a:lstStyle/>
          <a:p>
            <a:r>
              <a:rPr lang="en-US" altLang="zh-CN" dirty="0" smtClean="0">
                <a:solidFill>
                  <a:srgbClr val="6600CC"/>
                </a:solidFill>
              </a:rPr>
              <a:t>2. </a:t>
            </a:r>
            <a:r>
              <a:rPr lang="zh-CN" altLang="en-US" dirty="0" smtClean="0">
                <a:solidFill>
                  <a:srgbClr val="6600CC"/>
                </a:solidFill>
              </a:rPr>
              <a:t>时钟（同步）</a:t>
            </a:r>
            <a:r>
              <a:rPr lang="en-US" altLang="zh-CN" dirty="0" smtClean="0">
                <a:solidFill>
                  <a:srgbClr val="6600CC"/>
                </a:solidFill>
              </a:rPr>
              <a:t>D</a:t>
            </a:r>
            <a:r>
              <a:rPr lang="zh-CN" altLang="en-US" dirty="0" smtClean="0">
                <a:solidFill>
                  <a:srgbClr val="6600CC"/>
                </a:solidFill>
              </a:rPr>
              <a:t>触发器</a:t>
            </a:r>
            <a:endParaRPr lang="zh-CN" altLang="en-US" dirty="0"/>
          </a:p>
        </p:txBody>
      </p:sp>
      <p:sp>
        <p:nvSpPr>
          <p:cNvPr id="12" name="标题 1"/>
          <p:cNvSpPr txBox="1">
            <a:spLocks/>
          </p:cNvSpPr>
          <p:nvPr/>
        </p:nvSpPr>
        <p:spPr bwMode="auto">
          <a:xfrm>
            <a:off x="1187624" y="332656"/>
            <a:ext cx="7632848" cy="5669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p>
            <a:pPr lvl="0" fontAlgn="base">
              <a:spcBef>
                <a:spcPct val="0"/>
              </a:spcBef>
              <a:spcAft>
                <a:spcPct val="0"/>
              </a:spcAft>
              <a:defRPr/>
            </a:pPr>
            <a:r>
              <a:rPr lang="en-US" altLang="zh-CN" sz="3200" b="1" dirty="0" smtClean="0">
                <a:solidFill>
                  <a:srgbClr val="6600CC"/>
                </a:solidFill>
              </a:rPr>
              <a:t>5.1.2 </a:t>
            </a:r>
            <a:r>
              <a:rPr lang="zh-CN" altLang="en-US" sz="3200" b="1" dirty="0" smtClean="0">
                <a:solidFill>
                  <a:srgbClr val="6600CC"/>
                </a:solidFill>
              </a:rPr>
              <a:t>时钟触发器</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95536" y="1988840"/>
            <a:ext cx="8487544" cy="4752528"/>
          </a:xfrm>
        </p:spPr>
        <p:txBody>
          <a:bodyPr/>
          <a:lstStyle/>
          <a:p>
            <a:pPr>
              <a:buSzPct val="100000"/>
              <a:buFont typeface="Wingdings" pitchFamily="2" charset="2"/>
              <a:buChar char="p"/>
            </a:pPr>
            <a:r>
              <a:rPr lang="zh-CN" altLang="en-US" sz="2800" dirty="0" smtClean="0"/>
              <a:t>电路</a:t>
            </a:r>
            <a:r>
              <a:rPr lang="zh-CN" altLang="en-US" sz="2800" dirty="0"/>
              <a:t>结构及工作原理</a:t>
            </a:r>
          </a:p>
        </p:txBody>
      </p:sp>
      <p:sp>
        <p:nvSpPr>
          <p:cNvPr id="4" name="灯片编号占位符 3"/>
          <p:cNvSpPr>
            <a:spLocks noGrp="1"/>
          </p:cNvSpPr>
          <p:nvPr>
            <p:ph type="sldNum" sz="quarter" idx="12"/>
          </p:nvPr>
        </p:nvSpPr>
        <p:spPr>
          <a:xfrm>
            <a:off x="6843464" y="6484912"/>
            <a:ext cx="1905000" cy="328464"/>
          </a:xfrm>
        </p:spPr>
        <p:txBody>
          <a:bodyPr/>
          <a:lstStyle/>
          <a:p>
            <a:fld id="{0C913308-F349-4B6D-A68A-DD1791B4A57B}" type="slidenum">
              <a:rPr lang="zh-CN" altLang="en-US" smtClean="0"/>
              <a:pPr/>
              <a:t>32</a:t>
            </a:fld>
            <a:endParaRPr lang="zh-CN" altLang="en-US" dirty="0"/>
          </a:p>
        </p:txBody>
      </p:sp>
      <p:sp>
        <p:nvSpPr>
          <p:cNvPr id="5" name="Text Box 7"/>
          <p:cNvSpPr txBox="1">
            <a:spLocks noChangeArrowheads="1"/>
          </p:cNvSpPr>
          <p:nvPr/>
        </p:nvSpPr>
        <p:spPr bwMode="auto">
          <a:xfrm>
            <a:off x="899592" y="6230639"/>
            <a:ext cx="3311525" cy="3667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zh-CN" altLang="en-US" sz="1800" b="1" dirty="0" smtClean="0">
                <a:latin typeface="楷体_GB2312" pitchFamily="49" charset="-122"/>
                <a:ea typeface="楷体_GB2312" pitchFamily="49" charset="-122"/>
              </a:rPr>
              <a:t>图</a:t>
            </a:r>
            <a:r>
              <a:rPr lang="en-US" altLang="zh-CN" sz="1800" dirty="0" smtClean="0">
                <a:latin typeface="楷体_GB2312" pitchFamily="49" charset="-122"/>
                <a:ea typeface="楷体_GB2312" pitchFamily="49" charset="-122"/>
              </a:rPr>
              <a:t> </a:t>
            </a:r>
            <a:r>
              <a:rPr lang="zh-CN" altLang="en-US" sz="1800" b="1" dirty="0">
                <a:latin typeface="楷体_GB2312" pitchFamily="49" charset="-122"/>
                <a:ea typeface="楷体_GB2312" pitchFamily="49" charset="-122"/>
              </a:rPr>
              <a:t>同步</a:t>
            </a:r>
            <a:r>
              <a:rPr lang="en-US" altLang="zh-CN" sz="1800" b="1" dirty="0">
                <a:latin typeface="楷体_GB2312" pitchFamily="49" charset="-122"/>
                <a:ea typeface="楷体_GB2312" pitchFamily="49" charset="-122"/>
              </a:rPr>
              <a:t>D-FF</a:t>
            </a:r>
            <a:r>
              <a:rPr lang="zh-CN" altLang="en-US" sz="1800" b="1" dirty="0">
                <a:latin typeface="楷体_GB2312" pitchFamily="49" charset="-122"/>
                <a:ea typeface="楷体_GB2312" pitchFamily="49" charset="-122"/>
              </a:rPr>
              <a:t>的逻辑图</a:t>
            </a:r>
            <a:r>
              <a:rPr lang="zh-CN" altLang="en-US" sz="1800" dirty="0"/>
              <a:t>  </a:t>
            </a:r>
          </a:p>
        </p:txBody>
      </p:sp>
      <p:sp>
        <p:nvSpPr>
          <p:cNvPr id="6" name="Text Box 8"/>
          <p:cNvSpPr txBox="1">
            <a:spLocks noChangeArrowheads="1"/>
          </p:cNvSpPr>
          <p:nvPr/>
        </p:nvSpPr>
        <p:spPr bwMode="auto">
          <a:xfrm>
            <a:off x="5148064" y="2060848"/>
            <a:ext cx="3240088" cy="3667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lgn="ctr">
              <a:spcBef>
                <a:spcPct val="50000"/>
              </a:spcBef>
            </a:pPr>
            <a:r>
              <a:rPr lang="zh-CN" altLang="en-US" sz="1800" b="1" dirty="0" smtClean="0">
                <a:latin typeface="楷体_GB2312" pitchFamily="49" charset="-122"/>
                <a:ea typeface="楷体_GB2312" pitchFamily="49" charset="-122"/>
              </a:rPr>
              <a:t>表</a:t>
            </a:r>
            <a:r>
              <a:rPr lang="en-US" altLang="zh-CN" sz="1800" b="1" dirty="0" smtClean="0">
                <a:latin typeface="楷体_GB2312" pitchFamily="49" charset="-122"/>
                <a:ea typeface="楷体_GB2312" pitchFamily="49" charset="-122"/>
              </a:rPr>
              <a:t>  </a:t>
            </a:r>
            <a:r>
              <a:rPr lang="zh-CN" altLang="en-US" sz="1800" b="1" dirty="0">
                <a:latin typeface="楷体_GB2312" pitchFamily="49" charset="-122"/>
                <a:ea typeface="楷体_GB2312" pitchFamily="49" charset="-122"/>
              </a:rPr>
              <a:t>同步</a:t>
            </a:r>
            <a:r>
              <a:rPr lang="en-US" altLang="zh-CN" sz="1800" b="1" dirty="0">
                <a:latin typeface="楷体_GB2312" pitchFamily="49" charset="-122"/>
                <a:ea typeface="楷体_GB2312" pitchFamily="49" charset="-122"/>
              </a:rPr>
              <a:t>D-FF</a:t>
            </a:r>
            <a:r>
              <a:rPr lang="zh-CN" altLang="en-US" sz="1800" b="1" dirty="0">
                <a:latin typeface="楷体_GB2312" pitchFamily="49" charset="-122"/>
                <a:ea typeface="楷体_GB2312" pitchFamily="49" charset="-122"/>
              </a:rPr>
              <a:t>的特性表</a:t>
            </a:r>
            <a:endParaRPr lang="zh-CN" altLang="en-US" sz="1800" dirty="0">
              <a:latin typeface="楷体_GB2312" pitchFamily="49" charset="-122"/>
              <a:ea typeface="楷体_GB2312" pitchFamily="49" charset="-122"/>
            </a:endParaRPr>
          </a:p>
        </p:txBody>
      </p:sp>
      <p:graphicFrame>
        <p:nvGraphicFramePr>
          <p:cNvPr id="7" name="Group 62"/>
          <p:cNvGraphicFramePr>
            <a:graphicFrameLocks noGrp="1"/>
          </p:cNvGraphicFramePr>
          <p:nvPr/>
        </p:nvGraphicFramePr>
        <p:xfrm>
          <a:off x="4788024" y="2564904"/>
          <a:ext cx="3624263" cy="2814003"/>
        </p:xfrm>
        <a:graphic>
          <a:graphicData uri="http://schemas.openxmlformats.org/drawingml/2006/table">
            <a:tbl>
              <a:tblPr/>
              <a:tblGrid>
                <a:gridCol w="574675">
                  <a:extLst>
                    <a:ext uri="{9D8B030D-6E8A-4147-A177-3AD203B41FA5}">
                      <a16:colId xmlns:a16="http://schemas.microsoft.com/office/drawing/2014/main" xmlns="" val="20000"/>
                    </a:ext>
                  </a:extLst>
                </a:gridCol>
                <a:gridCol w="504825">
                  <a:extLst>
                    <a:ext uri="{9D8B030D-6E8A-4147-A177-3AD203B41FA5}">
                      <a16:colId xmlns:a16="http://schemas.microsoft.com/office/drawing/2014/main" xmlns="" val="20001"/>
                    </a:ext>
                  </a:extLst>
                </a:gridCol>
                <a:gridCol w="720725">
                  <a:extLst>
                    <a:ext uri="{9D8B030D-6E8A-4147-A177-3AD203B41FA5}">
                      <a16:colId xmlns:a16="http://schemas.microsoft.com/office/drawing/2014/main" xmlns="" val="20002"/>
                    </a:ext>
                  </a:extLst>
                </a:gridCol>
                <a:gridCol w="864071">
                  <a:extLst>
                    <a:ext uri="{9D8B030D-6E8A-4147-A177-3AD203B41FA5}">
                      <a16:colId xmlns:a16="http://schemas.microsoft.com/office/drawing/2014/main" xmlns="" val="20003"/>
                    </a:ext>
                  </a:extLst>
                </a:gridCol>
                <a:gridCol w="959967">
                  <a:extLst>
                    <a:ext uri="{9D8B030D-6E8A-4147-A177-3AD203B41FA5}">
                      <a16:colId xmlns:a16="http://schemas.microsoft.com/office/drawing/2014/main" xmlns="" val="20004"/>
                    </a:ext>
                  </a:extLst>
                </a:gridCol>
              </a:tblGrid>
              <a:tr h="361950">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CP</a:t>
                      </a:r>
                    </a:p>
                  </a:txBody>
                  <a:tcPr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Q</a:t>
                      </a:r>
                      <a:r>
                        <a:rPr kumimoji="0" lang="en-US" altLang="zh-CN" sz="2000" b="1" i="0" u="none" strike="noStrike" cap="none" normalizeH="0" baseline="30000" dirty="0" smtClean="0">
                          <a:ln>
                            <a:noFill/>
                          </a:ln>
                          <a:solidFill>
                            <a:schemeClr val="tx1"/>
                          </a:solidFill>
                          <a:effectLst/>
                          <a:latin typeface="Arial" panose="020B0604020202020204" pitchFamily="34" charset="0"/>
                          <a:ea typeface="宋体" panose="02010600030101010101" pitchFamily="2" charset="-122"/>
                        </a:rPr>
                        <a:t>n</a:t>
                      </a:r>
                      <a:endParaRPr kumimoji="0" lang="zh-CN" altLang="zh-CN" sz="2000" b="1" i="0" u="none" strike="noStrike" cap="none" normalizeH="0" baseline="30000" dirty="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0" lang="en-US"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Q</a:t>
                      </a:r>
                      <a:r>
                        <a:rPr kumimoji="0" lang="en-US" altLang="zh-CN" sz="2000" b="1" i="0" u="none" strike="noStrike" cap="none" normalizeH="0" baseline="30000" dirty="0" smtClean="0">
                          <a:ln>
                            <a:noFill/>
                          </a:ln>
                          <a:solidFill>
                            <a:schemeClr val="tx1"/>
                          </a:solidFill>
                          <a:effectLst/>
                          <a:latin typeface="Arial" panose="020B0604020202020204" pitchFamily="34" charset="0"/>
                          <a:ea typeface="宋体" panose="02010600030101010101" pitchFamily="2" charset="-122"/>
                        </a:rPr>
                        <a:t>n+1</a:t>
                      </a:r>
                      <a:endParaRPr kumimoji="0" lang="zh-CN"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说明</a:t>
                      </a:r>
                    </a:p>
                  </a:txBody>
                  <a:tcPr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0"/>
                  </a:ext>
                </a:extLst>
              </a:tr>
              <a:tr h="361950">
                <a:tc row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0</a:t>
                      </a:r>
                    </a:p>
                  </a:txBody>
                  <a:tcPr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x</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000" b="1" i="0" u="none" strike="noStrike" cap="none" normalizeH="0" baseline="0" smtClean="0">
                          <a:ln>
                            <a:noFill/>
                          </a:ln>
                          <a:solidFill>
                            <a:srgbClr val="FF0000"/>
                          </a:solidFill>
                          <a:effectLst/>
                          <a:latin typeface="Arial" panose="020B0604020202020204" pitchFamily="34" charset="0"/>
                          <a:ea typeface="宋体" panose="02010600030101010101" pitchFamily="2" charset="-122"/>
                        </a:rPr>
                        <a:t>保持</a:t>
                      </a:r>
                    </a:p>
                  </a:txBody>
                  <a:tcPr marL="90000" marR="90000" marT="46800" marB="46800" anchor="ctr" anchorCtr="1"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r h="363538">
                <a:tc vMerge="1">
                  <a:txBody>
                    <a:bodyPr/>
                    <a:lstStyle/>
                    <a:p>
                      <a:endParaRPr lang="zh-CN"/>
                    </a:p>
                  </a:txBody>
                  <a:tcPr/>
                </a:tc>
                <a:tc vMerge="1">
                  <a:txBody>
                    <a:bodyPr/>
                    <a:lstStyle/>
                    <a:p>
                      <a:endParaRPr lang="zh-CN"/>
                    </a:p>
                  </a:txBody>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zh-CN"/>
                    </a:p>
                  </a:txBody>
                  <a:tcPr/>
                </a:tc>
                <a:extLst>
                  <a:ext uri="{0D108BD9-81ED-4DB2-BD59-A6C34878D82A}">
                    <a16:rowId xmlns:a16="http://schemas.microsoft.com/office/drawing/2014/main" xmlns="" val="10002"/>
                  </a:ext>
                </a:extLst>
              </a:tr>
              <a:tr h="361950">
                <a:tc row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p>
                  </a:txBody>
                  <a:tcPr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000" b="1" i="0" u="none" strike="noStrike" cap="none" normalizeH="0" baseline="0" dirty="0" smtClean="0">
                          <a:ln>
                            <a:noFill/>
                          </a:ln>
                          <a:solidFill>
                            <a:srgbClr val="FF0000"/>
                          </a:solidFill>
                          <a:effectLst/>
                          <a:latin typeface="Arial" panose="020B0604020202020204" pitchFamily="34" charset="0"/>
                          <a:ea typeface="宋体" panose="02010600030101010101" pitchFamily="2" charset="-122"/>
                        </a:rPr>
                        <a:t>送</a:t>
                      </a:r>
                      <a:r>
                        <a:rPr kumimoji="0" lang="en-US" altLang="zh-CN" sz="2000" b="1" i="0" u="none" strike="noStrike" cap="none" normalizeH="0" baseline="0" dirty="0" smtClean="0">
                          <a:ln>
                            <a:noFill/>
                          </a:ln>
                          <a:solidFill>
                            <a:srgbClr val="FF0000"/>
                          </a:solidFill>
                          <a:effectLst/>
                          <a:latin typeface="Arial" panose="020B0604020202020204" pitchFamily="34" charset="0"/>
                          <a:ea typeface="宋体" panose="02010600030101010101" pitchFamily="2" charset="-122"/>
                        </a:rPr>
                        <a:t>0</a:t>
                      </a:r>
                    </a:p>
                  </a:txBody>
                  <a:tcPr marL="90000" marR="90000" marT="46800" marB="46800" anchor="ctr" anchorCtr="1"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3"/>
                  </a:ext>
                </a:extLst>
              </a:tr>
              <a:tr h="363538">
                <a:tc vMerge="1">
                  <a:txBody>
                    <a:bodyPr/>
                    <a:lstStyle/>
                    <a:p>
                      <a:endParaRPr lang="zh-CN"/>
                    </a:p>
                  </a:txBody>
                  <a:tcPr/>
                </a:tc>
                <a:tc vMerge="1">
                  <a:txBody>
                    <a:bodyPr/>
                    <a:lstStyle/>
                    <a:p>
                      <a:endParaRPr lang="zh-CN"/>
                    </a:p>
                  </a:txBody>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zh-CN"/>
                    </a:p>
                  </a:txBody>
                  <a:tcPr/>
                </a:tc>
                <a:extLst>
                  <a:ext uri="{0D108BD9-81ED-4DB2-BD59-A6C34878D82A}">
                    <a16:rowId xmlns:a16="http://schemas.microsoft.com/office/drawing/2014/main" xmlns="" val="10004"/>
                  </a:ext>
                </a:extLst>
              </a:tr>
              <a:tr h="361950">
                <a:tc row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p>
                  </a:txBody>
                  <a:tcPr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000" b="1" i="0" u="none" strike="noStrike" cap="none" normalizeH="0" baseline="0" smtClean="0">
                          <a:ln>
                            <a:noFill/>
                          </a:ln>
                          <a:solidFill>
                            <a:srgbClr val="FF0000"/>
                          </a:solidFill>
                          <a:effectLst/>
                          <a:latin typeface="Arial" panose="020B0604020202020204" pitchFamily="34" charset="0"/>
                          <a:ea typeface="宋体" panose="02010600030101010101" pitchFamily="2" charset="-122"/>
                        </a:rPr>
                        <a:t>送</a:t>
                      </a:r>
                      <a:r>
                        <a:rPr kumimoji="0" lang="en-US" altLang="zh-CN" sz="2000" b="1" i="0" u="none" strike="noStrike" cap="none" normalizeH="0" baseline="0" smtClean="0">
                          <a:ln>
                            <a:noFill/>
                          </a:ln>
                          <a:solidFill>
                            <a:srgbClr val="FF0000"/>
                          </a:solidFill>
                          <a:effectLst/>
                          <a:latin typeface="Arial" panose="020B0604020202020204" pitchFamily="34" charset="0"/>
                          <a:ea typeface="宋体" panose="02010600030101010101" pitchFamily="2" charset="-122"/>
                        </a:rPr>
                        <a:t>1</a:t>
                      </a:r>
                    </a:p>
                  </a:txBody>
                  <a:tcPr marL="90000" marR="90000" marT="46800" marB="46800" anchor="ctr" anchorCtr="1"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5"/>
                  </a:ext>
                </a:extLst>
              </a:tr>
              <a:tr h="436563">
                <a:tc vMerge="1">
                  <a:txBody>
                    <a:bodyPr/>
                    <a:lstStyle/>
                    <a:p>
                      <a:endParaRPr lang="zh-CN"/>
                    </a:p>
                  </a:txBody>
                  <a:tcPr/>
                </a:tc>
                <a:tc vMerge="1">
                  <a:txBody>
                    <a:bodyPr/>
                    <a:lstStyle/>
                    <a:p>
                      <a:endParaRPr lang="zh-CN"/>
                    </a:p>
                  </a:txBody>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zh-CN"/>
                    </a:p>
                  </a:txBody>
                  <a:tcPr/>
                </a:tc>
                <a:extLst>
                  <a:ext uri="{0D108BD9-81ED-4DB2-BD59-A6C34878D82A}">
                    <a16:rowId xmlns:a16="http://schemas.microsoft.com/office/drawing/2014/main" xmlns="" val="10006"/>
                  </a:ext>
                </a:extLst>
              </a:tr>
            </a:tbl>
          </a:graphicData>
        </a:graphic>
      </p:graphicFrame>
      <p:grpSp>
        <p:nvGrpSpPr>
          <p:cNvPr id="10" name="Group 67"/>
          <p:cNvGrpSpPr/>
          <p:nvPr/>
        </p:nvGrpSpPr>
        <p:grpSpPr bwMode="auto">
          <a:xfrm>
            <a:off x="755576" y="2348880"/>
            <a:ext cx="2827338" cy="3816350"/>
            <a:chOff x="1008" y="1429"/>
            <a:chExt cx="1781" cy="2404"/>
          </a:xfrm>
        </p:grpSpPr>
        <p:pic>
          <p:nvPicPr>
            <p:cNvPr id="11" name="Picture 59" descr="4-2-6"/>
            <p:cNvPicPr>
              <a:picLocks noChangeAspect="1" noChangeArrowheads="1"/>
            </p:cNvPicPr>
            <p:nvPr/>
          </p:nvPicPr>
          <p:blipFill>
            <a:blip r:embed="rId3" cstate="print">
              <a:clrChange>
                <a:clrFrom>
                  <a:srgbClr val="FDFDFD"/>
                </a:clrFrom>
                <a:clrTo>
                  <a:srgbClr val="FDFDFD">
                    <a:alpha val="0"/>
                  </a:srgbClr>
                </a:clrTo>
              </a:clrChange>
              <a:lum bright="-12000" contrast="42000"/>
              <a:extLst>
                <a:ext uri="{28A0092B-C50C-407E-A947-70E740481C1C}">
                  <a14:useLocalDpi xmlns:a14="http://schemas.microsoft.com/office/drawing/2010/main" xmlns="" val="0"/>
                </a:ext>
              </a:extLst>
            </a:blip>
            <a:srcRect/>
            <a:stretch>
              <a:fillRect/>
            </a:stretch>
          </p:blipFill>
          <p:spPr bwMode="auto">
            <a:xfrm>
              <a:off x="1008" y="1429"/>
              <a:ext cx="1781" cy="2404"/>
            </a:xfrm>
            <a:prstGeom prst="rect">
              <a:avLst/>
            </a:prstGeom>
            <a:noFill/>
            <a:extLst>
              <a:ext uri="{909E8E84-426E-40DD-AFC4-6F175D3DCCD1}">
                <a14:hiddenFill xmlns:a14="http://schemas.microsoft.com/office/drawing/2010/main" xmlns="">
                  <a:solidFill>
                    <a:srgbClr val="FFFFFF"/>
                  </a:solidFill>
                </a14:hiddenFill>
              </a:ext>
            </a:extLst>
          </p:spPr>
        </p:pic>
        <p:sp>
          <p:nvSpPr>
            <p:cNvPr id="12" name="Oval 60"/>
            <p:cNvSpPr>
              <a:spLocks noChangeArrowheads="1"/>
            </p:cNvSpPr>
            <p:nvPr/>
          </p:nvSpPr>
          <p:spPr bwMode="auto">
            <a:xfrm>
              <a:off x="1429" y="3520"/>
              <a:ext cx="45" cy="46"/>
            </a:xfrm>
            <a:prstGeom prst="ellipse">
              <a:avLst/>
            </a:prstGeom>
            <a:solidFill>
              <a:schemeClr val="tx1"/>
            </a:solidFill>
            <a:ln w="9525">
              <a:solidFill>
                <a:schemeClr val="tx1"/>
              </a:solidFill>
              <a:rou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sp>
          <p:nvSpPr>
            <p:cNvPr id="13" name="Oval 66"/>
            <p:cNvSpPr>
              <a:spLocks noChangeArrowheads="1"/>
            </p:cNvSpPr>
            <p:nvPr/>
          </p:nvSpPr>
          <p:spPr bwMode="auto">
            <a:xfrm>
              <a:off x="2154" y="3158"/>
              <a:ext cx="45" cy="46"/>
            </a:xfrm>
            <a:prstGeom prst="ellipse">
              <a:avLst/>
            </a:prstGeom>
            <a:solidFill>
              <a:schemeClr val="tx1"/>
            </a:solidFill>
            <a:ln w="9525">
              <a:solidFill>
                <a:schemeClr val="tx1"/>
              </a:solidFill>
              <a:rou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grpSp>
      <p:grpSp>
        <p:nvGrpSpPr>
          <p:cNvPr id="15" name="Group 7"/>
          <p:cNvGrpSpPr/>
          <p:nvPr/>
        </p:nvGrpSpPr>
        <p:grpSpPr bwMode="auto">
          <a:xfrm>
            <a:off x="4572000" y="5589240"/>
            <a:ext cx="4104291" cy="808036"/>
            <a:chOff x="2865" y="2482"/>
            <a:chExt cx="3660" cy="509"/>
          </a:xfrm>
        </p:grpSpPr>
        <p:sp>
          <p:nvSpPr>
            <p:cNvPr id="16" name="Text Box 8"/>
            <p:cNvSpPr txBox="1">
              <a:spLocks noChangeArrowheads="1"/>
            </p:cNvSpPr>
            <p:nvPr/>
          </p:nvSpPr>
          <p:spPr bwMode="auto">
            <a:xfrm>
              <a:off x="2865" y="2482"/>
              <a:ext cx="3660" cy="23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p>
              <a:pPr>
                <a:spcBef>
                  <a:spcPct val="50000"/>
                </a:spcBef>
              </a:pPr>
              <a:r>
                <a:rPr lang="zh-CN" altLang="en-US" b="1" dirty="0"/>
                <a:t>由特性表可得同步</a:t>
              </a:r>
              <a:r>
                <a:rPr lang="en-US" altLang="zh-CN" b="1" dirty="0"/>
                <a:t>D-FF</a:t>
              </a:r>
              <a:r>
                <a:rPr lang="zh-CN" altLang="en-US" b="1" dirty="0"/>
                <a:t>的特性方程为：</a:t>
              </a:r>
            </a:p>
          </p:txBody>
        </p:sp>
        <p:graphicFrame>
          <p:nvGraphicFramePr>
            <p:cNvPr id="17" name="Object 9"/>
            <p:cNvGraphicFramePr>
              <a:graphicFrameLocks noChangeAspect="1"/>
            </p:cNvGraphicFramePr>
            <p:nvPr/>
          </p:nvGraphicFramePr>
          <p:xfrm>
            <a:off x="4406" y="2689"/>
            <a:ext cx="771" cy="302"/>
          </p:xfrm>
          <a:graphic>
            <a:graphicData uri="http://schemas.openxmlformats.org/presentationml/2006/ole">
              <p:oleObj spid="_x0000_s92597" name="公式" r:id="rId4" imgW="762120" imgH="292320" progId="">
                <p:embed/>
              </p:oleObj>
            </a:graphicData>
          </a:graphic>
        </p:graphicFrame>
      </p:grpSp>
      <p:sp>
        <p:nvSpPr>
          <p:cNvPr id="18" name="TextBox 17"/>
          <p:cNvSpPr txBox="1"/>
          <p:nvPr/>
        </p:nvSpPr>
        <p:spPr>
          <a:xfrm>
            <a:off x="1163210" y="5096790"/>
            <a:ext cx="332142" cy="369332"/>
          </a:xfrm>
          <a:prstGeom prst="rect">
            <a:avLst/>
          </a:prstGeom>
          <a:noFill/>
        </p:spPr>
        <p:txBody>
          <a:bodyPr wrap="none" rtlCol="0">
            <a:spAutoFit/>
          </a:bodyPr>
          <a:lstStyle/>
          <a:p>
            <a:r>
              <a:rPr lang="en-US" altLang="zh-CN" b="1" dirty="0" smtClean="0">
                <a:solidFill>
                  <a:srgbClr val="0000CC"/>
                </a:solidFill>
              </a:rPr>
              <a:t>0</a:t>
            </a:r>
            <a:endParaRPr lang="zh-CN" altLang="en-US" b="1" dirty="0">
              <a:solidFill>
                <a:srgbClr val="0000CC"/>
              </a:solidFill>
            </a:endParaRPr>
          </a:p>
        </p:txBody>
      </p:sp>
      <p:sp>
        <p:nvSpPr>
          <p:cNvPr id="19" name="TextBox 18"/>
          <p:cNvSpPr txBox="1"/>
          <p:nvPr/>
        </p:nvSpPr>
        <p:spPr>
          <a:xfrm>
            <a:off x="2646289" y="5249190"/>
            <a:ext cx="332142" cy="369332"/>
          </a:xfrm>
          <a:prstGeom prst="rect">
            <a:avLst/>
          </a:prstGeom>
          <a:noFill/>
        </p:spPr>
        <p:txBody>
          <a:bodyPr wrap="none" rtlCol="0">
            <a:spAutoFit/>
          </a:bodyPr>
          <a:lstStyle/>
          <a:p>
            <a:r>
              <a:rPr lang="en-US" altLang="zh-CN" b="1" dirty="0" smtClean="0">
                <a:solidFill>
                  <a:srgbClr val="0000CC"/>
                </a:solidFill>
              </a:rPr>
              <a:t>1</a:t>
            </a:r>
            <a:endParaRPr lang="zh-CN" altLang="en-US" b="1" dirty="0">
              <a:solidFill>
                <a:srgbClr val="0000CC"/>
              </a:solidFill>
            </a:endParaRPr>
          </a:p>
        </p:txBody>
      </p:sp>
      <p:sp>
        <p:nvSpPr>
          <p:cNvPr id="20" name="TextBox 19"/>
          <p:cNvSpPr txBox="1"/>
          <p:nvPr/>
        </p:nvSpPr>
        <p:spPr>
          <a:xfrm>
            <a:off x="2812360" y="4072389"/>
            <a:ext cx="332142" cy="369332"/>
          </a:xfrm>
          <a:prstGeom prst="rect">
            <a:avLst/>
          </a:prstGeom>
          <a:noFill/>
        </p:spPr>
        <p:txBody>
          <a:bodyPr wrap="none" rtlCol="0">
            <a:spAutoFit/>
          </a:bodyPr>
          <a:lstStyle/>
          <a:p>
            <a:r>
              <a:rPr lang="en-US" altLang="zh-CN" b="1" dirty="0" smtClean="0">
                <a:solidFill>
                  <a:srgbClr val="0000CC"/>
                </a:solidFill>
              </a:rPr>
              <a:t>0</a:t>
            </a:r>
            <a:endParaRPr lang="zh-CN" altLang="en-US" b="1" dirty="0">
              <a:solidFill>
                <a:srgbClr val="0000CC"/>
              </a:solidFill>
            </a:endParaRPr>
          </a:p>
        </p:txBody>
      </p:sp>
      <p:sp>
        <p:nvSpPr>
          <p:cNvPr id="21" name="TextBox 20"/>
          <p:cNvSpPr txBox="1"/>
          <p:nvPr/>
        </p:nvSpPr>
        <p:spPr>
          <a:xfrm>
            <a:off x="1304862" y="3887731"/>
            <a:ext cx="332142" cy="369332"/>
          </a:xfrm>
          <a:prstGeom prst="rect">
            <a:avLst/>
          </a:prstGeom>
          <a:noFill/>
        </p:spPr>
        <p:txBody>
          <a:bodyPr wrap="none" rtlCol="0">
            <a:spAutoFit/>
          </a:bodyPr>
          <a:lstStyle/>
          <a:p>
            <a:r>
              <a:rPr lang="en-US" altLang="zh-CN" b="1" dirty="0" smtClean="0">
                <a:solidFill>
                  <a:srgbClr val="0000CC"/>
                </a:solidFill>
              </a:rPr>
              <a:t>1</a:t>
            </a:r>
            <a:endParaRPr lang="zh-CN" altLang="en-US" b="1" dirty="0">
              <a:solidFill>
                <a:srgbClr val="0000CC"/>
              </a:solidFill>
            </a:endParaRPr>
          </a:p>
        </p:txBody>
      </p:sp>
      <p:sp>
        <p:nvSpPr>
          <p:cNvPr id="22" name="TextBox 21"/>
          <p:cNvSpPr txBox="1"/>
          <p:nvPr/>
        </p:nvSpPr>
        <p:spPr>
          <a:xfrm>
            <a:off x="2771800" y="2780928"/>
            <a:ext cx="332142" cy="369332"/>
          </a:xfrm>
          <a:prstGeom prst="rect">
            <a:avLst/>
          </a:prstGeom>
          <a:noFill/>
        </p:spPr>
        <p:txBody>
          <a:bodyPr wrap="none" rtlCol="0">
            <a:spAutoFit/>
          </a:bodyPr>
          <a:lstStyle/>
          <a:p>
            <a:r>
              <a:rPr lang="en-US" altLang="zh-CN" b="1" dirty="0" smtClean="0">
                <a:solidFill>
                  <a:srgbClr val="0000CC"/>
                </a:solidFill>
              </a:rPr>
              <a:t>1</a:t>
            </a:r>
            <a:endParaRPr lang="zh-CN" altLang="en-US" b="1" dirty="0">
              <a:solidFill>
                <a:srgbClr val="0000CC"/>
              </a:solidFill>
            </a:endParaRPr>
          </a:p>
        </p:txBody>
      </p:sp>
      <p:sp>
        <p:nvSpPr>
          <p:cNvPr id="23" name="TextBox 22"/>
          <p:cNvSpPr txBox="1"/>
          <p:nvPr/>
        </p:nvSpPr>
        <p:spPr>
          <a:xfrm>
            <a:off x="1331640" y="2636912"/>
            <a:ext cx="332142" cy="369332"/>
          </a:xfrm>
          <a:prstGeom prst="rect">
            <a:avLst/>
          </a:prstGeom>
          <a:noFill/>
        </p:spPr>
        <p:txBody>
          <a:bodyPr wrap="none" rtlCol="0">
            <a:spAutoFit/>
          </a:bodyPr>
          <a:lstStyle/>
          <a:p>
            <a:r>
              <a:rPr lang="en-US" altLang="zh-CN" b="1" dirty="0" smtClean="0">
                <a:solidFill>
                  <a:srgbClr val="0000CC"/>
                </a:solidFill>
              </a:rPr>
              <a:t>0</a:t>
            </a:r>
            <a:endParaRPr lang="zh-CN" altLang="en-US" b="1" dirty="0">
              <a:solidFill>
                <a:srgbClr val="0000CC"/>
              </a:solidFill>
            </a:endParaRPr>
          </a:p>
        </p:txBody>
      </p:sp>
      <p:sp>
        <p:nvSpPr>
          <p:cNvPr id="27" name="标题 1"/>
          <p:cNvSpPr>
            <a:spLocks noGrp="1"/>
          </p:cNvSpPr>
          <p:nvPr>
            <p:ph type="title"/>
          </p:nvPr>
        </p:nvSpPr>
        <p:spPr>
          <a:xfrm>
            <a:off x="1187624" y="1124744"/>
            <a:ext cx="7704856" cy="566936"/>
          </a:xfrm>
        </p:spPr>
        <p:txBody>
          <a:bodyPr/>
          <a:lstStyle/>
          <a:p>
            <a:r>
              <a:rPr lang="en-US" altLang="zh-CN" dirty="0" smtClean="0">
                <a:solidFill>
                  <a:srgbClr val="6600CC"/>
                </a:solidFill>
              </a:rPr>
              <a:t>2. </a:t>
            </a:r>
            <a:r>
              <a:rPr lang="zh-CN" altLang="en-US" dirty="0" smtClean="0">
                <a:solidFill>
                  <a:srgbClr val="6600CC"/>
                </a:solidFill>
              </a:rPr>
              <a:t>时钟（同步）</a:t>
            </a:r>
            <a:r>
              <a:rPr lang="en-US" altLang="zh-CN" dirty="0" smtClean="0">
                <a:solidFill>
                  <a:srgbClr val="6600CC"/>
                </a:solidFill>
              </a:rPr>
              <a:t>D</a:t>
            </a:r>
            <a:r>
              <a:rPr lang="zh-CN" altLang="en-US" dirty="0" smtClean="0">
                <a:solidFill>
                  <a:srgbClr val="6600CC"/>
                </a:solidFill>
              </a:rPr>
              <a:t>触发器</a:t>
            </a:r>
            <a:endParaRPr lang="zh-CN" altLang="en-US" dirty="0"/>
          </a:p>
        </p:txBody>
      </p:sp>
      <p:sp>
        <p:nvSpPr>
          <p:cNvPr id="28" name="标题 1"/>
          <p:cNvSpPr txBox="1">
            <a:spLocks/>
          </p:cNvSpPr>
          <p:nvPr/>
        </p:nvSpPr>
        <p:spPr bwMode="auto">
          <a:xfrm>
            <a:off x="1187624" y="332656"/>
            <a:ext cx="7632848" cy="5669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p>
            <a:pPr lvl="0" fontAlgn="base">
              <a:spcBef>
                <a:spcPct val="0"/>
              </a:spcBef>
              <a:spcAft>
                <a:spcPct val="0"/>
              </a:spcAft>
              <a:defRPr/>
            </a:pPr>
            <a:r>
              <a:rPr lang="en-US" altLang="zh-CN" sz="3200" b="1" dirty="0" smtClean="0">
                <a:solidFill>
                  <a:srgbClr val="6600CC"/>
                </a:solidFill>
              </a:rPr>
              <a:t>5.1.2 </a:t>
            </a:r>
            <a:r>
              <a:rPr lang="zh-CN" altLang="en-US" sz="3200" b="1" dirty="0" smtClean="0">
                <a:solidFill>
                  <a:srgbClr val="6600CC"/>
                </a:solidFill>
              </a:rPr>
              <a:t>时钟触发器</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p:bldP spid="20" grpId="0"/>
      <p:bldP spid="21" grpId="0"/>
      <p:bldP spid="22" grpId="0"/>
      <p:bldP spid="23"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3186"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2034426" y="4077072"/>
            <a:ext cx="3329662" cy="265676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3" name="内容占位符 2"/>
          <p:cNvSpPr>
            <a:spLocks noGrp="1"/>
          </p:cNvSpPr>
          <p:nvPr>
            <p:ph idx="1"/>
          </p:nvPr>
        </p:nvSpPr>
        <p:spPr>
          <a:xfrm>
            <a:off x="395536" y="1916832"/>
            <a:ext cx="8487544" cy="4752528"/>
          </a:xfrm>
        </p:spPr>
        <p:txBody>
          <a:bodyPr/>
          <a:lstStyle/>
          <a:p>
            <a:pPr>
              <a:lnSpc>
                <a:spcPct val="100000"/>
              </a:lnSpc>
              <a:spcBef>
                <a:spcPts val="0"/>
              </a:spcBef>
              <a:buSzPct val="100000"/>
              <a:buFont typeface="Wingdings" pitchFamily="2" charset="2"/>
              <a:buChar char="p"/>
            </a:pPr>
            <a:r>
              <a:rPr lang="zh-CN" altLang="en-US" sz="2800" dirty="0"/>
              <a:t>同步</a:t>
            </a:r>
            <a:r>
              <a:rPr lang="en-US" altLang="zh-CN" sz="2800" dirty="0"/>
              <a:t>D-FF</a:t>
            </a:r>
            <a:r>
              <a:rPr lang="zh-CN" altLang="en-US" sz="2800" dirty="0"/>
              <a:t>的逻辑功能是</a:t>
            </a:r>
            <a:r>
              <a:rPr lang="zh-CN" altLang="en-US" sz="2800" dirty="0" smtClean="0"/>
              <a:t>：</a:t>
            </a:r>
            <a:endParaRPr lang="en-US" altLang="zh-CN" sz="2800" dirty="0" smtClean="0"/>
          </a:p>
          <a:p>
            <a:pPr lvl="1">
              <a:lnSpc>
                <a:spcPct val="100000"/>
              </a:lnSpc>
              <a:spcBef>
                <a:spcPts val="0"/>
              </a:spcBef>
              <a:buSzPct val="100000"/>
            </a:pPr>
            <a:r>
              <a:rPr lang="en-US" altLang="zh-CN" sz="2400" dirty="0" smtClean="0">
                <a:solidFill>
                  <a:srgbClr val="0000CC"/>
                </a:solidFill>
              </a:rPr>
              <a:t>CP</a:t>
            </a:r>
            <a:r>
              <a:rPr lang="zh-CN" altLang="en-US" sz="2400" dirty="0">
                <a:solidFill>
                  <a:srgbClr val="0000CC"/>
                </a:solidFill>
              </a:rPr>
              <a:t>到来时（</a:t>
            </a:r>
            <a:r>
              <a:rPr lang="en-US" altLang="zh-CN" sz="2400" dirty="0">
                <a:solidFill>
                  <a:srgbClr val="0000CC"/>
                </a:solidFill>
              </a:rPr>
              <a:t>CP=1</a:t>
            </a:r>
            <a:r>
              <a:rPr lang="zh-CN" altLang="en-US" sz="2400" dirty="0">
                <a:solidFill>
                  <a:srgbClr val="0000CC"/>
                </a:solidFill>
              </a:rPr>
              <a:t>），将输入数据</a:t>
            </a:r>
            <a:r>
              <a:rPr lang="en-US" altLang="zh-CN" sz="2400" dirty="0">
                <a:solidFill>
                  <a:srgbClr val="0000CC"/>
                </a:solidFill>
              </a:rPr>
              <a:t>D</a:t>
            </a:r>
            <a:r>
              <a:rPr lang="zh-CN" altLang="en-US" sz="2400" dirty="0">
                <a:solidFill>
                  <a:srgbClr val="0000CC"/>
                </a:solidFill>
              </a:rPr>
              <a:t>存入触发器，</a:t>
            </a:r>
            <a:r>
              <a:rPr lang="en-US" altLang="zh-CN" sz="2400" dirty="0">
                <a:solidFill>
                  <a:srgbClr val="0000CC"/>
                </a:solidFill>
              </a:rPr>
              <a:t>CP</a:t>
            </a:r>
            <a:r>
              <a:rPr lang="zh-CN" altLang="en-US" sz="2400" dirty="0">
                <a:solidFill>
                  <a:srgbClr val="0000CC"/>
                </a:solidFill>
              </a:rPr>
              <a:t>过后（</a:t>
            </a:r>
            <a:r>
              <a:rPr lang="en-US" altLang="zh-CN" sz="2400" dirty="0">
                <a:solidFill>
                  <a:srgbClr val="0000CC"/>
                </a:solidFill>
              </a:rPr>
              <a:t>CP=0</a:t>
            </a:r>
            <a:r>
              <a:rPr lang="zh-CN" altLang="en-US" sz="2400" dirty="0">
                <a:solidFill>
                  <a:srgbClr val="0000CC"/>
                </a:solidFill>
              </a:rPr>
              <a:t>），触发器保存该数据不变，</a:t>
            </a:r>
            <a:r>
              <a:rPr lang="zh-CN" altLang="en-US" sz="2400" dirty="0"/>
              <a:t>直到下一个</a:t>
            </a:r>
            <a:r>
              <a:rPr lang="en-US" altLang="zh-CN" sz="2400" dirty="0"/>
              <a:t>CP</a:t>
            </a:r>
            <a:r>
              <a:rPr lang="zh-CN" altLang="en-US" sz="2400" dirty="0"/>
              <a:t>到来时，才将新的数据存入触发器而改变原存数据。</a:t>
            </a:r>
          </a:p>
          <a:p>
            <a:pPr>
              <a:lnSpc>
                <a:spcPct val="100000"/>
              </a:lnSpc>
              <a:spcBef>
                <a:spcPts val="0"/>
              </a:spcBef>
              <a:buSzPct val="100000"/>
              <a:buFont typeface="Wingdings" pitchFamily="2" charset="2"/>
              <a:buChar char="p"/>
            </a:pPr>
            <a:r>
              <a:rPr lang="zh-CN" altLang="en-US" sz="2800" dirty="0" smtClean="0"/>
              <a:t>正常</a:t>
            </a:r>
            <a:r>
              <a:rPr lang="zh-CN" altLang="en-US" sz="2800" dirty="0"/>
              <a:t>工作时要求</a:t>
            </a:r>
            <a:r>
              <a:rPr lang="en-US" altLang="zh-CN" sz="2800" dirty="0"/>
              <a:t>CP=1</a:t>
            </a:r>
            <a:r>
              <a:rPr lang="zh-CN" altLang="en-US" sz="2800" dirty="0"/>
              <a:t>期间</a:t>
            </a:r>
            <a:r>
              <a:rPr lang="en-US" altLang="zh-CN" sz="2800" dirty="0"/>
              <a:t>D</a:t>
            </a:r>
            <a:r>
              <a:rPr lang="zh-CN" altLang="en-US" sz="2800" dirty="0"/>
              <a:t>端数据保持不变。</a:t>
            </a:r>
          </a:p>
          <a:p>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33</a:t>
            </a:fld>
            <a:endParaRPr lang="zh-CN" altLang="en-US"/>
          </a:p>
        </p:txBody>
      </p:sp>
      <p:sp>
        <p:nvSpPr>
          <p:cNvPr id="10" name="标题 1"/>
          <p:cNvSpPr>
            <a:spLocks noGrp="1"/>
          </p:cNvSpPr>
          <p:nvPr>
            <p:ph type="title"/>
          </p:nvPr>
        </p:nvSpPr>
        <p:spPr>
          <a:xfrm>
            <a:off x="1187624" y="1124744"/>
            <a:ext cx="7704856" cy="566936"/>
          </a:xfrm>
        </p:spPr>
        <p:txBody>
          <a:bodyPr/>
          <a:lstStyle/>
          <a:p>
            <a:r>
              <a:rPr lang="en-US" altLang="zh-CN" dirty="0" smtClean="0">
                <a:solidFill>
                  <a:srgbClr val="6600CC"/>
                </a:solidFill>
              </a:rPr>
              <a:t>2. </a:t>
            </a:r>
            <a:r>
              <a:rPr lang="zh-CN" altLang="en-US" dirty="0" smtClean="0">
                <a:solidFill>
                  <a:srgbClr val="6600CC"/>
                </a:solidFill>
              </a:rPr>
              <a:t>时钟（同步） </a:t>
            </a:r>
            <a:r>
              <a:rPr lang="en-US" altLang="zh-CN" dirty="0" smtClean="0">
                <a:solidFill>
                  <a:srgbClr val="6600CC"/>
                </a:solidFill>
              </a:rPr>
              <a:t>D</a:t>
            </a:r>
            <a:r>
              <a:rPr lang="zh-CN" altLang="en-US" dirty="0" smtClean="0">
                <a:solidFill>
                  <a:srgbClr val="6600CC"/>
                </a:solidFill>
              </a:rPr>
              <a:t>触发器</a:t>
            </a:r>
            <a:endParaRPr lang="zh-CN" altLang="en-US" dirty="0"/>
          </a:p>
        </p:txBody>
      </p:sp>
      <p:sp>
        <p:nvSpPr>
          <p:cNvPr id="11" name="标题 1"/>
          <p:cNvSpPr txBox="1">
            <a:spLocks/>
          </p:cNvSpPr>
          <p:nvPr/>
        </p:nvSpPr>
        <p:spPr bwMode="auto">
          <a:xfrm>
            <a:off x="1187624" y="332656"/>
            <a:ext cx="7632848" cy="5669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p>
            <a:pPr lvl="0" fontAlgn="base">
              <a:spcBef>
                <a:spcPct val="0"/>
              </a:spcBef>
              <a:spcAft>
                <a:spcPct val="0"/>
              </a:spcAft>
              <a:defRPr/>
            </a:pPr>
            <a:r>
              <a:rPr lang="en-US" altLang="zh-CN" sz="3200" b="1" dirty="0" smtClean="0">
                <a:solidFill>
                  <a:srgbClr val="6600CC"/>
                </a:solidFill>
              </a:rPr>
              <a:t>5.1.2 </a:t>
            </a:r>
            <a:r>
              <a:rPr lang="zh-CN" altLang="en-US" sz="3200" b="1" dirty="0" smtClean="0">
                <a:solidFill>
                  <a:srgbClr val="6600CC"/>
                </a:solidFill>
              </a:rPr>
              <a:t>时钟触发器</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95536" y="1916832"/>
            <a:ext cx="8487544" cy="4752528"/>
          </a:xfrm>
        </p:spPr>
        <p:txBody>
          <a:bodyPr/>
          <a:lstStyle/>
          <a:p>
            <a:pPr>
              <a:lnSpc>
                <a:spcPct val="100000"/>
              </a:lnSpc>
              <a:spcBef>
                <a:spcPts val="600"/>
              </a:spcBef>
              <a:buSzPct val="100000"/>
              <a:buFont typeface="Wingdings" pitchFamily="2" charset="2"/>
              <a:buChar char="p"/>
            </a:pPr>
            <a:r>
              <a:rPr lang="zh-CN" altLang="en-US" sz="2800" dirty="0"/>
              <a:t>同步</a:t>
            </a:r>
            <a:r>
              <a:rPr lang="en-US" altLang="zh-CN" sz="2800" dirty="0"/>
              <a:t>JK</a:t>
            </a:r>
            <a:r>
              <a:rPr lang="zh-CN" altLang="en-US" sz="2800" dirty="0"/>
              <a:t>触发器</a:t>
            </a:r>
          </a:p>
          <a:p>
            <a:pPr lvl="1">
              <a:lnSpc>
                <a:spcPct val="100000"/>
              </a:lnSpc>
              <a:spcBef>
                <a:spcPts val="600"/>
              </a:spcBef>
              <a:buSzPct val="100000"/>
            </a:pPr>
            <a:r>
              <a:rPr lang="zh-CN" altLang="en-US" sz="2400" dirty="0" smtClean="0"/>
              <a:t>同步</a:t>
            </a:r>
            <a:r>
              <a:rPr lang="en-US" altLang="zh-CN" sz="2400" dirty="0"/>
              <a:t>JK-FF</a:t>
            </a:r>
            <a:r>
              <a:rPr lang="zh-CN" altLang="en-US" sz="2400" dirty="0"/>
              <a:t>解决了同步</a:t>
            </a:r>
            <a:r>
              <a:rPr lang="en-US" altLang="zh-CN" sz="2400" dirty="0"/>
              <a:t>RS-FF</a:t>
            </a:r>
            <a:r>
              <a:rPr lang="zh-CN" altLang="en-US" sz="2400" dirty="0"/>
              <a:t>输入控制端</a:t>
            </a:r>
            <a:r>
              <a:rPr lang="en-US" altLang="zh-CN" sz="2400" dirty="0"/>
              <a:t>S=R=1</a:t>
            </a:r>
            <a:r>
              <a:rPr lang="zh-CN" altLang="en-US" sz="2400" dirty="0"/>
              <a:t>时触发器的新状态不确定的问题</a:t>
            </a:r>
            <a:r>
              <a:rPr lang="zh-CN" altLang="en-US" sz="2400" dirty="0" smtClean="0"/>
              <a:t>。</a:t>
            </a:r>
            <a:endParaRPr lang="en-US" altLang="zh-CN" sz="2400" dirty="0" smtClean="0"/>
          </a:p>
          <a:p>
            <a:pPr lvl="1">
              <a:lnSpc>
                <a:spcPct val="100000"/>
              </a:lnSpc>
              <a:spcBef>
                <a:spcPts val="600"/>
              </a:spcBef>
              <a:buSzPct val="100000"/>
            </a:pPr>
            <a:r>
              <a:rPr lang="en-US" altLang="zh-CN" sz="2400" dirty="0" smtClean="0"/>
              <a:t>JK-FF</a:t>
            </a:r>
            <a:r>
              <a:rPr lang="zh-CN" altLang="en-US" sz="2400" dirty="0"/>
              <a:t>的</a:t>
            </a:r>
            <a:r>
              <a:rPr lang="en-US" altLang="zh-CN" sz="2400" dirty="0"/>
              <a:t>J</a:t>
            </a:r>
            <a:r>
              <a:rPr lang="zh-CN" altLang="en-US" sz="2400" dirty="0"/>
              <a:t>端相当于置“</a:t>
            </a:r>
            <a:r>
              <a:rPr lang="en-US" altLang="zh-CN" sz="2400" dirty="0"/>
              <a:t>1”</a:t>
            </a:r>
            <a:r>
              <a:rPr lang="zh-CN" altLang="en-US" sz="2400" dirty="0"/>
              <a:t>（</a:t>
            </a:r>
            <a:r>
              <a:rPr lang="en-US" altLang="zh-CN" sz="2400" dirty="0"/>
              <a:t>S</a:t>
            </a:r>
            <a:r>
              <a:rPr lang="zh-CN" altLang="en-US" sz="2400" dirty="0"/>
              <a:t>）端，</a:t>
            </a:r>
            <a:r>
              <a:rPr lang="en-US" altLang="zh-CN" sz="2400" dirty="0"/>
              <a:t>K</a:t>
            </a:r>
            <a:r>
              <a:rPr lang="zh-CN" altLang="en-US" sz="2400" dirty="0"/>
              <a:t>端相当于置“</a:t>
            </a:r>
            <a:r>
              <a:rPr lang="en-US" altLang="zh-CN" sz="2400" dirty="0"/>
              <a:t>0”</a:t>
            </a:r>
            <a:r>
              <a:rPr lang="zh-CN" altLang="en-US" sz="2400" dirty="0"/>
              <a:t>（</a:t>
            </a:r>
            <a:r>
              <a:rPr lang="en-US" altLang="zh-CN" sz="2400" dirty="0"/>
              <a:t>R</a:t>
            </a:r>
            <a:r>
              <a:rPr lang="zh-CN" altLang="en-US" sz="2400" dirty="0"/>
              <a:t>）端。</a:t>
            </a:r>
          </a:p>
          <a:p>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34</a:t>
            </a:fld>
            <a:endParaRPr lang="zh-CN" altLang="en-US"/>
          </a:p>
        </p:txBody>
      </p:sp>
      <p:sp>
        <p:nvSpPr>
          <p:cNvPr id="6" name="Text Box 6"/>
          <p:cNvSpPr txBox="1">
            <a:spLocks noChangeArrowheads="1"/>
          </p:cNvSpPr>
          <p:nvPr/>
        </p:nvSpPr>
        <p:spPr bwMode="auto">
          <a:xfrm>
            <a:off x="2195513" y="6302648"/>
            <a:ext cx="4824412" cy="3667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lgn="ctr">
              <a:spcBef>
                <a:spcPct val="50000"/>
              </a:spcBef>
            </a:pPr>
            <a:r>
              <a:rPr lang="zh-CN" altLang="en-US" sz="1800" b="1" dirty="0" smtClean="0">
                <a:latin typeface="楷体_GB2312" pitchFamily="49" charset="-122"/>
                <a:ea typeface="楷体_GB2312" pitchFamily="49" charset="-122"/>
              </a:rPr>
              <a:t>图</a:t>
            </a:r>
            <a:r>
              <a:rPr lang="en-US" altLang="zh-CN" sz="1800" b="1" dirty="0" smtClean="0">
                <a:latin typeface="楷体_GB2312" pitchFamily="49" charset="-122"/>
                <a:ea typeface="楷体_GB2312" pitchFamily="49" charset="-122"/>
              </a:rPr>
              <a:t>  </a:t>
            </a:r>
            <a:r>
              <a:rPr lang="en-US" altLang="zh-CN" sz="1800" dirty="0" smtClean="0">
                <a:latin typeface="楷体_GB2312" pitchFamily="49" charset="-122"/>
                <a:ea typeface="楷体_GB2312" pitchFamily="49" charset="-122"/>
              </a:rPr>
              <a:t> </a:t>
            </a:r>
            <a:r>
              <a:rPr lang="zh-CN" altLang="en-US" sz="1800" b="1" dirty="0">
                <a:latin typeface="楷体_GB2312" pitchFamily="49" charset="-122"/>
                <a:ea typeface="楷体_GB2312" pitchFamily="49" charset="-122"/>
              </a:rPr>
              <a:t>同步</a:t>
            </a:r>
            <a:r>
              <a:rPr lang="en-US" altLang="zh-CN" sz="1800" b="1" dirty="0">
                <a:latin typeface="楷体_GB2312" pitchFamily="49" charset="-122"/>
                <a:ea typeface="楷体_GB2312" pitchFamily="49" charset="-122"/>
              </a:rPr>
              <a:t>JK-FF</a:t>
            </a:r>
            <a:r>
              <a:rPr lang="zh-CN" altLang="en-US" sz="1800" b="1" dirty="0">
                <a:latin typeface="楷体_GB2312" pitchFamily="49" charset="-122"/>
                <a:ea typeface="楷体_GB2312" pitchFamily="49" charset="-122"/>
              </a:rPr>
              <a:t>的惯用符号和国标符号</a:t>
            </a:r>
            <a:r>
              <a:rPr lang="zh-CN" altLang="en-US" sz="1800" dirty="0">
                <a:latin typeface="楷体_GB2312" pitchFamily="49" charset="-122"/>
                <a:ea typeface="楷体_GB2312" pitchFamily="49" charset="-122"/>
              </a:rPr>
              <a:t>  </a:t>
            </a:r>
          </a:p>
        </p:txBody>
      </p:sp>
      <p:pic>
        <p:nvPicPr>
          <p:cNvPr id="7" name="Picture 12" descr="4-2-9"/>
          <p:cNvPicPr>
            <a:picLocks noChangeAspect="1" noChangeArrowheads="1"/>
          </p:cNvPicPr>
          <p:nvPr/>
        </p:nvPicPr>
        <p:blipFill>
          <a:blip r:embed="rId2" cstate="print">
            <a:clrChange>
              <a:clrFrom>
                <a:srgbClr val="F3F3F3"/>
              </a:clrFrom>
              <a:clrTo>
                <a:srgbClr val="F3F3F3">
                  <a:alpha val="0"/>
                </a:srgbClr>
              </a:clrTo>
            </a:clrChange>
            <a:lum bright="-12000" contrast="48000"/>
            <a:extLst>
              <a:ext uri="{28A0092B-C50C-407E-A947-70E740481C1C}">
                <a14:useLocalDpi xmlns:a14="http://schemas.microsoft.com/office/drawing/2010/main" xmlns="" val="0"/>
              </a:ext>
            </a:extLst>
          </a:blip>
          <a:srcRect/>
          <a:stretch>
            <a:fillRect/>
          </a:stretch>
        </p:blipFill>
        <p:spPr bwMode="auto">
          <a:xfrm>
            <a:off x="2627313" y="3872508"/>
            <a:ext cx="3738562" cy="2436812"/>
          </a:xfrm>
          <a:prstGeom prst="rect">
            <a:avLst/>
          </a:prstGeom>
          <a:noFill/>
          <a:extLst>
            <a:ext uri="{909E8E84-426E-40DD-AFC4-6F175D3DCCD1}">
              <a14:hiddenFill xmlns:a14="http://schemas.microsoft.com/office/drawing/2010/main" xmlns="">
                <a:solidFill>
                  <a:srgbClr val="FFFFFF"/>
                </a:solidFill>
              </a14:hiddenFill>
            </a:ext>
          </a:extLst>
        </p:spPr>
      </p:pic>
      <p:sp>
        <p:nvSpPr>
          <p:cNvPr id="11" name="标题 1"/>
          <p:cNvSpPr>
            <a:spLocks noGrp="1"/>
          </p:cNvSpPr>
          <p:nvPr>
            <p:ph type="title"/>
          </p:nvPr>
        </p:nvSpPr>
        <p:spPr>
          <a:xfrm>
            <a:off x="1187624" y="1124744"/>
            <a:ext cx="7704856" cy="566936"/>
          </a:xfrm>
        </p:spPr>
        <p:txBody>
          <a:bodyPr/>
          <a:lstStyle/>
          <a:p>
            <a:r>
              <a:rPr lang="en-US" altLang="zh-CN" dirty="0" smtClean="0">
                <a:solidFill>
                  <a:srgbClr val="6600CC"/>
                </a:solidFill>
              </a:rPr>
              <a:t>2. </a:t>
            </a:r>
            <a:r>
              <a:rPr lang="zh-CN" altLang="en-US" dirty="0" smtClean="0">
                <a:solidFill>
                  <a:srgbClr val="6600CC"/>
                </a:solidFill>
              </a:rPr>
              <a:t>时钟（同步）</a:t>
            </a:r>
            <a:r>
              <a:rPr lang="en-US" altLang="zh-CN" dirty="0" smtClean="0">
                <a:solidFill>
                  <a:srgbClr val="6600CC"/>
                </a:solidFill>
              </a:rPr>
              <a:t>JK</a:t>
            </a:r>
            <a:r>
              <a:rPr lang="zh-CN" altLang="en-US" dirty="0" smtClean="0">
                <a:solidFill>
                  <a:srgbClr val="6600CC"/>
                </a:solidFill>
              </a:rPr>
              <a:t>触发器</a:t>
            </a:r>
            <a:endParaRPr lang="zh-CN" altLang="en-US" dirty="0"/>
          </a:p>
        </p:txBody>
      </p:sp>
      <p:sp>
        <p:nvSpPr>
          <p:cNvPr id="12" name="标题 1"/>
          <p:cNvSpPr txBox="1">
            <a:spLocks/>
          </p:cNvSpPr>
          <p:nvPr/>
        </p:nvSpPr>
        <p:spPr bwMode="auto">
          <a:xfrm>
            <a:off x="1187624" y="332656"/>
            <a:ext cx="7632848" cy="5669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p>
            <a:pPr lvl="0" fontAlgn="base">
              <a:spcBef>
                <a:spcPct val="0"/>
              </a:spcBef>
              <a:spcAft>
                <a:spcPct val="0"/>
              </a:spcAft>
              <a:defRPr/>
            </a:pPr>
            <a:r>
              <a:rPr lang="en-US" altLang="zh-CN" sz="3200" b="1" dirty="0" smtClean="0">
                <a:solidFill>
                  <a:srgbClr val="6600CC"/>
                </a:solidFill>
              </a:rPr>
              <a:t>5.1.2 </a:t>
            </a:r>
            <a:r>
              <a:rPr lang="zh-CN" altLang="en-US" sz="3200" b="1" dirty="0" smtClean="0">
                <a:solidFill>
                  <a:srgbClr val="6600CC"/>
                </a:solidFill>
              </a:rPr>
              <a:t>时钟触发器</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1804392"/>
            <a:ext cx="8529832" cy="4752528"/>
          </a:xfrm>
        </p:spPr>
        <p:txBody>
          <a:bodyPr/>
          <a:lstStyle/>
          <a:p>
            <a:pPr>
              <a:buSzPct val="100000"/>
              <a:buFont typeface="Wingdings" pitchFamily="2" charset="2"/>
              <a:buChar char="p"/>
            </a:pPr>
            <a:r>
              <a:rPr lang="zh-CN" altLang="en-US" sz="2800" dirty="0"/>
              <a:t>电路结构及工作原理</a:t>
            </a:r>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35</a:t>
            </a:fld>
            <a:endParaRPr lang="zh-CN" altLang="en-US"/>
          </a:p>
        </p:txBody>
      </p:sp>
      <p:sp>
        <p:nvSpPr>
          <p:cNvPr id="5" name="Text Box 7"/>
          <p:cNvSpPr txBox="1">
            <a:spLocks noChangeArrowheads="1"/>
          </p:cNvSpPr>
          <p:nvPr/>
        </p:nvSpPr>
        <p:spPr bwMode="auto">
          <a:xfrm>
            <a:off x="842930" y="6461125"/>
            <a:ext cx="3744912"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zh-CN" altLang="en-US" sz="2000" b="1" dirty="0" smtClean="0">
                <a:latin typeface="楷体_GB2312" pitchFamily="49" charset="-122"/>
                <a:ea typeface="楷体_GB2312" pitchFamily="49" charset="-122"/>
              </a:rPr>
              <a:t>图</a:t>
            </a:r>
            <a:r>
              <a:rPr lang="en-US" altLang="zh-CN" sz="2000" dirty="0" smtClean="0">
                <a:latin typeface="楷体_GB2312" pitchFamily="49" charset="-122"/>
                <a:ea typeface="楷体_GB2312" pitchFamily="49" charset="-122"/>
              </a:rPr>
              <a:t>  </a:t>
            </a:r>
            <a:r>
              <a:rPr lang="zh-CN" altLang="en-US" sz="2000" b="1" dirty="0">
                <a:latin typeface="楷体_GB2312" pitchFamily="49" charset="-122"/>
                <a:ea typeface="楷体_GB2312" pitchFamily="49" charset="-122"/>
              </a:rPr>
              <a:t>同步</a:t>
            </a:r>
            <a:r>
              <a:rPr lang="en-US" altLang="zh-CN" sz="2000" b="1" dirty="0">
                <a:latin typeface="楷体_GB2312" pitchFamily="49" charset="-122"/>
                <a:ea typeface="楷体_GB2312" pitchFamily="49" charset="-122"/>
              </a:rPr>
              <a:t>JK-FF</a:t>
            </a:r>
            <a:r>
              <a:rPr lang="zh-CN" altLang="en-US" sz="2000" b="1" dirty="0">
                <a:latin typeface="楷体_GB2312" pitchFamily="49" charset="-122"/>
                <a:ea typeface="楷体_GB2312" pitchFamily="49" charset="-122"/>
              </a:rPr>
              <a:t>的逻辑图</a:t>
            </a:r>
            <a:r>
              <a:rPr lang="zh-CN" altLang="en-US" sz="2000" dirty="0">
                <a:latin typeface="楷体_GB2312" pitchFamily="49" charset="-122"/>
                <a:ea typeface="楷体_GB2312" pitchFamily="49" charset="-122"/>
              </a:rPr>
              <a:t>  </a:t>
            </a:r>
          </a:p>
        </p:txBody>
      </p:sp>
      <p:sp>
        <p:nvSpPr>
          <p:cNvPr id="6" name="Text Box 8"/>
          <p:cNvSpPr txBox="1">
            <a:spLocks noChangeArrowheads="1"/>
          </p:cNvSpPr>
          <p:nvPr/>
        </p:nvSpPr>
        <p:spPr bwMode="auto">
          <a:xfrm>
            <a:off x="5146675" y="2240037"/>
            <a:ext cx="3241749"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p>
            <a:pPr>
              <a:spcBef>
                <a:spcPct val="50000"/>
              </a:spcBef>
            </a:pPr>
            <a:r>
              <a:rPr lang="zh-CN" altLang="en-US" sz="2000" b="1" dirty="0" smtClean="0">
                <a:latin typeface="楷体_GB2312" pitchFamily="49" charset="-122"/>
                <a:ea typeface="楷体_GB2312" pitchFamily="49" charset="-122"/>
              </a:rPr>
              <a:t>表</a:t>
            </a:r>
            <a:r>
              <a:rPr lang="en-US" altLang="zh-CN" sz="2000" b="1" dirty="0" smtClean="0">
                <a:latin typeface="楷体_GB2312" pitchFamily="49" charset="-122"/>
                <a:ea typeface="楷体_GB2312" pitchFamily="49" charset="-122"/>
              </a:rPr>
              <a:t> </a:t>
            </a:r>
            <a:r>
              <a:rPr lang="zh-CN" altLang="en-US" sz="2000" b="1" dirty="0">
                <a:latin typeface="楷体_GB2312" pitchFamily="49" charset="-122"/>
                <a:ea typeface="楷体_GB2312" pitchFamily="49" charset="-122"/>
              </a:rPr>
              <a:t>同步</a:t>
            </a:r>
            <a:r>
              <a:rPr lang="en-US" altLang="zh-CN" sz="2000" b="1" dirty="0">
                <a:latin typeface="楷体_GB2312" pitchFamily="49" charset="-122"/>
                <a:ea typeface="楷体_GB2312" pitchFamily="49" charset="-122"/>
              </a:rPr>
              <a:t>JK-FF</a:t>
            </a:r>
            <a:r>
              <a:rPr lang="zh-CN" altLang="en-US" sz="2000" b="1" dirty="0">
                <a:latin typeface="楷体_GB2312" pitchFamily="49" charset="-122"/>
                <a:ea typeface="楷体_GB2312" pitchFamily="49" charset="-122"/>
              </a:rPr>
              <a:t>的特性表</a:t>
            </a:r>
            <a:endParaRPr lang="zh-CN" altLang="en-US" sz="2000" dirty="0">
              <a:latin typeface="楷体_GB2312" pitchFamily="49" charset="-122"/>
              <a:ea typeface="楷体_GB2312" pitchFamily="49" charset="-122"/>
            </a:endParaRPr>
          </a:p>
        </p:txBody>
      </p:sp>
      <p:graphicFrame>
        <p:nvGraphicFramePr>
          <p:cNvPr id="7" name="Group 83"/>
          <p:cNvGraphicFramePr>
            <a:graphicFrameLocks noGrp="1"/>
          </p:cNvGraphicFramePr>
          <p:nvPr>
            <p:extLst>
              <p:ext uri="{D42A27DB-BD31-4B8C-83A1-F6EECF244321}">
                <p14:modId xmlns:p14="http://schemas.microsoft.com/office/powerpoint/2010/main" xmlns="" val="3437787079"/>
              </p:ext>
            </p:extLst>
          </p:nvPr>
        </p:nvGraphicFramePr>
        <p:xfrm>
          <a:off x="5076825" y="2745308"/>
          <a:ext cx="3311525" cy="4023360"/>
        </p:xfrm>
        <a:graphic>
          <a:graphicData uri="http://schemas.openxmlformats.org/drawingml/2006/table">
            <a:tbl>
              <a:tblPr/>
              <a:tblGrid>
                <a:gridCol w="511175">
                  <a:extLst>
                    <a:ext uri="{9D8B030D-6E8A-4147-A177-3AD203B41FA5}">
                      <a16:colId xmlns:a16="http://schemas.microsoft.com/office/drawing/2014/main" xmlns="" val="20000"/>
                    </a:ext>
                  </a:extLst>
                </a:gridCol>
                <a:gridCol w="712192">
                  <a:extLst>
                    <a:ext uri="{9D8B030D-6E8A-4147-A177-3AD203B41FA5}">
                      <a16:colId xmlns:a16="http://schemas.microsoft.com/office/drawing/2014/main" xmlns="" val="20001"/>
                    </a:ext>
                  </a:extLst>
                </a:gridCol>
                <a:gridCol w="603846">
                  <a:extLst>
                    <a:ext uri="{9D8B030D-6E8A-4147-A177-3AD203B41FA5}">
                      <a16:colId xmlns:a16="http://schemas.microsoft.com/office/drawing/2014/main" xmlns="" val="20002"/>
                    </a:ext>
                  </a:extLst>
                </a:gridCol>
                <a:gridCol w="822325">
                  <a:extLst>
                    <a:ext uri="{9D8B030D-6E8A-4147-A177-3AD203B41FA5}">
                      <a16:colId xmlns:a16="http://schemas.microsoft.com/office/drawing/2014/main" xmlns="" val="20003"/>
                    </a:ext>
                  </a:extLst>
                </a:gridCol>
                <a:gridCol w="661987">
                  <a:extLst>
                    <a:ext uri="{9D8B030D-6E8A-4147-A177-3AD203B41FA5}">
                      <a16:colId xmlns:a16="http://schemas.microsoft.com/office/drawing/2014/main" xmlns="" val="20004"/>
                    </a:ext>
                  </a:extLst>
                </a:gridCol>
              </a:tblGrid>
              <a:tr h="257175">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CP</a:t>
                      </a:r>
                    </a:p>
                  </a:txBody>
                  <a:tcPr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J K</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说明</a:t>
                      </a:r>
                    </a:p>
                  </a:txBody>
                  <a:tcPr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0"/>
                  </a:ext>
                </a:extLst>
              </a:tr>
              <a:tr h="255588">
                <a:tc rowSpan="2">
                  <a:txBody>
                    <a:bodyPr/>
                    <a:lstStyle/>
                    <a:p>
                      <a:pPr marL="0" marR="0" lvl="0" indent="0" algn="ctr" defTabSz="914400" rtl="0" eaLnBrk="1" fontAlgn="ctr" latinLnBrk="0" hangingPunct="1">
                        <a:lnSpc>
                          <a:spcPct val="100000"/>
                        </a:lnSpc>
                        <a:spcBef>
                          <a:spcPct val="20000"/>
                        </a:spcBef>
                        <a:spcAft>
                          <a:spcPct val="0"/>
                        </a:spcAft>
                        <a:buClrTx/>
                        <a:buSzTx/>
                        <a:buFontTx/>
                        <a:buNone/>
                      </a:pPr>
                      <a:r>
                        <a:rPr kumimoji="0" lang="en-US" altLang="zh-CN" sz="18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0</a:t>
                      </a:r>
                    </a:p>
                  </a:txBody>
                  <a:tcPr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ctr" latinLnBrk="0" hangingPunct="1">
                        <a:lnSpc>
                          <a:spcPct val="100000"/>
                        </a:lnSpc>
                        <a:spcBef>
                          <a:spcPct val="20000"/>
                        </a:spcBef>
                        <a:spcAft>
                          <a:spcPct val="0"/>
                        </a:spcAft>
                        <a:buClrTx/>
                        <a:buSzTx/>
                        <a:buFontTx/>
                        <a:buNone/>
                      </a:pPr>
                      <a:r>
                        <a:rPr kumimoji="0" lang="en-US" altLang="zh-CN" sz="18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X  </a:t>
                      </a:r>
                      <a:r>
                        <a:rPr kumimoji="0" lang="en-US" altLang="zh-CN" sz="1800" b="0" i="0" u="none" strike="noStrike" cap="none" normalizeH="0" baseline="0" dirty="0" err="1" smtClean="0">
                          <a:ln>
                            <a:noFill/>
                          </a:ln>
                          <a:solidFill>
                            <a:schemeClr val="tx1"/>
                          </a:solidFill>
                          <a:effectLst/>
                          <a:latin typeface="Arial" panose="020B0604020202020204" pitchFamily="34" charset="0"/>
                          <a:ea typeface="宋体" panose="02010600030101010101" pitchFamily="2" charset="-122"/>
                        </a:rPr>
                        <a:t>X</a:t>
                      </a:r>
                      <a:endParaRPr kumimoji="0" lang="en-US" altLang="zh-CN" sz="18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20000"/>
                        </a:spcBef>
                        <a:spcAft>
                          <a:spcPct val="0"/>
                        </a:spcAft>
                        <a:buClrTx/>
                        <a:buSzTx/>
                        <a:buFontTx/>
                        <a:buNone/>
                      </a:pPr>
                      <a:r>
                        <a: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20000"/>
                        </a:spcBef>
                        <a:spcAft>
                          <a:spcPct val="0"/>
                        </a:spcAft>
                        <a:buClrTx/>
                        <a:buSzTx/>
                        <a:buFontTx/>
                        <a:buNone/>
                      </a:pPr>
                      <a:r>
                        <a: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4">
                  <a:txBody>
                    <a:bodyPr/>
                    <a:lstStyle/>
                    <a:p>
                      <a:pPr marL="0" marR="0" lvl="0" indent="0" algn="ctr" defTabSz="914400" rtl="0" eaLnBrk="1" fontAlgn="ctr" latinLnBrk="0" hangingPunct="1">
                        <a:lnSpc>
                          <a:spcPct val="100000"/>
                        </a:lnSpc>
                        <a:spcBef>
                          <a:spcPct val="20000"/>
                        </a:spcBef>
                        <a:spcAft>
                          <a:spcPct val="0"/>
                        </a:spcAft>
                        <a:buClrTx/>
                        <a:buSzTx/>
                        <a:buFontTx/>
                        <a:buNone/>
                      </a:pPr>
                      <a:r>
                        <a:rPr kumimoji="0" lang="zh-CN" altLang="en-US" sz="1800" b="1" i="0" u="none" strike="noStrike" cap="none" normalizeH="0" baseline="0" dirty="0" smtClean="0">
                          <a:ln>
                            <a:noFill/>
                          </a:ln>
                          <a:solidFill>
                            <a:srgbClr val="FF0000"/>
                          </a:solidFill>
                          <a:effectLst/>
                          <a:latin typeface="Arial" panose="020B0604020202020204" pitchFamily="34" charset="0"/>
                          <a:ea typeface="宋体" panose="02010600030101010101" pitchFamily="2" charset="-122"/>
                        </a:rPr>
                        <a:t>保持</a:t>
                      </a:r>
                    </a:p>
                  </a:txBody>
                  <a:tcPr marL="90000" marR="90000" marT="46800" marB="46800" anchor="ctr" anchorCtr="1"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r h="257175">
                <a:tc vMerge="1">
                  <a:txBody>
                    <a:bodyPr/>
                    <a:lstStyle/>
                    <a:p>
                      <a:endParaRPr lang="zh-CN"/>
                    </a:p>
                  </a:txBody>
                  <a:tcPr/>
                </a:tc>
                <a:tc vMerge="1">
                  <a:txBody>
                    <a:bodyPr/>
                    <a:lstStyle/>
                    <a:p>
                      <a:endParaRPr lang="zh-CN"/>
                    </a:p>
                  </a:txBody>
                  <a:tcPr/>
                </a:tc>
                <a:tc>
                  <a:txBody>
                    <a:bodyPr/>
                    <a:lstStyle/>
                    <a:p>
                      <a:pPr marL="0" marR="0" lvl="0" indent="0" algn="ctr" defTabSz="914400" rtl="0" eaLnBrk="1" fontAlgn="ctr" latinLnBrk="0" hangingPunct="1">
                        <a:lnSpc>
                          <a:spcPct val="100000"/>
                        </a:lnSpc>
                        <a:spcBef>
                          <a:spcPct val="20000"/>
                        </a:spcBef>
                        <a:spcAft>
                          <a:spcPct val="0"/>
                        </a:spcAft>
                        <a:buClrTx/>
                        <a:buSzTx/>
                        <a:buFontTx/>
                        <a:buNone/>
                      </a:pPr>
                      <a:r>
                        <a: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20000"/>
                        </a:spcBef>
                        <a:spcAft>
                          <a:spcPct val="0"/>
                        </a:spcAft>
                        <a:buClrTx/>
                        <a:buSzTx/>
                        <a:buFontTx/>
                        <a:buNone/>
                      </a:pPr>
                      <a:r>
                        <a: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zh-CN"/>
                    </a:p>
                  </a:txBody>
                  <a:tcPr/>
                </a:tc>
                <a:extLst>
                  <a:ext uri="{0D108BD9-81ED-4DB2-BD59-A6C34878D82A}">
                    <a16:rowId xmlns:a16="http://schemas.microsoft.com/office/drawing/2014/main" xmlns="" val="10002"/>
                  </a:ext>
                </a:extLst>
              </a:tr>
              <a:tr h="255588">
                <a:tc rowSpan="2">
                  <a:txBody>
                    <a:bodyPr/>
                    <a:lstStyle/>
                    <a:p>
                      <a:pPr marL="0" marR="0" lvl="0" indent="0" algn="ctr" defTabSz="914400" rtl="0" eaLnBrk="1" fontAlgn="ctr" latinLnBrk="0" hangingPunct="1">
                        <a:lnSpc>
                          <a:spcPct val="100000"/>
                        </a:lnSpc>
                        <a:spcBef>
                          <a:spcPct val="20000"/>
                        </a:spcBef>
                        <a:spcAft>
                          <a:spcPct val="0"/>
                        </a:spcAft>
                        <a:buClrTx/>
                        <a:buSzTx/>
                        <a:buFontTx/>
                        <a:buNone/>
                      </a:pPr>
                      <a:r>
                        <a:rPr kumimoji="0" lang="en-US" altLang="zh-CN" sz="18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1</a:t>
                      </a:r>
                    </a:p>
                  </a:txBody>
                  <a:tcPr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ctr" latinLnBrk="0" hangingPunct="1">
                        <a:lnSpc>
                          <a:spcPct val="100000"/>
                        </a:lnSpc>
                        <a:spcBef>
                          <a:spcPct val="20000"/>
                        </a:spcBef>
                        <a:spcAft>
                          <a:spcPct val="0"/>
                        </a:spcAft>
                        <a:buClrTx/>
                        <a:buSzTx/>
                        <a:buFontTx/>
                        <a:buNone/>
                      </a:pPr>
                      <a:r>
                        <a:rPr kumimoji="0" lang="en-US" altLang="zh-CN" sz="18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0 0 </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20000"/>
                        </a:spcBef>
                        <a:spcAft>
                          <a:spcPct val="0"/>
                        </a:spcAft>
                        <a:buClrTx/>
                        <a:buSzTx/>
                        <a:buFontTx/>
                        <a:buNone/>
                      </a:pPr>
                      <a:r>
                        <a: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20000"/>
                        </a:spcBef>
                        <a:spcAft>
                          <a:spcPct val="0"/>
                        </a:spcAft>
                        <a:buClrTx/>
                        <a:buSzTx/>
                        <a:buFontTx/>
                        <a:buNone/>
                      </a:pPr>
                      <a:r>
                        <a: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zh-CN"/>
                    </a:p>
                  </a:txBody>
                  <a:tcPr/>
                </a:tc>
                <a:extLst>
                  <a:ext uri="{0D108BD9-81ED-4DB2-BD59-A6C34878D82A}">
                    <a16:rowId xmlns:a16="http://schemas.microsoft.com/office/drawing/2014/main" xmlns="" val="10003"/>
                  </a:ext>
                </a:extLst>
              </a:tr>
              <a:tr h="257175">
                <a:tc vMerge="1">
                  <a:txBody>
                    <a:bodyPr/>
                    <a:lstStyle/>
                    <a:p>
                      <a:endParaRPr lang="zh-CN"/>
                    </a:p>
                  </a:txBody>
                  <a:tcPr/>
                </a:tc>
                <a:tc vMerge="1">
                  <a:txBody>
                    <a:bodyPr/>
                    <a:lstStyle/>
                    <a:p>
                      <a:endParaRPr lang="zh-CN"/>
                    </a:p>
                  </a:txBody>
                  <a:tcPr/>
                </a:tc>
                <a:tc>
                  <a:txBody>
                    <a:bodyPr/>
                    <a:lstStyle/>
                    <a:p>
                      <a:pPr marL="0" marR="0" lvl="0" indent="0" algn="ctr" defTabSz="914400" rtl="0" eaLnBrk="1" fontAlgn="ctr" latinLnBrk="0" hangingPunct="1">
                        <a:lnSpc>
                          <a:spcPct val="100000"/>
                        </a:lnSpc>
                        <a:spcBef>
                          <a:spcPct val="20000"/>
                        </a:spcBef>
                        <a:spcAft>
                          <a:spcPct val="0"/>
                        </a:spcAft>
                        <a:buClrTx/>
                        <a:buSzTx/>
                        <a:buFontTx/>
                        <a:buNone/>
                      </a:pPr>
                      <a:r>
                        <a: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20000"/>
                        </a:spcBef>
                        <a:spcAft>
                          <a:spcPct val="0"/>
                        </a:spcAft>
                        <a:buClrTx/>
                        <a:buSzTx/>
                        <a:buFontTx/>
                        <a:buNone/>
                      </a:pPr>
                      <a:r>
                        <a: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zh-CN"/>
                    </a:p>
                  </a:txBody>
                  <a:tcPr/>
                </a:tc>
                <a:extLst>
                  <a:ext uri="{0D108BD9-81ED-4DB2-BD59-A6C34878D82A}">
                    <a16:rowId xmlns:a16="http://schemas.microsoft.com/office/drawing/2014/main" xmlns="" val="10004"/>
                  </a:ext>
                </a:extLst>
              </a:tr>
              <a:tr h="255588">
                <a:tc rowSpan="2">
                  <a:txBody>
                    <a:bodyPr/>
                    <a:lstStyle/>
                    <a:p>
                      <a:pPr marL="0" marR="0" lvl="0" indent="0" algn="ctr" defTabSz="914400" rtl="0" eaLnBrk="1" fontAlgn="ctr" latinLnBrk="0" hangingPunct="1">
                        <a:lnSpc>
                          <a:spcPct val="100000"/>
                        </a:lnSpc>
                        <a:spcBef>
                          <a:spcPct val="20000"/>
                        </a:spcBef>
                        <a:spcAft>
                          <a:spcPct val="0"/>
                        </a:spcAft>
                        <a:buClrTx/>
                        <a:buSzTx/>
                        <a:buFontTx/>
                        <a:buNone/>
                      </a:pPr>
                      <a:r>
                        <a: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p>
                  </a:txBody>
                  <a:tcPr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ctr" latinLnBrk="0" hangingPunct="1">
                        <a:lnSpc>
                          <a:spcPct val="100000"/>
                        </a:lnSpc>
                        <a:spcBef>
                          <a:spcPct val="20000"/>
                        </a:spcBef>
                        <a:spcAft>
                          <a:spcPct val="0"/>
                        </a:spcAft>
                        <a:buClrTx/>
                        <a:buSzTx/>
                        <a:buFontTx/>
                        <a:buNone/>
                      </a:pPr>
                      <a:r>
                        <a:rPr kumimoji="0" lang="en-US" altLang="zh-CN" sz="18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0 1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20000"/>
                        </a:spcBef>
                        <a:spcAft>
                          <a:spcPct val="0"/>
                        </a:spcAft>
                        <a:buClrTx/>
                        <a:buSzTx/>
                        <a:buFontTx/>
                        <a:buNone/>
                      </a:pPr>
                      <a:r>
                        <a: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20000"/>
                        </a:spcBef>
                        <a:spcAft>
                          <a:spcPct val="0"/>
                        </a:spcAft>
                        <a:buClrTx/>
                        <a:buSzTx/>
                        <a:buFontTx/>
                        <a:buNone/>
                      </a:pPr>
                      <a:r>
                        <a: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ctr" latinLnBrk="0" hangingPunct="1">
                        <a:lnSpc>
                          <a:spcPct val="100000"/>
                        </a:lnSpc>
                        <a:spcBef>
                          <a:spcPct val="20000"/>
                        </a:spcBef>
                        <a:spcAft>
                          <a:spcPct val="0"/>
                        </a:spcAft>
                        <a:buClrTx/>
                        <a:buSzTx/>
                        <a:buFontTx/>
                        <a:buNone/>
                      </a:pPr>
                      <a:r>
                        <a:rPr kumimoji="0" lang="zh-CN" altLang="en-US" sz="1800" b="1" i="0" u="none" strike="noStrike" cap="none" normalizeH="0" baseline="0" dirty="0" smtClean="0">
                          <a:ln>
                            <a:noFill/>
                          </a:ln>
                          <a:solidFill>
                            <a:srgbClr val="FF0000"/>
                          </a:solidFill>
                          <a:effectLst/>
                          <a:latin typeface="Arial" panose="020B0604020202020204" pitchFamily="34" charset="0"/>
                          <a:ea typeface="宋体" panose="02010600030101010101" pitchFamily="2" charset="-122"/>
                        </a:rPr>
                        <a:t>置</a:t>
                      </a:r>
                      <a:r>
                        <a:rPr kumimoji="0" lang="en-US" altLang="zh-CN" sz="1800" b="1" i="0" u="none" strike="noStrike" cap="none" normalizeH="0" baseline="0" dirty="0" smtClean="0">
                          <a:ln>
                            <a:noFill/>
                          </a:ln>
                          <a:solidFill>
                            <a:srgbClr val="FF0000"/>
                          </a:solidFill>
                          <a:effectLst/>
                          <a:latin typeface="Arial" panose="020B0604020202020204" pitchFamily="34" charset="0"/>
                          <a:ea typeface="宋体" panose="02010600030101010101" pitchFamily="2" charset="-122"/>
                        </a:rPr>
                        <a:t>0</a:t>
                      </a:r>
                    </a:p>
                  </a:txBody>
                  <a:tcPr marL="90000" marR="90000" marT="46800" marB="46800" anchor="ctr" anchorCtr="1"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5"/>
                  </a:ext>
                </a:extLst>
              </a:tr>
              <a:tr h="257175">
                <a:tc vMerge="1">
                  <a:txBody>
                    <a:bodyPr/>
                    <a:lstStyle/>
                    <a:p>
                      <a:endParaRPr lang="zh-CN"/>
                    </a:p>
                  </a:txBody>
                  <a:tcPr/>
                </a:tc>
                <a:tc vMerge="1">
                  <a:txBody>
                    <a:bodyPr/>
                    <a:lstStyle/>
                    <a:p>
                      <a:endParaRPr lang="zh-CN"/>
                    </a:p>
                  </a:txBody>
                  <a:tcPr/>
                </a:tc>
                <a:tc>
                  <a:txBody>
                    <a:bodyPr/>
                    <a:lstStyle/>
                    <a:p>
                      <a:pPr marL="0" marR="0" lvl="0" indent="0" algn="ctr" defTabSz="914400" rtl="0" eaLnBrk="1" fontAlgn="ctr" latinLnBrk="0" hangingPunct="1">
                        <a:lnSpc>
                          <a:spcPct val="100000"/>
                        </a:lnSpc>
                        <a:spcBef>
                          <a:spcPct val="20000"/>
                        </a:spcBef>
                        <a:spcAft>
                          <a:spcPct val="0"/>
                        </a:spcAft>
                        <a:buClrTx/>
                        <a:buSzTx/>
                        <a:buFontTx/>
                        <a:buNone/>
                      </a:pPr>
                      <a:r>
                        <a: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20000"/>
                        </a:spcBef>
                        <a:spcAft>
                          <a:spcPct val="0"/>
                        </a:spcAft>
                        <a:buClrTx/>
                        <a:buSzTx/>
                        <a:buFontTx/>
                        <a:buNone/>
                      </a:pPr>
                      <a:r>
                        <a: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zh-CN"/>
                    </a:p>
                  </a:txBody>
                  <a:tcPr/>
                </a:tc>
                <a:extLst>
                  <a:ext uri="{0D108BD9-81ED-4DB2-BD59-A6C34878D82A}">
                    <a16:rowId xmlns:a16="http://schemas.microsoft.com/office/drawing/2014/main" xmlns="" val="10006"/>
                  </a:ext>
                </a:extLst>
              </a:tr>
              <a:tr h="255588">
                <a:tc rowSpan="2">
                  <a:txBody>
                    <a:bodyPr/>
                    <a:lstStyle/>
                    <a:p>
                      <a:pPr marL="0" marR="0" lvl="0" indent="0" algn="ctr" defTabSz="914400" rtl="0" eaLnBrk="1" fontAlgn="ctr" latinLnBrk="0" hangingPunct="1">
                        <a:lnSpc>
                          <a:spcPct val="100000"/>
                        </a:lnSpc>
                        <a:spcBef>
                          <a:spcPct val="20000"/>
                        </a:spcBef>
                        <a:spcAft>
                          <a:spcPct val="0"/>
                        </a:spcAft>
                        <a:buClrTx/>
                        <a:buSzTx/>
                        <a:buFontTx/>
                        <a:buNone/>
                      </a:pPr>
                      <a:r>
                        <a: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p>
                  </a:txBody>
                  <a:tcPr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ctr" latinLnBrk="0" hangingPunct="1">
                        <a:lnSpc>
                          <a:spcPct val="100000"/>
                        </a:lnSpc>
                        <a:spcBef>
                          <a:spcPct val="20000"/>
                        </a:spcBef>
                        <a:spcAft>
                          <a:spcPct val="0"/>
                        </a:spcAft>
                        <a:buClrTx/>
                        <a:buSzTx/>
                        <a:buFontTx/>
                        <a:buNone/>
                      </a:pPr>
                      <a:r>
                        <a:rPr kumimoji="0" lang="en-US" altLang="zh-CN" sz="18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1 0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20000"/>
                        </a:spcBef>
                        <a:spcAft>
                          <a:spcPct val="0"/>
                        </a:spcAft>
                        <a:buClrTx/>
                        <a:buSzTx/>
                        <a:buFontTx/>
                        <a:buNone/>
                      </a:pPr>
                      <a:r>
                        <a: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20000"/>
                        </a:spcBef>
                        <a:spcAft>
                          <a:spcPct val="0"/>
                        </a:spcAft>
                        <a:buClrTx/>
                        <a:buSzTx/>
                        <a:buFontTx/>
                        <a:buNone/>
                      </a:pPr>
                      <a:r>
                        <a: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ctr" latinLnBrk="0" hangingPunct="1">
                        <a:lnSpc>
                          <a:spcPct val="100000"/>
                        </a:lnSpc>
                        <a:spcBef>
                          <a:spcPct val="20000"/>
                        </a:spcBef>
                        <a:spcAft>
                          <a:spcPct val="0"/>
                        </a:spcAft>
                        <a:buClrTx/>
                        <a:buSzTx/>
                        <a:buFontTx/>
                        <a:buNone/>
                      </a:pPr>
                      <a:r>
                        <a:rPr kumimoji="0" lang="zh-CN" altLang="en-US" sz="1800" b="1" i="0" u="none" strike="noStrike" cap="none" normalizeH="0" baseline="0" smtClean="0">
                          <a:ln>
                            <a:noFill/>
                          </a:ln>
                          <a:solidFill>
                            <a:srgbClr val="FF0000"/>
                          </a:solidFill>
                          <a:effectLst/>
                          <a:latin typeface="Arial" panose="020B0604020202020204" pitchFamily="34" charset="0"/>
                          <a:ea typeface="宋体" panose="02010600030101010101" pitchFamily="2" charset="-122"/>
                        </a:rPr>
                        <a:t>置</a:t>
                      </a:r>
                      <a:r>
                        <a:rPr kumimoji="0" lang="en-US" altLang="zh-CN" sz="1800" b="1" i="0" u="none" strike="noStrike" cap="none" normalizeH="0" baseline="0" smtClean="0">
                          <a:ln>
                            <a:noFill/>
                          </a:ln>
                          <a:solidFill>
                            <a:srgbClr val="FF0000"/>
                          </a:solidFill>
                          <a:effectLst/>
                          <a:latin typeface="Arial" panose="020B0604020202020204" pitchFamily="34" charset="0"/>
                          <a:ea typeface="宋体" panose="02010600030101010101" pitchFamily="2" charset="-122"/>
                        </a:rPr>
                        <a:t>1</a:t>
                      </a:r>
                    </a:p>
                  </a:txBody>
                  <a:tcPr marL="90000" marR="90000" marT="46800" marB="46800" anchor="ctr" anchorCtr="1"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7"/>
                  </a:ext>
                </a:extLst>
              </a:tr>
              <a:tr h="257175">
                <a:tc vMerge="1">
                  <a:txBody>
                    <a:bodyPr/>
                    <a:lstStyle/>
                    <a:p>
                      <a:endParaRPr lang="zh-CN"/>
                    </a:p>
                  </a:txBody>
                  <a:tcPr/>
                </a:tc>
                <a:tc vMerge="1">
                  <a:txBody>
                    <a:bodyPr/>
                    <a:lstStyle/>
                    <a:p>
                      <a:endParaRPr lang="zh-CN"/>
                    </a:p>
                  </a:txBody>
                  <a:tcPr/>
                </a:tc>
                <a:tc>
                  <a:txBody>
                    <a:bodyPr/>
                    <a:lstStyle/>
                    <a:p>
                      <a:pPr marL="0" marR="0" lvl="0" indent="0" algn="ctr" defTabSz="914400" rtl="0" eaLnBrk="1" fontAlgn="ctr" latinLnBrk="0" hangingPunct="1">
                        <a:lnSpc>
                          <a:spcPct val="100000"/>
                        </a:lnSpc>
                        <a:spcBef>
                          <a:spcPct val="20000"/>
                        </a:spcBef>
                        <a:spcAft>
                          <a:spcPct val="0"/>
                        </a:spcAft>
                        <a:buClrTx/>
                        <a:buSzTx/>
                        <a:buFontTx/>
                        <a:buNone/>
                      </a:pPr>
                      <a:r>
                        <a: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20000"/>
                        </a:spcBef>
                        <a:spcAft>
                          <a:spcPct val="0"/>
                        </a:spcAft>
                        <a:buClrTx/>
                        <a:buSzTx/>
                        <a:buFontTx/>
                        <a:buNone/>
                      </a:pPr>
                      <a:r>
                        <a: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zh-CN"/>
                    </a:p>
                  </a:txBody>
                  <a:tcPr/>
                </a:tc>
                <a:extLst>
                  <a:ext uri="{0D108BD9-81ED-4DB2-BD59-A6C34878D82A}">
                    <a16:rowId xmlns:a16="http://schemas.microsoft.com/office/drawing/2014/main" xmlns="" val="10008"/>
                  </a:ext>
                </a:extLst>
              </a:tr>
              <a:tr h="255588">
                <a:tc rowSpan="2">
                  <a:txBody>
                    <a:bodyPr/>
                    <a:lstStyle/>
                    <a:p>
                      <a:pPr marL="0" marR="0" lvl="0" indent="0" algn="ctr" defTabSz="914400" rtl="0" eaLnBrk="1" fontAlgn="ctr" latinLnBrk="0" hangingPunct="1">
                        <a:lnSpc>
                          <a:spcPct val="100000"/>
                        </a:lnSpc>
                        <a:spcBef>
                          <a:spcPct val="20000"/>
                        </a:spcBef>
                        <a:spcAft>
                          <a:spcPct val="0"/>
                        </a:spcAft>
                        <a:buClrTx/>
                        <a:buSzTx/>
                        <a:buFontTx/>
                        <a:buNone/>
                      </a:pPr>
                      <a:r>
                        <a: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p>
                  </a:txBody>
                  <a:tcPr anchor="ct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ctr" latinLnBrk="0" hangingPunct="1">
                        <a:lnSpc>
                          <a:spcPct val="100000"/>
                        </a:lnSpc>
                        <a:spcBef>
                          <a:spcPct val="20000"/>
                        </a:spcBef>
                        <a:spcAft>
                          <a:spcPct val="0"/>
                        </a:spcAft>
                        <a:buClrTx/>
                        <a:buSzTx/>
                        <a:buFontTx/>
                        <a:buNone/>
                      </a:pPr>
                      <a:r>
                        <a:rPr kumimoji="0" lang="en-US" altLang="zh-CN" sz="18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1 1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20000"/>
                        </a:spcBef>
                        <a:spcAft>
                          <a:spcPct val="0"/>
                        </a:spcAft>
                        <a:buClrTx/>
                        <a:buSzTx/>
                        <a:buFontTx/>
                        <a:buNone/>
                      </a:pPr>
                      <a:r>
                        <a: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20000"/>
                        </a:spcBef>
                        <a:spcAft>
                          <a:spcPct val="0"/>
                        </a:spcAft>
                        <a:buClrTx/>
                        <a:buSzTx/>
                        <a:buFontTx/>
                        <a:buNone/>
                      </a:pPr>
                      <a:r>
                        <a: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ctr" latinLnBrk="0" hangingPunct="1">
                        <a:lnSpc>
                          <a:spcPct val="100000"/>
                        </a:lnSpc>
                        <a:spcBef>
                          <a:spcPct val="20000"/>
                        </a:spcBef>
                        <a:spcAft>
                          <a:spcPct val="0"/>
                        </a:spcAft>
                        <a:buClrTx/>
                        <a:buSzTx/>
                        <a:buFontTx/>
                        <a:buNone/>
                      </a:pPr>
                      <a:r>
                        <a:rPr kumimoji="0" lang="zh-CN" altLang="en-US" sz="1800" b="1" i="0" u="none" strike="noStrike" cap="none" normalizeH="0" baseline="0" smtClean="0">
                          <a:ln>
                            <a:noFill/>
                          </a:ln>
                          <a:solidFill>
                            <a:srgbClr val="FF0000"/>
                          </a:solidFill>
                          <a:effectLst/>
                          <a:latin typeface="Arial" panose="020B0604020202020204" pitchFamily="34" charset="0"/>
                          <a:ea typeface="宋体" panose="02010600030101010101" pitchFamily="2" charset="-122"/>
                        </a:rPr>
                        <a:t>翻转</a:t>
                      </a:r>
                    </a:p>
                  </a:txBody>
                  <a:tcPr marL="90000" marR="90000" marT="46800" marB="46800" anchor="ctr" anchorCtr="1"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9"/>
                  </a:ext>
                </a:extLst>
              </a:tr>
              <a:tr h="257175">
                <a:tc vMerge="1">
                  <a:txBody>
                    <a:bodyPr/>
                    <a:lstStyle/>
                    <a:p>
                      <a:endParaRPr lang="zh-CN"/>
                    </a:p>
                  </a:txBody>
                  <a:tcPr/>
                </a:tc>
                <a:tc vMerge="1">
                  <a:txBody>
                    <a:bodyPr/>
                    <a:lstStyle/>
                    <a:p>
                      <a:endParaRPr lang="zh-CN"/>
                    </a:p>
                  </a:txBody>
                  <a:tcPr/>
                </a:tc>
                <a:tc>
                  <a:txBody>
                    <a:bodyPr/>
                    <a:lstStyle/>
                    <a:p>
                      <a:pPr marL="0" marR="0" lvl="0" indent="0" algn="ctr" defTabSz="914400" rtl="0" eaLnBrk="1" fontAlgn="ctr" latinLnBrk="0" hangingPunct="1">
                        <a:lnSpc>
                          <a:spcPct val="100000"/>
                        </a:lnSpc>
                        <a:spcBef>
                          <a:spcPct val="20000"/>
                        </a:spcBef>
                        <a:spcAft>
                          <a:spcPct val="0"/>
                        </a:spcAft>
                        <a:buClrTx/>
                        <a:buSzTx/>
                        <a:buFontTx/>
                        <a:buNone/>
                      </a:pPr>
                      <a:r>
                        <a: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ctr" latinLnBrk="0" hangingPunct="1">
                        <a:lnSpc>
                          <a:spcPct val="100000"/>
                        </a:lnSpc>
                        <a:spcBef>
                          <a:spcPct val="20000"/>
                        </a:spcBef>
                        <a:spcAft>
                          <a:spcPct val="0"/>
                        </a:spcAft>
                        <a:buClrTx/>
                        <a:buSzTx/>
                        <a:buFontTx/>
                        <a:buNone/>
                      </a:pPr>
                      <a:r>
                        <a:rPr kumimoji="0" lang="en-US" altLang="zh-CN" sz="18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zh-CN"/>
                    </a:p>
                  </a:txBody>
                  <a:tcPr/>
                </a:tc>
                <a:extLst>
                  <a:ext uri="{0D108BD9-81ED-4DB2-BD59-A6C34878D82A}">
                    <a16:rowId xmlns:a16="http://schemas.microsoft.com/office/drawing/2014/main" xmlns="" val="10010"/>
                  </a:ext>
                </a:extLst>
              </a:tr>
            </a:tbl>
          </a:graphicData>
        </a:graphic>
      </p:graphicFrame>
      <p:graphicFrame>
        <p:nvGraphicFramePr>
          <p:cNvPr id="8" name="Object 76"/>
          <p:cNvGraphicFramePr>
            <a:graphicFrameLocks noChangeAspect="1"/>
          </p:cNvGraphicFramePr>
          <p:nvPr/>
        </p:nvGraphicFramePr>
        <p:xfrm>
          <a:off x="6497638" y="2745308"/>
          <a:ext cx="379412" cy="401638"/>
        </p:xfrm>
        <a:graphic>
          <a:graphicData uri="http://schemas.openxmlformats.org/presentationml/2006/ole">
            <p:oleObj spid="_x0000_s231426" name="公式" r:id="rId3" imgW="215806" imgH="228501" progId="">
              <p:embed/>
            </p:oleObj>
          </a:graphicData>
        </a:graphic>
      </p:graphicFrame>
      <p:graphicFrame>
        <p:nvGraphicFramePr>
          <p:cNvPr id="9" name="Object 77"/>
          <p:cNvGraphicFramePr>
            <a:graphicFrameLocks noChangeAspect="1"/>
          </p:cNvGraphicFramePr>
          <p:nvPr/>
        </p:nvGraphicFramePr>
        <p:xfrm>
          <a:off x="7092950" y="2745308"/>
          <a:ext cx="576263" cy="431800"/>
        </p:xfrm>
        <a:graphic>
          <a:graphicData uri="http://schemas.openxmlformats.org/presentationml/2006/ole">
            <p:oleObj spid="_x0000_s231427" name="公式" r:id="rId4" imgW="304668" imgH="228501" progId="">
              <p:embed/>
            </p:oleObj>
          </a:graphicData>
        </a:graphic>
      </p:graphicFrame>
      <p:pic>
        <p:nvPicPr>
          <p:cNvPr id="22" name="图片 21"/>
          <p:cNvPicPr>
            <a:picLocks noChangeAspect="1"/>
          </p:cNvPicPr>
          <p:nvPr/>
        </p:nvPicPr>
        <p:blipFill>
          <a:blip r:embed="rId5" cstate="print">
            <a:extLst>
              <a:ext uri="{28A0092B-C50C-407E-A947-70E740481C1C}">
                <a14:useLocalDpi xmlns:a14="http://schemas.microsoft.com/office/drawing/2010/main" xmlns="" val="0"/>
              </a:ext>
            </a:extLst>
          </a:blip>
          <a:stretch>
            <a:fillRect/>
          </a:stretch>
        </p:blipFill>
        <p:spPr>
          <a:xfrm>
            <a:off x="611560" y="2312300"/>
            <a:ext cx="3286702" cy="4036113"/>
          </a:xfrm>
          <a:prstGeom prst="rect">
            <a:avLst/>
          </a:prstGeom>
        </p:spPr>
      </p:pic>
      <p:sp>
        <p:nvSpPr>
          <p:cNvPr id="23" name="文本框 22"/>
          <p:cNvSpPr txBox="1"/>
          <p:nvPr/>
        </p:nvSpPr>
        <p:spPr>
          <a:xfrm>
            <a:off x="1230058" y="5737742"/>
            <a:ext cx="332142" cy="369332"/>
          </a:xfrm>
          <a:prstGeom prst="rect">
            <a:avLst/>
          </a:prstGeom>
          <a:noFill/>
        </p:spPr>
        <p:txBody>
          <a:bodyPr wrap="none" rtlCol="0">
            <a:spAutoFit/>
          </a:bodyPr>
          <a:lstStyle/>
          <a:p>
            <a:r>
              <a:rPr lang="en-US" altLang="zh-CN" b="1" dirty="0" smtClean="0">
                <a:solidFill>
                  <a:srgbClr val="FF0000"/>
                </a:solidFill>
              </a:rPr>
              <a:t>1</a:t>
            </a:r>
            <a:endParaRPr lang="zh-CN" altLang="en-US" b="1" dirty="0">
              <a:solidFill>
                <a:srgbClr val="FF0000"/>
              </a:solidFill>
            </a:endParaRPr>
          </a:p>
        </p:txBody>
      </p:sp>
      <p:sp>
        <p:nvSpPr>
          <p:cNvPr id="25" name="文本框 24"/>
          <p:cNvSpPr txBox="1"/>
          <p:nvPr/>
        </p:nvSpPr>
        <p:spPr>
          <a:xfrm>
            <a:off x="2315715" y="5737742"/>
            <a:ext cx="332142" cy="369332"/>
          </a:xfrm>
          <a:prstGeom prst="rect">
            <a:avLst/>
          </a:prstGeom>
          <a:noFill/>
        </p:spPr>
        <p:txBody>
          <a:bodyPr wrap="none" rtlCol="0">
            <a:spAutoFit/>
          </a:bodyPr>
          <a:lstStyle/>
          <a:p>
            <a:r>
              <a:rPr lang="en-US" altLang="zh-CN" b="1" dirty="0" smtClean="0">
                <a:solidFill>
                  <a:srgbClr val="FF0000"/>
                </a:solidFill>
              </a:rPr>
              <a:t>1</a:t>
            </a:r>
            <a:endParaRPr lang="zh-CN" altLang="en-US" b="1" dirty="0">
              <a:solidFill>
                <a:srgbClr val="FF0000"/>
              </a:solidFill>
            </a:endParaRPr>
          </a:p>
        </p:txBody>
      </p:sp>
      <p:sp>
        <p:nvSpPr>
          <p:cNvPr id="26" name="文本框 25"/>
          <p:cNvSpPr txBox="1"/>
          <p:nvPr/>
        </p:nvSpPr>
        <p:spPr>
          <a:xfrm>
            <a:off x="2993473" y="5737742"/>
            <a:ext cx="332142" cy="369332"/>
          </a:xfrm>
          <a:prstGeom prst="rect">
            <a:avLst/>
          </a:prstGeom>
          <a:noFill/>
        </p:spPr>
        <p:txBody>
          <a:bodyPr wrap="none" rtlCol="0">
            <a:spAutoFit/>
          </a:bodyPr>
          <a:lstStyle/>
          <a:p>
            <a:r>
              <a:rPr lang="en-US" altLang="zh-CN" b="1" dirty="0" smtClean="0">
                <a:solidFill>
                  <a:srgbClr val="FF0000"/>
                </a:solidFill>
              </a:rPr>
              <a:t>1</a:t>
            </a:r>
            <a:endParaRPr lang="zh-CN" altLang="en-US" b="1" dirty="0">
              <a:solidFill>
                <a:srgbClr val="FF0000"/>
              </a:solidFill>
            </a:endParaRPr>
          </a:p>
        </p:txBody>
      </p:sp>
      <p:sp>
        <p:nvSpPr>
          <p:cNvPr id="27" name="文本框 26"/>
          <p:cNvSpPr txBox="1"/>
          <p:nvPr/>
        </p:nvSpPr>
        <p:spPr>
          <a:xfrm>
            <a:off x="1410295" y="2298040"/>
            <a:ext cx="332142" cy="369332"/>
          </a:xfrm>
          <a:prstGeom prst="rect">
            <a:avLst/>
          </a:prstGeom>
          <a:noFill/>
        </p:spPr>
        <p:txBody>
          <a:bodyPr wrap="none" rtlCol="0">
            <a:spAutoFit/>
          </a:bodyPr>
          <a:lstStyle/>
          <a:p>
            <a:r>
              <a:rPr lang="en-US" altLang="zh-CN" b="1" dirty="0" smtClean="0">
                <a:solidFill>
                  <a:srgbClr val="0000CC"/>
                </a:solidFill>
              </a:rPr>
              <a:t>0</a:t>
            </a:r>
            <a:endParaRPr lang="zh-CN" altLang="en-US" b="1" dirty="0">
              <a:solidFill>
                <a:srgbClr val="0000CC"/>
              </a:solidFill>
            </a:endParaRPr>
          </a:p>
        </p:txBody>
      </p:sp>
      <p:sp>
        <p:nvSpPr>
          <p:cNvPr id="28" name="文本框 27"/>
          <p:cNvSpPr txBox="1"/>
          <p:nvPr/>
        </p:nvSpPr>
        <p:spPr>
          <a:xfrm>
            <a:off x="2921000" y="2249969"/>
            <a:ext cx="332142" cy="369332"/>
          </a:xfrm>
          <a:prstGeom prst="rect">
            <a:avLst/>
          </a:prstGeom>
          <a:noFill/>
        </p:spPr>
        <p:txBody>
          <a:bodyPr wrap="none" rtlCol="0">
            <a:spAutoFit/>
          </a:bodyPr>
          <a:lstStyle/>
          <a:p>
            <a:r>
              <a:rPr lang="en-US" altLang="zh-CN" b="1" dirty="0" smtClean="0">
                <a:solidFill>
                  <a:srgbClr val="0000CC"/>
                </a:solidFill>
              </a:rPr>
              <a:t>1</a:t>
            </a:r>
            <a:endParaRPr lang="zh-CN" altLang="en-US" b="1" dirty="0">
              <a:solidFill>
                <a:srgbClr val="0000CC"/>
              </a:solidFill>
            </a:endParaRPr>
          </a:p>
        </p:txBody>
      </p:sp>
      <p:sp>
        <p:nvSpPr>
          <p:cNvPr id="29" name="文本框 28"/>
          <p:cNvSpPr txBox="1"/>
          <p:nvPr/>
        </p:nvSpPr>
        <p:spPr>
          <a:xfrm>
            <a:off x="2921000" y="4114525"/>
            <a:ext cx="332142" cy="369332"/>
          </a:xfrm>
          <a:prstGeom prst="rect">
            <a:avLst/>
          </a:prstGeom>
          <a:noFill/>
        </p:spPr>
        <p:txBody>
          <a:bodyPr wrap="none" rtlCol="0">
            <a:spAutoFit/>
          </a:bodyPr>
          <a:lstStyle/>
          <a:p>
            <a:r>
              <a:rPr lang="en-US" altLang="zh-CN" b="1" dirty="0" smtClean="0">
                <a:solidFill>
                  <a:srgbClr val="FF0000"/>
                </a:solidFill>
              </a:rPr>
              <a:t>1</a:t>
            </a:r>
            <a:endParaRPr lang="zh-CN" altLang="en-US" b="1" dirty="0">
              <a:solidFill>
                <a:srgbClr val="FF0000"/>
              </a:solidFill>
            </a:endParaRPr>
          </a:p>
        </p:txBody>
      </p:sp>
      <p:sp>
        <p:nvSpPr>
          <p:cNvPr id="30" name="文本框 29"/>
          <p:cNvSpPr txBox="1"/>
          <p:nvPr/>
        </p:nvSpPr>
        <p:spPr>
          <a:xfrm>
            <a:off x="1329375" y="4114525"/>
            <a:ext cx="332142" cy="369332"/>
          </a:xfrm>
          <a:prstGeom prst="rect">
            <a:avLst/>
          </a:prstGeom>
          <a:noFill/>
        </p:spPr>
        <p:txBody>
          <a:bodyPr wrap="none" rtlCol="0">
            <a:spAutoFit/>
          </a:bodyPr>
          <a:lstStyle/>
          <a:p>
            <a:r>
              <a:rPr lang="en-US" altLang="zh-CN" b="1" dirty="0" smtClean="0">
                <a:solidFill>
                  <a:srgbClr val="FF0000"/>
                </a:solidFill>
              </a:rPr>
              <a:t>0</a:t>
            </a:r>
            <a:endParaRPr lang="zh-CN" altLang="en-US" b="1" dirty="0">
              <a:solidFill>
                <a:srgbClr val="FF0000"/>
              </a:solidFill>
            </a:endParaRPr>
          </a:p>
        </p:txBody>
      </p:sp>
      <p:sp>
        <p:nvSpPr>
          <p:cNvPr id="31" name="文本框 30"/>
          <p:cNvSpPr txBox="1"/>
          <p:nvPr/>
        </p:nvSpPr>
        <p:spPr>
          <a:xfrm>
            <a:off x="1388582" y="3118251"/>
            <a:ext cx="332142" cy="369332"/>
          </a:xfrm>
          <a:prstGeom prst="rect">
            <a:avLst/>
          </a:prstGeom>
          <a:noFill/>
        </p:spPr>
        <p:txBody>
          <a:bodyPr wrap="none" rtlCol="0">
            <a:spAutoFit/>
          </a:bodyPr>
          <a:lstStyle/>
          <a:p>
            <a:r>
              <a:rPr lang="en-US" altLang="zh-CN" b="1" dirty="0" smtClean="0">
                <a:solidFill>
                  <a:srgbClr val="FF0000"/>
                </a:solidFill>
              </a:rPr>
              <a:t>1</a:t>
            </a:r>
            <a:endParaRPr lang="zh-CN" altLang="en-US" b="1" dirty="0">
              <a:solidFill>
                <a:srgbClr val="FF0000"/>
              </a:solidFill>
            </a:endParaRPr>
          </a:p>
        </p:txBody>
      </p:sp>
      <p:sp>
        <p:nvSpPr>
          <p:cNvPr id="32" name="文本框 31"/>
          <p:cNvSpPr txBox="1"/>
          <p:nvPr/>
        </p:nvSpPr>
        <p:spPr>
          <a:xfrm>
            <a:off x="2899287" y="3127209"/>
            <a:ext cx="332142" cy="369332"/>
          </a:xfrm>
          <a:prstGeom prst="rect">
            <a:avLst/>
          </a:prstGeom>
          <a:noFill/>
        </p:spPr>
        <p:txBody>
          <a:bodyPr wrap="none" rtlCol="0">
            <a:spAutoFit/>
          </a:bodyPr>
          <a:lstStyle/>
          <a:p>
            <a:r>
              <a:rPr lang="en-US" altLang="zh-CN" b="1" dirty="0" smtClean="0">
                <a:solidFill>
                  <a:srgbClr val="FF0000"/>
                </a:solidFill>
              </a:rPr>
              <a:t>0</a:t>
            </a:r>
            <a:endParaRPr lang="zh-CN" altLang="en-US" b="1" dirty="0">
              <a:solidFill>
                <a:srgbClr val="FF0000"/>
              </a:solidFill>
            </a:endParaRPr>
          </a:p>
        </p:txBody>
      </p:sp>
      <p:sp>
        <p:nvSpPr>
          <p:cNvPr id="39" name="矩形 38"/>
          <p:cNvSpPr/>
          <p:nvPr/>
        </p:nvSpPr>
        <p:spPr bwMode="auto">
          <a:xfrm>
            <a:off x="4961097" y="3113084"/>
            <a:ext cx="3615733" cy="1409666"/>
          </a:xfrm>
          <a:prstGeom prst="rect">
            <a:avLst/>
          </a:prstGeom>
          <a:noFill/>
          <a:ln w="9525" cap="flat" cmpd="sng" algn="ctr">
            <a:solidFill>
              <a:srgbClr val="FFC000"/>
            </a:solidFill>
            <a:prstDash val="solid"/>
            <a:miter lim="800000"/>
            <a:headEnd type="none" w="med" len="med"/>
            <a:tailEnd type="none" w="med" len="med"/>
          </a:ln>
        </p:spPr>
        <p:txBody>
          <a:bodyPr vert="horz" wrap="square" lIns="90000" tIns="46800" rIns="90000" bIns="4680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36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endParaRPr>
          </a:p>
        </p:txBody>
      </p:sp>
      <p:sp>
        <p:nvSpPr>
          <p:cNvPr id="40" name="矩形 39"/>
          <p:cNvSpPr/>
          <p:nvPr/>
        </p:nvSpPr>
        <p:spPr bwMode="auto">
          <a:xfrm>
            <a:off x="4973933" y="4625710"/>
            <a:ext cx="3602897" cy="621080"/>
          </a:xfrm>
          <a:prstGeom prst="rect">
            <a:avLst/>
          </a:prstGeom>
          <a:noFill/>
          <a:ln w="9525" cap="flat" cmpd="sng" algn="ctr">
            <a:solidFill>
              <a:srgbClr val="FFC000"/>
            </a:solidFill>
            <a:prstDash val="solid"/>
            <a:miter lim="800000"/>
            <a:headEnd type="none" w="med" len="med"/>
            <a:tailEnd type="none" w="med" len="med"/>
          </a:ln>
        </p:spPr>
        <p:txBody>
          <a:bodyPr vert="horz" wrap="square" lIns="90000" tIns="46800" rIns="90000" bIns="4680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36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endParaRPr>
          </a:p>
        </p:txBody>
      </p:sp>
      <p:sp>
        <p:nvSpPr>
          <p:cNvPr id="41" name="矩形 40"/>
          <p:cNvSpPr/>
          <p:nvPr/>
        </p:nvSpPr>
        <p:spPr bwMode="auto">
          <a:xfrm>
            <a:off x="4940918" y="5364338"/>
            <a:ext cx="3602897" cy="621080"/>
          </a:xfrm>
          <a:prstGeom prst="rect">
            <a:avLst/>
          </a:prstGeom>
          <a:noFill/>
          <a:ln w="9525" cap="flat" cmpd="sng" algn="ctr">
            <a:solidFill>
              <a:srgbClr val="FFC000"/>
            </a:solidFill>
            <a:prstDash val="solid"/>
            <a:miter lim="800000"/>
            <a:headEnd type="none" w="med" len="med"/>
            <a:tailEnd type="none" w="med" len="med"/>
          </a:ln>
        </p:spPr>
        <p:txBody>
          <a:bodyPr vert="horz" wrap="square" lIns="90000" tIns="46800" rIns="90000" bIns="4680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36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endParaRPr>
          </a:p>
        </p:txBody>
      </p:sp>
      <p:sp>
        <p:nvSpPr>
          <p:cNvPr id="42" name="矩形 41"/>
          <p:cNvSpPr/>
          <p:nvPr/>
        </p:nvSpPr>
        <p:spPr bwMode="auto">
          <a:xfrm>
            <a:off x="4932040" y="6093296"/>
            <a:ext cx="3602897" cy="621080"/>
          </a:xfrm>
          <a:prstGeom prst="rect">
            <a:avLst/>
          </a:prstGeom>
          <a:noFill/>
          <a:ln w="9525" cap="flat" cmpd="sng" algn="ctr">
            <a:solidFill>
              <a:srgbClr val="FF0000"/>
            </a:solidFill>
            <a:prstDash val="solid"/>
            <a:miter lim="800000"/>
            <a:headEnd type="none" w="med" len="med"/>
            <a:tailEnd type="none" w="med" len="med"/>
          </a:ln>
        </p:spPr>
        <p:txBody>
          <a:bodyPr vert="horz" wrap="square" lIns="90000" tIns="46800" rIns="90000" bIns="4680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36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endParaRPr>
          </a:p>
        </p:txBody>
      </p:sp>
      <p:sp>
        <p:nvSpPr>
          <p:cNvPr id="44" name="标题 1"/>
          <p:cNvSpPr>
            <a:spLocks noGrp="1"/>
          </p:cNvSpPr>
          <p:nvPr>
            <p:ph type="title"/>
          </p:nvPr>
        </p:nvSpPr>
        <p:spPr>
          <a:xfrm>
            <a:off x="1187624" y="1124744"/>
            <a:ext cx="7704856" cy="566936"/>
          </a:xfrm>
        </p:spPr>
        <p:txBody>
          <a:bodyPr/>
          <a:lstStyle/>
          <a:p>
            <a:r>
              <a:rPr lang="en-US" altLang="zh-CN" dirty="0" smtClean="0">
                <a:solidFill>
                  <a:srgbClr val="6600CC"/>
                </a:solidFill>
              </a:rPr>
              <a:t>5.1.2 </a:t>
            </a:r>
            <a:r>
              <a:rPr lang="zh-CN" altLang="en-US" dirty="0" smtClean="0">
                <a:solidFill>
                  <a:srgbClr val="6600CC"/>
                </a:solidFill>
              </a:rPr>
              <a:t>时钟触发器</a:t>
            </a:r>
            <a:endParaRPr lang="zh-CN" altLang="en-US" dirty="0"/>
          </a:p>
        </p:txBody>
      </p:sp>
      <p:sp>
        <p:nvSpPr>
          <p:cNvPr id="45" name="标题 1"/>
          <p:cNvSpPr txBox="1">
            <a:spLocks/>
          </p:cNvSpPr>
          <p:nvPr/>
        </p:nvSpPr>
        <p:spPr bwMode="auto">
          <a:xfrm>
            <a:off x="1187624" y="332656"/>
            <a:ext cx="7632848" cy="5669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5.1 </a:t>
            </a:r>
            <a:r>
              <a:rPr kumimoji="1" lang="zh-CN" altLang="en-US" sz="3200" b="1" kern="0" dirty="0" smtClean="0">
                <a:solidFill>
                  <a:schemeClr val="tx2"/>
                </a:solidFill>
                <a:latin typeface="+mj-lt"/>
                <a:ea typeface="+mj-ea"/>
                <a:cs typeface="+mj-cs"/>
              </a:rPr>
              <a:t>电平触发的</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触发器</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sp>
        <p:nvSpPr>
          <p:cNvPr id="13" name="AutoShape 81"/>
          <p:cNvSpPr>
            <a:spLocks noChangeArrowheads="1"/>
          </p:cNvSpPr>
          <p:nvPr/>
        </p:nvSpPr>
        <p:spPr bwMode="auto">
          <a:xfrm>
            <a:off x="3491880" y="6093296"/>
            <a:ext cx="1296144" cy="423031"/>
          </a:xfrm>
          <a:prstGeom prst="wedgeRoundRectCallout">
            <a:avLst>
              <a:gd name="adj1" fmla="val 76402"/>
              <a:gd name="adj2" fmla="val 22809"/>
              <a:gd name="adj3" fmla="val 16667"/>
            </a:avLst>
          </a:prstGeom>
          <a:solidFill>
            <a:schemeClr val="accent1"/>
          </a:solidFill>
          <a:ln w="28575">
            <a:solidFill>
              <a:schemeClr val="tx1"/>
            </a:solidFill>
            <a:miter lim="800000"/>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lgn="ctr"/>
            <a:r>
              <a:rPr lang="en-US" altLang="zh-CN" sz="1600" b="1" dirty="0">
                <a:solidFill>
                  <a:srgbClr val="FF0000"/>
                </a:solidFill>
              </a:rPr>
              <a:t>T</a:t>
            </a:r>
            <a:r>
              <a:rPr lang="en-US" altLang="zh-CN" sz="1600" b="1" baseline="-25000" dirty="0">
                <a:solidFill>
                  <a:srgbClr val="FF0000"/>
                </a:solidFill>
              </a:rPr>
              <a:t>CPH</a:t>
            </a:r>
            <a:r>
              <a:rPr lang="en-US" altLang="zh-CN" sz="1600" b="1" dirty="0">
                <a:solidFill>
                  <a:srgbClr val="FF0000"/>
                </a:solidFill>
              </a:rPr>
              <a:t>&lt;3t</a:t>
            </a:r>
            <a:r>
              <a:rPr lang="en-US" altLang="zh-CN" sz="1600" b="1" baseline="-25000" dirty="0">
                <a:solidFill>
                  <a:srgbClr val="FF0000"/>
                </a:solidFill>
              </a:rPr>
              <a:t>pd</a:t>
            </a:r>
          </a:p>
        </p:txBody>
      </p:sp>
      <p:sp>
        <p:nvSpPr>
          <p:cNvPr id="43" name="矩形标注 42"/>
          <p:cNvSpPr/>
          <p:nvPr/>
        </p:nvSpPr>
        <p:spPr bwMode="auto">
          <a:xfrm>
            <a:off x="5292080" y="1340768"/>
            <a:ext cx="3600400" cy="720080"/>
          </a:xfrm>
          <a:prstGeom prst="wedgeRectCallout">
            <a:avLst>
              <a:gd name="adj1" fmla="val -21331"/>
              <a:gd name="adj2" fmla="val 50990"/>
            </a:avLst>
          </a:prstGeom>
          <a:solidFill>
            <a:srgbClr val="FFFF00"/>
          </a:solidFill>
          <a:ln w="9525" cap="flat" cmpd="sng" algn="ctr">
            <a:solidFill>
              <a:srgbClr val="FF0000"/>
            </a:solidFill>
            <a:prstDash val="solid"/>
            <a:miter lim="800000"/>
            <a:headEnd type="none" w="med" len="med"/>
            <a:tailEnd type="none" w="med" len="med"/>
          </a:ln>
        </p:spPr>
        <p:txBody>
          <a:bodyPr vert="horz" wrap="square" lIns="90000" tIns="46800" rIns="90000" bIns="46800" numCol="1" rtlCol="0" anchor="t" anchorCtr="0" compatLnSpc="1">
            <a:noAutofit/>
          </a:bodyPr>
          <a:lstStyle/>
          <a:p>
            <a:pPr marL="0" marR="0" indent="0" algn="l" defTabSz="914400" rtl="0" eaLnBrk="1" fontAlgn="base" latinLnBrk="0" hangingPunct="1">
              <a:lnSpc>
                <a:spcPct val="100000"/>
              </a:lnSpc>
              <a:spcBef>
                <a:spcPct val="0"/>
              </a:spcBef>
              <a:spcAft>
                <a:spcPct val="0"/>
              </a:spcAft>
              <a:buClrTx/>
              <a:buSzTx/>
              <a:buFontTx/>
              <a:buNone/>
            </a:pPr>
            <a:r>
              <a:rPr kumimoji="1" lang="en-US" altLang="zh-CN" sz="2000" b="1" dirty="0" smtClean="0">
                <a:solidFill>
                  <a:srgbClr val="FF0000"/>
                </a:solidFill>
                <a:latin typeface="Tahoma" panose="020B0604030504040204" pitchFamily="34" charset="0"/>
                <a:ea typeface="宋体" panose="02010600030101010101" pitchFamily="2" charset="-122"/>
              </a:rPr>
              <a:t>T</a:t>
            </a:r>
            <a:r>
              <a:rPr kumimoji="1" lang="en-US" altLang="zh-CN" sz="2000" b="1" baseline="-25000" dirty="0" smtClean="0">
                <a:solidFill>
                  <a:srgbClr val="FF0000"/>
                </a:solidFill>
                <a:latin typeface="Tahoma" panose="020B0604030504040204" pitchFamily="34" charset="0"/>
                <a:ea typeface="宋体" panose="02010600030101010101" pitchFamily="2" charset="-122"/>
              </a:rPr>
              <a:t>CPH</a:t>
            </a:r>
            <a:r>
              <a:rPr kumimoji="1" lang="en-US" altLang="zh-CN" sz="2000" b="1" dirty="0" smtClean="0">
                <a:solidFill>
                  <a:srgbClr val="FF0000"/>
                </a:solidFill>
                <a:latin typeface="Tahoma" panose="020B0604030504040204" pitchFamily="34" charset="0"/>
                <a:ea typeface="宋体" panose="02010600030101010101" pitchFamily="2" charset="-122"/>
              </a:rPr>
              <a:t> : </a:t>
            </a:r>
            <a:r>
              <a:rPr kumimoji="1" lang="zh-CN" altLang="en-US" sz="2000" b="1" dirty="0" smtClean="0">
                <a:solidFill>
                  <a:srgbClr val="FF0000"/>
                </a:solidFill>
                <a:latin typeface="Tahoma" panose="020B0604030504040204" pitchFamily="34" charset="0"/>
                <a:ea typeface="宋体" panose="02010600030101010101" pitchFamily="2" charset="-122"/>
              </a:rPr>
              <a:t>脉冲高电平持续时间。</a:t>
            </a:r>
            <a:endParaRPr kumimoji="1" lang="en-US" altLang="zh-CN" sz="2000" b="1" dirty="0" smtClean="0">
              <a:solidFill>
                <a:srgbClr val="FF0000"/>
              </a:solidFill>
              <a:latin typeface="Tahoma" panose="020B0604030504040204" pitchFamily="34" charset="0"/>
              <a:ea typeface="宋体" panose="02010600030101010101" pitchFamily="2" charset="-122"/>
            </a:endParaRPr>
          </a:p>
          <a:p>
            <a:pPr marL="0" marR="0" indent="0" algn="l" defTabSz="914400" rtl="0" eaLnBrk="1" fontAlgn="base" latinLnBrk="0" hangingPunct="1">
              <a:lnSpc>
                <a:spcPct val="100000"/>
              </a:lnSpc>
              <a:spcBef>
                <a:spcPct val="0"/>
              </a:spcBef>
              <a:spcAft>
                <a:spcPct val="0"/>
              </a:spcAft>
              <a:buClrTx/>
              <a:buSzTx/>
              <a:buFontTx/>
              <a:buNone/>
            </a:pPr>
            <a:r>
              <a:rPr kumimoji="1" lang="en-US" altLang="zh-CN" sz="2000" b="1" dirty="0" smtClean="0">
                <a:solidFill>
                  <a:srgbClr val="FF0000"/>
                </a:solidFill>
                <a:latin typeface="Tahoma" panose="020B0604030504040204" pitchFamily="34" charset="0"/>
                <a:ea typeface="宋体" panose="02010600030101010101" pitchFamily="2" charset="-122"/>
              </a:rPr>
              <a:t>t</a:t>
            </a:r>
            <a:r>
              <a:rPr kumimoji="1" lang="en-US" altLang="zh-CN" sz="2000" b="1" baseline="-25000" dirty="0" smtClean="0">
                <a:solidFill>
                  <a:srgbClr val="FF0000"/>
                </a:solidFill>
                <a:latin typeface="Tahoma" panose="020B0604030504040204" pitchFamily="34" charset="0"/>
                <a:ea typeface="宋体" panose="02010600030101010101" pitchFamily="2" charset="-122"/>
              </a:rPr>
              <a:t>pd</a:t>
            </a:r>
            <a:r>
              <a:rPr kumimoji="1" lang="en-US" altLang="zh-CN" sz="2000" b="1" dirty="0" smtClean="0">
                <a:solidFill>
                  <a:srgbClr val="FF0000"/>
                </a:solidFill>
                <a:latin typeface="Tahoma" panose="020B0604030504040204" pitchFamily="34" charset="0"/>
                <a:ea typeface="宋体" panose="02010600030101010101" pitchFamily="2" charset="-122"/>
              </a:rPr>
              <a:t> : </a:t>
            </a:r>
            <a:r>
              <a:rPr kumimoji="1" lang="zh-CN" altLang="en-US" sz="2000" b="1" dirty="0" smtClean="0">
                <a:solidFill>
                  <a:srgbClr val="FF0000"/>
                </a:solidFill>
                <a:latin typeface="Tahoma" panose="020B0604030504040204" pitchFamily="34" charset="0"/>
                <a:ea typeface="宋体" panose="02010600030101010101" pitchFamily="2" charset="-122"/>
              </a:rPr>
              <a:t>门电路平均延迟时间。</a:t>
            </a:r>
            <a:endParaRPr kumimoji="1" lang="zh-CN" altLang="en-US" sz="2000" b="1" i="0" u="none" strike="noStrike" cap="none" normalizeH="0" baseline="0" dirty="0" smtClean="0">
              <a:ln>
                <a:noFill/>
              </a:ln>
              <a:solidFill>
                <a:srgbClr val="FF0000"/>
              </a:solidFill>
              <a:effectLst/>
              <a:latin typeface="Tahoma" panose="020B060403050404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9"/>
                                        </p:tgtEl>
                                        <p:attrNameLst>
                                          <p:attrName>style.visibility</p:attrName>
                                        </p:attrNameLst>
                                      </p:cBhvr>
                                      <p:to>
                                        <p:strVal val="visible"/>
                                      </p:to>
                                    </p:set>
                                    <p:animEffect transition="in" filter="fade">
                                      <p:cBhvr>
                                        <p:cTn id="7" dur="500"/>
                                        <p:tgtEl>
                                          <p:spTgt spid="39"/>
                                        </p:tgtEl>
                                      </p:cBhvr>
                                    </p:animEffect>
                                  </p:childTnLst>
                                </p:cTn>
                              </p:par>
                            </p:childTnLst>
                          </p:cTn>
                        </p:par>
                      </p:childTnLst>
                    </p:cTn>
                  </p:par>
                  <p:par>
                    <p:cTn id="8" fill="hold">
                      <p:stCondLst>
                        <p:cond delay="indefinite"/>
                      </p:stCondLst>
                      <p:childTnLst>
                        <p:par>
                          <p:cTn id="9" fill="hold">
                            <p:stCondLst>
                              <p:cond delay="0"/>
                            </p:stCondLst>
                            <p:childTnLst>
                              <p:par>
                                <p:cTn id="10" presetID="1" presetClass="exit" presetSubtype="0" fill="hold" grpId="1" nodeType="clickEffect">
                                  <p:stCondLst>
                                    <p:cond delay="0"/>
                                  </p:stCondLst>
                                  <p:childTnLst>
                                    <p:set>
                                      <p:cBhvr>
                                        <p:cTn id="11" dur="1" fill="hold">
                                          <p:stCondLst>
                                            <p:cond delay="0"/>
                                          </p:stCondLst>
                                        </p:cTn>
                                        <p:tgtEl>
                                          <p:spTgt spid="39"/>
                                        </p:tgtEl>
                                        <p:attrNameLst>
                                          <p:attrName>style.visibility</p:attrName>
                                        </p:attrNameLst>
                                      </p:cBhvr>
                                      <p:to>
                                        <p:strVal val="hidden"/>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25"/>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40"/>
                                        </p:tgtEl>
                                        <p:attrNameLst>
                                          <p:attrName>style.visibility</p:attrName>
                                        </p:attrNameLst>
                                      </p:cBhvr>
                                      <p:to>
                                        <p:strVal val="visible"/>
                                      </p:to>
                                    </p:set>
                                    <p:animEffect transition="in" filter="fade">
                                      <p:cBhvr>
                                        <p:cTn id="20" dur="500"/>
                                        <p:tgtEl>
                                          <p:spTgt spid="40"/>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xit" presetSubtype="0" fill="hold" grpId="1" nodeType="clickEffect">
                                  <p:stCondLst>
                                    <p:cond delay="0"/>
                                  </p:stCondLst>
                                  <p:childTnLst>
                                    <p:set>
                                      <p:cBhvr>
                                        <p:cTn id="24" dur="1" fill="hold">
                                          <p:stCondLst>
                                            <p:cond delay="0"/>
                                          </p:stCondLst>
                                        </p:cTn>
                                        <p:tgtEl>
                                          <p:spTgt spid="40"/>
                                        </p:tgtEl>
                                        <p:attrNameLst>
                                          <p:attrName>style.visibility</p:attrName>
                                        </p:attrNameLst>
                                      </p:cBhvr>
                                      <p:to>
                                        <p:strVal val="hidden"/>
                                      </p:to>
                                    </p:set>
                                  </p:childTnLst>
                                </p:cTn>
                              </p:par>
                              <p:par>
                                <p:cTn id="25" presetID="10" presetClass="entr" presetSubtype="0" fill="hold" grpId="0" nodeType="withEffect">
                                  <p:stCondLst>
                                    <p:cond delay="0"/>
                                  </p:stCondLst>
                                  <p:childTnLst>
                                    <p:set>
                                      <p:cBhvr>
                                        <p:cTn id="26" dur="1" fill="hold">
                                          <p:stCondLst>
                                            <p:cond delay="0"/>
                                          </p:stCondLst>
                                        </p:cTn>
                                        <p:tgtEl>
                                          <p:spTgt spid="41"/>
                                        </p:tgtEl>
                                        <p:attrNameLst>
                                          <p:attrName>style.visibility</p:attrName>
                                        </p:attrNameLst>
                                      </p:cBhvr>
                                      <p:to>
                                        <p:strVal val="visible"/>
                                      </p:to>
                                    </p:set>
                                    <p:animEffect transition="in" filter="fade">
                                      <p:cBhvr>
                                        <p:cTn id="27" dur="500"/>
                                        <p:tgtEl>
                                          <p:spTgt spid="41"/>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xit" presetSubtype="0" fill="hold" grpId="1" nodeType="clickEffect">
                                  <p:stCondLst>
                                    <p:cond delay="0"/>
                                  </p:stCondLst>
                                  <p:childTnLst>
                                    <p:set>
                                      <p:cBhvr>
                                        <p:cTn id="31" dur="1" fill="hold">
                                          <p:stCondLst>
                                            <p:cond delay="0"/>
                                          </p:stCondLst>
                                        </p:cTn>
                                        <p:tgtEl>
                                          <p:spTgt spid="41"/>
                                        </p:tgtEl>
                                        <p:attrNameLst>
                                          <p:attrName>style.visibility</p:attrName>
                                        </p:attrNameLst>
                                      </p:cBhvr>
                                      <p:to>
                                        <p:strVal val="hidden"/>
                                      </p:to>
                                    </p:set>
                                  </p:childTnLst>
                                </p:cTn>
                              </p:par>
                              <p:par>
                                <p:cTn id="32" presetID="10" presetClass="entr" presetSubtype="0" fill="hold" grpId="0" nodeType="withEffect">
                                  <p:stCondLst>
                                    <p:cond delay="0"/>
                                  </p:stCondLst>
                                  <p:childTnLst>
                                    <p:set>
                                      <p:cBhvr>
                                        <p:cTn id="33" dur="1" fill="hold">
                                          <p:stCondLst>
                                            <p:cond delay="0"/>
                                          </p:stCondLst>
                                        </p:cTn>
                                        <p:tgtEl>
                                          <p:spTgt spid="42"/>
                                        </p:tgtEl>
                                        <p:attrNameLst>
                                          <p:attrName>style.visibility</p:attrName>
                                        </p:attrNameLst>
                                      </p:cBhvr>
                                      <p:to>
                                        <p:strVal val="visible"/>
                                      </p:to>
                                    </p:set>
                                    <p:animEffect transition="in" filter="fade">
                                      <p:cBhvr>
                                        <p:cTn id="34" dur="500"/>
                                        <p:tgtEl>
                                          <p:spTgt spid="42"/>
                                        </p:tgtEl>
                                      </p:cBhvr>
                                    </p:animEffec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3"/>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6"/>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8"/>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9"/>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0"/>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3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32"/>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3" presetClass="entr" presetSubtype="10" fill="hold" grpId="0" nodeType="clickEffect">
                                  <p:stCondLst>
                                    <p:cond delay="0"/>
                                  </p:stCondLst>
                                  <p:childTnLst>
                                    <p:set>
                                      <p:cBhvr>
                                        <p:cTn id="62" dur="1" fill="hold">
                                          <p:stCondLst>
                                            <p:cond delay="0"/>
                                          </p:stCondLst>
                                        </p:cTn>
                                        <p:tgtEl>
                                          <p:spTgt spid="13"/>
                                        </p:tgtEl>
                                        <p:attrNameLst>
                                          <p:attrName>style.visibility</p:attrName>
                                        </p:attrNameLst>
                                      </p:cBhvr>
                                      <p:to>
                                        <p:strVal val="visible"/>
                                      </p:to>
                                    </p:set>
                                    <p:animEffect transition="in" filter="blinds(horizontal)">
                                      <p:cBhvr>
                                        <p:cTn id="63"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5" grpId="0"/>
      <p:bldP spid="26" grpId="0"/>
      <p:bldP spid="27" grpId="0"/>
      <p:bldP spid="28" grpId="0"/>
      <p:bldP spid="29" grpId="0"/>
      <p:bldP spid="30" grpId="0"/>
      <p:bldP spid="31" grpId="0"/>
      <p:bldP spid="32" grpId="0"/>
      <p:bldP spid="39" grpId="0" animBg="1"/>
      <p:bldP spid="39" grpId="1" animBg="1"/>
      <p:bldP spid="40" grpId="0" animBg="1"/>
      <p:bldP spid="40" grpId="1" animBg="1"/>
      <p:bldP spid="41" grpId="0" animBg="1"/>
      <p:bldP spid="41" grpId="1" animBg="1"/>
      <p:bldP spid="42" grpId="0" animBg="1"/>
      <p:bldP spid="13"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1988840"/>
            <a:ext cx="8352928" cy="4680520"/>
          </a:xfrm>
        </p:spPr>
        <p:txBody>
          <a:bodyPr/>
          <a:lstStyle/>
          <a:p>
            <a:pPr>
              <a:lnSpc>
                <a:spcPct val="100000"/>
              </a:lnSpc>
              <a:spcBef>
                <a:spcPts val="600"/>
              </a:spcBef>
              <a:buSzPct val="100000"/>
              <a:buFont typeface="Wingdings" pitchFamily="2" charset="2"/>
              <a:buChar char="p"/>
            </a:pPr>
            <a:r>
              <a:rPr lang="zh-CN" altLang="en-US" sz="2800" dirty="0"/>
              <a:t>动作</a:t>
            </a:r>
            <a:r>
              <a:rPr lang="zh-CN" altLang="en-US" sz="2800" dirty="0" smtClean="0"/>
              <a:t>特点</a:t>
            </a:r>
            <a:endParaRPr lang="en-US" altLang="zh-CN" sz="2800" dirty="0" smtClean="0"/>
          </a:p>
          <a:p>
            <a:pPr lvl="1">
              <a:lnSpc>
                <a:spcPct val="100000"/>
              </a:lnSpc>
              <a:spcBef>
                <a:spcPts val="600"/>
              </a:spcBef>
              <a:buSzPct val="100000"/>
            </a:pPr>
            <a:r>
              <a:rPr lang="zh-CN" altLang="en-US" sz="2400" dirty="0" smtClean="0"/>
              <a:t>同步</a:t>
            </a:r>
            <a:r>
              <a:rPr lang="en-US" altLang="zh-CN" sz="2400" dirty="0"/>
              <a:t>JK-FF</a:t>
            </a:r>
            <a:r>
              <a:rPr lang="zh-CN" altLang="en-US" sz="2400" dirty="0"/>
              <a:t>的特性方程为</a:t>
            </a:r>
            <a:r>
              <a:rPr lang="zh-CN" altLang="en-US" sz="2400" dirty="0" smtClean="0"/>
              <a:t>：</a:t>
            </a:r>
            <a:endParaRPr lang="en-US" altLang="zh-CN" sz="2400" dirty="0" smtClean="0"/>
          </a:p>
          <a:p>
            <a:pPr lvl="1">
              <a:lnSpc>
                <a:spcPct val="100000"/>
              </a:lnSpc>
              <a:spcBef>
                <a:spcPts val="600"/>
              </a:spcBef>
              <a:buSzPct val="100000"/>
            </a:pPr>
            <a:endParaRPr lang="en-US" altLang="zh-CN" sz="2400" dirty="0"/>
          </a:p>
          <a:p>
            <a:pPr lvl="1">
              <a:lnSpc>
                <a:spcPct val="100000"/>
              </a:lnSpc>
              <a:spcBef>
                <a:spcPts val="600"/>
              </a:spcBef>
              <a:buSzPct val="100000"/>
            </a:pPr>
            <a:r>
              <a:rPr lang="zh-CN" altLang="en-US" sz="2400" dirty="0"/>
              <a:t>当</a:t>
            </a:r>
            <a:r>
              <a:rPr lang="en-US" altLang="zh-CN" sz="2400" dirty="0"/>
              <a:t>J=K=1</a:t>
            </a:r>
            <a:r>
              <a:rPr lang="zh-CN" altLang="en-US" sz="2400" dirty="0"/>
              <a:t>时，               </a:t>
            </a:r>
            <a:r>
              <a:rPr lang="zh-CN" altLang="en-US" sz="2400" dirty="0" smtClean="0"/>
              <a:t>，</a:t>
            </a:r>
            <a:r>
              <a:rPr lang="zh-CN" altLang="en-US" sz="2400" dirty="0"/>
              <a:t>触发器处于</a:t>
            </a:r>
            <a:r>
              <a:rPr lang="zh-CN" altLang="en-US" sz="2400" dirty="0">
                <a:solidFill>
                  <a:srgbClr val="0000CC"/>
                </a:solidFill>
              </a:rPr>
              <a:t>翻转</a:t>
            </a:r>
            <a:r>
              <a:rPr lang="zh-CN" altLang="en-US" sz="2400" dirty="0"/>
              <a:t>状态，其余</a:t>
            </a:r>
            <a:r>
              <a:rPr lang="zh-CN" altLang="en-US" sz="2400" dirty="0" smtClean="0"/>
              <a:t>情况与同步</a:t>
            </a:r>
            <a:r>
              <a:rPr lang="en-US" altLang="zh-CN" sz="2400" dirty="0"/>
              <a:t>RS-FF</a:t>
            </a:r>
            <a:r>
              <a:rPr lang="zh-CN" altLang="en-US" sz="2400" dirty="0"/>
              <a:t>一样</a:t>
            </a:r>
            <a:r>
              <a:rPr lang="zh-CN" altLang="en-US" sz="2400" dirty="0" smtClean="0"/>
              <a:t>。</a:t>
            </a:r>
            <a:endParaRPr lang="en-US" altLang="zh-CN" sz="2400" dirty="0" smtClean="0"/>
          </a:p>
          <a:p>
            <a:pPr lvl="1">
              <a:lnSpc>
                <a:spcPct val="100000"/>
              </a:lnSpc>
              <a:spcBef>
                <a:spcPts val="600"/>
              </a:spcBef>
              <a:buSzPct val="100000"/>
            </a:pPr>
            <a:r>
              <a:rPr lang="zh-CN" altLang="en-US" sz="2400" dirty="0"/>
              <a:t>正常工作时要求</a:t>
            </a:r>
            <a:r>
              <a:rPr lang="en-US" altLang="zh-CN" sz="2400" dirty="0"/>
              <a:t>CP=1</a:t>
            </a:r>
            <a:r>
              <a:rPr lang="zh-CN" altLang="en-US" sz="2400" dirty="0"/>
              <a:t>期间</a:t>
            </a:r>
            <a:r>
              <a:rPr lang="en-US" altLang="zh-CN" sz="2400" dirty="0"/>
              <a:t>J</a:t>
            </a:r>
            <a:r>
              <a:rPr lang="zh-CN" altLang="en-US" sz="2400" dirty="0"/>
              <a:t>、</a:t>
            </a:r>
            <a:r>
              <a:rPr lang="en-US" altLang="zh-CN" sz="2400" dirty="0"/>
              <a:t>K</a:t>
            </a:r>
            <a:r>
              <a:rPr lang="zh-CN" altLang="en-US" sz="2400" dirty="0"/>
              <a:t>端数据</a:t>
            </a:r>
            <a:r>
              <a:rPr lang="zh-CN" altLang="en-US" sz="2400" dirty="0" smtClean="0">
                <a:solidFill>
                  <a:srgbClr val="0000CC"/>
                </a:solidFill>
              </a:rPr>
              <a:t>保持不变，</a:t>
            </a:r>
            <a:r>
              <a:rPr lang="zh-CN" altLang="en-US" sz="2400" dirty="0" smtClean="0">
                <a:solidFill>
                  <a:srgbClr val="FF0000"/>
                </a:solidFill>
              </a:rPr>
              <a:t>时钟脉冲为高电平的时间很短</a:t>
            </a:r>
            <a:r>
              <a:rPr lang="zh-CN" altLang="en-US" sz="2400" dirty="0" smtClean="0"/>
              <a:t>。</a:t>
            </a:r>
            <a:endParaRPr lang="zh-CN" altLang="en-US" sz="2400" dirty="0"/>
          </a:p>
          <a:p>
            <a:endParaRPr lang="zh-CN" altLang="en-US" dirty="0"/>
          </a:p>
          <a:p>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36</a:t>
            </a:fld>
            <a:endParaRPr lang="zh-CN" altLang="en-US"/>
          </a:p>
        </p:txBody>
      </p:sp>
      <p:graphicFrame>
        <p:nvGraphicFramePr>
          <p:cNvPr id="5" name="对象 4"/>
          <p:cNvGraphicFramePr>
            <a:graphicFrameLocks noChangeAspect="1"/>
          </p:cNvGraphicFramePr>
          <p:nvPr/>
        </p:nvGraphicFramePr>
        <p:xfrm>
          <a:off x="4932040" y="2420888"/>
          <a:ext cx="2447925" cy="538162"/>
        </p:xfrm>
        <a:graphic>
          <a:graphicData uri="http://schemas.openxmlformats.org/presentationml/2006/ole">
            <p:oleObj spid="_x0000_s96519" name="公式" r:id="rId3" imgW="1511640" imgH="317520" progId="">
              <p:embed/>
            </p:oleObj>
          </a:graphicData>
        </a:graphic>
      </p:graphicFrame>
      <p:graphicFrame>
        <p:nvGraphicFramePr>
          <p:cNvPr id="6" name="Object 10"/>
          <p:cNvGraphicFramePr>
            <a:graphicFrameLocks noChangeAspect="1"/>
          </p:cNvGraphicFramePr>
          <p:nvPr/>
        </p:nvGraphicFramePr>
        <p:xfrm>
          <a:off x="3275856" y="3356992"/>
          <a:ext cx="1224136" cy="450940"/>
        </p:xfrm>
        <a:graphic>
          <a:graphicData uri="http://schemas.openxmlformats.org/presentationml/2006/ole">
            <p:oleObj spid="_x0000_s96520" name="公式" r:id="rId4" imgW="647419" imgH="253890" progId="">
              <p:embed/>
            </p:oleObj>
          </a:graphicData>
        </a:graphic>
      </p:graphicFrame>
      <p:sp>
        <p:nvSpPr>
          <p:cNvPr id="11" name="标题 1"/>
          <p:cNvSpPr>
            <a:spLocks noGrp="1"/>
          </p:cNvSpPr>
          <p:nvPr>
            <p:ph type="title"/>
          </p:nvPr>
        </p:nvSpPr>
        <p:spPr>
          <a:xfrm>
            <a:off x="1187624" y="1124744"/>
            <a:ext cx="7704856" cy="566936"/>
          </a:xfrm>
        </p:spPr>
        <p:txBody>
          <a:bodyPr/>
          <a:lstStyle/>
          <a:p>
            <a:r>
              <a:rPr lang="en-US" altLang="zh-CN" dirty="0" smtClean="0">
                <a:solidFill>
                  <a:srgbClr val="6600CC"/>
                </a:solidFill>
              </a:rPr>
              <a:t>3. </a:t>
            </a:r>
            <a:r>
              <a:rPr lang="zh-CN" altLang="en-US" dirty="0" smtClean="0">
                <a:solidFill>
                  <a:srgbClr val="6600CC"/>
                </a:solidFill>
              </a:rPr>
              <a:t>时钟（同步）</a:t>
            </a:r>
            <a:r>
              <a:rPr lang="en-US" altLang="zh-CN" dirty="0" smtClean="0">
                <a:solidFill>
                  <a:srgbClr val="6600CC"/>
                </a:solidFill>
              </a:rPr>
              <a:t>JK</a:t>
            </a:r>
            <a:r>
              <a:rPr lang="zh-CN" altLang="en-US" dirty="0" smtClean="0">
                <a:solidFill>
                  <a:srgbClr val="6600CC"/>
                </a:solidFill>
              </a:rPr>
              <a:t>触发器</a:t>
            </a:r>
            <a:endParaRPr lang="zh-CN" altLang="en-US" dirty="0"/>
          </a:p>
        </p:txBody>
      </p:sp>
      <p:sp>
        <p:nvSpPr>
          <p:cNvPr id="12" name="标题 1"/>
          <p:cNvSpPr txBox="1">
            <a:spLocks/>
          </p:cNvSpPr>
          <p:nvPr/>
        </p:nvSpPr>
        <p:spPr bwMode="auto">
          <a:xfrm>
            <a:off x="1187624" y="332656"/>
            <a:ext cx="7632848" cy="5669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p>
            <a:pPr lvl="0" fontAlgn="base">
              <a:spcBef>
                <a:spcPct val="0"/>
              </a:spcBef>
              <a:spcAft>
                <a:spcPct val="0"/>
              </a:spcAft>
              <a:defRPr/>
            </a:pPr>
            <a:r>
              <a:rPr lang="en-US" altLang="zh-CN" sz="3200" b="1" dirty="0" smtClean="0">
                <a:solidFill>
                  <a:srgbClr val="6600CC"/>
                </a:solidFill>
              </a:rPr>
              <a:t>5.1.2 </a:t>
            </a:r>
            <a:r>
              <a:rPr lang="zh-CN" altLang="en-US" sz="3200" b="1" dirty="0" smtClean="0">
                <a:solidFill>
                  <a:srgbClr val="6600CC"/>
                </a:solidFill>
              </a:rPr>
              <a:t>时钟触发器</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pic>
        <p:nvPicPr>
          <p:cNvPr id="96521" name="Picture 265"/>
          <p:cNvPicPr>
            <a:picLocks noChangeAspect="1" noChangeArrowheads="1"/>
          </p:cNvPicPr>
          <p:nvPr/>
        </p:nvPicPr>
        <p:blipFill>
          <a:blip r:embed="rId5" cstate="print"/>
          <a:srcRect/>
          <a:stretch>
            <a:fillRect/>
          </a:stretch>
        </p:blipFill>
        <p:spPr bwMode="auto">
          <a:xfrm>
            <a:off x="6200775" y="116632"/>
            <a:ext cx="2943225" cy="1905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619672" y="3645024"/>
            <a:ext cx="2160240" cy="2706460"/>
          </a:xfrm>
          <a:prstGeom prst="rect">
            <a:avLst/>
          </a:prstGeom>
        </p:spPr>
      </p:pic>
      <p:sp>
        <p:nvSpPr>
          <p:cNvPr id="3" name="内容占位符 2"/>
          <p:cNvSpPr>
            <a:spLocks noGrp="1"/>
          </p:cNvSpPr>
          <p:nvPr>
            <p:ph idx="1"/>
          </p:nvPr>
        </p:nvSpPr>
        <p:spPr>
          <a:xfrm>
            <a:off x="467544" y="1988840"/>
            <a:ext cx="8487544" cy="4608512"/>
          </a:xfrm>
        </p:spPr>
        <p:txBody>
          <a:bodyPr/>
          <a:lstStyle/>
          <a:p>
            <a:pPr>
              <a:lnSpc>
                <a:spcPct val="100000"/>
              </a:lnSpc>
              <a:spcBef>
                <a:spcPts val="600"/>
              </a:spcBef>
              <a:buSzPct val="100000"/>
              <a:buFont typeface="Wingdings" pitchFamily="2" charset="2"/>
              <a:buChar char="p"/>
            </a:pPr>
            <a:r>
              <a:rPr lang="zh-CN" altLang="en-US" sz="2800" dirty="0"/>
              <a:t>同步</a:t>
            </a:r>
            <a:r>
              <a:rPr lang="en-US" altLang="zh-CN" sz="2800" dirty="0"/>
              <a:t>T</a:t>
            </a:r>
            <a:r>
              <a:rPr lang="zh-CN" altLang="en-US" sz="2800" dirty="0"/>
              <a:t>和</a:t>
            </a:r>
            <a:r>
              <a:rPr lang="en-US" altLang="zh-CN" sz="2800" dirty="0"/>
              <a:t>T’</a:t>
            </a:r>
            <a:r>
              <a:rPr lang="zh-CN" altLang="en-US" sz="2800" dirty="0" smtClean="0"/>
              <a:t>触发器</a:t>
            </a:r>
            <a:endParaRPr lang="en-US" altLang="zh-CN" sz="2800" dirty="0" smtClean="0"/>
          </a:p>
          <a:p>
            <a:pPr lvl="1">
              <a:lnSpc>
                <a:spcPct val="100000"/>
              </a:lnSpc>
              <a:spcBef>
                <a:spcPts val="0"/>
              </a:spcBef>
              <a:buSzPct val="100000"/>
            </a:pPr>
            <a:r>
              <a:rPr lang="zh-CN" altLang="en-US" sz="2400" dirty="0"/>
              <a:t>将</a:t>
            </a:r>
            <a:r>
              <a:rPr lang="en-US" altLang="zh-CN" sz="2400" dirty="0"/>
              <a:t>JK-FF</a:t>
            </a:r>
            <a:r>
              <a:rPr lang="zh-CN" altLang="en-US" sz="2400" dirty="0"/>
              <a:t>的</a:t>
            </a:r>
            <a:r>
              <a:rPr lang="en-US" altLang="zh-CN" sz="2400" dirty="0"/>
              <a:t>J</a:t>
            </a:r>
            <a:r>
              <a:rPr lang="zh-CN" altLang="en-US" sz="2400" dirty="0"/>
              <a:t>端和</a:t>
            </a:r>
            <a:r>
              <a:rPr lang="en-US" altLang="zh-CN" sz="2400" dirty="0"/>
              <a:t>K</a:t>
            </a:r>
            <a:r>
              <a:rPr lang="zh-CN" altLang="en-US" sz="2400" dirty="0"/>
              <a:t>端连在一起，即得到</a:t>
            </a:r>
            <a:r>
              <a:rPr lang="en-US" altLang="zh-CN" sz="2400" dirty="0">
                <a:solidFill>
                  <a:srgbClr val="0000CC"/>
                </a:solidFill>
              </a:rPr>
              <a:t>T</a:t>
            </a:r>
            <a:r>
              <a:rPr lang="zh-CN" altLang="en-US" sz="2400" dirty="0" smtClean="0">
                <a:solidFill>
                  <a:srgbClr val="0000CC"/>
                </a:solidFill>
              </a:rPr>
              <a:t>触发器。</a:t>
            </a:r>
            <a:endParaRPr lang="en-US" altLang="zh-CN" sz="2400" dirty="0" smtClean="0">
              <a:solidFill>
                <a:srgbClr val="0000CC"/>
              </a:solidFill>
            </a:endParaRPr>
          </a:p>
          <a:p>
            <a:pPr lvl="1">
              <a:lnSpc>
                <a:spcPct val="100000"/>
              </a:lnSpc>
              <a:spcBef>
                <a:spcPts val="0"/>
              </a:spcBef>
              <a:buSzPct val="100000"/>
            </a:pPr>
            <a:r>
              <a:rPr lang="zh-CN" altLang="en-US" sz="2400" dirty="0" smtClean="0"/>
              <a:t>故没有专门的触发器。</a:t>
            </a:r>
            <a:endParaRPr lang="en-US" altLang="zh-CN" sz="2400" dirty="0" smtClean="0"/>
          </a:p>
          <a:p>
            <a:pPr lvl="1"/>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37</a:t>
            </a:fld>
            <a:endParaRPr lang="zh-CN" altLang="en-US"/>
          </a:p>
        </p:txBody>
      </p:sp>
      <p:sp>
        <p:nvSpPr>
          <p:cNvPr id="6" name="Text Box 6"/>
          <p:cNvSpPr txBox="1">
            <a:spLocks noChangeArrowheads="1"/>
          </p:cNvSpPr>
          <p:nvPr/>
        </p:nvSpPr>
        <p:spPr bwMode="auto">
          <a:xfrm>
            <a:off x="1331640" y="6491287"/>
            <a:ext cx="2736304" cy="3667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p>
            <a:pPr algn="ctr">
              <a:spcBef>
                <a:spcPct val="50000"/>
              </a:spcBef>
            </a:pPr>
            <a:r>
              <a:rPr lang="zh-CN" altLang="en-US" sz="1600" b="1" dirty="0" smtClean="0">
                <a:latin typeface="宋体" panose="02010600030101010101" pitchFamily="2" charset="-122"/>
              </a:rPr>
              <a:t>图</a:t>
            </a:r>
            <a:r>
              <a:rPr lang="en-US" altLang="zh-CN" sz="1600" b="1" dirty="0" smtClean="0">
                <a:latin typeface="宋体" panose="02010600030101010101" pitchFamily="2" charset="-122"/>
              </a:rPr>
              <a:t> </a:t>
            </a:r>
            <a:r>
              <a:rPr lang="en-US" altLang="zh-CN" sz="1600" dirty="0" smtClean="0"/>
              <a:t> </a:t>
            </a:r>
            <a:r>
              <a:rPr lang="zh-CN" altLang="en-US" sz="1600" b="1" dirty="0"/>
              <a:t>同步</a:t>
            </a:r>
            <a:r>
              <a:rPr lang="en-US" altLang="zh-CN" sz="1600" b="1" dirty="0"/>
              <a:t>T-FF</a:t>
            </a:r>
            <a:r>
              <a:rPr lang="zh-CN" altLang="en-US" sz="1600" b="1" dirty="0"/>
              <a:t>的逻辑图</a:t>
            </a:r>
            <a:r>
              <a:rPr lang="zh-CN" altLang="en-US" sz="1800" dirty="0"/>
              <a:t>  </a:t>
            </a:r>
          </a:p>
        </p:txBody>
      </p:sp>
      <p:sp>
        <p:nvSpPr>
          <p:cNvPr id="7" name="Text Box 7"/>
          <p:cNvSpPr txBox="1">
            <a:spLocks noChangeArrowheads="1"/>
          </p:cNvSpPr>
          <p:nvPr/>
        </p:nvSpPr>
        <p:spPr bwMode="auto">
          <a:xfrm>
            <a:off x="5220072" y="3068960"/>
            <a:ext cx="2952328" cy="336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p>
            <a:pPr algn="ctr">
              <a:spcBef>
                <a:spcPct val="50000"/>
              </a:spcBef>
            </a:pPr>
            <a:r>
              <a:rPr lang="zh-CN" altLang="en-US" sz="1600" b="1" dirty="0" smtClean="0">
                <a:latin typeface="宋体" panose="02010600030101010101" pitchFamily="2" charset="-122"/>
              </a:rPr>
              <a:t>表</a:t>
            </a:r>
            <a:r>
              <a:rPr lang="en-US" altLang="zh-CN" sz="1600" b="1" dirty="0" smtClean="0">
                <a:latin typeface="宋体" panose="02010600030101010101" pitchFamily="2" charset="-122"/>
              </a:rPr>
              <a:t> </a:t>
            </a:r>
            <a:r>
              <a:rPr lang="zh-CN" altLang="en-US" sz="1600" b="1" dirty="0" smtClean="0"/>
              <a:t>同步</a:t>
            </a:r>
            <a:r>
              <a:rPr lang="en-US" altLang="zh-CN" sz="1600" b="1" dirty="0"/>
              <a:t>T-FF</a:t>
            </a:r>
            <a:r>
              <a:rPr lang="zh-CN" altLang="en-US" sz="1600" b="1" dirty="0"/>
              <a:t>的特性表</a:t>
            </a:r>
            <a:endParaRPr lang="zh-CN" altLang="en-US" sz="1800" dirty="0"/>
          </a:p>
        </p:txBody>
      </p:sp>
      <p:graphicFrame>
        <p:nvGraphicFramePr>
          <p:cNvPr id="8" name="Group 61"/>
          <p:cNvGraphicFramePr>
            <a:graphicFrameLocks noGrp="1"/>
          </p:cNvGraphicFramePr>
          <p:nvPr>
            <p:extLst>
              <p:ext uri="{D42A27DB-BD31-4B8C-83A1-F6EECF244321}">
                <p14:modId xmlns:p14="http://schemas.microsoft.com/office/powerpoint/2010/main" xmlns="" val="3900878033"/>
              </p:ext>
            </p:extLst>
          </p:nvPr>
        </p:nvGraphicFramePr>
        <p:xfrm>
          <a:off x="5017293" y="3560911"/>
          <a:ext cx="3529013" cy="2895602"/>
        </p:xfrm>
        <a:graphic>
          <a:graphicData uri="http://schemas.openxmlformats.org/drawingml/2006/table">
            <a:tbl>
              <a:tblPr/>
              <a:tblGrid>
                <a:gridCol w="636588">
                  <a:extLst>
                    <a:ext uri="{9D8B030D-6E8A-4147-A177-3AD203B41FA5}">
                      <a16:colId xmlns:a16="http://schemas.microsoft.com/office/drawing/2014/main" xmlns="" val="20000"/>
                    </a:ext>
                  </a:extLst>
                </a:gridCol>
                <a:gridCol w="638175">
                  <a:extLst>
                    <a:ext uri="{9D8B030D-6E8A-4147-A177-3AD203B41FA5}">
                      <a16:colId xmlns:a16="http://schemas.microsoft.com/office/drawing/2014/main" xmlns="" val="20001"/>
                    </a:ext>
                  </a:extLst>
                </a:gridCol>
                <a:gridCol w="636587">
                  <a:extLst>
                    <a:ext uri="{9D8B030D-6E8A-4147-A177-3AD203B41FA5}">
                      <a16:colId xmlns:a16="http://schemas.microsoft.com/office/drawing/2014/main" xmlns="" val="20002"/>
                    </a:ext>
                  </a:extLst>
                </a:gridCol>
                <a:gridCol w="811709">
                  <a:extLst>
                    <a:ext uri="{9D8B030D-6E8A-4147-A177-3AD203B41FA5}">
                      <a16:colId xmlns:a16="http://schemas.microsoft.com/office/drawing/2014/main" xmlns="" val="20003"/>
                    </a:ext>
                  </a:extLst>
                </a:gridCol>
                <a:gridCol w="805954">
                  <a:extLst>
                    <a:ext uri="{9D8B030D-6E8A-4147-A177-3AD203B41FA5}">
                      <a16:colId xmlns:a16="http://schemas.microsoft.com/office/drawing/2014/main" xmlns="" val="20004"/>
                    </a:ext>
                  </a:extLst>
                </a:gridCol>
              </a:tblGrid>
              <a:tr h="414338">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CP</a:t>
                      </a:r>
                    </a:p>
                  </a:txBody>
                  <a:tcPr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0" lang="en-US"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Q</a:t>
                      </a:r>
                      <a:r>
                        <a:rPr kumimoji="0" lang="en-US" altLang="zh-CN" sz="2000" b="1" i="0" u="none" strike="noStrike" cap="none" normalizeH="0" baseline="30000" dirty="0" smtClean="0">
                          <a:ln>
                            <a:noFill/>
                          </a:ln>
                          <a:solidFill>
                            <a:schemeClr val="tx1"/>
                          </a:solidFill>
                          <a:effectLst/>
                          <a:latin typeface="Arial" panose="020B0604020202020204" pitchFamily="34" charset="0"/>
                          <a:ea typeface="宋体" panose="02010600030101010101" pitchFamily="2" charset="-122"/>
                        </a:rPr>
                        <a:t>n</a:t>
                      </a:r>
                      <a:endParaRPr kumimoji="0" lang="zh-CN"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0" lang="en-US"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Q</a:t>
                      </a:r>
                      <a:r>
                        <a:rPr kumimoji="0" lang="en-US" altLang="zh-CN" sz="2000" b="1" i="0" u="none" strike="noStrike" cap="none" normalizeH="0" baseline="30000" dirty="0" smtClean="0">
                          <a:ln>
                            <a:noFill/>
                          </a:ln>
                          <a:solidFill>
                            <a:schemeClr val="tx1"/>
                          </a:solidFill>
                          <a:effectLst/>
                          <a:latin typeface="Arial" panose="020B0604020202020204" pitchFamily="34" charset="0"/>
                          <a:ea typeface="宋体" panose="02010600030101010101" pitchFamily="2" charset="-122"/>
                        </a:rPr>
                        <a:t>n+1</a:t>
                      </a:r>
                      <a:endParaRPr kumimoji="0" lang="zh-CN"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说明</a:t>
                      </a:r>
                    </a:p>
                  </a:txBody>
                  <a:tcPr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0"/>
                  </a:ext>
                </a:extLst>
              </a:tr>
              <a:tr h="412750">
                <a:tc row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0</a:t>
                      </a: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X</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4">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000" b="1" i="0" u="none" strike="noStrike" cap="none" normalizeH="0" baseline="0" dirty="0" smtClean="0">
                          <a:ln>
                            <a:noFill/>
                          </a:ln>
                          <a:solidFill>
                            <a:srgbClr val="FF0000"/>
                          </a:solidFill>
                          <a:effectLst/>
                          <a:latin typeface="Arial" panose="020B0604020202020204" pitchFamily="34" charset="0"/>
                          <a:ea typeface="宋体" panose="02010600030101010101" pitchFamily="2" charset="-122"/>
                        </a:rPr>
                        <a:t>保持</a:t>
                      </a:r>
                    </a:p>
                  </a:txBody>
                  <a:tcPr marL="90000" marR="90000" marT="46800" marB="46800" anchor="ctr" anchorCtr="1"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r h="414338">
                <a:tc vMerge="1">
                  <a:txBody>
                    <a:bodyPr/>
                    <a:lstStyle/>
                    <a:p>
                      <a:endParaRPr lang="zh-CN"/>
                    </a:p>
                  </a:txBody>
                  <a:tcPr/>
                </a:tc>
                <a:tc vMerge="1">
                  <a:txBody>
                    <a:bodyPr/>
                    <a:lstStyle/>
                    <a:p>
                      <a:endParaRPr lang="zh-CN"/>
                    </a:p>
                  </a:txBody>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zh-CN"/>
                    </a:p>
                  </a:txBody>
                  <a:tcPr/>
                </a:tc>
                <a:extLst>
                  <a:ext uri="{0D108BD9-81ED-4DB2-BD59-A6C34878D82A}">
                    <a16:rowId xmlns:a16="http://schemas.microsoft.com/office/drawing/2014/main" xmlns="" val="10002"/>
                  </a:ext>
                </a:extLst>
              </a:tr>
              <a:tr h="412750">
                <a:tc row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zh-CN"/>
                    </a:p>
                  </a:txBody>
                  <a:tcPr/>
                </a:tc>
                <a:extLst>
                  <a:ext uri="{0D108BD9-81ED-4DB2-BD59-A6C34878D82A}">
                    <a16:rowId xmlns:a16="http://schemas.microsoft.com/office/drawing/2014/main" xmlns="" val="10003"/>
                  </a:ext>
                </a:extLst>
              </a:tr>
              <a:tr h="414338">
                <a:tc vMerge="1">
                  <a:txBody>
                    <a:bodyPr/>
                    <a:lstStyle/>
                    <a:p>
                      <a:endParaRPr lang="zh-CN"/>
                    </a:p>
                  </a:txBody>
                  <a:tcPr/>
                </a:tc>
                <a:tc vMerge="1">
                  <a:txBody>
                    <a:bodyPr/>
                    <a:lstStyle/>
                    <a:p>
                      <a:endParaRPr lang="zh-CN"/>
                    </a:p>
                  </a:txBody>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zh-CN"/>
                    </a:p>
                  </a:txBody>
                  <a:tcPr/>
                </a:tc>
                <a:extLst>
                  <a:ext uri="{0D108BD9-81ED-4DB2-BD59-A6C34878D82A}">
                    <a16:rowId xmlns:a16="http://schemas.microsoft.com/office/drawing/2014/main" xmlns="" val="10004"/>
                  </a:ext>
                </a:extLst>
              </a:tr>
              <a:tr h="412750">
                <a:tc row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p>
                  </a:txBody>
                  <a:tcPr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000" b="1" i="0" u="none" strike="noStrike" cap="none" normalizeH="0" baseline="0" dirty="0" smtClean="0">
                          <a:ln>
                            <a:noFill/>
                          </a:ln>
                          <a:solidFill>
                            <a:srgbClr val="FF0000"/>
                          </a:solidFill>
                          <a:effectLst/>
                          <a:latin typeface="Arial" panose="020B0604020202020204" pitchFamily="34" charset="0"/>
                          <a:ea typeface="宋体" panose="02010600030101010101" pitchFamily="2" charset="-122"/>
                        </a:rPr>
                        <a:t>翻转</a:t>
                      </a:r>
                    </a:p>
                  </a:txBody>
                  <a:tcPr marL="90000" marR="90000" marT="46800" marB="46800" anchor="ctr" anchorCtr="1"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5"/>
                  </a:ext>
                </a:extLst>
              </a:tr>
              <a:tr h="414338">
                <a:tc vMerge="1">
                  <a:txBody>
                    <a:bodyPr/>
                    <a:lstStyle/>
                    <a:p>
                      <a:endParaRPr lang="zh-CN"/>
                    </a:p>
                  </a:txBody>
                  <a:tcPr/>
                </a:tc>
                <a:tc vMerge="1">
                  <a:txBody>
                    <a:bodyPr/>
                    <a:lstStyle/>
                    <a:p>
                      <a:endParaRPr lang="zh-CN"/>
                    </a:p>
                  </a:txBody>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zh-CN"/>
                    </a:p>
                  </a:txBody>
                  <a:tcPr/>
                </a:tc>
                <a:extLst>
                  <a:ext uri="{0D108BD9-81ED-4DB2-BD59-A6C34878D82A}">
                    <a16:rowId xmlns:a16="http://schemas.microsoft.com/office/drawing/2014/main" xmlns="" val="10006"/>
                  </a:ext>
                </a:extLst>
              </a:tr>
            </a:tbl>
          </a:graphicData>
        </a:graphic>
      </p:graphicFrame>
      <p:sp>
        <p:nvSpPr>
          <p:cNvPr id="13" name="AutoShape 60"/>
          <p:cNvSpPr>
            <a:spLocks noChangeArrowheads="1"/>
          </p:cNvSpPr>
          <p:nvPr/>
        </p:nvSpPr>
        <p:spPr bwMode="auto">
          <a:xfrm>
            <a:off x="539552" y="6093296"/>
            <a:ext cx="1335038" cy="431800"/>
          </a:xfrm>
          <a:prstGeom prst="wedgeRoundRectCallout">
            <a:avLst>
              <a:gd name="adj1" fmla="val 95441"/>
              <a:gd name="adj2" fmla="val -16449"/>
              <a:gd name="adj3" fmla="val 16667"/>
            </a:avLst>
          </a:prstGeom>
          <a:gradFill flip="none" rotWithShape="1">
            <a:gsLst>
              <a:gs pos="37000">
                <a:srgbClr val="0000CC"/>
              </a:gs>
              <a:gs pos="0">
                <a:schemeClr val="accent1">
                  <a:lumMod val="5000"/>
                  <a:lumOff val="95000"/>
                </a:schemeClr>
              </a:gs>
              <a:gs pos="74000">
                <a:schemeClr val="bg1"/>
              </a:gs>
              <a:gs pos="83000">
                <a:schemeClr val="bg1"/>
              </a:gs>
              <a:gs pos="100000">
                <a:schemeClr val="bg1"/>
              </a:gs>
            </a:gsLst>
            <a:lin ang="0" scaled="1"/>
            <a:tileRect/>
          </a:gradFill>
          <a:ln w="9525">
            <a:solidFill>
              <a:srgbClr val="0000CC"/>
            </a:solidFill>
            <a:miter lim="800000"/>
          </a:ln>
          <a:effectLst/>
          <a:extLst/>
        </p:spPr>
        <p:txBody>
          <a:bodyPr/>
          <a:lstStyle/>
          <a:p>
            <a:pPr algn="ctr"/>
            <a:r>
              <a:rPr lang="en-US" altLang="zh-CN" b="1" dirty="0">
                <a:solidFill>
                  <a:srgbClr val="FF0000"/>
                </a:solidFill>
              </a:rPr>
              <a:t>J=K=T</a:t>
            </a:r>
          </a:p>
        </p:txBody>
      </p:sp>
      <p:sp>
        <p:nvSpPr>
          <p:cNvPr id="12" name="标题 1"/>
          <p:cNvSpPr>
            <a:spLocks noGrp="1"/>
          </p:cNvSpPr>
          <p:nvPr>
            <p:ph type="title"/>
          </p:nvPr>
        </p:nvSpPr>
        <p:spPr>
          <a:xfrm>
            <a:off x="1187624" y="1124744"/>
            <a:ext cx="7704856" cy="566936"/>
          </a:xfrm>
        </p:spPr>
        <p:txBody>
          <a:bodyPr/>
          <a:lstStyle/>
          <a:p>
            <a:r>
              <a:rPr lang="en-US" altLang="zh-CN" dirty="0" smtClean="0">
                <a:solidFill>
                  <a:srgbClr val="6600CC"/>
                </a:solidFill>
              </a:rPr>
              <a:t>4. </a:t>
            </a:r>
            <a:r>
              <a:rPr lang="zh-CN" altLang="en-US" dirty="0" smtClean="0">
                <a:solidFill>
                  <a:srgbClr val="6600CC"/>
                </a:solidFill>
              </a:rPr>
              <a:t>时钟（同步）</a:t>
            </a:r>
            <a:r>
              <a:rPr lang="en-US" altLang="zh-CN" dirty="0" smtClean="0">
                <a:solidFill>
                  <a:srgbClr val="6600CC"/>
                </a:solidFill>
              </a:rPr>
              <a:t>T</a:t>
            </a:r>
            <a:r>
              <a:rPr lang="zh-CN" altLang="en-US" dirty="0" smtClean="0">
                <a:solidFill>
                  <a:srgbClr val="6600CC"/>
                </a:solidFill>
              </a:rPr>
              <a:t>触发器</a:t>
            </a:r>
            <a:endParaRPr lang="zh-CN" altLang="en-US" dirty="0"/>
          </a:p>
        </p:txBody>
      </p:sp>
      <p:sp>
        <p:nvSpPr>
          <p:cNvPr id="16" name="标题 1"/>
          <p:cNvSpPr txBox="1">
            <a:spLocks/>
          </p:cNvSpPr>
          <p:nvPr/>
        </p:nvSpPr>
        <p:spPr bwMode="auto">
          <a:xfrm>
            <a:off x="1187624" y="332656"/>
            <a:ext cx="7632848" cy="5669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p>
            <a:pPr lvl="0" fontAlgn="base">
              <a:spcBef>
                <a:spcPct val="0"/>
              </a:spcBef>
              <a:spcAft>
                <a:spcPct val="0"/>
              </a:spcAft>
              <a:defRPr/>
            </a:pPr>
            <a:r>
              <a:rPr lang="en-US" altLang="zh-CN" sz="3200" b="1" dirty="0" smtClean="0">
                <a:solidFill>
                  <a:srgbClr val="6600CC"/>
                </a:solidFill>
              </a:rPr>
              <a:t>5.1.2 </a:t>
            </a:r>
            <a:r>
              <a:rPr lang="zh-CN" altLang="en-US" sz="3200" b="1" dirty="0" smtClean="0">
                <a:solidFill>
                  <a:srgbClr val="6600CC"/>
                </a:solidFill>
              </a:rPr>
              <a:t>时钟触发器</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0C913308-F349-4B6D-A68A-DD1791B4A57B}" type="slidenum">
              <a:rPr lang="zh-CN" altLang="en-US" smtClean="0"/>
              <a:pPr/>
              <a:t>38</a:t>
            </a:fld>
            <a:endParaRPr lang="zh-CN" altLang="en-US"/>
          </a:p>
        </p:txBody>
      </p:sp>
      <p:sp>
        <p:nvSpPr>
          <p:cNvPr id="5" name="Text Box 10"/>
          <p:cNvSpPr txBox="1">
            <a:spLocks noChangeArrowheads="1"/>
          </p:cNvSpPr>
          <p:nvPr/>
        </p:nvSpPr>
        <p:spPr bwMode="auto">
          <a:xfrm>
            <a:off x="971600" y="5733256"/>
            <a:ext cx="7704856" cy="7232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p>
            <a:pPr>
              <a:spcBef>
                <a:spcPts val="600"/>
              </a:spcBef>
            </a:pPr>
            <a:r>
              <a:rPr lang="zh-CN" altLang="en-US" b="1" dirty="0"/>
              <a:t>若</a:t>
            </a:r>
            <a:r>
              <a:rPr lang="zh-CN" altLang="en-US" b="1" dirty="0">
                <a:solidFill>
                  <a:srgbClr val="0000CC"/>
                </a:solidFill>
              </a:rPr>
              <a:t>将</a:t>
            </a:r>
            <a:r>
              <a:rPr lang="en-US" altLang="zh-CN" b="1" dirty="0">
                <a:solidFill>
                  <a:srgbClr val="0000CC"/>
                </a:solidFill>
              </a:rPr>
              <a:t>T</a:t>
            </a:r>
            <a:r>
              <a:rPr lang="zh-CN" altLang="en-US" b="1" dirty="0">
                <a:solidFill>
                  <a:srgbClr val="0000CC"/>
                </a:solidFill>
              </a:rPr>
              <a:t>输入端恒接高电平，则成为</a:t>
            </a:r>
            <a:r>
              <a:rPr lang="en-US" altLang="zh-CN" b="1" dirty="0">
                <a:solidFill>
                  <a:srgbClr val="0000CC"/>
                </a:solidFill>
              </a:rPr>
              <a:t>T’</a:t>
            </a:r>
            <a:r>
              <a:rPr lang="zh-CN" altLang="en-US" b="1" dirty="0">
                <a:solidFill>
                  <a:srgbClr val="0000CC"/>
                </a:solidFill>
              </a:rPr>
              <a:t>触发器</a:t>
            </a:r>
            <a:r>
              <a:rPr lang="zh-CN" altLang="en-US" b="1" dirty="0" smtClean="0">
                <a:solidFill>
                  <a:srgbClr val="0000CC"/>
                </a:solidFill>
              </a:rPr>
              <a:t>。因此，也没有专门的</a:t>
            </a:r>
            <a:r>
              <a:rPr lang="en-US" altLang="zh-CN" b="1" dirty="0" smtClean="0">
                <a:solidFill>
                  <a:srgbClr val="0000CC"/>
                </a:solidFill>
              </a:rPr>
              <a:t>T’</a:t>
            </a:r>
            <a:r>
              <a:rPr lang="zh-CN" altLang="en-US" b="1" dirty="0" smtClean="0">
                <a:solidFill>
                  <a:srgbClr val="0000CC"/>
                </a:solidFill>
              </a:rPr>
              <a:t>触发器。</a:t>
            </a:r>
            <a:endParaRPr lang="zh-CN" altLang="en-US" b="1" dirty="0">
              <a:solidFill>
                <a:srgbClr val="0000CC"/>
              </a:solidFill>
            </a:endParaRPr>
          </a:p>
          <a:p>
            <a:pPr>
              <a:spcBef>
                <a:spcPts val="600"/>
              </a:spcBef>
            </a:pPr>
            <a:r>
              <a:rPr lang="zh-CN" altLang="en-US" b="1" dirty="0"/>
              <a:t> </a:t>
            </a:r>
            <a:r>
              <a:rPr lang="en-US" altLang="zh-CN" b="1" dirty="0"/>
              <a:t>T’-FF</a:t>
            </a:r>
            <a:r>
              <a:rPr lang="zh-CN" altLang="en-US" b="1" dirty="0"/>
              <a:t>的特性方程为：</a:t>
            </a:r>
          </a:p>
        </p:txBody>
      </p:sp>
      <p:sp>
        <p:nvSpPr>
          <p:cNvPr id="6" name="Text Box 6"/>
          <p:cNvSpPr txBox="1">
            <a:spLocks noChangeArrowheads="1"/>
          </p:cNvSpPr>
          <p:nvPr/>
        </p:nvSpPr>
        <p:spPr bwMode="auto">
          <a:xfrm>
            <a:off x="2195736" y="4005064"/>
            <a:ext cx="4681537" cy="3667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zh-CN" altLang="en-US" sz="1800" b="1" dirty="0" smtClean="0">
                <a:latin typeface="楷体_GB2312" pitchFamily="49" charset="-122"/>
                <a:ea typeface="楷体_GB2312" pitchFamily="49" charset="-122"/>
              </a:rPr>
              <a:t>图</a:t>
            </a:r>
            <a:r>
              <a:rPr lang="en-US" altLang="zh-CN" sz="1800" b="1" dirty="0" smtClean="0">
                <a:latin typeface="楷体_GB2312" pitchFamily="49" charset="-122"/>
                <a:ea typeface="楷体_GB2312" pitchFamily="49" charset="-122"/>
              </a:rPr>
              <a:t>  </a:t>
            </a:r>
            <a:r>
              <a:rPr lang="zh-CN" altLang="en-US" sz="1800" b="1" dirty="0">
                <a:latin typeface="楷体_GB2312" pitchFamily="49" charset="-122"/>
                <a:ea typeface="楷体_GB2312" pitchFamily="49" charset="-122"/>
              </a:rPr>
              <a:t>同步</a:t>
            </a:r>
            <a:r>
              <a:rPr lang="en-US" altLang="zh-CN" sz="1800" b="1" dirty="0">
                <a:latin typeface="楷体_GB2312" pitchFamily="49" charset="-122"/>
                <a:ea typeface="楷体_GB2312" pitchFamily="49" charset="-122"/>
              </a:rPr>
              <a:t>T-FF</a:t>
            </a:r>
            <a:r>
              <a:rPr lang="zh-CN" altLang="en-US" sz="1800" b="1" dirty="0">
                <a:latin typeface="楷体_GB2312" pitchFamily="49" charset="-122"/>
                <a:ea typeface="楷体_GB2312" pitchFamily="49" charset="-122"/>
              </a:rPr>
              <a:t>的惯用符号和国标符号</a:t>
            </a:r>
            <a:r>
              <a:rPr lang="zh-CN" altLang="en-US" sz="1800" dirty="0">
                <a:latin typeface="楷体_GB2312" pitchFamily="49" charset="-122"/>
                <a:ea typeface="楷体_GB2312" pitchFamily="49" charset="-122"/>
              </a:rPr>
              <a:t>  </a:t>
            </a:r>
          </a:p>
        </p:txBody>
      </p:sp>
      <p:sp>
        <p:nvSpPr>
          <p:cNvPr id="7" name="Text Box 11"/>
          <p:cNvSpPr txBox="1">
            <a:spLocks noChangeArrowheads="1"/>
          </p:cNvSpPr>
          <p:nvPr/>
        </p:nvSpPr>
        <p:spPr bwMode="auto">
          <a:xfrm>
            <a:off x="827584" y="4437112"/>
            <a:ext cx="7343775" cy="8223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en-US" altLang="zh-CN" b="1" dirty="0"/>
              <a:t>       </a:t>
            </a:r>
            <a:r>
              <a:rPr lang="zh-CN" altLang="en-US" b="1" dirty="0"/>
              <a:t>由同步</a:t>
            </a:r>
            <a:r>
              <a:rPr lang="en-US" altLang="zh-CN" b="1" dirty="0"/>
              <a:t>T-FF</a:t>
            </a:r>
            <a:r>
              <a:rPr lang="zh-CN" altLang="en-US" b="1" dirty="0"/>
              <a:t>的特性表或将</a:t>
            </a:r>
            <a:r>
              <a:rPr lang="en-US" altLang="zh-CN" b="1" dirty="0"/>
              <a:t>J=K=T</a:t>
            </a:r>
            <a:r>
              <a:rPr lang="zh-CN" altLang="en-US" b="1" dirty="0"/>
              <a:t>代入</a:t>
            </a:r>
            <a:r>
              <a:rPr lang="en-US" altLang="zh-CN" b="1" dirty="0"/>
              <a:t>JK-FF</a:t>
            </a:r>
            <a:r>
              <a:rPr lang="zh-CN" altLang="en-US" b="1" dirty="0"/>
              <a:t>的特性方程可得同步</a:t>
            </a:r>
            <a:r>
              <a:rPr lang="en-US" altLang="zh-CN" b="1" dirty="0"/>
              <a:t>T-FF</a:t>
            </a:r>
            <a:r>
              <a:rPr lang="zh-CN" altLang="en-US" b="1" dirty="0"/>
              <a:t>的特性方程为：</a:t>
            </a:r>
          </a:p>
        </p:txBody>
      </p:sp>
      <p:graphicFrame>
        <p:nvGraphicFramePr>
          <p:cNvPr id="8" name="Object 12"/>
          <p:cNvGraphicFramePr>
            <a:graphicFrameLocks noChangeAspect="1"/>
          </p:cNvGraphicFramePr>
          <p:nvPr>
            <p:extLst>
              <p:ext uri="{D42A27DB-BD31-4B8C-83A1-F6EECF244321}">
                <p14:modId xmlns:p14="http://schemas.microsoft.com/office/powerpoint/2010/main" xmlns="" val="2949760640"/>
              </p:ext>
            </p:extLst>
          </p:nvPr>
        </p:nvGraphicFramePr>
        <p:xfrm>
          <a:off x="2483768" y="5157192"/>
          <a:ext cx="2184722" cy="491595"/>
        </p:xfrm>
        <a:graphic>
          <a:graphicData uri="http://schemas.openxmlformats.org/presentationml/2006/ole">
            <p:oleObj spid="_x0000_s98560" name="公式" r:id="rId3" imgW="1499040" imgH="330120" progId="">
              <p:embed/>
            </p:oleObj>
          </a:graphicData>
        </a:graphic>
      </p:graphicFrame>
      <p:graphicFrame>
        <p:nvGraphicFramePr>
          <p:cNvPr id="9" name="Object 13"/>
          <p:cNvGraphicFramePr>
            <a:graphicFrameLocks noChangeAspect="1"/>
          </p:cNvGraphicFramePr>
          <p:nvPr/>
        </p:nvGraphicFramePr>
        <p:xfrm>
          <a:off x="3419872" y="6093296"/>
          <a:ext cx="1224136" cy="480515"/>
        </p:xfrm>
        <a:graphic>
          <a:graphicData uri="http://schemas.openxmlformats.org/presentationml/2006/ole">
            <p:oleObj spid="_x0000_s98561" name="公式" r:id="rId4" imgW="851040" imgH="330120" progId="">
              <p:embed/>
            </p:oleObj>
          </a:graphicData>
        </a:graphic>
      </p:graphicFrame>
      <p:pic>
        <p:nvPicPr>
          <p:cNvPr id="10" name="Picture 14" descr="4-2-11"/>
          <p:cNvPicPr>
            <a:picLocks noChangeAspect="1" noChangeArrowheads="1"/>
          </p:cNvPicPr>
          <p:nvPr/>
        </p:nvPicPr>
        <p:blipFill>
          <a:blip r:embed="rId5" cstate="print">
            <a:clrChange>
              <a:clrFrom>
                <a:srgbClr val="FDFDFD"/>
              </a:clrFrom>
              <a:clrTo>
                <a:srgbClr val="FDFDFD">
                  <a:alpha val="0"/>
                </a:srgbClr>
              </a:clrTo>
            </a:clrChange>
            <a:lum bright="-18000" contrast="54000"/>
            <a:extLst>
              <a:ext uri="{28A0092B-C50C-407E-A947-70E740481C1C}">
                <a14:useLocalDpi xmlns:a14="http://schemas.microsoft.com/office/drawing/2010/main" xmlns="" val="0"/>
              </a:ext>
            </a:extLst>
          </a:blip>
          <a:srcRect/>
          <a:stretch>
            <a:fillRect/>
          </a:stretch>
        </p:blipFill>
        <p:spPr bwMode="auto">
          <a:xfrm>
            <a:off x="2627313" y="1799704"/>
            <a:ext cx="3024807" cy="2155242"/>
          </a:xfrm>
          <a:prstGeom prst="rect">
            <a:avLst/>
          </a:prstGeom>
          <a:noFill/>
          <a:extLst>
            <a:ext uri="{909E8E84-426E-40DD-AFC4-6F175D3DCCD1}">
              <a14:hiddenFill xmlns:a14="http://schemas.microsoft.com/office/drawing/2010/main" xmlns="">
                <a:solidFill>
                  <a:srgbClr val="FFFFFF"/>
                </a:solidFill>
              </a14:hiddenFill>
            </a:ext>
          </a:extLst>
        </p:spPr>
      </p:pic>
      <p:sp>
        <p:nvSpPr>
          <p:cNvPr id="14" name="标题 1"/>
          <p:cNvSpPr>
            <a:spLocks noGrp="1"/>
          </p:cNvSpPr>
          <p:nvPr>
            <p:ph type="title"/>
          </p:nvPr>
        </p:nvSpPr>
        <p:spPr>
          <a:xfrm>
            <a:off x="1187624" y="1124744"/>
            <a:ext cx="7704856" cy="566936"/>
          </a:xfrm>
        </p:spPr>
        <p:txBody>
          <a:bodyPr/>
          <a:lstStyle/>
          <a:p>
            <a:r>
              <a:rPr lang="en-US" altLang="zh-CN" dirty="0" smtClean="0">
                <a:solidFill>
                  <a:srgbClr val="6600CC"/>
                </a:solidFill>
              </a:rPr>
              <a:t>4. </a:t>
            </a:r>
            <a:r>
              <a:rPr lang="zh-CN" altLang="en-US" dirty="0" smtClean="0">
                <a:solidFill>
                  <a:srgbClr val="6600CC"/>
                </a:solidFill>
              </a:rPr>
              <a:t>时钟（同步）</a:t>
            </a:r>
            <a:r>
              <a:rPr lang="en-US" altLang="zh-CN" dirty="0" smtClean="0">
                <a:solidFill>
                  <a:srgbClr val="6600CC"/>
                </a:solidFill>
              </a:rPr>
              <a:t>T</a:t>
            </a:r>
            <a:r>
              <a:rPr lang="zh-CN" altLang="en-US" dirty="0" smtClean="0">
                <a:solidFill>
                  <a:srgbClr val="6600CC"/>
                </a:solidFill>
              </a:rPr>
              <a:t>触发器</a:t>
            </a:r>
            <a:endParaRPr lang="zh-CN" altLang="en-US" dirty="0"/>
          </a:p>
        </p:txBody>
      </p:sp>
      <p:sp>
        <p:nvSpPr>
          <p:cNvPr id="15" name="标题 1"/>
          <p:cNvSpPr txBox="1">
            <a:spLocks/>
          </p:cNvSpPr>
          <p:nvPr/>
        </p:nvSpPr>
        <p:spPr bwMode="auto">
          <a:xfrm>
            <a:off x="1187624" y="332656"/>
            <a:ext cx="7632848" cy="5669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p>
            <a:pPr lvl="0" fontAlgn="base">
              <a:spcBef>
                <a:spcPct val="0"/>
              </a:spcBef>
              <a:spcAft>
                <a:spcPct val="0"/>
              </a:spcAft>
              <a:defRPr/>
            </a:pPr>
            <a:r>
              <a:rPr lang="en-US" altLang="zh-CN" sz="3200" b="1" dirty="0" smtClean="0">
                <a:solidFill>
                  <a:srgbClr val="6600CC"/>
                </a:solidFill>
              </a:rPr>
              <a:t>5.1.2 </a:t>
            </a:r>
            <a:r>
              <a:rPr lang="zh-CN" altLang="en-US" sz="3200" b="1" dirty="0" smtClean="0">
                <a:solidFill>
                  <a:srgbClr val="6600CC"/>
                </a:solidFill>
              </a:rPr>
              <a:t>时钟触发器</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a:xfrm>
            <a:off x="395536" y="1916832"/>
            <a:ext cx="8487544" cy="4752528"/>
          </a:xfrm>
        </p:spPr>
        <p:txBody>
          <a:bodyPr/>
          <a:lstStyle/>
          <a:p>
            <a:pPr>
              <a:lnSpc>
                <a:spcPct val="100000"/>
              </a:lnSpc>
              <a:spcBef>
                <a:spcPts val="600"/>
              </a:spcBef>
              <a:buSzPct val="100000"/>
              <a:buFont typeface="Wingdings" pitchFamily="2" charset="2"/>
              <a:buChar char="p"/>
            </a:pPr>
            <a:r>
              <a:rPr lang="zh-CN" altLang="en-US" sz="2800" dirty="0"/>
              <a:t>同步（电平）触发器特点</a:t>
            </a:r>
          </a:p>
          <a:p>
            <a:pPr lvl="1">
              <a:lnSpc>
                <a:spcPct val="100000"/>
              </a:lnSpc>
              <a:spcBef>
                <a:spcPts val="600"/>
              </a:spcBef>
              <a:buSzPct val="100000"/>
            </a:pPr>
            <a:r>
              <a:rPr lang="zh-CN" altLang="en-US" sz="2400" dirty="0" smtClean="0"/>
              <a:t>同步</a:t>
            </a:r>
            <a:r>
              <a:rPr lang="zh-CN" altLang="en-US" sz="2400" dirty="0"/>
              <a:t>触发器的触发方式</a:t>
            </a:r>
          </a:p>
          <a:p>
            <a:pPr marL="1371600" lvl="2" indent="-457200">
              <a:lnSpc>
                <a:spcPct val="100000"/>
              </a:lnSpc>
              <a:spcBef>
                <a:spcPts val="600"/>
              </a:spcBef>
              <a:buSzPct val="100000"/>
              <a:buFont typeface="Wingdings" pitchFamily="2" charset="2"/>
              <a:buChar char="u"/>
            </a:pPr>
            <a:r>
              <a:rPr lang="zh-CN" altLang="en-US" dirty="0"/>
              <a:t>上述几种功能的同步触发器均属于</a:t>
            </a:r>
            <a:r>
              <a:rPr lang="zh-CN" altLang="en-US" dirty="0">
                <a:solidFill>
                  <a:srgbClr val="0000CC"/>
                </a:solidFill>
              </a:rPr>
              <a:t>电平触发</a:t>
            </a:r>
            <a:r>
              <a:rPr lang="zh-CN" altLang="en-US" dirty="0"/>
              <a:t>方式。</a:t>
            </a:r>
            <a:r>
              <a:rPr lang="zh-CN" altLang="en-US" dirty="0" smtClean="0"/>
              <a:t>电平触发</a:t>
            </a:r>
            <a:r>
              <a:rPr lang="zh-CN" altLang="en-US" dirty="0"/>
              <a:t>方式有</a:t>
            </a:r>
            <a:r>
              <a:rPr lang="zh-CN" altLang="en-US" dirty="0">
                <a:solidFill>
                  <a:srgbClr val="0000CC"/>
                </a:solidFill>
              </a:rPr>
              <a:t>高电平触发</a:t>
            </a:r>
            <a:r>
              <a:rPr lang="zh-CN" altLang="en-US" dirty="0"/>
              <a:t>和</a:t>
            </a:r>
            <a:r>
              <a:rPr lang="zh-CN" altLang="en-US" dirty="0">
                <a:solidFill>
                  <a:srgbClr val="0000CC"/>
                </a:solidFill>
              </a:rPr>
              <a:t>低电平触发</a:t>
            </a:r>
            <a:r>
              <a:rPr lang="zh-CN" altLang="en-US" dirty="0"/>
              <a:t>两种。</a:t>
            </a:r>
          </a:p>
          <a:p>
            <a:pPr lvl="1">
              <a:lnSpc>
                <a:spcPct val="100000"/>
              </a:lnSpc>
              <a:spcBef>
                <a:spcPts val="600"/>
              </a:spcBef>
              <a:buSzPct val="100000"/>
            </a:pPr>
            <a:r>
              <a:rPr lang="zh-CN" altLang="en-US" dirty="0" smtClean="0"/>
              <a:t>同步</a:t>
            </a:r>
            <a:r>
              <a:rPr lang="zh-CN" altLang="en-US" dirty="0"/>
              <a:t>触发器的</a:t>
            </a:r>
            <a:r>
              <a:rPr lang="zh-CN" altLang="en-US" dirty="0">
                <a:solidFill>
                  <a:srgbClr val="FF0000"/>
                </a:solidFill>
              </a:rPr>
              <a:t>空翻</a:t>
            </a:r>
          </a:p>
          <a:p>
            <a:pPr lvl="2">
              <a:lnSpc>
                <a:spcPct val="100000"/>
              </a:lnSpc>
              <a:spcBef>
                <a:spcPts val="600"/>
              </a:spcBef>
              <a:buSzPct val="100000"/>
              <a:buFont typeface="Wingdings" pitchFamily="2" charset="2"/>
              <a:buChar char="u"/>
            </a:pPr>
            <a:r>
              <a:rPr lang="zh-CN" altLang="en-US" dirty="0"/>
              <a:t>在同步触发器</a:t>
            </a:r>
            <a:r>
              <a:rPr lang="en-US" altLang="zh-CN" dirty="0">
                <a:solidFill>
                  <a:srgbClr val="FF0000"/>
                </a:solidFill>
              </a:rPr>
              <a:t>CP</a:t>
            </a:r>
            <a:r>
              <a:rPr lang="zh-CN" altLang="en-US" dirty="0">
                <a:solidFill>
                  <a:srgbClr val="FF0000"/>
                </a:solidFill>
              </a:rPr>
              <a:t>为高电平期间</a:t>
            </a:r>
            <a:r>
              <a:rPr lang="zh-CN" altLang="en-US" dirty="0"/>
              <a:t>，</a:t>
            </a:r>
            <a:r>
              <a:rPr lang="zh-CN" altLang="en-US" dirty="0">
                <a:solidFill>
                  <a:srgbClr val="0000CC"/>
                </a:solidFill>
              </a:rPr>
              <a:t>输入信号发生多次</a:t>
            </a:r>
            <a:r>
              <a:rPr lang="zh-CN" altLang="en-US" dirty="0" smtClean="0">
                <a:solidFill>
                  <a:srgbClr val="0000CC"/>
                </a:solidFill>
              </a:rPr>
              <a:t>变化</a:t>
            </a:r>
            <a:r>
              <a:rPr lang="zh-CN" altLang="en-US" dirty="0"/>
              <a:t>，触发器也会发生相应的</a:t>
            </a:r>
            <a:r>
              <a:rPr lang="zh-CN" altLang="en-US" dirty="0">
                <a:solidFill>
                  <a:srgbClr val="FF0000"/>
                </a:solidFill>
              </a:rPr>
              <a:t>多次翻转</a:t>
            </a:r>
            <a:r>
              <a:rPr lang="zh-CN" altLang="en-US" dirty="0"/>
              <a:t>，</a:t>
            </a:r>
            <a:r>
              <a:rPr lang="zh-CN" altLang="en-US" dirty="0" smtClean="0"/>
              <a:t>如图</a:t>
            </a:r>
            <a:r>
              <a:rPr lang="zh-CN" altLang="en-US" dirty="0"/>
              <a:t>所示：</a:t>
            </a:r>
          </a:p>
        </p:txBody>
      </p:sp>
      <p:sp>
        <p:nvSpPr>
          <p:cNvPr id="3" name="灯片编号占位符 2"/>
          <p:cNvSpPr>
            <a:spLocks noGrp="1"/>
          </p:cNvSpPr>
          <p:nvPr>
            <p:ph type="sldNum" sz="quarter" idx="12"/>
          </p:nvPr>
        </p:nvSpPr>
        <p:spPr/>
        <p:txBody>
          <a:bodyPr/>
          <a:lstStyle/>
          <a:p>
            <a:fld id="{0C913308-F349-4B6D-A68A-DD1791B4A57B}" type="slidenum">
              <a:rPr lang="zh-CN" altLang="en-US" smtClean="0"/>
              <a:pPr/>
              <a:t>39</a:t>
            </a:fld>
            <a:endParaRPr lang="zh-CN" altLang="en-US"/>
          </a:p>
        </p:txBody>
      </p:sp>
      <p:graphicFrame>
        <p:nvGraphicFramePr>
          <p:cNvPr id="5" name="对象 4"/>
          <p:cNvGraphicFramePr>
            <a:graphicFrameLocks noChangeAspect="1"/>
          </p:cNvGraphicFramePr>
          <p:nvPr/>
        </p:nvGraphicFramePr>
        <p:xfrm>
          <a:off x="1835696" y="4725144"/>
          <a:ext cx="5112568" cy="1658423"/>
        </p:xfrm>
        <a:graphic>
          <a:graphicData uri="http://schemas.openxmlformats.org/presentationml/2006/ole">
            <p:oleObj spid="_x0000_s99456" name="Visio" r:id="rId3" imgW="3150837" imgH="1213938" progId="">
              <p:embed/>
            </p:oleObj>
          </a:graphicData>
        </a:graphic>
      </p:graphicFrame>
      <p:sp>
        <p:nvSpPr>
          <p:cNvPr id="10" name="标题 1"/>
          <p:cNvSpPr>
            <a:spLocks noGrp="1"/>
          </p:cNvSpPr>
          <p:nvPr>
            <p:ph type="title"/>
          </p:nvPr>
        </p:nvSpPr>
        <p:spPr>
          <a:xfrm>
            <a:off x="1187624" y="1124744"/>
            <a:ext cx="7704856" cy="566936"/>
          </a:xfrm>
        </p:spPr>
        <p:txBody>
          <a:bodyPr/>
          <a:lstStyle/>
          <a:p>
            <a:r>
              <a:rPr lang="en-US" altLang="zh-CN" dirty="0" smtClean="0">
                <a:solidFill>
                  <a:srgbClr val="6600CC"/>
                </a:solidFill>
              </a:rPr>
              <a:t>5. </a:t>
            </a:r>
            <a:r>
              <a:rPr lang="zh-CN" altLang="en-US" dirty="0" smtClean="0">
                <a:solidFill>
                  <a:srgbClr val="6600CC"/>
                </a:solidFill>
              </a:rPr>
              <a:t>时钟（同步）触发器的特点</a:t>
            </a:r>
            <a:endParaRPr lang="zh-CN" altLang="en-US" dirty="0"/>
          </a:p>
        </p:txBody>
      </p:sp>
      <p:sp>
        <p:nvSpPr>
          <p:cNvPr id="11" name="标题 1"/>
          <p:cNvSpPr txBox="1">
            <a:spLocks/>
          </p:cNvSpPr>
          <p:nvPr/>
        </p:nvSpPr>
        <p:spPr bwMode="auto">
          <a:xfrm>
            <a:off x="1187624" y="332656"/>
            <a:ext cx="7632848" cy="5669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p>
            <a:pPr lvl="0" fontAlgn="base">
              <a:spcBef>
                <a:spcPct val="0"/>
              </a:spcBef>
              <a:spcAft>
                <a:spcPct val="0"/>
              </a:spcAft>
              <a:defRPr/>
            </a:pPr>
            <a:r>
              <a:rPr lang="en-US" altLang="zh-CN" sz="3200" b="1" dirty="0" smtClean="0">
                <a:solidFill>
                  <a:srgbClr val="6600CC"/>
                </a:solidFill>
              </a:rPr>
              <a:t>5.1.2 </a:t>
            </a:r>
            <a:r>
              <a:rPr lang="zh-CN" altLang="en-US" sz="3200" b="1" dirty="0" smtClean="0">
                <a:solidFill>
                  <a:srgbClr val="6600CC"/>
                </a:solidFill>
              </a:rPr>
              <a:t>时钟触发器</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95536" y="1988840"/>
            <a:ext cx="8280920" cy="4536504"/>
          </a:xfrm>
        </p:spPr>
        <p:txBody>
          <a:bodyPr/>
          <a:lstStyle/>
          <a:p>
            <a:pPr>
              <a:lnSpc>
                <a:spcPct val="100000"/>
              </a:lnSpc>
              <a:spcBef>
                <a:spcPts val="600"/>
              </a:spcBef>
              <a:buSzPct val="100000"/>
              <a:buFont typeface="Wingdings" pitchFamily="2" charset="2"/>
              <a:buChar char="p"/>
            </a:pPr>
            <a:r>
              <a:rPr lang="zh-CN" altLang="en-US" sz="2800" dirty="0"/>
              <a:t>这种在</a:t>
            </a:r>
            <a:r>
              <a:rPr lang="en-US" altLang="zh-CN" sz="2800" dirty="0"/>
              <a:t>CP</a:t>
            </a:r>
            <a:r>
              <a:rPr lang="zh-CN" altLang="en-US" sz="2800" dirty="0"/>
              <a:t>为高电平期间，因</a:t>
            </a:r>
            <a:r>
              <a:rPr lang="zh-CN" altLang="en-US" sz="2800" dirty="0" smtClean="0"/>
              <a:t>输入信号变化</a:t>
            </a:r>
            <a:r>
              <a:rPr lang="zh-CN" altLang="en-US" sz="2800" dirty="0"/>
              <a:t>而引起</a:t>
            </a:r>
            <a:r>
              <a:rPr lang="zh-CN" altLang="en-US" sz="2800" dirty="0">
                <a:solidFill>
                  <a:srgbClr val="0000CC"/>
                </a:solidFill>
              </a:rPr>
              <a:t>触发器状态变化多于一次</a:t>
            </a:r>
            <a:r>
              <a:rPr lang="zh-CN" altLang="en-US" sz="2800" dirty="0"/>
              <a:t>的现象</a:t>
            </a:r>
            <a:r>
              <a:rPr lang="zh-CN" altLang="en-US" sz="2800" dirty="0" smtClean="0"/>
              <a:t>，称为</a:t>
            </a:r>
            <a:r>
              <a:rPr lang="zh-CN" altLang="en-US" sz="2800" dirty="0"/>
              <a:t>触发器的“</a:t>
            </a:r>
            <a:r>
              <a:rPr lang="zh-CN" altLang="en-US" sz="2800" dirty="0">
                <a:solidFill>
                  <a:srgbClr val="FF0000"/>
                </a:solidFill>
              </a:rPr>
              <a:t>空翻</a:t>
            </a:r>
            <a:r>
              <a:rPr lang="zh-CN" altLang="en-US" sz="2800" dirty="0"/>
              <a:t>”。</a:t>
            </a:r>
          </a:p>
          <a:p>
            <a:pPr>
              <a:lnSpc>
                <a:spcPct val="100000"/>
              </a:lnSpc>
              <a:spcBef>
                <a:spcPts val="600"/>
              </a:spcBef>
              <a:buSzPct val="100000"/>
              <a:buFont typeface="Wingdings" pitchFamily="2" charset="2"/>
              <a:buChar char="p"/>
            </a:pPr>
            <a:r>
              <a:rPr lang="zh-CN" altLang="en-US" sz="2800" dirty="0" smtClean="0"/>
              <a:t>由于</a:t>
            </a:r>
            <a:r>
              <a:rPr lang="zh-CN" altLang="en-US" sz="2800" dirty="0"/>
              <a:t>空翻问题，同步触发器只能</a:t>
            </a:r>
            <a:r>
              <a:rPr lang="zh-CN" altLang="en-US" sz="2800" dirty="0" smtClean="0"/>
              <a:t>用于数据</a:t>
            </a:r>
            <a:r>
              <a:rPr lang="zh-CN" altLang="en-US" sz="2800" dirty="0"/>
              <a:t>的锁存，而不能实现计数、移位、存储</a:t>
            </a:r>
            <a:r>
              <a:rPr lang="zh-CN" altLang="en-US" sz="2800" dirty="0" smtClean="0"/>
              <a:t>等功能</a:t>
            </a:r>
            <a:r>
              <a:rPr lang="zh-CN" altLang="en-US" sz="2800" dirty="0"/>
              <a:t>。为了克服空翻，又产生了</a:t>
            </a:r>
            <a:r>
              <a:rPr lang="zh-CN" altLang="en-US" sz="2800" dirty="0">
                <a:solidFill>
                  <a:srgbClr val="0000CC"/>
                </a:solidFill>
              </a:rPr>
              <a:t>无空翻</a:t>
            </a:r>
            <a:r>
              <a:rPr lang="zh-CN" altLang="en-US" sz="2800" dirty="0"/>
              <a:t>的</a:t>
            </a:r>
            <a:r>
              <a:rPr lang="zh-CN" altLang="en-US" sz="2800" dirty="0" smtClean="0">
                <a:solidFill>
                  <a:srgbClr val="FF0000"/>
                </a:solidFill>
              </a:rPr>
              <a:t>主从触发器</a:t>
            </a:r>
            <a:r>
              <a:rPr lang="zh-CN" altLang="en-US" sz="2800" dirty="0"/>
              <a:t>和</a:t>
            </a:r>
            <a:r>
              <a:rPr lang="zh-CN" altLang="en-US" sz="2800" dirty="0">
                <a:solidFill>
                  <a:srgbClr val="FF0000"/>
                </a:solidFill>
              </a:rPr>
              <a:t>边沿触发器</a:t>
            </a:r>
            <a:r>
              <a:rPr lang="zh-CN" altLang="en-US" sz="2800" dirty="0"/>
              <a:t>等新的触发器结构形式。</a:t>
            </a:r>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40</a:t>
            </a:fld>
            <a:endParaRPr lang="zh-CN" altLang="en-US"/>
          </a:p>
        </p:txBody>
      </p:sp>
      <p:sp>
        <p:nvSpPr>
          <p:cNvPr id="11" name="标题 1"/>
          <p:cNvSpPr>
            <a:spLocks noGrp="1"/>
          </p:cNvSpPr>
          <p:nvPr>
            <p:ph type="title"/>
          </p:nvPr>
        </p:nvSpPr>
        <p:spPr>
          <a:xfrm>
            <a:off x="1187624" y="1124744"/>
            <a:ext cx="7704856" cy="566936"/>
          </a:xfrm>
        </p:spPr>
        <p:txBody>
          <a:bodyPr/>
          <a:lstStyle/>
          <a:p>
            <a:r>
              <a:rPr lang="en-US" altLang="zh-CN" dirty="0" smtClean="0">
                <a:solidFill>
                  <a:srgbClr val="6600CC"/>
                </a:solidFill>
              </a:rPr>
              <a:t>5. </a:t>
            </a:r>
            <a:r>
              <a:rPr lang="zh-CN" altLang="en-US" dirty="0" smtClean="0">
                <a:solidFill>
                  <a:srgbClr val="6600CC"/>
                </a:solidFill>
              </a:rPr>
              <a:t>时钟（同步）触发器的特点</a:t>
            </a:r>
            <a:endParaRPr lang="zh-CN" altLang="en-US" dirty="0"/>
          </a:p>
        </p:txBody>
      </p:sp>
      <p:sp>
        <p:nvSpPr>
          <p:cNvPr id="12" name="标题 1"/>
          <p:cNvSpPr txBox="1">
            <a:spLocks/>
          </p:cNvSpPr>
          <p:nvPr/>
        </p:nvSpPr>
        <p:spPr bwMode="auto">
          <a:xfrm>
            <a:off x="1187624" y="332656"/>
            <a:ext cx="7632848" cy="5669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p>
            <a:pPr lvl="0" fontAlgn="base">
              <a:spcBef>
                <a:spcPct val="0"/>
              </a:spcBef>
              <a:spcAft>
                <a:spcPct val="0"/>
              </a:spcAft>
              <a:defRPr/>
            </a:pPr>
            <a:r>
              <a:rPr lang="en-US" altLang="zh-CN" sz="3200" b="1" dirty="0" smtClean="0">
                <a:solidFill>
                  <a:srgbClr val="6600CC"/>
                </a:solidFill>
              </a:rPr>
              <a:t>5.1.2 </a:t>
            </a:r>
            <a:r>
              <a:rPr lang="zh-CN" altLang="en-US" sz="3200" b="1" dirty="0" smtClean="0">
                <a:solidFill>
                  <a:srgbClr val="6600CC"/>
                </a:solidFill>
              </a:rPr>
              <a:t>时钟触发器</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95536" y="1988840"/>
            <a:ext cx="8487544" cy="4536504"/>
          </a:xfrm>
        </p:spPr>
        <p:txBody>
          <a:bodyPr/>
          <a:lstStyle/>
          <a:p>
            <a:pPr>
              <a:lnSpc>
                <a:spcPct val="100000"/>
              </a:lnSpc>
              <a:spcBef>
                <a:spcPts val="600"/>
              </a:spcBef>
              <a:buSzPct val="100000"/>
              <a:buFont typeface="Wingdings" pitchFamily="2" charset="2"/>
              <a:buChar char="p"/>
            </a:pPr>
            <a:r>
              <a:rPr lang="zh-CN" altLang="en-US" sz="2800" dirty="0">
                <a:solidFill>
                  <a:srgbClr val="FF0000"/>
                </a:solidFill>
              </a:rPr>
              <a:t>主从触发器</a:t>
            </a:r>
            <a:r>
              <a:rPr lang="zh-CN" altLang="en-US" sz="2800" dirty="0"/>
              <a:t>（ </a:t>
            </a:r>
            <a:r>
              <a:rPr lang="en-US" altLang="zh-CN" sz="2800" dirty="0"/>
              <a:t>Master-slave Flip-flop </a:t>
            </a:r>
            <a:r>
              <a:rPr lang="zh-CN" altLang="en-US" sz="2800" dirty="0"/>
              <a:t>）</a:t>
            </a:r>
          </a:p>
          <a:p>
            <a:pPr lvl="1">
              <a:lnSpc>
                <a:spcPct val="100000"/>
              </a:lnSpc>
              <a:spcBef>
                <a:spcPts val="600"/>
              </a:spcBef>
              <a:buSzPct val="100000"/>
            </a:pPr>
            <a:r>
              <a:rPr lang="zh-CN" altLang="en-US" sz="2400" dirty="0"/>
              <a:t>为了提高触发器工作的可靠性，希望</a:t>
            </a:r>
            <a:r>
              <a:rPr lang="zh-CN" altLang="en-US" sz="2400" dirty="0">
                <a:solidFill>
                  <a:srgbClr val="0000CC"/>
                </a:solidFill>
              </a:rPr>
              <a:t>在每个</a:t>
            </a:r>
            <a:r>
              <a:rPr lang="en-US" altLang="zh-CN" sz="2400" dirty="0">
                <a:solidFill>
                  <a:srgbClr val="0000CC"/>
                </a:solidFill>
              </a:rPr>
              <a:t>CP</a:t>
            </a:r>
            <a:r>
              <a:rPr lang="zh-CN" altLang="en-US" sz="2400" dirty="0">
                <a:solidFill>
                  <a:srgbClr val="0000CC"/>
                </a:solidFill>
              </a:rPr>
              <a:t>周期里输出端的状态只改变一次</a:t>
            </a:r>
            <a:r>
              <a:rPr lang="zh-CN" altLang="en-US" sz="2400" dirty="0"/>
              <a:t>。为此，在同步触发器的基础上又设计出了主从结构的触发器</a:t>
            </a:r>
            <a:r>
              <a:rPr lang="zh-CN" altLang="en-US" sz="2400" dirty="0" smtClean="0"/>
              <a:t>。</a:t>
            </a:r>
            <a:endParaRPr lang="en-US" altLang="zh-CN" sz="2400" dirty="0" smtClean="0"/>
          </a:p>
          <a:p>
            <a:pPr lvl="1">
              <a:lnSpc>
                <a:spcPct val="100000"/>
              </a:lnSpc>
              <a:spcBef>
                <a:spcPts val="600"/>
              </a:spcBef>
              <a:buSzPct val="100000"/>
            </a:pPr>
            <a:r>
              <a:rPr lang="en-US" altLang="zh-CN" sz="2400" dirty="0" smtClean="0"/>
              <a:t> </a:t>
            </a:r>
            <a:r>
              <a:rPr lang="zh-CN" altLang="en-US" sz="2400" dirty="0" smtClean="0"/>
              <a:t>从触发方式上看，主从结构触发器也称为</a:t>
            </a:r>
            <a:r>
              <a:rPr lang="zh-CN" altLang="en-US" sz="2400" dirty="0" smtClean="0">
                <a:solidFill>
                  <a:srgbClr val="FF0000"/>
                </a:solidFill>
              </a:rPr>
              <a:t>脉冲触发的触发器</a:t>
            </a:r>
            <a:r>
              <a:rPr lang="en-US" altLang="zh-CN" sz="2400" dirty="0" smtClean="0"/>
              <a:t>(Pulse-triggered Flip-flop)</a:t>
            </a:r>
            <a:r>
              <a:rPr lang="zh-CN" altLang="en-US" sz="2400" dirty="0" smtClean="0"/>
              <a:t>。</a:t>
            </a:r>
            <a:endParaRPr lang="en-US" altLang="zh-CN" sz="2400" dirty="0" smtClean="0"/>
          </a:p>
          <a:p>
            <a:pPr lvl="2">
              <a:lnSpc>
                <a:spcPct val="100000"/>
              </a:lnSpc>
              <a:spcBef>
                <a:spcPts val="600"/>
              </a:spcBef>
              <a:buSzPct val="100000"/>
              <a:buFont typeface="Wingdings" pitchFamily="2" charset="2"/>
              <a:buChar char="u"/>
            </a:pPr>
            <a:r>
              <a:rPr lang="en-US" altLang="zh-CN" dirty="0" smtClean="0"/>
              <a:t> </a:t>
            </a:r>
            <a:r>
              <a:rPr lang="zh-CN" altLang="en-US" dirty="0" smtClean="0"/>
              <a:t>因为这类结构的触发器在</a:t>
            </a:r>
            <a:r>
              <a:rPr lang="zh-CN" altLang="en-US" dirty="0" smtClean="0">
                <a:solidFill>
                  <a:srgbClr val="FF0000"/>
                </a:solidFill>
              </a:rPr>
              <a:t>正常工作</a:t>
            </a:r>
            <a:r>
              <a:rPr lang="zh-CN" altLang="en-US" dirty="0" smtClean="0"/>
              <a:t>时，需要一个</a:t>
            </a:r>
            <a:r>
              <a:rPr lang="zh-CN" altLang="en-US" dirty="0" smtClean="0">
                <a:solidFill>
                  <a:srgbClr val="0000CC"/>
                </a:solidFill>
              </a:rPr>
              <a:t>完整的脉冲周期</a:t>
            </a:r>
            <a:r>
              <a:rPr lang="zh-CN" altLang="en-US" dirty="0" smtClean="0"/>
              <a:t>：时钟信号从</a:t>
            </a:r>
            <a:r>
              <a:rPr lang="en-US" altLang="zh-CN" dirty="0" smtClean="0"/>
              <a:t>0</a:t>
            </a:r>
            <a:r>
              <a:rPr lang="zh-CN" altLang="en-US" dirty="0" smtClean="0"/>
              <a:t>到</a:t>
            </a:r>
            <a:r>
              <a:rPr lang="en-US" altLang="zh-CN" dirty="0" smtClean="0"/>
              <a:t>1</a:t>
            </a:r>
            <a:r>
              <a:rPr lang="zh-CN" altLang="en-US" dirty="0" smtClean="0"/>
              <a:t>转变即从</a:t>
            </a:r>
            <a:r>
              <a:rPr lang="en-US" altLang="zh-CN" dirty="0" smtClean="0"/>
              <a:t>1</a:t>
            </a:r>
            <a:r>
              <a:rPr lang="zh-CN" altLang="en-US" dirty="0" smtClean="0"/>
              <a:t>到</a:t>
            </a:r>
            <a:r>
              <a:rPr lang="en-US" altLang="zh-CN" dirty="0" smtClean="0"/>
              <a:t>0</a:t>
            </a:r>
            <a:r>
              <a:rPr lang="zh-CN" altLang="en-US" dirty="0" smtClean="0"/>
              <a:t>转变。</a:t>
            </a:r>
            <a:endParaRPr lang="zh-CN" altLang="en-US" dirty="0"/>
          </a:p>
          <a:p>
            <a:pPr lvl="1">
              <a:lnSpc>
                <a:spcPct val="100000"/>
              </a:lnSpc>
              <a:spcBef>
                <a:spcPts val="600"/>
              </a:spcBef>
              <a:buSzPct val="100000"/>
            </a:pPr>
            <a:r>
              <a:rPr lang="zh-CN" altLang="en-US" sz="2400" dirty="0"/>
              <a:t>主从触发器的结构特点：</a:t>
            </a:r>
          </a:p>
          <a:p>
            <a:pPr lvl="2">
              <a:lnSpc>
                <a:spcPct val="100000"/>
              </a:lnSpc>
              <a:spcBef>
                <a:spcPts val="600"/>
              </a:spcBef>
              <a:buSzPct val="100000"/>
              <a:buFont typeface="Wingdings" pitchFamily="2" charset="2"/>
              <a:buChar char="u"/>
            </a:pPr>
            <a:r>
              <a:rPr lang="zh-CN" altLang="en-US" dirty="0" smtClean="0"/>
              <a:t>前后</a:t>
            </a:r>
            <a:r>
              <a:rPr lang="zh-CN" altLang="en-US" dirty="0"/>
              <a:t>由</a:t>
            </a:r>
            <a:r>
              <a:rPr lang="zh-CN" altLang="en-US" dirty="0">
                <a:solidFill>
                  <a:srgbClr val="0000CC"/>
                </a:solidFill>
              </a:rPr>
              <a:t>主、从两级触发器级联</a:t>
            </a:r>
            <a:r>
              <a:rPr lang="zh-CN" altLang="en-US" dirty="0"/>
              <a:t>组成</a:t>
            </a:r>
          </a:p>
          <a:p>
            <a:pPr lvl="2">
              <a:lnSpc>
                <a:spcPct val="100000"/>
              </a:lnSpc>
              <a:spcBef>
                <a:spcPts val="600"/>
              </a:spcBef>
              <a:buSzPct val="100000"/>
              <a:buFont typeface="Wingdings" pitchFamily="2" charset="2"/>
              <a:buChar char="u"/>
            </a:pPr>
            <a:r>
              <a:rPr lang="zh-CN" altLang="en-US" dirty="0" smtClean="0"/>
              <a:t>主</a:t>
            </a:r>
            <a:r>
              <a:rPr lang="zh-CN" altLang="en-US" dirty="0"/>
              <a:t>、从两级触发器的</a:t>
            </a:r>
            <a:r>
              <a:rPr lang="zh-CN" altLang="en-US" dirty="0">
                <a:solidFill>
                  <a:srgbClr val="0000CC"/>
                </a:solidFill>
              </a:rPr>
              <a:t>时钟相位</a:t>
            </a:r>
            <a:r>
              <a:rPr lang="zh-CN" altLang="en-US" dirty="0" smtClean="0">
                <a:solidFill>
                  <a:srgbClr val="0000CC"/>
                </a:solidFill>
              </a:rPr>
              <a:t>相反</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41</a:t>
            </a:fld>
            <a:endParaRPr lang="zh-CN" altLang="en-US"/>
          </a:p>
        </p:txBody>
      </p:sp>
      <p:sp>
        <p:nvSpPr>
          <p:cNvPr id="5" name="标题 1"/>
          <p:cNvSpPr txBox="1">
            <a:spLocks/>
          </p:cNvSpPr>
          <p:nvPr/>
        </p:nvSpPr>
        <p:spPr bwMode="auto">
          <a:xfrm>
            <a:off x="1259632" y="1052736"/>
            <a:ext cx="7632848" cy="5669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5.2.1 </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主从</a:t>
            </a: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RS</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触发器</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sp>
        <p:nvSpPr>
          <p:cNvPr id="7" name="标题 1"/>
          <p:cNvSpPr txBox="1">
            <a:spLocks/>
          </p:cNvSpPr>
          <p:nvPr/>
        </p:nvSpPr>
        <p:spPr bwMode="auto">
          <a:xfrm>
            <a:off x="1259632" y="260648"/>
            <a:ext cx="7704856" cy="5669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5.2 </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脉冲</a:t>
            </a:r>
            <a:r>
              <a:rPr kumimoji="1" lang="zh-CN" altLang="en-US" sz="3200" b="1" kern="0" dirty="0" smtClean="0">
                <a:solidFill>
                  <a:schemeClr val="tx2"/>
                </a:solidFill>
                <a:latin typeface="+mj-lt"/>
                <a:ea typeface="+mj-ea"/>
                <a:cs typeface="+mj-cs"/>
              </a:rPr>
              <a:t>触发的</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触发器</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187624" y="1052736"/>
            <a:ext cx="7956376" cy="638944"/>
          </a:xfrm>
        </p:spPr>
        <p:txBody>
          <a:bodyPr/>
          <a:lstStyle/>
          <a:p>
            <a:pPr lvl="0">
              <a:defRPr/>
            </a:pPr>
            <a:r>
              <a:rPr lang="en-US" altLang="zh-CN" dirty="0" smtClean="0"/>
              <a:t>5.2.1 </a:t>
            </a:r>
            <a:r>
              <a:rPr lang="zh-CN" altLang="en-US" dirty="0" smtClean="0"/>
              <a:t>主从</a:t>
            </a:r>
            <a:r>
              <a:rPr lang="en-US" altLang="zh-CN" dirty="0" smtClean="0"/>
              <a:t>RS</a:t>
            </a:r>
            <a:r>
              <a:rPr lang="zh-CN" altLang="en-US" dirty="0" smtClean="0"/>
              <a:t>触发器</a:t>
            </a:r>
            <a:endParaRPr lang="zh-CN" altLang="en-US" dirty="0"/>
          </a:p>
        </p:txBody>
      </p:sp>
      <p:sp>
        <p:nvSpPr>
          <p:cNvPr id="3" name="内容占位符 2"/>
          <p:cNvSpPr>
            <a:spLocks noGrp="1"/>
          </p:cNvSpPr>
          <p:nvPr>
            <p:ph idx="1"/>
          </p:nvPr>
        </p:nvSpPr>
        <p:spPr>
          <a:xfrm>
            <a:off x="467544" y="2060848"/>
            <a:ext cx="8487544" cy="4536504"/>
          </a:xfrm>
        </p:spPr>
        <p:txBody>
          <a:bodyPr/>
          <a:lstStyle/>
          <a:p>
            <a:pPr>
              <a:lnSpc>
                <a:spcPct val="100000"/>
              </a:lnSpc>
              <a:spcBef>
                <a:spcPts val="600"/>
              </a:spcBef>
              <a:buSzPct val="100000"/>
              <a:buFont typeface="Wingdings" pitchFamily="2" charset="2"/>
              <a:buChar char="p"/>
            </a:pPr>
            <a:r>
              <a:rPr lang="zh-CN" altLang="en-US" sz="2800" dirty="0"/>
              <a:t>主从触发器（ </a:t>
            </a:r>
            <a:r>
              <a:rPr lang="en-US" altLang="zh-CN" sz="2800" dirty="0"/>
              <a:t>Master-slave Flip-flop </a:t>
            </a:r>
            <a:r>
              <a:rPr lang="zh-CN" altLang="en-US" sz="2800" dirty="0" smtClean="0"/>
              <a:t>）</a:t>
            </a:r>
            <a:endParaRPr lang="en-US" altLang="zh-CN" sz="2800" dirty="0" smtClean="0"/>
          </a:p>
          <a:p>
            <a:pPr lvl="1">
              <a:lnSpc>
                <a:spcPct val="100000"/>
              </a:lnSpc>
              <a:spcBef>
                <a:spcPts val="600"/>
              </a:spcBef>
              <a:buSzPct val="100000"/>
            </a:pPr>
            <a:r>
              <a:rPr lang="zh-CN" altLang="en-US" sz="2400" dirty="0" smtClean="0"/>
              <a:t>主从触发器在</a:t>
            </a:r>
            <a:r>
              <a:rPr lang="zh-CN" altLang="en-US" sz="2400" dirty="0"/>
              <a:t>触发脉冲边沿处改变状态</a:t>
            </a:r>
          </a:p>
          <a:p>
            <a:pPr>
              <a:lnSpc>
                <a:spcPct val="150000"/>
              </a:lnSpc>
            </a:pPr>
            <a:endParaRPr lang="zh-CN" altLang="en-US" dirty="0"/>
          </a:p>
          <a:p>
            <a:pPr>
              <a:lnSpc>
                <a:spcPct val="150000"/>
              </a:lnSpc>
            </a:pP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42</a:t>
            </a:fld>
            <a:endParaRPr lang="zh-CN" altLang="en-US"/>
          </a:p>
        </p:txBody>
      </p:sp>
      <p:sp>
        <p:nvSpPr>
          <p:cNvPr id="6" name="矩形 5"/>
          <p:cNvSpPr/>
          <p:nvPr/>
        </p:nvSpPr>
        <p:spPr>
          <a:xfrm>
            <a:off x="1488688" y="3236076"/>
            <a:ext cx="2003192" cy="869533"/>
          </a:xfrm>
          <a:prstGeom prst="rect">
            <a:avLst/>
          </a:prstGeom>
        </p:spPr>
        <p:txBody>
          <a:bodyPr wrap="square">
            <a:spAutoFit/>
          </a:bodyPr>
          <a:lstStyle/>
          <a:p>
            <a:pPr>
              <a:lnSpc>
                <a:spcPct val="150000"/>
              </a:lnSpc>
            </a:pPr>
            <a:r>
              <a:rPr lang="zh-CN" altLang="en-US" b="1" dirty="0">
                <a:solidFill>
                  <a:srgbClr val="000000"/>
                </a:solidFill>
                <a:latin typeface="宋体" panose="02010600030101010101" pitchFamily="2" charset="-122"/>
                <a:ea typeface="宋体" panose="02010600030101010101" pitchFamily="2" charset="-122"/>
              </a:rPr>
              <a:t>正边沿</a:t>
            </a:r>
            <a:r>
              <a:rPr lang="en-US" altLang="zh-CN" b="1" dirty="0">
                <a:solidFill>
                  <a:srgbClr val="000000"/>
                </a:solidFill>
                <a:latin typeface="Arial" panose="020B0604020202020204" pitchFamily="34" charset="0"/>
                <a:ea typeface="宋体" panose="02010600030101010101" pitchFamily="2" charset="-122"/>
              </a:rPr>
              <a:t>(</a:t>
            </a:r>
            <a:r>
              <a:rPr lang="zh-CN" altLang="en-US" b="1" dirty="0">
                <a:solidFill>
                  <a:srgbClr val="000000"/>
                </a:solidFill>
                <a:latin typeface="宋体" panose="02010600030101010101" pitchFamily="2" charset="-122"/>
                <a:ea typeface="宋体" panose="02010600030101010101" pitchFamily="2" charset="-122"/>
              </a:rPr>
              <a:t>上升沿</a:t>
            </a:r>
            <a:r>
              <a:rPr lang="en-US" altLang="zh-CN" b="1" dirty="0">
                <a:solidFill>
                  <a:srgbClr val="000000"/>
                </a:solidFill>
                <a:latin typeface="Arial" panose="020B0604020202020204" pitchFamily="34" charset="0"/>
                <a:ea typeface="宋体" panose="02010600030101010101" pitchFamily="2" charset="-122"/>
              </a:rPr>
              <a:t>)</a:t>
            </a:r>
          </a:p>
          <a:p>
            <a:pPr>
              <a:lnSpc>
                <a:spcPct val="150000"/>
              </a:lnSpc>
            </a:pPr>
            <a:r>
              <a:rPr lang="zh-CN" altLang="en-US" b="1" dirty="0" smtClean="0">
                <a:solidFill>
                  <a:srgbClr val="000000"/>
                </a:solidFill>
                <a:latin typeface="宋体" panose="02010600030101010101" pitchFamily="2" charset="-122"/>
                <a:ea typeface="宋体" panose="02010600030101010101" pitchFamily="2" charset="-122"/>
              </a:rPr>
              <a:t>负</a:t>
            </a:r>
            <a:r>
              <a:rPr lang="zh-CN" altLang="en-US" b="1" dirty="0">
                <a:solidFill>
                  <a:srgbClr val="000000"/>
                </a:solidFill>
                <a:latin typeface="宋体" panose="02010600030101010101" pitchFamily="2" charset="-122"/>
                <a:ea typeface="宋体" panose="02010600030101010101" pitchFamily="2" charset="-122"/>
              </a:rPr>
              <a:t>边沿</a:t>
            </a:r>
            <a:r>
              <a:rPr lang="en-US" altLang="zh-CN" b="1" dirty="0">
                <a:solidFill>
                  <a:srgbClr val="000000"/>
                </a:solidFill>
                <a:latin typeface="Arial" panose="020B0604020202020204" pitchFamily="34" charset="0"/>
                <a:ea typeface="宋体" panose="02010600030101010101" pitchFamily="2" charset="-122"/>
              </a:rPr>
              <a:t>(</a:t>
            </a:r>
            <a:r>
              <a:rPr lang="zh-CN" altLang="en-US" b="1" dirty="0">
                <a:solidFill>
                  <a:srgbClr val="000000"/>
                </a:solidFill>
                <a:latin typeface="宋体" panose="02010600030101010101" pitchFamily="2" charset="-122"/>
                <a:ea typeface="宋体" panose="02010600030101010101" pitchFamily="2" charset="-122"/>
              </a:rPr>
              <a:t>下降沿</a:t>
            </a:r>
            <a:r>
              <a:rPr lang="en-US" altLang="zh-CN" b="1" dirty="0">
                <a:solidFill>
                  <a:srgbClr val="000000"/>
                </a:solidFill>
                <a:latin typeface="Arial" panose="020B0604020202020204" pitchFamily="34" charset="0"/>
                <a:ea typeface="宋体" panose="02010600030101010101" pitchFamily="2" charset="-122"/>
              </a:rPr>
              <a:t>)</a:t>
            </a:r>
            <a:endParaRPr lang="zh-CN" altLang="en-US" b="1" dirty="0"/>
          </a:p>
        </p:txBody>
      </p:sp>
      <p:sp>
        <p:nvSpPr>
          <p:cNvPr id="7" name="矩形 6"/>
          <p:cNvSpPr/>
          <p:nvPr/>
        </p:nvSpPr>
        <p:spPr>
          <a:xfrm>
            <a:off x="1486711" y="4516736"/>
            <a:ext cx="5109091" cy="461665"/>
          </a:xfrm>
          <a:prstGeom prst="rect">
            <a:avLst/>
          </a:prstGeom>
        </p:spPr>
        <p:txBody>
          <a:bodyPr wrap="none">
            <a:spAutoFit/>
          </a:bodyPr>
          <a:lstStyle/>
          <a:p>
            <a:r>
              <a:rPr lang="zh-CN" altLang="en-US" sz="2400" b="1" dirty="0">
                <a:solidFill>
                  <a:srgbClr val="CD0065"/>
                </a:solidFill>
                <a:latin typeface="新宋体" panose="02010609030101010101" pitchFamily="49" charset="-122"/>
                <a:ea typeface="新宋体" panose="02010609030101010101" pitchFamily="49" charset="-122"/>
              </a:rPr>
              <a:t>边沿到来的瞬间触发，缩短触发时间</a:t>
            </a:r>
          </a:p>
        </p:txBody>
      </p:sp>
      <p:pic>
        <p:nvPicPr>
          <p:cNvPr id="8" name="图片 7"/>
          <p:cNvPicPr>
            <a:picLocks noChangeAspect="1"/>
          </p:cNvPicPr>
          <p:nvPr/>
        </p:nvPicPr>
        <p:blipFill>
          <a:blip r:embed="rId2" cstate="print"/>
          <a:stretch>
            <a:fillRect/>
          </a:stretch>
        </p:blipFill>
        <p:spPr>
          <a:xfrm>
            <a:off x="3704868" y="3194606"/>
            <a:ext cx="963900" cy="964800"/>
          </a:xfrm>
          <a:prstGeom prst="rect">
            <a:avLst/>
          </a:prstGeom>
        </p:spPr>
      </p:pic>
      <p:sp>
        <p:nvSpPr>
          <p:cNvPr id="9" name="左大括号 8"/>
          <p:cNvSpPr/>
          <p:nvPr/>
        </p:nvSpPr>
        <p:spPr bwMode="auto">
          <a:xfrm>
            <a:off x="1331640" y="3429000"/>
            <a:ext cx="155071" cy="576064"/>
          </a:xfrm>
          <a:prstGeom prst="leftBrace">
            <a:avLst/>
          </a:prstGeom>
          <a:noFill/>
          <a:ln w="9525" cap="flat" cmpd="sng" algn="ctr">
            <a:solidFill>
              <a:schemeClr val="tx1"/>
            </a:solidFill>
            <a:prstDash val="solid"/>
            <a:miter lim="800000"/>
            <a:headEnd type="none" w="med" len="med"/>
            <a:tailEnd type="none" w="med" len="med"/>
          </a:ln>
        </p:spPr>
        <p:txBody>
          <a:bodyPr vert="horz" wrap="square" lIns="90000" tIns="46800" rIns="90000" bIns="4680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36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endParaRPr>
          </a:p>
        </p:txBody>
      </p:sp>
      <p:sp>
        <p:nvSpPr>
          <p:cNvPr id="11" name="标题 1"/>
          <p:cNvSpPr txBox="1">
            <a:spLocks/>
          </p:cNvSpPr>
          <p:nvPr/>
        </p:nvSpPr>
        <p:spPr bwMode="auto">
          <a:xfrm>
            <a:off x="1187624" y="332656"/>
            <a:ext cx="7632848" cy="5669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5.2 </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脉冲</a:t>
            </a:r>
            <a:r>
              <a:rPr kumimoji="1" lang="zh-CN" altLang="en-US" sz="3200" b="1" kern="0" dirty="0" smtClean="0">
                <a:solidFill>
                  <a:schemeClr val="tx2"/>
                </a:solidFill>
                <a:latin typeface="+mj-lt"/>
                <a:ea typeface="+mj-ea"/>
                <a:cs typeface="+mj-cs"/>
              </a:rPr>
              <a:t>触发的</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触发器</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spTree>
    <p:extLst>
      <p:ext uri="{BB962C8B-B14F-4D97-AF65-F5344CB8AC3E}">
        <p14:creationId xmlns:p14="http://schemas.microsoft.com/office/powerpoint/2010/main" xmlns="" val="914849717"/>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95536" y="1988840"/>
            <a:ext cx="8487544" cy="4536504"/>
          </a:xfrm>
        </p:spPr>
        <p:txBody>
          <a:bodyPr/>
          <a:lstStyle/>
          <a:p>
            <a:pPr>
              <a:lnSpc>
                <a:spcPct val="100000"/>
              </a:lnSpc>
              <a:spcBef>
                <a:spcPts val="600"/>
              </a:spcBef>
              <a:buSzPct val="100000"/>
              <a:buFont typeface="Wingdings" pitchFamily="2" charset="2"/>
              <a:buChar char="p"/>
            </a:pPr>
            <a:r>
              <a:rPr lang="zh-CN" altLang="en-US" sz="2800" dirty="0"/>
              <a:t>电路结构与工作原理</a:t>
            </a:r>
          </a:p>
          <a:p>
            <a:pPr lvl="1">
              <a:lnSpc>
                <a:spcPct val="100000"/>
              </a:lnSpc>
              <a:spcBef>
                <a:spcPts val="600"/>
              </a:spcBef>
              <a:buSzPct val="100000"/>
            </a:pPr>
            <a:r>
              <a:rPr lang="zh-CN" altLang="en-US" sz="2400" dirty="0" smtClean="0"/>
              <a:t>主从</a:t>
            </a:r>
            <a:r>
              <a:rPr lang="en-US" altLang="zh-CN" sz="2400" dirty="0"/>
              <a:t>RS</a:t>
            </a:r>
            <a:r>
              <a:rPr lang="zh-CN" altLang="en-US" sz="2400" dirty="0"/>
              <a:t>触发器由两个同样的同步</a:t>
            </a:r>
            <a:r>
              <a:rPr lang="en-US" altLang="zh-CN" sz="2400" dirty="0"/>
              <a:t>RS</a:t>
            </a:r>
            <a:r>
              <a:rPr lang="zh-CN" altLang="en-US" sz="2400" dirty="0"/>
              <a:t>触发器组成，但它们的时钟信号相位相反</a:t>
            </a:r>
            <a:r>
              <a:rPr lang="zh-CN" altLang="en-US" sz="2400" dirty="0" smtClean="0"/>
              <a:t>。</a:t>
            </a:r>
            <a:endParaRPr lang="en-US" altLang="zh-CN" sz="2400" dirty="0" smtClean="0"/>
          </a:p>
          <a:p>
            <a:pPr lvl="1">
              <a:lnSpc>
                <a:spcPct val="100000"/>
              </a:lnSpc>
              <a:spcBef>
                <a:spcPts val="600"/>
              </a:spcBef>
              <a:buSzPct val="100000"/>
            </a:pPr>
            <a:r>
              <a:rPr lang="zh-CN" altLang="en-US" sz="2400" dirty="0" smtClean="0"/>
              <a:t>其</a:t>
            </a:r>
            <a:r>
              <a:rPr lang="zh-CN" altLang="en-US" sz="2400" dirty="0"/>
              <a:t>结构框图和图形符号如下所示</a:t>
            </a:r>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43</a:t>
            </a:fld>
            <a:endParaRPr lang="zh-CN" altLang="en-US"/>
          </a:p>
        </p:txBody>
      </p:sp>
      <p:sp>
        <p:nvSpPr>
          <p:cNvPr id="7" name="Text Box 9"/>
          <p:cNvSpPr txBox="1">
            <a:spLocks noChangeArrowheads="1"/>
          </p:cNvSpPr>
          <p:nvPr/>
        </p:nvSpPr>
        <p:spPr bwMode="auto">
          <a:xfrm>
            <a:off x="2268538" y="6265490"/>
            <a:ext cx="5183187"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zh-CN" altLang="en-US" sz="2000" b="1" dirty="0" smtClean="0">
                <a:latin typeface="楷体_GB2312" pitchFamily="49" charset="-122"/>
                <a:ea typeface="楷体_GB2312" pitchFamily="49" charset="-122"/>
              </a:rPr>
              <a:t>图</a:t>
            </a:r>
            <a:r>
              <a:rPr lang="en-US" altLang="zh-CN" sz="2000" b="1" dirty="0" smtClean="0">
                <a:latin typeface="楷体_GB2312" pitchFamily="49" charset="-122"/>
                <a:ea typeface="楷体_GB2312" pitchFamily="49" charset="-122"/>
              </a:rPr>
              <a:t>  </a:t>
            </a:r>
            <a:r>
              <a:rPr lang="zh-CN" altLang="en-US" sz="2000" b="1" dirty="0">
                <a:latin typeface="楷体_GB2312" pitchFamily="49" charset="-122"/>
                <a:ea typeface="楷体_GB2312" pitchFamily="49" charset="-122"/>
              </a:rPr>
              <a:t>主从</a:t>
            </a:r>
            <a:r>
              <a:rPr lang="en-US" altLang="zh-CN" sz="2000" b="1" dirty="0">
                <a:latin typeface="楷体_GB2312" pitchFamily="49" charset="-122"/>
                <a:ea typeface="楷体_GB2312" pitchFamily="49" charset="-122"/>
              </a:rPr>
              <a:t>RS-FF</a:t>
            </a:r>
            <a:r>
              <a:rPr lang="zh-CN" altLang="en-US" sz="2000" b="1" dirty="0">
                <a:latin typeface="楷体_GB2312" pitchFamily="49" charset="-122"/>
                <a:ea typeface="楷体_GB2312" pitchFamily="49" charset="-122"/>
              </a:rPr>
              <a:t>的结构框图和图形符号</a:t>
            </a:r>
            <a:r>
              <a:rPr lang="zh-CN" altLang="en-US" sz="2000" dirty="0">
                <a:latin typeface="楷体_GB2312" pitchFamily="49" charset="-122"/>
                <a:ea typeface="楷体_GB2312" pitchFamily="49" charset="-122"/>
              </a:rPr>
              <a:t>  </a:t>
            </a:r>
          </a:p>
        </p:txBody>
      </p:sp>
      <p:graphicFrame>
        <p:nvGraphicFramePr>
          <p:cNvPr id="8" name="Object 10"/>
          <p:cNvGraphicFramePr>
            <a:graphicFrameLocks noChangeAspect="1"/>
          </p:cNvGraphicFramePr>
          <p:nvPr/>
        </p:nvGraphicFramePr>
        <p:xfrm>
          <a:off x="395288" y="3787403"/>
          <a:ext cx="5184775" cy="2471737"/>
        </p:xfrm>
        <a:graphic>
          <a:graphicData uri="http://schemas.openxmlformats.org/presentationml/2006/ole">
            <p:oleObj spid="_x0000_s100596" name="Visio" r:id="rId3" imgW="4199060" imgH="2002055" progId="">
              <p:embed/>
            </p:oleObj>
          </a:graphicData>
        </a:graphic>
      </p:graphicFrame>
      <p:graphicFrame>
        <p:nvGraphicFramePr>
          <p:cNvPr id="9" name="Object 11"/>
          <p:cNvGraphicFramePr>
            <a:graphicFrameLocks noChangeAspect="1"/>
          </p:cNvGraphicFramePr>
          <p:nvPr/>
        </p:nvGraphicFramePr>
        <p:xfrm>
          <a:off x="5796855" y="4168403"/>
          <a:ext cx="3095625" cy="1249362"/>
        </p:xfrm>
        <a:graphic>
          <a:graphicData uri="http://schemas.openxmlformats.org/presentationml/2006/ole">
            <p:oleObj spid="_x0000_s100597" name="Visio" r:id="rId4" imgW="2410643" imgH="973307" progId="">
              <p:embed/>
            </p:oleObj>
          </a:graphicData>
        </a:graphic>
      </p:graphicFrame>
      <p:sp>
        <p:nvSpPr>
          <p:cNvPr id="5" name="矩形标注 4"/>
          <p:cNvSpPr/>
          <p:nvPr/>
        </p:nvSpPr>
        <p:spPr bwMode="auto">
          <a:xfrm>
            <a:off x="6362800" y="3327115"/>
            <a:ext cx="1296144" cy="402291"/>
          </a:xfrm>
          <a:prstGeom prst="wedgeRectCallout">
            <a:avLst>
              <a:gd name="adj1" fmla="val 49029"/>
              <a:gd name="adj2" fmla="val 207410"/>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w="9525" cap="flat" cmpd="sng" algn="ct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prstDash val="solid"/>
            <a:miter lim="800000"/>
            <a:headEnd type="none" w="med" len="med"/>
            <a:tailEnd type="none" w="med" len="med"/>
          </a:ln>
        </p:spPr>
        <p:txBody>
          <a:bodyPr vert="horz" wrap="square" lIns="90000" tIns="46800" rIns="90000" bIns="4680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r>
              <a:rPr kumimoji="1" lang="zh-CN" altLang="en-US" sz="2000" b="1" i="0" u="none" strike="noStrike" cap="none" normalizeH="0" baseline="0" dirty="0" smtClean="0">
                <a:ln>
                  <a:noFill/>
                </a:ln>
                <a:solidFill>
                  <a:schemeClr val="tx1"/>
                </a:solidFill>
                <a:effectLst/>
                <a:latin typeface="Tahoma" panose="020B0604030504040204" pitchFamily="34" charset="0"/>
                <a:ea typeface="宋体" panose="02010600030101010101" pitchFamily="2" charset="-122"/>
              </a:rPr>
              <a:t>延迟输出</a:t>
            </a:r>
          </a:p>
        </p:txBody>
      </p:sp>
      <p:sp>
        <p:nvSpPr>
          <p:cNvPr id="10" name="矩形标注 9"/>
          <p:cNvSpPr/>
          <p:nvPr/>
        </p:nvSpPr>
        <p:spPr bwMode="auto">
          <a:xfrm>
            <a:off x="7771656" y="3140968"/>
            <a:ext cx="1296144" cy="925511"/>
          </a:xfrm>
          <a:prstGeom prst="wedgeRectCallout">
            <a:avLst>
              <a:gd name="adj1" fmla="val 20262"/>
              <a:gd name="adj2" fmla="val 41901"/>
            </a:avLst>
          </a:prstGeom>
          <a:noFill/>
          <a:ln w="9525" cap="flat" cmpd="sng" algn="ctr">
            <a:solidFill>
              <a:schemeClr val="accent1"/>
            </a:solidFill>
            <a:prstDash val="solid"/>
            <a:miter lim="800000"/>
            <a:headEnd type="none" w="med" len="med"/>
            <a:tailEnd type="none" w="med" len="med"/>
          </a:ln>
        </p:spPr>
        <p:txBody>
          <a:bodyPr vert="horz" wrap="square" lIns="90000" tIns="46800" rIns="90000" bIns="4680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r>
              <a:rPr kumimoji="1" lang="zh-CN" altLang="en-US" b="1" i="0" u="none" strike="noStrike" cap="none" normalizeH="0" baseline="0" dirty="0" smtClean="0">
                <a:ln>
                  <a:noFill/>
                </a:ln>
                <a:solidFill>
                  <a:schemeClr val="tx1"/>
                </a:solidFill>
                <a:effectLst/>
                <a:latin typeface="Tahoma" panose="020B0604030504040204" pitchFamily="34" charset="0"/>
                <a:ea typeface="宋体" panose="02010600030101010101" pitchFamily="2" charset="-122"/>
              </a:rPr>
              <a:t>延迟到下降沿时，整体输出</a:t>
            </a:r>
          </a:p>
        </p:txBody>
      </p:sp>
      <p:sp>
        <p:nvSpPr>
          <p:cNvPr id="16" name="标题 1"/>
          <p:cNvSpPr>
            <a:spLocks noGrp="1"/>
          </p:cNvSpPr>
          <p:nvPr>
            <p:ph type="title"/>
          </p:nvPr>
        </p:nvSpPr>
        <p:spPr>
          <a:xfrm>
            <a:off x="1187624" y="1052736"/>
            <a:ext cx="7756351" cy="635794"/>
          </a:xfrm>
        </p:spPr>
        <p:txBody>
          <a:bodyPr/>
          <a:lstStyle/>
          <a:p>
            <a:r>
              <a:rPr lang="en-US" altLang="zh-CN" dirty="0" smtClean="0"/>
              <a:t>1. </a:t>
            </a:r>
            <a:r>
              <a:rPr lang="zh-CN" altLang="en-US" dirty="0" smtClean="0"/>
              <a:t>电路组成</a:t>
            </a:r>
            <a:endParaRPr lang="zh-CN" altLang="en-US" dirty="0"/>
          </a:p>
        </p:txBody>
      </p:sp>
      <p:sp>
        <p:nvSpPr>
          <p:cNvPr id="17" name="标题 1"/>
          <p:cNvSpPr txBox="1">
            <a:spLocks/>
          </p:cNvSpPr>
          <p:nvPr/>
        </p:nvSpPr>
        <p:spPr bwMode="auto">
          <a:xfrm>
            <a:off x="1187624" y="332656"/>
            <a:ext cx="7632848" cy="5669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p>
            <a:pPr lvl="0" fontAlgn="base">
              <a:spcBef>
                <a:spcPct val="0"/>
              </a:spcBef>
              <a:spcAft>
                <a:spcPct val="0"/>
              </a:spcAft>
              <a:defRPr/>
            </a:pPr>
            <a:r>
              <a:rPr kumimoji="1" lang="en-US" altLang="zh-CN" sz="3200" b="1" dirty="0" smtClean="0">
                <a:solidFill>
                  <a:schemeClr val="tx2"/>
                </a:solidFill>
                <a:latin typeface="+mj-lt"/>
                <a:ea typeface="+mj-ea"/>
                <a:cs typeface="+mj-cs"/>
              </a:rPr>
              <a:t>5.2.1 </a:t>
            </a:r>
            <a:r>
              <a:rPr kumimoji="1" lang="zh-CN" altLang="en-US" sz="3200" b="1" dirty="0" smtClean="0">
                <a:solidFill>
                  <a:schemeClr val="tx2"/>
                </a:solidFill>
                <a:latin typeface="+mj-lt"/>
                <a:ea typeface="+mj-ea"/>
                <a:cs typeface="+mj-cs"/>
              </a:rPr>
              <a:t>主从</a:t>
            </a:r>
            <a:r>
              <a:rPr kumimoji="1" lang="en-US" altLang="zh-CN" sz="3200" b="1" dirty="0" smtClean="0">
                <a:solidFill>
                  <a:schemeClr val="tx2"/>
                </a:solidFill>
                <a:latin typeface="+mj-lt"/>
                <a:ea typeface="+mj-ea"/>
                <a:cs typeface="+mj-cs"/>
              </a:rPr>
              <a:t>RS</a:t>
            </a:r>
            <a:r>
              <a:rPr kumimoji="1" lang="zh-CN" altLang="en-US" sz="3200" b="1" dirty="0" smtClean="0">
                <a:solidFill>
                  <a:schemeClr val="tx2"/>
                </a:solidFill>
                <a:latin typeface="+mj-lt"/>
                <a:ea typeface="+mj-ea"/>
                <a:cs typeface="+mj-cs"/>
              </a:rPr>
              <a:t>触发器</a:t>
            </a:r>
            <a:endParaRPr kumimoji="1" lang="zh-CN" altLang="en-US" sz="3200" b="1" dirty="0">
              <a:solidFill>
                <a:schemeClr val="tx2"/>
              </a:solidFill>
              <a:latin typeface="+mj-lt"/>
              <a:ea typeface="+mj-ea"/>
              <a:cs typeface="+mj-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0"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0C913308-F349-4B6D-A68A-DD1791B4A57B}" type="slidenum">
              <a:rPr lang="zh-CN" altLang="en-US" smtClean="0"/>
              <a:pPr/>
              <a:t>44</a:t>
            </a:fld>
            <a:endParaRPr lang="zh-CN" altLang="en-US"/>
          </a:p>
        </p:txBody>
      </p:sp>
      <p:sp>
        <p:nvSpPr>
          <p:cNvPr id="5" name="Text Box 6"/>
          <p:cNvSpPr txBox="1">
            <a:spLocks noChangeArrowheads="1"/>
          </p:cNvSpPr>
          <p:nvPr/>
        </p:nvSpPr>
        <p:spPr bwMode="auto">
          <a:xfrm>
            <a:off x="1042988" y="3380383"/>
            <a:ext cx="7273925"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en-US" altLang="zh-CN" b="1"/>
              <a:t>       </a:t>
            </a:r>
          </a:p>
        </p:txBody>
      </p:sp>
      <p:sp>
        <p:nvSpPr>
          <p:cNvPr id="6" name="Text Box 7"/>
          <p:cNvSpPr txBox="1">
            <a:spLocks noChangeArrowheads="1"/>
          </p:cNvSpPr>
          <p:nvPr/>
        </p:nvSpPr>
        <p:spPr bwMode="auto">
          <a:xfrm>
            <a:off x="827088" y="6309320"/>
            <a:ext cx="3743325"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zh-CN" altLang="en-US" sz="2000" b="1" dirty="0" smtClean="0">
                <a:latin typeface="楷体_GB2312" pitchFamily="49" charset="-122"/>
                <a:ea typeface="楷体_GB2312" pitchFamily="49" charset="-122"/>
              </a:rPr>
              <a:t>图</a:t>
            </a:r>
            <a:r>
              <a:rPr lang="en-US" altLang="zh-CN" sz="2000" b="1" dirty="0" smtClean="0">
                <a:latin typeface="楷体_GB2312" pitchFamily="49" charset="-122"/>
                <a:ea typeface="楷体_GB2312" pitchFamily="49" charset="-122"/>
              </a:rPr>
              <a:t> </a:t>
            </a:r>
            <a:r>
              <a:rPr lang="zh-CN" altLang="en-US" sz="2000" b="1" dirty="0">
                <a:latin typeface="楷体_GB2312" pitchFamily="49" charset="-122"/>
                <a:ea typeface="楷体_GB2312" pitchFamily="49" charset="-122"/>
              </a:rPr>
              <a:t>主从</a:t>
            </a:r>
            <a:r>
              <a:rPr lang="en-US" altLang="zh-CN" sz="2000" b="1" dirty="0">
                <a:latin typeface="楷体_GB2312" pitchFamily="49" charset="-122"/>
                <a:ea typeface="楷体_GB2312" pitchFamily="49" charset="-122"/>
              </a:rPr>
              <a:t>RS-FF</a:t>
            </a:r>
            <a:r>
              <a:rPr lang="zh-CN" altLang="en-US" sz="2000" b="1" dirty="0">
                <a:latin typeface="楷体_GB2312" pitchFamily="49" charset="-122"/>
                <a:ea typeface="楷体_GB2312" pitchFamily="49" charset="-122"/>
              </a:rPr>
              <a:t>的逻辑图</a:t>
            </a:r>
            <a:r>
              <a:rPr lang="zh-CN" altLang="en-US" sz="2000" dirty="0">
                <a:latin typeface="楷体_GB2312" pitchFamily="49" charset="-122"/>
                <a:ea typeface="楷体_GB2312" pitchFamily="49" charset="-122"/>
              </a:rPr>
              <a:t>  </a:t>
            </a:r>
          </a:p>
        </p:txBody>
      </p:sp>
      <p:sp>
        <p:nvSpPr>
          <p:cNvPr id="7" name="Text Box 8"/>
          <p:cNvSpPr txBox="1">
            <a:spLocks noChangeArrowheads="1"/>
          </p:cNvSpPr>
          <p:nvPr/>
        </p:nvSpPr>
        <p:spPr bwMode="auto">
          <a:xfrm>
            <a:off x="5508104" y="1268760"/>
            <a:ext cx="2881709"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p>
            <a:pPr>
              <a:spcBef>
                <a:spcPct val="50000"/>
              </a:spcBef>
            </a:pPr>
            <a:r>
              <a:rPr lang="zh-CN" altLang="en-US" sz="2000" b="1" dirty="0" smtClean="0">
                <a:latin typeface="楷体_GB2312" pitchFamily="49" charset="-122"/>
                <a:ea typeface="楷体_GB2312" pitchFamily="49" charset="-122"/>
              </a:rPr>
              <a:t>表 主从</a:t>
            </a:r>
            <a:r>
              <a:rPr lang="en-US" altLang="zh-CN" sz="2000" b="1" dirty="0">
                <a:latin typeface="楷体_GB2312" pitchFamily="49" charset="-122"/>
                <a:ea typeface="楷体_GB2312" pitchFamily="49" charset="-122"/>
              </a:rPr>
              <a:t>RS-FF</a:t>
            </a:r>
            <a:r>
              <a:rPr lang="zh-CN" altLang="en-US" sz="2000" b="1" dirty="0">
                <a:latin typeface="楷体_GB2312" pitchFamily="49" charset="-122"/>
                <a:ea typeface="楷体_GB2312" pitchFamily="49" charset="-122"/>
              </a:rPr>
              <a:t>的特性表</a:t>
            </a:r>
            <a:endParaRPr lang="zh-CN" altLang="en-US" sz="2000" dirty="0">
              <a:latin typeface="楷体_GB2312" pitchFamily="49" charset="-122"/>
              <a:ea typeface="楷体_GB2312" pitchFamily="49" charset="-122"/>
            </a:endParaRPr>
          </a:p>
        </p:txBody>
      </p:sp>
      <p:pic>
        <p:nvPicPr>
          <p:cNvPr id="8" name="Picture 9" descr="4-2-13"/>
          <p:cNvPicPr>
            <a:picLocks noChangeAspect="1" noChangeArrowheads="1"/>
          </p:cNvPicPr>
          <p:nvPr/>
        </p:nvPicPr>
        <p:blipFill>
          <a:blip r:embed="rId2" cstate="print">
            <a:clrChange>
              <a:clrFrom>
                <a:srgbClr val="F8F9F3"/>
              </a:clrFrom>
              <a:clrTo>
                <a:srgbClr val="F8F9F3">
                  <a:alpha val="0"/>
                </a:srgbClr>
              </a:clrTo>
            </a:clrChange>
            <a:lum bright="-6000" contrast="42000"/>
            <a:extLst>
              <a:ext uri="{28A0092B-C50C-407E-A947-70E740481C1C}">
                <a14:useLocalDpi xmlns:a14="http://schemas.microsoft.com/office/drawing/2010/main" xmlns="" val="0"/>
              </a:ext>
            </a:extLst>
          </a:blip>
          <a:srcRect/>
          <a:stretch>
            <a:fillRect/>
          </a:stretch>
        </p:blipFill>
        <p:spPr bwMode="auto">
          <a:xfrm>
            <a:off x="0" y="2637433"/>
            <a:ext cx="5156200" cy="3275012"/>
          </a:xfrm>
          <a:prstGeom prst="rect">
            <a:avLst/>
          </a:prstGeom>
          <a:noFill/>
          <a:extLst>
            <a:ext uri="{909E8E84-426E-40DD-AFC4-6F175D3DCCD1}">
              <a14:hiddenFill xmlns:a14="http://schemas.microsoft.com/office/drawing/2010/main" xmlns="">
                <a:solidFill>
                  <a:srgbClr val="FFFFFF"/>
                </a:solidFill>
              </a14:hiddenFill>
            </a:ext>
          </a:extLst>
        </p:spPr>
      </p:pic>
      <p:grpSp>
        <p:nvGrpSpPr>
          <p:cNvPr id="9" name="Group 10"/>
          <p:cNvGrpSpPr/>
          <p:nvPr/>
        </p:nvGrpSpPr>
        <p:grpSpPr bwMode="auto">
          <a:xfrm>
            <a:off x="5148064" y="1701800"/>
            <a:ext cx="3744416" cy="4967560"/>
            <a:chOff x="3243" y="618"/>
            <a:chExt cx="2354" cy="3248"/>
          </a:xfrm>
        </p:grpSpPr>
        <p:pic>
          <p:nvPicPr>
            <p:cNvPr id="10" name="Picture 11" descr="b4-2-7"/>
            <p:cNvPicPr>
              <a:picLocks noChangeAspect="1" noChangeArrowheads="1"/>
            </p:cNvPicPr>
            <p:nvPr/>
          </p:nvPicPr>
          <p:blipFill>
            <a:blip r:embed="rId3" cstate="print">
              <a:clrChange>
                <a:clrFrom>
                  <a:srgbClr val="FAFBF5"/>
                </a:clrFrom>
                <a:clrTo>
                  <a:srgbClr val="FAFBF5">
                    <a:alpha val="0"/>
                  </a:srgbClr>
                </a:clrTo>
              </a:clrChange>
              <a:lum bright="-12000" contrast="42000"/>
              <a:extLst>
                <a:ext uri="{28A0092B-C50C-407E-A947-70E740481C1C}">
                  <a14:useLocalDpi xmlns:a14="http://schemas.microsoft.com/office/drawing/2010/main" xmlns="" val="0"/>
                </a:ext>
              </a:extLst>
            </a:blip>
            <a:srcRect/>
            <a:stretch>
              <a:fillRect/>
            </a:stretch>
          </p:blipFill>
          <p:spPr bwMode="auto">
            <a:xfrm>
              <a:off x="3243" y="618"/>
              <a:ext cx="2354" cy="3248"/>
            </a:xfrm>
            <a:prstGeom prst="rect">
              <a:avLst/>
            </a:prstGeom>
            <a:noFill/>
            <a:extLst>
              <a:ext uri="{909E8E84-426E-40DD-AFC4-6F175D3DCCD1}">
                <a14:hiddenFill xmlns:a14="http://schemas.microsoft.com/office/drawing/2010/main" xmlns="">
                  <a:solidFill>
                    <a:srgbClr val="FFFFFF"/>
                  </a:solidFill>
                </a14:hiddenFill>
              </a:ext>
            </a:extLst>
          </p:spPr>
        </p:pic>
        <p:sp>
          <p:nvSpPr>
            <p:cNvPr id="11" name="Rectangle 12"/>
            <p:cNvSpPr>
              <a:spLocks noChangeArrowheads="1"/>
            </p:cNvSpPr>
            <p:nvPr/>
          </p:nvSpPr>
          <p:spPr bwMode="auto">
            <a:xfrm>
              <a:off x="3334" y="981"/>
              <a:ext cx="2131" cy="771"/>
            </a:xfrm>
            <a:prstGeom prst="rect">
              <a:avLst/>
            </a:prstGeom>
            <a:noFill/>
            <a:ln w="28575">
              <a:solidFill>
                <a:srgbClr val="FF0000"/>
              </a:solidFill>
              <a:prstDash val="dash"/>
              <a:miter lim="800000"/>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sp>
          <p:nvSpPr>
            <p:cNvPr id="12" name="Rectangle 13"/>
            <p:cNvSpPr>
              <a:spLocks noChangeArrowheads="1"/>
            </p:cNvSpPr>
            <p:nvPr/>
          </p:nvSpPr>
          <p:spPr bwMode="auto">
            <a:xfrm>
              <a:off x="3334" y="1797"/>
              <a:ext cx="2131" cy="544"/>
            </a:xfrm>
            <a:prstGeom prst="rect">
              <a:avLst/>
            </a:prstGeom>
            <a:noFill/>
            <a:ln w="28575">
              <a:solidFill>
                <a:srgbClr val="FF0000"/>
              </a:solidFill>
              <a:prstDash val="dash"/>
              <a:miter lim="800000"/>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sp>
          <p:nvSpPr>
            <p:cNvPr id="13" name="Rectangle 14"/>
            <p:cNvSpPr>
              <a:spLocks noChangeArrowheads="1"/>
            </p:cNvSpPr>
            <p:nvPr/>
          </p:nvSpPr>
          <p:spPr bwMode="auto">
            <a:xfrm>
              <a:off x="3334" y="2387"/>
              <a:ext cx="2131" cy="544"/>
            </a:xfrm>
            <a:prstGeom prst="rect">
              <a:avLst/>
            </a:prstGeom>
            <a:noFill/>
            <a:ln w="28575">
              <a:solidFill>
                <a:srgbClr val="FF0000"/>
              </a:solidFill>
              <a:prstDash val="dash"/>
              <a:miter lim="800000"/>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sp>
          <p:nvSpPr>
            <p:cNvPr id="14" name="Rectangle 15"/>
            <p:cNvSpPr>
              <a:spLocks noChangeArrowheads="1"/>
            </p:cNvSpPr>
            <p:nvPr/>
          </p:nvSpPr>
          <p:spPr bwMode="auto">
            <a:xfrm>
              <a:off x="3334" y="2977"/>
              <a:ext cx="2131" cy="544"/>
            </a:xfrm>
            <a:prstGeom prst="rect">
              <a:avLst/>
            </a:prstGeom>
            <a:noFill/>
            <a:ln w="28575">
              <a:solidFill>
                <a:srgbClr val="FF0000"/>
              </a:solidFill>
              <a:prstDash val="dash"/>
              <a:miter lim="800000"/>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grpSp>
      <p:sp>
        <p:nvSpPr>
          <p:cNvPr id="3" name="文本框 2"/>
          <p:cNvSpPr txBox="1"/>
          <p:nvPr/>
        </p:nvSpPr>
        <p:spPr>
          <a:xfrm>
            <a:off x="251520" y="2798842"/>
            <a:ext cx="332142" cy="369332"/>
          </a:xfrm>
          <a:prstGeom prst="rect">
            <a:avLst/>
          </a:prstGeom>
          <a:noFill/>
        </p:spPr>
        <p:txBody>
          <a:bodyPr wrap="none" rtlCol="0">
            <a:spAutoFit/>
          </a:bodyPr>
          <a:lstStyle/>
          <a:p>
            <a:r>
              <a:rPr lang="en-US" altLang="zh-CN" b="1" dirty="0" smtClean="0">
                <a:solidFill>
                  <a:srgbClr val="FF0000"/>
                </a:solidFill>
              </a:rPr>
              <a:t>1</a:t>
            </a:r>
            <a:endParaRPr lang="zh-CN" altLang="en-US" b="1" dirty="0">
              <a:solidFill>
                <a:srgbClr val="FF0000"/>
              </a:solidFill>
            </a:endParaRPr>
          </a:p>
        </p:txBody>
      </p:sp>
      <p:sp>
        <p:nvSpPr>
          <p:cNvPr id="15" name="文本框 14"/>
          <p:cNvSpPr txBox="1"/>
          <p:nvPr/>
        </p:nvSpPr>
        <p:spPr>
          <a:xfrm>
            <a:off x="251520" y="4293096"/>
            <a:ext cx="332142" cy="369332"/>
          </a:xfrm>
          <a:prstGeom prst="rect">
            <a:avLst/>
          </a:prstGeom>
          <a:noFill/>
        </p:spPr>
        <p:txBody>
          <a:bodyPr wrap="none" rtlCol="0">
            <a:spAutoFit/>
          </a:bodyPr>
          <a:lstStyle/>
          <a:p>
            <a:r>
              <a:rPr lang="en-US" altLang="zh-CN" b="1" dirty="0" smtClean="0">
                <a:solidFill>
                  <a:srgbClr val="FF0000"/>
                </a:solidFill>
              </a:rPr>
              <a:t>0</a:t>
            </a:r>
            <a:endParaRPr lang="zh-CN" altLang="en-US" b="1" dirty="0">
              <a:solidFill>
                <a:srgbClr val="FF0000"/>
              </a:solidFill>
            </a:endParaRPr>
          </a:p>
        </p:txBody>
      </p:sp>
      <p:cxnSp>
        <p:nvCxnSpPr>
          <p:cNvPr id="17" name="直接连接符 16"/>
          <p:cNvCxnSpPr/>
          <p:nvPr/>
        </p:nvCxnSpPr>
        <p:spPr bwMode="auto">
          <a:xfrm>
            <a:off x="251520" y="5229200"/>
            <a:ext cx="260134" cy="0"/>
          </a:xfrm>
          <a:prstGeom prst="line">
            <a:avLst/>
          </a:prstGeom>
          <a:noFill/>
          <a:ln w="15875" cap="flat" cmpd="sng" algn="ctr">
            <a:solidFill>
              <a:srgbClr val="FF0000"/>
            </a:solidFill>
            <a:prstDash val="solid"/>
            <a:miter lim="800000"/>
            <a:headEnd type="none" w="med" len="med"/>
            <a:tailEnd type="none" w="med" len="med"/>
          </a:ln>
        </p:spPr>
      </p:cxnSp>
      <p:sp>
        <p:nvSpPr>
          <p:cNvPr id="18" name="文本框 17"/>
          <p:cNvSpPr txBox="1"/>
          <p:nvPr/>
        </p:nvSpPr>
        <p:spPr>
          <a:xfrm>
            <a:off x="1331640" y="2798842"/>
            <a:ext cx="332142" cy="369332"/>
          </a:xfrm>
          <a:prstGeom prst="rect">
            <a:avLst/>
          </a:prstGeom>
          <a:noFill/>
        </p:spPr>
        <p:txBody>
          <a:bodyPr wrap="none" rtlCol="0">
            <a:spAutoFit/>
          </a:bodyPr>
          <a:lstStyle/>
          <a:p>
            <a:r>
              <a:rPr lang="en-US" altLang="zh-CN" b="1" dirty="0" smtClean="0">
                <a:solidFill>
                  <a:srgbClr val="FF0000"/>
                </a:solidFill>
              </a:rPr>
              <a:t>0</a:t>
            </a:r>
            <a:endParaRPr lang="zh-CN" altLang="en-US" b="1" dirty="0">
              <a:solidFill>
                <a:srgbClr val="FF0000"/>
              </a:solidFill>
            </a:endParaRPr>
          </a:p>
        </p:txBody>
      </p:sp>
      <p:sp>
        <p:nvSpPr>
          <p:cNvPr id="19" name="文本框 18"/>
          <p:cNvSpPr txBox="1"/>
          <p:nvPr/>
        </p:nvSpPr>
        <p:spPr>
          <a:xfrm>
            <a:off x="1336145" y="4211201"/>
            <a:ext cx="332142" cy="369332"/>
          </a:xfrm>
          <a:prstGeom prst="rect">
            <a:avLst/>
          </a:prstGeom>
          <a:noFill/>
        </p:spPr>
        <p:txBody>
          <a:bodyPr wrap="none" rtlCol="0">
            <a:spAutoFit/>
          </a:bodyPr>
          <a:lstStyle/>
          <a:p>
            <a:r>
              <a:rPr lang="en-US" altLang="zh-CN" b="1" dirty="0" smtClean="0">
                <a:solidFill>
                  <a:srgbClr val="FF0000"/>
                </a:solidFill>
              </a:rPr>
              <a:t>1</a:t>
            </a:r>
            <a:endParaRPr lang="zh-CN" altLang="en-US" b="1" dirty="0">
              <a:solidFill>
                <a:srgbClr val="FF0000"/>
              </a:solidFill>
            </a:endParaRPr>
          </a:p>
        </p:txBody>
      </p:sp>
      <p:sp>
        <p:nvSpPr>
          <p:cNvPr id="20" name="文本框 19"/>
          <p:cNvSpPr txBox="1"/>
          <p:nvPr/>
        </p:nvSpPr>
        <p:spPr>
          <a:xfrm>
            <a:off x="2372404" y="2798842"/>
            <a:ext cx="332142" cy="369332"/>
          </a:xfrm>
          <a:prstGeom prst="rect">
            <a:avLst/>
          </a:prstGeom>
          <a:noFill/>
        </p:spPr>
        <p:txBody>
          <a:bodyPr wrap="none" rtlCol="0">
            <a:spAutoFit/>
          </a:bodyPr>
          <a:lstStyle/>
          <a:p>
            <a:r>
              <a:rPr lang="en-US" altLang="zh-CN" b="1" dirty="0" smtClean="0">
                <a:solidFill>
                  <a:srgbClr val="FF0000"/>
                </a:solidFill>
              </a:rPr>
              <a:t>1</a:t>
            </a:r>
            <a:endParaRPr lang="zh-CN" altLang="en-US" b="1" dirty="0">
              <a:solidFill>
                <a:srgbClr val="FF0000"/>
              </a:solidFill>
            </a:endParaRPr>
          </a:p>
        </p:txBody>
      </p:sp>
      <p:sp>
        <p:nvSpPr>
          <p:cNvPr id="21" name="文本框 20"/>
          <p:cNvSpPr txBox="1"/>
          <p:nvPr/>
        </p:nvSpPr>
        <p:spPr>
          <a:xfrm>
            <a:off x="2366608" y="4265583"/>
            <a:ext cx="332142" cy="369332"/>
          </a:xfrm>
          <a:prstGeom prst="rect">
            <a:avLst/>
          </a:prstGeom>
          <a:noFill/>
        </p:spPr>
        <p:txBody>
          <a:bodyPr wrap="none" rtlCol="0">
            <a:spAutoFit/>
          </a:bodyPr>
          <a:lstStyle/>
          <a:p>
            <a:r>
              <a:rPr lang="en-US" altLang="zh-CN" b="1" dirty="0" smtClean="0">
                <a:solidFill>
                  <a:srgbClr val="FF0000"/>
                </a:solidFill>
              </a:rPr>
              <a:t>0</a:t>
            </a:r>
            <a:endParaRPr lang="zh-CN" altLang="en-US" b="1" dirty="0">
              <a:solidFill>
                <a:srgbClr val="FF0000"/>
              </a:solidFill>
            </a:endParaRPr>
          </a:p>
        </p:txBody>
      </p:sp>
      <p:grpSp>
        <p:nvGrpSpPr>
          <p:cNvPr id="30" name="组合 29"/>
          <p:cNvGrpSpPr/>
          <p:nvPr/>
        </p:nvGrpSpPr>
        <p:grpSpPr>
          <a:xfrm>
            <a:off x="502887" y="5229200"/>
            <a:ext cx="243922" cy="395576"/>
            <a:chOff x="502887" y="5229200"/>
            <a:chExt cx="243922" cy="395576"/>
          </a:xfrm>
        </p:grpSpPr>
        <p:cxnSp>
          <p:nvCxnSpPr>
            <p:cNvPr id="25" name="直接箭头连接符 24"/>
            <p:cNvCxnSpPr/>
            <p:nvPr/>
          </p:nvCxnSpPr>
          <p:spPr bwMode="auto">
            <a:xfrm>
              <a:off x="511654" y="5229200"/>
              <a:ext cx="0" cy="288032"/>
            </a:xfrm>
            <a:prstGeom prst="straightConnector1">
              <a:avLst/>
            </a:prstGeom>
            <a:noFill/>
            <a:ln w="15875" cap="flat" cmpd="sng" algn="ctr">
              <a:solidFill>
                <a:srgbClr val="FF0000"/>
              </a:solidFill>
              <a:prstDash val="solid"/>
              <a:miter lim="800000"/>
              <a:headEnd type="none" w="med" len="med"/>
              <a:tailEnd type="triangle"/>
            </a:ln>
          </p:spPr>
        </p:cxnSp>
        <p:cxnSp>
          <p:nvCxnSpPr>
            <p:cNvPr id="28" name="肘形连接符 27"/>
            <p:cNvCxnSpPr/>
            <p:nvPr/>
          </p:nvCxnSpPr>
          <p:spPr bwMode="auto">
            <a:xfrm>
              <a:off x="502887" y="5408752"/>
              <a:ext cx="243922" cy="216024"/>
            </a:xfrm>
            <a:prstGeom prst="bentConnector3">
              <a:avLst>
                <a:gd name="adj1" fmla="val 2686"/>
              </a:avLst>
            </a:prstGeom>
            <a:noFill/>
            <a:ln w="15875" cap="flat" cmpd="sng" algn="ctr">
              <a:solidFill>
                <a:srgbClr val="FF0000"/>
              </a:solidFill>
              <a:prstDash val="solid"/>
              <a:miter lim="800000"/>
              <a:headEnd type="none" w="med" len="med"/>
              <a:tailEnd type="none" w="med" len="med"/>
            </a:ln>
          </p:spPr>
        </p:cxnSp>
      </p:grpSp>
      <p:sp>
        <p:nvSpPr>
          <p:cNvPr id="31" name="文本框 30"/>
          <p:cNvSpPr txBox="1"/>
          <p:nvPr/>
        </p:nvSpPr>
        <p:spPr>
          <a:xfrm>
            <a:off x="3321499" y="2767717"/>
            <a:ext cx="332142" cy="369332"/>
          </a:xfrm>
          <a:prstGeom prst="rect">
            <a:avLst/>
          </a:prstGeom>
          <a:noFill/>
        </p:spPr>
        <p:txBody>
          <a:bodyPr wrap="none" rtlCol="0">
            <a:spAutoFit/>
          </a:bodyPr>
          <a:lstStyle/>
          <a:p>
            <a:r>
              <a:rPr lang="en-US" altLang="zh-CN" b="1" dirty="0" smtClean="0">
                <a:solidFill>
                  <a:srgbClr val="FF0000"/>
                </a:solidFill>
              </a:rPr>
              <a:t>0</a:t>
            </a:r>
            <a:endParaRPr lang="zh-CN" altLang="en-US" b="1" dirty="0">
              <a:solidFill>
                <a:srgbClr val="FF0000"/>
              </a:solidFill>
            </a:endParaRPr>
          </a:p>
        </p:txBody>
      </p:sp>
      <p:sp>
        <p:nvSpPr>
          <p:cNvPr id="32" name="文本框 31"/>
          <p:cNvSpPr txBox="1"/>
          <p:nvPr/>
        </p:nvSpPr>
        <p:spPr>
          <a:xfrm>
            <a:off x="3321499" y="4265583"/>
            <a:ext cx="332142" cy="369332"/>
          </a:xfrm>
          <a:prstGeom prst="rect">
            <a:avLst/>
          </a:prstGeom>
          <a:noFill/>
        </p:spPr>
        <p:txBody>
          <a:bodyPr wrap="none" rtlCol="0">
            <a:spAutoFit/>
          </a:bodyPr>
          <a:lstStyle/>
          <a:p>
            <a:r>
              <a:rPr lang="en-US" altLang="zh-CN" b="1" dirty="0" smtClean="0">
                <a:solidFill>
                  <a:srgbClr val="FF0000"/>
                </a:solidFill>
              </a:rPr>
              <a:t>1</a:t>
            </a:r>
            <a:endParaRPr lang="zh-CN" altLang="en-US" b="1" dirty="0">
              <a:solidFill>
                <a:srgbClr val="FF0000"/>
              </a:solidFill>
            </a:endParaRPr>
          </a:p>
        </p:txBody>
      </p:sp>
      <p:sp>
        <p:nvSpPr>
          <p:cNvPr id="33" name="文本框 32"/>
          <p:cNvSpPr txBox="1"/>
          <p:nvPr/>
        </p:nvSpPr>
        <p:spPr>
          <a:xfrm>
            <a:off x="4854280" y="2798842"/>
            <a:ext cx="332142" cy="369332"/>
          </a:xfrm>
          <a:prstGeom prst="rect">
            <a:avLst/>
          </a:prstGeom>
          <a:noFill/>
        </p:spPr>
        <p:txBody>
          <a:bodyPr wrap="none" rtlCol="0">
            <a:spAutoFit/>
          </a:bodyPr>
          <a:lstStyle/>
          <a:p>
            <a:r>
              <a:rPr lang="en-US" altLang="zh-CN" b="1" dirty="0" smtClean="0">
                <a:solidFill>
                  <a:srgbClr val="FF0000"/>
                </a:solidFill>
              </a:rPr>
              <a:t>1</a:t>
            </a:r>
            <a:endParaRPr lang="zh-CN" altLang="en-US" b="1" dirty="0">
              <a:solidFill>
                <a:srgbClr val="FF0000"/>
              </a:solidFill>
            </a:endParaRPr>
          </a:p>
        </p:txBody>
      </p:sp>
      <p:sp>
        <p:nvSpPr>
          <p:cNvPr id="34" name="文本框 33"/>
          <p:cNvSpPr txBox="1"/>
          <p:nvPr/>
        </p:nvSpPr>
        <p:spPr>
          <a:xfrm>
            <a:off x="4854280" y="4211201"/>
            <a:ext cx="332142" cy="369332"/>
          </a:xfrm>
          <a:prstGeom prst="rect">
            <a:avLst/>
          </a:prstGeom>
          <a:noFill/>
        </p:spPr>
        <p:txBody>
          <a:bodyPr wrap="none" rtlCol="0">
            <a:spAutoFit/>
          </a:bodyPr>
          <a:lstStyle/>
          <a:p>
            <a:r>
              <a:rPr lang="en-US" altLang="zh-CN" b="1" dirty="0" smtClean="0">
                <a:solidFill>
                  <a:srgbClr val="FF0000"/>
                </a:solidFill>
              </a:rPr>
              <a:t>0</a:t>
            </a:r>
            <a:endParaRPr lang="zh-CN" altLang="en-US" b="1" dirty="0">
              <a:solidFill>
                <a:srgbClr val="FF0000"/>
              </a:solidFill>
            </a:endParaRPr>
          </a:p>
        </p:txBody>
      </p:sp>
      <p:sp>
        <p:nvSpPr>
          <p:cNvPr id="36" name="标题 1"/>
          <p:cNvSpPr>
            <a:spLocks noGrp="1"/>
          </p:cNvSpPr>
          <p:nvPr>
            <p:ph type="title"/>
          </p:nvPr>
        </p:nvSpPr>
        <p:spPr>
          <a:xfrm>
            <a:off x="1187624" y="1052736"/>
            <a:ext cx="7756351" cy="635794"/>
          </a:xfrm>
        </p:spPr>
        <p:txBody>
          <a:bodyPr/>
          <a:lstStyle/>
          <a:p>
            <a:r>
              <a:rPr lang="en-US" altLang="zh-CN" dirty="0" smtClean="0"/>
              <a:t>2. </a:t>
            </a:r>
            <a:r>
              <a:rPr lang="zh-CN" altLang="en-US" dirty="0" smtClean="0"/>
              <a:t>工作原理</a:t>
            </a:r>
            <a:endParaRPr lang="zh-CN" altLang="en-US" dirty="0"/>
          </a:p>
        </p:txBody>
      </p:sp>
      <p:sp>
        <p:nvSpPr>
          <p:cNvPr id="37" name="标题 1"/>
          <p:cNvSpPr txBox="1">
            <a:spLocks/>
          </p:cNvSpPr>
          <p:nvPr/>
        </p:nvSpPr>
        <p:spPr bwMode="auto">
          <a:xfrm>
            <a:off x="1187624" y="332656"/>
            <a:ext cx="7632848" cy="5669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p>
            <a:pPr lvl="0" fontAlgn="base">
              <a:spcBef>
                <a:spcPct val="0"/>
              </a:spcBef>
              <a:spcAft>
                <a:spcPct val="0"/>
              </a:spcAft>
              <a:defRPr/>
            </a:pPr>
            <a:r>
              <a:rPr kumimoji="1" lang="en-US" altLang="zh-CN" sz="3200" b="1" dirty="0" smtClean="0">
                <a:solidFill>
                  <a:schemeClr val="tx2"/>
                </a:solidFill>
                <a:latin typeface="+mj-lt"/>
                <a:ea typeface="+mj-ea"/>
                <a:cs typeface="+mj-cs"/>
              </a:rPr>
              <a:t>5.2.1 </a:t>
            </a:r>
            <a:r>
              <a:rPr kumimoji="1" lang="zh-CN" altLang="en-US" sz="3200" b="1" dirty="0" smtClean="0">
                <a:solidFill>
                  <a:schemeClr val="tx2"/>
                </a:solidFill>
                <a:latin typeface="+mj-lt"/>
                <a:ea typeface="+mj-ea"/>
                <a:cs typeface="+mj-cs"/>
              </a:rPr>
              <a:t>主从</a:t>
            </a:r>
            <a:r>
              <a:rPr kumimoji="1" lang="en-US" altLang="zh-CN" sz="3200" b="1" dirty="0" smtClean="0">
                <a:solidFill>
                  <a:schemeClr val="tx2"/>
                </a:solidFill>
                <a:latin typeface="+mj-lt"/>
                <a:ea typeface="+mj-ea"/>
                <a:cs typeface="+mj-cs"/>
              </a:rPr>
              <a:t>RS</a:t>
            </a:r>
            <a:r>
              <a:rPr kumimoji="1" lang="zh-CN" altLang="en-US" sz="3200" b="1" dirty="0" smtClean="0">
                <a:solidFill>
                  <a:schemeClr val="tx2"/>
                </a:solidFill>
                <a:latin typeface="+mj-lt"/>
                <a:ea typeface="+mj-ea"/>
                <a:cs typeface="+mj-cs"/>
              </a:rPr>
              <a:t>触发器</a:t>
            </a:r>
            <a:endParaRPr kumimoji="1" lang="zh-CN" altLang="en-US" sz="3200" b="1" dirty="0">
              <a:solidFill>
                <a:schemeClr val="tx2"/>
              </a:solidFill>
              <a:latin typeface="+mj-lt"/>
              <a:ea typeface="+mj-ea"/>
              <a:cs typeface="+mj-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500"/>
                                        <p:tgtEl>
                                          <p:spTgt spid="18"/>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9"/>
                                        </p:tgtEl>
                                        <p:attrNameLst>
                                          <p:attrName>style.visibility</p:attrName>
                                        </p:attrNameLst>
                                      </p:cBhvr>
                                      <p:to>
                                        <p:strVal val="visible"/>
                                      </p:to>
                                    </p:set>
                                    <p:animEffect transition="in" filter="fade">
                                      <p:cBhvr>
                                        <p:cTn id="20" dur="500"/>
                                        <p:tgtEl>
                                          <p:spTgt spid="19"/>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animEffect transition="in" filter="fade">
                                      <p:cBhvr>
                                        <p:cTn id="25" dur="5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21"/>
                                        </p:tgtEl>
                                        <p:attrNameLst>
                                          <p:attrName>style.visibility</p:attrName>
                                        </p:attrNameLst>
                                      </p:cBhvr>
                                      <p:to>
                                        <p:strVal val="visible"/>
                                      </p:to>
                                    </p:set>
                                    <p:animEffect transition="in" filter="fade">
                                      <p:cBhvr>
                                        <p:cTn id="30" dur="500"/>
                                        <p:tgtEl>
                                          <p:spTgt spid="21"/>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30"/>
                                        </p:tgtEl>
                                        <p:attrNameLst>
                                          <p:attrName>style.visibility</p:attrName>
                                        </p:attrNameLst>
                                      </p:cBhvr>
                                      <p:to>
                                        <p:strVal val="visible"/>
                                      </p:to>
                                    </p:set>
                                    <p:animEffect transition="in" filter="fade">
                                      <p:cBhvr>
                                        <p:cTn id="35" dur="500"/>
                                        <p:tgtEl>
                                          <p:spTgt spid="30"/>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31"/>
                                        </p:tgtEl>
                                        <p:attrNameLst>
                                          <p:attrName>style.visibility</p:attrName>
                                        </p:attrNameLst>
                                      </p:cBhvr>
                                      <p:to>
                                        <p:strVal val="visible"/>
                                      </p:to>
                                    </p:set>
                                    <p:animEffect transition="in" filter="fade">
                                      <p:cBhvr>
                                        <p:cTn id="40" dur="500"/>
                                        <p:tgtEl>
                                          <p:spTgt spid="31"/>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32"/>
                                        </p:tgtEl>
                                        <p:attrNameLst>
                                          <p:attrName>style.visibility</p:attrName>
                                        </p:attrNameLst>
                                      </p:cBhvr>
                                      <p:to>
                                        <p:strVal val="visible"/>
                                      </p:to>
                                    </p:set>
                                    <p:animEffect transition="in" filter="fade">
                                      <p:cBhvr>
                                        <p:cTn id="45" dur="500"/>
                                        <p:tgtEl>
                                          <p:spTgt spid="32"/>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33"/>
                                        </p:tgtEl>
                                        <p:attrNameLst>
                                          <p:attrName>style.visibility</p:attrName>
                                        </p:attrNameLst>
                                      </p:cBhvr>
                                      <p:to>
                                        <p:strVal val="visible"/>
                                      </p:to>
                                    </p:set>
                                    <p:animEffect transition="in" filter="fade">
                                      <p:cBhvr>
                                        <p:cTn id="50" dur="500"/>
                                        <p:tgtEl>
                                          <p:spTgt spid="33"/>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34"/>
                                        </p:tgtEl>
                                        <p:attrNameLst>
                                          <p:attrName>style.visibility</p:attrName>
                                        </p:attrNameLst>
                                      </p:cBhvr>
                                      <p:to>
                                        <p:strVal val="visible"/>
                                      </p:to>
                                    </p:set>
                                    <p:animEffect transition="in" filter="fade">
                                      <p:cBhvr>
                                        <p:cTn id="55"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5" grpId="0"/>
      <p:bldP spid="18" grpId="0"/>
      <p:bldP spid="19" grpId="0"/>
      <p:bldP spid="20" grpId="0"/>
      <p:bldP spid="21" grpId="0"/>
      <p:bldP spid="31" grpId="0"/>
      <p:bldP spid="32" grpId="0"/>
      <p:bldP spid="33" grpId="0"/>
      <p:bldP spid="34"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0C913308-F349-4B6D-A68A-DD1791B4A57B}" type="slidenum">
              <a:rPr lang="zh-CN" altLang="en-US" smtClean="0"/>
              <a:pPr/>
              <a:t>45</a:t>
            </a:fld>
            <a:endParaRPr lang="zh-CN" altLang="en-US"/>
          </a:p>
        </p:txBody>
      </p:sp>
      <p:sp>
        <p:nvSpPr>
          <p:cNvPr id="5" name="Text Box 6"/>
          <p:cNvSpPr txBox="1">
            <a:spLocks noChangeArrowheads="1"/>
          </p:cNvSpPr>
          <p:nvPr/>
        </p:nvSpPr>
        <p:spPr bwMode="auto">
          <a:xfrm>
            <a:off x="1042988" y="3380383"/>
            <a:ext cx="7273925"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en-US" altLang="zh-CN" b="1"/>
              <a:t>       </a:t>
            </a:r>
          </a:p>
        </p:txBody>
      </p:sp>
      <p:sp>
        <p:nvSpPr>
          <p:cNvPr id="6" name="Text Box 7"/>
          <p:cNvSpPr txBox="1">
            <a:spLocks noChangeArrowheads="1"/>
          </p:cNvSpPr>
          <p:nvPr/>
        </p:nvSpPr>
        <p:spPr bwMode="auto">
          <a:xfrm>
            <a:off x="827088" y="6309320"/>
            <a:ext cx="3743325"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zh-CN" altLang="en-US" sz="2000" b="1" dirty="0" smtClean="0">
                <a:latin typeface="楷体_GB2312" pitchFamily="49" charset="-122"/>
                <a:ea typeface="楷体_GB2312" pitchFamily="49" charset="-122"/>
              </a:rPr>
              <a:t>图</a:t>
            </a:r>
            <a:r>
              <a:rPr lang="en-US" altLang="zh-CN" sz="2000" b="1" dirty="0" smtClean="0">
                <a:latin typeface="楷体_GB2312" pitchFamily="49" charset="-122"/>
                <a:ea typeface="楷体_GB2312" pitchFamily="49" charset="-122"/>
              </a:rPr>
              <a:t> </a:t>
            </a:r>
            <a:r>
              <a:rPr lang="zh-CN" altLang="en-US" sz="2000" b="1" dirty="0">
                <a:latin typeface="楷体_GB2312" pitchFamily="49" charset="-122"/>
                <a:ea typeface="楷体_GB2312" pitchFamily="49" charset="-122"/>
              </a:rPr>
              <a:t>主从</a:t>
            </a:r>
            <a:r>
              <a:rPr lang="en-US" altLang="zh-CN" sz="2000" b="1" dirty="0">
                <a:latin typeface="楷体_GB2312" pitchFamily="49" charset="-122"/>
                <a:ea typeface="楷体_GB2312" pitchFamily="49" charset="-122"/>
              </a:rPr>
              <a:t>RS-FF</a:t>
            </a:r>
            <a:r>
              <a:rPr lang="zh-CN" altLang="en-US" sz="2000" b="1" dirty="0">
                <a:latin typeface="楷体_GB2312" pitchFamily="49" charset="-122"/>
                <a:ea typeface="楷体_GB2312" pitchFamily="49" charset="-122"/>
              </a:rPr>
              <a:t>的逻辑图</a:t>
            </a:r>
            <a:r>
              <a:rPr lang="zh-CN" altLang="en-US" sz="2000" dirty="0">
                <a:latin typeface="楷体_GB2312" pitchFamily="49" charset="-122"/>
                <a:ea typeface="楷体_GB2312" pitchFamily="49" charset="-122"/>
              </a:rPr>
              <a:t>  </a:t>
            </a:r>
          </a:p>
        </p:txBody>
      </p:sp>
      <p:sp>
        <p:nvSpPr>
          <p:cNvPr id="7" name="Text Box 8"/>
          <p:cNvSpPr txBox="1">
            <a:spLocks noChangeArrowheads="1"/>
          </p:cNvSpPr>
          <p:nvPr/>
        </p:nvSpPr>
        <p:spPr bwMode="auto">
          <a:xfrm>
            <a:off x="5436096" y="1196752"/>
            <a:ext cx="2881709"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p>
            <a:pPr>
              <a:spcBef>
                <a:spcPct val="50000"/>
              </a:spcBef>
            </a:pPr>
            <a:r>
              <a:rPr lang="zh-CN" altLang="en-US" sz="2000" b="1" dirty="0" smtClean="0">
                <a:latin typeface="楷体_GB2312" pitchFamily="49" charset="-122"/>
                <a:ea typeface="楷体_GB2312" pitchFamily="49" charset="-122"/>
              </a:rPr>
              <a:t>表 主从</a:t>
            </a:r>
            <a:r>
              <a:rPr lang="en-US" altLang="zh-CN" sz="2000" b="1" dirty="0">
                <a:latin typeface="楷体_GB2312" pitchFamily="49" charset="-122"/>
                <a:ea typeface="楷体_GB2312" pitchFamily="49" charset="-122"/>
              </a:rPr>
              <a:t>RS-FF</a:t>
            </a:r>
            <a:r>
              <a:rPr lang="zh-CN" altLang="en-US" sz="2000" b="1" dirty="0">
                <a:latin typeface="楷体_GB2312" pitchFamily="49" charset="-122"/>
                <a:ea typeface="楷体_GB2312" pitchFamily="49" charset="-122"/>
              </a:rPr>
              <a:t>的特性表</a:t>
            </a:r>
            <a:endParaRPr lang="zh-CN" altLang="en-US" sz="2000" dirty="0">
              <a:latin typeface="楷体_GB2312" pitchFamily="49" charset="-122"/>
              <a:ea typeface="楷体_GB2312" pitchFamily="49" charset="-122"/>
            </a:endParaRPr>
          </a:p>
        </p:txBody>
      </p:sp>
      <p:pic>
        <p:nvPicPr>
          <p:cNvPr id="8" name="Picture 9" descr="4-2-13"/>
          <p:cNvPicPr>
            <a:picLocks noChangeAspect="1" noChangeArrowheads="1"/>
          </p:cNvPicPr>
          <p:nvPr/>
        </p:nvPicPr>
        <p:blipFill>
          <a:blip r:embed="rId2" cstate="print">
            <a:clrChange>
              <a:clrFrom>
                <a:srgbClr val="F8F9F3"/>
              </a:clrFrom>
              <a:clrTo>
                <a:srgbClr val="F8F9F3">
                  <a:alpha val="0"/>
                </a:srgbClr>
              </a:clrTo>
            </a:clrChange>
            <a:lum bright="-6000" contrast="42000"/>
            <a:extLst>
              <a:ext uri="{28A0092B-C50C-407E-A947-70E740481C1C}">
                <a14:useLocalDpi xmlns:a14="http://schemas.microsoft.com/office/drawing/2010/main" xmlns="" val="0"/>
              </a:ext>
            </a:extLst>
          </a:blip>
          <a:srcRect/>
          <a:stretch>
            <a:fillRect/>
          </a:stretch>
        </p:blipFill>
        <p:spPr bwMode="auto">
          <a:xfrm>
            <a:off x="0" y="2637433"/>
            <a:ext cx="5156200" cy="3275012"/>
          </a:xfrm>
          <a:prstGeom prst="rect">
            <a:avLst/>
          </a:prstGeom>
          <a:noFill/>
          <a:extLst>
            <a:ext uri="{909E8E84-426E-40DD-AFC4-6F175D3DCCD1}">
              <a14:hiddenFill xmlns:a14="http://schemas.microsoft.com/office/drawing/2010/main" xmlns="">
                <a:solidFill>
                  <a:srgbClr val="FFFFFF"/>
                </a:solidFill>
              </a14:hiddenFill>
            </a:ext>
          </a:extLst>
        </p:spPr>
      </p:pic>
      <p:grpSp>
        <p:nvGrpSpPr>
          <p:cNvPr id="9" name="Group 10"/>
          <p:cNvGrpSpPr/>
          <p:nvPr/>
        </p:nvGrpSpPr>
        <p:grpSpPr bwMode="auto">
          <a:xfrm>
            <a:off x="5149652" y="1550516"/>
            <a:ext cx="3742828" cy="5046836"/>
            <a:chOff x="3243" y="618"/>
            <a:chExt cx="2354" cy="3248"/>
          </a:xfrm>
        </p:grpSpPr>
        <p:pic>
          <p:nvPicPr>
            <p:cNvPr id="10" name="Picture 11" descr="b4-2-7"/>
            <p:cNvPicPr>
              <a:picLocks noChangeAspect="1" noChangeArrowheads="1"/>
            </p:cNvPicPr>
            <p:nvPr/>
          </p:nvPicPr>
          <p:blipFill>
            <a:blip r:embed="rId3" cstate="print">
              <a:clrChange>
                <a:clrFrom>
                  <a:srgbClr val="FAFBF5"/>
                </a:clrFrom>
                <a:clrTo>
                  <a:srgbClr val="FAFBF5">
                    <a:alpha val="0"/>
                  </a:srgbClr>
                </a:clrTo>
              </a:clrChange>
              <a:lum bright="-12000" contrast="42000"/>
              <a:extLst>
                <a:ext uri="{28A0092B-C50C-407E-A947-70E740481C1C}">
                  <a14:useLocalDpi xmlns:a14="http://schemas.microsoft.com/office/drawing/2010/main" xmlns="" val="0"/>
                </a:ext>
              </a:extLst>
            </a:blip>
            <a:srcRect/>
            <a:stretch>
              <a:fillRect/>
            </a:stretch>
          </p:blipFill>
          <p:spPr bwMode="auto">
            <a:xfrm>
              <a:off x="3243" y="618"/>
              <a:ext cx="2354" cy="3248"/>
            </a:xfrm>
            <a:prstGeom prst="rect">
              <a:avLst/>
            </a:prstGeom>
            <a:noFill/>
            <a:extLst>
              <a:ext uri="{909E8E84-426E-40DD-AFC4-6F175D3DCCD1}">
                <a14:hiddenFill xmlns:a14="http://schemas.microsoft.com/office/drawing/2010/main" xmlns="">
                  <a:solidFill>
                    <a:srgbClr val="FFFFFF"/>
                  </a:solidFill>
                </a14:hiddenFill>
              </a:ext>
            </a:extLst>
          </p:spPr>
        </p:pic>
        <p:sp>
          <p:nvSpPr>
            <p:cNvPr id="11" name="Rectangle 12"/>
            <p:cNvSpPr>
              <a:spLocks noChangeArrowheads="1"/>
            </p:cNvSpPr>
            <p:nvPr/>
          </p:nvSpPr>
          <p:spPr bwMode="auto">
            <a:xfrm>
              <a:off x="3334" y="981"/>
              <a:ext cx="2131" cy="771"/>
            </a:xfrm>
            <a:prstGeom prst="rect">
              <a:avLst/>
            </a:prstGeom>
            <a:noFill/>
            <a:ln w="28575">
              <a:solidFill>
                <a:srgbClr val="FF0000"/>
              </a:solidFill>
              <a:prstDash val="dash"/>
              <a:miter lim="800000"/>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sp>
          <p:nvSpPr>
            <p:cNvPr id="12" name="Rectangle 13"/>
            <p:cNvSpPr>
              <a:spLocks noChangeArrowheads="1"/>
            </p:cNvSpPr>
            <p:nvPr/>
          </p:nvSpPr>
          <p:spPr bwMode="auto">
            <a:xfrm>
              <a:off x="3334" y="1797"/>
              <a:ext cx="2131" cy="544"/>
            </a:xfrm>
            <a:prstGeom prst="rect">
              <a:avLst/>
            </a:prstGeom>
            <a:noFill/>
            <a:ln w="28575">
              <a:solidFill>
                <a:srgbClr val="FF0000"/>
              </a:solidFill>
              <a:prstDash val="dash"/>
              <a:miter lim="800000"/>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sp>
          <p:nvSpPr>
            <p:cNvPr id="13" name="Rectangle 14"/>
            <p:cNvSpPr>
              <a:spLocks noChangeArrowheads="1"/>
            </p:cNvSpPr>
            <p:nvPr/>
          </p:nvSpPr>
          <p:spPr bwMode="auto">
            <a:xfrm>
              <a:off x="3334" y="2387"/>
              <a:ext cx="2131" cy="544"/>
            </a:xfrm>
            <a:prstGeom prst="rect">
              <a:avLst/>
            </a:prstGeom>
            <a:noFill/>
            <a:ln w="28575">
              <a:solidFill>
                <a:srgbClr val="FF0000"/>
              </a:solidFill>
              <a:prstDash val="dash"/>
              <a:miter lim="800000"/>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sp>
          <p:nvSpPr>
            <p:cNvPr id="14" name="Rectangle 15"/>
            <p:cNvSpPr>
              <a:spLocks noChangeArrowheads="1"/>
            </p:cNvSpPr>
            <p:nvPr/>
          </p:nvSpPr>
          <p:spPr bwMode="auto">
            <a:xfrm>
              <a:off x="3334" y="2977"/>
              <a:ext cx="2131" cy="544"/>
            </a:xfrm>
            <a:prstGeom prst="rect">
              <a:avLst/>
            </a:prstGeom>
            <a:noFill/>
            <a:ln w="28575">
              <a:solidFill>
                <a:srgbClr val="FF0000"/>
              </a:solidFill>
              <a:prstDash val="dash"/>
              <a:miter lim="800000"/>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grpSp>
      <p:sp>
        <p:nvSpPr>
          <p:cNvPr id="3" name="文本框 2"/>
          <p:cNvSpPr txBox="1"/>
          <p:nvPr/>
        </p:nvSpPr>
        <p:spPr>
          <a:xfrm>
            <a:off x="251520" y="2798842"/>
            <a:ext cx="332142" cy="369332"/>
          </a:xfrm>
          <a:prstGeom prst="rect">
            <a:avLst/>
          </a:prstGeom>
          <a:noFill/>
        </p:spPr>
        <p:txBody>
          <a:bodyPr wrap="none" rtlCol="0">
            <a:spAutoFit/>
          </a:bodyPr>
          <a:lstStyle/>
          <a:p>
            <a:r>
              <a:rPr lang="en-US" altLang="zh-CN" b="1" dirty="0" smtClean="0">
                <a:solidFill>
                  <a:srgbClr val="FF0000"/>
                </a:solidFill>
              </a:rPr>
              <a:t>0</a:t>
            </a:r>
            <a:endParaRPr lang="zh-CN" altLang="en-US" b="1" dirty="0">
              <a:solidFill>
                <a:srgbClr val="FF0000"/>
              </a:solidFill>
            </a:endParaRPr>
          </a:p>
        </p:txBody>
      </p:sp>
      <p:sp>
        <p:nvSpPr>
          <p:cNvPr id="15" name="文本框 14"/>
          <p:cNvSpPr txBox="1"/>
          <p:nvPr/>
        </p:nvSpPr>
        <p:spPr>
          <a:xfrm>
            <a:off x="251520" y="4293096"/>
            <a:ext cx="332142" cy="369332"/>
          </a:xfrm>
          <a:prstGeom prst="rect">
            <a:avLst/>
          </a:prstGeom>
          <a:noFill/>
        </p:spPr>
        <p:txBody>
          <a:bodyPr wrap="none" rtlCol="0">
            <a:spAutoFit/>
          </a:bodyPr>
          <a:lstStyle/>
          <a:p>
            <a:r>
              <a:rPr lang="en-US" altLang="zh-CN" b="1" dirty="0" smtClean="0">
                <a:solidFill>
                  <a:srgbClr val="FF0000"/>
                </a:solidFill>
              </a:rPr>
              <a:t>1</a:t>
            </a:r>
            <a:endParaRPr lang="zh-CN" altLang="en-US" b="1" dirty="0">
              <a:solidFill>
                <a:srgbClr val="FF0000"/>
              </a:solidFill>
            </a:endParaRPr>
          </a:p>
        </p:txBody>
      </p:sp>
      <p:cxnSp>
        <p:nvCxnSpPr>
          <p:cNvPr id="17" name="直接连接符 16"/>
          <p:cNvCxnSpPr/>
          <p:nvPr/>
        </p:nvCxnSpPr>
        <p:spPr bwMode="auto">
          <a:xfrm>
            <a:off x="251520" y="5229200"/>
            <a:ext cx="260134" cy="0"/>
          </a:xfrm>
          <a:prstGeom prst="line">
            <a:avLst/>
          </a:prstGeom>
          <a:noFill/>
          <a:ln w="15875" cap="flat" cmpd="sng" algn="ctr">
            <a:solidFill>
              <a:srgbClr val="FF0000"/>
            </a:solidFill>
            <a:prstDash val="solid"/>
            <a:miter lim="800000"/>
            <a:headEnd type="none" w="med" len="med"/>
            <a:tailEnd type="none" w="med" len="med"/>
          </a:ln>
        </p:spPr>
      </p:cxnSp>
      <p:sp>
        <p:nvSpPr>
          <p:cNvPr id="18" name="文本框 17"/>
          <p:cNvSpPr txBox="1"/>
          <p:nvPr/>
        </p:nvSpPr>
        <p:spPr>
          <a:xfrm>
            <a:off x="1331640" y="2798842"/>
            <a:ext cx="332142" cy="369332"/>
          </a:xfrm>
          <a:prstGeom prst="rect">
            <a:avLst/>
          </a:prstGeom>
          <a:noFill/>
        </p:spPr>
        <p:txBody>
          <a:bodyPr wrap="none" rtlCol="0">
            <a:spAutoFit/>
          </a:bodyPr>
          <a:lstStyle/>
          <a:p>
            <a:r>
              <a:rPr lang="en-US" altLang="zh-CN" b="1" dirty="0" smtClean="0">
                <a:solidFill>
                  <a:srgbClr val="FF0000"/>
                </a:solidFill>
              </a:rPr>
              <a:t>1</a:t>
            </a:r>
            <a:endParaRPr lang="zh-CN" altLang="en-US" b="1" dirty="0">
              <a:solidFill>
                <a:srgbClr val="FF0000"/>
              </a:solidFill>
            </a:endParaRPr>
          </a:p>
        </p:txBody>
      </p:sp>
      <p:sp>
        <p:nvSpPr>
          <p:cNvPr id="19" name="文本框 18"/>
          <p:cNvSpPr txBox="1"/>
          <p:nvPr/>
        </p:nvSpPr>
        <p:spPr>
          <a:xfrm>
            <a:off x="1336145" y="4211201"/>
            <a:ext cx="332142" cy="369332"/>
          </a:xfrm>
          <a:prstGeom prst="rect">
            <a:avLst/>
          </a:prstGeom>
          <a:noFill/>
        </p:spPr>
        <p:txBody>
          <a:bodyPr wrap="none" rtlCol="0">
            <a:spAutoFit/>
          </a:bodyPr>
          <a:lstStyle/>
          <a:p>
            <a:r>
              <a:rPr lang="en-US" altLang="zh-CN" b="1" dirty="0" smtClean="0">
                <a:solidFill>
                  <a:srgbClr val="FF0000"/>
                </a:solidFill>
              </a:rPr>
              <a:t>0</a:t>
            </a:r>
            <a:endParaRPr lang="zh-CN" altLang="en-US" b="1" dirty="0">
              <a:solidFill>
                <a:srgbClr val="FF0000"/>
              </a:solidFill>
            </a:endParaRPr>
          </a:p>
        </p:txBody>
      </p:sp>
      <p:sp>
        <p:nvSpPr>
          <p:cNvPr id="20" name="文本框 19"/>
          <p:cNvSpPr txBox="1"/>
          <p:nvPr/>
        </p:nvSpPr>
        <p:spPr>
          <a:xfrm>
            <a:off x="2372404" y="2798842"/>
            <a:ext cx="332142" cy="369332"/>
          </a:xfrm>
          <a:prstGeom prst="rect">
            <a:avLst/>
          </a:prstGeom>
          <a:noFill/>
        </p:spPr>
        <p:txBody>
          <a:bodyPr wrap="none" rtlCol="0">
            <a:spAutoFit/>
          </a:bodyPr>
          <a:lstStyle/>
          <a:p>
            <a:r>
              <a:rPr lang="en-US" altLang="zh-CN" b="1" dirty="0" smtClean="0">
                <a:solidFill>
                  <a:srgbClr val="FF0000"/>
                </a:solidFill>
              </a:rPr>
              <a:t>0</a:t>
            </a:r>
            <a:endParaRPr lang="zh-CN" altLang="en-US" b="1" dirty="0">
              <a:solidFill>
                <a:srgbClr val="FF0000"/>
              </a:solidFill>
            </a:endParaRPr>
          </a:p>
        </p:txBody>
      </p:sp>
      <p:sp>
        <p:nvSpPr>
          <p:cNvPr id="21" name="文本框 20"/>
          <p:cNvSpPr txBox="1"/>
          <p:nvPr/>
        </p:nvSpPr>
        <p:spPr>
          <a:xfrm>
            <a:off x="2366608" y="4265583"/>
            <a:ext cx="332142" cy="369332"/>
          </a:xfrm>
          <a:prstGeom prst="rect">
            <a:avLst/>
          </a:prstGeom>
          <a:noFill/>
        </p:spPr>
        <p:txBody>
          <a:bodyPr wrap="none" rtlCol="0">
            <a:spAutoFit/>
          </a:bodyPr>
          <a:lstStyle/>
          <a:p>
            <a:r>
              <a:rPr lang="en-US" altLang="zh-CN" b="1" dirty="0" smtClean="0">
                <a:solidFill>
                  <a:srgbClr val="FF0000"/>
                </a:solidFill>
              </a:rPr>
              <a:t>1</a:t>
            </a:r>
            <a:endParaRPr lang="zh-CN" altLang="en-US" b="1" dirty="0">
              <a:solidFill>
                <a:srgbClr val="FF0000"/>
              </a:solidFill>
            </a:endParaRPr>
          </a:p>
        </p:txBody>
      </p:sp>
      <p:grpSp>
        <p:nvGrpSpPr>
          <p:cNvPr id="30" name="组合 29"/>
          <p:cNvGrpSpPr/>
          <p:nvPr/>
        </p:nvGrpSpPr>
        <p:grpSpPr>
          <a:xfrm>
            <a:off x="502887" y="5229200"/>
            <a:ext cx="243922" cy="395576"/>
            <a:chOff x="502887" y="5229200"/>
            <a:chExt cx="243922" cy="395576"/>
          </a:xfrm>
        </p:grpSpPr>
        <p:cxnSp>
          <p:nvCxnSpPr>
            <p:cNvPr id="25" name="直接箭头连接符 24"/>
            <p:cNvCxnSpPr/>
            <p:nvPr/>
          </p:nvCxnSpPr>
          <p:spPr bwMode="auto">
            <a:xfrm>
              <a:off x="511654" y="5229200"/>
              <a:ext cx="0" cy="288032"/>
            </a:xfrm>
            <a:prstGeom prst="straightConnector1">
              <a:avLst/>
            </a:prstGeom>
            <a:noFill/>
            <a:ln w="15875" cap="flat" cmpd="sng" algn="ctr">
              <a:solidFill>
                <a:srgbClr val="FF0000"/>
              </a:solidFill>
              <a:prstDash val="solid"/>
              <a:miter lim="800000"/>
              <a:headEnd type="none" w="med" len="med"/>
              <a:tailEnd type="triangle"/>
            </a:ln>
          </p:spPr>
        </p:cxnSp>
        <p:cxnSp>
          <p:nvCxnSpPr>
            <p:cNvPr id="28" name="肘形连接符 27"/>
            <p:cNvCxnSpPr/>
            <p:nvPr/>
          </p:nvCxnSpPr>
          <p:spPr bwMode="auto">
            <a:xfrm>
              <a:off x="502887" y="5408752"/>
              <a:ext cx="243922" cy="216024"/>
            </a:xfrm>
            <a:prstGeom prst="bentConnector3">
              <a:avLst>
                <a:gd name="adj1" fmla="val 2686"/>
              </a:avLst>
            </a:prstGeom>
            <a:noFill/>
            <a:ln w="15875" cap="flat" cmpd="sng" algn="ctr">
              <a:solidFill>
                <a:srgbClr val="FF0000"/>
              </a:solidFill>
              <a:prstDash val="solid"/>
              <a:miter lim="800000"/>
              <a:headEnd type="none" w="med" len="med"/>
              <a:tailEnd type="none" w="med" len="med"/>
            </a:ln>
          </p:spPr>
        </p:cxnSp>
      </p:grpSp>
      <p:sp>
        <p:nvSpPr>
          <p:cNvPr id="31" name="文本框 30"/>
          <p:cNvSpPr txBox="1"/>
          <p:nvPr/>
        </p:nvSpPr>
        <p:spPr>
          <a:xfrm>
            <a:off x="3321499" y="2767717"/>
            <a:ext cx="332142" cy="369332"/>
          </a:xfrm>
          <a:prstGeom prst="rect">
            <a:avLst/>
          </a:prstGeom>
          <a:noFill/>
        </p:spPr>
        <p:txBody>
          <a:bodyPr wrap="none" rtlCol="0">
            <a:spAutoFit/>
          </a:bodyPr>
          <a:lstStyle/>
          <a:p>
            <a:r>
              <a:rPr lang="en-US" altLang="zh-CN" b="1" dirty="0" smtClean="0">
                <a:solidFill>
                  <a:srgbClr val="FF0000"/>
                </a:solidFill>
              </a:rPr>
              <a:t>1</a:t>
            </a:r>
            <a:endParaRPr lang="zh-CN" altLang="en-US" b="1" dirty="0">
              <a:solidFill>
                <a:srgbClr val="FF0000"/>
              </a:solidFill>
            </a:endParaRPr>
          </a:p>
        </p:txBody>
      </p:sp>
      <p:sp>
        <p:nvSpPr>
          <p:cNvPr id="32" name="文本框 31"/>
          <p:cNvSpPr txBox="1"/>
          <p:nvPr/>
        </p:nvSpPr>
        <p:spPr>
          <a:xfrm>
            <a:off x="3321499" y="4265583"/>
            <a:ext cx="332142" cy="369332"/>
          </a:xfrm>
          <a:prstGeom prst="rect">
            <a:avLst/>
          </a:prstGeom>
          <a:noFill/>
        </p:spPr>
        <p:txBody>
          <a:bodyPr wrap="none" rtlCol="0">
            <a:spAutoFit/>
          </a:bodyPr>
          <a:lstStyle/>
          <a:p>
            <a:r>
              <a:rPr lang="en-US" altLang="zh-CN" b="1" dirty="0" smtClean="0">
                <a:solidFill>
                  <a:srgbClr val="FF0000"/>
                </a:solidFill>
              </a:rPr>
              <a:t>0</a:t>
            </a:r>
            <a:endParaRPr lang="zh-CN" altLang="en-US" b="1" dirty="0">
              <a:solidFill>
                <a:srgbClr val="FF0000"/>
              </a:solidFill>
            </a:endParaRPr>
          </a:p>
        </p:txBody>
      </p:sp>
      <p:sp>
        <p:nvSpPr>
          <p:cNvPr id="33" name="文本框 32"/>
          <p:cNvSpPr txBox="1"/>
          <p:nvPr/>
        </p:nvSpPr>
        <p:spPr>
          <a:xfrm>
            <a:off x="4854280" y="2798842"/>
            <a:ext cx="332142" cy="369332"/>
          </a:xfrm>
          <a:prstGeom prst="rect">
            <a:avLst/>
          </a:prstGeom>
          <a:noFill/>
        </p:spPr>
        <p:txBody>
          <a:bodyPr wrap="none" rtlCol="0">
            <a:spAutoFit/>
          </a:bodyPr>
          <a:lstStyle/>
          <a:p>
            <a:r>
              <a:rPr lang="en-US" altLang="zh-CN" b="1" dirty="0" smtClean="0">
                <a:solidFill>
                  <a:srgbClr val="FF0000"/>
                </a:solidFill>
              </a:rPr>
              <a:t>0</a:t>
            </a:r>
            <a:endParaRPr lang="zh-CN" altLang="en-US" b="1" dirty="0">
              <a:solidFill>
                <a:srgbClr val="FF0000"/>
              </a:solidFill>
            </a:endParaRPr>
          </a:p>
        </p:txBody>
      </p:sp>
      <p:sp>
        <p:nvSpPr>
          <p:cNvPr id="34" name="文本框 33"/>
          <p:cNvSpPr txBox="1"/>
          <p:nvPr/>
        </p:nvSpPr>
        <p:spPr>
          <a:xfrm>
            <a:off x="4854280" y="4211201"/>
            <a:ext cx="332142" cy="369332"/>
          </a:xfrm>
          <a:prstGeom prst="rect">
            <a:avLst/>
          </a:prstGeom>
          <a:noFill/>
        </p:spPr>
        <p:txBody>
          <a:bodyPr wrap="none" rtlCol="0">
            <a:spAutoFit/>
          </a:bodyPr>
          <a:lstStyle/>
          <a:p>
            <a:r>
              <a:rPr lang="en-US" altLang="zh-CN" b="1" dirty="0" smtClean="0">
                <a:solidFill>
                  <a:srgbClr val="FF0000"/>
                </a:solidFill>
              </a:rPr>
              <a:t>1</a:t>
            </a:r>
            <a:endParaRPr lang="zh-CN" altLang="en-US" b="1" dirty="0">
              <a:solidFill>
                <a:srgbClr val="FF0000"/>
              </a:solidFill>
            </a:endParaRPr>
          </a:p>
        </p:txBody>
      </p:sp>
      <p:sp>
        <p:nvSpPr>
          <p:cNvPr id="35" name="标题 1"/>
          <p:cNvSpPr>
            <a:spLocks noGrp="1"/>
          </p:cNvSpPr>
          <p:nvPr>
            <p:ph type="title"/>
          </p:nvPr>
        </p:nvSpPr>
        <p:spPr>
          <a:xfrm>
            <a:off x="1187624" y="1052736"/>
            <a:ext cx="7756351" cy="635794"/>
          </a:xfrm>
        </p:spPr>
        <p:txBody>
          <a:bodyPr/>
          <a:lstStyle/>
          <a:p>
            <a:r>
              <a:rPr lang="en-US" altLang="zh-CN" dirty="0" smtClean="0"/>
              <a:t>2. </a:t>
            </a:r>
            <a:r>
              <a:rPr lang="zh-CN" altLang="en-US" dirty="0" smtClean="0"/>
              <a:t>工作原理</a:t>
            </a:r>
            <a:endParaRPr lang="zh-CN" altLang="en-US" dirty="0"/>
          </a:p>
        </p:txBody>
      </p:sp>
      <p:sp>
        <p:nvSpPr>
          <p:cNvPr id="36" name="标题 1"/>
          <p:cNvSpPr txBox="1">
            <a:spLocks/>
          </p:cNvSpPr>
          <p:nvPr/>
        </p:nvSpPr>
        <p:spPr bwMode="auto">
          <a:xfrm>
            <a:off x="1187624" y="332656"/>
            <a:ext cx="7632848" cy="5669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p>
            <a:pPr lvl="0" fontAlgn="base">
              <a:spcBef>
                <a:spcPct val="0"/>
              </a:spcBef>
              <a:spcAft>
                <a:spcPct val="0"/>
              </a:spcAft>
              <a:defRPr/>
            </a:pPr>
            <a:r>
              <a:rPr kumimoji="1" lang="en-US" altLang="zh-CN" sz="3200" b="1" dirty="0" smtClean="0">
                <a:solidFill>
                  <a:schemeClr val="tx2"/>
                </a:solidFill>
                <a:latin typeface="+mj-lt"/>
                <a:ea typeface="+mj-ea"/>
                <a:cs typeface="+mj-cs"/>
              </a:rPr>
              <a:t>5.2.1 </a:t>
            </a:r>
            <a:r>
              <a:rPr kumimoji="1" lang="zh-CN" altLang="en-US" sz="3200" b="1" dirty="0" smtClean="0">
                <a:solidFill>
                  <a:schemeClr val="tx2"/>
                </a:solidFill>
                <a:latin typeface="+mj-lt"/>
                <a:ea typeface="+mj-ea"/>
                <a:cs typeface="+mj-cs"/>
              </a:rPr>
              <a:t>主从</a:t>
            </a:r>
            <a:r>
              <a:rPr kumimoji="1" lang="en-US" altLang="zh-CN" sz="3200" b="1" dirty="0" smtClean="0">
                <a:solidFill>
                  <a:schemeClr val="tx2"/>
                </a:solidFill>
                <a:latin typeface="+mj-lt"/>
                <a:ea typeface="+mj-ea"/>
                <a:cs typeface="+mj-cs"/>
              </a:rPr>
              <a:t>RS</a:t>
            </a:r>
            <a:r>
              <a:rPr kumimoji="1" lang="zh-CN" altLang="en-US" sz="3200" b="1" dirty="0" smtClean="0">
                <a:solidFill>
                  <a:schemeClr val="tx2"/>
                </a:solidFill>
                <a:latin typeface="+mj-lt"/>
                <a:ea typeface="+mj-ea"/>
                <a:cs typeface="+mj-cs"/>
              </a:rPr>
              <a:t>触发器</a:t>
            </a:r>
            <a:endParaRPr kumimoji="1" lang="zh-CN" altLang="en-US" sz="3200" b="1" dirty="0">
              <a:solidFill>
                <a:schemeClr val="tx2"/>
              </a:solidFill>
              <a:latin typeface="+mj-lt"/>
              <a:ea typeface="+mj-ea"/>
              <a:cs typeface="+mj-cs"/>
            </a:endParaRPr>
          </a:p>
        </p:txBody>
      </p:sp>
    </p:spTree>
    <p:extLst>
      <p:ext uri="{BB962C8B-B14F-4D97-AF65-F5344CB8AC3E}">
        <p14:creationId xmlns:p14="http://schemas.microsoft.com/office/powerpoint/2010/main" xmlns="" val="36218804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500"/>
                                        <p:tgtEl>
                                          <p:spTgt spid="18"/>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9"/>
                                        </p:tgtEl>
                                        <p:attrNameLst>
                                          <p:attrName>style.visibility</p:attrName>
                                        </p:attrNameLst>
                                      </p:cBhvr>
                                      <p:to>
                                        <p:strVal val="visible"/>
                                      </p:to>
                                    </p:set>
                                    <p:animEffect transition="in" filter="fade">
                                      <p:cBhvr>
                                        <p:cTn id="20" dur="500"/>
                                        <p:tgtEl>
                                          <p:spTgt spid="19"/>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animEffect transition="in" filter="fade">
                                      <p:cBhvr>
                                        <p:cTn id="25" dur="5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21"/>
                                        </p:tgtEl>
                                        <p:attrNameLst>
                                          <p:attrName>style.visibility</p:attrName>
                                        </p:attrNameLst>
                                      </p:cBhvr>
                                      <p:to>
                                        <p:strVal val="visible"/>
                                      </p:to>
                                    </p:set>
                                    <p:animEffect transition="in" filter="fade">
                                      <p:cBhvr>
                                        <p:cTn id="30" dur="500"/>
                                        <p:tgtEl>
                                          <p:spTgt spid="21"/>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30"/>
                                        </p:tgtEl>
                                        <p:attrNameLst>
                                          <p:attrName>style.visibility</p:attrName>
                                        </p:attrNameLst>
                                      </p:cBhvr>
                                      <p:to>
                                        <p:strVal val="visible"/>
                                      </p:to>
                                    </p:set>
                                    <p:animEffect transition="in" filter="fade">
                                      <p:cBhvr>
                                        <p:cTn id="35" dur="500"/>
                                        <p:tgtEl>
                                          <p:spTgt spid="30"/>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31"/>
                                        </p:tgtEl>
                                        <p:attrNameLst>
                                          <p:attrName>style.visibility</p:attrName>
                                        </p:attrNameLst>
                                      </p:cBhvr>
                                      <p:to>
                                        <p:strVal val="visible"/>
                                      </p:to>
                                    </p:set>
                                    <p:animEffect transition="in" filter="fade">
                                      <p:cBhvr>
                                        <p:cTn id="40" dur="500"/>
                                        <p:tgtEl>
                                          <p:spTgt spid="31"/>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32"/>
                                        </p:tgtEl>
                                        <p:attrNameLst>
                                          <p:attrName>style.visibility</p:attrName>
                                        </p:attrNameLst>
                                      </p:cBhvr>
                                      <p:to>
                                        <p:strVal val="visible"/>
                                      </p:to>
                                    </p:set>
                                    <p:animEffect transition="in" filter="fade">
                                      <p:cBhvr>
                                        <p:cTn id="45" dur="500"/>
                                        <p:tgtEl>
                                          <p:spTgt spid="32"/>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33"/>
                                        </p:tgtEl>
                                        <p:attrNameLst>
                                          <p:attrName>style.visibility</p:attrName>
                                        </p:attrNameLst>
                                      </p:cBhvr>
                                      <p:to>
                                        <p:strVal val="visible"/>
                                      </p:to>
                                    </p:set>
                                    <p:animEffect transition="in" filter="fade">
                                      <p:cBhvr>
                                        <p:cTn id="50" dur="500"/>
                                        <p:tgtEl>
                                          <p:spTgt spid="33"/>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34"/>
                                        </p:tgtEl>
                                        <p:attrNameLst>
                                          <p:attrName>style.visibility</p:attrName>
                                        </p:attrNameLst>
                                      </p:cBhvr>
                                      <p:to>
                                        <p:strVal val="visible"/>
                                      </p:to>
                                    </p:set>
                                    <p:animEffect transition="in" filter="fade">
                                      <p:cBhvr>
                                        <p:cTn id="55"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5" grpId="0"/>
      <p:bldP spid="18" grpId="0"/>
      <p:bldP spid="19" grpId="0"/>
      <p:bldP spid="20" grpId="0"/>
      <p:bldP spid="21" grpId="0"/>
      <p:bldP spid="31" grpId="0"/>
      <p:bldP spid="32" grpId="0"/>
      <p:bldP spid="33" grpId="0"/>
      <p:bldP spid="34"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0C913308-F349-4B6D-A68A-DD1791B4A57B}" type="slidenum">
              <a:rPr lang="zh-CN" altLang="en-US" smtClean="0"/>
              <a:pPr/>
              <a:t>46</a:t>
            </a:fld>
            <a:endParaRPr lang="zh-CN" altLang="en-US"/>
          </a:p>
        </p:txBody>
      </p:sp>
      <p:sp>
        <p:nvSpPr>
          <p:cNvPr id="5" name="Text Box 6"/>
          <p:cNvSpPr txBox="1">
            <a:spLocks noChangeArrowheads="1"/>
          </p:cNvSpPr>
          <p:nvPr/>
        </p:nvSpPr>
        <p:spPr bwMode="auto">
          <a:xfrm>
            <a:off x="1042988" y="3380383"/>
            <a:ext cx="7273925"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en-US" altLang="zh-CN" b="1"/>
              <a:t>       </a:t>
            </a:r>
          </a:p>
        </p:txBody>
      </p:sp>
      <p:sp>
        <p:nvSpPr>
          <p:cNvPr id="6" name="Text Box 7"/>
          <p:cNvSpPr txBox="1">
            <a:spLocks noChangeArrowheads="1"/>
          </p:cNvSpPr>
          <p:nvPr/>
        </p:nvSpPr>
        <p:spPr bwMode="auto">
          <a:xfrm>
            <a:off x="827088" y="6309320"/>
            <a:ext cx="3743325"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zh-CN" altLang="en-US" sz="2000" b="1" dirty="0" smtClean="0">
                <a:latin typeface="楷体_GB2312" pitchFamily="49" charset="-122"/>
                <a:ea typeface="楷体_GB2312" pitchFamily="49" charset="-122"/>
              </a:rPr>
              <a:t>图</a:t>
            </a:r>
            <a:r>
              <a:rPr lang="en-US" altLang="zh-CN" sz="2000" b="1" dirty="0" smtClean="0">
                <a:latin typeface="楷体_GB2312" pitchFamily="49" charset="-122"/>
                <a:ea typeface="楷体_GB2312" pitchFamily="49" charset="-122"/>
              </a:rPr>
              <a:t> </a:t>
            </a:r>
            <a:r>
              <a:rPr lang="zh-CN" altLang="en-US" sz="2000" b="1" dirty="0">
                <a:latin typeface="楷体_GB2312" pitchFamily="49" charset="-122"/>
                <a:ea typeface="楷体_GB2312" pitchFamily="49" charset="-122"/>
              </a:rPr>
              <a:t>主从</a:t>
            </a:r>
            <a:r>
              <a:rPr lang="en-US" altLang="zh-CN" sz="2000" b="1" dirty="0">
                <a:latin typeface="楷体_GB2312" pitchFamily="49" charset="-122"/>
                <a:ea typeface="楷体_GB2312" pitchFamily="49" charset="-122"/>
              </a:rPr>
              <a:t>RS-FF</a:t>
            </a:r>
            <a:r>
              <a:rPr lang="zh-CN" altLang="en-US" sz="2000" b="1" dirty="0">
                <a:latin typeface="楷体_GB2312" pitchFamily="49" charset="-122"/>
                <a:ea typeface="楷体_GB2312" pitchFamily="49" charset="-122"/>
              </a:rPr>
              <a:t>的逻辑图</a:t>
            </a:r>
            <a:r>
              <a:rPr lang="zh-CN" altLang="en-US" sz="2000" dirty="0">
                <a:latin typeface="楷体_GB2312" pitchFamily="49" charset="-122"/>
                <a:ea typeface="楷体_GB2312" pitchFamily="49" charset="-122"/>
              </a:rPr>
              <a:t>  </a:t>
            </a:r>
          </a:p>
        </p:txBody>
      </p:sp>
      <p:sp>
        <p:nvSpPr>
          <p:cNvPr id="7" name="Text Box 8"/>
          <p:cNvSpPr txBox="1">
            <a:spLocks noChangeArrowheads="1"/>
          </p:cNvSpPr>
          <p:nvPr/>
        </p:nvSpPr>
        <p:spPr bwMode="auto">
          <a:xfrm>
            <a:off x="5436096" y="1196752"/>
            <a:ext cx="2881709"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p>
            <a:pPr>
              <a:spcBef>
                <a:spcPct val="50000"/>
              </a:spcBef>
            </a:pPr>
            <a:r>
              <a:rPr lang="zh-CN" altLang="en-US" sz="2000" b="1" dirty="0" smtClean="0">
                <a:latin typeface="楷体_GB2312" pitchFamily="49" charset="-122"/>
                <a:ea typeface="楷体_GB2312" pitchFamily="49" charset="-122"/>
              </a:rPr>
              <a:t>表 主从</a:t>
            </a:r>
            <a:r>
              <a:rPr lang="en-US" altLang="zh-CN" sz="2000" b="1" dirty="0">
                <a:latin typeface="楷体_GB2312" pitchFamily="49" charset="-122"/>
                <a:ea typeface="楷体_GB2312" pitchFamily="49" charset="-122"/>
              </a:rPr>
              <a:t>RS-FF</a:t>
            </a:r>
            <a:r>
              <a:rPr lang="zh-CN" altLang="en-US" sz="2000" b="1" dirty="0">
                <a:latin typeface="楷体_GB2312" pitchFamily="49" charset="-122"/>
                <a:ea typeface="楷体_GB2312" pitchFamily="49" charset="-122"/>
              </a:rPr>
              <a:t>的特性表</a:t>
            </a:r>
            <a:endParaRPr lang="zh-CN" altLang="en-US" sz="2000" dirty="0">
              <a:latin typeface="楷体_GB2312" pitchFamily="49" charset="-122"/>
              <a:ea typeface="楷体_GB2312" pitchFamily="49" charset="-122"/>
            </a:endParaRPr>
          </a:p>
        </p:txBody>
      </p:sp>
      <p:pic>
        <p:nvPicPr>
          <p:cNvPr id="8" name="Picture 9" descr="4-2-13"/>
          <p:cNvPicPr>
            <a:picLocks noChangeAspect="1" noChangeArrowheads="1"/>
          </p:cNvPicPr>
          <p:nvPr/>
        </p:nvPicPr>
        <p:blipFill>
          <a:blip r:embed="rId2" cstate="print">
            <a:clrChange>
              <a:clrFrom>
                <a:srgbClr val="F8F9F3"/>
              </a:clrFrom>
              <a:clrTo>
                <a:srgbClr val="F8F9F3">
                  <a:alpha val="0"/>
                </a:srgbClr>
              </a:clrTo>
            </a:clrChange>
            <a:lum bright="-6000" contrast="42000"/>
            <a:extLst>
              <a:ext uri="{28A0092B-C50C-407E-A947-70E740481C1C}">
                <a14:useLocalDpi xmlns:a14="http://schemas.microsoft.com/office/drawing/2010/main" xmlns="" val="0"/>
              </a:ext>
            </a:extLst>
          </a:blip>
          <a:srcRect/>
          <a:stretch>
            <a:fillRect/>
          </a:stretch>
        </p:blipFill>
        <p:spPr bwMode="auto">
          <a:xfrm>
            <a:off x="0" y="2637433"/>
            <a:ext cx="5156200" cy="3275012"/>
          </a:xfrm>
          <a:prstGeom prst="rect">
            <a:avLst/>
          </a:prstGeom>
          <a:noFill/>
          <a:extLst>
            <a:ext uri="{909E8E84-426E-40DD-AFC4-6F175D3DCCD1}">
              <a14:hiddenFill xmlns:a14="http://schemas.microsoft.com/office/drawing/2010/main" xmlns="">
                <a:solidFill>
                  <a:srgbClr val="FFFFFF"/>
                </a:solidFill>
              </a14:hiddenFill>
            </a:ext>
          </a:extLst>
        </p:spPr>
      </p:pic>
      <p:grpSp>
        <p:nvGrpSpPr>
          <p:cNvPr id="9" name="Group 10"/>
          <p:cNvGrpSpPr/>
          <p:nvPr/>
        </p:nvGrpSpPr>
        <p:grpSpPr bwMode="auto">
          <a:xfrm>
            <a:off x="5149652" y="1550516"/>
            <a:ext cx="3742828" cy="4974828"/>
            <a:chOff x="3243" y="618"/>
            <a:chExt cx="2354" cy="3248"/>
          </a:xfrm>
        </p:grpSpPr>
        <p:pic>
          <p:nvPicPr>
            <p:cNvPr id="10" name="Picture 11" descr="b4-2-7"/>
            <p:cNvPicPr>
              <a:picLocks noChangeAspect="1" noChangeArrowheads="1"/>
            </p:cNvPicPr>
            <p:nvPr/>
          </p:nvPicPr>
          <p:blipFill>
            <a:blip r:embed="rId3" cstate="print">
              <a:clrChange>
                <a:clrFrom>
                  <a:srgbClr val="FAFBF5"/>
                </a:clrFrom>
                <a:clrTo>
                  <a:srgbClr val="FAFBF5">
                    <a:alpha val="0"/>
                  </a:srgbClr>
                </a:clrTo>
              </a:clrChange>
              <a:lum bright="-12000" contrast="42000"/>
              <a:extLst>
                <a:ext uri="{28A0092B-C50C-407E-A947-70E740481C1C}">
                  <a14:useLocalDpi xmlns:a14="http://schemas.microsoft.com/office/drawing/2010/main" xmlns="" val="0"/>
                </a:ext>
              </a:extLst>
            </a:blip>
            <a:srcRect/>
            <a:stretch>
              <a:fillRect/>
            </a:stretch>
          </p:blipFill>
          <p:spPr bwMode="auto">
            <a:xfrm>
              <a:off x="3243" y="618"/>
              <a:ext cx="2354" cy="3248"/>
            </a:xfrm>
            <a:prstGeom prst="rect">
              <a:avLst/>
            </a:prstGeom>
            <a:noFill/>
            <a:extLst>
              <a:ext uri="{909E8E84-426E-40DD-AFC4-6F175D3DCCD1}">
                <a14:hiddenFill xmlns:a14="http://schemas.microsoft.com/office/drawing/2010/main" xmlns="">
                  <a:solidFill>
                    <a:srgbClr val="FFFFFF"/>
                  </a:solidFill>
                </a14:hiddenFill>
              </a:ext>
            </a:extLst>
          </p:spPr>
        </p:pic>
        <p:sp>
          <p:nvSpPr>
            <p:cNvPr id="11" name="Rectangle 12"/>
            <p:cNvSpPr>
              <a:spLocks noChangeArrowheads="1"/>
            </p:cNvSpPr>
            <p:nvPr/>
          </p:nvSpPr>
          <p:spPr bwMode="auto">
            <a:xfrm>
              <a:off x="3334" y="981"/>
              <a:ext cx="2131" cy="771"/>
            </a:xfrm>
            <a:prstGeom prst="rect">
              <a:avLst/>
            </a:prstGeom>
            <a:noFill/>
            <a:ln w="28575">
              <a:solidFill>
                <a:srgbClr val="FF0000"/>
              </a:solidFill>
              <a:prstDash val="dash"/>
              <a:miter lim="800000"/>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sp>
          <p:nvSpPr>
            <p:cNvPr id="12" name="Rectangle 13"/>
            <p:cNvSpPr>
              <a:spLocks noChangeArrowheads="1"/>
            </p:cNvSpPr>
            <p:nvPr/>
          </p:nvSpPr>
          <p:spPr bwMode="auto">
            <a:xfrm>
              <a:off x="3334" y="1797"/>
              <a:ext cx="2131" cy="544"/>
            </a:xfrm>
            <a:prstGeom prst="rect">
              <a:avLst/>
            </a:prstGeom>
            <a:noFill/>
            <a:ln w="28575">
              <a:solidFill>
                <a:srgbClr val="FF0000"/>
              </a:solidFill>
              <a:prstDash val="dash"/>
              <a:miter lim="800000"/>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sp>
          <p:nvSpPr>
            <p:cNvPr id="13" name="Rectangle 14"/>
            <p:cNvSpPr>
              <a:spLocks noChangeArrowheads="1"/>
            </p:cNvSpPr>
            <p:nvPr/>
          </p:nvSpPr>
          <p:spPr bwMode="auto">
            <a:xfrm>
              <a:off x="3334" y="2387"/>
              <a:ext cx="2131" cy="544"/>
            </a:xfrm>
            <a:prstGeom prst="rect">
              <a:avLst/>
            </a:prstGeom>
            <a:noFill/>
            <a:ln w="28575">
              <a:solidFill>
                <a:srgbClr val="FF0000"/>
              </a:solidFill>
              <a:prstDash val="dash"/>
              <a:miter lim="800000"/>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sp>
          <p:nvSpPr>
            <p:cNvPr id="14" name="Rectangle 15"/>
            <p:cNvSpPr>
              <a:spLocks noChangeArrowheads="1"/>
            </p:cNvSpPr>
            <p:nvPr/>
          </p:nvSpPr>
          <p:spPr bwMode="auto">
            <a:xfrm>
              <a:off x="3334" y="2977"/>
              <a:ext cx="2131" cy="544"/>
            </a:xfrm>
            <a:prstGeom prst="rect">
              <a:avLst/>
            </a:prstGeom>
            <a:noFill/>
            <a:ln w="28575">
              <a:solidFill>
                <a:srgbClr val="FF0000"/>
              </a:solidFill>
              <a:prstDash val="dash"/>
              <a:miter lim="800000"/>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grpSp>
      <p:sp>
        <p:nvSpPr>
          <p:cNvPr id="3" name="文本框 2"/>
          <p:cNvSpPr txBox="1"/>
          <p:nvPr/>
        </p:nvSpPr>
        <p:spPr>
          <a:xfrm>
            <a:off x="251520" y="2798842"/>
            <a:ext cx="332142" cy="369332"/>
          </a:xfrm>
          <a:prstGeom prst="rect">
            <a:avLst/>
          </a:prstGeom>
          <a:noFill/>
        </p:spPr>
        <p:txBody>
          <a:bodyPr wrap="none" rtlCol="0">
            <a:spAutoFit/>
          </a:bodyPr>
          <a:lstStyle/>
          <a:p>
            <a:r>
              <a:rPr lang="en-US" altLang="zh-CN" b="1" dirty="0" smtClean="0">
                <a:solidFill>
                  <a:srgbClr val="FF0000"/>
                </a:solidFill>
              </a:rPr>
              <a:t>1</a:t>
            </a:r>
            <a:endParaRPr lang="zh-CN" altLang="en-US" b="1" dirty="0">
              <a:solidFill>
                <a:srgbClr val="FF0000"/>
              </a:solidFill>
            </a:endParaRPr>
          </a:p>
        </p:txBody>
      </p:sp>
      <p:sp>
        <p:nvSpPr>
          <p:cNvPr id="15" name="文本框 14"/>
          <p:cNvSpPr txBox="1"/>
          <p:nvPr/>
        </p:nvSpPr>
        <p:spPr>
          <a:xfrm>
            <a:off x="251520" y="4293096"/>
            <a:ext cx="332142" cy="369332"/>
          </a:xfrm>
          <a:prstGeom prst="rect">
            <a:avLst/>
          </a:prstGeom>
          <a:noFill/>
        </p:spPr>
        <p:txBody>
          <a:bodyPr wrap="none" rtlCol="0">
            <a:spAutoFit/>
          </a:bodyPr>
          <a:lstStyle/>
          <a:p>
            <a:r>
              <a:rPr lang="en-US" altLang="zh-CN" b="1" dirty="0" smtClean="0">
                <a:solidFill>
                  <a:srgbClr val="FF0000"/>
                </a:solidFill>
              </a:rPr>
              <a:t>1</a:t>
            </a:r>
            <a:endParaRPr lang="zh-CN" altLang="en-US" b="1" dirty="0">
              <a:solidFill>
                <a:srgbClr val="FF0000"/>
              </a:solidFill>
            </a:endParaRPr>
          </a:p>
        </p:txBody>
      </p:sp>
      <p:cxnSp>
        <p:nvCxnSpPr>
          <p:cNvPr id="17" name="直接连接符 16"/>
          <p:cNvCxnSpPr/>
          <p:nvPr/>
        </p:nvCxnSpPr>
        <p:spPr bwMode="auto">
          <a:xfrm>
            <a:off x="251520" y="5229200"/>
            <a:ext cx="260134" cy="0"/>
          </a:xfrm>
          <a:prstGeom prst="line">
            <a:avLst/>
          </a:prstGeom>
          <a:noFill/>
          <a:ln w="15875" cap="flat" cmpd="sng" algn="ctr">
            <a:solidFill>
              <a:srgbClr val="FF0000"/>
            </a:solidFill>
            <a:prstDash val="solid"/>
            <a:miter lim="800000"/>
            <a:headEnd type="none" w="med" len="med"/>
            <a:tailEnd type="none" w="med" len="med"/>
          </a:ln>
        </p:spPr>
      </p:cxnSp>
      <p:sp>
        <p:nvSpPr>
          <p:cNvPr id="18" name="文本框 17"/>
          <p:cNvSpPr txBox="1"/>
          <p:nvPr/>
        </p:nvSpPr>
        <p:spPr>
          <a:xfrm>
            <a:off x="1331640" y="2798842"/>
            <a:ext cx="332142" cy="369332"/>
          </a:xfrm>
          <a:prstGeom prst="rect">
            <a:avLst/>
          </a:prstGeom>
          <a:noFill/>
        </p:spPr>
        <p:txBody>
          <a:bodyPr wrap="none" rtlCol="0">
            <a:spAutoFit/>
          </a:bodyPr>
          <a:lstStyle/>
          <a:p>
            <a:r>
              <a:rPr lang="en-US" altLang="zh-CN" b="1" dirty="0" smtClean="0">
                <a:solidFill>
                  <a:srgbClr val="FF0000"/>
                </a:solidFill>
              </a:rPr>
              <a:t>0</a:t>
            </a:r>
            <a:endParaRPr lang="zh-CN" altLang="en-US" b="1" dirty="0">
              <a:solidFill>
                <a:srgbClr val="FF0000"/>
              </a:solidFill>
            </a:endParaRPr>
          </a:p>
        </p:txBody>
      </p:sp>
      <p:sp>
        <p:nvSpPr>
          <p:cNvPr id="19" name="文本框 18"/>
          <p:cNvSpPr txBox="1"/>
          <p:nvPr/>
        </p:nvSpPr>
        <p:spPr>
          <a:xfrm>
            <a:off x="1336145" y="4211201"/>
            <a:ext cx="332142" cy="369332"/>
          </a:xfrm>
          <a:prstGeom prst="rect">
            <a:avLst/>
          </a:prstGeom>
          <a:noFill/>
        </p:spPr>
        <p:txBody>
          <a:bodyPr wrap="none" rtlCol="0">
            <a:spAutoFit/>
          </a:bodyPr>
          <a:lstStyle/>
          <a:p>
            <a:r>
              <a:rPr lang="en-US" altLang="zh-CN" b="1" dirty="0" smtClean="0">
                <a:solidFill>
                  <a:srgbClr val="FF0000"/>
                </a:solidFill>
              </a:rPr>
              <a:t>0</a:t>
            </a:r>
            <a:endParaRPr lang="zh-CN" altLang="en-US" b="1" dirty="0">
              <a:solidFill>
                <a:srgbClr val="FF0000"/>
              </a:solidFill>
            </a:endParaRPr>
          </a:p>
        </p:txBody>
      </p:sp>
      <p:sp>
        <p:nvSpPr>
          <p:cNvPr id="20" name="文本框 19"/>
          <p:cNvSpPr txBox="1"/>
          <p:nvPr/>
        </p:nvSpPr>
        <p:spPr>
          <a:xfrm>
            <a:off x="2372404" y="2798842"/>
            <a:ext cx="332142" cy="369332"/>
          </a:xfrm>
          <a:prstGeom prst="rect">
            <a:avLst/>
          </a:prstGeom>
          <a:noFill/>
        </p:spPr>
        <p:txBody>
          <a:bodyPr wrap="none" rtlCol="0">
            <a:spAutoFit/>
          </a:bodyPr>
          <a:lstStyle/>
          <a:p>
            <a:r>
              <a:rPr lang="en-US" altLang="zh-CN" b="1" dirty="0" smtClean="0">
                <a:solidFill>
                  <a:srgbClr val="FF0000"/>
                </a:solidFill>
              </a:rPr>
              <a:t>1</a:t>
            </a:r>
            <a:endParaRPr lang="zh-CN" altLang="en-US" b="1" dirty="0">
              <a:solidFill>
                <a:srgbClr val="FF0000"/>
              </a:solidFill>
            </a:endParaRPr>
          </a:p>
        </p:txBody>
      </p:sp>
      <p:sp>
        <p:nvSpPr>
          <p:cNvPr id="21" name="文本框 20"/>
          <p:cNvSpPr txBox="1"/>
          <p:nvPr/>
        </p:nvSpPr>
        <p:spPr>
          <a:xfrm>
            <a:off x="2366608" y="4265583"/>
            <a:ext cx="332142" cy="369332"/>
          </a:xfrm>
          <a:prstGeom prst="rect">
            <a:avLst/>
          </a:prstGeom>
          <a:noFill/>
        </p:spPr>
        <p:txBody>
          <a:bodyPr wrap="none" rtlCol="0">
            <a:spAutoFit/>
          </a:bodyPr>
          <a:lstStyle/>
          <a:p>
            <a:r>
              <a:rPr lang="en-US" altLang="zh-CN" b="1" dirty="0" smtClean="0">
                <a:solidFill>
                  <a:srgbClr val="FF0000"/>
                </a:solidFill>
              </a:rPr>
              <a:t>1</a:t>
            </a:r>
            <a:endParaRPr lang="zh-CN" altLang="en-US" b="1" dirty="0">
              <a:solidFill>
                <a:srgbClr val="FF0000"/>
              </a:solidFill>
            </a:endParaRPr>
          </a:p>
        </p:txBody>
      </p:sp>
      <p:grpSp>
        <p:nvGrpSpPr>
          <p:cNvPr id="30" name="组合 29"/>
          <p:cNvGrpSpPr/>
          <p:nvPr/>
        </p:nvGrpSpPr>
        <p:grpSpPr>
          <a:xfrm>
            <a:off x="502887" y="5229200"/>
            <a:ext cx="243922" cy="395576"/>
            <a:chOff x="502887" y="5229200"/>
            <a:chExt cx="243922" cy="395576"/>
          </a:xfrm>
        </p:grpSpPr>
        <p:cxnSp>
          <p:nvCxnSpPr>
            <p:cNvPr id="25" name="直接箭头连接符 24"/>
            <p:cNvCxnSpPr/>
            <p:nvPr/>
          </p:nvCxnSpPr>
          <p:spPr bwMode="auto">
            <a:xfrm>
              <a:off x="511654" y="5229200"/>
              <a:ext cx="0" cy="288032"/>
            </a:xfrm>
            <a:prstGeom prst="straightConnector1">
              <a:avLst/>
            </a:prstGeom>
            <a:noFill/>
            <a:ln w="15875" cap="flat" cmpd="sng" algn="ctr">
              <a:solidFill>
                <a:srgbClr val="FF0000"/>
              </a:solidFill>
              <a:prstDash val="solid"/>
              <a:miter lim="800000"/>
              <a:headEnd type="none" w="med" len="med"/>
              <a:tailEnd type="triangle"/>
            </a:ln>
          </p:spPr>
        </p:cxnSp>
        <p:cxnSp>
          <p:nvCxnSpPr>
            <p:cNvPr id="28" name="肘形连接符 27"/>
            <p:cNvCxnSpPr/>
            <p:nvPr/>
          </p:nvCxnSpPr>
          <p:spPr bwMode="auto">
            <a:xfrm>
              <a:off x="502887" y="5408752"/>
              <a:ext cx="243922" cy="216024"/>
            </a:xfrm>
            <a:prstGeom prst="bentConnector3">
              <a:avLst>
                <a:gd name="adj1" fmla="val 2686"/>
              </a:avLst>
            </a:prstGeom>
            <a:noFill/>
            <a:ln w="15875" cap="flat" cmpd="sng" algn="ctr">
              <a:solidFill>
                <a:srgbClr val="FF0000"/>
              </a:solidFill>
              <a:prstDash val="solid"/>
              <a:miter lim="800000"/>
              <a:headEnd type="none" w="med" len="med"/>
              <a:tailEnd type="none" w="med" len="med"/>
            </a:ln>
          </p:spPr>
        </p:cxnSp>
      </p:grpSp>
      <p:sp>
        <p:nvSpPr>
          <p:cNvPr id="31" name="文本框 30"/>
          <p:cNvSpPr txBox="1"/>
          <p:nvPr/>
        </p:nvSpPr>
        <p:spPr>
          <a:xfrm>
            <a:off x="3321499" y="2767717"/>
            <a:ext cx="332142" cy="369332"/>
          </a:xfrm>
          <a:prstGeom prst="rect">
            <a:avLst/>
          </a:prstGeom>
          <a:noFill/>
        </p:spPr>
        <p:txBody>
          <a:bodyPr wrap="none" rtlCol="0">
            <a:spAutoFit/>
          </a:bodyPr>
          <a:lstStyle/>
          <a:p>
            <a:r>
              <a:rPr lang="en-US" altLang="zh-CN" b="1" dirty="0" smtClean="0">
                <a:solidFill>
                  <a:srgbClr val="FF0000"/>
                </a:solidFill>
              </a:rPr>
              <a:t>0</a:t>
            </a:r>
            <a:endParaRPr lang="zh-CN" altLang="en-US" b="1" dirty="0">
              <a:solidFill>
                <a:srgbClr val="FF0000"/>
              </a:solidFill>
            </a:endParaRPr>
          </a:p>
        </p:txBody>
      </p:sp>
      <p:sp>
        <p:nvSpPr>
          <p:cNvPr id="32" name="文本框 31"/>
          <p:cNvSpPr txBox="1"/>
          <p:nvPr/>
        </p:nvSpPr>
        <p:spPr>
          <a:xfrm>
            <a:off x="3321499" y="4265583"/>
            <a:ext cx="332142" cy="369332"/>
          </a:xfrm>
          <a:prstGeom prst="rect">
            <a:avLst/>
          </a:prstGeom>
          <a:noFill/>
        </p:spPr>
        <p:txBody>
          <a:bodyPr wrap="none" rtlCol="0">
            <a:spAutoFit/>
          </a:bodyPr>
          <a:lstStyle/>
          <a:p>
            <a:r>
              <a:rPr lang="en-US" altLang="zh-CN" b="1" dirty="0" smtClean="0">
                <a:solidFill>
                  <a:srgbClr val="FF0000"/>
                </a:solidFill>
              </a:rPr>
              <a:t>0</a:t>
            </a:r>
            <a:endParaRPr lang="zh-CN" altLang="en-US" b="1" dirty="0">
              <a:solidFill>
                <a:srgbClr val="FF0000"/>
              </a:solidFill>
            </a:endParaRPr>
          </a:p>
        </p:txBody>
      </p:sp>
      <p:sp>
        <p:nvSpPr>
          <p:cNvPr id="33" name="文本框 32"/>
          <p:cNvSpPr txBox="1"/>
          <p:nvPr/>
        </p:nvSpPr>
        <p:spPr>
          <a:xfrm>
            <a:off x="4854280" y="2798842"/>
            <a:ext cx="417102" cy="369332"/>
          </a:xfrm>
          <a:prstGeom prst="rect">
            <a:avLst/>
          </a:prstGeom>
          <a:noFill/>
        </p:spPr>
        <p:txBody>
          <a:bodyPr wrap="none" rtlCol="0">
            <a:spAutoFit/>
          </a:bodyPr>
          <a:lstStyle/>
          <a:p>
            <a:r>
              <a:rPr lang="zh-CN" altLang="en-US" b="1" dirty="0" smtClean="0">
                <a:solidFill>
                  <a:srgbClr val="FF0000"/>
                </a:solidFill>
              </a:rPr>
              <a:t>？</a:t>
            </a:r>
            <a:endParaRPr lang="zh-CN" altLang="en-US" b="1" dirty="0">
              <a:solidFill>
                <a:srgbClr val="FF0000"/>
              </a:solidFill>
            </a:endParaRPr>
          </a:p>
        </p:txBody>
      </p:sp>
      <p:sp>
        <p:nvSpPr>
          <p:cNvPr id="34" name="文本框 33"/>
          <p:cNvSpPr txBox="1"/>
          <p:nvPr/>
        </p:nvSpPr>
        <p:spPr>
          <a:xfrm>
            <a:off x="4854280" y="4211201"/>
            <a:ext cx="417102" cy="369332"/>
          </a:xfrm>
          <a:prstGeom prst="rect">
            <a:avLst/>
          </a:prstGeom>
          <a:noFill/>
        </p:spPr>
        <p:txBody>
          <a:bodyPr wrap="none" rtlCol="0">
            <a:spAutoFit/>
          </a:bodyPr>
          <a:lstStyle/>
          <a:p>
            <a:r>
              <a:rPr lang="zh-CN" altLang="en-US" b="1" dirty="0" smtClean="0">
                <a:solidFill>
                  <a:srgbClr val="FF0000"/>
                </a:solidFill>
              </a:rPr>
              <a:t>？</a:t>
            </a:r>
            <a:endParaRPr lang="zh-CN" altLang="en-US" b="1" dirty="0">
              <a:solidFill>
                <a:srgbClr val="FF0000"/>
              </a:solidFill>
            </a:endParaRPr>
          </a:p>
        </p:txBody>
      </p:sp>
      <p:sp>
        <p:nvSpPr>
          <p:cNvPr id="35" name="标题 1"/>
          <p:cNvSpPr>
            <a:spLocks noGrp="1"/>
          </p:cNvSpPr>
          <p:nvPr>
            <p:ph type="title"/>
          </p:nvPr>
        </p:nvSpPr>
        <p:spPr>
          <a:xfrm>
            <a:off x="1187624" y="1052736"/>
            <a:ext cx="7756351" cy="635794"/>
          </a:xfrm>
        </p:spPr>
        <p:txBody>
          <a:bodyPr/>
          <a:lstStyle/>
          <a:p>
            <a:r>
              <a:rPr lang="en-US" altLang="zh-CN" dirty="0" smtClean="0"/>
              <a:t>2. </a:t>
            </a:r>
            <a:r>
              <a:rPr lang="zh-CN" altLang="en-US" dirty="0" smtClean="0"/>
              <a:t>工作原理</a:t>
            </a:r>
            <a:endParaRPr lang="zh-CN" altLang="en-US" dirty="0"/>
          </a:p>
        </p:txBody>
      </p:sp>
      <p:sp>
        <p:nvSpPr>
          <p:cNvPr id="36" name="标题 1"/>
          <p:cNvSpPr txBox="1">
            <a:spLocks/>
          </p:cNvSpPr>
          <p:nvPr/>
        </p:nvSpPr>
        <p:spPr bwMode="auto">
          <a:xfrm>
            <a:off x="1187624" y="332656"/>
            <a:ext cx="7632848" cy="5669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p>
            <a:pPr lvl="0" fontAlgn="base">
              <a:spcBef>
                <a:spcPct val="0"/>
              </a:spcBef>
              <a:spcAft>
                <a:spcPct val="0"/>
              </a:spcAft>
              <a:defRPr/>
            </a:pPr>
            <a:r>
              <a:rPr kumimoji="1" lang="en-US" altLang="zh-CN" sz="3200" b="1" dirty="0" smtClean="0">
                <a:solidFill>
                  <a:schemeClr val="tx2"/>
                </a:solidFill>
                <a:latin typeface="+mj-lt"/>
                <a:ea typeface="+mj-ea"/>
                <a:cs typeface="+mj-cs"/>
              </a:rPr>
              <a:t>5.2.1 </a:t>
            </a:r>
            <a:r>
              <a:rPr kumimoji="1" lang="zh-CN" altLang="en-US" sz="3200" b="1" dirty="0" smtClean="0">
                <a:solidFill>
                  <a:schemeClr val="tx2"/>
                </a:solidFill>
                <a:latin typeface="+mj-lt"/>
                <a:ea typeface="+mj-ea"/>
                <a:cs typeface="+mj-cs"/>
              </a:rPr>
              <a:t>主从</a:t>
            </a:r>
            <a:r>
              <a:rPr kumimoji="1" lang="en-US" altLang="zh-CN" sz="3200" b="1" dirty="0" smtClean="0">
                <a:solidFill>
                  <a:schemeClr val="tx2"/>
                </a:solidFill>
                <a:latin typeface="+mj-lt"/>
                <a:ea typeface="+mj-ea"/>
                <a:cs typeface="+mj-cs"/>
              </a:rPr>
              <a:t>RS</a:t>
            </a:r>
            <a:r>
              <a:rPr kumimoji="1" lang="zh-CN" altLang="en-US" sz="3200" b="1" dirty="0" smtClean="0">
                <a:solidFill>
                  <a:schemeClr val="tx2"/>
                </a:solidFill>
                <a:latin typeface="+mj-lt"/>
                <a:ea typeface="+mj-ea"/>
                <a:cs typeface="+mj-cs"/>
              </a:rPr>
              <a:t>触发器</a:t>
            </a:r>
            <a:endParaRPr kumimoji="1" lang="zh-CN" altLang="en-US" sz="3200" b="1" dirty="0">
              <a:solidFill>
                <a:schemeClr val="tx2"/>
              </a:solidFill>
              <a:latin typeface="+mj-lt"/>
              <a:ea typeface="+mj-ea"/>
              <a:cs typeface="+mj-cs"/>
            </a:endParaRPr>
          </a:p>
        </p:txBody>
      </p:sp>
    </p:spTree>
    <p:extLst>
      <p:ext uri="{BB962C8B-B14F-4D97-AF65-F5344CB8AC3E}">
        <p14:creationId xmlns:p14="http://schemas.microsoft.com/office/powerpoint/2010/main" xmlns="" val="21660398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500"/>
                                        <p:tgtEl>
                                          <p:spTgt spid="18"/>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9"/>
                                        </p:tgtEl>
                                        <p:attrNameLst>
                                          <p:attrName>style.visibility</p:attrName>
                                        </p:attrNameLst>
                                      </p:cBhvr>
                                      <p:to>
                                        <p:strVal val="visible"/>
                                      </p:to>
                                    </p:set>
                                    <p:animEffect transition="in" filter="fade">
                                      <p:cBhvr>
                                        <p:cTn id="20" dur="500"/>
                                        <p:tgtEl>
                                          <p:spTgt spid="19"/>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animEffect transition="in" filter="fade">
                                      <p:cBhvr>
                                        <p:cTn id="25" dur="5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21"/>
                                        </p:tgtEl>
                                        <p:attrNameLst>
                                          <p:attrName>style.visibility</p:attrName>
                                        </p:attrNameLst>
                                      </p:cBhvr>
                                      <p:to>
                                        <p:strVal val="visible"/>
                                      </p:to>
                                    </p:set>
                                    <p:animEffect transition="in" filter="fade">
                                      <p:cBhvr>
                                        <p:cTn id="30" dur="500"/>
                                        <p:tgtEl>
                                          <p:spTgt spid="21"/>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30"/>
                                        </p:tgtEl>
                                        <p:attrNameLst>
                                          <p:attrName>style.visibility</p:attrName>
                                        </p:attrNameLst>
                                      </p:cBhvr>
                                      <p:to>
                                        <p:strVal val="visible"/>
                                      </p:to>
                                    </p:set>
                                    <p:animEffect transition="in" filter="fade">
                                      <p:cBhvr>
                                        <p:cTn id="35" dur="500"/>
                                        <p:tgtEl>
                                          <p:spTgt spid="30"/>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31"/>
                                        </p:tgtEl>
                                        <p:attrNameLst>
                                          <p:attrName>style.visibility</p:attrName>
                                        </p:attrNameLst>
                                      </p:cBhvr>
                                      <p:to>
                                        <p:strVal val="visible"/>
                                      </p:to>
                                    </p:set>
                                    <p:animEffect transition="in" filter="fade">
                                      <p:cBhvr>
                                        <p:cTn id="40" dur="500"/>
                                        <p:tgtEl>
                                          <p:spTgt spid="31"/>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32"/>
                                        </p:tgtEl>
                                        <p:attrNameLst>
                                          <p:attrName>style.visibility</p:attrName>
                                        </p:attrNameLst>
                                      </p:cBhvr>
                                      <p:to>
                                        <p:strVal val="visible"/>
                                      </p:to>
                                    </p:set>
                                    <p:animEffect transition="in" filter="fade">
                                      <p:cBhvr>
                                        <p:cTn id="45" dur="500"/>
                                        <p:tgtEl>
                                          <p:spTgt spid="32"/>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33"/>
                                        </p:tgtEl>
                                        <p:attrNameLst>
                                          <p:attrName>style.visibility</p:attrName>
                                        </p:attrNameLst>
                                      </p:cBhvr>
                                      <p:to>
                                        <p:strVal val="visible"/>
                                      </p:to>
                                    </p:set>
                                    <p:animEffect transition="in" filter="fade">
                                      <p:cBhvr>
                                        <p:cTn id="50" dur="500"/>
                                        <p:tgtEl>
                                          <p:spTgt spid="33"/>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34"/>
                                        </p:tgtEl>
                                        <p:attrNameLst>
                                          <p:attrName>style.visibility</p:attrName>
                                        </p:attrNameLst>
                                      </p:cBhvr>
                                      <p:to>
                                        <p:strVal val="visible"/>
                                      </p:to>
                                    </p:set>
                                    <p:animEffect transition="in" filter="fade">
                                      <p:cBhvr>
                                        <p:cTn id="55"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5" grpId="0"/>
      <p:bldP spid="18" grpId="0"/>
      <p:bldP spid="19" grpId="0"/>
      <p:bldP spid="20" grpId="0"/>
      <p:bldP spid="21" grpId="0"/>
      <p:bldP spid="31" grpId="0"/>
      <p:bldP spid="32" grpId="0"/>
      <p:bldP spid="33" grpId="0"/>
      <p:bldP spid="34"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1844824"/>
            <a:ext cx="8161338" cy="4752528"/>
          </a:xfrm>
        </p:spPr>
        <p:txBody>
          <a:bodyPr/>
          <a:lstStyle/>
          <a:p>
            <a:pPr>
              <a:lnSpc>
                <a:spcPct val="100000"/>
              </a:lnSpc>
              <a:spcBef>
                <a:spcPts val="600"/>
              </a:spcBef>
              <a:buSzPct val="100000"/>
              <a:buFont typeface="Wingdings" pitchFamily="2" charset="2"/>
              <a:buChar char="p"/>
            </a:pPr>
            <a:r>
              <a:rPr lang="zh-CN" altLang="en-US" sz="2800" dirty="0"/>
              <a:t>从同步</a:t>
            </a:r>
            <a:r>
              <a:rPr lang="en-US" altLang="zh-CN" sz="2800" dirty="0"/>
              <a:t>RS</a:t>
            </a:r>
            <a:r>
              <a:rPr lang="zh-CN" altLang="en-US" sz="2800" dirty="0"/>
              <a:t>触发器到主从</a:t>
            </a:r>
            <a:r>
              <a:rPr lang="en-US" altLang="zh-CN" sz="2800" dirty="0"/>
              <a:t>RS</a:t>
            </a:r>
            <a:r>
              <a:rPr lang="zh-CN" altLang="en-US" sz="2800" dirty="0"/>
              <a:t>触发器这一演变，</a:t>
            </a:r>
            <a:r>
              <a:rPr lang="zh-CN" altLang="en-US" sz="2800" dirty="0">
                <a:solidFill>
                  <a:srgbClr val="FF0000"/>
                </a:solidFill>
              </a:rPr>
              <a:t>克服</a:t>
            </a:r>
            <a:r>
              <a:rPr lang="zh-CN" altLang="en-US" sz="2800" dirty="0"/>
              <a:t>了</a:t>
            </a:r>
            <a:r>
              <a:rPr lang="en-US" altLang="zh-CN" sz="2800" dirty="0"/>
              <a:t>CP=1</a:t>
            </a:r>
            <a:r>
              <a:rPr lang="zh-CN" altLang="en-US" sz="2800" dirty="0"/>
              <a:t>期间触发器输出状态可</a:t>
            </a:r>
            <a:r>
              <a:rPr lang="zh-CN" altLang="en-US" sz="2800" dirty="0">
                <a:solidFill>
                  <a:srgbClr val="0000CC"/>
                </a:solidFill>
              </a:rPr>
              <a:t>多次翻转</a:t>
            </a:r>
            <a:r>
              <a:rPr lang="zh-CN" altLang="en-US" sz="2800" dirty="0"/>
              <a:t>的问题</a:t>
            </a:r>
            <a:r>
              <a:rPr lang="zh-CN" altLang="en-US" sz="2800" dirty="0" smtClean="0"/>
              <a:t>。</a:t>
            </a:r>
            <a:endParaRPr lang="en-US" altLang="zh-CN" sz="2800" dirty="0" smtClean="0"/>
          </a:p>
          <a:p>
            <a:pPr>
              <a:lnSpc>
                <a:spcPct val="100000"/>
              </a:lnSpc>
              <a:spcBef>
                <a:spcPts val="600"/>
              </a:spcBef>
              <a:buSzPct val="100000"/>
              <a:buFont typeface="Wingdings" pitchFamily="2" charset="2"/>
              <a:buChar char="p"/>
            </a:pPr>
            <a:r>
              <a:rPr lang="zh-CN" altLang="en-US" sz="2800" dirty="0" smtClean="0"/>
              <a:t>由于</a:t>
            </a:r>
            <a:r>
              <a:rPr lang="zh-CN" altLang="en-US" sz="2800" dirty="0"/>
              <a:t>主触发器本身仍是一个</a:t>
            </a:r>
            <a:r>
              <a:rPr lang="zh-CN" altLang="en-US" sz="2800" dirty="0">
                <a:solidFill>
                  <a:srgbClr val="0000CC"/>
                </a:solidFill>
              </a:rPr>
              <a:t>同步</a:t>
            </a:r>
            <a:r>
              <a:rPr lang="en-US" altLang="zh-CN" sz="2800" dirty="0">
                <a:solidFill>
                  <a:srgbClr val="0000CC"/>
                </a:solidFill>
              </a:rPr>
              <a:t>RS</a:t>
            </a:r>
            <a:r>
              <a:rPr lang="zh-CN" altLang="en-US" sz="2800" dirty="0">
                <a:solidFill>
                  <a:srgbClr val="0000CC"/>
                </a:solidFill>
              </a:rPr>
              <a:t>触发器</a:t>
            </a:r>
            <a:r>
              <a:rPr lang="zh-CN" altLang="en-US" sz="2800" dirty="0"/>
              <a:t>，所以在</a:t>
            </a:r>
            <a:r>
              <a:rPr lang="en-US" altLang="zh-CN" sz="2800" dirty="0"/>
              <a:t>CP=1</a:t>
            </a:r>
            <a:r>
              <a:rPr lang="zh-CN" altLang="en-US" sz="2800" dirty="0"/>
              <a:t>期间 </a:t>
            </a:r>
            <a:r>
              <a:rPr lang="en-US" altLang="zh-CN" sz="2800" i="1" dirty="0" smtClean="0"/>
              <a:t>Q’</a:t>
            </a:r>
            <a:r>
              <a:rPr lang="zh-CN" altLang="en-US" sz="2800" dirty="0" smtClean="0"/>
              <a:t>  和      </a:t>
            </a:r>
            <a:r>
              <a:rPr lang="zh-CN" altLang="en-US" sz="2800" dirty="0"/>
              <a:t>状态仍然会随</a:t>
            </a:r>
            <a:r>
              <a:rPr lang="en-US" altLang="zh-CN" sz="2800" dirty="0"/>
              <a:t>S</a:t>
            </a:r>
            <a:r>
              <a:rPr lang="zh-CN" altLang="en-US" sz="2800" dirty="0"/>
              <a:t>、</a:t>
            </a:r>
            <a:r>
              <a:rPr lang="en-US" altLang="zh-CN" sz="2800" dirty="0"/>
              <a:t>R</a:t>
            </a:r>
            <a:r>
              <a:rPr lang="zh-CN" altLang="en-US" sz="2800" dirty="0"/>
              <a:t>状态的变化而多次变化，而且仍需遵守约束条件 </a:t>
            </a:r>
            <a:r>
              <a:rPr lang="en-US" altLang="zh-CN" sz="2800" i="1" dirty="0" smtClean="0"/>
              <a:t>S</a:t>
            </a:r>
            <a:r>
              <a:rPr lang="en-US" altLang="zh-CN" sz="2800" dirty="0" smtClean="0">
                <a:latin typeface="宋体"/>
                <a:ea typeface="宋体"/>
              </a:rPr>
              <a:t>·</a:t>
            </a:r>
            <a:r>
              <a:rPr lang="en-US" altLang="zh-CN" sz="2800" i="1" dirty="0" smtClean="0"/>
              <a:t>R</a:t>
            </a:r>
            <a:r>
              <a:rPr lang="en-US" altLang="zh-CN" sz="2800" dirty="0" smtClean="0"/>
              <a:t> = 0</a:t>
            </a:r>
            <a:r>
              <a:rPr lang="zh-CN" altLang="en-US" sz="2800" dirty="0" smtClean="0"/>
              <a:t>，且</a:t>
            </a:r>
            <a:r>
              <a:rPr lang="zh-CN" altLang="en-US" sz="2800" dirty="0"/>
              <a:t>其特性方程仍为：</a:t>
            </a:r>
          </a:p>
          <a:p>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47</a:t>
            </a:fld>
            <a:endParaRPr lang="zh-CN" altLang="en-US"/>
          </a:p>
        </p:txBody>
      </p:sp>
      <p:graphicFrame>
        <p:nvGraphicFramePr>
          <p:cNvPr id="6" name="Object 13"/>
          <p:cNvGraphicFramePr>
            <a:graphicFrameLocks noChangeAspect="1"/>
          </p:cNvGraphicFramePr>
          <p:nvPr/>
        </p:nvGraphicFramePr>
        <p:xfrm>
          <a:off x="2123728" y="5085184"/>
          <a:ext cx="2303462" cy="584200"/>
        </p:xfrm>
        <a:graphic>
          <a:graphicData uri="http://schemas.openxmlformats.org/presentationml/2006/ole">
            <p:oleObj spid="_x0000_s101948" name="公式" r:id="rId3" imgW="1257480" imgH="304920" progId="">
              <p:embed/>
            </p:oleObj>
          </a:graphicData>
        </a:graphic>
      </p:graphicFrame>
      <p:graphicFrame>
        <p:nvGraphicFramePr>
          <p:cNvPr id="7" name="Object 11"/>
          <p:cNvGraphicFramePr>
            <a:graphicFrameLocks noChangeAspect="1"/>
          </p:cNvGraphicFramePr>
          <p:nvPr/>
        </p:nvGraphicFramePr>
        <p:xfrm>
          <a:off x="4067944" y="3645024"/>
          <a:ext cx="504057" cy="504056"/>
        </p:xfrm>
        <a:graphic>
          <a:graphicData uri="http://schemas.openxmlformats.org/presentationml/2006/ole">
            <p:oleObj spid="_x0000_s101949" name="公式" r:id="rId4" imgW="190417" imgH="241195" progId="">
              <p:embed/>
            </p:oleObj>
          </a:graphicData>
        </a:graphic>
      </p:graphicFrame>
      <p:graphicFrame>
        <p:nvGraphicFramePr>
          <p:cNvPr id="9" name="对象 8"/>
          <p:cNvGraphicFramePr>
            <a:graphicFrameLocks noChangeAspect="1"/>
          </p:cNvGraphicFramePr>
          <p:nvPr/>
        </p:nvGraphicFramePr>
        <p:xfrm>
          <a:off x="2195736" y="5877272"/>
          <a:ext cx="1557337" cy="463550"/>
        </p:xfrm>
        <a:graphic>
          <a:graphicData uri="http://schemas.openxmlformats.org/presentationml/2006/ole">
            <p:oleObj spid="_x0000_s101951" name="公式" r:id="rId5" imgW="698760" imgH="216000" progId="">
              <p:embed/>
            </p:oleObj>
          </a:graphicData>
        </a:graphic>
      </p:graphicFrame>
      <p:sp>
        <p:nvSpPr>
          <p:cNvPr id="10" name="左大括号 9"/>
          <p:cNvSpPr/>
          <p:nvPr/>
        </p:nvSpPr>
        <p:spPr bwMode="auto">
          <a:xfrm>
            <a:off x="1835696" y="5373216"/>
            <a:ext cx="216024" cy="864096"/>
          </a:xfrm>
          <a:prstGeom prst="leftBrace">
            <a:avLst/>
          </a:prstGeom>
          <a:noFill/>
          <a:ln w="9525" cap="flat" cmpd="sng" algn="ctr">
            <a:solidFill>
              <a:schemeClr val="tx1"/>
            </a:solidFill>
            <a:prstDash val="solid"/>
            <a:miter lim="800000"/>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0000" tIns="46800" rIns="90000" bIns="4680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36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endParaRPr>
          </a:p>
        </p:txBody>
      </p:sp>
      <p:sp>
        <p:nvSpPr>
          <p:cNvPr id="14" name="标题 1"/>
          <p:cNvSpPr>
            <a:spLocks noGrp="1"/>
          </p:cNvSpPr>
          <p:nvPr>
            <p:ph type="title"/>
          </p:nvPr>
        </p:nvSpPr>
        <p:spPr>
          <a:xfrm>
            <a:off x="1187624" y="1052736"/>
            <a:ext cx="7756351" cy="635794"/>
          </a:xfrm>
        </p:spPr>
        <p:txBody>
          <a:bodyPr/>
          <a:lstStyle/>
          <a:p>
            <a:r>
              <a:rPr lang="en-US" altLang="zh-CN" dirty="0" smtClean="0"/>
              <a:t>2. </a:t>
            </a:r>
            <a:r>
              <a:rPr lang="zh-CN" altLang="en-US" dirty="0" smtClean="0"/>
              <a:t>工作原理</a:t>
            </a:r>
            <a:endParaRPr lang="zh-CN" altLang="en-US" dirty="0"/>
          </a:p>
        </p:txBody>
      </p:sp>
      <p:sp>
        <p:nvSpPr>
          <p:cNvPr id="15" name="标题 1"/>
          <p:cNvSpPr txBox="1">
            <a:spLocks/>
          </p:cNvSpPr>
          <p:nvPr/>
        </p:nvSpPr>
        <p:spPr bwMode="auto">
          <a:xfrm>
            <a:off x="1187624" y="332656"/>
            <a:ext cx="7632848" cy="5669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p>
            <a:pPr lvl="0" fontAlgn="base">
              <a:spcBef>
                <a:spcPct val="0"/>
              </a:spcBef>
              <a:spcAft>
                <a:spcPct val="0"/>
              </a:spcAft>
              <a:defRPr/>
            </a:pPr>
            <a:r>
              <a:rPr kumimoji="1" lang="en-US" altLang="zh-CN" sz="3200" b="1" dirty="0" smtClean="0">
                <a:solidFill>
                  <a:schemeClr val="tx2"/>
                </a:solidFill>
                <a:latin typeface="+mj-lt"/>
                <a:ea typeface="+mj-ea"/>
                <a:cs typeface="+mj-cs"/>
              </a:rPr>
              <a:t>5.2.1 </a:t>
            </a:r>
            <a:r>
              <a:rPr kumimoji="1" lang="zh-CN" altLang="en-US" sz="3200" b="1" dirty="0" smtClean="0">
                <a:solidFill>
                  <a:schemeClr val="tx2"/>
                </a:solidFill>
                <a:latin typeface="+mj-lt"/>
                <a:ea typeface="+mj-ea"/>
                <a:cs typeface="+mj-cs"/>
              </a:rPr>
              <a:t>主从</a:t>
            </a:r>
            <a:r>
              <a:rPr kumimoji="1" lang="en-US" altLang="zh-CN" sz="3200" b="1" dirty="0" smtClean="0">
                <a:solidFill>
                  <a:schemeClr val="tx2"/>
                </a:solidFill>
                <a:latin typeface="+mj-lt"/>
                <a:ea typeface="+mj-ea"/>
                <a:cs typeface="+mj-cs"/>
              </a:rPr>
              <a:t>RS</a:t>
            </a:r>
            <a:r>
              <a:rPr kumimoji="1" lang="zh-CN" altLang="en-US" sz="3200" b="1" dirty="0" smtClean="0">
                <a:solidFill>
                  <a:schemeClr val="tx2"/>
                </a:solidFill>
                <a:latin typeface="+mj-lt"/>
                <a:ea typeface="+mj-ea"/>
                <a:cs typeface="+mj-cs"/>
              </a:rPr>
              <a:t>触发器</a:t>
            </a:r>
            <a:endParaRPr kumimoji="1" lang="zh-CN" altLang="en-US" sz="3200" b="1" dirty="0">
              <a:solidFill>
                <a:schemeClr val="tx2"/>
              </a:solidFill>
              <a:latin typeface="+mj-lt"/>
              <a:ea typeface="+mj-ea"/>
              <a:cs typeface="+mj-cs"/>
            </a:endParaRPr>
          </a:p>
        </p:txBody>
      </p:sp>
      <p:pic>
        <p:nvPicPr>
          <p:cNvPr id="11" name="Picture 165"/>
          <p:cNvPicPr>
            <a:picLocks noChangeAspect="1" noChangeArrowheads="1"/>
          </p:cNvPicPr>
          <p:nvPr/>
        </p:nvPicPr>
        <p:blipFill>
          <a:blip r:embed="rId6" cstate="print"/>
          <a:srcRect/>
          <a:stretch>
            <a:fillRect/>
          </a:stretch>
        </p:blipFill>
        <p:spPr bwMode="auto">
          <a:xfrm>
            <a:off x="5292080" y="5012077"/>
            <a:ext cx="3455293" cy="171445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xmlns="" Requires="a14">
          <p:sp>
            <p:nvSpPr>
              <p:cNvPr id="3" name="内容占位符 2"/>
              <p:cNvSpPr>
                <a:spLocks noGrp="1"/>
              </p:cNvSpPr>
              <p:nvPr>
                <p:ph idx="1"/>
              </p:nvPr>
            </p:nvSpPr>
            <p:spPr/>
            <p:txBody>
              <a:bodyPr/>
              <a:lstStyle/>
              <a:p>
                <a:r>
                  <a:rPr lang="zh-CN" altLang="en-US" dirty="0" smtClean="0"/>
                  <a:t>动作特点</a:t>
                </a:r>
              </a:p>
              <a:p>
                <a:pPr lvl="1"/>
                <a:r>
                  <a:rPr lang="zh-CN" altLang="en-US" dirty="0" smtClean="0"/>
                  <a:t>（</a:t>
                </a:r>
                <a:r>
                  <a:rPr lang="en-US" altLang="zh-CN" dirty="0"/>
                  <a:t>1</a:t>
                </a:r>
                <a:r>
                  <a:rPr lang="zh-CN" altLang="en-US" dirty="0"/>
                  <a:t>）主从</a:t>
                </a:r>
                <a:r>
                  <a:rPr lang="en-US" altLang="zh-CN" dirty="0"/>
                  <a:t>RS-FF</a:t>
                </a:r>
                <a:r>
                  <a:rPr lang="zh-CN" altLang="en-US" dirty="0"/>
                  <a:t>的翻转分两步动作：</a:t>
                </a:r>
              </a:p>
              <a:p>
                <a:pPr lvl="2"/>
                <a:r>
                  <a:rPr lang="zh-CN" altLang="en-US" dirty="0"/>
                  <a:t>第一步，</a:t>
                </a:r>
                <a:r>
                  <a:rPr lang="zh-CN" altLang="en-US" dirty="0">
                    <a:solidFill>
                      <a:srgbClr val="0000CC"/>
                    </a:solidFill>
                  </a:rPr>
                  <a:t>在</a:t>
                </a:r>
                <a:r>
                  <a:rPr lang="en-US" altLang="zh-CN" dirty="0">
                    <a:solidFill>
                      <a:srgbClr val="0000CC"/>
                    </a:solidFill>
                  </a:rPr>
                  <a:t>CP=1</a:t>
                </a:r>
                <a:r>
                  <a:rPr lang="zh-CN" altLang="en-US" dirty="0">
                    <a:solidFill>
                      <a:srgbClr val="0000CC"/>
                    </a:solidFill>
                  </a:rPr>
                  <a:t>期间主触发器接收输入</a:t>
                </a:r>
                <a:r>
                  <a:rPr lang="en-US" altLang="zh-CN" dirty="0">
                    <a:solidFill>
                      <a:srgbClr val="0000CC"/>
                    </a:solidFill>
                  </a:rPr>
                  <a:t>S</a:t>
                </a:r>
                <a:r>
                  <a:rPr lang="zh-CN" altLang="en-US" dirty="0">
                    <a:solidFill>
                      <a:srgbClr val="0000CC"/>
                    </a:solidFill>
                  </a:rPr>
                  <a:t>、</a:t>
                </a:r>
                <a:r>
                  <a:rPr lang="en-US" altLang="zh-CN" dirty="0">
                    <a:solidFill>
                      <a:srgbClr val="0000CC"/>
                    </a:solidFill>
                  </a:rPr>
                  <a:t>R</a:t>
                </a:r>
                <a:r>
                  <a:rPr lang="zh-CN" altLang="en-US" dirty="0">
                    <a:solidFill>
                      <a:srgbClr val="0000CC"/>
                    </a:solidFill>
                  </a:rPr>
                  <a:t>的信号</a:t>
                </a:r>
                <a:r>
                  <a:rPr lang="zh-CN" altLang="en-US" dirty="0"/>
                  <a:t>，被置成相应的状态；</a:t>
                </a:r>
              </a:p>
              <a:p>
                <a:pPr lvl="2"/>
                <a:r>
                  <a:rPr lang="zh-CN" altLang="en-US" dirty="0"/>
                  <a:t>第二步，</a:t>
                </a:r>
                <a:r>
                  <a:rPr lang="en-US" altLang="zh-CN" dirty="0">
                    <a:solidFill>
                      <a:srgbClr val="0000CC"/>
                    </a:solidFill>
                  </a:rPr>
                  <a:t>CP</a:t>
                </a:r>
                <a:r>
                  <a:rPr lang="zh-CN" altLang="en-US" dirty="0">
                    <a:solidFill>
                      <a:srgbClr val="0000CC"/>
                    </a:solidFill>
                  </a:rPr>
                  <a:t>下降沿到来时，从触发器按主触发器的状态翻转</a:t>
                </a:r>
                <a:r>
                  <a:rPr lang="zh-CN" altLang="en-US" dirty="0"/>
                  <a:t>，</a:t>
                </a:r>
                <a:r>
                  <a:rPr lang="en-US" altLang="zh-CN" dirty="0"/>
                  <a:t>Q</a:t>
                </a:r>
                <a:r>
                  <a:rPr lang="zh-CN" altLang="en-US" dirty="0" smtClean="0"/>
                  <a:t>，</a:t>
                </a:r>
                <a14:m>
                  <m:oMath xmlns:m="http://schemas.openxmlformats.org/officeDocument/2006/math">
                    <m:acc>
                      <m:accPr>
                        <m:chr m:val="̅"/>
                        <m:ctrlPr>
                          <a:rPr lang="zh-CN" altLang="en-US" i="1" smtClean="0">
                            <a:latin typeface="Cambria Math" panose="02040503050406030204" pitchFamily="18" charset="0"/>
                          </a:rPr>
                        </m:ctrlPr>
                      </m:accPr>
                      <m:e>
                        <m:r>
                          <a:rPr lang="en-US" altLang="zh-CN" b="1" i="1" smtClean="0">
                            <a:latin typeface="Cambria Math"/>
                          </a:rPr>
                          <m:t>𝑸</m:t>
                        </m:r>
                      </m:e>
                    </m:acc>
                  </m:oMath>
                </a14:m>
                <a:r>
                  <a:rPr lang="zh-CN" altLang="en-US" dirty="0" smtClean="0"/>
                  <a:t>    </a:t>
                </a:r>
                <a:r>
                  <a:rPr lang="zh-CN" altLang="en-US" dirty="0"/>
                  <a:t>端状态的改变发生在</a:t>
                </a:r>
                <a:r>
                  <a:rPr lang="en-US" altLang="zh-CN" dirty="0"/>
                  <a:t>CP</a:t>
                </a:r>
                <a:r>
                  <a:rPr lang="zh-CN" altLang="en-US" dirty="0"/>
                  <a:t>的下降沿。</a:t>
                </a:r>
              </a:p>
              <a:p>
                <a:pPr lvl="1"/>
                <a:r>
                  <a:rPr lang="zh-CN" altLang="en-US" dirty="0"/>
                  <a:t>（</a:t>
                </a:r>
                <a:r>
                  <a:rPr lang="en-US" altLang="zh-CN" dirty="0"/>
                  <a:t>2</a:t>
                </a:r>
                <a:r>
                  <a:rPr lang="zh-CN" altLang="en-US" dirty="0"/>
                  <a:t>）在</a:t>
                </a:r>
                <a:r>
                  <a:rPr lang="en-US" altLang="zh-CN" dirty="0"/>
                  <a:t>CP=1</a:t>
                </a:r>
                <a:r>
                  <a:rPr lang="zh-CN" altLang="en-US" dirty="0"/>
                  <a:t>的全部时间里，</a:t>
                </a:r>
                <a:r>
                  <a:rPr lang="en-US" altLang="zh-CN" dirty="0"/>
                  <a:t>S</a:t>
                </a:r>
                <a:r>
                  <a:rPr lang="zh-CN" altLang="en-US" dirty="0"/>
                  <a:t>、</a:t>
                </a:r>
                <a:r>
                  <a:rPr lang="en-US" altLang="zh-CN" dirty="0"/>
                  <a:t>R</a:t>
                </a:r>
                <a:r>
                  <a:rPr lang="zh-CN" altLang="en-US" dirty="0"/>
                  <a:t>均对主触发器起控制作用，所以必须考虑整个</a:t>
                </a:r>
                <a:r>
                  <a:rPr lang="en-US" altLang="zh-CN" dirty="0"/>
                  <a:t>CP=1</a:t>
                </a:r>
                <a:r>
                  <a:rPr lang="zh-CN" altLang="en-US" dirty="0"/>
                  <a:t>期间里输入信号的变化过程才能确定触发器的状态。</a:t>
                </a:r>
              </a:p>
              <a:p>
                <a:endParaRPr lang="zh-CN" altLang="en-US" dirty="0"/>
              </a:p>
            </p:txBody>
          </p:sp>
        </mc:Choice>
        <mc:Fallback>
          <p:sp>
            <p:nvSpPr>
              <p:cNvPr id="3" name="内容占位符 2"/>
              <p:cNvSpPr>
                <a:spLocks noGrp="1" noRot="1" noChangeAspect="1" noMove="1" noResize="1" noEditPoints="1" noAdjustHandles="1" noChangeArrowheads="1" noChangeShapeType="1" noTextEdit="1"/>
              </p:cNvSpPr>
              <p:nvPr>
                <p:ph idx="1"/>
              </p:nvPr>
            </p:nvSpPr>
            <p:spPr>
              <a:blipFill rotWithShape="1">
                <a:blip r:embed="rId3" cstate="print"/>
                <a:stretch>
                  <a:fillRect l="-75" t="-1540" r="-2689"/>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0C913308-F349-4B6D-A68A-DD1791B4A57B}" type="slidenum">
              <a:rPr lang="zh-CN" altLang="en-US" smtClean="0"/>
              <a:pPr/>
              <a:t>48</a:t>
            </a:fld>
            <a:endParaRPr lang="zh-CN" altLang="en-US"/>
          </a:p>
        </p:txBody>
      </p:sp>
      <p:sp>
        <p:nvSpPr>
          <p:cNvPr id="9" name="标题 1"/>
          <p:cNvSpPr>
            <a:spLocks noGrp="1"/>
          </p:cNvSpPr>
          <p:nvPr>
            <p:ph type="title"/>
          </p:nvPr>
        </p:nvSpPr>
        <p:spPr>
          <a:xfrm>
            <a:off x="1187624" y="1052736"/>
            <a:ext cx="7756351" cy="635794"/>
          </a:xfrm>
        </p:spPr>
        <p:txBody>
          <a:bodyPr/>
          <a:lstStyle/>
          <a:p>
            <a:r>
              <a:rPr lang="en-US" altLang="zh-CN" dirty="0" smtClean="0"/>
              <a:t>2. </a:t>
            </a:r>
            <a:r>
              <a:rPr lang="zh-CN" altLang="en-US" dirty="0" smtClean="0"/>
              <a:t>工作原理</a:t>
            </a:r>
            <a:endParaRPr lang="zh-CN" altLang="en-US" dirty="0"/>
          </a:p>
        </p:txBody>
      </p:sp>
      <p:sp>
        <p:nvSpPr>
          <p:cNvPr id="10" name="标题 1"/>
          <p:cNvSpPr txBox="1">
            <a:spLocks/>
          </p:cNvSpPr>
          <p:nvPr/>
        </p:nvSpPr>
        <p:spPr bwMode="auto">
          <a:xfrm>
            <a:off x="1187624" y="332656"/>
            <a:ext cx="7632848" cy="5669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p>
            <a:pPr lvl="0" fontAlgn="base">
              <a:spcBef>
                <a:spcPct val="0"/>
              </a:spcBef>
              <a:spcAft>
                <a:spcPct val="0"/>
              </a:spcAft>
              <a:defRPr/>
            </a:pPr>
            <a:r>
              <a:rPr kumimoji="1" lang="en-US" altLang="zh-CN" sz="3200" b="1" dirty="0" smtClean="0">
                <a:solidFill>
                  <a:schemeClr val="tx2"/>
                </a:solidFill>
                <a:latin typeface="+mj-lt"/>
                <a:ea typeface="+mj-ea"/>
                <a:cs typeface="+mj-cs"/>
              </a:rPr>
              <a:t>5.2.1 </a:t>
            </a:r>
            <a:r>
              <a:rPr kumimoji="1" lang="zh-CN" altLang="en-US" sz="3200" b="1" dirty="0" smtClean="0">
                <a:solidFill>
                  <a:schemeClr val="tx2"/>
                </a:solidFill>
                <a:latin typeface="+mj-lt"/>
                <a:ea typeface="+mj-ea"/>
                <a:cs typeface="+mj-cs"/>
              </a:rPr>
              <a:t>主从</a:t>
            </a:r>
            <a:r>
              <a:rPr kumimoji="1" lang="en-US" altLang="zh-CN" sz="3200" b="1" dirty="0" smtClean="0">
                <a:solidFill>
                  <a:schemeClr val="tx2"/>
                </a:solidFill>
                <a:latin typeface="+mj-lt"/>
                <a:ea typeface="+mj-ea"/>
                <a:cs typeface="+mj-cs"/>
              </a:rPr>
              <a:t>RS</a:t>
            </a:r>
            <a:r>
              <a:rPr kumimoji="1" lang="zh-CN" altLang="en-US" sz="3200" b="1" dirty="0" smtClean="0">
                <a:solidFill>
                  <a:schemeClr val="tx2"/>
                </a:solidFill>
                <a:latin typeface="+mj-lt"/>
                <a:ea typeface="+mj-ea"/>
                <a:cs typeface="+mj-cs"/>
              </a:rPr>
              <a:t>触发器</a:t>
            </a:r>
            <a:endParaRPr kumimoji="1" lang="zh-CN" altLang="en-US" sz="3200" b="1" dirty="0">
              <a:solidFill>
                <a:schemeClr val="tx2"/>
              </a:solidFill>
              <a:latin typeface="+mj-lt"/>
              <a:ea typeface="+mj-ea"/>
              <a:cs typeface="+mj-cs"/>
            </a:endParaRP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1988840"/>
            <a:ext cx="8487544" cy="4608512"/>
          </a:xfrm>
        </p:spPr>
        <p:txBody>
          <a:bodyPr/>
          <a:lstStyle/>
          <a:p>
            <a:pPr>
              <a:buSzPct val="100000"/>
              <a:buFont typeface="Wingdings" pitchFamily="2" charset="2"/>
              <a:buChar char="p"/>
            </a:pPr>
            <a:r>
              <a:rPr lang="zh-CN" altLang="en-US" sz="2800" dirty="0" smtClean="0">
                <a:solidFill>
                  <a:srgbClr val="0000CC"/>
                </a:solidFill>
                <a:latin typeface="Arial" panose="020B0604020202020204" pitchFamily="34" charset="0"/>
                <a:ea typeface="楷体_GB2312" pitchFamily="49" charset="-122"/>
                <a:sym typeface="+mn-ea"/>
              </a:rPr>
              <a:t>例</a:t>
            </a:r>
            <a:r>
              <a:rPr lang="en-US" altLang="zh-CN" sz="2800" dirty="0" smtClean="0">
                <a:solidFill>
                  <a:srgbClr val="0000CC"/>
                </a:solidFill>
                <a:latin typeface="Arial" panose="020B0604020202020204" pitchFamily="34" charset="0"/>
                <a:ea typeface="楷体_GB2312" pitchFamily="49" charset="-122"/>
                <a:sym typeface="+mn-ea"/>
              </a:rPr>
              <a:t>5.3 </a:t>
            </a:r>
            <a:r>
              <a:rPr lang="zh-CN" altLang="en-US" sz="2800" dirty="0" smtClean="0">
                <a:latin typeface="Arial" panose="020B0604020202020204" pitchFamily="34" charset="0"/>
                <a:sym typeface="+mn-ea"/>
              </a:rPr>
              <a:t>对于图</a:t>
            </a:r>
            <a:r>
              <a:rPr lang="en-US" altLang="zh-CN" sz="2800" dirty="0" smtClean="0">
                <a:latin typeface="Arial" panose="020B0604020202020204" pitchFamily="34" charset="0"/>
                <a:sym typeface="+mn-ea"/>
              </a:rPr>
              <a:t>5.17</a:t>
            </a:r>
            <a:r>
              <a:rPr lang="zh-CN" altLang="en-US" sz="2800" dirty="0" smtClean="0">
                <a:latin typeface="Arial" panose="020B0604020202020204" pitchFamily="34" charset="0"/>
                <a:sym typeface="+mn-ea"/>
              </a:rPr>
              <a:t>所</a:t>
            </a:r>
            <a:r>
              <a:rPr lang="zh-CN" altLang="en-US" sz="2800" dirty="0">
                <a:latin typeface="Arial" panose="020B0604020202020204" pitchFamily="34" charset="0"/>
                <a:sym typeface="+mn-ea"/>
              </a:rPr>
              <a:t>示的主从</a:t>
            </a:r>
            <a:r>
              <a:rPr lang="en-US" altLang="zh-CN" sz="2800" dirty="0">
                <a:latin typeface="Arial" panose="020B0604020202020204" pitchFamily="34" charset="0"/>
                <a:sym typeface="+mn-ea"/>
              </a:rPr>
              <a:t>RS</a:t>
            </a:r>
            <a:r>
              <a:rPr lang="zh-CN" altLang="en-US" sz="2800" dirty="0" smtClean="0">
                <a:latin typeface="Arial" panose="020B0604020202020204" pitchFamily="34" charset="0"/>
                <a:sym typeface="+mn-ea"/>
              </a:rPr>
              <a:t>触发器，若</a:t>
            </a:r>
            <a:r>
              <a:rPr lang="en-US" altLang="zh-CN" sz="2800" dirty="0" smtClean="0">
                <a:latin typeface="Arial" panose="020B0604020202020204" pitchFamily="34" charset="0"/>
                <a:sym typeface="+mn-ea"/>
              </a:rPr>
              <a:t>R</a:t>
            </a:r>
            <a:r>
              <a:rPr lang="zh-CN" altLang="en-US" sz="2800" dirty="0" smtClean="0">
                <a:latin typeface="Arial" panose="020B0604020202020204" pitchFamily="34" charset="0"/>
                <a:sym typeface="+mn-ea"/>
              </a:rPr>
              <a:t>和</a:t>
            </a:r>
            <a:r>
              <a:rPr lang="en-US" altLang="zh-CN" sz="2800" dirty="0" smtClean="0">
                <a:latin typeface="Arial" panose="020B0604020202020204" pitchFamily="34" charset="0"/>
                <a:sym typeface="+mn-ea"/>
              </a:rPr>
              <a:t>S</a:t>
            </a:r>
            <a:r>
              <a:rPr lang="zh-CN" altLang="en-US" sz="2800" dirty="0" smtClean="0">
                <a:latin typeface="Arial" panose="020B0604020202020204" pitchFamily="34" charset="0"/>
                <a:sym typeface="+mn-ea"/>
              </a:rPr>
              <a:t>的</a:t>
            </a:r>
            <a:r>
              <a:rPr lang="zh-CN" altLang="en-US" sz="2800" dirty="0">
                <a:latin typeface="Arial" panose="020B0604020202020204" pitchFamily="34" charset="0"/>
                <a:sym typeface="+mn-ea"/>
              </a:rPr>
              <a:t>电压波形如</a:t>
            </a:r>
            <a:r>
              <a:rPr lang="zh-CN" altLang="en-US" sz="2800" dirty="0" smtClean="0">
                <a:latin typeface="Arial" panose="020B0604020202020204" pitchFamily="34" charset="0"/>
                <a:sym typeface="+mn-ea"/>
              </a:rPr>
              <a:t>图</a:t>
            </a:r>
            <a:r>
              <a:rPr lang="en-US" altLang="zh-CN" sz="2800" dirty="0" smtClean="0">
                <a:latin typeface="Arial" panose="020B0604020202020204" pitchFamily="34" charset="0"/>
                <a:sym typeface="+mn-ea"/>
              </a:rPr>
              <a:t>5.18</a:t>
            </a:r>
            <a:r>
              <a:rPr lang="zh-CN" altLang="en-US" sz="2800" dirty="0" smtClean="0">
                <a:latin typeface="Arial" panose="020B0604020202020204" pitchFamily="34" charset="0"/>
                <a:sym typeface="+mn-ea"/>
              </a:rPr>
              <a:t>所</a:t>
            </a:r>
            <a:r>
              <a:rPr lang="zh-CN" altLang="en-US" sz="2800" dirty="0">
                <a:latin typeface="Arial" panose="020B0604020202020204" pitchFamily="34" charset="0"/>
                <a:sym typeface="+mn-ea"/>
              </a:rPr>
              <a:t>示</a:t>
            </a:r>
            <a:r>
              <a:rPr lang="zh-CN" altLang="en-US" sz="2800" dirty="0" smtClean="0">
                <a:latin typeface="Arial" panose="020B0604020202020204" pitchFamily="34" charset="0"/>
                <a:sym typeface="+mn-ea"/>
              </a:rPr>
              <a:t>，画出触发器的输出波形图。设触发器的初态</a:t>
            </a:r>
            <a:r>
              <a:rPr lang="en-US" altLang="zh-CN" sz="2800" dirty="0" smtClean="0">
                <a:latin typeface="Arial" panose="020B0604020202020204" pitchFamily="34" charset="0"/>
                <a:sym typeface="+mn-ea"/>
              </a:rPr>
              <a:t>Q</a:t>
            </a:r>
            <a:r>
              <a:rPr lang="zh-CN" altLang="en-US" sz="2800" dirty="0" smtClean="0">
                <a:latin typeface="Arial" panose="020B0604020202020204" pitchFamily="34" charset="0"/>
                <a:sym typeface="+mn-ea"/>
              </a:rPr>
              <a:t> </a:t>
            </a:r>
            <a:r>
              <a:rPr lang="en-US" altLang="zh-CN" sz="2800" dirty="0" smtClean="0">
                <a:latin typeface="Arial" panose="020B0604020202020204" pitchFamily="34" charset="0"/>
                <a:sym typeface="+mn-ea"/>
              </a:rPr>
              <a:t>= 0</a:t>
            </a:r>
            <a:r>
              <a:rPr lang="zh-CN" altLang="en-US" sz="2800" dirty="0" smtClean="0">
                <a:latin typeface="Arial" panose="020B0604020202020204" pitchFamily="34" charset="0"/>
                <a:sym typeface="+mn-ea"/>
              </a:rPr>
              <a:t>。</a:t>
            </a:r>
            <a:endParaRPr lang="en-US" altLang="zh-CN" sz="2800" dirty="0" smtClean="0">
              <a:latin typeface="Arial" panose="020B0604020202020204" pitchFamily="34" charset="0"/>
              <a:sym typeface="+mn-ea"/>
            </a:endParaRPr>
          </a:p>
          <a:p>
            <a:pPr>
              <a:buSzPct val="100000"/>
              <a:buFont typeface="Wingdings" pitchFamily="2" charset="2"/>
              <a:buChar char="p"/>
            </a:pPr>
            <a:r>
              <a:rPr lang="en-US" altLang="zh-CN" sz="2800" dirty="0" smtClean="0">
                <a:latin typeface="Arial" panose="020B0604020202020204" pitchFamily="34" charset="0"/>
                <a:sym typeface="+mn-ea"/>
              </a:rPr>
              <a:t> </a:t>
            </a:r>
            <a:r>
              <a:rPr lang="zh-CN" altLang="en-US" sz="2800" dirty="0" smtClean="0">
                <a:solidFill>
                  <a:srgbClr val="0000CC"/>
                </a:solidFill>
                <a:latin typeface="Arial" panose="020B0604020202020204" pitchFamily="34" charset="0"/>
                <a:sym typeface="+mn-ea"/>
              </a:rPr>
              <a:t>解</a:t>
            </a:r>
            <a:r>
              <a:rPr lang="zh-CN" altLang="en-US" sz="2800" dirty="0" smtClean="0">
                <a:latin typeface="Arial" panose="020B0604020202020204" pitchFamily="34" charset="0"/>
                <a:sym typeface="+mn-ea"/>
              </a:rPr>
              <a:t>：</a:t>
            </a:r>
            <a:endParaRPr lang="zh-CN" altLang="en-US" sz="2800"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49</a:t>
            </a:fld>
            <a:endParaRPr lang="zh-CN" altLang="en-US"/>
          </a:p>
        </p:txBody>
      </p:sp>
      <p:pic>
        <p:nvPicPr>
          <p:cNvPr id="244747" name="图片 244746" descr="4-2-13"/>
          <p:cNvPicPr>
            <a:picLocks noChangeAspect="1"/>
          </p:cNvPicPr>
          <p:nvPr/>
        </p:nvPicPr>
        <p:blipFill>
          <a:blip r:embed="rId2" cstate="print">
            <a:clrChange>
              <a:clrFrom>
                <a:srgbClr val="F8F9F3"/>
              </a:clrFrom>
              <a:clrTo>
                <a:srgbClr val="F8F9F3">
                  <a:alpha val="0"/>
                </a:srgbClr>
              </a:clrTo>
            </a:clrChange>
            <a:lum bright="-6000" contrast="30000"/>
          </a:blip>
          <a:stretch>
            <a:fillRect/>
          </a:stretch>
        </p:blipFill>
        <p:spPr>
          <a:xfrm>
            <a:off x="2627784" y="3254913"/>
            <a:ext cx="5074448" cy="3223039"/>
          </a:xfrm>
          <a:prstGeom prst="rect">
            <a:avLst/>
          </a:prstGeom>
          <a:noFill/>
          <a:ln w="9525">
            <a:noFill/>
          </a:ln>
        </p:spPr>
      </p:pic>
      <p:sp>
        <p:nvSpPr>
          <p:cNvPr id="8" name="标题 1"/>
          <p:cNvSpPr>
            <a:spLocks noGrp="1"/>
          </p:cNvSpPr>
          <p:nvPr>
            <p:ph type="title"/>
          </p:nvPr>
        </p:nvSpPr>
        <p:spPr>
          <a:xfrm>
            <a:off x="1187624" y="1052736"/>
            <a:ext cx="7756351" cy="635794"/>
          </a:xfrm>
        </p:spPr>
        <p:txBody>
          <a:bodyPr/>
          <a:lstStyle/>
          <a:p>
            <a:r>
              <a:rPr lang="en-US" altLang="zh-CN" dirty="0" smtClean="0"/>
              <a:t>2. </a:t>
            </a:r>
            <a:r>
              <a:rPr lang="zh-CN" altLang="en-US" dirty="0" smtClean="0"/>
              <a:t>工作原理</a:t>
            </a:r>
            <a:endParaRPr lang="zh-CN" altLang="en-US" dirty="0"/>
          </a:p>
        </p:txBody>
      </p:sp>
      <p:sp>
        <p:nvSpPr>
          <p:cNvPr id="11" name="标题 1"/>
          <p:cNvSpPr txBox="1">
            <a:spLocks/>
          </p:cNvSpPr>
          <p:nvPr/>
        </p:nvSpPr>
        <p:spPr bwMode="auto">
          <a:xfrm>
            <a:off x="1187624" y="332656"/>
            <a:ext cx="7632848" cy="5669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p>
            <a:pPr lvl="0" fontAlgn="base">
              <a:spcBef>
                <a:spcPct val="0"/>
              </a:spcBef>
              <a:spcAft>
                <a:spcPct val="0"/>
              </a:spcAft>
              <a:defRPr/>
            </a:pPr>
            <a:r>
              <a:rPr kumimoji="1" lang="en-US" altLang="zh-CN" sz="3200" b="1" dirty="0" smtClean="0">
                <a:solidFill>
                  <a:schemeClr val="tx2"/>
                </a:solidFill>
                <a:latin typeface="+mj-lt"/>
                <a:ea typeface="+mj-ea"/>
                <a:cs typeface="+mj-cs"/>
              </a:rPr>
              <a:t>5.2.1 </a:t>
            </a:r>
            <a:r>
              <a:rPr kumimoji="1" lang="zh-CN" altLang="en-US" sz="3200" b="1" dirty="0" smtClean="0">
                <a:solidFill>
                  <a:schemeClr val="tx2"/>
                </a:solidFill>
                <a:latin typeface="+mj-lt"/>
                <a:ea typeface="+mj-ea"/>
                <a:cs typeface="+mj-cs"/>
              </a:rPr>
              <a:t>主从</a:t>
            </a:r>
            <a:r>
              <a:rPr kumimoji="1" lang="en-US" altLang="zh-CN" sz="3200" b="1" dirty="0" smtClean="0">
                <a:solidFill>
                  <a:schemeClr val="tx2"/>
                </a:solidFill>
                <a:latin typeface="+mj-lt"/>
                <a:ea typeface="+mj-ea"/>
                <a:cs typeface="+mj-cs"/>
              </a:rPr>
              <a:t>RS</a:t>
            </a:r>
            <a:r>
              <a:rPr kumimoji="1" lang="zh-CN" altLang="en-US" sz="3200" b="1" dirty="0" smtClean="0">
                <a:solidFill>
                  <a:schemeClr val="tx2"/>
                </a:solidFill>
                <a:latin typeface="+mj-lt"/>
                <a:ea typeface="+mj-ea"/>
                <a:cs typeface="+mj-cs"/>
              </a:rPr>
              <a:t>触发器</a:t>
            </a:r>
            <a:endParaRPr kumimoji="1" lang="zh-CN" altLang="en-US" sz="3200" b="1" dirty="0">
              <a:solidFill>
                <a:schemeClr val="tx2"/>
              </a:solidFill>
              <a:latin typeface="+mj-lt"/>
              <a:ea typeface="+mj-ea"/>
              <a:cs typeface="+mj-cs"/>
            </a:endParaRP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0C913308-F349-4B6D-A68A-DD1791B4A57B}" type="slidenum">
              <a:rPr lang="zh-CN" altLang="en-US" smtClean="0"/>
              <a:pPr/>
              <a:t>50</a:t>
            </a:fld>
            <a:endParaRPr lang="zh-CN" altLang="en-US"/>
          </a:p>
        </p:txBody>
      </p:sp>
      <p:sp>
        <p:nvSpPr>
          <p:cNvPr id="251910" name="文本框 251909"/>
          <p:cNvSpPr txBox="1"/>
          <p:nvPr/>
        </p:nvSpPr>
        <p:spPr>
          <a:xfrm>
            <a:off x="1042988" y="2803208"/>
            <a:ext cx="7273925" cy="368300"/>
          </a:xfrm>
          <a:prstGeom prst="rect">
            <a:avLst/>
          </a:prstGeom>
          <a:noFill/>
          <a:ln w="9525">
            <a:noFill/>
          </a:ln>
        </p:spPr>
        <p:txBody>
          <a:bodyPr>
            <a:spAutoFit/>
          </a:bodyPr>
          <a:lstStyle/>
          <a:p>
            <a:pPr>
              <a:spcBef>
                <a:spcPct val="50000"/>
              </a:spcBef>
            </a:pPr>
            <a:r>
              <a:rPr lang="en-US" altLang="zh-CN" b="1" dirty="0">
                <a:latin typeface="Arial" panose="020B0604020202020204" pitchFamily="34" charset="0"/>
              </a:rPr>
              <a:t>       </a:t>
            </a:r>
          </a:p>
        </p:txBody>
      </p:sp>
      <p:pic>
        <p:nvPicPr>
          <p:cNvPr id="251912" name="图片 251911" descr="RS-FF-ZC"/>
          <p:cNvPicPr>
            <a:picLocks noChangeAspect="1"/>
          </p:cNvPicPr>
          <p:nvPr/>
        </p:nvPicPr>
        <p:blipFill>
          <a:blip r:embed="rId3" cstate="print">
            <a:clrChange>
              <a:clrFrom>
                <a:srgbClr val="F1F2EC"/>
              </a:clrFrom>
              <a:clrTo>
                <a:srgbClr val="F1F2EC">
                  <a:alpha val="0"/>
                </a:srgbClr>
              </a:clrTo>
            </a:clrChange>
            <a:lum bright="-6000" contrast="36000"/>
          </a:blip>
          <a:stretch>
            <a:fillRect/>
          </a:stretch>
        </p:blipFill>
        <p:spPr>
          <a:xfrm>
            <a:off x="3115628" y="804863"/>
            <a:ext cx="4700587" cy="5976937"/>
          </a:xfrm>
          <a:prstGeom prst="rect">
            <a:avLst/>
          </a:prstGeom>
          <a:noFill/>
          <a:ln w="9525">
            <a:noFill/>
          </a:ln>
        </p:spPr>
      </p:pic>
      <p:sp>
        <p:nvSpPr>
          <p:cNvPr id="251913" name="文本框 251912"/>
          <p:cNvSpPr txBox="1"/>
          <p:nvPr/>
        </p:nvSpPr>
        <p:spPr>
          <a:xfrm>
            <a:off x="539750" y="2658745"/>
            <a:ext cx="2663825" cy="398780"/>
          </a:xfrm>
          <a:prstGeom prst="rect">
            <a:avLst/>
          </a:prstGeom>
          <a:noFill/>
          <a:ln w="9525">
            <a:noFill/>
          </a:ln>
        </p:spPr>
        <p:txBody>
          <a:bodyPr>
            <a:spAutoFit/>
          </a:bodyPr>
          <a:lstStyle/>
          <a:p>
            <a:pPr>
              <a:spcBef>
                <a:spcPct val="50000"/>
              </a:spcBef>
            </a:pPr>
            <a:r>
              <a:rPr lang="zh-CN" altLang="en-US" sz="2000" b="1" dirty="0">
                <a:latin typeface="楷体_GB2312" pitchFamily="49" charset="-122"/>
                <a:ea typeface="楷体_GB2312" pitchFamily="49" charset="-122"/>
              </a:rPr>
              <a:t>主从</a:t>
            </a:r>
            <a:r>
              <a:rPr lang="en-US" altLang="zh-CN" sz="2000" b="1" dirty="0">
                <a:latin typeface="楷体_GB2312" pitchFamily="49" charset="-122"/>
                <a:ea typeface="楷体_GB2312" pitchFamily="49" charset="-122"/>
              </a:rPr>
              <a:t>RS-FF</a:t>
            </a:r>
            <a:r>
              <a:rPr lang="zh-CN" altLang="en-US" sz="2000" b="1" dirty="0">
                <a:latin typeface="楷体_GB2312" pitchFamily="49" charset="-122"/>
                <a:ea typeface="楷体_GB2312" pitchFamily="49" charset="-122"/>
              </a:rPr>
              <a:t>波形图</a:t>
            </a:r>
          </a:p>
        </p:txBody>
      </p:sp>
      <p:grpSp>
        <p:nvGrpSpPr>
          <p:cNvPr id="251925" name="组合 251924"/>
          <p:cNvGrpSpPr/>
          <p:nvPr/>
        </p:nvGrpSpPr>
        <p:grpSpPr>
          <a:xfrm>
            <a:off x="4284663" y="1052195"/>
            <a:ext cx="2735262" cy="503238"/>
            <a:chOff x="2699" y="391"/>
            <a:chExt cx="1723" cy="317"/>
          </a:xfrm>
        </p:grpSpPr>
        <p:sp>
          <p:nvSpPr>
            <p:cNvPr id="251914" name="直接连接符 251913"/>
            <p:cNvSpPr/>
            <p:nvPr/>
          </p:nvSpPr>
          <p:spPr>
            <a:xfrm>
              <a:off x="2699" y="391"/>
              <a:ext cx="0" cy="317"/>
            </a:xfrm>
            <a:prstGeom prst="line">
              <a:avLst/>
            </a:prstGeom>
            <a:ln w="28575" cap="flat" cmpd="sng">
              <a:solidFill>
                <a:srgbClr val="FF0000"/>
              </a:solidFill>
              <a:prstDash val="solid"/>
              <a:headEnd type="none" w="med" len="med"/>
              <a:tailEnd type="triangle" w="med" len="med"/>
            </a:ln>
          </p:spPr>
        </p:sp>
        <p:sp>
          <p:nvSpPr>
            <p:cNvPr id="251915" name="直接连接符 251914"/>
            <p:cNvSpPr/>
            <p:nvPr/>
          </p:nvSpPr>
          <p:spPr>
            <a:xfrm>
              <a:off x="3061" y="391"/>
              <a:ext cx="0" cy="317"/>
            </a:xfrm>
            <a:prstGeom prst="line">
              <a:avLst/>
            </a:prstGeom>
            <a:ln w="28575" cap="flat" cmpd="sng">
              <a:solidFill>
                <a:srgbClr val="FF0000"/>
              </a:solidFill>
              <a:prstDash val="solid"/>
              <a:headEnd type="none" w="med" len="med"/>
              <a:tailEnd type="triangle" w="med" len="med"/>
            </a:ln>
          </p:spPr>
        </p:sp>
        <p:sp>
          <p:nvSpPr>
            <p:cNvPr id="251916" name="直接连接符 251915"/>
            <p:cNvSpPr/>
            <p:nvPr/>
          </p:nvSpPr>
          <p:spPr>
            <a:xfrm>
              <a:off x="3379" y="391"/>
              <a:ext cx="0" cy="317"/>
            </a:xfrm>
            <a:prstGeom prst="line">
              <a:avLst/>
            </a:prstGeom>
            <a:ln w="28575" cap="flat" cmpd="sng">
              <a:solidFill>
                <a:srgbClr val="FF0000"/>
              </a:solidFill>
              <a:prstDash val="solid"/>
              <a:headEnd type="none" w="med" len="med"/>
              <a:tailEnd type="triangle" w="med" len="med"/>
            </a:ln>
          </p:spPr>
        </p:sp>
        <p:sp>
          <p:nvSpPr>
            <p:cNvPr id="251917" name="直接连接符 251916"/>
            <p:cNvSpPr/>
            <p:nvPr/>
          </p:nvSpPr>
          <p:spPr>
            <a:xfrm>
              <a:off x="3742" y="391"/>
              <a:ext cx="0" cy="317"/>
            </a:xfrm>
            <a:prstGeom prst="line">
              <a:avLst/>
            </a:prstGeom>
            <a:ln w="28575" cap="flat" cmpd="sng">
              <a:solidFill>
                <a:srgbClr val="FF0000"/>
              </a:solidFill>
              <a:prstDash val="solid"/>
              <a:headEnd type="none" w="med" len="med"/>
              <a:tailEnd type="triangle" w="med" len="med"/>
            </a:ln>
          </p:spPr>
        </p:sp>
        <p:sp>
          <p:nvSpPr>
            <p:cNvPr id="251918" name="直接连接符 251917"/>
            <p:cNvSpPr/>
            <p:nvPr/>
          </p:nvSpPr>
          <p:spPr>
            <a:xfrm>
              <a:off x="4105" y="391"/>
              <a:ext cx="0" cy="317"/>
            </a:xfrm>
            <a:prstGeom prst="line">
              <a:avLst/>
            </a:prstGeom>
            <a:ln w="28575" cap="flat" cmpd="sng">
              <a:solidFill>
                <a:srgbClr val="FF0000"/>
              </a:solidFill>
              <a:prstDash val="solid"/>
              <a:headEnd type="none" w="med" len="med"/>
              <a:tailEnd type="triangle" w="med" len="med"/>
            </a:ln>
          </p:spPr>
        </p:sp>
        <p:sp>
          <p:nvSpPr>
            <p:cNvPr id="251919" name="直接连接符 251918"/>
            <p:cNvSpPr/>
            <p:nvPr/>
          </p:nvSpPr>
          <p:spPr>
            <a:xfrm>
              <a:off x="4422" y="391"/>
              <a:ext cx="0" cy="317"/>
            </a:xfrm>
            <a:prstGeom prst="line">
              <a:avLst/>
            </a:prstGeom>
            <a:ln w="28575" cap="flat" cmpd="sng">
              <a:solidFill>
                <a:srgbClr val="FF0000"/>
              </a:solidFill>
              <a:prstDash val="solid"/>
              <a:headEnd type="none" w="med" len="med"/>
              <a:tailEnd type="triangle" w="med" len="med"/>
            </a:ln>
          </p:spPr>
        </p:sp>
      </p:grpSp>
      <p:sp>
        <p:nvSpPr>
          <p:cNvPr id="251920" name="圆角矩形标注 251919"/>
          <p:cNvSpPr/>
          <p:nvPr/>
        </p:nvSpPr>
        <p:spPr>
          <a:xfrm>
            <a:off x="1331913" y="3355658"/>
            <a:ext cx="1366837" cy="431800"/>
          </a:xfrm>
          <a:prstGeom prst="wedgeRoundRectCallout">
            <a:avLst>
              <a:gd name="adj1" fmla="val 90069"/>
              <a:gd name="adj2" fmla="val 110296"/>
              <a:gd name="adj3" fmla="val 16667"/>
            </a:avLst>
          </a:prstGeom>
          <a:solidFill>
            <a:schemeClr val="accent1"/>
          </a:solidFill>
          <a:ln w="28575" cap="flat" cmpd="sng">
            <a:solidFill>
              <a:schemeClr val="tx1"/>
            </a:solidFill>
            <a:prstDash val="solid"/>
            <a:miter/>
            <a:headEnd type="none" w="med" len="med"/>
            <a:tailEnd type="none" w="med" len="med"/>
          </a:ln>
        </p:spPr>
        <p:txBody>
          <a:bodyPr/>
          <a:lstStyle/>
          <a:p>
            <a:pPr algn="ctr"/>
            <a:r>
              <a:rPr lang="zh-CN" altLang="en-US" sz="1800" b="1" dirty="0">
                <a:solidFill>
                  <a:srgbClr val="FF0000"/>
                </a:solidFill>
                <a:latin typeface="Arial" panose="020B0604020202020204" pitchFamily="34" charset="0"/>
              </a:rPr>
              <a:t>主触发器</a:t>
            </a:r>
          </a:p>
        </p:txBody>
      </p:sp>
      <p:sp>
        <p:nvSpPr>
          <p:cNvPr id="251921" name="圆角矩形标注 251920"/>
          <p:cNvSpPr/>
          <p:nvPr/>
        </p:nvSpPr>
        <p:spPr>
          <a:xfrm>
            <a:off x="1403350" y="4868545"/>
            <a:ext cx="1366838" cy="431800"/>
          </a:xfrm>
          <a:prstGeom prst="wedgeRoundRectCallout">
            <a:avLst>
              <a:gd name="adj1" fmla="val 90069"/>
              <a:gd name="adj2" fmla="val 110296"/>
              <a:gd name="adj3" fmla="val 16667"/>
            </a:avLst>
          </a:prstGeom>
          <a:solidFill>
            <a:schemeClr val="accent1"/>
          </a:solidFill>
          <a:ln w="28575" cap="flat" cmpd="sng">
            <a:solidFill>
              <a:schemeClr val="tx1"/>
            </a:solidFill>
            <a:prstDash val="solid"/>
            <a:miter/>
            <a:headEnd type="none" w="med" len="med"/>
            <a:tailEnd type="none" w="med" len="med"/>
          </a:ln>
        </p:spPr>
        <p:txBody>
          <a:bodyPr/>
          <a:lstStyle/>
          <a:p>
            <a:pPr algn="ctr"/>
            <a:r>
              <a:rPr lang="zh-CN" altLang="en-US" sz="1800" b="1" dirty="0">
                <a:solidFill>
                  <a:srgbClr val="FF0000"/>
                </a:solidFill>
                <a:latin typeface="Arial" panose="020B0604020202020204" pitchFamily="34" charset="0"/>
              </a:rPr>
              <a:t>从触发器</a:t>
            </a:r>
          </a:p>
        </p:txBody>
      </p:sp>
      <p:graphicFrame>
        <p:nvGraphicFramePr>
          <p:cNvPr id="251922" name="对象 251921"/>
          <p:cNvGraphicFramePr>
            <a:graphicFrameLocks noChangeAspect="1"/>
          </p:cNvGraphicFramePr>
          <p:nvPr/>
        </p:nvGraphicFramePr>
        <p:xfrm>
          <a:off x="3059832" y="3356992"/>
          <a:ext cx="288032" cy="288032"/>
        </p:xfrm>
        <a:graphic>
          <a:graphicData uri="http://schemas.openxmlformats.org/presentationml/2006/ole">
            <p:oleObj spid="_x0000_s102619" r:id="rId4" imgW="177492" imgH="177492" progId="">
              <p:embed/>
            </p:oleObj>
          </a:graphicData>
        </a:graphic>
      </p:graphicFrame>
      <p:graphicFrame>
        <p:nvGraphicFramePr>
          <p:cNvPr id="251923" name="对象 251922"/>
          <p:cNvGraphicFramePr>
            <a:graphicFrameLocks noChangeAspect="1"/>
          </p:cNvGraphicFramePr>
          <p:nvPr/>
        </p:nvGraphicFramePr>
        <p:xfrm>
          <a:off x="3059832" y="4149080"/>
          <a:ext cx="288032" cy="267371"/>
        </p:xfrm>
        <a:graphic>
          <a:graphicData uri="http://schemas.openxmlformats.org/presentationml/2006/ole">
            <p:oleObj spid="_x0000_s102620" r:id="rId5" imgW="177492" imgH="164814" progId="">
              <p:embed/>
            </p:oleObj>
          </a:graphicData>
        </a:graphic>
      </p:graphicFrame>
      <p:sp>
        <p:nvSpPr>
          <p:cNvPr id="251924" name="矩形 251923"/>
          <p:cNvSpPr/>
          <p:nvPr/>
        </p:nvSpPr>
        <p:spPr>
          <a:xfrm>
            <a:off x="3059113" y="5082858"/>
            <a:ext cx="4608512" cy="1657350"/>
          </a:xfrm>
          <a:prstGeom prst="rect">
            <a:avLst/>
          </a:prstGeom>
          <a:solidFill>
            <a:schemeClr val="bg1"/>
          </a:solidFill>
          <a:ln w="28575" cap="flat" cmpd="sng">
            <a:solidFill>
              <a:srgbClr val="FF0000"/>
            </a:solidFill>
            <a:prstDash val="dash"/>
            <a:miter/>
            <a:headEnd type="none" w="med" len="med"/>
            <a:tailEnd type="none" w="med" len="med"/>
          </a:ln>
        </p:spPr>
        <p:txBody>
          <a:bodyPr/>
          <a:lstStyle/>
          <a:p>
            <a:endParaRPr lang="zh-CN" altLang="en-US"/>
          </a:p>
        </p:txBody>
      </p:sp>
      <p:pic>
        <p:nvPicPr>
          <p:cNvPr id="244747" name="图片 244746" descr="4-2-13"/>
          <p:cNvPicPr>
            <a:picLocks noChangeAspect="1"/>
          </p:cNvPicPr>
          <p:nvPr/>
        </p:nvPicPr>
        <p:blipFill>
          <a:blip r:embed="rId6" cstate="print">
            <a:clrChange>
              <a:clrFrom>
                <a:srgbClr val="F8F9F3"/>
              </a:clrFrom>
              <a:clrTo>
                <a:srgbClr val="F8F9F3">
                  <a:alpha val="0"/>
                </a:srgbClr>
              </a:clrTo>
            </a:clrChange>
            <a:lum bright="-6000" contrast="30000"/>
          </a:blip>
          <a:stretch>
            <a:fillRect/>
          </a:stretch>
        </p:blipFill>
        <p:spPr>
          <a:xfrm>
            <a:off x="225108" y="529273"/>
            <a:ext cx="2833993" cy="1800013"/>
          </a:xfrm>
          <a:prstGeom prst="rect">
            <a:avLst/>
          </a:prstGeom>
          <a:solidFill>
            <a:schemeClr val="bg1"/>
          </a:solidFill>
          <a:ln w="9525">
            <a:solidFill>
              <a:schemeClr val="accent1"/>
            </a:solid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xit" presetSubtype="10" fill="hold" nodeType="clickEffect">
                                  <p:stCondLst>
                                    <p:cond delay="0"/>
                                  </p:stCondLst>
                                  <p:childTnLst>
                                    <p:animEffect transition="out" filter="blinds(horizontal)">
                                      <p:cBhvr>
                                        <p:cTn id="6" dur="500"/>
                                        <p:tgtEl>
                                          <p:spTgt spid="251924"/>
                                        </p:tgtEl>
                                      </p:cBhvr>
                                    </p:animEffect>
                                    <p:set>
                                      <p:cBhvr>
                                        <p:cTn id="7" dur="1" fill="hold">
                                          <p:stCondLst>
                                            <p:cond delay="499"/>
                                          </p:stCondLst>
                                        </p:cTn>
                                        <p:tgtEl>
                                          <p:spTgt spid="25192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a:xfrm>
            <a:off x="467544" y="1916832"/>
            <a:ext cx="8487544" cy="4680520"/>
          </a:xfrm>
        </p:spPr>
        <p:txBody>
          <a:bodyPr/>
          <a:lstStyle/>
          <a:p>
            <a:pPr>
              <a:buSzPct val="100000"/>
              <a:buFont typeface="Wingdings" pitchFamily="2" charset="2"/>
              <a:buChar char="p"/>
            </a:pPr>
            <a:r>
              <a:rPr lang="zh-CN" altLang="en-US" sz="2800" dirty="0"/>
              <a:t>主从JK-FF</a:t>
            </a:r>
          </a:p>
        </p:txBody>
      </p:sp>
      <p:sp>
        <p:nvSpPr>
          <p:cNvPr id="2" name="灯片编号占位符 1"/>
          <p:cNvSpPr>
            <a:spLocks noGrp="1"/>
          </p:cNvSpPr>
          <p:nvPr>
            <p:ph type="sldNum" sz="quarter" idx="12"/>
          </p:nvPr>
        </p:nvSpPr>
        <p:spPr/>
        <p:txBody>
          <a:bodyPr/>
          <a:lstStyle/>
          <a:p>
            <a:fld id="{0C913308-F349-4B6D-A68A-DD1791B4A57B}" type="slidenum">
              <a:rPr lang="zh-CN" altLang="en-US" smtClean="0"/>
              <a:pPr/>
              <a:t>51</a:t>
            </a:fld>
            <a:endParaRPr lang="zh-CN" altLang="en-US"/>
          </a:p>
        </p:txBody>
      </p:sp>
      <p:sp>
        <p:nvSpPr>
          <p:cNvPr id="249862" name="文本框 249861"/>
          <p:cNvSpPr txBox="1"/>
          <p:nvPr/>
        </p:nvSpPr>
        <p:spPr>
          <a:xfrm>
            <a:off x="1042988" y="3377248"/>
            <a:ext cx="7273925" cy="457200"/>
          </a:xfrm>
          <a:prstGeom prst="rect">
            <a:avLst/>
          </a:prstGeom>
          <a:noFill/>
          <a:ln w="9525">
            <a:noFill/>
          </a:ln>
        </p:spPr>
        <p:txBody>
          <a:bodyPr>
            <a:spAutoFit/>
          </a:bodyPr>
          <a:lstStyle/>
          <a:p>
            <a:pPr>
              <a:spcBef>
                <a:spcPct val="50000"/>
              </a:spcBef>
            </a:pPr>
            <a:r>
              <a:rPr lang="en-US" altLang="zh-CN" b="1" dirty="0">
                <a:latin typeface="Arial" panose="020B0604020202020204" pitchFamily="34" charset="0"/>
              </a:rPr>
              <a:t>       </a:t>
            </a:r>
          </a:p>
        </p:txBody>
      </p:sp>
      <p:sp>
        <p:nvSpPr>
          <p:cNvPr id="249864" name="文本框 249863"/>
          <p:cNvSpPr txBox="1"/>
          <p:nvPr/>
        </p:nvSpPr>
        <p:spPr>
          <a:xfrm>
            <a:off x="653733" y="6361748"/>
            <a:ext cx="3816350" cy="398780"/>
          </a:xfrm>
          <a:prstGeom prst="rect">
            <a:avLst/>
          </a:prstGeom>
          <a:noFill/>
          <a:ln w="9525">
            <a:noFill/>
          </a:ln>
        </p:spPr>
        <p:txBody>
          <a:bodyPr>
            <a:spAutoFit/>
          </a:bodyPr>
          <a:lstStyle/>
          <a:p>
            <a:pPr>
              <a:spcBef>
                <a:spcPct val="50000"/>
              </a:spcBef>
            </a:pPr>
            <a:r>
              <a:rPr lang="zh-CN" altLang="en-US" sz="2000" b="1" dirty="0">
                <a:latin typeface="楷体_GB2312" pitchFamily="49" charset="-122"/>
                <a:ea typeface="楷体_GB2312" pitchFamily="49" charset="-122"/>
              </a:rPr>
              <a:t>图</a:t>
            </a:r>
            <a:r>
              <a:rPr lang="en-US" altLang="zh-CN" sz="2000" b="1">
                <a:latin typeface="楷体_GB2312" pitchFamily="49" charset="-122"/>
                <a:ea typeface="楷体_GB2312" pitchFamily="49" charset="-122"/>
              </a:rPr>
              <a:t>  </a:t>
            </a:r>
            <a:r>
              <a:rPr lang="zh-CN" altLang="en-US" sz="2000" b="1" dirty="0">
                <a:latin typeface="楷体_GB2312" pitchFamily="49" charset="-122"/>
                <a:ea typeface="楷体_GB2312" pitchFamily="49" charset="-122"/>
              </a:rPr>
              <a:t>主从</a:t>
            </a:r>
            <a:r>
              <a:rPr lang="en-US" altLang="zh-CN" sz="2000" b="1" dirty="0">
                <a:latin typeface="楷体_GB2312" pitchFamily="49" charset="-122"/>
                <a:ea typeface="楷体_GB2312" pitchFamily="49" charset="-122"/>
              </a:rPr>
              <a:t>JK-FF</a:t>
            </a:r>
            <a:r>
              <a:rPr lang="zh-CN" altLang="en-US" sz="2000" b="1" dirty="0">
                <a:latin typeface="楷体_GB2312" pitchFamily="49" charset="-122"/>
                <a:ea typeface="楷体_GB2312" pitchFamily="49" charset="-122"/>
              </a:rPr>
              <a:t>的逻辑图</a:t>
            </a:r>
            <a:r>
              <a:rPr lang="zh-CN" altLang="en-US" sz="2000" dirty="0">
                <a:latin typeface="楷体_GB2312" pitchFamily="49" charset="-122"/>
                <a:ea typeface="楷体_GB2312" pitchFamily="49" charset="-122"/>
              </a:rPr>
              <a:t>  </a:t>
            </a:r>
          </a:p>
        </p:txBody>
      </p:sp>
      <p:sp>
        <p:nvSpPr>
          <p:cNvPr id="249865" name="文本框 249864"/>
          <p:cNvSpPr txBox="1"/>
          <p:nvPr/>
        </p:nvSpPr>
        <p:spPr>
          <a:xfrm>
            <a:off x="5400675" y="1196752"/>
            <a:ext cx="3743325" cy="398780"/>
          </a:xfrm>
          <a:prstGeom prst="rect">
            <a:avLst/>
          </a:prstGeom>
          <a:noFill/>
          <a:ln w="9525">
            <a:noFill/>
          </a:ln>
        </p:spPr>
        <p:txBody>
          <a:bodyPr>
            <a:spAutoFit/>
          </a:bodyPr>
          <a:lstStyle/>
          <a:p>
            <a:pPr>
              <a:spcBef>
                <a:spcPct val="50000"/>
              </a:spcBef>
            </a:pPr>
            <a:r>
              <a:rPr lang="zh-CN" altLang="en-US" sz="2000" b="1" dirty="0">
                <a:latin typeface="楷体_GB2312" pitchFamily="49" charset="-122"/>
                <a:ea typeface="楷体_GB2312" pitchFamily="49" charset="-122"/>
              </a:rPr>
              <a:t>表</a:t>
            </a:r>
            <a:r>
              <a:rPr lang="en-US" altLang="zh-CN" sz="2000" b="1" dirty="0">
                <a:latin typeface="楷体_GB2312" pitchFamily="49" charset="-122"/>
                <a:ea typeface="楷体_GB2312" pitchFamily="49" charset="-122"/>
              </a:rPr>
              <a:t>  </a:t>
            </a:r>
            <a:r>
              <a:rPr lang="zh-CN" altLang="en-US" sz="2000" b="1" dirty="0">
                <a:latin typeface="楷体_GB2312" pitchFamily="49" charset="-122"/>
                <a:ea typeface="楷体_GB2312" pitchFamily="49" charset="-122"/>
              </a:rPr>
              <a:t>主从</a:t>
            </a:r>
            <a:r>
              <a:rPr lang="en-US" altLang="zh-CN" sz="2000" b="1" dirty="0">
                <a:latin typeface="楷体_GB2312" pitchFamily="49" charset="-122"/>
                <a:ea typeface="楷体_GB2312" pitchFamily="49" charset="-122"/>
              </a:rPr>
              <a:t>JK-FF</a:t>
            </a:r>
            <a:r>
              <a:rPr lang="zh-CN" altLang="en-US" sz="2000" b="1" dirty="0">
                <a:latin typeface="楷体_GB2312" pitchFamily="49" charset="-122"/>
                <a:ea typeface="楷体_GB2312" pitchFamily="49" charset="-122"/>
              </a:rPr>
              <a:t>的特性表</a:t>
            </a:r>
            <a:endParaRPr lang="zh-CN" altLang="en-US" sz="2000" dirty="0">
              <a:latin typeface="楷体_GB2312" pitchFamily="49" charset="-122"/>
              <a:ea typeface="楷体_GB2312" pitchFamily="49" charset="-122"/>
            </a:endParaRPr>
          </a:p>
        </p:txBody>
      </p:sp>
      <p:grpSp>
        <p:nvGrpSpPr>
          <p:cNvPr id="249866" name="组合 249865"/>
          <p:cNvGrpSpPr/>
          <p:nvPr/>
        </p:nvGrpSpPr>
        <p:grpSpPr>
          <a:xfrm>
            <a:off x="250825" y="2634298"/>
            <a:ext cx="4968875" cy="3338512"/>
            <a:chOff x="158" y="1298"/>
            <a:chExt cx="3130" cy="1905"/>
          </a:xfrm>
        </p:grpSpPr>
        <p:pic>
          <p:nvPicPr>
            <p:cNvPr id="249867" name="图片 249866" descr="4-2-15"/>
            <p:cNvPicPr>
              <a:picLocks noChangeAspect="1"/>
            </p:cNvPicPr>
            <p:nvPr/>
          </p:nvPicPr>
          <p:blipFill>
            <a:blip r:embed="rId2" cstate="print">
              <a:clrChange>
                <a:clrFrom>
                  <a:srgbClr val="F9F8F3"/>
                </a:clrFrom>
                <a:clrTo>
                  <a:srgbClr val="F9F8F3">
                    <a:alpha val="0"/>
                  </a:srgbClr>
                </a:clrTo>
              </a:clrChange>
              <a:lum bright="-6000" contrast="42000"/>
            </a:blip>
            <a:stretch>
              <a:fillRect/>
            </a:stretch>
          </p:blipFill>
          <p:spPr>
            <a:xfrm>
              <a:off x="158" y="1570"/>
              <a:ext cx="3130" cy="1626"/>
            </a:xfrm>
            <a:prstGeom prst="rect">
              <a:avLst/>
            </a:prstGeom>
            <a:noFill/>
            <a:ln w="9525">
              <a:noFill/>
            </a:ln>
          </p:spPr>
        </p:pic>
        <p:sp>
          <p:nvSpPr>
            <p:cNvPr id="249868" name="直接连接符 249867"/>
            <p:cNvSpPr/>
            <p:nvPr/>
          </p:nvSpPr>
          <p:spPr>
            <a:xfrm>
              <a:off x="1655" y="1298"/>
              <a:ext cx="0" cy="1905"/>
            </a:xfrm>
            <a:prstGeom prst="line">
              <a:avLst/>
            </a:prstGeom>
            <a:ln w="28575" cap="flat" cmpd="sng">
              <a:solidFill>
                <a:srgbClr val="FF0000"/>
              </a:solidFill>
              <a:prstDash val="sysDot"/>
              <a:headEnd type="none" w="med" len="med"/>
              <a:tailEnd type="none" w="med" len="med"/>
            </a:ln>
          </p:spPr>
        </p:sp>
      </p:grpSp>
      <p:sp>
        <p:nvSpPr>
          <p:cNvPr id="249869" name="圆角矩形标注 249868"/>
          <p:cNvSpPr/>
          <p:nvPr/>
        </p:nvSpPr>
        <p:spPr>
          <a:xfrm>
            <a:off x="3059113" y="2058035"/>
            <a:ext cx="936625" cy="504825"/>
          </a:xfrm>
          <a:prstGeom prst="wedgeRoundRectCallout">
            <a:avLst>
              <a:gd name="adj1" fmla="val -89153"/>
              <a:gd name="adj2" fmla="val 247171"/>
              <a:gd name="adj3" fmla="val 16667"/>
            </a:avLst>
          </a:prstGeom>
          <a:solidFill>
            <a:schemeClr val="accent1"/>
          </a:solidFill>
          <a:ln w="28575" cap="flat" cmpd="sng">
            <a:solidFill>
              <a:schemeClr val="tx1"/>
            </a:solidFill>
            <a:prstDash val="solid"/>
            <a:miter/>
            <a:headEnd type="none" w="med" len="med"/>
            <a:tailEnd type="none" w="med" len="med"/>
          </a:ln>
        </p:spPr>
        <p:txBody>
          <a:bodyPr/>
          <a:lstStyle/>
          <a:p>
            <a:pPr algn="ctr"/>
            <a:r>
              <a:rPr lang="en-US" altLang="zh-CN" b="1" dirty="0">
                <a:solidFill>
                  <a:srgbClr val="FF0000"/>
                </a:solidFill>
                <a:latin typeface="Arial" panose="020B0604020202020204" pitchFamily="34" charset="0"/>
              </a:rPr>
              <a:t>S</a:t>
            </a:r>
            <a:r>
              <a:rPr lang="en-US" altLang="zh-CN" b="1" dirty="0">
                <a:solidFill>
                  <a:srgbClr val="FF0000"/>
                </a:solidFill>
                <a:latin typeface="Arial" panose="020B0604020202020204" pitchFamily="34" charset="0"/>
                <a:cs typeface="Arial" panose="020B0604020202020204" pitchFamily="34" charset="0"/>
              </a:rPr>
              <a:t>'</a:t>
            </a:r>
            <a:endParaRPr lang="en-US" altLang="zh-CN" b="1" dirty="0">
              <a:solidFill>
                <a:srgbClr val="FF0000"/>
              </a:solidFill>
              <a:latin typeface="Arial" panose="020B0604020202020204" pitchFamily="34" charset="0"/>
              <a:ea typeface="Arial" panose="020B0604020202020204" pitchFamily="34" charset="0"/>
            </a:endParaRPr>
          </a:p>
        </p:txBody>
      </p:sp>
      <p:sp>
        <p:nvSpPr>
          <p:cNvPr id="249870" name="圆角矩形标注 249869"/>
          <p:cNvSpPr/>
          <p:nvPr/>
        </p:nvSpPr>
        <p:spPr>
          <a:xfrm>
            <a:off x="3203575" y="5612448"/>
            <a:ext cx="863600" cy="504825"/>
          </a:xfrm>
          <a:prstGeom prst="wedgeRoundRectCallout">
            <a:avLst>
              <a:gd name="adj1" fmla="val -109926"/>
              <a:gd name="adj2" fmla="val -217926"/>
              <a:gd name="adj3" fmla="val 16667"/>
            </a:avLst>
          </a:prstGeom>
          <a:solidFill>
            <a:schemeClr val="accent1"/>
          </a:solidFill>
          <a:ln w="28575" cap="flat" cmpd="sng">
            <a:solidFill>
              <a:schemeClr val="tx1"/>
            </a:solidFill>
            <a:prstDash val="solid"/>
            <a:miter/>
            <a:headEnd type="none" w="med" len="med"/>
            <a:tailEnd type="none" w="med" len="med"/>
          </a:ln>
        </p:spPr>
        <p:txBody>
          <a:bodyPr/>
          <a:lstStyle/>
          <a:p>
            <a:pPr algn="ctr"/>
            <a:r>
              <a:rPr lang="en-US" altLang="zh-CN" b="1">
                <a:solidFill>
                  <a:srgbClr val="FF0000"/>
                </a:solidFill>
                <a:latin typeface="Arial" panose="020B0604020202020204" pitchFamily="34" charset="0"/>
              </a:rPr>
              <a:t>R</a:t>
            </a:r>
            <a:r>
              <a:rPr lang="en-US" altLang="zh-CN" b="1">
                <a:solidFill>
                  <a:srgbClr val="FF0000"/>
                </a:solidFill>
                <a:latin typeface="Arial" panose="020B0604020202020204" pitchFamily="34" charset="0"/>
                <a:cs typeface="Arial" panose="020B0604020202020204" pitchFamily="34" charset="0"/>
              </a:rPr>
              <a:t>'</a:t>
            </a:r>
            <a:endParaRPr lang="en-US" altLang="zh-CN" b="1">
              <a:solidFill>
                <a:srgbClr val="FF0000"/>
              </a:solidFill>
              <a:latin typeface="Arial" panose="020B0604020202020204" pitchFamily="34" charset="0"/>
              <a:ea typeface="Arial" panose="020B0604020202020204" pitchFamily="34" charset="0"/>
            </a:endParaRPr>
          </a:p>
        </p:txBody>
      </p:sp>
      <p:grpSp>
        <p:nvGrpSpPr>
          <p:cNvPr id="11" name="组合 10"/>
          <p:cNvGrpSpPr/>
          <p:nvPr/>
        </p:nvGrpSpPr>
        <p:grpSpPr>
          <a:xfrm>
            <a:off x="5292080" y="1628801"/>
            <a:ext cx="3572073" cy="4752528"/>
            <a:chOff x="3198" y="663"/>
            <a:chExt cx="2471" cy="3198"/>
          </a:xfrm>
        </p:grpSpPr>
        <p:pic>
          <p:nvPicPr>
            <p:cNvPr id="12" name="图片 11" descr="b4-2-8"/>
            <p:cNvPicPr>
              <a:picLocks noChangeAspect="1"/>
            </p:cNvPicPr>
            <p:nvPr/>
          </p:nvPicPr>
          <p:blipFill>
            <a:blip r:embed="rId3" cstate="print">
              <a:clrChange>
                <a:clrFrom>
                  <a:srgbClr val="F6F7F1"/>
                </a:clrFrom>
                <a:clrTo>
                  <a:srgbClr val="F6F7F1">
                    <a:alpha val="0"/>
                  </a:srgbClr>
                </a:clrTo>
              </a:clrChange>
              <a:lum bright="-12000" contrast="72000"/>
            </a:blip>
            <a:srcRect b="2927"/>
            <a:stretch>
              <a:fillRect/>
            </a:stretch>
          </p:blipFill>
          <p:spPr>
            <a:xfrm>
              <a:off x="3198" y="663"/>
              <a:ext cx="2471" cy="3198"/>
            </a:xfrm>
            <a:prstGeom prst="rect">
              <a:avLst/>
            </a:prstGeom>
            <a:noFill/>
            <a:ln w="9525">
              <a:noFill/>
            </a:ln>
          </p:spPr>
        </p:pic>
        <p:sp>
          <p:nvSpPr>
            <p:cNvPr id="13" name="矩形 12"/>
            <p:cNvSpPr/>
            <p:nvPr/>
          </p:nvSpPr>
          <p:spPr>
            <a:xfrm>
              <a:off x="3334" y="1026"/>
              <a:ext cx="2131" cy="816"/>
            </a:xfrm>
            <a:prstGeom prst="rect">
              <a:avLst/>
            </a:prstGeom>
            <a:noFill/>
            <a:ln w="28575" cap="flat" cmpd="sng">
              <a:solidFill>
                <a:srgbClr val="FF0000"/>
              </a:solidFill>
              <a:prstDash val="dash"/>
              <a:miter/>
              <a:headEnd type="none" w="med" len="med"/>
              <a:tailEnd type="none" w="med" len="med"/>
            </a:ln>
          </p:spPr>
          <p:txBody>
            <a:bodyPr/>
            <a:lstStyle/>
            <a:p>
              <a:endParaRPr lang="zh-CN" altLang="en-US"/>
            </a:p>
          </p:txBody>
        </p:sp>
        <p:sp>
          <p:nvSpPr>
            <p:cNvPr id="14" name="矩形 13"/>
            <p:cNvSpPr/>
            <p:nvPr/>
          </p:nvSpPr>
          <p:spPr>
            <a:xfrm>
              <a:off x="3334" y="1933"/>
              <a:ext cx="2131" cy="590"/>
            </a:xfrm>
            <a:prstGeom prst="rect">
              <a:avLst/>
            </a:prstGeom>
            <a:noFill/>
            <a:ln w="28575" cap="flat" cmpd="sng">
              <a:solidFill>
                <a:srgbClr val="FF0000"/>
              </a:solidFill>
              <a:prstDash val="dash"/>
              <a:miter/>
              <a:headEnd type="none" w="med" len="med"/>
              <a:tailEnd type="none" w="med" len="med"/>
            </a:ln>
          </p:spPr>
          <p:txBody>
            <a:bodyPr/>
            <a:lstStyle/>
            <a:p>
              <a:endParaRPr lang="zh-CN" altLang="en-US"/>
            </a:p>
          </p:txBody>
        </p:sp>
        <p:sp>
          <p:nvSpPr>
            <p:cNvPr id="15" name="矩形 14"/>
            <p:cNvSpPr/>
            <p:nvPr/>
          </p:nvSpPr>
          <p:spPr>
            <a:xfrm>
              <a:off x="3334" y="2614"/>
              <a:ext cx="2131" cy="589"/>
            </a:xfrm>
            <a:prstGeom prst="rect">
              <a:avLst/>
            </a:prstGeom>
            <a:noFill/>
            <a:ln w="28575" cap="flat" cmpd="sng">
              <a:solidFill>
                <a:srgbClr val="FF0000"/>
              </a:solidFill>
              <a:prstDash val="dash"/>
              <a:miter/>
              <a:headEnd type="none" w="med" len="med"/>
              <a:tailEnd type="none" w="med" len="med"/>
            </a:ln>
          </p:spPr>
          <p:txBody>
            <a:bodyPr/>
            <a:lstStyle/>
            <a:p>
              <a:endParaRPr lang="zh-CN" altLang="en-US"/>
            </a:p>
          </p:txBody>
        </p:sp>
        <p:sp>
          <p:nvSpPr>
            <p:cNvPr id="16" name="矩形 15"/>
            <p:cNvSpPr/>
            <p:nvPr/>
          </p:nvSpPr>
          <p:spPr>
            <a:xfrm>
              <a:off x="3334" y="3249"/>
              <a:ext cx="2131" cy="589"/>
            </a:xfrm>
            <a:prstGeom prst="rect">
              <a:avLst/>
            </a:prstGeom>
            <a:noFill/>
            <a:ln w="28575" cap="flat" cmpd="sng">
              <a:solidFill>
                <a:srgbClr val="FF0000"/>
              </a:solidFill>
              <a:prstDash val="dash"/>
              <a:miter/>
              <a:headEnd type="none" w="med" len="med"/>
              <a:tailEnd type="none" w="med" len="med"/>
            </a:ln>
          </p:spPr>
          <p:txBody>
            <a:bodyPr/>
            <a:lstStyle/>
            <a:p>
              <a:endParaRPr lang="zh-CN" altLang="en-US"/>
            </a:p>
          </p:txBody>
        </p:sp>
      </p:grpSp>
      <p:sp>
        <p:nvSpPr>
          <p:cNvPr id="20" name="标题 1"/>
          <p:cNvSpPr>
            <a:spLocks noGrp="1"/>
          </p:cNvSpPr>
          <p:nvPr>
            <p:ph type="title"/>
          </p:nvPr>
        </p:nvSpPr>
        <p:spPr>
          <a:xfrm>
            <a:off x="1187624" y="1052736"/>
            <a:ext cx="7756351" cy="635794"/>
          </a:xfrm>
        </p:spPr>
        <p:txBody>
          <a:bodyPr/>
          <a:lstStyle/>
          <a:p>
            <a:r>
              <a:rPr lang="en-US" altLang="zh-CN" dirty="0" smtClean="0"/>
              <a:t>5.2.2 </a:t>
            </a:r>
            <a:r>
              <a:rPr lang="zh-CN" altLang="en-US" dirty="0" smtClean="0"/>
              <a:t>主从</a:t>
            </a:r>
            <a:r>
              <a:rPr lang="en-US" altLang="zh-CN" dirty="0" smtClean="0"/>
              <a:t>JK</a:t>
            </a:r>
            <a:r>
              <a:rPr lang="zh-CN" altLang="en-US" dirty="0" smtClean="0"/>
              <a:t>触发器</a:t>
            </a:r>
            <a:endParaRPr lang="zh-CN" altLang="en-US" dirty="0"/>
          </a:p>
        </p:txBody>
      </p:sp>
      <p:sp>
        <p:nvSpPr>
          <p:cNvPr id="21" name="标题 1"/>
          <p:cNvSpPr txBox="1">
            <a:spLocks/>
          </p:cNvSpPr>
          <p:nvPr/>
        </p:nvSpPr>
        <p:spPr bwMode="auto">
          <a:xfrm>
            <a:off x="1187624" y="332656"/>
            <a:ext cx="7632848" cy="5669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5.2 </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脉冲</a:t>
            </a:r>
            <a:r>
              <a:rPr kumimoji="1" lang="zh-CN" altLang="en-US" sz="3200" b="1" kern="0" dirty="0" smtClean="0">
                <a:solidFill>
                  <a:schemeClr val="tx2"/>
                </a:solidFill>
                <a:latin typeface="+mj-lt"/>
                <a:ea typeface="+mj-ea"/>
                <a:cs typeface="+mj-cs"/>
              </a:rPr>
              <a:t>触发的</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触发器</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0C913308-F349-4B6D-A68A-DD1791B4A57B}" type="slidenum">
              <a:rPr lang="zh-CN" altLang="en-US" smtClean="0"/>
              <a:pPr/>
              <a:t>52</a:t>
            </a:fld>
            <a:endParaRPr lang="zh-CN" altLang="en-US"/>
          </a:p>
        </p:txBody>
      </p:sp>
      <p:sp>
        <p:nvSpPr>
          <p:cNvPr id="260102" name="文本框 260101"/>
          <p:cNvSpPr txBox="1"/>
          <p:nvPr/>
        </p:nvSpPr>
        <p:spPr>
          <a:xfrm>
            <a:off x="1042988" y="4023043"/>
            <a:ext cx="7273925" cy="457200"/>
          </a:xfrm>
          <a:prstGeom prst="rect">
            <a:avLst/>
          </a:prstGeom>
          <a:noFill/>
          <a:ln w="9525">
            <a:noFill/>
          </a:ln>
        </p:spPr>
        <p:txBody>
          <a:bodyPr>
            <a:spAutoFit/>
          </a:bodyPr>
          <a:lstStyle/>
          <a:p>
            <a:pPr>
              <a:spcBef>
                <a:spcPct val="50000"/>
              </a:spcBef>
            </a:pPr>
            <a:r>
              <a:rPr lang="en-US" altLang="zh-CN" b="1" dirty="0">
                <a:latin typeface="Arial" panose="020B0604020202020204" pitchFamily="34" charset="0"/>
              </a:rPr>
              <a:t>       </a:t>
            </a:r>
          </a:p>
        </p:txBody>
      </p:sp>
      <p:sp>
        <p:nvSpPr>
          <p:cNvPr id="260103" name="文本框 260102"/>
          <p:cNvSpPr txBox="1"/>
          <p:nvPr/>
        </p:nvSpPr>
        <p:spPr>
          <a:xfrm>
            <a:off x="1763688" y="5085184"/>
            <a:ext cx="5184775" cy="400110"/>
          </a:xfrm>
          <a:prstGeom prst="rect">
            <a:avLst/>
          </a:prstGeom>
          <a:noFill/>
          <a:ln w="9525">
            <a:noFill/>
          </a:ln>
        </p:spPr>
        <p:txBody>
          <a:bodyPr>
            <a:spAutoFit/>
          </a:bodyPr>
          <a:lstStyle/>
          <a:p>
            <a:pPr>
              <a:spcBef>
                <a:spcPct val="50000"/>
              </a:spcBef>
            </a:pPr>
            <a:r>
              <a:rPr lang="zh-CN" altLang="en-US" sz="2000" b="1" dirty="0" smtClean="0">
                <a:latin typeface="楷体_GB2312" pitchFamily="49" charset="-122"/>
                <a:ea typeface="楷体_GB2312" pitchFamily="49" charset="-122"/>
              </a:rPr>
              <a:t>图</a:t>
            </a:r>
            <a:r>
              <a:rPr lang="en-US" altLang="zh-CN" sz="2000" b="1" dirty="0" smtClean="0">
                <a:latin typeface="楷体_GB2312" pitchFamily="49" charset="-122"/>
                <a:ea typeface="楷体_GB2312" pitchFamily="49" charset="-122"/>
              </a:rPr>
              <a:t>  </a:t>
            </a:r>
            <a:r>
              <a:rPr lang="zh-CN" altLang="en-US" sz="2000" b="1" dirty="0">
                <a:latin typeface="楷体_GB2312" pitchFamily="49" charset="-122"/>
                <a:ea typeface="楷体_GB2312" pitchFamily="49" charset="-122"/>
              </a:rPr>
              <a:t>主从</a:t>
            </a:r>
            <a:r>
              <a:rPr lang="en-US" altLang="zh-CN" sz="2000" b="1" dirty="0" smtClean="0">
                <a:latin typeface="楷体_GB2312" pitchFamily="49" charset="-122"/>
                <a:ea typeface="楷体_GB2312" pitchFamily="49" charset="-122"/>
              </a:rPr>
              <a:t>JK</a:t>
            </a:r>
            <a:r>
              <a:rPr lang="zh-CN" altLang="en-US" sz="2000" b="1" dirty="0" smtClean="0">
                <a:latin typeface="楷体_GB2312" pitchFamily="49" charset="-122"/>
                <a:ea typeface="楷体_GB2312" pitchFamily="49" charset="-122"/>
              </a:rPr>
              <a:t>触发器的</a:t>
            </a:r>
            <a:r>
              <a:rPr lang="zh-CN" altLang="en-US" sz="2000" b="1" dirty="0">
                <a:latin typeface="楷体_GB2312" pitchFamily="49" charset="-122"/>
                <a:ea typeface="楷体_GB2312" pitchFamily="49" charset="-122"/>
              </a:rPr>
              <a:t>惯用符号和国标符号</a:t>
            </a:r>
            <a:r>
              <a:rPr lang="zh-CN" altLang="en-US" sz="1800" dirty="0">
                <a:latin typeface="楷体_GB2312" pitchFamily="49" charset="-122"/>
                <a:ea typeface="楷体_GB2312" pitchFamily="49" charset="-122"/>
              </a:rPr>
              <a:t>  </a:t>
            </a:r>
          </a:p>
        </p:txBody>
      </p:sp>
      <p:sp>
        <p:nvSpPr>
          <p:cNvPr id="260105" name="文本框 260104"/>
          <p:cNvSpPr txBox="1"/>
          <p:nvPr/>
        </p:nvSpPr>
        <p:spPr>
          <a:xfrm>
            <a:off x="899592" y="5661248"/>
            <a:ext cx="7345680" cy="457200"/>
          </a:xfrm>
          <a:prstGeom prst="rect">
            <a:avLst/>
          </a:prstGeom>
          <a:noFill/>
          <a:ln w="9525">
            <a:noFill/>
          </a:ln>
        </p:spPr>
        <p:txBody>
          <a:bodyPr>
            <a:spAutoFit/>
          </a:bodyPr>
          <a:lstStyle/>
          <a:p>
            <a:pPr>
              <a:spcBef>
                <a:spcPct val="50000"/>
              </a:spcBef>
            </a:pPr>
            <a:r>
              <a:rPr lang="zh-CN" altLang="en-US" sz="2400" b="1" dirty="0">
                <a:latin typeface="Arial" panose="020B0604020202020204" pitchFamily="34" charset="0"/>
              </a:rPr>
              <a:t>由特性表可知，其特性方程仍为</a:t>
            </a:r>
            <a:r>
              <a:rPr lang="en-US" altLang="zh-CN" sz="2400" b="1" dirty="0">
                <a:latin typeface="Arial" panose="020B0604020202020204" pitchFamily="34" charset="0"/>
              </a:rPr>
              <a:t>:</a:t>
            </a:r>
          </a:p>
        </p:txBody>
      </p:sp>
      <p:pic>
        <p:nvPicPr>
          <p:cNvPr id="260111" name="图片 260110" descr="4-2-16"/>
          <p:cNvPicPr>
            <a:picLocks noChangeAspect="1"/>
          </p:cNvPicPr>
          <p:nvPr/>
        </p:nvPicPr>
        <p:blipFill>
          <a:blip r:embed="rId3" cstate="print">
            <a:clrChange>
              <a:clrFrom>
                <a:srgbClr val="EEEEEE"/>
              </a:clrFrom>
              <a:clrTo>
                <a:srgbClr val="EEEEEE">
                  <a:alpha val="0"/>
                </a:srgbClr>
              </a:clrTo>
            </a:clrChange>
            <a:lum bright="-12000" contrast="36000"/>
          </a:blip>
          <a:stretch>
            <a:fillRect/>
          </a:stretch>
        </p:blipFill>
        <p:spPr>
          <a:xfrm>
            <a:off x="2419668" y="2273300"/>
            <a:ext cx="3889375" cy="2878138"/>
          </a:xfrm>
          <a:prstGeom prst="rect">
            <a:avLst/>
          </a:prstGeom>
          <a:noFill/>
          <a:ln w="9525">
            <a:noFill/>
          </a:ln>
        </p:spPr>
      </p:pic>
      <p:sp>
        <p:nvSpPr>
          <p:cNvPr id="10" name="矩形标注 9"/>
          <p:cNvSpPr/>
          <p:nvPr/>
        </p:nvSpPr>
        <p:spPr bwMode="auto">
          <a:xfrm>
            <a:off x="7061605" y="2059193"/>
            <a:ext cx="1296144" cy="925511"/>
          </a:xfrm>
          <a:prstGeom prst="wedgeRectCallout">
            <a:avLst>
              <a:gd name="adj1" fmla="val -140011"/>
              <a:gd name="adj2" fmla="val 85066"/>
            </a:avLst>
          </a:prstGeom>
          <a:noFill/>
          <a:ln w="9525" cap="flat" cmpd="sng" algn="ctr">
            <a:solidFill>
              <a:schemeClr val="accent1"/>
            </a:solidFill>
            <a:prstDash val="solid"/>
            <a:miter lim="800000"/>
            <a:headEnd type="none" w="med" len="med"/>
            <a:tailEnd type="none" w="med" len="med"/>
          </a:ln>
        </p:spPr>
        <p:txBody>
          <a:bodyPr vert="horz" wrap="square" lIns="90000" tIns="46800" rIns="90000" bIns="4680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r>
              <a:rPr kumimoji="1" lang="zh-CN" altLang="en-US" b="1" i="0" u="none" strike="noStrike" cap="none" normalizeH="0" baseline="0" dirty="0" smtClean="0">
                <a:ln>
                  <a:noFill/>
                </a:ln>
                <a:solidFill>
                  <a:schemeClr val="tx1"/>
                </a:solidFill>
                <a:effectLst/>
                <a:latin typeface="Tahoma" panose="020B0604030504040204" pitchFamily="34" charset="0"/>
                <a:ea typeface="宋体" panose="02010600030101010101" pitchFamily="2" charset="-122"/>
              </a:rPr>
              <a:t>延迟到下降沿时，整体输出</a:t>
            </a:r>
          </a:p>
        </p:txBody>
      </p:sp>
      <p:sp>
        <p:nvSpPr>
          <p:cNvPr id="11" name="矩形标注 10"/>
          <p:cNvSpPr/>
          <p:nvPr/>
        </p:nvSpPr>
        <p:spPr bwMode="auto">
          <a:xfrm>
            <a:off x="1123524" y="2471178"/>
            <a:ext cx="1296144" cy="1202510"/>
          </a:xfrm>
          <a:prstGeom prst="wedgeRectCallout">
            <a:avLst>
              <a:gd name="adj1" fmla="val 105194"/>
              <a:gd name="adj2" fmla="val 70877"/>
            </a:avLst>
          </a:prstGeom>
          <a:noFill/>
          <a:ln w="9525" cap="flat" cmpd="sng" algn="ctr">
            <a:solidFill>
              <a:schemeClr val="accent1"/>
            </a:solidFill>
            <a:prstDash val="solid"/>
            <a:miter lim="800000"/>
            <a:headEnd type="none" w="med" len="med"/>
            <a:tailEnd type="none" w="med" len="med"/>
          </a:ln>
        </p:spPr>
        <p:txBody>
          <a:bodyPr vert="horz" wrap="square" lIns="90000" tIns="46800" rIns="90000" bIns="4680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r>
              <a:rPr kumimoji="1" lang="zh-CN" altLang="en-US" b="1" i="0" u="none" strike="noStrike" cap="none" normalizeH="0" baseline="0" dirty="0" smtClean="0">
                <a:ln>
                  <a:noFill/>
                </a:ln>
                <a:solidFill>
                  <a:schemeClr val="tx1"/>
                </a:solidFill>
                <a:effectLst/>
                <a:latin typeface="Tahoma" panose="020B0604030504040204" pitchFamily="34" charset="0"/>
                <a:ea typeface="宋体" panose="02010600030101010101" pitchFamily="2" charset="-122"/>
              </a:rPr>
              <a:t>对于主从</a:t>
            </a:r>
            <a:r>
              <a:rPr kumimoji="1" lang="en-US" altLang="zh-CN" b="1" i="0" u="none" strike="noStrike" cap="none" normalizeH="0" baseline="0" dirty="0" smtClean="0">
                <a:ln>
                  <a:noFill/>
                </a:ln>
                <a:solidFill>
                  <a:schemeClr val="tx1"/>
                </a:solidFill>
                <a:effectLst/>
                <a:latin typeface="Tahoma" panose="020B0604030504040204" pitchFamily="34" charset="0"/>
                <a:ea typeface="宋体" panose="02010600030101010101" pitchFamily="2" charset="-122"/>
              </a:rPr>
              <a:t>FF</a:t>
            </a:r>
            <a:r>
              <a:rPr kumimoji="1" lang="zh-CN" altLang="en-US" b="1" i="0" u="none" strike="noStrike" cap="none" normalizeH="0" baseline="0" dirty="0" smtClean="0">
                <a:ln>
                  <a:noFill/>
                </a:ln>
                <a:solidFill>
                  <a:schemeClr val="tx1"/>
                </a:solidFill>
                <a:effectLst/>
                <a:latin typeface="Tahoma" panose="020B0604030504040204" pitchFamily="34" charset="0"/>
                <a:ea typeface="宋体" panose="02010600030101010101" pitchFamily="2" charset="-122"/>
              </a:rPr>
              <a:t>，下降沿时，整体输出</a:t>
            </a:r>
          </a:p>
        </p:txBody>
      </p:sp>
      <p:sp>
        <p:nvSpPr>
          <p:cNvPr id="13" name="标题 1"/>
          <p:cNvSpPr>
            <a:spLocks noGrp="1"/>
          </p:cNvSpPr>
          <p:nvPr>
            <p:ph type="title"/>
          </p:nvPr>
        </p:nvSpPr>
        <p:spPr>
          <a:xfrm>
            <a:off x="1187624" y="1052736"/>
            <a:ext cx="7756351" cy="635794"/>
          </a:xfrm>
        </p:spPr>
        <p:txBody>
          <a:bodyPr/>
          <a:lstStyle/>
          <a:p>
            <a:r>
              <a:rPr lang="en-US" altLang="zh-CN" dirty="0" smtClean="0"/>
              <a:t>5.2.2 </a:t>
            </a:r>
            <a:r>
              <a:rPr lang="zh-CN" altLang="en-US" dirty="0" smtClean="0"/>
              <a:t>主从</a:t>
            </a:r>
            <a:r>
              <a:rPr lang="en-US" altLang="zh-CN" dirty="0" smtClean="0"/>
              <a:t>JK</a:t>
            </a:r>
            <a:r>
              <a:rPr lang="zh-CN" altLang="en-US" dirty="0" smtClean="0"/>
              <a:t>触发器</a:t>
            </a:r>
            <a:endParaRPr lang="zh-CN" altLang="en-US" dirty="0"/>
          </a:p>
        </p:txBody>
      </p:sp>
      <p:sp>
        <p:nvSpPr>
          <p:cNvPr id="14" name="标题 1"/>
          <p:cNvSpPr txBox="1">
            <a:spLocks/>
          </p:cNvSpPr>
          <p:nvPr/>
        </p:nvSpPr>
        <p:spPr bwMode="auto">
          <a:xfrm>
            <a:off x="1187624" y="332656"/>
            <a:ext cx="7632848" cy="5669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5.2 </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脉冲</a:t>
            </a:r>
            <a:r>
              <a:rPr kumimoji="1" lang="zh-CN" altLang="en-US" sz="3200" b="1" kern="0" dirty="0" smtClean="0">
                <a:solidFill>
                  <a:schemeClr val="tx2"/>
                </a:solidFill>
                <a:latin typeface="+mj-lt"/>
                <a:ea typeface="+mj-ea"/>
                <a:cs typeface="+mj-cs"/>
              </a:rPr>
              <a:t>触发的</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触发器</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graphicFrame>
        <p:nvGraphicFramePr>
          <p:cNvPr id="103536" name="Object 112"/>
          <p:cNvGraphicFramePr>
            <a:graphicFrameLocks noChangeAspect="1"/>
          </p:cNvGraphicFramePr>
          <p:nvPr/>
        </p:nvGraphicFramePr>
        <p:xfrm>
          <a:off x="5580112" y="5661248"/>
          <a:ext cx="2240384" cy="487040"/>
        </p:xfrm>
        <a:graphic>
          <a:graphicData uri="http://schemas.openxmlformats.org/presentationml/2006/ole">
            <p:oleObj spid="_x0000_s103536" r:id="rId4" imgW="1168200" imgH="253800" progId="">
              <p:embed/>
            </p:oleObj>
          </a:graphicData>
        </a:graphic>
      </p:graphicFrame>
      <p:pic>
        <p:nvPicPr>
          <p:cNvPr id="12" name="Picture 265"/>
          <p:cNvPicPr>
            <a:picLocks noChangeAspect="1" noChangeArrowheads="1"/>
          </p:cNvPicPr>
          <p:nvPr/>
        </p:nvPicPr>
        <p:blipFill>
          <a:blip r:embed="rId5" cstate="print"/>
          <a:srcRect/>
          <a:stretch>
            <a:fillRect/>
          </a:stretch>
        </p:blipFill>
        <p:spPr bwMode="auto">
          <a:xfrm>
            <a:off x="6200775" y="0"/>
            <a:ext cx="2943225" cy="190500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39552" y="980728"/>
            <a:ext cx="8504054" cy="4752528"/>
          </a:xfrm>
          <a:solidFill>
            <a:schemeClr val="bg1"/>
          </a:solidFill>
        </p:spPr>
        <p:txBody>
          <a:bodyPr/>
          <a:lstStyle/>
          <a:p>
            <a:pPr>
              <a:lnSpc>
                <a:spcPct val="100000"/>
              </a:lnSpc>
              <a:spcBef>
                <a:spcPts val="600"/>
              </a:spcBef>
              <a:buSzPct val="100000"/>
              <a:buFont typeface="Wingdings" pitchFamily="2" charset="2"/>
              <a:buChar char="p"/>
            </a:pPr>
            <a:r>
              <a:rPr lang="zh-CN" altLang="en-US" dirty="0" smtClean="0">
                <a:solidFill>
                  <a:srgbClr val="0000CC"/>
                </a:solidFill>
              </a:rPr>
              <a:t>例</a:t>
            </a:r>
            <a:r>
              <a:rPr lang="en-US" altLang="zh-CN" dirty="0" smtClean="0">
                <a:solidFill>
                  <a:srgbClr val="0000CC"/>
                </a:solidFill>
              </a:rPr>
              <a:t>5.4 </a:t>
            </a:r>
            <a:r>
              <a:rPr lang="zh-CN" altLang="en-US" dirty="0" smtClean="0"/>
              <a:t>对图</a:t>
            </a:r>
            <a:r>
              <a:rPr lang="en-US" altLang="zh-CN" dirty="0" smtClean="0"/>
              <a:t>5.9</a:t>
            </a:r>
            <a:r>
              <a:rPr lang="zh-CN" altLang="en-US" dirty="0" smtClean="0"/>
              <a:t>所</a:t>
            </a:r>
            <a:r>
              <a:rPr lang="zh-CN" altLang="en-US" dirty="0"/>
              <a:t>示的主从JK</a:t>
            </a:r>
            <a:r>
              <a:rPr lang="zh-CN" altLang="en-US" dirty="0" smtClean="0"/>
              <a:t>触发器，若J和K的波形图如图</a:t>
            </a:r>
            <a:r>
              <a:rPr lang="en-US" altLang="zh-CN" dirty="0" smtClean="0"/>
              <a:t>5.21</a:t>
            </a:r>
            <a:r>
              <a:rPr lang="zh-CN" altLang="en-US" dirty="0" smtClean="0"/>
              <a:t>所示，画出触发器的输出波形图，设触发器初态</a:t>
            </a:r>
            <a:r>
              <a:rPr lang="en-US" altLang="zh-CN" dirty="0" smtClean="0"/>
              <a:t>Q</a:t>
            </a:r>
            <a:r>
              <a:rPr lang="en-US" altLang="zh-CN" dirty="0" smtClean="0">
                <a:latin typeface="Arial" panose="020B0604020202020204" pitchFamily="34" charset="0"/>
                <a:sym typeface="+mn-ea"/>
              </a:rPr>
              <a:t>=0</a:t>
            </a:r>
            <a:r>
              <a:rPr lang="zh-CN" altLang="en-US" dirty="0" smtClean="0"/>
              <a:t>。</a:t>
            </a:r>
            <a:endParaRPr lang="en-US" altLang="zh-CN" dirty="0" smtClean="0"/>
          </a:p>
          <a:p>
            <a:pPr>
              <a:lnSpc>
                <a:spcPct val="100000"/>
              </a:lnSpc>
              <a:spcBef>
                <a:spcPts val="600"/>
              </a:spcBef>
              <a:buSzPct val="100000"/>
              <a:buFont typeface="Wingdings" pitchFamily="2" charset="2"/>
              <a:buChar char="p"/>
            </a:pPr>
            <a:r>
              <a:rPr lang="zh-CN" altLang="en-US" dirty="0" smtClean="0">
                <a:solidFill>
                  <a:srgbClr val="0000CC"/>
                </a:solidFill>
              </a:rPr>
              <a:t>解</a:t>
            </a:r>
            <a:r>
              <a:rPr lang="zh-CN" altLang="en-US" dirty="0" smtClean="0"/>
              <a:t>：</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53</a:t>
            </a:fld>
            <a:endParaRPr lang="zh-CN" altLang="en-US"/>
          </a:p>
        </p:txBody>
      </p:sp>
      <p:sp>
        <p:nvSpPr>
          <p:cNvPr id="259078" name="文本框 259077"/>
          <p:cNvSpPr txBox="1"/>
          <p:nvPr/>
        </p:nvSpPr>
        <p:spPr>
          <a:xfrm>
            <a:off x="1042988" y="3736023"/>
            <a:ext cx="7273925" cy="457200"/>
          </a:xfrm>
          <a:prstGeom prst="rect">
            <a:avLst/>
          </a:prstGeom>
          <a:noFill/>
          <a:ln w="9525">
            <a:noFill/>
          </a:ln>
        </p:spPr>
        <p:txBody>
          <a:bodyPr>
            <a:spAutoFit/>
          </a:bodyPr>
          <a:lstStyle/>
          <a:p>
            <a:pPr>
              <a:spcBef>
                <a:spcPct val="50000"/>
              </a:spcBef>
            </a:pPr>
            <a:r>
              <a:rPr lang="en-US" altLang="zh-CN" b="1" dirty="0">
                <a:latin typeface="Arial" panose="020B0604020202020204" pitchFamily="34" charset="0"/>
              </a:rPr>
              <a:t>       </a:t>
            </a:r>
          </a:p>
        </p:txBody>
      </p:sp>
      <p:sp>
        <p:nvSpPr>
          <p:cNvPr id="259079" name="文本框 259078"/>
          <p:cNvSpPr txBox="1"/>
          <p:nvPr/>
        </p:nvSpPr>
        <p:spPr>
          <a:xfrm>
            <a:off x="7416800" y="5301208"/>
            <a:ext cx="1727200" cy="1014730"/>
          </a:xfrm>
          <a:prstGeom prst="rect">
            <a:avLst/>
          </a:prstGeom>
          <a:noFill/>
          <a:ln w="9525">
            <a:noFill/>
          </a:ln>
        </p:spPr>
        <p:txBody>
          <a:bodyPr wrap="square">
            <a:spAutoFit/>
          </a:bodyPr>
          <a:lstStyle/>
          <a:p>
            <a:pPr>
              <a:spcBef>
                <a:spcPct val="50000"/>
              </a:spcBef>
            </a:pPr>
            <a:r>
              <a:rPr lang="zh-CN" altLang="en-US" sz="2000" b="1" dirty="0">
                <a:latin typeface="楷体_GB2312" pitchFamily="49" charset="-122"/>
                <a:ea typeface="楷体_GB2312" pitchFamily="49" charset="-122"/>
              </a:rPr>
              <a:t>注：在</a:t>
            </a:r>
            <a:r>
              <a:rPr lang="en-US" altLang="zh-CN" sz="2000" b="1" dirty="0">
                <a:latin typeface="楷体_GB2312" pitchFamily="49" charset="-122"/>
                <a:ea typeface="楷体_GB2312" pitchFamily="49" charset="-122"/>
              </a:rPr>
              <a:t>CP=1</a:t>
            </a:r>
            <a:r>
              <a:rPr lang="zh-CN" altLang="en-US" sz="2000" b="1" dirty="0">
                <a:latin typeface="楷体_GB2312" pitchFamily="49" charset="-122"/>
                <a:ea typeface="楷体_GB2312" pitchFamily="49" charset="-122"/>
              </a:rPr>
              <a:t>期间，</a:t>
            </a:r>
            <a:r>
              <a:rPr lang="en-US" altLang="zh-CN" sz="2000" b="1" dirty="0">
                <a:latin typeface="楷体_GB2312" pitchFamily="49" charset="-122"/>
                <a:ea typeface="楷体_GB2312" pitchFamily="49" charset="-122"/>
              </a:rPr>
              <a:t>J</a:t>
            </a:r>
            <a:r>
              <a:rPr lang="zh-CN" altLang="en-US" sz="2000" b="1" dirty="0">
                <a:latin typeface="楷体_GB2312" pitchFamily="49" charset="-122"/>
                <a:ea typeface="楷体_GB2312" pitchFamily="49" charset="-122"/>
              </a:rPr>
              <a:t>、</a:t>
            </a:r>
            <a:r>
              <a:rPr lang="en-US" altLang="zh-CN" sz="2000" b="1" dirty="0">
                <a:latin typeface="楷体_GB2312" pitchFamily="49" charset="-122"/>
                <a:ea typeface="楷体_GB2312" pitchFamily="49" charset="-122"/>
              </a:rPr>
              <a:t>K</a:t>
            </a:r>
            <a:r>
              <a:rPr lang="zh-CN" altLang="en-US" sz="2000" b="1" dirty="0">
                <a:latin typeface="楷体_GB2312" pitchFamily="49" charset="-122"/>
                <a:ea typeface="楷体_GB2312" pitchFamily="49" charset="-122"/>
              </a:rPr>
              <a:t>信号均未发生改变。</a:t>
            </a:r>
          </a:p>
        </p:txBody>
      </p:sp>
      <p:sp>
        <p:nvSpPr>
          <p:cNvPr id="5" name="文本框 4"/>
          <p:cNvSpPr txBox="1"/>
          <p:nvPr/>
        </p:nvSpPr>
        <p:spPr>
          <a:xfrm>
            <a:off x="1042988" y="3592513"/>
            <a:ext cx="7273925" cy="457200"/>
          </a:xfrm>
          <a:prstGeom prst="rect">
            <a:avLst/>
          </a:prstGeom>
          <a:noFill/>
          <a:ln w="9525">
            <a:noFill/>
          </a:ln>
        </p:spPr>
        <p:txBody>
          <a:bodyPr>
            <a:spAutoFit/>
          </a:bodyPr>
          <a:lstStyle/>
          <a:p>
            <a:pPr>
              <a:spcBef>
                <a:spcPct val="50000"/>
              </a:spcBef>
            </a:pPr>
            <a:r>
              <a:rPr lang="en-US" altLang="zh-CN" b="1" dirty="0">
                <a:latin typeface="Arial" panose="020B0604020202020204" pitchFamily="34" charset="0"/>
              </a:rPr>
              <a:t>       </a:t>
            </a:r>
          </a:p>
        </p:txBody>
      </p:sp>
      <p:sp>
        <p:nvSpPr>
          <p:cNvPr id="20" name="标题 1"/>
          <p:cNvSpPr>
            <a:spLocks noGrp="1"/>
          </p:cNvSpPr>
          <p:nvPr>
            <p:ph type="title"/>
          </p:nvPr>
        </p:nvSpPr>
        <p:spPr>
          <a:xfrm>
            <a:off x="1115616" y="188640"/>
            <a:ext cx="7756351" cy="635794"/>
          </a:xfrm>
        </p:spPr>
        <p:txBody>
          <a:bodyPr/>
          <a:lstStyle/>
          <a:p>
            <a:r>
              <a:rPr lang="en-US" altLang="zh-CN" dirty="0" smtClean="0"/>
              <a:t>5.2.2 </a:t>
            </a:r>
            <a:r>
              <a:rPr lang="zh-CN" altLang="en-US" dirty="0" smtClean="0"/>
              <a:t>主从</a:t>
            </a:r>
            <a:r>
              <a:rPr lang="en-US" altLang="zh-CN" dirty="0" smtClean="0"/>
              <a:t>JK</a:t>
            </a:r>
            <a:r>
              <a:rPr lang="zh-CN" altLang="en-US" dirty="0" smtClean="0"/>
              <a:t>触发器</a:t>
            </a:r>
            <a:endParaRPr lang="zh-CN" altLang="en-US" dirty="0"/>
          </a:p>
        </p:txBody>
      </p:sp>
      <p:pic>
        <p:nvPicPr>
          <p:cNvPr id="104668" name="Picture 220"/>
          <p:cNvPicPr>
            <a:picLocks noChangeAspect="1" noChangeArrowheads="1"/>
          </p:cNvPicPr>
          <p:nvPr/>
        </p:nvPicPr>
        <p:blipFill>
          <a:blip r:embed="rId2" cstate="print"/>
          <a:srcRect/>
          <a:stretch>
            <a:fillRect/>
          </a:stretch>
        </p:blipFill>
        <p:spPr bwMode="auto">
          <a:xfrm>
            <a:off x="1907704" y="1988840"/>
            <a:ext cx="5219700" cy="4752975"/>
          </a:xfrm>
          <a:prstGeom prst="rect">
            <a:avLst/>
          </a:prstGeom>
          <a:noFill/>
          <a:ln w="9525">
            <a:noFill/>
            <a:miter lim="800000"/>
            <a:headEnd/>
            <a:tailEnd/>
          </a:ln>
        </p:spPr>
      </p:pic>
      <p:sp>
        <p:nvSpPr>
          <p:cNvPr id="14" name="矩形 13"/>
          <p:cNvSpPr/>
          <p:nvPr/>
        </p:nvSpPr>
        <p:spPr>
          <a:xfrm>
            <a:off x="1979613" y="4865688"/>
            <a:ext cx="5256683" cy="1731664"/>
          </a:xfrm>
          <a:prstGeom prst="rect">
            <a:avLst/>
          </a:prstGeom>
          <a:solidFill>
            <a:schemeClr val="bg1"/>
          </a:solidFill>
          <a:ln w="28575" cap="flat" cmpd="sng">
            <a:solidFill>
              <a:srgbClr val="FF0000"/>
            </a:solidFill>
            <a:prstDash val="dash"/>
            <a:miter/>
            <a:headEnd type="none" w="med" len="med"/>
            <a:tailEnd type="none" w="med" len="med"/>
          </a:ln>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xit" presetSubtype="10" fill="hold" nodeType="clickEffect">
                                  <p:stCondLst>
                                    <p:cond delay="0"/>
                                  </p:stCondLst>
                                  <p:childTnLst>
                                    <p:animEffect transition="out" filter="blinds(horizontal)">
                                      <p:cBhvr>
                                        <p:cTn id="6" dur="500"/>
                                        <p:tgtEl>
                                          <p:spTgt spid="14"/>
                                        </p:tgtEl>
                                      </p:cBhvr>
                                    </p:animEffect>
                                    <p:set>
                                      <p:cBhvr>
                                        <p:cTn id="7" dur="1" fill="hold">
                                          <p:stCondLst>
                                            <p:cond delay="499"/>
                                          </p:stCondLst>
                                        </p:cTn>
                                        <p:tgtEl>
                                          <p:spTgt spid="1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23528" y="1988840"/>
            <a:ext cx="8496944" cy="4608512"/>
          </a:xfrm>
        </p:spPr>
        <p:txBody>
          <a:bodyPr/>
          <a:lstStyle/>
          <a:p>
            <a:pPr>
              <a:lnSpc>
                <a:spcPct val="100000"/>
              </a:lnSpc>
              <a:spcBef>
                <a:spcPts val="0"/>
              </a:spcBef>
              <a:buSzPct val="100000"/>
              <a:buFont typeface="Wingdings" pitchFamily="2" charset="2"/>
              <a:buChar char="p"/>
            </a:pPr>
            <a:r>
              <a:rPr lang="en-US" altLang="zh-CN" sz="2800" dirty="0" smtClean="0"/>
              <a:t>4. </a:t>
            </a:r>
            <a:r>
              <a:rPr lang="zh-CN" altLang="en-US" sz="2800" dirty="0" smtClean="0"/>
              <a:t>触发器的动态参数</a:t>
            </a:r>
            <a:endParaRPr lang="en-US" altLang="zh-CN" sz="2800" dirty="0" smtClean="0"/>
          </a:p>
          <a:p>
            <a:pPr>
              <a:lnSpc>
                <a:spcPct val="100000"/>
              </a:lnSpc>
              <a:spcBef>
                <a:spcPts val="0"/>
              </a:spcBef>
              <a:buSzPct val="100000"/>
              <a:buNone/>
            </a:pPr>
            <a:r>
              <a:rPr lang="en-US" altLang="zh-CN" sz="2800" dirty="0" smtClean="0"/>
              <a:t> </a:t>
            </a:r>
            <a:r>
              <a:rPr lang="zh-CN" altLang="en-US" dirty="0" smtClean="0"/>
              <a:t>（</a:t>
            </a:r>
            <a:r>
              <a:rPr lang="en-US" altLang="zh-CN" dirty="0" smtClean="0"/>
              <a:t>1</a:t>
            </a:r>
            <a:r>
              <a:rPr lang="zh-CN" altLang="en-US" dirty="0" smtClean="0"/>
              <a:t>）输入信号（</a:t>
            </a:r>
            <a:r>
              <a:rPr lang="en-US" altLang="zh-CN" dirty="0" smtClean="0"/>
              <a:t>J</a:t>
            </a:r>
            <a:r>
              <a:rPr lang="zh-CN" altLang="en-US" dirty="0" smtClean="0"/>
              <a:t>、</a:t>
            </a:r>
            <a:r>
              <a:rPr lang="en-US" altLang="zh-CN" dirty="0" smtClean="0"/>
              <a:t>K</a:t>
            </a:r>
            <a:r>
              <a:rPr lang="zh-CN" altLang="en-US" dirty="0" smtClean="0"/>
              <a:t>、</a:t>
            </a:r>
            <a:r>
              <a:rPr lang="en-US" altLang="zh-CN" dirty="0" smtClean="0"/>
              <a:t>D</a:t>
            </a:r>
            <a:r>
              <a:rPr lang="zh-CN" altLang="en-US" dirty="0" smtClean="0"/>
              <a:t>、</a:t>
            </a:r>
            <a:r>
              <a:rPr lang="en-US" altLang="zh-CN" dirty="0" smtClean="0"/>
              <a:t>T</a:t>
            </a:r>
            <a:r>
              <a:rPr lang="zh-CN" altLang="en-US" dirty="0" smtClean="0"/>
              <a:t>）的动态参数</a:t>
            </a:r>
            <a:endParaRPr lang="en-US" altLang="zh-CN" dirty="0" smtClean="0"/>
          </a:p>
          <a:p>
            <a:pPr>
              <a:lnSpc>
                <a:spcPct val="100000"/>
              </a:lnSpc>
              <a:spcBef>
                <a:spcPts val="0"/>
              </a:spcBef>
              <a:buSzPct val="100000"/>
              <a:buNone/>
            </a:pPr>
            <a:r>
              <a:rPr lang="en-US" altLang="zh-CN" dirty="0" smtClean="0"/>
              <a:t>          </a:t>
            </a:r>
            <a:r>
              <a:rPr lang="zh-CN" altLang="en-US" dirty="0" smtClean="0">
                <a:solidFill>
                  <a:srgbClr val="FF0000"/>
                </a:solidFill>
              </a:rPr>
              <a:t>建立时间</a:t>
            </a:r>
            <a:r>
              <a:rPr lang="en-US" altLang="zh-CN" dirty="0" smtClean="0"/>
              <a:t>T</a:t>
            </a:r>
            <a:r>
              <a:rPr lang="en-US" altLang="zh-CN" baseline="-25000" dirty="0" smtClean="0"/>
              <a:t>setup</a:t>
            </a:r>
            <a:r>
              <a:rPr lang="en-US" altLang="zh-CN" dirty="0" smtClean="0"/>
              <a:t> </a:t>
            </a:r>
            <a:r>
              <a:rPr lang="zh-CN" altLang="en-US" dirty="0" smtClean="0"/>
              <a:t>：输入信号必须在时钟有效沿之前准备好的最小时间。</a:t>
            </a:r>
            <a:endParaRPr lang="en-US" altLang="zh-CN" dirty="0" smtClean="0"/>
          </a:p>
          <a:p>
            <a:pPr>
              <a:lnSpc>
                <a:spcPct val="100000"/>
              </a:lnSpc>
              <a:spcBef>
                <a:spcPts val="0"/>
              </a:spcBef>
              <a:buSzPct val="100000"/>
              <a:buNone/>
            </a:pPr>
            <a:r>
              <a:rPr lang="zh-CN" altLang="en-US" dirty="0" smtClean="0"/>
              <a:t>          </a:t>
            </a:r>
            <a:r>
              <a:rPr lang="zh-CN" altLang="en-US" dirty="0" smtClean="0">
                <a:solidFill>
                  <a:srgbClr val="FF0000"/>
                </a:solidFill>
              </a:rPr>
              <a:t>保持时间</a:t>
            </a:r>
            <a:r>
              <a:rPr lang="en-US" altLang="zh-CN" dirty="0" err="1" smtClean="0"/>
              <a:t>T</a:t>
            </a:r>
            <a:r>
              <a:rPr lang="en-US" altLang="zh-CN" baseline="-25000" dirty="0" err="1" smtClean="0"/>
              <a:t>hold</a:t>
            </a:r>
            <a:r>
              <a:rPr lang="en-US" altLang="zh-CN" dirty="0" smtClean="0"/>
              <a:t> </a:t>
            </a:r>
            <a:r>
              <a:rPr lang="zh-CN" altLang="en-US" dirty="0" smtClean="0"/>
              <a:t>：输入信号在时钟有效沿之后应保持稳定不变的时间。</a:t>
            </a:r>
            <a:endParaRPr lang="en-US" altLang="zh-CN" dirty="0" smtClean="0"/>
          </a:p>
          <a:p>
            <a:pPr>
              <a:lnSpc>
                <a:spcPct val="100000"/>
              </a:lnSpc>
              <a:spcBef>
                <a:spcPts val="600"/>
              </a:spcBef>
              <a:buSzPct val="100000"/>
              <a:buNone/>
            </a:pPr>
            <a:r>
              <a:rPr lang="en-US" altLang="zh-CN" dirty="0" smtClean="0"/>
              <a:t>  </a:t>
            </a:r>
            <a:r>
              <a:rPr lang="zh-CN" altLang="en-US" dirty="0" smtClean="0"/>
              <a:t>（</a:t>
            </a:r>
            <a:r>
              <a:rPr lang="en-US" altLang="zh-CN" dirty="0" smtClean="0"/>
              <a:t>2</a:t>
            </a:r>
            <a:r>
              <a:rPr lang="zh-CN" altLang="en-US" dirty="0" smtClean="0"/>
              <a:t>）时钟信号</a:t>
            </a:r>
            <a:r>
              <a:rPr lang="en-US" altLang="zh-CN" dirty="0" smtClean="0"/>
              <a:t>CLK</a:t>
            </a:r>
            <a:r>
              <a:rPr lang="zh-CN" altLang="en-US" dirty="0" smtClean="0"/>
              <a:t>动态参数</a:t>
            </a:r>
            <a:endParaRPr lang="en-US" altLang="zh-CN" dirty="0" smtClean="0"/>
          </a:p>
          <a:p>
            <a:pPr>
              <a:lnSpc>
                <a:spcPct val="100000"/>
              </a:lnSpc>
              <a:spcBef>
                <a:spcPts val="0"/>
              </a:spcBef>
              <a:buSzPct val="100000"/>
              <a:buNone/>
            </a:pPr>
            <a:r>
              <a:rPr lang="en-US" altLang="zh-CN" dirty="0" smtClean="0"/>
              <a:t>         CLK</a:t>
            </a:r>
            <a:r>
              <a:rPr lang="zh-CN" altLang="en-US" dirty="0" smtClean="0"/>
              <a:t>信号</a:t>
            </a:r>
            <a:r>
              <a:rPr lang="zh-CN" altLang="en-US" dirty="0" smtClean="0">
                <a:solidFill>
                  <a:srgbClr val="FF0000"/>
                </a:solidFill>
              </a:rPr>
              <a:t>最高时钟频率</a:t>
            </a:r>
            <a:r>
              <a:rPr lang="en-US" altLang="zh-CN" dirty="0" smtClean="0"/>
              <a:t>f</a:t>
            </a:r>
            <a:r>
              <a:rPr lang="en-US" altLang="zh-CN" baseline="-25000" dirty="0" smtClean="0"/>
              <a:t>max</a:t>
            </a:r>
            <a:r>
              <a:rPr lang="zh-CN" altLang="en-US" dirty="0" smtClean="0"/>
              <a:t>。</a:t>
            </a:r>
            <a:endParaRPr lang="en-US" altLang="zh-CN" dirty="0" smtClean="0"/>
          </a:p>
          <a:p>
            <a:pPr>
              <a:lnSpc>
                <a:spcPct val="100000"/>
              </a:lnSpc>
              <a:spcBef>
                <a:spcPts val="600"/>
              </a:spcBef>
              <a:buSzPct val="100000"/>
              <a:buNone/>
            </a:pPr>
            <a:r>
              <a:rPr lang="en-US" altLang="zh-CN" dirty="0" smtClean="0"/>
              <a:t> </a:t>
            </a:r>
            <a:r>
              <a:rPr lang="zh-CN" altLang="en-US" dirty="0" smtClean="0"/>
              <a:t>（</a:t>
            </a:r>
            <a:r>
              <a:rPr lang="en-US" altLang="zh-CN" dirty="0" smtClean="0"/>
              <a:t>3</a:t>
            </a:r>
            <a:r>
              <a:rPr lang="zh-CN" altLang="en-US" dirty="0" smtClean="0"/>
              <a:t>）</a:t>
            </a:r>
            <a:r>
              <a:rPr lang="zh-CN" altLang="en-US" dirty="0" smtClean="0">
                <a:solidFill>
                  <a:srgbClr val="FF0000"/>
                </a:solidFill>
              </a:rPr>
              <a:t>传输延迟时间</a:t>
            </a:r>
            <a:endParaRPr lang="en-US" altLang="zh-CN" dirty="0" smtClean="0">
              <a:solidFill>
                <a:srgbClr val="FF0000"/>
              </a:solidFill>
            </a:endParaRPr>
          </a:p>
          <a:p>
            <a:pPr>
              <a:lnSpc>
                <a:spcPct val="100000"/>
              </a:lnSpc>
              <a:spcBef>
                <a:spcPts val="0"/>
              </a:spcBef>
              <a:buSzPct val="100000"/>
              <a:buNone/>
            </a:pPr>
            <a:r>
              <a:rPr lang="en-US" altLang="zh-CN" dirty="0" smtClean="0"/>
              <a:t>        </a:t>
            </a:r>
            <a:r>
              <a:rPr lang="en-US" altLang="zh-CN" dirty="0" err="1" smtClean="0"/>
              <a:t>T</a:t>
            </a:r>
            <a:r>
              <a:rPr lang="en-US" altLang="zh-CN" baseline="-25000" dirty="0" err="1" smtClean="0"/>
              <a:t>pHL</a:t>
            </a:r>
            <a:r>
              <a:rPr lang="en-US" altLang="zh-CN" dirty="0" smtClean="0"/>
              <a:t> </a:t>
            </a:r>
            <a:r>
              <a:rPr lang="zh-CN" altLang="en-US" dirty="0" smtClean="0"/>
              <a:t>：从时钟触发沿到输出高电平变为低电平所需时间。</a:t>
            </a:r>
            <a:endParaRPr lang="en-US" altLang="zh-CN" dirty="0" smtClean="0"/>
          </a:p>
          <a:p>
            <a:pPr>
              <a:lnSpc>
                <a:spcPct val="100000"/>
              </a:lnSpc>
              <a:spcBef>
                <a:spcPts val="0"/>
              </a:spcBef>
              <a:buSzPct val="100000"/>
              <a:buNone/>
            </a:pPr>
            <a:r>
              <a:rPr lang="zh-CN" altLang="en-US" dirty="0" smtClean="0"/>
              <a:t>        </a:t>
            </a:r>
            <a:r>
              <a:rPr lang="en-US" altLang="zh-CN" dirty="0" err="1" smtClean="0"/>
              <a:t>T</a:t>
            </a:r>
            <a:r>
              <a:rPr lang="en-US" altLang="zh-CN" baseline="-25000" dirty="0" err="1" smtClean="0"/>
              <a:t>pLH</a:t>
            </a:r>
            <a:r>
              <a:rPr lang="en-US" altLang="zh-CN" dirty="0" smtClean="0"/>
              <a:t> </a:t>
            </a:r>
            <a:r>
              <a:rPr lang="zh-CN" altLang="en-US" dirty="0" smtClean="0"/>
              <a:t>：从时钟触发沿到输出低电平变为高电平所需时间。</a:t>
            </a:r>
            <a:endParaRPr lang="en-US" altLang="zh-CN" dirty="0" smtClean="0"/>
          </a:p>
          <a:p>
            <a:pPr>
              <a:lnSpc>
                <a:spcPct val="100000"/>
              </a:lnSpc>
              <a:spcBef>
                <a:spcPts val="600"/>
              </a:spcBef>
              <a:buSzPct val="100000"/>
              <a:buNone/>
            </a:pPr>
            <a:endParaRPr lang="en-US" altLang="zh-CN" dirty="0" smtClean="0"/>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54</a:t>
            </a:fld>
            <a:endParaRPr lang="zh-CN" altLang="en-US"/>
          </a:p>
        </p:txBody>
      </p:sp>
      <p:sp>
        <p:nvSpPr>
          <p:cNvPr id="258065" name="文本框 258064"/>
          <p:cNvSpPr txBox="1"/>
          <p:nvPr/>
        </p:nvSpPr>
        <p:spPr>
          <a:xfrm>
            <a:off x="793433" y="4438650"/>
            <a:ext cx="7489825" cy="368300"/>
          </a:xfrm>
          <a:prstGeom prst="rect">
            <a:avLst/>
          </a:prstGeom>
          <a:noFill/>
          <a:ln w="9525">
            <a:noFill/>
          </a:ln>
        </p:spPr>
        <p:txBody>
          <a:bodyPr>
            <a:spAutoFit/>
          </a:bodyPr>
          <a:lstStyle/>
          <a:p>
            <a:pPr>
              <a:spcBef>
                <a:spcPct val="50000"/>
              </a:spcBef>
            </a:pPr>
            <a:r>
              <a:rPr lang="en-US" altLang="zh-CN" b="1" dirty="0">
                <a:latin typeface="Arial" panose="020B0604020202020204" pitchFamily="34" charset="0"/>
              </a:rPr>
              <a:t>        </a:t>
            </a:r>
            <a:endParaRPr lang="zh-CN" altLang="en-US" b="1" dirty="0">
              <a:latin typeface="Arial" panose="020B0604020202020204" pitchFamily="34" charset="0"/>
            </a:endParaRPr>
          </a:p>
        </p:txBody>
      </p:sp>
      <p:sp>
        <p:nvSpPr>
          <p:cNvPr id="7" name="标题 1"/>
          <p:cNvSpPr>
            <a:spLocks noGrp="1"/>
          </p:cNvSpPr>
          <p:nvPr>
            <p:ph type="title"/>
          </p:nvPr>
        </p:nvSpPr>
        <p:spPr>
          <a:xfrm>
            <a:off x="1187624" y="1052736"/>
            <a:ext cx="7756351" cy="635794"/>
          </a:xfrm>
        </p:spPr>
        <p:txBody>
          <a:bodyPr/>
          <a:lstStyle/>
          <a:p>
            <a:r>
              <a:rPr lang="en-US" altLang="zh-CN" dirty="0" smtClean="0"/>
              <a:t>5.2.2 </a:t>
            </a:r>
            <a:r>
              <a:rPr lang="zh-CN" altLang="en-US" dirty="0" smtClean="0"/>
              <a:t>主从</a:t>
            </a:r>
            <a:r>
              <a:rPr lang="en-US" altLang="zh-CN" dirty="0" smtClean="0"/>
              <a:t>JK</a:t>
            </a:r>
            <a:r>
              <a:rPr lang="zh-CN" altLang="en-US" dirty="0" smtClean="0"/>
              <a:t>触发器</a:t>
            </a:r>
            <a:endParaRPr lang="zh-CN" altLang="en-US" dirty="0"/>
          </a:p>
        </p:txBody>
      </p:sp>
      <p:sp>
        <p:nvSpPr>
          <p:cNvPr id="8" name="标题 1"/>
          <p:cNvSpPr txBox="1">
            <a:spLocks/>
          </p:cNvSpPr>
          <p:nvPr/>
        </p:nvSpPr>
        <p:spPr bwMode="auto">
          <a:xfrm>
            <a:off x="1187624" y="332656"/>
            <a:ext cx="7632848" cy="5669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5.2 </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脉冲</a:t>
            </a:r>
            <a:r>
              <a:rPr kumimoji="1" lang="zh-CN" altLang="en-US" sz="3200" b="1" kern="0" dirty="0" smtClean="0">
                <a:solidFill>
                  <a:schemeClr val="tx2"/>
                </a:solidFill>
                <a:latin typeface="+mj-lt"/>
                <a:ea typeface="+mj-ea"/>
                <a:cs typeface="+mj-cs"/>
              </a:rPr>
              <a:t>触发的</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触发器</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23528" y="1988840"/>
            <a:ext cx="8640960" cy="4608512"/>
          </a:xfrm>
        </p:spPr>
        <p:txBody>
          <a:bodyPr/>
          <a:lstStyle/>
          <a:p>
            <a:pPr>
              <a:lnSpc>
                <a:spcPct val="100000"/>
              </a:lnSpc>
              <a:spcBef>
                <a:spcPts val="600"/>
              </a:spcBef>
              <a:buSzPct val="100000"/>
              <a:buFont typeface="Wingdings" pitchFamily="2" charset="2"/>
              <a:buChar char="p"/>
            </a:pPr>
            <a:r>
              <a:rPr lang="en-US" altLang="zh-CN" sz="2800" dirty="0" smtClean="0"/>
              <a:t>3. </a:t>
            </a:r>
            <a:r>
              <a:rPr lang="zh-CN" altLang="en-US" sz="2800" dirty="0" smtClean="0"/>
              <a:t>触发器的动态参数</a:t>
            </a:r>
            <a:endParaRPr lang="en-US" altLang="zh-CN" sz="2800" dirty="0" smtClean="0"/>
          </a:p>
          <a:p>
            <a:pPr>
              <a:lnSpc>
                <a:spcPct val="100000"/>
              </a:lnSpc>
              <a:spcBef>
                <a:spcPts val="0"/>
              </a:spcBef>
              <a:buSzPct val="100000"/>
              <a:buNone/>
            </a:pPr>
            <a:r>
              <a:rPr lang="en-US" altLang="zh-CN" sz="2800" dirty="0" smtClean="0"/>
              <a:t>          </a:t>
            </a:r>
            <a:r>
              <a:rPr lang="zh-CN" altLang="en-US" dirty="0" smtClean="0"/>
              <a:t>因此，在画触发器的时序波形图时，如果</a:t>
            </a:r>
            <a:r>
              <a:rPr lang="zh-CN" altLang="en-US" dirty="0" smtClean="0">
                <a:solidFill>
                  <a:srgbClr val="FF0000"/>
                </a:solidFill>
              </a:rPr>
              <a:t>不考虑门的时延</a:t>
            </a:r>
            <a:r>
              <a:rPr lang="zh-CN" altLang="en-US" dirty="0" smtClean="0"/>
              <a:t>，应注意以下三点：</a:t>
            </a:r>
            <a:endParaRPr lang="en-US" altLang="zh-CN" dirty="0" smtClean="0"/>
          </a:p>
          <a:p>
            <a:pPr lvl="1">
              <a:lnSpc>
                <a:spcPct val="100000"/>
              </a:lnSpc>
              <a:spcBef>
                <a:spcPts val="0"/>
              </a:spcBef>
              <a:buClr>
                <a:srgbClr val="FF0000"/>
              </a:buClr>
              <a:buSzPct val="100000"/>
            </a:pPr>
            <a:r>
              <a:rPr lang="en-US" altLang="zh-CN" sz="2400" dirty="0" smtClean="0"/>
              <a:t> </a:t>
            </a:r>
            <a:r>
              <a:rPr lang="zh-CN" altLang="en-US" sz="2400" dirty="0" smtClean="0">
                <a:solidFill>
                  <a:srgbClr val="FF0000"/>
                </a:solidFill>
              </a:rPr>
              <a:t>异步置</a:t>
            </a:r>
            <a:r>
              <a:rPr lang="en-US" altLang="zh-CN" sz="2400" dirty="0" smtClean="0">
                <a:solidFill>
                  <a:srgbClr val="FF0000"/>
                </a:solidFill>
              </a:rPr>
              <a:t>1</a:t>
            </a:r>
            <a:r>
              <a:rPr lang="zh-CN" altLang="en-US" sz="2400" dirty="0" smtClean="0">
                <a:solidFill>
                  <a:srgbClr val="FF0000"/>
                </a:solidFill>
              </a:rPr>
              <a:t>端和异步置</a:t>
            </a:r>
            <a:r>
              <a:rPr lang="en-US" altLang="zh-CN" sz="2400" dirty="0" smtClean="0">
                <a:solidFill>
                  <a:srgbClr val="FF0000"/>
                </a:solidFill>
              </a:rPr>
              <a:t>0</a:t>
            </a:r>
            <a:r>
              <a:rPr lang="zh-CN" altLang="en-US" sz="2400" dirty="0" smtClean="0">
                <a:solidFill>
                  <a:srgbClr val="FF0000"/>
                </a:solidFill>
              </a:rPr>
              <a:t>端可以直接确定触发器的状态</a:t>
            </a:r>
            <a:r>
              <a:rPr lang="zh-CN" altLang="en-US" sz="2400" dirty="0" smtClean="0"/>
              <a:t>，与时钟信号无关。</a:t>
            </a:r>
            <a:endParaRPr lang="en-US" altLang="zh-CN" sz="2400" dirty="0" smtClean="0"/>
          </a:p>
          <a:p>
            <a:pPr lvl="1">
              <a:lnSpc>
                <a:spcPct val="100000"/>
              </a:lnSpc>
              <a:spcBef>
                <a:spcPts val="0"/>
              </a:spcBef>
              <a:buClr>
                <a:srgbClr val="FF0000"/>
              </a:buClr>
              <a:buSzPct val="100000"/>
            </a:pPr>
            <a:r>
              <a:rPr lang="en-US" altLang="zh-CN" sz="2400" dirty="0" smtClean="0"/>
              <a:t> </a:t>
            </a:r>
            <a:r>
              <a:rPr lang="zh-CN" altLang="en-US" sz="2400" dirty="0" smtClean="0"/>
              <a:t>如果</a:t>
            </a:r>
            <a:r>
              <a:rPr lang="zh-CN" altLang="en-US" sz="2400" dirty="0" smtClean="0">
                <a:solidFill>
                  <a:srgbClr val="FF0000"/>
                </a:solidFill>
              </a:rPr>
              <a:t>异步信号无效</a:t>
            </a:r>
            <a:r>
              <a:rPr lang="zh-CN" altLang="en-US" sz="2400" dirty="0" smtClean="0"/>
              <a:t>，在时钟信号的有效沿</a:t>
            </a:r>
            <a:r>
              <a:rPr lang="zh-CN" altLang="en-US" sz="2400" dirty="0" smtClean="0">
                <a:solidFill>
                  <a:srgbClr val="0000CC"/>
                </a:solidFill>
              </a:rPr>
              <a:t>按输入信号确定</a:t>
            </a:r>
            <a:r>
              <a:rPr lang="zh-CN" altLang="en-US" sz="2400" dirty="0" smtClean="0"/>
              <a:t>触发器状态。如果时钟有效沿与输入信号的</a:t>
            </a:r>
            <a:r>
              <a:rPr lang="zh-CN" altLang="en-US" sz="2400" dirty="0" smtClean="0">
                <a:solidFill>
                  <a:srgbClr val="FF0000"/>
                </a:solidFill>
              </a:rPr>
              <a:t>变化同时发生</a:t>
            </a:r>
            <a:r>
              <a:rPr lang="zh-CN" altLang="en-US" sz="2400" dirty="0" smtClean="0"/>
              <a:t>，取</a:t>
            </a:r>
            <a:r>
              <a:rPr lang="zh-CN" altLang="en-US" sz="2400" dirty="0" smtClean="0">
                <a:solidFill>
                  <a:srgbClr val="0000CC"/>
                </a:solidFill>
              </a:rPr>
              <a:t>时钟有效沿之前的瞬间输入信号</a:t>
            </a:r>
            <a:r>
              <a:rPr lang="zh-CN" altLang="en-US" sz="2400" dirty="0" smtClean="0"/>
              <a:t>确定触发器状态。</a:t>
            </a:r>
            <a:endParaRPr lang="en-US" altLang="zh-CN" sz="2400" dirty="0" smtClean="0"/>
          </a:p>
          <a:p>
            <a:pPr lvl="1">
              <a:lnSpc>
                <a:spcPct val="100000"/>
              </a:lnSpc>
              <a:spcBef>
                <a:spcPts val="0"/>
              </a:spcBef>
              <a:buClr>
                <a:srgbClr val="FF0000"/>
              </a:buClr>
              <a:buSzPct val="100000"/>
            </a:pPr>
            <a:r>
              <a:rPr lang="en-US" altLang="zh-CN" sz="2400" dirty="0" smtClean="0"/>
              <a:t> </a:t>
            </a:r>
            <a:r>
              <a:rPr lang="zh-CN" altLang="en-US" sz="2400" dirty="0" smtClean="0"/>
              <a:t>如果</a:t>
            </a:r>
            <a:r>
              <a:rPr lang="zh-CN" altLang="en-US" sz="2400" dirty="0" smtClean="0">
                <a:solidFill>
                  <a:srgbClr val="FF0000"/>
                </a:solidFill>
              </a:rPr>
              <a:t>异步信号</a:t>
            </a:r>
            <a:r>
              <a:rPr lang="zh-CN" altLang="en-US" sz="2400" dirty="0" smtClean="0"/>
              <a:t>（置</a:t>
            </a:r>
            <a:r>
              <a:rPr lang="en-US" altLang="zh-CN" sz="2400" dirty="0" smtClean="0"/>
              <a:t>0</a:t>
            </a:r>
            <a:r>
              <a:rPr lang="zh-CN" altLang="en-US" sz="2400" dirty="0" smtClean="0"/>
              <a:t>或置</a:t>
            </a:r>
            <a:r>
              <a:rPr lang="en-US" altLang="zh-CN" sz="2400" dirty="0" smtClean="0"/>
              <a:t>1</a:t>
            </a:r>
            <a:r>
              <a:rPr lang="zh-CN" altLang="en-US" sz="2400" dirty="0" smtClean="0"/>
              <a:t>信号）从</a:t>
            </a:r>
            <a:r>
              <a:rPr lang="zh-CN" altLang="en-US" sz="2400" dirty="0" smtClean="0">
                <a:solidFill>
                  <a:srgbClr val="FF0000"/>
                </a:solidFill>
              </a:rPr>
              <a:t>有效变为无效</a:t>
            </a:r>
            <a:r>
              <a:rPr lang="zh-CN" altLang="en-US" sz="2400" dirty="0" smtClean="0"/>
              <a:t>（如低电平有效，由</a:t>
            </a:r>
            <a:r>
              <a:rPr lang="en-US" altLang="zh-CN" sz="2400" dirty="0" smtClean="0"/>
              <a:t>0</a:t>
            </a:r>
            <a:r>
              <a:rPr lang="zh-CN" altLang="en-US" sz="2400" dirty="0" smtClean="0"/>
              <a:t>变为</a:t>
            </a:r>
            <a:r>
              <a:rPr lang="en-US" altLang="zh-CN" sz="2400" dirty="0" smtClean="0"/>
              <a:t>1</a:t>
            </a:r>
            <a:r>
              <a:rPr lang="zh-CN" altLang="en-US" sz="2400" dirty="0" smtClean="0"/>
              <a:t>）的时刻</a:t>
            </a:r>
            <a:r>
              <a:rPr lang="zh-CN" altLang="en-US" sz="2400" dirty="0" smtClean="0">
                <a:solidFill>
                  <a:srgbClr val="FF0000"/>
                </a:solidFill>
              </a:rPr>
              <a:t>刚好与时钟的有效沿重合</a:t>
            </a:r>
            <a:r>
              <a:rPr lang="zh-CN" altLang="en-US" sz="2400" dirty="0" smtClean="0"/>
              <a:t>，则当前的时钟有效沿失效，</a:t>
            </a:r>
            <a:r>
              <a:rPr lang="zh-CN" altLang="en-US" sz="2400" dirty="0" smtClean="0">
                <a:solidFill>
                  <a:srgbClr val="0000CC"/>
                </a:solidFill>
              </a:rPr>
              <a:t>不按照输入确定触发器状态</a:t>
            </a:r>
            <a:r>
              <a:rPr lang="zh-CN" altLang="en-US" sz="2400" dirty="0" smtClean="0"/>
              <a:t>，而是按之前的瞬间异步信号确定。</a:t>
            </a:r>
            <a:endParaRPr lang="en-US" altLang="zh-CN" sz="2400" dirty="0" smtClean="0"/>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55</a:t>
            </a:fld>
            <a:endParaRPr lang="zh-CN" altLang="en-US"/>
          </a:p>
        </p:txBody>
      </p:sp>
      <p:sp>
        <p:nvSpPr>
          <p:cNvPr id="258065" name="文本框 258064"/>
          <p:cNvSpPr txBox="1"/>
          <p:nvPr/>
        </p:nvSpPr>
        <p:spPr>
          <a:xfrm>
            <a:off x="793433" y="4438650"/>
            <a:ext cx="7489825" cy="368300"/>
          </a:xfrm>
          <a:prstGeom prst="rect">
            <a:avLst/>
          </a:prstGeom>
          <a:noFill/>
          <a:ln w="9525">
            <a:noFill/>
          </a:ln>
        </p:spPr>
        <p:txBody>
          <a:bodyPr>
            <a:spAutoFit/>
          </a:bodyPr>
          <a:lstStyle/>
          <a:p>
            <a:pPr>
              <a:spcBef>
                <a:spcPct val="50000"/>
              </a:spcBef>
            </a:pPr>
            <a:r>
              <a:rPr lang="en-US" altLang="zh-CN" b="1" dirty="0">
                <a:latin typeface="Arial" panose="020B0604020202020204" pitchFamily="34" charset="0"/>
              </a:rPr>
              <a:t>        </a:t>
            </a:r>
            <a:endParaRPr lang="zh-CN" altLang="en-US" b="1" dirty="0">
              <a:latin typeface="Arial" panose="020B0604020202020204" pitchFamily="34" charset="0"/>
            </a:endParaRPr>
          </a:p>
        </p:txBody>
      </p:sp>
      <p:sp>
        <p:nvSpPr>
          <p:cNvPr id="7" name="标题 1"/>
          <p:cNvSpPr>
            <a:spLocks noGrp="1"/>
          </p:cNvSpPr>
          <p:nvPr>
            <p:ph type="title"/>
          </p:nvPr>
        </p:nvSpPr>
        <p:spPr>
          <a:xfrm>
            <a:off x="1187624" y="1052736"/>
            <a:ext cx="7756351" cy="635794"/>
          </a:xfrm>
        </p:spPr>
        <p:txBody>
          <a:bodyPr/>
          <a:lstStyle/>
          <a:p>
            <a:r>
              <a:rPr lang="en-US" altLang="zh-CN" dirty="0" smtClean="0"/>
              <a:t>5.2.2 </a:t>
            </a:r>
            <a:r>
              <a:rPr lang="zh-CN" altLang="en-US" dirty="0" smtClean="0"/>
              <a:t>主从</a:t>
            </a:r>
            <a:r>
              <a:rPr lang="en-US" altLang="zh-CN" dirty="0" smtClean="0"/>
              <a:t>JK</a:t>
            </a:r>
            <a:r>
              <a:rPr lang="zh-CN" altLang="en-US" dirty="0" smtClean="0"/>
              <a:t>触发器</a:t>
            </a:r>
            <a:endParaRPr lang="zh-CN" altLang="en-US" dirty="0"/>
          </a:p>
        </p:txBody>
      </p:sp>
      <p:sp>
        <p:nvSpPr>
          <p:cNvPr id="8" name="标题 1"/>
          <p:cNvSpPr txBox="1">
            <a:spLocks/>
          </p:cNvSpPr>
          <p:nvPr/>
        </p:nvSpPr>
        <p:spPr bwMode="auto">
          <a:xfrm>
            <a:off x="1187624" y="332656"/>
            <a:ext cx="7632848" cy="5669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5.2 </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脉冲</a:t>
            </a:r>
            <a:r>
              <a:rPr kumimoji="1" lang="zh-CN" altLang="en-US" sz="3200" b="1" kern="0" dirty="0" smtClean="0">
                <a:solidFill>
                  <a:schemeClr val="tx2"/>
                </a:solidFill>
                <a:latin typeface="+mj-lt"/>
                <a:ea typeface="+mj-ea"/>
                <a:cs typeface="+mj-cs"/>
              </a:rPr>
              <a:t>触发的</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触发器</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23528" y="1988840"/>
            <a:ext cx="8676456" cy="4608512"/>
          </a:xfrm>
        </p:spPr>
        <p:txBody>
          <a:bodyPr/>
          <a:lstStyle/>
          <a:p>
            <a:pPr>
              <a:lnSpc>
                <a:spcPct val="100000"/>
              </a:lnSpc>
              <a:spcBef>
                <a:spcPts val="600"/>
              </a:spcBef>
              <a:buSzPct val="100000"/>
              <a:buFont typeface="Wingdings" pitchFamily="2" charset="2"/>
              <a:buChar char="p"/>
            </a:pPr>
            <a:r>
              <a:rPr lang="zh-CN" altLang="en-US" sz="2800" dirty="0" smtClean="0">
                <a:solidFill>
                  <a:srgbClr val="0000CC"/>
                </a:solidFill>
              </a:rPr>
              <a:t>例</a:t>
            </a:r>
            <a:r>
              <a:rPr lang="en-US" altLang="zh-CN" sz="2800" dirty="0" smtClean="0">
                <a:solidFill>
                  <a:srgbClr val="0000CC"/>
                </a:solidFill>
              </a:rPr>
              <a:t>5.5</a:t>
            </a:r>
            <a:r>
              <a:rPr lang="en-US" altLang="zh-CN" sz="2800" dirty="0" smtClean="0"/>
              <a:t>  </a:t>
            </a:r>
            <a:r>
              <a:rPr lang="zh-CN" altLang="en-US" sz="2800" dirty="0" smtClean="0"/>
              <a:t>对图</a:t>
            </a:r>
            <a:r>
              <a:rPr lang="en-US" altLang="zh-CN" sz="2800" dirty="0" smtClean="0"/>
              <a:t>5.19</a:t>
            </a:r>
            <a:r>
              <a:rPr lang="zh-CN" altLang="en-US" sz="2800" dirty="0" smtClean="0"/>
              <a:t>的主从</a:t>
            </a:r>
            <a:r>
              <a:rPr lang="en-US" altLang="zh-CN" sz="2800" dirty="0" smtClean="0"/>
              <a:t>JK</a:t>
            </a:r>
            <a:r>
              <a:rPr lang="zh-CN" altLang="en-US" sz="2800" dirty="0" smtClean="0"/>
              <a:t>触发器，若</a:t>
            </a:r>
            <a:r>
              <a:rPr lang="en-US" altLang="zh-CN" sz="2800" dirty="0" smtClean="0"/>
              <a:t>J</a:t>
            </a:r>
            <a:r>
              <a:rPr lang="zh-CN" altLang="en-US" sz="2800" dirty="0" smtClean="0"/>
              <a:t>、</a:t>
            </a:r>
            <a:r>
              <a:rPr lang="en-US" altLang="zh-CN" sz="2800" dirty="0" smtClean="0"/>
              <a:t>K</a:t>
            </a:r>
            <a:r>
              <a:rPr lang="zh-CN" altLang="en-US" sz="2800" dirty="0" smtClean="0"/>
              <a:t>、   和    的波形图如图</a:t>
            </a:r>
            <a:r>
              <a:rPr lang="en-US" altLang="zh-CN" sz="2800" dirty="0" smtClean="0"/>
              <a:t>5.22</a:t>
            </a:r>
            <a:r>
              <a:rPr lang="zh-CN" altLang="en-US" sz="2800" dirty="0" smtClean="0"/>
              <a:t>所示，画出触发器的输出波形图。</a:t>
            </a:r>
            <a:endParaRPr lang="en-US" altLang="zh-CN" sz="2800" dirty="0" smtClean="0"/>
          </a:p>
          <a:p>
            <a:pPr lvl="1">
              <a:lnSpc>
                <a:spcPct val="100000"/>
              </a:lnSpc>
              <a:spcBef>
                <a:spcPts val="0"/>
              </a:spcBef>
              <a:buSzPct val="100000"/>
            </a:pPr>
            <a:r>
              <a:rPr lang="zh-CN" altLang="en-US" sz="2400" dirty="0" smtClean="0">
                <a:solidFill>
                  <a:srgbClr val="0000CC"/>
                </a:solidFill>
              </a:rPr>
              <a:t>解：</a:t>
            </a:r>
            <a:r>
              <a:rPr lang="zh-CN" altLang="en-US" sz="2400" dirty="0" smtClean="0">
                <a:solidFill>
                  <a:schemeClr val="bg2"/>
                </a:solidFill>
              </a:rPr>
              <a:t>直接画出触发器在时钟信号</a:t>
            </a:r>
            <a:r>
              <a:rPr lang="en-US" altLang="zh-CN" sz="2400" dirty="0" smtClean="0">
                <a:solidFill>
                  <a:schemeClr val="bg2"/>
                </a:solidFill>
              </a:rPr>
              <a:t>CLK</a:t>
            </a:r>
            <a:r>
              <a:rPr lang="zh-CN" altLang="en-US" sz="2400" dirty="0" smtClean="0">
                <a:solidFill>
                  <a:schemeClr val="bg2"/>
                </a:solidFill>
              </a:rPr>
              <a:t>下降沿随</a:t>
            </a:r>
            <a:r>
              <a:rPr lang="en-US" altLang="zh-CN" sz="2400" dirty="0" smtClean="0">
                <a:solidFill>
                  <a:schemeClr val="bg2"/>
                </a:solidFill>
              </a:rPr>
              <a:t>J</a:t>
            </a:r>
            <a:r>
              <a:rPr lang="zh-CN" altLang="en-US" sz="2400" dirty="0" smtClean="0">
                <a:solidFill>
                  <a:schemeClr val="bg2"/>
                </a:solidFill>
              </a:rPr>
              <a:t>和</a:t>
            </a:r>
            <a:r>
              <a:rPr lang="en-US" altLang="zh-CN" sz="2400" dirty="0" smtClean="0">
                <a:solidFill>
                  <a:schemeClr val="bg2"/>
                </a:solidFill>
              </a:rPr>
              <a:t>K</a:t>
            </a:r>
            <a:r>
              <a:rPr lang="zh-CN" altLang="en-US" sz="2400" dirty="0" smtClean="0">
                <a:solidFill>
                  <a:schemeClr val="bg2"/>
                </a:solidFill>
              </a:rPr>
              <a:t>的变化波形如图</a:t>
            </a:r>
            <a:r>
              <a:rPr lang="en-US" altLang="zh-CN" sz="2400" dirty="0" smtClean="0">
                <a:solidFill>
                  <a:schemeClr val="bg2"/>
                </a:solidFill>
              </a:rPr>
              <a:t>5.22</a:t>
            </a:r>
            <a:r>
              <a:rPr lang="zh-CN" altLang="en-US" sz="2400" dirty="0" smtClean="0">
                <a:solidFill>
                  <a:schemeClr val="bg2"/>
                </a:solidFill>
              </a:rPr>
              <a:t>所示。</a:t>
            </a:r>
            <a:endParaRPr lang="en-US" altLang="zh-CN" sz="2400" dirty="0" smtClean="0">
              <a:solidFill>
                <a:schemeClr val="bg2"/>
              </a:solidFill>
            </a:endParaRPr>
          </a:p>
          <a:p>
            <a:pPr lvl="1">
              <a:lnSpc>
                <a:spcPct val="100000"/>
              </a:lnSpc>
              <a:spcBef>
                <a:spcPts val="0"/>
              </a:spcBef>
              <a:buSzPct val="100000"/>
              <a:buNone/>
            </a:pPr>
            <a:r>
              <a:rPr lang="zh-CN" altLang="en-US" sz="2400" dirty="0" smtClean="0">
                <a:solidFill>
                  <a:schemeClr val="bg2"/>
                </a:solidFill>
              </a:rPr>
              <a:t>（</a:t>
            </a:r>
            <a:r>
              <a:rPr lang="en-US" altLang="zh-CN" sz="2400" dirty="0" smtClean="0">
                <a:solidFill>
                  <a:schemeClr val="bg2"/>
                </a:solidFill>
              </a:rPr>
              <a:t>1</a:t>
            </a:r>
            <a:r>
              <a:rPr lang="zh-CN" altLang="en-US" sz="2400" dirty="0" smtClean="0">
                <a:solidFill>
                  <a:schemeClr val="bg2"/>
                </a:solidFill>
              </a:rPr>
              <a:t>）在第</a:t>
            </a:r>
            <a:r>
              <a:rPr lang="en-US" altLang="zh-CN" sz="2400" dirty="0" smtClean="0">
                <a:solidFill>
                  <a:schemeClr val="bg2"/>
                </a:solidFill>
              </a:rPr>
              <a:t>1</a:t>
            </a:r>
            <a:r>
              <a:rPr lang="zh-CN" altLang="en-US" sz="2400" dirty="0" smtClean="0">
                <a:solidFill>
                  <a:schemeClr val="bg2"/>
                </a:solidFill>
              </a:rPr>
              <a:t>个脉冲下降沿，</a:t>
            </a:r>
            <a:r>
              <a:rPr lang="en-US" altLang="zh-CN" sz="2400" dirty="0" smtClean="0">
                <a:solidFill>
                  <a:schemeClr val="bg2"/>
                </a:solidFill>
              </a:rPr>
              <a:t>J</a:t>
            </a:r>
            <a:r>
              <a:rPr lang="zh-CN" altLang="en-US" sz="2400" dirty="0" smtClean="0">
                <a:solidFill>
                  <a:schemeClr val="bg2"/>
                </a:solidFill>
              </a:rPr>
              <a:t>、</a:t>
            </a:r>
            <a:r>
              <a:rPr lang="en-US" altLang="zh-CN" sz="2400" dirty="0" smtClean="0">
                <a:solidFill>
                  <a:schemeClr val="bg2"/>
                </a:solidFill>
              </a:rPr>
              <a:t>K</a:t>
            </a:r>
            <a:r>
              <a:rPr lang="zh-CN" altLang="en-US" sz="2400" dirty="0" smtClean="0">
                <a:solidFill>
                  <a:schemeClr val="bg2"/>
                </a:solidFill>
              </a:rPr>
              <a:t>信号取之前瞬时的电平，即取</a:t>
            </a:r>
            <a:r>
              <a:rPr lang="en-US" altLang="zh-CN" sz="2400" dirty="0" smtClean="0">
                <a:solidFill>
                  <a:schemeClr val="bg2"/>
                </a:solidFill>
              </a:rPr>
              <a:t>J=0, K=1</a:t>
            </a:r>
            <a:r>
              <a:rPr lang="zh-CN" altLang="en-US" sz="2400" dirty="0" smtClean="0">
                <a:solidFill>
                  <a:schemeClr val="bg2"/>
                </a:solidFill>
              </a:rPr>
              <a:t>，所以</a:t>
            </a:r>
            <a:r>
              <a:rPr lang="en-US" altLang="zh-CN" sz="2400" dirty="0" smtClean="0">
                <a:solidFill>
                  <a:schemeClr val="bg2"/>
                </a:solidFill>
              </a:rPr>
              <a:t>Q=0</a:t>
            </a:r>
            <a:r>
              <a:rPr lang="zh-CN" altLang="en-US" sz="2400" dirty="0" smtClean="0">
                <a:solidFill>
                  <a:schemeClr val="bg2"/>
                </a:solidFill>
              </a:rPr>
              <a:t>。</a:t>
            </a:r>
            <a:endParaRPr lang="en-US" altLang="zh-CN" sz="2400" dirty="0" smtClean="0">
              <a:solidFill>
                <a:schemeClr val="bg2"/>
              </a:solidFill>
            </a:endParaRPr>
          </a:p>
          <a:p>
            <a:pPr lvl="1">
              <a:lnSpc>
                <a:spcPct val="100000"/>
              </a:lnSpc>
              <a:spcBef>
                <a:spcPts val="0"/>
              </a:spcBef>
              <a:buSzPct val="100000"/>
              <a:buNone/>
            </a:pPr>
            <a:r>
              <a:rPr lang="zh-CN" altLang="en-US" sz="2400" dirty="0" smtClean="0">
                <a:solidFill>
                  <a:schemeClr val="bg2"/>
                </a:solidFill>
              </a:rPr>
              <a:t>（</a:t>
            </a:r>
            <a:r>
              <a:rPr lang="en-US" altLang="zh-CN" sz="2400" dirty="0" smtClean="0">
                <a:solidFill>
                  <a:schemeClr val="bg2"/>
                </a:solidFill>
              </a:rPr>
              <a:t>2</a:t>
            </a:r>
            <a:r>
              <a:rPr lang="zh-CN" altLang="en-US" sz="2400" dirty="0" smtClean="0">
                <a:solidFill>
                  <a:schemeClr val="bg2"/>
                </a:solidFill>
              </a:rPr>
              <a:t>）在第</a:t>
            </a:r>
            <a:r>
              <a:rPr lang="en-US" altLang="zh-CN" sz="2400" dirty="0" smtClean="0">
                <a:solidFill>
                  <a:schemeClr val="bg2"/>
                </a:solidFill>
              </a:rPr>
              <a:t>2</a:t>
            </a:r>
            <a:r>
              <a:rPr lang="zh-CN" altLang="en-US" sz="2400" dirty="0" smtClean="0">
                <a:solidFill>
                  <a:schemeClr val="bg2"/>
                </a:solidFill>
              </a:rPr>
              <a:t>个脉冲下降沿，取</a:t>
            </a:r>
            <a:r>
              <a:rPr lang="en-US" altLang="zh-CN" sz="2400" dirty="0" smtClean="0">
                <a:solidFill>
                  <a:schemeClr val="bg2"/>
                </a:solidFill>
              </a:rPr>
              <a:t>J=1, K=0</a:t>
            </a:r>
            <a:r>
              <a:rPr lang="zh-CN" altLang="en-US" sz="2400" dirty="0" smtClean="0">
                <a:solidFill>
                  <a:schemeClr val="bg2"/>
                </a:solidFill>
              </a:rPr>
              <a:t>，所以</a:t>
            </a:r>
            <a:r>
              <a:rPr lang="en-US" altLang="zh-CN" sz="2400" dirty="0" smtClean="0">
                <a:solidFill>
                  <a:schemeClr val="bg2"/>
                </a:solidFill>
              </a:rPr>
              <a:t>Q=1</a:t>
            </a:r>
            <a:r>
              <a:rPr lang="zh-CN" altLang="en-US" sz="2400" dirty="0" smtClean="0">
                <a:solidFill>
                  <a:schemeClr val="bg2"/>
                </a:solidFill>
              </a:rPr>
              <a:t>。但是在此以后，由于异步置</a:t>
            </a:r>
            <a:r>
              <a:rPr lang="en-US" altLang="zh-CN" sz="2400" dirty="0" smtClean="0">
                <a:solidFill>
                  <a:schemeClr val="bg2"/>
                </a:solidFill>
              </a:rPr>
              <a:t>0</a:t>
            </a:r>
            <a:r>
              <a:rPr lang="zh-CN" altLang="en-US" sz="2400" dirty="0" smtClean="0">
                <a:solidFill>
                  <a:schemeClr val="bg2"/>
                </a:solidFill>
              </a:rPr>
              <a:t>信号    有效，使得 </a:t>
            </a:r>
            <a:r>
              <a:rPr lang="en-US" altLang="zh-CN" sz="2400" dirty="0" smtClean="0">
                <a:solidFill>
                  <a:schemeClr val="bg2"/>
                </a:solidFill>
              </a:rPr>
              <a:t>Q=0</a:t>
            </a:r>
            <a:r>
              <a:rPr lang="zh-CN" altLang="en-US" sz="2400" dirty="0" smtClean="0">
                <a:solidFill>
                  <a:schemeClr val="bg2"/>
                </a:solidFill>
              </a:rPr>
              <a:t>。</a:t>
            </a:r>
          </a:p>
          <a:p>
            <a:pPr lvl="1">
              <a:lnSpc>
                <a:spcPct val="100000"/>
              </a:lnSpc>
              <a:spcBef>
                <a:spcPts val="0"/>
              </a:spcBef>
              <a:buSzPct val="100000"/>
              <a:buNone/>
            </a:pPr>
            <a:r>
              <a:rPr lang="zh-CN" altLang="en-US" sz="2400" dirty="0" smtClean="0">
                <a:solidFill>
                  <a:schemeClr val="bg2"/>
                </a:solidFill>
              </a:rPr>
              <a:t>（</a:t>
            </a:r>
            <a:r>
              <a:rPr lang="en-US" altLang="zh-CN" sz="2400" dirty="0" smtClean="0">
                <a:solidFill>
                  <a:schemeClr val="bg2"/>
                </a:solidFill>
              </a:rPr>
              <a:t>3</a:t>
            </a:r>
            <a:r>
              <a:rPr lang="zh-CN" altLang="en-US" sz="2400" dirty="0" smtClean="0">
                <a:solidFill>
                  <a:schemeClr val="bg2"/>
                </a:solidFill>
              </a:rPr>
              <a:t>）在第</a:t>
            </a:r>
            <a:r>
              <a:rPr lang="en-US" altLang="zh-CN" sz="2400" dirty="0" smtClean="0">
                <a:solidFill>
                  <a:schemeClr val="bg2"/>
                </a:solidFill>
              </a:rPr>
              <a:t>3</a:t>
            </a:r>
            <a:r>
              <a:rPr lang="zh-CN" altLang="en-US" sz="2400" dirty="0" smtClean="0">
                <a:solidFill>
                  <a:schemeClr val="bg2"/>
                </a:solidFill>
              </a:rPr>
              <a:t>个脉冲下降沿，由于异步置</a:t>
            </a:r>
            <a:r>
              <a:rPr lang="en-US" altLang="zh-CN" sz="2400" dirty="0" smtClean="0">
                <a:solidFill>
                  <a:schemeClr val="bg2"/>
                </a:solidFill>
              </a:rPr>
              <a:t>0</a:t>
            </a:r>
            <a:r>
              <a:rPr lang="zh-CN" altLang="en-US" sz="2400" dirty="0" smtClean="0">
                <a:solidFill>
                  <a:schemeClr val="bg2"/>
                </a:solidFill>
              </a:rPr>
              <a:t>信号    同时变为高电平，考虑输入信号的建立时间，这里将第</a:t>
            </a:r>
            <a:r>
              <a:rPr lang="en-US" altLang="zh-CN" sz="2400" dirty="0" smtClean="0">
                <a:solidFill>
                  <a:schemeClr val="bg2"/>
                </a:solidFill>
              </a:rPr>
              <a:t>3</a:t>
            </a:r>
            <a:r>
              <a:rPr lang="zh-CN" altLang="en-US" sz="2400" dirty="0" smtClean="0">
                <a:solidFill>
                  <a:schemeClr val="bg2"/>
                </a:solidFill>
              </a:rPr>
              <a:t>个脉冲下降沿视为无效，仍然由异步置</a:t>
            </a:r>
            <a:r>
              <a:rPr lang="en-US" altLang="zh-CN" sz="2400" dirty="0" smtClean="0">
                <a:solidFill>
                  <a:schemeClr val="bg2"/>
                </a:solidFill>
              </a:rPr>
              <a:t>0</a:t>
            </a:r>
            <a:r>
              <a:rPr lang="zh-CN" altLang="en-US" sz="2400" dirty="0" smtClean="0">
                <a:solidFill>
                  <a:schemeClr val="bg2"/>
                </a:solidFill>
              </a:rPr>
              <a:t>信号决定触发器状态，所以</a:t>
            </a:r>
            <a:r>
              <a:rPr lang="en-US" altLang="zh-CN" sz="2400" dirty="0" smtClean="0">
                <a:solidFill>
                  <a:schemeClr val="bg2"/>
                </a:solidFill>
              </a:rPr>
              <a:t>Q=0</a:t>
            </a:r>
            <a:r>
              <a:rPr lang="zh-CN" altLang="en-US" sz="2400" dirty="0" smtClean="0">
                <a:solidFill>
                  <a:schemeClr val="bg2"/>
                </a:solidFill>
              </a:rPr>
              <a:t>。</a:t>
            </a:r>
            <a:endParaRPr lang="zh-CN" altLang="en-US" sz="2400" dirty="0">
              <a:solidFill>
                <a:schemeClr val="bg2"/>
              </a:solidFill>
            </a:endParaRPr>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56</a:t>
            </a:fld>
            <a:endParaRPr lang="zh-CN" altLang="en-US"/>
          </a:p>
        </p:txBody>
      </p:sp>
      <p:sp>
        <p:nvSpPr>
          <p:cNvPr id="258065" name="文本框 258064"/>
          <p:cNvSpPr txBox="1"/>
          <p:nvPr/>
        </p:nvSpPr>
        <p:spPr>
          <a:xfrm>
            <a:off x="793433" y="4438650"/>
            <a:ext cx="7489825" cy="368300"/>
          </a:xfrm>
          <a:prstGeom prst="rect">
            <a:avLst/>
          </a:prstGeom>
          <a:noFill/>
          <a:ln w="9525">
            <a:noFill/>
          </a:ln>
        </p:spPr>
        <p:txBody>
          <a:bodyPr>
            <a:spAutoFit/>
          </a:bodyPr>
          <a:lstStyle/>
          <a:p>
            <a:pPr>
              <a:spcBef>
                <a:spcPct val="50000"/>
              </a:spcBef>
            </a:pPr>
            <a:r>
              <a:rPr lang="en-US" altLang="zh-CN" b="1" dirty="0">
                <a:latin typeface="Arial" panose="020B0604020202020204" pitchFamily="34" charset="0"/>
              </a:rPr>
              <a:t>        </a:t>
            </a:r>
            <a:endParaRPr lang="zh-CN" altLang="en-US" b="1" dirty="0">
              <a:latin typeface="Arial" panose="020B0604020202020204" pitchFamily="34" charset="0"/>
            </a:endParaRPr>
          </a:p>
        </p:txBody>
      </p:sp>
      <p:sp>
        <p:nvSpPr>
          <p:cNvPr id="7" name="标题 1"/>
          <p:cNvSpPr>
            <a:spLocks noGrp="1"/>
          </p:cNvSpPr>
          <p:nvPr>
            <p:ph type="title"/>
          </p:nvPr>
        </p:nvSpPr>
        <p:spPr>
          <a:xfrm>
            <a:off x="1187624" y="1052736"/>
            <a:ext cx="7756351" cy="635794"/>
          </a:xfrm>
        </p:spPr>
        <p:txBody>
          <a:bodyPr/>
          <a:lstStyle/>
          <a:p>
            <a:r>
              <a:rPr lang="en-US" altLang="zh-CN" dirty="0" smtClean="0"/>
              <a:t>5.2.2 </a:t>
            </a:r>
            <a:r>
              <a:rPr lang="zh-CN" altLang="en-US" dirty="0" smtClean="0"/>
              <a:t>主从</a:t>
            </a:r>
            <a:r>
              <a:rPr lang="en-US" altLang="zh-CN" dirty="0" smtClean="0"/>
              <a:t>JK</a:t>
            </a:r>
            <a:r>
              <a:rPr lang="zh-CN" altLang="en-US" dirty="0" smtClean="0"/>
              <a:t>触发器</a:t>
            </a:r>
            <a:endParaRPr lang="zh-CN" altLang="en-US" dirty="0"/>
          </a:p>
        </p:txBody>
      </p:sp>
      <p:sp>
        <p:nvSpPr>
          <p:cNvPr id="8" name="标题 1"/>
          <p:cNvSpPr txBox="1">
            <a:spLocks/>
          </p:cNvSpPr>
          <p:nvPr/>
        </p:nvSpPr>
        <p:spPr bwMode="auto">
          <a:xfrm>
            <a:off x="1187624" y="332656"/>
            <a:ext cx="7632848" cy="5669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5.2 </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脉冲</a:t>
            </a:r>
            <a:r>
              <a:rPr kumimoji="1" lang="zh-CN" altLang="en-US" sz="3200" b="1" kern="0" dirty="0" smtClean="0">
                <a:solidFill>
                  <a:schemeClr val="tx2"/>
                </a:solidFill>
                <a:latin typeface="+mj-lt"/>
                <a:ea typeface="+mj-ea"/>
                <a:cs typeface="+mj-cs"/>
              </a:rPr>
              <a:t>触发的</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触发器</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graphicFrame>
        <p:nvGraphicFramePr>
          <p:cNvPr id="219138" name="Object 2"/>
          <p:cNvGraphicFramePr>
            <a:graphicFrameLocks noChangeAspect="1"/>
          </p:cNvGraphicFramePr>
          <p:nvPr/>
        </p:nvGraphicFramePr>
        <p:xfrm>
          <a:off x="7668344" y="2060848"/>
          <a:ext cx="480054" cy="432049"/>
        </p:xfrm>
        <a:graphic>
          <a:graphicData uri="http://schemas.openxmlformats.org/presentationml/2006/ole">
            <p:oleObj spid="_x0000_s219138" r:id="rId3" imgW="215640" imgH="228600" progId="">
              <p:embed/>
            </p:oleObj>
          </a:graphicData>
        </a:graphic>
      </p:graphicFrame>
      <p:graphicFrame>
        <p:nvGraphicFramePr>
          <p:cNvPr id="219139" name="Object 3"/>
          <p:cNvGraphicFramePr>
            <a:graphicFrameLocks noChangeAspect="1"/>
          </p:cNvGraphicFramePr>
          <p:nvPr/>
        </p:nvGraphicFramePr>
        <p:xfrm>
          <a:off x="8532440" y="2060848"/>
          <a:ext cx="360040" cy="405044"/>
        </p:xfrm>
        <a:graphic>
          <a:graphicData uri="http://schemas.openxmlformats.org/presentationml/2006/ole">
            <p:oleObj spid="_x0000_s219139" r:id="rId4" imgW="203040" imgH="228600" progId="">
              <p:embed/>
            </p:oleObj>
          </a:graphicData>
        </a:graphic>
      </p:graphicFrame>
      <p:pic>
        <p:nvPicPr>
          <p:cNvPr id="219141" name="Picture 5"/>
          <p:cNvPicPr>
            <a:picLocks noChangeAspect="1" noChangeArrowheads="1"/>
          </p:cNvPicPr>
          <p:nvPr/>
        </p:nvPicPr>
        <p:blipFill>
          <a:blip r:embed="rId5" cstate="print"/>
          <a:srcRect/>
          <a:stretch>
            <a:fillRect/>
          </a:stretch>
        </p:blipFill>
        <p:spPr bwMode="auto">
          <a:xfrm>
            <a:off x="5762625" y="0"/>
            <a:ext cx="3381375" cy="2047875"/>
          </a:xfrm>
          <a:prstGeom prst="rect">
            <a:avLst/>
          </a:prstGeom>
          <a:noFill/>
          <a:ln w="9525">
            <a:noFill/>
            <a:miter lim="800000"/>
            <a:headEnd/>
            <a:tailEnd/>
          </a:ln>
        </p:spPr>
      </p:pic>
      <p:graphicFrame>
        <p:nvGraphicFramePr>
          <p:cNvPr id="219142" name="Object 6"/>
          <p:cNvGraphicFramePr>
            <a:graphicFrameLocks noChangeAspect="1"/>
          </p:cNvGraphicFramePr>
          <p:nvPr/>
        </p:nvGraphicFramePr>
        <p:xfrm>
          <a:off x="6948264" y="5085184"/>
          <a:ext cx="407987" cy="431800"/>
        </p:xfrm>
        <a:graphic>
          <a:graphicData uri="http://schemas.openxmlformats.org/presentationml/2006/ole">
            <p:oleObj spid="_x0000_s219142" r:id="rId6" imgW="215640" imgH="228600" progId="">
              <p:embed/>
            </p:oleObj>
          </a:graphicData>
        </a:graphic>
      </p:graphicFrame>
      <p:graphicFrame>
        <p:nvGraphicFramePr>
          <p:cNvPr id="219144" name="Object 8"/>
          <p:cNvGraphicFramePr>
            <a:graphicFrameLocks noChangeAspect="1"/>
          </p:cNvGraphicFramePr>
          <p:nvPr/>
        </p:nvGraphicFramePr>
        <p:xfrm>
          <a:off x="5004048" y="4725144"/>
          <a:ext cx="407987" cy="431800"/>
        </p:xfrm>
        <a:graphic>
          <a:graphicData uri="http://schemas.openxmlformats.org/presentationml/2006/ole">
            <p:oleObj spid="_x0000_s219144" r:id="rId7" imgW="215640" imgH="228600" progId="">
              <p:embed/>
            </p:oleObj>
          </a:graphicData>
        </a:graphic>
      </p:graphicFrame>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23528" y="1988840"/>
            <a:ext cx="8676456" cy="4608512"/>
          </a:xfrm>
        </p:spPr>
        <p:txBody>
          <a:bodyPr/>
          <a:lstStyle/>
          <a:p>
            <a:pPr>
              <a:lnSpc>
                <a:spcPct val="100000"/>
              </a:lnSpc>
              <a:spcBef>
                <a:spcPts val="600"/>
              </a:spcBef>
              <a:buSzPct val="100000"/>
              <a:buFont typeface="Wingdings" pitchFamily="2" charset="2"/>
              <a:buChar char="p"/>
            </a:pPr>
            <a:r>
              <a:rPr lang="zh-CN" altLang="en-US" sz="2800" dirty="0" smtClean="0">
                <a:solidFill>
                  <a:srgbClr val="0000CC"/>
                </a:solidFill>
              </a:rPr>
              <a:t>例</a:t>
            </a:r>
            <a:r>
              <a:rPr lang="en-US" altLang="zh-CN" sz="2800" dirty="0" smtClean="0">
                <a:solidFill>
                  <a:srgbClr val="0000CC"/>
                </a:solidFill>
              </a:rPr>
              <a:t>5.5</a:t>
            </a:r>
            <a:endParaRPr lang="en-US" altLang="zh-CN" sz="2800" dirty="0" smtClean="0"/>
          </a:p>
          <a:p>
            <a:pPr lvl="1">
              <a:lnSpc>
                <a:spcPct val="100000"/>
              </a:lnSpc>
              <a:spcBef>
                <a:spcPts val="0"/>
              </a:spcBef>
              <a:buSzPct val="100000"/>
            </a:pPr>
            <a:r>
              <a:rPr lang="zh-CN" altLang="en-US" sz="2400" dirty="0" smtClean="0">
                <a:solidFill>
                  <a:srgbClr val="0000CC"/>
                </a:solidFill>
              </a:rPr>
              <a:t>解：</a:t>
            </a:r>
            <a:endParaRPr lang="en-US" altLang="zh-CN" sz="2400" dirty="0" smtClean="0">
              <a:solidFill>
                <a:schemeClr val="bg2"/>
              </a:solidFill>
            </a:endParaRPr>
          </a:p>
          <a:p>
            <a:pPr lvl="1">
              <a:lnSpc>
                <a:spcPct val="100000"/>
              </a:lnSpc>
              <a:spcBef>
                <a:spcPts val="0"/>
              </a:spcBef>
              <a:buSzPct val="100000"/>
              <a:buNone/>
            </a:pPr>
            <a:r>
              <a:rPr lang="zh-CN" altLang="en-US" sz="2400" dirty="0" smtClean="0">
                <a:solidFill>
                  <a:schemeClr val="bg2"/>
                </a:solidFill>
              </a:rPr>
              <a:t>（</a:t>
            </a:r>
            <a:r>
              <a:rPr lang="en-US" altLang="zh-CN" sz="2400" dirty="0" smtClean="0">
                <a:solidFill>
                  <a:schemeClr val="bg2"/>
                </a:solidFill>
              </a:rPr>
              <a:t>4</a:t>
            </a:r>
            <a:r>
              <a:rPr lang="zh-CN" altLang="en-US" sz="2400" dirty="0" smtClean="0">
                <a:solidFill>
                  <a:schemeClr val="bg2"/>
                </a:solidFill>
              </a:rPr>
              <a:t>）在第</a:t>
            </a:r>
            <a:r>
              <a:rPr lang="en-US" altLang="zh-CN" sz="2400" dirty="0" smtClean="0">
                <a:solidFill>
                  <a:schemeClr val="bg2"/>
                </a:solidFill>
              </a:rPr>
              <a:t>4</a:t>
            </a:r>
            <a:r>
              <a:rPr lang="zh-CN" altLang="en-US" sz="2400" dirty="0" smtClean="0">
                <a:solidFill>
                  <a:schemeClr val="bg2"/>
                </a:solidFill>
              </a:rPr>
              <a:t>个脉冲下降沿，异步置</a:t>
            </a:r>
            <a:r>
              <a:rPr lang="en-US" altLang="zh-CN" sz="2400" dirty="0" smtClean="0">
                <a:solidFill>
                  <a:schemeClr val="bg2"/>
                </a:solidFill>
              </a:rPr>
              <a:t>1</a:t>
            </a:r>
            <a:r>
              <a:rPr lang="zh-CN" altLang="en-US" sz="2400" dirty="0" smtClean="0">
                <a:solidFill>
                  <a:schemeClr val="bg2"/>
                </a:solidFill>
              </a:rPr>
              <a:t>信号   有效，所以</a:t>
            </a:r>
            <a:r>
              <a:rPr lang="en-US" altLang="zh-CN" sz="2400" dirty="0" smtClean="0">
                <a:solidFill>
                  <a:schemeClr val="bg2"/>
                </a:solidFill>
              </a:rPr>
              <a:t>Q=1</a:t>
            </a:r>
            <a:r>
              <a:rPr lang="zh-CN" altLang="en-US" sz="2400" dirty="0" smtClean="0">
                <a:solidFill>
                  <a:schemeClr val="bg2"/>
                </a:solidFill>
              </a:rPr>
              <a:t>。</a:t>
            </a:r>
            <a:endParaRPr lang="en-US" altLang="zh-CN" sz="2400" dirty="0" smtClean="0">
              <a:solidFill>
                <a:schemeClr val="bg2"/>
              </a:solidFill>
            </a:endParaRPr>
          </a:p>
          <a:p>
            <a:pPr lvl="1">
              <a:lnSpc>
                <a:spcPct val="100000"/>
              </a:lnSpc>
              <a:spcBef>
                <a:spcPts val="0"/>
              </a:spcBef>
              <a:buSzPct val="100000"/>
              <a:buNone/>
            </a:pPr>
            <a:r>
              <a:rPr lang="zh-CN" altLang="en-US" sz="2400" dirty="0" smtClean="0">
                <a:solidFill>
                  <a:schemeClr val="bg2"/>
                </a:solidFill>
              </a:rPr>
              <a:t>（</a:t>
            </a:r>
            <a:r>
              <a:rPr lang="en-US" altLang="zh-CN" sz="2400" dirty="0" smtClean="0">
                <a:solidFill>
                  <a:schemeClr val="bg2"/>
                </a:solidFill>
              </a:rPr>
              <a:t>5</a:t>
            </a:r>
            <a:r>
              <a:rPr lang="zh-CN" altLang="en-US" sz="2400" dirty="0" smtClean="0">
                <a:solidFill>
                  <a:schemeClr val="bg2"/>
                </a:solidFill>
              </a:rPr>
              <a:t>）在第</a:t>
            </a:r>
            <a:r>
              <a:rPr lang="en-US" altLang="zh-CN" sz="2400" dirty="0" smtClean="0">
                <a:solidFill>
                  <a:schemeClr val="bg2"/>
                </a:solidFill>
              </a:rPr>
              <a:t>5</a:t>
            </a:r>
            <a:r>
              <a:rPr lang="zh-CN" altLang="en-US" sz="2400" dirty="0" smtClean="0">
                <a:solidFill>
                  <a:schemeClr val="bg2"/>
                </a:solidFill>
              </a:rPr>
              <a:t>个脉冲下降沿，</a:t>
            </a:r>
            <a:r>
              <a:rPr lang="en-US" altLang="zh-CN" sz="2400" dirty="0" smtClean="0">
                <a:solidFill>
                  <a:schemeClr val="bg2"/>
                </a:solidFill>
              </a:rPr>
              <a:t>J=0, K=0</a:t>
            </a:r>
            <a:r>
              <a:rPr lang="zh-CN" altLang="en-US" sz="2400" dirty="0" smtClean="0">
                <a:solidFill>
                  <a:schemeClr val="bg2"/>
                </a:solidFill>
              </a:rPr>
              <a:t>，所以</a:t>
            </a:r>
            <a:r>
              <a:rPr lang="en-US" altLang="zh-CN" sz="2400" dirty="0" smtClean="0">
                <a:solidFill>
                  <a:schemeClr val="bg2"/>
                </a:solidFill>
              </a:rPr>
              <a:t>Q=1</a:t>
            </a:r>
            <a:r>
              <a:rPr lang="zh-CN" altLang="en-US" sz="2400" dirty="0" smtClean="0">
                <a:solidFill>
                  <a:schemeClr val="bg2"/>
                </a:solidFill>
              </a:rPr>
              <a:t>。</a:t>
            </a:r>
          </a:p>
          <a:p>
            <a:pPr lvl="1">
              <a:lnSpc>
                <a:spcPct val="100000"/>
              </a:lnSpc>
              <a:spcBef>
                <a:spcPts val="0"/>
              </a:spcBef>
              <a:buSzPct val="100000"/>
              <a:buNone/>
            </a:pPr>
            <a:r>
              <a:rPr lang="zh-CN" altLang="en-US" sz="2400" dirty="0" smtClean="0">
                <a:solidFill>
                  <a:schemeClr val="bg2"/>
                </a:solidFill>
              </a:rPr>
              <a:t>（</a:t>
            </a:r>
            <a:r>
              <a:rPr lang="en-US" altLang="zh-CN" sz="2400" dirty="0" smtClean="0">
                <a:solidFill>
                  <a:schemeClr val="bg2"/>
                </a:solidFill>
              </a:rPr>
              <a:t>6</a:t>
            </a:r>
            <a:r>
              <a:rPr lang="zh-CN" altLang="en-US" sz="2400" dirty="0" smtClean="0">
                <a:solidFill>
                  <a:schemeClr val="bg2"/>
                </a:solidFill>
              </a:rPr>
              <a:t>）在第</a:t>
            </a:r>
            <a:r>
              <a:rPr lang="en-US" altLang="zh-CN" sz="2400" dirty="0" smtClean="0">
                <a:solidFill>
                  <a:schemeClr val="bg2"/>
                </a:solidFill>
              </a:rPr>
              <a:t>6</a:t>
            </a:r>
            <a:r>
              <a:rPr lang="zh-CN" altLang="en-US" sz="2400" dirty="0" smtClean="0">
                <a:solidFill>
                  <a:schemeClr val="bg2"/>
                </a:solidFill>
              </a:rPr>
              <a:t>个脉冲下降沿，</a:t>
            </a:r>
            <a:r>
              <a:rPr lang="en-US" altLang="zh-CN" sz="2400" dirty="0" smtClean="0">
                <a:solidFill>
                  <a:schemeClr val="bg2"/>
                </a:solidFill>
              </a:rPr>
              <a:t>J=1, K=0</a:t>
            </a:r>
            <a:r>
              <a:rPr lang="zh-CN" altLang="en-US" sz="2400" dirty="0" smtClean="0">
                <a:solidFill>
                  <a:schemeClr val="bg2"/>
                </a:solidFill>
              </a:rPr>
              <a:t>，所以</a:t>
            </a:r>
            <a:r>
              <a:rPr lang="en-US" altLang="zh-CN" sz="2400" dirty="0" smtClean="0">
                <a:solidFill>
                  <a:schemeClr val="bg2"/>
                </a:solidFill>
              </a:rPr>
              <a:t>Q=1</a:t>
            </a:r>
            <a:r>
              <a:rPr lang="zh-CN" altLang="en-US" sz="2400" dirty="0" smtClean="0">
                <a:solidFill>
                  <a:schemeClr val="bg2"/>
                </a:solidFill>
              </a:rPr>
              <a:t>。 </a:t>
            </a:r>
          </a:p>
          <a:p>
            <a:pPr lvl="1">
              <a:lnSpc>
                <a:spcPct val="100000"/>
              </a:lnSpc>
              <a:spcBef>
                <a:spcPts val="0"/>
              </a:spcBef>
              <a:buSzPct val="100000"/>
              <a:buNone/>
            </a:pPr>
            <a:r>
              <a:rPr lang="zh-CN" altLang="en-US" sz="2400" dirty="0" smtClean="0">
                <a:solidFill>
                  <a:schemeClr val="bg2"/>
                </a:solidFill>
              </a:rPr>
              <a:t>（</a:t>
            </a:r>
            <a:r>
              <a:rPr lang="en-US" altLang="zh-CN" sz="2400" dirty="0" smtClean="0">
                <a:solidFill>
                  <a:schemeClr val="bg2"/>
                </a:solidFill>
              </a:rPr>
              <a:t>7</a:t>
            </a:r>
            <a:r>
              <a:rPr lang="zh-CN" altLang="en-US" sz="2400" dirty="0" smtClean="0">
                <a:solidFill>
                  <a:schemeClr val="bg2"/>
                </a:solidFill>
              </a:rPr>
              <a:t>）在第</a:t>
            </a:r>
            <a:r>
              <a:rPr lang="en-US" altLang="zh-CN" sz="2400" dirty="0" smtClean="0">
                <a:solidFill>
                  <a:schemeClr val="bg2"/>
                </a:solidFill>
              </a:rPr>
              <a:t>7</a:t>
            </a:r>
            <a:r>
              <a:rPr lang="zh-CN" altLang="en-US" sz="2400" dirty="0" smtClean="0">
                <a:solidFill>
                  <a:schemeClr val="bg2"/>
                </a:solidFill>
              </a:rPr>
              <a:t>个脉冲下降沿，</a:t>
            </a:r>
            <a:r>
              <a:rPr lang="en-US" altLang="zh-CN" sz="2400" dirty="0" smtClean="0">
                <a:solidFill>
                  <a:schemeClr val="bg2"/>
                </a:solidFill>
              </a:rPr>
              <a:t>J=1, K=1</a:t>
            </a:r>
            <a:r>
              <a:rPr lang="zh-CN" altLang="en-US" sz="2400" dirty="0" smtClean="0">
                <a:solidFill>
                  <a:schemeClr val="bg2"/>
                </a:solidFill>
              </a:rPr>
              <a:t>，触发器反转，所以</a:t>
            </a:r>
            <a:r>
              <a:rPr lang="en-US" altLang="zh-CN" sz="2400" dirty="0" smtClean="0">
                <a:solidFill>
                  <a:schemeClr val="bg2"/>
                </a:solidFill>
              </a:rPr>
              <a:t>Q=0</a:t>
            </a:r>
            <a:r>
              <a:rPr lang="zh-CN" altLang="en-US" sz="2400" dirty="0" smtClean="0">
                <a:solidFill>
                  <a:schemeClr val="bg2"/>
                </a:solidFill>
              </a:rPr>
              <a:t>。 </a:t>
            </a:r>
            <a:endParaRPr lang="en-US" altLang="zh-CN" sz="2400" dirty="0" smtClean="0">
              <a:solidFill>
                <a:schemeClr val="bg2"/>
              </a:solidFill>
            </a:endParaRPr>
          </a:p>
          <a:p>
            <a:pPr lvl="1">
              <a:lnSpc>
                <a:spcPct val="100000"/>
              </a:lnSpc>
              <a:spcBef>
                <a:spcPts val="0"/>
              </a:spcBef>
              <a:buSzPct val="100000"/>
              <a:buNone/>
            </a:pPr>
            <a:r>
              <a:rPr lang="zh-CN" altLang="en-US" sz="2400" dirty="0" smtClean="0">
                <a:solidFill>
                  <a:schemeClr val="bg2"/>
                </a:solidFill>
              </a:rPr>
              <a:t>（</a:t>
            </a:r>
            <a:r>
              <a:rPr lang="en-US" altLang="zh-CN" sz="2400" dirty="0" smtClean="0">
                <a:solidFill>
                  <a:schemeClr val="bg2"/>
                </a:solidFill>
              </a:rPr>
              <a:t>8</a:t>
            </a:r>
            <a:r>
              <a:rPr lang="zh-CN" altLang="en-US" sz="2400" dirty="0" smtClean="0">
                <a:solidFill>
                  <a:schemeClr val="bg2"/>
                </a:solidFill>
              </a:rPr>
              <a:t>）在第</a:t>
            </a:r>
            <a:r>
              <a:rPr lang="en-US" altLang="zh-CN" sz="2400" dirty="0" smtClean="0">
                <a:solidFill>
                  <a:schemeClr val="bg2"/>
                </a:solidFill>
              </a:rPr>
              <a:t>8</a:t>
            </a:r>
            <a:r>
              <a:rPr lang="zh-CN" altLang="en-US" sz="2400" dirty="0" smtClean="0">
                <a:solidFill>
                  <a:schemeClr val="bg2"/>
                </a:solidFill>
              </a:rPr>
              <a:t>个脉冲下降沿，</a:t>
            </a:r>
            <a:r>
              <a:rPr lang="en-US" altLang="zh-CN" sz="2400" dirty="0" smtClean="0">
                <a:solidFill>
                  <a:schemeClr val="bg2"/>
                </a:solidFill>
              </a:rPr>
              <a:t>J=1, K=1</a:t>
            </a:r>
            <a:r>
              <a:rPr lang="zh-CN" altLang="en-US" sz="2400" dirty="0" smtClean="0">
                <a:solidFill>
                  <a:schemeClr val="bg2"/>
                </a:solidFill>
              </a:rPr>
              <a:t>，触发器反转，所以</a:t>
            </a:r>
            <a:r>
              <a:rPr lang="en-US" altLang="zh-CN" sz="2400" dirty="0" smtClean="0">
                <a:solidFill>
                  <a:schemeClr val="bg2"/>
                </a:solidFill>
              </a:rPr>
              <a:t>Q=1</a:t>
            </a:r>
            <a:r>
              <a:rPr lang="zh-CN" altLang="en-US" sz="2400" dirty="0" smtClean="0">
                <a:solidFill>
                  <a:schemeClr val="bg2"/>
                </a:solidFill>
              </a:rPr>
              <a:t>。</a:t>
            </a:r>
            <a:endParaRPr lang="en-US" altLang="zh-CN" sz="2400" dirty="0" smtClean="0">
              <a:solidFill>
                <a:schemeClr val="bg2"/>
              </a:solidFill>
            </a:endParaRPr>
          </a:p>
          <a:p>
            <a:pPr lvl="1">
              <a:lnSpc>
                <a:spcPct val="100000"/>
              </a:lnSpc>
              <a:spcBef>
                <a:spcPts val="0"/>
              </a:spcBef>
              <a:buSzPct val="100000"/>
              <a:buNone/>
            </a:pPr>
            <a:r>
              <a:rPr lang="zh-CN" altLang="en-US" sz="2400" dirty="0" smtClean="0">
                <a:solidFill>
                  <a:schemeClr val="bg2"/>
                </a:solidFill>
              </a:rPr>
              <a:t>（</a:t>
            </a:r>
            <a:r>
              <a:rPr lang="en-US" altLang="zh-CN" sz="2400" dirty="0" smtClean="0">
                <a:solidFill>
                  <a:schemeClr val="bg2"/>
                </a:solidFill>
              </a:rPr>
              <a:t>9</a:t>
            </a:r>
            <a:r>
              <a:rPr lang="zh-CN" altLang="en-US" sz="2400" dirty="0" smtClean="0">
                <a:solidFill>
                  <a:schemeClr val="bg2"/>
                </a:solidFill>
              </a:rPr>
              <a:t>）在第</a:t>
            </a:r>
            <a:r>
              <a:rPr lang="en-US" altLang="zh-CN" sz="2400" dirty="0" smtClean="0">
                <a:solidFill>
                  <a:schemeClr val="bg2"/>
                </a:solidFill>
              </a:rPr>
              <a:t>9</a:t>
            </a:r>
            <a:r>
              <a:rPr lang="zh-CN" altLang="en-US" sz="2400" dirty="0" smtClean="0">
                <a:solidFill>
                  <a:schemeClr val="bg2"/>
                </a:solidFill>
              </a:rPr>
              <a:t>个脉冲下降沿，</a:t>
            </a:r>
            <a:r>
              <a:rPr lang="en-US" altLang="zh-CN" sz="2400" dirty="0" smtClean="0">
                <a:solidFill>
                  <a:schemeClr val="bg2"/>
                </a:solidFill>
              </a:rPr>
              <a:t>J=0, K=1</a:t>
            </a:r>
            <a:r>
              <a:rPr lang="zh-CN" altLang="en-US" sz="2400" dirty="0" smtClean="0">
                <a:solidFill>
                  <a:schemeClr val="bg2"/>
                </a:solidFill>
              </a:rPr>
              <a:t>，所以</a:t>
            </a:r>
            <a:r>
              <a:rPr lang="en-US" altLang="zh-CN" sz="2400" dirty="0" smtClean="0">
                <a:solidFill>
                  <a:schemeClr val="bg2"/>
                </a:solidFill>
              </a:rPr>
              <a:t>Q=0</a:t>
            </a:r>
            <a:r>
              <a:rPr lang="zh-CN" altLang="en-US" sz="2400" dirty="0" smtClean="0">
                <a:solidFill>
                  <a:schemeClr val="bg2"/>
                </a:solidFill>
              </a:rPr>
              <a:t>。</a:t>
            </a:r>
            <a:endParaRPr lang="en-US" altLang="zh-CN" sz="2400" dirty="0" smtClean="0">
              <a:solidFill>
                <a:schemeClr val="bg2"/>
              </a:solidFill>
            </a:endParaRPr>
          </a:p>
          <a:p>
            <a:pPr lvl="1">
              <a:lnSpc>
                <a:spcPct val="100000"/>
              </a:lnSpc>
              <a:spcBef>
                <a:spcPts val="0"/>
              </a:spcBef>
              <a:buSzPct val="100000"/>
              <a:buNone/>
            </a:pPr>
            <a:r>
              <a:rPr lang="zh-CN" altLang="en-US" sz="2400" dirty="0" smtClean="0">
                <a:solidFill>
                  <a:schemeClr val="bg2"/>
                </a:solidFill>
              </a:rPr>
              <a:t>（</a:t>
            </a:r>
            <a:r>
              <a:rPr lang="en-US" altLang="zh-CN" sz="2400" dirty="0" smtClean="0">
                <a:solidFill>
                  <a:schemeClr val="bg2"/>
                </a:solidFill>
              </a:rPr>
              <a:t>10</a:t>
            </a:r>
            <a:r>
              <a:rPr lang="zh-CN" altLang="en-US" sz="2400" dirty="0" smtClean="0">
                <a:solidFill>
                  <a:schemeClr val="bg2"/>
                </a:solidFill>
              </a:rPr>
              <a:t>）在第</a:t>
            </a:r>
            <a:r>
              <a:rPr lang="en-US" altLang="zh-CN" sz="2400" dirty="0" smtClean="0">
                <a:solidFill>
                  <a:schemeClr val="bg2"/>
                </a:solidFill>
              </a:rPr>
              <a:t>10</a:t>
            </a:r>
            <a:r>
              <a:rPr lang="zh-CN" altLang="en-US" sz="2400" dirty="0" smtClean="0">
                <a:solidFill>
                  <a:schemeClr val="bg2"/>
                </a:solidFill>
              </a:rPr>
              <a:t>个脉冲下降沿，</a:t>
            </a:r>
            <a:r>
              <a:rPr lang="en-US" altLang="zh-CN" sz="2400" dirty="0" smtClean="0">
                <a:solidFill>
                  <a:schemeClr val="bg2"/>
                </a:solidFill>
              </a:rPr>
              <a:t>J=0, K=1</a:t>
            </a:r>
            <a:r>
              <a:rPr lang="zh-CN" altLang="en-US" sz="2400" dirty="0" smtClean="0">
                <a:solidFill>
                  <a:schemeClr val="bg2"/>
                </a:solidFill>
              </a:rPr>
              <a:t>，所以</a:t>
            </a:r>
            <a:r>
              <a:rPr lang="en-US" altLang="zh-CN" sz="2400" dirty="0" smtClean="0">
                <a:solidFill>
                  <a:schemeClr val="bg2"/>
                </a:solidFill>
              </a:rPr>
              <a:t>Q=0</a:t>
            </a:r>
            <a:r>
              <a:rPr lang="zh-CN" altLang="en-US" sz="2400" dirty="0" smtClean="0">
                <a:solidFill>
                  <a:schemeClr val="bg2"/>
                </a:solidFill>
              </a:rPr>
              <a:t>。</a:t>
            </a:r>
          </a:p>
          <a:p>
            <a:pPr lvl="1">
              <a:lnSpc>
                <a:spcPct val="100000"/>
              </a:lnSpc>
              <a:spcBef>
                <a:spcPts val="0"/>
              </a:spcBef>
              <a:buSzPct val="100000"/>
              <a:buNone/>
            </a:pPr>
            <a:endParaRPr lang="zh-CN" altLang="en-US" sz="2400" dirty="0" smtClean="0">
              <a:solidFill>
                <a:schemeClr val="bg2"/>
              </a:solidFill>
            </a:endParaRPr>
          </a:p>
          <a:p>
            <a:pPr lvl="1">
              <a:lnSpc>
                <a:spcPct val="100000"/>
              </a:lnSpc>
              <a:spcBef>
                <a:spcPts val="600"/>
              </a:spcBef>
              <a:buSzPct val="100000"/>
              <a:buNone/>
            </a:pPr>
            <a:endParaRPr lang="zh-CN" altLang="en-US" sz="2400" dirty="0">
              <a:solidFill>
                <a:schemeClr val="bg2"/>
              </a:solidFill>
            </a:endParaRPr>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57</a:t>
            </a:fld>
            <a:endParaRPr lang="zh-CN" altLang="en-US"/>
          </a:p>
        </p:txBody>
      </p:sp>
      <p:sp>
        <p:nvSpPr>
          <p:cNvPr id="7" name="标题 1"/>
          <p:cNvSpPr>
            <a:spLocks noGrp="1"/>
          </p:cNvSpPr>
          <p:nvPr>
            <p:ph type="title"/>
          </p:nvPr>
        </p:nvSpPr>
        <p:spPr>
          <a:xfrm>
            <a:off x="1187624" y="1052736"/>
            <a:ext cx="7756351" cy="635794"/>
          </a:xfrm>
        </p:spPr>
        <p:txBody>
          <a:bodyPr/>
          <a:lstStyle/>
          <a:p>
            <a:r>
              <a:rPr lang="en-US" altLang="zh-CN" dirty="0" smtClean="0"/>
              <a:t>5.2.2 </a:t>
            </a:r>
            <a:r>
              <a:rPr lang="zh-CN" altLang="en-US" dirty="0" smtClean="0"/>
              <a:t>主从</a:t>
            </a:r>
            <a:r>
              <a:rPr lang="en-US" altLang="zh-CN" dirty="0" smtClean="0"/>
              <a:t>JK</a:t>
            </a:r>
            <a:r>
              <a:rPr lang="zh-CN" altLang="en-US" dirty="0" smtClean="0"/>
              <a:t>触发器</a:t>
            </a:r>
            <a:endParaRPr lang="zh-CN" altLang="en-US" dirty="0"/>
          </a:p>
        </p:txBody>
      </p:sp>
      <p:sp>
        <p:nvSpPr>
          <p:cNvPr id="8" name="标题 1"/>
          <p:cNvSpPr txBox="1">
            <a:spLocks/>
          </p:cNvSpPr>
          <p:nvPr/>
        </p:nvSpPr>
        <p:spPr bwMode="auto">
          <a:xfrm>
            <a:off x="1187624" y="332656"/>
            <a:ext cx="7632848" cy="5669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5.2 </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脉冲</a:t>
            </a:r>
            <a:r>
              <a:rPr kumimoji="1" lang="zh-CN" altLang="en-US" sz="3200" b="1" kern="0" dirty="0" smtClean="0">
                <a:solidFill>
                  <a:schemeClr val="tx2"/>
                </a:solidFill>
                <a:latin typeface="+mj-lt"/>
                <a:ea typeface="+mj-ea"/>
                <a:cs typeface="+mj-cs"/>
              </a:rPr>
              <a:t>触发的</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触发器</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pic>
        <p:nvPicPr>
          <p:cNvPr id="219141" name="Picture 5"/>
          <p:cNvPicPr>
            <a:picLocks noChangeAspect="1" noChangeArrowheads="1"/>
          </p:cNvPicPr>
          <p:nvPr/>
        </p:nvPicPr>
        <p:blipFill>
          <a:blip r:embed="rId3" cstate="print"/>
          <a:srcRect/>
          <a:stretch>
            <a:fillRect/>
          </a:stretch>
        </p:blipFill>
        <p:spPr bwMode="auto">
          <a:xfrm>
            <a:off x="4644009" y="-1"/>
            <a:ext cx="4499992" cy="2725347"/>
          </a:xfrm>
          <a:prstGeom prst="rect">
            <a:avLst/>
          </a:prstGeom>
          <a:noFill/>
          <a:ln w="9525">
            <a:noFill/>
            <a:miter lim="800000"/>
            <a:headEnd/>
            <a:tailEnd/>
          </a:ln>
        </p:spPr>
      </p:pic>
      <p:graphicFrame>
        <p:nvGraphicFramePr>
          <p:cNvPr id="220164" name="Object 4"/>
          <p:cNvGraphicFramePr>
            <a:graphicFrameLocks noChangeAspect="1"/>
          </p:cNvGraphicFramePr>
          <p:nvPr/>
        </p:nvGraphicFramePr>
        <p:xfrm>
          <a:off x="6300192" y="2852936"/>
          <a:ext cx="360362" cy="404813"/>
        </p:xfrm>
        <a:graphic>
          <a:graphicData uri="http://schemas.openxmlformats.org/presentationml/2006/ole">
            <p:oleObj spid="_x0000_s220164" r:id="rId4" imgW="203040" imgH="228600" progId="">
              <p:embed/>
            </p:oleObj>
          </a:graphicData>
        </a:graphic>
      </p:graphicFrame>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1988840"/>
            <a:ext cx="8280920" cy="4608512"/>
          </a:xfrm>
        </p:spPr>
        <p:txBody>
          <a:bodyPr/>
          <a:lstStyle/>
          <a:p>
            <a:pPr>
              <a:lnSpc>
                <a:spcPct val="100000"/>
              </a:lnSpc>
              <a:spcBef>
                <a:spcPts val="600"/>
              </a:spcBef>
              <a:buSzPct val="100000"/>
              <a:buFont typeface="Wingdings" pitchFamily="2" charset="2"/>
              <a:buChar char="p"/>
            </a:pPr>
            <a:r>
              <a:rPr lang="en-US" altLang="zh-CN" sz="2800" dirty="0" smtClean="0"/>
              <a:t>4.  </a:t>
            </a:r>
            <a:r>
              <a:rPr lang="zh-CN" altLang="en-US" sz="2800" dirty="0" smtClean="0"/>
              <a:t>主从J</a:t>
            </a:r>
            <a:r>
              <a:rPr lang="en-US" altLang="zh-CN" sz="2800" dirty="0" smtClean="0"/>
              <a:t>K</a:t>
            </a:r>
            <a:r>
              <a:rPr lang="zh-CN" altLang="en-US" sz="2800" dirty="0" smtClean="0"/>
              <a:t>-</a:t>
            </a:r>
            <a:r>
              <a:rPr lang="zh-CN" altLang="en-US" sz="2800" dirty="0"/>
              <a:t>FF的一次变化现象</a:t>
            </a:r>
          </a:p>
          <a:p>
            <a:pPr lvl="1">
              <a:lnSpc>
                <a:spcPct val="100000"/>
              </a:lnSpc>
              <a:spcBef>
                <a:spcPts val="600"/>
              </a:spcBef>
              <a:buSzPct val="100000"/>
            </a:pPr>
            <a:r>
              <a:rPr lang="zh-CN" altLang="en-US" sz="2400" dirty="0"/>
              <a:t>主从</a:t>
            </a:r>
            <a:r>
              <a:rPr lang="zh-CN" altLang="en-US" sz="2400" dirty="0" smtClean="0"/>
              <a:t>J</a:t>
            </a:r>
            <a:r>
              <a:rPr lang="en-US" altLang="zh-CN" sz="2400" dirty="0" smtClean="0"/>
              <a:t>K</a:t>
            </a:r>
            <a:r>
              <a:rPr lang="zh-CN" altLang="en-US" sz="2400" dirty="0" smtClean="0"/>
              <a:t>-</a:t>
            </a:r>
            <a:r>
              <a:rPr lang="zh-CN" altLang="en-US" sz="2400" dirty="0"/>
              <a:t>FF的</a:t>
            </a:r>
            <a:r>
              <a:rPr lang="zh-CN" altLang="en-US" sz="2400" dirty="0">
                <a:solidFill>
                  <a:srgbClr val="FF0000"/>
                </a:solidFill>
              </a:rPr>
              <a:t>一次变化现象</a:t>
            </a:r>
            <a:r>
              <a:rPr lang="zh-CN" altLang="en-US" sz="2400" dirty="0"/>
              <a:t>是指：在CP=1期间，即便J、K</a:t>
            </a:r>
            <a:r>
              <a:rPr lang="zh-CN" altLang="en-US" sz="2400" dirty="0">
                <a:solidFill>
                  <a:srgbClr val="0000CC"/>
                </a:solidFill>
              </a:rPr>
              <a:t>输入信号有多次改变</a:t>
            </a:r>
            <a:r>
              <a:rPr lang="zh-CN" altLang="en-US" sz="2400" dirty="0"/>
              <a:t>，主从</a:t>
            </a:r>
            <a:r>
              <a:rPr lang="zh-CN" altLang="en-US" sz="2400" dirty="0" smtClean="0"/>
              <a:t>J</a:t>
            </a:r>
            <a:r>
              <a:rPr lang="en-US" altLang="zh-CN" sz="2400" dirty="0" smtClean="0"/>
              <a:t>K</a:t>
            </a:r>
            <a:r>
              <a:rPr lang="zh-CN" altLang="en-US" sz="2400" dirty="0" smtClean="0"/>
              <a:t>-</a:t>
            </a:r>
            <a:r>
              <a:rPr lang="zh-CN" altLang="en-US" sz="2400" dirty="0"/>
              <a:t>FF的的</a:t>
            </a:r>
            <a:r>
              <a:rPr lang="zh-CN" altLang="en-US" sz="2400" dirty="0">
                <a:solidFill>
                  <a:srgbClr val="0000CC"/>
                </a:solidFill>
              </a:rPr>
              <a:t>主触发器的状态仅仅只会改变一次</a:t>
            </a:r>
            <a:r>
              <a:rPr lang="zh-CN" altLang="en-US" sz="2400" dirty="0" smtClean="0"/>
              <a:t>。</a:t>
            </a:r>
            <a:endParaRPr lang="zh-CN" altLang="en-US" sz="2400" dirty="0"/>
          </a:p>
          <a:p>
            <a:pPr lvl="1">
              <a:lnSpc>
                <a:spcPct val="100000"/>
              </a:lnSpc>
              <a:spcBef>
                <a:spcPts val="600"/>
              </a:spcBef>
              <a:buSzPct val="100000"/>
            </a:pPr>
            <a:r>
              <a:rPr lang="zh-CN" altLang="en-US" sz="2400" dirty="0"/>
              <a:t>【例】下图示出了CP、J、K信号的波形，波形强调了CP=1期间J、K是变化的。试分析三个时钟CP作用期间主、从触发器的输出变化规律。</a:t>
            </a:r>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58</a:t>
            </a:fld>
            <a:endParaRPr lang="zh-CN" altLang="en-US"/>
          </a:p>
        </p:txBody>
      </p:sp>
      <p:sp>
        <p:nvSpPr>
          <p:cNvPr id="258065" name="文本框 258064"/>
          <p:cNvSpPr txBox="1"/>
          <p:nvPr/>
        </p:nvSpPr>
        <p:spPr>
          <a:xfrm>
            <a:off x="793433" y="4438650"/>
            <a:ext cx="7489825" cy="368300"/>
          </a:xfrm>
          <a:prstGeom prst="rect">
            <a:avLst/>
          </a:prstGeom>
          <a:noFill/>
          <a:ln w="9525">
            <a:noFill/>
          </a:ln>
        </p:spPr>
        <p:txBody>
          <a:bodyPr>
            <a:spAutoFit/>
          </a:bodyPr>
          <a:lstStyle/>
          <a:p>
            <a:pPr>
              <a:spcBef>
                <a:spcPct val="50000"/>
              </a:spcBef>
            </a:pPr>
            <a:r>
              <a:rPr lang="en-US" altLang="zh-CN" b="1" dirty="0">
                <a:latin typeface="Arial" panose="020B0604020202020204" pitchFamily="34" charset="0"/>
              </a:rPr>
              <a:t>        </a:t>
            </a:r>
            <a:endParaRPr lang="zh-CN" altLang="en-US" b="1" dirty="0">
              <a:latin typeface="Arial" panose="020B0604020202020204" pitchFamily="34" charset="0"/>
            </a:endParaRPr>
          </a:p>
        </p:txBody>
      </p:sp>
      <p:sp>
        <p:nvSpPr>
          <p:cNvPr id="7" name="标题 1"/>
          <p:cNvSpPr>
            <a:spLocks noGrp="1"/>
          </p:cNvSpPr>
          <p:nvPr>
            <p:ph type="title"/>
          </p:nvPr>
        </p:nvSpPr>
        <p:spPr>
          <a:xfrm>
            <a:off x="1187624" y="1052736"/>
            <a:ext cx="7756351" cy="635794"/>
          </a:xfrm>
        </p:spPr>
        <p:txBody>
          <a:bodyPr/>
          <a:lstStyle/>
          <a:p>
            <a:r>
              <a:rPr lang="en-US" altLang="zh-CN" dirty="0" smtClean="0"/>
              <a:t>5.2.2 </a:t>
            </a:r>
            <a:r>
              <a:rPr lang="zh-CN" altLang="en-US" dirty="0" smtClean="0"/>
              <a:t>主从</a:t>
            </a:r>
            <a:r>
              <a:rPr lang="en-US" altLang="zh-CN" dirty="0" smtClean="0"/>
              <a:t>JK</a:t>
            </a:r>
            <a:r>
              <a:rPr lang="zh-CN" altLang="en-US" dirty="0" smtClean="0"/>
              <a:t>触发器</a:t>
            </a:r>
            <a:endParaRPr lang="zh-CN" altLang="en-US" dirty="0"/>
          </a:p>
        </p:txBody>
      </p:sp>
      <p:sp>
        <p:nvSpPr>
          <p:cNvPr id="8" name="标题 1"/>
          <p:cNvSpPr txBox="1">
            <a:spLocks/>
          </p:cNvSpPr>
          <p:nvPr/>
        </p:nvSpPr>
        <p:spPr bwMode="auto">
          <a:xfrm>
            <a:off x="1187624" y="332656"/>
            <a:ext cx="7632848" cy="5669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5.2 </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脉冲</a:t>
            </a:r>
            <a:r>
              <a:rPr kumimoji="1" lang="zh-CN" altLang="en-US" sz="3200" b="1" kern="0" dirty="0" smtClean="0">
                <a:solidFill>
                  <a:schemeClr val="tx2"/>
                </a:solidFill>
                <a:latin typeface="+mj-lt"/>
                <a:ea typeface="+mj-ea"/>
                <a:cs typeface="+mj-cs"/>
              </a:rPr>
              <a:t>触发的</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触发器</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0C913308-F349-4B6D-A68A-DD1791B4A57B}" type="slidenum">
              <a:rPr lang="zh-CN" altLang="en-US" smtClean="0"/>
              <a:pPr/>
              <a:t>59</a:t>
            </a:fld>
            <a:endParaRPr lang="zh-CN" altLang="en-US"/>
          </a:p>
        </p:txBody>
      </p:sp>
      <p:sp>
        <p:nvSpPr>
          <p:cNvPr id="257031" name="文本框 257030"/>
          <p:cNvSpPr txBox="1"/>
          <p:nvPr/>
        </p:nvSpPr>
        <p:spPr>
          <a:xfrm>
            <a:off x="5004048" y="6021288"/>
            <a:ext cx="3744912" cy="398780"/>
          </a:xfrm>
          <a:prstGeom prst="rect">
            <a:avLst/>
          </a:prstGeom>
          <a:noFill/>
          <a:ln w="9525">
            <a:noFill/>
          </a:ln>
        </p:spPr>
        <p:txBody>
          <a:bodyPr>
            <a:spAutoFit/>
          </a:bodyPr>
          <a:lstStyle/>
          <a:p>
            <a:pPr>
              <a:spcBef>
                <a:spcPct val="50000"/>
              </a:spcBef>
            </a:pPr>
            <a:r>
              <a:rPr lang="zh-CN" altLang="en-US" sz="2000" b="1" dirty="0">
                <a:latin typeface="楷体_GB2312" pitchFamily="49" charset="-122"/>
                <a:ea typeface="楷体_GB2312" pitchFamily="49" charset="-122"/>
              </a:rPr>
              <a:t>主从</a:t>
            </a:r>
            <a:r>
              <a:rPr lang="en-US" altLang="zh-CN" sz="2000" b="1" dirty="0">
                <a:latin typeface="楷体_GB2312" pitchFamily="49" charset="-122"/>
                <a:ea typeface="楷体_GB2312" pitchFamily="49" charset="-122"/>
              </a:rPr>
              <a:t>JK-FF</a:t>
            </a:r>
            <a:r>
              <a:rPr lang="zh-CN" altLang="en-US" sz="2000" b="1" dirty="0">
                <a:latin typeface="楷体_GB2312" pitchFamily="49" charset="-122"/>
                <a:ea typeface="楷体_GB2312" pitchFamily="49" charset="-122"/>
              </a:rPr>
              <a:t>的一次变化现象示例</a:t>
            </a:r>
          </a:p>
        </p:txBody>
      </p:sp>
      <p:grpSp>
        <p:nvGrpSpPr>
          <p:cNvPr id="257046" name="组合 257045"/>
          <p:cNvGrpSpPr/>
          <p:nvPr/>
        </p:nvGrpSpPr>
        <p:grpSpPr>
          <a:xfrm>
            <a:off x="4706936" y="2801391"/>
            <a:ext cx="4321175" cy="2808288"/>
            <a:chOff x="2925" y="1162"/>
            <a:chExt cx="2722" cy="1769"/>
          </a:xfrm>
        </p:grpSpPr>
        <p:grpSp>
          <p:nvGrpSpPr>
            <p:cNvPr id="257040" name="组合 257039"/>
            <p:cNvGrpSpPr/>
            <p:nvPr/>
          </p:nvGrpSpPr>
          <p:grpSpPr>
            <a:xfrm>
              <a:off x="2925" y="1207"/>
              <a:ext cx="2722" cy="1679"/>
              <a:chOff x="657" y="1298"/>
              <a:chExt cx="4219" cy="2464"/>
            </a:xfrm>
          </p:grpSpPr>
          <p:pic>
            <p:nvPicPr>
              <p:cNvPr id="257041" name="图片 257040" descr="4-2-15"/>
              <p:cNvPicPr>
                <a:picLocks noChangeAspect="1"/>
              </p:cNvPicPr>
              <p:nvPr/>
            </p:nvPicPr>
            <p:blipFill>
              <a:blip r:embed="rId3" cstate="print">
                <a:clrChange>
                  <a:clrFrom>
                    <a:srgbClr val="F9F8F3"/>
                  </a:clrFrom>
                  <a:clrTo>
                    <a:srgbClr val="F9F8F3">
                      <a:alpha val="0"/>
                    </a:srgbClr>
                  </a:clrTo>
                </a:clrChange>
                <a:lum bright="-6000" contrast="36000"/>
              </a:blip>
              <a:stretch>
                <a:fillRect/>
              </a:stretch>
            </p:blipFill>
            <p:spPr>
              <a:xfrm>
                <a:off x="657" y="1570"/>
                <a:ext cx="4219" cy="2192"/>
              </a:xfrm>
              <a:prstGeom prst="rect">
                <a:avLst/>
              </a:prstGeom>
              <a:noFill/>
              <a:ln w="9525">
                <a:noFill/>
              </a:ln>
            </p:spPr>
          </p:pic>
          <p:sp>
            <p:nvSpPr>
              <p:cNvPr id="257042" name="直接连接符 257041"/>
              <p:cNvSpPr/>
              <p:nvPr/>
            </p:nvSpPr>
            <p:spPr>
              <a:xfrm flipH="1">
                <a:off x="3515" y="1298"/>
                <a:ext cx="726" cy="318"/>
              </a:xfrm>
              <a:prstGeom prst="line">
                <a:avLst/>
              </a:prstGeom>
              <a:ln w="28575" cap="flat" cmpd="sng">
                <a:solidFill>
                  <a:srgbClr val="FF0000"/>
                </a:solidFill>
                <a:prstDash val="solid"/>
                <a:headEnd type="none" w="med" len="med"/>
                <a:tailEnd type="triangle" w="med" len="med"/>
              </a:ln>
            </p:spPr>
          </p:sp>
          <p:sp>
            <p:nvSpPr>
              <p:cNvPr id="257043" name="直接连接符 257042"/>
              <p:cNvSpPr/>
              <p:nvPr/>
            </p:nvSpPr>
            <p:spPr>
              <a:xfrm flipH="1" flipV="1">
                <a:off x="3515" y="3158"/>
                <a:ext cx="907" cy="544"/>
              </a:xfrm>
              <a:prstGeom prst="line">
                <a:avLst/>
              </a:prstGeom>
              <a:ln w="28575" cap="flat" cmpd="sng">
                <a:solidFill>
                  <a:srgbClr val="FF0000"/>
                </a:solidFill>
                <a:prstDash val="solid"/>
                <a:headEnd type="none" w="med" len="med"/>
                <a:tailEnd type="triangle" w="med" len="med"/>
              </a:ln>
            </p:spPr>
          </p:sp>
        </p:grpSp>
        <p:graphicFrame>
          <p:nvGraphicFramePr>
            <p:cNvPr id="257044" name="对象 257043"/>
            <p:cNvGraphicFramePr>
              <a:graphicFrameLocks noChangeAspect="1"/>
            </p:cNvGraphicFramePr>
            <p:nvPr/>
          </p:nvGraphicFramePr>
          <p:xfrm>
            <a:off x="4195" y="1162"/>
            <a:ext cx="197" cy="233"/>
          </p:xfrm>
          <a:graphic>
            <a:graphicData uri="http://schemas.openxmlformats.org/presentationml/2006/ole">
              <p:oleObj spid="_x0000_s105699" r:id="rId4" imgW="139518" imgH="164885" progId="">
                <p:embed/>
              </p:oleObj>
            </a:graphicData>
          </a:graphic>
        </p:graphicFrame>
        <p:graphicFrame>
          <p:nvGraphicFramePr>
            <p:cNvPr id="257045" name="对象 257044"/>
            <p:cNvGraphicFramePr>
              <a:graphicFrameLocks noChangeAspect="1"/>
            </p:cNvGraphicFramePr>
            <p:nvPr/>
          </p:nvGraphicFramePr>
          <p:xfrm>
            <a:off x="4241" y="2659"/>
            <a:ext cx="187" cy="272"/>
          </p:xfrm>
          <a:graphic>
            <a:graphicData uri="http://schemas.openxmlformats.org/presentationml/2006/ole">
              <p:oleObj spid="_x0000_s105700" r:id="rId5" imgW="139579" imgH="203024" progId="">
                <p:embed/>
              </p:oleObj>
            </a:graphicData>
          </a:graphic>
        </p:graphicFrame>
      </p:grpSp>
      <p:sp>
        <p:nvSpPr>
          <p:cNvPr id="3" name="文本框 2"/>
          <p:cNvSpPr txBox="1"/>
          <p:nvPr/>
        </p:nvSpPr>
        <p:spPr>
          <a:xfrm>
            <a:off x="4891804" y="4386913"/>
            <a:ext cx="332142" cy="369332"/>
          </a:xfrm>
          <a:prstGeom prst="rect">
            <a:avLst/>
          </a:prstGeom>
          <a:noFill/>
        </p:spPr>
        <p:txBody>
          <a:bodyPr wrap="none" rtlCol="0">
            <a:spAutoFit/>
          </a:bodyPr>
          <a:lstStyle/>
          <a:p>
            <a:r>
              <a:rPr lang="en-US" altLang="zh-CN" b="1" dirty="0" smtClean="0">
                <a:solidFill>
                  <a:srgbClr val="FF0000"/>
                </a:solidFill>
              </a:rPr>
              <a:t>0</a:t>
            </a:r>
            <a:endParaRPr lang="zh-CN" altLang="en-US" b="1" dirty="0">
              <a:solidFill>
                <a:srgbClr val="FF0000"/>
              </a:solidFill>
            </a:endParaRPr>
          </a:p>
        </p:txBody>
      </p:sp>
      <p:grpSp>
        <p:nvGrpSpPr>
          <p:cNvPr id="11" name="组合 10"/>
          <p:cNvGrpSpPr/>
          <p:nvPr/>
        </p:nvGrpSpPr>
        <p:grpSpPr>
          <a:xfrm>
            <a:off x="4545676" y="3259991"/>
            <a:ext cx="532375" cy="300791"/>
            <a:chOff x="4359429" y="3223794"/>
            <a:chExt cx="532375" cy="300791"/>
          </a:xfrm>
        </p:grpSpPr>
        <p:cxnSp>
          <p:nvCxnSpPr>
            <p:cNvPr id="6" name="肘形连接符 5"/>
            <p:cNvCxnSpPr/>
            <p:nvPr/>
          </p:nvCxnSpPr>
          <p:spPr bwMode="auto">
            <a:xfrm>
              <a:off x="4572000" y="3234591"/>
              <a:ext cx="319804" cy="288032"/>
            </a:xfrm>
            <a:prstGeom prst="bentConnector3">
              <a:avLst>
                <a:gd name="adj1" fmla="val 33344"/>
              </a:avLst>
            </a:prstGeom>
            <a:ln>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8" name="肘形连接符 7"/>
            <p:cNvCxnSpPr/>
            <p:nvPr/>
          </p:nvCxnSpPr>
          <p:spPr bwMode="auto">
            <a:xfrm rot="5400000">
              <a:off x="4316760" y="3266463"/>
              <a:ext cx="300791" cy="215454"/>
            </a:xfrm>
            <a:prstGeom prst="bentConnector3">
              <a:avLst>
                <a:gd name="adj1" fmla="val 100667"/>
              </a:avLst>
            </a:prstGeom>
            <a:ln>
              <a:headEnd type="none" w="med" len="med"/>
              <a:tailEnd type="none" w="med" len="med"/>
            </a:ln>
          </p:spPr>
          <p:style>
            <a:lnRef idx="2">
              <a:schemeClr val="accent1"/>
            </a:lnRef>
            <a:fillRef idx="0">
              <a:schemeClr val="accent1"/>
            </a:fillRef>
            <a:effectRef idx="1">
              <a:schemeClr val="accent1"/>
            </a:effectRef>
            <a:fontRef idx="minor">
              <a:schemeClr val="tx1"/>
            </a:fontRef>
          </p:style>
        </p:cxnSp>
      </p:grpSp>
      <p:sp>
        <p:nvSpPr>
          <p:cNvPr id="25" name="文本框 24"/>
          <p:cNvSpPr txBox="1"/>
          <p:nvPr/>
        </p:nvSpPr>
        <p:spPr>
          <a:xfrm>
            <a:off x="5741851" y="4386913"/>
            <a:ext cx="332142" cy="369332"/>
          </a:xfrm>
          <a:prstGeom prst="rect">
            <a:avLst/>
          </a:prstGeom>
          <a:noFill/>
        </p:spPr>
        <p:txBody>
          <a:bodyPr wrap="none" rtlCol="0">
            <a:spAutoFit/>
          </a:bodyPr>
          <a:lstStyle/>
          <a:p>
            <a:r>
              <a:rPr lang="en-US" altLang="zh-CN" b="1" dirty="0" smtClean="0">
                <a:solidFill>
                  <a:srgbClr val="FF0000"/>
                </a:solidFill>
              </a:rPr>
              <a:t>1</a:t>
            </a:r>
            <a:endParaRPr lang="zh-CN" altLang="en-US" b="1" dirty="0">
              <a:solidFill>
                <a:srgbClr val="FF0000"/>
              </a:solidFill>
            </a:endParaRPr>
          </a:p>
        </p:txBody>
      </p:sp>
      <p:sp>
        <p:nvSpPr>
          <p:cNvPr id="26" name="文本框 25"/>
          <p:cNvSpPr txBox="1"/>
          <p:nvPr/>
        </p:nvSpPr>
        <p:spPr>
          <a:xfrm>
            <a:off x="5652617" y="3505870"/>
            <a:ext cx="332142" cy="369332"/>
          </a:xfrm>
          <a:prstGeom prst="rect">
            <a:avLst/>
          </a:prstGeom>
          <a:noFill/>
        </p:spPr>
        <p:txBody>
          <a:bodyPr wrap="none" rtlCol="0">
            <a:spAutoFit/>
          </a:bodyPr>
          <a:lstStyle/>
          <a:p>
            <a:r>
              <a:rPr lang="en-US" altLang="zh-CN" b="1" dirty="0" smtClean="0">
                <a:solidFill>
                  <a:srgbClr val="FF0000"/>
                </a:solidFill>
              </a:rPr>
              <a:t>0</a:t>
            </a:r>
            <a:endParaRPr lang="zh-CN" altLang="en-US" b="1" dirty="0">
              <a:solidFill>
                <a:srgbClr val="FF0000"/>
              </a:solidFill>
            </a:endParaRPr>
          </a:p>
        </p:txBody>
      </p:sp>
      <p:sp>
        <p:nvSpPr>
          <p:cNvPr id="27" name="文本框 26"/>
          <p:cNvSpPr txBox="1"/>
          <p:nvPr/>
        </p:nvSpPr>
        <p:spPr>
          <a:xfrm>
            <a:off x="6483605" y="3481991"/>
            <a:ext cx="298195" cy="369332"/>
          </a:xfrm>
          <a:prstGeom prst="rect">
            <a:avLst/>
          </a:prstGeom>
          <a:noFill/>
        </p:spPr>
        <p:txBody>
          <a:bodyPr wrap="square" rtlCol="0">
            <a:spAutoFit/>
          </a:bodyPr>
          <a:lstStyle/>
          <a:p>
            <a:r>
              <a:rPr lang="en-US" altLang="zh-CN" b="1" dirty="0" smtClean="0">
                <a:solidFill>
                  <a:srgbClr val="FF0000"/>
                </a:solidFill>
              </a:rPr>
              <a:t>1</a:t>
            </a:r>
            <a:endParaRPr lang="zh-CN" altLang="en-US" b="1" dirty="0">
              <a:solidFill>
                <a:srgbClr val="FF0000"/>
              </a:solidFill>
            </a:endParaRPr>
          </a:p>
        </p:txBody>
      </p:sp>
      <p:sp>
        <p:nvSpPr>
          <p:cNvPr id="28" name="文本框 27"/>
          <p:cNvSpPr txBox="1"/>
          <p:nvPr/>
        </p:nvSpPr>
        <p:spPr>
          <a:xfrm>
            <a:off x="6535382" y="4374000"/>
            <a:ext cx="332142" cy="369332"/>
          </a:xfrm>
          <a:prstGeom prst="rect">
            <a:avLst/>
          </a:prstGeom>
          <a:noFill/>
        </p:spPr>
        <p:txBody>
          <a:bodyPr wrap="none" rtlCol="0">
            <a:spAutoFit/>
          </a:bodyPr>
          <a:lstStyle/>
          <a:p>
            <a:r>
              <a:rPr lang="en-US" altLang="zh-CN" b="1" dirty="0" smtClean="0">
                <a:solidFill>
                  <a:srgbClr val="FF0000"/>
                </a:solidFill>
              </a:rPr>
              <a:t>0</a:t>
            </a:r>
            <a:endParaRPr lang="zh-CN" altLang="en-US" b="1" dirty="0">
              <a:solidFill>
                <a:srgbClr val="FF0000"/>
              </a:solidFill>
            </a:endParaRPr>
          </a:p>
        </p:txBody>
      </p:sp>
      <p:sp>
        <p:nvSpPr>
          <p:cNvPr id="29" name="文本框 28"/>
          <p:cNvSpPr txBox="1"/>
          <p:nvPr/>
        </p:nvSpPr>
        <p:spPr>
          <a:xfrm>
            <a:off x="8747280" y="3374154"/>
            <a:ext cx="332142" cy="369332"/>
          </a:xfrm>
          <a:prstGeom prst="rect">
            <a:avLst/>
          </a:prstGeom>
          <a:noFill/>
        </p:spPr>
        <p:txBody>
          <a:bodyPr wrap="none" rtlCol="0">
            <a:spAutoFit/>
          </a:bodyPr>
          <a:lstStyle/>
          <a:p>
            <a:r>
              <a:rPr lang="en-US" altLang="zh-CN" b="1" dirty="0" smtClean="0">
                <a:solidFill>
                  <a:srgbClr val="0000CC"/>
                </a:solidFill>
              </a:rPr>
              <a:t>0</a:t>
            </a:r>
            <a:endParaRPr lang="zh-CN" altLang="en-US" b="1" dirty="0">
              <a:solidFill>
                <a:srgbClr val="0000CC"/>
              </a:solidFill>
            </a:endParaRPr>
          </a:p>
        </p:txBody>
      </p:sp>
      <p:sp>
        <p:nvSpPr>
          <p:cNvPr id="30" name="文本框 29"/>
          <p:cNvSpPr txBox="1"/>
          <p:nvPr/>
        </p:nvSpPr>
        <p:spPr>
          <a:xfrm>
            <a:off x="8777904" y="4293552"/>
            <a:ext cx="332142" cy="369332"/>
          </a:xfrm>
          <a:prstGeom prst="rect">
            <a:avLst/>
          </a:prstGeom>
          <a:noFill/>
        </p:spPr>
        <p:txBody>
          <a:bodyPr wrap="none" rtlCol="0">
            <a:spAutoFit/>
          </a:bodyPr>
          <a:lstStyle/>
          <a:p>
            <a:r>
              <a:rPr lang="en-US" altLang="zh-CN" b="1" dirty="0" smtClean="0">
                <a:solidFill>
                  <a:srgbClr val="0000CC"/>
                </a:solidFill>
              </a:rPr>
              <a:t>1</a:t>
            </a:r>
            <a:endParaRPr lang="zh-CN" altLang="en-US" b="1" dirty="0">
              <a:solidFill>
                <a:srgbClr val="0000CC"/>
              </a:solidFill>
            </a:endParaRPr>
          </a:p>
        </p:txBody>
      </p:sp>
      <p:sp>
        <p:nvSpPr>
          <p:cNvPr id="15" name="任意多边形 14"/>
          <p:cNvSpPr/>
          <p:nvPr/>
        </p:nvSpPr>
        <p:spPr bwMode="auto">
          <a:xfrm>
            <a:off x="5964279" y="3701610"/>
            <a:ext cx="721923" cy="829513"/>
          </a:xfrm>
          <a:custGeom>
            <a:avLst/>
            <a:gdLst>
              <a:gd name="connsiteX0" fmla="*/ 170191 w 721923"/>
              <a:gd name="connsiteY0" fmla="*/ 18134 h 829513"/>
              <a:gd name="connsiteX1" fmla="*/ 28148 w 721923"/>
              <a:gd name="connsiteY1" fmla="*/ 27011 h 829513"/>
              <a:gd name="connsiteX2" fmla="*/ 28148 w 721923"/>
              <a:gd name="connsiteY2" fmla="*/ 275586 h 829513"/>
              <a:gd name="connsiteX3" fmla="*/ 54781 w 721923"/>
              <a:gd name="connsiteY3" fmla="*/ 275586 h 829513"/>
              <a:gd name="connsiteX4" fmla="*/ 676218 w 721923"/>
              <a:gd name="connsiteY4" fmla="*/ 470895 h 829513"/>
              <a:gd name="connsiteX5" fmla="*/ 676218 w 721923"/>
              <a:gd name="connsiteY5" fmla="*/ 479773 h 829513"/>
              <a:gd name="connsiteX6" fmla="*/ 685096 w 721923"/>
              <a:gd name="connsiteY6" fmla="*/ 799369 h 829513"/>
              <a:gd name="connsiteX7" fmla="*/ 676218 w 721923"/>
              <a:gd name="connsiteY7" fmla="*/ 817124 h 829513"/>
              <a:gd name="connsiteX8" fmla="*/ 685096 w 721923"/>
              <a:gd name="connsiteY8" fmla="*/ 808246 h 829513"/>
              <a:gd name="connsiteX9" fmla="*/ 667340 w 721923"/>
              <a:gd name="connsiteY9" fmla="*/ 808246 h 829513"/>
              <a:gd name="connsiteX10" fmla="*/ 685096 w 721923"/>
              <a:gd name="connsiteY10" fmla="*/ 790491 h 829513"/>
              <a:gd name="connsiteX11" fmla="*/ 685096 w 721923"/>
              <a:gd name="connsiteY11" fmla="*/ 790491 h 829513"/>
              <a:gd name="connsiteX12" fmla="*/ 685096 w 721923"/>
              <a:gd name="connsiteY12" fmla="*/ 790491 h 829513"/>
              <a:gd name="connsiteX13" fmla="*/ 685096 w 721923"/>
              <a:gd name="connsiteY13" fmla="*/ 790491 h 829513"/>
              <a:gd name="connsiteX14" fmla="*/ 702851 w 721923"/>
              <a:gd name="connsiteY14" fmla="*/ 488650 h 829513"/>
              <a:gd name="connsiteX15" fmla="*/ 693973 w 721923"/>
              <a:gd name="connsiteY15" fmla="*/ 479773 h 829513"/>
              <a:gd name="connsiteX16" fmla="*/ 693973 w 721923"/>
              <a:gd name="connsiteY16" fmla="*/ 479773 h 829513"/>
              <a:gd name="connsiteX17" fmla="*/ 685096 w 721923"/>
              <a:gd name="connsiteY17" fmla="*/ 479773 h 829513"/>
              <a:gd name="connsiteX18" fmla="*/ 693973 w 721923"/>
              <a:gd name="connsiteY18" fmla="*/ 497528 h 829513"/>
              <a:gd name="connsiteX19" fmla="*/ 693973 w 721923"/>
              <a:gd name="connsiteY19" fmla="*/ 497528 h 829513"/>
              <a:gd name="connsiteX20" fmla="*/ 685096 w 721923"/>
              <a:gd name="connsiteY20" fmla="*/ 790491 h 829513"/>
              <a:gd name="connsiteX21" fmla="*/ 676218 w 721923"/>
              <a:gd name="connsiteY21" fmla="*/ 826002 h 829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721923" h="829513">
                <a:moveTo>
                  <a:pt x="170191" y="18134"/>
                </a:moveTo>
                <a:cubicBezTo>
                  <a:pt x="111006" y="1118"/>
                  <a:pt x="51822" y="-15898"/>
                  <a:pt x="28148" y="27011"/>
                </a:cubicBezTo>
                <a:cubicBezTo>
                  <a:pt x="4474" y="69920"/>
                  <a:pt x="23709" y="234157"/>
                  <a:pt x="28148" y="275586"/>
                </a:cubicBezTo>
                <a:cubicBezTo>
                  <a:pt x="32587" y="317015"/>
                  <a:pt x="-53231" y="243035"/>
                  <a:pt x="54781" y="275586"/>
                </a:cubicBezTo>
                <a:cubicBezTo>
                  <a:pt x="162793" y="308137"/>
                  <a:pt x="572645" y="436864"/>
                  <a:pt x="676218" y="470895"/>
                </a:cubicBezTo>
                <a:cubicBezTo>
                  <a:pt x="779791" y="504926"/>
                  <a:pt x="674738" y="425027"/>
                  <a:pt x="676218" y="479773"/>
                </a:cubicBezTo>
                <a:cubicBezTo>
                  <a:pt x="677698" y="534519"/>
                  <a:pt x="685096" y="743144"/>
                  <a:pt x="685096" y="799369"/>
                </a:cubicBezTo>
                <a:cubicBezTo>
                  <a:pt x="685096" y="855594"/>
                  <a:pt x="676218" y="815645"/>
                  <a:pt x="676218" y="817124"/>
                </a:cubicBezTo>
                <a:cubicBezTo>
                  <a:pt x="676218" y="818603"/>
                  <a:pt x="686576" y="809726"/>
                  <a:pt x="685096" y="808246"/>
                </a:cubicBezTo>
                <a:cubicBezTo>
                  <a:pt x="683616" y="806766"/>
                  <a:pt x="667340" y="811205"/>
                  <a:pt x="667340" y="808246"/>
                </a:cubicBezTo>
                <a:lnTo>
                  <a:pt x="685096" y="790491"/>
                </a:lnTo>
                <a:lnTo>
                  <a:pt x="685096" y="790491"/>
                </a:lnTo>
                <a:lnTo>
                  <a:pt x="685096" y="790491"/>
                </a:lnTo>
                <a:lnTo>
                  <a:pt x="685096" y="790491"/>
                </a:lnTo>
                <a:cubicBezTo>
                  <a:pt x="688055" y="740184"/>
                  <a:pt x="701372" y="540436"/>
                  <a:pt x="702851" y="488650"/>
                </a:cubicBezTo>
                <a:cubicBezTo>
                  <a:pt x="704331" y="436864"/>
                  <a:pt x="693973" y="479773"/>
                  <a:pt x="693973" y="479773"/>
                </a:cubicBezTo>
                <a:lnTo>
                  <a:pt x="693973" y="479773"/>
                </a:lnTo>
                <a:cubicBezTo>
                  <a:pt x="692494" y="479773"/>
                  <a:pt x="685096" y="476814"/>
                  <a:pt x="685096" y="479773"/>
                </a:cubicBezTo>
                <a:cubicBezTo>
                  <a:pt x="685096" y="482732"/>
                  <a:pt x="689534" y="490130"/>
                  <a:pt x="693973" y="497528"/>
                </a:cubicBezTo>
                <a:lnTo>
                  <a:pt x="693973" y="497528"/>
                </a:lnTo>
                <a:cubicBezTo>
                  <a:pt x="693973" y="497528"/>
                  <a:pt x="688055" y="735745"/>
                  <a:pt x="685096" y="790491"/>
                </a:cubicBezTo>
                <a:lnTo>
                  <a:pt x="676218" y="826002"/>
                </a:lnTo>
              </a:path>
            </a:pathLst>
          </a:custGeom>
          <a:noFill/>
          <a:ln w="15875" cap="flat" cmpd="sng" algn="ctr">
            <a:solidFill>
              <a:srgbClr val="FF0000"/>
            </a:solidFill>
            <a:prstDash val="solid"/>
            <a:miter lim="800000"/>
            <a:headEnd type="none" w="med" len="med"/>
            <a:tailEnd type="none" w="med" len="med"/>
          </a:ln>
        </p:spPr>
        <p:txBody>
          <a:bodyPr vert="horz" wrap="square" lIns="90000" tIns="46800" rIns="90000" bIns="4680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36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endParaRPr>
          </a:p>
        </p:txBody>
      </p:sp>
      <p:sp>
        <p:nvSpPr>
          <p:cNvPr id="32" name="标题 1"/>
          <p:cNvSpPr>
            <a:spLocks noGrp="1"/>
          </p:cNvSpPr>
          <p:nvPr>
            <p:ph type="title"/>
          </p:nvPr>
        </p:nvSpPr>
        <p:spPr>
          <a:xfrm>
            <a:off x="1187624" y="1052736"/>
            <a:ext cx="7756351" cy="635794"/>
          </a:xfrm>
        </p:spPr>
        <p:txBody>
          <a:bodyPr/>
          <a:lstStyle/>
          <a:p>
            <a:r>
              <a:rPr lang="en-US" altLang="zh-CN" dirty="0" smtClean="0"/>
              <a:t>5.2.2 </a:t>
            </a:r>
            <a:r>
              <a:rPr lang="zh-CN" altLang="en-US" dirty="0" smtClean="0"/>
              <a:t>主从</a:t>
            </a:r>
            <a:r>
              <a:rPr lang="en-US" altLang="zh-CN" dirty="0" smtClean="0"/>
              <a:t>JK</a:t>
            </a:r>
            <a:r>
              <a:rPr lang="zh-CN" altLang="en-US" dirty="0" smtClean="0"/>
              <a:t>触发器</a:t>
            </a:r>
            <a:endParaRPr lang="zh-CN" altLang="en-US" dirty="0"/>
          </a:p>
        </p:txBody>
      </p:sp>
      <p:sp>
        <p:nvSpPr>
          <p:cNvPr id="33" name="标题 1"/>
          <p:cNvSpPr txBox="1">
            <a:spLocks/>
          </p:cNvSpPr>
          <p:nvPr/>
        </p:nvSpPr>
        <p:spPr bwMode="auto">
          <a:xfrm>
            <a:off x="1187624" y="332656"/>
            <a:ext cx="7632848" cy="5669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5.2 </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脉冲</a:t>
            </a:r>
            <a:r>
              <a:rPr kumimoji="1" lang="zh-CN" altLang="en-US" sz="3200" b="1" kern="0" dirty="0" smtClean="0">
                <a:solidFill>
                  <a:schemeClr val="tx2"/>
                </a:solidFill>
                <a:latin typeface="+mj-lt"/>
                <a:ea typeface="+mj-ea"/>
                <a:cs typeface="+mj-cs"/>
              </a:rPr>
              <a:t>触发的</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触发器</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pic>
        <p:nvPicPr>
          <p:cNvPr id="105701" name="Picture 229"/>
          <p:cNvPicPr>
            <a:picLocks noChangeAspect="1" noChangeArrowheads="1"/>
          </p:cNvPicPr>
          <p:nvPr/>
        </p:nvPicPr>
        <p:blipFill>
          <a:blip r:embed="rId6" cstate="print"/>
          <a:srcRect/>
          <a:stretch>
            <a:fillRect/>
          </a:stretch>
        </p:blipFill>
        <p:spPr bwMode="auto">
          <a:xfrm>
            <a:off x="467544" y="2212876"/>
            <a:ext cx="4005578" cy="4645124"/>
          </a:xfrm>
          <a:prstGeom prst="rect">
            <a:avLst/>
          </a:prstGeom>
          <a:noFill/>
          <a:ln w="9525">
            <a:noFill/>
            <a:miter lim="800000"/>
            <a:headEnd/>
            <a:tailEnd/>
          </a:ln>
        </p:spPr>
      </p:pic>
      <p:sp>
        <p:nvSpPr>
          <p:cNvPr id="257047" name="矩形 257046"/>
          <p:cNvSpPr/>
          <p:nvPr/>
        </p:nvSpPr>
        <p:spPr>
          <a:xfrm>
            <a:off x="395288" y="5728970"/>
            <a:ext cx="4321175" cy="1152525"/>
          </a:xfrm>
          <a:prstGeom prst="rect">
            <a:avLst/>
          </a:prstGeom>
          <a:solidFill>
            <a:schemeClr val="bg1"/>
          </a:solidFill>
          <a:ln w="28575" cap="flat" cmpd="sng">
            <a:solidFill>
              <a:srgbClr val="FF0000"/>
            </a:solidFill>
            <a:prstDash val="dash"/>
            <a:miter/>
            <a:headEnd type="none" w="med" len="med"/>
            <a:tailEnd type="none" w="med" len="med"/>
          </a:ln>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xit" presetSubtype="10" fill="hold" nodeType="clickEffect">
                                  <p:stCondLst>
                                    <p:cond delay="0"/>
                                  </p:stCondLst>
                                  <p:childTnLst>
                                    <p:animEffect transition="out" filter="blinds(horizontal)">
                                      <p:cBhvr>
                                        <p:cTn id="6" dur="500"/>
                                        <p:tgtEl>
                                          <p:spTgt spid="257047"/>
                                        </p:tgtEl>
                                      </p:cBhvr>
                                    </p:animEffect>
                                    <p:set>
                                      <p:cBhvr>
                                        <p:cTn id="7" dur="1" fill="hold">
                                          <p:stCondLst>
                                            <p:cond delay="499"/>
                                          </p:stCondLst>
                                        </p:cTn>
                                        <p:tgtEl>
                                          <p:spTgt spid="257047"/>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9"/>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30"/>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3"/>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11"/>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25"/>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27"/>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28"/>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5" grpId="0"/>
      <p:bldP spid="26" grpId="0"/>
      <p:bldP spid="27" grpId="0"/>
      <p:bldP spid="28" grpId="0"/>
      <p:bldP spid="29" grpId="0"/>
      <p:bldP spid="30" grpId="0"/>
      <p:bldP spid="15"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0C913308-F349-4B6D-A68A-DD1791B4A57B}" type="slidenum">
              <a:rPr lang="zh-CN" altLang="en-US" smtClean="0"/>
              <a:pPr/>
              <a:t>60</a:t>
            </a:fld>
            <a:endParaRPr lang="zh-CN" altLang="en-US"/>
          </a:p>
        </p:txBody>
      </p:sp>
      <p:sp>
        <p:nvSpPr>
          <p:cNvPr id="257031" name="文本框 257030"/>
          <p:cNvSpPr txBox="1"/>
          <p:nvPr/>
        </p:nvSpPr>
        <p:spPr>
          <a:xfrm>
            <a:off x="5004048" y="6021288"/>
            <a:ext cx="3744912" cy="398780"/>
          </a:xfrm>
          <a:prstGeom prst="rect">
            <a:avLst/>
          </a:prstGeom>
          <a:noFill/>
          <a:ln w="9525">
            <a:noFill/>
          </a:ln>
        </p:spPr>
        <p:txBody>
          <a:bodyPr>
            <a:spAutoFit/>
          </a:bodyPr>
          <a:lstStyle/>
          <a:p>
            <a:pPr>
              <a:spcBef>
                <a:spcPct val="50000"/>
              </a:spcBef>
            </a:pPr>
            <a:r>
              <a:rPr lang="zh-CN" altLang="en-US" sz="2000" b="1" dirty="0">
                <a:latin typeface="楷体_GB2312" pitchFamily="49" charset="-122"/>
                <a:ea typeface="楷体_GB2312" pitchFamily="49" charset="-122"/>
              </a:rPr>
              <a:t>主从</a:t>
            </a:r>
            <a:r>
              <a:rPr lang="en-US" altLang="zh-CN" sz="2000" b="1" dirty="0">
                <a:latin typeface="楷体_GB2312" pitchFamily="49" charset="-122"/>
                <a:ea typeface="楷体_GB2312" pitchFamily="49" charset="-122"/>
              </a:rPr>
              <a:t>JK-FF</a:t>
            </a:r>
            <a:r>
              <a:rPr lang="zh-CN" altLang="en-US" sz="2000" b="1" dirty="0">
                <a:latin typeface="楷体_GB2312" pitchFamily="49" charset="-122"/>
                <a:ea typeface="楷体_GB2312" pitchFamily="49" charset="-122"/>
              </a:rPr>
              <a:t>的一次变化现象示例</a:t>
            </a:r>
          </a:p>
        </p:txBody>
      </p:sp>
      <p:grpSp>
        <p:nvGrpSpPr>
          <p:cNvPr id="257046" name="组合 257045"/>
          <p:cNvGrpSpPr/>
          <p:nvPr/>
        </p:nvGrpSpPr>
        <p:grpSpPr>
          <a:xfrm>
            <a:off x="4750460" y="3047033"/>
            <a:ext cx="4321175" cy="2808288"/>
            <a:chOff x="2925" y="1162"/>
            <a:chExt cx="2722" cy="1769"/>
          </a:xfrm>
        </p:grpSpPr>
        <p:grpSp>
          <p:nvGrpSpPr>
            <p:cNvPr id="257040" name="组合 257039"/>
            <p:cNvGrpSpPr/>
            <p:nvPr/>
          </p:nvGrpSpPr>
          <p:grpSpPr>
            <a:xfrm>
              <a:off x="2925" y="1207"/>
              <a:ext cx="2722" cy="1679"/>
              <a:chOff x="657" y="1298"/>
              <a:chExt cx="4219" cy="2464"/>
            </a:xfrm>
          </p:grpSpPr>
          <p:pic>
            <p:nvPicPr>
              <p:cNvPr id="257041" name="图片 257040" descr="4-2-15"/>
              <p:cNvPicPr>
                <a:picLocks noChangeAspect="1"/>
              </p:cNvPicPr>
              <p:nvPr/>
            </p:nvPicPr>
            <p:blipFill>
              <a:blip r:embed="rId3" cstate="print">
                <a:clrChange>
                  <a:clrFrom>
                    <a:srgbClr val="F9F8F3"/>
                  </a:clrFrom>
                  <a:clrTo>
                    <a:srgbClr val="F9F8F3">
                      <a:alpha val="0"/>
                    </a:srgbClr>
                  </a:clrTo>
                </a:clrChange>
                <a:lum bright="-6000" contrast="36000"/>
              </a:blip>
              <a:stretch>
                <a:fillRect/>
              </a:stretch>
            </p:blipFill>
            <p:spPr>
              <a:xfrm>
                <a:off x="657" y="1570"/>
                <a:ext cx="4219" cy="2192"/>
              </a:xfrm>
              <a:prstGeom prst="rect">
                <a:avLst/>
              </a:prstGeom>
              <a:noFill/>
              <a:ln w="9525">
                <a:noFill/>
              </a:ln>
            </p:spPr>
          </p:pic>
          <p:sp>
            <p:nvSpPr>
              <p:cNvPr id="257042" name="直接连接符 257041"/>
              <p:cNvSpPr/>
              <p:nvPr/>
            </p:nvSpPr>
            <p:spPr>
              <a:xfrm flipH="1">
                <a:off x="3515" y="1298"/>
                <a:ext cx="726" cy="318"/>
              </a:xfrm>
              <a:prstGeom prst="line">
                <a:avLst/>
              </a:prstGeom>
              <a:ln w="28575" cap="flat" cmpd="sng">
                <a:solidFill>
                  <a:srgbClr val="FF0000"/>
                </a:solidFill>
                <a:prstDash val="solid"/>
                <a:headEnd type="none" w="med" len="med"/>
                <a:tailEnd type="triangle" w="med" len="med"/>
              </a:ln>
            </p:spPr>
          </p:sp>
          <p:sp>
            <p:nvSpPr>
              <p:cNvPr id="257043" name="直接连接符 257042"/>
              <p:cNvSpPr/>
              <p:nvPr/>
            </p:nvSpPr>
            <p:spPr>
              <a:xfrm flipH="1" flipV="1">
                <a:off x="3515" y="3158"/>
                <a:ext cx="907" cy="544"/>
              </a:xfrm>
              <a:prstGeom prst="line">
                <a:avLst/>
              </a:prstGeom>
              <a:ln w="28575" cap="flat" cmpd="sng">
                <a:solidFill>
                  <a:srgbClr val="FF0000"/>
                </a:solidFill>
                <a:prstDash val="solid"/>
                <a:headEnd type="none" w="med" len="med"/>
                <a:tailEnd type="triangle" w="med" len="med"/>
              </a:ln>
            </p:spPr>
          </p:sp>
        </p:grpSp>
        <p:graphicFrame>
          <p:nvGraphicFramePr>
            <p:cNvPr id="257044" name="对象 257043"/>
            <p:cNvGraphicFramePr>
              <a:graphicFrameLocks noChangeAspect="1"/>
            </p:cNvGraphicFramePr>
            <p:nvPr/>
          </p:nvGraphicFramePr>
          <p:xfrm>
            <a:off x="4195" y="1162"/>
            <a:ext cx="197" cy="233"/>
          </p:xfrm>
          <a:graphic>
            <a:graphicData uri="http://schemas.openxmlformats.org/presentationml/2006/ole">
              <p:oleObj spid="_x0000_s116854" r:id="rId4" imgW="139518" imgH="164885" progId="">
                <p:embed/>
              </p:oleObj>
            </a:graphicData>
          </a:graphic>
        </p:graphicFrame>
        <p:graphicFrame>
          <p:nvGraphicFramePr>
            <p:cNvPr id="257045" name="对象 257044"/>
            <p:cNvGraphicFramePr>
              <a:graphicFrameLocks noChangeAspect="1"/>
            </p:cNvGraphicFramePr>
            <p:nvPr/>
          </p:nvGraphicFramePr>
          <p:xfrm>
            <a:off x="4241" y="2659"/>
            <a:ext cx="187" cy="272"/>
          </p:xfrm>
          <a:graphic>
            <a:graphicData uri="http://schemas.openxmlformats.org/presentationml/2006/ole">
              <p:oleObj spid="_x0000_s116855" r:id="rId5" imgW="139579" imgH="203024" progId="">
                <p:embed/>
              </p:oleObj>
            </a:graphicData>
          </a:graphic>
        </p:graphicFrame>
      </p:grpSp>
      <p:sp>
        <p:nvSpPr>
          <p:cNvPr id="3" name="文本框 2"/>
          <p:cNvSpPr txBox="1"/>
          <p:nvPr/>
        </p:nvSpPr>
        <p:spPr>
          <a:xfrm>
            <a:off x="4891804" y="4499828"/>
            <a:ext cx="332142" cy="369332"/>
          </a:xfrm>
          <a:prstGeom prst="rect">
            <a:avLst/>
          </a:prstGeom>
          <a:noFill/>
        </p:spPr>
        <p:txBody>
          <a:bodyPr wrap="none" rtlCol="0">
            <a:spAutoFit/>
          </a:bodyPr>
          <a:lstStyle/>
          <a:p>
            <a:r>
              <a:rPr lang="en-US" altLang="zh-CN" b="1" dirty="0" smtClean="0">
                <a:solidFill>
                  <a:srgbClr val="FF0000"/>
                </a:solidFill>
              </a:rPr>
              <a:t>1</a:t>
            </a:r>
            <a:endParaRPr lang="zh-CN" altLang="en-US" b="1" dirty="0">
              <a:solidFill>
                <a:srgbClr val="FF0000"/>
              </a:solidFill>
            </a:endParaRPr>
          </a:p>
        </p:txBody>
      </p:sp>
      <p:grpSp>
        <p:nvGrpSpPr>
          <p:cNvPr id="11" name="组合 10"/>
          <p:cNvGrpSpPr/>
          <p:nvPr/>
        </p:nvGrpSpPr>
        <p:grpSpPr>
          <a:xfrm>
            <a:off x="4545676" y="3259991"/>
            <a:ext cx="532375" cy="300791"/>
            <a:chOff x="4359429" y="3223794"/>
            <a:chExt cx="532375" cy="300791"/>
          </a:xfrm>
        </p:grpSpPr>
        <p:cxnSp>
          <p:nvCxnSpPr>
            <p:cNvPr id="6" name="肘形连接符 5"/>
            <p:cNvCxnSpPr/>
            <p:nvPr/>
          </p:nvCxnSpPr>
          <p:spPr bwMode="auto">
            <a:xfrm>
              <a:off x="4572000" y="3234591"/>
              <a:ext cx="319804" cy="288032"/>
            </a:xfrm>
            <a:prstGeom prst="bentConnector3">
              <a:avLst>
                <a:gd name="adj1" fmla="val 33344"/>
              </a:avLst>
            </a:prstGeom>
            <a:ln>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8" name="肘形连接符 7"/>
            <p:cNvCxnSpPr/>
            <p:nvPr/>
          </p:nvCxnSpPr>
          <p:spPr bwMode="auto">
            <a:xfrm rot="5400000">
              <a:off x="4316760" y="3266463"/>
              <a:ext cx="300791" cy="215454"/>
            </a:xfrm>
            <a:prstGeom prst="bentConnector3">
              <a:avLst>
                <a:gd name="adj1" fmla="val 100667"/>
              </a:avLst>
            </a:prstGeom>
            <a:ln>
              <a:headEnd type="none" w="med" len="med"/>
              <a:tailEnd type="none" w="med" len="med"/>
            </a:ln>
          </p:spPr>
          <p:style>
            <a:lnRef idx="2">
              <a:schemeClr val="accent1"/>
            </a:lnRef>
            <a:fillRef idx="0">
              <a:schemeClr val="accent1"/>
            </a:fillRef>
            <a:effectRef idx="1">
              <a:schemeClr val="accent1"/>
            </a:effectRef>
            <a:fontRef idx="minor">
              <a:schemeClr val="tx1"/>
            </a:fontRef>
          </p:style>
        </p:cxnSp>
      </p:grpSp>
      <p:sp>
        <p:nvSpPr>
          <p:cNvPr id="25" name="文本框 24"/>
          <p:cNvSpPr txBox="1"/>
          <p:nvPr/>
        </p:nvSpPr>
        <p:spPr>
          <a:xfrm>
            <a:off x="5752026" y="4571836"/>
            <a:ext cx="332142" cy="369332"/>
          </a:xfrm>
          <a:prstGeom prst="rect">
            <a:avLst/>
          </a:prstGeom>
          <a:noFill/>
        </p:spPr>
        <p:txBody>
          <a:bodyPr wrap="none" rtlCol="0">
            <a:spAutoFit/>
          </a:bodyPr>
          <a:lstStyle/>
          <a:p>
            <a:r>
              <a:rPr lang="en-US" altLang="zh-CN" b="1" dirty="0" smtClean="0">
                <a:solidFill>
                  <a:srgbClr val="FF0000"/>
                </a:solidFill>
              </a:rPr>
              <a:t>0</a:t>
            </a:r>
            <a:endParaRPr lang="zh-CN" altLang="en-US" b="1" dirty="0">
              <a:solidFill>
                <a:srgbClr val="FF0000"/>
              </a:solidFill>
            </a:endParaRPr>
          </a:p>
        </p:txBody>
      </p:sp>
      <p:sp>
        <p:nvSpPr>
          <p:cNvPr id="26" name="文本框 25"/>
          <p:cNvSpPr txBox="1"/>
          <p:nvPr/>
        </p:nvSpPr>
        <p:spPr>
          <a:xfrm>
            <a:off x="5752026" y="3635732"/>
            <a:ext cx="332142" cy="369332"/>
          </a:xfrm>
          <a:prstGeom prst="rect">
            <a:avLst/>
          </a:prstGeom>
          <a:noFill/>
        </p:spPr>
        <p:txBody>
          <a:bodyPr wrap="none" rtlCol="0">
            <a:spAutoFit/>
          </a:bodyPr>
          <a:lstStyle/>
          <a:p>
            <a:r>
              <a:rPr lang="en-US" altLang="zh-CN" b="1" dirty="0" smtClean="0">
                <a:solidFill>
                  <a:srgbClr val="FF0000"/>
                </a:solidFill>
              </a:rPr>
              <a:t>1</a:t>
            </a:r>
            <a:endParaRPr lang="zh-CN" altLang="en-US" b="1" dirty="0">
              <a:solidFill>
                <a:srgbClr val="FF0000"/>
              </a:solidFill>
            </a:endParaRPr>
          </a:p>
        </p:txBody>
      </p:sp>
      <p:sp>
        <p:nvSpPr>
          <p:cNvPr id="27" name="文本框 26"/>
          <p:cNvSpPr txBox="1"/>
          <p:nvPr/>
        </p:nvSpPr>
        <p:spPr>
          <a:xfrm>
            <a:off x="6483605" y="3707740"/>
            <a:ext cx="298195" cy="369332"/>
          </a:xfrm>
          <a:prstGeom prst="rect">
            <a:avLst/>
          </a:prstGeom>
          <a:noFill/>
        </p:spPr>
        <p:txBody>
          <a:bodyPr wrap="square" rtlCol="0">
            <a:spAutoFit/>
          </a:bodyPr>
          <a:lstStyle/>
          <a:p>
            <a:r>
              <a:rPr lang="en-US" altLang="zh-CN" b="1" dirty="0" smtClean="0">
                <a:solidFill>
                  <a:srgbClr val="FF0000"/>
                </a:solidFill>
              </a:rPr>
              <a:t>0</a:t>
            </a:r>
            <a:endParaRPr lang="zh-CN" altLang="en-US" b="1" dirty="0">
              <a:solidFill>
                <a:srgbClr val="FF0000"/>
              </a:solidFill>
            </a:endParaRPr>
          </a:p>
        </p:txBody>
      </p:sp>
      <p:sp>
        <p:nvSpPr>
          <p:cNvPr id="28" name="文本框 27"/>
          <p:cNvSpPr txBox="1"/>
          <p:nvPr/>
        </p:nvSpPr>
        <p:spPr>
          <a:xfrm>
            <a:off x="6535382" y="4374000"/>
            <a:ext cx="332142" cy="369332"/>
          </a:xfrm>
          <a:prstGeom prst="rect">
            <a:avLst/>
          </a:prstGeom>
          <a:noFill/>
        </p:spPr>
        <p:txBody>
          <a:bodyPr wrap="none" rtlCol="0">
            <a:spAutoFit/>
          </a:bodyPr>
          <a:lstStyle/>
          <a:p>
            <a:r>
              <a:rPr lang="en-US" altLang="zh-CN" b="1" dirty="0" smtClean="0">
                <a:solidFill>
                  <a:srgbClr val="FF0000"/>
                </a:solidFill>
              </a:rPr>
              <a:t>1</a:t>
            </a:r>
            <a:endParaRPr lang="zh-CN" altLang="en-US" b="1" dirty="0">
              <a:solidFill>
                <a:srgbClr val="FF0000"/>
              </a:solidFill>
            </a:endParaRPr>
          </a:p>
        </p:txBody>
      </p:sp>
      <p:sp>
        <p:nvSpPr>
          <p:cNvPr id="29" name="文本框 28"/>
          <p:cNvSpPr txBox="1"/>
          <p:nvPr/>
        </p:nvSpPr>
        <p:spPr>
          <a:xfrm>
            <a:off x="8747280" y="3374154"/>
            <a:ext cx="332142" cy="369332"/>
          </a:xfrm>
          <a:prstGeom prst="rect">
            <a:avLst/>
          </a:prstGeom>
          <a:noFill/>
        </p:spPr>
        <p:txBody>
          <a:bodyPr wrap="none" rtlCol="0">
            <a:spAutoFit/>
          </a:bodyPr>
          <a:lstStyle/>
          <a:p>
            <a:r>
              <a:rPr lang="en-US" altLang="zh-CN" b="1" dirty="0" smtClean="0">
                <a:solidFill>
                  <a:srgbClr val="0000CC"/>
                </a:solidFill>
              </a:rPr>
              <a:t>1</a:t>
            </a:r>
            <a:endParaRPr lang="zh-CN" altLang="en-US" b="1" dirty="0">
              <a:solidFill>
                <a:srgbClr val="0000CC"/>
              </a:solidFill>
            </a:endParaRPr>
          </a:p>
        </p:txBody>
      </p:sp>
      <p:sp>
        <p:nvSpPr>
          <p:cNvPr id="30" name="文本框 29"/>
          <p:cNvSpPr txBox="1"/>
          <p:nvPr/>
        </p:nvSpPr>
        <p:spPr>
          <a:xfrm>
            <a:off x="8777904" y="4293552"/>
            <a:ext cx="332142" cy="369332"/>
          </a:xfrm>
          <a:prstGeom prst="rect">
            <a:avLst/>
          </a:prstGeom>
          <a:noFill/>
        </p:spPr>
        <p:txBody>
          <a:bodyPr wrap="none" rtlCol="0">
            <a:spAutoFit/>
          </a:bodyPr>
          <a:lstStyle/>
          <a:p>
            <a:r>
              <a:rPr lang="en-US" altLang="zh-CN" b="1" dirty="0" smtClean="0">
                <a:solidFill>
                  <a:srgbClr val="0000CC"/>
                </a:solidFill>
              </a:rPr>
              <a:t>0</a:t>
            </a:r>
            <a:endParaRPr lang="zh-CN" altLang="en-US" b="1" dirty="0">
              <a:solidFill>
                <a:srgbClr val="0000CC"/>
              </a:solidFill>
            </a:endParaRPr>
          </a:p>
        </p:txBody>
      </p:sp>
      <p:sp>
        <p:nvSpPr>
          <p:cNvPr id="5" name="乘号 4"/>
          <p:cNvSpPr/>
          <p:nvPr/>
        </p:nvSpPr>
        <p:spPr bwMode="auto">
          <a:xfrm>
            <a:off x="4612028" y="3072236"/>
            <a:ext cx="388640" cy="544555"/>
          </a:xfrm>
          <a:prstGeom prst="mathMultiply">
            <a:avLst>
              <a:gd name="adj1" fmla="val 5074"/>
            </a:avLst>
          </a:prstGeom>
          <a:solidFill>
            <a:srgbClr val="FF0000"/>
          </a:solidFill>
          <a:ln w="9525" cap="flat" cmpd="sng" algn="ctr">
            <a:solidFill>
              <a:schemeClr val="tx1"/>
            </a:solidFill>
            <a:prstDash val="solid"/>
            <a:miter lim="800000"/>
            <a:headEnd type="none" w="med" len="med"/>
            <a:tailEnd type="none" w="med" len="med"/>
          </a:ln>
        </p:spPr>
        <p:txBody>
          <a:bodyPr vert="horz" wrap="square" lIns="90000" tIns="46800" rIns="90000" bIns="4680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36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endParaRPr>
          </a:p>
        </p:txBody>
      </p:sp>
      <p:sp>
        <p:nvSpPr>
          <p:cNvPr id="10" name="任意多边形 9"/>
          <p:cNvSpPr/>
          <p:nvPr/>
        </p:nvSpPr>
        <p:spPr bwMode="auto">
          <a:xfrm>
            <a:off x="6044368" y="3897297"/>
            <a:ext cx="631640" cy="772769"/>
          </a:xfrm>
          <a:custGeom>
            <a:avLst/>
            <a:gdLst>
              <a:gd name="connsiteX0" fmla="*/ 631640 w 631640"/>
              <a:gd name="connsiteY0" fmla="*/ 0 h 772769"/>
              <a:gd name="connsiteX1" fmla="*/ 613884 w 631640"/>
              <a:gd name="connsiteY1" fmla="*/ 168676 h 772769"/>
              <a:gd name="connsiteX2" fmla="*/ 622762 w 631640"/>
              <a:gd name="connsiteY2" fmla="*/ 275208 h 772769"/>
              <a:gd name="connsiteX3" fmla="*/ 631640 w 631640"/>
              <a:gd name="connsiteY3" fmla="*/ 301841 h 772769"/>
              <a:gd name="connsiteX4" fmla="*/ 480719 w 631640"/>
              <a:gd name="connsiteY4" fmla="*/ 337352 h 772769"/>
              <a:gd name="connsiteX5" fmla="*/ 418576 w 631640"/>
              <a:gd name="connsiteY5" fmla="*/ 355107 h 772769"/>
              <a:gd name="connsiteX6" fmla="*/ 374187 w 631640"/>
              <a:gd name="connsiteY6" fmla="*/ 390618 h 772769"/>
              <a:gd name="connsiteX7" fmla="*/ 347554 w 631640"/>
              <a:gd name="connsiteY7" fmla="*/ 399495 h 772769"/>
              <a:gd name="connsiteX8" fmla="*/ 276533 w 631640"/>
              <a:gd name="connsiteY8" fmla="*/ 452761 h 772769"/>
              <a:gd name="connsiteX9" fmla="*/ 170001 w 631640"/>
              <a:gd name="connsiteY9" fmla="*/ 488272 h 772769"/>
              <a:gd name="connsiteX10" fmla="*/ 90102 w 631640"/>
              <a:gd name="connsiteY10" fmla="*/ 514905 h 772769"/>
              <a:gd name="connsiteX11" fmla="*/ 63469 w 631640"/>
              <a:gd name="connsiteY11" fmla="*/ 523783 h 772769"/>
              <a:gd name="connsiteX12" fmla="*/ 10203 w 631640"/>
              <a:gd name="connsiteY12" fmla="*/ 532660 h 772769"/>
              <a:gd name="connsiteX13" fmla="*/ 19081 w 631640"/>
              <a:gd name="connsiteY13" fmla="*/ 754602 h 772769"/>
              <a:gd name="connsiteX14" fmla="*/ 152246 w 631640"/>
              <a:gd name="connsiteY14" fmla="*/ 763480 h 772769"/>
              <a:gd name="connsiteX15" fmla="*/ 178879 w 631640"/>
              <a:gd name="connsiteY15" fmla="*/ 772357 h 772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31640" h="772769">
                <a:moveTo>
                  <a:pt x="631640" y="0"/>
                </a:moveTo>
                <a:cubicBezTo>
                  <a:pt x="629880" y="15842"/>
                  <a:pt x="613884" y="157132"/>
                  <a:pt x="613884" y="168676"/>
                </a:cubicBezTo>
                <a:cubicBezTo>
                  <a:pt x="613884" y="204310"/>
                  <a:pt x="618052" y="239887"/>
                  <a:pt x="622762" y="275208"/>
                </a:cubicBezTo>
                <a:cubicBezTo>
                  <a:pt x="623999" y="284484"/>
                  <a:pt x="628681" y="292963"/>
                  <a:pt x="631640" y="301841"/>
                </a:cubicBezTo>
                <a:cubicBezTo>
                  <a:pt x="588252" y="366920"/>
                  <a:pt x="628510" y="321795"/>
                  <a:pt x="480719" y="337352"/>
                </a:cubicBezTo>
                <a:cubicBezTo>
                  <a:pt x="464423" y="339067"/>
                  <a:pt x="435084" y="349604"/>
                  <a:pt x="418576" y="355107"/>
                </a:cubicBezTo>
                <a:cubicBezTo>
                  <a:pt x="402063" y="371619"/>
                  <a:pt x="396582" y="379420"/>
                  <a:pt x="374187" y="390618"/>
                </a:cubicBezTo>
                <a:cubicBezTo>
                  <a:pt x="365817" y="394803"/>
                  <a:pt x="356432" y="396536"/>
                  <a:pt x="347554" y="399495"/>
                </a:cubicBezTo>
                <a:cubicBezTo>
                  <a:pt x="326521" y="420529"/>
                  <a:pt x="306652" y="442721"/>
                  <a:pt x="276533" y="452761"/>
                </a:cubicBezTo>
                <a:lnTo>
                  <a:pt x="170001" y="488272"/>
                </a:lnTo>
                <a:lnTo>
                  <a:pt x="90102" y="514905"/>
                </a:lnTo>
                <a:cubicBezTo>
                  <a:pt x="81224" y="517864"/>
                  <a:pt x="72700" y="522245"/>
                  <a:pt x="63469" y="523783"/>
                </a:cubicBezTo>
                <a:lnTo>
                  <a:pt x="10203" y="532660"/>
                </a:lnTo>
                <a:cubicBezTo>
                  <a:pt x="13162" y="606641"/>
                  <a:pt x="-19723" y="691545"/>
                  <a:pt x="19081" y="754602"/>
                </a:cubicBezTo>
                <a:cubicBezTo>
                  <a:pt x="42396" y="792490"/>
                  <a:pt x="108031" y="758567"/>
                  <a:pt x="152246" y="763480"/>
                </a:cubicBezTo>
                <a:cubicBezTo>
                  <a:pt x="161547" y="764513"/>
                  <a:pt x="178879" y="772357"/>
                  <a:pt x="178879" y="772357"/>
                </a:cubicBezTo>
              </a:path>
            </a:pathLst>
          </a:custGeom>
          <a:noFill/>
          <a:ln w="19050" cap="flat" cmpd="sng" algn="ctr">
            <a:solidFill>
              <a:srgbClr val="0000CC"/>
            </a:solidFill>
            <a:prstDash val="solid"/>
            <a:miter lim="800000"/>
            <a:headEnd type="none" w="med" len="med"/>
            <a:tailEnd type="none" w="med" len="med"/>
          </a:ln>
        </p:spPr>
        <p:txBody>
          <a:bodyPr vert="horz" wrap="square" lIns="90000" tIns="46800" rIns="90000" bIns="4680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36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endParaRPr>
          </a:p>
        </p:txBody>
      </p:sp>
      <p:sp>
        <p:nvSpPr>
          <p:cNvPr id="32" name="标题 1"/>
          <p:cNvSpPr>
            <a:spLocks noGrp="1"/>
          </p:cNvSpPr>
          <p:nvPr>
            <p:ph type="title"/>
          </p:nvPr>
        </p:nvSpPr>
        <p:spPr>
          <a:xfrm>
            <a:off x="1187624" y="1052736"/>
            <a:ext cx="7756351" cy="635794"/>
          </a:xfrm>
        </p:spPr>
        <p:txBody>
          <a:bodyPr/>
          <a:lstStyle/>
          <a:p>
            <a:r>
              <a:rPr lang="en-US" altLang="zh-CN" dirty="0" smtClean="0"/>
              <a:t>5.2.2 </a:t>
            </a:r>
            <a:r>
              <a:rPr lang="zh-CN" altLang="en-US" dirty="0" smtClean="0"/>
              <a:t>主从</a:t>
            </a:r>
            <a:r>
              <a:rPr lang="en-US" altLang="zh-CN" dirty="0" smtClean="0"/>
              <a:t>JK</a:t>
            </a:r>
            <a:r>
              <a:rPr lang="zh-CN" altLang="en-US" dirty="0" smtClean="0"/>
              <a:t>触发器</a:t>
            </a:r>
            <a:endParaRPr lang="zh-CN" altLang="en-US" dirty="0"/>
          </a:p>
        </p:txBody>
      </p:sp>
      <p:sp>
        <p:nvSpPr>
          <p:cNvPr id="33" name="标题 1"/>
          <p:cNvSpPr txBox="1">
            <a:spLocks/>
          </p:cNvSpPr>
          <p:nvPr/>
        </p:nvSpPr>
        <p:spPr bwMode="auto">
          <a:xfrm>
            <a:off x="1187624" y="332656"/>
            <a:ext cx="7632848" cy="5669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5.2 </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脉冲</a:t>
            </a:r>
            <a:r>
              <a:rPr kumimoji="1" lang="zh-CN" altLang="en-US" sz="3200" b="1" kern="0" dirty="0" smtClean="0">
                <a:solidFill>
                  <a:schemeClr val="tx2"/>
                </a:solidFill>
                <a:latin typeface="+mj-lt"/>
                <a:ea typeface="+mj-ea"/>
                <a:cs typeface="+mj-cs"/>
              </a:rPr>
              <a:t>触发的</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触发器</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pic>
        <p:nvPicPr>
          <p:cNvPr id="116857" name="Picture 121"/>
          <p:cNvPicPr>
            <a:picLocks noChangeAspect="1" noChangeArrowheads="1"/>
          </p:cNvPicPr>
          <p:nvPr/>
        </p:nvPicPr>
        <p:blipFill>
          <a:blip r:embed="rId6" cstate="print"/>
          <a:srcRect/>
          <a:stretch>
            <a:fillRect/>
          </a:stretch>
        </p:blipFill>
        <p:spPr bwMode="auto">
          <a:xfrm>
            <a:off x="323528" y="1988840"/>
            <a:ext cx="4198769" cy="4869160"/>
          </a:xfrm>
          <a:prstGeom prst="rect">
            <a:avLst/>
          </a:prstGeom>
          <a:noFill/>
          <a:ln w="9525">
            <a:noFill/>
            <a:miter lim="800000"/>
            <a:headEnd/>
            <a:tailEnd/>
          </a:ln>
        </p:spPr>
      </p:pic>
      <p:sp>
        <p:nvSpPr>
          <p:cNvPr id="257047" name="矩形 257046"/>
          <p:cNvSpPr/>
          <p:nvPr/>
        </p:nvSpPr>
        <p:spPr>
          <a:xfrm>
            <a:off x="395288" y="5805264"/>
            <a:ext cx="4321175" cy="1076231"/>
          </a:xfrm>
          <a:prstGeom prst="rect">
            <a:avLst/>
          </a:prstGeom>
          <a:solidFill>
            <a:schemeClr val="bg1"/>
          </a:solidFill>
          <a:ln w="28575" cap="flat" cmpd="sng">
            <a:solidFill>
              <a:srgbClr val="FF0000"/>
            </a:solidFill>
            <a:prstDash val="dash"/>
            <a:miter/>
            <a:headEnd type="none" w="med" len="med"/>
            <a:tailEnd type="none" w="med" len="med"/>
          </a:ln>
        </p:spPr>
        <p:txBody>
          <a:bodyPr/>
          <a:lstStyle/>
          <a:p>
            <a:endParaRPr lang="zh-CN" altLang="en-US"/>
          </a:p>
        </p:txBody>
      </p:sp>
    </p:spTree>
    <p:extLst>
      <p:ext uri="{BB962C8B-B14F-4D97-AF65-F5344CB8AC3E}">
        <p14:creationId xmlns:p14="http://schemas.microsoft.com/office/powerpoint/2010/main" xmlns="" val="31301970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8"/>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0"/>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3" presetClass="exit" presetSubtype="10" fill="hold" nodeType="clickEffect">
                                  <p:stCondLst>
                                    <p:cond delay="0"/>
                                  </p:stCondLst>
                                  <p:childTnLst>
                                    <p:animEffect transition="out" filter="blinds(horizontal)">
                                      <p:cBhvr>
                                        <p:cTn id="44" dur="500"/>
                                        <p:tgtEl>
                                          <p:spTgt spid="257047"/>
                                        </p:tgtEl>
                                      </p:cBhvr>
                                    </p:animEffect>
                                    <p:set>
                                      <p:cBhvr>
                                        <p:cTn id="45" dur="1" fill="hold">
                                          <p:stCondLst>
                                            <p:cond delay="499"/>
                                          </p:stCondLst>
                                        </p:cTn>
                                        <p:tgtEl>
                                          <p:spTgt spid="25704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5" grpId="0"/>
      <p:bldP spid="26" grpId="0"/>
      <p:bldP spid="27" grpId="0"/>
      <p:bldP spid="28" grpId="0"/>
      <p:bldP spid="29" grpId="0"/>
      <p:bldP spid="30" grpId="0"/>
      <p:bldP spid="5" grpId="0" animBg="1"/>
      <p:bldP spid="10"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7046" name="组合 257045"/>
          <p:cNvGrpSpPr/>
          <p:nvPr/>
        </p:nvGrpSpPr>
        <p:grpSpPr>
          <a:xfrm>
            <a:off x="4750460" y="3047033"/>
            <a:ext cx="4321175" cy="2808288"/>
            <a:chOff x="2925" y="1162"/>
            <a:chExt cx="2722" cy="1769"/>
          </a:xfrm>
        </p:grpSpPr>
        <p:grpSp>
          <p:nvGrpSpPr>
            <p:cNvPr id="257040" name="组合 257039"/>
            <p:cNvGrpSpPr/>
            <p:nvPr/>
          </p:nvGrpSpPr>
          <p:grpSpPr>
            <a:xfrm>
              <a:off x="2925" y="1207"/>
              <a:ext cx="2722" cy="1679"/>
              <a:chOff x="657" y="1298"/>
              <a:chExt cx="4219" cy="2464"/>
            </a:xfrm>
          </p:grpSpPr>
          <p:pic>
            <p:nvPicPr>
              <p:cNvPr id="257041" name="图片 257040" descr="4-2-15"/>
              <p:cNvPicPr>
                <a:picLocks noChangeAspect="1"/>
              </p:cNvPicPr>
              <p:nvPr/>
            </p:nvPicPr>
            <p:blipFill>
              <a:blip r:embed="rId3" cstate="print">
                <a:clrChange>
                  <a:clrFrom>
                    <a:srgbClr val="F9F8F3"/>
                  </a:clrFrom>
                  <a:clrTo>
                    <a:srgbClr val="F9F8F3">
                      <a:alpha val="0"/>
                    </a:srgbClr>
                  </a:clrTo>
                </a:clrChange>
                <a:lum bright="-6000" contrast="36000"/>
              </a:blip>
              <a:stretch>
                <a:fillRect/>
              </a:stretch>
            </p:blipFill>
            <p:spPr>
              <a:xfrm>
                <a:off x="657" y="1570"/>
                <a:ext cx="4219" cy="2192"/>
              </a:xfrm>
              <a:prstGeom prst="rect">
                <a:avLst/>
              </a:prstGeom>
              <a:noFill/>
              <a:ln w="9525">
                <a:noFill/>
              </a:ln>
            </p:spPr>
          </p:pic>
          <p:sp>
            <p:nvSpPr>
              <p:cNvPr id="257042" name="直接连接符 257041"/>
              <p:cNvSpPr/>
              <p:nvPr/>
            </p:nvSpPr>
            <p:spPr>
              <a:xfrm flipH="1">
                <a:off x="3515" y="1298"/>
                <a:ext cx="726" cy="318"/>
              </a:xfrm>
              <a:prstGeom prst="line">
                <a:avLst/>
              </a:prstGeom>
              <a:ln w="28575" cap="flat" cmpd="sng">
                <a:solidFill>
                  <a:srgbClr val="FF0000"/>
                </a:solidFill>
                <a:prstDash val="solid"/>
                <a:headEnd type="none" w="med" len="med"/>
                <a:tailEnd type="triangle" w="med" len="med"/>
              </a:ln>
            </p:spPr>
          </p:sp>
          <p:sp>
            <p:nvSpPr>
              <p:cNvPr id="257043" name="直接连接符 257042"/>
              <p:cNvSpPr/>
              <p:nvPr/>
            </p:nvSpPr>
            <p:spPr>
              <a:xfrm flipH="1" flipV="1">
                <a:off x="3515" y="3158"/>
                <a:ext cx="907" cy="544"/>
              </a:xfrm>
              <a:prstGeom prst="line">
                <a:avLst/>
              </a:prstGeom>
              <a:ln w="28575" cap="flat" cmpd="sng">
                <a:solidFill>
                  <a:srgbClr val="FF0000"/>
                </a:solidFill>
                <a:prstDash val="solid"/>
                <a:headEnd type="none" w="med" len="med"/>
                <a:tailEnd type="triangle" w="med" len="med"/>
              </a:ln>
            </p:spPr>
          </p:sp>
        </p:grpSp>
        <p:graphicFrame>
          <p:nvGraphicFramePr>
            <p:cNvPr id="257044" name="对象 257043"/>
            <p:cNvGraphicFramePr>
              <a:graphicFrameLocks noChangeAspect="1"/>
            </p:cNvGraphicFramePr>
            <p:nvPr/>
          </p:nvGraphicFramePr>
          <p:xfrm>
            <a:off x="4195" y="1162"/>
            <a:ext cx="197" cy="233"/>
          </p:xfrm>
          <a:graphic>
            <a:graphicData uri="http://schemas.openxmlformats.org/presentationml/2006/ole">
              <p:oleObj spid="_x0000_s117878" r:id="rId4" imgW="139518" imgH="164885" progId="">
                <p:embed/>
              </p:oleObj>
            </a:graphicData>
          </a:graphic>
        </p:graphicFrame>
        <p:graphicFrame>
          <p:nvGraphicFramePr>
            <p:cNvPr id="257045" name="对象 257044"/>
            <p:cNvGraphicFramePr>
              <a:graphicFrameLocks noChangeAspect="1"/>
            </p:cNvGraphicFramePr>
            <p:nvPr/>
          </p:nvGraphicFramePr>
          <p:xfrm>
            <a:off x="4241" y="2659"/>
            <a:ext cx="187" cy="272"/>
          </p:xfrm>
          <a:graphic>
            <a:graphicData uri="http://schemas.openxmlformats.org/presentationml/2006/ole">
              <p:oleObj spid="_x0000_s117879" r:id="rId5" imgW="139579" imgH="203024" progId="">
                <p:embed/>
              </p:oleObj>
            </a:graphicData>
          </a:graphic>
        </p:graphicFrame>
      </p:grpSp>
      <p:sp>
        <p:nvSpPr>
          <p:cNvPr id="4" name="灯片编号占位符 3"/>
          <p:cNvSpPr>
            <a:spLocks noGrp="1"/>
          </p:cNvSpPr>
          <p:nvPr>
            <p:ph type="sldNum" sz="quarter" idx="12"/>
          </p:nvPr>
        </p:nvSpPr>
        <p:spPr/>
        <p:txBody>
          <a:bodyPr/>
          <a:lstStyle/>
          <a:p>
            <a:fld id="{0C913308-F349-4B6D-A68A-DD1791B4A57B}" type="slidenum">
              <a:rPr lang="zh-CN" altLang="en-US" smtClean="0"/>
              <a:pPr/>
              <a:t>61</a:t>
            </a:fld>
            <a:endParaRPr lang="zh-CN" altLang="en-US"/>
          </a:p>
        </p:txBody>
      </p:sp>
      <p:sp>
        <p:nvSpPr>
          <p:cNvPr id="257031" name="文本框 257030"/>
          <p:cNvSpPr txBox="1"/>
          <p:nvPr/>
        </p:nvSpPr>
        <p:spPr>
          <a:xfrm>
            <a:off x="4860032" y="6093296"/>
            <a:ext cx="3744912" cy="398780"/>
          </a:xfrm>
          <a:prstGeom prst="rect">
            <a:avLst/>
          </a:prstGeom>
          <a:noFill/>
          <a:ln w="9525">
            <a:noFill/>
          </a:ln>
        </p:spPr>
        <p:txBody>
          <a:bodyPr>
            <a:spAutoFit/>
          </a:bodyPr>
          <a:lstStyle/>
          <a:p>
            <a:pPr>
              <a:spcBef>
                <a:spcPct val="50000"/>
              </a:spcBef>
            </a:pPr>
            <a:r>
              <a:rPr lang="zh-CN" altLang="en-US" sz="2000" b="1" dirty="0">
                <a:latin typeface="楷体_GB2312" pitchFamily="49" charset="-122"/>
                <a:ea typeface="楷体_GB2312" pitchFamily="49" charset="-122"/>
              </a:rPr>
              <a:t>主从</a:t>
            </a:r>
            <a:r>
              <a:rPr lang="en-US" altLang="zh-CN" sz="2000" b="1" dirty="0">
                <a:latin typeface="楷体_GB2312" pitchFamily="49" charset="-122"/>
                <a:ea typeface="楷体_GB2312" pitchFamily="49" charset="-122"/>
              </a:rPr>
              <a:t>JK-FF</a:t>
            </a:r>
            <a:r>
              <a:rPr lang="zh-CN" altLang="en-US" sz="2000" b="1" dirty="0">
                <a:latin typeface="楷体_GB2312" pitchFamily="49" charset="-122"/>
                <a:ea typeface="楷体_GB2312" pitchFamily="49" charset="-122"/>
              </a:rPr>
              <a:t>的一次变化现象示例</a:t>
            </a:r>
          </a:p>
        </p:txBody>
      </p:sp>
      <p:sp>
        <p:nvSpPr>
          <p:cNvPr id="25" name="文本框 24"/>
          <p:cNvSpPr txBox="1"/>
          <p:nvPr/>
        </p:nvSpPr>
        <p:spPr>
          <a:xfrm>
            <a:off x="5777139" y="4568906"/>
            <a:ext cx="332142" cy="369332"/>
          </a:xfrm>
          <a:prstGeom prst="rect">
            <a:avLst/>
          </a:prstGeom>
          <a:noFill/>
        </p:spPr>
        <p:txBody>
          <a:bodyPr wrap="none" rtlCol="0">
            <a:spAutoFit/>
          </a:bodyPr>
          <a:lstStyle/>
          <a:p>
            <a:r>
              <a:rPr lang="en-US" altLang="zh-CN" b="1" dirty="0" smtClean="0">
                <a:solidFill>
                  <a:srgbClr val="FF0000"/>
                </a:solidFill>
              </a:rPr>
              <a:t>1</a:t>
            </a:r>
            <a:endParaRPr lang="zh-CN" altLang="en-US" b="1" dirty="0">
              <a:solidFill>
                <a:srgbClr val="FF0000"/>
              </a:solidFill>
            </a:endParaRPr>
          </a:p>
        </p:txBody>
      </p:sp>
      <p:sp>
        <p:nvSpPr>
          <p:cNvPr id="26" name="文本框 25"/>
          <p:cNvSpPr txBox="1"/>
          <p:nvPr/>
        </p:nvSpPr>
        <p:spPr>
          <a:xfrm>
            <a:off x="5796421" y="3639365"/>
            <a:ext cx="332142" cy="369332"/>
          </a:xfrm>
          <a:prstGeom prst="rect">
            <a:avLst/>
          </a:prstGeom>
          <a:noFill/>
        </p:spPr>
        <p:txBody>
          <a:bodyPr wrap="none" rtlCol="0">
            <a:spAutoFit/>
          </a:bodyPr>
          <a:lstStyle/>
          <a:p>
            <a:r>
              <a:rPr lang="en-US" altLang="zh-CN" b="1" dirty="0" smtClean="0">
                <a:solidFill>
                  <a:srgbClr val="FF0000"/>
                </a:solidFill>
              </a:rPr>
              <a:t>0</a:t>
            </a:r>
            <a:endParaRPr lang="zh-CN" altLang="en-US" b="1" dirty="0">
              <a:solidFill>
                <a:srgbClr val="FF0000"/>
              </a:solidFill>
            </a:endParaRPr>
          </a:p>
        </p:txBody>
      </p:sp>
      <p:sp>
        <p:nvSpPr>
          <p:cNvPr id="27" name="文本框 26"/>
          <p:cNvSpPr txBox="1"/>
          <p:nvPr/>
        </p:nvSpPr>
        <p:spPr>
          <a:xfrm>
            <a:off x="6551192" y="3560854"/>
            <a:ext cx="298195" cy="369332"/>
          </a:xfrm>
          <a:prstGeom prst="rect">
            <a:avLst/>
          </a:prstGeom>
          <a:noFill/>
        </p:spPr>
        <p:txBody>
          <a:bodyPr wrap="square" rtlCol="0">
            <a:spAutoFit/>
          </a:bodyPr>
          <a:lstStyle/>
          <a:p>
            <a:r>
              <a:rPr lang="en-US" altLang="zh-CN" b="1" dirty="0" smtClean="0">
                <a:solidFill>
                  <a:srgbClr val="FF0000"/>
                </a:solidFill>
              </a:rPr>
              <a:t>1</a:t>
            </a:r>
            <a:endParaRPr lang="zh-CN" altLang="en-US" b="1" dirty="0">
              <a:solidFill>
                <a:srgbClr val="FF0000"/>
              </a:solidFill>
            </a:endParaRPr>
          </a:p>
        </p:txBody>
      </p:sp>
      <p:sp>
        <p:nvSpPr>
          <p:cNvPr id="28" name="文本框 27"/>
          <p:cNvSpPr txBox="1"/>
          <p:nvPr/>
        </p:nvSpPr>
        <p:spPr>
          <a:xfrm>
            <a:off x="6624906" y="4558666"/>
            <a:ext cx="332142" cy="369332"/>
          </a:xfrm>
          <a:prstGeom prst="rect">
            <a:avLst/>
          </a:prstGeom>
          <a:noFill/>
        </p:spPr>
        <p:txBody>
          <a:bodyPr wrap="none" rtlCol="0">
            <a:spAutoFit/>
          </a:bodyPr>
          <a:lstStyle/>
          <a:p>
            <a:r>
              <a:rPr lang="en-US" altLang="zh-CN" b="1" dirty="0" smtClean="0">
                <a:solidFill>
                  <a:srgbClr val="FF0000"/>
                </a:solidFill>
              </a:rPr>
              <a:t>0</a:t>
            </a:r>
            <a:endParaRPr lang="zh-CN" altLang="en-US" b="1" dirty="0">
              <a:solidFill>
                <a:srgbClr val="FF0000"/>
              </a:solidFill>
            </a:endParaRPr>
          </a:p>
        </p:txBody>
      </p:sp>
      <p:sp>
        <p:nvSpPr>
          <p:cNvPr id="29" name="文本框 28"/>
          <p:cNvSpPr txBox="1"/>
          <p:nvPr/>
        </p:nvSpPr>
        <p:spPr>
          <a:xfrm>
            <a:off x="8747280" y="3374154"/>
            <a:ext cx="332142" cy="369332"/>
          </a:xfrm>
          <a:prstGeom prst="rect">
            <a:avLst/>
          </a:prstGeom>
          <a:noFill/>
        </p:spPr>
        <p:txBody>
          <a:bodyPr wrap="none" rtlCol="0">
            <a:spAutoFit/>
          </a:bodyPr>
          <a:lstStyle/>
          <a:p>
            <a:r>
              <a:rPr lang="en-US" altLang="zh-CN" b="1" dirty="0" smtClean="0">
                <a:solidFill>
                  <a:srgbClr val="0000CC"/>
                </a:solidFill>
              </a:rPr>
              <a:t>0</a:t>
            </a:r>
            <a:endParaRPr lang="zh-CN" altLang="en-US" b="1" dirty="0">
              <a:solidFill>
                <a:srgbClr val="0000CC"/>
              </a:solidFill>
            </a:endParaRPr>
          </a:p>
        </p:txBody>
      </p:sp>
      <p:sp>
        <p:nvSpPr>
          <p:cNvPr id="30" name="文本框 29"/>
          <p:cNvSpPr txBox="1"/>
          <p:nvPr/>
        </p:nvSpPr>
        <p:spPr>
          <a:xfrm>
            <a:off x="8777904" y="4293552"/>
            <a:ext cx="332142" cy="369332"/>
          </a:xfrm>
          <a:prstGeom prst="rect">
            <a:avLst/>
          </a:prstGeom>
          <a:noFill/>
        </p:spPr>
        <p:txBody>
          <a:bodyPr wrap="none" rtlCol="0">
            <a:spAutoFit/>
          </a:bodyPr>
          <a:lstStyle/>
          <a:p>
            <a:r>
              <a:rPr lang="en-US" altLang="zh-CN" b="1" dirty="0" smtClean="0">
                <a:solidFill>
                  <a:srgbClr val="0000CC"/>
                </a:solidFill>
              </a:rPr>
              <a:t>1</a:t>
            </a:r>
            <a:endParaRPr lang="zh-CN" altLang="en-US" b="1" dirty="0">
              <a:solidFill>
                <a:srgbClr val="0000CC"/>
              </a:solidFill>
            </a:endParaRPr>
          </a:p>
        </p:txBody>
      </p:sp>
      <p:sp>
        <p:nvSpPr>
          <p:cNvPr id="5" name="乘号 4"/>
          <p:cNvSpPr/>
          <p:nvPr/>
        </p:nvSpPr>
        <p:spPr bwMode="auto">
          <a:xfrm>
            <a:off x="4534468" y="4491389"/>
            <a:ext cx="388640" cy="544555"/>
          </a:xfrm>
          <a:prstGeom prst="mathMultiply">
            <a:avLst>
              <a:gd name="adj1" fmla="val 5074"/>
            </a:avLst>
          </a:prstGeom>
          <a:solidFill>
            <a:srgbClr val="FF0000"/>
          </a:solidFill>
          <a:ln w="9525" cap="flat" cmpd="sng" algn="ctr">
            <a:solidFill>
              <a:schemeClr val="tx1"/>
            </a:solidFill>
            <a:prstDash val="solid"/>
            <a:miter lim="800000"/>
            <a:headEnd type="none" w="med" len="med"/>
            <a:tailEnd type="none" w="med" len="med"/>
          </a:ln>
        </p:spPr>
        <p:txBody>
          <a:bodyPr vert="horz" wrap="square" lIns="90000" tIns="46800" rIns="90000" bIns="4680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36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endParaRPr>
          </a:p>
        </p:txBody>
      </p:sp>
      <p:grpSp>
        <p:nvGrpSpPr>
          <p:cNvPr id="44" name="组合 43"/>
          <p:cNvGrpSpPr/>
          <p:nvPr/>
        </p:nvGrpSpPr>
        <p:grpSpPr>
          <a:xfrm>
            <a:off x="4458565" y="4571579"/>
            <a:ext cx="470807" cy="312462"/>
            <a:chOff x="4538391" y="4556698"/>
            <a:chExt cx="470807" cy="312462"/>
          </a:xfrm>
        </p:grpSpPr>
        <p:grpSp>
          <p:nvGrpSpPr>
            <p:cNvPr id="41" name="组合 40"/>
            <p:cNvGrpSpPr/>
            <p:nvPr/>
          </p:nvGrpSpPr>
          <p:grpSpPr>
            <a:xfrm>
              <a:off x="4538391" y="4557682"/>
              <a:ext cx="179083" cy="311478"/>
              <a:chOff x="4538391" y="4557682"/>
              <a:chExt cx="179083" cy="311478"/>
            </a:xfrm>
          </p:grpSpPr>
          <p:cxnSp>
            <p:nvCxnSpPr>
              <p:cNvPr id="17" name="直接连接符 16"/>
              <p:cNvCxnSpPr/>
              <p:nvPr/>
            </p:nvCxnSpPr>
            <p:spPr bwMode="auto">
              <a:xfrm>
                <a:off x="4538391" y="4557682"/>
                <a:ext cx="79951" cy="984"/>
              </a:xfrm>
              <a:prstGeom prst="line">
                <a:avLst/>
              </a:prstGeom>
              <a:noFill/>
              <a:ln w="19050" cap="flat" cmpd="sng" algn="ctr">
                <a:solidFill>
                  <a:srgbClr val="0000CC"/>
                </a:solidFill>
                <a:prstDash val="solid"/>
                <a:miter lim="800000"/>
                <a:headEnd type="none" w="med" len="med"/>
                <a:tailEnd type="none" w="med" len="med"/>
              </a:ln>
            </p:spPr>
          </p:cxnSp>
          <p:cxnSp>
            <p:nvCxnSpPr>
              <p:cNvPr id="19" name="直接连接符 18"/>
              <p:cNvCxnSpPr/>
              <p:nvPr/>
            </p:nvCxnSpPr>
            <p:spPr bwMode="auto">
              <a:xfrm>
                <a:off x="4618342" y="4558666"/>
                <a:ext cx="0" cy="310494"/>
              </a:xfrm>
              <a:prstGeom prst="line">
                <a:avLst/>
              </a:prstGeom>
              <a:noFill/>
              <a:ln w="19050" cap="flat" cmpd="sng" algn="ctr">
                <a:solidFill>
                  <a:srgbClr val="0000CC"/>
                </a:solidFill>
                <a:prstDash val="solid"/>
                <a:miter lim="800000"/>
                <a:headEnd type="none" w="med" len="med"/>
                <a:tailEnd type="none" w="med" len="med"/>
              </a:ln>
            </p:spPr>
          </p:cxnSp>
          <p:cxnSp>
            <p:nvCxnSpPr>
              <p:cNvPr id="50" name="直接连接符 49"/>
              <p:cNvCxnSpPr/>
              <p:nvPr/>
            </p:nvCxnSpPr>
            <p:spPr bwMode="auto">
              <a:xfrm>
                <a:off x="4717474" y="4557682"/>
                <a:ext cx="0" cy="310494"/>
              </a:xfrm>
              <a:prstGeom prst="line">
                <a:avLst/>
              </a:prstGeom>
              <a:noFill/>
              <a:ln w="19050" cap="flat" cmpd="sng" algn="ctr">
                <a:solidFill>
                  <a:srgbClr val="0000CC"/>
                </a:solidFill>
                <a:prstDash val="solid"/>
                <a:miter lim="800000"/>
                <a:headEnd type="none" w="med" len="med"/>
                <a:tailEnd type="none" w="med" len="med"/>
              </a:ln>
            </p:spPr>
          </p:cxnSp>
          <p:cxnSp>
            <p:nvCxnSpPr>
              <p:cNvPr id="24" name="直接连接符 23"/>
              <p:cNvCxnSpPr/>
              <p:nvPr/>
            </p:nvCxnSpPr>
            <p:spPr bwMode="auto">
              <a:xfrm flipH="1">
                <a:off x="4618342" y="4868176"/>
                <a:ext cx="98121" cy="0"/>
              </a:xfrm>
              <a:prstGeom prst="line">
                <a:avLst/>
              </a:prstGeom>
              <a:noFill/>
              <a:ln w="19050" cap="flat" cmpd="sng" algn="ctr">
                <a:solidFill>
                  <a:srgbClr val="0000CC"/>
                </a:solidFill>
                <a:prstDash val="solid"/>
                <a:miter lim="800000"/>
                <a:headEnd type="none" w="med" len="med"/>
                <a:tailEnd type="none" w="med" len="med"/>
              </a:ln>
            </p:spPr>
          </p:cxnSp>
        </p:grpSp>
        <p:grpSp>
          <p:nvGrpSpPr>
            <p:cNvPr id="58" name="组合 57"/>
            <p:cNvGrpSpPr/>
            <p:nvPr/>
          </p:nvGrpSpPr>
          <p:grpSpPr>
            <a:xfrm>
              <a:off x="4726052" y="4556698"/>
              <a:ext cx="179083" cy="311478"/>
              <a:chOff x="4538391" y="4557682"/>
              <a:chExt cx="179083" cy="311478"/>
            </a:xfrm>
          </p:grpSpPr>
          <p:cxnSp>
            <p:nvCxnSpPr>
              <p:cNvPr id="59" name="直接连接符 58"/>
              <p:cNvCxnSpPr/>
              <p:nvPr/>
            </p:nvCxnSpPr>
            <p:spPr bwMode="auto">
              <a:xfrm>
                <a:off x="4538391" y="4557682"/>
                <a:ext cx="79951" cy="984"/>
              </a:xfrm>
              <a:prstGeom prst="line">
                <a:avLst/>
              </a:prstGeom>
              <a:noFill/>
              <a:ln w="19050" cap="flat" cmpd="sng" algn="ctr">
                <a:solidFill>
                  <a:srgbClr val="0000CC"/>
                </a:solidFill>
                <a:prstDash val="solid"/>
                <a:miter lim="800000"/>
                <a:headEnd type="none" w="med" len="med"/>
                <a:tailEnd type="none" w="med" len="med"/>
              </a:ln>
            </p:spPr>
          </p:cxnSp>
          <p:cxnSp>
            <p:nvCxnSpPr>
              <p:cNvPr id="60" name="直接连接符 59"/>
              <p:cNvCxnSpPr/>
              <p:nvPr/>
            </p:nvCxnSpPr>
            <p:spPr bwMode="auto">
              <a:xfrm>
                <a:off x="4618342" y="4558666"/>
                <a:ext cx="0" cy="310494"/>
              </a:xfrm>
              <a:prstGeom prst="line">
                <a:avLst/>
              </a:prstGeom>
              <a:noFill/>
              <a:ln w="19050" cap="flat" cmpd="sng" algn="ctr">
                <a:solidFill>
                  <a:srgbClr val="0000CC"/>
                </a:solidFill>
                <a:prstDash val="solid"/>
                <a:miter lim="800000"/>
                <a:headEnd type="none" w="med" len="med"/>
                <a:tailEnd type="none" w="med" len="med"/>
              </a:ln>
            </p:spPr>
          </p:cxnSp>
          <p:cxnSp>
            <p:nvCxnSpPr>
              <p:cNvPr id="61" name="直接连接符 60"/>
              <p:cNvCxnSpPr/>
              <p:nvPr/>
            </p:nvCxnSpPr>
            <p:spPr bwMode="auto">
              <a:xfrm>
                <a:off x="4717474" y="4557682"/>
                <a:ext cx="0" cy="310494"/>
              </a:xfrm>
              <a:prstGeom prst="line">
                <a:avLst/>
              </a:prstGeom>
              <a:noFill/>
              <a:ln w="19050" cap="flat" cmpd="sng" algn="ctr">
                <a:solidFill>
                  <a:srgbClr val="0000CC"/>
                </a:solidFill>
                <a:prstDash val="solid"/>
                <a:miter lim="800000"/>
                <a:headEnd type="none" w="med" len="med"/>
                <a:tailEnd type="none" w="med" len="med"/>
              </a:ln>
            </p:spPr>
          </p:cxnSp>
          <p:cxnSp>
            <p:nvCxnSpPr>
              <p:cNvPr id="62" name="直接连接符 61"/>
              <p:cNvCxnSpPr/>
              <p:nvPr/>
            </p:nvCxnSpPr>
            <p:spPr bwMode="auto">
              <a:xfrm flipH="1">
                <a:off x="4618342" y="4868176"/>
                <a:ext cx="98121" cy="0"/>
              </a:xfrm>
              <a:prstGeom prst="line">
                <a:avLst/>
              </a:prstGeom>
              <a:noFill/>
              <a:ln w="19050" cap="flat" cmpd="sng" algn="ctr">
                <a:solidFill>
                  <a:srgbClr val="0000CC"/>
                </a:solidFill>
                <a:prstDash val="solid"/>
                <a:miter lim="800000"/>
                <a:headEnd type="none" w="med" len="med"/>
                <a:tailEnd type="none" w="med" len="med"/>
              </a:ln>
            </p:spPr>
          </p:cxnSp>
        </p:grpSp>
        <p:cxnSp>
          <p:nvCxnSpPr>
            <p:cNvPr id="43" name="直接连接符 42"/>
            <p:cNvCxnSpPr/>
            <p:nvPr/>
          </p:nvCxnSpPr>
          <p:spPr bwMode="auto">
            <a:xfrm>
              <a:off x="4904124" y="4556698"/>
              <a:ext cx="105074" cy="0"/>
            </a:xfrm>
            <a:prstGeom prst="line">
              <a:avLst/>
            </a:prstGeom>
            <a:noFill/>
            <a:ln w="19050" cap="flat" cmpd="sng" algn="ctr">
              <a:solidFill>
                <a:srgbClr val="0000CC"/>
              </a:solidFill>
              <a:prstDash val="solid"/>
              <a:miter lim="800000"/>
              <a:headEnd type="none" w="med" len="med"/>
              <a:tailEnd type="none" w="med" len="med"/>
            </a:ln>
          </p:spPr>
        </p:cxnSp>
      </p:grpSp>
      <p:grpSp>
        <p:nvGrpSpPr>
          <p:cNvPr id="45" name="组合 44"/>
          <p:cNvGrpSpPr/>
          <p:nvPr/>
        </p:nvGrpSpPr>
        <p:grpSpPr>
          <a:xfrm>
            <a:off x="4445657" y="3735843"/>
            <a:ext cx="458467" cy="319084"/>
            <a:chOff x="4517028" y="3786664"/>
            <a:chExt cx="458467" cy="319084"/>
          </a:xfrm>
        </p:grpSpPr>
        <p:cxnSp>
          <p:nvCxnSpPr>
            <p:cNvPr id="81" name="直接连接符 80"/>
            <p:cNvCxnSpPr/>
            <p:nvPr/>
          </p:nvCxnSpPr>
          <p:spPr bwMode="auto">
            <a:xfrm>
              <a:off x="4616160" y="3786664"/>
              <a:ext cx="0" cy="310494"/>
            </a:xfrm>
            <a:prstGeom prst="line">
              <a:avLst/>
            </a:prstGeom>
            <a:noFill/>
            <a:ln w="19050" cap="flat" cmpd="sng" algn="ctr">
              <a:solidFill>
                <a:srgbClr val="0000CC"/>
              </a:solidFill>
              <a:prstDash val="solid"/>
              <a:miter lim="800000"/>
              <a:headEnd type="none" w="med" len="med"/>
              <a:tailEnd type="none" w="med" len="med"/>
            </a:ln>
          </p:spPr>
        </p:cxnSp>
        <p:cxnSp>
          <p:nvCxnSpPr>
            <p:cNvPr id="82" name="直接连接符 81"/>
            <p:cNvCxnSpPr/>
            <p:nvPr/>
          </p:nvCxnSpPr>
          <p:spPr bwMode="auto">
            <a:xfrm flipH="1">
              <a:off x="4517028" y="4097158"/>
              <a:ext cx="98121" cy="0"/>
            </a:xfrm>
            <a:prstGeom prst="line">
              <a:avLst/>
            </a:prstGeom>
            <a:noFill/>
            <a:ln w="19050" cap="flat" cmpd="sng" algn="ctr">
              <a:solidFill>
                <a:srgbClr val="0000CC"/>
              </a:solidFill>
              <a:prstDash val="solid"/>
              <a:miter lim="800000"/>
              <a:headEnd type="none" w="med" len="med"/>
              <a:tailEnd type="none" w="med" len="med"/>
            </a:ln>
          </p:spPr>
        </p:cxnSp>
        <p:cxnSp>
          <p:nvCxnSpPr>
            <p:cNvPr id="75" name="直接连接符 74"/>
            <p:cNvCxnSpPr/>
            <p:nvPr/>
          </p:nvCxnSpPr>
          <p:spPr bwMode="auto">
            <a:xfrm>
              <a:off x="4615403" y="3794270"/>
              <a:ext cx="79951" cy="984"/>
            </a:xfrm>
            <a:prstGeom prst="line">
              <a:avLst/>
            </a:prstGeom>
            <a:noFill/>
            <a:ln w="19050" cap="flat" cmpd="sng" algn="ctr">
              <a:solidFill>
                <a:srgbClr val="0000CC"/>
              </a:solidFill>
              <a:prstDash val="solid"/>
              <a:miter lim="800000"/>
              <a:headEnd type="none" w="med" len="med"/>
              <a:tailEnd type="none" w="med" len="med"/>
            </a:ln>
          </p:spPr>
        </p:cxnSp>
        <p:cxnSp>
          <p:nvCxnSpPr>
            <p:cNvPr id="76" name="直接连接符 75"/>
            <p:cNvCxnSpPr/>
            <p:nvPr/>
          </p:nvCxnSpPr>
          <p:spPr bwMode="auto">
            <a:xfrm>
              <a:off x="4695354" y="3795254"/>
              <a:ext cx="0" cy="310494"/>
            </a:xfrm>
            <a:prstGeom prst="line">
              <a:avLst/>
            </a:prstGeom>
            <a:noFill/>
            <a:ln w="19050" cap="flat" cmpd="sng" algn="ctr">
              <a:solidFill>
                <a:srgbClr val="0000CC"/>
              </a:solidFill>
              <a:prstDash val="solid"/>
              <a:miter lim="800000"/>
              <a:headEnd type="none" w="med" len="med"/>
              <a:tailEnd type="none" w="med" len="med"/>
            </a:ln>
          </p:spPr>
        </p:cxnSp>
        <p:cxnSp>
          <p:nvCxnSpPr>
            <p:cNvPr id="77" name="直接连接符 76"/>
            <p:cNvCxnSpPr/>
            <p:nvPr/>
          </p:nvCxnSpPr>
          <p:spPr bwMode="auto">
            <a:xfrm>
              <a:off x="4794486" y="3794270"/>
              <a:ext cx="0" cy="310494"/>
            </a:xfrm>
            <a:prstGeom prst="line">
              <a:avLst/>
            </a:prstGeom>
            <a:noFill/>
            <a:ln w="19050" cap="flat" cmpd="sng" algn="ctr">
              <a:solidFill>
                <a:srgbClr val="0000CC"/>
              </a:solidFill>
              <a:prstDash val="solid"/>
              <a:miter lim="800000"/>
              <a:headEnd type="none" w="med" len="med"/>
              <a:tailEnd type="none" w="med" len="med"/>
            </a:ln>
          </p:spPr>
        </p:cxnSp>
        <p:cxnSp>
          <p:nvCxnSpPr>
            <p:cNvPr id="78" name="直接连接符 77"/>
            <p:cNvCxnSpPr/>
            <p:nvPr/>
          </p:nvCxnSpPr>
          <p:spPr bwMode="auto">
            <a:xfrm flipH="1">
              <a:off x="4695354" y="4104764"/>
              <a:ext cx="98121" cy="0"/>
            </a:xfrm>
            <a:prstGeom prst="line">
              <a:avLst/>
            </a:prstGeom>
            <a:noFill/>
            <a:ln w="19050" cap="flat" cmpd="sng" algn="ctr">
              <a:solidFill>
                <a:srgbClr val="0000CC"/>
              </a:solidFill>
              <a:prstDash val="solid"/>
              <a:miter lim="800000"/>
              <a:headEnd type="none" w="med" len="med"/>
              <a:tailEnd type="none" w="med" len="med"/>
            </a:ln>
          </p:spPr>
        </p:cxnSp>
        <p:cxnSp>
          <p:nvCxnSpPr>
            <p:cNvPr id="74" name="直接连接符 73"/>
            <p:cNvCxnSpPr/>
            <p:nvPr/>
          </p:nvCxnSpPr>
          <p:spPr bwMode="auto">
            <a:xfrm>
              <a:off x="4793475" y="3794270"/>
              <a:ext cx="105074" cy="0"/>
            </a:xfrm>
            <a:prstGeom prst="line">
              <a:avLst/>
            </a:prstGeom>
            <a:noFill/>
            <a:ln w="19050" cap="flat" cmpd="sng" algn="ctr">
              <a:solidFill>
                <a:srgbClr val="0000CC"/>
              </a:solidFill>
              <a:prstDash val="solid"/>
              <a:miter lim="800000"/>
              <a:headEnd type="none" w="med" len="med"/>
              <a:tailEnd type="none" w="med" len="med"/>
            </a:ln>
          </p:spPr>
        </p:cxnSp>
        <p:cxnSp>
          <p:nvCxnSpPr>
            <p:cNvPr id="83" name="直接连接符 82"/>
            <p:cNvCxnSpPr/>
            <p:nvPr/>
          </p:nvCxnSpPr>
          <p:spPr bwMode="auto">
            <a:xfrm>
              <a:off x="4895544" y="4103706"/>
              <a:ext cx="79951" cy="984"/>
            </a:xfrm>
            <a:prstGeom prst="line">
              <a:avLst/>
            </a:prstGeom>
            <a:noFill/>
            <a:ln w="19050" cap="flat" cmpd="sng" algn="ctr">
              <a:solidFill>
                <a:srgbClr val="0000CC"/>
              </a:solidFill>
              <a:prstDash val="solid"/>
              <a:miter lim="800000"/>
              <a:headEnd type="none" w="med" len="med"/>
              <a:tailEnd type="none" w="med" len="med"/>
            </a:ln>
          </p:spPr>
        </p:cxnSp>
        <p:cxnSp>
          <p:nvCxnSpPr>
            <p:cNvPr id="85" name="直接连接符 84"/>
            <p:cNvCxnSpPr/>
            <p:nvPr/>
          </p:nvCxnSpPr>
          <p:spPr bwMode="auto">
            <a:xfrm>
              <a:off x="4893618" y="3786866"/>
              <a:ext cx="0" cy="310494"/>
            </a:xfrm>
            <a:prstGeom prst="line">
              <a:avLst/>
            </a:prstGeom>
            <a:noFill/>
            <a:ln w="19050" cap="flat" cmpd="sng" algn="ctr">
              <a:solidFill>
                <a:srgbClr val="0000CC"/>
              </a:solidFill>
              <a:prstDash val="solid"/>
              <a:miter lim="800000"/>
              <a:headEnd type="none" w="med" len="med"/>
              <a:tailEnd type="none" w="med" len="med"/>
            </a:ln>
          </p:spPr>
        </p:cxnSp>
      </p:grpSp>
      <p:sp>
        <p:nvSpPr>
          <p:cNvPr id="87" name="任意多边形 86"/>
          <p:cNvSpPr/>
          <p:nvPr/>
        </p:nvSpPr>
        <p:spPr bwMode="auto">
          <a:xfrm>
            <a:off x="6014698" y="3942272"/>
            <a:ext cx="721923" cy="829513"/>
          </a:xfrm>
          <a:custGeom>
            <a:avLst/>
            <a:gdLst>
              <a:gd name="connsiteX0" fmla="*/ 170191 w 721923"/>
              <a:gd name="connsiteY0" fmla="*/ 18134 h 829513"/>
              <a:gd name="connsiteX1" fmla="*/ 28148 w 721923"/>
              <a:gd name="connsiteY1" fmla="*/ 27011 h 829513"/>
              <a:gd name="connsiteX2" fmla="*/ 28148 w 721923"/>
              <a:gd name="connsiteY2" fmla="*/ 275586 h 829513"/>
              <a:gd name="connsiteX3" fmla="*/ 54781 w 721923"/>
              <a:gd name="connsiteY3" fmla="*/ 275586 h 829513"/>
              <a:gd name="connsiteX4" fmla="*/ 676218 w 721923"/>
              <a:gd name="connsiteY4" fmla="*/ 470895 h 829513"/>
              <a:gd name="connsiteX5" fmla="*/ 676218 w 721923"/>
              <a:gd name="connsiteY5" fmla="*/ 479773 h 829513"/>
              <a:gd name="connsiteX6" fmla="*/ 685096 w 721923"/>
              <a:gd name="connsiteY6" fmla="*/ 799369 h 829513"/>
              <a:gd name="connsiteX7" fmla="*/ 676218 w 721923"/>
              <a:gd name="connsiteY7" fmla="*/ 817124 h 829513"/>
              <a:gd name="connsiteX8" fmla="*/ 685096 w 721923"/>
              <a:gd name="connsiteY8" fmla="*/ 808246 h 829513"/>
              <a:gd name="connsiteX9" fmla="*/ 667340 w 721923"/>
              <a:gd name="connsiteY9" fmla="*/ 808246 h 829513"/>
              <a:gd name="connsiteX10" fmla="*/ 685096 w 721923"/>
              <a:gd name="connsiteY10" fmla="*/ 790491 h 829513"/>
              <a:gd name="connsiteX11" fmla="*/ 685096 w 721923"/>
              <a:gd name="connsiteY11" fmla="*/ 790491 h 829513"/>
              <a:gd name="connsiteX12" fmla="*/ 685096 w 721923"/>
              <a:gd name="connsiteY12" fmla="*/ 790491 h 829513"/>
              <a:gd name="connsiteX13" fmla="*/ 685096 w 721923"/>
              <a:gd name="connsiteY13" fmla="*/ 790491 h 829513"/>
              <a:gd name="connsiteX14" fmla="*/ 702851 w 721923"/>
              <a:gd name="connsiteY14" fmla="*/ 488650 h 829513"/>
              <a:gd name="connsiteX15" fmla="*/ 693973 w 721923"/>
              <a:gd name="connsiteY15" fmla="*/ 479773 h 829513"/>
              <a:gd name="connsiteX16" fmla="*/ 693973 w 721923"/>
              <a:gd name="connsiteY16" fmla="*/ 479773 h 829513"/>
              <a:gd name="connsiteX17" fmla="*/ 685096 w 721923"/>
              <a:gd name="connsiteY17" fmla="*/ 479773 h 829513"/>
              <a:gd name="connsiteX18" fmla="*/ 693973 w 721923"/>
              <a:gd name="connsiteY18" fmla="*/ 497528 h 829513"/>
              <a:gd name="connsiteX19" fmla="*/ 693973 w 721923"/>
              <a:gd name="connsiteY19" fmla="*/ 497528 h 829513"/>
              <a:gd name="connsiteX20" fmla="*/ 685096 w 721923"/>
              <a:gd name="connsiteY20" fmla="*/ 790491 h 829513"/>
              <a:gd name="connsiteX21" fmla="*/ 676218 w 721923"/>
              <a:gd name="connsiteY21" fmla="*/ 826002 h 829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721923" h="829513">
                <a:moveTo>
                  <a:pt x="170191" y="18134"/>
                </a:moveTo>
                <a:cubicBezTo>
                  <a:pt x="111006" y="1118"/>
                  <a:pt x="51822" y="-15898"/>
                  <a:pt x="28148" y="27011"/>
                </a:cubicBezTo>
                <a:cubicBezTo>
                  <a:pt x="4474" y="69920"/>
                  <a:pt x="23709" y="234157"/>
                  <a:pt x="28148" y="275586"/>
                </a:cubicBezTo>
                <a:cubicBezTo>
                  <a:pt x="32587" y="317015"/>
                  <a:pt x="-53231" y="243035"/>
                  <a:pt x="54781" y="275586"/>
                </a:cubicBezTo>
                <a:cubicBezTo>
                  <a:pt x="162793" y="308137"/>
                  <a:pt x="572645" y="436864"/>
                  <a:pt x="676218" y="470895"/>
                </a:cubicBezTo>
                <a:cubicBezTo>
                  <a:pt x="779791" y="504926"/>
                  <a:pt x="674738" y="425027"/>
                  <a:pt x="676218" y="479773"/>
                </a:cubicBezTo>
                <a:cubicBezTo>
                  <a:pt x="677698" y="534519"/>
                  <a:pt x="685096" y="743144"/>
                  <a:pt x="685096" y="799369"/>
                </a:cubicBezTo>
                <a:cubicBezTo>
                  <a:pt x="685096" y="855594"/>
                  <a:pt x="676218" y="815645"/>
                  <a:pt x="676218" y="817124"/>
                </a:cubicBezTo>
                <a:cubicBezTo>
                  <a:pt x="676218" y="818603"/>
                  <a:pt x="686576" y="809726"/>
                  <a:pt x="685096" y="808246"/>
                </a:cubicBezTo>
                <a:cubicBezTo>
                  <a:pt x="683616" y="806766"/>
                  <a:pt x="667340" y="811205"/>
                  <a:pt x="667340" y="808246"/>
                </a:cubicBezTo>
                <a:lnTo>
                  <a:pt x="685096" y="790491"/>
                </a:lnTo>
                <a:lnTo>
                  <a:pt x="685096" y="790491"/>
                </a:lnTo>
                <a:lnTo>
                  <a:pt x="685096" y="790491"/>
                </a:lnTo>
                <a:lnTo>
                  <a:pt x="685096" y="790491"/>
                </a:lnTo>
                <a:cubicBezTo>
                  <a:pt x="688055" y="740184"/>
                  <a:pt x="701372" y="540436"/>
                  <a:pt x="702851" y="488650"/>
                </a:cubicBezTo>
                <a:cubicBezTo>
                  <a:pt x="704331" y="436864"/>
                  <a:pt x="693973" y="479773"/>
                  <a:pt x="693973" y="479773"/>
                </a:cubicBezTo>
                <a:lnTo>
                  <a:pt x="693973" y="479773"/>
                </a:lnTo>
                <a:cubicBezTo>
                  <a:pt x="692494" y="479773"/>
                  <a:pt x="685096" y="476814"/>
                  <a:pt x="685096" y="479773"/>
                </a:cubicBezTo>
                <a:cubicBezTo>
                  <a:pt x="685096" y="482732"/>
                  <a:pt x="689534" y="490130"/>
                  <a:pt x="693973" y="497528"/>
                </a:cubicBezTo>
                <a:lnTo>
                  <a:pt x="693973" y="497528"/>
                </a:lnTo>
                <a:cubicBezTo>
                  <a:pt x="693973" y="497528"/>
                  <a:pt x="688055" y="735745"/>
                  <a:pt x="685096" y="790491"/>
                </a:cubicBezTo>
                <a:lnTo>
                  <a:pt x="676218" y="826002"/>
                </a:lnTo>
              </a:path>
            </a:pathLst>
          </a:custGeom>
          <a:noFill/>
          <a:ln w="15875" cap="flat" cmpd="sng" algn="ctr">
            <a:solidFill>
              <a:srgbClr val="FF0000"/>
            </a:solidFill>
            <a:prstDash val="solid"/>
            <a:miter lim="800000"/>
            <a:headEnd type="none" w="med" len="med"/>
            <a:tailEnd type="none" w="med" len="med"/>
          </a:ln>
        </p:spPr>
        <p:txBody>
          <a:bodyPr vert="horz" wrap="square" lIns="90000" tIns="46800" rIns="90000" bIns="4680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36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endParaRPr>
          </a:p>
        </p:txBody>
      </p:sp>
      <p:sp>
        <p:nvSpPr>
          <p:cNvPr id="48" name="标题 1"/>
          <p:cNvSpPr>
            <a:spLocks noGrp="1"/>
          </p:cNvSpPr>
          <p:nvPr>
            <p:ph type="title"/>
          </p:nvPr>
        </p:nvSpPr>
        <p:spPr>
          <a:xfrm>
            <a:off x="1187624" y="1052736"/>
            <a:ext cx="7756351" cy="635794"/>
          </a:xfrm>
        </p:spPr>
        <p:txBody>
          <a:bodyPr/>
          <a:lstStyle/>
          <a:p>
            <a:r>
              <a:rPr lang="en-US" altLang="zh-CN" dirty="0" smtClean="0"/>
              <a:t>5.2.2 </a:t>
            </a:r>
            <a:r>
              <a:rPr lang="zh-CN" altLang="en-US" dirty="0" smtClean="0"/>
              <a:t>主从</a:t>
            </a:r>
            <a:r>
              <a:rPr lang="en-US" altLang="zh-CN" dirty="0" smtClean="0"/>
              <a:t>JK</a:t>
            </a:r>
            <a:r>
              <a:rPr lang="zh-CN" altLang="en-US" dirty="0" smtClean="0"/>
              <a:t>触发器</a:t>
            </a:r>
            <a:endParaRPr lang="zh-CN" altLang="en-US" dirty="0"/>
          </a:p>
        </p:txBody>
      </p:sp>
      <p:sp>
        <p:nvSpPr>
          <p:cNvPr id="49" name="标题 1"/>
          <p:cNvSpPr txBox="1">
            <a:spLocks/>
          </p:cNvSpPr>
          <p:nvPr/>
        </p:nvSpPr>
        <p:spPr bwMode="auto">
          <a:xfrm>
            <a:off x="1187624" y="332656"/>
            <a:ext cx="7632848" cy="5669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5.2 </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脉冲</a:t>
            </a:r>
            <a:r>
              <a:rPr kumimoji="1" lang="zh-CN" altLang="en-US" sz="3200" b="1" kern="0" dirty="0" smtClean="0">
                <a:solidFill>
                  <a:schemeClr val="tx2"/>
                </a:solidFill>
                <a:latin typeface="+mj-lt"/>
                <a:ea typeface="+mj-ea"/>
                <a:cs typeface="+mj-cs"/>
              </a:rPr>
              <a:t>触发的</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触发器</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pic>
        <p:nvPicPr>
          <p:cNvPr id="117880" name="Picture 120"/>
          <p:cNvPicPr>
            <a:picLocks noChangeAspect="1" noChangeArrowheads="1"/>
          </p:cNvPicPr>
          <p:nvPr/>
        </p:nvPicPr>
        <p:blipFill>
          <a:blip r:embed="rId6" cstate="print"/>
          <a:srcRect/>
          <a:stretch>
            <a:fillRect/>
          </a:stretch>
        </p:blipFill>
        <p:spPr bwMode="auto">
          <a:xfrm>
            <a:off x="251520" y="2125005"/>
            <a:ext cx="4081350" cy="4732995"/>
          </a:xfrm>
          <a:prstGeom prst="rect">
            <a:avLst/>
          </a:prstGeom>
          <a:noFill/>
          <a:ln w="9525">
            <a:noFill/>
            <a:miter lim="800000"/>
            <a:headEnd/>
            <a:tailEnd/>
          </a:ln>
        </p:spPr>
      </p:pic>
      <p:sp>
        <p:nvSpPr>
          <p:cNvPr id="257047" name="矩形 257046"/>
          <p:cNvSpPr/>
          <p:nvPr/>
        </p:nvSpPr>
        <p:spPr>
          <a:xfrm>
            <a:off x="144725" y="5755874"/>
            <a:ext cx="4321175" cy="1152525"/>
          </a:xfrm>
          <a:prstGeom prst="rect">
            <a:avLst/>
          </a:prstGeom>
          <a:solidFill>
            <a:schemeClr val="bg1"/>
          </a:solidFill>
          <a:ln w="28575" cap="flat" cmpd="sng">
            <a:solidFill>
              <a:srgbClr val="FF0000"/>
            </a:solidFill>
            <a:prstDash val="dash"/>
            <a:miter/>
            <a:headEnd type="none" w="med" len="med"/>
            <a:tailEnd type="none" w="med" len="med"/>
          </a:ln>
        </p:spPr>
        <p:txBody>
          <a:bodyPr/>
          <a:lstStyle/>
          <a:p>
            <a:endParaRPr lang="zh-CN" altLang="en-US"/>
          </a:p>
        </p:txBody>
      </p:sp>
    </p:spTree>
    <p:extLst>
      <p:ext uri="{BB962C8B-B14F-4D97-AF65-F5344CB8AC3E}">
        <p14:creationId xmlns:p14="http://schemas.microsoft.com/office/powerpoint/2010/main" xmlns="" val="391028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xit" presetSubtype="10" fill="hold" nodeType="clickEffect">
                                  <p:stCondLst>
                                    <p:cond delay="0"/>
                                  </p:stCondLst>
                                  <p:childTnLst>
                                    <p:animEffect transition="out" filter="blinds(horizontal)">
                                      <p:cBhvr>
                                        <p:cTn id="6" dur="500"/>
                                        <p:tgtEl>
                                          <p:spTgt spid="257047"/>
                                        </p:tgtEl>
                                      </p:cBhvr>
                                    </p:animEffect>
                                    <p:set>
                                      <p:cBhvr>
                                        <p:cTn id="7" dur="1" fill="hold">
                                          <p:stCondLst>
                                            <p:cond delay="499"/>
                                          </p:stCondLst>
                                        </p:cTn>
                                        <p:tgtEl>
                                          <p:spTgt spid="257047"/>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9"/>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30"/>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25"/>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26"/>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27"/>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28"/>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5"/>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8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6" grpId="0"/>
      <p:bldP spid="27" grpId="0"/>
      <p:bldP spid="28" grpId="0"/>
      <p:bldP spid="29" grpId="0"/>
      <p:bldP spid="30" grpId="0"/>
      <p:bldP spid="5" grpId="0" animBg="1"/>
      <p:bldP spid="87"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idx="1"/>
          </p:nvPr>
        </p:nvSpPr>
        <p:spPr>
          <a:xfrm>
            <a:off x="467544" y="1988840"/>
            <a:ext cx="8487544" cy="4608512"/>
          </a:xfrm>
        </p:spPr>
        <p:txBody>
          <a:bodyPr/>
          <a:lstStyle/>
          <a:p>
            <a:pPr>
              <a:lnSpc>
                <a:spcPct val="100000"/>
              </a:lnSpc>
              <a:spcBef>
                <a:spcPts val="600"/>
              </a:spcBef>
              <a:buSzPct val="100000"/>
              <a:buFont typeface="Wingdings" pitchFamily="2" charset="2"/>
              <a:buChar char="p"/>
            </a:pPr>
            <a:r>
              <a:rPr lang="zh-CN" altLang="en-US" sz="2800" dirty="0" smtClean="0"/>
              <a:t> 触发器的直接输入</a:t>
            </a:r>
            <a:endParaRPr lang="zh-CN" altLang="en-US" sz="2800" dirty="0"/>
          </a:p>
        </p:txBody>
      </p:sp>
      <p:sp>
        <p:nvSpPr>
          <p:cNvPr id="3" name="灯片编号占位符 2"/>
          <p:cNvSpPr>
            <a:spLocks noGrp="1"/>
          </p:cNvSpPr>
          <p:nvPr>
            <p:ph type="sldNum" sz="quarter" idx="12"/>
          </p:nvPr>
        </p:nvSpPr>
        <p:spPr/>
        <p:txBody>
          <a:bodyPr/>
          <a:lstStyle/>
          <a:p>
            <a:fld id="{0C913308-F349-4B6D-A68A-DD1791B4A57B}" type="slidenum">
              <a:rPr lang="zh-CN" altLang="en-US" smtClean="0"/>
              <a:pPr/>
              <a:t>62</a:t>
            </a:fld>
            <a:endParaRPr lang="zh-CN" altLang="en-US" dirty="0"/>
          </a:p>
        </p:txBody>
      </p:sp>
      <p:sp>
        <p:nvSpPr>
          <p:cNvPr id="4" name="矩形 3"/>
          <p:cNvSpPr/>
          <p:nvPr/>
        </p:nvSpPr>
        <p:spPr>
          <a:xfrm>
            <a:off x="1043608" y="2492896"/>
            <a:ext cx="6192688" cy="907941"/>
          </a:xfrm>
          <a:prstGeom prst="rect">
            <a:avLst/>
          </a:prstGeom>
        </p:spPr>
        <p:txBody>
          <a:bodyPr wrap="square">
            <a:spAutoFit/>
          </a:bodyPr>
          <a:lstStyle/>
          <a:p>
            <a:pPr>
              <a:spcBef>
                <a:spcPts val="600"/>
              </a:spcBef>
            </a:pPr>
            <a:r>
              <a:rPr lang="zh-CN" altLang="en-US" sz="2400" b="1" dirty="0"/>
              <a:t>同步输入: CLK, J, K, D, T, R, </a:t>
            </a:r>
            <a:r>
              <a:rPr lang="zh-CN" altLang="en-US" sz="2400" b="1" dirty="0" smtClean="0"/>
              <a:t>S</a:t>
            </a:r>
            <a:endParaRPr lang="en-US" altLang="zh-CN" sz="2400" b="1" dirty="0" smtClean="0"/>
          </a:p>
          <a:p>
            <a:pPr>
              <a:spcBef>
                <a:spcPts val="600"/>
              </a:spcBef>
            </a:pPr>
            <a:r>
              <a:rPr lang="zh-CN" altLang="en-US" sz="2400" b="1" dirty="0" smtClean="0"/>
              <a:t>异步</a:t>
            </a:r>
            <a:r>
              <a:rPr lang="zh-CN" altLang="en-US" sz="2400" b="1" dirty="0"/>
              <a:t>输入(直接输入)</a:t>
            </a:r>
          </a:p>
        </p:txBody>
      </p:sp>
      <mc:AlternateContent xmlns:mc="http://schemas.openxmlformats.org/markup-compatibility/2006">
        <mc:Choice xmlns:a14="http://schemas.microsoft.com/office/drawing/2010/main" xmlns="" Requires="a14">
          <p:sp>
            <p:nvSpPr>
              <p:cNvPr id="6" name="矩形 5"/>
              <p:cNvSpPr/>
              <p:nvPr/>
            </p:nvSpPr>
            <p:spPr>
              <a:xfrm>
                <a:off x="5118832" y="3299474"/>
                <a:ext cx="3197584" cy="1324530"/>
              </a:xfrm>
              <a:prstGeom prst="rect">
                <a:avLst/>
              </a:prstGeom>
            </p:spPr>
            <p:txBody>
              <a:bodyPr wrap="square">
                <a:spAutoFit/>
              </a:bodyPr>
              <a:lstStyle/>
              <a:p>
                <a:pPr>
                  <a:lnSpc>
                    <a:spcPct val="150000"/>
                  </a:lnSpc>
                </a:pPr>
                <a:r>
                  <a:rPr lang="zh-CN" altLang="en-US" sz="2000" b="1" dirty="0" smtClean="0"/>
                  <a:t>直接置位输入(set 1)</a:t>
                </a:r>
                <a14:m>
                  <m:oMath xmlns:m="http://schemas.openxmlformats.org/officeDocument/2006/math">
                    <m:acc>
                      <m:accPr>
                        <m:chr m:val="̅"/>
                        <m:ctrlPr>
                          <a:rPr lang="zh-CN" altLang="en-US" sz="2000" b="1" i="1" smtClean="0">
                            <a:latin typeface="Cambria Math" panose="02040503050406030204" pitchFamily="18" charset="0"/>
                          </a:rPr>
                        </m:ctrlPr>
                      </m:accPr>
                      <m:e>
                        <m:r>
                          <a:rPr lang="en-US" altLang="zh-CN" sz="2000" b="1" i="1">
                            <a:latin typeface="Cambria Math" panose="02040503050406030204" pitchFamily="18" charset="0"/>
                          </a:rPr>
                          <m:t>𝑺</m:t>
                        </m:r>
                      </m:e>
                    </m:acc>
                    <m:r>
                      <a:rPr lang="en-US" altLang="zh-CN" sz="2000" b="1" i="1" baseline="-25000">
                        <a:latin typeface="Cambria Math" panose="02040503050406030204" pitchFamily="18" charset="0"/>
                      </a:rPr>
                      <m:t>𝑫</m:t>
                    </m:r>
                  </m:oMath>
                </a14:m>
                <a:endParaRPr lang="en-US" altLang="zh-CN" sz="2000" b="1" baseline="-25000" dirty="0" smtClean="0"/>
              </a:p>
              <a:p>
                <a:pPr>
                  <a:lnSpc>
                    <a:spcPct val="150000"/>
                  </a:lnSpc>
                </a:pPr>
                <a:r>
                  <a:rPr lang="zh-CN" altLang="en-US" sz="2000" b="1" dirty="0" smtClean="0"/>
                  <a:t>直接复位</a:t>
                </a:r>
                <a:r>
                  <a:rPr lang="zh-CN" altLang="en-US" sz="2000" b="1" dirty="0"/>
                  <a:t>输入(set </a:t>
                </a:r>
                <a:r>
                  <a:rPr lang="en-US" altLang="zh-CN" sz="2000" b="1" dirty="0" smtClean="0"/>
                  <a:t>0</a:t>
                </a:r>
                <a:r>
                  <a:rPr lang="zh-CN" altLang="en-US" sz="2000" b="1" dirty="0" smtClean="0"/>
                  <a:t>)</a:t>
                </a:r>
                <a14:m>
                  <m:oMath xmlns:m="http://schemas.openxmlformats.org/officeDocument/2006/math">
                    <m:acc>
                      <m:accPr>
                        <m:chr m:val="̅"/>
                        <m:ctrlPr>
                          <a:rPr lang="zh-CN" altLang="en-US" sz="2000" b="1" i="1">
                            <a:latin typeface="Cambria Math" panose="02040503050406030204" pitchFamily="18" charset="0"/>
                          </a:rPr>
                        </m:ctrlPr>
                      </m:accPr>
                      <m:e>
                        <m:r>
                          <a:rPr lang="en-US" altLang="zh-CN" sz="2000" b="1" i="1" smtClean="0">
                            <a:latin typeface="Cambria Math" panose="02040503050406030204" pitchFamily="18" charset="0"/>
                          </a:rPr>
                          <m:t>𝑹</m:t>
                        </m:r>
                      </m:e>
                    </m:acc>
                    <m:r>
                      <a:rPr lang="en-US" altLang="zh-CN" sz="2000" b="1" i="1" baseline="-25000">
                        <a:latin typeface="Cambria Math" panose="02040503050406030204" pitchFamily="18" charset="0"/>
                      </a:rPr>
                      <m:t>𝑫</m:t>
                    </m:r>
                  </m:oMath>
                </a14:m>
                <a:endParaRPr lang="en-US" altLang="zh-CN" sz="2000" b="1" baseline="-25000" dirty="0"/>
              </a:p>
              <a:p>
                <a:pPr>
                  <a:lnSpc>
                    <a:spcPct val="150000"/>
                  </a:lnSpc>
                </a:pPr>
                <a:endParaRPr lang="zh-CN" altLang="en-US" sz="2000" b="1" baseline="-25000" dirty="0"/>
              </a:p>
            </p:txBody>
          </p:sp>
        </mc:Choice>
        <mc:Fallback>
          <p:sp>
            <p:nvSpPr>
              <p:cNvPr id="6" name="矩形 5"/>
              <p:cNvSpPr>
                <a:spLocks noRot="1" noChangeAspect="1" noMove="1" noResize="1" noEditPoints="1" noAdjustHandles="1" noChangeArrowheads="1" noChangeShapeType="1" noTextEdit="1"/>
              </p:cNvSpPr>
              <p:nvPr/>
            </p:nvSpPr>
            <p:spPr>
              <a:xfrm>
                <a:off x="5118832" y="3299474"/>
                <a:ext cx="3197584" cy="1324530"/>
              </a:xfrm>
              <a:prstGeom prst="rect">
                <a:avLst/>
              </a:prstGeom>
              <a:blipFill>
                <a:blip r:embed="rId2" cstate="print"/>
                <a:stretch>
                  <a:fillRect l="-2099"/>
                </a:stretch>
              </a:blipFill>
            </p:spPr>
            <p:txBody>
              <a:bodyPr/>
              <a:lstStyle/>
              <a:p>
                <a:r>
                  <a:rPr lang="zh-CN" altLang="en-US">
                    <a:noFill/>
                  </a:rPr>
                  <a:t> </a:t>
                </a:r>
              </a:p>
            </p:txBody>
          </p:sp>
        </mc:Fallback>
      </mc:AlternateContent>
      <p:pic>
        <p:nvPicPr>
          <p:cNvPr id="7" name="图片 6"/>
          <p:cNvPicPr>
            <a:picLocks noChangeAspect="1"/>
          </p:cNvPicPr>
          <p:nvPr/>
        </p:nvPicPr>
        <p:blipFill>
          <a:blip r:embed="rId3" cstate="print">
            <a:extLst>
              <a:ext uri="{28A0092B-C50C-407E-A947-70E740481C1C}">
                <a14:useLocalDpi xmlns:a14="http://schemas.microsoft.com/office/drawing/2010/main" xmlns="" val="0"/>
              </a:ext>
            </a:extLst>
          </a:blip>
          <a:stretch>
            <a:fillRect/>
          </a:stretch>
        </p:blipFill>
        <p:spPr>
          <a:xfrm>
            <a:off x="1187624" y="3465781"/>
            <a:ext cx="2421384" cy="3164581"/>
          </a:xfrm>
          <a:prstGeom prst="rect">
            <a:avLst/>
          </a:prstGeom>
        </p:spPr>
      </p:pic>
      <p:cxnSp>
        <p:nvCxnSpPr>
          <p:cNvPr id="9" name="直接连接符 8"/>
          <p:cNvCxnSpPr/>
          <p:nvPr/>
        </p:nvCxnSpPr>
        <p:spPr bwMode="auto">
          <a:xfrm>
            <a:off x="1259632" y="4976680"/>
            <a:ext cx="2232248" cy="0"/>
          </a:xfrm>
          <a:prstGeom prst="line">
            <a:avLst/>
          </a:prstGeom>
          <a:noFill/>
          <a:ln w="9525" cap="flat" cmpd="sng" algn="ctr">
            <a:solidFill>
              <a:schemeClr val="tx1"/>
            </a:solidFill>
            <a:prstDash val="dash"/>
            <a:miter lim="800000"/>
            <a:headEnd type="none" w="med" len="med"/>
            <a:tailEnd type="none" w="med" len="med"/>
          </a:ln>
        </p:spPr>
      </p:cxnSp>
      <p:sp>
        <p:nvSpPr>
          <p:cNvPr id="12" name="文本框 11"/>
          <p:cNvSpPr txBox="1"/>
          <p:nvPr/>
        </p:nvSpPr>
        <p:spPr>
          <a:xfrm>
            <a:off x="1475656" y="4946725"/>
            <a:ext cx="344966" cy="276999"/>
          </a:xfrm>
          <a:prstGeom prst="rect">
            <a:avLst/>
          </a:prstGeom>
          <a:noFill/>
        </p:spPr>
        <p:txBody>
          <a:bodyPr wrap="none" rtlCol="0">
            <a:spAutoFit/>
          </a:bodyPr>
          <a:lstStyle/>
          <a:p>
            <a:r>
              <a:rPr lang="en-US" altLang="zh-CN" sz="1200" b="1" dirty="0" smtClean="0"/>
              <a:t>Q’</a:t>
            </a:r>
            <a:endParaRPr lang="zh-CN" altLang="en-US" sz="1200" b="1" dirty="0"/>
          </a:p>
        </p:txBody>
      </p:sp>
      <mc:AlternateContent xmlns:mc="http://schemas.openxmlformats.org/markup-compatibility/2006">
        <mc:Choice xmlns:a14="http://schemas.microsoft.com/office/drawing/2010/main" xmlns="" Requires="a14">
          <p:sp>
            <p:nvSpPr>
              <p:cNvPr id="13" name="文本框 12"/>
              <p:cNvSpPr txBox="1"/>
              <p:nvPr/>
            </p:nvSpPr>
            <p:spPr>
              <a:xfrm>
                <a:off x="2427394" y="4946725"/>
                <a:ext cx="372218" cy="277384"/>
              </a:xfrm>
              <a:prstGeom prst="rect">
                <a:avLst/>
              </a:prstGeom>
              <a:noFill/>
            </p:spPr>
            <p:txBody>
              <a:bodyPr wrap="none" rtlCol="0">
                <a:spAutoFit/>
              </a:bodyPr>
              <a:lstStyle/>
              <a:p>
                <a14:m>
                  <m:oMath xmlns:m="http://schemas.openxmlformats.org/officeDocument/2006/math">
                    <m:acc>
                      <m:accPr>
                        <m:chr m:val="̅"/>
                        <m:ctrlPr>
                          <a:rPr lang="en-US" altLang="zh-CN" sz="1200" b="1" i="1" dirty="0" smtClean="0">
                            <a:latin typeface="Cambria Math" panose="02040503050406030204" pitchFamily="18" charset="0"/>
                          </a:rPr>
                        </m:ctrlPr>
                      </m:accPr>
                      <m:e>
                        <m:r>
                          <a:rPr lang="en-US" altLang="zh-CN" sz="1200" b="1" i="1" dirty="0" smtClean="0">
                            <a:latin typeface="Cambria Math" panose="02040503050406030204" pitchFamily="18" charset="0"/>
                          </a:rPr>
                          <m:t>𝑸</m:t>
                        </m:r>
                        <m:r>
                          <a:rPr lang="en-US" altLang="zh-CN" sz="1200" b="1" i="1" dirty="0" smtClean="0">
                            <a:latin typeface="Cambria Math" panose="02040503050406030204" pitchFamily="18" charset="0"/>
                          </a:rPr>
                          <m:t> </m:t>
                        </m:r>
                      </m:e>
                    </m:acc>
                  </m:oMath>
                </a14:m>
                <a:r>
                  <a:rPr lang="en-US" altLang="zh-CN" sz="1200" b="1" dirty="0" smtClean="0"/>
                  <a:t>’</a:t>
                </a:r>
                <a:endParaRPr lang="zh-CN" altLang="en-US" sz="1200" b="1" dirty="0"/>
              </a:p>
            </p:txBody>
          </p:sp>
        </mc:Choice>
        <mc:Fallback>
          <p:sp>
            <p:nvSpPr>
              <p:cNvPr id="13" name="文本框 12"/>
              <p:cNvSpPr txBox="1">
                <a:spLocks noRot="1" noChangeAspect="1" noMove="1" noResize="1" noEditPoints="1" noAdjustHandles="1" noChangeArrowheads="1" noChangeShapeType="1" noTextEdit="1"/>
              </p:cNvSpPr>
              <p:nvPr/>
            </p:nvSpPr>
            <p:spPr>
              <a:xfrm>
                <a:off x="2427394" y="4946725"/>
                <a:ext cx="372218" cy="277384"/>
              </a:xfrm>
              <a:prstGeom prst="rect">
                <a:avLst/>
              </a:prstGeom>
              <a:blipFill rotWithShape="0">
                <a:blip r:embed="rId4" cstate="print"/>
                <a:stretch>
                  <a:fillRect r="-1639" b="-1521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xmlns="" Requires="a14">
          <p:sp>
            <p:nvSpPr>
              <p:cNvPr id="10" name="矩形 9"/>
              <p:cNvSpPr/>
              <p:nvPr/>
            </p:nvSpPr>
            <p:spPr>
              <a:xfrm>
                <a:off x="5521351" y="4576495"/>
                <a:ext cx="2045753" cy="508729"/>
              </a:xfrm>
              <a:prstGeom prst="rect">
                <a:avLst/>
              </a:prstGeom>
            </p:spPr>
            <p:txBody>
              <a:bodyPr wrap="none">
                <a:spAutoFit/>
              </a:bodyPr>
              <a:lstStyle/>
              <a:p>
                <a:pPr>
                  <a:lnSpc>
                    <a:spcPct val="150000"/>
                  </a:lnSpc>
                </a:pPr>
                <a14:m>
                  <m:oMath xmlns:m="http://schemas.openxmlformats.org/officeDocument/2006/math">
                    <m:acc>
                      <m:accPr>
                        <m:chr m:val="̅"/>
                        <m:ctrlPr>
                          <a:rPr lang="zh-CN" altLang="en-US" b="1" i="1" smtClean="0">
                            <a:solidFill>
                              <a:srgbClr val="0000CC"/>
                            </a:solidFill>
                            <a:latin typeface="Cambria Math" panose="02040503050406030204" pitchFamily="18" charset="0"/>
                          </a:rPr>
                        </m:ctrlPr>
                      </m:accPr>
                      <m:e>
                        <m:r>
                          <a:rPr lang="en-US" altLang="zh-CN" b="1" i="1">
                            <a:solidFill>
                              <a:srgbClr val="0000CC"/>
                            </a:solidFill>
                            <a:latin typeface="Cambria Math" panose="02040503050406030204" pitchFamily="18" charset="0"/>
                          </a:rPr>
                          <m:t>𝑺</m:t>
                        </m:r>
                      </m:e>
                    </m:acc>
                    <m:r>
                      <a:rPr lang="en-US" altLang="zh-CN" b="1" i="1" baseline="-25000">
                        <a:solidFill>
                          <a:srgbClr val="0000CC"/>
                        </a:solidFill>
                        <a:latin typeface="Cambria Math" panose="02040503050406030204" pitchFamily="18" charset="0"/>
                      </a:rPr>
                      <m:t>𝑫</m:t>
                    </m:r>
                    <m:r>
                      <a:rPr lang="en-US" altLang="zh-CN" b="1" i="0" baseline="-25000" smtClean="0">
                        <a:solidFill>
                          <a:srgbClr val="0000CC"/>
                        </a:solidFill>
                        <a:latin typeface="Cambria Math" panose="02040503050406030204" pitchFamily="18" charset="0"/>
                      </a:rPr>
                      <m:t> </m:t>
                    </m:r>
                  </m:oMath>
                </a14:m>
                <a:r>
                  <a:rPr lang="en-US" altLang="zh-CN" b="1" dirty="0" smtClean="0">
                    <a:solidFill>
                      <a:srgbClr val="0000CC"/>
                    </a:solidFill>
                  </a:rPr>
                  <a:t>=0 </a:t>
                </a:r>
                <a14:m>
                  <m:oMath xmlns:m="http://schemas.openxmlformats.org/officeDocument/2006/math">
                    <m:acc>
                      <m:accPr>
                        <m:chr m:val="̅"/>
                        <m:ctrlPr>
                          <a:rPr lang="zh-CN" altLang="en-US" b="1" i="1">
                            <a:solidFill>
                              <a:srgbClr val="0000CC"/>
                            </a:solidFill>
                            <a:latin typeface="Cambria Math" panose="02040503050406030204" pitchFamily="18" charset="0"/>
                          </a:rPr>
                        </m:ctrlPr>
                      </m:accPr>
                      <m:e>
                        <m:r>
                          <m:rPr>
                            <m:sty m:val="p"/>
                          </m:rPr>
                          <a:rPr lang="en-US" altLang="zh-CN" b="1" i="1" smtClean="0">
                            <a:solidFill>
                              <a:srgbClr val="0000CC"/>
                            </a:solidFill>
                            <a:latin typeface="Cambria Math" panose="02040503050406030204" pitchFamily="18" charset="0"/>
                          </a:rPr>
                          <m:t>R</m:t>
                        </m:r>
                      </m:e>
                    </m:acc>
                    <m:r>
                      <a:rPr lang="en-US" altLang="zh-CN" b="1" i="1" baseline="-25000">
                        <a:solidFill>
                          <a:srgbClr val="0000CC"/>
                        </a:solidFill>
                        <a:latin typeface="Cambria Math" panose="02040503050406030204" pitchFamily="18" charset="0"/>
                      </a:rPr>
                      <m:t>𝑫</m:t>
                    </m:r>
                  </m:oMath>
                </a14:m>
                <a:r>
                  <a:rPr lang="en-US" altLang="zh-CN" b="1" dirty="0" smtClean="0">
                    <a:solidFill>
                      <a:srgbClr val="0000CC"/>
                    </a:solidFill>
                  </a:rPr>
                  <a:t>=1 Q=1</a:t>
                </a:r>
                <a:endParaRPr lang="en-US" altLang="zh-CN" b="1" dirty="0">
                  <a:solidFill>
                    <a:srgbClr val="0000CC"/>
                  </a:solidFill>
                </a:endParaRPr>
              </a:p>
            </p:txBody>
          </p:sp>
        </mc:Choice>
        <mc:Fallback>
          <p:sp>
            <p:nvSpPr>
              <p:cNvPr id="10" name="矩形 9"/>
              <p:cNvSpPr>
                <a:spLocks noRot="1" noChangeAspect="1" noMove="1" noResize="1" noEditPoints="1" noAdjustHandles="1" noChangeArrowheads="1" noChangeShapeType="1" noTextEdit="1"/>
              </p:cNvSpPr>
              <p:nvPr/>
            </p:nvSpPr>
            <p:spPr>
              <a:xfrm>
                <a:off x="5521351" y="4576495"/>
                <a:ext cx="2045753" cy="508729"/>
              </a:xfrm>
              <a:prstGeom prst="rect">
                <a:avLst/>
              </a:prstGeom>
              <a:blipFill rotWithShape="0">
                <a:blip r:embed="rId5" cstate="print"/>
                <a:stretch>
                  <a:fillRect r="-1791" b="-843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xmlns="" Requires="a14">
          <p:sp>
            <p:nvSpPr>
              <p:cNvPr id="14" name="矩形 13"/>
              <p:cNvSpPr/>
              <p:nvPr/>
            </p:nvSpPr>
            <p:spPr>
              <a:xfrm>
                <a:off x="5521351" y="5072970"/>
                <a:ext cx="2045753" cy="508729"/>
              </a:xfrm>
              <a:prstGeom prst="rect">
                <a:avLst/>
              </a:prstGeom>
            </p:spPr>
            <p:txBody>
              <a:bodyPr wrap="none">
                <a:spAutoFit/>
              </a:bodyPr>
              <a:lstStyle/>
              <a:p>
                <a:pPr>
                  <a:lnSpc>
                    <a:spcPct val="150000"/>
                  </a:lnSpc>
                </a:pPr>
                <a14:m>
                  <m:oMath xmlns:m="http://schemas.openxmlformats.org/officeDocument/2006/math">
                    <m:acc>
                      <m:accPr>
                        <m:chr m:val="̅"/>
                        <m:ctrlPr>
                          <a:rPr lang="zh-CN" altLang="en-US" b="1" i="1" smtClean="0">
                            <a:solidFill>
                              <a:srgbClr val="0000CC"/>
                            </a:solidFill>
                            <a:latin typeface="Cambria Math" panose="02040503050406030204" pitchFamily="18" charset="0"/>
                          </a:rPr>
                        </m:ctrlPr>
                      </m:accPr>
                      <m:e>
                        <m:r>
                          <a:rPr lang="en-US" altLang="zh-CN" b="1" i="1">
                            <a:solidFill>
                              <a:srgbClr val="0000CC"/>
                            </a:solidFill>
                            <a:latin typeface="Cambria Math" panose="02040503050406030204" pitchFamily="18" charset="0"/>
                          </a:rPr>
                          <m:t>𝑺</m:t>
                        </m:r>
                      </m:e>
                    </m:acc>
                    <m:r>
                      <a:rPr lang="en-US" altLang="zh-CN" b="1" i="1" baseline="-25000">
                        <a:solidFill>
                          <a:srgbClr val="0000CC"/>
                        </a:solidFill>
                        <a:latin typeface="Cambria Math" panose="02040503050406030204" pitchFamily="18" charset="0"/>
                      </a:rPr>
                      <m:t>𝑫</m:t>
                    </m:r>
                    <m:r>
                      <a:rPr lang="en-US" altLang="zh-CN" b="1" i="0" baseline="-25000" smtClean="0">
                        <a:solidFill>
                          <a:srgbClr val="0000CC"/>
                        </a:solidFill>
                        <a:latin typeface="Cambria Math" panose="02040503050406030204" pitchFamily="18" charset="0"/>
                      </a:rPr>
                      <m:t> </m:t>
                    </m:r>
                  </m:oMath>
                </a14:m>
                <a:r>
                  <a:rPr lang="en-US" altLang="zh-CN" b="1" dirty="0" smtClean="0">
                    <a:solidFill>
                      <a:srgbClr val="0000CC"/>
                    </a:solidFill>
                  </a:rPr>
                  <a:t>=1 </a:t>
                </a:r>
                <a14:m>
                  <m:oMath xmlns:m="http://schemas.openxmlformats.org/officeDocument/2006/math">
                    <m:acc>
                      <m:accPr>
                        <m:chr m:val="̅"/>
                        <m:ctrlPr>
                          <a:rPr lang="zh-CN" altLang="en-US" b="1" i="1">
                            <a:solidFill>
                              <a:srgbClr val="0000CC"/>
                            </a:solidFill>
                            <a:latin typeface="Cambria Math" panose="02040503050406030204" pitchFamily="18" charset="0"/>
                          </a:rPr>
                        </m:ctrlPr>
                      </m:accPr>
                      <m:e>
                        <m:r>
                          <m:rPr>
                            <m:sty m:val="p"/>
                          </m:rPr>
                          <a:rPr lang="en-US" altLang="zh-CN" b="1" i="1" smtClean="0">
                            <a:solidFill>
                              <a:srgbClr val="0000CC"/>
                            </a:solidFill>
                            <a:latin typeface="Cambria Math" panose="02040503050406030204" pitchFamily="18" charset="0"/>
                          </a:rPr>
                          <m:t>R</m:t>
                        </m:r>
                      </m:e>
                    </m:acc>
                    <m:r>
                      <a:rPr lang="en-US" altLang="zh-CN" b="1" i="1" baseline="-25000">
                        <a:solidFill>
                          <a:srgbClr val="0000CC"/>
                        </a:solidFill>
                        <a:latin typeface="Cambria Math" panose="02040503050406030204" pitchFamily="18" charset="0"/>
                      </a:rPr>
                      <m:t>𝑫</m:t>
                    </m:r>
                  </m:oMath>
                </a14:m>
                <a:r>
                  <a:rPr lang="en-US" altLang="zh-CN" b="1" dirty="0" smtClean="0">
                    <a:solidFill>
                      <a:srgbClr val="0000CC"/>
                    </a:solidFill>
                  </a:rPr>
                  <a:t>=0 Q=0</a:t>
                </a:r>
                <a:endParaRPr lang="en-US" altLang="zh-CN" b="1" dirty="0">
                  <a:solidFill>
                    <a:srgbClr val="0000CC"/>
                  </a:solidFill>
                </a:endParaRPr>
              </a:p>
            </p:txBody>
          </p:sp>
        </mc:Choice>
        <mc:Fallback>
          <p:sp>
            <p:nvSpPr>
              <p:cNvPr id="14" name="矩形 13"/>
              <p:cNvSpPr>
                <a:spLocks noRot="1" noChangeAspect="1" noMove="1" noResize="1" noEditPoints="1" noAdjustHandles="1" noChangeArrowheads="1" noChangeShapeType="1" noTextEdit="1"/>
              </p:cNvSpPr>
              <p:nvPr/>
            </p:nvSpPr>
            <p:spPr>
              <a:xfrm>
                <a:off x="5521351" y="5072970"/>
                <a:ext cx="2045753" cy="508729"/>
              </a:xfrm>
              <a:prstGeom prst="rect">
                <a:avLst/>
              </a:prstGeom>
              <a:blipFill rotWithShape="0">
                <a:blip r:embed="rId6" cstate="print"/>
                <a:stretch>
                  <a:fillRect r="-1791" b="-7143"/>
                </a:stretch>
              </a:blipFill>
            </p:spPr>
            <p:txBody>
              <a:bodyPr/>
              <a:lstStyle/>
              <a:p>
                <a:r>
                  <a:rPr lang="zh-CN" altLang="en-US">
                    <a:noFill/>
                  </a:rPr>
                  <a:t> </a:t>
                </a:r>
              </a:p>
            </p:txBody>
          </p:sp>
        </mc:Fallback>
      </mc:AlternateContent>
      <p:sp>
        <p:nvSpPr>
          <p:cNvPr id="15" name="右大括号 14"/>
          <p:cNvSpPr/>
          <p:nvPr/>
        </p:nvSpPr>
        <p:spPr bwMode="auto">
          <a:xfrm>
            <a:off x="7956376" y="3465781"/>
            <a:ext cx="144016" cy="683299"/>
          </a:xfrm>
          <a:prstGeom prst="rightBrace">
            <a:avLst/>
          </a:prstGeom>
          <a:noFill/>
          <a:ln w="19050" cap="flat" cmpd="sng" algn="ctr">
            <a:solidFill>
              <a:schemeClr val="tx1"/>
            </a:solidFill>
            <a:prstDash val="solid"/>
            <a:miter lim="800000"/>
            <a:headEnd type="none" w="med" len="med"/>
            <a:tailEnd type="none" w="med" len="med"/>
          </a:ln>
        </p:spPr>
        <p:txBody>
          <a:bodyPr vert="horz" wrap="square" lIns="90000" tIns="46800" rIns="90000" bIns="4680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36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endParaRPr>
          </a:p>
        </p:txBody>
      </p:sp>
      <p:sp>
        <p:nvSpPr>
          <p:cNvPr id="17" name="标题 1"/>
          <p:cNvSpPr>
            <a:spLocks noGrp="1"/>
          </p:cNvSpPr>
          <p:nvPr>
            <p:ph type="title"/>
          </p:nvPr>
        </p:nvSpPr>
        <p:spPr>
          <a:xfrm>
            <a:off x="1187624" y="1052736"/>
            <a:ext cx="7756351" cy="635794"/>
          </a:xfrm>
        </p:spPr>
        <p:txBody>
          <a:bodyPr/>
          <a:lstStyle/>
          <a:p>
            <a:r>
              <a:rPr lang="en-US" altLang="zh-CN" dirty="0" smtClean="0"/>
              <a:t>5.2.2 </a:t>
            </a:r>
            <a:r>
              <a:rPr lang="zh-CN" altLang="en-US" dirty="0" smtClean="0"/>
              <a:t>主从</a:t>
            </a:r>
            <a:r>
              <a:rPr lang="en-US" altLang="zh-CN" dirty="0" smtClean="0"/>
              <a:t>JK</a:t>
            </a:r>
            <a:r>
              <a:rPr lang="zh-CN" altLang="en-US" dirty="0" smtClean="0"/>
              <a:t>触发器</a:t>
            </a:r>
            <a:endParaRPr lang="zh-CN" altLang="en-US" dirty="0"/>
          </a:p>
        </p:txBody>
      </p:sp>
      <p:sp>
        <p:nvSpPr>
          <p:cNvPr id="18" name="标题 1"/>
          <p:cNvSpPr txBox="1">
            <a:spLocks/>
          </p:cNvSpPr>
          <p:nvPr/>
        </p:nvSpPr>
        <p:spPr bwMode="auto">
          <a:xfrm>
            <a:off x="1187624" y="332656"/>
            <a:ext cx="7632848" cy="5669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5.2 </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脉冲</a:t>
            </a:r>
            <a:r>
              <a:rPr kumimoji="1" lang="zh-CN" altLang="en-US" sz="3200" b="1" kern="0" dirty="0" smtClean="0">
                <a:solidFill>
                  <a:schemeClr val="tx2"/>
                </a:solidFill>
                <a:latin typeface="+mj-lt"/>
                <a:ea typeface="+mj-ea"/>
                <a:cs typeface="+mj-cs"/>
              </a:rPr>
              <a:t>触发的</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触发器</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spTree>
    <p:extLst>
      <p:ext uri="{BB962C8B-B14F-4D97-AF65-F5344CB8AC3E}">
        <p14:creationId xmlns:p14="http://schemas.microsoft.com/office/powerpoint/2010/main" xmlns="" val="1513210016"/>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idx="1"/>
          </p:nvPr>
        </p:nvSpPr>
        <p:spPr>
          <a:xfrm>
            <a:off x="395536" y="1916832"/>
            <a:ext cx="8487544" cy="4608512"/>
          </a:xfrm>
        </p:spPr>
        <p:txBody>
          <a:bodyPr/>
          <a:lstStyle/>
          <a:p>
            <a:pPr>
              <a:buSzPct val="100000"/>
              <a:buFont typeface="Wingdings" pitchFamily="2" charset="2"/>
              <a:buChar char="p"/>
            </a:pPr>
            <a:r>
              <a:rPr lang="zh-CN" altLang="en-US" sz="2800" dirty="0" smtClean="0"/>
              <a:t> 触发器的直接输入</a:t>
            </a:r>
            <a:endParaRPr lang="zh-CN" altLang="en-US" sz="2800" dirty="0"/>
          </a:p>
        </p:txBody>
      </p:sp>
      <p:sp>
        <p:nvSpPr>
          <p:cNvPr id="8" name="矩形 7"/>
          <p:cNvSpPr/>
          <p:nvPr/>
        </p:nvSpPr>
        <p:spPr>
          <a:xfrm>
            <a:off x="1187624" y="2420888"/>
            <a:ext cx="6768752" cy="369332"/>
          </a:xfrm>
          <a:prstGeom prst="rect">
            <a:avLst/>
          </a:prstGeom>
        </p:spPr>
        <p:txBody>
          <a:bodyPr wrap="square">
            <a:spAutoFit/>
          </a:bodyPr>
          <a:lstStyle/>
          <a:p>
            <a:r>
              <a:rPr lang="zh-CN" altLang="en-US" b="1" dirty="0">
                <a:solidFill>
                  <a:srgbClr val="FF0000"/>
                </a:solidFill>
                <a:latin typeface="宋体" panose="02010600030101010101" pitchFamily="2" charset="-122"/>
                <a:ea typeface="宋体" panose="02010600030101010101" pitchFamily="2" charset="-122"/>
              </a:rPr>
              <a:t>异步输入强制触发器的状态，绝对优先，与</a:t>
            </a:r>
            <a:r>
              <a:rPr lang="en-US" altLang="zh-CN" b="1" i="1" dirty="0" smtClean="0">
                <a:solidFill>
                  <a:srgbClr val="FF0000"/>
                </a:solidFill>
                <a:latin typeface="TimesNewRomanPS-BoldItalicMT"/>
                <a:ea typeface="宋体" panose="02010600030101010101" pitchFamily="2" charset="-122"/>
              </a:rPr>
              <a:t>J</a:t>
            </a:r>
            <a:r>
              <a:rPr lang="en-US" altLang="zh-CN" b="1" dirty="0" smtClean="0">
                <a:solidFill>
                  <a:srgbClr val="FF0000"/>
                </a:solidFill>
                <a:latin typeface="TimesNewRomanPS-BoldMT"/>
                <a:ea typeface="宋体" panose="02010600030101010101" pitchFamily="2" charset="-122"/>
              </a:rPr>
              <a:t>,</a:t>
            </a:r>
            <a:r>
              <a:rPr lang="en-US" altLang="zh-CN" b="1" i="1" dirty="0" smtClean="0">
                <a:solidFill>
                  <a:srgbClr val="FF0000"/>
                </a:solidFill>
                <a:latin typeface="TimesNewRomanPS-BoldItalicMT"/>
                <a:ea typeface="宋体" panose="02010600030101010101" pitchFamily="2" charset="-122"/>
              </a:rPr>
              <a:t>K</a:t>
            </a:r>
            <a:r>
              <a:rPr lang="en-US" altLang="zh-CN" b="1" dirty="0">
                <a:solidFill>
                  <a:srgbClr val="FF0000"/>
                </a:solidFill>
                <a:latin typeface="TimesNewRomanPS-BoldMT"/>
                <a:ea typeface="宋体" panose="02010600030101010101" pitchFamily="2" charset="-122"/>
              </a:rPr>
              <a:t>, </a:t>
            </a:r>
            <a:r>
              <a:rPr lang="en-US" altLang="zh-CN" b="1" i="1" dirty="0">
                <a:solidFill>
                  <a:srgbClr val="FF0000"/>
                </a:solidFill>
                <a:latin typeface="TimesNewRomanPS-BoldItalicMT"/>
                <a:ea typeface="宋体" panose="02010600030101010101" pitchFamily="2" charset="-122"/>
              </a:rPr>
              <a:t>CLK </a:t>
            </a:r>
            <a:r>
              <a:rPr lang="zh-CN" altLang="en-US" b="1" dirty="0">
                <a:solidFill>
                  <a:srgbClr val="FF0000"/>
                </a:solidFill>
                <a:latin typeface="宋体" panose="02010600030101010101" pitchFamily="2" charset="-122"/>
                <a:ea typeface="宋体" panose="02010600030101010101" pitchFamily="2" charset="-122"/>
              </a:rPr>
              <a:t>等信号无关。</a:t>
            </a:r>
            <a:endParaRPr lang="zh-CN" altLang="en-US" b="1" dirty="0"/>
          </a:p>
        </p:txBody>
      </p:sp>
      <p:pic>
        <p:nvPicPr>
          <p:cNvPr id="16" name="图片 15"/>
          <p:cNvPicPr>
            <a:picLocks noChangeAspect="1"/>
          </p:cNvPicPr>
          <p:nvPr/>
        </p:nvPicPr>
        <p:blipFill>
          <a:blip r:embed="rId2" cstate="print"/>
          <a:stretch>
            <a:fillRect/>
          </a:stretch>
        </p:blipFill>
        <p:spPr>
          <a:xfrm>
            <a:off x="5574429" y="3347106"/>
            <a:ext cx="2708336" cy="987109"/>
          </a:xfrm>
          <a:prstGeom prst="rect">
            <a:avLst/>
          </a:prstGeom>
        </p:spPr>
      </p:pic>
      <p:pic>
        <p:nvPicPr>
          <p:cNvPr id="17" name="图片 16"/>
          <p:cNvPicPr>
            <a:picLocks noChangeAspect="1"/>
          </p:cNvPicPr>
          <p:nvPr/>
        </p:nvPicPr>
        <p:blipFill>
          <a:blip r:embed="rId3" cstate="print"/>
          <a:stretch>
            <a:fillRect/>
          </a:stretch>
        </p:blipFill>
        <p:spPr>
          <a:xfrm>
            <a:off x="2142466" y="4923338"/>
            <a:ext cx="2083245" cy="1844592"/>
          </a:xfrm>
          <a:prstGeom prst="rect">
            <a:avLst/>
          </a:prstGeom>
        </p:spPr>
      </p:pic>
      <p:pic>
        <p:nvPicPr>
          <p:cNvPr id="18" name="图片 17"/>
          <p:cNvPicPr>
            <a:picLocks noChangeAspect="1"/>
          </p:cNvPicPr>
          <p:nvPr/>
        </p:nvPicPr>
        <p:blipFill>
          <a:blip r:embed="rId4" cstate="print"/>
          <a:stretch>
            <a:fillRect/>
          </a:stretch>
        </p:blipFill>
        <p:spPr>
          <a:xfrm>
            <a:off x="5056389" y="4880385"/>
            <a:ext cx="1872208" cy="1930498"/>
          </a:xfrm>
          <a:prstGeom prst="rect">
            <a:avLst/>
          </a:prstGeom>
        </p:spPr>
      </p:pic>
      <p:sp>
        <p:nvSpPr>
          <p:cNvPr id="10" name="标题 1"/>
          <p:cNvSpPr>
            <a:spLocks noGrp="1"/>
          </p:cNvSpPr>
          <p:nvPr>
            <p:ph type="title"/>
          </p:nvPr>
        </p:nvSpPr>
        <p:spPr>
          <a:xfrm>
            <a:off x="1187624" y="1052736"/>
            <a:ext cx="7756351" cy="635794"/>
          </a:xfrm>
        </p:spPr>
        <p:txBody>
          <a:bodyPr/>
          <a:lstStyle/>
          <a:p>
            <a:r>
              <a:rPr lang="en-US" altLang="zh-CN" dirty="0" smtClean="0"/>
              <a:t>5.2.2 </a:t>
            </a:r>
            <a:r>
              <a:rPr lang="zh-CN" altLang="en-US" dirty="0" smtClean="0"/>
              <a:t>主从</a:t>
            </a:r>
            <a:r>
              <a:rPr lang="en-US" altLang="zh-CN" dirty="0" smtClean="0"/>
              <a:t>JK</a:t>
            </a:r>
            <a:r>
              <a:rPr lang="zh-CN" altLang="en-US" dirty="0" smtClean="0"/>
              <a:t>触发器</a:t>
            </a:r>
            <a:endParaRPr lang="zh-CN" altLang="en-US" dirty="0"/>
          </a:p>
        </p:txBody>
      </p:sp>
      <p:sp>
        <p:nvSpPr>
          <p:cNvPr id="12" name="标题 1"/>
          <p:cNvSpPr txBox="1">
            <a:spLocks/>
          </p:cNvSpPr>
          <p:nvPr/>
        </p:nvSpPr>
        <p:spPr bwMode="auto">
          <a:xfrm>
            <a:off x="1187624" y="332656"/>
            <a:ext cx="7632848" cy="5669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5.2 </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脉冲</a:t>
            </a:r>
            <a:r>
              <a:rPr kumimoji="1" lang="zh-CN" altLang="en-US" sz="3200" b="1" kern="0" dirty="0" smtClean="0">
                <a:solidFill>
                  <a:schemeClr val="tx2"/>
                </a:solidFill>
                <a:latin typeface="+mj-lt"/>
                <a:ea typeface="+mj-ea"/>
                <a:cs typeface="+mj-cs"/>
              </a:rPr>
              <a:t>触发的</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触发器</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pic>
        <p:nvPicPr>
          <p:cNvPr id="228354" name="Picture 2"/>
          <p:cNvPicPr>
            <a:picLocks noChangeAspect="1" noChangeArrowheads="1"/>
          </p:cNvPicPr>
          <p:nvPr/>
        </p:nvPicPr>
        <p:blipFill>
          <a:blip r:embed="rId5" cstate="print"/>
          <a:srcRect/>
          <a:stretch>
            <a:fillRect/>
          </a:stretch>
        </p:blipFill>
        <p:spPr bwMode="auto">
          <a:xfrm>
            <a:off x="1115616" y="2852936"/>
            <a:ext cx="4076700" cy="2038350"/>
          </a:xfrm>
          <a:prstGeom prst="rect">
            <a:avLst/>
          </a:prstGeom>
          <a:noFill/>
          <a:ln w="9525">
            <a:noFill/>
            <a:miter lim="800000"/>
            <a:headEnd/>
            <a:tailEnd/>
          </a:ln>
        </p:spPr>
      </p:pic>
    </p:spTree>
    <p:extLst>
      <p:ext uri="{BB962C8B-B14F-4D97-AF65-F5344CB8AC3E}">
        <p14:creationId xmlns:p14="http://schemas.microsoft.com/office/powerpoint/2010/main" xmlns="" val="3251275497"/>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idx="1"/>
          </p:nvPr>
        </p:nvSpPr>
        <p:spPr>
          <a:xfrm>
            <a:off x="395536" y="1988840"/>
            <a:ext cx="8487544" cy="4608512"/>
          </a:xfrm>
        </p:spPr>
        <p:txBody>
          <a:bodyPr/>
          <a:lstStyle/>
          <a:p>
            <a:pPr>
              <a:lnSpc>
                <a:spcPct val="100000"/>
              </a:lnSpc>
              <a:spcBef>
                <a:spcPts val="600"/>
              </a:spcBef>
              <a:buSzPct val="100000"/>
              <a:buFont typeface="Wingdings" pitchFamily="2" charset="2"/>
              <a:buChar char="p"/>
            </a:pPr>
            <a:r>
              <a:rPr lang="zh-CN" altLang="en-US" sz="2800" dirty="0"/>
              <a:t>主从JK触发器的</a:t>
            </a:r>
            <a:r>
              <a:rPr lang="zh-CN" altLang="en-US" sz="2800" dirty="0">
                <a:solidFill>
                  <a:srgbClr val="FF0000"/>
                </a:solidFill>
              </a:rPr>
              <a:t>一次变化现象说明触发器在CP作用期间对J、K的变化是敏感的</a:t>
            </a:r>
            <a:r>
              <a:rPr lang="zh-CN" altLang="en-US" sz="2800" dirty="0"/>
              <a:t>。干扰信号是造成J、K变化的重要原因。在CP作用期间，干扰信号相当于窄脉冲作用于J或K端，引起主触发器状态改变，主触发器记忆了干扰信号，使得</a:t>
            </a:r>
            <a:r>
              <a:rPr lang="zh-CN" altLang="en-US" sz="2800" dirty="0">
                <a:solidFill>
                  <a:srgbClr val="FF0000"/>
                </a:solidFill>
              </a:rPr>
              <a:t>主从JK触发器抗干扰能力变差</a:t>
            </a:r>
            <a:r>
              <a:rPr lang="zh-CN" altLang="en-US" sz="2800" dirty="0"/>
              <a:t>。</a:t>
            </a:r>
          </a:p>
          <a:p>
            <a:pPr>
              <a:lnSpc>
                <a:spcPct val="100000"/>
              </a:lnSpc>
              <a:spcBef>
                <a:spcPts val="600"/>
              </a:spcBef>
              <a:buSzPct val="100000"/>
              <a:buFont typeface="Wingdings" pitchFamily="2" charset="2"/>
              <a:buChar char="p"/>
            </a:pPr>
            <a:r>
              <a:rPr lang="zh-CN" altLang="en-US" sz="2800" dirty="0"/>
              <a:t>从本小节可知：</a:t>
            </a:r>
          </a:p>
          <a:p>
            <a:pPr lvl="1">
              <a:lnSpc>
                <a:spcPct val="100000"/>
              </a:lnSpc>
              <a:spcBef>
                <a:spcPts val="0"/>
              </a:spcBef>
              <a:buSzPct val="100000"/>
            </a:pPr>
            <a:r>
              <a:rPr lang="zh-CN" altLang="en-US" sz="2400" dirty="0"/>
              <a:t>1、主从触发器状态的改变是在</a:t>
            </a:r>
            <a:r>
              <a:rPr lang="zh-CN" altLang="en-US" sz="2400" dirty="0">
                <a:solidFill>
                  <a:srgbClr val="0000CC"/>
                </a:solidFill>
              </a:rPr>
              <a:t>CP下降沿</a:t>
            </a:r>
            <a:r>
              <a:rPr lang="zh-CN" altLang="en-US" sz="2400" dirty="0"/>
              <a:t>完成的，因而这种结构</a:t>
            </a:r>
            <a:r>
              <a:rPr lang="zh-CN" altLang="en-US" sz="2400" dirty="0">
                <a:solidFill>
                  <a:srgbClr val="0000CC"/>
                </a:solidFill>
              </a:rPr>
              <a:t>无空翻现象</a:t>
            </a:r>
            <a:r>
              <a:rPr lang="zh-CN" altLang="en-US" sz="2400" dirty="0"/>
              <a:t>；</a:t>
            </a:r>
          </a:p>
          <a:p>
            <a:pPr lvl="1">
              <a:lnSpc>
                <a:spcPct val="100000"/>
              </a:lnSpc>
              <a:spcBef>
                <a:spcPts val="0"/>
              </a:spcBef>
              <a:buSzPct val="100000"/>
            </a:pPr>
            <a:r>
              <a:rPr lang="zh-CN" altLang="en-US" sz="2400" dirty="0"/>
              <a:t>2、主从触发器在CP=1期间</a:t>
            </a:r>
            <a:r>
              <a:rPr lang="zh-CN" altLang="en-US" sz="2400" dirty="0">
                <a:solidFill>
                  <a:srgbClr val="0000CC"/>
                </a:solidFill>
              </a:rPr>
              <a:t>无法抗干扰</a:t>
            </a:r>
            <a:r>
              <a:rPr lang="zh-CN" altLang="en-US" sz="2400" dirty="0"/>
              <a:t>，为克服这一缺点，又</a:t>
            </a:r>
            <a:r>
              <a:rPr lang="zh-CN" altLang="en-US" sz="2400" dirty="0">
                <a:solidFill>
                  <a:srgbClr val="FF0000"/>
                </a:solidFill>
              </a:rPr>
              <a:t>出现了边沿触发器</a:t>
            </a:r>
            <a:r>
              <a:rPr lang="zh-CN" altLang="en-US" sz="2400" dirty="0"/>
              <a:t>。</a:t>
            </a:r>
          </a:p>
        </p:txBody>
      </p:sp>
      <p:sp>
        <p:nvSpPr>
          <p:cNvPr id="3" name="灯片编号占位符 2"/>
          <p:cNvSpPr>
            <a:spLocks noGrp="1"/>
          </p:cNvSpPr>
          <p:nvPr>
            <p:ph type="sldNum" sz="quarter" idx="12"/>
          </p:nvPr>
        </p:nvSpPr>
        <p:spPr/>
        <p:txBody>
          <a:bodyPr/>
          <a:lstStyle/>
          <a:p>
            <a:fld id="{0C913308-F349-4B6D-A68A-DD1791B4A57B}" type="slidenum">
              <a:rPr lang="zh-CN" altLang="en-US" smtClean="0"/>
              <a:pPr/>
              <a:t>64</a:t>
            </a:fld>
            <a:endParaRPr lang="zh-CN" altLang="en-US"/>
          </a:p>
        </p:txBody>
      </p:sp>
      <p:sp>
        <p:nvSpPr>
          <p:cNvPr id="7" name="标题 1"/>
          <p:cNvSpPr>
            <a:spLocks noGrp="1"/>
          </p:cNvSpPr>
          <p:nvPr>
            <p:ph type="title"/>
          </p:nvPr>
        </p:nvSpPr>
        <p:spPr>
          <a:xfrm>
            <a:off x="1187624" y="1052736"/>
            <a:ext cx="7756351" cy="635794"/>
          </a:xfrm>
        </p:spPr>
        <p:txBody>
          <a:bodyPr/>
          <a:lstStyle/>
          <a:p>
            <a:r>
              <a:rPr lang="en-US" altLang="zh-CN" dirty="0" smtClean="0"/>
              <a:t>5.2.2 </a:t>
            </a:r>
            <a:r>
              <a:rPr lang="zh-CN" altLang="en-US" dirty="0" smtClean="0"/>
              <a:t>主从</a:t>
            </a:r>
            <a:r>
              <a:rPr lang="en-US" altLang="zh-CN" dirty="0" smtClean="0"/>
              <a:t>JK</a:t>
            </a:r>
            <a:r>
              <a:rPr lang="zh-CN" altLang="en-US" dirty="0" smtClean="0"/>
              <a:t>触发器</a:t>
            </a:r>
            <a:endParaRPr lang="zh-CN" altLang="en-US" dirty="0"/>
          </a:p>
        </p:txBody>
      </p:sp>
      <p:sp>
        <p:nvSpPr>
          <p:cNvPr id="8" name="标题 1"/>
          <p:cNvSpPr txBox="1">
            <a:spLocks/>
          </p:cNvSpPr>
          <p:nvPr/>
        </p:nvSpPr>
        <p:spPr bwMode="auto">
          <a:xfrm>
            <a:off x="1187624" y="332656"/>
            <a:ext cx="7632848" cy="5669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5.2 </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脉冲</a:t>
            </a:r>
            <a:r>
              <a:rPr kumimoji="1" lang="zh-CN" altLang="en-US" sz="3200" b="1" kern="0" dirty="0" smtClean="0">
                <a:solidFill>
                  <a:schemeClr val="tx2"/>
                </a:solidFill>
                <a:latin typeface="+mj-lt"/>
                <a:ea typeface="+mj-ea"/>
                <a:cs typeface="+mj-cs"/>
              </a:rPr>
              <a:t>触发的</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触发器</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95536" y="1988840"/>
            <a:ext cx="8424936" cy="4608512"/>
          </a:xfrm>
        </p:spPr>
        <p:txBody>
          <a:bodyPr/>
          <a:lstStyle/>
          <a:p>
            <a:pPr>
              <a:lnSpc>
                <a:spcPct val="100000"/>
              </a:lnSpc>
              <a:spcBef>
                <a:spcPts val="600"/>
              </a:spcBef>
              <a:buSzPct val="100000"/>
              <a:buFont typeface="Wingdings" pitchFamily="2" charset="2"/>
              <a:buChar char="p"/>
            </a:pPr>
            <a:r>
              <a:rPr lang="zh-CN" altLang="en-US" sz="2800" dirty="0"/>
              <a:t>边沿触发器（ </a:t>
            </a:r>
            <a:r>
              <a:rPr lang="en-US" altLang="zh-CN" sz="2800" dirty="0"/>
              <a:t>Edge-triggered Flip-flop </a:t>
            </a:r>
            <a:r>
              <a:rPr lang="zh-CN" altLang="en-US" sz="2800" dirty="0" smtClean="0"/>
              <a:t>）</a:t>
            </a:r>
            <a:endParaRPr lang="en-US" altLang="zh-CN" sz="2800" dirty="0" smtClean="0"/>
          </a:p>
          <a:p>
            <a:pPr lvl="1">
              <a:lnSpc>
                <a:spcPct val="100000"/>
              </a:lnSpc>
              <a:spcBef>
                <a:spcPts val="600"/>
              </a:spcBef>
              <a:buSzPct val="100000"/>
            </a:pPr>
            <a:r>
              <a:rPr lang="zh-CN" altLang="en-US" dirty="0"/>
              <a:t>为了提高触发器的可靠性，增强抗干扰能力，希望</a:t>
            </a:r>
            <a:r>
              <a:rPr lang="zh-CN" altLang="en-US" dirty="0">
                <a:solidFill>
                  <a:srgbClr val="0000CC"/>
                </a:solidFill>
              </a:rPr>
              <a:t>触发器的次态仅仅取决于</a:t>
            </a:r>
            <a:r>
              <a:rPr lang="en-US" altLang="zh-CN" dirty="0">
                <a:solidFill>
                  <a:srgbClr val="0000CC"/>
                </a:solidFill>
              </a:rPr>
              <a:t>CP</a:t>
            </a:r>
            <a:r>
              <a:rPr lang="zh-CN" altLang="en-US" dirty="0">
                <a:solidFill>
                  <a:srgbClr val="0000CC"/>
                </a:solidFill>
              </a:rPr>
              <a:t>信号下降沿（或上升沿）到达时刻输入信号的状态</a:t>
            </a:r>
            <a:r>
              <a:rPr lang="zh-CN" altLang="en-US" dirty="0" smtClean="0"/>
              <a:t>。</a:t>
            </a:r>
            <a:endParaRPr lang="en-US" altLang="zh-CN" dirty="0" smtClean="0"/>
          </a:p>
          <a:p>
            <a:pPr lvl="2">
              <a:lnSpc>
                <a:spcPct val="100000"/>
              </a:lnSpc>
              <a:spcBef>
                <a:spcPts val="600"/>
              </a:spcBef>
              <a:buSzPct val="100000"/>
              <a:buFont typeface="Wingdings" pitchFamily="2" charset="2"/>
              <a:buChar char="u"/>
            </a:pPr>
            <a:r>
              <a:rPr lang="zh-CN" altLang="en-US" dirty="0" smtClean="0"/>
              <a:t>维持</a:t>
            </a:r>
            <a:r>
              <a:rPr lang="zh-CN" altLang="en-US" dirty="0"/>
              <a:t>阻塞正</a:t>
            </a:r>
            <a:r>
              <a:rPr lang="zh-CN" altLang="en-US" dirty="0" smtClean="0"/>
              <a:t>边沿（上升沿）</a:t>
            </a:r>
            <a:r>
              <a:rPr lang="en-US" altLang="zh-CN" dirty="0" smtClean="0"/>
              <a:t>RS</a:t>
            </a:r>
            <a:r>
              <a:rPr lang="zh-CN" altLang="en-US" dirty="0"/>
              <a:t>触发器</a:t>
            </a:r>
          </a:p>
          <a:p>
            <a:pPr lvl="2">
              <a:lnSpc>
                <a:spcPct val="100000"/>
              </a:lnSpc>
              <a:spcBef>
                <a:spcPts val="600"/>
              </a:spcBef>
              <a:buSzPct val="100000"/>
              <a:buFont typeface="Wingdings" pitchFamily="2" charset="2"/>
              <a:buChar char="u"/>
            </a:pPr>
            <a:r>
              <a:rPr lang="zh-CN" altLang="en-US" dirty="0" smtClean="0"/>
              <a:t>维持</a:t>
            </a:r>
            <a:r>
              <a:rPr lang="zh-CN" altLang="en-US" dirty="0"/>
              <a:t>阻塞正</a:t>
            </a:r>
            <a:r>
              <a:rPr lang="zh-CN" altLang="en-US" dirty="0" smtClean="0"/>
              <a:t>边沿（上升沿） </a:t>
            </a:r>
            <a:r>
              <a:rPr lang="en-US" altLang="zh-CN" dirty="0" smtClean="0"/>
              <a:t>D</a:t>
            </a:r>
            <a:r>
              <a:rPr lang="zh-CN" altLang="en-US" dirty="0"/>
              <a:t>触发器</a:t>
            </a:r>
          </a:p>
          <a:p>
            <a:pPr lvl="2">
              <a:lnSpc>
                <a:spcPct val="100000"/>
              </a:lnSpc>
              <a:spcBef>
                <a:spcPts val="600"/>
              </a:spcBef>
              <a:buSzPct val="100000"/>
              <a:buFont typeface="Wingdings" pitchFamily="2" charset="2"/>
              <a:buChar char="u"/>
            </a:pPr>
            <a:r>
              <a:rPr lang="zh-CN" altLang="en-US" dirty="0" smtClean="0">
                <a:solidFill>
                  <a:srgbClr val="0000CC"/>
                </a:solidFill>
              </a:rPr>
              <a:t>利用</a:t>
            </a:r>
            <a:r>
              <a:rPr lang="zh-CN" altLang="en-US" dirty="0">
                <a:solidFill>
                  <a:srgbClr val="0000CC"/>
                </a:solidFill>
              </a:rPr>
              <a:t>传输延迟时间的负</a:t>
            </a:r>
            <a:r>
              <a:rPr lang="zh-CN" altLang="en-US" dirty="0" smtClean="0">
                <a:solidFill>
                  <a:srgbClr val="0000CC"/>
                </a:solidFill>
              </a:rPr>
              <a:t>边沿（下降沿）</a:t>
            </a:r>
            <a:r>
              <a:rPr lang="en-US" altLang="zh-CN" dirty="0" smtClean="0">
                <a:solidFill>
                  <a:srgbClr val="0000CC"/>
                </a:solidFill>
              </a:rPr>
              <a:t>JK</a:t>
            </a:r>
            <a:r>
              <a:rPr lang="zh-CN" altLang="en-US" dirty="0">
                <a:solidFill>
                  <a:srgbClr val="0000CC"/>
                </a:solidFill>
              </a:rPr>
              <a:t>触发器</a:t>
            </a:r>
          </a:p>
          <a:p>
            <a:pPr lvl="2">
              <a:lnSpc>
                <a:spcPct val="100000"/>
              </a:lnSpc>
              <a:spcBef>
                <a:spcPts val="600"/>
              </a:spcBef>
              <a:buSzPct val="100000"/>
              <a:buFont typeface="Wingdings" pitchFamily="2" charset="2"/>
              <a:buChar char="u"/>
            </a:pPr>
            <a:r>
              <a:rPr lang="zh-CN" altLang="en-US" dirty="0" smtClean="0"/>
              <a:t>利用</a:t>
            </a:r>
            <a:r>
              <a:rPr lang="en-US" altLang="zh-CN" dirty="0"/>
              <a:t>CMOS</a:t>
            </a:r>
            <a:r>
              <a:rPr lang="zh-CN" altLang="en-US" dirty="0"/>
              <a:t>传输门的</a:t>
            </a:r>
            <a:r>
              <a:rPr lang="zh-CN" altLang="en-US" dirty="0" smtClean="0"/>
              <a:t>上升沿</a:t>
            </a:r>
            <a:r>
              <a:rPr lang="en-US" altLang="zh-CN" dirty="0"/>
              <a:t>D</a:t>
            </a:r>
            <a:r>
              <a:rPr lang="zh-CN" altLang="en-US" dirty="0"/>
              <a:t>触发器</a:t>
            </a:r>
          </a:p>
          <a:p>
            <a:pPr lvl="2">
              <a:lnSpc>
                <a:spcPct val="100000"/>
              </a:lnSpc>
              <a:spcBef>
                <a:spcPts val="600"/>
              </a:spcBef>
              <a:buSzPct val="100000"/>
              <a:buFont typeface="Wingdings" pitchFamily="2" charset="2"/>
              <a:buChar char="u"/>
            </a:pPr>
            <a:r>
              <a:rPr lang="zh-CN" altLang="en-US" dirty="0" smtClean="0"/>
              <a:t>利用</a:t>
            </a:r>
            <a:r>
              <a:rPr lang="en-US" altLang="zh-CN" dirty="0"/>
              <a:t>CMOS</a:t>
            </a:r>
            <a:r>
              <a:rPr lang="zh-CN" altLang="en-US" dirty="0"/>
              <a:t>传输门的</a:t>
            </a:r>
            <a:r>
              <a:rPr lang="zh-CN" altLang="en-US" dirty="0" smtClean="0"/>
              <a:t>上升沿</a:t>
            </a:r>
            <a:r>
              <a:rPr lang="en-US" altLang="zh-CN" dirty="0"/>
              <a:t>JK</a:t>
            </a:r>
            <a:r>
              <a:rPr lang="zh-CN" altLang="en-US" dirty="0" smtClean="0"/>
              <a:t>触发器</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65</a:t>
            </a:fld>
            <a:endParaRPr lang="zh-CN" altLang="en-US"/>
          </a:p>
        </p:txBody>
      </p:sp>
      <p:sp>
        <p:nvSpPr>
          <p:cNvPr id="7" name="标题 1"/>
          <p:cNvSpPr txBox="1">
            <a:spLocks/>
          </p:cNvSpPr>
          <p:nvPr/>
        </p:nvSpPr>
        <p:spPr bwMode="auto">
          <a:xfrm>
            <a:off x="1259632" y="764704"/>
            <a:ext cx="7344816" cy="5669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5.3 </a:t>
            </a:r>
            <a:r>
              <a:rPr kumimoji="1" lang="zh-CN" altLang="en-US" sz="3200" b="1" kern="0" noProof="0" dirty="0" smtClean="0">
                <a:solidFill>
                  <a:schemeClr val="tx2"/>
                </a:solidFill>
                <a:latin typeface="+mj-lt"/>
                <a:ea typeface="+mj-ea"/>
                <a:cs typeface="+mj-cs"/>
              </a:rPr>
              <a:t>边沿</a:t>
            </a:r>
            <a:r>
              <a:rPr kumimoji="1" lang="zh-CN" altLang="en-US" sz="3200" b="1" kern="0" dirty="0" smtClean="0">
                <a:solidFill>
                  <a:schemeClr val="tx2"/>
                </a:solidFill>
                <a:latin typeface="+mj-lt"/>
                <a:ea typeface="+mj-ea"/>
                <a:cs typeface="+mj-cs"/>
              </a:rPr>
              <a:t>触发的</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触发器</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spTree>
    <p:extLst>
      <p:ext uri="{BB962C8B-B14F-4D97-AF65-F5344CB8AC3E}">
        <p14:creationId xmlns:p14="http://schemas.microsoft.com/office/powerpoint/2010/main" xmlns="" val="2924498815"/>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282" name="Picture 2"/>
          <p:cNvPicPr>
            <a:picLocks noChangeAspect="1" noChangeArrowheads="1"/>
          </p:cNvPicPr>
          <p:nvPr/>
        </p:nvPicPr>
        <p:blipFill>
          <a:blip r:embed="rId2" cstate="print"/>
          <a:srcRect/>
          <a:stretch>
            <a:fillRect/>
          </a:stretch>
        </p:blipFill>
        <p:spPr bwMode="auto">
          <a:xfrm>
            <a:off x="2843808" y="2492896"/>
            <a:ext cx="3961804" cy="4122304"/>
          </a:xfrm>
          <a:prstGeom prst="rect">
            <a:avLst/>
          </a:prstGeom>
          <a:noFill/>
          <a:ln w="9525">
            <a:noFill/>
            <a:miter lim="800000"/>
            <a:headEnd/>
            <a:tailEnd/>
          </a:ln>
        </p:spPr>
      </p:pic>
      <p:sp>
        <p:nvSpPr>
          <p:cNvPr id="3" name="内容占位符 2"/>
          <p:cNvSpPr>
            <a:spLocks noGrp="1"/>
          </p:cNvSpPr>
          <p:nvPr>
            <p:ph idx="1"/>
          </p:nvPr>
        </p:nvSpPr>
        <p:spPr>
          <a:xfrm>
            <a:off x="395536" y="1988840"/>
            <a:ext cx="8487544" cy="4752528"/>
          </a:xfrm>
        </p:spPr>
        <p:txBody>
          <a:bodyPr/>
          <a:lstStyle/>
          <a:p>
            <a:pPr>
              <a:buSzPct val="100000"/>
              <a:buFont typeface="Wingdings" pitchFamily="2" charset="2"/>
              <a:buChar char="p"/>
            </a:pPr>
            <a:r>
              <a:rPr lang="zh-CN" altLang="en-US" sz="2800" dirty="0"/>
              <a:t>维持阻塞结构正边沿</a:t>
            </a:r>
            <a:r>
              <a:rPr lang="en-US" altLang="zh-CN" sz="2800" dirty="0"/>
              <a:t>RS</a:t>
            </a:r>
            <a:r>
              <a:rPr lang="zh-CN" altLang="en-US" sz="2800" dirty="0"/>
              <a:t>触发器</a:t>
            </a:r>
          </a:p>
          <a:p>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66</a:t>
            </a:fld>
            <a:endParaRPr lang="zh-CN" altLang="en-US"/>
          </a:p>
        </p:txBody>
      </p:sp>
      <p:sp>
        <p:nvSpPr>
          <p:cNvPr id="7" name="AutoShape 9"/>
          <p:cNvSpPr>
            <a:spLocks noChangeArrowheads="1"/>
          </p:cNvSpPr>
          <p:nvPr/>
        </p:nvSpPr>
        <p:spPr bwMode="auto">
          <a:xfrm>
            <a:off x="827584" y="2636912"/>
            <a:ext cx="1800225" cy="504825"/>
          </a:xfrm>
          <a:prstGeom prst="wedgeRoundRectCallout">
            <a:avLst>
              <a:gd name="adj1" fmla="val 77299"/>
              <a:gd name="adj2" fmla="val 103446"/>
              <a:gd name="adj3" fmla="val 16667"/>
            </a:avLst>
          </a:prstGeom>
          <a:solidFill>
            <a:srgbClr val="ABFFFF"/>
          </a:solidFill>
          <a:ln w="28575">
            <a:solidFill>
              <a:srgbClr val="66FFFF"/>
            </a:solidFill>
            <a:miter lim="800000"/>
            <a:headEnd/>
            <a:tailEnd/>
          </a:ln>
          <a:effectLst/>
        </p:spPr>
        <p:txBody>
          <a:bodyPr/>
          <a:lstStyle/>
          <a:p>
            <a:pPr algn="ctr"/>
            <a:r>
              <a:rPr lang="zh-CN" altLang="en-US" sz="1800" b="1">
                <a:solidFill>
                  <a:srgbClr val="0000CC"/>
                </a:solidFill>
              </a:rPr>
              <a:t>置</a:t>
            </a:r>
            <a:r>
              <a:rPr lang="en-US" altLang="zh-CN" sz="1800" b="1">
                <a:solidFill>
                  <a:srgbClr val="0000CC"/>
                </a:solidFill>
              </a:rPr>
              <a:t>1</a:t>
            </a:r>
            <a:r>
              <a:rPr lang="zh-CN" altLang="en-US" sz="1800" b="1">
                <a:solidFill>
                  <a:srgbClr val="0000CC"/>
                </a:solidFill>
              </a:rPr>
              <a:t>维持线</a:t>
            </a:r>
          </a:p>
        </p:txBody>
      </p:sp>
      <p:sp>
        <p:nvSpPr>
          <p:cNvPr id="8" name="AutoShape 10"/>
          <p:cNvSpPr>
            <a:spLocks noChangeArrowheads="1"/>
          </p:cNvSpPr>
          <p:nvPr/>
        </p:nvSpPr>
        <p:spPr bwMode="auto">
          <a:xfrm>
            <a:off x="6012160" y="2564904"/>
            <a:ext cx="1620838" cy="504825"/>
          </a:xfrm>
          <a:prstGeom prst="wedgeRoundRectCallout">
            <a:avLst>
              <a:gd name="adj1" fmla="val -83792"/>
              <a:gd name="adj2" fmla="val 87421"/>
              <a:gd name="adj3" fmla="val 16667"/>
            </a:avLst>
          </a:prstGeom>
          <a:solidFill>
            <a:srgbClr val="ABFFFF"/>
          </a:solidFill>
          <a:ln w="28575">
            <a:solidFill>
              <a:srgbClr val="66FFFF"/>
            </a:solidFill>
            <a:miter lim="800000"/>
            <a:headEnd/>
            <a:tailEnd/>
          </a:ln>
          <a:effectLst/>
        </p:spPr>
        <p:txBody>
          <a:bodyPr/>
          <a:lstStyle/>
          <a:p>
            <a:pPr algn="ctr"/>
            <a:r>
              <a:rPr lang="zh-CN" altLang="en-US" sz="2000" b="1" dirty="0">
                <a:solidFill>
                  <a:srgbClr val="0000CC"/>
                </a:solidFill>
              </a:rPr>
              <a:t>置</a:t>
            </a:r>
            <a:r>
              <a:rPr lang="en-US" altLang="zh-CN" sz="2000" b="1" dirty="0">
                <a:solidFill>
                  <a:srgbClr val="0000CC"/>
                </a:solidFill>
              </a:rPr>
              <a:t>0</a:t>
            </a:r>
            <a:r>
              <a:rPr lang="zh-CN" altLang="en-US" sz="2000" b="1" dirty="0">
                <a:solidFill>
                  <a:srgbClr val="0000CC"/>
                </a:solidFill>
              </a:rPr>
              <a:t>阻塞线</a:t>
            </a:r>
          </a:p>
        </p:txBody>
      </p:sp>
      <p:sp>
        <p:nvSpPr>
          <p:cNvPr id="9" name="AutoShape 11"/>
          <p:cNvSpPr>
            <a:spLocks noChangeArrowheads="1"/>
          </p:cNvSpPr>
          <p:nvPr/>
        </p:nvSpPr>
        <p:spPr bwMode="auto">
          <a:xfrm>
            <a:off x="5940152" y="6021288"/>
            <a:ext cx="1800225" cy="504825"/>
          </a:xfrm>
          <a:prstGeom prst="wedgeRoundRectCallout">
            <a:avLst>
              <a:gd name="adj1" fmla="val -72401"/>
              <a:gd name="adj2" fmla="val -91226"/>
              <a:gd name="adj3" fmla="val 16667"/>
            </a:avLst>
          </a:prstGeom>
          <a:solidFill>
            <a:srgbClr val="ABFFFF"/>
          </a:solidFill>
          <a:ln w="28575">
            <a:solidFill>
              <a:srgbClr val="66FFFF"/>
            </a:solidFill>
            <a:miter lim="800000"/>
            <a:headEnd/>
            <a:tailEnd/>
          </a:ln>
          <a:effectLst/>
        </p:spPr>
        <p:txBody>
          <a:bodyPr/>
          <a:lstStyle/>
          <a:p>
            <a:pPr algn="ctr"/>
            <a:r>
              <a:rPr lang="zh-CN" altLang="en-US" sz="1800" b="1" dirty="0">
                <a:solidFill>
                  <a:srgbClr val="0000CC"/>
                </a:solidFill>
              </a:rPr>
              <a:t>置</a:t>
            </a:r>
            <a:r>
              <a:rPr lang="en-US" altLang="zh-CN" sz="1800" b="1" dirty="0">
                <a:solidFill>
                  <a:srgbClr val="0000CC"/>
                </a:solidFill>
              </a:rPr>
              <a:t>1</a:t>
            </a:r>
            <a:r>
              <a:rPr lang="zh-CN" altLang="en-US" sz="1800" b="1" dirty="0">
                <a:solidFill>
                  <a:srgbClr val="0000CC"/>
                </a:solidFill>
              </a:rPr>
              <a:t>阻塞线</a:t>
            </a:r>
          </a:p>
        </p:txBody>
      </p:sp>
      <p:sp>
        <p:nvSpPr>
          <p:cNvPr id="10" name="AutoShape 12"/>
          <p:cNvSpPr>
            <a:spLocks noChangeArrowheads="1"/>
          </p:cNvSpPr>
          <p:nvPr/>
        </p:nvSpPr>
        <p:spPr bwMode="auto">
          <a:xfrm>
            <a:off x="755576" y="6093296"/>
            <a:ext cx="1800225" cy="504825"/>
          </a:xfrm>
          <a:prstGeom prst="wedgeRoundRectCallout">
            <a:avLst>
              <a:gd name="adj1" fmla="val 84037"/>
              <a:gd name="adj2" fmla="val -99685"/>
              <a:gd name="adj3" fmla="val 16667"/>
            </a:avLst>
          </a:prstGeom>
          <a:solidFill>
            <a:srgbClr val="ABFFFF"/>
          </a:solidFill>
          <a:ln w="28575">
            <a:solidFill>
              <a:srgbClr val="66FFFF"/>
            </a:solidFill>
            <a:miter lim="800000"/>
            <a:headEnd/>
            <a:tailEnd/>
          </a:ln>
          <a:effectLst/>
        </p:spPr>
        <p:txBody>
          <a:bodyPr/>
          <a:lstStyle/>
          <a:p>
            <a:pPr algn="ctr"/>
            <a:r>
              <a:rPr lang="zh-CN" altLang="en-US" sz="2000" b="1" dirty="0">
                <a:solidFill>
                  <a:srgbClr val="0000CC"/>
                </a:solidFill>
              </a:rPr>
              <a:t>置</a:t>
            </a:r>
            <a:r>
              <a:rPr lang="en-US" altLang="zh-CN" sz="2000" b="1" dirty="0">
                <a:solidFill>
                  <a:srgbClr val="0000CC"/>
                </a:solidFill>
              </a:rPr>
              <a:t>0</a:t>
            </a:r>
            <a:r>
              <a:rPr lang="zh-CN" altLang="en-US" sz="2000" b="1" dirty="0">
                <a:solidFill>
                  <a:srgbClr val="0000CC"/>
                </a:solidFill>
              </a:rPr>
              <a:t>维持线</a:t>
            </a:r>
          </a:p>
        </p:txBody>
      </p:sp>
      <p:grpSp>
        <p:nvGrpSpPr>
          <p:cNvPr id="12" name="Group 14"/>
          <p:cNvGrpSpPr>
            <a:grpSpLocks/>
          </p:cNvGrpSpPr>
          <p:nvPr/>
        </p:nvGrpSpPr>
        <p:grpSpPr bwMode="auto">
          <a:xfrm>
            <a:off x="3779912" y="3068960"/>
            <a:ext cx="937071" cy="935484"/>
            <a:chOff x="3152" y="1480"/>
            <a:chExt cx="681" cy="680"/>
          </a:xfrm>
        </p:grpSpPr>
        <p:sp>
          <p:nvSpPr>
            <p:cNvPr id="13" name="Line 15"/>
            <p:cNvSpPr>
              <a:spLocks noChangeShapeType="1"/>
            </p:cNvSpPr>
            <p:nvPr/>
          </p:nvSpPr>
          <p:spPr bwMode="auto">
            <a:xfrm flipH="1">
              <a:off x="3152" y="1480"/>
              <a:ext cx="227" cy="0"/>
            </a:xfrm>
            <a:prstGeom prst="line">
              <a:avLst/>
            </a:prstGeom>
            <a:noFill/>
            <a:ln w="28575">
              <a:solidFill>
                <a:srgbClr val="FF0000"/>
              </a:solidFill>
              <a:prstDash val="dash"/>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14" name="Line 16"/>
            <p:cNvSpPr>
              <a:spLocks noChangeShapeType="1"/>
            </p:cNvSpPr>
            <p:nvPr/>
          </p:nvSpPr>
          <p:spPr bwMode="auto">
            <a:xfrm>
              <a:off x="3152" y="1480"/>
              <a:ext cx="0" cy="226"/>
            </a:xfrm>
            <a:prstGeom prst="line">
              <a:avLst/>
            </a:prstGeom>
            <a:noFill/>
            <a:ln w="28575">
              <a:solidFill>
                <a:srgbClr val="FF0000"/>
              </a:solidFill>
              <a:prstDash val="dash"/>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15" name="Line 17"/>
            <p:cNvSpPr>
              <a:spLocks noChangeShapeType="1"/>
            </p:cNvSpPr>
            <p:nvPr/>
          </p:nvSpPr>
          <p:spPr bwMode="auto">
            <a:xfrm>
              <a:off x="3152" y="1706"/>
              <a:ext cx="681" cy="227"/>
            </a:xfrm>
            <a:prstGeom prst="line">
              <a:avLst/>
            </a:prstGeom>
            <a:noFill/>
            <a:ln w="28575">
              <a:solidFill>
                <a:srgbClr val="FF0000"/>
              </a:solidFill>
              <a:prstDash val="dash"/>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16" name="Line 18"/>
            <p:cNvSpPr>
              <a:spLocks noChangeShapeType="1"/>
            </p:cNvSpPr>
            <p:nvPr/>
          </p:nvSpPr>
          <p:spPr bwMode="auto">
            <a:xfrm>
              <a:off x="3833" y="1933"/>
              <a:ext cx="0" cy="227"/>
            </a:xfrm>
            <a:prstGeom prst="line">
              <a:avLst/>
            </a:prstGeom>
            <a:noFill/>
            <a:ln w="28575">
              <a:solidFill>
                <a:srgbClr val="FF0000"/>
              </a:solidFill>
              <a:prstDash val="dash"/>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grpSp>
      <p:grpSp>
        <p:nvGrpSpPr>
          <p:cNvPr id="17" name="Group 19"/>
          <p:cNvGrpSpPr>
            <a:grpSpLocks/>
          </p:cNvGrpSpPr>
          <p:nvPr/>
        </p:nvGrpSpPr>
        <p:grpSpPr bwMode="auto">
          <a:xfrm>
            <a:off x="3851275" y="4221087"/>
            <a:ext cx="936749" cy="792089"/>
            <a:chOff x="3197" y="2251"/>
            <a:chExt cx="681" cy="680"/>
          </a:xfrm>
        </p:grpSpPr>
        <p:sp>
          <p:nvSpPr>
            <p:cNvPr id="18" name="Line 20"/>
            <p:cNvSpPr>
              <a:spLocks noChangeShapeType="1"/>
            </p:cNvSpPr>
            <p:nvPr/>
          </p:nvSpPr>
          <p:spPr bwMode="auto">
            <a:xfrm flipH="1">
              <a:off x="3197" y="2251"/>
              <a:ext cx="182" cy="0"/>
            </a:xfrm>
            <a:prstGeom prst="line">
              <a:avLst/>
            </a:prstGeom>
            <a:noFill/>
            <a:ln w="28575">
              <a:solidFill>
                <a:srgbClr val="FF0000"/>
              </a:solidFill>
              <a:prstDash val="dash"/>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19" name="Line 21"/>
            <p:cNvSpPr>
              <a:spLocks noChangeShapeType="1"/>
            </p:cNvSpPr>
            <p:nvPr/>
          </p:nvSpPr>
          <p:spPr bwMode="auto">
            <a:xfrm>
              <a:off x="3197" y="2251"/>
              <a:ext cx="0" cy="226"/>
            </a:xfrm>
            <a:prstGeom prst="line">
              <a:avLst/>
            </a:prstGeom>
            <a:noFill/>
            <a:ln w="28575">
              <a:solidFill>
                <a:srgbClr val="FF0000"/>
              </a:solidFill>
              <a:prstDash val="dash"/>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20" name="Line 22"/>
            <p:cNvSpPr>
              <a:spLocks noChangeShapeType="1"/>
            </p:cNvSpPr>
            <p:nvPr/>
          </p:nvSpPr>
          <p:spPr bwMode="auto">
            <a:xfrm>
              <a:off x="3197" y="2477"/>
              <a:ext cx="681" cy="227"/>
            </a:xfrm>
            <a:prstGeom prst="line">
              <a:avLst/>
            </a:prstGeom>
            <a:noFill/>
            <a:ln w="28575">
              <a:solidFill>
                <a:srgbClr val="FF0000"/>
              </a:solidFill>
              <a:prstDash val="dash"/>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21" name="Line 23"/>
            <p:cNvSpPr>
              <a:spLocks noChangeShapeType="1"/>
            </p:cNvSpPr>
            <p:nvPr/>
          </p:nvSpPr>
          <p:spPr bwMode="auto">
            <a:xfrm>
              <a:off x="3878" y="2704"/>
              <a:ext cx="0" cy="227"/>
            </a:xfrm>
            <a:prstGeom prst="line">
              <a:avLst/>
            </a:prstGeom>
            <a:noFill/>
            <a:ln w="28575">
              <a:solidFill>
                <a:srgbClr val="FF0000"/>
              </a:solidFill>
              <a:prstDash val="dash"/>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grpSp>
      <p:grpSp>
        <p:nvGrpSpPr>
          <p:cNvPr id="22" name="Group 24"/>
          <p:cNvGrpSpPr>
            <a:grpSpLocks/>
          </p:cNvGrpSpPr>
          <p:nvPr/>
        </p:nvGrpSpPr>
        <p:grpSpPr bwMode="auto">
          <a:xfrm>
            <a:off x="3852863" y="4089796"/>
            <a:ext cx="935161" cy="923379"/>
            <a:chOff x="3198" y="2205"/>
            <a:chExt cx="635" cy="635"/>
          </a:xfrm>
        </p:grpSpPr>
        <p:sp>
          <p:nvSpPr>
            <p:cNvPr id="23" name="Line 25"/>
            <p:cNvSpPr>
              <a:spLocks noChangeShapeType="1"/>
            </p:cNvSpPr>
            <p:nvPr/>
          </p:nvSpPr>
          <p:spPr bwMode="auto">
            <a:xfrm flipH="1">
              <a:off x="3198" y="2840"/>
              <a:ext cx="181" cy="0"/>
            </a:xfrm>
            <a:prstGeom prst="line">
              <a:avLst/>
            </a:prstGeom>
            <a:noFill/>
            <a:ln w="28575">
              <a:solidFill>
                <a:srgbClr val="FF0000"/>
              </a:solidFill>
              <a:prstDash val="dash"/>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24" name="Line 26"/>
            <p:cNvSpPr>
              <a:spLocks noChangeShapeType="1"/>
            </p:cNvSpPr>
            <p:nvPr/>
          </p:nvSpPr>
          <p:spPr bwMode="auto">
            <a:xfrm rot="-43200000">
              <a:off x="3198" y="2704"/>
              <a:ext cx="0" cy="136"/>
            </a:xfrm>
            <a:prstGeom prst="line">
              <a:avLst/>
            </a:prstGeom>
            <a:noFill/>
            <a:ln w="28575">
              <a:solidFill>
                <a:srgbClr val="FF0000"/>
              </a:solidFill>
              <a:prstDash val="dash"/>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25" name="Line 27"/>
            <p:cNvSpPr>
              <a:spLocks noChangeShapeType="1"/>
            </p:cNvSpPr>
            <p:nvPr/>
          </p:nvSpPr>
          <p:spPr bwMode="auto">
            <a:xfrm flipV="1">
              <a:off x="3198" y="2432"/>
              <a:ext cx="635" cy="272"/>
            </a:xfrm>
            <a:prstGeom prst="line">
              <a:avLst/>
            </a:prstGeom>
            <a:noFill/>
            <a:ln w="28575">
              <a:solidFill>
                <a:srgbClr val="FF0000"/>
              </a:solidFill>
              <a:prstDash val="dash"/>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26" name="Line 28"/>
            <p:cNvSpPr>
              <a:spLocks noChangeShapeType="1"/>
            </p:cNvSpPr>
            <p:nvPr/>
          </p:nvSpPr>
          <p:spPr bwMode="auto">
            <a:xfrm rot="-43200000">
              <a:off x="3833" y="2205"/>
              <a:ext cx="0" cy="227"/>
            </a:xfrm>
            <a:prstGeom prst="line">
              <a:avLst/>
            </a:prstGeom>
            <a:noFill/>
            <a:ln w="28575">
              <a:solidFill>
                <a:srgbClr val="FF0000"/>
              </a:solidFill>
              <a:prstDash val="dash"/>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grpSp>
      <p:grpSp>
        <p:nvGrpSpPr>
          <p:cNvPr id="27" name="Group 29"/>
          <p:cNvGrpSpPr>
            <a:grpSpLocks/>
          </p:cNvGrpSpPr>
          <p:nvPr/>
        </p:nvGrpSpPr>
        <p:grpSpPr bwMode="auto">
          <a:xfrm>
            <a:off x="3851920" y="5085184"/>
            <a:ext cx="935732" cy="1008062"/>
            <a:chOff x="3198" y="2205"/>
            <a:chExt cx="635" cy="635"/>
          </a:xfrm>
        </p:grpSpPr>
        <p:sp>
          <p:nvSpPr>
            <p:cNvPr id="28" name="Line 30"/>
            <p:cNvSpPr>
              <a:spLocks noChangeShapeType="1"/>
            </p:cNvSpPr>
            <p:nvPr/>
          </p:nvSpPr>
          <p:spPr bwMode="auto">
            <a:xfrm flipH="1">
              <a:off x="3198" y="2840"/>
              <a:ext cx="181" cy="0"/>
            </a:xfrm>
            <a:prstGeom prst="line">
              <a:avLst/>
            </a:prstGeom>
            <a:noFill/>
            <a:ln w="28575">
              <a:solidFill>
                <a:srgbClr val="FF0000"/>
              </a:solidFill>
              <a:prstDash val="dash"/>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29" name="Line 31"/>
            <p:cNvSpPr>
              <a:spLocks noChangeShapeType="1"/>
            </p:cNvSpPr>
            <p:nvPr/>
          </p:nvSpPr>
          <p:spPr bwMode="auto">
            <a:xfrm rot="-43200000">
              <a:off x="3198" y="2704"/>
              <a:ext cx="0" cy="136"/>
            </a:xfrm>
            <a:prstGeom prst="line">
              <a:avLst/>
            </a:prstGeom>
            <a:noFill/>
            <a:ln w="28575">
              <a:solidFill>
                <a:srgbClr val="FF0000"/>
              </a:solidFill>
              <a:prstDash val="dash"/>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30" name="Line 32"/>
            <p:cNvSpPr>
              <a:spLocks noChangeShapeType="1"/>
            </p:cNvSpPr>
            <p:nvPr/>
          </p:nvSpPr>
          <p:spPr bwMode="auto">
            <a:xfrm flipV="1">
              <a:off x="3198" y="2432"/>
              <a:ext cx="635" cy="272"/>
            </a:xfrm>
            <a:prstGeom prst="line">
              <a:avLst/>
            </a:prstGeom>
            <a:noFill/>
            <a:ln w="28575">
              <a:solidFill>
                <a:srgbClr val="FF0000"/>
              </a:solidFill>
              <a:prstDash val="dash"/>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31" name="Line 33"/>
            <p:cNvSpPr>
              <a:spLocks noChangeShapeType="1"/>
            </p:cNvSpPr>
            <p:nvPr/>
          </p:nvSpPr>
          <p:spPr bwMode="auto">
            <a:xfrm rot="-43200000">
              <a:off x="3833" y="2205"/>
              <a:ext cx="0" cy="227"/>
            </a:xfrm>
            <a:prstGeom prst="line">
              <a:avLst/>
            </a:prstGeom>
            <a:noFill/>
            <a:ln w="28575">
              <a:solidFill>
                <a:srgbClr val="FF0000"/>
              </a:solidFill>
              <a:prstDash val="dash"/>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grpSp>
      <p:sp>
        <p:nvSpPr>
          <p:cNvPr id="35" name="标题 1"/>
          <p:cNvSpPr txBox="1">
            <a:spLocks/>
          </p:cNvSpPr>
          <p:nvPr/>
        </p:nvSpPr>
        <p:spPr bwMode="auto">
          <a:xfrm>
            <a:off x="1259633" y="1052736"/>
            <a:ext cx="7560840" cy="63579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5.3.1 TTL</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边沿触发器</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sp>
        <p:nvSpPr>
          <p:cNvPr id="36" name="标题 1"/>
          <p:cNvSpPr txBox="1">
            <a:spLocks/>
          </p:cNvSpPr>
          <p:nvPr/>
        </p:nvSpPr>
        <p:spPr bwMode="auto">
          <a:xfrm>
            <a:off x="1259632" y="332656"/>
            <a:ext cx="7632848" cy="5669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5.3 </a:t>
            </a:r>
            <a:r>
              <a:rPr kumimoji="1" lang="zh-CN" altLang="en-US" sz="3200" b="1" kern="0" noProof="0" dirty="0" smtClean="0">
                <a:solidFill>
                  <a:schemeClr val="tx2"/>
                </a:solidFill>
                <a:latin typeface="+mj-lt"/>
                <a:ea typeface="+mj-ea"/>
                <a:cs typeface="+mj-cs"/>
              </a:rPr>
              <a:t>边沿</a:t>
            </a:r>
            <a:r>
              <a:rPr kumimoji="1" lang="zh-CN" altLang="en-US" sz="3200" b="1" kern="0" dirty="0" smtClean="0">
                <a:solidFill>
                  <a:schemeClr val="tx2"/>
                </a:solidFill>
                <a:latin typeface="+mj-lt"/>
                <a:ea typeface="+mj-ea"/>
                <a:cs typeface="+mj-cs"/>
              </a:rPr>
              <a:t>触发的</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触发器</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spTree>
    <p:extLst>
      <p:ext uri="{BB962C8B-B14F-4D97-AF65-F5344CB8AC3E}">
        <p14:creationId xmlns:p14="http://schemas.microsoft.com/office/powerpoint/2010/main" xmlns="" val="1945515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blinds(horizontal)">
                                      <p:cBhvr>
                                        <p:cTn id="7" dur="500"/>
                                        <p:tgtEl>
                                          <p:spTgt spid="12"/>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blinds(horizontal)">
                                      <p:cBhvr>
                                        <p:cTn id="10"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27"/>
                                        </p:tgtEl>
                                        <p:attrNameLst>
                                          <p:attrName>style.visibility</p:attrName>
                                        </p:attrNameLst>
                                      </p:cBhvr>
                                      <p:to>
                                        <p:strVal val="visible"/>
                                      </p:to>
                                    </p:set>
                                    <p:animEffect transition="in" filter="blinds(horizontal)">
                                      <p:cBhvr>
                                        <p:cTn id="15" dur="500"/>
                                        <p:tgtEl>
                                          <p:spTgt spid="27"/>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blinds(horizontal)">
                                      <p:cBhvr>
                                        <p:cTn id="18" dur="500"/>
                                        <p:tgtEl>
                                          <p:spTgt spid="10"/>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blinds(horizontal)">
                                      <p:cBhvr>
                                        <p:cTn id="23" dur="500"/>
                                        <p:tgtEl>
                                          <p:spTgt spid="8"/>
                                        </p:tgtEl>
                                      </p:cBhvr>
                                    </p:animEffect>
                                  </p:childTnLst>
                                </p:cTn>
                              </p:par>
                              <p:par>
                                <p:cTn id="24" presetID="3" presetClass="entr" presetSubtype="10" fill="hold" nodeType="withEffect">
                                  <p:stCondLst>
                                    <p:cond delay="0"/>
                                  </p:stCondLst>
                                  <p:childTnLst>
                                    <p:set>
                                      <p:cBhvr>
                                        <p:cTn id="25" dur="1" fill="hold">
                                          <p:stCondLst>
                                            <p:cond delay="0"/>
                                          </p:stCondLst>
                                        </p:cTn>
                                        <p:tgtEl>
                                          <p:spTgt spid="22"/>
                                        </p:tgtEl>
                                        <p:attrNameLst>
                                          <p:attrName>style.visibility</p:attrName>
                                        </p:attrNameLst>
                                      </p:cBhvr>
                                      <p:to>
                                        <p:strVal val="visible"/>
                                      </p:to>
                                    </p:set>
                                    <p:animEffect transition="in" filter="blinds(horizontal)">
                                      <p:cBhvr>
                                        <p:cTn id="26" dur="500"/>
                                        <p:tgtEl>
                                          <p:spTgt spid="22"/>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blinds(horizontal)">
                                      <p:cBhvr>
                                        <p:cTn id="31" dur="500"/>
                                        <p:tgtEl>
                                          <p:spTgt spid="9"/>
                                        </p:tgtEl>
                                      </p:cBhvr>
                                    </p:animEffect>
                                  </p:childTnLst>
                                </p:cTn>
                              </p:par>
                              <p:par>
                                <p:cTn id="32" presetID="3" presetClass="entr" presetSubtype="10" fill="hold" nodeType="withEffect">
                                  <p:stCondLst>
                                    <p:cond delay="0"/>
                                  </p:stCondLst>
                                  <p:childTnLst>
                                    <p:set>
                                      <p:cBhvr>
                                        <p:cTn id="33" dur="1" fill="hold">
                                          <p:stCondLst>
                                            <p:cond delay="0"/>
                                          </p:stCondLst>
                                        </p:cTn>
                                        <p:tgtEl>
                                          <p:spTgt spid="17"/>
                                        </p:tgtEl>
                                        <p:attrNameLst>
                                          <p:attrName>style.visibility</p:attrName>
                                        </p:attrNameLst>
                                      </p:cBhvr>
                                      <p:to>
                                        <p:strVal val="visible"/>
                                      </p:to>
                                    </p:set>
                                    <p:animEffect transition="in" filter="blinds(horizontal)">
                                      <p:cBhvr>
                                        <p:cTn id="34"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043608" y="1772816"/>
            <a:ext cx="7911480" cy="4752528"/>
          </a:xfrm>
        </p:spPr>
        <p:txBody>
          <a:bodyPr/>
          <a:lstStyle/>
          <a:p>
            <a:pPr>
              <a:buSzPct val="100000"/>
              <a:buNone/>
            </a:pPr>
            <a:r>
              <a:rPr lang="en-US" altLang="zh-CN" sz="2800" dirty="0" smtClean="0"/>
              <a:t>1.  </a:t>
            </a:r>
            <a:r>
              <a:rPr lang="zh-CN" altLang="en-US" sz="2800" dirty="0" smtClean="0"/>
              <a:t>维持</a:t>
            </a:r>
            <a:r>
              <a:rPr lang="zh-CN" altLang="en-US" sz="2800" dirty="0"/>
              <a:t>阻塞正边沿</a:t>
            </a:r>
            <a:r>
              <a:rPr lang="en-US" altLang="zh-CN" sz="2800" dirty="0"/>
              <a:t>D</a:t>
            </a:r>
            <a:r>
              <a:rPr lang="zh-CN" altLang="en-US" sz="2800" dirty="0"/>
              <a:t>触发器</a:t>
            </a:r>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67</a:t>
            </a:fld>
            <a:endParaRPr lang="zh-CN" altLang="en-US"/>
          </a:p>
        </p:txBody>
      </p:sp>
      <p:pic>
        <p:nvPicPr>
          <p:cNvPr id="5" name="Picture 8" descr="4-2-18"/>
          <p:cNvPicPr>
            <a:picLocks noChangeAspect="1" noChangeArrowheads="1"/>
          </p:cNvPicPr>
          <p:nvPr/>
        </p:nvPicPr>
        <p:blipFill>
          <a:blip r:embed="rId3" cstate="print">
            <a:clrChange>
              <a:clrFrom>
                <a:srgbClr val="F0F0F0"/>
              </a:clrFrom>
              <a:clrTo>
                <a:srgbClr val="F0F0F0">
                  <a:alpha val="0"/>
                </a:srgbClr>
              </a:clrTo>
            </a:clrChange>
            <a:lum contrast="36000"/>
            <a:extLst>
              <a:ext uri="{28A0092B-C50C-407E-A947-70E740481C1C}">
                <a14:useLocalDpi xmlns:a14="http://schemas.microsoft.com/office/drawing/2010/main" xmlns="" val="0"/>
              </a:ext>
            </a:extLst>
          </a:blip>
          <a:srcRect/>
          <a:stretch>
            <a:fillRect/>
          </a:stretch>
        </p:blipFill>
        <p:spPr bwMode="auto">
          <a:xfrm>
            <a:off x="2482850" y="2132856"/>
            <a:ext cx="4393406" cy="4755269"/>
          </a:xfrm>
          <a:prstGeom prst="rect">
            <a:avLst/>
          </a:prstGeom>
          <a:noFill/>
          <a:extLst>
            <a:ext uri="{909E8E84-426E-40DD-AFC4-6F175D3DCCD1}">
              <a14:hiddenFill xmlns:a14="http://schemas.microsoft.com/office/drawing/2010/main" xmlns="">
                <a:solidFill>
                  <a:schemeClr val="accent1"/>
                </a:solidFill>
              </a14:hiddenFill>
            </a:ext>
          </a:extLst>
        </p:spPr>
      </p:pic>
      <p:grpSp>
        <p:nvGrpSpPr>
          <p:cNvPr id="6" name="Group 18"/>
          <p:cNvGrpSpPr>
            <a:grpSpLocks/>
          </p:cNvGrpSpPr>
          <p:nvPr/>
        </p:nvGrpSpPr>
        <p:grpSpPr bwMode="auto">
          <a:xfrm>
            <a:off x="2051050" y="2257077"/>
            <a:ext cx="2736850" cy="4453382"/>
            <a:chOff x="1292" y="979"/>
            <a:chExt cx="1724" cy="2953"/>
          </a:xfrm>
        </p:grpSpPr>
        <p:graphicFrame>
          <p:nvGraphicFramePr>
            <p:cNvPr id="7" name="Object 10"/>
            <p:cNvGraphicFramePr>
              <a:graphicFrameLocks noChangeAspect="1"/>
            </p:cNvGraphicFramePr>
            <p:nvPr>
              <p:extLst>
                <p:ext uri="{D42A27DB-BD31-4B8C-83A1-F6EECF244321}">
                  <p14:modId xmlns:p14="http://schemas.microsoft.com/office/powerpoint/2010/main" xmlns="" val="636915206"/>
                </p:ext>
              </p:extLst>
            </p:nvPr>
          </p:nvGraphicFramePr>
          <p:xfrm>
            <a:off x="1292" y="979"/>
            <a:ext cx="227" cy="351"/>
          </p:xfrm>
          <a:graphic>
            <a:graphicData uri="http://schemas.openxmlformats.org/presentationml/2006/ole">
              <p:oleObj spid="_x0000_s106712" name="公式" r:id="rId4" imgW="177840" imgH="279360" progId="">
                <p:embed/>
              </p:oleObj>
            </a:graphicData>
          </a:graphic>
        </p:graphicFrame>
        <p:graphicFrame>
          <p:nvGraphicFramePr>
            <p:cNvPr id="8" name="Object 11"/>
            <p:cNvGraphicFramePr>
              <a:graphicFrameLocks noChangeAspect="1"/>
            </p:cNvGraphicFramePr>
            <p:nvPr>
              <p:extLst>
                <p:ext uri="{D42A27DB-BD31-4B8C-83A1-F6EECF244321}">
                  <p14:modId xmlns:p14="http://schemas.microsoft.com/office/powerpoint/2010/main" xmlns="" val="4104267626"/>
                </p:ext>
              </p:extLst>
            </p:nvPr>
          </p:nvGraphicFramePr>
          <p:xfrm>
            <a:off x="1610" y="3618"/>
            <a:ext cx="236" cy="314"/>
          </p:xfrm>
          <a:graphic>
            <a:graphicData uri="http://schemas.openxmlformats.org/presentationml/2006/ole">
              <p:oleObj spid="_x0000_s106713" name="公式" r:id="rId5" imgW="190440" imgH="254160" progId="">
                <p:embed/>
              </p:oleObj>
            </a:graphicData>
          </a:graphic>
        </p:graphicFrame>
        <p:grpSp>
          <p:nvGrpSpPr>
            <p:cNvPr id="9" name="Group 12"/>
            <p:cNvGrpSpPr>
              <a:grpSpLocks/>
            </p:cNvGrpSpPr>
            <p:nvPr/>
          </p:nvGrpSpPr>
          <p:grpSpPr bwMode="auto">
            <a:xfrm>
              <a:off x="2290" y="2186"/>
              <a:ext cx="726" cy="654"/>
              <a:chOff x="3515" y="2186"/>
              <a:chExt cx="726" cy="654"/>
            </a:xfrm>
          </p:grpSpPr>
          <p:sp>
            <p:nvSpPr>
              <p:cNvPr id="10" name="Line 13"/>
              <p:cNvSpPr>
                <a:spLocks noChangeShapeType="1"/>
              </p:cNvSpPr>
              <p:nvPr/>
            </p:nvSpPr>
            <p:spPr bwMode="auto">
              <a:xfrm flipH="1">
                <a:off x="3515" y="2186"/>
                <a:ext cx="182" cy="0"/>
              </a:xfrm>
              <a:prstGeom prst="line">
                <a:avLst/>
              </a:prstGeom>
              <a:noFill/>
              <a:ln w="38100">
                <a:solidFill>
                  <a:srgbClr val="FF0000"/>
                </a:solidFill>
                <a:prstDash val="sysDot"/>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11" name="Line 14"/>
              <p:cNvSpPr>
                <a:spLocks noChangeShapeType="1"/>
              </p:cNvSpPr>
              <p:nvPr/>
            </p:nvSpPr>
            <p:spPr bwMode="auto">
              <a:xfrm flipH="1">
                <a:off x="3515" y="2186"/>
                <a:ext cx="0" cy="165"/>
              </a:xfrm>
              <a:prstGeom prst="line">
                <a:avLst/>
              </a:prstGeom>
              <a:noFill/>
              <a:ln w="38100">
                <a:solidFill>
                  <a:srgbClr val="FF0000"/>
                </a:solidFill>
                <a:prstDash val="sysDot"/>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12" name="Line 15"/>
              <p:cNvSpPr>
                <a:spLocks noChangeShapeType="1"/>
              </p:cNvSpPr>
              <p:nvPr/>
            </p:nvSpPr>
            <p:spPr bwMode="auto">
              <a:xfrm>
                <a:off x="3515" y="2387"/>
                <a:ext cx="726" cy="136"/>
              </a:xfrm>
              <a:prstGeom prst="line">
                <a:avLst/>
              </a:prstGeom>
              <a:noFill/>
              <a:ln w="38100">
                <a:solidFill>
                  <a:srgbClr val="FF0000"/>
                </a:solidFill>
                <a:prstDash val="sysDot"/>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13" name="Line 16"/>
              <p:cNvSpPr>
                <a:spLocks noChangeShapeType="1"/>
              </p:cNvSpPr>
              <p:nvPr/>
            </p:nvSpPr>
            <p:spPr bwMode="auto">
              <a:xfrm>
                <a:off x="4241" y="2523"/>
                <a:ext cx="0" cy="317"/>
              </a:xfrm>
              <a:prstGeom prst="line">
                <a:avLst/>
              </a:prstGeom>
              <a:noFill/>
              <a:ln w="38100">
                <a:solidFill>
                  <a:srgbClr val="FF0000"/>
                </a:solidFill>
                <a:prstDash val="sysDot"/>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grpSp>
      </p:grpSp>
      <p:grpSp>
        <p:nvGrpSpPr>
          <p:cNvPr id="14" name="Group 25"/>
          <p:cNvGrpSpPr>
            <a:grpSpLocks/>
          </p:cNvGrpSpPr>
          <p:nvPr/>
        </p:nvGrpSpPr>
        <p:grpSpPr bwMode="auto">
          <a:xfrm>
            <a:off x="2484438" y="2478931"/>
            <a:ext cx="1223962" cy="4113213"/>
            <a:chOff x="1565" y="1117"/>
            <a:chExt cx="771" cy="2591"/>
          </a:xfrm>
        </p:grpSpPr>
        <p:sp>
          <p:nvSpPr>
            <p:cNvPr id="15" name="Text Box 20"/>
            <p:cNvSpPr txBox="1">
              <a:spLocks noChangeArrowheads="1"/>
            </p:cNvSpPr>
            <p:nvPr/>
          </p:nvSpPr>
          <p:spPr bwMode="auto">
            <a:xfrm>
              <a:off x="1882" y="3475"/>
              <a:ext cx="272" cy="23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en-US" altLang="zh-CN" b="1">
                  <a:solidFill>
                    <a:srgbClr val="0000CC"/>
                  </a:solidFill>
                </a:rPr>
                <a:t>D</a:t>
              </a:r>
            </a:p>
          </p:txBody>
        </p:sp>
        <p:grpSp>
          <p:nvGrpSpPr>
            <p:cNvPr id="16" name="Group 21"/>
            <p:cNvGrpSpPr>
              <a:grpSpLocks/>
            </p:cNvGrpSpPr>
            <p:nvPr/>
          </p:nvGrpSpPr>
          <p:grpSpPr bwMode="auto">
            <a:xfrm>
              <a:off x="1565" y="1117"/>
              <a:ext cx="771" cy="1996"/>
              <a:chOff x="2789" y="1162"/>
              <a:chExt cx="771" cy="2223"/>
            </a:xfrm>
          </p:grpSpPr>
          <p:sp>
            <p:nvSpPr>
              <p:cNvPr id="17" name="Line 22"/>
              <p:cNvSpPr>
                <a:spLocks noChangeShapeType="1"/>
              </p:cNvSpPr>
              <p:nvPr/>
            </p:nvSpPr>
            <p:spPr bwMode="auto">
              <a:xfrm flipH="1">
                <a:off x="2789" y="1162"/>
                <a:ext cx="272" cy="0"/>
              </a:xfrm>
              <a:prstGeom prst="line">
                <a:avLst/>
              </a:prstGeom>
              <a:noFill/>
              <a:ln w="28575">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solidFill>
                    <a:srgbClr val="0000CC"/>
                  </a:solidFill>
                </a:endParaRPr>
              </a:p>
            </p:txBody>
          </p:sp>
          <p:sp>
            <p:nvSpPr>
              <p:cNvPr id="18" name="Line 23"/>
              <p:cNvSpPr>
                <a:spLocks noChangeShapeType="1"/>
              </p:cNvSpPr>
              <p:nvPr/>
            </p:nvSpPr>
            <p:spPr bwMode="auto">
              <a:xfrm>
                <a:off x="2789" y="1162"/>
                <a:ext cx="0" cy="2223"/>
              </a:xfrm>
              <a:prstGeom prst="line">
                <a:avLst/>
              </a:prstGeom>
              <a:noFill/>
              <a:ln w="28575">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solidFill>
                    <a:srgbClr val="0000CC"/>
                  </a:solidFill>
                </a:endParaRPr>
              </a:p>
            </p:txBody>
          </p:sp>
          <p:sp>
            <p:nvSpPr>
              <p:cNvPr id="19" name="Line 24"/>
              <p:cNvSpPr>
                <a:spLocks noChangeShapeType="1"/>
              </p:cNvSpPr>
              <p:nvPr/>
            </p:nvSpPr>
            <p:spPr bwMode="auto">
              <a:xfrm flipV="1">
                <a:off x="2789" y="3344"/>
                <a:ext cx="771" cy="0"/>
              </a:xfrm>
              <a:prstGeom prst="line">
                <a:avLst/>
              </a:prstGeom>
              <a:noFill/>
              <a:ln w="28575">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solidFill>
                    <a:srgbClr val="0000CC"/>
                  </a:solidFill>
                </a:endParaRPr>
              </a:p>
            </p:txBody>
          </p:sp>
        </p:grpSp>
      </p:grpSp>
      <p:sp>
        <p:nvSpPr>
          <p:cNvPr id="21" name="标题 1"/>
          <p:cNvSpPr txBox="1">
            <a:spLocks/>
          </p:cNvSpPr>
          <p:nvPr/>
        </p:nvSpPr>
        <p:spPr bwMode="auto">
          <a:xfrm>
            <a:off x="1259633" y="1052736"/>
            <a:ext cx="7560840" cy="63579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5.3.1 TTL</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边沿触发器</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sp>
        <p:nvSpPr>
          <p:cNvPr id="22" name="标题 1"/>
          <p:cNvSpPr txBox="1">
            <a:spLocks/>
          </p:cNvSpPr>
          <p:nvPr/>
        </p:nvSpPr>
        <p:spPr bwMode="auto">
          <a:xfrm>
            <a:off x="1259632" y="332656"/>
            <a:ext cx="7632848" cy="5669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5.3 </a:t>
            </a:r>
            <a:r>
              <a:rPr kumimoji="1" lang="zh-CN" altLang="en-US" sz="3200" b="1" kern="0" noProof="0" dirty="0" smtClean="0">
                <a:solidFill>
                  <a:schemeClr val="tx2"/>
                </a:solidFill>
                <a:latin typeface="+mj-lt"/>
                <a:ea typeface="+mj-ea"/>
                <a:cs typeface="+mj-cs"/>
              </a:rPr>
              <a:t>边沿</a:t>
            </a:r>
            <a:r>
              <a:rPr kumimoji="1" lang="zh-CN" altLang="en-US" sz="3200" b="1" kern="0" dirty="0" smtClean="0">
                <a:solidFill>
                  <a:schemeClr val="tx2"/>
                </a:solidFill>
                <a:latin typeface="+mj-lt"/>
                <a:ea typeface="+mj-ea"/>
                <a:cs typeface="+mj-cs"/>
              </a:rPr>
              <a:t>触发的</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触发器</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pic>
        <p:nvPicPr>
          <p:cNvPr id="106715" name="Picture 219"/>
          <p:cNvPicPr>
            <a:picLocks noChangeAspect="1" noChangeArrowheads="1"/>
          </p:cNvPicPr>
          <p:nvPr/>
        </p:nvPicPr>
        <p:blipFill>
          <a:blip r:embed="rId6" cstate="print"/>
          <a:srcRect/>
          <a:stretch>
            <a:fillRect/>
          </a:stretch>
        </p:blipFill>
        <p:spPr bwMode="auto">
          <a:xfrm>
            <a:off x="5687558" y="0"/>
            <a:ext cx="3456441" cy="2852936"/>
          </a:xfrm>
          <a:prstGeom prst="rect">
            <a:avLst/>
          </a:prstGeom>
          <a:noFill/>
          <a:ln w="9525">
            <a:noFill/>
            <a:miter lim="800000"/>
            <a:headEnd/>
            <a:tailEnd/>
          </a:ln>
        </p:spPr>
      </p:pic>
    </p:spTree>
    <p:extLst>
      <p:ext uri="{BB962C8B-B14F-4D97-AF65-F5344CB8AC3E}">
        <p14:creationId xmlns:p14="http://schemas.microsoft.com/office/powerpoint/2010/main" xmlns="" val="29925656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xit" presetSubtype="10" fill="hold" nodeType="clickEffect">
                                  <p:stCondLst>
                                    <p:cond delay="0"/>
                                  </p:stCondLst>
                                  <p:childTnLst>
                                    <p:animEffect transition="out" filter="blinds(horizontal)">
                                      <p:cBhvr>
                                        <p:cTn id="6" dur="500"/>
                                        <p:tgtEl>
                                          <p:spTgt spid="6"/>
                                        </p:tgtEl>
                                      </p:cBhvr>
                                    </p:animEffect>
                                    <p:set>
                                      <p:cBhvr>
                                        <p:cTn id="7" dur="1" fill="hold">
                                          <p:stCondLst>
                                            <p:cond delay="499"/>
                                          </p:stCondLst>
                                        </p:cTn>
                                        <p:tgtEl>
                                          <p:spTgt spid="6"/>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blinds(horizontal)">
                                      <p:cBhvr>
                                        <p:cTn id="1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22512" y="2105472"/>
            <a:ext cx="8569968" cy="4752528"/>
          </a:xfrm>
        </p:spPr>
        <p:txBody>
          <a:bodyPr/>
          <a:lstStyle/>
          <a:p>
            <a:pPr>
              <a:buSzPct val="100000"/>
              <a:buFont typeface="Wingdings" pitchFamily="2" charset="2"/>
              <a:buChar char="p"/>
            </a:pPr>
            <a:r>
              <a:rPr lang="zh-CN" altLang="en-US" sz="2800" dirty="0"/>
              <a:t>维持阻塞正边沿</a:t>
            </a:r>
            <a:r>
              <a:rPr lang="en-US" altLang="zh-CN" sz="2800" dirty="0"/>
              <a:t>D</a:t>
            </a:r>
            <a:r>
              <a:rPr lang="zh-CN" altLang="en-US" sz="2800" dirty="0"/>
              <a:t>触发器的特性方程仍</a:t>
            </a:r>
            <a:r>
              <a:rPr lang="zh-CN" altLang="en-US" sz="2800" dirty="0" smtClean="0"/>
              <a:t>为</a:t>
            </a:r>
            <a:r>
              <a:rPr lang="en-US" altLang="zh-CN" sz="2800" dirty="0" smtClean="0"/>
              <a:t>: </a:t>
            </a:r>
            <a:r>
              <a:rPr lang="en-US" altLang="zh-CN" sz="2600" i="1" dirty="0" smtClean="0"/>
              <a:t>Q</a:t>
            </a:r>
            <a:r>
              <a:rPr lang="en-US" altLang="zh-CN" sz="2600" i="1" baseline="30000" dirty="0" smtClean="0"/>
              <a:t>n</a:t>
            </a:r>
            <a:r>
              <a:rPr lang="en-US" altLang="zh-CN" sz="2600" baseline="30000" dirty="0" smtClean="0"/>
              <a:t>+1</a:t>
            </a:r>
            <a:r>
              <a:rPr lang="en-US" altLang="zh-CN" sz="2600" dirty="0" smtClean="0"/>
              <a:t>=</a:t>
            </a:r>
            <a:r>
              <a:rPr lang="en-US" altLang="zh-CN" sz="2600" i="1" dirty="0" smtClean="0"/>
              <a:t>D</a:t>
            </a:r>
            <a:r>
              <a:rPr lang="zh-CN" altLang="en-US" sz="2600" dirty="0" smtClean="0"/>
              <a:t> </a:t>
            </a:r>
            <a:endParaRPr lang="en-US" altLang="zh-CN" sz="2600" dirty="0" smtClean="0"/>
          </a:p>
          <a:p>
            <a:pPr lvl="1">
              <a:buSzPct val="100000"/>
            </a:pPr>
            <a:r>
              <a:rPr lang="zh-CN" altLang="en-US" sz="2400" dirty="0" smtClean="0"/>
              <a:t>集成</a:t>
            </a:r>
            <a:r>
              <a:rPr lang="zh-CN" altLang="en-US" sz="2400" dirty="0"/>
              <a:t>维持阻塞</a:t>
            </a:r>
            <a:r>
              <a:rPr lang="en-US" altLang="zh-CN" sz="2400" dirty="0"/>
              <a:t>D</a:t>
            </a:r>
            <a:r>
              <a:rPr lang="zh-CN" altLang="en-US" sz="2400" dirty="0"/>
              <a:t>触发器有</a:t>
            </a:r>
            <a:r>
              <a:rPr lang="en-US" altLang="zh-CN" sz="2400" dirty="0"/>
              <a:t>7474</a:t>
            </a:r>
            <a:r>
              <a:rPr lang="zh-CN" altLang="en-US" sz="2400" dirty="0"/>
              <a:t>、</a:t>
            </a:r>
            <a:r>
              <a:rPr lang="en-US" altLang="zh-CN" sz="2400" dirty="0"/>
              <a:t>74H74</a:t>
            </a:r>
            <a:r>
              <a:rPr lang="zh-CN" altLang="en-US" sz="2400" dirty="0"/>
              <a:t>、</a:t>
            </a:r>
            <a:r>
              <a:rPr lang="en-US" altLang="zh-CN" sz="2400" dirty="0"/>
              <a:t>74S74</a:t>
            </a:r>
            <a:r>
              <a:rPr lang="zh-CN" altLang="en-US" sz="2400" dirty="0"/>
              <a:t>、</a:t>
            </a:r>
            <a:r>
              <a:rPr lang="en-US" altLang="zh-CN" sz="2400" dirty="0"/>
              <a:t>74LS74</a:t>
            </a:r>
            <a:r>
              <a:rPr lang="zh-CN" altLang="en-US" sz="2400" dirty="0"/>
              <a:t>等，它们均为双</a:t>
            </a:r>
            <a:r>
              <a:rPr lang="en-US" altLang="zh-CN" sz="2400" dirty="0"/>
              <a:t>D</a:t>
            </a:r>
            <a:r>
              <a:rPr lang="zh-CN" altLang="en-US" sz="2400" dirty="0"/>
              <a:t>触发器。</a:t>
            </a:r>
          </a:p>
          <a:p>
            <a:endParaRPr lang="zh-CN" altLang="en-US" dirty="0"/>
          </a:p>
        </p:txBody>
      </p:sp>
      <p:sp>
        <p:nvSpPr>
          <p:cNvPr id="11" name="Text Box 7"/>
          <p:cNvSpPr txBox="1">
            <a:spLocks noChangeArrowheads="1"/>
          </p:cNvSpPr>
          <p:nvPr/>
        </p:nvSpPr>
        <p:spPr bwMode="auto">
          <a:xfrm>
            <a:off x="1331913" y="5444504"/>
            <a:ext cx="6480175"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zh-CN" altLang="en-US" b="1" dirty="0" smtClean="0">
                <a:latin typeface="楷体_GB2312" pitchFamily="49" charset="-122"/>
                <a:ea typeface="楷体_GB2312" pitchFamily="49" charset="-122"/>
              </a:rPr>
              <a:t>图</a:t>
            </a:r>
            <a:r>
              <a:rPr lang="en-US" altLang="zh-CN" b="1" dirty="0" smtClean="0">
                <a:latin typeface="楷体_GB2312" pitchFamily="49" charset="-122"/>
                <a:ea typeface="楷体_GB2312" pitchFamily="49" charset="-122"/>
              </a:rPr>
              <a:t>  </a:t>
            </a:r>
            <a:r>
              <a:rPr lang="zh-CN" altLang="en-US" b="1" dirty="0">
                <a:latin typeface="楷体_GB2312" pitchFamily="49" charset="-122"/>
                <a:ea typeface="楷体_GB2312" pitchFamily="49" charset="-122"/>
              </a:rPr>
              <a:t>维持阻塞正边沿</a:t>
            </a:r>
            <a:r>
              <a:rPr lang="en-US" altLang="zh-CN" b="1" dirty="0">
                <a:latin typeface="楷体_GB2312" pitchFamily="49" charset="-122"/>
                <a:ea typeface="楷体_GB2312" pitchFamily="49" charset="-122"/>
              </a:rPr>
              <a:t>D</a:t>
            </a:r>
            <a:r>
              <a:rPr lang="zh-CN" altLang="en-US" b="1" dirty="0">
                <a:latin typeface="楷体_GB2312" pitchFamily="49" charset="-122"/>
                <a:ea typeface="楷体_GB2312" pitchFamily="49" charset="-122"/>
              </a:rPr>
              <a:t>触发器惯用符号和国标符号</a:t>
            </a:r>
            <a:r>
              <a:rPr lang="zh-CN" altLang="en-US" dirty="0"/>
              <a:t>  </a:t>
            </a:r>
          </a:p>
        </p:txBody>
      </p:sp>
      <p:grpSp>
        <p:nvGrpSpPr>
          <p:cNvPr id="12" name="Group 19"/>
          <p:cNvGrpSpPr>
            <a:grpSpLocks/>
          </p:cNvGrpSpPr>
          <p:nvPr/>
        </p:nvGrpSpPr>
        <p:grpSpPr bwMode="auto">
          <a:xfrm>
            <a:off x="2627635" y="5877886"/>
            <a:ext cx="4464050" cy="841375"/>
            <a:chOff x="2562" y="3362"/>
            <a:chExt cx="2812" cy="530"/>
          </a:xfrm>
        </p:grpSpPr>
        <p:graphicFrame>
          <p:nvGraphicFramePr>
            <p:cNvPr id="13" name="Object 13"/>
            <p:cNvGraphicFramePr>
              <a:graphicFrameLocks noChangeAspect="1"/>
            </p:cNvGraphicFramePr>
            <p:nvPr>
              <p:extLst>
                <p:ext uri="{D42A27DB-BD31-4B8C-83A1-F6EECF244321}">
                  <p14:modId xmlns:p14="http://schemas.microsoft.com/office/powerpoint/2010/main" xmlns="" val="1911157628"/>
                </p:ext>
              </p:extLst>
            </p:nvPr>
          </p:nvGraphicFramePr>
          <p:xfrm>
            <a:off x="3006" y="3362"/>
            <a:ext cx="204" cy="227"/>
          </p:xfrm>
          <a:graphic>
            <a:graphicData uri="http://schemas.openxmlformats.org/presentationml/2006/ole">
              <p:oleObj spid="_x0000_s107844" name="公式" r:id="rId3" imgW="215713" imgH="241091" progId="">
                <p:embed/>
              </p:oleObj>
            </a:graphicData>
          </a:graphic>
        </p:graphicFrame>
        <p:grpSp>
          <p:nvGrpSpPr>
            <p:cNvPr id="14" name="Group 15"/>
            <p:cNvGrpSpPr>
              <a:grpSpLocks/>
            </p:cNvGrpSpPr>
            <p:nvPr/>
          </p:nvGrpSpPr>
          <p:grpSpPr bwMode="auto">
            <a:xfrm>
              <a:off x="2562" y="3362"/>
              <a:ext cx="2812" cy="530"/>
              <a:chOff x="2562" y="3045"/>
              <a:chExt cx="2812" cy="530"/>
            </a:xfrm>
          </p:grpSpPr>
          <p:sp>
            <p:nvSpPr>
              <p:cNvPr id="15" name="Text Box 12"/>
              <p:cNvSpPr txBox="1">
                <a:spLocks noChangeArrowheads="1"/>
              </p:cNvSpPr>
              <p:nvPr/>
            </p:nvSpPr>
            <p:spPr bwMode="auto">
              <a:xfrm>
                <a:off x="2562" y="3045"/>
                <a:ext cx="2812" cy="49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zh-CN" altLang="en-US" b="1" dirty="0"/>
                  <a:t>其中：     具有异步</a:t>
                </a:r>
                <a:r>
                  <a:rPr lang="zh-CN" altLang="en-US" b="1" dirty="0">
                    <a:solidFill>
                      <a:srgbClr val="0000CC"/>
                    </a:solidFill>
                  </a:rPr>
                  <a:t>“置</a:t>
                </a:r>
                <a:r>
                  <a:rPr lang="en-US" altLang="zh-CN" b="1" dirty="0">
                    <a:solidFill>
                      <a:srgbClr val="0000CC"/>
                    </a:solidFill>
                  </a:rPr>
                  <a:t>1”</a:t>
                </a:r>
                <a:r>
                  <a:rPr lang="zh-CN" altLang="en-US" b="1" dirty="0"/>
                  <a:t>功能；</a:t>
                </a:r>
              </a:p>
              <a:p>
                <a:pPr>
                  <a:spcBef>
                    <a:spcPct val="50000"/>
                  </a:spcBef>
                </a:pPr>
                <a:r>
                  <a:rPr lang="zh-CN" altLang="en-US" b="1" dirty="0"/>
                  <a:t>                具有异步</a:t>
                </a:r>
                <a:r>
                  <a:rPr lang="zh-CN" altLang="en-US" b="1" dirty="0">
                    <a:solidFill>
                      <a:srgbClr val="0000CC"/>
                    </a:solidFill>
                  </a:rPr>
                  <a:t>“置</a:t>
                </a:r>
                <a:r>
                  <a:rPr lang="en-US" altLang="zh-CN" b="1" dirty="0">
                    <a:solidFill>
                      <a:srgbClr val="0000CC"/>
                    </a:solidFill>
                  </a:rPr>
                  <a:t>0”</a:t>
                </a:r>
                <a:r>
                  <a:rPr lang="zh-CN" altLang="en-US" b="1" dirty="0"/>
                  <a:t>功能。</a:t>
                </a:r>
              </a:p>
            </p:txBody>
          </p:sp>
          <p:graphicFrame>
            <p:nvGraphicFramePr>
              <p:cNvPr id="16" name="Object 14"/>
              <p:cNvGraphicFramePr>
                <a:graphicFrameLocks noChangeAspect="1"/>
              </p:cNvGraphicFramePr>
              <p:nvPr>
                <p:extLst>
                  <p:ext uri="{D42A27DB-BD31-4B8C-83A1-F6EECF244321}">
                    <p14:modId xmlns:p14="http://schemas.microsoft.com/office/powerpoint/2010/main" xmlns="" val="33906658"/>
                  </p:ext>
                </p:extLst>
              </p:nvPr>
            </p:nvGraphicFramePr>
            <p:xfrm>
              <a:off x="2970" y="3317"/>
              <a:ext cx="245" cy="258"/>
            </p:xfrm>
            <a:graphic>
              <a:graphicData uri="http://schemas.openxmlformats.org/presentationml/2006/ole">
                <p:oleObj spid="_x0000_s107845" name="公式" r:id="rId4" imgW="228600" imgH="241300" progId="">
                  <p:embed/>
                </p:oleObj>
              </a:graphicData>
            </a:graphic>
          </p:graphicFrame>
        </p:grpSp>
      </p:grpSp>
      <p:sp>
        <p:nvSpPr>
          <p:cNvPr id="18" name="标题 1"/>
          <p:cNvSpPr txBox="1">
            <a:spLocks/>
          </p:cNvSpPr>
          <p:nvPr/>
        </p:nvSpPr>
        <p:spPr bwMode="auto">
          <a:xfrm>
            <a:off x="1259633" y="1052736"/>
            <a:ext cx="7560840" cy="63579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kern="0" dirty="0" smtClean="0">
                <a:solidFill>
                  <a:schemeClr val="tx2"/>
                </a:solidFill>
                <a:latin typeface="+mj-lt"/>
                <a:ea typeface="+mj-ea"/>
                <a:cs typeface="+mj-cs"/>
              </a:rPr>
              <a:t>1</a:t>
            </a: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 </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维持阻塞</a:t>
            </a: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D</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触发器</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sp>
        <p:nvSpPr>
          <p:cNvPr id="19" name="标题 1"/>
          <p:cNvSpPr txBox="1">
            <a:spLocks/>
          </p:cNvSpPr>
          <p:nvPr/>
        </p:nvSpPr>
        <p:spPr bwMode="auto">
          <a:xfrm>
            <a:off x="1259632" y="332656"/>
            <a:ext cx="7632848" cy="5669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p>
            <a:pPr lvl="0" fontAlgn="base">
              <a:spcBef>
                <a:spcPct val="0"/>
              </a:spcBef>
              <a:spcAft>
                <a:spcPct val="0"/>
              </a:spcAft>
              <a:defRPr/>
            </a:pPr>
            <a:r>
              <a:rPr kumimoji="1" lang="en-US" altLang="zh-CN" sz="3200" b="1" kern="0" dirty="0" smtClean="0">
                <a:solidFill>
                  <a:schemeClr val="tx2"/>
                </a:solidFill>
              </a:rPr>
              <a:t>5.3.1 TTL</a:t>
            </a:r>
            <a:r>
              <a:rPr kumimoji="1" lang="zh-CN" altLang="en-US" sz="3200" b="1" kern="0" dirty="0" smtClean="0">
                <a:solidFill>
                  <a:schemeClr val="tx2"/>
                </a:solidFill>
              </a:rPr>
              <a:t>边沿触发器</a:t>
            </a:r>
            <a:endParaRPr kumimoji="1" lang="zh-CN" altLang="en-US" sz="3200" b="1" kern="0" dirty="0">
              <a:solidFill>
                <a:schemeClr val="tx2"/>
              </a:solidFill>
            </a:endParaRPr>
          </a:p>
        </p:txBody>
      </p:sp>
      <p:pic>
        <p:nvPicPr>
          <p:cNvPr id="107846" name="Picture 326"/>
          <p:cNvPicPr>
            <a:picLocks noChangeAspect="1" noChangeArrowheads="1"/>
          </p:cNvPicPr>
          <p:nvPr/>
        </p:nvPicPr>
        <p:blipFill>
          <a:blip r:embed="rId5" cstate="print"/>
          <a:srcRect/>
          <a:stretch>
            <a:fillRect/>
          </a:stretch>
        </p:blipFill>
        <p:spPr bwMode="auto">
          <a:xfrm>
            <a:off x="2267744" y="3429000"/>
            <a:ext cx="4419600" cy="1885950"/>
          </a:xfrm>
          <a:prstGeom prst="rect">
            <a:avLst/>
          </a:prstGeom>
          <a:noFill/>
          <a:ln w="9525">
            <a:noFill/>
            <a:miter lim="800000"/>
            <a:headEnd/>
            <a:tailEnd/>
          </a:ln>
        </p:spPr>
      </p:pic>
    </p:spTree>
    <p:extLst>
      <p:ext uri="{BB962C8B-B14F-4D97-AF65-F5344CB8AC3E}">
        <p14:creationId xmlns:p14="http://schemas.microsoft.com/office/powerpoint/2010/main" xmlns="" val="131206273"/>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0C913308-F349-4B6D-A68A-DD1791B4A57B}" type="slidenum">
              <a:rPr lang="zh-CN" altLang="en-US" smtClean="0"/>
              <a:pPr/>
              <a:t>69</a:t>
            </a:fld>
            <a:endParaRPr lang="zh-CN" altLang="en-US"/>
          </a:p>
        </p:txBody>
      </p:sp>
      <p:grpSp>
        <p:nvGrpSpPr>
          <p:cNvPr id="5" name="Group 7"/>
          <p:cNvGrpSpPr>
            <a:grpSpLocks/>
          </p:cNvGrpSpPr>
          <p:nvPr/>
        </p:nvGrpSpPr>
        <p:grpSpPr bwMode="auto">
          <a:xfrm>
            <a:off x="827088" y="2027636"/>
            <a:ext cx="7343775" cy="830263"/>
            <a:chOff x="567" y="2115"/>
            <a:chExt cx="4626" cy="523"/>
          </a:xfrm>
        </p:grpSpPr>
        <p:sp>
          <p:nvSpPr>
            <p:cNvPr id="6" name="Text Box 8"/>
            <p:cNvSpPr txBox="1">
              <a:spLocks noChangeArrowheads="1"/>
            </p:cNvSpPr>
            <p:nvPr/>
          </p:nvSpPr>
          <p:spPr bwMode="auto">
            <a:xfrm>
              <a:off x="567" y="2115"/>
              <a:ext cx="4626" cy="52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zh-CN" altLang="en-US" sz="2400" b="1" dirty="0">
                  <a:solidFill>
                    <a:srgbClr val="FF0000"/>
                  </a:solidFill>
                  <a:ea typeface="楷体_GB2312" pitchFamily="49" charset="-122"/>
                </a:rPr>
                <a:t>例：</a:t>
              </a:r>
              <a:r>
                <a:rPr lang="zh-CN" altLang="en-US" sz="2400" b="1" dirty="0"/>
                <a:t>已知维持阻塞正边沿</a:t>
              </a:r>
              <a:r>
                <a:rPr lang="en-US" altLang="zh-CN" sz="2400" b="1" dirty="0"/>
                <a:t>D</a:t>
              </a:r>
              <a:r>
                <a:rPr lang="zh-CN" altLang="en-US" sz="2400" b="1" dirty="0"/>
                <a:t>触发器的</a:t>
              </a:r>
              <a:r>
                <a:rPr lang="en-US" altLang="zh-CN" sz="2400" b="1" dirty="0"/>
                <a:t>CP</a:t>
              </a:r>
              <a:r>
                <a:rPr lang="zh-CN" altLang="en-US" sz="2400" b="1" dirty="0"/>
                <a:t>、   </a:t>
              </a:r>
              <a:r>
                <a:rPr lang="zh-CN" altLang="en-US" sz="2400" b="1" dirty="0" smtClean="0"/>
                <a:t> 、    、</a:t>
              </a:r>
              <a:r>
                <a:rPr lang="en-US" altLang="zh-CN" sz="2400" b="1" dirty="0"/>
                <a:t>D</a:t>
              </a:r>
              <a:r>
                <a:rPr lang="zh-CN" altLang="en-US" sz="2400" b="1" dirty="0"/>
                <a:t>信号波形如下，试画出</a:t>
              </a:r>
              <a:r>
                <a:rPr lang="en-US" altLang="zh-CN" sz="2400" b="1" dirty="0"/>
                <a:t>Q</a:t>
              </a:r>
              <a:r>
                <a:rPr lang="zh-CN" altLang="en-US" sz="2400" b="1" dirty="0"/>
                <a:t>的波形</a:t>
              </a:r>
              <a:r>
                <a:rPr lang="zh-CN" altLang="en-US" sz="2400" b="1" dirty="0" smtClean="0"/>
                <a:t>（令初态为</a:t>
              </a:r>
              <a:r>
                <a:rPr lang="en-US" altLang="zh-CN" sz="2400" b="1" dirty="0" smtClean="0"/>
                <a:t>Q</a:t>
              </a:r>
              <a:r>
                <a:rPr lang="en-US" altLang="zh-CN" sz="2400" b="1" i="1" baseline="30000" dirty="0" smtClean="0"/>
                <a:t> </a:t>
              </a:r>
              <a:r>
                <a:rPr lang="en-US" altLang="zh-CN" sz="2400" b="1" dirty="0" smtClean="0"/>
                <a:t>=1</a:t>
              </a:r>
              <a:r>
                <a:rPr lang="zh-CN" altLang="en-US" sz="2400" b="1" dirty="0" smtClean="0"/>
                <a:t>）</a:t>
              </a:r>
              <a:r>
                <a:rPr lang="zh-CN" altLang="en-US" sz="2400" b="1" dirty="0"/>
                <a:t>。</a:t>
              </a:r>
            </a:p>
          </p:txBody>
        </p:sp>
        <p:graphicFrame>
          <p:nvGraphicFramePr>
            <p:cNvPr id="7" name="Object 9"/>
            <p:cNvGraphicFramePr>
              <a:graphicFrameLocks noChangeAspect="1"/>
            </p:cNvGraphicFramePr>
            <p:nvPr>
              <p:extLst>
                <p:ext uri="{D42A27DB-BD31-4B8C-83A1-F6EECF244321}">
                  <p14:modId xmlns:p14="http://schemas.microsoft.com/office/powerpoint/2010/main" xmlns="" val="477330588"/>
                </p:ext>
              </p:extLst>
            </p:nvPr>
          </p:nvGraphicFramePr>
          <p:xfrm>
            <a:off x="4060" y="2136"/>
            <a:ext cx="227" cy="240"/>
          </p:xfrm>
          <a:graphic>
            <a:graphicData uri="http://schemas.openxmlformats.org/presentationml/2006/ole">
              <p:oleObj spid="_x0000_s108867" name="公式" r:id="rId3" imgW="228600" imgH="241300" progId="">
                <p:embed/>
              </p:oleObj>
            </a:graphicData>
          </a:graphic>
        </p:graphicFrame>
        <p:graphicFrame>
          <p:nvGraphicFramePr>
            <p:cNvPr id="8" name="Object 10"/>
            <p:cNvGraphicFramePr>
              <a:graphicFrameLocks noChangeAspect="1"/>
            </p:cNvGraphicFramePr>
            <p:nvPr>
              <p:extLst>
                <p:ext uri="{D42A27DB-BD31-4B8C-83A1-F6EECF244321}">
                  <p14:modId xmlns:p14="http://schemas.microsoft.com/office/powerpoint/2010/main" xmlns="" val="2949190312"/>
                </p:ext>
              </p:extLst>
            </p:nvPr>
          </p:nvGraphicFramePr>
          <p:xfrm>
            <a:off x="4468" y="2136"/>
            <a:ext cx="226" cy="252"/>
          </p:xfrm>
          <a:graphic>
            <a:graphicData uri="http://schemas.openxmlformats.org/presentationml/2006/ole">
              <p:oleObj spid="_x0000_s108868" name="公式" r:id="rId4" imgW="215713" imgH="241091" progId="">
                <p:embed/>
              </p:oleObj>
            </a:graphicData>
          </a:graphic>
        </p:graphicFrame>
      </p:grpSp>
      <p:pic>
        <p:nvPicPr>
          <p:cNvPr id="10" name="Picture 12" descr="D-FF-BY"/>
          <p:cNvPicPr>
            <a:picLocks noChangeAspect="1" noChangeArrowheads="1"/>
          </p:cNvPicPr>
          <p:nvPr/>
        </p:nvPicPr>
        <p:blipFill>
          <a:blip r:embed="rId5" cstate="print">
            <a:clrChange>
              <a:clrFrom>
                <a:srgbClr val="F7F7F7"/>
              </a:clrFrom>
              <a:clrTo>
                <a:srgbClr val="F7F7F7">
                  <a:alpha val="0"/>
                </a:srgbClr>
              </a:clrTo>
            </a:clrChange>
            <a:lum bright="-24000" contrast="72000"/>
            <a:extLst>
              <a:ext uri="{28A0092B-C50C-407E-A947-70E740481C1C}">
                <a14:useLocalDpi xmlns:a14="http://schemas.microsoft.com/office/drawing/2010/main" xmlns="" val="0"/>
              </a:ext>
            </a:extLst>
          </a:blip>
          <a:srcRect/>
          <a:stretch>
            <a:fillRect/>
          </a:stretch>
        </p:blipFill>
        <p:spPr bwMode="auto">
          <a:xfrm>
            <a:off x="1691680" y="2780928"/>
            <a:ext cx="5329014" cy="3539784"/>
          </a:xfrm>
          <a:prstGeom prst="rect">
            <a:avLst/>
          </a:prstGeom>
          <a:noFill/>
          <a:extLst>
            <a:ext uri="{909E8E84-426E-40DD-AFC4-6F175D3DCCD1}">
              <a14:hiddenFill xmlns:a14="http://schemas.microsoft.com/office/drawing/2010/main" xmlns="">
                <a:solidFill>
                  <a:srgbClr val="FFFFFF"/>
                </a:solidFill>
              </a14:hiddenFill>
            </a:ext>
          </a:extLst>
        </p:spPr>
      </p:pic>
      <p:sp>
        <p:nvSpPr>
          <p:cNvPr id="12" name="标题 1"/>
          <p:cNvSpPr txBox="1">
            <a:spLocks/>
          </p:cNvSpPr>
          <p:nvPr/>
        </p:nvSpPr>
        <p:spPr bwMode="auto">
          <a:xfrm>
            <a:off x="1259633" y="1052736"/>
            <a:ext cx="7560840" cy="63579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p>
            <a:pPr lvl="0" fontAlgn="base">
              <a:spcBef>
                <a:spcPct val="0"/>
              </a:spcBef>
              <a:spcAft>
                <a:spcPct val="0"/>
              </a:spcAft>
              <a:defRPr/>
            </a:pP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1. </a:t>
            </a:r>
            <a:r>
              <a:rPr kumimoji="1" lang="zh-CN" altLang="en-US" sz="3200" b="1" kern="0" dirty="0" smtClean="0">
                <a:solidFill>
                  <a:schemeClr val="tx2"/>
                </a:solidFill>
              </a:rPr>
              <a:t>维持阻塞</a:t>
            </a:r>
            <a:r>
              <a:rPr kumimoji="1" lang="en-US" altLang="zh-CN" sz="3200" b="1" kern="0" dirty="0" smtClean="0">
                <a:solidFill>
                  <a:schemeClr val="tx2"/>
                </a:solidFill>
              </a:rPr>
              <a:t>D</a:t>
            </a:r>
            <a:r>
              <a:rPr kumimoji="1" lang="zh-CN" altLang="en-US" sz="3200" b="1" kern="0" dirty="0" smtClean="0">
                <a:solidFill>
                  <a:schemeClr val="tx2"/>
                </a:solidFill>
              </a:rPr>
              <a:t>触发器</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sp>
        <p:nvSpPr>
          <p:cNvPr id="13" name="标题 1"/>
          <p:cNvSpPr txBox="1">
            <a:spLocks/>
          </p:cNvSpPr>
          <p:nvPr/>
        </p:nvSpPr>
        <p:spPr bwMode="auto">
          <a:xfrm>
            <a:off x="1259632" y="332656"/>
            <a:ext cx="7632848" cy="5669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p>
            <a:pPr lvl="0" fontAlgn="base">
              <a:spcBef>
                <a:spcPct val="0"/>
              </a:spcBef>
              <a:spcAft>
                <a:spcPct val="0"/>
              </a:spcAft>
              <a:defRPr/>
            </a:pPr>
            <a:r>
              <a:rPr kumimoji="1" lang="en-US" altLang="zh-CN" sz="3200" b="1" kern="0" dirty="0" smtClean="0">
                <a:solidFill>
                  <a:schemeClr val="tx2"/>
                </a:solidFill>
              </a:rPr>
              <a:t>5.3.1 TTL</a:t>
            </a:r>
            <a:r>
              <a:rPr kumimoji="1" lang="zh-CN" altLang="en-US" sz="3200" b="1" kern="0" dirty="0" smtClean="0">
                <a:solidFill>
                  <a:schemeClr val="tx2"/>
                </a:solidFill>
              </a:rPr>
              <a:t>边沿触发器</a:t>
            </a:r>
            <a:endParaRPr kumimoji="1" lang="zh-CN" altLang="en-US" sz="3200" b="1" kern="0" dirty="0">
              <a:solidFill>
                <a:schemeClr val="tx2"/>
              </a:solidFill>
            </a:endParaRPr>
          </a:p>
        </p:txBody>
      </p:sp>
    </p:spTree>
    <p:extLst>
      <p:ext uri="{BB962C8B-B14F-4D97-AF65-F5344CB8AC3E}">
        <p14:creationId xmlns:p14="http://schemas.microsoft.com/office/powerpoint/2010/main" xmlns="" val="3535232832"/>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95536" y="1916832"/>
            <a:ext cx="8487544" cy="4752528"/>
          </a:xfrm>
        </p:spPr>
        <p:txBody>
          <a:bodyPr/>
          <a:lstStyle/>
          <a:p>
            <a:pPr>
              <a:buSzPct val="100000"/>
              <a:buFont typeface="Wingdings" pitchFamily="2" charset="2"/>
              <a:buChar char="p"/>
            </a:pPr>
            <a:r>
              <a:rPr lang="zh-CN" altLang="en-US" sz="2800" dirty="0"/>
              <a:t>利用传输延迟时间</a:t>
            </a:r>
            <a:r>
              <a:rPr lang="zh-CN" altLang="en-US" sz="2800" dirty="0" smtClean="0"/>
              <a:t>的下降沿（负边沿）</a:t>
            </a:r>
            <a:r>
              <a:rPr lang="en-US" altLang="zh-CN" sz="2800" dirty="0" smtClean="0"/>
              <a:t>JK</a:t>
            </a:r>
            <a:r>
              <a:rPr lang="zh-CN" altLang="en-US" sz="2800" dirty="0"/>
              <a:t>触发器</a:t>
            </a:r>
          </a:p>
          <a:p>
            <a:endParaRPr lang="zh-CN" altLang="en-US" dirty="0"/>
          </a:p>
        </p:txBody>
      </p:sp>
      <p:grpSp>
        <p:nvGrpSpPr>
          <p:cNvPr id="12" name="Group 14"/>
          <p:cNvGrpSpPr>
            <a:grpSpLocks/>
          </p:cNvGrpSpPr>
          <p:nvPr/>
        </p:nvGrpSpPr>
        <p:grpSpPr bwMode="auto">
          <a:xfrm>
            <a:off x="1115616" y="2492896"/>
            <a:ext cx="4320828" cy="3672780"/>
            <a:chOff x="385" y="1026"/>
            <a:chExt cx="2676" cy="2540"/>
          </a:xfrm>
        </p:grpSpPr>
        <p:pic>
          <p:nvPicPr>
            <p:cNvPr id="13" name="Picture 10" descr="4-2-20"/>
            <p:cNvPicPr>
              <a:picLocks noChangeAspect="1" noChangeArrowheads="1"/>
            </p:cNvPicPr>
            <p:nvPr/>
          </p:nvPicPr>
          <p:blipFill>
            <a:blip r:embed="rId2" cstate="print">
              <a:clrChange>
                <a:clrFrom>
                  <a:srgbClr val="FAFAFA"/>
                </a:clrFrom>
                <a:clrTo>
                  <a:srgbClr val="FAFAFA">
                    <a:alpha val="0"/>
                  </a:srgbClr>
                </a:clrTo>
              </a:clrChange>
              <a:lum bright="-18000" contrast="72000"/>
              <a:extLst>
                <a:ext uri="{28A0092B-C50C-407E-A947-70E740481C1C}">
                  <a14:useLocalDpi xmlns:a14="http://schemas.microsoft.com/office/drawing/2010/main" xmlns="" val="0"/>
                </a:ext>
              </a:extLst>
            </a:blip>
            <a:srcRect r="47612"/>
            <a:stretch>
              <a:fillRect/>
            </a:stretch>
          </p:blipFill>
          <p:spPr bwMode="auto">
            <a:xfrm>
              <a:off x="385" y="1026"/>
              <a:ext cx="2676" cy="2540"/>
            </a:xfrm>
            <a:prstGeom prst="rect">
              <a:avLst/>
            </a:prstGeom>
            <a:noFill/>
            <a:extLst>
              <a:ext uri="{909E8E84-426E-40DD-AFC4-6F175D3DCCD1}">
                <a14:hiddenFill xmlns:a14="http://schemas.microsoft.com/office/drawing/2010/main" xmlns="">
                  <a:solidFill>
                    <a:srgbClr val="FFFFFF"/>
                  </a:solidFill>
                </a14:hiddenFill>
              </a:ext>
            </a:extLst>
          </p:spPr>
        </p:pic>
        <p:sp>
          <p:nvSpPr>
            <p:cNvPr id="14" name="Rectangle 11"/>
            <p:cNvSpPr>
              <a:spLocks noChangeArrowheads="1"/>
            </p:cNvSpPr>
            <p:nvPr/>
          </p:nvSpPr>
          <p:spPr bwMode="auto">
            <a:xfrm>
              <a:off x="416" y="1077"/>
              <a:ext cx="2515" cy="1193"/>
            </a:xfrm>
            <a:prstGeom prst="rect">
              <a:avLst/>
            </a:prstGeom>
            <a:noFill/>
            <a:ln w="28575">
              <a:solidFill>
                <a:srgbClr val="FF0000"/>
              </a:solidFill>
              <a:prstDash val="dash"/>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grpSp>
      <p:sp>
        <p:nvSpPr>
          <p:cNvPr id="15" name="AutoShape 12"/>
          <p:cNvSpPr>
            <a:spLocks/>
          </p:cNvSpPr>
          <p:nvPr/>
        </p:nvSpPr>
        <p:spPr bwMode="auto">
          <a:xfrm>
            <a:off x="0" y="5517232"/>
            <a:ext cx="1800547" cy="1196752"/>
          </a:xfrm>
          <a:prstGeom prst="borderCallout1">
            <a:avLst>
              <a:gd name="adj1" fmla="val -2745"/>
              <a:gd name="adj2" fmla="val 25736"/>
              <a:gd name="adj3" fmla="val -100579"/>
              <a:gd name="adj4" fmla="val 70365"/>
            </a:avLst>
          </a:prstGeom>
          <a:solidFill>
            <a:srgbClr val="ABFFFF"/>
          </a:solidFill>
          <a:ln w="28575">
            <a:solidFill>
              <a:srgbClr val="00B0F0"/>
            </a:solidFill>
            <a:miter lim="800000"/>
            <a:headEnd/>
            <a:tailEnd/>
          </a:ln>
          <a:effectLst/>
        </p:spPr>
        <p:txBody>
          <a:bodyPr/>
          <a:lstStyle/>
          <a:p>
            <a:r>
              <a:rPr lang="en-US" altLang="zh-CN" sz="1800" b="1" dirty="0">
                <a:solidFill>
                  <a:srgbClr val="0000CC"/>
                </a:solidFill>
              </a:rPr>
              <a:t>RS</a:t>
            </a:r>
            <a:r>
              <a:rPr lang="zh-CN" altLang="en-US" sz="1800" b="1" dirty="0">
                <a:solidFill>
                  <a:srgbClr val="0000CC"/>
                </a:solidFill>
              </a:rPr>
              <a:t>触发器，其翻转时间小于门</a:t>
            </a:r>
            <a:r>
              <a:rPr lang="en-US" altLang="zh-CN" sz="1800" b="1" dirty="0">
                <a:solidFill>
                  <a:srgbClr val="0000CC"/>
                </a:solidFill>
              </a:rPr>
              <a:t>G7</a:t>
            </a:r>
            <a:r>
              <a:rPr lang="zh-CN" altLang="en-US" sz="1800" b="1" dirty="0">
                <a:solidFill>
                  <a:srgbClr val="0000CC"/>
                </a:solidFill>
              </a:rPr>
              <a:t>、</a:t>
            </a:r>
            <a:r>
              <a:rPr lang="en-US" altLang="zh-CN" sz="1800" b="1" dirty="0">
                <a:solidFill>
                  <a:srgbClr val="0000CC"/>
                </a:solidFill>
              </a:rPr>
              <a:t>G8</a:t>
            </a:r>
            <a:r>
              <a:rPr lang="zh-CN" altLang="en-US" sz="1800" b="1" dirty="0">
                <a:solidFill>
                  <a:srgbClr val="0000CC"/>
                </a:solidFill>
              </a:rPr>
              <a:t>的传输延迟时间</a:t>
            </a:r>
          </a:p>
        </p:txBody>
      </p:sp>
      <p:sp>
        <p:nvSpPr>
          <p:cNvPr id="10" name="标题 1"/>
          <p:cNvSpPr txBox="1">
            <a:spLocks/>
          </p:cNvSpPr>
          <p:nvPr/>
        </p:nvSpPr>
        <p:spPr bwMode="auto">
          <a:xfrm>
            <a:off x="1259633" y="1052736"/>
            <a:ext cx="7560840" cy="63579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2. </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下降沿触发的</a:t>
            </a: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JK</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触发器</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sp>
        <p:nvSpPr>
          <p:cNvPr id="16" name="标题 1"/>
          <p:cNvSpPr txBox="1">
            <a:spLocks/>
          </p:cNvSpPr>
          <p:nvPr/>
        </p:nvSpPr>
        <p:spPr bwMode="auto">
          <a:xfrm>
            <a:off x="1259632" y="332656"/>
            <a:ext cx="7632848" cy="5669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p>
            <a:pPr lvl="0" fontAlgn="base">
              <a:spcBef>
                <a:spcPct val="0"/>
              </a:spcBef>
              <a:spcAft>
                <a:spcPct val="0"/>
              </a:spcAft>
              <a:defRPr/>
            </a:pPr>
            <a:r>
              <a:rPr kumimoji="1" lang="en-US" altLang="zh-CN" sz="3200" b="1" kern="0" dirty="0" smtClean="0">
                <a:solidFill>
                  <a:schemeClr val="tx2"/>
                </a:solidFill>
              </a:rPr>
              <a:t>5.3.1 TTL</a:t>
            </a:r>
            <a:r>
              <a:rPr kumimoji="1" lang="zh-CN" altLang="en-US" sz="3200" b="1" kern="0" dirty="0" smtClean="0">
                <a:solidFill>
                  <a:schemeClr val="tx2"/>
                </a:solidFill>
              </a:rPr>
              <a:t>边沿触发器</a:t>
            </a:r>
            <a:endParaRPr kumimoji="1" lang="zh-CN" altLang="en-US" sz="3200" b="1" kern="0" dirty="0">
              <a:solidFill>
                <a:schemeClr val="tx2"/>
              </a:solidFill>
            </a:endParaRPr>
          </a:p>
        </p:txBody>
      </p:sp>
      <p:pic>
        <p:nvPicPr>
          <p:cNvPr id="2" name="Picture 1"/>
          <p:cNvPicPr>
            <a:picLocks noChangeAspect="1" noChangeArrowheads="1"/>
          </p:cNvPicPr>
          <p:nvPr/>
        </p:nvPicPr>
        <p:blipFill>
          <a:blip r:embed="rId3" cstate="print"/>
          <a:srcRect/>
          <a:stretch>
            <a:fillRect/>
          </a:stretch>
        </p:blipFill>
        <p:spPr bwMode="auto">
          <a:xfrm>
            <a:off x="5580112" y="2780928"/>
            <a:ext cx="3407663" cy="2952328"/>
          </a:xfrm>
          <a:prstGeom prst="rect">
            <a:avLst/>
          </a:prstGeom>
          <a:noFill/>
          <a:ln w="9525">
            <a:noFill/>
            <a:miter lim="800000"/>
            <a:headEnd/>
            <a:tailEnd/>
          </a:ln>
        </p:spPr>
      </p:pic>
    </p:spTree>
    <p:extLst>
      <p:ext uri="{BB962C8B-B14F-4D97-AF65-F5344CB8AC3E}">
        <p14:creationId xmlns:p14="http://schemas.microsoft.com/office/powerpoint/2010/main" xmlns="" val="287094009"/>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8"/>
          <p:cNvGrpSpPr>
            <a:grpSpLocks/>
          </p:cNvGrpSpPr>
          <p:nvPr/>
        </p:nvGrpSpPr>
        <p:grpSpPr bwMode="auto">
          <a:xfrm>
            <a:off x="611560" y="5229200"/>
            <a:ext cx="7993062" cy="1422401"/>
            <a:chOff x="385" y="527"/>
            <a:chExt cx="5035" cy="896"/>
          </a:xfrm>
        </p:grpSpPr>
        <p:sp>
          <p:nvSpPr>
            <p:cNvPr id="5" name="Text Box 9"/>
            <p:cNvSpPr txBox="1">
              <a:spLocks noChangeArrowheads="1"/>
            </p:cNvSpPr>
            <p:nvPr/>
          </p:nvSpPr>
          <p:spPr bwMode="auto">
            <a:xfrm>
              <a:off x="385" y="527"/>
              <a:ext cx="5035" cy="89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lnSpc>
                  <a:spcPct val="120000"/>
                </a:lnSpc>
                <a:spcBef>
                  <a:spcPct val="50000"/>
                </a:spcBef>
              </a:pPr>
              <a:r>
                <a:rPr lang="en-US" altLang="zh-CN" sz="2400" b="1" dirty="0"/>
                <a:t>       </a:t>
              </a:r>
              <a:r>
                <a:rPr lang="zh-CN" altLang="en-US" sz="2400" b="1" dirty="0"/>
                <a:t>由分析可知，利用传输延迟时间</a:t>
              </a:r>
              <a:r>
                <a:rPr lang="zh-CN" altLang="en-US" sz="2400" b="1" dirty="0" smtClean="0"/>
                <a:t>的下降沿</a:t>
              </a:r>
              <a:r>
                <a:rPr lang="en-US" altLang="zh-CN" sz="2400" b="1" dirty="0" smtClean="0"/>
                <a:t>JK</a:t>
              </a:r>
              <a:r>
                <a:rPr lang="zh-CN" altLang="en-US" sz="2400" b="1" dirty="0"/>
                <a:t>沿触发器的特性方程仍为：                            。属于这种类型的集成触发器常用的型号为双</a:t>
              </a:r>
              <a:r>
                <a:rPr lang="en-US" altLang="zh-CN" sz="2400" b="1" dirty="0"/>
                <a:t>JK</a:t>
              </a:r>
              <a:r>
                <a:rPr lang="zh-CN" altLang="en-US" sz="2400" b="1" dirty="0"/>
                <a:t>触发器</a:t>
              </a:r>
              <a:r>
                <a:rPr lang="en-US" altLang="zh-CN" sz="2400" b="1" dirty="0"/>
                <a:t>74S112</a:t>
              </a:r>
              <a:r>
                <a:rPr lang="zh-CN" altLang="en-US" sz="2400" b="1" dirty="0"/>
                <a:t>、</a:t>
              </a:r>
              <a:r>
                <a:rPr lang="en-US" altLang="zh-CN" sz="2400" b="1" dirty="0"/>
                <a:t>74LS112</a:t>
              </a:r>
              <a:r>
                <a:rPr lang="zh-CN" altLang="en-US" sz="2400" b="1" dirty="0"/>
                <a:t>。</a:t>
              </a:r>
            </a:p>
          </p:txBody>
        </p:sp>
        <p:graphicFrame>
          <p:nvGraphicFramePr>
            <p:cNvPr id="6" name="Object 10"/>
            <p:cNvGraphicFramePr>
              <a:graphicFrameLocks noChangeAspect="1"/>
            </p:cNvGraphicFramePr>
            <p:nvPr/>
          </p:nvGraphicFramePr>
          <p:xfrm>
            <a:off x="2018" y="799"/>
            <a:ext cx="1315" cy="289"/>
          </p:xfrm>
          <a:graphic>
            <a:graphicData uri="http://schemas.openxmlformats.org/presentationml/2006/ole">
              <p:oleObj spid="_x0000_s109677" name="公式" r:id="rId3" imgW="1155700" imgH="254000" progId="">
                <p:embed/>
              </p:oleObj>
            </a:graphicData>
          </a:graphic>
        </p:graphicFrame>
      </p:grpSp>
      <p:sp>
        <p:nvSpPr>
          <p:cNvPr id="7" name="Text Box 11"/>
          <p:cNvSpPr txBox="1">
            <a:spLocks noChangeArrowheads="1"/>
          </p:cNvSpPr>
          <p:nvPr/>
        </p:nvSpPr>
        <p:spPr bwMode="auto">
          <a:xfrm>
            <a:off x="612775" y="2858914"/>
            <a:ext cx="7559675"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en-US" altLang="zh-CN" b="1">
                <a:solidFill>
                  <a:srgbClr val="FF0000"/>
                </a:solidFill>
              </a:rPr>
              <a:t>      </a:t>
            </a:r>
            <a:endParaRPr lang="en-US" altLang="zh-CN" b="1"/>
          </a:p>
        </p:txBody>
      </p:sp>
      <p:pic>
        <p:nvPicPr>
          <p:cNvPr id="8" name="Picture 17" descr="4-2-20"/>
          <p:cNvPicPr>
            <a:picLocks noChangeAspect="1" noChangeArrowheads="1"/>
          </p:cNvPicPr>
          <p:nvPr/>
        </p:nvPicPr>
        <p:blipFill>
          <a:blip r:embed="rId4" cstate="print">
            <a:clrChange>
              <a:clrFrom>
                <a:srgbClr val="FAFAFA"/>
              </a:clrFrom>
              <a:clrTo>
                <a:srgbClr val="FAFAFA">
                  <a:alpha val="0"/>
                </a:srgbClr>
              </a:clrTo>
            </a:clrChange>
            <a:lum bright="-18000" contrast="72000"/>
            <a:extLst>
              <a:ext uri="{28A0092B-C50C-407E-A947-70E740481C1C}">
                <a14:useLocalDpi xmlns:a14="http://schemas.microsoft.com/office/drawing/2010/main" xmlns="" val="0"/>
              </a:ext>
            </a:extLst>
          </a:blip>
          <a:srcRect l="54170" t="33937"/>
          <a:stretch>
            <a:fillRect/>
          </a:stretch>
        </p:blipFill>
        <p:spPr bwMode="auto">
          <a:xfrm>
            <a:off x="2268539" y="1748829"/>
            <a:ext cx="4175670" cy="2994377"/>
          </a:xfrm>
          <a:prstGeom prst="rect">
            <a:avLst/>
          </a:prstGeom>
          <a:noFill/>
          <a:extLst>
            <a:ext uri="{909E8E84-426E-40DD-AFC4-6F175D3DCCD1}">
              <a14:hiddenFill xmlns:a14="http://schemas.microsoft.com/office/drawing/2010/main" xmlns="">
                <a:solidFill>
                  <a:srgbClr val="FFFFFF"/>
                </a:solidFill>
              </a14:hiddenFill>
            </a:ext>
          </a:extLst>
        </p:spPr>
      </p:pic>
      <p:sp>
        <p:nvSpPr>
          <p:cNvPr id="9" name="Text Box 20"/>
          <p:cNvSpPr txBox="1">
            <a:spLocks noChangeArrowheads="1"/>
          </p:cNvSpPr>
          <p:nvPr/>
        </p:nvSpPr>
        <p:spPr bwMode="auto">
          <a:xfrm>
            <a:off x="1907704" y="4581128"/>
            <a:ext cx="5329238"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zh-CN" altLang="en-US" sz="2000" b="1" dirty="0">
                <a:latin typeface="楷体_GB2312" pitchFamily="49" charset="-122"/>
                <a:ea typeface="楷体_GB2312" pitchFamily="49" charset="-122"/>
              </a:rPr>
              <a:t>利用传输延迟时间</a:t>
            </a:r>
            <a:r>
              <a:rPr lang="zh-CN" altLang="en-US" sz="2000" b="1" dirty="0" smtClean="0">
                <a:latin typeface="楷体_GB2312" pitchFamily="49" charset="-122"/>
                <a:ea typeface="楷体_GB2312" pitchFamily="49" charset="-122"/>
              </a:rPr>
              <a:t>的下降沿</a:t>
            </a:r>
            <a:r>
              <a:rPr lang="en-US" altLang="zh-CN" sz="2000" b="1" dirty="0">
                <a:latin typeface="楷体_GB2312" pitchFamily="49" charset="-122"/>
                <a:ea typeface="楷体_GB2312" pitchFamily="49" charset="-122"/>
              </a:rPr>
              <a:t>JK</a:t>
            </a:r>
            <a:r>
              <a:rPr lang="zh-CN" altLang="en-US" sz="2000" b="1" dirty="0">
                <a:latin typeface="楷体_GB2312" pitchFamily="49" charset="-122"/>
                <a:ea typeface="楷体_GB2312" pitchFamily="49" charset="-122"/>
              </a:rPr>
              <a:t>触发器逻辑符号</a:t>
            </a:r>
            <a:r>
              <a:rPr lang="zh-CN" altLang="en-US" sz="1800" dirty="0"/>
              <a:t>  </a:t>
            </a:r>
          </a:p>
        </p:txBody>
      </p:sp>
      <p:sp>
        <p:nvSpPr>
          <p:cNvPr id="11" name="标题 1"/>
          <p:cNvSpPr txBox="1">
            <a:spLocks/>
          </p:cNvSpPr>
          <p:nvPr/>
        </p:nvSpPr>
        <p:spPr bwMode="auto">
          <a:xfrm>
            <a:off x="1259633" y="1052736"/>
            <a:ext cx="7560840" cy="63579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p>
            <a:pPr lvl="0" fontAlgn="base">
              <a:spcBef>
                <a:spcPct val="0"/>
              </a:spcBef>
              <a:spcAft>
                <a:spcPct val="0"/>
              </a:spcAft>
              <a:defRPr/>
            </a:pPr>
            <a:r>
              <a:rPr kumimoji="1" lang="en-US" altLang="zh-CN" sz="3200" b="1" kern="0" dirty="0" smtClean="0">
                <a:solidFill>
                  <a:schemeClr val="tx2"/>
                </a:solidFill>
              </a:rPr>
              <a:t>2. </a:t>
            </a:r>
            <a:r>
              <a:rPr kumimoji="1" lang="zh-CN" altLang="en-US" sz="3200" b="1" kern="0" dirty="0" smtClean="0">
                <a:solidFill>
                  <a:schemeClr val="tx2"/>
                </a:solidFill>
              </a:rPr>
              <a:t>下降沿触发的</a:t>
            </a:r>
            <a:r>
              <a:rPr kumimoji="1" lang="en-US" altLang="zh-CN" sz="3200" b="1" kern="0" dirty="0" smtClean="0">
                <a:solidFill>
                  <a:schemeClr val="tx2"/>
                </a:solidFill>
              </a:rPr>
              <a:t>JK</a:t>
            </a:r>
            <a:r>
              <a:rPr kumimoji="1" lang="zh-CN" altLang="en-US" sz="3200" b="1" kern="0" dirty="0" smtClean="0">
                <a:solidFill>
                  <a:schemeClr val="tx2"/>
                </a:solidFill>
              </a:rPr>
              <a:t>触发器</a:t>
            </a:r>
            <a:endParaRPr kumimoji="1" lang="zh-CN" altLang="en-US" sz="3200" b="1" kern="0" dirty="0">
              <a:solidFill>
                <a:schemeClr val="tx2"/>
              </a:solidFill>
            </a:endParaRPr>
          </a:p>
        </p:txBody>
      </p:sp>
      <p:sp>
        <p:nvSpPr>
          <p:cNvPr id="12" name="标题 1"/>
          <p:cNvSpPr txBox="1">
            <a:spLocks/>
          </p:cNvSpPr>
          <p:nvPr/>
        </p:nvSpPr>
        <p:spPr bwMode="auto">
          <a:xfrm>
            <a:off x="1259632" y="332656"/>
            <a:ext cx="7632848" cy="5669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p>
            <a:pPr lvl="0" fontAlgn="base">
              <a:spcBef>
                <a:spcPct val="0"/>
              </a:spcBef>
              <a:spcAft>
                <a:spcPct val="0"/>
              </a:spcAft>
              <a:defRPr/>
            </a:pPr>
            <a:r>
              <a:rPr kumimoji="1" lang="en-US" altLang="zh-CN" sz="3200" b="1" kern="0" dirty="0" smtClean="0">
                <a:solidFill>
                  <a:schemeClr val="tx2"/>
                </a:solidFill>
              </a:rPr>
              <a:t>5.3.1 TTL</a:t>
            </a:r>
            <a:r>
              <a:rPr kumimoji="1" lang="zh-CN" altLang="en-US" sz="3200" b="1" kern="0" dirty="0" smtClean="0">
                <a:solidFill>
                  <a:schemeClr val="tx2"/>
                </a:solidFill>
              </a:rPr>
              <a:t>边沿触发器</a:t>
            </a:r>
            <a:endParaRPr kumimoji="1" lang="zh-CN" altLang="en-US" sz="3200" b="1" kern="0" dirty="0">
              <a:solidFill>
                <a:schemeClr val="tx2"/>
              </a:solidFill>
            </a:endParaRPr>
          </a:p>
        </p:txBody>
      </p:sp>
    </p:spTree>
    <p:extLst>
      <p:ext uri="{BB962C8B-B14F-4D97-AF65-F5344CB8AC3E}">
        <p14:creationId xmlns:p14="http://schemas.microsoft.com/office/powerpoint/2010/main" xmlns="" val="2644240457"/>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16"/>
          <p:cNvGrpSpPr>
            <a:grpSpLocks/>
          </p:cNvGrpSpPr>
          <p:nvPr/>
        </p:nvGrpSpPr>
        <p:grpSpPr bwMode="auto">
          <a:xfrm>
            <a:off x="755650" y="1878656"/>
            <a:ext cx="7559675" cy="830263"/>
            <a:chOff x="386" y="1279"/>
            <a:chExt cx="4762" cy="523"/>
          </a:xfrm>
        </p:grpSpPr>
        <p:sp>
          <p:nvSpPr>
            <p:cNvPr id="5" name="Text Box 11"/>
            <p:cNvSpPr txBox="1">
              <a:spLocks noChangeArrowheads="1"/>
            </p:cNvSpPr>
            <p:nvPr/>
          </p:nvSpPr>
          <p:spPr bwMode="auto">
            <a:xfrm>
              <a:off x="386" y="1279"/>
              <a:ext cx="4762" cy="52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en-US" altLang="zh-CN" sz="2400" b="1" dirty="0" smtClean="0">
                  <a:solidFill>
                    <a:srgbClr val="FF0000"/>
                  </a:solidFill>
                </a:rPr>
                <a:t> </a:t>
              </a:r>
              <a:r>
                <a:rPr lang="zh-CN" altLang="en-US" sz="2400" b="1" dirty="0">
                  <a:solidFill>
                    <a:srgbClr val="FF0000"/>
                  </a:solidFill>
                  <a:ea typeface="楷体_GB2312" pitchFamily="49" charset="-122"/>
                </a:rPr>
                <a:t>例：</a:t>
              </a:r>
              <a:r>
                <a:rPr lang="zh-CN" altLang="en-US" sz="2400" b="1" dirty="0" smtClean="0"/>
                <a:t>已知下降沿</a:t>
              </a:r>
              <a:r>
                <a:rPr lang="en-US" altLang="zh-CN" sz="2400" b="1" dirty="0" smtClean="0"/>
                <a:t>JK</a:t>
              </a:r>
              <a:r>
                <a:rPr lang="zh-CN" altLang="en-US" sz="2400" b="1" dirty="0"/>
                <a:t>触发器的</a:t>
              </a:r>
              <a:r>
                <a:rPr lang="en-US" altLang="zh-CN" sz="2400" b="1" dirty="0"/>
                <a:t>CP</a:t>
              </a:r>
              <a:r>
                <a:rPr lang="zh-CN" altLang="en-US" sz="2400" b="1" dirty="0" smtClean="0"/>
                <a:t>、    </a:t>
              </a:r>
              <a:r>
                <a:rPr lang="zh-CN" altLang="en-US" sz="2400" b="1" dirty="0"/>
                <a:t>、     、</a:t>
              </a:r>
              <a:r>
                <a:rPr lang="en-US" altLang="zh-CN" sz="2400" b="1" dirty="0"/>
                <a:t>J</a:t>
              </a:r>
              <a:r>
                <a:rPr lang="zh-CN" altLang="en-US" sz="2400" b="1" dirty="0"/>
                <a:t>、</a:t>
              </a:r>
              <a:r>
                <a:rPr lang="en-US" altLang="zh-CN" sz="2400" b="1" dirty="0"/>
                <a:t>K</a:t>
              </a:r>
              <a:r>
                <a:rPr lang="zh-CN" altLang="en-US" sz="2400" b="1" dirty="0"/>
                <a:t>信号波形如下，试画出</a:t>
              </a:r>
              <a:r>
                <a:rPr lang="en-US" altLang="zh-CN" sz="2400" b="1" dirty="0"/>
                <a:t>Q</a:t>
              </a:r>
              <a:r>
                <a:rPr lang="zh-CN" altLang="en-US" sz="2400" b="1" dirty="0"/>
                <a:t>的波形（</a:t>
              </a:r>
              <a:r>
                <a:rPr lang="zh-CN" altLang="en-US" sz="2400" b="1" dirty="0" smtClean="0"/>
                <a:t>令初态为</a:t>
              </a:r>
              <a:r>
                <a:rPr lang="en-US" altLang="zh-CN" sz="2400" b="1" dirty="0" smtClean="0"/>
                <a:t>Q</a:t>
              </a:r>
              <a:r>
                <a:rPr lang="en-US" altLang="zh-CN" sz="2400" b="1" i="1" baseline="30000" dirty="0" smtClean="0"/>
                <a:t> </a:t>
              </a:r>
              <a:r>
                <a:rPr lang="en-US" altLang="zh-CN" sz="2400" b="1" dirty="0" smtClean="0"/>
                <a:t>= 0</a:t>
              </a:r>
              <a:r>
                <a:rPr lang="zh-CN" altLang="en-US" sz="2400" b="1" dirty="0" smtClean="0"/>
                <a:t>）</a:t>
              </a:r>
              <a:r>
                <a:rPr lang="zh-CN" altLang="en-US" sz="2400" b="1" dirty="0"/>
                <a:t>。</a:t>
              </a:r>
            </a:p>
          </p:txBody>
        </p:sp>
        <p:graphicFrame>
          <p:nvGraphicFramePr>
            <p:cNvPr id="6" name="Object 12"/>
            <p:cNvGraphicFramePr>
              <a:graphicFrameLocks noChangeAspect="1"/>
            </p:cNvGraphicFramePr>
            <p:nvPr/>
          </p:nvGraphicFramePr>
          <p:xfrm>
            <a:off x="3244" y="1303"/>
            <a:ext cx="265" cy="272"/>
          </p:xfrm>
          <a:graphic>
            <a:graphicData uri="http://schemas.openxmlformats.org/presentationml/2006/ole">
              <p:oleObj spid="_x0000_s110918" name="公式" r:id="rId3" imgW="228600" imgH="241300" progId="">
                <p:embed/>
              </p:oleObj>
            </a:graphicData>
          </a:graphic>
        </p:graphicFrame>
        <p:graphicFrame>
          <p:nvGraphicFramePr>
            <p:cNvPr id="7" name="Object 13"/>
            <p:cNvGraphicFramePr>
              <a:graphicFrameLocks noChangeAspect="1"/>
            </p:cNvGraphicFramePr>
            <p:nvPr/>
          </p:nvGraphicFramePr>
          <p:xfrm>
            <a:off x="3652" y="1303"/>
            <a:ext cx="272" cy="296"/>
          </p:xfrm>
          <a:graphic>
            <a:graphicData uri="http://schemas.openxmlformats.org/presentationml/2006/ole">
              <p:oleObj spid="_x0000_s110919" name="公式" r:id="rId4" imgW="215713" imgH="241091" progId="">
                <p:embed/>
              </p:oleObj>
            </a:graphicData>
          </a:graphic>
        </p:graphicFrame>
      </p:grpSp>
      <p:pic>
        <p:nvPicPr>
          <p:cNvPr id="9" name="Picture 15" descr="JK-FF-BY"/>
          <p:cNvPicPr>
            <a:picLocks noChangeAspect="1" noChangeArrowheads="1"/>
          </p:cNvPicPr>
          <p:nvPr/>
        </p:nvPicPr>
        <p:blipFill>
          <a:blip r:embed="rId5" cstate="print">
            <a:clrChange>
              <a:clrFrom>
                <a:srgbClr val="F5F5F5"/>
              </a:clrFrom>
              <a:clrTo>
                <a:srgbClr val="F5F5F5">
                  <a:alpha val="0"/>
                </a:srgbClr>
              </a:clrTo>
            </a:clrChange>
            <a:lum bright="-18000" contrast="60000"/>
            <a:extLst>
              <a:ext uri="{28A0092B-C50C-407E-A947-70E740481C1C}">
                <a14:useLocalDpi xmlns:a14="http://schemas.microsoft.com/office/drawing/2010/main" xmlns="" val="0"/>
              </a:ext>
            </a:extLst>
          </a:blip>
          <a:srcRect/>
          <a:stretch>
            <a:fillRect/>
          </a:stretch>
        </p:blipFill>
        <p:spPr bwMode="auto">
          <a:xfrm>
            <a:off x="2267744" y="2753754"/>
            <a:ext cx="4536504" cy="3747547"/>
          </a:xfrm>
          <a:prstGeom prst="rect">
            <a:avLst/>
          </a:prstGeom>
          <a:noFill/>
          <a:extLst>
            <a:ext uri="{909E8E84-426E-40DD-AFC4-6F175D3DCCD1}">
              <a14:hiddenFill xmlns:a14="http://schemas.microsoft.com/office/drawing/2010/main" xmlns="">
                <a:solidFill>
                  <a:srgbClr val="FFFFFF"/>
                </a:solidFill>
              </a14:hiddenFill>
            </a:ext>
          </a:extLst>
        </p:spPr>
      </p:pic>
      <p:sp>
        <p:nvSpPr>
          <p:cNvPr id="11" name="标题 1"/>
          <p:cNvSpPr txBox="1">
            <a:spLocks/>
          </p:cNvSpPr>
          <p:nvPr/>
        </p:nvSpPr>
        <p:spPr bwMode="auto">
          <a:xfrm>
            <a:off x="1259633" y="1052736"/>
            <a:ext cx="7560840" cy="63579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p>
            <a:pPr lvl="0" fontAlgn="base">
              <a:spcBef>
                <a:spcPct val="0"/>
              </a:spcBef>
              <a:spcAft>
                <a:spcPct val="0"/>
              </a:spcAft>
              <a:defRPr/>
            </a:pPr>
            <a:r>
              <a:rPr kumimoji="1" lang="en-US" altLang="zh-CN" sz="3200" b="1" kern="0" dirty="0" smtClean="0">
                <a:solidFill>
                  <a:schemeClr val="tx2"/>
                </a:solidFill>
              </a:rPr>
              <a:t>2. </a:t>
            </a:r>
            <a:r>
              <a:rPr kumimoji="1" lang="zh-CN" altLang="en-US" sz="3200" b="1" kern="0" dirty="0" smtClean="0">
                <a:solidFill>
                  <a:schemeClr val="tx2"/>
                </a:solidFill>
              </a:rPr>
              <a:t>下降沿触发的</a:t>
            </a:r>
            <a:r>
              <a:rPr kumimoji="1" lang="en-US" altLang="zh-CN" sz="3200" b="1" kern="0" dirty="0" smtClean="0">
                <a:solidFill>
                  <a:schemeClr val="tx2"/>
                </a:solidFill>
              </a:rPr>
              <a:t>JK</a:t>
            </a:r>
            <a:r>
              <a:rPr kumimoji="1" lang="zh-CN" altLang="en-US" sz="3200" b="1" kern="0" dirty="0" smtClean="0">
                <a:solidFill>
                  <a:schemeClr val="tx2"/>
                </a:solidFill>
              </a:rPr>
              <a:t>触发器</a:t>
            </a:r>
            <a:endParaRPr kumimoji="1" lang="zh-CN" altLang="en-US" sz="3200" b="1" kern="0" dirty="0">
              <a:solidFill>
                <a:schemeClr val="tx2"/>
              </a:solidFill>
            </a:endParaRPr>
          </a:p>
        </p:txBody>
      </p:sp>
      <p:sp>
        <p:nvSpPr>
          <p:cNvPr id="12" name="标题 1"/>
          <p:cNvSpPr txBox="1">
            <a:spLocks/>
          </p:cNvSpPr>
          <p:nvPr/>
        </p:nvSpPr>
        <p:spPr bwMode="auto">
          <a:xfrm>
            <a:off x="1259632" y="332656"/>
            <a:ext cx="7632848" cy="5669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p>
            <a:pPr lvl="0" fontAlgn="base">
              <a:spcBef>
                <a:spcPct val="0"/>
              </a:spcBef>
              <a:spcAft>
                <a:spcPct val="0"/>
              </a:spcAft>
              <a:defRPr/>
            </a:pPr>
            <a:r>
              <a:rPr kumimoji="1" lang="en-US" altLang="zh-CN" sz="3200" b="1" kern="0" dirty="0" smtClean="0">
                <a:solidFill>
                  <a:schemeClr val="tx2"/>
                </a:solidFill>
              </a:rPr>
              <a:t>5.3.1 TTL</a:t>
            </a:r>
            <a:r>
              <a:rPr kumimoji="1" lang="zh-CN" altLang="en-US" sz="3200" b="1" kern="0" dirty="0" smtClean="0">
                <a:solidFill>
                  <a:schemeClr val="tx2"/>
                </a:solidFill>
              </a:rPr>
              <a:t>边沿触发器</a:t>
            </a:r>
            <a:endParaRPr kumimoji="1" lang="zh-CN" altLang="en-US" sz="3200" b="1" kern="0" dirty="0">
              <a:solidFill>
                <a:schemeClr val="tx2"/>
              </a:solidFill>
            </a:endParaRPr>
          </a:p>
        </p:txBody>
      </p:sp>
    </p:spTree>
    <p:extLst>
      <p:ext uri="{BB962C8B-B14F-4D97-AF65-F5344CB8AC3E}">
        <p14:creationId xmlns:p14="http://schemas.microsoft.com/office/powerpoint/2010/main" xmlns="" val="2314712742"/>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1988840"/>
            <a:ext cx="8352928" cy="4608512"/>
          </a:xfrm>
        </p:spPr>
        <p:txBody>
          <a:bodyPr/>
          <a:lstStyle/>
          <a:p>
            <a:pPr>
              <a:lnSpc>
                <a:spcPct val="100000"/>
              </a:lnSpc>
              <a:spcBef>
                <a:spcPts val="600"/>
              </a:spcBef>
              <a:buSzPct val="100000"/>
              <a:buFont typeface="Wingdings" pitchFamily="2" charset="2"/>
              <a:buChar char="p"/>
            </a:pPr>
            <a:r>
              <a:rPr lang="en-US" altLang="zh-CN" sz="2800" dirty="0" smtClean="0"/>
              <a:t>CMOS</a:t>
            </a:r>
            <a:r>
              <a:rPr lang="zh-CN" altLang="en-US" sz="2800" dirty="0" smtClean="0"/>
              <a:t>边沿触发器较多采用传输门作为信号控制开关。</a:t>
            </a:r>
            <a:endParaRPr lang="en-US" altLang="zh-CN" sz="2800" dirty="0" smtClean="0"/>
          </a:p>
          <a:p>
            <a:pPr lvl="1">
              <a:lnSpc>
                <a:spcPct val="100000"/>
              </a:lnSpc>
              <a:spcBef>
                <a:spcPts val="600"/>
              </a:spcBef>
              <a:buSzPct val="100000"/>
            </a:pPr>
            <a:r>
              <a:rPr lang="en-US" altLang="zh-CN" sz="2600" dirty="0" smtClean="0"/>
              <a:t> </a:t>
            </a:r>
            <a:r>
              <a:rPr lang="en-US" altLang="zh-CN" sz="2400" dirty="0" smtClean="0"/>
              <a:t>CMOS</a:t>
            </a:r>
            <a:r>
              <a:rPr lang="zh-CN" altLang="en-US" sz="2400" dirty="0" smtClean="0"/>
              <a:t>边沿</a:t>
            </a:r>
            <a:r>
              <a:rPr lang="en-US" altLang="zh-CN" sz="2400" dirty="0" smtClean="0"/>
              <a:t>D</a:t>
            </a:r>
            <a:r>
              <a:rPr lang="zh-CN" altLang="en-US" sz="2400" dirty="0" smtClean="0"/>
              <a:t>触发器 ：如 </a:t>
            </a:r>
            <a:r>
              <a:rPr lang="en-US" altLang="zh-CN" sz="2400" dirty="0" smtClean="0"/>
              <a:t>CD4013</a:t>
            </a:r>
            <a:r>
              <a:rPr lang="zh-CN" altLang="en-US" sz="2400" dirty="0" smtClean="0"/>
              <a:t>双</a:t>
            </a:r>
            <a:r>
              <a:rPr lang="en-US" altLang="zh-CN" sz="2400" dirty="0" smtClean="0"/>
              <a:t>D</a:t>
            </a:r>
            <a:r>
              <a:rPr lang="zh-CN" altLang="en-US" sz="2400" dirty="0" smtClean="0"/>
              <a:t>触发器。</a:t>
            </a:r>
            <a:endParaRPr lang="en-US" altLang="zh-CN" sz="2400" dirty="0" smtClean="0"/>
          </a:p>
          <a:p>
            <a:pPr lvl="1">
              <a:lnSpc>
                <a:spcPct val="100000"/>
              </a:lnSpc>
              <a:spcBef>
                <a:spcPts val="600"/>
              </a:spcBef>
              <a:buSzPct val="100000"/>
            </a:pPr>
            <a:r>
              <a:rPr lang="en-US" altLang="zh-CN" sz="2400" dirty="0" smtClean="0"/>
              <a:t> CMOS</a:t>
            </a:r>
            <a:r>
              <a:rPr lang="zh-CN" altLang="en-US" sz="2400" dirty="0" smtClean="0"/>
              <a:t>边沿</a:t>
            </a:r>
            <a:r>
              <a:rPr lang="en-US" altLang="zh-CN" sz="2400" dirty="0" smtClean="0"/>
              <a:t>JK</a:t>
            </a:r>
            <a:r>
              <a:rPr lang="zh-CN" altLang="en-US" sz="2400" dirty="0" smtClean="0"/>
              <a:t>触发器：具有计数功能，在时序电路中得到了广泛的应用。如 双</a:t>
            </a:r>
            <a:r>
              <a:rPr lang="en-US" altLang="zh-CN" sz="2400" dirty="0" smtClean="0"/>
              <a:t>JK</a:t>
            </a:r>
            <a:r>
              <a:rPr lang="zh-CN" altLang="en-US" sz="2400" dirty="0" smtClean="0"/>
              <a:t>触发器</a:t>
            </a:r>
            <a:r>
              <a:rPr lang="en-US" altLang="zh-CN" sz="2400" dirty="0" smtClean="0"/>
              <a:t>CD4027</a:t>
            </a:r>
            <a:r>
              <a:rPr lang="zh-CN" altLang="en-US" sz="2400" dirty="0" smtClean="0"/>
              <a:t>。</a:t>
            </a:r>
            <a:r>
              <a:rPr lang="en-US" altLang="zh-CN" sz="2400" dirty="0" smtClean="0"/>
              <a:t> </a:t>
            </a:r>
            <a:endParaRPr lang="zh-CN" altLang="en-US" sz="2400" dirty="0" smtClean="0"/>
          </a:p>
          <a:p>
            <a:pPr lvl="1">
              <a:lnSpc>
                <a:spcPct val="100000"/>
              </a:lnSpc>
              <a:spcBef>
                <a:spcPts val="600"/>
              </a:spcBef>
              <a:buSzPct val="100000"/>
            </a:pPr>
            <a:endParaRPr lang="en-US" altLang="zh-CN" sz="2400" dirty="0" smtClean="0"/>
          </a:p>
          <a:p>
            <a:pPr lvl="1">
              <a:lnSpc>
                <a:spcPct val="100000"/>
              </a:lnSpc>
              <a:spcBef>
                <a:spcPts val="600"/>
              </a:spcBef>
              <a:buSzPct val="100000"/>
            </a:pPr>
            <a:endParaRPr lang="zh-CN" altLang="en-US" sz="2400" dirty="0"/>
          </a:p>
          <a:p>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73</a:t>
            </a:fld>
            <a:endParaRPr lang="zh-CN" altLang="en-US"/>
          </a:p>
        </p:txBody>
      </p:sp>
      <p:sp>
        <p:nvSpPr>
          <p:cNvPr id="7" name="标题 1"/>
          <p:cNvSpPr txBox="1">
            <a:spLocks/>
          </p:cNvSpPr>
          <p:nvPr/>
        </p:nvSpPr>
        <p:spPr bwMode="auto">
          <a:xfrm>
            <a:off x="1331640" y="908720"/>
            <a:ext cx="7632848" cy="5669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p>
            <a:pPr lvl="0" fontAlgn="base">
              <a:spcBef>
                <a:spcPct val="0"/>
              </a:spcBef>
              <a:spcAft>
                <a:spcPct val="0"/>
              </a:spcAft>
              <a:defRPr/>
            </a:pPr>
            <a:r>
              <a:rPr kumimoji="1" lang="en-US" altLang="zh-CN" sz="3200" b="1" kern="0" dirty="0" smtClean="0">
                <a:solidFill>
                  <a:schemeClr val="tx2"/>
                </a:solidFill>
              </a:rPr>
              <a:t>5.3.2 CMOS</a:t>
            </a:r>
            <a:r>
              <a:rPr kumimoji="1" lang="zh-CN" altLang="en-US" sz="3200" b="1" kern="0" dirty="0" smtClean="0">
                <a:solidFill>
                  <a:schemeClr val="tx2"/>
                </a:solidFill>
              </a:rPr>
              <a:t>边沿触发器（</a:t>
            </a:r>
            <a:r>
              <a:rPr kumimoji="1" lang="zh-CN" altLang="en-US" sz="3200" b="1" kern="0" dirty="0" smtClean="0">
                <a:solidFill>
                  <a:srgbClr val="FF0000"/>
                </a:solidFill>
              </a:rPr>
              <a:t>不讲</a:t>
            </a:r>
            <a:r>
              <a:rPr kumimoji="1" lang="zh-CN" altLang="en-US" sz="3200" b="1" kern="0" dirty="0" smtClean="0">
                <a:solidFill>
                  <a:schemeClr val="tx2"/>
                </a:solidFill>
              </a:rPr>
              <a:t>）</a:t>
            </a:r>
            <a:endParaRPr kumimoji="1" lang="zh-CN" altLang="en-US" sz="3200" b="1" kern="0" dirty="0">
              <a:solidFill>
                <a:schemeClr val="tx2"/>
              </a:solidFill>
            </a:endParaRPr>
          </a:p>
        </p:txBody>
      </p:sp>
    </p:spTree>
    <p:extLst>
      <p:ext uri="{BB962C8B-B14F-4D97-AF65-F5344CB8AC3E}">
        <p14:creationId xmlns:p14="http://schemas.microsoft.com/office/powerpoint/2010/main" xmlns="" val="96970654"/>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59632" y="1052736"/>
            <a:ext cx="7560840" cy="638944"/>
          </a:xfrm>
        </p:spPr>
        <p:txBody>
          <a:bodyPr/>
          <a:lstStyle/>
          <a:p>
            <a:r>
              <a:rPr lang="en-US" altLang="zh-CN" dirty="0" smtClean="0"/>
              <a:t>5.4 </a:t>
            </a:r>
            <a:r>
              <a:rPr lang="zh-CN" altLang="en-US" dirty="0" smtClean="0"/>
              <a:t>触发器的分类和区别</a:t>
            </a:r>
            <a:endParaRPr lang="zh-CN" altLang="en-US" dirty="0"/>
          </a:p>
        </p:txBody>
      </p:sp>
      <p:sp>
        <p:nvSpPr>
          <p:cNvPr id="3" name="内容占位符 2"/>
          <p:cNvSpPr>
            <a:spLocks noGrp="1"/>
          </p:cNvSpPr>
          <p:nvPr>
            <p:ph idx="1"/>
          </p:nvPr>
        </p:nvSpPr>
        <p:spPr>
          <a:xfrm>
            <a:off x="467544" y="1988840"/>
            <a:ext cx="8487544" cy="4608512"/>
          </a:xfrm>
        </p:spPr>
        <p:txBody>
          <a:bodyPr/>
          <a:lstStyle/>
          <a:p>
            <a:pPr marL="514350" indent="-514350">
              <a:lnSpc>
                <a:spcPct val="100000"/>
              </a:lnSpc>
              <a:spcBef>
                <a:spcPts val="0"/>
              </a:spcBef>
              <a:buSzPct val="100000"/>
              <a:buFont typeface="Wingdings" pitchFamily="2" charset="2"/>
              <a:buChar char="p"/>
            </a:pPr>
            <a:r>
              <a:rPr lang="zh-CN" altLang="en-US" sz="2800" dirty="0" smtClean="0"/>
              <a:t>触发器的分类和区别</a:t>
            </a:r>
            <a:endParaRPr lang="en-US" altLang="zh-CN" sz="2800" dirty="0" smtClean="0"/>
          </a:p>
          <a:p>
            <a:pPr lvl="1">
              <a:lnSpc>
                <a:spcPct val="100000"/>
              </a:lnSpc>
              <a:spcBef>
                <a:spcPts val="0"/>
              </a:spcBef>
              <a:buSzPct val="100000"/>
            </a:pPr>
            <a:r>
              <a:rPr lang="zh-CN" altLang="en-US" sz="2400" dirty="0" smtClean="0"/>
              <a:t>触发方式分类：从触发方式上，将触发器分为电平触发、脉冲触发和边沿触发。</a:t>
            </a:r>
            <a:endParaRPr lang="en-US" altLang="zh-CN" sz="2400" dirty="0" smtClean="0"/>
          </a:p>
          <a:p>
            <a:pPr lvl="2">
              <a:lnSpc>
                <a:spcPct val="100000"/>
              </a:lnSpc>
              <a:spcBef>
                <a:spcPts val="0"/>
              </a:spcBef>
              <a:buSzPct val="100000"/>
              <a:buFont typeface="Wingdings" pitchFamily="2" charset="2"/>
              <a:buChar char="u"/>
            </a:pPr>
            <a:r>
              <a:rPr lang="zh-CN" altLang="en-US" dirty="0" smtClean="0"/>
              <a:t>电平触发的触发器，其电路结构是各种触发器中最简单的一种，通常称为锁存器。</a:t>
            </a:r>
            <a:endParaRPr lang="en-US" altLang="zh-CN" dirty="0" smtClean="0"/>
          </a:p>
          <a:p>
            <a:pPr lvl="2">
              <a:lnSpc>
                <a:spcPct val="100000"/>
              </a:lnSpc>
              <a:spcBef>
                <a:spcPts val="0"/>
              </a:spcBef>
              <a:buSzPct val="100000"/>
              <a:buFont typeface="Wingdings" pitchFamily="2" charset="2"/>
              <a:buChar char="u"/>
            </a:pPr>
            <a:r>
              <a:rPr lang="en-US" altLang="zh-CN" dirty="0" smtClean="0"/>
              <a:t> </a:t>
            </a:r>
            <a:r>
              <a:rPr lang="zh-CN" altLang="en-US" dirty="0" smtClean="0"/>
              <a:t>例如：基本</a:t>
            </a:r>
            <a:r>
              <a:rPr lang="en-US" altLang="zh-CN" dirty="0" smtClean="0"/>
              <a:t>RS</a:t>
            </a:r>
            <a:r>
              <a:rPr lang="zh-CN" altLang="en-US" dirty="0" smtClean="0"/>
              <a:t>触发器、时钟触发器。</a:t>
            </a:r>
            <a:endParaRPr lang="en-US" altLang="zh-CN" dirty="0" smtClean="0"/>
          </a:p>
          <a:p>
            <a:pPr lvl="1">
              <a:lnSpc>
                <a:spcPct val="100000"/>
              </a:lnSpc>
              <a:spcBef>
                <a:spcPts val="0"/>
              </a:spcBef>
              <a:buSzPct val="100000"/>
            </a:pPr>
            <a:r>
              <a:rPr lang="zh-CN" altLang="en-US" sz="2400" dirty="0" smtClean="0"/>
              <a:t>逻辑功能分类：</a:t>
            </a:r>
            <a:r>
              <a:rPr lang="zh-CN" altLang="en-US" sz="2400" dirty="0"/>
              <a:t>着重</a:t>
            </a:r>
            <a:r>
              <a:rPr lang="zh-CN" altLang="en-US" sz="2400" dirty="0">
                <a:solidFill>
                  <a:srgbClr val="FF0000"/>
                </a:solidFill>
              </a:rPr>
              <a:t>次态、现态及输入信号之间的逻辑</a:t>
            </a:r>
            <a:r>
              <a:rPr lang="zh-CN" altLang="en-US" sz="2400" dirty="0" smtClean="0">
                <a:solidFill>
                  <a:srgbClr val="FF0000"/>
                </a:solidFill>
              </a:rPr>
              <a:t>关系</a:t>
            </a:r>
            <a:r>
              <a:rPr lang="zh-CN" altLang="en-US" sz="2400" dirty="0" smtClean="0"/>
              <a:t>。</a:t>
            </a:r>
            <a:endParaRPr lang="en-US" altLang="zh-CN" sz="2400" dirty="0" smtClean="0"/>
          </a:p>
          <a:p>
            <a:pPr lvl="2">
              <a:lnSpc>
                <a:spcPct val="100000"/>
              </a:lnSpc>
              <a:spcBef>
                <a:spcPts val="0"/>
              </a:spcBef>
              <a:buSzPct val="100000"/>
              <a:buFont typeface="Wingdings" pitchFamily="2" charset="2"/>
              <a:buChar char="u"/>
            </a:pPr>
            <a:r>
              <a:rPr lang="zh-CN" altLang="en-US" dirty="0" smtClean="0"/>
              <a:t>可用</a:t>
            </a:r>
            <a:r>
              <a:rPr lang="zh-CN" altLang="en-US" dirty="0"/>
              <a:t>特性表、特性方程或状态转换图给出，按逻辑功能的不同，可将触发器分为：</a:t>
            </a:r>
            <a:r>
              <a:rPr lang="en-US" altLang="zh-CN" dirty="0"/>
              <a:t>RS</a:t>
            </a:r>
            <a:r>
              <a:rPr lang="zh-CN" altLang="en-US" dirty="0"/>
              <a:t>、</a:t>
            </a:r>
            <a:r>
              <a:rPr lang="en-US" altLang="zh-CN" dirty="0"/>
              <a:t>D</a:t>
            </a:r>
            <a:r>
              <a:rPr lang="zh-CN" altLang="en-US" dirty="0"/>
              <a:t>、</a:t>
            </a:r>
            <a:r>
              <a:rPr lang="en-US" altLang="zh-CN" dirty="0"/>
              <a:t>JK</a:t>
            </a:r>
            <a:r>
              <a:rPr lang="zh-CN" altLang="en-US" dirty="0"/>
              <a:t>、</a:t>
            </a:r>
            <a:r>
              <a:rPr lang="en-US" altLang="zh-CN" dirty="0"/>
              <a:t>T</a:t>
            </a:r>
            <a:r>
              <a:rPr lang="zh-CN" altLang="en-US" dirty="0"/>
              <a:t>和</a:t>
            </a:r>
            <a:r>
              <a:rPr lang="en-US" altLang="zh-CN" dirty="0"/>
              <a:t>T’</a:t>
            </a:r>
            <a:r>
              <a:rPr lang="zh-CN" altLang="en-US" dirty="0"/>
              <a:t>触发器等类型</a:t>
            </a:r>
            <a:r>
              <a:rPr lang="zh-CN" altLang="en-US" dirty="0" smtClean="0"/>
              <a:t>。</a:t>
            </a:r>
            <a:endParaRPr lang="en-US" altLang="zh-CN" dirty="0" smtClean="0"/>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74</a:t>
            </a:fld>
            <a:endParaRPr lang="zh-CN" altLang="en-US"/>
          </a:p>
        </p:txBody>
      </p:sp>
    </p:spTree>
    <p:extLst>
      <p:ext uri="{BB962C8B-B14F-4D97-AF65-F5344CB8AC3E}">
        <p14:creationId xmlns:p14="http://schemas.microsoft.com/office/powerpoint/2010/main" xmlns="" val="2867354809"/>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59632" y="1052736"/>
            <a:ext cx="7560840" cy="638944"/>
          </a:xfrm>
        </p:spPr>
        <p:txBody>
          <a:bodyPr/>
          <a:lstStyle/>
          <a:p>
            <a:r>
              <a:rPr lang="en-US" altLang="zh-CN" dirty="0" smtClean="0"/>
              <a:t>5.4 </a:t>
            </a:r>
            <a:r>
              <a:rPr lang="zh-CN" altLang="en-US" dirty="0" smtClean="0"/>
              <a:t>触发器的分类和区别</a:t>
            </a:r>
            <a:endParaRPr lang="zh-CN" altLang="en-US" dirty="0"/>
          </a:p>
        </p:txBody>
      </p:sp>
      <p:sp>
        <p:nvSpPr>
          <p:cNvPr id="3" name="内容占位符 2"/>
          <p:cNvSpPr>
            <a:spLocks noGrp="1"/>
          </p:cNvSpPr>
          <p:nvPr>
            <p:ph idx="1"/>
          </p:nvPr>
        </p:nvSpPr>
        <p:spPr>
          <a:xfrm>
            <a:off x="467544" y="1988840"/>
            <a:ext cx="8487544" cy="4608512"/>
          </a:xfrm>
        </p:spPr>
        <p:txBody>
          <a:bodyPr/>
          <a:lstStyle/>
          <a:p>
            <a:pPr marL="514350" indent="-514350">
              <a:lnSpc>
                <a:spcPct val="100000"/>
              </a:lnSpc>
              <a:spcBef>
                <a:spcPts val="0"/>
              </a:spcBef>
              <a:buSzPct val="100000"/>
              <a:buFont typeface="Wingdings" pitchFamily="2" charset="2"/>
              <a:buChar char="p"/>
            </a:pPr>
            <a:r>
              <a:rPr lang="zh-CN" altLang="en-US" sz="2800" dirty="0" smtClean="0"/>
              <a:t>触发器的分类和区别</a:t>
            </a:r>
            <a:endParaRPr lang="en-US" altLang="zh-CN" sz="2800" dirty="0" smtClean="0"/>
          </a:p>
          <a:p>
            <a:pPr lvl="1">
              <a:lnSpc>
                <a:spcPct val="100000"/>
              </a:lnSpc>
              <a:spcBef>
                <a:spcPts val="0"/>
              </a:spcBef>
              <a:buSzPct val="100000"/>
            </a:pPr>
            <a:r>
              <a:rPr lang="zh-CN" altLang="en-US" sz="2400" dirty="0" smtClean="0"/>
              <a:t>电路结构分类：着重于</a:t>
            </a:r>
            <a:r>
              <a:rPr lang="zh-CN" altLang="en-US" sz="2400" dirty="0">
                <a:solidFill>
                  <a:srgbClr val="FF0000"/>
                </a:solidFill>
              </a:rPr>
              <a:t>动作特点</a:t>
            </a:r>
            <a:r>
              <a:rPr lang="zh-CN" altLang="en-US" sz="2400" dirty="0" smtClean="0"/>
              <a:t>。</a:t>
            </a:r>
            <a:endParaRPr lang="en-US" altLang="zh-CN" sz="2400" dirty="0" smtClean="0"/>
          </a:p>
          <a:p>
            <a:pPr lvl="2">
              <a:lnSpc>
                <a:spcPct val="100000"/>
              </a:lnSpc>
              <a:spcBef>
                <a:spcPts val="0"/>
              </a:spcBef>
              <a:buSzPct val="100000"/>
              <a:buFont typeface="Wingdings" pitchFamily="2" charset="2"/>
              <a:buChar char="u"/>
            </a:pPr>
            <a:r>
              <a:rPr lang="zh-CN" altLang="en-US" dirty="0" smtClean="0"/>
              <a:t>按</a:t>
            </a:r>
            <a:r>
              <a:rPr lang="zh-CN" altLang="en-US" dirty="0"/>
              <a:t>电路结构形式的不同可将触发器分为：</a:t>
            </a:r>
            <a:r>
              <a:rPr lang="en-US" altLang="zh-CN" dirty="0"/>
              <a:t>SR</a:t>
            </a:r>
            <a:r>
              <a:rPr lang="zh-CN" altLang="en-US" dirty="0"/>
              <a:t>锁存器（基本</a:t>
            </a:r>
            <a:r>
              <a:rPr lang="en-US" altLang="zh-CN" dirty="0"/>
              <a:t>RS</a:t>
            </a:r>
            <a:r>
              <a:rPr lang="zh-CN" altLang="en-US" dirty="0"/>
              <a:t>触发器）、</a:t>
            </a:r>
            <a:r>
              <a:rPr lang="zh-CN" altLang="en-US" dirty="0" smtClean="0"/>
              <a:t>同步触发器</a:t>
            </a:r>
            <a:r>
              <a:rPr lang="zh-CN" altLang="en-US" dirty="0"/>
              <a:t>、</a:t>
            </a:r>
            <a:r>
              <a:rPr lang="zh-CN" altLang="en-US" dirty="0" smtClean="0"/>
              <a:t>主从触发器</a:t>
            </a:r>
            <a:r>
              <a:rPr lang="zh-CN" altLang="en-US" dirty="0"/>
              <a:t>、边沿触发器等</a:t>
            </a:r>
            <a:r>
              <a:rPr lang="zh-CN" altLang="en-US" dirty="0" smtClean="0"/>
              <a:t>。</a:t>
            </a:r>
            <a:endParaRPr lang="en-US" altLang="zh-CN" dirty="0" smtClean="0"/>
          </a:p>
          <a:p>
            <a:pPr>
              <a:lnSpc>
                <a:spcPct val="100000"/>
              </a:lnSpc>
              <a:spcBef>
                <a:spcPts val="0"/>
              </a:spcBef>
              <a:buSzPct val="100000"/>
              <a:buFont typeface="Wingdings" pitchFamily="2" charset="2"/>
              <a:buChar char="p"/>
            </a:pPr>
            <a:r>
              <a:rPr lang="zh-CN" altLang="en-US" sz="2800" dirty="0" smtClean="0">
                <a:solidFill>
                  <a:srgbClr val="0000CC"/>
                </a:solidFill>
              </a:rPr>
              <a:t>同一逻辑功能的触发器可以用不同的电路结构实现；</a:t>
            </a:r>
            <a:endParaRPr lang="en-US" altLang="zh-CN" sz="2800" dirty="0" smtClean="0">
              <a:solidFill>
                <a:srgbClr val="0000CC"/>
              </a:solidFill>
            </a:endParaRPr>
          </a:p>
          <a:p>
            <a:pPr lvl="1">
              <a:lnSpc>
                <a:spcPct val="100000"/>
              </a:lnSpc>
              <a:spcBef>
                <a:spcPts val="0"/>
              </a:spcBef>
              <a:buSzPct val="100000"/>
            </a:pPr>
            <a:r>
              <a:rPr lang="zh-CN" altLang="en-US" sz="2400" dirty="0" smtClean="0"/>
              <a:t>如：</a:t>
            </a:r>
            <a:r>
              <a:rPr lang="en-US" altLang="zh-CN" sz="2400" dirty="0" smtClean="0"/>
              <a:t>RS</a:t>
            </a:r>
            <a:r>
              <a:rPr lang="zh-CN" altLang="en-US" sz="2400" dirty="0" smtClean="0"/>
              <a:t>触发器可以由与非门、或非门构成的锁存器结构、同步触发器结构、主从结构及维持</a:t>
            </a:r>
            <a:r>
              <a:rPr lang="en-US" altLang="zh-CN" sz="2400" dirty="0" smtClean="0"/>
              <a:t>-</a:t>
            </a:r>
            <a:r>
              <a:rPr lang="zh-CN" altLang="en-US" sz="2400" dirty="0" smtClean="0"/>
              <a:t>阻塞上边沿结构等不同电路结构构成。</a:t>
            </a:r>
            <a:endParaRPr lang="en-US" altLang="zh-CN" sz="2400" dirty="0" smtClean="0"/>
          </a:p>
          <a:p>
            <a:pPr>
              <a:lnSpc>
                <a:spcPct val="100000"/>
              </a:lnSpc>
              <a:spcBef>
                <a:spcPts val="0"/>
              </a:spcBef>
              <a:buSzPct val="100000"/>
              <a:buFont typeface="Wingdings" pitchFamily="2" charset="2"/>
              <a:buChar char="p"/>
            </a:pPr>
            <a:r>
              <a:rPr lang="zh-CN" altLang="en-US" sz="2800" dirty="0" smtClean="0">
                <a:solidFill>
                  <a:srgbClr val="0000CC"/>
                </a:solidFill>
              </a:rPr>
              <a:t>同一电路结构可以做成不同逻辑功能的触发器</a:t>
            </a:r>
            <a:r>
              <a:rPr lang="zh-CN" altLang="en-US" sz="2800" dirty="0" smtClean="0"/>
              <a:t>。</a:t>
            </a:r>
            <a:endParaRPr lang="en-US" altLang="zh-CN" sz="2800" dirty="0" smtClean="0"/>
          </a:p>
          <a:p>
            <a:pPr lvl="1">
              <a:lnSpc>
                <a:spcPct val="100000"/>
              </a:lnSpc>
              <a:spcBef>
                <a:spcPts val="0"/>
              </a:spcBef>
              <a:buSzPct val="100000"/>
            </a:pPr>
            <a:r>
              <a:rPr lang="zh-CN" altLang="en-US" dirty="0" smtClean="0"/>
              <a:t>如：维持</a:t>
            </a:r>
            <a:r>
              <a:rPr lang="en-US" altLang="zh-CN" dirty="0" smtClean="0"/>
              <a:t>-</a:t>
            </a:r>
            <a:r>
              <a:rPr lang="zh-CN" altLang="en-US" dirty="0" smtClean="0"/>
              <a:t>阻塞上边沿结构的触发器可构成</a:t>
            </a:r>
            <a:r>
              <a:rPr lang="en-US" altLang="zh-CN" dirty="0" smtClean="0"/>
              <a:t>RS</a:t>
            </a:r>
            <a:r>
              <a:rPr lang="zh-CN" altLang="en-US" dirty="0" smtClean="0"/>
              <a:t>触发器等。</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75</a:t>
            </a:fld>
            <a:endParaRPr lang="zh-CN" altLang="en-US"/>
          </a:p>
        </p:txBody>
      </p:sp>
    </p:spTree>
    <p:extLst>
      <p:ext uri="{BB962C8B-B14F-4D97-AF65-F5344CB8AC3E}">
        <p14:creationId xmlns:p14="http://schemas.microsoft.com/office/powerpoint/2010/main" xmlns="" val="2867354809"/>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31640" y="332656"/>
            <a:ext cx="7632848" cy="566936"/>
          </a:xfrm>
        </p:spPr>
        <p:txBody>
          <a:bodyPr/>
          <a:lstStyle/>
          <a:p>
            <a:r>
              <a:rPr lang="en-US" altLang="zh-CN" dirty="0" smtClean="0"/>
              <a:t>5.6 </a:t>
            </a:r>
            <a:r>
              <a:rPr lang="zh-CN" altLang="en-US" dirty="0" smtClean="0"/>
              <a:t>触发器的典型应用</a:t>
            </a:r>
            <a:endParaRPr lang="zh-CN" altLang="en-US" dirty="0"/>
          </a:p>
        </p:txBody>
      </p:sp>
      <p:sp>
        <p:nvSpPr>
          <p:cNvPr id="3" name="内容占位符 2"/>
          <p:cNvSpPr>
            <a:spLocks noGrp="1"/>
          </p:cNvSpPr>
          <p:nvPr>
            <p:ph idx="1"/>
          </p:nvPr>
        </p:nvSpPr>
        <p:spPr>
          <a:xfrm>
            <a:off x="467544" y="1988840"/>
            <a:ext cx="8352928" cy="4608512"/>
          </a:xfrm>
        </p:spPr>
        <p:txBody>
          <a:bodyPr/>
          <a:lstStyle/>
          <a:p>
            <a:pPr>
              <a:lnSpc>
                <a:spcPct val="100000"/>
              </a:lnSpc>
              <a:spcBef>
                <a:spcPts val="0"/>
              </a:spcBef>
              <a:buSzPct val="100000"/>
              <a:buFont typeface="Wingdings" pitchFamily="2" charset="2"/>
              <a:buChar char="p"/>
            </a:pPr>
            <a:r>
              <a:rPr lang="en-US" altLang="zh-CN" sz="2800" dirty="0" smtClean="0"/>
              <a:t> RS</a:t>
            </a:r>
            <a:r>
              <a:rPr lang="zh-CN" altLang="en-US" sz="2800" dirty="0" smtClean="0"/>
              <a:t>触发器常用于计算机和各种仪器中的置位和复位系统。</a:t>
            </a:r>
            <a:endParaRPr lang="en-US" altLang="zh-CN" sz="2800" dirty="0" smtClean="0"/>
          </a:p>
          <a:p>
            <a:pPr lvl="1">
              <a:lnSpc>
                <a:spcPct val="100000"/>
              </a:lnSpc>
              <a:spcBef>
                <a:spcPts val="0"/>
              </a:spcBef>
              <a:buClr>
                <a:srgbClr val="FF0000"/>
              </a:buClr>
              <a:buSzPct val="100000"/>
            </a:pPr>
            <a:r>
              <a:rPr lang="en-US" altLang="zh-CN" sz="2400" dirty="0" smtClean="0"/>
              <a:t> </a:t>
            </a:r>
            <a:r>
              <a:rPr lang="zh-CN" altLang="en-US" sz="2400" dirty="0" smtClean="0"/>
              <a:t>当一个开关闭合时，在开关完全闭合之前</a:t>
            </a:r>
            <a:r>
              <a:rPr lang="zh-CN" altLang="en-US" sz="2400" dirty="0" smtClean="0">
                <a:solidFill>
                  <a:srgbClr val="FF0000"/>
                </a:solidFill>
              </a:rPr>
              <a:t>几毫秒</a:t>
            </a:r>
            <a:r>
              <a:rPr lang="zh-CN" altLang="en-US" sz="2400" dirty="0" smtClean="0"/>
              <a:t>时间内，有时会发生金属接触点之间的</a:t>
            </a:r>
            <a:r>
              <a:rPr lang="zh-CN" altLang="en-US" sz="2400" dirty="0" smtClean="0">
                <a:solidFill>
                  <a:srgbClr val="0000CC"/>
                </a:solidFill>
              </a:rPr>
              <a:t>碰撞</a:t>
            </a:r>
            <a:r>
              <a:rPr lang="zh-CN" altLang="en-US" sz="2400" dirty="0" smtClean="0"/>
              <a:t>和</a:t>
            </a:r>
            <a:r>
              <a:rPr lang="zh-CN" altLang="en-US" sz="2400" dirty="0" smtClean="0">
                <a:solidFill>
                  <a:srgbClr val="0000CC"/>
                </a:solidFill>
              </a:rPr>
              <a:t>跳动</a:t>
            </a:r>
            <a:r>
              <a:rPr lang="zh-CN" altLang="en-US" sz="2400" dirty="0" smtClean="0"/>
              <a:t>，这样置位端将产生不正确的结果，导致机器的误动作。</a:t>
            </a:r>
            <a:endParaRPr lang="en-US" altLang="zh-CN" sz="2400" dirty="0" smtClean="0"/>
          </a:p>
          <a:p>
            <a:pPr lvl="1">
              <a:lnSpc>
                <a:spcPct val="100000"/>
              </a:lnSpc>
              <a:spcBef>
                <a:spcPts val="0"/>
              </a:spcBef>
              <a:buClr>
                <a:srgbClr val="FF0000"/>
              </a:buClr>
              <a:buSzPct val="100000"/>
            </a:pPr>
            <a:r>
              <a:rPr lang="zh-CN" altLang="en-US" sz="2400" dirty="0" smtClean="0"/>
              <a:t>用一个简单的</a:t>
            </a:r>
            <a:r>
              <a:rPr lang="en-US" altLang="zh-CN" sz="2400" dirty="0" smtClean="0"/>
              <a:t>RS</a:t>
            </a:r>
            <a:r>
              <a:rPr lang="zh-CN" altLang="en-US" sz="2400" dirty="0" smtClean="0"/>
              <a:t>触发器即可解决这一问题。</a:t>
            </a:r>
            <a:endParaRPr lang="zh-CN" altLang="en-US" sz="2400"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76</a:t>
            </a:fld>
            <a:endParaRPr lang="zh-CN" altLang="en-US"/>
          </a:p>
        </p:txBody>
      </p:sp>
      <p:sp>
        <p:nvSpPr>
          <p:cNvPr id="5" name="Text Box 84"/>
          <p:cNvSpPr txBox="1">
            <a:spLocks noChangeArrowheads="1"/>
          </p:cNvSpPr>
          <p:nvPr/>
        </p:nvSpPr>
        <p:spPr bwMode="auto">
          <a:xfrm>
            <a:off x="1331640" y="1052736"/>
            <a:ext cx="7488832" cy="5847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p>
            <a:r>
              <a:rPr kumimoji="1" lang="en-US" altLang="zh-CN" sz="3200" b="1" dirty="0" smtClean="0">
                <a:solidFill>
                  <a:schemeClr val="tx2"/>
                </a:solidFill>
                <a:latin typeface="+mj-lt"/>
                <a:ea typeface="+mj-ea"/>
                <a:cs typeface="+mj-cs"/>
              </a:rPr>
              <a:t>1.  </a:t>
            </a:r>
            <a:r>
              <a:rPr kumimoji="1" lang="zh-CN" altLang="en-US" sz="3200" b="1" dirty="0" smtClean="0">
                <a:solidFill>
                  <a:schemeClr val="tx2"/>
                </a:solidFill>
                <a:latin typeface="+mj-lt"/>
                <a:ea typeface="+mj-ea"/>
                <a:cs typeface="+mj-cs"/>
              </a:rPr>
              <a:t>消除噪声电路</a:t>
            </a:r>
            <a:endParaRPr kumimoji="1" lang="zh-CN" altLang="en-US" sz="3200" b="1" dirty="0">
              <a:solidFill>
                <a:schemeClr val="tx2"/>
              </a:solidFill>
              <a:latin typeface="+mj-lt"/>
              <a:ea typeface="+mj-ea"/>
              <a:cs typeface="+mj-cs"/>
            </a:endParaRPr>
          </a:p>
        </p:txBody>
      </p:sp>
      <p:pic>
        <p:nvPicPr>
          <p:cNvPr id="233474" name="Picture 2"/>
          <p:cNvPicPr>
            <a:picLocks noChangeAspect="1" noChangeArrowheads="1"/>
          </p:cNvPicPr>
          <p:nvPr/>
        </p:nvPicPr>
        <p:blipFill>
          <a:blip r:embed="rId2" cstate="print"/>
          <a:srcRect/>
          <a:stretch>
            <a:fillRect/>
          </a:stretch>
        </p:blipFill>
        <p:spPr bwMode="auto">
          <a:xfrm>
            <a:off x="1835696" y="4437112"/>
            <a:ext cx="2795990" cy="2215133"/>
          </a:xfrm>
          <a:prstGeom prst="rect">
            <a:avLst/>
          </a:prstGeom>
          <a:noFill/>
          <a:ln w="9525">
            <a:noFill/>
            <a:miter lim="800000"/>
            <a:headEnd/>
            <a:tailEnd/>
          </a:ln>
        </p:spPr>
      </p:pic>
      <p:pic>
        <p:nvPicPr>
          <p:cNvPr id="233475" name="Picture 3"/>
          <p:cNvPicPr>
            <a:picLocks noChangeAspect="1" noChangeArrowheads="1"/>
          </p:cNvPicPr>
          <p:nvPr/>
        </p:nvPicPr>
        <p:blipFill>
          <a:blip r:embed="rId3" cstate="print"/>
          <a:srcRect/>
          <a:stretch>
            <a:fillRect/>
          </a:stretch>
        </p:blipFill>
        <p:spPr bwMode="auto">
          <a:xfrm>
            <a:off x="4860032" y="4437112"/>
            <a:ext cx="3425781" cy="2175099"/>
          </a:xfrm>
          <a:prstGeom prst="rect">
            <a:avLst/>
          </a:prstGeom>
          <a:noFill/>
          <a:ln w="9525">
            <a:noFill/>
            <a:miter lim="800000"/>
            <a:headEnd/>
            <a:tailEnd/>
          </a:ln>
        </p:spPr>
      </p:pic>
      <p:pic>
        <p:nvPicPr>
          <p:cNvPr id="233476" name="Picture 4"/>
          <p:cNvPicPr>
            <a:picLocks noChangeAspect="1" noChangeArrowheads="1"/>
          </p:cNvPicPr>
          <p:nvPr/>
        </p:nvPicPr>
        <p:blipFill>
          <a:blip r:embed="rId4" cstate="print"/>
          <a:srcRect/>
          <a:stretch>
            <a:fillRect/>
          </a:stretch>
        </p:blipFill>
        <p:spPr bwMode="auto">
          <a:xfrm>
            <a:off x="368255" y="4437112"/>
            <a:ext cx="1332734" cy="2088232"/>
          </a:xfrm>
          <a:prstGeom prst="rect">
            <a:avLst/>
          </a:prstGeom>
          <a:noFill/>
          <a:ln w="9525">
            <a:noFill/>
            <a:miter lim="800000"/>
            <a:headEnd/>
            <a:tailEnd/>
          </a:ln>
        </p:spPr>
      </p:pic>
    </p:spTree>
    <p:extLst>
      <p:ext uri="{BB962C8B-B14F-4D97-AF65-F5344CB8AC3E}">
        <p14:creationId xmlns:p14="http://schemas.microsoft.com/office/powerpoint/2010/main" xmlns="" val="1131062653"/>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31640" y="332656"/>
            <a:ext cx="7632848" cy="566936"/>
          </a:xfrm>
        </p:spPr>
        <p:txBody>
          <a:bodyPr/>
          <a:lstStyle/>
          <a:p>
            <a:r>
              <a:rPr lang="en-US" altLang="zh-CN" dirty="0" smtClean="0"/>
              <a:t>5.6 </a:t>
            </a:r>
            <a:r>
              <a:rPr lang="zh-CN" altLang="en-US" dirty="0" smtClean="0"/>
              <a:t>触发器的典型应用</a:t>
            </a:r>
            <a:endParaRPr lang="zh-CN" altLang="en-US" dirty="0"/>
          </a:p>
        </p:txBody>
      </p:sp>
      <p:sp>
        <p:nvSpPr>
          <p:cNvPr id="3" name="内容占位符 2"/>
          <p:cNvSpPr>
            <a:spLocks noGrp="1"/>
          </p:cNvSpPr>
          <p:nvPr>
            <p:ph idx="1"/>
          </p:nvPr>
        </p:nvSpPr>
        <p:spPr>
          <a:xfrm>
            <a:off x="467544" y="1988840"/>
            <a:ext cx="8352928" cy="4608512"/>
          </a:xfrm>
        </p:spPr>
        <p:txBody>
          <a:bodyPr/>
          <a:lstStyle/>
          <a:p>
            <a:pPr>
              <a:lnSpc>
                <a:spcPct val="100000"/>
              </a:lnSpc>
              <a:spcBef>
                <a:spcPts val="600"/>
              </a:spcBef>
              <a:buSzPct val="100000"/>
              <a:buFont typeface="Wingdings" pitchFamily="2" charset="2"/>
              <a:buChar char="p"/>
            </a:pPr>
            <a:r>
              <a:rPr lang="zh-CN" altLang="en-US" sz="2800" dirty="0"/>
              <a:t>触发器的基本功能是保存</a:t>
            </a:r>
            <a:r>
              <a:rPr lang="en-US" altLang="zh-CN" sz="2800" dirty="0"/>
              <a:t>1</a:t>
            </a:r>
            <a:r>
              <a:rPr lang="zh-CN" altLang="en-US" sz="2800" dirty="0"/>
              <a:t>位二值（</a:t>
            </a:r>
            <a:r>
              <a:rPr lang="en-US" altLang="zh-CN" sz="2800" dirty="0"/>
              <a:t>0</a:t>
            </a:r>
            <a:r>
              <a:rPr lang="zh-CN" altLang="en-US" sz="2800" dirty="0"/>
              <a:t>或</a:t>
            </a:r>
            <a:r>
              <a:rPr lang="en-US" altLang="zh-CN" sz="2800" dirty="0"/>
              <a:t>1</a:t>
            </a:r>
            <a:r>
              <a:rPr lang="zh-CN" altLang="en-US" sz="2800" dirty="0" smtClean="0"/>
              <a:t>）信息</a:t>
            </a:r>
            <a:r>
              <a:rPr lang="zh-CN" altLang="en-US" sz="2800" dirty="0"/>
              <a:t>。与门电路一样，触发器是构成各种复杂</a:t>
            </a:r>
            <a:r>
              <a:rPr lang="zh-CN" altLang="en-US" sz="2800" dirty="0" smtClean="0"/>
              <a:t>数字系统（如寄存器，计数器等）的</a:t>
            </a:r>
            <a:r>
              <a:rPr lang="zh-CN" altLang="en-US" sz="2800" dirty="0"/>
              <a:t>一种</a:t>
            </a:r>
            <a:r>
              <a:rPr lang="zh-CN" altLang="en-US" sz="2800" dirty="0">
                <a:solidFill>
                  <a:srgbClr val="FF0000"/>
                </a:solidFill>
              </a:rPr>
              <a:t>基本逻辑</a:t>
            </a:r>
            <a:r>
              <a:rPr lang="zh-CN" altLang="en-US" sz="2800" dirty="0" smtClean="0">
                <a:solidFill>
                  <a:srgbClr val="FF0000"/>
                </a:solidFill>
              </a:rPr>
              <a:t>单元，</a:t>
            </a:r>
            <a:r>
              <a:rPr lang="zh-CN" altLang="en-US" sz="2800" dirty="0" smtClean="0"/>
              <a:t>即</a:t>
            </a:r>
            <a:r>
              <a:rPr lang="zh-CN" altLang="en-US" sz="2800" dirty="0" smtClean="0">
                <a:solidFill>
                  <a:srgbClr val="FF0000"/>
                </a:solidFill>
              </a:rPr>
              <a:t>锁存器</a:t>
            </a:r>
            <a:r>
              <a:rPr lang="zh-CN" altLang="en-US" sz="2800" dirty="0" smtClean="0"/>
              <a:t>。</a:t>
            </a:r>
            <a:endParaRPr lang="zh-CN" altLang="en-US" sz="2800" dirty="0"/>
          </a:p>
          <a:p>
            <a:pPr lvl="1">
              <a:lnSpc>
                <a:spcPct val="100000"/>
              </a:lnSpc>
              <a:spcBef>
                <a:spcPts val="600"/>
              </a:spcBef>
              <a:buClr>
                <a:srgbClr val="FF0000"/>
              </a:buClr>
              <a:buSzPct val="100000"/>
            </a:pPr>
            <a:r>
              <a:rPr lang="zh-CN" altLang="en-US" sz="2400" dirty="0" smtClean="0"/>
              <a:t>例：用</a:t>
            </a:r>
            <a:r>
              <a:rPr lang="en-US" altLang="zh-CN" sz="2400" dirty="0" smtClean="0"/>
              <a:t>RS-FF</a:t>
            </a:r>
            <a:r>
              <a:rPr lang="zh-CN" altLang="en-US" sz="2400" dirty="0" smtClean="0"/>
              <a:t>构建的</a:t>
            </a:r>
            <a:r>
              <a:rPr lang="en-US" altLang="zh-CN" sz="2400" dirty="0" smtClean="0"/>
              <a:t>4</a:t>
            </a:r>
            <a:r>
              <a:rPr lang="zh-CN" altLang="en-US" sz="2400" dirty="0" smtClean="0"/>
              <a:t>位数据锁存器：</a:t>
            </a:r>
          </a:p>
          <a:p>
            <a:pPr lvl="1">
              <a:lnSpc>
                <a:spcPct val="100000"/>
              </a:lnSpc>
              <a:spcBef>
                <a:spcPts val="600"/>
              </a:spcBef>
              <a:buClr>
                <a:srgbClr val="FF0000"/>
              </a:buClr>
              <a:buSzPct val="100000"/>
            </a:pPr>
            <a:endParaRPr lang="zh-CN" altLang="en-US" sz="2400"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77</a:t>
            </a:fld>
            <a:endParaRPr lang="zh-CN" altLang="en-US"/>
          </a:p>
        </p:txBody>
      </p:sp>
      <p:sp>
        <p:nvSpPr>
          <p:cNvPr id="5" name="Text Box 84"/>
          <p:cNvSpPr txBox="1">
            <a:spLocks noChangeArrowheads="1"/>
          </p:cNvSpPr>
          <p:nvPr/>
        </p:nvSpPr>
        <p:spPr bwMode="auto">
          <a:xfrm>
            <a:off x="1331640" y="1052736"/>
            <a:ext cx="7488832" cy="5847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p>
            <a:r>
              <a:rPr kumimoji="1" lang="en-US" altLang="zh-CN" sz="3200" b="1" dirty="0" smtClean="0">
                <a:solidFill>
                  <a:schemeClr val="tx2"/>
                </a:solidFill>
                <a:latin typeface="+mj-lt"/>
                <a:ea typeface="+mj-ea"/>
                <a:cs typeface="+mj-cs"/>
              </a:rPr>
              <a:t>2.  </a:t>
            </a:r>
            <a:r>
              <a:rPr kumimoji="1" lang="zh-CN" altLang="en-US" sz="3200" b="1" dirty="0" smtClean="0">
                <a:solidFill>
                  <a:schemeClr val="tx2"/>
                </a:solidFill>
                <a:latin typeface="+mj-lt"/>
                <a:ea typeface="+mj-ea"/>
                <a:cs typeface="+mj-cs"/>
              </a:rPr>
              <a:t>数据锁存器</a:t>
            </a:r>
            <a:endParaRPr kumimoji="1" lang="zh-CN" altLang="en-US" sz="3200" b="1" dirty="0">
              <a:solidFill>
                <a:schemeClr val="tx2"/>
              </a:solidFill>
              <a:latin typeface="+mj-lt"/>
              <a:ea typeface="+mj-ea"/>
              <a:cs typeface="+mj-cs"/>
            </a:endParaRPr>
          </a:p>
        </p:txBody>
      </p:sp>
      <p:pic>
        <p:nvPicPr>
          <p:cNvPr id="6" name="Picture 2"/>
          <p:cNvPicPr>
            <a:picLocks noChangeAspect="1" noChangeArrowheads="1"/>
          </p:cNvPicPr>
          <p:nvPr/>
        </p:nvPicPr>
        <p:blipFill>
          <a:blip r:embed="rId2" cstate="print"/>
          <a:srcRect/>
          <a:stretch>
            <a:fillRect/>
          </a:stretch>
        </p:blipFill>
        <p:spPr bwMode="auto">
          <a:xfrm>
            <a:off x="1619672" y="4221088"/>
            <a:ext cx="5256584" cy="2490344"/>
          </a:xfrm>
          <a:prstGeom prst="rect">
            <a:avLst/>
          </a:prstGeom>
          <a:noFill/>
          <a:ln w="9525">
            <a:noFill/>
            <a:miter lim="800000"/>
            <a:headEnd/>
            <a:tailEnd/>
          </a:ln>
        </p:spPr>
      </p:pic>
    </p:spTree>
    <p:extLst>
      <p:ext uri="{BB962C8B-B14F-4D97-AF65-F5344CB8AC3E}">
        <p14:creationId xmlns:p14="http://schemas.microsoft.com/office/powerpoint/2010/main" xmlns="" val="1131062653"/>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31640" y="332656"/>
            <a:ext cx="7488832" cy="566936"/>
          </a:xfrm>
        </p:spPr>
        <p:txBody>
          <a:bodyPr/>
          <a:lstStyle/>
          <a:p>
            <a:r>
              <a:rPr lang="en-US" altLang="zh-CN" dirty="0" smtClean="0"/>
              <a:t>5.6 </a:t>
            </a:r>
            <a:r>
              <a:rPr lang="zh-CN" altLang="en-US" dirty="0" smtClean="0"/>
              <a:t>触发器的典型应用</a:t>
            </a:r>
            <a:endParaRPr lang="zh-CN" altLang="en-US" dirty="0"/>
          </a:p>
        </p:txBody>
      </p:sp>
      <p:sp>
        <p:nvSpPr>
          <p:cNvPr id="3" name="内容占位符 2"/>
          <p:cNvSpPr>
            <a:spLocks noGrp="1"/>
          </p:cNvSpPr>
          <p:nvPr>
            <p:ph idx="1"/>
          </p:nvPr>
        </p:nvSpPr>
        <p:spPr>
          <a:xfrm>
            <a:off x="467544" y="1916832"/>
            <a:ext cx="8386762" cy="4752528"/>
          </a:xfrm>
        </p:spPr>
        <p:txBody>
          <a:bodyPr/>
          <a:lstStyle/>
          <a:p>
            <a:pPr>
              <a:lnSpc>
                <a:spcPct val="100000"/>
              </a:lnSpc>
              <a:spcBef>
                <a:spcPts val="0"/>
              </a:spcBef>
              <a:buSzPct val="100000"/>
              <a:buFont typeface="Wingdings" pitchFamily="2" charset="2"/>
              <a:buChar char="p"/>
            </a:pPr>
            <a:r>
              <a:rPr lang="zh-CN" altLang="en-US" sz="2800" dirty="0" smtClean="0">
                <a:solidFill>
                  <a:srgbClr val="0000CC"/>
                </a:solidFill>
              </a:rPr>
              <a:t>触发器设计单脉冲发生器</a:t>
            </a:r>
            <a:endParaRPr lang="en-US" altLang="zh-CN" sz="2800" dirty="0" smtClean="0">
              <a:solidFill>
                <a:srgbClr val="0000CC"/>
              </a:solidFill>
            </a:endParaRPr>
          </a:p>
          <a:p>
            <a:pPr lvl="1">
              <a:lnSpc>
                <a:spcPct val="100000"/>
              </a:lnSpc>
              <a:spcBef>
                <a:spcPts val="0"/>
              </a:spcBef>
              <a:buSzPct val="100000"/>
            </a:pPr>
            <a:r>
              <a:rPr lang="zh-CN" altLang="en-US" sz="2400" dirty="0" smtClean="0">
                <a:solidFill>
                  <a:srgbClr val="0000CC"/>
                </a:solidFill>
                <a:latin typeface="楷体_GB2312" pitchFamily="49" charset="-122"/>
                <a:ea typeface="楷体_GB2312" pitchFamily="49" charset="-122"/>
              </a:rPr>
              <a:t>例：</a:t>
            </a:r>
            <a:r>
              <a:rPr lang="zh-CN" altLang="en-US" sz="2400" dirty="0" smtClean="0"/>
              <a:t>试用触发器设计一个单脉冲发生器。</a:t>
            </a:r>
            <a:endParaRPr lang="en-US" altLang="zh-CN" sz="2400" dirty="0" smtClean="0">
              <a:solidFill>
                <a:srgbClr val="0000CC"/>
              </a:solidFill>
            </a:endParaRPr>
          </a:p>
          <a:p>
            <a:pPr lvl="2">
              <a:lnSpc>
                <a:spcPct val="100000"/>
              </a:lnSpc>
              <a:spcBef>
                <a:spcPts val="0"/>
              </a:spcBef>
              <a:buSzPct val="100000"/>
              <a:buFont typeface="Wingdings" pitchFamily="2" charset="2"/>
              <a:buChar char="u"/>
            </a:pPr>
            <a:r>
              <a:rPr lang="zh-CN" altLang="en-US" dirty="0" smtClean="0"/>
              <a:t>用</a:t>
            </a:r>
            <a:r>
              <a:rPr lang="en-US" altLang="zh-CN" dirty="0" smtClean="0"/>
              <a:t>JK-FF</a:t>
            </a:r>
            <a:r>
              <a:rPr lang="zh-CN" altLang="en-US" dirty="0" smtClean="0"/>
              <a:t>设计的单脉冲发生器电路逻辑图如下：</a:t>
            </a:r>
            <a:endParaRPr lang="en-US" altLang="zh-CN" dirty="0" smtClean="0">
              <a:solidFill>
                <a:srgbClr val="0000CC"/>
              </a:solidFill>
            </a:endParaRPr>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78</a:t>
            </a:fld>
            <a:endParaRPr lang="zh-CN" altLang="en-US"/>
          </a:p>
        </p:txBody>
      </p:sp>
      <p:sp>
        <p:nvSpPr>
          <p:cNvPr id="7" name="Text Box 84"/>
          <p:cNvSpPr txBox="1">
            <a:spLocks noChangeArrowheads="1"/>
          </p:cNvSpPr>
          <p:nvPr/>
        </p:nvSpPr>
        <p:spPr bwMode="auto">
          <a:xfrm>
            <a:off x="1331640" y="1052736"/>
            <a:ext cx="7488832" cy="5847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p>
            <a:r>
              <a:rPr kumimoji="1" lang="en-US" altLang="zh-CN" sz="3200" b="1" dirty="0" smtClean="0">
                <a:solidFill>
                  <a:schemeClr val="tx2"/>
                </a:solidFill>
                <a:latin typeface="+mj-lt"/>
                <a:ea typeface="+mj-ea"/>
                <a:cs typeface="+mj-cs"/>
              </a:rPr>
              <a:t>3.  </a:t>
            </a:r>
            <a:r>
              <a:rPr kumimoji="1" lang="zh-CN" altLang="en-US" sz="3200" b="1" dirty="0" smtClean="0">
                <a:solidFill>
                  <a:schemeClr val="tx2"/>
                </a:solidFill>
                <a:latin typeface="+mj-lt"/>
                <a:ea typeface="+mj-ea"/>
                <a:cs typeface="+mj-cs"/>
              </a:rPr>
              <a:t>单脉冲发生器</a:t>
            </a:r>
            <a:endParaRPr kumimoji="1" lang="zh-CN" altLang="en-US" sz="3200" b="1" dirty="0">
              <a:solidFill>
                <a:schemeClr val="tx2"/>
              </a:solidFill>
              <a:latin typeface="+mj-lt"/>
              <a:ea typeface="+mj-ea"/>
              <a:cs typeface="+mj-cs"/>
            </a:endParaRPr>
          </a:p>
        </p:txBody>
      </p:sp>
      <p:pic>
        <p:nvPicPr>
          <p:cNvPr id="9" name="Picture 87" descr="4-4-2b"/>
          <p:cNvPicPr>
            <a:picLocks noChangeAspect="1" noChangeArrowheads="1"/>
          </p:cNvPicPr>
          <p:nvPr/>
        </p:nvPicPr>
        <p:blipFill>
          <a:blip r:embed="rId2" cstate="print">
            <a:clrChange>
              <a:clrFrom>
                <a:srgbClr val="FBFBFB"/>
              </a:clrFrom>
              <a:clrTo>
                <a:srgbClr val="FBFBFB">
                  <a:alpha val="0"/>
                </a:srgbClr>
              </a:clrTo>
            </a:clrChange>
            <a:lum bright="-18000" contrast="60000"/>
            <a:extLst>
              <a:ext uri="{28A0092B-C50C-407E-A947-70E740481C1C}">
                <a14:useLocalDpi xmlns:a14="http://schemas.microsoft.com/office/drawing/2010/main" xmlns="" val="0"/>
              </a:ext>
            </a:extLst>
          </a:blip>
          <a:srcRect/>
          <a:stretch>
            <a:fillRect/>
          </a:stretch>
        </p:blipFill>
        <p:spPr bwMode="auto">
          <a:xfrm>
            <a:off x="5157774" y="3212975"/>
            <a:ext cx="2870609" cy="2880321"/>
          </a:xfrm>
          <a:prstGeom prst="rect">
            <a:avLst/>
          </a:prstGeom>
          <a:noFill/>
          <a:extLst>
            <a:ext uri="{909E8E84-426E-40DD-AFC4-6F175D3DCCD1}">
              <a14:hiddenFill xmlns:a14="http://schemas.microsoft.com/office/drawing/2010/main" xmlns="">
                <a:solidFill>
                  <a:srgbClr val="FFFFFF"/>
                </a:solidFill>
              </a14:hiddenFill>
            </a:ext>
          </a:extLst>
        </p:spPr>
      </p:pic>
      <p:sp>
        <p:nvSpPr>
          <p:cNvPr id="10" name="Text Box 88"/>
          <p:cNvSpPr txBox="1">
            <a:spLocks noChangeArrowheads="1"/>
          </p:cNvSpPr>
          <p:nvPr/>
        </p:nvSpPr>
        <p:spPr bwMode="auto">
          <a:xfrm>
            <a:off x="467544" y="6093296"/>
            <a:ext cx="8280400" cy="64633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en-US" altLang="zh-CN" b="1" dirty="0"/>
              <a:t>      </a:t>
            </a:r>
            <a:r>
              <a:rPr lang="zh-CN" altLang="en-US" b="1" dirty="0"/>
              <a:t>单脉冲发生器的</a:t>
            </a:r>
            <a:r>
              <a:rPr lang="zh-CN" altLang="en-US" b="1" dirty="0">
                <a:solidFill>
                  <a:srgbClr val="FF0000"/>
                </a:solidFill>
              </a:rPr>
              <a:t>特点</a:t>
            </a:r>
            <a:r>
              <a:rPr lang="zh-CN" altLang="en-US" b="1" dirty="0"/>
              <a:t>：每按动一次开关，只产生一个脉冲，脉冲宽度与按动开关的时间长短无关，每次产生的脉冲宽度为一个时钟周期。</a:t>
            </a:r>
          </a:p>
        </p:txBody>
      </p:sp>
      <p:pic>
        <p:nvPicPr>
          <p:cNvPr id="236546" name="Picture 2"/>
          <p:cNvPicPr>
            <a:picLocks noChangeAspect="1" noChangeArrowheads="1"/>
          </p:cNvPicPr>
          <p:nvPr/>
        </p:nvPicPr>
        <p:blipFill>
          <a:blip r:embed="rId3" cstate="print"/>
          <a:srcRect/>
          <a:stretch>
            <a:fillRect/>
          </a:stretch>
        </p:blipFill>
        <p:spPr bwMode="auto">
          <a:xfrm>
            <a:off x="755576" y="3212976"/>
            <a:ext cx="4076700" cy="2581275"/>
          </a:xfrm>
          <a:prstGeom prst="rect">
            <a:avLst/>
          </a:prstGeom>
          <a:noFill/>
          <a:ln w="9525">
            <a:noFill/>
            <a:miter lim="800000"/>
            <a:headEnd/>
            <a:tailEnd/>
          </a:ln>
        </p:spPr>
      </p:pic>
      <p:sp>
        <p:nvSpPr>
          <p:cNvPr id="11" name="上箭头 10"/>
          <p:cNvSpPr/>
          <p:nvPr/>
        </p:nvSpPr>
        <p:spPr bwMode="auto">
          <a:xfrm>
            <a:off x="971600" y="5013177"/>
            <a:ext cx="144016" cy="504055"/>
          </a:xfrm>
          <a:prstGeom prst="upArrow">
            <a:avLst/>
          </a:prstGeom>
          <a:solidFill>
            <a:srgbClr val="00B050"/>
          </a:solidFill>
          <a:ln w="9525" cap="flat" cmpd="sng" algn="ctr">
            <a:solidFill>
              <a:srgbClr val="FF0000"/>
            </a:solidFill>
            <a:prstDash val="solid"/>
            <a:miter lim="800000"/>
            <a:headEnd type="none" w="med" len="med"/>
            <a:tailEnd type="none" w="med" len="med"/>
          </a:ln>
        </p:spPr>
        <p:txBody>
          <a:bodyPr vert="horz" wrap="square" lIns="90000" tIns="46800" rIns="90000" bIns="46800" numCol="1" rtlCol="0" anchor="t" anchorCtr="0" compatLnSpc="1">
            <a:noAutofit/>
          </a:bodyPr>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36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endParaRPr>
          </a:p>
        </p:txBody>
      </p:sp>
      <p:sp>
        <p:nvSpPr>
          <p:cNvPr id="12" name="矩形标注 11"/>
          <p:cNvSpPr/>
          <p:nvPr/>
        </p:nvSpPr>
        <p:spPr bwMode="auto">
          <a:xfrm>
            <a:off x="323528" y="5733257"/>
            <a:ext cx="1584176" cy="371513"/>
          </a:xfrm>
          <a:prstGeom prst="wedgeRectCallout">
            <a:avLst>
              <a:gd name="adj1" fmla="val -9349"/>
              <a:gd name="adj2" fmla="val -87413"/>
            </a:avLst>
          </a:prstGeom>
          <a:solidFill>
            <a:srgbClr val="FFFF00"/>
          </a:solidFill>
          <a:ln w="9525" cap="flat" cmpd="sng" algn="ctr">
            <a:solidFill>
              <a:srgbClr val="FF0000"/>
            </a:solidFill>
            <a:prstDash val="solid"/>
            <a:miter lim="800000"/>
            <a:headEnd type="none" w="med" len="med"/>
            <a:tailEnd type="none" w="med" len="med"/>
          </a:ln>
        </p:spPr>
        <p:txBody>
          <a:bodyPr vert="horz" wrap="square" lIns="90000" tIns="46800" rIns="90000" bIns="4680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r>
              <a:rPr kumimoji="1" lang="zh-CN" altLang="en-US" b="1" i="0" u="none" strike="noStrike" cap="none" normalizeH="0" baseline="0" dirty="0" smtClean="0">
                <a:ln>
                  <a:noFill/>
                </a:ln>
                <a:solidFill>
                  <a:srgbClr val="FF0000"/>
                </a:solidFill>
                <a:effectLst/>
                <a:latin typeface="Tahoma" panose="020B0604030504040204" pitchFamily="34" charset="0"/>
                <a:ea typeface="宋体" panose="02010600030101010101" pitchFamily="2" charset="-122"/>
              </a:rPr>
              <a:t>开关按动方向</a:t>
            </a:r>
          </a:p>
        </p:txBody>
      </p:sp>
    </p:spTree>
    <p:extLst>
      <p:ext uri="{BB962C8B-B14F-4D97-AF65-F5344CB8AC3E}">
        <p14:creationId xmlns:p14="http://schemas.microsoft.com/office/powerpoint/2010/main" xmlns="" val="3747283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linds(horizontal)">
                                      <p:cBhvr>
                                        <p:cTn id="7" dur="500"/>
                                        <p:tgtEl>
                                          <p:spTgt spid="9"/>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blinds(horizontal)">
                                      <p:cBhvr>
                                        <p:cTn id="1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31640" y="1124744"/>
            <a:ext cx="7112965" cy="494928"/>
          </a:xfrm>
        </p:spPr>
        <p:txBody>
          <a:bodyPr/>
          <a:lstStyle/>
          <a:p>
            <a:pPr algn="ctr"/>
            <a:r>
              <a:rPr lang="zh-CN" altLang="en-US" dirty="0" smtClean="0"/>
              <a:t>本章小结</a:t>
            </a:r>
            <a:endParaRPr lang="zh-CN" altLang="en-US" dirty="0"/>
          </a:p>
        </p:txBody>
      </p:sp>
      <p:sp>
        <p:nvSpPr>
          <p:cNvPr id="4" name="内容占位符 3"/>
          <p:cNvSpPr>
            <a:spLocks noGrp="1"/>
          </p:cNvSpPr>
          <p:nvPr>
            <p:ph idx="1"/>
          </p:nvPr>
        </p:nvSpPr>
        <p:spPr>
          <a:xfrm>
            <a:off x="467544" y="1988840"/>
            <a:ext cx="8233346" cy="4464496"/>
          </a:xfrm>
        </p:spPr>
        <p:txBody>
          <a:bodyPr/>
          <a:lstStyle/>
          <a:p>
            <a:pPr>
              <a:buSzPct val="100000"/>
              <a:buFont typeface="Wingdings" pitchFamily="2" charset="2"/>
              <a:buChar char="p"/>
            </a:pPr>
            <a:r>
              <a:rPr lang="zh-CN" altLang="en-US" sz="2800" dirty="0" smtClean="0"/>
              <a:t>触发器有两个能自行保持的稳定状态：即</a:t>
            </a:r>
            <a:r>
              <a:rPr lang="en-US" altLang="zh-CN" sz="2800" dirty="0" smtClean="0"/>
              <a:t>1</a:t>
            </a:r>
            <a:r>
              <a:rPr lang="zh-CN" altLang="en-US" sz="2800" dirty="0" smtClean="0"/>
              <a:t>状态和</a:t>
            </a:r>
            <a:r>
              <a:rPr lang="en-US" altLang="zh-CN" sz="2800" dirty="0" smtClean="0"/>
              <a:t>0</a:t>
            </a:r>
            <a:r>
              <a:rPr lang="zh-CN" altLang="en-US" sz="2800" dirty="0" smtClean="0"/>
              <a:t>状态。</a:t>
            </a:r>
            <a:endParaRPr lang="en-US" altLang="zh-CN" sz="2800" dirty="0" smtClean="0"/>
          </a:p>
          <a:p>
            <a:pPr>
              <a:buSzPct val="100000"/>
              <a:buFont typeface="Wingdings" pitchFamily="2" charset="2"/>
              <a:buChar char="p"/>
            </a:pPr>
            <a:r>
              <a:rPr lang="zh-CN" altLang="en-US" sz="2800" dirty="0" smtClean="0"/>
              <a:t>在外加输入信号的作用下，触发器可以从一种状态变到另一种状态，而且当输入信号消失后，新的状态可以保持下来，即具有记忆功能。</a:t>
            </a:r>
            <a:endParaRPr lang="en-US" altLang="zh-CN" sz="2800" dirty="0" smtClean="0"/>
          </a:p>
          <a:p>
            <a:pPr>
              <a:buSzPct val="100000"/>
              <a:buFont typeface="Wingdings" pitchFamily="2" charset="2"/>
              <a:buChar char="p"/>
            </a:pPr>
            <a:r>
              <a:rPr lang="zh-CN" altLang="en-US" sz="2800" dirty="0" smtClean="0"/>
              <a:t>触发器的逻辑功能是指电路的下一个稳定状态与其现在的稳定状态以及现在的输入信号之间的逻辑关系。</a:t>
            </a:r>
            <a:endParaRPr lang="en-US" altLang="zh-CN" sz="2800" dirty="0" smtClean="0"/>
          </a:p>
          <a:p>
            <a:pPr>
              <a:buSzPct val="100000"/>
              <a:buFont typeface="Wingdings" pitchFamily="2" charset="2"/>
              <a:buChar char="p"/>
            </a:pPr>
            <a:r>
              <a:rPr lang="zh-CN" altLang="en-US" sz="2800" dirty="0" smtClean="0"/>
              <a:t>触发器的逻辑功能可以用状态转移真值表、状态方程、状态转移图和激励表、波形图等来描述。</a:t>
            </a:r>
            <a:endParaRPr lang="zh-CN" altLang="en-US" sz="2800" dirty="0"/>
          </a:p>
        </p:txBody>
      </p:sp>
      <p:sp>
        <p:nvSpPr>
          <p:cNvPr id="3" name="灯片编号占位符 2"/>
          <p:cNvSpPr>
            <a:spLocks noGrp="1"/>
          </p:cNvSpPr>
          <p:nvPr>
            <p:ph type="sldNum" sz="quarter" idx="12"/>
          </p:nvPr>
        </p:nvSpPr>
        <p:spPr/>
        <p:txBody>
          <a:bodyPr/>
          <a:lstStyle/>
          <a:p>
            <a:fld id="{0C913308-F349-4B6D-A68A-DD1791B4A57B}" type="slidenum">
              <a:rPr lang="zh-CN" altLang="en-US" smtClean="0"/>
              <a:pPr/>
              <a:t>79</a:t>
            </a:fld>
            <a:endParaRPr lang="zh-CN" altLang="en-US"/>
          </a:p>
        </p:txBody>
      </p:sp>
      <p:sp>
        <p:nvSpPr>
          <p:cNvPr id="5" name="标题 1"/>
          <p:cNvSpPr txBox="1">
            <a:spLocks/>
          </p:cNvSpPr>
          <p:nvPr/>
        </p:nvSpPr>
        <p:spPr bwMode="auto">
          <a:xfrm>
            <a:off x="1259632" y="332656"/>
            <a:ext cx="7016824" cy="63894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fontAlgn="base">
              <a:spcBef>
                <a:spcPct val="0"/>
              </a:spcBef>
              <a:spcAft>
                <a:spcPct val="0"/>
              </a:spcAft>
            </a:pPr>
            <a:r>
              <a:rPr lang="zh-CN" altLang="en-US" sz="3600" b="1" dirty="0" smtClean="0">
                <a:solidFill>
                  <a:srgbClr val="7030A0"/>
                </a:solidFill>
              </a:rPr>
              <a:t>第</a:t>
            </a:r>
            <a:r>
              <a:rPr lang="en-US" altLang="zh-CN" sz="3600" b="1" dirty="0" smtClean="0">
                <a:solidFill>
                  <a:srgbClr val="7030A0"/>
                </a:solidFill>
              </a:rPr>
              <a:t>5</a:t>
            </a:r>
            <a:r>
              <a:rPr lang="zh-CN" altLang="en-US" sz="3600" b="1" dirty="0" smtClean="0">
                <a:solidFill>
                  <a:srgbClr val="7030A0"/>
                </a:solidFill>
              </a:rPr>
              <a:t>章 触发器</a:t>
            </a:r>
            <a:endParaRPr kumimoji="1" lang="zh-CN" altLang="en-US" sz="3600" b="1" i="0" u="none" strike="noStrike" kern="0" cap="none" spc="0" normalizeH="0" baseline="0" noProof="0" dirty="0">
              <a:ln>
                <a:noFill/>
              </a:ln>
              <a:solidFill>
                <a:srgbClr val="7030A0"/>
              </a:solidFill>
              <a:effectLst/>
              <a:uLnTx/>
              <a:uFillTx/>
              <a:latin typeface="+mj-lt"/>
              <a:ea typeface="+mj-ea"/>
              <a:cs typeface="+mj-cs"/>
            </a:endParaRPr>
          </a:p>
        </p:txBody>
      </p:sp>
    </p:spTree>
    <p:extLst>
      <p:ext uri="{BB962C8B-B14F-4D97-AF65-F5344CB8AC3E}">
        <p14:creationId xmlns:p14="http://schemas.microsoft.com/office/powerpoint/2010/main" xmlns="" val="2705787583"/>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31640" y="1124744"/>
            <a:ext cx="7112965" cy="494928"/>
          </a:xfrm>
        </p:spPr>
        <p:txBody>
          <a:bodyPr/>
          <a:lstStyle/>
          <a:p>
            <a:pPr algn="ctr"/>
            <a:r>
              <a:rPr lang="zh-CN" altLang="en-US" dirty="0" smtClean="0"/>
              <a:t>本章小结</a:t>
            </a:r>
            <a:endParaRPr lang="zh-CN" altLang="en-US" dirty="0"/>
          </a:p>
        </p:txBody>
      </p:sp>
      <p:sp>
        <p:nvSpPr>
          <p:cNvPr id="4" name="内容占位符 3"/>
          <p:cNvSpPr>
            <a:spLocks noGrp="1"/>
          </p:cNvSpPr>
          <p:nvPr>
            <p:ph idx="1"/>
          </p:nvPr>
        </p:nvSpPr>
        <p:spPr>
          <a:xfrm>
            <a:off x="467544" y="1988840"/>
            <a:ext cx="8233346" cy="4464496"/>
          </a:xfrm>
        </p:spPr>
        <p:txBody>
          <a:bodyPr/>
          <a:lstStyle/>
          <a:p>
            <a:pPr>
              <a:buSzPct val="100000"/>
              <a:buFont typeface="Wingdings" pitchFamily="2" charset="2"/>
              <a:buChar char="p"/>
            </a:pPr>
            <a:r>
              <a:rPr lang="zh-CN" altLang="en-US" sz="2800" dirty="0" smtClean="0"/>
              <a:t>按触发方式分类有电平触发器、脉冲触发器、边沿触发器。</a:t>
            </a:r>
            <a:endParaRPr lang="en-US" altLang="zh-CN" sz="2800" dirty="0" smtClean="0"/>
          </a:p>
          <a:p>
            <a:pPr>
              <a:buSzPct val="100000"/>
              <a:buFont typeface="Wingdings" pitchFamily="2" charset="2"/>
              <a:buChar char="p"/>
            </a:pPr>
            <a:r>
              <a:rPr lang="zh-CN" altLang="en-US" sz="2800" dirty="0" smtClean="0"/>
              <a:t>也可按逻辑功能、电路结构对触发器进行分类。</a:t>
            </a:r>
            <a:endParaRPr lang="en-US" altLang="zh-CN" sz="2800" dirty="0" smtClean="0"/>
          </a:p>
          <a:p>
            <a:pPr>
              <a:buSzPct val="100000"/>
              <a:buFont typeface="Wingdings" pitchFamily="2" charset="2"/>
              <a:buChar char="p"/>
            </a:pPr>
            <a:r>
              <a:rPr lang="zh-CN" altLang="en-US" sz="2800" dirty="0" smtClean="0"/>
              <a:t>基本</a:t>
            </a:r>
            <a:r>
              <a:rPr lang="en-US" altLang="zh-CN" sz="2800" dirty="0" smtClean="0"/>
              <a:t>RS</a:t>
            </a:r>
            <a:r>
              <a:rPr lang="zh-CN" altLang="en-US" sz="2800" dirty="0" smtClean="0"/>
              <a:t>触发器是一种电平触发的触发器，同时也是其它复杂触发器的组成部分，也称作锁存器。</a:t>
            </a:r>
            <a:endParaRPr lang="en-US" altLang="zh-CN" sz="2800" dirty="0" smtClean="0"/>
          </a:p>
          <a:p>
            <a:pPr>
              <a:buSzPct val="100000"/>
              <a:buFont typeface="Wingdings" pitchFamily="2" charset="2"/>
              <a:buChar char="p"/>
            </a:pPr>
            <a:r>
              <a:rPr lang="zh-CN" altLang="en-US" sz="2800" dirty="0" smtClean="0"/>
              <a:t>触发器的典型应用包括：消除噪声电路、数据锁存器、单脉冲发生器等。</a:t>
            </a:r>
            <a:endParaRPr lang="zh-CN" altLang="en-US" sz="2800" dirty="0"/>
          </a:p>
        </p:txBody>
      </p:sp>
      <p:sp>
        <p:nvSpPr>
          <p:cNvPr id="3" name="灯片编号占位符 2"/>
          <p:cNvSpPr>
            <a:spLocks noGrp="1"/>
          </p:cNvSpPr>
          <p:nvPr>
            <p:ph type="sldNum" sz="quarter" idx="12"/>
          </p:nvPr>
        </p:nvSpPr>
        <p:spPr/>
        <p:txBody>
          <a:bodyPr/>
          <a:lstStyle/>
          <a:p>
            <a:fld id="{0C913308-F349-4B6D-A68A-DD1791B4A57B}" type="slidenum">
              <a:rPr lang="zh-CN" altLang="en-US" smtClean="0"/>
              <a:pPr/>
              <a:t>80</a:t>
            </a:fld>
            <a:endParaRPr lang="zh-CN" altLang="en-US"/>
          </a:p>
        </p:txBody>
      </p:sp>
      <p:sp>
        <p:nvSpPr>
          <p:cNvPr id="5" name="标题 1"/>
          <p:cNvSpPr txBox="1">
            <a:spLocks/>
          </p:cNvSpPr>
          <p:nvPr/>
        </p:nvSpPr>
        <p:spPr bwMode="auto">
          <a:xfrm>
            <a:off x="1259632" y="332656"/>
            <a:ext cx="7016824" cy="63894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fontAlgn="base">
              <a:spcBef>
                <a:spcPct val="0"/>
              </a:spcBef>
              <a:spcAft>
                <a:spcPct val="0"/>
              </a:spcAft>
            </a:pPr>
            <a:r>
              <a:rPr lang="zh-CN" altLang="en-US" sz="3600" b="1" dirty="0" smtClean="0">
                <a:solidFill>
                  <a:srgbClr val="7030A0"/>
                </a:solidFill>
              </a:rPr>
              <a:t>第</a:t>
            </a:r>
            <a:r>
              <a:rPr lang="en-US" altLang="zh-CN" sz="3600" b="1" dirty="0" smtClean="0">
                <a:solidFill>
                  <a:srgbClr val="7030A0"/>
                </a:solidFill>
              </a:rPr>
              <a:t>5</a:t>
            </a:r>
            <a:r>
              <a:rPr lang="zh-CN" altLang="en-US" sz="3600" b="1" dirty="0" smtClean="0">
                <a:solidFill>
                  <a:srgbClr val="7030A0"/>
                </a:solidFill>
              </a:rPr>
              <a:t>章 触发器</a:t>
            </a:r>
            <a:endParaRPr kumimoji="1" lang="zh-CN" altLang="en-US" sz="3600" b="1" i="0" u="none" strike="noStrike" kern="0" cap="none" spc="0" normalizeH="0" baseline="0" noProof="0" dirty="0">
              <a:ln>
                <a:noFill/>
              </a:ln>
              <a:solidFill>
                <a:srgbClr val="7030A0"/>
              </a:solidFill>
              <a:effectLst/>
              <a:uLnTx/>
              <a:uFillTx/>
              <a:latin typeface="+mj-lt"/>
              <a:ea typeface="+mj-ea"/>
              <a:cs typeface="+mj-cs"/>
            </a:endParaRPr>
          </a:p>
        </p:txBody>
      </p:sp>
    </p:spTree>
    <p:extLst>
      <p:ext uri="{BB962C8B-B14F-4D97-AF65-F5344CB8AC3E}">
        <p14:creationId xmlns:p14="http://schemas.microsoft.com/office/powerpoint/2010/main" xmlns="" val="2705787583"/>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150938" y="1124744"/>
            <a:ext cx="7793037" cy="635794"/>
          </a:xfrm>
        </p:spPr>
        <p:txBody>
          <a:bodyPr/>
          <a:lstStyle/>
          <a:p>
            <a:r>
              <a:rPr lang="en-US" altLang="zh-CN" b="1" dirty="0" smtClean="0"/>
              <a:t>《</a:t>
            </a:r>
            <a:r>
              <a:rPr lang="zh-CN" altLang="en-US" b="1" dirty="0" smtClean="0"/>
              <a:t>第</a:t>
            </a:r>
            <a:r>
              <a:rPr lang="en-US" altLang="zh-CN" b="1" dirty="0" smtClean="0"/>
              <a:t>5</a:t>
            </a:r>
            <a:r>
              <a:rPr lang="zh-CN" altLang="en-US" b="1" dirty="0" smtClean="0"/>
              <a:t>章</a:t>
            </a:r>
            <a:r>
              <a:rPr lang="en-US" altLang="zh-CN" b="1" dirty="0" smtClean="0"/>
              <a:t>》</a:t>
            </a:r>
            <a:r>
              <a:rPr lang="zh-CN" altLang="en-US" b="1" dirty="0" smtClean="0"/>
              <a:t>课外作业</a:t>
            </a:r>
            <a:endParaRPr lang="zh-CN" altLang="en-US" b="1" dirty="0"/>
          </a:p>
        </p:txBody>
      </p:sp>
      <p:sp>
        <p:nvSpPr>
          <p:cNvPr id="4" name="内容占位符 3"/>
          <p:cNvSpPr>
            <a:spLocks noGrp="1"/>
          </p:cNvSpPr>
          <p:nvPr>
            <p:ph idx="1"/>
          </p:nvPr>
        </p:nvSpPr>
        <p:spPr>
          <a:xfrm>
            <a:off x="395536" y="2060848"/>
            <a:ext cx="8496944" cy="4291607"/>
          </a:xfrm>
        </p:spPr>
        <p:txBody>
          <a:bodyPr/>
          <a:lstStyle/>
          <a:p>
            <a:pPr>
              <a:buSzPct val="100000"/>
              <a:buFont typeface="Wingdings" pitchFamily="2" charset="2"/>
              <a:buChar char="p"/>
            </a:pPr>
            <a:r>
              <a:rPr lang="zh-CN" altLang="zh-CN" sz="2800" dirty="0" smtClean="0">
                <a:latin typeface="+mn-ea"/>
              </a:rPr>
              <a:t>一 思考题</a:t>
            </a:r>
          </a:p>
          <a:p>
            <a:pPr>
              <a:buSzPct val="100000"/>
              <a:buNone/>
            </a:pPr>
            <a:r>
              <a:rPr lang="en-US" altLang="zh-CN" sz="2800" dirty="0" smtClean="0">
                <a:latin typeface="+mn-ea"/>
              </a:rPr>
              <a:t>    5.5; 5.7; 5.9; 5.10; 5.12; 5.16; 5.20 </a:t>
            </a:r>
            <a:endParaRPr lang="zh-CN" altLang="zh-CN" sz="2800" dirty="0" smtClean="0">
              <a:latin typeface="+mn-ea"/>
            </a:endParaRPr>
          </a:p>
          <a:p>
            <a:pPr>
              <a:buSzPct val="100000"/>
              <a:buFont typeface="Wingdings" pitchFamily="2" charset="2"/>
              <a:buChar char="p"/>
            </a:pPr>
            <a:r>
              <a:rPr lang="zh-CN" altLang="zh-CN" sz="2800" dirty="0" smtClean="0">
                <a:latin typeface="+mn-ea"/>
              </a:rPr>
              <a:t>二 必做题</a:t>
            </a:r>
          </a:p>
          <a:p>
            <a:pPr>
              <a:buSzPct val="100000"/>
              <a:buNone/>
            </a:pPr>
            <a:r>
              <a:rPr lang="en-US" altLang="zh-CN" sz="2800" dirty="0" smtClean="0">
                <a:latin typeface="+mn-ea"/>
              </a:rPr>
              <a:t>    5.1; 5.2; 5.6; 5.8; 5.11; 5.13; 5.18; 5.21</a:t>
            </a:r>
          </a:p>
          <a:p>
            <a:pPr>
              <a:buSzPct val="100000"/>
              <a:buFont typeface="Wingdings" pitchFamily="2" charset="2"/>
              <a:buChar char="p"/>
            </a:pPr>
            <a:r>
              <a:rPr lang="zh-CN" altLang="zh-CN" sz="2800" dirty="0" smtClean="0">
                <a:latin typeface="+mn-ea"/>
              </a:rPr>
              <a:t>三 选做题</a:t>
            </a:r>
          </a:p>
          <a:p>
            <a:pPr>
              <a:buSzPct val="100000"/>
              <a:buNone/>
            </a:pPr>
            <a:r>
              <a:rPr lang="en-US" altLang="zh-CN" sz="2800" dirty="0" smtClean="0">
                <a:latin typeface="+mn-ea"/>
              </a:rPr>
              <a:t>    5.3; 5.4; 5.14; 5.15; 5.17; 5.19; 5.22</a:t>
            </a:r>
            <a:endParaRPr lang="zh-CN" altLang="zh-CN" sz="2800" dirty="0">
              <a:latin typeface="+mn-ea"/>
            </a:endParaRPr>
          </a:p>
        </p:txBody>
      </p:sp>
      <p:sp>
        <p:nvSpPr>
          <p:cNvPr id="3" name="灯片编号占位符 2"/>
          <p:cNvSpPr>
            <a:spLocks noGrp="1"/>
          </p:cNvSpPr>
          <p:nvPr>
            <p:ph type="sldNum" sz="quarter" idx="12"/>
          </p:nvPr>
        </p:nvSpPr>
        <p:spPr/>
        <p:txBody>
          <a:bodyPr/>
          <a:lstStyle/>
          <a:p>
            <a:fld id="{0C913308-F349-4B6D-A68A-DD1791B4A57B}" type="slidenum">
              <a:rPr lang="zh-CN" altLang="en-US" smtClean="0"/>
              <a:pPr/>
              <a:t>81</a:t>
            </a:fld>
            <a:endParaRPr lang="zh-CN" altLang="en-US"/>
          </a:p>
        </p:txBody>
      </p:sp>
      <p:sp>
        <p:nvSpPr>
          <p:cNvPr id="6" name="标题 1"/>
          <p:cNvSpPr txBox="1">
            <a:spLocks/>
          </p:cNvSpPr>
          <p:nvPr/>
        </p:nvSpPr>
        <p:spPr bwMode="auto">
          <a:xfrm>
            <a:off x="1259632" y="260648"/>
            <a:ext cx="7016824" cy="63894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fontAlgn="base">
              <a:spcBef>
                <a:spcPct val="0"/>
              </a:spcBef>
              <a:spcAft>
                <a:spcPct val="0"/>
              </a:spcAft>
              <a:defRPr/>
            </a:pPr>
            <a:r>
              <a:rPr kumimoji="1" lang="zh-CN" altLang="en-US" sz="3600" b="1" kern="0" dirty="0" smtClean="0">
                <a:solidFill>
                  <a:schemeClr val="tx2"/>
                </a:solidFill>
              </a:rPr>
              <a:t>第</a:t>
            </a:r>
            <a:r>
              <a:rPr kumimoji="1" lang="en-US" altLang="zh-CN" sz="3600" b="1" kern="0" dirty="0" smtClean="0">
                <a:solidFill>
                  <a:schemeClr val="tx2"/>
                </a:solidFill>
              </a:rPr>
              <a:t>5</a:t>
            </a:r>
            <a:r>
              <a:rPr kumimoji="1" lang="zh-CN" altLang="en-US" sz="3600" b="1" kern="0" dirty="0" smtClean="0">
                <a:solidFill>
                  <a:schemeClr val="tx2"/>
                </a:solidFill>
              </a:rPr>
              <a:t>章　触发器</a:t>
            </a:r>
            <a:endParaRPr kumimoji="1" lang="zh-CN" altLang="en-US" sz="3600" b="1" kern="0" dirty="0">
              <a:solidFill>
                <a:schemeClr val="tx2"/>
              </a:solidFill>
            </a:endParaRPr>
          </a:p>
        </p:txBody>
      </p:sp>
    </p:spTree>
    <p:extLst>
      <p:ext uri="{BB962C8B-B14F-4D97-AF65-F5344CB8AC3E}">
        <p14:creationId xmlns:p14="http://schemas.microsoft.com/office/powerpoint/2010/main" xmlns="" val="2907870225"/>
      </p:ext>
    </p:extLst>
  </p:cSld>
  <p:clrMapOvr>
    <a:masterClrMapping/>
  </p:clrMapOvr>
  <p:timing>
    <p:tnLst>
      <p:par>
        <p:cTn id="1" dur="indefinite" restart="never" nodeType="tmRoot"/>
      </p:par>
    </p:tnLst>
  </p:timing>
</p:sld>
</file>

<file path=ppt/theme/theme1.xml><?xml version="1.0" encoding="utf-8"?>
<a:theme xmlns:a="http://schemas.openxmlformats.org/drawingml/2006/main" name="Blends">
  <a:themeElements>
    <a:clrScheme name="Blends 8">
      <a:dk1>
        <a:srgbClr val="000000"/>
      </a:dk1>
      <a:lt1>
        <a:srgbClr val="FFFFFF"/>
      </a:lt1>
      <a:dk2>
        <a:srgbClr val="6600CC"/>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miter lim="800000"/>
          <a:headEnd type="none" w="med" len="med"/>
          <a:tailEnd type="none" w="med" len="med"/>
        </a:ln>
      </a:spPr>
      <a:bodyPr vert="horz" wrap="square" lIns="90000" tIns="46800" rIns="90000" bIns="46800" numCol="1" anchor="t" anchorCtr="0" compatLnSpc="1">
        <a:spAutoFit/>
      </a:bodyPr>
      <a:lstStyle>
        <a:defPPr marL="0" marR="0" indent="0" algn="l" defTabSz="914400" rtl="0" eaLnBrk="1" fontAlgn="base" latinLnBrk="0" hangingPunct="1">
          <a:lnSpc>
            <a:spcPct val="100000"/>
          </a:lnSpc>
          <a:spcBef>
            <a:spcPct val="0"/>
          </a:spcBef>
          <a:spcAft>
            <a:spcPct val="0"/>
          </a:spcAft>
          <a:buClrTx/>
          <a:buSzTx/>
          <a:buFontTx/>
          <a:buNone/>
          <a:defRPr kumimoji="1" lang="zh-CN" altLang="en-US" sz="36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defRPr>
        </a:defPPr>
      </a:lstStyle>
    </a:spDef>
    <a:lnDef>
      <a:spPr bwMode="auto">
        <a:xfrm>
          <a:off x="0" y="0"/>
          <a:ext cx="1" cy="1"/>
        </a:xfrm>
        <a:custGeom>
          <a:avLst/>
          <a:gdLst/>
          <a:ahLst/>
          <a:cxnLst/>
          <a:rect l="0" t="0" r="0" b="0"/>
          <a:pathLst/>
        </a:custGeom>
        <a:noFill/>
        <a:ln w="9525" cap="flat" cmpd="sng" algn="ctr">
          <a:solidFill>
            <a:schemeClr val="tx1"/>
          </a:solidFill>
          <a:prstDash val="solid"/>
          <a:miter lim="800000"/>
          <a:headEnd type="none" w="med" len="med"/>
          <a:tailEnd type="none" w="med" len="med"/>
        </a:ln>
      </a:spPr>
      <a:bodyPr vert="horz" wrap="square" lIns="90000" tIns="46800" rIns="90000" bIns="46800" numCol="1" anchor="t" anchorCtr="0" compatLnSpc="1">
        <a:spAutoFit/>
      </a:bodyPr>
      <a:lstStyle>
        <a:defPPr marL="0" marR="0" indent="0" algn="l" defTabSz="914400" rtl="0" eaLnBrk="1" fontAlgn="base" latinLnBrk="0" hangingPunct="1">
          <a:lnSpc>
            <a:spcPct val="100000"/>
          </a:lnSpc>
          <a:spcBef>
            <a:spcPct val="0"/>
          </a:spcBef>
          <a:spcAft>
            <a:spcPct val="0"/>
          </a:spcAft>
          <a:buClrTx/>
          <a:buSzTx/>
          <a:buFontTx/>
          <a:buNone/>
          <a:defRPr kumimoji="1" lang="zh-CN" altLang="en-US" sz="36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8">
        <a:dk1>
          <a:srgbClr val="000000"/>
        </a:dk1>
        <a:lt1>
          <a:srgbClr val="FFFFFF"/>
        </a:lt1>
        <a:dk2>
          <a:srgbClr val="6600CC"/>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绪论</Template>
  <TotalTime>11101</TotalTime>
  <Words>5617</Words>
  <Application>Microsoft Office PowerPoint</Application>
  <PresentationFormat>全屏显示(4:3)</PresentationFormat>
  <Paragraphs>1055</Paragraphs>
  <Slides>81</Slides>
  <Notes>2</Notes>
  <HiddenSlides>0</HiddenSlides>
  <MMClips>0</MMClips>
  <ScaleCrop>false</ScaleCrop>
  <HeadingPairs>
    <vt:vector size="6" baseType="variant">
      <vt:variant>
        <vt:lpstr>主题</vt:lpstr>
      </vt:variant>
      <vt:variant>
        <vt:i4>1</vt:i4>
      </vt:variant>
      <vt:variant>
        <vt:lpstr>嵌入 OLE 服务器</vt:lpstr>
      </vt:variant>
      <vt:variant>
        <vt:i4>2</vt:i4>
      </vt:variant>
      <vt:variant>
        <vt:lpstr>幻灯片标题</vt:lpstr>
      </vt:variant>
      <vt:variant>
        <vt:i4>81</vt:i4>
      </vt:variant>
    </vt:vector>
  </HeadingPairs>
  <TitlesOfParts>
    <vt:vector size="84" baseType="lpstr">
      <vt:lpstr>Blends</vt:lpstr>
      <vt:lpstr>公式</vt:lpstr>
      <vt:lpstr>Visio</vt:lpstr>
      <vt:lpstr>幻灯片 1</vt:lpstr>
      <vt:lpstr>教学内容</vt:lpstr>
      <vt:lpstr>概述</vt:lpstr>
      <vt:lpstr>概述</vt:lpstr>
      <vt:lpstr>概述</vt:lpstr>
      <vt:lpstr>5.1.1 由与非门构成的基本RS触发器</vt:lpstr>
      <vt:lpstr>5.1.1 由与非门构成的基本RS触发器</vt:lpstr>
      <vt:lpstr>5.1.1 由与非门构成的基本RS触发器</vt:lpstr>
      <vt:lpstr>5.1.1 由与非门构成的基本RS触发器</vt:lpstr>
      <vt:lpstr>5.1.1 由与非门构成的基本RS触发器</vt:lpstr>
      <vt:lpstr>5.1.1 由与非门构成的基本RS触发器</vt:lpstr>
      <vt:lpstr>5.1.1 由与非门构成的基本RS触发器</vt:lpstr>
      <vt:lpstr>5.1.1 由与非门构成的基本RS触发器</vt:lpstr>
      <vt:lpstr>5.1.1 由与非门构成的基本RS触发器</vt:lpstr>
      <vt:lpstr>5.1.1 由与非门构成的基本RS触发器</vt:lpstr>
      <vt:lpstr>5.1.1 由与非门构成的基本RS触发器</vt:lpstr>
      <vt:lpstr>5.1.1 由与非门构成的基本RS触发器</vt:lpstr>
      <vt:lpstr>5.1.1 由与非门构成的基本RS触发器</vt:lpstr>
      <vt:lpstr>5.1.1 由与非门构成的基本RS触发器</vt:lpstr>
      <vt:lpstr>5.1.1 由与非门构成的基本RS触发器</vt:lpstr>
      <vt:lpstr>5.1.1 由与非门构成的基本RS触发器</vt:lpstr>
      <vt:lpstr>5.1.1 由与非门构成的基本RS触发器</vt:lpstr>
      <vt:lpstr>5.1.2 时钟（同步）触发器</vt:lpstr>
      <vt:lpstr>1. 时钟（同步）RS触发器</vt:lpstr>
      <vt:lpstr>幻灯片 25</vt:lpstr>
      <vt:lpstr>1. 时钟（同步）RS触发器</vt:lpstr>
      <vt:lpstr>1. 时钟（同步）RS触发器</vt:lpstr>
      <vt:lpstr>1. 时钟（同步）RS触发器</vt:lpstr>
      <vt:lpstr>1. 时钟（同步）RS触发器</vt:lpstr>
      <vt:lpstr>1. 时钟（同步）RS触发器</vt:lpstr>
      <vt:lpstr>2. 时钟（同步）D触发器</vt:lpstr>
      <vt:lpstr>2. 时钟（同步）D触发器</vt:lpstr>
      <vt:lpstr>2. 时钟（同步） D触发器</vt:lpstr>
      <vt:lpstr>2. 时钟（同步）JK触发器</vt:lpstr>
      <vt:lpstr>5.1.2 时钟触发器</vt:lpstr>
      <vt:lpstr>3. 时钟（同步）JK触发器</vt:lpstr>
      <vt:lpstr>4. 时钟（同步）T触发器</vt:lpstr>
      <vt:lpstr>4. 时钟（同步）T触发器</vt:lpstr>
      <vt:lpstr>5. 时钟（同步）触发器的特点</vt:lpstr>
      <vt:lpstr>5. 时钟（同步）触发器的特点</vt:lpstr>
      <vt:lpstr>幻灯片 41</vt:lpstr>
      <vt:lpstr>5.2.1 主从RS触发器</vt:lpstr>
      <vt:lpstr>1. 电路组成</vt:lpstr>
      <vt:lpstr>2. 工作原理</vt:lpstr>
      <vt:lpstr>2. 工作原理</vt:lpstr>
      <vt:lpstr>2. 工作原理</vt:lpstr>
      <vt:lpstr>2. 工作原理</vt:lpstr>
      <vt:lpstr>2. 工作原理</vt:lpstr>
      <vt:lpstr>2. 工作原理</vt:lpstr>
      <vt:lpstr>幻灯片 50</vt:lpstr>
      <vt:lpstr>5.2.2 主从JK触发器</vt:lpstr>
      <vt:lpstr>5.2.2 主从JK触发器</vt:lpstr>
      <vt:lpstr>5.2.2 主从JK触发器</vt:lpstr>
      <vt:lpstr>5.2.2 主从JK触发器</vt:lpstr>
      <vt:lpstr>5.2.2 主从JK触发器</vt:lpstr>
      <vt:lpstr>5.2.2 主从JK触发器</vt:lpstr>
      <vt:lpstr>5.2.2 主从JK触发器</vt:lpstr>
      <vt:lpstr>5.2.2 主从JK触发器</vt:lpstr>
      <vt:lpstr>5.2.2 主从JK触发器</vt:lpstr>
      <vt:lpstr>5.2.2 主从JK触发器</vt:lpstr>
      <vt:lpstr>5.2.2 主从JK触发器</vt:lpstr>
      <vt:lpstr>5.2.2 主从JK触发器</vt:lpstr>
      <vt:lpstr>5.2.2 主从JK触发器</vt:lpstr>
      <vt:lpstr>5.2.2 主从JK触发器</vt:lpstr>
      <vt:lpstr>幻灯片 65</vt:lpstr>
      <vt:lpstr>幻灯片 66</vt:lpstr>
      <vt:lpstr>幻灯片 67</vt:lpstr>
      <vt:lpstr>幻灯片 68</vt:lpstr>
      <vt:lpstr>幻灯片 69</vt:lpstr>
      <vt:lpstr>幻灯片 70</vt:lpstr>
      <vt:lpstr>幻灯片 71</vt:lpstr>
      <vt:lpstr>幻灯片 72</vt:lpstr>
      <vt:lpstr>幻灯片 73</vt:lpstr>
      <vt:lpstr>5.4 触发器的分类和区别</vt:lpstr>
      <vt:lpstr>5.4 触发器的分类和区别</vt:lpstr>
      <vt:lpstr>5.6 触发器的典型应用</vt:lpstr>
      <vt:lpstr>5.6 触发器的典型应用</vt:lpstr>
      <vt:lpstr>5.6 触发器的典型应用</vt:lpstr>
      <vt:lpstr>本章小结</vt:lpstr>
      <vt:lpstr>本章小结</vt:lpstr>
      <vt:lpstr>《第5章》课外作业</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wrj</dc:creator>
  <cp:lastModifiedBy>Sky123.Org</cp:lastModifiedBy>
  <cp:revision>538</cp:revision>
  <dcterms:created xsi:type="dcterms:W3CDTF">2017-09-19T13:51:00Z</dcterms:created>
  <dcterms:modified xsi:type="dcterms:W3CDTF">2021-12-07T12:11:49Z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2052-10.1.0.7023</vt:lpwstr>
  </property>
</Properties>
</file>