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Default Extension="wdp" ContentType="image/vnd.ms-photo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omments/comment1.xml" ContentType="application/vnd.openxmlformats-officedocument.presentationml.comments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commentAuthors.xml" ContentType="application/vnd.openxmlformats-officedocument.presentationml.commentAuthors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9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8" r:id="rId2"/>
  </p:sldMasterIdLst>
  <p:notesMasterIdLst>
    <p:notesMasterId r:id="rId149"/>
  </p:notesMasterIdLst>
  <p:sldIdLst>
    <p:sldId id="421" r:id="rId3"/>
    <p:sldId id="258" r:id="rId4"/>
    <p:sldId id="363" r:id="rId5"/>
    <p:sldId id="364" r:id="rId6"/>
    <p:sldId id="365" r:id="rId7"/>
    <p:sldId id="449" r:id="rId8"/>
    <p:sldId id="452" r:id="rId9"/>
    <p:sldId id="453" r:id="rId10"/>
    <p:sldId id="408" r:id="rId11"/>
    <p:sldId id="346" r:id="rId12"/>
    <p:sldId id="410" r:id="rId13"/>
    <p:sldId id="411" r:id="rId14"/>
    <p:sldId id="413" r:id="rId15"/>
    <p:sldId id="414" r:id="rId16"/>
    <p:sldId id="409" r:id="rId17"/>
    <p:sldId id="415" r:id="rId18"/>
    <p:sldId id="416" r:id="rId19"/>
    <p:sldId id="347" r:id="rId20"/>
    <p:sldId id="348" r:id="rId21"/>
    <p:sldId id="349" r:id="rId22"/>
    <p:sldId id="350" r:id="rId23"/>
    <p:sldId id="351" r:id="rId24"/>
    <p:sldId id="353" r:id="rId25"/>
    <p:sldId id="352" r:id="rId26"/>
    <p:sldId id="465" r:id="rId27"/>
    <p:sldId id="279" r:id="rId28"/>
    <p:sldId id="280" r:id="rId29"/>
    <p:sldId id="290" r:id="rId30"/>
    <p:sldId id="455" r:id="rId31"/>
    <p:sldId id="456" r:id="rId32"/>
    <p:sldId id="461" r:id="rId33"/>
    <p:sldId id="457" r:id="rId34"/>
    <p:sldId id="486" r:id="rId35"/>
    <p:sldId id="458" r:id="rId36"/>
    <p:sldId id="459" r:id="rId37"/>
    <p:sldId id="451" r:id="rId38"/>
    <p:sldId id="277" r:id="rId39"/>
    <p:sldId id="278" r:id="rId40"/>
    <p:sldId id="481" r:id="rId41"/>
    <p:sldId id="270" r:id="rId42"/>
    <p:sldId id="271" r:id="rId43"/>
    <p:sldId id="288" r:id="rId44"/>
    <p:sldId id="484" r:id="rId45"/>
    <p:sldId id="485" r:id="rId46"/>
    <p:sldId id="281" r:id="rId47"/>
    <p:sldId id="291" r:id="rId48"/>
    <p:sldId id="296" r:id="rId49"/>
    <p:sldId id="294" r:id="rId50"/>
    <p:sldId id="488" r:id="rId51"/>
    <p:sldId id="283" r:id="rId52"/>
    <p:sldId id="299" r:id="rId53"/>
    <p:sldId id="367" r:id="rId54"/>
    <p:sldId id="489" r:id="rId55"/>
    <p:sldId id="298" r:id="rId56"/>
    <p:sldId id="301" r:id="rId57"/>
    <p:sldId id="300" r:id="rId58"/>
    <p:sldId id="302" r:id="rId59"/>
    <p:sldId id="303" r:id="rId60"/>
    <p:sldId id="304" r:id="rId61"/>
    <p:sldId id="306" r:id="rId62"/>
    <p:sldId id="482" r:id="rId63"/>
    <p:sldId id="483" r:id="rId64"/>
    <p:sldId id="454" r:id="rId65"/>
    <p:sldId id="318" r:id="rId66"/>
    <p:sldId id="325" r:id="rId67"/>
    <p:sldId id="324" r:id="rId68"/>
    <p:sldId id="368" r:id="rId69"/>
    <p:sldId id="323" r:id="rId70"/>
    <p:sldId id="371" r:id="rId71"/>
    <p:sldId id="369" r:id="rId72"/>
    <p:sldId id="322" r:id="rId73"/>
    <p:sldId id="373" r:id="rId74"/>
    <p:sldId id="374" r:id="rId75"/>
    <p:sldId id="320" r:id="rId76"/>
    <p:sldId id="376" r:id="rId77"/>
    <p:sldId id="328" r:id="rId78"/>
    <p:sldId id="437" r:id="rId79"/>
    <p:sldId id="438" r:id="rId80"/>
    <p:sldId id="439" r:id="rId81"/>
    <p:sldId id="463" r:id="rId82"/>
    <p:sldId id="441" r:id="rId83"/>
    <p:sldId id="462" r:id="rId84"/>
    <p:sldId id="491" r:id="rId85"/>
    <p:sldId id="433" r:id="rId86"/>
    <p:sldId id="435" r:id="rId87"/>
    <p:sldId id="443" r:id="rId88"/>
    <p:sldId id="490" r:id="rId89"/>
    <p:sldId id="434" r:id="rId90"/>
    <p:sldId id="446" r:id="rId91"/>
    <p:sldId id="447" r:id="rId92"/>
    <p:sldId id="391" r:id="rId93"/>
    <p:sldId id="392" r:id="rId94"/>
    <p:sldId id="393" r:id="rId95"/>
    <p:sldId id="426" r:id="rId96"/>
    <p:sldId id="330" r:id="rId97"/>
    <p:sldId id="431" r:id="rId98"/>
    <p:sldId id="425" r:id="rId99"/>
    <p:sldId id="387" r:id="rId100"/>
    <p:sldId id="333" r:id="rId101"/>
    <p:sldId id="335" r:id="rId102"/>
    <p:sldId id="334" r:id="rId103"/>
    <p:sldId id="329" r:id="rId104"/>
    <p:sldId id="496" r:id="rId105"/>
    <p:sldId id="495" r:id="rId106"/>
    <p:sldId id="427" r:id="rId107"/>
    <p:sldId id="428" r:id="rId108"/>
    <p:sldId id="336" r:id="rId109"/>
    <p:sldId id="432" r:id="rId110"/>
    <p:sldId id="378" r:id="rId111"/>
    <p:sldId id="338" r:id="rId112"/>
    <p:sldId id="429" r:id="rId113"/>
    <p:sldId id="379" r:id="rId114"/>
    <p:sldId id="394" r:id="rId115"/>
    <p:sldId id="395" r:id="rId116"/>
    <p:sldId id="396" r:id="rId117"/>
    <p:sldId id="430" r:id="rId118"/>
    <p:sldId id="345" r:id="rId119"/>
    <p:sldId id="493" r:id="rId120"/>
    <p:sldId id="492" r:id="rId121"/>
    <p:sldId id="469" r:id="rId122"/>
    <p:sldId id="380" r:id="rId123"/>
    <p:sldId id="470" r:id="rId124"/>
    <p:sldId id="343" r:id="rId125"/>
    <p:sldId id="341" r:id="rId126"/>
    <p:sldId id="340" r:id="rId127"/>
    <p:sldId id="400" r:id="rId128"/>
    <p:sldId id="497" r:id="rId129"/>
    <p:sldId id="401" r:id="rId130"/>
    <p:sldId id="422" r:id="rId131"/>
    <p:sldId id="402" r:id="rId132"/>
    <p:sldId id="403" r:id="rId133"/>
    <p:sldId id="404" r:id="rId134"/>
    <p:sldId id="405" r:id="rId135"/>
    <p:sldId id="406" r:id="rId136"/>
    <p:sldId id="466" r:id="rId137"/>
    <p:sldId id="467" r:id="rId138"/>
    <p:sldId id="468" r:id="rId139"/>
    <p:sldId id="471" r:id="rId140"/>
    <p:sldId id="472" r:id="rId141"/>
    <p:sldId id="475" r:id="rId142"/>
    <p:sldId id="476" r:id="rId143"/>
    <p:sldId id="477" r:id="rId144"/>
    <p:sldId id="478" r:id="rId145"/>
    <p:sldId id="480" r:id="rId146"/>
    <p:sldId id="424" r:id="rId147"/>
    <p:sldId id="417" r:id="rId14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ZaiMa.COM" initials="X" lastIdx="1" clrIdx="0">
    <p:extLst>
      <p:ext uri="{19B8F6BF-5375-455C-9EA6-DF929625EA0E}">
        <p15:presenceInfo xmlns="" xmlns:p15="http://schemas.microsoft.com/office/powerpoint/2012/main" userId="XiaZaiMa.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6969FF"/>
    <a:srgbClr val="A7A7FF"/>
    <a:srgbClr val="CC3300"/>
    <a:srgbClr val="000099"/>
    <a:srgbClr val="DDFFF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687" autoAdjust="0"/>
  </p:normalViewPr>
  <p:slideViewPr>
    <p:cSldViewPr>
      <p:cViewPr>
        <p:scale>
          <a:sx n="80" d="100"/>
          <a:sy n="80" d="100"/>
        </p:scale>
        <p:origin x="-1142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804" y="1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commentAuthors" Target="commentAuthor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5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5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0-21T17:08:28.338" idx="1">
    <p:pos x="10" y="10"/>
    <p:text/>
    <p:extLst>
      <p:ext uri="{C676402C-5697-4E1C-873F-D02D1690AC5C}">
        <p15:threadingInfo xmlns="" xmlns:p15="http://schemas.microsoft.com/office/powerpoint/2012/main" timeZoneBias="-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13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wmf"/><Relationship Id="rId1" Type="http://schemas.openxmlformats.org/officeDocument/2006/relationships/image" Target="../media/image19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3B7ED-3E2A-484A-9F54-F98DE44168C9}" type="datetimeFigureOut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31B67-FA19-48D4-9513-ACEE5F6BF7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0505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TTL 2.0~3.0V   0~0.8V</a:t>
            </a:r>
          </a:p>
          <a:p>
            <a:r>
              <a:rPr lang="en-US" altLang="zh-CN" dirty="0" smtClean="0"/>
              <a:t>CMOS 5~3.5V      0~1.5V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31B67-FA19-48D4-9513-ACEE5F6BF7E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9191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42DC57-5B41-4F47-B177-C70F8CE7067E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23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6697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C76F88-1064-40A8-9119-BA04F15BBAD4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26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70413" cy="3427412"/>
          </a:xfrm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293688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="" xmlns:p14="http://schemas.microsoft.com/office/powerpoint/2010/main" val="371844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B20B74-6B07-4790-A3FF-C5D2D8C61C8B}" type="slidenum">
              <a:rPr lang="en-US" altLang="zh-CN">
                <a:solidFill>
                  <a:prstClr val="black"/>
                </a:solidFill>
              </a:rPr>
              <a:pPr/>
              <a:t>28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="" xmlns:p14="http://schemas.microsoft.com/office/powerpoint/2010/main" val="2898444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C76F88-1064-40A8-9119-BA04F15BBAD4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39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70413" cy="3427412"/>
          </a:xfrm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293688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="" xmlns:p14="http://schemas.microsoft.com/office/powerpoint/2010/main" val="3718441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RL</a:t>
            </a:r>
            <a:r>
              <a:rPr lang="zh-CN" altLang="en-US" dirty="0" smtClean="0"/>
              <a:t>限流电阻</a:t>
            </a:r>
            <a:endParaRPr lang="en-US" altLang="zh-CN" dirty="0" smtClean="0"/>
          </a:p>
          <a:p>
            <a:r>
              <a:rPr lang="en-US" altLang="zh-CN" dirty="0" smtClean="0"/>
              <a:t>T5</a:t>
            </a:r>
            <a:r>
              <a:rPr lang="zh-CN" altLang="en-US" dirty="0" smtClean="0"/>
              <a:t>会比一般的三极管大，可以承受较大电流和较高电压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31B67-FA19-48D4-9513-ACEE5F6BF7EA}" type="slidenum">
              <a:rPr lang="zh-CN" altLang="en-US" smtClean="0"/>
              <a:pPr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7760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4691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469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694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14695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6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47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47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470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6027867-98BD-4F9C-986F-7B4231349EC2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11470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470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lnSpc>
                <a:spcPts val="3200"/>
              </a:lnSpc>
              <a:defRPr sz="2200" b="1"/>
            </a:lvl2pPr>
            <a:lvl3pPr>
              <a:lnSpc>
                <a:spcPts val="3200"/>
              </a:lnSpc>
              <a:defRPr sz="2000"/>
            </a:lvl3pPr>
            <a:lvl4pPr>
              <a:defRPr sz="2000"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7D6926-2D63-4654-9177-46B394495423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485FEE-4D4C-4EEB-8411-1B041AEC0A4E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32EE0B-6434-4D2A-8CA5-D2FA4B3585D9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9DBD51-390C-4629-95BF-7EFE2E8DDBA6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469C8B-3BB9-45D3-9D68-BC028189B4E7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6AE7AF-61B6-4BAB-B248-64FFBAE481CA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AF707C-051E-456B-8D0B-41D061E9DC11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6D1375-B179-43A2-B73E-EAE9576974EF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EB72A-369B-4CFD-A1AB-45B345D2F6E9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9ADA37-E4E2-4171-B415-C80A681FA719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4691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469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469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14694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14695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4696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147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47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470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688841-914C-4AF2-8ED2-C13FC6680A23}" type="datetime1">
              <a:rPr lang="zh-CN" altLang="en-US" smtClean="0">
                <a:solidFill>
                  <a:srgbClr val="1C1C1C"/>
                </a:solidFill>
              </a:rPr>
              <a:pPr/>
              <a:t>2021/11/21</a:t>
            </a:fld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1470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1470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srgbClr val="1C1C1C"/>
                </a:solidFill>
              </a:rPr>
              <a:pPr/>
              <a:t>‹#›</a:t>
            </a:fld>
            <a:endParaRPr lang="zh-CN" altLang="en-US">
              <a:solidFill>
                <a:srgbClr val="1C1C1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lnSpc>
                <a:spcPts val="3200"/>
              </a:lnSpc>
              <a:defRPr sz="2200" b="1"/>
            </a:lvl2pPr>
            <a:lvl3pPr>
              <a:lnSpc>
                <a:spcPts val="3200"/>
              </a:lnSpc>
              <a:defRPr sz="2000"/>
            </a:lvl3pPr>
            <a:lvl4pPr>
              <a:defRPr sz="2000"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325DC6-BD67-43E2-B5A7-D52861747F66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3388A4-1F0B-4E8E-BBE4-1FF80B1596CC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F7FE92-39E3-4361-8569-28D1795B9612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A41A1C-9DDE-4DA9-A0F5-10E8ED1C218B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93EDA2-FCB9-48DF-B232-C5EA35A8E02F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66D5A2-074B-40DB-A347-508D9AEDAD81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031CAF-4873-47BA-B6D1-AB22A00DA23D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623EE5-ADE2-4DA7-BC7A-BC13F771182F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F5C067-FBC7-4333-BC81-0EC6C0C3321A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CF4B33-C5F5-45D3-A3F6-570913FA4969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ltGray">
          <a:xfrm>
            <a:off x="470025" y="59764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ltGray">
          <a:xfrm>
            <a:off x="852612" y="597644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ltGray">
          <a:xfrm>
            <a:off x="593850" y="1019919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ltGray">
          <a:xfrm>
            <a:off x="963737" y="1019919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ltGray">
          <a:xfrm>
            <a:off x="179512" y="946894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gray">
          <a:xfrm>
            <a:off x="814512" y="489694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2" name="Rectangle 8"/>
          <p:cNvSpPr>
            <a:spLocks noChangeArrowheads="1"/>
          </p:cNvSpPr>
          <p:nvPr/>
        </p:nvSpPr>
        <p:spPr bwMode="gray">
          <a:xfrm>
            <a:off x="495425" y="1280269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03450" y="116632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13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3750" y="1542208"/>
            <a:ext cx="8161338" cy="49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36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fld id="{EE836025-0594-4E4D-B094-08AD9D288ED0}" type="datetime1">
              <a:rPr lang="zh-CN" altLang="en-US" smtClean="0"/>
              <a:pPr/>
              <a:t>2021/11/21</a:t>
            </a:fld>
            <a:endParaRPr lang="zh-CN" altLang="en-US"/>
          </a:p>
        </p:txBody>
      </p:sp>
      <p:sp>
        <p:nvSpPr>
          <p:cNvPr id="1136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endParaRPr lang="zh-CN" altLang="en-US"/>
          </a:p>
        </p:txBody>
      </p:sp>
      <p:sp>
        <p:nvSpPr>
          <p:cNvPr id="1136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ltGray">
          <a:xfrm>
            <a:off x="470025" y="59764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ltGray">
          <a:xfrm>
            <a:off x="852612" y="597644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ltGray">
          <a:xfrm>
            <a:off x="593850" y="1019919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ltGray">
          <a:xfrm>
            <a:off x="963737" y="1019919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ltGray">
          <a:xfrm>
            <a:off x="179512" y="946894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gray">
          <a:xfrm>
            <a:off x="814512" y="489694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2" name="Rectangle 8"/>
          <p:cNvSpPr>
            <a:spLocks noChangeArrowheads="1"/>
          </p:cNvSpPr>
          <p:nvPr/>
        </p:nvSpPr>
        <p:spPr bwMode="gray">
          <a:xfrm>
            <a:off x="495425" y="1280269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03450" y="116632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13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3750" y="1542208"/>
            <a:ext cx="8161338" cy="49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36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fld id="{E6DA07E7-9A08-436A-BB9F-A3D265F2F016}" type="datetime1">
              <a:rPr lang="zh-CN" altLang="en-US" smtClean="0">
                <a:solidFill>
                  <a:srgbClr val="000000"/>
                </a:solidFill>
              </a:rPr>
              <a:pPr/>
              <a:t>2021/11/21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36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36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6.png"/><Relationship Id="rId4" Type="http://schemas.openxmlformats.org/officeDocument/2006/relationships/oleObject" Target="../embeddings/oleObject7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8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file:///I:\Ele_digital\chap02\dch1-1to2.pp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hyperlink" Target="file:///I:\Ele_digital\chap02\dch1-1to2.ppt" TargetMode="External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6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6" Type="http://schemas.openxmlformats.org/officeDocument/2006/relationships/comments" Target="../comments/comment1.xml"/><Relationship Id="rId5" Type="http://schemas.openxmlformats.org/officeDocument/2006/relationships/image" Target="../media/image36.png"/><Relationship Id="rId4" Type="http://schemas.openxmlformats.org/officeDocument/2006/relationships/image" Target="../media/image7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80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76.png"/><Relationship Id="rId4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jpeg"/><Relationship Id="rId4" Type="http://schemas.openxmlformats.org/officeDocument/2006/relationships/image" Target="../media/image1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1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1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3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14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15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1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3.png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2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8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7.jpe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eg"/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20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jpeg"/><Relationship Id="rId7" Type="http://schemas.openxmlformats.org/officeDocument/2006/relationships/image" Target="../media/image175.png"/><Relationship Id="rId2" Type="http://schemas.openxmlformats.org/officeDocument/2006/relationships/image" Target="../media/image17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jpe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184.png"/><Relationship Id="rId5" Type="http://schemas.openxmlformats.org/officeDocument/2006/relationships/oleObject" Target="../embeddings/oleObject27.bin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31.bin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7.png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202.jpeg"/><Relationship Id="rId4" Type="http://schemas.openxmlformats.org/officeDocument/2006/relationships/oleObject" Target="../embeddings/oleObject35.bin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5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5.jpeg"/><Relationship Id="rId4" Type="http://schemas.openxmlformats.org/officeDocument/2006/relationships/image" Target="../media/image234.jpe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0.png"/><Relationship Id="rId5" Type="http://schemas.openxmlformats.org/officeDocument/2006/relationships/image" Target="../media/image239.jpeg"/><Relationship Id="rId4" Type="http://schemas.openxmlformats.org/officeDocument/2006/relationships/image" Target="../media/image238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5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403648" y="476672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副标题 2"/>
          <p:cNvSpPr txBox="1">
            <a:spLocks/>
          </p:cNvSpPr>
          <p:nvPr/>
        </p:nvSpPr>
        <p:spPr bwMode="auto">
          <a:xfrm>
            <a:off x="539552" y="1556792"/>
            <a:ext cx="777686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教材编著： 戚金清  （大连理工大学）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原始课件制作：王瑞娟   （郑州大学） 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课件编辑修改：杨晓东   （郑州大学）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授课教师：杨晓东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7875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zh-CN" altLang="en-US" dirty="0"/>
              <a:t>教学内容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2.1 </a:t>
            </a:r>
            <a:r>
              <a:rPr lang="zh-CN" altLang="en-US" sz="2800" dirty="0" smtClean="0"/>
              <a:t>概述</a:t>
            </a:r>
            <a:endParaRPr lang="zh-CN" altLang="en-US" sz="28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2.2 </a:t>
            </a:r>
            <a:r>
              <a:rPr lang="zh-CN" altLang="en-US" sz="2800" dirty="0" smtClean="0"/>
              <a:t>逻辑门电路介绍</a:t>
            </a:r>
            <a:endParaRPr lang="zh-CN" altLang="en-US" sz="28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2.3 TTL</a:t>
            </a:r>
            <a:r>
              <a:rPr lang="zh-CN" altLang="en-US" sz="2800" dirty="0" smtClean="0"/>
              <a:t>集成门电路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2.4 MOS</a:t>
            </a:r>
            <a:r>
              <a:rPr lang="zh-CN" altLang="en-US" sz="2800" dirty="0" smtClean="0"/>
              <a:t>门电路</a:t>
            </a:r>
            <a:endParaRPr lang="zh-CN" altLang="en-US" sz="28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2.5 TTL</a:t>
            </a:r>
            <a:r>
              <a:rPr lang="zh-CN" altLang="en-US" sz="2800" dirty="0" smtClean="0"/>
              <a:t>与</a:t>
            </a:r>
            <a:r>
              <a:rPr lang="en-US" altLang="zh-CN" sz="2800" dirty="0" smtClean="0"/>
              <a:t>CMOS</a:t>
            </a:r>
            <a:r>
              <a:rPr lang="zh-CN" altLang="en-US" sz="2800" dirty="0" smtClean="0"/>
              <a:t>电路的连接</a:t>
            </a:r>
            <a:endParaRPr lang="zh-CN" altLang="en-US" sz="28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2.6 TTL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CMOS</a:t>
            </a:r>
            <a:r>
              <a:rPr lang="zh-CN" altLang="en-US" sz="2800" dirty="0" smtClean="0"/>
              <a:t>常用芯片介绍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80920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>
                <a:solidFill>
                  <a:srgbClr val="C00000"/>
                </a:solidFill>
              </a:rPr>
              <a:t>门电路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 smtClean="0"/>
              <a:t>用以</a:t>
            </a:r>
            <a:r>
              <a:rPr lang="zh-CN" altLang="en-US" sz="2400" dirty="0"/>
              <a:t>实现</a:t>
            </a:r>
            <a:r>
              <a:rPr lang="zh-CN" altLang="en-US" sz="2400" dirty="0">
                <a:solidFill>
                  <a:srgbClr val="0000CC"/>
                </a:solidFill>
              </a:rPr>
              <a:t>基本逻辑运算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0000CC"/>
                </a:solidFill>
              </a:rPr>
              <a:t>部分常用复合</a:t>
            </a:r>
            <a:r>
              <a:rPr lang="zh-CN" altLang="en-US" sz="2400" dirty="0">
                <a:solidFill>
                  <a:srgbClr val="0000CC"/>
                </a:solidFill>
              </a:rPr>
              <a:t>逻辑运算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单元电路</a:t>
            </a:r>
            <a:r>
              <a:rPr lang="zh-CN" altLang="en-US" sz="2400" dirty="0"/>
              <a:t>通称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rgbClr val="FF0000"/>
                </a:solidFill>
              </a:rPr>
              <a:t>逻辑</a:t>
            </a:r>
            <a:r>
              <a:rPr lang="zh-CN" altLang="en-US" sz="2400" dirty="0" smtClean="0">
                <a:solidFill>
                  <a:srgbClr val="C00000"/>
                </a:solidFill>
              </a:rPr>
              <a:t>门电路，</a:t>
            </a:r>
            <a:r>
              <a:rPr lang="zh-CN" altLang="en-US" sz="2400" dirty="0" smtClean="0"/>
              <a:t>简称</a:t>
            </a:r>
            <a:r>
              <a:rPr lang="zh-CN" altLang="en-US" sz="2400" dirty="0" smtClean="0">
                <a:solidFill>
                  <a:srgbClr val="C00000"/>
                </a:solidFill>
              </a:rPr>
              <a:t>门电路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常用的逻辑门电路有</a:t>
            </a:r>
            <a:r>
              <a:rPr lang="zh-CN" altLang="en-US" sz="2800" dirty="0"/>
              <a:t>：</a:t>
            </a:r>
            <a:r>
              <a:rPr lang="zh-CN" altLang="en-US" sz="2800" dirty="0" smtClean="0"/>
              <a:t>与门</a:t>
            </a:r>
            <a:r>
              <a:rPr lang="en-US" altLang="zh-CN" sz="2800" dirty="0" smtClean="0"/>
              <a:t>(AND)</a:t>
            </a:r>
            <a:r>
              <a:rPr lang="zh-CN" altLang="en-US" sz="2800" dirty="0" smtClean="0"/>
              <a:t>、或门</a:t>
            </a:r>
            <a:r>
              <a:rPr lang="en-US" altLang="zh-CN" sz="2800" dirty="0" smtClean="0"/>
              <a:t>(OR)</a:t>
            </a:r>
            <a:r>
              <a:rPr lang="zh-CN" altLang="en-US" sz="2800" dirty="0" smtClean="0"/>
              <a:t>、非门</a:t>
            </a:r>
            <a:r>
              <a:rPr lang="en-US" altLang="zh-CN" sz="2800" dirty="0" smtClean="0"/>
              <a:t>(NOT)</a:t>
            </a:r>
            <a:r>
              <a:rPr lang="zh-CN" altLang="en-US" sz="2800" dirty="0" smtClean="0"/>
              <a:t>、与非门</a:t>
            </a:r>
            <a:r>
              <a:rPr lang="en-US" altLang="zh-CN" sz="2800" dirty="0" smtClean="0"/>
              <a:t>(NAND)</a:t>
            </a:r>
            <a:r>
              <a:rPr lang="zh-CN" altLang="en-US" sz="2800" dirty="0" smtClean="0"/>
              <a:t>、或非门</a:t>
            </a:r>
            <a:r>
              <a:rPr lang="en-US" altLang="zh-CN" sz="2800" dirty="0" smtClean="0"/>
              <a:t>(NOR)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与</a:t>
            </a:r>
            <a:r>
              <a:rPr lang="zh-CN" altLang="en-US" sz="2800" dirty="0" smtClean="0"/>
              <a:t>或非门、异或门</a:t>
            </a:r>
            <a:r>
              <a:rPr lang="en-US" altLang="zh-CN" sz="2800" dirty="0" smtClean="0"/>
              <a:t>(XOR)</a:t>
            </a:r>
            <a:r>
              <a:rPr lang="zh-CN" altLang="en-US" sz="2800" dirty="0" smtClean="0"/>
              <a:t>、同或门</a:t>
            </a:r>
            <a:r>
              <a:rPr lang="en-US" altLang="zh-CN" sz="2800" dirty="0" smtClean="0"/>
              <a:t>(XNOR)</a:t>
            </a:r>
            <a:r>
              <a:rPr lang="zh-CN" altLang="en-US" sz="2800" dirty="0" smtClean="0"/>
              <a:t>等</a:t>
            </a:r>
            <a:r>
              <a:rPr lang="zh-CN" altLang="en-US" sz="2800" dirty="0"/>
              <a:t>。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581128"/>
            <a:ext cx="2649168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0" y="4077072"/>
            <a:ext cx="1114408" cy="369332"/>
          </a:xfrm>
          <a:prstGeom prst="wedgeRectCallout">
            <a:avLst>
              <a:gd name="adj1" fmla="val 47382"/>
              <a:gd name="adj2" fmla="val 11119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国家标准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0" y="6165304"/>
            <a:ext cx="1152128" cy="369332"/>
          </a:xfrm>
          <a:prstGeom prst="wedgeRectCallout">
            <a:avLst>
              <a:gd name="adj1" fmla="val 37925"/>
              <a:gd name="adj2" fmla="val -8665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常用表示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4509120"/>
            <a:ext cx="4836418" cy="1761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077072"/>
            <a:ext cx="314325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4536504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在数字电路</a:t>
            </a:r>
            <a:r>
              <a:rPr lang="zh-CN" altLang="en-US" sz="2800" dirty="0"/>
              <a:t>中</a:t>
            </a:r>
            <a:r>
              <a:rPr lang="zh-CN" altLang="en-US" sz="2800" dirty="0" smtClean="0"/>
              <a:t>，通常用高</a:t>
            </a:r>
            <a:r>
              <a:rPr lang="en-US" altLang="zh-CN" sz="2800" dirty="0" smtClean="0"/>
              <a:t>(H)</a:t>
            </a:r>
            <a:r>
              <a:rPr lang="zh-CN" altLang="en-US" sz="2800" dirty="0" smtClean="0"/>
              <a:t>、低</a:t>
            </a:r>
            <a:r>
              <a:rPr lang="en-US" altLang="zh-CN" sz="2800" dirty="0" smtClean="0"/>
              <a:t>(L)</a:t>
            </a:r>
            <a:r>
              <a:rPr lang="zh-CN" altLang="en-US" sz="2800" dirty="0" smtClean="0"/>
              <a:t>电平</a:t>
            </a:r>
            <a:r>
              <a:rPr lang="zh-CN" altLang="en-US" sz="2800" dirty="0"/>
              <a:t>分别</a:t>
            </a:r>
            <a:r>
              <a:rPr lang="zh-CN" altLang="en-US" sz="2800" dirty="0" smtClean="0"/>
              <a:t>表示二值逻辑的真</a:t>
            </a:r>
            <a:r>
              <a:rPr lang="en-US" altLang="zh-CN" sz="2800" dirty="0" smtClean="0"/>
              <a:t>(1)</a:t>
            </a:r>
            <a:r>
              <a:rPr lang="zh-CN" altLang="en-US" sz="2800" dirty="0" smtClean="0"/>
              <a:t>、假</a:t>
            </a:r>
            <a:r>
              <a:rPr lang="en-US" altLang="zh-CN" sz="2800" dirty="0" smtClean="0"/>
              <a:t>(0)</a:t>
            </a:r>
            <a:r>
              <a:rPr lang="zh-CN" altLang="en-US" sz="2800" smtClean="0"/>
              <a:t>两种</a:t>
            </a:r>
            <a:r>
              <a:rPr lang="zh-CN" altLang="en-US" sz="2800" dirty="0"/>
              <a:t>二</a:t>
            </a:r>
            <a:r>
              <a:rPr lang="zh-CN" altLang="en-US" sz="2800" dirty="0" smtClean="0"/>
              <a:t>值状态</a:t>
            </a:r>
            <a:r>
              <a:rPr lang="zh-CN" altLang="en-US" sz="2800" dirty="0"/>
              <a:t>，此为</a:t>
            </a:r>
            <a:r>
              <a:rPr lang="zh-CN" altLang="en-US" sz="2800" dirty="0">
                <a:solidFill>
                  <a:srgbClr val="0000CC"/>
                </a:solidFill>
              </a:rPr>
              <a:t>正逻辑</a:t>
            </a:r>
            <a:r>
              <a:rPr lang="zh-CN" altLang="en-US" sz="2800" dirty="0"/>
              <a:t>，否则为</a:t>
            </a:r>
            <a:r>
              <a:rPr lang="zh-CN" altLang="en-US" sz="2800" dirty="0">
                <a:solidFill>
                  <a:srgbClr val="0000CC"/>
                </a:solidFill>
              </a:rPr>
              <a:t>负逻辑</a:t>
            </a:r>
            <a:r>
              <a:rPr lang="zh-CN" altLang="en-US" sz="2800" dirty="0"/>
              <a:t>。</a:t>
            </a:r>
          </a:p>
          <a:p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293096"/>
            <a:ext cx="3096344" cy="1817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2339752" y="3645024"/>
            <a:ext cx="697627" cy="400110"/>
          </a:xfrm>
          <a:prstGeom prst="wedgeRectCallout">
            <a:avLst>
              <a:gd name="adj1" fmla="val -97726"/>
              <a:gd name="adj2" fmla="val 13443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范围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60032" y="48691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3.0V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860032" y="54452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5.0V</a:t>
            </a:r>
            <a:endParaRPr lang="zh-CN" altLang="en-US" dirty="0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8144" y="980728"/>
            <a:ext cx="2407912" cy="317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" name="文本框 7"/>
          <p:cNvSpPr txBox="1"/>
          <p:nvPr/>
        </p:nvSpPr>
        <p:spPr>
          <a:xfrm>
            <a:off x="4572000" y="4149080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高电平平均值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476672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2.1 </a:t>
            </a:r>
            <a:r>
              <a:rPr lang="zh-CN" altLang="en-US" sz="3200" dirty="0" smtClean="0"/>
              <a:t>概述</a:t>
            </a:r>
            <a:endParaRPr lang="zh-CN" altLang="en-US" sz="3200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484438" y="5912445"/>
            <a:ext cx="475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获得高、低电平的基本原理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619250" y="540920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(a)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单开关电路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5076056" y="2207072"/>
          <a:ext cx="3312368" cy="3011635"/>
        </p:xfrm>
        <a:graphic>
          <a:graphicData uri="http://schemas.openxmlformats.org/presentationml/2006/ole">
            <p:oleObj spid="_x0000_s31404" name="Visio" r:id="rId3" imgW="2830982" imgH="2573731" progId="">
              <p:embed/>
            </p:oleObj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292725" y="5409208"/>
            <a:ext cx="2447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互补开关电路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259632" y="1340768"/>
            <a:ext cx="70929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 smtClean="0"/>
              <a:t>高</a:t>
            </a:r>
            <a:r>
              <a:rPr kumimoji="1" lang="zh-CN" altLang="en-US" sz="2400" b="1" dirty="0"/>
              <a:t>、低</a:t>
            </a:r>
            <a:r>
              <a:rPr kumimoji="1" lang="zh-CN" altLang="en-US" sz="2400" b="1" dirty="0" smtClean="0"/>
              <a:t>电平获得的一般方法</a:t>
            </a:r>
            <a:endParaRPr kumimoji="1" lang="en-US" altLang="zh-CN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 smtClean="0"/>
              <a:t>得到高、低</a:t>
            </a:r>
            <a:r>
              <a:rPr kumimoji="1" lang="zh-CN" altLang="en-US" sz="2000" b="1" dirty="0"/>
              <a:t>电平</a:t>
            </a:r>
            <a:r>
              <a:rPr kumimoji="1" lang="zh-CN" altLang="en-US" sz="2000" b="1" dirty="0" smtClean="0"/>
              <a:t>基本原理</a:t>
            </a:r>
            <a:r>
              <a:rPr kumimoji="1" lang="zh-CN" altLang="en-US" sz="2000" b="1" dirty="0"/>
              <a:t>如</a:t>
            </a:r>
            <a:r>
              <a:rPr kumimoji="1" lang="zh-CN" altLang="en-US" sz="2000" b="1" dirty="0" smtClean="0"/>
              <a:t>图所示：</a:t>
            </a:r>
            <a:endParaRPr kumimoji="1" lang="zh-CN" altLang="en-US" sz="2000" b="1" dirty="0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323528" y="2204864"/>
            <a:ext cx="1332234" cy="431800"/>
          </a:xfrm>
          <a:prstGeom prst="wedgeRoundRectCallout">
            <a:avLst>
              <a:gd name="adj1" fmla="val 93657"/>
              <a:gd name="adj2" fmla="val 240727"/>
              <a:gd name="adj3" fmla="val 16667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缺陷？</a:t>
            </a:r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1115616" y="2204864"/>
          <a:ext cx="3058097" cy="3028131"/>
        </p:xfrm>
        <a:graphic>
          <a:graphicData uri="http://schemas.openxmlformats.org/presentationml/2006/ole">
            <p:oleObj spid="_x0000_s31405" name="Visio" r:id="rId4" imgW="2476163" imgH="2452991" progId="">
              <p:embed/>
            </p:oleObj>
          </a:graphicData>
        </a:graphic>
      </p:graphicFrame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3275856" y="2276872"/>
            <a:ext cx="1944687" cy="431800"/>
          </a:xfrm>
          <a:prstGeom prst="wedgeRoundRectCallout">
            <a:avLst>
              <a:gd name="adj1" fmla="val -79465"/>
              <a:gd name="adj2" fmla="val 229370"/>
              <a:gd name="adj3" fmla="val 16667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400" b="1" dirty="0" smtClean="0">
                <a:latin typeface="Times New Roman" panose="02020603050405020304" pitchFamily="18" charset="0"/>
              </a:rPr>
              <a:t>静态功耗大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195736" y="4221088"/>
            <a:ext cx="720080" cy="648072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283968" y="0"/>
            <a:ext cx="4860032" cy="112980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静态功耗：指的是当电路没有状态转换时的功耗，即门电路空载时电源总电流</a:t>
            </a:r>
            <a:r>
              <a:rPr kumimoji="1" lang="en-US" altLang="zh-CN" sz="2400" b="1" i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电源电压</a:t>
            </a:r>
            <a:r>
              <a:rPr kumimoji="1" lang="en-US" altLang="zh-CN" sz="2400" b="1" i="1" dirty="0" smtClean="0">
                <a:solidFill>
                  <a:srgbClr val="FF0000"/>
                </a:solidFill>
                <a:ea typeface="楷体_GB2312" pitchFamily="49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CC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乘积。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3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C00000"/>
                </a:solidFill>
              </a:rPr>
              <a:t>电子开关元件：</a:t>
            </a:r>
            <a:r>
              <a:rPr lang="zh-CN" altLang="en-US" sz="2800" dirty="0" smtClean="0">
                <a:solidFill>
                  <a:srgbClr val="0000CC"/>
                </a:solidFill>
              </a:rPr>
              <a:t>具有单向导电性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电子二极管 ：早期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半导体（晶体）二极管、三极管：现代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电子二极管：依靠阴极热发射电子到阳极实现导通。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电源正负极反接（</a:t>
            </a:r>
            <a:r>
              <a:rPr lang="zh-CN" altLang="en-US" sz="2400" dirty="0" smtClean="0">
                <a:solidFill>
                  <a:srgbClr val="FF0000"/>
                </a:solidFill>
              </a:rPr>
              <a:t>反向偏置</a:t>
            </a:r>
            <a:r>
              <a:rPr lang="zh-CN" altLang="en-US" sz="2400" dirty="0" smtClean="0"/>
              <a:t>）则不能导电。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缺点：体积大，需预热，功耗大，易损害等。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56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077072"/>
            <a:ext cx="297633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电子管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4005064"/>
            <a:ext cx="1512168" cy="2399913"/>
          </a:xfrm>
          <a:prstGeom prst="rect">
            <a:avLst/>
          </a:prstGeom>
          <a:solidFill>
            <a:srgbClr val="339966"/>
          </a:solidFill>
          <a:ln w="57150" cmpd="thinThick">
            <a:solidFill>
              <a:srgbClr val="CC0099"/>
            </a:solidFill>
            <a:miter lim="800000"/>
            <a:headEnd/>
            <a:tailEnd/>
          </a:ln>
        </p:spPr>
      </p:pic>
      <p:pic>
        <p:nvPicPr>
          <p:cNvPr id="16" name="图片 15" descr="M500SB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4077072"/>
            <a:ext cx="235585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半导体（晶体）二极管：内部有一个</a:t>
            </a:r>
            <a:r>
              <a:rPr lang="en-US" altLang="zh-CN" sz="2800" dirty="0" smtClean="0"/>
              <a:t>PN</a:t>
            </a:r>
            <a:r>
              <a:rPr lang="zh-CN" altLang="en-US" sz="2800" dirty="0" smtClean="0"/>
              <a:t>结，外部有两个引出端。</a:t>
            </a:r>
            <a:endParaRPr lang="zh-CN" altLang="en-US" sz="26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636912"/>
            <a:ext cx="240642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2636912"/>
            <a:ext cx="3312368" cy="169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57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4725144"/>
            <a:ext cx="32956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半导体（晶体）三极管：内部有两个背靠背的</a:t>
            </a:r>
            <a:r>
              <a:rPr lang="en-US" altLang="zh-CN" sz="2800" dirty="0" smtClean="0"/>
              <a:t>PN</a:t>
            </a:r>
            <a:r>
              <a:rPr lang="zh-CN" altLang="en-US" sz="2800" dirty="0" smtClean="0"/>
              <a:t>结，外部有三个引出端。</a:t>
            </a:r>
            <a:endParaRPr lang="zh-CN" altLang="en-US" sz="26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5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420888"/>
            <a:ext cx="1944216" cy="195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4509120"/>
            <a:ext cx="2232248" cy="202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4"/>
          <p:cNvGrpSpPr/>
          <p:nvPr/>
        </p:nvGrpSpPr>
        <p:grpSpPr bwMode="auto">
          <a:xfrm>
            <a:off x="3707904" y="2636912"/>
            <a:ext cx="2125663" cy="3571875"/>
            <a:chOff x="971" y="1385"/>
            <a:chExt cx="1339" cy="225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5400000" flipH="1">
              <a:off x="1638" y="2490"/>
              <a:ext cx="501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 rot="5400000" flipH="1">
              <a:off x="1644" y="1671"/>
              <a:ext cx="489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 rot="5400000" flipH="1">
              <a:off x="1728" y="2078"/>
              <a:ext cx="324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" name="Group 8"/>
            <p:cNvGrpSpPr/>
            <p:nvPr/>
          </p:nvGrpSpPr>
          <p:grpSpPr bwMode="auto">
            <a:xfrm>
              <a:off x="1859" y="3173"/>
              <a:ext cx="84" cy="462"/>
              <a:chOff x="3467" y="3509"/>
              <a:chExt cx="84" cy="462"/>
            </a:xfrm>
          </p:grpSpPr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 rot="5400000" flipH="1">
                <a:off x="3314" y="370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Oval 10"/>
              <p:cNvSpPr>
                <a:spLocks noChangeArrowheads="1"/>
              </p:cNvSpPr>
              <p:nvPr/>
            </p:nvSpPr>
            <p:spPr bwMode="auto">
              <a:xfrm rot="5400000" flipH="1">
                <a:off x="3473" y="3893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11"/>
            <p:cNvGrpSpPr/>
            <p:nvPr/>
          </p:nvGrpSpPr>
          <p:grpSpPr bwMode="auto">
            <a:xfrm>
              <a:off x="1853" y="1385"/>
              <a:ext cx="84" cy="462"/>
              <a:chOff x="3473" y="1277"/>
              <a:chExt cx="84" cy="462"/>
            </a:xfrm>
          </p:grpSpPr>
          <p:sp>
            <p:nvSpPr>
              <p:cNvPr id="17" name="Line 12"/>
              <p:cNvSpPr>
                <a:spLocks noChangeShapeType="1"/>
              </p:cNvSpPr>
              <p:nvPr/>
            </p:nvSpPr>
            <p:spPr bwMode="auto">
              <a:xfrm rot="5400000" flipH="1">
                <a:off x="3314" y="154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Oval 13"/>
              <p:cNvSpPr>
                <a:spLocks noChangeArrowheads="1"/>
              </p:cNvSpPr>
              <p:nvPr/>
            </p:nvSpPr>
            <p:spPr bwMode="auto">
              <a:xfrm rot="5400000" flipH="1">
                <a:off x="3479" y="127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rot="5400000" flipH="1">
              <a:off x="1259" y="2321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 rot="5400000" flipH="1">
              <a:off x="977" y="2495"/>
              <a:ext cx="72" cy="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4860429" y="3500512"/>
            <a:ext cx="512763" cy="1798638"/>
            <a:chOff x="1693" y="1930"/>
            <a:chExt cx="323" cy="1133"/>
          </a:xfrm>
        </p:grpSpPr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1693" y="1930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1705" y="2698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1717" y="2314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P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pic>
        <p:nvPicPr>
          <p:cNvPr id="286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3501008"/>
            <a:ext cx="2262527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628800"/>
            <a:ext cx="312154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b="1" smtClean="0">
                <a:latin typeface="+mn-ea"/>
              </a:rPr>
              <a:pPr/>
              <a:t>9</a:t>
            </a:fld>
            <a:endParaRPr lang="zh-CN" altLang="en-US" b="1" dirty="0">
              <a:latin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58087" y="2207620"/>
            <a:ext cx="586898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i="0" dirty="0">
                <a:solidFill>
                  <a:srgbClr val="009900"/>
                </a:solidFill>
                <a:latin typeface="+mn-ea"/>
                <a:ea typeface="+mn-ea"/>
              </a:rPr>
              <a:t>  </a:t>
            </a:r>
            <a:r>
              <a:rPr lang="zh-CN" altLang="en-US" i="0" dirty="0">
                <a:solidFill>
                  <a:srgbClr val="009900"/>
                </a:solidFill>
                <a:latin typeface="+mn-ea"/>
                <a:ea typeface="+mn-ea"/>
              </a:rPr>
              <a:t>纯净半导体被称为</a:t>
            </a:r>
            <a:r>
              <a:rPr lang="zh-CN" altLang="en-US" i="0" dirty="0">
                <a:solidFill>
                  <a:srgbClr val="FF0000"/>
                </a:solidFill>
                <a:latin typeface="+mn-ea"/>
                <a:ea typeface="+mn-ea"/>
              </a:rPr>
              <a:t>本征</a:t>
            </a:r>
            <a:r>
              <a:rPr lang="zh-CN" altLang="en-US" i="0" dirty="0">
                <a:solidFill>
                  <a:srgbClr val="009900"/>
                </a:solidFill>
                <a:latin typeface="+mn-ea"/>
                <a:ea typeface="+mn-ea"/>
              </a:rPr>
              <a:t>半导体</a:t>
            </a:r>
            <a:r>
              <a:rPr lang="zh-CN" altLang="en-US" i="0" dirty="0">
                <a:solidFill>
                  <a:srgbClr val="339933"/>
                </a:solidFill>
                <a:latin typeface="+mn-ea"/>
                <a:ea typeface="+mn-ea"/>
              </a:rPr>
              <a:t>。</a:t>
            </a:r>
            <a:endParaRPr lang="zh-CN" altLang="en-US" i="0" dirty="0">
              <a:latin typeface="+mn-ea"/>
              <a:ea typeface="+mn-ea"/>
            </a:endParaRP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1007865" y="2925589"/>
            <a:ext cx="712946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pattFill prst="pct50">
                  <a:fgClr>
                    <a:schemeClr val="tx1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000000"/>
                </a:solidFill>
                <a:latin typeface="+mn-ea"/>
                <a:ea typeface="+mn-ea"/>
              </a:rPr>
              <a:t>典型的半导体是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硅</a:t>
            </a:r>
            <a:r>
              <a:rPr lang="en-US" altLang="zh-CN" i="0" dirty="0">
                <a:solidFill>
                  <a:srgbClr val="FF3300"/>
                </a:solidFill>
                <a:latin typeface="+mn-ea"/>
                <a:ea typeface="+mn-ea"/>
              </a:rPr>
              <a:t>Si</a:t>
            </a:r>
            <a:r>
              <a:rPr lang="zh-CN" altLang="en-US" i="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zh-CN" altLang="en-US" i="0" dirty="0">
                <a:solidFill>
                  <a:srgbClr val="0000FF"/>
                </a:solidFill>
                <a:latin typeface="+mn-ea"/>
                <a:ea typeface="+mn-ea"/>
              </a:rPr>
              <a:t>锗</a:t>
            </a:r>
            <a:r>
              <a:rPr lang="en-US" altLang="zh-CN" i="0" dirty="0">
                <a:solidFill>
                  <a:srgbClr val="0000FF"/>
                </a:solidFill>
                <a:latin typeface="+mn-ea"/>
                <a:ea typeface="+mn-ea"/>
              </a:rPr>
              <a:t>Ge</a:t>
            </a:r>
            <a:r>
              <a:rPr lang="zh-CN" altLang="en-US" i="0" dirty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它们都是</a:t>
            </a:r>
            <a:r>
              <a:rPr lang="en-US" altLang="zh-CN" i="0" dirty="0">
                <a:solidFill>
                  <a:srgbClr val="FF3300"/>
                </a:solidFill>
                <a:latin typeface="+mn-ea"/>
                <a:ea typeface="+mn-ea"/>
              </a:rPr>
              <a:t>4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价元素</a:t>
            </a:r>
            <a:r>
              <a:rPr lang="zh-CN" altLang="en-US" i="0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27584" y="3717032"/>
            <a:ext cx="2290762" cy="2743200"/>
            <a:chOff x="1056" y="2160"/>
            <a:chExt cx="1443" cy="1728"/>
          </a:xfrm>
        </p:grpSpPr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1056" y="2160"/>
              <a:ext cx="1443" cy="1385"/>
              <a:chOff x="1056" y="2160"/>
              <a:chExt cx="1443" cy="1385"/>
            </a:xfrm>
          </p:grpSpPr>
          <p:pic>
            <p:nvPicPr>
              <p:cNvPr id="11" name="Picture 2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" y="2160"/>
                <a:ext cx="1443" cy="1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5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84" y="2592"/>
                <a:ext cx="342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0" name="Text Box 26"/>
            <p:cNvSpPr txBox="1">
              <a:spLocks noChangeArrowheads="1"/>
            </p:cNvSpPr>
            <p:nvPr/>
          </p:nvSpPr>
          <p:spPr bwMode="auto">
            <a:xfrm>
              <a:off x="1440" y="360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i="0">
                  <a:solidFill>
                    <a:srgbClr val="0000FF"/>
                  </a:solidFill>
                  <a:latin typeface="+mn-ea"/>
                  <a:ea typeface="+mn-ea"/>
                </a:rPr>
                <a:t>硅原子</a:t>
              </a:r>
            </a:p>
          </p:txBody>
        </p:sp>
      </p:grp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3275856" y="3573016"/>
            <a:ext cx="2438400" cy="2895600"/>
            <a:chOff x="3168" y="2016"/>
            <a:chExt cx="1536" cy="1824"/>
          </a:xfrm>
        </p:grpSpPr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3168" y="2016"/>
              <a:ext cx="1536" cy="1824"/>
              <a:chOff x="3168" y="2016"/>
              <a:chExt cx="1536" cy="1824"/>
            </a:xfrm>
          </p:grpSpPr>
          <p:pic>
            <p:nvPicPr>
              <p:cNvPr id="16" name="Picture 29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8" y="2016"/>
                <a:ext cx="1536" cy="14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Text Box 30"/>
              <p:cNvSpPr txBox="1">
                <a:spLocks noChangeArrowheads="1"/>
              </p:cNvSpPr>
              <p:nvPr/>
            </p:nvSpPr>
            <p:spPr bwMode="auto">
              <a:xfrm>
                <a:off x="3600" y="3552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</a:pPr>
                <a:r>
                  <a:rPr lang="zh-CN" altLang="en-US" i="0">
                    <a:solidFill>
                      <a:srgbClr val="0000FF"/>
                    </a:solidFill>
                    <a:latin typeface="+mn-ea"/>
                    <a:ea typeface="+mn-ea"/>
                  </a:rPr>
                  <a:t>锗原子</a:t>
                </a:r>
              </a:p>
            </p:txBody>
          </p:sp>
        </p:grpSp>
        <p:pic>
          <p:nvPicPr>
            <p:cNvPr id="15" name="Picture 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2592"/>
              <a:ext cx="432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Group 32"/>
          <p:cNvGrpSpPr>
            <a:grpSpLocks/>
          </p:cNvGrpSpPr>
          <p:nvPr/>
        </p:nvGrpSpPr>
        <p:grpSpPr bwMode="auto">
          <a:xfrm>
            <a:off x="6768902" y="4365451"/>
            <a:ext cx="1066800" cy="1066800"/>
            <a:chOff x="4080" y="576"/>
            <a:chExt cx="672" cy="672"/>
          </a:xfrm>
        </p:grpSpPr>
        <p:pic>
          <p:nvPicPr>
            <p:cNvPr id="19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" y="576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712"/>
              <a:ext cx="336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6191672" y="5661248"/>
            <a:ext cx="29523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zh-CN" altLang="en-US" sz="2000" i="0" dirty="0">
                <a:solidFill>
                  <a:srgbClr val="050507"/>
                </a:solidFill>
                <a:latin typeface="+mn-ea"/>
                <a:ea typeface="+mn-ea"/>
              </a:rPr>
              <a:t>硅和锗最外层轨道上的四个电子称为</a:t>
            </a:r>
            <a:r>
              <a:rPr lang="zh-CN" altLang="en-US" sz="2000" i="0" dirty="0">
                <a:solidFill>
                  <a:srgbClr val="FF3300"/>
                </a:solidFill>
                <a:latin typeface="+mn-ea"/>
                <a:ea typeface="+mn-ea"/>
              </a:rPr>
              <a:t>价电子</a:t>
            </a:r>
            <a:r>
              <a:rPr lang="zh-CN" altLang="en-US" sz="2000" i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23" name="标题 1"/>
          <p:cNvSpPr txBox="1">
            <a:spLocks/>
          </p:cNvSpPr>
          <p:nvPr/>
        </p:nvSpPr>
        <p:spPr bwMode="auto">
          <a:xfrm>
            <a:off x="1331640" y="116632"/>
            <a:ext cx="761702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矩形标注 21"/>
          <p:cNvSpPr/>
          <p:nvPr/>
        </p:nvSpPr>
        <p:spPr>
          <a:xfrm>
            <a:off x="4427984" y="1412776"/>
            <a:ext cx="2880320" cy="400110"/>
          </a:xfrm>
          <a:prstGeom prst="wedgeRectCallout">
            <a:avLst>
              <a:gd name="adj1" fmla="val -68773"/>
              <a:gd name="adj2" fmla="val 166322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本征即物质本身的特征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矩形标注 23"/>
          <p:cNvSpPr/>
          <p:nvPr/>
        </p:nvSpPr>
        <p:spPr>
          <a:xfrm>
            <a:off x="6516216" y="3429000"/>
            <a:ext cx="2627784" cy="923330"/>
          </a:xfrm>
          <a:prstGeom prst="wedgeRectCallout">
            <a:avLst>
              <a:gd name="adj1" fmla="val 1061"/>
              <a:gd name="adj2" fmla="val 974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价电子指原子核外电子中能与其他原子相互作用形成化学键的电子。</a:t>
            </a:r>
            <a:endParaRPr lang="zh-CN" altLang="en-US" b="1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374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39552" y="1484784"/>
            <a:ext cx="31683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</a:t>
            </a:r>
            <a:r>
              <a:rPr kumimoji="1" lang="zh-CN" altLang="en-US" sz="1100" b="1" dirty="0" smtClean="0">
                <a:solidFill>
                  <a:srgbClr val="0000CC"/>
                </a:solidFill>
                <a:latin typeface="+mn-ea"/>
              </a:rPr>
              <a:t> </a:t>
            </a:r>
            <a:endParaRPr kumimoji="1" lang="zh-CN" altLang="en-US" sz="2400" b="1" dirty="0" smtClean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00163" y="2102520"/>
            <a:ext cx="5472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本征半导体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的共价键结构</a:t>
            </a: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94682"/>
            <a:ext cx="366077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4956127" y="4437112"/>
            <a:ext cx="41767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FF00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indent="666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u="sng" dirty="0" smtClean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本征半导体</a:t>
            </a:r>
            <a:r>
              <a:rPr lang="zh-CN" altLang="en-US" sz="2800" i="0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的导电能力很弱，接近绝缘体</a:t>
            </a:r>
            <a:endParaRPr lang="zh-CN" altLang="en-US" sz="2800" i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3352800" y="980728"/>
            <a:ext cx="5791200" cy="5695950"/>
            <a:chOff x="2112" y="432"/>
            <a:chExt cx="3648" cy="3600"/>
          </a:xfrm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 rot="4881532">
              <a:off x="2784" y="2784"/>
              <a:ext cx="96" cy="288"/>
            </a:xfrm>
            <a:custGeom>
              <a:avLst/>
              <a:gdLst>
                <a:gd name="T0" fmla="*/ 96 w 144"/>
                <a:gd name="T1" fmla="*/ 0 h 240"/>
                <a:gd name="T2" fmla="*/ 32 w 144"/>
                <a:gd name="T3" fmla="*/ 115 h 240"/>
                <a:gd name="T4" fmla="*/ 0 w 144"/>
                <a:gd name="T5" fmla="*/ 288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6"/>
            <p:cNvGrpSpPr>
              <a:grpSpLocks/>
            </p:cNvGrpSpPr>
            <p:nvPr/>
          </p:nvGrpSpPr>
          <p:grpSpPr bwMode="auto">
            <a:xfrm>
              <a:off x="2112" y="432"/>
              <a:ext cx="3648" cy="3600"/>
              <a:chOff x="2112" y="432"/>
              <a:chExt cx="3648" cy="3600"/>
            </a:xfrm>
          </p:grpSpPr>
          <p:sp>
            <p:nvSpPr>
              <p:cNvPr id="20" name="Freeform 7"/>
              <p:cNvSpPr>
                <a:spLocks/>
              </p:cNvSpPr>
              <p:nvPr/>
            </p:nvSpPr>
            <p:spPr bwMode="auto">
              <a:xfrm rot="-5219164">
                <a:off x="4944" y="1392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" name="Group 8"/>
              <p:cNvGrpSpPr>
                <a:grpSpLocks/>
              </p:cNvGrpSpPr>
              <p:nvPr/>
            </p:nvGrpSpPr>
            <p:grpSpPr bwMode="auto">
              <a:xfrm rot="-5400000">
                <a:off x="3768" y="408"/>
                <a:ext cx="1152" cy="1200"/>
                <a:chOff x="2736" y="288"/>
                <a:chExt cx="1152" cy="1200"/>
              </a:xfrm>
            </p:grpSpPr>
            <p:sp>
              <p:nvSpPr>
                <p:cNvPr id="116" name="Oval 9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7" name="Rectangle 10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2" name="Group 11"/>
              <p:cNvGrpSpPr>
                <a:grpSpLocks/>
              </p:cNvGrpSpPr>
              <p:nvPr/>
            </p:nvGrpSpPr>
            <p:grpSpPr bwMode="auto">
              <a:xfrm rot="-5400000">
                <a:off x="2952" y="456"/>
                <a:ext cx="1152" cy="1200"/>
                <a:chOff x="2736" y="288"/>
                <a:chExt cx="1152" cy="1200"/>
              </a:xfrm>
            </p:grpSpPr>
            <p:sp>
              <p:nvSpPr>
                <p:cNvPr id="114" name="Oval 12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5" name="Rectangle 13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3" name="Group 14"/>
              <p:cNvGrpSpPr>
                <a:grpSpLocks/>
              </p:cNvGrpSpPr>
              <p:nvPr/>
            </p:nvGrpSpPr>
            <p:grpSpPr bwMode="auto">
              <a:xfrm rot="10800000">
                <a:off x="2112" y="2016"/>
                <a:ext cx="1152" cy="1200"/>
                <a:chOff x="2736" y="288"/>
                <a:chExt cx="1152" cy="1200"/>
              </a:xfrm>
            </p:grpSpPr>
            <p:sp>
              <p:nvSpPr>
                <p:cNvPr id="112" name="Oval 15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3" name="Rectangle 16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4" name="Group 17"/>
              <p:cNvGrpSpPr>
                <a:grpSpLocks/>
              </p:cNvGrpSpPr>
              <p:nvPr/>
            </p:nvGrpSpPr>
            <p:grpSpPr bwMode="auto">
              <a:xfrm rot="10800000">
                <a:off x="2112" y="1248"/>
                <a:ext cx="1152" cy="1200"/>
                <a:chOff x="2736" y="288"/>
                <a:chExt cx="1152" cy="1200"/>
              </a:xfrm>
            </p:grpSpPr>
            <p:sp>
              <p:nvSpPr>
                <p:cNvPr id="110" name="Oval 18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1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5" name="Group 20"/>
              <p:cNvGrpSpPr>
                <a:grpSpLocks/>
              </p:cNvGrpSpPr>
              <p:nvPr/>
            </p:nvGrpSpPr>
            <p:grpSpPr bwMode="auto">
              <a:xfrm rot="5400000">
                <a:off x="2904" y="2856"/>
                <a:ext cx="1153" cy="1200"/>
                <a:chOff x="2735" y="288"/>
                <a:chExt cx="1153" cy="1200"/>
              </a:xfrm>
            </p:grpSpPr>
            <p:sp>
              <p:nvSpPr>
                <p:cNvPr id="108" name="Oval 21"/>
                <p:cNvSpPr>
                  <a:spLocks noChangeArrowheads="1"/>
                </p:cNvSpPr>
                <p:nvPr/>
              </p:nvSpPr>
              <p:spPr bwMode="auto">
                <a:xfrm>
                  <a:off x="2735" y="337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9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6" name="Group 23"/>
              <p:cNvGrpSpPr>
                <a:grpSpLocks/>
              </p:cNvGrpSpPr>
              <p:nvPr/>
            </p:nvGrpSpPr>
            <p:grpSpPr bwMode="auto">
              <a:xfrm rot="5400000">
                <a:off x="3768" y="2856"/>
                <a:ext cx="1151" cy="1200"/>
                <a:chOff x="2736" y="289"/>
                <a:chExt cx="1151" cy="1200"/>
              </a:xfrm>
            </p:grpSpPr>
            <p:sp>
              <p:nvSpPr>
                <p:cNvPr id="106" name="Oval 24"/>
                <p:cNvSpPr>
                  <a:spLocks noChangeArrowheads="1"/>
                </p:cNvSpPr>
                <p:nvPr/>
              </p:nvSpPr>
              <p:spPr bwMode="auto">
                <a:xfrm>
                  <a:off x="2736" y="337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7" name="Rectangle 25"/>
                <p:cNvSpPr>
                  <a:spLocks noChangeArrowheads="1"/>
                </p:cNvSpPr>
                <p:nvPr/>
              </p:nvSpPr>
              <p:spPr bwMode="auto">
                <a:xfrm>
                  <a:off x="3263" y="289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4608" y="1248"/>
                <a:ext cx="1152" cy="1200"/>
                <a:chOff x="2736" y="288"/>
                <a:chExt cx="1152" cy="1200"/>
              </a:xfrm>
            </p:grpSpPr>
            <p:sp>
              <p:nvSpPr>
                <p:cNvPr id="104" name="Oval 27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5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8" name="Group 29"/>
              <p:cNvGrpSpPr>
                <a:grpSpLocks/>
              </p:cNvGrpSpPr>
              <p:nvPr/>
            </p:nvGrpSpPr>
            <p:grpSpPr bwMode="auto">
              <a:xfrm>
                <a:off x="4608" y="2064"/>
                <a:ext cx="1152" cy="1200"/>
                <a:chOff x="2736" y="288"/>
                <a:chExt cx="1152" cy="1200"/>
              </a:xfrm>
            </p:grpSpPr>
            <p:sp>
              <p:nvSpPr>
                <p:cNvPr id="102" name="Oval 30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3" name="Rectangle 31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9" name="Oval 32"/>
              <p:cNvSpPr>
                <a:spLocks noChangeArrowheads="1"/>
              </p:cNvSpPr>
              <p:nvPr/>
            </p:nvSpPr>
            <p:spPr bwMode="auto">
              <a:xfrm>
                <a:off x="2976" y="1301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" name="Oval 33"/>
              <p:cNvSpPr>
                <a:spLocks noChangeArrowheads="1"/>
              </p:cNvSpPr>
              <p:nvPr/>
            </p:nvSpPr>
            <p:spPr bwMode="auto">
              <a:xfrm>
                <a:off x="3792" y="129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" name="Oval 34"/>
              <p:cNvSpPr>
                <a:spLocks noChangeArrowheads="1"/>
              </p:cNvSpPr>
              <p:nvPr/>
            </p:nvSpPr>
            <p:spPr bwMode="auto">
              <a:xfrm>
                <a:off x="2976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" name="Oval 35"/>
              <p:cNvSpPr>
                <a:spLocks noChangeArrowheads="1"/>
              </p:cNvSpPr>
              <p:nvPr/>
            </p:nvSpPr>
            <p:spPr bwMode="auto">
              <a:xfrm>
                <a:off x="3792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" name="Oval 36"/>
              <p:cNvSpPr>
                <a:spLocks noChangeArrowheads="1"/>
              </p:cNvSpPr>
              <p:nvPr/>
            </p:nvSpPr>
            <p:spPr bwMode="auto">
              <a:xfrm>
                <a:off x="3648" y="2205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" name="Oval 37"/>
              <p:cNvSpPr>
                <a:spLocks noChangeArrowheads="1"/>
              </p:cNvSpPr>
              <p:nvPr/>
            </p:nvSpPr>
            <p:spPr bwMode="auto">
              <a:xfrm>
                <a:off x="3792" y="2085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" name="Oval 38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" name="Oval 39"/>
              <p:cNvSpPr>
                <a:spLocks noChangeArrowheads="1"/>
              </p:cNvSpPr>
              <p:nvPr/>
            </p:nvSpPr>
            <p:spPr bwMode="auto">
              <a:xfrm>
                <a:off x="4171" y="2208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" name="Oval 4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" name="Text Box 41"/>
              <p:cNvSpPr txBox="1">
                <a:spLocks noChangeArrowheads="1"/>
              </p:cNvSpPr>
              <p:nvPr/>
            </p:nvSpPr>
            <p:spPr bwMode="auto">
              <a:xfrm>
                <a:off x="3764" y="2102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0"/>
                  <a:t>+4</a:t>
                </a:r>
              </a:p>
            </p:txBody>
          </p:sp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2832" y="1104"/>
                <a:ext cx="576" cy="630"/>
                <a:chOff x="2832" y="1104"/>
                <a:chExt cx="576" cy="630"/>
              </a:xfrm>
            </p:grpSpPr>
            <p:sp>
              <p:nvSpPr>
                <p:cNvPr id="93" name="Freeform 43"/>
                <p:cNvSpPr>
                  <a:spLocks/>
                </p:cNvSpPr>
                <p:nvPr/>
              </p:nvSpPr>
              <p:spPr bwMode="auto">
                <a:xfrm rot="-9186207">
                  <a:off x="2880" y="1392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" name="Freeform 44"/>
                <p:cNvSpPr>
                  <a:spLocks/>
                </p:cNvSpPr>
                <p:nvPr/>
              </p:nvSpPr>
              <p:spPr bwMode="auto">
                <a:xfrm rot="-10161820">
                  <a:off x="3168" y="1104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" name="Oval 45"/>
                <p:cNvSpPr>
                  <a:spLocks noChangeArrowheads="1"/>
                </p:cNvSpPr>
                <p:nvPr/>
              </p:nvSpPr>
              <p:spPr bwMode="auto">
                <a:xfrm>
                  <a:off x="2976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96" name="Group 46"/>
                <p:cNvGrpSpPr>
                  <a:grpSpLocks/>
                </p:cNvGrpSpPr>
                <p:nvPr/>
              </p:nvGrpSpPr>
              <p:grpSpPr bwMode="auto">
                <a:xfrm>
                  <a:off x="2832" y="1203"/>
                  <a:ext cx="576" cy="531"/>
                  <a:chOff x="2832" y="1203"/>
                  <a:chExt cx="576" cy="531"/>
                </a:xfrm>
              </p:grpSpPr>
              <p:sp>
                <p:nvSpPr>
                  <p:cNvPr id="97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440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8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68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9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3355" y="1443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00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20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01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1337"/>
                    <a:ext cx="3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66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 i="0"/>
                      <a:t>+4</a:t>
                    </a:r>
                  </a:p>
                </p:txBody>
              </p:sp>
            </p:grpSp>
          </p:grpSp>
          <p:sp>
            <p:nvSpPr>
              <p:cNvPr id="40" name="Freeform 52"/>
              <p:cNvSpPr>
                <a:spLocks/>
              </p:cNvSpPr>
              <p:nvPr/>
            </p:nvSpPr>
            <p:spPr bwMode="auto">
              <a:xfrm>
                <a:off x="4608" y="3120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53"/>
              <p:cNvSpPr>
                <a:spLocks/>
              </p:cNvSpPr>
              <p:nvPr/>
            </p:nvSpPr>
            <p:spPr bwMode="auto">
              <a:xfrm rot="3287629">
                <a:off x="4944" y="2784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54"/>
              <p:cNvSpPr>
                <a:spLocks/>
              </p:cNvSpPr>
              <p:nvPr/>
            </p:nvSpPr>
            <p:spPr bwMode="auto">
              <a:xfrm rot="8928615">
                <a:off x="3187" y="3162"/>
                <a:ext cx="48" cy="192"/>
              </a:xfrm>
              <a:custGeom>
                <a:avLst/>
                <a:gdLst>
                  <a:gd name="T0" fmla="*/ 48 w 144"/>
                  <a:gd name="T1" fmla="*/ 0 h 240"/>
                  <a:gd name="T2" fmla="*/ 16 w 144"/>
                  <a:gd name="T3" fmla="*/ 77 h 240"/>
                  <a:gd name="T4" fmla="*/ 0 w 144"/>
                  <a:gd name="T5" fmla="*/ 192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55"/>
              <p:cNvSpPr>
                <a:spLocks/>
              </p:cNvSpPr>
              <p:nvPr/>
            </p:nvSpPr>
            <p:spPr bwMode="auto">
              <a:xfrm rot="-2293138">
                <a:off x="4608" y="1056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Oval 56"/>
              <p:cNvSpPr>
                <a:spLocks noChangeArrowheads="1"/>
              </p:cNvSpPr>
              <p:nvPr/>
            </p:nvSpPr>
            <p:spPr bwMode="auto">
              <a:xfrm>
                <a:off x="2976" y="208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5" name="Group 57"/>
              <p:cNvGrpSpPr>
                <a:grpSpLocks/>
              </p:cNvGrpSpPr>
              <p:nvPr/>
            </p:nvGrpSpPr>
            <p:grpSpPr bwMode="auto">
              <a:xfrm>
                <a:off x="2832" y="1971"/>
                <a:ext cx="576" cy="531"/>
                <a:chOff x="2832" y="1203"/>
                <a:chExt cx="576" cy="531"/>
              </a:xfrm>
            </p:grpSpPr>
            <p:sp>
              <p:nvSpPr>
                <p:cNvPr id="88" name="Oval 58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9" name="Oval 59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0" name="Oval 60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1" name="Oval 61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46" name="Oval 63"/>
              <p:cNvSpPr>
                <a:spLocks noChangeArrowheads="1"/>
              </p:cNvSpPr>
              <p:nvPr/>
            </p:nvSpPr>
            <p:spPr bwMode="auto">
              <a:xfrm>
                <a:off x="3792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7" name="Group 64"/>
              <p:cNvGrpSpPr>
                <a:grpSpLocks/>
              </p:cNvGrpSpPr>
              <p:nvPr/>
            </p:nvGrpSpPr>
            <p:grpSpPr bwMode="auto">
              <a:xfrm>
                <a:off x="3648" y="1203"/>
                <a:ext cx="576" cy="531"/>
                <a:chOff x="2832" y="1203"/>
                <a:chExt cx="576" cy="531"/>
              </a:xfrm>
            </p:grpSpPr>
            <p:sp>
              <p:nvSpPr>
                <p:cNvPr id="83" name="Oval 65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4" name="Oval 66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5" name="Oval 67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" name="Oval 68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7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48" name="Oval 70"/>
              <p:cNvSpPr>
                <a:spLocks noChangeArrowheads="1"/>
              </p:cNvSpPr>
              <p:nvPr/>
            </p:nvSpPr>
            <p:spPr bwMode="auto">
              <a:xfrm>
                <a:off x="4608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9" name="Group 71"/>
              <p:cNvGrpSpPr>
                <a:grpSpLocks/>
              </p:cNvGrpSpPr>
              <p:nvPr/>
            </p:nvGrpSpPr>
            <p:grpSpPr bwMode="auto">
              <a:xfrm>
                <a:off x="4464" y="1203"/>
                <a:ext cx="576" cy="531"/>
                <a:chOff x="2832" y="1203"/>
                <a:chExt cx="576" cy="531"/>
              </a:xfrm>
            </p:grpSpPr>
            <p:sp>
              <p:nvSpPr>
                <p:cNvPr id="78" name="Oval 72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9" name="Oval 73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0" name="Oval 74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1" name="Oval 75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0" name="Oval 77"/>
              <p:cNvSpPr>
                <a:spLocks noChangeArrowheads="1"/>
              </p:cNvSpPr>
              <p:nvPr/>
            </p:nvSpPr>
            <p:spPr bwMode="auto">
              <a:xfrm>
                <a:off x="2976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1" name="Group 78"/>
              <p:cNvGrpSpPr>
                <a:grpSpLocks/>
              </p:cNvGrpSpPr>
              <p:nvPr/>
            </p:nvGrpSpPr>
            <p:grpSpPr bwMode="auto">
              <a:xfrm>
                <a:off x="2832" y="2781"/>
                <a:ext cx="576" cy="531"/>
                <a:chOff x="2832" y="1203"/>
                <a:chExt cx="576" cy="531"/>
              </a:xfrm>
            </p:grpSpPr>
            <p:sp>
              <p:nvSpPr>
                <p:cNvPr id="73" name="Oval 79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4" name="Oval 80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5" name="Oval 81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6" name="Oval 82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7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2" name="Oval 84"/>
              <p:cNvSpPr>
                <a:spLocks noChangeArrowheads="1"/>
              </p:cNvSpPr>
              <p:nvPr/>
            </p:nvSpPr>
            <p:spPr bwMode="auto">
              <a:xfrm>
                <a:off x="3792" y="2904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3" name="Group 85"/>
              <p:cNvGrpSpPr>
                <a:grpSpLocks/>
              </p:cNvGrpSpPr>
              <p:nvPr/>
            </p:nvGrpSpPr>
            <p:grpSpPr bwMode="auto">
              <a:xfrm>
                <a:off x="3648" y="2787"/>
                <a:ext cx="576" cy="531"/>
                <a:chOff x="2832" y="1203"/>
                <a:chExt cx="576" cy="531"/>
              </a:xfrm>
            </p:grpSpPr>
            <p:sp>
              <p:nvSpPr>
                <p:cNvPr id="68" name="Oval 86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9" name="Oval 87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0" name="Oval 88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Oval 89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4" name="Oval 91"/>
              <p:cNvSpPr>
                <a:spLocks noChangeArrowheads="1"/>
              </p:cNvSpPr>
              <p:nvPr/>
            </p:nvSpPr>
            <p:spPr bwMode="auto">
              <a:xfrm>
                <a:off x="4608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5" name="Group 92"/>
              <p:cNvGrpSpPr>
                <a:grpSpLocks/>
              </p:cNvGrpSpPr>
              <p:nvPr/>
            </p:nvGrpSpPr>
            <p:grpSpPr bwMode="auto">
              <a:xfrm>
                <a:off x="4464" y="2781"/>
                <a:ext cx="576" cy="531"/>
                <a:chOff x="2832" y="1203"/>
                <a:chExt cx="576" cy="531"/>
              </a:xfrm>
            </p:grpSpPr>
            <p:sp>
              <p:nvSpPr>
                <p:cNvPr id="63" name="Oval 93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4" name="Oval 94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5" name="Oval 95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Oval 96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56" name="Oval 98"/>
              <p:cNvSpPr>
                <a:spLocks noChangeArrowheads="1"/>
              </p:cNvSpPr>
              <p:nvPr/>
            </p:nvSpPr>
            <p:spPr bwMode="auto">
              <a:xfrm>
                <a:off x="4608" y="2082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7" name="Group 99"/>
              <p:cNvGrpSpPr>
                <a:grpSpLocks/>
              </p:cNvGrpSpPr>
              <p:nvPr/>
            </p:nvGrpSpPr>
            <p:grpSpPr bwMode="auto">
              <a:xfrm>
                <a:off x="4464" y="1965"/>
                <a:ext cx="576" cy="531"/>
                <a:chOff x="2832" y="1203"/>
                <a:chExt cx="576" cy="531"/>
              </a:xfrm>
            </p:grpSpPr>
            <p:sp>
              <p:nvSpPr>
                <p:cNvPr id="58" name="Oval 100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9" name="Oval 101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0" name="Oval 102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Oval 103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</p:grpSp>
      </p:grp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39552" y="1412776"/>
            <a:ext cx="3384376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570712" y="5595362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6176814" y="3029937"/>
            <a:ext cx="769938" cy="461963"/>
            <a:chOff x="1296" y="1632"/>
            <a:chExt cx="485" cy="291"/>
          </a:xfrm>
        </p:grpSpPr>
        <p:sp>
          <p:nvSpPr>
            <p:cNvPr id="6" name="Oval 107"/>
            <p:cNvSpPr>
              <a:spLocks noChangeArrowheads="1"/>
            </p:cNvSpPr>
            <p:nvPr/>
          </p:nvSpPr>
          <p:spPr bwMode="auto">
            <a:xfrm>
              <a:off x="1296" y="1872"/>
              <a:ext cx="52" cy="5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" name="Group 108"/>
            <p:cNvGrpSpPr>
              <a:grpSpLocks/>
            </p:cNvGrpSpPr>
            <p:nvPr/>
          </p:nvGrpSpPr>
          <p:grpSpPr bwMode="auto">
            <a:xfrm>
              <a:off x="1392" y="1632"/>
              <a:ext cx="389" cy="240"/>
              <a:chOff x="1968" y="1872"/>
              <a:chExt cx="389" cy="240"/>
            </a:xfrm>
          </p:grpSpPr>
          <p:sp>
            <p:nvSpPr>
              <p:cNvPr id="8" name="Oval 109"/>
              <p:cNvSpPr>
                <a:spLocks noChangeArrowheads="1"/>
              </p:cNvSpPr>
              <p:nvPr/>
            </p:nvSpPr>
            <p:spPr bwMode="auto">
              <a:xfrm>
                <a:off x="2304" y="1872"/>
                <a:ext cx="53" cy="51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zh-CN" sz="2800" i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Line 110"/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" name="Text Box 111"/>
          <p:cNvSpPr txBox="1">
            <a:spLocks noChangeArrowheads="1"/>
          </p:cNvSpPr>
          <p:nvPr/>
        </p:nvSpPr>
        <p:spPr bwMode="auto">
          <a:xfrm>
            <a:off x="6862614" y="3156937"/>
            <a:ext cx="12192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自由电子</a:t>
            </a:r>
          </a:p>
        </p:txBody>
      </p:sp>
      <p:sp>
        <p:nvSpPr>
          <p:cNvPr id="11" name="Text Box 112"/>
          <p:cNvSpPr txBox="1">
            <a:spLocks noChangeArrowheads="1"/>
          </p:cNvSpPr>
          <p:nvPr/>
        </p:nvSpPr>
        <p:spPr bwMode="auto">
          <a:xfrm>
            <a:off x="5338614" y="3182337"/>
            <a:ext cx="7620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空穴</a:t>
            </a:r>
          </a:p>
        </p:txBody>
      </p:sp>
      <p:sp>
        <p:nvSpPr>
          <p:cNvPr id="12" name="Text Box 114"/>
          <p:cNvSpPr txBox="1">
            <a:spLocks noChangeArrowheads="1"/>
          </p:cNvSpPr>
          <p:nvPr/>
        </p:nvSpPr>
        <p:spPr bwMode="auto">
          <a:xfrm>
            <a:off x="5940152" y="1412776"/>
            <a:ext cx="83820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/>
              <a:t>T</a:t>
            </a:r>
            <a:r>
              <a:rPr lang="en-US" altLang="zh-CN" sz="2600" i="0"/>
              <a:t> </a:t>
            </a:r>
            <a:r>
              <a:rPr lang="en-US" altLang="zh-CN" sz="2600" i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13" name="Text Box 128"/>
          <p:cNvSpPr txBox="1">
            <a:spLocks noChangeArrowheads="1"/>
          </p:cNvSpPr>
          <p:nvPr/>
        </p:nvSpPr>
        <p:spPr bwMode="auto">
          <a:xfrm>
            <a:off x="755576" y="1988840"/>
            <a:ext cx="3095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征激发</a:t>
            </a:r>
          </a:p>
        </p:txBody>
      </p:sp>
      <p:sp>
        <p:nvSpPr>
          <p:cNvPr id="14" name="Text Box 129"/>
          <p:cNvSpPr txBox="1">
            <a:spLocks noChangeArrowheads="1"/>
          </p:cNvSpPr>
          <p:nvPr/>
        </p:nvSpPr>
        <p:spPr bwMode="auto">
          <a:xfrm>
            <a:off x="539552" y="2493938"/>
            <a:ext cx="3600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当</a:t>
            </a:r>
            <a:r>
              <a:rPr lang="zh-CN" altLang="en-US" i="0" dirty="0">
                <a:solidFill>
                  <a:srgbClr val="002060"/>
                </a:solidFill>
                <a:ea typeface="华文新魏" panose="02010800040101010101" pitchFamily="2" charset="-122"/>
              </a:rPr>
              <a:t>温度升高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或</a:t>
            </a:r>
            <a:r>
              <a:rPr lang="zh-CN" altLang="en-US" i="0" dirty="0">
                <a:solidFill>
                  <a:srgbClr val="002060"/>
                </a:solidFill>
                <a:ea typeface="华文新魏" panose="02010800040101010101" pitchFamily="2" charset="-122"/>
              </a:rPr>
              <a:t>受到光的照射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时</a:t>
            </a:r>
            <a:r>
              <a:rPr lang="zh-CN" altLang="en-US" i="0" dirty="0" smtClean="0">
                <a:solidFill>
                  <a:srgbClr val="050507"/>
                </a:solidFill>
                <a:ea typeface="华文新魏" panose="02010800040101010101" pitchFamily="2" charset="-122"/>
              </a:rPr>
              <a:t>，束缚电子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能量增高，有的电子可以挣脱原子核的束缚，而参与导电，成为</a:t>
            </a:r>
            <a:r>
              <a:rPr lang="zh-CN" altLang="en-US" i="0" dirty="0">
                <a:solidFill>
                  <a:srgbClr val="FF0000"/>
                </a:solidFill>
                <a:ea typeface="华文新魏" panose="02010800040101010101" pitchFamily="2" charset="-122"/>
              </a:rPr>
              <a:t>自由电子</a:t>
            </a:r>
            <a:r>
              <a:rPr lang="zh-CN" altLang="en-US" i="0" dirty="0">
                <a:ea typeface="华文新魏" panose="02010800040101010101" pitchFamily="2" charset="-122"/>
              </a:rPr>
              <a:t>。</a:t>
            </a:r>
            <a:endParaRPr lang="zh-CN" altLang="en-US" b="0" i="0" dirty="0">
              <a:ea typeface="华文新魏" panose="02010800040101010101" pitchFamily="2" charset="-122"/>
            </a:endParaRPr>
          </a:p>
        </p:txBody>
      </p:sp>
      <p:sp>
        <p:nvSpPr>
          <p:cNvPr id="15" name="Text Box 130"/>
          <p:cNvSpPr txBox="1">
            <a:spLocks noChangeArrowheads="1"/>
          </p:cNvSpPr>
          <p:nvPr/>
        </p:nvSpPr>
        <p:spPr bwMode="auto">
          <a:xfrm>
            <a:off x="506394" y="4609823"/>
            <a:ext cx="36335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自由电子产生的同时，在其原来的共价键中就出现了一个空位，称为</a:t>
            </a:r>
            <a:r>
              <a:rPr lang="zh-CN" altLang="en-US" i="0" dirty="0">
                <a:solidFill>
                  <a:srgbClr val="FF0000"/>
                </a:solidFill>
                <a:ea typeface="华文新魏" panose="02010800040101010101" pitchFamily="2" charset="-122"/>
              </a:rPr>
              <a:t>空穴</a:t>
            </a:r>
            <a:r>
              <a:rPr lang="zh-CN" altLang="en-US" i="0" dirty="0"/>
              <a:t>。</a:t>
            </a:r>
            <a:endParaRPr lang="zh-CN" altLang="en-US" i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6" name="Text Box 131"/>
          <p:cNvSpPr txBox="1">
            <a:spLocks noChangeArrowheads="1"/>
          </p:cNvSpPr>
          <p:nvPr/>
        </p:nvSpPr>
        <p:spPr bwMode="auto">
          <a:xfrm>
            <a:off x="724644" y="6163097"/>
            <a:ext cx="417671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</a:rPr>
              <a:t>这种现象就称为</a:t>
            </a:r>
            <a:r>
              <a:rPr lang="zh-CN" altLang="en-US" i="0" dirty="0">
                <a:solidFill>
                  <a:srgbClr val="FF0000"/>
                </a:solidFill>
                <a:ea typeface="黑体" panose="02010609060101010101" pitchFamily="49" charset="-122"/>
              </a:rPr>
              <a:t>本征激发</a:t>
            </a:r>
            <a:endParaRPr lang="zh-CN" altLang="en-US" i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1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598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 animBg="1" autoUpdateAnimBg="0"/>
      <p:bldP spid="12" grpId="0" animBg="1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484784"/>
            <a:ext cx="31683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46950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grpSp>
        <p:nvGrpSpPr>
          <p:cNvPr id="118" name="Group 4"/>
          <p:cNvGrpSpPr>
            <a:grpSpLocks/>
          </p:cNvGrpSpPr>
          <p:nvPr/>
        </p:nvGrpSpPr>
        <p:grpSpPr bwMode="auto">
          <a:xfrm>
            <a:off x="3352800" y="1023193"/>
            <a:ext cx="5791200" cy="5715000"/>
            <a:chOff x="2112" y="432"/>
            <a:chExt cx="3648" cy="3600"/>
          </a:xfrm>
        </p:grpSpPr>
        <p:sp>
          <p:nvSpPr>
            <p:cNvPr id="119" name="Freeform 5"/>
            <p:cNvSpPr>
              <a:spLocks/>
            </p:cNvSpPr>
            <p:nvPr/>
          </p:nvSpPr>
          <p:spPr bwMode="auto">
            <a:xfrm rot="4881532">
              <a:off x="2784" y="2784"/>
              <a:ext cx="96" cy="288"/>
            </a:xfrm>
            <a:custGeom>
              <a:avLst/>
              <a:gdLst>
                <a:gd name="T0" fmla="*/ 96 w 144"/>
                <a:gd name="T1" fmla="*/ 0 h 240"/>
                <a:gd name="T2" fmla="*/ 32 w 144"/>
                <a:gd name="T3" fmla="*/ 115 h 240"/>
                <a:gd name="T4" fmla="*/ 0 w 144"/>
                <a:gd name="T5" fmla="*/ 288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0" name="Group 6"/>
            <p:cNvGrpSpPr>
              <a:grpSpLocks/>
            </p:cNvGrpSpPr>
            <p:nvPr/>
          </p:nvGrpSpPr>
          <p:grpSpPr bwMode="auto">
            <a:xfrm>
              <a:off x="2112" y="432"/>
              <a:ext cx="3648" cy="3600"/>
              <a:chOff x="2112" y="432"/>
              <a:chExt cx="3648" cy="3600"/>
            </a:xfrm>
          </p:grpSpPr>
          <p:sp>
            <p:nvSpPr>
              <p:cNvPr id="121" name="Freeform 7"/>
              <p:cNvSpPr>
                <a:spLocks/>
              </p:cNvSpPr>
              <p:nvPr/>
            </p:nvSpPr>
            <p:spPr bwMode="auto">
              <a:xfrm rot="-5219164">
                <a:off x="4944" y="1392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2" name="Group 8"/>
              <p:cNvGrpSpPr>
                <a:grpSpLocks/>
              </p:cNvGrpSpPr>
              <p:nvPr/>
            </p:nvGrpSpPr>
            <p:grpSpPr bwMode="auto">
              <a:xfrm rot="-5400000">
                <a:off x="3768" y="408"/>
                <a:ext cx="1152" cy="1200"/>
                <a:chOff x="2736" y="288"/>
                <a:chExt cx="1152" cy="1200"/>
              </a:xfrm>
            </p:grpSpPr>
            <p:sp>
              <p:nvSpPr>
                <p:cNvPr id="217" name="Oval 9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8" name="Rectangle 10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3" name="Group 11"/>
              <p:cNvGrpSpPr>
                <a:grpSpLocks/>
              </p:cNvGrpSpPr>
              <p:nvPr/>
            </p:nvGrpSpPr>
            <p:grpSpPr bwMode="auto">
              <a:xfrm rot="-5400000">
                <a:off x="2952" y="456"/>
                <a:ext cx="1152" cy="1200"/>
                <a:chOff x="2736" y="288"/>
                <a:chExt cx="1152" cy="1200"/>
              </a:xfrm>
            </p:grpSpPr>
            <p:sp>
              <p:nvSpPr>
                <p:cNvPr id="215" name="Oval 12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6" name="Rectangle 13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4" name="Group 14"/>
              <p:cNvGrpSpPr>
                <a:grpSpLocks/>
              </p:cNvGrpSpPr>
              <p:nvPr/>
            </p:nvGrpSpPr>
            <p:grpSpPr bwMode="auto">
              <a:xfrm rot="10800000">
                <a:off x="2112" y="2016"/>
                <a:ext cx="1152" cy="1200"/>
                <a:chOff x="2736" y="288"/>
                <a:chExt cx="1152" cy="1200"/>
              </a:xfrm>
            </p:grpSpPr>
            <p:sp>
              <p:nvSpPr>
                <p:cNvPr id="213" name="Oval 15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4" name="Rectangle 16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5" name="Group 17"/>
              <p:cNvGrpSpPr>
                <a:grpSpLocks/>
              </p:cNvGrpSpPr>
              <p:nvPr/>
            </p:nvGrpSpPr>
            <p:grpSpPr bwMode="auto">
              <a:xfrm rot="10800000">
                <a:off x="2112" y="1248"/>
                <a:ext cx="1152" cy="1200"/>
                <a:chOff x="2736" y="288"/>
                <a:chExt cx="1152" cy="1200"/>
              </a:xfrm>
            </p:grpSpPr>
            <p:sp>
              <p:nvSpPr>
                <p:cNvPr id="211" name="Oval 18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2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6" name="Group 20"/>
              <p:cNvGrpSpPr>
                <a:grpSpLocks/>
              </p:cNvGrpSpPr>
              <p:nvPr/>
            </p:nvGrpSpPr>
            <p:grpSpPr bwMode="auto">
              <a:xfrm rot="5400000">
                <a:off x="2904" y="2856"/>
                <a:ext cx="1152" cy="1200"/>
                <a:chOff x="2736" y="288"/>
                <a:chExt cx="1152" cy="1200"/>
              </a:xfrm>
            </p:grpSpPr>
            <p:sp>
              <p:nvSpPr>
                <p:cNvPr id="209" name="Oval 21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0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7" name="Group 23"/>
              <p:cNvGrpSpPr>
                <a:grpSpLocks/>
              </p:cNvGrpSpPr>
              <p:nvPr/>
            </p:nvGrpSpPr>
            <p:grpSpPr bwMode="auto">
              <a:xfrm rot="5400000">
                <a:off x="3768" y="2856"/>
                <a:ext cx="1152" cy="1200"/>
                <a:chOff x="2736" y="288"/>
                <a:chExt cx="1152" cy="1200"/>
              </a:xfrm>
            </p:grpSpPr>
            <p:sp>
              <p:nvSpPr>
                <p:cNvPr id="207" name="Oval 24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8" name="Rectangle 25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8" name="Group 26"/>
              <p:cNvGrpSpPr>
                <a:grpSpLocks/>
              </p:cNvGrpSpPr>
              <p:nvPr/>
            </p:nvGrpSpPr>
            <p:grpSpPr bwMode="auto">
              <a:xfrm>
                <a:off x="4608" y="1248"/>
                <a:ext cx="1152" cy="1200"/>
                <a:chOff x="2736" y="288"/>
                <a:chExt cx="1152" cy="1200"/>
              </a:xfrm>
            </p:grpSpPr>
            <p:sp>
              <p:nvSpPr>
                <p:cNvPr id="205" name="Oval 27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6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9" name="Group 29"/>
              <p:cNvGrpSpPr>
                <a:grpSpLocks/>
              </p:cNvGrpSpPr>
              <p:nvPr/>
            </p:nvGrpSpPr>
            <p:grpSpPr bwMode="auto">
              <a:xfrm>
                <a:off x="4608" y="2064"/>
                <a:ext cx="1152" cy="1200"/>
                <a:chOff x="2736" y="288"/>
                <a:chExt cx="1152" cy="1200"/>
              </a:xfrm>
            </p:grpSpPr>
            <p:sp>
              <p:nvSpPr>
                <p:cNvPr id="203" name="Oval 30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4" name="Rectangle 31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30" name="Oval 32"/>
              <p:cNvSpPr>
                <a:spLocks noChangeArrowheads="1"/>
              </p:cNvSpPr>
              <p:nvPr/>
            </p:nvSpPr>
            <p:spPr bwMode="auto">
              <a:xfrm>
                <a:off x="2976" y="1301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" name="Oval 33"/>
              <p:cNvSpPr>
                <a:spLocks noChangeArrowheads="1"/>
              </p:cNvSpPr>
              <p:nvPr/>
            </p:nvSpPr>
            <p:spPr bwMode="auto">
              <a:xfrm>
                <a:off x="3792" y="129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" name="Oval 34"/>
              <p:cNvSpPr>
                <a:spLocks noChangeArrowheads="1"/>
              </p:cNvSpPr>
              <p:nvPr/>
            </p:nvSpPr>
            <p:spPr bwMode="auto">
              <a:xfrm>
                <a:off x="2976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" name="Oval 35"/>
              <p:cNvSpPr>
                <a:spLocks noChangeArrowheads="1"/>
              </p:cNvSpPr>
              <p:nvPr/>
            </p:nvSpPr>
            <p:spPr bwMode="auto">
              <a:xfrm>
                <a:off x="3792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" name="Oval 36"/>
              <p:cNvSpPr>
                <a:spLocks noChangeArrowheads="1"/>
              </p:cNvSpPr>
              <p:nvPr/>
            </p:nvSpPr>
            <p:spPr bwMode="auto">
              <a:xfrm>
                <a:off x="3648" y="2205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Oval 37"/>
              <p:cNvSpPr>
                <a:spLocks noChangeArrowheads="1"/>
              </p:cNvSpPr>
              <p:nvPr/>
            </p:nvSpPr>
            <p:spPr bwMode="auto">
              <a:xfrm>
                <a:off x="3792" y="2085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" name="Oval 38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" name="Oval 39"/>
              <p:cNvSpPr>
                <a:spLocks noChangeArrowheads="1"/>
              </p:cNvSpPr>
              <p:nvPr/>
            </p:nvSpPr>
            <p:spPr bwMode="auto">
              <a:xfrm>
                <a:off x="4171" y="2208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" name="Oval 4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" name="Text Box 41"/>
              <p:cNvSpPr txBox="1">
                <a:spLocks noChangeArrowheads="1"/>
              </p:cNvSpPr>
              <p:nvPr/>
            </p:nvSpPr>
            <p:spPr bwMode="auto">
              <a:xfrm>
                <a:off x="3764" y="2102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0"/>
                  <a:t>+4</a:t>
                </a:r>
              </a:p>
            </p:txBody>
          </p:sp>
          <p:grpSp>
            <p:nvGrpSpPr>
              <p:cNvPr id="140" name="Group 42"/>
              <p:cNvGrpSpPr>
                <a:grpSpLocks/>
              </p:cNvGrpSpPr>
              <p:nvPr/>
            </p:nvGrpSpPr>
            <p:grpSpPr bwMode="auto">
              <a:xfrm>
                <a:off x="2832" y="1104"/>
                <a:ext cx="576" cy="630"/>
                <a:chOff x="2832" y="1104"/>
                <a:chExt cx="576" cy="630"/>
              </a:xfrm>
            </p:grpSpPr>
            <p:sp>
              <p:nvSpPr>
                <p:cNvPr id="194" name="Freeform 43"/>
                <p:cNvSpPr>
                  <a:spLocks/>
                </p:cNvSpPr>
                <p:nvPr/>
              </p:nvSpPr>
              <p:spPr bwMode="auto">
                <a:xfrm rot="-9186207">
                  <a:off x="2880" y="1392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4"/>
                <p:cNvSpPr>
                  <a:spLocks/>
                </p:cNvSpPr>
                <p:nvPr/>
              </p:nvSpPr>
              <p:spPr bwMode="auto">
                <a:xfrm rot="-10161820">
                  <a:off x="3168" y="1104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Oval 45"/>
                <p:cNvSpPr>
                  <a:spLocks noChangeArrowheads="1"/>
                </p:cNvSpPr>
                <p:nvPr/>
              </p:nvSpPr>
              <p:spPr bwMode="auto">
                <a:xfrm>
                  <a:off x="2976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97" name="Group 46"/>
                <p:cNvGrpSpPr>
                  <a:grpSpLocks/>
                </p:cNvGrpSpPr>
                <p:nvPr/>
              </p:nvGrpSpPr>
              <p:grpSpPr bwMode="auto">
                <a:xfrm>
                  <a:off x="2832" y="1203"/>
                  <a:ext cx="576" cy="531"/>
                  <a:chOff x="2832" y="1203"/>
                  <a:chExt cx="576" cy="531"/>
                </a:xfrm>
              </p:grpSpPr>
              <p:sp>
                <p:nvSpPr>
                  <p:cNvPr id="198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440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99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68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0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3355" y="1443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1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20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2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1337"/>
                    <a:ext cx="3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66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 i="0"/>
                      <a:t>+4</a:t>
                    </a:r>
                  </a:p>
                </p:txBody>
              </p:sp>
            </p:grpSp>
          </p:grpSp>
          <p:sp>
            <p:nvSpPr>
              <p:cNvPr id="141" name="Freeform 52"/>
              <p:cNvSpPr>
                <a:spLocks/>
              </p:cNvSpPr>
              <p:nvPr/>
            </p:nvSpPr>
            <p:spPr bwMode="auto">
              <a:xfrm>
                <a:off x="4608" y="3120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53"/>
              <p:cNvSpPr>
                <a:spLocks/>
              </p:cNvSpPr>
              <p:nvPr/>
            </p:nvSpPr>
            <p:spPr bwMode="auto">
              <a:xfrm rot="3287629">
                <a:off x="4944" y="2784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54"/>
              <p:cNvSpPr>
                <a:spLocks/>
              </p:cNvSpPr>
              <p:nvPr/>
            </p:nvSpPr>
            <p:spPr bwMode="auto">
              <a:xfrm rot="8928615">
                <a:off x="3187" y="3162"/>
                <a:ext cx="48" cy="192"/>
              </a:xfrm>
              <a:custGeom>
                <a:avLst/>
                <a:gdLst>
                  <a:gd name="T0" fmla="*/ 48 w 144"/>
                  <a:gd name="T1" fmla="*/ 0 h 240"/>
                  <a:gd name="T2" fmla="*/ 16 w 144"/>
                  <a:gd name="T3" fmla="*/ 77 h 240"/>
                  <a:gd name="T4" fmla="*/ 0 w 144"/>
                  <a:gd name="T5" fmla="*/ 192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55"/>
              <p:cNvSpPr>
                <a:spLocks/>
              </p:cNvSpPr>
              <p:nvPr/>
            </p:nvSpPr>
            <p:spPr bwMode="auto">
              <a:xfrm rot="-2293138">
                <a:off x="4608" y="1056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Oval 56"/>
              <p:cNvSpPr>
                <a:spLocks noChangeArrowheads="1"/>
              </p:cNvSpPr>
              <p:nvPr/>
            </p:nvSpPr>
            <p:spPr bwMode="auto">
              <a:xfrm>
                <a:off x="2976" y="208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6" name="Group 57"/>
              <p:cNvGrpSpPr>
                <a:grpSpLocks/>
              </p:cNvGrpSpPr>
              <p:nvPr/>
            </p:nvGrpSpPr>
            <p:grpSpPr bwMode="auto">
              <a:xfrm>
                <a:off x="2832" y="1971"/>
                <a:ext cx="576" cy="531"/>
                <a:chOff x="2832" y="1203"/>
                <a:chExt cx="576" cy="531"/>
              </a:xfrm>
            </p:grpSpPr>
            <p:sp>
              <p:nvSpPr>
                <p:cNvPr id="189" name="Oval 58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0" name="Oval 59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1" name="Oval 60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2" name="Oval 61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47" name="Oval 63"/>
              <p:cNvSpPr>
                <a:spLocks noChangeArrowheads="1"/>
              </p:cNvSpPr>
              <p:nvPr/>
            </p:nvSpPr>
            <p:spPr bwMode="auto">
              <a:xfrm>
                <a:off x="3792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8" name="Group 64"/>
              <p:cNvGrpSpPr>
                <a:grpSpLocks/>
              </p:cNvGrpSpPr>
              <p:nvPr/>
            </p:nvGrpSpPr>
            <p:grpSpPr bwMode="auto">
              <a:xfrm>
                <a:off x="3648" y="1203"/>
                <a:ext cx="576" cy="531"/>
                <a:chOff x="2832" y="1203"/>
                <a:chExt cx="576" cy="531"/>
              </a:xfrm>
            </p:grpSpPr>
            <p:sp>
              <p:nvSpPr>
                <p:cNvPr id="184" name="Oval 65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5" name="Oval 66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6" name="Oval 67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7" name="Oval 68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149" name="Oval 70"/>
              <p:cNvSpPr>
                <a:spLocks noChangeArrowheads="1"/>
              </p:cNvSpPr>
              <p:nvPr/>
            </p:nvSpPr>
            <p:spPr bwMode="auto">
              <a:xfrm>
                <a:off x="4608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0" name="Group 71"/>
              <p:cNvGrpSpPr>
                <a:grpSpLocks/>
              </p:cNvGrpSpPr>
              <p:nvPr/>
            </p:nvGrpSpPr>
            <p:grpSpPr bwMode="auto">
              <a:xfrm>
                <a:off x="4464" y="1203"/>
                <a:ext cx="576" cy="531"/>
                <a:chOff x="2832" y="1203"/>
                <a:chExt cx="576" cy="531"/>
              </a:xfrm>
            </p:grpSpPr>
            <p:sp>
              <p:nvSpPr>
                <p:cNvPr id="179" name="Oval 72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0" name="Oval 73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1" name="Oval 74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2" name="Oval 75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3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151" name="Oval 77"/>
              <p:cNvSpPr>
                <a:spLocks noChangeArrowheads="1"/>
              </p:cNvSpPr>
              <p:nvPr/>
            </p:nvSpPr>
            <p:spPr bwMode="auto">
              <a:xfrm>
                <a:off x="2976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2" name="Group 78"/>
              <p:cNvGrpSpPr>
                <a:grpSpLocks/>
              </p:cNvGrpSpPr>
              <p:nvPr/>
            </p:nvGrpSpPr>
            <p:grpSpPr bwMode="auto">
              <a:xfrm>
                <a:off x="2832" y="2781"/>
                <a:ext cx="576" cy="531"/>
                <a:chOff x="2832" y="1203"/>
                <a:chExt cx="576" cy="531"/>
              </a:xfrm>
            </p:grpSpPr>
            <p:sp>
              <p:nvSpPr>
                <p:cNvPr id="174" name="Oval 79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5" name="Oval 80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6" name="Oval 81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7" name="Oval 82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8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3" name="Oval 84"/>
              <p:cNvSpPr>
                <a:spLocks noChangeArrowheads="1"/>
              </p:cNvSpPr>
              <p:nvPr/>
            </p:nvSpPr>
            <p:spPr bwMode="auto">
              <a:xfrm>
                <a:off x="3792" y="2904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4" name="Group 85"/>
              <p:cNvGrpSpPr>
                <a:grpSpLocks/>
              </p:cNvGrpSpPr>
              <p:nvPr/>
            </p:nvGrpSpPr>
            <p:grpSpPr bwMode="auto">
              <a:xfrm>
                <a:off x="3648" y="2787"/>
                <a:ext cx="576" cy="531"/>
                <a:chOff x="2832" y="1203"/>
                <a:chExt cx="576" cy="531"/>
              </a:xfrm>
            </p:grpSpPr>
            <p:sp>
              <p:nvSpPr>
                <p:cNvPr id="169" name="Oval 86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0" name="Oval 87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1" name="Oval 88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2" name="Oval 89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3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5" name="Oval 91"/>
              <p:cNvSpPr>
                <a:spLocks noChangeArrowheads="1"/>
              </p:cNvSpPr>
              <p:nvPr/>
            </p:nvSpPr>
            <p:spPr bwMode="auto">
              <a:xfrm>
                <a:off x="4608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6" name="Group 92"/>
              <p:cNvGrpSpPr>
                <a:grpSpLocks/>
              </p:cNvGrpSpPr>
              <p:nvPr/>
            </p:nvGrpSpPr>
            <p:grpSpPr bwMode="auto">
              <a:xfrm>
                <a:off x="4464" y="2781"/>
                <a:ext cx="576" cy="531"/>
                <a:chOff x="2832" y="1203"/>
                <a:chExt cx="576" cy="531"/>
              </a:xfrm>
            </p:grpSpPr>
            <p:sp>
              <p:nvSpPr>
                <p:cNvPr id="164" name="Oval 93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5" name="Oval 94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6" name="Oval 95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7" name="Oval 96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7" name="Oval 98"/>
              <p:cNvSpPr>
                <a:spLocks noChangeArrowheads="1"/>
              </p:cNvSpPr>
              <p:nvPr/>
            </p:nvSpPr>
            <p:spPr bwMode="auto">
              <a:xfrm>
                <a:off x="4608" y="2082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8" name="Group 99"/>
              <p:cNvGrpSpPr>
                <a:grpSpLocks/>
              </p:cNvGrpSpPr>
              <p:nvPr/>
            </p:nvGrpSpPr>
            <p:grpSpPr bwMode="auto">
              <a:xfrm>
                <a:off x="4464" y="1965"/>
                <a:ext cx="576" cy="531"/>
                <a:chOff x="2832" y="1203"/>
                <a:chExt cx="576" cy="531"/>
              </a:xfrm>
            </p:grpSpPr>
            <p:sp>
              <p:nvSpPr>
                <p:cNvPr id="159" name="Oval 100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0" name="Oval 101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1" name="Oval 102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2" name="Oval 103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3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</p:grpSp>
      </p:grpSp>
      <p:grpSp>
        <p:nvGrpSpPr>
          <p:cNvPr id="219" name="Group 106"/>
          <p:cNvGrpSpPr>
            <a:grpSpLocks/>
          </p:cNvGrpSpPr>
          <p:nvPr/>
        </p:nvGrpSpPr>
        <p:grpSpPr bwMode="auto">
          <a:xfrm>
            <a:off x="6156325" y="3110755"/>
            <a:ext cx="769938" cy="461963"/>
            <a:chOff x="1296" y="1632"/>
            <a:chExt cx="485" cy="291"/>
          </a:xfrm>
        </p:grpSpPr>
        <p:sp>
          <p:nvSpPr>
            <p:cNvPr id="220" name="Oval 107"/>
            <p:cNvSpPr>
              <a:spLocks noChangeArrowheads="1"/>
            </p:cNvSpPr>
            <p:nvPr/>
          </p:nvSpPr>
          <p:spPr bwMode="auto">
            <a:xfrm>
              <a:off x="1296" y="1872"/>
              <a:ext cx="52" cy="5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1" name="Group 108"/>
            <p:cNvGrpSpPr>
              <a:grpSpLocks/>
            </p:cNvGrpSpPr>
            <p:nvPr/>
          </p:nvGrpSpPr>
          <p:grpSpPr bwMode="auto">
            <a:xfrm>
              <a:off x="1392" y="1632"/>
              <a:ext cx="389" cy="240"/>
              <a:chOff x="1968" y="1872"/>
              <a:chExt cx="389" cy="240"/>
            </a:xfrm>
          </p:grpSpPr>
          <p:sp>
            <p:nvSpPr>
              <p:cNvPr id="222" name="Oval 109"/>
              <p:cNvSpPr>
                <a:spLocks noChangeArrowheads="1"/>
              </p:cNvSpPr>
              <p:nvPr/>
            </p:nvSpPr>
            <p:spPr bwMode="auto">
              <a:xfrm>
                <a:off x="2304" y="1872"/>
                <a:ext cx="53" cy="51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zh-CN" sz="2800" i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3" name="Line 110"/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4" name="Text Box 111"/>
          <p:cNvSpPr txBox="1">
            <a:spLocks noChangeArrowheads="1"/>
          </p:cNvSpPr>
          <p:nvPr/>
        </p:nvSpPr>
        <p:spPr bwMode="auto">
          <a:xfrm>
            <a:off x="6948264" y="3284984"/>
            <a:ext cx="12192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自由电子</a:t>
            </a:r>
          </a:p>
        </p:txBody>
      </p:sp>
      <p:sp>
        <p:nvSpPr>
          <p:cNvPr id="225" name="Text Box 112"/>
          <p:cNvSpPr txBox="1">
            <a:spLocks noChangeArrowheads="1"/>
          </p:cNvSpPr>
          <p:nvPr/>
        </p:nvSpPr>
        <p:spPr bwMode="auto">
          <a:xfrm>
            <a:off x="5364163" y="3326655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 dirty="0">
                <a:solidFill>
                  <a:srgbClr val="FF0000"/>
                </a:solidFill>
              </a:rPr>
              <a:t>空穴</a:t>
            </a:r>
          </a:p>
        </p:txBody>
      </p:sp>
      <p:grpSp>
        <p:nvGrpSpPr>
          <p:cNvPr id="226" name="Group 117"/>
          <p:cNvGrpSpPr>
            <a:grpSpLocks/>
          </p:cNvGrpSpPr>
          <p:nvPr/>
        </p:nvGrpSpPr>
        <p:grpSpPr bwMode="auto">
          <a:xfrm>
            <a:off x="5292725" y="3471118"/>
            <a:ext cx="914400" cy="457200"/>
            <a:chOff x="3360" y="1968"/>
            <a:chExt cx="576" cy="288"/>
          </a:xfrm>
        </p:grpSpPr>
        <p:grpSp>
          <p:nvGrpSpPr>
            <p:cNvPr id="227" name="Group 118"/>
            <p:cNvGrpSpPr>
              <a:grpSpLocks/>
            </p:cNvGrpSpPr>
            <p:nvPr/>
          </p:nvGrpSpPr>
          <p:grpSpPr bwMode="auto">
            <a:xfrm>
              <a:off x="3360" y="1968"/>
              <a:ext cx="576" cy="288"/>
              <a:chOff x="3360" y="1968"/>
              <a:chExt cx="576" cy="288"/>
            </a:xfrm>
          </p:grpSpPr>
          <p:sp>
            <p:nvSpPr>
              <p:cNvPr id="229" name="Oval 119"/>
              <p:cNvSpPr>
                <a:spLocks noChangeArrowheads="1"/>
              </p:cNvSpPr>
              <p:nvPr/>
            </p:nvSpPr>
            <p:spPr bwMode="auto">
              <a:xfrm>
                <a:off x="3360" y="22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0" name="Oval 12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48" cy="48"/>
              </a:xfrm>
              <a:prstGeom prst="ellipse">
                <a:avLst/>
              </a:prstGeom>
              <a:solidFill>
                <a:srgbClr val="33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8" name="Line 121"/>
            <p:cNvSpPr>
              <a:spLocks noChangeShapeType="1"/>
            </p:cNvSpPr>
            <p:nvPr/>
          </p:nvSpPr>
          <p:spPr bwMode="auto">
            <a:xfrm flipV="1">
              <a:off x="3408" y="2016"/>
              <a:ext cx="48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1" name="Text Box 128"/>
          <p:cNvSpPr txBox="1">
            <a:spLocks noChangeArrowheads="1"/>
          </p:cNvSpPr>
          <p:nvPr/>
        </p:nvSpPr>
        <p:spPr bwMode="auto">
          <a:xfrm>
            <a:off x="683568" y="2091581"/>
            <a:ext cx="2886130" cy="52322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两种</a:t>
            </a:r>
            <a:r>
              <a:rPr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载流子</a:t>
            </a:r>
          </a:p>
        </p:txBody>
      </p:sp>
      <p:sp>
        <p:nvSpPr>
          <p:cNvPr id="232" name="Text Box 129"/>
          <p:cNvSpPr txBox="1">
            <a:spLocks noChangeArrowheads="1"/>
          </p:cNvSpPr>
          <p:nvPr/>
        </p:nvSpPr>
        <p:spPr bwMode="auto">
          <a:xfrm>
            <a:off x="891381" y="2967634"/>
            <a:ext cx="4176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0" i="0" dirty="0">
                <a:solidFill>
                  <a:srgbClr val="9900FF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载流子：运载电流的粒子</a:t>
            </a:r>
          </a:p>
        </p:txBody>
      </p:sp>
      <p:sp>
        <p:nvSpPr>
          <p:cNvPr id="233" name="Text Box 130"/>
          <p:cNvSpPr txBox="1">
            <a:spLocks noChangeArrowheads="1"/>
          </p:cNvSpPr>
          <p:nvPr/>
        </p:nvSpPr>
        <p:spPr bwMode="auto">
          <a:xfrm>
            <a:off x="2483768" y="5805264"/>
            <a:ext cx="63246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"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自由电子  带负电荷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电子流</a:t>
            </a:r>
            <a:endParaRPr lang="zh-CN" altLang="en-US" i="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4" name="Rectangle 131"/>
          <p:cNvSpPr>
            <a:spLocks noChangeArrowheads="1"/>
          </p:cNvSpPr>
          <p:nvPr/>
        </p:nvSpPr>
        <p:spPr bwMode="auto">
          <a:xfrm>
            <a:off x="7326313" y="6049245"/>
            <a:ext cx="1817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总电流</a:t>
            </a:r>
          </a:p>
        </p:txBody>
      </p:sp>
      <p:sp>
        <p:nvSpPr>
          <p:cNvPr id="235" name="Rectangle 132"/>
          <p:cNvSpPr>
            <a:spLocks noChangeArrowheads="1"/>
          </p:cNvSpPr>
          <p:nvPr/>
        </p:nvSpPr>
        <p:spPr bwMode="auto">
          <a:xfrm>
            <a:off x="323850" y="6060358"/>
            <a:ext cx="21240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两种载流子   </a:t>
            </a:r>
          </a:p>
        </p:txBody>
      </p:sp>
      <p:sp>
        <p:nvSpPr>
          <p:cNvPr id="236" name="AutoShape 133"/>
          <p:cNvSpPr>
            <a:spLocks/>
          </p:cNvSpPr>
          <p:nvPr/>
        </p:nvSpPr>
        <p:spPr bwMode="auto">
          <a:xfrm>
            <a:off x="2286000" y="6049245"/>
            <a:ext cx="228600" cy="609600"/>
          </a:xfrm>
          <a:prstGeom prst="leftBrace">
            <a:avLst>
              <a:gd name="adj1" fmla="val 2222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134"/>
          <p:cNvSpPr>
            <a:spLocks noChangeArrowheads="1"/>
          </p:cNvSpPr>
          <p:nvPr/>
        </p:nvSpPr>
        <p:spPr bwMode="auto">
          <a:xfrm>
            <a:off x="2555776" y="6309321"/>
            <a:ext cx="47307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"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空穴  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带</a:t>
            </a: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正电荷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空穴</a:t>
            </a: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流</a:t>
            </a:r>
          </a:p>
        </p:txBody>
      </p:sp>
      <p:sp>
        <p:nvSpPr>
          <p:cNvPr id="238" name="AutoShape 135"/>
          <p:cNvSpPr>
            <a:spLocks/>
          </p:cNvSpPr>
          <p:nvPr/>
        </p:nvSpPr>
        <p:spPr bwMode="auto">
          <a:xfrm>
            <a:off x="7380312" y="6021288"/>
            <a:ext cx="144462" cy="649288"/>
          </a:xfrm>
          <a:prstGeom prst="rightBrace">
            <a:avLst>
              <a:gd name="adj1" fmla="val 374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9" name="Line 136"/>
          <p:cNvSpPr>
            <a:spLocks noChangeShapeType="1"/>
          </p:cNvSpPr>
          <p:nvPr/>
        </p:nvSpPr>
        <p:spPr bwMode="auto">
          <a:xfrm flipH="1">
            <a:off x="4932363" y="1670893"/>
            <a:ext cx="26638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0" name="Group 137"/>
          <p:cNvGrpSpPr>
            <a:grpSpLocks/>
          </p:cNvGrpSpPr>
          <p:nvPr/>
        </p:nvGrpSpPr>
        <p:grpSpPr bwMode="auto">
          <a:xfrm>
            <a:off x="4859338" y="3831480"/>
            <a:ext cx="533400" cy="990600"/>
            <a:chOff x="3072" y="2208"/>
            <a:chExt cx="336" cy="624"/>
          </a:xfrm>
        </p:grpSpPr>
        <p:sp>
          <p:nvSpPr>
            <p:cNvPr id="241" name="Line 138"/>
            <p:cNvSpPr>
              <a:spLocks noChangeShapeType="1"/>
            </p:cNvSpPr>
            <p:nvPr/>
          </p:nvSpPr>
          <p:spPr bwMode="auto">
            <a:xfrm flipV="1">
              <a:off x="3120" y="2256"/>
              <a:ext cx="24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2" name="Group 139"/>
            <p:cNvGrpSpPr>
              <a:grpSpLocks/>
            </p:cNvGrpSpPr>
            <p:nvPr/>
          </p:nvGrpSpPr>
          <p:grpSpPr bwMode="auto">
            <a:xfrm>
              <a:off x="3072" y="2208"/>
              <a:ext cx="336" cy="624"/>
              <a:chOff x="3072" y="2208"/>
              <a:chExt cx="336" cy="624"/>
            </a:xfrm>
          </p:grpSpPr>
          <p:sp>
            <p:nvSpPr>
              <p:cNvPr id="243" name="Oval 140"/>
              <p:cNvSpPr>
                <a:spLocks noChangeArrowheads="1"/>
              </p:cNvSpPr>
              <p:nvPr/>
            </p:nvSpPr>
            <p:spPr bwMode="auto">
              <a:xfrm>
                <a:off x="3072" y="278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4" name="Oval 141"/>
              <p:cNvSpPr>
                <a:spLocks noChangeArrowheads="1"/>
              </p:cNvSpPr>
              <p:nvPr/>
            </p:nvSpPr>
            <p:spPr bwMode="auto">
              <a:xfrm>
                <a:off x="3360" y="220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245" name="AutoShape 243"/>
          <p:cNvSpPr>
            <a:spLocks noChangeArrowheads="1"/>
          </p:cNvSpPr>
          <p:nvPr/>
        </p:nvSpPr>
        <p:spPr bwMode="auto">
          <a:xfrm rot="10591003">
            <a:off x="6156325" y="3471118"/>
            <a:ext cx="71438" cy="73025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6" name="Text Box 244"/>
          <p:cNvSpPr txBox="1">
            <a:spLocks noChangeArrowheads="1"/>
          </p:cNvSpPr>
          <p:nvPr/>
        </p:nvSpPr>
        <p:spPr bwMode="auto">
          <a:xfrm rot="10591003">
            <a:off x="1697038" y="377115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 sz="1800" b="0" i="0">
              <a:latin typeface="Arial" panose="020B0604020202020204" pitchFamily="34" charset="0"/>
            </a:endParaRPr>
          </a:p>
        </p:txBody>
      </p:sp>
      <p:sp>
        <p:nvSpPr>
          <p:cNvPr id="247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5415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 autoUpdateAnimBg="0"/>
      <p:bldP spid="231" grpId="0" animBg="1"/>
      <p:bldP spid="233" grpId="0" autoUpdateAnimBg="0"/>
      <p:bldP spid="234" grpId="0" autoUpdateAnimBg="0"/>
      <p:bldP spid="235" grpId="0"/>
      <p:bldP spid="236" grpId="0" animBg="1"/>
      <p:bldP spid="237" grpId="0" autoUpdateAnimBg="0"/>
      <p:bldP spid="238" grpId="0" animBg="1"/>
      <p:bldP spid="239" grpId="0" animBg="1"/>
      <p:bldP spid="2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60" name="Group 4"/>
          <p:cNvGrpSpPr>
            <a:grpSpLocks noChangeAspect="1"/>
          </p:cNvGrpSpPr>
          <p:nvPr/>
        </p:nvGrpSpPr>
        <p:grpSpPr bwMode="auto">
          <a:xfrm>
            <a:off x="2411413" y="3272482"/>
            <a:ext cx="5005387" cy="4044950"/>
            <a:chOff x="2360" y="3250"/>
            <a:chExt cx="8202" cy="6630"/>
          </a:xfrm>
        </p:grpSpPr>
        <p:sp>
          <p:nvSpPr>
            <p:cNvPr id="15380" name="AutoShape 5"/>
            <p:cNvSpPr>
              <a:spLocks noChangeAspect="1" noChangeArrowheads="1"/>
            </p:cNvSpPr>
            <p:nvPr/>
          </p:nvSpPr>
          <p:spPr bwMode="auto">
            <a:xfrm>
              <a:off x="2360" y="3250"/>
              <a:ext cx="8202" cy="6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1" name="Text Box 6"/>
            <p:cNvSpPr txBox="1">
              <a:spLocks noChangeArrowheads="1"/>
            </p:cNvSpPr>
            <p:nvPr/>
          </p:nvSpPr>
          <p:spPr bwMode="auto">
            <a:xfrm>
              <a:off x="2360" y="9112"/>
              <a:ext cx="762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kumimoji="0" lang="zh-CN" altLang="zh-CN" i="0">
                <a:latin typeface="Arial" panose="020B0604020202020204" pitchFamily="34" charset="0"/>
              </a:endParaRPr>
            </a:p>
          </p:txBody>
        </p:sp>
        <p:sp>
          <p:nvSpPr>
            <p:cNvPr id="15382" name="Oval 7"/>
            <p:cNvSpPr>
              <a:spLocks noChangeArrowheads="1"/>
            </p:cNvSpPr>
            <p:nvPr/>
          </p:nvSpPr>
          <p:spPr bwMode="auto">
            <a:xfrm>
              <a:off x="3519" y="3950"/>
              <a:ext cx="2213" cy="623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3" name="Oval 8"/>
            <p:cNvSpPr>
              <a:spLocks noChangeArrowheads="1"/>
            </p:cNvSpPr>
            <p:nvPr/>
          </p:nvSpPr>
          <p:spPr bwMode="auto">
            <a:xfrm>
              <a:off x="4189" y="4185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4" name="Oval 9"/>
            <p:cNvSpPr>
              <a:spLocks noChangeArrowheads="1"/>
            </p:cNvSpPr>
            <p:nvPr/>
          </p:nvSpPr>
          <p:spPr bwMode="auto">
            <a:xfrm>
              <a:off x="4893" y="4185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5" name="Oval 10"/>
            <p:cNvSpPr>
              <a:spLocks noChangeArrowheads="1"/>
            </p:cNvSpPr>
            <p:nvPr/>
          </p:nvSpPr>
          <p:spPr bwMode="auto">
            <a:xfrm>
              <a:off x="3183" y="4302"/>
              <a:ext cx="672" cy="183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6" name="Oval 11"/>
            <p:cNvSpPr>
              <a:spLocks noChangeArrowheads="1"/>
            </p:cNvSpPr>
            <p:nvPr/>
          </p:nvSpPr>
          <p:spPr bwMode="auto">
            <a:xfrm>
              <a:off x="3452" y="4847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7" name="Oval 12"/>
            <p:cNvSpPr>
              <a:spLocks noChangeArrowheads="1"/>
            </p:cNvSpPr>
            <p:nvPr/>
          </p:nvSpPr>
          <p:spPr bwMode="auto">
            <a:xfrm>
              <a:off x="3452" y="5509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8" name="Oval 13"/>
            <p:cNvSpPr>
              <a:spLocks noChangeArrowheads="1"/>
            </p:cNvSpPr>
            <p:nvPr/>
          </p:nvSpPr>
          <p:spPr bwMode="auto">
            <a:xfrm>
              <a:off x="3181" y="3988"/>
              <a:ext cx="737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9" name="Text Box 14"/>
            <p:cNvSpPr txBox="1">
              <a:spLocks noChangeArrowheads="1"/>
            </p:cNvSpPr>
            <p:nvPr/>
          </p:nvSpPr>
          <p:spPr bwMode="auto">
            <a:xfrm>
              <a:off x="3192" y="3962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390" name="Oval 15"/>
            <p:cNvSpPr>
              <a:spLocks noChangeArrowheads="1"/>
            </p:cNvSpPr>
            <p:nvPr/>
          </p:nvSpPr>
          <p:spPr bwMode="auto">
            <a:xfrm>
              <a:off x="5767" y="3911"/>
              <a:ext cx="2212" cy="625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1" name="Oval 16"/>
            <p:cNvSpPr>
              <a:spLocks noChangeArrowheads="1"/>
            </p:cNvSpPr>
            <p:nvPr/>
          </p:nvSpPr>
          <p:spPr bwMode="auto">
            <a:xfrm>
              <a:off x="6436" y="4145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2" name="Oval 17"/>
            <p:cNvSpPr>
              <a:spLocks noChangeArrowheads="1"/>
            </p:cNvSpPr>
            <p:nvPr/>
          </p:nvSpPr>
          <p:spPr bwMode="auto">
            <a:xfrm>
              <a:off x="7142" y="4145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3" name="Oval 18"/>
            <p:cNvSpPr>
              <a:spLocks noChangeArrowheads="1"/>
            </p:cNvSpPr>
            <p:nvPr/>
          </p:nvSpPr>
          <p:spPr bwMode="auto">
            <a:xfrm>
              <a:off x="5430" y="4262"/>
              <a:ext cx="670" cy="183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4" name="Oval 19"/>
            <p:cNvSpPr>
              <a:spLocks noChangeArrowheads="1"/>
            </p:cNvSpPr>
            <p:nvPr/>
          </p:nvSpPr>
          <p:spPr bwMode="auto">
            <a:xfrm>
              <a:off x="7713" y="4262"/>
              <a:ext cx="669" cy="191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5" name="Oval 20"/>
            <p:cNvSpPr>
              <a:spLocks noChangeArrowheads="1"/>
            </p:cNvSpPr>
            <p:nvPr/>
          </p:nvSpPr>
          <p:spPr bwMode="auto">
            <a:xfrm>
              <a:off x="5699" y="4807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6" name="Oval 21"/>
            <p:cNvSpPr>
              <a:spLocks noChangeArrowheads="1"/>
            </p:cNvSpPr>
            <p:nvPr/>
          </p:nvSpPr>
          <p:spPr bwMode="auto">
            <a:xfrm>
              <a:off x="5699" y="5472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7" name="Oval 22"/>
            <p:cNvSpPr>
              <a:spLocks noChangeArrowheads="1"/>
            </p:cNvSpPr>
            <p:nvPr/>
          </p:nvSpPr>
          <p:spPr bwMode="auto">
            <a:xfrm>
              <a:off x="7979" y="4770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8" name="Oval 23"/>
            <p:cNvSpPr>
              <a:spLocks noChangeArrowheads="1"/>
            </p:cNvSpPr>
            <p:nvPr/>
          </p:nvSpPr>
          <p:spPr bwMode="auto">
            <a:xfrm>
              <a:off x="8014" y="550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9" name="Oval 24"/>
            <p:cNvSpPr>
              <a:spLocks noChangeArrowheads="1"/>
            </p:cNvSpPr>
            <p:nvPr/>
          </p:nvSpPr>
          <p:spPr bwMode="auto">
            <a:xfrm>
              <a:off x="5430" y="3950"/>
              <a:ext cx="740" cy="703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0" name="Oval 25"/>
            <p:cNvSpPr>
              <a:spLocks noChangeArrowheads="1"/>
            </p:cNvSpPr>
            <p:nvPr/>
          </p:nvSpPr>
          <p:spPr bwMode="auto">
            <a:xfrm>
              <a:off x="7610" y="3911"/>
              <a:ext cx="772" cy="74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1" name="Text Box 26"/>
            <p:cNvSpPr txBox="1">
              <a:spLocks noChangeArrowheads="1"/>
            </p:cNvSpPr>
            <p:nvPr/>
          </p:nvSpPr>
          <p:spPr bwMode="auto">
            <a:xfrm>
              <a:off x="5411" y="3943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02" name="Text Box 27"/>
            <p:cNvSpPr txBox="1">
              <a:spLocks noChangeArrowheads="1"/>
            </p:cNvSpPr>
            <p:nvPr/>
          </p:nvSpPr>
          <p:spPr bwMode="auto">
            <a:xfrm>
              <a:off x="7630" y="3943"/>
              <a:ext cx="1008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 dirty="0">
                  <a:solidFill>
                    <a:srgbClr val="000000"/>
                  </a:solidFill>
                </a:rPr>
                <a:t>+4</a:t>
              </a:r>
              <a:endParaRPr kumimoji="0" lang="en-US" altLang="zh-CN" sz="1800" i="0" dirty="0">
                <a:latin typeface="Arial" panose="020B0604020202020204" pitchFamily="34" charset="0"/>
              </a:endParaRPr>
            </a:p>
          </p:txBody>
        </p:sp>
        <p:sp>
          <p:nvSpPr>
            <p:cNvPr id="15403" name="Oval 28"/>
            <p:cNvSpPr>
              <a:spLocks noChangeArrowheads="1"/>
            </p:cNvSpPr>
            <p:nvPr/>
          </p:nvSpPr>
          <p:spPr bwMode="auto">
            <a:xfrm>
              <a:off x="3519" y="5823"/>
              <a:ext cx="2213" cy="62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4" name="Oval 29"/>
            <p:cNvSpPr>
              <a:spLocks noChangeArrowheads="1"/>
            </p:cNvSpPr>
            <p:nvPr/>
          </p:nvSpPr>
          <p:spPr bwMode="auto">
            <a:xfrm>
              <a:off x="4189" y="6057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5" name="Oval 30"/>
            <p:cNvSpPr>
              <a:spLocks noChangeArrowheads="1"/>
            </p:cNvSpPr>
            <p:nvPr/>
          </p:nvSpPr>
          <p:spPr bwMode="auto">
            <a:xfrm>
              <a:off x="4893" y="6057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6" name="Oval 31"/>
            <p:cNvSpPr>
              <a:spLocks noChangeArrowheads="1"/>
            </p:cNvSpPr>
            <p:nvPr/>
          </p:nvSpPr>
          <p:spPr bwMode="auto">
            <a:xfrm>
              <a:off x="3183" y="6174"/>
              <a:ext cx="672" cy="183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7" name="Oval 32"/>
            <p:cNvSpPr>
              <a:spLocks noChangeArrowheads="1"/>
            </p:cNvSpPr>
            <p:nvPr/>
          </p:nvSpPr>
          <p:spPr bwMode="auto">
            <a:xfrm>
              <a:off x="3587" y="7695"/>
              <a:ext cx="2180" cy="66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8" name="Oval 33"/>
            <p:cNvSpPr>
              <a:spLocks noChangeArrowheads="1"/>
            </p:cNvSpPr>
            <p:nvPr/>
          </p:nvSpPr>
          <p:spPr bwMode="auto">
            <a:xfrm>
              <a:off x="3452" y="6719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9" name="Oval 34"/>
            <p:cNvSpPr>
              <a:spLocks noChangeArrowheads="1"/>
            </p:cNvSpPr>
            <p:nvPr/>
          </p:nvSpPr>
          <p:spPr bwMode="auto">
            <a:xfrm>
              <a:off x="3452" y="7382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0" name="Oval 35"/>
            <p:cNvSpPr>
              <a:spLocks noChangeArrowheads="1"/>
            </p:cNvSpPr>
            <p:nvPr/>
          </p:nvSpPr>
          <p:spPr bwMode="auto">
            <a:xfrm>
              <a:off x="4224" y="8008"/>
              <a:ext cx="134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1" name="Oval 36"/>
            <p:cNvSpPr>
              <a:spLocks noChangeArrowheads="1"/>
            </p:cNvSpPr>
            <p:nvPr/>
          </p:nvSpPr>
          <p:spPr bwMode="auto">
            <a:xfrm>
              <a:off x="5027" y="8008"/>
              <a:ext cx="135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2" name="Oval 37"/>
            <p:cNvSpPr>
              <a:spLocks noChangeArrowheads="1"/>
            </p:cNvSpPr>
            <p:nvPr/>
          </p:nvSpPr>
          <p:spPr bwMode="auto">
            <a:xfrm>
              <a:off x="3183" y="5860"/>
              <a:ext cx="737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3" name="Oval 38"/>
            <p:cNvSpPr>
              <a:spLocks noChangeArrowheads="1"/>
            </p:cNvSpPr>
            <p:nvPr/>
          </p:nvSpPr>
          <p:spPr bwMode="auto">
            <a:xfrm>
              <a:off x="3183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4" name="Text Box 39"/>
            <p:cNvSpPr txBox="1">
              <a:spLocks noChangeArrowheads="1"/>
            </p:cNvSpPr>
            <p:nvPr/>
          </p:nvSpPr>
          <p:spPr bwMode="auto">
            <a:xfrm>
              <a:off x="3192" y="5853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15" name="Text Box 40"/>
            <p:cNvSpPr txBox="1">
              <a:spLocks noChangeArrowheads="1"/>
            </p:cNvSpPr>
            <p:nvPr/>
          </p:nvSpPr>
          <p:spPr bwMode="auto">
            <a:xfrm>
              <a:off x="3209" y="7708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16" name="Oval 41"/>
            <p:cNvSpPr>
              <a:spLocks noChangeArrowheads="1"/>
            </p:cNvSpPr>
            <p:nvPr/>
          </p:nvSpPr>
          <p:spPr bwMode="auto">
            <a:xfrm>
              <a:off x="5767" y="5823"/>
              <a:ext cx="2212" cy="62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7" name="Oval 42"/>
            <p:cNvSpPr>
              <a:spLocks noChangeArrowheads="1"/>
            </p:cNvSpPr>
            <p:nvPr/>
          </p:nvSpPr>
          <p:spPr bwMode="auto">
            <a:xfrm>
              <a:off x="7142" y="6057"/>
              <a:ext cx="135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8" name="Oval 43"/>
            <p:cNvSpPr>
              <a:spLocks noChangeArrowheads="1"/>
            </p:cNvSpPr>
            <p:nvPr/>
          </p:nvSpPr>
          <p:spPr bwMode="auto">
            <a:xfrm>
              <a:off x="5430" y="6174"/>
              <a:ext cx="670" cy="183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9" name="Oval 44"/>
            <p:cNvSpPr>
              <a:spLocks noChangeArrowheads="1"/>
            </p:cNvSpPr>
            <p:nvPr/>
          </p:nvSpPr>
          <p:spPr bwMode="auto">
            <a:xfrm>
              <a:off x="7713" y="6174"/>
              <a:ext cx="669" cy="1911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0" name="Oval 45"/>
            <p:cNvSpPr>
              <a:spLocks noChangeArrowheads="1"/>
            </p:cNvSpPr>
            <p:nvPr/>
          </p:nvSpPr>
          <p:spPr bwMode="auto">
            <a:xfrm>
              <a:off x="5833" y="7695"/>
              <a:ext cx="2181" cy="66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1" name="Oval 46"/>
            <p:cNvSpPr>
              <a:spLocks noChangeArrowheads="1"/>
            </p:cNvSpPr>
            <p:nvPr/>
          </p:nvSpPr>
          <p:spPr bwMode="auto">
            <a:xfrm>
              <a:off x="5699" y="671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2" name="Oval 47"/>
            <p:cNvSpPr>
              <a:spLocks noChangeArrowheads="1"/>
            </p:cNvSpPr>
            <p:nvPr/>
          </p:nvSpPr>
          <p:spPr bwMode="auto">
            <a:xfrm>
              <a:off x="5699" y="7382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3" name="Oval 48"/>
            <p:cNvSpPr>
              <a:spLocks noChangeArrowheads="1"/>
            </p:cNvSpPr>
            <p:nvPr/>
          </p:nvSpPr>
          <p:spPr bwMode="auto">
            <a:xfrm>
              <a:off x="7979" y="671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4" name="Oval 49"/>
            <p:cNvSpPr>
              <a:spLocks noChangeArrowheads="1"/>
            </p:cNvSpPr>
            <p:nvPr/>
          </p:nvSpPr>
          <p:spPr bwMode="auto">
            <a:xfrm>
              <a:off x="8014" y="7421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5" name="Oval 50"/>
            <p:cNvSpPr>
              <a:spLocks noChangeArrowheads="1"/>
            </p:cNvSpPr>
            <p:nvPr/>
          </p:nvSpPr>
          <p:spPr bwMode="auto">
            <a:xfrm>
              <a:off x="6471" y="8008"/>
              <a:ext cx="134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6" name="Oval 51"/>
            <p:cNvSpPr>
              <a:spLocks noChangeArrowheads="1"/>
            </p:cNvSpPr>
            <p:nvPr/>
          </p:nvSpPr>
          <p:spPr bwMode="auto">
            <a:xfrm>
              <a:off x="7277" y="8008"/>
              <a:ext cx="132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7" name="Oval 52"/>
            <p:cNvSpPr>
              <a:spLocks noChangeArrowheads="1"/>
            </p:cNvSpPr>
            <p:nvPr/>
          </p:nvSpPr>
          <p:spPr bwMode="auto">
            <a:xfrm>
              <a:off x="5430" y="5860"/>
              <a:ext cx="740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8" name="Oval 53"/>
            <p:cNvSpPr>
              <a:spLocks noChangeArrowheads="1"/>
            </p:cNvSpPr>
            <p:nvPr/>
          </p:nvSpPr>
          <p:spPr bwMode="auto">
            <a:xfrm>
              <a:off x="7610" y="5823"/>
              <a:ext cx="772" cy="739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9" name="Oval 54"/>
            <p:cNvSpPr>
              <a:spLocks noChangeArrowheads="1"/>
            </p:cNvSpPr>
            <p:nvPr/>
          </p:nvSpPr>
          <p:spPr bwMode="auto">
            <a:xfrm>
              <a:off x="5430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0" name="Oval 55"/>
            <p:cNvSpPr>
              <a:spLocks noChangeArrowheads="1"/>
            </p:cNvSpPr>
            <p:nvPr/>
          </p:nvSpPr>
          <p:spPr bwMode="auto">
            <a:xfrm>
              <a:off x="7610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1" name="Text Box 56"/>
            <p:cNvSpPr txBox="1">
              <a:spLocks noChangeArrowheads="1"/>
            </p:cNvSpPr>
            <p:nvPr/>
          </p:nvSpPr>
          <p:spPr bwMode="auto">
            <a:xfrm>
              <a:off x="5429" y="5816"/>
              <a:ext cx="1005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2" name="Text Box 57"/>
            <p:cNvSpPr txBox="1">
              <a:spLocks noChangeArrowheads="1"/>
            </p:cNvSpPr>
            <p:nvPr/>
          </p:nvSpPr>
          <p:spPr bwMode="auto">
            <a:xfrm>
              <a:off x="7648" y="5834"/>
              <a:ext cx="1007" cy="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3" name="Text Box 58"/>
            <p:cNvSpPr txBox="1">
              <a:spLocks noChangeArrowheads="1"/>
            </p:cNvSpPr>
            <p:nvPr/>
          </p:nvSpPr>
          <p:spPr bwMode="auto">
            <a:xfrm>
              <a:off x="5446" y="7708"/>
              <a:ext cx="1005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4" name="Text Box 59"/>
            <p:cNvSpPr txBox="1">
              <a:spLocks noChangeArrowheads="1"/>
            </p:cNvSpPr>
            <p:nvPr/>
          </p:nvSpPr>
          <p:spPr bwMode="auto">
            <a:xfrm>
              <a:off x="7613" y="7670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grpSp>
          <p:nvGrpSpPr>
            <p:cNvPr id="15435" name="Group 60"/>
            <p:cNvGrpSpPr>
              <a:grpSpLocks/>
            </p:cNvGrpSpPr>
            <p:nvPr/>
          </p:nvGrpSpPr>
          <p:grpSpPr bwMode="auto">
            <a:xfrm>
              <a:off x="3201" y="8398"/>
              <a:ext cx="685" cy="663"/>
              <a:chOff x="6098" y="4860"/>
              <a:chExt cx="480" cy="340"/>
            </a:xfrm>
          </p:grpSpPr>
          <p:sp>
            <p:nvSpPr>
              <p:cNvPr id="15483" name="Arc 61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4" name="Arc 62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5" name="Oval 63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6" name="Group 64"/>
            <p:cNvGrpSpPr>
              <a:grpSpLocks/>
            </p:cNvGrpSpPr>
            <p:nvPr/>
          </p:nvGrpSpPr>
          <p:grpSpPr bwMode="auto">
            <a:xfrm>
              <a:off x="5468" y="8398"/>
              <a:ext cx="706" cy="663"/>
              <a:chOff x="6098" y="4860"/>
              <a:chExt cx="480" cy="340"/>
            </a:xfrm>
          </p:grpSpPr>
          <p:sp>
            <p:nvSpPr>
              <p:cNvPr id="15480" name="Arc 65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1" name="Arc 66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2" name="Oval 67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7" name="Group 68"/>
            <p:cNvGrpSpPr>
              <a:grpSpLocks/>
            </p:cNvGrpSpPr>
            <p:nvPr/>
          </p:nvGrpSpPr>
          <p:grpSpPr bwMode="auto">
            <a:xfrm>
              <a:off x="7610" y="8398"/>
              <a:ext cx="740" cy="663"/>
              <a:chOff x="6098" y="4860"/>
              <a:chExt cx="480" cy="340"/>
            </a:xfrm>
          </p:grpSpPr>
          <p:sp>
            <p:nvSpPr>
              <p:cNvPr id="15477" name="Arc 69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8" name="Arc 70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9" name="Oval 71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8" name="Group 72"/>
            <p:cNvGrpSpPr>
              <a:grpSpLocks/>
            </p:cNvGrpSpPr>
            <p:nvPr/>
          </p:nvGrpSpPr>
          <p:grpSpPr bwMode="auto">
            <a:xfrm>
              <a:off x="3140" y="3411"/>
              <a:ext cx="772" cy="625"/>
              <a:chOff x="2618" y="6973"/>
              <a:chExt cx="890" cy="667"/>
            </a:xfrm>
          </p:grpSpPr>
          <p:sp>
            <p:nvSpPr>
              <p:cNvPr id="15474" name="Arc 73"/>
              <p:cNvSpPr>
                <a:spLocks/>
              </p:cNvSpPr>
              <p:nvPr/>
            </p:nvSpPr>
            <p:spPr bwMode="auto">
              <a:xfrm flipV="1">
                <a:off x="3276" y="6973"/>
                <a:ext cx="232" cy="625"/>
              </a:xfrm>
              <a:custGeom>
                <a:avLst/>
                <a:gdLst>
                  <a:gd name="T0" fmla="*/ 0 w 21600"/>
                  <a:gd name="T1" fmla="*/ 0 h 21600"/>
                  <a:gd name="T2" fmla="*/ 232 w 21600"/>
                  <a:gd name="T3" fmla="*/ 625 h 21600"/>
                  <a:gd name="T4" fmla="*/ 0 w 21600"/>
                  <a:gd name="T5" fmla="*/ 62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5" name="Arc 74"/>
              <p:cNvSpPr>
                <a:spLocks/>
              </p:cNvSpPr>
              <p:nvPr/>
            </p:nvSpPr>
            <p:spPr bwMode="auto">
              <a:xfrm flipH="1" flipV="1">
                <a:off x="2618" y="6973"/>
                <a:ext cx="232" cy="667"/>
              </a:xfrm>
              <a:custGeom>
                <a:avLst/>
                <a:gdLst>
                  <a:gd name="T0" fmla="*/ 0 w 21600"/>
                  <a:gd name="T1" fmla="*/ 0 h 21600"/>
                  <a:gd name="T2" fmla="*/ 232 w 21600"/>
                  <a:gd name="T3" fmla="*/ 667 h 21600"/>
                  <a:gd name="T4" fmla="*/ 0 w 21600"/>
                  <a:gd name="T5" fmla="*/ 66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6" name="Oval 75"/>
              <p:cNvSpPr>
                <a:spLocks noChangeArrowheads="1"/>
              </p:cNvSpPr>
              <p:nvPr/>
            </p:nvSpPr>
            <p:spPr bwMode="auto">
              <a:xfrm flipH="1" flipV="1">
                <a:off x="2978" y="7180"/>
                <a:ext cx="160" cy="1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9" name="Group 76"/>
            <p:cNvGrpSpPr>
              <a:grpSpLocks/>
            </p:cNvGrpSpPr>
            <p:nvPr/>
          </p:nvGrpSpPr>
          <p:grpSpPr bwMode="auto">
            <a:xfrm>
              <a:off x="5463" y="3325"/>
              <a:ext cx="695" cy="656"/>
              <a:chOff x="5298" y="6880"/>
              <a:chExt cx="803" cy="699"/>
            </a:xfrm>
          </p:grpSpPr>
          <p:sp>
            <p:nvSpPr>
              <p:cNvPr id="15471" name="Arc 77"/>
              <p:cNvSpPr>
                <a:spLocks/>
              </p:cNvSpPr>
              <p:nvPr/>
            </p:nvSpPr>
            <p:spPr bwMode="auto">
              <a:xfrm flipV="1">
                <a:off x="5858" y="6880"/>
                <a:ext cx="243" cy="699"/>
              </a:xfrm>
              <a:custGeom>
                <a:avLst/>
                <a:gdLst>
                  <a:gd name="T0" fmla="*/ 0 w 21600"/>
                  <a:gd name="T1" fmla="*/ 0 h 21600"/>
                  <a:gd name="T2" fmla="*/ 243 w 21600"/>
                  <a:gd name="T3" fmla="*/ 699 h 21600"/>
                  <a:gd name="T4" fmla="*/ 0 w 21600"/>
                  <a:gd name="T5" fmla="*/ 69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2" name="Arc 78"/>
              <p:cNvSpPr>
                <a:spLocks/>
              </p:cNvSpPr>
              <p:nvPr/>
            </p:nvSpPr>
            <p:spPr bwMode="auto">
              <a:xfrm flipH="1" flipV="1">
                <a:off x="5298" y="6920"/>
                <a:ext cx="200" cy="646"/>
              </a:xfrm>
              <a:custGeom>
                <a:avLst/>
                <a:gdLst>
                  <a:gd name="T0" fmla="*/ 0 w 21600"/>
                  <a:gd name="T1" fmla="*/ 0 h 21600"/>
                  <a:gd name="T2" fmla="*/ 200 w 21600"/>
                  <a:gd name="T3" fmla="*/ 646 h 21600"/>
                  <a:gd name="T4" fmla="*/ 0 w 21600"/>
                  <a:gd name="T5" fmla="*/ 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3" name="Oval 79"/>
              <p:cNvSpPr>
                <a:spLocks noChangeArrowheads="1"/>
              </p:cNvSpPr>
              <p:nvPr/>
            </p:nvSpPr>
            <p:spPr bwMode="auto">
              <a:xfrm flipH="1" flipV="1">
                <a:off x="5622" y="7140"/>
                <a:ext cx="176" cy="1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0" name="Group 80"/>
            <p:cNvGrpSpPr>
              <a:grpSpLocks/>
            </p:cNvGrpSpPr>
            <p:nvPr/>
          </p:nvGrpSpPr>
          <p:grpSpPr bwMode="auto">
            <a:xfrm>
              <a:off x="7682" y="3250"/>
              <a:ext cx="763" cy="705"/>
              <a:chOff x="7858" y="6833"/>
              <a:chExt cx="860" cy="719"/>
            </a:xfrm>
          </p:grpSpPr>
          <p:sp>
            <p:nvSpPr>
              <p:cNvPr id="15468" name="Arc 81"/>
              <p:cNvSpPr>
                <a:spLocks/>
              </p:cNvSpPr>
              <p:nvPr/>
            </p:nvSpPr>
            <p:spPr bwMode="auto">
              <a:xfrm flipV="1">
                <a:off x="8482" y="6833"/>
                <a:ext cx="236" cy="719"/>
              </a:xfrm>
              <a:custGeom>
                <a:avLst/>
                <a:gdLst>
                  <a:gd name="T0" fmla="*/ 0 w 21600"/>
                  <a:gd name="T1" fmla="*/ 0 h 21600"/>
                  <a:gd name="T2" fmla="*/ 236 w 21600"/>
                  <a:gd name="T3" fmla="*/ 719 h 21600"/>
                  <a:gd name="T4" fmla="*/ 0 w 21600"/>
                  <a:gd name="T5" fmla="*/ 71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" name="Arc 82"/>
              <p:cNvSpPr>
                <a:spLocks/>
              </p:cNvSpPr>
              <p:nvPr/>
            </p:nvSpPr>
            <p:spPr bwMode="auto">
              <a:xfrm flipH="1" flipV="1">
                <a:off x="7858" y="6833"/>
                <a:ext cx="192" cy="687"/>
              </a:xfrm>
              <a:custGeom>
                <a:avLst/>
                <a:gdLst>
                  <a:gd name="T0" fmla="*/ 0 w 21600"/>
                  <a:gd name="T1" fmla="*/ 0 h 21600"/>
                  <a:gd name="T2" fmla="*/ 192 w 21600"/>
                  <a:gd name="T3" fmla="*/ 687 h 21600"/>
                  <a:gd name="T4" fmla="*/ 0 w 21600"/>
                  <a:gd name="T5" fmla="*/ 68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" name="Oval 83"/>
              <p:cNvSpPr>
                <a:spLocks noChangeArrowheads="1"/>
              </p:cNvSpPr>
              <p:nvPr/>
            </p:nvSpPr>
            <p:spPr bwMode="auto">
              <a:xfrm flipH="1" flipV="1">
                <a:off x="8207" y="7157"/>
                <a:ext cx="157" cy="143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1" name="Group 84"/>
            <p:cNvGrpSpPr>
              <a:grpSpLocks/>
            </p:cNvGrpSpPr>
            <p:nvPr/>
          </p:nvGrpSpPr>
          <p:grpSpPr bwMode="auto">
            <a:xfrm>
              <a:off x="2603" y="3950"/>
              <a:ext cx="615" cy="740"/>
              <a:chOff x="5818" y="2580"/>
              <a:chExt cx="320" cy="380"/>
            </a:xfrm>
          </p:grpSpPr>
          <p:sp>
            <p:nvSpPr>
              <p:cNvPr id="15465" name="Arc 85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6" name="Arc 86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7" name="Oval 87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2" name="Group 88"/>
            <p:cNvGrpSpPr>
              <a:grpSpLocks/>
            </p:cNvGrpSpPr>
            <p:nvPr/>
          </p:nvGrpSpPr>
          <p:grpSpPr bwMode="auto">
            <a:xfrm>
              <a:off x="2585" y="5823"/>
              <a:ext cx="633" cy="739"/>
              <a:chOff x="1978" y="9547"/>
              <a:chExt cx="729" cy="791"/>
            </a:xfrm>
          </p:grpSpPr>
          <p:sp>
            <p:nvSpPr>
              <p:cNvPr id="15462" name="Arc 89"/>
              <p:cNvSpPr>
                <a:spLocks/>
              </p:cNvSpPr>
              <p:nvPr/>
            </p:nvSpPr>
            <p:spPr bwMode="auto">
              <a:xfrm rot="16200000" flipV="1">
                <a:off x="2238" y="9330"/>
                <a:ext cx="250" cy="684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84 h 21600"/>
                  <a:gd name="T4" fmla="*/ 0 w 21600"/>
                  <a:gd name="T5" fmla="*/ 6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3" name="Arc 90"/>
              <p:cNvSpPr>
                <a:spLocks/>
              </p:cNvSpPr>
              <p:nvPr/>
            </p:nvSpPr>
            <p:spPr bwMode="auto">
              <a:xfrm rot="-5400000" flipH="1" flipV="1">
                <a:off x="2218" y="9848"/>
                <a:ext cx="250" cy="729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729 h 21600"/>
                  <a:gd name="T4" fmla="*/ 0 w 21600"/>
                  <a:gd name="T5" fmla="*/ 72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4" name="Oval 91"/>
              <p:cNvSpPr>
                <a:spLocks noChangeArrowheads="1"/>
              </p:cNvSpPr>
              <p:nvPr/>
            </p:nvSpPr>
            <p:spPr bwMode="auto">
              <a:xfrm rot="-5400000" flipH="1" flipV="1">
                <a:off x="2326" y="9892"/>
                <a:ext cx="166" cy="13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3" name="Group 92"/>
            <p:cNvGrpSpPr>
              <a:grpSpLocks/>
            </p:cNvGrpSpPr>
            <p:nvPr/>
          </p:nvGrpSpPr>
          <p:grpSpPr bwMode="auto">
            <a:xfrm>
              <a:off x="2499" y="7734"/>
              <a:ext cx="684" cy="742"/>
              <a:chOff x="5818" y="2580"/>
              <a:chExt cx="320" cy="380"/>
            </a:xfrm>
          </p:grpSpPr>
          <p:sp>
            <p:nvSpPr>
              <p:cNvPr id="15459" name="Arc 93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0" name="Arc 94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1" name="Oval 95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4" name="Group 96"/>
            <p:cNvGrpSpPr>
              <a:grpSpLocks/>
            </p:cNvGrpSpPr>
            <p:nvPr/>
          </p:nvGrpSpPr>
          <p:grpSpPr bwMode="auto">
            <a:xfrm>
              <a:off x="8359" y="3871"/>
              <a:ext cx="589" cy="742"/>
              <a:chOff x="8638" y="7463"/>
              <a:chExt cx="680" cy="792"/>
            </a:xfrm>
          </p:grpSpPr>
          <p:sp>
            <p:nvSpPr>
              <p:cNvPr id="15456" name="Arc 97"/>
              <p:cNvSpPr>
                <a:spLocks/>
              </p:cNvSpPr>
              <p:nvPr/>
            </p:nvSpPr>
            <p:spPr bwMode="auto">
              <a:xfrm rot="5400000" flipH="1" flipV="1">
                <a:off x="8834" y="7269"/>
                <a:ext cx="250" cy="638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38 h 21600"/>
                  <a:gd name="T4" fmla="*/ 0 w 21600"/>
                  <a:gd name="T5" fmla="*/ 638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7" name="Arc 98"/>
              <p:cNvSpPr>
                <a:spLocks/>
              </p:cNvSpPr>
              <p:nvPr/>
            </p:nvSpPr>
            <p:spPr bwMode="auto">
              <a:xfrm rot="5400000" flipV="1">
                <a:off x="8853" y="7790"/>
                <a:ext cx="250" cy="680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80 h 21600"/>
                  <a:gd name="T4" fmla="*/ 0 w 21600"/>
                  <a:gd name="T5" fmla="*/ 68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8" name="Oval 99"/>
              <p:cNvSpPr>
                <a:spLocks noChangeArrowheads="1"/>
              </p:cNvSpPr>
              <p:nvPr/>
            </p:nvSpPr>
            <p:spPr bwMode="auto">
              <a:xfrm rot="5400000" flipV="1">
                <a:off x="8833" y="7814"/>
                <a:ext cx="167" cy="12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5" name="Group 100"/>
            <p:cNvGrpSpPr>
              <a:grpSpLocks/>
            </p:cNvGrpSpPr>
            <p:nvPr/>
          </p:nvGrpSpPr>
          <p:grpSpPr bwMode="auto">
            <a:xfrm flipH="1">
              <a:off x="8382" y="5783"/>
              <a:ext cx="705" cy="742"/>
              <a:chOff x="5818" y="2580"/>
              <a:chExt cx="320" cy="380"/>
            </a:xfrm>
          </p:grpSpPr>
          <p:sp>
            <p:nvSpPr>
              <p:cNvPr id="15453" name="Arc 101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4" name="Arc 102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5" name="Oval 103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6" name="Group 104"/>
            <p:cNvGrpSpPr>
              <a:grpSpLocks/>
            </p:cNvGrpSpPr>
            <p:nvPr/>
          </p:nvGrpSpPr>
          <p:grpSpPr bwMode="auto">
            <a:xfrm flipH="1">
              <a:off x="8350" y="7695"/>
              <a:ext cx="667" cy="741"/>
              <a:chOff x="5818" y="2580"/>
              <a:chExt cx="320" cy="380"/>
            </a:xfrm>
          </p:grpSpPr>
          <p:sp>
            <p:nvSpPr>
              <p:cNvPr id="15450" name="Arc 105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1" name="Arc 106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2" name="Oval 107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447" name="Text Box 108"/>
            <p:cNvSpPr txBox="1">
              <a:spLocks noChangeArrowheads="1"/>
            </p:cNvSpPr>
            <p:nvPr/>
          </p:nvSpPr>
          <p:spPr bwMode="auto">
            <a:xfrm>
              <a:off x="8987" y="6953"/>
              <a:ext cx="1575" cy="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zh-CN" altLang="en-US" sz="1900" i="0" dirty="0"/>
                <a:t>共价键</a:t>
              </a:r>
              <a:endParaRPr kumimoji="0" lang="zh-CN" altLang="en-US" sz="1800" i="0" dirty="0">
                <a:latin typeface="Arial" panose="020B0604020202020204" pitchFamily="34" charset="0"/>
              </a:endParaRPr>
            </a:p>
          </p:txBody>
        </p:sp>
        <p:sp>
          <p:nvSpPr>
            <p:cNvPr id="15448" name="Line 109"/>
            <p:cNvSpPr>
              <a:spLocks noChangeShapeType="1"/>
            </p:cNvSpPr>
            <p:nvPr/>
          </p:nvSpPr>
          <p:spPr bwMode="auto">
            <a:xfrm>
              <a:off x="8215" y="6796"/>
              <a:ext cx="938" cy="54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Oval 110"/>
            <p:cNvSpPr>
              <a:spLocks noChangeArrowheads="1"/>
            </p:cNvSpPr>
            <p:nvPr/>
          </p:nvSpPr>
          <p:spPr bwMode="auto">
            <a:xfrm>
              <a:off x="6477" y="6038"/>
              <a:ext cx="135" cy="155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173167" name="Picture 1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365105"/>
            <a:ext cx="144946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168" name="Picture 1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496445"/>
            <a:ext cx="12239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171" name="Line 115"/>
          <p:cNvSpPr>
            <a:spLocks noChangeShapeType="1"/>
          </p:cNvSpPr>
          <p:nvPr/>
        </p:nvSpPr>
        <p:spPr bwMode="auto">
          <a:xfrm>
            <a:off x="4860925" y="4425007"/>
            <a:ext cx="360363" cy="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3172" name="Picture 11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=""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353570"/>
            <a:ext cx="1619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173" name="AutoShape 117"/>
          <p:cNvSpPr>
            <a:spLocks noChangeArrowheads="1"/>
          </p:cNvSpPr>
          <p:nvPr/>
        </p:nvSpPr>
        <p:spPr bwMode="auto">
          <a:xfrm flipV="1">
            <a:off x="6948264" y="3717032"/>
            <a:ext cx="1944216" cy="1342282"/>
          </a:xfrm>
          <a:prstGeom prst="wedgeEllipseCallout">
            <a:avLst>
              <a:gd name="adj1" fmla="val -135780"/>
              <a:gd name="adj2" fmla="val -41452"/>
            </a:avLst>
          </a:prstGeom>
          <a:noFill/>
          <a:ln w="3810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掺入五价原子占据</a:t>
            </a:r>
            <a:r>
              <a:rPr kumimoji="0" lang="en-US" altLang="zh-CN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kumimoji="0" lang="zh-CN" altLang="en-US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原子位置</a:t>
            </a:r>
          </a:p>
          <a:p>
            <a:pPr algn="ctr" eaLnBrk="1" hangingPunct="1">
              <a:spcBef>
                <a:spcPct val="0"/>
              </a:spcBef>
            </a:pPr>
            <a:endParaRPr kumimoji="0" lang="en-US" altLang="zh-CN" sz="20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3174" name="AutoShape 118"/>
          <p:cNvSpPr>
            <a:spLocks noChangeArrowheads="1"/>
          </p:cNvSpPr>
          <p:nvPr/>
        </p:nvSpPr>
        <p:spPr bwMode="auto">
          <a:xfrm flipV="1">
            <a:off x="0" y="5575945"/>
            <a:ext cx="2305050" cy="805383"/>
          </a:xfrm>
          <a:prstGeom prst="wedgeRoundRectCallout">
            <a:avLst>
              <a:gd name="adj1" fmla="val 173554"/>
              <a:gd name="adj2" fmla="val 166919"/>
              <a:gd name="adj3" fmla="val 16667"/>
            </a:avLst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rot="10800000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5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kumimoji="0" lang="zh-CN" altLang="en-US" sz="2000" i="0" dirty="0">
                <a:latin typeface="+mn-ea"/>
                <a:ea typeface="+mn-ea"/>
              </a:rPr>
              <a:t>在室温下就可以激发成</a:t>
            </a:r>
            <a:r>
              <a:rPr kumimoji="0" lang="zh-CN" altLang="en-US" sz="2000" i="0" dirty="0" smtClean="0">
                <a:solidFill>
                  <a:srgbClr val="FF0000"/>
                </a:solidFill>
                <a:latin typeface="+mn-ea"/>
                <a:ea typeface="+mn-ea"/>
              </a:rPr>
              <a:t>自由电子</a:t>
            </a:r>
            <a:endParaRPr kumimoji="0" lang="zh-CN" altLang="en-US" sz="20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73175" name="Text Box 119"/>
          <p:cNvSpPr txBox="1">
            <a:spLocks noChangeArrowheads="1"/>
          </p:cNvSpPr>
          <p:nvPr/>
        </p:nvSpPr>
        <p:spPr bwMode="auto">
          <a:xfrm>
            <a:off x="971600" y="1916832"/>
            <a:ext cx="76456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 dirty="0" smtClean="0">
                <a:latin typeface="+mn-ea"/>
                <a:ea typeface="+mn-ea"/>
              </a:rPr>
              <a:t>掺杂半导体</a:t>
            </a:r>
            <a:r>
              <a:rPr lang="en-US" altLang="zh-CN" sz="2000" i="0" dirty="0" smtClean="0">
                <a:latin typeface="+mn-ea"/>
                <a:ea typeface="+mn-ea"/>
              </a:rPr>
              <a:t>:</a:t>
            </a:r>
            <a:r>
              <a:rPr lang="zh-CN" altLang="en-US" sz="2000" i="0" dirty="0" smtClean="0">
                <a:latin typeface="+mn-ea"/>
                <a:ea typeface="+mn-ea"/>
              </a:rPr>
              <a:t>在</a:t>
            </a:r>
            <a:r>
              <a:rPr lang="zh-CN" altLang="en-US" sz="2000" i="0" dirty="0">
                <a:latin typeface="+mn-ea"/>
                <a:ea typeface="+mn-ea"/>
              </a:rPr>
              <a:t>本征半导体中掺入某些微量杂质元素后的半导体。</a:t>
            </a:r>
          </a:p>
        </p:txBody>
      </p:sp>
      <p:sp>
        <p:nvSpPr>
          <p:cNvPr id="173176" name="Rectangle 120"/>
          <p:cNvSpPr>
            <a:spLocks noChangeArrowheads="1"/>
          </p:cNvSpPr>
          <p:nvPr/>
        </p:nvSpPr>
        <p:spPr bwMode="auto">
          <a:xfrm>
            <a:off x="827584" y="2348880"/>
            <a:ext cx="227017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i="0" dirty="0" smtClean="0">
                <a:solidFill>
                  <a:srgbClr val="0000CC"/>
                </a:solidFill>
                <a:latin typeface="+mn-ea"/>
                <a:ea typeface="+mn-ea"/>
              </a:rPr>
              <a:t>N</a:t>
            </a:r>
            <a:r>
              <a:rPr lang="zh-CN" altLang="en-US" sz="2800" i="0" dirty="0">
                <a:solidFill>
                  <a:srgbClr val="0000CC"/>
                </a:solidFill>
                <a:latin typeface="+mn-ea"/>
                <a:ea typeface="+mn-ea"/>
              </a:rPr>
              <a:t>型半导体</a:t>
            </a:r>
          </a:p>
        </p:txBody>
      </p:sp>
      <p:sp>
        <p:nvSpPr>
          <p:cNvPr id="173177" name="Text Box 121"/>
          <p:cNvSpPr txBox="1">
            <a:spLocks noChangeArrowheads="1"/>
          </p:cNvSpPr>
          <p:nvPr/>
        </p:nvSpPr>
        <p:spPr bwMode="auto">
          <a:xfrm>
            <a:off x="1115616" y="2852936"/>
            <a:ext cx="78488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2000" i="0" dirty="0" smtClean="0">
                <a:latin typeface="+mn-ea"/>
                <a:ea typeface="+mn-ea"/>
              </a:rPr>
              <a:t>构成</a:t>
            </a:r>
            <a:r>
              <a:rPr lang="zh-CN" altLang="en-US" sz="2000" i="0" dirty="0" smtClean="0">
                <a:latin typeface="+mn-ea"/>
                <a:ea typeface="+mn-ea"/>
              </a:rPr>
              <a:t>：在</a:t>
            </a:r>
            <a:r>
              <a:rPr lang="zh-CN" altLang="en-US" sz="2000" i="0" dirty="0">
                <a:latin typeface="+mn-ea"/>
                <a:ea typeface="+mn-ea"/>
              </a:rPr>
              <a:t>本征半导体中掺入五价杂质元素，例如磷，砷等，称为</a:t>
            </a:r>
            <a:r>
              <a:rPr lang="en-US" altLang="zh-CN" sz="2000" i="0" dirty="0">
                <a:solidFill>
                  <a:srgbClr val="C00000"/>
                </a:solidFill>
                <a:latin typeface="+mn-ea"/>
                <a:ea typeface="+mn-ea"/>
              </a:rPr>
              <a:t>N</a:t>
            </a:r>
            <a:r>
              <a:rPr lang="zh-CN" altLang="en-US" sz="2000" i="0" dirty="0">
                <a:solidFill>
                  <a:srgbClr val="C00000"/>
                </a:solidFill>
                <a:latin typeface="+mn-ea"/>
                <a:ea typeface="+mn-ea"/>
              </a:rPr>
              <a:t>型半导体</a:t>
            </a:r>
            <a:r>
              <a:rPr lang="zh-CN" altLang="en-US" sz="2000" i="0" dirty="0">
                <a:solidFill>
                  <a:srgbClr val="FFFF00"/>
                </a:solidFill>
                <a:latin typeface="+mn-ea"/>
                <a:ea typeface="+mn-ea"/>
              </a:rPr>
              <a:t>。 </a:t>
            </a:r>
          </a:p>
        </p:txBody>
      </p:sp>
      <p:sp>
        <p:nvSpPr>
          <p:cNvPr id="126" name="Rectangle 4"/>
          <p:cNvSpPr>
            <a:spLocks noChangeArrowheads="1"/>
          </p:cNvSpPr>
          <p:nvPr/>
        </p:nvSpPr>
        <p:spPr bwMode="auto">
          <a:xfrm>
            <a:off x="539552" y="1412776"/>
            <a:ext cx="3497623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12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578091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173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171" grpId="0" animBg="1"/>
      <p:bldP spid="173173" grpId="0" animBg="1"/>
      <p:bldP spid="1731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4"/>
          <p:cNvSpPr>
            <a:spLocks noChangeArrowheads="1"/>
          </p:cNvSpPr>
          <p:nvPr/>
        </p:nvSpPr>
        <p:spPr bwMode="auto">
          <a:xfrm>
            <a:off x="539552" y="1484784"/>
            <a:ext cx="3425615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120" name="Rectangle 7"/>
          <p:cNvSpPr>
            <a:spLocks noChangeArrowheads="1"/>
          </p:cNvSpPr>
          <p:nvPr/>
        </p:nvSpPr>
        <p:spPr bwMode="auto">
          <a:xfrm>
            <a:off x="791304" y="3096043"/>
            <a:ext cx="4608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多数载流子</a:t>
            </a:r>
            <a:r>
              <a:rPr lang="en-US" altLang="zh-CN" i="0" dirty="0">
                <a:solidFill>
                  <a:srgbClr val="050507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自由电子，   主要由掺杂产生。</a:t>
            </a:r>
          </a:p>
        </p:txBody>
      </p:sp>
      <p:sp>
        <p:nvSpPr>
          <p:cNvPr id="121" name="Rectangle 8"/>
          <p:cNvSpPr>
            <a:spLocks noChangeArrowheads="1"/>
          </p:cNvSpPr>
          <p:nvPr/>
        </p:nvSpPr>
        <p:spPr bwMode="auto">
          <a:xfrm>
            <a:off x="827584" y="4221088"/>
            <a:ext cx="41290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少数载流子</a:t>
            </a:r>
            <a:r>
              <a:rPr lang="en-US" altLang="zh-CN" i="0" dirty="0">
                <a:solidFill>
                  <a:srgbClr val="050507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空穴，由本征激发产生。</a:t>
            </a:r>
          </a:p>
        </p:txBody>
      </p:sp>
      <p:grpSp>
        <p:nvGrpSpPr>
          <p:cNvPr id="122" name="Group 9"/>
          <p:cNvGrpSpPr>
            <a:grpSpLocks/>
          </p:cNvGrpSpPr>
          <p:nvPr/>
        </p:nvGrpSpPr>
        <p:grpSpPr bwMode="auto">
          <a:xfrm>
            <a:off x="5491096" y="3096043"/>
            <a:ext cx="3505200" cy="2541588"/>
            <a:chOff x="3360" y="1427"/>
            <a:chExt cx="2208" cy="1601"/>
          </a:xfrm>
        </p:grpSpPr>
        <p:sp>
          <p:nvSpPr>
            <p:cNvPr id="123" name="Rectangle 10"/>
            <p:cNvSpPr>
              <a:spLocks noChangeArrowheads="1"/>
            </p:cNvSpPr>
            <p:nvPr/>
          </p:nvSpPr>
          <p:spPr bwMode="auto">
            <a:xfrm>
              <a:off x="3360" y="1728"/>
              <a:ext cx="2208" cy="130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4" name="Rectangle 11"/>
            <p:cNvSpPr>
              <a:spLocks noChangeArrowheads="1"/>
            </p:cNvSpPr>
            <p:nvPr/>
          </p:nvSpPr>
          <p:spPr bwMode="auto">
            <a:xfrm>
              <a:off x="3691" y="180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3696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3704" y="2671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4127" y="180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136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4142" y="2671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4614" y="1788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4613" y="2213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4628" y="2657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5082" y="1809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082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086" y="267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7" name="Rectangle 23"/>
            <p:cNvSpPr>
              <a:spLocks noChangeArrowheads="1"/>
            </p:cNvSpPr>
            <p:nvPr/>
          </p:nvSpPr>
          <p:spPr bwMode="auto">
            <a:xfrm>
              <a:off x="4141" y="1427"/>
              <a:ext cx="9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i="0"/>
            </a:p>
          </p:txBody>
        </p:sp>
        <p:sp>
          <p:nvSpPr>
            <p:cNvPr id="138" name="Oval 24"/>
            <p:cNvSpPr>
              <a:spLocks noChangeArrowheads="1"/>
            </p:cNvSpPr>
            <p:nvPr/>
          </p:nvSpPr>
          <p:spPr bwMode="auto">
            <a:xfrm>
              <a:off x="3606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9" name="Oval 25"/>
            <p:cNvSpPr>
              <a:spLocks noChangeArrowheads="1"/>
            </p:cNvSpPr>
            <p:nvPr/>
          </p:nvSpPr>
          <p:spPr bwMode="auto">
            <a:xfrm>
              <a:off x="3888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0" name="Oval 26"/>
            <p:cNvSpPr>
              <a:spLocks noChangeArrowheads="1"/>
            </p:cNvSpPr>
            <p:nvPr/>
          </p:nvSpPr>
          <p:spPr bwMode="auto">
            <a:xfrm>
              <a:off x="3606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1" name="Oval 27"/>
            <p:cNvSpPr>
              <a:spLocks noChangeArrowheads="1"/>
            </p:cNvSpPr>
            <p:nvPr/>
          </p:nvSpPr>
          <p:spPr bwMode="auto">
            <a:xfrm>
              <a:off x="3888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2" name="Oval 28"/>
            <p:cNvSpPr>
              <a:spLocks noChangeArrowheads="1"/>
            </p:cNvSpPr>
            <p:nvPr/>
          </p:nvSpPr>
          <p:spPr bwMode="auto">
            <a:xfrm>
              <a:off x="3619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" name="Oval 29"/>
            <p:cNvSpPr>
              <a:spLocks noChangeArrowheads="1"/>
            </p:cNvSpPr>
            <p:nvPr/>
          </p:nvSpPr>
          <p:spPr bwMode="auto">
            <a:xfrm>
              <a:off x="3888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4" name="Oval 30"/>
            <p:cNvSpPr>
              <a:spLocks noChangeArrowheads="1"/>
            </p:cNvSpPr>
            <p:nvPr/>
          </p:nvSpPr>
          <p:spPr bwMode="auto">
            <a:xfrm>
              <a:off x="432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5" name="Oval 31"/>
            <p:cNvSpPr>
              <a:spLocks noChangeArrowheads="1"/>
            </p:cNvSpPr>
            <p:nvPr/>
          </p:nvSpPr>
          <p:spPr bwMode="auto">
            <a:xfrm>
              <a:off x="4051" y="1800"/>
              <a:ext cx="244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6" name="Oval 32"/>
            <p:cNvSpPr>
              <a:spLocks noChangeArrowheads="1"/>
            </p:cNvSpPr>
            <p:nvPr/>
          </p:nvSpPr>
          <p:spPr bwMode="auto">
            <a:xfrm>
              <a:off x="4051" y="2235"/>
              <a:ext cx="244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7" name="Oval 33"/>
            <p:cNvSpPr>
              <a:spLocks noChangeArrowheads="1"/>
            </p:cNvSpPr>
            <p:nvPr/>
          </p:nvSpPr>
          <p:spPr bwMode="auto">
            <a:xfrm>
              <a:off x="432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8" name="Oval 34"/>
            <p:cNvSpPr>
              <a:spLocks noChangeArrowheads="1"/>
            </p:cNvSpPr>
            <p:nvPr/>
          </p:nvSpPr>
          <p:spPr bwMode="auto">
            <a:xfrm>
              <a:off x="4320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9" name="Oval 35"/>
            <p:cNvSpPr>
              <a:spLocks noChangeArrowheads="1"/>
            </p:cNvSpPr>
            <p:nvPr/>
          </p:nvSpPr>
          <p:spPr bwMode="auto">
            <a:xfrm>
              <a:off x="4065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0" name="Oval 36"/>
            <p:cNvSpPr>
              <a:spLocks noChangeArrowheads="1"/>
            </p:cNvSpPr>
            <p:nvPr/>
          </p:nvSpPr>
          <p:spPr bwMode="auto">
            <a:xfrm>
              <a:off x="4800" y="1824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1" name="Oval 37"/>
            <p:cNvSpPr>
              <a:spLocks noChangeArrowheads="1"/>
            </p:cNvSpPr>
            <p:nvPr/>
          </p:nvSpPr>
          <p:spPr bwMode="auto">
            <a:xfrm>
              <a:off x="4538" y="178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2" name="Oval 38"/>
            <p:cNvSpPr>
              <a:spLocks noChangeArrowheads="1"/>
            </p:cNvSpPr>
            <p:nvPr/>
          </p:nvSpPr>
          <p:spPr bwMode="auto">
            <a:xfrm>
              <a:off x="4538" y="2223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" name="Oval 39"/>
            <p:cNvSpPr>
              <a:spLocks noChangeArrowheads="1"/>
            </p:cNvSpPr>
            <p:nvPr/>
          </p:nvSpPr>
          <p:spPr bwMode="auto">
            <a:xfrm>
              <a:off x="4800" y="2256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" name="Oval 40"/>
            <p:cNvSpPr>
              <a:spLocks noChangeArrowheads="1"/>
            </p:cNvSpPr>
            <p:nvPr/>
          </p:nvSpPr>
          <p:spPr bwMode="auto">
            <a:xfrm>
              <a:off x="4812" y="2670"/>
              <a:ext cx="109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5" name="Oval 41"/>
            <p:cNvSpPr>
              <a:spLocks noChangeArrowheads="1"/>
            </p:cNvSpPr>
            <p:nvPr/>
          </p:nvSpPr>
          <p:spPr bwMode="auto">
            <a:xfrm>
              <a:off x="4551" y="265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6" name="Oval 42"/>
            <p:cNvSpPr>
              <a:spLocks noChangeArrowheads="1"/>
            </p:cNvSpPr>
            <p:nvPr/>
          </p:nvSpPr>
          <p:spPr bwMode="auto">
            <a:xfrm>
              <a:off x="528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7" name="Oval 43"/>
            <p:cNvSpPr>
              <a:spLocks noChangeArrowheads="1"/>
            </p:cNvSpPr>
            <p:nvPr/>
          </p:nvSpPr>
          <p:spPr bwMode="auto">
            <a:xfrm>
              <a:off x="4997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8" name="Oval 44"/>
            <p:cNvSpPr>
              <a:spLocks noChangeArrowheads="1"/>
            </p:cNvSpPr>
            <p:nvPr/>
          </p:nvSpPr>
          <p:spPr bwMode="auto">
            <a:xfrm>
              <a:off x="4997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9" name="Oval 45"/>
            <p:cNvSpPr>
              <a:spLocks noChangeArrowheads="1"/>
            </p:cNvSpPr>
            <p:nvPr/>
          </p:nvSpPr>
          <p:spPr bwMode="auto">
            <a:xfrm>
              <a:off x="528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0" name="Oval 46"/>
            <p:cNvSpPr>
              <a:spLocks noChangeArrowheads="1"/>
            </p:cNvSpPr>
            <p:nvPr/>
          </p:nvSpPr>
          <p:spPr bwMode="auto">
            <a:xfrm>
              <a:off x="5280" y="2688"/>
              <a:ext cx="96" cy="96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1" name="Oval 47"/>
            <p:cNvSpPr>
              <a:spLocks noChangeArrowheads="1"/>
            </p:cNvSpPr>
            <p:nvPr/>
          </p:nvSpPr>
          <p:spPr bwMode="auto">
            <a:xfrm>
              <a:off x="5011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2" name="Oval 48"/>
            <p:cNvSpPr>
              <a:spLocks noChangeArrowheads="1"/>
            </p:cNvSpPr>
            <p:nvPr/>
          </p:nvSpPr>
          <p:spPr bwMode="auto">
            <a:xfrm>
              <a:off x="3408" y="2496"/>
              <a:ext cx="136" cy="137"/>
            </a:xfrm>
            <a:prstGeom prst="ellipse">
              <a:avLst/>
            </a:prstGeom>
            <a:noFill/>
            <a:ln w="22225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3" name="Oval 49"/>
            <p:cNvSpPr>
              <a:spLocks noChangeArrowheads="1"/>
            </p:cNvSpPr>
            <p:nvPr/>
          </p:nvSpPr>
          <p:spPr bwMode="auto">
            <a:xfrm>
              <a:off x="3408" y="2352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4" name="AutoShape 51"/>
          <p:cNvSpPr>
            <a:spLocks noChangeArrowheads="1"/>
          </p:cNvSpPr>
          <p:nvPr/>
        </p:nvSpPr>
        <p:spPr bwMode="auto">
          <a:xfrm>
            <a:off x="7586619" y="2340972"/>
            <a:ext cx="1460454" cy="513191"/>
          </a:xfrm>
          <a:prstGeom prst="wedgeRoundRectCallout">
            <a:avLst>
              <a:gd name="adj1" fmla="val 18606"/>
              <a:gd name="adj2" fmla="val 208481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i="0">
                <a:solidFill>
                  <a:srgbClr val="000000"/>
                </a:solidFill>
                <a:ea typeface="长城楷体" pitchFamily="49" charset="-122"/>
              </a:rPr>
              <a:t>自由电子</a:t>
            </a:r>
          </a:p>
        </p:txBody>
      </p:sp>
      <p:sp>
        <p:nvSpPr>
          <p:cNvPr id="165" name="AutoShape 52"/>
          <p:cNvSpPr>
            <a:spLocks noChangeArrowheads="1"/>
          </p:cNvSpPr>
          <p:nvPr/>
        </p:nvSpPr>
        <p:spPr bwMode="auto">
          <a:xfrm>
            <a:off x="5292080" y="2348880"/>
            <a:ext cx="1762091" cy="513191"/>
          </a:xfrm>
          <a:prstGeom prst="wedgeRoundRectCallout">
            <a:avLst>
              <a:gd name="adj1" fmla="val -30857"/>
              <a:gd name="adj2" fmla="val 35485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i="0">
                <a:ea typeface="长城楷体" pitchFamily="49" charset="-122"/>
              </a:rPr>
              <a:t>电子空穴对</a:t>
            </a:r>
          </a:p>
        </p:txBody>
      </p:sp>
      <p:sp>
        <p:nvSpPr>
          <p:cNvPr id="166" name="Text Box 54"/>
          <p:cNvSpPr txBox="1">
            <a:spLocks noChangeArrowheads="1"/>
          </p:cNvSpPr>
          <p:nvPr/>
        </p:nvSpPr>
        <p:spPr bwMode="auto">
          <a:xfrm>
            <a:off x="683568" y="2261251"/>
            <a:ext cx="4163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Clr>
                <a:srgbClr val="0000CC"/>
              </a:buClr>
              <a:buFont typeface="Wingdings" pitchFamily="2" charset="2"/>
              <a:buChar char="p"/>
            </a:pPr>
            <a:r>
              <a:rPr kumimoji="0" lang="en-US" altLang="zh-CN" sz="2800" i="0" dirty="0" smtClean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0" lang="zh-CN" altLang="en-US" sz="2800" i="0" dirty="0" smtClean="0">
                <a:solidFill>
                  <a:srgbClr val="0000FF"/>
                </a:solidFill>
                <a:latin typeface="+mn-ea"/>
                <a:ea typeface="+mn-ea"/>
              </a:rPr>
              <a:t>型半导体多</a:t>
            </a:r>
            <a:r>
              <a:rPr kumimoji="0" lang="zh-CN" altLang="en-US" sz="2800" i="0" dirty="0">
                <a:solidFill>
                  <a:srgbClr val="0000FF"/>
                </a:solidFill>
                <a:latin typeface="+mn-ea"/>
                <a:ea typeface="+mn-ea"/>
              </a:rPr>
              <a:t>子与少子</a:t>
            </a:r>
          </a:p>
        </p:txBody>
      </p:sp>
      <p:sp>
        <p:nvSpPr>
          <p:cNvPr id="5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00410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utoUpdateAnimBg="0"/>
      <p:bldP spid="121" grpId="0" autoUpdateAnimBg="0"/>
      <p:bldP spid="164" grpId="0" animBg="1" autoUpdateAnimBg="0"/>
      <p:bldP spid="165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484784"/>
            <a:ext cx="3312368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67544" y="2492896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i="0" dirty="0">
                <a:latin typeface="+mn-ea"/>
                <a:ea typeface="+mn-ea"/>
              </a:rPr>
              <a:t>   </a:t>
            </a:r>
            <a:r>
              <a:rPr lang="zh-CN" altLang="en-US" sz="2000" i="0" dirty="0">
                <a:solidFill>
                  <a:srgbClr val="0000FF"/>
                </a:solidFill>
                <a:latin typeface="+mn-ea"/>
                <a:ea typeface="+mn-ea"/>
              </a:rPr>
              <a:t>在本征半导体中掺入三价杂质元素，如硼、镓等。</a:t>
            </a:r>
            <a:endParaRPr lang="zh-CN" altLang="en-US" sz="2000" i="0" dirty="0">
              <a:latin typeface="+mn-ea"/>
              <a:ea typeface="+mn-ea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323047" y="4030889"/>
            <a:ext cx="735031" cy="445088"/>
          </a:xfrm>
          <a:prstGeom prst="wedgeRoundRectCallout">
            <a:avLst>
              <a:gd name="adj1" fmla="val 323237"/>
              <a:gd name="adj2" fmla="val 94925"/>
              <a:gd name="adj3" fmla="val 16667"/>
            </a:avLst>
          </a:prstGeom>
          <a:solidFill>
            <a:srgbClr val="FFFF00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323850" y="5256439"/>
            <a:ext cx="1206500" cy="445088"/>
          </a:xfrm>
          <a:prstGeom prst="wedgeRoundRectCallout">
            <a:avLst>
              <a:gd name="adj1" fmla="val 130550"/>
              <a:gd name="adj2" fmla="val -132148"/>
              <a:gd name="adj3" fmla="val 16667"/>
            </a:avLst>
          </a:prstGeom>
          <a:solidFill>
            <a:srgbClr val="FF00FF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硼原子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1868" y="3060530"/>
            <a:ext cx="987996" cy="445088"/>
          </a:xfrm>
          <a:prstGeom prst="wedgeRoundRectCallout">
            <a:avLst>
              <a:gd name="adj1" fmla="val 154606"/>
              <a:gd name="adj2" fmla="val 59338"/>
              <a:gd name="adj3" fmla="val 16667"/>
            </a:avLst>
          </a:prstGeom>
          <a:solidFill>
            <a:srgbClr val="00FF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硅原子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981846"/>
            <a:ext cx="3354387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788024" y="5805264"/>
            <a:ext cx="4067175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多数载流子</a:t>
            </a:r>
            <a:r>
              <a:rPr lang="en-US" altLang="zh-CN" i="0" dirty="0">
                <a:solidFill>
                  <a:srgbClr val="FF0000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  <a:endParaRPr lang="en-US" altLang="zh-CN" i="0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0"/>
              </a:spcBef>
            </a:pP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少数载流子</a:t>
            </a:r>
            <a:r>
              <a:rPr lang="en-US" altLang="zh-CN" i="0" dirty="0" smtClean="0">
                <a:solidFill>
                  <a:srgbClr val="FF0000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自由电子</a:t>
            </a:r>
            <a:endParaRPr lang="zh-CN" altLang="en-US" i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5220072" y="3501008"/>
            <a:ext cx="3168351" cy="2232249"/>
            <a:chOff x="3224" y="1622"/>
            <a:chExt cx="2098" cy="1539"/>
          </a:xfrm>
        </p:grpSpPr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224" y="1867"/>
              <a:ext cx="2098" cy="1294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524" y="1995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550" y="2407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 dirty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3577" y="2838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4060" y="283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4014" y="237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993" y="198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465" y="238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4510" y="2825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4452" y="198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4881" y="19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4892" y="236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4930" y="281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944" y="1622"/>
              <a:ext cx="8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型半导体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3515" y="198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759" y="197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528" y="2392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3772" y="2380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3808" y="2819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64" y="2832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236" y="2368"/>
              <a:ext cx="109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3991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4223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4272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4028" y="281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3979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4687" y="2368"/>
              <a:ext cx="110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4724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4431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4443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4675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4480" y="2819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870" y="2368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5114" y="235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4907" y="280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5151" y="279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4858" y="1965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5102" y="1952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3312" y="2352"/>
              <a:ext cx="98" cy="97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3312" y="2544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3" name="AutoShape 51"/>
          <p:cNvSpPr>
            <a:spLocks noChangeArrowheads="1"/>
          </p:cNvSpPr>
          <p:nvPr/>
        </p:nvSpPr>
        <p:spPr bwMode="auto">
          <a:xfrm>
            <a:off x="7956376" y="3068960"/>
            <a:ext cx="735031" cy="445088"/>
          </a:xfrm>
          <a:prstGeom prst="wedgeRoundRectCallout">
            <a:avLst>
              <a:gd name="adj1" fmla="val -22268"/>
              <a:gd name="adj2" fmla="val 164341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</a:p>
        </p:txBody>
      </p:sp>
      <p:sp>
        <p:nvSpPr>
          <p:cNvPr id="54" name="AutoShape 52"/>
          <p:cNvSpPr>
            <a:spLocks noChangeArrowheads="1"/>
          </p:cNvSpPr>
          <p:nvPr/>
        </p:nvSpPr>
        <p:spPr bwMode="auto">
          <a:xfrm>
            <a:off x="4716016" y="2996952"/>
            <a:ext cx="1506641" cy="445088"/>
          </a:xfrm>
          <a:prstGeom prst="wedgeRoundRectCallout">
            <a:avLst>
              <a:gd name="adj1" fmla="val -4556"/>
              <a:gd name="adj2" fmla="val 29094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电子空穴对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755576" y="1988840"/>
            <a:ext cx="2519362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型半导体</a:t>
            </a:r>
          </a:p>
        </p:txBody>
      </p:sp>
      <p:sp>
        <p:nvSpPr>
          <p:cNvPr id="5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86954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  <p:bldP spid="11" grpId="0" animBg="1" autoUpdateAnimBg="0"/>
      <p:bldP spid="53" grpId="0" animBg="1" autoUpdateAnimBg="0"/>
      <p:bldP spid="5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556792"/>
            <a:ext cx="3312368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275856" y="5229200"/>
            <a:ext cx="253093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 smtClean="0">
                <a:solidFill>
                  <a:srgbClr val="FF3300"/>
                </a:solidFill>
                <a:ea typeface="楷体_GB2312" pitchFamily="49" charset="-122"/>
              </a:rPr>
              <a:t>掺杂半导体示意图</a:t>
            </a:r>
            <a:endParaRPr lang="zh-CN" altLang="en-US" sz="2000" i="0" dirty="0">
              <a:solidFill>
                <a:srgbClr val="CC0099"/>
              </a:solidFill>
              <a:ea typeface="楷体_GB2312" pitchFamily="49" charset="-122"/>
            </a:endParaRP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5076056" y="2564904"/>
            <a:ext cx="3505200" cy="2470150"/>
            <a:chOff x="3360" y="1472"/>
            <a:chExt cx="2208" cy="155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360" y="1728"/>
              <a:ext cx="2208" cy="130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702" y="180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707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715" y="2671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138" y="180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4147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4153" y="2671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625" y="1788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4624" y="2213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4639" y="2657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5093" y="1809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5093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097" y="267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4225" y="1472"/>
              <a:ext cx="72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 dirty="0">
                  <a:solidFill>
                    <a:srgbClr val="40000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2000" b="0" i="0" dirty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sz="2000" i="0" dirty="0"/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3606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auto">
            <a:xfrm>
              <a:off x="3888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Oval 20"/>
            <p:cNvSpPr>
              <a:spLocks noChangeArrowheads="1"/>
            </p:cNvSpPr>
            <p:nvPr/>
          </p:nvSpPr>
          <p:spPr bwMode="auto">
            <a:xfrm>
              <a:off x="3606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3888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3619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888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8" name="Oval 24"/>
            <p:cNvSpPr>
              <a:spLocks noChangeArrowheads="1"/>
            </p:cNvSpPr>
            <p:nvPr/>
          </p:nvSpPr>
          <p:spPr bwMode="auto">
            <a:xfrm>
              <a:off x="432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4051" y="1800"/>
              <a:ext cx="244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4051" y="2235"/>
              <a:ext cx="244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Oval 27"/>
            <p:cNvSpPr>
              <a:spLocks noChangeArrowheads="1"/>
            </p:cNvSpPr>
            <p:nvPr/>
          </p:nvSpPr>
          <p:spPr bwMode="auto">
            <a:xfrm>
              <a:off x="432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4320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3" name="Oval 29"/>
            <p:cNvSpPr>
              <a:spLocks noChangeArrowheads="1"/>
            </p:cNvSpPr>
            <p:nvPr/>
          </p:nvSpPr>
          <p:spPr bwMode="auto">
            <a:xfrm>
              <a:off x="4065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Oval 30"/>
            <p:cNvSpPr>
              <a:spLocks noChangeArrowheads="1"/>
            </p:cNvSpPr>
            <p:nvPr/>
          </p:nvSpPr>
          <p:spPr bwMode="auto">
            <a:xfrm>
              <a:off x="4800" y="1824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Oval 31"/>
            <p:cNvSpPr>
              <a:spLocks noChangeArrowheads="1"/>
            </p:cNvSpPr>
            <p:nvPr/>
          </p:nvSpPr>
          <p:spPr bwMode="auto">
            <a:xfrm>
              <a:off x="4538" y="178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6" name="Oval 32"/>
            <p:cNvSpPr>
              <a:spLocks noChangeArrowheads="1"/>
            </p:cNvSpPr>
            <p:nvPr/>
          </p:nvSpPr>
          <p:spPr bwMode="auto">
            <a:xfrm>
              <a:off x="4538" y="2223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7" name="Oval 33"/>
            <p:cNvSpPr>
              <a:spLocks noChangeArrowheads="1"/>
            </p:cNvSpPr>
            <p:nvPr/>
          </p:nvSpPr>
          <p:spPr bwMode="auto">
            <a:xfrm>
              <a:off x="4800" y="2256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8" name="Oval 34"/>
            <p:cNvSpPr>
              <a:spLocks noChangeArrowheads="1"/>
            </p:cNvSpPr>
            <p:nvPr/>
          </p:nvSpPr>
          <p:spPr bwMode="auto">
            <a:xfrm>
              <a:off x="4812" y="2670"/>
              <a:ext cx="109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9" name="Oval 35"/>
            <p:cNvSpPr>
              <a:spLocks noChangeArrowheads="1"/>
            </p:cNvSpPr>
            <p:nvPr/>
          </p:nvSpPr>
          <p:spPr bwMode="auto">
            <a:xfrm>
              <a:off x="4551" y="265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528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4997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4997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3" name="Oval 39"/>
            <p:cNvSpPr>
              <a:spLocks noChangeArrowheads="1"/>
            </p:cNvSpPr>
            <p:nvPr/>
          </p:nvSpPr>
          <p:spPr bwMode="auto">
            <a:xfrm>
              <a:off x="528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4" name="Oval 40"/>
            <p:cNvSpPr>
              <a:spLocks noChangeArrowheads="1"/>
            </p:cNvSpPr>
            <p:nvPr/>
          </p:nvSpPr>
          <p:spPr bwMode="auto">
            <a:xfrm>
              <a:off x="5280" y="2688"/>
              <a:ext cx="96" cy="96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5" name="Oval 41"/>
            <p:cNvSpPr>
              <a:spLocks noChangeArrowheads="1"/>
            </p:cNvSpPr>
            <p:nvPr/>
          </p:nvSpPr>
          <p:spPr bwMode="auto">
            <a:xfrm>
              <a:off x="5011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6" name="Oval 42"/>
            <p:cNvSpPr>
              <a:spLocks noChangeArrowheads="1"/>
            </p:cNvSpPr>
            <p:nvPr/>
          </p:nvSpPr>
          <p:spPr bwMode="auto">
            <a:xfrm>
              <a:off x="3408" y="2496"/>
              <a:ext cx="136" cy="137"/>
            </a:xfrm>
            <a:prstGeom prst="ellipse">
              <a:avLst/>
            </a:prstGeom>
            <a:noFill/>
            <a:ln w="22225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7" name="Oval 43"/>
            <p:cNvSpPr>
              <a:spLocks noChangeArrowheads="1"/>
            </p:cNvSpPr>
            <p:nvPr/>
          </p:nvSpPr>
          <p:spPr bwMode="auto">
            <a:xfrm>
              <a:off x="3408" y="2352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48" name="AutoShape 44"/>
          <p:cNvSpPr>
            <a:spLocks noChangeArrowheads="1"/>
          </p:cNvSpPr>
          <p:nvPr/>
        </p:nvSpPr>
        <p:spPr bwMode="auto">
          <a:xfrm>
            <a:off x="7239000" y="2028075"/>
            <a:ext cx="1581472" cy="445088"/>
          </a:xfrm>
          <a:prstGeom prst="wedgeRoundRectCallout">
            <a:avLst>
              <a:gd name="adj1" fmla="val 9159"/>
              <a:gd name="adj2" fmla="val 193834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多子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电子</a:t>
            </a:r>
          </a:p>
        </p:txBody>
      </p:sp>
      <p:sp>
        <p:nvSpPr>
          <p:cNvPr id="49" name="AutoShape 45"/>
          <p:cNvSpPr>
            <a:spLocks noChangeArrowheads="1"/>
          </p:cNvSpPr>
          <p:nvPr/>
        </p:nvSpPr>
        <p:spPr bwMode="auto">
          <a:xfrm>
            <a:off x="5652120" y="5661248"/>
            <a:ext cx="1549152" cy="445088"/>
          </a:xfrm>
          <a:prstGeom prst="wedgeRoundRectCallout">
            <a:avLst>
              <a:gd name="adj1" fmla="val -77450"/>
              <a:gd name="adj2" fmla="val -321380"/>
              <a:gd name="adj3" fmla="val 16667"/>
            </a:avLst>
          </a:prstGeom>
          <a:solidFill>
            <a:srgbClr val="00FF00"/>
          </a:solidFill>
          <a:ln w="381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少子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空穴</a:t>
            </a:r>
          </a:p>
        </p:txBody>
      </p:sp>
      <p:grpSp>
        <p:nvGrpSpPr>
          <p:cNvPr id="50" name="Group 46"/>
          <p:cNvGrpSpPr>
            <a:grpSpLocks/>
          </p:cNvGrpSpPr>
          <p:nvPr/>
        </p:nvGrpSpPr>
        <p:grpSpPr bwMode="auto">
          <a:xfrm>
            <a:off x="1252924" y="2569096"/>
            <a:ext cx="3330575" cy="2443162"/>
            <a:chOff x="3224" y="1622"/>
            <a:chExt cx="2098" cy="1539"/>
          </a:xfrm>
        </p:grpSpPr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3224" y="1867"/>
              <a:ext cx="2098" cy="1294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3540" y="1995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3566" y="2407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3593" y="2838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4076" y="283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4030" y="2376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4009" y="1982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4481" y="2386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4526" y="2825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4468" y="1982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4897" y="1971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4908" y="236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4946" y="281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4020" y="1622"/>
              <a:ext cx="72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P</a:t>
              </a:r>
              <a:r>
                <a:rPr lang="zh-CN" altLang="en-US" sz="2000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sz="2000" i="0"/>
            </a:p>
          </p:txBody>
        </p:sp>
        <p:sp>
          <p:nvSpPr>
            <p:cNvPr id="65" name="Oval 61"/>
            <p:cNvSpPr>
              <a:spLocks noChangeArrowheads="1"/>
            </p:cNvSpPr>
            <p:nvPr/>
          </p:nvSpPr>
          <p:spPr bwMode="auto">
            <a:xfrm>
              <a:off x="3515" y="198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6" name="Oval 62"/>
            <p:cNvSpPr>
              <a:spLocks noChangeArrowheads="1"/>
            </p:cNvSpPr>
            <p:nvPr/>
          </p:nvSpPr>
          <p:spPr bwMode="auto">
            <a:xfrm>
              <a:off x="3759" y="197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7" name="Oval 63"/>
            <p:cNvSpPr>
              <a:spLocks noChangeArrowheads="1"/>
            </p:cNvSpPr>
            <p:nvPr/>
          </p:nvSpPr>
          <p:spPr bwMode="auto">
            <a:xfrm>
              <a:off x="3528" y="2392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8" name="Oval 64"/>
            <p:cNvSpPr>
              <a:spLocks noChangeArrowheads="1"/>
            </p:cNvSpPr>
            <p:nvPr/>
          </p:nvSpPr>
          <p:spPr bwMode="auto">
            <a:xfrm>
              <a:off x="3772" y="2380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9" name="Oval 65"/>
            <p:cNvSpPr>
              <a:spLocks noChangeArrowheads="1"/>
            </p:cNvSpPr>
            <p:nvPr/>
          </p:nvSpPr>
          <p:spPr bwMode="auto">
            <a:xfrm>
              <a:off x="3808" y="2819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0" name="Oval 66"/>
            <p:cNvSpPr>
              <a:spLocks noChangeArrowheads="1"/>
            </p:cNvSpPr>
            <p:nvPr/>
          </p:nvSpPr>
          <p:spPr bwMode="auto">
            <a:xfrm>
              <a:off x="3564" y="2832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1" name="Oval 67"/>
            <p:cNvSpPr>
              <a:spLocks noChangeArrowheads="1"/>
            </p:cNvSpPr>
            <p:nvPr/>
          </p:nvSpPr>
          <p:spPr bwMode="auto">
            <a:xfrm>
              <a:off x="4236" y="2368"/>
              <a:ext cx="109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2" name="Oval 68"/>
            <p:cNvSpPr>
              <a:spLocks noChangeArrowheads="1"/>
            </p:cNvSpPr>
            <p:nvPr/>
          </p:nvSpPr>
          <p:spPr bwMode="auto">
            <a:xfrm>
              <a:off x="3991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3" name="Oval 69"/>
            <p:cNvSpPr>
              <a:spLocks noChangeArrowheads="1"/>
            </p:cNvSpPr>
            <p:nvPr/>
          </p:nvSpPr>
          <p:spPr bwMode="auto">
            <a:xfrm>
              <a:off x="4223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4" name="Oval 70"/>
            <p:cNvSpPr>
              <a:spLocks noChangeArrowheads="1"/>
            </p:cNvSpPr>
            <p:nvPr/>
          </p:nvSpPr>
          <p:spPr bwMode="auto">
            <a:xfrm>
              <a:off x="4272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5" name="Oval 71"/>
            <p:cNvSpPr>
              <a:spLocks noChangeArrowheads="1"/>
            </p:cNvSpPr>
            <p:nvPr/>
          </p:nvSpPr>
          <p:spPr bwMode="auto">
            <a:xfrm>
              <a:off x="4028" y="281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6" name="Oval 72"/>
            <p:cNvSpPr>
              <a:spLocks noChangeArrowheads="1"/>
            </p:cNvSpPr>
            <p:nvPr/>
          </p:nvSpPr>
          <p:spPr bwMode="auto">
            <a:xfrm>
              <a:off x="3979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7" name="Oval 73"/>
            <p:cNvSpPr>
              <a:spLocks noChangeArrowheads="1"/>
            </p:cNvSpPr>
            <p:nvPr/>
          </p:nvSpPr>
          <p:spPr bwMode="auto">
            <a:xfrm>
              <a:off x="4687" y="2368"/>
              <a:ext cx="110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8" name="Oval 74"/>
            <p:cNvSpPr>
              <a:spLocks noChangeArrowheads="1"/>
            </p:cNvSpPr>
            <p:nvPr/>
          </p:nvSpPr>
          <p:spPr bwMode="auto">
            <a:xfrm>
              <a:off x="4724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9" name="Oval 75"/>
            <p:cNvSpPr>
              <a:spLocks noChangeArrowheads="1"/>
            </p:cNvSpPr>
            <p:nvPr/>
          </p:nvSpPr>
          <p:spPr bwMode="auto">
            <a:xfrm>
              <a:off x="4431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0" name="Oval 76"/>
            <p:cNvSpPr>
              <a:spLocks noChangeArrowheads="1"/>
            </p:cNvSpPr>
            <p:nvPr/>
          </p:nvSpPr>
          <p:spPr bwMode="auto">
            <a:xfrm>
              <a:off x="4443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1" name="Oval 77"/>
            <p:cNvSpPr>
              <a:spLocks noChangeArrowheads="1"/>
            </p:cNvSpPr>
            <p:nvPr/>
          </p:nvSpPr>
          <p:spPr bwMode="auto">
            <a:xfrm>
              <a:off x="4675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2" name="Oval 78"/>
            <p:cNvSpPr>
              <a:spLocks noChangeArrowheads="1"/>
            </p:cNvSpPr>
            <p:nvPr/>
          </p:nvSpPr>
          <p:spPr bwMode="auto">
            <a:xfrm>
              <a:off x="4480" y="2819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3" name="Oval 79"/>
            <p:cNvSpPr>
              <a:spLocks noChangeArrowheads="1"/>
            </p:cNvSpPr>
            <p:nvPr/>
          </p:nvSpPr>
          <p:spPr bwMode="auto">
            <a:xfrm>
              <a:off x="4870" y="2368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4" name="Oval 80"/>
            <p:cNvSpPr>
              <a:spLocks noChangeArrowheads="1"/>
            </p:cNvSpPr>
            <p:nvPr/>
          </p:nvSpPr>
          <p:spPr bwMode="auto">
            <a:xfrm>
              <a:off x="5114" y="235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5" name="Oval 81"/>
            <p:cNvSpPr>
              <a:spLocks noChangeArrowheads="1"/>
            </p:cNvSpPr>
            <p:nvPr/>
          </p:nvSpPr>
          <p:spPr bwMode="auto">
            <a:xfrm>
              <a:off x="4907" y="280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6" name="Oval 82"/>
            <p:cNvSpPr>
              <a:spLocks noChangeArrowheads="1"/>
            </p:cNvSpPr>
            <p:nvPr/>
          </p:nvSpPr>
          <p:spPr bwMode="auto">
            <a:xfrm>
              <a:off x="5151" y="279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7" name="Oval 83"/>
            <p:cNvSpPr>
              <a:spLocks noChangeArrowheads="1"/>
            </p:cNvSpPr>
            <p:nvPr/>
          </p:nvSpPr>
          <p:spPr bwMode="auto">
            <a:xfrm>
              <a:off x="4858" y="1965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8" name="Oval 84"/>
            <p:cNvSpPr>
              <a:spLocks noChangeArrowheads="1"/>
            </p:cNvSpPr>
            <p:nvPr/>
          </p:nvSpPr>
          <p:spPr bwMode="auto">
            <a:xfrm>
              <a:off x="5102" y="1952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9" name="Oval 85"/>
            <p:cNvSpPr>
              <a:spLocks noChangeArrowheads="1"/>
            </p:cNvSpPr>
            <p:nvPr/>
          </p:nvSpPr>
          <p:spPr bwMode="auto">
            <a:xfrm>
              <a:off x="3312" y="2352"/>
              <a:ext cx="98" cy="97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0" name="Oval 86"/>
            <p:cNvSpPr>
              <a:spLocks noChangeArrowheads="1"/>
            </p:cNvSpPr>
            <p:nvPr/>
          </p:nvSpPr>
          <p:spPr bwMode="auto">
            <a:xfrm>
              <a:off x="3312" y="2544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91" name="AutoShape 87"/>
          <p:cNvSpPr>
            <a:spLocks noChangeArrowheads="1"/>
          </p:cNvSpPr>
          <p:nvPr/>
        </p:nvSpPr>
        <p:spPr bwMode="auto">
          <a:xfrm>
            <a:off x="3419872" y="2060848"/>
            <a:ext cx="1583417" cy="445088"/>
          </a:xfrm>
          <a:prstGeom prst="wedgeRoundRectCallout">
            <a:avLst>
              <a:gd name="adj1" fmla="val 4543"/>
              <a:gd name="adj2" fmla="val 185506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00000"/>
                </a:solidFill>
                <a:ea typeface="长城楷体" pitchFamily="49" charset="-122"/>
              </a:rPr>
              <a:t>多子</a:t>
            </a:r>
            <a:r>
              <a:rPr lang="en-US" altLang="zh-CN" sz="2000" i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>
                <a:solidFill>
                  <a:srgbClr val="000000"/>
                </a:solidFill>
                <a:ea typeface="长城楷体" pitchFamily="49" charset="-122"/>
              </a:rPr>
              <a:t>空穴</a:t>
            </a:r>
          </a:p>
        </p:txBody>
      </p:sp>
      <p:sp>
        <p:nvSpPr>
          <p:cNvPr id="92" name="AutoShape 88"/>
          <p:cNvSpPr>
            <a:spLocks noChangeArrowheads="1"/>
          </p:cNvSpPr>
          <p:nvPr/>
        </p:nvSpPr>
        <p:spPr bwMode="auto">
          <a:xfrm>
            <a:off x="323528" y="2204864"/>
            <a:ext cx="1589856" cy="445088"/>
          </a:xfrm>
          <a:prstGeom prst="wedgeRoundRectCallout">
            <a:avLst>
              <a:gd name="adj1" fmla="val 23894"/>
              <a:gd name="adj2" fmla="val 273779"/>
              <a:gd name="adj3" fmla="val 16667"/>
            </a:avLst>
          </a:prstGeom>
          <a:solidFill>
            <a:srgbClr val="00FF00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少子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电子</a:t>
            </a:r>
          </a:p>
        </p:txBody>
      </p:sp>
      <p:sp>
        <p:nvSpPr>
          <p:cNvPr id="93" name="Text Box 89"/>
          <p:cNvSpPr txBox="1">
            <a:spLocks noChangeArrowheads="1"/>
          </p:cNvSpPr>
          <p:nvPr/>
        </p:nvSpPr>
        <p:spPr bwMode="auto">
          <a:xfrm>
            <a:off x="1259632" y="5733256"/>
            <a:ext cx="3733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</a:rPr>
              <a:t>少子浓度</a:t>
            </a:r>
            <a:r>
              <a:rPr lang="en-US" altLang="zh-CN" sz="2000" i="0" dirty="0">
                <a:solidFill>
                  <a:srgbClr val="000000"/>
                </a:solidFill>
              </a:rPr>
              <a:t>——</a:t>
            </a:r>
            <a:r>
              <a:rPr lang="zh-CN" altLang="en-US" sz="2000" i="0" dirty="0">
                <a:solidFill>
                  <a:srgbClr val="000000"/>
                </a:solidFill>
              </a:rPr>
              <a:t>与温度</a:t>
            </a:r>
            <a:r>
              <a:rPr lang="zh-CN" altLang="en-US" sz="2000" i="0" dirty="0">
                <a:solidFill>
                  <a:srgbClr val="FF0000"/>
                </a:solidFill>
              </a:rPr>
              <a:t>有关</a:t>
            </a:r>
          </a:p>
        </p:txBody>
      </p:sp>
      <p:sp>
        <p:nvSpPr>
          <p:cNvPr id="94" name="Text Box 90"/>
          <p:cNvSpPr txBox="1">
            <a:spLocks noChangeArrowheads="1"/>
          </p:cNvSpPr>
          <p:nvPr/>
        </p:nvSpPr>
        <p:spPr bwMode="auto">
          <a:xfrm>
            <a:off x="1259633" y="6165056"/>
            <a:ext cx="56166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</a:rPr>
              <a:t>多子浓度</a:t>
            </a:r>
            <a:r>
              <a:rPr lang="en-US" altLang="zh-CN" sz="2000" i="0" dirty="0">
                <a:solidFill>
                  <a:srgbClr val="000000"/>
                </a:solidFill>
              </a:rPr>
              <a:t>——</a:t>
            </a:r>
            <a:r>
              <a:rPr lang="zh-CN" altLang="en-US" sz="2000" i="0" dirty="0">
                <a:solidFill>
                  <a:srgbClr val="000000"/>
                </a:solidFill>
              </a:rPr>
              <a:t>与温度</a:t>
            </a:r>
            <a:r>
              <a:rPr lang="zh-CN" altLang="en-US" sz="2000" i="0" dirty="0">
                <a:solidFill>
                  <a:srgbClr val="FF0000"/>
                </a:solidFill>
              </a:rPr>
              <a:t>无关，</a:t>
            </a:r>
            <a:r>
              <a:rPr lang="zh-CN" altLang="en-US" sz="2000" i="0" dirty="0">
                <a:solidFill>
                  <a:srgbClr val="000000"/>
                </a:solidFill>
              </a:rPr>
              <a:t>取决于掺杂浓度</a:t>
            </a:r>
          </a:p>
        </p:txBody>
      </p:sp>
      <p:sp>
        <p:nvSpPr>
          <p:cNvPr id="9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5172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1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 autoUpdateAnimBg="0"/>
      <p:bldP spid="49" grpId="0" animBg="1" autoUpdateAnimBg="0"/>
      <p:bldP spid="91" grpId="0" animBg="1" autoUpdateAnimBg="0"/>
      <p:bldP spid="92" grpId="0" animBg="1" autoUpdateAnimBg="0"/>
      <p:bldP spid="93" grpId="0" autoUpdateAnimBg="0"/>
      <p:bldP spid="9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700808"/>
            <a:ext cx="3456384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93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492896"/>
            <a:ext cx="71532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203848" y="5445224"/>
            <a:ext cx="3262432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两种掺杂半导体的连结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850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861048"/>
            <a:ext cx="63627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539552" y="1412776"/>
            <a:ext cx="43208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2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结中的载流子运动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755576" y="1916832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2800" b="1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b="1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扩散运动</a:t>
            </a:r>
            <a:endParaRPr kumimoji="1" lang="zh-CN" altLang="en-US" sz="2400" b="1" dirty="0" smtClean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3014" name="Group 6"/>
          <p:cNvGrpSpPr/>
          <p:nvPr/>
        </p:nvGrpSpPr>
        <p:grpSpPr bwMode="auto">
          <a:xfrm>
            <a:off x="3563938" y="3284886"/>
            <a:ext cx="2171700" cy="461963"/>
            <a:chOff x="2616" y="873"/>
            <a:chExt cx="1368" cy="291"/>
          </a:xfrm>
        </p:grpSpPr>
        <p:sp>
          <p:nvSpPr>
            <p:cNvPr id="20506" name="Line 7"/>
            <p:cNvSpPr>
              <a:spLocks noChangeShapeType="1"/>
            </p:cNvSpPr>
            <p:nvPr/>
          </p:nvSpPr>
          <p:spPr bwMode="auto">
            <a:xfrm flipH="1">
              <a:off x="2616" y="1009"/>
              <a:ext cx="4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7" name="Text Box 8"/>
            <p:cNvSpPr txBox="1">
              <a:spLocks noChangeArrowheads="1"/>
            </p:cNvSpPr>
            <p:nvPr/>
          </p:nvSpPr>
          <p:spPr bwMode="auto">
            <a:xfrm>
              <a:off x="3108" y="873"/>
              <a:ext cx="8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b="0" i="0" dirty="0" smtClean="0">
                  <a:solidFill>
                    <a:srgbClr val="D60093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内电场</a:t>
              </a:r>
              <a:r>
                <a:rPr lang="en-US" altLang="zh-CN" b="0" i="0" dirty="0" smtClean="0">
                  <a:solidFill>
                    <a:srgbClr val="D60093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</a:t>
              </a:r>
              <a:endParaRPr lang="en-US" altLang="zh-CN" sz="2000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1042988" y="2348260"/>
            <a:ext cx="191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AFD85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多子浓度差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130300" y="2865785"/>
            <a:ext cx="238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形成内电场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2916238" y="234826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AFD85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多子的扩散</a:t>
            </a:r>
            <a:endParaRPr lang="zh-CN" altLang="en-US" b="0" i="0" dirty="0" smtClean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4932363" y="2348260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AFD85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形成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空间电荷区</a:t>
            </a:r>
            <a:r>
              <a:rPr lang="zh-CN" altLang="en-US" b="0" i="0" smtClean="0">
                <a:solidFill>
                  <a:srgbClr val="CC009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         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3187700" y="2835622"/>
            <a:ext cx="528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阻止多子扩散，促使少子漂移。</a:t>
            </a:r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>
            <a:off x="3491880" y="6381328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5652120" y="6165304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多子扩散电流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grpSp>
        <p:nvGrpSpPr>
          <p:cNvPr id="43025" name="Group 17"/>
          <p:cNvGrpSpPr/>
          <p:nvPr/>
        </p:nvGrpSpPr>
        <p:grpSpPr bwMode="auto">
          <a:xfrm>
            <a:off x="2966629" y="4238269"/>
            <a:ext cx="2973796" cy="1584325"/>
            <a:chOff x="5376" y="2304"/>
            <a:chExt cx="240" cy="864"/>
          </a:xfrm>
        </p:grpSpPr>
        <p:sp>
          <p:nvSpPr>
            <p:cNvPr id="20504" name="Line 18"/>
            <p:cNvSpPr>
              <a:spLocks noChangeShapeType="1"/>
            </p:cNvSpPr>
            <p:nvPr/>
          </p:nvSpPr>
          <p:spPr bwMode="auto">
            <a:xfrm>
              <a:off x="5376" y="230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5" name="Line 19"/>
            <p:cNvSpPr>
              <a:spLocks noChangeShapeType="1"/>
            </p:cNvSpPr>
            <p:nvPr/>
          </p:nvSpPr>
          <p:spPr bwMode="auto">
            <a:xfrm>
              <a:off x="5616" y="230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3779912" y="3789040"/>
            <a:ext cx="1454150" cy="396875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空间电荷区</a:t>
            </a:r>
          </a:p>
        </p:txBody>
      </p:sp>
      <p:pic>
        <p:nvPicPr>
          <p:cNvPr id="43034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495" y="4231335"/>
            <a:ext cx="254629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35" name="Picture 2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221088"/>
            <a:ext cx="216024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221088"/>
            <a:ext cx="288032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7" y="4238269"/>
            <a:ext cx="191627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5364088" y="1628800"/>
            <a:ext cx="3456384" cy="594938"/>
          </a:xfrm>
          <a:prstGeom prst="wedgeRectCallout">
            <a:avLst>
              <a:gd name="adj1" fmla="val -118583"/>
              <a:gd name="adj2" fmla="val 3517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扩散运动是粒子从浓度高的地方向浓度低的地方运动。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utoUpdateAnimBg="0"/>
      <p:bldP spid="43018" grpId="0" autoUpdateAnimBg="0"/>
      <p:bldP spid="43019" grpId="0" autoUpdateAnimBg="0"/>
      <p:bldP spid="43020" grpId="0" autoUpdateAnimBg="0"/>
      <p:bldP spid="43021" grpId="0" autoUpdateAnimBg="0"/>
      <p:bldP spid="43029" grpId="0" animBg="1"/>
      <p:bldP spid="43030" grpId="0" autoUpdateAnimBg="0"/>
      <p:bldP spid="430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852936"/>
            <a:ext cx="63627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457200" y="1679891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） 漂移运动</a:t>
            </a:r>
          </a:p>
        </p:txBody>
      </p:sp>
      <p:sp>
        <p:nvSpPr>
          <p:cNvPr id="44062" name="Line 30"/>
          <p:cNvSpPr>
            <a:spLocks noChangeShapeType="1"/>
          </p:cNvSpPr>
          <p:nvPr/>
        </p:nvSpPr>
        <p:spPr bwMode="auto">
          <a:xfrm flipH="1">
            <a:off x="3419872" y="5733256"/>
            <a:ext cx="2209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3" name="Rectangle 31"/>
          <p:cNvSpPr>
            <a:spLocks noChangeArrowheads="1"/>
          </p:cNvSpPr>
          <p:nvPr/>
        </p:nvSpPr>
        <p:spPr bwMode="auto">
          <a:xfrm>
            <a:off x="943372" y="5422106"/>
            <a:ext cx="2690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少子漂移电流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560841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60392" y="6237312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2655878" y="2827507"/>
            <a:ext cx="2973796" cy="2074159"/>
            <a:chOff x="2966629" y="3818285"/>
            <a:chExt cx="2973796" cy="2074159"/>
          </a:xfrm>
        </p:grpSpPr>
        <p:grpSp>
          <p:nvGrpSpPr>
            <p:cNvPr id="36" name="Group 17"/>
            <p:cNvGrpSpPr/>
            <p:nvPr/>
          </p:nvGrpSpPr>
          <p:grpSpPr bwMode="auto">
            <a:xfrm>
              <a:off x="2966629" y="4238269"/>
              <a:ext cx="2973796" cy="1584325"/>
              <a:chOff x="5376" y="2304"/>
              <a:chExt cx="240" cy="864"/>
            </a:xfrm>
          </p:grpSpPr>
          <p:sp>
            <p:nvSpPr>
              <p:cNvPr id="43" name="Line 18"/>
              <p:cNvSpPr>
                <a:spLocks noChangeShapeType="1"/>
              </p:cNvSpPr>
              <p:nvPr/>
            </p:nvSpPr>
            <p:spPr bwMode="auto">
              <a:xfrm>
                <a:off x="5376" y="2304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19"/>
              <p:cNvSpPr>
                <a:spLocks noChangeShapeType="1"/>
              </p:cNvSpPr>
              <p:nvPr/>
            </p:nvSpPr>
            <p:spPr bwMode="auto">
              <a:xfrm>
                <a:off x="5616" y="2304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3851275" y="3818285"/>
              <a:ext cx="1454150" cy="396875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CC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空间电荷区</a:t>
              </a:r>
            </a:p>
          </p:txBody>
        </p:sp>
        <p:pic>
          <p:nvPicPr>
            <p:cNvPr id="39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5495" y="4231335"/>
              <a:ext cx="254629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3800" y="4221510"/>
              <a:ext cx="288925" cy="1655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5961" y="4215160"/>
              <a:ext cx="256381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9133" y="4238269"/>
              <a:ext cx="276622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731568" y="2321849"/>
            <a:ext cx="139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内电场</a:t>
            </a:r>
            <a:r>
              <a:rPr lang="en-US" altLang="zh-CN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endParaRPr lang="en-US" altLang="zh-CN" sz="2000" b="0" i="0" dirty="0" smtClean="0">
              <a:solidFill>
                <a:srgbClr val="D60093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 flipH="1">
            <a:off x="3036369" y="2582908"/>
            <a:ext cx="781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矩形标注 20"/>
          <p:cNvSpPr/>
          <p:nvPr/>
        </p:nvSpPr>
        <p:spPr>
          <a:xfrm>
            <a:off x="4716016" y="1340768"/>
            <a:ext cx="3384376" cy="1008112"/>
          </a:xfrm>
          <a:prstGeom prst="wedgeRectCallout">
            <a:avLst>
              <a:gd name="adj1" fmla="val -115206"/>
              <a:gd name="adj2" fmla="val 4312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漂移运动是由于外场的加入（如电场）使粒子受力往特定方向运动。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5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2" grpId="0" animBg="1"/>
      <p:bldP spid="440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"/>
          <p:cNvGrpSpPr/>
          <p:nvPr/>
        </p:nvGrpSpPr>
        <p:grpSpPr bwMode="auto">
          <a:xfrm>
            <a:off x="467544" y="1916832"/>
            <a:ext cx="1219200" cy="473075"/>
            <a:chOff x="240" y="384"/>
            <a:chExt cx="768" cy="298"/>
          </a:xfrm>
        </p:grpSpPr>
        <p:sp>
          <p:nvSpPr>
            <p:cNvPr id="22566" name="Text Box 4"/>
            <p:cNvSpPr txBox="1">
              <a:spLocks noChangeArrowheads="1"/>
            </p:cNvSpPr>
            <p:nvPr/>
          </p:nvSpPr>
          <p:spPr bwMode="auto">
            <a:xfrm>
              <a:off x="240" y="432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dirty="0" smtClean="0">
                  <a:solidFill>
                    <a:srgbClr val="FF0000"/>
                  </a:solidFill>
                </a:rPr>
                <a:t>少子飘移</a:t>
              </a:r>
            </a:p>
          </p:txBody>
        </p:sp>
        <p:sp>
          <p:nvSpPr>
            <p:cNvPr id="22567" name="Line 5"/>
            <p:cNvSpPr>
              <a:spLocks noChangeShapeType="1"/>
            </p:cNvSpPr>
            <p:nvPr/>
          </p:nvSpPr>
          <p:spPr bwMode="auto">
            <a:xfrm flipV="1">
              <a:off x="1008" y="38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366" name="Group 6"/>
          <p:cNvGrpSpPr/>
          <p:nvPr/>
        </p:nvGrpSpPr>
        <p:grpSpPr bwMode="auto">
          <a:xfrm>
            <a:off x="2282057" y="1567582"/>
            <a:ext cx="5181600" cy="457200"/>
            <a:chOff x="1392" y="144"/>
            <a:chExt cx="3264" cy="288"/>
          </a:xfrm>
        </p:grpSpPr>
        <p:sp>
          <p:nvSpPr>
            <p:cNvPr id="22562" name="Text Box 7"/>
            <p:cNvSpPr txBox="1">
              <a:spLocks noChangeArrowheads="1"/>
            </p:cNvSpPr>
            <p:nvPr/>
          </p:nvSpPr>
          <p:spPr bwMode="auto">
            <a:xfrm>
              <a:off x="1392" y="144"/>
              <a:ext cx="3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smtClean="0">
                  <a:solidFill>
                    <a:srgbClr val="FF0000"/>
                  </a:solidFill>
                </a:rPr>
                <a:t>补充耗尽层失去的多子，耗尽层窄，</a:t>
              </a:r>
              <a:r>
                <a:rPr lang="en-US" altLang="zh-CN" sz="2000" i="0" smtClean="0">
                  <a:solidFill>
                    <a:srgbClr val="FF0000"/>
                  </a:solidFill>
                </a:rPr>
                <a:t>E</a:t>
              </a:r>
            </a:p>
          </p:txBody>
        </p:sp>
        <p:grpSp>
          <p:nvGrpSpPr>
            <p:cNvPr id="22563" name="Group 8"/>
            <p:cNvGrpSpPr/>
            <p:nvPr/>
          </p:nvGrpSpPr>
          <p:grpSpPr bwMode="auto">
            <a:xfrm>
              <a:off x="1392" y="192"/>
              <a:ext cx="2976" cy="240"/>
              <a:chOff x="1200" y="144"/>
              <a:chExt cx="2976" cy="240"/>
            </a:xfrm>
          </p:grpSpPr>
          <p:sp>
            <p:nvSpPr>
              <p:cNvPr id="22564" name="Line 9"/>
              <p:cNvSpPr>
                <a:spLocks noChangeShapeType="1"/>
              </p:cNvSpPr>
              <p:nvPr/>
            </p:nvSpPr>
            <p:spPr bwMode="auto">
              <a:xfrm>
                <a:off x="1200" y="384"/>
                <a:ext cx="29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5" name="Line 10"/>
              <p:cNvSpPr>
                <a:spLocks noChangeShapeType="1"/>
              </p:cNvSpPr>
              <p:nvPr/>
            </p:nvSpPr>
            <p:spPr bwMode="auto">
              <a:xfrm flipH="1">
                <a:off x="4032" y="144"/>
                <a:ext cx="0" cy="1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371" name="Group 11"/>
          <p:cNvGrpSpPr/>
          <p:nvPr/>
        </p:nvGrpSpPr>
        <p:grpSpPr bwMode="auto">
          <a:xfrm>
            <a:off x="7096944" y="1840632"/>
            <a:ext cx="1219200" cy="533400"/>
            <a:chOff x="240" y="384"/>
            <a:chExt cx="768" cy="288"/>
          </a:xfrm>
        </p:grpSpPr>
        <p:sp>
          <p:nvSpPr>
            <p:cNvPr id="22560" name="Text Box 12"/>
            <p:cNvSpPr txBox="1">
              <a:spLocks noChangeArrowheads="1"/>
            </p:cNvSpPr>
            <p:nvPr/>
          </p:nvSpPr>
          <p:spPr bwMode="auto">
            <a:xfrm>
              <a:off x="240" y="432"/>
              <a:ext cx="768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smtClean="0">
                  <a:solidFill>
                    <a:srgbClr val="FF0000"/>
                  </a:solidFill>
                </a:rPr>
                <a:t>多子扩散</a:t>
              </a:r>
            </a:p>
          </p:txBody>
        </p:sp>
        <p:sp>
          <p:nvSpPr>
            <p:cNvPr id="22561" name="Line 13"/>
            <p:cNvSpPr>
              <a:spLocks noChangeShapeType="1"/>
            </p:cNvSpPr>
            <p:nvPr/>
          </p:nvSpPr>
          <p:spPr bwMode="auto">
            <a:xfrm flipV="1">
              <a:off x="1008" y="38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374" name="Group 14"/>
          <p:cNvGrpSpPr/>
          <p:nvPr/>
        </p:nvGrpSpPr>
        <p:grpSpPr bwMode="auto">
          <a:xfrm>
            <a:off x="2355082" y="2359745"/>
            <a:ext cx="5181600" cy="549275"/>
            <a:chOff x="1392" y="672"/>
            <a:chExt cx="3264" cy="346"/>
          </a:xfrm>
        </p:grpSpPr>
        <p:sp>
          <p:nvSpPr>
            <p:cNvPr id="22557" name="Line 15"/>
            <p:cNvSpPr>
              <a:spLocks noChangeShapeType="1"/>
            </p:cNvSpPr>
            <p:nvPr/>
          </p:nvSpPr>
          <p:spPr bwMode="auto">
            <a:xfrm flipH="1">
              <a:off x="1392" y="672"/>
              <a:ext cx="292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8" name="Text Box 16"/>
            <p:cNvSpPr txBox="1">
              <a:spLocks noChangeArrowheads="1"/>
            </p:cNvSpPr>
            <p:nvPr/>
          </p:nvSpPr>
          <p:spPr bwMode="auto">
            <a:xfrm>
              <a:off x="1392" y="768"/>
              <a:ext cx="3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dirty="0" smtClean="0">
                  <a:solidFill>
                    <a:srgbClr val="FF0000"/>
                  </a:solidFill>
                </a:rPr>
                <a:t>           </a:t>
              </a:r>
              <a:r>
                <a:rPr lang="zh-CN" altLang="en-US" sz="2000" i="0" dirty="0" smtClean="0">
                  <a:solidFill>
                    <a:srgbClr val="FF0000"/>
                  </a:solidFill>
                </a:rPr>
                <a:t>又失去多子，耗尽层宽，</a:t>
              </a:r>
              <a:r>
                <a:rPr lang="en-US" altLang="zh-CN" sz="2000" i="0" dirty="0" smtClean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2559" name="Line 17"/>
            <p:cNvSpPr>
              <a:spLocks noChangeShapeType="1"/>
            </p:cNvSpPr>
            <p:nvPr/>
          </p:nvSpPr>
          <p:spPr bwMode="auto">
            <a:xfrm flipV="1">
              <a:off x="3936" y="7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4" name="Group 18"/>
          <p:cNvGrpSpPr/>
          <p:nvPr/>
        </p:nvGrpSpPr>
        <p:grpSpPr bwMode="auto">
          <a:xfrm>
            <a:off x="1258888" y="2996847"/>
            <a:ext cx="6913512" cy="2801844"/>
            <a:chOff x="576" y="1043"/>
            <a:chExt cx="4512" cy="2549"/>
          </a:xfrm>
        </p:grpSpPr>
        <p:grpSp>
          <p:nvGrpSpPr>
            <p:cNvPr id="22544" name="Group 19"/>
            <p:cNvGrpSpPr/>
            <p:nvPr/>
          </p:nvGrpSpPr>
          <p:grpSpPr bwMode="auto">
            <a:xfrm>
              <a:off x="576" y="1392"/>
              <a:ext cx="4512" cy="1882"/>
              <a:chOff x="528" y="1008"/>
              <a:chExt cx="4512" cy="1882"/>
            </a:xfrm>
          </p:grpSpPr>
          <p:pic>
            <p:nvPicPr>
              <p:cNvPr id="22553" name="Picture 2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1008"/>
                <a:ext cx="4512" cy="18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2554" name="Group 21"/>
              <p:cNvGrpSpPr/>
              <p:nvPr/>
            </p:nvGrpSpPr>
            <p:grpSpPr bwMode="auto">
              <a:xfrm>
                <a:off x="1776" y="1392"/>
                <a:ext cx="2016" cy="1440"/>
                <a:chOff x="5376" y="2304"/>
                <a:chExt cx="240" cy="864"/>
              </a:xfrm>
            </p:grpSpPr>
            <p:sp>
              <p:nvSpPr>
                <p:cNvPr id="22555" name="Line 22"/>
                <p:cNvSpPr>
                  <a:spLocks noChangeShapeType="1"/>
                </p:cNvSpPr>
                <p:nvPr/>
              </p:nvSpPr>
              <p:spPr bwMode="auto">
                <a:xfrm>
                  <a:off x="5376" y="2304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56" name="Line 23"/>
                <p:cNvSpPr>
                  <a:spLocks noChangeShapeType="1"/>
                </p:cNvSpPr>
                <p:nvPr/>
              </p:nvSpPr>
              <p:spPr bwMode="auto">
                <a:xfrm>
                  <a:off x="5616" y="2304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2545" name="Group 24"/>
            <p:cNvGrpSpPr/>
            <p:nvPr/>
          </p:nvGrpSpPr>
          <p:grpSpPr bwMode="auto">
            <a:xfrm>
              <a:off x="2268" y="1043"/>
              <a:ext cx="1615" cy="364"/>
              <a:chOff x="2649" y="719"/>
              <a:chExt cx="894" cy="364"/>
            </a:xfrm>
          </p:grpSpPr>
          <p:sp>
            <p:nvSpPr>
              <p:cNvPr id="22551" name="Line 25"/>
              <p:cNvSpPr>
                <a:spLocks noChangeShapeType="1"/>
              </p:cNvSpPr>
              <p:nvPr/>
            </p:nvSpPr>
            <p:spPr bwMode="auto">
              <a:xfrm flipH="1">
                <a:off x="2649" y="916"/>
                <a:ext cx="4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2" name="Text Box 26"/>
              <p:cNvSpPr txBox="1">
                <a:spLocks noChangeArrowheads="1"/>
              </p:cNvSpPr>
              <p:nvPr/>
            </p:nvSpPr>
            <p:spPr bwMode="auto">
              <a:xfrm>
                <a:off x="3117" y="719"/>
                <a:ext cx="426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0" i="0" dirty="0" smtClean="0">
                    <a:solidFill>
                      <a:srgbClr val="D60093"/>
                    </a:solidFill>
                    <a:ea typeface="黑体" panose="02010609060101010101" pitchFamily="49" charset="-122"/>
                  </a:rPr>
                  <a:t>内电场</a:t>
                </a:r>
                <a:r>
                  <a:rPr lang="en-US" altLang="zh-CN" sz="2000" b="0" i="0" dirty="0" smtClean="0">
                    <a:solidFill>
                      <a:srgbClr val="D60093"/>
                    </a:solidFill>
                    <a:ea typeface="黑体" panose="02010609060101010101" pitchFamily="49" charset="-122"/>
                  </a:rPr>
                  <a:t>E</a:t>
                </a:r>
              </a:p>
            </p:txBody>
          </p:sp>
        </p:grpSp>
        <p:sp>
          <p:nvSpPr>
            <p:cNvPr id="22546" name="Line 27"/>
            <p:cNvSpPr>
              <a:spLocks noChangeShapeType="1"/>
            </p:cNvSpPr>
            <p:nvPr/>
          </p:nvSpPr>
          <p:spPr bwMode="auto">
            <a:xfrm>
              <a:off x="2208" y="3360"/>
              <a:ext cx="144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7" name="Rectangle 28"/>
            <p:cNvSpPr>
              <a:spLocks noChangeArrowheads="1"/>
            </p:cNvSpPr>
            <p:nvPr/>
          </p:nvSpPr>
          <p:spPr bwMode="auto">
            <a:xfrm>
              <a:off x="3678" y="3270"/>
              <a:ext cx="1344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多子扩散电流</a:t>
              </a:r>
            </a:p>
          </p:txBody>
        </p:sp>
        <p:sp>
          <p:nvSpPr>
            <p:cNvPr id="22548" name="Line 29"/>
            <p:cNvSpPr>
              <a:spLocks noChangeShapeType="1"/>
            </p:cNvSpPr>
            <p:nvPr/>
          </p:nvSpPr>
          <p:spPr bwMode="auto">
            <a:xfrm flipH="1">
              <a:off x="2208" y="3552"/>
              <a:ext cx="1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30"/>
            <p:cNvSpPr>
              <a:spLocks noChangeArrowheads="1"/>
            </p:cNvSpPr>
            <p:nvPr/>
          </p:nvSpPr>
          <p:spPr bwMode="auto">
            <a:xfrm>
              <a:off x="858" y="3270"/>
              <a:ext cx="144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少子漂移电流</a:t>
              </a:r>
            </a:p>
          </p:txBody>
        </p:sp>
        <p:sp>
          <p:nvSpPr>
            <p:cNvPr id="22550" name="Rectangle 31"/>
            <p:cNvSpPr>
              <a:spLocks noChangeArrowheads="1"/>
            </p:cNvSpPr>
            <p:nvPr/>
          </p:nvSpPr>
          <p:spPr bwMode="auto">
            <a:xfrm>
              <a:off x="2482" y="1405"/>
              <a:ext cx="698" cy="324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耗尽层</a:t>
              </a:r>
            </a:p>
          </p:txBody>
        </p:sp>
      </p:grp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971600" y="6021288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CC"/>
                </a:solidFill>
              </a:rPr>
              <a:t>动态平衡：</a:t>
            </a:r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2190800" y="6021288"/>
            <a:ext cx="467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CC"/>
                </a:solidFill>
              </a:rPr>
              <a:t>扩散电流 ＝ 漂移电流</a:t>
            </a:r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6153200" y="602128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smtClean="0">
                <a:solidFill>
                  <a:srgbClr val="CC0099"/>
                </a:solidFill>
              </a:rPr>
              <a:t>总电流＝</a:t>
            </a:r>
            <a:r>
              <a:rPr lang="en-US" altLang="zh-CN" i="0" smtClean="0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2" grpId="0" autoUpdateAnimBg="0"/>
      <p:bldP spid="15393" grpId="0" autoUpdateAnimBg="0"/>
      <p:bldP spid="1539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468313" y="1237983"/>
            <a:ext cx="541020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0" dirty="0" smtClean="0">
                <a:solidFill>
                  <a:srgbClr val="0000CC"/>
                </a:solidFill>
                <a:latin typeface="+mn-ea"/>
                <a:ea typeface="+mn-ea"/>
              </a:rPr>
              <a:t>3.  PN</a:t>
            </a:r>
            <a:r>
              <a:rPr lang="zh-CN" altLang="en-US" sz="2800" i="0" dirty="0" smtClean="0">
                <a:solidFill>
                  <a:srgbClr val="0000CC"/>
                </a:solidFill>
                <a:latin typeface="+mn-ea"/>
                <a:ea typeface="+mn-ea"/>
              </a:rPr>
              <a:t>结的单向导电性</a:t>
            </a:r>
            <a:endParaRPr lang="zh-CN" altLang="en-US" sz="2800" b="0" i="0" dirty="0" smtClean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82588" y="1804055"/>
            <a:ext cx="8534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(1)  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加正向电压（正偏）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——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电源正极接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P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区，负极接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N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区 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43806" y="2321058"/>
            <a:ext cx="8153400" cy="79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prstClr val="blac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i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外电场的方向与内电场方向相反。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i="0" dirty="0" smtClean="0">
                <a:solidFill>
                  <a:srgbClr val="FF3300"/>
                </a:solidFill>
              </a:rPr>
              <a:t>  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外电场削弱内电场</a:t>
            </a:r>
            <a:endParaRPr lang="zh-CN" altLang="en-US" sz="2000" i="0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049588" y="2706792"/>
            <a:ext cx="25146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smtClean="0">
                <a:solidFill>
                  <a:srgbClr val="FF3300"/>
                </a:solidFill>
              </a:rPr>
              <a:t>→</a:t>
            </a:r>
            <a:r>
              <a:rPr lang="zh-CN" altLang="en-US" sz="2000" i="0" smtClean="0">
                <a:solidFill>
                  <a:srgbClr val="0000FF"/>
                </a:solidFill>
              </a:rPr>
              <a:t>耗尽层变窄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5030788" y="2722533"/>
            <a:ext cx="3886200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smtClean="0">
                <a:solidFill>
                  <a:srgbClr val="FF3300"/>
                </a:solidFill>
              </a:rPr>
              <a:t>→</a:t>
            </a:r>
            <a:r>
              <a:rPr lang="zh-CN" altLang="en-US" sz="2000" i="0" smtClean="0">
                <a:solidFill>
                  <a:srgbClr val="0000FF"/>
                </a:solidFill>
              </a:rPr>
              <a:t>扩散运动＞漂移运动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11560" y="3068960"/>
            <a:ext cx="44958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CC"/>
                </a:solidFill>
              </a:rPr>
              <a:t>多子</a:t>
            </a:r>
            <a:r>
              <a:rPr lang="zh-CN" altLang="en-US" sz="2000" i="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扩散</a:t>
            </a:r>
            <a:r>
              <a:rPr lang="zh-CN" altLang="en-US" sz="2000" i="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形成正向电流</a:t>
            </a:r>
            <a:r>
              <a:rPr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000" i="0" baseline="-30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 F</a:t>
            </a:r>
            <a:endParaRPr lang="en-US" altLang="zh-CN" sz="2000" i="0" dirty="0" smtClean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33856"/>
            <a:ext cx="6264696" cy="304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93" name="Group 9"/>
          <p:cNvGrpSpPr/>
          <p:nvPr/>
        </p:nvGrpSpPr>
        <p:grpSpPr bwMode="auto">
          <a:xfrm>
            <a:off x="3058394" y="4724400"/>
            <a:ext cx="3657600" cy="571500"/>
            <a:chOff x="-336" y="408"/>
            <a:chExt cx="4032" cy="432"/>
          </a:xfrm>
        </p:grpSpPr>
        <p:sp>
          <p:nvSpPr>
            <p:cNvPr id="23568" name="AutoShape 10"/>
            <p:cNvSpPr>
              <a:spLocks noChangeArrowheads="1"/>
            </p:cNvSpPr>
            <p:nvPr/>
          </p:nvSpPr>
          <p:spPr bwMode="auto">
            <a:xfrm>
              <a:off x="-336" y="408"/>
              <a:ext cx="4032" cy="432"/>
            </a:xfrm>
            <a:prstGeom prst="rightArrow">
              <a:avLst>
                <a:gd name="adj1" fmla="val 50000"/>
                <a:gd name="adj2" fmla="val 233333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69" name="Text Box 11"/>
            <p:cNvSpPr txBox="1">
              <a:spLocks noChangeArrowheads="1"/>
            </p:cNvSpPr>
            <p:nvPr/>
          </p:nvSpPr>
          <p:spPr bwMode="auto">
            <a:xfrm>
              <a:off x="914" y="480"/>
              <a:ext cx="1065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400" i="0" smtClean="0">
                  <a:solidFill>
                    <a:srgbClr val="CC3300"/>
                  </a:solidFill>
                  <a:ea typeface="楷体_GB2312" pitchFamily="49" charset="-122"/>
                  <a:sym typeface="Symbol" panose="05050102010706020507" pitchFamily="18" charset="2"/>
                </a:rPr>
                <a:t>正向电流</a:t>
              </a:r>
              <a:endParaRPr lang="zh-CN" altLang="en-US" sz="1800" i="0" smtClean="0">
                <a:solidFill>
                  <a:srgbClr val="CC3300"/>
                </a:solidFill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8" grpId="0" autoUpdateAnimBg="0"/>
      <p:bldP spid="16389" grpId="0" autoUpdateAnimBg="0"/>
      <p:bldP spid="16390" grpId="0" autoUpdateAnimBg="0"/>
      <p:bldP spid="1639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95288" y="1275878"/>
            <a:ext cx="79248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(2)  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加反向电压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——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电源正极接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N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区，负极接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P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区 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10216" y="1812154"/>
            <a:ext cx="8153400" cy="79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prstClr val="blac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i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外电场的方向与内电场方向相同。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i="0" dirty="0" smtClean="0">
                <a:solidFill>
                  <a:srgbClr val="FF3300"/>
                </a:solidFill>
              </a:rPr>
              <a:t>  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外电场加强内电场</a:t>
            </a:r>
            <a:endParaRPr lang="zh-CN" altLang="en-US" sz="2000" i="0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59832" y="2168860"/>
            <a:ext cx="19050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耗尽层变宽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932040" y="2164924"/>
            <a:ext cx="288032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漂移运动＞扩散运动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11560" y="2564904"/>
            <a:ext cx="4572000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少子漂移形成反向电流</a:t>
            </a:r>
            <a:r>
              <a:rPr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000" i="0" baseline="-30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 R</a:t>
            </a:r>
          </a:p>
        </p:txBody>
      </p:sp>
      <p:grpSp>
        <p:nvGrpSpPr>
          <p:cNvPr id="24583" name="Group 7"/>
          <p:cNvGrpSpPr/>
          <p:nvPr/>
        </p:nvGrpSpPr>
        <p:grpSpPr bwMode="auto">
          <a:xfrm>
            <a:off x="1763713" y="3120404"/>
            <a:ext cx="6705600" cy="3836988"/>
            <a:chOff x="1248" y="1728"/>
            <a:chExt cx="4224" cy="2417"/>
          </a:xfrm>
        </p:grpSpPr>
        <p:pic>
          <p:nvPicPr>
            <p:cNvPr id="24592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728"/>
              <a:ext cx="4224" cy="2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593" name="Text Box 9"/>
            <p:cNvSpPr txBox="1">
              <a:spLocks noChangeArrowheads="1"/>
            </p:cNvSpPr>
            <p:nvPr/>
          </p:nvSpPr>
          <p:spPr bwMode="auto">
            <a:xfrm>
              <a:off x="1776" y="177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smtClean="0">
                  <a:solidFill>
                    <a:prstClr val="black"/>
                  </a:solidFill>
                </a:rPr>
                <a:t>P</a:t>
              </a:r>
            </a:p>
          </p:txBody>
        </p:sp>
        <p:sp>
          <p:nvSpPr>
            <p:cNvPr id="24594" name="Text Box 10"/>
            <p:cNvSpPr txBox="1">
              <a:spLocks noChangeArrowheads="1"/>
            </p:cNvSpPr>
            <p:nvPr/>
          </p:nvSpPr>
          <p:spPr bwMode="auto">
            <a:xfrm>
              <a:off x="4608" y="177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smtClean="0">
                  <a:solidFill>
                    <a:prstClr val="black"/>
                  </a:solidFill>
                </a:rPr>
                <a:t>N</a:t>
              </a:r>
            </a:p>
          </p:txBody>
        </p:sp>
      </p:grpSp>
      <p:sp>
        <p:nvSpPr>
          <p:cNvPr id="17419" name="AutoShape 11"/>
          <p:cNvSpPr>
            <a:spLocks noChangeArrowheads="1"/>
          </p:cNvSpPr>
          <p:nvPr/>
        </p:nvSpPr>
        <p:spPr bwMode="auto">
          <a:xfrm>
            <a:off x="4419600" y="4581128"/>
            <a:ext cx="2816696" cy="216024"/>
          </a:xfrm>
          <a:prstGeom prst="leftArrow">
            <a:avLst>
              <a:gd name="adj1" fmla="val 50000"/>
              <a:gd name="adj2" fmla="val 9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410216" y="3561380"/>
            <a:ext cx="2721624" cy="24622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b="0" i="0" dirty="0" smtClean="0">
                <a:solidFill>
                  <a:srgbClr val="000000"/>
                </a:solidFill>
              </a:rPr>
              <a:t>      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在一定的温度下，由本征激发产生的少子浓度是一定的，故</a:t>
            </a:r>
            <a:r>
              <a:rPr lang="en-US" altLang="zh-CN" sz="2200" dirty="0" smtClean="0">
                <a:solidFill>
                  <a:srgbClr val="000000"/>
                </a:solidFill>
              </a:rPr>
              <a:t>I</a:t>
            </a:r>
            <a:r>
              <a:rPr lang="en-US" altLang="zh-CN" sz="2200" i="0" baseline="-25000" dirty="0" smtClean="0">
                <a:solidFill>
                  <a:srgbClr val="000000"/>
                </a:solidFill>
              </a:rPr>
              <a:t>R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基本上与外加反压的大小无关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，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所以称为</a:t>
            </a:r>
            <a:r>
              <a:rPr lang="zh-CN" altLang="en-US" sz="2200" i="0" dirty="0" smtClean="0">
                <a:solidFill>
                  <a:srgbClr val="FF0000"/>
                </a:solidFill>
              </a:rPr>
              <a:t>反向饱和电流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。但</a:t>
            </a:r>
            <a:r>
              <a:rPr lang="en-US" altLang="zh-CN" sz="2200" dirty="0" smtClean="0">
                <a:solidFill>
                  <a:srgbClr val="663300"/>
                </a:solidFill>
              </a:rPr>
              <a:t>I</a:t>
            </a:r>
            <a:r>
              <a:rPr lang="en-US" altLang="zh-CN" sz="2200" i="0" baseline="-25000" dirty="0" smtClean="0">
                <a:solidFill>
                  <a:srgbClr val="663300"/>
                </a:solidFill>
              </a:rPr>
              <a:t>R</a:t>
            </a:r>
            <a:r>
              <a:rPr lang="zh-CN" altLang="en-US" sz="2200" i="0" dirty="0" smtClean="0">
                <a:solidFill>
                  <a:srgbClr val="663300"/>
                </a:solidFill>
              </a:rPr>
              <a:t>与温度有关。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    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 autoUpdateAnimBg="0"/>
      <p:bldP spid="17412" grpId="0" autoUpdateAnimBg="0"/>
      <p:bldP spid="17413" grpId="0" autoUpdateAnimBg="0"/>
      <p:bldP spid="17414" grpId="0" autoUpdateAnimBg="0"/>
      <p:bldP spid="17419" grpId="0" animBg="1"/>
      <p:bldP spid="1742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PN</a:t>
            </a:r>
            <a:r>
              <a:rPr lang="zh-CN" altLang="en-US" sz="2800" dirty="0"/>
              <a:t>结及其单向</a:t>
            </a:r>
            <a:r>
              <a:rPr lang="zh-CN" altLang="en-US" sz="2800" dirty="0" smtClean="0"/>
              <a:t>导电性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PN</a:t>
            </a:r>
            <a:r>
              <a:rPr lang="zh-CN" altLang="en-US" sz="2400" dirty="0"/>
              <a:t>结加</a:t>
            </a:r>
            <a:r>
              <a:rPr lang="zh-CN" altLang="en-US" sz="2400" dirty="0">
                <a:solidFill>
                  <a:srgbClr val="0000CC"/>
                </a:solidFill>
              </a:rPr>
              <a:t>正向电压</a:t>
            </a:r>
            <a:r>
              <a:rPr lang="zh-CN" altLang="en-US" sz="2400" dirty="0"/>
              <a:t>时，具有较大的正向扩散电流，</a:t>
            </a:r>
            <a:r>
              <a:rPr lang="zh-CN" altLang="en-US" sz="2400" dirty="0">
                <a:solidFill>
                  <a:srgbClr val="FF0000"/>
                </a:solidFill>
              </a:rPr>
              <a:t>呈现低电阻</a:t>
            </a:r>
            <a:r>
              <a:rPr lang="zh-CN" altLang="en-US" sz="2400" dirty="0"/>
              <a:t>， </a:t>
            </a:r>
            <a:r>
              <a:rPr lang="en-US" altLang="zh-CN" sz="2400" dirty="0">
                <a:solidFill>
                  <a:srgbClr val="0000CC"/>
                </a:solidFill>
              </a:rPr>
              <a:t>PN</a:t>
            </a:r>
            <a:r>
              <a:rPr lang="zh-CN" altLang="en-US" sz="2400" dirty="0">
                <a:solidFill>
                  <a:srgbClr val="0000CC"/>
                </a:solidFill>
              </a:rPr>
              <a:t>结导通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 </a:t>
            </a:r>
            <a:r>
              <a:rPr lang="en-US" altLang="zh-CN" sz="2400" dirty="0"/>
              <a:t>PN</a:t>
            </a:r>
            <a:r>
              <a:rPr lang="zh-CN" altLang="en-US" sz="2400" dirty="0"/>
              <a:t>结加</a:t>
            </a:r>
            <a:r>
              <a:rPr lang="zh-CN" altLang="en-US" sz="2400" dirty="0">
                <a:solidFill>
                  <a:srgbClr val="0000CC"/>
                </a:solidFill>
              </a:rPr>
              <a:t>反向电压</a:t>
            </a:r>
            <a:r>
              <a:rPr lang="zh-CN" altLang="en-US" sz="2400" dirty="0"/>
              <a:t>时，具有很小的反向漂移电流，</a:t>
            </a:r>
            <a:r>
              <a:rPr lang="zh-CN" altLang="en-US" sz="2400" dirty="0">
                <a:solidFill>
                  <a:srgbClr val="FF0000"/>
                </a:solidFill>
              </a:rPr>
              <a:t>呈现高电阻</a:t>
            </a:r>
            <a:r>
              <a:rPr lang="zh-CN" altLang="en-US" sz="2400" dirty="0"/>
              <a:t>， </a:t>
            </a:r>
            <a:r>
              <a:rPr lang="en-US" altLang="zh-CN" sz="2400" dirty="0">
                <a:solidFill>
                  <a:srgbClr val="0000CC"/>
                </a:solidFill>
              </a:rPr>
              <a:t>PN</a:t>
            </a:r>
            <a:r>
              <a:rPr lang="zh-CN" altLang="en-US" sz="2400" dirty="0">
                <a:solidFill>
                  <a:srgbClr val="0000CC"/>
                </a:solidFill>
              </a:rPr>
              <a:t>结截止</a:t>
            </a:r>
            <a:r>
              <a:rPr lang="zh-CN" altLang="en-US" sz="2400" dirty="0"/>
              <a:t>。 </a:t>
            </a:r>
            <a:endParaRPr lang="en-US" altLang="zh-CN" sz="24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PN</a:t>
            </a:r>
            <a:r>
              <a:rPr lang="zh-CN" altLang="en-US" sz="2800" dirty="0"/>
              <a:t>结具有单向导电性。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一、半导体二极管的开关特性</a:t>
            </a:r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</a:t>
            </a:r>
            <a:r>
              <a:rPr lang="zh-CN" altLang="en-US" dirty="0" smtClean="0"/>
              <a:t>特性</a:t>
            </a:r>
            <a:r>
              <a:rPr lang="en-US" altLang="zh-CN" dirty="0" smtClean="0"/>
              <a:t>--</a:t>
            </a:r>
            <a:r>
              <a:rPr lang="zh-CN" altLang="en-US" dirty="0" smtClean="0"/>
              <a:t>二极管</a:t>
            </a:r>
            <a:endParaRPr lang="zh-CN" altLang="en-US" dirty="0"/>
          </a:p>
        </p:txBody>
      </p:sp>
      <p:sp>
        <p:nvSpPr>
          <p:cNvPr id="181263" name="Text Box 15"/>
          <p:cNvSpPr txBox="1">
            <a:spLocks noChangeArrowheads="1"/>
          </p:cNvSpPr>
          <p:nvPr/>
        </p:nvSpPr>
        <p:spPr bwMode="auto">
          <a:xfrm>
            <a:off x="899592" y="6021288"/>
            <a:ext cx="7345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二极管开关电路结构及电路示意 </a:t>
            </a:r>
          </a:p>
        </p:txBody>
      </p:sp>
      <p:sp>
        <p:nvSpPr>
          <p:cNvPr id="181264" name="AutoShape 16"/>
          <p:cNvSpPr/>
          <p:nvPr/>
        </p:nvSpPr>
        <p:spPr bwMode="auto">
          <a:xfrm>
            <a:off x="3923928" y="4725144"/>
            <a:ext cx="2376264" cy="1224136"/>
          </a:xfrm>
          <a:prstGeom prst="borderCallout2">
            <a:avLst>
              <a:gd name="adj1" fmla="val 96795"/>
              <a:gd name="adj2" fmla="val 11328"/>
              <a:gd name="adj3" fmla="val 135167"/>
              <a:gd name="adj4" fmla="val 16681"/>
              <a:gd name="adj5" fmla="val 138816"/>
              <a:gd name="adj6" fmla="val 17127"/>
            </a:avLst>
          </a:prstGeom>
          <a:solidFill>
            <a:srgbClr val="FFFF99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导通压降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ON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硅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0.6~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0.7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锗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0.2~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0.3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</a:p>
        </p:txBody>
      </p:sp>
      <p:graphicFrame>
        <p:nvGraphicFramePr>
          <p:cNvPr id="181266" name="Object 18"/>
          <p:cNvGraphicFramePr>
            <a:graphicFrameLocks noChangeAspect="1"/>
          </p:cNvGraphicFramePr>
          <p:nvPr/>
        </p:nvGraphicFramePr>
        <p:xfrm>
          <a:off x="827584" y="4149080"/>
          <a:ext cx="2807989" cy="1854659"/>
        </p:xfrm>
        <a:graphic>
          <a:graphicData uri="http://schemas.openxmlformats.org/presentationml/2006/ole">
            <p:oleObj spid="_x0000_s28363" name="Visio" r:id="rId3" imgW="2467661" imgH="2997472" progId="">
              <p:embed/>
            </p:oleObj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365" name="Picture 7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132856"/>
            <a:ext cx="3240360" cy="180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364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2120" y="1412776"/>
            <a:ext cx="337503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828092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fontAlgn="base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二极管开关电路分析：</a:t>
            </a:r>
            <a:r>
              <a:rPr kumimoji="1" lang="zh-CN" altLang="en-US" sz="2800" b="1" dirty="0" smtClean="0">
                <a:latin typeface="+mn-ea"/>
              </a:rPr>
              <a:t>半导体二极管具有单向导电性，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外加正向电压</a:t>
            </a:r>
            <a:r>
              <a:rPr kumimoji="1" lang="zh-CN" altLang="en-US" sz="2800" b="1" dirty="0" smtClean="0">
                <a:latin typeface="+mn-ea"/>
              </a:rPr>
              <a:t>时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导通</a:t>
            </a:r>
            <a:r>
              <a:rPr kumimoji="1" lang="zh-CN" altLang="en-US" sz="2800" b="1" dirty="0" smtClean="0">
                <a:latin typeface="+mn-ea"/>
              </a:rPr>
              <a:t>，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外加反向电压</a:t>
            </a:r>
            <a:r>
              <a:rPr kumimoji="1" lang="zh-CN" altLang="en-US" sz="2800" b="1" dirty="0" smtClean="0">
                <a:latin typeface="+mn-ea"/>
              </a:rPr>
              <a:t>时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截止</a:t>
            </a:r>
            <a:r>
              <a:rPr kumimoji="1" lang="zh-CN" altLang="en-US" sz="2800" b="1" dirty="0" smtClean="0">
                <a:latin typeface="+mn-ea"/>
              </a:rPr>
              <a:t>，因此二极管可以近似看成一个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受外加电压控制的开关</a:t>
            </a:r>
            <a:r>
              <a:rPr kumimoji="1" lang="zh-CN" altLang="en-US" sz="2800" b="1" dirty="0" smtClean="0">
                <a:latin typeface="+mn-ea"/>
              </a:rPr>
              <a:t>。</a:t>
            </a:r>
            <a:endParaRPr kumimoji="1" lang="en-US" altLang="zh-CN" sz="2800" b="1" dirty="0" smtClean="0">
              <a:latin typeface="+mn-ea"/>
            </a:endParaRPr>
          </a:p>
          <a:p>
            <a:pPr marL="914400" lvl="1" indent="-457200" fontAlgn="base"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latin typeface="+mn-ea"/>
              </a:rPr>
              <a:t>电源电压</a:t>
            </a:r>
            <a:r>
              <a:rPr kumimoji="1" lang="en-US" altLang="zh-CN" sz="2400" b="1" dirty="0" smtClean="0">
                <a:latin typeface="+mn-ea"/>
              </a:rPr>
              <a:t>V</a:t>
            </a:r>
            <a:r>
              <a:rPr kumimoji="1" lang="en-US" altLang="zh-CN" sz="2400" b="1" baseline="-25000" dirty="0" smtClean="0">
                <a:latin typeface="+mn-ea"/>
              </a:rPr>
              <a:t>CC</a:t>
            </a:r>
            <a:r>
              <a:rPr kumimoji="1" lang="en-US" altLang="zh-CN" sz="2400" b="1" dirty="0" smtClean="0">
                <a:latin typeface="+mn-ea"/>
              </a:rPr>
              <a:t>= 5V</a:t>
            </a:r>
            <a:r>
              <a:rPr kumimoji="1" lang="zh-CN" altLang="en-US" sz="2400" b="1" dirty="0" smtClean="0">
                <a:latin typeface="+mn-ea"/>
              </a:rPr>
              <a:t>，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</a:t>
            </a:r>
            <a:r>
              <a:rPr kumimoji="1" lang="zh-CN" altLang="en-US" sz="2400" b="1" dirty="0" smtClean="0">
                <a:latin typeface="+mn-ea"/>
              </a:rPr>
              <a:t>为输入信号，其高单平 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IH</a:t>
            </a:r>
            <a:r>
              <a:rPr kumimoji="1" lang="en-US" altLang="zh-CN" sz="2400" b="1" dirty="0" smtClean="0">
                <a:latin typeface="+mn-ea"/>
              </a:rPr>
              <a:t>=5V</a:t>
            </a:r>
            <a:r>
              <a:rPr kumimoji="1" lang="zh-CN" altLang="en-US" sz="2400" b="1" dirty="0" smtClean="0">
                <a:latin typeface="+mn-ea"/>
              </a:rPr>
              <a:t>，低电平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IL</a:t>
            </a:r>
            <a:r>
              <a:rPr kumimoji="1" lang="en-US" altLang="zh-CN" sz="2400" b="1" dirty="0" smtClean="0">
                <a:latin typeface="+mn-ea"/>
              </a:rPr>
              <a:t>=0.3V</a:t>
            </a:r>
            <a:r>
              <a:rPr kumimoji="1" lang="zh-CN" altLang="en-US" sz="2400" b="1" dirty="0" smtClean="0">
                <a:latin typeface="+mn-ea"/>
              </a:rPr>
              <a:t>。输出信号记为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O</a:t>
            </a:r>
            <a:r>
              <a:rPr kumimoji="1" lang="zh-CN" altLang="en-US" sz="2400" b="1" dirty="0" smtClean="0">
                <a:latin typeface="+mn-ea"/>
              </a:rPr>
              <a:t>。</a:t>
            </a:r>
          </a:p>
        </p:txBody>
      </p:sp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1979712" y="6309320"/>
            <a:ext cx="1584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(a)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电路图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5076056" y="6309320"/>
            <a:ext cx="151216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(b)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波形图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二极管</a:t>
            </a:r>
            <a:endParaRPr lang="zh-CN" altLang="en-US" sz="3200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60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4293096"/>
            <a:ext cx="2775792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0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4221088"/>
            <a:ext cx="1733351" cy="2118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8" name="Group 4"/>
          <p:cNvGrpSpPr/>
          <p:nvPr/>
        </p:nvGrpSpPr>
        <p:grpSpPr bwMode="auto">
          <a:xfrm>
            <a:off x="1619250" y="2713434"/>
            <a:ext cx="2125663" cy="3571875"/>
            <a:chOff x="971" y="1385"/>
            <a:chExt cx="1339" cy="2250"/>
          </a:xfrm>
        </p:grpSpPr>
        <p:sp>
          <p:nvSpPr>
            <p:cNvPr id="50228" name="Rectangle 5"/>
            <p:cNvSpPr>
              <a:spLocks noChangeArrowheads="1"/>
            </p:cNvSpPr>
            <p:nvPr/>
          </p:nvSpPr>
          <p:spPr bwMode="auto">
            <a:xfrm rot="5400000" flipH="1">
              <a:off x="1638" y="2490"/>
              <a:ext cx="501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9" name="Rectangle 6"/>
            <p:cNvSpPr>
              <a:spLocks noChangeArrowheads="1"/>
            </p:cNvSpPr>
            <p:nvPr/>
          </p:nvSpPr>
          <p:spPr bwMode="auto">
            <a:xfrm rot="5400000" flipH="1">
              <a:off x="1644" y="1671"/>
              <a:ext cx="489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30" name="Rectangle 7"/>
            <p:cNvSpPr>
              <a:spLocks noChangeArrowheads="1"/>
            </p:cNvSpPr>
            <p:nvPr/>
          </p:nvSpPr>
          <p:spPr bwMode="auto">
            <a:xfrm rot="5400000" flipH="1">
              <a:off x="1728" y="2078"/>
              <a:ext cx="324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231" name="Group 8"/>
            <p:cNvGrpSpPr/>
            <p:nvPr/>
          </p:nvGrpSpPr>
          <p:grpSpPr bwMode="auto">
            <a:xfrm>
              <a:off x="1859" y="3173"/>
              <a:ext cx="84" cy="462"/>
              <a:chOff x="3467" y="3509"/>
              <a:chExt cx="84" cy="462"/>
            </a:xfrm>
          </p:grpSpPr>
          <p:sp>
            <p:nvSpPr>
              <p:cNvPr id="50237" name="Line 9"/>
              <p:cNvSpPr>
                <a:spLocks noChangeShapeType="1"/>
              </p:cNvSpPr>
              <p:nvPr/>
            </p:nvSpPr>
            <p:spPr bwMode="auto">
              <a:xfrm rot="5400000" flipH="1">
                <a:off x="3314" y="370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38" name="Oval 10"/>
              <p:cNvSpPr>
                <a:spLocks noChangeArrowheads="1"/>
              </p:cNvSpPr>
              <p:nvPr/>
            </p:nvSpPr>
            <p:spPr bwMode="auto">
              <a:xfrm rot="5400000" flipH="1">
                <a:off x="3473" y="3893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232" name="Group 11"/>
            <p:cNvGrpSpPr/>
            <p:nvPr/>
          </p:nvGrpSpPr>
          <p:grpSpPr bwMode="auto">
            <a:xfrm>
              <a:off x="1853" y="1385"/>
              <a:ext cx="84" cy="462"/>
              <a:chOff x="3473" y="1277"/>
              <a:chExt cx="84" cy="462"/>
            </a:xfrm>
          </p:grpSpPr>
          <p:sp>
            <p:nvSpPr>
              <p:cNvPr id="50235" name="Line 12"/>
              <p:cNvSpPr>
                <a:spLocks noChangeShapeType="1"/>
              </p:cNvSpPr>
              <p:nvPr/>
            </p:nvSpPr>
            <p:spPr bwMode="auto">
              <a:xfrm rot="5400000" flipH="1">
                <a:off x="3314" y="154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36" name="Oval 13"/>
              <p:cNvSpPr>
                <a:spLocks noChangeArrowheads="1"/>
              </p:cNvSpPr>
              <p:nvPr/>
            </p:nvSpPr>
            <p:spPr bwMode="auto">
              <a:xfrm rot="5400000" flipH="1">
                <a:off x="3479" y="127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233" name="Line 14"/>
            <p:cNvSpPr>
              <a:spLocks noChangeShapeType="1"/>
            </p:cNvSpPr>
            <p:nvPr/>
          </p:nvSpPr>
          <p:spPr bwMode="auto">
            <a:xfrm rot="5400000" flipH="1">
              <a:off x="1259" y="2321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34" name="Oval 15"/>
            <p:cNvSpPr>
              <a:spLocks noChangeArrowheads="1"/>
            </p:cNvSpPr>
            <p:nvPr/>
          </p:nvSpPr>
          <p:spPr bwMode="auto">
            <a:xfrm rot="5400000" flipH="1">
              <a:off x="977" y="2495"/>
              <a:ext cx="72" cy="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680" name="Group 16"/>
          <p:cNvGrpSpPr/>
          <p:nvPr/>
        </p:nvGrpSpPr>
        <p:grpSpPr bwMode="auto">
          <a:xfrm>
            <a:off x="1187450" y="2564209"/>
            <a:ext cx="1755775" cy="3705226"/>
            <a:chOff x="699" y="1295"/>
            <a:chExt cx="1106" cy="2334"/>
          </a:xfrm>
        </p:grpSpPr>
        <p:sp>
          <p:nvSpPr>
            <p:cNvPr id="50225" name="Text Box 17"/>
            <p:cNvSpPr txBox="1">
              <a:spLocks noChangeArrowheads="1"/>
            </p:cNvSpPr>
            <p:nvPr/>
          </p:nvSpPr>
          <p:spPr bwMode="auto">
            <a:xfrm>
              <a:off x="699" y="2384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6" name="Text Box 18"/>
            <p:cNvSpPr txBox="1">
              <a:spLocks noChangeArrowheads="1"/>
            </p:cNvSpPr>
            <p:nvPr/>
          </p:nvSpPr>
          <p:spPr bwMode="auto">
            <a:xfrm>
              <a:off x="1561" y="3337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7" name="Text Box 19"/>
            <p:cNvSpPr txBox="1">
              <a:spLocks noChangeArrowheads="1"/>
            </p:cNvSpPr>
            <p:nvPr/>
          </p:nvSpPr>
          <p:spPr bwMode="auto">
            <a:xfrm>
              <a:off x="1561" y="1295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13684" name="Group 20"/>
          <p:cNvGrpSpPr/>
          <p:nvPr/>
        </p:nvGrpSpPr>
        <p:grpSpPr bwMode="auto">
          <a:xfrm>
            <a:off x="2771775" y="3577034"/>
            <a:ext cx="512763" cy="1798638"/>
            <a:chOff x="1693" y="1930"/>
            <a:chExt cx="323" cy="1133"/>
          </a:xfrm>
        </p:grpSpPr>
        <p:sp>
          <p:nvSpPr>
            <p:cNvPr id="50222" name="Text Box 21"/>
            <p:cNvSpPr txBox="1">
              <a:spLocks noChangeArrowheads="1"/>
            </p:cNvSpPr>
            <p:nvPr/>
          </p:nvSpPr>
          <p:spPr bwMode="auto">
            <a:xfrm>
              <a:off x="1693" y="1930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3" name="Text Box 22"/>
            <p:cNvSpPr txBox="1">
              <a:spLocks noChangeArrowheads="1"/>
            </p:cNvSpPr>
            <p:nvPr/>
          </p:nvSpPr>
          <p:spPr bwMode="auto">
            <a:xfrm>
              <a:off x="1705" y="2698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4" name="Text Box 23"/>
            <p:cNvSpPr txBox="1">
              <a:spLocks noChangeArrowheads="1"/>
            </p:cNvSpPr>
            <p:nvPr/>
          </p:nvSpPr>
          <p:spPr bwMode="auto">
            <a:xfrm>
              <a:off x="1717" y="2314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P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827584" y="4653136"/>
            <a:ext cx="141607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基极</a:t>
            </a:r>
            <a:r>
              <a:rPr lang="en-US" altLang="zh-CN" dirty="0"/>
              <a:t>Bas</a:t>
            </a:r>
            <a:r>
              <a:rPr lang="en-US" altLang="zh-CN" dirty="0" smtClean="0"/>
              <a:t>e</a:t>
            </a:r>
            <a:endParaRPr lang="zh-CN" altLang="en-US" dirty="0"/>
          </a:p>
        </p:txBody>
      </p:sp>
      <p:sp>
        <p:nvSpPr>
          <p:cNvPr id="113689" name="Text Box 25"/>
          <p:cNvSpPr txBox="1">
            <a:spLocks noChangeArrowheads="1"/>
          </p:cNvSpPr>
          <p:nvPr/>
        </p:nvSpPr>
        <p:spPr bwMode="auto">
          <a:xfrm>
            <a:off x="1907704" y="6237312"/>
            <a:ext cx="214223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发射极</a:t>
            </a:r>
            <a:r>
              <a:rPr lang="en-US" altLang="zh-CN" dirty="0"/>
              <a:t>Emitter </a:t>
            </a:r>
            <a:endParaRPr lang="zh-CN" altLang="en-US" i="0" dirty="0" smtClean="0">
              <a:solidFill>
                <a:srgbClr val="0000FF"/>
              </a:solidFill>
            </a:endParaRPr>
          </a:p>
        </p:txBody>
      </p:sp>
      <p:sp>
        <p:nvSpPr>
          <p:cNvPr id="113690" name="Text Box 26"/>
          <p:cNvSpPr txBox="1">
            <a:spLocks noChangeArrowheads="1"/>
          </p:cNvSpPr>
          <p:nvPr/>
        </p:nvSpPr>
        <p:spPr bwMode="auto">
          <a:xfrm>
            <a:off x="2267744" y="2204864"/>
            <a:ext cx="227047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集电极</a:t>
            </a:r>
            <a:r>
              <a:rPr lang="en-US" altLang="zh-CN" dirty="0"/>
              <a:t>Collector</a:t>
            </a:r>
            <a:endParaRPr lang="zh-CN" altLang="en-US" dirty="0"/>
          </a:p>
        </p:txBody>
      </p:sp>
      <p:sp>
        <p:nvSpPr>
          <p:cNvPr id="113691" name="AutoShape 27"/>
          <p:cNvSpPr>
            <a:spLocks noChangeArrowheads="1"/>
          </p:cNvSpPr>
          <p:nvPr/>
        </p:nvSpPr>
        <p:spPr bwMode="auto">
          <a:xfrm>
            <a:off x="611560" y="2276872"/>
            <a:ext cx="1254806" cy="567023"/>
          </a:xfrm>
          <a:prstGeom prst="verticalScroll">
            <a:avLst>
              <a:gd name="adj" fmla="val 12500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NPN</a:t>
            </a:r>
            <a:r>
              <a:rPr kumimoji="1" lang="zh-CN" altLang="en-US" sz="2400" b="1" dirty="0" smtClean="0">
                <a:solidFill>
                  <a:srgbClr val="050507"/>
                </a:solidFill>
                <a:latin typeface="Times New Roman" panose="02020603050405020304" pitchFamily="18" charset="0"/>
              </a:rPr>
              <a:t>型</a:t>
            </a:r>
            <a:endParaRPr kumimoji="1" lang="zh-CN" altLang="en-US" sz="2400" b="1" dirty="0" smtClean="0">
              <a:solidFill>
                <a:srgbClr val="05050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13692" name="Group 28"/>
          <p:cNvGrpSpPr/>
          <p:nvPr/>
        </p:nvGrpSpPr>
        <p:grpSpPr bwMode="auto">
          <a:xfrm>
            <a:off x="5649914" y="2467372"/>
            <a:ext cx="2166938" cy="4418012"/>
            <a:chOff x="3261" y="1233"/>
            <a:chExt cx="1365" cy="2783"/>
          </a:xfrm>
        </p:grpSpPr>
        <p:grpSp>
          <p:nvGrpSpPr>
            <p:cNvPr id="50200" name="Group 29"/>
            <p:cNvGrpSpPr/>
            <p:nvPr/>
          </p:nvGrpSpPr>
          <p:grpSpPr bwMode="auto">
            <a:xfrm>
              <a:off x="3287" y="1337"/>
              <a:ext cx="1339" cy="2262"/>
              <a:chOff x="2567" y="1469"/>
              <a:chExt cx="1339" cy="2262"/>
            </a:xfrm>
          </p:grpSpPr>
          <p:sp>
            <p:nvSpPr>
              <p:cNvPr id="50211" name="Rectangle 30"/>
              <p:cNvSpPr>
                <a:spLocks noChangeArrowheads="1"/>
              </p:cNvSpPr>
              <p:nvPr/>
            </p:nvSpPr>
            <p:spPr bwMode="auto">
              <a:xfrm rot="5400000" flipH="1">
                <a:off x="3234" y="2586"/>
                <a:ext cx="501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2" name="Rectangle 31"/>
              <p:cNvSpPr>
                <a:spLocks noChangeArrowheads="1"/>
              </p:cNvSpPr>
              <p:nvPr/>
            </p:nvSpPr>
            <p:spPr bwMode="auto">
              <a:xfrm rot="5400000" flipH="1">
                <a:off x="3240" y="1767"/>
                <a:ext cx="489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Rectangle 32"/>
              <p:cNvSpPr>
                <a:spLocks noChangeArrowheads="1"/>
              </p:cNvSpPr>
              <p:nvPr/>
            </p:nvSpPr>
            <p:spPr bwMode="auto">
              <a:xfrm rot="5400000" flipH="1">
                <a:off x="3324" y="2174"/>
                <a:ext cx="324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0214" name="Group 33"/>
              <p:cNvGrpSpPr/>
              <p:nvPr/>
            </p:nvGrpSpPr>
            <p:grpSpPr bwMode="auto">
              <a:xfrm>
                <a:off x="3455" y="3269"/>
                <a:ext cx="84" cy="462"/>
                <a:chOff x="3467" y="3509"/>
                <a:chExt cx="84" cy="462"/>
              </a:xfrm>
            </p:grpSpPr>
            <p:sp>
              <p:nvSpPr>
                <p:cNvPr id="50220" name="Line 3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370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21" name="Oval 35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3" y="3893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15" name="Group 36"/>
              <p:cNvGrpSpPr/>
              <p:nvPr/>
            </p:nvGrpSpPr>
            <p:grpSpPr bwMode="auto">
              <a:xfrm>
                <a:off x="3449" y="1469"/>
                <a:ext cx="84" cy="462"/>
                <a:chOff x="3473" y="1277"/>
                <a:chExt cx="84" cy="462"/>
              </a:xfrm>
            </p:grpSpPr>
            <p:sp>
              <p:nvSpPr>
                <p:cNvPr id="50218" name="Line 3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154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19" name="Oval 38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9" y="1271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16" name="Line 39"/>
              <p:cNvSpPr>
                <a:spLocks noChangeShapeType="1"/>
              </p:cNvSpPr>
              <p:nvPr/>
            </p:nvSpPr>
            <p:spPr bwMode="auto">
              <a:xfrm rot="5400000" flipH="1">
                <a:off x="2855" y="2417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7" name="Oval 40"/>
              <p:cNvSpPr>
                <a:spLocks noChangeArrowheads="1"/>
              </p:cNvSpPr>
              <p:nvPr/>
            </p:nvSpPr>
            <p:spPr bwMode="auto">
              <a:xfrm rot="5400000" flipH="1">
                <a:off x="2573" y="259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201" name="Group 41"/>
            <p:cNvGrpSpPr/>
            <p:nvPr/>
          </p:nvGrpSpPr>
          <p:grpSpPr bwMode="auto">
            <a:xfrm>
              <a:off x="4069" y="1918"/>
              <a:ext cx="299" cy="1097"/>
              <a:chOff x="4069" y="1918"/>
              <a:chExt cx="299" cy="1097"/>
            </a:xfrm>
          </p:grpSpPr>
          <p:sp>
            <p:nvSpPr>
              <p:cNvPr id="50208" name="Text Box 42"/>
              <p:cNvSpPr txBox="1">
                <a:spLocks noChangeArrowheads="1"/>
              </p:cNvSpPr>
              <p:nvPr/>
            </p:nvSpPr>
            <p:spPr bwMode="auto">
              <a:xfrm>
                <a:off x="4083" y="1918"/>
                <a:ext cx="27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P</a:t>
                </a:r>
                <a:endParaRPr lang="en-US" altLang="zh-CN" sz="3200" i="0" dirty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209" name="Text Box 43"/>
              <p:cNvSpPr txBox="1">
                <a:spLocks noChangeArrowheads="1"/>
              </p:cNvSpPr>
              <p:nvPr/>
            </p:nvSpPr>
            <p:spPr bwMode="auto">
              <a:xfrm>
                <a:off x="4069" y="2254"/>
                <a:ext cx="299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smtClean="0">
                    <a:solidFill>
                      <a:srgbClr val="050507"/>
                    </a:solidFill>
                    <a:ea typeface="楷体_GB2312" pitchFamily="49" charset="-122"/>
                  </a:rPr>
                  <a:t>N</a:t>
                </a:r>
                <a:endParaRPr lang="en-US" altLang="zh-CN" sz="3200" i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210" name="Text Box 44"/>
              <p:cNvSpPr txBox="1">
                <a:spLocks noChangeArrowheads="1"/>
              </p:cNvSpPr>
              <p:nvPr/>
            </p:nvSpPr>
            <p:spPr bwMode="auto">
              <a:xfrm>
                <a:off x="4083" y="2650"/>
                <a:ext cx="27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smtClean="0">
                    <a:solidFill>
                      <a:srgbClr val="050507"/>
                    </a:solidFill>
                    <a:ea typeface="楷体_GB2312" pitchFamily="49" charset="-122"/>
                  </a:rPr>
                  <a:t>P</a:t>
                </a:r>
                <a:endParaRPr lang="en-US" altLang="zh-CN" sz="3200" i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50202" name="Text Box 45"/>
            <p:cNvSpPr txBox="1">
              <a:spLocks noChangeArrowheads="1"/>
            </p:cNvSpPr>
            <p:nvPr/>
          </p:nvSpPr>
          <p:spPr bwMode="auto">
            <a:xfrm>
              <a:off x="3633" y="1233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3" name="Text Box 46"/>
            <p:cNvSpPr txBox="1">
              <a:spLocks noChangeArrowheads="1"/>
            </p:cNvSpPr>
            <p:nvPr/>
          </p:nvSpPr>
          <p:spPr bwMode="auto">
            <a:xfrm>
              <a:off x="3261" y="2625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4" name="Text Box 47"/>
            <p:cNvSpPr txBox="1">
              <a:spLocks noChangeArrowheads="1"/>
            </p:cNvSpPr>
            <p:nvPr/>
          </p:nvSpPr>
          <p:spPr bwMode="auto">
            <a:xfrm>
              <a:off x="4184" y="3651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5" name="Text Box 48"/>
            <p:cNvSpPr txBox="1">
              <a:spLocks noChangeArrowheads="1"/>
            </p:cNvSpPr>
            <p:nvPr/>
          </p:nvSpPr>
          <p:spPr bwMode="auto">
            <a:xfrm>
              <a:off x="3262" y="2156"/>
              <a:ext cx="11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6" name="Text Box 49"/>
            <p:cNvSpPr txBox="1">
              <a:spLocks noChangeArrowheads="1"/>
            </p:cNvSpPr>
            <p:nvPr/>
          </p:nvSpPr>
          <p:spPr bwMode="auto">
            <a:xfrm>
              <a:off x="4260" y="1294"/>
              <a:ext cx="22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7" name="Text Box 50"/>
            <p:cNvSpPr txBox="1">
              <a:spLocks noChangeArrowheads="1"/>
            </p:cNvSpPr>
            <p:nvPr/>
          </p:nvSpPr>
          <p:spPr bwMode="auto">
            <a:xfrm>
              <a:off x="4227" y="3219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113715" name="AutoShape 51"/>
          <p:cNvSpPr>
            <a:spLocks noChangeArrowheads="1"/>
          </p:cNvSpPr>
          <p:nvPr/>
        </p:nvSpPr>
        <p:spPr bwMode="auto">
          <a:xfrm>
            <a:off x="7918020" y="2564904"/>
            <a:ext cx="1225980" cy="567023"/>
          </a:xfrm>
          <a:prstGeom prst="verticalScroll">
            <a:avLst>
              <a:gd name="adj" fmla="val 12500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PNP</a:t>
            </a:r>
            <a:r>
              <a:rPr kumimoji="1" lang="zh-CN" altLang="en-US" sz="2400" b="1" dirty="0" smtClean="0">
                <a:solidFill>
                  <a:srgbClr val="050507"/>
                </a:solidFill>
                <a:latin typeface="Times New Roman" panose="02020603050405020304" pitchFamily="18" charset="0"/>
              </a:rPr>
              <a:t>型</a:t>
            </a:r>
            <a:endParaRPr kumimoji="1" lang="zh-CN" altLang="en-US" sz="2400" b="1" dirty="0" smtClean="0">
              <a:solidFill>
                <a:srgbClr val="05050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4908724" y="1977231"/>
            <a:ext cx="3887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</a:t>
            </a:r>
            <a:r>
              <a:rPr kumimoji="0" lang="en-US" altLang="zh-CN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PN</a:t>
            </a:r>
            <a:r>
              <a:rPr kumimoji="0" lang="zh-CN" altLang="en-US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结、三区、三极</a:t>
            </a:r>
          </a:p>
        </p:txBody>
      </p:sp>
      <p:sp>
        <p:nvSpPr>
          <p:cNvPr id="113719" name="AutoShape 55"/>
          <p:cNvSpPr>
            <a:spLocks noChangeArrowheads="1"/>
          </p:cNvSpPr>
          <p:nvPr/>
        </p:nvSpPr>
        <p:spPr bwMode="auto">
          <a:xfrm>
            <a:off x="611560" y="2996952"/>
            <a:ext cx="1223962" cy="503237"/>
          </a:xfrm>
          <a:prstGeom prst="wedgeRoundRectCallout">
            <a:avLst>
              <a:gd name="adj1" fmla="val 124576"/>
              <a:gd name="adj2" fmla="val 10993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集电区</a:t>
            </a:r>
          </a:p>
        </p:txBody>
      </p:sp>
      <p:sp>
        <p:nvSpPr>
          <p:cNvPr id="113720" name="AutoShape 56"/>
          <p:cNvSpPr>
            <a:spLocks noChangeArrowheads="1"/>
          </p:cNvSpPr>
          <p:nvPr/>
        </p:nvSpPr>
        <p:spPr bwMode="auto">
          <a:xfrm>
            <a:off x="611560" y="3717032"/>
            <a:ext cx="1223962" cy="503238"/>
          </a:xfrm>
          <a:prstGeom prst="wedgeRoundRectCallout">
            <a:avLst>
              <a:gd name="adj1" fmla="val 127300"/>
              <a:gd name="adj2" fmla="val 8564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基区</a:t>
            </a:r>
          </a:p>
        </p:txBody>
      </p:sp>
      <p:sp>
        <p:nvSpPr>
          <p:cNvPr id="113721" name="AutoShape 57"/>
          <p:cNvSpPr>
            <a:spLocks noChangeArrowheads="1"/>
          </p:cNvSpPr>
          <p:nvPr/>
        </p:nvSpPr>
        <p:spPr bwMode="auto">
          <a:xfrm>
            <a:off x="611188" y="5377259"/>
            <a:ext cx="1223962" cy="503238"/>
          </a:xfrm>
          <a:prstGeom prst="wedgeRoundRectCallout">
            <a:avLst>
              <a:gd name="adj1" fmla="val 120685"/>
              <a:gd name="adj2" fmla="val -1149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发射区</a:t>
            </a:r>
          </a:p>
        </p:txBody>
      </p:sp>
      <p:sp>
        <p:nvSpPr>
          <p:cNvPr id="113722" name="AutoShape 58"/>
          <p:cNvSpPr>
            <a:spLocks noChangeArrowheads="1"/>
          </p:cNvSpPr>
          <p:nvPr/>
        </p:nvSpPr>
        <p:spPr bwMode="auto">
          <a:xfrm>
            <a:off x="3851275" y="3218259"/>
            <a:ext cx="1223963" cy="503238"/>
          </a:xfrm>
          <a:prstGeom prst="wedgeRoundRectCallout">
            <a:avLst>
              <a:gd name="adj1" fmla="val -91634"/>
              <a:gd name="adj2" fmla="val 14747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集电结</a:t>
            </a:r>
          </a:p>
        </p:txBody>
      </p:sp>
      <p:sp>
        <p:nvSpPr>
          <p:cNvPr id="113723" name="AutoShape 59"/>
          <p:cNvSpPr>
            <a:spLocks noChangeArrowheads="1"/>
          </p:cNvSpPr>
          <p:nvPr/>
        </p:nvSpPr>
        <p:spPr bwMode="auto">
          <a:xfrm>
            <a:off x="4084241" y="4965699"/>
            <a:ext cx="1223962" cy="503238"/>
          </a:xfrm>
          <a:prstGeom prst="wedgeRoundRectCallout">
            <a:avLst>
              <a:gd name="adj1" fmla="val -111995"/>
              <a:gd name="adj2" fmla="val -95742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发射结</a:t>
            </a:r>
          </a:p>
        </p:txBody>
      </p:sp>
      <p:sp>
        <p:nvSpPr>
          <p:cNvPr id="2" name="矩形 1"/>
          <p:cNvSpPr/>
          <p:nvPr/>
        </p:nvSpPr>
        <p:spPr>
          <a:xfrm>
            <a:off x="467544" y="1484784"/>
            <a:ext cx="53907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zh-CN" altLang="en-US" sz="2000" b="1" dirty="0">
                <a:solidFill>
                  <a:srgbClr val="000000"/>
                </a:solidFill>
              </a:rPr>
              <a:t>半导体三极管的结构示意图如下图所</a:t>
            </a:r>
            <a:r>
              <a:rPr kumimoji="1" lang="zh-CN" altLang="en-US" sz="2000" b="1" dirty="0" smtClean="0">
                <a:solidFill>
                  <a:srgbClr val="000000"/>
                </a:solidFill>
              </a:rPr>
              <a:t>示：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en-US" altLang="zh-CN" sz="20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000" b="1" dirty="0" smtClean="0">
                <a:solidFill>
                  <a:srgbClr val="000000"/>
                </a:solidFill>
              </a:rPr>
              <a:t>   </a:t>
            </a:r>
            <a:r>
              <a:rPr kumimoji="1" lang="zh-CN" altLang="en-US" b="1" dirty="0" smtClean="0">
                <a:solidFill>
                  <a:srgbClr val="000000"/>
                </a:solidFill>
              </a:rPr>
              <a:t>它</a:t>
            </a:r>
            <a:r>
              <a:rPr kumimoji="1" lang="zh-CN" altLang="en-US" b="1" dirty="0">
                <a:solidFill>
                  <a:srgbClr val="000000"/>
                </a:solidFill>
              </a:rPr>
              <a:t>有两种类型</a:t>
            </a:r>
            <a:r>
              <a:rPr kumimoji="1" lang="en-US" altLang="zh-CN" b="1" dirty="0">
                <a:solidFill>
                  <a:srgbClr val="000000"/>
                </a:solidFill>
              </a:rPr>
              <a:t>:</a:t>
            </a:r>
            <a:r>
              <a:rPr kumimoji="1" lang="en-US" altLang="zh-CN" b="1" dirty="0">
                <a:solidFill>
                  <a:srgbClr val="FF0000"/>
                </a:solidFill>
              </a:rPr>
              <a:t>NPN</a:t>
            </a:r>
            <a:r>
              <a:rPr kumimoji="1" lang="zh-CN" altLang="en-US" b="1" dirty="0">
                <a:solidFill>
                  <a:srgbClr val="000000"/>
                </a:solidFill>
              </a:rPr>
              <a:t>型和</a:t>
            </a:r>
            <a:r>
              <a:rPr kumimoji="1" lang="en-US" altLang="zh-CN" b="1" dirty="0">
                <a:solidFill>
                  <a:srgbClr val="0066FF"/>
                </a:solidFill>
              </a:rPr>
              <a:t>PNP</a:t>
            </a:r>
            <a:r>
              <a:rPr kumimoji="1" lang="zh-CN" altLang="en-US" b="1" dirty="0">
                <a:solidFill>
                  <a:srgbClr val="000000"/>
                </a:solidFill>
              </a:rPr>
              <a:t>型。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</a:t>
            </a:r>
            <a:r>
              <a:rPr lang="zh-CN" altLang="en-US" sz="3200" dirty="0" smtClean="0"/>
              <a:t>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5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"/>
                                        <p:tgtEl>
                                          <p:spTgt spid="1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"/>
                                        <p:tgtEl>
                                          <p:spTgt spid="1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1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1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1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8" grpId="0" autoUpdateAnimBg="0"/>
      <p:bldP spid="113689" grpId="0" autoUpdateAnimBg="0"/>
      <p:bldP spid="113690" grpId="0" autoUpdateAnimBg="0"/>
      <p:bldP spid="113719" grpId="0" animBg="1"/>
      <p:bldP spid="113720" grpId="0" animBg="1"/>
      <p:bldP spid="113721" grpId="0" animBg="1"/>
      <p:bldP spid="113722" grpId="0" animBg="1"/>
      <p:bldP spid="1137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/>
          <p:nvPr/>
        </p:nvGrpSpPr>
        <p:grpSpPr bwMode="auto">
          <a:xfrm>
            <a:off x="2057400" y="2489755"/>
            <a:ext cx="2162175" cy="2536825"/>
            <a:chOff x="1296" y="1132"/>
            <a:chExt cx="1362" cy="1598"/>
          </a:xfrm>
        </p:grpSpPr>
        <p:sp>
          <p:nvSpPr>
            <p:cNvPr id="51227" name="Line 3"/>
            <p:cNvSpPr>
              <a:spLocks noChangeShapeType="1"/>
            </p:cNvSpPr>
            <p:nvPr/>
          </p:nvSpPr>
          <p:spPr bwMode="auto">
            <a:xfrm>
              <a:off x="1296" y="1890"/>
              <a:ext cx="56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8" name="Line 4"/>
            <p:cNvSpPr>
              <a:spLocks noChangeShapeType="1"/>
            </p:cNvSpPr>
            <p:nvPr/>
          </p:nvSpPr>
          <p:spPr bwMode="auto">
            <a:xfrm>
              <a:off x="1848" y="1716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9" name="Line 5"/>
            <p:cNvSpPr>
              <a:spLocks noChangeShapeType="1"/>
            </p:cNvSpPr>
            <p:nvPr/>
          </p:nvSpPr>
          <p:spPr bwMode="auto">
            <a:xfrm>
              <a:off x="1848" y="1896"/>
              <a:ext cx="198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0" name="Line 6"/>
            <p:cNvSpPr>
              <a:spLocks noChangeShapeType="1"/>
            </p:cNvSpPr>
            <p:nvPr/>
          </p:nvSpPr>
          <p:spPr bwMode="auto">
            <a:xfrm flipV="1">
              <a:off x="1848" y="1722"/>
              <a:ext cx="198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1" name="Line 7"/>
            <p:cNvSpPr>
              <a:spLocks noChangeShapeType="1"/>
            </p:cNvSpPr>
            <p:nvPr/>
          </p:nvSpPr>
          <p:spPr bwMode="auto">
            <a:xfrm>
              <a:off x="2034" y="1152"/>
              <a:ext cx="0" cy="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2" name="Line 8"/>
            <p:cNvSpPr>
              <a:spLocks noChangeShapeType="1"/>
            </p:cNvSpPr>
            <p:nvPr/>
          </p:nvSpPr>
          <p:spPr bwMode="auto">
            <a:xfrm>
              <a:off x="2034" y="2070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3" name="Text Box 9"/>
            <p:cNvSpPr txBox="1">
              <a:spLocks noChangeArrowheads="1"/>
            </p:cNvSpPr>
            <p:nvPr/>
          </p:nvSpPr>
          <p:spPr bwMode="auto">
            <a:xfrm>
              <a:off x="1442" y="1557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51234" name="Text Box 10"/>
            <p:cNvSpPr txBox="1">
              <a:spLocks noChangeArrowheads="1"/>
            </p:cNvSpPr>
            <p:nvPr/>
          </p:nvSpPr>
          <p:spPr bwMode="auto">
            <a:xfrm>
              <a:off x="1706" y="2355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</a:p>
          </p:txBody>
        </p:sp>
        <p:sp>
          <p:nvSpPr>
            <p:cNvPr id="51235" name="Text Box 11"/>
            <p:cNvSpPr txBox="1">
              <a:spLocks noChangeArrowheads="1"/>
            </p:cNvSpPr>
            <p:nvPr/>
          </p:nvSpPr>
          <p:spPr bwMode="auto">
            <a:xfrm>
              <a:off x="1700" y="1132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</a:p>
          </p:txBody>
        </p:sp>
        <p:sp>
          <p:nvSpPr>
            <p:cNvPr id="51236" name="Line 12"/>
            <p:cNvSpPr>
              <a:spLocks noChangeShapeType="1"/>
            </p:cNvSpPr>
            <p:nvPr/>
          </p:nvSpPr>
          <p:spPr bwMode="auto">
            <a:xfrm>
              <a:off x="1308" y="2040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7" name="Line 13"/>
            <p:cNvSpPr>
              <a:spLocks noChangeShapeType="1"/>
            </p:cNvSpPr>
            <p:nvPr/>
          </p:nvSpPr>
          <p:spPr bwMode="auto">
            <a:xfrm>
              <a:off x="2148" y="2166"/>
              <a:ext cx="0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8" name="Line 14"/>
            <p:cNvSpPr>
              <a:spLocks noChangeShapeType="1"/>
            </p:cNvSpPr>
            <p:nvPr/>
          </p:nvSpPr>
          <p:spPr bwMode="auto">
            <a:xfrm>
              <a:off x="2124" y="1158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9" name="Text Box 15"/>
            <p:cNvSpPr txBox="1">
              <a:spLocks noChangeArrowheads="1"/>
            </p:cNvSpPr>
            <p:nvPr/>
          </p:nvSpPr>
          <p:spPr bwMode="auto">
            <a:xfrm>
              <a:off x="1337" y="2029"/>
              <a:ext cx="3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40" name="Text Box 16"/>
            <p:cNvSpPr txBox="1">
              <a:spLocks noChangeArrowheads="1"/>
            </p:cNvSpPr>
            <p:nvPr/>
          </p:nvSpPr>
          <p:spPr bwMode="auto">
            <a:xfrm>
              <a:off x="2219" y="2230"/>
              <a:ext cx="3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41" name="Text Box 17"/>
            <p:cNvSpPr txBox="1">
              <a:spLocks noChangeArrowheads="1"/>
            </p:cNvSpPr>
            <p:nvPr/>
          </p:nvSpPr>
          <p:spPr bwMode="auto">
            <a:xfrm>
              <a:off x="2137" y="1219"/>
              <a:ext cx="5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sz="320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51203" name="Text Box 18"/>
          <p:cNvSpPr txBox="1">
            <a:spLocks noChangeArrowheads="1"/>
          </p:cNvSpPr>
          <p:nvPr/>
        </p:nvSpPr>
        <p:spPr bwMode="auto">
          <a:xfrm>
            <a:off x="1639888" y="5412343"/>
            <a:ext cx="2647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dirty="0" smtClean="0">
                <a:solidFill>
                  <a:srgbClr val="050507"/>
                </a:solidFill>
                <a:ea typeface="楷体_GB2312" pitchFamily="49" charset="-122"/>
              </a:rPr>
              <a:t>NPN</a:t>
            </a:r>
            <a:r>
              <a:rPr lang="zh-CN" altLang="en-US" sz="3200" i="0" dirty="0" smtClean="0">
                <a:solidFill>
                  <a:srgbClr val="050507"/>
                </a:solidFill>
              </a:rPr>
              <a:t>型三极管</a:t>
            </a:r>
            <a:endParaRPr lang="zh-CN" altLang="en-US" sz="3200" i="0" dirty="0" smtClean="0">
              <a:solidFill>
                <a:srgbClr val="050507"/>
              </a:solidFill>
              <a:ea typeface="楷体_GB2312" pitchFamily="49" charset="-122"/>
            </a:endParaRPr>
          </a:p>
        </p:txBody>
      </p:sp>
      <p:grpSp>
        <p:nvGrpSpPr>
          <p:cNvPr id="51204" name="Group 19"/>
          <p:cNvGrpSpPr/>
          <p:nvPr/>
        </p:nvGrpSpPr>
        <p:grpSpPr bwMode="auto">
          <a:xfrm>
            <a:off x="5638800" y="2604055"/>
            <a:ext cx="2162175" cy="2555875"/>
            <a:chOff x="3552" y="1204"/>
            <a:chExt cx="1362" cy="1610"/>
          </a:xfrm>
        </p:grpSpPr>
        <p:sp>
          <p:nvSpPr>
            <p:cNvPr id="51212" name="Line 20"/>
            <p:cNvSpPr>
              <a:spLocks noChangeShapeType="1"/>
            </p:cNvSpPr>
            <p:nvPr/>
          </p:nvSpPr>
          <p:spPr bwMode="auto">
            <a:xfrm>
              <a:off x="3552" y="1962"/>
              <a:ext cx="56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3" name="Line 21"/>
            <p:cNvSpPr>
              <a:spLocks noChangeShapeType="1"/>
            </p:cNvSpPr>
            <p:nvPr/>
          </p:nvSpPr>
          <p:spPr bwMode="auto">
            <a:xfrm>
              <a:off x="4104" y="1788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4" name="Line 22"/>
            <p:cNvSpPr>
              <a:spLocks noChangeShapeType="1"/>
            </p:cNvSpPr>
            <p:nvPr/>
          </p:nvSpPr>
          <p:spPr bwMode="auto">
            <a:xfrm rot="16200000" flipV="1">
              <a:off x="4104" y="1968"/>
              <a:ext cx="198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5" name="Line 23"/>
            <p:cNvSpPr>
              <a:spLocks noChangeShapeType="1"/>
            </p:cNvSpPr>
            <p:nvPr/>
          </p:nvSpPr>
          <p:spPr bwMode="auto">
            <a:xfrm flipV="1">
              <a:off x="4104" y="1794"/>
              <a:ext cx="198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6" name="Line 24"/>
            <p:cNvSpPr>
              <a:spLocks noChangeShapeType="1"/>
            </p:cNvSpPr>
            <p:nvPr/>
          </p:nvSpPr>
          <p:spPr bwMode="auto">
            <a:xfrm>
              <a:off x="4290" y="1224"/>
              <a:ext cx="0" cy="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7" name="Line 25"/>
            <p:cNvSpPr>
              <a:spLocks noChangeShapeType="1"/>
            </p:cNvSpPr>
            <p:nvPr/>
          </p:nvSpPr>
          <p:spPr bwMode="auto">
            <a:xfrm>
              <a:off x="4302" y="2154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8" name="Text Box 26"/>
            <p:cNvSpPr txBox="1">
              <a:spLocks noChangeArrowheads="1"/>
            </p:cNvSpPr>
            <p:nvPr/>
          </p:nvSpPr>
          <p:spPr bwMode="auto">
            <a:xfrm>
              <a:off x="3698" y="1629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51219" name="Text Box 27"/>
            <p:cNvSpPr txBox="1">
              <a:spLocks noChangeArrowheads="1"/>
            </p:cNvSpPr>
            <p:nvPr/>
          </p:nvSpPr>
          <p:spPr bwMode="auto">
            <a:xfrm>
              <a:off x="3962" y="2427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</a:p>
          </p:txBody>
        </p:sp>
        <p:sp>
          <p:nvSpPr>
            <p:cNvPr id="51220" name="Text Box 28"/>
            <p:cNvSpPr txBox="1">
              <a:spLocks noChangeArrowheads="1"/>
            </p:cNvSpPr>
            <p:nvPr/>
          </p:nvSpPr>
          <p:spPr bwMode="auto">
            <a:xfrm>
              <a:off x="3956" y="1204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</a:p>
          </p:txBody>
        </p:sp>
        <p:sp>
          <p:nvSpPr>
            <p:cNvPr id="51221" name="Line 29"/>
            <p:cNvSpPr>
              <a:spLocks noChangeShapeType="1"/>
            </p:cNvSpPr>
            <p:nvPr/>
          </p:nvSpPr>
          <p:spPr bwMode="auto">
            <a:xfrm flipH="1">
              <a:off x="3564" y="2112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2" name="Line 30"/>
            <p:cNvSpPr>
              <a:spLocks noChangeShapeType="1"/>
            </p:cNvSpPr>
            <p:nvPr/>
          </p:nvSpPr>
          <p:spPr bwMode="auto">
            <a:xfrm>
              <a:off x="4404" y="2238"/>
              <a:ext cx="0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3" name="Line 31"/>
            <p:cNvSpPr>
              <a:spLocks noChangeShapeType="1"/>
            </p:cNvSpPr>
            <p:nvPr/>
          </p:nvSpPr>
          <p:spPr bwMode="auto">
            <a:xfrm>
              <a:off x="4380" y="1230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4" name="Text Box 32"/>
            <p:cNvSpPr txBox="1">
              <a:spLocks noChangeArrowheads="1"/>
            </p:cNvSpPr>
            <p:nvPr/>
          </p:nvSpPr>
          <p:spPr bwMode="auto">
            <a:xfrm flipH="1">
              <a:off x="3593" y="2101"/>
              <a:ext cx="3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25" name="Text Box 33"/>
            <p:cNvSpPr txBox="1">
              <a:spLocks noChangeArrowheads="1"/>
            </p:cNvSpPr>
            <p:nvPr/>
          </p:nvSpPr>
          <p:spPr bwMode="auto">
            <a:xfrm>
              <a:off x="4475" y="2302"/>
              <a:ext cx="3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26" name="Text Box 34"/>
            <p:cNvSpPr txBox="1">
              <a:spLocks noChangeArrowheads="1"/>
            </p:cNvSpPr>
            <p:nvPr/>
          </p:nvSpPr>
          <p:spPr bwMode="auto">
            <a:xfrm>
              <a:off x="4393" y="1291"/>
              <a:ext cx="5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sz="320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51205" name="Text Box 35"/>
          <p:cNvSpPr txBox="1">
            <a:spLocks noChangeArrowheads="1"/>
          </p:cNvSpPr>
          <p:nvPr/>
        </p:nvSpPr>
        <p:spPr bwMode="auto">
          <a:xfrm>
            <a:off x="5548313" y="5431393"/>
            <a:ext cx="2601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smtClean="0">
                <a:solidFill>
                  <a:srgbClr val="050507"/>
                </a:solidFill>
                <a:ea typeface="楷体_GB2312" pitchFamily="49" charset="-122"/>
              </a:rPr>
              <a:t>PNP</a:t>
            </a:r>
            <a:r>
              <a:rPr lang="zh-CN" altLang="en-US" sz="3200" i="0" smtClean="0">
                <a:solidFill>
                  <a:srgbClr val="050507"/>
                </a:solidFill>
              </a:rPr>
              <a:t>型三极管</a:t>
            </a:r>
            <a:endParaRPr lang="zh-CN" altLang="en-US" sz="3200" i="0" smtClean="0">
              <a:solidFill>
                <a:srgbClr val="050507"/>
              </a:solidFill>
              <a:ea typeface="楷体_GB2312" pitchFamily="49" charset="-122"/>
            </a:endParaRPr>
          </a:p>
        </p:txBody>
      </p:sp>
      <p:sp>
        <p:nvSpPr>
          <p:cNvPr id="51207" name="Text Box 37"/>
          <p:cNvSpPr txBox="1">
            <a:spLocks noChangeArrowheads="1"/>
          </p:cNvSpPr>
          <p:nvPr/>
        </p:nvSpPr>
        <p:spPr bwMode="auto">
          <a:xfrm>
            <a:off x="539552" y="1556792"/>
            <a:ext cx="2799558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99CC00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99CC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i="0" dirty="0" smtClean="0">
                <a:solidFill>
                  <a:srgbClr val="0000FF"/>
                </a:solidFill>
                <a:ea typeface="隶书" panose="02010509060101010101" pitchFamily="49" charset="-122"/>
              </a:rPr>
              <a:t>三极管</a:t>
            </a:r>
            <a:r>
              <a:rPr lang="zh-CN" altLang="en-US" sz="3600" i="0" dirty="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符号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764704"/>
            <a:ext cx="7664847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3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50" name="Group 146"/>
          <p:cNvGrpSpPr/>
          <p:nvPr/>
        </p:nvGrpSpPr>
        <p:grpSpPr bwMode="auto">
          <a:xfrm>
            <a:off x="2217738" y="6021261"/>
            <a:ext cx="4727575" cy="598488"/>
            <a:chOff x="1481" y="3467"/>
            <a:chExt cx="2978" cy="377"/>
          </a:xfrm>
        </p:grpSpPr>
        <p:sp>
          <p:nvSpPr>
            <p:cNvPr id="21641" name="Rectangle 137"/>
            <p:cNvSpPr>
              <a:spLocks noChangeArrowheads="1"/>
            </p:cNvSpPr>
            <p:nvPr/>
          </p:nvSpPr>
          <p:spPr bwMode="auto">
            <a:xfrm>
              <a:off x="1481" y="3467"/>
              <a:ext cx="2978" cy="377"/>
            </a:xfrm>
            <a:prstGeom prst="rect">
              <a:avLst/>
            </a:prstGeom>
            <a:noFill/>
            <a:ln w="57150" cmpd="thinThick">
              <a:solidFill>
                <a:srgbClr val="33CCCC"/>
              </a:solidFill>
              <a:miter lim="800000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kx="-3284103" algn="b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2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40" name="Text Box 136"/>
            <p:cNvSpPr txBox="1">
              <a:spLocks noChangeArrowheads="1"/>
            </p:cNvSpPr>
            <p:nvPr/>
          </p:nvSpPr>
          <p:spPr bwMode="auto">
            <a:xfrm>
              <a:off x="1522" y="3528"/>
              <a:ext cx="2898" cy="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1.</a:t>
              </a:r>
              <a:r>
                <a:rPr lang="zh-CN" altLang="en-US" sz="2200" b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发射区向基区注入电子</a:t>
              </a:r>
            </a:p>
          </p:txBody>
        </p:sp>
      </p:grp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3795713" y="2843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17476" y="1738338"/>
            <a:ext cx="184150" cy="584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32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643" name="Rectangle 139"/>
          <p:cNvSpPr>
            <a:spLocks noChangeArrowheads="1"/>
          </p:cNvSpPr>
          <p:nvPr/>
        </p:nvSpPr>
        <p:spPr bwMode="auto">
          <a:xfrm>
            <a:off x="2066925" y="5991459"/>
            <a:ext cx="5232400" cy="43306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107763" dir="135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2.</a:t>
            </a:r>
            <a:r>
              <a:rPr lang="zh-CN" altLang="en-US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电子在基区中的扩散与复合</a:t>
            </a:r>
          </a:p>
        </p:txBody>
      </p:sp>
      <p:sp>
        <p:nvSpPr>
          <p:cNvPr id="21644" name="Rectangle 140"/>
          <p:cNvSpPr>
            <a:spLocks noChangeArrowheads="1"/>
          </p:cNvSpPr>
          <p:nvPr/>
        </p:nvSpPr>
        <p:spPr bwMode="auto">
          <a:xfrm>
            <a:off x="2279650" y="5929547"/>
            <a:ext cx="4838700" cy="433068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3.</a:t>
            </a:r>
            <a:r>
              <a:rPr lang="zh-CN" altLang="en-US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集电区收集扩散过来的电子</a:t>
            </a:r>
          </a:p>
        </p:txBody>
      </p:sp>
      <p:graphicFrame>
        <p:nvGraphicFramePr>
          <p:cNvPr id="21646" name="Object 142"/>
          <p:cNvGraphicFramePr>
            <a:graphicFrameLocks noChangeAspect="1"/>
          </p:cNvGraphicFramePr>
          <p:nvPr/>
        </p:nvGraphicFramePr>
        <p:xfrm>
          <a:off x="2267744" y="2150430"/>
          <a:ext cx="4996656" cy="3406418"/>
        </p:xfrm>
        <a:graphic>
          <a:graphicData uri="http://schemas.openxmlformats.org/presentationml/2006/ole">
            <p:oleObj spid="_x0000_s14758" name="BMP 图象" r:id="rId4" imgW="2695605" imgH="2009852" progId="PBrush">
              <p:embed/>
            </p:oleObj>
          </a:graphicData>
        </a:graphic>
      </p:graphicFrame>
      <p:sp>
        <p:nvSpPr>
          <p:cNvPr id="21647" name="Rectangle 143"/>
          <p:cNvSpPr>
            <a:spLocks noChangeArrowheads="1"/>
          </p:cNvSpPr>
          <p:nvPr/>
        </p:nvSpPr>
        <p:spPr bwMode="auto">
          <a:xfrm>
            <a:off x="693738" y="5780406"/>
            <a:ext cx="7627937" cy="9409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另外</a:t>
            </a:r>
            <a:r>
              <a:rPr lang="en-US" altLang="zh-CN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基区集电区本身存在的少子，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在集电结上存在漂移运动，由此形成电流</a:t>
            </a:r>
            <a:r>
              <a:rPr kumimoji="1" lang="en-US" altLang="zh-CN" sz="2200" b="1" i="1" smtClean="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200" b="1" baseline="-25000" smtClean="0">
                <a:solidFill>
                  <a:srgbClr val="FF0066"/>
                </a:solidFill>
                <a:latin typeface="Times New Roman" panose="02020603050405020304" pitchFamily="18" charset="0"/>
              </a:rPr>
              <a:t>CBO</a:t>
            </a:r>
            <a:endParaRPr kumimoji="1" lang="en-US" altLang="zh-CN" sz="22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648" name="Rectangle 144"/>
          <p:cNvSpPr>
            <a:spLocks noChangeArrowheads="1"/>
          </p:cNvSpPr>
          <p:nvPr/>
        </p:nvSpPr>
        <p:spPr bwMode="auto">
          <a:xfrm>
            <a:off x="1230230" y="5828031"/>
            <a:ext cx="6867691" cy="940900"/>
          </a:xfrm>
          <a:prstGeom prst="rect">
            <a:avLst/>
          </a:prstGeom>
          <a:solidFill>
            <a:srgbClr val="DDFFF6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wrap="none"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三极管内有两种载流子参与导电，故称此种三极管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双极型</a:t>
            </a: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三极管，记为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BJT</a:t>
            </a:r>
            <a:r>
              <a:rPr kumimoji="1"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/>
              <a:t> Bipolar Junction Transistor </a:t>
            </a: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560840" cy="494928"/>
          </a:xfrm>
        </p:spPr>
        <p:txBody>
          <a:bodyPr/>
          <a:lstStyle/>
          <a:p>
            <a:r>
              <a:rPr lang="zh-CN" altLang="en-US" sz="3200" dirty="0" smtClean="0"/>
              <a:t>半导体器件</a:t>
            </a:r>
            <a:r>
              <a:rPr lang="zh-CN" altLang="en-US" sz="3200" dirty="0"/>
              <a:t>的开关特性</a:t>
            </a:r>
            <a:r>
              <a:rPr lang="en-US" altLang="zh-CN" sz="3200" dirty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539552" y="1556792"/>
            <a:ext cx="37444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 smtClean="0"/>
              <a:t>三极管</a:t>
            </a:r>
            <a:r>
              <a:rPr lang="zh-CN" altLang="en-US" sz="2200" b="1" dirty="0"/>
              <a:t>内载流子的传输过程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0" y="4581128"/>
            <a:ext cx="1907704" cy="715089"/>
          </a:xfrm>
          <a:prstGeom prst="wedgeRoundRectCallout">
            <a:avLst>
              <a:gd name="adj1" fmla="val 37865"/>
              <a:gd name="adj2" fmla="val 208717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两种载流子</a:t>
            </a:r>
            <a:endParaRPr lang="en-US" altLang="zh-CN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正、负两种极性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矩形标注 16"/>
          <p:cNvSpPr/>
          <p:nvPr/>
        </p:nvSpPr>
        <p:spPr>
          <a:xfrm>
            <a:off x="7199784" y="4941168"/>
            <a:ext cx="1764704" cy="400110"/>
          </a:xfrm>
          <a:prstGeom prst="wedgeRectCallout">
            <a:avLst>
              <a:gd name="adj1" fmla="val -176850"/>
              <a:gd name="adj2" fmla="val -6071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共基极接法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10"/>
                                        <p:tgtEl>
                                          <p:spTgt spid="2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"/>
                                        <p:tgtEl>
                                          <p:spTgt spid="21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"/>
                                        <p:tgtEl>
                                          <p:spTgt spid="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43" grpId="0" animBg="1" autoUpdateAnimBg="0"/>
      <p:bldP spid="21644" grpId="0" animBg="1" autoUpdateAnimBg="0"/>
      <p:bldP spid="21647" grpId="0" animBg="1" autoUpdateAnimBg="0"/>
      <p:bldP spid="21648" grpId="0" animBg="1" autoUpdateAnimBg="0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55576" y="2060848"/>
            <a:ext cx="3810000" cy="4400550"/>
            <a:chOff x="768" y="864"/>
            <a:chExt cx="2400" cy="277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768" y="864"/>
              <a:ext cx="2400" cy="2772"/>
              <a:chOff x="768" y="864"/>
              <a:chExt cx="2400" cy="2772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68" y="864"/>
                <a:ext cx="2400" cy="2772"/>
                <a:chOff x="768" y="864"/>
                <a:chExt cx="2400" cy="2772"/>
              </a:xfrm>
            </p:grpSpPr>
            <p:graphicFrame>
              <p:nvGraphicFramePr>
                <p:cNvPr id="53428" name="Object 7"/>
                <p:cNvGraphicFramePr>
                  <a:graphicFrameLocks noChangeAspect="1"/>
                </p:cNvGraphicFramePr>
                <p:nvPr/>
              </p:nvGraphicFramePr>
              <p:xfrm>
                <a:off x="768" y="864"/>
                <a:ext cx="2400" cy="2772"/>
              </p:xfrm>
              <a:graphic>
                <a:graphicData uri="http://schemas.openxmlformats.org/presentationml/2006/ole">
                  <p:oleObj spid="_x0000_s287746" name="位图图像" r:id="rId3" imgW="3801006" imgH="4390476" progId="PBrush">
                    <p:embed/>
                  </p:oleObj>
                </a:graphicData>
              </a:graphic>
            </p:graphicFrame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>
                  <a:off x="1104" y="1008"/>
                  <a:ext cx="720" cy="2256"/>
                  <a:chOff x="1104" y="1008"/>
                  <a:chExt cx="720" cy="2256"/>
                </a:xfrm>
              </p:grpSpPr>
              <p:sp>
                <p:nvSpPr>
                  <p:cNvPr id="53430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2208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53431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2976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e</a:t>
                    </a:r>
                  </a:p>
                </p:txBody>
              </p:sp>
              <p:sp>
                <p:nvSpPr>
                  <p:cNvPr id="53432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1008"/>
                    <a:ext cx="240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c</a:t>
                    </a:r>
                  </a:p>
                </p:txBody>
              </p:sp>
            </p:grp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392" y="1344"/>
                <a:ext cx="912" cy="1632"/>
                <a:chOff x="240" y="624"/>
                <a:chExt cx="912" cy="1632"/>
              </a:xfrm>
            </p:grpSpPr>
            <p:grpSp>
              <p:nvGrpSpPr>
                <p:cNvPr id="7" name="Group 13"/>
                <p:cNvGrpSpPr>
                  <a:grpSpLocks/>
                </p:cNvGrpSpPr>
                <p:nvPr/>
              </p:nvGrpSpPr>
              <p:grpSpPr bwMode="auto">
                <a:xfrm>
                  <a:off x="240" y="624"/>
                  <a:ext cx="912" cy="1632"/>
                  <a:chOff x="816" y="1104"/>
                  <a:chExt cx="912" cy="1632"/>
                </a:xfrm>
              </p:grpSpPr>
              <p:sp>
                <p:nvSpPr>
                  <p:cNvPr id="53421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104"/>
                    <a:ext cx="912" cy="672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728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3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776"/>
                    <a:ext cx="912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4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112"/>
                    <a:ext cx="912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5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82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6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06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7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160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3356" name="Oval 21"/>
                <p:cNvSpPr>
                  <a:spLocks noChangeArrowheads="1"/>
                </p:cNvSpPr>
                <p:nvPr/>
              </p:nvSpPr>
              <p:spPr bwMode="auto">
                <a:xfrm>
                  <a:off x="288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7" name="Oval 22"/>
                <p:cNvSpPr>
                  <a:spLocks noChangeArrowheads="1"/>
                </p:cNvSpPr>
                <p:nvPr/>
              </p:nvSpPr>
              <p:spPr bwMode="auto">
                <a:xfrm>
                  <a:off x="384" y="177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8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9" name="Oval 24"/>
                <p:cNvSpPr>
                  <a:spLocks noChangeArrowheads="1"/>
                </p:cNvSpPr>
                <p:nvPr/>
              </p:nvSpPr>
              <p:spPr bwMode="auto">
                <a:xfrm>
                  <a:off x="672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0" name="Oval 25"/>
                <p:cNvSpPr>
                  <a:spLocks noChangeArrowheads="1"/>
                </p:cNvSpPr>
                <p:nvPr/>
              </p:nvSpPr>
              <p:spPr bwMode="auto">
                <a:xfrm>
                  <a:off x="816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1" name="Oval 26"/>
                <p:cNvSpPr>
                  <a:spLocks noChangeArrowheads="1"/>
                </p:cNvSpPr>
                <p:nvPr/>
              </p:nvSpPr>
              <p:spPr bwMode="auto">
                <a:xfrm>
                  <a:off x="1056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2" name="Oval 27"/>
                <p:cNvSpPr>
                  <a:spLocks noChangeArrowheads="1"/>
                </p:cNvSpPr>
                <p:nvPr/>
              </p:nvSpPr>
              <p:spPr bwMode="auto">
                <a:xfrm>
                  <a:off x="336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3" name="Oval 28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4" name="Oval 29"/>
                <p:cNvSpPr>
                  <a:spLocks noChangeArrowheads="1"/>
                </p:cNvSpPr>
                <p:nvPr/>
              </p:nvSpPr>
              <p:spPr bwMode="auto">
                <a:xfrm>
                  <a:off x="480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5" name="Oval 30"/>
                <p:cNvSpPr>
                  <a:spLocks noChangeArrowheads="1"/>
                </p:cNvSpPr>
                <p:nvPr/>
              </p:nvSpPr>
              <p:spPr bwMode="auto">
                <a:xfrm>
                  <a:off x="528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6" name="Oval 31"/>
                <p:cNvSpPr>
                  <a:spLocks noChangeArrowheads="1"/>
                </p:cNvSpPr>
                <p:nvPr/>
              </p:nvSpPr>
              <p:spPr bwMode="auto">
                <a:xfrm>
                  <a:off x="624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7" name="Oval 32"/>
                <p:cNvSpPr>
                  <a:spLocks noChangeArrowheads="1"/>
                </p:cNvSpPr>
                <p:nvPr/>
              </p:nvSpPr>
              <p:spPr bwMode="auto">
                <a:xfrm>
                  <a:off x="288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8" name="Oval 33"/>
                <p:cNvSpPr>
                  <a:spLocks noChangeArrowheads="1"/>
                </p:cNvSpPr>
                <p:nvPr/>
              </p:nvSpPr>
              <p:spPr bwMode="auto">
                <a:xfrm>
                  <a:off x="384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Oval 34"/>
                <p:cNvSpPr>
                  <a:spLocks noChangeArrowheads="1"/>
                </p:cNvSpPr>
                <p:nvPr/>
              </p:nvSpPr>
              <p:spPr bwMode="auto">
                <a:xfrm>
                  <a:off x="480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0" name="Oval 35"/>
                <p:cNvSpPr>
                  <a:spLocks noChangeArrowheads="1"/>
                </p:cNvSpPr>
                <p:nvPr/>
              </p:nvSpPr>
              <p:spPr bwMode="auto">
                <a:xfrm>
                  <a:off x="624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1" name="Oval 36"/>
                <p:cNvSpPr>
                  <a:spLocks noChangeArrowheads="1"/>
                </p:cNvSpPr>
                <p:nvPr/>
              </p:nvSpPr>
              <p:spPr bwMode="auto">
                <a:xfrm>
                  <a:off x="768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2" name="Oval 37"/>
                <p:cNvSpPr>
                  <a:spLocks noChangeArrowheads="1"/>
                </p:cNvSpPr>
                <p:nvPr/>
              </p:nvSpPr>
              <p:spPr bwMode="auto">
                <a:xfrm>
                  <a:off x="768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3" name="Oval 38"/>
                <p:cNvSpPr>
                  <a:spLocks noChangeArrowheads="1"/>
                </p:cNvSpPr>
                <p:nvPr/>
              </p:nvSpPr>
              <p:spPr bwMode="auto">
                <a:xfrm>
                  <a:off x="912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4" name="Oval 39"/>
                <p:cNvSpPr>
                  <a:spLocks noChangeArrowheads="1"/>
                </p:cNvSpPr>
                <p:nvPr/>
              </p:nvSpPr>
              <p:spPr bwMode="auto">
                <a:xfrm>
                  <a:off x="960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5" name="Oval 40"/>
                <p:cNvSpPr>
                  <a:spLocks noChangeArrowheads="1"/>
                </p:cNvSpPr>
                <p:nvPr/>
              </p:nvSpPr>
              <p:spPr bwMode="auto">
                <a:xfrm>
                  <a:off x="816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6" name="Oval 41"/>
                <p:cNvSpPr>
                  <a:spLocks noChangeArrowheads="1"/>
                </p:cNvSpPr>
                <p:nvPr/>
              </p:nvSpPr>
              <p:spPr bwMode="auto">
                <a:xfrm>
                  <a:off x="816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7" name="Oval 42"/>
                <p:cNvSpPr>
                  <a:spLocks noChangeArrowheads="1"/>
                </p:cNvSpPr>
                <p:nvPr/>
              </p:nvSpPr>
              <p:spPr bwMode="auto">
                <a:xfrm>
                  <a:off x="624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8" name="Oval 43"/>
                <p:cNvSpPr>
                  <a:spLocks noChangeArrowheads="1"/>
                </p:cNvSpPr>
                <p:nvPr/>
              </p:nvSpPr>
              <p:spPr bwMode="auto">
                <a:xfrm>
                  <a:off x="960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9" name="Oval 44"/>
                <p:cNvSpPr>
                  <a:spLocks noChangeArrowheads="1"/>
                </p:cNvSpPr>
                <p:nvPr/>
              </p:nvSpPr>
              <p:spPr bwMode="auto">
                <a:xfrm>
                  <a:off x="912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0" name="Oval 45"/>
                <p:cNvSpPr>
                  <a:spLocks noChangeArrowheads="1"/>
                </p:cNvSpPr>
                <p:nvPr/>
              </p:nvSpPr>
              <p:spPr bwMode="auto">
                <a:xfrm>
                  <a:off x="67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1" name="Oval 46"/>
                <p:cNvSpPr>
                  <a:spLocks noChangeArrowheads="1"/>
                </p:cNvSpPr>
                <p:nvPr/>
              </p:nvSpPr>
              <p:spPr bwMode="auto">
                <a:xfrm>
                  <a:off x="1056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2" name="Oval 47"/>
                <p:cNvSpPr>
                  <a:spLocks noChangeArrowheads="1"/>
                </p:cNvSpPr>
                <p:nvPr/>
              </p:nvSpPr>
              <p:spPr bwMode="auto">
                <a:xfrm>
                  <a:off x="1008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3" name="Oval 48"/>
                <p:cNvSpPr>
                  <a:spLocks noChangeArrowheads="1"/>
                </p:cNvSpPr>
                <p:nvPr/>
              </p:nvSpPr>
              <p:spPr bwMode="auto">
                <a:xfrm>
                  <a:off x="480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4" name="Oval 49"/>
                <p:cNvSpPr>
                  <a:spLocks noChangeArrowheads="1"/>
                </p:cNvSpPr>
                <p:nvPr/>
              </p:nvSpPr>
              <p:spPr bwMode="auto">
                <a:xfrm>
                  <a:off x="576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5" name="Oval 50"/>
                <p:cNvSpPr>
                  <a:spLocks noChangeArrowheads="1"/>
                </p:cNvSpPr>
                <p:nvPr/>
              </p:nvSpPr>
              <p:spPr bwMode="auto">
                <a:xfrm>
                  <a:off x="288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6" name="Oval 51"/>
                <p:cNvSpPr>
                  <a:spLocks noChangeArrowheads="1"/>
                </p:cNvSpPr>
                <p:nvPr/>
              </p:nvSpPr>
              <p:spPr bwMode="auto">
                <a:xfrm>
                  <a:off x="28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7" name="Oval 52"/>
                <p:cNvSpPr>
                  <a:spLocks noChangeArrowheads="1"/>
                </p:cNvSpPr>
                <p:nvPr/>
              </p:nvSpPr>
              <p:spPr bwMode="auto">
                <a:xfrm>
                  <a:off x="720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8" name="Oval 53"/>
                <p:cNvSpPr>
                  <a:spLocks noChangeArrowheads="1"/>
                </p:cNvSpPr>
                <p:nvPr/>
              </p:nvSpPr>
              <p:spPr bwMode="auto">
                <a:xfrm>
                  <a:off x="912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9" name="Oval 54"/>
                <p:cNvSpPr>
                  <a:spLocks noChangeArrowheads="1"/>
                </p:cNvSpPr>
                <p:nvPr/>
              </p:nvSpPr>
              <p:spPr bwMode="auto">
                <a:xfrm>
                  <a:off x="1008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0" name="Oval 55"/>
                <p:cNvSpPr>
                  <a:spLocks noChangeArrowheads="1"/>
                </p:cNvSpPr>
                <p:nvPr/>
              </p:nvSpPr>
              <p:spPr bwMode="auto">
                <a:xfrm>
                  <a:off x="1056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1" name="Oval 56"/>
                <p:cNvSpPr>
                  <a:spLocks noChangeArrowheads="1"/>
                </p:cNvSpPr>
                <p:nvPr/>
              </p:nvSpPr>
              <p:spPr bwMode="auto">
                <a:xfrm>
                  <a:off x="624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2" name="Oval 57"/>
                <p:cNvSpPr>
                  <a:spLocks noChangeArrowheads="1"/>
                </p:cNvSpPr>
                <p:nvPr/>
              </p:nvSpPr>
              <p:spPr bwMode="auto">
                <a:xfrm>
                  <a:off x="528" y="1392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3" name="Oval 58"/>
                <p:cNvSpPr>
                  <a:spLocks noChangeArrowheads="1"/>
                </p:cNvSpPr>
                <p:nvPr/>
              </p:nvSpPr>
              <p:spPr bwMode="auto">
                <a:xfrm>
                  <a:off x="288" y="144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4" name="Oval 59"/>
                <p:cNvSpPr>
                  <a:spLocks noChangeArrowheads="1"/>
                </p:cNvSpPr>
                <p:nvPr/>
              </p:nvSpPr>
              <p:spPr bwMode="auto">
                <a:xfrm>
                  <a:off x="1008" y="14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5" name="Oval 60"/>
                <p:cNvSpPr>
                  <a:spLocks noChangeArrowheads="1"/>
                </p:cNvSpPr>
                <p:nvPr/>
              </p:nvSpPr>
              <p:spPr bwMode="auto">
                <a:xfrm>
                  <a:off x="336" y="7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6" name="Oval 61"/>
                <p:cNvSpPr>
                  <a:spLocks noChangeArrowheads="1"/>
                </p:cNvSpPr>
                <p:nvPr/>
              </p:nvSpPr>
              <p:spPr bwMode="auto">
                <a:xfrm>
                  <a:off x="528" y="7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7" name="Oval 62"/>
                <p:cNvSpPr>
                  <a:spLocks noChangeArrowheads="1"/>
                </p:cNvSpPr>
                <p:nvPr/>
              </p:nvSpPr>
              <p:spPr bwMode="auto">
                <a:xfrm>
                  <a:off x="336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8" name="Oval 63"/>
                <p:cNvSpPr>
                  <a:spLocks noChangeArrowheads="1"/>
                </p:cNvSpPr>
                <p:nvPr/>
              </p:nvSpPr>
              <p:spPr bwMode="auto">
                <a:xfrm>
                  <a:off x="480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9" name="Oval 64"/>
                <p:cNvSpPr>
                  <a:spLocks noChangeArrowheads="1"/>
                </p:cNvSpPr>
                <p:nvPr/>
              </p:nvSpPr>
              <p:spPr bwMode="auto">
                <a:xfrm>
                  <a:off x="672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0" name="Oval 65"/>
                <p:cNvSpPr>
                  <a:spLocks noChangeArrowheads="1"/>
                </p:cNvSpPr>
                <p:nvPr/>
              </p:nvSpPr>
              <p:spPr bwMode="auto">
                <a:xfrm>
                  <a:off x="864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1" name="Oval 66"/>
                <p:cNvSpPr>
                  <a:spLocks noChangeArrowheads="1"/>
                </p:cNvSpPr>
                <p:nvPr/>
              </p:nvSpPr>
              <p:spPr bwMode="auto">
                <a:xfrm>
                  <a:off x="720" y="8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2" name="Oval 67"/>
                <p:cNvSpPr>
                  <a:spLocks noChangeArrowheads="1"/>
                </p:cNvSpPr>
                <p:nvPr/>
              </p:nvSpPr>
              <p:spPr bwMode="auto">
                <a:xfrm>
                  <a:off x="1008" y="10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3" name="Oval 68"/>
                <p:cNvSpPr>
                  <a:spLocks noChangeArrowheads="1"/>
                </p:cNvSpPr>
                <p:nvPr/>
              </p:nvSpPr>
              <p:spPr bwMode="auto">
                <a:xfrm>
                  <a:off x="1008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4" name="Oval 69"/>
                <p:cNvSpPr>
                  <a:spLocks noChangeArrowheads="1"/>
                </p:cNvSpPr>
                <p:nvPr/>
              </p:nvSpPr>
              <p:spPr bwMode="auto">
                <a:xfrm>
                  <a:off x="288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5" name="Oval 70"/>
                <p:cNvSpPr>
                  <a:spLocks noChangeArrowheads="1"/>
                </p:cNvSpPr>
                <p:nvPr/>
              </p:nvSpPr>
              <p:spPr bwMode="auto">
                <a:xfrm>
                  <a:off x="576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6" name="Oval 71"/>
                <p:cNvSpPr>
                  <a:spLocks noChangeArrowheads="1"/>
                </p:cNvSpPr>
                <p:nvPr/>
              </p:nvSpPr>
              <p:spPr bwMode="auto">
                <a:xfrm>
                  <a:off x="816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7" name="Oval 72"/>
                <p:cNvSpPr>
                  <a:spLocks noChangeArrowheads="1"/>
                </p:cNvSpPr>
                <p:nvPr/>
              </p:nvSpPr>
              <p:spPr bwMode="auto">
                <a:xfrm>
                  <a:off x="528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8" name="Oval 73"/>
                <p:cNvSpPr>
                  <a:spLocks noChangeArrowheads="1"/>
                </p:cNvSpPr>
                <p:nvPr/>
              </p:nvSpPr>
              <p:spPr bwMode="auto">
                <a:xfrm>
                  <a:off x="720" y="11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9" name="Oval 74"/>
                <p:cNvSpPr>
                  <a:spLocks noChangeArrowheads="1"/>
                </p:cNvSpPr>
                <p:nvPr/>
              </p:nvSpPr>
              <p:spPr bwMode="auto">
                <a:xfrm>
                  <a:off x="672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0" name="Oval 75"/>
                <p:cNvSpPr>
                  <a:spLocks noChangeArrowheads="1"/>
                </p:cNvSpPr>
                <p:nvPr/>
              </p:nvSpPr>
              <p:spPr bwMode="auto">
                <a:xfrm>
                  <a:off x="816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1" name="Oval 76"/>
                <p:cNvSpPr>
                  <a:spLocks noChangeArrowheads="1"/>
                </p:cNvSpPr>
                <p:nvPr/>
              </p:nvSpPr>
              <p:spPr bwMode="auto">
                <a:xfrm>
                  <a:off x="912" y="7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2" name="Oval 77"/>
                <p:cNvSpPr>
                  <a:spLocks noChangeArrowheads="1"/>
                </p:cNvSpPr>
                <p:nvPr/>
              </p:nvSpPr>
              <p:spPr bwMode="auto">
                <a:xfrm>
                  <a:off x="1008" y="8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3" name="Oval 78"/>
                <p:cNvSpPr>
                  <a:spLocks noChangeArrowheads="1"/>
                </p:cNvSpPr>
                <p:nvPr/>
              </p:nvSpPr>
              <p:spPr bwMode="auto">
                <a:xfrm>
                  <a:off x="960" y="11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4" name="Oval 79"/>
                <p:cNvSpPr>
                  <a:spLocks noChangeArrowheads="1"/>
                </p:cNvSpPr>
                <p:nvPr/>
              </p:nvSpPr>
              <p:spPr bwMode="auto">
                <a:xfrm>
                  <a:off x="432" y="105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5" name="Oval 80"/>
                <p:cNvSpPr>
                  <a:spLocks noChangeArrowheads="1"/>
                </p:cNvSpPr>
                <p:nvPr/>
              </p:nvSpPr>
              <p:spPr bwMode="auto">
                <a:xfrm>
                  <a:off x="624" y="1488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6" name="Oval 81"/>
                <p:cNvSpPr>
                  <a:spLocks noChangeArrowheads="1"/>
                </p:cNvSpPr>
                <p:nvPr/>
              </p:nvSpPr>
              <p:spPr bwMode="auto">
                <a:xfrm>
                  <a:off x="720" y="1344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7" name="Oval 82"/>
                <p:cNvSpPr>
                  <a:spLocks noChangeArrowheads="1"/>
                </p:cNvSpPr>
                <p:nvPr/>
              </p:nvSpPr>
              <p:spPr bwMode="auto">
                <a:xfrm>
                  <a:off x="768" y="1440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8" name="Oval 83"/>
                <p:cNvSpPr>
                  <a:spLocks noChangeArrowheads="1"/>
                </p:cNvSpPr>
                <p:nvPr/>
              </p:nvSpPr>
              <p:spPr bwMode="auto">
                <a:xfrm>
                  <a:off x="432" y="1440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9" name="Oval 84"/>
                <p:cNvSpPr>
                  <a:spLocks noChangeArrowheads="1"/>
                </p:cNvSpPr>
                <p:nvPr/>
              </p:nvSpPr>
              <p:spPr bwMode="auto">
                <a:xfrm>
                  <a:off x="912" y="1488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0" name="Oval 85"/>
                <p:cNvSpPr>
                  <a:spLocks noChangeArrowheads="1"/>
                </p:cNvSpPr>
                <p:nvPr/>
              </p:nvSpPr>
              <p:spPr bwMode="auto">
                <a:xfrm>
                  <a:off x="960" y="1344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351" name="Text Box 86"/>
            <p:cNvSpPr txBox="1">
              <a:spLocks noChangeArrowheads="1"/>
            </p:cNvSpPr>
            <p:nvPr/>
          </p:nvSpPr>
          <p:spPr bwMode="auto">
            <a:xfrm>
              <a:off x="2799" y="1525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c</a:t>
              </a:r>
            </a:p>
          </p:txBody>
        </p:sp>
        <p:sp>
          <p:nvSpPr>
            <p:cNvPr id="53352" name="Text Box 87"/>
            <p:cNvSpPr txBox="1">
              <a:spLocks noChangeArrowheads="1"/>
            </p:cNvSpPr>
            <p:nvPr/>
          </p:nvSpPr>
          <p:spPr bwMode="auto">
            <a:xfrm>
              <a:off x="948" y="2432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b</a:t>
              </a:r>
            </a:p>
          </p:txBody>
        </p:sp>
      </p:grpSp>
      <p:sp>
        <p:nvSpPr>
          <p:cNvPr id="178264" name="Text Box 88"/>
          <p:cNvSpPr txBox="1">
            <a:spLocks noChangeArrowheads="1"/>
          </p:cNvSpPr>
          <p:nvPr/>
        </p:nvSpPr>
        <p:spPr bwMode="auto">
          <a:xfrm>
            <a:off x="467544" y="1484784"/>
            <a:ext cx="424847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600" i="0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晶体</a:t>
            </a:r>
            <a:r>
              <a:rPr lang="zh-CN" altLang="en-US" sz="26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管内部载流子的运动</a:t>
            </a:r>
          </a:p>
        </p:txBody>
      </p:sp>
      <p:grpSp>
        <p:nvGrpSpPr>
          <p:cNvPr id="8" name="Group 89"/>
          <p:cNvGrpSpPr>
            <a:grpSpLocks/>
          </p:cNvGrpSpPr>
          <p:nvPr/>
        </p:nvGrpSpPr>
        <p:grpSpPr bwMode="auto">
          <a:xfrm>
            <a:off x="2898775" y="4910138"/>
            <a:ext cx="542925" cy="573087"/>
            <a:chOff x="1320" y="2811"/>
            <a:chExt cx="342" cy="361"/>
          </a:xfrm>
        </p:grpSpPr>
        <p:sp>
          <p:nvSpPr>
            <p:cNvPr id="53348" name="Rectangle 90"/>
            <p:cNvSpPr>
              <a:spLocks noChangeArrowheads="1"/>
            </p:cNvSpPr>
            <p:nvPr/>
          </p:nvSpPr>
          <p:spPr bwMode="auto">
            <a:xfrm>
              <a:off x="1320" y="2811"/>
              <a:ext cx="3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 dirty="0">
                  <a:solidFill>
                    <a:srgbClr val="FF0066"/>
                  </a:solidFill>
                </a:rPr>
                <a:t> E</a:t>
              </a:r>
            </a:p>
          </p:txBody>
        </p:sp>
        <p:sp>
          <p:nvSpPr>
            <p:cNvPr id="53349" name="Line 91"/>
            <p:cNvSpPr>
              <a:spLocks noChangeShapeType="1"/>
            </p:cNvSpPr>
            <p:nvPr/>
          </p:nvSpPr>
          <p:spPr bwMode="auto">
            <a:xfrm>
              <a:off x="1338" y="2834"/>
              <a:ext cx="0" cy="33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2"/>
          <p:cNvGrpSpPr>
            <a:grpSpLocks/>
          </p:cNvGrpSpPr>
          <p:nvPr/>
        </p:nvGrpSpPr>
        <p:grpSpPr bwMode="auto">
          <a:xfrm>
            <a:off x="1349375" y="3005138"/>
            <a:ext cx="568325" cy="519112"/>
            <a:chOff x="392" y="1521"/>
            <a:chExt cx="358" cy="327"/>
          </a:xfrm>
        </p:grpSpPr>
        <p:sp>
          <p:nvSpPr>
            <p:cNvPr id="53346" name="Line 93"/>
            <p:cNvSpPr>
              <a:spLocks noChangeShapeType="1"/>
            </p:cNvSpPr>
            <p:nvPr/>
          </p:nvSpPr>
          <p:spPr bwMode="auto">
            <a:xfrm rot="-5400000">
              <a:off x="581" y="1676"/>
              <a:ext cx="0" cy="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47" name="Rectangle 94"/>
            <p:cNvSpPr>
              <a:spLocks noChangeArrowheads="1"/>
            </p:cNvSpPr>
            <p:nvPr/>
          </p:nvSpPr>
          <p:spPr bwMode="auto">
            <a:xfrm>
              <a:off x="392" y="1521"/>
              <a:ext cx="3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>
                  <a:solidFill>
                    <a:srgbClr val="FF0066"/>
                  </a:solidFill>
                </a:rPr>
                <a:t>B</a:t>
              </a:r>
            </a:p>
          </p:txBody>
        </p:sp>
      </p:grpSp>
      <p:sp>
        <p:nvSpPr>
          <p:cNvPr id="178271" name="Text Box 95"/>
          <p:cNvSpPr txBox="1">
            <a:spLocks noChangeArrowheads="1"/>
          </p:cNvSpPr>
          <p:nvPr/>
        </p:nvSpPr>
        <p:spPr bwMode="auto">
          <a:xfrm>
            <a:off x="4716016" y="1412776"/>
            <a:ext cx="4114800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0000" indent="-360000">
              <a:spcBef>
                <a:spcPts val="600"/>
              </a:spcBef>
              <a:buFontTx/>
              <a:buAutoNum type="arabicPeriod"/>
            </a:pP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发射结加正向电压，扩散运动形成发射极电流</a:t>
            </a:r>
          </a:p>
          <a:p>
            <a:pPr marL="360000" indent="-360000">
              <a:spcBef>
                <a:spcPts val="600"/>
              </a:spcBef>
            </a:pP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　　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发射区的电子越过发射结扩散到基区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基区的空穴扩散到发射区</a:t>
            </a:r>
            <a:r>
              <a:rPr lang="en-US" altLang="zh-CN" sz="2000" i="0" dirty="0">
                <a:ea typeface="华文新魏" pitchFamily="2" charset="-122"/>
              </a:rPr>
              <a:t>—</a:t>
            </a:r>
            <a:r>
              <a:rPr lang="zh-CN" altLang="en-US" sz="2000" i="0" dirty="0">
                <a:solidFill>
                  <a:srgbClr val="0033CC"/>
                </a:solidFill>
                <a:latin typeface="华文新魏" pitchFamily="2" charset="-122"/>
                <a:ea typeface="华文新魏" pitchFamily="2" charset="-122"/>
              </a:rPr>
              <a:t>形成发射极电流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000" i="0" baseline="-250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E</a:t>
            </a:r>
            <a:r>
              <a:rPr lang="en-US" altLang="zh-CN" sz="2000" i="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基区多子数目较少，空穴电流可忽略</a:t>
            </a:r>
            <a:r>
              <a:rPr lang="en-US" altLang="zh-CN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sp>
        <p:nvSpPr>
          <p:cNvPr id="178272" name="Text Box 96"/>
          <p:cNvSpPr txBox="1">
            <a:spLocks noChangeArrowheads="1"/>
          </p:cNvSpPr>
          <p:nvPr/>
        </p:nvSpPr>
        <p:spPr bwMode="auto">
          <a:xfrm>
            <a:off x="4788024" y="3501008"/>
            <a:ext cx="3962400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0000" indent="-360000" algn="just">
              <a:spcBef>
                <a:spcPts val="600"/>
              </a:spcBef>
            </a:pPr>
            <a:r>
              <a:rPr lang="en-US" altLang="zh-CN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2. 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扩散到基区的自由电子</a:t>
            </a:r>
            <a:r>
              <a:rPr lang="zh-CN" altLang="en-US" sz="2000" i="0" dirty="0" smtClean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与空穴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的复合运动形成</a:t>
            </a:r>
            <a:r>
              <a:rPr lang="zh-CN" altLang="en-US" sz="2000" i="0" dirty="0" smtClean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基极电流</a:t>
            </a:r>
            <a:r>
              <a:rPr lang="zh-CN" altLang="en-US" sz="26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　</a:t>
            </a:r>
          </a:p>
          <a:p>
            <a:pPr algn="just">
              <a:spcBef>
                <a:spcPts val="600"/>
              </a:spcBef>
            </a:pPr>
            <a:r>
              <a:rPr lang="zh-CN" altLang="en-US" sz="26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　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电子到达基区，少数与空穴复　合形成基极电流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000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bn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复合掉的　空穴由 </a:t>
            </a:r>
            <a:r>
              <a:rPr lang="en-US" altLang="zh-CN" sz="2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V</a:t>
            </a:r>
            <a:r>
              <a:rPr lang="en-US" altLang="zh-CN" sz="2000" i="0" baseline="-25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BB</a:t>
            </a:r>
            <a:r>
              <a:rPr lang="en-US" altLang="zh-CN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补充。</a:t>
            </a:r>
          </a:p>
        </p:txBody>
      </p:sp>
      <p:sp>
        <p:nvSpPr>
          <p:cNvPr id="178273" name="Text Box 97"/>
          <p:cNvSpPr txBox="1">
            <a:spLocks noChangeArrowheads="1"/>
          </p:cNvSpPr>
          <p:nvPr/>
        </p:nvSpPr>
        <p:spPr bwMode="auto">
          <a:xfrm>
            <a:off x="5004048" y="558924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i="0" dirty="0">
                <a:solidFill>
                  <a:srgbClr val="000000"/>
                </a:solidFill>
                <a:ea typeface="华文新魏" pitchFamily="2" charset="-122"/>
              </a:rPr>
              <a:t>多数电子在基区继续扩散，到达集电结的一侧。</a:t>
            </a:r>
          </a:p>
        </p:txBody>
      </p:sp>
      <p:grpSp>
        <p:nvGrpSpPr>
          <p:cNvPr id="10" name="Group 98"/>
          <p:cNvGrpSpPr>
            <a:grpSpLocks/>
          </p:cNvGrpSpPr>
          <p:nvPr/>
        </p:nvGrpSpPr>
        <p:grpSpPr bwMode="auto">
          <a:xfrm>
            <a:off x="1763688" y="2780928"/>
            <a:ext cx="1447800" cy="2590800"/>
            <a:chOff x="816" y="1104"/>
            <a:chExt cx="912" cy="1632"/>
          </a:xfrm>
        </p:grpSpPr>
        <p:grpSp>
          <p:nvGrpSpPr>
            <p:cNvPr id="11" name="Group 99"/>
            <p:cNvGrpSpPr>
              <a:grpSpLocks/>
            </p:cNvGrpSpPr>
            <p:nvPr/>
          </p:nvGrpSpPr>
          <p:grpSpPr bwMode="auto">
            <a:xfrm>
              <a:off x="816" y="1104"/>
              <a:ext cx="912" cy="1632"/>
              <a:chOff x="816" y="1104"/>
              <a:chExt cx="912" cy="1632"/>
            </a:xfrm>
          </p:grpSpPr>
          <p:sp>
            <p:nvSpPr>
              <p:cNvPr id="53339" name="Rectangle 100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912" cy="672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0" name="Line 101"/>
              <p:cNvSpPr>
                <a:spLocks noChangeShapeType="1"/>
              </p:cNvSpPr>
              <p:nvPr/>
            </p:nvSpPr>
            <p:spPr bwMode="auto">
              <a:xfrm>
                <a:off x="816" y="1728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1" name="Rectangle 102"/>
              <p:cNvSpPr>
                <a:spLocks noChangeArrowheads="1"/>
              </p:cNvSpPr>
              <p:nvPr/>
            </p:nvSpPr>
            <p:spPr bwMode="auto">
              <a:xfrm>
                <a:off x="816" y="1776"/>
                <a:ext cx="912" cy="336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2" name="Rectangle 103"/>
              <p:cNvSpPr>
                <a:spLocks noChangeArrowheads="1"/>
              </p:cNvSpPr>
              <p:nvPr/>
            </p:nvSpPr>
            <p:spPr bwMode="auto">
              <a:xfrm>
                <a:off x="816" y="2112"/>
                <a:ext cx="912" cy="624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3" name="Line 104"/>
              <p:cNvSpPr>
                <a:spLocks noChangeShapeType="1"/>
              </p:cNvSpPr>
              <p:nvPr/>
            </p:nvSpPr>
            <p:spPr bwMode="auto">
              <a:xfrm>
                <a:off x="816" y="182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4" name="Line 105"/>
              <p:cNvSpPr>
                <a:spLocks noChangeShapeType="1"/>
              </p:cNvSpPr>
              <p:nvPr/>
            </p:nvSpPr>
            <p:spPr bwMode="auto">
              <a:xfrm>
                <a:off x="816" y="206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5" name="Line 106"/>
              <p:cNvSpPr>
                <a:spLocks noChangeShapeType="1"/>
              </p:cNvSpPr>
              <p:nvPr/>
            </p:nvSpPr>
            <p:spPr bwMode="auto">
              <a:xfrm>
                <a:off x="816" y="2160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68" name="Oval 107"/>
            <p:cNvSpPr>
              <a:spLocks noChangeArrowheads="1"/>
            </p:cNvSpPr>
            <p:nvPr/>
          </p:nvSpPr>
          <p:spPr bwMode="auto">
            <a:xfrm>
              <a:off x="864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9" name="Oval 108"/>
            <p:cNvSpPr>
              <a:spLocks noChangeArrowheads="1"/>
            </p:cNvSpPr>
            <p:nvPr/>
          </p:nvSpPr>
          <p:spPr bwMode="auto">
            <a:xfrm>
              <a:off x="960" y="225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0" name="Oval 109"/>
            <p:cNvSpPr>
              <a:spLocks noChangeArrowheads="1"/>
            </p:cNvSpPr>
            <p:nvPr/>
          </p:nvSpPr>
          <p:spPr bwMode="auto">
            <a:xfrm>
              <a:off x="1104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1" name="Oval 110"/>
            <p:cNvSpPr>
              <a:spLocks noChangeArrowheads="1"/>
            </p:cNvSpPr>
            <p:nvPr/>
          </p:nvSpPr>
          <p:spPr bwMode="auto">
            <a:xfrm>
              <a:off x="1248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2" name="Oval 111"/>
            <p:cNvSpPr>
              <a:spLocks noChangeArrowheads="1"/>
            </p:cNvSpPr>
            <p:nvPr/>
          </p:nvSpPr>
          <p:spPr bwMode="auto">
            <a:xfrm>
              <a:off x="1392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3" name="Oval 112"/>
            <p:cNvSpPr>
              <a:spLocks noChangeArrowheads="1"/>
            </p:cNvSpPr>
            <p:nvPr/>
          </p:nvSpPr>
          <p:spPr bwMode="auto">
            <a:xfrm>
              <a:off x="1632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Oval 113"/>
            <p:cNvSpPr>
              <a:spLocks noChangeArrowheads="1"/>
            </p:cNvSpPr>
            <p:nvPr/>
          </p:nvSpPr>
          <p:spPr bwMode="auto">
            <a:xfrm>
              <a:off x="912" y="24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5" name="Oval 114"/>
            <p:cNvSpPr>
              <a:spLocks noChangeArrowheads="1"/>
            </p:cNvSpPr>
            <p:nvPr/>
          </p:nvSpPr>
          <p:spPr bwMode="auto">
            <a:xfrm>
              <a:off x="1008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6" name="Oval 115"/>
            <p:cNvSpPr>
              <a:spLocks noChangeArrowheads="1"/>
            </p:cNvSpPr>
            <p:nvPr/>
          </p:nvSpPr>
          <p:spPr bwMode="auto">
            <a:xfrm>
              <a:off x="1056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7" name="Oval 116"/>
            <p:cNvSpPr>
              <a:spLocks noChangeArrowheads="1"/>
            </p:cNvSpPr>
            <p:nvPr/>
          </p:nvSpPr>
          <p:spPr bwMode="auto">
            <a:xfrm>
              <a:off x="1104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8" name="Oval 117"/>
            <p:cNvSpPr>
              <a:spLocks noChangeArrowheads="1"/>
            </p:cNvSpPr>
            <p:nvPr/>
          </p:nvSpPr>
          <p:spPr bwMode="auto">
            <a:xfrm>
              <a:off x="1200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9" name="Oval 118"/>
            <p:cNvSpPr>
              <a:spLocks noChangeArrowheads="1"/>
            </p:cNvSpPr>
            <p:nvPr/>
          </p:nvSpPr>
          <p:spPr bwMode="auto">
            <a:xfrm>
              <a:off x="864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0" name="Oval 119"/>
            <p:cNvSpPr>
              <a:spLocks noChangeArrowheads="1"/>
            </p:cNvSpPr>
            <p:nvPr/>
          </p:nvSpPr>
          <p:spPr bwMode="auto">
            <a:xfrm>
              <a:off x="960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1" name="Oval 120"/>
            <p:cNvSpPr>
              <a:spLocks noChangeArrowheads="1"/>
            </p:cNvSpPr>
            <p:nvPr/>
          </p:nvSpPr>
          <p:spPr bwMode="auto">
            <a:xfrm>
              <a:off x="1056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2" name="Oval 121"/>
            <p:cNvSpPr>
              <a:spLocks noChangeArrowheads="1"/>
            </p:cNvSpPr>
            <p:nvPr/>
          </p:nvSpPr>
          <p:spPr bwMode="auto">
            <a:xfrm>
              <a:off x="1200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3" name="Oval 122"/>
            <p:cNvSpPr>
              <a:spLocks noChangeArrowheads="1"/>
            </p:cNvSpPr>
            <p:nvPr/>
          </p:nvSpPr>
          <p:spPr bwMode="auto">
            <a:xfrm>
              <a:off x="1344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4" name="Oval 123"/>
            <p:cNvSpPr>
              <a:spLocks noChangeArrowheads="1"/>
            </p:cNvSpPr>
            <p:nvPr/>
          </p:nvSpPr>
          <p:spPr bwMode="auto">
            <a:xfrm>
              <a:off x="1344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5" name="Oval 124"/>
            <p:cNvSpPr>
              <a:spLocks noChangeArrowheads="1"/>
            </p:cNvSpPr>
            <p:nvPr/>
          </p:nvSpPr>
          <p:spPr bwMode="auto">
            <a:xfrm>
              <a:off x="1488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6" name="Oval 125"/>
            <p:cNvSpPr>
              <a:spLocks noChangeArrowheads="1"/>
            </p:cNvSpPr>
            <p:nvPr/>
          </p:nvSpPr>
          <p:spPr bwMode="auto">
            <a:xfrm>
              <a:off x="1536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7" name="Oval 126"/>
            <p:cNvSpPr>
              <a:spLocks noChangeArrowheads="1"/>
            </p:cNvSpPr>
            <p:nvPr/>
          </p:nvSpPr>
          <p:spPr bwMode="auto">
            <a:xfrm>
              <a:off x="1392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8" name="Oval 127"/>
            <p:cNvSpPr>
              <a:spLocks noChangeArrowheads="1"/>
            </p:cNvSpPr>
            <p:nvPr/>
          </p:nvSpPr>
          <p:spPr bwMode="auto">
            <a:xfrm>
              <a:off x="1392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9" name="Oval 128"/>
            <p:cNvSpPr>
              <a:spLocks noChangeArrowheads="1"/>
            </p:cNvSpPr>
            <p:nvPr/>
          </p:nvSpPr>
          <p:spPr bwMode="auto">
            <a:xfrm>
              <a:off x="1200" y="24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0" name="Oval 129"/>
            <p:cNvSpPr>
              <a:spLocks noChangeArrowheads="1"/>
            </p:cNvSpPr>
            <p:nvPr/>
          </p:nvSpPr>
          <p:spPr bwMode="auto">
            <a:xfrm>
              <a:off x="1536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1" name="Oval 130"/>
            <p:cNvSpPr>
              <a:spLocks noChangeArrowheads="1"/>
            </p:cNvSpPr>
            <p:nvPr/>
          </p:nvSpPr>
          <p:spPr bwMode="auto">
            <a:xfrm>
              <a:off x="1488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2" name="Oval 131"/>
            <p:cNvSpPr>
              <a:spLocks noChangeArrowheads="1"/>
            </p:cNvSpPr>
            <p:nvPr/>
          </p:nvSpPr>
          <p:spPr bwMode="auto">
            <a:xfrm>
              <a:off x="1248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3" name="Oval 132"/>
            <p:cNvSpPr>
              <a:spLocks noChangeArrowheads="1"/>
            </p:cNvSpPr>
            <p:nvPr/>
          </p:nvSpPr>
          <p:spPr bwMode="auto">
            <a:xfrm>
              <a:off x="1632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4" name="Oval 133"/>
            <p:cNvSpPr>
              <a:spLocks noChangeArrowheads="1"/>
            </p:cNvSpPr>
            <p:nvPr/>
          </p:nvSpPr>
          <p:spPr bwMode="auto">
            <a:xfrm>
              <a:off x="1584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5" name="Oval 134"/>
            <p:cNvSpPr>
              <a:spLocks noChangeArrowheads="1"/>
            </p:cNvSpPr>
            <p:nvPr/>
          </p:nvSpPr>
          <p:spPr bwMode="auto">
            <a:xfrm>
              <a:off x="1056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6" name="Oval 135"/>
            <p:cNvSpPr>
              <a:spLocks noChangeArrowheads="1"/>
            </p:cNvSpPr>
            <p:nvPr/>
          </p:nvSpPr>
          <p:spPr bwMode="auto">
            <a:xfrm>
              <a:off x="1152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7" name="Oval 136"/>
            <p:cNvSpPr>
              <a:spLocks noChangeArrowheads="1"/>
            </p:cNvSpPr>
            <p:nvPr/>
          </p:nvSpPr>
          <p:spPr bwMode="auto">
            <a:xfrm>
              <a:off x="864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8" name="Oval 137"/>
            <p:cNvSpPr>
              <a:spLocks noChangeArrowheads="1"/>
            </p:cNvSpPr>
            <p:nvPr/>
          </p:nvSpPr>
          <p:spPr bwMode="auto">
            <a:xfrm>
              <a:off x="864" y="23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9" name="Oval 138"/>
            <p:cNvSpPr>
              <a:spLocks noChangeArrowheads="1"/>
            </p:cNvSpPr>
            <p:nvPr/>
          </p:nvSpPr>
          <p:spPr bwMode="auto">
            <a:xfrm>
              <a:off x="1296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0" name="Oval 139"/>
            <p:cNvSpPr>
              <a:spLocks noChangeArrowheads="1"/>
            </p:cNvSpPr>
            <p:nvPr/>
          </p:nvSpPr>
          <p:spPr bwMode="auto">
            <a:xfrm>
              <a:off x="1488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1" name="Oval 140"/>
            <p:cNvSpPr>
              <a:spLocks noChangeArrowheads="1"/>
            </p:cNvSpPr>
            <p:nvPr/>
          </p:nvSpPr>
          <p:spPr bwMode="auto">
            <a:xfrm>
              <a:off x="1584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2" name="Oval 141"/>
            <p:cNvSpPr>
              <a:spLocks noChangeArrowheads="1"/>
            </p:cNvSpPr>
            <p:nvPr/>
          </p:nvSpPr>
          <p:spPr bwMode="auto">
            <a:xfrm>
              <a:off x="1632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3" name="Oval 142"/>
            <p:cNvSpPr>
              <a:spLocks noChangeArrowheads="1"/>
            </p:cNvSpPr>
            <p:nvPr/>
          </p:nvSpPr>
          <p:spPr bwMode="auto">
            <a:xfrm>
              <a:off x="1200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4" name="Oval 143"/>
            <p:cNvSpPr>
              <a:spLocks noChangeArrowheads="1"/>
            </p:cNvSpPr>
            <p:nvPr/>
          </p:nvSpPr>
          <p:spPr bwMode="auto">
            <a:xfrm>
              <a:off x="1248" y="182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5" name="Oval 144"/>
            <p:cNvSpPr>
              <a:spLocks noChangeArrowheads="1"/>
            </p:cNvSpPr>
            <p:nvPr/>
          </p:nvSpPr>
          <p:spPr bwMode="auto">
            <a:xfrm>
              <a:off x="1104" y="182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6" name="Oval 145"/>
            <p:cNvSpPr>
              <a:spLocks noChangeArrowheads="1"/>
            </p:cNvSpPr>
            <p:nvPr/>
          </p:nvSpPr>
          <p:spPr bwMode="auto">
            <a:xfrm>
              <a:off x="1488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7" name="Oval 146"/>
            <p:cNvSpPr>
              <a:spLocks noChangeArrowheads="1"/>
            </p:cNvSpPr>
            <p:nvPr/>
          </p:nvSpPr>
          <p:spPr bwMode="auto">
            <a:xfrm>
              <a:off x="1488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8" name="Oval 147"/>
            <p:cNvSpPr>
              <a:spLocks noChangeArrowheads="1"/>
            </p:cNvSpPr>
            <p:nvPr/>
          </p:nvSpPr>
          <p:spPr bwMode="auto">
            <a:xfrm>
              <a:off x="1584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9" name="Oval 148"/>
            <p:cNvSpPr>
              <a:spLocks noChangeArrowheads="1"/>
            </p:cNvSpPr>
            <p:nvPr/>
          </p:nvSpPr>
          <p:spPr bwMode="auto">
            <a:xfrm>
              <a:off x="1152" y="192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0" name="Oval 149"/>
            <p:cNvSpPr>
              <a:spLocks noChangeArrowheads="1"/>
            </p:cNvSpPr>
            <p:nvPr/>
          </p:nvSpPr>
          <p:spPr bwMode="auto">
            <a:xfrm>
              <a:off x="1248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1" name="Oval 150"/>
            <p:cNvSpPr>
              <a:spLocks noChangeArrowheads="1"/>
            </p:cNvSpPr>
            <p:nvPr/>
          </p:nvSpPr>
          <p:spPr bwMode="auto">
            <a:xfrm>
              <a:off x="1344" y="201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2" name="Oval 151"/>
            <p:cNvSpPr>
              <a:spLocks noChangeArrowheads="1"/>
            </p:cNvSpPr>
            <p:nvPr/>
          </p:nvSpPr>
          <p:spPr bwMode="auto">
            <a:xfrm>
              <a:off x="1344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3" name="Oval 152"/>
            <p:cNvSpPr>
              <a:spLocks noChangeArrowheads="1"/>
            </p:cNvSpPr>
            <p:nvPr/>
          </p:nvSpPr>
          <p:spPr bwMode="auto">
            <a:xfrm>
              <a:off x="864" y="1920"/>
              <a:ext cx="48" cy="4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4" name="Oval 153"/>
            <p:cNvSpPr>
              <a:spLocks noChangeArrowheads="1"/>
            </p:cNvSpPr>
            <p:nvPr/>
          </p:nvSpPr>
          <p:spPr bwMode="auto">
            <a:xfrm>
              <a:off x="1632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5" name="Oval 154"/>
            <p:cNvSpPr>
              <a:spLocks noChangeArrowheads="1"/>
            </p:cNvSpPr>
            <p:nvPr/>
          </p:nvSpPr>
          <p:spPr bwMode="auto">
            <a:xfrm>
              <a:off x="1056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6" name="Oval 155"/>
            <p:cNvSpPr>
              <a:spLocks noChangeArrowheads="1"/>
            </p:cNvSpPr>
            <p:nvPr/>
          </p:nvSpPr>
          <p:spPr bwMode="auto">
            <a:xfrm>
              <a:off x="912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7" name="Oval 156"/>
            <p:cNvSpPr>
              <a:spLocks noChangeArrowheads="1"/>
            </p:cNvSpPr>
            <p:nvPr/>
          </p:nvSpPr>
          <p:spPr bwMode="auto">
            <a:xfrm>
              <a:off x="960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8" name="Oval 157"/>
            <p:cNvSpPr>
              <a:spLocks noChangeArrowheads="1"/>
            </p:cNvSpPr>
            <p:nvPr/>
          </p:nvSpPr>
          <p:spPr bwMode="auto">
            <a:xfrm>
              <a:off x="912" y="12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9" name="Oval 158"/>
            <p:cNvSpPr>
              <a:spLocks noChangeArrowheads="1"/>
            </p:cNvSpPr>
            <p:nvPr/>
          </p:nvSpPr>
          <p:spPr bwMode="auto">
            <a:xfrm>
              <a:off x="1104" y="12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0" name="Oval 159"/>
            <p:cNvSpPr>
              <a:spLocks noChangeArrowheads="1"/>
            </p:cNvSpPr>
            <p:nvPr/>
          </p:nvSpPr>
          <p:spPr bwMode="auto">
            <a:xfrm>
              <a:off x="912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1" name="Oval 160"/>
            <p:cNvSpPr>
              <a:spLocks noChangeArrowheads="1"/>
            </p:cNvSpPr>
            <p:nvPr/>
          </p:nvSpPr>
          <p:spPr bwMode="auto">
            <a:xfrm>
              <a:off x="1056" y="163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2" name="Oval 161"/>
            <p:cNvSpPr>
              <a:spLocks noChangeArrowheads="1"/>
            </p:cNvSpPr>
            <p:nvPr/>
          </p:nvSpPr>
          <p:spPr bwMode="auto">
            <a:xfrm>
              <a:off x="1248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3" name="Oval 162"/>
            <p:cNvSpPr>
              <a:spLocks noChangeArrowheads="1"/>
            </p:cNvSpPr>
            <p:nvPr/>
          </p:nvSpPr>
          <p:spPr bwMode="auto">
            <a:xfrm>
              <a:off x="1440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4" name="Oval 163"/>
            <p:cNvSpPr>
              <a:spLocks noChangeArrowheads="1"/>
            </p:cNvSpPr>
            <p:nvPr/>
          </p:nvSpPr>
          <p:spPr bwMode="auto">
            <a:xfrm>
              <a:off x="1296" y="12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5" name="Oval 164"/>
            <p:cNvSpPr>
              <a:spLocks noChangeArrowheads="1"/>
            </p:cNvSpPr>
            <p:nvPr/>
          </p:nvSpPr>
          <p:spPr bwMode="auto">
            <a:xfrm>
              <a:off x="1584" y="148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6" name="Oval 165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7" name="Oval 166"/>
            <p:cNvSpPr>
              <a:spLocks noChangeArrowheads="1"/>
            </p:cNvSpPr>
            <p:nvPr/>
          </p:nvSpPr>
          <p:spPr bwMode="auto">
            <a:xfrm>
              <a:off x="1008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8" name="Oval 167"/>
            <p:cNvSpPr>
              <a:spLocks noChangeArrowheads="1"/>
            </p:cNvSpPr>
            <p:nvPr/>
          </p:nvSpPr>
          <p:spPr bwMode="auto">
            <a:xfrm>
              <a:off x="864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9" name="Oval 168"/>
            <p:cNvSpPr>
              <a:spLocks noChangeArrowheads="1"/>
            </p:cNvSpPr>
            <p:nvPr/>
          </p:nvSpPr>
          <p:spPr bwMode="auto">
            <a:xfrm>
              <a:off x="1152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0" name="Oval 169"/>
            <p:cNvSpPr>
              <a:spLocks noChangeArrowheads="1"/>
            </p:cNvSpPr>
            <p:nvPr/>
          </p:nvSpPr>
          <p:spPr bwMode="auto">
            <a:xfrm>
              <a:off x="1392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1" name="Oval 170"/>
            <p:cNvSpPr>
              <a:spLocks noChangeArrowheads="1"/>
            </p:cNvSpPr>
            <p:nvPr/>
          </p:nvSpPr>
          <p:spPr bwMode="auto">
            <a:xfrm>
              <a:off x="1104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2" name="Oval 171"/>
            <p:cNvSpPr>
              <a:spLocks noChangeArrowheads="1"/>
            </p:cNvSpPr>
            <p:nvPr/>
          </p:nvSpPr>
          <p:spPr bwMode="auto">
            <a:xfrm>
              <a:off x="1296" y="158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3" name="Oval 172"/>
            <p:cNvSpPr>
              <a:spLocks noChangeArrowheads="1"/>
            </p:cNvSpPr>
            <p:nvPr/>
          </p:nvSpPr>
          <p:spPr bwMode="auto">
            <a:xfrm>
              <a:off x="1248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4" name="Oval 173"/>
            <p:cNvSpPr>
              <a:spLocks noChangeArrowheads="1"/>
            </p:cNvSpPr>
            <p:nvPr/>
          </p:nvSpPr>
          <p:spPr bwMode="auto">
            <a:xfrm>
              <a:off x="1392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5" name="Oval 174"/>
            <p:cNvSpPr>
              <a:spLocks noChangeArrowheads="1"/>
            </p:cNvSpPr>
            <p:nvPr/>
          </p:nvSpPr>
          <p:spPr bwMode="auto">
            <a:xfrm>
              <a:off x="1488" y="12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6" name="Oval 175"/>
            <p:cNvSpPr>
              <a:spLocks noChangeArrowheads="1"/>
            </p:cNvSpPr>
            <p:nvPr/>
          </p:nvSpPr>
          <p:spPr bwMode="auto">
            <a:xfrm>
              <a:off x="1584" y="13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7" name="Oval 176"/>
            <p:cNvSpPr>
              <a:spLocks noChangeArrowheads="1"/>
            </p:cNvSpPr>
            <p:nvPr/>
          </p:nvSpPr>
          <p:spPr bwMode="auto">
            <a:xfrm>
              <a:off x="1536" y="158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8" name="Oval 177"/>
            <p:cNvSpPr>
              <a:spLocks noChangeArrowheads="1"/>
            </p:cNvSpPr>
            <p:nvPr/>
          </p:nvSpPr>
          <p:spPr bwMode="auto">
            <a:xfrm>
              <a:off x="1008" y="1536"/>
              <a:ext cx="48" cy="4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354" name="AutoShape 178"/>
          <p:cNvSpPr>
            <a:spLocks noChangeArrowheads="1"/>
          </p:cNvSpPr>
          <p:nvPr/>
        </p:nvSpPr>
        <p:spPr bwMode="auto">
          <a:xfrm rot="-5400000">
            <a:off x="2374900" y="4071938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55" name="AutoShape 179"/>
          <p:cNvSpPr>
            <a:spLocks noChangeArrowheads="1"/>
          </p:cNvSpPr>
          <p:nvPr/>
        </p:nvSpPr>
        <p:spPr bwMode="auto">
          <a:xfrm rot="-5370649">
            <a:off x="2603500" y="3386138"/>
            <a:ext cx="304800" cy="4572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56" name="AutoShape 180"/>
          <p:cNvSpPr>
            <a:spLocks noChangeArrowheads="1"/>
          </p:cNvSpPr>
          <p:nvPr/>
        </p:nvSpPr>
        <p:spPr bwMode="auto">
          <a:xfrm>
            <a:off x="2222500" y="3614738"/>
            <a:ext cx="228600" cy="152400"/>
          </a:xfrm>
          <a:prstGeom prst="leftArrow">
            <a:avLst>
              <a:gd name="adj1" fmla="val 50000"/>
              <a:gd name="adj2" fmla="val 3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560840" cy="494928"/>
          </a:xfrm>
        </p:spPr>
        <p:txBody>
          <a:bodyPr/>
          <a:lstStyle/>
          <a:p>
            <a:r>
              <a:rPr lang="zh-CN" altLang="en-US" dirty="0" smtClean="0"/>
              <a:t>半导体器件</a:t>
            </a:r>
            <a:r>
              <a:rPr lang="zh-CN" altLang="en-US" dirty="0"/>
              <a:t>的开关特性</a:t>
            </a:r>
            <a:r>
              <a:rPr lang="en-US" altLang="zh-CN" dirty="0"/>
              <a:t>---</a:t>
            </a:r>
            <a:r>
              <a:rPr lang="zh-CN" altLang="en-US" dirty="0" smtClean="0"/>
              <a:t>三</a:t>
            </a:r>
            <a:r>
              <a:rPr lang="zh-CN" altLang="en-US" sz="2800" dirty="0" smtClean="0"/>
              <a:t>极管</a:t>
            </a:r>
            <a:endParaRPr lang="zh-CN" altLang="en-US" dirty="0"/>
          </a:p>
        </p:txBody>
      </p:sp>
      <p:sp>
        <p:nvSpPr>
          <p:cNvPr id="18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1" name="矩形标注 180"/>
          <p:cNvSpPr/>
          <p:nvPr/>
        </p:nvSpPr>
        <p:spPr>
          <a:xfrm>
            <a:off x="3275856" y="6309320"/>
            <a:ext cx="1800200" cy="400110"/>
          </a:xfrm>
          <a:prstGeom prst="wedgeRectCallout">
            <a:avLst>
              <a:gd name="adj1" fmla="val -90358"/>
              <a:gd name="adj2" fmla="val -84523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共发射极接法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7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64" grpId="0" autoUpdateAnimBg="0"/>
      <p:bldP spid="178271" grpId="0" autoUpdateAnimBg="0"/>
      <p:bldP spid="178272" grpId="0" autoUpdateAnimBg="0"/>
      <p:bldP spid="178273" grpId="0" autoUpdateAnimBg="0"/>
      <p:bldP spid="178354" grpId="0" animBg="1"/>
      <p:bldP spid="178355" grpId="0" animBg="1"/>
      <p:bldP spid="178356" grpId="0" animBg="1"/>
      <p:bldP spid="18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4213" y="1557462"/>
            <a:ext cx="3810000" cy="4400550"/>
            <a:chOff x="528" y="972"/>
            <a:chExt cx="2400" cy="277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28" y="972"/>
              <a:ext cx="2400" cy="2772"/>
              <a:chOff x="768" y="864"/>
              <a:chExt cx="2400" cy="2772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68" y="864"/>
                <a:ext cx="2400" cy="2772"/>
                <a:chOff x="768" y="864"/>
                <a:chExt cx="2400" cy="2772"/>
              </a:xfrm>
            </p:grpSpPr>
            <p:graphicFrame>
              <p:nvGraphicFramePr>
                <p:cNvPr id="54384" name="Object 7"/>
                <p:cNvGraphicFramePr>
                  <a:graphicFrameLocks noChangeAspect="1"/>
                </p:cNvGraphicFramePr>
                <p:nvPr/>
              </p:nvGraphicFramePr>
              <p:xfrm>
                <a:off x="768" y="864"/>
                <a:ext cx="2400" cy="2772"/>
              </p:xfrm>
              <a:graphic>
                <a:graphicData uri="http://schemas.openxmlformats.org/presentationml/2006/ole">
                  <p:oleObj spid="_x0000_s288770" name="位图图像" r:id="rId3" imgW="3801006" imgH="4390476" progId="PBrush">
                    <p:embed/>
                  </p:oleObj>
                </a:graphicData>
              </a:graphic>
            </p:graphicFrame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>
                  <a:off x="1104" y="1008"/>
                  <a:ext cx="720" cy="2256"/>
                  <a:chOff x="1104" y="1008"/>
                  <a:chExt cx="720" cy="2256"/>
                </a:xfrm>
              </p:grpSpPr>
              <p:sp>
                <p:nvSpPr>
                  <p:cNvPr id="54386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2208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5438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2976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e</a:t>
                    </a:r>
                  </a:p>
                </p:txBody>
              </p:sp>
              <p:sp>
                <p:nvSpPr>
                  <p:cNvPr id="5438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1008"/>
                    <a:ext cx="240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c</a:t>
                    </a:r>
                  </a:p>
                </p:txBody>
              </p:sp>
            </p:grp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914" y="2976"/>
                <a:ext cx="342" cy="361"/>
                <a:chOff x="1320" y="2811"/>
                <a:chExt cx="342" cy="361"/>
              </a:xfrm>
            </p:grpSpPr>
            <p:sp>
              <p:nvSpPr>
                <p:cNvPr id="54382" name="Rectangle 13"/>
                <p:cNvSpPr>
                  <a:spLocks noChangeArrowheads="1"/>
                </p:cNvSpPr>
                <p:nvPr/>
              </p:nvSpPr>
              <p:spPr bwMode="auto">
                <a:xfrm>
                  <a:off x="1320" y="2811"/>
                  <a:ext cx="34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800" dirty="0">
                      <a:solidFill>
                        <a:srgbClr val="FF0066"/>
                      </a:solidFill>
                    </a:rPr>
                    <a:t>I</a:t>
                  </a:r>
                  <a:r>
                    <a:rPr lang="en-US" altLang="zh-CN" sz="2800" i="0" baseline="-25000" dirty="0">
                      <a:solidFill>
                        <a:srgbClr val="FF0066"/>
                      </a:solidFill>
                    </a:rPr>
                    <a:t> E</a:t>
                  </a:r>
                </a:p>
              </p:txBody>
            </p:sp>
            <p:sp>
              <p:nvSpPr>
                <p:cNvPr id="54383" name="Line 14"/>
                <p:cNvSpPr>
                  <a:spLocks noChangeShapeType="1"/>
                </p:cNvSpPr>
                <p:nvPr/>
              </p:nvSpPr>
              <p:spPr bwMode="auto">
                <a:xfrm>
                  <a:off x="1338" y="2834"/>
                  <a:ext cx="0" cy="338"/>
                </a:xfrm>
                <a:prstGeom prst="line">
                  <a:avLst/>
                </a:prstGeom>
                <a:noFill/>
                <a:ln w="38100">
                  <a:solidFill>
                    <a:srgbClr val="FF0066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938" y="1776"/>
                <a:ext cx="358" cy="327"/>
                <a:chOff x="392" y="1521"/>
                <a:chExt cx="358" cy="327"/>
              </a:xfrm>
            </p:grpSpPr>
            <p:sp>
              <p:nvSpPr>
                <p:cNvPr id="54380" name="Line 16"/>
                <p:cNvSpPr>
                  <a:spLocks noChangeShapeType="1"/>
                </p:cNvSpPr>
                <p:nvPr/>
              </p:nvSpPr>
              <p:spPr bwMode="auto">
                <a:xfrm rot="-5400000">
                  <a:off x="581" y="1676"/>
                  <a:ext cx="0" cy="338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92" y="1521"/>
                  <a:ext cx="34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800" dirty="0">
                      <a:solidFill>
                        <a:srgbClr val="FF0066"/>
                      </a:solidFill>
                    </a:rPr>
                    <a:t>I</a:t>
                  </a:r>
                  <a:r>
                    <a:rPr lang="en-US" altLang="zh-CN" sz="2800" i="0" baseline="-25000" dirty="0">
                      <a:solidFill>
                        <a:srgbClr val="FF0066"/>
                      </a:solidFill>
                    </a:rPr>
                    <a:t> B</a:t>
                  </a:r>
                </a:p>
              </p:txBody>
            </p:sp>
          </p:grpSp>
          <p:grpSp>
            <p:nvGrpSpPr>
              <p:cNvPr id="8" name="Group 18"/>
              <p:cNvGrpSpPr>
                <a:grpSpLocks/>
              </p:cNvGrpSpPr>
              <p:nvPr/>
            </p:nvGrpSpPr>
            <p:grpSpPr bwMode="auto">
              <a:xfrm>
                <a:off x="1392" y="1344"/>
                <a:ext cx="912" cy="1632"/>
                <a:chOff x="816" y="1104"/>
                <a:chExt cx="912" cy="1632"/>
              </a:xfrm>
            </p:grpSpPr>
            <p:grpSp>
              <p:nvGrpSpPr>
                <p:cNvPr id="9" name="Group 19"/>
                <p:cNvGrpSpPr>
                  <a:grpSpLocks/>
                </p:cNvGrpSpPr>
                <p:nvPr/>
              </p:nvGrpSpPr>
              <p:grpSpPr bwMode="auto">
                <a:xfrm>
                  <a:off x="816" y="1104"/>
                  <a:ext cx="912" cy="1632"/>
                  <a:chOff x="816" y="1104"/>
                  <a:chExt cx="912" cy="1632"/>
                </a:xfrm>
              </p:grpSpPr>
              <p:sp>
                <p:nvSpPr>
                  <p:cNvPr id="5437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104"/>
                    <a:ext cx="912" cy="672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4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728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776"/>
                    <a:ext cx="912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112"/>
                    <a:ext cx="912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7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82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8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06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9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160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4302" name="Oval 27"/>
                <p:cNvSpPr>
                  <a:spLocks noChangeArrowheads="1"/>
                </p:cNvSpPr>
                <p:nvPr/>
              </p:nvSpPr>
              <p:spPr bwMode="auto">
                <a:xfrm>
                  <a:off x="864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3" name="Oval 28"/>
                <p:cNvSpPr>
                  <a:spLocks noChangeArrowheads="1"/>
                </p:cNvSpPr>
                <p:nvPr/>
              </p:nvSpPr>
              <p:spPr bwMode="auto">
                <a:xfrm>
                  <a:off x="960" y="22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4" name="Oval 29"/>
                <p:cNvSpPr>
                  <a:spLocks noChangeArrowheads="1"/>
                </p:cNvSpPr>
                <p:nvPr/>
              </p:nvSpPr>
              <p:spPr bwMode="auto">
                <a:xfrm>
                  <a:off x="1104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5" name="Oval 30"/>
                <p:cNvSpPr>
                  <a:spLocks noChangeArrowheads="1"/>
                </p:cNvSpPr>
                <p:nvPr/>
              </p:nvSpPr>
              <p:spPr bwMode="auto">
                <a:xfrm>
                  <a:off x="1248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6" name="Oval 31"/>
                <p:cNvSpPr>
                  <a:spLocks noChangeArrowheads="1"/>
                </p:cNvSpPr>
                <p:nvPr/>
              </p:nvSpPr>
              <p:spPr bwMode="auto">
                <a:xfrm>
                  <a:off x="1392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7" name="Oval 32"/>
                <p:cNvSpPr>
                  <a:spLocks noChangeArrowheads="1"/>
                </p:cNvSpPr>
                <p:nvPr/>
              </p:nvSpPr>
              <p:spPr bwMode="auto">
                <a:xfrm>
                  <a:off x="1632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8" name="Oval 33"/>
                <p:cNvSpPr>
                  <a:spLocks noChangeArrowheads="1"/>
                </p:cNvSpPr>
                <p:nvPr/>
              </p:nvSpPr>
              <p:spPr bwMode="auto">
                <a:xfrm>
                  <a:off x="912" y="24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9" name="Oval 34"/>
                <p:cNvSpPr>
                  <a:spLocks noChangeArrowheads="1"/>
                </p:cNvSpPr>
                <p:nvPr/>
              </p:nvSpPr>
              <p:spPr bwMode="auto">
                <a:xfrm>
                  <a:off x="1008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0" name="Oval 35"/>
                <p:cNvSpPr>
                  <a:spLocks noChangeArrowheads="1"/>
                </p:cNvSpPr>
                <p:nvPr/>
              </p:nvSpPr>
              <p:spPr bwMode="auto">
                <a:xfrm>
                  <a:off x="1056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1" name="Oval 36"/>
                <p:cNvSpPr>
                  <a:spLocks noChangeArrowheads="1"/>
                </p:cNvSpPr>
                <p:nvPr/>
              </p:nvSpPr>
              <p:spPr bwMode="auto">
                <a:xfrm>
                  <a:off x="1104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2" name="Oval 37"/>
                <p:cNvSpPr>
                  <a:spLocks noChangeArrowheads="1"/>
                </p:cNvSpPr>
                <p:nvPr/>
              </p:nvSpPr>
              <p:spPr bwMode="auto">
                <a:xfrm>
                  <a:off x="1200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3" name="Oval 38"/>
                <p:cNvSpPr>
                  <a:spLocks noChangeArrowheads="1"/>
                </p:cNvSpPr>
                <p:nvPr/>
              </p:nvSpPr>
              <p:spPr bwMode="auto">
                <a:xfrm>
                  <a:off x="864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4" name="Oval 39"/>
                <p:cNvSpPr>
                  <a:spLocks noChangeArrowheads="1"/>
                </p:cNvSpPr>
                <p:nvPr/>
              </p:nvSpPr>
              <p:spPr bwMode="auto">
                <a:xfrm>
                  <a:off x="960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5" name="Oval 40"/>
                <p:cNvSpPr>
                  <a:spLocks noChangeArrowheads="1"/>
                </p:cNvSpPr>
                <p:nvPr/>
              </p:nvSpPr>
              <p:spPr bwMode="auto">
                <a:xfrm>
                  <a:off x="1056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6" name="Oval 41"/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7" name="Oval 42"/>
                <p:cNvSpPr>
                  <a:spLocks noChangeArrowheads="1"/>
                </p:cNvSpPr>
                <p:nvPr/>
              </p:nvSpPr>
              <p:spPr bwMode="auto">
                <a:xfrm>
                  <a:off x="1344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8" name="Oval 43"/>
                <p:cNvSpPr>
                  <a:spLocks noChangeArrowheads="1"/>
                </p:cNvSpPr>
                <p:nvPr/>
              </p:nvSpPr>
              <p:spPr bwMode="auto">
                <a:xfrm>
                  <a:off x="1344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9" name="Oval 44"/>
                <p:cNvSpPr>
                  <a:spLocks noChangeArrowheads="1"/>
                </p:cNvSpPr>
                <p:nvPr/>
              </p:nvSpPr>
              <p:spPr bwMode="auto">
                <a:xfrm>
                  <a:off x="1488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0" name="Oval 45"/>
                <p:cNvSpPr>
                  <a:spLocks noChangeArrowheads="1"/>
                </p:cNvSpPr>
                <p:nvPr/>
              </p:nvSpPr>
              <p:spPr bwMode="auto">
                <a:xfrm>
                  <a:off x="1536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1" name="Oval 46"/>
                <p:cNvSpPr>
                  <a:spLocks noChangeArrowheads="1"/>
                </p:cNvSpPr>
                <p:nvPr/>
              </p:nvSpPr>
              <p:spPr bwMode="auto">
                <a:xfrm>
                  <a:off x="1392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2" name="Oval 47"/>
                <p:cNvSpPr>
                  <a:spLocks noChangeArrowheads="1"/>
                </p:cNvSpPr>
                <p:nvPr/>
              </p:nvSpPr>
              <p:spPr bwMode="auto">
                <a:xfrm>
                  <a:off x="1392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3" name="Oval 48"/>
                <p:cNvSpPr>
                  <a:spLocks noChangeArrowheads="1"/>
                </p:cNvSpPr>
                <p:nvPr/>
              </p:nvSpPr>
              <p:spPr bwMode="auto">
                <a:xfrm>
                  <a:off x="1200" y="24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4" name="Oval 49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5" name="Oval 50"/>
                <p:cNvSpPr>
                  <a:spLocks noChangeArrowheads="1"/>
                </p:cNvSpPr>
                <p:nvPr/>
              </p:nvSpPr>
              <p:spPr bwMode="auto">
                <a:xfrm>
                  <a:off x="1488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6" name="Oval 51"/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7" name="Oval 52"/>
                <p:cNvSpPr>
                  <a:spLocks noChangeArrowheads="1"/>
                </p:cNvSpPr>
                <p:nvPr/>
              </p:nvSpPr>
              <p:spPr bwMode="auto">
                <a:xfrm>
                  <a:off x="1632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8" name="Oval 53"/>
                <p:cNvSpPr>
                  <a:spLocks noChangeArrowheads="1"/>
                </p:cNvSpPr>
                <p:nvPr/>
              </p:nvSpPr>
              <p:spPr bwMode="auto">
                <a:xfrm>
                  <a:off x="1584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9" name="Oval 54"/>
                <p:cNvSpPr>
                  <a:spLocks noChangeArrowheads="1"/>
                </p:cNvSpPr>
                <p:nvPr/>
              </p:nvSpPr>
              <p:spPr bwMode="auto">
                <a:xfrm>
                  <a:off x="1056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0" name="Oval 55"/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1" name="Oval 56"/>
                <p:cNvSpPr>
                  <a:spLocks noChangeArrowheads="1"/>
                </p:cNvSpPr>
                <p:nvPr/>
              </p:nvSpPr>
              <p:spPr bwMode="auto">
                <a:xfrm>
                  <a:off x="864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2" name="Oval 57"/>
                <p:cNvSpPr>
                  <a:spLocks noChangeArrowheads="1"/>
                </p:cNvSpPr>
                <p:nvPr/>
              </p:nvSpPr>
              <p:spPr bwMode="auto">
                <a:xfrm>
                  <a:off x="864" y="23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3" name="Oval 58"/>
                <p:cNvSpPr>
                  <a:spLocks noChangeArrowheads="1"/>
                </p:cNvSpPr>
                <p:nvPr/>
              </p:nvSpPr>
              <p:spPr bwMode="auto">
                <a:xfrm>
                  <a:off x="1296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4" name="Oval 59"/>
                <p:cNvSpPr>
                  <a:spLocks noChangeArrowheads="1"/>
                </p:cNvSpPr>
                <p:nvPr/>
              </p:nvSpPr>
              <p:spPr bwMode="auto">
                <a:xfrm>
                  <a:off x="1488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5" name="Oval 60"/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6" name="Oval 61"/>
                <p:cNvSpPr>
                  <a:spLocks noChangeArrowheads="1"/>
                </p:cNvSpPr>
                <p:nvPr/>
              </p:nvSpPr>
              <p:spPr bwMode="auto">
                <a:xfrm>
                  <a:off x="1632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7" name="Oval 62"/>
                <p:cNvSpPr>
                  <a:spLocks noChangeArrowheads="1"/>
                </p:cNvSpPr>
                <p:nvPr/>
              </p:nvSpPr>
              <p:spPr bwMode="auto">
                <a:xfrm>
                  <a:off x="1200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8" name="Oval 63"/>
                <p:cNvSpPr>
                  <a:spLocks noChangeArrowheads="1"/>
                </p:cNvSpPr>
                <p:nvPr/>
              </p:nvSpPr>
              <p:spPr bwMode="auto">
                <a:xfrm>
                  <a:off x="1248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9" name="Oval 64"/>
                <p:cNvSpPr>
                  <a:spLocks noChangeArrowheads="1"/>
                </p:cNvSpPr>
                <p:nvPr/>
              </p:nvSpPr>
              <p:spPr bwMode="auto">
                <a:xfrm>
                  <a:off x="1104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0" name="Oval 65"/>
                <p:cNvSpPr>
                  <a:spLocks noChangeArrowheads="1"/>
                </p:cNvSpPr>
                <p:nvPr/>
              </p:nvSpPr>
              <p:spPr bwMode="auto">
                <a:xfrm>
                  <a:off x="148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1" name="Oval 66"/>
                <p:cNvSpPr>
                  <a:spLocks noChangeArrowheads="1"/>
                </p:cNvSpPr>
                <p:nvPr/>
              </p:nvSpPr>
              <p:spPr bwMode="auto">
                <a:xfrm>
                  <a:off x="1488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2" name="Oval 6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3" name="Oval 68"/>
                <p:cNvSpPr>
                  <a:spLocks noChangeArrowheads="1"/>
                </p:cNvSpPr>
                <p:nvPr/>
              </p:nvSpPr>
              <p:spPr bwMode="auto">
                <a:xfrm>
                  <a:off x="115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4" name="Oval 69"/>
                <p:cNvSpPr>
                  <a:spLocks noChangeArrowheads="1"/>
                </p:cNvSpPr>
                <p:nvPr/>
              </p:nvSpPr>
              <p:spPr bwMode="auto">
                <a:xfrm>
                  <a:off x="1248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5" name="Oval 70"/>
                <p:cNvSpPr>
                  <a:spLocks noChangeArrowheads="1"/>
                </p:cNvSpPr>
                <p:nvPr/>
              </p:nvSpPr>
              <p:spPr bwMode="auto">
                <a:xfrm>
                  <a:off x="1344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6" name="Oval 71"/>
                <p:cNvSpPr>
                  <a:spLocks noChangeArrowheads="1"/>
                </p:cNvSpPr>
                <p:nvPr/>
              </p:nvSpPr>
              <p:spPr bwMode="auto">
                <a:xfrm>
                  <a:off x="1344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7" name="Oval 72"/>
                <p:cNvSpPr>
                  <a:spLocks noChangeArrowheads="1"/>
                </p:cNvSpPr>
                <p:nvPr/>
              </p:nvSpPr>
              <p:spPr bwMode="auto">
                <a:xfrm>
                  <a:off x="864" y="192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8" name="Oval 73"/>
                <p:cNvSpPr>
                  <a:spLocks noChangeArrowheads="1"/>
                </p:cNvSpPr>
                <p:nvPr/>
              </p:nvSpPr>
              <p:spPr bwMode="auto">
                <a:xfrm>
                  <a:off x="1632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9" name="Oval 74"/>
                <p:cNvSpPr>
                  <a:spLocks noChangeArrowheads="1"/>
                </p:cNvSpPr>
                <p:nvPr/>
              </p:nvSpPr>
              <p:spPr bwMode="auto">
                <a:xfrm>
                  <a:off x="1056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0" name="Oval 7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1" name="Oval 76"/>
                <p:cNvSpPr>
                  <a:spLocks noChangeArrowheads="1"/>
                </p:cNvSpPr>
                <p:nvPr/>
              </p:nvSpPr>
              <p:spPr bwMode="auto">
                <a:xfrm>
                  <a:off x="960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2" name="Oval 77"/>
                <p:cNvSpPr>
                  <a:spLocks noChangeArrowheads="1"/>
                </p:cNvSpPr>
                <p:nvPr/>
              </p:nvSpPr>
              <p:spPr bwMode="auto">
                <a:xfrm>
                  <a:off x="912" y="12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3" name="Oval 78"/>
                <p:cNvSpPr>
                  <a:spLocks noChangeArrowheads="1"/>
                </p:cNvSpPr>
                <p:nvPr/>
              </p:nvSpPr>
              <p:spPr bwMode="auto">
                <a:xfrm>
                  <a:off x="1104" y="12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4" name="Oval 79"/>
                <p:cNvSpPr>
                  <a:spLocks noChangeArrowheads="1"/>
                </p:cNvSpPr>
                <p:nvPr/>
              </p:nvSpPr>
              <p:spPr bwMode="auto">
                <a:xfrm>
                  <a:off x="912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5" name="Oval 80"/>
                <p:cNvSpPr>
                  <a:spLocks noChangeArrowheads="1"/>
                </p:cNvSpPr>
                <p:nvPr/>
              </p:nvSpPr>
              <p:spPr bwMode="auto">
                <a:xfrm>
                  <a:off x="1056" y="163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6" name="Oval 81"/>
                <p:cNvSpPr>
                  <a:spLocks noChangeArrowheads="1"/>
                </p:cNvSpPr>
                <p:nvPr/>
              </p:nvSpPr>
              <p:spPr bwMode="auto">
                <a:xfrm>
                  <a:off x="1248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7" name="Oval 82"/>
                <p:cNvSpPr>
                  <a:spLocks noChangeArrowheads="1"/>
                </p:cNvSpPr>
                <p:nvPr/>
              </p:nvSpPr>
              <p:spPr bwMode="auto">
                <a:xfrm>
                  <a:off x="1440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8" name="Oval 83"/>
                <p:cNvSpPr>
                  <a:spLocks noChangeArrowheads="1"/>
                </p:cNvSpPr>
                <p:nvPr/>
              </p:nvSpPr>
              <p:spPr bwMode="auto">
                <a:xfrm>
                  <a:off x="1296" y="12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9" name="Oval 84"/>
                <p:cNvSpPr>
                  <a:spLocks noChangeArrowheads="1"/>
                </p:cNvSpPr>
                <p:nvPr/>
              </p:nvSpPr>
              <p:spPr bwMode="auto">
                <a:xfrm>
                  <a:off x="1584" y="148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0" name="Oval 85"/>
                <p:cNvSpPr>
                  <a:spLocks noChangeArrowheads="1"/>
                </p:cNvSpPr>
                <p:nvPr/>
              </p:nvSpPr>
              <p:spPr bwMode="auto">
                <a:xfrm>
                  <a:off x="1584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1" name="Oval 86"/>
                <p:cNvSpPr>
                  <a:spLocks noChangeArrowheads="1"/>
                </p:cNvSpPr>
                <p:nvPr/>
              </p:nvSpPr>
              <p:spPr bwMode="auto">
                <a:xfrm>
                  <a:off x="100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2" name="Oval 87"/>
                <p:cNvSpPr>
                  <a:spLocks noChangeArrowheads="1"/>
                </p:cNvSpPr>
                <p:nvPr/>
              </p:nvSpPr>
              <p:spPr bwMode="auto">
                <a:xfrm>
                  <a:off x="864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3" name="Oval 88"/>
                <p:cNvSpPr>
                  <a:spLocks noChangeArrowheads="1"/>
                </p:cNvSpPr>
                <p:nvPr/>
              </p:nvSpPr>
              <p:spPr bwMode="auto">
                <a:xfrm>
                  <a:off x="1152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4" name="Oval 89"/>
                <p:cNvSpPr>
                  <a:spLocks noChangeArrowheads="1"/>
                </p:cNvSpPr>
                <p:nvPr/>
              </p:nvSpPr>
              <p:spPr bwMode="auto">
                <a:xfrm>
                  <a:off x="1392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5" name="Oval 90"/>
                <p:cNvSpPr>
                  <a:spLocks noChangeArrowheads="1"/>
                </p:cNvSpPr>
                <p:nvPr/>
              </p:nvSpPr>
              <p:spPr bwMode="auto">
                <a:xfrm>
                  <a:off x="1104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6" name="Oval 91"/>
                <p:cNvSpPr>
                  <a:spLocks noChangeArrowheads="1"/>
                </p:cNvSpPr>
                <p:nvPr/>
              </p:nvSpPr>
              <p:spPr bwMode="auto">
                <a:xfrm>
                  <a:off x="1296" y="158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7" name="Oval 92"/>
                <p:cNvSpPr>
                  <a:spLocks noChangeArrowheads="1"/>
                </p:cNvSpPr>
                <p:nvPr/>
              </p:nvSpPr>
              <p:spPr bwMode="auto">
                <a:xfrm>
                  <a:off x="1248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8" name="Oval 93"/>
                <p:cNvSpPr>
                  <a:spLocks noChangeArrowheads="1"/>
                </p:cNvSpPr>
                <p:nvPr/>
              </p:nvSpPr>
              <p:spPr bwMode="auto">
                <a:xfrm>
                  <a:off x="1392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9" name="Oval 94"/>
                <p:cNvSpPr>
                  <a:spLocks noChangeArrowheads="1"/>
                </p:cNvSpPr>
                <p:nvPr/>
              </p:nvSpPr>
              <p:spPr bwMode="auto">
                <a:xfrm>
                  <a:off x="1488" y="12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0" name="Oval 95"/>
                <p:cNvSpPr>
                  <a:spLocks noChangeArrowheads="1"/>
                </p:cNvSpPr>
                <p:nvPr/>
              </p:nvSpPr>
              <p:spPr bwMode="auto">
                <a:xfrm>
                  <a:off x="1584" y="13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1" name="Oval 96"/>
                <p:cNvSpPr>
                  <a:spLocks noChangeArrowheads="1"/>
                </p:cNvSpPr>
                <p:nvPr/>
              </p:nvSpPr>
              <p:spPr bwMode="auto">
                <a:xfrm>
                  <a:off x="1536" y="158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2" name="Oval 97"/>
                <p:cNvSpPr>
                  <a:spLocks noChangeArrowheads="1"/>
                </p:cNvSpPr>
                <p:nvPr/>
              </p:nvSpPr>
              <p:spPr bwMode="auto">
                <a:xfrm>
                  <a:off x="1008" y="153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4298" name="AutoShape 98"/>
              <p:cNvSpPr>
                <a:spLocks noChangeArrowheads="1"/>
              </p:cNvSpPr>
              <p:nvPr/>
            </p:nvSpPr>
            <p:spPr bwMode="auto">
              <a:xfrm rot="-5370649">
                <a:off x="1728" y="2016"/>
                <a:ext cx="192" cy="288"/>
              </a:xfrm>
              <a:prstGeom prst="notchedRightArrow">
                <a:avLst>
                  <a:gd name="adj1" fmla="val 50000"/>
                  <a:gd name="adj2" fmla="val 25000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9" name="AutoShape 99"/>
              <p:cNvSpPr>
                <a:spLocks noChangeArrowheads="1"/>
              </p:cNvSpPr>
              <p:nvPr/>
            </p:nvSpPr>
            <p:spPr bwMode="auto">
              <a:xfrm>
                <a:off x="1488" y="2160"/>
                <a:ext cx="144" cy="96"/>
              </a:xfrm>
              <a:prstGeom prst="leftArrow">
                <a:avLst>
                  <a:gd name="adj1" fmla="val 50000"/>
                  <a:gd name="adj2" fmla="val 37500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0" name="AutoShape 100"/>
              <p:cNvSpPr>
                <a:spLocks noChangeArrowheads="1"/>
              </p:cNvSpPr>
              <p:nvPr/>
            </p:nvSpPr>
            <p:spPr bwMode="auto">
              <a:xfrm rot="-5400000">
                <a:off x="1584" y="2544"/>
                <a:ext cx="432" cy="336"/>
              </a:xfrm>
              <a:prstGeom prst="notchedRightArrow">
                <a:avLst>
                  <a:gd name="adj1" fmla="val 50000"/>
                  <a:gd name="adj2" fmla="val 32143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4292" name="Text Box 101"/>
            <p:cNvSpPr txBox="1">
              <a:spLocks noChangeArrowheads="1"/>
            </p:cNvSpPr>
            <p:nvPr/>
          </p:nvSpPr>
          <p:spPr bwMode="auto">
            <a:xfrm>
              <a:off x="727" y="2555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c</a:t>
              </a:r>
            </a:p>
          </p:txBody>
        </p:sp>
        <p:sp>
          <p:nvSpPr>
            <p:cNvPr id="54293" name="Text Box 102"/>
            <p:cNvSpPr txBox="1">
              <a:spLocks noChangeArrowheads="1"/>
            </p:cNvSpPr>
            <p:nvPr/>
          </p:nvSpPr>
          <p:spPr bwMode="auto">
            <a:xfrm>
              <a:off x="2572" y="1616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b</a:t>
              </a:r>
            </a:p>
          </p:txBody>
        </p:sp>
      </p:grpSp>
      <p:sp>
        <p:nvSpPr>
          <p:cNvPr id="179303" name="Text Box 103"/>
          <p:cNvSpPr txBox="1">
            <a:spLocks noChangeArrowheads="1"/>
          </p:cNvSpPr>
          <p:nvPr/>
        </p:nvSpPr>
        <p:spPr bwMode="auto">
          <a:xfrm>
            <a:off x="4788024" y="1700808"/>
            <a:ext cx="4046984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3.</a:t>
            </a:r>
            <a:r>
              <a:rPr lang="zh-CN" altLang="en-US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集电结加反向电压，漂移运动形成集电极电流</a:t>
            </a:r>
            <a:r>
              <a:rPr lang="en-US" altLang="zh-CN" b="1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b="1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</a:t>
            </a:r>
            <a:r>
              <a:rPr lang="en-US" altLang="zh-CN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600" b="1" i="0" dirty="0">
                <a:latin typeface="华文新魏" pitchFamily="2" charset="-122"/>
                <a:ea typeface="华文新魏" pitchFamily="2" charset="-122"/>
              </a:rPr>
              <a:t>　</a:t>
            </a:r>
          </a:p>
          <a:p>
            <a:pPr algn="just">
              <a:spcBef>
                <a:spcPts val="600"/>
              </a:spcBef>
            </a:pPr>
            <a:r>
              <a:rPr lang="zh-CN" altLang="en-US" b="1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集电结反偏，有利于收集基区扩散过来的电子而形成集电极电流</a:t>
            </a:r>
            <a:r>
              <a:rPr lang="zh-CN" altLang="en-US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b="1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cn</a:t>
            </a:r>
            <a:r>
              <a:rPr lang="zh-CN" altLang="en-US" b="1" i="0" dirty="0">
                <a:latin typeface="华文新魏" pitchFamily="2" charset="-122"/>
                <a:ea typeface="华文新魏" pitchFamily="2" charset="-122"/>
              </a:rPr>
              <a:t>。</a:t>
            </a:r>
          </a:p>
          <a:p>
            <a:pPr algn="just">
              <a:spcBef>
                <a:spcPts val="600"/>
              </a:spcBef>
            </a:pPr>
            <a:r>
              <a:rPr lang="zh-CN" altLang="en-US" b="1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其能量来自外接电源</a:t>
            </a:r>
            <a:r>
              <a:rPr lang="zh-CN" altLang="en-US" b="1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V</a:t>
            </a:r>
            <a:r>
              <a:rPr lang="en-US" altLang="zh-CN" b="1" i="0" baseline="-2500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CC</a:t>
            </a:r>
            <a:r>
              <a:rPr lang="en-US" altLang="zh-CN" b="1" i="0" dirty="0">
                <a:solidFill>
                  <a:srgbClr val="FF3300"/>
                </a:solidFill>
              </a:rPr>
              <a:t> </a:t>
            </a:r>
            <a:r>
              <a:rPr lang="zh-CN" altLang="en-US" b="1" i="0" dirty="0">
                <a:solidFill>
                  <a:srgbClr val="FF3300"/>
                </a:solidFill>
              </a:rPr>
              <a:t>。</a:t>
            </a:r>
          </a:p>
        </p:txBody>
      </p:sp>
      <p:sp>
        <p:nvSpPr>
          <p:cNvPr id="179304" name="AutoShape 104"/>
          <p:cNvSpPr>
            <a:spLocks noChangeArrowheads="1"/>
          </p:cNvSpPr>
          <p:nvPr/>
        </p:nvSpPr>
        <p:spPr bwMode="auto">
          <a:xfrm rot="-5400000">
            <a:off x="2055813" y="2548062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2513013" y="1724149"/>
            <a:ext cx="557212" cy="519113"/>
            <a:chOff x="1356" y="737"/>
            <a:chExt cx="351" cy="327"/>
          </a:xfrm>
        </p:grpSpPr>
        <p:sp>
          <p:nvSpPr>
            <p:cNvPr id="54289" name="Line 106"/>
            <p:cNvSpPr>
              <a:spLocks noChangeShapeType="1"/>
            </p:cNvSpPr>
            <p:nvPr/>
          </p:nvSpPr>
          <p:spPr bwMode="auto">
            <a:xfrm>
              <a:off x="1361" y="776"/>
              <a:ext cx="0" cy="27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Rectangle 107"/>
            <p:cNvSpPr>
              <a:spLocks noChangeArrowheads="1"/>
            </p:cNvSpPr>
            <p:nvPr/>
          </p:nvSpPr>
          <p:spPr bwMode="auto">
            <a:xfrm>
              <a:off x="1356" y="737"/>
              <a:ext cx="35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 dirty="0">
                  <a:solidFill>
                    <a:srgbClr val="FF0066"/>
                  </a:solidFill>
                </a:rPr>
                <a:t> C</a:t>
              </a:r>
            </a:p>
          </p:txBody>
        </p:sp>
      </p:grpSp>
      <p:sp>
        <p:nvSpPr>
          <p:cNvPr id="179308" name="AutoShape 108"/>
          <p:cNvSpPr>
            <a:spLocks noChangeArrowheads="1"/>
          </p:cNvSpPr>
          <p:nvPr/>
        </p:nvSpPr>
        <p:spPr bwMode="auto">
          <a:xfrm>
            <a:off x="1979613" y="3081462"/>
            <a:ext cx="228600" cy="609600"/>
          </a:xfrm>
          <a:prstGeom prst="curvedLeftArrow">
            <a:avLst>
              <a:gd name="adj1" fmla="val 53148"/>
              <a:gd name="adj2" fmla="val 106481"/>
              <a:gd name="adj3" fmla="val 7440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309" name="Text Box 109"/>
          <p:cNvSpPr txBox="1">
            <a:spLocks noChangeArrowheads="1"/>
          </p:cNvSpPr>
          <p:nvPr/>
        </p:nvSpPr>
        <p:spPr bwMode="auto">
          <a:xfrm>
            <a:off x="4716016" y="3933056"/>
            <a:ext cx="4114800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</a:pP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另外，集电区和基区的少子在外电场的作用下将进行漂移运动而形成</a:t>
            </a:r>
            <a:r>
              <a:rPr lang="zh-CN" altLang="en-US" sz="2600" b="1" i="0" dirty="0">
                <a:solidFill>
                  <a:srgbClr val="FF0000"/>
                </a:solidFill>
              </a:rPr>
              <a:t>反向</a:t>
            </a:r>
            <a:r>
              <a:rPr lang="zh-CN" altLang="en-US" sz="2600" b="1" i="0" dirty="0">
                <a:solidFill>
                  <a:srgbClr val="FF3300"/>
                </a:solidFill>
              </a:rPr>
              <a:t>饱和电流</a:t>
            </a:r>
            <a:r>
              <a:rPr lang="zh-CN" altLang="en-US" sz="2600" b="1" i="0" dirty="0"/>
              <a:t>，</a:t>
            </a: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用</a:t>
            </a:r>
            <a:r>
              <a:rPr lang="en-US" altLang="zh-CN" sz="2600" b="1" dirty="0">
                <a:solidFill>
                  <a:srgbClr val="FF3300"/>
                </a:solidFill>
              </a:rPr>
              <a:t>I</a:t>
            </a:r>
            <a:r>
              <a:rPr lang="en-US" altLang="zh-CN" sz="2600" b="1" i="0" baseline="-25000" dirty="0">
                <a:solidFill>
                  <a:srgbClr val="FF3300"/>
                </a:solidFill>
              </a:rPr>
              <a:t>CBO</a:t>
            </a: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表示。</a:t>
            </a:r>
          </a:p>
        </p:txBody>
      </p:sp>
      <p:grpSp>
        <p:nvGrpSpPr>
          <p:cNvPr id="11" name="Group 110"/>
          <p:cNvGrpSpPr>
            <a:grpSpLocks/>
          </p:cNvGrpSpPr>
          <p:nvPr/>
        </p:nvGrpSpPr>
        <p:grpSpPr bwMode="auto">
          <a:xfrm>
            <a:off x="836613" y="2776662"/>
            <a:ext cx="1143000" cy="457200"/>
            <a:chOff x="816" y="1344"/>
            <a:chExt cx="720" cy="288"/>
          </a:xfrm>
        </p:grpSpPr>
        <p:sp>
          <p:nvSpPr>
            <p:cNvPr id="54287" name="Text Box 111"/>
            <p:cNvSpPr txBox="1">
              <a:spLocks noChangeArrowheads="1"/>
            </p:cNvSpPr>
            <p:nvPr/>
          </p:nvSpPr>
          <p:spPr bwMode="auto">
            <a:xfrm>
              <a:off x="816" y="1344"/>
              <a:ext cx="4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3300"/>
                  </a:solidFill>
                </a:rPr>
                <a:t>I</a:t>
              </a:r>
              <a:r>
                <a:rPr lang="en-US" altLang="zh-CN" sz="2000" i="0" baseline="-25000">
                  <a:solidFill>
                    <a:srgbClr val="FF3300"/>
                  </a:solidFill>
                </a:rPr>
                <a:t>CBO</a:t>
              </a:r>
            </a:p>
          </p:txBody>
        </p:sp>
        <p:sp>
          <p:nvSpPr>
            <p:cNvPr id="54288" name="Line 112"/>
            <p:cNvSpPr>
              <a:spLocks noChangeShapeType="1"/>
            </p:cNvSpPr>
            <p:nvPr/>
          </p:nvSpPr>
          <p:spPr bwMode="auto">
            <a:xfrm>
              <a:off x="1200" y="1536"/>
              <a:ext cx="336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488831" cy="494928"/>
          </a:xfrm>
        </p:spPr>
        <p:txBody>
          <a:bodyPr/>
          <a:lstStyle/>
          <a:p>
            <a:r>
              <a:rPr lang="zh-CN" altLang="en-US" dirty="0" smtClean="0"/>
              <a:t>半导体器件</a:t>
            </a:r>
            <a:r>
              <a:rPr lang="zh-CN" altLang="en-US" dirty="0"/>
              <a:t>的开关特性</a:t>
            </a:r>
            <a:r>
              <a:rPr lang="en-US" altLang="zh-CN" dirty="0"/>
              <a:t>---</a:t>
            </a:r>
            <a:r>
              <a:rPr lang="zh-CN" altLang="en-US" dirty="0" smtClean="0"/>
              <a:t>三</a:t>
            </a:r>
            <a:r>
              <a:rPr lang="zh-CN" altLang="en-US" sz="2800" dirty="0" smtClean="0"/>
              <a:t>极管</a:t>
            </a:r>
            <a:endParaRPr lang="zh-CN" altLang="en-US" dirty="0"/>
          </a:p>
        </p:txBody>
      </p:sp>
      <p:sp>
        <p:nvSpPr>
          <p:cNvPr id="118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3" name="矩形标注 112"/>
          <p:cNvSpPr/>
          <p:nvPr/>
        </p:nvSpPr>
        <p:spPr>
          <a:xfrm>
            <a:off x="7452320" y="717085"/>
            <a:ext cx="1224136" cy="707886"/>
          </a:xfrm>
          <a:prstGeom prst="wedgeRectCallout">
            <a:avLst>
              <a:gd name="adj1" fmla="val -73845"/>
              <a:gd name="adj2" fmla="val 10157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此时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&gt;V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BB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4" name="矩形标注 113"/>
          <p:cNvSpPr/>
          <p:nvPr/>
        </p:nvSpPr>
        <p:spPr>
          <a:xfrm>
            <a:off x="3275856" y="5887144"/>
            <a:ext cx="1800200" cy="400110"/>
          </a:xfrm>
          <a:prstGeom prst="wedgeRectCallout">
            <a:avLst>
              <a:gd name="adj1" fmla="val -91338"/>
              <a:gd name="adj2" fmla="val -10118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共发射极接法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303" grpId="0" autoUpdateAnimBg="0"/>
      <p:bldP spid="179304" grpId="0" animBg="1"/>
      <p:bldP spid="179308" grpId="0" animBg="1"/>
      <p:bldP spid="179309" grpId="0" autoUpdateAnimBg="0"/>
      <p:bldP spid="1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50405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323528" y="2348880"/>
            <a:ext cx="5904656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FF0000"/>
                </a:solidFill>
              </a:rPr>
              <a:t>三极管的输入特性曲线 </a:t>
            </a:r>
            <a:r>
              <a:rPr lang="zh-CN" altLang="en-US" sz="2800" i="0" dirty="0" smtClean="0">
                <a:solidFill>
                  <a:prstClr val="black"/>
                </a:solidFill>
              </a:rPr>
              <a:t>：</a:t>
            </a:r>
            <a:r>
              <a:rPr lang="zh-CN" altLang="en-US" sz="2800" i="0" dirty="0" smtClean="0"/>
              <a:t>集</a:t>
            </a:r>
            <a:r>
              <a:rPr lang="en-US" altLang="zh-CN" sz="2800" i="0" dirty="0" smtClean="0"/>
              <a:t>-</a:t>
            </a:r>
            <a:r>
              <a:rPr lang="zh-CN" altLang="en-US" sz="2800" i="0" dirty="0" smtClean="0"/>
              <a:t>射极电压</a:t>
            </a:r>
            <a:r>
              <a:rPr lang="en-US" altLang="zh-CN" sz="2800" i="0" dirty="0" smtClean="0"/>
              <a:t>U</a:t>
            </a:r>
            <a:r>
              <a:rPr lang="en-US" altLang="zh-CN" sz="2800" i="0" baseline="-25000" dirty="0" smtClean="0"/>
              <a:t>CE</a:t>
            </a:r>
            <a:r>
              <a:rPr lang="zh-CN" altLang="en-US" sz="2800" i="0" dirty="0" smtClean="0"/>
              <a:t>为某特定值时，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基极电流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I</a:t>
            </a:r>
            <a:r>
              <a:rPr lang="en-US" altLang="zh-CN" sz="2800" i="0" baseline="-25000" dirty="0" smtClean="0">
                <a:solidFill>
                  <a:srgbClr val="0000CC"/>
                </a:solidFill>
              </a:rPr>
              <a:t>B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与基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-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射电压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U</a:t>
            </a:r>
            <a:r>
              <a:rPr lang="en-US" altLang="zh-CN" sz="2800" i="0" baseline="-25000" dirty="0" smtClean="0">
                <a:solidFill>
                  <a:srgbClr val="0000CC"/>
                </a:solidFill>
              </a:rPr>
              <a:t>BE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的关系曲线</a:t>
            </a:r>
            <a:r>
              <a:rPr lang="zh-CN" altLang="en-US" sz="2800" i="0" dirty="0" smtClean="0"/>
              <a:t>。</a:t>
            </a:r>
            <a:endParaRPr lang="en-US" altLang="zh-CN" sz="2800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是三极管启动的</a:t>
            </a:r>
            <a:r>
              <a:rPr lang="zh-CN" altLang="en-US" i="0" dirty="0" smtClean="0">
                <a:solidFill>
                  <a:srgbClr val="FF0000"/>
                </a:solidFill>
              </a:rPr>
              <a:t>临界电压</a:t>
            </a:r>
            <a:r>
              <a:rPr lang="zh-CN" altLang="en-US" i="0" dirty="0" smtClean="0"/>
              <a:t>，它会受集射极电压大小的影响，</a:t>
            </a:r>
            <a:r>
              <a:rPr lang="zh-CN" altLang="en-US" i="0" dirty="0" smtClean="0">
                <a:solidFill>
                  <a:srgbClr val="FF0000"/>
                </a:solidFill>
              </a:rPr>
              <a:t>正常工作</a:t>
            </a:r>
            <a:r>
              <a:rPr lang="zh-CN" altLang="en-US" i="0" dirty="0" smtClean="0"/>
              <a:t>时，</a:t>
            </a:r>
            <a:r>
              <a:rPr lang="en-US" altLang="zh-CN" i="0" dirty="0" smtClean="0">
                <a:solidFill>
                  <a:srgbClr val="0000CC"/>
                </a:solidFill>
              </a:rPr>
              <a:t>NPN</a:t>
            </a:r>
            <a:r>
              <a:rPr lang="zh-CN" altLang="en-US" i="0" dirty="0" smtClean="0">
                <a:solidFill>
                  <a:srgbClr val="0000CC"/>
                </a:solidFill>
              </a:rPr>
              <a:t>硅管启动电压约为</a:t>
            </a:r>
            <a:r>
              <a:rPr lang="en-US" altLang="zh-CN" i="0" dirty="0" smtClean="0">
                <a:solidFill>
                  <a:srgbClr val="0000CC"/>
                </a:solidFill>
              </a:rPr>
              <a:t>0.6V</a:t>
            </a:r>
            <a:r>
              <a:rPr lang="zh-CN" altLang="en-US" i="0" dirty="0" smtClean="0"/>
              <a:t>；</a:t>
            </a:r>
            <a:endParaRPr lang="en-US" altLang="zh-CN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BE</a:t>
            </a:r>
            <a:r>
              <a:rPr lang="en-US" altLang="zh-CN" i="0" dirty="0" smtClean="0"/>
              <a:t>&lt;U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时，三极管</a:t>
            </a:r>
            <a:r>
              <a:rPr lang="zh-CN" altLang="en-US" i="0" dirty="0" smtClean="0">
                <a:solidFill>
                  <a:srgbClr val="FF0000"/>
                </a:solidFill>
              </a:rPr>
              <a:t>高绝缘</a:t>
            </a:r>
            <a:r>
              <a:rPr lang="zh-CN" altLang="en-US" i="0" dirty="0" smtClean="0"/>
              <a:t>，</a:t>
            </a:r>
            <a:r>
              <a:rPr lang="en-US" altLang="zh-CN" i="0" dirty="0" smtClean="0"/>
              <a:t>U</a:t>
            </a:r>
            <a:r>
              <a:rPr lang="en-US" altLang="zh-CN" i="0" baseline="-25000" dirty="0" smtClean="0"/>
              <a:t>BE</a:t>
            </a:r>
            <a:r>
              <a:rPr lang="en-US" altLang="zh-CN" i="0" dirty="0" smtClean="0"/>
              <a:t>&gt;U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时，三极管才会</a:t>
            </a:r>
            <a:r>
              <a:rPr lang="zh-CN" altLang="en-US" i="0" dirty="0" smtClean="0">
                <a:solidFill>
                  <a:srgbClr val="FF0000"/>
                </a:solidFill>
              </a:rPr>
              <a:t>启动</a:t>
            </a:r>
            <a:r>
              <a:rPr lang="zh-CN" altLang="en-US" i="0" dirty="0" smtClean="0"/>
              <a:t>；</a:t>
            </a:r>
            <a:endParaRPr lang="en-US" altLang="zh-CN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CE</a:t>
            </a:r>
            <a:r>
              <a:rPr lang="zh-CN" altLang="en-US" i="0" dirty="0" smtClean="0"/>
              <a:t>增大，特性曲线右移，但当</a:t>
            </a:r>
            <a:r>
              <a:rPr lang="en-US" altLang="zh-CN" i="0" dirty="0" smtClean="0"/>
              <a:t>U</a:t>
            </a:r>
            <a:r>
              <a:rPr lang="en-US" altLang="zh-CN" i="0" baseline="-25000" dirty="0" smtClean="0"/>
              <a:t>CE</a:t>
            </a:r>
            <a:r>
              <a:rPr lang="en-US" altLang="zh-CN" i="0" dirty="0" smtClean="0"/>
              <a:t>&gt;1.0V</a:t>
            </a:r>
            <a:r>
              <a:rPr lang="zh-CN" altLang="en-US" i="0" dirty="0" smtClean="0"/>
              <a:t>后，特性曲线几乎不再移动。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pic>
        <p:nvPicPr>
          <p:cNvPr id="2949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429000"/>
            <a:ext cx="2541385" cy="282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5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72794" y="1"/>
            <a:ext cx="3171205" cy="2348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187624" y="710698"/>
            <a:ext cx="4032448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800" b="1" dirty="0" smtClean="0"/>
              <a:t>三极管的</a:t>
            </a:r>
            <a:r>
              <a:rPr lang="zh-CN" altLang="en-US" sz="2800" b="1" i="0" dirty="0" smtClean="0">
                <a:latin typeface="宋体" pitchFamily="2" charset="-122"/>
              </a:rPr>
              <a:t>输入</a:t>
            </a:r>
            <a:r>
              <a:rPr lang="zh-CN" altLang="en-US" sz="2800" b="1" i="0" dirty="0">
                <a:latin typeface="宋体" pitchFamily="2" charset="-122"/>
              </a:rPr>
              <a:t>特性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24200" y="2230661"/>
            <a:ext cx="4248150" cy="3619500"/>
            <a:chOff x="1968" y="1224"/>
            <a:chExt cx="2676" cy="2280"/>
          </a:xfrm>
        </p:grpSpPr>
        <p:sp>
          <p:nvSpPr>
            <p:cNvPr id="59430" name="AutoShape 5"/>
            <p:cNvSpPr>
              <a:spLocks/>
            </p:cNvSpPr>
            <p:nvPr/>
          </p:nvSpPr>
          <p:spPr bwMode="auto">
            <a:xfrm>
              <a:off x="1968" y="1224"/>
              <a:ext cx="1344" cy="2280"/>
            </a:xfrm>
            <a:custGeom>
              <a:avLst/>
              <a:gdLst>
                <a:gd name="T0" fmla="*/ 0 w 1344"/>
                <a:gd name="T1" fmla="*/ 2280 h 2280"/>
                <a:gd name="T2" fmla="*/ 174 w 1344"/>
                <a:gd name="T3" fmla="*/ 2273 h 2280"/>
                <a:gd name="T4" fmla="*/ 348 w 1344"/>
                <a:gd name="T5" fmla="*/ 2266 h 2280"/>
                <a:gd name="T6" fmla="*/ 456 w 1344"/>
                <a:gd name="T7" fmla="*/ 2256 h 2280"/>
                <a:gd name="T8" fmla="*/ 564 w 1344"/>
                <a:gd name="T9" fmla="*/ 2246 h 2280"/>
                <a:gd name="T10" fmla="*/ 574 w 1344"/>
                <a:gd name="T11" fmla="*/ 2268 h 2280"/>
                <a:gd name="T12" fmla="*/ 648 w 1344"/>
                <a:gd name="T13" fmla="*/ 2220 h 2280"/>
                <a:gd name="T14" fmla="*/ 722 w 1344"/>
                <a:gd name="T15" fmla="*/ 2172 h 2280"/>
                <a:gd name="T16" fmla="*/ 828 w 1344"/>
                <a:gd name="T17" fmla="*/ 2120 h 2280"/>
                <a:gd name="T18" fmla="*/ 900 w 1344"/>
                <a:gd name="T19" fmla="*/ 1968 h 2280"/>
                <a:gd name="T20" fmla="*/ 972 w 1344"/>
                <a:gd name="T21" fmla="*/ 1816 h 2280"/>
                <a:gd name="T22" fmla="*/ 1006 w 1344"/>
                <a:gd name="T23" fmla="*/ 1636 h 2280"/>
                <a:gd name="T24" fmla="*/ 1080 w 1344"/>
                <a:gd name="T25" fmla="*/ 1308 h 2280"/>
                <a:gd name="T26" fmla="*/ 1154 w 1344"/>
                <a:gd name="T27" fmla="*/ 980 h 2280"/>
                <a:gd name="T28" fmla="*/ 1289 w 1344"/>
                <a:gd name="T29" fmla="*/ 272 h 2280"/>
                <a:gd name="T30" fmla="*/ 1344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31" name="AutoShape 6"/>
            <p:cNvSpPr>
              <a:spLocks noChangeArrowheads="1"/>
            </p:cNvSpPr>
            <p:nvPr/>
          </p:nvSpPr>
          <p:spPr bwMode="auto">
            <a:xfrm>
              <a:off x="3833" y="1435"/>
              <a:ext cx="811" cy="323"/>
            </a:xfrm>
            <a:prstGeom prst="wedgeRoundRectCallout">
              <a:avLst>
                <a:gd name="adj1" fmla="val -107793"/>
                <a:gd name="adj2" fmla="val 4769"/>
                <a:gd name="adj3" fmla="val 16667"/>
              </a:avLst>
            </a:prstGeom>
            <a:noFill/>
            <a:ln w="38100">
              <a:solidFill>
                <a:srgbClr val="003300"/>
              </a:solidFill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 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  <a:sym typeface="Symbol" pitchFamily="18" charset="2"/>
                </a:rPr>
                <a:t>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1V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354263" y="1930624"/>
            <a:ext cx="5500687" cy="4457700"/>
            <a:chOff x="1483" y="1035"/>
            <a:chExt cx="3465" cy="2808"/>
          </a:xfrm>
        </p:grpSpPr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 flipV="1">
              <a:off x="1968" y="1164"/>
              <a:ext cx="0" cy="23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1968" y="3516"/>
              <a:ext cx="2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2688" y="344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3444" y="344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 rot="5400000">
              <a:off x="2016" y="308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 rot="5400000">
              <a:off x="2004" y="2582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 rot="5400000">
              <a:off x="1992" y="2100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 rot="5400000">
              <a:off x="2004" y="1620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2" name="Text Box 16"/>
            <p:cNvSpPr txBox="1">
              <a:spLocks noChangeArrowheads="1"/>
            </p:cNvSpPr>
            <p:nvPr/>
          </p:nvSpPr>
          <p:spPr bwMode="auto">
            <a:xfrm>
              <a:off x="2045" y="1035"/>
              <a:ext cx="866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(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  <a:sym typeface="Symbol" pitchFamily="18" charset="2"/>
                </a:rPr>
                <a:t>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A)</a:t>
              </a:r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4070" y="3274"/>
              <a:ext cx="878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3200" baseline="-25000">
                  <a:solidFill>
                    <a:srgbClr val="050507"/>
                  </a:solidFill>
                  <a:ea typeface="楷体_GB2312" pitchFamily="49" charset="-122"/>
                </a:rPr>
                <a:t>BE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(V)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1519" y="2942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20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1483" y="245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40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1519" y="197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60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1531" y="149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80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2483" y="3478"/>
              <a:ext cx="434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0.4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3264" y="3478"/>
              <a:ext cx="434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0.8</a:t>
              </a:r>
            </a:p>
          </p:txBody>
        </p:sp>
      </p:grpSp>
      <p:sp>
        <p:nvSpPr>
          <p:cNvPr id="124952" name="Line 24"/>
          <p:cNvSpPr>
            <a:spLocks noChangeShapeType="1"/>
          </p:cNvSpPr>
          <p:nvPr/>
        </p:nvSpPr>
        <p:spPr bwMode="auto">
          <a:xfrm>
            <a:off x="4895850" y="2668811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4953" name="AutoShape 25"/>
          <p:cNvSpPr>
            <a:spLocks noChangeArrowheads="1"/>
          </p:cNvSpPr>
          <p:nvPr/>
        </p:nvSpPr>
        <p:spPr bwMode="auto">
          <a:xfrm>
            <a:off x="5800725" y="3740781"/>
            <a:ext cx="3013075" cy="1202510"/>
          </a:xfrm>
          <a:prstGeom prst="wedgeRectCallout">
            <a:avLst>
              <a:gd name="adj1" fmla="val -73236"/>
              <a:gd name="adj2" fmla="val -50042"/>
            </a:avLst>
          </a:prstGeom>
          <a:solidFill>
            <a:srgbClr val="00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工作压降：  </a:t>
            </a:r>
            <a:endParaRPr lang="en-US" altLang="zh-CN" sz="2400" b="1" i="0" dirty="0" smtClean="0">
              <a:solidFill>
                <a:srgbClr val="050507"/>
              </a:solidFill>
              <a:ea typeface="楷体_GB2312" pitchFamily="49" charset="-122"/>
            </a:endParaRPr>
          </a:p>
          <a:p>
            <a:r>
              <a:rPr lang="zh-CN" altLang="en-US" sz="2400" b="1" i="0" dirty="0" smtClean="0">
                <a:solidFill>
                  <a:srgbClr val="050507"/>
                </a:solidFill>
                <a:ea typeface="楷体_GB2312" pitchFamily="49" charset="-122"/>
              </a:rPr>
              <a:t>硅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管</a:t>
            </a:r>
            <a:r>
              <a:rPr lang="en-US" altLang="zh-CN" sz="2400" b="1" dirty="0">
                <a:solidFill>
                  <a:srgbClr val="050507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050507"/>
                </a:solidFill>
                <a:ea typeface="楷体_GB2312" pitchFamily="49" charset="-122"/>
              </a:rPr>
              <a:t>BE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0.6~0.7V</a:t>
            </a:r>
            <a:r>
              <a:rPr lang="en-US" altLang="zh-CN" sz="2400" b="1" i="0" dirty="0" smtClean="0">
                <a:solidFill>
                  <a:srgbClr val="050507"/>
                </a:solidFill>
                <a:ea typeface="楷体_GB2312" pitchFamily="49" charset="-122"/>
              </a:rPr>
              <a:t>,</a:t>
            </a:r>
          </a:p>
          <a:p>
            <a:r>
              <a:rPr lang="zh-CN" altLang="en-US" sz="2400" b="1" i="0" dirty="0" smtClean="0">
                <a:solidFill>
                  <a:srgbClr val="050507"/>
                </a:solidFill>
                <a:ea typeface="楷体_GB2312" pitchFamily="49" charset="-122"/>
              </a:rPr>
              <a:t>锗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管</a:t>
            </a:r>
            <a:r>
              <a:rPr lang="en-US" altLang="zh-CN" sz="2400" b="1" dirty="0">
                <a:solidFill>
                  <a:srgbClr val="050507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050507"/>
                </a:solidFill>
                <a:ea typeface="楷体_GB2312" pitchFamily="49" charset="-122"/>
              </a:rPr>
              <a:t>BE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0.2~0.3V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。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1403351" y="1811562"/>
            <a:ext cx="3192463" cy="4046538"/>
            <a:chOff x="884" y="951"/>
            <a:chExt cx="2011" cy="2549"/>
          </a:xfrm>
        </p:grpSpPr>
        <p:sp>
          <p:nvSpPr>
            <p:cNvPr id="59412" name="AutoShape 27"/>
            <p:cNvSpPr>
              <a:spLocks/>
            </p:cNvSpPr>
            <p:nvPr/>
          </p:nvSpPr>
          <p:spPr bwMode="auto">
            <a:xfrm>
              <a:off x="1976" y="1220"/>
              <a:ext cx="919" cy="2280"/>
            </a:xfrm>
            <a:custGeom>
              <a:avLst/>
              <a:gdLst>
                <a:gd name="T0" fmla="*/ 0 w 1344"/>
                <a:gd name="T1" fmla="*/ 2280 h 2280"/>
                <a:gd name="T2" fmla="*/ 119 w 1344"/>
                <a:gd name="T3" fmla="*/ 2273 h 2280"/>
                <a:gd name="T4" fmla="*/ 238 w 1344"/>
                <a:gd name="T5" fmla="*/ 2266 h 2280"/>
                <a:gd name="T6" fmla="*/ 312 w 1344"/>
                <a:gd name="T7" fmla="*/ 2256 h 2280"/>
                <a:gd name="T8" fmla="*/ 386 w 1344"/>
                <a:gd name="T9" fmla="*/ 2246 h 2280"/>
                <a:gd name="T10" fmla="*/ 392 w 1344"/>
                <a:gd name="T11" fmla="*/ 2268 h 2280"/>
                <a:gd name="T12" fmla="*/ 443 w 1344"/>
                <a:gd name="T13" fmla="*/ 2220 h 2280"/>
                <a:gd name="T14" fmla="*/ 494 w 1344"/>
                <a:gd name="T15" fmla="*/ 2172 h 2280"/>
                <a:gd name="T16" fmla="*/ 566 w 1344"/>
                <a:gd name="T17" fmla="*/ 2120 h 2280"/>
                <a:gd name="T18" fmla="*/ 615 w 1344"/>
                <a:gd name="T19" fmla="*/ 1968 h 2280"/>
                <a:gd name="T20" fmla="*/ 665 w 1344"/>
                <a:gd name="T21" fmla="*/ 1816 h 2280"/>
                <a:gd name="T22" fmla="*/ 688 w 1344"/>
                <a:gd name="T23" fmla="*/ 1636 h 2280"/>
                <a:gd name="T24" fmla="*/ 738 w 1344"/>
                <a:gd name="T25" fmla="*/ 1308 h 2280"/>
                <a:gd name="T26" fmla="*/ 789 w 1344"/>
                <a:gd name="T27" fmla="*/ 980 h 2280"/>
                <a:gd name="T28" fmla="*/ 881 w 1344"/>
                <a:gd name="T29" fmla="*/ 272 h 2280"/>
                <a:gd name="T30" fmla="*/ 919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6699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3" name="AutoShape 28"/>
            <p:cNvSpPr>
              <a:spLocks noChangeArrowheads="1"/>
            </p:cNvSpPr>
            <p:nvPr/>
          </p:nvSpPr>
          <p:spPr bwMode="auto">
            <a:xfrm>
              <a:off x="884" y="951"/>
              <a:ext cx="785" cy="323"/>
            </a:xfrm>
            <a:prstGeom prst="wedgeRoundRectCallout">
              <a:avLst>
                <a:gd name="adj1" fmla="val 177085"/>
                <a:gd name="adj2" fmla="val 249190"/>
                <a:gd name="adj3" fmla="val 16667"/>
              </a:avLst>
            </a:prstGeom>
            <a:noFill/>
            <a:ln w="38100">
              <a:solidFill>
                <a:srgbClr val="669900"/>
              </a:solidFill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=0V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3289300" y="1340074"/>
            <a:ext cx="2330450" cy="4511675"/>
            <a:chOff x="2072" y="663"/>
            <a:chExt cx="1468" cy="2842"/>
          </a:xfrm>
        </p:grpSpPr>
        <p:sp>
          <p:nvSpPr>
            <p:cNvPr id="59410" name="AutoShape 30"/>
            <p:cNvSpPr>
              <a:spLocks/>
            </p:cNvSpPr>
            <p:nvPr/>
          </p:nvSpPr>
          <p:spPr bwMode="auto">
            <a:xfrm>
              <a:off x="2072" y="1225"/>
              <a:ext cx="1107" cy="2280"/>
            </a:xfrm>
            <a:custGeom>
              <a:avLst/>
              <a:gdLst>
                <a:gd name="T0" fmla="*/ 0 w 1344"/>
                <a:gd name="T1" fmla="*/ 2280 h 2280"/>
                <a:gd name="T2" fmla="*/ 143 w 1344"/>
                <a:gd name="T3" fmla="*/ 2273 h 2280"/>
                <a:gd name="T4" fmla="*/ 287 w 1344"/>
                <a:gd name="T5" fmla="*/ 2266 h 2280"/>
                <a:gd name="T6" fmla="*/ 376 w 1344"/>
                <a:gd name="T7" fmla="*/ 2256 h 2280"/>
                <a:gd name="T8" fmla="*/ 465 w 1344"/>
                <a:gd name="T9" fmla="*/ 2246 h 2280"/>
                <a:gd name="T10" fmla="*/ 473 w 1344"/>
                <a:gd name="T11" fmla="*/ 2268 h 2280"/>
                <a:gd name="T12" fmla="*/ 534 w 1344"/>
                <a:gd name="T13" fmla="*/ 2220 h 2280"/>
                <a:gd name="T14" fmla="*/ 595 w 1344"/>
                <a:gd name="T15" fmla="*/ 2172 h 2280"/>
                <a:gd name="T16" fmla="*/ 682 w 1344"/>
                <a:gd name="T17" fmla="*/ 2120 h 2280"/>
                <a:gd name="T18" fmla="*/ 741 w 1344"/>
                <a:gd name="T19" fmla="*/ 1968 h 2280"/>
                <a:gd name="T20" fmla="*/ 801 w 1344"/>
                <a:gd name="T21" fmla="*/ 1816 h 2280"/>
                <a:gd name="T22" fmla="*/ 829 w 1344"/>
                <a:gd name="T23" fmla="*/ 1636 h 2280"/>
                <a:gd name="T24" fmla="*/ 890 w 1344"/>
                <a:gd name="T25" fmla="*/ 1308 h 2280"/>
                <a:gd name="T26" fmla="*/ 951 w 1344"/>
                <a:gd name="T27" fmla="*/ 980 h 2280"/>
                <a:gd name="T28" fmla="*/ 1062 w 1344"/>
                <a:gd name="T29" fmla="*/ 272 h 2280"/>
                <a:gd name="T30" fmla="*/ 1107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3366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1" name="AutoShape 31"/>
            <p:cNvSpPr>
              <a:spLocks noChangeArrowheads="1"/>
            </p:cNvSpPr>
            <p:nvPr/>
          </p:nvSpPr>
          <p:spPr bwMode="auto">
            <a:xfrm>
              <a:off x="2517" y="663"/>
              <a:ext cx="1023" cy="323"/>
            </a:xfrm>
            <a:prstGeom prst="wedgeRoundRectCallout">
              <a:avLst>
                <a:gd name="adj1" fmla="val 14347"/>
                <a:gd name="adj2" fmla="val 109868"/>
                <a:gd name="adj3" fmla="val 16667"/>
              </a:avLst>
            </a:prstGeom>
            <a:noFill/>
            <a:ln w="38100">
              <a:solidFill>
                <a:srgbClr val="336600"/>
              </a:solidFill>
              <a:miter lim="800000"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>
                  <a:solidFill>
                    <a:srgbClr val="050507"/>
                  </a:solidFill>
                  <a:ea typeface="楷体_GB2312" pitchFamily="49" charset="-122"/>
                </a:rPr>
                <a:t> =0.5V</a:t>
              </a:r>
            </a:p>
          </p:txBody>
        </p:sp>
      </p:grpSp>
      <p:sp>
        <p:nvSpPr>
          <p:cNvPr id="124960" name="AutoShape 32"/>
          <p:cNvSpPr>
            <a:spLocks noChangeArrowheads="1"/>
          </p:cNvSpPr>
          <p:nvPr/>
        </p:nvSpPr>
        <p:spPr bwMode="auto">
          <a:xfrm>
            <a:off x="107504" y="4797152"/>
            <a:ext cx="1866900" cy="1202510"/>
          </a:xfrm>
          <a:prstGeom prst="wedgeRectCallout">
            <a:avLst>
              <a:gd name="adj1" fmla="val 135458"/>
              <a:gd name="adj2" fmla="val 39009"/>
            </a:avLst>
          </a:prstGeom>
          <a:solidFill>
            <a:srgbClr val="00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死区电压，硅管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0.5V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，锗管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0.1V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6228184" y="1340768"/>
            <a:ext cx="1944216" cy="954107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I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B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f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u</a:t>
            </a:r>
            <a:r>
              <a:rPr lang="en-US" altLang="zh-CN" sz="2800" b="1" i="0" baseline="-25000" dirty="0" err="1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BE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) </a:t>
            </a:r>
          </a:p>
          <a:p>
            <a:pPr>
              <a:spcBef>
                <a:spcPct val="0"/>
              </a:spcBef>
            </a:pP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U</a:t>
            </a:r>
            <a:r>
              <a:rPr lang="en-US" altLang="zh-CN" sz="2000" b="1" i="0" baseline="-300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CE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=const</a:t>
            </a:r>
            <a:endParaRPr lang="en-US" altLang="zh-CN" sz="2800" b="1" i="0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2" grpId="0" animBg="1"/>
      <p:bldP spid="124953" grpId="0" animBg="1" autoUpdateAnimBg="0"/>
      <p:bldP spid="124960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50405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395536" y="1556792"/>
            <a:ext cx="5472608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FF0000"/>
                </a:solidFill>
              </a:rPr>
              <a:t>三极管的输出特性曲线 </a:t>
            </a:r>
            <a:r>
              <a:rPr lang="zh-CN" altLang="en-US" sz="2800" i="0" dirty="0" smtClean="0">
                <a:solidFill>
                  <a:prstClr val="black"/>
                </a:solidFill>
              </a:rPr>
              <a:t>：</a:t>
            </a:r>
            <a:r>
              <a:rPr lang="zh-CN" altLang="en-US" sz="2800" i="0" dirty="0" smtClean="0"/>
              <a:t>基极电流</a:t>
            </a:r>
            <a:r>
              <a:rPr lang="en-US" altLang="zh-CN" sz="2800" i="0" dirty="0" smtClean="0"/>
              <a:t>I</a:t>
            </a:r>
            <a:r>
              <a:rPr lang="en-US" altLang="zh-CN" sz="2800" i="0" baseline="-25000" dirty="0" smtClean="0"/>
              <a:t>B</a:t>
            </a:r>
            <a:r>
              <a:rPr lang="zh-CN" altLang="en-US" sz="2800" i="0" dirty="0" smtClean="0"/>
              <a:t>一定时，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集极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I</a:t>
            </a:r>
            <a:r>
              <a:rPr lang="en-US" altLang="zh-CN" sz="2800" i="0" baseline="-25000" dirty="0" smtClean="0">
                <a:solidFill>
                  <a:srgbClr val="0000CC"/>
                </a:solidFill>
              </a:rPr>
              <a:t>C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与集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-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射电压</a:t>
            </a:r>
            <a:r>
              <a:rPr lang="en-US" altLang="zh-CN" sz="2800" i="0" dirty="0" smtClean="0">
                <a:solidFill>
                  <a:srgbClr val="0000CC"/>
                </a:solidFill>
              </a:rPr>
              <a:t>U</a:t>
            </a:r>
            <a:r>
              <a:rPr lang="en-US" altLang="zh-CN" sz="2800" i="0" baseline="-25000" dirty="0" smtClean="0">
                <a:solidFill>
                  <a:srgbClr val="0000CC"/>
                </a:solidFill>
              </a:rPr>
              <a:t>CE</a:t>
            </a:r>
            <a:r>
              <a:rPr lang="zh-CN" altLang="en-US" sz="2800" i="0" dirty="0" smtClean="0">
                <a:solidFill>
                  <a:srgbClr val="0000CC"/>
                </a:solidFill>
              </a:rPr>
              <a:t>之间的关系曲线</a:t>
            </a:r>
            <a:r>
              <a:rPr lang="zh-CN" altLang="en-US" sz="2800" i="0" dirty="0" smtClean="0"/>
              <a:t>，是一组曲线。</a:t>
            </a:r>
            <a:endParaRPr lang="en-US" altLang="zh-CN" sz="2800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en-US" altLang="zh-CN" i="0" dirty="0" smtClean="0"/>
              <a:t>=0</a:t>
            </a:r>
            <a:r>
              <a:rPr lang="zh-CN" altLang="en-US" i="0" dirty="0" smtClean="0"/>
              <a:t>时</a:t>
            </a:r>
            <a:r>
              <a:rPr lang="en-US" altLang="zh-CN" i="0" dirty="0" smtClean="0"/>
              <a:t>, I</a:t>
            </a:r>
            <a:r>
              <a:rPr lang="en-US" altLang="zh-CN" i="0" baseline="-25000" dirty="0" smtClean="0"/>
              <a:t>C</a:t>
            </a:r>
            <a:r>
              <a:rPr lang="en-US" altLang="zh-CN" i="0" dirty="0" smtClean="0"/>
              <a:t>→0 ,</a:t>
            </a:r>
            <a:r>
              <a:rPr lang="zh-CN" altLang="en-US" i="0" dirty="0" smtClean="0"/>
              <a:t>称为三极管处于</a:t>
            </a:r>
            <a:r>
              <a:rPr lang="zh-CN" altLang="en-US" i="0" dirty="0" smtClean="0">
                <a:solidFill>
                  <a:srgbClr val="FF0000"/>
                </a:solidFill>
              </a:rPr>
              <a:t>截止状态</a:t>
            </a:r>
            <a:r>
              <a:rPr lang="zh-CN" altLang="en-US" i="0" dirty="0" smtClean="0"/>
              <a:t>，相当于开关断开</a:t>
            </a:r>
            <a:r>
              <a:rPr lang="en-US" altLang="zh-CN" i="0" dirty="0" smtClean="0"/>
              <a:t>;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en-US" altLang="zh-CN" i="0" dirty="0" smtClean="0"/>
              <a:t>&gt;0</a:t>
            </a:r>
            <a:r>
              <a:rPr lang="zh-CN" altLang="en-US" i="0" dirty="0" smtClean="0"/>
              <a:t>时</a:t>
            </a:r>
            <a:r>
              <a:rPr lang="en-US" altLang="zh-CN" i="0" dirty="0" smtClean="0"/>
              <a:t>, 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轻微的变化</a:t>
            </a:r>
            <a:r>
              <a:rPr lang="en-US" altLang="zh-CN" i="0" dirty="0" smtClean="0"/>
              <a:t>,</a:t>
            </a:r>
            <a:r>
              <a:rPr lang="zh-CN" altLang="en-US" i="0" dirty="0" smtClean="0"/>
              <a:t>会在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C</a:t>
            </a:r>
            <a:r>
              <a:rPr lang="zh-CN" altLang="en-US" i="0" dirty="0" smtClean="0"/>
              <a:t>上以几十甚至百多倍</a:t>
            </a:r>
            <a:r>
              <a:rPr lang="zh-CN" altLang="en-US" i="0" dirty="0" smtClean="0">
                <a:solidFill>
                  <a:srgbClr val="FF0000"/>
                </a:solidFill>
              </a:rPr>
              <a:t>放大</a:t>
            </a:r>
            <a:r>
              <a:rPr lang="zh-CN" altLang="en-US" i="0" dirty="0" smtClean="0"/>
              <a:t>表现出来</a:t>
            </a:r>
            <a:r>
              <a:rPr lang="en-US" altLang="zh-CN" i="0" dirty="0" smtClean="0"/>
              <a:t>;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很大时，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C</a:t>
            </a:r>
            <a:r>
              <a:rPr lang="zh-CN" altLang="en-US" i="0" dirty="0" smtClean="0"/>
              <a:t>变得很大，不能继续随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的增大而增大，三极管失去放大功能，表现为</a:t>
            </a:r>
            <a:r>
              <a:rPr lang="zh-CN" altLang="en-US" i="0" dirty="0" smtClean="0">
                <a:solidFill>
                  <a:srgbClr val="FF0000"/>
                </a:solidFill>
              </a:rPr>
              <a:t>开关导通</a:t>
            </a:r>
            <a:r>
              <a:rPr lang="zh-CN" altLang="en-US" i="0" dirty="0" smtClean="0"/>
              <a:t>。</a:t>
            </a:r>
            <a:endParaRPr lang="zh-CN" altLang="en-US" i="0" dirty="0"/>
          </a:p>
        </p:txBody>
      </p:sp>
      <p:pic>
        <p:nvPicPr>
          <p:cNvPr id="487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2060848"/>
            <a:ext cx="295328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302241" y="719714"/>
            <a:ext cx="348715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i="0" dirty="0" smtClean="0">
                <a:solidFill>
                  <a:srgbClr val="050507"/>
                </a:solidFill>
              </a:rPr>
              <a:t> </a:t>
            </a:r>
            <a:r>
              <a:rPr lang="zh-CN" altLang="en-US" sz="2800" b="1" dirty="0" smtClean="0">
                <a:solidFill>
                  <a:srgbClr val="050507"/>
                </a:solidFill>
              </a:rPr>
              <a:t>三极管的</a:t>
            </a:r>
            <a:r>
              <a:rPr lang="zh-CN" altLang="en-US" sz="2800" b="1" i="0" dirty="0" smtClean="0">
                <a:solidFill>
                  <a:srgbClr val="050507"/>
                </a:solidFill>
                <a:latin typeface="宋体" pitchFamily="2" charset="-122"/>
              </a:rPr>
              <a:t>输出特性</a:t>
            </a:r>
            <a:endParaRPr lang="zh-CN" altLang="en-US" sz="2800" b="1" i="0" dirty="0">
              <a:solidFill>
                <a:srgbClr val="050507"/>
              </a:solidFill>
              <a:latin typeface="宋体" pitchFamily="2" charset="-122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24076" y="1412205"/>
            <a:ext cx="5580063" cy="5108575"/>
            <a:chOff x="1449" y="678"/>
            <a:chExt cx="3515" cy="321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9" y="792"/>
              <a:ext cx="411" cy="2796"/>
              <a:chOff x="1473" y="828"/>
              <a:chExt cx="411" cy="2796"/>
            </a:xfrm>
          </p:grpSpPr>
          <p:sp>
            <p:nvSpPr>
              <p:cNvPr id="60457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58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59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0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1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2" name="Text Box 10"/>
              <p:cNvSpPr txBox="1">
                <a:spLocks noChangeArrowheads="1"/>
              </p:cNvSpPr>
              <p:nvPr/>
            </p:nvSpPr>
            <p:spPr bwMode="auto">
              <a:xfrm>
                <a:off x="1473" y="2937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0463" name="Text Box 11"/>
              <p:cNvSpPr txBox="1">
                <a:spLocks noChangeArrowheads="1"/>
              </p:cNvSpPr>
              <p:nvPr/>
            </p:nvSpPr>
            <p:spPr bwMode="auto">
              <a:xfrm>
                <a:off x="1473" y="2347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0464" name="Text Box 12"/>
              <p:cNvSpPr txBox="1">
                <a:spLocks noChangeArrowheads="1"/>
              </p:cNvSpPr>
              <p:nvPr/>
            </p:nvSpPr>
            <p:spPr bwMode="auto">
              <a:xfrm>
                <a:off x="1473" y="1758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0465" name="Text Box 13"/>
              <p:cNvSpPr txBox="1">
                <a:spLocks noChangeArrowheads="1"/>
              </p:cNvSpPr>
              <p:nvPr/>
            </p:nvSpPr>
            <p:spPr bwMode="auto">
              <a:xfrm>
                <a:off x="1473" y="1123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4" name="Group 44"/>
            <p:cNvGrpSpPr>
              <a:grpSpLocks/>
            </p:cNvGrpSpPr>
            <p:nvPr/>
          </p:nvGrpSpPr>
          <p:grpSpPr bwMode="auto">
            <a:xfrm>
              <a:off x="1764" y="678"/>
              <a:ext cx="3200" cy="3218"/>
              <a:chOff x="1764" y="678"/>
              <a:chExt cx="3200" cy="3218"/>
            </a:xfrm>
          </p:grpSpPr>
          <p:sp>
            <p:nvSpPr>
              <p:cNvPr id="60432" name="Text Box 3"/>
              <p:cNvSpPr txBox="1">
                <a:spLocks noChangeArrowheads="1"/>
              </p:cNvSpPr>
              <p:nvPr/>
            </p:nvSpPr>
            <p:spPr bwMode="auto">
              <a:xfrm>
                <a:off x="1857" y="678"/>
                <a:ext cx="818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square" lIns="90000" tIns="46800" rIns="90000" bIns="46800" anchor="ctr">
                <a:spAutoFit/>
              </a:bodyPr>
              <a:lstStyle/>
              <a:p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C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i="0" dirty="0" err="1">
                    <a:solidFill>
                      <a:srgbClr val="050507"/>
                    </a:solidFill>
                    <a:ea typeface="楷体_GB2312" pitchFamily="49" charset="-122"/>
                  </a:rPr>
                  <a:t>mA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  )</a:t>
                </a:r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1764" y="3504"/>
                <a:ext cx="3200" cy="392"/>
                <a:chOff x="1800" y="3540"/>
                <a:chExt cx="3200" cy="392"/>
              </a:xfrm>
            </p:grpSpPr>
            <p:sp>
              <p:nvSpPr>
                <p:cNvPr id="6044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800" y="3600"/>
                  <a:ext cx="2700" cy="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48" name="Line 16"/>
                <p:cNvSpPr>
                  <a:spLocks noChangeShapeType="1"/>
                </p:cNvSpPr>
                <p:nvPr/>
              </p:nvSpPr>
              <p:spPr bwMode="auto">
                <a:xfrm>
                  <a:off x="2340" y="3540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49" name="Line 17"/>
                <p:cNvSpPr>
                  <a:spLocks noChangeShapeType="1"/>
                </p:cNvSpPr>
                <p:nvPr/>
              </p:nvSpPr>
              <p:spPr bwMode="auto">
                <a:xfrm>
                  <a:off x="2928" y="3540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42" y="3617"/>
                  <a:ext cx="658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ea typeface="楷体_GB2312" pitchFamily="49" charset="-122"/>
                    </a:rPr>
                    <a:t>U</a:t>
                  </a:r>
                  <a:r>
                    <a:rPr lang="en-US" altLang="zh-CN" sz="2400" baseline="-25000" dirty="0">
                      <a:ea typeface="楷体_GB2312" pitchFamily="49" charset="-122"/>
                    </a:rPr>
                    <a:t>CE</a:t>
                  </a:r>
                  <a:r>
                    <a:rPr lang="en-US" altLang="zh-CN" sz="2400" i="0" dirty="0">
                      <a:ea typeface="楷体_GB2312" pitchFamily="49" charset="-122"/>
                    </a:rPr>
                    <a:t>(V)</a:t>
                  </a:r>
                </a:p>
              </p:txBody>
            </p:sp>
            <p:sp>
              <p:nvSpPr>
                <p:cNvPr id="6045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82" y="3622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3</a:t>
                  </a:r>
                </a:p>
              </p:txBody>
            </p:sp>
            <p:sp>
              <p:nvSpPr>
                <p:cNvPr id="6045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831" y="3634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6</a:t>
                  </a:r>
                </a:p>
              </p:txBody>
            </p:sp>
            <p:sp>
              <p:nvSpPr>
                <p:cNvPr id="60453" name="Line 21"/>
                <p:cNvSpPr>
                  <a:spLocks noChangeShapeType="1"/>
                </p:cNvSpPr>
                <p:nvPr/>
              </p:nvSpPr>
              <p:spPr bwMode="auto">
                <a:xfrm>
                  <a:off x="3480" y="3552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4" name="Line 22"/>
                <p:cNvSpPr>
                  <a:spLocks noChangeShapeType="1"/>
                </p:cNvSpPr>
                <p:nvPr/>
              </p:nvSpPr>
              <p:spPr bwMode="auto">
                <a:xfrm>
                  <a:off x="4032" y="3552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334" y="3640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9</a:t>
                  </a:r>
                </a:p>
              </p:txBody>
            </p:sp>
            <p:sp>
              <p:nvSpPr>
                <p:cNvPr id="6045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857" y="3622"/>
                  <a:ext cx="327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12</a:t>
                  </a:r>
                </a:p>
              </p:txBody>
            </p:sp>
          </p:grpSp>
          <p:sp>
            <p:nvSpPr>
              <p:cNvPr id="60434" name="AutoShape 25"/>
              <p:cNvSpPr>
                <a:spLocks/>
              </p:cNvSpPr>
              <p:nvPr/>
            </p:nvSpPr>
            <p:spPr bwMode="auto">
              <a:xfrm>
                <a:off x="1765" y="3444"/>
                <a:ext cx="2387" cy="131"/>
              </a:xfrm>
              <a:custGeom>
                <a:avLst/>
                <a:gdLst>
                  <a:gd name="T0" fmla="*/ 19 w 2387"/>
                  <a:gd name="T1" fmla="*/ 131 h 131"/>
                  <a:gd name="T2" fmla="*/ 27 w 2387"/>
                  <a:gd name="T3" fmla="*/ 125 h 131"/>
                  <a:gd name="T4" fmla="*/ 0 w 2387"/>
                  <a:gd name="T5" fmla="*/ 113 h 131"/>
                  <a:gd name="T6" fmla="*/ 69 w 2387"/>
                  <a:gd name="T7" fmla="*/ 95 h 131"/>
                  <a:gd name="T8" fmla="*/ 138 w 2387"/>
                  <a:gd name="T9" fmla="*/ 77 h 131"/>
                  <a:gd name="T10" fmla="*/ 45 w 2387"/>
                  <a:gd name="T11" fmla="*/ 40 h 131"/>
                  <a:gd name="T12" fmla="*/ 431 w 2387"/>
                  <a:gd name="T13" fmla="*/ 24 h 131"/>
                  <a:gd name="T14" fmla="*/ 817 w 2387"/>
                  <a:gd name="T15" fmla="*/ 8 h 131"/>
                  <a:gd name="T16" fmla="*/ 1980 w 2387"/>
                  <a:gd name="T17" fmla="*/ 5 h 131"/>
                  <a:gd name="T18" fmla="*/ 2387 w 2387"/>
                  <a:gd name="T19" fmla="*/ 0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87" h="131">
                    <a:moveTo>
                      <a:pt x="19" y="131"/>
                    </a:moveTo>
                    <a:cubicBezTo>
                      <a:pt x="27" y="125"/>
                      <a:pt x="0" y="113"/>
                      <a:pt x="69" y="95"/>
                    </a:cubicBezTo>
                    <a:cubicBezTo>
                      <a:pt x="138" y="77"/>
                      <a:pt x="45" y="40"/>
                      <a:pt x="431" y="24"/>
                    </a:cubicBezTo>
                    <a:cubicBezTo>
                      <a:pt x="817" y="8"/>
                      <a:pt x="1980" y="5"/>
                      <a:pt x="2387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5" name="AutoShape 26"/>
              <p:cNvSpPr>
                <a:spLocks/>
              </p:cNvSpPr>
              <p:nvPr/>
            </p:nvSpPr>
            <p:spPr bwMode="auto">
              <a:xfrm>
                <a:off x="1784" y="3072"/>
                <a:ext cx="2308" cy="504"/>
              </a:xfrm>
              <a:custGeom>
                <a:avLst/>
                <a:gdLst>
                  <a:gd name="T0" fmla="*/ 0 w 2308"/>
                  <a:gd name="T1" fmla="*/ 504 h 504"/>
                  <a:gd name="T2" fmla="*/ 3 w 2308"/>
                  <a:gd name="T3" fmla="*/ 472 h 504"/>
                  <a:gd name="T4" fmla="*/ 6 w 2308"/>
                  <a:gd name="T5" fmla="*/ 352 h 504"/>
                  <a:gd name="T6" fmla="*/ 15 w 2308"/>
                  <a:gd name="T7" fmla="*/ 314 h 504"/>
                  <a:gd name="T8" fmla="*/ 24 w 2308"/>
                  <a:gd name="T9" fmla="*/ 276 h 504"/>
                  <a:gd name="T10" fmla="*/ 26 w 2308"/>
                  <a:gd name="T11" fmla="*/ 302 h 504"/>
                  <a:gd name="T12" fmla="*/ 52 w 2308"/>
                  <a:gd name="T13" fmla="*/ 276 h 504"/>
                  <a:gd name="T14" fmla="*/ 78 w 2308"/>
                  <a:gd name="T15" fmla="*/ 250 h 504"/>
                  <a:gd name="T16" fmla="*/ 124 w 2308"/>
                  <a:gd name="T17" fmla="*/ 190 h 504"/>
                  <a:gd name="T18" fmla="*/ 172 w 2308"/>
                  <a:gd name="T19" fmla="*/ 156 h 504"/>
                  <a:gd name="T20" fmla="*/ 220 w 2308"/>
                  <a:gd name="T21" fmla="*/ 122 h 504"/>
                  <a:gd name="T22" fmla="*/ 244 w 2308"/>
                  <a:gd name="T23" fmla="*/ 90 h 504"/>
                  <a:gd name="T24" fmla="*/ 340 w 2308"/>
                  <a:gd name="T25" fmla="*/ 72 h 504"/>
                  <a:gd name="T26" fmla="*/ 436 w 2308"/>
                  <a:gd name="T27" fmla="*/ 54 h 504"/>
                  <a:gd name="T28" fmla="*/ 420 w 2308"/>
                  <a:gd name="T29" fmla="*/ 60 h 504"/>
                  <a:gd name="T30" fmla="*/ 748 w 2308"/>
                  <a:gd name="T31" fmla="*/ 48 h 504"/>
                  <a:gd name="T32" fmla="*/ 1076 w 2308"/>
                  <a:gd name="T33" fmla="*/ 36 h 504"/>
                  <a:gd name="T34" fmla="*/ 1983 w 2308"/>
                  <a:gd name="T35" fmla="*/ 10 h 504"/>
                  <a:gd name="T36" fmla="*/ 2308 w 2308"/>
                  <a:gd name="T37" fmla="*/ 0 h 5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308" h="504">
                    <a:moveTo>
                      <a:pt x="0" y="504"/>
                    </a:moveTo>
                    <a:cubicBezTo>
                      <a:pt x="3" y="472"/>
                      <a:pt x="6" y="352"/>
                      <a:pt x="15" y="314"/>
                    </a:cubicBezTo>
                    <a:cubicBezTo>
                      <a:pt x="24" y="276"/>
                      <a:pt x="26" y="302"/>
                      <a:pt x="52" y="276"/>
                    </a:cubicBezTo>
                    <a:cubicBezTo>
                      <a:pt x="78" y="250"/>
                      <a:pt x="124" y="190"/>
                      <a:pt x="172" y="156"/>
                    </a:cubicBezTo>
                    <a:cubicBezTo>
                      <a:pt x="220" y="122"/>
                      <a:pt x="244" y="90"/>
                      <a:pt x="340" y="72"/>
                    </a:cubicBezTo>
                    <a:cubicBezTo>
                      <a:pt x="436" y="54"/>
                      <a:pt x="420" y="60"/>
                      <a:pt x="748" y="48"/>
                    </a:cubicBezTo>
                    <a:cubicBezTo>
                      <a:pt x="1076" y="36"/>
                      <a:pt x="1983" y="10"/>
                      <a:pt x="2308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6" name="AutoShape 27"/>
              <p:cNvSpPr>
                <a:spLocks/>
              </p:cNvSpPr>
              <p:nvPr/>
            </p:nvSpPr>
            <p:spPr bwMode="auto">
              <a:xfrm>
                <a:off x="1781" y="2628"/>
                <a:ext cx="2299" cy="948"/>
              </a:xfrm>
              <a:custGeom>
                <a:avLst/>
                <a:gdLst>
                  <a:gd name="T0" fmla="*/ 0 w 2299"/>
                  <a:gd name="T1" fmla="*/ 948 h 948"/>
                  <a:gd name="T2" fmla="*/ 9 w 2299"/>
                  <a:gd name="T3" fmla="*/ 858 h 948"/>
                  <a:gd name="T4" fmla="*/ 20 w 2299"/>
                  <a:gd name="T5" fmla="*/ 540 h 948"/>
                  <a:gd name="T6" fmla="*/ 55 w 2299"/>
                  <a:gd name="T7" fmla="*/ 408 h 948"/>
                  <a:gd name="T8" fmla="*/ 90 w 2299"/>
                  <a:gd name="T9" fmla="*/ 276 h 948"/>
                  <a:gd name="T10" fmla="*/ 151 w 2299"/>
                  <a:gd name="T11" fmla="*/ 212 h 948"/>
                  <a:gd name="T12" fmla="*/ 211 w 2299"/>
                  <a:gd name="T13" fmla="*/ 156 h 948"/>
                  <a:gd name="T14" fmla="*/ 271 w 2299"/>
                  <a:gd name="T15" fmla="*/ 100 h 948"/>
                  <a:gd name="T16" fmla="*/ 247 w 2299"/>
                  <a:gd name="T17" fmla="*/ 93 h 948"/>
                  <a:gd name="T18" fmla="*/ 413 w 2299"/>
                  <a:gd name="T19" fmla="*/ 69 h 948"/>
                  <a:gd name="T20" fmla="*/ 579 w 2299"/>
                  <a:gd name="T21" fmla="*/ 45 h 948"/>
                  <a:gd name="T22" fmla="*/ 893 w 2299"/>
                  <a:gd name="T23" fmla="*/ 23 h 948"/>
                  <a:gd name="T24" fmla="*/ 1207 w 2299"/>
                  <a:gd name="T25" fmla="*/ 12 h 948"/>
                  <a:gd name="T26" fmla="*/ 1521 w 2299"/>
                  <a:gd name="T27" fmla="*/ 1 h 948"/>
                  <a:gd name="T28" fmla="*/ 2072 w 2299"/>
                  <a:gd name="T29" fmla="*/ 2 h 948"/>
                  <a:gd name="T30" fmla="*/ 2299 w 2299"/>
                  <a:gd name="T31" fmla="*/ 0 h 94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299" h="948">
                    <a:moveTo>
                      <a:pt x="0" y="948"/>
                    </a:moveTo>
                    <a:cubicBezTo>
                      <a:pt x="9" y="858"/>
                      <a:pt x="20" y="540"/>
                      <a:pt x="55" y="408"/>
                    </a:cubicBezTo>
                    <a:cubicBezTo>
                      <a:pt x="90" y="276"/>
                      <a:pt x="151" y="212"/>
                      <a:pt x="211" y="156"/>
                    </a:cubicBezTo>
                    <a:cubicBezTo>
                      <a:pt x="271" y="100"/>
                      <a:pt x="247" y="93"/>
                      <a:pt x="413" y="69"/>
                    </a:cubicBezTo>
                    <a:cubicBezTo>
                      <a:pt x="579" y="45"/>
                      <a:pt x="893" y="23"/>
                      <a:pt x="1207" y="12"/>
                    </a:cubicBezTo>
                    <a:cubicBezTo>
                      <a:pt x="1521" y="1"/>
                      <a:pt x="2072" y="2"/>
                      <a:pt x="2299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7" name="AutoShape 28"/>
              <p:cNvSpPr>
                <a:spLocks/>
              </p:cNvSpPr>
              <p:nvPr/>
            </p:nvSpPr>
            <p:spPr bwMode="auto">
              <a:xfrm>
                <a:off x="1784" y="2160"/>
                <a:ext cx="2260" cy="1380"/>
              </a:xfrm>
              <a:custGeom>
                <a:avLst/>
                <a:gdLst>
                  <a:gd name="T0" fmla="*/ 0 w 2260"/>
                  <a:gd name="T1" fmla="*/ 1380 h 1380"/>
                  <a:gd name="T2" fmla="*/ 12 w 2260"/>
                  <a:gd name="T3" fmla="*/ 1237 h 1380"/>
                  <a:gd name="T4" fmla="*/ 48 w 2260"/>
                  <a:gd name="T5" fmla="*/ 729 h 1380"/>
                  <a:gd name="T6" fmla="*/ 73 w 2260"/>
                  <a:gd name="T7" fmla="*/ 525 h 1380"/>
                  <a:gd name="T8" fmla="*/ 99 w 2260"/>
                  <a:gd name="T9" fmla="*/ 321 h 1380"/>
                  <a:gd name="T10" fmla="*/ 86 w 2260"/>
                  <a:gd name="T11" fmla="*/ 236 h 1380"/>
                  <a:gd name="T12" fmla="*/ 155 w 2260"/>
                  <a:gd name="T13" fmla="*/ 157 h 1380"/>
                  <a:gd name="T14" fmla="*/ 223 w 2260"/>
                  <a:gd name="T15" fmla="*/ 77 h 1380"/>
                  <a:gd name="T16" fmla="*/ 132 w 2260"/>
                  <a:gd name="T17" fmla="*/ 76 h 1380"/>
                  <a:gd name="T18" fmla="*/ 483 w 2260"/>
                  <a:gd name="T19" fmla="*/ 50 h 1380"/>
                  <a:gd name="T20" fmla="*/ 834 w 2260"/>
                  <a:gd name="T21" fmla="*/ 24 h 1380"/>
                  <a:gd name="T22" fmla="*/ 1890 w 2260"/>
                  <a:gd name="T23" fmla="*/ 10 h 1380"/>
                  <a:gd name="T24" fmla="*/ 2260 w 2260"/>
                  <a:gd name="T25" fmla="*/ 0 h 13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60" h="1380">
                    <a:moveTo>
                      <a:pt x="0" y="1380"/>
                    </a:moveTo>
                    <a:cubicBezTo>
                      <a:pt x="12" y="1237"/>
                      <a:pt x="48" y="729"/>
                      <a:pt x="73" y="525"/>
                    </a:cubicBezTo>
                    <a:cubicBezTo>
                      <a:pt x="99" y="321"/>
                      <a:pt x="86" y="236"/>
                      <a:pt x="155" y="157"/>
                    </a:cubicBezTo>
                    <a:cubicBezTo>
                      <a:pt x="223" y="77"/>
                      <a:pt x="132" y="76"/>
                      <a:pt x="483" y="50"/>
                    </a:cubicBezTo>
                    <a:cubicBezTo>
                      <a:pt x="834" y="24"/>
                      <a:pt x="1890" y="10"/>
                      <a:pt x="2260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8" name="AutoShape 29"/>
              <p:cNvSpPr>
                <a:spLocks/>
              </p:cNvSpPr>
              <p:nvPr/>
            </p:nvSpPr>
            <p:spPr bwMode="auto">
              <a:xfrm>
                <a:off x="1784" y="1752"/>
                <a:ext cx="2224" cy="1788"/>
              </a:xfrm>
              <a:custGeom>
                <a:avLst/>
                <a:gdLst>
                  <a:gd name="T0" fmla="*/ 0 w 2224"/>
                  <a:gd name="T1" fmla="*/ 1788 h 1788"/>
                  <a:gd name="T2" fmla="*/ 15 w 2224"/>
                  <a:gd name="T3" fmla="*/ 1616 h 1788"/>
                  <a:gd name="T4" fmla="*/ 70 w 2224"/>
                  <a:gd name="T5" fmla="*/ 1000 h 1788"/>
                  <a:gd name="T6" fmla="*/ 89 w 2224"/>
                  <a:gd name="T7" fmla="*/ 754 h 1788"/>
                  <a:gd name="T8" fmla="*/ 108 w 2224"/>
                  <a:gd name="T9" fmla="*/ 508 h 1788"/>
                  <a:gd name="T10" fmla="*/ 92 w 2224"/>
                  <a:gd name="T11" fmla="*/ 417 h 1788"/>
                  <a:gd name="T12" fmla="*/ 112 w 2224"/>
                  <a:gd name="T13" fmla="*/ 312 h 1788"/>
                  <a:gd name="T14" fmla="*/ 132 w 2224"/>
                  <a:gd name="T15" fmla="*/ 207 h 1788"/>
                  <a:gd name="T16" fmla="*/ 121 w 2224"/>
                  <a:gd name="T17" fmla="*/ 171 h 1788"/>
                  <a:gd name="T18" fmla="*/ 209 w 2224"/>
                  <a:gd name="T19" fmla="*/ 125 h 1788"/>
                  <a:gd name="T20" fmla="*/ 297 w 2224"/>
                  <a:gd name="T21" fmla="*/ 79 h 1788"/>
                  <a:gd name="T22" fmla="*/ 304 w 2224"/>
                  <a:gd name="T23" fmla="*/ 57 h 1788"/>
                  <a:gd name="T24" fmla="*/ 640 w 2224"/>
                  <a:gd name="T25" fmla="*/ 36 h 1788"/>
                  <a:gd name="T26" fmla="*/ 976 w 2224"/>
                  <a:gd name="T27" fmla="*/ 15 h 1788"/>
                  <a:gd name="T28" fmla="*/ 1894 w 2224"/>
                  <a:gd name="T29" fmla="*/ 8 h 1788"/>
                  <a:gd name="T30" fmla="*/ 2224 w 2224"/>
                  <a:gd name="T31" fmla="*/ 0 h 17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224" h="1788">
                    <a:moveTo>
                      <a:pt x="0" y="1788"/>
                    </a:moveTo>
                    <a:cubicBezTo>
                      <a:pt x="15" y="1616"/>
                      <a:pt x="70" y="1000"/>
                      <a:pt x="89" y="754"/>
                    </a:cubicBezTo>
                    <a:cubicBezTo>
                      <a:pt x="108" y="508"/>
                      <a:pt x="92" y="417"/>
                      <a:pt x="112" y="312"/>
                    </a:cubicBezTo>
                    <a:cubicBezTo>
                      <a:pt x="132" y="207"/>
                      <a:pt x="121" y="171"/>
                      <a:pt x="209" y="125"/>
                    </a:cubicBezTo>
                    <a:cubicBezTo>
                      <a:pt x="297" y="79"/>
                      <a:pt x="304" y="57"/>
                      <a:pt x="640" y="36"/>
                    </a:cubicBezTo>
                    <a:cubicBezTo>
                      <a:pt x="976" y="15"/>
                      <a:pt x="1894" y="8"/>
                      <a:pt x="2224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9" name="AutoShape 30"/>
              <p:cNvSpPr>
                <a:spLocks/>
              </p:cNvSpPr>
              <p:nvPr/>
            </p:nvSpPr>
            <p:spPr bwMode="auto">
              <a:xfrm>
                <a:off x="1784" y="1199"/>
                <a:ext cx="2212" cy="2377"/>
              </a:xfrm>
              <a:custGeom>
                <a:avLst/>
                <a:gdLst>
                  <a:gd name="T0" fmla="*/ 0 w 2212"/>
                  <a:gd name="T1" fmla="*/ 2377 h 2377"/>
                  <a:gd name="T2" fmla="*/ 15 w 2212"/>
                  <a:gd name="T3" fmla="*/ 2189 h 2377"/>
                  <a:gd name="T4" fmla="*/ 62 w 2212"/>
                  <a:gd name="T5" fmla="*/ 1583 h 2377"/>
                  <a:gd name="T6" fmla="*/ 93 w 2212"/>
                  <a:gd name="T7" fmla="*/ 1248 h 2377"/>
                  <a:gd name="T8" fmla="*/ 124 w 2212"/>
                  <a:gd name="T9" fmla="*/ 914 h 2377"/>
                  <a:gd name="T10" fmla="*/ 113 w 2212"/>
                  <a:gd name="T11" fmla="*/ 567 h 2377"/>
                  <a:gd name="T12" fmla="*/ 186 w 2212"/>
                  <a:gd name="T13" fmla="*/ 369 h 2377"/>
                  <a:gd name="T14" fmla="*/ 259 w 2212"/>
                  <a:gd name="T15" fmla="*/ 171 h 2377"/>
                  <a:gd name="T16" fmla="*/ 194 w 2212"/>
                  <a:gd name="T17" fmla="*/ 122 h 2377"/>
                  <a:gd name="T18" fmla="*/ 532 w 2212"/>
                  <a:gd name="T19" fmla="*/ 61 h 2377"/>
                  <a:gd name="T20" fmla="*/ 870 w 2212"/>
                  <a:gd name="T21" fmla="*/ 0 h 2377"/>
                  <a:gd name="T22" fmla="*/ 1862 w 2212"/>
                  <a:gd name="T23" fmla="*/ 13 h 2377"/>
                  <a:gd name="T24" fmla="*/ 2212 w 2212"/>
                  <a:gd name="T25" fmla="*/ 1 h 23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12" h="2377">
                    <a:moveTo>
                      <a:pt x="0" y="2377"/>
                    </a:moveTo>
                    <a:cubicBezTo>
                      <a:pt x="15" y="2189"/>
                      <a:pt x="62" y="1583"/>
                      <a:pt x="93" y="1248"/>
                    </a:cubicBezTo>
                    <a:cubicBezTo>
                      <a:pt x="124" y="914"/>
                      <a:pt x="113" y="567"/>
                      <a:pt x="186" y="369"/>
                    </a:cubicBezTo>
                    <a:cubicBezTo>
                      <a:pt x="259" y="171"/>
                      <a:pt x="194" y="122"/>
                      <a:pt x="532" y="61"/>
                    </a:cubicBezTo>
                    <a:cubicBezTo>
                      <a:pt x="870" y="0"/>
                      <a:pt x="1862" y="13"/>
                      <a:pt x="2212" y="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" name="Group 31"/>
              <p:cNvGrpSpPr>
                <a:grpSpLocks/>
              </p:cNvGrpSpPr>
              <p:nvPr/>
            </p:nvGrpSpPr>
            <p:grpSpPr bwMode="auto">
              <a:xfrm>
                <a:off x="4216" y="1041"/>
                <a:ext cx="661" cy="2515"/>
                <a:chOff x="4420" y="1161"/>
                <a:chExt cx="661" cy="2515"/>
              </a:xfrm>
            </p:grpSpPr>
            <p:sp>
              <p:nvSpPr>
                <p:cNvPr id="6044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465" y="3384"/>
                  <a:ext cx="510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rgbClr val="050507"/>
                      </a:solidFill>
                      <a:ea typeface="楷体_GB2312" pitchFamily="49" charset="-122"/>
                    </a:rPr>
                    <a:t>I</a:t>
                  </a:r>
                  <a:r>
                    <a:rPr lang="en-US" altLang="zh-CN" sz="2400" baseline="-25000" dirty="0">
                      <a:solidFill>
                        <a:srgbClr val="050507"/>
                      </a:solidFill>
                      <a:ea typeface="楷体_GB2312" pitchFamily="49" charset="-122"/>
                    </a:rPr>
                    <a:t>B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=0</a:t>
                  </a:r>
                </a:p>
              </p:txBody>
            </p:sp>
            <p:sp>
              <p:nvSpPr>
                <p:cNvPr id="6044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20" y="3021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20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427" y="2565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40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427" y="2133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60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39" y="1677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80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420" y="1161"/>
                  <a:ext cx="66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100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</p:grpSp>
        </p:grpSp>
      </p:grpSp>
      <p:sp>
        <p:nvSpPr>
          <p:cNvPr id="125990" name="AutoShape 38"/>
          <p:cNvSpPr>
            <a:spLocks/>
          </p:cNvSpPr>
          <p:nvPr/>
        </p:nvSpPr>
        <p:spPr bwMode="auto">
          <a:xfrm>
            <a:off x="2843808" y="2204864"/>
            <a:ext cx="3505200" cy="3695700"/>
          </a:xfrm>
          <a:custGeom>
            <a:avLst/>
            <a:gdLst>
              <a:gd name="T0" fmla="*/ 476250 w 2208"/>
              <a:gd name="T1" fmla="*/ 190500 h 2328"/>
              <a:gd name="T2" fmla="*/ 209550 w 2208"/>
              <a:gd name="T3" fmla="*/ 323850 h 2328"/>
              <a:gd name="T4" fmla="*/ 171450 w 2208"/>
              <a:gd name="T5" fmla="*/ 1085850 h 2328"/>
              <a:gd name="T6" fmla="*/ 152400 w 2208"/>
              <a:gd name="T7" fmla="*/ 2190750 h 2328"/>
              <a:gd name="T8" fmla="*/ 0 w 2208"/>
              <a:gd name="T9" fmla="*/ 3695700 h 2328"/>
              <a:gd name="T10" fmla="*/ 895350 w 2208"/>
              <a:gd name="T11" fmla="*/ 3657600 h 2328"/>
              <a:gd name="T12" fmla="*/ 2190750 w 2208"/>
              <a:gd name="T13" fmla="*/ 3638550 h 2328"/>
              <a:gd name="T14" fmla="*/ 3257550 w 2208"/>
              <a:gd name="T15" fmla="*/ 3581400 h 2328"/>
              <a:gd name="T16" fmla="*/ 3448050 w 2208"/>
              <a:gd name="T17" fmla="*/ 3581400 h 2328"/>
              <a:gd name="T18" fmla="*/ 3486150 w 2208"/>
              <a:gd name="T19" fmla="*/ 1409700 h 2328"/>
              <a:gd name="T20" fmla="*/ 3505200 w 2208"/>
              <a:gd name="T21" fmla="*/ 0 h 2328"/>
              <a:gd name="T22" fmla="*/ 2057400 w 2208"/>
              <a:gd name="T23" fmla="*/ 19050 h 2328"/>
              <a:gd name="T24" fmla="*/ 476250 w 2208"/>
              <a:gd name="T25" fmla="*/ 190500 h 232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2328">
                <a:moveTo>
                  <a:pt x="300" y="120"/>
                </a:moveTo>
                <a:lnTo>
                  <a:pt x="132" y="204"/>
                </a:lnTo>
                <a:lnTo>
                  <a:pt x="108" y="684"/>
                </a:lnTo>
                <a:lnTo>
                  <a:pt x="96" y="1380"/>
                </a:lnTo>
                <a:lnTo>
                  <a:pt x="0" y="2328"/>
                </a:lnTo>
                <a:lnTo>
                  <a:pt x="564" y="2304"/>
                </a:lnTo>
                <a:lnTo>
                  <a:pt x="1380" y="2292"/>
                </a:lnTo>
                <a:lnTo>
                  <a:pt x="2052" y="2256"/>
                </a:lnTo>
                <a:lnTo>
                  <a:pt x="2172" y="2256"/>
                </a:lnTo>
                <a:lnTo>
                  <a:pt x="2196" y="888"/>
                </a:lnTo>
                <a:lnTo>
                  <a:pt x="2208" y="0"/>
                </a:lnTo>
                <a:lnTo>
                  <a:pt x="1296" y="12"/>
                </a:lnTo>
                <a:lnTo>
                  <a:pt x="300" y="120"/>
                </a:lnTo>
                <a:close/>
              </a:path>
            </a:pathLst>
          </a:custGeom>
          <a:solidFill>
            <a:srgbClr val="CC3300">
              <a:alpha val="50195"/>
            </a:srgbClr>
          </a:solidFill>
          <a:ln w="38100">
            <a:solidFill>
              <a:schemeClr val="tx1"/>
            </a:solidFill>
            <a:round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5991" name="AutoShape 39"/>
          <p:cNvSpPr>
            <a:spLocks noChangeArrowheads="1"/>
          </p:cNvSpPr>
          <p:nvPr/>
        </p:nvSpPr>
        <p:spPr bwMode="auto">
          <a:xfrm>
            <a:off x="179512" y="4221088"/>
            <a:ext cx="1656184" cy="2110134"/>
          </a:xfrm>
          <a:prstGeom prst="wedgeRoundRectCallout">
            <a:avLst>
              <a:gd name="adj1" fmla="val 163571"/>
              <a:gd name="adj2" fmla="val -55642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此区域满足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称为线性区（放大区）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。</a:t>
            </a:r>
            <a:endParaRPr lang="en-US" altLang="zh-CN" sz="2400" b="1" i="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25992" name="AutoShape 40"/>
          <p:cNvSpPr>
            <a:spLocks noChangeArrowheads="1"/>
          </p:cNvSpPr>
          <p:nvPr/>
        </p:nvSpPr>
        <p:spPr bwMode="auto">
          <a:xfrm>
            <a:off x="179512" y="2060848"/>
            <a:ext cx="1584176" cy="2091361"/>
          </a:xfrm>
          <a:prstGeom prst="wedgeRoundRectCallout">
            <a:avLst>
              <a:gd name="adj1" fmla="val 174267"/>
              <a:gd name="adj2" fmla="val -956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大于一定的数值时，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只与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有关</a:t>
            </a:r>
            <a:r>
              <a:rPr lang="en-US" altLang="zh-CN" sz="2400" b="1" i="0" dirty="0" smtClean="0">
                <a:solidFill>
                  <a:srgbClr val="FF0000"/>
                </a:solidFill>
                <a:ea typeface="楷体_GB2312" pitchFamily="49" charset="-122"/>
              </a:rPr>
              <a:t>.</a:t>
            </a:r>
            <a:endParaRPr lang="zh-CN" altLang="en-US" sz="2400" b="1" i="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25995" name="Text Box 43"/>
          <p:cNvSpPr txBox="1">
            <a:spLocks noChangeArrowheads="1"/>
          </p:cNvSpPr>
          <p:nvPr/>
        </p:nvSpPr>
        <p:spPr bwMode="auto">
          <a:xfrm>
            <a:off x="4716462" y="1268760"/>
            <a:ext cx="4032002" cy="523220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ea typeface="黑体" pitchFamily="49" charset="-122"/>
              </a:rPr>
              <a:t>C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ea typeface="黑体" pitchFamily="49" charset="-122"/>
              </a:rPr>
              <a:t>CE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) 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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="1" i="0" baseline="-25000" dirty="0">
                <a:solidFill>
                  <a:srgbClr val="FF0000"/>
                </a:solidFill>
                <a:ea typeface="黑体" pitchFamily="49" charset="-122"/>
              </a:rPr>
              <a:t>B</a:t>
            </a:r>
            <a:r>
              <a:rPr lang="en-US" altLang="zh-CN" sz="2800" b="1" i="0" dirty="0">
                <a:solidFill>
                  <a:srgbClr val="FF0000"/>
                </a:solidFill>
                <a:ea typeface="黑体" pitchFamily="49" charset="-122"/>
              </a:rPr>
              <a:t>=const</a:t>
            </a:r>
            <a:endParaRPr lang="en-US" altLang="zh-CN" sz="2800" b="1" i="0" dirty="0">
              <a:solidFill>
                <a:srgbClr val="FF0000"/>
              </a:solidFill>
            </a:endParaRPr>
          </a:p>
        </p:txBody>
      </p:sp>
      <p:sp>
        <p:nvSpPr>
          <p:cNvPr id="5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90" grpId="0" animBg="1"/>
      <p:bldP spid="125991" grpId="0" animBg="1" autoUpdateAnimBg="0"/>
      <p:bldP spid="125992" grpId="0" animBg="1" autoUpdateAnimBg="0"/>
      <p:bldP spid="12599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13199" y="1469926"/>
            <a:ext cx="5635625" cy="5122863"/>
            <a:chOff x="1414" y="669"/>
            <a:chExt cx="3550" cy="3227"/>
          </a:xfrm>
        </p:grpSpPr>
        <p:sp>
          <p:nvSpPr>
            <p:cNvPr id="61451" name="Text Box 3"/>
            <p:cNvSpPr txBox="1">
              <a:spLocks noChangeArrowheads="1"/>
            </p:cNvSpPr>
            <p:nvPr/>
          </p:nvSpPr>
          <p:spPr bwMode="auto">
            <a:xfrm>
              <a:off x="1900" y="669"/>
              <a:ext cx="818" cy="292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(</a:t>
              </a:r>
              <a:r>
                <a:rPr lang="en-US" altLang="zh-CN" sz="2400" i="0" dirty="0" err="1">
                  <a:solidFill>
                    <a:srgbClr val="050507"/>
                  </a:solidFill>
                  <a:ea typeface="楷体_GB2312" pitchFamily="49" charset="-122"/>
                </a:rPr>
                <a:t>mA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  )</a:t>
              </a: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14" y="792"/>
              <a:ext cx="446" cy="2796"/>
              <a:chOff x="1438" y="828"/>
              <a:chExt cx="446" cy="2796"/>
            </a:xfrm>
          </p:grpSpPr>
          <p:sp>
            <p:nvSpPr>
              <p:cNvPr id="61477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8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9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0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1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2" name="Text Box 10"/>
              <p:cNvSpPr txBox="1">
                <a:spLocks noChangeArrowheads="1"/>
              </p:cNvSpPr>
              <p:nvPr/>
            </p:nvSpPr>
            <p:spPr bwMode="auto">
              <a:xfrm>
                <a:off x="1438" y="2906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1483" name="Text Box 11"/>
              <p:cNvSpPr txBox="1">
                <a:spLocks noChangeArrowheads="1"/>
              </p:cNvSpPr>
              <p:nvPr/>
            </p:nvSpPr>
            <p:spPr bwMode="auto">
              <a:xfrm>
                <a:off x="1438" y="2318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1484" name="Text Box 12"/>
              <p:cNvSpPr txBox="1">
                <a:spLocks noChangeArrowheads="1"/>
              </p:cNvSpPr>
              <p:nvPr/>
            </p:nvSpPr>
            <p:spPr bwMode="auto">
              <a:xfrm>
                <a:off x="1438" y="1694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1485" name="Text Box 13"/>
              <p:cNvSpPr txBox="1">
                <a:spLocks noChangeArrowheads="1"/>
              </p:cNvSpPr>
              <p:nvPr/>
            </p:nvSpPr>
            <p:spPr bwMode="auto">
              <a:xfrm>
                <a:off x="1438" y="1142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1764" y="3504"/>
              <a:ext cx="3200" cy="392"/>
              <a:chOff x="1800" y="3540"/>
              <a:chExt cx="3200" cy="392"/>
            </a:xfrm>
          </p:grpSpPr>
          <p:sp>
            <p:nvSpPr>
              <p:cNvPr id="61467" name="Line 15"/>
              <p:cNvSpPr>
                <a:spLocks noChangeShapeType="1"/>
              </p:cNvSpPr>
              <p:nvPr/>
            </p:nvSpPr>
            <p:spPr bwMode="auto">
              <a:xfrm flipV="1">
                <a:off x="1800" y="3600"/>
                <a:ext cx="2700" cy="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68" name="Line 16"/>
              <p:cNvSpPr>
                <a:spLocks noChangeShapeType="1"/>
              </p:cNvSpPr>
              <p:nvPr/>
            </p:nvSpPr>
            <p:spPr bwMode="auto">
              <a:xfrm>
                <a:off x="2340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69" name="Line 17"/>
              <p:cNvSpPr>
                <a:spLocks noChangeShapeType="1"/>
              </p:cNvSpPr>
              <p:nvPr/>
            </p:nvSpPr>
            <p:spPr bwMode="auto">
              <a:xfrm>
                <a:off x="2928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0" name="Text Box 18"/>
              <p:cNvSpPr txBox="1">
                <a:spLocks noChangeArrowheads="1"/>
              </p:cNvSpPr>
              <p:nvPr/>
            </p:nvSpPr>
            <p:spPr bwMode="auto">
              <a:xfrm>
                <a:off x="4342" y="3617"/>
                <a:ext cx="658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U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CE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(V)</a:t>
                </a:r>
              </a:p>
            </p:txBody>
          </p:sp>
          <p:sp>
            <p:nvSpPr>
              <p:cNvPr id="61471" name="Text Box 19"/>
              <p:cNvSpPr txBox="1">
                <a:spLocks noChangeArrowheads="1"/>
              </p:cNvSpPr>
              <p:nvPr/>
            </p:nvSpPr>
            <p:spPr bwMode="auto">
              <a:xfrm>
                <a:off x="2182" y="3622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1472" name="Text Box 20"/>
              <p:cNvSpPr txBox="1">
                <a:spLocks noChangeArrowheads="1"/>
              </p:cNvSpPr>
              <p:nvPr/>
            </p:nvSpPr>
            <p:spPr bwMode="auto">
              <a:xfrm>
                <a:off x="2831" y="3634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61473" name="Line 21"/>
              <p:cNvSpPr>
                <a:spLocks noChangeShapeType="1"/>
              </p:cNvSpPr>
              <p:nvPr/>
            </p:nvSpPr>
            <p:spPr bwMode="auto">
              <a:xfrm>
                <a:off x="3480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4" name="Line 22"/>
              <p:cNvSpPr>
                <a:spLocks noChangeShapeType="1"/>
              </p:cNvSpPr>
              <p:nvPr/>
            </p:nvSpPr>
            <p:spPr bwMode="auto">
              <a:xfrm>
                <a:off x="4032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5" name="Text Box 23"/>
              <p:cNvSpPr txBox="1">
                <a:spLocks noChangeArrowheads="1"/>
              </p:cNvSpPr>
              <p:nvPr/>
            </p:nvSpPr>
            <p:spPr bwMode="auto">
              <a:xfrm>
                <a:off x="3334" y="3640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9</a:t>
                </a:r>
              </a:p>
            </p:txBody>
          </p:sp>
          <p:sp>
            <p:nvSpPr>
              <p:cNvPr id="61476" name="Text Box 24"/>
              <p:cNvSpPr txBox="1">
                <a:spLocks noChangeArrowheads="1"/>
              </p:cNvSpPr>
              <p:nvPr/>
            </p:nvSpPr>
            <p:spPr bwMode="auto">
              <a:xfrm>
                <a:off x="3857" y="3622"/>
                <a:ext cx="327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12</a:t>
                </a:r>
              </a:p>
            </p:txBody>
          </p:sp>
        </p:grpSp>
        <p:sp>
          <p:nvSpPr>
            <p:cNvPr id="61454" name="AutoShape 25"/>
            <p:cNvSpPr>
              <a:spLocks/>
            </p:cNvSpPr>
            <p:nvPr/>
          </p:nvSpPr>
          <p:spPr bwMode="auto">
            <a:xfrm>
              <a:off x="1765" y="3444"/>
              <a:ext cx="2387" cy="131"/>
            </a:xfrm>
            <a:custGeom>
              <a:avLst/>
              <a:gdLst>
                <a:gd name="T0" fmla="*/ 19 w 2387"/>
                <a:gd name="T1" fmla="*/ 131 h 131"/>
                <a:gd name="T2" fmla="*/ 27 w 2387"/>
                <a:gd name="T3" fmla="*/ 125 h 131"/>
                <a:gd name="T4" fmla="*/ 0 w 2387"/>
                <a:gd name="T5" fmla="*/ 113 h 131"/>
                <a:gd name="T6" fmla="*/ 69 w 2387"/>
                <a:gd name="T7" fmla="*/ 95 h 131"/>
                <a:gd name="T8" fmla="*/ 138 w 2387"/>
                <a:gd name="T9" fmla="*/ 77 h 131"/>
                <a:gd name="T10" fmla="*/ 45 w 2387"/>
                <a:gd name="T11" fmla="*/ 40 h 131"/>
                <a:gd name="T12" fmla="*/ 431 w 2387"/>
                <a:gd name="T13" fmla="*/ 24 h 131"/>
                <a:gd name="T14" fmla="*/ 817 w 2387"/>
                <a:gd name="T15" fmla="*/ 8 h 131"/>
                <a:gd name="T16" fmla="*/ 1980 w 2387"/>
                <a:gd name="T17" fmla="*/ 5 h 131"/>
                <a:gd name="T18" fmla="*/ 2387 w 2387"/>
                <a:gd name="T19" fmla="*/ 0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5" name="AutoShape 26"/>
            <p:cNvSpPr>
              <a:spLocks/>
            </p:cNvSpPr>
            <p:nvPr/>
          </p:nvSpPr>
          <p:spPr bwMode="auto">
            <a:xfrm>
              <a:off x="1784" y="3072"/>
              <a:ext cx="2308" cy="504"/>
            </a:xfrm>
            <a:custGeom>
              <a:avLst/>
              <a:gdLst>
                <a:gd name="T0" fmla="*/ 0 w 2308"/>
                <a:gd name="T1" fmla="*/ 504 h 504"/>
                <a:gd name="T2" fmla="*/ 3 w 2308"/>
                <a:gd name="T3" fmla="*/ 472 h 504"/>
                <a:gd name="T4" fmla="*/ 6 w 2308"/>
                <a:gd name="T5" fmla="*/ 352 h 504"/>
                <a:gd name="T6" fmla="*/ 15 w 2308"/>
                <a:gd name="T7" fmla="*/ 314 h 504"/>
                <a:gd name="T8" fmla="*/ 24 w 2308"/>
                <a:gd name="T9" fmla="*/ 276 h 504"/>
                <a:gd name="T10" fmla="*/ 26 w 2308"/>
                <a:gd name="T11" fmla="*/ 302 h 504"/>
                <a:gd name="T12" fmla="*/ 52 w 2308"/>
                <a:gd name="T13" fmla="*/ 276 h 504"/>
                <a:gd name="T14" fmla="*/ 78 w 2308"/>
                <a:gd name="T15" fmla="*/ 250 h 504"/>
                <a:gd name="T16" fmla="*/ 124 w 2308"/>
                <a:gd name="T17" fmla="*/ 190 h 504"/>
                <a:gd name="T18" fmla="*/ 172 w 2308"/>
                <a:gd name="T19" fmla="*/ 156 h 504"/>
                <a:gd name="T20" fmla="*/ 220 w 2308"/>
                <a:gd name="T21" fmla="*/ 122 h 504"/>
                <a:gd name="T22" fmla="*/ 244 w 2308"/>
                <a:gd name="T23" fmla="*/ 90 h 504"/>
                <a:gd name="T24" fmla="*/ 340 w 2308"/>
                <a:gd name="T25" fmla="*/ 72 h 504"/>
                <a:gd name="T26" fmla="*/ 436 w 2308"/>
                <a:gd name="T27" fmla="*/ 54 h 504"/>
                <a:gd name="T28" fmla="*/ 420 w 2308"/>
                <a:gd name="T29" fmla="*/ 60 h 504"/>
                <a:gd name="T30" fmla="*/ 748 w 2308"/>
                <a:gd name="T31" fmla="*/ 48 h 504"/>
                <a:gd name="T32" fmla="*/ 1076 w 2308"/>
                <a:gd name="T33" fmla="*/ 36 h 504"/>
                <a:gd name="T34" fmla="*/ 1983 w 2308"/>
                <a:gd name="T35" fmla="*/ 10 h 504"/>
                <a:gd name="T36" fmla="*/ 2308 w 2308"/>
                <a:gd name="T37" fmla="*/ 0 h 50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6" name="AutoShape 27"/>
            <p:cNvSpPr>
              <a:spLocks/>
            </p:cNvSpPr>
            <p:nvPr/>
          </p:nvSpPr>
          <p:spPr bwMode="auto">
            <a:xfrm>
              <a:off x="1781" y="2628"/>
              <a:ext cx="2299" cy="948"/>
            </a:xfrm>
            <a:custGeom>
              <a:avLst/>
              <a:gdLst>
                <a:gd name="T0" fmla="*/ 0 w 2299"/>
                <a:gd name="T1" fmla="*/ 948 h 948"/>
                <a:gd name="T2" fmla="*/ 9 w 2299"/>
                <a:gd name="T3" fmla="*/ 858 h 948"/>
                <a:gd name="T4" fmla="*/ 20 w 2299"/>
                <a:gd name="T5" fmla="*/ 540 h 948"/>
                <a:gd name="T6" fmla="*/ 55 w 2299"/>
                <a:gd name="T7" fmla="*/ 408 h 948"/>
                <a:gd name="T8" fmla="*/ 90 w 2299"/>
                <a:gd name="T9" fmla="*/ 276 h 948"/>
                <a:gd name="T10" fmla="*/ 151 w 2299"/>
                <a:gd name="T11" fmla="*/ 212 h 948"/>
                <a:gd name="T12" fmla="*/ 211 w 2299"/>
                <a:gd name="T13" fmla="*/ 156 h 948"/>
                <a:gd name="T14" fmla="*/ 271 w 2299"/>
                <a:gd name="T15" fmla="*/ 100 h 948"/>
                <a:gd name="T16" fmla="*/ 247 w 2299"/>
                <a:gd name="T17" fmla="*/ 93 h 948"/>
                <a:gd name="T18" fmla="*/ 413 w 2299"/>
                <a:gd name="T19" fmla="*/ 69 h 948"/>
                <a:gd name="T20" fmla="*/ 579 w 2299"/>
                <a:gd name="T21" fmla="*/ 45 h 948"/>
                <a:gd name="T22" fmla="*/ 893 w 2299"/>
                <a:gd name="T23" fmla="*/ 23 h 948"/>
                <a:gd name="T24" fmla="*/ 1207 w 2299"/>
                <a:gd name="T25" fmla="*/ 12 h 948"/>
                <a:gd name="T26" fmla="*/ 1521 w 2299"/>
                <a:gd name="T27" fmla="*/ 1 h 948"/>
                <a:gd name="T28" fmla="*/ 2072 w 2299"/>
                <a:gd name="T29" fmla="*/ 2 h 948"/>
                <a:gd name="T30" fmla="*/ 2299 w 2299"/>
                <a:gd name="T31" fmla="*/ 0 h 9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7" name="AutoShape 28"/>
            <p:cNvSpPr>
              <a:spLocks/>
            </p:cNvSpPr>
            <p:nvPr/>
          </p:nvSpPr>
          <p:spPr bwMode="auto">
            <a:xfrm>
              <a:off x="1784" y="2160"/>
              <a:ext cx="2260" cy="1380"/>
            </a:xfrm>
            <a:custGeom>
              <a:avLst/>
              <a:gdLst>
                <a:gd name="T0" fmla="*/ 0 w 2260"/>
                <a:gd name="T1" fmla="*/ 1380 h 1380"/>
                <a:gd name="T2" fmla="*/ 12 w 2260"/>
                <a:gd name="T3" fmla="*/ 1237 h 1380"/>
                <a:gd name="T4" fmla="*/ 48 w 2260"/>
                <a:gd name="T5" fmla="*/ 729 h 1380"/>
                <a:gd name="T6" fmla="*/ 73 w 2260"/>
                <a:gd name="T7" fmla="*/ 525 h 1380"/>
                <a:gd name="T8" fmla="*/ 99 w 2260"/>
                <a:gd name="T9" fmla="*/ 321 h 1380"/>
                <a:gd name="T10" fmla="*/ 86 w 2260"/>
                <a:gd name="T11" fmla="*/ 236 h 1380"/>
                <a:gd name="T12" fmla="*/ 155 w 2260"/>
                <a:gd name="T13" fmla="*/ 157 h 1380"/>
                <a:gd name="T14" fmla="*/ 223 w 2260"/>
                <a:gd name="T15" fmla="*/ 77 h 1380"/>
                <a:gd name="T16" fmla="*/ 132 w 2260"/>
                <a:gd name="T17" fmla="*/ 76 h 1380"/>
                <a:gd name="T18" fmla="*/ 483 w 2260"/>
                <a:gd name="T19" fmla="*/ 50 h 1380"/>
                <a:gd name="T20" fmla="*/ 834 w 2260"/>
                <a:gd name="T21" fmla="*/ 24 h 1380"/>
                <a:gd name="T22" fmla="*/ 1890 w 2260"/>
                <a:gd name="T23" fmla="*/ 10 h 1380"/>
                <a:gd name="T24" fmla="*/ 2260 w 2260"/>
                <a:gd name="T25" fmla="*/ 0 h 13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8" name="AutoShape 29"/>
            <p:cNvSpPr>
              <a:spLocks/>
            </p:cNvSpPr>
            <p:nvPr/>
          </p:nvSpPr>
          <p:spPr bwMode="auto">
            <a:xfrm>
              <a:off x="1784" y="1752"/>
              <a:ext cx="2224" cy="1788"/>
            </a:xfrm>
            <a:custGeom>
              <a:avLst/>
              <a:gdLst>
                <a:gd name="T0" fmla="*/ 0 w 2224"/>
                <a:gd name="T1" fmla="*/ 1788 h 1788"/>
                <a:gd name="T2" fmla="*/ 15 w 2224"/>
                <a:gd name="T3" fmla="*/ 1616 h 1788"/>
                <a:gd name="T4" fmla="*/ 70 w 2224"/>
                <a:gd name="T5" fmla="*/ 1000 h 1788"/>
                <a:gd name="T6" fmla="*/ 89 w 2224"/>
                <a:gd name="T7" fmla="*/ 754 h 1788"/>
                <a:gd name="T8" fmla="*/ 108 w 2224"/>
                <a:gd name="T9" fmla="*/ 508 h 1788"/>
                <a:gd name="T10" fmla="*/ 92 w 2224"/>
                <a:gd name="T11" fmla="*/ 417 h 1788"/>
                <a:gd name="T12" fmla="*/ 112 w 2224"/>
                <a:gd name="T13" fmla="*/ 312 h 1788"/>
                <a:gd name="T14" fmla="*/ 132 w 2224"/>
                <a:gd name="T15" fmla="*/ 207 h 1788"/>
                <a:gd name="T16" fmla="*/ 121 w 2224"/>
                <a:gd name="T17" fmla="*/ 171 h 1788"/>
                <a:gd name="T18" fmla="*/ 209 w 2224"/>
                <a:gd name="T19" fmla="*/ 125 h 1788"/>
                <a:gd name="T20" fmla="*/ 297 w 2224"/>
                <a:gd name="T21" fmla="*/ 79 h 1788"/>
                <a:gd name="T22" fmla="*/ 304 w 2224"/>
                <a:gd name="T23" fmla="*/ 57 h 1788"/>
                <a:gd name="T24" fmla="*/ 640 w 2224"/>
                <a:gd name="T25" fmla="*/ 36 h 1788"/>
                <a:gd name="T26" fmla="*/ 976 w 2224"/>
                <a:gd name="T27" fmla="*/ 15 h 1788"/>
                <a:gd name="T28" fmla="*/ 1894 w 2224"/>
                <a:gd name="T29" fmla="*/ 8 h 1788"/>
                <a:gd name="T30" fmla="*/ 2224 w 2224"/>
                <a:gd name="T31" fmla="*/ 0 h 178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9" name="AutoShape 30"/>
            <p:cNvSpPr>
              <a:spLocks/>
            </p:cNvSpPr>
            <p:nvPr/>
          </p:nvSpPr>
          <p:spPr bwMode="auto">
            <a:xfrm>
              <a:off x="1784" y="1199"/>
              <a:ext cx="2212" cy="2377"/>
            </a:xfrm>
            <a:custGeom>
              <a:avLst/>
              <a:gdLst>
                <a:gd name="T0" fmla="*/ 0 w 2212"/>
                <a:gd name="T1" fmla="*/ 2377 h 2377"/>
                <a:gd name="T2" fmla="*/ 15 w 2212"/>
                <a:gd name="T3" fmla="*/ 2189 h 2377"/>
                <a:gd name="T4" fmla="*/ 62 w 2212"/>
                <a:gd name="T5" fmla="*/ 1583 h 2377"/>
                <a:gd name="T6" fmla="*/ 93 w 2212"/>
                <a:gd name="T7" fmla="*/ 1248 h 2377"/>
                <a:gd name="T8" fmla="*/ 124 w 2212"/>
                <a:gd name="T9" fmla="*/ 914 h 2377"/>
                <a:gd name="T10" fmla="*/ 113 w 2212"/>
                <a:gd name="T11" fmla="*/ 567 h 2377"/>
                <a:gd name="T12" fmla="*/ 186 w 2212"/>
                <a:gd name="T13" fmla="*/ 369 h 2377"/>
                <a:gd name="T14" fmla="*/ 259 w 2212"/>
                <a:gd name="T15" fmla="*/ 171 h 2377"/>
                <a:gd name="T16" fmla="*/ 194 w 2212"/>
                <a:gd name="T17" fmla="*/ 122 h 2377"/>
                <a:gd name="T18" fmla="*/ 532 w 2212"/>
                <a:gd name="T19" fmla="*/ 61 h 2377"/>
                <a:gd name="T20" fmla="*/ 870 w 2212"/>
                <a:gd name="T21" fmla="*/ 0 h 2377"/>
                <a:gd name="T22" fmla="*/ 1862 w 2212"/>
                <a:gd name="T23" fmla="*/ 13 h 2377"/>
                <a:gd name="T24" fmla="*/ 2212 w 2212"/>
                <a:gd name="T25" fmla="*/ 1 h 2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4215" y="1041"/>
              <a:ext cx="661" cy="2515"/>
              <a:chOff x="4419" y="1161"/>
              <a:chExt cx="661" cy="2515"/>
            </a:xfrm>
          </p:grpSpPr>
          <p:sp>
            <p:nvSpPr>
              <p:cNvPr id="61461" name="Text Box 32"/>
              <p:cNvSpPr txBox="1">
                <a:spLocks noChangeArrowheads="1"/>
              </p:cNvSpPr>
              <p:nvPr/>
            </p:nvSpPr>
            <p:spPr bwMode="auto">
              <a:xfrm>
                <a:off x="4465" y="3384"/>
                <a:ext cx="510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B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=0</a:t>
                </a:r>
              </a:p>
            </p:txBody>
          </p:sp>
          <p:sp>
            <p:nvSpPr>
              <p:cNvPr id="61462" name="Text Box 33"/>
              <p:cNvSpPr txBox="1">
                <a:spLocks noChangeArrowheads="1"/>
              </p:cNvSpPr>
              <p:nvPr/>
            </p:nvSpPr>
            <p:spPr bwMode="auto">
              <a:xfrm>
                <a:off x="4419" y="3021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20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3" name="Text Box 34"/>
              <p:cNvSpPr txBox="1">
                <a:spLocks noChangeArrowheads="1"/>
              </p:cNvSpPr>
              <p:nvPr/>
            </p:nvSpPr>
            <p:spPr bwMode="auto">
              <a:xfrm>
                <a:off x="4427" y="2565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40</a:t>
                </a:r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4" name="Text Box 35"/>
              <p:cNvSpPr txBox="1">
                <a:spLocks noChangeArrowheads="1"/>
              </p:cNvSpPr>
              <p:nvPr/>
            </p:nvSpPr>
            <p:spPr bwMode="auto">
              <a:xfrm>
                <a:off x="4427" y="2133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60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5" name="Text Box 36"/>
              <p:cNvSpPr txBox="1">
                <a:spLocks noChangeArrowheads="1"/>
              </p:cNvSpPr>
              <p:nvPr/>
            </p:nvSpPr>
            <p:spPr bwMode="auto">
              <a:xfrm>
                <a:off x="4439" y="1677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80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6" name="Text Box 37"/>
              <p:cNvSpPr txBox="1">
                <a:spLocks noChangeArrowheads="1"/>
              </p:cNvSpPr>
              <p:nvPr/>
            </p:nvSpPr>
            <p:spPr bwMode="auto">
              <a:xfrm>
                <a:off x="4419" y="1161"/>
                <a:ext cx="66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100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</p:grpSp>
      </p:grpSp>
      <p:sp>
        <p:nvSpPr>
          <p:cNvPr id="127014" name="AutoShape 38"/>
          <p:cNvSpPr>
            <a:spLocks/>
          </p:cNvSpPr>
          <p:nvPr/>
        </p:nvSpPr>
        <p:spPr bwMode="auto">
          <a:xfrm>
            <a:off x="2806923" y="2446238"/>
            <a:ext cx="685800" cy="3600450"/>
          </a:xfrm>
          <a:custGeom>
            <a:avLst/>
            <a:gdLst>
              <a:gd name="T0" fmla="*/ 0 w 432"/>
              <a:gd name="T1" fmla="*/ 3600450 h 2268"/>
              <a:gd name="T2" fmla="*/ 95250 w 432"/>
              <a:gd name="T3" fmla="*/ 2400300 h 2268"/>
              <a:gd name="T4" fmla="*/ 152400 w 432"/>
              <a:gd name="T5" fmla="*/ 1371600 h 2268"/>
              <a:gd name="T6" fmla="*/ 228600 w 432"/>
              <a:gd name="T7" fmla="*/ 685800 h 2268"/>
              <a:gd name="T8" fmla="*/ 323850 w 432"/>
              <a:gd name="T9" fmla="*/ 304800 h 2268"/>
              <a:gd name="T10" fmla="*/ 495300 w 432"/>
              <a:gd name="T11" fmla="*/ 38100 h 2268"/>
              <a:gd name="T12" fmla="*/ 685800 w 432"/>
              <a:gd name="T13" fmla="*/ 0 h 2268"/>
              <a:gd name="T14" fmla="*/ 457200 w 432"/>
              <a:gd name="T15" fmla="*/ 1752600 h 2268"/>
              <a:gd name="T16" fmla="*/ 209550 w 432"/>
              <a:gd name="T17" fmla="*/ 3467100 h 2268"/>
              <a:gd name="T18" fmla="*/ 133350 w 432"/>
              <a:gd name="T19" fmla="*/ 3581400 h 2268"/>
              <a:gd name="T20" fmla="*/ 0 w 432"/>
              <a:gd name="T21" fmla="*/ 3600450 h 22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32" h="2268">
                <a:moveTo>
                  <a:pt x="0" y="2268"/>
                </a:moveTo>
                <a:lnTo>
                  <a:pt x="60" y="1512"/>
                </a:lnTo>
                <a:lnTo>
                  <a:pt x="96" y="864"/>
                </a:lnTo>
                <a:lnTo>
                  <a:pt x="144" y="432"/>
                </a:lnTo>
                <a:lnTo>
                  <a:pt x="204" y="192"/>
                </a:lnTo>
                <a:lnTo>
                  <a:pt x="312" y="24"/>
                </a:lnTo>
                <a:lnTo>
                  <a:pt x="432" y="0"/>
                </a:lnTo>
                <a:lnTo>
                  <a:pt x="288" y="1104"/>
                </a:lnTo>
                <a:lnTo>
                  <a:pt x="132" y="2184"/>
                </a:lnTo>
                <a:lnTo>
                  <a:pt x="84" y="2256"/>
                </a:lnTo>
                <a:lnTo>
                  <a:pt x="0" y="2268"/>
                </a:lnTo>
                <a:close/>
              </a:path>
            </a:pathLst>
          </a:custGeom>
          <a:solidFill>
            <a:srgbClr val="CC3300">
              <a:alpha val="50195"/>
            </a:srgbClr>
          </a:solidFill>
          <a:ln w="38100">
            <a:noFill/>
            <a:round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7015" name="AutoShape 39"/>
          <p:cNvSpPr>
            <a:spLocks noChangeArrowheads="1"/>
          </p:cNvSpPr>
          <p:nvPr/>
        </p:nvSpPr>
        <p:spPr bwMode="auto">
          <a:xfrm>
            <a:off x="107504" y="2132856"/>
            <a:ext cx="1907704" cy="2489268"/>
          </a:xfrm>
          <a:prstGeom prst="wedgeRoundRectCallout">
            <a:avLst>
              <a:gd name="adj1" fmla="val 107886"/>
              <a:gd name="adj2" fmla="val 11799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此区域中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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BE 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集电结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正偏，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en-US" altLang="zh-CN" sz="2400" b="1" i="0" dirty="0" smtClean="0">
                <a:solidFill>
                  <a:srgbClr val="FF0000"/>
                </a:solidFill>
                <a:ea typeface="楷体_GB2312" pitchFamily="49" charset="-122"/>
              </a:rPr>
              <a:t>&gt;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 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</a:rPr>
              <a:t>0.3V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称为饱和区。</a:t>
            </a:r>
          </a:p>
        </p:txBody>
      </p:sp>
      <p:sp>
        <p:nvSpPr>
          <p:cNvPr id="48" name="Text Box 2"/>
          <p:cNvSpPr txBox="1">
            <a:spLocks noChangeArrowheads="1"/>
          </p:cNvSpPr>
          <p:nvPr/>
        </p:nvSpPr>
        <p:spPr bwMode="auto">
          <a:xfrm>
            <a:off x="1302241" y="719714"/>
            <a:ext cx="348715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i="0" dirty="0" smtClean="0">
                <a:solidFill>
                  <a:srgbClr val="050507"/>
                </a:solidFill>
              </a:rPr>
              <a:t> </a:t>
            </a:r>
            <a:r>
              <a:rPr lang="zh-CN" altLang="en-US" sz="2800" b="1" dirty="0" smtClean="0">
                <a:solidFill>
                  <a:srgbClr val="050507"/>
                </a:solidFill>
              </a:rPr>
              <a:t>三极管的</a:t>
            </a:r>
            <a:r>
              <a:rPr lang="zh-CN" altLang="en-US" sz="2800" b="1" i="0" dirty="0" smtClean="0">
                <a:solidFill>
                  <a:srgbClr val="050507"/>
                </a:solidFill>
                <a:latin typeface="宋体" pitchFamily="2" charset="-122"/>
              </a:rPr>
              <a:t>输出特性</a:t>
            </a:r>
            <a:endParaRPr lang="zh-CN" altLang="en-US" sz="2800" b="1" i="0" dirty="0">
              <a:solidFill>
                <a:srgbClr val="050507"/>
              </a:solidFill>
              <a:latin typeface="宋体" pitchFamily="2" charset="-122"/>
            </a:endParaRPr>
          </a:p>
        </p:txBody>
      </p:sp>
      <p:sp>
        <p:nvSpPr>
          <p:cNvPr id="49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14" grpId="0" animBg="1"/>
      <p:bldP spid="12701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971600" y="2204864"/>
            <a:ext cx="5379790" cy="4248472"/>
            <a:chOff x="1426" y="669"/>
            <a:chExt cx="3638" cy="3209"/>
          </a:xfrm>
        </p:grpSpPr>
        <p:sp>
          <p:nvSpPr>
            <p:cNvPr id="62475" name="Text Box 3"/>
            <p:cNvSpPr txBox="1">
              <a:spLocks noChangeArrowheads="1"/>
            </p:cNvSpPr>
            <p:nvPr/>
          </p:nvSpPr>
          <p:spPr bwMode="auto">
            <a:xfrm>
              <a:off x="1900" y="669"/>
              <a:ext cx="115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r>
                <a:rPr lang="en-US" altLang="zh-CN" i="0" dirty="0" smtClean="0">
                  <a:solidFill>
                    <a:srgbClr val="050507"/>
                  </a:solidFill>
                  <a:ea typeface="楷体_GB2312" pitchFamily="49" charset="-122"/>
                </a:rPr>
                <a:t>(mA  )</a:t>
              </a:r>
            </a:p>
          </p:txBody>
        </p:sp>
        <p:grpSp>
          <p:nvGrpSpPr>
            <p:cNvPr id="5" name="Group 4"/>
            <p:cNvGrpSpPr/>
            <p:nvPr/>
          </p:nvGrpSpPr>
          <p:grpSpPr bwMode="auto">
            <a:xfrm>
              <a:off x="1426" y="792"/>
              <a:ext cx="434" cy="2796"/>
              <a:chOff x="1450" y="828"/>
              <a:chExt cx="434" cy="2796"/>
            </a:xfrm>
          </p:grpSpPr>
          <p:sp>
            <p:nvSpPr>
              <p:cNvPr id="62501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2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3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4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5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6" name="Text Box 10"/>
              <p:cNvSpPr txBox="1">
                <a:spLocks noChangeArrowheads="1"/>
              </p:cNvSpPr>
              <p:nvPr/>
            </p:nvSpPr>
            <p:spPr bwMode="auto">
              <a:xfrm>
                <a:off x="1450" y="2926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2507" name="Text Box 11"/>
              <p:cNvSpPr txBox="1">
                <a:spLocks noChangeArrowheads="1"/>
              </p:cNvSpPr>
              <p:nvPr/>
            </p:nvSpPr>
            <p:spPr bwMode="auto">
              <a:xfrm>
                <a:off x="1450" y="2338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2508" name="Text Box 12"/>
              <p:cNvSpPr txBox="1">
                <a:spLocks noChangeArrowheads="1"/>
              </p:cNvSpPr>
              <p:nvPr/>
            </p:nvSpPr>
            <p:spPr bwMode="auto">
              <a:xfrm>
                <a:off x="1450" y="1714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2509" name="Text Box 13"/>
              <p:cNvSpPr txBox="1">
                <a:spLocks noChangeArrowheads="1"/>
              </p:cNvSpPr>
              <p:nvPr/>
            </p:nvSpPr>
            <p:spPr bwMode="auto">
              <a:xfrm>
                <a:off x="1450" y="1162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6" name="Group 14"/>
            <p:cNvGrpSpPr/>
            <p:nvPr/>
          </p:nvGrpSpPr>
          <p:grpSpPr bwMode="auto">
            <a:xfrm>
              <a:off x="1764" y="3504"/>
              <a:ext cx="3300" cy="374"/>
              <a:chOff x="1800" y="3540"/>
              <a:chExt cx="3300" cy="374"/>
            </a:xfrm>
          </p:grpSpPr>
          <p:sp>
            <p:nvSpPr>
              <p:cNvPr id="62491" name="Line 15"/>
              <p:cNvSpPr>
                <a:spLocks noChangeShapeType="1"/>
              </p:cNvSpPr>
              <p:nvPr/>
            </p:nvSpPr>
            <p:spPr bwMode="auto">
              <a:xfrm flipV="1">
                <a:off x="1800" y="3600"/>
                <a:ext cx="2700" cy="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2" name="Line 16"/>
              <p:cNvSpPr>
                <a:spLocks noChangeShapeType="1"/>
              </p:cNvSpPr>
              <p:nvPr/>
            </p:nvSpPr>
            <p:spPr bwMode="auto">
              <a:xfrm>
                <a:off x="2340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3" name="Line 17"/>
              <p:cNvSpPr>
                <a:spLocks noChangeShapeType="1"/>
              </p:cNvSpPr>
              <p:nvPr/>
            </p:nvSpPr>
            <p:spPr bwMode="auto">
              <a:xfrm>
                <a:off x="2928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4" name="Text Box 18"/>
              <p:cNvSpPr txBox="1">
                <a:spLocks noChangeArrowheads="1"/>
              </p:cNvSpPr>
              <p:nvPr/>
            </p:nvSpPr>
            <p:spPr bwMode="auto">
              <a:xfrm>
                <a:off x="4404" y="3622"/>
                <a:ext cx="696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 smtClean="0">
                    <a:solidFill>
                      <a:srgbClr val="050507"/>
                    </a:solidFill>
                    <a:ea typeface="楷体_GB2312" pitchFamily="49" charset="-122"/>
                  </a:rPr>
                  <a:t>U</a:t>
                </a:r>
                <a:r>
                  <a:rPr lang="en-US" altLang="zh-CN" baseline="-250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CE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(V)</a:t>
                </a:r>
              </a:p>
            </p:txBody>
          </p:sp>
          <p:sp>
            <p:nvSpPr>
              <p:cNvPr id="62495" name="Text Box 19"/>
              <p:cNvSpPr txBox="1">
                <a:spLocks noChangeArrowheads="1"/>
              </p:cNvSpPr>
              <p:nvPr/>
            </p:nvSpPr>
            <p:spPr bwMode="auto">
              <a:xfrm>
                <a:off x="2194" y="3642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2496" name="Text Box 20"/>
              <p:cNvSpPr txBox="1">
                <a:spLocks noChangeArrowheads="1"/>
              </p:cNvSpPr>
              <p:nvPr/>
            </p:nvSpPr>
            <p:spPr bwMode="auto">
              <a:xfrm>
                <a:off x="2843" y="3654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62497" name="Line 21"/>
              <p:cNvSpPr>
                <a:spLocks noChangeShapeType="1"/>
              </p:cNvSpPr>
              <p:nvPr/>
            </p:nvSpPr>
            <p:spPr bwMode="auto">
              <a:xfrm>
                <a:off x="3480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8" name="Line 22"/>
              <p:cNvSpPr>
                <a:spLocks noChangeShapeType="1"/>
              </p:cNvSpPr>
              <p:nvPr/>
            </p:nvSpPr>
            <p:spPr bwMode="auto">
              <a:xfrm>
                <a:off x="4032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9" name="Text Box 23"/>
              <p:cNvSpPr txBox="1">
                <a:spLocks noChangeArrowheads="1"/>
              </p:cNvSpPr>
              <p:nvPr/>
            </p:nvSpPr>
            <p:spPr bwMode="auto">
              <a:xfrm>
                <a:off x="3346" y="3660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rgbClr val="00FF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9</a:t>
                </a:r>
              </a:p>
            </p:txBody>
          </p:sp>
          <p:sp>
            <p:nvSpPr>
              <p:cNvPr id="62500" name="Text Box 24"/>
              <p:cNvSpPr txBox="1">
                <a:spLocks noChangeArrowheads="1"/>
              </p:cNvSpPr>
              <p:nvPr/>
            </p:nvSpPr>
            <p:spPr bwMode="auto">
              <a:xfrm>
                <a:off x="3882" y="3642"/>
                <a:ext cx="27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rgbClr val="00FF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12</a:t>
                </a:r>
              </a:p>
            </p:txBody>
          </p:sp>
        </p:grpSp>
        <p:sp>
          <p:nvSpPr>
            <p:cNvPr id="62478" name="AutoShape 25"/>
            <p:cNvSpPr/>
            <p:nvPr/>
          </p:nvSpPr>
          <p:spPr bwMode="auto">
            <a:xfrm>
              <a:off x="1765" y="3444"/>
              <a:ext cx="2387" cy="131"/>
            </a:xfrm>
            <a:custGeom>
              <a:avLst/>
              <a:gdLst>
                <a:gd name="T0" fmla="*/ 19 w 2387"/>
                <a:gd name="T1" fmla="*/ 131 h 131"/>
                <a:gd name="T2" fmla="*/ 27 w 2387"/>
                <a:gd name="T3" fmla="*/ 125 h 131"/>
                <a:gd name="T4" fmla="*/ 0 w 2387"/>
                <a:gd name="T5" fmla="*/ 113 h 131"/>
                <a:gd name="T6" fmla="*/ 69 w 2387"/>
                <a:gd name="T7" fmla="*/ 95 h 131"/>
                <a:gd name="T8" fmla="*/ 138 w 2387"/>
                <a:gd name="T9" fmla="*/ 77 h 131"/>
                <a:gd name="T10" fmla="*/ 45 w 2387"/>
                <a:gd name="T11" fmla="*/ 40 h 131"/>
                <a:gd name="T12" fmla="*/ 431 w 2387"/>
                <a:gd name="T13" fmla="*/ 24 h 131"/>
                <a:gd name="T14" fmla="*/ 817 w 2387"/>
                <a:gd name="T15" fmla="*/ 8 h 131"/>
                <a:gd name="T16" fmla="*/ 1980 w 2387"/>
                <a:gd name="T17" fmla="*/ 5 h 131"/>
                <a:gd name="T18" fmla="*/ 2387 w 2387"/>
                <a:gd name="T19" fmla="*/ 0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9" name="AutoShape 26"/>
            <p:cNvSpPr/>
            <p:nvPr/>
          </p:nvSpPr>
          <p:spPr bwMode="auto">
            <a:xfrm>
              <a:off x="1784" y="3072"/>
              <a:ext cx="2308" cy="504"/>
            </a:xfrm>
            <a:custGeom>
              <a:avLst/>
              <a:gdLst>
                <a:gd name="T0" fmla="*/ 0 w 2308"/>
                <a:gd name="T1" fmla="*/ 504 h 504"/>
                <a:gd name="T2" fmla="*/ 3 w 2308"/>
                <a:gd name="T3" fmla="*/ 472 h 504"/>
                <a:gd name="T4" fmla="*/ 6 w 2308"/>
                <a:gd name="T5" fmla="*/ 352 h 504"/>
                <a:gd name="T6" fmla="*/ 15 w 2308"/>
                <a:gd name="T7" fmla="*/ 314 h 504"/>
                <a:gd name="T8" fmla="*/ 24 w 2308"/>
                <a:gd name="T9" fmla="*/ 276 h 504"/>
                <a:gd name="T10" fmla="*/ 26 w 2308"/>
                <a:gd name="T11" fmla="*/ 302 h 504"/>
                <a:gd name="T12" fmla="*/ 52 w 2308"/>
                <a:gd name="T13" fmla="*/ 276 h 504"/>
                <a:gd name="T14" fmla="*/ 78 w 2308"/>
                <a:gd name="T15" fmla="*/ 250 h 504"/>
                <a:gd name="T16" fmla="*/ 124 w 2308"/>
                <a:gd name="T17" fmla="*/ 190 h 504"/>
                <a:gd name="T18" fmla="*/ 172 w 2308"/>
                <a:gd name="T19" fmla="*/ 156 h 504"/>
                <a:gd name="T20" fmla="*/ 220 w 2308"/>
                <a:gd name="T21" fmla="*/ 122 h 504"/>
                <a:gd name="T22" fmla="*/ 244 w 2308"/>
                <a:gd name="T23" fmla="*/ 90 h 504"/>
                <a:gd name="T24" fmla="*/ 340 w 2308"/>
                <a:gd name="T25" fmla="*/ 72 h 504"/>
                <a:gd name="T26" fmla="*/ 436 w 2308"/>
                <a:gd name="T27" fmla="*/ 54 h 504"/>
                <a:gd name="T28" fmla="*/ 420 w 2308"/>
                <a:gd name="T29" fmla="*/ 60 h 504"/>
                <a:gd name="T30" fmla="*/ 748 w 2308"/>
                <a:gd name="T31" fmla="*/ 48 h 504"/>
                <a:gd name="T32" fmla="*/ 1076 w 2308"/>
                <a:gd name="T33" fmla="*/ 36 h 504"/>
                <a:gd name="T34" fmla="*/ 1983 w 2308"/>
                <a:gd name="T35" fmla="*/ 10 h 504"/>
                <a:gd name="T36" fmla="*/ 2308 w 2308"/>
                <a:gd name="T37" fmla="*/ 0 h 50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0" name="AutoShape 27"/>
            <p:cNvSpPr/>
            <p:nvPr/>
          </p:nvSpPr>
          <p:spPr bwMode="auto">
            <a:xfrm>
              <a:off x="1781" y="2628"/>
              <a:ext cx="2299" cy="948"/>
            </a:xfrm>
            <a:custGeom>
              <a:avLst/>
              <a:gdLst>
                <a:gd name="T0" fmla="*/ 0 w 2299"/>
                <a:gd name="T1" fmla="*/ 948 h 948"/>
                <a:gd name="T2" fmla="*/ 9 w 2299"/>
                <a:gd name="T3" fmla="*/ 858 h 948"/>
                <a:gd name="T4" fmla="*/ 20 w 2299"/>
                <a:gd name="T5" fmla="*/ 540 h 948"/>
                <a:gd name="T6" fmla="*/ 55 w 2299"/>
                <a:gd name="T7" fmla="*/ 408 h 948"/>
                <a:gd name="T8" fmla="*/ 90 w 2299"/>
                <a:gd name="T9" fmla="*/ 276 h 948"/>
                <a:gd name="T10" fmla="*/ 151 w 2299"/>
                <a:gd name="T11" fmla="*/ 212 h 948"/>
                <a:gd name="T12" fmla="*/ 211 w 2299"/>
                <a:gd name="T13" fmla="*/ 156 h 948"/>
                <a:gd name="T14" fmla="*/ 271 w 2299"/>
                <a:gd name="T15" fmla="*/ 100 h 948"/>
                <a:gd name="T16" fmla="*/ 247 w 2299"/>
                <a:gd name="T17" fmla="*/ 93 h 948"/>
                <a:gd name="T18" fmla="*/ 413 w 2299"/>
                <a:gd name="T19" fmla="*/ 69 h 948"/>
                <a:gd name="T20" fmla="*/ 579 w 2299"/>
                <a:gd name="T21" fmla="*/ 45 h 948"/>
                <a:gd name="T22" fmla="*/ 893 w 2299"/>
                <a:gd name="T23" fmla="*/ 23 h 948"/>
                <a:gd name="T24" fmla="*/ 1207 w 2299"/>
                <a:gd name="T25" fmla="*/ 12 h 948"/>
                <a:gd name="T26" fmla="*/ 1521 w 2299"/>
                <a:gd name="T27" fmla="*/ 1 h 948"/>
                <a:gd name="T28" fmla="*/ 2072 w 2299"/>
                <a:gd name="T29" fmla="*/ 2 h 948"/>
                <a:gd name="T30" fmla="*/ 2299 w 2299"/>
                <a:gd name="T31" fmla="*/ 0 h 9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1" name="AutoShape 28"/>
            <p:cNvSpPr/>
            <p:nvPr/>
          </p:nvSpPr>
          <p:spPr bwMode="auto">
            <a:xfrm>
              <a:off x="1784" y="2160"/>
              <a:ext cx="2260" cy="1380"/>
            </a:xfrm>
            <a:custGeom>
              <a:avLst/>
              <a:gdLst>
                <a:gd name="T0" fmla="*/ 0 w 2260"/>
                <a:gd name="T1" fmla="*/ 1380 h 1380"/>
                <a:gd name="T2" fmla="*/ 12 w 2260"/>
                <a:gd name="T3" fmla="*/ 1237 h 1380"/>
                <a:gd name="T4" fmla="*/ 48 w 2260"/>
                <a:gd name="T5" fmla="*/ 729 h 1380"/>
                <a:gd name="T6" fmla="*/ 73 w 2260"/>
                <a:gd name="T7" fmla="*/ 525 h 1380"/>
                <a:gd name="T8" fmla="*/ 99 w 2260"/>
                <a:gd name="T9" fmla="*/ 321 h 1380"/>
                <a:gd name="T10" fmla="*/ 86 w 2260"/>
                <a:gd name="T11" fmla="*/ 236 h 1380"/>
                <a:gd name="T12" fmla="*/ 155 w 2260"/>
                <a:gd name="T13" fmla="*/ 157 h 1380"/>
                <a:gd name="T14" fmla="*/ 223 w 2260"/>
                <a:gd name="T15" fmla="*/ 77 h 1380"/>
                <a:gd name="T16" fmla="*/ 132 w 2260"/>
                <a:gd name="T17" fmla="*/ 76 h 1380"/>
                <a:gd name="T18" fmla="*/ 483 w 2260"/>
                <a:gd name="T19" fmla="*/ 50 h 1380"/>
                <a:gd name="T20" fmla="*/ 834 w 2260"/>
                <a:gd name="T21" fmla="*/ 24 h 1380"/>
                <a:gd name="T22" fmla="*/ 1890 w 2260"/>
                <a:gd name="T23" fmla="*/ 10 h 1380"/>
                <a:gd name="T24" fmla="*/ 2260 w 2260"/>
                <a:gd name="T25" fmla="*/ 0 h 13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2" name="AutoShape 29"/>
            <p:cNvSpPr/>
            <p:nvPr/>
          </p:nvSpPr>
          <p:spPr bwMode="auto">
            <a:xfrm>
              <a:off x="1784" y="1752"/>
              <a:ext cx="2224" cy="1788"/>
            </a:xfrm>
            <a:custGeom>
              <a:avLst/>
              <a:gdLst>
                <a:gd name="T0" fmla="*/ 0 w 2224"/>
                <a:gd name="T1" fmla="*/ 1788 h 1788"/>
                <a:gd name="T2" fmla="*/ 15 w 2224"/>
                <a:gd name="T3" fmla="*/ 1616 h 1788"/>
                <a:gd name="T4" fmla="*/ 70 w 2224"/>
                <a:gd name="T5" fmla="*/ 1000 h 1788"/>
                <a:gd name="T6" fmla="*/ 89 w 2224"/>
                <a:gd name="T7" fmla="*/ 754 h 1788"/>
                <a:gd name="T8" fmla="*/ 108 w 2224"/>
                <a:gd name="T9" fmla="*/ 508 h 1788"/>
                <a:gd name="T10" fmla="*/ 92 w 2224"/>
                <a:gd name="T11" fmla="*/ 417 h 1788"/>
                <a:gd name="T12" fmla="*/ 112 w 2224"/>
                <a:gd name="T13" fmla="*/ 312 h 1788"/>
                <a:gd name="T14" fmla="*/ 132 w 2224"/>
                <a:gd name="T15" fmla="*/ 207 h 1788"/>
                <a:gd name="T16" fmla="*/ 121 w 2224"/>
                <a:gd name="T17" fmla="*/ 171 h 1788"/>
                <a:gd name="T18" fmla="*/ 209 w 2224"/>
                <a:gd name="T19" fmla="*/ 125 h 1788"/>
                <a:gd name="T20" fmla="*/ 297 w 2224"/>
                <a:gd name="T21" fmla="*/ 79 h 1788"/>
                <a:gd name="T22" fmla="*/ 304 w 2224"/>
                <a:gd name="T23" fmla="*/ 57 h 1788"/>
                <a:gd name="T24" fmla="*/ 640 w 2224"/>
                <a:gd name="T25" fmla="*/ 36 h 1788"/>
                <a:gd name="T26" fmla="*/ 976 w 2224"/>
                <a:gd name="T27" fmla="*/ 15 h 1788"/>
                <a:gd name="T28" fmla="*/ 1894 w 2224"/>
                <a:gd name="T29" fmla="*/ 8 h 1788"/>
                <a:gd name="T30" fmla="*/ 2224 w 2224"/>
                <a:gd name="T31" fmla="*/ 0 h 178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3" name="AutoShape 30"/>
            <p:cNvSpPr/>
            <p:nvPr/>
          </p:nvSpPr>
          <p:spPr bwMode="auto">
            <a:xfrm>
              <a:off x="1784" y="1199"/>
              <a:ext cx="2212" cy="2377"/>
            </a:xfrm>
            <a:custGeom>
              <a:avLst/>
              <a:gdLst>
                <a:gd name="T0" fmla="*/ 0 w 2212"/>
                <a:gd name="T1" fmla="*/ 2377 h 2377"/>
                <a:gd name="T2" fmla="*/ 15 w 2212"/>
                <a:gd name="T3" fmla="*/ 2189 h 2377"/>
                <a:gd name="T4" fmla="*/ 62 w 2212"/>
                <a:gd name="T5" fmla="*/ 1583 h 2377"/>
                <a:gd name="T6" fmla="*/ 93 w 2212"/>
                <a:gd name="T7" fmla="*/ 1248 h 2377"/>
                <a:gd name="T8" fmla="*/ 124 w 2212"/>
                <a:gd name="T9" fmla="*/ 914 h 2377"/>
                <a:gd name="T10" fmla="*/ 113 w 2212"/>
                <a:gd name="T11" fmla="*/ 567 h 2377"/>
                <a:gd name="T12" fmla="*/ 186 w 2212"/>
                <a:gd name="T13" fmla="*/ 369 h 2377"/>
                <a:gd name="T14" fmla="*/ 259 w 2212"/>
                <a:gd name="T15" fmla="*/ 171 h 2377"/>
                <a:gd name="T16" fmla="*/ 194 w 2212"/>
                <a:gd name="T17" fmla="*/ 122 h 2377"/>
                <a:gd name="T18" fmla="*/ 532 w 2212"/>
                <a:gd name="T19" fmla="*/ 61 h 2377"/>
                <a:gd name="T20" fmla="*/ 870 w 2212"/>
                <a:gd name="T21" fmla="*/ 0 h 2377"/>
                <a:gd name="T22" fmla="*/ 1862 w 2212"/>
                <a:gd name="T23" fmla="*/ 13 h 2377"/>
                <a:gd name="T24" fmla="*/ 2212 w 2212"/>
                <a:gd name="T25" fmla="*/ 1 h 2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31"/>
            <p:cNvGrpSpPr/>
            <p:nvPr/>
          </p:nvGrpSpPr>
          <p:grpSpPr bwMode="auto">
            <a:xfrm>
              <a:off x="4196" y="993"/>
              <a:ext cx="658" cy="2501"/>
              <a:chOff x="4400" y="1113"/>
              <a:chExt cx="658" cy="2501"/>
            </a:xfrm>
          </p:grpSpPr>
          <p:sp>
            <p:nvSpPr>
              <p:cNvPr id="62485" name="Text Box 32"/>
              <p:cNvSpPr txBox="1">
                <a:spLocks noChangeArrowheads="1"/>
              </p:cNvSpPr>
              <p:nvPr/>
            </p:nvSpPr>
            <p:spPr bwMode="auto">
              <a:xfrm>
                <a:off x="4492" y="3322"/>
                <a:ext cx="483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 smtClean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baseline="-250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B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=0</a:t>
                </a:r>
              </a:p>
            </p:txBody>
          </p:sp>
          <p:sp>
            <p:nvSpPr>
              <p:cNvPr id="62486" name="Text Box 33"/>
              <p:cNvSpPr txBox="1">
                <a:spLocks noChangeArrowheads="1"/>
              </p:cNvSpPr>
              <p:nvPr/>
            </p:nvSpPr>
            <p:spPr bwMode="auto">
              <a:xfrm>
                <a:off x="4460" y="3033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20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7" name="Text Box 34"/>
              <p:cNvSpPr txBox="1">
                <a:spLocks noChangeArrowheads="1"/>
              </p:cNvSpPr>
              <p:nvPr/>
            </p:nvSpPr>
            <p:spPr bwMode="auto">
              <a:xfrm>
                <a:off x="4424" y="2565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40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8" name="Text Box 35"/>
              <p:cNvSpPr txBox="1">
                <a:spLocks noChangeArrowheads="1"/>
              </p:cNvSpPr>
              <p:nvPr/>
            </p:nvSpPr>
            <p:spPr bwMode="auto">
              <a:xfrm>
                <a:off x="4424" y="2133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60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9" name="Text Box 36"/>
              <p:cNvSpPr txBox="1">
                <a:spLocks noChangeArrowheads="1"/>
              </p:cNvSpPr>
              <p:nvPr/>
            </p:nvSpPr>
            <p:spPr bwMode="auto">
              <a:xfrm>
                <a:off x="4436" y="1677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80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90" name="Text Box 37"/>
              <p:cNvSpPr txBox="1">
                <a:spLocks noChangeArrowheads="1"/>
              </p:cNvSpPr>
              <p:nvPr/>
            </p:nvSpPr>
            <p:spPr bwMode="auto">
              <a:xfrm>
                <a:off x="4400" y="1113"/>
                <a:ext cx="658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100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</p:grpSp>
      </p:grpSp>
      <p:sp>
        <p:nvSpPr>
          <p:cNvPr id="128038" name="AutoShape 38"/>
          <p:cNvSpPr/>
          <p:nvPr/>
        </p:nvSpPr>
        <p:spPr bwMode="auto">
          <a:xfrm>
            <a:off x="1384618" y="5839107"/>
            <a:ext cx="3714750" cy="209550"/>
          </a:xfrm>
          <a:custGeom>
            <a:avLst/>
            <a:gdLst>
              <a:gd name="T0" fmla="*/ 0 w 2340"/>
              <a:gd name="T1" fmla="*/ 190500 h 132"/>
              <a:gd name="T2" fmla="*/ 285750 w 2340"/>
              <a:gd name="T3" fmla="*/ 57150 h 132"/>
              <a:gd name="T4" fmla="*/ 990600 w 2340"/>
              <a:gd name="T5" fmla="*/ 19050 h 132"/>
              <a:gd name="T6" fmla="*/ 3695700 w 2340"/>
              <a:gd name="T7" fmla="*/ 0 h 132"/>
              <a:gd name="T8" fmla="*/ 3714750 w 2340"/>
              <a:gd name="T9" fmla="*/ 209550 h 132"/>
              <a:gd name="T10" fmla="*/ 0 w 2340"/>
              <a:gd name="T11" fmla="*/ 190500 h 1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340" h="132">
                <a:moveTo>
                  <a:pt x="0" y="120"/>
                </a:moveTo>
                <a:lnTo>
                  <a:pt x="180" y="36"/>
                </a:lnTo>
                <a:lnTo>
                  <a:pt x="624" y="12"/>
                </a:lnTo>
                <a:lnTo>
                  <a:pt x="2328" y="0"/>
                </a:lnTo>
                <a:lnTo>
                  <a:pt x="2340" y="132"/>
                </a:lnTo>
                <a:lnTo>
                  <a:pt x="0" y="12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8100">
                <a:solidFill>
                  <a:srgbClr val="99CC00"/>
                </a:solidFill>
                <a:round/>
                <a:headEnd type="none" w="sm" len="sm"/>
                <a:tailEnd type="none" w="med" len="lg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039" name="AutoShape 39"/>
          <p:cNvSpPr>
            <a:spLocks noChangeArrowheads="1"/>
          </p:cNvSpPr>
          <p:nvPr/>
        </p:nvSpPr>
        <p:spPr bwMode="auto">
          <a:xfrm>
            <a:off x="6228184" y="3474765"/>
            <a:ext cx="2738931" cy="1466644"/>
          </a:xfrm>
          <a:prstGeom prst="wedgeRoundRectCallout">
            <a:avLst>
              <a:gd name="adj1" fmla="val -94789"/>
              <a:gd name="adj2" fmla="val 113747"/>
              <a:gd name="adj3" fmla="val 16667"/>
            </a:avLst>
          </a:prstGeom>
          <a:solidFill>
            <a:srgbClr val="DDFFF6"/>
          </a:solidFill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此区域中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= 0, 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CEO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穿透漏电流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），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死区电压，称为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截止区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50405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</a:t>
            </a:r>
            <a:r>
              <a:rPr lang="zh-CN" altLang="en-US" dirty="0"/>
              <a:t>三</a:t>
            </a:r>
            <a:r>
              <a:rPr lang="zh-CN" altLang="en-US" sz="2800" dirty="0"/>
              <a:t>极管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539552" y="1484784"/>
            <a:ext cx="832936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prstClr val="black"/>
                </a:solidFill>
              </a:rPr>
              <a:t>三极管的输出特性曲线</a:t>
            </a:r>
            <a:endParaRPr lang="en-US" altLang="zh-CN" sz="2800" i="0" dirty="0" smtClean="0">
              <a:solidFill>
                <a:prstClr val="black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endParaRPr lang="en-US" altLang="zh-CN" sz="2800" i="0" dirty="0" smtClean="0">
              <a:solidFill>
                <a:prstClr val="black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004048" y="1340768"/>
            <a:ext cx="4139952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死区电压 ：指的是即使加正向电压，也必须达到一定大小才开始导通，这个阈值叫死区电压。通常锗管的死区电压约为</a:t>
            </a:r>
            <a:r>
              <a:rPr lang="en-US" altLang="zh-CN" b="1" dirty="0" smtClean="0">
                <a:solidFill>
                  <a:srgbClr val="FF0000"/>
                </a:solidFill>
              </a:rPr>
              <a:t>0.2 V</a:t>
            </a:r>
            <a:r>
              <a:rPr lang="zh-CN" altLang="en-US" b="1" dirty="0" smtClean="0">
                <a:solidFill>
                  <a:srgbClr val="FF0000"/>
                </a:solidFill>
              </a:rPr>
              <a:t>，硅管的约为</a:t>
            </a:r>
            <a:r>
              <a:rPr lang="en-US" altLang="zh-CN" b="1" smtClean="0">
                <a:solidFill>
                  <a:srgbClr val="FF0000"/>
                </a:solidFill>
              </a:rPr>
              <a:t>0.5 </a:t>
            </a:r>
            <a:r>
              <a:rPr lang="en-US" altLang="zh-CN" b="1" dirty="0" smtClean="0">
                <a:solidFill>
                  <a:srgbClr val="FF0000"/>
                </a:solidFill>
              </a:rPr>
              <a:t>V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1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" fill="hold"/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8" grpId="0" animBg="1"/>
      <p:bldP spid="128039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539552" y="3068960"/>
            <a:ext cx="4991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u="sng" dirty="0" smtClean="0">
                <a:solidFill>
                  <a:srgbClr val="0000FF"/>
                </a:solidFill>
              </a:rPr>
              <a:t>输出特性三个区域的特点</a:t>
            </a:r>
            <a:r>
              <a:rPr lang="en-US" altLang="zh-CN" i="0" u="sng" dirty="0" smtClean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419100" y="3573016"/>
            <a:ext cx="8724900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Tx/>
              <a:buAutoNum type="arabicParenBoth"/>
            </a:pPr>
            <a:r>
              <a:rPr lang="zh-CN" altLang="en-US" i="0" dirty="0" smtClean="0">
                <a:solidFill>
                  <a:srgbClr val="800000"/>
                </a:solidFill>
              </a:rPr>
              <a:t>放大区：</a:t>
            </a:r>
            <a:r>
              <a:rPr lang="zh-CN" altLang="en-US" i="0" dirty="0" smtClean="0">
                <a:solidFill>
                  <a:srgbClr val="050507"/>
                </a:solidFill>
              </a:rPr>
              <a:t>发射结正偏，集电结反偏</a:t>
            </a:r>
            <a:r>
              <a:rPr lang="zh-CN" altLang="en-US" i="0" dirty="0" smtClean="0">
                <a:solidFill>
                  <a:prstClr val="black"/>
                </a:solidFill>
              </a:rPr>
              <a:t>。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r>
              <a:rPr lang="zh-CN" altLang="en-US" i="0" dirty="0" smtClean="0">
                <a:solidFill>
                  <a:srgbClr val="050507"/>
                </a:solidFill>
              </a:rPr>
              <a:t>即：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en-US" altLang="zh-CN" i="0" dirty="0" smtClean="0">
                <a:solidFill>
                  <a:srgbClr val="050507"/>
                </a:solidFill>
              </a:rPr>
              <a:t>=</a:t>
            </a:r>
            <a:r>
              <a:rPr lang="en-US" altLang="zh-CN" dirty="0" smtClean="0">
                <a:solidFill>
                  <a:srgbClr val="050507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 , </a:t>
            </a:r>
            <a:r>
              <a:rPr lang="zh-CN" altLang="en-US" i="0" dirty="0" smtClean="0">
                <a:solidFill>
                  <a:srgbClr val="050507"/>
                </a:solidFill>
              </a:rPr>
              <a:t>且</a:t>
            </a:r>
            <a:r>
              <a:rPr lang="zh-CN" altLang="en-US" i="0" dirty="0" smtClean="0">
                <a:solidFill>
                  <a:srgbClr val="FF3300"/>
                </a:solidFill>
              </a:rPr>
              <a:t> </a:t>
            </a:r>
            <a:r>
              <a:rPr lang="zh-CN" altLang="en-US" i="0" dirty="0" smtClean="0">
                <a:solidFill>
                  <a:srgbClr val="FF3300"/>
                </a:solidFill>
                <a:sym typeface="Math A" pitchFamily="18" charset="2"/>
              </a:rPr>
              <a:t></a:t>
            </a:r>
            <a:r>
              <a:rPr lang="en-US" altLang="zh-CN" dirty="0" smtClean="0">
                <a:solidFill>
                  <a:srgbClr val="FF33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3300"/>
                </a:solidFill>
              </a:rPr>
              <a:t>C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</a:t>
            </a:r>
            <a:r>
              <a:rPr lang="en-US" altLang="zh-CN" i="0" dirty="0" smtClean="0">
                <a:solidFill>
                  <a:srgbClr val="FF3300"/>
                </a:solidFill>
              </a:rPr>
              <a:t>=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 </a:t>
            </a:r>
            <a:r>
              <a:rPr lang="en-US" altLang="zh-CN" dirty="0" smtClean="0">
                <a:solidFill>
                  <a:srgbClr val="FF3300"/>
                </a:solidFill>
                <a:sym typeface="Symbol" panose="05050102010706020507" pitchFamily="18" charset="2"/>
              </a:rPr>
              <a:t>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</a:t>
            </a:r>
            <a:r>
              <a:rPr lang="en-US" altLang="zh-CN" i="0" dirty="0" smtClean="0">
                <a:solidFill>
                  <a:srgbClr val="FF3300"/>
                </a:solidFill>
                <a:sym typeface="Math A" pitchFamily="18" charset="2"/>
              </a:rPr>
              <a:t></a:t>
            </a:r>
            <a:r>
              <a:rPr lang="en-US" altLang="zh-CN" dirty="0" smtClean="0">
                <a:solidFill>
                  <a:srgbClr val="FF33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3300"/>
                </a:solidFill>
              </a:rPr>
              <a:t>B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467544" y="4581128"/>
            <a:ext cx="8253164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4175" indent="-384175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800000"/>
                </a:solidFill>
              </a:rPr>
              <a:t>(2) </a:t>
            </a:r>
            <a:r>
              <a:rPr lang="zh-CN" altLang="en-US" i="0" dirty="0" smtClean="0">
                <a:solidFill>
                  <a:srgbClr val="800000"/>
                </a:solidFill>
              </a:rPr>
              <a:t>饱和区：</a:t>
            </a:r>
            <a:r>
              <a:rPr lang="zh-CN" altLang="en-US" i="0" dirty="0" smtClean="0">
                <a:solidFill>
                  <a:srgbClr val="050507"/>
                </a:solidFill>
              </a:rPr>
              <a:t>发射结正偏，集电结正偏。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r>
              <a:rPr lang="zh-CN" altLang="en-US" i="0" dirty="0" smtClean="0">
                <a:solidFill>
                  <a:srgbClr val="050507"/>
                </a:solidFill>
              </a:rPr>
              <a:t>即：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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BE</a:t>
            </a:r>
            <a:r>
              <a:rPr lang="en-US" altLang="zh-CN" i="0" dirty="0" smtClean="0">
                <a:solidFill>
                  <a:srgbClr val="050507"/>
                </a:solidFill>
              </a:rPr>
              <a:t> </a:t>
            </a:r>
            <a:r>
              <a:rPr lang="zh-CN" altLang="en-US" i="0" dirty="0" smtClean="0">
                <a:solidFill>
                  <a:srgbClr val="050507"/>
                </a:solidFill>
              </a:rPr>
              <a:t>， </a:t>
            </a:r>
            <a:r>
              <a:rPr lang="zh-CN" altLang="en-US" dirty="0" smtClean="0">
                <a:solidFill>
                  <a:srgbClr val="050507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&gt;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zh-CN" altLang="en-US" i="0" dirty="0" smtClean="0">
                <a:solidFill>
                  <a:srgbClr val="050507"/>
                </a:solidFill>
              </a:rPr>
              <a:t>，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</a:t>
            </a:r>
            <a:r>
              <a:rPr lang="en-US" altLang="zh-CN" i="0" dirty="0" smtClean="0">
                <a:solidFill>
                  <a:srgbClr val="FF0000"/>
                </a:solidFill>
                <a:sym typeface="Symbol" panose="05050102010706020507" pitchFamily="18" charset="2"/>
              </a:rPr>
              <a:t>0.1~</a:t>
            </a:r>
            <a:r>
              <a:rPr lang="en-US" altLang="zh-CN" i="0" dirty="0" smtClean="0">
                <a:solidFill>
                  <a:srgbClr val="FF0000"/>
                </a:solidFill>
              </a:rPr>
              <a:t>0.3</a:t>
            </a:r>
            <a:r>
              <a:rPr lang="en-US" altLang="zh-CN" i="0" dirty="0" smtClean="0">
                <a:solidFill>
                  <a:srgbClr val="050507"/>
                </a:solidFill>
              </a:rPr>
              <a:t>V</a:t>
            </a:r>
            <a:r>
              <a:rPr lang="en-US" altLang="zh-CN" i="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67544" y="6021288"/>
            <a:ext cx="8343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800000"/>
                </a:solidFill>
              </a:rPr>
              <a:t>(3) </a:t>
            </a:r>
            <a:r>
              <a:rPr lang="zh-CN" altLang="en-US" i="0" dirty="0" smtClean="0">
                <a:solidFill>
                  <a:srgbClr val="800000"/>
                </a:solidFill>
              </a:rPr>
              <a:t>截止区：</a:t>
            </a:r>
            <a:r>
              <a:rPr lang="zh-CN" altLang="en-US" i="0" dirty="0" smtClean="0">
                <a:solidFill>
                  <a:prstClr val="black"/>
                </a:solidFill>
              </a:rPr>
              <a:t>  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BE</a:t>
            </a:r>
            <a:r>
              <a:rPr lang="en-US" altLang="zh-CN" i="0" dirty="0" smtClean="0">
                <a:solidFill>
                  <a:srgbClr val="050507"/>
                </a:solidFill>
              </a:rPr>
              <a:t>&lt; </a:t>
            </a:r>
            <a:r>
              <a:rPr lang="zh-CN" altLang="en-US" i="0" dirty="0" smtClean="0">
                <a:solidFill>
                  <a:srgbClr val="050507"/>
                </a:solidFill>
              </a:rPr>
              <a:t>死区电压，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=0 </a:t>
            </a:r>
            <a:r>
              <a:rPr lang="zh-CN" altLang="en-US" i="0" dirty="0" smtClean="0">
                <a:solidFill>
                  <a:srgbClr val="050507"/>
                </a:solidFill>
              </a:rPr>
              <a:t>，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en-US" altLang="zh-CN" i="0" dirty="0" smtClean="0">
                <a:solidFill>
                  <a:srgbClr val="050507"/>
                </a:solidFill>
              </a:rPr>
              <a:t>=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CEO</a:t>
            </a:r>
            <a:r>
              <a:rPr lang="en-US" altLang="zh-CN" i="0" baseline="-25000" dirty="0" smtClean="0">
                <a:solidFill>
                  <a:srgbClr val="050507"/>
                </a:solidFill>
              </a:rPr>
              <a:t> 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</a:t>
            </a:r>
            <a:r>
              <a:rPr lang="en-US" altLang="zh-CN" i="0" dirty="0" smtClean="0">
                <a:solidFill>
                  <a:srgbClr val="050507"/>
                </a:solidFill>
              </a:rPr>
              <a:t>0 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5589240"/>
            <a:ext cx="7596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工作压降：  硅管</a:t>
            </a:r>
            <a:r>
              <a:rPr kumimoji="1" lang="en-US" altLang="zh-CN" sz="2400" b="1" i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400" b="1" i="1" baseline="-25000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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0.6~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0.7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V,</a:t>
            </a: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锗管</a:t>
            </a:r>
            <a:r>
              <a:rPr kumimoji="1" lang="en-US" altLang="zh-CN" sz="2400" b="1" i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400" b="1" i="1" baseline="-25000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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0.2~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0.3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15" name="Group 10"/>
          <p:cNvGrpSpPr/>
          <p:nvPr/>
        </p:nvGrpSpPr>
        <p:grpSpPr bwMode="auto">
          <a:xfrm>
            <a:off x="179512" y="188640"/>
            <a:ext cx="8640960" cy="2520279"/>
            <a:chOff x="299" y="1106"/>
            <a:chExt cx="4286" cy="1553"/>
          </a:xfrm>
          <a:solidFill>
            <a:schemeClr val="bg1"/>
          </a:solidFill>
        </p:grpSpPr>
        <p:grpSp>
          <p:nvGrpSpPr>
            <p:cNvPr id="16" name="Group 11"/>
            <p:cNvGrpSpPr/>
            <p:nvPr/>
          </p:nvGrpSpPr>
          <p:grpSpPr bwMode="auto">
            <a:xfrm>
              <a:off x="299" y="1106"/>
              <a:ext cx="3326" cy="1553"/>
              <a:chOff x="299" y="1106"/>
              <a:chExt cx="3326" cy="1553"/>
            </a:xfrm>
            <a:grpFill/>
          </p:grpSpPr>
          <p:pic>
            <p:nvPicPr>
              <p:cNvPr id="18" name="Picture 12" descr="2-2-2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24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" y="1106"/>
                <a:ext cx="3326" cy="1553"/>
              </a:xfrm>
              <a:prstGeom prst="rect">
                <a:avLst/>
              </a:prstGeom>
              <a:grpFill/>
            </p:spPr>
          </p:pic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2543" y="1634"/>
                <a:ext cx="227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3144" y="1250"/>
                <a:ext cx="22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auto">
              <a:xfrm>
                <a:off x="3224" y="1903"/>
                <a:ext cx="114" cy="197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4041" y="1177"/>
            <a:ext cx="544" cy="1393"/>
          </p:xfrm>
          <a:graphic>
            <a:graphicData uri="http://schemas.openxmlformats.org/presentationml/2006/ole">
              <p:oleObj spid="_x0000_s13732" name="Visio" r:id="rId4" imgW="801421" imgH="2050473" progId="">
                <p:embed/>
              </p:oleObj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pic>
        <p:nvPicPr>
          <p:cNvPr id="13733" name="Picture 42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4158" y="2564905"/>
            <a:ext cx="2769841" cy="2880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4"/>
          <p:cNvSpPr txBox="1">
            <a:spLocks noChangeArrowheads="1"/>
          </p:cNvSpPr>
          <p:nvPr/>
        </p:nvSpPr>
        <p:spPr bwMode="auto">
          <a:xfrm>
            <a:off x="2051720" y="1772816"/>
            <a:ext cx="4681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2800" b="0" i="0" dirty="0" smtClean="0">
                <a:solidFill>
                  <a:srgbClr val="FF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判断三极管工作状态的方法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graphicFrame>
        <p:nvGraphicFramePr>
          <p:cNvPr id="189544" name="Group 104"/>
          <p:cNvGraphicFramePr>
            <a:graphicFrameLocks noGrp="1"/>
          </p:cNvGraphicFramePr>
          <p:nvPr>
            <p:ph idx="4294967295"/>
          </p:nvPr>
        </p:nvGraphicFramePr>
        <p:xfrm>
          <a:off x="971600" y="2780928"/>
          <a:ext cx="7416800" cy="2376489"/>
        </p:xfrm>
        <a:graphic>
          <a:graphicData uri="http://schemas.openxmlformats.org/drawingml/2006/table">
            <a:tbl>
              <a:tblPr/>
              <a:tblGrid>
                <a:gridCol w="2736850"/>
                <a:gridCol w="2208213"/>
                <a:gridCol w="2471737"/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三极管工作状态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电位法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电流法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截止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发射结反偏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 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=  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饱和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两结均正偏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 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&lt; </a:t>
                      </a:r>
                      <a:r>
                        <a:rPr kumimoji="1" lang="el-GR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放大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发正集反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 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= </a:t>
                      </a:r>
                      <a:r>
                        <a:rPr kumimoji="1" lang="el-GR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4077072"/>
            <a:ext cx="5976664" cy="2576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67544" y="1484784"/>
            <a:ext cx="8280920" cy="325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>
                <a:solidFill>
                  <a:srgbClr val="000000"/>
                </a:solidFill>
              </a:rPr>
              <a:t>半导体</a:t>
            </a:r>
            <a:r>
              <a:rPr kumimoji="1" lang="zh-CN" altLang="en-US" sz="2800" b="1" dirty="0" smtClean="0">
                <a:solidFill>
                  <a:srgbClr val="000000"/>
                </a:solidFill>
              </a:rPr>
              <a:t>三极管的特性</a:t>
            </a:r>
            <a:endParaRPr kumimoji="1" lang="en-US" altLang="zh-CN" sz="2800" b="1" dirty="0" smtClean="0">
              <a:solidFill>
                <a:srgbClr val="000000"/>
              </a:solidFill>
            </a:endParaRPr>
          </a:p>
          <a:p>
            <a:pPr marL="800100" lvl="1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000000"/>
                </a:solidFill>
              </a:rPr>
              <a:t>开关特性</a:t>
            </a:r>
            <a:endParaRPr kumimoji="1" lang="en-US" altLang="zh-CN" sz="24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关：截止状态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开：饱和状态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800100" lvl="1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000000"/>
                </a:solidFill>
              </a:rPr>
              <a:t>放大特性</a:t>
            </a:r>
            <a:endParaRPr kumimoji="1" lang="en-US" altLang="zh-CN" sz="24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放大状态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en-US" altLang="zh-CN" sz="20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000" b="1" dirty="0" smtClean="0">
                <a:solidFill>
                  <a:srgbClr val="000000"/>
                </a:solidFill>
              </a:rPr>
              <a:t>   </a:t>
            </a:r>
            <a:endParaRPr kumimoji="1"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</a:t>
            </a:r>
            <a:r>
              <a:rPr lang="zh-CN" altLang="en-US" sz="3200" dirty="0" smtClean="0"/>
              <a:t>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5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6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1412776"/>
            <a:ext cx="2808312" cy="22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标注 7"/>
          <p:cNvSpPr/>
          <p:nvPr/>
        </p:nvSpPr>
        <p:spPr>
          <a:xfrm>
            <a:off x="5436096" y="3573016"/>
            <a:ext cx="2304256" cy="721240"/>
          </a:xfrm>
          <a:prstGeom prst="wedgeRectCallout">
            <a:avLst>
              <a:gd name="adj1" fmla="val -36678"/>
              <a:gd name="adj2" fmla="val 20917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由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得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-V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539552" y="1556792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三极管开关电路分析：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6375" name="Picture 7" descr="2-2-3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8762" r="52472" b="16295"/>
          <a:stretch/>
        </p:blipFill>
        <p:spPr bwMode="auto">
          <a:xfrm>
            <a:off x="179388" y="2204865"/>
            <a:ext cx="3311525" cy="32403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3311352" y="5831234"/>
            <a:ext cx="583264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双极型三极管的开关等效电路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(a)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截止状态     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(b)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饱和导通状态</a:t>
            </a:r>
          </a:p>
        </p:txBody>
      </p:sp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3851275" y="2492400"/>
          <a:ext cx="4548188" cy="2611437"/>
        </p:xfrm>
        <a:graphic>
          <a:graphicData uri="http://schemas.openxmlformats.org/presentationml/2006/ole">
            <p:oleObj spid="_x0000_s9643" name="Visio" r:id="rId4" imgW="4548803" imgH="2610796" progId="">
              <p:embed/>
            </p:oleObj>
          </a:graphicData>
        </a:graphic>
      </p:graphicFrame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5148263" y="5156225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7380288" y="5156225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  <a:endParaRPr lang="zh-CN" altLang="en-US" sz="3200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9" name="Picture 7" descr="2-2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79847"/>
            <a:ext cx="6967537" cy="49895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187398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、三极管开关电路动态分析：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7400" name="Text Box 8"/>
          <p:cNvSpPr txBox="1">
            <a:spLocks noChangeArrowheads="1"/>
          </p:cNvSpPr>
          <p:nvPr/>
        </p:nvSpPr>
        <p:spPr bwMode="auto">
          <a:xfrm>
            <a:off x="1547813" y="6381328"/>
            <a:ext cx="6697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双极型三极管的动态开关特性（结电容效应）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284984"/>
            <a:ext cx="6912768" cy="3167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---MOS</a:t>
            </a:r>
            <a:r>
              <a:rPr lang="zh-CN" altLang="en-US" sz="3200" dirty="0" smtClean="0"/>
              <a:t>管</a:t>
            </a:r>
            <a:endParaRPr lang="zh-CN" altLang="en-US" sz="3200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23528" y="1556792"/>
            <a:ext cx="7877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metal-oxide-semiconductor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）管的结构：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07704" y="2996952"/>
            <a:ext cx="2860753" cy="3321660"/>
            <a:chOff x="1106973" y="2806699"/>
            <a:chExt cx="2860753" cy="3321660"/>
          </a:xfrm>
        </p:grpSpPr>
        <p:sp>
          <p:nvSpPr>
            <p:cNvPr id="3" name="矩形 2"/>
            <p:cNvSpPr/>
            <p:nvPr/>
          </p:nvSpPr>
          <p:spPr>
            <a:xfrm>
              <a:off x="1322997" y="2815500"/>
              <a:ext cx="68608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源极 </a:t>
              </a:r>
              <a:r>
                <a:rPr lang="en-US" altLang="zh-CN" sz="20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3267213" y="2806699"/>
              <a:ext cx="70051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漏极</a:t>
              </a:r>
              <a:r>
                <a:rPr lang="en-US" altLang="zh-CN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31109" y="2806699"/>
              <a:ext cx="70211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栅极</a:t>
              </a:r>
              <a:r>
                <a:rPr lang="en-US" altLang="zh-CN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endPara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06973" y="5759027"/>
              <a:ext cx="13003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衬底引线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503040" y="2132856"/>
            <a:ext cx="8389440" cy="707886"/>
          </a:xfrm>
          <a:prstGeom prst="wedgeRectCallou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+mn-ea"/>
              </a:rPr>
              <a:t>与</a:t>
            </a:r>
            <a:r>
              <a:rPr lang="en-US" altLang="zh-CN" sz="2000" b="1" dirty="0" smtClean="0">
                <a:latin typeface="+mn-ea"/>
              </a:rPr>
              <a:t>TTL</a:t>
            </a:r>
            <a:r>
              <a:rPr lang="zh-CN" altLang="en-US" sz="2000" b="1" dirty="0" smtClean="0">
                <a:latin typeface="+mn-ea"/>
              </a:rPr>
              <a:t>相比较：微功耗；高低电压变化幅度大（</a:t>
            </a:r>
            <a:r>
              <a:rPr lang="en-US" altLang="zh-CN" sz="2000" b="1" dirty="0" smtClean="0">
                <a:latin typeface="+mn-ea"/>
              </a:rPr>
              <a:t>0</a:t>
            </a:r>
            <a:r>
              <a:rPr lang="en-US" altLang="zh-CN" sz="20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~</a:t>
            </a:r>
            <a:r>
              <a:rPr lang="en-US" altLang="zh-CN" sz="2000" b="1" dirty="0" smtClean="0">
                <a:latin typeface="+mn-ea"/>
              </a:rPr>
              <a:t>15V</a:t>
            </a:r>
            <a:r>
              <a:rPr lang="zh-CN" altLang="en-US" sz="2000" b="1" dirty="0" smtClean="0">
                <a:latin typeface="+mn-ea"/>
              </a:rPr>
              <a:t>），抗干扰能力强</a:t>
            </a:r>
            <a:endParaRPr lang="en-US" altLang="zh-CN" sz="2000" b="1" dirty="0" smtClean="0">
              <a:latin typeface="+mn-ea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+mn-ea"/>
              </a:rPr>
              <a:t>现在集成电路</a:t>
            </a:r>
            <a:r>
              <a:rPr lang="en-US" altLang="zh-CN" sz="2000" b="1" dirty="0" smtClean="0">
                <a:latin typeface="+mn-ea"/>
              </a:rPr>
              <a:t>95%</a:t>
            </a:r>
            <a:r>
              <a:rPr lang="zh-CN" altLang="en-US" sz="2000" b="1" dirty="0" smtClean="0">
                <a:latin typeface="+mn-ea"/>
              </a:rPr>
              <a:t>采用</a:t>
            </a:r>
            <a:r>
              <a:rPr lang="en-US" altLang="zh-CN" sz="2000" b="1" dirty="0" smtClean="0">
                <a:latin typeface="+mn-ea"/>
              </a:rPr>
              <a:t>CMOS</a:t>
            </a:r>
            <a:r>
              <a:rPr lang="zh-CN" altLang="en-US" sz="2000" b="1" dirty="0" smtClean="0">
                <a:latin typeface="+mn-ea"/>
              </a:rPr>
              <a:t>工艺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271168" y="6407215"/>
            <a:ext cx="365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管的结构和符号</a:t>
            </a: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2"/>
          <p:cNvSpPr txBox="1">
            <a:spLocks noChangeArrowheads="1"/>
          </p:cNvSpPr>
          <p:nvPr/>
        </p:nvSpPr>
        <p:spPr bwMode="auto">
          <a:xfrm>
            <a:off x="1981200" y="2743200"/>
            <a:ext cx="1981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endParaRPr kumimoji="1" lang="en-GB" altLang="zh-CN" sz="240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6" name="Text Box 8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1556792"/>
            <a:ext cx="8136904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360000" indent="-288000" algn="l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0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MOS</a:t>
            </a:r>
            <a:r>
              <a:rPr kumimoji="1" lang="zh-CN" altLang="en-US" sz="20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管与水龙头的原理相似：</a:t>
            </a:r>
            <a:r>
              <a:rPr lang="zh-CN" altLang="en-US" sz="2000" b="1" dirty="0">
                <a:solidFill>
                  <a:srgbClr val="FF0000"/>
                </a:solidFill>
              </a:rPr>
              <a:t>左边</a:t>
            </a:r>
            <a:r>
              <a:rPr lang="zh-CN" altLang="en-US" sz="2000" b="1" dirty="0"/>
              <a:t>是水流的源头我们给它起个名字，叫做</a:t>
            </a:r>
            <a:r>
              <a:rPr lang="zh-CN" altLang="en-US" sz="2000" b="1" dirty="0">
                <a:solidFill>
                  <a:srgbClr val="0000FF"/>
                </a:solidFill>
              </a:rPr>
              <a:t>源极</a:t>
            </a:r>
            <a:r>
              <a:rPr lang="zh-CN" altLang="en-US" sz="2000" b="1" dirty="0"/>
              <a:t>。</a:t>
            </a:r>
            <a:r>
              <a:rPr lang="zh-CN" altLang="en-US" sz="2000" b="1" dirty="0">
                <a:solidFill>
                  <a:srgbClr val="FF0000"/>
                </a:solidFill>
              </a:rPr>
              <a:t>右边</a:t>
            </a:r>
            <a:r>
              <a:rPr lang="zh-CN" altLang="en-US" sz="2000" b="1" dirty="0"/>
              <a:t>是水流出去的地方，也就是说水都从这个地方漏出去了，我们也给它起个名字叫做</a:t>
            </a:r>
            <a:r>
              <a:rPr lang="zh-CN" altLang="en-US" sz="2000" b="1" dirty="0">
                <a:solidFill>
                  <a:srgbClr val="0000FF"/>
                </a:solidFill>
              </a:rPr>
              <a:t>漏极</a:t>
            </a:r>
            <a:r>
              <a:rPr lang="zh-CN" altLang="en-US" sz="2000" b="1" dirty="0"/>
              <a:t>。上面的</a:t>
            </a:r>
            <a:r>
              <a:rPr lang="zh-CN" altLang="en-US" sz="2000" b="1" dirty="0">
                <a:solidFill>
                  <a:srgbClr val="FF0000"/>
                </a:solidFill>
              </a:rPr>
              <a:t>开关</a:t>
            </a:r>
            <a:r>
              <a:rPr lang="zh-CN" altLang="en-US" sz="2000" b="1" dirty="0"/>
              <a:t>控制着有没有水从源端流到漏端，像是一个栅栏一样，如果这个栅栏放下来，就阻断了水流，如果放上去，正好相反，那我们也给它起个名字，叫做</a:t>
            </a:r>
            <a:r>
              <a:rPr lang="zh-CN" altLang="en-US" sz="2000" b="1" dirty="0">
                <a:solidFill>
                  <a:srgbClr val="0000FF"/>
                </a:solidFill>
              </a:rPr>
              <a:t>栅极</a:t>
            </a:r>
            <a:r>
              <a:rPr lang="zh-CN" altLang="en-US" sz="2000" b="1" dirty="0"/>
              <a:t>。而且，开关上有螺纹，可以控制这个栅栏下去的深度，从而达到控制水流大小的目的。</a:t>
            </a:r>
            <a:endParaRPr kumimoji="1" lang="zh-CN" altLang="en-US" sz="20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573016"/>
            <a:ext cx="3169096" cy="267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---MOS</a:t>
            </a:r>
            <a:r>
              <a:rPr lang="zh-CN" altLang="en-US" sz="3200" dirty="0" smtClean="0"/>
              <a:t>管</a:t>
            </a:r>
            <a:endParaRPr lang="zh-CN" altLang="en-US" sz="3200" dirty="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 Box 7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5651411"/>
            <a:ext cx="388843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/>
              <a:t>MOS</a:t>
            </a:r>
            <a:r>
              <a:rPr lang="zh-CN" altLang="en-US" sz="2400" b="1" dirty="0"/>
              <a:t>管的</a:t>
            </a:r>
            <a:r>
              <a:rPr lang="en-US" altLang="zh-CN" sz="2400" b="1" dirty="0"/>
              <a:t>source</a:t>
            </a:r>
            <a:r>
              <a:rPr lang="zh-CN" altLang="en-US" sz="2400" b="1" dirty="0"/>
              <a:t>（源极）和</a:t>
            </a:r>
            <a:r>
              <a:rPr lang="en-US" altLang="zh-CN" sz="2400" b="1" dirty="0"/>
              <a:t>drain</a:t>
            </a:r>
            <a:r>
              <a:rPr lang="zh-CN" altLang="en-US" sz="2400" b="1" dirty="0"/>
              <a:t>（漏极）是可以对调的。</a:t>
            </a:r>
            <a:endParaRPr kumimoji="1"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Text Box 7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3779510"/>
            <a:ext cx="3339012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MOS</a:t>
            </a:r>
            <a:r>
              <a:rPr lang="zh-CN" altLang="en-US" sz="2400" b="1" dirty="0">
                <a:solidFill>
                  <a:srgbClr val="FF0000"/>
                </a:solidFill>
              </a:rPr>
              <a:t>管的引脚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2400" b="1" dirty="0">
                <a:solidFill>
                  <a:srgbClr val="FF0000"/>
                </a:solidFill>
              </a:rPr>
              <a:t>G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gate </a:t>
            </a:r>
            <a:r>
              <a:rPr lang="zh-CN" altLang="en-US" sz="2400" b="1" dirty="0">
                <a:solidFill>
                  <a:srgbClr val="0000FF"/>
                </a:solidFill>
              </a:rPr>
              <a:t>栅极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pPr algn="l"/>
            <a:r>
              <a:rPr lang="en-US" altLang="zh-CN" sz="2400" b="1" dirty="0" smtClean="0">
                <a:solidFill>
                  <a:srgbClr val="FF0000"/>
                </a:solidFill>
              </a:rPr>
              <a:t>S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source </a:t>
            </a:r>
            <a:r>
              <a:rPr lang="zh-CN" altLang="en-US" sz="2400" b="1" dirty="0">
                <a:solidFill>
                  <a:srgbClr val="0000FF"/>
                </a:solidFill>
              </a:rPr>
              <a:t>源极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pPr algn="l"/>
            <a:r>
              <a:rPr lang="en-US" altLang="zh-CN" sz="2400" b="1" dirty="0" smtClean="0">
                <a:solidFill>
                  <a:srgbClr val="FF0000"/>
                </a:solidFill>
              </a:rPr>
              <a:t>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drain </a:t>
            </a:r>
            <a:r>
              <a:rPr lang="zh-CN" altLang="en-US" sz="2400" b="1" dirty="0">
                <a:solidFill>
                  <a:srgbClr val="0000FF"/>
                </a:solidFill>
              </a:rPr>
              <a:t>漏极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pic>
        <p:nvPicPr>
          <p:cNvPr id="4864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3645024"/>
            <a:ext cx="154592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2"/>
          <p:cNvSpPr txBox="1">
            <a:spLocks noChangeArrowheads="1"/>
          </p:cNvSpPr>
          <p:nvPr/>
        </p:nvSpPr>
        <p:spPr bwMode="auto">
          <a:xfrm>
            <a:off x="1981200" y="2743200"/>
            <a:ext cx="1981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endParaRPr kumimoji="1" lang="en-GB" altLang="zh-CN" sz="240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1628800"/>
            <a:ext cx="3185740" cy="1909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4176464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140968"/>
            <a:ext cx="5041255" cy="334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Text Box 7">
            <a:hlinkClick r:id="rId5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5868144" y="3861048"/>
            <a:ext cx="25558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/>
              <a:t>MOS</a:t>
            </a:r>
            <a:r>
              <a:rPr lang="zh-CN" altLang="en-US" sz="2400" b="1" dirty="0"/>
              <a:t>管逻辑符号中的箭头表示通道和衬底之间</a:t>
            </a:r>
            <a:r>
              <a:rPr lang="en-US" altLang="zh-CN" sz="2400" b="1" dirty="0"/>
              <a:t>P-N</a:t>
            </a:r>
            <a:r>
              <a:rPr lang="zh-CN" altLang="en-US" sz="2400" b="1" dirty="0"/>
              <a:t>结的方向。</a:t>
            </a:r>
            <a:r>
              <a:rPr lang="en-US" altLang="zh-CN" sz="2400" b="1" dirty="0">
                <a:solidFill>
                  <a:srgbClr val="FF0000"/>
                </a:solidFill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</a:rPr>
              <a:t>沟道</a:t>
            </a:r>
            <a:r>
              <a:rPr lang="en-US" altLang="zh-CN" sz="2400" b="1" dirty="0">
                <a:solidFill>
                  <a:srgbClr val="FF0000"/>
                </a:solidFill>
              </a:rPr>
              <a:t>MOS</a:t>
            </a:r>
            <a:r>
              <a:rPr lang="zh-CN" altLang="en-US" sz="2400" b="1" dirty="0">
                <a:solidFill>
                  <a:srgbClr val="FF0000"/>
                </a:solidFill>
              </a:rPr>
              <a:t>管的方向由衬底向内指向通道</a:t>
            </a:r>
            <a:r>
              <a:rPr lang="zh-CN" altLang="en-US" sz="2400" b="1" dirty="0"/>
              <a:t>。</a:t>
            </a:r>
            <a:endParaRPr kumimoji="1"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0153" t="46668" r="28895" b="22634"/>
          <a:stretch>
            <a:fillRect/>
          </a:stretch>
        </p:blipFill>
        <p:spPr bwMode="auto">
          <a:xfrm>
            <a:off x="619002" y="2695826"/>
            <a:ext cx="7841430" cy="2656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1"/>
          <p:cNvSpPr/>
          <p:nvPr/>
        </p:nvSpPr>
        <p:spPr bwMode="auto">
          <a:xfrm>
            <a:off x="5148064" y="1700808"/>
            <a:ext cx="3600400" cy="720080"/>
          </a:xfrm>
          <a:prstGeom prst="borderCallout2">
            <a:avLst>
              <a:gd name="adj1" fmla="val 22644"/>
              <a:gd name="adj2" fmla="val -2648"/>
              <a:gd name="adj3" fmla="val 126142"/>
              <a:gd name="adj4" fmla="val 26313"/>
              <a:gd name="adj5" fmla="val 184812"/>
              <a:gd name="adj6" fmla="val 44516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开启电压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0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 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VGS(TH) :1~4V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，一般取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2V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7544" y="1628800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栅源电压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GS</a:t>
            </a:r>
            <a:r>
              <a:rPr lang="zh-CN" altLang="en-US" sz="2400" b="1" dirty="0" smtClean="0"/>
              <a:t>的控制作用</a:t>
            </a:r>
            <a:endParaRPr lang="zh-CN" altLang="en-US" sz="2400" b="1" dirty="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MOS</a:t>
            </a:r>
            <a:r>
              <a:rPr lang="zh-CN" altLang="en-US" sz="2800" dirty="0"/>
              <a:t>管工作</a:t>
            </a:r>
            <a:r>
              <a:rPr lang="zh-CN" altLang="en-US" sz="2800" dirty="0" smtClean="0"/>
              <a:t>原理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>
                <a:solidFill>
                  <a:srgbClr val="FF0000"/>
                </a:solidFill>
              </a:rPr>
              <a:t>绝缘栅场效应管</a:t>
            </a:r>
            <a:r>
              <a:rPr lang="zh-CN" altLang="en-US" sz="2400" dirty="0"/>
              <a:t>利用 </a:t>
            </a:r>
            <a:r>
              <a:rPr lang="en-US" altLang="zh-CN" sz="2400" dirty="0"/>
              <a:t>U</a:t>
            </a:r>
            <a:r>
              <a:rPr lang="en-US" altLang="zh-CN" sz="2400" baseline="-25000" dirty="0"/>
              <a:t>GS</a:t>
            </a:r>
            <a:r>
              <a:rPr lang="en-US" altLang="zh-CN" sz="2400" dirty="0"/>
              <a:t> </a:t>
            </a:r>
            <a:r>
              <a:rPr lang="zh-CN" altLang="en-US" sz="2400" dirty="0"/>
              <a:t>来控制“感应电荷”的多少，改变由这些“感应电荷”形成的导电沟道的状况，以控制漏极电流 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D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工作</a:t>
            </a:r>
            <a:r>
              <a:rPr lang="zh-CN" altLang="en-US" sz="2800" dirty="0"/>
              <a:t>原理</a:t>
            </a:r>
            <a:r>
              <a:rPr lang="zh-CN" altLang="en-US" sz="2800" dirty="0" smtClean="0"/>
              <a:t>分析</a:t>
            </a:r>
            <a:endParaRPr lang="en-US" altLang="zh-CN" sz="2800" dirty="0" smtClean="0"/>
          </a:p>
          <a:p>
            <a:endParaRPr lang="en-US" altLang="zh-CN" dirty="0" smtClean="0"/>
          </a:p>
          <a:p>
            <a:pPr marL="914400" lvl="1" indent="-457200">
              <a:buSzPct val="80000"/>
              <a:buFont typeface="+mj-ea"/>
              <a:buAutoNum type="circleNumDbPlain"/>
            </a:pPr>
            <a:r>
              <a:rPr lang="en-US" altLang="zh-CN" sz="2400" dirty="0" smtClean="0">
                <a:solidFill>
                  <a:srgbClr val="7030A0"/>
                </a:solidFill>
              </a:rPr>
              <a:t>U</a:t>
            </a:r>
            <a:r>
              <a:rPr lang="en-US" altLang="zh-CN" sz="2400" baseline="-25000" dirty="0" smtClean="0">
                <a:solidFill>
                  <a:srgbClr val="7030A0"/>
                </a:solidFill>
              </a:rPr>
              <a:t>GS</a:t>
            </a:r>
            <a:r>
              <a:rPr lang="en-US" altLang="zh-CN" sz="2400" dirty="0" smtClean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= </a:t>
            </a:r>
            <a:r>
              <a:rPr lang="en-US" altLang="zh-CN" sz="2400" dirty="0" smtClean="0">
                <a:solidFill>
                  <a:srgbClr val="7030A0"/>
                </a:solidFill>
              </a:rPr>
              <a:t>0</a:t>
            </a:r>
          </a:p>
          <a:p>
            <a:pPr marL="914400" lvl="1" indent="-457200">
              <a:buFont typeface="+mj-lt"/>
              <a:buAutoNum type="circleNumDbPlain"/>
            </a:pP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971600" y="4725144"/>
            <a:ext cx="41044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 smtClean="0"/>
              <a:t>    漏</a:t>
            </a:r>
            <a:r>
              <a:rPr lang="zh-CN" altLang="en-US" sz="2400" b="1" dirty="0"/>
              <a:t>源之间相当于两个背靠背的 </a:t>
            </a:r>
            <a:r>
              <a:rPr lang="en-US" altLang="zh-CN" sz="2400" b="1" dirty="0"/>
              <a:t>PN </a:t>
            </a:r>
            <a:r>
              <a:rPr lang="zh-CN" altLang="en-US" sz="2400" b="1" dirty="0"/>
              <a:t>结，无论漏源之间加何种极性电压，</a:t>
            </a:r>
            <a:r>
              <a:rPr lang="zh-CN" altLang="en-US" sz="2400" b="1" dirty="0">
                <a:solidFill>
                  <a:srgbClr val="000099"/>
                </a:solidFill>
              </a:rPr>
              <a:t>总是不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导电，</a:t>
            </a:r>
            <a:r>
              <a:rPr lang="zh-CN" altLang="en-US" sz="2400" b="1" dirty="0" smtClean="0"/>
              <a:t>即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MOS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管截止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27" name="TextBox 2"/>
          <p:cNvSpPr txBox="1"/>
          <p:nvPr/>
        </p:nvSpPr>
        <p:spPr>
          <a:xfrm>
            <a:off x="899592" y="3717032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00CC"/>
              </a:buClr>
              <a:buSzPct val="50000"/>
            </a:pPr>
            <a:r>
              <a:rPr lang="zh-CN" altLang="en-US" sz="2400" b="1" dirty="0" smtClean="0"/>
              <a:t>栅源电压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GS</a:t>
            </a:r>
            <a:r>
              <a:rPr lang="zh-CN" altLang="en-US" sz="2400" b="1" dirty="0" smtClean="0"/>
              <a:t>的控制作用</a:t>
            </a:r>
            <a:endParaRPr lang="zh-CN" altLang="en-US" sz="2400" b="1" dirty="0"/>
          </a:p>
        </p:txBody>
      </p:sp>
      <p:sp>
        <p:nvSpPr>
          <p:cNvPr id="28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41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3717032"/>
            <a:ext cx="33242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836712"/>
            <a:ext cx="7793037" cy="494928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86224"/>
            <a:ext cx="8161338" cy="4911128"/>
          </a:xfrm>
        </p:spPr>
        <p:txBody>
          <a:bodyPr/>
          <a:lstStyle/>
          <a:p>
            <a:pPr marL="914400" lvl="1" indent="-514350">
              <a:lnSpc>
                <a:spcPct val="100000"/>
              </a:lnSpc>
              <a:spcBef>
                <a:spcPct val="50000"/>
              </a:spcBef>
              <a:buClrTx/>
              <a:buSzTx/>
              <a:buFont typeface="+mj-ea"/>
              <a:buAutoNum type="circleNumDbPlain" startAt="2"/>
            </a:pP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r>
              <a:rPr kumimoji="0" lang="zh-CN" altLang="en-US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&lt;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&lt;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GS(</a:t>
            </a:r>
            <a:r>
              <a:rPr kumimoji="0" lang="en-US" altLang="zh-CN" kern="1200" baseline="-25000" dirty="0" err="1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lvl="1"/>
            <a:r>
              <a:rPr lang="zh-CN" altLang="en-US" dirty="0"/>
              <a:t>栅极金属层将</a:t>
            </a:r>
            <a:r>
              <a:rPr lang="zh-CN" altLang="en-US" dirty="0">
                <a:solidFill>
                  <a:srgbClr val="FF0000"/>
                </a:solidFill>
              </a:rPr>
              <a:t>聚集正电荷</a:t>
            </a:r>
            <a:r>
              <a:rPr lang="zh-CN" altLang="en-US" dirty="0"/>
              <a:t>，它们排斥</a:t>
            </a:r>
            <a:r>
              <a:rPr lang="en-US" altLang="zh-CN" dirty="0"/>
              <a:t>P</a:t>
            </a:r>
            <a:r>
              <a:rPr lang="zh-CN" altLang="en-US" dirty="0"/>
              <a:t>型衬底靠近 </a:t>
            </a:r>
            <a:r>
              <a:rPr lang="en-US" altLang="zh-CN" dirty="0"/>
              <a:t>SiO</a:t>
            </a:r>
            <a:r>
              <a:rPr lang="en-US" altLang="zh-CN" sz="11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一侧的空穴，</a:t>
            </a:r>
            <a:r>
              <a:rPr lang="zh-CN" altLang="en-US" dirty="0">
                <a:solidFill>
                  <a:srgbClr val="0000CC"/>
                </a:solidFill>
              </a:rPr>
              <a:t>形成由负离子组成的耗尽层</a:t>
            </a:r>
            <a:r>
              <a:rPr lang="zh-CN" altLang="en-US" dirty="0"/>
              <a:t>。增大 </a:t>
            </a:r>
            <a:r>
              <a:rPr lang="en-US" altLang="zh-CN" dirty="0"/>
              <a:t>U</a:t>
            </a:r>
            <a:r>
              <a:rPr lang="en-US" altLang="zh-CN" sz="1100" dirty="0"/>
              <a:t>GS</a:t>
            </a:r>
            <a:r>
              <a:rPr lang="en-US" altLang="zh-CN" dirty="0"/>
              <a:t> </a:t>
            </a:r>
            <a:r>
              <a:rPr lang="zh-CN" altLang="en-US" dirty="0"/>
              <a:t>耗尽层变宽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914400" lvl="1" indent="-514350" algn="just">
              <a:lnSpc>
                <a:spcPct val="100000"/>
              </a:lnSpc>
              <a:spcBef>
                <a:spcPct val="50000"/>
              </a:spcBef>
              <a:buClrTx/>
              <a:buSzTx/>
              <a:buFont typeface="+mj-ea"/>
              <a:buAutoNum type="circleNumDbPlain" startAt="3"/>
            </a:pP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r>
              <a:rPr kumimoji="0" lang="zh-CN" altLang="en-US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≥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GS(</a:t>
            </a:r>
            <a:r>
              <a:rPr kumimoji="0" lang="en-US" altLang="zh-CN" kern="1200" baseline="-25000" dirty="0" err="1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Text Box 148"/>
          <p:cNvSpPr txBox="1">
            <a:spLocks noChangeArrowheads="1"/>
          </p:cNvSpPr>
          <p:nvPr/>
        </p:nvSpPr>
        <p:spPr bwMode="auto">
          <a:xfrm>
            <a:off x="971600" y="4005064"/>
            <a:ext cx="465793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由于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吸引了足够多</a:t>
            </a:r>
            <a:r>
              <a:rPr lang="en-US" altLang="zh-CN" sz="2200" i="0" dirty="0">
                <a:solidFill>
                  <a:srgbClr val="0000CC"/>
                </a:solidFill>
                <a:latin typeface="+mn-ea"/>
                <a:ea typeface="+mn-ea"/>
              </a:rPr>
              <a:t>P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型衬底的电子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，</a:t>
            </a:r>
            <a:endParaRPr lang="en-US" altLang="zh-CN" sz="2200" i="0" dirty="0" smtClean="0">
              <a:solidFill>
                <a:srgbClr val="020202"/>
              </a:solidFill>
              <a:latin typeface="+mn-ea"/>
              <a:ea typeface="+mn-ea"/>
            </a:endParaRP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会</a:t>
            </a: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在耗尽层和 </a:t>
            </a:r>
            <a:r>
              <a:rPr lang="en-US" altLang="zh-CN" sz="2200" i="0" dirty="0">
                <a:solidFill>
                  <a:srgbClr val="020202"/>
                </a:solidFill>
                <a:latin typeface="+mn-ea"/>
                <a:ea typeface="+mn-ea"/>
              </a:rPr>
              <a:t>SiO</a:t>
            </a:r>
            <a:r>
              <a:rPr lang="en-US" altLang="zh-CN" sz="2200" i="0" baseline="-25000" dirty="0">
                <a:solidFill>
                  <a:srgbClr val="020202"/>
                </a:solidFill>
                <a:latin typeface="+mn-ea"/>
                <a:ea typeface="+mn-ea"/>
              </a:rPr>
              <a:t>2 </a:t>
            </a: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之间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形成可移动的表面电荷层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——</a:t>
            </a:r>
            <a:r>
              <a:rPr kumimoji="0" lang="zh-CN" altLang="en-US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反型层、</a:t>
            </a:r>
            <a:r>
              <a:rPr kumimoji="0" lang="en-US" altLang="zh-CN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kumimoji="0" lang="zh-CN" altLang="en-US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型导电沟道</a:t>
            </a:r>
            <a:r>
              <a:rPr kumimoji="0" lang="zh-CN" altLang="en-US" sz="2200" i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en-US" altLang="zh-CN" sz="2200" i="0" dirty="0">
              <a:solidFill>
                <a:srgbClr val="020202"/>
              </a:solidFill>
              <a:latin typeface="+mn-ea"/>
              <a:ea typeface="+mn-ea"/>
            </a:endParaRPr>
          </a:p>
        </p:txBody>
      </p:sp>
      <p:pic>
        <p:nvPicPr>
          <p:cNvPr id="7" name="Picture 2" descr="E:\wrj\课件\数字电路与系统\数字电路与数字系统\tupian\mos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861"/>
          <a:stretch>
            <a:fillRect/>
          </a:stretch>
        </p:blipFill>
        <p:spPr bwMode="auto">
          <a:xfrm>
            <a:off x="5462415" y="-55143"/>
            <a:ext cx="3106335" cy="226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971600" y="5287944"/>
            <a:ext cx="7704856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FF3300"/>
                </a:solidFill>
                <a:latin typeface="+mn-ea"/>
              </a:rPr>
              <a:t>　　　　　　　　　　　　　</a:t>
            </a:r>
            <a:endParaRPr lang="en-US" altLang="zh-CN" sz="2200" b="1" dirty="0">
              <a:solidFill>
                <a:srgbClr val="FF3300"/>
              </a:solidFill>
              <a:latin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GS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升高，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N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沟道变宽。因为 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DS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= 0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，所以 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I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D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= 0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。</a:t>
            </a:r>
            <a:endParaRPr lang="en-US" altLang="zh-CN" sz="2200" b="1" dirty="0">
              <a:solidFill>
                <a:srgbClr val="020202"/>
              </a:solidFill>
              <a:latin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000CC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GS(</a:t>
            </a:r>
            <a:r>
              <a:rPr lang="en-US" altLang="zh-CN" sz="2200" b="1" baseline="-25000" dirty="0" err="1">
                <a:solidFill>
                  <a:srgbClr val="0000CC"/>
                </a:solidFill>
                <a:latin typeface="+mn-ea"/>
              </a:rPr>
              <a:t>th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)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或</a:t>
            </a:r>
            <a:r>
              <a:rPr lang="en-US" altLang="zh-CN" sz="2200" b="1" dirty="0">
                <a:solidFill>
                  <a:srgbClr val="000099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99"/>
                </a:solidFill>
                <a:latin typeface="+mn-ea"/>
              </a:rPr>
              <a:t>T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为</a:t>
            </a:r>
            <a:r>
              <a:rPr lang="zh-CN" altLang="en-US" sz="2200" b="1" dirty="0">
                <a:solidFill>
                  <a:srgbClr val="0000CC"/>
                </a:solidFill>
                <a:latin typeface="+mn-ea"/>
              </a:rPr>
              <a:t>开始形成反型层所需的 </a:t>
            </a:r>
            <a:r>
              <a:rPr lang="en-US" altLang="zh-CN" sz="2200" b="1" dirty="0">
                <a:solidFill>
                  <a:srgbClr val="0000CC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GS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，</a:t>
            </a:r>
            <a:r>
              <a:rPr lang="zh-CN" altLang="en-US" sz="2200" b="1" dirty="0">
                <a:solidFill>
                  <a:prstClr val="black"/>
                </a:solidFill>
                <a:latin typeface="+mn-ea"/>
              </a:rPr>
              <a:t>称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开启电压</a:t>
            </a:r>
            <a:r>
              <a:rPr lang="zh-CN" altLang="en-US" sz="2200" b="1" dirty="0">
                <a:solidFill>
                  <a:prstClr val="black"/>
                </a:solidFill>
                <a:latin typeface="+mn-ea"/>
              </a:rPr>
              <a:t>。</a:t>
            </a:r>
            <a:endParaRPr lang="zh-CN" altLang="en-US" sz="2200" b="1" dirty="0">
              <a:solidFill>
                <a:srgbClr val="020202"/>
              </a:solidFill>
              <a:latin typeface="+mn-ea"/>
            </a:endParaRPr>
          </a:p>
        </p:txBody>
      </p:sp>
      <p:pic>
        <p:nvPicPr>
          <p:cNvPr id="16386" name="Picture 2" descr="E:\wrj\课件\数字电路与系统\数字电路与数字系统\tupian\mos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530" y="2996952"/>
            <a:ext cx="3334958" cy="244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9" name="AutoShape 11"/>
          <p:cNvSpPr/>
          <p:nvPr/>
        </p:nvSpPr>
        <p:spPr bwMode="auto">
          <a:xfrm>
            <a:off x="2561880" y="-42289"/>
            <a:ext cx="2876550" cy="832409"/>
          </a:xfrm>
          <a:prstGeom prst="borderCallout2">
            <a:avLst>
              <a:gd name="adj1" fmla="val 102743"/>
              <a:gd name="adj2" fmla="val 19869"/>
              <a:gd name="adj3" fmla="val 199375"/>
              <a:gd name="adj4" fmla="val 57108"/>
              <a:gd name="adj5" fmla="val 228759"/>
              <a:gd name="adj6" fmla="val 63680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开启电压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GS(TH)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:1~4V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4067944" y="2996952"/>
            <a:ext cx="1296144" cy="560095"/>
          </a:xfrm>
          <a:prstGeom prst="wedgeRectCallout">
            <a:avLst>
              <a:gd name="adj1" fmla="val -72721"/>
              <a:gd name="adj2" fmla="val 5932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开启电压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+mn-ea"/>
              </a:rPr>
              <a:t>T</a:t>
            </a:r>
          </a:p>
          <a:p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一般取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467544" y="1556792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9900CC"/>
                </a:solidFill>
                <a:latin typeface="+mn-ea"/>
                <a:ea typeface="+mn-ea"/>
              </a:rPr>
              <a:t>(4) </a:t>
            </a:r>
            <a:r>
              <a:rPr lang="en-US" altLang="zh-CN" sz="2200" dirty="0" smtClean="0">
                <a:solidFill>
                  <a:srgbClr val="9900CC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9900CC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9900CC"/>
                </a:solidFill>
                <a:latin typeface="+mn-ea"/>
                <a:ea typeface="+mn-ea"/>
              </a:rPr>
              <a:t>对导电沟道的影响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(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T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683568" y="2852936"/>
            <a:ext cx="468052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导电沟道呈现一个</a:t>
            </a:r>
            <a:r>
              <a:rPr lang="zh-CN" altLang="en-US" sz="2200" i="0" dirty="0" smtClean="0">
                <a:solidFill>
                  <a:srgbClr val="FF0000"/>
                </a:solidFill>
                <a:latin typeface="+mn-ea"/>
                <a:ea typeface="+mn-ea"/>
              </a:rPr>
              <a:t>楔形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。漏极</a:t>
            </a:r>
            <a:r>
              <a:rPr lang="zh-CN" altLang="en-US" sz="2200" i="0" dirty="0" smtClean="0">
                <a:solidFill>
                  <a:srgbClr val="0000CC"/>
                </a:solidFill>
                <a:latin typeface="+mn-ea"/>
                <a:ea typeface="+mn-ea"/>
              </a:rPr>
              <a:t>形成电流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 </a:t>
            </a: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683568" y="3645024"/>
            <a:ext cx="4752528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此时，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管子导通</a:t>
            </a:r>
            <a:r>
              <a:rPr lang="zh-CN" altLang="en-US" sz="2000" i="0" dirty="0" smtClean="0"/>
              <a:t>，但沟道尚未预夹断，即满足的条件为 ：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电流</a:t>
            </a:r>
            <a:r>
              <a:rPr lang="en-US" altLang="zh-CN" sz="2000" dirty="0" smtClean="0">
                <a:solidFill>
                  <a:srgbClr val="FF0000"/>
                </a:solidFill>
              </a:rPr>
              <a:t>i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D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仅受电压</a:t>
            </a:r>
            <a:r>
              <a:rPr lang="en-US" altLang="zh-CN" sz="2000" dirty="0" smtClean="0">
                <a:solidFill>
                  <a:srgbClr val="FF0000"/>
                </a:solidFill>
              </a:rPr>
              <a:t>U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GS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的控制</a:t>
            </a:r>
            <a:r>
              <a:rPr lang="zh-CN" altLang="en-US" sz="2000" i="0" dirty="0" smtClean="0"/>
              <a:t>，而且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随</a:t>
            </a:r>
            <a:r>
              <a:rPr lang="en-US" altLang="zh-CN" sz="2000" dirty="0" smtClean="0">
                <a:solidFill>
                  <a:srgbClr val="FF0000"/>
                </a:solidFill>
              </a:rPr>
              <a:t>U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增大而线性增大</a:t>
            </a:r>
            <a:r>
              <a:rPr lang="zh-CN" altLang="en-US" sz="2000" i="0" dirty="0" smtClean="0"/>
              <a:t>。可模拟为受</a:t>
            </a:r>
            <a:r>
              <a:rPr lang="en-US" altLang="zh-CN" sz="2000" dirty="0" smtClean="0"/>
              <a:t>U</a:t>
            </a:r>
            <a:r>
              <a:rPr lang="en-US" altLang="zh-CN" sz="2000" i="0" baseline="-25000" dirty="0" smtClean="0"/>
              <a:t>GS</a:t>
            </a:r>
            <a:r>
              <a:rPr lang="zh-CN" altLang="en-US" sz="2000" i="0" dirty="0" smtClean="0"/>
              <a:t>控制的压控电阻</a:t>
            </a:r>
            <a:r>
              <a:rPr lang="en-US" altLang="zh-CN" sz="2000" dirty="0" smtClean="0"/>
              <a:t>R</a:t>
            </a:r>
            <a:r>
              <a:rPr lang="en-US" altLang="zh-CN" sz="2000" i="0" baseline="-25000" dirty="0" smtClean="0"/>
              <a:t>DS</a:t>
            </a:r>
            <a:r>
              <a:rPr lang="zh-CN" altLang="en-US" sz="2000" i="0" dirty="0" smtClean="0"/>
              <a:t>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22216" name="Text Box 8"/>
          <p:cNvSpPr txBox="1">
            <a:spLocks noChangeArrowheads="1"/>
          </p:cNvSpPr>
          <p:nvPr/>
        </p:nvSpPr>
        <p:spPr bwMode="auto">
          <a:xfrm>
            <a:off x="539552" y="1988840"/>
            <a:ext cx="676875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 eaLnBrk="1" fontAlgn="base" hangingPunct="1"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. 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&lt;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  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endParaRPr lang="en-US" altLang="zh-CN" sz="2200" i="0" dirty="0" smtClean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algn="just" eaLnBrk="1" fontAlgn="base" hangingPunct="1"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   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即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&gt;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pic>
        <p:nvPicPr>
          <p:cNvPr id="17410" name="Picture 2" descr="E:\wrj\课件\数字电路与系统\数字电路与数字系统\tupian\mos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916832"/>
            <a:ext cx="2592288" cy="195820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20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88640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 descr="E:\wrj\课件\数字电路与系统\数字电路与数字系统\tupian\mos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149080"/>
            <a:ext cx="2630692" cy="20162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11560" y="5301208"/>
            <a:ext cx="482453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b.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83568" y="5805264"/>
            <a:ext cx="475252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靠近漏极沟道达到临界开启程度，出现</a:t>
            </a:r>
            <a:r>
              <a:rPr lang="zh-CN" altLang="en-US" sz="2200" i="0" dirty="0" smtClean="0">
                <a:solidFill>
                  <a:srgbClr val="FF0000"/>
                </a:solidFill>
                <a:latin typeface="+mn-ea"/>
                <a:ea typeface="+mn-ea"/>
              </a:rPr>
              <a:t>预夹断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443340" y="1666704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9900CC"/>
                </a:solidFill>
                <a:latin typeface="+mn-ea"/>
                <a:ea typeface="+mn-ea"/>
              </a:rPr>
              <a:t>(4) </a:t>
            </a:r>
            <a:r>
              <a:rPr lang="en-US" altLang="zh-CN" sz="2200" dirty="0" smtClean="0">
                <a:solidFill>
                  <a:srgbClr val="9900CC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9900CC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9900CC"/>
                </a:solidFill>
                <a:latin typeface="+mn-ea"/>
                <a:ea typeface="+mn-ea"/>
              </a:rPr>
              <a:t>对导电沟道的影响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(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T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611561" y="2132856"/>
            <a:ext cx="56886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c.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 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&lt;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sp>
        <p:nvSpPr>
          <p:cNvPr id="222215" name="Text Box 7"/>
          <p:cNvSpPr txBox="1">
            <a:spLocks noChangeArrowheads="1"/>
          </p:cNvSpPr>
          <p:nvPr/>
        </p:nvSpPr>
        <p:spPr bwMode="auto">
          <a:xfrm>
            <a:off x="683568" y="2708920"/>
            <a:ext cx="446449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由于夹断区的沟道电阻很大，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逐渐增大时，导电沟道两端电压基本不变，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  <a:ea typeface="+mn-ea"/>
              </a:rPr>
              <a:t>D</a:t>
            </a:r>
            <a:r>
              <a:rPr lang="zh-CN" altLang="en-US" sz="2200" i="0" dirty="0" smtClean="0">
                <a:solidFill>
                  <a:srgbClr val="FF0000"/>
                </a:solidFill>
                <a:latin typeface="+mn-ea"/>
                <a:ea typeface="+mn-ea"/>
              </a:rPr>
              <a:t>因而基本不变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  <a:endParaRPr lang="en-US" altLang="zh-CN" sz="2200" i="0" dirty="0" smtClean="0">
              <a:solidFill>
                <a:srgbClr val="020202"/>
              </a:solidFill>
              <a:latin typeface="+mn-ea"/>
              <a:ea typeface="+mn-ea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     </a:t>
            </a:r>
            <a:r>
              <a:rPr lang="zh-CN" altLang="en-US" sz="2200" i="0" dirty="0" smtClean="0"/>
              <a:t>因为</a:t>
            </a:r>
            <a:r>
              <a:rPr lang="en-US" altLang="zh-CN" sz="2200" dirty="0" smtClean="0">
                <a:solidFill>
                  <a:srgbClr val="FF0000"/>
                </a:solidFill>
              </a:rPr>
              <a:t>U</a:t>
            </a:r>
            <a:r>
              <a:rPr lang="en-US" altLang="zh-CN" sz="2200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200" i="0" dirty="0" smtClean="0">
                <a:solidFill>
                  <a:srgbClr val="FF0000"/>
                </a:solidFill>
              </a:rPr>
              <a:t>再增加</a:t>
            </a:r>
            <a:r>
              <a:rPr lang="zh-CN" altLang="en-US" sz="2200" i="0" dirty="0" smtClean="0"/>
              <a:t>时，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近漏端上的预夹断点向</a:t>
            </a:r>
            <a:r>
              <a:rPr lang="en-US" altLang="zh-CN" sz="2200" i="0" dirty="0" smtClean="0">
                <a:solidFill>
                  <a:srgbClr val="0000CC"/>
                </a:solidFill>
              </a:rPr>
              <a:t>S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极延伸</a:t>
            </a:r>
            <a:r>
              <a:rPr lang="zh-CN" altLang="en-US" sz="2200" i="0" dirty="0" smtClean="0"/>
              <a:t>，使</a:t>
            </a:r>
            <a:r>
              <a:rPr lang="en-US" altLang="zh-CN" sz="2200" dirty="0" smtClean="0">
                <a:solidFill>
                  <a:srgbClr val="0000CC"/>
                </a:solidFill>
              </a:rPr>
              <a:t>U</a:t>
            </a:r>
            <a:r>
              <a:rPr lang="en-US" altLang="zh-CN" sz="2200" baseline="-25000" dirty="0" smtClean="0">
                <a:solidFill>
                  <a:srgbClr val="0000CC"/>
                </a:solidFill>
              </a:rPr>
              <a:t>DS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的增加部分降落在预夹断区</a:t>
            </a:r>
            <a:r>
              <a:rPr lang="zh-CN" altLang="en-US" sz="2200" i="0" dirty="0" smtClean="0"/>
              <a:t>，以维持</a:t>
            </a:r>
            <a:r>
              <a:rPr lang="en-US" altLang="zh-CN" sz="2200" dirty="0" smtClean="0"/>
              <a:t>i</a:t>
            </a:r>
            <a:r>
              <a:rPr lang="en-US" altLang="zh-CN" sz="2200" i="0" baseline="-25000" dirty="0" smtClean="0"/>
              <a:t>D</a:t>
            </a:r>
            <a:r>
              <a:rPr lang="zh-CN" altLang="en-US" sz="2200" i="0" dirty="0" smtClean="0"/>
              <a:t>的大小。</a:t>
            </a:r>
            <a:endParaRPr lang="zh-CN" altLang="en-US" sz="2200" i="0" dirty="0" smtClean="0">
              <a:solidFill>
                <a:srgbClr val="020202"/>
              </a:solidFill>
              <a:latin typeface="+mn-ea"/>
              <a:ea typeface="+mn-ea"/>
            </a:endParaRPr>
          </a:p>
        </p:txBody>
      </p:sp>
      <p:pic>
        <p:nvPicPr>
          <p:cNvPr id="17410" name="Picture 2" descr="E:\wrj\课件\数字电路与系统\数字电路与数字系统\tupian\mos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706" y="2562858"/>
            <a:ext cx="3530600" cy="2667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7411" name="Picture 3" descr="E:\wrj\课件\数字电路与系统\数字电路与数字系统\tupian\mos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765" y="2553449"/>
            <a:ext cx="3479800" cy="2667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E:\wrj\课件\数字电路与系统\数字电路与数字系统\tupian\mos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765" y="2553449"/>
            <a:ext cx="3606800" cy="2667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2081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116632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755576" y="5301208"/>
            <a:ext cx="4572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200" b="1" dirty="0" smtClean="0"/>
              <a:t>特征 ：</a:t>
            </a:r>
            <a:r>
              <a:rPr lang="en-US" altLang="zh-CN" sz="2200" b="1" i="1" dirty="0" smtClean="0"/>
              <a:t>i</a:t>
            </a:r>
            <a:r>
              <a:rPr lang="en-US" altLang="zh-CN" sz="2200" b="1" baseline="-25000" dirty="0" smtClean="0"/>
              <a:t>D</a:t>
            </a:r>
            <a:r>
              <a:rPr lang="zh-CN" altLang="en-US" sz="2200" b="1" dirty="0" smtClean="0"/>
              <a:t>主要受</a:t>
            </a:r>
            <a:r>
              <a:rPr lang="en-US" altLang="zh-CN" sz="2200" b="1" i="1" dirty="0" smtClean="0"/>
              <a:t>U</a:t>
            </a:r>
            <a:r>
              <a:rPr lang="en-US" altLang="zh-CN" sz="2200" b="1" baseline="-25000" dirty="0" smtClean="0"/>
              <a:t>GS</a:t>
            </a:r>
            <a:r>
              <a:rPr lang="zh-CN" altLang="en-US" sz="2200" b="1" dirty="0" smtClean="0"/>
              <a:t>控制，与</a:t>
            </a:r>
            <a:r>
              <a:rPr lang="en-US" altLang="zh-CN" sz="2200" b="1" i="1" dirty="0" smtClean="0"/>
              <a:t>U</a:t>
            </a:r>
            <a:r>
              <a:rPr lang="en-US" altLang="zh-CN" sz="2200" b="1" baseline="-25000" dirty="0" smtClean="0"/>
              <a:t>DS</a:t>
            </a:r>
            <a:r>
              <a:rPr lang="zh-CN" altLang="en-US" sz="2200" b="1" dirty="0" smtClean="0"/>
              <a:t>几乎无关，表现为较好的恒流特性。由于</a:t>
            </a:r>
            <a:r>
              <a:rPr lang="en-US" altLang="zh-CN" sz="2200" b="1" i="1" dirty="0" smtClean="0">
                <a:solidFill>
                  <a:srgbClr val="FF0000"/>
                </a:solidFill>
              </a:rPr>
              <a:t>i</a:t>
            </a:r>
            <a:r>
              <a:rPr lang="en-US" altLang="zh-CN" sz="2200" b="1" baseline="-25000" dirty="0" smtClean="0">
                <a:solidFill>
                  <a:srgbClr val="FF0000"/>
                </a:solidFill>
              </a:rPr>
              <a:t>D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不再随</a:t>
            </a:r>
            <a:r>
              <a:rPr lang="en-US" altLang="zh-CN" sz="2400" b="1" i="1" dirty="0" smtClean="0">
                <a:solidFill>
                  <a:srgbClr val="FF0000"/>
                </a:solidFill>
              </a:rPr>
              <a:t>U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增大而增大，因此也称作进入饱和状态。</a:t>
            </a:r>
            <a:endParaRPr lang="zh-CN" altLang="en-US" sz="22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漏源电压</a:t>
            </a:r>
            <a:r>
              <a:rPr lang="en-US" altLang="zh-CN" dirty="0" smtClean="0">
                <a:latin typeface="+mn-ea"/>
              </a:rPr>
              <a:t>U</a:t>
            </a:r>
            <a:r>
              <a:rPr lang="en-US" altLang="zh-CN" baseline="-25000" dirty="0" smtClean="0">
                <a:latin typeface="+mn-ea"/>
              </a:rPr>
              <a:t>DS</a:t>
            </a:r>
            <a:r>
              <a:rPr lang="zh-CN" altLang="en-US" dirty="0" smtClean="0">
                <a:latin typeface="+mn-ea"/>
              </a:rPr>
              <a:t>对漏极电流</a:t>
            </a:r>
            <a:r>
              <a:rPr lang="en-US" altLang="zh-CN" dirty="0">
                <a:latin typeface="+mn-ea"/>
              </a:rPr>
              <a:t>i</a:t>
            </a:r>
            <a:r>
              <a:rPr lang="en-US" altLang="zh-CN" baseline="-25000" dirty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的控制作用</a:t>
            </a:r>
            <a:endParaRPr lang="zh-CN" altLang="en-US" dirty="0"/>
          </a:p>
        </p:txBody>
      </p:sp>
      <p:pic>
        <p:nvPicPr>
          <p:cNvPr id="11267" name="Picture 3" descr="E:\wrj\课件\数字电路与系统\数字电路与数字系统\tupian\mos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01007"/>
            <a:ext cx="8103373" cy="25945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71"/>
          <p:cNvSpPr txBox="1">
            <a:spLocks noChangeArrowheads="1"/>
          </p:cNvSpPr>
          <p:nvPr/>
        </p:nvSpPr>
        <p:spPr bwMode="auto">
          <a:xfrm>
            <a:off x="899592" y="2204864"/>
            <a:ext cx="8001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在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DS 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&gt;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GS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 –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</a:rPr>
              <a:t>，即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GD 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&lt;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时，对应于不同的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就有一个确定的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。此时， 可以把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近似看成是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控制的电流源。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260648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下箭头 9"/>
          <p:cNvSpPr/>
          <p:nvPr/>
        </p:nvSpPr>
        <p:spPr>
          <a:xfrm>
            <a:off x="6948264" y="3014099"/>
            <a:ext cx="288032" cy="630925"/>
          </a:xfrm>
          <a:prstGeom prst="downArrow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1331640" y="1268760"/>
            <a:ext cx="529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管的输入特性和输出特性：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0471" name="Picture 7" descr="2-2-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05" y="1920701"/>
            <a:ext cx="8393290" cy="4104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2057400" y="5959301"/>
            <a:ext cx="53340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2.2.8  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管共源极接法和输出特性曲线</a:t>
            </a:r>
          </a:p>
          <a:p>
            <a:pPr algn="ctr"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）共源极接法  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）输出特性曲线</a:t>
            </a:r>
          </a:p>
        </p:txBody>
      </p:sp>
      <p:sp>
        <p:nvSpPr>
          <p:cNvPr id="190473" name="AutoShape 9"/>
          <p:cNvSpPr/>
          <p:nvPr/>
        </p:nvSpPr>
        <p:spPr bwMode="auto">
          <a:xfrm>
            <a:off x="6858000" y="1920701"/>
            <a:ext cx="1143000" cy="496887"/>
          </a:xfrm>
          <a:prstGeom prst="borderCallout2">
            <a:avLst>
              <a:gd name="adj1" fmla="val 23005"/>
              <a:gd name="adj2" fmla="val -6667"/>
              <a:gd name="adj3" fmla="val 23005"/>
              <a:gd name="adj4" fmla="val -30694"/>
              <a:gd name="adj5" fmla="val 325560"/>
              <a:gd name="adj6" fmla="val -55694"/>
            </a:avLst>
          </a:prstGeom>
          <a:noFill/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恒流区</a:t>
            </a:r>
          </a:p>
        </p:txBody>
      </p:sp>
      <p:sp>
        <p:nvSpPr>
          <p:cNvPr id="190474" name="AutoShape 10"/>
          <p:cNvSpPr/>
          <p:nvPr/>
        </p:nvSpPr>
        <p:spPr bwMode="auto">
          <a:xfrm flipH="1">
            <a:off x="3930942" y="5229200"/>
            <a:ext cx="1282700" cy="536575"/>
          </a:xfrm>
          <a:prstGeom prst="borderCallout2">
            <a:avLst>
              <a:gd name="adj1" fmla="val 21301"/>
              <a:gd name="adj2" fmla="val -5944"/>
              <a:gd name="adj3" fmla="val 21301"/>
              <a:gd name="adj4" fmla="val -47528"/>
              <a:gd name="adj5" fmla="val -61542"/>
              <a:gd name="adj6" fmla="val -90843"/>
            </a:avLst>
          </a:prstGeom>
          <a:solidFill>
            <a:srgbClr val="DDFFF6"/>
          </a:solidFill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FF3300"/>
                </a:solidFill>
                <a:latin typeface="Times New Roman" panose="02020603050405020304" pitchFamily="18" charset="0"/>
              </a:rPr>
              <a:t>截止区</a:t>
            </a:r>
          </a:p>
        </p:txBody>
      </p:sp>
      <p:sp>
        <p:nvSpPr>
          <p:cNvPr id="190475" name="AutoShape 11"/>
          <p:cNvSpPr/>
          <p:nvPr/>
        </p:nvSpPr>
        <p:spPr bwMode="auto">
          <a:xfrm flipH="1">
            <a:off x="2483768" y="1772816"/>
            <a:ext cx="2019300" cy="432049"/>
          </a:xfrm>
          <a:prstGeom prst="borderCallout2">
            <a:avLst>
              <a:gd name="adj1" fmla="val 22639"/>
              <a:gd name="adj2" fmla="val -3778"/>
              <a:gd name="adj3" fmla="val 22639"/>
              <a:gd name="adj4" fmla="val -29560"/>
              <a:gd name="adj5" fmla="val 343131"/>
              <a:gd name="adj6" fmla="val -64559"/>
            </a:avLst>
          </a:prstGeom>
          <a:solidFill>
            <a:srgbClr val="DDFFF6"/>
          </a:solidFill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51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5272396" y="4906336"/>
            <a:ext cx="2351236" cy="0"/>
          </a:xfrm>
          <a:prstGeom prst="line">
            <a:avLst/>
          </a:prstGeom>
          <a:noFill/>
          <a:ln w="38100" cap="flat" cmpd="sng" algn="ctr">
            <a:solidFill>
              <a:srgbClr val="FF0000">
                <a:alpha val="51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任意多边形 6"/>
          <p:cNvSpPr/>
          <p:nvPr/>
        </p:nvSpPr>
        <p:spPr>
          <a:xfrm>
            <a:off x="641445" y="2893325"/>
            <a:ext cx="5459104" cy="3548418"/>
          </a:xfrm>
          <a:custGeom>
            <a:avLst/>
            <a:gdLst>
              <a:gd name="connsiteX0" fmla="*/ 5431809 w 5459104"/>
              <a:gd name="connsiteY0" fmla="*/ 0 h 3548418"/>
              <a:gd name="connsiteX1" fmla="*/ 5199797 w 5459104"/>
              <a:gd name="connsiteY1" fmla="*/ 259308 h 3548418"/>
              <a:gd name="connsiteX2" fmla="*/ 4681182 w 5459104"/>
              <a:gd name="connsiteY2" fmla="*/ 1296538 h 3548418"/>
              <a:gd name="connsiteX3" fmla="*/ 4490113 w 5459104"/>
              <a:gd name="connsiteY3" fmla="*/ 1733266 h 3548418"/>
              <a:gd name="connsiteX4" fmla="*/ 4490113 w 5459104"/>
              <a:gd name="connsiteY4" fmla="*/ 1910687 h 3548418"/>
              <a:gd name="connsiteX5" fmla="*/ 4926842 w 5459104"/>
              <a:gd name="connsiteY5" fmla="*/ 1323833 h 3548418"/>
              <a:gd name="connsiteX6" fmla="*/ 5295331 w 5459104"/>
              <a:gd name="connsiteY6" fmla="*/ 477672 h 3548418"/>
              <a:gd name="connsiteX7" fmla="*/ 5459104 w 5459104"/>
              <a:gd name="connsiteY7" fmla="*/ 68239 h 3548418"/>
              <a:gd name="connsiteX8" fmla="*/ 5254388 w 5459104"/>
              <a:gd name="connsiteY8" fmla="*/ 259308 h 3548418"/>
              <a:gd name="connsiteX9" fmla="*/ 5199797 w 5459104"/>
              <a:gd name="connsiteY9" fmla="*/ 313899 h 3548418"/>
              <a:gd name="connsiteX10" fmla="*/ 5158854 w 5459104"/>
              <a:gd name="connsiteY10" fmla="*/ 354842 h 3548418"/>
              <a:gd name="connsiteX11" fmla="*/ 5090615 w 5459104"/>
              <a:gd name="connsiteY11" fmla="*/ 477672 h 3548418"/>
              <a:gd name="connsiteX12" fmla="*/ 5063319 w 5459104"/>
              <a:gd name="connsiteY12" fmla="*/ 518615 h 3548418"/>
              <a:gd name="connsiteX13" fmla="*/ 5036024 w 5459104"/>
              <a:gd name="connsiteY13" fmla="*/ 600502 h 3548418"/>
              <a:gd name="connsiteX14" fmla="*/ 4981433 w 5459104"/>
              <a:gd name="connsiteY14" fmla="*/ 682388 h 3548418"/>
              <a:gd name="connsiteX15" fmla="*/ 4954137 w 5459104"/>
              <a:gd name="connsiteY15" fmla="*/ 723332 h 3548418"/>
              <a:gd name="connsiteX16" fmla="*/ 4913194 w 5459104"/>
              <a:gd name="connsiteY16" fmla="*/ 805218 h 3548418"/>
              <a:gd name="connsiteX17" fmla="*/ 4885898 w 5459104"/>
              <a:gd name="connsiteY17" fmla="*/ 859809 h 3548418"/>
              <a:gd name="connsiteX18" fmla="*/ 4858603 w 5459104"/>
              <a:gd name="connsiteY18" fmla="*/ 900753 h 3548418"/>
              <a:gd name="connsiteX19" fmla="*/ 4844955 w 5459104"/>
              <a:gd name="connsiteY19" fmla="*/ 941696 h 3548418"/>
              <a:gd name="connsiteX20" fmla="*/ 4817659 w 5459104"/>
              <a:gd name="connsiteY20" fmla="*/ 996287 h 3548418"/>
              <a:gd name="connsiteX21" fmla="*/ 4804012 w 5459104"/>
              <a:gd name="connsiteY21" fmla="*/ 1037230 h 3548418"/>
              <a:gd name="connsiteX22" fmla="*/ 4749421 w 5459104"/>
              <a:gd name="connsiteY22" fmla="*/ 1119117 h 3548418"/>
              <a:gd name="connsiteX23" fmla="*/ 4708477 w 5459104"/>
              <a:gd name="connsiteY23" fmla="*/ 1214651 h 3548418"/>
              <a:gd name="connsiteX24" fmla="*/ 4667534 w 5459104"/>
              <a:gd name="connsiteY24" fmla="*/ 1310185 h 3548418"/>
              <a:gd name="connsiteX25" fmla="*/ 4653886 w 5459104"/>
              <a:gd name="connsiteY25" fmla="*/ 1351129 h 3548418"/>
              <a:gd name="connsiteX26" fmla="*/ 4626591 w 5459104"/>
              <a:gd name="connsiteY26" fmla="*/ 1392072 h 3548418"/>
              <a:gd name="connsiteX27" fmla="*/ 4612943 w 5459104"/>
              <a:gd name="connsiteY27" fmla="*/ 1446663 h 3548418"/>
              <a:gd name="connsiteX28" fmla="*/ 4585648 w 5459104"/>
              <a:gd name="connsiteY28" fmla="*/ 1487606 h 3548418"/>
              <a:gd name="connsiteX29" fmla="*/ 4531056 w 5459104"/>
              <a:gd name="connsiteY29" fmla="*/ 1583141 h 3548418"/>
              <a:gd name="connsiteX30" fmla="*/ 4476465 w 5459104"/>
              <a:gd name="connsiteY30" fmla="*/ 1719618 h 3548418"/>
              <a:gd name="connsiteX31" fmla="*/ 4421874 w 5459104"/>
              <a:gd name="connsiteY31" fmla="*/ 1801505 h 3548418"/>
              <a:gd name="connsiteX32" fmla="*/ 4394579 w 5459104"/>
              <a:gd name="connsiteY32" fmla="*/ 1842448 h 3548418"/>
              <a:gd name="connsiteX33" fmla="*/ 4449170 w 5459104"/>
              <a:gd name="connsiteY33" fmla="*/ 1801505 h 3548418"/>
              <a:gd name="connsiteX34" fmla="*/ 4531056 w 5459104"/>
              <a:gd name="connsiteY34" fmla="*/ 1746914 h 3548418"/>
              <a:gd name="connsiteX35" fmla="*/ 4585648 w 5459104"/>
              <a:gd name="connsiteY35" fmla="*/ 1651379 h 3548418"/>
              <a:gd name="connsiteX36" fmla="*/ 4640239 w 5459104"/>
              <a:gd name="connsiteY36" fmla="*/ 1624084 h 3548418"/>
              <a:gd name="connsiteX37" fmla="*/ 4653886 w 5459104"/>
              <a:gd name="connsiteY37" fmla="*/ 1569493 h 3548418"/>
              <a:gd name="connsiteX38" fmla="*/ 4694830 w 5459104"/>
              <a:gd name="connsiteY38" fmla="*/ 1542197 h 3548418"/>
              <a:gd name="connsiteX39" fmla="*/ 4722125 w 5459104"/>
              <a:gd name="connsiteY39" fmla="*/ 1501254 h 3548418"/>
              <a:gd name="connsiteX40" fmla="*/ 4776716 w 5459104"/>
              <a:gd name="connsiteY40" fmla="*/ 1446663 h 3548418"/>
              <a:gd name="connsiteX41" fmla="*/ 4899546 w 5459104"/>
              <a:gd name="connsiteY41" fmla="*/ 1296538 h 3548418"/>
              <a:gd name="connsiteX42" fmla="*/ 4967785 w 5459104"/>
              <a:gd name="connsiteY42" fmla="*/ 1228299 h 3548418"/>
              <a:gd name="connsiteX43" fmla="*/ 5008728 w 5459104"/>
              <a:gd name="connsiteY43" fmla="*/ 1173708 h 3548418"/>
              <a:gd name="connsiteX44" fmla="*/ 5049671 w 5459104"/>
              <a:gd name="connsiteY44" fmla="*/ 1132765 h 3548418"/>
              <a:gd name="connsiteX45" fmla="*/ 5076967 w 5459104"/>
              <a:gd name="connsiteY45" fmla="*/ 1091821 h 3548418"/>
              <a:gd name="connsiteX46" fmla="*/ 5117910 w 5459104"/>
              <a:gd name="connsiteY46" fmla="*/ 1037230 h 3548418"/>
              <a:gd name="connsiteX47" fmla="*/ 5172501 w 5459104"/>
              <a:gd name="connsiteY47" fmla="*/ 941696 h 3548418"/>
              <a:gd name="connsiteX48" fmla="*/ 5199797 w 5459104"/>
              <a:gd name="connsiteY48" fmla="*/ 900753 h 3548418"/>
              <a:gd name="connsiteX49" fmla="*/ 5227092 w 5459104"/>
              <a:gd name="connsiteY49" fmla="*/ 818866 h 3548418"/>
              <a:gd name="connsiteX50" fmla="*/ 5240740 w 5459104"/>
              <a:gd name="connsiteY50" fmla="*/ 777923 h 3548418"/>
              <a:gd name="connsiteX51" fmla="*/ 5254388 w 5459104"/>
              <a:gd name="connsiteY51" fmla="*/ 723332 h 3548418"/>
              <a:gd name="connsiteX52" fmla="*/ 5295331 w 5459104"/>
              <a:gd name="connsiteY52" fmla="*/ 614150 h 3548418"/>
              <a:gd name="connsiteX53" fmla="*/ 5336274 w 5459104"/>
              <a:gd name="connsiteY53" fmla="*/ 477672 h 3548418"/>
              <a:gd name="connsiteX54" fmla="*/ 5349922 w 5459104"/>
              <a:gd name="connsiteY54" fmla="*/ 436729 h 3548418"/>
              <a:gd name="connsiteX55" fmla="*/ 5363570 w 5459104"/>
              <a:gd name="connsiteY55" fmla="*/ 395785 h 3548418"/>
              <a:gd name="connsiteX56" fmla="*/ 5390865 w 5459104"/>
              <a:gd name="connsiteY56" fmla="*/ 341194 h 3548418"/>
              <a:gd name="connsiteX57" fmla="*/ 5418161 w 5459104"/>
              <a:gd name="connsiteY57" fmla="*/ 259308 h 3548418"/>
              <a:gd name="connsiteX58" fmla="*/ 5431809 w 5459104"/>
              <a:gd name="connsiteY58" fmla="*/ 218365 h 3548418"/>
              <a:gd name="connsiteX59" fmla="*/ 5445456 w 5459104"/>
              <a:gd name="connsiteY59" fmla="*/ 191069 h 3548418"/>
              <a:gd name="connsiteX60" fmla="*/ 0 w 5459104"/>
              <a:gd name="connsiteY60" fmla="*/ 2715905 h 3548418"/>
              <a:gd name="connsiteX61" fmla="*/ 13648 w 5459104"/>
              <a:gd name="connsiteY61" fmla="*/ 3289111 h 3548418"/>
              <a:gd name="connsiteX62" fmla="*/ 27295 w 5459104"/>
              <a:gd name="connsiteY62" fmla="*/ 3343702 h 3548418"/>
              <a:gd name="connsiteX63" fmla="*/ 68239 w 5459104"/>
              <a:gd name="connsiteY63" fmla="*/ 3507475 h 3548418"/>
              <a:gd name="connsiteX64" fmla="*/ 163773 w 5459104"/>
              <a:gd name="connsiteY64" fmla="*/ 3548418 h 3548418"/>
              <a:gd name="connsiteX65" fmla="*/ 286603 w 5459104"/>
              <a:gd name="connsiteY65" fmla="*/ 3534771 h 3548418"/>
              <a:gd name="connsiteX66" fmla="*/ 395785 w 5459104"/>
              <a:gd name="connsiteY66" fmla="*/ 3439236 h 3548418"/>
              <a:gd name="connsiteX67" fmla="*/ 573206 w 5459104"/>
              <a:gd name="connsiteY67" fmla="*/ 3302759 h 3548418"/>
              <a:gd name="connsiteX68" fmla="*/ 627797 w 5459104"/>
              <a:gd name="connsiteY68" fmla="*/ 3234520 h 3548418"/>
              <a:gd name="connsiteX69" fmla="*/ 682388 w 5459104"/>
              <a:gd name="connsiteY69" fmla="*/ 3193576 h 3548418"/>
              <a:gd name="connsiteX70" fmla="*/ 736979 w 5459104"/>
              <a:gd name="connsiteY70" fmla="*/ 3111690 h 3548418"/>
              <a:gd name="connsiteX71" fmla="*/ 818865 w 5459104"/>
              <a:gd name="connsiteY71" fmla="*/ 3002508 h 3548418"/>
              <a:gd name="connsiteX72" fmla="*/ 846161 w 5459104"/>
              <a:gd name="connsiteY72" fmla="*/ 2947917 h 3548418"/>
              <a:gd name="connsiteX73" fmla="*/ 1009934 w 5459104"/>
              <a:gd name="connsiteY73" fmla="*/ 2674962 h 3548418"/>
              <a:gd name="connsiteX74" fmla="*/ 1023582 w 5459104"/>
              <a:gd name="connsiteY74" fmla="*/ 2606723 h 3548418"/>
              <a:gd name="connsiteX75" fmla="*/ 1037230 w 5459104"/>
              <a:gd name="connsiteY75" fmla="*/ 2565779 h 3548418"/>
              <a:gd name="connsiteX76" fmla="*/ 982639 w 5459104"/>
              <a:gd name="connsiteY76" fmla="*/ 2538484 h 3548418"/>
              <a:gd name="connsiteX77" fmla="*/ 709683 w 5459104"/>
              <a:gd name="connsiteY77" fmla="*/ 2538484 h 3548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459104" h="3548418">
                <a:moveTo>
                  <a:pt x="5431809" y="0"/>
                </a:moveTo>
                <a:lnTo>
                  <a:pt x="5199797" y="259308"/>
                </a:lnTo>
                <a:lnTo>
                  <a:pt x="4681182" y="1296538"/>
                </a:lnTo>
                <a:lnTo>
                  <a:pt x="4490113" y="1733266"/>
                </a:lnTo>
                <a:lnTo>
                  <a:pt x="4490113" y="1910687"/>
                </a:lnTo>
                <a:lnTo>
                  <a:pt x="4926842" y="1323833"/>
                </a:lnTo>
                <a:lnTo>
                  <a:pt x="5295331" y="477672"/>
                </a:lnTo>
                <a:lnTo>
                  <a:pt x="5459104" y="68239"/>
                </a:lnTo>
                <a:cubicBezTo>
                  <a:pt x="5316030" y="193430"/>
                  <a:pt x="5384117" y="129579"/>
                  <a:pt x="5254388" y="259308"/>
                </a:cubicBezTo>
                <a:lnTo>
                  <a:pt x="5199797" y="313899"/>
                </a:lnTo>
                <a:lnTo>
                  <a:pt x="5158854" y="354842"/>
                </a:lnTo>
                <a:cubicBezTo>
                  <a:pt x="5134832" y="426906"/>
                  <a:pt x="5153185" y="383817"/>
                  <a:pt x="5090615" y="477672"/>
                </a:cubicBezTo>
                <a:lnTo>
                  <a:pt x="5063319" y="518615"/>
                </a:lnTo>
                <a:cubicBezTo>
                  <a:pt x="5054221" y="545911"/>
                  <a:pt x="5051984" y="576562"/>
                  <a:pt x="5036024" y="600502"/>
                </a:cubicBezTo>
                <a:lnTo>
                  <a:pt x="4981433" y="682388"/>
                </a:lnTo>
                <a:cubicBezTo>
                  <a:pt x="4972334" y="696036"/>
                  <a:pt x="4959324" y="707771"/>
                  <a:pt x="4954137" y="723332"/>
                </a:cubicBezTo>
                <a:cubicBezTo>
                  <a:pt x="4929115" y="798397"/>
                  <a:pt x="4955524" y="731142"/>
                  <a:pt x="4913194" y="805218"/>
                </a:cubicBezTo>
                <a:cubicBezTo>
                  <a:pt x="4903100" y="822882"/>
                  <a:pt x="4895992" y="842145"/>
                  <a:pt x="4885898" y="859809"/>
                </a:cubicBezTo>
                <a:cubicBezTo>
                  <a:pt x="4877760" y="874051"/>
                  <a:pt x="4865938" y="886082"/>
                  <a:pt x="4858603" y="900753"/>
                </a:cubicBezTo>
                <a:cubicBezTo>
                  <a:pt x="4852169" y="913620"/>
                  <a:pt x="4850622" y="928473"/>
                  <a:pt x="4844955" y="941696"/>
                </a:cubicBezTo>
                <a:cubicBezTo>
                  <a:pt x="4836941" y="960396"/>
                  <a:pt x="4825673" y="977587"/>
                  <a:pt x="4817659" y="996287"/>
                </a:cubicBezTo>
                <a:cubicBezTo>
                  <a:pt x="4811992" y="1009510"/>
                  <a:pt x="4810998" y="1024654"/>
                  <a:pt x="4804012" y="1037230"/>
                </a:cubicBezTo>
                <a:cubicBezTo>
                  <a:pt x="4788081" y="1065907"/>
                  <a:pt x="4749421" y="1119117"/>
                  <a:pt x="4749421" y="1119117"/>
                </a:cubicBezTo>
                <a:cubicBezTo>
                  <a:pt x="4710236" y="1275853"/>
                  <a:pt x="4765030" y="1082694"/>
                  <a:pt x="4708477" y="1214651"/>
                </a:cubicBezTo>
                <a:cubicBezTo>
                  <a:pt x="4655599" y="1338032"/>
                  <a:pt x="4736062" y="1207395"/>
                  <a:pt x="4667534" y="1310185"/>
                </a:cubicBezTo>
                <a:cubicBezTo>
                  <a:pt x="4662985" y="1323833"/>
                  <a:pt x="4660320" y="1338262"/>
                  <a:pt x="4653886" y="1351129"/>
                </a:cubicBezTo>
                <a:cubicBezTo>
                  <a:pt x="4646551" y="1365800"/>
                  <a:pt x="4633052" y="1376996"/>
                  <a:pt x="4626591" y="1392072"/>
                </a:cubicBezTo>
                <a:cubicBezTo>
                  <a:pt x="4619202" y="1409312"/>
                  <a:pt x="4620332" y="1429423"/>
                  <a:pt x="4612943" y="1446663"/>
                </a:cubicBezTo>
                <a:cubicBezTo>
                  <a:pt x="4606482" y="1461739"/>
                  <a:pt x="4593786" y="1473365"/>
                  <a:pt x="4585648" y="1487606"/>
                </a:cubicBezTo>
                <a:cubicBezTo>
                  <a:pt x="4516388" y="1608810"/>
                  <a:pt x="4597556" y="1483392"/>
                  <a:pt x="4531056" y="1583141"/>
                </a:cubicBezTo>
                <a:cubicBezTo>
                  <a:pt x="4511525" y="1641734"/>
                  <a:pt x="4506589" y="1669412"/>
                  <a:pt x="4476465" y="1719618"/>
                </a:cubicBezTo>
                <a:cubicBezTo>
                  <a:pt x="4459587" y="1747748"/>
                  <a:pt x="4440071" y="1774209"/>
                  <a:pt x="4421874" y="1801505"/>
                </a:cubicBezTo>
                <a:cubicBezTo>
                  <a:pt x="4412776" y="1815153"/>
                  <a:pt x="4381457" y="1852289"/>
                  <a:pt x="4394579" y="1842448"/>
                </a:cubicBezTo>
                <a:cubicBezTo>
                  <a:pt x="4412776" y="1828800"/>
                  <a:pt x="4430536" y="1814549"/>
                  <a:pt x="4449170" y="1801505"/>
                </a:cubicBezTo>
                <a:cubicBezTo>
                  <a:pt x="4476045" y="1782693"/>
                  <a:pt x="4531056" y="1746914"/>
                  <a:pt x="4531056" y="1746914"/>
                </a:cubicBezTo>
                <a:cubicBezTo>
                  <a:pt x="4538342" y="1732342"/>
                  <a:pt x="4569114" y="1665157"/>
                  <a:pt x="4585648" y="1651379"/>
                </a:cubicBezTo>
                <a:cubicBezTo>
                  <a:pt x="4601277" y="1638355"/>
                  <a:pt x="4622042" y="1633182"/>
                  <a:pt x="4640239" y="1624084"/>
                </a:cubicBezTo>
                <a:cubicBezTo>
                  <a:pt x="4644788" y="1605887"/>
                  <a:pt x="4643482" y="1585100"/>
                  <a:pt x="4653886" y="1569493"/>
                </a:cubicBezTo>
                <a:cubicBezTo>
                  <a:pt x="4662985" y="1555845"/>
                  <a:pt x="4683231" y="1553796"/>
                  <a:pt x="4694830" y="1542197"/>
                </a:cubicBezTo>
                <a:cubicBezTo>
                  <a:pt x="4706428" y="1530599"/>
                  <a:pt x="4711450" y="1513708"/>
                  <a:pt x="4722125" y="1501254"/>
                </a:cubicBezTo>
                <a:cubicBezTo>
                  <a:pt x="4738873" y="1481715"/>
                  <a:pt x="4758519" y="1464860"/>
                  <a:pt x="4776716" y="1446663"/>
                </a:cubicBezTo>
                <a:cubicBezTo>
                  <a:pt x="4817761" y="1323531"/>
                  <a:pt x="4740405" y="1535250"/>
                  <a:pt x="4899546" y="1296538"/>
                </a:cubicBezTo>
                <a:cubicBezTo>
                  <a:pt x="4935940" y="1241946"/>
                  <a:pt x="4913194" y="1264693"/>
                  <a:pt x="4967785" y="1228299"/>
                </a:cubicBezTo>
                <a:cubicBezTo>
                  <a:pt x="4981433" y="1210102"/>
                  <a:pt x="4993925" y="1190978"/>
                  <a:pt x="5008728" y="1173708"/>
                </a:cubicBezTo>
                <a:cubicBezTo>
                  <a:pt x="5021289" y="1159054"/>
                  <a:pt x="5037315" y="1147592"/>
                  <a:pt x="5049671" y="1132765"/>
                </a:cubicBezTo>
                <a:cubicBezTo>
                  <a:pt x="5060172" y="1120164"/>
                  <a:pt x="5067433" y="1105169"/>
                  <a:pt x="5076967" y="1091821"/>
                </a:cubicBezTo>
                <a:cubicBezTo>
                  <a:pt x="5090188" y="1073312"/>
                  <a:pt x="5104689" y="1055739"/>
                  <a:pt x="5117910" y="1037230"/>
                </a:cubicBezTo>
                <a:cubicBezTo>
                  <a:pt x="5165417" y="970720"/>
                  <a:pt x="5126800" y="1021673"/>
                  <a:pt x="5172501" y="941696"/>
                </a:cubicBezTo>
                <a:cubicBezTo>
                  <a:pt x="5180639" y="927455"/>
                  <a:pt x="5190698" y="914401"/>
                  <a:pt x="5199797" y="900753"/>
                </a:cubicBezTo>
                <a:lnTo>
                  <a:pt x="5227092" y="818866"/>
                </a:lnTo>
                <a:cubicBezTo>
                  <a:pt x="5231641" y="805218"/>
                  <a:pt x="5237251" y="791879"/>
                  <a:pt x="5240740" y="777923"/>
                </a:cubicBezTo>
                <a:cubicBezTo>
                  <a:pt x="5245289" y="759726"/>
                  <a:pt x="5248457" y="741127"/>
                  <a:pt x="5254388" y="723332"/>
                </a:cubicBezTo>
                <a:cubicBezTo>
                  <a:pt x="5283226" y="636818"/>
                  <a:pt x="5276167" y="681222"/>
                  <a:pt x="5295331" y="614150"/>
                </a:cubicBezTo>
                <a:cubicBezTo>
                  <a:pt x="5336586" y="469762"/>
                  <a:pt x="5271405" y="672280"/>
                  <a:pt x="5336274" y="477672"/>
                </a:cubicBezTo>
                <a:lnTo>
                  <a:pt x="5349922" y="436729"/>
                </a:lnTo>
                <a:cubicBezTo>
                  <a:pt x="5354471" y="423081"/>
                  <a:pt x="5357136" y="408653"/>
                  <a:pt x="5363570" y="395785"/>
                </a:cubicBezTo>
                <a:cubicBezTo>
                  <a:pt x="5372668" y="377588"/>
                  <a:pt x="5383309" y="360084"/>
                  <a:pt x="5390865" y="341194"/>
                </a:cubicBezTo>
                <a:cubicBezTo>
                  <a:pt x="5401551" y="314480"/>
                  <a:pt x="5409062" y="286603"/>
                  <a:pt x="5418161" y="259308"/>
                </a:cubicBezTo>
                <a:cubicBezTo>
                  <a:pt x="5422710" y="245660"/>
                  <a:pt x="5425376" y="231232"/>
                  <a:pt x="5431809" y="218365"/>
                </a:cubicBezTo>
                <a:lnTo>
                  <a:pt x="5445456" y="191069"/>
                </a:lnTo>
                <a:lnTo>
                  <a:pt x="0" y="2715905"/>
                </a:lnTo>
                <a:cubicBezTo>
                  <a:pt x="4549" y="2906974"/>
                  <a:pt x="5346" y="3098169"/>
                  <a:pt x="13648" y="3289111"/>
                </a:cubicBezTo>
                <a:cubicBezTo>
                  <a:pt x="14463" y="3307850"/>
                  <a:pt x="23940" y="3325248"/>
                  <a:pt x="27295" y="3343702"/>
                </a:cubicBezTo>
                <a:cubicBezTo>
                  <a:pt x="36843" y="3396220"/>
                  <a:pt x="34757" y="3460600"/>
                  <a:pt x="68239" y="3507475"/>
                </a:cubicBezTo>
                <a:cubicBezTo>
                  <a:pt x="88729" y="3536161"/>
                  <a:pt x="134505" y="3541101"/>
                  <a:pt x="163773" y="3548418"/>
                </a:cubicBezTo>
                <a:cubicBezTo>
                  <a:pt x="204716" y="3543869"/>
                  <a:pt x="247808" y="3548626"/>
                  <a:pt x="286603" y="3534771"/>
                </a:cubicBezTo>
                <a:cubicBezTo>
                  <a:pt x="331268" y="3518819"/>
                  <a:pt x="359850" y="3467186"/>
                  <a:pt x="395785" y="3439236"/>
                </a:cubicBezTo>
                <a:cubicBezTo>
                  <a:pt x="510398" y="3350092"/>
                  <a:pt x="455539" y="3420425"/>
                  <a:pt x="573206" y="3302759"/>
                </a:cubicBezTo>
                <a:cubicBezTo>
                  <a:pt x="593804" y="3282161"/>
                  <a:pt x="607199" y="3255118"/>
                  <a:pt x="627797" y="3234520"/>
                </a:cubicBezTo>
                <a:cubicBezTo>
                  <a:pt x="643881" y="3218436"/>
                  <a:pt x="667276" y="3210577"/>
                  <a:pt x="682388" y="3193576"/>
                </a:cubicBezTo>
                <a:cubicBezTo>
                  <a:pt x="704182" y="3169057"/>
                  <a:pt x="717684" y="3138221"/>
                  <a:pt x="736979" y="3111690"/>
                </a:cubicBezTo>
                <a:cubicBezTo>
                  <a:pt x="771986" y="3063555"/>
                  <a:pt x="792209" y="3049156"/>
                  <a:pt x="818865" y="3002508"/>
                </a:cubicBezTo>
                <a:cubicBezTo>
                  <a:pt x="828959" y="2984844"/>
                  <a:pt x="835109" y="2964998"/>
                  <a:pt x="846161" y="2947917"/>
                </a:cubicBezTo>
                <a:cubicBezTo>
                  <a:pt x="1006986" y="2699370"/>
                  <a:pt x="931854" y="2857149"/>
                  <a:pt x="1009934" y="2674962"/>
                </a:cubicBezTo>
                <a:cubicBezTo>
                  <a:pt x="1014483" y="2652216"/>
                  <a:pt x="1017956" y="2629227"/>
                  <a:pt x="1023582" y="2606723"/>
                </a:cubicBezTo>
                <a:cubicBezTo>
                  <a:pt x="1027071" y="2592766"/>
                  <a:pt x="1044632" y="2578115"/>
                  <a:pt x="1037230" y="2565779"/>
                </a:cubicBezTo>
                <a:cubicBezTo>
                  <a:pt x="1026763" y="2548333"/>
                  <a:pt x="1002914" y="2540174"/>
                  <a:pt x="982639" y="2538484"/>
                </a:cubicBezTo>
                <a:cubicBezTo>
                  <a:pt x="891968" y="2530928"/>
                  <a:pt x="800668" y="2538484"/>
                  <a:pt x="709683" y="2538484"/>
                </a:cubicBezTo>
              </a:path>
            </a:pathLst>
          </a:custGeom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904990" y="2471454"/>
            <a:ext cx="1254460" cy="1608990"/>
          </a:xfrm>
          <a:custGeom>
            <a:avLst/>
            <a:gdLst>
              <a:gd name="connsiteX0" fmla="*/ 713549 w 1254460"/>
              <a:gd name="connsiteY0" fmla="*/ 197748 h 1608990"/>
              <a:gd name="connsiteX1" fmla="*/ 713549 w 1254460"/>
              <a:gd name="connsiteY1" fmla="*/ 197748 h 1608990"/>
              <a:gd name="connsiteX2" fmla="*/ 819260 w 1254460"/>
              <a:gd name="connsiteY2" fmla="*/ 287603 h 1608990"/>
              <a:gd name="connsiteX3" fmla="*/ 882686 w 1254460"/>
              <a:gd name="connsiteY3" fmla="*/ 356315 h 1608990"/>
              <a:gd name="connsiteX4" fmla="*/ 909114 w 1254460"/>
              <a:gd name="connsiteY4" fmla="*/ 382743 h 1608990"/>
              <a:gd name="connsiteX5" fmla="*/ 972541 w 1254460"/>
              <a:gd name="connsiteY5" fmla="*/ 462026 h 1608990"/>
              <a:gd name="connsiteX6" fmla="*/ 983112 w 1254460"/>
              <a:gd name="connsiteY6" fmla="*/ 477882 h 1608990"/>
              <a:gd name="connsiteX7" fmla="*/ 998968 w 1254460"/>
              <a:gd name="connsiteY7" fmla="*/ 499025 h 1608990"/>
              <a:gd name="connsiteX8" fmla="*/ 1009539 w 1254460"/>
              <a:gd name="connsiteY8" fmla="*/ 525452 h 1608990"/>
              <a:gd name="connsiteX9" fmla="*/ 1025396 w 1254460"/>
              <a:gd name="connsiteY9" fmla="*/ 551880 h 1608990"/>
              <a:gd name="connsiteX10" fmla="*/ 1046538 w 1254460"/>
              <a:gd name="connsiteY10" fmla="*/ 588879 h 1608990"/>
              <a:gd name="connsiteX11" fmla="*/ 1051824 w 1254460"/>
              <a:gd name="connsiteY11" fmla="*/ 604736 h 1608990"/>
              <a:gd name="connsiteX12" fmla="*/ 1057109 w 1254460"/>
              <a:gd name="connsiteY12" fmla="*/ 625878 h 1608990"/>
              <a:gd name="connsiteX13" fmla="*/ 1067681 w 1254460"/>
              <a:gd name="connsiteY13" fmla="*/ 636449 h 1608990"/>
              <a:gd name="connsiteX14" fmla="*/ 1072966 w 1254460"/>
              <a:gd name="connsiteY14" fmla="*/ 652306 h 1608990"/>
              <a:gd name="connsiteX15" fmla="*/ 1078252 w 1254460"/>
              <a:gd name="connsiteY15" fmla="*/ 673448 h 1608990"/>
              <a:gd name="connsiteX16" fmla="*/ 1088823 w 1254460"/>
              <a:gd name="connsiteY16" fmla="*/ 694590 h 1608990"/>
              <a:gd name="connsiteX17" fmla="*/ 1104679 w 1254460"/>
              <a:gd name="connsiteY17" fmla="*/ 731589 h 1608990"/>
              <a:gd name="connsiteX18" fmla="*/ 1120536 w 1254460"/>
              <a:gd name="connsiteY18" fmla="*/ 752731 h 1608990"/>
              <a:gd name="connsiteX19" fmla="*/ 1141678 w 1254460"/>
              <a:gd name="connsiteY19" fmla="*/ 795015 h 1608990"/>
              <a:gd name="connsiteX20" fmla="*/ 1146964 w 1254460"/>
              <a:gd name="connsiteY20" fmla="*/ 816158 h 1608990"/>
              <a:gd name="connsiteX21" fmla="*/ 1168106 w 1254460"/>
              <a:gd name="connsiteY21" fmla="*/ 884870 h 1608990"/>
              <a:gd name="connsiteX22" fmla="*/ 1162820 w 1254460"/>
              <a:gd name="connsiteY22" fmla="*/ 953582 h 1608990"/>
              <a:gd name="connsiteX23" fmla="*/ 1152249 w 1254460"/>
              <a:gd name="connsiteY23" fmla="*/ 980010 h 1608990"/>
              <a:gd name="connsiteX24" fmla="*/ 1131107 w 1254460"/>
              <a:gd name="connsiteY24" fmla="*/ 1022294 h 1608990"/>
              <a:gd name="connsiteX25" fmla="*/ 1120536 w 1254460"/>
              <a:gd name="connsiteY25" fmla="*/ 1048722 h 1608990"/>
              <a:gd name="connsiteX26" fmla="*/ 1099394 w 1254460"/>
              <a:gd name="connsiteY26" fmla="*/ 1085721 h 1608990"/>
              <a:gd name="connsiteX27" fmla="*/ 1094108 w 1254460"/>
              <a:gd name="connsiteY27" fmla="*/ 1101577 h 1608990"/>
              <a:gd name="connsiteX28" fmla="*/ 1078252 w 1254460"/>
              <a:gd name="connsiteY28" fmla="*/ 1117434 h 1608990"/>
              <a:gd name="connsiteX29" fmla="*/ 1067681 w 1254460"/>
              <a:gd name="connsiteY29" fmla="*/ 1149147 h 1608990"/>
              <a:gd name="connsiteX30" fmla="*/ 1046538 w 1254460"/>
              <a:gd name="connsiteY30" fmla="*/ 1186146 h 1608990"/>
              <a:gd name="connsiteX31" fmla="*/ 1025396 w 1254460"/>
              <a:gd name="connsiteY31" fmla="*/ 1223145 h 1608990"/>
              <a:gd name="connsiteX32" fmla="*/ 1009539 w 1254460"/>
              <a:gd name="connsiteY32" fmla="*/ 1254858 h 1608990"/>
              <a:gd name="connsiteX33" fmla="*/ 983112 w 1254460"/>
              <a:gd name="connsiteY33" fmla="*/ 1307714 h 1608990"/>
              <a:gd name="connsiteX34" fmla="*/ 967255 w 1254460"/>
              <a:gd name="connsiteY34" fmla="*/ 1339427 h 1608990"/>
              <a:gd name="connsiteX35" fmla="*/ 961970 w 1254460"/>
              <a:gd name="connsiteY35" fmla="*/ 1355284 h 1608990"/>
              <a:gd name="connsiteX36" fmla="*/ 940827 w 1254460"/>
              <a:gd name="connsiteY36" fmla="*/ 1397568 h 1608990"/>
              <a:gd name="connsiteX37" fmla="*/ 924971 w 1254460"/>
              <a:gd name="connsiteY37" fmla="*/ 1439852 h 1608990"/>
              <a:gd name="connsiteX38" fmla="*/ 914400 w 1254460"/>
              <a:gd name="connsiteY38" fmla="*/ 1466280 h 1608990"/>
              <a:gd name="connsiteX39" fmla="*/ 417558 w 1254460"/>
              <a:gd name="connsiteY39" fmla="*/ 1534992 h 1608990"/>
              <a:gd name="connsiteX40" fmla="*/ 348846 w 1254460"/>
              <a:gd name="connsiteY40" fmla="*/ 1508564 h 1608990"/>
              <a:gd name="connsiteX41" fmla="*/ 327704 w 1254460"/>
              <a:gd name="connsiteY41" fmla="*/ 1497993 h 1608990"/>
              <a:gd name="connsiteX42" fmla="*/ 311847 w 1254460"/>
              <a:gd name="connsiteY42" fmla="*/ 1487422 h 1608990"/>
              <a:gd name="connsiteX43" fmla="*/ 0 w 1254460"/>
              <a:gd name="connsiteY43" fmla="*/ 1270715 h 1608990"/>
              <a:gd name="connsiteX44" fmla="*/ 31713 w 1254460"/>
              <a:gd name="connsiteY44" fmla="*/ 1122719 h 1608990"/>
              <a:gd name="connsiteX45" fmla="*/ 73997 w 1254460"/>
              <a:gd name="connsiteY45" fmla="*/ 1054007 h 1608990"/>
              <a:gd name="connsiteX46" fmla="*/ 79283 w 1254460"/>
              <a:gd name="connsiteY46" fmla="*/ 1032865 h 1608990"/>
              <a:gd name="connsiteX47" fmla="*/ 95139 w 1254460"/>
              <a:gd name="connsiteY47" fmla="*/ 1011723 h 1608990"/>
              <a:gd name="connsiteX48" fmla="*/ 121567 w 1254460"/>
              <a:gd name="connsiteY48" fmla="*/ 948296 h 1608990"/>
              <a:gd name="connsiteX49" fmla="*/ 169137 w 1254460"/>
              <a:gd name="connsiteY49" fmla="*/ 863728 h 1608990"/>
              <a:gd name="connsiteX50" fmla="*/ 190279 w 1254460"/>
              <a:gd name="connsiteY50" fmla="*/ 810872 h 1608990"/>
              <a:gd name="connsiteX51" fmla="*/ 253706 w 1254460"/>
              <a:gd name="connsiteY51" fmla="*/ 689304 h 1608990"/>
              <a:gd name="connsiteX52" fmla="*/ 348846 w 1254460"/>
              <a:gd name="connsiteY52" fmla="*/ 530738 h 1608990"/>
              <a:gd name="connsiteX53" fmla="*/ 385845 w 1254460"/>
              <a:gd name="connsiteY53" fmla="*/ 467311 h 1608990"/>
              <a:gd name="connsiteX54" fmla="*/ 417558 w 1254460"/>
              <a:gd name="connsiteY54" fmla="*/ 409170 h 1608990"/>
              <a:gd name="connsiteX55" fmla="*/ 449271 w 1254460"/>
              <a:gd name="connsiteY55" fmla="*/ 361600 h 1608990"/>
              <a:gd name="connsiteX56" fmla="*/ 470413 w 1254460"/>
              <a:gd name="connsiteY56" fmla="*/ 314030 h 1608990"/>
              <a:gd name="connsiteX57" fmla="*/ 528555 w 1254460"/>
              <a:gd name="connsiteY57" fmla="*/ 224176 h 1608990"/>
              <a:gd name="connsiteX58" fmla="*/ 544411 w 1254460"/>
              <a:gd name="connsiteY58" fmla="*/ 192463 h 1608990"/>
              <a:gd name="connsiteX59" fmla="*/ 560268 w 1254460"/>
              <a:gd name="connsiteY59" fmla="*/ 166035 h 1608990"/>
              <a:gd name="connsiteX60" fmla="*/ 586696 w 1254460"/>
              <a:gd name="connsiteY60" fmla="*/ 123751 h 1608990"/>
              <a:gd name="connsiteX61" fmla="*/ 602552 w 1254460"/>
              <a:gd name="connsiteY61" fmla="*/ 86752 h 1608990"/>
              <a:gd name="connsiteX62" fmla="*/ 613123 w 1254460"/>
              <a:gd name="connsiteY62" fmla="*/ 65610 h 1608990"/>
              <a:gd name="connsiteX63" fmla="*/ 745262 w 1254460"/>
              <a:gd name="connsiteY63" fmla="*/ 12754 h 1608990"/>
              <a:gd name="connsiteX64" fmla="*/ 866830 w 1254460"/>
              <a:gd name="connsiteY64" fmla="*/ 7469 h 1608990"/>
              <a:gd name="connsiteX65" fmla="*/ 903828 w 1254460"/>
              <a:gd name="connsiteY65" fmla="*/ 44467 h 1608990"/>
              <a:gd name="connsiteX66" fmla="*/ 930256 w 1254460"/>
              <a:gd name="connsiteY66" fmla="*/ 92037 h 1608990"/>
              <a:gd name="connsiteX67" fmla="*/ 961970 w 1254460"/>
              <a:gd name="connsiteY67" fmla="*/ 166035 h 1608990"/>
              <a:gd name="connsiteX68" fmla="*/ 972541 w 1254460"/>
              <a:gd name="connsiteY68" fmla="*/ 203034 h 1608990"/>
              <a:gd name="connsiteX69" fmla="*/ 998968 w 1254460"/>
              <a:gd name="connsiteY69" fmla="*/ 250604 h 1608990"/>
              <a:gd name="connsiteX70" fmla="*/ 1009539 w 1254460"/>
              <a:gd name="connsiteY70" fmla="*/ 282317 h 1608990"/>
              <a:gd name="connsiteX71" fmla="*/ 1025396 w 1254460"/>
              <a:gd name="connsiteY71" fmla="*/ 319316 h 1608990"/>
              <a:gd name="connsiteX72" fmla="*/ 1051824 w 1254460"/>
              <a:gd name="connsiteY72" fmla="*/ 398599 h 1608990"/>
              <a:gd name="connsiteX73" fmla="*/ 1067681 w 1254460"/>
              <a:gd name="connsiteY73" fmla="*/ 472597 h 1608990"/>
              <a:gd name="connsiteX74" fmla="*/ 1072966 w 1254460"/>
              <a:gd name="connsiteY74" fmla="*/ 514881 h 1608990"/>
              <a:gd name="connsiteX75" fmla="*/ 1078252 w 1254460"/>
              <a:gd name="connsiteY75" fmla="*/ 546595 h 1608990"/>
              <a:gd name="connsiteX76" fmla="*/ 1083537 w 1254460"/>
              <a:gd name="connsiteY76" fmla="*/ 779159 h 1608990"/>
              <a:gd name="connsiteX77" fmla="*/ 1115250 w 1254460"/>
              <a:gd name="connsiteY77" fmla="*/ 1022294 h 1608990"/>
              <a:gd name="connsiteX78" fmla="*/ 1104679 w 1254460"/>
              <a:gd name="connsiteY78" fmla="*/ 1154433 h 1608990"/>
              <a:gd name="connsiteX79" fmla="*/ 1094108 w 1254460"/>
              <a:gd name="connsiteY79" fmla="*/ 1175575 h 1608990"/>
              <a:gd name="connsiteX80" fmla="*/ 1062395 w 1254460"/>
              <a:gd name="connsiteY80" fmla="*/ 1228430 h 1608990"/>
              <a:gd name="connsiteX81" fmla="*/ 1041253 w 1254460"/>
              <a:gd name="connsiteY81" fmla="*/ 1254858 h 1608990"/>
              <a:gd name="connsiteX82" fmla="*/ 660693 w 1254460"/>
              <a:gd name="connsiteY82" fmla="*/ 1513850 h 1608990"/>
              <a:gd name="connsiteX83" fmla="*/ 438700 w 1254460"/>
              <a:gd name="connsiteY83" fmla="*/ 1566706 h 1608990"/>
              <a:gd name="connsiteX84" fmla="*/ 206136 w 1254460"/>
              <a:gd name="connsiteY84" fmla="*/ 1519136 h 1608990"/>
              <a:gd name="connsiteX85" fmla="*/ 174423 w 1254460"/>
              <a:gd name="connsiteY85" fmla="*/ 1397568 h 1608990"/>
              <a:gd name="connsiteX86" fmla="*/ 179708 w 1254460"/>
              <a:gd name="connsiteY86" fmla="*/ 1297143 h 1608990"/>
              <a:gd name="connsiteX87" fmla="*/ 200850 w 1254460"/>
              <a:gd name="connsiteY87" fmla="*/ 1180860 h 1608990"/>
              <a:gd name="connsiteX88" fmla="*/ 221993 w 1254460"/>
              <a:gd name="connsiteY88" fmla="*/ 1101577 h 1608990"/>
              <a:gd name="connsiteX89" fmla="*/ 237849 w 1254460"/>
              <a:gd name="connsiteY89" fmla="*/ 1075149 h 1608990"/>
              <a:gd name="connsiteX90" fmla="*/ 258992 w 1254460"/>
              <a:gd name="connsiteY90" fmla="*/ 1032865 h 1608990"/>
              <a:gd name="connsiteX91" fmla="*/ 322418 w 1254460"/>
              <a:gd name="connsiteY91" fmla="*/ 969438 h 1608990"/>
              <a:gd name="connsiteX92" fmla="*/ 359417 w 1254460"/>
              <a:gd name="connsiteY92" fmla="*/ 932440 h 1608990"/>
              <a:gd name="connsiteX93" fmla="*/ 417558 w 1254460"/>
              <a:gd name="connsiteY93" fmla="*/ 890155 h 1608990"/>
              <a:gd name="connsiteX94" fmla="*/ 459842 w 1254460"/>
              <a:gd name="connsiteY94" fmla="*/ 847871 h 1608990"/>
              <a:gd name="connsiteX95" fmla="*/ 586696 w 1254460"/>
              <a:gd name="connsiteY95" fmla="*/ 747445 h 1608990"/>
              <a:gd name="connsiteX96" fmla="*/ 650122 w 1254460"/>
              <a:gd name="connsiteY96" fmla="*/ 699875 h 1608990"/>
              <a:gd name="connsiteX97" fmla="*/ 798118 w 1254460"/>
              <a:gd name="connsiteY97" fmla="*/ 615307 h 1608990"/>
              <a:gd name="connsiteX98" fmla="*/ 977826 w 1254460"/>
              <a:gd name="connsiteY98" fmla="*/ 536023 h 1608990"/>
              <a:gd name="connsiteX99" fmla="*/ 1004254 w 1254460"/>
              <a:gd name="connsiteY99" fmla="*/ 525452 h 1608990"/>
              <a:gd name="connsiteX100" fmla="*/ 1083537 w 1254460"/>
              <a:gd name="connsiteY100" fmla="*/ 509596 h 1608990"/>
              <a:gd name="connsiteX101" fmla="*/ 1162820 w 1254460"/>
              <a:gd name="connsiteY101" fmla="*/ 520167 h 1608990"/>
              <a:gd name="connsiteX102" fmla="*/ 1183963 w 1254460"/>
              <a:gd name="connsiteY102" fmla="*/ 546595 h 1608990"/>
              <a:gd name="connsiteX103" fmla="*/ 1210390 w 1254460"/>
              <a:gd name="connsiteY103" fmla="*/ 594164 h 1608990"/>
              <a:gd name="connsiteX104" fmla="*/ 1231533 w 1254460"/>
              <a:gd name="connsiteY104" fmla="*/ 673448 h 1608990"/>
              <a:gd name="connsiteX105" fmla="*/ 1242104 w 1254460"/>
              <a:gd name="connsiteY105" fmla="*/ 710447 h 1608990"/>
              <a:gd name="connsiteX106" fmla="*/ 1242104 w 1254460"/>
              <a:gd name="connsiteY106" fmla="*/ 985295 h 1608990"/>
              <a:gd name="connsiteX107" fmla="*/ 1205105 w 1254460"/>
              <a:gd name="connsiteY107" fmla="*/ 1096292 h 1608990"/>
              <a:gd name="connsiteX108" fmla="*/ 1173392 w 1254460"/>
              <a:gd name="connsiteY108" fmla="*/ 1159718 h 1608990"/>
              <a:gd name="connsiteX109" fmla="*/ 1152249 w 1254460"/>
              <a:gd name="connsiteY109" fmla="*/ 1217859 h 1608990"/>
              <a:gd name="connsiteX110" fmla="*/ 1078252 w 1254460"/>
              <a:gd name="connsiteY110" fmla="*/ 1339427 h 1608990"/>
              <a:gd name="connsiteX111" fmla="*/ 1035967 w 1254460"/>
              <a:gd name="connsiteY111" fmla="*/ 1386997 h 1608990"/>
              <a:gd name="connsiteX112" fmla="*/ 1004254 w 1254460"/>
              <a:gd name="connsiteY112" fmla="*/ 1429281 h 1608990"/>
              <a:gd name="connsiteX113" fmla="*/ 956684 w 1254460"/>
              <a:gd name="connsiteY113" fmla="*/ 1471566 h 1608990"/>
              <a:gd name="connsiteX114" fmla="*/ 850973 w 1254460"/>
              <a:gd name="connsiteY114" fmla="*/ 1540278 h 1608990"/>
              <a:gd name="connsiteX115" fmla="*/ 819260 w 1254460"/>
              <a:gd name="connsiteY115" fmla="*/ 1556134 h 1608990"/>
              <a:gd name="connsiteX116" fmla="*/ 776975 w 1254460"/>
              <a:gd name="connsiteY116" fmla="*/ 1571991 h 1608990"/>
              <a:gd name="connsiteX117" fmla="*/ 739976 w 1254460"/>
              <a:gd name="connsiteY117" fmla="*/ 1593133 h 1608990"/>
              <a:gd name="connsiteX118" fmla="*/ 697692 w 1254460"/>
              <a:gd name="connsiteY118" fmla="*/ 1598419 h 1608990"/>
              <a:gd name="connsiteX119" fmla="*/ 591981 w 1254460"/>
              <a:gd name="connsiteY119" fmla="*/ 1608990 h 1608990"/>
              <a:gd name="connsiteX120" fmla="*/ 422844 w 1254460"/>
              <a:gd name="connsiteY120" fmla="*/ 1603704 h 1608990"/>
              <a:gd name="connsiteX121" fmla="*/ 401701 w 1254460"/>
              <a:gd name="connsiteY121" fmla="*/ 1593133 h 160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54460" h="1608990">
                <a:moveTo>
                  <a:pt x="713549" y="197748"/>
                </a:moveTo>
                <a:lnTo>
                  <a:pt x="713549" y="197748"/>
                </a:lnTo>
                <a:cubicBezTo>
                  <a:pt x="748786" y="227700"/>
                  <a:pt x="790370" y="251491"/>
                  <a:pt x="819260" y="287603"/>
                </a:cubicBezTo>
                <a:cubicBezTo>
                  <a:pt x="852853" y="329594"/>
                  <a:pt x="832427" y="306055"/>
                  <a:pt x="882686" y="356315"/>
                </a:cubicBezTo>
                <a:cubicBezTo>
                  <a:pt x="891495" y="365124"/>
                  <a:pt x="901006" y="373284"/>
                  <a:pt x="909114" y="382743"/>
                </a:cubicBezTo>
                <a:cubicBezTo>
                  <a:pt x="933184" y="410825"/>
                  <a:pt x="951808" y="430928"/>
                  <a:pt x="972541" y="462026"/>
                </a:cubicBezTo>
                <a:cubicBezTo>
                  <a:pt x="976065" y="467311"/>
                  <a:pt x="979420" y="472713"/>
                  <a:pt x="983112" y="477882"/>
                </a:cubicBezTo>
                <a:cubicBezTo>
                  <a:pt x="988232" y="485051"/>
                  <a:pt x="994690" y="491324"/>
                  <a:pt x="998968" y="499025"/>
                </a:cubicBezTo>
                <a:cubicBezTo>
                  <a:pt x="1003575" y="507319"/>
                  <a:pt x="1005296" y="516966"/>
                  <a:pt x="1009539" y="525452"/>
                </a:cubicBezTo>
                <a:cubicBezTo>
                  <a:pt x="1014133" y="534641"/>
                  <a:pt x="1020802" y="542691"/>
                  <a:pt x="1025396" y="551880"/>
                </a:cubicBezTo>
                <a:cubicBezTo>
                  <a:pt x="1045575" y="592238"/>
                  <a:pt x="1008196" y="537755"/>
                  <a:pt x="1046538" y="588879"/>
                </a:cubicBezTo>
                <a:cubicBezTo>
                  <a:pt x="1048300" y="594165"/>
                  <a:pt x="1050293" y="599379"/>
                  <a:pt x="1051824" y="604736"/>
                </a:cubicBezTo>
                <a:cubicBezTo>
                  <a:pt x="1053820" y="611721"/>
                  <a:pt x="1053860" y="619381"/>
                  <a:pt x="1057109" y="625878"/>
                </a:cubicBezTo>
                <a:cubicBezTo>
                  <a:pt x="1059338" y="630335"/>
                  <a:pt x="1064157" y="632925"/>
                  <a:pt x="1067681" y="636449"/>
                </a:cubicBezTo>
                <a:cubicBezTo>
                  <a:pt x="1069443" y="641735"/>
                  <a:pt x="1071435" y="646949"/>
                  <a:pt x="1072966" y="652306"/>
                </a:cubicBezTo>
                <a:cubicBezTo>
                  <a:pt x="1074962" y="659291"/>
                  <a:pt x="1075701" y="666646"/>
                  <a:pt x="1078252" y="673448"/>
                </a:cubicBezTo>
                <a:cubicBezTo>
                  <a:pt x="1081019" y="680825"/>
                  <a:pt x="1085719" y="687348"/>
                  <a:pt x="1088823" y="694590"/>
                </a:cubicBezTo>
                <a:cubicBezTo>
                  <a:pt x="1098633" y="717480"/>
                  <a:pt x="1088741" y="706089"/>
                  <a:pt x="1104679" y="731589"/>
                </a:cubicBezTo>
                <a:cubicBezTo>
                  <a:pt x="1109348" y="739059"/>
                  <a:pt x="1116258" y="745030"/>
                  <a:pt x="1120536" y="752731"/>
                </a:cubicBezTo>
                <a:cubicBezTo>
                  <a:pt x="1163636" y="830310"/>
                  <a:pt x="1105645" y="740967"/>
                  <a:pt x="1141678" y="795015"/>
                </a:cubicBezTo>
                <a:cubicBezTo>
                  <a:pt x="1143440" y="802063"/>
                  <a:pt x="1144828" y="809215"/>
                  <a:pt x="1146964" y="816158"/>
                </a:cubicBezTo>
                <a:cubicBezTo>
                  <a:pt x="1171170" y="894830"/>
                  <a:pt x="1156135" y="836990"/>
                  <a:pt x="1168106" y="884870"/>
                </a:cubicBezTo>
                <a:cubicBezTo>
                  <a:pt x="1166344" y="907774"/>
                  <a:pt x="1166597" y="930923"/>
                  <a:pt x="1162820" y="953582"/>
                </a:cubicBezTo>
                <a:cubicBezTo>
                  <a:pt x="1161260" y="962941"/>
                  <a:pt x="1155580" y="971126"/>
                  <a:pt x="1152249" y="980010"/>
                </a:cubicBezTo>
                <a:cubicBezTo>
                  <a:pt x="1134371" y="1027685"/>
                  <a:pt x="1167061" y="950386"/>
                  <a:pt x="1131107" y="1022294"/>
                </a:cubicBezTo>
                <a:cubicBezTo>
                  <a:pt x="1126864" y="1030780"/>
                  <a:pt x="1124779" y="1040236"/>
                  <a:pt x="1120536" y="1048722"/>
                </a:cubicBezTo>
                <a:cubicBezTo>
                  <a:pt x="1114184" y="1061427"/>
                  <a:pt x="1105747" y="1073016"/>
                  <a:pt x="1099394" y="1085721"/>
                </a:cubicBezTo>
                <a:cubicBezTo>
                  <a:pt x="1096902" y="1090704"/>
                  <a:pt x="1097198" y="1096941"/>
                  <a:pt x="1094108" y="1101577"/>
                </a:cubicBezTo>
                <a:cubicBezTo>
                  <a:pt x="1089962" y="1107796"/>
                  <a:pt x="1083537" y="1112148"/>
                  <a:pt x="1078252" y="1117434"/>
                </a:cubicBezTo>
                <a:cubicBezTo>
                  <a:pt x="1074728" y="1128005"/>
                  <a:pt x="1072665" y="1139181"/>
                  <a:pt x="1067681" y="1149147"/>
                </a:cubicBezTo>
                <a:cubicBezTo>
                  <a:pt x="1054268" y="1175971"/>
                  <a:pt x="1061480" y="1163733"/>
                  <a:pt x="1046538" y="1186146"/>
                </a:cubicBezTo>
                <a:cubicBezTo>
                  <a:pt x="1030375" y="1234642"/>
                  <a:pt x="1057392" y="1159153"/>
                  <a:pt x="1025396" y="1223145"/>
                </a:cubicBezTo>
                <a:cubicBezTo>
                  <a:pt x="1005914" y="1262109"/>
                  <a:pt x="1034158" y="1230241"/>
                  <a:pt x="1009539" y="1254858"/>
                </a:cubicBezTo>
                <a:cubicBezTo>
                  <a:pt x="998884" y="1286827"/>
                  <a:pt x="1009258" y="1259158"/>
                  <a:pt x="983112" y="1307714"/>
                </a:cubicBezTo>
                <a:cubicBezTo>
                  <a:pt x="977509" y="1318120"/>
                  <a:pt x="972055" y="1328627"/>
                  <a:pt x="967255" y="1339427"/>
                </a:cubicBezTo>
                <a:cubicBezTo>
                  <a:pt x="964992" y="1344518"/>
                  <a:pt x="964276" y="1350212"/>
                  <a:pt x="961970" y="1355284"/>
                </a:cubicBezTo>
                <a:cubicBezTo>
                  <a:pt x="955449" y="1369630"/>
                  <a:pt x="940827" y="1397568"/>
                  <a:pt x="940827" y="1397568"/>
                </a:cubicBezTo>
                <a:cubicBezTo>
                  <a:pt x="931084" y="1436544"/>
                  <a:pt x="941554" y="1401160"/>
                  <a:pt x="924971" y="1439852"/>
                </a:cubicBezTo>
                <a:cubicBezTo>
                  <a:pt x="905369" y="1485589"/>
                  <a:pt x="931418" y="1432241"/>
                  <a:pt x="914400" y="1466280"/>
                </a:cubicBezTo>
                <a:lnTo>
                  <a:pt x="417558" y="1534992"/>
                </a:lnTo>
                <a:cubicBezTo>
                  <a:pt x="326947" y="1507810"/>
                  <a:pt x="390944" y="1532621"/>
                  <a:pt x="348846" y="1508564"/>
                </a:cubicBezTo>
                <a:cubicBezTo>
                  <a:pt x="342005" y="1504655"/>
                  <a:pt x="334545" y="1501902"/>
                  <a:pt x="327704" y="1497993"/>
                </a:cubicBezTo>
                <a:cubicBezTo>
                  <a:pt x="322188" y="1494841"/>
                  <a:pt x="311847" y="1487422"/>
                  <a:pt x="311847" y="1487422"/>
                </a:cubicBezTo>
                <a:lnTo>
                  <a:pt x="0" y="1270715"/>
                </a:lnTo>
                <a:lnTo>
                  <a:pt x="31713" y="1122719"/>
                </a:lnTo>
                <a:cubicBezTo>
                  <a:pt x="41408" y="1108176"/>
                  <a:pt x="65814" y="1075829"/>
                  <a:pt x="73997" y="1054007"/>
                </a:cubicBezTo>
                <a:cubicBezTo>
                  <a:pt x="76548" y="1047205"/>
                  <a:pt x="76034" y="1039362"/>
                  <a:pt x="79283" y="1032865"/>
                </a:cubicBezTo>
                <a:cubicBezTo>
                  <a:pt x="83223" y="1024986"/>
                  <a:pt x="91200" y="1019602"/>
                  <a:pt x="95139" y="1011723"/>
                </a:cubicBezTo>
                <a:cubicBezTo>
                  <a:pt x="105382" y="991237"/>
                  <a:pt x="109428" y="967719"/>
                  <a:pt x="121567" y="948296"/>
                </a:cubicBezTo>
                <a:cubicBezTo>
                  <a:pt x="144755" y="911197"/>
                  <a:pt x="151552" y="903294"/>
                  <a:pt x="169137" y="863728"/>
                </a:cubicBezTo>
                <a:cubicBezTo>
                  <a:pt x="176844" y="846388"/>
                  <a:pt x="182000" y="827947"/>
                  <a:pt x="190279" y="810872"/>
                </a:cubicBezTo>
                <a:cubicBezTo>
                  <a:pt x="210219" y="769745"/>
                  <a:pt x="232262" y="729668"/>
                  <a:pt x="253706" y="689304"/>
                </a:cubicBezTo>
                <a:cubicBezTo>
                  <a:pt x="289269" y="622363"/>
                  <a:pt x="299368" y="612377"/>
                  <a:pt x="348846" y="530738"/>
                </a:cubicBezTo>
                <a:cubicBezTo>
                  <a:pt x="361532" y="509806"/>
                  <a:pt x="373801" y="488619"/>
                  <a:pt x="385845" y="467311"/>
                </a:cubicBezTo>
                <a:cubicBezTo>
                  <a:pt x="396708" y="448093"/>
                  <a:pt x="405313" y="427538"/>
                  <a:pt x="417558" y="409170"/>
                </a:cubicBezTo>
                <a:cubicBezTo>
                  <a:pt x="428129" y="393313"/>
                  <a:pt x="440016" y="378259"/>
                  <a:pt x="449271" y="361600"/>
                </a:cubicBezTo>
                <a:cubicBezTo>
                  <a:pt x="457698" y="346431"/>
                  <a:pt x="461742" y="329060"/>
                  <a:pt x="470413" y="314030"/>
                </a:cubicBezTo>
                <a:cubicBezTo>
                  <a:pt x="488241" y="283129"/>
                  <a:pt x="512601" y="256085"/>
                  <a:pt x="528555" y="224176"/>
                </a:cubicBezTo>
                <a:cubicBezTo>
                  <a:pt x="533840" y="213605"/>
                  <a:pt x="538752" y="202839"/>
                  <a:pt x="544411" y="192463"/>
                </a:cubicBezTo>
                <a:cubicBezTo>
                  <a:pt x="549330" y="183444"/>
                  <a:pt x="555674" y="175224"/>
                  <a:pt x="560268" y="166035"/>
                </a:cubicBezTo>
                <a:cubicBezTo>
                  <a:pt x="580289" y="125993"/>
                  <a:pt x="558872" y="151573"/>
                  <a:pt x="586696" y="123751"/>
                </a:cubicBezTo>
                <a:cubicBezTo>
                  <a:pt x="592626" y="105960"/>
                  <a:pt x="592101" y="105042"/>
                  <a:pt x="602552" y="86752"/>
                </a:cubicBezTo>
                <a:cubicBezTo>
                  <a:pt x="614100" y="66542"/>
                  <a:pt x="613123" y="78048"/>
                  <a:pt x="613123" y="65610"/>
                </a:cubicBezTo>
                <a:lnTo>
                  <a:pt x="745262" y="12754"/>
                </a:lnTo>
                <a:cubicBezTo>
                  <a:pt x="784160" y="4975"/>
                  <a:pt x="826848" y="-8524"/>
                  <a:pt x="866830" y="7469"/>
                </a:cubicBezTo>
                <a:cubicBezTo>
                  <a:pt x="883024" y="13946"/>
                  <a:pt x="903828" y="44467"/>
                  <a:pt x="903828" y="44467"/>
                </a:cubicBezTo>
                <a:cubicBezTo>
                  <a:pt x="916969" y="97029"/>
                  <a:pt x="896627" y="28142"/>
                  <a:pt x="930256" y="92037"/>
                </a:cubicBezTo>
                <a:cubicBezTo>
                  <a:pt x="942755" y="115784"/>
                  <a:pt x="951399" y="141369"/>
                  <a:pt x="961970" y="166035"/>
                </a:cubicBezTo>
                <a:cubicBezTo>
                  <a:pt x="967023" y="177824"/>
                  <a:pt x="967400" y="191283"/>
                  <a:pt x="972541" y="203034"/>
                </a:cubicBezTo>
                <a:cubicBezTo>
                  <a:pt x="979811" y="219652"/>
                  <a:pt x="991297" y="234166"/>
                  <a:pt x="998968" y="250604"/>
                </a:cubicBezTo>
                <a:cubicBezTo>
                  <a:pt x="1003680" y="260701"/>
                  <a:pt x="1005539" y="271917"/>
                  <a:pt x="1009539" y="282317"/>
                </a:cubicBezTo>
                <a:cubicBezTo>
                  <a:pt x="1014356" y="294841"/>
                  <a:pt x="1020810" y="306706"/>
                  <a:pt x="1025396" y="319316"/>
                </a:cubicBezTo>
                <a:cubicBezTo>
                  <a:pt x="1034916" y="345496"/>
                  <a:pt x="1051824" y="398599"/>
                  <a:pt x="1051824" y="398599"/>
                </a:cubicBezTo>
                <a:cubicBezTo>
                  <a:pt x="1069114" y="519642"/>
                  <a:pt x="1043194" y="350163"/>
                  <a:pt x="1067681" y="472597"/>
                </a:cubicBezTo>
                <a:cubicBezTo>
                  <a:pt x="1070467" y="486525"/>
                  <a:pt x="1070957" y="500819"/>
                  <a:pt x="1072966" y="514881"/>
                </a:cubicBezTo>
                <a:cubicBezTo>
                  <a:pt x="1074482" y="525490"/>
                  <a:pt x="1076490" y="536024"/>
                  <a:pt x="1078252" y="546595"/>
                </a:cubicBezTo>
                <a:cubicBezTo>
                  <a:pt x="1087726" y="669763"/>
                  <a:pt x="1083537" y="592335"/>
                  <a:pt x="1083537" y="779159"/>
                </a:cubicBezTo>
                <a:lnTo>
                  <a:pt x="1115250" y="1022294"/>
                </a:lnTo>
                <a:cubicBezTo>
                  <a:pt x="1114910" y="1029440"/>
                  <a:pt x="1117912" y="1119146"/>
                  <a:pt x="1104679" y="1154433"/>
                </a:cubicBezTo>
                <a:cubicBezTo>
                  <a:pt x="1101912" y="1161810"/>
                  <a:pt x="1097034" y="1168259"/>
                  <a:pt x="1094108" y="1175575"/>
                </a:cubicBezTo>
                <a:cubicBezTo>
                  <a:pt x="1072445" y="1229732"/>
                  <a:pt x="1098518" y="1187791"/>
                  <a:pt x="1062395" y="1228430"/>
                </a:cubicBezTo>
                <a:cubicBezTo>
                  <a:pt x="1054900" y="1236862"/>
                  <a:pt x="1041253" y="1254858"/>
                  <a:pt x="1041253" y="1254858"/>
                </a:cubicBezTo>
                <a:lnTo>
                  <a:pt x="660693" y="1513850"/>
                </a:lnTo>
                <a:lnTo>
                  <a:pt x="438700" y="1566706"/>
                </a:lnTo>
                <a:lnTo>
                  <a:pt x="206136" y="1519136"/>
                </a:lnTo>
                <a:lnTo>
                  <a:pt x="174423" y="1397568"/>
                </a:lnTo>
                <a:lnTo>
                  <a:pt x="179708" y="1297143"/>
                </a:lnTo>
                <a:lnTo>
                  <a:pt x="200850" y="1180860"/>
                </a:lnTo>
                <a:cubicBezTo>
                  <a:pt x="203062" y="1170905"/>
                  <a:pt x="213679" y="1115435"/>
                  <a:pt x="221993" y="1101577"/>
                </a:cubicBezTo>
                <a:cubicBezTo>
                  <a:pt x="227278" y="1092768"/>
                  <a:pt x="232978" y="1084194"/>
                  <a:pt x="237849" y="1075149"/>
                </a:cubicBezTo>
                <a:cubicBezTo>
                  <a:pt x="245320" y="1061274"/>
                  <a:pt x="249148" y="1045170"/>
                  <a:pt x="258992" y="1032865"/>
                </a:cubicBezTo>
                <a:cubicBezTo>
                  <a:pt x="277670" y="1009517"/>
                  <a:pt x="301276" y="990580"/>
                  <a:pt x="322418" y="969438"/>
                </a:cubicBezTo>
                <a:cubicBezTo>
                  <a:pt x="334751" y="957105"/>
                  <a:pt x="345312" y="942699"/>
                  <a:pt x="359417" y="932440"/>
                </a:cubicBezTo>
                <a:cubicBezTo>
                  <a:pt x="378797" y="918345"/>
                  <a:pt x="399228" y="905591"/>
                  <a:pt x="417558" y="890155"/>
                </a:cubicBezTo>
                <a:cubicBezTo>
                  <a:pt x="432805" y="877315"/>
                  <a:pt x="444607" y="860725"/>
                  <a:pt x="459842" y="847871"/>
                </a:cubicBezTo>
                <a:cubicBezTo>
                  <a:pt x="501061" y="813092"/>
                  <a:pt x="544125" y="780556"/>
                  <a:pt x="586696" y="747445"/>
                </a:cubicBezTo>
                <a:cubicBezTo>
                  <a:pt x="607557" y="731220"/>
                  <a:pt x="627176" y="712987"/>
                  <a:pt x="650122" y="699875"/>
                </a:cubicBezTo>
                <a:cubicBezTo>
                  <a:pt x="699454" y="671686"/>
                  <a:pt x="747299" y="640717"/>
                  <a:pt x="798118" y="615307"/>
                </a:cubicBezTo>
                <a:cubicBezTo>
                  <a:pt x="897582" y="565573"/>
                  <a:pt x="842180" y="591286"/>
                  <a:pt x="977826" y="536023"/>
                </a:cubicBezTo>
                <a:cubicBezTo>
                  <a:pt x="986613" y="532443"/>
                  <a:pt x="994992" y="527510"/>
                  <a:pt x="1004254" y="525452"/>
                </a:cubicBezTo>
                <a:cubicBezTo>
                  <a:pt x="1062286" y="512556"/>
                  <a:pt x="1035802" y="517551"/>
                  <a:pt x="1083537" y="509596"/>
                </a:cubicBezTo>
                <a:cubicBezTo>
                  <a:pt x="1109965" y="513120"/>
                  <a:pt x="1137802" y="510950"/>
                  <a:pt x="1162820" y="520167"/>
                </a:cubicBezTo>
                <a:cubicBezTo>
                  <a:pt x="1173406" y="524067"/>
                  <a:pt x="1177493" y="537353"/>
                  <a:pt x="1183963" y="546595"/>
                </a:cubicBezTo>
                <a:cubicBezTo>
                  <a:pt x="1189063" y="553880"/>
                  <a:pt x="1206584" y="583697"/>
                  <a:pt x="1210390" y="594164"/>
                </a:cubicBezTo>
                <a:cubicBezTo>
                  <a:pt x="1217047" y="612471"/>
                  <a:pt x="1226804" y="655716"/>
                  <a:pt x="1231533" y="673448"/>
                </a:cubicBezTo>
                <a:cubicBezTo>
                  <a:pt x="1234838" y="685841"/>
                  <a:pt x="1238580" y="698114"/>
                  <a:pt x="1242104" y="710447"/>
                </a:cubicBezTo>
                <a:cubicBezTo>
                  <a:pt x="1258649" y="842811"/>
                  <a:pt x="1258510" y="800724"/>
                  <a:pt x="1242104" y="985295"/>
                </a:cubicBezTo>
                <a:cubicBezTo>
                  <a:pt x="1238689" y="1023714"/>
                  <a:pt x="1220684" y="1062301"/>
                  <a:pt x="1205105" y="1096292"/>
                </a:cubicBezTo>
                <a:cubicBezTo>
                  <a:pt x="1195256" y="1117780"/>
                  <a:pt x="1182817" y="1138041"/>
                  <a:pt x="1173392" y="1159718"/>
                </a:cubicBezTo>
                <a:cubicBezTo>
                  <a:pt x="1165169" y="1178630"/>
                  <a:pt x="1160841" y="1199112"/>
                  <a:pt x="1152249" y="1217859"/>
                </a:cubicBezTo>
                <a:cubicBezTo>
                  <a:pt x="1132910" y="1260053"/>
                  <a:pt x="1107138" y="1302838"/>
                  <a:pt x="1078252" y="1339427"/>
                </a:cubicBezTo>
                <a:cubicBezTo>
                  <a:pt x="1065106" y="1356079"/>
                  <a:pt x="1049454" y="1370620"/>
                  <a:pt x="1035967" y="1386997"/>
                </a:cubicBezTo>
                <a:cubicBezTo>
                  <a:pt x="1024767" y="1400597"/>
                  <a:pt x="1016304" y="1416428"/>
                  <a:pt x="1004254" y="1429281"/>
                </a:cubicBezTo>
                <a:cubicBezTo>
                  <a:pt x="989744" y="1444759"/>
                  <a:pt x="973472" y="1458594"/>
                  <a:pt x="956684" y="1471566"/>
                </a:cubicBezTo>
                <a:cubicBezTo>
                  <a:pt x="920776" y="1499313"/>
                  <a:pt x="889477" y="1519546"/>
                  <a:pt x="850973" y="1540278"/>
                </a:cubicBezTo>
                <a:cubicBezTo>
                  <a:pt x="840567" y="1545881"/>
                  <a:pt x="830123" y="1551478"/>
                  <a:pt x="819260" y="1556134"/>
                </a:cubicBezTo>
                <a:cubicBezTo>
                  <a:pt x="805424" y="1562064"/>
                  <a:pt x="790616" y="1565625"/>
                  <a:pt x="776975" y="1571991"/>
                </a:cubicBezTo>
                <a:cubicBezTo>
                  <a:pt x="764103" y="1577998"/>
                  <a:pt x="753452" y="1588641"/>
                  <a:pt x="739976" y="1593133"/>
                </a:cubicBezTo>
                <a:cubicBezTo>
                  <a:pt x="726501" y="1597625"/>
                  <a:pt x="711816" y="1596906"/>
                  <a:pt x="697692" y="1598419"/>
                </a:cubicBezTo>
                <a:lnTo>
                  <a:pt x="591981" y="1608990"/>
                </a:lnTo>
                <a:cubicBezTo>
                  <a:pt x="535602" y="1607228"/>
                  <a:pt x="479056" y="1608388"/>
                  <a:pt x="422844" y="1603704"/>
                </a:cubicBezTo>
                <a:cubicBezTo>
                  <a:pt x="414992" y="1603050"/>
                  <a:pt x="401701" y="1593133"/>
                  <a:pt x="401701" y="1593133"/>
                </a:cubicBezTo>
              </a:path>
            </a:pathLst>
          </a:custGeom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1583088">
            <a:off x="4441845" y="2584407"/>
            <a:ext cx="1257754" cy="2103238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76143" y="2471454"/>
            <a:ext cx="799395" cy="225369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4875538" y="2236613"/>
            <a:ext cx="29452" cy="26209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</p:spPr>
      </p:cxnSp>
      <p:sp>
        <p:nvSpPr>
          <p:cNvPr id="1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3" grpId="0" animBg="1" autoUpdateAnimBg="0"/>
      <p:bldP spid="190474" grpId="0" animBg="1" autoUpdateAnimBg="0"/>
      <p:bldP spid="190475" grpId="0" animBg="1" autoUpdateAnimBg="0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90" name="Picture 2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6094"/>
          <a:stretch>
            <a:fillRect/>
          </a:stretch>
        </p:blipFill>
        <p:spPr bwMode="auto">
          <a:xfrm>
            <a:off x="4643438" y="2197571"/>
            <a:ext cx="3789362" cy="39100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468313" y="2269009"/>
            <a:ext cx="3384550" cy="34782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191497" name="Text Box 9"/>
          <p:cNvSpPr txBox="1">
            <a:spLocks noChangeArrowheads="1"/>
          </p:cNvSpPr>
          <p:nvPr/>
        </p:nvSpPr>
        <p:spPr bwMode="auto">
          <a:xfrm>
            <a:off x="2051050" y="6223471"/>
            <a:ext cx="568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管的基本开关电路及其等效电路</a:t>
            </a:r>
          </a:p>
        </p:txBody>
      </p:sp>
      <p:graphicFrame>
        <p:nvGraphicFramePr>
          <p:cNvPr id="191498" name="Object 10"/>
          <p:cNvGraphicFramePr>
            <a:graphicFrameLocks noChangeAspect="1"/>
          </p:cNvGraphicFramePr>
          <p:nvPr/>
        </p:nvGraphicFramePr>
        <p:xfrm>
          <a:off x="4140200" y="2773834"/>
          <a:ext cx="4475163" cy="2170112"/>
        </p:xfrm>
        <a:graphic>
          <a:graphicData uri="http://schemas.openxmlformats.org/presentationml/2006/ole">
            <p:oleObj spid="_x0000_s32064" name="Visio" r:id="rId4" imgW="4475705" imgH="2169538" progId="">
              <p:embed/>
            </p:oleObj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78152" y="1269988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OFF</a:t>
            </a:r>
            <a:r>
              <a:rPr lang="en-US" altLang="zh-CN" b="1" dirty="0" smtClean="0"/>
              <a:t>&gt;10</a:t>
            </a:r>
            <a:r>
              <a:rPr lang="en-US" altLang="zh-CN" b="1" baseline="30000" dirty="0" smtClean="0"/>
              <a:t>9</a:t>
            </a:r>
            <a:r>
              <a:rPr lang="el-GR" altLang="zh-CN" b="1" dirty="0" smtClean="0"/>
              <a:t>Ω</a:t>
            </a:r>
            <a:endParaRPr lang="zh-CN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886246" y="1628800"/>
            <a:ext cx="2662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ON</a:t>
            </a:r>
            <a:r>
              <a:rPr lang="en-US" altLang="zh-CN" b="1" dirty="0" smtClean="0"/>
              <a:t>&lt;10</a:t>
            </a:r>
            <a:r>
              <a:rPr lang="en-US" altLang="zh-CN" b="1" baseline="30000" dirty="0" smtClean="0"/>
              <a:t>3</a:t>
            </a:r>
            <a:r>
              <a:rPr lang="el-GR" altLang="zh-CN" b="1" dirty="0" smtClean="0"/>
              <a:t>Ω</a:t>
            </a:r>
            <a:endParaRPr lang="en-US" altLang="zh-CN" b="1" dirty="0" smtClean="0"/>
          </a:p>
          <a:p>
            <a:r>
              <a:rPr lang="en-US" altLang="zh-CN" b="1" dirty="0" smtClean="0"/>
              <a:t>C</a:t>
            </a:r>
            <a:r>
              <a:rPr lang="zh-CN" altLang="en-US" b="1" dirty="0" smtClean="0"/>
              <a:t>为几十或几皮法小电容</a:t>
            </a:r>
            <a:endParaRPr lang="zh-CN" altLang="en-US" b="1" dirty="0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1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8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2276872"/>
            <a:ext cx="476250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1043608" y="2852936"/>
            <a:ext cx="2664296" cy="27380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2339752" y="1988840"/>
            <a:ext cx="2304256" cy="721240"/>
          </a:xfrm>
          <a:prstGeom prst="wedgeRectCallout">
            <a:avLst>
              <a:gd name="adj1" fmla="val 58809"/>
              <a:gd name="adj2" fmla="val 156352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由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DD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DS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得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-V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DS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755576" y="6237312"/>
            <a:ext cx="7992888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管工作在可变电阻区，输出低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宋体"/>
                <a:ea typeface="宋体"/>
              </a:rPr>
              <a:t>≈0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755576" y="5726336"/>
            <a:ext cx="6624736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输出高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endParaRPr kumimoji="1" lang="zh-CN" altLang="en-US" sz="2400" b="1" baseline="-250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80" y="2019084"/>
            <a:ext cx="7834630" cy="48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管的四种类型（列表）：</a:t>
            </a:r>
            <a:endParaRPr kumimoji="1"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6" name="Picture 6" descr="2005-03-13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852884"/>
            <a:ext cx="8496300" cy="6032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7793037" cy="62068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门电路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实现基本逻辑或复合逻辑运算的单元电路</a:t>
            </a:r>
            <a:endParaRPr lang="zh-CN" alt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005064"/>
            <a:ext cx="1781448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005064"/>
            <a:ext cx="1800200" cy="6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933056"/>
            <a:ext cx="1923934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35696" y="501317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实现与、或、非功能的门电路内部长什么样？</a:t>
            </a:r>
            <a:endParaRPr lang="zh-CN" altLang="en-US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13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2492896"/>
            <a:ext cx="180975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75656" y="2636912"/>
            <a:ext cx="17811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56176" y="2636912"/>
            <a:ext cx="154367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996952"/>
            <a:ext cx="52101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68960"/>
            <a:ext cx="1781448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467544" y="1556792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一、二极管与门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2339752" y="5708745"/>
            <a:ext cx="3743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二极管与门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300192" y="27809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</a:t>
            </a:r>
            <a:r>
              <a:rPr lang="en-US" altLang="zh-CN" sz="2000" b="1" dirty="0" smtClean="0"/>
              <a:t>= 0.7V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300192" y="1628800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CC </a:t>
            </a:r>
            <a:r>
              <a:rPr lang="en-US" altLang="zh-CN" sz="2000" b="1" dirty="0" smtClean="0"/>
              <a:t>= 5V </a:t>
            </a:r>
          </a:p>
          <a:p>
            <a:r>
              <a:rPr lang="zh-CN" altLang="en-US" sz="2000" b="1" dirty="0" smtClean="0"/>
              <a:t>输入高电平</a:t>
            </a:r>
            <a:r>
              <a:rPr lang="en-US" altLang="zh-CN" sz="2000" b="1" dirty="0" smtClean="0"/>
              <a:t>= 3V</a:t>
            </a:r>
          </a:p>
          <a:p>
            <a:r>
              <a:rPr lang="zh-CN" altLang="en-US" sz="2000" b="1" dirty="0" smtClean="0"/>
              <a:t>输入低电平</a:t>
            </a:r>
            <a:r>
              <a:rPr lang="en-US" altLang="zh-CN" sz="2000" b="1" dirty="0" smtClean="0"/>
              <a:t>= 0V</a:t>
            </a:r>
            <a:endParaRPr lang="zh-CN" altLang="en-US" sz="2000" b="1" dirty="0"/>
          </a:p>
        </p:txBody>
      </p:sp>
      <p:cxnSp>
        <p:nvCxnSpPr>
          <p:cNvPr id="9" name="曲线连接符 8"/>
          <p:cNvCxnSpPr/>
          <p:nvPr/>
        </p:nvCxnSpPr>
        <p:spPr bwMode="auto">
          <a:xfrm rot="5400000">
            <a:off x="1213321" y="3454733"/>
            <a:ext cx="840427" cy="356914"/>
          </a:xfrm>
          <a:prstGeom prst="curvedConnector3">
            <a:avLst>
              <a:gd name="adj1" fmla="val 97792"/>
            </a:avLst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曲线连接符 18"/>
          <p:cNvCxnSpPr/>
          <p:nvPr/>
        </p:nvCxnSpPr>
        <p:spPr bwMode="auto">
          <a:xfrm rot="5400000">
            <a:off x="1293253" y="4134322"/>
            <a:ext cx="840427" cy="356914"/>
          </a:xfrm>
          <a:prstGeom prst="curvedConnector3">
            <a:avLst>
              <a:gd name="adj1" fmla="val 97792"/>
            </a:avLst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lum contrast="40000"/>
          </a:blip>
          <a:stretch>
            <a:fillRect/>
          </a:stretch>
        </p:blipFill>
        <p:spPr>
          <a:xfrm>
            <a:off x="6300192" y="3356992"/>
            <a:ext cx="2154783" cy="2673854"/>
          </a:xfrm>
          <a:prstGeom prst="rect">
            <a:avLst/>
          </a:prstGeom>
        </p:spPr>
      </p:pic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96097" y="188640"/>
            <a:ext cx="2788071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4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068960"/>
            <a:ext cx="479107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395536" y="1556792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二、二极管或门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2098485" y="5956733"/>
            <a:ext cx="3743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二极管或门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68960"/>
            <a:ext cx="1935000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58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lum contrast="40000"/>
          </a:blip>
          <a:stretch>
            <a:fillRect/>
          </a:stretch>
        </p:blipFill>
        <p:spPr>
          <a:xfrm>
            <a:off x="6444208" y="3356992"/>
            <a:ext cx="2100413" cy="2773726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6300192" y="27809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</a:t>
            </a:r>
            <a:r>
              <a:rPr lang="en-US" altLang="zh-CN" sz="2000" b="1" dirty="0" smtClean="0"/>
              <a:t>= 0.7V</a:t>
            </a:r>
            <a:endParaRPr lang="zh-CN" altLang="en-US" sz="2000" b="1" dirty="0"/>
          </a:p>
        </p:txBody>
      </p:sp>
      <p:sp>
        <p:nvSpPr>
          <p:cNvPr id="12" name="文本框 6"/>
          <p:cNvSpPr txBox="1"/>
          <p:nvPr/>
        </p:nvSpPr>
        <p:spPr>
          <a:xfrm>
            <a:off x="6300192" y="1628800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CC </a:t>
            </a:r>
            <a:r>
              <a:rPr lang="en-US" altLang="zh-CN" sz="2000" b="1" dirty="0" smtClean="0"/>
              <a:t>= 5V </a:t>
            </a:r>
          </a:p>
          <a:p>
            <a:r>
              <a:rPr lang="zh-CN" altLang="en-US" sz="2000" b="1" dirty="0" smtClean="0"/>
              <a:t>输入高电平</a:t>
            </a:r>
            <a:r>
              <a:rPr lang="en-US" altLang="zh-CN" sz="2000" b="1" dirty="0" smtClean="0"/>
              <a:t>= 3V</a:t>
            </a:r>
          </a:p>
          <a:p>
            <a:r>
              <a:rPr lang="zh-CN" altLang="en-US" sz="2000" b="1" dirty="0" smtClean="0"/>
              <a:t>输入低电平</a:t>
            </a:r>
            <a:r>
              <a:rPr lang="en-US" altLang="zh-CN" sz="2000" b="1" dirty="0" smtClean="0"/>
              <a:t>= 0V</a:t>
            </a:r>
            <a:endParaRPr lang="zh-CN" altLang="en-US" sz="2000" b="1" dirty="0"/>
          </a:p>
        </p:txBody>
      </p:sp>
      <p:pic>
        <p:nvPicPr>
          <p:cNvPr id="15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-1"/>
            <a:ext cx="2952328" cy="2897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67544" y="1628800"/>
            <a:ext cx="4567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三、三极管非门（反相器）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627784" y="5949280"/>
            <a:ext cx="424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三极管非门（反相器）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15" y="2636911"/>
            <a:ext cx="2932034" cy="2674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581128"/>
            <a:ext cx="3047704" cy="127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140968"/>
            <a:ext cx="1584176" cy="59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52120" y="3645024"/>
            <a:ext cx="2640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 </a:t>
            </a:r>
            <a:r>
              <a:rPr lang="en-US" altLang="zh-CN" sz="2000" b="1" dirty="0" smtClean="0"/>
              <a:t>= 0.7V  </a:t>
            </a:r>
          </a:p>
          <a:p>
            <a:r>
              <a:rPr lang="en-US" altLang="zh-CN" sz="2000" b="1" dirty="0" smtClean="0"/>
              <a:t>           V</a:t>
            </a:r>
            <a:r>
              <a:rPr lang="en-US" altLang="zh-CN" sz="2000" b="1" baseline="-25000" dirty="0" smtClean="0"/>
              <a:t>CES  </a:t>
            </a:r>
            <a:r>
              <a:rPr lang="en-US" altLang="zh-CN" sz="2000" b="1" dirty="0" smtClean="0"/>
              <a:t>= 0.3V</a:t>
            </a:r>
            <a:endParaRPr lang="zh-CN" altLang="en-US" sz="2000" b="1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721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3888" y="4293096"/>
            <a:ext cx="1400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4369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80112" y="1412776"/>
            <a:ext cx="2808312" cy="21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86879" y="1628800"/>
            <a:ext cx="3278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如何实现与非门电路？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29" y="2353829"/>
            <a:ext cx="5450143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076489" y="4599233"/>
                <a:ext cx="92204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 smtClean="0"/>
                  <a:t>Y=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/>
                          </a:rPr>
                          <m:t>𝑨𝑩</m:t>
                        </m:r>
                      </m:e>
                    </m:acc>
                  </m:oMath>
                </a14:m>
                <a:endParaRPr lang="zh-CN" altLang="en-US" sz="20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89" y="4599233"/>
                <a:ext cx="922047" cy="40011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728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2.2.2 </a:t>
            </a:r>
            <a:r>
              <a:rPr lang="zh-CN" altLang="en-US" dirty="0" smtClean="0"/>
              <a:t>复合逻辑门电路</a:t>
            </a:r>
            <a:endParaRPr lang="zh-CN" altLang="en-US" dirty="0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43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4612" y="0"/>
            <a:ext cx="2969388" cy="2914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11560" y="1556792"/>
            <a:ext cx="4536504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 smtClean="0">
                <a:solidFill>
                  <a:srgbClr val="0000FF"/>
                </a:solidFill>
                <a:latin typeface="Times New Roman" pitchFamily="18" charset="0"/>
              </a:rPr>
              <a:t>用两个三极管实现的</a:t>
            </a:r>
            <a:r>
              <a:rPr lang="zh-CN" altLang="en-US" sz="2000" u="none" dirty="0" smtClean="0">
                <a:solidFill>
                  <a:srgbClr val="FF0000"/>
                </a:solidFill>
                <a:latin typeface="Times New Roman" pitchFamily="18" charset="0"/>
              </a:rPr>
              <a:t>与非门</a:t>
            </a:r>
            <a:endParaRPr lang="zh-CN" altLang="en-US" sz="2000" u="none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11560" y="1988840"/>
            <a:ext cx="4752528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与非门：</a:t>
            </a:r>
            <a:r>
              <a:rPr lang="en-US" altLang="zh-CN" sz="2000" u="none" dirty="0">
                <a:solidFill>
                  <a:srgbClr val="FF0000"/>
                </a:solidFill>
              </a:rPr>
              <a:t>A·B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>
                <a:solidFill>
                  <a:srgbClr val="0000FF"/>
                </a:solidFill>
              </a:rPr>
              <a:t>输入 </a:t>
            </a:r>
            <a:r>
              <a:rPr lang="en-US" altLang="zh-CN" sz="2000" u="none" dirty="0">
                <a:solidFill>
                  <a:srgbClr val="0000FF"/>
                </a:solidFill>
              </a:rPr>
              <a:t>A B      </a:t>
            </a:r>
            <a:r>
              <a:rPr lang="zh-CN" altLang="en-US" sz="2000" u="none" dirty="0">
                <a:solidFill>
                  <a:srgbClr val="0000FF"/>
                </a:solidFill>
              </a:rPr>
              <a:t>输出 </a:t>
            </a:r>
          </a:p>
          <a:p>
            <a:r>
              <a:rPr lang="zh-CN" altLang="en-US" sz="2000" u="none" dirty="0"/>
              <a:t>        </a:t>
            </a:r>
            <a:r>
              <a:rPr lang="en-US" altLang="zh-CN" sz="2000" u="none" dirty="0"/>
              <a:t>0  0         1</a:t>
            </a:r>
          </a:p>
          <a:p>
            <a:r>
              <a:rPr lang="en-US" altLang="zh-CN" sz="2000" u="none" dirty="0"/>
              <a:t>        0  1         1</a:t>
            </a:r>
          </a:p>
          <a:p>
            <a:r>
              <a:rPr lang="en-US" altLang="zh-CN" sz="2000" u="none" dirty="0"/>
              <a:t>        1  0         1</a:t>
            </a:r>
          </a:p>
          <a:p>
            <a:r>
              <a:rPr lang="en-US" altLang="zh-CN" sz="2000" u="none" dirty="0"/>
              <a:t>        1  1         0</a:t>
            </a:r>
          </a:p>
          <a:p>
            <a:endParaRPr lang="en-US" altLang="zh-CN" sz="2000" u="none" dirty="0"/>
          </a:p>
          <a:p>
            <a:r>
              <a:rPr lang="en-US" altLang="zh-CN" sz="2000" u="none" dirty="0"/>
              <a:t>       </a:t>
            </a:r>
            <a:r>
              <a:rPr lang="zh-CN" altLang="en-US" sz="2000" u="none" dirty="0"/>
              <a:t>两路输入都高，输出才为低。</a:t>
            </a:r>
          </a:p>
          <a:p>
            <a:endParaRPr lang="zh-CN" altLang="en-US" sz="2000" u="none" dirty="0"/>
          </a:p>
          <a:p>
            <a:r>
              <a:rPr lang="zh-CN" altLang="en-US" sz="2000" u="none" dirty="0"/>
              <a:t>即：两个三极管都导通，输出低电平。</a:t>
            </a:r>
            <a:endParaRPr lang="zh-CN" altLang="en-US" sz="2000" b="0" u="none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580112" y="1484784"/>
            <a:ext cx="3259088" cy="4824536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7010400" y="18669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896100" y="2057400"/>
            <a:ext cx="228600" cy="9525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6896100" y="3390900"/>
            <a:ext cx="228600" cy="1905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6667500" y="3771900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6667500" y="3771900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6667500" y="4152900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5638800" y="4057650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7010400" y="43434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6741963" y="1478434"/>
            <a:ext cx="1411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 dirty="0"/>
              <a:t>+</a:t>
            </a:r>
            <a:r>
              <a:rPr lang="en-US" altLang="zh-CN" sz="2000" u="none" dirty="0" err="1"/>
              <a:t>Vcc</a:t>
            </a:r>
            <a:r>
              <a:rPr lang="en-US" altLang="zh-CN" sz="2000" u="none" dirty="0"/>
              <a:t>(+5V)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156176" y="1484784"/>
            <a:ext cx="1042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电源</a:t>
            </a:r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6196013" y="2286000"/>
            <a:ext cx="8905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电阻</a:t>
            </a: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5562600" y="3641725"/>
            <a:ext cx="115728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输入</a:t>
            </a:r>
            <a:r>
              <a:rPr lang="en-US" altLang="zh-CN" sz="2000" u="none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7353300" y="2955925"/>
            <a:ext cx="8763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6629400" y="3886200"/>
            <a:ext cx="62071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>
                <a:solidFill>
                  <a:schemeClr val="accent2"/>
                </a:solidFill>
              </a:rPr>
              <a:t> </a:t>
            </a:r>
            <a:r>
              <a:rPr lang="en-US" altLang="zh-CN" sz="2000" u="none">
                <a:solidFill>
                  <a:srgbClr val="0000FF"/>
                </a:solidFill>
              </a:rPr>
              <a:t>T 1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7381875" y="5775325"/>
            <a:ext cx="923925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448532" name="Line 20"/>
          <p:cNvSpPr>
            <a:spLocks noChangeShapeType="1"/>
          </p:cNvSpPr>
          <p:nvPr/>
        </p:nvSpPr>
        <p:spPr bwMode="auto">
          <a:xfrm>
            <a:off x="7239000" y="2057400"/>
            <a:ext cx="0" cy="3733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33" name="Line 21"/>
          <p:cNvSpPr>
            <a:spLocks noChangeShapeType="1"/>
          </p:cNvSpPr>
          <p:nvPr/>
        </p:nvSpPr>
        <p:spPr bwMode="auto">
          <a:xfrm>
            <a:off x="7353300" y="2057400"/>
            <a:ext cx="0" cy="13335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34" name="Line 22"/>
          <p:cNvSpPr>
            <a:spLocks noChangeShapeType="1"/>
          </p:cNvSpPr>
          <p:nvPr/>
        </p:nvSpPr>
        <p:spPr bwMode="auto">
          <a:xfrm>
            <a:off x="7353300" y="3390900"/>
            <a:ext cx="10287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>
            <a:off x="7010400" y="348615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 flipH="1">
            <a:off x="6667500" y="4706938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6667500" y="4706938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>
            <a:off x="6667500" y="5087938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>
            <a:off x="5638800" y="4992688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7010400" y="5278438"/>
            <a:ext cx="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1" name="Line 29"/>
          <p:cNvSpPr>
            <a:spLocks noChangeShapeType="1"/>
          </p:cNvSpPr>
          <p:nvPr/>
        </p:nvSpPr>
        <p:spPr bwMode="auto">
          <a:xfrm>
            <a:off x="6667500" y="59451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2" name="Line 30"/>
          <p:cNvSpPr>
            <a:spLocks noChangeShapeType="1"/>
          </p:cNvSpPr>
          <p:nvPr/>
        </p:nvSpPr>
        <p:spPr bwMode="auto">
          <a:xfrm>
            <a:off x="6896100" y="6135688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5548313" y="4572000"/>
            <a:ext cx="13096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输入</a:t>
            </a:r>
            <a:r>
              <a:rPr lang="en-US" altLang="zh-CN" sz="2000" u="none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6705600" y="4800600"/>
            <a:ext cx="55086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>
                <a:solidFill>
                  <a:srgbClr val="0000FF"/>
                </a:solidFill>
              </a:rPr>
              <a:t>T 2</a:t>
            </a:r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>
            <a:off x="1691680" y="2060848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533400" y="5562600"/>
            <a:ext cx="4800600" cy="711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0000FF"/>
                </a:solidFill>
              </a:rPr>
              <a:t>由此理解：</a:t>
            </a:r>
          </a:p>
          <a:p>
            <a:r>
              <a:rPr lang="zh-CN" altLang="en-US" sz="2000" u="none">
                <a:solidFill>
                  <a:srgbClr val="0000FF"/>
                </a:solidFill>
              </a:rPr>
              <a:t>半导体电路为什么可以实现逻辑功能呢？</a:t>
            </a:r>
          </a:p>
        </p:txBody>
      </p:sp>
      <p:sp>
        <p:nvSpPr>
          <p:cNvPr id="36" name="标题 1"/>
          <p:cNvSpPr txBox="1">
            <a:spLocks/>
          </p:cNvSpPr>
          <p:nvPr/>
        </p:nvSpPr>
        <p:spPr>
          <a:xfrm>
            <a:off x="1259632" y="692696"/>
            <a:ext cx="7685533" cy="5669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基本逻辑门电路：分立元件门电路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32" grpId="0" animBg="1"/>
      <p:bldP spid="448533" grpId="0" animBg="1"/>
      <p:bldP spid="44853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4811713" y="1600200"/>
            <a:ext cx="4027487" cy="4648200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" name="Oval 4"/>
          <p:cNvSpPr>
            <a:spLocks noChangeArrowheads="1"/>
          </p:cNvSpPr>
          <p:nvPr/>
        </p:nvSpPr>
        <p:spPr bwMode="auto">
          <a:xfrm>
            <a:off x="6650038" y="3817938"/>
            <a:ext cx="176212" cy="212725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 flipH="1">
            <a:off x="5775325" y="4241800"/>
            <a:ext cx="261938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5775325" y="4241800"/>
            <a:ext cx="0" cy="633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5775325" y="4664075"/>
            <a:ext cx="261938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>
            <a:off x="4986338" y="4557713"/>
            <a:ext cx="788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4" name="Line 9"/>
          <p:cNvSpPr>
            <a:spLocks noChangeShapeType="1"/>
          </p:cNvSpPr>
          <p:nvPr/>
        </p:nvSpPr>
        <p:spPr bwMode="auto">
          <a:xfrm>
            <a:off x="6037263" y="4875213"/>
            <a:ext cx="0" cy="739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>
            <a:off x="5775325" y="56149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6" name="Line 11"/>
          <p:cNvSpPr>
            <a:spLocks noChangeShapeType="1"/>
          </p:cNvSpPr>
          <p:nvPr/>
        </p:nvSpPr>
        <p:spPr bwMode="auto">
          <a:xfrm>
            <a:off x="5949950" y="5719763"/>
            <a:ext cx="263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 flipH="1">
            <a:off x="7700963" y="4241800"/>
            <a:ext cx="2635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8" name="Line 13"/>
          <p:cNvSpPr>
            <a:spLocks noChangeShapeType="1"/>
          </p:cNvSpPr>
          <p:nvPr/>
        </p:nvSpPr>
        <p:spPr bwMode="auto">
          <a:xfrm>
            <a:off x="7700963" y="4241800"/>
            <a:ext cx="0" cy="633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>
            <a:off x="7700963" y="4664075"/>
            <a:ext cx="2635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7000875" y="4557713"/>
            <a:ext cx="7000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1" name="Line 16"/>
          <p:cNvSpPr>
            <a:spLocks noChangeShapeType="1"/>
          </p:cNvSpPr>
          <p:nvPr/>
        </p:nvSpPr>
        <p:spPr bwMode="auto">
          <a:xfrm>
            <a:off x="7964488" y="4875213"/>
            <a:ext cx="0" cy="739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2" name="Line 17"/>
          <p:cNvSpPr>
            <a:spLocks noChangeShapeType="1"/>
          </p:cNvSpPr>
          <p:nvPr/>
        </p:nvSpPr>
        <p:spPr bwMode="auto">
          <a:xfrm>
            <a:off x="7748588" y="5614988"/>
            <a:ext cx="525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>
            <a:off x="7923213" y="5719763"/>
            <a:ext cx="263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>
            <a:off x="6037263" y="3924300"/>
            <a:ext cx="25860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5" name="Text Box 20"/>
          <p:cNvSpPr txBox="1">
            <a:spLocks noChangeArrowheads="1"/>
          </p:cNvSpPr>
          <p:nvPr/>
        </p:nvSpPr>
        <p:spPr bwMode="auto">
          <a:xfrm>
            <a:off x="6650038" y="1574800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 dirty="0"/>
              <a:t>+</a:t>
            </a:r>
            <a:r>
              <a:rPr lang="en-US" altLang="zh-CN" sz="2000" u="none" dirty="0" err="1"/>
              <a:t>Vcc</a:t>
            </a:r>
            <a:r>
              <a:rPr lang="en-US" altLang="zh-CN" sz="2000" u="none" dirty="0"/>
              <a:t>(+5V)</a:t>
            </a:r>
          </a:p>
        </p:txBody>
      </p:sp>
      <p:sp>
        <p:nvSpPr>
          <p:cNvPr id="14356" name="Text Box 21"/>
          <p:cNvSpPr txBox="1">
            <a:spLocks noChangeArrowheads="1"/>
          </p:cNvSpPr>
          <p:nvPr/>
        </p:nvSpPr>
        <p:spPr bwMode="auto">
          <a:xfrm>
            <a:off x="6102350" y="1574800"/>
            <a:ext cx="908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电源</a:t>
            </a:r>
          </a:p>
        </p:txBody>
      </p:sp>
      <p:sp>
        <p:nvSpPr>
          <p:cNvPr id="14357" name="Text Box 22"/>
          <p:cNvSpPr txBox="1">
            <a:spLocks noChangeArrowheads="1"/>
          </p:cNvSpPr>
          <p:nvPr/>
        </p:nvSpPr>
        <p:spPr bwMode="auto">
          <a:xfrm>
            <a:off x="4800600" y="4175125"/>
            <a:ext cx="105886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输入</a:t>
            </a:r>
            <a:r>
              <a:rPr lang="en-US" altLang="zh-CN" sz="2000" u="none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358" name="Text Box 23"/>
          <p:cNvSpPr txBox="1">
            <a:spLocks noChangeArrowheads="1"/>
          </p:cNvSpPr>
          <p:nvPr/>
        </p:nvSpPr>
        <p:spPr bwMode="auto">
          <a:xfrm>
            <a:off x="7923213" y="3265488"/>
            <a:ext cx="9159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4359" name="Text Box 24"/>
          <p:cNvSpPr txBox="1">
            <a:spLocks noChangeArrowheads="1"/>
          </p:cNvSpPr>
          <p:nvPr/>
        </p:nvSpPr>
        <p:spPr bwMode="auto">
          <a:xfrm>
            <a:off x="5646738" y="5715000"/>
            <a:ext cx="982662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14360" name="Text Box 25"/>
          <p:cNvSpPr txBox="1">
            <a:spLocks noChangeArrowheads="1"/>
          </p:cNvSpPr>
          <p:nvPr/>
        </p:nvSpPr>
        <p:spPr bwMode="auto">
          <a:xfrm>
            <a:off x="7661275" y="5715000"/>
            <a:ext cx="949325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14361" name="Text Box 26"/>
          <p:cNvSpPr txBox="1">
            <a:spLocks noChangeArrowheads="1"/>
          </p:cNvSpPr>
          <p:nvPr/>
        </p:nvSpPr>
        <p:spPr bwMode="auto">
          <a:xfrm>
            <a:off x="6705600" y="4572000"/>
            <a:ext cx="111125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输入</a:t>
            </a:r>
            <a:r>
              <a:rPr lang="en-US" altLang="zh-CN" sz="2000" u="none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49563" name="Line 27"/>
          <p:cNvSpPr>
            <a:spLocks noChangeShapeType="1"/>
          </p:cNvSpPr>
          <p:nvPr/>
        </p:nvSpPr>
        <p:spPr bwMode="auto">
          <a:xfrm>
            <a:off x="6213475" y="4135438"/>
            <a:ext cx="0" cy="1373187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4" name="Line 28"/>
          <p:cNvSpPr>
            <a:spLocks noChangeShapeType="1"/>
          </p:cNvSpPr>
          <p:nvPr/>
        </p:nvSpPr>
        <p:spPr bwMode="auto">
          <a:xfrm>
            <a:off x="7175500" y="2128838"/>
            <a:ext cx="0" cy="147796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5" name="Line 29"/>
          <p:cNvSpPr>
            <a:spLocks noChangeShapeType="1"/>
          </p:cNvSpPr>
          <p:nvPr/>
        </p:nvSpPr>
        <p:spPr bwMode="auto">
          <a:xfrm>
            <a:off x="7175500" y="3606800"/>
            <a:ext cx="78898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5" name="Line 30"/>
          <p:cNvSpPr>
            <a:spLocks noChangeShapeType="1"/>
          </p:cNvSpPr>
          <p:nvPr/>
        </p:nvSpPr>
        <p:spPr bwMode="auto">
          <a:xfrm>
            <a:off x="6037263" y="3924300"/>
            <a:ext cx="0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6" name="Line 31"/>
          <p:cNvSpPr>
            <a:spLocks noChangeShapeType="1"/>
          </p:cNvSpPr>
          <p:nvPr/>
        </p:nvSpPr>
        <p:spPr bwMode="auto">
          <a:xfrm>
            <a:off x="7964488" y="3924300"/>
            <a:ext cx="0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8" name="Line 32"/>
          <p:cNvSpPr>
            <a:spLocks noChangeShapeType="1"/>
          </p:cNvSpPr>
          <p:nvPr/>
        </p:nvSpPr>
        <p:spPr bwMode="auto">
          <a:xfrm>
            <a:off x="6213475" y="4135438"/>
            <a:ext cx="261938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9" name="Line 33"/>
          <p:cNvSpPr>
            <a:spLocks noChangeShapeType="1"/>
          </p:cNvSpPr>
          <p:nvPr/>
        </p:nvSpPr>
        <p:spPr bwMode="auto">
          <a:xfrm>
            <a:off x="6475413" y="2128838"/>
            <a:ext cx="0" cy="200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0" name="Line 34"/>
          <p:cNvSpPr>
            <a:spLocks noChangeShapeType="1"/>
          </p:cNvSpPr>
          <p:nvPr/>
        </p:nvSpPr>
        <p:spPr bwMode="auto">
          <a:xfrm>
            <a:off x="7000875" y="2128838"/>
            <a:ext cx="0" cy="200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1" name="Line 35"/>
          <p:cNvSpPr>
            <a:spLocks noChangeShapeType="1"/>
          </p:cNvSpPr>
          <p:nvPr/>
        </p:nvSpPr>
        <p:spPr bwMode="auto">
          <a:xfrm>
            <a:off x="7000875" y="4135438"/>
            <a:ext cx="12255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2" name="Line 36"/>
          <p:cNvSpPr>
            <a:spLocks noChangeShapeType="1"/>
          </p:cNvSpPr>
          <p:nvPr/>
        </p:nvSpPr>
        <p:spPr bwMode="auto">
          <a:xfrm>
            <a:off x="8226425" y="4135438"/>
            <a:ext cx="0" cy="1373187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2" name="Line 37"/>
          <p:cNvSpPr>
            <a:spLocks noChangeShapeType="1"/>
          </p:cNvSpPr>
          <p:nvPr/>
        </p:nvSpPr>
        <p:spPr bwMode="auto">
          <a:xfrm>
            <a:off x="6737350" y="2128838"/>
            <a:ext cx="0" cy="1689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3" name="Rectangle 38"/>
          <p:cNvSpPr>
            <a:spLocks noChangeArrowheads="1"/>
          </p:cNvSpPr>
          <p:nvPr/>
        </p:nvSpPr>
        <p:spPr bwMode="auto">
          <a:xfrm>
            <a:off x="6650038" y="2339975"/>
            <a:ext cx="176212" cy="105568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4" name="Text Box 39"/>
          <p:cNvSpPr txBox="1">
            <a:spLocks noChangeArrowheads="1"/>
          </p:cNvSpPr>
          <p:nvPr/>
        </p:nvSpPr>
        <p:spPr bwMode="auto">
          <a:xfrm>
            <a:off x="611560" y="1916832"/>
            <a:ext cx="39941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或非门：</a:t>
            </a:r>
            <a:r>
              <a:rPr lang="en-US" altLang="zh-CN" sz="2000" u="none" dirty="0">
                <a:solidFill>
                  <a:srgbClr val="FF0000"/>
                </a:solidFill>
              </a:rPr>
              <a:t>A+B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>
                <a:solidFill>
                  <a:srgbClr val="0000FF"/>
                </a:solidFill>
              </a:rPr>
              <a:t>输入 </a:t>
            </a:r>
            <a:r>
              <a:rPr lang="en-US" altLang="zh-CN" sz="2000" u="none" dirty="0">
                <a:solidFill>
                  <a:srgbClr val="0000FF"/>
                </a:solidFill>
              </a:rPr>
              <a:t>A B      </a:t>
            </a:r>
            <a:r>
              <a:rPr lang="zh-CN" altLang="en-US" sz="2000" u="none" dirty="0">
                <a:solidFill>
                  <a:srgbClr val="0000FF"/>
                </a:solidFill>
              </a:rPr>
              <a:t>输出 </a:t>
            </a:r>
          </a:p>
          <a:p>
            <a:r>
              <a:rPr lang="zh-CN" altLang="en-US" sz="2000" u="none" dirty="0"/>
              <a:t>        </a:t>
            </a:r>
            <a:r>
              <a:rPr lang="en-US" altLang="zh-CN" sz="2000" u="none" dirty="0"/>
              <a:t>0  0         1</a:t>
            </a:r>
          </a:p>
          <a:p>
            <a:r>
              <a:rPr lang="en-US" altLang="zh-CN" sz="2000" u="none" dirty="0"/>
              <a:t>        0  1         0</a:t>
            </a:r>
          </a:p>
          <a:p>
            <a:r>
              <a:rPr lang="en-US" altLang="zh-CN" sz="2000" u="none" dirty="0"/>
              <a:t>        1  0         0</a:t>
            </a:r>
          </a:p>
          <a:p>
            <a:r>
              <a:rPr lang="en-US" altLang="zh-CN" sz="2000" u="none" dirty="0"/>
              <a:t>        1  1         0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/>
              <a:t>任何一路输入为高，输出都为低。</a:t>
            </a:r>
          </a:p>
        </p:txBody>
      </p:sp>
      <p:sp>
        <p:nvSpPr>
          <p:cNvPr id="14375" name="Text Box 40"/>
          <p:cNvSpPr txBox="1">
            <a:spLocks noChangeArrowheads="1"/>
          </p:cNvSpPr>
          <p:nvPr/>
        </p:nvSpPr>
        <p:spPr bwMode="auto">
          <a:xfrm>
            <a:off x="611560" y="4941168"/>
            <a:ext cx="3962400" cy="1320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在此基础上，可以制作并使用不带反相功能的</a:t>
            </a:r>
            <a:r>
              <a:rPr lang="zh-CN" altLang="en-US" sz="2000" u="none" dirty="0">
                <a:solidFill>
                  <a:srgbClr val="0000FF"/>
                </a:solidFill>
              </a:rPr>
              <a:t>与门</a:t>
            </a:r>
            <a:r>
              <a:rPr lang="zh-CN" altLang="en-US" sz="2000" u="none" dirty="0"/>
              <a:t>和</a:t>
            </a:r>
            <a:r>
              <a:rPr lang="zh-CN" altLang="en-US" sz="2000" u="none" dirty="0">
                <a:solidFill>
                  <a:srgbClr val="0000FF"/>
                </a:solidFill>
              </a:rPr>
              <a:t>或门</a:t>
            </a:r>
            <a:r>
              <a:rPr lang="zh-CN" altLang="en-US" sz="2000" u="none" dirty="0"/>
              <a:t>电路。</a:t>
            </a:r>
          </a:p>
          <a:p>
            <a:r>
              <a:rPr lang="zh-CN" altLang="en-US" sz="2000" u="none" dirty="0"/>
              <a:t>与非门、或非门的输入控制端也都可以多于两个。</a:t>
            </a:r>
            <a:endParaRPr lang="zh-CN" altLang="en-US" sz="2000" b="0" u="none" dirty="0"/>
          </a:p>
        </p:txBody>
      </p:sp>
      <p:sp>
        <p:nvSpPr>
          <p:cNvPr id="14377" name="Text Box 43"/>
          <p:cNvSpPr txBox="1">
            <a:spLocks noChangeArrowheads="1"/>
          </p:cNvSpPr>
          <p:nvPr/>
        </p:nvSpPr>
        <p:spPr bwMode="auto">
          <a:xfrm>
            <a:off x="467544" y="1484784"/>
            <a:ext cx="43924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b="1" dirty="0" smtClean="0">
                <a:latin typeface="Times New Roman" pitchFamily="18" charset="0"/>
              </a:rPr>
              <a:t>用两个三极管实现的</a:t>
            </a:r>
            <a:r>
              <a:rPr lang="zh-CN" altLang="en-US" sz="2000" b="1" u="none" dirty="0" smtClean="0">
                <a:solidFill>
                  <a:srgbClr val="FF0000"/>
                </a:solidFill>
                <a:latin typeface="Times New Roman" pitchFamily="18" charset="0"/>
              </a:rPr>
              <a:t>或非门</a:t>
            </a:r>
            <a:endParaRPr lang="zh-CN" altLang="en-US" sz="20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4378" name="Line 44"/>
          <p:cNvSpPr>
            <a:spLocks noChangeShapeType="1"/>
          </p:cNvSpPr>
          <p:nvPr/>
        </p:nvSpPr>
        <p:spPr bwMode="auto">
          <a:xfrm>
            <a:off x="1691680" y="1988840"/>
            <a:ext cx="576064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9" name="Text Box 45"/>
          <p:cNvSpPr txBox="1">
            <a:spLocks noChangeArrowheads="1"/>
          </p:cNvSpPr>
          <p:nvPr/>
        </p:nvSpPr>
        <p:spPr bwMode="auto">
          <a:xfrm>
            <a:off x="5724128" y="4365104"/>
            <a:ext cx="518091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u="none" dirty="0">
                <a:solidFill>
                  <a:schemeClr val="accent2"/>
                </a:solidFill>
              </a:rPr>
              <a:t> </a:t>
            </a:r>
            <a:r>
              <a:rPr lang="en-US" altLang="zh-CN" u="none" dirty="0" smtClean="0">
                <a:solidFill>
                  <a:srgbClr val="0000FF"/>
                </a:solidFill>
              </a:rPr>
              <a:t>T1</a:t>
            </a:r>
            <a:endParaRPr lang="en-US" altLang="zh-CN" u="none" dirty="0">
              <a:solidFill>
                <a:srgbClr val="0000FF"/>
              </a:solidFill>
            </a:endParaRPr>
          </a:p>
        </p:txBody>
      </p:sp>
      <p:sp>
        <p:nvSpPr>
          <p:cNvPr id="14380" name="Text Box 46"/>
          <p:cNvSpPr txBox="1">
            <a:spLocks noChangeArrowheads="1"/>
          </p:cNvSpPr>
          <p:nvPr/>
        </p:nvSpPr>
        <p:spPr bwMode="auto">
          <a:xfrm>
            <a:off x="7696200" y="4403725"/>
            <a:ext cx="445956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u="none" dirty="0" smtClean="0">
                <a:solidFill>
                  <a:srgbClr val="0000FF"/>
                </a:solidFill>
              </a:rPr>
              <a:t>T2</a:t>
            </a:r>
            <a:endParaRPr lang="en-US" altLang="zh-CN" u="none" dirty="0">
              <a:solidFill>
                <a:srgbClr val="0000FF"/>
              </a:solidFill>
            </a:endParaRPr>
          </a:p>
        </p:txBody>
      </p:sp>
      <p:sp>
        <p:nvSpPr>
          <p:cNvPr id="45" name="标题 1"/>
          <p:cNvSpPr txBox="1">
            <a:spLocks/>
          </p:cNvSpPr>
          <p:nvPr/>
        </p:nvSpPr>
        <p:spPr>
          <a:xfrm>
            <a:off x="1259632" y="692696"/>
            <a:ext cx="7685533" cy="5669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基本逻辑门电路：分立元件门电路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63" grpId="0" animBg="1"/>
      <p:bldP spid="449564" grpId="0" animBg="1"/>
      <p:bldP spid="449565" grpId="0" animBg="1"/>
      <p:bldP spid="449568" grpId="0" animBg="1"/>
      <p:bldP spid="449569" grpId="0" animBg="1"/>
      <p:bldP spid="449570" grpId="0" animBg="1"/>
      <p:bldP spid="449571" grpId="0" animBg="1"/>
      <p:bldP spid="44957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zh-CN" altLang="en-US" sz="2800" dirty="0" smtClean="0">
                <a:solidFill>
                  <a:srgbClr val="FF0000"/>
                </a:solidFill>
              </a:rPr>
              <a:t>分立元件</a:t>
            </a:r>
            <a:r>
              <a:rPr lang="zh-CN" altLang="en-US" sz="2800" dirty="0" smtClean="0"/>
              <a:t>构成的基本门电路，虽然在功能上可以实现正确的逻辑运算，但是其</a:t>
            </a:r>
            <a:r>
              <a:rPr lang="zh-CN" altLang="en-US" sz="2800" dirty="0" smtClean="0">
                <a:solidFill>
                  <a:srgbClr val="0000CC"/>
                </a:solidFill>
              </a:rPr>
              <a:t>电气性能不如集成电路</a:t>
            </a:r>
            <a:r>
              <a:rPr lang="zh-CN" altLang="en-US" sz="2800" dirty="0" smtClean="0"/>
              <a:t>构成的门电路，而且抗干扰能力和负载能力均不足。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集成电路几乎全部取代了分立元件电路。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 </a:t>
            </a:r>
            <a:r>
              <a:rPr lang="zh-CN" altLang="en-US" sz="2800" dirty="0"/>
              <a:t>数字集成电路按</a:t>
            </a:r>
            <a:r>
              <a:rPr lang="zh-CN" altLang="en-US" sz="2800" dirty="0">
                <a:solidFill>
                  <a:srgbClr val="FF0000"/>
                </a:solidFill>
              </a:rPr>
              <a:t>输出结构</a:t>
            </a:r>
            <a:r>
              <a:rPr lang="zh-CN" altLang="en-US" sz="2800" dirty="0"/>
              <a:t>分可分为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>
                <a:solidFill>
                  <a:srgbClr val="0000CC"/>
                </a:solidFill>
              </a:rPr>
              <a:t>推</a:t>
            </a:r>
            <a:r>
              <a:rPr lang="zh-CN" altLang="en-US" sz="2400" dirty="0">
                <a:solidFill>
                  <a:srgbClr val="0000CC"/>
                </a:solidFill>
              </a:rPr>
              <a:t>拉式输出</a:t>
            </a:r>
            <a:r>
              <a:rPr lang="zh-CN" altLang="en-US" sz="2400" dirty="0"/>
              <a:t>或</a:t>
            </a:r>
            <a:r>
              <a:rPr lang="en-US" altLang="zh-CN" sz="2400" dirty="0">
                <a:solidFill>
                  <a:srgbClr val="0000CC"/>
                </a:solidFill>
              </a:rPr>
              <a:t>CMOS</a:t>
            </a:r>
            <a:r>
              <a:rPr lang="zh-CN" altLang="en-US" sz="2400" dirty="0">
                <a:solidFill>
                  <a:srgbClr val="0000CC"/>
                </a:solidFill>
              </a:rPr>
              <a:t>反相器</a:t>
            </a:r>
            <a:r>
              <a:rPr lang="zh-CN" altLang="en-US" sz="2400" dirty="0" smtClean="0">
                <a:solidFill>
                  <a:srgbClr val="0000CC"/>
                </a:solidFill>
              </a:rPr>
              <a:t>输出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>
                <a:solidFill>
                  <a:srgbClr val="0000CC"/>
                </a:solidFill>
              </a:rPr>
              <a:t>OC</a:t>
            </a:r>
            <a:r>
              <a:rPr lang="en-US" altLang="zh-CN" sz="2400" dirty="0" smtClean="0"/>
              <a:t>(Open Collector </a:t>
            </a:r>
            <a:r>
              <a:rPr lang="zh-CN" altLang="en-US" sz="2400" dirty="0" smtClean="0"/>
              <a:t>，集电极开路</a:t>
            </a:r>
            <a:r>
              <a:rPr lang="en-US" altLang="zh-CN" sz="2400" dirty="0" smtClean="0"/>
              <a:t>)</a:t>
            </a:r>
            <a:r>
              <a:rPr lang="zh-CN" altLang="en-US" sz="2400" dirty="0" smtClean="0">
                <a:solidFill>
                  <a:srgbClr val="0000CC"/>
                </a:solidFill>
              </a:rPr>
              <a:t>输出</a:t>
            </a:r>
            <a:r>
              <a:rPr lang="zh-CN" altLang="en-US" sz="2400" dirty="0"/>
              <a:t>或</a:t>
            </a:r>
            <a:r>
              <a:rPr lang="en-US" altLang="zh-CN" sz="2400" dirty="0" smtClean="0">
                <a:solidFill>
                  <a:srgbClr val="0000CC"/>
                </a:solidFill>
              </a:rPr>
              <a:t>OD</a:t>
            </a:r>
            <a:r>
              <a:rPr lang="en-US" altLang="zh-CN" sz="2400" dirty="0" smtClean="0"/>
              <a:t>(Open Drain </a:t>
            </a:r>
            <a:r>
              <a:rPr lang="zh-CN" altLang="en-US" sz="2400" dirty="0" smtClean="0"/>
              <a:t>，漏极开路</a:t>
            </a:r>
            <a:r>
              <a:rPr lang="en-US" altLang="zh-CN" sz="2400" dirty="0" smtClean="0"/>
              <a:t>)</a:t>
            </a:r>
            <a:r>
              <a:rPr lang="zh-CN" altLang="en-US" sz="2400" dirty="0" smtClean="0">
                <a:solidFill>
                  <a:srgbClr val="0000CC"/>
                </a:solidFill>
              </a:rPr>
              <a:t>输出</a:t>
            </a:r>
            <a:endParaRPr lang="zh-CN" altLang="en-US" sz="2400" dirty="0">
              <a:solidFill>
                <a:srgbClr val="0000CC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>
                <a:solidFill>
                  <a:srgbClr val="0000CC"/>
                </a:solidFill>
              </a:rPr>
              <a:t>三态</a:t>
            </a:r>
            <a:r>
              <a:rPr lang="zh-CN" altLang="en-US" sz="2400" dirty="0">
                <a:solidFill>
                  <a:srgbClr val="0000CC"/>
                </a:solidFill>
              </a:rPr>
              <a:t>输出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47667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35292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（一） 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集成门电路的</a:t>
            </a:r>
            <a:r>
              <a:rPr lang="zh-CN" altLang="en-US" sz="2800" dirty="0"/>
              <a:t>结构</a:t>
            </a:r>
          </a:p>
          <a:p>
            <a:pPr lvl="1">
              <a:buSzPct val="100000"/>
            </a:pPr>
            <a:r>
              <a:rPr lang="en-US" altLang="zh-CN" sz="2400" dirty="0" smtClean="0"/>
              <a:t>TTL</a:t>
            </a:r>
            <a:r>
              <a:rPr lang="zh-CN" altLang="en-US" sz="2400" dirty="0" smtClean="0"/>
              <a:t>：晶体管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晶体管逻辑电路 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Tansistor</a:t>
            </a:r>
            <a:r>
              <a:rPr lang="en-US" altLang="zh-CN" sz="2400" dirty="0" smtClean="0"/>
              <a:t>-Transistor Logic)</a:t>
            </a:r>
            <a:endParaRPr lang="zh-CN" altLang="en-US" sz="2400" dirty="0" smtClean="0"/>
          </a:p>
          <a:p>
            <a:pPr lvl="1"/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483768" y="4509120"/>
            <a:ext cx="4465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TTL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集成门电路结构图</a:t>
            </a:r>
          </a:p>
        </p:txBody>
      </p:sp>
      <p:pic>
        <p:nvPicPr>
          <p:cNvPr id="8" name="Picture 9" descr="2-4-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24944"/>
            <a:ext cx="7894637" cy="11303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64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6" y="1556792"/>
            <a:ext cx="823334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、输入级形式（一</a:t>
            </a:r>
            <a:r>
              <a:rPr lang="zh-CN" altLang="en-US" sz="2800" dirty="0" smtClean="0"/>
              <a:t>）：用二极管实现</a:t>
            </a:r>
            <a:r>
              <a:rPr lang="zh-CN" altLang="en-US" sz="2800" dirty="0" smtClean="0">
                <a:solidFill>
                  <a:srgbClr val="FF0000"/>
                </a:solidFill>
              </a:rPr>
              <a:t>实现逻辑与、或功能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pic>
        <p:nvPicPr>
          <p:cNvPr id="5" name="Picture 7" descr="2-4-3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76" y="2506199"/>
            <a:ext cx="7341140" cy="365910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187624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6" y="1484784"/>
            <a:ext cx="8305354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、输入级形式（二</a:t>
            </a:r>
            <a:r>
              <a:rPr lang="zh-CN" altLang="en-US" sz="2800" dirty="0" smtClean="0"/>
              <a:t>）：</a:t>
            </a:r>
            <a:r>
              <a:rPr lang="zh-CN" altLang="en-US" sz="2800" dirty="0" smtClean="0">
                <a:solidFill>
                  <a:srgbClr val="FF0000"/>
                </a:solidFill>
              </a:rPr>
              <a:t>得到稳定的输入信号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/>
              <a:pPr/>
              <a:t>66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547664" y="22048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单发射级输入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2765873" cy="21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971600" y="5445224"/>
            <a:ext cx="7501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钳位二极管</a:t>
            </a:r>
            <a:r>
              <a:rPr lang="en-US" altLang="zh-CN" b="1" dirty="0">
                <a:solidFill>
                  <a:srgbClr val="000000"/>
                </a:solidFill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：既抑制输入端可能出现</a:t>
            </a:r>
            <a:r>
              <a:rPr lang="zh-CN" altLang="en-US" b="1" dirty="0" smtClean="0">
                <a:solidFill>
                  <a:srgbClr val="000000"/>
                </a:solidFill>
              </a:rPr>
              <a:t>的</a:t>
            </a:r>
            <a:r>
              <a:rPr lang="zh-CN" altLang="en-US" b="1" dirty="0">
                <a:solidFill>
                  <a:srgbClr val="0000CC"/>
                </a:solidFill>
              </a:rPr>
              <a:t>负</a:t>
            </a:r>
            <a:r>
              <a:rPr lang="zh-CN" altLang="en-US" b="1" dirty="0" smtClean="0">
                <a:solidFill>
                  <a:srgbClr val="0000CC"/>
                </a:solidFill>
              </a:rPr>
              <a:t>极性</a:t>
            </a:r>
            <a:r>
              <a:rPr lang="zh-CN" altLang="en-US" b="1" dirty="0">
                <a:solidFill>
                  <a:srgbClr val="0000CC"/>
                </a:solidFill>
              </a:rPr>
              <a:t>干扰脉冲</a:t>
            </a:r>
            <a:r>
              <a:rPr lang="zh-CN" altLang="en-US" b="1" dirty="0">
                <a:solidFill>
                  <a:srgbClr val="000000"/>
                </a:solidFill>
              </a:rPr>
              <a:t>，又可以</a:t>
            </a:r>
            <a:r>
              <a:rPr lang="zh-CN" altLang="en-US" b="1" dirty="0" smtClean="0">
                <a:solidFill>
                  <a:srgbClr val="000000"/>
                </a:solidFill>
              </a:rPr>
              <a:t>防止</a:t>
            </a:r>
            <a:r>
              <a:rPr lang="zh-CN" altLang="en-US" b="1" dirty="0">
                <a:solidFill>
                  <a:srgbClr val="000000"/>
                </a:solidFill>
              </a:rPr>
              <a:t>输入电压为负时，</a:t>
            </a:r>
            <a:r>
              <a:rPr lang="en-US" altLang="zh-CN" b="1" dirty="0">
                <a:solidFill>
                  <a:srgbClr val="000000"/>
                </a:solidFill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</a:rPr>
              <a:t>T</a:t>
            </a:r>
            <a:r>
              <a:rPr lang="zh-CN" altLang="en-US" b="1" dirty="0">
                <a:solidFill>
                  <a:srgbClr val="000000"/>
                </a:solidFill>
              </a:rPr>
              <a:t>的发射极电流过大，起</a:t>
            </a:r>
            <a:r>
              <a:rPr lang="zh-CN" altLang="en-US" b="1" dirty="0">
                <a:solidFill>
                  <a:srgbClr val="0000CC"/>
                </a:solidFill>
              </a:rPr>
              <a:t>保护</a:t>
            </a:r>
            <a:r>
              <a:rPr lang="zh-CN" altLang="en-US" b="1" dirty="0">
                <a:solidFill>
                  <a:srgbClr val="000000"/>
                </a:solidFill>
              </a:rPr>
              <a:t>作用。</a:t>
            </a:r>
          </a:p>
        </p:txBody>
      </p:sp>
      <p:sp>
        <p:nvSpPr>
          <p:cNvPr id="1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4644008" y="2204864"/>
            <a:ext cx="3384376" cy="1656184"/>
          </a:xfrm>
          <a:prstGeom prst="wedgeRectCallout">
            <a:avLst>
              <a:gd name="adj1" fmla="val -88505"/>
              <a:gd name="adj2" fmla="val 8256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共基极三级管：发射极作为输入端，集电极作为输出端，基极为共用端（它可能接地，或是接到电源），即输入、输出回路共用了基极。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924944"/>
            <a:ext cx="28289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632848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、输入级形式（二</a:t>
            </a:r>
            <a:r>
              <a:rPr lang="zh-CN" altLang="en-US" sz="2800" dirty="0" smtClean="0"/>
              <a:t>）：用三极管</a:t>
            </a:r>
            <a:r>
              <a:rPr lang="zh-CN" altLang="en-US" sz="2800" dirty="0" smtClean="0">
                <a:solidFill>
                  <a:srgbClr val="FF0000"/>
                </a:solidFill>
              </a:rPr>
              <a:t>实现逻辑与功能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>
                <a:solidFill>
                  <a:srgbClr val="000000"/>
                </a:solidFill>
              </a:rPr>
              <a:pPr/>
              <a:t>67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9632" y="242088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多发射</a:t>
            </a:r>
            <a:r>
              <a:rPr lang="zh-CN" altLang="en-US" b="1" dirty="0">
                <a:solidFill>
                  <a:srgbClr val="C00000"/>
                </a:solidFill>
              </a:rPr>
              <a:t>级输入</a:t>
            </a:r>
          </a:p>
        </p:txBody>
      </p:sp>
      <p:sp>
        <p:nvSpPr>
          <p:cNvPr id="8" name="矩形 7"/>
          <p:cNvSpPr/>
          <p:nvPr/>
        </p:nvSpPr>
        <p:spPr>
          <a:xfrm>
            <a:off x="1259632" y="5589240"/>
            <a:ext cx="72728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钳位二极管</a:t>
            </a:r>
            <a:r>
              <a:rPr lang="en-US" altLang="zh-CN" b="1" dirty="0">
                <a:solidFill>
                  <a:srgbClr val="000000"/>
                </a:solidFill>
              </a:rPr>
              <a:t>VD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VD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亦起</a:t>
            </a:r>
            <a:r>
              <a:rPr lang="zh-CN" altLang="en-US" b="1" dirty="0">
                <a:solidFill>
                  <a:srgbClr val="0000CC"/>
                </a:solidFill>
              </a:rPr>
              <a:t>保护</a:t>
            </a:r>
            <a:r>
              <a:rPr lang="zh-CN" altLang="en-US" b="1" dirty="0">
                <a:solidFill>
                  <a:srgbClr val="000000"/>
                </a:solidFill>
              </a:rPr>
              <a:t>作用，且</a:t>
            </a:r>
            <a:r>
              <a:rPr lang="en-US" altLang="zh-CN" b="1" dirty="0">
                <a:solidFill>
                  <a:srgbClr val="000000"/>
                </a:solidFill>
              </a:rPr>
              <a:t>I</a:t>
            </a:r>
            <a:r>
              <a:rPr lang="en-US" altLang="zh-CN" b="1" baseline="-25000" dirty="0">
                <a:solidFill>
                  <a:srgbClr val="000000"/>
                </a:solidFill>
              </a:rPr>
              <a:t>D(max)</a:t>
            </a:r>
            <a:r>
              <a:rPr lang="en-US" altLang="zh-CN" b="1" dirty="0">
                <a:solidFill>
                  <a:srgbClr val="000000"/>
                </a:solidFill>
              </a:rPr>
              <a:t>≈20mA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1691680" y="2996952"/>
            <a:ext cx="2160240" cy="864096"/>
          </a:xfrm>
          <a:prstGeom prst="wedgeRectCallout">
            <a:avLst>
              <a:gd name="adj1" fmla="val 95941"/>
              <a:gd name="adj2" fmla="val 97339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具有两个发射极的共基极三级管。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560840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68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2164214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）单变量分相</a:t>
            </a:r>
            <a:r>
              <a:rPr lang="zh-CN" altLang="en-US" sz="2400" b="1" dirty="0" smtClean="0"/>
              <a:t>器 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4427984" y="3140968"/>
            <a:ext cx="1728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表</a:t>
            </a:r>
            <a:r>
              <a:rPr lang="en-US" altLang="zh-CN" sz="2000" b="1" dirty="0" smtClean="0"/>
              <a:t>  </a:t>
            </a:r>
            <a:r>
              <a:rPr lang="zh-CN" altLang="en-US" sz="2000" b="1" dirty="0"/>
              <a:t>逻辑电平</a:t>
            </a:r>
          </a:p>
        </p:txBody>
      </p:sp>
      <p:sp>
        <p:nvSpPr>
          <p:cNvPr id="9" name="矩形 8"/>
          <p:cNvSpPr/>
          <p:nvPr/>
        </p:nvSpPr>
        <p:spPr>
          <a:xfrm>
            <a:off x="6876256" y="3068960"/>
            <a:ext cx="1347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789040"/>
            <a:ext cx="1440160" cy="124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89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2780928"/>
            <a:ext cx="28289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9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3573016"/>
            <a:ext cx="254317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标注 11"/>
          <p:cNvSpPr/>
          <p:nvPr/>
        </p:nvSpPr>
        <p:spPr>
          <a:xfrm>
            <a:off x="4355976" y="5445224"/>
            <a:ext cx="1728192" cy="707886"/>
          </a:xfrm>
          <a:prstGeom prst="wedgeRectCallout">
            <a:avLst>
              <a:gd name="adj1" fmla="val 10638"/>
              <a:gd name="adj2" fmla="val -1162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1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=2.6+0.3=2.6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284984"/>
            <a:ext cx="25908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69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2132856"/>
            <a:ext cx="8532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）两个变量之或的分相</a:t>
            </a:r>
            <a:r>
              <a:rPr lang="zh-CN" altLang="en-US" sz="2400" b="1" dirty="0" smtClean="0"/>
              <a:t>器 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716016" y="2780928"/>
            <a:ext cx="2088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表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逻辑</a:t>
            </a:r>
            <a:r>
              <a:rPr lang="zh-CN" altLang="en-US" sz="2000" b="1" dirty="0"/>
              <a:t>电平</a:t>
            </a:r>
            <a:r>
              <a:rPr lang="en-US" altLang="zh-CN" sz="2000" b="1" dirty="0"/>
              <a:t>(V)</a:t>
            </a:r>
          </a:p>
        </p:txBody>
      </p:sp>
      <p:sp>
        <p:nvSpPr>
          <p:cNvPr id="9" name="矩形 8"/>
          <p:cNvSpPr/>
          <p:nvPr/>
        </p:nvSpPr>
        <p:spPr>
          <a:xfrm>
            <a:off x="7308304" y="3501008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4077072"/>
            <a:ext cx="1333291" cy="898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796136" y="4293096"/>
            <a:ext cx="576064" cy="144015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201" y="4293096"/>
            <a:ext cx="576064" cy="144015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587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212976"/>
            <a:ext cx="3528392" cy="256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标注 13"/>
          <p:cNvSpPr/>
          <p:nvPr/>
        </p:nvSpPr>
        <p:spPr>
          <a:xfrm>
            <a:off x="5292080" y="6237312"/>
            <a:ext cx="914400" cy="612648"/>
          </a:xfrm>
          <a:prstGeom prst="wedgeRectCallout">
            <a:avLst>
              <a:gd name="adj1" fmla="val 44792"/>
              <a:gd name="adj2" fmla="val -152052"/>
            </a:avLst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5004048" y="6094457"/>
            <a:ext cx="1728192" cy="707886"/>
          </a:xfrm>
          <a:prstGeom prst="wedgeRectCallout">
            <a:avLst>
              <a:gd name="adj1" fmla="val 10638"/>
              <a:gd name="adj2" fmla="val -1162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1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=2.6+0.3=2.6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70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9552" y="2132856"/>
            <a:ext cx="8424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）多个</a:t>
            </a:r>
            <a:r>
              <a:rPr lang="zh-CN" altLang="en-US" sz="2400" b="1" dirty="0"/>
              <a:t>变量之或的分相</a:t>
            </a:r>
            <a:r>
              <a:rPr lang="zh-CN" altLang="en-US" sz="2400" b="1" dirty="0" smtClean="0"/>
              <a:t>器：同时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endParaRPr lang="zh-CN" altLang="en-US" sz="2400" b="1" dirty="0"/>
          </a:p>
        </p:txBody>
      </p:sp>
      <p:pic>
        <p:nvPicPr>
          <p:cNvPr id="35843" name="Picture 3" descr="E:\wrj\课件\数字电路与系统\数字电路与数字系统\tupian\2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96952"/>
            <a:ext cx="3073400" cy="2235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78" y="3630190"/>
            <a:ext cx="3065539" cy="9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5940152" y="2996952"/>
            <a:ext cx="12161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564904"/>
            <a:ext cx="23145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87624" y="2060848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）图腾柱</a:t>
            </a:r>
            <a:r>
              <a:rPr lang="zh-CN" altLang="en-US" sz="2400" b="1" dirty="0" smtClean="0"/>
              <a:t>输出电路（又称推挽电路、推拉电路）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355976" y="2996952"/>
            <a:ext cx="4572000" cy="258532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en-US" altLang="zh-CN" b="1" dirty="0"/>
              <a:t>VT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VT</a:t>
            </a:r>
            <a:r>
              <a:rPr lang="en-US" altLang="zh-CN" b="1" baseline="-25000" dirty="0"/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总是一管</a:t>
            </a:r>
            <a:r>
              <a:rPr lang="zh-CN" altLang="en-US" b="1" dirty="0" smtClean="0">
                <a:solidFill>
                  <a:srgbClr val="FF0000"/>
                </a:solidFill>
              </a:rPr>
              <a:t>导通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另一管截止</a:t>
            </a:r>
            <a:r>
              <a:rPr lang="zh-CN" altLang="en-US" b="1" dirty="0"/>
              <a:t>，所以</a:t>
            </a:r>
            <a:r>
              <a:rPr lang="zh-CN" altLang="en-US" b="1" dirty="0" smtClean="0">
                <a:solidFill>
                  <a:srgbClr val="0000CC"/>
                </a:solidFill>
              </a:rPr>
              <a:t>静态</a:t>
            </a:r>
            <a:r>
              <a:rPr lang="zh-CN" altLang="en-US" b="1" dirty="0">
                <a:solidFill>
                  <a:srgbClr val="0000CC"/>
                </a:solidFill>
              </a:rPr>
              <a:t>功耗较低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输出电阻</a:t>
            </a:r>
            <a:r>
              <a:rPr lang="zh-CN" altLang="en-US" b="1" dirty="0"/>
              <a:t>很</a:t>
            </a:r>
            <a:r>
              <a:rPr lang="zh-CN" altLang="en-US" b="1" dirty="0">
                <a:solidFill>
                  <a:srgbClr val="0000CC"/>
                </a:solidFill>
              </a:rPr>
              <a:t>低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高低电平</a:t>
            </a:r>
            <a:r>
              <a:rPr lang="zh-CN" altLang="en-US" b="1" dirty="0">
                <a:solidFill>
                  <a:srgbClr val="0000CC"/>
                </a:solidFill>
              </a:rPr>
              <a:t>固定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比较</a:t>
            </a:r>
            <a:r>
              <a:rPr lang="zh-CN" altLang="en-US" b="1" dirty="0">
                <a:solidFill>
                  <a:srgbClr val="0000CC"/>
                </a:solidFill>
              </a:rPr>
              <a:t>常用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驱动</a:t>
            </a:r>
            <a:r>
              <a:rPr lang="zh-CN" altLang="en-US" b="1" dirty="0"/>
              <a:t>能力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较弱</a:t>
            </a:r>
            <a:r>
              <a:rPr lang="zh-CN" altLang="en-US" b="1" dirty="0"/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5436096" y="2564904"/>
            <a:ext cx="12640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3347864" y="5842337"/>
            <a:ext cx="3672408" cy="1015663"/>
          </a:xfrm>
          <a:prstGeom prst="wedgeRectCallout">
            <a:avLst>
              <a:gd name="adj1" fmla="val -57609"/>
              <a:gd name="adj2" fmla="val -75483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据说由于此结构画出的电路图有点儿象印第安人的图腾柱，所以叫图腾柱式输出。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174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4475" y="0"/>
            <a:ext cx="2049525" cy="2060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43608" y="2112561"/>
            <a:ext cx="5442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集电极开路（</a:t>
            </a:r>
            <a:r>
              <a:rPr lang="en-US" altLang="zh-CN" sz="2400" b="1" dirty="0"/>
              <a:t>OC</a:t>
            </a:r>
            <a:r>
              <a:rPr lang="zh-CN" altLang="en-US" sz="2400" b="1" dirty="0"/>
              <a:t>）门输出电路</a:t>
            </a:r>
          </a:p>
        </p:txBody>
      </p:sp>
      <p:sp>
        <p:nvSpPr>
          <p:cNvPr id="4" name="矩形 3"/>
          <p:cNvSpPr/>
          <p:nvPr/>
        </p:nvSpPr>
        <p:spPr>
          <a:xfrm>
            <a:off x="4354654" y="3140968"/>
            <a:ext cx="3601722" cy="258532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/>
              <a:t>需</a:t>
            </a:r>
            <a:r>
              <a:rPr lang="zh-CN" altLang="en-US" b="1" dirty="0">
                <a:solidFill>
                  <a:srgbClr val="0000CC"/>
                </a:solidFill>
              </a:rPr>
              <a:t>外接电源和限流</a:t>
            </a:r>
            <a:r>
              <a:rPr lang="zh-CN" altLang="en-US" b="1" dirty="0" smtClean="0">
                <a:solidFill>
                  <a:srgbClr val="0000CC"/>
                </a:solidFill>
              </a:rPr>
              <a:t>电阻</a:t>
            </a:r>
            <a:r>
              <a:rPr lang="zh-CN" altLang="en-US" b="1" dirty="0"/>
              <a:t>才能正常工作。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电平</a:t>
            </a:r>
            <a:r>
              <a:rPr lang="zh-CN" altLang="en-US" b="1" dirty="0">
                <a:solidFill>
                  <a:srgbClr val="0000CC"/>
                </a:solidFill>
              </a:rPr>
              <a:t>可变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端可直接并联</a:t>
            </a:r>
            <a:r>
              <a:rPr lang="zh-CN" altLang="en-US" b="1" dirty="0" smtClean="0"/>
              <a:t>使用</a:t>
            </a:r>
            <a:r>
              <a:rPr lang="zh-CN" altLang="en-US" b="1" dirty="0"/>
              <a:t>，进行“</a:t>
            </a:r>
            <a:r>
              <a:rPr lang="zh-CN" altLang="en-US" b="1" dirty="0">
                <a:solidFill>
                  <a:srgbClr val="0000CC"/>
                </a:solidFill>
              </a:rPr>
              <a:t>线与</a:t>
            </a:r>
            <a:r>
              <a:rPr lang="zh-CN" altLang="en-US" b="1" dirty="0"/>
              <a:t>”；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可</a:t>
            </a:r>
            <a:r>
              <a:rPr lang="zh-CN" altLang="en-US" b="1" dirty="0"/>
              <a:t>实现</a:t>
            </a:r>
            <a:r>
              <a:rPr lang="zh-CN" altLang="en-US" b="1" dirty="0">
                <a:solidFill>
                  <a:srgbClr val="0000CC"/>
                </a:solidFill>
              </a:rPr>
              <a:t>高电压、大</a:t>
            </a:r>
            <a:r>
              <a:rPr lang="zh-CN" altLang="en-US" b="1" dirty="0" smtClean="0">
                <a:solidFill>
                  <a:srgbClr val="0000CC"/>
                </a:solidFill>
              </a:rPr>
              <a:t>电流</a:t>
            </a:r>
            <a:r>
              <a:rPr lang="zh-CN" altLang="en-US" b="1" dirty="0"/>
              <a:t>驱动。</a:t>
            </a:r>
          </a:p>
        </p:txBody>
      </p:sp>
      <p:sp>
        <p:nvSpPr>
          <p:cNvPr id="10" name="矩形 9"/>
          <p:cNvSpPr/>
          <p:nvPr/>
        </p:nvSpPr>
        <p:spPr>
          <a:xfrm>
            <a:off x="5292080" y="2636912"/>
            <a:ext cx="1408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068960"/>
            <a:ext cx="25717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15616" y="2132856"/>
            <a:ext cx="41681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三态（</a:t>
            </a:r>
            <a:r>
              <a:rPr lang="en-US" altLang="zh-CN" sz="2400" b="1" dirty="0"/>
              <a:t>TS</a:t>
            </a:r>
            <a:r>
              <a:rPr lang="zh-CN" altLang="en-US" sz="2400" b="1" dirty="0"/>
              <a:t>）门输出电路</a:t>
            </a:r>
          </a:p>
        </p:txBody>
      </p:sp>
      <p:sp>
        <p:nvSpPr>
          <p:cNvPr id="4" name="矩形 3"/>
          <p:cNvSpPr/>
          <p:nvPr/>
        </p:nvSpPr>
        <p:spPr>
          <a:xfrm>
            <a:off x="4860032" y="3284984"/>
            <a:ext cx="3601722" cy="300082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/>
              <a:t>具有</a:t>
            </a:r>
            <a:r>
              <a:rPr lang="zh-CN" altLang="en-US" b="1" dirty="0">
                <a:solidFill>
                  <a:srgbClr val="0000CC"/>
                </a:solidFill>
              </a:rPr>
              <a:t>控制</a:t>
            </a:r>
            <a:r>
              <a:rPr lang="en-US" altLang="zh-CN" b="1" dirty="0">
                <a:solidFill>
                  <a:srgbClr val="0000CC"/>
                </a:solidFill>
              </a:rPr>
              <a:t>VT</a:t>
            </a:r>
            <a:r>
              <a:rPr lang="en-US" altLang="zh-CN" b="1" baseline="-25000" dirty="0">
                <a:solidFill>
                  <a:srgbClr val="0000CC"/>
                </a:solidFill>
              </a:rPr>
              <a:t>1</a:t>
            </a:r>
            <a:r>
              <a:rPr lang="zh-CN" altLang="en-US" b="1" dirty="0">
                <a:solidFill>
                  <a:srgbClr val="0000CC"/>
                </a:solidFill>
              </a:rPr>
              <a:t>、</a:t>
            </a:r>
            <a:r>
              <a:rPr lang="en-US" altLang="zh-CN" b="1" dirty="0">
                <a:solidFill>
                  <a:srgbClr val="0000CC"/>
                </a:solidFill>
              </a:rPr>
              <a:t>VT</a:t>
            </a:r>
            <a:r>
              <a:rPr lang="en-US" altLang="zh-CN" b="1" baseline="-25000" dirty="0">
                <a:solidFill>
                  <a:srgbClr val="0000CC"/>
                </a:solidFill>
              </a:rPr>
              <a:t>2</a:t>
            </a:r>
            <a:r>
              <a:rPr lang="zh-CN" altLang="en-US" b="1" dirty="0" smtClean="0">
                <a:solidFill>
                  <a:srgbClr val="0000CC"/>
                </a:solidFill>
              </a:rPr>
              <a:t>均截止</a:t>
            </a:r>
            <a:r>
              <a:rPr lang="zh-CN" altLang="en-US" b="1" dirty="0">
                <a:solidFill>
                  <a:srgbClr val="0000CC"/>
                </a:solidFill>
              </a:rPr>
              <a:t>的电路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当</a:t>
            </a:r>
            <a:r>
              <a:rPr lang="zh-CN" altLang="en-US" b="1" dirty="0"/>
              <a:t>控制有效时，使</a:t>
            </a:r>
            <a:r>
              <a:rPr lang="zh-CN" altLang="en-US" b="1" dirty="0" smtClean="0"/>
              <a:t>输出</a:t>
            </a:r>
            <a:r>
              <a:rPr lang="zh-CN" altLang="en-US" b="1" dirty="0"/>
              <a:t>端</a:t>
            </a:r>
            <a:r>
              <a:rPr lang="en-US" altLang="zh-CN" b="1" dirty="0"/>
              <a:t>F</a:t>
            </a:r>
            <a:r>
              <a:rPr lang="zh-CN" altLang="en-US" b="1" dirty="0"/>
              <a:t>呈现</a:t>
            </a:r>
            <a:r>
              <a:rPr lang="zh-CN" altLang="en-US" b="1" dirty="0">
                <a:solidFill>
                  <a:srgbClr val="0000CC"/>
                </a:solidFill>
              </a:rPr>
              <a:t>高阻态</a:t>
            </a:r>
            <a:r>
              <a:rPr lang="en-US" altLang="zh-CN" b="1" dirty="0">
                <a:solidFill>
                  <a:srgbClr val="0000CC"/>
                </a:solidFill>
              </a:rPr>
              <a:t>(Z)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当</a:t>
            </a:r>
            <a:r>
              <a:rPr lang="zh-CN" altLang="en-US" b="1" dirty="0"/>
              <a:t>控制无效时，按</a:t>
            </a:r>
            <a:r>
              <a:rPr lang="zh-CN" altLang="en-US" b="1" dirty="0" smtClean="0"/>
              <a:t>逻辑</a:t>
            </a:r>
            <a:r>
              <a:rPr lang="zh-CN" altLang="en-US" b="1" dirty="0"/>
              <a:t>门正常功能输出</a:t>
            </a:r>
            <a:r>
              <a:rPr lang="en-US" altLang="zh-CN" b="1" dirty="0">
                <a:solidFill>
                  <a:srgbClr val="0000CC"/>
                </a:solidFill>
              </a:rPr>
              <a:t>0</a:t>
            </a:r>
            <a:r>
              <a:rPr lang="zh-CN" altLang="en-US" b="1" dirty="0">
                <a:solidFill>
                  <a:srgbClr val="0000CC"/>
                </a:solidFill>
              </a:rPr>
              <a:t>、</a:t>
            </a:r>
            <a:r>
              <a:rPr lang="en-US" altLang="zh-CN" b="1" dirty="0">
                <a:solidFill>
                  <a:srgbClr val="0000CC"/>
                </a:solidFill>
              </a:rPr>
              <a:t>1</a:t>
            </a:r>
            <a:r>
              <a:rPr lang="zh-CN" altLang="en-US" b="1" dirty="0" smtClean="0">
                <a:solidFill>
                  <a:srgbClr val="0000CC"/>
                </a:solidFill>
              </a:rPr>
              <a:t>状态</a:t>
            </a:r>
            <a:r>
              <a:rPr lang="zh-CN" altLang="en-US" b="1" dirty="0"/>
              <a:t>，即有“三态”</a:t>
            </a:r>
          </a:p>
        </p:txBody>
      </p:sp>
      <p:sp>
        <p:nvSpPr>
          <p:cNvPr id="10" name="矩形 9"/>
          <p:cNvSpPr/>
          <p:nvPr/>
        </p:nvSpPr>
        <p:spPr>
          <a:xfrm>
            <a:off x="4788024" y="2708920"/>
            <a:ext cx="13361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636912"/>
            <a:ext cx="3088941" cy="362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圆角矩形标注 11"/>
          <p:cNvSpPr/>
          <p:nvPr/>
        </p:nvSpPr>
        <p:spPr>
          <a:xfrm>
            <a:off x="3762348" y="1641779"/>
            <a:ext cx="2101663" cy="442674"/>
          </a:xfrm>
          <a:prstGeom prst="wedgeRoundRectCallout">
            <a:avLst>
              <a:gd name="adj1" fmla="val -78257"/>
              <a:gd name="adj2" fmla="val 70386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Three State  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120680" cy="39235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628800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（二）   </a:t>
            </a:r>
            <a:r>
              <a:rPr lang="en-US" altLang="zh-CN" sz="2800" dirty="0"/>
              <a:t>TTL</a:t>
            </a:r>
            <a:r>
              <a:rPr lang="zh-CN" altLang="en-US" sz="2800" dirty="0"/>
              <a:t>反相器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74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91880" y="4052507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 smtClean="0">
                <a:solidFill>
                  <a:srgbClr val="CC3300"/>
                </a:solidFill>
              </a:rPr>
              <a:t>A</a:t>
            </a:r>
            <a:endParaRPr lang="zh-CN" altLang="en-US" sz="1600" b="1" i="1" dirty="0">
              <a:solidFill>
                <a:srgbClr val="CC33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88024" y="4581128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 smtClean="0">
                <a:solidFill>
                  <a:srgbClr val="CC3300"/>
                </a:solidFill>
              </a:rPr>
              <a:t>A</a:t>
            </a:r>
            <a:endParaRPr lang="zh-CN" altLang="en-US" sz="1600" b="1" i="1" dirty="0">
              <a:solidFill>
                <a:srgbClr val="CC3300"/>
              </a:solidFill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374322" y="4221088"/>
                <a:ext cx="4299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dirty="0" smtClean="0">
                              <a:solidFill>
                                <a:srgbClr val="CC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dirty="0" smtClean="0">
                              <a:solidFill>
                                <a:srgbClr val="CC3300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zh-CN" altLang="en-US" sz="2000" b="1" dirty="0">
                  <a:solidFill>
                    <a:srgbClr val="CC330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322" y="4221088"/>
                <a:ext cx="429926" cy="40011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951582" y="26369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电路结构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195638" y="3113434"/>
            <a:ext cx="1832745" cy="442674"/>
          </a:xfrm>
          <a:prstGeom prst="wedgeRoundRectCallout">
            <a:avLst>
              <a:gd name="adj1" fmla="val -64350"/>
              <a:gd name="adj2" fmla="val 212773"/>
              <a:gd name="adj3" fmla="val 16667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dirty="0"/>
              <a:t>作用</a:t>
            </a:r>
            <a:r>
              <a:rPr lang="zh-CN" altLang="en-US" sz="2000" dirty="0" smtClean="0"/>
              <a:t>？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6615678" y="2939776"/>
            <a:ext cx="1832745" cy="783193"/>
          </a:xfrm>
          <a:prstGeom prst="wedgeRoundRectCallout">
            <a:avLst>
              <a:gd name="adj1" fmla="val -86976"/>
              <a:gd name="adj2" fmla="val 113669"/>
              <a:gd name="adj3" fmla="val 16667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2000" dirty="0" smtClean="0"/>
              <a:t>T5</a:t>
            </a:r>
            <a:r>
              <a:rPr lang="zh-CN" altLang="en-US" sz="2000" dirty="0" smtClean="0"/>
              <a:t>导通时，</a:t>
            </a:r>
            <a:r>
              <a:rPr lang="en-US" altLang="zh-CN" sz="2000" dirty="0" smtClean="0"/>
              <a:t>T4</a:t>
            </a:r>
            <a:r>
              <a:rPr lang="zh-CN" altLang="en-US" sz="2000" dirty="0" smtClean="0"/>
              <a:t>稳定截至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436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3501008"/>
            <a:ext cx="288032" cy="33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2" grpId="0" animBg="1"/>
      <p:bldP spid="8" grpId="0" animBg="1"/>
      <p:bldP spid="1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（二）  </a:t>
            </a:r>
            <a:r>
              <a:rPr lang="en-US" altLang="zh-CN" sz="2800" dirty="0"/>
              <a:t>TTL</a:t>
            </a:r>
            <a:r>
              <a:rPr lang="zh-CN" altLang="en-US" sz="2800" dirty="0"/>
              <a:t>反相器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75</a:t>
            </a:fld>
            <a:endParaRPr lang="zh-CN" altLang="en-US"/>
          </a:p>
        </p:txBody>
      </p:sp>
      <p:pic>
        <p:nvPicPr>
          <p:cNvPr id="36866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76872"/>
            <a:ext cx="4099680" cy="262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802" y="5085184"/>
            <a:ext cx="6161510" cy="144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11560" y="206084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4581128"/>
            <a:ext cx="96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Vcc</a:t>
            </a:r>
            <a:r>
              <a:rPr lang="en-US" altLang="zh-CN" dirty="0" smtClean="0"/>
              <a:t>=5V</a:t>
            </a:r>
            <a:endParaRPr lang="zh-CN" altLang="en-US" dirty="0"/>
          </a:p>
        </p:txBody>
      </p:sp>
      <p:pic>
        <p:nvPicPr>
          <p:cNvPr id="32770" name="Picture 2" descr="E:\wrj\课件\数字电路与系统\数字电路与数字系统\tupian\2-1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348880"/>
            <a:ext cx="4032448" cy="255789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177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45002" y="1"/>
            <a:ext cx="3298998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 marL="0" indent="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 （二） 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反相器（非门）</a:t>
            </a:r>
          </a:p>
          <a:p>
            <a:endParaRPr lang="zh-CN" altLang="en-US" dirty="0"/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44008" y="2780928"/>
          <a:ext cx="3816424" cy="3048331"/>
        </p:xfrm>
        <a:graphic>
          <a:graphicData uri="http://schemas.openxmlformats.org/presentationml/2006/ole">
            <p:oleObj spid="_x0000_s25988" name="Visio" r:id="rId3" imgW="3918433" imgH="3130415" progId="">
              <p:embed/>
            </p:oleObj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76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43608" y="2060848"/>
            <a:ext cx="39604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电压传输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特性曲线</a:t>
            </a:r>
            <a:r>
              <a:rPr lang="zh-CN" altLang="en-US" sz="2000" b="1" dirty="0" smtClean="0"/>
              <a:t>：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输出电压随输入电压的变化关系曲线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pic>
        <p:nvPicPr>
          <p:cNvPr id="9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96952"/>
            <a:ext cx="3946675" cy="25299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>
            <a:off x="6196285" y="2635030"/>
            <a:ext cx="0" cy="2479630"/>
          </a:xfrm>
          <a:prstGeom prst="line">
            <a:avLst/>
          </a:prstGeom>
          <a:noFill/>
          <a:ln w="12700" cap="flat" cmpd="sng" algn="ctr">
            <a:solidFill>
              <a:srgbClr val="C00000"/>
            </a:solidFill>
            <a:prstDash val="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/>
          <p:nvPr/>
        </p:nvCxnSpPr>
        <p:spPr bwMode="auto">
          <a:xfrm>
            <a:off x="6228184" y="5013176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  <a:headEnd type="arrow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/>
          <p:nvPr/>
        </p:nvCxnSpPr>
        <p:spPr bwMode="auto">
          <a:xfrm>
            <a:off x="6300192" y="3284984"/>
            <a:ext cx="720080" cy="72008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46690" y="4119141"/>
                <a:ext cx="409086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√</m:t>
                      </m:r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690" y="4119141"/>
                <a:ext cx="409086" cy="389979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59832" y="4509120"/>
                <a:ext cx="409086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√</m:t>
                      </m:r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509120"/>
                <a:ext cx="409086" cy="389979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标注 1"/>
          <p:cNvSpPr/>
          <p:nvPr/>
        </p:nvSpPr>
        <p:spPr>
          <a:xfrm>
            <a:off x="5580112" y="1340768"/>
            <a:ext cx="3563888" cy="1015663"/>
          </a:xfrm>
          <a:prstGeom prst="wedgeRectCallout">
            <a:avLst>
              <a:gd name="adj1" fmla="val -20792"/>
              <a:gd name="adj2" fmla="val 163422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latin typeface="+mn-ea"/>
              </a:rPr>
              <a:t>0.6V&lt;A&lt;1.3V, 0.7V&lt;V</a:t>
            </a:r>
            <a:r>
              <a:rPr lang="en-US" altLang="zh-CN" sz="2000" b="1" baseline="-25000" dirty="0" smtClean="0">
                <a:latin typeface="+mn-ea"/>
              </a:rPr>
              <a:t>c1</a:t>
            </a:r>
            <a:r>
              <a:rPr lang="en-US" altLang="zh-CN" sz="2000" b="1" dirty="0" smtClean="0">
                <a:latin typeface="+mn-ea"/>
              </a:rPr>
              <a:t>&lt;1.4V</a:t>
            </a:r>
          </a:p>
          <a:p>
            <a:r>
              <a:rPr lang="en-US" altLang="zh-CN" sz="2000" b="1" dirty="0" smtClean="0">
                <a:latin typeface="+mn-ea"/>
              </a:rPr>
              <a:t>T</a:t>
            </a:r>
            <a:r>
              <a:rPr lang="en-US" altLang="zh-CN" sz="2000" b="1" baseline="-25000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发射极电阻</a:t>
            </a:r>
            <a:r>
              <a:rPr lang="en-US" altLang="zh-CN" sz="2000" b="1" dirty="0" smtClean="0">
                <a:latin typeface="+mn-ea"/>
              </a:rPr>
              <a:t>R</a:t>
            </a:r>
            <a:r>
              <a:rPr lang="en-US" altLang="zh-CN" sz="2000" b="1" baseline="-25000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直接接地，</a:t>
            </a:r>
            <a:r>
              <a:rPr lang="en-US" altLang="zh-CN" sz="2000" b="1" dirty="0" smtClean="0">
                <a:latin typeface="+mn-ea"/>
              </a:rPr>
              <a:t>T</a:t>
            </a:r>
            <a:r>
              <a:rPr lang="en-US" altLang="zh-CN" sz="2000" b="1" baseline="-25000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开始导通、并进入放大区。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59632" y="5733256"/>
            <a:ext cx="180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电压传输特性</a:t>
            </a:r>
          </a:p>
        </p:txBody>
      </p:sp>
      <p:sp>
        <p:nvSpPr>
          <p:cNvPr id="18" name="矩形 17"/>
          <p:cNvSpPr/>
          <p:nvPr/>
        </p:nvSpPr>
        <p:spPr>
          <a:xfrm>
            <a:off x="5508104" y="5877272"/>
            <a:ext cx="2376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电压传输</a:t>
            </a:r>
            <a:r>
              <a:rPr lang="zh-CN" altLang="en-US" sz="2000" b="1" dirty="0" smtClean="0"/>
              <a:t>特性曲线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FF0000"/>
                </a:solidFill>
              </a:rPr>
              <a:t>TTL</a:t>
            </a:r>
            <a:r>
              <a:rPr lang="zh-CN" altLang="en-US" sz="2800" dirty="0" smtClean="0">
                <a:solidFill>
                  <a:srgbClr val="FF0000"/>
                </a:solidFill>
              </a:rPr>
              <a:t>与非门和</a:t>
            </a:r>
            <a:r>
              <a:rPr lang="en-US" altLang="zh-CN" sz="2800" dirty="0" smtClean="0">
                <a:solidFill>
                  <a:srgbClr val="FF0000"/>
                </a:solidFill>
              </a:rPr>
              <a:t>TTL</a:t>
            </a:r>
            <a:r>
              <a:rPr lang="zh-CN" altLang="en-US" sz="2800" dirty="0" smtClean="0">
                <a:solidFill>
                  <a:srgbClr val="FF0000"/>
                </a:solidFill>
              </a:rPr>
              <a:t>非门结构相同</a:t>
            </a:r>
            <a:r>
              <a:rPr lang="zh-CN" altLang="en-US" sz="2800" dirty="0" smtClean="0"/>
              <a:t>，只有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输入端个数的差别</a:t>
            </a:r>
            <a:r>
              <a:rPr lang="zh-CN" altLang="en-US" sz="2800" dirty="0" smtClean="0"/>
              <a:t>，是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门电路中电路结构最简单的一种。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74</a:t>
            </a:r>
            <a:r>
              <a:rPr lang="zh-CN" altLang="en-US" sz="2800" dirty="0" smtClean="0"/>
              <a:t>（民用）系列与非门的典型电路如图</a:t>
            </a:r>
            <a:r>
              <a:rPr lang="en-US" altLang="zh-CN" sz="2800" dirty="0" smtClean="0"/>
              <a:t>2.4</a:t>
            </a:r>
            <a:r>
              <a:rPr lang="zh-CN" altLang="en-US" sz="2800" dirty="0" smtClean="0"/>
              <a:t>所示。</a:t>
            </a:r>
            <a:endParaRPr lang="en-US" altLang="zh-CN" sz="2800" dirty="0" smtClean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77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4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2996952"/>
            <a:ext cx="409575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9665" name="Object 2"/>
          <p:cNvGraphicFramePr>
            <a:graphicFrameLocks noChangeAspect="1"/>
          </p:cNvGraphicFramePr>
          <p:nvPr/>
        </p:nvGraphicFramePr>
        <p:xfrm>
          <a:off x="5436096" y="3212976"/>
          <a:ext cx="3429189" cy="2921372"/>
        </p:xfrm>
        <a:graphic>
          <a:graphicData uri="http://schemas.openxmlformats.org/presentationml/2006/ole">
            <p:oleObj spid="_x0000_s369665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1. </a:t>
            </a:r>
            <a:r>
              <a:rPr lang="zh-CN" altLang="en-US" sz="2800" dirty="0" smtClean="0"/>
              <a:t>工作原理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中至少有一个低电平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IL</a:t>
            </a:r>
            <a:r>
              <a:rPr lang="en-US" altLang="zh-CN" sz="2800" dirty="0" smtClean="0"/>
              <a:t>=0.3V</a:t>
            </a:r>
            <a:r>
              <a:rPr lang="zh-CN" altLang="en-US" sz="2800" dirty="0" smtClean="0"/>
              <a:t>时的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与非门等效电路。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输出高电平 ：</a:t>
            </a:r>
            <a:r>
              <a:rPr lang="en-US" altLang="zh-CN" sz="2400" dirty="0" smtClean="0"/>
              <a:t>F = 3.6 V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78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8641" name="Object 2"/>
          <p:cNvGraphicFramePr>
            <a:graphicFrameLocks noChangeAspect="1"/>
          </p:cNvGraphicFramePr>
          <p:nvPr/>
        </p:nvGraphicFramePr>
        <p:xfrm>
          <a:off x="5652120" y="3501008"/>
          <a:ext cx="3344664" cy="2849364"/>
        </p:xfrm>
        <a:graphic>
          <a:graphicData uri="http://schemas.openxmlformats.org/presentationml/2006/ole">
            <p:oleObj spid="_x0000_s368641" name="Image" r:id="rId3" imgW="1993312" imgH="1699191" progId="">
              <p:embed/>
            </p:oleObj>
          </a:graphicData>
        </a:graphic>
      </p:graphicFrame>
      <p:pic>
        <p:nvPicPr>
          <p:cNvPr id="3686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429000"/>
            <a:ext cx="4907750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1. </a:t>
            </a:r>
            <a:r>
              <a:rPr lang="zh-CN" altLang="en-US" sz="2800" dirty="0" smtClean="0"/>
              <a:t>工作原理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全为高电平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IH</a:t>
            </a:r>
            <a:r>
              <a:rPr lang="en-US" altLang="zh-CN" sz="2800" dirty="0" smtClean="0"/>
              <a:t>=3.6V</a:t>
            </a:r>
            <a:r>
              <a:rPr lang="zh-CN" altLang="en-US" sz="2800" dirty="0" smtClean="0"/>
              <a:t>时的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与非门等效电路。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输出低电平</a:t>
            </a:r>
            <a:r>
              <a:rPr lang="en-US" altLang="zh-CN" sz="2400" dirty="0" smtClean="0"/>
              <a:t>F = 0.1V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79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356992"/>
            <a:ext cx="4577580" cy="305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7617" name="Object 2"/>
          <p:cNvGraphicFramePr>
            <a:graphicFrameLocks noChangeAspect="1"/>
          </p:cNvGraphicFramePr>
          <p:nvPr/>
        </p:nvGraphicFramePr>
        <p:xfrm>
          <a:off x="5292080" y="3284984"/>
          <a:ext cx="3513714" cy="2993380"/>
        </p:xfrm>
        <a:graphic>
          <a:graphicData uri="http://schemas.openxmlformats.org/presentationml/2006/ole">
            <p:oleObj spid="_x0000_s367617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5" cy="494928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2. </a:t>
            </a:r>
            <a:r>
              <a:rPr lang="zh-CN" altLang="en-US" sz="2800" dirty="0" smtClean="0"/>
              <a:t>电压传输特性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理想</a:t>
            </a:r>
            <a:r>
              <a:rPr lang="zh-CN" altLang="en-US" sz="2800" dirty="0"/>
              <a:t>的</a:t>
            </a:r>
            <a:r>
              <a:rPr lang="en-US" altLang="zh-CN" sz="2800" dirty="0"/>
              <a:t>TTL</a:t>
            </a:r>
            <a:r>
              <a:rPr lang="zh-CN" altLang="en-US" sz="2800" dirty="0"/>
              <a:t>与非门电压传输特性是</a:t>
            </a:r>
            <a:r>
              <a:rPr lang="en-US" altLang="zh-CN" sz="2800" dirty="0" smtClean="0"/>
              <a:t>: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80</a:t>
            </a:fld>
            <a:endParaRPr lang="zh-CN" alt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08920"/>
            <a:ext cx="2626669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202753" y="4941168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dirty="0" smtClean="0"/>
              <a:t>   </a:t>
            </a:r>
            <a:r>
              <a:rPr lang="en-US" altLang="zh-CN" b="1" i="1" dirty="0" err="1" smtClean="0"/>
              <a:t>V</a:t>
            </a:r>
            <a:r>
              <a:rPr lang="en-US" altLang="zh-CN" b="1" baseline="-25000" dirty="0" err="1" smtClean="0"/>
              <a:t>Ri</a:t>
            </a:r>
            <a:r>
              <a:rPr lang="en-US" altLang="zh-CN" b="1" dirty="0" smtClean="0"/>
              <a:t> 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4" name="矩形 3"/>
          <p:cNvSpPr/>
          <p:nvPr/>
        </p:nvSpPr>
        <p:spPr>
          <a:xfrm>
            <a:off x="1202753" y="5589240"/>
            <a:ext cx="3945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求出当</a:t>
            </a:r>
            <a:r>
              <a:rPr lang="en-US" altLang="zh-CN" b="1" i="1" dirty="0"/>
              <a:t>V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=1.4 V</a:t>
            </a:r>
            <a:r>
              <a:rPr lang="zh-CN" altLang="en-US" b="1" dirty="0"/>
              <a:t>时的输入电阻值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T</a:t>
            </a:r>
            <a:endParaRPr lang="zh-CN" altLang="en-US" b="1" baseline="-25000" dirty="0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1474" name="Object 2"/>
          <p:cNvGraphicFramePr>
            <a:graphicFrameLocks noChangeAspect="1"/>
          </p:cNvGraphicFramePr>
          <p:nvPr/>
        </p:nvGraphicFramePr>
        <p:xfrm>
          <a:off x="4788024" y="2740873"/>
          <a:ext cx="3004784" cy="2560335"/>
        </p:xfrm>
        <a:graphic>
          <a:graphicData uri="http://schemas.openxmlformats.org/presentationml/2006/ole">
            <p:oleObj spid="_x0000_s407554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2. </a:t>
            </a:r>
            <a:r>
              <a:rPr lang="zh-CN" altLang="en-US" sz="2800" dirty="0" smtClean="0"/>
              <a:t>电压传输特性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TTL</a:t>
            </a:r>
            <a:r>
              <a:rPr lang="zh-CN" altLang="en-US" sz="2800" dirty="0"/>
              <a:t>与非门电压传输</a:t>
            </a:r>
            <a:r>
              <a:rPr lang="zh-CN" altLang="en-US" sz="2800" dirty="0" smtClean="0"/>
              <a:t>特性（实际）是</a:t>
            </a:r>
            <a:r>
              <a:rPr lang="en-US" altLang="zh-CN" sz="2800" dirty="0" smtClean="0"/>
              <a:t>: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81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02753" y="494116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i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dirty="0"/>
              <a:t> </a:t>
            </a:r>
            <a:r>
              <a:rPr lang="en-US" altLang="zh-CN" b="1" dirty="0" smtClean="0"/>
              <a:t>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7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708920"/>
            <a:ext cx="3915948" cy="3038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5569" name="Object 2"/>
          <p:cNvGraphicFramePr>
            <a:graphicFrameLocks noChangeAspect="1"/>
          </p:cNvGraphicFramePr>
          <p:nvPr/>
        </p:nvGraphicFramePr>
        <p:xfrm>
          <a:off x="5292080" y="2708920"/>
          <a:ext cx="3719101" cy="3168352"/>
        </p:xfrm>
        <a:graphic>
          <a:graphicData uri="http://schemas.openxmlformats.org/presentationml/2006/ole">
            <p:oleObj spid="_x0000_s365569" name="Image" r:id="rId4" imgW="1993312" imgH="1699191" progId="">
              <p:embed/>
            </p:oleObj>
          </a:graphicData>
        </a:graphic>
      </p:graphicFrame>
      <p:sp>
        <p:nvSpPr>
          <p:cNvPr id="10" name="矩形 9"/>
          <p:cNvSpPr/>
          <p:nvPr/>
        </p:nvSpPr>
        <p:spPr>
          <a:xfrm>
            <a:off x="1187624" y="5877272"/>
            <a:ext cx="4392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电压传输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特性曲线</a:t>
            </a:r>
            <a:r>
              <a:rPr lang="zh-CN" altLang="en-US" sz="2000" b="1" dirty="0" smtClean="0"/>
              <a:t>：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输出电压随输入电压的变化关系曲线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03649" y="116632"/>
            <a:ext cx="7344816" cy="504056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764704"/>
            <a:ext cx="604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buNone/>
            </a:pPr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关门电平、开门电平和输入端噪声容限</a:t>
            </a:r>
            <a:endParaRPr lang="en-US" altLang="zh-CN" sz="2400" b="1" dirty="0" smtClean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18000"/>
            <a:ext cx="24569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021288"/>
            <a:ext cx="707143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3203849" y="4581128"/>
            <a:ext cx="5544616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42950" lvl="1" indent="-285750"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关门电平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OFF </a:t>
            </a:r>
            <a:r>
              <a:rPr lang="zh-CN" altLang="en-US" sz="2000" b="1" dirty="0" smtClean="0"/>
              <a:t>：为保证与非门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输出高电平</a:t>
            </a:r>
            <a:r>
              <a:rPr lang="zh-CN" altLang="en-US" sz="2000" b="1" dirty="0" smtClean="0"/>
              <a:t>时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最高的输入电平值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OFF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V</a:t>
            </a:r>
            <a:r>
              <a:rPr lang="en-US" altLang="zh-CN" sz="2000" b="1" baseline="-25000" dirty="0" err="1" smtClean="0"/>
              <a:t>ILmax</a:t>
            </a:r>
            <a:r>
              <a:rPr lang="zh-CN" altLang="en-US" sz="2000" b="1" dirty="0" smtClean="0"/>
              <a:t> ，</a:t>
            </a:r>
            <a:r>
              <a:rPr lang="en-US" altLang="zh-CN" sz="2000" b="1" dirty="0" smtClean="0"/>
              <a:t>74</a:t>
            </a:r>
            <a:r>
              <a:rPr lang="zh-CN" altLang="en-US" sz="2000" b="1" dirty="0" smtClean="0"/>
              <a:t>系列一般取</a:t>
            </a:r>
            <a:r>
              <a:rPr lang="en-US" altLang="zh-CN" sz="2000" b="1" dirty="0" smtClean="0"/>
              <a:t>0.8V 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742950" lvl="1" indent="-285750"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开门电平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ON </a:t>
            </a:r>
            <a:r>
              <a:rPr lang="zh-CN" altLang="en-US" sz="2000" b="1" dirty="0" smtClean="0"/>
              <a:t>：为保证与非门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输出最低电平</a:t>
            </a:r>
            <a:r>
              <a:rPr lang="zh-CN" altLang="en-US" sz="2000" b="1" dirty="0" smtClean="0"/>
              <a:t>时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最低的输入电平值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ON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V</a:t>
            </a:r>
            <a:r>
              <a:rPr lang="en-US" altLang="zh-CN" sz="2000" b="1" baseline="-25000" dirty="0" err="1" smtClean="0"/>
              <a:t>IHmin</a:t>
            </a:r>
            <a:r>
              <a:rPr lang="zh-CN" altLang="en-US" sz="2000" b="1" baseline="-25000" dirty="0" smtClean="0"/>
              <a:t> 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74</a:t>
            </a:r>
            <a:r>
              <a:rPr lang="zh-CN" altLang="en-US" sz="2000" b="1" dirty="0" smtClean="0"/>
              <a:t>系列一般取</a:t>
            </a:r>
            <a:r>
              <a:rPr lang="en-US" altLang="zh-CN" sz="2000" b="1" dirty="0" smtClean="0"/>
              <a:t>2.0V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</p:txBody>
      </p:sp>
      <p:pic>
        <p:nvPicPr>
          <p:cNvPr id="49664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1340768"/>
            <a:ext cx="7308304" cy="268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424936" cy="4911128"/>
          </a:xfrm>
        </p:spPr>
        <p:txBody>
          <a:bodyPr/>
          <a:lstStyle/>
          <a:p>
            <a:pPr marL="342900" lvl="1" indent="-342900">
              <a:lnSpc>
                <a:spcPts val="3120"/>
              </a:lnSpc>
              <a:buClr>
                <a:schemeClr val="folHlink"/>
              </a:buClr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FF0000"/>
                </a:solidFill>
              </a:rPr>
              <a:t>输入噪声容限</a:t>
            </a:r>
            <a:r>
              <a:rPr lang="zh-CN" altLang="en-US" sz="2800" dirty="0" smtClean="0"/>
              <a:t>：在保证输出高、低电平基本不变（或者说变化的大小不超过允许限度）的条件下，允许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输入电平</a:t>
            </a:r>
            <a:r>
              <a:rPr lang="zh-CN" altLang="en-US" sz="2800" dirty="0" smtClean="0"/>
              <a:t>有一定的</a:t>
            </a:r>
            <a:r>
              <a:rPr lang="zh-CN" altLang="en-US" sz="2800" dirty="0" smtClean="0">
                <a:solidFill>
                  <a:srgbClr val="0000CC"/>
                </a:solidFill>
              </a:rPr>
              <a:t>波动范围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 smtClean="0"/>
              <a:t>由于前一个门的输出端就是后一个门的输入端，由此可确定低（电平）噪声容限</a:t>
            </a:r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NL</a:t>
            </a:r>
            <a:r>
              <a:rPr lang="zh-CN" altLang="en-US" sz="2400" dirty="0" smtClean="0"/>
              <a:t>和高（电平）噪声容限</a:t>
            </a:r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HL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buSzPct val="100000"/>
            </a:pPr>
            <a:r>
              <a:rPr lang="en-US" altLang="zh-CN" sz="2400" dirty="0" smtClean="0"/>
              <a:t>74</a:t>
            </a:r>
            <a:r>
              <a:rPr lang="zh-CN" altLang="en-US" sz="2400" dirty="0"/>
              <a:t>系列门电路输入高电平和低电平时的噪声容限分别为：</a:t>
            </a:r>
          </a:p>
          <a:p>
            <a:pPr lvl="2"/>
            <a:endParaRPr lang="zh-CN" altLang="en-US" dirty="0"/>
          </a:p>
          <a:p>
            <a:endParaRPr lang="zh-CN" altLang="en-US" kern="1200" dirty="0">
              <a:solidFill>
                <a:srgbClr val="0000CC"/>
              </a:solidFill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91680" y="4221088"/>
            <a:ext cx="525658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NH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OH(min</a:t>
            </a:r>
            <a:r>
              <a:rPr lang="en-US" altLang="zh-CN" sz="1400" b="1" dirty="0">
                <a:solidFill>
                  <a:srgbClr val="0000CC"/>
                </a:solidFill>
              </a:rPr>
              <a:t>)</a:t>
            </a:r>
            <a:r>
              <a:rPr lang="en-US" altLang="zh-CN" sz="2800" b="1" dirty="0">
                <a:solidFill>
                  <a:srgbClr val="0000CC"/>
                </a:solidFill>
              </a:rPr>
              <a:t>-</a:t>
            </a: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>
                <a:solidFill>
                  <a:srgbClr val="0000CC"/>
                </a:solidFill>
              </a:rPr>
              <a:t>IH(min)</a:t>
            </a:r>
            <a:r>
              <a:rPr lang="en-US" altLang="zh-CN" sz="2400" b="1" dirty="0">
                <a:solidFill>
                  <a:srgbClr val="0000CC"/>
                </a:solidFill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</a:rPr>
              <a:t>0.4V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NL</a:t>
            </a:r>
            <a:r>
              <a:rPr lang="en-US" altLang="zh-CN" sz="2400" b="1" dirty="0">
                <a:solidFill>
                  <a:srgbClr val="0000CC"/>
                </a:solidFill>
              </a:rPr>
              <a:t>=V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IL(max</a:t>
            </a:r>
            <a:r>
              <a:rPr lang="en-US" altLang="zh-CN" sz="1400" b="1" dirty="0">
                <a:solidFill>
                  <a:srgbClr val="0000CC"/>
                </a:solidFill>
              </a:rPr>
              <a:t>)</a:t>
            </a:r>
            <a:r>
              <a:rPr lang="en-US" altLang="zh-CN" sz="2800" b="1" dirty="0">
                <a:solidFill>
                  <a:srgbClr val="0000CC"/>
                </a:solidFill>
              </a:rPr>
              <a:t>-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OL(max)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</a:rPr>
              <a:t>0.4V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83</a:t>
            </a:fld>
            <a:endParaRPr lang="zh-CN" altLang="en-US"/>
          </a:p>
        </p:txBody>
      </p:sp>
      <p:sp>
        <p:nvSpPr>
          <p:cNvPr id="13" name="标题 4"/>
          <p:cNvSpPr>
            <a:spLocks noGrp="1"/>
          </p:cNvSpPr>
          <p:nvPr>
            <p:ph type="title"/>
          </p:nvPr>
        </p:nvSpPr>
        <p:spPr>
          <a:xfrm>
            <a:off x="1403649" y="116632"/>
            <a:ext cx="7344816" cy="504056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14" name="矩形 13"/>
          <p:cNvSpPr/>
          <p:nvPr/>
        </p:nvSpPr>
        <p:spPr>
          <a:xfrm>
            <a:off x="1331640" y="764704"/>
            <a:ext cx="604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buNone/>
            </a:pPr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关门电平、开门电平和输入端噪声容限</a:t>
            </a:r>
            <a:endParaRPr lang="en-US" altLang="zh-CN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280920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     </a:t>
            </a:r>
            <a:r>
              <a:rPr lang="zh-CN" altLang="en-US" sz="2800" dirty="0" smtClean="0"/>
              <a:t>本小节介绍门电路输入端和输出端的伏安特性。</a:t>
            </a:r>
            <a:endParaRPr lang="en-US" altLang="zh-CN" sz="2800" dirty="0" smtClean="0"/>
          </a:p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输入负载特性曲线：反映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输入端负载电阻与输入电压之间变化关系</a:t>
            </a:r>
            <a:r>
              <a:rPr lang="zh-CN" altLang="en-US" sz="2800" dirty="0" smtClean="0"/>
              <a:t>的曲线称为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输入负载特性</a:t>
            </a:r>
            <a:r>
              <a:rPr lang="zh-CN" altLang="en-US" sz="2800" dirty="0" smtClean="0"/>
              <a:t>曲线。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84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059832" y="6165304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图</a:t>
            </a:r>
            <a:r>
              <a:rPr lang="en-US" altLang="zh-CN" sz="2000" b="1" dirty="0" smtClean="0"/>
              <a:t>2.8 TTL</a:t>
            </a:r>
            <a:r>
              <a:rPr lang="zh-CN" altLang="en-US" sz="2000" b="1" dirty="0" smtClean="0"/>
              <a:t>与非门的输入负载特性</a:t>
            </a:r>
            <a:endParaRPr lang="zh-CN" altLang="en-US" sz="2000" b="1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331640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3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3573016"/>
            <a:ext cx="2448272" cy="259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45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3501008"/>
            <a:ext cx="256695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从图中可以看出，当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&lt;0.7V</a:t>
            </a:r>
            <a:r>
              <a:rPr lang="zh-CN" altLang="en-US" sz="2800" dirty="0" smtClean="0"/>
              <a:t>时，</a:t>
            </a:r>
            <a:r>
              <a:rPr lang="en-US" altLang="zh-CN" sz="2800" dirty="0" err="1" smtClean="0">
                <a:solidFill>
                  <a:srgbClr val="0000CC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>
                <a:solidFill>
                  <a:srgbClr val="0000CC"/>
                </a:solidFill>
              </a:rPr>
              <a:t>随</a:t>
            </a:r>
            <a:r>
              <a:rPr lang="en-US" altLang="zh-CN" sz="2800" dirty="0" smtClean="0">
                <a:solidFill>
                  <a:srgbClr val="0000CC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>
                <a:solidFill>
                  <a:srgbClr val="0000CC"/>
                </a:solidFill>
              </a:rPr>
              <a:t>的增大呈线性升高</a:t>
            </a:r>
            <a:r>
              <a:rPr lang="zh-CN" altLang="en-US" sz="2800" dirty="0" smtClean="0"/>
              <a:t>，当</a:t>
            </a:r>
            <a:r>
              <a:rPr lang="en-US" altLang="zh-CN" sz="2800" dirty="0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  <a:latin typeface="宋体"/>
                <a:ea typeface="宋体"/>
              </a:rPr>
              <a:t>≥</a:t>
            </a:r>
            <a:r>
              <a:rPr lang="en-US" altLang="zh-CN" sz="2800" dirty="0" smtClean="0">
                <a:solidFill>
                  <a:srgbClr val="FF0000"/>
                </a:solidFill>
              </a:rPr>
              <a:t>0.7V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>
                <a:solidFill>
                  <a:srgbClr val="0000CC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b1</a:t>
            </a:r>
            <a:r>
              <a:rPr lang="zh-CN" altLang="en-US" sz="2800" dirty="0" smtClean="0">
                <a:solidFill>
                  <a:srgbClr val="0000CC"/>
                </a:solidFill>
              </a:rPr>
              <a:t>为</a:t>
            </a:r>
            <a:r>
              <a:rPr lang="en-US" altLang="zh-CN" sz="2800" dirty="0" smtClean="0">
                <a:solidFill>
                  <a:srgbClr val="0000CC"/>
                </a:solidFill>
              </a:rPr>
              <a:t>1.4V</a:t>
            </a:r>
            <a:r>
              <a:rPr lang="zh-CN" altLang="en-US" sz="2800" dirty="0" smtClean="0">
                <a:solidFill>
                  <a:srgbClr val="0000CC"/>
                </a:solidFill>
              </a:rPr>
              <a:t>使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管导通</a:t>
            </a:r>
            <a:r>
              <a:rPr lang="zh-CN" altLang="en-US" sz="2800" dirty="0" smtClean="0"/>
              <a:t>，至此流经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的电流开始经管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的集电极分流一部分作为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管的基极电流。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85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0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3717032"/>
            <a:ext cx="243840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35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3645024"/>
            <a:ext cx="28956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到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=1.4V</a:t>
            </a:r>
            <a:r>
              <a:rPr lang="zh-CN" altLang="en-US" sz="2800" dirty="0" smtClean="0">
                <a:solidFill>
                  <a:srgbClr val="FF0000"/>
                </a:solidFill>
              </a:rPr>
              <a:t>以后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5</a:t>
            </a:r>
            <a:r>
              <a:rPr lang="zh-CN" altLang="en-US" sz="2800" dirty="0" smtClean="0"/>
              <a:t>管开始导通，</a:t>
            </a:r>
            <a:r>
              <a:rPr lang="en-US" altLang="zh-CN" sz="2800" dirty="0" smtClean="0">
                <a:solidFill>
                  <a:srgbClr val="0000CC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b1</a:t>
            </a:r>
            <a:r>
              <a:rPr lang="zh-CN" altLang="en-US" sz="2800" dirty="0" smtClean="0">
                <a:solidFill>
                  <a:srgbClr val="0000CC"/>
                </a:solidFill>
              </a:rPr>
              <a:t>为被钳位在</a:t>
            </a:r>
            <a:r>
              <a:rPr lang="en-US" altLang="zh-CN" sz="2800" dirty="0" smtClean="0">
                <a:solidFill>
                  <a:srgbClr val="0000CC"/>
                </a:solidFill>
              </a:rPr>
              <a:t>2.1V</a:t>
            </a:r>
            <a:r>
              <a:rPr lang="zh-CN" altLang="en-US" sz="2800" dirty="0" smtClean="0"/>
              <a:t>，自此以后</a:t>
            </a:r>
            <a:r>
              <a:rPr lang="en-US" altLang="zh-CN" sz="2800" dirty="0" err="1" smtClean="0"/>
              <a:t>u</a:t>
            </a:r>
            <a:r>
              <a:rPr lang="en-US" altLang="zh-CN" sz="2800" baseline="-25000" dirty="0" err="1" smtClean="0"/>
              <a:t>i</a:t>
            </a:r>
            <a:r>
              <a:rPr lang="zh-CN" altLang="en-US" sz="2800" dirty="0" smtClean="0"/>
              <a:t>不再随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的增大而升高。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通常把</a:t>
            </a:r>
            <a:r>
              <a:rPr lang="zh-CN" altLang="en-US" sz="2800" dirty="0" smtClean="0">
                <a:solidFill>
                  <a:srgbClr val="0000CC"/>
                </a:solidFill>
              </a:rPr>
              <a:t>使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5</a:t>
            </a:r>
            <a:r>
              <a:rPr lang="zh-CN" altLang="en-US" sz="2800" dirty="0" smtClean="0">
                <a:solidFill>
                  <a:srgbClr val="0000CC"/>
                </a:solidFill>
              </a:rPr>
              <a:t>管刚开始导通的输入电阻值</a:t>
            </a:r>
            <a:r>
              <a:rPr lang="en-US" altLang="zh-CN" sz="2800" dirty="0" smtClean="0">
                <a:solidFill>
                  <a:srgbClr val="0000CC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/>
              <a:t>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开门电阻</a:t>
            </a:r>
            <a:r>
              <a:rPr lang="en-US" altLang="zh-CN" sz="2800" dirty="0" smtClean="0">
                <a:solidFill>
                  <a:srgbClr val="FF0000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on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86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4077072"/>
            <a:ext cx="2448272" cy="259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24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3717032"/>
            <a:ext cx="28956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350963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4924" y="5226405"/>
            <a:ext cx="15841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输入电阻</a:t>
            </a:r>
            <a:r>
              <a:rPr kumimoji="1" lang="en-US" altLang="zh-CN" sz="2200" b="1" dirty="0"/>
              <a:t>R</a:t>
            </a:r>
            <a:r>
              <a:rPr kumimoji="1" lang="en-US" altLang="zh-CN" sz="2200" b="1" baseline="-25000" dirty="0"/>
              <a:t>i</a:t>
            </a:r>
          </a:p>
        </p:txBody>
      </p:sp>
      <p:sp>
        <p:nvSpPr>
          <p:cNvPr id="8" name="矩形 7"/>
          <p:cNvSpPr/>
          <p:nvPr/>
        </p:nvSpPr>
        <p:spPr>
          <a:xfrm>
            <a:off x="3311418" y="566161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i </a:t>
            </a:r>
            <a:r>
              <a:rPr lang="en-US" altLang="zh-CN" b="1" dirty="0"/>
              <a:t>&lt; </a:t>
            </a:r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T</a:t>
            </a:r>
            <a:r>
              <a:rPr lang="en-US" altLang="zh-CN" b="1" dirty="0"/>
              <a:t> , </a:t>
            </a:r>
            <a:r>
              <a:rPr lang="zh-CN" altLang="en-US" b="1" dirty="0"/>
              <a:t>等效于输入低电平</a:t>
            </a:r>
            <a:r>
              <a:rPr lang="en-US" altLang="zh-CN" b="1" dirty="0"/>
              <a:t>(0)</a:t>
            </a:r>
          </a:p>
          <a:p>
            <a:r>
              <a:rPr lang="en-US" altLang="zh-CN" b="1" i="1" dirty="0" err="1"/>
              <a:t>R</a:t>
            </a:r>
            <a:r>
              <a:rPr kumimoji="1" lang="en-US" altLang="zh-CN" sz="2200" b="1" baseline="-25000" dirty="0" err="1"/>
              <a:t>i</a:t>
            </a:r>
            <a:r>
              <a:rPr lang="en-US" altLang="zh-CN" b="1" dirty="0"/>
              <a:t> &gt; </a:t>
            </a:r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T </a:t>
            </a:r>
            <a:r>
              <a:rPr lang="en-US" altLang="zh-CN" b="1" dirty="0"/>
              <a:t>, </a:t>
            </a:r>
            <a:r>
              <a:rPr lang="zh-CN" altLang="en-US" b="1" dirty="0"/>
              <a:t>等效于输入高电平</a:t>
            </a:r>
            <a:r>
              <a:rPr lang="en-US" altLang="zh-CN" b="1" dirty="0"/>
              <a:t>(1)</a:t>
            </a:r>
          </a:p>
          <a:p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i </a:t>
            </a:r>
            <a:r>
              <a:rPr lang="zh-CN" altLang="en-US" b="1" dirty="0"/>
              <a:t>对地悬空（∞</a:t>
            </a:r>
            <a:r>
              <a:rPr lang="zh-CN" altLang="en-US" b="1" dirty="0" smtClean="0"/>
              <a:t>）相当于逻辑</a:t>
            </a:r>
            <a:r>
              <a:rPr lang="zh-CN" altLang="en-US" b="1" dirty="0"/>
              <a:t>高电平</a:t>
            </a:r>
            <a:r>
              <a:rPr lang="en-US" altLang="zh-CN" b="1" dirty="0"/>
              <a:t>(1)</a:t>
            </a:r>
            <a:endParaRPr lang="zh-CN" altLang="en-US" b="1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73016"/>
            <a:ext cx="2771972" cy="113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301208"/>
            <a:ext cx="2872384" cy="3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824514" y="1935842"/>
            <a:ext cx="2955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：</a:t>
            </a:r>
            <a:r>
              <a:rPr lang="en-US" altLang="zh-CN" b="1" i="1" dirty="0" err="1" smtClean="0"/>
              <a:t>V</a:t>
            </a:r>
            <a:r>
              <a:rPr lang="en-US" altLang="zh-CN" b="1" baseline="-25000" dirty="0" err="1" smtClean="0"/>
              <a:t>Ri</a:t>
            </a:r>
            <a:r>
              <a:rPr lang="en-US" altLang="zh-CN" b="1" dirty="0" smtClean="0"/>
              <a:t> 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11" name="矩形 10"/>
          <p:cNvSpPr/>
          <p:nvPr/>
        </p:nvSpPr>
        <p:spPr>
          <a:xfrm>
            <a:off x="899592" y="2636912"/>
            <a:ext cx="39453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开门电阻</a:t>
            </a:r>
            <a:r>
              <a:rPr lang="en-US" altLang="zh-CN" b="1" i="1" dirty="0" smtClean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ON</a:t>
            </a:r>
            <a:r>
              <a:rPr lang="zh-CN" altLang="en-US" b="1" dirty="0" smtClean="0"/>
              <a:t>：指的是</a:t>
            </a:r>
            <a:r>
              <a:rPr lang="en-US" altLang="zh-CN" b="1" dirty="0" smtClean="0"/>
              <a:t>T5</a:t>
            </a:r>
            <a:r>
              <a:rPr lang="zh-CN" altLang="en-US" b="1" dirty="0" smtClean="0"/>
              <a:t>管刚要导通时的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i</a:t>
            </a:r>
            <a:r>
              <a:rPr lang="zh-CN" altLang="en-US" b="1" dirty="0" smtClean="0"/>
              <a:t>值，也称为</a:t>
            </a:r>
            <a:r>
              <a:rPr lang="zh-CN" altLang="en-US" b="1" dirty="0" smtClean="0">
                <a:solidFill>
                  <a:srgbClr val="FF0000"/>
                </a:solidFill>
              </a:rPr>
              <a:t>门槛电阻</a:t>
            </a:r>
            <a:r>
              <a:rPr lang="en-US" altLang="zh-CN" b="1" i="1" dirty="0" smtClean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T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zh-CN" altLang="en-US" b="1" dirty="0" smtClean="0"/>
              <a:t>求</a:t>
            </a:r>
            <a:r>
              <a:rPr lang="zh-CN" altLang="en-US" b="1" dirty="0"/>
              <a:t>出当</a:t>
            </a:r>
            <a:r>
              <a:rPr lang="en-US" altLang="zh-CN" b="1" i="1" dirty="0"/>
              <a:t>V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=1.4 V</a:t>
            </a:r>
            <a:r>
              <a:rPr lang="zh-CN" altLang="en-US" b="1" dirty="0"/>
              <a:t>时的输入电阻值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T</a:t>
            </a:r>
            <a:endParaRPr lang="zh-CN" altLang="en-US" b="1" baseline="-25000" dirty="0"/>
          </a:p>
        </p:txBody>
      </p:sp>
      <p:sp>
        <p:nvSpPr>
          <p:cNvPr id="12" name="矩形 11"/>
          <p:cNvSpPr/>
          <p:nvPr/>
        </p:nvSpPr>
        <p:spPr>
          <a:xfrm>
            <a:off x="644005" y="1564033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输入电阻与输入电压</a:t>
            </a:r>
            <a:endParaRPr lang="en-US" altLang="zh-CN" sz="2000" b="1" dirty="0"/>
          </a:p>
        </p:txBody>
      </p:sp>
      <p:sp>
        <p:nvSpPr>
          <p:cNvPr id="3" name="矩形 2"/>
          <p:cNvSpPr/>
          <p:nvPr/>
        </p:nvSpPr>
        <p:spPr>
          <a:xfrm>
            <a:off x="395536" y="2276872"/>
            <a:ext cx="6120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b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小，</a:t>
            </a:r>
            <a:r>
              <a:rPr lang="en-US" altLang="zh-CN" b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baseline="-25000" dirty="0"/>
              <a:t> </a:t>
            </a:r>
            <a:r>
              <a:rPr lang="zh-CN" altLang="en-US" b="1" dirty="0"/>
              <a:t>低输入低</a:t>
            </a:r>
            <a:r>
              <a:rPr lang="zh-CN" altLang="en-US" b="1" dirty="0" smtClean="0"/>
              <a:t>电平；  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i </a:t>
            </a:r>
            <a:r>
              <a:rPr lang="zh-CN" altLang="en-US" b="1" dirty="0"/>
              <a:t>大，</a:t>
            </a:r>
            <a:r>
              <a:rPr lang="en-US" altLang="zh-CN" b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dirty="0"/>
              <a:t> </a:t>
            </a:r>
            <a:r>
              <a:rPr lang="zh-CN" altLang="en-US" b="1" dirty="0"/>
              <a:t>高输入高电平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430825" y="4889905"/>
            <a:ext cx="2255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b="1" dirty="0" smtClean="0"/>
              <a:t>开门电压</a:t>
            </a:r>
            <a:r>
              <a:rPr lang="zh-CN" altLang="en-US" b="1" dirty="0"/>
              <a:t>时的</a:t>
            </a:r>
            <a:r>
              <a:rPr lang="en-US" altLang="zh-CN" b="1" dirty="0"/>
              <a:t>R</a:t>
            </a:r>
            <a:r>
              <a:rPr lang="en-US" altLang="zh-CN" b="1" baseline="-25000" dirty="0"/>
              <a:t>i</a:t>
            </a:r>
          </a:p>
        </p:txBody>
      </p:sp>
      <p:sp>
        <p:nvSpPr>
          <p:cNvPr id="13" name="矩形 12"/>
          <p:cNvSpPr/>
          <p:nvPr/>
        </p:nvSpPr>
        <p:spPr>
          <a:xfrm>
            <a:off x="635612" y="5848965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b="1" dirty="0"/>
              <a:t>R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: </a:t>
            </a:r>
            <a:r>
              <a:rPr lang="zh-CN" altLang="en-US" b="1" dirty="0" smtClean="0"/>
              <a:t>门槛电阻</a:t>
            </a:r>
            <a:endParaRPr lang="zh-CN" altLang="en-US" b="1" dirty="0"/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403648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0449" name="Object 2"/>
          <p:cNvGraphicFramePr>
            <a:graphicFrameLocks noChangeAspect="1"/>
          </p:cNvGraphicFramePr>
          <p:nvPr/>
        </p:nvGraphicFramePr>
        <p:xfrm>
          <a:off x="6524625" y="116632"/>
          <a:ext cx="2619375" cy="2232025"/>
        </p:xfrm>
        <a:graphic>
          <a:graphicData uri="http://schemas.openxmlformats.org/presentationml/2006/ole">
            <p:oleObj spid="_x0000_s483330" name="Image" r:id="rId5" imgW="1993312" imgH="1699191" progId="">
              <p:embed/>
            </p:oleObj>
          </a:graphicData>
        </a:graphic>
      </p:graphicFrame>
      <p:sp>
        <p:nvSpPr>
          <p:cNvPr id="17" name="矩形标注 16"/>
          <p:cNvSpPr/>
          <p:nvPr/>
        </p:nvSpPr>
        <p:spPr>
          <a:xfrm>
            <a:off x="2843808" y="4899938"/>
            <a:ext cx="1584176" cy="338554"/>
          </a:xfrm>
          <a:prstGeom prst="wedgeRectCallout">
            <a:avLst>
              <a:gd name="adj1" fmla="val -38724"/>
              <a:gd name="adj2" fmla="val -94254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即开门电压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+mn-ea"/>
              </a:rPr>
              <a:t>on</a:t>
            </a:r>
            <a:endParaRPr lang="zh-CN" altLang="en-US" sz="1600" b="1" baseline="-250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8333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6112" y="2780928"/>
            <a:ext cx="2353043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标注 18"/>
          <p:cNvSpPr/>
          <p:nvPr/>
        </p:nvSpPr>
        <p:spPr>
          <a:xfrm>
            <a:off x="4283968" y="3573016"/>
            <a:ext cx="2087819" cy="1152128"/>
          </a:xfrm>
          <a:prstGeom prst="wedgeRectCallout">
            <a:avLst>
              <a:gd name="adj1" fmla="val -68617"/>
              <a:gd name="adj2" fmla="val -26455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baseline="-2500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4355976" y="3573016"/>
          <a:ext cx="2019871" cy="1117600"/>
        </p:xfrm>
        <a:graphic>
          <a:graphicData uri="http://schemas.openxmlformats.org/presentationml/2006/ole">
            <p:oleObj spid="_x0000_s483331" r:id="rId7" imgW="1498320" imgH="8632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输入伏安特性：是指输入电流随输入电压变化的特性。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如果在与非门的输入端接入一个可调直流电源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，并且与非门处于工作状态，</a:t>
            </a:r>
            <a:r>
              <a:rPr lang="en-US" altLang="zh-CN" sz="2800" dirty="0" smtClean="0"/>
              <a:t> 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逐步增加到</a:t>
            </a:r>
            <a:r>
              <a:rPr lang="en-US" altLang="zh-CN" sz="2800" dirty="0" smtClean="0"/>
              <a:t>3V</a:t>
            </a:r>
            <a:r>
              <a:rPr lang="zh-CN" altLang="en-US" sz="2800" dirty="0" smtClean="0"/>
              <a:t>，可得到一条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输入电流变化的曲线</a:t>
            </a:r>
            <a:r>
              <a:rPr lang="zh-CN" altLang="en-US" sz="2800" dirty="0" smtClean="0"/>
              <a:t>，这条曲线称为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输入伏安特性曲线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914400" lvl="1" indent="-514350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输入电流</a:t>
            </a:r>
            <a:r>
              <a:rPr lang="en-US" altLang="zh-CN" sz="2400" dirty="0" smtClean="0"/>
              <a:t>I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流入为正，流出为负。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88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16632"/>
            <a:ext cx="3096344" cy="3786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4189488"/>
            <a:ext cx="3154374" cy="255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&lt;0.6V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1</a:t>
            </a:r>
            <a:r>
              <a:rPr lang="zh-CN" altLang="en-US" sz="2800" dirty="0" smtClean="0">
                <a:solidFill>
                  <a:srgbClr val="0000CC"/>
                </a:solidFill>
              </a:rPr>
              <a:t>导通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截止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</a:t>
            </a:r>
            <a:r>
              <a:rPr lang="en-US" altLang="zh-CN" sz="2800" dirty="0" smtClean="0"/>
              <a:t>=-(V</a:t>
            </a:r>
            <a:r>
              <a:rPr lang="en-US" altLang="zh-CN" sz="2800" baseline="-25000" dirty="0" smtClean="0"/>
              <a:t>CC</a:t>
            </a:r>
            <a:r>
              <a:rPr lang="en-US" altLang="zh-CN" sz="2800" dirty="0" smtClean="0"/>
              <a:t>-V</a:t>
            </a:r>
            <a:r>
              <a:rPr lang="en-US" altLang="zh-CN" sz="2800" baseline="-25000" dirty="0" smtClean="0"/>
              <a:t>be1</a:t>
            </a:r>
            <a:r>
              <a:rPr lang="en-US" altLang="zh-CN" sz="2800" dirty="0" smtClean="0"/>
              <a:t>-V</a:t>
            </a:r>
            <a:r>
              <a:rPr lang="en-US" altLang="zh-CN" sz="2800" baseline="-25000" dirty="0" smtClean="0"/>
              <a:t>i</a:t>
            </a:r>
            <a:r>
              <a:rPr lang="en-US" altLang="zh-CN" sz="2800" dirty="0" smtClean="0"/>
              <a:t>)/R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=0</a:t>
            </a:r>
            <a:r>
              <a:rPr lang="zh-CN" altLang="en-US" sz="2800" dirty="0" smtClean="0"/>
              <a:t>时，相当于输入接地，称此时输入电流为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输入短路电流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IS</a:t>
            </a:r>
            <a:r>
              <a:rPr lang="zh-CN" altLang="en-US" sz="2800" dirty="0" smtClean="0"/>
              <a:t>。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IS </a:t>
            </a:r>
            <a:r>
              <a:rPr lang="en-US" altLang="zh-CN" sz="2800" dirty="0" smtClean="0"/>
              <a:t>=(5-0.7)/4000 =1.1 </a:t>
            </a:r>
            <a:r>
              <a:rPr lang="en-US" altLang="zh-CN" sz="2800" dirty="0" err="1" smtClean="0"/>
              <a:t>mA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随着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</a:t>
            </a:r>
            <a:r>
              <a:rPr lang="en-US" altLang="zh-CN" sz="2800" dirty="0" smtClean="0"/>
              <a:t>0</a:t>
            </a:r>
            <a:r>
              <a:rPr lang="zh-CN" altLang="en-US" sz="2800" dirty="0" smtClean="0">
                <a:latin typeface="宋体"/>
                <a:ea typeface="宋体"/>
              </a:rPr>
              <a:t>～</a:t>
            </a:r>
            <a:r>
              <a:rPr lang="en-US" altLang="zh-CN" sz="2800" dirty="0" smtClean="0"/>
              <a:t>0.6V</a:t>
            </a:r>
            <a:r>
              <a:rPr lang="zh-CN" altLang="en-US" sz="2800" dirty="0" smtClean="0"/>
              <a:t>升高，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将随之减小。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89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1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005064"/>
            <a:ext cx="31337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483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16632"/>
            <a:ext cx="3023617" cy="3646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若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为</a:t>
            </a:r>
            <a:r>
              <a:rPr lang="en-US" altLang="zh-CN" sz="2800" dirty="0" smtClean="0">
                <a:solidFill>
                  <a:srgbClr val="FF0000"/>
                </a:solidFill>
              </a:rPr>
              <a:t>0.6</a:t>
            </a:r>
            <a:r>
              <a:rPr lang="zh-CN" altLang="en-US" sz="2800" dirty="0" smtClean="0">
                <a:solidFill>
                  <a:srgbClr val="FF0000"/>
                </a:solidFill>
                <a:latin typeface="宋体"/>
              </a:rPr>
              <a:t>～</a:t>
            </a:r>
            <a:r>
              <a:rPr lang="en-US" altLang="zh-CN" sz="2800" dirty="0" smtClean="0">
                <a:solidFill>
                  <a:srgbClr val="FF0000"/>
                </a:solidFill>
                <a:latin typeface="宋体"/>
              </a:rPr>
              <a:t>1</a:t>
            </a:r>
            <a:r>
              <a:rPr lang="en-US" altLang="zh-CN" sz="2800" dirty="0" smtClean="0">
                <a:solidFill>
                  <a:srgbClr val="FF0000"/>
                </a:solidFill>
              </a:rPr>
              <a:t>.3V </a:t>
            </a:r>
            <a:r>
              <a:rPr lang="zh-CN" altLang="en-US" sz="2800" dirty="0" smtClean="0"/>
              <a:t>区间，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导通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分流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B1</a:t>
            </a:r>
            <a:r>
              <a:rPr lang="zh-CN" altLang="en-US" sz="2800" dirty="0" smtClean="0"/>
              <a:t>，</a:t>
            </a:r>
            <a:r>
              <a:rPr lang="en-US" altLang="zh-CN" sz="28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的绝对值随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的增加而逐渐减小</a:t>
            </a:r>
            <a:r>
              <a:rPr lang="zh-CN" altLang="en-US" sz="2800" dirty="0" smtClean="0"/>
              <a:t>。并且当接近</a:t>
            </a:r>
            <a:r>
              <a:rPr lang="en-US" altLang="zh-CN" sz="2800" dirty="0" smtClean="0"/>
              <a:t>1.3V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迅速减小，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b1</a:t>
            </a:r>
            <a:r>
              <a:rPr lang="zh-CN" altLang="en-US" sz="2800" dirty="0" smtClean="0"/>
              <a:t>绝大部分经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集电极流入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的基极。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&gt;1.4V</a:t>
            </a:r>
            <a:r>
              <a:rPr lang="zh-CN" altLang="en-US" sz="2800" dirty="0" smtClean="0"/>
              <a:t>时</a:t>
            </a:r>
            <a:r>
              <a:rPr lang="zh-CN" altLang="en-US" sz="2800" dirty="0" smtClean="0">
                <a:solidFill>
                  <a:srgbClr val="0000CC"/>
                </a:solidFill>
              </a:rPr>
              <a:t>，</a:t>
            </a:r>
            <a:r>
              <a:rPr lang="en-US" altLang="zh-CN" sz="2800" dirty="0" smtClean="0">
                <a:solidFill>
                  <a:srgbClr val="0000CC"/>
                </a:solidFill>
              </a:rPr>
              <a:t> 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1</a:t>
            </a:r>
            <a:r>
              <a:rPr lang="zh-CN" altLang="en-US" sz="2800" dirty="0" smtClean="0">
                <a:solidFill>
                  <a:srgbClr val="0000CC"/>
                </a:solidFill>
              </a:rPr>
              <a:t>进入倒置工作状态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由负变正。此时输入电流成为输入高电平电流，用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IH</a:t>
            </a:r>
            <a:r>
              <a:rPr lang="zh-CN" altLang="en-US" sz="2800" dirty="0" smtClean="0"/>
              <a:t>表示，即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管的</a:t>
            </a:r>
            <a:r>
              <a:rPr lang="zh-CN" altLang="en-US" sz="2800" dirty="0" smtClean="0">
                <a:solidFill>
                  <a:srgbClr val="FF0000"/>
                </a:solidFill>
              </a:rPr>
              <a:t>反向漏电流</a:t>
            </a:r>
            <a:r>
              <a:rPr lang="zh-CN" altLang="en-US" sz="2800" dirty="0" smtClean="0"/>
              <a:t>，</a:t>
            </a:r>
            <a:r>
              <a:rPr lang="zh-CN" altLang="en-US" sz="2800" dirty="0" smtClean="0">
                <a:solidFill>
                  <a:srgbClr val="0000CC"/>
                </a:solidFill>
              </a:rPr>
              <a:t>一般为几十微安</a:t>
            </a:r>
            <a:r>
              <a:rPr lang="zh-CN" altLang="en-US" sz="2800" dirty="0" smtClean="0"/>
              <a:t>。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90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16632"/>
            <a:ext cx="3096344" cy="3786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2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4005064"/>
            <a:ext cx="31623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800" dirty="0" smtClean="0"/>
              <a:t>3.  TTL</a:t>
            </a:r>
            <a:r>
              <a:rPr lang="zh-CN" altLang="en-US" sz="2800" dirty="0" smtClean="0"/>
              <a:t>与非门的输出特性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）灌流负载能力：输出低电平－</a:t>
            </a:r>
            <a:r>
              <a:rPr lang="zh-CN" altLang="en-US" sz="2800" dirty="0"/>
              <a:t>灌流负载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91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3608" y="551723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驱动门</a:t>
            </a:r>
          </a:p>
        </p:txBody>
      </p:sp>
      <p:sp>
        <p:nvSpPr>
          <p:cNvPr id="6" name="矩形 5"/>
          <p:cNvSpPr/>
          <p:nvPr/>
        </p:nvSpPr>
        <p:spPr>
          <a:xfrm>
            <a:off x="3851920" y="5517232"/>
            <a:ext cx="13388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负载</a:t>
            </a:r>
            <a:r>
              <a:rPr lang="zh-CN" altLang="en-US" b="1" dirty="0" smtClean="0"/>
              <a:t>门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/>
              <a:t>输入低</a:t>
            </a:r>
            <a:r>
              <a:rPr lang="zh-CN" altLang="en-US" b="1" dirty="0" smtClean="0"/>
              <a:t>电平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251520" y="6093296"/>
            <a:ext cx="2664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当</a:t>
            </a:r>
            <a:r>
              <a:rPr lang="en-US" altLang="zh-CN" b="1" i="1" dirty="0"/>
              <a:t>F</a:t>
            </a:r>
            <a:r>
              <a:rPr lang="en-US" altLang="zh-CN" b="1" dirty="0"/>
              <a:t>=0, </a:t>
            </a:r>
            <a:r>
              <a:rPr lang="zh-CN" altLang="en-US" b="1" dirty="0"/>
              <a:t>电流从</a:t>
            </a:r>
            <a:r>
              <a:rPr lang="en-US" altLang="zh-CN" b="1" dirty="0"/>
              <a:t>5 V </a:t>
            </a:r>
            <a:r>
              <a:rPr lang="zh-CN" altLang="en-US" b="1" dirty="0"/>
              <a:t>电源</a:t>
            </a:r>
          </a:p>
          <a:p>
            <a:r>
              <a:rPr lang="zh-CN" altLang="en-US" b="1" dirty="0"/>
              <a:t>经</a:t>
            </a:r>
            <a:r>
              <a:rPr lang="en-US" altLang="zh-CN" b="1" dirty="0"/>
              <a:t>T1, T2 </a:t>
            </a:r>
            <a:r>
              <a:rPr lang="zh-CN" altLang="en-US" b="1" dirty="0"/>
              <a:t>和</a:t>
            </a:r>
            <a:r>
              <a:rPr lang="en-US" altLang="zh-CN" b="1" dirty="0"/>
              <a:t>T5 </a:t>
            </a:r>
            <a:r>
              <a:rPr lang="zh-CN" altLang="en-US" b="1" dirty="0"/>
              <a:t>流向地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097306" y="2611375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4</m:t>
                      </m:r>
                      <m:r>
                        <a:rPr lang="en-US" altLang="zh-CN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306" y="2611375"/>
                <a:ext cx="704039" cy="369332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196304" y="3532206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4</m:t>
                      </m:r>
                      <m:r>
                        <a:rPr lang="en-US" altLang="zh-CN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304" y="3532206"/>
                <a:ext cx="704039" cy="369332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95553" y="2953781"/>
                <a:ext cx="644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4</m:t>
                      </m:r>
                      <m:r>
                        <a:rPr lang="en-US" altLang="zh-CN" sz="1600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3" y="2953781"/>
                <a:ext cx="644728" cy="3385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251501" y="2953781"/>
                <a:ext cx="8002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1.6</m:t>
                      </m:r>
                      <m:r>
                        <a:rPr lang="en-US" altLang="zh-CN" sz="1600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01" y="2953781"/>
                <a:ext cx="800219" cy="33855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923745" y="2946430"/>
                <a:ext cx="7296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130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745" y="2946430"/>
                <a:ext cx="729687" cy="33855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940152" y="3140968"/>
            <a:ext cx="30963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每个负载门有电流</a:t>
            </a:r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r>
              <a:rPr lang="en-US" altLang="zh-CN" b="1" i="1" dirty="0"/>
              <a:t> </a:t>
            </a:r>
            <a:r>
              <a:rPr lang="zh-CN" altLang="en-US" b="1" dirty="0" smtClean="0"/>
              <a:t>输入</a:t>
            </a:r>
            <a:r>
              <a:rPr lang="en-US" altLang="zh-CN" b="1" dirty="0"/>
              <a:t>, </a:t>
            </a:r>
            <a:r>
              <a:rPr lang="zh-CN" altLang="en-US" b="1" dirty="0" smtClean="0"/>
              <a:t>这些电流是灌入</a:t>
            </a:r>
            <a:r>
              <a:rPr lang="en-US" altLang="zh-CN" b="1" dirty="0" smtClean="0"/>
              <a:t>F</a:t>
            </a:r>
            <a:r>
              <a:rPr lang="zh-CN" altLang="en-US" b="1" dirty="0" smtClean="0"/>
              <a:t>端的，故称为</a:t>
            </a:r>
            <a:r>
              <a:rPr lang="zh-CN" altLang="en-US" b="1" dirty="0" smtClean="0">
                <a:solidFill>
                  <a:srgbClr val="0000CC"/>
                </a:solidFill>
              </a:rPr>
              <a:t>灌</a:t>
            </a:r>
            <a:r>
              <a:rPr lang="zh-CN" altLang="en-US" b="1" dirty="0">
                <a:solidFill>
                  <a:srgbClr val="0000CC"/>
                </a:solidFill>
              </a:rPr>
              <a:t>电流</a:t>
            </a:r>
            <a:r>
              <a:rPr lang="zh-CN" altLang="en-US" b="1" dirty="0" smtClean="0">
                <a:solidFill>
                  <a:srgbClr val="0000CC"/>
                </a:solidFill>
              </a:rPr>
              <a:t>。</a:t>
            </a:r>
            <a:endParaRPr lang="en-US" altLang="zh-CN" b="1" dirty="0" smtClean="0">
              <a:solidFill>
                <a:srgbClr val="0000CC"/>
              </a:solidFill>
            </a:endParaRPr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/>
              <a:t>灌入驱动门</a:t>
            </a:r>
            <a:r>
              <a:rPr lang="en-US" altLang="zh-CN" b="1" dirty="0"/>
              <a:t>, </a:t>
            </a:r>
            <a:r>
              <a:rPr lang="zh-CN" altLang="en-US" b="1" dirty="0"/>
              <a:t>这时的负载为灌流负载。</a:t>
            </a:r>
          </a:p>
          <a:p>
            <a:r>
              <a:rPr lang="en-US" altLang="zh-CN" b="1" dirty="0" smtClean="0"/>
              <a:t>I</a:t>
            </a:r>
            <a:r>
              <a:rPr lang="en-US" altLang="zh-CN" b="1" baseline="-25000" dirty="0" smtClean="0"/>
              <a:t>max</a:t>
            </a:r>
            <a:r>
              <a:rPr lang="en-US" altLang="zh-CN" b="1" dirty="0" smtClean="0"/>
              <a:t>=16 mA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3851920" y="2420888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779912" y="3491716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endParaRPr lang="zh-CN" altLang="en-US" dirty="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149080"/>
            <a:ext cx="2426087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3528" y="2348880"/>
            <a:ext cx="5134490" cy="3024016"/>
            <a:chOff x="323528" y="2348880"/>
            <a:chExt cx="5134490" cy="3024016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2492896"/>
              <a:ext cx="5049686" cy="288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矩形 19"/>
            <p:cNvSpPr/>
            <p:nvPr/>
          </p:nvSpPr>
          <p:spPr>
            <a:xfrm>
              <a:off x="5004048" y="2348880"/>
              <a:ext cx="4539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 smtClean="0"/>
                <a:t>5V</a:t>
              </a:r>
              <a:endParaRPr lang="zh-CN" altLang="en-US" sz="1600" b="1" dirty="0"/>
            </a:p>
          </p:txBody>
        </p:sp>
      </p:grpSp>
      <p:sp>
        <p:nvSpPr>
          <p:cNvPr id="22" name="圆角矩形标注 21"/>
          <p:cNvSpPr/>
          <p:nvPr/>
        </p:nvSpPr>
        <p:spPr>
          <a:xfrm>
            <a:off x="2123728" y="5341661"/>
            <a:ext cx="1584176" cy="783193"/>
          </a:xfrm>
          <a:prstGeom prst="wedgeRoundRectCallout">
            <a:avLst>
              <a:gd name="adj1" fmla="val -2177"/>
              <a:gd name="adj2" fmla="val -159176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灌电流由负载流向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3750" y="1542208"/>
            <a:ext cx="5074394" cy="4911128"/>
          </a:xfrm>
        </p:spPr>
        <p:txBody>
          <a:bodyPr/>
          <a:lstStyle/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如果驱动门从每一个负载门接收</a:t>
            </a:r>
            <a:r>
              <a:rPr lang="en-US" altLang="zh-CN" sz="2400" dirty="0"/>
              <a:t>1.1 mA (1.6 mA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灌</a:t>
            </a:r>
            <a:r>
              <a:rPr lang="zh-CN" altLang="en-US" sz="2400" dirty="0"/>
              <a:t>电流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I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cs5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就要升高</a:t>
            </a:r>
            <a:r>
              <a:rPr lang="en-US" altLang="zh-CN" sz="2400" dirty="0"/>
              <a:t>, </a:t>
            </a:r>
            <a:r>
              <a:rPr lang="zh-CN" altLang="en-US" sz="2400" dirty="0"/>
              <a:t>饱和就会变浅</a:t>
            </a:r>
            <a:r>
              <a:rPr lang="en-US" altLang="zh-CN" sz="2400" dirty="0"/>
              <a:t>, </a:t>
            </a:r>
            <a:r>
              <a:rPr lang="en-US" altLang="zh-CN" sz="2400" dirty="0" smtClean="0">
                <a:solidFill>
                  <a:srgbClr val="0000CC"/>
                </a:solidFill>
              </a:rPr>
              <a:t>F</a:t>
            </a:r>
            <a:r>
              <a:rPr lang="zh-CN" altLang="en-US" sz="2400" dirty="0" smtClean="0">
                <a:solidFill>
                  <a:srgbClr val="0000CC"/>
                </a:solidFill>
              </a:rPr>
              <a:t>就要上升</a:t>
            </a:r>
            <a:r>
              <a:rPr lang="zh-CN" altLang="en-US" sz="2400" dirty="0" smtClean="0"/>
              <a:t>，有可能使输出</a:t>
            </a:r>
            <a:r>
              <a:rPr lang="zh-CN" altLang="en-US" sz="2400" dirty="0"/>
              <a:t>脱离</a:t>
            </a:r>
            <a:r>
              <a:rPr lang="zh-CN" altLang="en-US" sz="2400" dirty="0" smtClean="0"/>
              <a:t>标准低</a:t>
            </a:r>
            <a:r>
              <a:rPr lang="zh-CN" altLang="en-US" sz="2400" dirty="0"/>
              <a:t>电平。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因此，</a:t>
            </a:r>
            <a:r>
              <a:rPr lang="en-US" altLang="zh-CN" sz="2400" dirty="0">
                <a:solidFill>
                  <a:srgbClr val="FF0000"/>
                </a:solidFill>
              </a:rPr>
              <a:t>TTL </a:t>
            </a:r>
            <a:r>
              <a:rPr lang="zh-CN" altLang="en-US" sz="2400" dirty="0">
                <a:solidFill>
                  <a:srgbClr val="FF0000"/>
                </a:solidFill>
              </a:rPr>
              <a:t>不能带过多负载门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驱动</a:t>
            </a:r>
            <a:r>
              <a:rPr lang="zh-CN" altLang="en-US" sz="2400" dirty="0"/>
              <a:t>门的最大</a:t>
            </a:r>
            <a:r>
              <a:rPr lang="zh-CN" altLang="en-US" sz="2400" dirty="0" smtClean="0"/>
              <a:t>容许</a:t>
            </a:r>
            <a:r>
              <a:rPr lang="zh-CN" altLang="en-US" sz="2400" dirty="0"/>
              <a:t>灌电流</a:t>
            </a:r>
            <a:r>
              <a:rPr lang="en-US" altLang="zh-CN" sz="2400" dirty="0"/>
              <a:t>16 mA.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>
                <a:solidFill>
                  <a:srgbClr val="FF0000"/>
                </a:solidFill>
              </a:rPr>
              <a:t>扇出</a:t>
            </a:r>
            <a:r>
              <a:rPr lang="zh-CN" altLang="en-US" sz="2400" dirty="0" smtClean="0">
                <a:solidFill>
                  <a:srgbClr val="FF0000"/>
                </a:solidFill>
              </a:rPr>
              <a:t>系数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一</a:t>
            </a:r>
            <a:r>
              <a:rPr lang="zh-CN" altLang="en-US" dirty="0"/>
              <a:t>个输出所能驱动的同类门的最大数目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u"/>
            </a:pPr>
            <a:r>
              <a:rPr lang="zh-CN" altLang="en-US" dirty="0">
                <a:solidFill>
                  <a:srgbClr val="0000CC"/>
                </a:solidFill>
              </a:rPr>
              <a:t>手册上规定</a:t>
            </a:r>
            <a:r>
              <a:rPr lang="zh-CN" altLang="en-US" dirty="0" smtClean="0">
                <a:solidFill>
                  <a:srgbClr val="0000CC"/>
                </a:solidFill>
              </a:rPr>
              <a:t>：</a:t>
            </a:r>
            <a:r>
              <a:rPr lang="en-US" altLang="zh-CN" dirty="0" smtClean="0">
                <a:solidFill>
                  <a:srgbClr val="0000CC"/>
                </a:solidFill>
              </a:rPr>
              <a:t>N</a:t>
            </a:r>
            <a:r>
              <a:rPr lang="en-US" altLang="zh-CN" dirty="0" smtClean="0">
                <a:solidFill>
                  <a:srgbClr val="0000CC"/>
                </a:solidFill>
                <a:latin typeface="+mj-ea"/>
                <a:ea typeface="+mj-ea"/>
              </a:rPr>
              <a:t>≤8</a:t>
            </a:r>
            <a:endParaRPr lang="zh-CN" altLang="en-US" dirty="0">
              <a:solidFill>
                <a:srgbClr val="0000CC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92</a:t>
            </a:fld>
            <a:endParaRPr lang="zh-CN" altLang="en-US"/>
          </a:p>
        </p:txBody>
      </p:sp>
      <p:sp>
        <p:nvSpPr>
          <p:cNvPr id="6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099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852936"/>
            <a:ext cx="32004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）拉流负载能力</a:t>
            </a:r>
            <a:r>
              <a:rPr lang="zh-CN" altLang="en-US" dirty="0" smtClean="0"/>
              <a:t>：输出高电平－拉流负载</a:t>
            </a:r>
          </a:p>
          <a:p>
            <a:pPr lvl="1"/>
            <a:r>
              <a:rPr lang="zh-CN" altLang="en-US" dirty="0" smtClean="0"/>
              <a:t>输出</a:t>
            </a:r>
            <a:r>
              <a:rPr lang="zh-CN" altLang="en-US" dirty="0"/>
              <a:t>高－拉流负载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93</a:t>
            </a:fld>
            <a:endParaRPr lang="zh-CN" alt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041522"/>
            <a:ext cx="5296327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755576" y="5949280"/>
            <a:ext cx="4608512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从</a:t>
            </a:r>
            <a:r>
              <a:rPr lang="en-US" altLang="zh-CN" sz="2000" b="1" i="1" dirty="0">
                <a:solidFill>
                  <a:srgbClr val="FF0000"/>
                </a:solidFill>
              </a:rPr>
              <a:t>F </a:t>
            </a:r>
            <a:r>
              <a:rPr lang="zh-CN" altLang="en-US" sz="2000" b="1" dirty="0">
                <a:solidFill>
                  <a:srgbClr val="FF0000"/>
                </a:solidFill>
              </a:rPr>
              <a:t>拉出的电流是负载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门的</a:t>
            </a:r>
            <a:r>
              <a:rPr lang="zh-CN" altLang="en-US" sz="2000" b="1" dirty="0">
                <a:solidFill>
                  <a:srgbClr val="FF0000"/>
                </a:solidFill>
              </a:rPr>
              <a:t>反向漏电流。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508518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驱动门</a:t>
            </a:r>
          </a:p>
        </p:txBody>
      </p:sp>
      <p:sp>
        <p:nvSpPr>
          <p:cNvPr id="8" name="矩形 7"/>
          <p:cNvSpPr/>
          <p:nvPr/>
        </p:nvSpPr>
        <p:spPr>
          <a:xfrm>
            <a:off x="3779912" y="5085184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负载</a:t>
            </a:r>
            <a:r>
              <a:rPr lang="zh-CN" altLang="en-US" b="1" dirty="0" smtClean="0"/>
              <a:t>门</a:t>
            </a:r>
            <a:endParaRPr lang="zh-CN" altLang="en-US" b="1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436096" y="1967929"/>
                <a:ext cx="3384376" cy="397031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驱动门输出高电平时，要承受各负载门的</a:t>
                </a:r>
                <a:r>
                  <a:rPr lang="zh-CN" altLang="en-US" b="1" dirty="0" smtClean="0">
                    <a:solidFill>
                      <a:srgbClr val="0000CC"/>
                    </a:solidFill>
                  </a:rPr>
                  <a:t>拉电流</a:t>
                </a:r>
                <a:r>
                  <a:rPr lang="zh-CN" altLang="en-US" b="1" dirty="0" smtClean="0"/>
                  <a:t>。</a:t>
                </a:r>
                <a:endParaRPr lang="en-US" altLang="zh-CN" b="1" dirty="0" smtClean="0"/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 smtClean="0"/>
                  <a:t>拉</a:t>
                </a:r>
                <a:r>
                  <a:rPr lang="zh-CN" altLang="en-US" b="1" dirty="0"/>
                  <a:t>电流越大，驱动门中</a:t>
                </a:r>
                <a:r>
                  <a:rPr lang="en-US" altLang="zh-CN" b="1" dirty="0"/>
                  <a:t>R4 </a:t>
                </a:r>
                <a:r>
                  <a:rPr lang="zh-CN" altLang="en-US" b="1" dirty="0"/>
                  <a:t>上压降越大。</a:t>
                </a:r>
                <a:r>
                  <a:rPr lang="en-US" altLang="zh-CN" b="1" dirty="0" smtClean="0"/>
                  <a:t>F</a:t>
                </a:r>
                <a:r>
                  <a:rPr lang="zh-CN" altLang="en-US" b="1" dirty="0" smtClean="0"/>
                  <a:t>非</a:t>
                </a:r>
                <a:r>
                  <a:rPr lang="zh-CN" altLang="en-US" b="1" dirty="0"/>
                  <a:t>高非低，脱离标准逻辑高电平。</a:t>
                </a:r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每负载门的拉电流为</a:t>
                </a:r>
                <a:r>
                  <a:rPr lang="en-US" altLang="zh-CN" b="1" dirty="0"/>
                  <a:t>40μA</a:t>
                </a:r>
                <a:r>
                  <a:rPr lang="zh-CN" altLang="en-US" b="1" dirty="0"/>
                  <a:t>，驱动门最大</a:t>
                </a:r>
                <a:r>
                  <a:rPr lang="zh-CN" altLang="en-US" b="1" dirty="0" smtClean="0"/>
                  <a:t>允许拉</a:t>
                </a:r>
                <a:r>
                  <a:rPr lang="zh-CN" altLang="en-US" b="1" dirty="0"/>
                  <a:t>电流</a:t>
                </a:r>
                <a:r>
                  <a:rPr lang="en-US" altLang="zh-CN" b="1" dirty="0"/>
                  <a:t>400</a:t>
                </a:r>
                <a:r>
                  <a:rPr lang="el-GR" altLang="zh-CN" b="1" dirty="0"/>
                  <a:t>μ</a:t>
                </a:r>
                <a:r>
                  <a:rPr lang="en-US" altLang="zh-CN" b="1" dirty="0" smtClean="0"/>
                  <a:t>A</a:t>
                </a:r>
              </a:p>
              <a:p>
                <a:pPr marL="742950" lvl="1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扇出系数与灌电流时相同：</a:t>
                </a:r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endParaRPr lang="en-US" altLang="zh-CN" b="1" dirty="0"/>
              </a:p>
              <a:p>
                <a:r>
                  <a:rPr lang="zh-CN" altLang="en-US" b="1" dirty="0" smtClean="0"/>
                  <a:t></a:t>
                </a:r>
                <a:endParaRPr lang="zh-CN" altLang="en-US" b="1" dirty="0"/>
              </a:p>
              <a:p>
                <a:r>
                  <a:rPr lang="zh-CN" altLang="en-US" b="1" dirty="0"/>
                  <a:t></a:t>
                </a:r>
              </a:p>
              <a:p>
                <a:r>
                  <a:rPr lang="zh-CN" altLang="en-US" b="1" dirty="0" smtClean="0"/>
                  <a:t>手册</a:t>
                </a:r>
                <a:r>
                  <a:rPr lang="zh-CN" altLang="en-US" b="1" dirty="0"/>
                  <a:t>规定： </a:t>
                </a:r>
                <a:r>
                  <a:rPr lang="en-US" altLang="zh-CN" b="1" i="1" dirty="0"/>
                  <a:t>N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CN" b="1" dirty="0" smtClean="0"/>
                  <a:t>8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967929"/>
                <a:ext cx="3384376" cy="397031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622" t="-768" r="-1441" b="-1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24" y="4568801"/>
            <a:ext cx="15144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2051720" y="5013176"/>
            <a:ext cx="1440159" cy="783193"/>
          </a:xfrm>
          <a:prstGeom prst="wedgeRoundRectCallout">
            <a:avLst>
              <a:gd name="adj1" fmla="val -13114"/>
              <a:gd name="adj2" fmla="val -177418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拉电流由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流向负载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08929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96336" y="0"/>
            <a:ext cx="1547664" cy="1959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69509" cy="494928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467544" y="1484784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集成与非门</a:t>
            </a: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1115616" y="1804988"/>
            <a:ext cx="6934200" cy="5053012"/>
            <a:chOff x="672" y="610"/>
            <a:chExt cx="4368" cy="3183"/>
          </a:xfrm>
        </p:grpSpPr>
        <p:grpSp>
          <p:nvGrpSpPr>
            <p:cNvPr id="5" name="Group 20"/>
            <p:cNvGrpSpPr/>
            <p:nvPr/>
          </p:nvGrpSpPr>
          <p:grpSpPr bwMode="auto">
            <a:xfrm>
              <a:off x="672" y="610"/>
              <a:ext cx="4368" cy="3183"/>
              <a:chOff x="672" y="610"/>
              <a:chExt cx="4368" cy="3183"/>
            </a:xfrm>
          </p:grpSpPr>
          <p:pic>
            <p:nvPicPr>
              <p:cNvPr id="10" name="Picture 21" descr="2-4-2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6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" y="610"/>
                <a:ext cx="4368" cy="31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hlink"/>
                    </a:solidFill>
                  </a14:hiddenFill>
                </a:ext>
              </a:extLst>
            </p:spPr>
          </p:pic>
          <p:sp>
            <p:nvSpPr>
              <p:cNvPr id="11" name="Line 22"/>
              <p:cNvSpPr>
                <a:spLocks noChangeShapeType="1"/>
              </p:cNvSpPr>
              <p:nvPr/>
            </p:nvSpPr>
            <p:spPr bwMode="auto">
              <a:xfrm>
                <a:off x="2496" y="706"/>
                <a:ext cx="0" cy="307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Line 23"/>
            <p:cNvSpPr>
              <a:spLocks noChangeShapeType="1"/>
            </p:cNvSpPr>
            <p:nvPr/>
          </p:nvSpPr>
          <p:spPr bwMode="auto">
            <a:xfrm>
              <a:off x="3243" y="709"/>
              <a:ext cx="0" cy="30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3685779" y="4625975"/>
            <a:ext cx="935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4909741" y="4697413"/>
            <a:ext cx="935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grpSp>
        <p:nvGrpSpPr>
          <p:cNvPr id="7" name="Group 27"/>
          <p:cNvGrpSpPr/>
          <p:nvPr/>
        </p:nvGrpSpPr>
        <p:grpSpPr bwMode="auto">
          <a:xfrm>
            <a:off x="4765279" y="3473450"/>
            <a:ext cx="935037" cy="579438"/>
            <a:chOff x="385" y="3249"/>
            <a:chExt cx="589" cy="365"/>
          </a:xfrm>
        </p:grpSpPr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0"/>
          <p:cNvGrpSpPr/>
          <p:nvPr/>
        </p:nvGrpSpPr>
        <p:grpSpPr bwMode="auto">
          <a:xfrm>
            <a:off x="7357666" y="4337050"/>
            <a:ext cx="935038" cy="579438"/>
            <a:chOff x="385" y="3249"/>
            <a:chExt cx="589" cy="365"/>
          </a:xfrm>
        </p:grpSpPr>
        <p:sp>
          <p:nvSpPr>
            <p:cNvPr id="18" name="Text Box 31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AutoShape 33"/>
          <p:cNvSpPr>
            <a:spLocks noChangeArrowheads="1"/>
          </p:cNvSpPr>
          <p:nvPr/>
        </p:nvSpPr>
        <p:spPr bwMode="auto">
          <a:xfrm>
            <a:off x="850850" y="3343796"/>
            <a:ext cx="1295400" cy="503237"/>
          </a:xfrm>
          <a:prstGeom prst="wedgeEllipseCallout">
            <a:avLst>
              <a:gd name="adj1" fmla="val 41544"/>
              <a:gd name="adj2" fmla="val 261670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悬空？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94</a:t>
            </a:fld>
            <a:endParaRPr lang="zh-CN" altLang="en-US"/>
          </a:p>
        </p:txBody>
      </p:sp>
      <p:sp>
        <p:nvSpPr>
          <p:cNvPr id="21" name="AutoShape 33"/>
          <p:cNvSpPr>
            <a:spLocks noChangeArrowheads="1"/>
          </p:cNvSpPr>
          <p:nvPr/>
        </p:nvSpPr>
        <p:spPr bwMode="auto">
          <a:xfrm>
            <a:off x="251520" y="2060848"/>
            <a:ext cx="2880320" cy="2088232"/>
          </a:xfrm>
          <a:prstGeom prst="wedgeEllipseCallout">
            <a:avLst>
              <a:gd name="adj1" fmla="val 34677"/>
              <a:gd name="adj2" fmla="val 71080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悬空</a:t>
            </a:r>
            <a:r>
              <a:rPr kumimoji="1" lang="zh-CN" altLang="en-US" sz="2000" b="1" dirty="0" smtClean="0">
                <a:latin typeface="Times New Roman" panose="02020603050405020304" pitchFamily="18" charset="0"/>
              </a:rPr>
              <a:t>，相当于输入电阻无穷大，远大于</a:t>
            </a:r>
            <a:r>
              <a:rPr kumimoji="1" lang="en-US" altLang="zh-CN" sz="2000" b="1" dirty="0" smtClean="0">
                <a:latin typeface="Times New Roman" panose="02020603050405020304" pitchFamily="18" charset="0"/>
              </a:rPr>
              <a:t>2K</a:t>
            </a:r>
            <a:r>
              <a:rPr kumimoji="1" lang="el-GR" altLang="zh-CN" sz="2000" b="1" dirty="0" smtClean="0">
                <a:latin typeface="Times New Roman" panose="02020603050405020304" pitchFamily="18" charset="0"/>
                <a:ea typeface="宋体"/>
              </a:rPr>
              <a:t>Ω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宋体"/>
              </a:rPr>
              <a:t>。</a:t>
            </a:r>
            <a:endParaRPr kumimoji="1" lang="en-US" altLang="zh-CN" sz="2000" b="1" dirty="0" smtClean="0">
              <a:latin typeface="Times New Roman" panose="02020603050405020304" pitchFamily="18" charset="0"/>
            </a:endParaRPr>
          </a:p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     相当于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输入逻辑电平</a:t>
            </a:r>
            <a:r>
              <a:rPr kumimoji="1" lang="en-US" altLang="zh-CN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 animBg="1"/>
      <p:bldP spid="2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5437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latin typeface="Times New Roman" panose="02020603050405020304" pitchFamily="18" charset="0"/>
              </a:rPr>
              <a:t> 2.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或非门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1547664" y="1844824"/>
            <a:ext cx="5805487" cy="4886325"/>
            <a:chOff x="1152" y="618"/>
            <a:chExt cx="3657" cy="3078"/>
          </a:xfrm>
        </p:grpSpPr>
        <p:grpSp>
          <p:nvGrpSpPr>
            <p:cNvPr id="9" name="Group 9"/>
            <p:cNvGrpSpPr/>
            <p:nvPr/>
          </p:nvGrpSpPr>
          <p:grpSpPr bwMode="auto">
            <a:xfrm>
              <a:off x="1152" y="624"/>
              <a:ext cx="3657" cy="3072"/>
              <a:chOff x="1152" y="624"/>
              <a:chExt cx="3657" cy="3072"/>
            </a:xfrm>
          </p:grpSpPr>
          <p:pic>
            <p:nvPicPr>
              <p:cNvPr id="11" name="Picture 10" descr="2-4-3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6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" y="842"/>
                <a:ext cx="3657" cy="2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hlink"/>
                    </a:solidFill>
                  </a14:hiddenFill>
                </a:ext>
              </a:extLst>
            </p:spPr>
          </p:pic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3787" y="624"/>
                <a:ext cx="0" cy="307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608" y="618"/>
              <a:ext cx="0" cy="30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7099151" y="4221312"/>
            <a:ext cx="1152525" cy="579437"/>
            <a:chOff x="385" y="3249"/>
            <a:chExt cx="589" cy="365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354239" y="3860949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27264" y="5805637"/>
            <a:ext cx="504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B</a:t>
            </a:r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4795689" y="3500587"/>
            <a:ext cx="1152525" cy="579437"/>
            <a:chOff x="385" y="3249"/>
            <a:chExt cx="589" cy="365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722664" y="4434037"/>
            <a:ext cx="1152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A+B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95</a:t>
            </a:fld>
            <a:endParaRPr lang="zh-CN" altLang="en-US"/>
          </a:p>
        </p:txBody>
      </p:sp>
      <p:sp>
        <p:nvSpPr>
          <p:cNvPr id="2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340768"/>
            <a:ext cx="558165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88833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8786" y="3143522"/>
            <a:ext cx="935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210223" y="5304110"/>
            <a:ext cx="935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3300"/>
                </a:solidFill>
                <a:latin typeface="Tahoma" panose="020B0604030504040204" pitchFamily="34" charset="0"/>
              </a:rPr>
              <a:t>CD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146848" y="4511947"/>
            <a:ext cx="1728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AB+CD</a:t>
            </a:r>
          </a:p>
        </p:txBody>
      </p:sp>
      <p:grpSp>
        <p:nvGrpSpPr>
          <p:cNvPr id="12" name="Group 14"/>
          <p:cNvGrpSpPr/>
          <p:nvPr/>
        </p:nvGrpSpPr>
        <p:grpSpPr bwMode="auto">
          <a:xfrm>
            <a:off x="4075411" y="2208485"/>
            <a:ext cx="1728787" cy="579437"/>
            <a:chOff x="158" y="1842"/>
            <a:chExt cx="1089" cy="365"/>
          </a:xfrm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58" y="1842"/>
              <a:ext cx="10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AB+CD</a:t>
              </a: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04" y="1842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7"/>
          <p:cNvGrpSpPr/>
          <p:nvPr/>
        </p:nvGrpSpPr>
        <p:grpSpPr bwMode="auto">
          <a:xfrm>
            <a:off x="6739236" y="3648347"/>
            <a:ext cx="1728787" cy="579438"/>
            <a:chOff x="158" y="1842"/>
            <a:chExt cx="1089" cy="365"/>
          </a:xfrm>
        </p:grpSpPr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158" y="1842"/>
              <a:ext cx="10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AB+CD</a:t>
              </a: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04" y="1842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96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3528" y="1484784"/>
            <a:ext cx="25010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latin typeface="Tahoma" panose="020B0604030504040204" pitchFamily="34" charset="0"/>
              </a:rPr>
              <a:t> 3.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与或非门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556792"/>
            <a:ext cx="6102102" cy="494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 ：异或门</a:t>
            </a:r>
            <a:endParaRPr lang="zh-CN" altLang="en-US" sz="3200" dirty="0"/>
          </a:p>
        </p:txBody>
      </p:sp>
      <p:grpSp>
        <p:nvGrpSpPr>
          <p:cNvPr id="3" name="Group 6"/>
          <p:cNvGrpSpPr/>
          <p:nvPr/>
        </p:nvGrpSpPr>
        <p:grpSpPr bwMode="auto">
          <a:xfrm>
            <a:off x="4705175" y="1198388"/>
            <a:ext cx="1228042" cy="5461061"/>
            <a:chOff x="3243" y="391"/>
            <a:chExt cx="680" cy="3264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3243" y="391"/>
              <a:ext cx="0" cy="32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3923" y="391"/>
              <a:ext cx="0" cy="32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4067944" y="3717032"/>
            <a:ext cx="1152525" cy="523875"/>
            <a:chOff x="249" y="2251"/>
            <a:chExt cx="726" cy="330"/>
          </a:xfrm>
        </p:grpSpPr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49" y="2251"/>
              <a:ext cx="7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95" y="2251"/>
              <a:ext cx="49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283968" y="2492896"/>
            <a:ext cx="792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7127441" y="2566019"/>
            <a:ext cx="1658070" cy="432594"/>
          </a:xfrm>
          <a:prstGeom prst="wedgeRoundRectCallout">
            <a:avLst>
              <a:gd name="adj1" fmla="val -56480"/>
              <a:gd name="adj2" fmla="val 273788"/>
              <a:gd name="adj3" fmla="val 16667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2400" b="1" dirty="0">
                <a:latin typeface="Tahoma" panose="020B0604030504040204" pitchFamily="34" charset="0"/>
              </a:rPr>
              <a:t>异或门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7164288" y="4077072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</a:rPr>
              <a:t>A⊕B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97</a:t>
            </a:fld>
            <a:endParaRPr lang="zh-CN" altLang="en-US"/>
          </a:p>
        </p:txBody>
      </p:sp>
      <p:sp>
        <p:nvSpPr>
          <p:cNvPr id="1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552" y="1484784"/>
            <a:ext cx="2520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latin typeface="Tahoma" panose="020B0604030504040204" pitchFamily="34" charset="0"/>
              </a:rPr>
              <a:t> 4.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异或门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6948264" y="5013176"/>
            <a:ext cx="1440160" cy="541803"/>
          </a:xfrm>
          <a:prstGeom prst="wedgeRectCallout">
            <a:avLst>
              <a:gd name="adj1" fmla="val 2201"/>
              <a:gd name="adj2" fmla="val -140675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04834" name="Object 2"/>
          <p:cNvGraphicFramePr>
            <a:graphicFrameLocks noChangeAspect="1"/>
          </p:cNvGraphicFramePr>
          <p:nvPr/>
        </p:nvGraphicFramePr>
        <p:xfrm>
          <a:off x="6948264" y="5085184"/>
          <a:ext cx="1408112" cy="377825"/>
        </p:xfrm>
        <a:graphic>
          <a:graphicData uri="http://schemas.openxmlformats.org/presentationml/2006/ole">
            <p:oleObj spid="_x0000_s504834" r:id="rId4" imgW="736560" imgH="2156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5. </a:t>
            </a:r>
            <a:r>
              <a:rPr lang="zh-CN" altLang="en-US" sz="2800" dirty="0" smtClean="0"/>
              <a:t>集电极</a:t>
            </a:r>
            <a:r>
              <a:rPr lang="zh-CN" altLang="en-US" sz="2800" dirty="0"/>
              <a:t>开路（</a:t>
            </a:r>
            <a:r>
              <a:rPr lang="en-US" altLang="zh-CN" sz="2800" dirty="0"/>
              <a:t>OC</a:t>
            </a:r>
            <a:r>
              <a:rPr lang="zh-CN" altLang="en-US" sz="2800" dirty="0"/>
              <a:t>）与非门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需要运算</a:t>
            </a: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有</a:t>
            </a:r>
            <a:r>
              <a:rPr lang="zh-CN" altLang="en-US" dirty="0"/>
              <a:t>一种连接</a:t>
            </a:r>
            <a:r>
              <a:rPr lang="zh-CN" altLang="en-US" dirty="0" smtClean="0"/>
              <a:t>方法，如图所示，这种</a:t>
            </a:r>
            <a:r>
              <a:rPr lang="zh-CN" altLang="en-US" dirty="0"/>
              <a:t>连法称“线与”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/>
              <a:t>普通</a:t>
            </a:r>
            <a:r>
              <a:rPr lang="en-US" altLang="zh-CN" dirty="0"/>
              <a:t>TTL</a:t>
            </a:r>
            <a:r>
              <a:rPr lang="zh-CN" altLang="en-US" dirty="0"/>
              <a:t>门电路禁止这种连接方法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98</a:t>
            </a:fld>
            <a:endParaRPr lang="zh-CN" alt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062" y="3645024"/>
            <a:ext cx="2203636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988840"/>
            <a:ext cx="2438222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949684" y="4581128"/>
                <a:ext cx="70243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zh-CN" altLang="en-US" sz="40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684" y="4581128"/>
                <a:ext cx="702436" cy="70788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27584" y="2276872"/>
            <a:ext cx="482453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/>
              <a:t>TTL </a:t>
            </a:r>
            <a:r>
              <a:rPr lang="zh-CN" altLang="en-US" sz="2400" b="1" dirty="0"/>
              <a:t>门输入电阻很小。</a:t>
            </a:r>
            <a:r>
              <a:rPr lang="zh-CN" altLang="en-US" sz="2400" b="1" dirty="0" smtClean="0"/>
              <a:t>如果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 </a:t>
            </a:r>
            <a:r>
              <a:rPr lang="zh-CN" altLang="en-US" sz="2400" b="1" dirty="0"/>
              <a:t>输出高，而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输出低</a:t>
            </a:r>
            <a:r>
              <a:rPr lang="en-US" altLang="zh-CN" sz="2400" b="1" dirty="0" smtClean="0"/>
              <a:t>,</a:t>
            </a:r>
            <a:r>
              <a:rPr lang="zh-CN" altLang="en-US" sz="2400" b="1" dirty="0" smtClean="0"/>
              <a:t>会</a:t>
            </a:r>
            <a:r>
              <a:rPr lang="zh-CN" altLang="en-US" sz="2400" b="1" dirty="0"/>
              <a:t>形成一个很大电流</a:t>
            </a:r>
            <a:r>
              <a:rPr lang="en-US" altLang="zh-CN" sz="2400" b="1" i="1" dirty="0"/>
              <a:t>I </a:t>
            </a:r>
            <a:r>
              <a:rPr lang="zh-CN" altLang="en-US" sz="2400" b="1" dirty="0"/>
              <a:t>从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1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T</a:t>
            </a:r>
            <a:r>
              <a:rPr lang="en-US" altLang="zh-CN" sz="2400" b="1" baseline="-25000" dirty="0" smtClean="0"/>
              <a:t>4</a:t>
            </a:r>
            <a:r>
              <a:rPr lang="en-US" altLang="zh-CN" sz="2400" b="1" dirty="0" smtClean="0"/>
              <a:t> </a:t>
            </a:r>
            <a:r>
              <a:rPr lang="zh-CN" altLang="en-US" sz="2400" b="1" dirty="0"/>
              <a:t>流向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2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T</a:t>
            </a:r>
            <a:r>
              <a:rPr lang="en-US" altLang="zh-CN" sz="2400" b="1" baseline="-25000" dirty="0" smtClean="0"/>
              <a:t>5</a:t>
            </a:r>
            <a:r>
              <a:rPr lang="en-US" altLang="zh-CN" sz="2400" b="1" dirty="0"/>
              <a:t>.</a:t>
            </a: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/>
              <a:t>导致</a:t>
            </a:r>
            <a:r>
              <a:rPr lang="en-US" altLang="zh-CN" sz="2400" b="1" dirty="0" smtClean="0"/>
              <a:t>:</a:t>
            </a:r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/>
              <a:t>电流过大会烧坏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2</a:t>
            </a:r>
            <a:r>
              <a:rPr lang="zh-CN" altLang="en-US" sz="2000" b="1" dirty="0"/>
              <a:t>门的</a:t>
            </a:r>
            <a:r>
              <a:rPr lang="en-US" altLang="zh-CN" sz="2000" b="1" dirty="0"/>
              <a:t>T</a:t>
            </a:r>
            <a:r>
              <a:rPr lang="en-US" altLang="zh-CN" sz="2000" b="1" baseline="-25000" dirty="0"/>
              <a:t>5</a:t>
            </a:r>
            <a:r>
              <a:rPr lang="zh-CN" altLang="en-US" sz="2000" b="1" dirty="0"/>
              <a:t>管</a:t>
            </a:r>
            <a:endParaRPr lang="en-US" altLang="zh-CN" sz="2000" b="1" dirty="0"/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输出</a:t>
            </a:r>
            <a:r>
              <a:rPr lang="en-US" altLang="zh-CN" sz="2000" b="1" i="1" dirty="0"/>
              <a:t>F </a:t>
            </a:r>
            <a:r>
              <a:rPr lang="zh-CN" altLang="en-US" sz="2000" b="1" dirty="0"/>
              <a:t>脱离标准逻辑</a:t>
            </a:r>
            <a:r>
              <a:rPr lang="zh-CN" altLang="en-US" sz="2000" b="1" dirty="0" smtClean="0"/>
              <a:t>电平，</a:t>
            </a:r>
            <a:r>
              <a:rPr lang="zh-CN" altLang="en-US" sz="2000" b="1" dirty="0"/>
              <a:t>非</a:t>
            </a:r>
            <a:r>
              <a:rPr lang="en-US" altLang="zh-CN" sz="2000" b="1" dirty="0"/>
              <a:t>1 </a:t>
            </a:r>
            <a:r>
              <a:rPr lang="zh-CN" altLang="en-US" sz="2000" b="1" dirty="0"/>
              <a:t>非</a:t>
            </a:r>
            <a:r>
              <a:rPr lang="en-US" altLang="zh-CN" sz="2000" b="1" dirty="0"/>
              <a:t>0, </a:t>
            </a:r>
            <a:r>
              <a:rPr lang="zh-CN" altLang="en-US" sz="2000" b="1" dirty="0"/>
              <a:t>逻辑错误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/>
              <a:t>输出高电平被固定在</a:t>
            </a:r>
            <a:r>
              <a:rPr lang="en-US" altLang="zh-CN" sz="2000" b="1" dirty="0"/>
              <a:t>3.4~3.6V</a:t>
            </a:r>
            <a:r>
              <a:rPr lang="zh-CN" altLang="en-US" sz="2000" b="1" dirty="0"/>
              <a:t>，如果需要获得高电压，此结构不</a:t>
            </a:r>
            <a:r>
              <a:rPr lang="zh-CN" altLang="en-US" sz="2000" b="1" dirty="0" smtClean="0"/>
              <a:t>满足。</a:t>
            </a:r>
            <a:endParaRPr lang="zh-CN" altLang="en-US" sz="2000" b="1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67544" y="1700808"/>
            <a:ext cx="54726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5. 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集电极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开路（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OC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）与非门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13787" y="6093296"/>
            <a:ext cx="3830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推拉式输出级并联的情况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99</a:t>
            </a:fld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228184" y="1268760"/>
            <a:ext cx="2147148" cy="4932000"/>
            <a:chOff x="5491750" y="1268760"/>
            <a:chExt cx="2147148" cy="4932000"/>
          </a:xfrm>
        </p:grpSpPr>
        <p:pic>
          <p:nvPicPr>
            <p:cNvPr id="5" name="Picture 8" descr="2-4-6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EBEBEB"/>
                </a:clrFrom>
                <a:clrTo>
                  <a:srgbClr val="EBEBEB">
                    <a:alpha val="0"/>
                  </a:srgbClr>
                </a:clrTo>
              </a:clrChange>
              <a:lum contrast="52000"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1750" y="1268760"/>
              <a:ext cx="2147148" cy="49320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=""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299517" y="2843644"/>
                  <a:ext cx="4219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517" y="2843644"/>
                  <a:ext cx="421910" cy="369332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="" xmlns:a14="http://schemas.microsoft.com/office/drawing/2010/main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303918" y="5094103"/>
                  <a:ext cx="428322" cy="423129"/>
                </a:xfrm>
                <a:prstGeom prst="rect">
                  <a:avLst/>
                </a:prstGeom>
                <a:noFill/>
                <a:ln w="2222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√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918" y="5094103"/>
                  <a:ext cx="428322" cy="423129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r="-1429" b="-7246"/>
                  </a:stretch>
                </a:blipFill>
                <a:ln w="222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133600" y="5638800"/>
            <a:ext cx="5318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OC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门与非门电路结构及国标符号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100</a:t>
            </a:fld>
            <a:endParaRPr lang="zh-CN" altLang="en-US"/>
          </a:p>
        </p:txBody>
      </p:sp>
      <p:pic>
        <p:nvPicPr>
          <p:cNvPr id="26762" name="Picture 138" descr="E:\wrj\课件\数字电路与系统\数字电路与数字系统\tupian\2-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6" y="2276872"/>
            <a:ext cx="5641367" cy="3096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63" name="Picture 139" descr="E:\wrj\课件\数字电路与系统\数字电路与数字系统\tupian\2-1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001735"/>
            <a:ext cx="1486585" cy="936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76924" y="1496933"/>
            <a:ext cx="6907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anose="02020603050405020304" pitchFamily="18" charset="0"/>
              </a:rPr>
              <a:t>集电极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开路（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OC   open collector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与非门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534" y="39688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Y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084168" y="2311059"/>
            <a:ext cx="2736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集电极开路与非门去掉</a:t>
            </a:r>
            <a:r>
              <a:rPr lang="zh-CN" altLang="en-US" b="1" dirty="0" smtClean="0"/>
              <a:t>了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4</a:t>
            </a:r>
            <a:r>
              <a:rPr lang="en-US" altLang="zh-CN" b="1" dirty="0" smtClean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3</a:t>
            </a:r>
            <a:r>
              <a:rPr lang="en-US" altLang="zh-CN" b="1" dirty="0" smtClean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增加</a:t>
            </a:r>
            <a:r>
              <a:rPr lang="zh-CN" altLang="en-US" b="1" dirty="0"/>
              <a:t>外接</a:t>
            </a:r>
            <a:r>
              <a:rPr lang="zh-CN" altLang="en-US" b="1" dirty="0" smtClean="0"/>
              <a:t>电源</a:t>
            </a:r>
            <a:r>
              <a:rPr lang="en-US" altLang="zh-CN" b="1" dirty="0" smtClean="0"/>
              <a:t>V’</a:t>
            </a:r>
            <a:r>
              <a:rPr lang="en-US" altLang="zh-CN" b="1" baseline="-25000" dirty="0" smtClean="0"/>
              <a:t>CC</a:t>
            </a:r>
            <a:r>
              <a:rPr lang="zh-CN" altLang="en-US" b="1" dirty="0" smtClean="0"/>
              <a:t>和限流电阻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L</a:t>
            </a:r>
            <a:endParaRPr lang="en-US" altLang="zh-CN" b="1" baseline="-25000" dirty="0"/>
          </a:p>
        </p:txBody>
      </p:sp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133600" y="6488509"/>
            <a:ext cx="495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OC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门输出并联的接法和逻辑图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101</a:t>
            </a:fld>
            <a:endParaRPr lang="zh-CN" altLang="en-US"/>
          </a:p>
        </p:txBody>
      </p:sp>
      <p:pic>
        <p:nvPicPr>
          <p:cNvPr id="32770" name="Picture 2" descr="E:\wrj\课件\数字电路与系统\数字电路与数字系统\tupian\2-1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949"/>
          <a:stretch>
            <a:fillRect/>
          </a:stretch>
        </p:blipFill>
        <p:spPr bwMode="auto">
          <a:xfrm>
            <a:off x="827584" y="1700808"/>
            <a:ext cx="4254974" cy="4896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150009" y="1328192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OC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输出门并联使用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32771" name="Picture 3" descr="E:\wrj\课件\数字电路与系统\数字电路与数字系统\tupian\2-1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215" y="2780928"/>
            <a:ext cx="2990769" cy="216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=""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940152" y="5339358"/>
                <a:ext cx="1598515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𝑨𝑩</m:t>
                          </m:r>
                        </m:e>
                      </m:acc>
                      <m:r>
                        <a:rPr lang="en-US" altLang="zh-CN" b="1" i="1" smtClean="0">
                          <a:latin typeface="Cambria Math"/>
                        </a:rPr>
                        <m:t> </m:t>
                      </m:r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altLang="zh-CN" b="1" i="1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𝑪𝑫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5339358"/>
                <a:ext cx="1598515" cy="369909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集电极开路（</a:t>
            </a:r>
            <a:r>
              <a:rPr lang="en-US" altLang="zh-CN" sz="2800" dirty="0"/>
              <a:t>OC</a:t>
            </a:r>
            <a:r>
              <a:rPr lang="zh-CN" altLang="en-US" sz="2800" dirty="0"/>
              <a:t>）门的</a:t>
            </a:r>
            <a:r>
              <a:rPr lang="zh-CN" altLang="en-US" sz="2800" dirty="0" smtClean="0"/>
              <a:t>特点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/>
              <a:t>工作时需</a:t>
            </a:r>
            <a:r>
              <a:rPr lang="zh-CN" altLang="en-US" dirty="0">
                <a:solidFill>
                  <a:srgbClr val="0000CC"/>
                </a:solidFill>
              </a:rPr>
              <a:t>外接</a:t>
            </a:r>
            <a:r>
              <a:rPr lang="zh-CN" altLang="en-US" dirty="0"/>
              <a:t>负载电阻（</a:t>
            </a:r>
            <a:r>
              <a:rPr lang="en-US" altLang="zh-CN" dirty="0"/>
              <a:t>R</a:t>
            </a:r>
            <a:r>
              <a:rPr lang="en-US" altLang="zh-CN" baseline="-25000" dirty="0"/>
              <a:t>L</a:t>
            </a:r>
            <a:r>
              <a:rPr lang="zh-CN" altLang="en-US" dirty="0"/>
              <a:t>）和电源（</a:t>
            </a:r>
            <a:r>
              <a:rPr lang="en-US" altLang="zh-CN" dirty="0" err="1"/>
              <a:t>V’</a:t>
            </a:r>
            <a:r>
              <a:rPr lang="en-US" altLang="zh-CN" baseline="-25000" dirty="0" err="1"/>
              <a:t>cc</a:t>
            </a:r>
            <a:r>
              <a:rPr lang="zh-CN" altLang="en-US" dirty="0"/>
              <a:t>）</a:t>
            </a:r>
            <a:r>
              <a:rPr lang="en-US" altLang="zh-CN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可</a:t>
            </a:r>
            <a:r>
              <a:rPr lang="zh-CN" altLang="en-US" dirty="0"/>
              <a:t>根据要求选择电源，灵活得到下级电路</a:t>
            </a:r>
            <a:r>
              <a:rPr lang="zh-CN" altLang="en-US" dirty="0">
                <a:solidFill>
                  <a:srgbClr val="0000CC"/>
                </a:solidFill>
              </a:rPr>
              <a:t>所需电压</a:t>
            </a:r>
            <a:r>
              <a:rPr lang="en-US" altLang="zh-CN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可</a:t>
            </a:r>
            <a:r>
              <a:rPr lang="zh-CN" altLang="en-US" dirty="0"/>
              <a:t>将</a:t>
            </a:r>
            <a:r>
              <a:rPr lang="en-US" altLang="zh-CN" dirty="0"/>
              <a:t>OC</a:t>
            </a:r>
            <a:r>
              <a:rPr lang="zh-CN" altLang="en-US" dirty="0"/>
              <a:t>门输出端直接并联，进行“</a:t>
            </a:r>
            <a:r>
              <a:rPr lang="zh-CN" altLang="en-US" dirty="0">
                <a:solidFill>
                  <a:srgbClr val="0000CC"/>
                </a:solidFill>
              </a:rPr>
              <a:t>线与</a:t>
            </a:r>
            <a:r>
              <a:rPr lang="zh-CN" altLang="en-US" dirty="0"/>
              <a:t>”；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有些</a:t>
            </a:r>
            <a:r>
              <a:rPr lang="en-US" altLang="zh-CN" dirty="0"/>
              <a:t>OC</a:t>
            </a:r>
            <a:r>
              <a:rPr lang="zh-CN" altLang="en-US" dirty="0"/>
              <a:t>门的输出管设计尺寸较大，足以</a:t>
            </a:r>
            <a:r>
              <a:rPr lang="zh-CN" altLang="en-US" dirty="0">
                <a:solidFill>
                  <a:srgbClr val="0000CC"/>
                </a:solidFill>
              </a:rPr>
              <a:t>承受较大</a:t>
            </a:r>
            <a:r>
              <a:rPr lang="zh-CN" altLang="en-US" dirty="0" smtClean="0">
                <a:solidFill>
                  <a:srgbClr val="0000CC"/>
                </a:solidFill>
              </a:rPr>
              <a:t>电流</a:t>
            </a:r>
            <a:r>
              <a:rPr lang="zh-CN" altLang="en-US" dirty="0">
                <a:solidFill>
                  <a:srgbClr val="0000CC"/>
                </a:solidFill>
              </a:rPr>
              <a:t>和较高电压</a:t>
            </a:r>
            <a:r>
              <a:rPr lang="zh-CN" altLang="en-US" dirty="0"/>
              <a:t>，可以直接驱动小型继电器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两个</a:t>
            </a:r>
            <a:r>
              <a:rPr lang="en-US" altLang="zh-CN" sz="2800" dirty="0" smtClean="0"/>
              <a:t>OC</a:t>
            </a:r>
            <a:r>
              <a:rPr lang="zh-CN" altLang="en-US" sz="2800" dirty="0" smtClean="0"/>
              <a:t>门电路的线与，实现了与或非的逻辑关系，非常方便和经济。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102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16097" name="Object 1"/>
          <p:cNvGraphicFramePr>
            <a:graphicFrameLocks noChangeAspect="1"/>
          </p:cNvGraphicFramePr>
          <p:nvPr/>
        </p:nvGraphicFramePr>
        <p:xfrm>
          <a:off x="1115616" y="5085184"/>
          <a:ext cx="3689350" cy="501650"/>
        </p:xfrm>
        <a:graphic>
          <a:graphicData uri="http://schemas.openxmlformats.org/presentationml/2006/ole">
            <p:oleObj spid="_x0000_s516097" r:id="rId3" imgW="1562040" imgH="2156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5400600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外接电路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L</a:t>
            </a:r>
            <a:r>
              <a:rPr lang="zh-CN" altLang="en-US" sz="2800" dirty="0" smtClean="0"/>
              <a:t>的计算方法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altLang="zh-CN" sz="2800" dirty="0" smtClean="0"/>
              <a:t>   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）求</a:t>
            </a:r>
            <a:r>
              <a:rPr lang="zh-CN" altLang="en-US" sz="2800" dirty="0" smtClean="0">
                <a:solidFill>
                  <a:srgbClr val="0000CC"/>
                </a:solidFill>
              </a:rPr>
              <a:t>负载电阻的</a:t>
            </a: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altLang="zh-CN" sz="2800" dirty="0" smtClean="0">
                <a:solidFill>
                  <a:srgbClr val="0000CC"/>
                </a:solidFill>
              </a:rPr>
              <a:t>             </a:t>
            </a:r>
            <a:r>
              <a:rPr lang="zh-CN" altLang="en-US" sz="2800" dirty="0" smtClean="0">
                <a:solidFill>
                  <a:srgbClr val="0000CC"/>
                </a:solidFill>
              </a:rPr>
              <a:t>最大值</a:t>
            </a:r>
            <a:r>
              <a:rPr lang="en-US" altLang="zh-CN" sz="2800" dirty="0" err="1" smtClean="0"/>
              <a:t>R</a:t>
            </a:r>
            <a:r>
              <a:rPr lang="en-US" altLang="zh-CN" sz="2800" baseline="-25000" dirty="0" err="1" smtClean="0"/>
              <a:t>Lmax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dirty="0" smtClean="0"/>
              <a:t>I</a:t>
            </a:r>
            <a:r>
              <a:rPr lang="en-US" altLang="zh-CN" baseline="-25000" dirty="0" smtClean="0"/>
              <a:t>OH</a:t>
            </a:r>
            <a:r>
              <a:rPr lang="zh-CN" altLang="en-US" dirty="0" smtClean="0"/>
              <a:t>是每个</a:t>
            </a:r>
            <a:r>
              <a:rPr lang="en-US" altLang="zh-CN" dirty="0" smtClean="0">
                <a:solidFill>
                  <a:srgbClr val="FF0000"/>
                </a:solidFill>
              </a:rPr>
              <a:t>OC</a:t>
            </a:r>
            <a:r>
              <a:rPr lang="zh-CN" altLang="en-US" dirty="0" smtClean="0">
                <a:solidFill>
                  <a:srgbClr val="FF0000"/>
                </a:solidFill>
              </a:rPr>
              <a:t>门输出为高电平</a:t>
            </a:r>
            <a:r>
              <a:rPr lang="zh-CN" altLang="en-US" dirty="0" smtClean="0"/>
              <a:t>时输出端的</a:t>
            </a:r>
            <a:r>
              <a:rPr lang="zh-CN" altLang="en-US" dirty="0" smtClean="0">
                <a:solidFill>
                  <a:srgbClr val="0000CC"/>
                </a:solidFill>
              </a:rPr>
              <a:t>截止漏电流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dirty="0" smtClean="0"/>
              <a:t>I</a:t>
            </a:r>
            <a:r>
              <a:rPr lang="en-US" altLang="zh-CN" baseline="-25000" dirty="0" smtClean="0"/>
              <a:t>IH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0000"/>
                </a:solidFill>
              </a:rPr>
              <a:t>负载门</a:t>
            </a:r>
            <a:r>
              <a:rPr lang="zh-CN" altLang="en-US" dirty="0" smtClean="0"/>
              <a:t>在</a:t>
            </a:r>
            <a:r>
              <a:rPr lang="zh-CN" altLang="en-US" dirty="0" smtClean="0">
                <a:solidFill>
                  <a:srgbClr val="FF0000"/>
                </a:solidFill>
              </a:rPr>
              <a:t>输入端为高电平</a:t>
            </a:r>
            <a:r>
              <a:rPr lang="zh-CN" altLang="en-US" dirty="0" smtClean="0"/>
              <a:t>时每个输入端的</a:t>
            </a:r>
            <a:r>
              <a:rPr lang="zh-CN" altLang="en-US" dirty="0" smtClean="0">
                <a:solidFill>
                  <a:srgbClr val="FF0000"/>
                </a:solidFill>
              </a:rPr>
              <a:t>输入漏电流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103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56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9655" y="1412776"/>
            <a:ext cx="3194345" cy="3621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56035" name="Object 3"/>
          <p:cNvGraphicFramePr>
            <a:graphicFrameLocks noChangeAspect="1"/>
          </p:cNvGraphicFramePr>
          <p:nvPr/>
        </p:nvGraphicFramePr>
        <p:xfrm>
          <a:off x="1474788" y="4703763"/>
          <a:ext cx="4373562" cy="1897062"/>
        </p:xfrm>
        <a:graphic>
          <a:graphicData uri="http://schemas.openxmlformats.org/presentationml/2006/ole">
            <p:oleObj spid="_x0000_s556035" r:id="rId4" imgW="2577960" imgH="11174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6" y="1556792"/>
            <a:ext cx="5688632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外接电路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L</a:t>
            </a:r>
            <a:r>
              <a:rPr lang="zh-CN" altLang="en-US" sz="2800" dirty="0" smtClean="0"/>
              <a:t>的计算方法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altLang="zh-CN" sz="2800" dirty="0" smtClean="0"/>
              <a:t>   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）求</a:t>
            </a:r>
            <a:r>
              <a:rPr lang="zh-CN" altLang="en-US" sz="2800" dirty="0" smtClean="0">
                <a:solidFill>
                  <a:srgbClr val="0000CC"/>
                </a:solidFill>
              </a:rPr>
              <a:t>负载电阻的最小值</a:t>
            </a:r>
            <a:r>
              <a:rPr lang="en-US" altLang="zh-CN" sz="2800" dirty="0" err="1" smtClean="0"/>
              <a:t>R</a:t>
            </a:r>
            <a:r>
              <a:rPr lang="en-US" altLang="zh-CN" sz="2800" baseline="-25000" dirty="0" err="1" smtClean="0"/>
              <a:t>Lmin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dirty="0" smtClean="0"/>
              <a:t>OC</a:t>
            </a:r>
            <a:r>
              <a:rPr lang="zh-CN" altLang="en-US" dirty="0" smtClean="0"/>
              <a:t>门电路线与输出低电平时，负载电流和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L</a:t>
            </a:r>
            <a:r>
              <a:rPr lang="zh-CN" altLang="en-US" dirty="0" smtClean="0"/>
              <a:t>上的电流</a:t>
            </a:r>
            <a:r>
              <a:rPr lang="zh-CN" altLang="en-US" dirty="0" smtClean="0">
                <a:solidFill>
                  <a:srgbClr val="FF0000"/>
                </a:solidFill>
              </a:rPr>
              <a:t>灌入一个</a:t>
            </a:r>
            <a:r>
              <a:rPr lang="en-US" altLang="zh-CN" dirty="0" smtClean="0">
                <a:solidFill>
                  <a:srgbClr val="FF0000"/>
                </a:solidFill>
              </a:rPr>
              <a:t>OC</a:t>
            </a:r>
            <a:r>
              <a:rPr lang="zh-CN" altLang="en-US" dirty="0" smtClean="0">
                <a:solidFill>
                  <a:srgbClr val="FF0000"/>
                </a:solidFill>
              </a:rPr>
              <a:t>门电路时，最容易将低电平抬高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考虑</a:t>
            </a:r>
            <a:r>
              <a:rPr lang="zh-CN" altLang="en-US" dirty="0" smtClean="0">
                <a:solidFill>
                  <a:srgbClr val="FF0000"/>
                </a:solidFill>
              </a:rPr>
              <a:t>最坏的情况</a:t>
            </a:r>
            <a:r>
              <a:rPr lang="zh-CN" altLang="en-US" dirty="0" smtClean="0"/>
              <a:t>，设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个“线与”的</a:t>
            </a:r>
            <a:r>
              <a:rPr lang="en-US" altLang="zh-CN" dirty="0" smtClean="0"/>
              <a:t>OC</a:t>
            </a:r>
            <a:r>
              <a:rPr lang="zh-CN" altLang="en-US" dirty="0" smtClean="0"/>
              <a:t>门</a:t>
            </a:r>
            <a:r>
              <a:rPr lang="zh-CN" altLang="en-US" dirty="0" smtClean="0">
                <a:solidFill>
                  <a:srgbClr val="0000CC"/>
                </a:solidFill>
              </a:rPr>
              <a:t>只有一个门的驱动管</a:t>
            </a:r>
            <a:r>
              <a:rPr lang="en-US" altLang="zh-CN" dirty="0" smtClean="0">
                <a:solidFill>
                  <a:srgbClr val="0000CC"/>
                </a:solidFill>
              </a:rPr>
              <a:t>T5</a:t>
            </a:r>
            <a:r>
              <a:rPr lang="zh-CN" altLang="en-US" dirty="0" smtClean="0">
                <a:solidFill>
                  <a:srgbClr val="0000CC"/>
                </a:solidFill>
              </a:rPr>
              <a:t>饱和导通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0000CC"/>
                </a:solidFill>
              </a:rPr>
              <a:t>其它门的</a:t>
            </a:r>
            <a:r>
              <a:rPr lang="en-US" altLang="zh-CN" dirty="0" smtClean="0">
                <a:solidFill>
                  <a:srgbClr val="0000CC"/>
                </a:solidFill>
              </a:rPr>
              <a:t>T5</a:t>
            </a:r>
            <a:r>
              <a:rPr lang="zh-CN" altLang="en-US" dirty="0" smtClean="0">
                <a:solidFill>
                  <a:srgbClr val="0000CC"/>
                </a:solidFill>
              </a:rPr>
              <a:t>均截止</a:t>
            </a:r>
            <a:r>
              <a:rPr lang="zh-CN" altLang="en-US" dirty="0" smtClean="0"/>
              <a:t>，此时</a:t>
            </a:r>
            <a:r>
              <a:rPr lang="en-US" altLang="zh-CN" dirty="0" smtClean="0"/>
              <a:t>n=1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104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550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58087" y="1340768"/>
            <a:ext cx="2885913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55011" name="Object 3"/>
          <p:cNvGraphicFramePr>
            <a:graphicFrameLocks noChangeAspect="1"/>
          </p:cNvGraphicFramePr>
          <p:nvPr/>
        </p:nvGraphicFramePr>
        <p:xfrm>
          <a:off x="1043608" y="2780928"/>
          <a:ext cx="5008562" cy="1296987"/>
        </p:xfrm>
        <a:graphic>
          <a:graphicData uri="http://schemas.openxmlformats.org/presentationml/2006/ole">
            <p:oleObj spid="_x0000_s555011" r:id="rId4" imgW="2552400" imgH="660240" progId="">
              <p:embed/>
            </p:oleObj>
          </a:graphicData>
        </a:graphic>
      </p:graphicFrame>
      <p:graphicFrame>
        <p:nvGraphicFramePr>
          <p:cNvPr id="555012" name="Object 4"/>
          <p:cNvGraphicFramePr>
            <a:graphicFrameLocks noChangeAspect="1"/>
          </p:cNvGraphicFramePr>
          <p:nvPr/>
        </p:nvGraphicFramePr>
        <p:xfrm>
          <a:off x="6300192" y="5301208"/>
          <a:ext cx="2573907" cy="934904"/>
        </p:xfrm>
        <a:graphic>
          <a:graphicData uri="http://schemas.openxmlformats.org/presentationml/2006/ole">
            <p:oleObj spid="_x0000_s555012" r:id="rId5" imgW="1218960" imgH="4316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2.1 </a:t>
            </a:r>
            <a:r>
              <a:rPr lang="zh-CN" altLang="en-US" sz="2800" dirty="0" smtClean="0"/>
              <a:t>试为图</a:t>
            </a:r>
            <a:r>
              <a:rPr lang="en-US" altLang="zh-CN" sz="2800" dirty="0" smtClean="0"/>
              <a:t>2.21</a:t>
            </a:r>
            <a:r>
              <a:rPr lang="zh-CN" altLang="en-US" sz="2800" dirty="0" smtClean="0"/>
              <a:t>所示电路中的外接负载电阻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L</a:t>
            </a:r>
            <a:r>
              <a:rPr lang="zh-CN" altLang="en-US" sz="2800" dirty="0" smtClean="0"/>
              <a:t>选定合适的阻值。已知</a:t>
            </a:r>
            <a:r>
              <a:rPr lang="en-US" altLang="zh-CN" sz="2800" dirty="0" smtClean="0"/>
              <a:t>G</a:t>
            </a:r>
            <a:r>
              <a:rPr lang="en-US" altLang="zh-CN" sz="2800" baseline="-25000" dirty="0" smtClean="0"/>
              <a:t>1</a:t>
            </a:r>
            <a:r>
              <a:rPr lang="en-US" altLang="zh-CN" sz="2800" dirty="0" smtClean="0"/>
              <a:t>, G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OC</a:t>
            </a:r>
            <a:r>
              <a:rPr lang="zh-CN" altLang="en-US" sz="2800" dirty="0" smtClean="0"/>
              <a:t>门，输出管截止时的漏电流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OH</a:t>
            </a:r>
            <a:r>
              <a:rPr lang="en-US" altLang="zh-CN" sz="2800" dirty="0" smtClean="0"/>
              <a:t>=200</a:t>
            </a:r>
            <a:r>
              <a:rPr lang="el-GR" altLang="zh-CN" sz="2800" dirty="0" smtClean="0">
                <a:ea typeface="宋体"/>
              </a:rPr>
              <a:t>μ</a:t>
            </a:r>
            <a:r>
              <a:rPr lang="en-US" altLang="zh-CN" sz="2800" dirty="0" smtClean="0">
                <a:ea typeface="宋体"/>
              </a:rPr>
              <a:t>A</a:t>
            </a:r>
            <a:r>
              <a:rPr lang="zh-CN" altLang="en-US" sz="2800" dirty="0" smtClean="0">
                <a:ea typeface="宋体"/>
              </a:rPr>
              <a:t>，输出管导通时允许的最大负载电流为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OL</a:t>
            </a:r>
            <a:r>
              <a:rPr lang="en-US" altLang="zh-CN" sz="2800" dirty="0" smtClean="0"/>
              <a:t>=16mA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G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, G</a:t>
            </a:r>
            <a:r>
              <a:rPr lang="en-US" altLang="zh-CN" sz="2800" baseline="-25000" dirty="0" smtClean="0"/>
              <a:t>4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G</a:t>
            </a:r>
            <a:r>
              <a:rPr lang="en-US" altLang="zh-CN" sz="2800" baseline="-25000" dirty="0" smtClean="0"/>
              <a:t>5</a:t>
            </a:r>
            <a:r>
              <a:rPr lang="zh-CN" altLang="en-US" sz="2800" dirty="0" smtClean="0"/>
              <a:t>均为</a:t>
            </a:r>
            <a:r>
              <a:rPr lang="en-US" altLang="zh-CN" sz="2800" dirty="0" smtClean="0"/>
              <a:t>74</a:t>
            </a:r>
            <a:r>
              <a:rPr lang="zh-CN" altLang="en-US" sz="2800" dirty="0" smtClean="0"/>
              <a:t>系列与非门，它们的低电平输入电流为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IL</a:t>
            </a:r>
            <a:r>
              <a:rPr lang="en-US" altLang="zh-CN" sz="2800" dirty="0" smtClean="0"/>
              <a:t>=1mA </a:t>
            </a:r>
            <a:r>
              <a:rPr lang="zh-CN" altLang="en-US" sz="2800" dirty="0" smtClean="0"/>
              <a:t>，高电平输入电流为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IH</a:t>
            </a:r>
            <a:r>
              <a:rPr lang="en-US" altLang="zh-CN" sz="2800" dirty="0" smtClean="0"/>
              <a:t>=40</a:t>
            </a:r>
            <a:r>
              <a:rPr lang="el-GR" altLang="zh-CN" sz="2800" dirty="0" smtClean="0"/>
              <a:t>μ</a:t>
            </a:r>
            <a:r>
              <a:rPr lang="en-US" altLang="zh-CN" sz="2800" dirty="0" smtClean="0"/>
              <a:t>A </a:t>
            </a:r>
            <a:r>
              <a:rPr lang="zh-CN" altLang="en-US" sz="2800" dirty="0" smtClean="0"/>
              <a:t>。给定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CC</a:t>
            </a:r>
            <a:r>
              <a:rPr lang="en-US" altLang="zh-CN" sz="2800" dirty="0" smtClean="0"/>
              <a:t>=5V</a:t>
            </a:r>
            <a:r>
              <a:rPr lang="zh-CN" altLang="en-US" sz="2800" dirty="0" smtClean="0"/>
              <a:t>，要求</a:t>
            </a:r>
            <a:r>
              <a:rPr lang="en-US" altLang="zh-CN" sz="2800" dirty="0" smtClean="0"/>
              <a:t>OC</a:t>
            </a:r>
            <a:r>
              <a:rPr lang="zh-CN" altLang="en-US" sz="2800" dirty="0" smtClean="0"/>
              <a:t>门输出的高电平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OH</a:t>
            </a:r>
            <a:r>
              <a:rPr lang="en-US" altLang="zh-CN" sz="2800" dirty="0" smtClean="0">
                <a:latin typeface="宋体"/>
                <a:ea typeface="宋体"/>
              </a:rPr>
              <a:t>≥3.0V</a:t>
            </a:r>
            <a:r>
              <a:rPr lang="zh-CN" altLang="en-US" sz="2800" dirty="0" smtClean="0">
                <a:latin typeface="宋体"/>
                <a:ea typeface="宋体"/>
              </a:rPr>
              <a:t>，低电平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OL</a:t>
            </a:r>
            <a:r>
              <a:rPr lang="en-US" altLang="zh-CN" sz="2800" dirty="0" smtClean="0">
                <a:latin typeface="宋体"/>
              </a:rPr>
              <a:t>≤0.4V </a:t>
            </a:r>
            <a:r>
              <a:rPr lang="zh-CN" altLang="en-US" sz="2800" dirty="0" smtClean="0">
                <a:latin typeface="宋体"/>
                <a:ea typeface="宋体"/>
              </a:rPr>
              <a:t>。</a:t>
            </a: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105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2.1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106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1340768"/>
            <a:ext cx="36099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6068" name="Object 4"/>
          <p:cNvGraphicFramePr>
            <a:graphicFrameLocks noChangeAspect="1"/>
          </p:cNvGraphicFramePr>
          <p:nvPr/>
        </p:nvGraphicFramePr>
        <p:xfrm>
          <a:off x="899592" y="2132856"/>
          <a:ext cx="3904768" cy="1872208"/>
        </p:xfrm>
        <a:graphic>
          <a:graphicData uri="http://schemas.openxmlformats.org/presentationml/2006/ole">
            <p:oleObj spid="_x0000_s216068" r:id="rId4" imgW="2273040" imgH="1079280" progId="">
              <p:embed/>
            </p:oleObj>
          </a:graphicData>
        </a:graphic>
      </p:graphicFrame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899592" y="4221088"/>
          <a:ext cx="3367658" cy="2039610"/>
        </p:xfrm>
        <a:graphic>
          <a:graphicData uri="http://schemas.openxmlformats.org/presentationml/2006/ole">
            <p:oleObj spid="_x0000_s216069" r:id="rId5" imgW="1777680" imgH="1066680" progId="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76056" y="5373216"/>
            <a:ext cx="3312368" cy="1200329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所以，选定的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值应在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0.35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～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3.85k</a:t>
            </a:r>
            <a:r>
              <a:rPr lang="el-GR" altLang="zh-CN" sz="2400" b="1" dirty="0" smtClean="0">
                <a:solidFill>
                  <a:srgbClr val="FF0000"/>
                </a:solidFill>
                <a:latin typeface="+mn-ea"/>
              </a:rPr>
              <a:t>Ω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之间，可取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=1k</a:t>
            </a:r>
            <a:r>
              <a:rPr lang="el-GR" altLang="zh-CN" sz="2400" b="1" dirty="0" smtClean="0">
                <a:solidFill>
                  <a:srgbClr val="FF0000"/>
                </a:solidFill>
                <a:latin typeface="+mn-ea"/>
              </a:rPr>
              <a:t>Ω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818681" y="5977933"/>
            <a:ext cx="5767388" cy="7848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三态与非门的电路结构和逻辑符号</a:t>
            </a:r>
          </a:p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高电平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有效三态门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107</a:t>
            </a:fld>
            <a:endParaRPr lang="zh-CN" altLang="en-US"/>
          </a:p>
        </p:txBody>
      </p:sp>
      <p:pic>
        <p:nvPicPr>
          <p:cNvPr id="33794" name="Picture 2" descr="E:\wrj\课件\数字电路与系统\数字电路与数字系统\tupian\2-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20888"/>
            <a:ext cx="3973073" cy="324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5" name="Picture 3" descr="E:\wrj\课件\数字电路与系统\数字电路与数字系统\tupian\2-1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12976"/>
            <a:ext cx="1627013" cy="144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E:\wrj\课件\数字电路与系统\数字电路与数字系统\tupian\2-1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140968"/>
            <a:ext cx="1769639" cy="144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1"/>
          <p:cNvSpPr/>
          <p:nvPr/>
        </p:nvSpPr>
        <p:spPr bwMode="auto">
          <a:xfrm>
            <a:off x="4788024" y="5157192"/>
            <a:ext cx="4212828" cy="792088"/>
          </a:xfrm>
          <a:prstGeom prst="borderCallout2">
            <a:avLst>
              <a:gd name="adj1" fmla="val 13236"/>
              <a:gd name="adj2" fmla="val -2861"/>
              <a:gd name="adj3" fmla="val 13236"/>
              <a:gd name="adj4" fmla="val -23838"/>
              <a:gd name="adj5" fmla="val -70065"/>
              <a:gd name="adj6" fmla="val -60675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使</a:t>
            </a:r>
            <a:r>
              <a:rPr lang="en-US" altLang="zh-CN" sz="2000" b="1" dirty="0" smtClean="0"/>
              <a:t>T</a:t>
            </a:r>
            <a:r>
              <a:rPr lang="en-US" altLang="zh-CN" sz="2000" b="1" baseline="-25000" dirty="0" smtClean="0"/>
              <a:t>4</a:t>
            </a:r>
            <a:r>
              <a:rPr lang="en-US" altLang="zh-CN" sz="2000" b="1" dirty="0" smtClean="0"/>
              <a:t> 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T</a:t>
            </a:r>
            <a:r>
              <a:rPr lang="en-US" altLang="zh-CN" sz="2000" b="1" baseline="-25000" dirty="0"/>
              <a:t>5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管都截止</a:t>
            </a:r>
            <a:r>
              <a:rPr lang="zh-CN" altLang="en-US" sz="2000" b="1" dirty="0" smtClean="0"/>
              <a:t>，输出</a:t>
            </a:r>
            <a:r>
              <a:rPr lang="zh-CN" altLang="en-US" sz="2000" b="1" dirty="0"/>
              <a:t>对地和对电源</a:t>
            </a:r>
            <a:r>
              <a:rPr lang="en-US" altLang="zh-CN" sz="2000" b="1" dirty="0" smtClean="0"/>
              <a:t>E</a:t>
            </a:r>
            <a:r>
              <a:rPr lang="en-US" altLang="zh-CN" sz="2000" b="1" baseline="-25000" dirty="0" smtClean="0"/>
              <a:t>C</a:t>
            </a:r>
            <a:r>
              <a:rPr lang="en-US" altLang="zh-CN" sz="2000" b="1" dirty="0" smtClean="0"/>
              <a:t> </a:t>
            </a:r>
            <a:r>
              <a:rPr lang="zh-CN" altLang="en-US" sz="2000" b="1" dirty="0"/>
              <a:t>都为高</a:t>
            </a:r>
            <a:r>
              <a:rPr lang="zh-CN" altLang="en-US" sz="2000" b="1" dirty="0" smtClean="0"/>
              <a:t>阻抗</a:t>
            </a:r>
            <a:r>
              <a:rPr kumimoji="1" lang="zh-CN" altLang="en-US" sz="2000" b="1" dirty="0" smtClean="0">
                <a:latin typeface="Times New Roman" panose="02020603050405020304" pitchFamily="18" charset="0"/>
              </a:rPr>
              <a:t>，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输出呈高阻态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34" y="48644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72464" y="40308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27784" y="3717032"/>
            <a:ext cx="421910" cy="369332"/>
          </a:xfrm>
          <a:prstGeom prst="rect">
            <a:avLst/>
          </a:prstGeom>
          <a:blipFill rotWithShape="1">
            <a:blip r:embed="rId5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TextBox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2018" y="4149080"/>
            <a:ext cx="421910" cy="369332"/>
          </a:xfrm>
          <a:prstGeom prst="rect">
            <a:avLst/>
          </a:prstGeom>
          <a:blipFill rotWithShape="1"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TextBox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09930" y="3068960"/>
            <a:ext cx="614271" cy="369332"/>
          </a:xfrm>
          <a:prstGeom prst="rect">
            <a:avLst/>
          </a:prstGeom>
          <a:blipFill rotWithShape="1">
            <a:blip r:embed="rId7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TextBox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14430" y="3068960"/>
            <a:ext cx="421910" cy="369332"/>
          </a:xfrm>
          <a:prstGeom prst="rect">
            <a:avLst/>
          </a:prstGeom>
          <a:blipFill rotWithShape="1">
            <a:blip r:embed="rId8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3" name="矩形 12"/>
          <p:cNvSpPr/>
          <p:nvPr/>
        </p:nvSpPr>
        <p:spPr>
          <a:xfrm>
            <a:off x="467544" y="1484784"/>
            <a:ext cx="83529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6. </a:t>
            </a:r>
            <a:r>
              <a:rPr lang="zh-CN" altLang="en-US" sz="2800" b="1" dirty="0" smtClean="0"/>
              <a:t>三态门（</a:t>
            </a:r>
            <a:r>
              <a:rPr lang="en-US" altLang="zh-CN" sz="2800" b="1" dirty="0" smtClean="0"/>
              <a:t>TSL</a:t>
            </a:r>
            <a:r>
              <a:rPr lang="zh-CN" altLang="en-US" sz="2800" b="1" dirty="0" smtClean="0"/>
              <a:t>门）：是指门的输出端不仅有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高、低电平</a:t>
            </a:r>
            <a:r>
              <a:rPr lang="zh-CN" altLang="en-US" sz="2800" b="1" dirty="0" smtClean="0"/>
              <a:t>两种状态，还有悬空（对地高阻抗）状态。</a:t>
            </a:r>
            <a:endParaRPr lang="zh-CN" altLang="en-US" sz="2800" b="1" dirty="0"/>
          </a:p>
        </p:txBody>
      </p:sp>
      <p:sp>
        <p:nvSpPr>
          <p:cNvPr id="19" name="TextBox 6"/>
          <p:cNvSpPr txBox="1"/>
          <p:nvPr/>
        </p:nvSpPr>
        <p:spPr>
          <a:xfrm>
            <a:off x="899592" y="48691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12" grpId="0"/>
      <p:bldP spid="9" grpId="0" animBg="1"/>
      <p:bldP spid="16" grpId="0" animBg="1"/>
      <p:bldP spid="17" grpId="0" animBg="1"/>
      <p:bldP spid="18" grpId="0" animBg="1"/>
      <p:bldP spid="19" grpId="0"/>
      <p:bldP spid="19" grpId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42767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763688" y="5805264"/>
            <a:ext cx="5767388" cy="7848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三态与非门的电路结构和逻辑符号</a:t>
            </a:r>
          </a:p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低电平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有效三态门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108</a:t>
            </a:fld>
            <a:endParaRPr lang="zh-CN" altLang="en-US" dirty="0"/>
          </a:p>
        </p:txBody>
      </p:sp>
      <p:sp>
        <p:nvSpPr>
          <p:cNvPr id="8" name="AutoShape 11"/>
          <p:cNvSpPr/>
          <p:nvPr/>
        </p:nvSpPr>
        <p:spPr bwMode="auto">
          <a:xfrm>
            <a:off x="5579244" y="5300960"/>
            <a:ext cx="3376885" cy="431800"/>
          </a:xfrm>
          <a:prstGeom prst="borderCallout2">
            <a:avLst>
              <a:gd name="adj1" fmla="val 13236"/>
              <a:gd name="adj2" fmla="val -2861"/>
              <a:gd name="adj3" fmla="val 13236"/>
              <a:gd name="adj4" fmla="val -23838"/>
              <a:gd name="adj5" fmla="val -211863"/>
              <a:gd name="adj6" fmla="val -73979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 dirty="0">
                <a:latin typeface="Times New Roman" panose="02020603050405020304" pitchFamily="18" charset="0"/>
              </a:rPr>
              <a:t>使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也截止，输出呈高阻态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7216" y="46531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4064" y="38148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27784" y="3717032"/>
            <a:ext cx="421910" cy="369332"/>
          </a:xfrm>
          <a:prstGeom prst="rect">
            <a:avLst/>
          </a:prstGeom>
          <a:blipFill rotWithShape="1">
            <a:blip r:embed="rId3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TextBox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2018" y="4149080"/>
            <a:ext cx="421910" cy="369332"/>
          </a:xfrm>
          <a:prstGeom prst="rect">
            <a:avLst/>
          </a:prstGeom>
          <a:blipFill rotWithShape="1">
            <a:blip r:embed="rId4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TextBox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09930" y="3068960"/>
            <a:ext cx="614271" cy="369332"/>
          </a:xfrm>
          <a:prstGeom prst="rect">
            <a:avLst/>
          </a:prstGeom>
          <a:blipFill rotWithShape="1">
            <a:blip r:embed="rId5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TextBox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14430" y="3068960"/>
            <a:ext cx="421910" cy="369332"/>
          </a:xfrm>
          <a:prstGeom prst="rect">
            <a:avLst/>
          </a:prstGeom>
          <a:blipFill rotWithShape="1"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9144" y="46531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556792"/>
            <a:ext cx="39500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低电平</a:t>
            </a:r>
            <a:r>
              <a:rPr lang="zh-CN" altLang="en-US" sz="2800" b="1" dirty="0"/>
              <a:t>使能的三态门</a:t>
            </a: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12160" y="2996952"/>
            <a:ext cx="2232248" cy="125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12" grpId="0"/>
      <p:bldP spid="9" grpId="0" animBg="1"/>
      <p:bldP spid="16" grpId="0" animBg="1"/>
      <p:bldP spid="17" grpId="0" animBg="1"/>
      <p:bldP spid="18" grpId="0" animBg="1"/>
      <p:bldP spid="1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2339752" y="6165304"/>
            <a:ext cx="41764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用三态输出门接成总线结构</a:t>
            </a:r>
          </a:p>
        </p:txBody>
      </p:sp>
      <p:pic>
        <p:nvPicPr>
          <p:cNvPr id="121864" name="Picture 8" descr="2-4-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614" y="2204864"/>
            <a:ext cx="3139886" cy="360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344817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109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11560" y="1700808"/>
            <a:ext cx="2575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三态门的应用</a:t>
            </a:r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3" name="Text Box 7"/>
          <p:cNvSpPr txBox="1">
            <a:spLocks noChangeArrowheads="1"/>
          </p:cNvSpPr>
          <p:nvPr/>
        </p:nvSpPr>
        <p:spPr bwMode="auto">
          <a:xfrm>
            <a:off x="2195736" y="5733256"/>
            <a:ext cx="51512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用三态输出门实现数据的双向传输</a:t>
            </a:r>
          </a:p>
        </p:txBody>
      </p:sp>
      <p:pic>
        <p:nvPicPr>
          <p:cNvPr id="121865" name="Picture 9" descr="2-4-10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E2E2"/>
              </a:clrFrom>
              <a:clrTo>
                <a:srgbClr val="E2E2E2">
                  <a:alpha val="0"/>
                </a:srgbClr>
              </a:clrTo>
            </a:clrChange>
            <a:lum contrast="6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276872"/>
            <a:ext cx="4146695" cy="324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560840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110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9552" y="1628800"/>
            <a:ext cx="3367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三态门的应用</a:t>
            </a:r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2.2 </a:t>
            </a:r>
            <a:r>
              <a:rPr lang="zh-CN" altLang="en-US" sz="2800" dirty="0" smtClean="0"/>
              <a:t>电路如图</a:t>
            </a:r>
            <a:r>
              <a:rPr lang="en-US" altLang="zh-CN" sz="2800" dirty="0" smtClean="0"/>
              <a:t>2.5</a:t>
            </a:r>
            <a:r>
              <a:rPr lang="zh-CN" altLang="en-US" sz="2800" dirty="0" smtClean="0"/>
              <a:t>所示，试列表讨论该电路的输出函数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r>
              <a:rPr lang="zh-CN" altLang="en-US" sz="2800" dirty="0" smtClean="0"/>
              <a:t>根据三态门输入输出特性，该电路的输出函数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如表</a:t>
            </a:r>
            <a:r>
              <a:rPr lang="en-US" altLang="zh-CN" sz="2800" dirty="0" smtClean="0"/>
              <a:t>2.9</a:t>
            </a:r>
            <a:r>
              <a:rPr lang="zh-CN" altLang="en-US" sz="2800" dirty="0" smtClean="0"/>
              <a:t>所示。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111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27584" y="3789040"/>
          <a:ext cx="3888432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/>
                <a:gridCol w="2160240"/>
                <a:gridCol w="7200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    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      F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      F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0     0</a:t>
                      </a:r>
                    </a:p>
                    <a:p>
                      <a:pPr algn="ctr"/>
                      <a:r>
                        <a:rPr lang="en-US" altLang="zh-CN" dirty="0" smtClean="0"/>
                        <a:t>0     1</a:t>
                      </a:r>
                    </a:p>
                    <a:p>
                      <a:pPr marL="342900" indent="-342900" algn="ctr">
                        <a:buAutoNum type="arabicPlain"/>
                      </a:pPr>
                      <a:r>
                        <a:rPr lang="en-US" altLang="zh-CN" dirty="0" smtClean="0"/>
                        <a:t>  0</a:t>
                      </a:r>
                    </a:p>
                    <a:p>
                      <a:pPr marL="342900" indent="-342900" algn="ctr">
                        <a:buNone/>
                      </a:pPr>
                      <a:r>
                        <a:rPr lang="en-US" altLang="zh-CN" dirty="0" smtClean="0"/>
                        <a:t>1     1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  高阻           高阻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高阻   高阻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         高阻  高阻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         高阻  高阻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2843808" y="4221088"/>
          <a:ext cx="216024" cy="216024"/>
        </p:xfrm>
        <a:graphic>
          <a:graphicData uri="http://schemas.openxmlformats.org/presentationml/2006/ole">
            <p:oleObj spid="_x0000_s217094" r:id="rId3" imgW="190440" imgH="190440" progId="">
              <p:embed/>
            </p:oleObj>
          </a:graphicData>
        </a:graphic>
      </p:graphicFrame>
      <p:graphicFrame>
        <p:nvGraphicFramePr>
          <p:cNvPr id="217095" name="Object 7"/>
          <p:cNvGraphicFramePr>
            <a:graphicFrameLocks noChangeAspect="1"/>
          </p:cNvGraphicFramePr>
          <p:nvPr/>
        </p:nvGraphicFramePr>
        <p:xfrm>
          <a:off x="4211959" y="4221088"/>
          <a:ext cx="216025" cy="216024"/>
        </p:xfrm>
        <a:graphic>
          <a:graphicData uri="http://schemas.openxmlformats.org/presentationml/2006/ole">
            <p:oleObj spid="_x0000_s217095" r:id="rId4" imgW="190440" imgH="190440" progId="">
              <p:embed/>
            </p:oleObj>
          </a:graphicData>
        </a:graphic>
      </p:graphicFrame>
      <p:graphicFrame>
        <p:nvGraphicFramePr>
          <p:cNvPr id="217096" name="Object 8"/>
          <p:cNvGraphicFramePr>
            <a:graphicFrameLocks noChangeAspect="1"/>
          </p:cNvGraphicFramePr>
          <p:nvPr/>
        </p:nvGraphicFramePr>
        <p:xfrm>
          <a:off x="3491880" y="4509120"/>
          <a:ext cx="172820" cy="216024"/>
        </p:xfrm>
        <a:graphic>
          <a:graphicData uri="http://schemas.openxmlformats.org/presentationml/2006/ole">
            <p:oleObj spid="_x0000_s217096" r:id="rId5" imgW="152280" imgH="190440" progId="">
              <p:embed/>
            </p:oleObj>
          </a:graphicData>
        </a:graphic>
      </p:graphicFrame>
      <p:graphicFrame>
        <p:nvGraphicFramePr>
          <p:cNvPr id="217097" name="Object 9"/>
          <p:cNvGraphicFramePr>
            <a:graphicFrameLocks noChangeAspect="1"/>
          </p:cNvGraphicFramePr>
          <p:nvPr/>
        </p:nvGraphicFramePr>
        <p:xfrm>
          <a:off x="4211960" y="4509120"/>
          <a:ext cx="171450" cy="215900"/>
        </p:xfrm>
        <a:graphic>
          <a:graphicData uri="http://schemas.openxmlformats.org/presentationml/2006/ole">
            <p:oleObj spid="_x0000_s217097" r:id="rId6" imgW="152280" imgH="190440" progId="">
              <p:embed/>
            </p:oleObj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/>
        </p:nvGraphicFramePr>
        <p:xfrm>
          <a:off x="2123728" y="4797152"/>
          <a:ext cx="254000" cy="215900"/>
        </p:xfrm>
        <a:graphic>
          <a:graphicData uri="http://schemas.openxmlformats.org/presentationml/2006/ole">
            <p:oleObj spid="_x0000_s217098" r:id="rId7" imgW="253800" imgH="215640" progId="">
              <p:embed/>
            </p:oleObj>
          </a:graphicData>
        </a:graphic>
      </p:graphicFrame>
      <p:graphicFrame>
        <p:nvGraphicFramePr>
          <p:cNvPr id="217099" name="Object 11"/>
          <p:cNvGraphicFramePr>
            <a:graphicFrameLocks noChangeAspect="1"/>
          </p:cNvGraphicFramePr>
          <p:nvPr/>
        </p:nvGraphicFramePr>
        <p:xfrm>
          <a:off x="2123728" y="5085184"/>
          <a:ext cx="254000" cy="215900"/>
        </p:xfrm>
        <a:graphic>
          <a:graphicData uri="http://schemas.openxmlformats.org/presentationml/2006/ole">
            <p:oleObj spid="_x0000_s217099" r:id="rId8" imgW="253800" imgH="215640" progId="">
              <p:embed/>
            </p:oleObj>
          </a:graphicData>
        </a:graphic>
      </p:graphicFrame>
      <p:graphicFrame>
        <p:nvGraphicFramePr>
          <p:cNvPr id="217100" name="Object 12"/>
          <p:cNvGraphicFramePr>
            <a:graphicFrameLocks noChangeAspect="1"/>
          </p:cNvGraphicFramePr>
          <p:nvPr/>
        </p:nvGraphicFramePr>
        <p:xfrm>
          <a:off x="4211960" y="4797152"/>
          <a:ext cx="254000" cy="215900"/>
        </p:xfrm>
        <a:graphic>
          <a:graphicData uri="http://schemas.openxmlformats.org/presentationml/2006/ole">
            <p:oleObj spid="_x0000_s217100" r:id="rId9" imgW="253800" imgH="215640" progId="">
              <p:embed/>
            </p:oleObj>
          </a:graphicData>
        </a:graphic>
      </p:graphicFrame>
      <p:graphicFrame>
        <p:nvGraphicFramePr>
          <p:cNvPr id="217101" name="Object 13"/>
          <p:cNvGraphicFramePr>
            <a:graphicFrameLocks noChangeAspect="1"/>
          </p:cNvGraphicFramePr>
          <p:nvPr/>
        </p:nvGraphicFramePr>
        <p:xfrm>
          <a:off x="4211960" y="5085184"/>
          <a:ext cx="254000" cy="215900"/>
        </p:xfrm>
        <a:graphic>
          <a:graphicData uri="http://schemas.openxmlformats.org/presentationml/2006/ole">
            <p:oleObj spid="_x0000_s217101" r:id="rId10" imgW="253800" imgH="215640" progId="">
              <p:embed/>
            </p:oleObj>
          </a:graphicData>
        </a:graphic>
      </p:graphicFrame>
      <p:pic>
        <p:nvPicPr>
          <p:cNvPr id="217102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932040" y="2996952"/>
            <a:ext cx="382905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2.3.5 TTL</a:t>
            </a:r>
            <a:r>
              <a:rPr lang="zh-CN" altLang="en-US" dirty="0" smtClean="0"/>
              <a:t>电路的改进系列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研究</a:t>
            </a:r>
            <a:r>
              <a:rPr lang="en-US" altLang="zh-CN" sz="2800" dirty="0"/>
              <a:t>TTL</a:t>
            </a:r>
            <a:r>
              <a:rPr lang="zh-CN" altLang="en-US" sz="2800" dirty="0"/>
              <a:t>电路主要是研究其</a:t>
            </a:r>
            <a:r>
              <a:rPr lang="zh-CN" altLang="en-US" sz="2800" dirty="0">
                <a:solidFill>
                  <a:srgbClr val="0000CC"/>
                </a:solidFill>
              </a:rPr>
              <a:t>外部特性</a:t>
            </a:r>
            <a:r>
              <a:rPr lang="zh-CN" altLang="en-US" sz="2800" dirty="0"/>
              <a:t>（即</a:t>
            </a:r>
            <a:r>
              <a:rPr lang="zh-CN" altLang="en-US" sz="2800" dirty="0" smtClean="0"/>
              <a:t>输入与</a:t>
            </a:r>
            <a:r>
              <a:rPr lang="zh-CN" altLang="en-US" sz="2800" dirty="0"/>
              <a:t>输出之间的逻辑关系）和</a:t>
            </a:r>
            <a:r>
              <a:rPr lang="zh-CN" altLang="en-US" sz="2800" dirty="0">
                <a:solidFill>
                  <a:srgbClr val="0000CC"/>
                </a:solidFill>
              </a:rPr>
              <a:t>外部电气特性</a:t>
            </a:r>
            <a:r>
              <a:rPr lang="zh-CN" altLang="en-US" sz="2800" dirty="0"/>
              <a:t>（</a:t>
            </a:r>
            <a:r>
              <a:rPr lang="zh-CN" altLang="en-US" sz="2800" dirty="0" smtClean="0"/>
              <a:t>包括电压</a:t>
            </a:r>
            <a:r>
              <a:rPr lang="zh-CN" altLang="en-US" sz="2800" dirty="0"/>
              <a:t>传输特性、输入特性、输出特性、</a:t>
            </a:r>
            <a:r>
              <a:rPr lang="zh-CN" altLang="en-US" sz="2800" dirty="0" smtClean="0"/>
              <a:t>动态特性等</a:t>
            </a:r>
            <a:r>
              <a:rPr lang="zh-CN" altLang="en-US" sz="2800" dirty="0"/>
              <a:t>）两方面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TTL</a:t>
            </a:r>
            <a:r>
              <a:rPr lang="zh-CN" altLang="en-US" sz="2800" dirty="0"/>
              <a:t>逻辑电路</a:t>
            </a:r>
            <a:r>
              <a:rPr lang="zh-CN" altLang="en-US" sz="2800" dirty="0">
                <a:solidFill>
                  <a:srgbClr val="FF0000"/>
                </a:solidFill>
              </a:rPr>
              <a:t>基本系列为</a:t>
            </a:r>
            <a:r>
              <a:rPr lang="en-US" altLang="zh-CN" sz="2800" dirty="0">
                <a:solidFill>
                  <a:srgbClr val="FF0000"/>
                </a:solidFill>
              </a:rPr>
              <a:t>SN54/74</a:t>
            </a:r>
            <a:r>
              <a:rPr lang="zh-CN" altLang="en-US" sz="2800" dirty="0">
                <a:solidFill>
                  <a:srgbClr val="FF0000"/>
                </a:solidFill>
              </a:rPr>
              <a:t>系列</a:t>
            </a:r>
            <a:r>
              <a:rPr lang="zh-CN" altLang="en-US" sz="2800" dirty="0"/>
              <a:t>，</a:t>
            </a:r>
            <a:r>
              <a:rPr lang="zh-CN" altLang="en-US" sz="2800" dirty="0" smtClean="0"/>
              <a:t>为满足</a:t>
            </a:r>
            <a:r>
              <a:rPr lang="zh-CN" altLang="en-US" sz="2800" dirty="0"/>
              <a:t>提高工作速度和降低功耗的需要，随后</a:t>
            </a:r>
            <a:r>
              <a:rPr lang="zh-CN" altLang="en-US" sz="2800" dirty="0" smtClean="0"/>
              <a:t>相继</a:t>
            </a:r>
            <a:r>
              <a:rPr lang="zh-CN" altLang="en-US" sz="2800" dirty="0"/>
              <a:t>出现了</a:t>
            </a:r>
            <a:r>
              <a:rPr lang="en-US" altLang="zh-CN" sz="2800" dirty="0"/>
              <a:t>74H</a:t>
            </a:r>
            <a:r>
              <a:rPr lang="zh-CN" altLang="en-US" sz="2800" dirty="0"/>
              <a:t>、</a:t>
            </a:r>
            <a:r>
              <a:rPr lang="en-US" altLang="zh-CN" sz="2800" dirty="0"/>
              <a:t>74J</a:t>
            </a:r>
            <a:r>
              <a:rPr lang="zh-CN" altLang="en-US" sz="2800" dirty="0"/>
              <a:t>、</a:t>
            </a:r>
            <a:r>
              <a:rPr lang="en-US" altLang="zh-CN" sz="2800" dirty="0"/>
              <a:t>74S</a:t>
            </a:r>
            <a:r>
              <a:rPr lang="zh-CN" altLang="en-US" sz="2800" dirty="0"/>
              <a:t>、</a:t>
            </a:r>
            <a:r>
              <a:rPr lang="en-US" altLang="zh-CN" sz="2800" dirty="0">
                <a:solidFill>
                  <a:srgbClr val="0000CC"/>
                </a:solidFill>
              </a:rPr>
              <a:t>74LS</a:t>
            </a:r>
            <a:r>
              <a:rPr lang="zh-CN" altLang="en-US" sz="2800" dirty="0"/>
              <a:t>、</a:t>
            </a:r>
            <a:r>
              <a:rPr lang="en-US" altLang="zh-CN" sz="2800" dirty="0"/>
              <a:t>74AS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74ALS</a:t>
            </a:r>
            <a:r>
              <a:rPr lang="zh-CN" altLang="en-US" sz="2800" dirty="0"/>
              <a:t>、</a:t>
            </a:r>
            <a:r>
              <a:rPr lang="en-US" altLang="zh-CN" sz="2800" dirty="0"/>
              <a:t>74F</a:t>
            </a:r>
            <a:r>
              <a:rPr lang="zh-CN" altLang="en-US" sz="2800" dirty="0"/>
              <a:t>等改进系列</a:t>
            </a:r>
            <a:r>
              <a:rPr lang="zh-CN" altLang="en-US" sz="2800" dirty="0" smtClean="0"/>
              <a:t>。</a:t>
            </a:r>
            <a:endParaRPr lang="zh-CN" altLang="en-US" sz="2400" dirty="0"/>
          </a:p>
          <a:p>
            <a:pPr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目前</a:t>
            </a:r>
            <a:r>
              <a:rPr lang="zh-CN" altLang="en-US" sz="2800" dirty="0"/>
              <a:t>，</a:t>
            </a:r>
            <a:r>
              <a:rPr lang="en-US" altLang="zh-CN" sz="2800" dirty="0"/>
              <a:t>TTL</a:t>
            </a:r>
            <a:r>
              <a:rPr lang="zh-CN" altLang="en-US" sz="2800" dirty="0"/>
              <a:t>电路正朝高速、低耗、</a:t>
            </a:r>
            <a:r>
              <a:rPr lang="en-US" altLang="zh-CN" sz="2800" dirty="0" smtClean="0"/>
              <a:t>Bi-MOS</a:t>
            </a:r>
            <a:r>
              <a:rPr lang="zh-CN" altLang="en-US" sz="2800" dirty="0" smtClean="0"/>
              <a:t>工艺</a:t>
            </a:r>
            <a:r>
              <a:rPr lang="zh-CN" altLang="en-US" sz="2800" dirty="0"/>
              <a:t>方向发展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112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1. NMOS</a:t>
            </a:r>
            <a:r>
              <a:rPr lang="zh-CN" altLang="en-US" sz="2800" dirty="0" smtClean="0"/>
              <a:t>（</a:t>
            </a:r>
            <a:r>
              <a:rPr lang="en-US" altLang="zh-CN" sz="2800" dirty="0"/>
              <a:t>N-channel MOSFET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反相器（非门）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/>
              <a:t>NMOS </a:t>
            </a:r>
            <a:r>
              <a:rPr lang="zh-CN" altLang="en-US" sz="2400" dirty="0"/>
              <a:t>非门含有两个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沟道</a:t>
            </a:r>
            <a:r>
              <a:rPr lang="en-US" altLang="zh-CN" sz="2400" dirty="0" smtClean="0"/>
              <a:t>FETs:</a:t>
            </a:r>
          </a:p>
          <a:p>
            <a:pPr lvl="1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113</a:t>
            </a:fld>
            <a:endParaRPr lang="zh-CN" altLang="en-US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85628"/>
            <a:ext cx="23336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936995" y="2420888"/>
            <a:ext cx="50274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 : </a:t>
            </a:r>
            <a:r>
              <a:rPr lang="zh-CN" altLang="en-US" b="1" dirty="0">
                <a:solidFill>
                  <a:srgbClr val="0000CC"/>
                </a:solidFill>
              </a:rPr>
              <a:t>负载管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/>
              <a:t> : </a:t>
            </a:r>
            <a:r>
              <a:rPr lang="zh-CN" altLang="en-US" b="1" dirty="0">
                <a:solidFill>
                  <a:srgbClr val="0000CC"/>
                </a:solidFill>
              </a:rPr>
              <a:t>驱动管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负载管</a:t>
            </a: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zh-CN" altLang="en-US" b="1" dirty="0" smtClean="0"/>
              <a:t>栅</a:t>
            </a:r>
            <a:r>
              <a:rPr lang="zh-CN" altLang="en-US" b="1" dirty="0"/>
              <a:t>漏</a:t>
            </a:r>
            <a:r>
              <a:rPr lang="zh-CN" altLang="en-US" b="1" dirty="0" smtClean="0"/>
              <a:t>极</a:t>
            </a:r>
            <a:r>
              <a:rPr lang="zh-CN" altLang="en-US" b="1" dirty="0"/>
              <a:t>接</a:t>
            </a:r>
            <a:r>
              <a:rPr lang="en-US" altLang="zh-CN" b="1" i="1" dirty="0" smtClean="0"/>
              <a:t>E</a:t>
            </a:r>
            <a:r>
              <a:rPr lang="en-US" altLang="zh-CN" b="1" i="1" baseline="-25000" dirty="0" smtClean="0"/>
              <a:t>D</a:t>
            </a:r>
            <a:r>
              <a:rPr lang="en-US" altLang="zh-CN" b="1" i="1" dirty="0" smtClean="0"/>
              <a:t> </a:t>
            </a:r>
            <a:r>
              <a:rPr lang="zh-CN" altLang="en-US" b="1" i="1" dirty="0" smtClean="0"/>
              <a:t>（</a:t>
            </a:r>
            <a:r>
              <a:rPr lang="en-US" altLang="zh-CN" b="1" i="1" dirty="0" smtClean="0"/>
              <a:t>E</a:t>
            </a:r>
            <a:r>
              <a:rPr lang="en-US" altLang="zh-CN" b="1" i="1" baseline="-25000" dirty="0" smtClean="0"/>
              <a:t>D</a:t>
            </a:r>
            <a:r>
              <a:rPr lang="en-US" altLang="zh-CN" b="1" i="1" dirty="0" smtClean="0"/>
              <a:t> </a:t>
            </a:r>
            <a:r>
              <a:rPr lang="zh-CN" altLang="en-US" b="1" i="1" dirty="0" smtClean="0"/>
              <a:t>为</a:t>
            </a:r>
            <a:r>
              <a:rPr lang="en-US" altLang="zh-CN" b="1" i="1" dirty="0" smtClean="0"/>
              <a:t>5~15v</a:t>
            </a:r>
            <a:r>
              <a:rPr lang="zh-CN" altLang="en-US" b="1" i="1" dirty="0" smtClean="0"/>
              <a:t>）</a:t>
            </a:r>
            <a:r>
              <a:rPr lang="zh-CN" altLang="en-US" b="1" dirty="0" smtClean="0"/>
              <a:t>，</a:t>
            </a:r>
            <a:r>
              <a:rPr lang="zh-CN" altLang="en-US" b="1" dirty="0" smtClean="0">
                <a:solidFill>
                  <a:srgbClr val="0000CC"/>
                </a:solidFill>
              </a:rPr>
              <a:t>总是</a:t>
            </a:r>
            <a:r>
              <a:rPr lang="zh-CN" altLang="en-US" b="1" dirty="0">
                <a:solidFill>
                  <a:srgbClr val="0000CC"/>
                </a:solidFill>
              </a:rPr>
              <a:t>导通</a:t>
            </a:r>
            <a:r>
              <a:rPr lang="zh-CN" altLang="en-US" b="1" dirty="0"/>
              <a:t>，基本作用</a:t>
            </a:r>
            <a:r>
              <a:rPr lang="zh-CN" altLang="en-US" b="1" dirty="0" smtClean="0"/>
              <a:t>为负载电阻</a:t>
            </a:r>
            <a:endParaRPr lang="en-US" altLang="zh-CN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当</a:t>
            </a:r>
            <a:r>
              <a:rPr lang="en-US" altLang="zh-CN" b="1" dirty="0" smtClean="0"/>
              <a:t>A=1</a:t>
            </a:r>
            <a:r>
              <a:rPr lang="zh-CN" altLang="en-US" b="1" dirty="0" smtClean="0"/>
              <a:t>时，导通电阻：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1ON </a:t>
            </a:r>
            <a:r>
              <a:rPr lang="en-US" altLang="zh-CN" b="1" dirty="0" smtClean="0"/>
              <a:t>=</a:t>
            </a:r>
            <a:r>
              <a:rPr lang="en-US" altLang="zh-CN" b="1" dirty="0"/>
              <a:t>100 k</a:t>
            </a:r>
            <a:r>
              <a:rPr lang="el-GR" altLang="zh-CN" b="1" dirty="0" smtClean="0"/>
              <a:t>Ω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2ON </a:t>
            </a:r>
            <a:r>
              <a:rPr lang="en-US" altLang="zh-CN" b="1" dirty="0" smtClean="0"/>
              <a:t>=1 </a:t>
            </a:r>
            <a:r>
              <a:rPr lang="en-US" altLang="zh-CN" b="1" dirty="0"/>
              <a:t>k</a:t>
            </a:r>
            <a:r>
              <a:rPr lang="el-GR" altLang="zh-CN" b="1" dirty="0" smtClean="0"/>
              <a:t>Ω</a:t>
            </a:r>
            <a:endParaRPr lang="en-US" altLang="zh-CN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当</a:t>
            </a:r>
            <a:r>
              <a:rPr lang="en-US" altLang="zh-CN" b="1" dirty="0" smtClean="0"/>
              <a:t>A=0</a:t>
            </a:r>
            <a:r>
              <a:rPr lang="zh-CN" altLang="en-US" b="1" dirty="0" smtClean="0"/>
              <a:t>时，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2</a:t>
            </a:r>
            <a:r>
              <a:rPr lang="zh-CN" altLang="en-US" b="1" dirty="0" smtClean="0"/>
              <a:t>截止，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2OFF </a:t>
            </a:r>
            <a:r>
              <a:rPr lang="en-US" altLang="zh-CN" b="1" dirty="0" smtClean="0"/>
              <a:t>=10</a:t>
            </a:r>
            <a:r>
              <a:rPr lang="en-US" altLang="zh-CN" b="1" baseline="30000" dirty="0" smtClean="0"/>
              <a:t>10 </a:t>
            </a:r>
            <a:r>
              <a:rPr lang="en-US" altLang="zh-CN" b="1" dirty="0" smtClean="0"/>
              <a:t>k</a:t>
            </a:r>
            <a:r>
              <a:rPr lang="el-GR" altLang="zh-CN" b="1" dirty="0" smtClean="0"/>
              <a:t>Ω</a:t>
            </a:r>
            <a:endParaRPr lang="en-US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3059832" y="40770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3203848" y="536392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479" y="5049320"/>
            <a:ext cx="1934608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4668897" y="464565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332" y="5445320"/>
            <a:ext cx="942685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7439253" y="4743216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30" y="2529376"/>
            <a:ext cx="2290810" cy="428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 NMOS </a:t>
            </a:r>
            <a:r>
              <a:rPr lang="zh-CN" altLang="en-US" sz="2800" dirty="0" smtClean="0"/>
              <a:t>与非门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两个驱动管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T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串联，输入分别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A </a:t>
            </a:r>
            <a:r>
              <a:rPr lang="zh-CN" altLang="en-US" sz="2400" dirty="0"/>
              <a:t>和</a:t>
            </a:r>
            <a:r>
              <a:rPr lang="en-US" altLang="zh-CN" sz="2400" dirty="0"/>
              <a:t>B.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114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55776" y="370774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2699792" y="479715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sp>
        <p:nvSpPr>
          <p:cNvPr id="10" name="矩形 9"/>
          <p:cNvSpPr/>
          <p:nvPr/>
        </p:nvSpPr>
        <p:spPr>
          <a:xfrm>
            <a:off x="5081111" y="25649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sp>
        <p:nvSpPr>
          <p:cNvPr id="15" name="矩形 14"/>
          <p:cNvSpPr/>
          <p:nvPr/>
        </p:nvSpPr>
        <p:spPr>
          <a:xfrm>
            <a:off x="4521300" y="5294727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99792" y="57959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031" y="2924944"/>
            <a:ext cx="2515225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300" y="5795972"/>
            <a:ext cx="1258760" cy="4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0888"/>
            <a:ext cx="3134332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3. NMOS </a:t>
            </a:r>
            <a:r>
              <a:rPr lang="zh-CN" altLang="en-US" sz="2800" dirty="0" smtClean="0"/>
              <a:t>或非门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/>
              <a:t>两个驱动管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T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并联</a:t>
            </a:r>
            <a:r>
              <a:rPr lang="zh-CN" altLang="en-US" sz="2400" dirty="0"/>
              <a:t>，输入分别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A </a:t>
            </a:r>
            <a:r>
              <a:rPr lang="zh-CN" altLang="en-US" sz="2400" dirty="0"/>
              <a:t>和</a:t>
            </a:r>
            <a:r>
              <a:rPr lang="en-US" altLang="zh-CN" sz="2400" dirty="0"/>
              <a:t>B.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115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61690" y="33384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498181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sp>
        <p:nvSpPr>
          <p:cNvPr id="10" name="矩形 9"/>
          <p:cNvSpPr/>
          <p:nvPr/>
        </p:nvSpPr>
        <p:spPr>
          <a:xfrm>
            <a:off x="5081111" y="25649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sp>
        <p:nvSpPr>
          <p:cNvPr id="15" name="矩形 14"/>
          <p:cNvSpPr/>
          <p:nvPr/>
        </p:nvSpPr>
        <p:spPr>
          <a:xfrm>
            <a:off x="4809332" y="5294727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61689" y="51910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389" y="2967901"/>
            <a:ext cx="2290591" cy="19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171" y="5733256"/>
            <a:ext cx="1176716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446449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4. NMOS</a:t>
            </a:r>
            <a:r>
              <a:rPr lang="zh-CN" altLang="en-US" sz="2800" dirty="0" smtClean="0"/>
              <a:t>电路举例</a:t>
            </a: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2.3 </a:t>
            </a:r>
            <a:r>
              <a:rPr lang="en-US" altLang="zh-CN" sz="2800" dirty="0" smtClean="0"/>
              <a:t>NMOS</a:t>
            </a:r>
            <a:r>
              <a:rPr lang="zh-CN" altLang="en-US" sz="2800" dirty="0" smtClean="0"/>
              <a:t>电路分别如图</a:t>
            </a:r>
            <a:r>
              <a:rPr lang="en-US" altLang="zh-CN" sz="2800" dirty="0" smtClean="0"/>
              <a:t>22.32(a)</a:t>
            </a:r>
            <a:r>
              <a:rPr lang="zh-CN" altLang="en-US" sz="2800" dirty="0" smtClean="0"/>
              <a:t>和图</a:t>
            </a:r>
            <a:r>
              <a:rPr lang="en-US" altLang="zh-CN" sz="2800" dirty="0" smtClean="0"/>
              <a:t>2.32(b)</a:t>
            </a:r>
            <a:r>
              <a:rPr lang="zh-CN" altLang="en-US" sz="2800" dirty="0" smtClean="0"/>
              <a:t>所示，求它们的输出逻辑函数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116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kern="0" dirty="0" smtClean="0">
                <a:solidFill>
                  <a:schemeClr val="tx2"/>
                </a:solidFill>
              </a:rPr>
              <a:t>2.4 MOS</a:t>
            </a:r>
            <a:r>
              <a:rPr kumimoji="1" lang="zh-CN" altLang="en-US" sz="3200" b="1" kern="0" dirty="0" smtClean="0">
                <a:solidFill>
                  <a:schemeClr val="tx2"/>
                </a:solidFill>
              </a:rPr>
              <a:t>型门电路</a:t>
            </a:r>
            <a:endParaRPr kumimoji="1" lang="zh-CN" altLang="en-US" sz="3200" b="1" kern="0" dirty="0">
              <a:solidFill>
                <a:schemeClr val="tx2"/>
              </a:solidFill>
            </a:endParaRPr>
          </a:p>
        </p:txBody>
      </p:sp>
      <p:pic>
        <p:nvPicPr>
          <p:cNvPr id="21812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0"/>
            <a:ext cx="304800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1763688" y="3861048"/>
          <a:ext cx="3354727" cy="432048"/>
        </p:xfrm>
        <a:graphic>
          <a:graphicData uri="http://schemas.openxmlformats.org/presentationml/2006/ole">
            <p:oleObj spid="_x0000_s218125" r:id="rId4" imgW="1676160" imgH="215640" progId="">
              <p:embed/>
            </p:oleObj>
          </a:graphicData>
        </a:graphic>
      </p:graphicFrame>
      <p:graphicFrame>
        <p:nvGraphicFramePr>
          <p:cNvPr id="218126" name="Object 14"/>
          <p:cNvGraphicFramePr>
            <a:graphicFrameLocks noChangeAspect="1"/>
          </p:cNvGraphicFramePr>
          <p:nvPr/>
        </p:nvGraphicFramePr>
        <p:xfrm>
          <a:off x="683568" y="4509120"/>
          <a:ext cx="4434177" cy="864096"/>
        </p:xfrm>
        <a:graphic>
          <a:graphicData uri="http://schemas.openxmlformats.org/presentationml/2006/ole">
            <p:oleObj spid="_x0000_s218126" r:id="rId5" imgW="2476440" imgH="482400" progId="">
              <p:embed/>
            </p:oleObj>
          </a:graphicData>
        </a:graphic>
      </p:graphicFrame>
      <p:pic>
        <p:nvPicPr>
          <p:cNvPr id="218127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05018" y="3429000"/>
            <a:ext cx="3489421" cy="318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484784"/>
            <a:ext cx="8280920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dirty="0"/>
              <a:t> </a:t>
            </a:r>
            <a:r>
              <a:rPr lang="en-US" altLang="zh-CN" sz="2800" dirty="0"/>
              <a:t>CMOS </a:t>
            </a:r>
            <a:r>
              <a:rPr lang="en-US" altLang="zh-CN" sz="2800" dirty="0" smtClean="0"/>
              <a:t>(Complementary-</a:t>
            </a:r>
            <a:r>
              <a:rPr lang="en-US" altLang="zh-CN" sz="2800" dirty="0" err="1" smtClean="0"/>
              <a:t>Symmetery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Metal Oxide </a:t>
            </a:r>
            <a:r>
              <a:rPr lang="en-US" altLang="zh-CN" sz="2800" dirty="0" smtClean="0"/>
              <a:t>Semiconductor) </a:t>
            </a:r>
            <a:r>
              <a:rPr lang="zh-CN" altLang="en-US" sz="2800" dirty="0" smtClean="0"/>
              <a:t>，即</a:t>
            </a:r>
            <a:r>
              <a:rPr lang="zh-CN" altLang="en-US" sz="2800" dirty="0"/>
              <a:t>“互补对称金属－氧化物－半导体” 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/>
              <a:t>CMOS</a:t>
            </a:r>
            <a:r>
              <a:rPr lang="zh-CN" altLang="en-US" sz="2400" dirty="0"/>
              <a:t>反相器的电路结构是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电路的基本结构形式；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CMOS</a:t>
            </a:r>
            <a:r>
              <a:rPr lang="zh-CN" altLang="en-US" sz="2400" dirty="0"/>
              <a:t>反相器通常应用于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电路的</a:t>
            </a:r>
            <a:r>
              <a:rPr lang="zh-CN" altLang="en-US" sz="2400" dirty="0">
                <a:solidFill>
                  <a:srgbClr val="FF0000"/>
                </a:solidFill>
              </a:rPr>
              <a:t>输入、输出端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CC"/>
                </a:solidFill>
              </a:rPr>
              <a:t>作缓冲器使用</a:t>
            </a:r>
            <a:r>
              <a:rPr lang="zh-CN" altLang="en-US" sz="2400" dirty="0"/>
              <a:t>，是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电路常见输出结构形式之一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由于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电路中巧妙的利用了</a:t>
            </a:r>
            <a:r>
              <a:rPr lang="en-US" altLang="zh-CN" sz="2400" dirty="0"/>
              <a:t>N</a:t>
            </a:r>
            <a:r>
              <a:rPr lang="zh-CN" altLang="en-US" sz="2400" dirty="0"/>
              <a:t>沟道增强型</a:t>
            </a:r>
            <a:r>
              <a:rPr lang="en-US" altLang="zh-CN" sz="2400" dirty="0"/>
              <a:t>MOS</a:t>
            </a:r>
            <a:r>
              <a:rPr lang="zh-CN" altLang="en-US" sz="2400" dirty="0"/>
              <a:t>管和</a:t>
            </a:r>
            <a:r>
              <a:rPr lang="en-US" altLang="zh-CN" sz="2400" dirty="0"/>
              <a:t>P</a:t>
            </a:r>
            <a:r>
              <a:rPr lang="zh-CN" altLang="en-US" sz="2400" dirty="0"/>
              <a:t>沟道增强型</a:t>
            </a:r>
            <a:r>
              <a:rPr lang="en-US" altLang="zh-CN" sz="2400" dirty="0"/>
              <a:t>MOS</a:t>
            </a:r>
            <a:r>
              <a:rPr lang="zh-CN" altLang="en-US" sz="2400" dirty="0"/>
              <a:t>管特性的</a:t>
            </a:r>
            <a:r>
              <a:rPr lang="zh-CN" altLang="en-US" sz="2400" dirty="0">
                <a:solidFill>
                  <a:srgbClr val="FF0000"/>
                </a:solidFill>
              </a:rPr>
              <a:t>互补性</a:t>
            </a:r>
            <a:r>
              <a:rPr lang="zh-CN" altLang="en-US" sz="2400" dirty="0"/>
              <a:t>，因而不仅电路结构简单，而且具有</a:t>
            </a:r>
            <a:r>
              <a:rPr lang="zh-CN" altLang="en-US" sz="2400" dirty="0">
                <a:solidFill>
                  <a:srgbClr val="0000CC"/>
                </a:solidFill>
              </a:rPr>
              <a:t>低功耗、抗干扰能力强</a:t>
            </a:r>
            <a:r>
              <a:rPr lang="zh-CN" altLang="en-US" sz="2400" dirty="0"/>
              <a:t>等突出特点，且其</a:t>
            </a:r>
            <a:r>
              <a:rPr lang="zh-CN" altLang="en-US" sz="2400" dirty="0">
                <a:solidFill>
                  <a:srgbClr val="0000CC"/>
                </a:solidFill>
              </a:rPr>
              <a:t>工作速度也在逐步提高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CMOS</a:t>
            </a:r>
            <a:r>
              <a:rPr lang="zh-CN" altLang="en-US" sz="2400" dirty="0"/>
              <a:t>电路的制作工艺在数字集成电路中得到了广泛应用。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117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1259632" y="2204864"/>
            <a:ext cx="3096344" cy="31820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hlink"/>
                </a:solidFill>
              </a14:hiddenFill>
            </a:ext>
          </a:extLst>
        </p:spPr>
      </p:pic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1115616" y="6237312"/>
            <a:ext cx="7056784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NMOS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管导通，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输出低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 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/>
                <a:ea typeface="宋体"/>
              </a:rPr>
              <a:t>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宋体"/>
                <a:ea typeface="宋体"/>
              </a:rPr>
              <a:t>0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1115616" y="5726336"/>
            <a:ext cx="6480720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NMOS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输出高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852936"/>
            <a:ext cx="33242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1187624" y="6093296"/>
            <a:ext cx="7056784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PMOS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管导通，输出高电平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宋体"/>
                <a:ea typeface="宋体"/>
              </a:rPr>
              <a:t>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0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1187624" y="5517232"/>
            <a:ext cx="6768752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PMOS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输出低电平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endParaRPr kumimoji="1" lang="zh-CN" altLang="en-US" sz="2400" b="1" baseline="-25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33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2996952"/>
            <a:ext cx="2952328" cy="175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35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2420888"/>
            <a:ext cx="2376264" cy="2411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5" descr="E:\wrj\课件\数字电路与系统\数字电路与数字系统\tupian\2-1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62" y="2852936"/>
            <a:ext cx="5088487" cy="2484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611560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非门（反相器）</a:t>
            </a:r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2627784" y="5589240"/>
            <a:ext cx="4038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CMOS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反相器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）结构示意图 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）电路图</a:t>
            </a:r>
          </a:p>
        </p:txBody>
      </p:sp>
      <p:graphicFrame>
        <p:nvGraphicFramePr>
          <p:cNvPr id="126985" name="Object 9"/>
          <p:cNvGraphicFramePr>
            <a:graphicFrameLocks noChangeAspect="1"/>
          </p:cNvGraphicFramePr>
          <p:nvPr/>
        </p:nvGraphicFramePr>
        <p:xfrm>
          <a:off x="4788024" y="1340768"/>
          <a:ext cx="3406775" cy="900113"/>
        </p:xfrm>
        <a:graphic>
          <a:graphicData uri="http://schemas.openxmlformats.org/presentationml/2006/ole">
            <p:oleObj spid="_x0000_s466946" name="公式" r:id="rId4" imgW="1917700" imgH="508000" progId="">
              <p:embed/>
            </p:oleObj>
          </a:graphicData>
        </a:graphic>
      </p:graphicFrame>
      <p:sp>
        <p:nvSpPr>
          <p:cNvPr id="126986" name="Line 10"/>
          <p:cNvSpPr>
            <a:spLocks noChangeShapeType="1"/>
          </p:cNvSpPr>
          <p:nvPr/>
        </p:nvSpPr>
        <p:spPr bwMode="auto">
          <a:xfrm flipH="1">
            <a:off x="1547813" y="3955826"/>
            <a:ext cx="3024187" cy="0"/>
          </a:xfrm>
          <a:prstGeom prst="line">
            <a:avLst/>
          </a:prstGeom>
          <a:noFill/>
          <a:ln w="7620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双极型集成门电路</a:t>
            </a:r>
            <a:r>
              <a:rPr lang="en-US" altLang="zh-CN" dirty="0" smtClean="0"/>
              <a:t>---CMOS</a:t>
            </a:r>
            <a:r>
              <a:rPr lang="zh-CN" altLang="en-US" dirty="0"/>
              <a:t>型门电路</a:t>
            </a:r>
          </a:p>
        </p:txBody>
      </p:sp>
      <p:pic>
        <p:nvPicPr>
          <p:cNvPr id="34820" name="Picture 4" descr="E:\wrj\课件\数字电路与系统\数字电路与数字系统\tupian\2-2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89826"/>
            <a:ext cx="1835089" cy="313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467544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非门（反相器）</a:t>
            </a:r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71549" y="5244819"/>
            <a:ext cx="31683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CMOS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反相器</a:t>
            </a:r>
          </a:p>
        </p:txBody>
      </p:sp>
      <p:graphicFrame>
        <p:nvGraphicFramePr>
          <p:cNvPr id="126985" name="Object 9"/>
          <p:cNvGraphicFramePr>
            <a:graphicFrameLocks noChangeAspect="1"/>
          </p:cNvGraphicFramePr>
          <p:nvPr/>
        </p:nvGraphicFramePr>
        <p:xfrm>
          <a:off x="35249" y="5805264"/>
          <a:ext cx="3240607" cy="719856"/>
        </p:xfrm>
        <a:graphic>
          <a:graphicData uri="http://schemas.openxmlformats.org/presentationml/2006/ole">
            <p:oleObj spid="_x0000_s35045" name="公式" r:id="rId3" imgW="1917700" imgH="508000" progId="">
              <p:embed/>
            </p:oleObj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2925268" y="2142361"/>
            <a:ext cx="171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IL</a:t>
            </a:r>
            <a:r>
              <a:rPr lang="en-US" altLang="zh-CN" b="1" dirty="0"/>
              <a:t>=0</a:t>
            </a:r>
            <a:r>
              <a:rPr lang="zh-CN" altLang="en-US" dirty="0"/>
              <a:t>时</a:t>
            </a:r>
          </a:p>
        </p:txBody>
      </p:sp>
      <p:sp>
        <p:nvSpPr>
          <p:cNvPr id="10" name="矩形 9"/>
          <p:cNvSpPr/>
          <p:nvPr/>
        </p:nvSpPr>
        <p:spPr>
          <a:xfrm>
            <a:off x="7118857" y="2132856"/>
            <a:ext cx="1989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IH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DD</a:t>
            </a:r>
            <a:r>
              <a:rPr lang="zh-CN" altLang="en-US" dirty="0"/>
              <a:t>时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926" y="2570354"/>
            <a:ext cx="3722274" cy="342000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504" y="2570354"/>
            <a:ext cx="2454796" cy="324000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3491880" y="6115362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b="1" i="1" dirty="0"/>
              <a:t>V=V</a:t>
            </a:r>
            <a:r>
              <a:rPr lang="en-US" altLang="zh-CN" b="1" i="1" baseline="-25000" dirty="0"/>
              <a:t>OH</a:t>
            </a:r>
            <a:r>
              <a:rPr lang="en-US" altLang="zh-CN" dirty="0"/>
              <a:t>≈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DD</a:t>
            </a:r>
            <a:endParaRPr lang="en-US" altLang="zh-CN" baseline="-25000" dirty="0"/>
          </a:p>
        </p:txBody>
      </p:sp>
      <p:sp>
        <p:nvSpPr>
          <p:cNvPr id="14" name="矩形 13"/>
          <p:cNvSpPr/>
          <p:nvPr/>
        </p:nvSpPr>
        <p:spPr>
          <a:xfrm>
            <a:off x="6905082" y="6300028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b="1" i="1" dirty="0"/>
              <a:t>V=V</a:t>
            </a:r>
            <a:r>
              <a:rPr lang="en-US" altLang="zh-CN" b="1" baseline="-25000" dirty="0"/>
              <a:t>OL</a:t>
            </a:r>
            <a:r>
              <a:rPr lang="en-US" altLang="zh-CN" dirty="0"/>
              <a:t>≈</a:t>
            </a:r>
            <a:r>
              <a:rPr lang="en-US" altLang="zh-CN" b="1" i="1" dirty="0"/>
              <a:t>0</a:t>
            </a:r>
            <a:endParaRPr lang="en-US" altLang="zh-CN" dirty="0"/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5046" name="Picture 2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2132856"/>
            <a:ext cx="20574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双极型集成门电路</a:t>
            </a:r>
            <a:r>
              <a:rPr lang="en-US" altLang="zh-CN" dirty="0"/>
              <a:t>---CMOS</a:t>
            </a:r>
            <a:r>
              <a:rPr lang="zh-CN" altLang="en-US" dirty="0"/>
              <a:t>型门电路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122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76872"/>
            <a:ext cx="5962247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1560" y="1772816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</a:rPr>
              <a:t>CMOS</a:t>
            </a:r>
            <a:r>
              <a:rPr lang="zh-CN" altLang="en-US" sz="2400" b="1" dirty="0">
                <a:solidFill>
                  <a:srgbClr val="0000CC"/>
                </a:solidFill>
              </a:rPr>
              <a:t>反相器电压传输特性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14" y="2816872"/>
            <a:ext cx="1289032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632848" cy="494928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2204864"/>
            <a:ext cx="3568485" cy="36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412" y="3010888"/>
            <a:ext cx="5046222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985663" y="588152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二输入端与非门</a:t>
            </a:r>
          </a:p>
        </p:txBody>
      </p:sp>
      <p:sp>
        <p:nvSpPr>
          <p:cNvPr id="8" name="矩形 7"/>
          <p:cNvSpPr/>
          <p:nvPr/>
        </p:nvSpPr>
        <p:spPr>
          <a:xfrm>
            <a:off x="4123728" y="2204864"/>
            <a:ext cx="46375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假设：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DD</a:t>
            </a:r>
            <a:r>
              <a:rPr lang="en-US" altLang="zh-CN" sz="2000" b="1" dirty="0" smtClean="0"/>
              <a:t>=5V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TN</a:t>
            </a:r>
            <a:r>
              <a:rPr lang="en-US" altLang="zh-CN" sz="2000" b="1" dirty="0" smtClean="0"/>
              <a:t>=2V  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TP</a:t>
            </a:r>
            <a:r>
              <a:rPr lang="en-US" altLang="zh-CN" sz="2000" b="1" dirty="0"/>
              <a:t>=−2V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768864"/>
            <a:ext cx="1383353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60634" y="6400800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123</a:t>
            </a:fld>
            <a:endParaRPr lang="zh-CN" altLang="en-US" dirty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67544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与非门</a:t>
            </a:r>
          </a:p>
        </p:txBody>
      </p:sp>
      <p:sp>
        <p:nvSpPr>
          <p:cNvPr id="4" name="矩形 3"/>
          <p:cNvSpPr/>
          <p:nvPr/>
        </p:nvSpPr>
        <p:spPr>
          <a:xfrm>
            <a:off x="4427984" y="1484784"/>
            <a:ext cx="3001275" cy="64633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两</a:t>
            </a:r>
            <a:r>
              <a:rPr lang="zh-CN" altLang="en-US" b="1" dirty="0"/>
              <a:t>个负载管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1</a:t>
            </a:r>
            <a:r>
              <a:rPr lang="en-US" altLang="zh-CN" b="1" dirty="0" smtClean="0"/>
              <a:t> </a:t>
            </a:r>
            <a:r>
              <a:rPr lang="zh-CN" altLang="en-US" b="1" dirty="0"/>
              <a:t>和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3</a:t>
            </a:r>
            <a:r>
              <a:rPr lang="zh-CN" altLang="en-US" b="1" dirty="0" smtClean="0"/>
              <a:t>并联。</a:t>
            </a:r>
            <a:endParaRPr lang="en-US" altLang="zh-CN" b="1" dirty="0" smtClean="0"/>
          </a:p>
          <a:p>
            <a:r>
              <a:rPr lang="zh-CN" altLang="en-US" b="1" dirty="0"/>
              <a:t>两个驱动管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4</a:t>
            </a:r>
            <a:r>
              <a:rPr lang="zh-CN" altLang="en-US" b="1" dirty="0" smtClean="0"/>
              <a:t>串联。</a:t>
            </a:r>
            <a:endParaRPr lang="en-US" altLang="zh-CN" b="1" dirty="0"/>
          </a:p>
        </p:txBody>
      </p:sp>
      <p:sp>
        <p:nvSpPr>
          <p:cNvPr id="2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8" y="1700808"/>
            <a:ext cx="3618075" cy="36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551723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二输入端与非门</a:t>
            </a:r>
          </a:p>
        </p:txBody>
      </p:sp>
      <p:sp>
        <p:nvSpPr>
          <p:cNvPr id="3" name="矩形 2"/>
          <p:cNvSpPr/>
          <p:nvPr/>
        </p:nvSpPr>
        <p:spPr>
          <a:xfrm>
            <a:off x="3654632" y="198884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/>
              <a:t>思考：如何实现三输入端</a:t>
            </a:r>
            <a:r>
              <a:rPr lang="zh-CN" altLang="en-US" sz="2000" b="1" dirty="0" smtClean="0"/>
              <a:t>与非门</a:t>
            </a:r>
            <a:r>
              <a:rPr lang="zh-CN" altLang="en-US" sz="2000" b="1" dirty="0"/>
              <a:t>？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557534"/>
            <a:ext cx="1746254" cy="5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211960" y="3367445"/>
            <a:ext cx="42484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/>
              <a:t>增加一对由输入变量 </a:t>
            </a:r>
            <a:r>
              <a:rPr lang="en-US" altLang="zh-CN" sz="2200" b="1" i="1" dirty="0"/>
              <a:t>C </a:t>
            </a:r>
            <a:r>
              <a:rPr lang="zh-CN" altLang="en-US" sz="2200" b="1" dirty="0"/>
              <a:t>控制的</a:t>
            </a:r>
          </a:p>
          <a:p>
            <a:r>
              <a:rPr lang="en-US" altLang="zh-CN" sz="2200" b="1" dirty="0"/>
              <a:t>P</a:t>
            </a:r>
            <a:r>
              <a:rPr lang="zh-CN" altLang="en-US" sz="2200" b="1" dirty="0"/>
              <a:t>管（并联）和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管（串联）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124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6832"/>
            <a:ext cx="3741059" cy="39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071" y="2996952"/>
            <a:ext cx="5334545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123728" y="2269844"/>
            <a:ext cx="46375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假设：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DD</a:t>
            </a:r>
            <a:r>
              <a:rPr lang="en-US" altLang="zh-CN" sz="2000" b="1" dirty="0" smtClean="0"/>
              <a:t>=5V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TN</a:t>
            </a:r>
            <a:r>
              <a:rPr lang="en-US" altLang="zh-CN" sz="2000" b="1" dirty="0" smtClean="0"/>
              <a:t>=2V  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TP</a:t>
            </a:r>
            <a:r>
              <a:rPr lang="en-US" altLang="zh-CN" sz="2000" b="1" dirty="0"/>
              <a:t>=−2V</a:t>
            </a: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44" y="5732832"/>
            <a:ext cx="1925731" cy="5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755576" y="5949280"/>
            <a:ext cx="244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二输入</a:t>
            </a:r>
            <a:r>
              <a:rPr lang="zh-CN" altLang="en-US" sz="2400" b="1" dirty="0" smtClean="0"/>
              <a:t>端或非门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125</a:t>
            </a:fld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7544" y="1484784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或非门</a:t>
            </a:r>
          </a:p>
        </p:txBody>
      </p:sp>
      <p:sp>
        <p:nvSpPr>
          <p:cNvPr id="3" name="矩形 2"/>
          <p:cNvSpPr/>
          <p:nvPr/>
        </p:nvSpPr>
        <p:spPr>
          <a:xfrm>
            <a:off x="3871009" y="1412776"/>
            <a:ext cx="3653319" cy="64633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两</a:t>
            </a:r>
            <a:r>
              <a:rPr lang="en-US" altLang="zh-CN" b="1" dirty="0"/>
              <a:t>NMOSFETs </a:t>
            </a:r>
            <a:r>
              <a:rPr lang="zh-CN" altLang="en-US" b="1" dirty="0"/>
              <a:t>并联作为驱动</a:t>
            </a:r>
            <a:r>
              <a:rPr lang="zh-CN" altLang="en-US" b="1" dirty="0" smtClean="0"/>
              <a:t>管。</a:t>
            </a:r>
            <a:endParaRPr lang="en-US" altLang="zh-CN" b="1" dirty="0"/>
          </a:p>
          <a:p>
            <a:r>
              <a:rPr lang="zh-CN" altLang="en-US" b="1" dirty="0"/>
              <a:t>两</a:t>
            </a:r>
            <a:r>
              <a:rPr lang="en-US" altLang="zh-CN" b="1" dirty="0"/>
              <a:t>PMOSFETs </a:t>
            </a:r>
            <a:r>
              <a:rPr lang="zh-CN" altLang="en-US" b="1" dirty="0"/>
              <a:t>串联作为负载</a:t>
            </a:r>
            <a:r>
              <a:rPr lang="zh-CN" altLang="en-US" b="1" dirty="0" smtClean="0"/>
              <a:t>管。</a:t>
            </a:r>
            <a:endParaRPr lang="zh-CN" altLang="en-US" b="1" dirty="0"/>
          </a:p>
        </p:txBody>
      </p:sp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344817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4. CMOS </a:t>
            </a:r>
            <a:r>
              <a:rPr lang="zh-CN" altLang="en-US" sz="2800" dirty="0"/>
              <a:t>三态门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126</a:t>
            </a:fld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2553517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211960" y="209220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低电平有效三态门</a:t>
            </a:r>
          </a:p>
        </p:txBody>
      </p:sp>
      <p:sp>
        <p:nvSpPr>
          <p:cNvPr id="7" name="矩形 6"/>
          <p:cNvSpPr/>
          <p:nvPr/>
        </p:nvSpPr>
        <p:spPr>
          <a:xfrm>
            <a:off x="4227285" y="263691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增加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N2</a:t>
            </a:r>
            <a:r>
              <a:rPr lang="en-US" altLang="zh-CN" b="1" dirty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分别与</a:t>
            </a:r>
            <a:r>
              <a:rPr lang="zh-CN" altLang="en-US" b="1" dirty="0" smtClean="0"/>
              <a:t>驱动</a:t>
            </a:r>
            <a:r>
              <a:rPr lang="zh-CN" altLang="en-US" b="1" dirty="0"/>
              <a:t>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N1</a:t>
            </a:r>
            <a:r>
              <a:rPr lang="en-US" altLang="zh-CN" b="1" dirty="0"/>
              <a:t> </a:t>
            </a:r>
            <a:r>
              <a:rPr lang="zh-CN" altLang="en-US" b="1" dirty="0"/>
              <a:t>及负载管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P1</a:t>
            </a:r>
            <a:r>
              <a:rPr lang="zh-CN" altLang="en-US" b="1" dirty="0" smtClean="0"/>
              <a:t>串联</a:t>
            </a:r>
            <a:endParaRPr lang="en-US" altLang="zh-CN" b="1" dirty="0" smtClean="0"/>
          </a:p>
        </p:txBody>
      </p:sp>
      <p:sp>
        <p:nvSpPr>
          <p:cNvPr id="8" name="矩形 7"/>
          <p:cNvSpPr/>
          <p:nvPr/>
        </p:nvSpPr>
        <p:spPr>
          <a:xfrm>
            <a:off x="4860032" y="3284984"/>
            <a:ext cx="228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N2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截至，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F </a:t>
            </a:r>
            <a:r>
              <a:rPr lang="zh-CN" altLang="en-US" b="1" dirty="0"/>
              <a:t>悬浮</a:t>
            </a:r>
            <a:r>
              <a:rPr lang="en-US" altLang="zh-CN" b="1" dirty="0"/>
              <a:t>(F = Hi-Z);</a:t>
            </a:r>
          </a:p>
        </p:txBody>
      </p:sp>
      <p:sp>
        <p:nvSpPr>
          <p:cNvPr id="9" name="矩形 8"/>
          <p:cNvSpPr/>
          <p:nvPr/>
        </p:nvSpPr>
        <p:spPr>
          <a:xfrm>
            <a:off x="4860032" y="4365104"/>
            <a:ext cx="2736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T</a:t>
            </a:r>
            <a:r>
              <a:rPr lang="en-US" altLang="zh-CN" b="1" baseline="-25000" dirty="0"/>
              <a:t>N2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导通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T</a:t>
            </a:r>
            <a:r>
              <a:rPr lang="en-US" altLang="zh-CN" b="1" baseline="-25000" dirty="0"/>
              <a:t>N1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P1</a:t>
            </a:r>
            <a:r>
              <a:rPr lang="en-US" altLang="zh-CN" b="1" dirty="0"/>
              <a:t> </a:t>
            </a:r>
            <a:r>
              <a:rPr lang="zh-CN" altLang="en-US" b="1" dirty="0"/>
              <a:t>非门工作</a:t>
            </a:r>
          </a:p>
        </p:txBody>
      </p:sp>
      <p:sp>
        <p:nvSpPr>
          <p:cNvPr id="10" name="左大括号 9"/>
          <p:cNvSpPr/>
          <p:nvPr/>
        </p:nvSpPr>
        <p:spPr bwMode="auto">
          <a:xfrm>
            <a:off x="4644008" y="3429000"/>
            <a:ext cx="72008" cy="646331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左大括号 11"/>
          <p:cNvSpPr/>
          <p:nvPr/>
        </p:nvSpPr>
        <p:spPr bwMode="auto">
          <a:xfrm>
            <a:off x="4572000" y="4582869"/>
            <a:ext cx="72008" cy="646331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563888" y="3573016"/>
                <a:ext cx="976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</a:rPr>
                            <m:t>EN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3573016"/>
                <a:ext cx="976549" cy="369332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563888" y="4721368"/>
                <a:ext cx="976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</a:rPr>
                            <m:t>EN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721368"/>
                <a:ext cx="976549" cy="369332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127</a:t>
            </a:fld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7544" y="1484784"/>
            <a:ext cx="45720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传输门</a:t>
            </a:r>
            <a:endParaRPr kumimoji="1" lang="en-US" altLang="zh-CN" sz="2800" b="1" dirty="0" smtClean="0">
              <a:solidFill>
                <a:srgbClr val="33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 fontAlgn="base"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CMOS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传输门由</a:t>
            </a: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NMOS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管</a:t>
            </a: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kumimoji="1" lang="en-US" altLang="zh-CN" sz="24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PMOS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管</a:t>
            </a: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kumimoji="1" lang="en-US" altLang="zh-CN" sz="24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并接而成，</a:t>
            </a:r>
            <a:r>
              <a:rPr kumimoji="1" lang="en-US" altLang="zh-CN" sz="2400" b="1" i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endParaRPr kumimoji="1" lang="en-US" altLang="zh-CN" sz="24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914400" lvl="1" indent="-457200" fontAlgn="base"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</a:pP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称为倒相的控制端</a:t>
            </a:r>
            <a:r>
              <a:rPr kumimoji="1"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4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836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4005064"/>
            <a:ext cx="2592288" cy="241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6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3208603"/>
            <a:ext cx="3312368" cy="335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68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1412776"/>
            <a:ext cx="374441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83687" name="Object 7"/>
          <p:cNvGraphicFramePr>
            <a:graphicFrameLocks noChangeAspect="1"/>
          </p:cNvGraphicFramePr>
          <p:nvPr/>
        </p:nvGraphicFramePr>
        <p:xfrm>
          <a:off x="4571999" y="2420888"/>
          <a:ext cx="292533" cy="360040"/>
        </p:xfrm>
        <a:graphic>
          <a:graphicData uri="http://schemas.openxmlformats.org/presentationml/2006/ole">
            <p:oleObj spid="_x0000_s583687" r:id="rId6" imgW="164880" imgH="2030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2.4.3 CMOS</a:t>
            </a:r>
            <a:r>
              <a:rPr lang="zh-CN" altLang="en-US" dirty="0" smtClean="0"/>
              <a:t>电路特点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MOS</a:t>
            </a:r>
            <a:r>
              <a:rPr lang="zh-CN" altLang="en-US" sz="2800" dirty="0"/>
              <a:t>电路输入电阻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GS</a:t>
            </a:r>
            <a:r>
              <a:rPr lang="en-US" altLang="zh-CN" sz="2800" dirty="0"/>
              <a:t> &gt; 10</a:t>
            </a:r>
            <a:r>
              <a:rPr lang="en-US" altLang="zh-CN" sz="2800" baseline="30000" dirty="0">
                <a:solidFill>
                  <a:schemeClr val="tx1"/>
                </a:solidFill>
                <a:uFillTx/>
              </a:rPr>
              <a:t>10</a:t>
            </a:r>
            <a:r>
              <a:rPr lang="en-US" altLang="zh-CN" sz="2800" dirty="0"/>
              <a:t> Ω, </a:t>
            </a:r>
            <a:r>
              <a:rPr lang="zh-CN" altLang="en-US" sz="2800" dirty="0"/>
              <a:t>所以无论外接</a:t>
            </a:r>
            <a:r>
              <a:rPr lang="zh-CN" altLang="en-US" sz="2800" dirty="0" smtClean="0"/>
              <a:t>电阻</a:t>
            </a:r>
            <a:r>
              <a:rPr lang="zh-CN" altLang="en-US" sz="2800" dirty="0"/>
              <a:t>多大，都是：接地→ 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 smtClean="0"/>
              <a:t>E</a:t>
            </a:r>
            <a:r>
              <a:rPr lang="en-US" altLang="zh-CN" sz="2800" baseline="-25000" dirty="0" smtClean="0"/>
              <a:t>C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→1</a:t>
            </a:r>
            <a:r>
              <a:rPr lang="zh-CN" altLang="en-US" sz="28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128</a:t>
            </a:fld>
            <a:endParaRPr lang="zh-CN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04394"/>
            <a:ext cx="2215784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213063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sz="3200" dirty="0" smtClean="0"/>
              <a:t>2.4.3 CMOS</a:t>
            </a:r>
            <a:r>
              <a:rPr lang="zh-CN" altLang="en-US" sz="3200" dirty="0" smtClean="0"/>
              <a:t>电路特点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129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576" y="1988840"/>
            <a:ext cx="77396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/>
              <a:t>静态功耗</a:t>
            </a:r>
            <a:r>
              <a:rPr lang="zh-CN" altLang="en-US" sz="2400" b="1" dirty="0" smtClean="0"/>
              <a:t>低：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CMOS</a:t>
            </a:r>
            <a:r>
              <a:rPr lang="zh-CN" altLang="en-US" sz="2400" b="1" dirty="0" smtClean="0"/>
              <a:t>反相器</a:t>
            </a:r>
            <a:r>
              <a:rPr lang="zh-CN" altLang="en-US" sz="2400" b="1" dirty="0"/>
              <a:t>中，无论</a:t>
            </a:r>
            <a:r>
              <a:rPr lang="zh-CN" altLang="en-US" sz="2400" b="1" dirty="0" smtClean="0"/>
              <a:t>电路</a:t>
            </a:r>
            <a:r>
              <a:rPr lang="zh-CN" altLang="en-US" sz="2400" b="1" dirty="0"/>
              <a:t>处于何种</a:t>
            </a:r>
            <a:r>
              <a:rPr lang="zh-CN" altLang="en-US" sz="2400" b="1" dirty="0" smtClean="0"/>
              <a:t>状态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TN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TP</a:t>
            </a:r>
            <a:r>
              <a:rPr lang="zh-CN" altLang="en-US" sz="2400" b="1" dirty="0" smtClean="0"/>
              <a:t>中总</a:t>
            </a:r>
            <a:r>
              <a:rPr lang="zh-CN" altLang="en-US" sz="2400" b="1" dirty="0"/>
              <a:t>有一管</a:t>
            </a:r>
            <a:r>
              <a:rPr lang="zh-CN" altLang="en-US" sz="2400" b="1" dirty="0" smtClean="0"/>
              <a:t>截止</a:t>
            </a:r>
            <a:r>
              <a:rPr lang="zh-CN" altLang="en-US" sz="2400" b="1" dirty="0"/>
              <a:t>，所以其</a:t>
            </a:r>
            <a:r>
              <a:rPr lang="zh-CN" altLang="en-US" sz="2400" b="1" dirty="0" smtClean="0"/>
              <a:t>静态</a:t>
            </a:r>
            <a:r>
              <a:rPr lang="zh-CN" altLang="en-US" sz="2400" b="1" dirty="0"/>
              <a:t>功耗极低</a:t>
            </a:r>
            <a:r>
              <a:rPr lang="zh-CN" altLang="en-US" sz="2400" b="1" dirty="0" smtClean="0"/>
              <a:t>，有</a:t>
            </a:r>
            <a:r>
              <a:rPr lang="zh-CN" altLang="en-US" sz="2400" b="1" dirty="0"/>
              <a:t>微功耗</a:t>
            </a:r>
            <a:r>
              <a:rPr lang="zh-CN" altLang="en-US" sz="2400" b="1" dirty="0" smtClean="0"/>
              <a:t>电路之</a:t>
            </a:r>
            <a:r>
              <a:rPr lang="zh-CN" altLang="en-US" sz="2400" b="1" dirty="0"/>
              <a:t>称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755576" y="3356992"/>
            <a:ext cx="78836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噪声容限高：</a:t>
            </a:r>
            <a:r>
              <a:rPr lang="en-US" altLang="zh-CN" sz="2400" b="1" dirty="0" smtClean="0"/>
              <a:t>CMOS</a:t>
            </a:r>
            <a:r>
              <a:rPr lang="zh-CN" altLang="en-US" sz="2400" b="1" dirty="0" smtClean="0"/>
              <a:t>反相器的阈值电压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TH</a:t>
            </a:r>
            <a:r>
              <a:rPr lang="en-US" altLang="zh-CN" sz="2400" b="1" dirty="0" smtClean="0"/>
              <a:t>=V</a:t>
            </a:r>
            <a:r>
              <a:rPr lang="en-US" altLang="zh-CN" sz="2400" b="1" baseline="-25000" dirty="0" smtClean="0"/>
              <a:t>DD</a:t>
            </a:r>
            <a:r>
              <a:rPr lang="en-US" altLang="zh-CN" sz="2400" b="1" dirty="0" smtClean="0"/>
              <a:t>/2</a:t>
            </a:r>
            <a:r>
              <a:rPr lang="en-US" altLang="zh-CN" sz="2400" b="1" dirty="0"/>
              <a:t>,</a:t>
            </a:r>
            <a:r>
              <a:rPr lang="zh-CN" altLang="en-US" sz="2400" b="1" dirty="0" smtClean="0"/>
              <a:t>即两</a:t>
            </a:r>
            <a:r>
              <a:rPr lang="zh-CN" altLang="en-US" sz="2400" b="1" dirty="0"/>
              <a:t>管状态</a:t>
            </a:r>
            <a:r>
              <a:rPr lang="zh-CN" altLang="en-US" sz="2400" b="1" dirty="0" smtClean="0"/>
              <a:t>在</a:t>
            </a:r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I</a:t>
            </a:r>
            <a:r>
              <a:rPr lang="en-US" altLang="zh-CN" sz="2400" b="1" dirty="0" smtClean="0"/>
              <a:t>=V</a:t>
            </a:r>
            <a:r>
              <a:rPr lang="en-US" altLang="zh-CN" sz="2400" b="1" baseline="-25000" dirty="0" smtClean="0"/>
              <a:t>DD</a:t>
            </a:r>
            <a:r>
              <a:rPr lang="en-US" altLang="zh-CN" sz="2400" b="1" dirty="0" smtClean="0"/>
              <a:t>/2</a:t>
            </a:r>
            <a:r>
              <a:rPr lang="zh-CN" altLang="en-US" sz="2400" b="1" dirty="0" smtClean="0"/>
              <a:t>处转换</a:t>
            </a:r>
            <a:r>
              <a:rPr lang="zh-CN" altLang="en-US" sz="2400" b="1" dirty="0"/>
              <a:t>，因此其</a:t>
            </a:r>
            <a:r>
              <a:rPr lang="zh-CN" altLang="en-US" sz="2400" b="1" dirty="0" smtClean="0"/>
              <a:t>噪声容限接近</a:t>
            </a:r>
            <a:r>
              <a:rPr lang="en-US" altLang="zh-CN" sz="2400" b="1" dirty="0" smtClean="0"/>
              <a:t>50</a:t>
            </a:r>
            <a:r>
              <a:rPr lang="en-US" altLang="zh-CN" sz="2400" b="1" dirty="0"/>
              <a:t>%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467544" y="1484784"/>
            <a:ext cx="4200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 CMOS</a:t>
            </a:r>
            <a:r>
              <a:rPr lang="zh-CN" altLang="en-US" sz="2800" b="1" dirty="0"/>
              <a:t>型</a:t>
            </a:r>
            <a:r>
              <a:rPr lang="zh-CN" altLang="en-US" sz="2800" b="1" dirty="0" smtClean="0"/>
              <a:t>门电路特点：</a:t>
            </a:r>
            <a:endParaRPr lang="zh-CN" altLang="en-US" sz="2800" b="1" dirty="0"/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5" name="Text Box 15"/>
          <p:cNvSpPr txBox="1">
            <a:spLocks noChangeArrowheads="1"/>
          </p:cNvSpPr>
          <p:nvPr/>
        </p:nvSpPr>
        <p:spPr bwMode="auto">
          <a:xfrm>
            <a:off x="539552" y="1700808"/>
            <a:ext cx="813690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一、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集成电路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（一）</a:t>
            </a: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输出端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输出端（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OC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三态门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除外）不允许并联使用，也不允许直接与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+5V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电源或地线连接，否则会使电路的逻辑混乱并损坏器件。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（二）</a:t>
            </a: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输入端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输入端外接电阻需慎重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对应开门电阻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</a:t>
            </a:r>
            <a:r>
              <a:rPr kumimoji="1"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OFF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和关门电阻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</a:t>
            </a:r>
            <a:r>
              <a:rPr kumimoji="1"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ON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，否则会影响电路的正常工作。</a:t>
            </a:r>
            <a:endParaRPr kumimoji="1"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88833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</a:t>
            </a:r>
            <a:r>
              <a:rPr lang="zh-CN" altLang="en-US" sz="3200" dirty="0" smtClean="0"/>
              <a:t>事项</a:t>
            </a:r>
            <a:endParaRPr lang="zh-CN" altLang="en-US" sz="3200" dirty="0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74" name="Group 10"/>
          <p:cNvGrpSpPr/>
          <p:nvPr/>
        </p:nvGrpSpPr>
        <p:grpSpPr bwMode="auto">
          <a:xfrm>
            <a:off x="827088" y="1098376"/>
            <a:ext cx="7620000" cy="2465387"/>
            <a:chOff x="521" y="709"/>
            <a:chExt cx="4800" cy="1553"/>
          </a:xfrm>
        </p:grpSpPr>
        <p:sp>
          <p:nvSpPr>
            <p:cNvPr id="164872" name="Text Box 8"/>
            <p:cNvSpPr txBox="1">
              <a:spLocks noChangeArrowheads="1"/>
            </p:cNvSpPr>
            <p:nvPr/>
          </p:nvSpPr>
          <p:spPr bwMode="auto">
            <a:xfrm>
              <a:off x="521" y="709"/>
              <a:ext cx="4800" cy="1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（三）多余输入端的处理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输入端可以串入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只             的电阻或</a:t>
              </a:r>
              <a:r>
                <a:rPr kumimoji="1" lang="zh-CN" altLang="en-US" sz="2400" b="1" dirty="0" smtClean="0">
                  <a:solidFill>
                    <a:srgbClr val="0000CC"/>
                  </a:solidFill>
                  <a:latin typeface="宋体" panose="02010600030101010101" pitchFamily="2" charset="-122"/>
                </a:rPr>
                <a:t>直接接电源来获得高电平输入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r>
                <a:rPr kumimoji="1" lang="zh-CN" altLang="en-US" sz="2400" b="1" dirty="0" smtClean="0">
                  <a:solidFill>
                    <a:srgbClr val="0000CC"/>
                  </a:solidFill>
                  <a:latin typeface="宋体" panose="02010600030101010101" pitchFamily="2" charset="-122"/>
                </a:rPr>
                <a:t>直接接地为低电平输入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与门、与非门等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TTL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电路的多余输入端可以悬空（相当于接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/>
                </a:rPr>
                <a:t>’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1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Times New Roman" panose="02020603050405020304"/>
                </a:rPr>
                <a:t>’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）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，但因悬空时对地呈现的阻抗很高，容易受到外界干扰。</a:t>
              </a:r>
              <a:endPara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4873" name="Object 9"/>
            <p:cNvGraphicFramePr>
              <a:graphicFrameLocks noChangeAspect="1"/>
            </p:cNvGraphicFramePr>
            <p:nvPr/>
          </p:nvGraphicFramePr>
          <p:xfrm>
            <a:off x="2699" y="998"/>
            <a:ext cx="997" cy="225"/>
          </p:xfrm>
          <a:graphic>
            <a:graphicData uri="http://schemas.openxmlformats.org/presentationml/2006/ole">
              <p:oleObj spid="_x0000_s49285" name="公式" r:id="rId3" imgW="787058" imgH="177723" progId="">
                <p:embed/>
              </p:oleObj>
            </a:graphicData>
          </a:graphic>
        </p:graphicFrame>
      </p:grpSp>
      <p:sp>
        <p:nvSpPr>
          <p:cNvPr id="164875" name="Rectangle 11"/>
          <p:cNvSpPr>
            <a:spLocks noChangeArrowheads="1"/>
          </p:cNvSpPr>
          <p:nvPr/>
        </p:nvSpPr>
        <p:spPr bwMode="auto">
          <a:xfrm>
            <a:off x="900113" y="3617738"/>
            <a:ext cx="76200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（四）电源滤波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TTL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电路的高速切换将产生电流跳变，其幅度约为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4-5mA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，该电流在公共走线上的压降会引起噪声，因此要尽量缩短地线，减小干扰。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（五）严禁带电操作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要在电路切断电源的时候，插拔和焊接集成电路块，否则容易引起集成电路块的损坏。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476672"/>
            <a:ext cx="7545014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</a:t>
            </a:r>
            <a:r>
              <a:rPr lang="zh-CN" altLang="en-US" sz="3200" dirty="0" smtClean="0"/>
              <a:t>事项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9" name="Text Box 11"/>
          <p:cNvSpPr txBox="1">
            <a:spLocks noChangeArrowheads="1"/>
          </p:cNvSpPr>
          <p:nvPr/>
        </p:nvSpPr>
        <p:spPr bwMode="auto">
          <a:xfrm>
            <a:off x="467544" y="1628800"/>
            <a:ext cx="8136904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二、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集成电路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（一）防静电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在存放、运输、高温老化过程中，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CMOS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器件应收藏于金属铝箔盒内或用金属铝箔包装，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防止外来感应电势将栅极击穿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</a:rPr>
              <a:t>      （二）电烙铁的使用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</a:rPr>
              <a:t>        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焊接</a:t>
            </a:r>
            <a:r>
              <a:rPr kumimoji="1" lang="en-US" altLang="zh-CN" sz="2400" b="1" dirty="0" smtClean="0">
                <a:solidFill>
                  <a:srgbClr val="000000"/>
                </a:solidFill>
              </a:rPr>
              <a:t>CMOS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电路时，不能使用</a:t>
            </a:r>
            <a:r>
              <a:rPr kumimoji="1" lang="en-US" altLang="zh-CN" sz="2400" b="1" dirty="0" smtClean="0">
                <a:solidFill>
                  <a:srgbClr val="FF3300"/>
                </a:solidFill>
              </a:rPr>
              <a:t>25W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以上的电烙铁，且烙铁外壳必须接地良好。不要使用焊油膏，焊接时间不宜过长。</a:t>
            </a:r>
            <a:endParaRPr kumimoji="1"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416825" cy="494928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5" name="Rectangle 11"/>
          <p:cNvSpPr>
            <a:spLocks noChangeArrowheads="1"/>
          </p:cNvSpPr>
          <p:nvPr/>
        </p:nvSpPr>
        <p:spPr bwMode="auto">
          <a:xfrm>
            <a:off x="467544" y="1556792"/>
            <a:ext cx="7991475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（三）输入输出端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多余的输入端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不允许悬空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，应按逻辑要求接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，否则不仅会造成逻辑混乱，而且容易损坏器件。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输出端不允许直接与</a:t>
            </a:r>
            <a:r>
              <a:rPr kumimoji="1"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连接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，否则将导致器件损坏，且输出端（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OD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三态门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除外）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不允许并联使用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（四）电源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接电源正极，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接电源负极（通常接地）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不允许反接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。在装接电路、插拔电路器件时，必须切断电源，严禁带电操作。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560841" cy="494928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70" name="Group 18"/>
          <p:cNvGrpSpPr/>
          <p:nvPr/>
        </p:nvGrpSpPr>
        <p:grpSpPr bwMode="auto">
          <a:xfrm>
            <a:off x="395288" y="1576090"/>
            <a:ext cx="8351837" cy="4094163"/>
            <a:chOff x="249" y="585"/>
            <a:chExt cx="5261" cy="2579"/>
          </a:xfrm>
        </p:grpSpPr>
        <p:sp>
          <p:nvSpPr>
            <p:cNvPr id="151565" name="Rectangle 13"/>
            <p:cNvSpPr>
              <a:spLocks noChangeArrowheads="1"/>
            </p:cNvSpPr>
            <p:nvPr/>
          </p:nvSpPr>
          <p:spPr bwMode="auto">
            <a:xfrm>
              <a:off x="249" y="585"/>
              <a:ext cx="5261" cy="2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（五）输入信号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器件的输入信号    不允许超出电源电压范围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: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V</a:t>
              </a:r>
              <a:r>
                <a:rPr kumimoji="1" lang="en-US" altLang="zh-CN" sz="2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～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SS</a:t>
              </a:r>
              <a:endPara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或者说输入端的电流不得超过额定电流，若不能保证这一点，必须在输入端串联限流电阻起保护作用。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CMOS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电路的</a:t>
              </a:r>
              <a:r>
                <a:rPr kumimoji="1" lang="zh-CN" altLang="en-US" sz="2400" b="1" dirty="0" smtClean="0">
                  <a:solidFill>
                    <a:srgbClr val="FF3300"/>
                  </a:solidFill>
                  <a:latin typeface="宋体" panose="02010600030101010101" pitchFamily="2" charset="-122"/>
                </a:rPr>
                <a:t>电源电压应先接通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，然后再输入信号，否则会破坏输入端的结构。关断电源电压之前，应</a:t>
              </a:r>
              <a:r>
                <a:rPr kumimoji="1" lang="zh-CN" altLang="en-US" sz="2400" b="1" dirty="0" smtClean="0">
                  <a:solidFill>
                    <a:srgbClr val="FF3300"/>
                  </a:solidFill>
                  <a:latin typeface="宋体" panose="02010600030101010101" pitchFamily="2" charset="-122"/>
                </a:rPr>
                <a:t>先去掉输入信号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endPara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（六）接地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所有测试仪器、外壳必须</a:t>
              </a:r>
              <a:r>
                <a:rPr kumimoji="1" lang="zh-CN" altLang="en-US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良好接地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。寻找故障时，若需将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CMOS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电路的输入端与前级输出端脱开，也应用 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50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～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100 k</a:t>
              </a:r>
              <a:r>
                <a:rPr kumimoji="1" lang="el-GR" altLang="zh-CN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Ω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的电阻将输入端与地或电源相连。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 </a:t>
              </a:r>
            </a:p>
          </p:txBody>
        </p:sp>
        <p:graphicFrame>
          <p:nvGraphicFramePr>
            <p:cNvPr id="151566" name="Object 14"/>
            <p:cNvGraphicFramePr>
              <a:graphicFrameLocks noChangeAspect="1"/>
            </p:cNvGraphicFramePr>
            <p:nvPr/>
          </p:nvGraphicFramePr>
          <p:xfrm>
            <a:off x="2154" y="935"/>
            <a:ext cx="229" cy="344"/>
          </p:xfrm>
          <a:graphic>
            <a:graphicData uri="http://schemas.openxmlformats.org/presentationml/2006/ole">
              <p:oleObj spid="_x0000_s51591" name="公式" r:id="rId3" imgW="152334" imgH="228501" progId="">
                <p:embed/>
              </p:oleObj>
            </a:graphicData>
          </a:graphic>
        </p:graphicFrame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在一个数字电路系统中，若同时采用</a:t>
            </a: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电路，必然会遇到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TTL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和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CMOS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电路连接的问题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门电路在连接时，前者称为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驱动门</a:t>
            </a:r>
            <a:r>
              <a:rPr lang="zh-CN" altLang="en-US" sz="2800" b="1" dirty="0" smtClean="0"/>
              <a:t>，后者称为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负载门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驱动门</a:t>
            </a:r>
            <a:r>
              <a:rPr lang="zh-CN" altLang="en-US" sz="2800" b="1" dirty="0" smtClean="0"/>
              <a:t>必须能为负载门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提供符合要求的高、低电平</a:t>
            </a:r>
            <a:r>
              <a:rPr lang="zh-CN" altLang="en-US" sz="2800" b="1" dirty="0" smtClean="0"/>
              <a:t>和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足够的输入电流</a:t>
            </a:r>
            <a:r>
              <a:rPr lang="zh-CN" altLang="en-US" sz="2800" b="1" dirty="0" smtClean="0"/>
              <a:t>，具体条件是：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r>
              <a:rPr lang="zh-CN" altLang="en-US" sz="2400" b="1" dirty="0" smtClean="0"/>
              <a:t>驱动门           负载门</a:t>
            </a:r>
            <a:endParaRPr lang="en-US" altLang="zh-CN" sz="24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V</a:t>
            </a:r>
            <a:r>
              <a:rPr lang="en-US" altLang="zh-CN" sz="2400" b="1" baseline="-25000" dirty="0" smtClean="0"/>
              <a:t>OH</a:t>
            </a:r>
            <a:r>
              <a:rPr lang="en-US" altLang="zh-CN" sz="2400" b="1" dirty="0" smtClean="0"/>
              <a:t>      &gt;       V</a:t>
            </a:r>
            <a:r>
              <a:rPr lang="en-US" altLang="zh-CN" sz="2400" b="1" baseline="-25000" dirty="0" smtClean="0"/>
              <a:t>IH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baseline="-25000" dirty="0" smtClean="0"/>
              <a:t>                   </a:t>
            </a:r>
            <a:r>
              <a:rPr lang="en-US" altLang="zh-CN" sz="2400" b="1" dirty="0" smtClean="0"/>
              <a:t> V</a:t>
            </a:r>
            <a:r>
              <a:rPr lang="en-US" altLang="zh-CN" sz="2400" b="1" baseline="-25000" dirty="0" smtClean="0"/>
              <a:t>OL</a:t>
            </a:r>
            <a:r>
              <a:rPr lang="en-US" altLang="zh-CN" sz="2400" b="1" dirty="0" smtClean="0"/>
              <a:t>      &lt;       V</a:t>
            </a:r>
            <a:r>
              <a:rPr lang="en-US" altLang="zh-CN" sz="2400" b="1" baseline="-25000" dirty="0" smtClean="0"/>
              <a:t>IL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I</a:t>
            </a:r>
            <a:r>
              <a:rPr lang="en-US" altLang="zh-CN" sz="2400" b="1" baseline="-25000" dirty="0" smtClean="0"/>
              <a:t>OH</a:t>
            </a:r>
            <a:r>
              <a:rPr lang="en-US" altLang="zh-CN" sz="2400" b="1" dirty="0" smtClean="0"/>
              <a:t>       &gt;       I</a:t>
            </a:r>
            <a:r>
              <a:rPr lang="en-US" altLang="zh-CN" sz="2400" b="1" baseline="-25000" dirty="0" smtClean="0"/>
              <a:t>IH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I</a:t>
            </a:r>
            <a:r>
              <a:rPr lang="en-US" altLang="zh-CN" sz="2400" b="1" baseline="-25000" dirty="0" smtClean="0"/>
              <a:t>OL</a:t>
            </a:r>
            <a:r>
              <a:rPr lang="en-US" altLang="zh-CN" sz="2400" b="1" dirty="0" smtClean="0"/>
              <a:t>       &gt;        I</a:t>
            </a:r>
            <a:r>
              <a:rPr lang="en-US" altLang="zh-CN" sz="2400" b="1" baseline="-25000" dirty="0" smtClean="0"/>
              <a:t>IL</a:t>
            </a:r>
            <a:r>
              <a:rPr lang="en-US" altLang="zh-CN" sz="2800" b="1" dirty="0" smtClean="0"/>
              <a:t> 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</a:pPr>
            <a:r>
              <a:rPr lang="en-US" altLang="zh-CN" sz="2800" b="1" dirty="0" smtClean="0"/>
              <a:t>1. CMOS</a:t>
            </a:r>
            <a:r>
              <a:rPr lang="zh-CN" altLang="en-US" sz="2800" b="1" dirty="0" smtClean="0"/>
              <a:t>电路驱动</a:t>
            </a: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电路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由表</a:t>
            </a:r>
            <a:r>
              <a:rPr lang="en-US" altLang="zh-CN" sz="2800" b="1" dirty="0" smtClean="0"/>
              <a:t>2.17</a:t>
            </a:r>
            <a:r>
              <a:rPr lang="zh-CN" altLang="en-US" sz="2800" b="1" dirty="0" smtClean="0"/>
              <a:t>可知，</a:t>
            </a:r>
            <a:r>
              <a:rPr lang="en-US" altLang="zh-CN" sz="2800" b="1" dirty="0" smtClean="0"/>
              <a:t>CMOS CC4000</a:t>
            </a:r>
            <a:r>
              <a:rPr lang="zh-CN" altLang="en-US" sz="2800" b="1" dirty="0" smtClean="0"/>
              <a:t>系列可以直接驱动</a:t>
            </a:r>
            <a:r>
              <a:rPr lang="en-US" altLang="zh-CN" sz="2800" b="1" dirty="0" smtClean="0"/>
              <a:t>TTL CT4000</a:t>
            </a:r>
            <a:r>
              <a:rPr lang="zh-CN" altLang="en-US" sz="2800" b="1" dirty="0" smtClean="0"/>
              <a:t>系列电路。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996952"/>
            <a:ext cx="7524972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</a:pPr>
            <a:r>
              <a:rPr lang="en-US" altLang="zh-CN" sz="2800" b="1" dirty="0" smtClean="0"/>
              <a:t>2. TTL</a:t>
            </a:r>
            <a:r>
              <a:rPr lang="zh-CN" altLang="en-US" sz="2800" b="1" dirty="0" smtClean="0"/>
              <a:t>电路驱动</a:t>
            </a: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电路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由表</a:t>
            </a:r>
            <a:r>
              <a:rPr lang="en-US" altLang="zh-CN" sz="2800" b="1" dirty="0" smtClean="0"/>
              <a:t>2.17</a:t>
            </a:r>
            <a:r>
              <a:rPr lang="zh-CN" altLang="en-US" sz="2800" b="1" dirty="0" smtClean="0"/>
              <a:t>可知，</a:t>
            </a:r>
            <a:r>
              <a:rPr lang="en-US" altLang="zh-CN" sz="2800" b="1" dirty="0" smtClean="0"/>
              <a:t> TTL CT4000 </a:t>
            </a:r>
            <a:r>
              <a:rPr lang="zh-CN" altLang="en-US" sz="2800" b="1" dirty="0" smtClean="0"/>
              <a:t>系列不能直接驱动</a:t>
            </a:r>
            <a:r>
              <a:rPr lang="en-US" altLang="zh-CN" sz="2800" b="1" dirty="0" smtClean="0"/>
              <a:t>CMOS CC4000</a:t>
            </a:r>
            <a:r>
              <a:rPr lang="zh-CN" altLang="en-US" sz="2800" b="1" dirty="0" smtClean="0"/>
              <a:t>系列电路。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可采用图</a:t>
            </a:r>
            <a:r>
              <a:rPr lang="en-US" altLang="zh-CN" sz="2800" b="1" dirty="0" smtClean="0"/>
              <a:t>2.38</a:t>
            </a:r>
            <a:r>
              <a:rPr lang="zh-CN" altLang="en-US" sz="2800" b="1" dirty="0" smtClean="0"/>
              <a:t>所示电路。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465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3" y="3429001"/>
            <a:ext cx="4608512" cy="22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59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3356992"/>
            <a:ext cx="2991505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74LS04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74LS05(OC)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260648"/>
            <a:ext cx="3312368" cy="3144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98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97094" y="3573016"/>
            <a:ext cx="3815229" cy="2518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98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3501008"/>
            <a:ext cx="37623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与非门、或非门芯片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与非门：</a:t>
            </a:r>
            <a:r>
              <a:rPr lang="en-US" altLang="zh-CN" sz="2400" b="1" dirty="0" smtClean="0"/>
              <a:t>74LS00(OC)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或非门：</a:t>
            </a:r>
            <a:r>
              <a:rPr lang="en-US" altLang="zh-CN" sz="2400" b="1" dirty="0" smtClean="0"/>
              <a:t>74LS02           </a:t>
            </a:r>
            <a:endParaRPr lang="zh-CN" altLang="en-US" sz="2800" b="1" dirty="0"/>
          </a:p>
        </p:txBody>
      </p:sp>
      <p:pic>
        <p:nvPicPr>
          <p:cNvPr id="468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80928"/>
            <a:ext cx="2592288" cy="2087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0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4437112"/>
            <a:ext cx="3168352" cy="227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E:\wrj\课件\数字电路与系统\数字电路与数字系统\tupian\4-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72816"/>
            <a:ext cx="3841277" cy="245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E:\wrj\课件\数字电路与系统\数字电路与数字系统\tupian\4-4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4437" t="7376" r="17349" b="162"/>
          <a:stretch/>
        </p:blipFill>
        <p:spPr bwMode="auto">
          <a:xfrm>
            <a:off x="971600" y="5061420"/>
            <a:ext cx="2376264" cy="179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与门、或门芯片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与门：</a:t>
            </a:r>
            <a:r>
              <a:rPr lang="en-US" altLang="zh-CN" sz="2400" b="1" dirty="0" smtClean="0"/>
              <a:t>74LS08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或门：</a:t>
            </a:r>
            <a:r>
              <a:rPr lang="en-US" altLang="zh-CN" sz="2400" b="1" dirty="0" smtClean="0"/>
              <a:t>74LS32           </a:t>
            </a:r>
            <a:endParaRPr lang="zh-CN" altLang="en-US" sz="2800" b="1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916832"/>
            <a:ext cx="2880320" cy="2233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88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780928"/>
            <a:ext cx="3096344" cy="241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88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4437112"/>
            <a:ext cx="260687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 descr="E:\wrj\课件\数字电路与系统\数字电路与数字系统\tupian\4-8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2995" b="7671"/>
          <a:stretch/>
        </p:blipFill>
        <p:spPr bwMode="auto">
          <a:xfrm>
            <a:off x="611560" y="5301208"/>
            <a:ext cx="2769538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0825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8224" y="4437112"/>
            <a:ext cx="2338077" cy="217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四输入与非门、异或门芯片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四输入与非门：</a:t>
            </a:r>
            <a:r>
              <a:rPr lang="en-US" altLang="zh-CN" sz="2400" b="1" dirty="0" smtClean="0"/>
              <a:t>74LS20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异或门：</a:t>
            </a:r>
            <a:r>
              <a:rPr lang="en-US" altLang="zh-CN" sz="2400" b="1" dirty="0" smtClean="0"/>
              <a:t>74LS86           </a:t>
            </a:r>
            <a:endParaRPr lang="zh-CN" altLang="en-US" sz="2800" b="1" dirty="0"/>
          </a:p>
        </p:txBody>
      </p:sp>
      <p:pic>
        <p:nvPicPr>
          <p:cNvPr id="471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996952"/>
            <a:ext cx="3488424" cy="2630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87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996952"/>
            <a:ext cx="33909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CD4069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CD4009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CD40106           </a:t>
            </a:r>
            <a:endParaRPr lang="zh-CN" altLang="en-US" sz="2800" b="1" dirty="0"/>
          </a:p>
        </p:txBody>
      </p:sp>
      <p:pic>
        <p:nvPicPr>
          <p:cNvPr id="551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340768"/>
            <a:ext cx="3024336" cy="2351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19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933056"/>
            <a:ext cx="33718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26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3933056"/>
            <a:ext cx="338137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或非门、与非门芯片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或非门：</a:t>
            </a:r>
            <a:r>
              <a:rPr lang="en-US" altLang="zh-CN" sz="2400" b="1" dirty="0" smtClean="0"/>
              <a:t>CD4001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与非门：</a:t>
            </a:r>
            <a:r>
              <a:rPr lang="en-US" altLang="zh-CN" sz="2400" b="1" dirty="0" smtClean="0"/>
              <a:t>CD4011          </a:t>
            </a:r>
            <a:endParaRPr lang="zh-CN" altLang="en-US" sz="2800" b="1" dirty="0"/>
          </a:p>
        </p:txBody>
      </p:sp>
      <p:pic>
        <p:nvPicPr>
          <p:cNvPr id="552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212976"/>
            <a:ext cx="378142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29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3501008"/>
            <a:ext cx="31146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异或门芯片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CD4070           </a:t>
            </a:r>
            <a:endParaRPr lang="zh-CN" altLang="en-US" sz="2800" b="1" dirty="0"/>
          </a:p>
        </p:txBody>
      </p:sp>
      <p:pic>
        <p:nvPicPr>
          <p:cNvPr id="553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564904"/>
            <a:ext cx="4536504" cy="2963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764704"/>
            <a:ext cx="7112965" cy="494928"/>
          </a:xfrm>
        </p:spPr>
        <p:txBody>
          <a:bodyPr/>
          <a:lstStyle/>
          <a:p>
            <a:pPr algn="ctr"/>
            <a:r>
              <a:rPr lang="zh-CN" altLang="en-US" dirty="0" smtClean="0"/>
              <a:t>本章小结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33346" cy="50181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在数字电路中，通常用高、低电平分别表示二值逻辑的真和假。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基本逻辑门电路包括与门、或门及非门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最常用的复合逻辑门电路有与非门、或非门、与或非门及异或门。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集成门电路比分立元件构成的门电路有更好的电气性能。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集成门电路是常用的双极型半导体集成电路。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MOS</a:t>
            </a:r>
            <a:r>
              <a:rPr lang="zh-CN" altLang="en-US" sz="2800" dirty="0" smtClean="0"/>
              <a:t>集成门电路是单极型半导体集成电路。主要包括</a:t>
            </a:r>
            <a:r>
              <a:rPr lang="en-US" altLang="zh-CN" sz="2800" dirty="0" smtClean="0"/>
              <a:t>NMOS</a:t>
            </a:r>
            <a:r>
              <a:rPr lang="zh-CN" altLang="en-US" sz="2800" dirty="0" smtClean="0"/>
              <a:t>管、</a:t>
            </a:r>
            <a:r>
              <a:rPr lang="en-US" altLang="zh-CN" sz="2800" dirty="0" smtClean="0"/>
              <a:t>PMOS</a:t>
            </a:r>
            <a:r>
              <a:rPr lang="zh-CN" altLang="en-US" sz="2800" dirty="0" smtClean="0"/>
              <a:t>管和</a:t>
            </a:r>
            <a:r>
              <a:rPr lang="en-US" altLang="zh-CN" sz="2800" dirty="0" smtClean="0"/>
              <a:t>CMOS</a:t>
            </a:r>
            <a:r>
              <a:rPr lang="zh-CN" altLang="en-US" sz="2800" dirty="0" smtClean="0"/>
              <a:t>管。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145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59632" y="116632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7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764704"/>
            <a:ext cx="7617022" cy="494928"/>
          </a:xfrm>
        </p:spPr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章</a:t>
            </a:r>
            <a:r>
              <a:rPr lang="en-US" altLang="zh-CN" dirty="0" smtClean="0"/>
              <a:t>》</a:t>
            </a:r>
            <a:r>
              <a:rPr lang="zh-CN" altLang="en-US" dirty="0" smtClean="0"/>
              <a:t>课外作业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33346" cy="50181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一 思考题</a:t>
            </a:r>
            <a:r>
              <a:rPr lang="en-US" altLang="zh-CN" sz="2800" dirty="0" smtClean="0"/>
              <a:t>:  2.7;  2.14;  2.23;  2.24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二 必做题</a:t>
            </a:r>
            <a:r>
              <a:rPr lang="en-US" altLang="zh-CN" sz="2800" dirty="0" smtClean="0"/>
              <a:t>:  2.1;  2.2;  2.3;  2.4;  2.5;  2.6;  2.9;  2.10;  2.11;  2.12;  2.13;  2.16 ;  2.17;  2.19;  2.20;  2.21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三 选做题</a:t>
            </a:r>
            <a:r>
              <a:rPr lang="en-US" altLang="zh-CN" sz="2800" dirty="0" smtClean="0"/>
              <a:t>:  2.8;  2.15;  2.18 ;  2.22;  2.25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提示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 smtClean="0"/>
              <a:t>TTL</a:t>
            </a:r>
            <a:r>
              <a:rPr lang="zh-CN" altLang="en-US" sz="2000" dirty="0" smtClean="0"/>
              <a:t>电路</a:t>
            </a:r>
            <a:r>
              <a:rPr lang="zh-CN" altLang="en-US" sz="2000" dirty="0"/>
              <a:t>中输入端</a:t>
            </a:r>
            <a:r>
              <a:rPr lang="zh-CN" altLang="en-US" sz="2000" dirty="0" smtClean="0"/>
              <a:t>悬空（输入</a:t>
            </a:r>
            <a:r>
              <a:rPr lang="zh-CN" altLang="en-US" sz="2000" dirty="0"/>
              <a:t>端没有和其他任何电路</a:t>
            </a:r>
            <a:r>
              <a:rPr lang="zh-CN" altLang="en-US" sz="2000" dirty="0" smtClean="0"/>
              <a:t>连接），</a:t>
            </a:r>
            <a:r>
              <a:rPr lang="en-US" altLang="zh-CN" sz="2000" dirty="0" smtClean="0"/>
              <a:t>TTL</a:t>
            </a:r>
            <a:r>
              <a:rPr lang="zh-CN" altLang="en-US" sz="2000" dirty="0" smtClean="0"/>
              <a:t>电路</a:t>
            </a:r>
            <a:r>
              <a:rPr lang="zh-CN" altLang="en-US" sz="2000" dirty="0"/>
              <a:t>输入端悬空相当于输入端为输入高电平，但不抗干扰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/>
              <a:t>TTL</a:t>
            </a:r>
            <a:r>
              <a:rPr lang="zh-CN" altLang="en-US" sz="2000" dirty="0"/>
              <a:t>输入端如果不用，也不要悬空，不接电阻为高电平，但因为是高阻，很容易被干扰成低电平，一般是通过电阻到地，使之成为低电平或加上拉电阻到电源成为可靠的高电平</a:t>
            </a:r>
            <a:endParaRPr lang="en-US" altLang="zh-CN" sz="20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 smtClean="0"/>
              <a:t>TTL</a:t>
            </a:r>
            <a:r>
              <a:rPr lang="zh-CN" altLang="en-US" sz="2000" dirty="0"/>
              <a:t>电路有电流通过，所以当所接的电阻大于</a:t>
            </a:r>
            <a:r>
              <a:rPr lang="en-US" altLang="zh-CN" sz="2000" dirty="0"/>
              <a:t>2KΩ</a:t>
            </a:r>
            <a:r>
              <a:rPr lang="zh-CN" altLang="en-US" sz="2000" dirty="0"/>
              <a:t>时，输入为高</a:t>
            </a:r>
            <a:r>
              <a:rPr lang="zh-CN" altLang="en-US" sz="2000" dirty="0" smtClean="0"/>
              <a:t>电平；所</a:t>
            </a:r>
            <a:r>
              <a:rPr lang="zh-CN" altLang="en-US" sz="2000" dirty="0"/>
              <a:t>接电阻小于</a:t>
            </a:r>
            <a:r>
              <a:rPr lang="en-US" altLang="zh-CN" sz="2000" dirty="0"/>
              <a:t>0.7KΩ</a:t>
            </a:r>
            <a:r>
              <a:rPr lang="zh-CN" altLang="en-US" sz="2000" dirty="0"/>
              <a:t>时，输入为低</a:t>
            </a:r>
            <a:r>
              <a:rPr lang="zh-CN" altLang="en-US" sz="2000" dirty="0" smtClean="0"/>
              <a:t>电平。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146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403648" y="116632"/>
            <a:ext cx="701682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57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6600CC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wrap="none">
        <a:spAutoFit/>
      </a:bodyPr>
      <a:lstStyle>
        <a:defPPr>
          <a:defRPr sz="2000" b="1" dirty="0"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6600CC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8">
      <a:dk1>
        <a:srgbClr val="000000"/>
      </a:dk1>
      <a:lt1>
        <a:srgbClr val="FFFFFF"/>
      </a:lt1>
      <a:dk2>
        <a:srgbClr val="6600CC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wrap="none">
        <a:spAutoFit/>
      </a:bodyPr>
      <a:lstStyle>
        <a:defPPr>
          <a:defRPr sz="2000" b="1" dirty="0"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6600CC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绪论</Template>
  <TotalTime>44653</TotalTime>
  <Words>8844</Words>
  <Application>Microsoft Office PowerPoint</Application>
  <PresentationFormat>全屏显示(4:3)</PresentationFormat>
  <Paragraphs>1415</Paragraphs>
  <Slides>146</Slides>
  <Notes>6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146</vt:i4>
      </vt:variant>
    </vt:vector>
  </HeadingPairs>
  <TitlesOfParts>
    <vt:vector size="153" baseType="lpstr">
      <vt:lpstr>Blends</vt:lpstr>
      <vt:lpstr>1_Blends</vt:lpstr>
      <vt:lpstr>Visio</vt:lpstr>
      <vt:lpstr>BMP 图象</vt:lpstr>
      <vt:lpstr>位图图像</vt:lpstr>
      <vt:lpstr>Image</vt:lpstr>
      <vt:lpstr>公式</vt:lpstr>
      <vt:lpstr>幻灯片 1</vt:lpstr>
      <vt:lpstr>教学内容</vt:lpstr>
      <vt:lpstr>2.1 概述</vt:lpstr>
      <vt:lpstr>2.1 概述</vt:lpstr>
      <vt:lpstr>2.1 概述</vt:lpstr>
      <vt:lpstr>2.1 概述</vt:lpstr>
      <vt:lpstr>2.1 概述</vt:lpstr>
      <vt:lpstr>2.1 概述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半导体器件的开关特性--二极管</vt:lpstr>
      <vt:lpstr>半导体器件的开关特性---二极管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幻灯片 32</vt:lpstr>
      <vt:lpstr>半导体器件的开关特性---三极管</vt:lpstr>
      <vt:lpstr>幻灯片 34</vt:lpstr>
      <vt:lpstr>幻灯片 35</vt:lpstr>
      <vt:lpstr>半导体器件的开关特性---三极管</vt:lpstr>
      <vt:lpstr>幻灯片 37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2.2.1 基本逻辑门电路：分立元件门电路</vt:lpstr>
      <vt:lpstr>2.2.1 基本逻辑门电路：分立元件门电路</vt:lpstr>
      <vt:lpstr>2.2.1 基本逻辑门电路：分立元件门电路</vt:lpstr>
      <vt:lpstr>2.2.1 基本逻辑门电路：分立元件门电路</vt:lpstr>
      <vt:lpstr>2.2.2 复合逻辑门电路</vt:lpstr>
      <vt:lpstr>幻灯片 61</vt:lpstr>
      <vt:lpstr>幻灯片 62</vt:lpstr>
      <vt:lpstr>幻灯片 63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2.3.2 TTL与非门</vt:lpstr>
      <vt:lpstr>2.3.2 TTL与非门</vt:lpstr>
      <vt:lpstr>2.3.2 TTL与非门</vt:lpstr>
      <vt:lpstr>2.3.2 TTL与非门</vt:lpstr>
      <vt:lpstr>2.3.2 TTL与非门</vt:lpstr>
      <vt:lpstr>2.3.2 TTL与非门</vt:lpstr>
      <vt:lpstr>2.3.2 TTL与非门</vt:lpstr>
      <vt:lpstr>2.3.3 TTL与非门的电气特性</vt:lpstr>
      <vt:lpstr>2.3.3 TTL与非门的电气特性</vt:lpstr>
      <vt:lpstr>2.3.3 TTL与非门的电气特性</vt:lpstr>
      <vt:lpstr>2.3.2 TTL与非门</vt:lpstr>
      <vt:lpstr>2.3.3 TTL与非门的电气特性</vt:lpstr>
      <vt:lpstr>2.3.3 TTL与非门的电气特性</vt:lpstr>
      <vt:lpstr>2.3.3 TTL与非门的电气特性</vt:lpstr>
      <vt:lpstr>2.3.3 TTL与非门的电气特性</vt:lpstr>
      <vt:lpstr>2.3.3 TTL与非门的电气特性</vt:lpstr>
      <vt:lpstr>2.3.3 TTL与非门的电气特性</vt:lpstr>
      <vt:lpstr>2.3.2 TTL与非门</vt:lpstr>
      <vt:lpstr>2.3.4 其它类型TTL门电路</vt:lpstr>
      <vt:lpstr>2.3.4 其它类型TTL门电路</vt:lpstr>
      <vt:lpstr>2.3.4 其它类型TTL门电路 ：异或门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2.3.5 TTL电路的改进系列</vt:lpstr>
      <vt:lpstr>2.4.1 NMOS电路</vt:lpstr>
      <vt:lpstr>2.4.1 NMOS电路</vt:lpstr>
      <vt:lpstr>2.4.1 NMOS电路</vt:lpstr>
      <vt:lpstr>2.4.1 NMOS电路</vt:lpstr>
      <vt:lpstr>2.4.2 CMOS电路</vt:lpstr>
      <vt:lpstr>2.4.2 CMOS电路</vt:lpstr>
      <vt:lpstr>2.4.2 CMOS电路</vt:lpstr>
      <vt:lpstr>双极型集成门电路---CMOS型门电路</vt:lpstr>
      <vt:lpstr>2.4.2 CMOS电路</vt:lpstr>
      <vt:lpstr>双极型集成门电路---CMOS型门电路</vt:lpstr>
      <vt:lpstr>2.4.2 CMOS电路</vt:lpstr>
      <vt:lpstr>2.4.2 CMOS电路</vt:lpstr>
      <vt:lpstr>2.4.2 CMOS电路</vt:lpstr>
      <vt:lpstr>2.4.2 CMOS电路</vt:lpstr>
      <vt:lpstr>2.4.2 CMOS电路</vt:lpstr>
      <vt:lpstr>2.4.3 CMOS电路特点</vt:lpstr>
      <vt:lpstr>2.4.3 CMOS电路特点</vt:lpstr>
      <vt:lpstr>2.4.4 使用数字集成电路的注意事项</vt:lpstr>
      <vt:lpstr>2.4.4 使用数字集成电路的注意事项</vt:lpstr>
      <vt:lpstr>2.4.4 使用数字集成电路的注意事项</vt:lpstr>
      <vt:lpstr>2.4.4 使用数字集成电路的注意事项</vt:lpstr>
      <vt:lpstr>2.4.4 使用数字集成电路的注意事项</vt:lpstr>
      <vt:lpstr>幻灯片 135</vt:lpstr>
      <vt:lpstr>幻灯片 136</vt:lpstr>
      <vt:lpstr>幻灯片 137</vt:lpstr>
      <vt:lpstr>幻灯片 138</vt:lpstr>
      <vt:lpstr>幻灯片 139</vt:lpstr>
      <vt:lpstr>幻灯片 140</vt:lpstr>
      <vt:lpstr>幻灯片 141</vt:lpstr>
      <vt:lpstr>幻灯片 142</vt:lpstr>
      <vt:lpstr>幻灯片 143</vt:lpstr>
      <vt:lpstr>幻灯片 144</vt:lpstr>
      <vt:lpstr>本章小结</vt:lpstr>
      <vt:lpstr>《第2章》课外作业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wrj</dc:creator>
  <cp:lastModifiedBy>Sky123.Org</cp:lastModifiedBy>
  <cp:revision>506</cp:revision>
  <dcterms:created xsi:type="dcterms:W3CDTF">2017-09-19T13:51:00Z</dcterms:created>
  <dcterms:modified xsi:type="dcterms:W3CDTF">2021-11-21T12:56:05Z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