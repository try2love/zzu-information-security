
<file path=[Content_Types].xml><?xml version="1.0" encoding="utf-8"?>
<Types xmlns="http://schemas.openxmlformats.org/package/2006/content-types">
  <Override PartName="/ppt/slides/slide29.xml" ContentType="application/vnd.openxmlformats-officedocument.presentationml.slide+xml"/>
  <Override PartName="/ppt/slides/slide47.xml" ContentType="application/vnd.openxmlformats-officedocument.presentationml.slide+xml"/>
  <Override PartName="/ppt/slides/slide58.xml" ContentType="application/vnd.openxmlformats-officedocument.presentationml.slide+xml"/>
  <Override PartName="/ppt/slides/slide76.xml" ContentType="application/vnd.openxmlformats-officedocument.presentationml.slide+xml"/>
  <Override PartName="/ppt/slides/slide94.xml" ContentType="application/vnd.openxmlformats-officedocument.presentationml.slide+xml"/>
  <Override PartName="/ppt/slides/slide4.xml" ContentType="application/vnd.openxmlformats-officedocument.presentationml.slide+xml"/>
  <Override PartName="/ppt/slides/slide18.xml" ContentType="application/vnd.openxmlformats-officedocument.presentationml.slide+xml"/>
  <Override PartName="/ppt/slides/slide36.xml" ContentType="application/vnd.openxmlformats-officedocument.presentationml.slide+xml"/>
  <Override PartName="/ppt/slides/slide54.xml" ContentType="application/vnd.openxmlformats-officedocument.presentationml.slide+xml"/>
  <Override PartName="/ppt/slides/slide65.xml" ContentType="application/vnd.openxmlformats-officedocument.presentationml.slide+xml"/>
  <Override PartName="/ppt/slides/slide83.xml" ContentType="application/vnd.openxmlformats-officedocument.presentationml.slide+xml"/>
  <Override PartName="/ppt/slideLayouts/slideLayout6.xml" ContentType="application/vnd.openxmlformats-officedocument.presentationml.slideLayout+xml"/>
  <Override PartName="/ppt/slides/slide25.xml" ContentType="application/vnd.openxmlformats-officedocument.presentationml.slide+xml"/>
  <Override PartName="/ppt/slides/slide43.xml" ContentType="application/vnd.openxmlformats-officedocument.presentationml.slide+xml"/>
  <Override PartName="/ppt/slides/slide72.xml" ContentType="application/vnd.openxmlformats-officedocument.presentationml.slide+xml"/>
  <Override PartName="/ppt/slides/slide90.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xml" ContentType="application/xml"/>
  <Override PartName="/ppt/slides/slide14.xml" ContentType="application/vnd.openxmlformats-officedocument.presentationml.slide+xml"/>
  <Override PartName="/ppt/slides/slide32.xml" ContentType="application/vnd.openxmlformats-officedocument.presentationml.slide+xml"/>
  <Override PartName="/ppt/slides/slide5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docProps/custom.xml" ContentType="application/vnd.openxmlformats-officedocument.custom-properties+xml"/>
  <Override PartName="/ppt/slides/slide79.xml" ContentType="application/vnd.openxmlformats-officedocument.presentationml.slide+xml"/>
  <Override PartName="/ppt/slides/slide7.xml" ContentType="application/vnd.openxmlformats-officedocument.presentationml.slide+xml"/>
  <Override PartName="/ppt/slides/slide9.xml" ContentType="application/vnd.openxmlformats-officedocument.presentationml.slide+xml"/>
  <Override PartName="/ppt/slides/slide59.xml" ContentType="application/vnd.openxmlformats-officedocument.presentationml.slide+xml"/>
  <Override PartName="/ppt/slides/slide68.xml" ContentType="application/vnd.openxmlformats-officedocument.presentationml.slide+xml"/>
  <Override PartName="/ppt/slides/slide77.xml" ContentType="application/vnd.openxmlformats-officedocument.presentationml.slide+xml"/>
  <Override PartName="/ppt/slides/slide88.xml" ContentType="application/vnd.openxmlformats-officedocument.presentationml.slide+xml"/>
  <Override PartName="/ppt/slides/slide97.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s/slide66.xml" ContentType="application/vnd.openxmlformats-officedocument.presentationml.slide+xml"/>
  <Override PartName="/ppt/slides/slide75.xml" ContentType="application/vnd.openxmlformats-officedocument.presentationml.slide+xml"/>
  <Override PartName="/ppt/slides/slide86.xml" ContentType="application/vnd.openxmlformats-officedocument.presentationml.slide+xml"/>
  <Override PartName="/ppt/slides/slide95.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slides/slide64.xml" ContentType="application/vnd.openxmlformats-officedocument.presentationml.slide+xml"/>
  <Override PartName="/ppt/slides/slide73.xml" ContentType="application/vnd.openxmlformats-officedocument.presentationml.slide+xml"/>
  <Override PartName="/ppt/slides/slide84.xml" ContentType="application/vnd.openxmlformats-officedocument.presentationml.slide+xml"/>
  <Override PartName="/ppt/slides/slide93.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s/slide62.xml" ContentType="application/vnd.openxmlformats-officedocument.presentationml.slide+xml"/>
  <Override PartName="/ppt/slides/slide71.xml" ContentType="application/vnd.openxmlformats-officedocument.presentationml.slide+xml"/>
  <Override PartName="/ppt/slides/slide80.xml" ContentType="application/vnd.openxmlformats-officedocument.presentationml.slide+xml"/>
  <Override PartName="/ppt/slides/slide82.xml" ContentType="application/vnd.openxmlformats-officedocument.presentationml.slide+xml"/>
  <Override PartName="/ppt/slides/slide91.xml" ContentType="application/vnd.openxmlformats-officedocument.presentationml.slide+xml"/>
  <Override PartName="/ppt/slideLayouts/slideLayout3.xml" ContentType="application/vnd.openxmlformats-officedocument.presentationml.slideLayout+xml"/>
  <Default Extension="jpeg" ContentType="image/jpeg"/>
  <Default Extension="emf" ContentType="image/x-emf"/>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s/slide60.xml" ContentType="application/vnd.openxmlformats-officedocument.presentationml.slide+xml"/>
  <Override PartName="/ppt/slideLayouts/slideLayout1.xml" ContentType="application/vnd.openxmlformats-officedocument.presentationml.slideLayout+xml"/>
  <Override PartName="/ppt/tags/tag1.xml" ContentType="application/vnd.openxmlformats-officedocument.presentationml.tags+xml"/>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vml" ContentType="application/vnd.openxmlformats-officedocument.vmlDrawing"/>
  <Default Extension="gif" ContentType="image/gif"/>
  <Override PartName="/ppt/slides/slide89.xml" ContentType="application/vnd.openxmlformats-officedocument.presentationml.slide+xml"/>
  <Override PartName="/ppt/slides/slide98.xml" ContentType="application/vnd.openxmlformats-officedocument.presentationml.slide+xml"/>
  <Override PartName="/ppt/slides/slide8.xml" ContentType="application/vnd.openxmlformats-officedocument.presentationml.slide+xml"/>
  <Override PartName="/ppt/slides/slide49.xml" ContentType="application/vnd.openxmlformats-officedocument.presentationml.slide+xml"/>
  <Override PartName="/ppt/slides/slide69.xml" ContentType="application/vnd.openxmlformats-officedocument.presentationml.slide+xml"/>
  <Override PartName="/ppt/slides/slide78.xml" ContentType="application/vnd.openxmlformats-officedocument.presentationml.slide+xml"/>
  <Override PartName="/ppt/slides/slide87.xml" ContentType="application/vnd.openxmlformats-officedocument.presentationml.slide+xml"/>
  <Override PartName="/ppt/slides/slide96.xml" ContentType="application/vnd.openxmlformats-officedocument.presentationml.slide+xml"/>
  <Override PartName="/docProps/core.xml" ContentType="application/vnd.openxmlformats-package.core-properties+xml"/>
  <Override PartName="/ppt/slides/slide6.xml" ContentType="application/vnd.openxmlformats-officedocument.presentationml.slide+xml"/>
  <Override PartName="/ppt/slides/slide38.xml" ContentType="application/vnd.openxmlformats-officedocument.presentationml.slide+xml"/>
  <Override PartName="/ppt/slides/slide56.xml" ContentType="application/vnd.openxmlformats-officedocument.presentationml.slide+xml"/>
  <Override PartName="/ppt/slides/slide67.xml" ContentType="application/vnd.openxmlformats-officedocument.presentationml.slide+xml"/>
  <Override PartName="/ppt/slides/slide85.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27.xml" ContentType="application/vnd.openxmlformats-officedocument.presentationml.slide+xml"/>
  <Override PartName="/ppt/slides/slide45.xml" ContentType="application/vnd.openxmlformats-officedocument.presentationml.slide+xml"/>
  <Override PartName="/ppt/slides/slide74.xml" ContentType="application/vnd.openxmlformats-officedocument.presentationml.slide+xml"/>
  <Override PartName="/ppt/slides/slide92.xml" ContentType="application/vnd.openxmlformats-officedocument.presentationml.slide+xml"/>
  <Override PartName="/ppt/slideLayouts/slideLayout4.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34.xml" ContentType="application/vnd.openxmlformats-officedocument.presentationml.slide+xml"/>
  <Override PartName="/ppt/slides/slide52.xml" ContentType="application/vnd.openxmlformats-officedocument.presentationml.slide+xml"/>
  <Override PartName="/ppt/slides/slide63.xml" ContentType="application/vnd.openxmlformats-officedocument.presentationml.slide+xml"/>
  <Override PartName="/ppt/slides/slide81.xml" ContentType="application/vnd.openxmlformats-officedocument.presentationml.slide+xml"/>
  <Default Extension="wmf" ContentType="image/x-wmf"/>
  <Default Extension="rels" ContentType="application/vnd.openxmlformats-package.relationships+xml"/>
  <Override PartName="/ppt/slides/slide23.xml" ContentType="application/vnd.openxmlformats-officedocument.presentationml.slide+xml"/>
  <Override PartName="/ppt/slides/slide41.xml" ContentType="application/vnd.openxmlformats-officedocument.presentationml.slide+xml"/>
  <Override PartName="/ppt/slides/slide70.xml" ContentType="application/vnd.openxmlformats-officedocument.presentationml.slide+xml"/>
  <Override PartName="/ppt/slides/slide12.xml" ContentType="application/vnd.openxmlformats-officedocument.presentationml.slide+xml"/>
  <Override PartName="/ppt/slides/slide30.xml" ContentType="application/vnd.openxmlformats-officedocument.presentationml.slide+xml"/>
  <Override PartName="/ppt/slideLayouts/slideLayout11.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00"/>
  </p:notesMasterIdLst>
  <p:sldIdLst>
    <p:sldId id="379" r:id="rId2"/>
    <p:sldId id="257" r:id="rId3"/>
    <p:sldId id="260" r:id="rId4"/>
    <p:sldId id="261" r:id="rId5"/>
    <p:sldId id="263" r:id="rId6"/>
    <p:sldId id="264" r:id="rId7"/>
    <p:sldId id="410" r:id="rId8"/>
    <p:sldId id="411" r:id="rId9"/>
    <p:sldId id="265" r:id="rId10"/>
    <p:sldId id="266" r:id="rId11"/>
    <p:sldId id="274" r:id="rId12"/>
    <p:sldId id="273" r:id="rId13"/>
    <p:sldId id="276" r:id="rId14"/>
    <p:sldId id="278" r:id="rId15"/>
    <p:sldId id="270" r:id="rId16"/>
    <p:sldId id="384" r:id="rId17"/>
    <p:sldId id="387" r:id="rId18"/>
    <p:sldId id="388" r:id="rId19"/>
    <p:sldId id="389" r:id="rId20"/>
    <p:sldId id="385" r:id="rId21"/>
    <p:sldId id="390" r:id="rId22"/>
    <p:sldId id="391" r:id="rId23"/>
    <p:sldId id="386" r:id="rId24"/>
    <p:sldId id="392" r:id="rId25"/>
    <p:sldId id="393" r:id="rId26"/>
    <p:sldId id="306" r:id="rId27"/>
    <p:sldId id="377" r:id="rId28"/>
    <p:sldId id="378" r:id="rId29"/>
    <p:sldId id="376" r:id="rId30"/>
    <p:sldId id="271" r:id="rId31"/>
    <p:sldId id="281" r:id="rId32"/>
    <p:sldId id="282" r:id="rId33"/>
    <p:sldId id="283" r:id="rId34"/>
    <p:sldId id="284" r:id="rId35"/>
    <p:sldId id="287" r:id="rId36"/>
    <p:sldId id="291" r:id="rId37"/>
    <p:sldId id="293" r:id="rId38"/>
    <p:sldId id="294" r:id="rId39"/>
    <p:sldId id="295" r:id="rId40"/>
    <p:sldId id="296" r:id="rId41"/>
    <p:sldId id="297" r:id="rId42"/>
    <p:sldId id="298" r:id="rId43"/>
    <p:sldId id="301" r:id="rId44"/>
    <p:sldId id="302" r:id="rId45"/>
    <p:sldId id="311" r:id="rId46"/>
    <p:sldId id="312" r:id="rId47"/>
    <p:sldId id="313" r:id="rId48"/>
    <p:sldId id="408" r:id="rId49"/>
    <p:sldId id="316" r:id="rId50"/>
    <p:sldId id="314" r:id="rId51"/>
    <p:sldId id="315" r:id="rId52"/>
    <p:sldId id="317" r:id="rId53"/>
    <p:sldId id="318" r:id="rId54"/>
    <p:sldId id="323" r:id="rId55"/>
    <p:sldId id="329" r:id="rId56"/>
    <p:sldId id="417" r:id="rId57"/>
    <p:sldId id="328" r:id="rId58"/>
    <p:sldId id="330" r:id="rId59"/>
    <p:sldId id="331" r:id="rId60"/>
    <p:sldId id="332" r:id="rId61"/>
    <p:sldId id="335" r:id="rId62"/>
    <p:sldId id="343" r:id="rId63"/>
    <p:sldId id="407" r:id="rId64"/>
    <p:sldId id="344" r:id="rId65"/>
    <p:sldId id="345" r:id="rId66"/>
    <p:sldId id="395" r:id="rId67"/>
    <p:sldId id="396" r:id="rId68"/>
    <p:sldId id="404" r:id="rId69"/>
    <p:sldId id="403" r:id="rId70"/>
    <p:sldId id="402" r:id="rId71"/>
    <p:sldId id="336" r:id="rId72"/>
    <p:sldId id="337" r:id="rId73"/>
    <p:sldId id="338" r:id="rId74"/>
    <p:sldId id="339" r:id="rId75"/>
    <p:sldId id="401" r:id="rId76"/>
    <p:sldId id="405" r:id="rId77"/>
    <p:sldId id="409" r:id="rId78"/>
    <p:sldId id="340" r:id="rId79"/>
    <p:sldId id="415" r:id="rId80"/>
    <p:sldId id="416" r:id="rId81"/>
    <p:sldId id="319" r:id="rId82"/>
    <p:sldId id="406" r:id="rId83"/>
    <p:sldId id="346" r:id="rId84"/>
    <p:sldId id="347" r:id="rId85"/>
    <p:sldId id="348" r:id="rId86"/>
    <p:sldId id="349" r:id="rId87"/>
    <p:sldId id="350" r:id="rId88"/>
    <p:sldId id="351" r:id="rId89"/>
    <p:sldId id="352" r:id="rId90"/>
    <p:sldId id="397" r:id="rId91"/>
    <p:sldId id="398" r:id="rId92"/>
    <p:sldId id="369" r:id="rId93"/>
    <p:sldId id="399" r:id="rId94"/>
    <p:sldId id="400" r:id="rId95"/>
    <p:sldId id="353" r:id="rId96"/>
    <p:sldId id="380" r:id="rId97"/>
    <p:sldId id="394" r:id="rId98"/>
    <p:sldId id="381" r:id="rId9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28">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CC"/>
    <a:srgbClr val="E5FFFF"/>
    <a:srgbClr val="ABFFFF"/>
    <a:srgbClr val="66FFFF"/>
    <a:srgbClr val="D5FFFF"/>
    <a:srgbClr val="E7FFF9"/>
    <a:srgbClr val="FF66FF"/>
    <a:srgbClr val="FF2F2F"/>
    <a:srgbClr val="66CCFF"/>
    <a:srgbClr val="FF9900"/>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706" autoAdjust="0"/>
    <p:restoredTop sz="98527" autoAdjust="0"/>
  </p:normalViewPr>
  <p:slideViewPr>
    <p:cSldViewPr>
      <p:cViewPr varScale="1">
        <p:scale>
          <a:sx n="82" d="100"/>
          <a:sy n="82" d="100"/>
        </p:scale>
        <p:origin x="-682" y="-96"/>
      </p:cViewPr>
      <p:guideLst>
        <p:guide orient="horz" pos="2128"/>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5.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2.wmf"/><Relationship Id="rId1" Type="http://schemas.openxmlformats.org/officeDocument/2006/relationships/image" Target="../media/image11.wmf"/></Relationships>
</file>

<file path=ppt/drawings/_rels/vmlDrawing4.vml.rels><?xml version="1.0" encoding="UTF-8" standalone="yes"?>
<Relationships xmlns="http://schemas.openxmlformats.org/package/2006/relationships"><Relationship Id="rId3" Type="http://schemas.openxmlformats.org/officeDocument/2006/relationships/image" Target="../media/image12.wmf"/><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38.emf"/></Relationships>
</file>

<file path=ppt/drawings/_rels/vmlDrawing8.vml.rels><?xml version="1.0" encoding="UTF-8" standalone="yes"?>
<Relationships xmlns="http://schemas.openxmlformats.org/package/2006/relationships"><Relationship Id="rId8" Type="http://schemas.openxmlformats.org/officeDocument/2006/relationships/image" Target="../media/image47.emf"/><Relationship Id="rId13" Type="http://schemas.openxmlformats.org/officeDocument/2006/relationships/image" Target="../media/image52.emf"/><Relationship Id="rId3" Type="http://schemas.openxmlformats.org/officeDocument/2006/relationships/image" Target="../media/image42.emf"/><Relationship Id="rId7" Type="http://schemas.openxmlformats.org/officeDocument/2006/relationships/image" Target="../media/image46.emf"/><Relationship Id="rId12" Type="http://schemas.openxmlformats.org/officeDocument/2006/relationships/image" Target="../media/image51.emf"/><Relationship Id="rId2" Type="http://schemas.openxmlformats.org/officeDocument/2006/relationships/image" Target="../media/image41.wmf"/><Relationship Id="rId16" Type="http://schemas.openxmlformats.org/officeDocument/2006/relationships/image" Target="../media/image55.emf"/><Relationship Id="rId1" Type="http://schemas.openxmlformats.org/officeDocument/2006/relationships/image" Target="../media/image40.wmf"/><Relationship Id="rId6" Type="http://schemas.openxmlformats.org/officeDocument/2006/relationships/image" Target="../media/image45.wmf"/><Relationship Id="rId11" Type="http://schemas.openxmlformats.org/officeDocument/2006/relationships/image" Target="../media/image50.emf"/><Relationship Id="rId5" Type="http://schemas.openxmlformats.org/officeDocument/2006/relationships/image" Target="../media/image44.wmf"/><Relationship Id="rId15" Type="http://schemas.openxmlformats.org/officeDocument/2006/relationships/image" Target="../media/image54.emf"/><Relationship Id="rId10" Type="http://schemas.openxmlformats.org/officeDocument/2006/relationships/image" Target="../media/image49.emf"/><Relationship Id="rId4" Type="http://schemas.openxmlformats.org/officeDocument/2006/relationships/image" Target="../media/image43.emf"/><Relationship Id="rId9" Type="http://schemas.openxmlformats.org/officeDocument/2006/relationships/image" Target="../media/image48.emf"/><Relationship Id="rId14" Type="http://schemas.openxmlformats.org/officeDocument/2006/relationships/image" Target="../media/image53.e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59.emf"/><Relationship Id="rId2" Type="http://schemas.openxmlformats.org/officeDocument/2006/relationships/image" Target="../media/image58.emf"/><Relationship Id="rId1" Type="http://schemas.openxmlformats.org/officeDocument/2006/relationships/image" Target="../media/image57.emf"/></Relationships>
</file>

<file path=ppt/drawings/_rels/vmlDrawing10.vml.rels><?xml version="1.0" encoding="UTF-8" standalone="yes"?>
<Relationships xmlns="http://schemas.openxmlformats.org/package/2006/relationships"><Relationship Id="rId2" Type="http://schemas.openxmlformats.org/officeDocument/2006/relationships/image" Target="../media/image62.emf"/><Relationship Id="rId1" Type="http://schemas.openxmlformats.org/officeDocument/2006/relationships/image" Target="../media/image61.emf"/></Relationships>
</file>

<file path=ppt/drawings/_rels/vmlDrawing11.vml.rels><?xml version="1.0" encoding="UTF-8" standalone="yes"?>
<Relationships xmlns="http://schemas.openxmlformats.org/package/2006/relationships"><Relationship Id="rId3" Type="http://schemas.openxmlformats.org/officeDocument/2006/relationships/image" Target="../media/image66.emf"/><Relationship Id="rId2" Type="http://schemas.openxmlformats.org/officeDocument/2006/relationships/image" Target="../media/image65.wmf"/><Relationship Id="rId1" Type="http://schemas.openxmlformats.org/officeDocument/2006/relationships/image" Target="../media/image64.emf"/><Relationship Id="rId5" Type="http://schemas.openxmlformats.org/officeDocument/2006/relationships/image" Target="../media/image68.emf"/><Relationship Id="rId4" Type="http://schemas.openxmlformats.org/officeDocument/2006/relationships/image" Target="../media/image67.e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70.emf"/><Relationship Id="rId2" Type="http://schemas.openxmlformats.org/officeDocument/2006/relationships/image" Target="../media/image65.wmf"/><Relationship Id="rId1" Type="http://schemas.openxmlformats.org/officeDocument/2006/relationships/image" Target="../media/image69.emf"/><Relationship Id="rId4" Type="http://schemas.openxmlformats.org/officeDocument/2006/relationships/image" Target="../media/image71.e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3.emf"/><Relationship Id="rId2" Type="http://schemas.openxmlformats.org/officeDocument/2006/relationships/image" Target="../media/image65.wmf"/><Relationship Id="rId1" Type="http://schemas.openxmlformats.org/officeDocument/2006/relationships/image" Target="../media/image72.emf"/><Relationship Id="rId4" Type="http://schemas.openxmlformats.org/officeDocument/2006/relationships/image" Target="../media/image74.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75.emf"/></Relationships>
</file>

<file path=ppt/drawings/_rels/vmlDrawing15.vml.rels><?xml version="1.0" encoding="UTF-8" standalone="yes"?>
<Relationships xmlns="http://schemas.openxmlformats.org/package/2006/relationships"><Relationship Id="rId3" Type="http://schemas.openxmlformats.org/officeDocument/2006/relationships/image" Target="../media/image78.emf"/><Relationship Id="rId2" Type="http://schemas.openxmlformats.org/officeDocument/2006/relationships/image" Target="../media/image77.emf"/><Relationship Id="rId1" Type="http://schemas.openxmlformats.org/officeDocument/2006/relationships/image" Target="../media/image76.emf"/><Relationship Id="rId4" Type="http://schemas.openxmlformats.org/officeDocument/2006/relationships/image" Target="../media/image79.e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82.emf"/><Relationship Id="rId7" Type="http://schemas.openxmlformats.org/officeDocument/2006/relationships/image" Target="../media/image86.emf"/><Relationship Id="rId2" Type="http://schemas.openxmlformats.org/officeDocument/2006/relationships/image" Target="../media/image81.emf"/><Relationship Id="rId1" Type="http://schemas.openxmlformats.org/officeDocument/2006/relationships/image" Target="../media/image80.emf"/><Relationship Id="rId6" Type="http://schemas.openxmlformats.org/officeDocument/2006/relationships/image" Target="../media/image85.emf"/><Relationship Id="rId5" Type="http://schemas.openxmlformats.org/officeDocument/2006/relationships/image" Target="../media/image84.emf"/><Relationship Id="rId4" Type="http://schemas.openxmlformats.org/officeDocument/2006/relationships/image" Target="../media/image83.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91.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96.emf"/><Relationship Id="rId2" Type="http://schemas.openxmlformats.org/officeDocument/2006/relationships/image" Target="../media/image95.emf"/><Relationship Id="rId1" Type="http://schemas.openxmlformats.org/officeDocument/2006/relationships/image" Target="../media/image94.emf"/><Relationship Id="rId4" Type="http://schemas.openxmlformats.org/officeDocument/2006/relationships/image" Target="../media/image9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05.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0.wmf"/><Relationship Id="rId2" Type="http://schemas.openxmlformats.org/officeDocument/2006/relationships/image" Target="../media/image109.wmf"/><Relationship Id="rId1" Type="http://schemas.openxmlformats.org/officeDocument/2006/relationships/image" Target="../media/image108.wmf"/><Relationship Id="rId4" Type="http://schemas.openxmlformats.org/officeDocument/2006/relationships/image" Target="../media/image111.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15.wmf"/><Relationship Id="rId2" Type="http://schemas.openxmlformats.org/officeDocument/2006/relationships/image" Target="../media/image114.wmf"/><Relationship Id="rId1" Type="http://schemas.openxmlformats.org/officeDocument/2006/relationships/image" Target="../media/image113.wmf"/><Relationship Id="rId5" Type="http://schemas.openxmlformats.org/officeDocument/2006/relationships/image" Target="../media/image117.wmf"/><Relationship Id="rId4" Type="http://schemas.openxmlformats.org/officeDocument/2006/relationships/image" Target="../media/image116.w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20.wmf"/></Relationships>
</file>

<file path=ppt/drawings/_rels/vmlDrawing23.vml.rels><?xml version="1.0" encoding="UTF-8" standalone="yes"?>
<Relationships xmlns="http://schemas.openxmlformats.org/package/2006/relationships"><Relationship Id="rId2" Type="http://schemas.openxmlformats.org/officeDocument/2006/relationships/image" Target="../media/image133.wmf"/><Relationship Id="rId1" Type="http://schemas.openxmlformats.org/officeDocument/2006/relationships/image" Target="../media/image132.wmf"/></Relationships>
</file>

<file path=ppt/drawings/_rels/vmlDrawing24.vml.rels><?xml version="1.0" encoding="UTF-8" standalone="yes"?>
<Relationships xmlns="http://schemas.openxmlformats.org/package/2006/relationships"><Relationship Id="rId2" Type="http://schemas.openxmlformats.org/officeDocument/2006/relationships/image" Target="../media/image136.wmf"/><Relationship Id="rId1" Type="http://schemas.openxmlformats.org/officeDocument/2006/relationships/image" Target="../media/image135.w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47.w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49.w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5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33B7ED-3E2A-484A-9F54-F98DE44168C9}" type="datetimeFigureOut">
              <a:rPr lang="zh-CN" altLang="en-US" smtClean="0"/>
              <a:pPr/>
              <a:t>2021/12/8</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07E31B67-FA19-48D4-9513-ACEE5F6BF7EA}" type="slidenum">
              <a:rPr lang="zh-CN" altLang="en-US" smtClean="0"/>
              <a:pPr/>
              <a:t>‹#›</a:t>
            </a:fld>
            <a:endParaRPr lang="zh-CN" altLang="en-US"/>
          </a:p>
        </p:txBody>
      </p:sp>
    </p:spTree>
    <p:extLst>
      <p:ext uri="{BB962C8B-B14F-4D97-AF65-F5344CB8AC3E}">
        <p14:creationId xmlns:p14="http://schemas.microsoft.com/office/powerpoint/2010/main" xmlns="" val="192240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grpSp>
        <p:nvGrpSpPr>
          <p:cNvPr id="114690" name="Group 2"/>
          <p:cNvGrpSpPr/>
          <p:nvPr/>
        </p:nvGrpSpPr>
        <p:grpSpPr bwMode="auto">
          <a:xfrm>
            <a:off x="0" y="2438400"/>
            <a:ext cx="9009063" cy="1052513"/>
            <a:chOff x="0" y="1536"/>
            <a:chExt cx="5675" cy="663"/>
          </a:xfrm>
        </p:grpSpPr>
        <p:grpSp>
          <p:nvGrpSpPr>
            <p:cNvPr id="114691" name="Group 3"/>
            <p:cNvGrpSpPr/>
            <p:nvPr/>
          </p:nvGrpSpPr>
          <p:grpSpPr bwMode="auto">
            <a:xfrm>
              <a:off x="183" y="1604"/>
              <a:ext cx="448" cy="299"/>
              <a:chOff x="720" y="336"/>
              <a:chExt cx="624" cy="432"/>
            </a:xfrm>
          </p:grpSpPr>
          <p:sp>
            <p:nvSpPr>
              <p:cNvPr id="114692" name="Rectangle 4"/>
              <p:cNvSpPr>
                <a:spLocks noChangeArrowheads="1"/>
              </p:cNvSpPr>
              <p:nvPr/>
            </p:nvSpPr>
            <p:spPr bwMode="auto">
              <a:xfrm>
                <a:off x="720" y="336"/>
                <a:ext cx="384" cy="432"/>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4693" name="Rectangle 5"/>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grpSp>
          <p:nvGrpSpPr>
            <p:cNvPr id="114694" name="Group 6"/>
            <p:cNvGrpSpPr/>
            <p:nvPr/>
          </p:nvGrpSpPr>
          <p:grpSpPr bwMode="auto">
            <a:xfrm>
              <a:off x="261" y="1870"/>
              <a:ext cx="465" cy="299"/>
              <a:chOff x="912" y="2640"/>
              <a:chExt cx="672" cy="432"/>
            </a:xfrm>
          </p:grpSpPr>
          <p:sp>
            <p:nvSpPr>
              <p:cNvPr id="114695" name="Rectangle 7"/>
              <p:cNvSpPr>
                <a:spLocks noChangeArrowheads="1"/>
              </p:cNvSpPr>
              <p:nvPr/>
            </p:nvSpPr>
            <p:spPr bwMode="auto">
              <a:xfrm>
                <a:off x="912" y="2640"/>
                <a:ext cx="384" cy="432"/>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4696" name="Rectangle 8"/>
              <p:cNvSpPr>
                <a:spLocks noChangeArrowheads="1"/>
              </p:cNvSpPr>
              <p:nvPr/>
            </p:nvSpPr>
            <p:spPr bwMode="auto">
              <a:xfrm>
                <a:off x="1248" y="2640"/>
                <a:ext cx="336" cy="432"/>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114697" name="Rectangle 9"/>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4698" name="Rectangle 10"/>
            <p:cNvSpPr>
              <a:spLocks noChangeArrowheads="1"/>
            </p:cNvSpPr>
            <p:nvPr/>
          </p:nvSpPr>
          <p:spPr bwMode="auto">
            <a:xfrm>
              <a:off x="400" y="1536"/>
              <a:ext cx="20" cy="663"/>
            </a:xfrm>
            <a:prstGeom prst="rect">
              <a:avLst/>
            </a:prstGeom>
            <a:solidFill>
              <a:schemeClr val="bg2"/>
            </a:solidFill>
            <a:ln>
              <a:noFill/>
            </a:ln>
            <a:effectLst/>
            <a:extLst>
              <a:ext uri="{91240B29-F687-4F45-9708-019B960494DF}">
                <a14:hiddenLine xmlns:a14="http://schemas.microsoft.com/office/drawing/2010/main" xmlns="" w="9525">
                  <a:solidFill>
                    <a:schemeClr val="bg2"/>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4699" name="Rectangle 11"/>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114700" name="Rectangle 12"/>
          <p:cNvSpPr>
            <a:spLocks noGrp="1" noChangeArrowheads="1"/>
          </p:cNvSpPr>
          <p:nvPr>
            <p:ph type="ctrTitle"/>
          </p:nvPr>
        </p:nvSpPr>
        <p:spPr>
          <a:xfrm>
            <a:off x="990600" y="1828800"/>
            <a:ext cx="7772400" cy="1143000"/>
          </a:xfrm>
        </p:spPr>
        <p:txBody>
          <a:bodyPr/>
          <a:lstStyle>
            <a:lvl1pPr>
              <a:defRPr/>
            </a:lvl1pPr>
          </a:lstStyle>
          <a:p>
            <a:pPr lvl="0"/>
            <a:r>
              <a:rPr lang="zh-CN" altLang="en-US" noProof="0" smtClean="0"/>
              <a:t>单击此处编辑母版标题样式</a:t>
            </a:r>
          </a:p>
        </p:txBody>
      </p:sp>
      <p:sp>
        <p:nvSpPr>
          <p:cNvPr id="114701" name="Rectangle 13"/>
          <p:cNvSpPr>
            <a:spLocks noGrp="1" noChangeArrowheads="1"/>
          </p:cNvSpPr>
          <p:nvPr>
            <p:ph type="subTitle" idx="1"/>
          </p:nvPr>
        </p:nvSpPr>
        <p:spPr>
          <a:xfrm>
            <a:off x="1371600" y="3886200"/>
            <a:ext cx="6400800" cy="1752600"/>
          </a:xfrm>
        </p:spPr>
        <p:txBody>
          <a:bodyPr/>
          <a:lstStyle>
            <a:lvl1pPr marL="0" indent="0" algn="ctr">
              <a:buFont typeface="Wingdings" panose="05000000000000000000" pitchFamily="2" charset="2"/>
              <a:buNone/>
              <a:defRPr/>
            </a:lvl1pPr>
          </a:lstStyle>
          <a:p>
            <a:pPr lvl="0"/>
            <a:r>
              <a:rPr lang="zh-CN" altLang="en-US" noProof="0" smtClean="0"/>
              <a:t>单击此处编辑母版副标题样式</a:t>
            </a:r>
          </a:p>
        </p:txBody>
      </p:sp>
      <p:sp>
        <p:nvSpPr>
          <p:cNvPr id="114702" name="Rectangle 14"/>
          <p:cNvSpPr>
            <a:spLocks noGrp="1" noChangeArrowheads="1"/>
          </p:cNvSpPr>
          <p:nvPr>
            <p:ph type="dt" sz="half" idx="2"/>
          </p:nvPr>
        </p:nvSpPr>
        <p:spPr>
          <a:xfrm>
            <a:off x="990600" y="6248400"/>
            <a:ext cx="1905000" cy="457200"/>
          </a:xfrm>
        </p:spPr>
        <p:txBody>
          <a:bodyPr/>
          <a:lstStyle>
            <a:lvl1pPr>
              <a:defRPr>
                <a:solidFill>
                  <a:schemeClr val="bg2"/>
                </a:solidFill>
              </a:defRPr>
            </a:lvl1pPr>
          </a:lstStyle>
          <a:p>
            <a:fld id="{BDC37BE5-2B55-4183-A874-C866012BEEE3}" type="datetime1">
              <a:rPr lang="zh-CN" altLang="en-US" smtClean="0"/>
              <a:pPr/>
              <a:t>2021/12/8</a:t>
            </a:fld>
            <a:endParaRPr lang="zh-CN" altLang="en-US"/>
          </a:p>
        </p:txBody>
      </p:sp>
      <p:sp>
        <p:nvSpPr>
          <p:cNvPr id="114703" name="Rectangle 15"/>
          <p:cNvSpPr>
            <a:spLocks noGrp="1" noChangeArrowheads="1"/>
          </p:cNvSpPr>
          <p:nvPr>
            <p:ph type="ftr" sz="quarter" idx="3"/>
          </p:nvPr>
        </p:nvSpPr>
        <p:spPr>
          <a:xfrm>
            <a:off x="3429000" y="6248400"/>
            <a:ext cx="2895600" cy="457200"/>
          </a:xfrm>
        </p:spPr>
        <p:txBody>
          <a:bodyPr/>
          <a:lstStyle>
            <a:lvl1pPr>
              <a:defRPr>
                <a:solidFill>
                  <a:schemeClr val="bg2"/>
                </a:solidFill>
              </a:defRPr>
            </a:lvl1pPr>
          </a:lstStyle>
          <a:p>
            <a:endParaRPr lang="zh-CN" altLang="en-US"/>
          </a:p>
        </p:txBody>
      </p:sp>
      <p:sp>
        <p:nvSpPr>
          <p:cNvPr id="114704" name="Rectangle 16"/>
          <p:cNvSpPr>
            <a:spLocks noGrp="1" noChangeArrowheads="1"/>
          </p:cNvSpPr>
          <p:nvPr>
            <p:ph type="sldNum" sz="quarter" idx="4"/>
          </p:nvPr>
        </p:nvSpPr>
        <p:spPr>
          <a:xfrm>
            <a:off x="6858000" y="6248400"/>
            <a:ext cx="1905000" cy="457200"/>
          </a:xfrm>
        </p:spPr>
        <p:txBody>
          <a:bodyPr/>
          <a:lstStyle>
            <a:lvl1pPr>
              <a:defRPr>
                <a:solidFill>
                  <a:schemeClr val="bg2"/>
                </a:solidFill>
              </a:defRPr>
            </a:lvl1p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1043608" y="548680"/>
            <a:ext cx="8100392" cy="1143000"/>
          </a:xfrm>
        </p:spPr>
        <p:txBody>
          <a:bodyPr/>
          <a:lstStyle>
            <a:lvl1pPr>
              <a:defRPr sz="3200"/>
            </a:lvl1pPr>
          </a:lstStyle>
          <a:p>
            <a:r>
              <a:rPr lang="zh-CN" altLang="en-US" dirty="0" smtClean="0"/>
              <a:t>单击此处编辑母版标题样式</a:t>
            </a:r>
            <a:endParaRPr lang="zh-CN" altLang="en-US" dirty="0"/>
          </a:p>
        </p:txBody>
      </p:sp>
      <p:sp>
        <p:nvSpPr>
          <p:cNvPr id="3" name="内容占位符 2"/>
          <p:cNvSpPr>
            <a:spLocks noGrp="1"/>
          </p:cNvSpPr>
          <p:nvPr>
            <p:ph idx="1"/>
          </p:nvPr>
        </p:nvSpPr>
        <p:spPr>
          <a:xfrm>
            <a:off x="793750" y="1844824"/>
            <a:ext cx="8161338" cy="4752528"/>
          </a:xfrm>
        </p:spPr>
        <p:txBody>
          <a:bodyPr/>
          <a:lstStyle>
            <a:lvl1pPr>
              <a:defRPr sz="2400" b="1"/>
            </a:lvl1pPr>
            <a:lvl2pPr>
              <a:defRPr sz="2200" b="1"/>
            </a:lvl2pPr>
            <a:lvl3pPr>
              <a:buClr>
                <a:srgbClr val="FF9900"/>
              </a:buClr>
              <a:defRPr sz="2000"/>
            </a:lvl3pPr>
            <a:lvl4pPr>
              <a:buClr>
                <a:srgbClr val="00B0F0"/>
              </a:buClr>
              <a:defRPr/>
            </a:lvl4p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zh-CN" altLang="en-US" dirty="0"/>
          </a:p>
        </p:txBody>
      </p:sp>
      <p:sp>
        <p:nvSpPr>
          <p:cNvPr id="4" name="日期占位符 3"/>
          <p:cNvSpPr>
            <a:spLocks noGrp="1"/>
          </p:cNvSpPr>
          <p:nvPr>
            <p:ph type="dt" sz="half" idx="10"/>
          </p:nvPr>
        </p:nvSpPr>
        <p:spPr>
          <a:xfrm>
            <a:off x="914400" y="6556920"/>
            <a:ext cx="1905000" cy="328464"/>
          </a:xfrm>
        </p:spPr>
        <p:txBody>
          <a:bodyPr/>
          <a:lstStyle>
            <a:lvl1pPr>
              <a:defRPr/>
            </a:lvl1pPr>
          </a:lstStyle>
          <a:p>
            <a:fld id="{75154E2A-93AA-4E15-9EE6-A3F3C98AB92C}" type="datetime1">
              <a:rPr lang="zh-CN" altLang="en-US" smtClean="0"/>
              <a:pPr/>
              <a:t>2021/12/8</a:t>
            </a:fld>
            <a:endParaRPr lang="zh-CN" altLang="en-US"/>
          </a:p>
        </p:txBody>
      </p:sp>
      <p:sp>
        <p:nvSpPr>
          <p:cNvPr id="5" name="页脚占位符 4"/>
          <p:cNvSpPr>
            <a:spLocks noGrp="1"/>
          </p:cNvSpPr>
          <p:nvPr>
            <p:ph type="ftr" sz="quarter" idx="11"/>
          </p:nvPr>
        </p:nvSpPr>
        <p:spPr>
          <a:xfrm>
            <a:off x="3352800" y="6556920"/>
            <a:ext cx="2895600" cy="328464"/>
          </a:xfrm>
        </p:spPr>
        <p:txBody>
          <a:bodyPr/>
          <a:lstStyle>
            <a:lvl1pPr>
              <a:defRPr/>
            </a:lvl1pPr>
          </a:lstStyle>
          <a:p>
            <a:endParaRPr lang="zh-CN" altLang="en-US"/>
          </a:p>
        </p:txBody>
      </p:sp>
      <p:sp>
        <p:nvSpPr>
          <p:cNvPr id="6" name="灯片编号占位符 5"/>
          <p:cNvSpPr>
            <a:spLocks noGrp="1"/>
          </p:cNvSpPr>
          <p:nvPr>
            <p:ph type="sldNum" sz="quarter" idx="12"/>
          </p:nvPr>
        </p:nvSpPr>
        <p:spPr>
          <a:xfrm>
            <a:off x="6781800" y="6556920"/>
            <a:ext cx="1905000" cy="328464"/>
          </a:xfrm>
        </p:spPr>
        <p:txBody>
          <a:bodyPr/>
          <a:lstStyle>
            <a:lvl1pPr>
              <a:defRPr/>
            </a:lvl1p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lvl1pPr>
              <a:defRPr/>
            </a:lvl1pPr>
          </a:lstStyle>
          <a:p>
            <a:fld id="{5E16B97F-0C23-4106-8A95-9E7C084AA426}" type="datetime1">
              <a:rPr lang="zh-CN" altLang="en-US" smtClean="0"/>
              <a:pPr/>
              <a:t>2021/12/8</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11826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5145088" y="2017713"/>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lvl1pPr>
              <a:defRPr/>
            </a:lvl1pPr>
          </a:lstStyle>
          <a:p>
            <a:fld id="{8328734A-09AB-40F1-A150-4F89A3AA1FDC}" type="datetime1">
              <a:rPr lang="zh-CN" altLang="en-US" smtClean="0"/>
              <a:pPr/>
              <a:t>2021/12/8</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lvl1pPr>
              <a:defRPr/>
            </a:lvl1pPr>
          </a:lstStyle>
          <a:p>
            <a:fld id="{A84C6AC8-6ACC-4E63-AFE7-0A3835A7E6E0}" type="datetime1">
              <a:rPr lang="zh-CN" altLang="en-US" smtClean="0"/>
              <a:pPr/>
              <a:t>2021/12/8</a:t>
            </a:fld>
            <a:endParaRPr lang="zh-CN" altLang="en-US"/>
          </a:p>
        </p:txBody>
      </p:sp>
      <p:sp>
        <p:nvSpPr>
          <p:cNvPr id="8" name="页脚占位符 7"/>
          <p:cNvSpPr>
            <a:spLocks noGrp="1"/>
          </p:cNvSpPr>
          <p:nvPr>
            <p:ph type="ftr" sz="quarter" idx="11"/>
          </p:nvPr>
        </p:nvSpPr>
        <p:spPr/>
        <p:txBody>
          <a:bodyPr/>
          <a:lstStyle>
            <a:lvl1pPr>
              <a:defRPr/>
            </a:lvl1pPr>
          </a:lstStyle>
          <a:p>
            <a:endParaRPr lang="zh-CN" altLang="en-US"/>
          </a:p>
        </p:txBody>
      </p:sp>
      <p:sp>
        <p:nvSpPr>
          <p:cNvPr id="9" name="灯片编号占位符 8"/>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lvl1pPr>
              <a:defRPr/>
            </a:lvl1pPr>
          </a:lstStyle>
          <a:p>
            <a:fld id="{97106202-96FD-43AB-80E0-BAE74EFCF2E3}" type="datetime1">
              <a:rPr lang="zh-CN" altLang="en-US" smtClean="0"/>
              <a:pPr/>
              <a:t>2021/12/8</a:t>
            </a:fld>
            <a:endParaRPr lang="zh-CN" altLang="en-US"/>
          </a:p>
        </p:txBody>
      </p:sp>
      <p:sp>
        <p:nvSpPr>
          <p:cNvPr id="4" name="页脚占位符 3"/>
          <p:cNvSpPr>
            <a:spLocks noGrp="1"/>
          </p:cNvSpPr>
          <p:nvPr>
            <p:ph type="ftr" sz="quarter" idx="11"/>
          </p:nvPr>
        </p:nvSpPr>
        <p:spPr/>
        <p:txBody>
          <a:bodyPr/>
          <a:lstStyle>
            <a:lvl1pPr>
              <a:defRPr/>
            </a:lvl1pPr>
          </a:lstStyle>
          <a:p>
            <a:endParaRPr lang="zh-CN" altLang="en-US"/>
          </a:p>
        </p:txBody>
      </p:sp>
      <p:sp>
        <p:nvSpPr>
          <p:cNvPr id="5" name="灯片编号占位符 4"/>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2559874B-088A-4C3E-A792-1ADBE02E2B5B}" type="datetime1">
              <a:rPr lang="zh-CN" altLang="en-US" smtClean="0"/>
              <a:pPr/>
              <a:t>2021/12/8</a:t>
            </a:fld>
            <a:endParaRPr lang="zh-CN" altLang="en-US"/>
          </a:p>
        </p:txBody>
      </p:sp>
      <p:sp>
        <p:nvSpPr>
          <p:cNvPr id="3" name="页脚占位符 2"/>
          <p:cNvSpPr>
            <a:spLocks noGrp="1"/>
          </p:cNvSpPr>
          <p:nvPr>
            <p:ph type="ftr" sz="quarter" idx="11"/>
          </p:nvPr>
        </p:nvSpPr>
        <p:spPr/>
        <p:txBody>
          <a:bodyPr/>
          <a:lstStyle>
            <a:lvl1pPr>
              <a:defRPr/>
            </a:lvl1pPr>
          </a:lstStyle>
          <a:p>
            <a:endParaRPr lang="zh-CN" altLang="en-US"/>
          </a:p>
        </p:txBody>
      </p:sp>
      <p:sp>
        <p:nvSpPr>
          <p:cNvPr id="4" name="灯片编号占位符 3"/>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4C745F81-9533-435E-90E4-D306FE0C114C}" type="datetime1">
              <a:rPr lang="zh-CN" altLang="en-US" smtClean="0"/>
              <a:pPr/>
              <a:t>2021/12/8</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lvl1pPr>
              <a:defRPr/>
            </a:lvl1pPr>
          </a:lstStyle>
          <a:p>
            <a:fld id="{E8657D41-4B9F-4A17-A132-F5EAFA63A05C}" type="datetime1">
              <a:rPr lang="zh-CN" altLang="en-US" smtClean="0"/>
              <a:pPr/>
              <a:t>2021/12/8</a:t>
            </a:fld>
            <a:endParaRPr lang="zh-CN" altLang="en-US"/>
          </a:p>
        </p:txBody>
      </p:sp>
      <p:sp>
        <p:nvSpPr>
          <p:cNvPr id="6" name="页脚占位符 5"/>
          <p:cNvSpPr>
            <a:spLocks noGrp="1"/>
          </p:cNvSpPr>
          <p:nvPr>
            <p:ph type="ftr" sz="quarter" idx="11"/>
          </p:nvPr>
        </p:nvSpPr>
        <p:spPr/>
        <p:txBody>
          <a:bodyPr/>
          <a:lstStyle>
            <a:lvl1pPr>
              <a:defRPr/>
            </a:lvl1pPr>
          </a:lstStyle>
          <a:p>
            <a:endParaRPr lang="zh-CN" altLang="en-US"/>
          </a:p>
        </p:txBody>
      </p:sp>
      <p:sp>
        <p:nvSpPr>
          <p:cNvPr id="7" name="灯片编号占位符 6"/>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FECF0936-BE74-4357-AAB1-A80F18F4179E}" type="datetime1">
              <a:rPr lang="zh-CN" altLang="en-US" smtClean="0"/>
              <a:pPr/>
              <a:t>2021/12/8</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04050" y="617538"/>
            <a:ext cx="1951038" cy="551497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1150938" y="617538"/>
            <a:ext cx="5700712" cy="551497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lvl1pPr>
              <a:defRPr/>
            </a:lvl1pPr>
          </a:lstStyle>
          <a:p>
            <a:fld id="{05FBC967-FD70-4EC3-A60E-DB0C49B3480E}" type="datetime1">
              <a:rPr lang="zh-CN" altLang="en-US" smtClean="0"/>
              <a:pPr/>
              <a:t>2021/12/8</a:t>
            </a:fld>
            <a:endParaRPr lang="zh-CN" altLang="en-US"/>
          </a:p>
        </p:txBody>
      </p:sp>
      <p:sp>
        <p:nvSpPr>
          <p:cNvPr id="5" name="页脚占位符 4"/>
          <p:cNvSpPr>
            <a:spLocks noGrp="1"/>
          </p:cNvSpPr>
          <p:nvPr>
            <p:ph type="ftr" sz="quarter" idx="11"/>
          </p:nvPr>
        </p:nvSpPr>
        <p:spPr/>
        <p:txBody>
          <a:bodyPr/>
          <a:lstStyle>
            <a:lvl1pPr>
              <a:defRPr/>
            </a:lvl1pPr>
          </a:lstStyle>
          <a:p>
            <a:endParaRPr lang="zh-CN" altLang="en-US"/>
          </a:p>
        </p:txBody>
      </p:sp>
      <p:sp>
        <p:nvSpPr>
          <p:cNvPr id="6" name="灯片编号占位符 5"/>
          <p:cNvSpPr>
            <a:spLocks noGrp="1"/>
          </p:cNvSpPr>
          <p:nvPr>
            <p:ph type="sldNum" sz="quarter" idx="12"/>
          </p:nvPr>
        </p:nvSpPr>
        <p:spPr/>
        <p:txBody>
          <a:bodyPr/>
          <a:lstStyle>
            <a:lvl1pPr>
              <a:defRPr/>
            </a:lvl1pPr>
          </a:lstStyle>
          <a:p>
            <a:fld id="{0C913308-F349-4B6D-A68A-DD1791B4A57B}"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13666" name="Rectangle 2"/>
          <p:cNvSpPr>
            <a:spLocks noChangeArrowheads="1"/>
          </p:cNvSpPr>
          <p:nvPr/>
        </p:nvSpPr>
        <p:spPr bwMode="ltGray">
          <a:xfrm>
            <a:off x="417513" y="1098550"/>
            <a:ext cx="438150" cy="474663"/>
          </a:xfrm>
          <a:prstGeom prst="rect">
            <a:avLst/>
          </a:prstGeom>
          <a:solidFill>
            <a:schemeClr val="accent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67" name="Rectangle 3"/>
          <p:cNvSpPr>
            <a:spLocks noChangeArrowheads="1"/>
          </p:cNvSpPr>
          <p:nvPr/>
        </p:nvSpPr>
        <p:spPr bwMode="ltGray">
          <a:xfrm>
            <a:off x="800100" y="1098550"/>
            <a:ext cx="328613" cy="474663"/>
          </a:xfrm>
          <a:prstGeom prst="rect">
            <a:avLst/>
          </a:prstGeom>
          <a:gradFill rotWithShape="0">
            <a:gsLst>
              <a:gs pos="0">
                <a:schemeClr val="accent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68" name="Rectangle 4"/>
          <p:cNvSpPr>
            <a:spLocks noChangeArrowheads="1"/>
          </p:cNvSpPr>
          <p:nvPr/>
        </p:nvSpPr>
        <p:spPr bwMode="ltGray">
          <a:xfrm>
            <a:off x="541338" y="1520825"/>
            <a:ext cx="422275" cy="474663"/>
          </a:xfrm>
          <a:prstGeom prst="rect">
            <a:avLst/>
          </a:prstGeom>
          <a:solidFill>
            <a:schemeClr val="folHlink"/>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69" name="Rectangle 5"/>
          <p:cNvSpPr>
            <a:spLocks noChangeArrowheads="1"/>
          </p:cNvSpPr>
          <p:nvPr/>
        </p:nvSpPr>
        <p:spPr bwMode="ltGray">
          <a:xfrm>
            <a:off x="911225" y="1520825"/>
            <a:ext cx="368300" cy="474663"/>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70" name="Rectangle 6"/>
          <p:cNvSpPr>
            <a:spLocks noChangeArrowheads="1"/>
          </p:cNvSpPr>
          <p:nvPr/>
        </p:nvSpPr>
        <p:spPr bwMode="ltGray">
          <a:xfrm>
            <a:off x="127000" y="1447800"/>
            <a:ext cx="560388" cy="422275"/>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71" name="Rectangle 7"/>
          <p:cNvSpPr>
            <a:spLocks noChangeArrowheads="1"/>
          </p:cNvSpPr>
          <p:nvPr/>
        </p:nvSpPr>
        <p:spPr bwMode="gray">
          <a:xfrm>
            <a:off x="762000" y="990600"/>
            <a:ext cx="31750" cy="1052513"/>
          </a:xfrm>
          <a:prstGeom prst="rect">
            <a:avLst/>
          </a:prstGeom>
          <a:solidFill>
            <a:schemeClr val="bg2"/>
          </a:soli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72" name="Rectangle 8"/>
          <p:cNvSpPr>
            <a:spLocks noChangeArrowheads="1"/>
          </p:cNvSpPr>
          <p:nvPr/>
        </p:nvSpPr>
        <p:spPr bwMode="gray">
          <a:xfrm>
            <a:off x="442913" y="1781175"/>
            <a:ext cx="8226425" cy="31750"/>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2400"/>
          </a:p>
        </p:txBody>
      </p:sp>
      <p:sp>
        <p:nvSpPr>
          <p:cNvPr id="113673" name="Rectangle 9"/>
          <p:cNvSpPr>
            <a:spLocks noGrp="1" noChangeArrowheads="1"/>
          </p:cNvSpPr>
          <p:nvPr>
            <p:ph type="title"/>
          </p:nvPr>
        </p:nvSpPr>
        <p:spPr bwMode="auto">
          <a:xfrm>
            <a:off x="1150938" y="617538"/>
            <a:ext cx="7793037" cy="1143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a:r>
              <a:rPr lang="zh-CN" altLang="en-US" dirty="0" smtClean="0"/>
              <a:t>单击此处编辑母版标题样式</a:t>
            </a:r>
          </a:p>
        </p:txBody>
      </p:sp>
      <p:sp>
        <p:nvSpPr>
          <p:cNvPr id="113674" name="Rectangle 10"/>
          <p:cNvSpPr>
            <a:spLocks noGrp="1" noChangeArrowheads="1"/>
          </p:cNvSpPr>
          <p:nvPr>
            <p:ph type="body" idx="1"/>
          </p:nvPr>
        </p:nvSpPr>
        <p:spPr bwMode="auto">
          <a:xfrm>
            <a:off x="793750" y="2017712"/>
            <a:ext cx="8161338" cy="44356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t" anchorCtr="0" compatLnSpc="1"/>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p>
        </p:txBody>
      </p:sp>
      <p:sp>
        <p:nvSpPr>
          <p:cNvPr id="113675" name="Rectangle 11"/>
          <p:cNvSpPr>
            <a:spLocks noGrp="1" noChangeArrowheads="1"/>
          </p:cNvSpPr>
          <p:nvPr>
            <p:ph type="dt" sz="half" idx="2"/>
          </p:nvPr>
        </p:nvSpPr>
        <p:spPr bwMode="auto">
          <a:xfrm>
            <a:off x="914400" y="63246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lvl1pPr>
              <a:defRPr kumimoji="0" sz="1400"/>
            </a:lvl1pPr>
          </a:lstStyle>
          <a:p>
            <a:fld id="{ECEE2B73-FBAB-42EB-BC08-7C400623014C}" type="datetime1">
              <a:rPr lang="zh-CN" altLang="en-US" smtClean="0"/>
              <a:pPr/>
              <a:t>2021/12/8</a:t>
            </a:fld>
            <a:endParaRPr lang="zh-CN" altLang="en-US"/>
          </a:p>
        </p:txBody>
      </p:sp>
      <p:sp>
        <p:nvSpPr>
          <p:cNvPr id="113676" name="Rectangle 12"/>
          <p:cNvSpPr>
            <a:spLocks noGrp="1" noChangeArrowheads="1"/>
          </p:cNvSpPr>
          <p:nvPr>
            <p:ph type="ftr" sz="quarter" idx="3"/>
          </p:nvPr>
        </p:nvSpPr>
        <p:spPr bwMode="auto">
          <a:xfrm>
            <a:off x="3352800" y="6324600"/>
            <a:ext cx="28956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ctr">
              <a:defRPr kumimoji="0" sz="1400"/>
            </a:lvl1pPr>
          </a:lstStyle>
          <a:p>
            <a:endParaRPr lang="zh-CN" altLang="en-US"/>
          </a:p>
        </p:txBody>
      </p:sp>
      <p:sp>
        <p:nvSpPr>
          <p:cNvPr id="113677" name="Rectangle 13"/>
          <p:cNvSpPr>
            <a:spLocks noGrp="1" noChangeArrowheads="1"/>
          </p:cNvSpPr>
          <p:nvPr>
            <p:ph type="sldNum" sz="quarter" idx="4"/>
          </p:nvPr>
        </p:nvSpPr>
        <p:spPr bwMode="auto">
          <a:xfrm>
            <a:off x="6781800" y="6324600"/>
            <a:ext cx="1905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lvl1pPr algn="r">
              <a:defRPr kumimoji="0" sz="1400"/>
            </a:lvl1pPr>
          </a:lstStyle>
          <a:p>
            <a:fld id="{0C913308-F349-4B6D-A68A-DD1791B4A57B}"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rtl="0" eaLnBrk="1" fontAlgn="base" hangingPunct="1">
        <a:spcBef>
          <a:spcPct val="0"/>
        </a:spcBef>
        <a:spcAft>
          <a:spcPct val="0"/>
        </a:spcAft>
        <a:defRPr kumimoji="1" sz="3200" b="1">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p:titleStyle>
    <p:bodyStyle>
      <a:lvl1pPr marL="342900" indent="-342900" algn="l" rtl="0" eaLnBrk="1" fontAlgn="base" hangingPunct="1">
        <a:lnSpc>
          <a:spcPts val="3120"/>
        </a:lnSpc>
        <a:spcBef>
          <a:spcPct val="20000"/>
        </a:spcBef>
        <a:spcAft>
          <a:spcPct val="0"/>
        </a:spcAft>
        <a:buClr>
          <a:schemeClr val="folHlink"/>
        </a:buClr>
        <a:buSzPct val="60000"/>
        <a:buFont typeface="Wingdings" panose="05000000000000000000" pitchFamily="2" charset="2"/>
        <a:buChar char="n"/>
        <a:defRPr kumimoji="1" sz="2600" b="1">
          <a:solidFill>
            <a:schemeClr val="tx1"/>
          </a:solidFill>
          <a:latin typeface="+mn-lt"/>
          <a:ea typeface="+mn-ea"/>
          <a:cs typeface="+mn-cs"/>
        </a:defRPr>
      </a:lvl1pPr>
      <a:lvl2pPr marL="742950" indent="-285750" algn="l" rtl="0" eaLnBrk="1" fontAlgn="base" hangingPunct="1">
        <a:lnSpc>
          <a:spcPts val="3120"/>
        </a:lnSpc>
        <a:spcBef>
          <a:spcPct val="20000"/>
        </a:spcBef>
        <a:spcAft>
          <a:spcPct val="0"/>
        </a:spcAft>
        <a:buClr>
          <a:schemeClr val="hlink"/>
        </a:buClr>
        <a:buSzPct val="55000"/>
        <a:buFont typeface="Wingdings" panose="05000000000000000000" pitchFamily="2" charset="2"/>
        <a:buChar char="n"/>
        <a:defRPr kumimoji="1" sz="2400" b="1">
          <a:solidFill>
            <a:schemeClr val="tx1"/>
          </a:solidFill>
          <a:latin typeface="+mn-lt"/>
          <a:ea typeface="+mn-ea"/>
        </a:defRPr>
      </a:lvl2pPr>
      <a:lvl3pPr marL="1143000" indent="-228600" algn="l" rtl="0" eaLnBrk="1" fontAlgn="base" hangingPunct="1">
        <a:lnSpc>
          <a:spcPts val="3120"/>
        </a:lnSpc>
        <a:spcBef>
          <a:spcPct val="20000"/>
        </a:spcBef>
        <a:spcAft>
          <a:spcPct val="0"/>
        </a:spcAft>
        <a:buClr>
          <a:schemeClr val="folHlink"/>
        </a:buClr>
        <a:buSzPct val="50000"/>
        <a:buFont typeface="Wingdings" panose="05000000000000000000" pitchFamily="2" charset="2"/>
        <a:buChar char="n"/>
        <a:defRPr kumimoji="1" sz="2200" b="1">
          <a:solidFill>
            <a:schemeClr val="tx1"/>
          </a:solidFill>
          <a:latin typeface="+mn-lt"/>
          <a:ea typeface="+mn-ea"/>
        </a:defRPr>
      </a:lvl3pPr>
      <a:lvl4pPr marL="1600200" indent="-228600" algn="l" rtl="0" eaLnBrk="1" fontAlgn="base" hangingPunct="1">
        <a:spcBef>
          <a:spcPct val="20000"/>
        </a:spcBef>
        <a:spcAft>
          <a:spcPct val="0"/>
        </a:spcAft>
        <a:buClr>
          <a:schemeClr val="accent2"/>
        </a:buClr>
        <a:buSzPct val="55000"/>
        <a:buFont typeface="Wingdings" panose="05000000000000000000" pitchFamily="2" charset="2"/>
        <a:buChar char="n"/>
        <a:defRPr kumimoji="1" sz="2000" b="1">
          <a:solidFill>
            <a:schemeClr val="tx1"/>
          </a:solidFill>
          <a:latin typeface="+mn-lt"/>
          <a:ea typeface="+mn-ea"/>
        </a:defRPr>
      </a:lvl4pPr>
      <a:lvl5pPr marL="20574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b="1">
          <a:solidFill>
            <a:schemeClr val="tx1"/>
          </a:solidFill>
          <a:latin typeface="+mn-lt"/>
          <a:ea typeface="+mn-ea"/>
        </a:defRPr>
      </a:lvl5pPr>
      <a:lvl6pPr marL="25146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6pPr>
      <a:lvl7pPr marL="29718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7pPr>
      <a:lvl8pPr marL="34290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8pPr>
      <a:lvl9pPr marL="3886200" indent="-228600" algn="l" rtl="0" eaLnBrk="1" fontAlgn="base" hangingPunct="1">
        <a:spcBef>
          <a:spcPct val="20000"/>
        </a:spcBef>
        <a:spcAft>
          <a:spcPct val="0"/>
        </a:spcAft>
        <a:buClr>
          <a:schemeClr val="accent1"/>
        </a:buClr>
        <a:buSzPct val="50000"/>
        <a:buFont typeface="Wingdings" panose="05000000000000000000" pitchFamily="2" charset="2"/>
        <a:buChar char="n"/>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7.xml"/><Relationship Id="rId1" Type="http://schemas.openxmlformats.org/officeDocument/2006/relationships/vmlDrawing" Target="../drawings/vmlDrawing1.vml"/></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7.xml"/><Relationship Id="rId1" Type="http://schemas.openxmlformats.org/officeDocument/2006/relationships/vmlDrawing" Target="../drawings/vmlDrawing2.v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2.xml"/><Relationship Id="rId1" Type="http://schemas.openxmlformats.org/officeDocument/2006/relationships/vmlDrawing" Target="../drawings/vmlDrawing3.vml"/><Relationship Id="rId5" Type="http://schemas.openxmlformats.org/officeDocument/2006/relationships/image" Target="../media/image13.png"/><Relationship Id="rId4" Type="http://schemas.openxmlformats.org/officeDocument/2006/relationships/oleObject" Target="../embeddings/oleObject4.bin"/></Relationships>
</file>

<file path=ppt/slides/_rels/slide1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oleObject" Target="../embeddings/oleObject7.bin"/><Relationship Id="rId4" Type="http://schemas.openxmlformats.org/officeDocument/2006/relationships/oleObject" Target="../embeddings/oleObject6.bin"/></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slideLayout" Target="../slideLayouts/slideLayout2.xml"/><Relationship Id="rId1" Type="http://schemas.openxmlformats.org/officeDocument/2006/relationships/vmlDrawing" Target="../drawings/vmlDrawing6.vml"/><Relationship Id="rId6" Type="http://schemas.openxmlformats.org/officeDocument/2006/relationships/oleObject" Target="../embeddings/oleObject13.bin"/><Relationship Id="rId5" Type="http://schemas.openxmlformats.org/officeDocument/2006/relationships/oleObject" Target="../embeddings/oleObject12.bin"/><Relationship Id="rId4" Type="http://schemas.openxmlformats.org/officeDocument/2006/relationships/oleObject" Target="../embeddings/oleObject11.bin"/></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3.jpeg"/><Relationship Id="rId2" Type="http://schemas.openxmlformats.org/officeDocument/2006/relationships/image" Target="../media/image32.png"/><Relationship Id="rId1" Type="http://schemas.openxmlformats.org/officeDocument/2006/relationships/slideLayout" Target="../slideLayouts/slideLayout2.xml"/><Relationship Id="rId6" Type="http://schemas.openxmlformats.org/officeDocument/2006/relationships/image" Target="../media/image31.jpeg"/><Relationship Id="rId5" Type="http://schemas.openxmlformats.org/officeDocument/2006/relationships/image" Target="../media/image35.jpeg"/><Relationship Id="rId4" Type="http://schemas.openxmlformats.org/officeDocument/2006/relationships/image" Target="../media/image34.png"/></Relationships>
</file>

<file path=ppt/slides/_rels/slide28.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7.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39.gif"/><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oleObject" Target="../embeddings/oleObject14.bin"/></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oleObject" Target="../embeddings/oleObject23.bin"/><Relationship Id="rId18" Type="http://schemas.openxmlformats.org/officeDocument/2006/relationships/oleObject" Target="../embeddings/oleObject28.bin"/><Relationship Id="rId3" Type="http://schemas.openxmlformats.org/officeDocument/2006/relationships/image" Target="../media/image56.emf"/><Relationship Id="rId21" Type="http://schemas.openxmlformats.org/officeDocument/2006/relationships/oleObject" Target="../embeddings/oleObject31.bin"/><Relationship Id="rId7" Type="http://schemas.openxmlformats.org/officeDocument/2006/relationships/oleObject" Target="../embeddings/oleObject18.bin"/><Relationship Id="rId12" Type="http://schemas.openxmlformats.org/officeDocument/2006/relationships/slide" Target="slide34.xml"/><Relationship Id="rId17" Type="http://schemas.openxmlformats.org/officeDocument/2006/relationships/oleObject" Target="../embeddings/oleObject27.bin"/><Relationship Id="rId2" Type="http://schemas.openxmlformats.org/officeDocument/2006/relationships/slideLayout" Target="../slideLayouts/slideLayout7.xml"/><Relationship Id="rId16" Type="http://schemas.openxmlformats.org/officeDocument/2006/relationships/oleObject" Target="../embeddings/oleObject26.bin"/><Relationship Id="rId20" Type="http://schemas.openxmlformats.org/officeDocument/2006/relationships/oleObject" Target="../embeddings/oleObject30.bin"/><Relationship Id="rId1" Type="http://schemas.openxmlformats.org/officeDocument/2006/relationships/vmlDrawing" Target="../drawings/vmlDrawing8.vml"/><Relationship Id="rId6" Type="http://schemas.openxmlformats.org/officeDocument/2006/relationships/oleObject" Target="../embeddings/oleObject17.bin"/><Relationship Id="rId11" Type="http://schemas.openxmlformats.org/officeDocument/2006/relationships/oleObject" Target="../embeddings/oleObject22.bin"/><Relationship Id="rId5" Type="http://schemas.openxmlformats.org/officeDocument/2006/relationships/oleObject" Target="../embeddings/oleObject16.bin"/><Relationship Id="rId15" Type="http://schemas.openxmlformats.org/officeDocument/2006/relationships/oleObject" Target="../embeddings/oleObject25.bin"/><Relationship Id="rId10" Type="http://schemas.openxmlformats.org/officeDocument/2006/relationships/oleObject" Target="../embeddings/oleObject21.bin"/><Relationship Id="rId19" Type="http://schemas.openxmlformats.org/officeDocument/2006/relationships/oleObject" Target="../embeddings/oleObject29.bin"/><Relationship Id="rId4" Type="http://schemas.openxmlformats.org/officeDocument/2006/relationships/oleObject" Target="../embeddings/oleObject15.bin"/><Relationship Id="rId9" Type="http://schemas.openxmlformats.org/officeDocument/2006/relationships/oleObject" Target="../embeddings/oleObject20.bin"/><Relationship Id="rId14" Type="http://schemas.openxmlformats.org/officeDocument/2006/relationships/oleObject" Target="../embeddings/oleObject24.bin"/><Relationship Id="rId22" Type="http://schemas.openxmlformats.org/officeDocument/2006/relationships/oleObject" Target="../embeddings/oleObject32.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7.xml"/><Relationship Id="rId1" Type="http://schemas.openxmlformats.org/officeDocument/2006/relationships/vmlDrawing" Target="../drawings/vmlDrawing9.vml"/><Relationship Id="rId5" Type="http://schemas.openxmlformats.org/officeDocument/2006/relationships/oleObject" Target="../embeddings/oleObject35.bin"/><Relationship Id="rId4" Type="http://schemas.openxmlformats.org/officeDocument/2006/relationships/oleObject" Target="../embeddings/oleObject34.bin"/></Relationships>
</file>

<file path=ppt/slides/_rels/slide36.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10.vml"/><Relationship Id="rId5" Type="http://schemas.openxmlformats.org/officeDocument/2006/relationships/image" Target="../media/image63.jpeg"/><Relationship Id="rId4" Type="http://schemas.openxmlformats.org/officeDocument/2006/relationships/oleObject" Target="../embeddings/oleObject37.bin"/></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38.bin"/><Relationship Id="rId7" Type="http://schemas.openxmlformats.org/officeDocument/2006/relationships/oleObject" Target="../embeddings/oleObject42.bin"/><Relationship Id="rId2" Type="http://schemas.openxmlformats.org/officeDocument/2006/relationships/slideLayout" Target="../slideLayouts/slideLayout7.xml"/><Relationship Id="rId1" Type="http://schemas.openxmlformats.org/officeDocument/2006/relationships/vmlDrawing" Target="../drawings/vmlDrawing11.vml"/><Relationship Id="rId6" Type="http://schemas.openxmlformats.org/officeDocument/2006/relationships/oleObject" Target="../embeddings/oleObject41.bin"/><Relationship Id="rId5" Type="http://schemas.openxmlformats.org/officeDocument/2006/relationships/oleObject" Target="../embeddings/oleObject40.bin"/><Relationship Id="rId4" Type="http://schemas.openxmlformats.org/officeDocument/2006/relationships/oleObject" Target="../embeddings/oleObject39.bin"/></Relationships>
</file>

<file path=ppt/slides/_rels/slide39.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6.xml"/><Relationship Id="rId1" Type="http://schemas.openxmlformats.org/officeDocument/2006/relationships/vmlDrawing" Target="../drawings/vmlDrawing12.vml"/><Relationship Id="rId6" Type="http://schemas.openxmlformats.org/officeDocument/2006/relationships/oleObject" Target="../embeddings/oleObject46.bin"/><Relationship Id="rId5" Type="http://schemas.openxmlformats.org/officeDocument/2006/relationships/oleObject" Target="../embeddings/oleObject45.bin"/><Relationship Id="rId4" Type="http://schemas.openxmlformats.org/officeDocument/2006/relationships/oleObject" Target="../embeddings/oleObject44.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47.bin"/><Relationship Id="rId2" Type="http://schemas.openxmlformats.org/officeDocument/2006/relationships/slideLayout" Target="../slideLayouts/slideLayout7.xml"/><Relationship Id="rId1" Type="http://schemas.openxmlformats.org/officeDocument/2006/relationships/vmlDrawing" Target="../drawings/vmlDrawing13.vml"/><Relationship Id="rId6" Type="http://schemas.openxmlformats.org/officeDocument/2006/relationships/oleObject" Target="../embeddings/oleObject50.bin"/><Relationship Id="rId5" Type="http://schemas.openxmlformats.org/officeDocument/2006/relationships/oleObject" Target="../embeddings/oleObject49.bin"/><Relationship Id="rId4" Type="http://schemas.openxmlformats.org/officeDocument/2006/relationships/oleObject" Target="../embeddings/oleObject48.bin"/></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51.bin"/><Relationship Id="rId2" Type="http://schemas.openxmlformats.org/officeDocument/2006/relationships/slideLayout" Target="../slideLayouts/slideLayout2.xml"/><Relationship Id="rId1" Type="http://schemas.openxmlformats.org/officeDocument/2006/relationships/vmlDrawing" Target="../drawings/vmlDrawing14.vml"/></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15.vml"/><Relationship Id="rId6" Type="http://schemas.openxmlformats.org/officeDocument/2006/relationships/oleObject" Target="../embeddings/oleObject55.bin"/><Relationship Id="rId5" Type="http://schemas.openxmlformats.org/officeDocument/2006/relationships/oleObject" Target="../embeddings/oleObject54.bin"/><Relationship Id="rId4" Type="http://schemas.openxmlformats.org/officeDocument/2006/relationships/oleObject" Target="../embeddings/oleObject53.bin"/></Relationships>
</file>

<file path=ppt/slides/_rels/slide43.xml.rels><?xml version="1.0" encoding="UTF-8" standalone="yes"?>
<Relationships xmlns="http://schemas.openxmlformats.org/package/2006/relationships"><Relationship Id="rId8" Type="http://schemas.openxmlformats.org/officeDocument/2006/relationships/oleObject" Target="../embeddings/oleObject61.bin"/><Relationship Id="rId3" Type="http://schemas.openxmlformats.org/officeDocument/2006/relationships/oleObject" Target="../embeddings/oleObject56.bin"/><Relationship Id="rId7" Type="http://schemas.openxmlformats.org/officeDocument/2006/relationships/oleObject" Target="../embeddings/oleObject60.bin"/><Relationship Id="rId2" Type="http://schemas.openxmlformats.org/officeDocument/2006/relationships/slideLayout" Target="../slideLayouts/slideLayout7.xml"/><Relationship Id="rId1" Type="http://schemas.openxmlformats.org/officeDocument/2006/relationships/vmlDrawing" Target="../drawings/vmlDrawing16.vml"/><Relationship Id="rId6" Type="http://schemas.openxmlformats.org/officeDocument/2006/relationships/oleObject" Target="../embeddings/oleObject59.bin"/><Relationship Id="rId5" Type="http://schemas.openxmlformats.org/officeDocument/2006/relationships/oleObject" Target="../embeddings/oleObject58.bin"/><Relationship Id="rId4" Type="http://schemas.openxmlformats.org/officeDocument/2006/relationships/oleObject" Target="../embeddings/oleObject57.bin"/><Relationship Id="rId9" Type="http://schemas.openxmlformats.org/officeDocument/2006/relationships/oleObject" Target="../embeddings/oleObject62.bin"/></Relationships>
</file>

<file path=ppt/slides/_rels/slide44.xml.rels><?xml version="1.0" encoding="UTF-8" standalone="yes"?>
<Relationships xmlns="http://schemas.openxmlformats.org/package/2006/relationships"><Relationship Id="rId2" Type="http://schemas.openxmlformats.org/officeDocument/2006/relationships/slide" Target="slide46.xml"/><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88.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89.jpe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63.bin"/><Relationship Id="rId2" Type="http://schemas.openxmlformats.org/officeDocument/2006/relationships/slideLayout" Target="../slideLayouts/slideLayout2.xml"/><Relationship Id="rId1" Type="http://schemas.openxmlformats.org/officeDocument/2006/relationships/vmlDrawing" Target="../drawings/vmlDrawing17.vml"/></Relationships>
</file>

<file path=ppt/slides/_rels/slide52.xml.rels><?xml version="1.0" encoding="UTF-8" standalone="yes"?>
<Relationships xmlns="http://schemas.openxmlformats.org/package/2006/relationships"><Relationship Id="rId2" Type="http://schemas.openxmlformats.org/officeDocument/2006/relationships/image" Target="../media/image92.jpe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3" Type="http://schemas.openxmlformats.org/officeDocument/2006/relationships/oleObject" Target="../embeddings/oleObject64.bin"/><Relationship Id="rId7" Type="http://schemas.openxmlformats.org/officeDocument/2006/relationships/image" Target="../media/image98.png"/><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oleObject" Target="../embeddings/oleObject67.bin"/><Relationship Id="rId5" Type="http://schemas.openxmlformats.org/officeDocument/2006/relationships/oleObject" Target="../embeddings/oleObject66.bin"/><Relationship Id="rId4" Type="http://schemas.openxmlformats.org/officeDocument/2006/relationships/oleObject" Target="../embeddings/oleObject65.bin"/></Relationships>
</file>

<file path=ppt/slides/_rels/slide55.xml.rels><?xml version="1.0" encoding="UTF-8" standalone="yes"?>
<Relationships xmlns="http://schemas.openxmlformats.org/package/2006/relationships"><Relationship Id="rId3" Type="http://schemas.openxmlformats.org/officeDocument/2006/relationships/image" Target="../media/image100.jpeg"/><Relationship Id="rId2" Type="http://schemas.openxmlformats.org/officeDocument/2006/relationships/image" Target="../media/image99.jpeg"/><Relationship Id="rId1" Type="http://schemas.openxmlformats.org/officeDocument/2006/relationships/slideLayout" Target="../slideLayouts/slideLayout2.xml"/><Relationship Id="rId4" Type="http://schemas.openxmlformats.org/officeDocument/2006/relationships/slide" Target="slide1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101.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10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104.jpeg"/><Relationship Id="rId2" Type="http://schemas.openxmlformats.org/officeDocument/2006/relationships/image" Target="../media/image103.jpe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slideLayout" Target="../slideLayouts/slideLayout2.xml"/><Relationship Id="rId1" Type="http://schemas.openxmlformats.org/officeDocument/2006/relationships/vmlDrawing" Target="../drawings/vmlDrawing19.vml"/><Relationship Id="rId5" Type="http://schemas.openxmlformats.org/officeDocument/2006/relationships/oleObject" Target="../embeddings/oleObject68.bin"/><Relationship Id="rId4" Type="http://schemas.openxmlformats.org/officeDocument/2006/relationships/image" Target="../media/image107.png"/></Relationships>
</file>

<file path=ppt/slides/_rels/slide62.xml.rels><?xml version="1.0" encoding="UTF-8" standalone="yes"?>
<Relationships xmlns="http://schemas.openxmlformats.org/package/2006/relationships"><Relationship Id="rId3" Type="http://schemas.openxmlformats.org/officeDocument/2006/relationships/image" Target="../media/image112.png"/><Relationship Id="rId7" Type="http://schemas.openxmlformats.org/officeDocument/2006/relationships/oleObject" Target="../embeddings/oleObject72.bin"/><Relationship Id="rId2" Type="http://schemas.openxmlformats.org/officeDocument/2006/relationships/slideLayout" Target="../slideLayouts/slideLayout7.xml"/><Relationship Id="rId1" Type="http://schemas.openxmlformats.org/officeDocument/2006/relationships/vmlDrawing" Target="../drawings/vmlDrawing20.vml"/><Relationship Id="rId6" Type="http://schemas.openxmlformats.org/officeDocument/2006/relationships/oleObject" Target="../embeddings/oleObject71.bin"/><Relationship Id="rId5" Type="http://schemas.openxmlformats.org/officeDocument/2006/relationships/oleObject" Target="../embeddings/oleObject70.bin"/><Relationship Id="rId4" Type="http://schemas.openxmlformats.org/officeDocument/2006/relationships/oleObject" Target="../embeddings/oleObject69.bin"/></Relationships>
</file>

<file path=ppt/slides/_rels/slide63.xml.rels><?xml version="1.0" encoding="UTF-8" standalone="yes"?>
<Relationships xmlns="http://schemas.openxmlformats.org/package/2006/relationships"><Relationship Id="rId3" Type="http://schemas.openxmlformats.org/officeDocument/2006/relationships/oleObject" Target="../embeddings/oleObject73.bin"/><Relationship Id="rId7" Type="http://schemas.openxmlformats.org/officeDocument/2006/relationships/oleObject" Target="../embeddings/oleObject77.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oleObject" Target="../embeddings/oleObject76.bin"/><Relationship Id="rId5" Type="http://schemas.openxmlformats.org/officeDocument/2006/relationships/oleObject" Target="../embeddings/oleObject75.bin"/><Relationship Id="rId4" Type="http://schemas.openxmlformats.org/officeDocument/2006/relationships/oleObject" Target="../embeddings/oleObject74.bin"/></Relationships>
</file>

<file path=ppt/slides/_rels/slide64.xml.rels><?xml version="1.0" encoding="UTF-8" standalone="yes"?>
<Relationships xmlns="http://schemas.openxmlformats.org/package/2006/relationships"><Relationship Id="rId2" Type="http://schemas.openxmlformats.org/officeDocument/2006/relationships/image" Target="../media/image118.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119.jpe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78.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123.png"/><Relationship Id="rId5" Type="http://schemas.openxmlformats.org/officeDocument/2006/relationships/image" Target="../media/image122.png"/><Relationship Id="rId4" Type="http://schemas.openxmlformats.org/officeDocument/2006/relationships/image" Target="../media/image121.png"/></Relationships>
</file>

<file path=ppt/slides/_rels/slide67.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slide" Target="slide71.xml"/><Relationship Id="rId2" Type="http://schemas.openxmlformats.org/officeDocument/2006/relationships/slide" Target="slide64.xml"/><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127.jpeg"/><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28.jpeg"/><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oleObject" Target="../embeddings/oleObject79.bin"/><Relationship Id="rId2" Type="http://schemas.openxmlformats.org/officeDocument/2006/relationships/slideLayout" Target="../slideLayouts/slideLayout2.xml"/><Relationship Id="rId1" Type="http://schemas.openxmlformats.org/officeDocument/2006/relationships/vmlDrawing" Target="../drawings/vmlDrawing23.vml"/><Relationship Id="rId5" Type="http://schemas.openxmlformats.org/officeDocument/2006/relationships/image" Target="../media/image134.jpeg"/><Relationship Id="rId4" Type="http://schemas.openxmlformats.org/officeDocument/2006/relationships/oleObject" Target="../embeddings/oleObject80.bin"/></Relationships>
</file>

<file path=ppt/slides/_rels/slide80.xml.rels><?xml version="1.0" encoding="UTF-8" standalone="yes"?>
<Relationships xmlns="http://schemas.openxmlformats.org/package/2006/relationships"><Relationship Id="rId3" Type="http://schemas.openxmlformats.org/officeDocument/2006/relationships/oleObject" Target="../embeddings/oleObject81.bin"/><Relationship Id="rId2" Type="http://schemas.openxmlformats.org/officeDocument/2006/relationships/slideLayout" Target="../slideLayouts/slideLayout2.xml"/><Relationship Id="rId1" Type="http://schemas.openxmlformats.org/officeDocument/2006/relationships/vmlDrawing" Target="../drawings/vmlDrawing24.vml"/><Relationship Id="rId5" Type="http://schemas.openxmlformats.org/officeDocument/2006/relationships/image" Target="../media/image137.jpeg"/><Relationship Id="rId4" Type="http://schemas.openxmlformats.org/officeDocument/2006/relationships/oleObject" Target="../embeddings/oleObject82.bin"/></Relationships>
</file>

<file path=ppt/slides/_rels/slide81.xml.rels><?xml version="1.0" encoding="UTF-8" standalone="yes"?>
<Relationships xmlns="http://schemas.openxmlformats.org/package/2006/relationships"><Relationship Id="rId2" Type="http://schemas.openxmlformats.org/officeDocument/2006/relationships/image" Target="../media/image138.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139.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image" Target="../media/image140.jpe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142.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143.jpe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144.jpe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3" Type="http://schemas.openxmlformats.org/officeDocument/2006/relationships/image" Target="../media/image146.jpeg"/><Relationship Id="rId2" Type="http://schemas.openxmlformats.org/officeDocument/2006/relationships/image" Target="../media/image145.jpe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148.jpeg"/><Relationship Id="rId2" Type="http://schemas.openxmlformats.org/officeDocument/2006/relationships/slideLayout" Target="../slideLayouts/slideLayout2.xml"/><Relationship Id="rId1" Type="http://schemas.openxmlformats.org/officeDocument/2006/relationships/vmlDrawing" Target="../drawings/vmlDrawing25.vml"/><Relationship Id="rId4" Type="http://schemas.openxmlformats.org/officeDocument/2006/relationships/oleObject" Target="../embeddings/oleObject83.bin"/></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84.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image" Target="../media/image152.png"/><Relationship Id="rId5" Type="http://schemas.openxmlformats.org/officeDocument/2006/relationships/image" Target="../media/image151.png"/><Relationship Id="rId4" Type="http://schemas.openxmlformats.org/officeDocument/2006/relationships/image" Target="../media/image150.jpeg"/></Relationships>
</file>

<file path=ppt/slides/_rels/slide90.xml.rels><?xml version="1.0" encoding="UTF-8" standalone="yes"?>
<Relationships xmlns="http://schemas.openxmlformats.org/package/2006/relationships"><Relationship Id="rId3" Type="http://schemas.openxmlformats.org/officeDocument/2006/relationships/image" Target="../media/image154.jpeg"/><Relationship Id="rId2" Type="http://schemas.openxmlformats.org/officeDocument/2006/relationships/image" Target="../media/image153.jpe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image" Target="../media/image155.jpe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85.bin"/><Relationship Id="rId2" Type="http://schemas.openxmlformats.org/officeDocument/2006/relationships/slideLayout" Target="../slideLayouts/slideLayout7.xml"/><Relationship Id="rId1" Type="http://schemas.openxmlformats.org/officeDocument/2006/relationships/vmlDrawing" Target="../drawings/vmlDrawing27.vml"/><Relationship Id="rId5" Type="http://schemas.openxmlformats.org/officeDocument/2006/relationships/image" Target="../media/image159.jpeg"/><Relationship Id="rId4" Type="http://schemas.openxmlformats.org/officeDocument/2006/relationships/image" Target="../media/image158.jpeg"/></Relationships>
</file>

<file path=ppt/slides/_rels/slide93.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jpeg"/><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image" Target="../media/image163.jpeg"/><Relationship Id="rId2" Type="http://schemas.openxmlformats.org/officeDocument/2006/relationships/image" Target="../media/image162.jpeg"/><Relationship Id="rId1" Type="http://schemas.openxmlformats.org/officeDocument/2006/relationships/slideLayout" Target="../slideLayouts/slideLayout2.xml"/><Relationship Id="rId5" Type="http://schemas.openxmlformats.org/officeDocument/2006/relationships/image" Target="../media/image164.png"/><Relationship Id="rId4" Type="http://schemas.openxmlformats.org/officeDocument/2006/relationships/slide" Target="slide59.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1</a:t>
            </a:fld>
            <a:endParaRPr lang="zh-CN" altLang="en-US" dirty="0"/>
          </a:p>
        </p:txBody>
      </p:sp>
      <p:sp>
        <p:nvSpPr>
          <p:cNvPr id="6" name="标题 1"/>
          <p:cNvSpPr txBox="1">
            <a:spLocks/>
          </p:cNvSpPr>
          <p:nvPr/>
        </p:nvSpPr>
        <p:spPr bwMode="auto">
          <a:xfrm>
            <a:off x="1371600" y="908720"/>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i="0" u="none" strike="noStrike" kern="0" cap="none" spc="0" normalizeH="0" baseline="0" noProof="0" dirty="0" smtClean="0">
                <a:ln>
                  <a:noFill/>
                </a:ln>
                <a:solidFill>
                  <a:schemeClr val="tx2"/>
                </a:solidFill>
                <a:effectLst/>
                <a:uLnTx/>
                <a:uFillTx/>
                <a:latin typeface="+mj-lt"/>
                <a:ea typeface="+mj-ea"/>
                <a:cs typeface="+mj-cs"/>
              </a:rPr>
              <a:t>6</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时序逻辑电路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
        <p:nvSpPr>
          <p:cNvPr id="8" name="副标题 2"/>
          <p:cNvSpPr txBox="1">
            <a:spLocks/>
          </p:cNvSpPr>
          <p:nvPr/>
        </p:nvSpPr>
        <p:spPr bwMode="auto">
          <a:xfrm>
            <a:off x="467544" y="2132856"/>
            <a:ext cx="8208912" cy="432048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noAutofit/>
          </a:bodyPr>
          <a:lstStyle/>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教材编著： 戚金清  （大连理工大学）</a:t>
            </a: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   </a:t>
            </a:r>
            <a:endParaRPr kumimoji="1"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原始课件制作：王瑞娟  （郑州大学） </a:t>
            </a: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课件编辑修改：杨晓东  （郑州大学）</a:t>
            </a: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endParaRPr kumimoji="1" lang="en-US" altLang="zh-CN" sz="2800" b="1" i="0" u="none" strike="noStrike" kern="0" cap="none" spc="0" normalizeH="0" baseline="0" noProof="0" dirty="0" smtClean="0">
              <a:ln>
                <a:noFill/>
              </a:ln>
              <a:solidFill>
                <a:schemeClr val="tx1"/>
              </a:solidFill>
              <a:effectLst/>
              <a:uLnTx/>
              <a:uFillTx/>
              <a:latin typeface="+mn-lt"/>
              <a:ea typeface="+mn-ea"/>
              <a:cs typeface="+mn-cs"/>
            </a:endParaRPr>
          </a:p>
          <a:p>
            <a:pPr marL="342900" marR="0" lvl="0" indent="-342900" algn="l" defTabSz="914400" rtl="0" eaLnBrk="1" fontAlgn="base" latinLnBrk="0" hangingPunct="1">
              <a:lnSpc>
                <a:spcPts val="2880"/>
              </a:lnSpc>
              <a:spcBef>
                <a:spcPct val="20000"/>
              </a:spcBef>
              <a:spcAft>
                <a:spcPct val="0"/>
              </a:spcAft>
              <a:buClr>
                <a:schemeClr val="folHlink"/>
              </a:buClr>
              <a:buSzPct val="60000"/>
              <a:tabLst/>
              <a:defRPr/>
            </a:pPr>
            <a:r>
              <a:rPr kumimoji="1" lang="zh-CN" altLang="en-US" sz="2800" b="1" i="0" u="none" strike="noStrike" kern="0" cap="none" spc="0" normalizeH="0" baseline="0" noProof="0" dirty="0" smtClean="0">
                <a:ln>
                  <a:noFill/>
                </a:ln>
                <a:solidFill>
                  <a:schemeClr val="tx1"/>
                </a:solidFill>
                <a:effectLst/>
                <a:uLnTx/>
                <a:uFillTx/>
                <a:latin typeface="+mn-lt"/>
                <a:ea typeface="+mn-ea"/>
                <a:cs typeface="+mn-cs"/>
              </a:rPr>
              <a:t>授课教师：杨晓东</a:t>
            </a:r>
            <a:endParaRPr kumimoji="1" lang="en-US" altLang="zh-CN" sz="2800" b="1" i="0" u="none" strike="noStrike" kern="0" cap="none" spc="0" normalizeH="0" baseline="0" noProof="0" dirty="0">
              <a:ln>
                <a:noFill/>
              </a:ln>
              <a:solidFill>
                <a:schemeClr val="tx1"/>
              </a:solidFill>
              <a:effectLst/>
              <a:uLnTx/>
              <a:uFillTx/>
              <a:latin typeface="+mn-lt"/>
              <a:ea typeface="+mn-ea"/>
              <a:cs typeface="+mn-cs"/>
            </a:endParaRPr>
          </a:p>
        </p:txBody>
      </p:sp>
    </p:spTree>
    <p:extLst>
      <p:ext uri="{BB962C8B-B14F-4D97-AF65-F5344CB8AC3E}">
        <p14:creationId xmlns="" xmlns:p14="http://schemas.microsoft.com/office/powerpoint/2010/main" val="337875439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主要</a:t>
            </a:r>
            <a:r>
              <a:rPr lang="zh-CN" altLang="en-US" dirty="0" smtClean="0"/>
              <a:t>内容</a:t>
            </a:r>
            <a:endParaRPr lang="zh-CN" altLang="en-US" dirty="0"/>
          </a:p>
        </p:txBody>
      </p:sp>
      <p:sp>
        <p:nvSpPr>
          <p:cNvPr id="3" name="内容占位符 2"/>
          <p:cNvSpPr>
            <a:spLocks noGrp="1"/>
          </p:cNvSpPr>
          <p:nvPr>
            <p:ph idx="1"/>
          </p:nvPr>
        </p:nvSpPr>
        <p:spPr>
          <a:xfrm>
            <a:off x="395536" y="1988840"/>
            <a:ext cx="8559552" cy="4608512"/>
          </a:xfrm>
        </p:spPr>
        <p:txBody>
          <a:bodyPr/>
          <a:lstStyle/>
          <a:p>
            <a:pPr>
              <a:lnSpc>
                <a:spcPct val="100000"/>
              </a:lnSpc>
              <a:spcBef>
                <a:spcPts val="600"/>
              </a:spcBef>
              <a:buSzPct val="100000"/>
              <a:buFont typeface="Wingdings" pitchFamily="2" charset="2"/>
              <a:buChar char="p"/>
            </a:pPr>
            <a:r>
              <a:rPr lang="en-US" altLang="zh-CN" sz="2800" dirty="0" smtClean="0"/>
              <a:t>6.1 </a:t>
            </a:r>
            <a:r>
              <a:rPr lang="zh-CN" altLang="en-US" sz="2800" dirty="0" smtClean="0"/>
              <a:t>时序逻辑电路的基本概念</a:t>
            </a:r>
            <a:endParaRPr lang="zh-CN" altLang="en-US" sz="2800" dirty="0"/>
          </a:p>
          <a:p>
            <a:pPr>
              <a:lnSpc>
                <a:spcPct val="100000"/>
              </a:lnSpc>
              <a:spcBef>
                <a:spcPts val="600"/>
              </a:spcBef>
              <a:buSzPct val="100000"/>
              <a:buFont typeface="Wingdings" pitchFamily="2" charset="2"/>
              <a:buChar char="p"/>
            </a:pPr>
            <a:r>
              <a:rPr lang="en-US" altLang="zh-CN" sz="2800" dirty="0" smtClean="0"/>
              <a:t>6.2 </a:t>
            </a:r>
            <a:r>
              <a:rPr lang="zh-CN" altLang="en-US" sz="2800" dirty="0" smtClean="0"/>
              <a:t>同步时序逻辑电路的一般分析方法</a:t>
            </a:r>
            <a:endParaRPr lang="zh-CN" altLang="en-US" sz="2800" dirty="0"/>
          </a:p>
          <a:p>
            <a:pPr>
              <a:lnSpc>
                <a:spcPct val="100000"/>
              </a:lnSpc>
              <a:spcBef>
                <a:spcPts val="600"/>
              </a:spcBef>
              <a:buSzPct val="100000"/>
              <a:buFont typeface="Wingdings" pitchFamily="2" charset="2"/>
              <a:buChar char="p"/>
            </a:pPr>
            <a:r>
              <a:rPr lang="en-US" altLang="zh-CN" sz="2800" dirty="0" smtClean="0"/>
              <a:t>6.3 </a:t>
            </a:r>
            <a:r>
              <a:rPr lang="zh-CN" altLang="en-US" sz="2800" dirty="0" smtClean="0"/>
              <a:t>同步时序</a:t>
            </a:r>
            <a:r>
              <a:rPr lang="zh-CN" altLang="en-US" sz="2800" dirty="0"/>
              <a:t>逻辑电路的</a:t>
            </a:r>
            <a:r>
              <a:rPr lang="zh-CN" altLang="en-US" sz="2800" dirty="0" smtClean="0"/>
              <a:t>设计</a:t>
            </a:r>
            <a:endParaRPr lang="en-US" altLang="zh-CN" sz="2800" dirty="0" smtClean="0"/>
          </a:p>
          <a:p>
            <a:pPr>
              <a:lnSpc>
                <a:spcPct val="100000"/>
              </a:lnSpc>
              <a:spcBef>
                <a:spcPts val="600"/>
              </a:spcBef>
              <a:buSzPct val="100000"/>
              <a:buFont typeface="Wingdings" pitchFamily="2" charset="2"/>
              <a:buChar char="p"/>
            </a:pPr>
            <a:r>
              <a:rPr lang="en-US" altLang="zh-CN" sz="2800" dirty="0" smtClean="0"/>
              <a:t>6.4 </a:t>
            </a:r>
            <a:r>
              <a:rPr lang="zh-CN" altLang="en-US" sz="2800" dirty="0" smtClean="0"/>
              <a:t>计数器</a:t>
            </a:r>
            <a:endParaRPr lang="zh-CN" altLang="en-US" sz="2800" dirty="0"/>
          </a:p>
          <a:p>
            <a:pPr>
              <a:lnSpc>
                <a:spcPct val="100000"/>
              </a:lnSpc>
              <a:spcBef>
                <a:spcPts val="600"/>
              </a:spcBef>
              <a:buSzPct val="100000"/>
              <a:buFont typeface="Wingdings" pitchFamily="2" charset="2"/>
              <a:buChar char="p"/>
            </a:pPr>
            <a:r>
              <a:rPr lang="en-US" altLang="zh-CN" sz="2800" dirty="0" smtClean="0"/>
              <a:t>6.5 </a:t>
            </a:r>
            <a:r>
              <a:rPr lang="zh-CN" altLang="en-US" sz="2800" dirty="0" smtClean="0"/>
              <a:t>寄存器</a:t>
            </a:r>
            <a:endParaRPr lang="zh-CN" altLang="en-US" sz="2800"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a:t>
            </a:fld>
            <a:endParaRPr lang="zh-CN" altLang="en-US"/>
          </a:p>
        </p:txBody>
      </p:sp>
      <p:sp>
        <p:nvSpPr>
          <p:cNvPr id="5" name="标题 1"/>
          <p:cNvSpPr txBox="1">
            <a:spLocks/>
          </p:cNvSpPr>
          <p:nvPr/>
        </p:nvSpPr>
        <p:spPr bwMode="auto">
          <a:xfrm>
            <a:off x="1115616" y="260648"/>
            <a:ext cx="7016824" cy="638944"/>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第</a:t>
            </a:r>
            <a:r>
              <a:rPr kumimoji="1" lang="en-US" altLang="zh-CN" sz="3600" b="1" i="0" u="none" strike="noStrike" kern="0" cap="none" spc="0" normalizeH="0" baseline="0" noProof="0" dirty="0" smtClean="0">
                <a:ln>
                  <a:noFill/>
                </a:ln>
                <a:solidFill>
                  <a:schemeClr val="tx2"/>
                </a:solidFill>
                <a:effectLst/>
                <a:uLnTx/>
                <a:uFillTx/>
                <a:latin typeface="+mj-lt"/>
                <a:ea typeface="+mj-ea"/>
                <a:cs typeface="+mj-cs"/>
              </a:rPr>
              <a:t>6</a:t>
            </a:r>
            <a:r>
              <a:rPr kumimoji="1" lang="zh-CN" altLang="en-US" sz="3600" b="1" i="0" u="none" strike="noStrike" kern="0" cap="none" spc="0" normalizeH="0" baseline="0" noProof="0" dirty="0" smtClean="0">
                <a:ln>
                  <a:noFill/>
                </a:ln>
                <a:solidFill>
                  <a:schemeClr val="tx2"/>
                </a:solidFill>
                <a:effectLst/>
                <a:uLnTx/>
                <a:uFillTx/>
                <a:latin typeface="+mj-lt"/>
                <a:ea typeface="+mj-ea"/>
                <a:cs typeface="+mj-cs"/>
              </a:rPr>
              <a:t>章　时序逻辑电路</a:t>
            </a:r>
            <a:endParaRPr kumimoji="1" lang="zh-CN" altLang="en-US" sz="36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62638477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124744"/>
            <a:ext cx="7560840" cy="566936"/>
          </a:xfrm>
        </p:spPr>
        <p:txBody>
          <a:bodyPr/>
          <a:lstStyle/>
          <a:p>
            <a:r>
              <a:rPr lang="en-US" altLang="zh-CN" dirty="0" smtClean="0"/>
              <a:t>6.1.1 </a:t>
            </a:r>
            <a:r>
              <a:rPr lang="zh-CN" altLang="en-US" dirty="0" smtClean="0"/>
              <a:t>时序逻辑电路的结构与特点</a:t>
            </a:r>
            <a:endParaRPr lang="zh-CN" altLang="en-US" dirty="0"/>
          </a:p>
        </p:txBody>
      </p:sp>
      <p:sp>
        <p:nvSpPr>
          <p:cNvPr id="3" name="内容占位符 2"/>
          <p:cNvSpPr>
            <a:spLocks noGrp="1"/>
          </p:cNvSpPr>
          <p:nvPr>
            <p:ph idx="1"/>
          </p:nvPr>
        </p:nvSpPr>
        <p:spPr>
          <a:xfrm>
            <a:off x="467544" y="1988840"/>
            <a:ext cx="8487544" cy="4608512"/>
          </a:xfrm>
        </p:spPr>
        <p:txBody>
          <a:bodyPr/>
          <a:lstStyle/>
          <a:p>
            <a:pPr>
              <a:buSzPct val="100000"/>
              <a:buFont typeface="Wingdings" pitchFamily="2" charset="2"/>
              <a:buChar char="p"/>
            </a:pPr>
            <a:r>
              <a:rPr lang="zh-CN" altLang="en-US" sz="2800" dirty="0"/>
              <a:t>时序逻辑电路的基本</a:t>
            </a:r>
            <a:r>
              <a:rPr lang="zh-CN" altLang="en-US" sz="2800" dirty="0" smtClean="0"/>
              <a:t>特点</a:t>
            </a:r>
            <a:endParaRPr lang="en-US" altLang="zh-CN" sz="2800" dirty="0" smtClean="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a:t>
            </a:fld>
            <a:endParaRPr lang="zh-CN" altLang="en-US"/>
          </a:p>
        </p:txBody>
      </p:sp>
      <p:pic>
        <p:nvPicPr>
          <p:cNvPr id="116738" name="Picture 2" descr="E:\wrj\课件\数字电路与系统\数字电路与数字系统\tupian\6-2.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4281765" y="2636912"/>
            <a:ext cx="4477500" cy="2880000"/>
          </a:xfrm>
          <a:prstGeom prst="rect">
            <a:avLst/>
          </a:prstGeom>
          <a:noFill/>
          <a:extLst>
            <a:ext uri="{909E8E84-426E-40DD-AFC4-6F175D3DCCD1}">
              <a14:hiddenFill xmlns:a14="http://schemas.microsoft.com/office/drawing/2010/main" xmlns="">
                <a:solidFill>
                  <a:srgbClr val="FFFFFF"/>
                </a:solidFill>
              </a14:hiddenFill>
            </a:ext>
          </a:extLst>
        </p:spPr>
      </p:pic>
      <p:pic>
        <p:nvPicPr>
          <p:cNvPr id="116739" name="Picture 3" descr="E:\wrj\课件\数字电路与系统\数字电路与数字系统\tupian\6-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115616" y="2636912"/>
            <a:ext cx="2382651" cy="2880000"/>
          </a:xfrm>
          <a:prstGeom prst="rect">
            <a:avLst/>
          </a:prstGeom>
          <a:noFill/>
          <a:extLst>
            <a:ext uri="{909E8E84-426E-40DD-AFC4-6F175D3DCCD1}">
              <a14:hiddenFill xmlns:a14="http://schemas.microsoft.com/office/drawing/2010/main" xmlns="">
                <a:solidFill>
                  <a:srgbClr val="FFFFFF"/>
                </a:solidFill>
              </a14:hiddenFill>
            </a:ext>
          </a:extLst>
        </p:spPr>
      </p:pic>
      <p:sp>
        <p:nvSpPr>
          <p:cNvPr id="5" name="矩形 4"/>
          <p:cNvSpPr/>
          <p:nvPr/>
        </p:nvSpPr>
        <p:spPr>
          <a:xfrm>
            <a:off x="1043608" y="5795972"/>
            <a:ext cx="2246128" cy="369332"/>
          </a:xfrm>
          <a:prstGeom prst="rect">
            <a:avLst/>
          </a:prstGeom>
        </p:spPr>
        <p:txBody>
          <a:bodyPr wrap="none">
            <a:spAutoFit/>
          </a:bodyPr>
          <a:lstStyle/>
          <a:p>
            <a:r>
              <a:rPr lang="zh-CN" altLang="en-US" dirty="0" smtClean="0"/>
              <a:t>图</a:t>
            </a:r>
            <a:r>
              <a:rPr lang="en-US" altLang="zh-CN" b="1" dirty="0" smtClean="0"/>
              <a:t>   </a:t>
            </a:r>
            <a:r>
              <a:rPr lang="zh-CN" altLang="en-US" dirty="0"/>
              <a:t>串行加法器电路</a:t>
            </a:r>
          </a:p>
        </p:txBody>
      </p:sp>
      <p:sp>
        <p:nvSpPr>
          <p:cNvPr id="6" name="矩形 5"/>
          <p:cNvSpPr/>
          <p:nvPr/>
        </p:nvSpPr>
        <p:spPr>
          <a:xfrm>
            <a:off x="5059217" y="5783569"/>
            <a:ext cx="2922595" cy="369332"/>
          </a:xfrm>
          <a:prstGeom prst="rect">
            <a:avLst/>
          </a:prstGeom>
        </p:spPr>
        <p:txBody>
          <a:bodyPr wrap="none">
            <a:spAutoFit/>
          </a:bodyPr>
          <a:lstStyle/>
          <a:p>
            <a:r>
              <a:rPr lang="zh-CN" altLang="en-US" dirty="0" smtClean="0"/>
              <a:t>图</a:t>
            </a:r>
            <a:r>
              <a:rPr lang="en-US" altLang="zh-CN" dirty="0" smtClean="0"/>
              <a:t>   </a:t>
            </a:r>
            <a:r>
              <a:rPr lang="zh-CN" altLang="en-US" dirty="0"/>
              <a:t>时序逻辑电路结构框图</a:t>
            </a:r>
          </a:p>
        </p:txBody>
      </p:sp>
      <p:sp>
        <p:nvSpPr>
          <p:cNvPr id="9" name="标题 1"/>
          <p:cNvSpPr txBox="1">
            <a:spLocks/>
          </p:cNvSpPr>
          <p:nvPr/>
        </p:nvSpPr>
        <p:spPr bwMode="auto">
          <a:xfrm>
            <a:off x="1259632" y="332656"/>
            <a:ext cx="7488832"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时序逻辑电路的基本概念</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
        <p:nvSpPr>
          <p:cNvPr id="10" name="矩形 9"/>
          <p:cNvSpPr/>
          <p:nvPr/>
        </p:nvSpPr>
        <p:spPr bwMode="auto">
          <a:xfrm>
            <a:off x="971600" y="2492896"/>
            <a:ext cx="2592288" cy="1368152"/>
          </a:xfrm>
          <a:prstGeom prst="rect">
            <a:avLst/>
          </a:prstGeom>
          <a:noFill/>
          <a:ln w="19050" cap="flat" cmpd="sng" algn="ctr">
            <a:solidFill>
              <a:srgbClr val="0000CC"/>
            </a:solidFill>
            <a:prstDash val="dash"/>
            <a:miter lim="800000"/>
            <a:headEnd type="none" w="med" len="med"/>
            <a:tailEnd type="none" w="med" len="med"/>
          </a:ln>
        </p:spPr>
        <p:txBody>
          <a:bodyPr vert="horz" wrap="square" lIns="90000" tIns="46800" rIns="90000" bIns="4680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1" name="矩形 10"/>
          <p:cNvSpPr/>
          <p:nvPr/>
        </p:nvSpPr>
        <p:spPr bwMode="auto">
          <a:xfrm>
            <a:off x="1043608" y="4365104"/>
            <a:ext cx="2592288" cy="1368152"/>
          </a:xfrm>
          <a:prstGeom prst="rect">
            <a:avLst/>
          </a:prstGeom>
          <a:noFill/>
          <a:ln w="19050" cap="flat" cmpd="sng" algn="ctr">
            <a:solidFill>
              <a:srgbClr val="FF0000"/>
            </a:solidFill>
            <a:prstDash val="dash"/>
            <a:miter lim="800000"/>
            <a:headEnd type="none" w="med" len="med"/>
            <a:tailEnd type="none" w="med" len="med"/>
          </a:ln>
        </p:spPr>
        <p:txBody>
          <a:bodyPr vert="horz" wrap="square" lIns="90000" tIns="46800" rIns="90000" bIns="4680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xmlns="" val="19158343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124744"/>
            <a:ext cx="7560840" cy="566936"/>
          </a:xfrm>
        </p:spPr>
        <p:txBody>
          <a:bodyPr/>
          <a:lstStyle/>
          <a:p>
            <a:r>
              <a:rPr lang="en-US" altLang="zh-CN" dirty="0" smtClean="0"/>
              <a:t>6.1.1 </a:t>
            </a:r>
            <a:r>
              <a:rPr lang="zh-CN" altLang="en-US" dirty="0" smtClean="0"/>
              <a:t>时序逻辑电路的结构与特点</a:t>
            </a:r>
            <a:endParaRPr lang="zh-CN" altLang="en-US" dirty="0"/>
          </a:p>
        </p:txBody>
      </p:sp>
      <p:sp>
        <p:nvSpPr>
          <p:cNvPr id="3" name="内容占位符 2"/>
          <p:cNvSpPr>
            <a:spLocks noGrp="1"/>
          </p:cNvSpPr>
          <p:nvPr>
            <p:ph idx="1"/>
          </p:nvPr>
        </p:nvSpPr>
        <p:spPr>
          <a:xfrm>
            <a:off x="467544" y="1988840"/>
            <a:ext cx="8352928" cy="4608512"/>
          </a:xfrm>
        </p:spPr>
        <p:txBody>
          <a:bodyPr/>
          <a:lstStyle/>
          <a:p>
            <a:pPr lvl="1">
              <a:lnSpc>
                <a:spcPct val="100000"/>
              </a:lnSpc>
              <a:spcBef>
                <a:spcPts val="600"/>
              </a:spcBef>
              <a:buSzPct val="100000"/>
            </a:pPr>
            <a:r>
              <a:rPr lang="zh-CN" altLang="en-US" sz="2400" dirty="0"/>
              <a:t>结构</a:t>
            </a:r>
            <a:r>
              <a:rPr lang="zh-CN" altLang="en-US" sz="2400" dirty="0" smtClean="0"/>
              <a:t>特点</a:t>
            </a:r>
            <a:endParaRPr lang="en-US" altLang="zh-CN" sz="2400" dirty="0" smtClean="0"/>
          </a:p>
          <a:p>
            <a:pPr lvl="2">
              <a:lnSpc>
                <a:spcPct val="100000"/>
              </a:lnSpc>
              <a:spcBef>
                <a:spcPts val="600"/>
              </a:spcBef>
              <a:buClr>
                <a:srgbClr val="0000CC"/>
              </a:buClr>
              <a:buSzPct val="100000"/>
              <a:buFont typeface="Wingdings" pitchFamily="2" charset="2"/>
              <a:buChar char="u"/>
            </a:pPr>
            <a:r>
              <a:rPr lang="zh-CN" altLang="en-US" dirty="0"/>
              <a:t>一般由</a:t>
            </a:r>
            <a:r>
              <a:rPr lang="zh-CN" altLang="en-US" dirty="0">
                <a:solidFill>
                  <a:srgbClr val="0000CC"/>
                </a:solidFill>
              </a:rPr>
              <a:t>组合电路</a:t>
            </a:r>
            <a:r>
              <a:rPr lang="zh-CN" altLang="en-US" dirty="0"/>
              <a:t>和</a:t>
            </a:r>
            <a:r>
              <a:rPr lang="zh-CN" altLang="en-US" dirty="0">
                <a:solidFill>
                  <a:srgbClr val="0000CC"/>
                </a:solidFill>
              </a:rPr>
              <a:t>存储电路</a:t>
            </a:r>
            <a:r>
              <a:rPr lang="zh-CN" altLang="en-US" dirty="0"/>
              <a:t>两部分构成，</a:t>
            </a:r>
            <a:r>
              <a:rPr lang="zh-CN" altLang="en-US" dirty="0" smtClean="0"/>
              <a:t>其中</a:t>
            </a:r>
            <a:r>
              <a:rPr lang="zh-CN" altLang="en-US" dirty="0"/>
              <a:t>存储电路必不可少，且大都为触发器组，</a:t>
            </a:r>
            <a:r>
              <a:rPr lang="zh-CN" altLang="en-US" dirty="0" smtClean="0"/>
              <a:t>用以实现</a:t>
            </a:r>
            <a:r>
              <a:rPr lang="zh-CN" altLang="en-US" dirty="0"/>
              <a:t>“</a:t>
            </a:r>
            <a:r>
              <a:rPr lang="zh-CN" altLang="en-US" dirty="0">
                <a:solidFill>
                  <a:srgbClr val="0000CC"/>
                </a:solidFill>
              </a:rPr>
              <a:t>记忆</a:t>
            </a:r>
            <a:r>
              <a:rPr lang="zh-CN" altLang="en-US" dirty="0"/>
              <a:t>”功能；</a:t>
            </a:r>
          </a:p>
          <a:p>
            <a:pPr lvl="2">
              <a:lnSpc>
                <a:spcPct val="100000"/>
              </a:lnSpc>
              <a:spcBef>
                <a:spcPts val="600"/>
              </a:spcBef>
              <a:buClr>
                <a:srgbClr val="0000CC"/>
              </a:buClr>
              <a:buSzPct val="100000"/>
              <a:buFont typeface="Wingdings" pitchFamily="2" charset="2"/>
              <a:buChar char="u"/>
            </a:pPr>
            <a:r>
              <a:rPr lang="zh-CN" altLang="en-US" dirty="0" smtClean="0"/>
              <a:t>存储</a:t>
            </a:r>
            <a:r>
              <a:rPr lang="zh-CN" altLang="en-US" dirty="0"/>
              <a:t>电路的输出</a:t>
            </a:r>
            <a:r>
              <a:rPr lang="zh-CN" altLang="en-US" dirty="0">
                <a:solidFill>
                  <a:srgbClr val="0000CC"/>
                </a:solidFill>
              </a:rPr>
              <a:t>必须反馈</a:t>
            </a:r>
            <a:r>
              <a:rPr lang="zh-CN" altLang="en-US" dirty="0"/>
              <a:t>到逻辑电路的</a:t>
            </a:r>
            <a:r>
              <a:rPr lang="zh-CN" altLang="en-US" dirty="0" smtClean="0"/>
              <a:t>输入端</a:t>
            </a:r>
            <a:r>
              <a:rPr lang="zh-CN" altLang="en-US" dirty="0"/>
              <a:t>，并与输入信号一起决定组合逻辑电路下一</a:t>
            </a:r>
            <a:r>
              <a:rPr lang="zh-CN" altLang="en-US" dirty="0" smtClean="0"/>
              <a:t>状态</a:t>
            </a:r>
            <a:r>
              <a:rPr lang="zh-CN" altLang="en-US" dirty="0"/>
              <a:t>的输出</a:t>
            </a:r>
            <a:r>
              <a:rPr lang="zh-CN" altLang="en-US" dirty="0" smtClean="0"/>
              <a:t>。</a:t>
            </a:r>
            <a:endParaRPr lang="en-US" altLang="zh-CN" dirty="0" smtClean="0"/>
          </a:p>
          <a:p>
            <a:pPr lvl="1">
              <a:lnSpc>
                <a:spcPct val="100000"/>
              </a:lnSpc>
              <a:spcBef>
                <a:spcPts val="600"/>
              </a:spcBef>
              <a:buSzPct val="100000"/>
            </a:pPr>
            <a:r>
              <a:rPr lang="zh-CN" altLang="en-US" sz="2400" dirty="0" smtClean="0"/>
              <a:t>功能特点</a:t>
            </a:r>
            <a:endParaRPr lang="en-US" altLang="zh-CN" sz="2400" dirty="0" smtClean="0"/>
          </a:p>
          <a:p>
            <a:pPr lvl="2">
              <a:lnSpc>
                <a:spcPct val="100000"/>
              </a:lnSpc>
              <a:spcBef>
                <a:spcPts val="600"/>
              </a:spcBef>
              <a:buClr>
                <a:srgbClr val="0000CC"/>
              </a:buClr>
              <a:buSzPct val="100000"/>
              <a:buFont typeface="Wingdings" pitchFamily="2" charset="2"/>
              <a:buChar char="u"/>
            </a:pPr>
            <a:r>
              <a:rPr lang="zh-CN" altLang="en-US" dirty="0" smtClean="0"/>
              <a:t>任一时刻的输出不仅取决于</a:t>
            </a:r>
            <a:r>
              <a:rPr lang="zh-CN" altLang="en-US" dirty="0" smtClean="0">
                <a:solidFill>
                  <a:srgbClr val="0000CC"/>
                </a:solidFill>
              </a:rPr>
              <a:t>当时的输入信号</a:t>
            </a:r>
            <a:r>
              <a:rPr lang="zh-CN" altLang="en-US" dirty="0" smtClean="0"/>
              <a:t>，而且还取决于</a:t>
            </a:r>
            <a:r>
              <a:rPr lang="zh-CN" altLang="en-US" dirty="0" smtClean="0">
                <a:solidFill>
                  <a:srgbClr val="0000CC"/>
                </a:solidFill>
              </a:rPr>
              <a:t>电路原来的状态</a:t>
            </a:r>
            <a:r>
              <a:rPr lang="zh-CN" altLang="en-US" dirty="0" smtClean="0"/>
              <a:t>，即与以前的输入和输出也有关系；</a:t>
            </a:r>
          </a:p>
          <a:p>
            <a:pPr lvl="2">
              <a:lnSpc>
                <a:spcPct val="100000"/>
              </a:lnSpc>
              <a:spcBef>
                <a:spcPts val="600"/>
              </a:spcBef>
              <a:buClr>
                <a:srgbClr val="0000CC"/>
              </a:buClr>
              <a:buSzPct val="100000"/>
              <a:buFont typeface="Wingdings" pitchFamily="2" charset="2"/>
              <a:buChar char="u"/>
            </a:pPr>
            <a:r>
              <a:rPr lang="zh-CN" altLang="en-US" dirty="0" smtClean="0"/>
              <a:t>时序电路具有</a:t>
            </a:r>
            <a:r>
              <a:rPr lang="zh-CN" altLang="en-US" dirty="0" smtClean="0">
                <a:solidFill>
                  <a:srgbClr val="0000CC"/>
                </a:solidFill>
              </a:rPr>
              <a:t>“记忆”功能</a:t>
            </a:r>
            <a:r>
              <a:rPr lang="zh-CN" altLang="en-US" dirty="0" smtClean="0"/>
              <a:t>。</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4</a:t>
            </a:fld>
            <a:endParaRPr lang="zh-CN" altLang="en-US"/>
          </a:p>
        </p:txBody>
      </p:sp>
      <p:sp>
        <p:nvSpPr>
          <p:cNvPr id="5" name="标题 1"/>
          <p:cNvSpPr txBox="1">
            <a:spLocks/>
          </p:cNvSpPr>
          <p:nvPr/>
        </p:nvSpPr>
        <p:spPr bwMode="auto">
          <a:xfrm>
            <a:off x="1259632" y="332656"/>
            <a:ext cx="7488832"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时序逻辑电路的基本概念</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421578250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124744"/>
            <a:ext cx="7488832" cy="566936"/>
          </a:xfrm>
        </p:spPr>
        <p:txBody>
          <a:bodyPr/>
          <a:lstStyle/>
          <a:p>
            <a:r>
              <a:rPr lang="en-US" altLang="zh-CN" dirty="0" smtClean="0"/>
              <a:t>6.1.1 </a:t>
            </a:r>
            <a:r>
              <a:rPr lang="zh-CN" altLang="en-US" dirty="0" smtClean="0"/>
              <a:t>时序逻辑电路的结构与特点</a:t>
            </a:r>
            <a:endParaRPr lang="zh-CN" altLang="en-US" dirty="0"/>
          </a:p>
        </p:txBody>
      </p:sp>
      <p:sp>
        <p:nvSpPr>
          <p:cNvPr id="3" name="内容占位符 2"/>
          <p:cNvSpPr>
            <a:spLocks noGrp="1"/>
          </p:cNvSpPr>
          <p:nvPr>
            <p:ph idx="1"/>
          </p:nvPr>
        </p:nvSpPr>
        <p:spPr>
          <a:xfrm>
            <a:off x="467544" y="2105472"/>
            <a:ext cx="8487544" cy="4752528"/>
          </a:xfrm>
        </p:spPr>
        <p:txBody>
          <a:bodyPr/>
          <a:lstStyle/>
          <a:p>
            <a:pPr>
              <a:buSzPct val="100000"/>
              <a:buFont typeface="Wingdings" pitchFamily="2" charset="2"/>
              <a:buChar char="p"/>
            </a:pPr>
            <a:r>
              <a:rPr lang="zh-CN" altLang="en-US" sz="2800" dirty="0"/>
              <a:t>时序电路与组合逻辑电路的对比</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5</a:t>
            </a:fld>
            <a:endParaRPr lang="zh-CN" altLang="en-US"/>
          </a:p>
        </p:txBody>
      </p:sp>
      <p:graphicFrame>
        <p:nvGraphicFramePr>
          <p:cNvPr id="5" name="表格 4"/>
          <p:cNvGraphicFramePr>
            <a:graphicFrameLocks noGrp="1"/>
          </p:cNvGraphicFramePr>
          <p:nvPr>
            <p:extLst>
              <p:ext uri="{D42A27DB-BD31-4B8C-83A1-F6EECF244321}">
                <p14:modId xmlns:p14="http://schemas.microsoft.com/office/powerpoint/2010/main" xmlns="" val="2116277689"/>
              </p:ext>
            </p:extLst>
          </p:nvPr>
        </p:nvGraphicFramePr>
        <p:xfrm>
          <a:off x="611560" y="2658656"/>
          <a:ext cx="8208912" cy="4028029"/>
        </p:xfrm>
        <a:graphic>
          <a:graphicData uri="http://schemas.openxmlformats.org/drawingml/2006/table">
            <a:tbl>
              <a:tblPr firstRow="1" bandRow="1">
                <a:tableStyleId>{5C22544A-7EE6-4342-B048-85BDC9FD1C3A}</a:tableStyleId>
              </a:tblPr>
              <a:tblGrid>
                <a:gridCol w="1499019">
                  <a:extLst>
                    <a:ext uri="{9D8B030D-6E8A-4147-A177-3AD203B41FA5}">
                      <a16:colId xmlns:a16="http://schemas.microsoft.com/office/drawing/2014/main" xmlns="" val="20000"/>
                    </a:ext>
                  </a:extLst>
                </a:gridCol>
                <a:gridCol w="2641128">
                  <a:extLst>
                    <a:ext uri="{9D8B030D-6E8A-4147-A177-3AD203B41FA5}">
                      <a16:colId xmlns:a16="http://schemas.microsoft.com/office/drawing/2014/main" xmlns="" val="20001"/>
                    </a:ext>
                  </a:extLst>
                </a:gridCol>
                <a:gridCol w="2070074">
                  <a:extLst>
                    <a:ext uri="{9D8B030D-6E8A-4147-A177-3AD203B41FA5}">
                      <a16:colId xmlns:a16="http://schemas.microsoft.com/office/drawing/2014/main" xmlns="" val="20002"/>
                    </a:ext>
                  </a:extLst>
                </a:gridCol>
                <a:gridCol w="1998691">
                  <a:extLst>
                    <a:ext uri="{9D8B030D-6E8A-4147-A177-3AD203B41FA5}">
                      <a16:colId xmlns:a16="http://schemas.microsoft.com/office/drawing/2014/main" xmlns="" val="20003"/>
                    </a:ext>
                  </a:extLst>
                </a:gridCol>
              </a:tblGrid>
              <a:tr h="695428">
                <a:tc>
                  <a:txBody>
                    <a:bodyPr/>
                    <a:lstStyle/>
                    <a:p>
                      <a:pPr algn="ctr"/>
                      <a:r>
                        <a:rPr lang="zh-CN" altLang="en-US" sz="2000" b="1" dirty="0" smtClean="0"/>
                        <a:t>类型结构</a:t>
                      </a:r>
                      <a:endParaRPr lang="zh-CN" altLang="en-US" sz="2000" b="1" dirty="0"/>
                    </a:p>
                  </a:txBody>
                  <a:tcPr/>
                </a:tc>
                <a:tc>
                  <a:txBody>
                    <a:bodyPr/>
                    <a:lstStyle/>
                    <a:p>
                      <a:pPr algn="ctr"/>
                      <a:r>
                        <a:rPr lang="zh-CN" altLang="en-US" sz="2000" b="1" dirty="0" smtClean="0"/>
                        <a:t>框图</a:t>
                      </a:r>
                      <a:endParaRPr lang="zh-CN" alt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b="1" dirty="0" smtClean="0"/>
                        <a:t>结构特点</a:t>
                      </a:r>
                      <a:endParaRPr lang="zh-CN" altLang="en-US" sz="2000" b="1" dirty="0"/>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zh-CN" altLang="en-US" sz="2000" b="1" dirty="0" smtClean="0"/>
                        <a:t>功能特点</a:t>
                      </a:r>
                    </a:p>
                    <a:p>
                      <a:pPr algn="ctr"/>
                      <a:endParaRPr lang="zh-CN" altLang="en-US" sz="2000" b="1" dirty="0"/>
                    </a:p>
                  </a:txBody>
                  <a:tcPr/>
                </a:tc>
                <a:extLst>
                  <a:ext uri="{0D108BD9-81ED-4DB2-BD59-A6C34878D82A}">
                    <a16:rowId xmlns:a16="http://schemas.microsoft.com/office/drawing/2014/main" xmlns="" val="10000"/>
                  </a:ext>
                </a:extLst>
              </a:tr>
              <a:tr h="1451327">
                <a:tc>
                  <a:txBody>
                    <a:bodyPr/>
                    <a:lstStyle/>
                    <a:p>
                      <a:r>
                        <a:rPr lang="zh-CN" altLang="en-US" b="1" dirty="0" smtClean="0"/>
                        <a:t>组合逻辑电路</a:t>
                      </a:r>
                      <a:endParaRPr lang="zh-CN" altLang="en-US" b="1" dirty="0"/>
                    </a:p>
                  </a:txBody>
                  <a:tcPr/>
                </a:tc>
                <a:tc>
                  <a:txBody>
                    <a:bodyPr/>
                    <a:lstStyle/>
                    <a:p>
                      <a:endParaRPr lang="zh-CN" altLang="en-US" b="1" dirty="0"/>
                    </a:p>
                  </a:txBody>
                  <a:tcPr/>
                </a:tc>
                <a:tc>
                  <a:txBody>
                    <a:bodyPr/>
                    <a:lstStyle/>
                    <a:p>
                      <a:r>
                        <a:rPr lang="zh-CN" altLang="en-US" b="1" dirty="0" smtClean="0"/>
                        <a:t>仅由逻辑门构成，输出与输入之间无反馈</a:t>
                      </a:r>
                      <a:endParaRPr lang="zh-CN" altLang="en-US" b="1" dirty="0"/>
                    </a:p>
                  </a:txBody>
                  <a:tcPr/>
                </a:tc>
                <a:tc>
                  <a:txBody>
                    <a:bodyPr/>
                    <a:lstStyle/>
                    <a:p>
                      <a:r>
                        <a:rPr lang="zh-CN" altLang="en-US" b="1" dirty="0" smtClean="0"/>
                        <a:t>“入变出即</a:t>
                      </a:r>
                    </a:p>
                    <a:p>
                      <a:r>
                        <a:rPr lang="zh-CN" altLang="en-US" b="1" dirty="0" smtClean="0"/>
                        <a:t>变”，即任一时刻的输出仅仅取决于该时刻的输入信号。</a:t>
                      </a:r>
                      <a:endParaRPr lang="zh-CN" altLang="en-US" b="1" dirty="0"/>
                    </a:p>
                  </a:txBody>
                  <a:tcPr/>
                </a:tc>
                <a:extLst>
                  <a:ext uri="{0D108BD9-81ED-4DB2-BD59-A6C34878D82A}">
                    <a16:rowId xmlns:a16="http://schemas.microsoft.com/office/drawing/2014/main" xmlns="" val="10001"/>
                  </a:ext>
                </a:extLst>
              </a:tr>
              <a:tr h="1863949">
                <a:tc>
                  <a:txBody>
                    <a:bodyPr/>
                    <a:lstStyle/>
                    <a:p>
                      <a:r>
                        <a:rPr lang="zh-CN" altLang="en-US" b="1" dirty="0" smtClean="0"/>
                        <a:t>时序逻辑电路</a:t>
                      </a:r>
                      <a:endParaRPr lang="zh-CN" altLang="en-US" b="1" dirty="0"/>
                    </a:p>
                  </a:txBody>
                  <a:tcPr/>
                </a:tc>
                <a:tc>
                  <a:txBody>
                    <a:bodyPr/>
                    <a:lstStyle/>
                    <a:p>
                      <a:endParaRPr lang="zh-CN" altLang="en-US" b="1" dirty="0"/>
                    </a:p>
                  </a:txBody>
                  <a:tcPr/>
                </a:tc>
                <a:tc>
                  <a:txBody>
                    <a:bodyPr/>
                    <a:lstStyle/>
                    <a:p>
                      <a:r>
                        <a:rPr lang="zh-CN" altLang="en-US" b="1" dirty="0" smtClean="0"/>
                        <a:t>一般由组合逻辑电路和存储电路两部分构成，存储电路的输出必须反馈到逻辑电路的输入端。</a:t>
                      </a:r>
                      <a:endParaRPr lang="zh-CN" altLang="en-US" b="1" dirty="0"/>
                    </a:p>
                  </a:txBody>
                  <a:tcPr/>
                </a:tc>
                <a:tc>
                  <a:txBody>
                    <a:bodyPr/>
                    <a:lstStyle/>
                    <a:p>
                      <a:r>
                        <a:rPr lang="zh-CN" altLang="en-US" b="1" dirty="0" smtClean="0"/>
                        <a:t>任一时刻的输出不仅取决于当时的输入信号，而且还取</a:t>
                      </a:r>
                    </a:p>
                    <a:p>
                      <a:r>
                        <a:rPr lang="zh-CN" altLang="en-US" b="1" dirty="0" smtClean="0"/>
                        <a:t>决于电路原来的状态。</a:t>
                      </a:r>
                      <a:endParaRPr lang="zh-CN" altLang="en-US" b="1" dirty="0"/>
                    </a:p>
                  </a:txBody>
                  <a:tcPr/>
                </a:tc>
                <a:extLst>
                  <a:ext uri="{0D108BD9-81ED-4DB2-BD59-A6C34878D82A}">
                    <a16:rowId xmlns:a16="http://schemas.microsoft.com/office/drawing/2014/main" xmlns="" val="10002"/>
                  </a:ext>
                </a:extLst>
              </a:tr>
            </a:tbl>
          </a:graphicData>
        </a:graphic>
      </p:graphicFrame>
      <p:grpSp>
        <p:nvGrpSpPr>
          <p:cNvPr id="8" name="组合 7"/>
          <p:cNvGrpSpPr/>
          <p:nvPr/>
        </p:nvGrpSpPr>
        <p:grpSpPr>
          <a:xfrm>
            <a:off x="2195736" y="3501008"/>
            <a:ext cx="2543033" cy="2889902"/>
            <a:chOff x="1884951" y="3528154"/>
            <a:chExt cx="2543033" cy="2889902"/>
          </a:xfrm>
        </p:grpSpPr>
        <p:pic>
          <p:nvPicPr>
            <p:cNvPr id="117762" name="Picture 2" descr="E:\wrj\课件\数字电路与系统\数字电路与数字系统\tupian\6-2.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1884951" y="4797152"/>
              <a:ext cx="2520000" cy="1620904"/>
            </a:xfrm>
            <a:prstGeom prst="rect">
              <a:avLst/>
            </a:prstGeom>
            <a:noFill/>
            <a:extLst>
              <a:ext uri="{909E8E84-426E-40DD-AFC4-6F175D3DCCD1}">
                <a14:hiddenFill xmlns:a14="http://schemas.microsoft.com/office/drawing/2010/main" xmlns="">
                  <a:solidFill>
                    <a:srgbClr val="FFFFFF"/>
                  </a:solidFill>
                </a14:hiddenFill>
              </a:ext>
            </a:extLst>
          </p:spPr>
        </p:pic>
        <p:pic>
          <p:nvPicPr>
            <p:cNvPr id="117764" name="Picture 4" descr="E:\wrj\课件\数字电路与系统\数字电路与数字系统\tupian\6-3.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907984" y="3528154"/>
              <a:ext cx="2520000" cy="670646"/>
            </a:xfrm>
            <a:prstGeom prst="rect">
              <a:avLst/>
            </a:prstGeom>
            <a:noFill/>
            <a:extLst>
              <a:ext uri="{909E8E84-426E-40DD-AFC4-6F175D3DCCD1}">
                <a14:hiddenFill xmlns:a14="http://schemas.microsoft.com/office/drawing/2010/main" xmlns="">
                  <a:solidFill>
                    <a:srgbClr val="FFFFFF"/>
                  </a:solidFill>
                </a14:hiddenFill>
              </a:ext>
            </a:extLst>
          </p:spPr>
        </p:pic>
      </p:grpSp>
      <p:sp>
        <p:nvSpPr>
          <p:cNvPr id="10" name="标题 1"/>
          <p:cNvSpPr txBox="1">
            <a:spLocks/>
          </p:cNvSpPr>
          <p:nvPr/>
        </p:nvSpPr>
        <p:spPr bwMode="auto">
          <a:xfrm>
            <a:off x="1259632" y="332656"/>
            <a:ext cx="7488832"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时序逻辑电路的基本概念</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5009397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196752"/>
            <a:ext cx="7884368" cy="494928"/>
          </a:xfrm>
        </p:spPr>
        <p:txBody>
          <a:bodyPr/>
          <a:lstStyle/>
          <a:p>
            <a:r>
              <a:rPr lang="en-US" altLang="zh-CN" dirty="0" smtClean="0"/>
              <a:t>6.1.2 </a:t>
            </a:r>
            <a:r>
              <a:rPr lang="zh-CN" altLang="en-US" dirty="0" smtClean="0"/>
              <a:t>时序逻辑电路的分类</a:t>
            </a:r>
            <a:endParaRPr lang="zh-CN" altLang="en-US" dirty="0"/>
          </a:p>
        </p:txBody>
      </p:sp>
      <p:sp>
        <p:nvSpPr>
          <p:cNvPr id="3" name="内容占位符 2"/>
          <p:cNvSpPr>
            <a:spLocks noGrp="1"/>
          </p:cNvSpPr>
          <p:nvPr>
            <p:ph idx="1"/>
          </p:nvPr>
        </p:nvSpPr>
        <p:spPr>
          <a:xfrm>
            <a:off x="467544" y="1988840"/>
            <a:ext cx="8161338" cy="4752528"/>
          </a:xfrm>
        </p:spPr>
        <p:txBody>
          <a:bodyPr/>
          <a:lstStyle/>
          <a:p>
            <a:pPr>
              <a:buSzPct val="100000"/>
              <a:buFont typeface="Wingdings" pitchFamily="2" charset="2"/>
              <a:buChar char="p"/>
            </a:pPr>
            <a:r>
              <a:rPr lang="zh-CN" altLang="en-US" sz="2800" dirty="0"/>
              <a:t>时序</a:t>
            </a:r>
            <a:r>
              <a:rPr lang="zh-CN" altLang="en-US" sz="2800" dirty="0" smtClean="0"/>
              <a:t>逻辑电路</a:t>
            </a:r>
            <a:r>
              <a:rPr lang="zh-CN" altLang="en-US" sz="2800" dirty="0"/>
              <a:t>的分类</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6</a:t>
            </a:fld>
            <a:endParaRPr lang="zh-CN" altLang="en-US"/>
          </a:p>
        </p:txBody>
      </p:sp>
      <p:grpSp>
        <p:nvGrpSpPr>
          <p:cNvPr id="9" name="组合 8"/>
          <p:cNvGrpSpPr/>
          <p:nvPr/>
        </p:nvGrpSpPr>
        <p:grpSpPr>
          <a:xfrm>
            <a:off x="755576" y="2636912"/>
            <a:ext cx="7646928" cy="1445903"/>
            <a:chOff x="557808" y="2492896"/>
            <a:chExt cx="7844696" cy="1589919"/>
          </a:xfrm>
        </p:grpSpPr>
        <p:sp>
          <p:nvSpPr>
            <p:cNvPr id="5" name="矩形 4"/>
            <p:cNvSpPr/>
            <p:nvPr/>
          </p:nvSpPr>
          <p:spPr>
            <a:xfrm>
              <a:off x="557808" y="2987660"/>
              <a:ext cx="1493912" cy="369332"/>
            </a:xfrm>
            <a:prstGeom prst="rect">
              <a:avLst/>
            </a:prstGeom>
            <a:solidFill>
              <a:schemeClr val="accent2">
                <a:lumMod val="20000"/>
                <a:lumOff val="80000"/>
              </a:schemeClr>
            </a:solidFill>
            <a:ln>
              <a:solidFill>
                <a:schemeClr val="accent1"/>
              </a:solidFill>
            </a:ln>
          </p:spPr>
          <p:txBody>
            <a:bodyPr wrap="square">
              <a:spAutoFit/>
            </a:bodyPr>
            <a:lstStyle/>
            <a:p>
              <a:r>
                <a:rPr lang="zh-CN" altLang="en-US" b="1" dirty="0"/>
                <a:t>有</a:t>
              </a:r>
              <a:r>
                <a:rPr lang="zh-CN" altLang="en-US" b="1" dirty="0" smtClean="0"/>
                <a:t>无统一</a:t>
              </a:r>
              <a:r>
                <a:rPr lang="en-US" altLang="zh-CN" b="1" dirty="0"/>
                <a:t>CP</a:t>
              </a:r>
            </a:p>
          </p:txBody>
        </p:sp>
        <p:sp>
          <p:nvSpPr>
            <p:cNvPr id="6" name="矩形 5"/>
            <p:cNvSpPr/>
            <p:nvPr/>
          </p:nvSpPr>
          <p:spPr>
            <a:xfrm>
              <a:off x="3059832" y="2492896"/>
              <a:ext cx="5328592" cy="738664"/>
            </a:xfrm>
            <a:prstGeom prst="rect">
              <a:avLst/>
            </a:prstGeom>
            <a:solidFill>
              <a:srgbClr val="D5FFFF"/>
            </a:solidFill>
            <a:ln>
              <a:solidFill>
                <a:schemeClr val="accent1"/>
              </a:solidFill>
            </a:ln>
          </p:spPr>
          <p:txBody>
            <a:bodyPr wrap="square">
              <a:spAutoFit/>
            </a:bodyPr>
            <a:lstStyle/>
            <a:p>
              <a:r>
                <a:rPr lang="zh-CN" altLang="en-US" sz="2400" b="1" dirty="0" smtClean="0">
                  <a:solidFill>
                    <a:srgbClr val="0000CC"/>
                  </a:solidFill>
                </a:rPr>
                <a:t>同步</a:t>
              </a:r>
              <a:r>
                <a:rPr lang="zh-CN" altLang="en-US" sz="2400" b="1" dirty="0" smtClean="0"/>
                <a:t>时序逻辑电路</a:t>
              </a:r>
              <a:r>
                <a:rPr lang="zh-CN" altLang="en-US" b="1" dirty="0" smtClean="0"/>
                <a:t>：所有触发器</a:t>
              </a:r>
              <a:r>
                <a:rPr lang="zh-CN" altLang="en-US" b="1" dirty="0"/>
                <a:t>状态</a:t>
              </a:r>
              <a:r>
                <a:rPr lang="zh-CN" altLang="en-US" b="1" dirty="0" smtClean="0"/>
                <a:t>变化</a:t>
              </a:r>
              <a:r>
                <a:rPr lang="zh-CN" altLang="en-US" b="1" dirty="0"/>
                <a:t>都是</a:t>
              </a:r>
              <a:r>
                <a:rPr lang="zh-CN" altLang="en-US" b="1" dirty="0" smtClean="0"/>
                <a:t>在</a:t>
              </a:r>
              <a:r>
                <a:rPr lang="zh-CN" altLang="en-US" b="1" dirty="0" smtClean="0">
                  <a:solidFill>
                    <a:srgbClr val="0000CC"/>
                  </a:solidFill>
                </a:rPr>
                <a:t>同</a:t>
              </a:r>
              <a:r>
                <a:rPr lang="zh-CN" altLang="en-US" b="1" dirty="0">
                  <a:solidFill>
                    <a:srgbClr val="0000CC"/>
                  </a:solidFill>
                </a:rPr>
                <a:t>一</a:t>
              </a:r>
              <a:r>
                <a:rPr lang="en-US" altLang="zh-CN" b="1" dirty="0">
                  <a:solidFill>
                    <a:srgbClr val="0000CC"/>
                  </a:solidFill>
                </a:rPr>
                <a:t>CP</a:t>
              </a:r>
              <a:r>
                <a:rPr lang="zh-CN" altLang="en-US" b="1" dirty="0" smtClean="0"/>
                <a:t>控制</a:t>
              </a:r>
              <a:r>
                <a:rPr lang="zh-CN" altLang="en-US" b="1" dirty="0"/>
                <a:t>下发生</a:t>
              </a:r>
            </a:p>
          </p:txBody>
        </p:sp>
        <p:sp>
          <p:nvSpPr>
            <p:cNvPr id="7" name="矩形 6"/>
            <p:cNvSpPr/>
            <p:nvPr/>
          </p:nvSpPr>
          <p:spPr>
            <a:xfrm>
              <a:off x="3073912" y="3344151"/>
              <a:ext cx="5328592" cy="738664"/>
            </a:xfrm>
            <a:prstGeom prst="rect">
              <a:avLst/>
            </a:prstGeom>
            <a:solidFill>
              <a:srgbClr val="D5FFFF"/>
            </a:solidFill>
            <a:ln>
              <a:solidFill>
                <a:schemeClr val="accent1"/>
              </a:solidFill>
            </a:ln>
          </p:spPr>
          <p:txBody>
            <a:bodyPr wrap="square">
              <a:spAutoFit/>
            </a:bodyPr>
            <a:lstStyle/>
            <a:p>
              <a:r>
                <a:rPr lang="zh-CN" altLang="en-US" sz="2400" b="1" dirty="0" smtClean="0">
                  <a:solidFill>
                    <a:srgbClr val="0000CC"/>
                  </a:solidFill>
                </a:rPr>
                <a:t>异步</a:t>
              </a:r>
              <a:r>
                <a:rPr lang="zh-CN" altLang="en-US" sz="2400" b="1" dirty="0" smtClean="0"/>
                <a:t>时序逻辑电路</a:t>
              </a:r>
              <a:r>
                <a:rPr lang="zh-CN" altLang="en-US" b="1" dirty="0" smtClean="0"/>
                <a:t>：各触发器状态变化不是同时发生</a:t>
              </a:r>
              <a:r>
                <a:rPr lang="zh-CN" altLang="en-US" b="1" dirty="0"/>
                <a:t>，</a:t>
              </a:r>
              <a:r>
                <a:rPr lang="zh-CN" altLang="en-US" b="1" dirty="0" smtClean="0">
                  <a:solidFill>
                    <a:srgbClr val="0000CC"/>
                  </a:solidFill>
                </a:rPr>
                <a:t>无统一</a:t>
              </a:r>
              <a:r>
                <a:rPr lang="en-US" altLang="zh-CN" b="1" dirty="0">
                  <a:solidFill>
                    <a:srgbClr val="0000CC"/>
                  </a:solidFill>
                </a:rPr>
                <a:t>CP</a:t>
              </a:r>
            </a:p>
          </p:txBody>
        </p:sp>
        <p:sp>
          <p:nvSpPr>
            <p:cNvPr id="8" name="左大括号 7"/>
            <p:cNvSpPr/>
            <p:nvPr/>
          </p:nvSpPr>
          <p:spPr bwMode="auto">
            <a:xfrm>
              <a:off x="2195736" y="2624071"/>
              <a:ext cx="432048" cy="1296144"/>
            </a:xfrm>
            <a:prstGeom prst="leftBrace">
              <a:avLst/>
            </a:prstGeom>
            <a:noFill/>
            <a:ln w="9525" cap="flat" cmpd="sng" algn="ctr">
              <a:solidFill>
                <a:schemeClr val="tx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grpSp>
        <p:nvGrpSpPr>
          <p:cNvPr id="10" name="组合 9"/>
          <p:cNvGrpSpPr/>
          <p:nvPr/>
        </p:nvGrpSpPr>
        <p:grpSpPr>
          <a:xfrm>
            <a:off x="683568" y="4437113"/>
            <a:ext cx="7848872" cy="1548292"/>
            <a:chOff x="269776" y="2492896"/>
            <a:chExt cx="8132728" cy="1627900"/>
          </a:xfrm>
        </p:grpSpPr>
        <p:sp>
          <p:nvSpPr>
            <p:cNvPr id="11" name="矩形 10"/>
            <p:cNvSpPr/>
            <p:nvPr/>
          </p:nvSpPr>
          <p:spPr>
            <a:xfrm>
              <a:off x="269776" y="2987660"/>
              <a:ext cx="1781944" cy="369332"/>
            </a:xfrm>
            <a:prstGeom prst="rect">
              <a:avLst/>
            </a:prstGeom>
            <a:solidFill>
              <a:schemeClr val="accent2">
                <a:lumMod val="20000"/>
                <a:lumOff val="80000"/>
              </a:schemeClr>
            </a:solidFill>
            <a:ln>
              <a:solidFill>
                <a:schemeClr val="accent1"/>
              </a:solidFill>
            </a:ln>
          </p:spPr>
          <p:txBody>
            <a:bodyPr wrap="square">
              <a:spAutoFit/>
            </a:bodyPr>
            <a:lstStyle/>
            <a:p>
              <a:r>
                <a:rPr lang="zh-CN" altLang="en-US" b="1" dirty="0"/>
                <a:t>有</a:t>
              </a:r>
              <a:r>
                <a:rPr lang="zh-CN" altLang="en-US" b="1" dirty="0" smtClean="0"/>
                <a:t>无输入信号</a:t>
              </a:r>
              <a:endParaRPr lang="en-US" altLang="zh-CN" b="1" dirty="0"/>
            </a:p>
          </p:txBody>
        </p:sp>
        <p:sp>
          <p:nvSpPr>
            <p:cNvPr id="12" name="矩形 11"/>
            <p:cNvSpPr/>
            <p:nvPr/>
          </p:nvSpPr>
          <p:spPr>
            <a:xfrm>
              <a:off x="3059832" y="2492896"/>
              <a:ext cx="5328592" cy="776644"/>
            </a:xfrm>
            <a:prstGeom prst="rect">
              <a:avLst/>
            </a:prstGeom>
            <a:solidFill>
              <a:srgbClr val="D5FFFF"/>
            </a:solidFill>
            <a:ln>
              <a:solidFill>
                <a:schemeClr val="accent1"/>
              </a:solidFill>
            </a:ln>
          </p:spPr>
          <p:txBody>
            <a:bodyPr wrap="square">
              <a:spAutoFit/>
            </a:bodyPr>
            <a:lstStyle/>
            <a:p>
              <a:r>
                <a:rPr lang="en-US" altLang="zh-CN" sz="2400" b="1" dirty="0" smtClean="0"/>
                <a:t>Mealy</a:t>
              </a:r>
              <a:r>
                <a:rPr lang="zh-CN" altLang="en-US" sz="2400" b="1" dirty="0" smtClean="0"/>
                <a:t>（米里）型</a:t>
              </a:r>
              <a:r>
                <a:rPr lang="zh-CN" altLang="en-US" b="1" dirty="0" smtClean="0"/>
                <a:t>：</a:t>
              </a:r>
              <a:r>
                <a:rPr lang="zh-CN" altLang="en-US" b="1" dirty="0">
                  <a:solidFill>
                    <a:srgbClr val="0000CC"/>
                  </a:solidFill>
                </a:rPr>
                <a:t>有</a:t>
              </a:r>
              <a:r>
                <a:rPr lang="zh-CN" altLang="en-US" b="1" dirty="0" smtClean="0"/>
                <a:t>输入信号</a:t>
              </a:r>
              <a:r>
                <a:rPr lang="zh-CN" altLang="en-US" b="1" dirty="0"/>
                <a:t>，</a:t>
              </a:r>
              <a:r>
                <a:rPr lang="zh-CN" altLang="en-US" b="1" dirty="0" smtClean="0"/>
                <a:t>输出取决于</a:t>
              </a:r>
              <a:r>
                <a:rPr lang="zh-CN" altLang="en-US" b="1" dirty="0" smtClean="0">
                  <a:solidFill>
                    <a:srgbClr val="0000CC"/>
                  </a:solidFill>
                </a:rPr>
                <a:t>输入信号和存储电路状态</a:t>
              </a:r>
              <a:r>
                <a:rPr lang="zh-CN" altLang="en-US" b="1" dirty="0">
                  <a:solidFill>
                    <a:srgbClr val="0000CC"/>
                  </a:solidFill>
                </a:rPr>
                <a:t>（</a:t>
              </a:r>
              <a:r>
                <a:rPr lang="zh-CN" altLang="en-US" b="1" dirty="0" smtClean="0">
                  <a:solidFill>
                    <a:srgbClr val="0000CC"/>
                  </a:solidFill>
                </a:rPr>
                <a:t>原态</a:t>
              </a:r>
              <a:r>
                <a:rPr lang="zh-CN" altLang="en-US" b="1" dirty="0">
                  <a:solidFill>
                    <a:srgbClr val="0000CC"/>
                  </a:solidFill>
                </a:rPr>
                <a:t>）</a:t>
              </a:r>
            </a:p>
          </p:txBody>
        </p:sp>
        <p:sp>
          <p:nvSpPr>
            <p:cNvPr id="13" name="矩形 12"/>
            <p:cNvSpPr/>
            <p:nvPr/>
          </p:nvSpPr>
          <p:spPr>
            <a:xfrm>
              <a:off x="3073912" y="3344152"/>
              <a:ext cx="5328592" cy="776644"/>
            </a:xfrm>
            <a:prstGeom prst="rect">
              <a:avLst/>
            </a:prstGeom>
            <a:solidFill>
              <a:srgbClr val="D5FFFF"/>
            </a:solidFill>
            <a:ln>
              <a:solidFill>
                <a:schemeClr val="accent1"/>
              </a:solidFill>
            </a:ln>
          </p:spPr>
          <p:txBody>
            <a:bodyPr wrap="square">
              <a:spAutoFit/>
            </a:bodyPr>
            <a:lstStyle/>
            <a:p>
              <a:r>
                <a:rPr lang="en-US" altLang="zh-CN" sz="2400" b="1" dirty="0" smtClean="0"/>
                <a:t>Moore</a:t>
              </a:r>
              <a:r>
                <a:rPr lang="zh-CN" altLang="en-US" sz="2400" b="1" dirty="0" smtClean="0"/>
                <a:t>（莫尔）型</a:t>
              </a:r>
              <a:r>
                <a:rPr lang="zh-CN" altLang="en-US" b="1" dirty="0"/>
                <a:t>：</a:t>
              </a:r>
              <a:r>
                <a:rPr lang="zh-CN" altLang="en-US" b="1" dirty="0">
                  <a:solidFill>
                    <a:srgbClr val="0000CC"/>
                  </a:solidFill>
                </a:rPr>
                <a:t>无</a:t>
              </a:r>
              <a:r>
                <a:rPr lang="zh-CN" altLang="en-US" b="1" dirty="0" smtClean="0"/>
                <a:t>输入信号</a:t>
              </a:r>
              <a:r>
                <a:rPr lang="zh-CN" altLang="en-US" b="1" dirty="0"/>
                <a:t>，</a:t>
              </a:r>
              <a:r>
                <a:rPr lang="zh-CN" altLang="en-US" b="1" dirty="0" smtClean="0"/>
                <a:t>输出仅取决于</a:t>
              </a:r>
              <a:r>
                <a:rPr lang="zh-CN" altLang="en-US" b="1" dirty="0" smtClean="0">
                  <a:solidFill>
                    <a:srgbClr val="0000CC"/>
                  </a:solidFill>
                </a:rPr>
                <a:t>存储电路状态</a:t>
              </a:r>
              <a:r>
                <a:rPr lang="zh-CN" altLang="en-US" b="1" dirty="0">
                  <a:solidFill>
                    <a:srgbClr val="0000CC"/>
                  </a:solidFill>
                </a:rPr>
                <a:t>（</a:t>
              </a:r>
              <a:r>
                <a:rPr lang="zh-CN" altLang="en-US" b="1" dirty="0" smtClean="0">
                  <a:solidFill>
                    <a:srgbClr val="0000CC"/>
                  </a:solidFill>
                </a:rPr>
                <a:t>原态</a:t>
              </a:r>
              <a:r>
                <a:rPr lang="zh-CN" altLang="en-US" b="1" dirty="0">
                  <a:solidFill>
                    <a:srgbClr val="0000CC"/>
                  </a:solidFill>
                </a:rPr>
                <a:t>）</a:t>
              </a:r>
              <a:endParaRPr lang="en-US" altLang="zh-CN" b="1" dirty="0">
                <a:solidFill>
                  <a:srgbClr val="0000CC"/>
                </a:solidFill>
              </a:endParaRPr>
            </a:p>
          </p:txBody>
        </p:sp>
        <p:sp>
          <p:nvSpPr>
            <p:cNvPr id="14" name="左大括号 13"/>
            <p:cNvSpPr/>
            <p:nvPr/>
          </p:nvSpPr>
          <p:spPr bwMode="auto">
            <a:xfrm>
              <a:off x="2195736" y="2624071"/>
              <a:ext cx="432048" cy="1296144"/>
            </a:xfrm>
            <a:prstGeom prst="leftBrace">
              <a:avLst/>
            </a:prstGeom>
            <a:noFill/>
            <a:ln w="9525" cap="flat" cmpd="sng" algn="ctr">
              <a:solidFill>
                <a:schemeClr val="tx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pSp>
      <p:sp>
        <p:nvSpPr>
          <p:cNvPr id="15" name="标题 1"/>
          <p:cNvSpPr txBox="1">
            <a:spLocks/>
          </p:cNvSpPr>
          <p:nvPr/>
        </p:nvSpPr>
        <p:spPr bwMode="auto">
          <a:xfrm>
            <a:off x="1259632" y="332656"/>
            <a:ext cx="7488832"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时序逻辑电路的基本概念</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482892977"/>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5205" name="Object 2"/>
          <p:cNvGraphicFramePr>
            <a:graphicFrameLocks noChangeAspect="1"/>
          </p:cNvGraphicFramePr>
          <p:nvPr/>
        </p:nvGraphicFramePr>
        <p:xfrm>
          <a:off x="1547664" y="3573016"/>
          <a:ext cx="6623199" cy="2534279"/>
        </p:xfrm>
        <a:graphic>
          <a:graphicData uri="http://schemas.openxmlformats.org/presentationml/2006/ole">
            <p:oleObj spid="_x0000_s197634" name="图片" r:id="rId3" imgW="3676680" imgH="1352520" progId="Word.Picture.8">
              <p:embed/>
            </p:oleObj>
          </a:graphicData>
        </a:graphic>
      </p:graphicFrame>
      <p:sp>
        <p:nvSpPr>
          <p:cNvPr id="26630" name="Rectangle 10"/>
          <p:cNvSpPr>
            <a:spLocks noChangeArrowheads="1"/>
          </p:cNvSpPr>
          <p:nvPr/>
        </p:nvSpPr>
        <p:spPr bwMode="auto">
          <a:xfrm>
            <a:off x="1670050" y="-675456"/>
            <a:ext cx="1716088" cy="457200"/>
          </a:xfrm>
          <a:prstGeom prst="rect">
            <a:avLst/>
          </a:prstGeom>
          <a:noFill/>
          <a:ln w="9525">
            <a:noFill/>
            <a:miter lim="800000"/>
            <a:headEnd/>
            <a:tailEnd/>
          </a:ln>
        </p:spPr>
        <p:txBody>
          <a:bodyPr wrap="none">
            <a:spAutoFit/>
          </a:bodyPr>
          <a:lstStyle/>
          <a:p>
            <a:r>
              <a:rPr kumimoji="1" lang="zh-CN" altLang="en-US" dirty="0">
                <a:solidFill>
                  <a:srgbClr val="000066"/>
                </a:solidFill>
                <a:latin typeface="Times New Roman" pitchFamily="18" charset="0"/>
                <a:ea typeface="楷体_GB2312" pitchFamily="49" charset="-122"/>
              </a:rPr>
              <a:t>米利型电路</a:t>
            </a:r>
          </a:p>
        </p:txBody>
      </p:sp>
      <p:sp>
        <p:nvSpPr>
          <p:cNvPr id="7" name="Rectangle 9"/>
          <p:cNvSpPr>
            <a:spLocks noChangeArrowheads="1"/>
          </p:cNvSpPr>
          <p:nvPr/>
        </p:nvSpPr>
        <p:spPr bwMode="auto">
          <a:xfrm>
            <a:off x="467544" y="2060848"/>
            <a:ext cx="7704855" cy="1384995"/>
          </a:xfrm>
          <a:prstGeom prst="rect">
            <a:avLst/>
          </a:prstGeom>
          <a:noFill/>
          <a:ln w="9525">
            <a:noFill/>
            <a:miter lim="800000"/>
            <a:headEnd/>
            <a:tailEnd/>
          </a:ln>
        </p:spPr>
        <p:txBody>
          <a:bodyPr wrap="square" anchor="ctr">
            <a:spAutoFit/>
          </a:bodyPr>
          <a:lstStyle/>
          <a:p>
            <a:pPr marL="360000" indent="-360000">
              <a:buClr>
                <a:srgbClr val="0000CC"/>
              </a:buClr>
              <a:buFont typeface="Wingdings" pitchFamily="2" charset="2"/>
              <a:buChar char="p"/>
            </a:pPr>
            <a:r>
              <a:rPr kumimoji="1" lang="zh-CN" altLang="en-US" sz="2800" b="1" dirty="0" smtClean="0">
                <a:solidFill>
                  <a:srgbClr val="FF0000"/>
                </a:solidFill>
                <a:latin typeface="+mn-ea"/>
              </a:rPr>
              <a:t>米里型电路</a:t>
            </a:r>
            <a:r>
              <a:rPr kumimoji="1" lang="zh-CN" altLang="en-US" sz="2800" b="1" dirty="0" smtClean="0">
                <a:solidFill>
                  <a:srgbClr val="000066"/>
                </a:solidFill>
                <a:latin typeface="+mn-ea"/>
              </a:rPr>
              <a:t>：</a:t>
            </a:r>
            <a:r>
              <a:rPr kumimoji="1" lang="zh-CN" altLang="en-US" sz="2800" b="1" dirty="0" smtClean="0">
                <a:latin typeface="+mn-ea"/>
              </a:rPr>
              <a:t>这类电路的输出是输入变量</a:t>
            </a:r>
            <a:r>
              <a:rPr kumimoji="1" lang="en-US" altLang="zh-CN" sz="2800" b="1" i="1" dirty="0" smtClean="0">
                <a:latin typeface="+mn-ea"/>
              </a:rPr>
              <a:t>A</a:t>
            </a:r>
            <a:r>
              <a:rPr kumimoji="1" lang="zh-CN" altLang="en-US" sz="2800" b="1" dirty="0" smtClean="0">
                <a:latin typeface="+mn-ea"/>
              </a:rPr>
              <a:t>及触发器输出</a:t>
            </a:r>
            <a:r>
              <a:rPr kumimoji="1" lang="en-US" altLang="zh-CN" sz="2800" b="1" i="1" dirty="0" smtClean="0">
                <a:latin typeface="+mn-ea"/>
              </a:rPr>
              <a:t>Q</a:t>
            </a:r>
            <a:r>
              <a:rPr kumimoji="1" lang="en-US" altLang="zh-CN" sz="2800" b="1" baseline="-25000" dirty="0" smtClean="0">
                <a:latin typeface="+mn-ea"/>
              </a:rPr>
              <a:t>1</a:t>
            </a:r>
            <a:r>
              <a:rPr kumimoji="1" lang="zh-CN" altLang="en-US" sz="2800" b="1" dirty="0" smtClean="0">
                <a:latin typeface="+mn-ea"/>
              </a:rPr>
              <a:t>、 </a:t>
            </a:r>
            <a:r>
              <a:rPr kumimoji="1" lang="en-US" altLang="zh-CN" sz="2800" b="1" i="1" dirty="0" smtClean="0">
                <a:latin typeface="+mn-ea"/>
              </a:rPr>
              <a:t>Q</a:t>
            </a:r>
            <a:r>
              <a:rPr kumimoji="1" lang="en-US" altLang="zh-CN" sz="2800" b="1" baseline="-25000" dirty="0" smtClean="0">
                <a:latin typeface="+mn-ea"/>
              </a:rPr>
              <a:t>0</a:t>
            </a:r>
            <a:r>
              <a:rPr kumimoji="1" lang="en-US" altLang="zh-CN" sz="2800" b="1" dirty="0" smtClean="0">
                <a:latin typeface="+mn-ea"/>
              </a:rPr>
              <a:t> </a:t>
            </a:r>
            <a:r>
              <a:rPr kumimoji="1" lang="zh-CN" altLang="en-US" sz="2800" b="1" dirty="0" smtClean="0">
                <a:latin typeface="+mn-ea"/>
              </a:rPr>
              <a:t>的函数，时序电路</a:t>
            </a:r>
            <a:r>
              <a:rPr kumimoji="1" lang="zh-CN" altLang="en-US" sz="2800" b="1" dirty="0">
                <a:latin typeface="+mn-ea"/>
              </a:rPr>
              <a:t>亦称为</a:t>
            </a:r>
            <a:r>
              <a:rPr kumimoji="1" lang="zh-CN" altLang="en-US" sz="2800" b="1" dirty="0" smtClean="0">
                <a:latin typeface="+mn-ea"/>
              </a:rPr>
              <a:t>米里型电路</a:t>
            </a:r>
            <a:r>
              <a:rPr kumimoji="1" lang="zh-CN" altLang="en-US" sz="2800" b="1" dirty="0" smtClean="0">
                <a:latin typeface="+mn-ea"/>
              </a:rPr>
              <a:t>。</a:t>
            </a:r>
            <a:endParaRPr kumimoji="1" lang="zh-CN" altLang="en-US" sz="2800" b="1" dirty="0">
              <a:latin typeface="+mn-ea"/>
            </a:endParaRPr>
          </a:p>
        </p:txBody>
      </p:sp>
      <p:sp>
        <p:nvSpPr>
          <p:cNvPr id="8" name="标题 1"/>
          <p:cNvSpPr txBox="1">
            <a:spLocks/>
          </p:cNvSpPr>
          <p:nvPr/>
        </p:nvSpPr>
        <p:spPr>
          <a:xfrm>
            <a:off x="1259632" y="980728"/>
            <a:ext cx="7884368" cy="494928"/>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6.1.2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时序逻辑电路的分类</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36228" name="Object 2"/>
          <p:cNvGraphicFramePr>
            <a:graphicFrameLocks noChangeAspect="1"/>
          </p:cNvGraphicFramePr>
          <p:nvPr/>
        </p:nvGraphicFramePr>
        <p:xfrm>
          <a:off x="755576" y="3573016"/>
          <a:ext cx="7345188" cy="2453131"/>
        </p:xfrm>
        <a:graphic>
          <a:graphicData uri="http://schemas.openxmlformats.org/presentationml/2006/ole">
            <p:oleObj spid="_x0000_s198658" name="图片" r:id="rId3" imgW="3676680" imgH="1228680" progId="Word.Picture.8">
              <p:embed/>
            </p:oleObj>
          </a:graphicData>
        </a:graphic>
      </p:graphicFrame>
      <p:sp>
        <p:nvSpPr>
          <p:cNvPr id="6" name="Rectangle 9"/>
          <p:cNvSpPr>
            <a:spLocks noChangeArrowheads="1"/>
          </p:cNvSpPr>
          <p:nvPr/>
        </p:nvSpPr>
        <p:spPr bwMode="auto">
          <a:xfrm>
            <a:off x="467544" y="2060848"/>
            <a:ext cx="7704855" cy="1384995"/>
          </a:xfrm>
          <a:prstGeom prst="rect">
            <a:avLst/>
          </a:prstGeom>
          <a:noFill/>
          <a:ln w="9525">
            <a:noFill/>
            <a:miter lim="800000"/>
            <a:headEnd/>
            <a:tailEnd/>
          </a:ln>
        </p:spPr>
        <p:txBody>
          <a:bodyPr wrap="square" anchor="ctr">
            <a:spAutoFit/>
          </a:bodyPr>
          <a:lstStyle/>
          <a:p>
            <a:pPr marL="360000" indent="-360000">
              <a:buClr>
                <a:srgbClr val="0000CC"/>
              </a:buClr>
              <a:buFont typeface="Wingdings" pitchFamily="2" charset="2"/>
              <a:buChar char="p"/>
            </a:pPr>
            <a:r>
              <a:rPr kumimoji="1" lang="zh-CN" altLang="en-US" sz="2800" b="1" dirty="0" smtClean="0">
                <a:solidFill>
                  <a:srgbClr val="FF0000"/>
                </a:solidFill>
                <a:latin typeface="+mn-ea"/>
              </a:rPr>
              <a:t>莫尔型电路</a:t>
            </a:r>
            <a:r>
              <a:rPr kumimoji="1" lang="zh-CN" altLang="en-US" sz="2800" b="1" dirty="0" smtClean="0">
                <a:solidFill>
                  <a:srgbClr val="000066"/>
                </a:solidFill>
                <a:latin typeface="+mn-ea"/>
              </a:rPr>
              <a:t>：</a:t>
            </a:r>
            <a:r>
              <a:rPr kumimoji="1" lang="zh-CN" altLang="en-US" sz="2800" b="1" dirty="0" smtClean="0">
                <a:latin typeface="+mn-ea"/>
              </a:rPr>
              <a:t>电路输出仅仅取决于各触发器的状态，而不受电路当时的输入信号影响或没有输入变量，这类电路称为莫尔型电路。 </a:t>
            </a:r>
            <a:endParaRPr kumimoji="1" lang="zh-CN" altLang="en-US" sz="2800" b="1" dirty="0">
              <a:latin typeface="+mn-ea"/>
            </a:endParaRPr>
          </a:p>
        </p:txBody>
      </p:sp>
      <p:sp>
        <p:nvSpPr>
          <p:cNvPr id="7" name="标题 1"/>
          <p:cNvSpPr txBox="1">
            <a:spLocks/>
          </p:cNvSpPr>
          <p:nvPr/>
        </p:nvSpPr>
        <p:spPr>
          <a:xfrm>
            <a:off x="1259632" y="980728"/>
            <a:ext cx="7488832" cy="494928"/>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6.1.2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时序逻辑电路的分类</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Sld>
  <p:clrMapOvr>
    <a:masterClrMapping/>
  </p:clrMapOvr>
  <p:transition/>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124744"/>
            <a:ext cx="7488832" cy="566936"/>
          </a:xfrm>
        </p:spPr>
        <p:txBody>
          <a:bodyPr/>
          <a:lstStyle/>
          <a:p>
            <a:r>
              <a:rPr lang="en-US" altLang="zh-CN" dirty="0" smtClean="0"/>
              <a:t>6.1.3 </a:t>
            </a:r>
            <a:r>
              <a:rPr lang="zh-CN" altLang="en-US" dirty="0" smtClean="0"/>
              <a:t>时序逻辑电路的表示方法</a:t>
            </a:r>
            <a:endParaRPr lang="zh-CN" altLang="en-US" dirty="0"/>
          </a:p>
        </p:txBody>
      </p:sp>
      <p:sp>
        <p:nvSpPr>
          <p:cNvPr id="3" name="内容占位符 2"/>
          <p:cNvSpPr>
            <a:spLocks noGrp="1"/>
          </p:cNvSpPr>
          <p:nvPr>
            <p:ph idx="1"/>
          </p:nvPr>
        </p:nvSpPr>
        <p:spPr>
          <a:xfrm>
            <a:off x="467544" y="1988840"/>
            <a:ext cx="8487544" cy="4608512"/>
          </a:xfrm>
        </p:spPr>
        <p:txBody>
          <a:bodyPr/>
          <a:lstStyle/>
          <a:p>
            <a:pPr>
              <a:buSzPct val="100000"/>
              <a:buNone/>
            </a:pPr>
            <a:r>
              <a:rPr lang="en-US" altLang="zh-CN" sz="2800" dirty="0" smtClean="0"/>
              <a:t>1. </a:t>
            </a:r>
            <a:r>
              <a:rPr lang="zh-CN" altLang="en-US" sz="2800" dirty="0" smtClean="0"/>
              <a:t>方程组描述法</a:t>
            </a:r>
            <a:endParaRPr lang="en-US" altLang="zh-CN" sz="2800" dirty="0" smtClean="0"/>
          </a:p>
          <a:p>
            <a:pPr>
              <a:buSzPct val="100000"/>
              <a:buFont typeface="Wingdings" pitchFamily="2" charset="2"/>
              <a:buChar char="p"/>
            </a:pPr>
            <a:r>
              <a:rPr lang="zh-CN" altLang="en-US" sz="2800" dirty="0" smtClean="0"/>
              <a:t>时序</a:t>
            </a:r>
            <a:r>
              <a:rPr lang="zh-CN" altLang="en-US" sz="2800" dirty="0"/>
              <a:t>逻辑电路的方程描述</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9</a:t>
            </a:fld>
            <a:endParaRPr lang="zh-CN" altLang="en-US"/>
          </a:p>
        </p:txBody>
      </p:sp>
      <p:sp>
        <p:nvSpPr>
          <p:cNvPr id="5" name="矩形 4"/>
          <p:cNvSpPr/>
          <p:nvPr/>
        </p:nvSpPr>
        <p:spPr>
          <a:xfrm>
            <a:off x="755576" y="3140968"/>
            <a:ext cx="4032448" cy="400110"/>
          </a:xfrm>
          <a:prstGeom prst="rect">
            <a:avLst/>
          </a:prstGeom>
        </p:spPr>
        <p:txBody>
          <a:bodyPr wrap="square">
            <a:spAutoFit/>
          </a:bodyPr>
          <a:lstStyle/>
          <a:p>
            <a:r>
              <a:rPr lang="zh-CN" altLang="en-US" sz="2000" b="1" dirty="0"/>
              <a:t>结合时序逻辑电路</a:t>
            </a:r>
            <a:r>
              <a:rPr lang="zh-CN" altLang="en-US" sz="2000" b="1" dirty="0" smtClean="0"/>
              <a:t>的结构</a:t>
            </a:r>
            <a:r>
              <a:rPr lang="zh-CN" altLang="en-US" sz="2000" b="1" dirty="0"/>
              <a:t>框图，令</a:t>
            </a:r>
            <a:r>
              <a:rPr lang="en-US" altLang="zh-CN" sz="2000" b="1" dirty="0"/>
              <a:t>:</a:t>
            </a:r>
            <a:endParaRPr lang="zh-CN" altLang="en-US" sz="2000" b="1" dirty="0"/>
          </a:p>
        </p:txBody>
      </p:sp>
      <p:pic>
        <p:nvPicPr>
          <p:cNvPr id="1026" name="Picture 2" descr="E:\wrj\课件\数字电路与系统\数字电路与数字系统\tupian\6-2.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5076056" y="2492896"/>
            <a:ext cx="3693913" cy="2375984"/>
          </a:xfrm>
          <a:prstGeom prst="rect">
            <a:avLst/>
          </a:prstGeom>
          <a:noFill/>
          <a:extLst>
            <a:ext uri="{909E8E84-426E-40DD-AFC4-6F175D3DCCD1}">
              <a14:hiddenFill xmlns:a14="http://schemas.microsoft.com/office/drawing/2010/main" xmlns="">
                <a:solidFill>
                  <a:srgbClr val="FFFFFF"/>
                </a:solidFill>
              </a14:hiddenFill>
            </a:ext>
          </a:extLst>
        </p:spPr>
      </p:pic>
      <p:sp>
        <p:nvSpPr>
          <p:cNvPr id="6" name="矩形 5"/>
          <p:cNvSpPr/>
          <p:nvPr/>
        </p:nvSpPr>
        <p:spPr>
          <a:xfrm>
            <a:off x="3203848" y="3645024"/>
            <a:ext cx="2304256" cy="2308324"/>
          </a:xfrm>
          <a:prstGeom prst="rect">
            <a:avLst/>
          </a:prstGeom>
        </p:spPr>
        <p:txBody>
          <a:bodyPr wrap="square">
            <a:spAutoFit/>
          </a:bodyPr>
          <a:lstStyle/>
          <a:p>
            <a:pPr>
              <a:lnSpc>
                <a:spcPct val="200000"/>
              </a:lnSpc>
            </a:pPr>
            <a:r>
              <a:rPr lang="en-US" altLang="zh-CN" b="1" dirty="0"/>
              <a:t>--</a:t>
            </a:r>
            <a:r>
              <a:rPr lang="zh-CN" altLang="en-US" b="1" dirty="0"/>
              <a:t>外部输入信号</a:t>
            </a:r>
          </a:p>
          <a:p>
            <a:pPr>
              <a:lnSpc>
                <a:spcPct val="200000"/>
              </a:lnSpc>
            </a:pPr>
            <a:r>
              <a:rPr lang="en-US" altLang="zh-CN" b="1" dirty="0"/>
              <a:t>--</a:t>
            </a:r>
            <a:r>
              <a:rPr lang="zh-CN" altLang="en-US" b="1" dirty="0"/>
              <a:t>外部输出信号</a:t>
            </a:r>
          </a:p>
          <a:p>
            <a:pPr>
              <a:lnSpc>
                <a:spcPct val="200000"/>
              </a:lnSpc>
            </a:pPr>
            <a:r>
              <a:rPr lang="en-US" altLang="zh-CN" b="1" dirty="0"/>
              <a:t>--</a:t>
            </a:r>
            <a:r>
              <a:rPr lang="zh-CN" altLang="en-US" b="1" dirty="0"/>
              <a:t>存储电路输入信号</a:t>
            </a:r>
          </a:p>
          <a:p>
            <a:pPr>
              <a:lnSpc>
                <a:spcPct val="200000"/>
              </a:lnSpc>
            </a:pPr>
            <a:r>
              <a:rPr lang="en-US" altLang="zh-CN" b="1" dirty="0"/>
              <a:t>--</a:t>
            </a:r>
            <a:r>
              <a:rPr lang="zh-CN" altLang="en-US" b="1" dirty="0"/>
              <a:t>存储电路输出信号</a:t>
            </a:r>
          </a:p>
        </p:txBody>
      </p:sp>
      <p:pic>
        <p:nvPicPr>
          <p:cNvPr id="1027"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755576" y="3789040"/>
            <a:ext cx="2256250" cy="201622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9" name="标题 1"/>
          <p:cNvSpPr txBox="1">
            <a:spLocks/>
          </p:cNvSpPr>
          <p:nvPr/>
        </p:nvSpPr>
        <p:spPr bwMode="auto">
          <a:xfrm>
            <a:off x="1259632" y="332656"/>
            <a:ext cx="7488832"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时序逻辑电路的基本概念</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41566968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188640"/>
            <a:ext cx="7416824" cy="576064"/>
          </a:xfrm>
        </p:spPr>
        <p:txBody>
          <a:bodyPr/>
          <a:lstStyle/>
          <a:p>
            <a:r>
              <a:rPr lang="en-US" altLang="zh-CN" dirty="0" smtClean="0"/>
              <a:t>6.1.3 </a:t>
            </a:r>
            <a:r>
              <a:rPr lang="zh-CN" altLang="en-US" dirty="0" smtClean="0"/>
              <a:t>时序逻辑电路的表示方法</a:t>
            </a:r>
            <a:endParaRPr lang="zh-CN" altLang="en-US" dirty="0"/>
          </a:p>
        </p:txBody>
      </p:sp>
      <p:sp>
        <p:nvSpPr>
          <p:cNvPr id="3" name="内容占位符 2"/>
          <p:cNvSpPr>
            <a:spLocks noGrp="1"/>
          </p:cNvSpPr>
          <p:nvPr>
            <p:ph idx="1"/>
          </p:nvPr>
        </p:nvSpPr>
        <p:spPr/>
        <p:txBody>
          <a:bodyPr/>
          <a:lstStyle/>
          <a:p>
            <a:pPr lvl="1">
              <a:buSzPct val="100000"/>
            </a:pPr>
            <a:r>
              <a:rPr lang="zh-CN" altLang="en-US" dirty="0"/>
              <a:t>则它们之间的逻辑关系可描述为</a:t>
            </a:r>
          </a:p>
        </p:txBody>
      </p:sp>
      <p:pic>
        <p:nvPicPr>
          <p:cNvPr id="1026" name="Picture 2" descr="E:\wrj\课件\数字电路与系统\数字电路与数字系统\tupian\6-2.jpg"/>
          <p:cNvPicPr>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6156176" y="1700808"/>
            <a:ext cx="2798438" cy="1800000"/>
          </a:xfrm>
          <a:prstGeom prst="rect">
            <a:avLst/>
          </a:prstGeom>
          <a:noFill/>
          <a:extLst>
            <a:ext uri="{909E8E84-426E-40DD-AFC4-6F175D3DCCD1}">
              <a14:hiddenFill xmlns:a14="http://schemas.microsoft.com/office/drawing/2010/main" xmlns="">
                <a:solidFill>
                  <a:srgbClr val="FFFFFF"/>
                </a:solidFill>
              </a14:hiddenFill>
            </a:ext>
          </a:extLst>
        </p:spPr>
      </p:pic>
      <p:pic>
        <p:nvPicPr>
          <p:cNvPr id="2050"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483769" y="2276872"/>
            <a:ext cx="3191753" cy="144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4" cstate="print">
            <a:extLst>
              <a:ext uri="{28A0092B-C50C-407E-A947-70E740481C1C}">
                <a14:useLocalDpi xmlns:a14="http://schemas.microsoft.com/office/drawing/2010/main" xmlns="" val="0"/>
              </a:ext>
            </a:extLst>
          </a:blip>
          <a:srcRect/>
          <a:stretch>
            <a:fillRect/>
          </a:stretch>
        </p:blipFill>
        <p:spPr bwMode="auto">
          <a:xfrm>
            <a:off x="2568530" y="3861048"/>
            <a:ext cx="3155598" cy="14400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2052" name="Picture 4"/>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2501845" y="5440167"/>
            <a:ext cx="3222283" cy="137320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矩形 6"/>
          <p:cNvSpPr/>
          <p:nvPr/>
        </p:nvSpPr>
        <p:spPr>
          <a:xfrm>
            <a:off x="467544" y="2840108"/>
            <a:ext cx="1569660" cy="369332"/>
          </a:xfrm>
          <a:prstGeom prst="rect">
            <a:avLst/>
          </a:prstGeom>
        </p:spPr>
        <p:txBody>
          <a:bodyPr wrap="none">
            <a:spAutoFit/>
          </a:bodyPr>
          <a:lstStyle/>
          <a:p>
            <a:r>
              <a:rPr lang="zh-CN" altLang="en-US" b="1" dirty="0"/>
              <a:t>（输出方程）</a:t>
            </a:r>
          </a:p>
        </p:txBody>
      </p:sp>
      <p:sp>
        <p:nvSpPr>
          <p:cNvPr id="8" name="矩形 7"/>
          <p:cNvSpPr/>
          <p:nvPr/>
        </p:nvSpPr>
        <p:spPr>
          <a:xfrm>
            <a:off x="391401" y="4365104"/>
            <a:ext cx="2164375" cy="369332"/>
          </a:xfrm>
          <a:prstGeom prst="rect">
            <a:avLst/>
          </a:prstGeom>
        </p:spPr>
        <p:txBody>
          <a:bodyPr wrap="none">
            <a:spAutoFit/>
          </a:bodyPr>
          <a:lstStyle/>
          <a:p>
            <a:r>
              <a:rPr lang="zh-CN" altLang="en-US" b="1" dirty="0"/>
              <a:t>（驱动</a:t>
            </a:r>
            <a:r>
              <a:rPr lang="en-US" altLang="zh-CN" b="1" dirty="0"/>
              <a:t>/</a:t>
            </a:r>
            <a:r>
              <a:rPr lang="zh-CN" altLang="en-US" b="1" dirty="0"/>
              <a:t>激励方程）</a:t>
            </a:r>
          </a:p>
        </p:txBody>
      </p:sp>
      <p:sp>
        <p:nvSpPr>
          <p:cNvPr id="9" name="矩形 8"/>
          <p:cNvSpPr/>
          <p:nvPr/>
        </p:nvSpPr>
        <p:spPr>
          <a:xfrm>
            <a:off x="467544" y="5942105"/>
            <a:ext cx="1569660" cy="369332"/>
          </a:xfrm>
          <a:prstGeom prst="rect">
            <a:avLst/>
          </a:prstGeom>
        </p:spPr>
        <p:txBody>
          <a:bodyPr wrap="none">
            <a:spAutoFit/>
          </a:bodyPr>
          <a:lstStyle/>
          <a:p>
            <a:r>
              <a:rPr lang="zh-CN" altLang="en-US" b="1" dirty="0"/>
              <a:t>（状态方程）</a:t>
            </a:r>
          </a:p>
        </p:txBody>
      </p:sp>
      <p:sp>
        <p:nvSpPr>
          <p:cNvPr id="10" name="矩形 9"/>
          <p:cNvSpPr/>
          <p:nvPr/>
        </p:nvSpPr>
        <p:spPr>
          <a:xfrm>
            <a:off x="6295112" y="3676382"/>
            <a:ext cx="2262158" cy="369332"/>
          </a:xfrm>
          <a:prstGeom prst="rect">
            <a:avLst/>
          </a:prstGeom>
        </p:spPr>
        <p:txBody>
          <a:bodyPr wrap="none">
            <a:spAutoFit/>
          </a:bodyPr>
          <a:lstStyle/>
          <a:p>
            <a:r>
              <a:rPr lang="zh-CN" altLang="en-US" b="1" dirty="0"/>
              <a:t>用向量形式表达为：</a:t>
            </a:r>
          </a:p>
        </p:txBody>
      </p:sp>
      <p:pic>
        <p:nvPicPr>
          <p:cNvPr id="2053" name="Picture 5"/>
          <p:cNvPicPr>
            <a:picLocks noChangeAspect="1" noChangeArrowheads="1"/>
          </p:cNvPicPr>
          <p:nvPr/>
        </p:nvPicPr>
        <p:blipFill>
          <a:blip r:embed="rId6" cstate="print">
            <a:extLst>
              <a:ext uri="{28A0092B-C50C-407E-A947-70E740481C1C}">
                <a14:useLocalDpi xmlns:a14="http://schemas.microsoft.com/office/drawing/2010/main" xmlns="" val="0"/>
              </a:ext>
            </a:extLst>
          </a:blip>
          <a:srcRect/>
          <a:stretch>
            <a:fillRect/>
          </a:stretch>
        </p:blipFill>
        <p:spPr bwMode="auto">
          <a:xfrm>
            <a:off x="6084168" y="4221088"/>
            <a:ext cx="2742992" cy="185815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13" name="标题 1"/>
          <p:cNvSpPr txBox="1">
            <a:spLocks/>
          </p:cNvSpPr>
          <p:nvPr/>
        </p:nvSpPr>
        <p:spPr bwMode="auto">
          <a:xfrm>
            <a:off x="1331640" y="1124744"/>
            <a:ext cx="741682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kern="0" dirty="0" smtClean="0">
                <a:solidFill>
                  <a:schemeClr val="tx2"/>
                </a:solidFill>
                <a:latin typeface="+mj-lt"/>
                <a:ea typeface="+mj-ea"/>
                <a:cs typeface="+mj-cs"/>
              </a:rPr>
              <a:t>1</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 </a:t>
            </a:r>
            <a:r>
              <a:rPr kumimoji="1" lang="zh-CN" altLang="en-US" sz="3200" b="1" kern="0" dirty="0" smtClean="0">
                <a:solidFill>
                  <a:schemeClr val="tx2"/>
                </a:solidFill>
                <a:latin typeface="+mj-lt"/>
                <a:ea typeface="+mj-ea"/>
                <a:cs typeface="+mj-cs"/>
              </a:rPr>
              <a:t>方程组描述法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80091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5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404664"/>
            <a:ext cx="7560840" cy="566936"/>
          </a:xfrm>
        </p:spPr>
        <p:txBody>
          <a:bodyPr/>
          <a:lstStyle/>
          <a:p>
            <a:r>
              <a:rPr lang="en-US" altLang="zh-CN" dirty="0" smtClean="0"/>
              <a:t>6.1.3 </a:t>
            </a:r>
            <a:r>
              <a:rPr lang="zh-CN" altLang="en-US" dirty="0" smtClean="0"/>
              <a:t>时序逻辑电路的表示方法</a:t>
            </a:r>
            <a:endParaRPr lang="zh-CN" altLang="en-US" dirty="0"/>
          </a:p>
        </p:txBody>
      </p:sp>
      <p:sp>
        <p:nvSpPr>
          <p:cNvPr id="3" name="内容占位符 2"/>
          <p:cNvSpPr>
            <a:spLocks noGrp="1"/>
          </p:cNvSpPr>
          <p:nvPr>
            <p:ph idx="1"/>
          </p:nvPr>
        </p:nvSpPr>
        <p:spPr>
          <a:xfrm>
            <a:off x="467544" y="1988840"/>
            <a:ext cx="8280920" cy="4608512"/>
          </a:xfrm>
        </p:spPr>
        <p:txBody>
          <a:bodyPr/>
          <a:lstStyle/>
          <a:p>
            <a:pPr>
              <a:lnSpc>
                <a:spcPct val="100000"/>
              </a:lnSpc>
              <a:spcBef>
                <a:spcPts val="600"/>
              </a:spcBef>
              <a:buSzPct val="100000"/>
              <a:buFont typeface="Wingdings" pitchFamily="2" charset="2"/>
              <a:buChar char="p"/>
            </a:pPr>
            <a:r>
              <a:rPr lang="zh-CN" altLang="en-US" sz="2800" dirty="0"/>
              <a:t>时序逻辑电路的图表</a:t>
            </a:r>
            <a:r>
              <a:rPr lang="zh-CN" altLang="en-US" sz="2800" dirty="0" smtClean="0"/>
              <a:t>描述</a:t>
            </a:r>
            <a:endParaRPr lang="en-US" altLang="zh-CN" sz="2800" dirty="0" smtClean="0"/>
          </a:p>
          <a:p>
            <a:pPr lvl="1">
              <a:lnSpc>
                <a:spcPct val="100000"/>
              </a:lnSpc>
              <a:spcBef>
                <a:spcPts val="600"/>
              </a:spcBef>
              <a:buSzPct val="100000"/>
            </a:pPr>
            <a:r>
              <a:rPr lang="zh-CN" altLang="en-US" dirty="0"/>
              <a:t>描述时序电路逻辑功能的方法</a:t>
            </a:r>
            <a:r>
              <a:rPr lang="zh-CN" altLang="en-US" dirty="0" smtClean="0"/>
              <a:t>有</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11</a:t>
            </a:fld>
            <a:endParaRPr lang="zh-CN" altLang="en-US"/>
          </a:p>
        </p:txBody>
      </p:sp>
      <p:sp>
        <p:nvSpPr>
          <p:cNvPr id="5" name="矩形 4"/>
          <p:cNvSpPr/>
          <p:nvPr/>
        </p:nvSpPr>
        <p:spPr>
          <a:xfrm>
            <a:off x="971600" y="3506203"/>
            <a:ext cx="773832" cy="923330"/>
          </a:xfrm>
          <a:prstGeom prst="rect">
            <a:avLst/>
          </a:prstGeom>
          <a:solidFill>
            <a:schemeClr val="accent2">
              <a:lumMod val="20000"/>
              <a:lumOff val="80000"/>
            </a:schemeClr>
          </a:solidFill>
          <a:ln>
            <a:solidFill>
              <a:schemeClr val="accent1"/>
            </a:solidFill>
          </a:ln>
        </p:spPr>
        <p:txBody>
          <a:bodyPr wrap="square">
            <a:spAutoFit/>
          </a:bodyPr>
          <a:lstStyle/>
          <a:p>
            <a:pPr>
              <a:lnSpc>
                <a:spcPct val="150000"/>
              </a:lnSpc>
            </a:pPr>
            <a:r>
              <a:rPr lang="zh-CN" altLang="en-US" b="1" dirty="0"/>
              <a:t>理论</a:t>
            </a:r>
          </a:p>
          <a:p>
            <a:pPr>
              <a:lnSpc>
                <a:spcPct val="150000"/>
              </a:lnSpc>
            </a:pPr>
            <a:r>
              <a:rPr lang="zh-CN" altLang="en-US" b="1" dirty="0"/>
              <a:t>描述</a:t>
            </a:r>
          </a:p>
        </p:txBody>
      </p:sp>
      <p:sp>
        <p:nvSpPr>
          <p:cNvPr id="6" name="矩形 5"/>
          <p:cNvSpPr/>
          <p:nvPr/>
        </p:nvSpPr>
        <p:spPr>
          <a:xfrm>
            <a:off x="5166320" y="3513782"/>
            <a:ext cx="917848" cy="923330"/>
          </a:xfrm>
          <a:prstGeom prst="rect">
            <a:avLst/>
          </a:prstGeom>
          <a:solidFill>
            <a:schemeClr val="accent2">
              <a:lumMod val="20000"/>
              <a:lumOff val="80000"/>
            </a:schemeClr>
          </a:solidFill>
          <a:ln>
            <a:solidFill>
              <a:schemeClr val="accent1"/>
            </a:solidFill>
          </a:ln>
        </p:spPr>
        <p:txBody>
          <a:bodyPr wrap="square">
            <a:spAutoFit/>
          </a:bodyPr>
          <a:lstStyle/>
          <a:p>
            <a:pPr>
              <a:lnSpc>
                <a:spcPct val="150000"/>
              </a:lnSpc>
            </a:pPr>
            <a:r>
              <a:rPr lang="zh-CN" altLang="en-US" b="1" dirty="0"/>
              <a:t>直观性</a:t>
            </a:r>
          </a:p>
          <a:p>
            <a:pPr>
              <a:lnSpc>
                <a:spcPct val="150000"/>
              </a:lnSpc>
            </a:pPr>
            <a:r>
              <a:rPr lang="zh-CN" altLang="en-US" b="1" dirty="0"/>
              <a:t>完整性</a:t>
            </a:r>
          </a:p>
        </p:txBody>
      </p:sp>
      <p:sp>
        <p:nvSpPr>
          <p:cNvPr id="7" name="矩形 6"/>
          <p:cNvSpPr/>
          <p:nvPr/>
        </p:nvSpPr>
        <p:spPr>
          <a:xfrm>
            <a:off x="2537520" y="3242300"/>
            <a:ext cx="1349896" cy="1338828"/>
          </a:xfrm>
          <a:prstGeom prst="rect">
            <a:avLst/>
          </a:prstGeom>
          <a:solidFill>
            <a:srgbClr val="E5FFFF"/>
          </a:solidFill>
          <a:ln>
            <a:solidFill>
              <a:schemeClr val="accent1"/>
            </a:solidFill>
          </a:ln>
        </p:spPr>
        <p:txBody>
          <a:bodyPr wrap="square">
            <a:spAutoFit/>
          </a:bodyPr>
          <a:lstStyle/>
          <a:p>
            <a:pPr>
              <a:lnSpc>
                <a:spcPct val="150000"/>
              </a:lnSpc>
            </a:pPr>
            <a:r>
              <a:rPr lang="zh-CN" altLang="en-US" b="1" dirty="0"/>
              <a:t>驱动方程</a:t>
            </a:r>
          </a:p>
          <a:p>
            <a:pPr>
              <a:lnSpc>
                <a:spcPct val="150000"/>
              </a:lnSpc>
            </a:pPr>
            <a:r>
              <a:rPr lang="zh-CN" altLang="en-US" b="1" dirty="0"/>
              <a:t>状态方程</a:t>
            </a:r>
          </a:p>
          <a:p>
            <a:pPr>
              <a:lnSpc>
                <a:spcPct val="150000"/>
              </a:lnSpc>
            </a:pPr>
            <a:r>
              <a:rPr lang="zh-CN" altLang="en-US" b="1" dirty="0"/>
              <a:t>输出方程</a:t>
            </a:r>
          </a:p>
        </p:txBody>
      </p:sp>
      <p:sp>
        <p:nvSpPr>
          <p:cNvPr id="8" name="矩形 7"/>
          <p:cNvSpPr/>
          <p:nvPr/>
        </p:nvSpPr>
        <p:spPr>
          <a:xfrm>
            <a:off x="6876256" y="3284984"/>
            <a:ext cx="1512168" cy="1338828"/>
          </a:xfrm>
          <a:prstGeom prst="rect">
            <a:avLst/>
          </a:prstGeom>
          <a:solidFill>
            <a:srgbClr val="E5FFFF"/>
          </a:solidFill>
          <a:ln>
            <a:solidFill>
              <a:schemeClr val="accent1"/>
            </a:solidFill>
          </a:ln>
        </p:spPr>
        <p:txBody>
          <a:bodyPr wrap="square">
            <a:spAutoFit/>
          </a:bodyPr>
          <a:lstStyle/>
          <a:p>
            <a:pPr>
              <a:lnSpc>
                <a:spcPct val="150000"/>
              </a:lnSpc>
            </a:pPr>
            <a:r>
              <a:rPr lang="zh-CN" altLang="en-US" b="1" dirty="0"/>
              <a:t>状态转换表</a:t>
            </a:r>
          </a:p>
          <a:p>
            <a:pPr>
              <a:lnSpc>
                <a:spcPct val="150000"/>
              </a:lnSpc>
            </a:pPr>
            <a:r>
              <a:rPr lang="zh-CN" altLang="en-US" b="1" dirty="0"/>
              <a:t>状态转换图</a:t>
            </a:r>
          </a:p>
          <a:p>
            <a:pPr>
              <a:lnSpc>
                <a:spcPct val="150000"/>
              </a:lnSpc>
            </a:pPr>
            <a:r>
              <a:rPr lang="zh-CN" altLang="en-US" b="1" dirty="0"/>
              <a:t>时序图</a:t>
            </a:r>
          </a:p>
        </p:txBody>
      </p:sp>
      <p:sp>
        <p:nvSpPr>
          <p:cNvPr id="9" name="左大括号 8"/>
          <p:cNvSpPr/>
          <p:nvPr/>
        </p:nvSpPr>
        <p:spPr bwMode="auto">
          <a:xfrm>
            <a:off x="1871192" y="3370462"/>
            <a:ext cx="450304" cy="1131079"/>
          </a:xfrm>
          <a:prstGeom prst="leftBrace">
            <a:avLst/>
          </a:prstGeom>
          <a:noFill/>
          <a:ln w="9525" cap="flat" cmpd="sng" algn="ctr">
            <a:solidFill>
              <a:schemeClr val="tx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0" name="左大括号 9"/>
          <p:cNvSpPr/>
          <p:nvPr/>
        </p:nvSpPr>
        <p:spPr bwMode="auto">
          <a:xfrm>
            <a:off x="6300192" y="3450049"/>
            <a:ext cx="450304" cy="1131079"/>
          </a:xfrm>
          <a:prstGeom prst="leftBrace">
            <a:avLst/>
          </a:prstGeom>
          <a:noFill/>
          <a:ln w="9525" cap="flat" cmpd="sng" algn="ctr">
            <a:solidFill>
              <a:schemeClr val="tx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1" name="矩形 10"/>
          <p:cNvSpPr/>
          <p:nvPr/>
        </p:nvSpPr>
        <p:spPr>
          <a:xfrm>
            <a:off x="2267744" y="4941168"/>
            <a:ext cx="4339650" cy="369332"/>
          </a:xfrm>
          <a:prstGeom prst="rect">
            <a:avLst/>
          </a:prstGeom>
        </p:spPr>
        <p:txBody>
          <a:bodyPr wrap="none">
            <a:spAutoFit/>
          </a:bodyPr>
          <a:lstStyle/>
          <a:p>
            <a:r>
              <a:rPr lang="zh-CN" altLang="en-US" b="1" dirty="0"/>
              <a:t>三大方程与三大图表之间可以相互转换。</a:t>
            </a:r>
          </a:p>
        </p:txBody>
      </p:sp>
      <p:sp>
        <p:nvSpPr>
          <p:cNvPr id="12" name="标题 1"/>
          <p:cNvSpPr txBox="1">
            <a:spLocks/>
          </p:cNvSpPr>
          <p:nvPr/>
        </p:nvSpPr>
        <p:spPr bwMode="auto">
          <a:xfrm>
            <a:off x="1331640" y="1124744"/>
            <a:ext cx="741682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kern="0" dirty="0" smtClean="0">
                <a:solidFill>
                  <a:schemeClr val="tx2"/>
                </a:solidFill>
                <a:latin typeface="+mj-lt"/>
                <a:ea typeface="+mj-ea"/>
                <a:cs typeface="+mj-cs"/>
              </a:rPr>
              <a:t>2</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 </a:t>
            </a:r>
            <a:r>
              <a:rPr kumimoji="1" lang="zh-CN" altLang="en-US" sz="3200" b="1" kern="0" dirty="0" smtClean="0">
                <a:solidFill>
                  <a:schemeClr val="tx2"/>
                </a:solidFill>
                <a:latin typeface="+mj-lt"/>
                <a:ea typeface="+mj-ea"/>
                <a:cs typeface="+mj-cs"/>
              </a:rPr>
              <a:t>状态图和状态表描述法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09375722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188640"/>
            <a:ext cx="7488832" cy="638944"/>
          </a:xfrm>
        </p:spPr>
        <p:txBody>
          <a:bodyPr/>
          <a:lstStyle/>
          <a:p>
            <a:r>
              <a:rPr lang="en-US" altLang="zh-CN" dirty="0" smtClean="0"/>
              <a:t>6.1.3 </a:t>
            </a:r>
            <a:r>
              <a:rPr lang="zh-CN" altLang="en-US" dirty="0" smtClean="0"/>
              <a:t>时序逻辑电路的表示方法</a:t>
            </a:r>
            <a:endParaRPr lang="zh-CN" altLang="en-US" dirty="0"/>
          </a:p>
        </p:txBody>
      </p:sp>
      <p:sp>
        <p:nvSpPr>
          <p:cNvPr id="3" name="内容占位符 2"/>
          <p:cNvSpPr>
            <a:spLocks noGrp="1"/>
          </p:cNvSpPr>
          <p:nvPr>
            <p:ph idx="1"/>
          </p:nvPr>
        </p:nvSpPr>
        <p:spPr>
          <a:xfrm>
            <a:off x="467544" y="1988840"/>
            <a:ext cx="8208912" cy="4464496"/>
          </a:xfrm>
        </p:spPr>
        <p:txBody>
          <a:bodyPr/>
          <a:lstStyle/>
          <a:p>
            <a:pPr lvl="1">
              <a:lnSpc>
                <a:spcPct val="100000"/>
              </a:lnSpc>
              <a:spcBef>
                <a:spcPts val="600"/>
              </a:spcBef>
              <a:buSzPct val="100000"/>
            </a:pPr>
            <a:r>
              <a:rPr lang="zh-CN" altLang="en-US" dirty="0"/>
              <a:t>状态转换表（ </a:t>
            </a:r>
            <a:r>
              <a:rPr lang="en-US" altLang="zh-CN" dirty="0"/>
              <a:t>State Table </a:t>
            </a:r>
            <a:r>
              <a:rPr lang="zh-CN" altLang="en-US" dirty="0" smtClean="0"/>
              <a:t>）</a:t>
            </a:r>
            <a:endParaRPr lang="en-US" altLang="zh-CN" dirty="0" smtClean="0"/>
          </a:p>
          <a:p>
            <a:pPr lvl="2">
              <a:lnSpc>
                <a:spcPct val="100000"/>
              </a:lnSpc>
              <a:spcBef>
                <a:spcPts val="600"/>
              </a:spcBef>
              <a:buClr>
                <a:srgbClr val="0000CC"/>
              </a:buClr>
              <a:buSzPct val="100000"/>
              <a:buFont typeface="Wingdings" pitchFamily="2" charset="2"/>
              <a:buChar char="u"/>
            </a:pPr>
            <a:r>
              <a:rPr lang="zh-CN" altLang="en-US" dirty="0"/>
              <a:t>若将任何一组输入变量及电路初态的取值</a:t>
            </a:r>
            <a:r>
              <a:rPr lang="zh-CN" altLang="en-US" dirty="0" smtClean="0"/>
              <a:t>代入</a:t>
            </a:r>
            <a:r>
              <a:rPr lang="zh-CN" altLang="en-US" dirty="0"/>
              <a:t>状态方程和输出方程，即可算出电路的</a:t>
            </a:r>
            <a:r>
              <a:rPr lang="zh-CN" altLang="en-US" dirty="0">
                <a:solidFill>
                  <a:srgbClr val="0000CC"/>
                </a:solidFill>
              </a:rPr>
              <a:t>次态</a:t>
            </a:r>
            <a:r>
              <a:rPr lang="zh-CN" altLang="en-US" dirty="0" smtClean="0"/>
              <a:t>和</a:t>
            </a:r>
            <a:r>
              <a:rPr lang="zh-CN" altLang="en-US" dirty="0" smtClean="0">
                <a:solidFill>
                  <a:srgbClr val="0000CC"/>
                </a:solidFill>
              </a:rPr>
              <a:t>现</a:t>
            </a:r>
            <a:r>
              <a:rPr lang="zh-CN" altLang="en-US" dirty="0">
                <a:solidFill>
                  <a:srgbClr val="0000CC"/>
                </a:solidFill>
              </a:rPr>
              <a:t>态下的输出值</a:t>
            </a:r>
            <a:r>
              <a:rPr lang="zh-CN" altLang="en-US" dirty="0" smtClean="0"/>
              <a:t>，</a:t>
            </a:r>
            <a:endParaRPr lang="en-US" altLang="zh-CN" dirty="0" smtClean="0"/>
          </a:p>
          <a:p>
            <a:pPr lvl="2">
              <a:lnSpc>
                <a:spcPct val="100000"/>
              </a:lnSpc>
              <a:spcBef>
                <a:spcPts val="600"/>
              </a:spcBef>
              <a:buClr>
                <a:srgbClr val="0000CC"/>
              </a:buClr>
              <a:buSzPct val="100000"/>
              <a:buFont typeface="Wingdings" pitchFamily="2" charset="2"/>
              <a:buChar char="u"/>
            </a:pPr>
            <a:r>
              <a:rPr lang="zh-CN" altLang="en-US" dirty="0" smtClean="0"/>
              <a:t>以</a:t>
            </a:r>
            <a:r>
              <a:rPr lang="zh-CN" altLang="en-US" dirty="0"/>
              <a:t>得到的次态作为</a:t>
            </a:r>
            <a:r>
              <a:rPr lang="zh-CN" altLang="en-US" dirty="0">
                <a:solidFill>
                  <a:srgbClr val="0000CC"/>
                </a:solidFill>
              </a:rPr>
              <a:t>新的初态</a:t>
            </a:r>
            <a:r>
              <a:rPr lang="zh-CN" altLang="en-US" dirty="0" smtClean="0"/>
              <a:t>，和</a:t>
            </a:r>
            <a:r>
              <a:rPr lang="zh-CN" altLang="en-US" dirty="0"/>
              <a:t>这时的输入变量取值一起</a:t>
            </a:r>
            <a:r>
              <a:rPr lang="zh-CN" altLang="en-US" dirty="0">
                <a:solidFill>
                  <a:srgbClr val="C00000"/>
                </a:solidFill>
              </a:rPr>
              <a:t>再</a:t>
            </a:r>
            <a:r>
              <a:rPr lang="zh-CN" altLang="en-US" dirty="0"/>
              <a:t>代入状态方程和</a:t>
            </a:r>
            <a:r>
              <a:rPr lang="zh-CN" altLang="en-US" dirty="0" smtClean="0"/>
              <a:t>输出方程</a:t>
            </a:r>
            <a:r>
              <a:rPr lang="zh-CN" altLang="en-US" dirty="0"/>
              <a:t>进行计算，又得到一组</a:t>
            </a:r>
            <a:r>
              <a:rPr lang="zh-CN" altLang="en-US" dirty="0">
                <a:solidFill>
                  <a:srgbClr val="C00000"/>
                </a:solidFill>
              </a:rPr>
              <a:t>新</a:t>
            </a:r>
            <a:r>
              <a:rPr lang="zh-CN" altLang="en-US" dirty="0"/>
              <a:t>的次态和输出值</a:t>
            </a:r>
            <a:r>
              <a:rPr lang="zh-CN" altLang="en-US" dirty="0" smtClean="0"/>
              <a:t>。</a:t>
            </a:r>
            <a:endParaRPr lang="en-US" altLang="zh-CN" dirty="0" smtClean="0"/>
          </a:p>
          <a:p>
            <a:pPr lvl="2">
              <a:lnSpc>
                <a:spcPct val="100000"/>
              </a:lnSpc>
              <a:spcBef>
                <a:spcPts val="600"/>
              </a:spcBef>
              <a:buClr>
                <a:srgbClr val="0000CC"/>
              </a:buClr>
              <a:buSzPct val="100000"/>
              <a:buFont typeface="Wingdings" pitchFamily="2" charset="2"/>
              <a:buChar char="u"/>
            </a:pPr>
            <a:r>
              <a:rPr lang="zh-CN" altLang="en-US" dirty="0" smtClean="0"/>
              <a:t>如此</a:t>
            </a:r>
            <a:r>
              <a:rPr lang="zh-CN" altLang="en-US" dirty="0"/>
              <a:t>继续下去，把全部的计算结果列成</a:t>
            </a:r>
            <a:r>
              <a:rPr lang="zh-CN" altLang="en-US" dirty="0">
                <a:solidFill>
                  <a:srgbClr val="0000CC"/>
                </a:solidFill>
              </a:rPr>
              <a:t>真值表</a:t>
            </a:r>
            <a:r>
              <a:rPr lang="zh-CN" altLang="en-US" dirty="0" smtClean="0"/>
              <a:t>的形式</a:t>
            </a:r>
            <a:r>
              <a:rPr lang="zh-CN" altLang="en-US" dirty="0"/>
              <a:t>，就得到了状态转换表。</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12</a:t>
            </a:fld>
            <a:endParaRPr lang="zh-CN" altLang="en-US"/>
          </a:p>
        </p:txBody>
      </p:sp>
      <p:sp>
        <p:nvSpPr>
          <p:cNvPr id="5" name="标题 1"/>
          <p:cNvSpPr txBox="1">
            <a:spLocks/>
          </p:cNvSpPr>
          <p:nvPr/>
        </p:nvSpPr>
        <p:spPr bwMode="auto">
          <a:xfrm>
            <a:off x="1331640" y="1124744"/>
            <a:ext cx="741682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kern="0" dirty="0" smtClean="0">
                <a:solidFill>
                  <a:schemeClr val="tx2"/>
                </a:solidFill>
                <a:latin typeface="+mj-lt"/>
                <a:ea typeface="+mj-ea"/>
                <a:cs typeface="+mj-cs"/>
              </a:rPr>
              <a:t>2</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 </a:t>
            </a:r>
            <a:r>
              <a:rPr kumimoji="1" lang="zh-CN" altLang="en-US" sz="3200" b="1" kern="0" dirty="0" smtClean="0">
                <a:solidFill>
                  <a:schemeClr val="tx2"/>
                </a:solidFill>
                <a:latin typeface="+mj-lt"/>
                <a:ea typeface="+mj-ea"/>
                <a:cs typeface="+mj-cs"/>
              </a:rPr>
              <a:t>状态图和状态表描述法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71662257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260648"/>
            <a:ext cx="7416824" cy="638944"/>
          </a:xfrm>
        </p:spPr>
        <p:txBody>
          <a:bodyPr/>
          <a:lstStyle/>
          <a:p>
            <a:r>
              <a:rPr lang="en-US" altLang="zh-CN" dirty="0" smtClean="0"/>
              <a:t>6.1.3 </a:t>
            </a:r>
            <a:r>
              <a:rPr lang="zh-CN" altLang="en-US" dirty="0" smtClean="0"/>
              <a:t>时序逻辑电路的表示方法</a:t>
            </a:r>
            <a:endParaRPr lang="zh-CN" altLang="en-US" dirty="0"/>
          </a:p>
        </p:txBody>
      </p:sp>
      <p:sp>
        <p:nvSpPr>
          <p:cNvPr id="3" name="内容占位符 2"/>
          <p:cNvSpPr>
            <a:spLocks noGrp="1"/>
          </p:cNvSpPr>
          <p:nvPr>
            <p:ph idx="1"/>
          </p:nvPr>
        </p:nvSpPr>
        <p:spPr>
          <a:xfrm>
            <a:off x="467544" y="1988840"/>
            <a:ext cx="8352928" cy="4608512"/>
          </a:xfrm>
        </p:spPr>
        <p:txBody>
          <a:bodyPr/>
          <a:lstStyle/>
          <a:p>
            <a:pPr lvl="1">
              <a:lnSpc>
                <a:spcPct val="100000"/>
              </a:lnSpc>
              <a:spcBef>
                <a:spcPts val="600"/>
              </a:spcBef>
              <a:buSzPct val="100000"/>
            </a:pPr>
            <a:r>
              <a:rPr lang="zh-CN" altLang="en-US" sz="2400" dirty="0"/>
              <a:t>状态转换图（ </a:t>
            </a:r>
            <a:r>
              <a:rPr lang="en-US" altLang="zh-CN" sz="2400" dirty="0"/>
              <a:t>State Diagram </a:t>
            </a:r>
            <a:r>
              <a:rPr lang="zh-CN" altLang="en-US" sz="2400" dirty="0"/>
              <a:t>）</a:t>
            </a:r>
          </a:p>
          <a:p>
            <a:pPr lvl="2">
              <a:lnSpc>
                <a:spcPct val="100000"/>
              </a:lnSpc>
              <a:spcBef>
                <a:spcPts val="600"/>
              </a:spcBef>
              <a:buClr>
                <a:srgbClr val="0000CC"/>
              </a:buClr>
              <a:buSzPct val="100000"/>
              <a:buFont typeface="Wingdings" pitchFamily="2" charset="2"/>
              <a:buChar char="u"/>
            </a:pPr>
            <a:r>
              <a:rPr lang="zh-CN" altLang="en-US" dirty="0"/>
              <a:t>为了以更加形象的方式直观的显示出</a:t>
            </a:r>
            <a:r>
              <a:rPr lang="zh-CN" altLang="en-US" dirty="0" smtClean="0"/>
              <a:t>时序电路的</a:t>
            </a:r>
            <a:r>
              <a:rPr lang="zh-CN" altLang="en-US" dirty="0"/>
              <a:t>逻辑功能，可以进一步把状态转换表的内容</a:t>
            </a:r>
            <a:r>
              <a:rPr lang="zh-CN" altLang="en-US" dirty="0" smtClean="0"/>
              <a:t>表示</a:t>
            </a:r>
            <a:r>
              <a:rPr lang="zh-CN" altLang="en-US" dirty="0"/>
              <a:t>成</a:t>
            </a:r>
            <a:r>
              <a:rPr lang="zh-CN" altLang="en-US" dirty="0">
                <a:solidFill>
                  <a:srgbClr val="0000CC"/>
                </a:solidFill>
              </a:rPr>
              <a:t>状态转换图</a:t>
            </a:r>
            <a:r>
              <a:rPr lang="zh-CN" altLang="en-US" dirty="0"/>
              <a:t>的形式</a:t>
            </a:r>
            <a:r>
              <a:rPr lang="zh-CN" altLang="en-US" dirty="0" smtClean="0"/>
              <a:t>。</a:t>
            </a:r>
            <a:endParaRPr lang="en-US" altLang="zh-CN" dirty="0" smtClean="0"/>
          </a:p>
          <a:p>
            <a:pPr lvl="2">
              <a:lnSpc>
                <a:spcPct val="100000"/>
              </a:lnSpc>
              <a:spcBef>
                <a:spcPts val="600"/>
              </a:spcBef>
              <a:buClr>
                <a:srgbClr val="0000CC"/>
              </a:buClr>
              <a:buSzPct val="100000"/>
              <a:buFont typeface="Wingdings" pitchFamily="2" charset="2"/>
              <a:buChar char="u"/>
            </a:pPr>
            <a:r>
              <a:rPr lang="zh-CN" altLang="en-US" dirty="0" smtClean="0"/>
              <a:t>将</a:t>
            </a:r>
            <a:r>
              <a:rPr lang="zh-CN" altLang="en-US" dirty="0"/>
              <a:t>状态转换表表示成</a:t>
            </a:r>
            <a:r>
              <a:rPr lang="zh-CN" altLang="en-US" dirty="0" smtClean="0"/>
              <a:t>转换</a:t>
            </a:r>
            <a:r>
              <a:rPr lang="zh-CN" altLang="en-US" dirty="0"/>
              <a:t>图时，是以</a:t>
            </a:r>
            <a:r>
              <a:rPr lang="zh-CN" altLang="en-US" dirty="0">
                <a:solidFill>
                  <a:srgbClr val="0000CC"/>
                </a:solidFill>
              </a:rPr>
              <a:t>小圆圈</a:t>
            </a:r>
            <a:r>
              <a:rPr lang="zh-CN" altLang="en-US" dirty="0"/>
              <a:t>表示电路的各个</a:t>
            </a:r>
            <a:r>
              <a:rPr lang="zh-CN" altLang="en-US" dirty="0">
                <a:solidFill>
                  <a:srgbClr val="0000CC"/>
                </a:solidFill>
              </a:rPr>
              <a:t>状态</a:t>
            </a:r>
            <a:r>
              <a:rPr lang="zh-CN" altLang="en-US" dirty="0"/>
              <a:t>，</a:t>
            </a:r>
            <a:r>
              <a:rPr lang="zh-CN" altLang="en-US" dirty="0" smtClean="0"/>
              <a:t>圆圈中</a:t>
            </a:r>
            <a:r>
              <a:rPr lang="zh-CN" altLang="en-US" dirty="0"/>
              <a:t>填入存储单元的</a:t>
            </a:r>
            <a:r>
              <a:rPr lang="zh-CN" altLang="en-US" dirty="0">
                <a:solidFill>
                  <a:srgbClr val="0000CC"/>
                </a:solidFill>
              </a:rPr>
              <a:t>状态值</a:t>
            </a:r>
            <a:r>
              <a:rPr lang="zh-CN" altLang="en-US" dirty="0"/>
              <a:t>，圆圈之间用</a:t>
            </a:r>
            <a:r>
              <a:rPr lang="zh-CN" altLang="en-US" dirty="0">
                <a:solidFill>
                  <a:srgbClr val="0000CC"/>
                </a:solidFill>
              </a:rPr>
              <a:t>箭头</a:t>
            </a:r>
            <a:r>
              <a:rPr lang="zh-CN" altLang="en-US" dirty="0" smtClean="0"/>
              <a:t>表示状态</a:t>
            </a:r>
            <a:r>
              <a:rPr lang="zh-CN" altLang="en-US" dirty="0"/>
              <a:t>转换的</a:t>
            </a:r>
            <a:r>
              <a:rPr lang="zh-CN" altLang="en-US" dirty="0">
                <a:solidFill>
                  <a:srgbClr val="0000CC"/>
                </a:solidFill>
              </a:rPr>
              <a:t>方向</a:t>
            </a:r>
            <a:r>
              <a:rPr lang="zh-CN" altLang="en-US" dirty="0"/>
              <a:t>，在箭头旁注明状态转换前的</a:t>
            </a:r>
            <a:r>
              <a:rPr lang="zh-CN" altLang="en-US" dirty="0" smtClean="0">
                <a:solidFill>
                  <a:srgbClr val="0000CC"/>
                </a:solidFill>
              </a:rPr>
              <a:t>输入变量</a:t>
            </a:r>
            <a:r>
              <a:rPr lang="zh-CN" altLang="en-US" dirty="0">
                <a:solidFill>
                  <a:srgbClr val="0000CC"/>
                </a:solidFill>
              </a:rPr>
              <a:t>取值和输出值</a:t>
            </a:r>
            <a:r>
              <a:rPr lang="zh-CN" altLang="en-US" dirty="0"/>
              <a:t>，输入和输出用斜线分开</a:t>
            </a:r>
            <a:r>
              <a:rPr lang="zh-CN" altLang="en-US" dirty="0" smtClean="0"/>
              <a:t>，斜线</a:t>
            </a:r>
            <a:r>
              <a:rPr lang="zh-CN" altLang="en-US" dirty="0"/>
              <a:t>上方写输入值，下方写输出值。</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13</a:t>
            </a:fld>
            <a:endParaRPr lang="zh-CN" altLang="en-US"/>
          </a:p>
        </p:txBody>
      </p:sp>
      <p:sp>
        <p:nvSpPr>
          <p:cNvPr id="5" name="标题 1"/>
          <p:cNvSpPr txBox="1">
            <a:spLocks/>
          </p:cNvSpPr>
          <p:nvPr/>
        </p:nvSpPr>
        <p:spPr bwMode="auto">
          <a:xfrm>
            <a:off x="1331640" y="1124744"/>
            <a:ext cx="741682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kern="0" dirty="0" smtClean="0">
                <a:solidFill>
                  <a:schemeClr val="tx2"/>
                </a:solidFill>
                <a:latin typeface="+mj-lt"/>
                <a:ea typeface="+mj-ea"/>
                <a:cs typeface="+mj-cs"/>
              </a:rPr>
              <a:t>2</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 </a:t>
            </a:r>
            <a:r>
              <a:rPr kumimoji="1" lang="zh-CN" altLang="en-US" sz="3200" b="1" kern="0" dirty="0" smtClean="0">
                <a:solidFill>
                  <a:schemeClr val="tx2"/>
                </a:solidFill>
                <a:latin typeface="+mj-lt"/>
                <a:ea typeface="+mj-ea"/>
                <a:cs typeface="+mj-cs"/>
              </a:rPr>
              <a:t>状态图和状态表描述法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07373252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476672"/>
            <a:ext cx="7704856" cy="566936"/>
          </a:xfrm>
        </p:spPr>
        <p:txBody>
          <a:bodyPr/>
          <a:lstStyle/>
          <a:p>
            <a:r>
              <a:rPr lang="en-US" altLang="zh-CN" dirty="0" smtClean="0"/>
              <a:t>6.1.3 </a:t>
            </a:r>
            <a:r>
              <a:rPr lang="zh-CN" altLang="en-US" dirty="0" smtClean="0"/>
              <a:t>时序逻辑电路的表示方法</a:t>
            </a:r>
            <a:endParaRPr lang="zh-CN" altLang="en-US" dirty="0"/>
          </a:p>
        </p:txBody>
      </p:sp>
      <p:sp>
        <p:nvSpPr>
          <p:cNvPr id="3" name="内容占位符 2"/>
          <p:cNvSpPr>
            <a:spLocks noGrp="1"/>
          </p:cNvSpPr>
          <p:nvPr>
            <p:ph idx="1"/>
          </p:nvPr>
        </p:nvSpPr>
        <p:spPr>
          <a:xfrm>
            <a:off x="467544" y="1988840"/>
            <a:ext cx="8352928" cy="4608512"/>
          </a:xfrm>
        </p:spPr>
        <p:txBody>
          <a:bodyPr/>
          <a:lstStyle/>
          <a:p>
            <a:pPr lvl="1">
              <a:lnSpc>
                <a:spcPct val="100000"/>
              </a:lnSpc>
              <a:spcBef>
                <a:spcPts val="600"/>
              </a:spcBef>
              <a:buSzPct val="100000"/>
            </a:pPr>
            <a:r>
              <a:rPr lang="zh-CN" altLang="en-US" sz="2400" dirty="0"/>
              <a:t>时序图（</a:t>
            </a:r>
            <a:r>
              <a:rPr lang="en-US" altLang="zh-CN" sz="2400" dirty="0"/>
              <a:t>Timing Diagram </a:t>
            </a:r>
            <a:r>
              <a:rPr lang="zh-CN" altLang="en-US" sz="2400" dirty="0" smtClean="0"/>
              <a:t>）</a:t>
            </a:r>
            <a:endParaRPr lang="en-US" altLang="zh-CN" sz="2400" dirty="0" smtClean="0"/>
          </a:p>
          <a:p>
            <a:pPr lvl="2">
              <a:lnSpc>
                <a:spcPct val="100000"/>
              </a:lnSpc>
              <a:spcBef>
                <a:spcPts val="600"/>
              </a:spcBef>
              <a:buClr>
                <a:srgbClr val="0000CC"/>
              </a:buClr>
              <a:buSzPct val="100000"/>
              <a:buFont typeface="Wingdings" pitchFamily="2" charset="2"/>
              <a:buChar char="u"/>
            </a:pPr>
            <a:r>
              <a:rPr lang="zh-CN" altLang="en-US" dirty="0"/>
              <a:t>为便于用实验或仿真的方法检查时序电路的</a:t>
            </a:r>
            <a:r>
              <a:rPr lang="zh-CN" altLang="en-US" dirty="0" smtClean="0"/>
              <a:t>逻辑</a:t>
            </a:r>
            <a:r>
              <a:rPr lang="zh-CN" altLang="en-US" dirty="0"/>
              <a:t>功能，还可以将状态转换表的内容画成时间</a:t>
            </a:r>
            <a:r>
              <a:rPr lang="zh-CN" altLang="en-US" dirty="0" smtClean="0"/>
              <a:t>波形的</a:t>
            </a:r>
            <a:r>
              <a:rPr lang="zh-CN" altLang="en-US" dirty="0"/>
              <a:t>形式</a:t>
            </a:r>
            <a:r>
              <a:rPr lang="zh-CN" altLang="en-US" dirty="0" smtClean="0"/>
              <a:t>。</a:t>
            </a:r>
            <a:endParaRPr lang="en-US" altLang="zh-CN" dirty="0" smtClean="0"/>
          </a:p>
          <a:p>
            <a:pPr lvl="2">
              <a:lnSpc>
                <a:spcPct val="100000"/>
              </a:lnSpc>
              <a:spcBef>
                <a:spcPts val="600"/>
              </a:spcBef>
              <a:buClr>
                <a:srgbClr val="0000CC"/>
              </a:buClr>
              <a:buSzPct val="100000"/>
              <a:buFont typeface="Wingdings" pitchFamily="2" charset="2"/>
              <a:buChar char="u"/>
            </a:pPr>
            <a:r>
              <a:rPr lang="zh-CN" altLang="en-US" dirty="0" smtClean="0"/>
              <a:t>在</a:t>
            </a:r>
            <a:r>
              <a:rPr lang="zh-CN" altLang="en-US" dirty="0"/>
              <a:t>时钟脉冲序列作用下，</a:t>
            </a:r>
            <a:r>
              <a:rPr lang="zh-CN" altLang="en-US" dirty="0">
                <a:solidFill>
                  <a:srgbClr val="0000CC"/>
                </a:solidFill>
              </a:rPr>
              <a:t>电路状态、</a:t>
            </a:r>
            <a:r>
              <a:rPr lang="zh-CN" altLang="en-US" dirty="0" smtClean="0">
                <a:solidFill>
                  <a:srgbClr val="0000CC"/>
                </a:solidFill>
              </a:rPr>
              <a:t>输出状态</a:t>
            </a:r>
            <a:r>
              <a:rPr lang="zh-CN" altLang="en-US" dirty="0">
                <a:solidFill>
                  <a:srgbClr val="0000CC"/>
                </a:solidFill>
              </a:rPr>
              <a:t>随时间变化的波形图</a:t>
            </a:r>
            <a:r>
              <a:rPr lang="zh-CN" altLang="en-US" dirty="0"/>
              <a:t>叫做</a:t>
            </a:r>
            <a:r>
              <a:rPr lang="zh-CN" altLang="en-US" dirty="0">
                <a:solidFill>
                  <a:srgbClr val="FF0000"/>
                </a:solidFill>
              </a:rPr>
              <a:t>时序图</a:t>
            </a:r>
            <a:r>
              <a:rPr lang="zh-CN" altLang="en-US" dirty="0"/>
              <a:t>。</a:t>
            </a:r>
          </a:p>
          <a:p>
            <a:pPr lvl="2">
              <a:lnSpc>
                <a:spcPct val="100000"/>
              </a:lnSpc>
              <a:spcBef>
                <a:spcPts val="600"/>
              </a:spcBef>
              <a:buClr>
                <a:srgbClr val="0000CC"/>
              </a:buClr>
              <a:buSzPct val="100000"/>
              <a:buFont typeface="Wingdings" pitchFamily="2" charset="2"/>
              <a:buChar char="u"/>
            </a:pPr>
            <a:r>
              <a:rPr lang="zh-CN" altLang="en-US" dirty="0"/>
              <a:t>特别注意：</a:t>
            </a:r>
            <a:r>
              <a:rPr lang="zh-CN" altLang="en-US" dirty="0">
                <a:solidFill>
                  <a:srgbClr val="0000CC"/>
                </a:solidFill>
              </a:rPr>
              <a:t>画时序图时</a:t>
            </a:r>
            <a:r>
              <a:rPr lang="zh-CN" altLang="en-US" dirty="0"/>
              <a:t>，应在</a:t>
            </a:r>
            <a:r>
              <a:rPr lang="en-US" altLang="zh-CN" dirty="0">
                <a:solidFill>
                  <a:srgbClr val="FF0000"/>
                </a:solidFill>
              </a:rPr>
              <a:t>CP</a:t>
            </a:r>
            <a:r>
              <a:rPr lang="zh-CN" altLang="en-US" dirty="0">
                <a:solidFill>
                  <a:srgbClr val="FF0000"/>
                </a:solidFill>
              </a:rPr>
              <a:t>触发沿到来</a:t>
            </a:r>
            <a:r>
              <a:rPr lang="zh-CN" altLang="en-US" dirty="0" smtClean="0"/>
              <a:t>时更新</a:t>
            </a:r>
            <a:r>
              <a:rPr lang="zh-CN" altLang="en-US" dirty="0"/>
              <a:t>所有的状态，即画完各</a:t>
            </a:r>
            <a:r>
              <a:rPr lang="en-US" altLang="zh-CN" dirty="0"/>
              <a:t>Q</a:t>
            </a:r>
            <a:r>
              <a:rPr lang="en-US" altLang="zh-CN" baseline="-25000" dirty="0"/>
              <a:t>i</a:t>
            </a:r>
            <a:r>
              <a:rPr lang="zh-CN" altLang="en-US" dirty="0"/>
              <a:t>的状态后，</a:t>
            </a:r>
            <a:r>
              <a:rPr lang="zh-CN" altLang="en-US" dirty="0">
                <a:solidFill>
                  <a:srgbClr val="0000CC"/>
                </a:solidFill>
              </a:rPr>
              <a:t>输出（</a:t>
            </a:r>
            <a:r>
              <a:rPr lang="zh-CN" altLang="en-US" dirty="0" smtClean="0">
                <a:solidFill>
                  <a:srgbClr val="0000CC"/>
                </a:solidFill>
              </a:rPr>
              <a:t>非</a:t>
            </a:r>
            <a:r>
              <a:rPr lang="en-US" altLang="zh-CN" dirty="0" smtClean="0">
                <a:solidFill>
                  <a:srgbClr val="0000CC"/>
                </a:solidFill>
              </a:rPr>
              <a:t>Q</a:t>
            </a:r>
            <a:r>
              <a:rPr lang="en-US" altLang="zh-CN" baseline="-25000" dirty="0" smtClean="0">
                <a:solidFill>
                  <a:srgbClr val="0000CC"/>
                </a:solidFill>
              </a:rPr>
              <a:t>i</a:t>
            </a:r>
            <a:r>
              <a:rPr lang="zh-CN" altLang="en-US" dirty="0">
                <a:solidFill>
                  <a:srgbClr val="0000CC"/>
                </a:solidFill>
              </a:rPr>
              <a:t>的情况）的时序图应按组合逻辑处理</a:t>
            </a:r>
            <a:r>
              <a:rPr lang="zh-CN" altLang="en-US" dirty="0"/>
              <a:t>。</a:t>
            </a: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14</a:t>
            </a:fld>
            <a:endParaRPr lang="zh-CN" altLang="en-US"/>
          </a:p>
        </p:txBody>
      </p:sp>
      <p:sp>
        <p:nvSpPr>
          <p:cNvPr id="5" name="标题 1"/>
          <p:cNvSpPr txBox="1">
            <a:spLocks/>
          </p:cNvSpPr>
          <p:nvPr/>
        </p:nvSpPr>
        <p:spPr bwMode="auto">
          <a:xfrm>
            <a:off x="1331640" y="1124744"/>
            <a:ext cx="770485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时序图描述法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42236453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6" y="1124744"/>
            <a:ext cx="7776864" cy="566936"/>
          </a:xfrm>
        </p:spPr>
        <p:txBody>
          <a:bodyPr/>
          <a:lstStyle/>
          <a:p>
            <a:r>
              <a:rPr lang="zh-CN" altLang="en-US" dirty="0" smtClean="0"/>
              <a:t>时序逻辑电路的分析</a:t>
            </a:r>
            <a:r>
              <a:rPr lang="en-US" altLang="zh-CN" dirty="0" smtClean="0"/>
              <a:t>---</a:t>
            </a:r>
            <a:r>
              <a:rPr lang="zh-CN" altLang="en-US" dirty="0"/>
              <a:t>同步时序逻辑电路</a:t>
            </a:r>
          </a:p>
        </p:txBody>
      </p:sp>
      <p:sp>
        <p:nvSpPr>
          <p:cNvPr id="3" name="内容占位符 2"/>
          <p:cNvSpPr>
            <a:spLocks noGrp="1"/>
          </p:cNvSpPr>
          <p:nvPr>
            <p:ph idx="1"/>
          </p:nvPr>
        </p:nvSpPr>
        <p:spPr>
          <a:xfrm>
            <a:off x="467544" y="1988840"/>
            <a:ext cx="8487544" cy="4608512"/>
          </a:xfrm>
        </p:spPr>
        <p:txBody>
          <a:bodyPr/>
          <a:lstStyle/>
          <a:p>
            <a:pPr>
              <a:buSzPct val="100000"/>
              <a:buFont typeface="Wingdings" pitchFamily="2" charset="2"/>
              <a:buChar char="p"/>
            </a:pPr>
            <a:r>
              <a:rPr lang="zh-CN" altLang="en-US" sz="2800" dirty="0"/>
              <a:t>同步时序逻辑电路分析的一般</a:t>
            </a:r>
            <a:r>
              <a:rPr lang="zh-CN" altLang="en-US" sz="2800" dirty="0" smtClean="0"/>
              <a:t>步骤</a:t>
            </a:r>
            <a:endParaRPr lang="en-US" altLang="zh-CN" sz="2800" dirty="0" smtClean="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15</a:t>
            </a:fld>
            <a:endParaRPr lang="zh-CN" altLang="en-US"/>
          </a:p>
        </p:txBody>
      </p:sp>
      <p:sp>
        <p:nvSpPr>
          <p:cNvPr id="5" name="矩形 4"/>
          <p:cNvSpPr/>
          <p:nvPr/>
        </p:nvSpPr>
        <p:spPr>
          <a:xfrm>
            <a:off x="2123728" y="2492896"/>
            <a:ext cx="6408713" cy="1754326"/>
          </a:xfrm>
          <a:prstGeom prst="rect">
            <a:avLst/>
          </a:prstGeom>
          <a:solidFill>
            <a:srgbClr val="E5FFFF"/>
          </a:solidFill>
          <a:ln>
            <a:solidFill>
              <a:schemeClr val="accent1"/>
            </a:solidFill>
          </a:ln>
        </p:spPr>
        <p:txBody>
          <a:bodyPr wrap="square">
            <a:spAutoFit/>
          </a:bodyPr>
          <a:lstStyle/>
          <a:p>
            <a:pPr>
              <a:lnSpc>
                <a:spcPct val="150000"/>
              </a:lnSpc>
            </a:pPr>
            <a:r>
              <a:rPr lang="en-US" altLang="zh-CN" b="1" dirty="0"/>
              <a:t>1</a:t>
            </a:r>
            <a:r>
              <a:rPr lang="zh-CN" altLang="en-US" b="1" dirty="0"/>
              <a:t>、从给定的逻辑图中写出每个触发器的</a:t>
            </a:r>
            <a:r>
              <a:rPr lang="zh-CN" altLang="en-US" b="1" dirty="0">
                <a:solidFill>
                  <a:srgbClr val="0000CC"/>
                </a:solidFill>
              </a:rPr>
              <a:t>驱动方程</a:t>
            </a:r>
            <a:r>
              <a:rPr lang="zh-CN" altLang="en-US" b="1" dirty="0"/>
              <a:t>；</a:t>
            </a:r>
          </a:p>
          <a:p>
            <a:pPr>
              <a:lnSpc>
                <a:spcPct val="150000"/>
              </a:lnSpc>
            </a:pPr>
            <a:r>
              <a:rPr lang="en-US" altLang="zh-CN" b="1" dirty="0"/>
              <a:t>2</a:t>
            </a:r>
            <a:r>
              <a:rPr lang="zh-CN" altLang="en-US" b="1" dirty="0"/>
              <a:t>、把得到的驱动方程代入相应触发器的特性</a:t>
            </a:r>
            <a:r>
              <a:rPr lang="zh-CN" altLang="en-US" b="1" dirty="0" smtClean="0"/>
              <a:t>方程</a:t>
            </a:r>
            <a:r>
              <a:rPr lang="zh-CN" altLang="en-US" b="1" dirty="0"/>
              <a:t>，得出每个触发器的</a:t>
            </a:r>
            <a:r>
              <a:rPr lang="zh-CN" altLang="en-US" b="1" dirty="0">
                <a:solidFill>
                  <a:srgbClr val="0000CC"/>
                </a:solidFill>
              </a:rPr>
              <a:t>状态方程</a:t>
            </a:r>
            <a:r>
              <a:rPr lang="zh-CN" altLang="en-US" b="1" dirty="0"/>
              <a:t>（组）；</a:t>
            </a:r>
          </a:p>
          <a:p>
            <a:pPr>
              <a:lnSpc>
                <a:spcPct val="150000"/>
              </a:lnSpc>
            </a:pPr>
            <a:r>
              <a:rPr lang="en-US" altLang="zh-CN" b="1" dirty="0"/>
              <a:t>3</a:t>
            </a:r>
            <a:r>
              <a:rPr lang="zh-CN" altLang="en-US" b="1" dirty="0"/>
              <a:t>、根据逻辑图写出电路的</a:t>
            </a:r>
            <a:r>
              <a:rPr lang="zh-CN" altLang="en-US" b="1" dirty="0">
                <a:solidFill>
                  <a:srgbClr val="0000CC"/>
                </a:solidFill>
              </a:rPr>
              <a:t>输出方程</a:t>
            </a:r>
            <a:r>
              <a:rPr lang="zh-CN" altLang="en-US" b="1" dirty="0"/>
              <a:t>；</a:t>
            </a:r>
          </a:p>
        </p:txBody>
      </p:sp>
      <p:sp>
        <p:nvSpPr>
          <p:cNvPr id="6" name="矩形 5"/>
          <p:cNvSpPr/>
          <p:nvPr/>
        </p:nvSpPr>
        <p:spPr>
          <a:xfrm>
            <a:off x="2195736" y="4365104"/>
            <a:ext cx="6564748" cy="1754326"/>
          </a:xfrm>
          <a:prstGeom prst="rect">
            <a:avLst/>
          </a:prstGeom>
          <a:solidFill>
            <a:srgbClr val="E5FFFF"/>
          </a:solidFill>
          <a:ln>
            <a:solidFill>
              <a:schemeClr val="accent1"/>
            </a:solidFill>
          </a:ln>
        </p:spPr>
        <p:txBody>
          <a:bodyPr wrap="square">
            <a:spAutoFit/>
          </a:bodyPr>
          <a:lstStyle/>
          <a:p>
            <a:pPr>
              <a:lnSpc>
                <a:spcPct val="150000"/>
              </a:lnSpc>
            </a:pPr>
            <a:r>
              <a:rPr lang="en-US" altLang="zh-CN" b="1" dirty="0"/>
              <a:t>4</a:t>
            </a:r>
            <a:r>
              <a:rPr lang="zh-CN" altLang="en-US" b="1" dirty="0"/>
              <a:t>、列出该电路的</a:t>
            </a:r>
            <a:r>
              <a:rPr lang="zh-CN" altLang="en-US" b="1" dirty="0">
                <a:solidFill>
                  <a:srgbClr val="0000CC"/>
                </a:solidFill>
              </a:rPr>
              <a:t>状态转换表</a:t>
            </a:r>
            <a:r>
              <a:rPr lang="zh-CN" altLang="en-US" b="1" dirty="0"/>
              <a:t>；</a:t>
            </a:r>
          </a:p>
          <a:p>
            <a:pPr>
              <a:lnSpc>
                <a:spcPct val="150000"/>
              </a:lnSpc>
            </a:pPr>
            <a:r>
              <a:rPr lang="en-US" altLang="zh-CN" b="1" dirty="0"/>
              <a:t>5</a:t>
            </a:r>
            <a:r>
              <a:rPr lang="zh-CN" altLang="en-US" b="1" dirty="0"/>
              <a:t>、根据状态表画出</a:t>
            </a:r>
            <a:r>
              <a:rPr lang="zh-CN" altLang="en-US" b="1" dirty="0">
                <a:solidFill>
                  <a:srgbClr val="0000CC"/>
                </a:solidFill>
              </a:rPr>
              <a:t>状态转换图</a:t>
            </a:r>
            <a:r>
              <a:rPr lang="zh-CN" altLang="en-US" b="1" dirty="0"/>
              <a:t>（或时序图）</a:t>
            </a:r>
            <a:r>
              <a:rPr lang="zh-CN" altLang="en-US" b="1" dirty="0" smtClean="0"/>
              <a:t>；根据</a:t>
            </a:r>
            <a:r>
              <a:rPr lang="zh-CN" altLang="en-US" b="1" dirty="0"/>
              <a:t>状态转换图、表描述电路的逻辑功能，并</a:t>
            </a:r>
            <a:r>
              <a:rPr lang="zh-CN" altLang="en-US" b="1" dirty="0" smtClean="0"/>
              <a:t>进行</a:t>
            </a:r>
            <a:r>
              <a:rPr lang="zh-CN" altLang="en-US" b="1" dirty="0"/>
              <a:t>自启动验证</a:t>
            </a:r>
            <a:r>
              <a:rPr lang="zh-CN" altLang="en-US" b="1" dirty="0" smtClean="0"/>
              <a:t>。</a:t>
            </a:r>
            <a:endParaRPr lang="en-US" altLang="zh-CN" b="1" dirty="0" smtClean="0"/>
          </a:p>
          <a:p>
            <a:pPr>
              <a:lnSpc>
                <a:spcPct val="150000"/>
              </a:lnSpc>
            </a:pPr>
            <a:r>
              <a:rPr lang="en-US" altLang="zh-CN" b="1" dirty="0"/>
              <a:t>6</a:t>
            </a:r>
            <a:r>
              <a:rPr lang="zh-CN" altLang="en-US" b="1" dirty="0"/>
              <a:t>、必要时画出</a:t>
            </a:r>
            <a:r>
              <a:rPr lang="zh-CN" altLang="en-US" b="1" dirty="0">
                <a:solidFill>
                  <a:srgbClr val="0000CC"/>
                </a:solidFill>
              </a:rPr>
              <a:t>电路时序图</a:t>
            </a:r>
            <a:r>
              <a:rPr lang="zh-CN" altLang="en-US" b="1" dirty="0"/>
              <a:t>（仿真或实验</a:t>
            </a:r>
            <a:r>
              <a:rPr lang="zh-CN" altLang="en-US" b="1" dirty="0" smtClean="0"/>
              <a:t>）。</a:t>
            </a:r>
            <a:endParaRPr lang="zh-CN" altLang="en-US" b="1" dirty="0"/>
          </a:p>
        </p:txBody>
      </p:sp>
      <p:sp>
        <p:nvSpPr>
          <p:cNvPr id="7" name="矩形 6"/>
          <p:cNvSpPr/>
          <p:nvPr/>
        </p:nvSpPr>
        <p:spPr>
          <a:xfrm>
            <a:off x="2183715" y="6265914"/>
            <a:ext cx="6771371" cy="369332"/>
          </a:xfrm>
          <a:prstGeom prst="rect">
            <a:avLst/>
          </a:prstGeom>
          <a:solidFill>
            <a:srgbClr val="E5FFFF"/>
          </a:solidFill>
          <a:ln>
            <a:solidFill>
              <a:schemeClr val="accent1"/>
            </a:solidFill>
          </a:ln>
        </p:spPr>
        <p:txBody>
          <a:bodyPr wrap="square">
            <a:spAutoFit/>
          </a:bodyPr>
          <a:lstStyle/>
          <a:p>
            <a:r>
              <a:rPr lang="zh-CN" altLang="en-US" b="1" dirty="0"/>
              <a:t>根据状态转换图、表描述电路的逻辑功能，并进行</a:t>
            </a:r>
            <a:r>
              <a:rPr lang="zh-CN" altLang="en-US" b="1" dirty="0">
                <a:solidFill>
                  <a:srgbClr val="0000CC"/>
                </a:solidFill>
              </a:rPr>
              <a:t>自启动验证</a:t>
            </a:r>
            <a:r>
              <a:rPr lang="zh-CN" altLang="en-US" b="1" dirty="0" smtClean="0"/>
              <a:t>。</a:t>
            </a:r>
            <a:endParaRPr lang="zh-CN" altLang="en-US" b="1" dirty="0"/>
          </a:p>
        </p:txBody>
      </p:sp>
      <p:sp>
        <p:nvSpPr>
          <p:cNvPr id="8" name="矩形 7"/>
          <p:cNvSpPr/>
          <p:nvPr/>
        </p:nvSpPr>
        <p:spPr>
          <a:xfrm>
            <a:off x="1128290" y="5934670"/>
            <a:ext cx="455141" cy="923330"/>
          </a:xfrm>
          <a:prstGeom prst="rect">
            <a:avLst/>
          </a:prstGeom>
          <a:solidFill>
            <a:schemeClr val="accent2">
              <a:lumMod val="20000"/>
              <a:lumOff val="80000"/>
            </a:schemeClr>
          </a:solidFill>
          <a:ln>
            <a:solidFill>
              <a:schemeClr val="accent1"/>
            </a:solidFill>
          </a:ln>
        </p:spPr>
        <p:txBody>
          <a:bodyPr wrap="square">
            <a:spAutoFit/>
          </a:bodyPr>
          <a:lstStyle/>
          <a:p>
            <a:r>
              <a:rPr lang="zh-CN" altLang="en-US" b="1" dirty="0"/>
              <a:t>得</a:t>
            </a:r>
          </a:p>
          <a:p>
            <a:r>
              <a:rPr lang="zh-CN" altLang="en-US" b="1" dirty="0"/>
              <a:t>结</a:t>
            </a:r>
          </a:p>
          <a:p>
            <a:r>
              <a:rPr lang="zh-CN" altLang="en-US" b="1" dirty="0"/>
              <a:t>论</a:t>
            </a:r>
          </a:p>
        </p:txBody>
      </p:sp>
      <p:sp>
        <p:nvSpPr>
          <p:cNvPr id="9" name="矩形 8"/>
          <p:cNvSpPr/>
          <p:nvPr/>
        </p:nvSpPr>
        <p:spPr>
          <a:xfrm>
            <a:off x="1074266" y="2836386"/>
            <a:ext cx="504056" cy="923330"/>
          </a:xfrm>
          <a:prstGeom prst="rect">
            <a:avLst/>
          </a:prstGeom>
          <a:solidFill>
            <a:schemeClr val="accent2">
              <a:lumMod val="20000"/>
              <a:lumOff val="80000"/>
            </a:schemeClr>
          </a:solidFill>
          <a:ln>
            <a:solidFill>
              <a:schemeClr val="accent1"/>
            </a:solidFill>
          </a:ln>
        </p:spPr>
        <p:txBody>
          <a:bodyPr wrap="square">
            <a:spAutoFit/>
          </a:bodyPr>
          <a:lstStyle/>
          <a:p>
            <a:r>
              <a:rPr lang="zh-CN" altLang="en-US" b="1" dirty="0" smtClean="0"/>
              <a:t>找方程</a:t>
            </a:r>
            <a:endParaRPr lang="zh-CN" altLang="en-US" b="1" dirty="0"/>
          </a:p>
        </p:txBody>
      </p:sp>
      <p:sp>
        <p:nvSpPr>
          <p:cNvPr id="10" name="矩形 9"/>
          <p:cNvSpPr/>
          <p:nvPr/>
        </p:nvSpPr>
        <p:spPr>
          <a:xfrm>
            <a:off x="1103833" y="4642692"/>
            <a:ext cx="504056" cy="923330"/>
          </a:xfrm>
          <a:prstGeom prst="rect">
            <a:avLst/>
          </a:prstGeom>
          <a:solidFill>
            <a:schemeClr val="accent2">
              <a:lumMod val="20000"/>
              <a:lumOff val="80000"/>
            </a:schemeClr>
          </a:solidFill>
          <a:ln>
            <a:solidFill>
              <a:schemeClr val="accent1"/>
            </a:solidFill>
          </a:ln>
        </p:spPr>
        <p:txBody>
          <a:bodyPr wrap="square">
            <a:spAutoFit/>
          </a:bodyPr>
          <a:lstStyle/>
          <a:p>
            <a:r>
              <a:rPr lang="zh-CN" altLang="en-US" b="1" dirty="0" smtClean="0"/>
              <a:t>画图表</a:t>
            </a:r>
            <a:endParaRPr lang="zh-CN" altLang="en-US" b="1" dirty="0"/>
          </a:p>
        </p:txBody>
      </p:sp>
      <p:sp>
        <p:nvSpPr>
          <p:cNvPr id="12" name="右箭头 11"/>
          <p:cNvSpPr/>
          <p:nvPr/>
        </p:nvSpPr>
        <p:spPr bwMode="auto">
          <a:xfrm>
            <a:off x="1671006" y="3140968"/>
            <a:ext cx="420027" cy="157083"/>
          </a:xfrm>
          <a:prstGeom prst="rightArrow">
            <a:avLst/>
          </a:prstGeom>
          <a:solidFill>
            <a:schemeClr val="accent2"/>
          </a:solidFill>
          <a:ln w="9525" cap="flat" cmpd="sng" algn="ctr">
            <a:solidFill>
              <a:schemeClr val="tx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3" name="右箭头 12"/>
          <p:cNvSpPr/>
          <p:nvPr/>
        </p:nvSpPr>
        <p:spPr bwMode="auto">
          <a:xfrm>
            <a:off x="1685789" y="5156095"/>
            <a:ext cx="420027" cy="157083"/>
          </a:xfrm>
          <a:prstGeom prst="rightArrow">
            <a:avLst/>
          </a:prstGeom>
          <a:solidFill>
            <a:schemeClr val="accent2"/>
          </a:solidFill>
          <a:ln w="9525" cap="flat" cmpd="sng" algn="ctr">
            <a:solidFill>
              <a:schemeClr val="tx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4" name="右箭头 13"/>
          <p:cNvSpPr/>
          <p:nvPr/>
        </p:nvSpPr>
        <p:spPr bwMode="auto">
          <a:xfrm>
            <a:off x="1705415" y="6399837"/>
            <a:ext cx="420027" cy="157083"/>
          </a:xfrm>
          <a:prstGeom prst="rightArrow">
            <a:avLst/>
          </a:prstGeom>
          <a:solidFill>
            <a:schemeClr val="accent2"/>
          </a:solidFill>
          <a:ln w="9525" cap="flat" cmpd="sng" algn="ctr">
            <a:solidFill>
              <a:schemeClr val="tx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15"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79104605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75048" y="2780928"/>
            <a:ext cx="8568952" cy="3267744"/>
          </a:xfrm>
        </p:spPr>
        <p:txBody>
          <a:bodyPr/>
          <a:lstStyle/>
          <a:p>
            <a:pPr>
              <a:lnSpc>
                <a:spcPct val="100000"/>
              </a:lnSpc>
              <a:spcBef>
                <a:spcPts val="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6.1</a:t>
            </a:r>
            <a:r>
              <a:rPr lang="en-US" altLang="zh-CN" sz="2800" dirty="0" smtClean="0"/>
              <a:t> </a:t>
            </a:r>
            <a:r>
              <a:rPr lang="zh-CN" altLang="en-US" sz="2800" dirty="0" smtClean="0"/>
              <a:t>试分析如图</a:t>
            </a:r>
            <a:r>
              <a:rPr lang="en-US" altLang="zh-CN" sz="2800" dirty="0" smtClean="0"/>
              <a:t>6.2</a:t>
            </a:r>
            <a:r>
              <a:rPr lang="zh-CN" altLang="en-US" sz="2800" dirty="0" smtClean="0"/>
              <a:t>所示的时序逻辑电路。</a:t>
            </a:r>
            <a:endParaRPr lang="zh-CN" altLang="en-US" sz="2800" dirty="0"/>
          </a:p>
          <a:p>
            <a:pPr>
              <a:lnSpc>
                <a:spcPct val="100000"/>
              </a:lnSpc>
              <a:spcBef>
                <a:spcPts val="0"/>
              </a:spcBef>
              <a:buSzPct val="100000"/>
              <a:buFont typeface="Wingdings" pitchFamily="2" charset="2"/>
              <a:buChar char="p"/>
            </a:pPr>
            <a:r>
              <a:rPr lang="zh-CN" altLang="en-US" sz="2800" dirty="0" smtClean="0">
                <a:solidFill>
                  <a:srgbClr val="0000CC"/>
                </a:solidFill>
              </a:rPr>
              <a:t>解</a:t>
            </a:r>
            <a:r>
              <a:rPr lang="zh-CN" altLang="en-US" sz="2800" dirty="0" smtClean="0"/>
              <a:t>：由于图</a:t>
            </a:r>
            <a:r>
              <a:rPr lang="en-US" altLang="zh-CN" sz="2800" dirty="0" smtClean="0"/>
              <a:t>6.2</a:t>
            </a:r>
            <a:r>
              <a:rPr lang="zh-CN" altLang="en-US" sz="2800" dirty="0" smtClean="0"/>
              <a:t>为同步时序逻辑电路，图中的两个触发器都接至同一个时钟脉冲源</a:t>
            </a:r>
            <a:r>
              <a:rPr lang="en-US" altLang="zh-CN" sz="2800" dirty="0" smtClean="0"/>
              <a:t>CLK</a:t>
            </a:r>
            <a:r>
              <a:rPr lang="zh-CN" altLang="en-US" sz="2800" dirty="0" smtClean="0"/>
              <a:t>，所以各触发器的时钟方程可以不写。</a:t>
            </a:r>
            <a:endParaRPr lang="en-US" altLang="zh-CN" sz="2800" dirty="0" smtClean="0"/>
          </a:p>
          <a:p>
            <a:pPr>
              <a:lnSpc>
                <a:spcPct val="100000"/>
              </a:lnSpc>
              <a:spcBef>
                <a:spcPts val="0"/>
              </a:spcBef>
              <a:buSzPct val="100000"/>
              <a:buNone/>
            </a:pPr>
            <a:r>
              <a:rPr lang="en-US" altLang="zh-CN" sz="2800" dirty="0" smtClean="0"/>
              <a:t>   </a:t>
            </a:r>
            <a:r>
              <a:rPr lang="zh-CN" altLang="en-US" sz="2800" dirty="0" smtClean="0"/>
              <a:t>（</a:t>
            </a:r>
            <a:r>
              <a:rPr lang="en-US" altLang="zh-CN" sz="2800" dirty="0" smtClean="0"/>
              <a:t>1</a:t>
            </a:r>
            <a:r>
              <a:rPr lang="zh-CN" altLang="en-US" sz="2800" dirty="0" smtClean="0"/>
              <a:t>）写出输出方程</a:t>
            </a:r>
            <a:endParaRPr lang="en-US" altLang="zh-CN" sz="2800" dirty="0" smtClean="0"/>
          </a:p>
          <a:p>
            <a:pPr>
              <a:lnSpc>
                <a:spcPct val="100000"/>
              </a:lnSpc>
              <a:spcBef>
                <a:spcPts val="0"/>
              </a:spcBef>
              <a:buSzPct val="100000"/>
              <a:buNone/>
            </a:pPr>
            <a:endParaRPr lang="en-US" altLang="zh-CN" sz="2800" dirty="0" smtClean="0"/>
          </a:p>
          <a:p>
            <a:pPr>
              <a:lnSpc>
                <a:spcPct val="100000"/>
              </a:lnSpc>
              <a:spcBef>
                <a:spcPts val="0"/>
              </a:spcBef>
              <a:buSzPct val="100000"/>
              <a:buNone/>
            </a:pPr>
            <a:r>
              <a:rPr lang="en-US" altLang="zh-CN" sz="2800" dirty="0" smtClean="0"/>
              <a:t>   </a:t>
            </a:r>
            <a:r>
              <a:rPr lang="zh-CN" altLang="en-US" sz="2800" dirty="0" smtClean="0"/>
              <a:t>（</a:t>
            </a:r>
            <a:r>
              <a:rPr lang="en-US" altLang="zh-CN" sz="2800" dirty="0" smtClean="0"/>
              <a:t>2</a:t>
            </a:r>
            <a:r>
              <a:rPr lang="zh-CN" altLang="en-US" sz="2800" dirty="0" smtClean="0"/>
              <a:t>）写出驱动方程</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16</a:t>
            </a:fld>
            <a:endParaRPr lang="zh-CN" altLang="en-US"/>
          </a:p>
        </p:txBody>
      </p:sp>
      <p:sp>
        <p:nvSpPr>
          <p:cNvPr id="7" name="标题 1"/>
          <p:cNvSpPr>
            <a:spLocks noGrp="1"/>
          </p:cNvSpPr>
          <p:nvPr>
            <p:ph type="title"/>
          </p:nvPr>
        </p:nvSpPr>
        <p:spPr>
          <a:xfrm>
            <a:off x="1043608" y="1052736"/>
            <a:ext cx="7776864" cy="638944"/>
          </a:xfrm>
        </p:spPr>
        <p:txBody>
          <a:bodyPr/>
          <a:lstStyle/>
          <a:p>
            <a:r>
              <a:rPr lang="zh-CN" altLang="en-US" dirty="0" smtClean="0"/>
              <a:t>时序逻辑电路的分析</a:t>
            </a:r>
            <a:r>
              <a:rPr lang="en-US" altLang="zh-CN" dirty="0" smtClean="0"/>
              <a:t>---</a:t>
            </a:r>
            <a:r>
              <a:rPr lang="zh-CN" altLang="en-US" dirty="0"/>
              <a:t>同步时序逻辑电路</a:t>
            </a:r>
          </a:p>
        </p:txBody>
      </p:sp>
      <p:sp>
        <p:nvSpPr>
          <p:cNvPr id="5"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67586" name="Object 2"/>
          <p:cNvGraphicFramePr>
            <a:graphicFrameLocks noChangeAspect="1"/>
          </p:cNvGraphicFramePr>
          <p:nvPr/>
        </p:nvGraphicFramePr>
        <p:xfrm>
          <a:off x="4427984" y="4581128"/>
          <a:ext cx="2376264" cy="548368"/>
        </p:xfrm>
        <a:graphic>
          <a:graphicData uri="http://schemas.openxmlformats.org/presentationml/2006/ole">
            <p:oleObj spid="_x0000_s67586" r:id="rId3" imgW="1155600" imgH="266400" progId="">
              <p:embed/>
            </p:oleObj>
          </a:graphicData>
        </a:graphic>
      </p:graphicFrame>
      <p:graphicFrame>
        <p:nvGraphicFramePr>
          <p:cNvPr id="67587" name="Object 3"/>
          <p:cNvGraphicFramePr>
            <a:graphicFrameLocks noChangeAspect="1"/>
          </p:cNvGraphicFramePr>
          <p:nvPr/>
        </p:nvGraphicFramePr>
        <p:xfrm>
          <a:off x="4355977" y="5301208"/>
          <a:ext cx="2952328" cy="992379"/>
        </p:xfrm>
        <a:graphic>
          <a:graphicData uri="http://schemas.openxmlformats.org/presentationml/2006/ole">
            <p:oleObj spid="_x0000_s67587" r:id="rId4" imgW="1511280" imgH="507960" progId="">
              <p:embed/>
            </p:oleObj>
          </a:graphicData>
        </a:graphic>
      </p:graphicFrame>
      <p:pic>
        <p:nvPicPr>
          <p:cNvPr id="9" name="Picture 1"/>
          <p:cNvPicPr>
            <a:picLocks noChangeAspect="1" noChangeArrowheads="1"/>
          </p:cNvPicPr>
          <p:nvPr/>
        </p:nvPicPr>
        <p:blipFill>
          <a:blip r:embed="rId5" cstate="print"/>
          <a:srcRect/>
          <a:stretch>
            <a:fillRect/>
          </a:stretch>
        </p:blipFill>
        <p:spPr bwMode="auto">
          <a:xfrm>
            <a:off x="2206054" y="0"/>
            <a:ext cx="6799708" cy="2780928"/>
          </a:xfrm>
          <a:prstGeom prst="rect">
            <a:avLst/>
          </a:prstGeom>
          <a:noFill/>
          <a:ln w="9525">
            <a:noFill/>
            <a:miter lim="800000"/>
            <a:headEnd/>
            <a:tailEnd/>
          </a:ln>
        </p:spPr>
      </p:pic>
    </p:spTree>
    <p:extLst>
      <p:ext uri="{BB962C8B-B14F-4D97-AF65-F5344CB8AC3E}">
        <p14:creationId xmlns:p14="http://schemas.microsoft.com/office/powerpoint/2010/main" xmlns="" val="327405307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487544" cy="4608512"/>
          </a:xfrm>
        </p:spPr>
        <p:txBody>
          <a:bodyPr/>
          <a:lstStyle/>
          <a:p>
            <a:pPr>
              <a:lnSpc>
                <a:spcPct val="100000"/>
              </a:lnSpc>
              <a:spcBef>
                <a:spcPts val="120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6.1</a:t>
            </a:r>
            <a:r>
              <a:rPr lang="en-US" altLang="zh-CN" sz="2800" dirty="0" smtClean="0"/>
              <a:t> </a:t>
            </a:r>
            <a:r>
              <a:rPr lang="zh-CN" altLang="en-US" sz="2800" dirty="0" smtClean="0">
                <a:solidFill>
                  <a:srgbClr val="0000CC"/>
                </a:solidFill>
              </a:rPr>
              <a:t>解</a:t>
            </a:r>
            <a:r>
              <a:rPr lang="zh-CN" altLang="en-US" sz="2800" dirty="0" smtClean="0"/>
              <a:t>：</a:t>
            </a:r>
            <a:endParaRPr lang="en-US" altLang="zh-CN" sz="2800" dirty="0" smtClean="0"/>
          </a:p>
          <a:p>
            <a:pPr>
              <a:lnSpc>
                <a:spcPct val="100000"/>
              </a:lnSpc>
              <a:spcBef>
                <a:spcPts val="1200"/>
              </a:spcBef>
              <a:buSzPct val="100000"/>
              <a:buNone/>
            </a:pPr>
            <a:r>
              <a:rPr lang="en-US" altLang="zh-CN" sz="2800" dirty="0" smtClean="0"/>
              <a:t>   </a:t>
            </a:r>
            <a:r>
              <a:rPr lang="zh-CN" altLang="en-US" sz="2800" dirty="0" smtClean="0"/>
              <a:t>（</a:t>
            </a:r>
            <a:r>
              <a:rPr lang="en-US" altLang="zh-CN" sz="2800" dirty="0" smtClean="0"/>
              <a:t>3</a:t>
            </a:r>
            <a:r>
              <a:rPr lang="zh-CN" altLang="en-US" sz="2800" dirty="0" smtClean="0"/>
              <a:t>）写出</a:t>
            </a:r>
            <a:r>
              <a:rPr lang="en-US" altLang="zh-CN" sz="2800" dirty="0" smtClean="0"/>
              <a:t>JK</a:t>
            </a:r>
            <a:r>
              <a:rPr lang="zh-CN" altLang="en-US" sz="2800" dirty="0" smtClean="0"/>
              <a:t>触发器的特性方程</a:t>
            </a:r>
            <a:endParaRPr lang="en-US" altLang="zh-CN" sz="2800" dirty="0" smtClean="0"/>
          </a:p>
          <a:p>
            <a:pPr>
              <a:lnSpc>
                <a:spcPct val="100000"/>
              </a:lnSpc>
              <a:spcBef>
                <a:spcPts val="1200"/>
              </a:spcBef>
              <a:buSzPct val="100000"/>
              <a:buNone/>
            </a:pPr>
            <a:endParaRPr lang="en-US" altLang="zh-CN" sz="2800" dirty="0" smtClean="0"/>
          </a:p>
          <a:p>
            <a:pPr>
              <a:lnSpc>
                <a:spcPct val="100000"/>
              </a:lnSpc>
              <a:spcBef>
                <a:spcPts val="1200"/>
              </a:spcBef>
              <a:buSzPct val="100000"/>
              <a:buNone/>
            </a:pPr>
            <a:r>
              <a:rPr lang="en-US" altLang="zh-CN" sz="2800" dirty="0" smtClean="0"/>
              <a:t>      </a:t>
            </a:r>
            <a:r>
              <a:rPr lang="zh-CN" altLang="en-US" sz="2800" dirty="0" smtClean="0"/>
              <a:t>然后将各驱动方程代入，得各触发器的次态方程</a:t>
            </a:r>
            <a:endParaRPr lang="en-US" altLang="zh-CN" sz="2800" dirty="0" smtClean="0"/>
          </a:p>
          <a:p>
            <a:pPr>
              <a:lnSpc>
                <a:spcPct val="100000"/>
              </a:lnSpc>
              <a:spcBef>
                <a:spcPts val="600"/>
              </a:spcBef>
              <a:buSzPct val="100000"/>
              <a:buNone/>
            </a:pPr>
            <a:endParaRPr lang="en-US" altLang="zh-CN" sz="2800" dirty="0" smtClean="0"/>
          </a:p>
          <a:p>
            <a:pPr>
              <a:lnSpc>
                <a:spcPct val="100000"/>
              </a:lnSpc>
              <a:spcBef>
                <a:spcPts val="600"/>
              </a:spcBef>
              <a:buSzPct val="100000"/>
              <a:buNone/>
            </a:pPr>
            <a:r>
              <a:rPr lang="en-US" altLang="zh-CN" sz="2800" dirty="0" smtClean="0"/>
              <a:t>        </a:t>
            </a:r>
          </a:p>
          <a:p>
            <a:pPr>
              <a:lnSpc>
                <a:spcPct val="100000"/>
              </a:lnSpc>
              <a:spcBef>
                <a:spcPts val="600"/>
              </a:spcBef>
              <a:buSzPct val="100000"/>
              <a:buNone/>
            </a:pPr>
            <a:r>
              <a:rPr lang="en-US" altLang="zh-CN" sz="2800" dirty="0" smtClean="0"/>
              <a:t>   </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17</a:t>
            </a:fld>
            <a:endParaRPr lang="zh-CN" altLang="en-US"/>
          </a:p>
        </p:txBody>
      </p:sp>
      <p:sp>
        <p:nvSpPr>
          <p:cNvPr id="7" name="标题 1"/>
          <p:cNvSpPr>
            <a:spLocks noGrp="1"/>
          </p:cNvSpPr>
          <p:nvPr>
            <p:ph type="title"/>
          </p:nvPr>
        </p:nvSpPr>
        <p:spPr>
          <a:xfrm>
            <a:off x="1043608" y="1052736"/>
            <a:ext cx="7776864" cy="638944"/>
          </a:xfrm>
        </p:spPr>
        <p:txBody>
          <a:bodyPr/>
          <a:lstStyle/>
          <a:p>
            <a:r>
              <a:rPr lang="zh-CN" altLang="en-US" dirty="0" smtClean="0"/>
              <a:t>时序逻辑电路的分析</a:t>
            </a:r>
            <a:r>
              <a:rPr lang="en-US" altLang="zh-CN" dirty="0" smtClean="0"/>
              <a:t>---</a:t>
            </a:r>
            <a:r>
              <a:rPr lang="zh-CN" altLang="en-US" dirty="0"/>
              <a:t>同步时序逻辑电路</a:t>
            </a:r>
          </a:p>
        </p:txBody>
      </p:sp>
      <p:sp>
        <p:nvSpPr>
          <p:cNvPr id="5"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19810" name="Object 2"/>
          <p:cNvGraphicFramePr>
            <a:graphicFrameLocks noChangeAspect="1"/>
          </p:cNvGraphicFramePr>
          <p:nvPr/>
        </p:nvGraphicFramePr>
        <p:xfrm>
          <a:off x="1907704" y="3140968"/>
          <a:ext cx="2520280" cy="547887"/>
        </p:xfrm>
        <a:graphic>
          <a:graphicData uri="http://schemas.openxmlformats.org/presentationml/2006/ole">
            <p:oleObj spid="_x0000_s119810" r:id="rId3" imgW="1168200" imgH="253800" progId="">
              <p:embed/>
            </p:oleObj>
          </a:graphicData>
        </a:graphic>
      </p:graphicFrame>
      <p:graphicFrame>
        <p:nvGraphicFramePr>
          <p:cNvPr id="119811" name="Object 3"/>
          <p:cNvGraphicFramePr>
            <a:graphicFrameLocks noChangeAspect="1"/>
          </p:cNvGraphicFramePr>
          <p:nvPr/>
        </p:nvGraphicFramePr>
        <p:xfrm>
          <a:off x="1691680" y="4365104"/>
          <a:ext cx="4904073" cy="1152128"/>
        </p:xfrm>
        <a:graphic>
          <a:graphicData uri="http://schemas.openxmlformats.org/presentationml/2006/ole">
            <p:oleObj spid="_x0000_s119811" r:id="rId4" imgW="2298600" imgH="533160" progId="">
              <p:embed/>
            </p:oleObj>
          </a:graphicData>
        </a:graphic>
      </p:graphicFrame>
      <p:graphicFrame>
        <p:nvGraphicFramePr>
          <p:cNvPr id="119812" name="Object 4"/>
          <p:cNvGraphicFramePr>
            <a:graphicFrameLocks noChangeAspect="1"/>
          </p:cNvGraphicFramePr>
          <p:nvPr/>
        </p:nvGraphicFramePr>
        <p:xfrm>
          <a:off x="6191250" y="1772816"/>
          <a:ext cx="2952750" cy="992187"/>
        </p:xfrm>
        <a:graphic>
          <a:graphicData uri="http://schemas.openxmlformats.org/presentationml/2006/ole">
            <p:oleObj spid="_x0000_s119812" r:id="rId5" imgW="1511280" imgH="507960" progId="">
              <p:embed/>
            </p:oleObj>
          </a:graphicData>
        </a:graphic>
      </p:graphicFrame>
    </p:spTree>
    <p:extLst>
      <p:ext uri="{BB962C8B-B14F-4D97-AF65-F5344CB8AC3E}">
        <p14:creationId xmlns:p14="http://schemas.microsoft.com/office/powerpoint/2010/main" xmlns="" val="327405307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487544" cy="4608512"/>
          </a:xfrm>
        </p:spPr>
        <p:txBody>
          <a:bodyPr/>
          <a:lstStyle/>
          <a:p>
            <a:pPr>
              <a:lnSpc>
                <a:spcPct val="100000"/>
              </a:lnSpc>
              <a:spcBef>
                <a:spcPts val="60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6.1</a:t>
            </a:r>
            <a:r>
              <a:rPr lang="en-US" altLang="zh-CN" sz="2800" dirty="0" smtClean="0"/>
              <a:t> </a:t>
            </a:r>
            <a:r>
              <a:rPr lang="zh-CN" altLang="en-US" sz="2800" dirty="0" smtClean="0">
                <a:solidFill>
                  <a:srgbClr val="0000CC"/>
                </a:solidFill>
              </a:rPr>
              <a:t>解</a:t>
            </a:r>
            <a:r>
              <a:rPr lang="zh-CN" altLang="en-US" sz="2800" dirty="0" smtClean="0"/>
              <a:t>：（</a:t>
            </a:r>
            <a:r>
              <a:rPr lang="en-US" altLang="zh-CN" sz="2800" dirty="0" smtClean="0"/>
              <a:t>4</a:t>
            </a:r>
            <a:r>
              <a:rPr lang="zh-CN" altLang="en-US" sz="2800" dirty="0" smtClean="0"/>
              <a:t>）做状态转换表及状态图。将真值依次代入上述触发器的次态方程和输出方程中进行计算，得到电路的状态转换表如表</a:t>
            </a:r>
            <a:r>
              <a:rPr lang="en-US" altLang="zh-CN" sz="2800" dirty="0" smtClean="0"/>
              <a:t>6.1</a:t>
            </a:r>
            <a:r>
              <a:rPr lang="zh-CN" altLang="en-US" sz="2800" dirty="0" smtClean="0"/>
              <a:t>所示。</a:t>
            </a:r>
            <a:endParaRPr lang="en-US" altLang="zh-CN" sz="2800" dirty="0" smtClean="0"/>
          </a:p>
          <a:p>
            <a:pPr>
              <a:lnSpc>
                <a:spcPct val="100000"/>
              </a:lnSpc>
              <a:spcBef>
                <a:spcPts val="600"/>
              </a:spcBef>
              <a:buSzPct val="100000"/>
              <a:buNone/>
            </a:pPr>
            <a:r>
              <a:rPr lang="en-US" altLang="zh-CN" sz="2800" dirty="0" smtClean="0"/>
              <a:t>        </a:t>
            </a:r>
            <a:r>
              <a:rPr lang="zh-CN" altLang="en-US" sz="2800" dirty="0" smtClean="0"/>
              <a:t>根据表</a:t>
            </a:r>
            <a:r>
              <a:rPr lang="en-US" altLang="zh-CN" sz="2800" dirty="0" smtClean="0"/>
              <a:t>6.1</a:t>
            </a:r>
            <a:r>
              <a:rPr lang="zh-CN" altLang="en-US" sz="2800" dirty="0" smtClean="0"/>
              <a:t>所示的状态转换表，可得出状态转换图如图</a:t>
            </a:r>
            <a:r>
              <a:rPr lang="en-US" altLang="zh-CN" sz="2800" dirty="0" smtClean="0"/>
              <a:t>6.3</a:t>
            </a:r>
            <a:r>
              <a:rPr lang="zh-CN" altLang="en-US" sz="2800" dirty="0" smtClean="0"/>
              <a:t>所示。</a:t>
            </a:r>
            <a:endParaRPr lang="en-US" altLang="zh-CN" sz="2800" dirty="0" smtClean="0"/>
          </a:p>
          <a:p>
            <a:pPr>
              <a:lnSpc>
                <a:spcPct val="100000"/>
              </a:lnSpc>
              <a:spcBef>
                <a:spcPts val="600"/>
              </a:spcBef>
              <a:buSzPct val="100000"/>
              <a:buNone/>
            </a:pPr>
            <a:endParaRPr lang="en-US" altLang="zh-CN" sz="2800" dirty="0" smtClean="0"/>
          </a:p>
          <a:p>
            <a:pPr>
              <a:lnSpc>
                <a:spcPct val="100000"/>
              </a:lnSpc>
              <a:spcBef>
                <a:spcPts val="600"/>
              </a:spcBef>
              <a:buSzPct val="100000"/>
              <a:buNone/>
            </a:pPr>
            <a:r>
              <a:rPr lang="en-US" altLang="zh-CN" sz="2800" dirty="0" smtClean="0"/>
              <a:t>      </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18</a:t>
            </a:fld>
            <a:endParaRPr lang="zh-CN" altLang="en-US"/>
          </a:p>
        </p:txBody>
      </p:sp>
      <p:sp>
        <p:nvSpPr>
          <p:cNvPr id="7" name="标题 1"/>
          <p:cNvSpPr>
            <a:spLocks noGrp="1"/>
          </p:cNvSpPr>
          <p:nvPr>
            <p:ph type="title"/>
          </p:nvPr>
        </p:nvSpPr>
        <p:spPr>
          <a:xfrm>
            <a:off x="1043608" y="1052736"/>
            <a:ext cx="7776864" cy="638944"/>
          </a:xfrm>
        </p:spPr>
        <p:txBody>
          <a:bodyPr/>
          <a:lstStyle/>
          <a:p>
            <a:r>
              <a:rPr lang="zh-CN" altLang="en-US" dirty="0" smtClean="0"/>
              <a:t>时序逻辑电路的分析</a:t>
            </a:r>
            <a:r>
              <a:rPr lang="en-US" altLang="zh-CN" dirty="0" smtClean="0"/>
              <a:t>---</a:t>
            </a:r>
            <a:r>
              <a:rPr lang="zh-CN" altLang="en-US" dirty="0"/>
              <a:t>同步时序逻辑电路</a:t>
            </a:r>
          </a:p>
        </p:txBody>
      </p:sp>
      <p:sp>
        <p:nvSpPr>
          <p:cNvPr id="5"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20836" name="Picture 4"/>
          <p:cNvPicPr>
            <a:picLocks noChangeAspect="1" noChangeArrowheads="1"/>
          </p:cNvPicPr>
          <p:nvPr/>
        </p:nvPicPr>
        <p:blipFill>
          <a:blip r:embed="rId2" cstate="print"/>
          <a:srcRect/>
          <a:stretch>
            <a:fillRect/>
          </a:stretch>
        </p:blipFill>
        <p:spPr bwMode="auto">
          <a:xfrm>
            <a:off x="1115616" y="4293096"/>
            <a:ext cx="2963375" cy="2405806"/>
          </a:xfrm>
          <a:prstGeom prst="rect">
            <a:avLst/>
          </a:prstGeom>
          <a:noFill/>
          <a:ln w="9525">
            <a:noFill/>
            <a:miter lim="800000"/>
            <a:headEnd/>
            <a:tailEnd/>
          </a:ln>
        </p:spPr>
      </p:pic>
      <p:pic>
        <p:nvPicPr>
          <p:cNvPr id="120838" name="Picture 6"/>
          <p:cNvPicPr>
            <a:picLocks noChangeAspect="1" noChangeArrowheads="1"/>
          </p:cNvPicPr>
          <p:nvPr/>
        </p:nvPicPr>
        <p:blipFill>
          <a:blip r:embed="rId3" cstate="print"/>
          <a:srcRect/>
          <a:stretch>
            <a:fillRect/>
          </a:stretch>
        </p:blipFill>
        <p:spPr bwMode="auto">
          <a:xfrm>
            <a:off x="4788024" y="4077072"/>
            <a:ext cx="3031598" cy="2483718"/>
          </a:xfrm>
          <a:prstGeom prst="rect">
            <a:avLst/>
          </a:prstGeom>
          <a:noFill/>
          <a:ln w="9525">
            <a:noFill/>
            <a:miter lim="800000"/>
            <a:headEnd/>
            <a:tailEnd/>
          </a:ln>
        </p:spPr>
      </p:pic>
    </p:spTree>
    <p:extLst>
      <p:ext uri="{BB962C8B-B14F-4D97-AF65-F5344CB8AC3E}">
        <p14:creationId xmlns:p14="http://schemas.microsoft.com/office/powerpoint/2010/main" xmlns="" val="3274053077"/>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487544" cy="4608512"/>
          </a:xfrm>
        </p:spPr>
        <p:txBody>
          <a:bodyPr/>
          <a:lstStyle/>
          <a:p>
            <a:pPr>
              <a:lnSpc>
                <a:spcPct val="100000"/>
              </a:lnSpc>
              <a:spcBef>
                <a:spcPts val="60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6.1</a:t>
            </a:r>
            <a:r>
              <a:rPr lang="en-US" altLang="zh-CN" sz="2800" dirty="0" smtClean="0"/>
              <a:t> </a:t>
            </a:r>
            <a:r>
              <a:rPr lang="zh-CN" altLang="en-US" sz="2800" dirty="0" smtClean="0">
                <a:solidFill>
                  <a:srgbClr val="0000CC"/>
                </a:solidFill>
              </a:rPr>
              <a:t>解</a:t>
            </a:r>
            <a:r>
              <a:rPr lang="zh-CN" altLang="en-US" sz="2800" dirty="0" smtClean="0"/>
              <a:t>：（</a:t>
            </a:r>
            <a:r>
              <a:rPr lang="en-US" altLang="zh-CN" sz="2800" dirty="0" smtClean="0"/>
              <a:t>5</a:t>
            </a:r>
            <a:r>
              <a:rPr lang="zh-CN" altLang="en-US" sz="2800" dirty="0" smtClean="0"/>
              <a:t>）时序波形图。如图</a:t>
            </a:r>
            <a:r>
              <a:rPr lang="en-US" altLang="zh-CN" sz="2800" dirty="0" smtClean="0"/>
              <a:t>6.4</a:t>
            </a:r>
            <a:r>
              <a:rPr lang="zh-CN" altLang="en-US" sz="2800" dirty="0" smtClean="0"/>
              <a:t>所示。</a:t>
            </a:r>
            <a:r>
              <a:rPr lang="en-US" altLang="zh-CN" sz="2800" dirty="0" smtClean="0"/>
              <a:t> </a:t>
            </a:r>
          </a:p>
          <a:p>
            <a:pPr>
              <a:lnSpc>
                <a:spcPct val="100000"/>
              </a:lnSpc>
              <a:spcBef>
                <a:spcPts val="0"/>
              </a:spcBef>
              <a:buSzPct val="100000"/>
              <a:buNone/>
            </a:pPr>
            <a:r>
              <a:rPr lang="en-US" altLang="zh-CN" sz="2800" dirty="0" smtClean="0"/>
              <a:t>       </a:t>
            </a:r>
            <a:r>
              <a:rPr lang="zh-CN" altLang="en-US" sz="2800" dirty="0" smtClean="0"/>
              <a:t>（</a:t>
            </a:r>
            <a:r>
              <a:rPr lang="en-US" altLang="zh-CN" sz="2800" dirty="0" smtClean="0"/>
              <a:t>6</a:t>
            </a:r>
            <a:r>
              <a:rPr lang="zh-CN" altLang="en-US" sz="2800" dirty="0" smtClean="0"/>
              <a:t>）功能分析。该电路一共有三个状态</a:t>
            </a:r>
            <a:r>
              <a:rPr lang="en-US" altLang="zh-CN" sz="2800" dirty="0" smtClean="0"/>
              <a:t>00</a:t>
            </a:r>
            <a:r>
              <a:rPr lang="zh-CN" altLang="en-US" sz="2800" dirty="0" smtClean="0"/>
              <a:t>、</a:t>
            </a:r>
            <a:r>
              <a:rPr lang="en-US" altLang="zh-CN" sz="2800" dirty="0" smtClean="0"/>
              <a:t>01</a:t>
            </a:r>
            <a:r>
              <a:rPr lang="zh-CN" altLang="en-US" sz="2800" dirty="0" smtClean="0"/>
              <a:t>、</a:t>
            </a:r>
            <a:r>
              <a:rPr lang="en-US" altLang="zh-CN" sz="2800" dirty="0" smtClean="0"/>
              <a:t>10 </a:t>
            </a:r>
            <a:r>
              <a:rPr lang="zh-CN" altLang="en-US" sz="2800" dirty="0" smtClean="0"/>
              <a:t>。</a:t>
            </a:r>
            <a:endParaRPr lang="en-US" altLang="zh-CN" sz="2800" dirty="0" smtClean="0"/>
          </a:p>
          <a:p>
            <a:pPr>
              <a:lnSpc>
                <a:spcPct val="100000"/>
              </a:lnSpc>
              <a:spcBef>
                <a:spcPts val="0"/>
              </a:spcBef>
              <a:buSzPct val="100000"/>
              <a:buNone/>
            </a:pPr>
            <a:r>
              <a:rPr lang="en-US" altLang="zh-CN" sz="2800" dirty="0" smtClean="0"/>
              <a:t>         </a:t>
            </a:r>
            <a:r>
              <a:rPr lang="zh-CN" altLang="en-US" sz="2800" dirty="0" smtClean="0"/>
              <a:t>当</a:t>
            </a:r>
            <a:r>
              <a:rPr lang="en-US" altLang="zh-CN" sz="2800" dirty="0" smtClean="0"/>
              <a:t>X=0</a:t>
            </a:r>
            <a:r>
              <a:rPr lang="zh-CN" altLang="en-US" sz="2800" dirty="0" smtClean="0"/>
              <a:t>时，按照加</a:t>
            </a:r>
            <a:r>
              <a:rPr lang="en-US" altLang="zh-CN" sz="2800" dirty="0" smtClean="0"/>
              <a:t>1</a:t>
            </a:r>
            <a:r>
              <a:rPr lang="zh-CN" altLang="en-US" sz="2800" dirty="0" smtClean="0"/>
              <a:t>规律从</a:t>
            </a:r>
            <a:r>
              <a:rPr lang="en-US" altLang="zh-CN" sz="2800" dirty="0" smtClean="0"/>
              <a:t>00  </a:t>
            </a:r>
            <a:r>
              <a:rPr lang="en-US" altLang="zh-CN" sz="2800" dirty="0" smtClean="0">
                <a:latin typeface="宋体"/>
                <a:ea typeface="宋体"/>
              </a:rPr>
              <a:t>→ </a:t>
            </a:r>
            <a:r>
              <a:rPr lang="en-US" altLang="zh-CN" sz="2800" dirty="0" smtClean="0"/>
              <a:t>01</a:t>
            </a:r>
            <a:r>
              <a:rPr lang="en-US" altLang="zh-CN" sz="2800" dirty="0" smtClean="0">
                <a:latin typeface="宋体"/>
              </a:rPr>
              <a:t> → </a:t>
            </a:r>
            <a:r>
              <a:rPr lang="en-US" altLang="zh-CN" sz="2800" dirty="0" smtClean="0"/>
              <a:t>10</a:t>
            </a:r>
            <a:r>
              <a:rPr lang="en-US" altLang="zh-CN" sz="2800" dirty="0" smtClean="0">
                <a:latin typeface="宋体"/>
              </a:rPr>
              <a:t> → </a:t>
            </a:r>
            <a:r>
              <a:rPr lang="en-US" altLang="zh-CN" sz="2800" dirty="0" smtClean="0"/>
              <a:t>00</a:t>
            </a:r>
            <a:r>
              <a:rPr lang="zh-CN" altLang="en-US" sz="2800" dirty="0" smtClean="0"/>
              <a:t>循环变化，且每当转换为</a:t>
            </a:r>
            <a:r>
              <a:rPr lang="en-US" altLang="zh-CN" sz="2800" dirty="0" smtClean="0"/>
              <a:t>10</a:t>
            </a:r>
            <a:r>
              <a:rPr lang="zh-CN" altLang="en-US" sz="2800" dirty="0" smtClean="0"/>
              <a:t>状态（最大数）时，输出</a:t>
            </a:r>
            <a:r>
              <a:rPr lang="en-US" altLang="zh-CN" sz="2800" dirty="0" smtClean="0"/>
              <a:t>Z=1</a:t>
            </a:r>
            <a:r>
              <a:rPr lang="zh-CN" altLang="en-US" sz="2800" dirty="0" smtClean="0"/>
              <a:t>； 当</a:t>
            </a:r>
            <a:r>
              <a:rPr lang="en-US" altLang="zh-CN" sz="2800" dirty="0" smtClean="0"/>
              <a:t>X=1</a:t>
            </a:r>
            <a:r>
              <a:rPr lang="zh-CN" altLang="en-US" sz="2800" dirty="0" smtClean="0"/>
              <a:t>时，按照减</a:t>
            </a:r>
            <a:r>
              <a:rPr lang="en-US" altLang="zh-CN" sz="2800" dirty="0" smtClean="0"/>
              <a:t>1</a:t>
            </a:r>
            <a:r>
              <a:rPr lang="zh-CN" altLang="en-US" sz="2800" dirty="0" smtClean="0"/>
              <a:t>规律从</a:t>
            </a:r>
            <a:r>
              <a:rPr lang="en-US" altLang="zh-CN" sz="2800" dirty="0" smtClean="0"/>
              <a:t>10  </a:t>
            </a:r>
            <a:r>
              <a:rPr lang="en-US" altLang="zh-CN" sz="2800" dirty="0" smtClean="0">
                <a:latin typeface="宋体"/>
              </a:rPr>
              <a:t>→ </a:t>
            </a:r>
            <a:r>
              <a:rPr lang="en-US" altLang="zh-CN" sz="2800" dirty="0" smtClean="0"/>
              <a:t>01</a:t>
            </a:r>
            <a:r>
              <a:rPr lang="en-US" altLang="zh-CN" sz="2800" dirty="0" smtClean="0">
                <a:latin typeface="宋体"/>
              </a:rPr>
              <a:t> → </a:t>
            </a:r>
            <a:r>
              <a:rPr lang="en-US" altLang="zh-CN" sz="2800" dirty="0" smtClean="0"/>
              <a:t>00</a:t>
            </a:r>
            <a:r>
              <a:rPr lang="en-US" altLang="zh-CN" sz="2800" dirty="0" smtClean="0">
                <a:latin typeface="宋体"/>
              </a:rPr>
              <a:t> → </a:t>
            </a:r>
            <a:r>
              <a:rPr lang="en-US" altLang="zh-CN" sz="2800" dirty="0" smtClean="0"/>
              <a:t>10</a:t>
            </a:r>
            <a:r>
              <a:rPr lang="zh-CN" altLang="en-US" sz="2800" dirty="0" smtClean="0"/>
              <a:t>循环变化，且每当转换为</a:t>
            </a:r>
            <a:r>
              <a:rPr lang="en-US" altLang="zh-CN" sz="2800" dirty="0" smtClean="0"/>
              <a:t>00</a:t>
            </a:r>
            <a:r>
              <a:rPr lang="zh-CN" altLang="en-US" sz="2800" dirty="0" smtClean="0"/>
              <a:t>状态（最小数）时，输出</a:t>
            </a:r>
            <a:r>
              <a:rPr lang="en-US" altLang="zh-CN" sz="2800" dirty="0" smtClean="0"/>
              <a:t>Z=1</a:t>
            </a:r>
            <a:r>
              <a:rPr lang="zh-CN" altLang="en-US" sz="2800" dirty="0" smtClean="0"/>
              <a:t>；</a:t>
            </a:r>
            <a:endParaRPr lang="en-US" altLang="zh-CN" sz="2800" dirty="0" smtClean="0"/>
          </a:p>
          <a:p>
            <a:pPr>
              <a:lnSpc>
                <a:spcPct val="100000"/>
              </a:lnSpc>
              <a:spcBef>
                <a:spcPts val="0"/>
              </a:spcBef>
              <a:buSzPct val="100000"/>
              <a:buNone/>
            </a:pPr>
            <a:r>
              <a:rPr lang="en-US" altLang="zh-CN" sz="2800" dirty="0" smtClean="0"/>
              <a:t>          </a:t>
            </a:r>
            <a:r>
              <a:rPr lang="zh-CN" altLang="en-US" sz="2800" dirty="0" smtClean="0"/>
              <a:t>所以，该电路是一个</a:t>
            </a:r>
            <a:r>
              <a:rPr lang="zh-CN" altLang="en-US" sz="2800" dirty="0" smtClean="0">
                <a:solidFill>
                  <a:srgbClr val="FF0000"/>
                </a:solidFill>
              </a:rPr>
              <a:t>可控的三进制计数器</a:t>
            </a:r>
            <a:r>
              <a:rPr lang="zh-CN" altLang="en-US" sz="2800" dirty="0" smtClean="0"/>
              <a:t>。当</a:t>
            </a:r>
            <a:r>
              <a:rPr lang="en-US" altLang="zh-CN" sz="2800" dirty="0" smtClean="0"/>
              <a:t>X=0</a:t>
            </a:r>
            <a:r>
              <a:rPr lang="zh-CN" altLang="en-US" sz="2800" dirty="0" smtClean="0"/>
              <a:t>时做加法计数，</a:t>
            </a:r>
            <a:r>
              <a:rPr lang="en-US" altLang="zh-CN" sz="2800" dirty="0" smtClean="0"/>
              <a:t>Z</a:t>
            </a:r>
            <a:r>
              <a:rPr lang="zh-CN" altLang="en-US" sz="2800" dirty="0" smtClean="0"/>
              <a:t>是进位信号；当</a:t>
            </a:r>
            <a:r>
              <a:rPr lang="en-US" altLang="zh-CN" sz="2800" dirty="0" smtClean="0"/>
              <a:t>X=0</a:t>
            </a:r>
            <a:r>
              <a:rPr lang="zh-CN" altLang="en-US" sz="2800" dirty="0" smtClean="0"/>
              <a:t>时做减法计数，</a:t>
            </a:r>
            <a:r>
              <a:rPr lang="en-US" altLang="zh-CN" sz="2800" dirty="0" smtClean="0"/>
              <a:t>Z</a:t>
            </a:r>
            <a:r>
              <a:rPr lang="zh-CN" altLang="en-US" sz="2800" dirty="0" smtClean="0"/>
              <a:t>是借位信号。</a:t>
            </a:r>
            <a:endParaRPr lang="en-US" altLang="zh-CN" sz="2800" dirty="0" smtClean="0"/>
          </a:p>
          <a:p>
            <a:pPr>
              <a:lnSpc>
                <a:spcPct val="100000"/>
              </a:lnSpc>
              <a:spcBef>
                <a:spcPts val="600"/>
              </a:spcBef>
              <a:buSzPct val="100000"/>
              <a:buNone/>
            </a:pPr>
            <a:endParaRPr lang="en-US" altLang="zh-CN" sz="2800" dirty="0" smtClean="0"/>
          </a:p>
          <a:p>
            <a:pPr>
              <a:lnSpc>
                <a:spcPct val="100000"/>
              </a:lnSpc>
              <a:spcBef>
                <a:spcPts val="600"/>
              </a:spcBef>
              <a:buSzPct val="100000"/>
              <a:buNone/>
            </a:pPr>
            <a:endParaRPr lang="en-US" altLang="zh-CN" sz="2800" dirty="0" smtClean="0"/>
          </a:p>
          <a:p>
            <a:pPr>
              <a:lnSpc>
                <a:spcPct val="100000"/>
              </a:lnSpc>
              <a:spcBef>
                <a:spcPts val="600"/>
              </a:spcBef>
              <a:buSzPct val="100000"/>
              <a:buNone/>
            </a:pPr>
            <a:r>
              <a:rPr lang="en-US" altLang="zh-CN" sz="2800" dirty="0" smtClean="0"/>
              <a:t>      </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19</a:t>
            </a:fld>
            <a:endParaRPr lang="zh-CN" altLang="en-US"/>
          </a:p>
        </p:txBody>
      </p:sp>
      <p:sp>
        <p:nvSpPr>
          <p:cNvPr id="7" name="标题 1"/>
          <p:cNvSpPr>
            <a:spLocks noGrp="1"/>
          </p:cNvSpPr>
          <p:nvPr>
            <p:ph type="title"/>
          </p:nvPr>
        </p:nvSpPr>
        <p:spPr>
          <a:xfrm>
            <a:off x="1043608" y="1052736"/>
            <a:ext cx="7776864" cy="638944"/>
          </a:xfrm>
        </p:spPr>
        <p:txBody>
          <a:bodyPr/>
          <a:lstStyle/>
          <a:p>
            <a:r>
              <a:rPr lang="zh-CN" altLang="en-US" dirty="0" smtClean="0"/>
              <a:t>时序逻辑电路的分析</a:t>
            </a:r>
            <a:r>
              <a:rPr lang="en-US" altLang="zh-CN" dirty="0" smtClean="0"/>
              <a:t>---</a:t>
            </a:r>
            <a:r>
              <a:rPr lang="zh-CN" altLang="en-US" dirty="0"/>
              <a:t>同步时序逻辑电路</a:t>
            </a:r>
          </a:p>
        </p:txBody>
      </p:sp>
      <p:sp>
        <p:nvSpPr>
          <p:cNvPr id="5"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20837" name="Picture 5"/>
          <p:cNvPicPr>
            <a:picLocks noChangeAspect="1" noChangeArrowheads="1"/>
          </p:cNvPicPr>
          <p:nvPr/>
        </p:nvPicPr>
        <p:blipFill>
          <a:blip r:embed="rId2" cstate="print"/>
          <a:srcRect/>
          <a:stretch>
            <a:fillRect/>
          </a:stretch>
        </p:blipFill>
        <p:spPr bwMode="auto">
          <a:xfrm>
            <a:off x="5868144" y="0"/>
            <a:ext cx="3096344" cy="1893306"/>
          </a:xfrm>
          <a:prstGeom prst="rect">
            <a:avLst/>
          </a:prstGeom>
          <a:noFill/>
          <a:ln w="9525">
            <a:noFill/>
            <a:miter lim="800000"/>
            <a:headEnd/>
            <a:tailEnd/>
          </a:ln>
        </p:spPr>
      </p:pic>
    </p:spTree>
    <p:extLst>
      <p:ext uri="{BB962C8B-B14F-4D97-AF65-F5344CB8AC3E}">
        <p14:creationId xmlns:p14="http://schemas.microsoft.com/office/powerpoint/2010/main" xmlns="" val="32740530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2276872"/>
            <a:ext cx="8487544" cy="4320480"/>
          </a:xfrm>
        </p:spPr>
        <p:txBody>
          <a:bodyPr/>
          <a:lstStyle/>
          <a:p>
            <a:pPr>
              <a:lnSpc>
                <a:spcPct val="100000"/>
              </a:lnSpc>
              <a:spcBef>
                <a:spcPts val="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6.2</a:t>
            </a:r>
            <a:r>
              <a:rPr lang="en-US" altLang="zh-CN" sz="2800" dirty="0" smtClean="0"/>
              <a:t> </a:t>
            </a:r>
            <a:r>
              <a:rPr lang="zh-CN" altLang="en-US" sz="2800" dirty="0" smtClean="0"/>
              <a:t>分析如图</a:t>
            </a:r>
            <a:r>
              <a:rPr lang="en-US" altLang="zh-CN" sz="2800" dirty="0" smtClean="0"/>
              <a:t>6.5</a:t>
            </a:r>
            <a:r>
              <a:rPr lang="zh-CN" altLang="en-US" sz="2800" dirty="0" smtClean="0"/>
              <a:t>所示的时序电路图。</a:t>
            </a:r>
            <a:endParaRPr lang="zh-CN" altLang="en-US" sz="2800" dirty="0"/>
          </a:p>
          <a:p>
            <a:pPr>
              <a:lnSpc>
                <a:spcPct val="100000"/>
              </a:lnSpc>
              <a:spcBef>
                <a:spcPts val="0"/>
              </a:spcBef>
              <a:buSzPct val="100000"/>
              <a:buFont typeface="Wingdings" pitchFamily="2" charset="2"/>
              <a:buChar char="p"/>
            </a:pPr>
            <a:r>
              <a:rPr lang="zh-CN" altLang="en-US" sz="2800" dirty="0" smtClean="0">
                <a:solidFill>
                  <a:srgbClr val="0000CC"/>
                </a:solidFill>
              </a:rPr>
              <a:t>解</a:t>
            </a:r>
            <a:r>
              <a:rPr lang="zh-CN" altLang="en-US" sz="2800" dirty="0" smtClean="0"/>
              <a:t>：（</a:t>
            </a:r>
            <a:r>
              <a:rPr lang="en-US" altLang="zh-CN" sz="2800" dirty="0" smtClean="0"/>
              <a:t>1</a:t>
            </a:r>
            <a:r>
              <a:rPr lang="zh-CN" altLang="en-US" sz="2800" dirty="0" smtClean="0"/>
              <a:t>）各触发器驱动方程、状态方程及输出方程为</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20</a:t>
            </a:fld>
            <a:endParaRPr lang="zh-CN" altLang="en-US"/>
          </a:p>
        </p:txBody>
      </p:sp>
      <p:sp>
        <p:nvSpPr>
          <p:cNvPr id="7" name="标题 1"/>
          <p:cNvSpPr>
            <a:spLocks noGrp="1"/>
          </p:cNvSpPr>
          <p:nvPr>
            <p:ph type="title"/>
          </p:nvPr>
        </p:nvSpPr>
        <p:spPr>
          <a:xfrm>
            <a:off x="1043608" y="1052736"/>
            <a:ext cx="7776864" cy="638944"/>
          </a:xfrm>
        </p:spPr>
        <p:txBody>
          <a:bodyPr/>
          <a:lstStyle/>
          <a:p>
            <a:r>
              <a:rPr lang="zh-CN" altLang="en-US" dirty="0" smtClean="0"/>
              <a:t>时序逻辑电路的分析</a:t>
            </a:r>
            <a:r>
              <a:rPr lang="en-US" altLang="zh-CN" dirty="0" smtClean="0"/>
              <a:t>---</a:t>
            </a:r>
            <a:r>
              <a:rPr lang="zh-CN" altLang="en-US" dirty="0"/>
              <a:t>同步时序逻辑电路</a:t>
            </a:r>
          </a:p>
        </p:txBody>
      </p:sp>
      <p:sp>
        <p:nvSpPr>
          <p:cNvPr id="5"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66561" name="Picture 1"/>
          <p:cNvPicPr>
            <a:picLocks noChangeAspect="1" noChangeArrowheads="1"/>
          </p:cNvPicPr>
          <p:nvPr/>
        </p:nvPicPr>
        <p:blipFill>
          <a:blip r:embed="rId3" cstate="print"/>
          <a:srcRect/>
          <a:stretch>
            <a:fillRect/>
          </a:stretch>
        </p:blipFill>
        <p:spPr bwMode="auto">
          <a:xfrm>
            <a:off x="2549505" y="0"/>
            <a:ext cx="6594495" cy="2276872"/>
          </a:xfrm>
          <a:prstGeom prst="rect">
            <a:avLst/>
          </a:prstGeom>
          <a:noFill/>
          <a:ln w="9525">
            <a:noFill/>
            <a:miter lim="800000"/>
            <a:headEnd/>
            <a:tailEnd/>
          </a:ln>
        </p:spPr>
      </p:pic>
      <p:graphicFrame>
        <p:nvGraphicFramePr>
          <p:cNvPr id="66562" name="Object 2"/>
          <p:cNvGraphicFramePr>
            <a:graphicFrameLocks noChangeAspect="1"/>
          </p:cNvGraphicFramePr>
          <p:nvPr/>
        </p:nvGraphicFramePr>
        <p:xfrm>
          <a:off x="1619672" y="3645024"/>
          <a:ext cx="5195642" cy="542829"/>
        </p:xfrm>
        <a:graphic>
          <a:graphicData uri="http://schemas.openxmlformats.org/presentationml/2006/ole">
            <p:oleObj spid="_x0000_s66562" r:id="rId4" imgW="2552400" imgH="266400" progId="">
              <p:embed/>
            </p:oleObj>
          </a:graphicData>
        </a:graphic>
      </p:graphicFrame>
      <p:graphicFrame>
        <p:nvGraphicFramePr>
          <p:cNvPr id="66563" name="Object 3"/>
          <p:cNvGraphicFramePr>
            <a:graphicFrameLocks noChangeAspect="1"/>
          </p:cNvGraphicFramePr>
          <p:nvPr/>
        </p:nvGraphicFramePr>
        <p:xfrm>
          <a:off x="1614488" y="4197350"/>
          <a:ext cx="5168900" cy="1616075"/>
        </p:xfrm>
        <a:graphic>
          <a:graphicData uri="http://schemas.openxmlformats.org/presentationml/2006/ole">
            <p:oleObj spid="_x0000_s66563" r:id="rId5" imgW="2565360" imgH="787320" progId="">
              <p:embed/>
            </p:oleObj>
          </a:graphicData>
        </a:graphic>
      </p:graphicFrame>
      <p:graphicFrame>
        <p:nvGraphicFramePr>
          <p:cNvPr id="66564" name="Object 4"/>
          <p:cNvGraphicFramePr>
            <a:graphicFrameLocks noChangeAspect="1"/>
          </p:cNvGraphicFramePr>
          <p:nvPr/>
        </p:nvGraphicFramePr>
        <p:xfrm>
          <a:off x="1691680" y="5949280"/>
          <a:ext cx="1656184" cy="524458"/>
        </p:xfrm>
        <a:graphic>
          <a:graphicData uri="http://schemas.openxmlformats.org/presentationml/2006/ole">
            <p:oleObj spid="_x0000_s66564" r:id="rId6" imgW="761760" imgH="241200" progId="">
              <p:embed/>
            </p:oleObj>
          </a:graphicData>
        </a:graphic>
      </p:graphicFrame>
    </p:spTree>
    <p:extLst>
      <p:ext uri="{BB962C8B-B14F-4D97-AF65-F5344CB8AC3E}">
        <p14:creationId xmlns:p14="http://schemas.microsoft.com/office/powerpoint/2010/main" xmlns="" val="327405307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487544" cy="4608512"/>
          </a:xfrm>
        </p:spPr>
        <p:txBody>
          <a:bodyPr/>
          <a:lstStyle/>
          <a:p>
            <a:pPr>
              <a:lnSpc>
                <a:spcPct val="100000"/>
              </a:lnSpc>
              <a:spcBef>
                <a:spcPts val="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6.2</a:t>
            </a:r>
            <a:r>
              <a:rPr lang="en-US" altLang="zh-CN" sz="2800" dirty="0" smtClean="0"/>
              <a:t> </a:t>
            </a:r>
            <a:r>
              <a:rPr lang="zh-CN" altLang="en-US" sz="2800" dirty="0" smtClean="0"/>
              <a:t>分析如图</a:t>
            </a:r>
            <a:r>
              <a:rPr lang="en-US" altLang="zh-CN" sz="2800" dirty="0" smtClean="0"/>
              <a:t>6.5</a:t>
            </a:r>
            <a:r>
              <a:rPr lang="zh-CN" altLang="en-US" sz="2800" dirty="0" smtClean="0"/>
              <a:t>所示的时序电路图。</a:t>
            </a:r>
            <a:endParaRPr lang="zh-CN" altLang="en-US" sz="2800" dirty="0"/>
          </a:p>
          <a:p>
            <a:pPr>
              <a:lnSpc>
                <a:spcPct val="100000"/>
              </a:lnSpc>
              <a:spcBef>
                <a:spcPts val="0"/>
              </a:spcBef>
              <a:buSzPct val="100000"/>
              <a:buFont typeface="Wingdings" pitchFamily="2" charset="2"/>
              <a:buChar char="p"/>
            </a:pPr>
            <a:r>
              <a:rPr lang="zh-CN" altLang="en-US" sz="2800" dirty="0" smtClean="0">
                <a:solidFill>
                  <a:srgbClr val="0000CC"/>
                </a:solidFill>
              </a:rPr>
              <a:t>解</a:t>
            </a:r>
            <a:r>
              <a:rPr lang="zh-CN" altLang="en-US" sz="2800" dirty="0" smtClean="0"/>
              <a:t>：（</a:t>
            </a:r>
            <a:r>
              <a:rPr lang="en-US" altLang="zh-CN" sz="2800" dirty="0" smtClean="0"/>
              <a:t>2</a:t>
            </a:r>
            <a:r>
              <a:rPr lang="zh-CN" altLang="en-US" sz="2800" dirty="0" smtClean="0"/>
              <a:t>）列状态表，如表</a:t>
            </a:r>
            <a:r>
              <a:rPr lang="en-US" altLang="zh-CN" sz="2800" dirty="0" smtClean="0"/>
              <a:t>6.2</a:t>
            </a:r>
            <a:r>
              <a:rPr lang="zh-CN" altLang="en-US" sz="2800" dirty="0" smtClean="0"/>
              <a:t>所示。</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21</a:t>
            </a:fld>
            <a:endParaRPr lang="zh-CN" altLang="en-US"/>
          </a:p>
        </p:txBody>
      </p:sp>
      <p:sp>
        <p:nvSpPr>
          <p:cNvPr id="7" name="标题 1"/>
          <p:cNvSpPr>
            <a:spLocks noGrp="1"/>
          </p:cNvSpPr>
          <p:nvPr>
            <p:ph type="title"/>
          </p:nvPr>
        </p:nvSpPr>
        <p:spPr>
          <a:xfrm>
            <a:off x="1043608" y="1052736"/>
            <a:ext cx="7776864" cy="638944"/>
          </a:xfrm>
        </p:spPr>
        <p:txBody>
          <a:bodyPr/>
          <a:lstStyle/>
          <a:p>
            <a:r>
              <a:rPr lang="zh-CN" altLang="en-US" dirty="0" smtClean="0"/>
              <a:t>时序逻辑电路的分析</a:t>
            </a:r>
            <a:r>
              <a:rPr lang="en-US" altLang="zh-CN" dirty="0" smtClean="0"/>
              <a:t>---</a:t>
            </a:r>
            <a:r>
              <a:rPr lang="zh-CN" altLang="en-US" dirty="0"/>
              <a:t>同步时序逻辑电路</a:t>
            </a:r>
          </a:p>
        </p:txBody>
      </p:sp>
      <p:sp>
        <p:nvSpPr>
          <p:cNvPr id="5"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21858" name="Picture 2"/>
          <p:cNvPicPr>
            <a:picLocks noChangeAspect="1" noChangeArrowheads="1"/>
          </p:cNvPicPr>
          <p:nvPr/>
        </p:nvPicPr>
        <p:blipFill>
          <a:blip r:embed="rId2" cstate="print"/>
          <a:srcRect/>
          <a:stretch>
            <a:fillRect/>
          </a:stretch>
        </p:blipFill>
        <p:spPr bwMode="auto">
          <a:xfrm>
            <a:off x="2195735" y="2954662"/>
            <a:ext cx="5077201" cy="3642690"/>
          </a:xfrm>
          <a:prstGeom prst="rect">
            <a:avLst/>
          </a:prstGeom>
          <a:noFill/>
          <a:ln w="9525">
            <a:noFill/>
            <a:miter lim="800000"/>
            <a:headEnd/>
            <a:tailEnd/>
          </a:ln>
        </p:spPr>
      </p:pic>
    </p:spTree>
    <p:extLst>
      <p:ext uri="{BB962C8B-B14F-4D97-AF65-F5344CB8AC3E}">
        <p14:creationId xmlns:p14="http://schemas.microsoft.com/office/powerpoint/2010/main" xmlns="" val="327405307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487544" cy="4608512"/>
          </a:xfrm>
        </p:spPr>
        <p:txBody>
          <a:bodyPr/>
          <a:lstStyle/>
          <a:p>
            <a:pPr>
              <a:lnSpc>
                <a:spcPct val="100000"/>
              </a:lnSpc>
              <a:spcBef>
                <a:spcPts val="60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6.2</a:t>
            </a:r>
            <a:r>
              <a:rPr lang="en-US" altLang="zh-CN" sz="2800" dirty="0" smtClean="0"/>
              <a:t> </a:t>
            </a:r>
            <a:r>
              <a:rPr lang="zh-CN" altLang="en-US" sz="2800" dirty="0" smtClean="0"/>
              <a:t>分析如图</a:t>
            </a:r>
            <a:r>
              <a:rPr lang="en-US" altLang="zh-CN" sz="2800" dirty="0" smtClean="0"/>
              <a:t>6.5</a:t>
            </a:r>
            <a:r>
              <a:rPr lang="zh-CN" altLang="en-US" sz="2800" dirty="0" smtClean="0"/>
              <a:t>所示的时序电路图。</a:t>
            </a:r>
            <a:endParaRPr lang="zh-CN" altLang="en-US" sz="2800" dirty="0"/>
          </a:p>
          <a:p>
            <a:pPr>
              <a:lnSpc>
                <a:spcPct val="100000"/>
              </a:lnSpc>
              <a:spcBef>
                <a:spcPts val="600"/>
              </a:spcBef>
              <a:buSzPct val="100000"/>
              <a:buFont typeface="Wingdings" pitchFamily="2" charset="2"/>
              <a:buChar char="p"/>
            </a:pPr>
            <a:r>
              <a:rPr lang="zh-CN" altLang="en-US" sz="2800" dirty="0" smtClean="0">
                <a:solidFill>
                  <a:srgbClr val="0000CC"/>
                </a:solidFill>
              </a:rPr>
              <a:t>解</a:t>
            </a:r>
            <a:r>
              <a:rPr lang="zh-CN" altLang="en-US" sz="2800" dirty="0" smtClean="0"/>
              <a:t>：（</a:t>
            </a:r>
            <a:r>
              <a:rPr lang="en-US" altLang="zh-CN" sz="2800" dirty="0" smtClean="0"/>
              <a:t>3</a:t>
            </a:r>
            <a:r>
              <a:rPr lang="zh-CN" altLang="en-US" sz="2800" dirty="0" smtClean="0"/>
              <a:t>）画状态图。</a:t>
            </a:r>
            <a:endParaRPr lang="en-US" altLang="zh-CN" sz="2800" dirty="0" smtClean="0"/>
          </a:p>
          <a:p>
            <a:pPr>
              <a:lnSpc>
                <a:spcPct val="100000"/>
              </a:lnSpc>
              <a:spcBef>
                <a:spcPts val="600"/>
              </a:spcBef>
              <a:buSzPct val="100000"/>
              <a:buNone/>
            </a:pPr>
            <a:r>
              <a:rPr lang="en-US" altLang="zh-CN" sz="2800" dirty="0" smtClean="0"/>
              <a:t>           </a:t>
            </a:r>
            <a:r>
              <a:rPr lang="zh-CN" altLang="en-US" sz="2800" dirty="0" smtClean="0"/>
              <a:t>状态图如图</a:t>
            </a:r>
            <a:r>
              <a:rPr lang="en-US" altLang="zh-CN" sz="2800" dirty="0" smtClean="0"/>
              <a:t>6.6</a:t>
            </a:r>
            <a:r>
              <a:rPr lang="zh-CN" altLang="en-US" sz="2800" dirty="0" smtClean="0"/>
              <a:t>所示。从图中可以看出状态转化的规律，现态为</a:t>
            </a:r>
            <a:r>
              <a:rPr lang="en-US" altLang="zh-CN" sz="2800" dirty="0" smtClean="0"/>
              <a:t>001</a:t>
            </a:r>
            <a:r>
              <a:rPr lang="zh-CN" altLang="en-US" sz="2800" dirty="0" smtClean="0"/>
              <a:t>时，输出为</a:t>
            </a:r>
            <a:r>
              <a:rPr lang="en-US" altLang="zh-CN" sz="2800" dirty="0" smtClean="0"/>
              <a:t>0</a:t>
            </a:r>
            <a:r>
              <a:rPr lang="zh-CN" altLang="en-US" sz="2800" dirty="0" smtClean="0"/>
              <a:t>，</a:t>
            </a:r>
            <a:r>
              <a:rPr lang="en-US" altLang="zh-CN" sz="2800" dirty="0" smtClean="0"/>
              <a:t>CLK</a:t>
            </a:r>
            <a:r>
              <a:rPr lang="zh-CN" altLang="en-US" sz="2800" dirty="0" smtClean="0"/>
              <a:t>到后，次态为</a:t>
            </a:r>
            <a:r>
              <a:rPr lang="en-US" altLang="zh-CN" sz="2800" dirty="0" smtClean="0"/>
              <a:t>010</a:t>
            </a:r>
            <a:r>
              <a:rPr lang="zh-CN" altLang="en-US" sz="2800" dirty="0" smtClean="0"/>
              <a:t>；除</a:t>
            </a:r>
            <a:r>
              <a:rPr lang="en-US" altLang="zh-CN" sz="2800" dirty="0" smtClean="0"/>
              <a:t>111</a:t>
            </a:r>
            <a:r>
              <a:rPr lang="zh-CN" altLang="en-US" sz="2800" dirty="0" smtClean="0"/>
              <a:t>状态以外，其余</a:t>
            </a:r>
            <a:r>
              <a:rPr lang="en-US" altLang="zh-CN" sz="2800" dirty="0" smtClean="0"/>
              <a:t>7</a:t>
            </a:r>
            <a:r>
              <a:rPr lang="zh-CN" altLang="en-US" sz="2800" dirty="0" smtClean="0"/>
              <a:t>个状态组成一个主循环圈。</a:t>
            </a:r>
            <a:endParaRPr lang="en-US" altLang="zh-CN" sz="2800" dirty="0" smtClean="0"/>
          </a:p>
          <a:p>
            <a:pPr>
              <a:lnSpc>
                <a:spcPct val="100000"/>
              </a:lnSpc>
              <a:spcBef>
                <a:spcPts val="600"/>
              </a:spcBef>
              <a:buSzPct val="100000"/>
              <a:buNone/>
            </a:pPr>
            <a:r>
              <a:rPr lang="en-US" altLang="zh-CN" sz="2800" dirty="0" smtClean="0"/>
              <a:t>           </a:t>
            </a:r>
            <a:r>
              <a:rPr lang="zh-CN" altLang="en-US" sz="2800" dirty="0" smtClean="0"/>
              <a:t>电路正常工作后，其状态按主循环圈的顺序转换。电路一旦进入</a:t>
            </a:r>
            <a:r>
              <a:rPr lang="en-US" altLang="zh-CN" sz="2800" dirty="0" smtClean="0"/>
              <a:t>111</a:t>
            </a:r>
            <a:r>
              <a:rPr lang="zh-CN" altLang="en-US" sz="2800" dirty="0" smtClean="0"/>
              <a:t>状态将无法启动，</a:t>
            </a:r>
            <a:r>
              <a:rPr lang="en-US" altLang="zh-CN" sz="2800" dirty="0" smtClean="0"/>
              <a:t>111</a:t>
            </a:r>
            <a:r>
              <a:rPr lang="zh-CN" altLang="en-US" sz="2800" dirty="0" smtClean="0"/>
              <a:t>位孤立状态。可以用设计自启动电路的方法来解决电路的自启动问题。</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22</a:t>
            </a:fld>
            <a:endParaRPr lang="zh-CN" altLang="en-US"/>
          </a:p>
        </p:txBody>
      </p:sp>
      <p:sp>
        <p:nvSpPr>
          <p:cNvPr id="7" name="标题 1"/>
          <p:cNvSpPr>
            <a:spLocks noGrp="1"/>
          </p:cNvSpPr>
          <p:nvPr>
            <p:ph type="title"/>
          </p:nvPr>
        </p:nvSpPr>
        <p:spPr>
          <a:xfrm>
            <a:off x="1043608" y="1052736"/>
            <a:ext cx="7776864" cy="638944"/>
          </a:xfrm>
        </p:spPr>
        <p:txBody>
          <a:bodyPr/>
          <a:lstStyle/>
          <a:p>
            <a:r>
              <a:rPr lang="zh-CN" altLang="en-US" dirty="0" smtClean="0"/>
              <a:t>时序逻辑电路的分析</a:t>
            </a:r>
            <a:r>
              <a:rPr lang="en-US" altLang="zh-CN" dirty="0" smtClean="0"/>
              <a:t>---</a:t>
            </a:r>
            <a:r>
              <a:rPr lang="zh-CN" altLang="en-US" dirty="0"/>
              <a:t>同步时序逻辑电路</a:t>
            </a:r>
          </a:p>
        </p:txBody>
      </p:sp>
      <p:sp>
        <p:nvSpPr>
          <p:cNvPr id="5"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22882" name="Picture 2"/>
          <p:cNvPicPr>
            <a:picLocks noChangeAspect="1" noChangeArrowheads="1"/>
          </p:cNvPicPr>
          <p:nvPr/>
        </p:nvPicPr>
        <p:blipFill>
          <a:blip r:embed="rId2" cstate="print"/>
          <a:srcRect/>
          <a:stretch>
            <a:fillRect/>
          </a:stretch>
        </p:blipFill>
        <p:spPr bwMode="auto">
          <a:xfrm>
            <a:off x="3544651" y="0"/>
            <a:ext cx="5599349" cy="1988840"/>
          </a:xfrm>
          <a:prstGeom prst="rect">
            <a:avLst/>
          </a:prstGeom>
          <a:noFill/>
          <a:ln w="9525">
            <a:noFill/>
            <a:miter lim="800000"/>
            <a:headEnd/>
            <a:tailEnd/>
          </a:ln>
        </p:spPr>
      </p:pic>
    </p:spTree>
    <p:extLst>
      <p:ext uri="{BB962C8B-B14F-4D97-AF65-F5344CB8AC3E}">
        <p14:creationId xmlns:p14="http://schemas.microsoft.com/office/powerpoint/2010/main" xmlns="" val="327405307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2852936"/>
            <a:ext cx="8487544" cy="3744416"/>
          </a:xfrm>
        </p:spPr>
        <p:txBody>
          <a:bodyPr/>
          <a:lstStyle/>
          <a:p>
            <a:pPr>
              <a:lnSpc>
                <a:spcPct val="100000"/>
              </a:lnSpc>
              <a:spcBef>
                <a:spcPts val="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6.3</a:t>
            </a:r>
            <a:r>
              <a:rPr lang="en-US" altLang="zh-CN" sz="2800" dirty="0" smtClean="0"/>
              <a:t> </a:t>
            </a:r>
            <a:r>
              <a:rPr lang="zh-CN" altLang="en-US" sz="2800" dirty="0" smtClean="0"/>
              <a:t>试分析如图</a:t>
            </a:r>
            <a:r>
              <a:rPr lang="en-US" altLang="zh-CN" sz="2800" dirty="0" smtClean="0"/>
              <a:t>6.7</a:t>
            </a:r>
            <a:r>
              <a:rPr lang="zh-CN" altLang="en-US" sz="2800" dirty="0" smtClean="0"/>
              <a:t>所示的时序电路的逻辑功能。</a:t>
            </a:r>
            <a:endParaRPr lang="zh-CN" altLang="en-US" sz="2800" dirty="0"/>
          </a:p>
          <a:p>
            <a:pPr>
              <a:lnSpc>
                <a:spcPct val="100000"/>
              </a:lnSpc>
              <a:spcBef>
                <a:spcPts val="0"/>
              </a:spcBef>
              <a:buSzPct val="100000"/>
              <a:buFont typeface="Wingdings" pitchFamily="2" charset="2"/>
              <a:buChar char="p"/>
            </a:pPr>
            <a:r>
              <a:rPr lang="zh-CN" altLang="en-US" sz="2800" dirty="0" smtClean="0">
                <a:solidFill>
                  <a:srgbClr val="0000CC"/>
                </a:solidFill>
              </a:rPr>
              <a:t>解</a:t>
            </a:r>
            <a:r>
              <a:rPr lang="zh-CN" altLang="en-US" sz="2800" dirty="0" smtClean="0"/>
              <a:t>：（</a:t>
            </a:r>
            <a:r>
              <a:rPr lang="en-US" altLang="zh-CN" sz="2800" dirty="0" smtClean="0"/>
              <a:t>1</a:t>
            </a:r>
            <a:r>
              <a:rPr lang="zh-CN" altLang="en-US" sz="2800" dirty="0" smtClean="0"/>
              <a:t>）根据图</a:t>
            </a:r>
            <a:r>
              <a:rPr lang="en-US" altLang="zh-CN" sz="2800" dirty="0" smtClean="0"/>
              <a:t>6.7</a:t>
            </a:r>
            <a:r>
              <a:rPr lang="zh-CN" altLang="en-US" sz="2800" dirty="0" smtClean="0"/>
              <a:t>写出驱动方程、状态方程及输出方程</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23</a:t>
            </a:fld>
            <a:endParaRPr lang="zh-CN" altLang="en-US"/>
          </a:p>
        </p:txBody>
      </p:sp>
      <p:sp>
        <p:nvSpPr>
          <p:cNvPr id="7" name="标题 1"/>
          <p:cNvSpPr>
            <a:spLocks noGrp="1"/>
          </p:cNvSpPr>
          <p:nvPr>
            <p:ph type="title"/>
          </p:nvPr>
        </p:nvSpPr>
        <p:spPr>
          <a:xfrm>
            <a:off x="1043608" y="1052736"/>
            <a:ext cx="7776864" cy="638944"/>
          </a:xfrm>
        </p:spPr>
        <p:txBody>
          <a:bodyPr/>
          <a:lstStyle/>
          <a:p>
            <a:r>
              <a:rPr lang="zh-CN" altLang="en-US" dirty="0" smtClean="0"/>
              <a:t>时序逻辑电路的分析</a:t>
            </a:r>
            <a:r>
              <a:rPr lang="en-US" altLang="zh-CN" dirty="0" smtClean="0"/>
              <a:t>---</a:t>
            </a:r>
            <a:r>
              <a:rPr lang="zh-CN" altLang="en-US" dirty="0"/>
              <a:t>同步时序逻辑电路</a:t>
            </a:r>
          </a:p>
        </p:txBody>
      </p:sp>
      <p:sp>
        <p:nvSpPr>
          <p:cNvPr id="5"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65539" name="Picture 3"/>
          <p:cNvPicPr>
            <a:picLocks noChangeAspect="1" noChangeArrowheads="1"/>
          </p:cNvPicPr>
          <p:nvPr/>
        </p:nvPicPr>
        <p:blipFill>
          <a:blip r:embed="rId3" cstate="print"/>
          <a:srcRect/>
          <a:stretch>
            <a:fillRect/>
          </a:stretch>
        </p:blipFill>
        <p:spPr bwMode="auto">
          <a:xfrm>
            <a:off x="2681502" y="0"/>
            <a:ext cx="6462498" cy="2780928"/>
          </a:xfrm>
          <a:prstGeom prst="rect">
            <a:avLst/>
          </a:prstGeom>
          <a:noFill/>
          <a:ln w="9525">
            <a:noFill/>
            <a:miter lim="800000"/>
            <a:headEnd/>
            <a:tailEnd/>
          </a:ln>
        </p:spPr>
      </p:pic>
      <p:graphicFrame>
        <p:nvGraphicFramePr>
          <p:cNvPr id="65540" name="Object 4"/>
          <p:cNvGraphicFramePr>
            <a:graphicFrameLocks noChangeAspect="1"/>
          </p:cNvGraphicFramePr>
          <p:nvPr/>
        </p:nvGraphicFramePr>
        <p:xfrm>
          <a:off x="1475656" y="4221088"/>
          <a:ext cx="3699411" cy="1020527"/>
        </p:xfrm>
        <a:graphic>
          <a:graphicData uri="http://schemas.openxmlformats.org/presentationml/2006/ole">
            <p:oleObj spid="_x0000_s65540" r:id="rId4" imgW="1841400" imgH="507960" progId="">
              <p:embed/>
            </p:oleObj>
          </a:graphicData>
        </a:graphic>
      </p:graphicFrame>
      <p:graphicFrame>
        <p:nvGraphicFramePr>
          <p:cNvPr id="65541" name="Object 5"/>
          <p:cNvGraphicFramePr>
            <a:graphicFrameLocks noChangeAspect="1"/>
          </p:cNvGraphicFramePr>
          <p:nvPr/>
        </p:nvGraphicFramePr>
        <p:xfrm>
          <a:off x="1475656" y="5445224"/>
          <a:ext cx="2592288" cy="1065988"/>
        </p:xfrm>
        <a:graphic>
          <a:graphicData uri="http://schemas.openxmlformats.org/presentationml/2006/ole">
            <p:oleObj spid="_x0000_s65541" r:id="rId5" imgW="1358640" imgH="558720" progId="">
              <p:embed/>
            </p:oleObj>
          </a:graphicData>
        </a:graphic>
      </p:graphicFrame>
      <p:graphicFrame>
        <p:nvGraphicFramePr>
          <p:cNvPr id="65542" name="Object 6"/>
          <p:cNvGraphicFramePr>
            <a:graphicFrameLocks noChangeAspect="1"/>
          </p:cNvGraphicFramePr>
          <p:nvPr/>
        </p:nvGraphicFramePr>
        <p:xfrm>
          <a:off x="4716016" y="5661248"/>
          <a:ext cx="1800200" cy="540061"/>
        </p:xfrm>
        <a:graphic>
          <a:graphicData uri="http://schemas.openxmlformats.org/presentationml/2006/ole">
            <p:oleObj spid="_x0000_s65542" r:id="rId6" imgW="761760" imgH="228600" progId="">
              <p:embed/>
            </p:oleObj>
          </a:graphicData>
        </a:graphic>
      </p:graphicFrame>
    </p:spTree>
    <p:extLst>
      <p:ext uri="{BB962C8B-B14F-4D97-AF65-F5344CB8AC3E}">
        <p14:creationId xmlns:p14="http://schemas.microsoft.com/office/powerpoint/2010/main" xmlns="" val="3274053077"/>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487544" cy="4608512"/>
          </a:xfrm>
        </p:spPr>
        <p:txBody>
          <a:bodyPr/>
          <a:lstStyle/>
          <a:p>
            <a:pPr>
              <a:lnSpc>
                <a:spcPct val="100000"/>
              </a:lnSpc>
              <a:spcBef>
                <a:spcPts val="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6.3 </a:t>
            </a:r>
            <a:r>
              <a:rPr lang="zh-CN" altLang="en-US" sz="2800" dirty="0" smtClean="0">
                <a:solidFill>
                  <a:srgbClr val="0000CC"/>
                </a:solidFill>
              </a:rPr>
              <a:t>解</a:t>
            </a:r>
            <a:r>
              <a:rPr lang="zh-CN" altLang="en-US" sz="2800" dirty="0" smtClean="0"/>
              <a:t>：（</a:t>
            </a:r>
            <a:r>
              <a:rPr lang="en-US" altLang="zh-CN" sz="2800" dirty="0" smtClean="0"/>
              <a:t>2</a:t>
            </a:r>
            <a:r>
              <a:rPr lang="zh-CN" altLang="en-US" sz="2800" dirty="0" smtClean="0"/>
              <a:t>）将计算结果列入状态转换表</a:t>
            </a:r>
            <a:r>
              <a:rPr lang="en-US" altLang="zh-CN" sz="2800" dirty="0" smtClean="0"/>
              <a:t>6.3</a:t>
            </a:r>
            <a:r>
              <a:rPr lang="zh-CN" altLang="en-US" sz="2800" dirty="0" smtClean="0"/>
              <a:t>中。</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24</a:t>
            </a:fld>
            <a:endParaRPr lang="zh-CN" altLang="en-US"/>
          </a:p>
        </p:txBody>
      </p:sp>
      <p:sp>
        <p:nvSpPr>
          <p:cNvPr id="7" name="标题 1"/>
          <p:cNvSpPr>
            <a:spLocks noGrp="1"/>
          </p:cNvSpPr>
          <p:nvPr>
            <p:ph type="title"/>
          </p:nvPr>
        </p:nvSpPr>
        <p:spPr>
          <a:xfrm>
            <a:off x="1043608" y="1052736"/>
            <a:ext cx="7776864" cy="638944"/>
          </a:xfrm>
        </p:spPr>
        <p:txBody>
          <a:bodyPr/>
          <a:lstStyle/>
          <a:p>
            <a:r>
              <a:rPr lang="zh-CN" altLang="en-US" dirty="0" smtClean="0"/>
              <a:t>时序逻辑电路的分析</a:t>
            </a:r>
            <a:r>
              <a:rPr lang="en-US" altLang="zh-CN" dirty="0" smtClean="0"/>
              <a:t>---</a:t>
            </a:r>
            <a:r>
              <a:rPr lang="zh-CN" altLang="en-US" dirty="0"/>
              <a:t>同步时序逻辑电路</a:t>
            </a:r>
          </a:p>
        </p:txBody>
      </p:sp>
      <p:sp>
        <p:nvSpPr>
          <p:cNvPr id="5"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23906" name="Picture 2"/>
          <p:cNvPicPr>
            <a:picLocks noChangeAspect="1" noChangeArrowheads="1"/>
          </p:cNvPicPr>
          <p:nvPr/>
        </p:nvPicPr>
        <p:blipFill>
          <a:blip r:embed="rId2" cstate="print"/>
          <a:srcRect/>
          <a:stretch>
            <a:fillRect/>
          </a:stretch>
        </p:blipFill>
        <p:spPr bwMode="auto">
          <a:xfrm>
            <a:off x="1653645" y="2636912"/>
            <a:ext cx="5726667" cy="3974021"/>
          </a:xfrm>
          <a:prstGeom prst="rect">
            <a:avLst/>
          </a:prstGeom>
          <a:noFill/>
          <a:ln w="9525">
            <a:noFill/>
            <a:miter lim="800000"/>
            <a:headEnd/>
            <a:tailEnd/>
          </a:ln>
        </p:spPr>
      </p:pic>
    </p:spTree>
    <p:extLst>
      <p:ext uri="{BB962C8B-B14F-4D97-AF65-F5344CB8AC3E}">
        <p14:creationId xmlns:p14="http://schemas.microsoft.com/office/powerpoint/2010/main" xmlns="" val="327405307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2132856"/>
            <a:ext cx="8487544" cy="4536504"/>
          </a:xfrm>
        </p:spPr>
        <p:txBody>
          <a:bodyPr/>
          <a:lstStyle/>
          <a:p>
            <a:pPr>
              <a:lnSpc>
                <a:spcPct val="100000"/>
              </a:lnSpc>
              <a:spcBef>
                <a:spcPts val="600"/>
              </a:spcBef>
              <a:buSzPct val="100000"/>
              <a:buFont typeface="Wingdings" pitchFamily="2" charset="2"/>
              <a:buChar char="p"/>
            </a:pPr>
            <a:r>
              <a:rPr lang="zh-CN" altLang="en-US" sz="2800" dirty="0" smtClean="0">
                <a:solidFill>
                  <a:srgbClr val="0000CC"/>
                </a:solidFill>
              </a:rPr>
              <a:t>例</a:t>
            </a:r>
            <a:r>
              <a:rPr lang="en-US" altLang="zh-CN" sz="2800" dirty="0" smtClean="0">
                <a:solidFill>
                  <a:srgbClr val="0000CC"/>
                </a:solidFill>
              </a:rPr>
              <a:t>6.3</a:t>
            </a:r>
            <a:endParaRPr lang="zh-CN" altLang="en-US" sz="2800" dirty="0"/>
          </a:p>
          <a:p>
            <a:pPr>
              <a:lnSpc>
                <a:spcPct val="100000"/>
              </a:lnSpc>
              <a:spcBef>
                <a:spcPts val="600"/>
              </a:spcBef>
              <a:buSzPct val="100000"/>
              <a:buFont typeface="Wingdings" pitchFamily="2" charset="2"/>
              <a:buChar char="p"/>
            </a:pPr>
            <a:r>
              <a:rPr lang="zh-CN" altLang="en-US" sz="2800" dirty="0" smtClean="0">
                <a:solidFill>
                  <a:srgbClr val="0000CC"/>
                </a:solidFill>
              </a:rPr>
              <a:t>解</a:t>
            </a:r>
            <a:r>
              <a:rPr lang="zh-CN" altLang="en-US" sz="2800" dirty="0" smtClean="0"/>
              <a:t>：（</a:t>
            </a:r>
            <a:r>
              <a:rPr lang="en-US" altLang="zh-CN" sz="2800" dirty="0" smtClean="0"/>
              <a:t>3</a:t>
            </a:r>
            <a:r>
              <a:rPr lang="zh-CN" altLang="en-US" sz="2800" dirty="0" smtClean="0"/>
              <a:t>）根据计算结果画出状态转换图</a:t>
            </a:r>
            <a:r>
              <a:rPr lang="en-US" altLang="zh-CN" sz="2800" dirty="0" smtClean="0"/>
              <a:t>6.8</a:t>
            </a:r>
            <a:r>
              <a:rPr lang="zh-CN" altLang="en-US" sz="2800" dirty="0" smtClean="0"/>
              <a:t>。</a:t>
            </a:r>
            <a:endParaRPr lang="en-US" altLang="zh-CN" sz="2800" dirty="0" smtClean="0"/>
          </a:p>
          <a:p>
            <a:pPr>
              <a:lnSpc>
                <a:spcPct val="100000"/>
              </a:lnSpc>
              <a:spcBef>
                <a:spcPts val="600"/>
              </a:spcBef>
              <a:buSzPct val="100000"/>
              <a:buNone/>
            </a:pPr>
            <a:r>
              <a:rPr lang="en-US" altLang="zh-CN" sz="2800" dirty="0" smtClean="0"/>
              <a:t>        </a:t>
            </a:r>
            <a:r>
              <a:rPr lang="zh-CN" altLang="en-US" sz="2800" dirty="0" smtClean="0"/>
              <a:t>由状态表和状态转换图看出，只要</a:t>
            </a:r>
            <a:r>
              <a:rPr lang="en-US" altLang="zh-CN" sz="2800" dirty="0" smtClean="0"/>
              <a:t>X=0</a:t>
            </a:r>
            <a:r>
              <a:rPr lang="zh-CN" altLang="en-US" sz="2800" dirty="0" smtClean="0"/>
              <a:t>，无论电路原来处于何种状态，都将回到</a:t>
            </a:r>
            <a:r>
              <a:rPr lang="en-US" altLang="zh-CN" sz="2800" dirty="0" smtClean="0"/>
              <a:t>00</a:t>
            </a:r>
            <a:r>
              <a:rPr lang="zh-CN" altLang="en-US" sz="2800" dirty="0" smtClean="0"/>
              <a:t>状态，且</a:t>
            </a:r>
            <a:r>
              <a:rPr lang="en-US" altLang="zh-CN" sz="2800" dirty="0" smtClean="0"/>
              <a:t>F=0</a:t>
            </a:r>
            <a:r>
              <a:rPr lang="zh-CN" altLang="en-US" sz="2800" dirty="0" smtClean="0"/>
              <a:t>。只有连续输入</a:t>
            </a:r>
            <a:r>
              <a:rPr lang="en-US" altLang="zh-CN" sz="2800" dirty="0" smtClean="0"/>
              <a:t>4</a:t>
            </a:r>
            <a:r>
              <a:rPr lang="zh-CN" altLang="en-US" sz="2800" dirty="0" smtClean="0"/>
              <a:t>个或</a:t>
            </a:r>
            <a:r>
              <a:rPr lang="en-US" altLang="zh-CN" sz="2800" dirty="0" smtClean="0"/>
              <a:t>4</a:t>
            </a:r>
            <a:r>
              <a:rPr lang="zh-CN" altLang="en-US" sz="2800" dirty="0" smtClean="0"/>
              <a:t>个以上的</a:t>
            </a:r>
            <a:r>
              <a:rPr lang="en-US" altLang="zh-CN" sz="2800" dirty="0" smtClean="0"/>
              <a:t>1</a:t>
            </a:r>
            <a:r>
              <a:rPr lang="zh-CN" altLang="en-US" sz="2800" dirty="0" smtClean="0"/>
              <a:t>时，才使</a:t>
            </a:r>
            <a:r>
              <a:rPr lang="en-US" altLang="zh-CN" sz="2800" dirty="0" smtClean="0"/>
              <a:t>F=1.</a:t>
            </a:r>
          </a:p>
          <a:p>
            <a:pPr>
              <a:lnSpc>
                <a:spcPct val="100000"/>
              </a:lnSpc>
              <a:spcBef>
                <a:spcPts val="600"/>
              </a:spcBef>
              <a:buSzPct val="100000"/>
              <a:buNone/>
            </a:pPr>
            <a:r>
              <a:rPr lang="en-US" altLang="zh-CN" sz="2800" dirty="0" smtClean="0"/>
              <a:t>           </a:t>
            </a:r>
            <a:r>
              <a:rPr lang="zh-CN" altLang="en-US" sz="2800" dirty="0" smtClean="0"/>
              <a:t>该电路的逻辑功能是对输入信号</a:t>
            </a:r>
            <a:r>
              <a:rPr lang="en-US" altLang="zh-CN" sz="2800" dirty="0" smtClean="0"/>
              <a:t>X</a:t>
            </a:r>
            <a:r>
              <a:rPr lang="zh-CN" altLang="en-US" sz="2800" dirty="0" smtClean="0"/>
              <a:t>进行检测，当连续输入</a:t>
            </a:r>
            <a:r>
              <a:rPr lang="en-US" altLang="zh-CN" sz="2800" dirty="0" smtClean="0"/>
              <a:t>4</a:t>
            </a:r>
            <a:r>
              <a:rPr lang="zh-CN" altLang="en-US" sz="2800" dirty="0" smtClean="0"/>
              <a:t>个或</a:t>
            </a:r>
            <a:r>
              <a:rPr lang="en-US" altLang="zh-CN" sz="2800" dirty="0" smtClean="0"/>
              <a:t>4</a:t>
            </a:r>
            <a:r>
              <a:rPr lang="zh-CN" altLang="en-US" sz="2800" dirty="0" smtClean="0"/>
              <a:t>个以上</a:t>
            </a:r>
            <a:r>
              <a:rPr lang="en-US" altLang="zh-CN" sz="2800" dirty="0" smtClean="0"/>
              <a:t>1</a:t>
            </a:r>
            <a:r>
              <a:rPr lang="zh-CN" altLang="en-US" sz="2800" dirty="0" smtClean="0"/>
              <a:t>时，输出</a:t>
            </a:r>
            <a:r>
              <a:rPr lang="en-US" altLang="zh-CN" sz="2800" dirty="0" smtClean="0"/>
              <a:t>F=1</a:t>
            </a:r>
            <a:r>
              <a:rPr lang="zh-CN" altLang="en-US" sz="2800" dirty="0" smtClean="0"/>
              <a:t>，否则</a:t>
            </a:r>
            <a:r>
              <a:rPr lang="en-US" altLang="zh-CN" sz="2800" dirty="0" smtClean="0"/>
              <a:t>F=0</a:t>
            </a:r>
            <a:r>
              <a:rPr lang="zh-CN" altLang="en-US" sz="2800" dirty="0" smtClean="0"/>
              <a:t>。故该电路称为</a:t>
            </a:r>
            <a:r>
              <a:rPr lang="en-US" altLang="zh-CN" sz="2800" dirty="0" smtClean="0"/>
              <a:t>1111</a:t>
            </a:r>
            <a:r>
              <a:rPr lang="zh-CN" altLang="en-US" sz="2800" dirty="0" smtClean="0"/>
              <a:t>序列检测器。</a:t>
            </a:r>
            <a:endParaRPr lang="zh-CN" altLang="en-US" sz="2800"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25</a:t>
            </a:fld>
            <a:endParaRPr lang="zh-CN" altLang="en-US"/>
          </a:p>
        </p:txBody>
      </p:sp>
      <p:sp>
        <p:nvSpPr>
          <p:cNvPr id="7" name="标题 1"/>
          <p:cNvSpPr>
            <a:spLocks noGrp="1"/>
          </p:cNvSpPr>
          <p:nvPr>
            <p:ph type="title"/>
          </p:nvPr>
        </p:nvSpPr>
        <p:spPr>
          <a:xfrm>
            <a:off x="1043608" y="1052736"/>
            <a:ext cx="7776864" cy="638944"/>
          </a:xfrm>
        </p:spPr>
        <p:txBody>
          <a:bodyPr/>
          <a:lstStyle/>
          <a:p>
            <a:r>
              <a:rPr lang="zh-CN" altLang="en-US" dirty="0" smtClean="0"/>
              <a:t>时序逻辑电路的分析</a:t>
            </a:r>
            <a:r>
              <a:rPr lang="en-US" altLang="zh-CN" dirty="0" smtClean="0"/>
              <a:t>---</a:t>
            </a:r>
            <a:r>
              <a:rPr lang="zh-CN" altLang="en-US" dirty="0"/>
              <a:t>同步时序逻辑电路</a:t>
            </a:r>
          </a:p>
        </p:txBody>
      </p:sp>
      <p:sp>
        <p:nvSpPr>
          <p:cNvPr id="5"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24930" name="Picture 2"/>
          <p:cNvPicPr>
            <a:picLocks noChangeAspect="1" noChangeArrowheads="1"/>
          </p:cNvPicPr>
          <p:nvPr/>
        </p:nvPicPr>
        <p:blipFill>
          <a:blip r:embed="rId2" cstate="print"/>
          <a:srcRect/>
          <a:stretch>
            <a:fillRect/>
          </a:stretch>
        </p:blipFill>
        <p:spPr bwMode="auto">
          <a:xfrm>
            <a:off x="6621377" y="0"/>
            <a:ext cx="2522623" cy="2597447"/>
          </a:xfrm>
          <a:prstGeom prst="rect">
            <a:avLst/>
          </a:prstGeom>
          <a:noFill/>
          <a:ln w="9525">
            <a:noFill/>
            <a:miter lim="800000"/>
            <a:headEnd/>
            <a:tailEnd/>
          </a:ln>
        </p:spPr>
      </p:pic>
    </p:spTree>
    <p:extLst>
      <p:ext uri="{BB962C8B-B14F-4D97-AF65-F5344CB8AC3E}">
        <p14:creationId xmlns:p14="http://schemas.microsoft.com/office/powerpoint/2010/main" xmlns="" val="3274053077"/>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6" y="1124744"/>
            <a:ext cx="7920880" cy="566936"/>
          </a:xfrm>
        </p:spPr>
        <p:txBody>
          <a:bodyPr/>
          <a:lstStyle/>
          <a:p>
            <a:r>
              <a:rPr lang="zh-CN" altLang="en-US" dirty="0" smtClean="0"/>
              <a:t>时序逻辑电路的分析</a:t>
            </a:r>
            <a:r>
              <a:rPr lang="en-US" altLang="zh-CN" dirty="0" smtClean="0"/>
              <a:t>---</a:t>
            </a:r>
            <a:r>
              <a:rPr lang="zh-CN" altLang="en-US" dirty="0" smtClean="0"/>
              <a:t>异步时序</a:t>
            </a:r>
            <a:r>
              <a:rPr lang="zh-CN" altLang="en-US" dirty="0"/>
              <a:t>逻辑电路</a:t>
            </a:r>
          </a:p>
        </p:txBody>
      </p:sp>
      <p:sp>
        <p:nvSpPr>
          <p:cNvPr id="3" name="内容占位符 2"/>
          <p:cNvSpPr>
            <a:spLocks noGrp="1"/>
          </p:cNvSpPr>
          <p:nvPr>
            <p:ph idx="1"/>
          </p:nvPr>
        </p:nvSpPr>
        <p:spPr>
          <a:xfrm>
            <a:off x="467544" y="1988840"/>
            <a:ext cx="8487544" cy="4608512"/>
          </a:xfrm>
        </p:spPr>
        <p:txBody>
          <a:bodyPr/>
          <a:lstStyle/>
          <a:p>
            <a:pPr>
              <a:lnSpc>
                <a:spcPct val="100000"/>
              </a:lnSpc>
              <a:spcBef>
                <a:spcPts val="0"/>
              </a:spcBef>
              <a:buSzPct val="100000"/>
              <a:buFont typeface="Wingdings" pitchFamily="2" charset="2"/>
              <a:buChar char="p"/>
            </a:pPr>
            <a:r>
              <a:rPr lang="zh-CN" altLang="en-US" sz="2800" dirty="0" smtClean="0"/>
              <a:t>异步时序逻辑电路的特点：</a:t>
            </a:r>
          </a:p>
          <a:p>
            <a:pPr marL="457200" lvl="1" indent="0">
              <a:lnSpc>
                <a:spcPct val="100000"/>
              </a:lnSpc>
              <a:spcBef>
                <a:spcPts val="0"/>
              </a:spcBef>
              <a:buNone/>
            </a:pPr>
            <a:r>
              <a:rPr lang="zh-CN" altLang="en-US" dirty="0" smtClean="0"/>
              <a:t>       </a:t>
            </a:r>
            <a:r>
              <a:rPr lang="en-US" altLang="zh-CN" dirty="0" smtClean="0"/>
              <a:t>1</a:t>
            </a:r>
            <a:r>
              <a:rPr lang="zh-CN" altLang="en-US" dirty="0" smtClean="0"/>
              <a:t>、所有触发器的</a:t>
            </a:r>
            <a:r>
              <a:rPr lang="en-US" altLang="zh-CN" dirty="0" smtClean="0"/>
              <a:t>CP</a:t>
            </a:r>
            <a:r>
              <a:rPr lang="zh-CN" altLang="en-US" dirty="0" smtClean="0"/>
              <a:t>端并</a:t>
            </a:r>
            <a:r>
              <a:rPr lang="zh-CN" altLang="en-US" dirty="0" smtClean="0">
                <a:solidFill>
                  <a:srgbClr val="FF0000"/>
                </a:solidFill>
              </a:rPr>
              <a:t>没有</a:t>
            </a:r>
            <a:r>
              <a:rPr lang="zh-CN" altLang="en-US" dirty="0" smtClean="0"/>
              <a:t>完全连接在一起；</a:t>
            </a:r>
          </a:p>
          <a:p>
            <a:pPr marL="457200" lvl="1" indent="0">
              <a:lnSpc>
                <a:spcPct val="100000"/>
              </a:lnSpc>
              <a:spcBef>
                <a:spcPts val="0"/>
              </a:spcBef>
              <a:buNone/>
            </a:pPr>
            <a:r>
              <a:rPr lang="zh-CN" altLang="en-US" dirty="0" smtClean="0"/>
              <a:t>       </a:t>
            </a:r>
            <a:r>
              <a:rPr lang="en-US" altLang="zh-CN" dirty="0" smtClean="0"/>
              <a:t>2</a:t>
            </a:r>
            <a:r>
              <a:rPr lang="zh-CN" altLang="en-US" dirty="0" smtClean="0"/>
              <a:t>、不是所有触发器状态的变化都与时钟脉冲同步；</a:t>
            </a:r>
          </a:p>
          <a:p>
            <a:pPr marL="457200" lvl="1" indent="0">
              <a:lnSpc>
                <a:spcPct val="100000"/>
              </a:lnSpc>
              <a:spcBef>
                <a:spcPts val="0"/>
              </a:spcBef>
              <a:buNone/>
            </a:pPr>
            <a:r>
              <a:rPr lang="zh-CN" altLang="en-US" dirty="0" smtClean="0"/>
              <a:t>       </a:t>
            </a:r>
            <a:r>
              <a:rPr lang="en-US" altLang="zh-CN" dirty="0" smtClean="0"/>
              <a:t>3</a:t>
            </a:r>
            <a:r>
              <a:rPr lang="zh-CN" altLang="en-US" dirty="0" smtClean="0"/>
              <a:t>、</a:t>
            </a:r>
            <a:r>
              <a:rPr lang="zh-CN" altLang="en-US" dirty="0" smtClean="0">
                <a:solidFill>
                  <a:srgbClr val="FF0000"/>
                </a:solidFill>
              </a:rPr>
              <a:t>有时钟信号</a:t>
            </a:r>
            <a:r>
              <a:rPr lang="zh-CN" altLang="en-US" dirty="0" smtClean="0"/>
              <a:t>的触发器才需要用特性方程计算次态，而</a:t>
            </a:r>
            <a:r>
              <a:rPr lang="zh-CN" altLang="en-US" dirty="0" smtClean="0">
                <a:solidFill>
                  <a:srgbClr val="FF0000"/>
                </a:solidFill>
              </a:rPr>
              <a:t>没有时钟信号</a:t>
            </a:r>
            <a:r>
              <a:rPr lang="zh-CN" altLang="en-US" dirty="0" smtClean="0"/>
              <a:t>的触发器将保持原来的状态不变。</a:t>
            </a:r>
            <a:endParaRPr lang="en-US" altLang="zh-CN" sz="2800" dirty="0" smtClean="0"/>
          </a:p>
          <a:p>
            <a:pPr>
              <a:lnSpc>
                <a:spcPct val="100000"/>
              </a:lnSpc>
              <a:spcBef>
                <a:spcPts val="0"/>
              </a:spcBef>
              <a:buSzPct val="100000"/>
              <a:buFont typeface="Wingdings" pitchFamily="2" charset="2"/>
              <a:buChar char="p"/>
            </a:pPr>
            <a:r>
              <a:rPr lang="zh-CN" altLang="en-US" sz="2800" dirty="0" smtClean="0"/>
              <a:t>举例说明</a:t>
            </a:r>
            <a:r>
              <a:rPr lang="zh-CN" altLang="en-US" sz="2800" dirty="0"/>
              <a:t>异步时序逻辑电路的分析方法和步骤。</a:t>
            </a:r>
          </a:p>
          <a:p>
            <a:pPr marL="457200" lvl="1" indent="0">
              <a:lnSpc>
                <a:spcPct val="100000"/>
              </a:lnSpc>
              <a:spcBef>
                <a:spcPts val="0"/>
              </a:spcBef>
              <a:buNone/>
            </a:pPr>
            <a:r>
              <a:rPr lang="zh-CN" altLang="en-US" dirty="0">
                <a:solidFill>
                  <a:srgbClr val="FF0000"/>
                </a:solidFill>
                <a:latin typeface="楷体_GB2312" pitchFamily="49" charset="-122"/>
                <a:ea typeface="楷体_GB2312" pitchFamily="49" charset="-122"/>
              </a:rPr>
              <a:t>   </a:t>
            </a:r>
            <a:r>
              <a:rPr lang="en-US" altLang="zh-CN" dirty="0">
                <a:solidFill>
                  <a:srgbClr val="FF0000"/>
                </a:solidFill>
                <a:latin typeface="楷体_GB2312" pitchFamily="49" charset="-122"/>
                <a:ea typeface="楷体_GB2312" pitchFamily="49" charset="-122"/>
              </a:rPr>
              <a:t>【</a:t>
            </a:r>
            <a:r>
              <a:rPr lang="zh-CN" altLang="en-US" dirty="0" smtClean="0">
                <a:solidFill>
                  <a:srgbClr val="FF0000"/>
                </a:solidFill>
                <a:latin typeface="楷体_GB2312" pitchFamily="49" charset="-122"/>
                <a:ea typeface="楷体_GB2312" pitchFamily="49" charset="-122"/>
              </a:rPr>
              <a:t>例</a:t>
            </a:r>
            <a:r>
              <a:rPr lang="en-US" altLang="zh-CN" dirty="0" smtClean="0">
                <a:solidFill>
                  <a:srgbClr val="FF0000"/>
                </a:solidFill>
                <a:latin typeface="楷体_GB2312" pitchFamily="49" charset="-122"/>
                <a:ea typeface="楷体_GB2312" pitchFamily="49" charset="-122"/>
              </a:rPr>
              <a:t>】</a:t>
            </a:r>
            <a:r>
              <a:rPr lang="zh-CN" altLang="en-US" dirty="0">
                <a:latin typeface="楷体_GB2312" pitchFamily="49" charset="-122"/>
                <a:ea typeface="楷体_GB2312" pitchFamily="49" charset="-122"/>
              </a:rPr>
              <a:t>试分析如</a:t>
            </a:r>
            <a:r>
              <a:rPr lang="zh-CN" altLang="en-US" dirty="0" smtClean="0">
                <a:latin typeface="楷体_GB2312" pitchFamily="49" charset="-122"/>
                <a:ea typeface="楷体_GB2312" pitchFamily="49" charset="-122"/>
              </a:rPr>
              <a:t>图所</a:t>
            </a:r>
            <a:r>
              <a:rPr lang="zh-CN" altLang="en-US" dirty="0">
                <a:latin typeface="楷体_GB2312" pitchFamily="49" charset="-122"/>
                <a:ea typeface="楷体_GB2312" pitchFamily="49" charset="-122"/>
              </a:rPr>
              <a:t>示的异步时序电路的逻辑功能。</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26</a:t>
            </a:fld>
            <a:endParaRPr lang="zh-CN" altLang="en-US"/>
          </a:p>
        </p:txBody>
      </p:sp>
      <p:pic>
        <p:nvPicPr>
          <p:cNvPr id="7" name="Picture 9" descr="5-4-1"/>
          <p:cNvPicPr>
            <a:picLocks noChangeAspect="1" noChangeArrowheads="1"/>
          </p:cNvPicPr>
          <p:nvPr/>
        </p:nvPicPr>
        <p:blipFill>
          <a:blip r:embed="rId2" cstate="print">
            <a:clrChange>
              <a:clrFrom>
                <a:srgbClr val="F4F5EF"/>
              </a:clrFrom>
              <a:clrTo>
                <a:srgbClr val="F4F5EF">
                  <a:alpha val="0"/>
                </a:srgbClr>
              </a:clrTo>
            </a:clrChange>
            <a:lum bright="-6000" contrast="48000"/>
            <a:extLst>
              <a:ext uri="{28A0092B-C50C-407E-A947-70E740481C1C}">
                <a14:useLocalDpi xmlns:a14="http://schemas.microsoft.com/office/drawing/2010/main" xmlns="" val="0"/>
              </a:ext>
            </a:extLst>
          </a:blip>
          <a:srcRect/>
          <a:stretch>
            <a:fillRect/>
          </a:stretch>
        </p:blipFill>
        <p:spPr bwMode="auto">
          <a:xfrm>
            <a:off x="683568" y="4653136"/>
            <a:ext cx="7848872" cy="1914774"/>
          </a:xfrm>
          <a:prstGeom prst="rect">
            <a:avLst/>
          </a:prstGeom>
          <a:noFill/>
          <a:extLst>
            <a:ext uri="{909E8E84-426E-40DD-AFC4-6F175D3DCCD1}">
              <a14:hiddenFill xmlns:a14="http://schemas.microsoft.com/office/drawing/2010/main" xmlns="">
                <a:solidFill>
                  <a:srgbClr val="FFFFFF"/>
                </a:solidFill>
              </a14:hiddenFill>
            </a:ext>
          </a:extLst>
        </p:spPr>
      </p:pic>
      <p:sp>
        <p:nvSpPr>
          <p:cNvPr id="8"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725786105"/>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487544" cy="4752528"/>
          </a:xfrm>
        </p:spPr>
        <p:txBody>
          <a:bodyPr/>
          <a:lstStyle/>
          <a:p>
            <a:pPr>
              <a:spcBef>
                <a:spcPct val="50000"/>
              </a:spcBef>
              <a:buSzPct val="100000"/>
              <a:buFont typeface="Wingdings" pitchFamily="2" charset="2"/>
              <a:buChar char="p"/>
            </a:pPr>
            <a:r>
              <a:rPr lang="zh-CN" altLang="en-US" sz="2800" dirty="0" smtClean="0"/>
              <a:t>举例说明</a:t>
            </a:r>
            <a:r>
              <a:rPr lang="zh-CN" altLang="en-US" sz="2800" dirty="0"/>
              <a:t>异步时序逻辑电路的分析方法和步骤。</a:t>
            </a:r>
          </a:p>
          <a:p>
            <a:pPr marL="457200" lvl="1" indent="0">
              <a:spcBef>
                <a:spcPct val="50000"/>
              </a:spcBef>
              <a:buNone/>
            </a:pPr>
            <a:r>
              <a:rPr lang="zh-CN" altLang="en-US" dirty="0">
                <a:solidFill>
                  <a:srgbClr val="FF0000"/>
                </a:solidFill>
                <a:latin typeface="楷体_GB2312" pitchFamily="49" charset="-122"/>
                <a:ea typeface="楷体_GB2312" pitchFamily="49" charset="-122"/>
              </a:rPr>
              <a:t>   </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27</a:t>
            </a:fld>
            <a:endParaRPr lang="zh-CN" altLang="en-US"/>
          </a:p>
        </p:txBody>
      </p:sp>
      <p:pic>
        <p:nvPicPr>
          <p:cNvPr id="5" name="图片 4"/>
          <p:cNvPicPr>
            <a:picLocks noChangeAspect="1"/>
          </p:cNvPicPr>
          <p:nvPr/>
        </p:nvPicPr>
        <p:blipFill rotWithShape="1">
          <a:blip r:embed="rId2" cstate="print"/>
          <a:srcRect l="3997" t="12345" r="12771" b="64756"/>
          <a:stretch/>
        </p:blipFill>
        <p:spPr>
          <a:xfrm>
            <a:off x="539552" y="2420888"/>
            <a:ext cx="6979569" cy="1080120"/>
          </a:xfrm>
          <a:prstGeom prst="rect">
            <a:avLst/>
          </a:prstGeom>
        </p:spPr>
      </p:pic>
      <p:pic>
        <p:nvPicPr>
          <p:cNvPr id="6" name="图片 5"/>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331640" y="3573016"/>
            <a:ext cx="6746627" cy="1974846"/>
          </a:xfrm>
          <a:prstGeom prst="rect">
            <a:avLst/>
          </a:prstGeom>
        </p:spPr>
      </p:pic>
      <p:pic>
        <p:nvPicPr>
          <p:cNvPr id="128001" name="Picture 1"/>
          <p:cNvPicPr>
            <a:picLocks noChangeAspect="1" noChangeArrowheads="1"/>
          </p:cNvPicPr>
          <p:nvPr/>
        </p:nvPicPr>
        <p:blipFill>
          <a:blip r:embed="rId4" cstate="print"/>
          <a:srcRect/>
          <a:stretch>
            <a:fillRect/>
          </a:stretch>
        </p:blipFill>
        <p:spPr bwMode="auto">
          <a:xfrm>
            <a:off x="1259632" y="5589240"/>
            <a:ext cx="5114925" cy="1019175"/>
          </a:xfrm>
          <a:prstGeom prst="rect">
            <a:avLst/>
          </a:prstGeom>
          <a:noFill/>
          <a:ln w="9525">
            <a:noFill/>
            <a:miter lim="800000"/>
            <a:headEnd/>
            <a:tailEnd/>
          </a:ln>
        </p:spPr>
      </p:pic>
      <p:pic>
        <p:nvPicPr>
          <p:cNvPr id="10" name="图片 9"/>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5580112" y="4221088"/>
            <a:ext cx="2679080" cy="977502"/>
          </a:xfrm>
          <a:prstGeom prst="rect">
            <a:avLst/>
          </a:prstGeom>
        </p:spPr>
      </p:pic>
      <p:pic>
        <p:nvPicPr>
          <p:cNvPr id="11" name="Picture 9" descr="5-4-1"/>
          <p:cNvPicPr>
            <a:picLocks noChangeAspect="1" noChangeArrowheads="1"/>
          </p:cNvPicPr>
          <p:nvPr/>
        </p:nvPicPr>
        <p:blipFill>
          <a:blip r:embed="rId6" cstate="print">
            <a:clrChange>
              <a:clrFrom>
                <a:srgbClr val="F4F5EF"/>
              </a:clrFrom>
              <a:clrTo>
                <a:srgbClr val="F4F5EF">
                  <a:alpha val="0"/>
                </a:srgbClr>
              </a:clrTo>
            </a:clrChange>
            <a:lum bright="-6000" contrast="48000"/>
            <a:extLst>
              <a:ext uri="{28A0092B-C50C-407E-A947-70E740481C1C}">
                <a14:useLocalDpi xmlns:a14="http://schemas.microsoft.com/office/drawing/2010/main" xmlns="" val="0"/>
              </a:ext>
            </a:extLst>
          </a:blip>
          <a:srcRect/>
          <a:stretch>
            <a:fillRect/>
          </a:stretch>
        </p:blipFill>
        <p:spPr bwMode="auto">
          <a:xfrm>
            <a:off x="1295128" y="0"/>
            <a:ext cx="7848872" cy="1914774"/>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129055425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6" y="1124744"/>
            <a:ext cx="7920880" cy="566936"/>
          </a:xfrm>
        </p:spPr>
        <p:txBody>
          <a:bodyPr/>
          <a:lstStyle/>
          <a:p>
            <a:r>
              <a:rPr lang="zh-CN" altLang="en-US" dirty="0" smtClean="0"/>
              <a:t>时序逻辑电路的分析</a:t>
            </a:r>
            <a:r>
              <a:rPr lang="en-US" altLang="zh-CN" dirty="0" smtClean="0"/>
              <a:t>---</a:t>
            </a:r>
            <a:r>
              <a:rPr lang="zh-CN" altLang="en-US" dirty="0" smtClean="0"/>
              <a:t>异步时序</a:t>
            </a:r>
            <a:r>
              <a:rPr lang="zh-CN" altLang="en-US" dirty="0"/>
              <a:t>逻辑电路</a:t>
            </a:r>
          </a:p>
        </p:txBody>
      </p:sp>
      <p:sp>
        <p:nvSpPr>
          <p:cNvPr id="3" name="内容占位符 2"/>
          <p:cNvSpPr>
            <a:spLocks noGrp="1"/>
          </p:cNvSpPr>
          <p:nvPr>
            <p:ph idx="1"/>
          </p:nvPr>
        </p:nvSpPr>
        <p:spPr>
          <a:xfrm>
            <a:off x="467544" y="1844824"/>
            <a:ext cx="8487544" cy="4752528"/>
          </a:xfrm>
        </p:spPr>
        <p:txBody>
          <a:bodyPr/>
          <a:lstStyle/>
          <a:p>
            <a:pPr>
              <a:spcBef>
                <a:spcPct val="50000"/>
              </a:spcBef>
              <a:buSzPct val="100000"/>
              <a:buFont typeface="Wingdings" pitchFamily="2" charset="2"/>
              <a:buChar char="p"/>
            </a:pPr>
            <a:r>
              <a:rPr lang="zh-CN" altLang="en-US" sz="2800" dirty="0" smtClean="0"/>
              <a:t>举例说明</a:t>
            </a:r>
            <a:r>
              <a:rPr lang="zh-CN" altLang="en-US" sz="2800" dirty="0"/>
              <a:t>异步时序逻辑电路的分析方法和步骤。</a:t>
            </a:r>
          </a:p>
          <a:p>
            <a:pPr marL="457200" lvl="1" indent="0">
              <a:spcBef>
                <a:spcPct val="50000"/>
              </a:spcBef>
              <a:buNone/>
            </a:pPr>
            <a:r>
              <a:rPr lang="zh-CN" altLang="en-US" dirty="0">
                <a:solidFill>
                  <a:srgbClr val="FF0000"/>
                </a:solidFill>
                <a:latin typeface="楷体_GB2312" pitchFamily="49" charset="-122"/>
                <a:ea typeface="楷体_GB2312" pitchFamily="49" charset="-122"/>
              </a:rPr>
              <a:t>   </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28</a:t>
            </a:fld>
            <a:endParaRPr lang="zh-CN" altLang="en-US"/>
          </a:p>
        </p:txBody>
      </p:sp>
      <p:pic>
        <p:nvPicPr>
          <p:cNvPr id="8" name="图片 7"/>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043608" y="2348880"/>
            <a:ext cx="7056784" cy="4367766"/>
          </a:xfrm>
          <a:prstGeom prst="rect">
            <a:avLst/>
          </a:prstGeom>
        </p:spPr>
      </p:pic>
      <p:sp>
        <p:nvSpPr>
          <p:cNvPr id="6"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03296053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15616" y="1124744"/>
            <a:ext cx="7848872" cy="566936"/>
          </a:xfrm>
        </p:spPr>
        <p:txBody>
          <a:bodyPr/>
          <a:lstStyle/>
          <a:p>
            <a:r>
              <a:rPr lang="zh-CN" altLang="en-US" dirty="0" smtClean="0"/>
              <a:t>时序逻辑电路的分析</a:t>
            </a:r>
            <a:r>
              <a:rPr lang="en-US" altLang="zh-CN" dirty="0" smtClean="0"/>
              <a:t>---</a:t>
            </a:r>
            <a:r>
              <a:rPr lang="zh-CN" altLang="en-US" dirty="0" smtClean="0"/>
              <a:t>异步时序</a:t>
            </a:r>
            <a:r>
              <a:rPr lang="zh-CN" altLang="en-US" dirty="0"/>
              <a:t>逻辑电路</a:t>
            </a:r>
          </a:p>
        </p:txBody>
      </p:sp>
      <p:sp>
        <p:nvSpPr>
          <p:cNvPr id="3" name="内容占位符 2"/>
          <p:cNvSpPr>
            <a:spLocks noGrp="1"/>
          </p:cNvSpPr>
          <p:nvPr>
            <p:ph idx="1"/>
          </p:nvPr>
        </p:nvSpPr>
        <p:spPr>
          <a:xfrm>
            <a:off x="467544" y="1988840"/>
            <a:ext cx="8487544" cy="4608512"/>
          </a:xfrm>
        </p:spPr>
        <p:txBody>
          <a:bodyPr/>
          <a:lstStyle/>
          <a:p>
            <a:pPr>
              <a:lnSpc>
                <a:spcPct val="100000"/>
              </a:lnSpc>
              <a:spcBef>
                <a:spcPts val="600"/>
              </a:spcBef>
              <a:buSzPct val="100000"/>
              <a:buFont typeface="Wingdings" pitchFamily="2" charset="2"/>
              <a:buChar char="p"/>
            </a:pPr>
            <a:r>
              <a:rPr lang="zh-CN" altLang="en-US" sz="2800" dirty="0" smtClean="0"/>
              <a:t>举例说明</a:t>
            </a:r>
            <a:r>
              <a:rPr lang="zh-CN" altLang="en-US" sz="2800" dirty="0"/>
              <a:t>异步时序逻辑电路的分析方法和步骤。</a:t>
            </a:r>
          </a:p>
          <a:p>
            <a:pPr marL="457200" lvl="1" indent="0">
              <a:lnSpc>
                <a:spcPct val="100000"/>
              </a:lnSpc>
              <a:spcBef>
                <a:spcPts val="600"/>
              </a:spcBef>
              <a:buNone/>
            </a:pPr>
            <a:r>
              <a:rPr lang="zh-CN" altLang="en-US" sz="2400" dirty="0" smtClean="0">
                <a:latin typeface="+mn-ea"/>
              </a:rPr>
              <a:t>（</a:t>
            </a:r>
            <a:r>
              <a:rPr lang="en-US" altLang="zh-CN" sz="2400" dirty="0" smtClean="0">
                <a:latin typeface="+mn-ea"/>
              </a:rPr>
              <a:t>5</a:t>
            </a:r>
            <a:r>
              <a:rPr lang="zh-CN" altLang="en-US" sz="2400" dirty="0" smtClean="0">
                <a:latin typeface="+mn-ea"/>
              </a:rPr>
              <a:t>）状态转换图逻辑功能分析</a:t>
            </a:r>
            <a:endParaRPr lang="zh-CN" altLang="en-US" sz="2400" dirty="0">
              <a:latin typeface="+mn-ea"/>
            </a:endParaRP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29</a:t>
            </a:fld>
            <a:endParaRPr lang="zh-CN" altLang="en-US"/>
          </a:p>
        </p:txBody>
      </p:sp>
      <p:pic>
        <p:nvPicPr>
          <p:cNvPr id="9" name="Picture 10" descr="5-4-2"/>
          <p:cNvPicPr>
            <a:picLocks noChangeAspect="1" noChangeArrowheads="1"/>
          </p:cNvPicPr>
          <p:nvPr/>
        </p:nvPicPr>
        <p:blipFill>
          <a:blip r:embed="rId2" cstate="print">
            <a:clrChange>
              <a:clrFrom>
                <a:srgbClr val="FAFBF3"/>
              </a:clrFrom>
              <a:clrTo>
                <a:srgbClr val="FAFBF3">
                  <a:alpha val="0"/>
                </a:srgbClr>
              </a:clrTo>
            </a:clrChange>
            <a:lum contrast="42000"/>
            <a:extLst>
              <a:ext uri="{28A0092B-C50C-407E-A947-70E740481C1C}">
                <a14:useLocalDpi xmlns:a14="http://schemas.microsoft.com/office/drawing/2010/main" xmlns="" val="0"/>
              </a:ext>
            </a:extLst>
          </a:blip>
          <a:srcRect/>
          <a:stretch>
            <a:fillRect/>
          </a:stretch>
        </p:blipFill>
        <p:spPr bwMode="auto">
          <a:xfrm>
            <a:off x="1763688" y="3068960"/>
            <a:ext cx="6264696" cy="2414866"/>
          </a:xfrm>
          <a:prstGeom prst="rect">
            <a:avLst/>
          </a:prstGeom>
          <a:noFill/>
          <a:extLst>
            <a:ext uri="{909E8E84-426E-40DD-AFC4-6F175D3DCCD1}">
              <a14:hiddenFill xmlns:a14="http://schemas.microsoft.com/office/drawing/2010/main" xmlns="">
                <a:solidFill>
                  <a:srgbClr val="FFFFFF"/>
                </a:solidFill>
              </a14:hiddenFill>
            </a:ext>
          </a:extLst>
        </p:spPr>
      </p:pic>
      <p:sp>
        <p:nvSpPr>
          <p:cNvPr id="5" name="文本框 4"/>
          <p:cNvSpPr txBox="1"/>
          <p:nvPr/>
        </p:nvSpPr>
        <p:spPr>
          <a:xfrm>
            <a:off x="1043608" y="5589240"/>
            <a:ext cx="7128792" cy="830997"/>
          </a:xfrm>
          <a:prstGeom prst="rect">
            <a:avLst/>
          </a:prstGeom>
          <a:noFill/>
        </p:spPr>
        <p:txBody>
          <a:bodyPr wrap="square" rtlCol="0">
            <a:spAutoFit/>
          </a:bodyPr>
          <a:lstStyle/>
          <a:p>
            <a:r>
              <a:rPr lang="zh-CN" altLang="en-US" sz="2400" b="1" dirty="0" smtClean="0">
                <a:latin typeface="+mn-ea"/>
              </a:rPr>
              <a:t>（</a:t>
            </a:r>
            <a:r>
              <a:rPr lang="en-US" altLang="zh-CN" sz="2400" b="1" dirty="0" smtClean="0">
                <a:latin typeface="+mn-ea"/>
              </a:rPr>
              <a:t>6</a:t>
            </a:r>
            <a:r>
              <a:rPr lang="zh-CN" altLang="en-US" sz="2400" b="1" dirty="0" smtClean="0">
                <a:latin typeface="+mn-ea"/>
              </a:rPr>
              <a:t>）功能描述：电路</a:t>
            </a:r>
            <a:r>
              <a:rPr lang="zh-CN" altLang="en-US" sz="2400" b="1" dirty="0" smtClean="0">
                <a:solidFill>
                  <a:srgbClr val="0000CC"/>
                </a:solidFill>
                <a:latin typeface="+mn-ea"/>
              </a:rPr>
              <a:t>具有自启动能力</a:t>
            </a:r>
            <a:r>
              <a:rPr lang="zh-CN" altLang="en-US" sz="2400" b="1" dirty="0" smtClean="0">
                <a:latin typeface="+mn-ea"/>
              </a:rPr>
              <a:t>的异步十进制（模</a:t>
            </a:r>
            <a:r>
              <a:rPr lang="en-US" altLang="zh-CN" sz="2400" b="1" dirty="0" smtClean="0">
                <a:latin typeface="+mn-ea"/>
              </a:rPr>
              <a:t>10</a:t>
            </a:r>
            <a:r>
              <a:rPr lang="zh-CN" altLang="en-US" sz="2400" b="1" dirty="0" smtClean="0">
                <a:latin typeface="+mn-ea"/>
              </a:rPr>
              <a:t>）加法计数器</a:t>
            </a:r>
            <a:endParaRPr lang="zh-CN" altLang="en-US" sz="2400" b="1" dirty="0">
              <a:latin typeface="+mn-ea"/>
            </a:endParaRPr>
          </a:p>
        </p:txBody>
      </p:sp>
      <p:sp>
        <p:nvSpPr>
          <p:cNvPr id="10" name="标题 1"/>
          <p:cNvSpPr txBox="1">
            <a:spLocks/>
          </p:cNvSpPr>
          <p:nvPr/>
        </p:nvSpPr>
        <p:spPr bwMode="auto">
          <a:xfrm>
            <a:off x="1115616" y="332656"/>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同步时序逻辑电路的一般分析方法</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402405065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487544" cy="4608512"/>
          </a:xfrm>
        </p:spPr>
        <p:txBody>
          <a:bodyPr/>
          <a:lstStyle/>
          <a:p>
            <a:pPr>
              <a:lnSpc>
                <a:spcPct val="100000"/>
              </a:lnSpc>
              <a:spcBef>
                <a:spcPts val="600"/>
              </a:spcBef>
              <a:buSzPct val="100000"/>
              <a:buFont typeface="Wingdings" pitchFamily="2" charset="2"/>
              <a:buChar char="p"/>
            </a:pPr>
            <a:r>
              <a:rPr lang="zh-CN" altLang="en-US" sz="2800" dirty="0"/>
              <a:t>同步时序逻辑电路的设计方法及</a:t>
            </a:r>
            <a:r>
              <a:rPr lang="zh-CN" altLang="en-US" sz="2800" dirty="0" smtClean="0"/>
              <a:t>实例</a:t>
            </a:r>
            <a:endParaRPr lang="en-US" altLang="zh-CN" sz="2800" dirty="0" smtClean="0"/>
          </a:p>
          <a:p>
            <a:pPr lvl="1">
              <a:lnSpc>
                <a:spcPct val="100000"/>
              </a:lnSpc>
              <a:spcBef>
                <a:spcPts val="600"/>
              </a:spcBef>
              <a:buSzPct val="100000"/>
            </a:pPr>
            <a:r>
              <a:rPr lang="zh-CN" altLang="en-US" sz="2400" dirty="0" smtClean="0">
                <a:latin typeface="楷体_GB2312" pitchFamily="49" charset="-122"/>
                <a:ea typeface="楷体_GB2312" pitchFamily="49" charset="-122"/>
              </a:rPr>
              <a:t>时序</a:t>
            </a:r>
            <a:r>
              <a:rPr lang="zh-CN" altLang="en-US" sz="2400" dirty="0">
                <a:latin typeface="楷体_GB2312" pitchFamily="49" charset="-122"/>
                <a:ea typeface="楷体_GB2312" pitchFamily="49" charset="-122"/>
              </a:rPr>
              <a:t>逻辑电路</a:t>
            </a:r>
            <a:r>
              <a:rPr lang="zh-CN" altLang="en-US" sz="2400" dirty="0" smtClean="0">
                <a:latin typeface="楷体_GB2312" pitchFamily="49" charset="-122"/>
                <a:ea typeface="楷体_GB2312" pitchFamily="49" charset="-122"/>
              </a:rPr>
              <a:t>设计</a:t>
            </a:r>
            <a:endParaRPr lang="en-US" altLang="zh-CN" sz="2400" dirty="0" smtClean="0">
              <a:latin typeface="楷体_GB2312" pitchFamily="49" charset="-122"/>
              <a:ea typeface="楷体_GB2312" pitchFamily="49" charset="-122"/>
            </a:endParaRPr>
          </a:p>
          <a:p>
            <a:pPr lvl="2">
              <a:lnSpc>
                <a:spcPct val="100000"/>
              </a:lnSpc>
              <a:spcBef>
                <a:spcPts val="600"/>
              </a:spcBef>
              <a:buClr>
                <a:srgbClr val="0000CC"/>
              </a:buClr>
              <a:buSzPct val="100000"/>
              <a:buFont typeface="Wingdings" pitchFamily="2" charset="2"/>
              <a:buChar char="u"/>
            </a:pPr>
            <a:r>
              <a:rPr lang="zh-CN" altLang="en-US" dirty="0" smtClean="0">
                <a:latin typeface="楷体_GB2312" pitchFamily="49" charset="-122"/>
                <a:ea typeface="楷体_GB2312" pitchFamily="49" charset="-122"/>
              </a:rPr>
              <a:t>即</a:t>
            </a:r>
            <a:r>
              <a:rPr lang="zh-CN" altLang="en-US" dirty="0">
                <a:latin typeface="楷体_GB2312" pitchFamily="49" charset="-122"/>
                <a:ea typeface="楷体_GB2312" pitchFamily="49" charset="-122"/>
              </a:rPr>
              <a:t>要求设计者根据给出</a:t>
            </a:r>
            <a:r>
              <a:rPr lang="zh-CN" altLang="en-US" dirty="0" smtClean="0">
                <a:latin typeface="楷体_GB2312" pitchFamily="49" charset="-122"/>
                <a:ea typeface="楷体_GB2312" pitchFamily="49" charset="-122"/>
              </a:rPr>
              <a:t>的</a:t>
            </a:r>
            <a:r>
              <a:rPr lang="zh-CN" altLang="en-US" dirty="0" smtClean="0">
                <a:solidFill>
                  <a:srgbClr val="FF0000"/>
                </a:solidFill>
                <a:latin typeface="楷体_GB2312" pitchFamily="49" charset="-122"/>
                <a:ea typeface="楷体_GB2312" pitchFamily="49" charset="-122"/>
              </a:rPr>
              <a:t>具体</a:t>
            </a:r>
            <a:r>
              <a:rPr lang="zh-CN" altLang="en-US" dirty="0">
                <a:solidFill>
                  <a:srgbClr val="FF0000"/>
                </a:solidFill>
                <a:latin typeface="楷体_GB2312" pitchFamily="49" charset="-122"/>
                <a:ea typeface="楷体_GB2312" pitchFamily="49" charset="-122"/>
              </a:rPr>
              <a:t>逻辑问题</a:t>
            </a:r>
            <a:r>
              <a:rPr lang="zh-CN" altLang="en-US" dirty="0">
                <a:latin typeface="楷体_GB2312" pitchFamily="49" charset="-122"/>
                <a:ea typeface="楷体_GB2312" pitchFamily="49" charset="-122"/>
              </a:rPr>
              <a:t>，求出实现这一逻辑功能</a:t>
            </a:r>
            <a:r>
              <a:rPr lang="zh-CN" altLang="en-US" dirty="0" smtClean="0">
                <a:latin typeface="楷体_GB2312" pitchFamily="49" charset="-122"/>
                <a:ea typeface="楷体_GB2312" pitchFamily="49" charset="-122"/>
              </a:rPr>
              <a:t>的</a:t>
            </a:r>
            <a:r>
              <a:rPr lang="zh-CN" altLang="en-US" dirty="0" smtClean="0">
                <a:solidFill>
                  <a:srgbClr val="0000CC"/>
                </a:solidFill>
                <a:latin typeface="楷体_GB2312" pitchFamily="49" charset="-122"/>
                <a:ea typeface="楷体_GB2312" pitchFamily="49" charset="-122"/>
              </a:rPr>
              <a:t>最简逻辑电路</a:t>
            </a:r>
            <a:r>
              <a:rPr lang="zh-CN" altLang="en-US" dirty="0" smtClean="0">
                <a:latin typeface="楷体_GB2312" pitchFamily="49" charset="-122"/>
                <a:ea typeface="楷体_GB2312" pitchFamily="49" charset="-122"/>
              </a:rPr>
              <a:t>。</a:t>
            </a:r>
            <a:endParaRPr lang="en-US" altLang="zh-CN" dirty="0" smtClean="0">
              <a:latin typeface="楷体_GB2312" pitchFamily="49" charset="-122"/>
              <a:ea typeface="楷体_GB2312" pitchFamily="49" charset="-122"/>
            </a:endParaRPr>
          </a:p>
          <a:p>
            <a:pPr lvl="2">
              <a:lnSpc>
                <a:spcPct val="100000"/>
              </a:lnSpc>
              <a:spcBef>
                <a:spcPts val="600"/>
              </a:spcBef>
              <a:buClr>
                <a:srgbClr val="0000CC"/>
              </a:buClr>
              <a:buSzPct val="100000"/>
              <a:buFont typeface="Wingdings" pitchFamily="2" charset="2"/>
              <a:buChar char="u"/>
            </a:pPr>
            <a:r>
              <a:rPr lang="zh-CN" altLang="en-US" dirty="0">
                <a:latin typeface="楷体_GB2312" pitchFamily="49" charset="-122"/>
                <a:ea typeface="楷体_GB2312" pitchFamily="49" charset="-122"/>
              </a:rPr>
              <a:t>时序逻辑电路设计的</a:t>
            </a:r>
            <a:r>
              <a:rPr lang="zh-CN" altLang="en-US" dirty="0" smtClean="0">
                <a:latin typeface="楷体_GB2312" pitchFamily="49" charset="-122"/>
                <a:ea typeface="楷体_GB2312" pitchFamily="49" charset="-122"/>
              </a:rPr>
              <a:t>分类：</a:t>
            </a:r>
            <a:endParaRPr lang="zh-CN" altLang="en-US" dirty="0">
              <a:latin typeface="楷体_GB2312" pitchFamily="49" charset="-122"/>
              <a:ea typeface="楷体_GB2312" pitchFamily="49" charset="-122"/>
            </a:endParaRP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30</a:t>
            </a:fld>
            <a:endParaRPr lang="zh-CN" altLang="en-US"/>
          </a:p>
        </p:txBody>
      </p:sp>
      <p:grpSp>
        <p:nvGrpSpPr>
          <p:cNvPr id="6" name="Group 48"/>
          <p:cNvGrpSpPr>
            <a:grpSpLocks/>
          </p:cNvGrpSpPr>
          <p:nvPr/>
        </p:nvGrpSpPr>
        <p:grpSpPr bwMode="auto">
          <a:xfrm>
            <a:off x="1547664" y="4293096"/>
            <a:ext cx="6474378" cy="1666326"/>
            <a:chOff x="657" y="2614"/>
            <a:chExt cx="4627" cy="1269"/>
          </a:xfrm>
        </p:grpSpPr>
        <p:sp>
          <p:nvSpPr>
            <p:cNvPr id="7" name="Rectangle 37"/>
            <p:cNvSpPr>
              <a:spLocks noChangeArrowheads="1"/>
            </p:cNvSpPr>
            <p:nvPr/>
          </p:nvSpPr>
          <p:spPr bwMode="auto">
            <a:xfrm>
              <a:off x="657" y="2931"/>
              <a:ext cx="286" cy="635"/>
            </a:xfrm>
            <a:prstGeom prst="rect">
              <a:avLst/>
            </a:prstGeom>
            <a:solidFill>
              <a:srgbClr val="FFFF99"/>
            </a:solidFill>
            <a:ln w="381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b="1">
                  <a:solidFill>
                    <a:srgbClr val="FF0000"/>
                  </a:solidFill>
                  <a:latin typeface="Garamond" panose="02020404030301010803" pitchFamily="18" charset="0"/>
                  <a:ea typeface="黑体" panose="02010609060101010101" pitchFamily="49" charset="-122"/>
                </a:rPr>
                <a:t>分</a:t>
              </a:r>
            </a:p>
            <a:p>
              <a:pPr algn="ctr"/>
              <a:r>
                <a:rPr lang="zh-CN" altLang="en-US" b="1">
                  <a:solidFill>
                    <a:srgbClr val="FF0000"/>
                  </a:solidFill>
                  <a:latin typeface="Garamond" panose="02020404030301010803" pitchFamily="18" charset="0"/>
                  <a:ea typeface="黑体" panose="02010609060101010101" pitchFamily="49" charset="-122"/>
                </a:rPr>
                <a:t>类</a:t>
              </a:r>
            </a:p>
          </p:txBody>
        </p:sp>
        <p:sp>
          <p:nvSpPr>
            <p:cNvPr id="8" name="AutoShape 38"/>
            <p:cNvSpPr>
              <a:spLocks noChangeArrowheads="1"/>
            </p:cNvSpPr>
            <p:nvPr/>
          </p:nvSpPr>
          <p:spPr bwMode="auto">
            <a:xfrm>
              <a:off x="1134" y="2886"/>
              <a:ext cx="764" cy="725"/>
            </a:xfrm>
            <a:prstGeom prst="diamond">
              <a:avLst/>
            </a:prstGeom>
            <a:solidFill>
              <a:schemeClr val="accent1"/>
            </a:solidFill>
            <a:ln w="381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b="1">
                  <a:latin typeface="Garamond" panose="02020404030301010803" pitchFamily="18" charset="0"/>
                  <a:ea typeface="黑体" panose="02010609060101010101" pitchFamily="49" charset="-122"/>
                </a:rPr>
                <a:t>时钟</a:t>
              </a:r>
            </a:p>
            <a:p>
              <a:pPr algn="ctr"/>
              <a:r>
                <a:rPr lang="zh-CN" altLang="en-US" b="1">
                  <a:latin typeface="Garamond" panose="02020404030301010803" pitchFamily="18" charset="0"/>
                  <a:ea typeface="黑体" panose="02010609060101010101" pitchFamily="49" charset="-122"/>
                </a:rPr>
                <a:t>统一</a:t>
              </a:r>
            </a:p>
          </p:txBody>
        </p:sp>
        <p:cxnSp>
          <p:nvCxnSpPr>
            <p:cNvPr id="9" name="AutoShape 39"/>
            <p:cNvCxnSpPr>
              <a:cxnSpLocks noChangeShapeType="1"/>
              <a:stCxn id="7" idx="3"/>
              <a:endCxn id="8" idx="1"/>
            </p:cNvCxnSpPr>
            <p:nvPr/>
          </p:nvCxnSpPr>
          <p:spPr bwMode="auto">
            <a:xfrm>
              <a:off x="956" y="3249"/>
              <a:ext cx="166" cy="0"/>
            </a:xfrm>
            <a:prstGeom prst="straightConnector1">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sp>
          <p:nvSpPr>
            <p:cNvPr id="10" name="Rectangle 40"/>
            <p:cNvSpPr>
              <a:spLocks noChangeArrowheads="1"/>
            </p:cNvSpPr>
            <p:nvPr/>
          </p:nvSpPr>
          <p:spPr bwMode="auto">
            <a:xfrm>
              <a:off x="2184" y="2614"/>
              <a:ext cx="573" cy="317"/>
            </a:xfrm>
            <a:prstGeom prst="rect">
              <a:avLst/>
            </a:prstGeom>
            <a:solidFill>
              <a:srgbClr val="FFFF99"/>
            </a:solidFill>
            <a:ln w="381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b="1">
                  <a:solidFill>
                    <a:srgbClr val="FF0000"/>
                  </a:solidFill>
                  <a:latin typeface="Garamond" panose="02020404030301010803" pitchFamily="18" charset="0"/>
                  <a:ea typeface="黑体" panose="02010609060101010101" pitchFamily="49" charset="-122"/>
                </a:rPr>
                <a:t>是</a:t>
              </a:r>
            </a:p>
          </p:txBody>
        </p:sp>
        <p:sp>
          <p:nvSpPr>
            <p:cNvPr id="11" name="Rectangle 41"/>
            <p:cNvSpPr>
              <a:spLocks noChangeArrowheads="1"/>
            </p:cNvSpPr>
            <p:nvPr/>
          </p:nvSpPr>
          <p:spPr bwMode="auto">
            <a:xfrm>
              <a:off x="2184" y="3566"/>
              <a:ext cx="573" cy="317"/>
            </a:xfrm>
            <a:prstGeom prst="rect">
              <a:avLst/>
            </a:prstGeom>
            <a:solidFill>
              <a:srgbClr val="FFFF99"/>
            </a:solidFill>
            <a:ln w="381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b="1">
                  <a:solidFill>
                    <a:srgbClr val="3333FF"/>
                  </a:solidFill>
                  <a:latin typeface="Garamond" panose="02020404030301010803" pitchFamily="18" charset="0"/>
                  <a:ea typeface="黑体" panose="02010609060101010101" pitchFamily="49" charset="-122"/>
                </a:rPr>
                <a:t>否</a:t>
              </a:r>
            </a:p>
          </p:txBody>
        </p:sp>
        <p:sp>
          <p:nvSpPr>
            <p:cNvPr id="12" name="Rectangle 42"/>
            <p:cNvSpPr>
              <a:spLocks noChangeArrowheads="1"/>
            </p:cNvSpPr>
            <p:nvPr/>
          </p:nvSpPr>
          <p:spPr bwMode="auto">
            <a:xfrm>
              <a:off x="3138" y="2614"/>
              <a:ext cx="2146" cy="317"/>
            </a:xfrm>
            <a:prstGeom prst="rect">
              <a:avLst/>
            </a:prstGeom>
            <a:solidFill>
              <a:srgbClr val="FFFF99"/>
            </a:solidFill>
            <a:ln w="381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b="1" dirty="0">
                  <a:solidFill>
                    <a:srgbClr val="FF0000"/>
                  </a:solidFill>
                  <a:latin typeface="Garamond" panose="02020404030301010803" pitchFamily="18" charset="0"/>
                  <a:ea typeface="黑体" panose="02010609060101010101" pitchFamily="49" charset="-122"/>
                </a:rPr>
                <a:t>同步</a:t>
              </a:r>
              <a:r>
                <a:rPr lang="zh-CN" altLang="en-US" b="1" dirty="0">
                  <a:latin typeface="Garamond" panose="02020404030301010803" pitchFamily="18" charset="0"/>
                  <a:ea typeface="黑体" panose="02010609060101010101" pitchFamily="49" charset="-122"/>
                </a:rPr>
                <a:t>时序逻辑电路设计</a:t>
              </a:r>
            </a:p>
          </p:txBody>
        </p:sp>
        <p:sp>
          <p:nvSpPr>
            <p:cNvPr id="13" name="Rectangle 43"/>
            <p:cNvSpPr>
              <a:spLocks noChangeArrowheads="1"/>
            </p:cNvSpPr>
            <p:nvPr/>
          </p:nvSpPr>
          <p:spPr bwMode="auto">
            <a:xfrm>
              <a:off x="3138" y="3566"/>
              <a:ext cx="2146" cy="317"/>
            </a:xfrm>
            <a:prstGeom prst="rect">
              <a:avLst/>
            </a:prstGeom>
            <a:solidFill>
              <a:srgbClr val="FFFF99"/>
            </a:solidFill>
            <a:ln w="38100">
              <a:solidFill>
                <a:schemeClr val="tx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zh-CN" altLang="en-US" b="1">
                  <a:solidFill>
                    <a:srgbClr val="3333FF"/>
                  </a:solidFill>
                  <a:latin typeface="Garamond" panose="02020404030301010803" pitchFamily="18" charset="0"/>
                  <a:ea typeface="黑体" panose="02010609060101010101" pitchFamily="49" charset="-122"/>
                </a:rPr>
                <a:t>异步</a:t>
              </a:r>
              <a:r>
                <a:rPr lang="zh-CN" altLang="en-US" b="1">
                  <a:latin typeface="Garamond" panose="02020404030301010803" pitchFamily="18" charset="0"/>
                  <a:ea typeface="黑体" panose="02010609060101010101" pitchFamily="49" charset="-122"/>
                </a:rPr>
                <a:t>时序逻辑电路设计</a:t>
              </a:r>
            </a:p>
          </p:txBody>
        </p:sp>
        <p:cxnSp>
          <p:nvCxnSpPr>
            <p:cNvPr id="14" name="AutoShape 44"/>
            <p:cNvCxnSpPr>
              <a:cxnSpLocks noChangeShapeType="1"/>
              <a:stCxn id="8" idx="0"/>
              <a:endCxn id="10" idx="1"/>
            </p:cNvCxnSpPr>
            <p:nvPr/>
          </p:nvCxnSpPr>
          <p:spPr bwMode="auto">
            <a:xfrm rot="16200000">
              <a:off x="1793" y="2496"/>
              <a:ext cx="101" cy="655"/>
            </a:xfrm>
            <a:prstGeom prst="bentConnector2">
              <a:avLst/>
            </a:prstGeom>
            <a:noFill/>
            <a:ln w="38100">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5" name="AutoShape 45"/>
            <p:cNvCxnSpPr>
              <a:cxnSpLocks noChangeShapeType="1"/>
              <a:stCxn id="8" idx="2"/>
              <a:endCxn id="11" idx="1"/>
            </p:cNvCxnSpPr>
            <p:nvPr/>
          </p:nvCxnSpPr>
          <p:spPr bwMode="auto">
            <a:xfrm rot="16200000" flipH="1">
              <a:off x="1793" y="3346"/>
              <a:ext cx="102" cy="655"/>
            </a:xfrm>
            <a:prstGeom prst="bentConnector2">
              <a:avLst/>
            </a:prstGeom>
            <a:noFill/>
            <a:ln w="38100">
              <a:solidFill>
                <a:schemeClr val="tx1"/>
              </a:solidFill>
              <a:miter lim="800000"/>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6" name="AutoShape 46"/>
            <p:cNvCxnSpPr>
              <a:cxnSpLocks noChangeShapeType="1"/>
              <a:stCxn id="10" idx="3"/>
              <a:endCxn id="12" idx="1"/>
            </p:cNvCxnSpPr>
            <p:nvPr/>
          </p:nvCxnSpPr>
          <p:spPr bwMode="auto">
            <a:xfrm>
              <a:off x="2770" y="2773"/>
              <a:ext cx="355" cy="0"/>
            </a:xfrm>
            <a:prstGeom prst="straightConnector1">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cxnSp>
          <p:nvCxnSpPr>
            <p:cNvPr id="17" name="AutoShape 47"/>
            <p:cNvCxnSpPr>
              <a:cxnSpLocks noChangeShapeType="1"/>
              <a:stCxn id="11" idx="3"/>
              <a:endCxn id="13" idx="1"/>
            </p:cNvCxnSpPr>
            <p:nvPr/>
          </p:nvCxnSpPr>
          <p:spPr bwMode="auto">
            <a:xfrm>
              <a:off x="2770" y="3725"/>
              <a:ext cx="355" cy="0"/>
            </a:xfrm>
            <a:prstGeom prst="straightConnector1">
              <a:avLst/>
            </a:prstGeom>
            <a:noFill/>
            <a:ln w="38100">
              <a:solidFill>
                <a:schemeClr val="tx1"/>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cxnSp>
      </p:grpSp>
      <p:sp>
        <p:nvSpPr>
          <p:cNvPr id="18" name="标题 1"/>
          <p:cNvSpPr txBox="1">
            <a:spLocks/>
          </p:cNvSpPr>
          <p:nvPr/>
        </p:nvSpPr>
        <p:spPr bwMode="auto">
          <a:xfrm>
            <a:off x="1187624" y="836712"/>
            <a:ext cx="7560840"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96219029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Picture 11" descr="未命名-4"/>
          <p:cNvPicPr>
            <a:picLocks noChangeAspect="1" noChangeArrowheads="1" noCrop="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4874419" y="1509892"/>
            <a:ext cx="5183187" cy="3017859"/>
          </a:xfrm>
          <a:prstGeom prst="rect">
            <a:avLst/>
          </a:prstGeom>
          <a:noFill/>
          <a:extLst>
            <a:ext uri="{909E8E84-426E-40DD-AFC4-6F175D3DCCD1}">
              <a14:hiddenFill xmlns:a14="http://schemas.microsoft.com/office/drawing/2010/main" xmlns="">
                <a:solidFill>
                  <a:srgbClr val="FFFFFF"/>
                </a:solidFill>
              </a14:hiddenFill>
            </a:ext>
          </a:extLst>
        </p:spPr>
      </p:pic>
      <p:sp>
        <p:nvSpPr>
          <p:cNvPr id="3" name="内容占位符 2"/>
          <p:cNvSpPr>
            <a:spLocks noGrp="1"/>
          </p:cNvSpPr>
          <p:nvPr>
            <p:ph idx="1"/>
          </p:nvPr>
        </p:nvSpPr>
        <p:spPr>
          <a:xfrm>
            <a:off x="467544" y="1844824"/>
            <a:ext cx="4824536" cy="4752528"/>
          </a:xfrm>
        </p:spPr>
        <p:txBody>
          <a:bodyPr/>
          <a:lstStyle/>
          <a:p>
            <a:pPr>
              <a:lnSpc>
                <a:spcPct val="100000"/>
              </a:lnSpc>
              <a:spcBef>
                <a:spcPts val="0"/>
              </a:spcBef>
              <a:buSzPct val="100000"/>
              <a:buFont typeface="Wingdings" pitchFamily="2" charset="2"/>
              <a:buChar char="p"/>
            </a:pPr>
            <a:r>
              <a:rPr lang="zh-CN" altLang="en-US" dirty="0" smtClean="0">
                <a:solidFill>
                  <a:srgbClr val="0000CC"/>
                </a:solidFill>
              </a:rPr>
              <a:t>例</a:t>
            </a:r>
            <a:r>
              <a:rPr lang="en-US" altLang="zh-CN" dirty="0" smtClean="0">
                <a:solidFill>
                  <a:srgbClr val="0000CC"/>
                </a:solidFill>
              </a:rPr>
              <a:t>(</a:t>
            </a:r>
            <a:r>
              <a:rPr lang="zh-CN" altLang="en-US" dirty="0" smtClean="0">
                <a:solidFill>
                  <a:srgbClr val="0000CC"/>
                </a:solidFill>
              </a:rPr>
              <a:t>与教材例</a:t>
            </a:r>
            <a:r>
              <a:rPr lang="en-US" altLang="zh-CN" dirty="0" smtClean="0">
                <a:solidFill>
                  <a:srgbClr val="0000CC"/>
                </a:solidFill>
              </a:rPr>
              <a:t>6.5</a:t>
            </a:r>
            <a:r>
              <a:rPr lang="zh-CN" altLang="en-US" dirty="0" smtClean="0">
                <a:solidFill>
                  <a:srgbClr val="0000CC"/>
                </a:solidFill>
              </a:rPr>
              <a:t>类同）</a:t>
            </a:r>
            <a:r>
              <a:rPr lang="en-US" altLang="zh-CN" dirty="0" smtClean="0">
                <a:solidFill>
                  <a:srgbClr val="0000CC"/>
                </a:solidFill>
              </a:rPr>
              <a:t> </a:t>
            </a:r>
            <a:r>
              <a:rPr lang="zh-CN" altLang="en-US" dirty="0" smtClean="0">
                <a:latin typeface="+mn-ea"/>
              </a:rPr>
              <a:t>试设计一个串行数据检测器。对它的要求是：连续输入三个或三个以上的’</a:t>
            </a:r>
            <a:r>
              <a:rPr lang="en-US" altLang="zh-CN" dirty="0" smtClean="0">
                <a:latin typeface="+mn-ea"/>
              </a:rPr>
              <a:t>1’</a:t>
            </a:r>
            <a:r>
              <a:rPr lang="zh-CN" altLang="en-US" dirty="0" smtClean="0">
                <a:latin typeface="+mn-ea"/>
              </a:rPr>
              <a:t>时输出 </a:t>
            </a:r>
            <a:r>
              <a:rPr lang="en-US" altLang="zh-CN" dirty="0" smtClean="0">
                <a:latin typeface="+mn-ea"/>
              </a:rPr>
              <a:t>Y=1</a:t>
            </a:r>
            <a:r>
              <a:rPr lang="zh-CN" altLang="en-US" dirty="0" smtClean="0">
                <a:latin typeface="+mn-ea"/>
              </a:rPr>
              <a:t>，否则</a:t>
            </a:r>
            <a:r>
              <a:rPr lang="en-US" altLang="zh-CN" dirty="0" smtClean="0">
                <a:latin typeface="+mn-ea"/>
              </a:rPr>
              <a:t>Y=0</a:t>
            </a:r>
            <a:r>
              <a:rPr lang="zh-CN" altLang="en-US" dirty="0" smtClean="0">
                <a:latin typeface="+mn-ea"/>
              </a:rPr>
              <a:t>。</a:t>
            </a:r>
            <a:r>
              <a:rPr lang="en-US" altLang="zh-CN" dirty="0" smtClean="0">
                <a:latin typeface="+mn-ea"/>
              </a:rPr>
              <a:t>(</a:t>
            </a:r>
            <a:r>
              <a:rPr lang="zh-CN" altLang="en-US" dirty="0" smtClean="0">
                <a:solidFill>
                  <a:srgbClr val="FF0000"/>
                </a:solidFill>
                <a:latin typeface="+mn-ea"/>
              </a:rPr>
              <a:t>试用上边沿</a:t>
            </a:r>
            <a:r>
              <a:rPr lang="en-US" altLang="zh-CN" dirty="0" smtClean="0">
                <a:solidFill>
                  <a:srgbClr val="FF0000"/>
                </a:solidFill>
                <a:latin typeface="+mn-ea"/>
              </a:rPr>
              <a:t>JK-FF</a:t>
            </a:r>
            <a:r>
              <a:rPr lang="zh-CN" altLang="en-US" dirty="0" smtClean="0">
                <a:solidFill>
                  <a:srgbClr val="FF0000"/>
                </a:solidFill>
                <a:latin typeface="+mn-ea"/>
              </a:rPr>
              <a:t>完成设计</a:t>
            </a:r>
            <a:r>
              <a:rPr lang="en-US" altLang="zh-CN" dirty="0" smtClean="0">
                <a:latin typeface="+mn-ea"/>
              </a:rPr>
              <a:t>)</a:t>
            </a:r>
            <a:r>
              <a:rPr lang="zh-CN" altLang="en-US" dirty="0" smtClean="0">
                <a:latin typeface="+mn-ea"/>
              </a:rPr>
              <a:t>。</a:t>
            </a:r>
            <a:r>
              <a:rPr lang="en-US" altLang="zh-CN" dirty="0" smtClean="0"/>
              <a:t> </a:t>
            </a:r>
          </a:p>
        </p:txBody>
      </p:sp>
      <p:sp>
        <p:nvSpPr>
          <p:cNvPr id="34" name="Text Box 10"/>
          <p:cNvSpPr txBox="1">
            <a:spLocks noChangeArrowheads="1"/>
          </p:cNvSpPr>
          <p:nvPr/>
        </p:nvSpPr>
        <p:spPr bwMode="auto">
          <a:xfrm>
            <a:off x="5661660" y="3930056"/>
            <a:ext cx="2367271"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1400" b="1" dirty="0" smtClean="0">
                <a:latin typeface="楷体_GB2312" pitchFamily="49" charset="-122"/>
                <a:ea typeface="楷体_GB2312" pitchFamily="49" charset="-122"/>
              </a:rPr>
              <a:t>图</a:t>
            </a:r>
            <a:r>
              <a:rPr lang="en-US" altLang="zh-CN" sz="1400" b="1" dirty="0" smtClean="0">
                <a:latin typeface="楷体_GB2312" pitchFamily="49" charset="-122"/>
                <a:ea typeface="楷体_GB2312" pitchFamily="49" charset="-122"/>
              </a:rPr>
              <a:t> </a:t>
            </a:r>
            <a:r>
              <a:rPr lang="zh-CN" altLang="en-US" sz="1400" b="1" dirty="0" smtClean="0">
                <a:latin typeface="楷体_GB2312" pitchFamily="49" charset="-122"/>
                <a:ea typeface="楷体_GB2312" pitchFamily="49" charset="-122"/>
              </a:rPr>
              <a:t>总体设计</a:t>
            </a:r>
            <a:r>
              <a:rPr lang="zh-CN" altLang="en-US" sz="1400" b="1" dirty="0">
                <a:latin typeface="楷体_GB2312" pitchFamily="49" charset="-122"/>
                <a:ea typeface="楷体_GB2312" pitchFamily="49" charset="-122"/>
              </a:rPr>
              <a:t>效果示意图</a:t>
            </a:r>
          </a:p>
        </p:txBody>
      </p:sp>
      <p:sp>
        <p:nvSpPr>
          <p:cNvPr id="37" name="Text Box 39"/>
          <p:cNvSpPr txBox="1">
            <a:spLocks noChangeArrowheads="1"/>
          </p:cNvSpPr>
          <p:nvPr/>
        </p:nvSpPr>
        <p:spPr bwMode="auto">
          <a:xfrm>
            <a:off x="612131" y="3930056"/>
            <a:ext cx="4607941"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b="1" dirty="0">
                <a:solidFill>
                  <a:srgbClr val="FF0000"/>
                </a:solidFill>
                <a:latin typeface="楷体_GB2312" pitchFamily="49" charset="-122"/>
                <a:ea typeface="楷体_GB2312" pitchFamily="49" charset="-122"/>
              </a:rPr>
              <a:t>【</a:t>
            </a:r>
            <a:r>
              <a:rPr lang="zh-CN" altLang="en-US" b="1" dirty="0">
                <a:solidFill>
                  <a:srgbClr val="FF0000"/>
                </a:solidFill>
                <a:latin typeface="楷体_GB2312" pitchFamily="49" charset="-122"/>
                <a:ea typeface="楷体_GB2312" pitchFamily="49" charset="-122"/>
              </a:rPr>
              <a:t>分析</a:t>
            </a:r>
            <a:r>
              <a:rPr lang="en-US" altLang="zh-CN" b="1" dirty="0">
                <a:solidFill>
                  <a:srgbClr val="FF0000"/>
                </a:solidFill>
                <a:latin typeface="楷体_GB2312" pitchFamily="49" charset="-122"/>
                <a:ea typeface="楷体_GB2312" pitchFamily="49" charset="-122"/>
              </a:rPr>
              <a:t>】</a:t>
            </a:r>
            <a:r>
              <a:rPr lang="zh-CN" altLang="en-US" b="1" dirty="0">
                <a:latin typeface="楷体_GB2312" pitchFamily="49" charset="-122"/>
                <a:ea typeface="楷体_GB2312" pitchFamily="49" charset="-122"/>
              </a:rPr>
              <a:t>所设计电路的时序图应如下图所示：</a:t>
            </a:r>
          </a:p>
        </p:txBody>
      </p:sp>
      <p:graphicFrame>
        <p:nvGraphicFramePr>
          <p:cNvPr id="39" name="Object 7"/>
          <p:cNvGraphicFramePr>
            <a:graphicFrameLocks noChangeAspect="1"/>
          </p:cNvGraphicFramePr>
          <p:nvPr>
            <p:extLst>
              <p:ext uri="{D42A27DB-BD31-4B8C-83A1-F6EECF244321}">
                <p14:modId xmlns:p14="http://schemas.microsoft.com/office/powerpoint/2010/main" xmlns="" val="1058951155"/>
              </p:ext>
            </p:extLst>
          </p:nvPr>
        </p:nvGraphicFramePr>
        <p:xfrm>
          <a:off x="899045" y="4437112"/>
          <a:ext cx="7345363" cy="2166938"/>
        </p:xfrm>
        <a:graphic>
          <a:graphicData uri="http://schemas.openxmlformats.org/presentationml/2006/ole">
            <p:oleObj spid="_x0000_s1204" name="Visio" r:id="rId4" imgW="6494433" imgH="1915812" progId="">
              <p:embed/>
            </p:oleObj>
          </a:graphicData>
        </a:graphic>
      </p:graphicFrame>
      <p:sp>
        <p:nvSpPr>
          <p:cNvPr id="40" name="Line 8"/>
          <p:cNvSpPr>
            <a:spLocks noChangeShapeType="1"/>
          </p:cNvSpPr>
          <p:nvPr/>
        </p:nvSpPr>
        <p:spPr bwMode="auto">
          <a:xfrm>
            <a:off x="1330845" y="6381800"/>
            <a:ext cx="1152525"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1" name="Line 9"/>
          <p:cNvSpPr>
            <a:spLocks noChangeShapeType="1"/>
          </p:cNvSpPr>
          <p:nvPr/>
        </p:nvSpPr>
        <p:spPr bwMode="auto">
          <a:xfrm>
            <a:off x="2483370" y="6381800"/>
            <a:ext cx="863600"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 name="Line 10"/>
          <p:cNvSpPr>
            <a:spLocks noChangeShapeType="1"/>
          </p:cNvSpPr>
          <p:nvPr/>
        </p:nvSpPr>
        <p:spPr bwMode="auto">
          <a:xfrm>
            <a:off x="3275533" y="6381800"/>
            <a:ext cx="863600"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43" name="Group 11"/>
          <p:cNvGrpSpPr>
            <a:grpSpLocks/>
          </p:cNvGrpSpPr>
          <p:nvPr/>
        </p:nvGrpSpPr>
        <p:grpSpPr bwMode="auto">
          <a:xfrm>
            <a:off x="4139133" y="5950000"/>
            <a:ext cx="792162" cy="431800"/>
            <a:chOff x="2517" y="3294"/>
            <a:chExt cx="499" cy="272"/>
          </a:xfrm>
        </p:grpSpPr>
        <p:sp>
          <p:nvSpPr>
            <p:cNvPr id="44" name="Line 12"/>
            <p:cNvSpPr>
              <a:spLocks noChangeShapeType="1"/>
            </p:cNvSpPr>
            <p:nvPr/>
          </p:nvSpPr>
          <p:spPr bwMode="auto">
            <a:xfrm flipV="1">
              <a:off x="2517" y="3294"/>
              <a:ext cx="0" cy="272"/>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5" name="Line 13"/>
            <p:cNvSpPr>
              <a:spLocks noChangeShapeType="1"/>
            </p:cNvSpPr>
            <p:nvPr/>
          </p:nvSpPr>
          <p:spPr bwMode="auto">
            <a:xfrm>
              <a:off x="2517" y="3294"/>
              <a:ext cx="499"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46" name="Group 14"/>
          <p:cNvGrpSpPr>
            <a:grpSpLocks/>
          </p:cNvGrpSpPr>
          <p:nvPr/>
        </p:nvGrpSpPr>
        <p:grpSpPr bwMode="auto">
          <a:xfrm>
            <a:off x="4931295" y="5950000"/>
            <a:ext cx="792163" cy="431800"/>
            <a:chOff x="3016" y="3294"/>
            <a:chExt cx="499" cy="272"/>
          </a:xfrm>
        </p:grpSpPr>
        <p:sp>
          <p:nvSpPr>
            <p:cNvPr id="47" name="Line 15"/>
            <p:cNvSpPr>
              <a:spLocks noChangeShapeType="1"/>
            </p:cNvSpPr>
            <p:nvPr/>
          </p:nvSpPr>
          <p:spPr bwMode="auto">
            <a:xfrm>
              <a:off x="3016" y="3294"/>
              <a:ext cx="0" cy="272"/>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8" name="Line 16"/>
            <p:cNvSpPr>
              <a:spLocks noChangeShapeType="1"/>
            </p:cNvSpPr>
            <p:nvPr/>
          </p:nvSpPr>
          <p:spPr bwMode="auto">
            <a:xfrm>
              <a:off x="3016" y="3566"/>
              <a:ext cx="499"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49" name="Line 17"/>
          <p:cNvSpPr>
            <a:spLocks noChangeShapeType="1"/>
          </p:cNvSpPr>
          <p:nvPr/>
        </p:nvSpPr>
        <p:spPr bwMode="auto">
          <a:xfrm>
            <a:off x="5723458" y="6381800"/>
            <a:ext cx="863600"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0" name="Line 18"/>
          <p:cNvSpPr>
            <a:spLocks noChangeShapeType="1"/>
          </p:cNvSpPr>
          <p:nvPr/>
        </p:nvSpPr>
        <p:spPr bwMode="auto">
          <a:xfrm>
            <a:off x="6515620" y="6381800"/>
            <a:ext cx="863600"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1" name="Line 19"/>
          <p:cNvSpPr>
            <a:spLocks noChangeShapeType="1"/>
          </p:cNvSpPr>
          <p:nvPr/>
        </p:nvSpPr>
        <p:spPr bwMode="auto">
          <a:xfrm>
            <a:off x="7379220" y="6381800"/>
            <a:ext cx="863600"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nvGrpSpPr>
          <p:cNvPr id="52" name="Group 20"/>
          <p:cNvGrpSpPr>
            <a:grpSpLocks/>
          </p:cNvGrpSpPr>
          <p:nvPr/>
        </p:nvGrpSpPr>
        <p:grpSpPr bwMode="auto">
          <a:xfrm>
            <a:off x="1330845" y="4510137"/>
            <a:ext cx="1152525" cy="1079500"/>
            <a:chOff x="748" y="2387"/>
            <a:chExt cx="726" cy="680"/>
          </a:xfrm>
        </p:grpSpPr>
        <p:sp>
          <p:nvSpPr>
            <p:cNvPr id="53" name="Line 21"/>
            <p:cNvSpPr>
              <a:spLocks noChangeShapeType="1"/>
            </p:cNvSpPr>
            <p:nvPr/>
          </p:nvSpPr>
          <p:spPr bwMode="auto">
            <a:xfrm>
              <a:off x="748" y="3067"/>
              <a:ext cx="726"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4" name="Line 22"/>
            <p:cNvSpPr>
              <a:spLocks noChangeShapeType="1"/>
            </p:cNvSpPr>
            <p:nvPr/>
          </p:nvSpPr>
          <p:spPr bwMode="auto">
            <a:xfrm flipV="1">
              <a:off x="930" y="2387"/>
              <a:ext cx="0" cy="181"/>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55" name="Group 23"/>
          <p:cNvGrpSpPr>
            <a:grpSpLocks/>
          </p:cNvGrpSpPr>
          <p:nvPr/>
        </p:nvGrpSpPr>
        <p:grpSpPr bwMode="auto">
          <a:xfrm>
            <a:off x="2483370" y="4510137"/>
            <a:ext cx="863600" cy="1079500"/>
            <a:chOff x="1474" y="2387"/>
            <a:chExt cx="544" cy="680"/>
          </a:xfrm>
        </p:grpSpPr>
        <p:grpSp>
          <p:nvGrpSpPr>
            <p:cNvPr id="56" name="Group 24"/>
            <p:cNvGrpSpPr>
              <a:grpSpLocks/>
            </p:cNvGrpSpPr>
            <p:nvPr/>
          </p:nvGrpSpPr>
          <p:grpSpPr bwMode="auto">
            <a:xfrm>
              <a:off x="1474" y="2795"/>
              <a:ext cx="544" cy="272"/>
              <a:chOff x="1474" y="2795"/>
              <a:chExt cx="544" cy="272"/>
            </a:xfrm>
          </p:grpSpPr>
          <p:sp>
            <p:nvSpPr>
              <p:cNvPr id="58" name="Line 25"/>
              <p:cNvSpPr>
                <a:spLocks noChangeShapeType="1"/>
              </p:cNvSpPr>
              <p:nvPr/>
            </p:nvSpPr>
            <p:spPr bwMode="auto">
              <a:xfrm flipV="1">
                <a:off x="1474" y="2795"/>
                <a:ext cx="0" cy="272"/>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59" name="Line 26"/>
              <p:cNvSpPr>
                <a:spLocks noChangeShapeType="1"/>
              </p:cNvSpPr>
              <p:nvPr/>
            </p:nvSpPr>
            <p:spPr bwMode="auto">
              <a:xfrm>
                <a:off x="1474" y="2795"/>
                <a:ext cx="544"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57" name="Line 27"/>
            <p:cNvSpPr>
              <a:spLocks noChangeShapeType="1"/>
            </p:cNvSpPr>
            <p:nvPr/>
          </p:nvSpPr>
          <p:spPr bwMode="auto">
            <a:xfrm flipV="1">
              <a:off x="1474" y="2387"/>
              <a:ext cx="0" cy="181"/>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60" name="Group 28"/>
          <p:cNvGrpSpPr>
            <a:grpSpLocks/>
          </p:cNvGrpSpPr>
          <p:nvPr/>
        </p:nvGrpSpPr>
        <p:grpSpPr bwMode="auto">
          <a:xfrm>
            <a:off x="3275533" y="4510137"/>
            <a:ext cx="863600" cy="647700"/>
            <a:chOff x="1973" y="2387"/>
            <a:chExt cx="544" cy="408"/>
          </a:xfrm>
        </p:grpSpPr>
        <p:sp>
          <p:nvSpPr>
            <p:cNvPr id="61" name="Line 29"/>
            <p:cNvSpPr>
              <a:spLocks noChangeShapeType="1"/>
            </p:cNvSpPr>
            <p:nvPr/>
          </p:nvSpPr>
          <p:spPr bwMode="auto">
            <a:xfrm>
              <a:off x="2018" y="2795"/>
              <a:ext cx="499"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2" name="Line 30"/>
            <p:cNvSpPr>
              <a:spLocks noChangeShapeType="1"/>
            </p:cNvSpPr>
            <p:nvPr/>
          </p:nvSpPr>
          <p:spPr bwMode="auto">
            <a:xfrm flipV="1">
              <a:off x="1973" y="2387"/>
              <a:ext cx="0" cy="181"/>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63" name="Group 31"/>
          <p:cNvGrpSpPr>
            <a:grpSpLocks/>
          </p:cNvGrpSpPr>
          <p:nvPr/>
        </p:nvGrpSpPr>
        <p:grpSpPr bwMode="auto">
          <a:xfrm>
            <a:off x="4067695" y="4510137"/>
            <a:ext cx="863600" cy="647700"/>
            <a:chOff x="2472" y="2387"/>
            <a:chExt cx="544" cy="408"/>
          </a:xfrm>
        </p:grpSpPr>
        <p:sp>
          <p:nvSpPr>
            <p:cNvPr id="64" name="Line 32"/>
            <p:cNvSpPr>
              <a:spLocks noChangeShapeType="1"/>
            </p:cNvSpPr>
            <p:nvPr/>
          </p:nvSpPr>
          <p:spPr bwMode="auto">
            <a:xfrm>
              <a:off x="2517" y="2795"/>
              <a:ext cx="499"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65" name="Line 33"/>
            <p:cNvSpPr>
              <a:spLocks noChangeShapeType="1"/>
            </p:cNvSpPr>
            <p:nvPr/>
          </p:nvSpPr>
          <p:spPr bwMode="auto">
            <a:xfrm flipV="1">
              <a:off x="2472" y="2387"/>
              <a:ext cx="0" cy="181"/>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66" name="Group 34"/>
          <p:cNvGrpSpPr>
            <a:grpSpLocks/>
          </p:cNvGrpSpPr>
          <p:nvPr/>
        </p:nvGrpSpPr>
        <p:grpSpPr bwMode="auto">
          <a:xfrm>
            <a:off x="4931295" y="4510137"/>
            <a:ext cx="863600" cy="1079500"/>
            <a:chOff x="3016" y="2387"/>
            <a:chExt cx="544" cy="680"/>
          </a:xfrm>
        </p:grpSpPr>
        <p:grpSp>
          <p:nvGrpSpPr>
            <p:cNvPr id="67" name="Group 35"/>
            <p:cNvGrpSpPr>
              <a:grpSpLocks/>
            </p:cNvGrpSpPr>
            <p:nvPr/>
          </p:nvGrpSpPr>
          <p:grpSpPr bwMode="auto">
            <a:xfrm>
              <a:off x="3016" y="2795"/>
              <a:ext cx="544" cy="272"/>
              <a:chOff x="3016" y="2795"/>
              <a:chExt cx="544" cy="272"/>
            </a:xfrm>
          </p:grpSpPr>
          <p:sp>
            <p:nvSpPr>
              <p:cNvPr id="69" name="Line 36"/>
              <p:cNvSpPr>
                <a:spLocks noChangeShapeType="1"/>
              </p:cNvSpPr>
              <p:nvPr/>
            </p:nvSpPr>
            <p:spPr bwMode="auto">
              <a:xfrm>
                <a:off x="3016" y="2795"/>
                <a:ext cx="0" cy="272"/>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70" name="Line 37"/>
              <p:cNvSpPr>
                <a:spLocks noChangeShapeType="1"/>
              </p:cNvSpPr>
              <p:nvPr/>
            </p:nvSpPr>
            <p:spPr bwMode="auto">
              <a:xfrm>
                <a:off x="3016" y="3067"/>
                <a:ext cx="544"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68" name="Line 38"/>
            <p:cNvSpPr>
              <a:spLocks noChangeShapeType="1"/>
            </p:cNvSpPr>
            <p:nvPr/>
          </p:nvSpPr>
          <p:spPr bwMode="auto">
            <a:xfrm flipV="1">
              <a:off x="3016" y="2387"/>
              <a:ext cx="0" cy="181"/>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71" name="Group 40"/>
          <p:cNvGrpSpPr>
            <a:grpSpLocks/>
          </p:cNvGrpSpPr>
          <p:nvPr/>
        </p:nvGrpSpPr>
        <p:grpSpPr bwMode="auto">
          <a:xfrm>
            <a:off x="5723458" y="4510137"/>
            <a:ext cx="936625" cy="1079500"/>
            <a:chOff x="3515" y="2387"/>
            <a:chExt cx="590" cy="680"/>
          </a:xfrm>
        </p:grpSpPr>
        <p:grpSp>
          <p:nvGrpSpPr>
            <p:cNvPr id="72" name="Group 41"/>
            <p:cNvGrpSpPr>
              <a:grpSpLocks/>
            </p:cNvGrpSpPr>
            <p:nvPr/>
          </p:nvGrpSpPr>
          <p:grpSpPr bwMode="auto">
            <a:xfrm>
              <a:off x="3561" y="2795"/>
              <a:ext cx="544" cy="272"/>
              <a:chOff x="1474" y="2795"/>
              <a:chExt cx="544" cy="272"/>
            </a:xfrm>
          </p:grpSpPr>
          <p:sp>
            <p:nvSpPr>
              <p:cNvPr id="74" name="Line 42"/>
              <p:cNvSpPr>
                <a:spLocks noChangeShapeType="1"/>
              </p:cNvSpPr>
              <p:nvPr/>
            </p:nvSpPr>
            <p:spPr bwMode="auto">
              <a:xfrm flipV="1">
                <a:off x="1474" y="2795"/>
                <a:ext cx="0" cy="272"/>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75" name="Line 43"/>
              <p:cNvSpPr>
                <a:spLocks noChangeShapeType="1"/>
              </p:cNvSpPr>
              <p:nvPr/>
            </p:nvSpPr>
            <p:spPr bwMode="auto">
              <a:xfrm>
                <a:off x="1474" y="2795"/>
                <a:ext cx="544"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73" name="Line 44"/>
            <p:cNvSpPr>
              <a:spLocks noChangeShapeType="1"/>
            </p:cNvSpPr>
            <p:nvPr/>
          </p:nvSpPr>
          <p:spPr bwMode="auto">
            <a:xfrm flipV="1">
              <a:off x="3515" y="2387"/>
              <a:ext cx="0" cy="181"/>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76" name="Group 45"/>
          <p:cNvGrpSpPr>
            <a:grpSpLocks/>
          </p:cNvGrpSpPr>
          <p:nvPr/>
        </p:nvGrpSpPr>
        <p:grpSpPr bwMode="auto">
          <a:xfrm>
            <a:off x="6515620" y="4510137"/>
            <a:ext cx="863600" cy="647700"/>
            <a:chOff x="4014" y="2387"/>
            <a:chExt cx="544" cy="408"/>
          </a:xfrm>
        </p:grpSpPr>
        <p:sp>
          <p:nvSpPr>
            <p:cNvPr id="77" name="Line 46"/>
            <p:cNvSpPr>
              <a:spLocks noChangeShapeType="1"/>
            </p:cNvSpPr>
            <p:nvPr/>
          </p:nvSpPr>
          <p:spPr bwMode="auto">
            <a:xfrm>
              <a:off x="4059" y="2795"/>
              <a:ext cx="499"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78" name="Line 47"/>
            <p:cNvSpPr>
              <a:spLocks noChangeShapeType="1"/>
            </p:cNvSpPr>
            <p:nvPr/>
          </p:nvSpPr>
          <p:spPr bwMode="auto">
            <a:xfrm flipV="1">
              <a:off x="4014" y="2387"/>
              <a:ext cx="0" cy="181"/>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79" name="Group 48"/>
          <p:cNvGrpSpPr>
            <a:grpSpLocks/>
          </p:cNvGrpSpPr>
          <p:nvPr/>
        </p:nvGrpSpPr>
        <p:grpSpPr bwMode="auto">
          <a:xfrm>
            <a:off x="7307783" y="4510137"/>
            <a:ext cx="935037" cy="1079500"/>
            <a:chOff x="4513" y="2387"/>
            <a:chExt cx="589" cy="680"/>
          </a:xfrm>
        </p:grpSpPr>
        <p:grpSp>
          <p:nvGrpSpPr>
            <p:cNvPr id="80" name="Group 49"/>
            <p:cNvGrpSpPr>
              <a:grpSpLocks/>
            </p:cNvGrpSpPr>
            <p:nvPr/>
          </p:nvGrpSpPr>
          <p:grpSpPr bwMode="auto">
            <a:xfrm>
              <a:off x="4558" y="2795"/>
              <a:ext cx="544" cy="272"/>
              <a:chOff x="3016" y="2795"/>
              <a:chExt cx="544" cy="272"/>
            </a:xfrm>
          </p:grpSpPr>
          <p:sp>
            <p:nvSpPr>
              <p:cNvPr id="82" name="Line 50"/>
              <p:cNvSpPr>
                <a:spLocks noChangeShapeType="1"/>
              </p:cNvSpPr>
              <p:nvPr/>
            </p:nvSpPr>
            <p:spPr bwMode="auto">
              <a:xfrm>
                <a:off x="3016" y="2795"/>
                <a:ext cx="0" cy="272"/>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83" name="Line 51"/>
              <p:cNvSpPr>
                <a:spLocks noChangeShapeType="1"/>
              </p:cNvSpPr>
              <p:nvPr/>
            </p:nvSpPr>
            <p:spPr bwMode="auto">
              <a:xfrm>
                <a:off x="3016" y="3067"/>
                <a:ext cx="544" cy="0"/>
              </a:xfrm>
              <a:prstGeom prst="line">
                <a:avLst/>
              </a:prstGeom>
              <a:noFill/>
              <a:ln w="28575">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81" name="Line 52"/>
            <p:cNvSpPr>
              <a:spLocks noChangeShapeType="1"/>
            </p:cNvSpPr>
            <p:nvPr/>
          </p:nvSpPr>
          <p:spPr bwMode="auto">
            <a:xfrm flipV="1">
              <a:off x="4513" y="2387"/>
              <a:ext cx="0" cy="181"/>
            </a:xfrm>
            <a:prstGeom prst="line">
              <a:avLst/>
            </a:prstGeom>
            <a:noFill/>
            <a:ln w="19050">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84" name="Text Box 53"/>
          <p:cNvSpPr txBox="1">
            <a:spLocks noChangeArrowheads="1"/>
          </p:cNvSpPr>
          <p:nvPr/>
        </p:nvSpPr>
        <p:spPr bwMode="auto">
          <a:xfrm>
            <a:off x="2844285" y="6524152"/>
            <a:ext cx="3744912" cy="30777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400" b="1" dirty="0" smtClean="0">
                <a:latin typeface="楷体_GB2312" pitchFamily="49" charset="-122"/>
                <a:ea typeface="楷体_GB2312" pitchFamily="49" charset="-122"/>
              </a:rPr>
              <a:t>图 设计</a:t>
            </a:r>
            <a:r>
              <a:rPr lang="zh-CN" altLang="en-US" sz="1400" b="1" dirty="0">
                <a:latin typeface="楷体_GB2312" pitchFamily="49" charset="-122"/>
                <a:ea typeface="楷体_GB2312" pitchFamily="49" charset="-122"/>
              </a:rPr>
              <a:t>要求时序分析</a:t>
            </a:r>
          </a:p>
        </p:txBody>
      </p:sp>
      <p:sp>
        <p:nvSpPr>
          <p:cNvPr id="85" name="标题 1"/>
          <p:cNvSpPr txBox="1">
            <a:spLocks/>
          </p:cNvSpPr>
          <p:nvPr/>
        </p:nvSpPr>
        <p:spPr bwMode="auto">
          <a:xfrm>
            <a:off x="1187624" y="764704"/>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682986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2"/>
                                        </p:tgtEl>
                                        <p:attrNameLst>
                                          <p:attrName>style.visibility</p:attrName>
                                        </p:attrNameLst>
                                      </p:cBhvr>
                                      <p:to>
                                        <p:strVal val="visible"/>
                                      </p:to>
                                    </p:set>
                                    <p:animEffect transition="in" filter="blinds(horizontal)">
                                      <p:cBhvr>
                                        <p:cTn id="7" dur="500"/>
                                        <p:tgtEl>
                                          <p:spTgt spid="5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0"/>
                                        </p:tgtEl>
                                        <p:attrNameLst>
                                          <p:attrName>style.visibility</p:attrName>
                                        </p:attrNameLst>
                                      </p:cBhvr>
                                      <p:to>
                                        <p:strVal val="visible"/>
                                      </p:to>
                                    </p:set>
                                    <p:animEffect transition="in" filter="blinds(horizontal)">
                                      <p:cBhvr>
                                        <p:cTn id="12" dur="500"/>
                                        <p:tgtEl>
                                          <p:spTgt spid="40"/>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55"/>
                                        </p:tgtEl>
                                        <p:attrNameLst>
                                          <p:attrName>style.visibility</p:attrName>
                                        </p:attrNameLst>
                                      </p:cBhvr>
                                      <p:to>
                                        <p:strVal val="visible"/>
                                      </p:to>
                                    </p:set>
                                    <p:animEffect transition="in" filter="blinds(horizontal)">
                                      <p:cBhvr>
                                        <p:cTn id="17" dur="500"/>
                                        <p:tgtEl>
                                          <p:spTgt spid="55"/>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1"/>
                                        </p:tgtEl>
                                        <p:attrNameLst>
                                          <p:attrName>style.visibility</p:attrName>
                                        </p:attrNameLst>
                                      </p:cBhvr>
                                      <p:to>
                                        <p:strVal val="visible"/>
                                      </p:to>
                                    </p:set>
                                    <p:animEffect transition="in" filter="blinds(horizontal)">
                                      <p:cBhvr>
                                        <p:cTn id="22" dur="500"/>
                                        <p:tgtEl>
                                          <p:spTgt spid="41"/>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60"/>
                                        </p:tgtEl>
                                        <p:attrNameLst>
                                          <p:attrName>style.visibility</p:attrName>
                                        </p:attrNameLst>
                                      </p:cBhvr>
                                      <p:to>
                                        <p:strVal val="visible"/>
                                      </p:to>
                                    </p:set>
                                    <p:animEffect transition="in" filter="blinds(horizontal)">
                                      <p:cBhvr>
                                        <p:cTn id="27" dur="500"/>
                                        <p:tgtEl>
                                          <p:spTgt spid="60"/>
                                        </p:tgtEl>
                                      </p:cBhvr>
                                    </p:animEffect>
                                  </p:childTnLst>
                                </p:cTn>
                              </p:par>
                            </p:childTnLst>
                          </p:cTn>
                        </p:par>
                      </p:childTnLst>
                    </p:cTn>
                  </p:par>
                  <p:par>
                    <p:cTn id="28" fill="hold">
                      <p:stCondLst>
                        <p:cond delay="indefinite"/>
                      </p:stCondLst>
                      <p:childTnLst>
                        <p:par>
                          <p:cTn id="29" fill="hold">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42"/>
                                        </p:tgtEl>
                                        <p:attrNameLst>
                                          <p:attrName>style.visibility</p:attrName>
                                        </p:attrNameLst>
                                      </p:cBhvr>
                                      <p:to>
                                        <p:strVal val="visible"/>
                                      </p:to>
                                    </p:set>
                                    <p:animEffect transition="in" filter="blinds(horizontal)">
                                      <p:cBhvr>
                                        <p:cTn id="32" dur="500"/>
                                        <p:tgtEl>
                                          <p:spTgt spid="42"/>
                                        </p:tgtEl>
                                      </p:cBhvr>
                                    </p:animEffect>
                                  </p:childTnLst>
                                </p:cTn>
                              </p:par>
                            </p:childTnLst>
                          </p:cTn>
                        </p:par>
                      </p:childTnLst>
                    </p:cTn>
                  </p:par>
                  <p:par>
                    <p:cTn id="33" fill="hold">
                      <p:stCondLst>
                        <p:cond delay="indefinite"/>
                      </p:stCondLst>
                      <p:childTnLst>
                        <p:par>
                          <p:cTn id="34" fill="hold">
                            <p:stCondLst>
                              <p:cond delay="0"/>
                            </p:stCondLst>
                            <p:childTnLst>
                              <p:par>
                                <p:cTn id="35" presetID="3" presetClass="entr" presetSubtype="10" fill="hold" nodeType="clickEffect">
                                  <p:stCondLst>
                                    <p:cond delay="0"/>
                                  </p:stCondLst>
                                  <p:childTnLst>
                                    <p:set>
                                      <p:cBhvr>
                                        <p:cTn id="36" dur="1" fill="hold">
                                          <p:stCondLst>
                                            <p:cond delay="0"/>
                                          </p:stCondLst>
                                        </p:cTn>
                                        <p:tgtEl>
                                          <p:spTgt spid="63"/>
                                        </p:tgtEl>
                                        <p:attrNameLst>
                                          <p:attrName>style.visibility</p:attrName>
                                        </p:attrNameLst>
                                      </p:cBhvr>
                                      <p:to>
                                        <p:strVal val="visible"/>
                                      </p:to>
                                    </p:set>
                                    <p:animEffect transition="in" filter="blinds(horizontal)">
                                      <p:cBhvr>
                                        <p:cTn id="37" dur="500"/>
                                        <p:tgtEl>
                                          <p:spTgt spid="63"/>
                                        </p:tgtEl>
                                      </p:cBhvr>
                                    </p:animEffect>
                                  </p:childTnLst>
                                </p:cTn>
                              </p:par>
                            </p:childTnLst>
                          </p:cTn>
                        </p:par>
                      </p:childTnLst>
                    </p:cTn>
                  </p:par>
                  <p:par>
                    <p:cTn id="38" fill="hold">
                      <p:stCondLst>
                        <p:cond delay="indefinite"/>
                      </p:stCondLst>
                      <p:childTnLst>
                        <p:par>
                          <p:cTn id="39" fill="hold">
                            <p:stCondLst>
                              <p:cond delay="0"/>
                            </p:stCondLst>
                            <p:childTnLst>
                              <p:par>
                                <p:cTn id="40" presetID="3" presetClass="entr" presetSubtype="10" fill="hold" nodeType="clickEffect">
                                  <p:stCondLst>
                                    <p:cond delay="0"/>
                                  </p:stCondLst>
                                  <p:childTnLst>
                                    <p:set>
                                      <p:cBhvr>
                                        <p:cTn id="41" dur="1" fill="hold">
                                          <p:stCondLst>
                                            <p:cond delay="0"/>
                                          </p:stCondLst>
                                        </p:cTn>
                                        <p:tgtEl>
                                          <p:spTgt spid="43"/>
                                        </p:tgtEl>
                                        <p:attrNameLst>
                                          <p:attrName>style.visibility</p:attrName>
                                        </p:attrNameLst>
                                      </p:cBhvr>
                                      <p:to>
                                        <p:strVal val="visible"/>
                                      </p:to>
                                    </p:set>
                                    <p:animEffect transition="in" filter="blinds(horizontal)">
                                      <p:cBhvr>
                                        <p:cTn id="42" dur="500"/>
                                        <p:tgtEl>
                                          <p:spTgt spid="43"/>
                                        </p:tgtEl>
                                      </p:cBhvr>
                                    </p:animEffect>
                                  </p:childTnLst>
                                </p:cTn>
                              </p:par>
                            </p:childTnLst>
                          </p:cTn>
                        </p:par>
                      </p:childTnLst>
                    </p:cTn>
                  </p:par>
                  <p:par>
                    <p:cTn id="43" fill="hold">
                      <p:stCondLst>
                        <p:cond delay="indefinite"/>
                      </p:stCondLst>
                      <p:childTnLst>
                        <p:par>
                          <p:cTn id="44" fill="hold">
                            <p:stCondLst>
                              <p:cond delay="0"/>
                            </p:stCondLst>
                            <p:childTnLst>
                              <p:par>
                                <p:cTn id="45" presetID="3" presetClass="entr" presetSubtype="10" fill="hold" nodeType="clickEffect">
                                  <p:stCondLst>
                                    <p:cond delay="0"/>
                                  </p:stCondLst>
                                  <p:childTnLst>
                                    <p:set>
                                      <p:cBhvr>
                                        <p:cTn id="46" dur="1" fill="hold">
                                          <p:stCondLst>
                                            <p:cond delay="0"/>
                                          </p:stCondLst>
                                        </p:cTn>
                                        <p:tgtEl>
                                          <p:spTgt spid="66"/>
                                        </p:tgtEl>
                                        <p:attrNameLst>
                                          <p:attrName>style.visibility</p:attrName>
                                        </p:attrNameLst>
                                      </p:cBhvr>
                                      <p:to>
                                        <p:strVal val="visible"/>
                                      </p:to>
                                    </p:set>
                                    <p:animEffect transition="in" filter="blinds(horizontal)">
                                      <p:cBhvr>
                                        <p:cTn id="47" dur="500"/>
                                        <p:tgtEl>
                                          <p:spTgt spid="66"/>
                                        </p:tgtEl>
                                      </p:cBhvr>
                                    </p:animEffect>
                                  </p:childTnLst>
                                </p:cTn>
                              </p:par>
                            </p:childTnLst>
                          </p:cTn>
                        </p:par>
                      </p:childTnLst>
                    </p:cTn>
                  </p:par>
                  <p:par>
                    <p:cTn id="48" fill="hold">
                      <p:stCondLst>
                        <p:cond delay="indefinite"/>
                      </p:stCondLst>
                      <p:childTnLst>
                        <p:par>
                          <p:cTn id="49" fill="hold">
                            <p:stCondLst>
                              <p:cond delay="0"/>
                            </p:stCondLst>
                            <p:childTnLst>
                              <p:par>
                                <p:cTn id="50" presetID="3" presetClass="entr" presetSubtype="10" fill="hold" nodeType="clickEffect">
                                  <p:stCondLst>
                                    <p:cond delay="0"/>
                                  </p:stCondLst>
                                  <p:childTnLst>
                                    <p:set>
                                      <p:cBhvr>
                                        <p:cTn id="51" dur="1" fill="hold">
                                          <p:stCondLst>
                                            <p:cond delay="0"/>
                                          </p:stCondLst>
                                        </p:cTn>
                                        <p:tgtEl>
                                          <p:spTgt spid="46"/>
                                        </p:tgtEl>
                                        <p:attrNameLst>
                                          <p:attrName>style.visibility</p:attrName>
                                        </p:attrNameLst>
                                      </p:cBhvr>
                                      <p:to>
                                        <p:strVal val="visible"/>
                                      </p:to>
                                    </p:set>
                                    <p:animEffect transition="in" filter="blinds(horizontal)">
                                      <p:cBhvr>
                                        <p:cTn id="52" dur="500"/>
                                        <p:tgtEl>
                                          <p:spTgt spid="46"/>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nodeType="clickEffect">
                                  <p:stCondLst>
                                    <p:cond delay="0"/>
                                  </p:stCondLst>
                                  <p:childTnLst>
                                    <p:set>
                                      <p:cBhvr>
                                        <p:cTn id="56" dur="1" fill="hold">
                                          <p:stCondLst>
                                            <p:cond delay="0"/>
                                          </p:stCondLst>
                                        </p:cTn>
                                        <p:tgtEl>
                                          <p:spTgt spid="71"/>
                                        </p:tgtEl>
                                        <p:attrNameLst>
                                          <p:attrName>style.visibility</p:attrName>
                                        </p:attrNameLst>
                                      </p:cBhvr>
                                      <p:to>
                                        <p:strVal val="visible"/>
                                      </p:to>
                                    </p:set>
                                    <p:animEffect transition="in" filter="blinds(horizontal)">
                                      <p:cBhvr>
                                        <p:cTn id="57" dur="500"/>
                                        <p:tgtEl>
                                          <p:spTgt spid="71"/>
                                        </p:tgtEl>
                                      </p:cBhvr>
                                    </p:animEffect>
                                  </p:childTnLst>
                                </p:cTn>
                              </p:par>
                            </p:childTnLst>
                          </p:cTn>
                        </p:par>
                        <p:par>
                          <p:cTn id="58" fill="hold">
                            <p:stCondLst>
                              <p:cond delay="500"/>
                            </p:stCondLst>
                            <p:childTnLst>
                              <p:par>
                                <p:cTn id="59" presetID="3" presetClass="entr" presetSubtype="10" fill="hold" grpId="0" nodeType="afterEffect">
                                  <p:stCondLst>
                                    <p:cond delay="0"/>
                                  </p:stCondLst>
                                  <p:childTnLst>
                                    <p:set>
                                      <p:cBhvr>
                                        <p:cTn id="60" dur="1" fill="hold">
                                          <p:stCondLst>
                                            <p:cond delay="0"/>
                                          </p:stCondLst>
                                        </p:cTn>
                                        <p:tgtEl>
                                          <p:spTgt spid="49"/>
                                        </p:tgtEl>
                                        <p:attrNameLst>
                                          <p:attrName>style.visibility</p:attrName>
                                        </p:attrNameLst>
                                      </p:cBhvr>
                                      <p:to>
                                        <p:strVal val="visible"/>
                                      </p:to>
                                    </p:set>
                                    <p:animEffect transition="in" filter="blinds(horizontal)">
                                      <p:cBhvr>
                                        <p:cTn id="61" dur="500"/>
                                        <p:tgtEl>
                                          <p:spTgt spid="49"/>
                                        </p:tgtEl>
                                      </p:cBhvr>
                                    </p:animEffect>
                                  </p:childTnLst>
                                </p:cTn>
                              </p:par>
                            </p:childTnLst>
                          </p:cTn>
                        </p:par>
                        <p:par>
                          <p:cTn id="62" fill="hold">
                            <p:stCondLst>
                              <p:cond delay="1000"/>
                            </p:stCondLst>
                            <p:childTnLst>
                              <p:par>
                                <p:cTn id="63" presetID="3" presetClass="entr" presetSubtype="10" fill="hold" nodeType="afterEffect">
                                  <p:stCondLst>
                                    <p:cond delay="0"/>
                                  </p:stCondLst>
                                  <p:childTnLst>
                                    <p:set>
                                      <p:cBhvr>
                                        <p:cTn id="64" dur="1" fill="hold">
                                          <p:stCondLst>
                                            <p:cond delay="0"/>
                                          </p:stCondLst>
                                        </p:cTn>
                                        <p:tgtEl>
                                          <p:spTgt spid="76"/>
                                        </p:tgtEl>
                                        <p:attrNameLst>
                                          <p:attrName>style.visibility</p:attrName>
                                        </p:attrNameLst>
                                      </p:cBhvr>
                                      <p:to>
                                        <p:strVal val="visible"/>
                                      </p:to>
                                    </p:set>
                                    <p:animEffect transition="in" filter="blinds(horizontal)">
                                      <p:cBhvr>
                                        <p:cTn id="65" dur="500"/>
                                        <p:tgtEl>
                                          <p:spTgt spid="76"/>
                                        </p:tgtEl>
                                      </p:cBhvr>
                                    </p:animEffect>
                                  </p:childTnLst>
                                </p:cTn>
                              </p:par>
                            </p:childTnLst>
                          </p:cTn>
                        </p:par>
                        <p:par>
                          <p:cTn id="66" fill="hold">
                            <p:stCondLst>
                              <p:cond delay="1500"/>
                            </p:stCondLst>
                            <p:childTnLst>
                              <p:par>
                                <p:cTn id="67" presetID="3" presetClass="entr" presetSubtype="10" fill="hold" grpId="0" nodeType="afterEffect">
                                  <p:stCondLst>
                                    <p:cond delay="0"/>
                                  </p:stCondLst>
                                  <p:childTnLst>
                                    <p:set>
                                      <p:cBhvr>
                                        <p:cTn id="68" dur="1" fill="hold">
                                          <p:stCondLst>
                                            <p:cond delay="0"/>
                                          </p:stCondLst>
                                        </p:cTn>
                                        <p:tgtEl>
                                          <p:spTgt spid="50"/>
                                        </p:tgtEl>
                                        <p:attrNameLst>
                                          <p:attrName>style.visibility</p:attrName>
                                        </p:attrNameLst>
                                      </p:cBhvr>
                                      <p:to>
                                        <p:strVal val="visible"/>
                                      </p:to>
                                    </p:set>
                                    <p:animEffect transition="in" filter="blinds(horizontal)">
                                      <p:cBhvr>
                                        <p:cTn id="69" dur="500"/>
                                        <p:tgtEl>
                                          <p:spTgt spid="50"/>
                                        </p:tgtEl>
                                      </p:cBhvr>
                                    </p:animEffect>
                                  </p:childTnLst>
                                </p:cTn>
                              </p:par>
                            </p:childTnLst>
                          </p:cTn>
                        </p:par>
                        <p:par>
                          <p:cTn id="70" fill="hold">
                            <p:stCondLst>
                              <p:cond delay="2000"/>
                            </p:stCondLst>
                            <p:childTnLst>
                              <p:par>
                                <p:cTn id="71" presetID="3" presetClass="entr" presetSubtype="10" fill="hold" nodeType="afterEffect">
                                  <p:stCondLst>
                                    <p:cond delay="0"/>
                                  </p:stCondLst>
                                  <p:childTnLst>
                                    <p:set>
                                      <p:cBhvr>
                                        <p:cTn id="72" dur="1" fill="hold">
                                          <p:stCondLst>
                                            <p:cond delay="0"/>
                                          </p:stCondLst>
                                        </p:cTn>
                                        <p:tgtEl>
                                          <p:spTgt spid="79"/>
                                        </p:tgtEl>
                                        <p:attrNameLst>
                                          <p:attrName>style.visibility</p:attrName>
                                        </p:attrNameLst>
                                      </p:cBhvr>
                                      <p:to>
                                        <p:strVal val="visible"/>
                                      </p:to>
                                    </p:set>
                                    <p:animEffect transition="in" filter="blinds(horizontal)">
                                      <p:cBhvr>
                                        <p:cTn id="73" dur="500"/>
                                        <p:tgtEl>
                                          <p:spTgt spid="79"/>
                                        </p:tgtEl>
                                      </p:cBhvr>
                                    </p:animEffect>
                                  </p:childTnLst>
                                </p:cTn>
                              </p:par>
                            </p:childTnLst>
                          </p:cTn>
                        </p:par>
                        <p:par>
                          <p:cTn id="74" fill="hold">
                            <p:stCondLst>
                              <p:cond delay="2500"/>
                            </p:stCondLst>
                            <p:childTnLst>
                              <p:par>
                                <p:cTn id="75" presetID="3" presetClass="entr" presetSubtype="10" fill="hold" grpId="0" nodeType="afterEffect">
                                  <p:stCondLst>
                                    <p:cond delay="0"/>
                                  </p:stCondLst>
                                  <p:childTnLst>
                                    <p:set>
                                      <p:cBhvr>
                                        <p:cTn id="76" dur="1" fill="hold">
                                          <p:stCondLst>
                                            <p:cond delay="0"/>
                                          </p:stCondLst>
                                        </p:cTn>
                                        <p:tgtEl>
                                          <p:spTgt spid="51"/>
                                        </p:tgtEl>
                                        <p:attrNameLst>
                                          <p:attrName>style.visibility</p:attrName>
                                        </p:attrNameLst>
                                      </p:cBhvr>
                                      <p:to>
                                        <p:strVal val="visible"/>
                                      </p:to>
                                    </p:set>
                                    <p:animEffect transition="in" filter="blinds(horizontal)">
                                      <p:cBhvr>
                                        <p:cTn id="77" dur="500"/>
                                        <p:tgtEl>
                                          <p:spTgt spid="51"/>
                                        </p:tgtEl>
                                      </p:cBhvr>
                                    </p:animEffect>
                                  </p:childTnLst>
                                </p:cTn>
                              </p:par>
                            </p:childTnLst>
                          </p:cTn>
                        </p:par>
                        <p:par>
                          <p:cTn id="78" fill="hold">
                            <p:stCondLst>
                              <p:cond delay="3000"/>
                            </p:stCondLst>
                            <p:childTnLst>
                              <p:par>
                                <p:cTn id="79" presetID="3" presetClass="entr" presetSubtype="10" fill="hold" grpId="0" nodeType="afterEffect">
                                  <p:stCondLst>
                                    <p:cond delay="0"/>
                                  </p:stCondLst>
                                  <p:childTnLst>
                                    <p:set>
                                      <p:cBhvr>
                                        <p:cTn id="80" dur="1" fill="hold">
                                          <p:stCondLst>
                                            <p:cond delay="0"/>
                                          </p:stCondLst>
                                        </p:cTn>
                                        <p:tgtEl>
                                          <p:spTgt spid="84"/>
                                        </p:tgtEl>
                                        <p:attrNameLst>
                                          <p:attrName>style.visibility</p:attrName>
                                        </p:attrNameLst>
                                      </p:cBhvr>
                                      <p:to>
                                        <p:strVal val="visible"/>
                                      </p:to>
                                    </p:set>
                                    <p:animEffect transition="in" filter="blinds(horizontal)">
                                      <p:cBhvr>
                                        <p:cTn id="81" dur="500"/>
                                        <p:tgtEl>
                                          <p:spTgt spid="8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 grpId="0" animBg="1"/>
      <p:bldP spid="41" grpId="0" animBg="1"/>
      <p:bldP spid="42" grpId="0" animBg="1"/>
      <p:bldP spid="49" grpId="0" animBg="1"/>
      <p:bldP spid="50" grpId="0" animBg="1"/>
      <p:bldP spid="51" grpId="0" animBg="1"/>
      <p:bldP spid="84"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内容占位符 6"/>
          <p:cNvSpPr>
            <a:spLocks noGrp="1"/>
          </p:cNvSpPr>
          <p:nvPr>
            <p:ph idx="1"/>
          </p:nvPr>
        </p:nvSpPr>
        <p:spPr>
          <a:xfrm>
            <a:off x="467544" y="1844824"/>
            <a:ext cx="8487544" cy="4752528"/>
          </a:xfrm>
        </p:spPr>
        <p:txBody>
          <a:bodyPr/>
          <a:lstStyle/>
          <a:p>
            <a:pPr lvl="2">
              <a:lnSpc>
                <a:spcPct val="100000"/>
              </a:lnSpc>
              <a:spcBef>
                <a:spcPts val="600"/>
              </a:spcBef>
              <a:buClr>
                <a:srgbClr val="FF0000"/>
              </a:buClr>
              <a:buSzPct val="100000"/>
            </a:pPr>
            <a:r>
              <a:rPr lang="zh-CN" altLang="en-US" sz="2400" dirty="0"/>
              <a:t>步骤一：逻辑抽象</a:t>
            </a:r>
          </a:p>
          <a:p>
            <a:pPr lvl="3">
              <a:spcBef>
                <a:spcPts val="600"/>
              </a:spcBef>
              <a:buClr>
                <a:srgbClr val="0000CC"/>
              </a:buClr>
              <a:buSzPct val="100000"/>
              <a:buFont typeface="Wingdings" pitchFamily="2" charset="2"/>
              <a:buChar char="u"/>
            </a:pPr>
            <a:r>
              <a:rPr lang="zh-CN" altLang="en-US" dirty="0" smtClean="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1</a:t>
            </a:r>
            <a:r>
              <a:rPr lang="zh-CN" altLang="en-US" dirty="0">
                <a:latin typeface="宋体" panose="02010600030101010101" pitchFamily="2" charset="-122"/>
                <a:ea typeface="宋体" panose="02010600030101010101" pitchFamily="2" charset="-122"/>
              </a:rPr>
              <a:t>）分析给定的逻辑问题，确定</a:t>
            </a:r>
            <a:r>
              <a:rPr lang="zh-CN" altLang="en-US" dirty="0">
                <a:solidFill>
                  <a:srgbClr val="3333FF"/>
                </a:solidFill>
                <a:latin typeface="宋体" panose="02010600030101010101" pitchFamily="2" charset="-122"/>
                <a:ea typeface="宋体" panose="02010600030101010101" pitchFamily="2" charset="-122"/>
              </a:rPr>
              <a:t>输入变量</a:t>
            </a:r>
            <a:r>
              <a:rPr lang="zh-CN" altLang="en-US" dirty="0">
                <a:solidFill>
                  <a:schemeClr val="bg2"/>
                </a:solidFill>
                <a:latin typeface="宋体" panose="02010600030101010101" pitchFamily="2" charset="-122"/>
                <a:ea typeface="宋体" panose="02010600030101010101" pitchFamily="2" charset="-122"/>
              </a:rPr>
              <a:t>、</a:t>
            </a:r>
            <a:r>
              <a:rPr lang="zh-CN" altLang="en-US" dirty="0">
                <a:solidFill>
                  <a:srgbClr val="3333FF"/>
                </a:solidFill>
                <a:latin typeface="宋体" panose="02010600030101010101" pitchFamily="2" charset="-122"/>
                <a:ea typeface="宋体" panose="02010600030101010101" pitchFamily="2" charset="-122"/>
              </a:rPr>
              <a:t>输出变量</a:t>
            </a:r>
            <a:r>
              <a:rPr lang="zh-CN" altLang="en-US" dirty="0">
                <a:latin typeface="宋体" panose="02010600030101010101" pitchFamily="2" charset="-122"/>
                <a:ea typeface="宋体" panose="02010600030101010101" pitchFamily="2" charset="-122"/>
              </a:rPr>
              <a:t>以及电路的</a:t>
            </a:r>
            <a:r>
              <a:rPr lang="zh-CN" altLang="en-US" dirty="0">
                <a:solidFill>
                  <a:srgbClr val="3333FF"/>
                </a:solidFill>
                <a:latin typeface="宋体" panose="02010600030101010101" pitchFamily="2" charset="-122"/>
                <a:ea typeface="宋体" panose="02010600030101010101" pitchFamily="2" charset="-122"/>
              </a:rPr>
              <a:t>状态数</a:t>
            </a:r>
            <a:r>
              <a:rPr lang="zh-CN" altLang="en-US" dirty="0">
                <a:solidFill>
                  <a:schemeClr val="bg2"/>
                </a:solidFill>
                <a:latin typeface="宋体" panose="02010600030101010101" pitchFamily="2" charset="-122"/>
                <a:ea typeface="宋体" panose="02010600030101010101" pitchFamily="2" charset="-122"/>
              </a:rPr>
              <a:t>。</a:t>
            </a:r>
          </a:p>
          <a:p>
            <a:pPr lvl="3">
              <a:spcBef>
                <a:spcPts val="600"/>
              </a:spcBef>
              <a:buClr>
                <a:srgbClr val="0000CC"/>
              </a:buClr>
              <a:buSzPct val="100000"/>
              <a:buFont typeface="Wingdings" pitchFamily="2" charset="2"/>
              <a:buChar char="u"/>
            </a:pPr>
            <a:r>
              <a:rPr lang="zh-CN" altLang="en-US" dirty="0" smtClean="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2</a:t>
            </a:r>
            <a:r>
              <a:rPr lang="zh-CN" altLang="en-US" dirty="0">
                <a:latin typeface="宋体" panose="02010600030101010101" pitchFamily="2" charset="-122"/>
                <a:ea typeface="宋体" panose="02010600030101010101" pitchFamily="2" charset="-122"/>
              </a:rPr>
              <a:t>）定义输入、输出逻辑状态和每个变量的含意，并将电路状态顺序编号；</a:t>
            </a:r>
          </a:p>
          <a:p>
            <a:pPr lvl="3">
              <a:spcBef>
                <a:spcPts val="600"/>
              </a:spcBef>
              <a:buClr>
                <a:srgbClr val="0000CC"/>
              </a:buClr>
              <a:buSzPct val="100000"/>
              <a:buFont typeface="Wingdings" pitchFamily="2" charset="2"/>
              <a:buChar char="u"/>
            </a:pPr>
            <a:r>
              <a:rPr lang="zh-CN" altLang="en-US" dirty="0" smtClean="0">
                <a:latin typeface="宋体" panose="02010600030101010101" pitchFamily="2" charset="-122"/>
                <a:ea typeface="宋体" panose="02010600030101010101" pitchFamily="2" charset="-122"/>
              </a:rPr>
              <a:t>（</a:t>
            </a:r>
            <a:r>
              <a:rPr lang="en-US" altLang="zh-CN" dirty="0">
                <a:latin typeface="宋体" panose="02010600030101010101" pitchFamily="2" charset="-122"/>
                <a:ea typeface="宋体" panose="02010600030101010101" pitchFamily="2" charset="-122"/>
              </a:rPr>
              <a:t>3</a:t>
            </a:r>
            <a:r>
              <a:rPr lang="zh-CN" altLang="en-US" dirty="0">
                <a:latin typeface="宋体" panose="02010600030101010101" pitchFamily="2" charset="-122"/>
                <a:ea typeface="宋体" panose="02010600030101010101" pitchFamily="2" charset="-122"/>
              </a:rPr>
              <a:t>）按照题意列出电路的</a:t>
            </a:r>
            <a:r>
              <a:rPr lang="zh-CN" altLang="en-US" dirty="0">
                <a:solidFill>
                  <a:srgbClr val="FF0000"/>
                </a:solidFill>
                <a:latin typeface="宋体" panose="02010600030101010101" pitchFamily="2" charset="-122"/>
                <a:ea typeface="宋体" panose="02010600030101010101" pitchFamily="2" charset="-122"/>
              </a:rPr>
              <a:t>原始</a:t>
            </a:r>
            <a:r>
              <a:rPr lang="zh-CN" altLang="en-US" dirty="0">
                <a:latin typeface="宋体" panose="02010600030101010101" pitchFamily="2" charset="-122"/>
                <a:ea typeface="宋体" panose="02010600030101010101" pitchFamily="2" charset="-122"/>
              </a:rPr>
              <a:t>状态转换表或画出</a:t>
            </a:r>
            <a:r>
              <a:rPr lang="zh-CN" altLang="en-US" dirty="0">
                <a:solidFill>
                  <a:srgbClr val="FF0000"/>
                </a:solidFill>
                <a:latin typeface="宋体" panose="02010600030101010101" pitchFamily="2" charset="-122"/>
                <a:ea typeface="宋体" panose="02010600030101010101" pitchFamily="2" charset="-122"/>
              </a:rPr>
              <a:t>原始</a:t>
            </a:r>
            <a:r>
              <a:rPr lang="zh-CN" altLang="en-US" dirty="0">
                <a:latin typeface="宋体" panose="02010600030101010101" pitchFamily="2" charset="-122"/>
                <a:ea typeface="宋体" panose="02010600030101010101" pitchFamily="2" charset="-122"/>
              </a:rPr>
              <a:t>状态转换图。</a:t>
            </a:r>
          </a:p>
          <a:p>
            <a:endParaRPr lang="zh-CN" altLang="en-US" dirty="0"/>
          </a:p>
        </p:txBody>
      </p:sp>
      <p:sp>
        <p:nvSpPr>
          <p:cNvPr id="14" name="Rectangle 10"/>
          <p:cNvSpPr>
            <a:spLocks noChangeArrowheads="1"/>
          </p:cNvSpPr>
          <p:nvPr/>
        </p:nvSpPr>
        <p:spPr bwMode="auto">
          <a:xfrm>
            <a:off x="1475656" y="5013176"/>
            <a:ext cx="7128791"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r>
              <a:rPr lang="zh-CN" altLang="en-US" sz="2400" b="1" dirty="0">
                <a:solidFill>
                  <a:srgbClr val="0000FF"/>
                </a:solidFill>
                <a:latin typeface="Garamond" panose="02020404030301010803" pitchFamily="18" charset="0"/>
                <a:ea typeface="黑体" panose="02010609060101010101" pitchFamily="49" charset="-122"/>
              </a:rPr>
              <a:t>目的</a:t>
            </a:r>
            <a:r>
              <a:rPr lang="en-US" altLang="zh-CN" sz="2400" b="1" dirty="0">
                <a:solidFill>
                  <a:srgbClr val="0000FF"/>
                </a:solidFill>
                <a:ea typeface="黑体" panose="02010609060101010101" pitchFamily="49" charset="-122"/>
              </a:rPr>
              <a:t>——</a:t>
            </a:r>
            <a:r>
              <a:rPr lang="zh-CN" altLang="en-US" sz="2400" b="1" dirty="0">
                <a:solidFill>
                  <a:srgbClr val="0000FF"/>
                </a:solidFill>
                <a:latin typeface="Garamond" panose="02020404030301010803" pitchFamily="18" charset="0"/>
                <a:ea typeface="黑体" panose="02010609060101010101" pitchFamily="49" charset="-122"/>
              </a:rPr>
              <a:t>得出电路的原始状态转换图或状态转换表。</a:t>
            </a:r>
          </a:p>
        </p:txBody>
      </p:sp>
      <p:sp>
        <p:nvSpPr>
          <p:cNvPr id="5" name="标题 1"/>
          <p:cNvSpPr txBox="1">
            <a:spLocks/>
          </p:cNvSpPr>
          <p:nvPr/>
        </p:nvSpPr>
        <p:spPr bwMode="auto">
          <a:xfrm>
            <a:off x="1187624" y="692696"/>
            <a:ext cx="7560840"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custDataLst>
      <p:tags r:id="rId1"/>
    </p:custDataLst>
    <p:extLst>
      <p:ext uri="{BB962C8B-B14F-4D97-AF65-F5344CB8AC3E}">
        <p14:creationId xmlns:p14="http://schemas.microsoft.com/office/powerpoint/2010/main" xmlns="" val="4039331568"/>
      </p:ext>
    </p:extLst>
  </p:cSld>
  <p:clrMapOvr>
    <a:masterClrMapping/>
  </p:clrMapOvr>
  <p:transition advTm="11947"/>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06" name="Text Box 6"/>
          <p:cNvSpPr txBox="1">
            <a:spLocks noChangeArrowheads="1"/>
          </p:cNvSpPr>
          <p:nvPr/>
        </p:nvSpPr>
        <p:spPr bwMode="auto">
          <a:xfrm>
            <a:off x="755576" y="2176939"/>
            <a:ext cx="7705725" cy="258532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solidFill>
                  <a:srgbClr val="0000FF"/>
                </a:solidFill>
                <a:latin typeface="Garamond" panose="02020404030301010803" pitchFamily="18" charset="0"/>
                <a:ea typeface="黑体" panose="02010609060101010101" pitchFamily="49" charset="-122"/>
              </a:rPr>
              <a:t>解：（一）逻辑抽象</a:t>
            </a:r>
          </a:p>
          <a:p>
            <a:pPr>
              <a:spcBef>
                <a:spcPct val="50000"/>
              </a:spcBef>
            </a:pPr>
            <a:r>
              <a:rPr lang="zh-CN" altLang="en-US" sz="2000" b="1" dirty="0" smtClean="0">
                <a:latin typeface="楷体_GB2312" pitchFamily="49" charset="-122"/>
                <a:ea typeface="楷体_GB2312" pitchFamily="49" charset="-122"/>
              </a:rPr>
              <a:t>     令</a:t>
            </a:r>
            <a:r>
              <a:rPr lang="zh-CN" altLang="en-US" sz="2000" b="1" dirty="0">
                <a:latin typeface="楷体_GB2312" pitchFamily="49" charset="-122"/>
                <a:ea typeface="楷体_GB2312" pitchFamily="49" charset="-122"/>
              </a:rPr>
              <a:t>输入数据为输入变量，用</a:t>
            </a:r>
            <a:r>
              <a:rPr lang="en-US" altLang="zh-CN" sz="2000" b="1" dirty="0">
                <a:solidFill>
                  <a:srgbClr val="FF0000"/>
                </a:solidFill>
                <a:latin typeface="楷体_GB2312" pitchFamily="49" charset="-122"/>
                <a:ea typeface="楷体_GB2312" pitchFamily="49" charset="-122"/>
              </a:rPr>
              <a:t>X</a:t>
            </a:r>
            <a:r>
              <a:rPr lang="zh-CN" altLang="en-US" sz="2000" b="1" dirty="0">
                <a:latin typeface="楷体_GB2312" pitchFamily="49" charset="-122"/>
                <a:ea typeface="楷体_GB2312" pitchFamily="49" charset="-122"/>
              </a:rPr>
              <a:t>表示；</a:t>
            </a:r>
          </a:p>
          <a:p>
            <a:pPr>
              <a:spcBef>
                <a:spcPct val="50000"/>
              </a:spcBef>
            </a:pPr>
            <a:r>
              <a:rPr lang="zh-CN" altLang="en-US" sz="2000" b="1" dirty="0">
                <a:solidFill>
                  <a:schemeClr val="bg2"/>
                </a:solidFill>
                <a:latin typeface="楷体_GB2312" pitchFamily="49" charset="-122"/>
                <a:ea typeface="楷体_GB2312" pitchFamily="49" charset="-122"/>
              </a:rPr>
              <a:t>     </a:t>
            </a:r>
            <a:r>
              <a:rPr lang="zh-CN" altLang="en-US" sz="2000" b="1" dirty="0">
                <a:latin typeface="楷体_GB2312" pitchFamily="49" charset="-122"/>
                <a:ea typeface="楷体_GB2312" pitchFamily="49" charset="-122"/>
              </a:rPr>
              <a:t>令检测结果为输出变量，用</a:t>
            </a:r>
            <a:r>
              <a:rPr lang="en-US" altLang="zh-CN" sz="2000" b="1" dirty="0">
                <a:solidFill>
                  <a:srgbClr val="FF0000"/>
                </a:solidFill>
                <a:latin typeface="楷体_GB2312" pitchFamily="49" charset="-122"/>
                <a:ea typeface="楷体_GB2312" pitchFamily="49" charset="-122"/>
              </a:rPr>
              <a:t>Y</a:t>
            </a:r>
            <a:r>
              <a:rPr lang="zh-CN" altLang="en-US" sz="2000" b="1" dirty="0">
                <a:latin typeface="楷体_GB2312" pitchFamily="49" charset="-122"/>
                <a:ea typeface="楷体_GB2312" pitchFamily="49" charset="-122"/>
              </a:rPr>
              <a:t>表示；</a:t>
            </a:r>
          </a:p>
          <a:p>
            <a:pPr>
              <a:lnSpc>
                <a:spcPct val="120000"/>
              </a:lnSpc>
              <a:spcBef>
                <a:spcPct val="50000"/>
              </a:spcBef>
            </a:pPr>
            <a:r>
              <a:rPr lang="zh-CN" altLang="en-US" sz="2000" b="1" dirty="0">
                <a:solidFill>
                  <a:schemeClr val="bg2"/>
                </a:solidFill>
                <a:latin typeface="楷体_GB2312" pitchFamily="49" charset="-122"/>
                <a:ea typeface="楷体_GB2312" pitchFamily="49" charset="-122"/>
              </a:rPr>
              <a:t>     </a:t>
            </a:r>
            <a:r>
              <a:rPr lang="zh-CN" altLang="en-US" sz="2000" b="1" dirty="0">
                <a:latin typeface="楷体_GB2312" pitchFamily="49" charset="-122"/>
                <a:ea typeface="楷体_GB2312" pitchFamily="49" charset="-122"/>
              </a:rPr>
              <a:t>设电路在</a:t>
            </a:r>
            <a:r>
              <a:rPr lang="zh-CN" altLang="en-US" sz="2000" b="1" dirty="0">
                <a:solidFill>
                  <a:srgbClr val="3333FF"/>
                </a:solidFill>
                <a:latin typeface="楷体_GB2312" pitchFamily="49" charset="-122"/>
                <a:ea typeface="楷体_GB2312" pitchFamily="49" charset="-122"/>
              </a:rPr>
              <a:t>没有输入</a:t>
            </a:r>
            <a:r>
              <a:rPr lang="zh-CN" altLang="en-US" sz="2000" b="1" dirty="0">
                <a:solidFill>
                  <a:srgbClr val="3333FF"/>
                </a:solidFill>
                <a:latin typeface="宋体" panose="02010600030101010101" pitchFamily="2" charset="-122"/>
                <a:ea typeface="楷体_GB2312" pitchFamily="49" charset="-122"/>
              </a:rPr>
              <a:t>‘</a:t>
            </a:r>
            <a:r>
              <a:rPr lang="en-US" altLang="zh-CN" sz="2000" b="1" dirty="0">
                <a:solidFill>
                  <a:srgbClr val="3333FF"/>
                </a:solidFill>
                <a:latin typeface="楷体_GB2312" pitchFamily="49" charset="-122"/>
                <a:ea typeface="楷体_GB2312" pitchFamily="49" charset="-122"/>
              </a:rPr>
              <a:t>1</a:t>
            </a:r>
            <a:r>
              <a:rPr lang="en-US" altLang="zh-CN" sz="2000" b="1" dirty="0">
                <a:solidFill>
                  <a:srgbClr val="3333FF"/>
                </a:solidFill>
                <a:latin typeface="宋体" panose="02010600030101010101" pitchFamily="2" charset="-122"/>
                <a:ea typeface="楷体_GB2312" pitchFamily="49" charset="-122"/>
              </a:rPr>
              <a:t>’</a:t>
            </a:r>
            <a:r>
              <a:rPr lang="zh-CN" altLang="en-US" sz="2000" b="1" dirty="0">
                <a:solidFill>
                  <a:srgbClr val="3333FF"/>
                </a:solidFill>
                <a:latin typeface="楷体_GB2312" pitchFamily="49" charset="-122"/>
                <a:ea typeface="楷体_GB2312" pitchFamily="49" charset="-122"/>
              </a:rPr>
              <a:t>以前的状态</a:t>
            </a:r>
            <a:r>
              <a:rPr lang="zh-CN" altLang="en-US" sz="2000" b="1" dirty="0">
                <a:latin typeface="楷体_GB2312" pitchFamily="49" charset="-122"/>
                <a:ea typeface="楷体_GB2312" pitchFamily="49" charset="-122"/>
              </a:rPr>
              <a:t>为</a:t>
            </a:r>
            <a:r>
              <a:rPr lang="en-US" altLang="zh-CN" sz="2000" b="1" dirty="0">
                <a:solidFill>
                  <a:srgbClr val="FF0000"/>
                </a:solidFill>
                <a:latin typeface="楷体_GB2312" pitchFamily="49" charset="-122"/>
                <a:ea typeface="楷体_GB2312" pitchFamily="49" charset="-122"/>
              </a:rPr>
              <a:t>S0</a:t>
            </a:r>
            <a:r>
              <a:rPr lang="zh-CN" altLang="en-US" sz="2000" b="1" dirty="0">
                <a:solidFill>
                  <a:schemeClr val="bg2"/>
                </a:solidFill>
                <a:latin typeface="楷体_GB2312" pitchFamily="49" charset="-122"/>
                <a:ea typeface="楷体_GB2312" pitchFamily="49" charset="-122"/>
              </a:rPr>
              <a:t>；</a:t>
            </a:r>
            <a:r>
              <a:rPr lang="zh-CN" altLang="en-US" sz="2000" b="1" dirty="0">
                <a:latin typeface="楷体_GB2312" pitchFamily="49" charset="-122"/>
                <a:ea typeface="楷体_GB2312" pitchFamily="49" charset="-122"/>
              </a:rPr>
              <a:t>输入</a:t>
            </a:r>
            <a:r>
              <a:rPr lang="en-US" altLang="zh-CN" sz="2000" b="1" dirty="0">
                <a:solidFill>
                  <a:srgbClr val="3333FF"/>
                </a:solidFill>
                <a:latin typeface="楷体_GB2312" pitchFamily="49" charset="-122"/>
                <a:ea typeface="楷体_GB2312" pitchFamily="49" charset="-122"/>
              </a:rPr>
              <a:t>1</a:t>
            </a:r>
            <a:r>
              <a:rPr lang="zh-CN" altLang="en-US" sz="2000" b="1" dirty="0">
                <a:solidFill>
                  <a:srgbClr val="3333FF"/>
                </a:solidFill>
                <a:latin typeface="楷体_GB2312" pitchFamily="49" charset="-122"/>
                <a:ea typeface="楷体_GB2312" pitchFamily="49" charset="-122"/>
              </a:rPr>
              <a:t>个</a:t>
            </a:r>
            <a:r>
              <a:rPr lang="zh-CN" altLang="en-US" sz="2000" b="1" dirty="0">
                <a:solidFill>
                  <a:srgbClr val="3333FF"/>
                </a:solidFill>
                <a:latin typeface="宋体" panose="02010600030101010101" pitchFamily="2" charset="-122"/>
                <a:ea typeface="楷体_GB2312" pitchFamily="49" charset="-122"/>
              </a:rPr>
              <a:t>‘</a:t>
            </a:r>
            <a:r>
              <a:rPr lang="en-US" altLang="zh-CN" sz="2000" b="1" dirty="0">
                <a:solidFill>
                  <a:srgbClr val="3333FF"/>
                </a:solidFill>
                <a:latin typeface="楷体_GB2312" pitchFamily="49" charset="-122"/>
                <a:ea typeface="楷体_GB2312" pitchFamily="49" charset="-122"/>
              </a:rPr>
              <a:t>1</a:t>
            </a:r>
            <a:r>
              <a:rPr lang="en-US" altLang="zh-CN" sz="2000" b="1" dirty="0">
                <a:solidFill>
                  <a:srgbClr val="3333FF"/>
                </a:solidFill>
                <a:latin typeface="宋体" panose="02010600030101010101" pitchFamily="2" charset="-122"/>
                <a:ea typeface="楷体_GB2312" pitchFamily="49" charset="-122"/>
              </a:rPr>
              <a:t>’</a:t>
            </a:r>
            <a:r>
              <a:rPr lang="zh-CN" altLang="en-US" sz="2000" b="1" dirty="0">
                <a:latin typeface="楷体_GB2312" pitchFamily="49" charset="-122"/>
                <a:ea typeface="楷体_GB2312" pitchFamily="49" charset="-122"/>
              </a:rPr>
              <a:t>后电路转入</a:t>
            </a:r>
            <a:r>
              <a:rPr lang="en-US" altLang="zh-CN" sz="2000" b="1" dirty="0">
                <a:solidFill>
                  <a:srgbClr val="FF0000"/>
                </a:solidFill>
                <a:latin typeface="楷体_GB2312" pitchFamily="49" charset="-122"/>
                <a:ea typeface="楷体_GB2312" pitchFamily="49" charset="-122"/>
              </a:rPr>
              <a:t>S1</a:t>
            </a:r>
            <a:r>
              <a:rPr lang="zh-CN" altLang="en-US" sz="2000" b="1" dirty="0">
                <a:latin typeface="楷体_GB2312" pitchFamily="49" charset="-122"/>
                <a:ea typeface="楷体_GB2312" pitchFamily="49" charset="-122"/>
              </a:rPr>
              <a:t>状态；</a:t>
            </a:r>
            <a:r>
              <a:rPr lang="zh-CN" altLang="en-US" sz="2000" b="1" dirty="0">
                <a:solidFill>
                  <a:srgbClr val="3333FF"/>
                </a:solidFill>
                <a:latin typeface="楷体_GB2312" pitchFamily="49" charset="-122"/>
                <a:ea typeface="楷体_GB2312" pitchFamily="49" charset="-122"/>
              </a:rPr>
              <a:t>连续输入</a:t>
            </a:r>
            <a:r>
              <a:rPr lang="en-US" altLang="zh-CN" sz="2000" b="1" dirty="0">
                <a:solidFill>
                  <a:srgbClr val="3333FF"/>
                </a:solidFill>
                <a:latin typeface="楷体_GB2312" pitchFamily="49" charset="-122"/>
                <a:ea typeface="楷体_GB2312" pitchFamily="49" charset="-122"/>
              </a:rPr>
              <a:t>2</a:t>
            </a:r>
            <a:r>
              <a:rPr lang="zh-CN" altLang="en-US" sz="2000" b="1" dirty="0">
                <a:solidFill>
                  <a:srgbClr val="3333FF"/>
                </a:solidFill>
                <a:latin typeface="楷体_GB2312" pitchFamily="49" charset="-122"/>
                <a:ea typeface="楷体_GB2312" pitchFamily="49" charset="-122"/>
              </a:rPr>
              <a:t>个</a:t>
            </a:r>
            <a:r>
              <a:rPr lang="zh-CN" altLang="en-US" sz="2000" b="1" dirty="0">
                <a:solidFill>
                  <a:srgbClr val="3333FF"/>
                </a:solidFill>
                <a:latin typeface="宋体" panose="02010600030101010101" pitchFamily="2" charset="-122"/>
                <a:ea typeface="楷体_GB2312" pitchFamily="49" charset="-122"/>
              </a:rPr>
              <a:t>‘</a:t>
            </a:r>
            <a:r>
              <a:rPr lang="en-US" altLang="zh-CN" sz="2000" b="1" dirty="0">
                <a:solidFill>
                  <a:srgbClr val="3333FF"/>
                </a:solidFill>
                <a:latin typeface="楷体_GB2312" pitchFamily="49" charset="-122"/>
                <a:ea typeface="楷体_GB2312" pitchFamily="49" charset="-122"/>
              </a:rPr>
              <a:t>1</a:t>
            </a:r>
            <a:r>
              <a:rPr lang="en-US" altLang="zh-CN" sz="2000" b="1" dirty="0">
                <a:solidFill>
                  <a:srgbClr val="3333FF"/>
                </a:solidFill>
                <a:latin typeface="宋体" panose="02010600030101010101" pitchFamily="2" charset="-122"/>
                <a:ea typeface="楷体_GB2312" pitchFamily="49" charset="-122"/>
              </a:rPr>
              <a:t>’</a:t>
            </a:r>
            <a:r>
              <a:rPr lang="zh-CN" altLang="en-US" sz="2000" b="1" dirty="0">
                <a:latin typeface="楷体_GB2312" pitchFamily="49" charset="-122"/>
                <a:ea typeface="楷体_GB2312" pitchFamily="49" charset="-122"/>
              </a:rPr>
              <a:t>后电路转入</a:t>
            </a:r>
            <a:r>
              <a:rPr lang="en-US" altLang="zh-CN" sz="2000" b="1" dirty="0">
                <a:solidFill>
                  <a:srgbClr val="FF0000"/>
                </a:solidFill>
                <a:latin typeface="楷体_GB2312" pitchFamily="49" charset="-122"/>
                <a:ea typeface="楷体_GB2312" pitchFamily="49" charset="-122"/>
              </a:rPr>
              <a:t>S2</a:t>
            </a:r>
            <a:r>
              <a:rPr lang="zh-CN" altLang="en-US" sz="2000" b="1" dirty="0">
                <a:latin typeface="楷体_GB2312" pitchFamily="49" charset="-122"/>
                <a:ea typeface="楷体_GB2312" pitchFamily="49" charset="-122"/>
              </a:rPr>
              <a:t>状态；</a:t>
            </a:r>
            <a:r>
              <a:rPr lang="zh-CN" altLang="en-US" sz="2000" b="1" dirty="0">
                <a:solidFill>
                  <a:srgbClr val="3333FF"/>
                </a:solidFill>
                <a:latin typeface="楷体_GB2312" pitchFamily="49" charset="-122"/>
                <a:ea typeface="楷体_GB2312" pitchFamily="49" charset="-122"/>
              </a:rPr>
              <a:t>连续输入</a:t>
            </a:r>
            <a:r>
              <a:rPr lang="en-US" altLang="zh-CN" sz="2000" b="1" dirty="0">
                <a:solidFill>
                  <a:srgbClr val="3333FF"/>
                </a:solidFill>
                <a:latin typeface="楷体_GB2312" pitchFamily="49" charset="-122"/>
                <a:ea typeface="楷体_GB2312" pitchFamily="49" charset="-122"/>
              </a:rPr>
              <a:t>3</a:t>
            </a:r>
            <a:r>
              <a:rPr lang="zh-CN" altLang="en-US" sz="2000" b="1" dirty="0">
                <a:solidFill>
                  <a:srgbClr val="3333FF"/>
                </a:solidFill>
                <a:latin typeface="楷体_GB2312" pitchFamily="49" charset="-122"/>
                <a:ea typeface="楷体_GB2312" pitchFamily="49" charset="-122"/>
              </a:rPr>
              <a:t>个或</a:t>
            </a:r>
            <a:r>
              <a:rPr lang="en-US" altLang="zh-CN" sz="2000" b="1" dirty="0">
                <a:solidFill>
                  <a:srgbClr val="3333FF"/>
                </a:solidFill>
                <a:latin typeface="楷体_GB2312" pitchFamily="49" charset="-122"/>
                <a:ea typeface="楷体_GB2312" pitchFamily="49" charset="-122"/>
              </a:rPr>
              <a:t>3</a:t>
            </a:r>
            <a:r>
              <a:rPr lang="zh-CN" altLang="en-US" sz="2000" b="1" dirty="0">
                <a:solidFill>
                  <a:srgbClr val="3333FF"/>
                </a:solidFill>
                <a:latin typeface="楷体_GB2312" pitchFamily="49" charset="-122"/>
                <a:ea typeface="楷体_GB2312" pitchFamily="49" charset="-122"/>
              </a:rPr>
              <a:t>个以上</a:t>
            </a:r>
            <a:r>
              <a:rPr lang="zh-CN" altLang="en-US" sz="2000" b="1" dirty="0">
                <a:solidFill>
                  <a:srgbClr val="3333FF"/>
                </a:solidFill>
                <a:latin typeface="宋体" panose="02010600030101010101" pitchFamily="2" charset="-122"/>
                <a:ea typeface="楷体_GB2312" pitchFamily="49" charset="-122"/>
              </a:rPr>
              <a:t>‘</a:t>
            </a:r>
            <a:r>
              <a:rPr lang="en-US" altLang="zh-CN" sz="2000" b="1" dirty="0">
                <a:solidFill>
                  <a:srgbClr val="3333FF"/>
                </a:solidFill>
                <a:latin typeface="楷体_GB2312" pitchFamily="49" charset="-122"/>
                <a:ea typeface="楷体_GB2312" pitchFamily="49" charset="-122"/>
              </a:rPr>
              <a:t>1</a:t>
            </a:r>
            <a:r>
              <a:rPr lang="en-US" altLang="zh-CN" sz="2000" b="1" dirty="0">
                <a:solidFill>
                  <a:srgbClr val="3333FF"/>
                </a:solidFill>
                <a:latin typeface="宋体" panose="02010600030101010101" pitchFamily="2" charset="-122"/>
                <a:ea typeface="楷体_GB2312" pitchFamily="49" charset="-122"/>
              </a:rPr>
              <a:t>’</a:t>
            </a:r>
            <a:r>
              <a:rPr lang="zh-CN" altLang="en-US" sz="2000" b="1" dirty="0">
                <a:latin typeface="楷体_GB2312" pitchFamily="49" charset="-122"/>
                <a:ea typeface="楷体_GB2312" pitchFamily="49" charset="-122"/>
              </a:rPr>
              <a:t>以后电路转入</a:t>
            </a:r>
            <a:r>
              <a:rPr lang="en-US" altLang="zh-CN" sz="2000" b="1" dirty="0">
                <a:solidFill>
                  <a:srgbClr val="FF0000"/>
                </a:solidFill>
                <a:latin typeface="楷体_GB2312" pitchFamily="49" charset="-122"/>
                <a:ea typeface="楷体_GB2312" pitchFamily="49" charset="-122"/>
              </a:rPr>
              <a:t>S3</a:t>
            </a:r>
            <a:r>
              <a:rPr lang="zh-CN" altLang="en-US" sz="2000" b="1" dirty="0">
                <a:latin typeface="楷体_GB2312" pitchFamily="49" charset="-122"/>
                <a:ea typeface="楷体_GB2312" pitchFamily="49" charset="-122"/>
              </a:rPr>
              <a:t>状态。</a:t>
            </a:r>
          </a:p>
        </p:txBody>
      </p:sp>
      <p:sp>
        <p:nvSpPr>
          <p:cNvPr id="5" name="标题 1"/>
          <p:cNvSpPr txBox="1">
            <a:spLocks/>
          </p:cNvSpPr>
          <p:nvPr/>
        </p:nvSpPr>
        <p:spPr bwMode="auto">
          <a:xfrm>
            <a:off x="1259632" y="764704"/>
            <a:ext cx="7488832"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202702629"/>
      </p:ext>
    </p:extLst>
  </p:cSld>
  <p:clrMapOvr>
    <a:masterClrMapping/>
  </p:clrMapOvr>
  <p:transition advTm="11947"/>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0630" name="Rectangle 6"/>
          <p:cNvSpPr>
            <a:spLocks noChangeArrowheads="1"/>
          </p:cNvSpPr>
          <p:nvPr/>
        </p:nvSpPr>
        <p:spPr bwMode="auto">
          <a:xfrm>
            <a:off x="419993" y="2084767"/>
            <a:ext cx="75596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zh-CN" altLang="en-US" b="1" dirty="0">
                <a:latin typeface="Garamond" panose="02020404030301010803" pitchFamily="18" charset="0"/>
                <a:ea typeface="楷体_GB2312" pitchFamily="49" charset="-122"/>
              </a:rPr>
              <a:t>则可得电路的</a:t>
            </a:r>
            <a:r>
              <a:rPr lang="zh-CN" altLang="en-US" b="1" dirty="0">
                <a:solidFill>
                  <a:srgbClr val="FF0000"/>
                </a:solidFill>
                <a:latin typeface="Garamond" panose="02020404030301010803" pitchFamily="18" charset="0"/>
                <a:ea typeface="楷体_GB2312" pitchFamily="49" charset="-122"/>
              </a:rPr>
              <a:t>原始</a:t>
            </a:r>
            <a:r>
              <a:rPr lang="zh-CN" altLang="en-US" b="1" dirty="0">
                <a:latin typeface="Garamond" panose="02020404030301010803" pitchFamily="18" charset="0"/>
                <a:ea typeface="楷体_GB2312" pitchFamily="49" charset="-122"/>
              </a:rPr>
              <a:t>状态转换表及状态转换图为：</a:t>
            </a:r>
          </a:p>
        </p:txBody>
      </p:sp>
      <p:pic>
        <p:nvPicPr>
          <p:cNvPr id="410631" name="Picture 7" descr="图片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46968" y="3332415"/>
            <a:ext cx="4751387" cy="1944688"/>
          </a:xfrm>
          <a:prstGeom prst="rect">
            <a:avLst/>
          </a:prstGeom>
          <a:noFill/>
          <a:extLst>
            <a:ext uri="{909E8E84-426E-40DD-AFC4-6F175D3DCCD1}">
              <a14:hiddenFill xmlns:a14="http://schemas.microsoft.com/office/drawing/2010/main" xmlns="">
                <a:solidFill>
                  <a:srgbClr val="FFFFFF"/>
                </a:solidFill>
              </a14:hiddenFill>
            </a:ext>
          </a:extLst>
        </p:spPr>
      </p:pic>
      <p:graphicFrame>
        <p:nvGraphicFramePr>
          <p:cNvPr id="410632" name="Object 8"/>
          <p:cNvGraphicFramePr>
            <a:graphicFrameLocks noChangeAspect="1"/>
          </p:cNvGraphicFramePr>
          <p:nvPr>
            <p:extLst>
              <p:ext uri="{D42A27DB-BD31-4B8C-83A1-F6EECF244321}">
                <p14:modId xmlns:p14="http://schemas.microsoft.com/office/powerpoint/2010/main" xmlns="" val="2634164080"/>
              </p:ext>
            </p:extLst>
          </p:nvPr>
        </p:nvGraphicFramePr>
        <p:xfrm>
          <a:off x="1788418" y="4783390"/>
          <a:ext cx="647700" cy="407988"/>
        </p:xfrm>
        <a:graphic>
          <a:graphicData uri="http://schemas.openxmlformats.org/presentationml/2006/ole">
            <p:oleObj spid="_x0000_s35956" name="公式" r:id="rId4" imgW="342603" imgH="215713" progId="">
              <p:embed/>
            </p:oleObj>
          </a:graphicData>
        </a:graphic>
      </p:graphicFrame>
      <p:graphicFrame>
        <p:nvGraphicFramePr>
          <p:cNvPr id="410633" name="Object 9"/>
          <p:cNvGraphicFramePr>
            <a:graphicFrameLocks noChangeAspect="1"/>
          </p:cNvGraphicFramePr>
          <p:nvPr>
            <p:extLst>
              <p:ext uri="{D42A27DB-BD31-4B8C-83A1-F6EECF244321}">
                <p14:modId xmlns:p14="http://schemas.microsoft.com/office/powerpoint/2010/main" xmlns="" val="2874145549"/>
              </p:ext>
            </p:extLst>
          </p:nvPr>
        </p:nvGraphicFramePr>
        <p:xfrm>
          <a:off x="2640905" y="4783390"/>
          <a:ext cx="671513" cy="407988"/>
        </p:xfrm>
        <a:graphic>
          <a:graphicData uri="http://schemas.openxmlformats.org/presentationml/2006/ole">
            <p:oleObj spid="_x0000_s35957" name="公式" r:id="rId5" imgW="355292" imgH="215713" progId="">
              <p:embed/>
            </p:oleObj>
          </a:graphicData>
        </a:graphic>
      </p:graphicFrame>
      <p:graphicFrame>
        <p:nvGraphicFramePr>
          <p:cNvPr id="410634" name="Object 10"/>
          <p:cNvGraphicFramePr>
            <a:graphicFrameLocks noChangeAspect="1"/>
          </p:cNvGraphicFramePr>
          <p:nvPr>
            <p:extLst>
              <p:ext uri="{D42A27DB-BD31-4B8C-83A1-F6EECF244321}">
                <p14:modId xmlns:p14="http://schemas.microsoft.com/office/powerpoint/2010/main" xmlns="" val="1836405237"/>
              </p:ext>
            </p:extLst>
          </p:nvPr>
        </p:nvGraphicFramePr>
        <p:xfrm>
          <a:off x="3456880" y="4772278"/>
          <a:ext cx="623888" cy="431800"/>
        </p:xfrm>
        <a:graphic>
          <a:graphicData uri="http://schemas.openxmlformats.org/presentationml/2006/ole">
            <p:oleObj spid="_x0000_s35958" name="公式" r:id="rId6" imgW="303480" imgH="205560" progId="">
              <p:embed/>
            </p:oleObj>
          </a:graphicData>
        </a:graphic>
      </p:graphicFrame>
      <p:graphicFrame>
        <p:nvGraphicFramePr>
          <p:cNvPr id="410635" name="Object 11"/>
          <p:cNvGraphicFramePr>
            <a:graphicFrameLocks noChangeAspect="1"/>
          </p:cNvGraphicFramePr>
          <p:nvPr>
            <p:extLst>
              <p:ext uri="{D42A27DB-BD31-4B8C-83A1-F6EECF244321}">
                <p14:modId xmlns:p14="http://schemas.microsoft.com/office/powerpoint/2010/main" xmlns="" val="2514887518"/>
              </p:ext>
            </p:extLst>
          </p:nvPr>
        </p:nvGraphicFramePr>
        <p:xfrm>
          <a:off x="4318893" y="4772278"/>
          <a:ext cx="623887" cy="431800"/>
        </p:xfrm>
        <a:graphic>
          <a:graphicData uri="http://schemas.openxmlformats.org/presentationml/2006/ole">
            <p:oleObj spid="_x0000_s35959" name="公式" r:id="rId7" imgW="303480" imgH="205560" progId="">
              <p:embed/>
            </p:oleObj>
          </a:graphicData>
        </a:graphic>
      </p:graphicFrame>
      <p:graphicFrame>
        <p:nvGraphicFramePr>
          <p:cNvPr id="410636" name="Object 12"/>
          <p:cNvGraphicFramePr>
            <a:graphicFrameLocks noChangeAspect="1"/>
          </p:cNvGraphicFramePr>
          <p:nvPr>
            <p:extLst>
              <p:ext uri="{D42A27DB-BD31-4B8C-83A1-F6EECF244321}">
                <p14:modId xmlns:p14="http://schemas.microsoft.com/office/powerpoint/2010/main" xmlns="" val="3586843128"/>
              </p:ext>
            </p:extLst>
          </p:nvPr>
        </p:nvGraphicFramePr>
        <p:xfrm>
          <a:off x="1777305" y="4184903"/>
          <a:ext cx="671513" cy="431800"/>
        </p:xfrm>
        <a:graphic>
          <a:graphicData uri="http://schemas.openxmlformats.org/presentationml/2006/ole">
            <p:oleObj spid="_x0000_s35960" name="公式" r:id="rId8" imgW="355446" imgH="228501" progId="">
              <p:embed/>
            </p:oleObj>
          </a:graphicData>
        </a:graphic>
      </p:graphicFrame>
      <p:graphicFrame>
        <p:nvGraphicFramePr>
          <p:cNvPr id="410637" name="Object 13"/>
          <p:cNvGraphicFramePr>
            <a:graphicFrameLocks noChangeAspect="1"/>
          </p:cNvGraphicFramePr>
          <p:nvPr>
            <p:extLst>
              <p:ext uri="{D42A27DB-BD31-4B8C-83A1-F6EECF244321}">
                <p14:modId xmlns:p14="http://schemas.microsoft.com/office/powerpoint/2010/main" xmlns="" val="1475654322"/>
              </p:ext>
            </p:extLst>
          </p:nvPr>
        </p:nvGraphicFramePr>
        <p:xfrm>
          <a:off x="2652018" y="4196015"/>
          <a:ext cx="671512" cy="431800"/>
        </p:xfrm>
        <a:graphic>
          <a:graphicData uri="http://schemas.openxmlformats.org/presentationml/2006/ole">
            <p:oleObj spid="_x0000_s35961" name="公式" r:id="rId9" imgW="355446" imgH="228501" progId="">
              <p:embed/>
            </p:oleObj>
          </a:graphicData>
        </a:graphic>
      </p:graphicFrame>
      <p:graphicFrame>
        <p:nvGraphicFramePr>
          <p:cNvPr id="410638" name="Object 14"/>
          <p:cNvGraphicFramePr>
            <a:graphicFrameLocks noChangeAspect="1"/>
          </p:cNvGraphicFramePr>
          <p:nvPr>
            <p:extLst>
              <p:ext uri="{D42A27DB-BD31-4B8C-83A1-F6EECF244321}">
                <p14:modId xmlns:p14="http://schemas.microsoft.com/office/powerpoint/2010/main" xmlns="" val="4174722781"/>
              </p:ext>
            </p:extLst>
          </p:nvPr>
        </p:nvGraphicFramePr>
        <p:xfrm>
          <a:off x="3444180" y="4196015"/>
          <a:ext cx="671513" cy="431800"/>
        </p:xfrm>
        <a:graphic>
          <a:graphicData uri="http://schemas.openxmlformats.org/presentationml/2006/ole">
            <p:oleObj spid="_x0000_s35962" name="公式" r:id="rId10" imgW="355446" imgH="228501" progId="">
              <p:embed/>
            </p:oleObj>
          </a:graphicData>
        </a:graphic>
      </p:graphicFrame>
      <p:graphicFrame>
        <p:nvGraphicFramePr>
          <p:cNvPr id="410639" name="Object 15"/>
          <p:cNvGraphicFramePr>
            <a:graphicFrameLocks noChangeAspect="1"/>
          </p:cNvGraphicFramePr>
          <p:nvPr>
            <p:extLst>
              <p:ext uri="{D42A27DB-BD31-4B8C-83A1-F6EECF244321}">
                <p14:modId xmlns:p14="http://schemas.microsoft.com/office/powerpoint/2010/main" xmlns="" val="623984020"/>
              </p:ext>
            </p:extLst>
          </p:nvPr>
        </p:nvGraphicFramePr>
        <p:xfrm>
          <a:off x="4283968" y="4196015"/>
          <a:ext cx="671512" cy="431800"/>
        </p:xfrm>
        <a:graphic>
          <a:graphicData uri="http://schemas.openxmlformats.org/presentationml/2006/ole">
            <p:oleObj spid="_x0000_s35963" name="公式" r:id="rId11" imgW="355446" imgH="228501" progId="">
              <p:embed/>
            </p:oleObj>
          </a:graphicData>
        </a:graphic>
      </p:graphicFrame>
      <p:sp>
        <p:nvSpPr>
          <p:cNvPr id="410640" name="AutoShape 16">
            <a:hlinkClick r:id="rId12" action="ppaction://hlinksldjump"/>
          </p:cNvPr>
          <p:cNvSpPr>
            <a:spLocks noChangeArrowheads="1"/>
          </p:cNvSpPr>
          <p:nvPr/>
        </p:nvSpPr>
        <p:spPr bwMode="auto">
          <a:xfrm>
            <a:off x="707330" y="5631909"/>
            <a:ext cx="1150937" cy="7207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19050">
            <a:solidFill>
              <a:schemeClr val="bg2"/>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10641" name="Text Box 17"/>
          <p:cNvSpPr txBox="1">
            <a:spLocks noChangeArrowheads="1"/>
          </p:cNvSpPr>
          <p:nvPr/>
        </p:nvSpPr>
        <p:spPr bwMode="auto">
          <a:xfrm>
            <a:off x="5099943" y="6429628"/>
            <a:ext cx="3744912"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smtClean="0">
                <a:latin typeface="楷体_GB2312" pitchFamily="49" charset="-122"/>
                <a:ea typeface="楷体_GB2312" pitchFamily="49" charset="-122"/>
              </a:rPr>
              <a:t>图</a:t>
            </a:r>
            <a:r>
              <a:rPr lang="en-US" altLang="zh-CN" sz="2000" b="1" dirty="0" smtClean="0">
                <a:latin typeface="楷体_GB2312" pitchFamily="49" charset="-122"/>
                <a:ea typeface="楷体_GB2312" pitchFamily="49" charset="-122"/>
              </a:rPr>
              <a:t> </a:t>
            </a:r>
            <a:r>
              <a:rPr lang="en-US" altLang="zh-CN" sz="2000" b="1" dirty="0">
                <a:latin typeface="楷体_GB2312" pitchFamily="49" charset="-122"/>
                <a:ea typeface="楷体_GB2312" pitchFamily="49" charset="-122"/>
              </a:rPr>
              <a:t>【</a:t>
            </a:r>
            <a:r>
              <a:rPr lang="zh-CN" altLang="en-US" sz="2000" b="1" dirty="0" smtClean="0">
                <a:latin typeface="楷体_GB2312" pitchFamily="49" charset="-122"/>
                <a:ea typeface="楷体_GB2312" pitchFamily="49" charset="-122"/>
              </a:rPr>
              <a:t>例</a:t>
            </a:r>
            <a:r>
              <a:rPr lang="en-US" altLang="zh-CN" sz="2000" b="1" dirty="0" smtClean="0">
                <a:latin typeface="楷体_GB2312" pitchFamily="49" charset="-122"/>
                <a:ea typeface="楷体_GB2312" pitchFamily="49" charset="-122"/>
              </a:rPr>
              <a:t>】</a:t>
            </a:r>
            <a:r>
              <a:rPr lang="zh-CN" altLang="en-US" sz="2000" b="1" dirty="0">
                <a:latin typeface="楷体_GB2312" pitchFamily="49" charset="-122"/>
                <a:ea typeface="楷体_GB2312" pitchFamily="49" charset="-122"/>
              </a:rPr>
              <a:t>的原始状态转换图</a:t>
            </a:r>
          </a:p>
        </p:txBody>
      </p:sp>
      <p:sp>
        <p:nvSpPr>
          <p:cNvPr id="410642" name="Text Box 18"/>
          <p:cNvSpPr txBox="1">
            <a:spLocks noChangeArrowheads="1"/>
          </p:cNvSpPr>
          <p:nvPr/>
        </p:nvSpPr>
        <p:spPr bwMode="auto">
          <a:xfrm>
            <a:off x="707330" y="2900615"/>
            <a:ext cx="374491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smtClean="0">
                <a:latin typeface="楷体_GB2312" pitchFamily="49" charset="-122"/>
                <a:ea typeface="楷体_GB2312" pitchFamily="49" charset="-122"/>
              </a:rPr>
              <a:t>表</a:t>
            </a:r>
            <a:r>
              <a:rPr lang="en-US" altLang="zh-CN" sz="2000" b="1" dirty="0" smtClean="0">
                <a:latin typeface="楷体_GB2312" pitchFamily="49" charset="-122"/>
                <a:ea typeface="楷体_GB2312" pitchFamily="49" charset="-122"/>
              </a:rPr>
              <a:t> 【</a:t>
            </a:r>
            <a:r>
              <a:rPr lang="zh-CN" altLang="en-US" sz="2000" b="1" dirty="0" smtClean="0">
                <a:latin typeface="楷体_GB2312" pitchFamily="49" charset="-122"/>
                <a:ea typeface="楷体_GB2312" pitchFamily="49" charset="-122"/>
              </a:rPr>
              <a:t>例</a:t>
            </a:r>
            <a:r>
              <a:rPr lang="en-US" altLang="zh-CN" sz="2000" b="1" dirty="0" smtClean="0">
                <a:latin typeface="楷体_GB2312" pitchFamily="49" charset="-122"/>
                <a:ea typeface="楷体_GB2312" pitchFamily="49" charset="-122"/>
              </a:rPr>
              <a:t>】</a:t>
            </a:r>
            <a:r>
              <a:rPr lang="zh-CN" altLang="en-US" sz="2000" b="1" dirty="0" smtClean="0">
                <a:latin typeface="楷体_GB2312" pitchFamily="49" charset="-122"/>
                <a:ea typeface="楷体_GB2312" pitchFamily="49" charset="-122"/>
              </a:rPr>
              <a:t>的</a:t>
            </a:r>
            <a:r>
              <a:rPr lang="zh-CN" altLang="en-US" sz="2000" b="1" dirty="0">
                <a:latin typeface="楷体_GB2312" pitchFamily="49" charset="-122"/>
                <a:ea typeface="楷体_GB2312" pitchFamily="49" charset="-122"/>
              </a:rPr>
              <a:t>原始状态转换表</a:t>
            </a:r>
          </a:p>
        </p:txBody>
      </p:sp>
      <p:graphicFrame>
        <p:nvGraphicFramePr>
          <p:cNvPr id="410643" name="Object 19"/>
          <p:cNvGraphicFramePr>
            <a:graphicFrameLocks noChangeAspect="1"/>
          </p:cNvGraphicFramePr>
          <p:nvPr>
            <p:extLst>
              <p:ext uri="{D42A27DB-BD31-4B8C-83A1-F6EECF244321}">
                <p14:modId xmlns:p14="http://schemas.microsoft.com/office/powerpoint/2010/main" xmlns="" val="1628913076"/>
              </p:ext>
            </p:extLst>
          </p:nvPr>
        </p:nvGraphicFramePr>
        <p:xfrm>
          <a:off x="4884043" y="2324353"/>
          <a:ext cx="555625" cy="935037"/>
        </p:xfrm>
        <a:graphic>
          <a:graphicData uri="http://schemas.openxmlformats.org/presentationml/2006/ole">
            <p:oleObj spid="_x0000_s35964" name="Visio" r:id="rId13" imgW="491150" imgH="825848" progId="">
              <p:embed/>
            </p:oleObj>
          </a:graphicData>
        </a:graphic>
      </p:graphicFrame>
      <p:graphicFrame>
        <p:nvGraphicFramePr>
          <p:cNvPr id="410644" name="Object 20"/>
          <p:cNvGraphicFramePr>
            <a:graphicFrameLocks noChangeAspect="1"/>
          </p:cNvGraphicFramePr>
          <p:nvPr>
            <p:extLst>
              <p:ext uri="{D42A27DB-BD31-4B8C-83A1-F6EECF244321}">
                <p14:modId xmlns:p14="http://schemas.microsoft.com/office/powerpoint/2010/main" xmlns="" val="2792049569"/>
              </p:ext>
            </p:extLst>
          </p:nvPr>
        </p:nvGraphicFramePr>
        <p:xfrm>
          <a:off x="6108005" y="3476878"/>
          <a:ext cx="788988" cy="792162"/>
        </p:xfrm>
        <a:graphic>
          <a:graphicData uri="http://schemas.openxmlformats.org/presentationml/2006/ole">
            <p:oleObj spid="_x0000_s35965" name="Visio" r:id="rId14" imgW="488066" imgH="488193" progId="">
              <p:embed/>
            </p:oleObj>
          </a:graphicData>
        </a:graphic>
      </p:graphicFrame>
      <p:graphicFrame>
        <p:nvGraphicFramePr>
          <p:cNvPr id="410645" name="Object 21"/>
          <p:cNvGraphicFramePr>
            <a:graphicFrameLocks noChangeAspect="1"/>
          </p:cNvGraphicFramePr>
          <p:nvPr>
            <p:extLst>
              <p:ext uri="{D42A27DB-BD31-4B8C-83A1-F6EECF244321}">
                <p14:modId xmlns:p14="http://schemas.microsoft.com/office/powerpoint/2010/main" xmlns="" val="4244664517"/>
              </p:ext>
            </p:extLst>
          </p:nvPr>
        </p:nvGraphicFramePr>
        <p:xfrm>
          <a:off x="5244405" y="3103815"/>
          <a:ext cx="1225550" cy="733425"/>
        </p:xfrm>
        <a:graphic>
          <a:graphicData uri="http://schemas.openxmlformats.org/presentationml/2006/ole">
            <p:oleObj spid="_x0000_s35966" name="Visio" r:id="rId15" imgW="946446" imgH="565965" progId="">
              <p:embed/>
            </p:oleObj>
          </a:graphicData>
        </a:graphic>
      </p:graphicFrame>
      <p:graphicFrame>
        <p:nvGraphicFramePr>
          <p:cNvPr id="410646" name="Object 22"/>
          <p:cNvGraphicFramePr>
            <a:graphicFrameLocks noChangeAspect="1"/>
          </p:cNvGraphicFramePr>
          <p:nvPr>
            <p:extLst>
              <p:ext uri="{D42A27DB-BD31-4B8C-83A1-F6EECF244321}">
                <p14:modId xmlns:p14="http://schemas.microsoft.com/office/powerpoint/2010/main" xmlns="" val="3330326554"/>
              </p:ext>
            </p:extLst>
          </p:nvPr>
        </p:nvGraphicFramePr>
        <p:xfrm>
          <a:off x="6684268" y="2613278"/>
          <a:ext cx="1800225" cy="1589087"/>
        </p:xfrm>
        <a:graphic>
          <a:graphicData uri="http://schemas.openxmlformats.org/presentationml/2006/ole">
            <p:oleObj spid="_x0000_s35967" name="Visio" r:id="rId16" imgW="1187395" imgH="969842" progId="">
              <p:embed/>
            </p:oleObj>
          </a:graphicData>
        </a:graphic>
      </p:graphicFrame>
      <p:graphicFrame>
        <p:nvGraphicFramePr>
          <p:cNvPr id="410647" name="Object 23"/>
          <p:cNvGraphicFramePr>
            <a:graphicFrameLocks noChangeAspect="1"/>
          </p:cNvGraphicFramePr>
          <p:nvPr>
            <p:extLst>
              <p:ext uri="{D42A27DB-BD31-4B8C-83A1-F6EECF244321}">
                <p14:modId xmlns:p14="http://schemas.microsoft.com/office/powerpoint/2010/main" xmlns="" val="195011049"/>
              </p:ext>
            </p:extLst>
          </p:nvPr>
        </p:nvGraphicFramePr>
        <p:xfrm>
          <a:off x="6755705" y="3808665"/>
          <a:ext cx="1296988" cy="604838"/>
        </p:xfrm>
        <a:graphic>
          <a:graphicData uri="http://schemas.openxmlformats.org/presentationml/2006/ole">
            <p:oleObj spid="_x0000_s35968" name="Visio" r:id="rId17" imgW="842742" imgH="353440" progId="">
              <p:embed/>
            </p:oleObj>
          </a:graphicData>
        </a:graphic>
      </p:graphicFrame>
      <p:graphicFrame>
        <p:nvGraphicFramePr>
          <p:cNvPr id="410648" name="Object 24"/>
          <p:cNvGraphicFramePr>
            <a:graphicFrameLocks noChangeAspect="1"/>
          </p:cNvGraphicFramePr>
          <p:nvPr/>
        </p:nvGraphicFramePr>
        <p:xfrm>
          <a:off x="7668344" y="4077072"/>
          <a:ext cx="1365250" cy="2016125"/>
        </p:xfrm>
        <a:graphic>
          <a:graphicData uri="http://schemas.openxmlformats.org/presentationml/2006/ole">
            <p:oleObj spid="_x0000_s35969" name="Visio" r:id="rId18" imgW="908280" imgH="1243969" progId="">
              <p:embed/>
            </p:oleObj>
          </a:graphicData>
        </a:graphic>
      </p:graphicFrame>
      <p:graphicFrame>
        <p:nvGraphicFramePr>
          <p:cNvPr id="410649" name="Object 25"/>
          <p:cNvGraphicFramePr>
            <a:graphicFrameLocks noChangeAspect="1"/>
          </p:cNvGraphicFramePr>
          <p:nvPr>
            <p:extLst>
              <p:ext uri="{D42A27DB-BD31-4B8C-83A1-F6EECF244321}">
                <p14:modId xmlns:p14="http://schemas.microsoft.com/office/powerpoint/2010/main" xmlns="" val="2709983269"/>
              </p:ext>
            </p:extLst>
          </p:nvPr>
        </p:nvGraphicFramePr>
        <p:xfrm>
          <a:off x="6611243" y="4199190"/>
          <a:ext cx="1368425" cy="1293813"/>
        </p:xfrm>
        <a:graphic>
          <a:graphicData uri="http://schemas.openxmlformats.org/presentationml/2006/ole">
            <p:oleObj spid="_x0000_s35970" name="Visio" r:id="rId19" imgW="938350" imgH="887064" progId="">
              <p:embed/>
            </p:oleObj>
          </a:graphicData>
        </a:graphic>
      </p:graphicFrame>
      <p:graphicFrame>
        <p:nvGraphicFramePr>
          <p:cNvPr id="410650" name="Object 26"/>
          <p:cNvGraphicFramePr>
            <a:graphicFrameLocks noChangeAspect="1"/>
          </p:cNvGraphicFramePr>
          <p:nvPr>
            <p:extLst>
              <p:ext uri="{D42A27DB-BD31-4B8C-83A1-F6EECF244321}">
                <p14:modId xmlns:p14="http://schemas.microsoft.com/office/powerpoint/2010/main" xmlns="" val="2308797964"/>
              </p:ext>
            </p:extLst>
          </p:nvPr>
        </p:nvGraphicFramePr>
        <p:xfrm>
          <a:off x="6034980" y="5219953"/>
          <a:ext cx="1944688" cy="1065212"/>
        </p:xfrm>
        <a:graphic>
          <a:graphicData uri="http://schemas.openxmlformats.org/presentationml/2006/ole">
            <p:oleObj spid="_x0000_s35971" name="Visio" r:id="rId20" imgW="1223633" imgH="620637" progId="">
              <p:embed/>
            </p:oleObj>
          </a:graphicData>
        </a:graphic>
      </p:graphicFrame>
      <p:graphicFrame>
        <p:nvGraphicFramePr>
          <p:cNvPr id="410651" name="Object 27"/>
          <p:cNvGraphicFramePr>
            <a:graphicFrameLocks noChangeAspect="1"/>
          </p:cNvGraphicFramePr>
          <p:nvPr>
            <p:extLst>
              <p:ext uri="{D42A27DB-BD31-4B8C-83A1-F6EECF244321}">
                <p14:modId xmlns:p14="http://schemas.microsoft.com/office/powerpoint/2010/main" xmlns="" val="3812349082"/>
              </p:ext>
            </p:extLst>
          </p:nvPr>
        </p:nvGraphicFramePr>
        <p:xfrm>
          <a:off x="4955480" y="5205665"/>
          <a:ext cx="1208088" cy="852488"/>
        </p:xfrm>
        <a:graphic>
          <a:graphicData uri="http://schemas.openxmlformats.org/presentationml/2006/ole">
            <p:oleObj spid="_x0000_s35972" name="Visio" r:id="rId21" imgW="831947" imgH="587141" progId="">
              <p:embed/>
            </p:oleObj>
          </a:graphicData>
        </a:graphic>
      </p:graphicFrame>
      <p:graphicFrame>
        <p:nvGraphicFramePr>
          <p:cNvPr id="410652" name="Object 28"/>
          <p:cNvGraphicFramePr>
            <a:graphicFrameLocks noChangeAspect="1"/>
          </p:cNvGraphicFramePr>
          <p:nvPr>
            <p:extLst>
              <p:ext uri="{D42A27DB-BD31-4B8C-83A1-F6EECF244321}">
                <p14:modId xmlns:p14="http://schemas.microsoft.com/office/powerpoint/2010/main" xmlns="" val="649354760"/>
              </p:ext>
            </p:extLst>
          </p:nvPr>
        </p:nvGraphicFramePr>
        <p:xfrm>
          <a:off x="5453955" y="4053140"/>
          <a:ext cx="941388" cy="1223963"/>
        </p:xfrm>
        <a:graphic>
          <a:graphicData uri="http://schemas.openxmlformats.org/presentationml/2006/ole">
            <p:oleObj spid="_x0000_s35973" name="Visio" r:id="rId22" imgW="649983" imgH="844328" progId="">
              <p:embed/>
            </p:oleObj>
          </a:graphicData>
        </a:graphic>
      </p:graphicFrame>
      <p:sp>
        <p:nvSpPr>
          <p:cNvPr id="26" name="标题 1"/>
          <p:cNvSpPr txBox="1">
            <a:spLocks/>
          </p:cNvSpPr>
          <p:nvPr/>
        </p:nvSpPr>
        <p:spPr bwMode="auto">
          <a:xfrm>
            <a:off x="1187624" y="764704"/>
            <a:ext cx="7632848"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232966990"/>
      </p:ext>
    </p:extLst>
  </p:cSld>
  <p:clrMapOvr>
    <a:masterClrMapping/>
  </p:clrMapOvr>
  <p:transition advTm="11947"/>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10636"/>
                                        </p:tgtEl>
                                        <p:attrNameLst>
                                          <p:attrName>style.visibility</p:attrName>
                                        </p:attrNameLst>
                                      </p:cBhvr>
                                      <p:to>
                                        <p:strVal val="visible"/>
                                      </p:to>
                                    </p:set>
                                    <p:animEffect transition="in" filter="blinds(horizontal)">
                                      <p:cBhvr>
                                        <p:cTn id="7" dur="500"/>
                                        <p:tgtEl>
                                          <p:spTgt spid="41063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10637"/>
                                        </p:tgtEl>
                                        <p:attrNameLst>
                                          <p:attrName>style.visibility</p:attrName>
                                        </p:attrNameLst>
                                      </p:cBhvr>
                                      <p:to>
                                        <p:strVal val="visible"/>
                                      </p:to>
                                    </p:set>
                                    <p:animEffect transition="in" filter="blinds(horizontal)">
                                      <p:cBhvr>
                                        <p:cTn id="12" dur="500"/>
                                        <p:tgtEl>
                                          <p:spTgt spid="41063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10638"/>
                                        </p:tgtEl>
                                        <p:attrNameLst>
                                          <p:attrName>style.visibility</p:attrName>
                                        </p:attrNameLst>
                                      </p:cBhvr>
                                      <p:to>
                                        <p:strVal val="visible"/>
                                      </p:to>
                                    </p:set>
                                    <p:animEffect transition="in" filter="blinds(horizontal)">
                                      <p:cBhvr>
                                        <p:cTn id="17" dur="500"/>
                                        <p:tgtEl>
                                          <p:spTgt spid="41063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10639"/>
                                        </p:tgtEl>
                                        <p:attrNameLst>
                                          <p:attrName>style.visibility</p:attrName>
                                        </p:attrNameLst>
                                      </p:cBhvr>
                                      <p:to>
                                        <p:strVal val="visible"/>
                                      </p:to>
                                    </p:set>
                                    <p:animEffect transition="in" filter="blinds(horizontal)">
                                      <p:cBhvr>
                                        <p:cTn id="22" dur="500"/>
                                        <p:tgtEl>
                                          <p:spTgt spid="410639"/>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410632"/>
                                        </p:tgtEl>
                                        <p:attrNameLst>
                                          <p:attrName>style.visibility</p:attrName>
                                        </p:attrNameLst>
                                      </p:cBhvr>
                                      <p:to>
                                        <p:strVal val="visible"/>
                                      </p:to>
                                    </p:set>
                                    <p:animEffect transition="in" filter="blinds(horizontal)">
                                      <p:cBhvr>
                                        <p:cTn id="27" dur="500"/>
                                        <p:tgtEl>
                                          <p:spTgt spid="4106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10633"/>
                                        </p:tgtEl>
                                        <p:attrNameLst>
                                          <p:attrName>style.visibility</p:attrName>
                                        </p:attrNameLst>
                                      </p:cBhvr>
                                      <p:to>
                                        <p:strVal val="visible"/>
                                      </p:to>
                                    </p:set>
                                    <p:animEffect transition="in" filter="blinds(horizontal)">
                                      <p:cBhvr>
                                        <p:cTn id="32" dur="500"/>
                                        <p:tgtEl>
                                          <p:spTgt spid="4106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10634"/>
                                        </p:tgtEl>
                                        <p:attrNameLst>
                                          <p:attrName>style.visibility</p:attrName>
                                        </p:attrNameLst>
                                      </p:cBhvr>
                                      <p:to>
                                        <p:strVal val="visible"/>
                                      </p:to>
                                    </p:set>
                                    <p:animEffect transition="in" filter="blinds(horizontal)">
                                      <p:cBhvr>
                                        <p:cTn id="37" dur="500"/>
                                        <p:tgtEl>
                                          <p:spTgt spid="4106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10635"/>
                                        </p:tgtEl>
                                        <p:attrNameLst>
                                          <p:attrName>style.visibility</p:attrName>
                                        </p:attrNameLst>
                                      </p:cBhvr>
                                      <p:to>
                                        <p:strVal val="visible"/>
                                      </p:to>
                                    </p:set>
                                    <p:animEffect transition="in" filter="blinds(horizontal)">
                                      <p:cBhvr>
                                        <p:cTn id="42" dur="500"/>
                                        <p:tgtEl>
                                          <p:spTgt spid="41063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10644"/>
                                        </p:tgtEl>
                                        <p:attrNameLst>
                                          <p:attrName>style.visibility</p:attrName>
                                        </p:attrNameLst>
                                      </p:cBhvr>
                                      <p:to>
                                        <p:strVal val="visible"/>
                                      </p:to>
                                    </p:set>
                                    <p:animEffect transition="in" filter="blinds(horizontal)">
                                      <p:cBhvr>
                                        <p:cTn id="47" dur="500"/>
                                        <p:tgtEl>
                                          <p:spTgt spid="41064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10645"/>
                                        </p:tgtEl>
                                        <p:attrNameLst>
                                          <p:attrName>style.visibility</p:attrName>
                                        </p:attrNameLst>
                                      </p:cBhvr>
                                      <p:to>
                                        <p:strVal val="visible"/>
                                      </p:to>
                                    </p:set>
                                    <p:animEffect transition="in" filter="blinds(horizontal)">
                                      <p:cBhvr>
                                        <p:cTn id="52" dur="500"/>
                                        <p:tgtEl>
                                          <p:spTgt spid="410645"/>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410646"/>
                                        </p:tgtEl>
                                        <p:attrNameLst>
                                          <p:attrName>style.visibility</p:attrName>
                                        </p:attrNameLst>
                                      </p:cBhvr>
                                      <p:to>
                                        <p:strVal val="visible"/>
                                      </p:to>
                                    </p:set>
                                    <p:animEffect transition="in" filter="blinds(horizontal)">
                                      <p:cBhvr>
                                        <p:cTn id="57" dur="500"/>
                                        <p:tgtEl>
                                          <p:spTgt spid="41064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410647"/>
                                        </p:tgtEl>
                                        <p:attrNameLst>
                                          <p:attrName>style.visibility</p:attrName>
                                        </p:attrNameLst>
                                      </p:cBhvr>
                                      <p:to>
                                        <p:strVal val="visible"/>
                                      </p:to>
                                    </p:set>
                                    <p:animEffect transition="in" filter="blinds(horizontal)">
                                      <p:cBhvr>
                                        <p:cTn id="62" dur="500"/>
                                        <p:tgtEl>
                                          <p:spTgt spid="410647"/>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3" presetClass="entr" presetSubtype="10" fill="hold" nodeType="clickEffect">
                                  <p:stCondLst>
                                    <p:cond delay="0"/>
                                  </p:stCondLst>
                                  <p:childTnLst>
                                    <p:set>
                                      <p:cBhvr>
                                        <p:cTn id="66" dur="1" fill="hold">
                                          <p:stCondLst>
                                            <p:cond delay="0"/>
                                          </p:stCondLst>
                                        </p:cTn>
                                        <p:tgtEl>
                                          <p:spTgt spid="410648"/>
                                        </p:tgtEl>
                                        <p:attrNameLst>
                                          <p:attrName>style.visibility</p:attrName>
                                        </p:attrNameLst>
                                      </p:cBhvr>
                                      <p:to>
                                        <p:strVal val="visible"/>
                                      </p:to>
                                    </p:set>
                                    <p:animEffect transition="in" filter="blinds(horizontal)">
                                      <p:cBhvr>
                                        <p:cTn id="67" dur="500"/>
                                        <p:tgtEl>
                                          <p:spTgt spid="410648"/>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3" presetClass="entr" presetSubtype="10" fill="hold" nodeType="clickEffect">
                                  <p:stCondLst>
                                    <p:cond delay="0"/>
                                  </p:stCondLst>
                                  <p:childTnLst>
                                    <p:set>
                                      <p:cBhvr>
                                        <p:cTn id="71" dur="1" fill="hold">
                                          <p:stCondLst>
                                            <p:cond delay="0"/>
                                          </p:stCondLst>
                                        </p:cTn>
                                        <p:tgtEl>
                                          <p:spTgt spid="410649"/>
                                        </p:tgtEl>
                                        <p:attrNameLst>
                                          <p:attrName>style.visibility</p:attrName>
                                        </p:attrNameLst>
                                      </p:cBhvr>
                                      <p:to>
                                        <p:strVal val="visible"/>
                                      </p:to>
                                    </p:set>
                                    <p:animEffect transition="in" filter="blinds(horizontal)">
                                      <p:cBhvr>
                                        <p:cTn id="72" dur="500"/>
                                        <p:tgtEl>
                                          <p:spTgt spid="410649"/>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3" presetClass="entr" presetSubtype="10" fill="hold" nodeType="clickEffect">
                                  <p:stCondLst>
                                    <p:cond delay="0"/>
                                  </p:stCondLst>
                                  <p:childTnLst>
                                    <p:set>
                                      <p:cBhvr>
                                        <p:cTn id="76" dur="1" fill="hold">
                                          <p:stCondLst>
                                            <p:cond delay="0"/>
                                          </p:stCondLst>
                                        </p:cTn>
                                        <p:tgtEl>
                                          <p:spTgt spid="410650"/>
                                        </p:tgtEl>
                                        <p:attrNameLst>
                                          <p:attrName>style.visibility</p:attrName>
                                        </p:attrNameLst>
                                      </p:cBhvr>
                                      <p:to>
                                        <p:strVal val="visible"/>
                                      </p:to>
                                    </p:set>
                                    <p:animEffect transition="in" filter="blinds(horizontal)">
                                      <p:cBhvr>
                                        <p:cTn id="77" dur="500"/>
                                        <p:tgtEl>
                                          <p:spTgt spid="410650"/>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nodeType="clickEffect">
                                  <p:stCondLst>
                                    <p:cond delay="0"/>
                                  </p:stCondLst>
                                  <p:childTnLst>
                                    <p:set>
                                      <p:cBhvr>
                                        <p:cTn id="81" dur="1" fill="hold">
                                          <p:stCondLst>
                                            <p:cond delay="0"/>
                                          </p:stCondLst>
                                        </p:cTn>
                                        <p:tgtEl>
                                          <p:spTgt spid="410652"/>
                                        </p:tgtEl>
                                        <p:attrNameLst>
                                          <p:attrName>style.visibility</p:attrName>
                                        </p:attrNameLst>
                                      </p:cBhvr>
                                      <p:to>
                                        <p:strVal val="visible"/>
                                      </p:to>
                                    </p:set>
                                    <p:animEffect transition="in" filter="blinds(horizontal)">
                                      <p:cBhvr>
                                        <p:cTn id="82" dur="500"/>
                                        <p:tgtEl>
                                          <p:spTgt spid="410652"/>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3" presetClass="entr" presetSubtype="10" fill="hold" nodeType="clickEffect">
                                  <p:stCondLst>
                                    <p:cond delay="0"/>
                                  </p:stCondLst>
                                  <p:childTnLst>
                                    <p:set>
                                      <p:cBhvr>
                                        <p:cTn id="86" dur="1" fill="hold">
                                          <p:stCondLst>
                                            <p:cond delay="0"/>
                                          </p:stCondLst>
                                        </p:cTn>
                                        <p:tgtEl>
                                          <p:spTgt spid="410651"/>
                                        </p:tgtEl>
                                        <p:attrNameLst>
                                          <p:attrName>style.visibility</p:attrName>
                                        </p:attrNameLst>
                                      </p:cBhvr>
                                      <p:to>
                                        <p:strVal val="visible"/>
                                      </p:to>
                                    </p:set>
                                    <p:animEffect transition="in" filter="blinds(horizontal)">
                                      <p:cBhvr>
                                        <p:cTn id="87" dur="500"/>
                                        <p:tgtEl>
                                          <p:spTgt spid="4106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3702" name="Rectangle 6"/>
          <p:cNvSpPr>
            <a:spLocks noChangeArrowheads="1"/>
          </p:cNvSpPr>
          <p:nvPr/>
        </p:nvSpPr>
        <p:spPr bwMode="auto">
          <a:xfrm>
            <a:off x="827584" y="2636912"/>
            <a:ext cx="7559675"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altLang="zh-CN" sz="2400" b="1" dirty="0" smtClean="0">
                <a:latin typeface="楷体_GB2312" pitchFamily="49" charset="-122"/>
                <a:ea typeface="楷体_GB2312" pitchFamily="49" charset="-122"/>
              </a:rPr>
              <a:t>【</a:t>
            </a:r>
            <a:r>
              <a:rPr lang="zh-CN" altLang="en-US" sz="2400" b="1" dirty="0" smtClean="0">
                <a:latin typeface="楷体_GB2312" pitchFamily="49" charset="-122"/>
                <a:ea typeface="楷体_GB2312" pitchFamily="49" charset="-122"/>
              </a:rPr>
              <a:t>例</a:t>
            </a:r>
            <a:r>
              <a:rPr lang="en-US" altLang="zh-CN" sz="2400" b="1" dirty="0" smtClean="0">
                <a:latin typeface="楷体_GB2312" pitchFamily="49" charset="-122"/>
                <a:ea typeface="楷体_GB2312" pitchFamily="49" charset="-122"/>
              </a:rPr>
              <a:t>】</a:t>
            </a:r>
            <a:r>
              <a:rPr lang="zh-CN" altLang="en-US" sz="2400" b="1" dirty="0">
                <a:solidFill>
                  <a:srgbClr val="FF0000"/>
                </a:solidFill>
                <a:latin typeface="楷体_GB2312" pitchFamily="49" charset="-122"/>
                <a:ea typeface="楷体_GB2312" pitchFamily="49" charset="-122"/>
              </a:rPr>
              <a:t>简化后</a:t>
            </a:r>
            <a:r>
              <a:rPr lang="zh-CN" altLang="en-US" sz="2400" b="1" dirty="0">
                <a:latin typeface="楷体_GB2312" pitchFamily="49" charset="-122"/>
                <a:ea typeface="楷体_GB2312" pitchFamily="49" charset="-122"/>
              </a:rPr>
              <a:t>的状态转换表及状态转换图为</a:t>
            </a:r>
            <a:r>
              <a:rPr lang="zh-CN" altLang="en-US" sz="2400" b="1" dirty="0">
                <a:latin typeface="Garamond" panose="02020404030301010803" pitchFamily="18" charset="0"/>
                <a:ea typeface="黑体" panose="02010609060101010101" pitchFamily="49" charset="-122"/>
              </a:rPr>
              <a:t>：</a:t>
            </a:r>
          </a:p>
        </p:txBody>
      </p:sp>
      <p:graphicFrame>
        <p:nvGraphicFramePr>
          <p:cNvPr id="413703" name="Object 7"/>
          <p:cNvGraphicFramePr>
            <a:graphicFrameLocks noChangeAspect="1"/>
          </p:cNvGraphicFramePr>
          <p:nvPr>
            <p:extLst>
              <p:ext uri="{D42A27DB-BD31-4B8C-83A1-F6EECF244321}">
                <p14:modId xmlns:p14="http://schemas.microsoft.com/office/powerpoint/2010/main" xmlns="" val="3441455395"/>
              </p:ext>
            </p:extLst>
          </p:nvPr>
        </p:nvGraphicFramePr>
        <p:xfrm>
          <a:off x="4355976" y="5661248"/>
          <a:ext cx="660208" cy="432048"/>
        </p:xfrm>
        <a:graphic>
          <a:graphicData uri="http://schemas.openxmlformats.org/presentationml/2006/ole">
            <p:oleObj spid="_x0000_s4629" name="公式" r:id="rId3" imgW="303480" imgH="196560" progId="">
              <p:embed/>
            </p:oleObj>
          </a:graphicData>
        </a:graphic>
      </p:graphicFrame>
      <p:graphicFrame>
        <p:nvGraphicFramePr>
          <p:cNvPr id="413704" name="Object 8"/>
          <p:cNvGraphicFramePr>
            <a:graphicFrameLocks noChangeAspect="1"/>
          </p:cNvGraphicFramePr>
          <p:nvPr>
            <p:extLst>
              <p:ext uri="{D42A27DB-BD31-4B8C-83A1-F6EECF244321}">
                <p14:modId xmlns:p14="http://schemas.microsoft.com/office/powerpoint/2010/main" xmlns="" val="2131895877"/>
              </p:ext>
            </p:extLst>
          </p:nvPr>
        </p:nvGraphicFramePr>
        <p:xfrm>
          <a:off x="755576" y="4509120"/>
          <a:ext cx="4456786" cy="1670761"/>
        </p:xfrm>
        <a:graphic>
          <a:graphicData uri="http://schemas.openxmlformats.org/presentationml/2006/ole">
            <p:oleObj spid="_x0000_s4630" name="Visio" r:id="rId4" imgW="3296177" imgH="1235499" progId="">
              <p:embed/>
            </p:oleObj>
          </a:graphicData>
        </a:graphic>
      </p:graphicFrame>
      <p:sp>
        <p:nvSpPr>
          <p:cNvPr id="413705" name="Rectangle 9"/>
          <p:cNvSpPr>
            <a:spLocks noChangeArrowheads="1"/>
          </p:cNvSpPr>
          <p:nvPr/>
        </p:nvSpPr>
        <p:spPr bwMode="auto">
          <a:xfrm>
            <a:off x="899592" y="2132856"/>
            <a:ext cx="3313112"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0000FF"/>
                </a:solidFill>
                <a:latin typeface="Garamond" panose="02020404030301010803" pitchFamily="18" charset="0"/>
                <a:ea typeface="黑体" panose="02010609060101010101" pitchFamily="49" charset="-122"/>
              </a:rPr>
              <a:t>解</a:t>
            </a:r>
            <a:r>
              <a:rPr lang="en-US" altLang="zh-CN" sz="2400" b="1" dirty="0">
                <a:solidFill>
                  <a:srgbClr val="0000FF"/>
                </a:solidFill>
                <a:latin typeface="Garamond" panose="02020404030301010803" pitchFamily="18" charset="0"/>
                <a:ea typeface="黑体" panose="02010609060101010101" pitchFamily="49" charset="-122"/>
              </a:rPr>
              <a:t>:</a:t>
            </a:r>
            <a:r>
              <a:rPr lang="zh-CN" altLang="en-US" sz="2400" b="1" dirty="0">
                <a:solidFill>
                  <a:srgbClr val="0000FF"/>
                </a:solidFill>
                <a:latin typeface="Garamond" panose="02020404030301010803" pitchFamily="18" charset="0"/>
                <a:ea typeface="黑体" panose="02010609060101010101" pitchFamily="49" charset="-122"/>
              </a:rPr>
              <a:t>（二）状态化简</a:t>
            </a:r>
          </a:p>
        </p:txBody>
      </p:sp>
      <p:sp>
        <p:nvSpPr>
          <p:cNvPr id="413706" name="Text Box 10"/>
          <p:cNvSpPr txBox="1">
            <a:spLocks noChangeArrowheads="1"/>
          </p:cNvSpPr>
          <p:nvPr/>
        </p:nvSpPr>
        <p:spPr bwMode="auto">
          <a:xfrm>
            <a:off x="5436096" y="6021288"/>
            <a:ext cx="3707904"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4 【</a:t>
            </a:r>
            <a:r>
              <a:rPr lang="zh-CN" altLang="en-US" sz="2000" b="1" dirty="0" smtClean="0">
                <a:latin typeface="楷体_GB2312" pitchFamily="49" charset="-122"/>
                <a:ea typeface="楷体_GB2312" pitchFamily="49" charset="-122"/>
              </a:rPr>
              <a:t>例</a:t>
            </a:r>
            <a:r>
              <a:rPr lang="en-US" altLang="zh-CN" sz="2000" b="1" dirty="0" smtClean="0">
                <a:latin typeface="楷体_GB2312" pitchFamily="49" charset="-122"/>
                <a:ea typeface="楷体_GB2312" pitchFamily="49" charset="-122"/>
              </a:rPr>
              <a:t>】</a:t>
            </a:r>
            <a:r>
              <a:rPr lang="zh-CN" altLang="en-US" sz="2000" b="1" dirty="0">
                <a:latin typeface="楷体_GB2312" pitchFamily="49" charset="-122"/>
                <a:ea typeface="楷体_GB2312" pitchFamily="49" charset="-122"/>
              </a:rPr>
              <a:t>的最简状态转换图</a:t>
            </a:r>
          </a:p>
        </p:txBody>
      </p:sp>
      <p:sp>
        <p:nvSpPr>
          <p:cNvPr id="413707" name="Text Box 11"/>
          <p:cNvSpPr txBox="1">
            <a:spLocks noChangeArrowheads="1"/>
          </p:cNvSpPr>
          <p:nvPr/>
        </p:nvSpPr>
        <p:spPr bwMode="auto">
          <a:xfrm>
            <a:off x="971600" y="3933056"/>
            <a:ext cx="3744912"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dirty="0">
                <a:latin typeface="楷体_GB2312" pitchFamily="49" charset="-122"/>
                <a:ea typeface="楷体_GB2312" pitchFamily="49" charset="-122"/>
              </a:rPr>
              <a:t>表</a:t>
            </a:r>
            <a:r>
              <a:rPr lang="en-US" altLang="zh-CN" sz="2000" b="1" dirty="0">
                <a:latin typeface="楷体_GB2312" pitchFamily="49" charset="-122"/>
                <a:ea typeface="楷体_GB2312" pitchFamily="49" charset="-122"/>
              </a:rPr>
              <a:t>4 【</a:t>
            </a:r>
            <a:r>
              <a:rPr lang="zh-CN" altLang="en-US" sz="2000" b="1" dirty="0" smtClean="0">
                <a:latin typeface="楷体_GB2312" pitchFamily="49" charset="-122"/>
                <a:ea typeface="楷体_GB2312" pitchFamily="49" charset="-122"/>
              </a:rPr>
              <a:t>例</a:t>
            </a:r>
            <a:r>
              <a:rPr lang="en-US" altLang="zh-CN" sz="2000" b="1" dirty="0" smtClean="0">
                <a:latin typeface="楷体_GB2312" pitchFamily="49" charset="-122"/>
                <a:ea typeface="楷体_GB2312" pitchFamily="49" charset="-122"/>
              </a:rPr>
              <a:t>】</a:t>
            </a:r>
            <a:r>
              <a:rPr lang="zh-CN" altLang="en-US" sz="2000" b="1" dirty="0">
                <a:latin typeface="楷体_GB2312" pitchFamily="49" charset="-122"/>
                <a:ea typeface="楷体_GB2312" pitchFamily="49" charset="-122"/>
              </a:rPr>
              <a:t>的最简状态转换表</a:t>
            </a:r>
          </a:p>
        </p:txBody>
      </p:sp>
      <p:graphicFrame>
        <p:nvGraphicFramePr>
          <p:cNvPr id="413708" name="Object 12"/>
          <p:cNvGraphicFramePr>
            <a:graphicFrameLocks noChangeAspect="1"/>
          </p:cNvGraphicFramePr>
          <p:nvPr>
            <p:extLst>
              <p:ext uri="{D42A27DB-BD31-4B8C-83A1-F6EECF244321}">
                <p14:modId xmlns:p14="http://schemas.microsoft.com/office/powerpoint/2010/main" xmlns="" val="2285063890"/>
              </p:ext>
            </p:extLst>
          </p:nvPr>
        </p:nvGraphicFramePr>
        <p:xfrm>
          <a:off x="5772297" y="3011721"/>
          <a:ext cx="2856832" cy="2865551"/>
        </p:xfrm>
        <a:graphic>
          <a:graphicData uri="http://schemas.openxmlformats.org/presentationml/2006/ole">
            <p:oleObj spid="_x0000_s4631" name="Visio" r:id="rId5" imgW="2222510" imgH="2229596" progId="">
              <p:embed/>
            </p:oleObj>
          </a:graphicData>
        </a:graphic>
      </p:graphicFrame>
      <p:sp>
        <p:nvSpPr>
          <p:cNvPr id="10" name="标题 1"/>
          <p:cNvSpPr txBox="1">
            <a:spLocks/>
          </p:cNvSpPr>
          <p:nvPr/>
        </p:nvSpPr>
        <p:spPr bwMode="auto">
          <a:xfrm>
            <a:off x="1367136" y="764704"/>
            <a:ext cx="7381328"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819958540"/>
      </p:ext>
    </p:extLst>
  </p:cSld>
  <p:clrMapOvr>
    <a:masterClrMapping/>
  </p:clrMapOvr>
  <p:transition advTm="11947"/>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7798" name="Rectangle 6"/>
          <p:cNvSpPr>
            <a:spLocks noChangeArrowheads="1"/>
          </p:cNvSpPr>
          <p:nvPr/>
        </p:nvSpPr>
        <p:spPr bwMode="auto">
          <a:xfrm>
            <a:off x="603300" y="2466974"/>
            <a:ext cx="8351837" cy="5302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pPr>
            <a:r>
              <a:rPr lang="en-US" altLang="zh-CN" b="1" dirty="0">
                <a:solidFill>
                  <a:schemeClr val="bg2"/>
                </a:solidFill>
                <a:latin typeface="楷体_GB2312" pitchFamily="49" charset="-122"/>
                <a:ea typeface="楷体_GB2312" pitchFamily="49" charset="-122"/>
              </a:rPr>
              <a:t>     </a:t>
            </a:r>
            <a:r>
              <a:rPr lang="en-US" altLang="zh-CN" b="1" dirty="0">
                <a:latin typeface="楷体_GB2312" pitchFamily="49" charset="-122"/>
                <a:ea typeface="楷体_GB2312" pitchFamily="49" charset="-122"/>
              </a:rPr>
              <a:t>∵ </a:t>
            </a:r>
            <a:r>
              <a:rPr lang="zh-CN" altLang="en-US" b="1" dirty="0">
                <a:latin typeface="楷体_GB2312" pitchFamily="49" charset="-122"/>
                <a:ea typeface="楷体_GB2312" pitchFamily="49" charset="-122"/>
              </a:rPr>
              <a:t>状态数</a:t>
            </a:r>
            <a:r>
              <a:rPr lang="en-US" altLang="zh-CN" b="1" dirty="0">
                <a:solidFill>
                  <a:srgbClr val="0000FF"/>
                </a:solidFill>
                <a:latin typeface="楷体_GB2312" pitchFamily="49" charset="-122"/>
                <a:ea typeface="楷体_GB2312" pitchFamily="49" charset="-122"/>
              </a:rPr>
              <a:t>M=3</a:t>
            </a:r>
            <a:r>
              <a:rPr lang="zh-CN" altLang="en-US" b="1" dirty="0">
                <a:latin typeface="楷体_GB2312" pitchFamily="49" charset="-122"/>
                <a:ea typeface="楷体_GB2312" pitchFamily="49" charset="-122"/>
              </a:rPr>
              <a:t>，∴ 触发器数目</a:t>
            </a:r>
            <a:r>
              <a:rPr lang="en-US" altLang="zh-CN" b="1" dirty="0">
                <a:solidFill>
                  <a:srgbClr val="0000FF"/>
                </a:solidFill>
                <a:latin typeface="楷体_GB2312" pitchFamily="49" charset="-122"/>
                <a:ea typeface="楷体_GB2312" pitchFamily="49" charset="-122"/>
              </a:rPr>
              <a:t>N=2</a:t>
            </a:r>
            <a:r>
              <a:rPr lang="zh-CN" altLang="en-US" b="1" dirty="0">
                <a:latin typeface="楷体_GB2312" pitchFamily="49" charset="-122"/>
                <a:ea typeface="楷体_GB2312" pitchFamily="49" charset="-122"/>
              </a:rPr>
              <a:t>。</a:t>
            </a:r>
            <a:endParaRPr lang="zh-CN" altLang="en-US" b="1" dirty="0">
              <a:latin typeface="Garamond" panose="02020404030301010803" pitchFamily="18" charset="0"/>
              <a:ea typeface="黑体" panose="02010609060101010101" pitchFamily="49" charset="-122"/>
            </a:endParaRPr>
          </a:p>
        </p:txBody>
      </p:sp>
      <p:sp>
        <p:nvSpPr>
          <p:cNvPr id="417799" name="Rectangle 7"/>
          <p:cNvSpPr>
            <a:spLocks noChangeArrowheads="1"/>
          </p:cNvSpPr>
          <p:nvPr/>
        </p:nvSpPr>
        <p:spPr bwMode="auto">
          <a:xfrm>
            <a:off x="755576" y="2067190"/>
            <a:ext cx="331311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400" b="1" dirty="0">
                <a:solidFill>
                  <a:srgbClr val="0000FF"/>
                </a:solidFill>
                <a:latin typeface="Garamond" panose="02020404030301010803" pitchFamily="18" charset="0"/>
                <a:ea typeface="黑体" panose="02010609060101010101" pitchFamily="49" charset="-122"/>
              </a:rPr>
              <a:t>解</a:t>
            </a:r>
            <a:r>
              <a:rPr lang="en-US" altLang="zh-CN" sz="2400" b="1" dirty="0">
                <a:solidFill>
                  <a:srgbClr val="0000FF"/>
                </a:solidFill>
                <a:latin typeface="Garamond" panose="02020404030301010803" pitchFamily="18" charset="0"/>
                <a:ea typeface="黑体" panose="02010609060101010101" pitchFamily="49" charset="-122"/>
              </a:rPr>
              <a:t>:</a:t>
            </a:r>
            <a:r>
              <a:rPr lang="zh-CN" altLang="en-US" sz="2400" b="1" dirty="0">
                <a:solidFill>
                  <a:srgbClr val="0000FF"/>
                </a:solidFill>
                <a:latin typeface="Garamond" panose="02020404030301010803" pitchFamily="18" charset="0"/>
                <a:ea typeface="黑体" panose="02010609060101010101" pitchFamily="49" charset="-122"/>
              </a:rPr>
              <a:t>（三）状态编码</a:t>
            </a:r>
          </a:p>
        </p:txBody>
      </p:sp>
      <p:sp>
        <p:nvSpPr>
          <p:cNvPr id="417800" name="Rectangle 8"/>
          <p:cNvSpPr>
            <a:spLocks noChangeArrowheads="1"/>
          </p:cNvSpPr>
          <p:nvPr/>
        </p:nvSpPr>
        <p:spPr bwMode="auto">
          <a:xfrm>
            <a:off x="5869037" y="3508375"/>
            <a:ext cx="1027845" cy="400110"/>
          </a:xfrm>
          <a:prstGeom prst="rect">
            <a:avLst/>
          </a:prstGeom>
          <a:noFill/>
          <a:ln w="28575">
            <a:no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zh-CN" sz="2000" b="1" dirty="0">
                <a:latin typeface="Times New Roman" panose="02020603050405020304" pitchFamily="18" charset="0"/>
                <a:ea typeface="黑体" panose="02010609060101010101" pitchFamily="49" charset="-122"/>
              </a:rPr>
              <a:t>S0=</a:t>
            </a:r>
            <a:r>
              <a:rPr lang="en-US" altLang="zh-CN" sz="2000" b="1" dirty="0">
                <a:solidFill>
                  <a:srgbClr val="FF0000"/>
                </a:solidFill>
                <a:latin typeface="Times New Roman" panose="02020603050405020304" pitchFamily="18" charset="0"/>
                <a:ea typeface="黑体" panose="02010609060101010101" pitchFamily="49" charset="-122"/>
              </a:rPr>
              <a:t>’00’</a:t>
            </a:r>
          </a:p>
        </p:txBody>
      </p:sp>
      <p:sp>
        <p:nvSpPr>
          <p:cNvPr id="417801" name="Rectangle 9"/>
          <p:cNvSpPr>
            <a:spLocks noChangeArrowheads="1"/>
          </p:cNvSpPr>
          <p:nvPr/>
        </p:nvSpPr>
        <p:spPr bwMode="auto">
          <a:xfrm>
            <a:off x="5869037" y="4371975"/>
            <a:ext cx="1027845" cy="400110"/>
          </a:xfrm>
          <a:prstGeom prst="rect">
            <a:avLst/>
          </a:prstGeom>
          <a:noFill/>
          <a:ln w="28575">
            <a:no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zh-CN" sz="2000" b="1">
                <a:latin typeface="Times New Roman" panose="02020603050405020304" pitchFamily="18" charset="0"/>
                <a:ea typeface="黑体" panose="02010609060101010101" pitchFamily="49" charset="-122"/>
              </a:rPr>
              <a:t>S1=</a:t>
            </a:r>
            <a:r>
              <a:rPr lang="en-US" altLang="zh-CN" sz="2000" b="1">
                <a:solidFill>
                  <a:srgbClr val="FF0000"/>
                </a:solidFill>
                <a:latin typeface="Times New Roman" panose="02020603050405020304" pitchFamily="18" charset="0"/>
                <a:ea typeface="黑体" panose="02010609060101010101" pitchFamily="49" charset="-122"/>
              </a:rPr>
              <a:t>’01’</a:t>
            </a:r>
          </a:p>
        </p:txBody>
      </p:sp>
      <p:sp>
        <p:nvSpPr>
          <p:cNvPr id="417802" name="Rectangle 10"/>
          <p:cNvSpPr>
            <a:spLocks noChangeArrowheads="1"/>
          </p:cNvSpPr>
          <p:nvPr/>
        </p:nvSpPr>
        <p:spPr bwMode="auto">
          <a:xfrm>
            <a:off x="5869037" y="5308600"/>
            <a:ext cx="1027845" cy="400110"/>
          </a:xfrm>
          <a:prstGeom prst="rect">
            <a:avLst/>
          </a:prstGeom>
          <a:noFill/>
          <a:ln w="28575">
            <a:no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spAutoFit/>
          </a:bodyPr>
          <a:lstStyle/>
          <a:p>
            <a:r>
              <a:rPr lang="en-US" altLang="zh-CN" sz="2000" b="1">
                <a:latin typeface="Times New Roman" panose="02020603050405020304" pitchFamily="18" charset="0"/>
                <a:ea typeface="黑体" panose="02010609060101010101" pitchFamily="49" charset="-122"/>
              </a:rPr>
              <a:t>S2=</a:t>
            </a:r>
            <a:r>
              <a:rPr lang="en-US" altLang="zh-CN" sz="2000" b="1">
                <a:solidFill>
                  <a:srgbClr val="FF0000"/>
                </a:solidFill>
                <a:latin typeface="Times New Roman" panose="02020603050405020304" pitchFamily="18" charset="0"/>
                <a:ea typeface="黑体" panose="02010609060101010101" pitchFamily="49" charset="-122"/>
              </a:rPr>
              <a:t>’10’</a:t>
            </a:r>
          </a:p>
        </p:txBody>
      </p:sp>
      <p:sp>
        <p:nvSpPr>
          <p:cNvPr id="417803" name="Rectangle 11"/>
          <p:cNvSpPr>
            <a:spLocks noChangeArrowheads="1"/>
          </p:cNvSpPr>
          <p:nvPr/>
        </p:nvSpPr>
        <p:spPr bwMode="auto">
          <a:xfrm>
            <a:off x="5635926" y="6187281"/>
            <a:ext cx="2735263" cy="400110"/>
          </a:xfrm>
          <a:prstGeom prst="rect">
            <a:avLst/>
          </a:prstGeom>
          <a:noFill/>
          <a:ln w="28575">
            <a:no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altLang="zh-CN" sz="2000" b="1" dirty="0">
                <a:solidFill>
                  <a:srgbClr val="3333FF"/>
                </a:solidFill>
                <a:latin typeface="Times New Roman" panose="02020603050405020304" pitchFamily="18" charset="0"/>
                <a:ea typeface="黑体" panose="02010609060101010101" pitchFamily="49" charset="-122"/>
              </a:rPr>
              <a:t>’11’</a:t>
            </a:r>
            <a:r>
              <a:rPr lang="zh-CN" altLang="en-US" sz="2000" b="1" dirty="0">
                <a:solidFill>
                  <a:srgbClr val="3333FF"/>
                </a:solidFill>
                <a:latin typeface="Times New Roman" panose="02020603050405020304" pitchFamily="18" charset="0"/>
                <a:ea typeface="黑体" panose="02010609060101010101" pitchFamily="49" charset="-122"/>
              </a:rPr>
              <a:t>即为约束项</a:t>
            </a:r>
          </a:p>
        </p:txBody>
      </p:sp>
      <p:grpSp>
        <p:nvGrpSpPr>
          <p:cNvPr id="417804" name="Group 12"/>
          <p:cNvGrpSpPr>
            <a:grpSpLocks/>
          </p:cNvGrpSpPr>
          <p:nvPr/>
        </p:nvGrpSpPr>
        <p:grpSpPr bwMode="auto">
          <a:xfrm>
            <a:off x="1116063" y="2871787"/>
            <a:ext cx="7839075" cy="3833813"/>
            <a:chOff x="612" y="1396"/>
            <a:chExt cx="4938" cy="2415"/>
          </a:xfrm>
        </p:grpSpPr>
        <p:sp>
          <p:nvSpPr>
            <p:cNvPr id="417805" name="Rectangle 13"/>
            <p:cNvSpPr>
              <a:spLocks noChangeArrowheads="1"/>
            </p:cNvSpPr>
            <p:nvPr/>
          </p:nvSpPr>
          <p:spPr bwMode="auto">
            <a:xfrm>
              <a:off x="2880" y="1752"/>
              <a:ext cx="566" cy="29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pPr>
              <a:r>
                <a:rPr lang="zh-CN" altLang="en-US" sz="2000" b="1" dirty="0">
                  <a:latin typeface="Garamond" panose="02020404030301010803" pitchFamily="18" charset="0"/>
                  <a:ea typeface="楷体_GB2312" pitchFamily="49" charset="-122"/>
                </a:rPr>
                <a:t>令：</a:t>
              </a:r>
            </a:p>
          </p:txBody>
        </p:sp>
        <p:sp>
          <p:nvSpPr>
            <p:cNvPr id="417806" name="Text Box 14"/>
            <p:cNvSpPr txBox="1">
              <a:spLocks noChangeArrowheads="1"/>
            </p:cNvSpPr>
            <p:nvPr/>
          </p:nvSpPr>
          <p:spPr bwMode="auto">
            <a:xfrm>
              <a:off x="612" y="3561"/>
              <a:ext cx="2359"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5 【</a:t>
              </a:r>
              <a:r>
                <a:rPr lang="zh-CN" altLang="en-US" sz="2000" b="1" dirty="0" smtClean="0">
                  <a:latin typeface="楷体_GB2312" pitchFamily="49" charset="-122"/>
                  <a:ea typeface="楷体_GB2312" pitchFamily="49" charset="-122"/>
                </a:rPr>
                <a:t>例</a:t>
              </a:r>
              <a:r>
                <a:rPr lang="en-US" altLang="zh-CN" sz="2000" b="1" dirty="0" smtClean="0">
                  <a:latin typeface="楷体_GB2312" pitchFamily="49" charset="-122"/>
                  <a:ea typeface="楷体_GB2312" pitchFamily="49" charset="-122"/>
                </a:rPr>
                <a:t>】</a:t>
              </a:r>
              <a:r>
                <a:rPr lang="zh-CN" altLang="en-US" sz="2000" b="1" dirty="0">
                  <a:latin typeface="楷体_GB2312" pitchFamily="49" charset="-122"/>
                  <a:ea typeface="楷体_GB2312" pitchFamily="49" charset="-122"/>
                </a:rPr>
                <a:t>的最简状态转换图</a:t>
              </a:r>
            </a:p>
          </p:txBody>
        </p:sp>
        <p:sp>
          <p:nvSpPr>
            <p:cNvPr id="417807" name="Rectangle 15"/>
            <p:cNvSpPr>
              <a:spLocks noChangeArrowheads="1"/>
            </p:cNvSpPr>
            <p:nvPr/>
          </p:nvSpPr>
          <p:spPr bwMode="auto">
            <a:xfrm>
              <a:off x="674" y="1396"/>
              <a:ext cx="4876" cy="26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pPr>
              <a:r>
                <a:rPr lang="en-US" altLang="zh-CN" b="1" dirty="0" smtClean="0">
                  <a:latin typeface="楷体_GB2312" pitchFamily="49" charset="-122"/>
                  <a:ea typeface="楷体_GB2312" pitchFamily="49" charset="-122"/>
                </a:rPr>
                <a:t>【</a:t>
              </a:r>
              <a:r>
                <a:rPr lang="zh-CN" altLang="en-US" b="1" dirty="0" smtClean="0">
                  <a:solidFill>
                    <a:srgbClr val="0000CC"/>
                  </a:solidFill>
                  <a:latin typeface="楷体_GB2312" pitchFamily="49" charset="-122"/>
                  <a:ea typeface="楷体_GB2312" pitchFamily="49" charset="-122"/>
                </a:rPr>
                <a:t>例</a:t>
              </a:r>
              <a:r>
                <a:rPr lang="en-US" altLang="zh-CN" b="1" dirty="0" smtClean="0">
                  <a:latin typeface="楷体_GB2312" pitchFamily="49" charset="-122"/>
                  <a:ea typeface="楷体_GB2312" pitchFamily="49" charset="-122"/>
                </a:rPr>
                <a:t>】</a:t>
              </a:r>
              <a:r>
                <a:rPr lang="zh-CN" altLang="en-US" b="1" dirty="0">
                  <a:latin typeface="楷体_GB2312" pitchFamily="49" charset="-122"/>
                  <a:ea typeface="楷体_GB2312" pitchFamily="49" charset="-122"/>
                </a:rPr>
                <a:t>中，依据原则①进行状态编码，则可分配如下：</a:t>
              </a:r>
              <a:endParaRPr lang="zh-CN" altLang="en-US" b="1" dirty="0">
                <a:latin typeface="Garamond" panose="02020404030301010803" pitchFamily="18" charset="0"/>
                <a:ea typeface="黑体" panose="02010609060101010101" pitchFamily="49" charset="-122"/>
              </a:endParaRPr>
            </a:p>
          </p:txBody>
        </p:sp>
      </p:grpSp>
      <p:sp>
        <p:nvSpPr>
          <p:cNvPr id="14" name="标题 1"/>
          <p:cNvSpPr txBox="1">
            <a:spLocks/>
          </p:cNvSpPr>
          <p:nvPr/>
        </p:nvSpPr>
        <p:spPr bwMode="auto">
          <a:xfrm>
            <a:off x="1367136" y="764704"/>
            <a:ext cx="7309320"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8372" name="Picture 180"/>
          <p:cNvPicPr>
            <a:picLocks noChangeAspect="1" noChangeArrowheads="1"/>
          </p:cNvPicPr>
          <p:nvPr/>
        </p:nvPicPr>
        <p:blipFill>
          <a:blip r:embed="rId2" cstate="print"/>
          <a:srcRect/>
          <a:stretch>
            <a:fillRect/>
          </a:stretch>
        </p:blipFill>
        <p:spPr bwMode="auto">
          <a:xfrm>
            <a:off x="1547664" y="3284984"/>
            <a:ext cx="2847975" cy="2762250"/>
          </a:xfrm>
          <a:prstGeom prst="rect">
            <a:avLst/>
          </a:prstGeom>
          <a:noFill/>
          <a:ln w="9525">
            <a:noFill/>
            <a:miter lim="800000"/>
            <a:headEnd/>
            <a:tailEnd/>
          </a:ln>
        </p:spPr>
      </p:pic>
    </p:spTree>
    <p:extLst>
      <p:ext uri="{BB962C8B-B14F-4D97-AF65-F5344CB8AC3E}">
        <p14:creationId xmlns:p14="http://schemas.microsoft.com/office/powerpoint/2010/main" xmlns="" val="3434943369"/>
      </p:ext>
    </p:extLst>
  </p:cSld>
  <p:clrMapOvr>
    <a:masterClrMapping/>
  </p:clrMapOvr>
  <p:transition advTm="11947"/>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3" name="内容占位符 2"/>
          <p:cNvSpPr>
            <a:spLocks noGrp="1"/>
          </p:cNvSpPr>
          <p:nvPr>
            <p:ph idx="1"/>
          </p:nvPr>
        </p:nvSpPr>
        <p:spPr>
          <a:xfrm>
            <a:off x="539552" y="1773461"/>
            <a:ext cx="8161338" cy="4752528"/>
          </a:xfrm>
        </p:spPr>
        <p:txBody>
          <a:bodyPr/>
          <a:lstStyle/>
          <a:p>
            <a:pPr lvl="2">
              <a:buClr>
                <a:srgbClr val="FF0000"/>
              </a:buClr>
              <a:buSzPct val="100000"/>
            </a:pPr>
            <a:r>
              <a:rPr lang="zh-CN" altLang="en-US" sz="2400" dirty="0"/>
              <a:t>步骤四：选定触发器类型，求解电路的三大方程</a:t>
            </a:r>
          </a:p>
          <a:p>
            <a:endParaRPr lang="zh-CN" altLang="en-US" dirty="0"/>
          </a:p>
        </p:txBody>
      </p:sp>
      <p:sp>
        <p:nvSpPr>
          <p:cNvPr id="419847" name="Rectangle 7"/>
          <p:cNvSpPr>
            <a:spLocks noChangeArrowheads="1"/>
          </p:cNvSpPr>
          <p:nvPr/>
        </p:nvSpPr>
        <p:spPr bwMode="auto">
          <a:xfrm>
            <a:off x="1619251" y="2436403"/>
            <a:ext cx="6335712"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solidFill>
                  <a:srgbClr val="0000FF"/>
                </a:solidFill>
                <a:latin typeface="Garamond" panose="02020404030301010803" pitchFamily="18" charset="0"/>
                <a:ea typeface="黑体" panose="02010609060101010101" pitchFamily="49" charset="-122"/>
              </a:rPr>
              <a:t>解</a:t>
            </a:r>
            <a:r>
              <a:rPr lang="en-US" altLang="zh-CN" sz="2000" b="1" dirty="0">
                <a:solidFill>
                  <a:srgbClr val="0000FF"/>
                </a:solidFill>
                <a:latin typeface="Garamond" panose="02020404030301010803" pitchFamily="18" charset="0"/>
                <a:ea typeface="黑体" panose="02010609060101010101" pitchFamily="49" charset="-122"/>
              </a:rPr>
              <a:t>:</a:t>
            </a:r>
            <a:r>
              <a:rPr lang="zh-CN" altLang="en-US" sz="2000" b="1" dirty="0">
                <a:solidFill>
                  <a:srgbClr val="0000FF"/>
                </a:solidFill>
                <a:latin typeface="Garamond" panose="02020404030301010803" pitchFamily="18" charset="0"/>
                <a:ea typeface="黑体" panose="02010609060101010101" pitchFamily="49" charset="-122"/>
              </a:rPr>
              <a:t>（四）依题意，选用上边沿</a:t>
            </a:r>
            <a:r>
              <a:rPr lang="en-US" altLang="zh-CN" sz="2000" b="1" dirty="0">
                <a:solidFill>
                  <a:srgbClr val="0000FF"/>
                </a:solidFill>
                <a:latin typeface="Garamond" panose="02020404030301010803" pitchFamily="18" charset="0"/>
                <a:ea typeface="黑体" panose="02010609060101010101" pitchFamily="49" charset="-122"/>
              </a:rPr>
              <a:t>JK-FF</a:t>
            </a:r>
            <a:r>
              <a:rPr lang="zh-CN" altLang="en-US" sz="2000" b="1" dirty="0">
                <a:solidFill>
                  <a:srgbClr val="0000FF"/>
                </a:solidFill>
                <a:latin typeface="Garamond" panose="02020404030301010803" pitchFamily="18" charset="0"/>
                <a:ea typeface="黑体" panose="02010609060101010101" pitchFamily="49" charset="-122"/>
              </a:rPr>
              <a:t>。</a:t>
            </a:r>
          </a:p>
        </p:txBody>
      </p:sp>
      <p:graphicFrame>
        <p:nvGraphicFramePr>
          <p:cNvPr id="419848" name="Object 8"/>
          <p:cNvGraphicFramePr>
            <a:graphicFrameLocks noChangeAspect="1"/>
          </p:cNvGraphicFramePr>
          <p:nvPr>
            <p:extLst>
              <p:ext uri="{D42A27DB-BD31-4B8C-83A1-F6EECF244321}">
                <p14:modId xmlns:p14="http://schemas.microsoft.com/office/powerpoint/2010/main" xmlns="" val="103651489"/>
              </p:ext>
            </p:extLst>
          </p:nvPr>
        </p:nvGraphicFramePr>
        <p:xfrm>
          <a:off x="811662" y="2998787"/>
          <a:ext cx="1963738" cy="2735263"/>
        </p:xfrm>
        <a:graphic>
          <a:graphicData uri="http://schemas.openxmlformats.org/presentationml/2006/ole">
            <p:oleObj spid="_x0000_s9572" name="Visio" r:id="rId3" imgW="1515470" imgH="2099462" progId="">
              <p:embed/>
            </p:oleObj>
          </a:graphicData>
        </a:graphic>
      </p:graphicFrame>
      <p:graphicFrame>
        <p:nvGraphicFramePr>
          <p:cNvPr id="419849" name="Object 9"/>
          <p:cNvGraphicFramePr>
            <a:graphicFrameLocks noChangeAspect="1"/>
          </p:cNvGraphicFramePr>
          <p:nvPr>
            <p:extLst>
              <p:ext uri="{D42A27DB-BD31-4B8C-83A1-F6EECF244321}">
                <p14:modId xmlns:p14="http://schemas.microsoft.com/office/powerpoint/2010/main" xmlns="" val="4004150587"/>
              </p:ext>
            </p:extLst>
          </p:nvPr>
        </p:nvGraphicFramePr>
        <p:xfrm>
          <a:off x="2973613" y="2998787"/>
          <a:ext cx="2068512" cy="2881312"/>
        </p:xfrm>
        <a:graphic>
          <a:graphicData uri="http://schemas.openxmlformats.org/presentationml/2006/ole">
            <p:oleObj spid="_x0000_s9573" name="Visio" r:id="rId4" imgW="1515470" imgH="2099462" progId="">
              <p:embed/>
            </p:oleObj>
          </a:graphicData>
        </a:graphic>
      </p:graphicFrame>
      <p:grpSp>
        <p:nvGrpSpPr>
          <p:cNvPr id="419850" name="Group 10"/>
          <p:cNvGrpSpPr>
            <a:grpSpLocks/>
          </p:cNvGrpSpPr>
          <p:nvPr/>
        </p:nvGrpSpPr>
        <p:grpSpPr bwMode="auto">
          <a:xfrm>
            <a:off x="5435600" y="3284538"/>
            <a:ext cx="3095625" cy="1925637"/>
            <a:chOff x="3425" y="2068"/>
            <a:chExt cx="1950" cy="1213"/>
          </a:xfrm>
        </p:grpSpPr>
        <p:pic>
          <p:nvPicPr>
            <p:cNvPr id="419851" name="Picture 11" descr="74-138"/>
            <p:cNvPicPr>
              <a:picLocks noChangeAspect="1" noChangeArrowheads="1"/>
            </p:cNvPicPr>
            <p:nvPr/>
          </p:nvPicPr>
          <p:blipFill>
            <a:blip r:embed="rId5" cstate="print">
              <a:extLst>
                <a:ext uri="{28A0092B-C50C-407E-A947-70E740481C1C}">
                  <a14:useLocalDpi xmlns:a14="http://schemas.microsoft.com/office/drawing/2010/main" xmlns="" val="0"/>
                </a:ext>
              </a:extLst>
            </a:blip>
            <a:srcRect l="16438" t="25172" r="26570" b="20555"/>
            <a:stretch>
              <a:fillRect/>
            </a:stretch>
          </p:blipFill>
          <p:spPr bwMode="auto">
            <a:xfrm>
              <a:off x="3425" y="2068"/>
              <a:ext cx="1950" cy="1213"/>
            </a:xfrm>
            <a:prstGeom prst="rect">
              <a:avLst/>
            </a:prstGeom>
            <a:noFill/>
            <a:extLst>
              <a:ext uri="{909E8E84-426E-40DD-AFC4-6F175D3DCCD1}">
                <a14:hiddenFill xmlns:a14="http://schemas.microsoft.com/office/drawing/2010/main" xmlns="">
                  <a:solidFill>
                    <a:srgbClr val="FFFFFF"/>
                  </a:solidFill>
                </a14:hiddenFill>
              </a:ext>
            </a:extLst>
          </p:spPr>
        </p:pic>
        <p:sp>
          <p:nvSpPr>
            <p:cNvPr id="419852" name="Rectangle 12"/>
            <p:cNvSpPr>
              <a:spLocks noChangeArrowheads="1"/>
            </p:cNvSpPr>
            <p:nvPr/>
          </p:nvSpPr>
          <p:spPr bwMode="auto">
            <a:xfrm>
              <a:off x="3878" y="2341"/>
              <a:ext cx="1134" cy="272"/>
            </a:xfrm>
            <a:prstGeom prst="rect">
              <a:avLst/>
            </a:prstGeom>
            <a:solidFill>
              <a:schemeClr val="tx1"/>
            </a:solidFill>
            <a:ln w="9525">
              <a:solidFill>
                <a:schemeClr val="bg2"/>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r>
                <a:rPr lang="en-US" altLang="zh-CN" sz="2000" b="1">
                  <a:solidFill>
                    <a:srgbClr val="FF0000"/>
                  </a:solidFill>
                  <a:latin typeface="Garamond" panose="02020404030301010803" pitchFamily="18" charset="0"/>
                </a:rPr>
                <a:t>74HC112</a:t>
              </a:r>
            </a:p>
          </p:txBody>
        </p:sp>
      </p:grpSp>
      <p:sp>
        <p:nvSpPr>
          <p:cNvPr id="419853" name="Text Box 13"/>
          <p:cNvSpPr txBox="1">
            <a:spLocks noChangeArrowheads="1"/>
          </p:cNvSpPr>
          <p:nvPr/>
        </p:nvSpPr>
        <p:spPr bwMode="auto">
          <a:xfrm>
            <a:off x="2123728" y="6019302"/>
            <a:ext cx="5184775"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dirty="0">
                <a:latin typeface="楷体_GB2312" pitchFamily="49" charset="-122"/>
                <a:ea typeface="楷体_GB2312" pitchFamily="49" charset="-122"/>
              </a:rPr>
              <a:t>图</a:t>
            </a:r>
            <a:r>
              <a:rPr lang="en-US" altLang="zh-CN" b="1" dirty="0">
                <a:latin typeface="楷体_GB2312" pitchFamily="49" charset="-122"/>
                <a:ea typeface="楷体_GB2312" pitchFamily="49" charset="-122"/>
              </a:rPr>
              <a:t>6  </a:t>
            </a:r>
            <a:r>
              <a:rPr lang="zh-CN" altLang="en-US" b="1" dirty="0">
                <a:latin typeface="楷体_GB2312" pitchFamily="49" charset="-122"/>
                <a:ea typeface="楷体_GB2312" pitchFamily="49" charset="-122"/>
              </a:rPr>
              <a:t>边沿型</a:t>
            </a:r>
            <a:r>
              <a:rPr lang="en-US" altLang="zh-CN" b="1" dirty="0">
                <a:latin typeface="楷体_GB2312" pitchFamily="49" charset="-122"/>
                <a:ea typeface="楷体_GB2312" pitchFamily="49" charset="-122"/>
              </a:rPr>
              <a:t>JF-FF</a:t>
            </a:r>
            <a:r>
              <a:rPr lang="zh-CN" altLang="en-US" b="1" dirty="0">
                <a:latin typeface="楷体_GB2312" pitchFamily="49" charset="-122"/>
                <a:ea typeface="楷体_GB2312" pitchFamily="49" charset="-122"/>
              </a:rPr>
              <a:t>的逻辑符号及芯片实物图</a:t>
            </a:r>
          </a:p>
        </p:txBody>
      </p:sp>
      <p:sp>
        <p:nvSpPr>
          <p:cNvPr id="12" name="标题 1"/>
          <p:cNvSpPr txBox="1">
            <a:spLocks/>
          </p:cNvSpPr>
          <p:nvPr/>
        </p:nvSpPr>
        <p:spPr bwMode="auto">
          <a:xfrm>
            <a:off x="1259632" y="764704"/>
            <a:ext cx="741682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509640118"/>
      </p:ext>
    </p:extLst>
  </p:cSld>
  <p:clrMapOvr>
    <a:masterClrMapping/>
  </p:clrMapOvr>
  <p:transition advTm="11947"/>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0870" name="Rectangle 6"/>
          <p:cNvSpPr>
            <a:spLocks noChangeArrowheads="1"/>
          </p:cNvSpPr>
          <p:nvPr/>
        </p:nvSpPr>
        <p:spPr bwMode="auto">
          <a:xfrm>
            <a:off x="684213" y="1879550"/>
            <a:ext cx="583200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a:solidFill>
                  <a:srgbClr val="0000FF"/>
                </a:solidFill>
                <a:latin typeface="Garamond" panose="02020404030301010803" pitchFamily="18" charset="0"/>
                <a:ea typeface="黑体" panose="02010609060101010101" pitchFamily="49" charset="-122"/>
              </a:rPr>
              <a:t>解</a:t>
            </a:r>
            <a:r>
              <a:rPr lang="en-US" altLang="zh-CN" sz="2400" b="1" dirty="0">
                <a:solidFill>
                  <a:srgbClr val="0000FF"/>
                </a:solidFill>
                <a:latin typeface="Garamond" panose="02020404030301010803" pitchFamily="18" charset="0"/>
                <a:ea typeface="黑体" panose="02010609060101010101" pitchFamily="49" charset="-122"/>
              </a:rPr>
              <a:t>:</a:t>
            </a:r>
            <a:r>
              <a:rPr lang="zh-CN" altLang="en-US" sz="2400" b="1" dirty="0">
                <a:solidFill>
                  <a:srgbClr val="0000FF"/>
                </a:solidFill>
                <a:latin typeface="Garamond" panose="02020404030301010803" pitchFamily="18" charset="0"/>
                <a:ea typeface="黑体" panose="02010609060101010101" pitchFamily="49" charset="-122"/>
              </a:rPr>
              <a:t>（四）确定电路的状态方程</a:t>
            </a:r>
            <a:r>
              <a:rPr lang="en-US" altLang="zh-CN" sz="2400" b="1" dirty="0">
                <a:solidFill>
                  <a:srgbClr val="0000FF"/>
                </a:solidFill>
                <a:latin typeface="Garamond" panose="02020404030301010803" pitchFamily="18" charset="0"/>
                <a:ea typeface="黑体" panose="02010609060101010101" pitchFamily="49" charset="-122"/>
              </a:rPr>
              <a:t>:</a:t>
            </a:r>
          </a:p>
        </p:txBody>
      </p:sp>
      <p:sp>
        <p:nvSpPr>
          <p:cNvPr id="420871" name="Text Box 7"/>
          <p:cNvSpPr txBox="1">
            <a:spLocks noChangeArrowheads="1"/>
          </p:cNvSpPr>
          <p:nvPr/>
        </p:nvSpPr>
        <p:spPr bwMode="auto">
          <a:xfrm>
            <a:off x="2750390" y="6450755"/>
            <a:ext cx="4249737"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7(a)  【</a:t>
            </a:r>
            <a:r>
              <a:rPr lang="zh-CN" altLang="en-US" sz="2000" b="1" dirty="0" smtClean="0">
                <a:latin typeface="楷体_GB2312" pitchFamily="49" charset="-122"/>
                <a:ea typeface="楷体_GB2312" pitchFamily="49" charset="-122"/>
              </a:rPr>
              <a:t>例</a:t>
            </a:r>
            <a:r>
              <a:rPr lang="en-US" altLang="zh-CN" sz="2000" b="1" dirty="0" smtClean="0">
                <a:latin typeface="楷体_GB2312" pitchFamily="49" charset="-122"/>
                <a:ea typeface="楷体_GB2312" pitchFamily="49" charset="-122"/>
              </a:rPr>
              <a:t>】</a:t>
            </a:r>
            <a:r>
              <a:rPr lang="zh-CN" altLang="en-US" sz="2000" b="1" dirty="0">
                <a:latin typeface="楷体_GB2312" pitchFamily="49" charset="-122"/>
                <a:ea typeface="楷体_GB2312" pitchFamily="49" charset="-122"/>
              </a:rPr>
              <a:t>状态方程求解过程</a:t>
            </a:r>
          </a:p>
        </p:txBody>
      </p:sp>
      <p:grpSp>
        <p:nvGrpSpPr>
          <p:cNvPr id="420872" name="Group 8"/>
          <p:cNvGrpSpPr>
            <a:grpSpLocks/>
          </p:cNvGrpSpPr>
          <p:nvPr/>
        </p:nvGrpSpPr>
        <p:grpSpPr bwMode="auto">
          <a:xfrm>
            <a:off x="2987675" y="4183013"/>
            <a:ext cx="2663825" cy="2376487"/>
            <a:chOff x="1882" y="2069"/>
            <a:chExt cx="1678" cy="1497"/>
          </a:xfrm>
        </p:grpSpPr>
        <p:sp>
          <p:nvSpPr>
            <p:cNvPr id="420873" name="AutoShape 9"/>
            <p:cNvSpPr>
              <a:spLocks noChangeArrowheads="1"/>
            </p:cNvSpPr>
            <p:nvPr/>
          </p:nvSpPr>
          <p:spPr bwMode="auto">
            <a:xfrm>
              <a:off x="2789" y="2069"/>
              <a:ext cx="220" cy="382"/>
            </a:xfrm>
            <a:prstGeom prst="downArrow">
              <a:avLst>
                <a:gd name="adj1" fmla="val 50000"/>
                <a:gd name="adj2" fmla="val 43409"/>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zh-CN" altLang="en-US"/>
            </a:p>
          </p:txBody>
        </p:sp>
        <p:graphicFrame>
          <p:nvGraphicFramePr>
            <p:cNvPr id="420874" name="Object 10"/>
            <p:cNvGraphicFramePr>
              <a:graphicFrameLocks noChangeAspect="1"/>
            </p:cNvGraphicFramePr>
            <p:nvPr/>
          </p:nvGraphicFramePr>
          <p:xfrm>
            <a:off x="1882" y="2224"/>
            <a:ext cx="1678" cy="1342"/>
          </p:xfrm>
          <a:graphic>
            <a:graphicData uri="http://schemas.openxmlformats.org/presentationml/2006/ole">
              <p:oleObj spid="_x0000_s11127" name="Visio" r:id="rId3" imgW="1883254" imgH="1502696" progId="">
                <p:embed/>
              </p:oleObj>
            </a:graphicData>
          </a:graphic>
        </p:graphicFrame>
      </p:grpSp>
      <p:grpSp>
        <p:nvGrpSpPr>
          <p:cNvPr id="420875" name="Group 11"/>
          <p:cNvGrpSpPr>
            <a:grpSpLocks/>
          </p:cNvGrpSpPr>
          <p:nvPr/>
        </p:nvGrpSpPr>
        <p:grpSpPr bwMode="auto">
          <a:xfrm>
            <a:off x="4140200" y="5622875"/>
            <a:ext cx="1366838" cy="360363"/>
            <a:chOff x="1066" y="3475"/>
            <a:chExt cx="861" cy="227"/>
          </a:xfrm>
        </p:grpSpPr>
        <p:sp>
          <p:nvSpPr>
            <p:cNvPr id="420876" name="AutoShape 12"/>
            <p:cNvSpPr>
              <a:spLocks noChangeArrowheads="1"/>
            </p:cNvSpPr>
            <p:nvPr/>
          </p:nvSpPr>
          <p:spPr bwMode="auto">
            <a:xfrm>
              <a:off x="1066" y="3475"/>
              <a:ext cx="544" cy="227"/>
            </a:xfrm>
            <a:prstGeom prst="roundRect">
              <a:avLst>
                <a:gd name="adj" fmla="val 16667"/>
              </a:avLst>
            </a:prstGeom>
            <a:noFill/>
            <a:ln w="28575">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20877" name="AutoShape 13"/>
            <p:cNvSpPr>
              <a:spLocks noChangeArrowheads="1"/>
            </p:cNvSpPr>
            <p:nvPr/>
          </p:nvSpPr>
          <p:spPr bwMode="auto">
            <a:xfrm>
              <a:off x="1383" y="3475"/>
              <a:ext cx="544" cy="227"/>
            </a:xfrm>
            <a:prstGeom prst="roundRect">
              <a:avLst>
                <a:gd name="adj" fmla="val 16667"/>
              </a:avLst>
            </a:prstGeom>
            <a:noFill/>
            <a:ln w="28575">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graphicFrame>
        <p:nvGraphicFramePr>
          <p:cNvPr id="420878" name="Object 14"/>
          <p:cNvGraphicFramePr>
            <a:graphicFrameLocks noChangeAspect="1"/>
          </p:cNvGraphicFramePr>
          <p:nvPr>
            <p:extLst>
              <p:ext uri="{D42A27DB-BD31-4B8C-83A1-F6EECF244321}">
                <p14:modId xmlns:p14="http://schemas.microsoft.com/office/powerpoint/2010/main" xmlns="" val="2854509989"/>
              </p:ext>
            </p:extLst>
          </p:nvPr>
        </p:nvGraphicFramePr>
        <p:xfrm>
          <a:off x="611188" y="3247975"/>
          <a:ext cx="1511300" cy="420688"/>
        </p:xfrm>
        <a:graphic>
          <a:graphicData uri="http://schemas.openxmlformats.org/presentationml/2006/ole">
            <p:oleObj spid="_x0000_s11128" name="公式" r:id="rId4" imgW="863225" imgH="241195" progId="">
              <p:embed/>
            </p:oleObj>
          </a:graphicData>
        </a:graphic>
      </p:graphicFrame>
      <p:graphicFrame>
        <p:nvGraphicFramePr>
          <p:cNvPr id="420879" name="Object 15"/>
          <p:cNvGraphicFramePr>
            <a:graphicFrameLocks noChangeAspect="1"/>
          </p:cNvGraphicFramePr>
          <p:nvPr>
            <p:extLst>
              <p:ext uri="{D42A27DB-BD31-4B8C-83A1-F6EECF244321}">
                <p14:modId xmlns:p14="http://schemas.microsoft.com/office/powerpoint/2010/main" xmlns="" val="1151022714"/>
              </p:ext>
            </p:extLst>
          </p:nvPr>
        </p:nvGraphicFramePr>
        <p:xfrm>
          <a:off x="1979613" y="2466925"/>
          <a:ext cx="4679950" cy="1682750"/>
        </p:xfrm>
        <a:graphic>
          <a:graphicData uri="http://schemas.openxmlformats.org/presentationml/2006/ole">
            <p:oleObj spid="_x0000_s11129" name="Visio" r:id="rId5" imgW="3323549" imgH="1206238" progId="">
              <p:embed/>
            </p:oleObj>
          </a:graphicData>
        </a:graphic>
      </p:graphicFrame>
      <p:sp>
        <p:nvSpPr>
          <p:cNvPr id="420880" name="Text Box 16"/>
          <p:cNvSpPr txBox="1">
            <a:spLocks noChangeArrowheads="1"/>
          </p:cNvSpPr>
          <p:nvPr/>
        </p:nvSpPr>
        <p:spPr bwMode="auto">
          <a:xfrm>
            <a:off x="2700338" y="3103513"/>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0000"/>
                </a:solidFill>
              </a:rPr>
              <a:t>0</a:t>
            </a:r>
          </a:p>
        </p:txBody>
      </p:sp>
      <p:sp>
        <p:nvSpPr>
          <p:cNvPr id="420881" name="Text Box 17"/>
          <p:cNvSpPr txBox="1">
            <a:spLocks noChangeArrowheads="1"/>
          </p:cNvSpPr>
          <p:nvPr/>
        </p:nvSpPr>
        <p:spPr bwMode="auto">
          <a:xfrm>
            <a:off x="3708400" y="3103513"/>
            <a:ext cx="3603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0000"/>
                </a:solidFill>
              </a:rPr>
              <a:t>0</a:t>
            </a:r>
          </a:p>
        </p:txBody>
      </p:sp>
      <p:sp>
        <p:nvSpPr>
          <p:cNvPr id="420882" name="Text Box 18"/>
          <p:cNvSpPr txBox="1">
            <a:spLocks noChangeArrowheads="1"/>
          </p:cNvSpPr>
          <p:nvPr/>
        </p:nvSpPr>
        <p:spPr bwMode="auto">
          <a:xfrm>
            <a:off x="4716463" y="3103513"/>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0000"/>
                </a:solidFill>
              </a:rPr>
              <a:t>x</a:t>
            </a:r>
          </a:p>
        </p:txBody>
      </p:sp>
      <p:sp>
        <p:nvSpPr>
          <p:cNvPr id="420883" name="Text Box 19"/>
          <p:cNvSpPr txBox="1">
            <a:spLocks noChangeArrowheads="1"/>
          </p:cNvSpPr>
          <p:nvPr/>
        </p:nvSpPr>
        <p:spPr bwMode="auto">
          <a:xfrm>
            <a:off x="5724525" y="3103513"/>
            <a:ext cx="3603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0000"/>
                </a:solidFill>
              </a:rPr>
              <a:t>0</a:t>
            </a:r>
          </a:p>
        </p:txBody>
      </p:sp>
      <p:sp>
        <p:nvSpPr>
          <p:cNvPr id="420884" name="Text Box 20"/>
          <p:cNvSpPr txBox="1">
            <a:spLocks noChangeArrowheads="1"/>
          </p:cNvSpPr>
          <p:nvPr/>
        </p:nvSpPr>
        <p:spPr bwMode="auto">
          <a:xfrm>
            <a:off x="2700338" y="3582938"/>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0000"/>
                </a:solidFill>
              </a:rPr>
              <a:t>0</a:t>
            </a:r>
          </a:p>
        </p:txBody>
      </p:sp>
      <p:sp>
        <p:nvSpPr>
          <p:cNvPr id="420885" name="Text Box 21"/>
          <p:cNvSpPr txBox="1">
            <a:spLocks noChangeArrowheads="1"/>
          </p:cNvSpPr>
          <p:nvPr/>
        </p:nvSpPr>
        <p:spPr bwMode="auto">
          <a:xfrm>
            <a:off x="3706813" y="3606750"/>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0000"/>
                </a:solidFill>
              </a:rPr>
              <a:t>1</a:t>
            </a:r>
          </a:p>
        </p:txBody>
      </p:sp>
      <p:sp>
        <p:nvSpPr>
          <p:cNvPr id="420886" name="Text Box 22"/>
          <p:cNvSpPr txBox="1">
            <a:spLocks noChangeArrowheads="1"/>
          </p:cNvSpPr>
          <p:nvPr/>
        </p:nvSpPr>
        <p:spPr bwMode="auto">
          <a:xfrm>
            <a:off x="4716463" y="3582938"/>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0000"/>
                </a:solidFill>
              </a:rPr>
              <a:t>x</a:t>
            </a:r>
          </a:p>
        </p:txBody>
      </p:sp>
      <p:sp>
        <p:nvSpPr>
          <p:cNvPr id="420887" name="Text Box 23"/>
          <p:cNvSpPr txBox="1">
            <a:spLocks noChangeArrowheads="1"/>
          </p:cNvSpPr>
          <p:nvPr/>
        </p:nvSpPr>
        <p:spPr bwMode="auto">
          <a:xfrm>
            <a:off x="5724525" y="3606750"/>
            <a:ext cx="3603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0000"/>
                </a:solidFill>
              </a:rPr>
              <a:t>1</a:t>
            </a:r>
          </a:p>
        </p:txBody>
      </p:sp>
      <p:grpSp>
        <p:nvGrpSpPr>
          <p:cNvPr id="420888" name="Group 24"/>
          <p:cNvGrpSpPr>
            <a:grpSpLocks/>
          </p:cNvGrpSpPr>
          <p:nvPr/>
        </p:nvGrpSpPr>
        <p:grpSpPr bwMode="auto">
          <a:xfrm>
            <a:off x="7092950" y="4614813"/>
            <a:ext cx="1223963" cy="609600"/>
            <a:chOff x="4513" y="2341"/>
            <a:chExt cx="771" cy="384"/>
          </a:xfrm>
        </p:grpSpPr>
        <p:sp>
          <p:nvSpPr>
            <p:cNvPr id="420889" name="AutoShape 25"/>
            <p:cNvSpPr>
              <a:spLocks/>
            </p:cNvSpPr>
            <p:nvPr/>
          </p:nvSpPr>
          <p:spPr bwMode="auto">
            <a:xfrm>
              <a:off x="4513" y="2341"/>
              <a:ext cx="771" cy="384"/>
            </a:xfrm>
            <a:prstGeom prst="borderCallout2">
              <a:avLst>
                <a:gd name="adj1" fmla="val 18750"/>
                <a:gd name="adj2" fmla="val -6227"/>
                <a:gd name="adj3" fmla="val 18750"/>
                <a:gd name="adj4" fmla="val -67963"/>
                <a:gd name="adj5" fmla="val 180468"/>
                <a:gd name="adj6" fmla="val -131778"/>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zh-CN" sz="1800">
                <a:latin typeface="Garamond" panose="02020404030301010803" pitchFamily="18" charset="0"/>
              </a:endParaRPr>
            </a:p>
          </p:txBody>
        </p:sp>
        <p:graphicFrame>
          <p:nvGraphicFramePr>
            <p:cNvPr id="420890" name="Object 26"/>
            <p:cNvGraphicFramePr>
              <a:graphicFrameLocks noChangeAspect="1"/>
            </p:cNvGraphicFramePr>
            <p:nvPr/>
          </p:nvGraphicFramePr>
          <p:xfrm>
            <a:off x="4694" y="2387"/>
            <a:ext cx="416" cy="300"/>
          </p:xfrm>
          <a:graphic>
            <a:graphicData uri="http://schemas.openxmlformats.org/presentationml/2006/ole">
              <p:oleObj spid="_x0000_s11130" name="公式" r:id="rId6" imgW="285480" imgH="205560" progId="">
                <p:embed/>
              </p:oleObj>
            </a:graphicData>
          </a:graphic>
        </p:graphicFrame>
      </p:grpSp>
      <p:grpSp>
        <p:nvGrpSpPr>
          <p:cNvPr id="420891" name="Group 27"/>
          <p:cNvGrpSpPr>
            <a:grpSpLocks/>
          </p:cNvGrpSpPr>
          <p:nvPr/>
        </p:nvGrpSpPr>
        <p:grpSpPr bwMode="auto">
          <a:xfrm>
            <a:off x="1116013" y="6199138"/>
            <a:ext cx="1223962" cy="609600"/>
            <a:chOff x="703" y="3339"/>
            <a:chExt cx="771" cy="384"/>
          </a:xfrm>
        </p:grpSpPr>
        <p:sp>
          <p:nvSpPr>
            <p:cNvPr id="420892" name="AutoShape 28"/>
            <p:cNvSpPr>
              <a:spLocks/>
            </p:cNvSpPr>
            <p:nvPr/>
          </p:nvSpPr>
          <p:spPr bwMode="auto">
            <a:xfrm>
              <a:off x="703" y="3339"/>
              <a:ext cx="771" cy="384"/>
            </a:xfrm>
            <a:prstGeom prst="borderCallout2">
              <a:avLst>
                <a:gd name="adj1" fmla="val 18750"/>
                <a:gd name="adj2" fmla="val 106227"/>
                <a:gd name="adj3" fmla="val 18750"/>
                <a:gd name="adj4" fmla="val 180417"/>
                <a:gd name="adj5" fmla="val -45051"/>
                <a:gd name="adj6" fmla="val 257069"/>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zh-CN" sz="1800">
                <a:latin typeface="Garamond" panose="02020404030301010803" pitchFamily="18" charset="0"/>
              </a:endParaRPr>
            </a:p>
          </p:txBody>
        </p:sp>
        <p:graphicFrame>
          <p:nvGraphicFramePr>
            <p:cNvPr id="420893" name="Object 29"/>
            <p:cNvGraphicFramePr>
              <a:graphicFrameLocks noChangeAspect="1"/>
            </p:cNvGraphicFramePr>
            <p:nvPr/>
          </p:nvGraphicFramePr>
          <p:xfrm>
            <a:off x="884" y="3385"/>
            <a:ext cx="416" cy="317"/>
          </p:xfrm>
          <a:graphic>
            <a:graphicData uri="http://schemas.openxmlformats.org/presentationml/2006/ole">
              <p:oleObj spid="_x0000_s11131" name="公式" r:id="rId7" imgW="285480" imgH="214560" progId="">
                <p:embed/>
              </p:oleObj>
            </a:graphicData>
          </a:graphic>
        </p:graphicFrame>
      </p:grpSp>
      <p:sp>
        <p:nvSpPr>
          <p:cNvPr id="420895" name="AutoShape 31"/>
          <p:cNvSpPr>
            <a:spLocks/>
          </p:cNvSpPr>
          <p:nvPr/>
        </p:nvSpPr>
        <p:spPr bwMode="auto">
          <a:xfrm>
            <a:off x="7019925" y="1950988"/>
            <a:ext cx="1296988" cy="1150937"/>
          </a:xfrm>
          <a:prstGeom prst="borderCallout2">
            <a:avLst>
              <a:gd name="adj1" fmla="val 9931"/>
              <a:gd name="adj2" fmla="val -5875"/>
              <a:gd name="adj3" fmla="val 9931"/>
              <a:gd name="adj4" fmla="val -50431"/>
              <a:gd name="adj5" fmla="val 89380"/>
              <a:gd name="adj6" fmla="val -96574"/>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b="1">
                <a:solidFill>
                  <a:srgbClr val="0000FF"/>
                </a:solidFill>
                <a:latin typeface="Times New Roman" panose="02020603050405020304" pitchFamily="18" charset="0"/>
              </a:rPr>
              <a:t>S</a:t>
            </a:r>
            <a:r>
              <a:rPr lang="en-US" altLang="zh-CN" sz="1800" b="1">
                <a:solidFill>
                  <a:srgbClr val="0000FF"/>
                </a:solidFill>
                <a:latin typeface="Times New Roman" panose="02020603050405020304" pitchFamily="18" charset="0"/>
              </a:rPr>
              <a:t>0</a:t>
            </a:r>
            <a:r>
              <a:rPr lang="en-US" altLang="zh-CN" b="1">
                <a:solidFill>
                  <a:srgbClr val="0000FF"/>
                </a:solidFill>
                <a:latin typeface="Times New Roman" panose="02020603050405020304" pitchFamily="18" charset="0"/>
              </a:rPr>
              <a:t>=00</a:t>
            </a:r>
          </a:p>
          <a:p>
            <a:pPr algn="ctr"/>
            <a:r>
              <a:rPr lang="en-US" altLang="zh-CN" b="1">
                <a:solidFill>
                  <a:srgbClr val="0000FF"/>
                </a:solidFill>
                <a:latin typeface="Times New Roman" panose="02020603050405020304" pitchFamily="18" charset="0"/>
              </a:rPr>
              <a:t>S</a:t>
            </a:r>
            <a:r>
              <a:rPr lang="en-US" altLang="zh-CN" sz="1800" b="1">
                <a:solidFill>
                  <a:srgbClr val="0000FF"/>
                </a:solidFill>
                <a:latin typeface="Times New Roman" panose="02020603050405020304" pitchFamily="18" charset="0"/>
              </a:rPr>
              <a:t>1</a:t>
            </a:r>
            <a:r>
              <a:rPr lang="en-US" altLang="zh-CN" b="1">
                <a:solidFill>
                  <a:srgbClr val="0000FF"/>
                </a:solidFill>
                <a:latin typeface="Times New Roman" panose="02020603050405020304" pitchFamily="18" charset="0"/>
              </a:rPr>
              <a:t>=01</a:t>
            </a:r>
          </a:p>
          <a:p>
            <a:pPr algn="ctr"/>
            <a:r>
              <a:rPr lang="en-US" altLang="zh-CN" b="1">
                <a:solidFill>
                  <a:srgbClr val="0000FF"/>
                </a:solidFill>
                <a:latin typeface="Times New Roman" panose="02020603050405020304" pitchFamily="18" charset="0"/>
              </a:rPr>
              <a:t>S</a:t>
            </a:r>
            <a:r>
              <a:rPr lang="en-US" altLang="zh-CN" sz="1800" b="1">
                <a:solidFill>
                  <a:srgbClr val="0000FF"/>
                </a:solidFill>
                <a:latin typeface="Times New Roman" panose="02020603050405020304" pitchFamily="18" charset="0"/>
              </a:rPr>
              <a:t>2</a:t>
            </a:r>
            <a:r>
              <a:rPr lang="en-US" altLang="zh-CN" b="1">
                <a:solidFill>
                  <a:srgbClr val="0000FF"/>
                </a:solidFill>
                <a:latin typeface="Times New Roman" panose="02020603050405020304" pitchFamily="18" charset="0"/>
              </a:rPr>
              <a:t>=10</a:t>
            </a:r>
          </a:p>
        </p:txBody>
      </p:sp>
      <p:sp>
        <p:nvSpPr>
          <p:cNvPr id="28" name="标题 1"/>
          <p:cNvSpPr txBox="1">
            <a:spLocks/>
          </p:cNvSpPr>
          <p:nvPr/>
        </p:nvSpPr>
        <p:spPr bwMode="auto">
          <a:xfrm>
            <a:off x="1367136" y="764704"/>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686739491"/>
      </p:ext>
    </p:extLst>
  </p:cSld>
  <p:clrMapOvr>
    <a:masterClrMapping/>
  </p:clrMapOvr>
  <p:transition advTm="11947"/>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0872"/>
                                        </p:tgtEl>
                                        <p:attrNameLst>
                                          <p:attrName>style.visibility</p:attrName>
                                        </p:attrNameLst>
                                      </p:cBhvr>
                                      <p:to>
                                        <p:strVal val="visible"/>
                                      </p:to>
                                    </p:set>
                                    <p:animEffect transition="in" filter="blinds(horizontal)">
                                      <p:cBhvr>
                                        <p:cTn id="7" dur="500"/>
                                        <p:tgtEl>
                                          <p:spTgt spid="42087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0" presetClass="path" presetSubtype="0" accel="50000" decel="50000" fill="hold" grpId="0" nodeType="clickEffect">
                                  <p:stCondLst>
                                    <p:cond delay="0"/>
                                  </p:stCondLst>
                                  <p:childTnLst>
                                    <p:animMotion origin="layout" path="M -5.55556E-7 3.7037E-7 L 0.09844 0.29213 " pathEditMode="relative" rAng="0" ptsTypes="AA">
                                      <p:cBhvr>
                                        <p:cTn id="11" dur="500" fill="hold"/>
                                        <p:tgtEl>
                                          <p:spTgt spid="420880"/>
                                        </p:tgtEl>
                                        <p:attrNameLst>
                                          <p:attrName>ppt_x</p:attrName>
                                          <p:attrName>ppt_y</p:attrName>
                                        </p:attrNameLst>
                                      </p:cBhvr>
                                      <p:rCtr x="4913" y="14606"/>
                                    </p:animMotion>
                                  </p:childTnLst>
                                </p:cTn>
                              </p:par>
                            </p:childTnLst>
                          </p:cTn>
                        </p:par>
                        <p:par>
                          <p:cTn id="12" fill="hold" nodeType="afterGroup">
                            <p:stCondLst>
                              <p:cond delay="500"/>
                            </p:stCondLst>
                            <p:childTnLst>
                              <p:par>
                                <p:cTn id="13" presetID="0" presetClass="path" presetSubtype="0" accel="50000" decel="50000" fill="hold" grpId="0" nodeType="afterEffect">
                                  <p:stCondLst>
                                    <p:cond delay="0"/>
                                  </p:stCondLst>
                                  <p:childTnLst>
                                    <p:animMotion origin="layout" path="M -3.61111E-6 3.7037E-7 L 0.05122 0.29213 " pathEditMode="relative" rAng="0" ptsTypes="AA">
                                      <p:cBhvr>
                                        <p:cTn id="14" dur="500" fill="hold"/>
                                        <p:tgtEl>
                                          <p:spTgt spid="420881"/>
                                        </p:tgtEl>
                                        <p:attrNameLst>
                                          <p:attrName>ppt_x</p:attrName>
                                          <p:attrName>ppt_y</p:attrName>
                                        </p:attrNameLst>
                                      </p:cBhvr>
                                      <p:rCtr x="2552" y="14606"/>
                                    </p:animMotion>
                                  </p:childTnLst>
                                </p:cTn>
                              </p:par>
                            </p:childTnLst>
                          </p:cTn>
                        </p:par>
                        <p:par>
                          <p:cTn id="15" fill="hold" nodeType="afterGroup">
                            <p:stCondLst>
                              <p:cond delay="1000"/>
                            </p:stCondLst>
                            <p:childTnLst>
                              <p:par>
                                <p:cTn id="16" presetID="0" presetClass="path" presetSubtype="0" accel="50000" decel="50000" fill="hold" grpId="0" nodeType="afterEffect">
                                  <p:stCondLst>
                                    <p:cond delay="0"/>
                                  </p:stCondLst>
                                  <p:childTnLst>
                                    <p:animMotion origin="layout" path="M 3.33333E-6 3.7037E-7 L -0.004 0.29213 " pathEditMode="relative" rAng="0" ptsTypes="AA">
                                      <p:cBhvr>
                                        <p:cTn id="17" dur="500" fill="hold"/>
                                        <p:tgtEl>
                                          <p:spTgt spid="420882"/>
                                        </p:tgtEl>
                                        <p:attrNameLst>
                                          <p:attrName>ppt_x</p:attrName>
                                          <p:attrName>ppt_y</p:attrName>
                                        </p:attrNameLst>
                                      </p:cBhvr>
                                      <p:rCtr x="-208" y="14606"/>
                                    </p:animMotion>
                                  </p:childTnLst>
                                </p:cTn>
                              </p:par>
                            </p:childTnLst>
                          </p:cTn>
                        </p:par>
                        <p:par>
                          <p:cTn id="18" fill="hold" nodeType="afterGroup">
                            <p:stCondLst>
                              <p:cond delay="1500"/>
                            </p:stCondLst>
                            <p:childTnLst>
                              <p:par>
                                <p:cTn id="19" presetID="0" presetClass="path" presetSubtype="0" accel="50000" decel="50000" fill="hold" grpId="0" nodeType="afterEffect">
                                  <p:stCondLst>
                                    <p:cond delay="0"/>
                                  </p:stCondLst>
                                  <p:childTnLst>
                                    <p:animMotion origin="layout" path="M 2.77778E-7 3.7037E-7 L -0.05903 0.29213 " pathEditMode="relative" rAng="0" ptsTypes="AA">
                                      <p:cBhvr>
                                        <p:cTn id="20" dur="500" fill="hold"/>
                                        <p:tgtEl>
                                          <p:spTgt spid="420883"/>
                                        </p:tgtEl>
                                        <p:attrNameLst>
                                          <p:attrName>ppt_x</p:attrName>
                                          <p:attrName>ppt_y</p:attrName>
                                        </p:attrNameLst>
                                      </p:cBhvr>
                                      <p:rCtr x="-2951" y="14606"/>
                                    </p:animMotion>
                                  </p:childTnLst>
                                </p:cTn>
                              </p:par>
                            </p:childTnLst>
                          </p:cTn>
                        </p:par>
                        <p:par>
                          <p:cTn id="21" fill="hold" nodeType="afterGroup">
                            <p:stCondLst>
                              <p:cond delay="2000"/>
                            </p:stCondLst>
                            <p:childTnLst>
                              <p:par>
                                <p:cTn id="22" presetID="0" presetClass="path" presetSubtype="0" accel="50000" decel="50000" fill="hold" grpId="0" nodeType="afterEffect">
                                  <p:stCondLst>
                                    <p:cond delay="0"/>
                                  </p:stCondLst>
                                  <p:childTnLst>
                                    <p:animMotion origin="layout" path="M -5.55556E-7 2.96296E-6 L 0.09844 0.29213 " pathEditMode="relative" rAng="0" ptsTypes="AA">
                                      <p:cBhvr>
                                        <p:cTn id="23" dur="500" fill="hold"/>
                                        <p:tgtEl>
                                          <p:spTgt spid="420884"/>
                                        </p:tgtEl>
                                        <p:attrNameLst>
                                          <p:attrName>ppt_x</p:attrName>
                                          <p:attrName>ppt_y</p:attrName>
                                        </p:attrNameLst>
                                      </p:cBhvr>
                                      <p:rCtr x="4913" y="14606"/>
                                    </p:animMotion>
                                  </p:childTnLst>
                                </p:cTn>
                              </p:par>
                            </p:childTnLst>
                          </p:cTn>
                        </p:par>
                        <p:par>
                          <p:cTn id="24" fill="hold" nodeType="afterGroup">
                            <p:stCondLst>
                              <p:cond delay="2500"/>
                            </p:stCondLst>
                            <p:childTnLst>
                              <p:par>
                                <p:cTn id="25" presetID="0" presetClass="path" presetSubtype="0" accel="50000" decel="50000" fill="hold" grpId="0" nodeType="afterEffect">
                                  <p:stCondLst>
                                    <p:cond delay="0"/>
                                  </p:stCondLst>
                                  <p:childTnLst>
                                    <p:animMotion origin="layout" path="M 5.55112E-17 7.40741E-7 L 0.05122 0.29213 " pathEditMode="relative" rAng="0" ptsTypes="AA">
                                      <p:cBhvr>
                                        <p:cTn id="26" dur="500" fill="hold"/>
                                        <p:tgtEl>
                                          <p:spTgt spid="420885"/>
                                        </p:tgtEl>
                                        <p:attrNameLst>
                                          <p:attrName>ppt_x</p:attrName>
                                          <p:attrName>ppt_y</p:attrName>
                                        </p:attrNameLst>
                                      </p:cBhvr>
                                      <p:rCtr x="2552" y="14606"/>
                                    </p:animMotion>
                                  </p:childTnLst>
                                </p:cTn>
                              </p:par>
                            </p:childTnLst>
                          </p:cTn>
                        </p:par>
                        <p:par>
                          <p:cTn id="27" fill="hold" nodeType="afterGroup">
                            <p:stCondLst>
                              <p:cond delay="3000"/>
                            </p:stCondLst>
                            <p:childTnLst>
                              <p:par>
                                <p:cTn id="28" presetID="0" presetClass="path" presetSubtype="0" accel="50000" decel="50000" fill="hold" grpId="0" nodeType="afterEffect">
                                  <p:stCondLst>
                                    <p:cond delay="0"/>
                                  </p:stCondLst>
                                  <p:childTnLst>
                                    <p:animMotion origin="layout" path="M 3.33333E-6 2.96296E-6 L -0.004 0.29213 " pathEditMode="relative" rAng="0" ptsTypes="AA">
                                      <p:cBhvr>
                                        <p:cTn id="29" dur="500" fill="hold"/>
                                        <p:tgtEl>
                                          <p:spTgt spid="420886"/>
                                        </p:tgtEl>
                                        <p:attrNameLst>
                                          <p:attrName>ppt_x</p:attrName>
                                          <p:attrName>ppt_y</p:attrName>
                                        </p:attrNameLst>
                                      </p:cBhvr>
                                      <p:rCtr x="-208" y="14606"/>
                                    </p:animMotion>
                                  </p:childTnLst>
                                </p:cTn>
                              </p:par>
                            </p:childTnLst>
                          </p:cTn>
                        </p:par>
                        <p:par>
                          <p:cTn id="30" fill="hold" nodeType="afterGroup">
                            <p:stCondLst>
                              <p:cond delay="3500"/>
                            </p:stCondLst>
                            <p:childTnLst>
                              <p:par>
                                <p:cTn id="31" presetID="0" presetClass="path" presetSubtype="0" accel="50000" decel="50000" fill="hold" grpId="0" nodeType="afterEffect">
                                  <p:stCondLst>
                                    <p:cond delay="0"/>
                                  </p:stCondLst>
                                  <p:childTnLst>
                                    <p:animMotion origin="layout" path="M 2.77778E-7 7.40741E-7 L -0.05903 0.29213 " pathEditMode="relative" rAng="0" ptsTypes="AA">
                                      <p:cBhvr>
                                        <p:cTn id="32" dur="500" fill="hold"/>
                                        <p:tgtEl>
                                          <p:spTgt spid="420887"/>
                                        </p:tgtEl>
                                        <p:attrNameLst>
                                          <p:attrName>ppt_x</p:attrName>
                                          <p:attrName>ppt_y</p:attrName>
                                        </p:attrNameLst>
                                      </p:cBhvr>
                                      <p:rCtr x="-2951" y="14606"/>
                                    </p:animMotion>
                                  </p:childTnLst>
                                </p:cTn>
                              </p:par>
                            </p:childTnLst>
                          </p:cTn>
                        </p:par>
                      </p:childTnLst>
                    </p:cTn>
                  </p:par>
                  <p:par>
                    <p:cTn id="33" fill="hold" nodeType="clickPar">
                      <p:stCondLst>
                        <p:cond delay="indefinite"/>
                      </p:stCondLst>
                      <p:childTnLst>
                        <p:par>
                          <p:cTn id="34" fill="hold" nodeType="withGroup">
                            <p:stCondLst>
                              <p:cond delay="0"/>
                            </p:stCondLst>
                            <p:childTnLst>
                              <p:par>
                                <p:cTn id="35" presetID="20" presetClass="entr" presetSubtype="0" fill="hold" nodeType="clickEffect">
                                  <p:stCondLst>
                                    <p:cond delay="0"/>
                                  </p:stCondLst>
                                  <p:childTnLst>
                                    <p:set>
                                      <p:cBhvr>
                                        <p:cTn id="36" dur="1" fill="hold">
                                          <p:stCondLst>
                                            <p:cond delay="0"/>
                                          </p:stCondLst>
                                        </p:cTn>
                                        <p:tgtEl>
                                          <p:spTgt spid="420875"/>
                                        </p:tgtEl>
                                        <p:attrNameLst>
                                          <p:attrName>style.visibility</p:attrName>
                                        </p:attrNameLst>
                                      </p:cBhvr>
                                      <p:to>
                                        <p:strVal val="visible"/>
                                      </p:to>
                                    </p:set>
                                    <p:animEffect transition="in" filter="wedge">
                                      <p:cBhvr>
                                        <p:cTn id="37" dur="2000"/>
                                        <p:tgtEl>
                                          <p:spTgt spid="42087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20888"/>
                                        </p:tgtEl>
                                        <p:attrNameLst>
                                          <p:attrName>style.visibility</p:attrName>
                                        </p:attrNameLst>
                                      </p:cBhvr>
                                      <p:to>
                                        <p:strVal val="visible"/>
                                      </p:to>
                                    </p:set>
                                    <p:animEffect transition="in" filter="blinds(horizontal)">
                                      <p:cBhvr>
                                        <p:cTn id="42" dur="500"/>
                                        <p:tgtEl>
                                          <p:spTgt spid="42088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420891"/>
                                        </p:tgtEl>
                                        <p:attrNameLst>
                                          <p:attrName>style.visibility</p:attrName>
                                        </p:attrNameLst>
                                      </p:cBhvr>
                                      <p:to>
                                        <p:strVal val="visible"/>
                                      </p:to>
                                    </p:set>
                                    <p:animEffect transition="in" filter="blinds(horizontal)">
                                      <p:cBhvr>
                                        <p:cTn id="47" dur="500"/>
                                        <p:tgtEl>
                                          <p:spTgt spid="4208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0880" grpId="0"/>
      <p:bldP spid="420881" grpId="0"/>
      <p:bldP spid="420882" grpId="0"/>
      <p:bldP spid="420883" grpId="0"/>
      <p:bldP spid="420884" grpId="0"/>
      <p:bldP spid="420885" grpId="0"/>
      <p:bldP spid="420886" grpId="0"/>
      <p:bldP spid="420887" grpId="0"/>
    </p:bldLst>
  </p:timing>
</p:sld>
</file>

<file path=ppt/slides/slide3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1894" name="Rectangle 6"/>
          <p:cNvSpPr>
            <a:spLocks noChangeArrowheads="1"/>
          </p:cNvSpPr>
          <p:nvPr/>
        </p:nvSpPr>
        <p:spPr bwMode="auto">
          <a:xfrm>
            <a:off x="972815" y="1929694"/>
            <a:ext cx="6335712"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solidFill>
                  <a:srgbClr val="0000FF"/>
                </a:solidFill>
                <a:latin typeface="+mn-ea"/>
              </a:rPr>
              <a:t>解</a:t>
            </a:r>
            <a:r>
              <a:rPr lang="en-US" altLang="zh-CN" sz="2000" b="1" dirty="0">
                <a:solidFill>
                  <a:srgbClr val="0000FF"/>
                </a:solidFill>
                <a:latin typeface="+mn-ea"/>
              </a:rPr>
              <a:t>:</a:t>
            </a:r>
            <a:r>
              <a:rPr lang="zh-CN" altLang="en-US" sz="2000" b="1" dirty="0">
                <a:solidFill>
                  <a:srgbClr val="0000FF"/>
                </a:solidFill>
                <a:latin typeface="+mn-ea"/>
              </a:rPr>
              <a:t>（四）确定电路的状态方程</a:t>
            </a:r>
            <a:r>
              <a:rPr lang="en-US" altLang="zh-CN" sz="2000" b="1" dirty="0">
                <a:solidFill>
                  <a:srgbClr val="0000FF"/>
                </a:solidFill>
                <a:latin typeface="+mn-ea"/>
              </a:rPr>
              <a:t>:</a:t>
            </a:r>
          </a:p>
        </p:txBody>
      </p:sp>
      <p:sp>
        <p:nvSpPr>
          <p:cNvPr id="421895" name="Text Box 7"/>
          <p:cNvSpPr txBox="1">
            <a:spLocks noChangeArrowheads="1"/>
          </p:cNvSpPr>
          <p:nvPr/>
        </p:nvSpPr>
        <p:spPr bwMode="auto">
          <a:xfrm>
            <a:off x="2788122" y="6468343"/>
            <a:ext cx="424973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dirty="0">
                <a:latin typeface="+mn-ea"/>
              </a:rPr>
              <a:t>图</a:t>
            </a:r>
            <a:r>
              <a:rPr lang="en-US" altLang="zh-CN" b="1" dirty="0">
                <a:latin typeface="+mn-ea"/>
              </a:rPr>
              <a:t>7(b)  【</a:t>
            </a:r>
            <a:r>
              <a:rPr lang="zh-CN" altLang="en-US" b="1" dirty="0" smtClean="0">
                <a:latin typeface="+mn-ea"/>
              </a:rPr>
              <a:t>例</a:t>
            </a:r>
            <a:r>
              <a:rPr lang="en-US" altLang="zh-CN" b="1" dirty="0" smtClean="0">
                <a:latin typeface="+mn-ea"/>
              </a:rPr>
              <a:t>】</a:t>
            </a:r>
            <a:r>
              <a:rPr lang="zh-CN" altLang="en-US" b="1" dirty="0">
                <a:latin typeface="+mn-ea"/>
              </a:rPr>
              <a:t>状态方程求解过程</a:t>
            </a:r>
          </a:p>
        </p:txBody>
      </p:sp>
      <p:sp>
        <p:nvSpPr>
          <p:cNvPr id="421896" name="AutoShape 8"/>
          <p:cNvSpPr>
            <a:spLocks noChangeArrowheads="1"/>
          </p:cNvSpPr>
          <p:nvPr/>
        </p:nvSpPr>
        <p:spPr bwMode="auto">
          <a:xfrm>
            <a:off x="4643909" y="4148287"/>
            <a:ext cx="349250" cy="606425"/>
          </a:xfrm>
          <a:prstGeom prst="downArrow">
            <a:avLst>
              <a:gd name="adj1" fmla="val 50000"/>
              <a:gd name="adj2" fmla="val 43409"/>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zh-CN" altLang="en-US"/>
          </a:p>
        </p:txBody>
      </p:sp>
      <p:graphicFrame>
        <p:nvGraphicFramePr>
          <p:cNvPr id="421897" name="Object 9"/>
          <p:cNvGraphicFramePr>
            <a:graphicFrameLocks noChangeAspect="1"/>
          </p:cNvGraphicFramePr>
          <p:nvPr>
            <p:extLst>
              <p:ext uri="{D42A27DB-BD31-4B8C-83A1-F6EECF244321}">
                <p14:modId xmlns:p14="http://schemas.microsoft.com/office/powerpoint/2010/main" xmlns="" val="547032515"/>
              </p:ext>
            </p:extLst>
          </p:nvPr>
        </p:nvGraphicFramePr>
        <p:xfrm>
          <a:off x="3204046" y="4394349"/>
          <a:ext cx="2663825" cy="2130425"/>
        </p:xfrm>
        <a:graphic>
          <a:graphicData uri="http://schemas.openxmlformats.org/presentationml/2006/ole">
            <p:oleObj spid="_x0000_s11974" name="Visio" r:id="rId3" imgW="1883254" imgH="1502696" progId="">
              <p:embed/>
            </p:oleObj>
          </a:graphicData>
        </a:graphic>
      </p:graphicFrame>
      <p:graphicFrame>
        <p:nvGraphicFramePr>
          <p:cNvPr id="421898" name="Object 10"/>
          <p:cNvGraphicFramePr>
            <a:graphicFrameLocks noChangeAspect="1"/>
          </p:cNvGraphicFramePr>
          <p:nvPr>
            <p:extLst>
              <p:ext uri="{D42A27DB-BD31-4B8C-83A1-F6EECF244321}">
                <p14:modId xmlns:p14="http://schemas.microsoft.com/office/powerpoint/2010/main" xmlns="" val="3200583893"/>
              </p:ext>
            </p:extLst>
          </p:nvPr>
        </p:nvGraphicFramePr>
        <p:xfrm>
          <a:off x="827559" y="3213249"/>
          <a:ext cx="1511300" cy="420688"/>
        </p:xfrm>
        <a:graphic>
          <a:graphicData uri="http://schemas.openxmlformats.org/presentationml/2006/ole">
            <p:oleObj spid="_x0000_s11975" name="公式" r:id="rId4" imgW="863225" imgH="241195" progId="">
              <p:embed/>
            </p:oleObj>
          </a:graphicData>
        </a:graphic>
      </p:graphicFrame>
      <p:graphicFrame>
        <p:nvGraphicFramePr>
          <p:cNvPr id="421899" name="Object 11"/>
          <p:cNvGraphicFramePr>
            <a:graphicFrameLocks noChangeAspect="1"/>
          </p:cNvGraphicFramePr>
          <p:nvPr>
            <p:extLst>
              <p:ext uri="{D42A27DB-BD31-4B8C-83A1-F6EECF244321}">
                <p14:modId xmlns:p14="http://schemas.microsoft.com/office/powerpoint/2010/main" xmlns="" val="2354490298"/>
              </p:ext>
            </p:extLst>
          </p:nvPr>
        </p:nvGraphicFramePr>
        <p:xfrm>
          <a:off x="2195984" y="2432199"/>
          <a:ext cx="4679950" cy="1682750"/>
        </p:xfrm>
        <a:graphic>
          <a:graphicData uri="http://schemas.openxmlformats.org/presentationml/2006/ole">
            <p:oleObj spid="_x0000_s11976" name="Visio" r:id="rId5" imgW="3323549" imgH="1206238" progId="">
              <p:embed/>
            </p:oleObj>
          </a:graphicData>
        </a:graphic>
      </p:graphicFrame>
      <p:sp>
        <p:nvSpPr>
          <p:cNvPr id="421900" name="Text Box 12"/>
          <p:cNvSpPr txBox="1">
            <a:spLocks noChangeArrowheads="1"/>
          </p:cNvSpPr>
          <p:nvPr/>
        </p:nvSpPr>
        <p:spPr bwMode="auto">
          <a:xfrm>
            <a:off x="3059584" y="3068787"/>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3333FF"/>
                </a:solidFill>
              </a:rPr>
              <a:t>0</a:t>
            </a:r>
          </a:p>
        </p:txBody>
      </p:sp>
      <p:sp>
        <p:nvSpPr>
          <p:cNvPr id="421901" name="Text Box 13"/>
          <p:cNvSpPr txBox="1">
            <a:spLocks noChangeArrowheads="1"/>
          </p:cNvSpPr>
          <p:nvPr/>
        </p:nvSpPr>
        <p:spPr bwMode="auto">
          <a:xfrm>
            <a:off x="4140671" y="3068787"/>
            <a:ext cx="3603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3333FF"/>
                </a:solidFill>
              </a:rPr>
              <a:t>0</a:t>
            </a:r>
          </a:p>
        </p:txBody>
      </p:sp>
      <p:sp>
        <p:nvSpPr>
          <p:cNvPr id="421902" name="Text Box 14"/>
          <p:cNvSpPr txBox="1">
            <a:spLocks noChangeArrowheads="1"/>
          </p:cNvSpPr>
          <p:nvPr/>
        </p:nvSpPr>
        <p:spPr bwMode="auto">
          <a:xfrm>
            <a:off x="5075709" y="3043387"/>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3333FF"/>
                </a:solidFill>
              </a:rPr>
              <a:t>x</a:t>
            </a:r>
          </a:p>
        </p:txBody>
      </p:sp>
      <p:sp>
        <p:nvSpPr>
          <p:cNvPr id="421903" name="Text Box 15"/>
          <p:cNvSpPr txBox="1">
            <a:spLocks noChangeArrowheads="1"/>
          </p:cNvSpPr>
          <p:nvPr/>
        </p:nvSpPr>
        <p:spPr bwMode="auto">
          <a:xfrm>
            <a:off x="6156796" y="3068787"/>
            <a:ext cx="3603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3333FF"/>
                </a:solidFill>
              </a:rPr>
              <a:t>0</a:t>
            </a:r>
          </a:p>
        </p:txBody>
      </p:sp>
      <p:sp>
        <p:nvSpPr>
          <p:cNvPr id="421904" name="Text Box 16"/>
          <p:cNvSpPr txBox="1">
            <a:spLocks noChangeArrowheads="1"/>
          </p:cNvSpPr>
          <p:nvPr/>
        </p:nvSpPr>
        <p:spPr bwMode="auto">
          <a:xfrm>
            <a:off x="3059584" y="3548212"/>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3333FF"/>
                </a:solidFill>
              </a:rPr>
              <a:t>1</a:t>
            </a:r>
          </a:p>
        </p:txBody>
      </p:sp>
      <p:sp>
        <p:nvSpPr>
          <p:cNvPr id="421905" name="Text Box 17"/>
          <p:cNvSpPr txBox="1">
            <a:spLocks noChangeArrowheads="1"/>
          </p:cNvSpPr>
          <p:nvPr/>
        </p:nvSpPr>
        <p:spPr bwMode="auto">
          <a:xfrm>
            <a:off x="4140671" y="3572024"/>
            <a:ext cx="3603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3333FF"/>
                </a:solidFill>
              </a:rPr>
              <a:t>0</a:t>
            </a:r>
          </a:p>
        </p:txBody>
      </p:sp>
      <p:sp>
        <p:nvSpPr>
          <p:cNvPr id="421906" name="Text Box 18"/>
          <p:cNvSpPr txBox="1">
            <a:spLocks noChangeArrowheads="1"/>
          </p:cNvSpPr>
          <p:nvPr/>
        </p:nvSpPr>
        <p:spPr bwMode="auto">
          <a:xfrm>
            <a:off x="5148734" y="3548212"/>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3333FF"/>
                </a:solidFill>
              </a:rPr>
              <a:t>x</a:t>
            </a:r>
          </a:p>
        </p:txBody>
      </p:sp>
      <p:sp>
        <p:nvSpPr>
          <p:cNvPr id="421907" name="Text Box 19"/>
          <p:cNvSpPr txBox="1">
            <a:spLocks noChangeArrowheads="1"/>
          </p:cNvSpPr>
          <p:nvPr/>
        </p:nvSpPr>
        <p:spPr bwMode="auto">
          <a:xfrm>
            <a:off x="6156796" y="3572024"/>
            <a:ext cx="360363"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3333FF"/>
                </a:solidFill>
              </a:rPr>
              <a:t>0</a:t>
            </a:r>
          </a:p>
        </p:txBody>
      </p:sp>
      <p:grpSp>
        <p:nvGrpSpPr>
          <p:cNvPr id="421908" name="Group 20"/>
          <p:cNvGrpSpPr>
            <a:grpSpLocks/>
          </p:cNvGrpSpPr>
          <p:nvPr/>
        </p:nvGrpSpPr>
        <p:grpSpPr bwMode="auto">
          <a:xfrm>
            <a:off x="1619721" y="6021537"/>
            <a:ext cx="1223963" cy="576262"/>
            <a:chOff x="884" y="3249"/>
            <a:chExt cx="771" cy="363"/>
          </a:xfrm>
        </p:grpSpPr>
        <p:sp>
          <p:nvSpPr>
            <p:cNvPr id="421909" name="AutoShape 21"/>
            <p:cNvSpPr>
              <a:spLocks/>
            </p:cNvSpPr>
            <p:nvPr/>
          </p:nvSpPr>
          <p:spPr bwMode="auto">
            <a:xfrm>
              <a:off x="884" y="3249"/>
              <a:ext cx="771" cy="363"/>
            </a:xfrm>
            <a:prstGeom prst="borderCallout2">
              <a:avLst>
                <a:gd name="adj1" fmla="val 19833"/>
                <a:gd name="adj2" fmla="val 106227"/>
                <a:gd name="adj3" fmla="val 19833"/>
                <a:gd name="adj4" fmla="val 142931"/>
                <a:gd name="adj5" fmla="val -39394"/>
                <a:gd name="adj6" fmla="val 180935"/>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zh-CN" sz="1800">
                <a:latin typeface="Garamond" panose="02020404030301010803" pitchFamily="18" charset="0"/>
              </a:endParaRPr>
            </a:p>
          </p:txBody>
        </p:sp>
        <p:graphicFrame>
          <p:nvGraphicFramePr>
            <p:cNvPr id="421910" name="Object 22"/>
            <p:cNvGraphicFramePr>
              <a:graphicFrameLocks noChangeAspect="1"/>
            </p:cNvGraphicFramePr>
            <p:nvPr/>
          </p:nvGraphicFramePr>
          <p:xfrm>
            <a:off x="905" y="3249"/>
            <a:ext cx="715" cy="351"/>
          </p:xfrm>
          <a:graphic>
            <a:graphicData uri="http://schemas.openxmlformats.org/presentationml/2006/ole">
              <p:oleObj spid="_x0000_s11977" name="公式" r:id="rId6" imgW="499680" imgH="241200" progId="">
                <p:embed/>
              </p:oleObj>
            </a:graphicData>
          </a:graphic>
        </p:graphicFrame>
      </p:grpSp>
      <p:sp>
        <p:nvSpPr>
          <p:cNvPr id="421911" name="Oval 23"/>
          <p:cNvSpPr>
            <a:spLocks noChangeArrowheads="1"/>
          </p:cNvSpPr>
          <p:nvPr/>
        </p:nvSpPr>
        <p:spPr bwMode="auto">
          <a:xfrm>
            <a:off x="3851746" y="5588149"/>
            <a:ext cx="360363" cy="360363"/>
          </a:xfrm>
          <a:prstGeom prst="ellipse">
            <a:avLst/>
          </a:prstGeom>
          <a:noFill/>
          <a:ln w="28575">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21" name="标题 1"/>
          <p:cNvSpPr txBox="1">
            <a:spLocks/>
          </p:cNvSpPr>
          <p:nvPr/>
        </p:nvSpPr>
        <p:spPr bwMode="auto">
          <a:xfrm>
            <a:off x="1259632" y="764704"/>
            <a:ext cx="7560840"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969655473"/>
      </p:ext>
    </p:extLst>
  </p:cSld>
  <p:clrMapOvr>
    <a:masterClrMapping/>
  </p:clrMapOvr>
  <p:transition advTm="11947"/>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grpId="0" nodeType="clickEffect">
                                  <p:stCondLst>
                                    <p:cond delay="0"/>
                                  </p:stCondLst>
                                  <p:childTnLst>
                                    <p:animMotion origin="layout" path="M -0.01164 -0.00185 L 0.0868 0.29027 " pathEditMode="relative" rAng="0" ptsTypes="AA">
                                      <p:cBhvr>
                                        <p:cTn id="6" dur="500" fill="hold"/>
                                        <p:tgtEl>
                                          <p:spTgt spid="421900"/>
                                        </p:tgtEl>
                                        <p:attrNameLst>
                                          <p:attrName>ppt_x</p:attrName>
                                          <p:attrName>ppt_y</p:attrName>
                                        </p:attrNameLst>
                                      </p:cBhvr>
                                      <p:rCtr x="4913" y="14606"/>
                                    </p:animMotion>
                                  </p:childTnLst>
                                </p:cTn>
                              </p:par>
                            </p:childTnLst>
                          </p:cTn>
                        </p:par>
                        <p:par>
                          <p:cTn id="7" fill="hold" nodeType="afterGroup">
                            <p:stCondLst>
                              <p:cond delay="500"/>
                            </p:stCondLst>
                            <p:childTnLst>
                              <p:par>
                                <p:cTn id="8" presetID="0" presetClass="path" presetSubtype="0" accel="50000" decel="50000" fill="hold" grpId="0" nodeType="afterEffect">
                                  <p:stCondLst>
                                    <p:cond delay="0"/>
                                  </p:stCondLst>
                                  <p:childTnLst>
                                    <p:animMotion origin="layout" path="M 4.16667E-6 2.96296E-6 L 0.0276 0.29213 " pathEditMode="relative" rAng="0" ptsTypes="AA">
                                      <p:cBhvr>
                                        <p:cTn id="9" dur="500" fill="hold"/>
                                        <p:tgtEl>
                                          <p:spTgt spid="421901"/>
                                        </p:tgtEl>
                                        <p:attrNameLst>
                                          <p:attrName>ppt_x</p:attrName>
                                          <p:attrName>ppt_y</p:attrName>
                                        </p:attrNameLst>
                                      </p:cBhvr>
                                      <p:rCtr x="1372" y="14606"/>
                                    </p:animMotion>
                                  </p:childTnLst>
                                </p:cTn>
                              </p:par>
                            </p:childTnLst>
                          </p:cTn>
                        </p:par>
                        <p:par>
                          <p:cTn id="10" fill="hold" nodeType="afterGroup">
                            <p:stCondLst>
                              <p:cond delay="1000"/>
                            </p:stCondLst>
                            <p:childTnLst>
                              <p:par>
                                <p:cTn id="11" presetID="0" presetClass="path" presetSubtype="0" accel="50000" decel="50000" fill="hold" grpId="0" nodeType="afterEffect">
                                  <p:stCondLst>
                                    <p:cond delay="0"/>
                                  </p:stCondLst>
                                  <p:childTnLst>
                                    <p:animMotion origin="layout" path="M -2.77778E-6 -3.33333E-6 L -0.01962 0.29213 " pathEditMode="relative" rAng="0" ptsTypes="AA">
                                      <p:cBhvr>
                                        <p:cTn id="12" dur="500" fill="hold"/>
                                        <p:tgtEl>
                                          <p:spTgt spid="421902"/>
                                        </p:tgtEl>
                                        <p:attrNameLst>
                                          <p:attrName>ppt_x</p:attrName>
                                          <p:attrName>ppt_y</p:attrName>
                                        </p:attrNameLst>
                                      </p:cBhvr>
                                      <p:rCtr x="-990" y="14606"/>
                                    </p:animMotion>
                                  </p:childTnLst>
                                </p:cTn>
                              </p:par>
                            </p:childTnLst>
                          </p:cTn>
                        </p:par>
                        <p:par>
                          <p:cTn id="13" fill="hold" nodeType="afterGroup">
                            <p:stCondLst>
                              <p:cond delay="1500"/>
                            </p:stCondLst>
                            <p:childTnLst>
                              <p:par>
                                <p:cTn id="14" presetID="0" presetClass="path" presetSubtype="0" accel="50000" decel="50000" fill="hold" grpId="0" nodeType="afterEffect">
                                  <p:stCondLst>
                                    <p:cond delay="0"/>
                                  </p:stCondLst>
                                  <p:childTnLst>
                                    <p:animMotion origin="layout" path="M -1.94444E-6 2.96296E-6 L -0.08264 0.29213 " pathEditMode="relative" rAng="0" ptsTypes="AA">
                                      <p:cBhvr>
                                        <p:cTn id="15" dur="500" fill="hold"/>
                                        <p:tgtEl>
                                          <p:spTgt spid="421903"/>
                                        </p:tgtEl>
                                        <p:attrNameLst>
                                          <p:attrName>ppt_x</p:attrName>
                                          <p:attrName>ppt_y</p:attrName>
                                        </p:attrNameLst>
                                      </p:cBhvr>
                                      <p:rCtr x="-4132" y="14606"/>
                                    </p:animMotion>
                                  </p:childTnLst>
                                </p:cTn>
                              </p:par>
                            </p:childTnLst>
                          </p:cTn>
                        </p:par>
                        <p:par>
                          <p:cTn id="16" fill="hold" nodeType="afterGroup">
                            <p:stCondLst>
                              <p:cond delay="2000"/>
                            </p:stCondLst>
                            <p:childTnLst>
                              <p:par>
                                <p:cTn id="17" presetID="0" presetClass="path" presetSubtype="0" accel="50000" decel="50000" fill="hold" grpId="0" nodeType="afterEffect">
                                  <p:stCondLst>
                                    <p:cond delay="0"/>
                                  </p:stCondLst>
                                  <p:childTnLst>
                                    <p:animMotion origin="layout" path="M 3.33333E-6 -4.44444E-6 L 0.09062 0.29584 " pathEditMode="relative" rAng="0" ptsTypes="AA">
                                      <p:cBhvr>
                                        <p:cTn id="18" dur="500" fill="hold"/>
                                        <p:tgtEl>
                                          <p:spTgt spid="421904"/>
                                        </p:tgtEl>
                                        <p:attrNameLst>
                                          <p:attrName>ppt_x</p:attrName>
                                          <p:attrName>ppt_y</p:attrName>
                                        </p:attrNameLst>
                                      </p:cBhvr>
                                      <p:rCtr x="4531" y="14792"/>
                                    </p:animMotion>
                                  </p:childTnLst>
                                </p:cTn>
                              </p:par>
                            </p:childTnLst>
                          </p:cTn>
                        </p:par>
                        <p:par>
                          <p:cTn id="19" fill="hold" nodeType="afterGroup">
                            <p:stCondLst>
                              <p:cond delay="2500"/>
                            </p:stCondLst>
                            <p:childTnLst>
                              <p:par>
                                <p:cTn id="20" presetID="0" presetClass="path" presetSubtype="0" accel="50000" decel="50000" fill="hold" grpId="0" nodeType="afterEffect">
                                  <p:stCondLst>
                                    <p:cond delay="0"/>
                                  </p:stCondLst>
                                  <p:childTnLst>
                                    <p:animMotion origin="layout" path="M 4.16667E-6 3.33333E-6 L 0.0276 0.29236 " pathEditMode="relative" rAng="0" ptsTypes="AA">
                                      <p:cBhvr>
                                        <p:cTn id="21" dur="500" fill="hold"/>
                                        <p:tgtEl>
                                          <p:spTgt spid="421905"/>
                                        </p:tgtEl>
                                        <p:attrNameLst>
                                          <p:attrName>ppt_x</p:attrName>
                                          <p:attrName>ppt_y</p:attrName>
                                        </p:attrNameLst>
                                      </p:cBhvr>
                                      <p:rCtr x="1372" y="14606"/>
                                    </p:animMotion>
                                  </p:childTnLst>
                                </p:cTn>
                              </p:par>
                            </p:childTnLst>
                          </p:cTn>
                        </p:par>
                        <p:par>
                          <p:cTn id="22" fill="hold" nodeType="afterGroup">
                            <p:stCondLst>
                              <p:cond delay="3000"/>
                            </p:stCondLst>
                            <p:childTnLst>
                              <p:par>
                                <p:cTn id="23" presetID="0" presetClass="path" presetSubtype="0" accel="50000" decel="50000" fill="hold" grpId="0" nodeType="afterEffect">
                                  <p:stCondLst>
                                    <p:cond delay="0"/>
                                  </p:stCondLst>
                                  <p:childTnLst>
                                    <p:animMotion origin="layout" path="M 1.11111E-6 -4.44444E-6 L -0.02761 0.29584 " pathEditMode="relative" rAng="0" ptsTypes="AA">
                                      <p:cBhvr>
                                        <p:cTn id="24" dur="500" fill="hold"/>
                                        <p:tgtEl>
                                          <p:spTgt spid="421906"/>
                                        </p:tgtEl>
                                        <p:attrNameLst>
                                          <p:attrName>ppt_x</p:attrName>
                                          <p:attrName>ppt_y</p:attrName>
                                        </p:attrNameLst>
                                      </p:cBhvr>
                                      <p:rCtr x="-1389" y="14792"/>
                                    </p:animMotion>
                                  </p:childTnLst>
                                </p:cTn>
                              </p:par>
                            </p:childTnLst>
                          </p:cTn>
                        </p:par>
                        <p:par>
                          <p:cTn id="25" fill="hold" nodeType="afterGroup">
                            <p:stCondLst>
                              <p:cond delay="3500"/>
                            </p:stCondLst>
                            <p:childTnLst>
                              <p:par>
                                <p:cTn id="26" presetID="0" presetClass="path" presetSubtype="0" accel="50000" decel="50000" fill="hold" grpId="0" nodeType="afterEffect">
                                  <p:stCondLst>
                                    <p:cond delay="0"/>
                                  </p:stCondLst>
                                  <p:childTnLst>
                                    <p:animMotion origin="layout" path="M -1.94444E-6 3.33333E-6 L -0.08264 0.29213 " pathEditMode="relative" rAng="0" ptsTypes="AA">
                                      <p:cBhvr>
                                        <p:cTn id="27" dur="500" fill="hold"/>
                                        <p:tgtEl>
                                          <p:spTgt spid="421907"/>
                                        </p:tgtEl>
                                        <p:attrNameLst>
                                          <p:attrName>ppt_x</p:attrName>
                                          <p:attrName>ppt_y</p:attrName>
                                        </p:attrNameLst>
                                      </p:cBhvr>
                                      <p:rCtr x="-4132" y="14606"/>
                                    </p:animMotion>
                                  </p:childTnLst>
                                </p:cTn>
                              </p:par>
                            </p:childTnLst>
                          </p:cTn>
                        </p:par>
                      </p:childTnLst>
                    </p:cTn>
                  </p:par>
                  <p:par>
                    <p:cTn id="28" fill="hold" nodeType="clickPar">
                      <p:stCondLst>
                        <p:cond delay="indefinite"/>
                      </p:stCondLst>
                      <p:childTnLst>
                        <p:par>
                          <p:cTn id="29" fill="hold" nodeType="withGroup">
                            <p:stCondLst>
                              <p:cond delay="0"/>
                            </p:stCondLst>
                            <p:childTnLst>
                              <p:par>
                                <p:cTn id="30" presetID="20" presetClass="entr" presetSubtype="0" fill="hold" grpId="0" nodeType="clickEffect">
                                  <p:stCondLst>
                                    <p:cond delay="0"/>
                                  </p:stCondLst>
                                  <p:childTnLst>
                                    <p:set>
                                      <p:cBhvr>
                                        <p:cTn id="31" dur="1" fill="hold">
                                          <p:stCondLst>
                                            <p:cond delay="0"/>
                                          </p:stCondLst>
                                        </p:cTn>
                                        <p:tgtEl>
                                          <p:spTgt spid="421911"/>
                                        </p:tgtEl>
                                        <p:attrNameLst>
                                          <p:attrName>style.visibility</p:attrName>
                                        </p:attrNameLst>
                                      </p:cBhvr>
                                      <p:to>
                                        <p:strVal val="visible"/>
                                      </p:to>
                                    </p:set>
                                    <p:animEffect transition="in" filter="wedge">
                                      <p:cBhvr>
                                        <p:cTn id="32" dur="2000"/>
                                        <p:tgtEl>
                                          <p:spTgt spid="42191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21908"/>
                                        </p:tgtEl>
                                        <p:attrNameLst>
                                          <p:attrName>style.visibility</p:attrName>
                                        </p:attrNameLst>
                                      </p:cBhvr>
                                      <p:to>
                                        <p:strVal val="visible"/>
                                      </p:to>
                                    </p:set>
                                    <p:animEffect transition="in" filter="blinds(horizontal)">
                                      <p:cBhvr>
                                        <p:cTn id="37" dur="500"/>
                                        <p:tgtEl>
                                          <p:spTgt spid="4219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1900" grpId="0"/>
      <p:bldP spid="421901" grpId="0"/>
      <p:bldP spid="421902" grpId="0"/>
      <p:bldP spid="421903" grpId="0"/>
      <p:bldP spid="421904" grpId="0"/>
      <p:bldP spid="421905" grpId="0"/>
      <p:bldP spid="421906" grpId="0"/>
      <p:bldP spid="421907" grpId="0"/>
      <p:bldP spid="421911" grpId="0" animBg="1"/>
    </p:bldLst>
  </p:timing>
</p:sld>
</file>

<file path=ppt/slides/slide40.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22918" name="Rectangle 6"/>
          <p:cNvSpPr>
            <a:spLocks noChangeArrowheads="1"/>
          </p:cNvSpPr>
          <p:nvPr/>
        </p:nvSpPr>
        <p:spPr bwMode="auto">
          <a:xfrm>
            <a:off x="876380" y="2027010"/>
            <a:ext cx="6335712"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solidFill>
                  <a:srgbClr val="0000FF"/>
                </a:solidFill>
                <a:latin typeface="+mn-ea"/>
              </a:rPr>
              <a:t>解</a:t>
            </a:r>
            <a:r>
              <a:rPr lang="en-US" altLang="zh-CN" sz="2000" b="1" dirty="0">
                <a:solidFill>
                  <a:srgbClr val="0000FF"/>
                </a:solidFill>
                <a:latin typeface="+mn-ea"/>
              </a:rPr>
              <a:t>:</a:t>
            </a:r>
            <a:r>
              <a:rPr lang="zh-CN" altLang="en-US" sz="2000" b="1" dirty="0">
                <a:solidFill>
                  <a:srgbClr val="0000FF"/>
                </a:solidFill>
                <a:latin typeface="+mn-ea"/>
              </a:rPr>
              <a:t>（四）确定电路的输出方程：</a:t>
            </a:r>
          </a:p>
        </p:txBody>
      </p:sp>
      <p:sp>
        <p:nvSpPr>
          <p:cNvPr id="422919" name="Text Box 7"/>
          <p:cNvSpPr txBox="1">
            <a:spLocks noChangeArrowheads="1"/>
          </p:cNvSpPr>
          <p:nvPr/>
        </p:nvSpPr>
        <p:spPr bwMode="auto">
          <a:xfrm>
            <a:off x="2649212" y="6365966"/>
            <a:ext cx="424973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dirty="0">
                <a:latin typeface="+mn-ea"/>
              </a:rPr>
              <a:t>图</a:t>
            </a:r>
            <a:r>
              <a:rPr lang="en-US" altLang="zh-CN" b="1" dirty="0">
                <a:latin typeface="+mn-ea"/>
              </a:rPr>
              <a:t>7(c)  【</a:t>
            </a:r>
            <a:r>
              <a:rPr lang="zh-CN" altLang="en-US" b="1" dirty="0" smtClean="0">
                <a:latin typeface="+mn-ea"/>
              </a:rPr>
              <a:t>例</a:t>
            </a:r>
            <a:r>
              <a:rPr lang="en-US" altLang="zh-CN" b="1" dirty="0" smtClean="0">
                <a:latin typeface="+mn-ea"/>
              </a:rPr>
              <a:t>】</a:t>
            </a:r>
            <a:r>
              <a:rPr lang="zh-CN" altLang="en-US" b="1" dirty="0">
                <a:latin typeface="+mn-ea"/>
              </a:rPr>
              <a:t>输出方程求解过程</a:t>
            </a:r>
          </a:p>
        </p:txBody>
      </p:sp>
      <p:sp>
        <p:nvSpPr>
          <p:cNvPr id="422920" name="AutoShape 8"/>
          <p:cNvSpPr>
            <a:spLocks noChangeArrowheads="1"/>
          </p:cNvSpPr>
          <p:nvPr/>
        </p:nvSpPr>
        <p:spPr bwMode="auto">
          <a:xfrm>
            <a:off x="4571380" y="4148287"/>
            <a:ext cx="349250" cy="606425"/>
          </a:xfrm>
          <a:prstGeom prst="downArrow">
            <a:avLst>
              <a:gd name="adj1" fmla="val 50000"/>
              <a:gd name="adj2" fmla="val 43409"/>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eaVert" wrap="none" anchor="ctr"/>
          <a:lstStyle/>
          <a:p>
            <a:endParaRPr lang="zh-CN" altLang="en-US"/>
          </a:p>
        </p:txBody>
      </p:sp>
      <p:graphicFrame>
        <p:nvGraphicFramePr>
          <p:cNvPr id="422921" name="Object 9"/>
          <p:cNvGraphicFramePr>
            <a:graphicFrameLocks noChangeAspect="1"/>
          </p:cNvGraphicFramePr>
          <p:nvPr>
            <p:extLst>
              <p:ext uri="{D42A27DB-BD31-4B8C-83A1-F6EECF244321}">
                <p14:modId xmlns:p14="http://schemas.microsoft.com/office/powerpoint/2010/main" xmlns="" val="2118027623"/>
              </p:ext>
            </p:extLst>
          </p:nvPr>
        </p:nvGraphicFramePr>
        <p:xfrm>
          <a:off x="3131517" y="4364187"/>
          <a:ext cx="2663825" cy="2130425"/>
        </p:xfrm>
        <a:graphic>
          <a:graphicData uri="http://schemas.openxmlformats.org/presentationml/2006/ole">
            <p:oleObj spid="_x0000_s12998" name="Visio" r:id="rId3" imgW="1883254" imgH="1502696" progId="">
              <p:embed/>
            </p:oleObj>
          </a:graphicData>
        </a:graphic>
      </p:graphicFrame>
      <p:graphicFrame>
        <p:nvGraphicFramePr>
          <p:cNvPr id="422922" name="Object 10"/>
          <p:cNvGraphicFramePr>
            <a:graphicFrameLocks noChangeAspect="1"/>
          </p:cNvGraphicFramePr>
          <p:nvPr>
            <p:extLst>
              <p:ext uri="{D42A27DB-BD31-4B8C-83A1-F6EECF244321}">
                <p14:modId xmlns:p14="http://schemas.microsoft.com/office/powerpoint/2010/main" xmlns="" val="2662384358"/>
              </p:ext>
            </p:extLst>
          </p:nvPr>
        </p:nvGraphicFramePr>
        <p:xfrm>
          <a:off x="755030" y="3213249"/>
          <a:ext cx="1511300" cy="420688"/>
        </p:xfrm>
        <a:graphic>
          <a:graphicData uri="http://schemas.openxmlformats.org/presentationml/2006/ole">
            <p:oleObj spid="_x0000_s12999" name="公式" r:id="rId4" imgW="863225" imgH="241195" progId="">
              <p:embed/>
            </p:oleObj>
          </a:graphicData>
        </a:graphic>
      </p:graphicFrame>
      <p:graphicFrame>
        <p:nvGraphicFramePr>
          <p:cNvPr id="422923" name="Object 11"/>
          <p:cNvGraphicFramePr>
            <a:graphicFrameLocks noChangeAspect="1"/>
          </p:cNvGraphicFramePr>
          <p:nvPr>
            <p:extLst>
              <p:ext uri="{D42A27DB-BD31-4B8C-83A1-F6EECF244321}">
                <p14:modId xmlns:p14="http://schemas.microsoft.com/office/powerpoint/2010/main" xmlns="" val="2272213458"/>
              </p:ext>
            </p:extLst>
          </p:nvPr>
        </p:nvGraphicFramePr>
        <p:xfrm>
          <a:off x="2123455" y="2432199"/>
          <a:ext cx="4679950" cy="1682750"/>
        </p:xfrm>
        <a:graphic>
          <a:graphicData uri="http://schemas.openxmlformats.org/presentationml/2006/ole">
            <p:oleObj spid="_x0000_s13000" name="Visio" r:id="rId5" imgW="3323549" imgH="1206238" progId="">
              <p:embed/>
            </p:oleObj>
          </a:graphicData>
        </a:graphic>
      </p:graphicFrame>
      <p:sp>
        <p:nvSpPr>
          <p:cNvPr id="422924" name="Text Box 12"/>
          <p:cNvSpPr txBox="1">
            <a:spLocks noChangeArrowheads="1"/>
          </p:cNvSpPr>
          <p:nvPr/>
        </p:nvSpPr>
        <p:spPr bwMode="auto">
          <a:xfrm>
            <a:off x="3275980" y="3068787"/>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t>0</a:t>
            </a:r>
          </a:p>
        </p:txBody>
      </p:sp>
      <p:sp>
        <p:nvSpPr>
          <p:cNvPr id="422925" name="Text Box 13"/>
          <p:cNvSpPr txBox="1">
            <a:spLocks noChangeArrowheads="1"/>
          </p:cNvSpPr>
          <p:nvPr/>
        </p:nvSpPr>
        <p:spPr bwMode="auto">
          <a:xfrm>
            <a:off x="4355480" y="3068787"/>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t>0</a:t>
            </a:r>
          </a:p>
        </p:txBody>
      </p:sp>
      <p:sp>
        <p:nvSpPr>
          <p:cNvPr id="422926" name="Text Box 14"/>
          <p:cNvSpPr txBox="1">
            <a:spLocks noChangeArrowheads="1"/>
          </p:cNvSpPr>
          <p:nvPr/>
        </p:nvSpPr>
        <p:spPr bwMode="auto">
          <a:xfrm>
            <a:off x="5292105" y="3068787"/>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t>x</a:t>
            </a:r>
          </a:p>
        </p:txBody>
      </p:sp>
      <p:sp>
        <p:nvSpPr>
          <p:cNvPr id="422927" name="Text Box 15"/>
          <p:cNvSpPr txBox="1">
            <a:spLocks noChangeArrowheads="1"/>
          </p:cNvSpPr>
          <p:nvPr/>
        </p:nvSpPr>
        <p:spPr bwMode="auto">
          <a:xfrm>
            <a:off x="6371605" y="3068787"/>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t>0</a:t>
            </a:r>
          </a:p>
        </p:txBody>
      </p:sp>
      <p:sp>
        <p:nvSpPr>
          <p:cNvPr id="422928" name="Text Box 16"/>
          <p:cNvSpPr txBox="1">
            <a:spLocks noChangeArrowheads="1"/>
          </p:cNvSpPr>
          <p:nvPr/>
        </p:nvSpPr>
        <p:spPr bwMode="auto">
          <a:xfrm>
            <a:off x="3275980" y="3572024"/>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t>0</a:t>
            </a:r>
          </a:p>
        </p:txBody>
      </p:sp>
      <p:sp>
        <p:nvSpPr>
          <p:cNvPr id="422929" name="Text Box 17"/>
          <p:cNvSpPr txBox="1">
            <a:spLocks noChangeArrowheads="1"/>
          </p:cNvSpPr>
          <p:nvPr/>
        </p:nvSpPr>
        <p:spPr bwMode="auto">
          <a:xfrm>
            <a:off x="4355480" y="3572024"/>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t>0</a:t>
            </a:r>
          </a:p>
        </p:txBody>
      </p:sp>
      <p:sp>
        <p:nvSpPr>
          <p:cNvPr id="422930" name="Text Box 18"/>
          <p:cNvSpPr txBox="1">
            <a:spLocks noChangeArrowheads="1"/>
          </p:cNvSpPr>
          <p:nvPr/>
        </p:nvSpPr>
        <p:spPr bwMode="auto">
          <a:xfrm>
            <a:off x="5292105" y="3572024"/>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t>x</a:t>
            </a:r>
          </a:p>
        </p:txBody>
      </p:sp>
      <p:sp>
        <p:nvSpPr>
          <p:cNvPr id="422931" name="Text Box 19"/>
          <p:cNvSpPr txBox="1">
            <a:spLocks noChangeArrowheads="1"/>
          </p:cNvSpPr>
          <p:nvPr/>
        </p:nvSpPr>
        <p:spPr bwMode="auto">
          <a:xfrm>
            <a:off x="6371605" y="3572024"/>
            <a:ext cx="360362"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t>1</a:t>
            </a:r>
          </a:p>
        </p:txBody>
      </p:sp>
      <p:grpSp>
        <p:nvGrpSpPr>
          <p:cNvPr id="422932" name="Group 20"/>
          <p:cNvGrpSpPr>
            <a:grpSpLocks/>
          </p:cNvGrpSpPr>
          <p:nvPr/>
        </p:nvGrpSpPr>
        <p:grpSpPr bwMode="auto">
          <a:xfrm>
            <a:off x="6876430" y="5877074"/>
            <a:ext cx="1223962" cy="576263"/>
            <a:chOff x="4286" y="3158"/>
            <a:chExt cx="771" cy="363"/>
          </a:xfrm>
        </p:grpSpPr>
        <p:sp>
          <p:nvSpPr>
            <p:cNvPr id="422933" name="AutoShape 21"/>
            <p:cNvSpPr>
              <a:spLocks/>
            </p:cNvSpPr>
            <p:nvPr/>
          </p:nvSpPr>
          <p:spPr bwMode="auto">
            <a:xfrm>
              <a:off x="4286" y="3158"/>
              <a:ext cx="771" cy="363"/>
            </a:xfrm>
            <a:prstGeom prst="borderCallout2">
              <a:avLst>
                <a:gd name="adj1" fmla="val 19833"/>
                <a:gd name="adj2" fmla="val -6227"/>
                <a:gd name="adj3" fmla="val 19833"/>
                <a:gd name="adj4" fmla="val -52398"/>
                <a:gd name="adj5" fmla="val -26171"/>
                <a:gd name="adj6" fmla="val -100000"/>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endParaRPr lang="zh-CN" altLang="zh-CN" sz="1800">
                <a:latin typeface="Garamond" panose="02020404030301010803" pitchFamily="18" charset="0"/>
              </a:endParaRPr>
            </a:p>
          </p:txBody>
        </p:sp>
        <p:graphicFrame>
          <p:nvGraphicFramePr>
            <p:cNvPr id="422934" name="Object 22"/>
            <p:cNvGraphicFramePr>
              <a:graphicFrameLocks noChangeAspect="1"/>
            </p:cNvGraphicFramePr>
            <p:nvPr/>
          </p:nvGraphicFramePr>
          <p:xfrm>
            <a:off x="4482" y="3183"/>
            <a:ext cx="415" cy="301"/>
          </p:xfrm>
          <a:graphic>
            <a:graphicData uri="http://schemas.openxmlformats.org/presentationml/2006/ole">
              <p:oleObj spid="_x0000_s13001" name="公式" r:id="rId6" imgW="285480" imgH="205560" progId="">
                <p:embed/>
              </p:oleObj>
            </a:graphicData>
          </a:graphic>
        </p:graphicFrame>
      </p:grpSp>
      <p:sp>
        <p:nvSpPr>
          <p:cNvPr id="422935" name="AutoShape 23"/>
          <p:cNvSpPr>
            <a:spLocks noChangeArrowheads="1"/>
          </p:cNvSpPr>
          <p:nvPr/>
        </p:nvSpPr>
        <p:spPr bwMode="auto">
          <a:xfrm>
            <a:off x="4787280" y="5588149"/>
            <a:ext cx="936625" cy="360363"/>
          </a:xfrm>
          <a:prstGeom prst="roundRect">
            <a:avLst>
              <a:gd name="adj" fmla="val 16667"/>
            </a:avLst>
          </a:prstGeom>
          <a:noFill/>
          <a:ln w="28575">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21" name="标题 1"/>
          <p:cNvSpPr txBox="1">
            <a:spLocks/>
          </p:cNvSpPr>
          <p:nvPr/>
        </p:nvSpPr>
        <p:spPr bwMode="auto">
          <a:xfrm>
            <a:off x="1367136" y="908720"/>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539277949"/>
      </p:ext>
    </p:extLst>
  </p:cSld>
  <p:clrMapOvr>
    <a:masterClrMapping/>
  </p:clrMapOvr>
  <p:transition advTm="11947"/>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0" presetClass="path" presetSubtype="0" accel="50000" decel="50000" fill="hold" grpId="0" nodeType="clickEffect">
                                  <p:stCondLst>
                                    <p:cond delay="0"/>
                                  </p:stCondLst>
                                  <p:childTnLst>
                                    <p:animMotion origin="layout" path="M -1.38889E-6 2.96296E-6 L 0.05903 0.29213 " pathEditMode="relative" rAng="0" ptsTypes="AA">
                                      <p:cBhvr>
                                        <p:cTn id="6" dur="500" fill="hold"/>
                                        <p:tgtEl>
                                          <p:spTgt spid="422924"/>
                                        </p:tgtEl>
                                        <p:attrNameLst>
                                          <p:attrName>ppt_x</p:attrName>
                                          <p:attrName>ppt_y</p:attrName>
                                        </p:attrNameLst>
                                      </p:cBhvr>
                                      <p:rCtr x="2951" y="14606"/>
                                    </p:animMotion>
                                  </p:childTnLst>
                                </p:cTn>
                              </p:par>
                            </p:childTnLst>
                          </p:cTn>
                        </p:par>
                        <p:par>
                          <p:cTn id="7" fill="hold" nodeType="afterGroup">
                            <p:stCondLst>
                              <p:cond delay="500"/>
                            </p:stCondLst>
                            <p:childTnLst>
                              <p:par>
                                <p:cTn id="8" presetID="0" presetClass="path" presetSubtype="0" accel="50000" decel="50000" fill="hold" grpId="0" nodeType="afterEffect">
                                  <p:stCondLst>
                                    <p:cond delay="0"/>
                                  </p:stCondLst>
                                  <p:childTnLst>
                                    <p:animMotion origin="layout" path="M 3.05556E-6 2.96296E-6 L -0.00382 0.29213 " pathEditMode="relative" rAng="0" ptsTypes="AA">
                                      <p:cBhvr>
                                        <p:cTn id="9" dur="500" fill="hold"/>
                                        <p:tgtEl>
                                          <p:spTgt spid="422925"/>
                                        </p:tgtEl>
                                        <p:attrNameLst>
                                          <p:attrName>ppt_x</p:attrName>
                                          <p:attrName>ppt_y</p:attrName>
                                        </p:attrNameLst>
                                      </p:cBhvr>
                                      <p:rCtr x="-191" y="14606"/>
                                    </p:animMotion>
                                  </p:childTnLst>
                                </p:cTn>
                              </p:par>
                            </p:childTnLst>
                          </p:cTn>
                        </p:par>
                        <p:par>
                          <p:cTn id="10" fill="hold" nodeType="afterGroup">
                            <p:stCondLst>
                              <p:cond delay="1000"/>
                            </p:stCondLst>
                            <p:childTnLst>
                              <p:par>
                                <p:cTn id="11" presetID="0" presetClass="path" presetSubtype="0" accel="50000" decel="50000" fill="hold" grpId="0" nodeType="afterEffect">
                                  <p:stCondLst>
                                    <p:cond delay="0"/>
                                  </p:stCondLst>
                                  <p:childTnLst>
                                    <p:animMotion origin="layout" path="M 2.5E-6 2.96296E-6 L -0.05122 0.29213 " pathEditMode="relative" rAng="0" ptsTypes="AA">
                                      <p:cBhvr>
                                        <p:cTn id="12" dur="500" fill="hold"/>
                                        <p:tgtEl>
                                          <p:spTgt spid="422926"/>
                                        </p:tgtEl>
                                        <p:attrNameLst>
                                          <p:attrName>ppt_x</p:attrName>
                                          <p:attrName>ppt_y</p:attrName>
                                        </p:attrNameLst>
                                      </p:cBhvr>
                                      <p:rCtr x="-2569" y="14606"/>
                                    </p:animMotion>
                                  </p:childTnLst>
                                </p:cTn>
                              </p:par>
                            </p:childTnLst>
                          </p:cTn>
                        </p:par>
                        <p:par>
                          <p:cTn id="13" fill="hold" nodeType="afterGroup">
                            <p:stCondLst>
                              <p:cond delay="1500"/>
                            </p:stCondLst>
                            <p:childTnLst>
                              <p:par>
                                <p:cTn id="14" presetID="0" presetClass="path" presetSubtype="0" accel="50000" decel="50000" fill="hold" grpId="0" nodeType="afterEffect">
                                  <p:stCondLst>
                                    <p:cond delay="0"/>
                                  </p:stCondLst>
                                  <p:childTnLst>
                                    <p:animMotion origin="layout" path="M -3.05556E-6 2.96296E-6 L -0.12187 0.29213 " pathEditMode="relative" rAng="0" ptsTypes="AA">
                                      <p:cBhvr>
                                        <p:cTn id="15" dur="500" fill="hold"/>
                                        <p:tgtEl>
                                          <p:spTgt spid="422927"/>
                                        </p:tgtEl>
                                        <p:attrNameLst>
                                          <p:attrName>ppt_x</p:attrName>
                                          <p:attrName>ppt_y</p:attrName>
                                        </p:attrNameLst>
                                      </p:cBhvr>
                                      <p:rCtr x="-6094" y="14606"/>
                                    </p:animMotion>
                                  </p:childTnLst>
                                </p:cTn>
                              </p:par>
                            </p:childTnLst>
                          </p:cTn>
                        </p:par>
                        <p:par>
                          <p:cTn id="16" fill="hold" nodeType="afterGroup">
                            <p:stCondLst>
                              <p:cond delay="2000"/>
                            </p:stCondLst>
                            <p:childTnLst>
                              <p:par>
                                <p:cTn id="17" presetID="0" presetClass="path" presetSubtype="0" accel="50000" decel="50000" fill="hold" grpId="0" nodeType="afterEffect">
                                  <p:stCondLst>
                                    <p:cond delay="0"/>
                                  </p:stCondLst>
                                  <p:childTnLst>
                                    <p:animMotion origin="layout" path="M -1.38889E-6 3.33333E-6 L 0.05903 0.29236 " pathEditMode="relative" rAng="0" ptsTypes="AA">
                                      <p:cBhvr>
                                        <p:cTn id="18" dur="500" fill="hold"/>
                                        <p:tgtEl>
                                          <p:spTgt spid="422928"/>
                                        </p:tgtEl>
                                        <p:attrNameLst>
                                          <p:attrName>ppt_x</p:attrName>
                                          <p:attrName>ppt_y</p:attrName>
                                        </p:attrNameLst>
                                      </p:cBhvr>
                                      <p:rCtr x="2951" y="14606"/>
                                    </p:animMotion>
                                  </p:childTnLst>
                                </p:cTn>
                              </p:par>
                            </p:childTnLst>
                          </p:cTn>
                        </p:par>
                        <p:par>
                          <p:cTn id="19" fill="hold" nodeType="afterGroup">
                            <p:stCondLst>
                              <p:cond delay="2500"/>
                            </p:stCondLst>
                            <p:childTnLst>
                              <p:par>
                                <p:cTn id="20" presetID="0" presetClass="path" presetSubtype="0" accel="50000" decel="50000" fill="hold" grpId="0" nodeType="afterEffect">
                                  <p:stCondLst>
                                    <p:cond delay="0"/>
                                  </p:stCondLst>
                                  <p:childTnLst>
                                    <p:animMotion origin="layout" path="M 3.05556E-6 3.33333E-6 L -0.00382 0.29236 " pathEditMode="relative" rAng="0" ptsTypes="AA">
                                      <p:cBhvr>
                                        <p:cTn id="21" dur="500" fill="hold"/>
                                        <p:tgtEl>
                                          <p:spTgt spid="422929"/>
                                        </p:tgtEl>
                                        <p:attrNameLst>
                                          <p:attrName>ppt_x</p:attrName>
                                          <p:attrName>ppt_y</p:attrName>
                                        </p:attrNameLst>
                                      </p:cBhvr>
                                      <p:rCtr x="-191" y="14606"/>
                                    </p:animMotion>
                                  </p:childTnLst>
                                </p:cTn>
                              </p:par>
                            </p:childTnLst>
                          </p:cTn>
                        </p:par>
                        <p:par>
                          <p:cTn id="22" fill="hold" nodeType="afterGroup">
                            <p:stCondLst>
                              <p:cond delay="3000"/>
                            </p:stCondLst>
                            <p:childTnLst>
                              <p:par>
                                <p:cTn id="23" presetID="0" presetClass="path" presetSubtype="0" accel="50000" decel="50000" fill="hold" grpId="0" nodeType="afterEffect">
                                  <p:stCondLst>
                                    <p:cond delay="0"/>
                                  </p:stCondLst>
                                  <p:childTnLst>
                                    <p:animMotion origin="layout" path="M 2.5E-6 3.33333E-6 L -0.05122 0.29236 " pathEditMode="relative" rAng="0" ptsTypes="AA">
                                      <p:cBhvr>
                                        <p:cTn id="24" dur="500" fill="hold"/>
                                        <p:tgtEl>
                                          <p:spTgt spid="422930"/>
                                        </p:tgtEl>
                                        <p:attrNameLst>
                                          <p:attrName>ppt_x</p:attrName>
                                          <p:attrName>ppt_y</p:attrName>
                                        </p:attrNameLst>
                                      </p:cBhvr>
                                      <p:rCtr x="-2569" y="14606"/>
                                    </p:animMotion>
                                  </p:childTnLst>
                                </p:cTn>
                              </p:par>
                            </p:childTnLst>
                          </p:cTn>
                        </p:par>
                        <p:par>
                          <p:cTn id="25" fill="hold" nodeType="afterGroup">
                            <p:stCondLst>
                              <p:cond delay="3500"/>
                            </p:stCondLst>
                            <p:childTnLst>
                              <p:par>
                                <p:cTn id="26" presetID="0" presetClass="path" presetSubtype="0" accel="50000" decel="50000" fill="hold" grpId="0" nodeType="afterEffect">
                                  <p:stCondLst>
                                    <p:cond delay="0"/>
                                  </p:stCondLst>
                                  <p:childTnLst>
                                    <p:animMotion origin="layout" path="M -3.05556E-6 3.33333E-6 L -0.12187 0.29236 " pathEditMode="relative" rAng="0" ptsTypes="AA">
                                      <p:cBhvr>
                                        <p:cTn id="27" dur="500" fill="hold"/>
                                        <p:tgtEl>
                                          <p:spTgt spid="422931"/>
                                        </p:tgtEl>
                                        <p:attrNameLst>
                                          <p:attrName>ppt_x</p:attrName>
                                          <p:attrName>ppt_y</p:attrName>
                                        </p:attrNameLst>
                                      </p:cBhvr>
                                      <p:rCtr x="-6094" y="14606"/>
                                    </p:animMotion>
                                  </p:childTnLst>
                                </p:cTn>
                              </p:par>
                            </p:childTnLst>
                          </p:cTn>
                        </p:par>
                      </p:childTnLst>
                    </p:cTn>
                  </p:par>
                  <p:par>
                    <p:cTn id="28" fill="hold" nodeType="clickPar">
                      <p:stCondLst>
                        <p:cond delay="indefinite"/>
                      </p:stCondLst>
                      <p:childTnLst>
                        <p:par>
                          <p:cTn id="29" fill="hold" nodeType="withGroup">
                            <p:stCondLst>
                              <p:cond delay="0"/>
                            </p:stCondLst>
                            <p:childTnLst>
                              <p:par>
                                <p:cTn id="30" presetID="20" presetClass="entr" presetSubtype="0" fill="hold" grpId="0" nodeType="clickEffect">
                                  <p:stCondLst>
                                    <p:cond delay="0"/>
                                  </p:stCondLst>
                                  <p:childTnLst>
                                    <p:set>
                                      <p:cBhvr>
                                        <p:cTn id="31" dur="1" fill="hold">
                                          <p:stCondLst>
                                            <p:cond delay="0"/>
                                          </p:stCondLst>
                                        </p:cTn>
                                        <p:tgtEl>
                                          <p:spTgt spid="422935"/>
                                        </p:tgtEl>
                                        <p:attrNameLst>
                                          <p:attrName>style.visibility</p:attrName>
                                        </p:attrNameLst>
                                      </p:cBhvr>
                                      <p:to>
                                        <p:strVal val="visible"/>
                                      </p:to>
                                    </p:set>
                                    <p:animEffect transition="in" filter="wedge">
                                      <p:cBhvr>
                                        <p:cTn id="32" dur="2000"/>
                                        <p:tgtEl>
                                          <p:spTgt spid="42293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422932"/>
                                        </p:tgtEl>
                                        <p:attrNameLst>
                                          <p:attrName>style.visibility</p:attrName>
                                        </p:attrNameLst>
                                      </p:cBhvr>
                                      <p:to>
                                        <p:strVal val="visible"/>
                                      </p:to>
                                    </p:set>
                                    <p:animEffect transition="in" filter="blinds(horizontal)">
                                      <p:cBhvr>
                                        <p:cTn id="37" dur="500"/>
                                        <p:tgtEl>
                                          <p:spTgt spid="4229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2924" grpId="0"/>
      <p:bldP spid="422925" grpId="0"/>
      <p:bldP spid="422926" grpId="0"/>
      <p:bldP spid="422927" grpId="0"/>
      <p:bldP spid="422928" grpId="0"/>
      <p:bldP spid="422929" grpId="0"/>
      <p:bldP spid="422930" grpId="0"/>
      <p:bldP spid="422931" grpId="0"/>
      <p:bldP spid="422935" grpId="0" animBg="1"/>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227334" y="1988840"/>
            <a:ext cx="8161338" cy="4608414"/>
          </a:xfrm>
        </p:spPr>
        <p:txBody>
          <a:bodyPr/>
          <a:lstStyle/>
          <a:p>
            <a:pPr lvl="2">
              <a:buClr>
                <a:srgbClr val="FF0000"/>
              </a:buClr>
              <a:buSzPct val="100000"/>
            </a:pPr>
            <a:r>
              <a:rPr lang="zh-CN" altLang="en-US" sz="2400" dirty="0"/>
              <a:t>步骤五：画出逻辑电路设计图</a:t>
            </a:r>
          </a:p>
          <a:p>
            <a:endParaRPr lang="zh-CN" altLang="en-US" dirty="0"/>
          </a:p>
        </p:txBody>
      </p:sp>
      <p:graphicFrame>
        <p:nvGraphicFramePr>
          <p:cNvPr id="423943" name="Object 7"/>
          <p:cNvGraphicFramePr>
            <a:graphicFrameLocks noChangeAspect="1"/>
          </p:cNvGraphicFramePr>
          <p:nvPr>
            <p:extLst>
              <p:ext uri="{D42A27DB-BD31-4B8C-83A1-F6EECF244321}">
                <p14:modId xmlns:p14="http://schemas.microsoft.com/office/powerpoint/2010/main" xmlns="" val="2697381873"/>
              </p:ext>
            </p:extLst>
          </p:nvPr>
        </p:nvGraphicFramePr>
        <p:xfrm>
          <a:off x="2340297" y="3718322"/>
          <a:ext cx="5329237" cy="2632075"/>
        </p:xfrm>
        <a:graphic>
          <a:graphicData uri="http://schemas.openxmlformats.org/presentationml/2006/ole">
            <p:oleObj spid="_x0000_s13491" name="Visio" r:id="rId3" imgW="2922225" imgH="1422999" progId="">
              <p:embed/>
            </p:oleObj>
          </a:graphicData>
        </a:graphic>
      </p:graphicFrame>
      <p:grpSp>
        <p:nvGrpSpPr>
          <p:cNvPr id="423944" name="Group 8"/>
          <p:cNvGrpSpPr>
            <a:grpSpLocks/>
          </p:cNvGrpSpPr>
          <p:nvPr/>
        </p:nvGrpSpPr>
        <p:grpSpPr bwMode="auto">
          <a:xfrm>
            <a:off x="900434" y="4724797"/>
            <a:ext cx="4608513" cy="2089150"/>
            <a:chOff x="385" y="2432"/>
            <a:chExt cx="2903" cy="1316"/>
          </a:xfrm>
        </p:grpSpPr>
        <p:grpSp>
          <p:nvGrpSpPr>
            <p:cNvPr id="423945" name="Group 9"/>
            <p:cNvGrpSpPr>
              <a:grpSpLocks/>
            </p:cNvGrpSpPr>
            <p:nvPr/>
          </p:nvGrpSpPr>
          <p:grpSpPr bwMode="auto">
            <a:xfrm>
              <a:off x="385" y="2432"/>
              <a:ext cx="2903" cy="1270"/>
              <a:chOff x="385" y="2160"/>
              <a:chExt cx="2903" cy="1270"/>
            </a:xfrm>
          </p:grpSpPr>
          <p:sp>
            <p:nvSpPr>
              <p:cNvPr id="423946" name="Line 10"/>
              <p:cNvSpPr>
                <a:spLocks noChangeShapeType="1"/>
              </p:cNvSpPr>
              <p:nvPr/>
            </p:nvSpPr>
            <p:spPr bwMode="auto">
              <a:xfrm>
                <a:off x="385" y="3430"/>
                <a:ext cx="2631" cy="0"/>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47" name="Line 11"/>
              <p:cNvSpPr>
                <a:spLocks noChangeShapeType="1"/>
              </p:cNvSpPr>
              <p:nvPr/>
            </p:nvSpPr>
            <p:spPr bwMode="auto">
              <a:xfrm flipV="1">
                <a:off x="3016" y="2205"/>
                <a:ext cx="0" cy="1225"/>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48" name="Line 12"/>
              <p:cNvSpPr>
                <a:spLocks noChangeShapeType="1"/>
              </p:cNvSpPr>
              <p:nvPr/>
            </p:nvSpPr>
            <p:spPr bwMode="auto">
              <a:xfrm>
                <a:off x="3016" y="2205"/>
                <a:ext cx="272" cy="0"/>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49" name="Line 13"/>
              <p:cNvSpPr>
                <a:spLocks noChangeShapeType="1"/>
              </p:cNvSpPr>
              <p:nvPr/>
            </p:nvSpPr>
            <p:spPr bwMode="auto">
              <a:xfrm flipH="1">
                <a:off x="1202" y="2160"/>
                <a:ext cx="227" cy="0"/>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50" name="Line 14"/>
              <p:cNvSpPr>
                <a:spLocks noChangeShapeType="1"/>
              </p:cNvSpPr>
              <p:nvPr/>
            </p:nvSpPr>
            <p:spPr bwMode="auto">
              <a:xfrm>
                <a:off x="1202" y="2160"/>
                <a:ext cx="0" cy="1270"/>
              </a:xfrm>
              <a:prstGeom prst="line">
                <a:avLst/>
              </a:prstGeom>
              <a:noFill/>
              <a:ln w="38100">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51" name="Text Box 15"/>
              <p:cNvSpPr txBox="1">
                <a:spLocks noChangeArrowheads="1"/>
              </p:cNvSpPr>
              <p:nvPr/>
            </p:nvSpPr>
            <p:spPr bwMode="auto">
              <a:xfrm>
                <a:off x="431" y="3067"/>
                <a:ext cx="499"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38100">
                    <a:solidFill>
                      <a:srgbClr val="FF0000"/>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0000"/>
                    </a:solidFill>
                    <a:latin typeface="Times New Roman" panose="02020603050405020304" pitchFamily="18" charset="0"/>
                  </a:rPr>
                  <a:t>CP</a:t>
                </a:r>
              </a:p>
            </p:txBody>
          </p:sp>
        </p:grpSp>
        <p:sp>
          <p:nvSpPr>
            <p:cNvPr id="423952" name="Oval 16"/>
            <p:cNvSpPr>
              <a:spLocks noChangeArrowheads="1"/>
            </p:cNvSpPr>
            <p:nvPr/>
          </p:nvSpPr>
          <p:spPr bwMode="auto">
            <a:xfrm>
              <a:off x="1156" y="3657"/>
              <a:ext cx="91" cy="91"/>
            </a:xfrm>
            <a:prstGeom prst="ellipse">
              <a:avLst/>
            </a:prstGeom>
            <a:solidFill>
              <a:srgbClr val="FF0000"/>
            </a:solidFill>
            <a:ln w="9525">
              <a:solidFill>
                <a:schemeClr val="tx1"/>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pPr algn="ctr"/>
              <a:endParaRPr lang="zh-CN" altLang="zh-CN" sz="1800">
                <a:solidFill>
                  <a:srgbClr val="FF0000"/>
                </a:solidFill>
                <a:latin typeface="Garamond" panose="02020404030301010803" pitchFamily="18" charset="0"/>
              </a:endParaRPr>
            </a:p>
          </p:txBody>
        </p:sp>
      </p:grpSp>
      <p:grpSp>
        <p:nvGrpSpPr>
          <p:cNvPr id="423954" name="Group 18"/>
          <p:cNvGrpSpPr>
            <a:grpSpLocks/>
          </p:cNvGrpSpPr>
          <p:nvPr/>
        </p:nvGrpSpPr>
        <p:grpSpPr bwMode="auto">
          <a:xfrm>
            <a:off x="684534" y="3069035"/>
            <a:ext cx="7200900" cy="3384550"/>
            <a:chOff x="340" y="1071"/>
            <a:chExt cx="4536" cy="2132"/>
          </a:xfrm>
        </p:grpSpPr>
        <p:sp>
          <p:nvSpPr>
            <p:cNvPr id="423955" name="Line 19"/>
            <p:cNvSpPr>
              <a:spLocks noChangeShapeType="1"/>
            </p:cNvSpPr>
            <p:nvPr/>
          </p:nvSpPr>
          <p:spPr bwMode="auto">
            <a:xfrm>
              <a:off x="340" y="1888"/>
              <a:ext cx="1179" cy="0"/>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56" name="Line 20"/>
            <p:cNvSpPr>
              <a:spLocks noChangeShapeType="1"/>
            </p:cNvSpPr>
            <p:nvPr/>
          </p:nvSpPr>
          <p:spPr bwMode="auto">
            <a:xfrm flipH="1">
              <a:off x="1156" y="1706"/>
              <a:ext cx="363" cy="0"/>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57" name="Line 21"/>
            <p:cNvSpPr>
              <a:spLocks noChangeShapeType="1"/>
            </p:cNvSpPr>
            <p:nvPr/>
          </p:nvSpPr>
          <p:spPr bwMode="auto">
            <a:xfrm flipV="1">
              <a:off x="1156" y="1344"/>
              <a:ext cx="0" cy="362"/>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58" name="Line 22"/>
            <p:cNvSpPr>
              <a:spLocks noChangeShapeType="1"/>
            </p:cNvSpPr>
            <p:nvPr/>
          </p:nvSpPr>
          <p:spPr bwMode="auto">
            <a:xfrm>
              <a:off x="1156" y="1344"/>
              <a:ext cx="3720" cy="0"/>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59" name="Line 23"/>
            <p:cNvSpPr>
              <a:spLocks noChangeShapeType="1"/>
            </p:cNvSpPr>
            <p:nvPr/>
          </p:nvSpPr>
          <p:spPr bwMode="auto">
            <a:xfrm>
              <a:off x="4876" y="1344"/>
              <a:ext cx="0" cy="1224"/>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60" name="Line 24"/>
            <p:cNvSpPr>
              <a:spLocks noChangeShapeType="1"/>
            </p:cNvSpPr>
            <p:nvPr/>
          </p:nvSpPr>
          <p:spPr bwMode="auto">
            <a:xfrm>
              <a:off x="4558" y="2568"/>
              <a:ext cx="318" cy="0"/>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61" name="Rectangle 25"/>
            <p:cNvSpPr>
              <a:spLocks noChangeArrowheads="1"/>
            </p:cNvSpPr>
            <p:nvPr/>
          </p:nvSpPr>
          <p:spPr bwMode="auto">
            <a:xfrm>
              <a:off x="657" y="2115"/>
              <a:ext cx="363" cy="272"/>
            </a:xfrm>
            <a:prstGeom prst="rect">
              <a:avLst/>
            </a:prstGeom>
            <a:noFill/>
            <a:ln w="38100">
              <a:solidFill>
                <a:srgbClr val="0000FF"/>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23962" name="Oval 26"/>
            <p:cNvSpPr>
              <a:spLocks noChangeArrowheads="1"/>
            </p:cNvSpPr>
            <p:nvPr/>
          </p:nvSpPr>
          <p:spPr bwMode="auto">
            <a:xfrm>
              <a:off x="793" y="2387"/>
              <a:ext cx="91" cy="91"/>
            </a:xfrm>
            <a:prstGeom prst="ellipse">
              <a:avLst/>
            </a:prstGeom>
            <a:noFill/>
            <a:ln w="38100">
              <a:solidFill>
                <a:srgbClr val="0000FF"/>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23963" name="Text Box 27"/>
            <p:cNvSpPr txBox="1">
              <a:spLocks noChangeArrowheads="1"/>
            </p:cNvSpPr>
            <p:nvPr/>
          </p:nvSpPr>
          <p:spPr bwMode="auto">
            <a:xfrm>
              <a:off x="748" y="2115"/>
              <a:ext cx="226"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38100">
                  <a:solidFill>
                    <a:srgbClr val="0000FF"/>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Garamond" panose="02020404030301010803" pitchFamily="18" charset="0"/>
                </a:rPr>
                <a:t>1</a:t>
              </a:r>
            </a:p>
          </p:txBody>
        </p:sp>
        <p:sp>
          <p:nvSpPr>
            <p:cNvPr id="423964" name="Line 28"/>
            <p:cNvSpPr>
              <a:spLocks noChangeShapeType="1"/>
            </p:cNvSpPr>
            <p:nvPr/>
          </p:nvSpPr>
          <p:spPr bwMode="auto">
            <a:xfrm>
              <a:off x="839" y="1888"/>
              <a:ext cx="0" cy="227"/>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65" name="Line 29"/>
            <p:cNvSpPr>
              <a:spLocks noChangeShapeType="1"/>
            </p:cNvSpPr>
            <p:nvPr/>
          </p:nvSpPr>
          <p:spPr bwMode="auto">
            <a:xfrm>
              <a:off x="839" y="2478"/>
              <a:ext cx="0" cy="725"/>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66" name="Line 30"/>
            <p:cNvSpPr>
              <a:spLocks noChangeShapeType="1"/>
            </p:cNvSpPr>
            <p:nvPr/>
          </p:nvSpPr>
          <p:spPr bwMode="auto">
            <a:xfrm>
              <a:off x="839" y="3203"/>
              <a:ext cx="2313" cy="0"/>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67" name="Line 31"/>
            <p:cNvSpPr>
              <a:spLocks noChangeShapeType="1"/>
            </p:cNvSpPr>
            <p:nvPr/>
          </p:nvSpPr>
          <p:spPr bwMode="auto">
            <a:xfrm flipV="1">
              <a:off x="3152" y="2568"/>
              <a:ext cx="0" cy="635"/>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68" name="Line 32"/>
            <p:cNvSpPr>
              <a:spLocks noChangeShapeType="1"/>
            </p:cNvSpPr>
            <p:nvPr/>
          </p:nvSpPr>
          <p:spPr bwMode="auto">
            <a:xfrm>
              <a:off x="3152" y="2568"/>
              <a:ext cx="227" cy="0"/>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69" name="Oval 33"/>
            <p:cNvSpPr>
              <a:spLocks noChangeArrowheads="1"/>
            </p:cNvSpPr>
            <p:nvPr/>
          </p:nvSpPr>
          <p:spPr bwMode="auto">
            <a:xfrm>
              <a:off x="793" y="1842"/>
              <a:ext cx="91" cy="91"/>
            </a:xfrm>
            <a:prstGeom prst="ellipse">
              <a:avLst/>
            </a:prstGeom>
            <a:solidFill>
              <a:srgbClr val="0000CC"/>
            </a:solidFill>
            <a:ln w="38100">
              <a:solidFill>
                <a:srgbClr val="0000FF"/>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23970" name="Line 34"/>
            <p:cNvSpPr>
              <a:spLocks noChangeShapeType="1"/>
            </p:cNvSpPr>
            <p:nvPr/>
          </p:nvSpPr>
          <p:spPr bwMode="auto">
            <a:xfrm>
              <a:off x="2381" y="1888"/>
              <a:ext cx="998" cy="0"/>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71" name="Line 35"/>
            <p:cNvSpPr>
              <a:spLocks noChangeShapeType="1"/>
            </p:cNvSpPr>
            <p:nvPr/>
          </p:nvSpPr>
          <p:spPr bwMode="auto">
            <a:xfrm flipV="1">
              <a:off x="839" y="1071"/>
              <a:ext cx="0" cy="817"/>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72" name="Line 36"/>
            <p:cNvSpPr>
              <a:spLocks noChangeShapeType="1"/>
            </p:cNvSpPr>
            <p:nvPr/>
          </p:nvSpPr>
          <p:spPr bwMode="auto">
            <a:xfrm>
              <a:off x="839" y="1071"/>
              <a:ext cx="2177" cy="0"/>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73" name="Line 37"/>
            <p:cNvSpPr>
              <a:spLocks noChangeShapeType="1"/>
            </p:cNvSpPr>
            <p:nvPr/>
          </p:nvSpPr>
          <p:spPr bwMode="auto">
            <a:xfrm>
              <a:off x="3016" y="1071"/>
              <a:ext cx="0" cy="681"/>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74" name="Line 38"/>
            <p:cNvSpPr>
              <a:spLocks noChangeShapeType="1"/>
            </p:cNvSpPr>
            <p:nvPr/>
          </p:nvSpPr>
          <p:spPr bwMode="auto">
            <a:xfrm>
              <a:off x="3016" y="1752"/>
              <a:ext cx="363" cy="0"/>
            </a:xfrm>
            <a:prstGeom prst="line">
              <a:avLst/>
            </a:prstGeom>
            <a:noFill/>
            <a:ln w="38100">
              <a:solidFill>
                <a:srgbClr val="0000FF"/>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423975" name="Text Box 39"/>
          <p:cNvSpPr txBox="1">
            <a:spLocks noChangeArrowheads="1"/>
          </p:cNvSpPr>
          <p:nvPr/>
        </p:nvSpPr>
        <p:spPr bwMode="auto">
          <a:xfrm>
            <a:off x="755972" y="3789760"/>
            <a:ext cx="4318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latin typeface="Garamond" panose="02020404030301010803" pitchFamily="18" charset="0"/>
              </a:rPr>
              <a:t>X</a:t>
            </a:r>
          </a:p>
        </p:txBody>
      </p:sp>
      <p:grpSp>
        <p:nvGrpSpPr>
          <p:cNvPr id="423976" name="Group 40"/>
          <p:cNvGrpSpPr>
            <a:grpSpLocks/>
          </p:cNvGrpSpPr>
          <p:nvPr/>
        </p:nvGrpSpPr>
        <p:grpSpPr bwMode="auto">
          <a:xfrm>
            <a:off x="4861247" y="2421335"/>
            <a:ext cx="3959225" cy="1944687"/>
            <a:chOff x="2971" y="935"/>
            <a:chExt cx="2494" cy="1225"/>
          </a:xfrm>
        </p:grpSpPr>
        <p:grpSp>
          <p:nvGrpSpPr>
            <p:cNvPr id="423977" name="Group 41"/>
            <p:cNvGrpSpPr>
              <a:grpSpLocks/>
            </p:cNvGrpSpPr>
            <p:nvPr/>
          </p:nvGrpSpPr>
          <p:grpSpPr bwMode="auto">
            <a:xfrm>
              <a:off x="2971" y="935"/>
              <a:ext cx="2358" cy="1225"/>
              <a:chOff x="2971" y="935"/>
              <a:chExt cx="2358" cy="1225"/>
            </a:xfrm>
          </p:grpSpPr>
          <p:sp>
            <p:nvSpPr>
              <p:cNvPr id="423978" name="Rectangle 42"/>
              <p:cNvSpPr>
                <a:spLocks noChangeArrowheads="1"/>
              </p:cNvSpPr>
              <p:nvPr/>
            </p:nvSpPr>
            <p:spPr bwMode="auto">
              <a:xfrm>
                <a:off x="4785" y="935"/>
                <a:ext cx="272" cy="545"/>
              </a:xfrm>
              <a:prstGeom prst="rect">
                <a:avLst/>
              </a:prstGeom>
              <a:noFill/>
              <a:ln w="38100">
                <a:solidFill>
                  <a:schemeClr val="bg2"/>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423979" name="Text Box 43"/>
              <p:cNvSpPr txBox="1">
                <a:spLocks noChangeArrowheads="1"/>
              </p:cNvSpPr>
              <p:nvPr/>
            </p:nvSpPr>
            <p:spPr bwMode="auto">
              <a:xfrm>
                <a:off x="4785" y="1026"/>
                <a:ext cx="273" cy="32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38100">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sz="2800" b="1">
                    <a:latin typeface="Garamond" panose="02020404030301010803" pitchFamily="18" charset="0"/>
                  </a:rPr>
                  <a:t>&amp;</a:t>
                </a:r>
              </a:p>
            </p:txBody>
          </p:sp>
          <p:sp>
            <p:nvSpPr>
              <p:cNvPr id="423980" name="Line 44"/>
              <p:cNvSpPr>
                <a:spLocks noChangeShapeType="1"/>
              </p:cNvSpPr>
              <p:nvPr/>
            </p:nvSpPr>
            <p:spPr bwMode="auto">
              <a:xfrm>
                <a:off x="3016" y="1344"/>
                <a:ext cx="1769" cy="0"/>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81" name="Line 45"/>
              <p:cNvSpPr>
                <a:spLocks noChangeShapeType="1"/>
              </p:cNvSpPr>
              <p:nvPr/>
            </p:nvSpPr>
            <p:spPr bwMode="auto">
              <a:xfrm>
                <a:off x="4241" y="2160"/>
                <a:ext cx="408" cy="0"/>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82" name="Line 46"/>
              <p:cNvSpPr>
                <a:spLocks noChangeShapeType="1"/>
              </p:cNvSpPr>
              <p:nvPr/>
            </p:nvSpPr>
            <p:spPr bwMode="auto">
              <a:xfrm flipV="1">
                <a:off x="4649" y="1117"/>
                <a:ext cx="0" cy="1043"/>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83" name="Line 47"/>
              <p:cNvSpPr>
                <a:spLocks noChangeShapeType="1"/>
              </p:cNvSpPr>
              <p:nvPr/>
            </p:nvSpPr>
            <p:spPr bwMode="auto">
              <a:xfrm>
                <a:off x="4649" y="1117"/>
                <a:ext cx="136" cy="0"/>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84" name="Line 48"/>
              <p:cNvSpPr>
                <a:spLocks noChangeShapeType="1"/>
              </p:cNvSpPr>
              <p:nvPr/>
            </p:nvSpPr>
            <p:spPr bwMode="auto">
              <a:xfrm>
                <a:off x="5057" y="1207"/>
                <a:ext cx="272" cy="0"/>
              </a:xfrm>
              <a:prstGeom prst="line">
                <a:avLst/>
              </a:prstGeom>
              <a:noFill/>
              <a:ln w="38100">
                <a:solidFill>
                  <a:schemeClr val="bg2"/>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423985" name="Oval 49"/>
              <p:cNvSpPr>
                <a:spLocks noChangeArrowheads="1"/>
              </p:cNvSpPr>
              <p:nvPr/>
            </p:nvSpPr>
            <p:spPr bwMode="auto">
              <a:xfrm>
                <a:off x="2971" y="1298"/>
                <a:ext cx="91" cy="91"/>
              </a:xfrm>
              <a:prstGeom prst="ellipse">
                <a:avLst/>
              </a:prstGeom>
              <a:solidFill>
                <a:schemeClr val="bg2"/>
              </a:solidFill>
              <a:ln w="38100">
                <a:solidFill>
                  <a:schemeClr val="bg2"/>
                </a:solidFill>
                <a:round/>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sp>
          <p:nvSpPr>
            <p:cNvPr id="423986" name="Text Box 50"/>
            <p:cNvSpPr txBox="1">
              <a:spLocks noChangeArrowheads="1"/>
            </p:cNvSpPr>
            <p:nvPr/>
          </p:nvSpPr>
          <p:spPr bwMode="auto">
            <a:xfrm>
              <a:off x="5284" y="1026"/>
              <a:ext cx="181"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chemeClr val="bg2"/>
                  </a:solidFill>
                  <a:latin typeface="Times New Roman" panose="02020603050405020304" pitchFamily="18" charset="0"/>
                </a:rPr>
                <a:t>Y</a:t>
              </a:r>
            </a:p>
          </p:txBody>
        </p:sp>
      </p:grpSp>
      <p:sp>
        <p:nvSpPr>
          <p:cNvPr id="423987" name="Rectangle 51"/>
          <p:cNvSpPr>
            <a:spLocks noChangeArrowheads="1"/>
          </p:cNvSpPr>
          <p:nvPr/>
        </p:nvSpPr>
        <p:spPr bwMode="auto">
          <a:xfrm>
            <a:off x="1115616" y="2492896"/>
            <a:ext cx="3816350"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altLang="zh-CN" b="1" dirty="0" smtClean="0">
                <a:latin typeface="+mn-ea"/>
              </a:rPr>
              <a:t>【</a:t>
            </a:r>
            <a:r>
              <a:rPr lang="zh-CN" altLang="en-US" b="1" dirty="0" smtClean="0">
                <a:latin typeface="+mn-ea"/>
              </a:rPr>
              <a:t>例</a:t>
            </a:r>
            <a:r>
              <a:rPr lang="en-US" altLang="zh-CN" b="1" dirty="0" smtClean="0">
                <a:latin typeface="+mn-ea"/>
              </a:rPr>
              <a:t>】</a:t>
            </a:r>
            <a:r>
              <a:rPr lang="zh-CN" altLang="en-US" b="1" dirty="0">
                <a:latin typeface="+mn-ea"/>
              </a:rPr>
              <a:t>的逻辑电路图为：</a:t>
            </a:r>
          </a:p>
        </p:txBody>
      </p:sp>
      <p:sp>
        <p:nvSpPr>
          <p:cNvPr id="423988" name="Text Box 52"/>
          <p:cNvSpPr txBox="1">
            <a:spLocks noChangeArrowheads="1"/>
          </p:cNvSpPr>
          <p:nvPr/>
        </p:nvSpPr>
        <p:spPr bwMode="auto">
          <a:xfrm>
            <a:off x="5148584" y="6522245"/>
            <a:ext cx="424973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dirty="0">
                <a:latin typeface="仿宋" panose="02010609060101010101" pitchFamily="49" charset="-122"/>
                <a:ea typeface="仿宋" panose="02010609060101010101" pitchFamily="49" charset="-122"/>
              </a:rPr>
              <a:t>图</a:t>
            </a:r>
            <a:r>
              <a:rPr lang="en-US" altLang="zh-CN" b="1" dirty="0">
                <a:latin typeface="仿宋" panose="02010609060101010101" pitchFamily="49" charset="-122"/>
                <a:ea typeface="仿宋" panose="02010609060101010101" pitchFamily="49" charset="-122"/>
              </a:rPr>
              <a:t>8  【</a:t>
            </a:r>
            <a:r>
              <a:rPr lang="zh-CN" altLang="en-US" b="1" dirty="0" smtClean="0">
                <a:latin typeface="仿宋" panose="02010609060101010101" pitchFamily="49" charset="-122"/>
                <a:ea typeface="仿宋" panose="02010609060101010101" pitchFamily="49" charset="-122"/>
              </a:rPr>
              <a:t>例</a:t>
            </a:r>
            <a:r>
              <a:rPr lang="en-US" altLang="zh-CN" b="1" dirty="0" smtClean="0">
                <a:latin typeface="仿宋" panose="02010609060101010101" pitchFamily="49" charset="-122"/>
                <a:ea typeface="仿宋" panose="02010609060101010101" pitchFamily="49" charset="-122"/>
              </a:rPr>
              <a:t>】</a:t>
            </a:r>
            <a:r>
              <a:rPr lang="zh-CN" altLang="en-US" b="1" dirty="0">
                <a:latin typeface="仿宋" panose="02010609060101010101" pitchFamily="49" charset="-122"/>
                <a:ea typeface="仿宋" panose="02010609060101010101" pitchFamily="49" charset="-122"/>
              </a:rPr>
              <a:t>设计的逻辑电路图</a:t>
            </a:r>
          </a:p>
        </p:txBody>
      </p:sp>
      <p:sp>
        <p:nvSpPr>
          <p:cNvPr id="50" name="标题 1"/>
          <p:cNvSpPr txBox="1">
            <a:spLocks/>
          </p:cNvSpPr>
          <p:nvPr/>
        </p:nvSpPr>
        <p:spPr bwMode="auto">
          <a:xfrm>
            <a:off x="1367136" y="764704"/>
            <a:ext cx="7381328"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091686672"/>
      </p:ext>
    </p:extLst>
  </p:cSld>
  <p:clrMapOvr>
    <a:masterClrMapping/>
  </p:clrMapOvr>
  <p:transition advTm="11947"/>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3944"/>
                                        </p:tgtEl>
                                        <p:attrNameLst>
                                          <p:attrName>style.visibility</p:attrName>
                                        </p:attrNameLst>
                                      </p:cBhvr>
                                      <p:to>
                                        <p:strVal val="visible"/>
                                      </p:to>
                                    </p:set>
                                    <p:animEffect transition="in" filter="blinds(horizontal)">
                                      <p:cBhvr>
                                        <p:cTn id="7" dur="500"/>
                                        <p:tgtEl>
                                          <p:spTgt spid="4239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3976"/>
                                        </p:tgtEl>
                                        <p:attrNameLst>
                                          <p:attrName>style.visibility</p:attrName>
                                        </p:attrNameLst>
                                      </p:cBhvr>
                                      <p:to>
                                        <p:strVal val="visible"/>
                                      </p:to>
                                    </p:set>
                                    <p:animEffect transition="in" filter="blinds(horizontal)">
                                      <p:cBhvr>
                                        <p:cTn id="12" dur="500"/>
                                        <p:tgtEl>
                                          <p:spTgt spid="42397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内容占位符 2"/>
          <p:cNvSpPr>
            <a:spLocks noGrp="1"/>
          </p:cNvSpPr>
          <p:nvPr>
            <p:ph idx="1"/>
          </p:nvPr>
        </p:nvSpPr>
        <p:spPr>
          <a:xfrm>
            <a:off x="467544" y="1988840"/>
            <a:ext cx="8487544" cy="4608512"/>
          </a:xfrm>
        </p:spPr>
        <p:txBody>
          <a:bodyPr/>
          <a:lstStyle/>
          <a:p>
            <a:pPr lvl="2">
              <a:buClr>
                <a:srgbClr val="FF0000"/>
              </a:buClr>
              <a:buSzPct val="100000"/>
            </a:pPr>
            <a:r>
              <a:rPr lang="zh-CN" altLang="en-US" sz="2400" dirty="0"/>
              <a:t>步骤六</a:t>
            </a:r>
            <a:r>
              <a:rPr lang="zh-CN" altLang="en-US" sz="2400" dirty="0" smtClean="0"/>
              <a:t>：自启动</a:t>
            </a:r>
            <a:r>
              <a:rPr lang="zh-CN" altLang="en-US" sz="2400" dirty="0"/>
              <a:t>检查</a:t>
            </a:r>
          </a:p>
          <a:p>
            <a:endParaRPr lang="zh-CN" altLang="en-US" dirty="0"/>
          </a:p>
        </p:txBody>
      </p:sp>
      <p:graphicFrame>
        <p:nvGraphicFramePr>
          <p:cNvPr id="424970" name="Object 10"/>
          <p:cNvGraphicFramePr>
            <a:graphicFrameLocks noChangeAspect="1"/>
          </p:cNvGraphicFramePr>
          <p:nvPr>
            <p:extLst>
              <p:ext uri="{D42A27DB-BD31-4B8C-83A1-F6EECF244321}">
                <p14:modId xmlns:p14="http://schemas.microsoft.com/office/powerpoint/2010/main" xmlns="" val="1504015922"/>
              </p:ext>
            </p:extLst>
          </p:nvPr>
        </p:nvGraphicFramePr>
        <p:xfrm>
          <a:off x="3492500" y="2599134"/>
          <a:ext cx="4348163" cy="3654425"/>
        </p:xfrm>
        <a:graphic>
          <a:graphicData uri="http://schemas.openxmlformats.org/presentationml/2006/ole">
            <p:oleObj spid="_x0000_s15046" name="Visio" r:id="rId3" imgW="3081444" imgH="2588426" progId="">
              <p:embed/>
            </p:oleObj>
          </a:graphicData>
        </a:graphic>
      </p:graphicFrame>
      <p:graphicFrame>
        <p:nvGraphicFramePr>
          <p:cNvPr id="424971" name="Object 11"/>
          <p:cNvGraphicFramePr>
            <a:graphicFrameLocks noChangeAspect="1"/>
          </p:cNvGraphicFramePr>
          <p:nvPr>
            <p:extLst>
              <p:ext uri="{D42A27DB-BD31-4B8C-83A1-F6EECF244321}">
                <p14:modId xmlns:p14="http://schemas.microsoft.com/office/powerpoint/2010/main" xmlns="" val="829434143"/>
              </p:ext>
            </p:extLst>
          </p:nvPr>
        </p:nvGraphicFramePr>
        <p:xfrm>
          <a:off x="4787900" y="4904184"/>
          <a:ext cx="673100" cy="676275"/>
        </p:xfrm>
        <a:graphic>
          <a:graphicData uri="http://schemas.openxmlformats.org/presentationml/2006/ole">
            <p:oleObj spid="_x0000_s15047" name="Visio" r:id="rId4" imgW="488066" imgH="488193" progId="">
              <p:embed/>
            </p:oleObj>
          </a:graphicData>
        </a:graphic>
      </p:graphicFrame>
      <p:graphicFrame>
        <p:nvGraphicFramePr>
          <p:cNvPr id="424972" name="Object 12"/>
          <p:cNvGraphicFramePr>
            <a:graphicFrameLocks noChangeAspect="1"/>
          </p:cNvGraphicFramePr>
          <p:nvPr>
            <p:extLst>
              <p:ext uri="{D42A27DB-BD31-4B8C-83A1-F6EECF244321}">
                <p14:modId xmlns:p14="http://schemas.microsoft.com/office/powerpoint/2010/main" xmlns="" val="363220698"/>
              </p:ext>
            </p:extLst>
          </p:nvPr>
        </p:nvGraphicFramePr>
        <p:xfrm>
          <a:off x="4787900" y="4294584"/>
          <a:ext cx="792163" cy="681037"/>
        </p:xfrm>
        <a:graphic>
          <a:graphicData uri="http://schemas.openxmlformats.org/presentationml/2006/ole">
            <p:oleObj spid="_x0000_s15048" name="Visio" r:id="rId5" imgW="534713" imgH="509369" progId="">
              <p:embed/>
            </p:oleObj>
          </a:graphicData>
        </a:graphic>
      </p:graphicFrame>
      <p:graphicFrame>
        <p:nvGraphicFramePr>
          <p:cNvPr id="424973" name="Object 13"/>
          <p:cNvGraphicFramePr>
            <a:graphicFrameLocks noChangeAspect="1"/>
          </p:cNvGraphicFramePr>
          <p:nvPr>
            <p:extLst>
              <p:ext uri="{D42A27DB-BD31-4B8C-83A1-F6EECF244321}">
                <p14:modId xmlns:p14="http://schemas.microsoft.com/office/powerpoint/2010/main" xmlns="" val="2146570542"/>
              </p:ext>
            </p:extLst>
          </p:nvPr>
        </p:nvGraphicFramePr>
        <p:xfrm>
          <a:off x="5292725" y="5453459"/>
          <a:ext cx="936625" cy="674687"/>
        </p:xfrm>
        <a:graphic>
          <a:graphicData uri="http://schemas.openxmlformats.org/presentationml/2006/ole">
            <p:oleObj spid="_x0000_s15049" name="Visio" r:id="rId6" imgW="605648" imgH="436602" progId="">
              <p:embed/>
            </p:oleObj>
          </a:graphicData>
        </a:graphic>
      </p:graphicFrame>
      <p:sp>
        <p:nvSpPr>
          <p:cNvPr id="424974" name="Text Box 14"/>
          <p:cNvSpPr txBox="1">
            <a:spLocks noChangeArrowheads="1"/>
          </p:cNvSpPr>
          <p:nvPr/>
        </p:nvSpPr>
        <p:spPr bwMode="auto">
          <a:xfrm>
            <a:off x="3707904" y="6381328"/>
            <a:ext cx="4899025"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a:latin typeface="楷体_GB2312" pitchFamily="49" charset="-122"/>
                <a:ea typeface="楷体_GB2312" pitchFamily="49" charset="-122"/>
              </a:rPr>
              <a:t>图</a:t>
            </a:r>
            <a:r>
              <a:rPr lang="en-US" altLang="zh-CN" sz="2000" b="1" dirty="0">
                <a:latin typeface="楷体_GB2312" pitchFamily="49" charset="-122"/>
                <a:ea typeface="楷体_GB2312" pitchFamily="49" charset="-122"/>
              </a:rPr>
              <a:t>9 【</a:t>
            </a:r>
            <a:r>
              <a:rPr lang="zh-CN" altLang="en-US" sz="2000" b="1" dirty="0" smtClean="0">
                <a:latin typeface="楷体_GB2312" pitchFamily="49" charset="-122"/>
                <a:ea typeface="楷体_GB2312" pitchFamily="49" charset="-122"/>
              </a:rPr>
              <a:t>例</a:t>
            </a:r>
            <a:r>
              <a:rPr lang="en-US" altLang="zh-CN" sz="2000" b="1" dirty="0" smtClean="0">
                <a:latin typeface="楷体_GB2312" pitchFamily="49" charset="-122"/>
                <a:ea typeface="楷体_GB2312" pitchFamily="49" charset="-122"/>
              </a:rPr>
              <a:t>】</a:t>
            </a:r>
            <a:r>
              <a:rPr lang="zh-CN" altLang="en-US" sz="2000" b="1" dirty="0">
                <a:latin typeface="楷体_GB2312" pitchFamily="49" charset="-122"/>
                <a:ea typeface="楷体_GB2312" pitchFamily="49" charset="-122"/>
              </a:rPr>
              <a:t>功能验证的完整状态转换表</a:t>
            </a:r>
          </a:p>
        </p:txBody>
      </p:sp>
      <p:sp>
        <p:nvSpPr>
          <p:cNvPr id="11" name="标题 1"/>
          <p:cNvSpPr txBox="1">
            <a:spLocks/>
          </p:cNvSpPr>
          <p:nvPr/>
        </p:nvSpPr>
        <p:spPr bwMode="auto">
          <a:xfrm>
            <a:off x="1259632" y="764704"/>
            <a:ext cx="7704856"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471475964"/>
      </p:ext>
    </p:extLst>
  </p:cSld>
  <p:clrMapOvr>
    <a:masterClrMapping/>
  </p:clrMapOvr>
  <p:transition advTm="11947"/>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4971"/>
                                        </p:tgtEl>
                                        <p:attrNameLst>
                                          <p:attrName>style.visibility</p:attrName>
                                        </p:attrNameLst>
                                      </p:cBhvr>
                                      <p:to>
                                        <p:strVal val="visible"/>
                                      </p:to>
                                    </p:set>
                                    <p:animEffect transition="in" filter="blinds(horizontal)">
                                      <p:cBhvr>
                                        <p:cTn id="7" dur="500"/>
                                        <p:tgtEl>
                                          <p:spTgt spid="42497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4972"/>
                                        </p:tgtEl>
                                        <p:attrNameLst>
                                          <p:attrName>style.visibility</p:attrName>
                                        </p:attrNameLst>
                                      </p:cBhvr>
                                      <p:to>
                                        <p:strVal val="visible"/>
                                      </p:to>
                                    </p:set>
                                    <p:animEffect transition="in" filter="blinds(horizontal)">
                                      <p:cBhvr>
                                        <p:cTn id="12" dur="500"/>
                                        <p:tgtEl>
                                          <p:spTgt spid="42497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424973"/>
                                        </p:tgtEl>
                                        <p:attrNameLst>
                                          <p:attrName>style.visibility</p:attrName>
                                        </p:attrNameLst>
                                      </p:cBhvr>
                                      <p:to>
                                        <p:strVal val="visible"/>
                                      </p:to>
                                    </p:set>
                                    <p:animEffect transition="in" filter="blinds(horizontal)">
                                      <p:cBhvr>
                                        <p:cTn id="17" dur="500"/>
                                        <p:tgtEl>
                                          <p:spTgt spid="42497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8038" name="Text Box 6"/>
          <p:cNvSpPr txBox="1">
            <a:spLocks noChangeArrowheads="1"/>
          </p:cNvSpPr>
          <p:nvPr/>
        </p:nvSpPr>
        <p:spPr bwMode="auto">
          <a:xfrm>
            <a:off x="2411413" y="6488509"/>
            <a:ext cx="5113337"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a:latin typeface="楷体_GB2312" pitchFamily="49" charset="-122"/>
                <a:ea typeface="楷体_GB2312" pitchFamily="49" charset="-122"/>
              </a:rPr>
              <a:t>图</a:t>
            </a:r>
            <a:r>
              <a:rPr lang="en-US" altLang="zh-CN" sz="2000" b="1">
                <a:latin typeface="楷体_GB2312" pitchFamily="49" charset="-122"/>
                <a:ea typeface="楷体_GB2312" pitchFamily="49" charset="-122"/>
              </a:rPr>
              <a:t>11  </a:t>
            </a:r>
            <a:r>
              <a:rPr lang="zh-CN" altLang="en-US" sz="2000" b="1">
                <a:latin typeface="楷体_GB2312" pitchFamily="49" charset="-122"/>
                <a:ea typeface="楷体_GB2312" pitchFamily="49" charset="-122"/>
              </a:rPr>
              <a:t>同步时序逻辑电路的设计过程示意图</a:t>
            </a:r>
          </a:p>
        </p:txBody>
      </p:sp>
      <p:sp>
        <p:nvSpPr>
          <p:cNvPr id="428039" name="AutoShape 7"/>
          <p:cNvSpPr>
            <a:spLocks noChangeArrowheads="1"/>
          </p:cNvSpPr>
          <p:nvPr/>
        </p:nvSpPr>
        <p:spPr bwMode="auto">
          <a:xfrm>
            <a:off x="7524105" y="2081580"/>
            <a:ext cx="1081088" cy="576262"/>
          </a:xfrm>
          <a:prstGeom prst="wedgeRoundRectCallout">
            <a:avLst>
              <a:gd name="adj1" fmla="val -53218"/>
              <a:gd name="adj2" fmla="val 95992"/>
              <a:gd name="adj3" fmla="val 16667"/>
            </a:avLst>
          </a:prstGeom>
          <a:noFill/>
          <a:ln w="28575">
            <a:solidFill>
              <a:schemeClr val="accent1"/>
            </a:solidFill>
            <a:miter lim="800000"/>
            <a:headEnd/>
            <a:tailEnd/>
          </a:ln>
          <a:effectLst/>
          <a:extLst>
            <a:ext uri="{909E8E84-426E-40DD-AFC4-6F175D3DCCD1}">
              <a14:hiddenFill xmlns:a14="http://schemas.microsoft.com/office/drawing/2010/main" xmlns="">
                <a:solidFill>
                  <a:schemeClr val="tx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sz="2000" b="1">
                <a:solidFill>
                  <a:srgbClr val="FF0000"/>
                </a:solidFill>
                <a:ea typeface="黑体" panose="02010609060101010101" pitchFamily="49" charset="-122"/>
              </a:rPr>
              <a:t>“</a:t>
            </a:r>
            <a:r>
              <a:rPr lang="zh-CN" altLang="en-US" sz="2000" b="1">
                <a:solidFill>
                  <a:srgbClr val="FF0000"/>
                </a:solidFill>
                <a:ea typeface="黑体" panose="02010609060101010101" pitchFamily="49" charset="-122"/>
              </a:rPr>
              <a:t>简”</a:t>
            </a:r>
          </a:p>
        </p:txBody>
      </p:sp>
      <p:sp>
        <p:nvSpPr>
          <p:cNvPr id="428040" name="AutoShape 8"/>
          <p:cNvSpPr>
            <a:spLocks noChangeArrowheads="1"/>
          </p:cNvSpPr>
          <p:nvPr/>
        </p:nvSpPr>
        <p:spPr bwMode="auto">
          <a:xfrm>
            <a:off x="2339975" y="5983684"/>
            <a:ext cx="1008063" cy="504825"/>
          </a:xfrm>
          <a:prstGeom prst="wedgeRoundRectCallout">
            <a:avLst>
              <a:gd name="adj1" fmla="val 89528"/>
              <a:gd name="adj2" fmla="val -88051"/>
              <a:gd name="adj3" fmla="val 16667"/>
            </a:avLst>
          </a:prstGeom>
          <a:noFill/>
          <a:ln w="28575">
            <a:solidFill>
              <a:schemeClr val="accent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sz="2000" b="1">
                <a:solidFill>
                  <a:srgbClr val="FF0000"/>
                </a:solidFill>
                <a:ea typeface="黑体" panose="02010609060101010101" pitchFamily="49" charset="-122"/>
              </a:rPr>
              <a:t>“</a:t>
            </a:r>
            <a:r>
              <a:rPr lang="zh-CN" altLang="en-US" sz="2000" b="1">
                <a:solidFill>
                  <a:srgbClr val="FF0000"/>
                </a:solidFill>
                <a:ea typeface="黑体" panose="02010609060101010101" pitchFamily="49" charset="-122"/>
              </a:rPr>
              <a:t>宜”</a:t>
            </a:r>
          </a:p>
        </p:txBody>
      </p:sp>
      <p:sp>
        <p:nvSpPr>
          <p:cNvPr id="428041" name="Text Box 9"/>
          <p:cNvSpPr txBox="1">
            <a:spLocks noChangeArrowheads="1"/>
          </p:cNvSpPr>
          <p:nvPr/>
        </p:nvSpPr>
        <p:spPr bwMode="auto">
          <a:xfrm>
            <a:off x="900113" y="1959937"/>
            <a:ext cx="1439862" cy="400110"/>
          </a:xfrm>
          <a:prstGeom prst="rect">
            <a:avLst/>
          </a:prstGeom>
          <a:solidFill>
            <a:srgbClr val="FFFF99"/>
          </a:solidFill>
          <a:ln w="28575">
            <a:solidFill>
              <a:schemeClr val="accent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kumimoji="1" lang="zh-CN" altLang="en-US" sz="2000" b="1">
                <a:solidFill>
                  <a:srgbClr val="0000FF"/>
                </a:solidFill>
                <a:latin typeface="Times New Roman" panose="02020603050405020304" pitchFamily="18" charset="0"/>
                <a:ea typeface="黑体" panose="02010609060101010101" pitchFamily="49" charset="-122"/>
              </a:rPr>
              <a:t>总结一</a:t>
            </a:r>
          </a:p>
        </p:txBody>
      </p:sp>
      <p:sp>
        <p:nvSpPr>
          <p:cNvPr id="428042" name="Text Box 10"/>
          <p:cNvSpPr txBox="1">
            <a:spLocks noChangeArrowheads="1"/>
          </p:cNvSpPr>
          <p:nvPr/>
        </p:nvSpPr>
        <p:spPr bwMode="auto">
          <a:xfrm>
            <a:off x="683568" y="2441942"/>
            <a:ext cx="6264275"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a:ea typeface="黑体" panose="02010609060101010101" pitchFamily="49" charset="-122"/>
              </a:rPr>
              <a:t>同步时序逻辑电路的一般设计流程：</a:t>
            </a:r>
            <a:endParaRPr lang="zh-CN" altLang="en-US" sz="2000" b="1">
              <a:ea typeface="楷体_GB2312" pitchFamily="49" charset="-122"/>
            </a:endParaRPr>
          </a:p>
        </p:txBody>
      </p:sp>
      <p:sp>
        <p:nvSpPr>
          <p:cNvPr id="428043" name="AutoShape 11"/>
          <p:cNvSpPr>
            <a:spLocks noChangeArrowheads="1"/>
          </p:cNvSpPr>
          <p:nvPr/>
        </p:nvSpPr>
        <p:spPr bwMode="auto">
          <a:xfrm>
            <a:off x="5652443" y="1937117"/>
            <a:ext cx="1079500" cy="576263"/>
          </a:xfrm>
          <a:prstGeom prst="wedgeRoundRectCallout">
            <a:avLst>
              <a:gd name="adj1" fmla="val -63897"/>
              <a:gd name="adj2" fmla="val 134596"/>
              <a:gd name="adj3" fmla="val 16667"/>
            </a:avLst>
          </a:prstGeom>
          <a:solidFill>
            <a:schemeClr val="bg1"/>
          </a:solidFill>
          <a:ln w="28575">
            <a:solidFill>
              <a:schemeClr val="accent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sz="2000" b="1">
                <a:solidFill>
                  <a:srgbClr val="FF0000"/>
                </a:solidFill>
                <a:ea typeface="黑体" panose="02010609060101010101" pitchFamily="49" charset="-122"/>
              </a:rPr>
              <a:t>“</a:t>
            </a:r>
            <a:r>
              <a:rPr lang="zh-CN" altLang="en-US" sz="2000" b="1">
                <a:solidFill>
                  <a:srgbClr val="FF0000"/>
                </a:solidFill>
                <a:ea typeface="黑体" panose="02010609060101010101" pitchFamily="49" charset="-122"/>
              </a:rPr>
              <a:t>全”</a:t>
            </a:r>
          </a:p>
        </p:txBody>
      </p:sp>
      <p:graphicFrame>
        <p:nvGraphicFramePr>
          <p:cNvPr id="428044" name="Object 12"/>
          <p:cNvGraphicFramePr>
            <a:graphicFrameLocks noChangeAspect="1"/>
          </p:cNvGraphicFramePr>
          <p:nvPr>
            <p:extLst>
              <p:ext uri="{D42A27DB-BD31-4B8C-83A1-F6EECF244321}">
                <p14:modId xmlns:p14="http://schemas.microsoft.com/office/powerpoint/2010/main" xmlns="" val="850444766"/>
              </p:ext>
            </p:extLst>
          </p:nvPr>
        </p:nvGraphicFramePr>
        <p:xfrm>
          <a:off x="2124075" y="2959496"/>
          <a:ext cx="1368425" cy="881063"/>
        </p:xfrm>
        <a:graphic>
          <a:graphicData uri="http://schemas.openxmlformats.org/presentationml/2006/ole">
            <p:oleObj spid="_x0000_s35033" name="Visio" r:id="rId3" imgW="956084" imgH="595996" progId="">
              <p:embed/>
            </p:oleObj>
          </a:graphicData>
        </a:graphic>
      </p:graphicFrame>
      <p:graphicFrame>
        <p:nvGraphicFramePr>
          <p:cNvPr id="428045" name="Object 13"/>
          <p:cNvGraphicFramePr>
            <a:graphicFrameLocks noChangeAspect="1"/>
          </p:cNvGraphicFramePr>
          <p:nvPr>
            <p:extLst>
              <p:ext uri="{D42A27DB-BD31-4B8C-83A1-F6EECF244321}">
                <p14:modId xmlns:p14="http://schemas.microsoft.com/office/powerpoint/2010/main" xmlns="" val="2817059432"/>
              </p:ext>
            </p:extLst>
          </p:nvPr>
        </p:nvGraphicFramePr>
        <p:xfrm>
          <a:off x="3419475" y="2730896"/>
          <a:ext cx="2232025" cy="1165225"/>
        </p:xfrm>
        <a:graphic>
          <a:graphicData uri="http://schemas.openxmlformats.org/presentationml/2006/ole">
            <p:oleObj spid="_x0000_s35034" name="Visio" r:id="rId4" imgW="1784176" imgH="751926" progId="">
              <p:embed/>
            </p:oleObj>
          </a:graphicData>
        </a:graphic>
      </p:graphicFrame>
      <p:graphicFrame>
        <p:nvGraphicFramePr>
          <p:cNvPr id="428046" name="Object 14"/>
          <p:cNvGraphicFramePr>
            <a:graphicFrameLocks noChangeAspect="1"/>
          </p:cNvGraphicFramePr>
          <p:nvPr>
            <p:extLst>
              <p:ext uri="{D42A27DB-BD31-4B8C-83A1-F6EECF244321}">
                <p14:modId xmlns:p14="http://schemas.microsoft.com/office/powerpoint/2010/main" xmlns="" val="3659160076"/>
              </p:ext>
            </p:extLst>
          </p:nvPr>
        </p:nvGraphicFramePr>
        <p:xfrm>
          <a:off x="5580063" y="2672159"/>
          <a:ext cx="2449512" cy="1257300"/>
        </p:xfrm>
        <a:graphic>
          <a:graphicData uri="http://schemas.openxmlformats.org/presentationml/2006/ole">
            <p:oleObj spid="_x0000_s35035" name="Visio" r:id="rId5" imgW="1855883" imgH="751926" progId="">
              <p:embed/>
            </p:oleObj>
          </a:graphicData>
        </a:graphic>
      </p:graphicFrame>
      <p:graphicFrame>
        <p:nvGraphicFramePr>
          <p:cNvPr id="428047" name="Object 15"/>
          <p:cNvGraphicFramePr>
            <a:graphicFrameLocks noChangeAspect="1"/>
          </p:cNvGraphicFramePr>
          <p:nvPr>
            <p:extLst>
              <p:ext uri="{D42A27DB-BD31-4B8C-83A1-F6EECF244321}">
                <p14:modId xmlns:p14="http://schemas.microsoft.com/office/powerpoint/2010/main" xmlns="" val="2638235507"/>
              </p:ext>
            </p:extLst>
          </p:nvPr>
        </p:nvGraphicFramePr>
        <p:xfrm>
          <a:off x="6372225" y="3319859"/>
          <a:ext cx="2330450" cy="1960562"/>
        </p:xfrm>
        <a:graphic>
          <a:graphicData uri="http://schemas.openxmlformats.org/presentationml/2006/ole">
            <p:oleObj spid="_x0000_s35036" name="Visio" r:id="rId6" imgW="1639993" imgH="1297870" progId="">
              <p:embed/>
            </p:oleObj>
          </a:graphicData>
        </a:graphic>
      </p:graphicFrame>
      <p:sp>
        <p:nvSpPr>
          <p:cNvPr id="428048" name="AutoShape 16"/>
          <p:cNvSpPr>
            <a:spLocks noChangeArrowheads="1"/>
          </p:cNvSpPr>
          <p:nvPr/>
        </p:nvSpPr>
        <p:spPr bwMode="auto">
          <a:xfrm>
            <a:off x="7812088" y="5696346"/>
            <a:ext cx="1081087" cy="576263"/>
          </a:xfrm>
          <a:prstGeom prst="wedgeRoundRectCallout">
            <a:avLst>
              <a:gd name="adj1" fmla="val 806"/>
              <a:gd name="adj2" fmla="val -280028"/>
              <a:gd name="adj3" fmla="val 16667"/>
            </a:avLst>
          </a:prstGeom>
          <a:noFill/>
          <a:ln w="28575">
            <a:solidFill>
              <a:schemeClr val="accent1"/>
            </a:solidFill>
            <a:miter lim="800000"/>
            <a:headEnd/>
            <a:tailEnd/>
          </a:ln>
          <a:effectLst/>
          <a:extLst>
            <a:ext uri="{909E8E84-426E-40DD-AFC4-6F175D3DCCD1}">
              <a14:hiddenFill xmlns:a14="http://schemas.microsoft.com/office/drawing/2010/main" xmlns="">
                <a:solidFill>
                  <a:schemeClr val="tx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sz="2000" b="1">
                <a:solidFill>
                  <a:srgbClr val="FF0000"/>
                </a:solidFill>
                <a:ea typeface="黑体" panose="02010609060101010101" pitchFamily="49" charset="-122"/>
              </a:rPr>
              <a:t>“</a:t>
            </a:r>
            <a:r>
              <a:rPr lang="zh-CN" altLang="en-US" sz="2000" b="1">
                <a:solidFill>
                  <a:srgbClr val="FF0000"/>
                </a:solidFill>
                <a:ea typeface="黑体" panose="02010609060101010101" pitchFamily="49" charset="-122"/>
              </a:rPr>
              <a:t>巧”</a:t>
            </a:r>
          </a:p>
        </p:txBody>
      </p:sp>
      <p:graphicFrame>
        <p:nvGraphicFramePr>
          <p:cNvPr id="428049" name="Object 17"/>
          <p:cNvGraphicFramePr>
            <a:graphicFrameLocks noChangeAspect="1"/>
          </p:cNvGraphicFramePr>
          <p:nvPr>
            <p:extLst>
              <p:ext uri="{D42A27DB-BD31-4B8C-83A1-F6EECF244321}">
                <p14:modId xmlns:p14="http://schemas.microsoft.com/office/powerpoint/2010/main" xmlns="" val="534273174"/>
              </p:ext>
            </p:extLst>
          </p:nvPr>
        </p:nvGraphicFramePr>
        <p:xfrm>
          <a:off x="3709988" y="4429521"/>
          <a:ext cx="2735262" cy="1771650"/>
        </p:xfrm>
        <a:graphic>
          <a:graphicData uri="http://schemas.openxmlformats.org/presentationml/2006/ole">
            <p:oleObj spid="_x0000_s35037" name="Visio" r:id="rId7" imgW="1973080" imgH="1225874" progId="">
              <p:embed/>
            </p:oleObj>
          </a:graphicData>
        </a:graphic>
      </p:graphicFrame>
      <p:graphicFrame>
        <p:nvGraphicFramePr>
          <p:cNvPr id="428050" name="Object 18"/>
          <p:cNvGraphicFramePr>
            <a:graphicFrameLocks noChangeAspect="1"/>
          </p:cNvGraphicFramePr>
          <p:nvPr>
            <p:extLst>
              <p:ext uri="{D42A27DB-BD31-4B8C-83A1-F6EECF244321}">
                <p14:modId xmlns:p14="http://schemas.microsoft.com/office/powerpoint/2010/main" xmlns="" val="2145858609"/>
              </p:ext>
            </p:extLst>
          </p:nvPr>
        </p:nvGraphicFramePr>
        <p:xfrm>
          <a:off x="2124075" y="4400946"/>
          <a:ext cx="2016125" cy="863600"/>
        </p:xfrm>
        <a:graphic>
          <a:graphicData uri="http://schemas.openxmlformats.org/presentationml/2006/ole">
            <p:oleObj spid="_x0000_s35038" name="Visio" r:id="rId8" imgW="1685098" imgH="595996" progId="">
              <p:embed/>
            </p:oleObj>
          </a:graphicData>
        </a:graphic>
      </p:graphicFrame>
      <p:graphicFrame>
        <p:nvGraphicFramePr>
          <p:cNvPr id="428051" name="Object 19"/>
          <p:cNvGraphicFramePr>
            <a:graphicFrameLocks noChangeAspect="1"/>
          </p:cNvGraphicFramePr>
          <p:nvPr>
            <p:extLst>
              <p:ext uri="{D42A27DB-BD31-4B8C-83A1-F6EECF244321}">
                <p14:modId xmlns:p14="http://schemas.microsoft.com/office/powerpoint/2010/main" xmlns="" val="1691045720"/>
              </p:ext>
            </p:extLst>
          </p:nvPr>
        </p:nvGraphicFramePr>
        <p:xfrm>
          <a:off x="107950" y="3391296"/>
          <a:ext cx="2187575" cy="2663825"/>
        </p:xfrm>
        <a:graphic>
          <a:graphicData uri="http://schemas.openxmlformats.org/presentationml/2006/ole">
            <p:oleObj spid="_x0000_s35039" name="Visio" r:id="rId9" imgW="1577153" imgH="1918892" progId="">
              <p:embed/>
            </p:oleObj>
          </a:graphicData>
        </a:graphic>
      </p:graphicFrame>
      <p:sp>
        <p:nvSpPr>
          <p:cNvPr id="17" name="标题 1"/>
          <p:cNvSpPr txBox="1">
            <a:spLocks/>
          </p:cNvSpPr>
          <p:nvPr/>
        </p:nvSpPr>
        <p:spPr bwMode="auto">
          <a:xfrm>
            <a:off x="1259632" y="764704"/>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636833806"/>
      </p:ext>
    </p:extLst>
  </p:cSld>
  <p:clrMapOvr>
    <a:masterClrMapping/>
  </p:clrMapOvr>
  <p:transition advTm="11947"/>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428044"/>
                                        </p:tgtEl>
                                        <p:attrNameLst>
                                          <p:attrName>style.visibility</p:attrName>
                                        </p:attrNameLst>
                                      </p:cBhvr>
                                      <p:to>
                                        <p:strVal val="visible"/>
                                      </p:to>
                                    </p:set>
                                    <p:animEffect transition="in" filter="blinds(horizontal)">
                                      <p:cBhvr>
                                        <p:cTn id="7" dur="500"/>
                                        <p:tgtEl>
                                          <p:spTgt spid="42804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428045"/>
                                        </p:tgtEl>
                                        <p:attrNameLst>
                                          <p:attrName>style.visibility</p:attrName>
                                        </p:attrNameLst>
                                      </p:cBhvr>
                                      <p:to>
                                        <p:strVal val="visible"/>
                                      </p:to>
                                    </p:set>
                                    <p:animEffect transition="in" filter="blinds(horizontal)">
                                      <p:cBhvr>
                                        <p:cTn id="12" dur="500"/>
                                        <p:tgtEl>
                                          <p:spTgt spid="42804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28043"/>
                                        </p:tgtEl>
                                        <p:attrNameLst>
                                          <p:attrName>style.visibility</p:attrName>
                                        </p:attrNameLst>
                                      </p:cBhvr>
                                      <p:to>
                                        <p:strVal val="visible"/>
                                      </p:to>
                                    </p:set>
                                    <p:animEffect transition="in" filter="blinds(horizontal)">
                                      <p:cBhvr>
                                        <p:cTn id="17" dur="500"/>
                                        <p:tgtEl>
                                          <p:spTgt spid="428043"/>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428046"/>
                                        </p:tgtEl>
                                        <p:attrNameLst>
                                          <p:attrName>style.visibility</p:attrName>
                                        </p:attrNameLst>
                                      </p:cBhvr>
                                      <p:to>
                                        <p:strVal val="visible"/>
                                      </p:to>
                                    </p:set>
                                    <p:animEffect transition="in" filter="blinds(horizontal)">
                                      <p:cBhvr>
                                        <p:cTn id="22" dur="500"/>
                                        <p:tgtEl>
                                          <p:spTgt spid="42804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428039"/>
                                        </p:tgtEl>
                                        <p:attrNameLst>
                                          <p:attrName>style.visibility</p:attrName>
                                        </p:attrNameLst>
                                      </p:cBhvr>
                                      <p:to>
                                        <p:strVal val="visible"/>
                                      </p:to>
                                    </p:set>
                                    <p:animEffect transition="in" filter="blinds(horizontal)">
                                      <p:cBhvr>
                                        <p:cTn id="27" dur="500"/>
                                        <p:tgtEl>
                                          <p:spTgt spid="42803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428047"/>
                                        </p:tgtEl>
                                        <p:attrNameLst>
                                          <p:attrName>style.visibility</p:attrName>
                                        </p:attrNameLst>
                                      </p:cBhvr>
                                      <p:to>
                                        <p:strVal val="visible"/>
                                      </p:to>
                                    </p:set>
                                    <p:animEffect transition="in" filter="blinds(horizontal)">
                                      <p:cBhvr>
                                        <p:cTn id="32" dur="500"/>
                                        <p:tgtEl>
                                          <p:spTgt spid="42804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428048"/>
                                        </p:tgtEl>
                                        <p:attrNameLst>
                                          <p:attrName>style.visibility</p:attrName>
                                        </p:attrNameLst>
                                      </p:cBhvr>
                                      <p:to>
                                        <p:strVal val="visible"/>
                                      </p:to>
                                    </p:set>
                                    <p:animEffect transition="in" filter="blinds(horizontal)">
                                      <p:cBhvr>
                                        <p:cTn id="37" dur="500"/>
                                        <p:tgtEl>
                                          <p:spTgt spid="42804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428049"/>
                                        </p:tgtEl>
                                        <p:attrNameLst>
                                          <p:attrName>style.visibility</p:attrName>
                                        </p:attrNameLst>
                                      </p:cBhvr>
                                      <p:to>
                                        <p:strVal val="visible"/>
                                      </p:to>
                                    </p:set>
                                    <p:animEffect transition="in" filter="blinds(horizontal)">
                                      <p:cBhvr>
                                        <p:cTn id="42" dur="500"/>
                                        <p:tgtEl>
                                          <p:spTgt spid="428049"/>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428040"/>
                                        </p:tgtEl>
                                        <p:attrNameLst>
                                          <p:attrName>style.visibility</p:attrName>
                                        </p:attrNameLst>
                                      </p:cBhvr>
                                      <p:to>
                                        <p:strVal val="visible"/>
                                      </p:to>
                                    </p:set>
                                    <p:animEffect transition="in" filter="blinds(horizontal)">
                                      <p:cBhvr>
                                        <p:cTn id="47" dur="500"/>
                                        <p:tgtEl>
                                          <p:spTgt spid="42804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nodeType="clickEffect">
                                  <p:stCondLst>
                                    <p:cond delay="0"/>
                                  </p:stCondLst>
                                  <p:childTnLst>
                                    <p:set>
                                      <p:cBhvr>
                                        <p:cTn id="51" dur="1" fill="hold">
                                          <p:stCondLst>
                                            <p:cond delay="0"/>
                                          </p:stCondLst>
                                        </p:cTn>
                                        <p:tgtEl>
                                          <p:spTgt spid="428050"/>
                                        </p:tgtEl>
                                        <p:attrNameLst>
                                          <p:attrName>style.visibility</p:attrName>
                                        </p:attrNameLst>
                                      </p:cBhvr>
                                      <p:to>
                                        <p:strVal val="visible"/>
                                      </p:to>
                                    </p:set>
                                    <p:animEffect transition="in" filter="blinds(horizontal)">
                                      <p:cBhvr>
                                        <p:cTn id="52" dur="500"/>
                                        <p:tgtEl>
                                          <p:spTgt spid="42805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428051"/>
                                        </p:tgtEl>
                                        <p:attrNameLst>
                                          <p:attrName>style.visibility</p:attrName>
                                        </p:attrNameLst>
                                      </p:cBhvr>
                                      <p:to>
                                        <p:strVal val="visible"/>
                                      </p:to>
                                    </p:set>
                                    <p:animEffect transition="in" filter="blinds(horizontal)">
                                      <p:cBhvr>
                                        <p:cTn id="57" dur="500"/>
                                        <p:tgtEl>
                                          <p:spTgt spid="42805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28039" grpId="0" animBg="1"/>
      <p:bldP spid="428040" grpId="0" animBg="1"/>
      <p:bldP spid="428043" grpId="0" animBg="1"/>
      <p:bldP spid="428048"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9062" name="Text Box 6"/>
          <p:cNvSpPr txBox="1">
            <a:spLocks noChangeArrowheads="1"/>
          </p:cNvSpPr>
          <p:nvPr/>
        </p:nvSpPr>
        <p:spPr bwMode="auto">
          <a:xfrm>
            <a:off x="899592" y="2098543"/>
            <a:ext cx="1439863" cy="400110"/>
          </a:xfrm>
          <a:prstGeom prst="rect">
            <a:avLst/>
          </a:prstGeom>
          <a:solidFill>
            <a:srgbClr val="FFFF99"/>
          </a:solidFill>
          <a:ln w="28575">
            <a:solidFill>
              <a:schemeClr val="accent1"/>
            </a:solidFill>
            <a:miter lim="800000"/>
            <a:headEnd/>
            <a:tailEnd/>
          </a:ln>
          <a:effectLst/>
          <a:extLs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kumimoji="1" lang="zh-CN" altLang="en-US" sz="2000" b="1">
                <a:solidFill>
                  <a:srgbClr val="0000FF"/>
                </a:solidFill>
                <a:latin typeface="Times New Roman" panose="02020603050405020304" pitchFamily="18" charset="0"/>
                <a:ea typeface="黑体" panose="02010609060101010101" pitchFamily="49" charset="-122"/>
              </a:rPr>
              <a:t>总结二</a:t>
            </a:r>
          </a:p>
        </p:txBody>
      </p:sp>
      <p:sp>
        <p:nvSpPr>
          <p:cNvPr id="429063" name="Text Box 7"/>
          <p:cNvSpPr txBox="1">
            <a:spLocks noChangeArrowheads="1"/>
          </p:cNvSpPr>
          <p:nvPr/>
        </p:nvSpPr>
        <p:spPr bwMode="auto">
          <a:xfrm>
            <a:off x="799040" y="2905516"/>
            <a:ext cx="7632700" cy="203132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20000"/>
              </a:lnSpc>
              <a:spcBef>
                <a:spcPct val="50000"/>
              </a:spcBef>
            </a:pPr>
            <a:r>
              <a:rPr lang="zh-CN" altLang="en-US" sz="2000" b="1" dirty="0">
                <a:solidFill>
                  <a:srgbClr val="FF0000"/>
                </a:solidFill>
                <a:ea typeface="黑体" panose="02010609060101010101" pitchFamily="49" charset="-122"/>
              </a:rPr>
              <a:t>同步时序逻辑电路的特点：</a:t>
            </a:r>
            <a:endParaRPr lang="zh-CN" altLang="en-US" sz="2000" b="1" dirty="0">
              <a:solidFill>
                <a:schemeClr val="bg2"/>
              </a:solidFill>
              <a:ea typeface="黑体" panose="02010609060101010101" pitchFamily="49" charset="-122"/>
            </a:endParaRPr>
          </a:p>
          <a:p>
            <a:pPr marL="342900" indent="-342900">
              <a:lnSpc>
                <a:spcPct val="120000"/>
              </a:lnSpc>
              <a:spcBef>
                <a:spcPct val="50000"/>
              </a:spcBef>
              <a:buFont typeface="Wingdings" panose="05000000000000000000" pitchFamily="2" charset="2"/>
              <a:buChar char="Ø"/>
            </a:pPr>
            <a:r>
              <a:rPr lang="zh-CN" altLang="en-US" sz="2000" b="1" dirty="0" smtClean="0">
                <a:ea typeface="黑体" panose="02010609060101010101" pitchFamily="49" charset="-122"/>
              </a:rPr>
              <a:t>工作</a:t>
            </a:r>
            <a:r>
              <a:rPr lang="zh-CN" altLang="en-US" sz="2000" b="1" dirty="0">
                <a:ea typeface="黑体" panose="02010609060101010101" pitchFamily="49" charset="-122"/>
              </a:rPr>
              <a:t>频率范围较宽；</a:t>
            </a:r>
          </a:p>
          <a:p>
            <a:pPr marL="342900" indent="-342900">
              <a:lnSpc>
                <a:spcPct val="120000"/>
              </a:lnSpc>
              <a:spcBef>
                <a:spcPct val="50000"/>
              </a:spcBef>
              <a:buFont typeface="Wingdings" panose="05000000000000000000" pitchFamily="2" charset="2"/>
              <a:buChar char="Ø"/>
            </a:pPr>
            <a:r>
              <a:rPr lang="zh-CN" altLang="en-US" sz="2000" b="1" dirty="0" smtClean="0">
                <a:ea typeface="黑体" panose="02010609060101010101" pitchFamily="49" charset="-122"/>
              </a:rPr>
              <a:t>工作</a:t>
            </a:r>
            <a:r>
              <a:rPr lang="zh-CN" altLang="en-US" sz="2000" b="1" dirty="0">
                <a:ea typeface="黑体" panose="02010609060101010101" pitchFamily="49" charset="-122"/>
              </a:rPr>
              <a:t>稳定，不易产生竞争－冒险；</a:t>
            </a:r>
          </a:p>
          <a:p>
            <a:pPr marL="342900" indent="-342900">
              <a:lnSpc>
                <a:spcPct val="120000"/>
              </a:lnSpc>
              <a:spcBef>
                <a:spcPct val="50000"/>
              </a:spcBef>
              <a:buFont typeface="Wingdings" panose="05000000000000000000" pitchFamily="2" charset="2"/>
              <a:buChar char="Ø"/>
            </a:pPr>
            <a:r>
              <a:rPr lang="zh-CN" altLang="en-US" sz="2000" b="1" dirty="0" smtClean="0">
                <a:ea typeface="黑体" panose="02010609060101010101" pitchFamily="49" charset="-122"/>
              </a:rPr>
              <a:t>所</a:t>
            </a:r>
            <a:r>
              <a:rPr lang="zh-CN" altLang="en-US" sz="2000" b="1" dirty="0">
                <a:ea typeface="黑体" panose="02010609060101010101" pitchFamily="49" charset="-122"/>
              </a:rPr>
              <a:t>设计的电路一般较异步时序逻辑电路复杂。</a:t>
            </a:r>
          </a:p>
        </p:txBody>
      </p:sp>
      <p:sp>
        <p:nvSpPr>
          <p:cNvPr id="429065" name="Text Box 9">
            <a:hlinkClick r:id="rId2" action="ppaction://hlinksldjump"/>
          </p:cNvPr>
          <p:cNvSpPr txBox="1">
            <a:spLocks noChangeArrowheads="1"/>
          </p:cNvSpPr>
          <p:nvPr/>
        </p:nvSpPr>
        <p:spPr bwMode="auto">
          <a:xfrm>
            <a:off x="755576" y="5555629"/>
            <a:ext cx="7632700" cy="830997"/>
          </a:xfrm>
          <a:prstGeom prst="rect">
            <a:avLst/>
          </a:prstGeom>
          <a:solidFill>
            <a:srgbClr val="FFFF99"/>
          </a:solidFill>
          <a:ln w="28575">
            <a:solidFill>
              <a:schemeClr val="accent1"/>
            </a:solidFill>
            <a:miter lim="800000"/>
            <a:headEnd/>
            <a:tailEnd/>
          </a:ln>
          <a:effectLst/>
          <a:extLst>
            <a:ext uri="{AF507438-7753-43E0-B8FC-AC1667EBCBE1}">
              <a14:hiddenEffects xmlns:a14="http://schemas.microsoft.com/office/drawing/2010/main" xmlns="">
                <a:effectLst>
                  <a:outerShdw dist="107763" dir="18900000" algn="ctr" rotWithShape="0">
                    <a:schemeClr val="bg2"/>
                  </a:outerShdw>
                </a:effectLst>
              </a14:hiddenEffects>
            </a:ext>
          </a:extLst>
        </p:spPr>
        <p:txBody>
          <a:bodyPr>
            <a:spAutoFit/>
          </a:bodyPr>
          <a:lstStyle/>
          <a:p>
            <a:pPr>
              <a:spcBef>
                <a:spcPct val="50000"/>
              </a:spcBef>
            </a:pPr>
            <a:r>
              <a:rPr kumimoji="1" lang="en-US" altLang="zh-CN" sz="2400" b="1">
                <a:latin typeface="Times New Roman" panose="02020603050405020304" pitchFamily="18" charset="0"/>
              </a:rPr>
              <a:t>          </a:t>
            </a:r>
            <a:r>
              <a:rPr kumimoji="1" lang="zh-CN" altLang="en-US" sz="2400" b="1">
                <a:latin typeface="Times New Roman" panose="02020603050405020304" pitchFamily="18" charset="0"/>
                <a:ea typeface="黑体" panose="02010609060101010101" pitchFamily="49" charset="-122"/>
              </a:rPr>
              <a:t>总之，在设计稳定性和工作频率要求较高的中大规模时序系统时一般采用</a:t>
            </a:r>
            <a:r>
              <a:rPr kumimoji="1" lang="zh-CN" altLang="en-US" sz="2400" b="1">
                <a:solidFill>
                  <a:srgbClr val="FF0000"/>
                </a:solidFill>
                <a:latin typeface="Times New Roman" panose="02020603050405020304" pitchFamily="18" charset="0"/>
                <a:ea typeface="黑体" panose="02010609060101010101" pitchFamily="49" charset="-122"/>
              </a:rPr>
              <a:t>同步时序电路</a:t>
            </a:r>
            <a:r>
              <a:rPr kumimoji="1" lang="zh-CN" altLang="en-US" sz="2400" b="1">
                <a:latin typeface="Times New Roman" panose="02020603050405020304" pitchFamily="18" charset="0"/>
                <a:ea typeface="黑体" panose="02010609060101010101" pitchFamily="49" charset="-122"/>
              </a:rPr>
              <a:t>来设计。</a:t>
            </a:r>
          </a:p>
        </p:txBody>
      </p:sp>
      <p:sp>
        <p:nvSpPr>
          <p:cNvPr id="6" name="标题 1"/>
          <p:cNvSpPr txBox="1">
            <a:spLocks/>
          </p:cNvSpPr>
          <p:nvPr/>
        </p:nvSpPr>
        <p:spPr bwMode="auto">
          <a:xfrm>
            <a:off x="1187624" y="764704"/>
            <a:ext cx="777686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同步时序逻辑电路的设计</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783283803"/>
      </p:ext>
    </p:extLst>
  </p:cSld>
  <p:clrMapOvr>
    <a:masterClrMapping/>
  </p:clrMapOvr>
  <p:transition advTm="11947"/>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187624" y="1052736"/>
            <a:ext cx="7704856" cy="638944"/>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395536" y="2060848"/>
            <a:ext cx="8424936" cy="4203848"/>
          </a:xfrm>
        </p:spPr>
        <p:txBody>
          <a:bodyPr/>
          <a:lstStyle/>
          <a:p>
            <a:pPr>
              <a:lnSpc>
                <a:spcPct val="100000"/>
              </a:lnSpc>
              <a:spcBef>
                <a:spcPts val="600"/>
              </a:spcBef>
              <a:buSzPct val="100000"/>
              <a:buFont typeface="Wingdings" pitchFamily="2" charset="2"/>
              <a:buChar char="p"/>
            </a:pPr>
            <a:r>
              <a:rPr lang="zh-CN" altLang="en-US" sz="2800" dirty="0">
                <a:solidFill>
                  <a:srgbClr val="0000CC"/>
                </a:solidFill>
                <a:latin typeface="黑体" panose="02010609060101010101" pitchFamily="49" charset="-122"/>
                <a:ea typeface="黑体" panose="02010609060101010101" pitchFamily="49" charset="-122"/>
              </a:rPr>
              <a:t>计数器（</a:t>
            </a:r>
            <a:r>
              <a:rPr lang="en-US" altLang="zh-CN" sz="2800" dirty="0">
                <a:solidFill>
                  <a:srgbClr val="0000CC"/>
                </a:solidFill>
                <a:latin typeface="黑体" panose="02010609060101010101" pitchFamily="49" charset="-122"/>
                <a:ea typeface="黑体" panose="02010609060101010101" pitchFamily="49" charset="-122"/>
              </a:rPr>
              <a:t>Counter</a:t>
            </a:r>
            <a:r>
              <a:rPr lang="zh-CN" altLang="en-US" sz="2800" dirty="0" smtClean="0">
                <a:solidFill>
                  <a:srgbClr val="0000CC"/>
                </a:solidFill>
                <a:latin typeface="黑体" panose="02010609060101010101" pitchFamily="49" charset="-122"/>
                <a:ea typeface="黑体" panose="02010609060101010101" pitchFamily="49" charset="-122"/>
              </a:rPr>
              <a:t>）</a:t>
            </a:r>
            <a:endParaRPr lang="en-US" altLang="zh-CN" sz="2800" dirty="0" smtClean="0">
              <a:solidFill>
                <a:srgbClr val="0000CC"/>
              </a:solidFill>
              <a:latin typeface="黑体" panose="02010609060101010101" pitchFamily="49" charset="-122"/>
              <a:ea typeface="黑体" panose="02010609060101010101" pitchFamily="49" charset="-122"/>
            </a:endParaRPr>
          </a:p>
          <a:p>
            <a:pPr lvl="1">
              <a:lnSpc>
                <a:spcPct val="100000"/>
              </a:lnSpc>
              <a:spcBef>
                <a:spcPts val="600"/>
              </a:spcBef>
              <a:buSzPct val="100000"/>
            </a:pPr>
            <a:r>
              <a:rPr lang="zh-CN" altLang="en-US" sz="2400" dirty="0"/>
              <a:t>计数器是数字设备的基本逻辑部件，其主要功能是</a:t>
            </a:r>
            <a:r>
              <a:rPr lang="zh-CN" altLang="en-US" sz="2400" dirty="0">
                <a:solidFill>
                  <a:srgbClr val="FF0000"/>
                </a:solidFill>
              </a:rPr>
              <a:t>记录输入脉冲的个数</a:t>
            </a:r>
            <a:r>
              <a:rPr lang="zh-CN" altLang="en-US" sz="2400" dirty="0"/>
              <a:t>。</a:t>
            </a:r>
            <a:r>
              <a:rPr lang="zh-CN" altLang="en-US" sz="2400" dirty="0">
                <a:solidFill>
                  <a:srgbClr val="0000CC"/>
                </a:solidFill>
              </a:rPr>
              <a:t>计数器所能记忆的最大脉冲个数</a:t>
            </a:r>
            <a:r>
              <a:rPr lang="zh-CN" altLang="en-US" sz="2400" dirty="0"/>
              <a:t>称作该计数器的</a:t>
            </a:r>
            <a:r>
              <a:rPr lang="zh-CN" altLang="en-US" sz="2400" dirty="0">
                <a:solidFill>
                  <a:srgbClr val="FF0000"/>
                </a:solidFill>
              </a:rPr>
              <a:t>“模”</a:t>
            </a:r>
            <a:r>
              <a:rPr lang="zh-CN" altLang="en-US" sz="2400" dirty="0"/>
              <a:t>。</a:t>
            </a:r>
          </a:p>
          <a:p>
            <a:pPr lvl="1">
              <a:lnSpc>
                <a:spcPct val="100000"/>
              </a:lnSpc>
              <a:spcBef>
                <a:spcPts val="600"/>
              </a:spcBef>
              <a:buSzPct val="100000"/>
            </a:pPr>
            <a:r>
              <a:rPr lang="zh-CN" altLang="en-US" sz="2400" dirty="0" smtClean="0"/>
              <a:t>计数器的应用：</a:t>
            </a:r>
            <a:endParaRPr lang="en-US" altLang="zh-CN" sz="2400" dirty="0" smtClean="0"/>
          </a:p>
          <a:p>
            <a:pPr lvl="2">
              <a:lnSpc>
                <a:spcPct val="100000"/>
              </a:lnSpc>
              <a:spcBef>
                <a:spcPts val="600"/>
              </a:spcBef>
              <a:buClr>
                <a:srgbClr val="0000CC"/>
              </a:buClr>
              <a:buSzPct val="100000"/>
              <a:buFont typeface="Wingdings" pitchFamily="2" charset="2"/>
              <a:buChar char="u"/>
            </a:pPr>
            <a:r>
              <a:rPr lang="zh-CN" altLang="en-US" dirty="0" smtClean="0"/>
              <a:t>计算机</a:t>
            </a:r>
            <a:r>
              <a:rPr lang="zh-CN" altLang="en-US" dirty="0"/>
              <a:t>的时序发生器、时间分配器、分频器、程序计数器、指令计数器等场所</a:t>
            </a:r>
            <a:r>
              <a:rPr lang="zh-CN" altLang="en-US" dirty="0" smtClean="0"/>
              <a:t>；</a:t>
            </a:r>
            <a:endParaRPr lang="en-US" altLang="zh-CN" dirty="0" smtClean="0"/>
          </a:p>
          <a:p>
            <a:pPr lvl="2">
              <a:lnSpc>
                <a:spcPct val="100000"/>
              </a:lnSpc>
              <a:spcBef>
                <a:spcPts val="600"/>
              </a:spcBef>
              <a:buClr>
                <a:srgbClr val="0000CC"/>
              </a:buClr>
              <a:buSzPct val="100000"/>
              <a:buFont typeface="Wingdings" pitchFamily="2" charset="2"/>
              <a:buChar char="u"/>
            </a:pPr>
            <a:r>
              <a:rPr lang="zh-CN" altLang="en-US" dirty="0" smtClean="0"/>
              <a:t>数字化仪</a:t>
            </a:r>
            <a:r>
              <a:rPr lang="zh-CN" altLang="en-US" dirty="0"/>
              <a:t>表的压力、时间、温度等物理量的</a:t>
            </a:r>
            <a:r>
              <a:rPr lang="en-US" altLang="zh-CN" dirty="0"/>
              <a:t>A/D</a:t>
            </a:r>
            <a:r>
              <a:rPr lang="zh-CN" altLang="en-US" dirty="0"/>
              <a:t>、</a:t>
            </a:r>
            <a:r>
              <a:rPr lang="en-US" altLang="zh-CN" dirty="0"/>
              <a:t>D/A</a:t>
            </a:r>
            <a:r>
              <a:rPr lang="zh-CN" altLang="en-US" dirty="0"/>
              <a:t>转换也都要通过脉冲计数来实现。</a:t>
            </a:r>
          </a:p>
          <a:p>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45</a:t>
            </a:fld>
            <a:endParaRPr lang="zh-CN" altLang="en-US"/>
          </a:p>
        </p:txBody>
      </p:sp>
    </p:spTree>
    <p:extLst>
      <p:ext uri="{BB962C8B-B14F-4D97-AF65-F5344CB8AC3E}">
        <p14:creationId xmlns:p14="http://schemas.microsoft.com/office/powerpoint/2010/main" xmlns="" val="2351582664"/>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187624" y="620688"/>
            <a:ext cx="7488832" cy="638944"/>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395536" y="1702018"/>
            <a:ext cx="8291264" cy="4752528"/>
          </a:xfrm>
          <a:solidFill>
            <a:schemeClr val="bg1"/>
          </a:solidFill>
        </p:spPr>
        <p:txBody>
          <a:bodyPr/>
          <a:lstStyle/>
          <a:p>
            <a:pPr>
              <a:lnSpc>
                <a:spcPct val="100000"/>
              </a:lnSpc>
              <a:spcBef>
                <a:spcPts val="600"/>
              </a:spcBef>
              <a:buSzPct val="100000"/>
              <a:buFont typeface="Wingdings" pitchFamily="2" charset="2"/>
              <a:buChar char="p"/>
            </a:pPr>
            <a:r>
              <a:rPr lang="zh-CN" altLang="en-US" sz="2800" dirty="0">
                <a:solidFill>
                  <a:srgbClr val="0000CC"/>
                </a:solidFill>
                <a:latin typeface="黑体" panose="02010609060101010101" pitchFamily="49" charset="-122"/>
                <a:ea typeface="黑体" panose="02010609060101010101" pitchFamily="49" charset="-122"/>
              </a:rPr>
              <a:t>计数器（</a:t>
            </a:r>
            <a:r>
              <a:rPr lang="en-US" altLang="zh-CN" sz="2800" dirty="0">
                <a:solidFill>
                  <a:srgbClr val="0000CC"/>
                </a:solidFill>
                <a:latin typeface="黑体" panose="02010609060101010101" pitchFamily="49" charset="-122"/>
                <a:ea typeface="黑体" panose="02010609060101010101" pitchFamily="49" charset="-122"/>
              </a:rPr>
              <a:t>Counter</a:t>
            </a:r>
            <a:r>
              <a:rPr lang="zh-CN" altLang="en-US" sz="2800" dirty="0" smtClean="0">
                <a:solidFill>
                  <a:srgbClr val="0000CC"/>
                </a:solidFill>
                <a:latin typeface="黑体" panose="02010609060101010101" pitchFamily="49" charset="-122"/>
                <a:ea typeface="黑体" panose="02010609060101010101" pitchFamily="49" charset="-122"/>
              </a:rPr>
              <a:t>）</a:t>
            </a:r>
            <a:endParaRPr lang="en-US" altLang="zh-CN" sz="2800" dirty="0" smtClean="0">
              <a:solidFill>
                <a:srgbClr val="0000CC"/>
              </a:solidFill>
              <a:latin typeface="黑体" panose="02010609060101010101" pitchFamily="49" charset="-122"/>
              <a:ea typeface="黑体" panose="02010609060101010101" pitchFamily="49" charset="-122"/>
            </a:endParaRPr>
          </a:p>
          <a:p>
            <a:pPr lvl="1">
              <a:lnSpc>
                <a:spcPct val="100000"/>
              </a:lnSpc>
              <a:spcBef>
                <a:spcPts val="600"/>
              </a:spcBef>
              <a:buSzPct val="100000"/>
            </a:pPr>
            <a:r>
              <a:rPr lang="zh-CN" altLang="en-US" sz="2400" dirty="0" smtClean="0"/>
              <a:t>计数器</a:t>
            </a:r>
            <a:r>
              <a:rPr lang="zh-CN" altLang="en-US" sz="2400" dirty="0"/>
              <a:t>可进行如下分类：</a:t>
            </a:r>
          </a:p>
          <a:p>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46</a:t>
            </a:fld>
            <a:endParaRPr lang="zh-CN" altLang="en-US"/>
          </a:p>
        </p:txBody>
      </p:sp>
      <p:sp>
        <p:nvSpPr>
          <p:cNvPr id="5" name="AutoShape 6"/>
          <p:cNvSpPr>
            <a:spLocks/>
          </p:cNvSpPr>
          <p:nvPr/>
        </p:nvSpPr>
        <p:spPr bwMode="auto">
          <a:xfrm>
            <a:off x="5939458" y="3068538"/>
            <a:ext cx="215900" cy="476250"/>
          </a:xfrm>
          <a:prstGeom prst="leftBrace">
            <a:avLst>
              <a:gd name="adj1" fmla="val 18382"/>
              <a:gd name="adj2" fmla="val 50000"/>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round/>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endParaRPr lang="zh-CN" altLang="zh-CN" b="1"/>
          </a:p>
        </p:txBody>
      </p:sp>
      <p:grpSp>
        <p:nvGrpSpPr>
          <p:cNvPr id="10" name="Organization Chart 2"/>
          <p:cNvGrpSpPr>
            <a:grpSpLocks noChangeAspect="1"/>
          </p:cNvGrpSpPr>
          <p:nvPr/>
        </p:nvGrpSpPr>
        <p:grpSpPr bwMode="auto">
          <a:xfrm>
            <a:off x="664355" y="2473734"/>
            <a:ext cx="7991475" cy="1885129"/>
            <a:chOff x="1134" y="1272"/>
            <a:chExt cx="1872" cy="1361"/>
          </a:xfrm>
          <a:solidFill>
            <a:srgbClr val="E5FFFF"/>
          </a:solidFill>
        </p:grpSpPr>
        <p:cxnSp>
          <p:nvCxnSpPr>
            <p:cNvPr id="18436" name="_s18436"/>
            <p:cNvCxnSpPr>
              <a:cxnSpLocks noChangeShapeType="1"/>
              <a:stCxn id="13" idx="0"/>
              <a:endCxn id="11" idx="2"/>
            </p:cNvCxnSpPr>
            <p:nvPr/>
          </p:nvCxnSpPr>
          <p:spPr bwMode="auto">
            <a:xfrm rot="5400000" flipH="1">
              <a:off x="2250" y="1606"/>
              <a:ext cx="144" cy="504"/>
            </a:xfrm>
            <a:prstGeom prst="bentConnector3">
              <a:avLst>
                <a:gd name="adj1" fmla="val 50000"/>
              </a:avLst>
            </a:prstGeom>
            <a:grpFill/>
            <a:ln w="9525">
              <a:solidFill>
                <a:srgbClr val="00B0F0"/>
              </a:solidFill>
              <a:miter lim="800000"/>
              <a:headEnd/>
              <a:tailEnd/>
            </a:ln>
            <a:extLst/>
          </p:spPr>
        </p:cxnSp>
        <p:cxnSp>
          <p:nvCxnSpPr>
            <p:cNvPr id="18437" name="_s18437"/>
            <p:cNvCxnSpPr>
              <a:cxnSpLocks noChangeShapeType="1"/>
              <a:stCxn id="12" idx="0"/>
              <a:endCxn id="11" idx="2"/>
            </p:cNvCxnSpPr>
            <p:nvPr/>
          </p:nvCxnSpPr>
          <p:spPr bwMode="auto">
            <a:xfrm rot="16200000">
              <a:off x="1746" y="1606"/>
              <a:ext cx="144" cy="504"/>
            </a:xfrm>
            <a:prstGeom prst="bentConnector3">
              <a:avLst>
                <a:gd name="adj1" fmla="val 50000"/>
              </a:avLst>
            </a:prstGeom>
            <a:grpFill/>
            <a:ln w="9525">
              <a:solidFill>
                <a:srgbClr val="00B0F0"/>
              </a:solidFill>
              <a:miter lim="800000"/>
              <a:headEnd/>
              <a:tailEnd/>
            </a:ln>
            <a:extLst/>
          </p:spPr>
        </p:cxnSp>
        <p:sp>
          <p:nvSpPr>
            <p:cNvPr id="11" name="_s18438"/>
            <p:cNvSpPr>
              <a:spLocks noChangeArrowheads="1"/>
            </p:cNvSpPr>
            <p:nvPr/>
          </p:nvSpPr>
          <p:spPr bwMode="auto">
            <a:xfrm>
              <a:off x="1639" y="1498"/>
              <a:ext cx="863" cy="288"/>
            </a:xfrm>
            <a:prstGeom prst="roundRect">
              <a:avLst>
                <a:gd name="adj" fmla="val 16667"/>
              </a:avLst>
            </a:prstGeom>
            <a:grpFill/>
            <a:ln w="9525">
              <a:solidFill>
                <a:srgbClr val="00B0F0"/>
              </a:solidFill>
              <a:round/>
              <a:headEnd/>
              <a:tailEnd/>
            </a:ln>
          </p:spPr>
          <p:txBody>
            <a:bodyPr vert="horz" wrap="none" lIns="28612" tIns="14306" rIns="28612" bIns="1430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按工作方式</a:t>
              </a:r>
            </a:p>
          </p:txBody>
        </p:sp>
        <p:sp>
          <p:nvSpPr>
            <p:cNvPr id="12" name="_s18439"/>
            <p:cNvSpPr>
              <a:spLocks noChangeArrowheads="1"/>
            </p:cNvSpPr>
            <p:nvPr/>
          </p:nvSpPr>
          <p:spPr bwMode="auto">
            <a:xfrm>
              <a:off x="1134" y="1930"/>
              <a:ext cx="864" cy="408"/>
            </a:xfrm>
            <a:prstGeom prst="roundRect">
              <a:avLst>
                <a:gd name="adj" fmla="val 16667"/>
              </a:avLst>
            </a:prstGeom>
            <a:grpFill/>
            <a:ln w="9525">
              <a:solidFill>
                <a:srgbClr val="00B0F0"/>
              </a:solidFill>
              <a:round/>
              <a:headEnd/>
              <a:tailEnd/>
            </a:ln>
          </p:spPr>
          <p:txBody>
            <a:bodyPr vert="horz" wrap="none" lIns="28612" tIns="14306" rIns="28612" bIns="1430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同步计数器</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(Synchronous Counter)</a:t>
              </a:r>
            </a:p>
          </p:txBody>
        </p:sp>
        <p:sp>
          <p:nvSpPr>
            <p:cNvPr id="13" name="_s18440"/>
            <p:cNvSpPr>
              <a:spLocks noChangeArrowheads="1"/>
            </p:cNvSpPr>
            <p:nvPr/>
          </p:nvSpPr>
          <p:spPr bwMode="auto">
            <a:xfrm>
              <a:off x="2142" y="1930"/>
              <a:ext cx="864" cy="408"/>
            </a:xfrm>
            <a:prstGeom prst="roundRect">
              <a:avLst>
                <a:gd name="adj" fmla="val 16667"/>
              </a:avLst>
            </a:prstGeom>
            <a:grpFill/>
            <a:ln w="9525">
              <a:solidFill>
                <a:srgbClr val="00B0F0"/>
              </a:solidFill>
              <a:round/>
              <a:headEnd/>
              <a:tailEnd/>
            </a:ln>
          </p:spPr>
          <p:txBody>
            <a:bodyPr vert="horz" wrap="none" lIns="28612" tIns="14306" rIns="28612" bIns="14306"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异步计数器</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(Asynchronous Counter)</a:t>
              </a:r>
            </a:p>
          </p:txBody>
        </p:sp>
      </p:grpSp>
      <p:grpSp>
        <p:nvGrpSpPr>
          <p:cNvPr id="14" name="Organization Chart 9"/>
          <p:cNvGrpSpPr>
            <a:grpSpLocks noChangeAspect="1"/>
          </p:cNvGrpSpPr>
          <p:nvPr/>
        </p:nvGrpSpPr>
        <p:grpSpPr bwMode="auto">
          <a:xfrm>
            <a:off x="250017" y="3698634"/>
            <a:ext cx="8820150" cy="2552968"/>
            <a:chOff x="1134" y="1272"/>
            <a:chExt cx="8130" cy="1724"/>
          </a:xfrm>
          <a:solidFill>
            <a:srgbClr val="E5FFFF"/>
          </a:solidFill>
        </p:grpSpPr>
        <p:cxnSp>
          <p:nvCxnSpPr>
            <p:cNvPr id="18443" name="_s18443"/>
            <p:cNvCxnSpPr>
              <a:cxnSpLocks noChangeShapeType="1"/>
              <a:stCxn id="18" idx="0"/>
              <a:endCxn id="15" idx="2"/>
            </p:cNvCxnSpPr>
            <p:nvPr/>
          </p:nvCxnSpPr>
          <p:spPr bwMode="auto">
            <a:xfrm rot="5400000" flipH="1">
              <a:off x="6507" y="540"/>
              <a:ext cx="144" cy="2757"/>
            </a:xfrm>
            <a:prstGeom prst="bentConnector3">
              <a:avLst>
                <a:gd name="adj1" fmla="val 50000"/>
              </a:avLst>
            </a:prstGeom>
            <a:grpFill/>
            <a:ln w="9525">
              <a:solidFill>
                <a:srgbClr val="00B0F0"/>
              </a:solidFill>
              <a:miter lim="800000"/>
              <a:headEnd/>
              <a:tailEnd/>
            </a:ln>
            <a:extLst/>
          </p:spPr>
        </p:cxnSp>
        <p:cxnSp>
          <p:nvCxnSpPr>
            <p:cNvPr id="18444" name="_s18444"/>
            <p:cNvCxnSpPr>
              <a:cxnSpLocks noChangeShapeType="1"/>
              <a:stCxn id="17" idx="0"/>
              <a:endCxn id="15" idx="2"/>
            </p:cNvCxnSpPr>
            <p:nvPr/>
          </p:nvCxnSpPr>
          <p:spPr bwMode="auto">
            <a:xfrm rot="16200000">
              <a:off x="5129" y="1918"/>
              <a:ext cx="144" cy="1"/>
            </a:xfrm>
            <a:prstGeom prst="straightConnector1">
              <a:avLst/>
            </a:prstGeom>
            <a:grpFill/>
            <a:ln w="9525">
              <a:solidFill>
                <a:srgbClr val="00B0F0"/>
              </a:solidFill>
              <a:round/>
              <a:headEnd/>
              <a:tailEnd/>
            </a:ln>
            <a:extLst/>
          </p:spPr>
        </p:cxnSp>
        <p:cxnSp>
          <p:nvCxnSpPr>
            <p:cNvPr id="18445" name="_s18445"/>
            <p:cNvCxnSpPr>
              <a:cxnSpLocks noChangeShapeType="1"/>
              <a:stCxn id="16" idx="0"/>
              <a:endCxn id="15" idx="2"/>
            </p:cNvCxnSpPr>
            <p:nvPr/>
          </p:nvCxnSpPr>
          <p:spPr bwMode="auto">
            <a:xfrm rot="16200000">
              <a:off x="3749" y="539"/>
              <a:ext cx="144" cy="2759"/>
            </a:xfrm>
            <a:prstGeom prst="bentConnector3">
              <a:avLst>
                <a:gd name="adj1" fmla="val 50000"/>
              </a:avLst>
            </a:prstGeom>
            <a:grpFill/>
            <a:ln w="9525">
              <a:solidFill>
                <a:srgbClr val="00B0F0"/>
              </a:solidFill>
              <a:miter lim="800000"/>
              <a:headEnd/>
              <a:tailEnd/>
            </a:ln>
            <a:extLst/>
          </p:spPr>
        </p:cxnSp>
        <p:sp>
          <p:nvSpPr>
            <p:cNvPr id="15" name="_s18446"/>
            <p:cNvSpPr>
              <a:spLocks noChangeArrowheads="1"/>
            </p:cNvSpPr>
            <p:nvPr/>
          </p:nvSpPr>
          <p:spPr bwMode="auto">
            <a:xfrm>
              <a:off x="4540" y="1559"/>
              <a:ext cx="1318" cy="288"/>
            </a:xfrm>
            <a:prstGeom prst="roundRect">
              <a:avLst>
                <a:gd name="adj" fmla="val 16667"/>
              </a:avLst>
            </a:prstGeom>
            <a:grpFill/>
            <a:ln w="9525">
              <a:solidFill>
                <a:srgbClr val="00B0F0"/>
              </a:solidFill>
              <a:round/>
              <a:headEnd/>
              <a:tailEnd/>
            </a:ln>
          </p:spPr>
          <p:txBody>
            <a:bodyPr vert="horz" wrap="none" lIns="40186" tIns="20094" rIns="40186" bIns="20094"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按进制</a:t>
              </a:r>
            </a:p>
          </p:txBody>
        </p:sp>
        <p:sp>
          <p:nvSpPr>
            <p:cNvPr id="16" name="_s18447"/>
            <p:cNvSpPr>
              <a:spLocks noChangeArrowheads="1"/>
            </p:cNvSpPr>
            <p:nvPr/>
          </p:nvSpPr>
          <p:spPr bwMode="auto">
            <a:xfrm>
              <a:off x="1134" y="1991"/>
              <a:ext cx="2614" cy="464"/>
            </a:xfrm>
            <a:prstGeom prst="roundRect">
              <a:avLst>
                <a:gd name="adj" fmla="val 16667"/>
              </a:avLst>
            </a:prstGeom>
            <a:grpFill/>
            <a:ln w="9525">
              <a:solidFill>
                <a:srgbClr val="00B0F0"/>
              </a:solidFill>
              <a:round/>
              <a:headEnd/>
              <a:tailEnd/>
            </a:ln>
          </p:spPr>
          <p:txBody>
            <a:bodyPr vert="horz" wrap="none" lIns="40186" tIns="20094" rIns="40186" bIns="20094"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二进制计数器</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(Binary Counter)</a:t>
              </a:r>
            </a:p>
          </p:txBody>
        </p:sp>
        <p:sp>
          <p:nvSpPr>
            <p:cNvPr id="17" name="_s18448"/>
            <p:cNvSpPr>
              <a:spLocks noChangeArrowheads="1"/>
            </p:cNvSpPr>
            <p:nvPr/>
          </p:nvSpPr>
          <p:spPr bwMode="auto">
            <a:xfrm>
              <a:off x="3892" y="1991"/>
              <a:ext cx="2614" cy="464"/>
            </a:xfrm>
            <a:prstGeom prst="roundRect">
              <a:avLst>
                <a:gd name="adj" fmla="val 16667"/>
              </a:avLst>
            </a:prstGeom>
            <a:grpFill/>
            <a:ln w="9525">
              <a:solidFill>
                <a:srgbClr val="00B0F0"/>
              </a:solidFill>
              <a:round/>
              <a:headEnd/>
              <a:tailEnd/>
            </a:ln>
          </p:spPr>
          <p:txBody>
            <a:bodyPr vert="horz" wrap="none" lIns="40186" tIns="20094" rIns="40186" bIns="20094"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十进制计数器</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(Dec Counter)</a:t>
              </a:r>
            </a:p>
          </p:txBody>
        </p:sp>
        <p:sp>
          <p:nvSpPr>
            <p:cNvPr id="18" name="_s18449"/>
            <p:cNvSpPr>
              <a:spLocks noChangeArrowheads="1"/>
            </p:cNvSpPr>
            <p:nvPr/>
          </p:nvSpPr>
          <p:spPr bwMode="auto">
            <a:xfrm>
              <a:off x="6650" y="1991"/>
              <a:ext cx="2614" cy="464"/>
            </a:xfrm>
            <a:prstGeom prst="roundRect">
              <a:avLst>
                <a:gd name="adj" fmla="val 16667"/>
              </a:avLst>
            </a:prstGeom>
            <a:grpFill/>
            <a:ln w="9525">
              <a:solidFill>
                <a:srgbClr val="00B0F0"/>
              </a:solidFill>
              <a:round/>
              <a:headEnd/>
              <a:tailEnd/>
            </a:ln>
          </p:spPr>
          <p:txBody>
            <a:bodyPr vert="horz" wrap="none" lIns="40186" tIns="20094" rIns="40186" bIns="20094"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任意进制计数器</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(Discretional Counter)</a:t>
              </a:r>
            </a:p>
          </p:txBody>
        </p:sp>
      </p:grpSp>
      <p:grpSp>
        <p:nvGrpSpPr>
          <p:cNvPr id="19" name="Organization Chart 18"/>
          <p:cNvGrpSpPr>
            <a:grpSpLocks noChangeAspect="1"/>
          </p:cNvGrpSpPr>
          <p:nvPr/>
        </p:nvGrpSpPr>
        <p:grpSpPr bwMode="auto">
          <a:xfrm>
            <a:off x="645318" y="5189400"/>
            <a:ext cx="7921625" cy="2352668"/>
            <a:chOff x="1134" y="1272"/>
            <a:chExt cx="6168" cy="1724"/>
          </a:xfrm>
          <a:solidFill>
            <a:srgbClr val="E5FFFF"/>
          </a:solidFill>
        </p:grpSpPr>
        <p:cxnSp>
          <p:nvCxnSpPr>
            <p:cNvPr id="18452" name="_s18452"/>
            <p:cNvCxnSpPr>
              <a:cxnSpLocks noChangeShapeType="1"/>
              <a:stCxn id="23" idx="0"/>
              <a:endCxn id="20" idx="2"/>
            </p:cNvCxnSpPr>
            <p:nvPr/>
          </p:nvCxnSpPr>
          <p:spPr bwMode="auto">
            <a:xfrm rot="5400000" flipH="1">
              <a:off x="5199" y="867"/>
              <a:ext cx="144" cy="2103"/>
            </a:xfrm>
            <a:prstGeom prst="bentConnector3">
              <a:avLst>
                <a:gd name="adj1" fmla="val 50000"/>
              </a:avLst>
            </a:prstGeom>
            <a:grpFill/>
            <a:ln w="9525">
              <a:solidFill>
                <a:srgbClr val="00B0F0"/>
              </a:solidFill>
              <a:miter lim="800000"/>
              <a:headEnd/>
              <a:tailEnd/>
            </a:ln>
            <a:extLst/>
          </p:spPr>
        </p:cxnSp>
        <p:cxnSp>
          <p:nvCxnSpPr>
            <p:cNvPr id="18453" name="_s18453"/>
            <p:cNvCxnSpPr>
              <a:cxnSpLocks noChangeShapeType="1"/>
              <a:stCxn id="22" idx="0"/>
              <a:endCxn id="20" idx="2"/>
            </p:cNvCxnSpPr>
            <p:nvPr/>
          </p:nvCxnSpPr>
          <p:spPr bwMode="auto">
            <a:xfrm rot="16200000">
              <a:off x="4148" y="1918"/>
              <a:ext cx="144" cy="1"/>
            </a:xfrm>
            <a:prstGeom prst="straightConnector1">
              <a:avLst/>
            </a:prstGeom>
            <a:grpFill/>
            <a:ln w="9525">
              <a:solidFill>
                <a:srgbClr val="00B0F0"/>
              </a:solidFill>
              <a:round/>
              <a:headEnd/>
              <a:tailEnd/>
            </a:ln>
            <a:extLst/>
          </p:spPr>
        </p:cxnSp>
        <p:cxnSp>
          <p:nvCxnSpPr>
            <p:cNvPr id="18454" name="_s18454"/>
            <p:cNvCxnSpPr>
              <a:cxnSpLocks noChangeShapeType="1"/>
              <a:stCxn id="21" idx="0"/>
              <a:endCxn id="20" idx="2"/>
            </p:cNvCxnSpPr>
            <p:nvPr/>
          </p:nvCxnSpPr>
          <p:spPr bwMode="auto">
            <a:xfrm rot="16200000">
              <a:off x="3095" y="866"/>
              <a:ext cx="144" cy="2105"/>
            </a:xfrm>
            <a:prstGeom prst="bentConnector3">
              <a:avLst>
                <a:gd name="adj1" fmla="val 50000"/>
              </a:avLst>
            </a:prstGeom>
            <a:grpFill/>
            <a:ln w="9525">
              <a:solidFill>
                <a:srgbClr val="00B0F0"/>
              </a:solidFill>
              <a:miter lim="800000"/>
              <a:headEnd/>
              <a:tailEnd/>
            </a:ln>
            <a:extLst/>
          </p:spPr>
        </p:cxnSp>
        <p:sp>
          <p:nvSpPr>
            <p:cNvPr id="20" name="_s18455"/>
            <p:cNvSpPr>
              <a:spLocks noChangeArrowheads="1"/>
            </p:cNvSpPr>
            <p:nvPr/>
          </p:nvSpPr>
          <p:spPr bwMode="auto">
            <a:xfrm>
              <a:off x="3786" y="1559"/>
              <a:ext cx="864" cy="288"/>
            </a:xfrm>
            <a:prstGeom prst="roundRect">
              <a:avLst>
                <a:gd name="adj" fmla="val 16667"/>
              </a:avLst>
            </a:prstGeom>
            <a:grpFill/>
            <a:ln w="9525">
              <a:solidFill>
                <a:srgbClr val="00B0F0"/>
              </a:solidFill>
              <a:round/>
              <a:headEnd/>
              <a:tailEnd/>
            </a:ln>
          </p:spPr>
          <p:txBody>
            <a:bodyPr vert="horz" wrap="none" lIns="42791" tIns="21395" rIns="42791" bIns="21395"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smtClean="0">
                  <a:ln>
                    <a:noFill/>
                  </a:ln>
                  <a:solidFill>
                    <a:srgbClr val="FF0000"/>
                  </a:solidFill>
                  <a:effectLst/>
                  <a:latin typeface="Arial" panose="020B0604020202020204" pitchFamily="34" charset="0"/>
                  <a:ea typeface="宋体" panose="02010600030101010101" pitchFamily="2" charset="-122"/>
                </a:rPr>
                <a:t>按功能</a:t>
              </a:r>
            </a:p>
          </p:txBody>
        </p:sp>
        <p:sp>
          <p:nvSpPr>
            <p:cNvPr id="21" name="_s18456"/>
            <p:cNvSpPr>
              <a:spLocks noChangeArrowheads="1"/>
            </p:cNvSpPr>
            <p:nvPr/>
          </p:nvSpPr>
          <p:spPr bwMode="auto">
            <a:xfrm>
              <a:off x="1134" y="1991"/>
              <a:ext cx="1960" cy="462"/>
            </a:xfrm>
            <a:prstGeom prst="roundRect">
              <a:avLst>
                <a:gd name="adj" fmla="val 16667"/>
              </a:avLst>
            </a:prstGeom>
            <a:grpFill/>
            <a:ln w="9525">
              <a:solidFill>
                <a:srgbClr val="00B0F0"/>
              </a:solidFill>
              <a:round/>
              <a:headEnd/>
              <a:tailEnd/>
            </a:ln>
          </p:spPr>
          <p:txBody>
            <a:bodyPr vert="horz" wrap="none" lIns="42791" tIns="21395" rIns="42791" bIns="21395"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加法计数器</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(Up Counter)</a:t>
              </a:r>
            </a:p>
          </p:txBody>
        </p:sp>
        <p:sp>
          <p:nvSpPr>
            <p:cNvPr id="22" name="_s18457"/>
            <p:cNvSpPr>
              <a:spLocks noChangeArrowheads="1"/>
            </p:cNvSpPr>
            <p:nvPr/>
          </p:nvSpPr>
          <p:spPr bwMode="auto">
            <a:xfrm>
              <a:off x="3238" y="1991"/>
              <a:ext cx="1960" cy="462"/>
            </a:xfrm>
            <a:prstGeom prst="roundRect">
              <a:avLst>
                <a:gd name="adj" fmla="val 16667"/>
              </a:avLst>
            </a:prstGeom>
            <a:grpFill/>
            <a:ln w="9525">
              <a:solidFill>
                <a:srgbClr val="00B0F0"/>
              </a:solidFill>
              <a:round/>
              <a:headEnd/>
              <a:tailEnd/>
            </a:ln>
          </p:spPr>
          <p:txBody>
            <a:bodyPr vert="horz" wrap="none" lIns="42791" tIns="21395" rIns="42791" bIns="21395"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减法计数器</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(Down Counter)</a:t>
              </a:r>
            </a:p>
          </p:txBody>
        </p:sp>
        <p:sp>
          <p:nvSpPr>
            <p:cNvPr id="23" name="_s18458"/>
            <p:cNvSpPr>
              <a:spLocks noChangeArrowheads="1"/>
            </p:cNvSpPr>
            <p:nvPr/>
          </p:nvSpPr>
          <p:spPr bwMode="auto">
            <a:xfrm>
              <a:off x="5342" y="1991"/>
              <a:ext cx="1960" cy="462"/>
            </a:xfrm>
            <a:prstGeom prst="roundRect">
              <a:avLst>
                <a:gd name="adj" fmla="val 16667"/>
              </a:avLst>
            </a:prstGeom>
            <a:grpFill/>
            <a:ln w="9525">
              <a:solidFill>
                <a:srgbClr val="00B0F0"/>
              </a:solidFill>
              <a:round/>
              <a:headEnd/>
              <a:tailEnd/>
            </a:ln>
          </p:spPr>
          <p:txBody>
            <a:bodyPr vert="horz" wrap="none" lIns="42791" tIns="21395" rIns="42791" bIns="21395" numCol="1" anchor="ctr" anchorCtr="0" compatLnSpc="1">
              <a:prstTxWarp prst="textNoShape">
                <a:avLst/>
              </a:prstTxWarp>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zh-CN" altLang="en-US"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可逆计数器</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altLang="zh-CN"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(Up/Down Counter)</a:t>
              </a:r>
            </a:p>
          </p:txBody>
        </p:sp>
      </p:grpSp>
    </p:spTree>
    <p:extLst>
      <p:ext uri="{BB962C8B-B14F-4D97-AF65-F5344CB8AC3E}">
        <p14:creationId xmlns:p14="http://schemas.microsoft.com/office/powerpoint/2010/main" xmlns="" val="3761145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187624" y="1052736"/>
            <a:ext cx="7416824" cy="638944"/>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467544" y="1988840"/>
            <a:ext cx="8487544" cy="4608512"/>
          </a:xfrm>
        </p:spPr>
        <p:txBody>
          <a:bodyPr/>
          <a:lstStyle/>
          <a:p>
            <a:pPr>
              <a:lnSpc>
                <a:spcPct val="100000"/>
              </a:lnSpc>
              <a:spcBef>
                <a:spcPts val="600"/>
              </a:spcBef>
              <a:buSzPct val="100000"/>
              <a:buFont typeface="Wingdings" pitchFamily="2" charset="2"/>
              <a:buChar char="p"/>
            </a:pPr>
            <a:r>
              <a:rPr lang="zh-CN" altLang="en-US" sz="2800" dirty="0"/>
              <a:t>异步计数器</a:t>
            </a:r>
          </a:p>
          <a:p>
            <a:pPr marL="457200" lvl="1" indent="0">
              <a:lnSpc>
                <a:spcPct val="100000"/>
              </a:lnSpc>
              <a:spcBef>
                <a:spcPts val="600"/>
              </a:spcBef>
              <a:buNone/>
            </a:pPr>
            <a:r>
              <a:rPr lang="en-US" altLang="zh-CN" sz="2400" dirty="0" smtClean="0"/>
              <a:t>1</a:t>
            </a:r>
            <a:r>
              <a:rPr lang="zh-CN" altLang="en-US" sz="2400" dirty="0"/>
              <a:t>、异步二进制加法计数器</a:t>
            </a:r>
          </a:p>
          <a:p>
            <a:pPr lvl="2">
              <a:lnSpc>
                <a:spcPct val="100000"/>
              </a:lnSpc>
              <a:spcBef>
                <a:spcPts val="600"/>
              </a:spcBef>
              <a:buClr>
                <a:srgbClr val="0000CC"/>
              </a:buClr>
              <a:buSzPct val="100000"/>
              <a:buFont typeface="Wingdings" pitchFamily="2" charset="2"/>
              <a:buChar char="u"/>
            </a:pPr>
            <a:r>
              <a:rPr lang="zh-CN" altLang="en-US" dirty="0" smtClean="0"/>
              <a:t>原理</a:t>
            </a:r>
            <a:r>
              <a:rPr lang="zh-CN" altLang="en-US" dirty="0"/>
              <a:t>说明</a:t>
            </a:r>
          </a:p>
          <a:p>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47</a:t>
            </a:fld>
            <a:endParaRPr lang="zh-CN" altLang="en-US"/>
          </a:p>
        </p:txBody>
      </p:sp>
      <p:sp>
        <p:nvSpPr>
          <p:cNvPr id="5" name="Text Box 8"/>
          <p:cNvSpPr txBox="1">
            <a:spLocks noChangeArrowheads="1"/>
          </p:cNvSpPr>
          <p:nvPr/>
        </p:nvSpPr>
        <p:spPr bwMode="auto">
          <a:xfrm>
            <a:off x="1635542" y="3308653"/>
            <a:ext cx="7256938" cy="140038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ts val="600"/>
              </a:spcBef>
            </a:pPr>
            <a:r>
              <a:rPr lang="zh-CN" altLang="en-US" sz="2000" b="1" dirty="0" smtClean="0">
                <a:latin typeface="+mn-ea"/>
              </a:rPr>
              <a:t>按照</a:t>
            </a:r>
            <a:r>
              <a:rPr lang="zh-CN" altLang="en-US" sz="2000" b="1" dirty="0">
                <a:latin typeface="+mn-ea"/>
              </a:rPr>
              <a:t>二进制加法计数器规则：</a:t>
            </a:r>
            <a:r>
              <a:rPr lang="zh-CN" altLang="en-US" sz="2000" b="1" dirty="0">
                <a:solidFill>
                  <a:srgbClr val="0000CC"/>
                </a:solidFill>
                <a:latin typeface="+mn-ea"/>
              </a:rPr>
              <a:t>若低位是</a:t>
            </a:r>
            <a:r>
              <a:rPr lang="en-US" altLang="zh-CN" sz="2000" b="1" dirty="0">
                <a:solidFill>
                  <a:srgbClr val="0000CC"/>
                </a:solidFill>
                <a:latin typeface="+mn-ea"/>
              </a:rPr>
              <a:t>0</a:t>
            </a:r>
            <a:r>
              <a:rPr lang="zh-CN" altLang="en-US" sz="2000" b="1" dirty="0">
                <a:solidFill>
                  <a:srgbClr val="0000CC"/>
                </a:solidFill>
                <a:latin typeface="+mn-ea"/>
              </a:rPr>
              <a:t>，则再记入</a:t>
            </a:r>
            <a:r>
              <a:rPr lang="en-US" altLang="zh-CN" sz="2000" b="1" dirty="0">
                <a:solidFill>
                  <a:srgbClr val="0000CC"/>
                </a:solidFill>
                <a:latin typeface="+mn-ea"/>
              </a:rPr>
              <a:t>1</a:t>
            </a:r>
            <a:r>
              <a:rPr lang="zh-CN" altLang="en-US" sz="2000" b="1" dirty="0">
                <a:solidFill>
                  <a:srgbClr val="0000CC"/>
                </a:solidFill>
                <a:latin typeface="+mn-ea"/>
              </a:rPr>
              <a:t>时低位</a:t>
            </a:r>
            <a:r>
              <a:rPr lang="zh-CN" altLang="en-US" sz="2000" b="1" dirty="0" smtClean="0">
                <a:solidFill>
                  <a:srgbClr val="0000CC"/>
                </a:solidFill>
                <a:latin typeface="+mn-ea"/>
              </a:rPr>
              <a:t>应变为</a:t>
            </a:r>
            <a:r>
              <a:rPr lang="en-US" altLang="zh-CN" sz="2000" b="1" dirty="0" smtClean="0">
                <a:solidFill>
                  <a:srgbClr val="0000CC"/>
                </a:solidFill>
                <a:latin typeface="+mn-ea"/>
              </a:rPr>
              <a:t>1</a:t>
            </a:r>
            <a:r>
              <a:rPr lang="zh-CN" altLang="en-US" sz="2000" b="1" dirty="0">
                <a:solidFill>
                  <a:srgbClr val="0000CC"/>
                </a:solidFill>
                <a:latin typeface="+mn-ea"/>
              </a:rPr>
              <a:t>；若低位已经是</a:t>
            </a:r>
            <a:r>
              <a:rPr lang="en-US" altLang="zh-CN" sz="2000" b="1" dirty="0">
                <a:solidFill>
                  <a:srgbClr val="0000CC"/>
                </a:solidFill>
                <a:latin typeface="+mn-ea"/>
              </a:rPr>
              <a:t>1</a:t>
            </a:r>
            <a:r>
              <a:rPr lang="zh-CN" altLang="en-US" sz="2000" b="1" dirty="0">
                <a:solidFill>
                  <a:srgbClr val="0000CC"/>
                </a:solidFill>
                <a:latin typeface="+mn-ea"/>
              </a:rPr>
              <a:t>，则再记入</a:t>
            </a:r>
            <a:r>
              <a:rPr lang="en-US" altLang="zh-CN" sz="2000" b="1" dirty="0">
                <a:solidFill>
                  <a:srgbClr val="0000CC"/>
                </a:solidFill>
                <a:latin typeface="+mn-ea"/>
              </a:rPr>
              <a:t>1</a:t>
            </a:r>
            <a:r>
              <a:rPr lang="zh-CN" altLang="en-US" sz="2000" b="1" dirty="0">
                <a:solidFill>
                  <a:srgbClr val="0000CC"/>
                </a:solidFill>
                <a:latin typeface="+mn-ea"/>
              </a:rPr>
              <a:t>时低位</a:t>
            </a:r>
            <a:r>
              <a:rPr lang="zh-CN" altLang="en-US" sz="2000" b="1" dirty="0" smtClean="0">
                <a:solidFill>
                  <a:srgbClr val="0000CC"/>
                </a:solidFill>
                <a:latin typeface="+mn-ea"/>
              </a:rPr>
              <a:t>应变为</a:t>
            </a:r>
            <a:r>
              <a:rPr lang="en-US" altLang="zh-CN" sz="2000" b="1" dirty="0" smtClean="0">
                <a:solidFill>
                  <a:srgbClr val="0000CC"/>
                </a:solidFill>
                <a:latin typeface="+mn-ea"/>
              </a:rPr>
              <a:t>0</a:t>
            </a:r>
            <a:r>
              <a:rPr lang="zh-CN" altLang="en-US" sz="2000" b="1" dirty="0">
                <a:solidFill>
                  <a:srgbClr val="0000CC"/>
                </a:solidFill>
                <a:latin typeface="+mn-ea"/>
              </a:rPr>
              <a:t>，同时向高位产生进位信号，使高位翻转一次</a:t>
            </a:r>
            <a:r>
              <a:rPr lang="zh-CN" altLang="en-US" sz="2000" b="1" dirty="0">
                <a:latin typeface="+mn-ea"/>
              </a:rPr>
              <a:t>。</a:t>
            </a:r>
          </a:p>
          <a:p>
            <a:pPr>
              <a:spcBef>
                <a:spcPts val="600"/>
              </a:spcBef>
            </a:pPr>
            <a:r>
              <a:rPr lang="zh-CN" altLang="en-US" sz="2000" b="1" dirty="0" smtClean="0">
                <a:latin typeface="+mn-ea"/>
              </a:rPr>
              <a:t>用</a:t>
            </a:r>
            <a:r>
              <a:rPr lang="en-US" altLang="zh-CN" sz="2000" b="1" dirty="0">
                <a:solidFill>
                  <a:srgbClr val="FF0000"/>
                </a:solidFill>
                <a:latin typeface="+mn-ea"/>
              </a:rPr>
              <a:t>T</a:t>
            </a:r>
            <a:r>
              <a:rPr lang="en-US" altLang="zh-CN" sz="2000" b="1" dirty="0">
                <a:solidFill>
                  <a:srgbClr val="FF0000"/>
                </a:solidFill>
              </a:rPr>
              <a:t>’</a:t>
            </a:r>
            <a:r>
              <a:rPr lang="zh-CN" altLang="en-US" sz="2000" b="1" dirty="0">
                <a:latin typeface="+mn-ea"/>
              </a:rPr>
              <a:t>触发器构成异步二进制加法计数器应最简单。</a:t>
            </a:r>
          </a:p>
        </p:txBody>
      </p:sp>
      <p:sp>
        <p:nvSpPr>
          <p:cNvPr id="6" name="AutoShape 11"/>
          <p:cNvSpPr>
            <a:spLocks noChangeArrowheads="1"/>
          </p:cNvSpPr>
          <p:nvPr/>
        </p:nvSpPr>
        <p:spPr bwMode="auto">
          <a:xfrm>
            <a:off x="3419872" y="5661248"/>
            <a:ext cx="2087563" cy="576262"/>
          </a:xfrm>
          <a:prstGeom prst="wedgeRoundRectCallout">
            <a:avLst>
              <a:gd name="adj1" fmla="val -111223"/>
              <a:gd name="adj2" fmla="val -213836"/>
              <a:gd name="adj3" fmla="val 16667"/>
            </a:avLst>
          </a:prstGeom>
          <a:noFill/>
          <a:ln w="28575">
            <a:solidFill>
              <a:srgbClr val="00B0F0"/>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sz="2000" b="1">
                <a:solidFill>
                  <a:srgbClr val="FF0000"/>
                </a:solidFill>
                <a:latin typeface="+mn-ea"/>
              </a:rPr>
              <a:t>为什么？</a:t>
            </a:r>
          </a:p>
        </p:txBody>
      </p:sp>
      <p:pic>
        <p:nvPicPr>
          <p:cNvPr id="7" name="图片 6"/>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516216" y="1196752"/>
            <a:ext cx="1971950" cy="1943371"/>
          </a:xfrm>
          <a:prstGeom prst="rect">
            <a:avLst/>
          </a:prstGeom>
        </p:spPr>
      </p:pic>
    </p:spTree>
    <p:extLst>
      <p:ext uri="{BB962C8B-B14F-4D97-AF65-F5344CB8AC3E}">
        <p14:creationId xmlns:p14="http://schemas.microsoft.com/office/powerpoint/2010/main" xmlns="" val="4179635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blinds(horizontal)">
                                      <p:cBhvr>
                                        <p:cTn id="1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59632" y="1124744"/>
            <a:ext cx="7416824"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395536" y="1988840"/>
            <a:ext cx="8559552" cy="4752528"/>
          </a:xfrm>
        </p:spPr>
        <p:txBody>
          <a:bodyPr/>
          <a:lstStyle/>
          <a:p>
            <a:pPr>
              <a:lnSpc>
                <a:spcPct val="100000"/>
              </a:lnSpc>
              <a:spcBef>
                <a:spcPts val="600"/>
              </a:spcBef>
              <a:buSzPct val="100000"/>
              <a:buFont typeface="Wingdings" pitchFamily="2" charset="2"/>
              <a:buChar char="p"/>
            </a:pPr>
            <a:r>
              <a:rPr lang="zh-CN" altLang="en-US" sz="2800" dirty="0"/>
              <a:t>异步计数器</a:t>
            </a:r>
          </a:p>
          <a:p>
            <a:pPr marL="457200" lvl="1" indent="0">
              <a:lnSpc>
                <a:spcPct val="100000"/>
              </a:lnSpc>
              <a:spcBef>
                <a:spcPts val="600"/>
              </a:spcBef>
              <a:buNone/>
            </a:pPr>
            <a:r>
              <a:rPr lang="en-US" altLang="zh-CN" dirty="0" smtClean="0"/>
              <a:t>1</a:t>
            </a:r>
            <a:r>
              <a:rPr lang="zh-CN" altLang="en-US" dirty="0"/>
              <a:t>、</a:t>
            </a:r>
            <a:r>
              <a:rPr lang="zh-CN" altLang="en-US" sz="2400" dirty="0"/>
              <a:t>异步二进制加法计数器</a:t>
            </a:r>
          </a:p>
          <a:p>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48</a:t>
            </a:fld>
            <a:endParaRPr lang="zh-CN" altLang="en-US"/>
          </a:p>
        </p:txBody>
      </p:sp>
      <p:sp>
        <p:nvSpPr>
          <p:cNvPr id="10" name="Text Box 6"/>
          <p:cNvSpPr txBox="1">
            <a:spLocks noChangeArrowheads="1"/>
          </p:cNvSpPr>
          <p:nvPr/>
        </p:nvSpPr>
        <p:spPr bwMode="auto">
          <a:xfrm>
            <a:off x="1403648" y="2924944"/>
            <a:ext cx="7128791"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smtClean="0">
                <a:latin typeface="+mn-ea"/>
              </a:rPr>
              <a:t>以</a:t>
            </a:r>
            <a:r>
              <a:rPr lang="zh-CN" altLang="en-US" sz="2000" b="1" dirty="0">
                <a:latin typeface="+mn-ea"/>
              </a:rPr>
              <a:t>下降沿触发的</a:t>
            </a:r>
            <a:r>
              <a:rPr lang="en-US" altLang="zh-CN" sz="2000" b="1" dirty="0">
                <a:latin typeface="+mn-ea"/>
              </a:rPr>
              <a:t>3</a:t>
            </a:r>
            <a:r>
              <a:rPr lang="zh-CN" altLang="en-US" sz="2000" b="1" dirty="0">
                <a:latin typeface="+mn-ea"/>
              </a:rPr>
              <a:t>位异步二进制加法计数器为例，</a:t>
            </a:r>
            <a:r>
              <a:rPr lang="zh-CN" altLang="en-US" sz="2000" b="1" dirty="0" smtClean="0">
                <a:latin typeface="+mn-ea"/>
              </a:rPr>
              <a:t>其状态转换表如图所</a:t>
            </a:r>
            <a:r>
              <a:rPr lang="zh-CN" altLang="en-US" sz="2000" b="1" dirty="0">
                <a:latin typeface="+mn-ea"/>
              </a:rPr>
              <a:t>示。</a:t>
            </a:r>
          </a:p>
        </p:txBody>
      </p:sp>
      <p:pic>
        <p:nvPicPr>
          <p:cNvPr id="195586" name="Picture 2"/>
          <p:cNvPicPr>
            <a:picLocks noChangeAspect="1" noChangeArrowheads="1"/>
          </p:cNvPicPr>
          <p:nvPr/>
        </p:nvPicPr>
        <p:blipFill>
          <a:blip r:embed="rId2" cstate="print"/>
          <a:srcRect/>
          <a:stretch>
            <a:fillRect/>
          </a:stretch>
        </p:blipFill>
        <p:spPr bwMode="auto">
          <a:xfrm>
            <a:off x="2339753" y="3689169"/>
            <a:ext cx="4752528" cy="3057031"/>
          </a:xfrm>
          <a:prstGeom prst="rect">
            <a:avLst/>
          </a:prstGeom>
          <a:noFill/>
          <a:ln w="9525">
            <a:noFill/>
            <a:miter lim="800000"/>
            <a:headEnd/>
            <a:tailEnd/>
          </a:ln>
        </p:spPr>
      </p:pic>
    </p:spTree>
    <p:extLst>
      <p:ext uri="{BB962C8B-B14F-4D97-AF65-F5344CB8AC3E}">
        <p14:creationId xmlns:p14="http://schemas.microsoft.com/office/powerpoint/2010/main" xmlns="" val="1885884759"/>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59632" y="1124744"/>
            <a:ext cx="7560840"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467544" y="1916832"/>
            <a:ext cx="8487544" cy="4680520"/>
          </a:xfrm>
        </p:spPr>
        <p:txBody>
          <a:bodyPr/>
          <a:lstStyle/>
          <a:p>
            <a:pPr>
              <a:lnSpc>
                <a:spcPct val="100000"/>
              </a:lnSpc>
              <a:spcBef>
                <a:spcPts val="600"/>
              </a:spcBef>
              <a:buSzPct val="100000"/>
              <a:buFont typeface="Wingdings" pitchFamily="2" charset="2"/>
              <a:buChar char="p"/>
            </a:pPr>
            <a:r>
              <a:rPr lang="zh-CN" altLang="en-US" sz="2800" dirty="0"/>
              <a:t>异步计数器</a:t>
            </a:r>
          </a:p>
          <a:p>
            <a:pPr marL="457200" lvl="1" indent="0">
              <a:lnSpc>
                <a:spcPct val="100000"/>
              </a:lnSpc>
              <a:spcBef>
                <a:spcPts val="600"/>
              </a:spcBef>
              <a:buNone/>
            </a:pPr>
            <a:r>
              <a:rPr lang="en-US" altLang="zh-CN" sz="2400" dirty="0" smtClean="0"/>
              <a:t>1</a:t>
            </a:r>
            <a:r>
              <a:rPr lang="zh-CN" altLang="en-US" sz="2400" dirty="0"/>
              <a:t>、异步二进制加法计数器</a:t>
            </a:r>
          </a:p>
          <a:p>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49</a:t>
            </a:fld>
            <a:endParaRPr lang="zh-CN" altLang="en-US"/>
          </a:p>
        </p:txBody>
      </p:sp>
      <p:sp>
        <p:nvSpPr>
          <p:cNvPr id="12" name="Text Box 6"/>
          <p:cNvSpPr txBox="1">
            <a:spLocks noChangeArrowheads="1"/>
          </p:cNvSpPr>
          <p:nvPr/>
        </p:nvSpPr>
        <p:spPr bwMode="auto">
          <a:xfrm>
            <a:off x="874086" y="6214968"/>
            <a:ext cx="466303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latin typeface="楷体_GB2312" pitchFamily="49" charset="-122"/>
                <a:ea typeface="楷体_GB2312" pitchFamily="49" charset="-122"/>
              </a:rPr>
              <a:t>图</a:t>
            </a:r>
            <a:r>
              <a:rPr lang="en-US" altLang="zh-CN" sz="1600" b="1" dirty="0" smtClean="0">
                <a:latin typeface="楷体_GB2312" pitchFamily="49" charset="-122"/>
                <a:ea typeface="楷体_GB2312" pitchFamily="49" charset="-122"/>
              </a:rPr>
              <a:t> </a:t>
            </a:r>
            <a:r>
              <a:rPr lang="en-US" altLang="zh-CN" sz="1600" b="1" dirty="0">
                <a:latin typeface="楷体_GB2312" pitchFamily="49" charset="-122"/>
                <a:ea typeface="楷体_GB2312" pitchFamily="49" charset="-122"/>
              </a:rPr>
              <a:t>3</a:t>
            </a:r>
            <a:r>
              <a:rPr lang="zh-CN" altLang="en-US" sz="1600" b="1" dirty="0">
                <a:latin typeface="楷体_GB2312" pitchFamily="49" charset="-122"/>
                <a:ea typeface="楷体_GB2312" pitchFamily="49" charset="-122"/>
              </a:rPr>
              <a:t>位异步二进制计数器时序图</a:t>
            </a:r>
          </a:p>
        </p:txBody>
      </p:sp>
      <p:grpSp>
        <p:nvGrpSpPr>
          <p:cNvPr id="15" name="Group 7"/>
          <p:cNvGrpSpPr>
            <a:grpSpLocks/>
          </p:cNvGrpSpPr>
          <p:nvPr/>
        </p:nvGrpSpPr>
        <p:grpSpPr bwMode="auto">
          <a:xfrm>
            <a:off x="683568" y="2992229"/>
            <a:ext cx="5327849" cy="3248000"/>
            <a:chOff x="454" y="2024"/>
            <a:chExt cx="3130" cy="2029"/>
          </a:xfrm>
        </p:grpSpPr>
        <p:pic>
          <p:nvPicPr>
            <p:cNvPr id="16" name="Picture 8" descr="5-5-2"/>
            <p:cNvPicPr>
              <a:picLocks noChangeAspect="1" noChangeArrowheads="1"/>
            </p:cNvPicPr>
            <p:nvPr/>
          </p:nvPicPr>
          <p:blipFill>
            <a:blip r:embed="rId2" cstate="print">
              <a:clrChange>
                <a:clrFrom>
                  <a:srgbClr val="F2F3EC"/>
                </a:clrFrom>
                <a:clrTo>
                  <a:srgbClr val="F2F3EC">
                    <a:alpha val="0"/>
                  </a:srgbClr>
                </a:clrTo>
              </a:clrChange>
              <a:lum bright="-18000" contrast="60000"/>
              <a:extLst>
                <a:ext uri="{28A0092B-C50C-407E-A947-70E740481C1C}">
                  <a14:useLocalDpi xmlns:a14="http://schemas.microsoft.com/office/drawing/2010/main" xmlns="" val="0"/>
                </a:ext>
              </a:extLst>
            </a:blip>
            <a:srcRect/>
            <a:stretch>
              <a:fillRect/>
            </a:stretch>
          </p:blipFill>
          <p:spPr bwMode="auto">
            <a:xfrm>
              <a:off x="454" y="2024"/>
              <a:ext cx="3130" cy="2029"/>
            </a:xfrm>
            <a:prstGeom prst="rect">
              <a:avLst/>
            </a:prstGeom>
            <a:noFill/>
            <a:extLst>
              <a:ext uri="{909E8E84-426E-40DD-AFC4-6F175D3DCCD1}">
                <a14:hiddenFill xmlns:a14="http://schemas.microsoft.com/office/drawing/2010/main" xmlns="">
                  <a:solidFill>
                    <a:srgbClr val="FFFFFF"/>
                  </a:solidFill>
                </a14:hiddenFill>
              </a:ext>
            </a:extLst>
          </p:spPr>
        </p:pic>
        <p:sp>
          <p:nvSpPr>
            <p:cNvPr id="17" name="Line 9"/>
            <p:cNvSpPr>
              <a:spLocks noChangeShapeType="1"/>
            </p:cNvSpPr>
            <p:nvPr/>
          </p:nvSpPr>
          <p:spPr bwMode="auto">
            <a:xfrm>
              <a:off x="1066" y="2205"/>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8" name="Line 10"/>
            <p:cNvSpPr>
              <a:spLocks noChangeShapeType="1"/>
            </p:cNvSpPr>
            <p:nvPr/>
          </p:nvSpPr>
          <p:spPr bwMode="auto">
            <a:xfrm>
              <a:off x="1383" y="2205"/>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9" name="Line 11"/>
            <p:cNvSpPr>
              <a:spLocks noChangeShapeType="1"/>
            </p:cNvSpPr>
            <p:nvPr/>
          </p:nvSpPr>
          <p:spPr bwMode="auto">
            <a:xfrm>
              <a:off x="1701" y="2205"/>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0" name="Line 12"/>
            <p:cNvSpPr>
              <a:spLocks noChangeShapeType="1"/>
            </p:cNvSpPr>
            <p:nvPr/>
          </p:nvSpPr>
          <p:spPr bwMode="auto">
            <a:xfrm>
              <a:off x="2018" y="2205"/>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1" name="Line 13"/>
            <p:cNvSpPr>
              <a:spLocks noChangeShapeType="1"/>
            </p:cNvSpPr>
            <p:nvPr/>
          </p:nvSpPr>
          <p:spPr bwMode="auto">
            <a:xfrm>
              <a:off x="2290" y="2205"/>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2" name="Line 14"/>
            <p:cNvSpPr>
              <a:spLocks noChangeShapeType="1"/>
            </p:cNvSpPr>
            <p:nvPr/>
          </p:nvSpPr>
          <p:spPr bwMode="auto">
            <a:xfrm>
              <a:off x="2608" y="2205"/>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3" name="Line 15"/>
            <p:cNvSpPr>
              <a:spLocks noChangeShapeType="1"/>
            </p:cNvSpPr>
            <p:nvPr/>
          </p:nvSpPr>
          <p:spPr bwMode="auto">
            <a:xfrm>
              <a:off x="2925" y="2205"/>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4" name="Line 16"/>
            <p:cNvSpPr>
              <a:spLocks noChangeShapeType="1"/>
            </p:cNvSpPr>
            <p:nvPr/>
          </p:nvSpPr>
          <p:spPr bwMode="auto">
            <a:xfrm>
              <a:off x="3243" y="2205"/>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5" name="Line 17"/>
            <p:cNvSpPr>
              <a:spLocks noChangeShapeType="1"/>
            </p:cNvSpPr>
            <p:nvPr/>
          </p:nvSpPr>
          <p:spPr bwMode="auto">
            <a:xfrm>
              <a:off x="1429" y="2659"/>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6" name="Line 18"/>
            <p:cNvSpPr>
              <a:spLocks noChangeShapeType="1"/>
            </p:cNvSpPr>
            <p:nvPr/>
          </p:nvSpPr>
          <p:spPr bwMode="auto">
            <a:xfrm>
              <a:off x="2018" y="2658"/>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7" name="Line 19"/>
            <p:cNvSpPr>
              <a:spLocks noChangeShapeType="1"/>
            </p:cNvSpPr>
            <p:nvPr/>
          </p:nvSpPr>
          <p:spPr bwMode="auto">
            <a:xfrm>
              <a:off x="2653" y="2659"/>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8" name="Line 20"/>
            <p:cNvSpPr>
              <a:spLocks noChangeShapeType="1"/>
            </p:cNvSpPr>
            <p:nvPr/>
          </p:nvSpPr>
          <p:spPr bwMode="auto">
            <a:xfrm>
              <a:off x="3288" y="2658"/>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9" name="Line 21"/>
            <p:cNvSpPr>
              <a:spLocks noChangeShapeType="1"/>
            </p:cNvSpPr>
            <p:nvPr/>
          </p:nvSpPr>
          <p:spPr bwMode="auto">
            <a:xfrm>
              <a:off x="2018" y="3112"/>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30" name="Line 22"/>
            <p:cNvSpPr>
              <a:spLocks noChangeShapeType="1"/>
            </p:cNvSpPr>
            <p:nvPr/>
          </p:nvSpPr>
          <p:spPr bwMode="auto">
            <a:xfrm>
              <a:off x="3288" y="3113"/>
              <a:ext cx="0" cy="182"/>
            </a:xfrm>
            <a:prstGeom prst="line">
              <a:avLst/>
            </a:prstGeom>
            <a:noFill/>
            <a:ln w="28575">
              <a:solidFill>
                <a:srgbClr val="FF0000"/>
              </a:solidFill>
              <a:round/>
              <a:headEnd/>
              <a:tailEnd type="triangle" w="med" len="me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31" name="Text Box 7"/>
          <p:cNvSpPr txBox="1">
            <a:spLocks noChangeArrowheads="1"/>
          </p:cNvSpPr>
          <p:nvPr/>
        </p:nvSpPr>
        <p:spPr bwMode="auto">
          <a:xfrm>
            <a:off x="6011417" y="4494995"/>
            <a:ext cx="2699634" cy="147732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ts val="600"/>
              </a:spcBef>
            </a:pPr>
            <a:r>
              <a:rPr lang="zh-CN" altLang="en-US" b="1" dirty="0" smtClean="0"/>
              <a:t>因为</a:t>
            </a:r>
            <a:r>
              <a:rPr lang="zh-CN" altLang="en-US" b="1" dirty="0"/>
              <a:t>当低位由</a:t>
            </a:r>
            <a:r>
              <a:rPr lang="en-US" altLang="zh-CN" b="1" dirty="0"/>
              <a:t>1</a:t>
            </a:r>
            <a:r>
              <a:rPr lang="zh-CN" altLang="en-US" b="1" dirty="0"/>
              <a:t>变</a:t>
            </a:r>
            <a:r>
              <a:rPr lang="en-US" altLang="zh-CN" b="1" dirty="0"/>
              <a:t>0</a:t>
            </a:r>
            <a:r>
              <a:rPr lang="zh-CN" altLang="en-US" b="1" dirty="0"/>
              <a:t>时，需向高端进位，</a:t>
            </a:r>
            <a:r>
              <a:rPr lang="en-US" altLang="zh-CN" b="1" dirty="0"/>
              <a:t>Q</a:t>
            </a:r>
            <a:r>
              <a:rPr lang="zh-CN" altLang="en-US" b="1" dirty="0"/>
              <a:t>端的下降沿正好可以作为高位的时钟信号（如</a:t>
            </a:r>
            <a:r>
              <a:rPr lang="zh-CN" altLang="en-US" b="1" dirty="0" smtClean="0"/>
              <a:t>图分析</a:t>
            </a:r>
            <a:r>
              <a:rPr lang="zh-CN" altLang="en-US" b="1" dirty="0"/>
              <a:t>所示）。</a:t>
            </a:r>
          </a:p>
        </p:txBody>
      </p:sp>
      <p:sp>
        <p:nvSpPr>
          <p:cNvPr id="32" name="Text Box 26"/>
          <p:cNvSpPr txBox="1">
            <a:spLocks noChangeArrowheads="1"/>
          </p:cNvSpPr>
          <p:nvPr/>
        </p:nvSpPr>
        <p:spPr bwMode="auto">
          <a:xfrm>
            <a:off x="5948981" y="2069888"/>
            <a:ext cx="3006107" cy="12003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ts val="600"/>
              </a:spcBef>
            </a:pPr>
            <a:r>
              <a:rPr lang="zh-CN" altLang="en-US" b="1" dirty="0" smtClean="0"/>
              <a:t>使用下降</a:t>
            </a:r>
            <a:r>
              <a:rPr lang="zh-CN" altLang="en-US" b="1" dirty="0"/>
              <a:t>沿动作的</a:t>
            </a:r>
            <a:r>
              <a:rPr lang="en-US" altLang="zh-CN" b="1" dirty="0"/>
              <a:t>T’</a:t>
            </a:r>
            <a:r>
              <a:rPr lang="zh-CN" altLang="en-US" b="1" dirty="0"/>
              <a:t>触发器组成的计数器</a:t>
            </a:r>
            <a:r>
              <a:rPr lang="zh-CN" altLang="en-US" b="1" dirty="0" smtClean="0"/>
              <a:t>，需</a:t>
            </a:r>
            <a:r>
              <a:rPr lang="zh-CN" altLang="en-US" b="1" dirty="0"/>
              <a:t>将低位触发器的</a:t>
            </a:r>
            <a:r>
              <a:rPr lang="en-US" altLang="zh-CN" b="1" dirty="0"/>
              <a:t>Q</a:t>
            </a:r>
            <a:r>
              <a:rPr lang="zh-CN" altLang="en-US" b="1" dirty="0"/>
              <a:t>端接至高位触发器的时钟输入端即可</a:t>
            </a:r>
            <a:r>
              <a:rPr lang="zh-CN" altLang="en-US" b="1" dirty="0" smtClean="0"/>
              <a:t>。</a:t>
            </a:r>
            <a:endParaRPr lang="zh-CN" altLang="en-US" b="1" dirty="0"/>
          </a:p>
        </p:txBody>
      </p:sp>
      <p:sp>
        <p:nvSpPr>
          <p:cNvPr id="5" name="矩形 4"/>
          <p:cNvSpPr/>
          <p:nvPr/>
        </p:nvSpPr>
        <p:spPr>
          <a:xfrm>
            <a:off x="6220674" y="3873073"/>
            <a:ext cx="1114408" cy="369332"/>
          </a:xfrm>
          <a:prstGeom prst="rect">
            <a:avLst/>
          </a:prstGeom>
          <a:ln>
            <a:solidFill>
              <a:srgbClr val="00B0F0"/>
            </a:solidFill>
          </a:ln>
        </p:spPr>
        <p:txBody>
          <a:bodyPr wrap="none">
            <a:spAutoFit/>
          </a:bodyPr>
          <a:lstStyle/>
          <a:p>
            <a:pPr>
              <a:spcBef>
                <a:spcPct val="50000"/>
              </a:spcBef>
            </a:pPr>
            <a:r>
              <a:rPr lang="zh-CN" altLang="en-US" b="1" dirty="0" smtClean="0">
                <a:solidFill>
                  <a:srgbClr val="FF0000"/>
                </a:solidFill>
              </a:rPr>
              <a:t>为什么？</a:t>
            </a:r>
            <a:endParaRPr lang="zh-CN" altLang="en-US" b="1" dirty="0"/>
          </a:p>
        </p:txBody>
      </p:sp>
      <p:sp>
        <p:nvSpPr>
          <p:cNvPr id="33" name="矩形标注 32"/>
          <p:cNvSpPr/>
          <p:nvPr/>
        </p:nvSpPr>
        <p:spPr bwMode="auto">
          <a:xfrm>
            <a:off x="5004048" y="6237312"/>
            <a:ext cx="2160240" cy="620688"/>
          </a:xfrm>
          <a:prstGeom prst="wedgeRectCallout">
            <a:avLst>
              <a:gd name="adj1" fmla="val -30317"/>
              <a:gd name="adj2" fmla="val -97292"/>
            </a:avLst>
          </a:prstGeom>
          <a:solidFill>
            <a:srgbClr val="FFFF00"/>
          </a:solidFill>
          <a:ln w="952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r>
              <a:rPr kumimoji="1" lang="zh-CN" altLang="en-US" sz="1600" b="1" i="0" u="none" strike="noStrike" cap="none" normalizeH="0" baseline="0" dirty="0" smtClean="0">
                <a:ln>
                  <a:noFill/>
                </a:ln>
                <a:solidFill>
                  <a:srgbClr val="FF0000"/>
                </a:solidFill>
                <a:effectLst/>
                <a:latin typeface="Tahoma" panose="020B0604030504040204" pitchFamily="34" charset="0"/>
                <a:ea typeface="宋体" panose="02010600030101010101" pitchFamily="2" charset="-122"/>
              </a:rPr>
              <a:t>相对于时钟下降沿，此时的延迟为</a:t>
            </a:r>
            <a:r>
              <a:rPr kumimoji="1" lang="en-US" altLang="zh-CN" sz="1600" b="1" i="0" u="none" strike="noStrike" cap="none" normalizeH="0" baseline="0" dirty="0" smtClean="0">
                <a:ln>
                  <a:noFill/>
                </a:ln>
                <a:solidFill>
                  <a:srgbClr val="FF0000"/>
                </a:solidFill>
                <a:effectLst/>
                <a:latin typeface="Tahoma" panose="020B0604030504040204" pitchFamily="34" charset="0"/>
                <a:ea typeface="宋体" panose="02010600030101010101" pitchFamily="2" charset="-122"/>
              </a:rPr>
              <a:t>2t</a:t>
            </a:r>
            <a:r>
              <a:rPr kumimoji="1" lang="en-US" altLang="zh-CN" sz="1600" b="1" i="0" u="none" strike="noStrike" cap="none" normalizeH="0" baseline="-25000" dirty="0" smtClean="0">
                <a:ln>
                  <a:noFill/>
                </a:ln>
                <a:solidFill>
                  <a:srgbClr val="FF0000"/>
                </a:solidFill>
                <a:effectLst/>
                <a:latin typeface="Tahoma" panose="020B0604030504040204" pitchFamily="34" charset="0"/>
                <a:ea typeface="宋体" panose="02010600030101010101" pitchFamily="2" charset="-122"/>
              </a:rPr>
              <a:t>pd</a:t>
            </a:r>
            <a:endParaRPr kumimoji="1" lang="zh-CN" altLang="en-US" sz="1600" b="1" i="0" u="none" strike="noStrike" cap="none" normalizeH="0" baseline="-25000" dirty="0" smtClean="0">
              <a:ln>
                <a:noFill/>
              </a:ln>
              <a:solidFill>
                <a:srgbClr val="FF0000"/>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xmlns="" val="31760385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1"/>
                                        </p:tgtEl>
                                        <p:attrNameLst>
                                          <p:attrName>style.visibility</p:attrName>
                                        </p:attrNameLst>
                                      </p:cBhvr>
                                      <p:to>
                                        <p:strVal val="visible"/>
                                      </p:to>
                                    </p:set>
                                    <p:animEffect transition="in" filter="blinds(horizontal)">
                                      <p:cBhvr>
                                        <p:cTn id="15"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P spid="5"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59632" y="1124744"/>
            <a:ext cx="7416824"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395536" y="1988840"/>
            <a:ext cx="8559552" cy="4752528"/>
          </a:xfrm>
        </p:spPr>
        <p:txBody>
          <a:bodyPr/>
          <a:lstStyle/>
          <a:p>
            <a:pPr>
              <a:lnSpc>
                <a:spcPct val="100000"/>
              </a:lnSpc>
              <a:spcBef>
                <a:spcPts val="600"/>
              </a:spcBef>
              <a:buSzPct val="100000"/>
              <a:buFont typeface="Wingdings" pitchFamily="2" charset="2"/>
              <a:buChar char="p"/>
            </a:pPr>
            <a:r>
              <a:rPr lang="zh-CN" altLang="en-US" sz="2800" dirty="0"/>
              <a:t>异步计数器</a:t>
            </a:r>
          </a:p>
          <a:p>
            <a:pPr marL="457200" lvl="1" indent="0">
              <a:lnSpc>
                <a:spcPct val="100000"/>
              </a:lnSpc>
              <a:spcBef>
                <a:spcPts val="600"/>
              </a:spcBef>
              <a:buNone/>
            </a:pPr>
            <a:r>
              <a:rPr lang="en-US" altLang="zh-CN" dirty="0" smtClean="0"/>
              <a:t>1</a:t>
            </a:r>
            <a:r>
              <a:rPr lang="zh-CN" altLang="en-US" dirty="0"/>
              <a:t>、</a:t>
            </a:r>
            <a:r>
              <a:rPr lang="zh-CN" altLang="en-US" sz="2400" dirty="0"/>
              <a:t>异步二进制加法计数器</a:t>
            </a:r>
          </a:p>
          <a:p>
            <a:endParaRPr lang="zh-CN" altLang="en-US" dirty="0"/>
          </a:p>
        </p:txBody>
      </p:sp>
      <p:sp>
        <p:nvSpPr>
          <p:cNvPr id="2" name="灯片编号占位符 1"/>
          <p:cNvSpPr>
            <a:spLocks noGrp="1"/>
          </p:cNvSpPr>
          <p:nvPr>
            <p:ph type="sldNum" sz="quarter" idx="12"/>
          </p:nvPr>
        </p:nvSpPr>
        <p:spPr/>
        <p:txBody>
          <a:bodyPr/>
          <a:lstStyle/>
          <a:p>
            <a:fld id="{0C913308-F349-4B6D-A68A-DD1791B4A57B}" type="slidenum">
              <a:rPr lang="zh-CN" altLang="en-US" smtClean="0"/>
              <a:pPr/>
              <a:t>50</a:t>
            </a:fld>
            <a:endParaRPr lang="zh-CN" altLang="en-US"/>
          </a:p>
        </p:txBody>
      </p:sp>
      <p:sp>
        <p:nvSpPr>
          <p:cNvPr id="10" name="Text Box 6"/>
          <p:cNvSpPr txBox="1">
            <a:spLocks noChangeArrowheads="1"/>
          </p:cNvSpPr>
          <p:nvPr/>
        </p:nvSpPr>
        <p:spPr bwMode="auto">
          <a:xfrm>
            <a:off x="1403649" y="2924944"/>
            <a:ext cx="6840760" cy="70788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smtClean="0">
                <a:latin typeface="+mn-ea"/>
              </a:rPr>
              <a:t>以</a:t>
            </a:r>
            <a:r>
              <a:rPr lang="zh-CN" altLang="en-US" sz="2000" b="1" dirty="0">
                <a:latin typeface="+mn-ea"/>
              </a:rPr>
              <a:t>下降沿触发的</a:t>
            </a:r>
            <a:r>
              <a:rPr lang="en-US" altLang="zh-CN" sz="2000" b="1" dirty="0">
                <a:latin typeface="+mn-ea"/>
              </a:rPr>
              <a:t>3</a:t>
            </a:r>
            <a:r>
              <a:rPr lang="zh-CN" altLang="en-US" sz="2000" b="1" dirty="0">
                <a:latin typeface="+mn-ea"/>
              </a:rPr>
              <a:t>位异步二进制加法计数器为例，其逻辑图如</a:t>
            </a:r>
            <a:r>
              <a:rPr lang="zh-CN" altLang="en-US" sz="2000" b="1" dirty="0" smtClean="0">
                <a:latin typeface="+mn-ea"/>
              </a:rPr>
              <a:t>图所</a:t>
            </a:r>
            <a:r>
              <a:rPr lang="zh-CN" altLang="en-US" sz="2000" b="1" dirty="0">
                <a:latin typeface="+mn-ea"/>
              </a:rPr>
              <a:t>示。</a:t>
            </a:r>
          </a:p>
        </p:txBody>
      </p:sp>
      <p:sp>
        <p:nvSpPr>
          <p:cNvPr id="11" name="Text Box 7"/>
          <p:cNvSpPr txBox="1">
            <a:spLocks noChangeArrowheads="1"/>
          </p:cNvSpPr>
          <p:nvPr/>
        </p:nvSpPr>
        <p:spPr bwMode="auto">
          <a:xfrm>
            <a:off x="2627784" y="6165304"/>
            <a:ext cx="3672408"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latin typeface="楷体_GB2312" pitchFamily="49" charset="-122"/>
                <a:ea typeface="楷体_GB2312" pitchFamily="49" charset="-122"/>
              </a:rPr>
              <a:t>图</a:t>
            </a:r>
            <a:r>
              <a:rPr lang="en-US" altLang="zh-CN" sz="1600" b="1" dirty="0" smtClean="0">
                <a:latin typeface="楷体_GB2312" pitchFamily="49" charset="-122"/>
                <a:ea typeface="楷体_GB2312" pitchFamily="49" charset="-122"/>
              </a:rPr>
              <a:t>   </a:t>
            </a:r>
            <a:r>
              <a:rPr lang="en-US" altLang="zh-CN" sz="1600" b="1" dirty="0">
                <a:latin typeface="楷体_GB2312" pitchFamily="49" charset="-122"/>
                <a:ea typeface="楷体_GB2312" pitchFamily="49" charset="-122"/>
              </a:rPr>
              <a:t>3</a:t>
            </a:r>
            <a:r>
              <a:rPr lang="zh-CN" altLang="en-US" sz="1600" b="1" dirty="0">
                <a:latin typeface="楷体_GB2312" pitchFamily="49" charset="-122"/>
                <a:ea typeface="楷体_GB2312" pitchFamily="49" charset="-122"/>
              </a:rPr>
              <a:t>位异步二进制计数器电路图</a:t>
            </a:r>
          </a:p>
        </p:txBody>
      </p:sp>
      <p:pic>
        <p:nvPicPr>
          <p:cNvPr id="14" name="图片 13"/>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1403648" y="3789040"/>
            <a:ext cx="6018414" cy="2263807"/>
          </a:xfrm>
          <a:prstGeom prst="rect">
            <a:avLst/>
          </a:prstGeom>
        </p:spPr>
      </p:pic>
    </p:spTree>
    <p:extLst>
      <p:ext uri="{BB962C8B-B14F-4D97-AF65-F5344CB8AC3E}">
        <p14:creationId xmlns:p14="http://schemas.microsoft.com/office/powerpoint/2010/main" xmlns="" val="1885884759"/>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187624" y="1124744"/>
            <a:ext cx="7560840"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467544" y="1988840"/>
            <a:ext cx="8487544" cy="4608512"/>
          </a:xfrm>
        </p:spPr>
        <p:txBody>
          <a:bodyPr/>
          <a:lstStyle/>
          <a:p>
            <a:pPr>
              <a:lnSpc>
                <a:spcPct val="100000"/>
              </a:lnSpc>
              <a:spcBef>
                <a:spcPts val="600"/>
              </a:spcBef>
              <a:buSzPct val="100000"/>
              <a:buFont typeface="Wingdings" pitchFamily="2" charset="2"/>
              <a:buChar char="p"/>
            </a:pPr>
            <a:r>
              <a:rPr lang="zh-CN" altLang="en-US" sz="2800" dirty="0"/>
              <a:t>异步计数器</a:t>
            </a:r>
          </a:p>
          <a:p>
            <a:pPr marL="457200" lvl="1" indent="0">
              <a:lnSpc>
                <a:spcPct val="100000"/>
              </a:lnSpc>
              <a:spcBef>
                <a:spcPts val="600"/>
              </a:spcBef>
              <a:buNone/>
            </a:pPr>
            <a:r>
              <a:rPr lang="en-US" altLang="zh-CN" sz="2400" dirty="0" smtClean="0"/>
              <a:t>1</a:t>
            </a:r>
            <a:r>
              <a:rPr lang="zh-CN" altLang="en-US" sz="2400" dirty="0"/>
              <a:t>、异步二进制加法</a:t>
            </a:r>
            <a:r>
              <a:rPr lang="zh-CN" altLang="en-US" sz="2400" dirty="0" smtClean="0"/>
              <a:t>计数器</a:t>
            </a:r>
            <a:endParaRPr lang="en-US" altLang="zh-CN" sz="2400" dirty="0" smtClean="0"/>
          </a:p>
          <a:p>
            <a:pPr lvl="2">
              <a:lnSpc>
                <a:spcPct val="100000"/>
              </a:lnSpc>
              <a:spcBef>
                <a:spcPts val="600"/>
              </a:spcBef>
              <a:buClr>
                <a:srgbClr val="0000CC"/>
              </a:buClr>
              <a:buSzPct val="100000"/>
              <a:buFont typeface="Wingdings" pitchFamily="2" charset="2"/>
              <a:buChar char="u"/>
            </a:pPr>
            <a:r>
              <a:rPr lang="zh-CN" altLang="en-US" dirty="0"/>
              <a:t>优点：</a:t>
            </a:r>
            <a:r>
              <a:rPr lang="zh-CN" altLang="en-US" dirty="0">
                <a:solidFill>
                  <a:srgbClr val="FF0000"/>
                </a:solidFill>
              </a:rPr>
              <a:t>电路非常简单</a:t>
            </a:r>
            <a:r>
              <a:rPr lang="zh-CN" altLang="en-US" dirty="0"/>
              <a:t>，</a:t>
            </a:r>
            <a:r>
              <a:rPr lang="zh-CN" altLang="en-US" dirty="0">
                <a:solidFill>
                  <a:srgbClr val="0000CC"/>
                </a:solidFill>
              </a:rPr>
              <a:t>几乎不用附加任何门电路</a:t>
            </a:r>
            <a:r>
              <a:rPr lang="zh-CN" altLang="en-US" dirty="0"/>
              <a:t>。</a:t>
            </a:r>
          </a:p>
          <a:p>
            <a:pPr lvl="2">
              <a:lnSpc>
                <a:spcPct val="100000"/>
              </a:lnSpc>
              <a:spcBef>
                <a:spcPts val="600"/>
              </a:spcBef>
              <a:buClr>
                <a:srgbClr val="0000CC"/>
              </a:buClr>
              <a:buSzPct val="100000"/>
              <a:buFont typeface="Wingdings" pitchFamily="2" charset="2"/>
              <a:buChar char="u"/>
            </a:pPr>
            <a:r>
              <a:rPr lang="zh-CN" altLang="en-US" dirty="0"/>
              <a:t>缺点：触发器</a:t>
            </a:r>
            <a:r>
              <a:rPr lang="zh-CN" altLang="en-US" dirty="0">
                <a:solidFill>
                  <a:srgbClr val="FF0000"/>
                </a:solidFill>
              </a:rPr>
              <a:t>输出端新状态的建立要比</a:t>
            </a:r>
            <a:r>
              <a:rPr lang="en-US" altLang="zh-CN" dirty="0">
                <a:solidFill>
                  <a:srgbClr val="FF0000"/>
                </a:solidFill>
              </a:rPr>
              <a:t>CP</a:t>
            </a:r>
            <a:r>
              <a:rPr lang="zh-CN" altLang="en-US" dirty="0">
                <a:solidFill>
                  <a:srgbClr val="FF0000"/>
                </a:solidFill>
              </a:rPr>
              <a:t>下降沿滞后一个传输延迟时间 </a:t>
            </a:r>
            <a:r>
              <a:rPr lang="en-US" altLang="zh-CN" i="1" dirty="0" smtClean="0"/>
              <a:t>t</a:t>
            </a:r>
            <a:r>
              <a:rPr lang="en-US" altLang="zh-CN" i="1" baseline="-25000" dirty="0" smtClean="0"/>
              <a:t>pd</a:t>
            </a:r>
            <a:r>
              <a:rPr lang="zh-CN" altLang="en-US" dirty="0" smtClean="0"/>
              <a:t> ，</a:t>
            </a:r>
            <a:r>
              <a:rPr lang="zh-CN" altLang="en-US" dirty="0"/>
              <a:t>则总的延迟时间可达  </a:t>
            </a:r>
            <a:r>
              <a:rPr lang="en-US" altLang="zh-CN" dirty="0" smtClean="0"/>
              <a:t>t = N × </a:t>
            </a:r>
            <a:r>
              <a:rPr lang="en-US" altLang="zh-CN" i="1" dirty="0" smtClean="0"/>
              <a:t>t</a:t>
            </a:r>
            <a:r>
              <a:rPr lang="en-US" altLang="zh-CN" i="1" baseline="-25000" dirty="0" smtClean="0"/>
              <a:t>pd </a:t>
            </a:r>
            <a:r>
              <a:rPr lang="zh-CN" altLang="en-US" dirty="0" smtClean="0"/>
              <a:t>（</a:t>
            </a:r>
            <a:r>
              <a:rPr lang="zh-CN" altLang="en-US" dirty="0"/>
              <a:t>其中</a:t>
            </a:r>
            <a:r>
              <a:rPr lang="en-US" altLang="zh-CN" dirty="0"/>
              <a:t>N</a:t>
            </a:r>
            <a:r>
              <a:rPr lang="zh-CN" altLang="en-US" dirty="0"/>
              <a:t>为触发器的数目）。</a:t>
            </a:r>
          </a:p>
          <a:p>
            <a:pPr lvl="2">
              <a:lnSpc>
                <a:spcPct val="100000"/>
              </a:lnSpc>
              <a:spcBef>
                <a:spcPts val="600"/>
              </a:spcBef>
            </a:pPr>
            <a:endParaRPr lang="zh-CN" altLang="en-US" dirty="0" smtClean="0"/>
          </a:p>
          <a:p>
            <a:pPr lvl="2">
              <a:lnSpc>
                <a:spcPct val="100000"/>
              </a:lnSpc>
              <a:spcBef>
                <a:spcPts val="600"/>
              </a:spcBef>
            </a:pPr>
            <a:endParaRPr lang="zh-CN" altLang="en-US" dirty="0"/>
          </a:p>
          <a:p>
            <a:endParaRPr lang="zh-CN" altLang="en-US" dirty="0"/>
          </a:p>
        </p:txBody>
      </p:sp>
      <p:sp>
        <p:nvSpPr>
          <p:cNvPr id="35" name="Text Box 11"/>
          <p:cNvSpPr txBox="1">
            <a:spLocks noChangeArrowheads="1"/>
          </p:cNvSpPr>
          <p:nvPr/>
        </p:nvSpPr>
        <p:spPr bwMode="auto">
          <a:xfrm>
            <a:off x="1187624" y="4941168"/>
            <a:ext cx="7559253"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a:solidFill>
                  <a:srgbClr val="FF0000"/>
                </a:solidFill>
              </a:rPr>
              <a:t>思考：</a:t>
            </a:r>
            <a:r>
              <a:rPr lang="zh-CN" altLang="en-US" sz="2000" b="1" dirty="0"/>
              <a:t>如何用上升沿触发的</a:t>
            </a:r>
            <a:r>
              <a:rPr lang="en-US" altLang="zh-CN" sz="2000" b="1" dirty="0"/>
              <a:t>T’</a:t>
            </a:r>
            <a:r>
              <a:rPr lang="zh-CN" altLang="en-US" sz="2000" b="1" dirty="0"/>
              <a:t>触发器组成异步二进制加法计数器？</a:t>
            </a:r>
          </a:p>
        </p:txBody>
      </p:sp>
      <p:grpSp>
        <p:nvGrpSpPr>
          <p:cNvPr id="36" name="Group 13"/>
          <p:cNvGrpSpPr>
            <a:grpSpLocks/>
          </p:cNvGrpSpPr>
          <p:nvPr/>
        </p:nvGrpSpPr>
        <p:grpSpPr bwMode="auto">
          <a:xfrm>
            <a:off x="1187624" y="5496798"/>
            <a:ext cx="6804025" cy="452438"/>
            <a:chOff x="363" y="2782"/>
            <a:chExt cx="4286" cy="285"/>
          </a:xfrm>
        </p:grpSpPr>
        <p:sp>
          <p:nvSpPr>
            <p:cNvPr id="37" name="Text Box 14"/>
            <p:cNvSpPr txBox="1">
              <a:spLocks noChangeArrowheads="1"/>
            </p:cNvSpPr>
            <p:nvPr/>
          </p:nvSpPr>
          <p:spPr bwMode="auto">
            <a:xfrm>
              <a:off x="363" y="2815"/>
              <a:ext cx="4286" cy="25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2000" b="1" dirty="0">
                  <a:solidFill>
                    <a:srgbClr val="FF0000"/>
                  </a:solidFill>
                </a:rPr>
                <a:t>解答：</a:t>
              </a:r>
              <a:r>
                <a:rPr lang="zh-CN" altLang="en-US" sz="2000" b="1" dirty="0"/>
                <a:t>将每一级触发器的进位脉冲改为由    端输出。</a:t>
              </a:r>
            </a:p>
          </p:txBody>
        </p:sp>
        <p:graphicFrame>
          <p:nvGraphicFramePr>
            <p:cNvPr id="38" name="Object 15"/>
            <p:cNvGraphicFramePr>
              <a:graphicFrameLocks noChangeAspect="1"/>
            </p:cNvGraphicFramePr>
            <p:nvPr>
              <p:extLst>
                <p:ext uri="{D42A27DB-BD31-4B8C-83A1-F6EECF244321}">
                  <p14:modId xmlns:p14="http://schemas.microsoft.com/office/powerpoint/2010/main" xmlns="" val="3636008721"/>
                </p:ext>
              </p:extLst>
            </p:nvPr>
          </p:nvGraphicFramePr>
          <p:xfrm>
            <a:off x="3333" y="2782"/>
            <a:ext cx="166" cy="263"/>
          </p:xfrm>
          <a:graphic>
            <a:graphicData uri="http://schemas.openxmlformats.org/presentationml/2006/ole">
              <p:oleObj spid="_x0000_s20816" name="公式" r:id="rId3" imgW="152334" imgH="241195" progId="">
                <p:embed/>
              </p:oleObj>
            </a:graphicData>
          </a:graphic>
        </p:graphicFrame>
      </p:grpSp>
    </p:spTree>
    <p:extLst>
      <p:ext uri="{BB962C8B-B14F-4D97-AF65-F5344CB8AC3E}">
        <p14:creationId xmlns:p14="http://schemas.microsoft.com/office/powerpoint/2010/main" xmlns="" val="3940527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nodeType="clickEffect">
                                  <p:stCondLst>
                                    <p:cond delay="0"/>
                                  </p:stCondLst>
                                  <p:childTnLst>
                                    <p:set>
                                      <p:cBhvr>
                                        <p:cTn id="10" dur="1" fill="hold">
                                          <p:stCondLst>
                                            <p:cond delay="0"/>
                                          </p:stCondLst>
                                        </p:cTn>
                                        <p:tgtEl>
                                          <p:spTgt spid="36"/>
                                        </p:tgtEl>
                                        <p:attrNameLst>
                                          <p:attrName>style.visibility</p:attrName>
                                        </p:attrNameLst>
                                      </p:cBhvr>
                                      <p:to>
                                        <p:strVal val="visible"/>
                                      </p:to>
                                    </p:set>
                                    <p:animEffect transition="in" filter="blinds(horizontal)">
                                      <p:cBhvr>
                                        <p:cTn id="11" dur="500"/>
                                        <p:tgtEl>
                                          <p:spTgt spid="3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5"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59632" y="1124744"/>
            <a:ext cx="7416824"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467544" y="1988840"/>
            <a:ext cx="8487544" cy="4608512"/>
          </a:xfrm>
        </p:spPr>
        <p:txBody>
          <a:bodyPr/>
          <a:lstStyle/>
          <a:p>
            <a:pPr>
              <a:buSzPct val="100000"/>
              <a:buFont typeface="Wingdings" pitchFamily="2" charset="2"/>
              <a:buChar char="p"/>
            </a:pPr>
            <a:r>
              <a:rPr lang="zh-CN" altLang="en-US" sz="2800" dirty="0"/>
              <a:t>异步</a:t>
            </a:r>
            <a:r>
              <a:rPr lang="zh-CN" altLang="en-US" sz="2800" dirty="0" smtClean="0"/>
              <a:t>计数器</a:t>
            </a:r>
            <a:endParaRPr lang="zh-CN" altLang="en-US" sz="2800" dirty="0"/>
          </a:p>
        </p:txBody>
      </p:sp>
      <p:sp>
        <p:nvSpPr>
          <p:cNvPr id="10" name="Text Box 17"/>
          <p:cNvSpPr txBox="1">
            <a:spLocks noChangeArrowheads="1"/>
          </p:cNvSpPr>
          <p:nvPr/>
        </p:nvSpPr>
        <p:spPr bwMode="auto">
          <a:xfrm>
            <a:off x="548192" y="2708920"/>
            <a:ext cx="842486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sz="2400" b="1" dirty="0" smtClean="0">
                <a:solidFill>
                  <a:srgbClr val="FF0000"/>
                </a:solidFill>
                <a:latin typeface="楷体_GB2312" pitchFamily="49" charset="-122"/>
                <a:ea typeface="楷体_GB2312" pitchFamily="49" charset="-122"/>
              </a:rPr>
              <a:t>【</a:t>
            </a:r>
            <a:r>
              <a:rPr lang="zh-CN" altLang="en-US" sz="2400" b="1" dirty="0" smtClean="0">
                <a:solidFill>
                  <a:srgbClr val="FF0000"/>
                </a:solidFill>
                <a:latin typeface="楷体_GB2312" pitchFamily="49" charset="-122"/>
                <a:ea typeface="楷体_GB2312" pitchFamily="49" charset="-122"/>
              </a:rPr>
              <a:t>例</a:t>
            </a:r>
            <a:r>
              <a:rPr lang="en-US" altLang="zh-CN" sz="2400" b="1" dirty="0" smtClean="0">
                <a:solidFill>
                  <a:srgbClr val="FF00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试用</a:t>
            </a:r>
            <a:r>
              <a:rPr lang="en-US" altLang="zh-CN" sz="2400" b="1" dirty="0">
                <a:latin typeface="楷体_GB2312" pitchFamily="49" charset="-122"/>
                <a:ea typeface="楷体_GB2312" pitchFamily="49" charset="-122"/>
              </a:rPr>
              <a:t>D-FF</a:t>
            </a:r>
            <a:r>
              <a:rPr lang="zh-CN" altLang="en-US" sz="2400" b="1" dirty="0">
                <a:latin typeface="楷体_GB2312" pitchFamily="49" charset="-122"/>
                <a:ea typeface="楷体_GB2312" pitchFamily="49" charset="-122"/>
              </a:rPr>
              <a:t>构成上升沿触发的</a:t>
            </a:r>
            <a:r>
              <a:rPr lang="en-US" altLang="zh-CN" sz="2400" b="1" dirty="0">
                <a:latin typeface="楷体_GB2312" pitchFamily="49" charset="-122"/>
                <a:ea typeface="楷体_GB2312" pitchFamily="49" charset="-122"/>
              </a:rPr>
              <a:t>4</a:t>
            </a:r>
            <a:r>
              <a:rPr lang="zh-CN" altLang="en-US" sz="2400" b="1" dirty="0">
                <a:latin typeface="楷体_GB2312" pitchFamily="49" charset="-122"/>
                <a:ea typeface="楷体_GB2312" pitchFamily="49" charset="-122"/>
              </a:rPr>
              <a:t>位二进制异步加法计数器。</a:t>
            </a:r>
          </a:p>
        </p:txBody>
      </p:sp>
      <p:grpSp>
        <p:nvGrpSpPr>
          <p:cNvPr id="11" name="Group 20"/>
          <p:cNvGrpSpPr>
            <a:grpSpLocks/>
          </p:cNvGrpSpPr>
          <p:nvPr/>
        </p:nvGrpSpPr>
        <p:grpSpPr bwMode="auto">
          <a:xfrm>
            <a:off x="971600" y="3501008"/>
            <a:ext cx="7632848" cy="2376264"/>
            <a:chOff x="476" y="2407"/>
            <a:chExt cx="4989" cy="1572"/>
          </a:xfrm>
        </p:grpSpPr>
        <p:sp>
          <p:nvSpPr>
            <p:cNvPr id="12" name="Text Box 18"/>
            <p:cNvSpPr txBox="1">
              <a:spLocks noChangeArrowheads="1"/>
            </p:cNvSpPr>
            <p:nvPr/>
          </p:nvSpPr>
          <p:spPr bwMode="auto">
            <a:xfrm>
              <a:off x="1020" y="3748"/>
              <a:ext cx="3901"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dirty="0" smtClean="0"/>
                <a:t>图</a:t>
              </a:r>
              <a:r>
                <a:rPr lang="en-US" altLang="zh-CN" sz="1800" b="1" dirty="0" smtClean="0"/>
                <a:t>   </a:t>
              </a:r>
              <a:r>
                <a:rPr lang="zh-CN" altLang="en-US" sz="1800" b="1" dirty="0"/>
                <a:t>上升沿动作的</a:t>
              </a:r>
              <a:r>
                <a:rPr lang="en-US" altLang="zh-CN" sz="1800" b="1" dirty="0"/>
                <a:t>4</a:t>
              </a:r>
              <a:r>
                <a:rPr lang="zh-CN" altLang="en-US" sz="1800" b="1" dirty="0"/>
                <a:t>位异步二进制加法计数器电路图</a:t>
              </a:r>
            </a:p>
          </p:txBody>
        </p:sp>
        <p:pic>
          <p:nvPicPr>
            <p:cNvPr id="13" name="Picture 19" descr="5-5-3"/>
            <p:cNvPicPr>
              <a:picLocks noChangeAspect="1" noChangeArrowheads="1"/>
            </p:cNvPicPr>
            <p:nvPr/>
          </p:nvPicPr>
          <p:blipFill>
            <a:blip r:embed="rId2" cstate="print">
              <a:clrChange>
                <a:clrFrom>
                  <a:srgbClr val="FBFCF6"/>
                </a:clrFrom>
                <a:clrTo>
                  <a:srgbClr val="FBFCF6">
                    <a:alpha val="0"/>
                  </a:srgbClr>
                </a:clrTo>
              </a:clrChange>
              <a:lum bright="-30000" contrast="60000"/>
              <a:extLst>
                <a:ext uri="{28A0092B-C50C-407E-A947-70E740481C1C}">
                  <a14:useLocalDpi xmlns:a14="http://schemas.microsoft.com/office/drawing/2010/main" xmlns="" val="0"/>
                </a:ext>
              </a:extLst>
            </a:blip>
            <a:srcRect/>
            <a:stretch>
              <a:fillRect/>
            </a:stretch>
          </p:blipFill>
          <p:spPr bwMode="auto">
            <a:xfrm>
              <a:off x="476" y="2407"/>
              <a:ext cx="4989" cy="1159"/>
            </a:xfrm>
            <a:prstGeom prst="rect">
              <a:avLst/>
            </a:prstGeom>
            <a:noFill/>
            <a:extLst>
              <a:ext uri="{909E8E84-426E-40DD-AFC4-6F175D3DCCD1}">
                <a14:hiddenFill xmlns:a14="http://schemas.microsoft.com/office/drawing/2010/main" xmlns="">
                  <a:solidFill>
                    <a:srgbClr val="FFFFFF"/>
                  </a:solidFill>
                </a14:hiddenFill>
              </a:ext>
            </a:extLst>
          </p:spPr>
        </p:pic>
      </p:grpSp>
    </p:spTree>
    <p:extLst>
      <p:ext uri="{BB962C8B-B14F-4D97-AF65-F5344CB8AC3E}">
        <p14:creationId xmlns:p14="http://schemas.microsoft.com/office/powerpoint/2010/main" xmlns="" val="2232924523"/>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59632" y="1124744"/>
            <a:ext cx="7272808"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467544" y="1988840"/>
            <a:ext cx="8487544" cy="4608512"/>
          </a:xfrm>
        </p:spPr>
        <p:txBody>
          <a:bodyPr/>
          <a:lstStyle/>
          <a:p>
            <a:pPr>
              <a:buSzPct val="100000"/>
              <a:buFont typeface="Wingdings" pitchFamily="2" charset="2"/>
              <a:buChar char="p"/>
            </a:pPr>
            <a:r>
              <a:rPr lang="zh-CN" altLang="en-US" sz="2800" dirty="0"/>
              <a:t>异步</a:t>
            </a:r>
            <a:r>
              <a:rPr lang="zh-CN" altLang="en-US" sz="2800" dirty="0" smtClean="0"/>
              <a:t>计数器</a:t>
            </a:r>
            <a:endParaRPr lang="zh-CN" altLang="en-US" sz="2800" dirty="0"/>
          </a:p>
        </p:txBody>
      </p:sp>
      <p:sp>
        <p:nvSpPr>
          <p:cNvPr id="8" name="Rectangle 6"/>
          <p:cNvSpPr>
            <a:spLocks noChangeArrowheads="1"/>
          </p:cNvSpPr>
          <p:nvPr/>
        </p:nvSpPr>
        <p:spPr bwMode="auto">
          <a:xfrm>
            <a:off x="755576" y="2492896"/>
            <a:ext cx="7629525"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r>
              <a:rPr lang="en-US" altLang="zh-CN" sz="2400" b="1" dirty="0" smtClean="0">
                <a:solidFill>
                  <a:srgbClr val="FF0000"/>
                </a:solidFill>
                <a:latin typeface="楷体_GB2312" pitchFamily="49" charset="-122"/>
                <a:ea typeface="楷体_GB2312" pitchFamily="49" charset="-122"/>
              </a:rPr>
              <a:t>【</a:t>
            </a:r>
            <a:r>
              <a:rPr lang="zh-CN" altLang="en-US" sz="2400" b="1" dirty="0" smtClean="0">
                <a:solidFill>
                  <a:srgbClr val="FF0000"/>
                </a:solidFill>
                <a:latin typeface="楷体_GB2312" pitchFamily="49" charset="-122"/>
                <a:ea typeface="楷体_GB2312" pitchFamily="49" charset="-122"/>
              </a:rPr>
              <a:t>例</a:t>
            </a:r>
            <a:r>
              <a:rPr lang="en-US" altLang="zh-CN" sz="2400" b="1" dirty="0" smtClean="0">
                <a:solidFill>
                  <a:srgbClr val="FF00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试用</a:t>
            </a:r>
            <a:r>
              <a:rPr lang="en-US" altLang="zh-CN" sz="2400" b="1" dirty="0">
                <a:latin typeface="楷体_GB2312" pitchFamily="49" charset="-122"/>
                <a:ea typeface="楷体_GB2312" pitchFamily="49" charset="-122"/>
              </a:rPr>
              <a:t>JK-FF</a:t>
            </a:r>
            <a:r>
              <a:rPr lang="zh-CN" altLang="en-US" sz="2400" b="1" dirty="0">
                <a:latin typeface="楷体_GB2312" pitchFamily="49" charset="-122"/>
                <a:ea typeface="楷体_GB2312" pitchFamily="49" charset="-122"/>
              </a:rPr>
              <a:t>构成下降沿触发的</a:t>
            </a:r>
            <a:r>
              <a:rPr lang="en-US" altLang="zh-CN" sz="2400" b="1" dirty="0">
                <a:latin typeface="楷体_GB2312" pitchFamily="49" charset="-122"/>
                <a:ea typeface="楷体_GB2312" pitchFamily="49" charset="-122"/>
              </a:rPr>
              <a:t>4</a:t>
            </a:r>
            <a:r>
              <a:rPr lang="zh-CN" altLang="en-US" sz="2400" b="1" dirty="0">
                <a:latin typeface="楷体_GB2312" pitchFamily="49" charset="-122"/>
                <a:ea typeface="楷体_GB2312" pitchFamily="49" charset="-122"/>
              </a:rPr>
              <a:t>位二进制异步加法计数器。</a:t>
            </a:r>
          </a:p>
        </p:txBody>
      </p:sp>
      <p:grpSp>
        <p:nvGrpSpPr>
          <p:cNvPr id="9" name="Group 13"/>
          <p:cNvGrpSpPr>
            <a:grpSpLocks/>
          </p:cNvGrpSpPr>
          <p:nvPr/>
        </p:nvGrpSpPr>
        <p:grpSpPr bwMode="auto">
          <a:xfrm>
            <a:off x="755575" y="2996953"/>
            <a:ext cx="7776865" cy="2849577"/>
            <a:chOff x="340" y="1344"/>
            <a:chExt cx="5230" cy="1998"/>
          </a:xfrm>
        </p:grpSpPr>
        <p:sp>
          <p:nvSpPr>
            <p:cNvPr id="14" name="Text Box 7"/>
            <p:cNvSpPr txBox="1">
              <a:spLocks noChangeArrowheads="1"/>
            </p:cNvSpPr>
            <p:nvPr/>
          </p:nvSpPr>
          <p:spPr bwMode="auto">
            <a:xfrm>
              <a:off x="1163" y="3111"/>
              <a:ext cx="4037" cy="23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dirty="0" smtClean="0">
                  <a:latin typeface="楷体_GB2312" pitchFamily="49" charset="-122"/>
                  <a:ea typeface="楷体_GB2312" pitchFamily="49" charset="-122"/>
                </a:rPr>
                <a:t>图</a:t>
              </a:r>
              <a:r>
                <a:rPr lang="en-US" altLang="zh-CN" sz="1800" b="1" dirty="0" smtClean="0">
                  <a:latin typeface="楷体_GB2312" pitchFamily="49" charset="-122"/>
                  <a:ea typeface="楷体_GB2312" pitchFamily="49" charset="-122"/>
                </a:rPr>
                <a:t>  </a:t>
              </a:r>
              <a:r>
                <a:rPr lang="zh-CN" altLang="en-US" sz="1800" b="1" dirty="0">
                  <a:latin typeface="楷体_GB2312" pitchFamily="49" charset="-122"/>
                  <a:ea typeface="楷体_GB2312" pitchFamily="49" charset="-122"/>
                </a:rPr>
                <a:t>下降沿动作的</a:t>
              </a:r>
              <a:r>
                <a:rPr lang="en-US" altLang="zh-CN" sz="1800" b="1" dirty="0">
                  <a:latin typeface="楷体_GB2312" pitchFamily="49" charset="-122"/>
                  <a:ea typeface="楷体_GB2312" pitchFamily="49" charset="-122"/>
                </a:rPr>
                <a:t>4</a:t>
              </a:r>
              <a:r>
                <a:rPr lang="zh-CN" altLang="en-US" sz="1800" b="1" dirty="0">
                  <a:latin typeface="楷体_GB2312" pitchFamily="49" charset="-122"/>
                  <a:ea typeface="楷体_GB2312" pitchFamily="49" charset="-122"/>
                </a:rPr>
                <a:t>位异步二进制加法计数器电路图</a:t>
              </a:r>
            </a:p>
          </p:txBody>
        </p:sp>
        <p:pic>
          <p:nvPicPr>
            <p:cNvPr id="15" name="Picture 11" descr="5-5-4a"/>
            <p:cNvPicPr>
              <a:picLocks noChangeAspect="1" noChangeArrowheads="1"/>
            </p:cNvPicPr>
            <p:nvPr/>
          </p:nvPicPr>
          <p:blipFill>
            <a:blip r:embed="rId2" cstate="print">
              <a:clrChange>
                <a:clrFrom>
                  <a:srgbClr val="F6F7F1"/>
                </a:clrFrom>
                <a:clrTo>
                  <a:srgbClr val="F6F7F1">
                    <a:alpha val="0"/>
                  </a:srgbClr>
                </a:clrTo>
              </a:clrChange>
              <a:lum bright="-18000" contrast="54000"/>
              <a:extLst>
                <a:ext uri="{28A0092B-C50C-407E-A947-70E740481C1C}">
                  <a14:useLocalDpi xmlns:a14="http://schemas.microsoft.com/office/drawing/2010/main" xmlns="" val="0"/>
                </a:ext>
              </a:extLst>
            </a:blip>
            <a:srcRect/>
            <a:stretch>
              <a:fillRect/>
            </a:stretch>
          </p:blipFill>
          <p:spPr bwMode="auto">
            <a:xfrm>
              <a:off x="340" y="1344"/>
              <a:ext cx="5230" cy="1535"/>
            </a:xfrm>
            <a:prstGeom prst="rect">
              <a:avLst/>
            </a:prstGeom>
            <a:noFill/>
            <a:extLst>
              <a:ext uri="{909E8E84-426E-40DD-AFC4-6F175D3DCCD1}">
                <a14:hiddenFill xmlns:a14="http://schemas.microsoft.com/office/drawing/2010/main" xmlns="">
                  <a:solidFill>
                    <a:srgbClr val="FFFFFF"/>
                  </a:solidFill>
                </a14:hiddenFill>
              </a:ext>
            </a:extLst>
          </p:spPr>
        </p:pic>
      </p:grpSp>
    </p:spTree>
    <p:extLst>
      <p:ext uri="{BB962C8B-B14F-4D97-AF65-F5344CB8AC3E}">
        <p14:creationId xmlns:p14="http://schemas.microsoft.com/office/powerpoint/2010/main" xmlns="" val="599016396"/>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187624" y="1124744"/>
            <a:ext cx="7560840" cy="566936"/>
          </a:xfrm>
        </p:spPr>
        <p:txBody>
          <a:bodyPr/>
          <a:lstStyle/>
          <a:p>
            <a:r>
              <a:rPr lang="en-US" altLang="zh-CN" dirty="0" smtClean="0"/>
              <a:t>6.4 </a:t>
            </a:r>
            <a:r>
              <a:rPr lang="zh-CN" altLang="en-US" dirty="0" smtClean="0"/>
              <a:t>计数器</a:t>
            </a:r>
            <a:endParaRPr lang="zh-CN" altLang="en-US" dirty="0"/>
          </a:p>
        </p:txBody>
      </p:sp>
      <p:grpSp>
        <p:nvGrpSpPr>
          <p:cNvPr id="5" name="Group 6"/>
          <p:cNvGrpSpPr>
            <a:grpSpLocks/>
          </p:cNvGrpSpPr>
          <p:nvPr/>
        </p:nvGrpSpPr>
        <p:grpSpPr bwMode="auto">
          <a:xfrm>
            <a:off x="755576" y="5445224"/>
            <a:ext cx="7705725" cy="1173162"/>
            <a:chOff x="497" y="2827"/>
            <a:chExt cx="4854" cy="739"/>
          </a:xfrm>
        </p:grpSpPr>
        <p:sp>
          <p:nvSpPr>
            <p:cNvPr id="6" name="Text Box 7"/>
            <p:cNvSpPr txBox="1">
              <a:spLocks noChangeArrowheads="1"/>
            </p:cNvSpPr>
            <p:nvPr/>
          </p:nvSpPr>
          <p:spPr bwMode="auto">
            <a:xfrm>
              <a:off x="497" y="2827"/>
              <a:ext cx="4854" cy="73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nSpc>
                  <a:spcPct val="130000"/>
                </a:lnSpc>
                <a:spcBef>
                  <a:spcPct val="50000"/>
                </a:spcBef>
              </a:pPr>
              <a:r>
                <a:rPr lang="zh-CN" altLang="en-US" b="1" dirty="0"/>
                <a:t>从以上例子可以看出，</a:t>
              </a:r>
              <a:r>
                <a:rPr lang="zh-CN" altLang="en-US" b="1" dirty="0" smtClean="0"/>
                <a:t>若</a:t>
              </a:r>
              <a:r>
                <a:rPr lang="en-US" altLang="zh-CN" b="1" i="1" dirty="0" smtClean="0"/>
                <a:t>cp</a:t>
              </a:r>
              <a:r>
                <a:rPr lang="en-US" altLang="zh-CN" b="1" baseline="-25000" dirty="0" smtClean="0"/>
                <a:t>0</a:t>
              </a:r>
              <a:r>
                <a:rPr lang="zh-CN" altLang="en-US" b="1" dirty="0" smtClean="0"/>
                <a:t> 的</a:t>
              </a:r>
              <a:r>
                <a:rPr lang="zh-CN" altLang="en-US" b="1" dirty="0"/>
                <a:t>频率</a:t>
              </a:r>
              <a:r>
                <a:rPr lang="zh-CN" altLang="en-US" b="1" dirty="0" smtClean="0"/>
                <a:t>为 </a:t>
              </a:r>
              <a:r>
                <a:rPr lang="en-US" altLang="zh-CN" b="1" i="1" dirty="0" smtClean="0"/>
                <a:t>f</a:t>
              </a:r>
              <a:r>
                <a:rPr lang="en-US" altLang="zh-CN" b="1" baseline="-25000" dirty="0" smtClean="0"/>
                <a:t>0</a:t>
              </a:r>
              <a:r>
                <a:rPr lang="zh-CN" altLang="en-US" b="1" dirty="0" smtClean="0"/>
                <a:t> ，则</a:t>
              </a:r>
              <a:r>
                <a:rPr lang="en-US" altLang="zh-CN" b="1" dirty="0" smtClean="0"/>
                <a:t>Q</a:t>
              </a:r>
              <a:r>
                <a:rPr lang="en-US" altLang="zh-CN" b="1" baseline="-25000" dirty="0" smtClean="0"/>
                <a:t>0</a:t>
              </a:r>
              <a:r>
                <a:rPr lang="en-US" altLang="zh-CN" b="1" dirty="0" smtClean="0"/>
                <a:t>, Q</a:t>
              </a:r>
              <a:r>
                <a:rPr lang="en-US" altLang="zh-CN" b="1" baseline="-25000" dirty="0" smtClean="0"/>
                <a:t>1</a:t>
              </a:r>
              <a:r>
                <a:rPr lang="en-US" altLang="zh-CN" b="1" dirty="0" smtClean="0"/>
                <a:t>, Q</a:t>
              </a:r>
              <a:r>
                <a:rPr lang="en-US" altLang="zh-CN" b="1" baseline="-25000" dirty="0" smtClean="0"/>
                <a:t>2</a:t>
              </a:r>
              <a:r>
                <a:rPr lang="en-US" altLang="zh-CN" b="1" dirty="0" smtClean="0"/>
                <a:t>, Q</a:t>
              </a:r>
              <a:r>
                <a:rPr lang="en-US" altLang="zh-CN" b="1" baseline="-25000" dirty="0" smtClean="0"/>
                <a:t>3</a:t>
              </a:r>
              <a:r>
                <a:rPr lang="zh-CN" altLang="en-US" b="1" dirty="0" smtClean="0"/>
                <a:t> 的</a:t>
              </a:r>
              <a:r>
                <a:rPr lang="zh-CN" altLang="en-US" b="1" dirty="0"/>
                <a:t>频率可分别</a:t>
              </a:r>
              <a:r>
                <a:rPr lang="zh-CN" altLang="en-US" b="1" dirty="0" smtClean="0"/>
                <a:t>为       </a:t>
              </a:r>
              <a:r>
                <a:rPr lang="zh-CN" altLang="en-US" b="1" dirty="0"/>
                <a:t>、 </a:t>
              </a:r>
              <a:r>
                <a:rPr lang="zh-CN" altLang="en-US" b="1" dirty="0" smtClean="0"/>
                <a:t>     </a:t>
              </a:r>
              <a:r>
                <a:rPr lang="zh-CN" altLang="en-US" b="1" dirty="0"/>
                <a:t>、 </a:t>
              </a:r>
              <a:r>
                <a:rPr lang="zh-CN" altLang="en-US" b="1" dirty="0" smtClean="0"/>
                <a:t>    </a:t>
              </a:r>
              <a:r>
                <a:rPr lang="zh-CN" altLang="en-US" b="1" dirty="0"/>
                <a:t>、 </a:t>
              </a:r>
              <a:r>
                <a:rPr lang="zh-CN" altLang="en-US" b="1" dirty="0" smtClean="0"/>
                <a:t>    </a:t>
              </a:r>
              <a:r>
                <a:rPr lang="zh-CN" altLang="en-US" b="1" dirty="0"/>
                <a:t>，这说明计数器具有分频作用，也叫做</a:t>
              </a:r>
              <a:r>
                <a:rPr lang="zh-CN" altLang="en-US" b="1" dirty="0">
                  <a:solidFill>
                    <a:srgbClr val="FF0000"/>
                  </a:solidFill>
                </a:rPr>
                <a:t>分频器</a:t>
              </a:r>
              <a:r>
                <a:rPr lang="zh-CN" altLang="en-US" b="1" dirty="0"/>
                <a:t>（</a:t>
              </a:r>
              <a:r>
                <a:rPr lang="en-US" altLang="zh-CN" b="1" dirty="0"/>
                <a:t>Frequency Divider</a:t>
              </a:r>
              <a:r>
                <a:rPr lang="zh-CN" altLang="en-US" b="1" dirty="0"/>
                <a:t>）。</a:t>
              </a:r>
            </a:p>
          </p:txBody>
        </p:sp>
        <p:graphicFrame>
          <p:nvGraphicFramePr>
            <p:cNvPr id="10" name="Object 11"/>
            <p:cNvGraphicFramePr>
              <a:graphicFrameLocks noChangeAspect="1"/>
            </p:cNvGraphicFramePr>
            <p:nvPr>
              <p:extLst>
                <p:ext uri="{D42A27DB-BD31-4B8C-83A1-F6EECF244321}">
                  <p14:modId xmlns:p14="http://schemas.microsoft.com/office/powerpoint/2010/main" xmlns="" val="1656928376"/>
                </p:ext>
              </p:extLst>
            </p:nvPr>
          </p:nvGraphicFramePr>
          <p:xfrm>
            <a:off x="860" y="3099"/>
            <a:ext cx="215" cy="289"/>
          </p:xfrm>
          <a:graphic>
            <a:graphicData uri="http://schemas.openxmlformats.org/presentationml/2006/ole">
              <p:oleObj spid="_x0000_s22251" name="公式" r:id="rId3" imgW="267840" imgH="357480" progId="">
                <p:embed/>
              </p:oleObj>
            </a:graphicData>
          </a:graphic>
        </p:graphicFrame>
        <p:graphicFrame>
          <p:nvGraphicFramePr>
            <p:cNvPr id="11" name="Object 12"/>
            <p:cNvGraphicFramePr>
              <a:graphicFrameLocks noChangeAspect="1"/>
            </p:cNvGraphicFramePr>
            <p:nvPr>
              <p:extLst>
                <p:ext uri="{D42A27DB-BD31-4B8C-83A1-F6EECF244321}">
                  <p14:modId xmlns:p14="http://schemas.microsoft.com/office/powerpoint/2010/main" xmlns="" val="259181846"/>
                </p:ext>
              </p:extLst>
            </p:nvPr>
          </p:nvGraphicFramePr>
          <p:xfrm>
            <a:off x="1223" y="3054"/>
            <a:ext cx="234" cy="315"/>
          </p:xfrm>
          <a:graphic>
            <a:graphicData uri="http://schemas.openxmlformats.org/presentationml/2006/ole">
              <p:oleObj spid="_x0000_s22252" name="公式" r:id="rId4" imgW="267840" imgH="357480" progId="">
                <p:embed/>
              </p:oleObj>
            </a:graphicData>
          </a:graphic>
        </p:graphicFrame>
        <p:graphicFrame>
          <p:nvGraphicFramePr>
            <p:cNvPr id="12" name="Object 13"/>
            <p:cNvGraphicFramePr>
              <a:graphicFrameLocks noChangeAspect="1"/>
            </p:cNvGraphicFramePr>
            <p:nvPr>
              <p:extLst>
                <p:ext uri="{D42A27DB-BD31-4B8C-83A1-F6EECF244321}">
                  <p14:modId xmlns:p14="http://schemas.microsoft.com/office/powerpoint/2010/main" xmlns="" val="2888734708"/>
                </p:ext>
              </p:extLst>
            </p:nvPr>
          </p:nvGraphicFramePr>
          <p:xfrm>
            <a:off x="1586" y="3054"/>
            <a:ext cx="236" cy="332"/>
          </p:xfrm>
          <a:graphic>
            <a:graphicData uri="http://schemas.openxmlformats.org/presentationml/2006/ole">
              <p:oleObj spid="_x0000_s22253" name="公式" r:id="rId5" imgW="249840" imgH="357480" progId="">
                <p:embed/>
              </p:oleObj>
            </a:graphicData>
          </a:graphic>
        </p:graphicFrame>
        <p:graphicFrame>
          <p:nvGraphicFramePr>
            <p:cNvPr id="13" name="Object 14"/>
            <p:cNvGraphicFramePr>
              <a:graphicFrameLocks noChangeAspect="1"/>
            </p:cNvGraphicFramePr>
            <p:nvPr>
              <p:extLst>
                <p:ext uri="{D42A27DB-BD31-4B8C-83A1-F6EECF244321}">
                  <p14:modId xmlns:p14="http://schemas.microsoft.com/office/powerpoint/2010/main" xmlns="" val="3198955595"/>
                </p:ext>
              </p:extLst>
            </p:nvPr>
          </p:nvGraphicFramePr>
          <p:xfrm>
            <a:off x="1948" y="3054"/>
            <a:ext cx="294" cy="325"/>
          </p:xfrm>
          <a:graphic>
            <a:graphicData uri="http://schemas.openxmlformats.org/presentationml/2006/ole">
              <p:oleObj spid="_x0000_s22254" name="公式" r:id="rId6" imgW="321480" imgH="357480" progId="">
                <p:embed/>
              </p:oleObj>
            </a:graphicData>
          </a:graphic>
        </p:graphicFrame>
      </p:grpSp>
      <p:sp>
        <p:nvSpPr>
          <p:cNvPr id="14" name="Text Box 15"/>
          <p:cNvSpPr txBox="1">
            <a:spLocks noChangeArrowheads="1"/>
          </p:cNvSpPr>
          <p:nvPr/>
        </p:nvSpPr>
        <p:spPr bwMode="auto">
          <a:xfrm>
            <a:off x="1907704" y="5013176"/>
            <a:ext cx="5472112"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600" b="1" dirty="0" smtClean="0"/>
              <a:t>图</a:t>
            </a:r>
            <a:r>
              <a:rPr lang="en-US" altLang="zh-CN" sz="1600" b="1" dirty="0" smtClean="0"/>
              <a:t>   </a:t>
            </a:r>
            <a:r>
              <a:rPr lang="zh-CN" altLang="en-US" sz="1600" b="1" dirty="0"/>
              <a:t>下降沿动作的</a:t>
            </a:r>
            <a:r>
              <a:rPr lang="en-US" altLang="zh-CN" sz="1600" b="1" dirty="0"/>
              <a:t>4</a:t>
            </a:r>
            <a:r>
              <a:rPr lang="zh-CN" altLang="en-US" sz="1600" b="1" dirty="0"/>
              <a:t>位异步二进制加法计数器时序图</a:t>
            </a:r>
          </a:p>
        </p:txBody>
      </p:sp>
      <p:sp>
        <p:nvSpPr>
          <p:cNvPr id="26" name="矩形标注 25"/>
          <p:cNvSpPr/>
          <p:nvPr/>
        </p:nvSpPr>
        <p:spPr bwMode="auto">
          <a:xfrm>
            <a:off x="4716016" y="6309320"/>
            <a:ext cx="3816424" cy="340735"/>
          </a:xfrm>
          <a:prstGeom prst="wedgeRectCallout">
            <a:avLst>
              <a:gd name="adj1" fmla="val -82047"/>
              <a:gd name="adj2" fmla="val -60727"/>
            </a:avLst>
          </a:prstGeom>
          <a:solidFill>
            <a:srgbClr val="FFFF00"/>
          </a:solidFill>
          <a:ln w="9525" cap="flat" cmpd="sng" algn="ctr">
            <a:solidFill>
              <a:schemeClr val="tx1"/>
            </a:solidFill>
            <a:prstDash val="solid"/>
            <a:miter lim="800000"/>
            <a:headEnd type="none" w="med" len="med"/>
            <a:tailEnd type="none" w="med" len="med"/>
          </a:ln>
        </p:spPr>
        <p:txBody>
          <a:bodyPr vert="horz" wrap="square" lIns="90000" tIns="46800" rIns="90000" bIns="46800" numCol="1" rtlCol="0" anchor="t" anchorCtr="0" compatLnSpc="1">
            <a:spAutoFit/>
          </a:bodyPr>
          <a:lstStyle/>
          <a:p>
            <a:pPr algn="ctr" fontAlgn="base">
              <a:spcBef>
                <a:spcPct val="0"/>
              </a:spcBef>
              <a:spcAft>
                <a:spcPct val="0"/>
              </a:spcAft>
            </a:pPr>
            <a:r>
              <a:rPr lang="zh-CN" altLang="en-US" sz="1600" b="1" dirty="0" smtClean="0">
                <a:solidFill>
                  <a:srgbClr val="FF0000"/>
                </a:solidFill>
              </a:rPr>
              <a:t>二分频、四分频、八分频、十六分频</a:t>
            </a:r>
            <a:endParaRPr kumimoji="1" lang="zh-CN" altLang="en-US" sz="1600" b="0" i="0" u="none" strike="noStrike" cap="none" normalizeH="0" baseline="0" dirty="0" smtClean="0">
              <a:ln>
                <a:noFill/>
              </a:ln>
              <a:solidFill>
                <a:srgbClr val="FF0000"/>
              </a:solidFill>
              <a:effectLst/>
              <a:latin typeface="Tahoma" panose="020B0604030504040204" pitchFamily="34" charset="0"/>
              <a:ea typeface="宋体" panose="02010600030101010101" pitchFamily="2" charset="-122"/>
            </a:endParaRPr>
          </a:p>
        </p:txBody>
      </p:sp>
      <p:pic>
        <p:nvPicPr>
          <p:cNvPr id="22256" name="Picture 752"/>
          <p:cNvPicPr>
            <a:picLocks noChangeAspect="1" noChangeArrowheads="1"/>
          </p:cNvPicPr>
          <p:nvPr/>
        </p:nvPicPr>
        <p:blipFill>
          <a:blip r:embed="rId7" cstate="print"/>
          <a:srcRect/>
          <a:stretch>
            <a:fillRect/>
          </a:stretch>
        </p:blipFill>
        <p:spPr bwMode="auto">
          <a:xfrm>
            <a:off x="871538" y="1976438"/>
            <a:ext cx="7400925" cy="2905125"/>
          </a:xfrm>
          <a:prstGeom prst="rect">
            <a:avLst/>
          </a:prstGeom>
          <a:noFill/>
          <a:ln w="9525">
            <a:noFill/>
            <a:miter lim="800000"/>
            <a:headEnd/>
            <a:tailEnd/>
          </a:ln>
        </p:spPr>
      </p:pic>
    </p:spTree>
    <p:extLst>
      <p:ext uri="{BB962C8B-B14F-4D97-AF65-F5344CB8AC3E}">
        <p14:creationId xmlns:p14="http://schemas.microsoft.com/office/powerpoint/2010/main" xmlns="" val="2491846287"/>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几种常用的时序</a:t>
            </a:r>
            <a:r>
              <a:rPr lang="zh-CN" altLang="en-US" dirty="0" smtClean="0"/>
              <a:t>逻辑电路</a:t>
            </a:r>
            <a:endParaRPr lang="zh-CN" altLang="en-US" dirty="0"/>
          </a:p>
        </p:txBody>
      </p:sp>
      <p:sp>
        <p:nvSpPr>
          <p:cNvPr id="4" name="内容占位符 3"/>
          <p:cNvSpPr>
            <a:spLocks noGrp="1"/>
          </p:cNvSpPr>
          <p:nvPr>
            <p:ph idx="1"/>
          </p:nvPr>
        </p:nvSpPr>
        <p:spPr>
          <a:xfrm>
            <a:off x="467544" y="116632"/>
            <a:ext cx="8161338" cy="4752528"/>
          </a:xfrm>
          <a:solidFill>
            <a:schemeClr val="bg1"/>
          </a:solidFill>
        </p:spPr>
        <p:txBody>
          <a:bodyPr/>
          <a:lstStyle/>
          <a:p>
            <a:pPr>
              <a:lnSpc>
                <a:spcPct val="100000"/>
              </a:lnSpc>
              <a:spcBef>
                <a:spcPts val="600"/>
              </a:spcBef>
              <a:buSzPct val="100000"/>
              <a:buFont typeface="Wingdings" pitchFamily="2" charset="2"/>
              <a:buChar char="p"/>
            </a:pPr>
            <a:r>
              <a:rPr lang="zh-CN" altLang="en-US" sz="2800" dirty="0"/>
              <a:t>异步</a:t>
            </a:r>
            <a:r>
              <a:rPr lang="zh-CN" altLang="en-US" sz="2800" dirty="0" smtClean="0"/>
              <a:t>计数器</a:t>
            </a:r>
            <a:endParaRPr lang="en-US" altLang="zh-CN" sz="2800" dirty="0" smtClean="0"/>
          </a:p>
          <a:p>
            <a:pPr marL="457200" lvl="1" indent="0">
              <a:lnSpc>
                <a:spcPct val="100000"/>
              </a:lnSpc>
              <a:spcBef>
                <a:spcPts val="600"/>
              </a:spcBef>
              <a:buNone/>
            </a:pPr>
            <a:r>
              <a:rPr lang="en-US" altLang="zh-CN" sz="2400" dirty="0" smtClean="0"/>
              <a:t>2</a:t>
            </a:r>
            <a:r>
              <a:rPr lang="zh-CN" altLang="en-US" sz="2400" dirty="0" smtClean="0"/>
              <a:t>、</a:t>
            </a:r>
            <a:r>
              <a:rPr lang="zh-CN" altLang="en-US" sz="2400" dirty="0"/>
              <a:t>异步十进制计数器</a:t>
            </a:r>
          </a:p>
          <a:p>
            <a:pPr lvl="2">
              <a:lnSpc>
                <a:spcPct val="100000"/>
              </a:lnSpc>
              <a:spcBef>
                <a:spcPts val="600"/>
              </a:spcBef>
              <a:buClr>
                <a:srgbClr val="FF0000"/>
              </a:buClr>
              <a:buSzPct val="100000"/>
            </a:pPr>
            <a:r>
              <a:rPr lang="zh-CN" altLang="en-US" sz="2400" dirty="0" smtClean="0"/>
              <a:t>典型</a:t>
            </a:r>
            <a:r>
              <a:rPr lang="zh-CN" altLang="en-US" sz="2400" dirty="0"/>
              <a:t>的异步十进制加法计数器电路图如</a:t>
            </a:r>
            <a:r>
              <a:rPr lang="zh-CN" altLang="en-US" sz="2400" dirty="0" smtClean="0"/>
              <a:t>图所</a:t>
            </a:r>
            <a:r>
              <a:rPr lang="zh-CN" altLang="en-US" sz="2400" dirty="0"/>
              <a:t>示</a:t>
            </a:r>
          </a:p>
        </p:txBody>
      </p:sp>
      <p:pic>
        <p:nvPicPr>
          <p:cNvPr id="5" name="Picture 6" descr="5-5-8a"/>
          <p:cNvPicPr>
            <a:picLocks noChangeAspect="1" noChangeArrowheads="1"/>
          </p:cNvPicPr>
          <p:nvPr/>
        </p:nvPicPr>
        <p:blipFill>
          <a:blip r:embed="rId2" cstate="print">
            <a:clrChange>
              <a:clrFrom>
                <a:srgbClr val="F9FAF4"/>
              </a:clrFrom>
              <a:clrTo>
                <a:srgbClr val="F9FAF4">
                  <a:alpha val="0"/>
                </a:srgbClr>
              </a:clrTo>
            </a:clrChange>
            <a:lum bright="-24000" contrast="60000"/>
            <a:extLst>
              <a:ext uri="{28A0092B-C50C-407E-A947-70E740481C1C}">
                <a14:useLocalDpi xmlns:a14="http://schemas.microsoft.com/office/drawing/2010/main" xmlns="" val="0"/>
              </a:ext>
            </a:extLst>
          </a:blip>
          <a:srcRect/>
          <a:stretch>
            <a:fillRect/>
          </a:stretch>
        </p:blipFill>
        <p:spPr bwMode="auto">
          <a:xfrm>
            <a:off x="1908175" y="4150568"/>
            <a:ext cx="5759450" cy="2319338"/>
          </a:xfrm>
          <a:prstGeom prst="rect">
            <a:avLst/>
          </a:prstGeom>
          <a:noFill/>
          <a:extLst>
            <a:ext uri="{909E8E84-426E-40DD-AFC4-6F175D3DCCD1}">
              <a14:hiddenFill xmlns:a14="http://schemas.microsoft.com/office/drawing/2010/main" xmlns="">
                <a:solidFill>
                  <a:srgbClr val="FFFFFF"/>
                </a:solidFill>
              </a14:hiddenFill>
            </a:ext>
          </a:extLst>
        </p:spPr>
      </p:pic>
      <p:sp>
        <p:nvSpPr>
          <p:cNvPr id="6" name="Text Box 8"/>
          <p:cNvSpPr txBox="1">
            <a:spLocks noChangeArrowheads="1"/>
          </p:cNvSpPr>
          <p:nvPr/>
        </p:nvSpPr>
        <p:spPr bwMode="auto">
          <a:xfrm>
            <a:off x="2124075" y="3861643"/>
            <a:ext cx="4752975" cy="366713"/>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dirty="0" smtClean="0">
                <a:latin typeface="楷体_GB2312" pitchFamily="49" charset="-122"/>
                <a:ea typeface="楷体_GB2312" pitchFamily="49" charset="-122"/>
              </a:rPr>
              <a:t>图</a:t>
            </a:r>
            <a:r>
              <a:rPr lang="en-US" altLang="zh-CN" sz="1800" b="1" dirty="0" smtClean="0">
                <a:latin typeface="楷体_GB2312" pitchFamily="49" charset="-122"/>
                <a:ea typeface="楷体_GB2312" pitchFamily="49" charset="-122"/>
              </a:rPr>
              <a:t>  </a:t>
            </a:r>
            <a:r>
              <a:rPr lang="zh-CN" altLang="en-US" sz="1800" b="1" dirty="0">
                <a:latin typeface="楷体_GB2312" pitchFamily="49" charset="-122"/>
                <a:ea typeface="楷体_GB2312" pitchFamily="49" charset="-122"/>
              </a:rPr>
              <a:t>异步十进制加法计数器电路图</a:t>
            </a:r>
          </a:p>
        </p:txBody>
      </p:sp>
      <p:sp>
        <p:nvSpPr>
          <p:cNvPr id="7" name="Text Box 9"/>
          <p:cNvSpPr txBox="1">
            <a:spLocks noChangeArrowheads="1"/>
          </p:cNvSpPr>
          <p:nvPr/>
        </p:nvSpPr>
        <p:spPr bwMode="auto">
          <a:xfrm>
            <a:off x="2124075" y="6374656"/>
            <a:ext cx="5113338"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800" b="1" dirty="0" smtClean="0">
                <a:latin typeface="楷体_GB2312" pitchFamily="49" charset="-122"/>
                <a:ea typeface="楷体_GB2312" pitchFamily="49" charset="-122"/>
              </a:rPr>
              <a:t>图</a:t>
            </a:r>
            <a:r>
              <a:rPr lang="en-US" altLang="zh-CN" sz="1800" b="1" dirty="0" smtClean="0">
                <a:latin typeface="楷体_GB2312" pitchFamily="49" charset="-122"/>
                <a:ea typeface="楷体_GB2312" pitchFamily="49" charset="-122"/>
              </a:rPr>
              <a:t>  </a:t>
            </a:r>
            <a:r>
              <a:rPr lang="zh-CN" altLang="en-US" sz="1800" b="1" dirty="0">
                <a:latin typeface="楷体_GB2312" pitchFamily="49" charset="-122"/>
                <a:ea typeface="楷体_GB2312" pitchFamily="49" charset="-122"/>
              </a:rPr>
              <a:t>异步十进制加法计数器状态转换图</a:t>
            </a:r>
          </a:p>
        </p:txBody>
      </p:sp>
      <p:pic>
        <p:nvPicPr>
          <p:cNvPr id="8" name="Picture 10" descr="5-5-7"/>
          <p:cNvPicPr>
            <a:picLocks noChangeAspect="1" noChangeArrowheads="1"/>
          </p:cNvPicPr>
          <p:nvPr/>
        </p:nvPicPr>
        <p:blipFill>
          <a:blip r:embed="rId3" cstate="print">
            <a:clrChange>
              <a:clrFrom>
                <a:srgbClr val="F7F8F2"/>
              </a:clrFrom>
              <a:clrTo>
                <a:srgbClr val="F7F8F2">
                  <a:alpha val="0"/>
                </a:srgbClr>
              </a:clrTo>
            </a:clrChange>
            <a:lum bright="-12000" contrast="48000"/>
            <a:extLst>
              <a:ext uri="{28A0092B-C50C-407E-A947-70E740481C1C}">
                <a14:useLocalDpi xmlns:a14="http://schemas.microsoft.com/office/drawing/2010/main" xmlns="" val="0"/>
              </a:ext>
            </a:extLst>
          </a:blip>
          <a:srcRect/>
          <a:stretch>
            <a:fillRect/>
          </a:stretch>
        </p:blipFill>
        <p:spPr bwMode="auto">
          <a:xfrm>
            <a:off x="1116013" y="1485156"/>
            <a:ext cx="7010400" cy="2389187"/>
          </a:xfrm>
          <a:prstGeom prst="rect">
            <a:avLst/>
          </a:prstGeom>
          <a:noFill/>
          <a:extLst>
            <a:ext uri="{909E8E84-426E-40DD-AFC4-6F175D3DCCD1}">
              <a14:hiddenFill xmlns:a14="http://schemas.microsoft.com/office/drawing/2010/main" xmlns="">
                <a:solidFill>
                  <a:srgbClr val="FFFFFF"/>
                </a:solidFill>
              </a14:hiddenFill>
            </a:ext>
          </a:extLst>
        </p:spPr>
      </p:pic>
      <p:sp>
        <p:nvSpPr>
          <p:cNvPr id="9" name="Rectangle 13"/>
          <p:cNvSpPr>
            <a:spLocks noChangeArrowheads="1"/>
          </p:cNvSpPr>
          <p:nvPr/>
        </p:nvSpPr>
        <p:spPr bwMode="auto">
          <a:xfrm>
            <a:off x="3563938" y="5733306"/>
            <a:ext cx="1295400" cy="720725"/>
          </a:xfrm>
          <a:prstGeom prst="rect">
            <a:avLst/>
          </a:prstGeom>
          <a:noFill/>
          <a:ln w="19050">
            <a:solidFill>
              <a:srgbClr val="FF0000"/>
            </a:solidFill>
            <a:prstDash val="dashDot"/>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0" name="AutoShape 14"/>
          <p:cNvSpPr>
            <a:spLocks noChangeArrowheads="1"/>
          </p:cNvSpPr>
          <p:nvPr/>
        </p:nvSpPr>
        <p:spPr bwMode="auto">
          <a:xfrm>
            <a:off x="7092950" y="6093668"/>
            <a:ext cx="1727200" cy="503238"/>
          </a:xfrm>
          <a:prstGeom prst="wedgeRoundRectCallout">
            <a:avLst>
              <a:gd name="adj1" fmla="val -168106"/>
              <a:gd name="adj2" fmla="val -122870"/>
              <a:gd name="adj3" fmla="val 16667"/>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US" sz="2000" b="1">
                <a:solidFill>
                  <a:srgbClr val="FF0000"/>
                </a:solidFill>
              </a:rPr>
              <a:t>竞争－冒险</a:t>
            </a:r>
          </a:p>
        </p:txBody>
      </p:sp>
      <p:sp>
        <p:nvSpPr>
          <p:cNvPr id="11" name="AutoShape 15"/>
          <p:cNvSpPr>
            <a:spLocks noChangeArrowheads="1"/>
          </p:cNvSpPr>
          <p:nvPr/>
        </p:nvSpPr>
        <p:spPr bwMode="auto">
          <a:xfrm>
            <a:off x="6877050" y="3790206"/>
            <a:ext cx="1800225" cy="792162"/>
          </a:xfrm>
          <a:prstGeom prst="wedgeRoundRectCallout">
            <a:avLst>
              <a:gd name="adj1" fmla="val -181745"/>
              <a:gd name="adj2" fmla="val -92685"/>
              <a:gd name="adj3" fmla="val 16667"/>
            </a:avLst>
          </a:prstGeom>
          <a:noFill/>
          <a:ln w="28575">
            <a:solidFill>
              <a:schemeClr val="tx1"/>
            </a:solidFill>
            <a:miter lim="800000"/>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zh-CN" altLang="en-GB" sz="2000" b="1">
                <a:solidFill>
                  <a:srgbClr val="FF0000"/>
                </a:solidFill>
              </a:rPr>
              <a:t>若加入若干级非门延迟</a:t>
            </a:r>
            <a:endParaRPr lang="zh-CN" altLang="en-US" sz="2000" b="1">
              <a:solidFill>
                <a:srgbClr val="FF0000"/>
              </a:solidFill>
            </a:endParaRPr>
          </a:p>
        </p:txBody>
      </p:sp>
      <p:sp>
        <p:nvSpPr>
          <p:cNvPr id="12" name="UTurnArrow">
            <a:hlinkClick r:id="rId4" action="ppaction://hlinksldjump"/>
          </p:cNvPr>
          <p:cNvSpPr>
            <a:spLocks noEditPoints="1" noChangeArrowheads="1"/>
          </p:cNvSpPr>
          <p:nvPr/>
        </p:nvSpPr>
        <p:spPr bwMode="auto">
          <a:xfrm>
            <a:off x="468313" y="4293443"/>
            <a:ext cx="814387" cy="598488"/>
          </a:xfrm>
          <a:custGeom>
            <a:avLst/>
            <a:gdLst>
              <a:gd name="G0" fmla="+- 0 0 0"/>
              <a:gd name="G1" fmla="+- 5574 0 0"/>
              <a:gd name="G2" fmla="*/ 5574 1 2"/>
              <a:gd name="G3" fmla="*/ 9725 1 2"/>
              <a:gd name="G4" fmla="+- 10800 G3 G2"/>
              <a:gd name="G5" fmla="+- 10800 G3 0"/>
              <a:gd name="G6" fmla="+- G5 G2 0"/>
              <a:gd name="G7" fmla="*/ G6 1 2"/>
              <a:gd name="G8" fmla="+- 9725 0 0"/>
              <a:gd name="G9" fmla="+- 21600 0 5574"/>
              <a:gd name="G10" fmla="+- 21600 0 9725"/>
              <a:gd name="G11" fmla="min G10 8691"/>
              <a:gd name="G12" fmla="+- 8826 0 0"/>
              <a:gd name="G13" fmla="+- 14865 0 5975"/>
              <a:gd name="G14" fmla="+- 14865 0 0"/>
              <a:gd name="G15" fmla="*/ 5574 5842 6110"/>
              <a:gd name="G16" fmla="+- 8826 1350 0"/>
              <a:gd name="G17" fmla="+- 8310 0 G15"/>
              <a:gd name="G18" fmla="*/ G17 G7 8310"/>
              <a:gd name="G19" fmla="+- 5574 G18 0"/>
              <a:gd name="G20" fmla="+- G4 0 G18"/>
              <a:gd name="T0" fmla="*/ 9225 w 21600"/>
              <a:gd name="T1" fmla="*/ 0 h 21600"/>
              <a:gd name="T2" fmla="*/ 2787 w 21600"/>
              <a:gd name="T3" fmla="*/ 21600 h 21600"/>
              <a:gd name="T4" fmla="*/ 9725 w 21600"/>
              <a:gd name="T5" fmla="*/ 8826 h 21600"/>
              <a:gd name="T6" fmla="*/ 15663 w 21600"/>
              <a:gd name="T7" fmla="*/ 14865 h 21600"/>
              <a:gd name="T8" fmla="*/ 21600 w 21600"/>
              <a:gd name="T9" fmla="*/ 8826 h 21600"/>
              <a:gd name="T10" fmla="*/ 17694720 60000 65536"/>
              <a:gd name="T11" fmla="*/ 5898240 60000 65536"/>
              <a:gd name="T12" fmla="*/ 5898240 60000 65536"/>
              <a:gd name="T13" fmla="*/ 5898240 60000 65536"/>
              <a:gd name="T14" fmla="*/ 0 60000 65536"/>
              <a:gd name="T15" fmla="*/ 0 w 21600"/>
              <a:gd name="T16" fmla="*/ 8310 h 21600"/>
              <a:gd name="T17" fmla="*/ G1 w 21600"/>
              <a:gd name="T18" fmla="*/ 21600 h 21600"/>
            </a:gdLst>
            <a:ahLst/>
            <a:cxnLst>
              <a:cxn ang="T10">
                <a:pos x="T0" y="T1"/>
              </a:cxn>
              <a:cxn ang="T11">
                <a:pos x="T2" y="T3"/>
              </a:cxn>
              <a:cxn ang="T12">
                <a:pos x="T4" y="T5"/>
              </a:cxn>
              <a:cxn ang="T13">
                <a:pos x="T6" y="T7"/>
              </a:cxn>
              <a:cxn ang="T14">
                <a:pos x="T8" y="T9"/>
              </a:cxn>
            </a:cxnLst>
            <a:rect l="T15" t="T16" r="T17" b="T18"/>
            <a:pathLst>
              <a:path w="21600" h="21600">
                <a:moveTo>
                  <a:pt x="15663" y="14865"/>
                </a:moveTo>
                <a:lnTo>
                  <a:pt x="21600" y="8826"/>
                </a:lnTo>
                <a:lnTo>
                  <a:pt x="18450" y="8826"/>
                </a:lnTo>
                <a:lnTo>
                  <a:pt x="18450" y="8310"/>
                </a:lnTo>
                <a:cubicBezTo>
                  <a:pt x="18450" y="3721"/>
                  <a:pt x="14320" y="0"/>
                  <a:pt x="9225" y="0"/>
                </a:cubicBezTo>
                <a:cubicBezTo>
                  <a:pt x="4130" y="0"/>
                  <a:pt x="0" y="3799"/>
                  <a:pt x="0" y="8485"/>
                </a:cubicBezTo>
                <a:lnTo>
                  <a:pt x="0" y="21600"/>
                </a:lnTo>
                <a:lnTo>
                  <a:pt x="5574" y="21600"/>
                </a:lnTo>
                <a:lnTo>
                  <a:pt x="5574" y="8310"/>
                </a:lnTo>
                <a:cubicBezTo>
                  <a:pt x="5574" y="6664"/>
                  <a:pt x="7055" y="5330"/>
                  <a:pt x="8882" y="5330"/>
                </a:cubicBezTo>
                <a:lnTo>
                  <a:pt x="9568" y="5330"/>
                </a:lnTo>
                <a:cubicBezTo>
                  <a:pt x="11395" y="5330"/>
                  <a:pt x="12876" y="6664"/>
                  <a:pt x="12876" y="8310"/>
                </a:cubicBezTo>
                <a:lnTo>
                  <a:pt x="12876" y="8826"/>
                </a:lnTo>
                <a:lnTo>
                  <a:pt x="9725" y="8826"/>
                </a:lnTo>
                <a:close/>
              </a:path>
            </a:pathLst>
          </a:custGeom>
          <a:solidFill>
            <a:srgbClr val="CCCCFF"/>
          </a:solidFill>
          <a:ln w="9525">
            <a:solidFill>
              <a:srgbClr val="000000"/>
            </a:solidFill>
            <a:miter lim="800000"/>
            <a:headEnd/>
            <a:tailEnd/>
          </a:ln>
          <a:effectLst>
            <a:outerShdw dist="107763" dir="2700000" algn="ctr" rotWithShape="0">
              <a:srgbClr val="808080"/>
            </a:outerShdw>
          </a:effectLst>
        </p:spPr>
        <p:txBody>
          <a:bodyPr/>
          <a:lstStyle/>
          <a:p>
            <a:endParaRPr lang="zh-CN" altLang="en-US"/>
          </a:p>
        </p:txBody>
      </p:sp>
    </p:spTree>
    <p:extLst>
      <p:ext uri="{BB962C8B-B14F-4D97-AF65-F5344CB8AC3E}">
        <p14:creationId xmlns:p14="http://schemas.microsoft.com/office/powerpoint/2010/main" xmlns="" val="37128207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blinds(horizontal)">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blinds(horizontal)">
                                      <p:cBhvr>
                                        <p:cTn id="1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187624" y="1052736"/>
            <a:ext cx="7560840" cy="638944"/>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395536" y="1988840"/>
            <a:ext cx="8559552" cy="4608512"/>
          </a:xfrm>
        </p:spPr>
        <p:txBody>
          <a:bodyPr/>
          <a:lstStyle/>
          <a:p>
            <a:pPr>
              <a:lnSpc>
                <a:spcPct val="100000"/>
              </a:lnSpc>
              <a:spcBef>
                <a:spcPts val="0"/>
              </a:spcBef>
              <a:buSzPct val="100000"/>
              <a:buFont typeface="Wingdings" pitchFamily="2" charset="2"/>
              <a:buChar char="p"/>
            </a:pPr>
            <a:r>
              <a:rPr lang="zh-CN" altLang="en-US" sz="2800" dirty="0"/>
              <a:t>异步</a:t>
            </a:r>
            <a:r>
              <a:rPr lang="zh-CN" altLang="en-US" sz="2800" dirty="0" smtClean="0"/>
              <a:t>计数器</a:t>
            </a:r>
            <a:endParaRPr lang="en-US" altLang="zh-CN" sz="2800" dirty="0" smtClean="0"/>
          </a:p>
          <a:p>
            <a:pPr lvl="1">
              <a:lnSpc>
                <a:spcPct val="100000"/>
              </a:lnSpc>
              <a:spcBef>
                <a:spcPts val="0"/>
              </a:spcBef>
              <a:buSzPct val="100000"/>
            </a:pPr>
            <a:r>
              <a:rPr lang="zh-CN" altLang="en-US" sz="2400" dirty="0" smtClean="0">
                <a:latin typeface="+mn-ea"/>
              </a:rPr>
              <a:t>计数器中能计到的最大数称为</a:t>
            </a:r>
            <a:r>
              <a:rPr lang="zh-CN" altLang="en-US" sz="2400" dirty="0" smtClean="0">
                <a:solidFill>
                  <a:srgbClr val="FF0000"/>
                </a:solidFill>
                <a:latin typeface="+mn-ea"/>
              </a:rPr>
              <a:t>计数长度或计数容量</a:t>
            </a:r>
            <a:r>
              <a:rPr lang="zh-CN" altLang="en-US" sz="2400" dirty="0" smtClean="0">
                <a:latin typeface="+mn-ea"/>
              </a:rPr>
              <a:t>， </a:t>
            </a:r>
            <a:r>
              <a:rPr lang="en-US" altLang="zh-CN" sz="2400" dirty="0" smtClean="0">
                <a:latin typeface="+mn-ea"/>
              </a:rPr>
              <a:t>n</a:t>
            </a:r>
            <a:r>
              <a:rPr lang="zh-CN" altLang="en-US" sz="2400" dirty="0" smtClean="0">
                <a:latin typeface="+mn-ea"/>
              </a:rPr>
              <a:t>位二进制计数器的计数容量为 </a:t>
            </a:r>
            <a:r>
              <a:rPr lang="en-US" altLang="zh-CN" sz="2400" dirty="0" smtClean="0">
                <a:latin typeface="+mn-ea"/>
              </a:rPr>
              <a:t>2</a:t>
            </a:r>
            <a:r>
              <a:rPr lang="en-US" altLang="zh-CN" sz="2400" i="1" baseline="30000" dirty="0" smtClean="0">
                <a:latin typeface="+mn-ea"/>
              </a:rPr>
              <a:t>n </a:t>
            </a:r>
            <a:r>
              <a:rPr lang="en-US" altLang="zh-CN" sz="2400" dirty="0" smtClean="0">
                <a:latin typeface="+mn-ea"/>
              </a:rPr>
              <a:t>-1</a:t>
            </a:r>
            <a:r>
              <a:rPr lang="zh-CN" altLang="en-US" sz="2400" dirty="0" smtClean="0">
                <a:latin typeface="+mn-ea"/>
              </a:rPr>
              <a:t>，而称</a:t>
            </a:r>
            <a:r>
              <a:rPr lang="zh-CN" altLang="en-US" sz="2400" dirty="0" smtClean="0">
                <a:solidFill>
                  <a:srgbClr val="0000FF"/>
                </a:solidFill>
                <a:latin typeface="+mn-ea"/>
              </a:rPr>
              <a:t>计数器的状态总数</a:t>
            </a:r>
            <a:r>
              <a:rPr lang="zh-CN" altLang="en-US" sz="2400" dirty="0" smtClean="0">
                <a:latin typeface="+mn-ea"/>
              </a:rPr>
              <a:t> </a:t>
            </a:r>
            <a:r>
              <a:rPr lang="en-US" altLang="zh-CN" sz="2400" i="1" dirty="0" smtClean="0">
                <a:latin typeface="+mn-ea"/>
              </a:rPr>
              <a:t>N </a:t>
            </a:r>
            <a:r>
              <a:rPr lang="en-US" altLang="zh-CN" sz="2400" dirty="0" smtClean="0">
                <a:latin typeface="+mn-ea"/>
              </a:rPr>
              <a:t>= 2</a:t>
            </a:r>
            <a:r>
              <a:rPr lang="en-US" altLang="zh-CN" sz="2400" i="1" baseline="30000" dirty="0" smtClean="0">
                <a:latin typeface="+mn-ea"/>
              </a:rPr>
              <a:t>n</a:t>
            </a:r>
            <a:r>
              <a:rPr lang="zh-CN" altLang="en-US" sz="2400" dirty="0" smtClean="0">
                <a:latin typeface="+mn-ea"/>
              </a:rPr>
              <a:t> 为计数器的</a:t>
            </a:r>
            <a:r>
              <a:rPr lang="zh-CN" altLang="en-US" sz="2400" dirty="0" smtClean="0">
                <a:solidFill>
                  <a:srgbClr val="FF0000"/>
                </a:solidFill>
                <a:latin typeface="+mn-ea"/>
              </a:rPr>
              <a:t>模</a:t>
            </a:r>
            <a:r>
              <a:rPr lang="zh-CN" altLang="en-US" sz="2400" dirty="0" smtClean="0">
                <a:latin typeface="+mn-ea"/>
              </a:rPr>
              <a:t>（也称循环长度）</a:t>
            </a:r>
            <a:r>
              <a:rPr lang="zh-CN" altLang="en-US" sz="2400" dirty="0" smtClean="0">
                <a:latin typeface="+mn-ea"/>
              </a:rPr>
              <a:t>。</a:t>
            </a:r>
            <a:endParaRPr lang="en-US" altLang="zh-CN" sz="2400" dirty="0" smtClean="0">
              <a:latin typeface="+mn-ea"/>
            </a:endParaRPr>
          </a:p>
          <a:p>
            <a:pPr lvl="1">
              <a:lnSpc>
                <a:spcPct val="100000"/>
              </a:lnSpc>
              <a:spcBef>
                <a:spcPts val="0"/>
              </a:spcBef>
              <a:buSzPct val="100000"/>
            </a:pPr>
            <a:r>
              <a:rPr lang="zh-CN" altLang="en-US" sz="2400" dirty="0" smtClean="0">
                <a:latin typeface="+mn-ea"/>
              </a:rPr>
              <a:t>因此，十进制计数器称做模</a:t>
            </a:r>
            <a:r>
              <a:rPr lang="en-US" altLang="zh-CN" sz="2400" dirty="0" smtClean="0">
                <a:latin typeface="+mn-ea"/>
              </a:rPr>
              <a:t>10</a:t>
            </a:r>
            <a:r>
              <a:rPr lang="zh-CN" altLang="en-US" sz="2400" dirty="0" smtClean="0">
                <a:latin typeface="+mn-ea"/>
              </a:rPr>
              <a:t>计数器。十六进制</a:t>
            </a:r>
            <a:r>
              <a:rPr lang="zh-CN" altLang="en-US" sz="2400" dirty="0" smtClean="0">
                <a:latin typeface="+mn-ea"/>
              </a:rPr>
              <a:t>计数器称做模</a:t>
            </a:r>
            <a:r>
              <a:rPr lang="en-US" altLang="zh-CN" sz="2400" dirty="0" smtClean="0">
                <a:latin typeface="+mn-ea"/>
              </a:rPr>
              <a:t>16</a:t>
            </a:r>
            <a:r>
              <a:rPr lang="zh-CN" altLang="en-US" sz="2400" dirty="0" smtClean="0">
                <a:latin typeface="+mn-ea"/>
              </a:rPr>
              <a:t>计数器</a:t>
            </a:r>
            <a:r>
              <a:rPr lang="zh-CN" altLang="en-US" sz="2400" dirty="0" smtClean="0">
                <a:latin typeface="+mn-ea"/>
              </a:rPr>
              <a:t>。</a:t>
            </a:r>
            <a:endParaRPr lang="en-US" altLang="zh-CN" sz="2400" dirty="0" smtClean="0"/>
          </a:p>
          <a:p>
            <a:pPr>
              <a:lnSpc>
                <a:spcPct val="100000"/>
              </a:lnSpc>
              <a:spcBef>
                <a:spcPts val="0"/>
              </a:spcBef>
              <a:buSzPct val="100000"/>
              <a:buFont typeface="Wingdings" pitchFamily="2" charset="2"/>
              <a:buChar char="p"/>
            </a:pPr>
            <a:r>
              <a:rPr lang="en-US" altLang="zh-CN" sz="2800" dirty="0" smtClean="0"/>
              <a:t> </a:t>
            </a:r>
            <a:r>
              <a:rPr lang="zh-CN" altLang="en-US" sz="2800" dirty="0" smtClean="0"/>
              <a:t>异步计数器的优缺点</a:t>
            </a:r>
            <a:endParaRPr lang="en-US" altLang="zh-CN" sz="2800" dirty="0" smtClean="0"/>
          </a:p>
          <a:p>
            <a:pPr lvl="1">
              <a:lnSpc>
                <a:spcPct val="100000"/>
              </a:lnSpc>
              <a:spcBef>
                <a:spcPts val="0"/>
              </a:spcBef>
              <a:buSzPct val="100000"/>
            </a:pPr>
            <a:r>
              <a:rPr lang="zh-CN" altLang="en-US" sz="2400" dirty="0" smtClean="0">
                <a:solidFill>
                  <a:srgbClr val="0000CC"/>
                </a:solidFill>
              </a:rPr>
              <a:t>优点</a:t>
            </a:r>
            <a:r>
              <a:rPr lang="zh-CN" altLang="en-US" sz="2400" dirty="0" smtClean="0"/>
              <a:t>：结构简单，用</a:t>
            </a:r>
            <a:r>
              <a:rPr lang="en-US" altLang="zh-CN" sz="2400" dirty="0" smtClean="0"/>
              <a:t>T’</a:t>
            </a:r>
            <a:r>
              <a:rPr lang="zh-CN" altLang="en-US" sz="2400" dirty="0" smtClean="0"/>
              <a:t>触发器构成二进制计数器可不附加任何其它电路；</a:t>
            </a:r>
          </a:p>
          <a:p>
            <a:pPr lvl="1">
              <a:lnSpc>
                <a:spcPct val="100000"/>
              </a:lnSpc>
              <a:spcBef>
                <a:spcPts val="0"/>
              </a:spcBef>
              <a:buSzPct val="100000"/>
            </a:pPr>
            <a:r>
              <a:rPr lang="zh-CN" altLang="en-US" sz="2400" dirty="0" smtClean="0">
                <a:solidFill>
                  <a:srgbClr val="0000CC"/>
                </a:solidFill>
              </a:rPr>
              <a:t>缺点</a:t>
            </a:r>
            <a:r>
              <a:rPr lang="zh-CN" altLang="en-US" sz="2400" dirty="0" smtClean="0"/>
              <a:t>：进（错）位信号逐级传递，</a:t>
            </a:r>
            <a:r>
              <a:rPr lang="zh-CN" altLang="en-US" sz="2400" dirty="0" smtClean="0">
                <a:solidFill>
                  <a:srgbClr val="FF0000"/>
                </a:solidFill>
              </a:rPr>
              <a:t>计数器速度受到限制</a:t>
            </a:r>
            <a:r>
              <a:rPr lang="zh-CN" altLang="en-US" sz="2400" dirty="0" smtClean="0"/>
              <a:t>，频率不能太高；在电路状态译码</a:t>
            </a:r>
            <a:r>
              <a:rPr lang="zh-CN" altLang="en-US" sz="2400" dirty="0" smtClean="0"/>
              <a:t>时存在</a:t>
            </a:r>
            <a:r>
              <a:rPr lang="zh-CN" altLang="en-US" sz="2400" dirty="0" smtClean="0"/>
              <a:t>竞争－冒险现象。</a:t>
            </a:r>
          </a:p>
          <a:p>
            <a:pPr>
              <a:lnSpc>
                <a:spcPct val="100000"/>
              </a:lnSpc>
              <a:spcBef>
                <a:spcPts val="0"/>
              </a:spcBef>
              <a:buSzPct val="100000"/>
              <a:buFont typeface="Wingdings" pitchFamily="2" charset="2"/>
              <a:buChar char="p"/>
            </a:pPr>
            <a:endParaRPr lang="zh-CN" altLang="en-US" sz="2800" dirty="0"/>
          </a:p>
        </p:txBody>
      </p:sp>
    </p:spTree>
    <p:extLst>
      <p:ext uri="{BB962C8B-B14F-4D97-AF65-F5344CB8AC3E}">
        <p14:creationId xmlns:p14="http://schemas.microsoft.com/office/powerpoint/2010/main" xmlns="" val="4176844742"/>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59632" y="332656"/>
            <a:ext cx="7704856"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467544" y="1988840"/>
            <a:ext cx="8487544" cy="4608512"/>
          </a:xfrm>
        </p:spPr>
        <p:txBody>
          <a:bodyPr/>
          <a:lstStyle/>
          <a:p>
            <a:pPr marL="342900" lvl="1" indent="-342900">
              <a:lnSpc>
                <a:spcPct val="100000"/>
              </a:lnSpc>
              <a:spcBef>
                <a:spcPts val="600"/>
              </a:spcBef>
              <a:buClr>
                <a:schemeClr val="folHlink"/>
              </a:buClr>
              <a:buSzPct val="100000"/>
              <a:buFont typeface="Wingdings" pitchFamily="2" charset="2"/>
              <a:buChar char="p"/>
            </a:pPr>
            <a:r>
              <a:rPr lang="zh-CN" altLang="en-US" sz="2800" dirty="0" smtClean="0"/>
              <a:t>同步计数器特点</a:t>
            </a:r>
            <a:endParaRPr lang="en-US" altLang="zh-CN" sz="2800" dirty="0" smtClean="0"/>
          </a:p>
          <a:p>
            <a:pPr lvl="1">
              <a:lnSpc>
                <a:spcPct val="100000"/>
              </a:lnSpc>
              <a:spcBef>
                <a:spcPts val="600"/>
              </a:spcBef>
              <a:buSzPct val="100000"/>
            </a:pPr>
            <a:r>
              <a:rPr lang="zh-CN" altLang="en-US" sz="2400" dirty="0"/>
              <a:t>优点：</a:t>
            </a:r>
            <a:r>
              <a:rPr lang="zh-CN" altLang="en-US" sz="2400" dirty="0">
                <a:solidFill>
                  <a:srgbClr val="FF0000"/>
                </a:solidFill>
              </a:rPr>
              <a:t>时钟</a:t>
            </a:r>
            <a:r>
              <a:rPr lang="en-US" altLang="zh-CN" sz="2400" dirty="0">
                <a:solidFill>
                  <a:srgbClr val="FF0000"/>
                </a:solidFill>
              </a:rPr>
              <a:t>CP</a:t>
            </a:r>
            <a:r>
              <a:rPr lang="zh-CN" altLang="en-US" sz="2400" dirty="0">
                <a:solidFill>
                  <a:srgbClr val="FF0000"/>
                </a:solidFill>
              </a:rPr>
              <a:t>同时触发计数器中的全部触发器</a:t>
            </a:r>
            <a:r>
              <a:rPr lang="zh-CN" altLang="en-US" sz="2400" dirty="0"/>
              <a:t>，所以工作速度快，工作效率高；</a:t>
            </a:r>
          </a:p>
          <a:p>
            <a:pPr lvl="1">
              <a:lnSpc>
                <a:spcPct val="100000"/>
              </a:lnSpc>
              <a:spcBef>
                <a:spcPts val="600"/>
              </a:spcBef>
              <a:buSzPct val="100000"/>
            </a:pPr>
            <a:r>
              <a:rPr lang="zh-CN" altLang="en-US" sz="2400" dirty="0" smtClean="0"/>
              <a:t>缺点</a:t>
            </a:r>
            <a:r>
              <a:rPr lang="zh-CN" altLang="en-US" sz="2400" dirty="0"/>
              <a:t>：电路结构相对复杂</a:t>
            </a:r>
            <a:r>
              <a:rPr lang="zh-CN" altLang="en-US" sz="2400" dirty="0" smtClean="0"/>
              <a:t>。</a:t>
            </a:r>
            <a:endParaRPr lang="en-US" altLang="zh-CN" sz="2400" dirty="0" smtClean="0"/>
          </a:p>
          <a:p>
            <a:pPr>
              <a:lnSpc>
                <a:spcPct val="100000"/>
              </a:lnSpc>
              <a:spcBef>
                <a:spcPts val="600"/>
              </a:spcBef>
              <a:buSzPct val="100000"/>
              <a:buFont typeface="Wingdings" pitchFamily="2" charset="2"/>
              <a:buChar char="p"/>
            </a:pPr>
            <a:r>
              <a:rPr lang="zh-CN" altLang="en-US" sz="2600" dirty="0" smtClean="0"/>
              <a:t>同步</a:t>
            </a:r>
            <a:r>
              <a:rPr lang="zh-CN" altLang="en-US" sz="2600" dirty="0"/>
              <a:t>二进制加法计数器</a:t>
            </a:r>
          </a:p>
          <a:p>
            <a:pPr>
              <a:lnSpc>
                <a:spcPct val="100000"/>
              </a:lnSpc>
              <a:spcBef>
                <a:spcPts val="600"/>
              </a:spcBef>
            </a:pPr>
            <a:endParaRPr lang="zh-CN" altLang="en-US" dirty="0"/>
          </a:p>
        </p:txBody>
      </p:sp>
      <p:sp>
        <p:nvSpPr>
          <p:cNvPr id="5" name="Text Box 12"/>
          <p:cNvSpPr txBox="1">
            <a:spLocks noChangeArrowheads="1"/>
          </p:cNvSpPr>
          <p:nvPr/>
        </p:nvSpPr>
        <p:spPr bwMode="auto">
          <a:xfrm>
            <a:off x="1187624" y="4293096"/>
            <a:ext cx="6945751" cy="11695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sz="2000" b="1" dirty="0"/>
              <a:t>      </a:t>
            </a:r>
            <a:r>
              <a:rPr lang="zh-CN" altLang="en-US" sz="2000" b="1" dirty="0"/>
              <a:t>用</a:t>
            </a:r>
            <a:r>
              <a:rPr lang="en-US" altLang="zh-CN" sz="2000" b="1" dirty="0"/>
              <a:t>T</a:t>
            </a:r>
            <a:r>
              <a:rPr lang="zh-CN" altLang="en-US" sz="2000" b="1" dirty="0"/>
              <a:t>及</a:t>
            </a:r>
            <a:r>
              <a:rPr lang="en-US" altLang="zh-CN" sz="2000" b="1" dirty="0"/>
              <a:t>T’</a:t>
            </a:r>
            <a:r>
              <a:rPr lang="zh-CN" altLang="en-US" sz="2000" b="1" dirty="0"/>
              <a:t>触发器均可构成同步计数器，但</a:t>
            </a:r>
            <a:r>
              <a:rPr lang="en-US" altLang="zh-CN" sz="2000" b="1" dirty="0"/>
              <a:t>T-FF</a:t>
            </a:r>
            <a:r>
              <a:rPr lang="zh-CN" altLang="en-US" sz="2000" b="1" dirty="0"/>
              <a:t>更为方便。（</a:t>
            </a:r>
            <a:r>
              <a:rPr lang="zh-CN" altLang="en-US" sz="2000" b="1" dirty="0">
                <a:solidFill>
                  <a:srgbClr val="FF0000"/>
                </a:solidFill>
              </a:rPr>
              <a:t>为什么？</a:t>
            </a:r>
            <a:r>
              <a:rPr lang="zh-CN" altLang="en-US" sz="2000" b="1" dirty="0"/>
              <a:t>）</a:t>
            </a:r>
          </a:p>
          <a:p>
            <a:pPr>
              <a:spcBef>
                <a:spcPct val="50000"/>
              </a:spcBef>
            </a:pPr>
            <a:r>
              <a:rPr lang="zh-CN" altLang="en-US" sz="2000" b="1" dirty="0"/>
              <a:t>     一般用</a:t>
            </a:r>
            <a:r>
              <a:rPr lang="en-US" altLang="zh-CN" sz="2000" b="1" dirty="0"/>
              <a:t>JK-FF</a:t>
            </a:r>
            <a:r>
              <a:rPr lang="zh-CN" altLang="en-US" sz="2000" b="1" dirty="0"/>
              <a:t>作</a:t>
            </a:r>
            <a:r>
              <a:rPr lang="en-US" altLang="zh-CN" sz="2000" b="1" dirty="0"/>
              <a:t>T-FF</a:t>
            </a:r>
            <a:r>
              <a:rPr lang="zh-CN" altLang="en-US" sz="2000" b="1" dirty="0"/>
              <a:t>。</a:t>
            </a:r>
          </a:p>
        </p:txBody>
      </p:sp>
      <p:sp>
        <p:nvSpPr>
          <p:cNvPr id="6" name="标题 2"/>
          <p:cNvSpPr txBox="1">
            <a:spLocks/>
          </p:cNvSpPr>
          <p:nvPr/>
        </p:nvSpPr>
        <p:spPr bwMode="auto">
          <a:xfrm>
            <a:off x="1259632" y="1052736"/>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.1</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4</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位二进制同步集成计数器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74161</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187491182"/>
      </p:ext>
    </p:extLst>
  </p:cSld>
  <p:clrMapOvr>
    <a:masterClrMapping/>
  </p:clrMapOvr>
  <p:timing>
    <p:tnLst>
      <p:par>
        <p:cTn id="1" dur="indefinite" restart="never" nodeType="tmRoot"/>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67544" y="1988840"/>
            <a:ext cx="8487544" cy="4608512"/>
          </a:xfrm>
        </p:spPr>
        <p:txBody>
          <a:bodyPr/>
          <a:lstStyle/>
          <a:p>
            <a:pPr>
              <a:buSzPct val="100000"/>
              <a:buFont typeface="Wingdings" pitchFamily="2" charset="2"/>
              <a:buChar char="p"/>
            </a:pPr>
            <a:r>
              <a:rPr lang="zh-CN" altLang="en-US" sz="2800" dirty="0"/>
              <a:t>同</a:t>
            </a:r>
            <a:r>
              <a:rPr lang="zh-CN" altLang="en-US" sz="2800" dirty="0" smtClean="0"/>
              <a:t>步计数器</a:t>
            </a:r>
            <a:endParaRPr lang="zh-CN" altLang="en-US" sz="2800" dirty="0"/>
          </a:p>
        </p:txBody>
      </p:sp>
      <p:sp>
        <p:nvSpPr>
          <p:cNvPr id="8" name="Text Box 10"/>
          <p:cNvSpPr txBox="1">
            <a:spLocks noChangeArrowheads="1"/>
          </p:cNvSpPr>
          <p:nvPr/>
        </p:nvSpPr>
        <p:spPr bwMode="auto">
          <a:xfrm>
            <a:off x="5652120" y="6237312"/>
            <a:ext cx="3369989"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1600" b="1" dirty="0" smtClean="0">
                <a:latin typeface="楷体_GB2312" pitchFamily="49" charset="-122"/>
                <a:ea typeface="楷体_GB2312" pitchFamily="49" charset="-122"/>
              </a:rPr>
              <a:t>图 </a:t>
            </a:r>
            <a:r>
              <a:rPr lang="en-US" altLang="zh-CN" sz="1600" b="1" dirty="0" smtClean="0">
                <a:latin typeface="楷体_GB2312" pitchFamily="49" charset="-122"/>
                <a:ea typeface="楷体_GB2312" pitchFamily="49" charset="-122"/>
              </a:rPr>
              <a:t>4</a:t>
            </a:r>
            <a:r>
              <a:rPr lang="zh-CN" altLang="en-US" sz="1600" b="1" dirty="0">
                <a:latin typeface="楷体_GB2312" pitchFamily="49" charset="-122"/>
                <a:ea typeface="楷体_GB2312" pitchFamily="49" charset="-122"/>
              </a:rPr>
              <a:t>位同步二进制加法计数器</a:t>
            </a:r>
            <a:r>
              <a:rPr lang="zh-CN" altLang="en-US" sz="1600" b="1" dirty="0" smtClean="0">
                <a:latin typeface="楷体_GB2312" pitchFamily="49" charset="-122"/>
                <a:ea typeface="楷体_GB2312" pitchFamily="49" charset="-122"/>
              </a:rPr>
              <a:t>电路</a:t>
            </a:r>
            <a:endParaRPr lang="zh-CN" altLang="en-US" sz="1600" b="1" dirty="0">
              <a:latin typeface="楷体_GB2312" pitchFamily="49" charset="-122"/>
              <a:ea typeface="楷体_GB2312" pitchFamily="49" charset="-122"/>
            </a:endParaRPr>
          </a:p>
        </p:txBody>
      </p:sp>
      <p:sp>
        <p:nvSpPr>
          <p:cNvPr id="9" name="Text Box 11"/>
          <p:cNvSpPr txBox="1">
            <a:spLocks noChangeArrowheads="1"/>
          </p:cNvSpPr>
          <p:nvPr/>
        </p:nvSpPr>
        <p:spPr bwMode="auto">
          <a:xfrm>
            <a:off x="1043608" y="2564904"/>
            <a:ext cx="4541284"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sz="2400" b="1" dirty="0" smtClean="0"/>
              <a:t>结合</a:t>
            </a:r>
            <a:r>
              <a:rPr lang="en-US" altLang="zh-CN" sz="2400" b="1" dirty="0"/>
              <a:t>4</a:t>
            </a:r>
            <a:r>
              <a:rPr lang="zh-CN" altLang="en-US" sz="2400" b="1" dirty="0"/>
              <a:t>位同步二进制加法计数器分析其原理：</a:t>
            </a:r>
          </a:p>
        </p:txBody>
      </p:sp>
      <p:pic>
        <p:nvPicPr>
          <p:cNvPr id="10" name="Picture 12" descr="5-5-9"/>
          <p:cNvPicPr>
            <a:picLocks noChangeAspect="1" noChangeArrowheads="1"/>
          </p:cNvPicPr>
          <p:nvPr/>
        </p:nvPicPr>
        <p:blipFill>
          <a:blip r:embed="rId2" cstate="print">
            <a:clrChange>
              <a:clrFrom>
                <a:srgbClr val="F4F5ED"/>
              </a:clrFrom>
              <a:clrTo>
                <a:srgbClr val="F4F5ED">
                  <a:alpha val="0"/>
                </a:srgbClr>
              </a:clrTo>
            </a:clrChange>
            <a:lum bright="-6000" contrast="36000"/>
            <a:extLst>
              <a:ext uri="{28A0092B-C50C-407E-A947-70E740481C1C}">
                <a14:useLocalDpi xmlns:a14="http://schemas.microsoft.com/office/drawing/2010/main" xmlns="" val="0"/>
              </a:ext>
            </a:extLst>
          </a:blip>
          <a:srcRect/>
          <a:stretch>
            <a:fillRect/>
          </a:stretch>
        </p:blipFill>
        <p:spPr bwMode="auto">
          <a:xfrm>
            <a:off x="5234902" y="128960"/>
            <a:ext cx="3414712" cy="6191250"/>
          </a:xfrm>
          <a:prstGeom prst="rect">
            <a:avLst/>
          </a:prstGeom>
          <a:noFill/>
          <a:extLst>
            <a:ext uri="{909E8E84-426E-40DD-AFC4-6F175D3DCCD1}">
              <a14:hiddenFill xmlns:a14="http://schemas.microsoft.com/office/drawing/2010/main" xmlns="">
                <a:solidFill>
                  <a:srgbClr val="FFFFFF"/>
                </a:solidFill>
              </a14:hiddenFill>
            </a:ext>
          </a:extLst>
        </p:spPr>
      </p:pic>
      <p:sp>
        <p:nvSpPr>
          <p:cNvPr id="11" name="AutoShape 13"/>
          <p:cNvSpPr>
            <a:spLocks noChangeArrowheads="1"/>
          </p:cNvSpPr>
          <p:nvPr/>
        </p:nvSpPr>
        <p:spPr bwMode="auto">
          <a:xfrm>
            <a:off x="1762366" y="5589117"/>
            <a:ext cx="3167063" cy="576262"/>
          </a:xfrm>
          <a:prstGeom prst="wedgeRoundRectCallout">
            <a:avLst>
              <a:gd name="adj1" fmla="val 74162"/>
              <a:gd name="adj2" fmla="val -269282"/>
              <a:gd name="adj3" fmla="val 16667"/>
            </a:avLst>
          </a:prstGeom>
          <a:noFill/>
          <a:ln w="28575">
            <a:solidFill>
              <a:schemeClr val="tx1"/>
            </a:solidFill>
            <a:miter lim="800000"/>
            <a:headEnd/>
            <a:tailEnd/>
          </a:ln>
          <a:effectLst/>
          <a:extLst>
            <a:ext uri="{909E8E84-426E-40DD-AFC4-6F175D3DCCD1}">
              <a14:hiddenFill xmlns:a14="http://schemas.microsoft.com/office/drawing/2010/main" xmlns="">
                <a:solidFill>
                  <a:schemeClr val="hlink"/>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b="1">
                <a:solidFill>
                  <a:srgbClr val="FF0000"/>
                </a:solidFill>
              </a:rPr>
              <a:t>74161</a:t>
            </a:r>
            <a:r>
              <a:rPr lang="zh-CN" altLang="en-US" b="1">
                <a:solidFill>
                  <a:srgbClr val="FF0000"/>
                </a:solidFill>
              </a:rPr>
              <a:t>基本电路图</a:t>
            </a:r>
          </a:p>
        </p:txBody>
      </p:sp>
      <p:sp>
        <p:nvSpPr>
          <p:cNvPr id="12" name="标题 2"/>
          <p:cNvSpPr txBox="1">
            <a:spLocks/>
          </p:cNvSpPr>
          <p:nvPr/>
        </p:nvSpPr>
        <p:spPr bwMode="auto">
          <a:xfrm>
            <a:off x="1187624" y="548680"/>
            <a:ext cx="3960440" cy="92697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.1</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4</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位二进制同步集成计数器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74161</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648061923"/>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几种常用的时序</a:t>
            </a:r>
            <a:r>
              <a:rPr lang="zh-CN" altLang="en-US" dirty="0" smtClean="0"/>
              <a:t>逻辑电路</a:t>
            </a:r>
            <a:endParaRPr lang="zh-CN" altLang="en-US" dirty="0"/>
          </a:p>
        </p:txBody>
      </p:sp>
      <p:sp>
        <p:nvSpPr>
          <p:cNvPr id="5" name="Text Box 6"/>
          <p:cNvSpPr txBox="1">
            <a:spLocks noChangeArrowheads="1"/>
          </p:cNvSpPr>
          <p:nvPr/>
        </p:nvSpPr>
        <p:spPr bwMode="auto">
          <a:xfrm>
            <a:off x="1043608" y="946753"/>
            <a:ext cx="6971648" cy="400110"/>
          </a:xfrm>
          <a:prstGeom prst="rect">
            <a:avLst/>
          </a:prstGeom>
          <a:solidFill>
            <a:schemeClr val="bg1"/>
          </a:solidFill>
          <a:ln>
            <a:noFill/>
          </a:ln>
          <a:effectLst/>
        </p:spPr>
        <p:txBody>
          <a:bodyPr wrap="square">
            <a:spAutoFit/>
          </a:bodyPr>
          <a:lstStyle/>
          <a:p>
            <a:pPr>
              <a:spcBef>
                <a:spcPct val="50000"/>
              </a:spcBef>
            </a:pPr>
            <a:r>
              <a:rPr lang="zh-CN" altLang="en-US" sz="2000" b="1" dirty="0" smtClean="0">
                <a:latin typeface="楷体_GB2312" pitchFamily="49" charset="-122"/>
                <a:ea typeface="楷体_GB2312" pitchFamily="49" charset="-122"/>
              </a:rPr>
              <a:t>      表</a:t>
            </a:r>
            <a:r>
              <a:rPr lang="en-US" altLang="zh-CN" sz="2000" b="1" dirty="0" smtClean="0">
                <a:latin typeface="楷体_GB2312" pitchFamily="49" charset="-122"/>
                <a:ea typeface="楷体_GB2312" pitchFamily="49" charset="-122"/>
              </a:rPr>
              <a:t>  </a:t>
            </a:r>
            <a:r>
              <a:rPr lang="en-US" altLang="zh-CN" sz="2000" b="1" dirty="0">
                <a:latin typeface="楷体_GB2312" pitchFamily="49" charset="-122"/>
                <a:ea typeface="楷体_GB2312" pitchFamily="49" charset="-122"/>
              </a:rPr>
              <a:t>4</a:t>
            </a:r>
            <a:r>
              <a:rPr lang="zh-CN" altLang="en-US" sz="2000" b="1" dirty="0">
                <a:latin typeface="楷体_GB2312" pitchFamily="49" charset="-122"/>
                <a:ea typeface="楷体_GB2312" pitchFamily="49" charset="-122"/>
              </a:rPr>
              <a:t>位同步二进制加法计数器电路的状态转换表</a:t>
            </a:r>
          </a:p>
        </p:txBody>
      </p:sp>
      <p:pic>
        <p:nvPicPr>
          <p:cNvPr id="6" name="Picture 7" descr="b5-5-1"/>
          <p:cNvPicPr>
            <a:picLocks noChangeAspect="1" noChangeArrowheads="1"/>
          </p:cNvPicPr>
          <p:nvPr/>
        </p:nvPicPr>
        <p:blipFill>
          <a:blip r:embed="rId2" cstate="print">
            <a:clrChange>
              <a:clrFrom>
                <a:srgbClr val="EEEEEC"/>
              </a:clrFrom>
              <a:clrTo>
                <a:srgbClr val="EEEEEC">
                  <a:alpha val="0"/>
                </a:srgbClr>
              </a:clrTo>
            </a:clrChange>
            <a:lum bright="-12000" contrast="54000"/>
            <a:extLst>
              <a:ext uri="{28A0092B-C50C-407E-A947-70E740481C1C}">
                <a14:useLocalDpi xmlns:a14="http://schemas.microsoft.com/office/drawing/2010/main" xmlns="" val="0"/>
              </a:ext>
            </a:extLst>
          </a:blip>
          <a:srcRect/>
          <a:stretch>
            <a:fillRect/>
          </a:stretch>
        </p:blipFill>
        <p:spPr bwMode="auto">
          <a:xfrm>
            <a:off x="1241153" y="1330325"/>
            <a:ext cx="6985000" cy="5527675"/>
          </a:xfrm>
          <a:prstGeom prst="rect">
            <a:avLst/>
          </a:prstGeom>
          <a:solidFill>
            <a:schemeClr val="bg1"/>
          </a:solidFill>
        </p:spPr>
      </p:pic>
      <p:sp>
        <p:nvSpPr>
          <p:cNvPr id="7" name="标题 2"/>
          <p:cNvSpPr txBox="1">
            <a:spLocks/>
          </p:cNvSpPr>
          <p:nvPr/>
        </p:nvSpPr>
        <p:spPr bwMode="auto">
          <a:xfrm>
            <a:off x="1331640" y="332656"/>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.1</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4</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位二进制同步集成计数器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74161</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15535438"/>
      </p:ext>
    </p:extLst>
  </p:cSld>
  <p:clrMapOvr>
    <a:masterClrMapping/>
  </p:clrMapOvr>
  <p:timing>
    <p:tnLst>
      <p:par>
        <p:cTn id="1" dur="indefinite" restart="never" nodeType="tmRoot"/>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59632" y="332656"/>
            <a:ext cx="7525518" cy="563786"/>
          </a:xfrm>
        </p:spPr>
        <p:txBody>
          <a:bodyPr/>
          <a:lstStyle/>
          <a:p>
            <a:r>
              <a:rPr lang="en-US" altLang="zh-CN" dirty="0" smtClean="0"/>
              <a:t>6.4 </a:t>
            </a:r>
            <a:r>
              <a:rPr lang="zh-CN" altLang="en-US" dirty="0" smtClean="0"/>
              <a:t>计数器</a:t>
            </a:r>
            <a:endParaRPr lang="zh-CN" altLang="en-US" dirty="0"/>
          </a:p>
        </p:txBody>
      </p:sp>
      <p:sp>
        <p:nvSpPr>
          <p:cNvPr id="5" name="Text Box 6"/>
          <p:cNvSpPr txBox="1">
            <a:spLocks noChangeArrowheads="1"/>
          </p:cNvSpPr>
          <p:nvPr/>
        </p:nvSpPr>
        <p:spPr bwMode="auto">
          <a:xfrm>
            <a:off x="1136569" y="6299547"/>
            <a:ext cx="7345363"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000" b="1" dirty="0" smtClean="0">
                <a:latin typeface="楷体_GB2312" pitchFamily="49" charset="-122"/>
                <a:ea typeface="楷体_GB2312" pitchFamily="49" charset="-122"/>
              </a:rPr>
              <a:t>图</a:t>
            </a:r>
            <a:r>
              <a:rPr lang="en-US" altLang="zh-CN" sz="2000" b="1" dirty="0" smtClean="0">
                <a:latin typeface="楷体_GB2312" pitchFamily="49" charset="-122"/>
                <a:ea typeface="楷体_GB2312" pitchFamily="49" charset="-122"/>
              </a:rPr>
              <a:t>  </a:t>
            </a:r>
            <a:r>
              <a:rPr lang="en-US" altLang="zh-CN" sz="2000" b="1" dirty="0">
                <a:latin typeface="楷体_GB2312" pitchFamily="49" charset="-122"/>
                <a:ea typeface="楷体_GB2312" pitchFamily="49" charset="-122"/>
              </a:rPr>
              <a:t>4</a:t>
            </a:r>
            <a:r>
              <a:rPr lang="zh-CN" altLang="en-US" sz="2000" b="1" dirty="0">
                <a:latin typeface="楷体_GB2312" pitchFamily="49" charset="-122"/>
                <a:ea typeface="楷体_GB2312" pitchFamily="49" charset="-122"/>
              </a:rPr>
              <a:t>位同步二进制加法计数器状态转换图和时序图</a:t>
            </a:r>
          </a:p>
        </p:txBody>
      </p:sp>
      <p:pic>
        <p:nvPicPr>
          <p:cNvPr id="6" name="Picture 7" descr="5-5-10a"/>
          <p:cNvPicPr>
            <a:picLocks noChangeAspect="1" noChangeArrowheads="1"/>
          </p:cNvPicPr>
          <p:nvPr/>
        </p:nvPicPr>
        <p:blipFill>
          <a:blip r:embed="rId2" cstate="print">
            <a:clrChange>
              <a:clrFrom>
                <a:srgbClr val="FCFCFA"/>
              </a:clrFrom>
              <a:clrTo>
                <a:srgbClr val="FCFCFA">
                  <a:alpha val="0"/>
                </a:srgbClr>
              </a:clrTo>
            </a:clrChange>
            <a:lum contrast="18000"/>
            <a:extLst>
              <a:ext uri="{28A0092B-C50C-407E-A947-70E740481C1C}">
                <a14:useLocalDpi xmlns:a14="http://schemas.microsoft.com/office/drawing/2010/main" xmlns="" val="0"/>
              </a:ext>
            </a:extLst>
          </a:blip>
          <a:srcRect/>
          <a:stretch>
            <a:fillRect/>
          </a:stretch>
        </p:blipFill>
        <p:spPr bwMode="auto">
          <a:xfrm>
            <a:off x="395536" y="2348880"/>
            <a:ext cx="4681538" cy="3362325"/>
          </a:xfrm>
          <a:prstGeom prst="rect">
            <a:avLst/>
          </a:prstGeom>
          <a:noFill/>
          <a:extLst>
            <a:ext uri="{909E8E84-426E-40DD-AFC4-6F175D3DCCD1}">
              <a14:hiddenFill xmlns:a14="http://schemas.microsoft.com/office/drawing/2010/main" xmlns="">
                <a:solidFill>
                  <a:srgbClr val="FFFFFF"/>
                </a:solidFill>
              </a14:hiddenFill>
            </a:ext>
          </a:extLst>
        </p:spPr>
      </p:pic>
      <p:pic>
        <p:nvPicPr>
          <p:cNvPr id="7" name="Picture 8" descr="5-5-10b"/>
          <p:cNvPicPr>
            <a:picLocks noChangeAspect="1" noChangeArrowheads="1"/>
          </p:cNvPicPr>
          <p:nvPr/>
        </p:nvPicPr>
        <p:blipFill>
          <a:blip r:embed="rId3" cstate="print">
            <a:clrChange>
              <a:clrFrom>
                <a:srgbClr val="F9F9F7"/>
              </a:clrFrom>
              <a:clrTo>
                <a:srgbClr val="F9F9F7">
                  <a:alpha val="0"/>
                </a:srgbClr>
              </a:clrTo>
            </a:clrChange>
            <a:lum contrast="18000"/>
            <a:extLst>
              <a:ext uri="{28A0092B-C50C-407E-A947-70E740481C1C}">
                <a14:useLocalDpi xmlns:a14="http://schemas.microsoft.com/office/drawing/2010/main" xmlns="" val="0"/>
              </a:ext>
            </a:extLst>
          </a:blip>
          <a:srcRect/>
          <a:stretch>
            <a:fillRect/>
          </a:stretch>
        </p:blipFill>
        <p:spPr bwMode="auto">
          <a:xfrm>
            <a:off x="5004049" y="1844055"/>
            <a:ext cx="3838575" cy="4537075"/>
          </a:xfrm>
          <a:prstGeom prst="rect">
            <a:avLst/>
          </a:prstGeom>
          <a:noFill/>
          <a:extLst>
            <a:ext uri="{909E8E84-426E-40DD-AFC4-6F175D3DCCD1}">
              <a14:hiddenFill xmlns:a14="http://schemas.microsoft.com/office/drawing/2010/main" xmlns="">
                <a:solidFill>
                  <a:srgbClr val="FFFFFF"/>
                </a:solidFill>
              </a14:hiddenFill>
            </a:ext>
          </a:extLst>
        </p:spPr>
      </p:pic>
      <p:sp>
        <p:nvSpPr>
          <p:cNvPr id="9" name="标题 2"/>
          <p:cNvSpPr txBox="1">
            <a:spLocks/>
          </p:cNvSpPr>
          <p:nvPr/>
        </p:nvSpPr>
        <p:spPr bwMode="auto">
          <a:xfrm>
            <a:off x="1259632" y="1052736"/>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.1</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4</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位二进制同步集成计数器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74161</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31845874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331640" y="404664"/>
            <a:ext cx="7560840"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467544" y="1988840"/>
            <a:ext cx="8487544" cy="4608512"/>
          </a:xfrm>
        </p:spPr>
        <p:txBody>
          <a:bodyPr/>
          <a:lstStyle/>
          <a:p>
            <a:pPr>
              <a:lnSpc>
                <a:spcPct val="100000"/>
              </a:lnSpc>
              <a:spcBef>
                <a:spcPts val="600"/>
              </a:spcBef>
              <a:buSzPct val="100000"/>
              <a:buFont typeface="Wingdings" pitchFamily="2" charset="2"/>
              <a:buChar char="p"/>
            </a:pPr>
            <a:r>
              <a:rPr lang="zh-CN" altLang="en-US" sz="2800" dirty="0" smtClean="0"/>
              <a:t>同步十进制计数器</a:t>
            </a:r>
            <a:endParaRPr lang="en-US" altLang="zh-CN" sz="2800" dirty="0" smtClean="0"/>
          </a:p>
          <a:p>
            <a:endParaRPr lang="zh-CN" altLang="en-US" dirty="0"/>
          </a:p>
        </p:txBody>
      </p:sp>
      <p:sp>
        <p:nvSpPr>
          <p:cNvPr id="8" name="文本框 7"/>
          <p:cNvSpPr txBox="1"/>
          <p:nvPr/>
        </p:nvSpPr>
        <p:spPr>
          <a:xfrm>
            <a:off x="827584" y="2780928"/>
            <a:ext cx="2736304" cy="2123658"/>
          </a:xfrm>
          <a:prstGeom prst="rect">
            <a:avLst/>
          </a:prstGeom>
          <a:noFill/>
        </p:spPr>
        <p:txBody>
          <a:bodyPr wrap="square" rtlCol="0">
            <a:spAutoFit/>
          </a:bodyPr>
          <a:lstStyle/>
          <a:p>
            <a:pPr marL="0" lvl="2">
              <a:spcBef>
                <a:spcPts val="600"/>
              </a:spcBef>
            </a:pPr>
            <a:r>
              <a:rPr lang="zh-CN" altLang="en-US" sz="2400" b="1" dirty="0">
                <a:latin typeface="+mn-ea"/>
              </a:rPr>
              <a:t>以</a:t>
            </a:r>
            <a:r>
              <a:rPr lang="en-US" altLang="zh-CN" sz="2400" b="1" dirty="0">
                <a:latin typeface="+mn-ea"/>
              </a:rPr>
              <a:t>8421</a:t>
            </a:r>
            <a:r>
              <a:rPr lang="zh-CN" altLang="en-US" sz="2400" b="1" dirty="0">
                <a:latin typeface="+mn-ea"/>
              </a:rPr>
              <a:t>码同步十进制计数器为例进行分析：（从设计的角度来分析</a:t>
            </a:r>
            <a:r>
              <a:rPr lang="en-US" altLang="zh-CN" sz="2400" b="1" dirty="0">
                <a:latin typeface="+mn-ea"/>
              </a:rPr>
              <a:t>——</a:t>
            </a:r>
            <a:r>
              <a:rPr lang="zh-CN" altLang="en-US" sz="2400" b="1" dirty="0">
                <a:latin typeface="+mn-ea"/>
              </a:rPr>
              <a:t>）</a:t>
            </a:r>
          </a:p>
          <a:p>
            <a:pPr>
              <a:lnSpc>
                <a:spcPct val="150000"/>
              </a:lnSpc>
            </a:pPr>
            <a:endParaRPr lang="zh-CN" altLang="en-US" sz="2400" b="1" dirty="0">
              <a:latin typeface="+mn-ea"/>
            </a:endParaRPr>
          </a:p>
        </p:txBody>
      </p:sp>
      <p:sp>
        <p:nvSpPr>
          <p:cNvPr id="6" name="标题 2"/>
          <p:cNvSpPr txBox="1">
            <a:spLocks/>
          </p:cNvSpPr>
          <p:nvPr/>
        </p:nvSpPr>
        <p:spPr bwMode="auto">
          <a:xfrm>
            <a:off x="1331640" y="1052736"/>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.2</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8421BCD</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码同步加法计数器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74160</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pic>
        <p:nvPicPr>
          <p:cNvPr id="25682" name="Picture 82"/>
          <p:cNvPicPr>
            <a:picLocks noChangeAspect="1" noChangeArrowheads="1"/>
          </p:cNvPicPr>
          <p:nvPr/>
        </p:nvPicPr>
        <p:blipFill>
          <a:blip r:embed="rId3" cstate="print"/>
          <a:srcRect/>
          <a:stretch>
            <a:fillRect/>
          </a:stretch>
        </p:blipFill>
        <p:spPr bwMode="auto">
          <a:xfrm>
            <a:off x="3635897" y="2564904"/>
            <a:ext cx="4608512" cy="3780213"/>
          </a:xfrm>
          <a:prstGeom prst="rect">
            <a:avLst/>
          </a:prstGeom>
          <a:noFill/>
          <a:ln w="9525">
            <a:noFill/>
            <a:miter lim="800000"/>
            <a:headEnd/>
            <a:tailEnd/>
          </a:ln>
        </p:spPr>
      </p:pic>
      <p:pic>
        <p:nvPicPr>
          <p:cNvPr id="25683" name="Picture 83"/>
          <p:cNvPicPr>
            <a:picLocks noChangeAspect="1" noChangeArrowheads="1"/>
          </p:cNvPicPr>
          <p:nvPr/>
        </p:nvPicPr>
        <p:blipFill>
          <a:blip r:embed="rId4" cstate="print"/>
          <a:srcRect/>
          <a:stretch>
            <a:fillRect/>
          </a:stretch>
        </p:blipFill>
        <p:spPr bwMode="auto">
          <a:xfrm>
            <a:off x="1763688" y="4293096"/>
            <a:ext cx="2671778" cy="2173784"/>
          </a:xfrm>
          <a:prstGeom prst="rect">
            <a:avLst/>
          </a:prstGeom>
          <a:noFill/>
          <a:ln w="9525">
            <a:noFill/>
            <a:miter lim="800000"/>
            <a:headEnd/>
            <a:tailEnd/>
          </a:ln>
        </p:spPr>
      </p:pic>
      <p:sp>
        <p:nvSpPr>
          <p:cNvPr id="9" name="矩形标注 8"/>
          <p:cNvSpPr/>
          <p:nvPr/>
        </p:nvSpPr>
        <p:spPr bwMode="auto">
          <a:xfrm>
            <a:off x="0" y="5517232"/>
            <a:ext cx="1475656" cy="648512"/>
          </a:xfrm>
          <a:prstGeom prst="wedgeRectCallout">
            <a:avLst>
              <a:gd name="adj1" fmla="val 98052"/>
              <a:gd name="adj2" fmla="val -50539"/>
            </a:avLst>
          </a:prstGeom>
          <a:solidFill>
            <a:srgbClr val="FFFF00"/>
          </a:solidFill>
          <a:ln w="952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sp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aphicFrame>
        <p:nvGraphicFramePr>
          <p:cNvPr id="25684" name="Object 84"/>
          <p:cNvGraphicFramePr>
            <a:graphicFrameLocks noChangeAspect="1"/>
          </p:cNvGraphicFramePr>
          <p:nvPr/>
        </p:nvGraphicFramePr>
        <p:xfrm>
          <a:off x="107504" y="5589240"/>
          <a:ext cx="1318883" cy="432048"/>
        </p:xfrm>
        <a:graphic>
          <a:graphicData uri="http://schemas.openxmlformats.org/presentationml/2006/ole">
            <p:oleObj spid="_x0000_s25684" r:id="rId5" imgW="736560" imgH="241200" progId="">
              <p:embed/>
            </p:oleObj>
          </a:graphicData>
        </a:graphic>
      </p:graphicFrame>
    </p:spTree>
    <p:extLst>
      <p:ext uri="{BB962C8B-B14F-4D97-AF65-F5344CB8AC3E}">
        <p14:creationId xmlns:p14="http://schemas.microsoft.com/office/powerpoint/2010/main" xmlns="" val="4274621490"/>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705" name="Picture 81"/>
          <p:cNvPicPr>
            <a:picLocks noChangeAspect="1" noChangeArrowheads="1"/>
          </p:cNvPicPr>
          <p:nvPr/>
        </p:nvPicPr>
        <p:blipFill>
          <a:blip r:embed="rId3" cstate="print"/>
          <a:srcRect/>
          <a:stretch>
            <a:fillRect/>
          </a:stretch>
        </p:blipFill>
        <p:spPr bwMode="auto">
          <a:xfrm>
            <a:off x="1187624" y="764704"/>
            <a:ext cx="6200775" cy="5791200"/>
          </a:xfrm>
          <a:prstGeom prst="rect">
            <a:avLst/>
          </a:prstGeom>
          <a:noFill/>
          <a:ln w="9525">
            <a:noFill/>
            <a:miter lim="800000"/>
            <a:headEnd/>
            <a:tailEnd/>
          </a:ln>
        </p:spPr>
      </p:pic>
      <p:sp>
        <p:nvSpPr>
          <p:cNvPr id="4" name="灯片编号占位符 3"/>
          <p:cNvSpPr>
            <a:spLocks noGrp="1"/>
          </p:cNvSpPr>
          <p:nvPr>
            <p:ph type="sldNum" sz="quarter" idx="12"/>
          </p:nvPr>
        </p:nvSpPr>
        <p:spPr/>
        <p:txBody>
          <a:bodyPr/>
          <a:lstStyle/>
          <a:p>
            <a:fld id="{0C913308-F349-4B6D-A68A-DD1791B4A57B}" type="slidenum">
              <a:rPr lang="zh-CN" altLang="en-US" smtClean="0"/>
              <a:pPr/>
              <a:t>62</a:t>
            </a:fld>
            <a:endParaRPr lang="zh-CN" altLang="en-US"/>
          </a:p>
        </p:txBody>
      </p:sp>
      <p:grpSp>
        <p:nvGrpSpPr>
          <p:cNvPr id="9" name="Group 6"/>
          <p:cNvGrpSpPr>
            <a:grpSpLocks/>
          </p:cNvGrpSpPr>
          <p:nvPr/>
        </p:nvGrpSpPr>
        <p:grpSpPr bwMode="auto">
          <a:xfrm>
            <a:off x="2195736" y="2276302"/>
            <a:ext cx="2087563" cy="1370013"/>
            <a:chOff x="1610" y="1212"/>
            <a:chExt cx="1315" cy="863"/>
          </a:xfrm>
        </p:grpSpPr>
        <p:sp>
          <p:nvSpPr>
            <p:cNvPr id="10" name="Oval 7"/>
            <p:cNvSpPr>
              <a:spLocks noChangeArrowheads="1"/>
            </p:cNvSpPr>
            <p:nvPr/>
          </p:nvSpPr>
          <p:spPr bwMode="auto">
            <a:xfrm>
              <a:off x="2290" y="1212"/>
              <a:ext cx="272" cy="227"/>
            </a:xfrm>
            <a:prstGeom prst="ellipse">
              <a:avLst/>
            </a:prstGeom>
            <a:noFill/>
            <a:ln w="28575">
              <a:solidFill>
                <a:srgbClr val="FF00FF"/>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1" name="Freeform 8"/>
            <p:cNvSpPr>
              <a:spLocks/>
            </p:cNvSpPr>
            <p:nvPr/>
          </p:nvSpPr>
          <p:spPr bwMode="auto">
            <a:xfrm>
              <a:off x="1610" y="1439"/>
              <a:ext cx="363" cy="636"/>
            </a:xfrm>
            <a:custGeom>
              <a:avLst/>
              <a:gdLst>
                <a:gd name="T0" fmla="*/ 0 w 423"/>
                <a:gd name="T1" fmla="*/ 0 h 636"/>
                <a:gd name="T2" fmla="*/ 363 w 423"/>
                <a:gd name="T3" fmla="*/ 91 h 636"/>
                <a:gd name="T4" fmla="*/ 363 w 423"/>
                <a:gd name="T5" fmla="*/ 545 h 636"/>
                <a:gd name="T6" fmla="*/ 0 w 423"/>
                <a:gd name="T7" fmla="*/ 635 h 636"/>
              </a:gdLst>
              <a:ahLst/>
              <a:cxnLst>
                <a:cxn ang="0">
                  <a:pos x="T0" y="T1"/>
                </a:cxn>
                <a:cxn ang="0">
                  <a:pos x="T2" y="T3"/>
                </a:cxn>
                <a:cxn ang="0">
                  <a:pos x="T4" y="T5"/>
                </a:cxn>
                <a:cxn ang="0">
                  <a:pos x="T6" y="T7"/>
                </a:cxn>
              </a:cxnLst>
              <a:rect l="0" t="0" r="r" b="b"/>
              <a:pathLst>
                <a:path w="423" h="636">
                  <a:moveTo>
                    <a:pt x="0" y="0"/>
                  </a:moveTo>
                  <a:cubicBezTo>
                    <a:pt x="151" y="0"/>
                    <a:pt x="303" y="0"/>
                    <a:pt x="363" y="91"/>
                  </a:cubicBezTo>
                  <a:cubicBezTo>
                    <a:pt x="423" y="182"/>
                    <a:pt x="423" y="454"/>
                    <a:pt x="363" y="545"/>
                  </a:cubicBezTo>
                  <a:cubicBezTo>
                    <a:pt x="303" y="636"/>
                    <a:pt x="60" y="620"/>
                    <a:pt x="0" y="635"/>
                  </a:cubicBezTo>
                </a:path>
              </a:pathLst>
            </a:custGeom>
            <a:noFill/>
            <a:ln w="2857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2" name="Freeform 9"/>
            <p:cNvSpPr>
              <a:spLocks/>
            </p:cNvSpPr>
            <p:nvPr/>
          </p:nvSpPr>
          <p:spPr bwMode="auto">
            <a:xfrm rot="10800000">
              <a:off x="2562" y="1434"/>
              <a:ext cx="363" cy="636"/>
            </a:xfrm>
            <a:custGeom>
              <a:avLst/>
              <a:gdLst>
                <a:gd name="T0" fmla="*/ 0 w 423"/>
                <a:gd name="T1" fmla="*/ 0 h 636"/>
                <a:gd name="T2" fmla="*/ 363 w 423"/>
                <a:gd name="T3" fmla="*/ 91 h 636"/>
                <a:gd name="T4" fmla="*/ 363 w 423"/>
                <a:gd name="T5" fmla="*/ 545 h 636"/>
                <a:gd name="T6" fmla="*/ 0 w 423"/>
                <a:gd name="T7" fmla="*/ 635 h 636"/>
              </a:gdLst>
              <a:ahLst/>
              <a:cxnLst>
                <a:cxn ang="0">
                  <a:pos x="T0" y="T1"/>
                </a:cxn>
                <a:cxn ang="0">
                  <a:pos x="T2" y="T3"/>
                </a:cxn>
                <a:cxn ang="0">
                  <a:pos x="T4" y="T5"/>
                </a:cxn>
                <a:cxn ang="0">
                  <a:pos x="T6" y="T7"/>
                </a:cxn>
              </a:cxnLst>
              <a:rect l="0" t="0" r="r" b="b"/>
              <a:pathLst>
                <a:path w="423" h="636">
                  <a:moveTo>
                    <a:pt x="0" y="0"/>
                  </a:moveTo>
                  <a:cubicBezTo>
                    <a:pt x="151" y="0"/>
                    <a:pt x="303" y="0"/>
                    <a:pt x="363" y="91"/>
                  </a:cubicBezTo>
                  <a:cubicBezTo>
                    <a:pt x="423" y="182"/>
                    <a:pt x="423" y="454"/>
                    <a:pt x="363" y="545"/>
                  </a:cubicBezTo>
                  <a:cubicBezTo>
                    <a:pt x="303" y="636"/>
                    <a:pt x="60" y="620"/>
                    <a:pt x="0" y="635"/>
                  </a:cubicBezTo>
                </a:path>
              </a:pathLst>
            </a:custGeom>
            <a:noFill/>
            <a:ln w="2857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13" name="Group 10"/>
          <p:cNvGrpSpPr>
            <a:grpSpLocks/>
          </p:cNvGrpSpPr>
          <p:nvPr/>
        </p:nvGrpSpPr>
        <p:grpSpPr bwMode="auto">
          <a:xfrm>
            <a:off x="5220072" y="1556792"/>
            <a:ext cx="2165350" cy="2254250"/>
            <a:chOff x="3334" y="696"/>
            <a:chExt cx="1364" cy="1420"/>
          </a:xfrm>
        </p:grpSpPr>
        <p:sp>
          <p:nvSpPr>
            <p:cNvPr id="14" name="Freeform 11"/>
            <p:cNvSpPr>
              <a:spLocks/>
            </p:cNvSpPr>
            <p:nvPr/>
          </p:nvSpPr>
          <p:spPr bwMode="auto">
            <a:xfrm>
              <a:off x="3334" y="1104"/>
              <a:ext cx="363" cy="636"/>
            </a:xfrm>
            <a:custGeom>
              <a:avLst/>
              <a:gdLst>
                <a:gd name="T0" fmla="*/ 0 w 423"/>
                <a:gd name="T1" fmla="*/ 0 h 636"/>
                <a:gd name="T2" fmla="*/ 363 w 423"/>
                <a:gd name="T3" fmla="*/ 91 h 636"/>
                <a:gd name="T4" fmla="*/ 363 w 423"/>
                <a:gd name="T5" fmla="*/ 545 h 636"/>
                <a:gd name="T6" fmla="*/ 0 w 423"/>
                <a:gd name="T7" fmla="*/ 635 h 636"/>
              </a:gdLst>
              <a:ahLst/>
              <a:cxnLst>
                <a:cxn ang="0">
                  <a:pos x="T0" y="T1"/>
                </a:cxn>
                <a:cxn ang="0">
                  <a:pos x="T2" y="T3"/>
                </a:cxn>
                <a:cxn ang="0">
                  <a:pos x="T4" y="T5"/>
                </a:cxn>
                <a:cxn ang="0">
                  <a:pos x="T6" y="T7"/>
                </a:cxn>
              </a:cxnLst>
              <a:rect l="0" t="0" r="r" b="b"/>
              <a:pathLst>
                <a:path w="423" h="636">
                  <a:moveTo>
                    <a:pt x="0" y="0"/>
                  </a:moveTo>
                  <a:cubicBezTo>
                    <a:pt x="151" y="0"/>
                    <a:pt x="303" y="0"/>
                    <a:pt x="363" y="91"/>
                  </a:cubicBezTo>
                  <a:cubicBezTo>
                    <a:pt x="423" y="182"/>
                    <a:pt x="423" y="454"/>
                    <a:pt x="363" y="545"/>
                  </a:cubicBezTo>
                  <a:cubicBezTo>
                    <a:pt x="303" y="636"/>
                    <a:pt x="60" y="620"/>
                    <a:pt x="0" y="635"/>
                  </a:cubicBezTo>
                </a:path>
              </a:pathLst>
            </a:custGeom>
            <a:noFill/>
            <a:ln w="2857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5" name="Freeform 12"/>
            <p:cNvSpPr>
              <a:spLocks/>
            </p:cNvSpPr>
            <p:nvPr/>
          </p:nvSpPr>
          <p:spPr bwMode="auto">
            <a:xfrm rot="10800000">
              <a:off x="4335" y="1104"/>
              <a:ext cx="363" cy="636"/>
            </a:xfrm>
            <a:custGeom>
              <a:avLst/>
              <a:gdLst>
                <a:gd name="T0" fmla="*/ 0 w 423"/>
                <a:gd name="T1" fmla="*/ 0 h 636"/>
                <a:gd name="T2" fmla="*/ 363 w 423"/>
                <a:gd name="T3" fmla="*/ 91 h 636"/>
                <a:gd name="T4" fmla="*/ 363 w 423"/>
                <a:gd name="T5" fmla="*/ 545 h 636"/>
                <a:gd name="T6" fmla="*/ 0 w 423"/>
                <a:gd name="T7" fmla="*/ 635 h 636"/>
              </a:gdLst>
              <a:ahLst/>
              <a:cxnLst>
                <a:cxn ang="0">
                  <a:pos x="T0" y="T1"/>
                </a:cxn>
                <a:cxn ang="0">
                  <a:pos x="T2" y="T3"/>
                </a:cxn>
                <a:cxn ang="0">
                  <a:pos x="T4" y="T5"/>
                </a:cxn>
                <a:cxn ang="0">
                  <a:pos x="T6" y="T7"/>
                </a:cxn>
              </a:cxnLst>
              <a:rect l="0" t="0" r="r" b="b"/>
              <a:pathLst>
                <a:path w="423" h="636">
                  <a:moveTo>
                    <a:pt x="0" y="0"/>
                  </a:moveTo>
                  <a:cubicBezTo>
                    <a:pt x="151" y="0"/>
                    <a:pt x="303" y="0"/>
                    <a:pt x="363" y="91"/>
                  </a:cubicBezTo>
                  <a:cubicBezTo>
                    <a:pt x="423" y="182"/>
                    <a:pt x="423" y="454"/>
                    <a:pt x="363" y="545"/>
                  </a:cubicBezTo>
                  <a:cubicBezTo>
                    <a:pt x="303" y="636"/>
                    <a:pt x="60" y="620"/>
                    <a:pt x="0" y="635"/>
                  </a:cubicBezTo>
                </a:path>
              </a:pathLst>
            </a:custGeom>
            <a:noFill/>
            <a:ln w="2857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6" name="AutoShape 13"/>
            <p:cNvSpPr>
              <a:spLocks noChangeArrowheads="1"/>
            </p:cNvSpPr>
            <p:nvPr/>
          </p:nvSpPr>
          <p:spPr bwMode="auto">
            <a:xfrm>
              <a:off x="3470" y="1153"/>
              <a:ext cx="544" cy="544"/>
            </a:xfrm>
            <a:prstGeom prst="roundRect">
              <a:avLst>
                <a:gd name="adj" fmla="val 16667"/>
              </a:avLst>
            </a:prstGeom>
            <a:noFill/>
            <a:ln w="28575">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17" name="Freeform 14"/>
            <p:cNvSpPr>
              <a:spLocks/>
            </p:cNvSpPr>
            <p:nvPr/>
          </p:nvSpPr>
          <p:spPr bwMode="auto">
            <a:xfrm>
              <a:off x="4060" y="696"/>
              <a:ext cx="272" cy="422"/>
            </a:xfrm>
            <a:custGeom>
              <a:avLst/>
              <a:gdLst>
                <a:gd name="T0" fmla="*/ 0 w 272"/>
                <a:gd name="T1" fmla="*/ 45 h 422"/>
                <a:gd name="T2" fmla="*/ 45 w 272"/>
                <a:gd name="T3" fmla="*/ 362 h 422"/>
                <a:gd name="T4" fmla="*/ 227 w 272"/>
                <a:gd name="T5" fmla="*/ 362 h 422"/>
                <a:gd name="T6" fmla="*/ 272 w 272"/>
                <a:gd name="T7" fmla="*/ 0 h 422"/>
              </a:gdLst>
              <a:ahLst/>
              <a:cxnLst>
                <a:cxn ang="0">
                  <a:pos x="T0" y="T1"/>
                </a:cxn>
                <a:cxn ang="0">
                  <a:pos x="T2" y="T3"/>
                </a:cxn>
                <a:cxn ang="0">
                  <a:pos x="T4" y="T5"/>
                </a:cxn>
                <a:cxn ang="0">
                  <a:pos x="T6" y="T7"/>
                </a:cxn>
              </a:cxnLst>
              <a:rect l="0" t="0" r="r" b="b"/>
              <a:pathLst>
                <a:path w="272" h="422">
                  <a:moveTo>
                    <a:pt x="0" y="45"/>
                  </a:moveTo>
                  <a:cubicBezTo>
                    <a:pt x="3" y="177"/>
                    <a:pt x="7" y="309"/>
                    <a:pt x="45" y="362"/>
                  </a:cubicBezTo>
                  <a:cubicBezTo>
                    <a:pt x="83" y="415"/>
                    <a:pt x="189" y="422"/>
                    <a:pt x="227" y="362"/>
                  </a:cubicBezTo>
                  <a:cubicBezTo>
                    <a:pt x="265" y="302"/>
                    <a:pt x="264" y="60"/>
                    <a:pt x="272" y="0"/>
                  </a:cubicBezTo>
                </a:path>
              </a:pathLst>
            </a:custGeom>
            <a:noFill/>
            <a:ln w="2857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8" name="Freeform 15"/>
            <p:cNvSpPr>
              <a:spLocks/>
            </p:cNvSpPr>
            <p:nvPr/>
          </p:nvSpPr>
          <p:spPr bwMode="auto">
            <a:xfrm rot="10800000">
              <a:off x="4060" y="1694"/>
              <a:ext cx="272" cy="422"/>
            </a:xfrm>
            <a:custGeom>
              <a:avLst/>
              <a:gdLst>
                <a:gd name="T0" fmla="*/ 0 w 272"/>
                <a:gd name="T1" fmla="*/ 45 h 422"/>
                <a:gd name="T2" fmla="*/ 45 w 272"/>
                <a:gd name="T3" fmla="*/ 362 h 422"/>
                <a:gd name="T4" fmla="*/ 227 w 272"/>
                <a:gd name="T5" fmla="*/ 362 h 422"/>
                <a:gd name="T6" fmla="*/ 272 w 272"/>
                <a:gd name="T7" fmla="*/ 0 h 422"/>
              </a:gdLst>
              <a:ahLst/>
              <a:cxnLst>
                <a:cxn ang="0">
                  <a:pos x="T0" y="T1"/>
                </a:cxn>
                <a:cxn ang="0">
                  <a:pos x="T2" y="T3"/>
                </a:cxn>
                <a:cxn ang="0">
                  <a:pos x="T4" y="T5"/>
                </a:cxn>
                <a:cxn ang="0">
                  <a:pos x="T6" y="T7"/>
                </a:cxn>
              </a:cxnLst>
              <a:rect l="0" t="0" r="r" b="b"/>
              <a:pathLst>
                <a:path w="272" h="422">
                  <a:moveTo>
                    <a:pt x="0" y="45"/>
                  </a:moveTo>
                  <a:cubicBezTo>
                    <a:pt x="3" y="177"/>
                    <a:pt x="7" y="309"/>
                    <a:pt x="45" y="362"/>
                  </a:cubicBezTo>
                  <a:cubicBezTo>
                    <a:pt x="83" y="415"/>
                    <a:pt x="189" y="422"/>
                    <a:pt x="227" y="362"/>
                  </a:cubicBezTo>
                  <a:cubicBezTo>
                    <a:pt x="265" y="302"/>
                    <a:pt x="264" y="60"/>
                    <a:pt x="272" y="0"/>
                  </a:cubicBezTo>
                </a:path>
              </a:pathLst>
            </a:custGeom>
            <a:noFill/>
            <a:ln w="2857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nvGrpSpPr>
          <p:cNvPr id="19" name="Group 16"/>
          <p:cNvGrpSpPr>
            <a:grpSpLocks/>
          </p:cNvGrpSpPr>
          <p:nvPr/>
        </p:nvGrpSpPr>
        <p:grpSpPr bwMode="auto">
          <a:xfrm>
            <a:off x="2843808" y="4581128"/>
            <a:ext cx="1296988" cy="1801813"/>
            <a:chOff x="2018" y="2613"/>
            <a:chExt cx="817" cy="1135"/>
          </a:xfrm>
        </p:grpSpPr>
        <p:sp>
          <p:nvSpPr>
            <p:cNvPr id="20" name="AutoShape 17"/>
            <p:cNvSpPr>
              <a:spLocks noChangeArrowheads="1"/>
            </p:cNvSpPr>
            <p:nvPr/>
          </p:nvSpPr>
          <p:spPr bwMode="auto">
            <a:xfrm>
              <a:off x="2018" y="2613"/>
              <a:ext cx="227" cy="544"/>
            </a:xfrm>
            <a:prstGeom prst="roundRect">
              <a:avLst>
                <a:gd name="adj" fmla="val 16667"/>
              </a:avLst>
            </a:prstGeom>
            <a:noFill/>
            <a:ln w="28575">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sp>
          <p:nvSpPr>
            <p:cNvPr id="21" name="AutoShape 18"/>
            <p:cNvSpPr>
              <a:spLocks noChangeArrowheads="1"/>
            </p:cNvSpPr>
            <p:nvPr/>
          </p:nvSpPr>
          <p:spPr bwMode="auto">
            <a:xfrm>
              <a:off x="2608" y="2614"/>
              <a:ext cx="227" cy="1134"/>
            </a:xfrm>
            <a:prstGeom prst="roundRect">
              <a:avLst>
                <a:gd name="adj" fmla="val 16667"/>
              </a:avLst>
            </a:prstGeom>
            <a:noFill/>
            <a:ln w="28575">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none" anchor="ctr"/>
            <a:lstStyle/>
            <a:p>
              <a:endParaRPr lang="zh-CN" altLang="en-US"/>
            </a:p>
          </p:txBody>
        </p:sp>
      </p:grpSp>
      <p:grpSp>
        <p:nvGrpSpPr>
          <p:cNvPr id="22" name="Group 19"/>
          <p:cNvGrpSpPr>
            <a:grpSpLocks/>
          </p:cNvGrpSpPr>
          <p:nvPr/>
        </p:nvGrpSpPr>
        <p:grpSpPr bwMode="auto">
          <a:xfrm>
            <a:off x="5220072" y="4437112"/>
            <a:ext cx="2088232" cy="2216597"/>
            <a:chOff x="3288" y="2473"/>
            <a:chExt cx="1468" cy="1487"/>
          </a:xfrm>
        </p:grpSpPr>
        <p:sp>
          <p:nvSpPr>
            <p:cNvPr id="23" name="Freeform 20"/>
            <p:cNvSpPr>
              <a:spLocks/>
            </p:cNvSpPr>
            <p:nvPr/>
          </p:nvSpPr>
          <p:spPr bwMode="auto">
            <a:xfrm>
              <a:off x="3288" y="2473"/>
              <a:ext cx="424" cy="1482"/>
            </a:xfrm>
            <a:custGeom>
              <a:avLst/>
              <a:gdLst>
                <a:gd name="T0" fmla="*/ 136 w 424"/>
                <a:gd name="T1" fmla="*/ 106 h 1482"/>
                <a:gd name="T2" fmla="*/ 363 w 424"/>
                <a:gd name="T3" fmla="*/ 197 h 1482"/>
                <a:gd name="T4" fmla="*/ 363 w 424"/>
                <a:gd name="T5" fmla="*/ 1286 h 1482"/>
                <a:gd name="T6" fmla="*/ 0 w 424"/>
                <a:gd name="T7" fmla="*/ 1376 h 1482"/>
              </a:gdLst>
              <a:ahLst/>
              <a:cxnLst>
                <a:cxn ang="0">
                  <a:pos x="T0" y="T1"/>
                </a:cxn>
                <a:cxn ang="0">
                  <a:pos x="T2" y="T3"/>
                </a:cxn>
                <a:cxn ang="0">
                  <a:pos x="T4" y="T5"/>
                </a:cxn>
                <a:cxn ang="0">
                  <a:pos x="T6" y="T7"/>
                </a:cxn>
              </a:cxnLst>
              <a:rect l="0" t="0" r="r" b="b"/>
              <a:pathLst>
                <a:path w="424" h="1482">
                  <a:moveTo>
                    <a:pt x="136" y="106"/>
                  </a:moveTo>
                  <a:cubicBezTo>
                    <a:pt x="230" y="53"/>
                    <a:pt x="325" y="0"/>
                    <a:pt x="363" y="197"/>
                  </a:cubicBezTo>
                  <a:cubicBezTo>
                    <a:pt x="401" y="394"/>
                    <a:pt x="424" y="1090"/>
                    <a:pt x="363" y="1286"/>
                  </a:cubicBezTo>
                  <a:cubicBezTo>
                    <a:pt x="302" y="1482"/>
                    <a:pt x="60" y="1361"/>
                    <a:pt x="0" y="1376"/>
                  </a:cubicBezTo>
                </a:path>
              </a:pathLst>
            </a:custGeom>
            <a:noFill/>
            <a:ln w="2857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24" name="Freeform 21"/>
            <p:cNvSpPr>
              <a:spLocks/>
            </p:cNvSpPr>
            <p:nvPr/>
          </p:nvSpPr>
          <p:spPr bwMode="auto">
            <a:xfrm rot="10800000">
              <a:off x="4332" y="2478"/>
              <a:ext cx="424" cy="1482"/>
            </a:xfrm>
            <a:custGeom>
              <a:avLst/>
              <a:gdLst>
                <a:gd name="T0" fmla="*/ 136 w 424"/>
                <a:gd name="T1" fmla="*/ 106 h 1482"/>
                <a:gd name="T2" fmla="*/ 363 w 424"/>
                <a:gd name="T3" fmla="*/ 197 h 1482"/>
                <a:gd name="T4" fmla="*/ 363 w 424"/>
                <a:gd name="T5" fmla="*/ 1286 h 1482"/>
                <a:gd name="T6" fmla="*/ 0 w 424"/>
                <a:gd name="T7" fmla="*/ 1376 h 1482"/>
              </a:gdLst>
              <a:ahLst/>
              <a:cxnLst>
                <a:cxn ang="0">
                  <a:pos x="T0" y="T1"/>
                </a:cxn>
                <a:cxn ang="0">
                  <a:pos x="T2" y="T3"/>
                </a:cxn>
                <a:cxn ang="0">
                  <a:pos x="T4" y="T5"/>
                </a:cxn>
                <a:cxn ang="0">
                  <a:pos x="T6" y="T7"/>
                </a:cxn>
              </a:cxnLst>
              <a:rect l="0" t="0" r="r" b="b"/>
              <a:pathLst>
                <a:path w="424" h="1482">
                  <a:moveTo>
                    <a:pt x="136" y="106"/>
                  </a:moveTo>
                  <a:cubicBezTo>
                    <a:pt x="230" y="53"/>
                    <a:pt x="325" y="0"/>
                    <a:pt x="363" y="197"/>
                  </a:cubicBezTo>
                  <a:cubicBezTo>
                    <a:pt x="401" y="394"/>
                    <a:pt x="424" y="1090"/>
                    <a:pt x="363" y="1286"/>
                  </a:cubicBezTo>
                  <a:cubicBezTo>
                    <a:pt x="302" y="1482"/>
                    <a:pt x="60" y="1361"/>
                    <a:pt x="0" y="1376"/>
                  </a:cubicBezTo>
                </a:path>
              </a:pathLst>
            </a:custGeom>
            <a:noFill/>
            <a:ln w="28575" cmpd="sng">
              <a:solidFill>
                <a:srgbClr val="FF0000"/>
              </a:solidFill>
              <a:round/>
              <a:headEnd/>
              <a:tailEnd/>
            </a:ln>
            <a:effectLst/>
            <a:extLst>
              <a:ext uri="{909E8E84-426E-40DD-AFC4-6F175D3DCCD1}">
                <a14:hiddenFill xmlns:a14="http://schemas.microsoft.com/office/drawing/2010/main" xmlns="">
                  <a:solidFill>
                    <a:schemeClr val="accent1"/>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sp>
        <p:nvSpPr>
          <p:cNvPr id="26" name="标题 2"/>
          <p:cNvSpPr txBox="1">
            <a:spLocks/>
          </p:cNvSpPr>
          <p:nvPr/>
        </p:nvSpPr>
        <p:spPr bwMode="auto">
          <a:xfrm>
            <a:off x="1187624" y="116632"/>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.2</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8421BCD</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码同步加法计数器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74160</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sp>
        <p:nvSpPr>
          <p:cNvPr id="25" name="矩形标注 24"/>
          <p:cNvSpPr/>
          <p:nvPr/>
        </p:nvSpPr>
        <p:spPr bwMode="auto">
          <a:xfrm>
            <a:off x="0" y="5877272"/>
            <a:ext cx="1979712" cy="504056"/>
          </a:xfrm>
          <a:prstGeom prst="wedgeRectCallout">
            <a:avLst>
              <a:gd name="adj1" fmla="val 53650"/>
              <a:gd name="adj2" fmla="val -114168"/>
            </a:avLst>
          </a:prstGeom>
          <a:solidFill>
            <a:srgbClr val="FFFF00"/>
          </a:solidFill>
          <a:ln w="952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27" name="矩形标注 26"/>
          <p:cNvSpPr/>
          <p:nvPr/>
        </p:nvSpPr>
        <p:spPr bwMode="auto">
          <a:xfrm>
            <a:off x="0" y="2852936"/>
            <a:ext cx="2051720" cy="504496"/>
          </a:xfrm>
          <a:prstGeom prst="wedgeRectCallout">
            <a:avLst>
              <a:gd name="adj1" fmla="val 48909"/>
              <a:gd name="adj2" fmla="val -93289"/>
            </a:avLst>
          </a:prstGeom>
          <a:solidFill>
            <a:srgbClr val="FFFF00"/>
          </a:solidFill>
          <a:ln w="952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28" name="矩形标注 27"/>
          <p:cNvSpPr/>
          <p:nvPr/>
        </p:nvSpPr>
        <p:spPr bwMode="auto">
          <a:xfrm>
            <a:off x="6588224" y="764704"/>
            <a:ext cx="2555776" cy="504056"/>
          </a:xfrm>
          <a:prstGeom prst="wedgeRectCallout">
            <a:avLst>
              <a:gd name="adj1" fmla="val -59408"/>
              <a:gd name="adj2" fmla="val 79488"/>
            </a:avLst>
          </a:prstGeom>
          <a:solidFill>
            <a:srgbClr val="FFFF00"/>
          </a:solidFill>
          <a:ln w="952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sp>
        <p:nvSpPr>
          <p:cNvPr id="29" name="矩形标注 28"/>
          <p:cNvSpPr/>
          <p:nvPr/>
        </p:nvSpPr>
        <p:spPr bwMode="auto">
          <a:xfrm>
            <a:off x="7812360" y="5373216"/>
            <a:ext cx="1008112" cy="468632"/>
          </a:xfrm>
          <a:prstGeom prst="wedgeRectCallout">
            <a:avLst>
              <a:gd name="adj1" fmla="val -93378"/>
              <a:gd name="adj2" fmla="val -12721"/>
            </a:avLst>
          </a:prstGeom>
          <a:solidFill>
            <a:srgbClr val="FFFF00"/>
          </a:solidFill>
          <a:ln w="952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noAutofit/>
          </a:bodyPr>
          <a:lstStyle/>
          <a:p>
            <a:pPr marL="0" marR="0" indent="0" algn="l" defTabSz="914400" rtl="0" eaLnBrk="1" fontAlgn="base" latinLnBrk="0" hangingPunct="1">
              <a:lnSpc>
                <a:spcPct val="100000"/>
              </a:lnSpc>
              <a:spcBef>
                <a:spcPct val="0"/>
              </a:spcBef>
              <a:spcAft>
                <a:spcPct val="0"/>
              </a:spcAft>
              <a:buClrTx/>
              <a:buSzTx/>
              <a:buFontTx/>
              <a:buNone/>
            </a:pPr>
            <a:endPara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endParaRPr>
          </a:p>
        </p:txBody>
      </p:sp>
      <p:graphicFrame>
        <p:nvGraphicFramePr>
          <p:cNvPr id="26706" name="Object 82"/>
          <p:cNvGraphicFramePr>
            <a:graphicFrameLocks noChangeAspect="1"/>
          </p:cNvGraphicFramePr>
          <p:nvPr/>
        </p:nvGraphicFramePr>
        <p:xfrm>
          <a:off x="0" y="2924944"/>
          <a:ext cx="2060529" cy="351408"/>
        </p:xfrm>
        <a:graphic>
          <a:graphicData uri="http://schemas.openxmlformats.org/presentationml/2006/ole">
            <p:oleObj spid="_x0000_s26706" r:id="rId4" imgW="1638000" imgH="279360" progId="">
              <p:embed/>
            </p:oleObj>
          </a:graphicData>
        </a:graphic>
      </p:graphicFrame>
      <p:graphicFrame>
        <p:nvGraphicFramePr>
          <p:cNvPr id="26707" name="Object 83"/>
          <p:cNvGraphicFramePr>
            <a:graphicFrameLocks noChangeAspect="1"/>
          </p:cNvGraphicFramePr>
          <p:nvPr/>
        </p:nvGraphicFramePr>
        <p:xfrm>
          <a:off x="6607353" y="836712"/>
          <a:ext cx="2536647" cy="360040"/>
        </p:xfrm>
        <a:graphic>
          <a:graphicData uri="http://schemas.openxmlformats.org/presentationml/2006/ole">
            <p:oleObj spid="_x0000_s26707" r:id="rId5" imgW="1968480" imgH="279360" progId="">
              <p:embed/>
            </p:oleObj>
          </a:graphicData>
        </a:graphic>
      </p:graphicFrame>
      <p:graphicFrame>
        <p:nvGraphicFramePr>
          <p:cNvPr id="26708" name="Object 84"/>
          <p:cNvGraphicFramePr>
            <a:graphicFrameLocks noChangeAspect="1"/>
          </p:cNvGraphicFramePr>
          <p:nvPr/>
        </p:nvGraphicFramePr>
        <p:xfrm>
          <a:off x="1" y="5949281"/>
          <a:ext cx="1979712" cy="356622"/>
        </p:xfrm>
        <a:graphic>
          <a:graphicData uri="http://schemas.openxmlformats.org/presentationml/2006/ole">
            <p:oleObj spid="_x0000_s26708" r:id="rId6" imgW="1625400" imgH="266400" progId="">
              <p:embed/>
            </p:oleObj>
          </a:graphicData>
        </a:graphic>
      </p:graphicFrame>
      <p:graphicFrame>
        <p:nvGraphicFramePr>
          <p:cNvPr id="26709" name="Object 85"/>
          <p:cNvGraphicFramePr>
            <a:graphicFrameLocks noChangeAspect="1"/>
          </p:cNvGraphicFramePr>
          <p:nvPr/>
        </p:nvGraphicFramePr>
        <p:xfrm>
          <a:off x="7956376" y="5445224"/>
          <a:ext cx="792088" cy="341685"/>
        </p:xfrm>
        <a:graphic>
          <a:graphicData uri="http://schemas.openxmlformats.org/presentationml/2006/ole">
            <p:oleObj spid="_x0000_s26709" r:id="rId7" imgW="647640" imgH="279360" progId="">
              <p:embed/>
            </p:oleObj>
          </a:graphicData>
        </a:graphic>
      </p:graphicFrame>
    </p:spTree>
    <p:extLst>
      <p:ext uri="{BB962C8B-B14F-4D97-AF65-F5344CB8AC3E}">
        <p14:creationId xmlns:p14="http://schemas.microsoft.com/office/powerpoint/2010/main" xmlns="" val="2630962593"/>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331640" y="404664"/>
            <a:ext cx="7560840"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467544" y="1988840"/>
            <a:ext cx="8487544" cy="4608512"/>
          </a:xfrm>
        </p:spPr>
        <p:txBody>
          <a:bodyPr/>
          <a:lstStyle/>
          <a:p>
            <a:pPr>
              <a:lnSpc>
                <a:spcPct val="100000"/>
              </a:lnSpc>
              <a:spcBef>
                <a:spcPts val="600"/>
              </a:spcBef>
              <a:buSzPct val="100000"/>
              <a:buFont typeface="Wingdings" pitchFamily="2" charset="2"/>
              <a:buChar char="p"/>
            </a:pPr>
            <a:r>
              <a:rPr lang="zh-CN" altLang="en-US" sz="2800" dirty="0" smtClean="0"/>
              <a:t>同步十进制计数器的逻辑函数（</a:t>
            </a:r>
            <a:r>
              <a:rPr lang="en-US" altLang="zh-CN" sz="2800" dirty="0" smtClean="0"/>
              <a:t>JK</a:t>
            </a:r>
            <a:r>
              <a:rPr lang="zh-CN" altLang="en-US" sz="2800" dirty="0" smtClean="0"/>
              <a:t>触发器实现）</a:t>
            </a:r>
            <a:endParaRPr lang="en-US" altLang="zh-CN" sz="2800" dirty="0" smtClean="0"/>
          </a:p>
          <a:p>
            <a:endParaRPr lang="zh-CN" altLang="en-US" dirty="0"/>
          </a:p>
        </p:txBody>
      </p:sp>
      <p:sp>
        <p:nvSpPr>
          <p:cNvPr id="6" name="标题 2"/>
          <p:cNvSpPr txBox="1">
            <a:spLocks/>
          </p:cNvSpPr>
          <p:nvPr/>
        </p:nvSpPr>
        <p:spPr bwMode="auto">
          <a:xfrm>
            <a:off x="1331640" y="1052736"/>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.2</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8421BCD</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码同步加法计数器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74160</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94563" name="Object 3"/>
          <p:cNvGraphicFramePr>
            <a:graphicFrameLocks noChangeAspect="1"/>
          </p:cNvGraphicFramePr>
          <p:nvPr/>
        </p:nvGraphicFramePr>
        <p:xfrm>
          <a:off x="755576" y="2780928"/>
          <a:ext cx="7488832" cy="499740"/>
        </p:xfrm>
        <a:graphic>
          <a:graphicData uri="http://schemas.openxmlformats.org/presentationml/2006/ole">
            <p:oleObj spid="_x0000_s194563" r:id="rId3" imgW="4051080" imgH="279360" progId="">
              <p:embed/>
            </p:oleObj>
          </a:graphicData>
        </a:graphic>
      </p:graphicFrame>
      <p:graphicFrame>
        <p:nvGraphicFramePr>
          <p:cNvPr id="194564" name="Object 4"/>
          <p:cNvGraphicFramePr>
            <a:graphicFrameLocks noChangeAspect="1"/>
          </p:cNvGraphicFramePr>
          <p:nvPr/>
        </p:nvGraphicFramePr>
        <p:xfrm>
          <a:off x="755576" y="3501008"/>
          <a:ext cx="7366000" cy="441325"/>
        </p:xfrm>
        <a:graphic>
          <a:graphicData uri="http://schemas.openxmlformats.org/presentationml/2006/ole">
            <p:oleObj spid="_x0000_s194564" r:id="rId4" imgW="4457520" imgH="266400" progId="">
              <p:embed/>
            </p:oleObj>
          </a:graphicData>
        </a:graphic>
      </p:graphicFrame>
      <p:graphicFrame>
        <p:nvGraphicFramePr>
          <p:cNvPr id="194565" name="Object 5"/>
          <p:cNvGraphicFramePr>
            <a:graphicFrameLocks noChangeAspect="1"/>
          </p:cNvGraphicFramePr>
          <p:nvPr/>
        </p:nvGraphicFramePr>
        <p:xfrm>
          <a:off x="827584" y="4221088"/>
          <a:ext cx="6552727" cy="463045"/>
        </p:xfrm>
        <a:graphic>
          <a:graphicData uri="http://schemas.openxmlformats.org/presentationml/2006/ole">
            <p:oleObj spid="_x0000_s194565" r:id="rId5" imgW="3860640" imgH="266400" progId="">
              <p:embed/>
            </p:oleObj>
          </a:graphicData>
        </a:graphic>
      </p:graphicFrame>
      <p:graphicFrame>
        <p:nvGraphicFramePr>
          <p:cNvPr id="194566" name="Object 6"/>
          <p:cNvGraphicFramePr>
            <a:graphicFrameLocks noChangeAspect="1"/>
          </p:cNvGraphicFramePr>
          <p:nvPr/>
        </p:nvGraphicFramePr>
        <p:xfrm>
          <a:off x="827584" y="4941168"/>
          <a:ext cx="4180383" cy="444141"/>
        </p:xfrm>
        <a:graphic>
          <a:graphicData uri="http://schemas.openxmlformats.org/presentationml/2006/ole">
            <p:oleObj spid="_x0000_s194566" r:id="rId6" imgW="2590560" imgH="266400" progId="">
              <p:embed/>
            </p:oleObj>
          </a:graphicData>
        </a:graphic>
      </p:graphicFrame>
      <p:graphicFrame>
        <p:nvGraphicFramePr>
          <p:cNvPr id="194567" name="Object 7"/>
          <p:cNvGraphicFramePr>
            <a:graphicFrameLocks noChangeAspect="1"/>
          </p:cNvGraphicFramePr>
          <p:nvPr/>
        </p:nvGraphicFramePr>
        <p:xfrm>
          <a:off x="827583" y="5661248"/>
          <a:ext cx="1224137" cy="401011"/>
        </p:xfrm>
        <a:graphic>
          <a:graphicData uri="http://schemas.openxmlformats.org/presentationml/2006/ole">
            <p:oleObj spid="_x0000_s194567" r:id="rId7" imgW="736560" imgH="241200" progId="">
              <p:embed/>
            </p:oleObj>
          </a:graphicData>
        </a:graphic>
      </p:graphicFrame>
    </p:spTree>
    <p:extLst>
      <p:ext uri="{BB962C8B-B14F-4D97-AF65-F5344CB8AC3E}">
        <p14:creationId xmlns:p14="http://schemas.microsoft.com/office/powerpoint/2010/main" xmlns="" val="4274621490"/>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64</a:t>
            </a:fld>
            <a:endParaRPr lang="zh-CN" altLang="en-US"/>
          </a:p>
        </p:txBody>
      </p:sp>
      <p:sp>
        <p:nvSpPr>
          <p:cNvPr id="3" name="Text Box 5"/>
          <p:cNvSpPr txBox="1">
            <a:spLocks noChangeArrowheads="1"/>
          </p:cNvSpPr>
          <p:nvPr/>
        </p:nvSpPr>
        <p:spPr bwMode="auto">
          <a:xfrm>
            <a:off x="2123728" y="5733256"/>
            <a:ext cx="5112568" cy="3968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000" b="1" dirty="0" smtClean="0">
                <a:latin typeface="楷体_GB2312" pitchFamily="49" charset="-122"/>
                <a:ea typeface="楷体_GB2312" pitchFamily="49" charset="-122"/>
              </a:rPr>
              <a:t>图</a:t>
            </a:r>
            <a:r>
              <a:rPr lang="en-US" altLang="zh-CN" sz="2000" b="1" dirty="0" smtClean="0">
                <a:latin typeface="楷体_GB2312" pitchFamily="49" charset="-122"/>
                <a:ea typeface="楷体_GB2312" pitchFamily="49" charset="-122"/>
              </a:rPr>
              <a:t> 8421</a:t>
            </a:r>
            <a:r>
              <a:rPr lang="zh-CN" altLang="en-US" sz="2000" b="1" dirty="0">
                <a:latin typeface="楷体_GB2312" pitchFamily="49" charset="-122"/>
                <a:ea typeface="楷体_GB2312" pitchFamily="49" charset="-122"/>
              </a:rPr>
              <a:t>码同步十进制计数器电路逻辑图</a:t>
            </a:r>
          </a:p>
        </p:txBody>
      </p:sp>
      <p:sp>
        <p:nvSpPr>
          <p:cNvPr id="6" name="标题 2"/>
          <p:cNvSpPr txBox="1">
            <a:spLocks/>
          </p:cNvSpPr>
          <p:nvPr/>
        </p:nvSpPr>
        <p:spPr>
          <a:xfrm>
            <a:off x="1367136" y="260648"/>
            <a:ext cx="7453336" cy="576064"/>
          </a:xfrm>
          <a:prstGeom prst="rect">
            <a:avLst/>
          </a:prstGeom>
        </p:spPr>
        <p:txBody>
          <a:bodyPr/>
          <a:lstStyle>
            <a:lvl1pPr algn="l" rtl="0" eaLnBrk="1" fontAlgn="base" hangingPunct="1">
              <a:spcBef>
                <a:spcPct val="0"/>
              </a:spcBef>
              <a:spcAft>
                <a:spcPct val="0"/>
              </a:spcAft>
              <a:defRPr kumimoji="1" sz="3200" b="1">
                <a:solidFill>
                  <a:schemeClr val="tx2"/>
                </a:solidFill>
                <a:latin typeface="+mj-lt"/>
                <a:ea typeface="+mj-ea"/>
                <a:cs typeface="+mj-cs"/>
              </a:defRPr>
            </a:lvl1pPr>
            <a:lvl2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2pPr>
            <a:lvl3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3pPr>
            <a:lvl4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4pPr>
            <a:lvl5pPr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5pPr>
            <a:lvl6pPr marL="4572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6pPr>
            <a:lvl7pPr marL="9144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7pPr>
            <a:lvl8pPr marL="13716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8pPr>
            <a:lvl9pPr marL="1828800" algn="l" rtl="0" eaLnBrk="1" fontAlgn="base" hangingPunct="1">
              <a:spcBef>
                <a:spcPct val="0"/>
              </a:spcBef>
              <a:spcAft>
                <a:spcPct val="0"/>
              </a:spcAft>
              <a:defRPr kumimoji="1" sz="4400">
                <a:solidFill>
                  <a:schemeClr val="tx2"/>
                </a:solidFill>
                <a:latin typeface="Tahoma" panose="020B0604030504040204" pitchFamily="34" charset="0"/>
                <a:ea typeface="宋体" panose="02010600030101010101" pitchFamily="2" charset="-122"/>
              </a:defRPr>
            </a:lvl9pPr>
          </a:lstStyle>
          <a:p>
            <a:r>
              <a:rPr lang="en-US" altLang="zh-CN" dirty="0" smtClean="0"/>
              <a:t>6.4 </a:t>
            </a:r>
            <a:r>
              <a:rPr lang="zh-CN" altLang="en-US" dirty="0" smtClean="0"/>
              <a:t>计数器</a:t>
            </a:r>
            <a:endParaRPr lang="zh-CN" altLang="en-US" kern="0" dirty="0"/>
          </a:p>
        </p:txBody>
      </p:sp>
      <p:sp>
        <p:nvSpPr>
          <p:cNvPr id="7" name="标题 2"/>
          <p:cNvSpPr txBox="1">
            <a:spLocks/>
          </p:cNvSpPr>
          <p:nvPr/>
        </p:nvSpPr>
        <p:spPr bwMode="auto">
          <a:xfrm>
            <a:off x="1331640" y="908720"/>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.2</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8421BCD</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码同步加法计数器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74160</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pic>
        <p:nvPicPr>
          <p:cNvPr id="173057" name="Picture 1"/>
          <p:cNvPicPr>
            <a:picLocks noChangeAspect="1" noChangeArrowheads="1"/>
          </p:cNvPicPr>
          <p:nvPr/>
        </p:nvPicPr>
        <p:blipFill>
          <a:blip r:embed="rId2" cstate="print"/>
          <a:srcRect/>
          <a:stretch>
            <a:fillRect/>
          </a:stretch>
        </p:blipFill>
        <p:spPr bwMode="auto">
          <a:xfrm>
            <a:off x="755576" y="2636912"/>
            <a:ext cx="7896225" cy="2971800"/>
          </a:xfrm>
          <a:prstGeom prst="rect">
            <a:avLst/>
          </a:prstGeom>
          <a:noFill/>
          <a:ln w="9525">
            <a:noFill/>
            <a:miter lim="800000"/>
            <a:headEnd/>
            <a:tailEnd/>
          </a:ln>
        </p:spPr>
      </p:pic>
      <p:sp>
        <p:nvSpPr>
          <p:cNvPr id="5" name="AutoShape 7"/>
          <p:cNvSpPr>
            <a:spLocks noChangeArrowheads="1"/>
          </p:cNvSpPr>
          <p:nvPr/>
        </p:nvSpPr>
        <p:spPr bwMode="auto">
          <a:xfrm>
            <a:off x="5580112" y="1988840"/>
            <a:ext cx="3167063" cy="576262"/>
          </a:xfrm>
          <a:prstGeom prst="wedgeRoundRectCallout">
            <a:avLst>
              <a:gd name="adj1" fmla="val -55815"/>
              <a:gd name="adj2" fmla="val 140083"/>
              <a:gd name="adj3" fmla="val 16667"/>
            </a:avLst>
          </a:prstGeom>
          <a:noFill/>
          <a:ln w="28575">
            <a:solidFill>
              <a:schemeClr val="tx1"/>
            </a:solidFill>
            <a:miter lim="800000"/>
            <a:headEnd/>
            <a:tailEnd/>
          </a:ln>
          <a:effectLst/>
          <a:extLst>
            <a:ext uri="{909E8E84-426E-40DD-AFC4-6F175D3DCCD1}">
              <a14:hiddenFill xmlns:a14="http://schemas.microsoft.com/office/drawing/2010/main" xmlns="">
                <a:solidFill>
                  <a:schemeClr val="hlink"/>
                </a:solid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pPr algn="ctr"/>
            <a:r>
              <a:rPr lang="en-US" altLang="zh-CN" b="1" dirty="0">
                <a:solidFill>
                  <a:srgbClr val="FF0000"/>
                </a:solidFill>
              </a:rPr>
              <a:t>74160</a:t>
            </a:r>
            <a:r>
              <a:rPr lang="zh-CN" altLang="en-US" b="1" dirty="0">
                <a:solidFill>
                  <a:srgbClr val="FF0000"/>
                </a:solidFill>
              </a:rPr>
              <a:t>基本电路图</a:t>
            </a:r>
          </a:p>
        </p:txBody>
      </p:sp>
      <p:sp>
        <p:nvSpPr>
          <p:cNvPr id="9" name="矩形标注 8"/>
          <p:cNvSpPr/>
          <p:nvPr/>
        </p:nvSpPr>
        <p:spPr bwMode="auto">
          <a:xfrm>
            <a:off x="251520" y="3861048"/>
            <a:ext cx="1008112" cy="432048"/>
          </a:xfrm>
          <a:prstGeom prst="wedgeRectCallout">
            <a:avLst>
              <a:gd name="adj1" fmla="val 10284"/>
              <a:gd name="adj2" fmla="val -158066"/>
            </a:avLst>
          </a:prstGeom>
          <a:solidFill>
            <a:srgbClr val="FFFF00"/>
          </a:solidFill>
          <a:ln w="9525" cap="flat" cmpd="sng" algn="ctr">
            <a:solidFill>
              <a:srgbClr val="FF0000"/>
            </a:solidFill>
            <a:prstDash val="solid"/>
            <a:miter lim="800000"/>
            <a:headEnd type="none" w="med" len="med"/>
            <a:tailEnd type="none" w="med" len="med"/>
          </a:ln>
        </p:spPr>
        <p:txBody>
          <a:bodyPr vert="horz" wrap="square" lIns="90000" tIns="46800" rIns="90000" bIns="46800" numCol="1" rtlCol="0" anchor="t" anchorCtr="0" compatLnSpc="1">
            <a:noAutofit/>
          </a:bodyPr>
          <a:lstStyle/>
          <a:p>
            <a:pPr marL="0" marR="0" indent="0" algn="ctr" defTabSz="914400" rtl="0" eaLnBrk="1" fontAlgn="base" latinLnBrk="0" hangingPunct="1">
              <a:lnSpc>
                <a:spcPct val="100000"/>
              </a:lnSpc>
              <a:spcBef>
                <a:spcPct val="0"/>
              </a:spcBef>
              <a:spcAft>
                <a:spcPct val="0"/>
              </a:spcAft>
              <a:buClrTx/>
              <a:buSzTx/>
              <a:buFontTx/>
              <a:buNone/>
            </a:pPr>
            <a:r>
              <a:rPr kumimoji="1" lang="zh-CN" altLang="en-US" sz="2000" b="1" dirty="0" smtClean="0">
                <a:solidFill>
                  <a:srgbClr val="FF0000"/>
                </a:solidFill>
                <a:latin typeface="Tahoma" panose="020B0604030504040204" pitchFamily="34" charset="0"/>
                <a:ea typeface="宋体" panose="02010600030101010101" pitchFamily="2" charset="-122"/>
              </a:rPr>
              <a:t>即</a:t>
            </a:r>
            <a:r>
              <a:rPr kumimoji="1" lang="en-US" altLang="zh-CN" sz="2000" b="1" i="0" u="none" strike="noStrike" cap="none" normalizeH="0" baseline="0" dirty="0" smtClean="0">
                <a:ln>
                  <a:noFill/>
                </a:ln>
                <a:solidFill>
                  <a:srgbClr val="FF0000"/>
                </a:solidFill>
                <a:effectLst/>
                <a:latin typeface="Tahoma" panose="020B0604030504040204" pitchFamily="34" charset="0"/>
                <a:ea typeface="宋体" panose="02010600030101010101" pitchFamily="2" charset="-122"/>
              </a:rPr>
              <a:t>CO</a:t>
            </a:r>
            <a:endParaRPr kumimoji="1" lang="zh-CN" altLang="en-US" sz="2000" b="1" i="0" u="none" strike="noStrike" cap="none" normalizeH="0" baseline="0" dirty="0" smtClean="0">
              <a:ln>
                <a:noFill/>
              </a:ln>
              <a:solidFill>
                <a:srgbClr val="FF0000"/>
              </a:solidFill>
              <a:effectLst/>
              <a:latin typeface="Tahoma" panose="020B0604030504040204" pitchFamily="34" charset="0"/>
              <a:ea typeface="宋体" panose="02010600030101010101" pitchFamily="2" charset="-122"/>
            </a:endParaRPr>
          </a:p>
        </p:txBody>
      </p:sp>
    </p:spTree>
    <p:extLst>
      <p:ext uri="{BB962C8B-B14F-4D97-AF65-F5344CB8AC3E}">
        <p14:creationId xmlns:p14="http://schemas.microsoft.com/office/powerpoint/2010/main" xmlns="" val="2132270901"/>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65</a:t>
            </a:fld>
            <a:endParaRPr lang="zh-CN" altLang="en-US"/>
          </a:p>
        </p:txBody>
      </p:sp>
      <p:sp>
        <p:nvSpPr>
          <p:cNvPr id="3" name="Text Box 6"/>
          <p:cNvSpPr txBox="1">
            <a:spLocks noChangeArrowheads="1"/>
          </p:cNvSpPr>
          <p:nvPr/>
        </p:nvSpPr>
        <p:spPr bwMode="auto">
          <a:xfrm>
            <a:off x="1763689" y="908720"/>
            <a:ext cx="5832648" cy="36671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800" b="1" dirty="0" smtClean="0">
                <a:latin typeface="楷体_GB2312" pitchFamily="49" charset="-122"/>
                <a:ea typeface="楷体_GB2312" pitchFamily="49" charset="-122"/>
              </a:rPr>
              <a:t>表</a:t>
            </a:r>
            <a:r>
              <a:rPr lang="en-US" altLang="zh-CN" sz="1800" b="1" dirty="0" smtClean="0">
                <a:latin typeface="楷体_GB2312" pitchFamily="49" charset="-122"/>
                <a:ea typeface="楷体_GB2312" pitchFamily="49" charset="-122"/>
              </a:rPr>
              <a:t> 8421</a:t>
            </a:r>
            <a:r>
              <a:rPr lang="zh-CN" altLang="en-US" sz="1800" b="1" dirty="0">
                <a:latin typeface="楷体_GB2312" pitchFamily="49" charset="-122"/>
                <a:ea typeface="楷体_GB2312" pitchFamily="49" charset="-122"/>
              </a:rPr>
              <a:t>码同步十进制计数器电路的状态转换表</a:t>
            </a:r>
          </a:p>
        </p:txBody>
      </p:sp>
      <p:pic>
        <p:nvPicPr>
          <p:cNvPr id="4" name="Picture 7" descr="b5-5-2"/>
          <p:cNvPicPr>
            <a:picLocks noChangeAspect="1" noChangeArrowheads="1"/>
          </p:cNvPicPr>
          <p:nvPr/>
        </p:nvPicPr>
        <p:blipFill>
          <a:blip r:embed="rId2" cstate="print">
            <a:clrChange>
              <a:clrFrom>
                <a:srgbClr val="F0F1EB"/>
              </a:clrFrom>
              <a:clrTo>
                <a:srgbClr val="F0F1EB">
                  <a:alpha val="0"/>
                </a:srgbClr>
              </a:clrTo>
            </a:clrChange>
            <a:lum bright="-12000" contrast="54000"/>
            <a:extLst>
              <a:ext uri="{28A0092B-C50C-407E-A947-70E740481C1C}">
                <a14:useLocalDpi xmlns:a14="http://schemas.microsoft.com/office/drawing/2010/main" xmlns="" val="0"/>
              </a:ext>
            </a:extLst>
          </a:blip>
          <a:srcRect/>
          <a:stretch>
            <a:fillRect/>
          </a:stretch>
        </p:blipFill>
        <p:spPr bwMode="auto">
          <a:xfrm>
            <a:off x="1187624" y="1265237"/>
            <a:ext cx="6985000" cy="5516563"/>
          </a:xfrm>
          <a:prstGeom prst="rect">
            <a:avLst/>
          </a:prstGeom>
          <a:solidFill>
            <a:schemeClr val="bg1"/>
          </a:solidFill>
        </p:spPr>
      </p:pic>
      <p:sp>
        <p:nvSpPr>
          <p:cNvPr id="6" name="标题 2"/>
          <p:cNvSpPr txBox="1">
            <a:spLocks/>
          </p:cNvSpPr>
          <p:nvPr/>
        </p:nvSpPr>
        <p:spPr bwMode="auto">
          <a:xfrm>
            <a:off x="1259632" y="260648"/>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.2</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8421BCD</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码同步加法计数器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74160</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638713526"/>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59632" y="332656"/>
            <a:ext cx="7704856"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467544" y="1988840"/>
            <a:ext cx="8487544" cy="4608512"/>
          </a:xfrm>
        </p:spPr>
        <p:txBody>
          <a:bodyPr/>
          <a:lstStyle/>
          <a:p>
            <a:pPr marL="342900" lvl="1" indent="-342900">
              <a:lnSpc>
                <a:spcPct val="100000"/>
              </a:lnSpc>
              <a:spcBef>
                <a:spcPts val="600"/>
              </a:spcBef>
              <a:buClr>
                <a:schemeClr val="folHlink"/>
              </a:buClr>
              <a:buSzPct val="100000"/>
              <a:buFont typeface="Wingdings" pitchFamily="2" charset="2"/>
              <a:buChar char="p"/>
            </a:pPr>
            <a:r>
              <a:rPr lang="zh-CN" altLang="en-US" sz="2800" dirty="0" smtClean="0"/>
              <a:t>同步二进制加法计数器</a:t>
            </a:r>
            <a:r>
              <a:rPr lang="en-US" altLang="zh-CN" sz="2800" dirty="0" smtClean="0"/>
              <a:t>74163</a:t>
            </a:r>
            <a:r>
              <a:rPr lang="zh-CN" altLang="en-US" sz="2800" dirty="0" smtClean="0"/>
              <a:t>是具有同步清零功能的模</a:t>
            </a:r>
            <a:r>
              <a:rPr lang="en-US" altLang="zh-CN" sz="2800" dirty="0" smtClean="0"/>
              <a:t>16</a:t>
            </a:r>
            <a:r>
              <a:rPr lang="zh-CN" altLang="en-US" sz="2800" dirty="0" smtClean="0"/>
              <a:t>加法计数器。</a:t>
            </a:r>
            <a:endParaRPr lang="en-US" altLang="zh-CN" sz="2800" dirty="0" smtClean="0"/>
          </a:p>
          <a:p>
            <a:pPr lvl="1">
              <a:lnSpc>
                <a:spcPct val="100000"/>
              </a:lnSpc>
              <a:spcBef>
                <a:spcPts val="600"/>
              </a:spcBef>
              <a:buSzPct val="100000"/>
            </a:pPr>
            <a:r>
              <a:rPr lang="zh-CN" altLang="en-US" sz="2400" dirty="0" smtClean="0"/>
              <a:t>与</a:t>
            </a:r>
            <a:r>
              <a:rPr lang="en-US" altLang="zh-CN" sz="2400" dirty="0" smtClean="0"/>
              <a:t>74161</a:t>
            </a:r>
            <a:r>
              <a:rPr lang="zh-CN" altLang="en-US" sz="2400" dirty="0" smtClean="0"/>
              <a:t>不同的是，在清零信号              的情况下，输入一个</a:t>
            </a:r>
            <a:r>
              <a:rPr lang="en-US" altLang="zh-CN" sz="2400" dirty="0" smtClean="0"/>
              <a:t>CLK</a:t>
            </a:r>
            <a:r>
              <a:rPr lang="zh-CN" altLang="en-US" sz="2400" dirty="0" smtClean="0"/>
              <a:t>（</a:t>
            </a:r>
            <a:r>
              <a:rPr lang="en-US" altLang="zh-CN" sz="2400" dirty="0" smtClean="0"/>
              <a:t>CP</a:t>
            </a:r>
            <a:r>
              <a:rPr lang="zh-CN" altLang="en-US" sz="2400" dirty="0" smtClean="0"/>
              <a:t>）脉冲后，计数器才清零。</a:t>
            </a:r>
            <a:endParaRPr lang="en-US" altLang="zh-CN" sz="2400" dirty="0" smtClean="0"/>
          </a:p>
        </p:txBody>
      </p:sp>
      <p:sp>
        <p:nvSpPr>
          <p:cNvPr id="6" name="标题 2"/>
          <p:cNvSpPr txBox="1">
            <a:spLocks/>
          </p:cNvSpPr>
          <p:nvPr/>
        </p:nvSpPr>
        <p:spPr bwMode="auto">
          <a:xfrm>
            <a:off x="1259632" y="1052736"/>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.3</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同步二进制加法计数器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74163</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graphicFrame>
        <p:nvGraphicFramePr>
          <p:cNvPr id="171010" name="Object 2"/>
          <p:cNvGraphicFramePr>
            <a:graphicFrameLocks noChangeAspect="1"/>
          </p:cNvGraphicFramePr>
          <p:nvPr/>
        </p:nvGraphicFramePr>
        <p:xfrm>
          <a:off x="5724128" y="2924944"/>
          <a:ext cx="1122475" cy="433684"/>
        </p:xfrm>
        <a:graphic>
          <a:graphicData uri="http://schemas.openxmlformats.org/presentationml/2006/ole">
            <p:oleObj spid="_x0000_s171010" r:id="rId3" imgW="558720" imgH="215640" progId="">
              <p:embed/>
            </p:oleObj>
          </a:graphicData>
        </a:graphic>
      </p:graphicFrame>
      <p:pic>
        <p:nvPicPr>
          <p:cNvPr id="171011" name="Picture 3"/>
          <p:cNvPicPr>
            <a:picLocks noChangeAspect="1" noChangeArrowheads="1"/>
          </p:cNvPicPr>
          <p:nvPr/>
        </p:nvPicPr>
        <p:blipFill>
          <a:blip r:embed="rId4" cstate="print"/>
          <a:srcRect/>
          <a:stretch>
            <a:fillRect/>
          </a:stretch>
        </p:blipFill>
        <p:spPr bwMode="auto">
          <a:xfrm>
            <a:off x="755576" y="3717032"/>
            <a:ext cx="2524070" cy="2664296"/>
          </a:xfrm>
          <a:prstGeom prst="rect">
            <a:avLst/>
          </a:prstGeom>
          <a:noFill/>
          <a:ln w="9525">
            <a:noFill/>
            <a:miter lim="800000"/>
            <a:headEnd/>
            <a:tailEnd/>
          </a:ln>
        </p:spPr>
      </p:pic>
      <p:pic>
        <p:nvPicPr>
          <p:cNvPr id="171012" name="Picture 4"/>
          <p:cNvPicPr>
            <a:picLocks noChangeAspect="1" noChangeArrowheads="1"/>
          </p:cNvPicPr>
          <p:nvPr/>
        </p:nvPicPr>
        <p:blipFill>
          <a:blip r:embed="rId5" cstate="print"/>
          <a:srcRect/>
          <a:stretch>
            <a:fillRect/>
          </a:stretch>
        </p:blipFill>
        <p:spPr bwMode="auto">
          <a:xfrm>
            <a:off x="3707904" y="3717032"/>
            <a:ext cx="2148631" cy="2988878"/>
          </a:xfrm>
          <a:prstGeom prst="rect">
            <a:avLst/>
          </a:prstGeom>
          <a:noFill/>
          <a:ln w="9525">
            <a:noFill/>
            <a:miter lim="800000"/>
            <a:headEnd/>
            <a:tailEnd/>
          </a:ln>
        </p:spPr>
      </p:pic>
      <p:pic>
        <p:nvPicPr>
          <p:cNvPr id="171013" name="Picture 5"/>
          <p:cNvPicPr>
            <a:picLocks noChangeAspect="1" noChangeArrowheads="1"/>
          </p:cNvPicPr>
          <p:nvPr/>
        </p:nvPicPr>
        <p:blipFill>
          <a:blip r:embed="rId6" cstate="print"/>
          <a:srcRect/>
          <a:stretch>
            <a:fillRect/>
          </a:stretch>
        </p:blipFill>
        <p:spPr bwMode="auto">
          <a:xfrm>
            <a:off x="6012160" y="4077072"/>
            <a:ext cx="3021685" cy="2160240"/>
          </a:xfrm>
          <a:prstGeom prst="rect">
            <a:avLst/>
          </a:prstGeom>
          <a:noFill/>
          <a:ln w="9525">
            <a:noFill/>
            <a:miter lim="800000"/>
            <a:headEnd/>
            <a:tailEnd/>
          </a:ln>
        </p:spPr>
      </p:pic>
    </p:spTree>
    <p:extLst>
      <p:ext uri="{BB962C8B-B14F-4D97-AF65-F5344CB8AC3E}">
        <p14:creationId xmlns:p14="http://schemas.microsoft.com/office/powerpoint/2010/main" xmlns="" val="118749118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59632" y="332656"/>
            <a:ext cx="7704856"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467544" y="1988840"/>
            <a:ext cx="8487544" cy="4608512"/>
          </a:xfrm>
        </p:spPr>
        <p:txBody>
          <a:bodyPr/>
          <a:lstStyle/>
          <a:p>
            <a:pPr marL="342900" lvl="1" indent="-342900">
              <a:lnSpc>
                <a:spcPct val="100000"/>
              </a:lnSpc>
              <a:spcBef>
                <a:spcPts val="600"/>
              </a:spcBef>
              <a:buClr>
                <a:schemeClr val="folHlink"/>
              </a:buClr>
              <a:buSzPct val="100000"/>
              <a:buFont typeface="Wingdings" pitchFamily="2" charset="2"/>
              <a:buChar char="p"/>
            </a:pPr>
            <a:r>
              <a:rPr lang="zh-CN" altLang="en-US" sz="2800" dirty="0" smtClean="0"/>
              <a:t>异步加法计数器</a:t>
            </a:r>
            <a:r>
              <a:rPr lang="en-US" altLang="zh-CN" sz="2800" dirty="0" smtClean="0"/>
              <a:t>74290</a:t>
            </a:r>
            <a:r>
              <a:rPr lang="zh-CN" altLang="en-US" sz="2800" dirty="0" smtClean="0"/>
              <a:t>包含一个独立的</a:t>
            </a:r>
            <a:r>
              <a:rPr lang="en-US" altLang="zh-CN" sz="2800" dirty="0" smtClean="0"/>
              <a:t>1</a:t>
            </a:r>
            <a:r>
              <a:rPr lang="zh-CN" altLang="en-US" sz="2800" dirty="0" smtClean="0"/>
              <a:t>位二进制计数器和一个独立的异步五进制计数器。</a:t>
            </a:r>
            <a:endParaRPr lang="en-US" altLang="zh-CN" sz="2800" dirty="0" smtClean="0"/>
          </a:p>
        </p:txBody>
      </p:sp>
      <p:sp>
        <p:nvSpPr>
          <p:cNvPr id="6" name="标题 2"/>
          <p:cNvSpPr txBox="1">
            <a:spLocks/>
          </p:cNvSpPr>
          <p:nvPr/>
        </p:nvSpPr>
        <p:spPr bwMode="auto">
          <a:xfrm>
            <a:off x="1259632" y="1052736"/>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.4</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二</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五</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十进制异步加法计数器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74290</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pic>
        <p:nvPicPr>
          <p:cNvPr id="172035" name="Picture 3"/>
          <p:cNvPicPr>
            <a:picLocks noChangeAspect="1" noChangeArrowheads="1"/>
          </p:cNvPicPr>
          <p:nvPr/>
        </p:nvPicPr>
        <p:blipFill>
          <a:blip r:embed="rId2" cstate="print"/>
          <a:srcRect/>
          <a:stretch>
            <a:fillRect/>
          </a:stretch>
        </p:blipFill>
        <p:spPr bwMode="auto">
          <a:xfrm>
            <a:off x="899592" y="3068960"/>
            <a:ext cx="7519258" cy="3168352"/>
          </a:xfrm>
          <a:prstGeom prst="rect">
            <a:avLst/>
          </a:prstGeom>
          <a:noFill/>
          <a:ln w="9525">
            <a:noFill/>
            <a:miter lim="800000"/>
            <a:headEnd/>
            <a:tailEnd/>
          </a:ln>
        </p:spPr>
      </p:pic>
    </p:spTree>
    <p:extLst>
      <p:ext uri="{BB962C8B-B14F-4D97-AF65-F5344CB8AC3E}">
        <p14:creationId xmlns:p14="http://schemas.microsoft.com/office/powerpoint/2010/main" xmlns="" val="1187491182"/>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59632" y="332656"/>
            <a:ext cx="7704856"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467544" y="1988840"/>
            <a:ext cx="8487544" cy="4608512"/>
          </a:xfrm>
        </p:spPr>
        <p:txBody>
          <a:bodyPr/>
          <a:lstStyle/>
          <a:p>
            <a:pPr marL="342900" lvl="1" indent="-342900">
              <a:lnSpc>
                <a:spcPct val="100000"/>
              </a:lnSpc>
              <a:spcBef>
                <a:spcPts val="600"/>
              </a:spcBef>
              <a:buClr>
                <a:schemeClr val="folHlink"/>
              </a:buClr>
              <a:buSzPct val="100000"/>
              <a:buFont typeface="Wingdings" pitchFamily="2" charset="2"/>
              <a:buChar char="p"/>
            </a:pPr>
            <a:r>
              <a:rPr lang="zh-CN" altLang="en-US" sz="2800" dirty="0" smtClean="0"/>
              <a:t>异步加法计数器</a:t>
            </a:r>
            <a:r>
              <a:rPr lang="en-US" altLang="zh-CN" sz="2800" dirty="0" smtClean="0"/>
              <a:t>74290</a:t>
            </a:r>
            <a:r>
              <a:rPr lang="zh-CN" altLang="en-US" sz="2800" dirty="0" smtClean="0"/>
              <a:t>包含一个独立的</a:t>
            </a:r>
            <a:r>
              <a:rPr lang="en-US" altLang="zh-CN" sz="2800" dirty="0" smtClean="0"/>
              <a:t>1</a:t>
            </a:r>
            <a:r>
              <a:rPr lang="zh-CN" altLang="en-US" sz="2800" dirty="0" smtClean="0"/>
              <a:t>位二进制计数器和一个独立的异步五进制计数器。</a:t>
            </a:r>
            <a:endParaRPr lang="en-US" altLang="zh-CN" sz="2800" dirty="0" smtClean="0"/>
          </a:p>
        </p:txBody>
      </p:sp>
      <p:sp>
        <p:nvSpPr>
          <p:cNvPr id="6" name="标题 2"/>
          <p:cNvSpPr txBox="1">
            <a:spLocks/>
          </p:cNvSpPr>
          <p:nvPr/>
        </p:nvSpPr>
        <p:spPr bwMode="auto">
          <a:xfrm>
            <a:off x="1259632" y="1052736"/>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.4</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二</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五</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十进制异步加法计数器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74290</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pic>
        <p:nvPicPr>
          <p:cNvPr id="173058" name="Picture 2"/>
          <p:cNvPicPr>
            <a:picLocks noChangeAspect="1" noChangeArrowheads="1"/>
          </p:cNvPicPr>
          <p:nvPr/>
        </p:nvPicPr>
        <p:blipFill>
          <a:blip r:embed="rId2" cstate="print"/>
          <a:srcRect/>
          <a:stretch>
            <a:fillRect/>
          </a:stretch>
        </p:blipFill>
        <p:spPr bwMode="auto">
          <a:xfrm>
            <a:off x="755576" y="3212976"/>
            <a:ext cx="7964809" cy="3096344"/>
          </a:xfrm>
          <a:prstGeom prst="rect">
            <a:avLst/>
          </a:prstGeom>
          <a:noFill/>
          <a:ln w="9525">
            <a:noFill/>
            <a:miter lim="800000"/>
            <a:headEnd/>
            <a:tailEnd/>
          </a:ln>
        </p:spPr>
      </p:pic>
    </p:spTree>
    <p:extLst>
      <p:ext uri="{BB962C8B-B14F-4D97-AF65-F5344CB8AC3E}">
        <p14:creationId xmlns:p14="http://schemas.microsoft.com/office/powerpoint/2010/main" xmlns="" val="1187491182"/>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59632" y="332656"/>
            <a:ext cx="7704856" cy="566936"/>
          </a:xfrm>
        </p:spPr>
        <p:txBody>
          <a:bodyPr/>
          <a:lstStyle/>
          <a:p>
            <a:r>
              <a:rPr lang="en-US" altLang="zh-CN" dirty="0" smtClean="0"/>
              <a:t>6.4 </a:t>
            </a:r>
            <a:r>
              <a:rPr lang="zh-CN" altLang="en-US" dirty="0" smtClean="0"/>
              <a:t>计数器</a:t>
            </a:r>
            <a:endParaRPr lang="zh-CN" altLang="en-US" dirty="0"/>
          </a:p>
        </p:txBody>
      </p:sp>
      <p:sp>
        <p:nvSpPr>
          <p:cNvPr id="4" name="内容占位符 3"/>
          <p:cNvSpPr>
            <a:spLocks noGrp="1"/>
          </p:cNvSpPr>
          <p:nvPr>
            <p:ph idx="1"/>
          </p:nvPr>
        </p:nvSpPr>
        <p:spPr>
          <a:xfrm>
            <a:off x="467544" y="1988840"/>
            <a:ext cx="8487544" cy="4608512"/>
          </a:xfrm>
        </p:spPr>
        <p:txBody>
          <a:bodyPr/>
          <a:lstStyle/>
          <a:p>
            <a:pPr marL="342900" lvl="1" indent="-342900">
              <a:lnSpc>
                <a:spcPct val="100000"/>
              </a:lnSpc>
              <a:spcBef>
                <a:spcPts val="600"/>
              </a:spcBef>
              <a:buClr>
                <a:schemeClr val="folHlink"/>
              </a:buClr>
              <a:buSzPct val="100000"/>
              <a:buFont typeface="Wingdings" pitchFamily="2" charset="2"/>
              <a:buChar char="p"/>
            </a:pPr>
            <a:r>
              <a:rPr lang="zh-CN" altLang="en-US" sz="2800" dirty="0" smtClean="0"/>
              <a:t>异步加法计数器</a:t>
            </a:r>
            <a:r>
              <a:rPr lang="en-US" altLang="zh-CN" sz="2800" dirty="0" smtClean="0"/>
              <a:t>74290</a:t>
            </a:r>
            <a:r>
              <a:rPr lang="zh-CN" altLang="en-US" sz="2800" dirty="0" smtClean="0"/>
              <a:t>包含一个独立的</a:t>
            </a:r>
            <a:r>
              <a:rPr lang="en-US" altLang="zh-CN" sz="2800" dirty="0" smtClean="0"/>
              <a:t>1</a:t>
            </a:r>
            <a:r>
              <a:rPr lang="zh-CN" altLang="en-US" sz="2800" dirty="0" smtClean="0"/>
              <a:t>位二进制计数器和一个独立的异步五进制计数器。</a:t>
            </a:r>
            <a:endParaRPr lang="en-US" altLang="zh-CN" sz="2800" dirty="0" smtClean="0"/>
          </a:p>
        </p:txBody>
      </p:sp>
      <p:sp>
        <p:nvSpPr>
          <p:cNvPr id="6" name="标题 2"/>
          <p:cNvSpPr txBox="1">
            <a:spLocks/>
          </p:cNvSpPr>
          <p:nvPr/>
        </p:nvSpPr>
        <p:spPr bwMode="auto">
          <a:xfrm>
            <a:off x="1259632" y="1052736"/>
            <a:ext cx="7344816"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2800" b="1" kern="0" dirty="0" smtClean="0">
                <a:solidFill>
                  <a:schemeClr val="tx2"/>
                </a:solidFill>
                <a:latin typeface="+mj-lt"/>
                <a:ea typeface="+mj-ea"/>
                <a:cs typeface="+mj-cs"/>
              </a:rPr>
              <a:t>.4</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  </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二</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五</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a:t>
            </a:r>
            <a:r>
              <a:rPr kumimoji="1" lang="zh-CN" altLang="en-US" sz="2800" b="1" i="0" u="none" strike="noStrike" kern="0" cap="none" spc="0" normalizeH="0" baseline="0" noProof="0" dirty="0" smtClean="0">
                <a:ln>
                  <a:noFill/>
                </a:ln>
                <a:solidFill>
                  <a:schemeClr val="tx2"/>
                </a:solidFill>
                <a:effectLst/>
                <a:uLnTx/>
                <a:uFillTx/>
                <a:latin typeface="+mj-lt"/>
                <a:ea typeface="+mj-ea"/>
                <a:cs typeface="+mj-cs"/>
              </a:rPr>
              <a:t>十进制异步加法计数器</a:t>
            </a:r>
            <a:r>
              <a:rPr kumimoji="1" lang="en-US" altLang="zh-CN" sz="2800" b="1" i="0" u="none" strike="noStrike" kern="0" cap="none" spc="0" normalizeH="0" baseline="0" noProof="0" dirty="0" smtClean="0">
                <a:ln>
                  <a:noFill/>
                </a:ln>
                <a:solidFill>
                  <a:schemeClr val="tx2"/>
                </a:solidFill>
                <a:effectLst/>
                <a:uLnTx/>
                <a:uFillTx/>
                <a:latin typeface="+mj-lt"/>
                <a:ea typeface="+mj-ea"/>
                <a:cs typeface="+mj-cs"/>
              </a:rPr>
              <a:t>74290</a:t>
            </a:r>
            <a:endParaRPr kumimoji="1" lang="zh-CN" altLang="en-US" sz="2800" b="1" i="0" u="none" strike="noStrike" kern="0" cap="none" spc="0" normalizeH="0" baseline="0" noProof="0" dirty="0">
              <a:ln>
                <a:noFill/>
              </a:ln>
              <a:solidFill>
                <a:schemeClr val="tx2"/>
              </a:solidFill>
              <a:effectLst/>
              <a:uLnTx/>
              <a:uFillTx/>
              <a:latin typeface="+mj-lt"/>
              <a:ea typeface="+mj-ea"/>
              <a:cs typeface="+mj-cs"/>
            </a:endParaRPr>
          </a:p>
        </p:txBody>
      </p:sp>
      <p:pic>
        <p:nvPicPr>
          <p:cNvPr id="174082" name="Picture 2"/>
          <p:cNvPicPr>
            <a:picLocks noChangeAspect="1" noChangeArrowheads="1"/>
          </p:cNvPicPr>
          <p:nvPr/>
        </p:nvPicPr>
        <p:blipFill>
          <a:blip r:embed="rId2" cstate="print"/>
          <a:srcRect/>
          <a:stretch>
            <a:fillRect/>
          </a:stretch>
        </p:blipFill>
        <p:spPr bwMode="auto">
          <a:xfrm>
            <a:off x="683568" y="2924944"/>
            <a:ext cx="8136514" cy="3744416"/>
          </a:xfrm>
          <a:prstGeom prst="rect">
            <a:avLst/>
          </a:prstGeom>
          <a:noFill/>
          <a:ln w="9525">
            <a:noFill/>
            <a:miter lim="800000"/>
            <a:headEnd/>
            <a:tailEnd/>
          </a:ln>
        </p:spPr>
      </p:pic>
    </p:spTree>
    <p:extLst>
      <p:ext uri="{BB962C8B-B14F-4D97-AF65-F5344CB8AC3E}">
        <p14:creationId xmlns:p14="http://schemas.microsoft.com/office/powerpoint/2010/main" xmlns="" val="1187491182"/>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67544" y="1988840"/>
            <a:ext cx="8487544" cy="4752528"/>
          </a:xfrm>
        </p:spPr>
        <p:txBody>
          <a:bodyPr/>
          <a:lstStyle/>
          <a:p>
            <a:pPr>
              <a:buSzPct val="100000"/>
              <a:buFont typeface="Wingdings" pitchFamily="2" charset="2"/>
              <a:buChar char="p"/>
            </a:pPr>
            <a:r>
              <a:rPr lang="zh-CN" altLang="en-US" sz="2800" dirty="0"/>
              <a:t>集成计数器及其</a:t>
            </a:r>
            <a:r>
              <a:rPr lang="zh-CN" altLang="en-US" sz="2800" dirty="0" smtClean="0"/>
              <a:t>应用</a:t>
            </a:r>
            <a:endParaRPr lang="en-US" altLang="zh-CN" sz="2800" dirty="0" smtClean="0"/>
          </a:p>
          <a:p>
            <a:pPr lvl="1">
              <a:buSzPct val="100000"/>
            </a:pPr>
            <a:r>
              <a:rPr lang="en-US" altLang="zh-CN" sz="2400" dirty="0" smtClean="0"/>
              <a:t> 1.  </a:t>
            </a:r>
            <a:r>
              <a:rPr lang="zh-CN" altLang="en-US" sz="2400" dirty="0" smtClean="0">
                <a:solidFill>
                  <a:srgbClr val="FF0000"/>
                </a:solidFill>
              </a:rPr>
              <a:t>组成任意进制计算器 </a:t>
            </a:r>
            <a:r>
              <a:rPr lang="zh-CN" altLang="en-US" sz="2400" dirty="0" smtClean="0"/>
              <a:t>：市场上能买到的集成计数器一般为二进制和</a:t>
            </a:r>
            <a:r>
              <a:rPr lang="en-US" altLang="zh-CN" sz="2400" dirty="0" smtClean="0"/>
              <a:t>8421BCD</a:t>
            </a:r>
            <a:r>
              <a:rPr lang="zh-CN" altLang="en-US" sz="2400" dirty="0" smtClean="0"/>
              <a:t>码十进制计数器，如果需要其它进制的计数器，可用现有的二进制或十进制计数器，利用其清零端或预置数端，外加适当的门电路连接而成。</a:t>
            </a:r>
            <a:endParaRPr lang="en-US" altLang="zh-CN" sz="2400" dirty="0" smtClean="0"/>
          </a:p>
          <a:p>
            <a:pPr lvl="1">
              <a:buSzPct val="100000"/>
            </a:pPr>
            <a:r>
              <a:rPr lang="en-US" altLang="zh-CN" sz="2400" dirty="0" smtClean="0"/>
              <a:t>2. </a:t>
            </a:r>
            <a:r>
              <a:rPr lang="zh-CN" altLang="en-US" sz="2400" dirty="0" smtClean="0">
                <a:solidFill>
                  <a:srgbClr val="FF0000"/>
                </a:solidFill>
              </a:rPr>
              <a:t>计数器的级联</a:t>
            </a:r>
            <a:r>
              <a:rPr lang="zh-CN" altLang="en-US" sz="2400" dirty="0" smtClean="0"/>
              <a:t> ：两个模 </a:t>
            </a:r>
            <a:r>
              <a:rPr lang="en-US" altLang="zh-CN" sz="2400" dirty="0" smtClean="0"/>
              <a:t>N</a:t>
            </a:r>
            <a:r>
              <a:rPr lang="zh-CN" altLang="en-US" sz="2400" dirty="0" smtClean="0"/>
              <a:t>计数器级联，可实现</a:t>
            </a:r>
            <a:r>
              <a:rPr lang="en-US" altLang="zh-CN" sz="2400" dirty="0" smtClean="0"/>
              <a:t>N×N</a:t>
            </a:r>
            <a:r>
              <a:rPr lang="zh-CN" altLang="en-US" sz="2400" dirty="0" smtClean="0"/>
              <a:t>的计数器。</a:t>
            </a:r>
            <a:endParaRPr lang="en-US" altLang="zh-CN" sz="2400" dirty="0" smtClean="0"/>
          </a:p>
          <a:p>
            <a:pPr lvl="1">
              <a:buSzPct val="100000"/>
            </a:pPr>
            <a:r>
              <a:rPr lang="en-US" altLang="zh-CN" sz="2400" dirty="0" smtClean="0"/>
              <a:t>3. </a:t>
            </a:r>
            <a:r>
              <a:rPr lang="zh-CN" altLang="en-US" sz="2400" dirty="0" smtClean="0">
                <a:solidFill>
                  <a:srgbClr val="FF0000"/>
                </a:solidFill>
              </a:rPr>
              <a:t>组成分频器 </a:t>
            </a:r>
            <a:r>
              <a:rPr lang="zh-CN" altLang="en-US" sz="2400" dirty="0" smtClean="0"/>
              <a:t>：模</a:t>
            </a:r>
            <a:r>
              <a:rPr lang="en-US" altLang="zh-CN" sz="2400" dirty="0" smtClean="0"/>
              <a:t>N</a:t>
            </a:r>
            <a:r>
              <a:rPr lang="zh-CN" altLang="en-US" sz="2400" dirty="0" smtClean="0"/>
              <a:t>计数器进位输出端输出脉冲的频率是输入脉冲频率的 </a:t>
            </a:r>
            <a:r>
              <a:rPr lang="en-US" altLang="zh-CN" sz="2400" dirty="0" smtClean="0"/>
              <a:t>1</a:t>
            </a:r>
            <a:r>
              <a:rPr lang="zh-CN" altLang="en-US" sz="2400" dirty="0" smtClean="0"/>
              <a:t>，因此可用模</a:t>
            </a:r>
            <a:r>
              <a:rPr lang="en-US" altLang="zh-CN" sz="2400" dirty="0" smtClean="0"/>
              <a:t>N</a:t>
            </a:r>
            <a:r>
              <a:rPr lang="zh-CN" altLang="en-US" sz="2400" dirty="0" smtClean="0"/>
              <a:t>计数器组成</a:t>
            </a:r>
            <a:r>
              <a:rPr lang="en-US" altLang="zh-CN" sz="2400" dirty="0" smtClean="0"/>
              <a:t>N</a:t>
            </a:r>
            <a:r>
              <a:rPr lang="zh-CN" altLang="en-US" sz="2400" dirty="0" smtClean="0"/>
              <a:t>分频器。</a:t>
            </a:r>
            <a:endParaRPr lang="zh-CN" altLang="en-US" sz="2400" dirty="0"/>
          </a:p>
          <a:p>
            <a:endParaRPr lang="zh-CN" altLang="en-US" dirty="0"/>
          </a:p>
        </p:txBody>
      </p:sp>
      <p:sp>
        <p:nvSpPr>
          <p:cNvPr id="3" name="标题 2"/>
          <p:cNvSpPr>
            <a:spLocks noGrp="1"/>
          </p:cNvSpPr>
          <p:nvPr>
            <p:ph type="title"/>
          </p:nvPr>
        </p:nvSpPr>
        <p:spPr>
          <a:xfrm>
            <a:off x="1259632" y="260648"/>
            <a:ext cx="7488832" cy="638944"/>
          </a:xfrm>
        </p:spPr>
        <p:txBody>
          <a:bodyPr/>
          <a:lstStyle/>
          <a:p>
            <a:r>
              <a:rPr lang="en-US" altLang="zh-CN" dirty="0" smtClean="0"/>
              <a:t>6.4 </a:t>
            </a:r>
            <a:r>
              <a:rPr lang="zh-CN" altLang="en-US" dirty="0" smtClean="0"/>
              <a:t>计数器</a:t>
            </a:r>
            <a:endParaRPr lang="zh-CN" altLang="en-US" dirty="0"/>
          </a:p>
        </p:txBody>
      </p:sp>
      <p:sp>
        <p:nvSpPr>
          <p:cNvPr id="6" name="标题 2"/>
          <p:cNvSpPr txBox="1">
            <a:spLocks/>
          </p:cNvSpPr>
          <p:nvPr/>
        </p:nvSpPr>
        <p:spPr bwMode="auto">
          <a:xfrm>
            <a:off x="1259632" y="980728"/>
            <a:ext cx="7488832"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3200" b="1" kern="0" dirty="0" smtClean="0">
                <a:solidFill>
                  <a:schemeClr val="tx2"/>
                </a:solidFill>
                <a:latin typeface="+mj-lt"/>
                <a:ea typeface="+mj-ea"/>
                <a:cs typeface="+mj-cs"/>
              </a:rPr>
              <a:t>.</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集成计数器的应用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93590788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内容占位符 3"/>
          <p:cNvSpPr>
            <a:spLocks noGrp="1"/>
          </p:cNvSpPr>
          <p:nvPr>
            <p:ph idx="1"/>
          </p:nvPr>
        </p:nvSpPr>
        <p:spPr>
          <a:xfrm>
            <a:off x="467544" y="1988840"/>
            <a:ext cx="8487544" cy="4752528"/>
          </a:xfrm>
        </p:spPr>
        <p:txBody>
          <a:bodyPr/>
          <a:lstStyle/>
          <a:p>
            <a:pPr>
              <a:buSzPct val="100000"/>
              <a:buFont typeface="Wingdings" pitchFamily="2" charset="2"/>
              <a:buChar char="p"/>
            </a:pPr>
            <a:r>
              <a:rPr lang="zh-CN" altLang="en-US" sz="2800" dirty="0"/>
              <a:t>集成计数器及其应用</a:t>
            </a:r>
          </a:p>
          <a:p>
            <a:endParaRPr lang="zh-CN" altLang="en-US" dirty="0"/>
          </a:p>
        </p:txBody>
      </p:sp>
      <p:graphicFrame>
        <p:nvGraphicFramePr>
          <p:cNvPr id="10" name="Group 8"/>
          <p:cNvGraphicFramePr>
            <a:graphicFrameLocks noGrp="1"/>
          </p:cNvGraphicFramePr>
          <p:nvPr>
            <p:extLst>
              <p:ext uri="{D42A27DB-BD31-4B8C-83A1-F6EECF244321}">
                <p14:modId xmlns:p14="http://schemas.microsoft.com/office/powerpoint/2010/main" xmlns="" val="2913417696"/>
              </p:ext>
            </p:extLst>
          </p:nvPr>
        </p:nvGraphicFramePr>
        <p:xfrm>
          <a:off x="611560" y="2851149"/>
          <a:ext cx="8352928" cy="3788784"/>
        </p:xfrm>
        <a:graphic>
          <a:graphicData uri="http://schemas.openxmlformats.org/drawingml/2006/table">
            <a:tbl>
              <a:tblPr/>
              <a:tblGrid>
                <a:gridCol w="1538697">
                  <a:extLst>
                    <a:ext uri="{9D8B030D-6E8A-4147-A177-3AD203B41FA5}">
                      <a16:colId xmlns:a16="http://schemas.microsoft.com/office/drawing/2014/main" xmlns="" val="2496782680"/>
                    </a:ext>
                  </a:extLst>
                </a:gridCol>
                <a:gridCol w="6814231">
                  <a:extLst>
                    <a:ext uri="{9D8B030D-6E8A-4147-A177-3AD203B41FA5}">
                      <a16:colId xmlns:a16="http://schemas.microsoft.com/office/drawing/2014/main" xmlns="" val="2337001946"/>
                    </a:ext>
                  </a:extLst>
                </a:gridCol>
              </a:tblGrid>
              <a:tr h="38215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型号</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主要功能</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4111493879"/>
                  </a:ext>
                </a:extLst>
              </a:tr>
              <a:tr h="36275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hlink"/>
                          </a:solidFill>
                          <a:effectLst/>
                          <a:latin typeface="Arial" panose="020B0604020202020204" pitchFamily="34" charset="0"/>
                          <a:ea typeface="宋体" panose="02010600030101010101" pitchFamily="2" charset="-122"/>
                        </a:rPr>
                        <a:t>74161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异步清零”，“同步置数”的同步模</a:t>
                      </a: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16</a:t>
                      </a: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加法计数器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364232190"/>
                  </a:ext>
                </a:extLst>
              </a:tr>
              <a:tr h="38215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hlinkClick r:id="rId2" action="ppaction://hlinksldjump"/>
                        </a:rPr>
                        <a:t>74163</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同步清零”，其余同</a:t>
                      </a: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74161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514575922"/>
                  </a:ext>
                </a:extLst>
              </a:tr>
              <a:tr h="38215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74LS191</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可“异步置数”的单时钟同步</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16</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进制加</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减计数器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146115869"/>
                  </a:ext>
                </a:extLst>
              </a:tr>
              <a:tr h="36176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74LS193</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可“异步清零”，“异步置数”的双时钟同步</a:t>
                      </a: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16</a:t>
                      </a: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进制加</a:t>
                      </a: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减计数器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805347612"/>
                  </a:ext>
                </a:extLst>
              </a:tr>
              <a:tr h="38215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hlinkClick r:id="rId3" action="ppaction://hlinksldjump"/>
                        </a:rPr>
                        <a:t>74160</a:t>
                      </a:r>
                      <a:endPar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同步模</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计数器，其余同</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74161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223203229"/>
                  </a:ext>
                </a:extLst>
              </a:tr>
              <a:tr h="38215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74190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同步</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10</a:t>
                      </a:r>
                      <a:r>
                        <a:rPr kumimoji="0" lang="zh-CN" altLang="en-US"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进制计数器，其余同</a:t>
                      </a: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74191</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08990613"/>
                  </a:ext>
                </a:extLst>
              </a:tr>
              <a:tr h="38215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74192</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模</a:t>
                      </a: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10</a:t>
                      </a: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可逆计数器，其余同</a:t>
                      </a: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74193</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2260695972"/>
                  </a:ext>
                </a:extLst>
              </a:tr>
              <a:tr h="38215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54/74LS196</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可“异步清零”，“同步置数”的二</a:t>
                      </a: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五</a:t>
                      </a: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十进制同步计数器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0298823"/>
                  </a:ext>
                </a:extLst>
              </a:tr>
              <a:tr h="382158">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1800" b="1" i="0" u="none" strike="noStrike" cap="none" normalizeH="0" baseline="0" smtClean="0">
                          <a:ln>
                            <a:noFill/>
                          </a:ln>
                          <a:solidFill>
                            <a:schemeClr val="hlink"/>
                          </a:solidFill>
                          <a:effectLst/>
                          <a:latin typeface="Arial" panose="020B0604020202020204" pitchFamily="34" charset="0"/>
                          <a:ea typeface="宋体" panose="02010600030101010101" pitchFamily="2" charset="-122"/>
                        </a:rPr>
                        <a:t>74LS290</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二</a:t>
                      </a: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五</a:t>
                      </a:r>
                      <a:r>
                        <a:rPr kumimoji="0" lang="en-US" altLang="zh-CN"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a:t>
                      </a:r>
                      <a:r>
                        <a:rPr kumimoji="0" lang="zh-CN" altLang="en-US" sz="18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十进制异步计数器</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275362339"/>
                  </a:ext>
                </a:extLst>
              </a:tr>
            </a:tbl>
          </a:graphicData>
        </a:graphic>
      </p:graphicFrame>
      <p:sp>
        <p:nvSpPr>
          <p:cNvPr id="3" name="标题 2"/>
          <p:cNvSpPr>
            <a:spLocks noGrp="1"/>
          </p:cNvSpPr>
          <p:nvPr>
            <p:ph type="title"/>
          </p:nvPr>
        </p:nvSpPr>
        <p:spPr>
          <a:xfrm>
            <a:off x="1259632" y="260648"/>
            <a:ext cx="7488832" cy="638944"/>
          </a:xfrm>
        </p:spPr>
        <p:txBody>
          <a:bodyPr/>
          <a:lstStyle/>
          <a:p>
            <a:r>
              <a:rPr lang="en-US" altLang="zh-CN" dirty="0" smtClean="0"/>
              <a:t>6.4 </a:t>
            </a:r>
            <a:r>
              <a:rPr lang="zh-CN" altLang="en-US" dirty="0" smtClean="0"/>
              <a:t>计数器</a:t>
            </a:r>
            <a:endParaRPr lang="zh-CN" altLang="en-US" dirty="0"/>
          </a:p>
        </p:txBody>
      </p:sp>
      <p:sp>
        <p:nvSpPr>
          <p:cNvPr id="9" name="Text Box 7"/>
          <p:cNvSpPr txBox="1">
            <a:spLocks noChangeArrowheads="1"/>
          </p:cNvSpPr>
          <p:nvPr/>
        </p:nvSpPr>
        <p:spPr bwMode="auto">
          <a:xfrm>
            <a:off x="1763688" y="2420888"/>
            <a:ext cx="5256584"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b="1" dirty="0"/>
              <a:t>下表比较了几种常用的集成计数器的主要功能：</a:t>
            </a:r>
          </a:p>
        </p:txBody>
      </p:sp>
      <p:sp>
        <p:nvSpPr>
          <p:cNvPr id="6" name="标题 2"/>
          <p:cNvSpPr txBox="1">
            <a:spLocks/>
          </p:cNvSpPr>
          <p:nvPr/>
        </p:nvSpPr>
        <p:spPr bwMode="auto">
          <a:xfrm>
            <a:off x="1259632" y="980728"/>
            <a:ext cx="7488832"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6.4</a:t>
            </a:r>
            <a:r>
              <a:rPr kumimoji="1" lang="en-US" altLang="zh-CN" sz="3200" b="1" kern="0" dirty="0" smtClean="0">
                <a:solidFill>
                  <a:schemeClr val="tx2"/>
                </a:solidFill>
                <a:latin typeface="+mj-lt"/>
                <a:ea typeface="+mj-ea"/>
                <a:cs typeface="+mj-cs"/>
              </a:rPr>
              <a:t>.</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5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集成计数器的应用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935907886"/>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187624" y="1124744"/>
            <a:ext cx="7560840" cy="566936"/>
          </a:xfrm>
        </p:spPr>
        <p:txBody>
          <a:bodyPr/>
          <a:lstStyle/>
          <a:p>
            <a:r>
              <a:rPr lang="en-US" altLang="zh-CN" dirty="0" smtClean="0"/>
              <a:t>6.5 </a:t>
            </a:r>
            <a:r>
              <a:rPr lang="zh-CN" altLang="en-US" dirty="0" smtClean="0"/>
              <a:t>寄存器</a:t>
            </a:r>
            <a:endParaRPr lang="zh-CN" altLang="en-US" dirty="0"/>
          </a:p>
        </p:txBody>
      </p:sp>
      <p:sp>
        <p:nvSpPr>
          <p:cNvPr id="4" name="内容占位符 3"/>
          <p:cNvSpPr>
            <a:spLocks noGrp="1"/>
          </p:cNvSpPr>
          <p:nvPr>
            <p:ph idx="1"/>
          </p:nvPr>
        </p:nvSpPr>
        <p:spPr>
          <a:xfrm>
            <a:off x="467544" y="1988840"/>
            <a:ext cx="8352928" cy="4104456"/>
          </a:xfrm>
        </p:spPr>
        <p:txBody>
          <a:bodyPr/>
          <a:lstStyle/>
          <a:p>
            <a:pPr>
              <a:lnSpc>
                <a:spcPct val="100000"/>
              </a:lnSpc>
              <a:spcBef>
                <a:spcPts val="600"/>
              </a:spcBef>
              <a:buSzPct val="100000"/>
              <a:buFont typeface="Wingdings" pitchFamily="2" charset="2"/>
              <a:buChar char="p"/>
            </a:pPr>
            <a:r>
              <a:rPr lang="zh-CN" altLang="en-US" sz="2800" dirty="0" smtClean="0"/>
              <a:t>寄存器（</a:t>
            </a:r>
            <a:r>
              <a:rPr lang="en-US" altLang="zh-CN" sz="2800" dirty="0"/>
              <a:t>Register </a:t>
            </a:r>
            <a:r>
              <a:rPr lang="zh-CN" altLang="en-US" sz="2800" dirty="0" smtClean="0"/>
              <a:t>）</a:t>
            </a:r>
            <a:endParaRPr lang="en-US" altLang="zh-CN" sz="2800" dirty="0" smtClean="0"/>
          </a:p>
          <a:p>
            <a:pPr lvl="1">
              <a:lnSpc>
                <a:spcPct val="100000"/>
              </a:lnSpc>
              <a:spcBef>
                <a:spcPts val="600"/>
              </a:spcBef>
              <a:buClr>
                <a:srgbClr val="FF0000"/>
              </a:buClr>
              <a:buSzPct val="100000"/>
            </a:pPr>
            <a:r>
              <a:rPr lang="zh-CN" altLang="en-US" sz="2600" dirty="0" smtClean="0">
                <a:solidFill>
                  <a:srgbClr val="FF0000"/>
                </a:solidFill>
              </a:rPr>
              <a:t>功能</a:t>
            </a:r>
            <a:r>
              <a:rPr lang="zh-CN" altLang="en-US" sz="2600" dirty="0"/>
              <a:t>：存储二进制代码。</a:t>
            </a:r>
          </a:p>
          <a:p>
            <a:pPr lvl="1">
              <a:lnSpc>
                <a:spcPct val="100000"/>
              </a:lnSpc>
              <a:spcBef>
                <a:spcPts val="600"/>
              </a:spcBef>
              <a:buClr>
                <a:srgbClr val="FF0000"/>
              </a:buClr>
              <a:buSzPct val="100000"/>
            </a:pPr>
            <a:r>
              <a:rPr lang="zh-CN" altLang="en-US" sz="2600" dirty="0" smtClean="0">
                <a:solidFill>
                  <a:srgbClr val="FF0000"/>
                </a:solidFill>
              </a:rPr>
              <a:t>组成</a:t>
            </a:r>
            <a:r>
              <a:rPr lang="zh-CN" altLang="en-US" sz="2600" dirty="0"/>
              <a:t>：由具有存储功能的触发器构成。另外，寄存器还应有执行数据接收和清除命令的控制电路，一般由门电路构成。</a:t>
            </a:r>
          </a:p>
          <a:p>
            <a:pPr lvl="1">
              <a:lnSpc>
                <a:spcPct val="100000"/>
              </a:lnSpc>
              <a:spcBef>
                <a:spcPts val="600"/>
              </a:spcBef>
              <a:buClr>
                <a:srgbClr val="FF0000"/>
              </a:buClr>
              <a:buSzPct val="100000"/>
            </a:pPr>
            <a:r>
              <a:rPr lang="zh-CN" altLang="en-US" sz="2600" dirty="0" smtClean="0">
                <a:solidFill>
                  <a:srgbClr val="FF0000"/>
                </a:solidFill>
              </a:rPr>
              <a:t>分类</a:t>
            </a:r>
            <a:r>
              <a:rPr lang="zh-CN" altLang="en-US" sz="2600" dirty="0" smtClean="0"/>
              <a:t>：按</a:t>
            </a:r>
            <a:r>
              <a:rPr lang="zh-CN" altLang="en-US" sz="2600" dirty="0"/>
              <a:t>接收数码的方式不同，寄存器有</a:t>
            </a:r>
            <a:r>
              <a:rPr lang="zh-CN" altLang="en-US" sz="2600" dirty="0">
                <a:solidFill>
                  <a:srgbClr val="0000CC"/>
                </a:solidFill>
              </a:rPr>
              <a:t>双拍工作方式</a:t>
            </a:r>
            <a:r>
              <a:rPr lang="zh-CN" altLang="en-US" sz="2600" dirty="0"/>
              <a:t>和</a:t>
            </a:r>
            <a:r>
              <a:rPr lang="zh-CN" altLang="en-US" sz="2600" dirty="0">
                <a:solidFill>
                  <a:srgbClr val="0000CC"/>
                </a:solidFill>
              </a:rPr>
              <a:t>单拍工作方式</a:t>
            </a:r>
            <a:r>
              <a:rPr lang="zh-CN" altLang="en-US" sz="2600" dirty="0"/>
              <a:t>两种。 </a:t>
            </a:r>
          </a:p>
        </p:txBody>
      </p:sp>
    </p:spTree>
    <p:extLst>
      <p:ext uri="{BB962C8B-B14F-4D97-AF65-F5344CB8AC3E}">
        <p14:creationId xmlns:p14="http://schemas.microsoft.com/office/powerpoint/2010/main" xmlns="" val="994825876"/>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259632" y="1124744"/>
            <a:ext cx="7488832" cy="566936"/>
          </a:xfrm>
        </p:spPr>
        <p:txBody>
          <a:bodyPr/>
          <a:lstStyle/>
          <a:p>
            <a:r>
              <a:rPr lang="en-US" altLang="zh-CN" dirty="0" smtClean="0"/>
              <a:t>6.5 </a:t>
            </a:r>
            <a:r>
              <a:rPr lang="zh-CN" altLang="en-US" dirty="0" smtClean="0"/>
              <a:t>寄存器</a:t>
            </a:r>
            <a:endParaRPr lang="zh-CN" altLang="en-US" dirty="0"/>
          </a:p>
        </p:txBody>
      </p:sp>
      <p:sp>
        <p:nvSpPr>
          <p:cNvPr id="4" name="内容占位符 3"/>
          <p:cNvSpPr>
            <a:spLocks noGrp="1"/>
          </p:cNvSpPr>
          <p:nvPr>
            <p:ph idx="1"/>
          </p:nvPr>
        </p:nvSpPr>
        <p:spPr/>
        <p:txBody>
          <a:bodyPr/>
          <a:lstStyle/>
          <a:p>
            <a:pPr marL="400050" lvl="1" indent="0">
              <a:buNone/>
            </a:pPr>
            <a:r>
              <a:rPr lang="zh-CN" altLang="en-US" sz="2400" dirty="0" smtClean="0"/>
              <a:t>（</a:t>
            </a:r>
            <a:r>
              <a:rPr lang="en-US" altLang="zh-CN" sz="2400" dirty="0" smtClean="0"/>
              <a:t>1</a:t>
            </a:r>
            <a:r>
              <a:rPr lang="zh-CN" altLang="en-US" sz="2400" dirty="0" smtClean="0"/>
              <a:t>）双</a:t>
            </a:r>
            <a:r>
              <a:rPr lang="zh-CN" altLang="en-US" sz="2400" dirty="0"/>
              <a:t>拍工作方式</a:t>
            </a:r>
          </a:p>
        </p:txBody>
      </p:sp>
      <p:sp>
        <p:nvSpPr>
          <p:cNvPr id="5" name="Text Box 6"/>
          <p:cNvSpPr txBox="1">
            <a:spLocks noChangeArrowheads="1"/>
          </p:cNvSpPr>
          <p:nvPr/>
        </p:nvSpPr>
        <p:spPr bwMode="auto">
          <a:xfrm>
            <a:off x="2699792" y="5733256"/>
            <a:ext cx="4104456"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t>图</a:t>
            </a:r>
            <a:r>
              <a:rPr lang="en-US" altLang="zh-CN" sz="1600" b="1" dirty="0" smtClean="0"/>
              <a:t>    </a:t>
            </a:r>
            <a:r>
              <a:rPr lang="zh-CN" altLang="en-US" sz="1600" b="1" dirty="0"/>
              <a:t>寄存器双拍工作方式示意图</a:t>
            </a:r>
          </a:p>
        </p:txBody>
      </p:sp>
      <p:sp>
        <p:nvSpPr>
          <p:cNvPr id="6" name="Text Box 7"/>
          <p:cNvSpPr txBox="1">
            <a:spLocks noChangeArrowheads="1"/>
          </p:cNvSpPr>
          <p:nvPr/>
        </p:nvSpPr>
        <p:spPr bwMode="auto">
          <a:xfrm>
            <a:off x="1115616" y="6021288"/>
            <a:ext cx="7122425" cy="7232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ts val="600"/>
              </a:spcBef>
            </a:pPr>
            <a:r>
              <a:rPr lang="zh-CN" altLang="en-US" b="1" dirty="0" smtClean="0">
                <a:solidFill>
                  <a:srgbClr val="0000CC"/>
                </a:solidFill>
              </a:rPr>
              <a:t>优点</a:t>
            </a:r>
            <a:r>
              <a:rPr lang="zh-CN" altLang="en-US" b="1" dirty="0"/>
              <a:t>：电路简单；</a:t>
            </a:r>
          </a:p>
          <a:p>
            <a:pPr>
              <a:spcBef>
                <a:spcPts val="600"/>
              </a:spcBef>
            </a:pPr>
            <a:r>
              <a:rPr lang="zh-CN" altLang="en-US" b="1" dirty="0" smtClean="0">
                <a:solidFill>
                  <a:srgbClr val="0000CC"/>
                </a:solidFill>
              </a:rPr>
              <a:t>缺点</a:t>
            </a:r>
            <a:r>
              <a:rPr lang="zh-CN" altLang="en-US" b="1" dirty="0"/>
              <a:t>：每次接收数据必须给</a:t>
            </a:r>
            <a:r>
              <a:rPr lang="zh-CN" altLang="en-US" b="1" dirty="0">
                <a:solidFill>
                  <a:srgbClr val="FF0000"/>
                </a:solidFill>
              </a:rPr>
              <a:t>两个控制脉冲</a:t>
            </a:r>
            <a:r>
              <a:rPr lang="zh-CN" altLang="en-US" b="1" dirty="0"/>
              <a:t>，限制了电路的工作速度。</a:t>
            </a:r>
          </a:p>
        </p:txBody>
      </p:sp>
      <p:pic>
        <p:nvPicPr>
          <p:cNvPr id="7" name="Picture 8" descr="5-5-34"/>
          <p:cNvPicPr>
            <a:picLocks noChangeAspect="1" noChangeArrowheads="1"/>
          </p:cNvPicPr>
          <p:nvPr/>
        </p:nvPicPr>
        <p:blipFill>
          <a:blip r:embed="rId2" cstate="print">
            <a:clrChange>
              <a:clrFrom>
                <a:srgbClr val="F4F5ED"/>
              </a:clrFrom>
              <a:clrTo>
                <a:srgbClr val="F4F5ED">
                  <a:alpha val="0"/>
                </a:srgbClr>
              </a:clrTo>
            </a:clrChange>
            <a:lum bright="-6000" contrast="48000"/>
            <a:extLst>
              <a:ext uri="{28A0092B-C50C-407E-A947-70E740481C1C}">
                <a14:useLocalDpi xmlns:a14="http://schemas.microsoft.com/office/drawing/2010/main" xmlns="" val="0"/>
              </a:ext>
            </a:extLst>
          </a:blip>
          <a:srcRect/>
          <a:stretch>
            <a:fillRect/>
          </a:stretch>
        </p:blipFill>
        <p:spPr bwMode="auto">
          <a:xfrm>
            <a:off x="1403648" y="2384011"/>
            <a:ext cx="6840760" cy="3364741"/>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638142072"/>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187624" y="1052736"/>
            <a:ext cx="7632848" cy="638944"/>
          </a:xfrm>
        </p:spPr>
        <p:txBody>
          <a:bodyPr/>
          <a:lstStyle/>
          <a:p>
            <a:r>
              <a:rPr lang="en-US" altLang="zh-CN" dirty="0" smtClean="0"/>
              <a:t>6.5 </a:t>
            </a:r>
            <a:r>
              <a:rPr lang="zh-CN" altLang="en-US" dirty="0" smtClean="0"/>
              <a:t>寄存器</a:t>
            </a:r>
            <a:endParaRPr lang="zh-CN" altLang="en-US" dirty="0"/>
          </a:p>
        </p:txBody>
      </p:sp>
      <p:sp>
        <p:nvSpPr>
          <p:cNvPr id="4" name="内容占位符 3"/>
          <p:cNvSpPr>
            <a:spLocks noGrp="1"/>
          </p:cNvSpPr>
          <p:nvPr>
            <p:ph idx="1"/>
          </p:nvPr>
        </p:nvSpPr>
        <p:spPr/>
        <p:txBody>
          <a:bodyPr/>
          <a:lstStyle/>
          <a:p>
            <a:pPr marL="457200" lvl="1" indent="0">
              <a:buNone/>
            </a:pPr>
            <a:r>
              <a:rPr lang="zh-CN" altLang="en-US" dirty="0" smtClean="0"/>
              <a:t>（</a:t>
            </a:r>
            <a:r>
              <a:rPr lang="en-US" altLang="zh-CN" dirty="0" smtClean="0"/>
              <a:t>2</a:t>
            </a:r>
            <a:r>
              <a:rPr lang="zh-CN" altLang="en-US" dirty="0" smtClean="0"/>
              <a:t>）单</a:t>
            </a:r>
            <a:r>
              <a:rPr lang="zh-CN" altLang="en-US" dirty="0"/>
              <a:t>拍工作方式的寄存器</a:t>
            </a:r>
          </a:p>
        </p:txBody>
      </p:sp>
      <p:sp>
        <p:nvSpPr>
          <p:cNvPr id="5" name="Text Box 6"/>
          <p:cNvSpPr txBox="1">
            <a:spLocks noChangeArrowheads="1"/>
          </p:cNvSpPr>
          <p:nvPr/>
        </p:nvSpPr>
        <p:spPr bwMode="auto">
          <a:xfrm>
            <a:off x="2627784" y="5805264"/>
            <a:ext cx="4031976"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t>图</a:t>
            </a:r>
            <a:r>
              <a:rPr lang="en-US" altLang="zh-CN" sz="1600" b="1" dirty="0" smtClean="0"/>
              <a:t>   </a:t>
            </a:r>
            <a:r>
              <a:rPr lang="zh-CN" altLang="en-US" sz="1600" b="1" dirty="0"/>
              <a:t>寄存器单拍工作方式示意图</a:t>
            </a:r>
          </a:p>
        </p:txBody>
      </p:sp>
      <p:pic>
        <p:nvPicPr>
          <p:cNvPr id="6" name="Picture 7" descr="5-5-35"/>
          <p:cNvPicPr>
            <a:picLocks noChangeAspect="1" noChangeArrowheads="1"/>
          </p:cNvPicPr>
          <p:nvPr/>
        </p:nvPicPr>
        <p:blipFill>
          <a:blip r:embed="rId2" cstate="print">
            <a:clrChange>
              <a:clrFrom>
                <a:srgbClr val="EDEEE8"/>
              </a:clrFrom>
              <a:clrTo>
                <a:srgbClr val="EDEEE8">
                  <a:alpha val="0"/>
                </a:srgbClr>
              </a:clrTo>
            </a:clrChange>
            <a:lum bright="-6000" contrast="48000"/>
            <a:extLst>
              <a:ext uri="{28A0092B-C50C-407E-A947-70E740481C1C}">
                <a14:useLocalDpi xmlns:a14="http://schemas.microsoft.com/office/drawing/2010/main" xmlns="" val="0"/>
              </a:ext>
            </a:extLst>
          </a:blip>
          <a:srcRect/>
          <a:stretch>
            <a:fillRect/>
          </a:stretch>
        </p:blipFill>
        <p:spPr bwMode="auto">
          <a:xfrm>
            <a:off x="1309552" y="2348880"/>
            <a:ext cx="7222888" cy="3382984"/>
          </a:xfrm>
          <a:prstGeom prst="rect">
            <a:avLst/>
          </a:prstGeom>
          <a:noFill/>
          <a:extLst>
            <a:ext uri="{909E8E84-426E-40DD-AFC4-6F175D3DCCD1}">
              <a14:hiddenFill xmlns:a14="http://schemas.microsoft.com/office/drawing/2010/main" xmlns="">
                <a:solidFill>
                  <a:srgbClr val="FFFFFF"/>
                </a:solidFill>
              </a14:hiddenFill>
            </a:ext>
          </a:extLst>
        </p:spPr>
      </p:pic>
      <p:sp>
        <p:nvSpPr>
          <p:cNvPr id="8" name="Text Box 9"/>
          <p:cNvSpPr txBox="1">
            <a:spLocks noChangeArrowheads="1"/>
          </p:cNvSpPr>
          <p:nvPr/>
        </p:nvSpPr>
        <p:spPr bwMode="auto">
          <a:xfrm>
            <a:off x="5436096" y="1484784"/>
            <a:ext cx="3421385" cy="784830"/>
          </a:xfrm>
          <a:prstGeom prst="rect">
            <a:avLst/>
          </a:prstGeom>
          <a:solidFill>
            <a:srgbClr val="FFFF00"/>
          </a:solid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smtClean="0">
                <a:solidFill>
                  <a:srgbClr val="FF0000"/>
                </a:solidFill>
              </a:rPr>
              <a:t>优点</a:t>
            </a:r>
            <a:r>
              <a:rPr lang="zh-CN" altLang="en-US" b="1" dirty="0">
                <a:solidFill>
                  <a:srgbClr val="FF0000"/>
                </a:solidFill>
              </a:rPr>
              <a:t>：电路的工作速度较快；</a:t>
            </a:r>
          </a:p>
          <a:p>
            <a:pPr>
              <a:spcBef>
                <a:spcPct val="50000"/>
              </a:spcBef>
            </a:pPr>
            <a:r>
              <a:rPr lang="zh-CN" altLang="en-US" b="1" dirty="0" smtClean="0">
                <a:solidFill>
                  <a:srgbClr val="FF0000"/>
                </a:solidFill>
              </a:rPr>
              <a:t>缺点</a:t>
            </a:r>
            <a:r>
              <a:rPr lang="zh-CN" altLang="en-US" b="1" dirty="0">
                <a:solidFill>
                  <a:srgbClr val="FF0000"/>
                </a:solidFill>
              </a:rPr>
              <a:t>：电路较复杂。</a:t>
            </a:r>
          </a:p>
        </p:txBody>
      </p:sp>
    </p:spTree>
    <p:extLst>
      <p:ext uri="{BB962C8B-B14F-4D97-AF65-F5344CB8AC3E}">
        <p14:creationId xmlns:p14="http://schemas.microsoft.com/office/powerpoint/2010/main" xmlns="" val="661366910"/>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403648" y="332656"/>
            <a:ext cx="7560840" cy="638944"/>
          </a:xfrm>
        </p:spPr>
        <p:txBody>
          <a:bodyPr/>
          <a:lstStyle/>
          <a:p>
            <a:r>
              <a:rPr lang="en-US" altLang="zh-CN" dirty="0" smtClean="0"/>
              <a:t>6.5 </a:t>
            </a:r>
            <a:r>
              <a:rPr lang="zh-CN" altLang="en-US" dirty="0" smtClean="0"/>
              <a:t>寄存器</a:t>
            </a:r>
            <a:endParaRPr lang="zh-CN" altLang="en-US" dirty="0"/>
          </a:p>
        </p:txBody>
      </p:sp>
      <p:sp>
        <p:nvSpPr>
          <p:cNvPr id="4" name="内容占位符 3"/>
          <p:cNvSpPr>
            <a:spLocks noGrp="1"/>
          </p:cNvSpPr>
          <p:nvPr>
            <p:ph idx="1"/>
          </p:nvPr>
        </p:nvSpPr>
        <p:spPr>
          <a:xfrm>
            <a:off x="467544" y="1988840"/>
            <a:ext cx="7992888" cy="4608512"/>
          </a:xfrm>
        </p:spPr>
        <p:txBody>
          <a:bodyPr/>
          <a:lstStyle/>
          <a:p>
            <a:pPr marL="0" lvl="1" indent="0">
              <a:lnSpc>
                <a:spcPct val="100000"/>
              </a:lnSpc>
              <a:spcBef>
                <a:spcPts val="0"/>
              </a:spcBef>
              <a:buClr>
                <a:srgbClr val="0000CC"/>
              </a:buClr>
              <a:buSzPct val="100000"/>
              <a:buFont typeface="Wingdings" pitchFamily="2" charset="2"/>
              <a:buChar char="p"/>
            </a:pPr>
            <a:r>
              <a:rPr lang="zh-CN" altLang="en-US" sz="2800" dirty="0" smtClean="0">
                <a:solidFill>
                  <a:schemeClr val="tx2"/>
                </a:solidFill>
              </a:rPr>
              <a:t> </a:t>
            </a:r>
            <a:r>
              <a:rPr lang="zh-CN" altLang="en-US" sz="2800" dirty="0" smtClean="0"/>
              <a:t>寄存器</a:t>
            </a:r>
            <a:r>
              <a:rPr lang="en-US" altLang="zh-CN" sz="2800" dirty="0" smtClean="0"/>
              <a:t>74175</a:t>
            </a:r>
          </a:p>
          <a:p>
            <a:pPr marL="400050" lvl="2" indent="0">
              <a:lnSpc>
                <a:spcPct val="100000"/>
              </a:lnSpc>
              <a:spcBef>
                <a:spcPts val="0"/>
              </a:spcBef>
              <a:buClr>
                <a:srgbClr val="FF0000"/>
              </a:buClr>
              <a:buSzPct val="100000"/>
            </a:pPr>
            <a:r>
              <a:rPr lang="en-US" altLang="zh-CN" sz="2600" dirty="0" smtClean="0"/>
              <a:t> </a:t>
            </a:r>
            <a:r>
              <a:rPr lang="zh-CN" altLang="en-US" sz="2600" dirty="0" smtClean="0"/>
              <a:t>逻辑电路图</a:t>
            </a:r>
            <a:endParaRPr lang="zh-CN" altLang="en-US" dirty="0" smtClean="0"/>
          </a:p>
          <a:p>
            <a:pPr lvl="1">
              <a:lnSpc>
                <a:spcPct val="100000"/>
              </a:lnSpc>
              <a:spcBef>
                <a:spcPts val="600"/>
              </a:spcBef>
              <a:buClr>
                <a:srgbClr val="FF0000"/>
              </a:buClr>
              <a:buSzPct val="100000"/>
            </a:pPr>
            <a:endParaRPr lang="zh-CN" altLang="en-US" sz="2400" dirty="0"/>
          </a:p>
        </p:txBody>
      </p:sp>
      <p:sp>
        <p:nvSpPr>
          <p:cNvPr id="5" name="标题 2"/>
          <p:cNvSpPr txBox="1">
            <a:spLocks/>
          </p:cNvSpPr>
          <p:nvPr/>
        </p:nvSpPr>
        <p:spPr bwMode="auto">
          <a:xfrm>
            <a:off x="1403648" y="1124744"/>
            <a:ext cx="7560840"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寄存器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74175</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75106" name="Picture 2"/>
          <p:cNvPicPr>
            <a:picLocks noChangeAspect="1" noChangeArrowheads="1"/>
          </p:cNvPicPr>
          <p:nvPr/>
        </p:nvPicPr>
        <p:blipFill>
          <a:blip r:embed="rId2" cstate="print"/>
          <a:srcRect/>
          <a:stretch>
            <a:fillRect/>
          </a:stretch>
        </p:blipFill>
        <p:spPr bwMode="auto">
          <a:xfrm>
            <a:off x="1259631" y="2996952"/>
            <a:ext cx="7011949" cy="2808312"/>
          </a:xfrm>
          <a:prstGeom prst="rect">
            <a:avLst/>
          </a:prstGeom>
          <a:noFill/>
          <a:ln w="9525">
            <a:noFill/>
            <a:miter lim="800000"/>
            <a:headEnd/>
            <a:tailEnd/>
          </a:ln>
        </p:spPr>
      </p:pic>
    </p:spTree>
    <p:extLst>
      <p:ext uri="{BB962C8B-B14F-4D97-AF65-F5344CB8AC3E}">
        <p14:creationId xmlns:p14="http://schemas.microsoft.com/office/powerpoint/2010/main" xmlns="" val="1345311741"/>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403648" y="332656"/>
            <a:ext cx="7560840" cy="638944"/>
          </a:xfrm>
        </p:spPr>
        <p:txBody>
          <a:bodyPr/>
          <a:lstStyle/>
          <a:p>
            <a:r>
              <a:rPr lang="en-US" altLang="zh-CN" dirty="0" smtClean="0"/>
              <a:t>6.5 </a:t>
            </a:r>
            <a:r>
              <a:rPr lang="zh-CN" altLang="en-US" dirty="0" smtClean="0"/>
              <a:t>寄存器</a:t>
            </a:r>
            <a:endParaRPr lang="zh-CN" altLang="en-US" dirty="0"/>
          </a:p>
        </p:txBody>
      </p:sp>
      <p:sp>
        <p:nvSpPr>
          <p:cNvPr id="4" name="内容占位符 3"/>
          <p:cNvSpPr>
            <a:spLocks noGrp="1"/>
          </p:cNvSpPr>
          <p:nvPr>
            <p:ph idx="1"/>
          </p:nvPr>
        </p:nvSpPr>
        <p:spPr>
          <a:xfrm>
            <a:off x="467544" y="1988840"/>
            <a:ext cx="7992888" cy="4608512"/>
          </a:xfrm>
        </p:spPr>
        <p:txBody>
          <a:bodyPr/>
          <a:lstStyle/>
          <a:p>
            <a:pPr marL="0" lvl="1" indent="0">
              <a:lnSpc>
                <a:spcPct val="100000"/>
              </a:lnSpc>
              <a:spcBef>
                <a:spcPts val="0"/>
              </a:spcBef>
              <a:buClr>
                <a:srgbClr val="0000CC"/>
              </a:buClr>
              <a:buSzPct val="100000"/>
              <a:buFont typeface="Wingdings" pitchFamily="2" charset="2"/>
              <a:buChar char="p"/>
            </a:pPr>
            <a:r>
              <a:rPr lang="zh-CN" altLang="en-US" sz="2800" dirty="0" smtClean="0">
                <a:solidFill>
                  <a:schemeClr val="tx2"/>
                </a:solidFill>
              </a:rPr>
              <a:t> </a:t>
            </a:r>
            <a:r>
              <a:rPr lang="zh-CN" altLang="en-US" sz="2800" dirty="0" smtClean="0"/>
              <a:t>寄存器</a:t>
            </a:r>
            <a:r>
              <a:rPr lang="en-US" altLang="zh-CN" sz="2800" dirty="0" smtClean="0"/>
              <a:t>74175</a:t>
            </a:r>
          </a:p>
          <a:p>
            <a:pPr marL="400050" lvl="2" indent="0">
              <a:lnSpc>
                <a:spcPct val="100000"/>
              </a:lnSpc>
              <a:spcBef>
                <a:spcPts val="0"/>
              </a:spcBef>
              <a:buClr>
                <a:srgbClr val="FF0000"/>
              </a:buClr>
              <a:buSzPct val="100000"/>
            </a:pPr>
            <a:r>
              <a:rPr lang="en-US" altLang="zh-CN" sz="2600" dirty="0" smtClean="0"/>
              <a:t> </a:t>
            </a:r>
            <a:r>
              <a:rPr lang="zh-CN" altLang="en-US" sz="2400" dirty="0" smtClean="0"/>
              <a:t>管脚图</a:t>
            </a:r>
          </a:p>
          <a:p>
            <a:pPr lvl="1">
              <a:lnSpc>
                <a:spcPct val="100000"/>
              </a:lnSpc>
              <a:spcBef>
                <a:spcPts val="600"/>
              </a:spcBef>
              <a:buClr>
                <a:srgbClr val="FF0000"/>
              </a:buClr>
              <a:buSzPct val="100000"/>
            </a:pPr>
            <a:endParaRPr lang="zh-CN" altLang="en-US" sz="2400" dirty="0"/>
          </a:p>
        </p:txBody>
      </p:sp>
      <p:sp>
        <p:nvSpPr>
          <p:cNvPr id="5" name="标题 2"/>
          <p:cNvSpPr txBox="1">
            <a:spLocks/>
          </p:cNvSpPr>
          <p:nvPr/>
        </p:nvSpPr>
        <p:spPr bwMode="auto">
          <a:xfrm>
            <a:off x="1403648" y="1124744"/>
            <a:ext cx="7560840"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寄存器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74175</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76130" name="Picture 2"/>
          <p:cNvPicPr>
            <a:picLocks noChangeAspect="1" noChangeArrowheads="1"/>
          </p:cNvPicPr>
          <p:nvPr/>
        </p:nvPicPr>
        <p:blipFill>
          <a:blip r:embed="rId2" cstate="print"/>
          <a:srcRect/>
          <a:stretch>
            <a:fillRect/>
          </a:stretch>
        </p:blipFill>
        <p:spPr bwMode="auto">
          <a:xfrm>
            <a:off x="899592" y="3140968"/>
            <a:ext cx="7569787" cy="3024336"/>
          </a:xfrm>
          <a:prstGeom prst="rect">
            <a:avLst/>
          </a:prstGeom>
          <a:noFill/>
          <a:ln w="9525">
            <a:noFill/>
            <a:miter lim="800000"/>
            <a:headEnd/>
            <a:tailEnd/>
          </a:ln>
        </p:spPr>
      </p:pic>
    </p:spTree>
    <p:extLst>
      <p:ext uri="{BB962C8B-B14F-4D97-AF65-F5344CB8AC3E}">
        <p14:creationId xmlns:p14="http://schemas.microsoft.com/office/powerpoint/2010/main" xmlns="" val="1345311741"/>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403648" y="332656"/>
            <a:ext cx="7560840" cy="638944"/>
          </a:xfrm>
        </p:spPr>
        <p:txBody>
          <a:bodyPr/>
          <a:lstStyle/>
          <a:p>
            <a:r>
              <a:rPr lang="en-US" altLang="zh-CN" dirty="0" smtClean="0"/>
              <a:t>6.5 </a:t>
            </a:r>
            <a:r>
              <a:rPr lang="zh-CN" altLang="en-US" dirty="0" smtClean="0"/>
              <a:t>寄存器</a:t>
            </a:r>
            <a:endParaRPr lang="zh-CN" altLang="en-US" dirty="0"/>
          </a:p>
        </p:txBody>
      </p:sp>
      <p:sp>
        <p:nvSpPr>
          <p:cNvPr id="4" name="内容占位符 3"/>
          <p:cNvSpPr>
            <a:spLocks noGrp="1"/>
          </p:cNvSpPr>
          <p:nvPr>
            <p:ph idx="1"/>
          </p:nvPr>
        </p:nvSpPr>
        <p:spPr>
          <a:xfrm>
            <a:off x="467544" y="1988840"/>
            <a:ext cx="7992888" cy="4608512"/>
          </a:xfrm>
        </p:spPr>
        <p:txBody>
          <a:bodyPr/>
          <a:lstStyle/>
          <a:p>
            <a:pPr marL="0" lvl="1" indent="0">
              <a:lnSpc>
                <a:spcPct val="100000"/>
              </a:lnSpc>
              <a:spcBef>
                <a:spcPts val="0"/>
              </a:spcBef>
              <a:buClr>
                <a:srgbClr val="0000CC"/>
              </a:buClr>
              <a:buSzPct val="100000"/>
              <a:buFont typeface="Wingdings" pitchFamily="2" charset="2"/>
              <a:buChar char="p"/>
            </a:pPr>
            <a:r>
              <a:rPr lang="zh-CN" altLang="en-US" sz="2800" dirty="0" smtClean="0">
                <a:solidFill>
                  <a:schemeClr val="tx2"/>
                </a:solidFill>
              </a:rPr>
              <a:t> </a:t>
            </a:r>
            <a:r>
              <a:rPr lang="zh-CN" altLang="en-US" sz="2800" dirty="0" smtClean="0"/>
              <a:t>寄存器</a:t>
            </a:r>
            <a:r>
              <a:rPr lang="en-US" altLang="zh-CN" sz="2800" dirty="0" smtClean="0"/>
              <a:t>74175</a:t>
            </a:r>
          </a:p>
          <a:p>
            <a:pPr marL="400050" lvl="2" indent="0">
              <a:lnSpc>
                <a:spcPct val="100000"/>
              </a:lnSpc>
              <a:spcBef>
                <a:spcPts val="0"/>
              </a:spcBef>
              <a:buClr>
                <a:srgbClr val="FF0000"/>
              </a:buClr>
              <a:buSzPct val="100000"/>
            </a:pPr>
            <a:r>
              <a:rPr lang="en-US" altLang="zh-CN" sz="2600" dirty="0" smtClean="0"/>
              <a:t> </a:t>
            </a:r>
            <a:r>
              <a:rPr lang="zh-CN" altLang="en-US" sz="2600" dirty="0" smtClean="0"/>
              <a:t>功能表</a:t>
            </a:r>
            <a:endParaRPr lang="zh-CN" altLang="en-US" sz="2400" dirty="0" smtClean="0"/>
          </a:p>
          <a:p>
            <a:pPr lvl="1">
              <a:lnSpc>
                <a:spcPct val="100000"/>
              </a:lnSpc>
              <a:spcBef>
                <a:spcPts val="600"/>
              </a:spcBef>
              <a:buClr>
                <a:srgbClr val="FF0000"/>
              </a:buClr>
              <a:buSzPct val="100000"/>
            </a:pPr>
            <a:endParaRPr lang="zh-CN" altLang="en-US" sz="2400" dirty="0"/>
          </a:p>
        </p:txBody>
      </p:sp>
      <p:sp>
        <p:nvSpPr>
          <p:cNvPr id="5" name="标题 2"/>
          <p:cNvSpPr txBox="1">
            <a:spLocks/>
          </p:cNvSpPr>
          <p:nvPr/>
        </p:nvSpPr>
        <p:spPr bwMode="auto">
          <a:xfrm>
            <a:off x="1403648" y="1124744"/>
            <a:ext cx="7560840"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6.5.1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寄存器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74175</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265217" name="Picture 1"/>
          <p:cNvPicPr>
            <a:picLocks noChangeAspect="1" noChangeArrowheads="1"/>
          </p:cNvPicPr>
          <p:nvPr/>
        </p:nvPicPr>
        <p:blipFill>
          <a:blip r:embed="rId2" cstate="print"/>
          <a:srcRect/>
          <a:stretch>
            <a:fillRect/>
          </a:stretch>
        </p:blipFill>
        <p:spPr bwMode="auto">
          <a:xfrm>
            <a:off x="467544" y="3140968"/>
            <a:ext cx="8195550" cy="2304256"/>
          </a:xfrm>
          <a:prstGeom prst="rect">
            <a:avLst/>
          </a:prstGeom>
          <a:noFill/>
          <a:ln w="9525">
            <a:noFill/>
            <a:miter lim="800000"/>
            <a:headEnd/>
            <a:tailEnd/>
          </a:ln>
        </p:spPr>
      </p:pic>
    </p:spTree>
    <p:extLst>
      <p:ext uri="{BB962C8B-B14F-4D97-AF65-F5344CB8AC3E}">
        <p14:creationId xmlns:p14="http://schemas.microsoft.com/office/powerpoint/2010/main" xmlns="" val="1345311741"/>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403648" y="332656"/>
            <a:ext cx="7560840" cy="638944"/>
          </a:xfrm>
        </p:spPr>
        <p:txBody>
          <a:bodyPr/>
          <a:lstStyle/>
          <a:p>
            <a:r>
              <a:rPr lang="en-US" altLang="zh-CN" dirty="0" smtClean="0"/>
              <a:t>6.5 </a:t>
            </a:r>
            <a:r>
              <a:rPr lang="zh-CN" altLang="en-US" dirty="0" smtClean="0"/>
              <a:t>寄存器</a:t>
            </a:r>
            <a:endParaRPr lang="zh-CN" altLang="en-US" dirty="0"/>
          </a:p>
        </p:txBody>
      </p:sp>
      <p:sp>
        <p:nvSpPr>
          <p:cNvPr id="4" name="内容占位符 3"/>
          <p:cNvSpPr>
            <a:spLocks noGrp="1"/>
          </p:cNvSpPr>
          <p:nvPr>
            <p:ph idx="1"/>
          </p:nvPr>
        </p:nvSpPr>
        <p:spPr>
          <a:xfrm>
            <a:off x="467544" y="1988840"/>
            <a:ext cx="7992888" cy="4608512"/>
          </a:xfrm>
        </p:spPr>
        <p:txBody>
          <a:bodyPr/>
          <a:lstStyle/>
          <a:p>
            <a:pPr marL="0" lvl="1" indent="0">
              <a:lnSpc>
                <a:spcPct val="100000"/>
              </a:lnSpc>
              <a:spcBef>
                <a:spcPts val="600"/>
              </a:spcBef>
              <a:buClr>
                <a:srgbClr val="0000CC"/>
              </a:buClr>
              <a:buSzPct val="100000"/>
              <a:buFont typeface="Wingdings" pitchFamily="2" charset="2"/>
              <a:buChar char="p"/>
            </a:pPr>
            <a:r>
              <a:rPr lang="zh-CN" altLang="en-US" sz="2800" dirty="0" smtClean="0"/>
              <a:t>移位寄存器（</a:t>
            </a:r>
            <a:r>
              <a:rPr lang="en-US" altLang="zh-CN" sz="2800" dirty="0" smtClean="0"/>
              <a:t>Shift-register</a:t>
            </a:r>
            <a:r>
              <a:rPr lang="zh-CN" altLang="en-US" sz="2800" dirty="0" smtClean="0"/>
              <a:t>）</a:t>
            </a:r>
            <a:endParaRPr lang="zh-CN" altLang="en-US" sz="2400" dirty="0"/>
          </a:p>
          <a:p>
            <a:pPr lvl="1">
              <a:lnSpc>
                <a:spcPct val="100000"/>
              </a:lnSpc>
              <a:spcBef>
                <a:spcPts val="600"/>
              </a:spcBef>
              <a:buClr>
                <a:srgbClr val="FF0000"/>
              </a:buClr>
              <a:buSzPct val="100000"/>
            </a:pPr>
            <a:r>
              <a:rPr lang="zh-CN" altLang="en-US" sz="2400" dirty="0" smtClean="0"/>
              <a:t>移位寄存器</a:t>
            </a:r>
            <a:r>
              <a:rPr lang="zh-CN" altLang="en-US" sz="2400" dirty="0"/>
              <a:t>除了具有</a:t>
            </a:r>
            <a:r>
              <a:rPr lang="zh-CN" altLang="en-US" sz="2400" dirty="0">
                <a:solidFill>
                  <a:srgbClr val="0000CC"/>
                </a:solidFill>
              </a:rPr>
              <a:t>存储代码</a:t>
            </a:r>
            <a:r>
              <a:rPr lang="zh-CN" altLang="en-US" sz="2400" dirty="0"/>
              <a:t>的功能，还具有</a:t>
            </a:r>
            <a:r>
              <a:rPr lang="zh-CN" altLang="en-US" sz="2400" dirty="0">
                <a:solidFill>
                  <a:srgbClr val="FF0000"/>
                </a:solidFill>
              </a:rPr>
              <a:t>移位功能</a:t>
            </a:r>
            <a:r>
              <a:rPr lang="zh-CN" altLang="en-US" sz="2400" dirty="0"/>
              <a:t>，即将存储在寄存器中的代码在</a:t>
            </a:r>
            <a:r>
              <a:rPr lang="en-US" altLang="zh-CN" sz="2400" dirty="0"/>
              <a:t>CP</a:t>
            </a:r>
            <a:r>
              <a:rPr lang="zh-CN" altLang="en-US" sz="2400" dirty="0"/>
              <a:t>作用下进行左移或右移。</a:t>
            </a:r>
          </a:p>
          <a:p>
            <a:pPr lvl="1">
              <a:lnSpc>
                <a:spcPct val="100000"/>
              </a:lnSpc>
              <a:spcBef>
                <a:spcPts val="600"/>
              </a:spcBef>
              <a:buClr>
                <a:srgbClr val="FF0000"/>
              </a:buClr>
              <a:buSzPct val="100000"/>
            </a:pPr>
            <a:r>
              <a:rPr lang="zh-CN" altLang="en-US" sz="2400" dirty="0" smtClean="0"/>
              <a:t>应用</a:t>
            </a:r>
            <a:r>
              <a:rPr lang="zh-CN" altLang="en-US" sz="2400" dirty="0"/>
              <a:t>范围：</a:t>
            </a:r>
            <a:r>
              <a:rPr lang="zh-CN" altLang="en-US" sz="2400" dirty="0">
                <a:solidFill>
                  <a:srgbClr val="0000CC"/>
                </a:solidFill>
              </a:rPr>
              <a:t>寄存代码</a:t>
            </a:r>
            <a:r>
              <a:rPr lang="zh-CN" altLang="en-US" sz="2400" dirty="0"/>
              <a:t>、实现数据的</a:t>
            </a:r>
            <a:r>
              <a:rPr lang="zh-CN" altLang="en-US" sz="2400" dirty="0">
                <a:solidFill>
                  <a:srgbClr val="0000CC"/>
                </a:solidFill>
              </a:rPr>
              <a:t>串行－并行转换</a:t>
            </a:r>
            <a:r>
              <a:rPr lang="zh-CN" altLang="en-US" sz="2400" dirty="0"/>
              <a:t>、</a:t>
            </a:r>
            <a:r>
              <a:rPr lang="zh-CN" altLang="en-US" sz="2400" dirty="0">
                <a:solidFill>
                  <a:srgbClr val="0000CC"/>
                </a:solidFill>
              </a:rPr>
              <a:t>数值运算</a:t>
            </a:r>
            <a:r>
              <a:rPr lang="zh-CN" altLang="en-US" sz="2400" dirty="0"/>
              <a:t>以及</a:t>
            </a:r>
            <a:r>
              <a:rPr lang="zh-CN" altLang="en-US" sz="2400" dirty="0">
                <a:solidFill>
                  <a:srgbClr val="0000CC"/>
                </a:solidFill>
              </a:rPr>
              <a:t>数据处理</a:t>
            </a:r>
            <a:r>
              <a:rPr lang="zh-CN" altLang="en-US" sz="2400" dirty="0"/>
              <a:t>等。</a:t>
            </a:r>
          </a:p>
        </p:txBody>
      </p:sp>
      <p:sp>
        <p:nvSpPr>
          <p:cNvPr id="5" name="标题 2"/>
          <p:cNvSpPr txBox="1">
            <a:spLocks/>
          </p:cNvSpPr>
          <p:nvPr/>
        </p:nvSpPr>
        <p:spPr bwMode="auto">
          <a:xfrm>
            <a:off x="1403648" y="1124744"/>
            <a:ext cx="7560840"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移位寄存器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345311741"/>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403648" y="332656"/>
            <a:ext cx="7416824" cy="566936"/>
          </a:xfrm>
        </p:spPr>
        <p:txBody>
          <a:bodyPr/>
          <a:lstStyle/>
          <a:p>
            <a:r>
              <a:rPr lang="en-US" altLang="zh-CN" dirty="0" smtClean="0"/>
              <a:t>6.5 </a:t>
            </a:r>
            <a:r>
              <a:rPr lang="zh-CN" altLang="en-US" dirty="0" smtClean="0"/>
              <a:t>寄存器</a:t>
            </a:r>
            <a:endParaRPr lang="zh-CN" altLang="en-US" dirty="0"/>
          </a:p>
        </p:txBody>
      </p:sp>
      <p:sp>
        <p:nvSpPr>
          <p:cNvPr id="4" name="内容占位符 3"/>
          <p:cNvSpPr>
            <a:spLocks noGrp="1"/>
          </p:cNvSpPr>
          <p:nvPr>
            <p:ph idx="1"/>
          </p:nvPr>
        </p:nvSpPr>
        <p:spPr/>
        <p:txBody>
          <a:bodyPr/>
          <a:lstStyle/>
          <a:p>
            <a:pPr marL="457200" lvl="1" indent="0">
              <a:buNone/>
            </a:pPr>
            <a:r>
              <a:rPr lang="zh-CN" altLang="en-US" sz="2400" dirty="0" smtClean="0"/>
              <a:t>（</a:t>
            </a:r>
            <a:r>
              <a:rPr lang="en-US" altLang="zh-CN" sz="2400" dirty="0" smtClean="0"/>
              <a:t>1</a:t>
            </a:r>
            <a:r>
              <a:rPr lang="zh-CN" altLang="en-US" sz="2400" dirty="0" smtClean="0"/>
              <a:t>）单向</a:t>
            </a:r>
            <a:r>
              <a:rPr lang="zh-CN" altLang="en-US" sz="2400" dirty="0"/>
              <a:t>移位寄存器</a:t>
            </a:r>
          </a:p>
          <a:p>
            <a:pPr marL="1257300" lvl="2" indent="-457200">
              <a:buSzPct val="80000"/>
              <a:buFont typeface="+mj-ea"/>
              <a:buAutoNum type="circleNumDbPlain"/>
            </a:pPr>
            <a:r>
              <a:rPr lang="zh-CN" altLang="en-US" sz="2400" dirty="0" smtClean="0"/>
              <a:t>右移</a:t>
            </a:r>
            <a:r>
              <a:rPr lang="zh-CN" altLang="en-US" sz="2400" dirty="0"/>
              <a:t>移位寄存器</a:t>
            </a:r>
          </a:p>
        </p:txBody>
      </p:sp>
      <p:grpSp>
        <p:nvGrpSpPr>
          <p:cNvPr id="2" name="Group 8"/>
          <p:cNvGrpSpPr>
            <a:grpSpLocks/>
          </p:cNvGrpSpPr>
          <p:nvPr/>
        </p:nvGrpSpPr>
        <p:grpSpPr bwMode="auto">
          <a:xfrm>
            <a:off x="1043608" y="4869160"/>
            <a:ext cx="7561262" cy="1836737"/>
            <a:chOff x="570" y="2523"/>
            <a:chExt cx="4763" cy="1157"/>
          </a:xfrm>
        </p:grpSpPr>
        <p:sp>
          <p:nvSpPr>
            <p:cNvPr id="6" name="Text Box 9"/>
            <p:cNvSpPr txBox="1">
              <a:spLocks noChangeArrowheads="1"/>
            </p:cNvSpPr>
            <p:nvPr/>
          </p:nvSpPr>
          <p:spPr bwMode="auto">
            <a:xfrm>
              <a:off x="570" y="2524"/>
              <a:ext cx="4763" cy="1156"/>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zh-CN" altLang="en-US" b="1" dirty="0"/>
                <a:t>如图分析可知：</a:t>
              </a:r>
            </a:p>
            <a:p>
              <a:pPr>
                <a:lnSpc>
                  <a:spcPct val="150000"/>
                </a:lnSpc>
                <a:spcBef>
                  <a:spcPct val="50000"/>
                </a:spcBef>
              </a:pPr>
              <a:r>
                <a:rPr lang="zh-CN" altLang="en-US" b="1" dirty="0"/>
                <a:t>总效果相当于每来一个</a:t>
              </a:r>
              <a:r>
                <a:rPr lang="en-US" altLang="zh-CN" b="1" dirty="0"/>
                <a:t>CP</a:t>
              </a:r>
              <a:r>
                <a:rPr lang="zh-CN" altLang="en-US" b="1" dirty="0"/>
                <a:t>移位寄存器中原有的代码依次右移了一位。例：若                    </a:t>
              </a:r>
              <a:r>
                <a:rPr lang="zh-CN" altLang="en-US" b="1" dirty="0" smtClean="0"/>
                <a:t>                </a:t>
              </a:r>
              <a:r>
                <a:rPr lang="zh-CN" altLang="en-US" b="1" dirty="0"/>
                <a:t>，而在</a:t>
              </a:r>
              <a:r>
                <a:rPr lang="en-US" altLang="zh-CN" b="1" dirty="0"/>
                <a:t>4</a:t>
              </a:r>
              <a:r>
                <a:rPr lang="zh-CN" altLang="en-US" b="1" dirty="0"/>
                <a:t>个</a:t>
              </a:r>
              <a:r>
                <a:rPr lang="en-US" altLang="zh-CN" b="1" dirty="0"/>
                <a:t>CP</a:t>
              </a:r>
              <a:r>
                <a:rPr lang="zh-CN" altLang="en-US" b="1" dirty="0"/>
                <a:t>内输入的代码依次为</a:t>
              </a:r>
              <a:r>
                <a:rPr lang="en-US" altLang="zh-CN" b="1" dirty="0"/>
                <a:t>1011</a:t>
              </a:r>
              <a:r>
                <a:rPr lang="zh-CN" altLang="en-US" b="1" dirty="0"/>
                <a:t>，试分析右移情况。</a:t>
              </a:r>
            </a:p>
          </p:txBody>
        </p:sp>
        <p:graphicFrame>
          <p:nvGraphicFramePr>
            <p:cNvPr id="7" name="Object 10"/>
            <p:cNvGraphicFramePr>
              <a:graphicFrameLocks noChangeAspect="1"/>
            </p:cNvGraphicFramePr>
            <p:nvPr>
              <p:extLst>
                <p:ext uri="{D42A27DB-BD31-4B8C-83A1-F6EECF244321}">
                  <p14:modId xmlns="" xmlns:p14="http://schemas.microsoft.com/office/powerpoint/2010/main" val="1700965153"/>
                </p:ext>
              </p:extLst>
            </p:nvPr>
          </p:nvGraphicFramePr>
          <p:xfrm>
            <a:off x="1701" y="2523"/>
            <a:ext cx="2150" cy="326"/>
          </p:xfrm>
          <a:graphic>
            <a:graphicData uri="http://schemas.openxmlformats.org/presentationml/2006/ole">
              <p:oleObj spid="_x0000_s285698" name="公式" r:id="rId3" imgW="1587500" imgH="241300" progId="">
                <p:embed/>
              </p:oleObj>
            </a:graphicData>
          </a:graphic>
        </p:graphicFrame>
        <p:graphicFrame>
          <p:nvGraphicFramePr>
            <p:cNvPr id="8" name="Object 11"/>
            <p:cNvGraphicFramePr>
              <a:graphicFrameLocks noChangeAspect="1"/>
            </p:cNvGraphicFramePr>
            <p:nvPr>
              <p:extLst>
                <p:ext uri="{D42A27DB-BD31-4B8C-83A1-F6EECF244321}">
                  <p14:modId xmlns="" xmlns:p14="http://schemas.microsoft.com/office/powerpoint/2010/main" val="1016589338"/>
                </p:ext>
              </p:extLst>
            </p:nvPr>
          </p:nvGraphicFramePr>
          <p:xfrm>
            <a:off x="794" y="3143"/>
            <a:ext cx="1409" cy="284"/>
          </p:xfrm>
          <a:graphic>
            <a:graphicData uri="http://schemas.openxmlformats.org/presentationml/2006/ole">
              <p:oleObj spid="_x0000_s285699" name="公式" r:id="rId4" imgW="1193800" imgH="241300" progId="">
                <p:embed/>
              </p:oleObj>
            </a:graphicData>
          </a:graphic>
        </p:graphicFrame>
      </p:grpSp>
      <p:pic>
        <p:nvPicPr>
          <p:cNvPr id="9" name="Picture 12" descr="5-5-36"/>
          <p:cNvPicPr>
            <a:picLocks noChangeAspect="1" noChangeArrowheads="1"/>
          </p:cNvPicPr>
          <p:nvPr/>
        </p:nvPicPr>
        <p:blipFill>
          <a:blip r:embed="rId5" cstate="print">
            <a:clrChange>
              <a:clrFrom>
                <a:srgbClr val="F2F2EA"/>
              </a:clrFrom>
              <a:clrTo>
                <a:srgbClr val="F2F2EA">
                  <a:alpha val="0"/>
                </a:srgbClr>
              </a:clrTo>
            </a:clrChange>
            <a:lum bright="-18000" contrast="72000"/>
            <a:extLst>
              <a:ext uri="{28A0092B-C50C-407E-A947-70E740481C1C}">
                <a14:useLocalDpi xmlns="" xmlns:a14="http://schemas.microsoft.com/office/drawing/2010/main" val="0"/>
              </a:ext>
            </a:extLst>
          </a:blip>
          <a:srcRect/>
          <a:stretch>
            <a:fillRect/>
          </a:stretch>
        </p:blipFill>
        <p:spPr bwMode="auto">
          <a:xfrm>
            <a:off x="1043608" y="2708920"/>
            <a:ext cx="7488237" cy="1993900"/>
          </a:xfrm>
          <a:prstGeom prst="rect">
            <a:avLst/>
          </a:prstGeom>
          <a:noFill/>
          <a:extLst>
            <a:ext uri="{909E8E84-426E-40DD-AFC4-6F175D3DCCD1}">
              <a14:hiddenFill xmlns="" xmlns:a14="http://schemas.microsoft.com/office/drawing/2010/main">
                <a:solidFill>
                  <a:srgbClr val="FFFFFF"/>
                </a:solidFill>
              </a14:hiddenFill>
            </a:ext>
          </a:extLst>
        </p:spPr>
      </p:pic>
      <p:sp>
        <p:nvSpPr>
          <p:cNvPr id="10" name="标题 2"/>
          <p:cNvSpPr txBox="1">
            <a:spLocks/>
          </p:cNvSpPr>
          <p:nvPr/>
        </p:nvSpPr>
        <p:spPr bwMode="auto">
          <a:xfrm>
            <a:off x="1403648" y="1124744"/>
            <a:ext cx="7560840"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移位寄存器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 xmlns:p14="http://schemas.microsoft.com/office/powerpoint/2010/main" val="2360494790"/>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a:xfrm>
            <a:off x="1403648" y="188640"/>
            <a:ext cx="7272808" cy="566936"/>
          </a:xfrm>
        </p:spPr>
        <p:txBody>
          <a:bodyPr/>
          <a:lstStyle/>
          <a:p>
            <a:r>
              <a:rPr lang="en-US" altLang="zh-CN" dirty="0" smtClean="0"/>
              <a:t>6.5 </a:t>
            </a:r>
            <a:r>
              <a:rPr lang="zh-CN" altLang="en-US" dirty="0" smtClean="0"/>
              <a:t>寄存器</a:t>
            </a:r>
            <a:endParaRPr lang="zh-CN" altLang="en-US" dirty="0"/>
          </a:p>
        </p:txBody>
      </p:sp>
      <p:sp>
        <p:nvSpPr>
          <p:cNvPr id="4" name="内容占位符 3"/>
          <p:cNvSpPr>
            <a:spLocks noGrp="1"/>
          </p:cNvSpPr>
          <p:nvPr>
            <p:ph idx="1"/>
          </p:nvPr>
        </p:nvSpPr>
        <p:spPr/>
        <p:txBody>
          <a:bodyPr/>
          <a:lstStyle/>
          <a:p>
            <a:pPr marL="1371600" lvl="2" indent="-457200">
              <a:buSzPct val="80000"/>
              <a:buFont typeface="+mj-ea"/>
              <a:buAutoNum type="circleNumDbPlain" startAt="2"/>
            </a:pPr>
            <a:r>
              <a:rPr lang="zh-CN" altLang="en-US" sz="2400" dirty="0" smtClean="0"/>
              <a:t>左移</a:t>
            </a:r>
            <a:r>
              <a:rPr lang="zh-CN" altLang="en-US" sz="2400" dirty="0"/>
              <a:t>移位寄存器</a:t>
            </a:r>
          </a:p>
        </p:txBody>
      </p:sp>
      <p:sp>
        <p:nvSpPr>
          <p:cNvPr id="5" name="Text Box 7"/>
          <p:cNvSpPr txBox="1">
            <a:spLocks noChangeArrowheads="1"/>
          </p:cNvSpPr>
          <p:nvPr/>
        </p:nvSpPr>
        <p:spPr bwMode="auto">
          <a:xfrm>
            <a:off x="3059832" y="4437112"/>
            <a:ext cx="3673475" cy="3365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spcBef>
                <a:spcPct val="50000"/>
              </a:spcBef>
            </a:pPr>
            <a:r>
              <a:rPr lang="zh-CN" altLang="en-US" sz="1600" b="1" dirty="0"/>
              <a:t>图</a:t>
            </a:r>
            <a:r>
              <a:rPr lang="en-US" altLang="zh-CN" sz="1600" b="1" dirty="0"/>
              <a:t>5.6.37   </a:t>
            </a:r>
            <a:r>
              <a:rPr lang="zh-CN" altLang="en-US" sz="1600" b="1" dirty="0"/>
              <a:t>左移移位寄存器电路图</a:t>
            </a:r>
          </a:p>
        </p:txBody>
      </p:sp>
      <p:grpSp>
        <p:nvGrpSpPr>
          <p:cNvPr id="2" name="Group 8"/>
          <p:cNvGrpSpPr>
            <a:grpSpLocks/>
          </p:cNvGrpSpPr>
          <p:nvPr/>
        </p:nvGrpSpPr>
        <p:grpSpPr bwMode="auto">
          <a:xfrm>
            <a:off x="296416" y="4941168"/>
            <a:ext cx="8847584" cy="1477963"/>
            <a:chOff x="521" y="2686"/>
            <a:chExt cx="4763" cy="931"/>
          </a:xfrm>
        </p:grpSpPr>
        <p:sp>
          <p:nvSpPr>
            <p:cNvPr id="7" name="Text Box 9"/>
            <p:cNvSpPr txBox="1">
              <a:spLocks noChangeArrowheads="1"/>
            </p:cNvSpPr>
            <p:nvPr/>
          </p:nvSpPr>
          <p:spPr bwMode="auto">
            <a:xfrm>
              <a:off x="521" y="2686"/>
              <a:ext cx="4763" cy="931"/>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spAutoFit/>
            </a:bodyPr>
            <a:lstStyle/>
            <a:p>
              <a:pPr>
                <a:lnSpc>
                  <a:spcPct val="150000"/>
                </a:lnSpc>
                <a:spcBef>
                  <a:spcPct val="50000"/>
                </a:spcBef>
              </a:pPr>
              <a:r>
                <a:rPr lang="zh-CN" altLang="en-US" b="1" dirty="0"/>
                <a:t>如图分析可知：</a:t>
              </a:r>
            </a:p>
            <a:p>
              <a:pPr>
                <a:lnSpc>
                  <a:spcPct val="150000"/>
                </a:lnSpc>
                <a:spcBef>
                  <a:spcPct val="50000"/>
                </a:spcBef>
              </a:pPr>
              <a:r>
                <a:rPr lang="zh-CN" altLang="en-US" b="1" dirty="0"/>
                <a:t>总效果相当于每来一个</a:t>
              </a:r>
              <a:r>
                <a:rPr lang="en-US" altLang="zh-CN" b="1" dirty="0"/>
                <a:t>CP</a:t>
              </a:r>
              <a:r>
                <a:rPr lang="zh-CN" altLang="en-US" b="1" dirty="0"/>
                <a:t>移位寄存器中原有的代码依次左移了一位。例：</a:t>
              </a:r>
              <a:r>
                <a:rPr lang="zh-CN" altLang="en-US" b="1" dirty="0" smtClean="0"/>
                <a:t>若                                    </a:t>
              </a:r>
              <a:r>
                <a:rPr lang="zh-CN" altLang="en-US" b="1" dirty="0"/>
                <a:t>，而在</a:t>
              </a:r>
              <a:r>
                <a:rPr lang="en-US" altLang="zh-CN" b="1" dirty="0"/>
                <a:t>4</a:t>
              </a:r>
              <a:r>
                <a:rPr lang="zh-CN" altLang="en-US" b="1" dirty="0"/>
                <a:t>个</a:t>
              </a:r>
              <a:r>
                <a:rPr lang="en-US" altLang="zh-CN" b="1" dirty="0"/>
                <a:t>CP</a:t>
              </a:r>
              <a:r>
                <a:rPr lang="zh-CN" altLang="en-US" b="1" dirty="0"/>
                <a:t>内输入的代码依次为</a:t>
              </a:r>
              <a:r>
                <a:rPr lang="en-US" altLang="zh-CN" b="1" dirty="0"/>
                <a:t>0011</a:t>
              </a:r>
              <a:r>
                <a:rPr lang="zh-CN" altLang="en-US" b="1" dirty="0"/>
                <a:t>，试分析左移情况。</a:t>
              </a:r>
            </a:p>
          </p:txBody>
        </p:sp>
        <p:graphicFrame>
          <p:nvGraphicFramePr>
            <p:cNvPr id="8" name="Object 10"/>
            <p:cNvGraphicFramePr>
              <a:graphicFrameLocks noChangeAspect="1"/>
            </p:cNvGraphicFramePr>
            <p:nvPr>
              <p:extLst>
                <p:ext uri="{D42A27DB-BD31-4B8C-83A1-F6EECF244321}">
                  <p14:modId xmlns="" xmlns:p14="http://schemas.microsoft.com/office/powerpoint/2010/main" val="1580818174"/>
                </p:ext>
              </p:extLst>
            </p:nvPr>
          </p:nvGraphicFramePr>
          <p:xfrm>
            <a:off x="1529" y="2697"/>
            <a:ext cx="1861" cy="297"/>
          </p:xfrm>
          <a:graphic>
            <a:graphicData uri="http://schemas.openxmlformats.org/presentationml/2006/ole">
              <p:oleObj spid="_x0000_s286722" name="公式" r:id="rId3" imgW="1511300" imgH="241300" progId="">
                <p:embed/>
              </p:oleObj>
            </a:graphicData>
          </a:graphic>
        </p:graphicFrame>
        <p:graphicFrame>
          <p:nvGraphicFramePr>
            <p:cNvPr id="9" name="Object 11"/>
            <p:cNvGraphicFramePr>
              <a:graphicFrameLocks noChangeAspect="1"/>
            </p:cNvGraphicFramePr>
            <p:nvPr>
              <p:extLst>
                <p:ext uri="{D42A27DB-BD31-4B8C-83A1-F6EECF244321}">
                  <p14:modId xmlns="" xmlns:p14="http://schemas.microsoft.com/office/powerpoint/2010/main" val="888768768"/>
                </p:ext>
              </p:extLst>
            </p:nvPr>
          </p:nvGraphicFramePr>
          <p:xfrm>
            <a:off x="729" y="3321"/>
            <a:ext cx="1308" cy="273"/>
          </p:xfrm>
          <a:graphic>
            <a:graphicData uri="http://schemas.openxmlformats.org/presentationml/2006/ole">
              <p:oleObj spid="_x0000_s286723" name="公式" r:id="rId4" imgW="1155700" imgH="241300" progId="">
                <p:embed/>
              </p:oleObj>
            </a:graphicData>
          </a:graphic>
        </p:graphicFrame>
      </p:grpSp>
      <p:pic>
        <p:nvPicPr>
          <p:cNvPr id="10" name="Picture 12" descr="5-5-37"/>
          <p:cNvPicPr>
            <a:picLocks noChangeAspect="1" noChangeArrowheads="1"/>
          </p:cNvPicPr>
          <p:nvPr/>
        </p:nvPicPr>
        <p:blipFill>
          <a:blip r:embed="rId5" cstate="print">
            <a:clrChange>
              <a:clrFrom>
                <a:srgbClr val="FFFFF7"/>
              </a:clrFrom>
              <a:clrTo>
                <a:srgbClr val="FFFFF7">
                  <a:alpha val="0"/>
                </a:srgbClr>
              </a:clrTo>
            </a:clrChange>
            <a:lum bright="-12000" contrast="48000"/>
            <a:extLst>
              <a:ext uri="{28A0092B-C50C-407E-A947-70E740481C1C}">
                <a14:useLocalDpi xmlns="" xmlns:a14="http://schemas.microsoft.com/office/drawing/2010/main" val="0"/>
              </a:ext>
            </a:extLst>
          </a:blip>
          <a:srcRect/>
          <a:stretch>
            <a:fillRect/>
          </a:stretch>
        </p:blipFill>
        <p:spPr bwMode="auto">
          <a:xfrm>
            <a:off x="958851" y="2282778"/>
            <a:ext cx="7996237" cy="2106613"/>
          </a:xfrm>
          <a:prstGeom prst="rect">
            <a:avLst/>
          </a:prstGeom>
          <a:noFill/>
          <a:extLst>
            <a:ext uri="{909E8E84-426E-40DD-AFC4-6F175D3DCCD1}">
              <a14:hiddenFill xmlns="" xmlns:a14="http://schemas.microsoft.com/office/drawing/2010/main">
                <a:solidFill>
                  <a:srgbClr val="FFFFFF"/>
                </a:solidFill>
              </a14:hiddenFill>
            </a:ext>
          </a:extLst>
        </p:spPr>
      </p:pic>
      <p:sp>
        <p:nvSpPr>
          <p:cNvPr id="11" name="标题 2"/>
          <p:cNvSpPr txBox="1">
            <a:spLocks/>
          </p:cNvSpPr>
          <p:nvPr/>
        </p:nvSpPr>
        <p:spPr bwMode="auto">
          <a:xfrm>
            <a:off x="1403648" y="908720"/>
            <a:ext cx="7560840"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6.5.2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移位寄存器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 xmlns:p14="http://schemas.microsoft.com/office/powerpoint/2010/main" val="3079106586"/>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332656"/>
            <a:ext cx="7416824" cy="566936"/>
          </a:xfrm>
        </p:spPr>
        <p:txBody>
          <a:bodyPr/>
          <a:lstStyle/>
          <a:p>
            <a:r>
              <a:rPr lang="en-US" altLang="zh-CN" dirty="0" smtClean="0"/>
              <a:t>6.5 </a:t>
            </a:r>
            <a:r>
              <a:rPr lang="zh-CN" altLang="en-US" dirty="0" smtClean="0"/>
              <a:t>寄存器</a:t>
            </a:r>
            <a:endParaRPr lang="zh-CN" altLang="en-US" dirty="0"/>
          </a:p>
        </p:txBody>
      </p:sp>
      <p:sp>
        <p:nvSpPr>
          <p:cNvPr id="3" name="内容占位符 2"/>
          <p:cNvSpPr>
            <a:spLocks noGrp="1"/>
          </p:cNvSpPr>
          <p:nvPr>
            <p:ph idx="1"/>
          </p:nvPr>
        </p:nvSpPr>
        <p:spPr>
          <a:xfrm>
            <a:off x="467544" y="1988840"/>
            <a:ext cx="8280920" cy="4608512"/>
          </a:xfrm>
        </p:spPr>
        <p:txBody>
          <a:bodyPr/>
          <a:lstStyle/>
          <a:p>
            <a:pPr marL="0" lvl="1" indent="0">
              <a:lnSpc>
                <a:spcPct val="100000"/>
              </a:lnSpc>
              <a:spcBef>
                <a:spcPts val="600"/>
              </a:spcBef>
              <a:buNone/>
            </a:pPr>
            <a:r>
              <a:rPr lang="en-US" altLang="zh-CN" sz="2800" dirty="0" smtClean="0"/>
              <a:t>2.  </a:t>
            </a:r>
            <a:r>
              <a:rPr lang="zh-CN" altLang="en-US" sz="2800" dirty="0" smtClean="0"/>
              <a:t>双向</a:t>
            </a:r>
            <a:r>
              <a:rPr lang="zh-CN" altLang="en-US" sz="2800" dirty="0"/>
              <a:t>移位寄存器</a:t>
            </a:r>
          </a:p>
          <a:p>
            <a:pPr>
              <a:buClr>
                <a:srgbClr val="0000CC"/>
              </a:buClr>
              <a:buSzPct val="100000"/>
              <a:buFont typeface="Wingdings" pitchFamily="2" charset="2"/>
              <a:buChar char="p"/>
            </a:pPr>
            <a:r>
              <a:rPr lang="zh-CN" altLang="en-US" sz="2800" dirty="0" smtClean="0"/>
              <a:t>在</a:t>
            </a:r>
            <a:r>
              <a:rPr lang="zh-CN" altLang="en-US" sz="2800" dirty="0"/>
              <a:t>单向移位寄存器基础上，增加由门电路组成的控制电路，便可构成双向移位寄存器。</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81</a:t>
            </a:fld>
            <a:endParaRPr lang="zh-CN" altLang="en-US"/>
          </a:p>
        </p:txBody>
      </p:sp>
      <p:sp>
        <p:nvSpPr>
          <p:cNvPr id="5" name="标题 1"/>
          <p:cNvSpPr txBox="1">
            <a:spLocks/>
          </p:cNvSpPr>
          <p:nvPr/>
        </p:nvSpPr>
        <p:spPr bwMode="auto">
          <a:xfrm>
            <a:off x="1331640" y="1124744"/>
            <a:ext cx="7488832"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a:t>
            </a:r>
            <a:r>
              <a:rPr kumimoji="1" lang="en-US" altLang="zh-CN" sz="3200" b="1" kern="0" dirty="0" smtClean="0">
                <a:solidFill>
                  <a:schemeClr val="tx2"/>
                </a:solidFill>
              </a:rPr>
              <a:t>.2</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 </a:t>
            </a:r>
            <a:r>
              <a:rPr kumimoji="1" lang="zh-CN" altLang="en-US" sz="3200" b="1" kern="0" dirty="0" smtClean="0">
                <a:solidFill>
                  <a:schemeClr val="tx2"/>
                </a:solidFill>
                <a:latin typeface="+mj-lt"/>
                <a:ea typeface="+mj-ea"/>
                <a:cs typeface="+mj-cs"/>
              </a:rPr>
              <a:t>移位</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寄存器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69985" name="Picture 1"/>
          <p:cNvPicPr>
            <a:picLocks noChangeAspect="1" noChangeArrowheads="1"/>
          </p:cNvPicPr>
          <p:nvPr/>
        </p:nvPicPr>
        <p:blipFill>
          <a:blip r:embed="rId2" cstate="print"/>
          <a:srcRect/>
          <a:stretch>
            <a:fillRect/>
          </a:stretch>
        </p:blipFill>
        <p:spPr bwMode="auto">
          <a:xfrm>
            <a:off x="899592" y="3429000"/>
            <a:ext cx="7363655" cy="2952328"/>
          </a:xfrm>
          <a:prstGeom prst="rect">
            <a:avLst/>
          </a:prstGeom>
          <a:noFill/>
          <a:ln w="9525">
            <a:noFill/>
            <a:miter lim="800000"/>
            <a:headEnd/>
            <a:tailEnd/>
          </a:ln>
        </p:spPr>
      </p:pic>
    </p:spTree>
    <p:extLst>
      <p:ext uri="{BB962C8B-B14F-4D97-AF65-F5344CB8AC3E}">
        <p14:creationId xmlns:p14="http://schemas.microsoft.com/office/powerpoint/2010/main" xmlns="" val="865434997"/>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332656"/>
            <a:ext cx="7416824" cy="566936"/>
          </a:xfrm>
        </p:spPr>
        <p:txBody>
          <a:bodyPr/>
          <a:lstStyle/>
          <a:p>
            <a:r>
              <a:rPr lang="en-US" altLang="zh-CN" dirty="0" smtClean="0"/>
              <a:t>6.5 </a:t>
            </a:r>
            <a:r>
              <a:rPr lang="zh-CN" altLang="en-US" dirty="0" smtClean="0"/>
              <a:t>寄存器</a:t>
            </a:r>
            <a:endParaRPr lang="zh-CN" altLang="en-US" dirty="0"/>
          </a:p>
        </p:txBody>
      </p:sp>
      <p:sp>
        <p:nvSpPr>
          <p:cNvPr id="3" name="内容占位符 2"/>
          <p:cNvSpPr>
            <a:spLocks noGrp="1"/>
          </p:cNvSpPr>
          <p:nvPr>
            <p:ph idx="1"/>
          </p:nvPr>
        </p:nvSpPr>
        <p:spPr>
          <a:xfrm>
            <a:off x="467544" y="1988840"/>
            <a:ext cx="8280920" cy="4608512"/>
          </a:xfrm>
        </p:spPr>
        <p:txBody>
          <a:bodyPr/>
          <a:lstStyle/>
          <a:p>
            <a:pPr marL="0" lvl="1" indent="0">
              <a:lnSpc>
                <a:spcPct val="100000"/>
              </a:lnSpc>
              <a:spcBef>
                <a:spcPts val="600"/>
              </a:spcBef>
              <a:buNone/>
            </a:pPr>
            <a:r>
              <a:rPr lang="en-US" altLang="zh-CN" sz="2800" dirty="0" smtClean="0"/>
              <a:t>2.  </a:t>
            </a:r>
            <a:r>
              <a:rPr lang="zh-CN" altLang="en-US" sz="2800" dirty="0" smtClean="0"/>
              <a:t>双向</a:t>
            </a:r>
            <a:r>
              <a:rPr lang="zh-CN" altLang="en-US" sz="2800" dirty="0"/>
              <a:t>移位寄存器</a:t>
            </a:r>
          </a:p>
          <a:p>
            <a:pPr>
              <a:buClr>
                <a:srgbClr val="0000CC"/>
              </a:buClr>
              <a:buSzPct val="100000"/>
              <a:buFont typeface="Wingdings" pitchFamily="2" charset="2"/>
              <a:buChar char="p"/>
            </a:pPr>
            <a:r>
              <a:rPr lang="zh-CN" altLang="en-US" sz="2800" dirty="0" smtClean="0"/>
              <a:t>在</a:t>
            </a:r>
            <a:r>
              <a:rPr lang="zh-CN" altLang="en-US" sz="2800" dirty="0"/>
              <a:t>单向移位寄存器基础上，增加由门电路组成的控制电路，便可构成双向移位寄存器。</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82</a:t>
            </a:fld>
            <a:endParaRPr lang="zh-CN" altLang="en-US"/>
          </a:p>
        </p:txBody>
      </p:sp>
      <p:sp>
        <p:nvSpPr>
          <p:cNvPr id="5" name="标题 1"/>
          <p:cNvSpPr txBox="1">
            <a:spLocks/>
          </p:cNvSpPr>
          <p:nvPr/>
        </p:nvSpPr>
        <p:spPr bwMode="auto">
          <a:xfrm>
            <a:off x="1331640" y="1124744"/>
            <a:ext cx="7488832"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a:t>
            </a:r>
            <a:r>
              <a:rPr kumimoji="1" lang="en-US" altLang="zh-CN" sz="3200" b="1" kern="0" dirty="0" smtClean="0">
                <a:solidFill>
                  <a:schemeClr val="tx2"/>
                </a:solidFill>
              </a:rPr>
              <a:t>.2</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 </a:t>
            </a:r>
            <a:r>
              <a:rPr kumimoji="1" lang="zh-CN" altLang="en-US" sz="3200" b="1" kern="0" dirty="0" smtClean="0">
                <a:solidFill>
                  <a:schemeClr val="tx2"/>
                </a:solidFill>
                <a:latin typeface="+mj-lt"/>
                <a:ea typeface="+mj-ea"/>
                <a:cs typeface="+mj-cs"/>
              </a:rPr>
              <a:t>移位</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寄存器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177154" name="Picture 2"/>
          <p:cNvPicPr>
            <a:picLocks noChangeAspect="1" noChangeArrowheads="1"/>
          </p:cNvPicPr>
          <p:nvPr/>
        </p:nvPicPr>
        <p:blipFill>
          <a:blip r:embed="rId2" cstate="print"/>
          <a:srcRect/>
          <a:stretch>
            <a:fillRect/>
          </a:stretch>
        </p:blipFill>
        <p:spPr bwMode="auto">
          <a:xfrm>
            <a:off x="1043607" y="3501008"/>
            <a:ext cx="7090627" cy="3096344"/>
          </a:xfrm>
          <a:prstGeom prst="rect">
            <a:avLst/>
          </a:prstGeom>
          <a:noFill/>
          <a:ln w="9525">
            <a:noFill/>
            <a:miter lim="800000"/>
            <a:headEnd/>
            <a:tailEnd/>
          </a:ln>
        </p:spPr>
      </p:pic>
    </p:spTree>
    <p:extLst>
      <p:ext uri="{BB962C8B-B14F-4D97-AF65-F5344CB8AC3E}">
        <p14:creationId xmlns:p14="http://schemas.microsoft.com/office/powerpoint/2010/main" xmlns="" val="865434997"/>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403648" y="260648"/>
            <a:ext cx="7488832" cy="566936"/>
          </a:xfrm>
        </p:spPr>
        <p:txBody>
          <a:bodyPr/>
          <a:lstStyle/>
          <a:p>
            <a:r>
              <a:rPr lang="en-US" altLang="zh-CN" dirty="0" smtClean="0"/>
              <a:t>6.5 </a:t>
            </a:r>
            <a:r>
              <a:rPr lang="zh-CN" altLang="en-US" dirty="0" smtClean="0"/>
              <a:t>寄存器</a:t>
            </a:r>
            <a:endParaRPr lang="zh-CN" altLang="en-US" dirty="0"/>
          </a:p>
        </p:txBody>
      </p:sp>
      <p:sp>
        <p:nvSpPr>
          <p:cNvPr id="3" name="内容占位符 2"/>
          <p:cNvSpPr>
            <a:spLocks noGrp="1"/>
          </p:cNvSpPr>
          <p:nvPr>
            <p:ph idx="1"/>
          </p:nvPr>
        </p:nvSpPr>
        <p:spPr>
          <a:xfrm>
            <a:off x="467544" y="1988840"/>
            <a:ext cx="8487544" cy="4752528"/>
          </a:xfrm>
        </p:spPr>
        <p:txBody>
          <a:bodyPr/>
          <a:lstStyle/>
          <a:p>
            <a:pPr lvl="0">
              <a:lnSpc>
                <a:spcPct val="100000"/>
              </a:lnSpc>
              <a:spcBef>
                <a:spcPts val="600"/>
              </a:spcBef>
              <a:buSzPct val="100000"/>
              <a:buFont typeface="Wingdings" pitchFamily="2" charset="2"/>
              <a:buChar char="p"/>
            </a:pPr>
            <a:r>
              <a:rPr lang="zh-CN" altLang="en-US" sz="2800" dirty="0" smtClean="0"/>
              <a:t>多功能集成寄存器</a:t>
            </a:r>
            <a:r>
              <a:rPr lang="en-US" altLang="zh-CN" sz="2800" dirty="0" smtClean="0">
                <a:solidFill>
                  <a:schemeClr val="tx2"/>
                </a:solidFill>
              </a:rPr>
              <a:t>74194 </a:t>
            </a:r>
            <a:endParaRPr lang="en-US" altLang="zh-CN" sz="2400" dirty="0"/>
          </a:p>
          <a:p>
            <a:pPr lvl="1">
              <a:lnSpc>
                <a:spcPct val="100000"/>
              </a:lnSpc>
              <a:spcBef>
                <a:spcPts val="600"/>
              </a:spcBef>
              <a:buClr>
                <a:srgbClr val="FF0000"/>
              </a:buClr>
              <a:buSzPct val="100000"/>
            </a:pPr>
            <a:r>
              <a:rPr lang="zh-CN" altLang="en-US" sz="2400" dirty="0" smtClean="0"/>
              <a:t>功能：</a:t>
            </a:r>
            <a:r>
              <a:rPr lang="en-US" altLang="zh-CN" sz="2400" dirty="0" smtClean="0"/>
              <a:t>74194</a:t>
            </a:r>
            <a:r>
              <a:rPr lang="zh-CN" altLang="en-US" sz="2400" dirty="0"/>
              <a:t>是带“异步清零”功能</a:t>
            </a:r>
            <a:r>
              <a:rPr lang="en-US" altLang="zh-CN" sz="2400" dirty="0"/>
              <a:t>CP</a:t>
            </a:r>
            <a:r>
              <a:rPr lang="zh-CN" altLang="en-US" sz="2400" dirty="0"/>
              <a:t>上升沿触发的四位并行双向移位寄存器</a:t>
            </a:r>
            <a:r>
              <a:rPr lang="zh-CN" altLang="en-US" sz="2400" dirty="0" smtClean="0"/>
              <a:t>。</a:t>
            </a:r>
            <a:endParaRPr lang="en-US" altLang="zh-CN" sz="2400" dirty="0" smtClean="0"/>
          </a:p>
          <a:p>
            <a:pPr lvl="1">
              <a:lnSpc>
                <a:spcPct val="100000"/>
              </a:lnSpc>
              <a:spcBef>
                <a:spcPts val="600"/>
              </a:spcBef>
              <a:buClr>
                <a:srgbClr val="FF0000"/>
              </a:buClr>
              <a:buSzPct val="100000"/>
            </a:pPr>
            <a:r>
              <a:rPr lang="en-US" altLang="zh-CN" sz="2400" dirty="0"/>
              <a:t>74194</a:t>
            </a:r>
            <a:r>
              <a:rPr lang="zh-CN" altLang="en-US" sz="2400" dirty="0"/>
              <a:t>惯用逻辑符号及功能表如下：</a:t>
            </a:r>
          </a:p>
          <a:p>
            <a:pPr lvl="2"/>
            <a:endParaRPr lang="zh-CN" altLang="en-US" dirty="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83</a:t>
            </a:fld>
            <a:endParaRPr lang="zh-CN" altLang="en-US"/>
          </a:p>
        </p:txBody>
      </p:sp>
      <p:sp>
        <p:nvSpPr>
          <p:cNvPr id="5" name="Text Box 7"/>
          <p:cNvSpPr txBox="1">
            <a:spLocks noChangeArrowheads="1"/>
          </p:cNvSpPr>
          <p:nvPr/>
        </p:nvSpPr>
        <p:spPr bwMode="auto">
          <a:xfrm>
            <a:off x="1403648" y="6237312"/>
            <a:ext cx="2870749"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t>图</a:t>
            </a:r>
            <a:r>
              <a:rPr lang="en-US" altLang="zh-CN" sz="1600" b="1" dirty="0" smtClean="0"/>
              <a:t>  </a:t>
            </a:r>
            <a:r>
              <a:rPr lang="en-US" altLang="zh-CN" sz="1600" b="1" dirty="0"/>
              <a:t>74194</a:t>
            </a:r>
            <a:r>
              <a:rPr lang="zh-CN" altLang="en-US" sz="1600" b="1" dirty="0"/>
              <a:t>惯用逻辑符号</a:t>
            </a:r>
          </a:p>
        </p:txBody>
      </p:sp>
      <p:sp>
        <p:nvSpPr>
          <p:cNvPr id="6" name="Text Box 8"/>
          <p:cNvSpPr txBox="1">
            <a:spLocks noChangeArrowheads="1"/>
          </p:cNvSpPr>
          <p:nvPr/>
        </p:nvSpPr>
        <p:spPr bwMode="auto">
          <a:xfrm>
            <a:off x="5292080" y="3933056"/>
            <a:ext cx="322009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t>表</a:t>
            </a:r>
            <a:r>
              <a:rPr lang="en-US" altLang="zh-CN" sz="1600" b="1" dirty="0" smtClean="0"/>
              <a:t>   </a:t>
            </a:r>
            <a:r>
              <a:rPr lang="en-US" altLang="zh-CN" sz="1600" b="1" dirty="0"/>
              <a:t>74194</a:t>
            </a:r>
            <a:r>
              <a:rPr lang="zh-CN" altLang="en-US" sz="1600" b="1" dirty="0"/>
              <a:t>工作方式控制表</a:t>
            </a:r>
          </a:p>
        </p:txBody>
      </p:sp>
      <p:pic>
        <p:nvPicPr>
          <p:cNvPr id="8" name="Picture 10" descr="5-5-38"/>
          <p:cNvPicPr>
            <a:picLocks noChangeAspect="1" noChangeArrowheads="1"/>
          </p:cNvPicPr>
          <p:nvPr/>
        </p:nvPicPr>
        <p:blipFill>
          <a:blip r:embed="rId2" cstate="print">
            <a:clrChange>
              <a:clrFrom>
                <a:srgbClr val="F6F7EF"/>
              </a:clrFrom>
              <a:clrTo>
                <a:srgbClr val="F6F7EF">
                  <a:alpha val="0"/>
                </a:srgbClr>
              </a:clrTo>
            </a:clrChange>
            <a:lum bright="-12000" contrast="42000"/>
            <a:extLst>
              <a:ext uri="{28A0092B-C50C-407E-A947-70E740481C1C}">
                <a14:useLocalDpi xmlns:a14="http://schemas.microsoft.com/office/drawing/2010/main" xmlns="" val="0"/>
              </a:ext>
            </a:extLst>
          </a:blip>
          <a:srcRect/>
          <a:stretch>
            <a:fillRect/>
          </a:stretch>
        </p:blipFill>
        <p:spPr bwMode="auto">
          <a:xfrm>
            <a:off x="1043608" y="3933056"/>
            <a:ext cx="3456384" cy="2239404"/>
          </a:xfrm>
          <a:prstGeom prst="rect">
            <a:avLst/>
          </a:prstGeom>
          <a:noFill/>
          <a:extLst>
            <a:ext uri="{909E8E84-426E-40DD-AFC4-6F175D3DCCD1}">
              <a14:hiddenFill xmlns:a14="http://schemas.microsoft.com/office/drawing/2010/main" xmlns="">
                <a:solidFill>
                  <a:srgbClr val="FFFFFF"/>
                </a:solidFill>
              </a14:hiddenFill>
            </a:ext>
          </a:extLst>
        </p:spPr>
      </p:pic>
      <p:sp>
        <p:nvSpPr>
          <p:cNvPr id="9" name="标题 1"/>
          <p:cNvSpPr txBox="1">
            <a:spLocks/>
          </p:cNvSpPr>
          <p:nvPr/>
        </p:nvSpPr>
        <p:spPr bwMode="auto">
          <a:xfrm>
            <a:off x="1331640" y="1124744"/>
            <a:ext cx="7560840"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集成移位寄存器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74194</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280577" name="Picture 1"/>
          <p:cNvPicPr>
            <a:picLocks noChangeAspect="1" noChangeArrowheads="1"/>
          </p:cNvPicPr>
          <p:nvPr/>
        </p:nvPicPr>
        <p:blipFill>
          <a:blip r:embed="rId3" cstate="print"/>
          <a:srcRect/>
          <a:stretch>
            <a:fillRect/>
          </a:stretch>
        </p:blipFill>
        <p:spPr bwMode="auto">
          <a:xfrm>
            <a:off x="5436096" y="4437112"/>
            <a:ext cx="3114675" cy="2019300"/>
          </a:xfrm>
          <a:prstGeom prst="rect">
            <a:avLst/>
          </a:prstGeom>
          <a:noFill/>
          <a:ln w="9525">
            <a:noFill/>
            <a:miter lim="800000"/>
            <a:headEnd/>
            <a:tailEnd/>
          </a:ln>
        </p:spPr>
      </p:pic>
    </p:spTree>
    <p:extLst>
      <p:ext uri="{BB962C8B-B14F-4D97-AF65-F5344CB8AC3E}">
        <p14:creationId xmlns:p14="http://schemas.microsoft.com/office/powerpoint/2010/main" xmlns="" val="1980677455"/>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332656"/>
            <a:ext cx="7488832" cy="566936"/>
          </a:xfrm>
        </p:spPr>
        <p:txBody>
          <a:bodyPr/>
          <a:lstStyle/>
          <a:p>
            <a:r>
              <a:rPr lang="en-US" altLang="zh-CN" dirty="0" smtClean="0"/>
              <a:t>6.5 </a:t>
            </a:r>
            <a:r>
              <a:rPr lang="zh-CN" altLang="en-US" dirty="0" smtClean="0"/>
              <a:t>寄存器</a:t>
            </a:r>
            <a:endParaRPr lang="zh-CN" altLang="en-US" dirty="0"/>
          </a:p>
        </p:txBody>
      </p:sp>
      <p:sp>
        <p:nvSpPr>
          <p:cNvPr id="3" name="内容占位符 2"/>
          <p:cNvSpPr>
            <a:spLocks noGrp="1"/>
          </p:cNvSpPr>
          <p:nvPr>
            <p:ph idx="1"/>
          </p:nvPr>
        </p:nvSpPr>
        <p:spPr>
          <a:xfrm>
            <a:off x="467544" y="1988840"/>
            <a:ext cx="8487544" cy="4608512"/>
          </a:xfrm>
        </p:spPr>
        <p:txBody>
          <a:bodyPr/>
          <a:lstStyle/>
          <a:p>
            <a:pPr lvl="0">
              <a:buSzPct val="100000"/>
              <a:buFont typeface="Wingdings" pitchFamily="2" charset="2"/>
              <a:buChar char="p"/>
            </a:pPr>
            <a:r>
              <a:rPr lang="zh-CN" altLang="en-US" sz="2800" dirty="0"/>
              <a:t>多功能集成</a:t>
            </a:r>
            <a:r>
              <a:rPr lang="zh-CN" altLang="en-US" sz="2800" dirty="0" smtClean="0"/>
              <a:t>寄存器</a:t>
            </a:r>
            <a:r>
              <a:rPr lang="en-US" altLang="zh-CN" sz="2800" dirty="0" smtClean="0">
                <a:solidFill>
                  <a:schemeClr val="tx2"/>
                </a:solidFill>
              </a:rPr>
              <a:t>74194</a:t>
            </a:r>
            <a:endParaRPr lang="zh-CN" altLang="en-US" sz="2800" dirty="0" smtClean="0">
              <a:solidFill>
                <a:schemeClr val="tx2"/>
              </a:solidFill>
            </a:endParaRPr>
          </a:p>
          <a:p>
            <a:pPr>
              <a:buSzPct val="100000"/>
              <a:buFont typeface="Wingdings" pitchFamily="2" charset="2"/>
              <a:buChar char="p"/>
            </a:pPr>
            <a:endParaRPr lang="en-US" altLang="zh-CN" sz="2800" dirty="0" smtClean="0"/>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84</a:t>
            </a:fld>
            <a:endParaRPr lang="zh-CN" altLang="en-US"/>
          </a:p>
        </p:txBody>
      </p:sp>
      <p:sp>
        <p:nvSpPr>
          <p:cNvPr id="16" name="标题 1"/>
          <p:cNvSpPr txBox="1">
            <a:spLocks/>
          </p:cNvSpPr>
          <p:nvPr/>
        </p:nvSpPr>
        <p:spPr bwMode="auto">
          <a:xfrm>
            <a:off x="1331640" y="1124744"/>
            <a:ext cx="7560840"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集成移位寄存器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74194</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279554" name="Picture 2"/>
          <p:cNvPicPr>
            <a:picLocks noChangeAspect="1" noChangeArrowheads="1"/>
          </p:cNvPicPr>
          <p:nvPr/>
        </p:nvPicPr>
        <p:blipFill>
          <a:blip r:embed="rId2" cstate="print"/>
          <a:srcRect/>
          <a:stretch>
            <a:fillRect/>
          </a:stretch>
        </p:blipFill>
        <p:spPr bwMode="auto">
          <a:xfrm>
            <a:off x="899592" y="2564904"/>
            <a:ext cx="7008838" cy="4104456"/>
          </a:xfrm>
          <a:prstGeom prst="rect">
            <a:avLst/>
          </a:prstGeom>
          <a:noFill/>
          <a:ln w="9525">
            <a:noFill/>
            <a:miter lim="800000"/>
            <a:headEnd/>
            <a:tailEnd/>
          </a:ln>
        </p:spPr>
      </p:pic>
    </p:spTree>
    <p:extLst>
      <p:ext uri="{BB962C8B-B14F-4D97-AF65-F5344CB8AC3E}">
        <p14:creationId xmlns:p14="http://schemas.microsoft.com/office/powerpoint/2010/main" xmlns="" val="1846740709"/>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260648"/>
            <a:ext cx="7416824" cy="566936"/>
          </a:xfrm>
        </p:spPr>
        <p:txBody>
          <a:bodyPr/>
          <a:lstStyle/>
          <a:p>
            <a:r>
              <a:rPr lang="en-US" altLang="zh-CN" dirty="0" smtClean="0"/>
              <a:t>6.5 </a:t>
            </a:r>
            <a:r>
              <a:rPr lang="zh-CN" altLang="en-US" dirty="0" smtClean="0"/>
              <a:t>寄存器</a:t>
            </a:r>
            <a:endParaRPr lang="zh-CN" altLang="en-US" dirty="0"/>
          </a:p>
        </p:txBody>
      </p:sp>
      <p:sp>
        <p:nvSpPr>
          <p:cNvPr id="3" name="内容占位符 2"/>
          <p:cNvSpPr>
            <a:spLocks noGrp="1"/>
          </p:cNvSpPr>
          <p:nvPr>
            <p:ph idx="1"/>
          </p:nvPr>
        </p:nvSpPr>
        <p:spPr>
          <a:xfrm>
            <a:off x="467544" y="1988840"/>
            <a:ext cx="8487544" cy="4608512"/>
          </a:xfrm>
        </p:spPr>
        <p:txBody>
          <a:bodyPr/>
          <a:lstStyle/>
          <a:p>
            <a:pPr lvl="0">
              <a:buSzPct val="100000"/>
              <a:buFont typeface="Wingdings" pitchFamily="2" charset="2"/>
              <a:buChar char="p"/>
            </a:pPr>
            <a:r>
              <a:rPr lang="zh-CN" altLang="en-US" sz="2800" dirty="0" smtClean="0"/>
              <a:t>多功能集成寄存器</a:t>
            </a:r>
            <a:r>
              <a:rPr lang="en-US" altLang="zh-CN" sz="2800" dirty="0" smtClean="0">
                <a:solidFill>
                  <a:schemeClr val="tx2"/>
                </a:solidFill>
              </a:rPr>
              <a:t>74194</a:t>
            </a:r>
            <a:endParaRPr lang="zh-CN" altLang="en-US" sz="2800" dirty="0" smtClean="0">
              <a:solidFill>
                <a:schemeClr val="tx2"/>
              </a:solidFill>
            </a:endParaRPr>
          </a:p>
          <a:p>
            <a:pPr marL="720000" lvl="2" indent="-288000">
              <a:lnSpc>
                <a:spcPct val="100000"/>
              </a:lnSpc>
              <a:spcBef>
                <a:spcPts val="600"/>
              </a:spcBef>
              <a:buClr>
                <a:srgbClr val="FF0000"/>
              </a:buClr>
              <a:buSzPct val="100000"/>
            </a:pPr>
            <a:r>
              <a:rPr lang="en-US" altLang="zh-CN" sz="2400" dirty="0" smtClean="0"/>
              <a:t>74194</a:t>
            </a:r>
            <a:r>
              <a:rPr lang="zh-CN" altLang="en-US" sz="2400" dirty="0"/>
              <a:t>的应用</a:t>
            </a:r>
            <a:r>
              <a:rPr lang="zh-CN" altLang="en-US" sz="2400" dirty="0" smtClean="0"/>
              <a:t>：</a:t>
            </a:r>
            <a:endParaRPr lang="en-US" altLang="zh-CN" sz="2400" dirty="0" smtClean="0"/>
          </a:p>
          <a:p>
            <a:pPr marL="720000" lvl="2" indent="-288000">
              <a:lnSpc>
                <a:spcPct val="100000"/>
              </a:lnSpc>
              <a:spcBef>
                <a:spcPts val="600"/>
              </a:spcBef>
              <a:buClr>
                <a:srgbClr val="FF0000"/>
              </a:buClr>
              <a:buSzPct val="100000"/>
              <a:buNone/>
            </a:pPr>
            <a:r>
              <a:rPr lang="zh-CN" altLang="en-US" sz="2400" dirty="0" smtClean="0"/>
              <a:t>（</a:t>
            </a:r>
            <a:r>
              <a:rPr lang="en-US" altLang="zh-CN" sz="2400" dirty="0" smtClean="0"/>
              <a:t>1</a:t>
            </a:r>
            <a:r>
              <a:rPr lang="zh-CN" altLang="en-US" sz="2400" dirty="0" smtClean="0"/>
              <a:t>）</a:t>
            </a:r>
            <a:r>
              <a:rPr lang="en-US" altLang="zh-CN" sz="2400" dirty="0" smtClean="0"/>
              <a:t>74194</a:t>
            </a:r>
            <a:r>
              <a:rPr lang="zh-CN" altLang="en-US" sz="2400" dirty="0"/>
              <a:t>实现左移、右移和并入置数的电路</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85</a:t>
            </a:fld>
            <a:endParaRPr lang="zh-CN" altLang="en-US"/>
          </a:p>
        </p:txBody>
      </p:sp>
      <p:sp>
        <p:nvSpPr>
          <p:cNvPr id="5" name="Text Box 7"/>
          <p:cNvSpPr txBox="1">
            <a:spLocks noChangeArrowheads="1"/>
          </p:cNvSpPr>
          <p:nvPr/>
        </p:nvSpPr>
        <p:spPr bwMode="auto">
          <a:xfrm>
            <a:off x="2123728" y="5805264"/>
            <a:ext cx="5472608"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000" b="1" dirty="0" smtClean="0"/>
              <a:t>图</a:t>
            </a:r>
            <a:r>
              <a:rPr lang="en-US" altLang="zh-CN" sz="2000" b="1" dirty="0" smtClean="0"/>
              <a:t>    </a:t>
            </a:r>
            <a:r>
              <a:rPr lang="en-US" altLang="zh-CN" sz="2000" b="1" dirty="0"/>
              <a:t>74194</a:t>
            </a:r>
            <a:r>
              <a:rPr lang="zh-CN" altLang="en-US" sz="2000" b="1" dirty="0"/>
              <a:t>分别实现左移、右移和并入功能</a:t>
            </a:r>
          </a:p>
        </p:txBody>
      </p:sp>
      <p:pic>
        <p:nvPicPr>
          <p:cNvPr id="6" name="Picture 9" descr="5-5-39"/>
          <p:cNvPicPr>
            <a:picLocks noChangeAspect="1" noChangeArrowheads="1"/>
          </p:cNvPicPr>
          <p:nvPr/>
        </p:nvPicPr>
        <p:blipFill>
          <a:blip r:embed="rId2" cstate="print">
            <a:clrChange>
              <a:clrFrom>
                <a:srgbClr val="F3F4EB"/>
              </a:clrFrom>
              <a:clrTo>
                <a:srgbClr val="F3F4EB">
                  <a:alpha val="0"/>
                </a:srgbClr>
              </a:clrTo>
            </a:clrChange>
            <a:lum bright="-12000" contrast="54000"/>
            <a:extLst>
              <a:ext uri="{28A0092B-C50C-407E-A947-70E740481C1C}">
                <a14:useLocalDpi xmlns:a14="http://schemas.microsoft.com/office/drawing/2010/main" xmlns="" val="0"/>
              </a:ext>
            </a:extLst>
          </a:blip>
          <a:srcRect/>
          <a:stretch>
            <a:fillRect/>
          </a:stretch>
        </p:blipFill>
        <p:spPr bwMode="auto">
          <a:xfrm>
            <a:off x="641744" y="3474735"/>
            <a:ext cx="8034711" cy="2402537"/>
          </a:xfrm>
          <a:prstGeom prst="rect">
            <a:avLst/>
          </a:prstGeom>
          <a:noFill/>
          <a:extLst>
            <a:ext uri="{909E8E84-426E-40DD-AFC4-6F175D3DCCD1}">
              <a14:hiddenFill xmlns:a14="http://schemas.microsoft.com/office/drawing/2010/main" xmlns="">
                <a:solidFill>
                  <a:srgbClr val="FFFFFF"/>
                </a:solidFill>
              </a14:hiddenFill>
            </a:ext>
          </a:extLst>
        </p:spPr>
      </p:pic>
      <p:sp>
        <p:nvSpPr>
          <p:cNvPr id="7" name="标题 1"/>
          <p:cNvSpPr txBox="1">
            <a:spLocks/>
          </p:cNvSpPr>
          <p:nvPr/>
        </p:nvSpPr>
        <p:spPr bwMode="auto">
          <a:xfrm>
            <a:off x="1331640" y="1124744"/>
            <a:ext cx="7560840"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集成移位寄存器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74194</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234742494"/>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260648"/>
            <a:ext cx="7416824" cy="566936"/>
          </a:xfrm>
        </p:spPr>
        <p:txBody>
          <a:bodyPr/>
          <a:lstStyle/>
          <a:p>
            <a:r>
              <a:rPr lang="en-US" altLang="zh-CN" dirty="0" smtClean="0"/>
              <a:t>6.5 </a:t>
            </a:r>
            <a:r>
              <a:rPr lang="zh-CN" altLang="en-US" dirty="0" smtClean="0"/>
              <a:t>寄存器</a:t>
            </a:r>
            <a:endParaRPr lang="zh-CN" altLang="en-US" dirty="0"/>
          </a:p>
        </p:txBody>
      </p:sp>
      <p:sp>
        <p:nvSpPr>
          <p:cNvPr id="3" name="内容占位符 2"/>
          <p:cNvSpPr>
            <a:spLocks noGrp="1"/>
          </p:cNvSpPr>
          <p:nvPr>
            <p:ph idx="1"/>
          </p:nvPr>
        </p:nvSpPr>
        <p:spPr>
          <a:xfrm>
            <a:off x="467544" y="1988840"/>
            <a:ext cx="8487544" cy="4608512"/>
          </a:xfrm>
        </p:spPr>
        <p:txBody>
          <a:bodyPr/>
          <a:lstStyle/>
          <a:p>
            <a:pPr lvl="0">
              <a:buSzPct val="100000"/>
              <a:buFont typeface="Wingdings" pitchFamily="2" charset="2"/>
              <a:buChar char="p"/>
            </a:pPr>
            <a:r>
              <a:rPr lang="zh-CN" altLang="en-US" sz="2800" dirty="0" smtClean="0"/>
              <a:t>多功能集成寄存器</a:t>
            </a:r>
            <a:r>
              <a:rPr lang="en-US" altLang="zh-CN" sz="2800" dirty="0" smtClean="0">
                <a:solidFill>
                  <a:schemeClr val="tx2"/>
                </a:solidFill>
              </a:rPr>
              <a:t>74194</a:t>
            </a:r>
            <a:endParaRPr lang="zh-CN" altLang="en-US" sz="2800" dirty="0" smtClean="0">
              <a:solidFill>
                <a:schemeClr val="tx2"/>
              </a:solidFill>
            </a:endParaRPr>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86</a:t>
            </a:fld>
            <a:endParaRPr lang="zh-CN" altLang="en-US"/>
          </a:p>
        </p:txBody>
      </p:sp>
      <p:sp>
        <p:nvSpPr>
          <p:cNvPr id="5" name="Text Box 8"/>
          <p:cNvSpPr txBox="1">
            <a:spLocks noChangeArrowheads="1"/>
          </p:cNvSpPr>
          <p:nvPr/>
        </p:nvSpPr>
        <p:spPr bwMode="auto">
          <a:xfrm>
            <a:off x="827584" y="2420888"/>
            <a:ext cx="7272338"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sz="2400" b="1" dirty="0" smtClean="0">
                <a:solidFill>
                  <a:srgbClr val="FF0000"/>
                </a:solidFill>
                <a:latin typeface="楷体_GB2312" pitchFamily="49" charset="-122"/>
                <a:ea typeface="楷体_GB2312" pitchFamily="49" charset="-122"/>
              </a:rPr>
              <a:t>【</a:t>
            </a:r>
            <a:r>
              <a:rPr lang="zh-CN" altLang="en-US" sz="2400" b="1" dirty="0" smtClean="0">
                <a:solidFill>
                  <a:srgbClr val="FF0000"/>
                </a:solidFill>
                <a:latin typeface="楷体_GB2312" pitchFamily="49" charset="-122"/>
                <a:ea typeface="楷体_GB2312" pitchFamily="49" charset="-122"/>
              </a:rPr>
              <a:t>例</a:t>
            </a:r>
            <a:r>
              <a:rPr lang="en-US" altLang="zh-CN" sz="2400" b="1" dirty="0" smtClean="0">
                <a:solidFill>
                  <a:srgbClr val="FF00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试用两片</a:t>
            </a:r>
            <a:r>
              <a:rPr lang="en-US" altLang="zh-CN" sz="2400" b="1" dirty="0">
                <a:latin typeface="楷体_GB2312" pitchFamily="49" charset="-122"/>
                <a:ea typeface="楷体_GB2312" pitchFamily="49" charset="-122"/>
              </a:rPr>
              <a:t>74194</a:t>
            </a:r>
            <a:r>
              <a:rPr lang="zh-CN" altLang="en-US" sz="2400" b="1" dirty="0">
                <a:latin typeface="楷体_GB2312" pitchFamily="49" charset="-122"/>
                <a:ea typeface="楷体_GB2312" pitchFamily="49" charset="-122"/>
              </a:rPr>
              <a:t>构成</a:t>
            </a:r>
            <a:r>
              <a:rPr lang="en-US" altLang="zh-CN" sz="2400" b="1" dirty="0">
                <a:latin typeface="楷体_GB2312" pitchFamily="49" charset="-122"/>
                <a:ea typeface="楷体_GB2312" pitchFamily="49" charset="-122"/>
              </a:rPr>
              <a:t>8</a:t>
            </a:r>
            <a:r>
              <a:rPr lang="zh-CN" altLang="en-US" sz="2400" b="1" dirty="0">
                <a:latin typeface="楷体_GB2312" pitchFamily="49" charset="-122"/>
                <a:ea typeface="楷体_GB2312" pitchFamily="49" charset="-122"/>
              </a:rPr>
              <a:t>位移位寄存器。</a:t>
            </a:r>
          </a:p>
        </p:txBody>
      </p:sp>
      <p:sp>
        <p:nvSpPr>
          <p:cNvPr id="6" name="Text Box 6"/>
          <p:cNvSpPr txBox="1">
            <a:spLocks noChangeArrowheads="1"/>
          </p:cNvSpPr>
          <p:nvPr/>
        </p:nvSpPr>
        <p:spPr bwMode="auto">
          <a:xfrm>
            <a:off x="3419872" y="6381328"/>
            <a:ext cx="256857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zh-CN" altLang="en-US" sz="1600" b="1" dirty="0" smtClean="0"/>
              <a:t>图</a:t>
            </a:r>
            <a:r>
              <a:rPr lang="en-US" altLang="zh-CN" sz="1600" b="1" dirty="0" smtClean="0"/>
              <a:t>  </a:t>
            </a:r>
            <a:r>
              <a:rPr lang="en-US" altLang="zh-CN" sz="1600" b="1" dirty="0"/>
              <a:t>【</a:t>
            </a:r>
            <a:r>
              <a:rPr lang="zh-CN" altLang="en-US" sz="1600" b="1" dirty="0"/>
              <a:t>例</a:t>
            </a:r>
            <a:r>
              <a:rPr lang="en-US" altLang="zh-CN" sz="1600" b="1" dirty="0"/>
              <a:t>1】</a:t>
            </a:r>
            <a:r>
              <a:rPr lang="zh-CN" altLang="en-US" sz="1600" b="1" dirty="0"/>
              <a:t>图解</a:t>
            </a:r>
          </a:p>
        </p:txBody>
      </p:sp>
      <p:grpSp>
        <p:nvGrpSpPr>
          <p:cNvPr id="7" name="Group 7"/>
          <p:cNvGrpSpPr>
            <a:grpSpLocks/>
          </p:cNvGrpSpPr>
          <p:nvPr/>
        </p:nvGrpSpPr>
        <p:grpSpPr bwMode="auto">
          <a:xfrm>
            <a:off x="1259632" y="3068960"/>
            <a:ext cx="7056784" cy="3096344"/>
            <a:chOff x="249" y="663"/>
            <a:chExt cx="5355" cy="2407"/>
          </a:xfrm>
        </p:grpSpPr>
        <p:pic>
          <p:nvPicPr>
            <p:cNvPr id="8" name="Picture 8" descr="5-5-40"/>
            <p:cNvPicPr>
              <a:picLocks noChangeAspect="1" noChangeArrowheads="1"/>
            </p:cNvPicPr>
            <p:nvPr/>
          </p:nvPicPr>
          <p:blipFill>
            <a:blip r:embed="rId2" cstate="print">
              <a:clrChange>
                <a:clrFrom>
                  <a:srgbClr val="FAFBF5"/>
                </a:clrFrom>
                <a:clrTo>
                  <a:srgbClr val="FAFBF5">
                    <a:alpha val="0"/>
                  </a:srgbClr>
                </a:clrTo>
              </a:clrChange>
              <a:lum bright="-6000" contrast="42000"/>
              <a:extLst>
                <a:ext uri="{28A0092B-C50C-407E-A947-70E740481C1C}">
                  <a14:useLocalDpi xmlns:a14="http://schemas.microsoft.com/office/drawing/2010/main" xmlns="" val="0"/>
                </a:ext>
              </a:extLst>
            </a:blip>
            <a:srcRect/>
            <a:stretch>
              <a:fillRect/>
            </a:stretch>
          </p:blipFill>
          <p:spPr bwMode="auto">
            <a:xfrm>
              <a:off x="249" y="663"/>
              <a:ext cx="5355" cy="2407"/>
            </a:xfrm>
            <a:prstGeom prst="rect">
              <a:avLst/>
            </a:prstGeom>
            <a:noFill/>
            <a:extLst>
              <a:ext uri="{909E8E84-426E-40DD-AFC4-6F175D3DCCD1}">
                <a14:hiddenFill xmlns:a14="http://schemas.microsoft.com/office/drawing/2010/main" xmlns="">
                  <a:solidFill>
                    <a:srgbClr val="FFFFFF"/>
                  </a:solidFill>
                </a14:hiddenFill>
              </a:ext>
            </a:extLst>
          </p:spPr>
        </p:pic>
        <p:sp>
          <p:nvSpPr>
            <p:cNvPr id="9" name="Line 9"/>
            <p:cNvSpPr>
              <a:spLocks noChangeShapeType="1"/>
            </p:cNvSpPr>
            <p:nvPr/>
          </p:nvSpPr>
          <p:spPr bwMode="auto">
            <a:xfrm>
              <a:off x="4150" y="2568"/>
              <a:ext cx="771"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0" name="Line 10"/>
            <p:cNvSpPr>
              <a:spLocks noChangeShapeType="1"/>
            </p:cNvSpPr>
            <p:nvPr/>
          </p:nvSpPr>
          <p:spPr bwMode="auto">
            <a:xfrm>
              <a:off x="884" y="2614"/>
              <a:ext cx="771"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1" name="Text Box 11"/>
            <p:cNvSpPr txBox="1">
              <a:spLocks noChangeArrowheads="1"/>
            </p:cNvSpPr>
            <p:nvPr/>
          </p:nvSpPr>
          <p:spPr bwMode="auto">
            <a:xfrm>
              <a:off x="657" y="2704"/>
              <a:ext cx="86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0000"/>
                  </a:solidFill>
                </a:rPr>
                <a:t>左串出</a:t>
              </a:r>
            </a:p>
          </p:txBody>
        </p:sp>
        <p:sp>
          <p:nvSpPr>
            <p:cNvPr id="12" name="Text Box 12"/>
            <p:cNvSpPr txBox="1">
              <a:spLocks noChangeArrowheads="1"/>
            </p:cNvSpPr>
            <p:nvPr/>
          </p:nvSpPr>
          <p:spPr bwMode="auto">
            <a:xfrm>
              <a:off x="4468" y="2643"/>
              <a:ext cx="862"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a:solidFill>
                    <a:srgbClr val="FF0000"/>
                  </a:solidFill>
                </a:rPr>
                <a:t>右串出</a:t>
              </a:r>
            </a:p>
          </p:txBody>
        </p:sp>
      </p:grpSp>
      <p:sp>
        <p:nvSpPr>
          <p:cNvPr id="13" name="标题 1"/>
          <p:cNvSpPr txBox="1">
            <a:spLocks/>
          </p:cNvSpPr>
          <p:nvPr/>
        </p:nvSpPr>
        <p:spPr bwMode="auto">
          <a:xfrm>
            <a:off x="1331640" y="1124744"/>
            <a:ext cx="7560840"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集成移位寄存器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74194</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41442907"/>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331640" y="332656"/>
            <a:ext cx="7560840" cy="566936"/>
          </a:xfrm>
        </p:spPr>
        <p:txBody>
          <a:bodyPr/>
          <a:lstStyle/>
          <a:p>
            <a:r>
              <a:rPr lang="en-US" altLang="zh-CN" dirty="0" smtClean="0"/>
              <a:t>6.5 </a:t>
            </a:r>
            <a:r>
              <a:rPr lang="zh-CN" altLang="en-US" dirty="0" smtClean="0"/>
              <a:t>寄存器</a:t>
            </a:r>
            <a:endParaRPr lang="zh-CN" altLang="en-US" dirty="0"/>
          </a:p>
        </p:txBody>
      </p:sp>
      <p:sp>
        <p:nvSpPr>
          <p:cNvPr id="3" name="内容占位符 2"/>
          <p:cNvSpPr>
            <a:spLocks noGrp="1"/>
          </p:cNvSpPr>
          <p:nvPr>
            <p:ph idx="1"/>
          </p:nvPr>
        </p:nvSpPr>
        <p:spPr>
          <a:xfrm>
            <a:off x="467544" y="1988840"/>
            <a:ext cx="8487544" cy="4752528"/>
          </a:xfrm>
        </p:spPr>
        <p:txBody>
          <a:bodyPr/>
          <a:lstStyle/>
          <a:p>
            <a:pPr lvl="0">
              <a:buSzPct val="100000"/>
              <a:buFont typeface="Wingdings" pitchFamily="2" charset="2"/>
              <a:buChar char="p"/>
            </a:pPr>
            <a:r>
              <a:rPr lang="zh-CN" altLang="en-US" sz="2800" dirty="0" smtClean="0"/>
              <a:t>多功能集成寄存器</a:t>
            </a:r>
            <a:r>
              <a:rPr lang="en-US" altLang="zh-CN" sz="2800" dirty="0" smtClean="0">
                <a:solidFill>
                  <a:schemeClr val="tx2"/>
                </a:solidFill>
              </a:rPr>
              <a:t>74194</a:t>
            </a:r>
            <a:endParaRPr lang="zh-CN" altLang="en-US" sz="2800" dirty="0" smtClean="0">
              <a:solidFill>
                <a:schemeClr val="tx2"/>
              </a:solidFill>
            </a:endParaRP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87</a:t>
            </a:fld>
            <a:endParaRPr lang="zh-CN" altLang="en-US"/>
          </a:p>
        </p:txBody>
      </p:sp>
      <p:sp>
        <p:nvSpPr>
          <p:cNvPr id="5" name="Text Box 6"/>
          <p:cNvSpPr txBox="1">
            <a:spLocks noChangeArrowheads="1"/>
          </p:cNvSpPr>
          <p:nvPr/>
        </p:nvSpPr>
        <p:spPr bwMode="auto">
          <a:xfrm>
            <a:off x="467544" y="2492896"/>
            <a:ext cx="8352928"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sz="2400" b="1" dirty="0" smtClean="0">
                <a:solidFill>
                  <a:srgbClr val="FF0000"/>
                </a:solidFill>
                <a:latin typeface="楷体_GB2312" pitchFamily="49" charset="-122"/>
                <a:ea typeface="楷体_GB2312" pitchFamily="49" charset="-122"/>
              </a:rPr>
              <a:t>【</a:t>
            </a:r>
            <a:r>
              <a:rPr lang="zh-CN" altLang="en-US" sz="2400" b="1" dirty="0" smtClean="0">
                <a:solidFill>
                  <a:srgbClr val="FF0000"/>
                </a:solidFill>
                <a:latin typeface="楷体_GB2312" pitchFamily="49" charset="-122"/>
                <a:ea typeface="楷体_GB2312" pitchFamily="49" charset="-122"/>
              </a:rPr>
              <a:t>例</a:t>
            </a:r>
            <a:r>
              <a:rPr lang="en-US" altLang="zh-CN" sz="2400" b="1" dirty="0" smtClean="0">
                <a:solidFill>
                  <a:srgbClr val="FF0000"/>
                </a:solidFill>
                <a:latin typeface="楷体_GB2312" pitchFamily="49" charset="-122"/>
                <a:ea typeface="楷体_GB2312" pitchFamily="49" charset="-122"/>
              </a:rPr>
              <a:t>】</a:t>
            </a:r>
            <a:r>
              <a:rPr lang="zh-CN" altLang="en-US" sz="2400" b="1" dirty="0">
                <a:latin typeface="楷体_GB2312" pitchFamily="49" charset="-122"/>
                <a:ea typeface="楷体_GB2312" pitchFamily="49" charset="-122"/>
              </a:rPr>
              <a:t>试画出如图所示逻辑电路的输出波形（</a:t>
            </a:r>
            <a:r>
              <a:rPr lang="en-US" altLang="zh-CN" sz="2400" b="1" dirty="0">
                <a:latin typeface="楷体_GB2312" pitchFamily="49" charset="-122"/>
                <a:ea typeface="楷体_GB2312" pitchFamily="49" charset="-122"/>
              </a:rPr>
              <a:t>Q</a:t>
            </a:r>
            <a:r>
              <a:rPr lang="en-US" altLang="zh-CN" sz="2400" b="1" baseline="-25000" dirty="0">
                <a:latin typeface="楷体_GB2312" pitchFamily="49" charset="-122"/>
                <a:ea typeface="楷体_GB2312" pitchFamily="49" charset="-122"/>
              </a:rPr>
              <a:t>0</a:t>
            </a:r>
            <a:r>
              <a:rPr lang="zh-CN" altLang="en-US" sz="2400" b="1" dirty="0">
                <a:latin typeface="楷体_GB2312" pitchFamily="49" charset="-122"/>
                <a:ea typeface="楷体_GB2312" pitchFamily="49" charset="-122"/>
              </a:rPr>
              <a:t>～</a:t>
            </a:r>
            <a:r>
              <a:rPr lang="en-US" altLang="zh-CN" sz="2400" b="1" dirty="0">
                <a:latin typeface="楷体_GB2312" pitchFamily="49" charset="-122"/>
                <a:ea typeface="楷体_GB2312" pitchFamily="49" charset="-122"/>
              </a:rPr>
              <a:t>Q</a:t>
            </a:r>
            <a:r>
              <a:rPr lang="en-US" altLang="zh-CN" sz="2400" b="1" baseline="-25000" dirty="0">
                <a:latin typeface="楷体_GB2312" pitchFamily="49" charset="-122"/>
                <a:ea typeface="楷体_GB2312" pitchFamily="49" charset="-122"/>
              </a:rPr>
              <a:t>3</a:t>
            </a:r>
            <a:r>
              <a:rPr lang="en-US" altLang="zh-CN" sz="2400" b="1" dirty="0">
                <a:latin typeface="楷体_GB2312" pitchFamily="49" charset="-122"/>
                <a:ea typeface="楷体_GB2312" pitchFamily="49" charset="-122"/>
              </a:rPr>
              <a:t>)</a:t>
            </a:r>
            <a:r>
              <a:rPr lang="zh-CN" altLang="en-US" sz="2400" b="1" dirty="0">
                <a:latin typeface="楷体_GB2312" pitchFamily="49" charset="-122"/>
                <a:ea typeface="楷体_GB2312" pitchFamily="49" charset="-122"/>
              </a:rPr>
              <a:t>，并分析该电路的功能。</a:t>
            </a:r>
          </a:p>
        </p:txBody>
      </p:sp>
      <p:sp>
        <p:nvSpPr>
          <p:cNvPr id="6" name="Text Box 7"/>
          <p:cNvSpPr txBox="1">
            <a:spLocks noChangeArrowheads="1"/>
          </p:cNvSpPr>
          <p:nvPr/>
        </p:nvSpPr>
        <p:spPr bwMode="auto">
          <a:xfrm>
            <a:off x="1835696" y="6093296"/>
            <a:ext cx="2304256"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t>图</a:t>
            </a:r>
            <a:r>
              <a:rPr lang="en-US" altLang="zh-CN" sz="1600" b="1" dirty="0" smtClean="0"/>
              <a:t>   </a:t>
            </a:r>
            <a:r>
              <a:rPr lang="zh-CN" altLang="en-US" sz="1600" b="1" dirty="0" smtClean="0"/>
              <a:t>电路图</a:t>
            </a:r>
            <a:endParaRPr lang="zh-CN" altLang="en-US" sz="1600" b="1" dirty="0"/>
          </a:p>
        </p:txBody>
      </p:sp>
      <p:grpSp>
        <p:nvGrpSpPr>
          <p:cNvPr id="7" name="Group 14"/>
          <p:cNvGrpSpPr>
            <a:grpSpLocks/>
          </p:cNvGrpSpPr>
          <p:nvPr/>
        </p:nvGrpSpPr>
        <p:grpSpPr bwMode="auto">
          <a:xfrm>
            <a:off x="827583" y="3356992"/>
            <a:ext cx="4067770" cy="2522701"/>
            <a:chOff x="1111" y="1131"/>
            <a:chExt cx="3628" cy="2309"/>
          </a:xfrm>
        </p:grpSpPr>
        <p:pic>
          <p:nvPicPr>
            <p:cNvPr id="8" name="Picture 9" descr="5-5-41"/>
            <p:cNvPicPr>
              <a:picLocks noChangeAspect="1" noChangeArrowheads="1"/>
            </p:cNvPicPr>
            <p:nvPr/>
          </p:nvPicPr>
          <p:blipFill>
            <a:blip r:embed="rId2" cstate="print">
              <a:clrChange>
                <a:clrFrom>
                  <a:srgbClr val="F8F9F3"/>
                </a:clrFrom>
                <a:clrTo>
                  <a:srgbClr val="F8F9F3">
                    <a:alpha val="0"/>
                  </a:srgbClr>
                </a:clrTo>
              </a:clrChange>
              <a:lum bright="-18000" contrast="60000"/>
              <a:extLst>
                <a:ext uri="{28A0092B-C50C-407E-A947-70E740481C1C}">
                  <a14:useLocalDpi xmlns:a14="http://schemas.microsoft.com/office/drawing/2010/main" xmlns="" val="0"/>
                </a:ext>
              </a:extLst>
            </a:blip>
            <a:srcRect/>
            <a:stretch>
              <a:fillRect/>
            </a:stretch>
          </p:blipFill>
          <p:spPr bwMode="auto">
            <a:xfrm>
              <a:off x="1111" y="1131"/>
              <a:ext cx="3628" cy="2309"/>
            </a:xfrm>
            <a:prstGeom prst="rect">
              <a:avLst/>
            </a:prstGeom>
            <a:noFill/>
            <a:extLst>
              <a:ext uri="{909E8E84-426E-40DD-AFC4-6F175D3DCCD1}">
                <a14:hiddenFill xmlns:a14="http://schemas.microsoft.com/office/drawing/2010/main" xmlns="">
                  <a:solidFill>
                    <a:srgbClr val="FFFFFF"/>
                  </a:solidFill>
                </a14:hiddenFill>
              </a:ext>
            </a:extLst>
          </p:spPr>
        </p:pic>
        <p:sp>
          <p:nvSpPr>
            <p:cNvPr id="9" name="Text Box 10"/>
            <p:cNvSpPr txBox="1">
              <a:spLocks noChangeArrowheads="1"/>
            </p:cNvSpPr>
            <p:nvPr/>
          </p:nvSpPr>
          <p:spPr bwMode="auto">
            <a:xfrm>
              <a:off x="2109" y="2129"/>
              <a:ext cx="408"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sz="2000" b="1" dirty="0">
                  <a:solidFill>
                    <a:srgbClr val="FF0000"/>
                  </a:solidFill>
                </a:rPr>
                <a:t>S</a:t>
              </a:r>
              <a:r>
                <a:rPr lang="en-US" altLang="zh-CN" sz="1400" b="1" dirty="0">
                  <a:solidFill>
                    <a:srgbClr val="FF0000"/>
                  </a:solidFill>
                </a:rPr>
                <a:t>0</a:t>
              </a:r>
            </a:p>
          </p:txBody>
        </p:sp>
        <p:sp>
          <p:nvSpPr>
            <p:cNvPr id="10" name="Text Box 11"/>
            <p:cNvSpPr txBox="1">
              <a:spLocks noChangeArrowheads="1"/>
            </p:cNvSpPr>
            <p:nvPr/>
          </p:nvSpPr>
          <p:spPr bwMode="auto">
            <a:xfrm>
              <a:off x="2109" y="1902"/>
              <a:ext cx="408" cy="2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sz="2000" b="1" dirty="0">
                  <a:solidFill>
                    <a:srgbClr val="FF0000"/>
                  </a:solidFill>
                </a:rPr>
                <a:t>S</a:t>
              </a:r>
              <a:r>
                <a:rPr lang="en-US" altLang="zh-CN" sz="1400" b="1" dirty="0">
                  <a:solidFill>
                    <a:srgbClr val="FF0000"/>
                  </a:solidFill>
                </a:rPr>
                <a:t>1</a:t>
              </a:r>
            </a:p>
          </p:txBody>
        </p:sp>
      </p:grpSp>
      <p:pic>
        <p:nvPicPr>
          <p:cNvPr id="11" name="Picture 8" descr="5-5-42"/>
          <p:cNvPicPr>
            <a:picLocks noChangeAspect="1" noChangeArrowheads="1"/>
          </p:cNvPicPr>
          <p:nvPr/>
        </p:nvPicPr>
        <p:blipFill>
          <a:blip r:embed="rId3" cstate="print">
            <a:clrChange>
              <a:clrFrom>
                <a:srgbClr val="FCFDF5"/>
              </a:clrFrom>
              <a:clrTo>
                <a:srgbClr val="FCFDF5">
                  <a:alpha val="0"/>
                </a:srgbClr>
              </a:clrTo>
            </a:clrChange>
            <a:lum bright="-6000" contrast="30000"/>
            <a:extLst>
              <a:ext uri="{28A0092B-C50C-407E-A947-70E740481C1C}">
                <a14:useLocalDpi xmlns:a14="http://schemas.microsoft.com/office/drawing/2010/main" xmlns="" val="0"/>
              </a:ext>
            </a:extLst>
          </a:blip>
          <a:srcRect/>
          <a:stretch>
            <a:fillRect/>
          </a:stretch>
        </p:blipFill>
        <p:spPr bwMode="auto">
          <a:xfrm>
            <a:off x="5148063" y="3212976"/>
            <a:ext cx="3438405" cy="2751423"/>
          </a:xfrm>
          <a:prstGeom prst="rect">
            <a:avLst/>
          </a:prstGeom>
          <a:noFill/>
          <a:extLst>
            <a:ext uri="{909E8E84-426E-40DD-AFC4-6F175D3DCCD1}">
              <a14:hiddenFill xmlns:a14="http://schemas.microsoft.com/office/drawing/2010/main" xmlns="">
                <a:solidFill>
                  <a:srgbClr val="FFFFFF"/>
                </a:solidFill>
              </a14:hiddenFill>
            </a:ext>
          </a:extLst>
        </p:spPr>
      </p:pic>
      <p:sp>
        <p:nvSpPr>
          <p:cNvPr id="12" name="Text Box 6"/>
          <p:cNvSpPr txBox="1">
            <a:spLocks noChangeArrowheads="1"/>
          </p:cNvSpPr>
          <p:nvPr/>
        </p:nvSpPr>
        <p:spPr bwMode="auto">
          <a:xfrm>
            <a:off x="5868143" y="6093296"/>
            <a:ext cx="2396159"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t>图</a:t>
            </a:r>
            <a:r>
              <a:rPr lang="en-US" altLang="zh-CN" sz="1600" b="1" dirty="0" smtClean="0"/>
              <a:t>   </a:t>
            </a:r>
            <a:r>
              <a:rPr lang="zh-CN" altLang="en-US" sz="1600" b="1" dirty="0" smtClean="0"/>
              <a:t>时序</a:t>
            </a:r>
            <a:r>
              <a:rPr lang="zh-CN" altLang="en-US" sz="1600" b="1" dirty="0"/>
              <a:t>图</a:t>
            </a:r>
          </a:p>
        </p:txBody>
      </p:sp>
      <p:sp>
        <p:nvSpPr>
          <p:cNvPr id="13" name="标题 1"/>
          <p:cNvSpPr txBox="1">
            <a:spLocks/>
          </p:cNvSpPr>
          <p:nvPr/>
        </p:nvSpPr>
        <p:spPr bwMode="auto">
          <a:xfrm>
            <a:off x="1331640" y="1124744"/>
            <a:ext cx="7560840"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6.5.3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集成移位寄存器</a:t>
            </a: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74194</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1629734363"/>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几种常用的时序逻辑电路</a:t>
            </a:r>
          </a:p>
        </p:txBody>
      </p:sp>
      <p:sp>
        <p:nvSpPr>
          <p:cNvPr id="3" name="内容占位符 2"/>
          <p:cNvSpPr>
            <a:spLocks noGrp="1"/>
          </p:cNvSpPr>
          <p:nvPr>
            <p:ph idx="1"/>
          </p:nvPr>
        </p:nvSpPr>
        <p:spPr>
          <a:xfrm>
            <a:off x="70992" y="356092"/>
            <a:ext cx="9073008" cy="4752528"/>
          </a:xfrm>
          <a:solidFill>
            <a:schemeClr val="bg1"/>
          </a:solidFill>
        </p:spPr>
        <p:txBody>
          <a:bodyPr/>
          <a:lstStyle/>
          <a:p>
            <a:pPr lvl="2">
              <a:lnSpc>
                <a:spcPct val="100000"/>
              </a:lnSpc>
              <a:spcBef>
                <a:spcPts val="600"/>
              </a:spcBef>
              <a:buClr>
                <a:srgbClr val="FF0000"/>
              </a:buClr>
              <a:buSzPct val="100000"/>
            </a:pPr>
            <a:r>
              <a:rPr lang="zh-CN" altLang="en-US" sz="2400" dirty="0" smtClean="0"/>
              <a:t>（</a:t>
            </a:r>
            <a:r>
              <a:rPr lang="en-US" altLang="zh-CN" sz="2400" dirty="0"/>
              <a:t>2</a:t>
            </a:r>
            <a:r>
              <a:rPr lang="zh-CN" altLang="en-US" sz="2400" dirty="0"/>
              <a:t>）</a:t>
            </a:r>
            <a:r>
              <a:rPr lang="en-US" altLang="zh-CN" sz="2400" dirty="0"/>
              <a:t>74194</a:t>
            </a:r>
            <a:r>
              <a:rPr lang="zh-CN" altLang="en-US" sz="2400" dirty="0"/>
              <a:t>构成移位寄存器型计数器：</a:t>
            </a:r>
          </a:p>
          <a:p>
            <a:pPr marL="914400" lvl="2" indent="0">
              <a:lnSpc>
                <a:spcPct val="100000"/>
              </a:lnSpc>
              <a:spcBef>
                <a:spcPts val="600"/>
              </a:spcBef>
              <a:buNone/>
            </a:pPr>
            <a:r>
              <a:rPr lang="zh-CN" altLang="en-US" dirty="0" smtClean="0"/>
              <a:t>在</a:t>
            </a:r>
            <a:r>
              <a:rPr lang="zh-CN" altLang="en-US" dirty="0"/>
              <a:t>某些移位寄存器构成的电路中，可以</a:t>
            </a:r>
            <a:r>
              <a:rPr lang="zh-CN" altLang="en-US" dirty="0">
                <a:solidFill>
                  <a:srgbClr val="0000CC"/>
                </a:solidFill>
              </a:rPr>
              <a:t>用电路不同的状态表示输入时钟信号</a:t>
            </a:r>
            <a:r>
              <a:rPr lang="en-US" altLang="zh-CN" dirty="0">
                <a:solidFill>
                  <a:srgbClr val="0000CC"/>
                </a:solidFill>
              </a:rPr>
              <a:t>CP</a:t>
            </a:r>
            <a:r>
              <a:rPr lang="zh-CN" altLang="en-US" dirty="0">
                <a:solidFill>
                  <a:srgbClr val="0000CC"/>
                </a:solidFill>
              </a:rPr>
              <a:t>的数目</a:t>
            </a:r>
            <a:r>
              <a:rPr lang="zh-CN" altLang="en-US" dirty="0"/>
              <a:t>，即可对</a:t>
            </a:r>
            <a:r>
              <a:rPr lang="en-US" altLang="zh-CN" dirty="0"/>
              <a:t>CP</a:t>
            </a:r>
            <a:r>
              <a:rPr lang="zh-CN" altLang="en-US" dirty="0"/>
              <a:t>进行计数，这样的电路叫做</a:t>
            </a:r>
            <a:r>
              <a:rPr lang="zh-CN" altLang="en-US" dirty="0">
                <a:solidFill>
                  <a:srgbClr val="FF0000"/>
                </a:solidFill>
              </a:rPr>
              <a:t>移位寄存器型计数器</a:t>
            </a:r>
            <a:r>
              <a:rPr lang="zh-CN" altLang="en-US" dirty="0"/>
              <a:t>。</a:t>
            </a:r>
          </a:p>
          <a:p>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88</a:t>
            </a:fld>
            <a:endParaRPr lang="zh-CN" altLang="en-US"/>
          </a:p>
        </p:txBody>
      </p:sp>
      <p:sp>
        <p:nvSpPr>
          <p:cNvPr id="5" name="Text Box 6"/>
          <p:cNvSpPr txBox="1">
            <a:spLocks noChangeArrowheads="1"/>
          </p:cNvSpPr>
          <p:nvPr/>
        </p:nvSpPr>
        <p:spPr bwMode="auto">
          <a:xfrm>
            <a:off x="1368425" y="1916832"/>
            <a:ext cx="7775575"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dirty="0"/>
              <a:t>移位寄存器型计数器的一般结构形式如图：</a:t>
            </a:r>
          </a:p>
        </p:txBody>
      </p:sp>
      <p:pic>
        <p:nvPicPr>
          <p:cNvPr id="6" name="Picture 9" descr="KT"/>
          <p:cNvPicPr>
            <a:picLocks noChangeAspect="1" noChangeArrowheads="1"/>
          </p:cNvPicPr>
          <p:nvPr/>
        </p:nvPicPr>
        <p:blipFill>
          <a:blip r:embed="rId3" cstate="print">
            <a:clrChange>
              <a:clrFrom>
                <a:srgbClr val="F4F3EE"/>
              </a:clrFrom>
              <a:clrTo>
                <a:srgbClr val="F4F3EE">
                  <a:alpha val="0"/>
                </a:srgbClr>
              </a:clrTo>
            </a:clrChange>
            <a:lum bright="-6000" contrast="36000"/>
            <a:extLst>
              <a:ext uri="{28A0092B-C50C-407E-A947-70E740481C1C}">
                <a14:useLocalDpi xmlns:a14="http://schemas.microsoft.com/office/drawing/2010/main" xmlns="" val="0"/>
              </a:ext>
            </a:extLst>
          </a:blip>
          <a:srcRect/>
          <a:stretch>
            <a:fillRect/>
          </a:stretch>
        </p:blipFill>
        <p:spPr bwMode="auto">
          <a:xfrm>
            <a:off x="1691680" y="2420888"/>
            <a:ext cx="4641597" cy="2171228"/>
          </a:xfrm>
          <a:prstGeom prst="rect">
            <a:avLst/>
          </a:prstGeom>
          <a:noFill/>
          <a:extLst>
            <a:ext uri="{909E8E84-426E-40DD-AFC4-6F175D3DCCD1}">
              <a14:hiddenFill xmlns:a14="http://schemas.microsoft.com/office/drawing/2010/main" xmlns="">
                <a:solidFill>
                  <a:srgbClr val="FFFFFF"/>
                </a:solidFill>
              </a14:hiddenFill>
            </a:ext>
          </a:extLst>
        </p:spPr>
      </p:pic>
      <p:sp>
        <p:nvSpPr>
          <p:cNvPr id="7" name="Text Box 7"/>
          <p:cNvSpPr txBox="1">
            <a:spLocks noChangeArrowheads="1"/>
          </p:cNvSpPr>
          <p:nvPr/>
        </p:nvSpPr>
        <p:spPr bwMode="auto">
          <a:xfrm>
            <a:off x="1619672" y="4869160"/>
            <a:ext cx="3730052"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zh-CN" altLang="en-US" b="1" dirty="0"/>
              <a:t>其中反馈电路函数形式可写成：</a:t>
            </a:r>
          </a:p>
        </p:txBody>
      </p:sp>
      <p:graphicFrame>
        <p:nvGraphicFramePr>
          <p:cNvPr id="8" name="Object 8"/>
          <p:cNvGraphicFramePr>
            <a:graphicFrameLocks noChangeAspect="1"/>
          </p:cNvGraphicFramePr>
          <p:nvPr>
            <p:extLst>
              <p:ext uri="{D42A27DB-BD31-4B8C-83A1-F6EECF244321}">
                <p14:modId xmlns:p14="http://schemas.microsoft.com/office/powerpoint/2010/main" xmlns="" val="179753612"/>
              </p:ext>
            </p:extLst>
          </p:nvPr>
        </p:nvGraphicFramePr>
        <p:xfrm>
          <a:off x="1736725" y="5311775"/>
          <a:ext cx="5892800" cy="1279525"/>
        </p:xfrm>
        <a:graphic>
          <a:graphicData uri="http://schemas.openxmlformats.org/presentationml/2006/ole">
            <p:oleObj spid="_x0000_s30771" name="公式" r:id="rId4" imgW="3340080" imgH="723600" progId="">
              <p:embed/>
            </p:oleObj>
          </a:graphicData>
        </a:graphic>
      </p:graphicFrame>
    </p:spTree>
    <p:extLst>
      <p:ext uri="{BB962C8B-B14F-4D97-AF65-F5344CB8AC3E}">
        <p14:creationId xmlns:p14="http://schemas.microsoft.com/office/powerpoint/2010/main" xmlns="" val="1567403719"/>
      </p:ext>
    </p:extLst>
  </p:cSld>
  <p:clrMapOvr>
    <a:masterClrMapping/>
  </p:clrMapOvr>
  <p:timing>
    <p:tnLst>
      <p:par>
        <p:cTn id="1" dur="indefinite" restart="never" nodeType="tmRoot"/>
      </p:par>
    </p:tn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89</a:t>
            </a:fld>
            <a:endParaRPr lang="zh-CN" altLang="en-US"/>
          </a:p>
        </p:txBody>
      </p:sp>
      <p:sp>
        <p:nvSpPr>
          <p:cNvPr id="6" name="Text Box 7"/>
          <p:cNvSpPr txBox="1">
            <a:spLocks noChangeArrowheads="1"/>
          </p:cNvSpPr>
          <p:nvPr/>
        </p:nvSpPr>
        <p:spPr bwMode="auto">
          <a:xfrm>
            <a:off x="2627783" y="3158192"/>
            <a:ext cx="38895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t>图</a:t>
            </a:r>
            <a:r>
              <a:rPr lang="en-US" altLang="zh-CN" sz="1600" b="1" dirty="0" smtClean="0"/>
              <a:t>   </a:t>
            </a:r>
            <a:r>
              <a:rPr lang="zh-CN" altLang="en-US" sz="1600" b="1" dirty="0"/>
              <a:t>四位</a:t>
            </a:r>
            <a:r>
              <a:rPr lang="zh-CN" altLang="en-US" sz="1600" b="1" dirty="0" smtClean="0"/>
              <a:t>环形计数器（右移移位）电路图</a:t>
            </a:r>
            <a:endParaRPr lang="zh-CN" altLang="en-US" sz="1600" b="1" dirty="0"/>
          </a:p>
        </p:txBody>
      </p:sp>
      <p:sp>
        <p:nvSpPr>
          <p:cNvPr id="7" name="Text Box 8"/>
          <p:cNvSpPr txBox="1">
            <a:spLocks noChangeArrowheads="1"/>
          </p:cNvSpPr>
          <p:nvPr/>
        </p:nvSpPr>
        <p:spPr bwMode="auto">
          <a:xfrm>
            <a:off x="748332" y="3568756"/>
            <a:ext cx="7856116" cy="1089529"/>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nSpc>
                <a:spcPct val="120000"/>
              </a:lnSpc>
            </a:pPr>
            <a:r>
              <a:rPr lang="zh-CN" altLang="en-US" b="1" dirty="0" smtClean="0"/>
              <a:t>取</a:t>
            </a:r>
            <a:r>
              <a:rPr lang="en-US" altLang="zh-CN" b="1" dirty="0" smtClean="0"/>
              <a:t>Q</a:t>
            </a:r>
            <a:r>
              <a:rPr lang="en-US" altLang="zh-CN" b="1" baseline="-25000" dirty="0" smtClean="0"/>
              <a:t>0</a:t>
            </a:r>
            <a:r>
              <a:rPr lang="en-US" altLang="zh-CN" b="1" dirty="0" smtClean="0"/>
              <a:t>Q</a:t>
            </a:r>
            <a:r>
              <a:rPr lang="en-US" altLang="zh-CN" b="1" baseline="-25000" dirty="0" smtClean="0"/>
              <a:t>1</a:t>
            </a:r>
            <a:r>
              <a:rPr lang="en-US" altLang="zh-CN" b="1" dirty="0" smtClean="0"/>
              <a:t>Q</a:t>
            </a:r>
            <a:r>
              <a:rPr lang="en-US" altLang="zh-CN" b="1" baseline="-25000" dirty="0" smtClean="0"/>
              <a:t>2</a:t>
            </a:r>
            <a:r>
              <a:rPr lang="en-US" altLang="zh-CN" b="1" dirty="0" smtClean="0"/>
              <a:t>Q</a:t>
            </a:r>
            <a:r>
              <a:rPr lang="en-US" altLang="zh-CN" b="1" baseline="-25000" dirty="0" smtClean="0"/>
              <a:t>3</a:t>
            </a:r>
            <a:r>
              <a:rPr lang="zh-CN" altLang="en-US" b="1" dirty="0" smtClean="0"/>
              <a:t>中</a:t>
            </a:r>
            <a:r>
              <a:rPr lang="zh-CN" altLang="en-US" b="1" dirty="0" smtClean="0">
                <a:solidFill>
                  <a:srgbClr val="0000CC"/>
                </a:solidFill>
              </a:rPr>
              <a:t>只有一个</a:t>
            </a:r>
            <a:r>
              <a:rPr lang="en-US" altLang="zh-CN" b="1" dirty="0" smtClean="0">
                <a:solidFill>
                  <a:srgbClr val="0000CC"/>
                </a:solidFill>
              </a:rPr>
              <a:t>1</a:t>
            </a:r>
            <a:r>
              <a:rPr lang="zh-CN" altLang="en-US" b="1" dirty="0" smtClean="0">
                <a:solidFill>
                  <a:srgbClr val="0000CC"/>
                </a:solidFill>
              </a:rPr>
              <a:t>的循环为主循环</a:t>
            </a:r>
            <a:r>
              <a:rPr lang="zh-CN" altLang="en-US" b="1" dirty="0" smtClean="0"/>
              <a:t>，即</a:t>
            </a:r>
            <a:r>
              <a:rPr lang="zh-CN" altLang="en-US" b="1" dirty="0" smtClean="0"/>
              <a:t>                                    ， 则</a:t>
            </a:r>
            <a:r>
              <a:rPr lang="zh-CN" altLang="en-US" b="1" dirty="0"/>
              <a:t>状态转换图</a:t>
            </a:r>
            <a:r>
              <a:rPr lang="zh-CN" altLang="en-US" b="1" dirty="0" smtClean="0"/>
              <a:t>如下图所示。由于</a:t>
            </a:r>
            <a:r>
              <a:rPr lang="en-US" altLang="zh-CN" b="1" dirty="0" smtClean="0"/>
              <a:t>4</a:t>
            </a:r>
            <a:r>
              <a:rPr lang="zh-CN" altLang="en-US" b="1" dirty="0" smtClean="0"/>
              <a:t>个触发器可以形成</a:t>
            </a:r>
            <a:r>
              <a:rPr lang="en-US" altLang="zh-CN" b="1" dirty="0" smtClean="0"/>
              <a:t>4</a:t>
            </a:r>
            <a:r>
              <a:rPr lang="zh-CN" altLang="en-US" b="1" dirty="0" smtClean="0"/>
              <a:t>个状态，所以可以做</a:t>
            </a:r>
            <a:r>
              <a:rPr lang="zh-CN" altLang="en-US" b="1" dirty="0" smtClean="0">
                <a:solidFill>
                  <a:srgbClr val="FF0000"/>
                </a:solidFill>
              </a:rPr>
              <a:t>模</a:t>
            </a:r>
            <a:r>
              <a:rPr lang="en-US" altLang="zh-CN" b="1" dirty="0" smtClean="0">
                <a:solidFill>
                  <a:srgbClr val="FF0000"/>
                </a:solidFill>
              </a:rPr>
              <a:t>4</a:t>
            </a:r>
            <a:r>
              <a:rPr lang="zh-CN" altLang="en-US" b="1" dirty="0" smtClean="0">
                <a:solidFill>
                  <a:srgbClr val="FF0000"/>
                </a:solidFill>
              </a:rPr>
              <a:t>计数</a:t>
            </a:r>
            <a:r>
              <a:rPr lang="zh-CN" altLang="en-US" b="1" dirty="0" smtClean="0">
                <a:solidFill>
                  <a:srgbClr val="FF0000"/>
                </a:solidFill>
              </a:rPr>
              <a:t>器</a:t>
            </a:r>
            <a:r>
              <a:rPr lang="zh-CN" altLang="en-US" b="1" dirty="0" smtClean="0"/>
              <a:t>。</a:t>
            </a:r>
            <a:endParaRPr lang="zh-CN" altLang="en-US" b="1" dirty="0"/>
          </a:p>
        </p:txBody>
      </p:sp>
      <p:sp>
        <p:nvSpPr>
          <p:cNvPr id="8" name="Text Box 9"/>
          <p:cNvSpPr txBox="1">
            <a:spLocks noChangeArrowheads="1"/>
          </p:cNvSpPr>
          <p:nvPr/>
        </p:nvSpPr>
        <p:spPr bwMode="auto">
          <a:xfrm>
            <a:off x="2915816" y="6309320"/>
            <a:ext cx="38164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t>图</a:t>
            </a:r>
            <a:r>
              <a:rPr lang="en-US" altLang="zh-CN" sz="1600" b="1" dirty="0" smtClean="0"/>
              <a:t>   </a:t>
            </a:r>
            <a:r>
              <a:rPr lang="zh-CN" altLang="en-US" sz="1600" b="1" dirty="0"/>
              <a:t>四位环形计数器状态转换图</a:t>
            </a:r>
          </a:p>
        </p:txBody>
      </p:sp>
      <p:graphicFrame>
        <p:nvGraphicFramePr>
          <p:cNvPr id="9" name="Object 10"/>
          <p:cNvGraphicFramePr>
            <a:graphicFrameLocks noChangeAspect="1"/>
          </p:cNvGraphicFramePr>
          <p:nvPr>
            <p:extLst>
              <p:ext uri="{D42A27DB-BD31-4B8C-83A1-F6EECF244321}">
                <p14:modId xmlns:p14="http://schemas.microsoft.com/office/powerpoint/2010/main" xmlns="" val="2282338012"/>
              </p:ext>
            </p:extLst>
          </p:nvPr>
        </p:nvGraphicFramePr>
        <p:xfrm>
          <a:off x="5724128" y="3573016"/>
          <a:ext cx="2339727" cy="363153"/>
        </p:xfrm>
        <a:graphic>
          <a:graphicData uri="http://schemas.openxmlformats.org/presentationml/2006/ole">
            <p:oleObj spid="_x0000_s31789" name="公式" r:id="rId3" imgW="1180800" imgH="241200" progId="">
              <p:embed/>
            </p:oleObj>
          </a:graphicData>
        </a:graphic>
      </p:graphicFrame>
      <p:pic>
        <p:nvPicPr>
          <p:cNvPr id="10" name="Picture 12" descr="5-5-43"/>
          <p:cNvPicPr>
            <a:picLocks noChangeAspect="1" noChangeArrowheads="1"/>
          </p:cNvPicPr>
          <p:nvPr/>
        </p:nvPicPr>
        <p:blipFill>
          <a:blip r:embed="rId4" cstate="print">
            <a:clrChange>
              <a:clrFrom>
                <a:srgbClr val="F4F5EE"/>
              </a:clrFrom>
              <a:clrTo>
                <a:srgbClr val="F4F5EE">
                  <a:alpha val="0"/>
                </a:srgbClr>
              </a:clrTo>
            </a:clrChange>
            <a:lum bright="-18000" contrast="60000"/>
            <a:extLst>
              <a:ext uri="{28A0092B-C50C-407E-A947-70E740481C1C}">
                <a14:useLocalDpi xmlns:a14="http://schemas.microsoft.com/office/drawing/2010/main" xmlns="" val="0"/>
              </a:ext>
            </a:extLst>
          </a:blip>
          <a:srcRect/>
          <a:stretch>
            <a:fillRect/>
          </a:stretch>
        </p:blipFill>
        <p:spPr bwMode="auto">
          <a:xfrm>
            <a:off x="1619672" y="1369941"/>
            <a:ext cx="5688632" cy="1711235"/>
          </a:xfrm>
          <a:prstGeom prst="rect">
            <a:avLst/>
          </a:prstGeom>
          <a:solidFill>
            <a:schemeClr val="bg1"/>
          </a:solidFill>
        </p:spPr>
      </p:pic>
      <p:sp>
        <p:nvSpPr>
          <p:cNvPr id="12" name="Text Box 6"/>
          <p:cNvSpPr txBox="1">
            <a:spLocks noChangeArrowheads="1"/>
          </p:cNvSpPr>
          <p:nvPr/>
        </p:nvSpPr>
        <p:spPr bwMode="auto">
          <a:xfrm>
            <a:off x="1115616" y="764704"/>
            <a:ext cx="2665413" cy="523220"/>
          </a:xfrm>
          <a:prstGeom prst="rect">
            <a:avLst/>
          </a:prstGeom>
          <a:solidFill>
            <a:schemeClr val="bg1"/>
          </a:solidFill>
          <a:ln>
            <a:noFill/>
          </a:ln>
          <a:effectLst/>
        </p:spPr>
        <p:txBody>
          <a:bodyPr>
            <a:spAutoFit/>
          </a:bodyPr>
          <a:lstStyle/>
          <a:p>
            <a:pPr>
              <a:spcBef>
                <a:spcPct val="50000"/>
              </a:spcBef>
            </a:pPr>
            <a:r>
              <a:rPr lang="en-US" altLang="zh-CN" sz="2800" b="1" dirty="0" smtClean="0"/>
              <a:t>1.  </a:t>
            </a:r>
            <a:r>
              <a:rPr lang="zh-CN" altLang="en-US" sz="2800" b="1" dirty="0" smtClean="0"/>
              <a:t>环形计数器</a:t>
            </a:r>
            <a:endParaRPr lang="zh-CN" altLang="en-US" sz="2800" b="1" dirty="0"/>
          </a:p>
        </p:txBody>
      </p:sp>
      <p:sp>
        <p:nvSpPr>
          <p:cNvPr id="11" name="标题 1"/>
          <p:cNvSpPr txBox="1">
            <a:spLocks/>
          </p:cNvSpPr>
          <p:nvPr/>
        </p:nvSpPr>
        <p:spPr>
          <a:xfrm>
            <a:off x="1115616" y="116632"/>
            <a:ext cx="7632848" cy="566936"/>
          </a:xfrm>
          <a:prstGeom prst="rect">
            <a:avLst/>
          </a:prstGeom>
        </p:spPr>
        <p:txBody>
          <a:bodyPr/>
          <a:lstStyle/>
          <a:p>
            <a:pPr lvl="0" fontAlgn="base">
              <a:spcBef>
                <a:spcPct val="0"/>
              </a:spcBef>
              <a:spcAft>
                <a:spcPct val="0"/>
              </a:spcAft>
            </a:pPr>
            <a:r>
              <a:rPr lang="en-US" altLang="zh-CN" sz="3200" b="1" dirty="0" smtClean="0">
                <a:solidFill>
                  <a:schemeClr val="tx2"/>
                </a:solidFill>
              </a:rPr>
              <a:t>6.5.4 </a:t>
            </a:r>
            <a:r>
              <a:rPr lang="zh-CN" altLang="en-US" sz="3200" b="1" dirty="0" smtClean="0">
                <a:solidFill>
                  <a:schemeClr val="tx2"/>
                </a:solidFill>
              </a:rPr>
              <a:t>移位寄存器构成的移位型计数器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31791" name="Picture 47"/>
          <p:cNvPicPr>
            <a:picLocks noChangeAspect="1" noChangeArrowheads="1"/>
          </p:cNvPicPr>
          <p:nvPr/>
        </p:nvPicPr>
        <p:blipFill>
          <a:blip r:embed="rId5" cstate="print"/>
          <a:srcRect/>
          <a:stretch>
            <a:fillRect/>
          </a:stretch>
        </p:blipFill>
        <p:spPr bwMode="auto">
          <a:xfrm>
            <a:off x="3635896" y="4509121"/>
            <a:ext cx="4536504" cy="1687824"/>
          </a:xfrm>
          <a:prstGeom prst="rect">
            <a:avLst/>
          </a:prstGeom>
          <a:noFill/>
          <a:ln w="9525">
            <a:noFill/>
            <a:miter lim="800000"/>
            <a:headEnd/>
            <a:tailEnd/>
          </a:ln>
        </p:spPr>
      </p:pic>
      <p:pic>
        <p:nvPicPr>
          <p:cNvPr id="31792" name="Picture 48"/>
          <p:cNvPicPr>
            <a:picLocks noChangeAspect="1" noChangeArrowheads="1"/>
          </p:cNvPicPr>
          <p:nvPr/>
        </p:nvPicPr>
        <p:blipFill>
          <a:blip r:embed="rId6" cstate="print"/>
          <a:srcRect/>
          <a:stretch>
            <a:fillRect/>
          </a:stretch>
        </p:blipFill>
        <p:spPr bwMode="auto">
          <a:xfrm>
            <a:off x="1115616" y="4653136"/>
            <a:ext cx="1368152" cy="1650333"/>
          </a:xfrm>
          <a:prstGeom prst="rect">
            <a:avLst/>
          </a:prstGeom>
          <a:noFill/>
          <a:ln w="9525">
            <a:noFill/>
            <a:miter lim="800000"/>
            <a:headEnd/>
            <a:tailEnd/>
          </a:ln>
        </p:spPr>
      </p:pic>
    </p:spTree>
    <p:extLst>
      <p:ext uri="{BB962C8B-B14F-4D97-AF65-F5344CB8AC3E}">
        <p14:creationId xmlns:p14="http://schemas.microsoft.com/office/powerpoint/2010/main" xmlns="" val="494862186"/>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8" descr="5-5-47a"/>
          <p:cNvPicPr>
            <a:picLocks noChangeAspect="1" noChangeArrowheads="1"/>
          </p:cNvPicPr>
          <p:nvPr/>
        </p:nvPicPr>
        <p:blipFill>
          <a:blip r:embed="rId2" cstate="print">
            <a:clrChange>
              <a:clrFrom>
                <a:srgbClr val="FDFEF6"/>
              </a:clrFrom>
              <a:clrTo>
                <a:srgbClr val="FDFEF6">
                  <a:alpha val="0"/>
                </a:srgbClr>
              </a:clrTo>
            </a:clrChange>
            <a:lum bright="-12000" contrast="48000"/>
            <a:extLst>
              <a:ext uri="{28A0092B-C50C-407E-A947-70E740481C1C}">
                <a14:useLocalDpi xmlns:a14="http://schemas.microsoft.com/office/drawing/2010/main" xmlns="" val="0"/>
              </a:ext>
            </a:extLst>
          </a:blip>
          <a:srcRect/>
          <a:stretch>
            <a:fillRect/>
          </a:stretch>
        </p:blipFill>
        <p:spPr bwMode="auto">
          <a:xfrm>
            <a:off x="467544" y="3356992"/>
            <a:ext cx="3495706" cy="2725078"/>
          </a:xfrm>
          <a:prstGeom prst="rect">
            <a:avLst/>
          </a:prstGeom>
          <a:noFill/>
          <a:extLst>
            <a:ext uri="{909E8E84-426E-40DD-AFC4-6F175D3DCCD1}">
              <a14:hiddenFill xmlns:a14="http://schemas.microsoft.com/office/drawing/2010/main" xmlns="">
                <a:solidFill>
                  <a:srgbClr val="FFFFFF"/>
                </a:solidFill>
              </a14:hiddenFill>
            </a:ext>
          </a:extLst>
        </p:spPr>
      </p:pic>
      <p:sp>
        <p:nvSpPr>
          <p:cNvPr id="4" name="灯片编号占位符 3"/>
          <p:cNvSpPr>
            <a:spLocks noGrp="1"/>
          </p:cNvSpPr>
          <p:nvPr>
            <p:ph type="sldNum" sz="quarter" idx="12"/>
          </p:nvPr>
        </p:nvSpPr>
        <p:spPr/>
        <p:txBody>
          <a:bodyPr/>
          <a:lstStyle/>
          <a:p>
            <a:fld id="{0C913308-F349-4B6D-A68A-DD1791B4A57B}" type="slidenum">
              <a:rPr lang="zh-CN" altLang="en-US" smtClean="0"/>
              <a:pPr/>
              <a:t>90</a:t>
            </a:fld>
            <a:endParaRPr lang="zh-CN" altLang="en-US"/>
          </a:p>
        </p:txBody>
      </p:sp>
      <p:sp>
        <p:nvSpPr>
          <p:cNvPr id="5" name="Text Box 6"/>
          <p:cNvSpPr txBox="1">
            <a:spLocks noChangeArrowheads="1"/>
          </p:cNvSpPr>
          <p:nvPr/>
        </p:nvSpPr>
        <p:spPr bwMode="auto">
          <a:xfrm>
            <a:off x="395536" y="2132856"/>
            <a:ext cx="8352928" cy="1031051"/>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marL="514350" indent="-514350">
              <a:spcBef>
                <a:spcPct val="50000"/>
              </a:spcBef>
              <a:buAutoNum type="arabicPeriod"/>
            </a:pPr>
            <a:r>
              <a:rPr lang="en-US" altLang="zh-CN" sz="2800" b="1" dirty="0" smtClean="0"/>
              <a:t>74194</a:t>
            </a:r>
            <a:r>
              <a:rPr lang="zh-CN" altLang="en-US" sz="2800" b="1" dirty="0"/>
              <a:t>用作</a:t>
            </a:r>
            <a:r>
              <a:rPr lang="zh-CN" altLang="en-US" sz="2800" b="1" dirty="0" smtClean="0"/>
              <a:t>环形计数器</a:t>
            </a:r>
            <a:endParaRPr lang="en-US" altLang="zh-CN" sz="2800" b="1" dirty="0" smtClean="0"/>
          </a:p>
          <a:p>
            <a:pPr marL="514350" indent="-514350">
              <a:spcBef>
                <a:spcPts val="600"/>
              </a:spcBef>
              <a:buClr>
                <a:srgbClr val="0000CC"/>
              </a:buClr>
              <a:buFont typeface="Wingdings" pitchFamily="2" charset="2"/>
              <a:buChar char="p"/>
            </a:pPr>
            <a:r>
              <a:rPr lang="zh-CN" altLang="en-US" sz="2800" b="1" dirty="0" smtClean="0"/>
              <a:t>构成环形左移移位寄存器 ：</a:t>
            </a:r>
            <a:r>
              <a:rPr lang="en-US" altLang="zh-CN" sz="2800" b="1" dirty="0" smtClean="0"/>
              <a:t> </a:t>
            </a:r>
            <a:r>
              <a:rPr lang="en-US" altLang="zh-CN" sz="2800" b="1" dirty="0" smtClean="0"/>
              <a:t>D</a:t>
            </a:r>
            <a:r>
              <a:rPr lang="en-US" altLang="zh-CN" sz="2800" b="1" baseline="-25000" dirty="0" smtClean="0"/>
              <a:t>0</a:t>
            </a:r>
            <a:r>
              <a:rPr lang="en-US" altLang="zh-CN" sz="2800" b="1" dirty="0" smtClean="0"/>
              <a:t>D</a:t>
            </a:r>
            <a:r>
              <a:rPr lang="en-US" altLang="zh-CN" sz="2800" b="1" baseline="-25000" dirty="0" smtClean="0"/>
              <a:t>1</a:t>
            </a:r>
            <a:r>
              <a:rPr lang="en-US" altLang="zh-CN" sz="2800" b="1" dirty="0" smtClean="0"/>
              <a:t>D</a:t>
            </a:r>
            <a:r>
              <a:rPr lang="en-US" altLang="zh-CN" sz="2800" b="1" baseline="-25000" dirty="0" smtClean="0"/>
              <a:t>2</a:t>
            </a:r>
            <a:r>
              <a:rPr lang="en-US" altLang="zh-CN" sz="2800" b="1" dirty="0" smtClean="0"/>
              <a:t>D</a:t>
            </a:r>
            <a:r>
              <a:rPr lang="en-US" altLang="zh-CN" sz="2800" b="1" baseline="-25000" dirty="0" smtClean="0"/>
              <a:t>3</a:t>
            </a:r>
            <a:r>
              <a:rPr lang="en-US" altLang="zh-CN" sz="2800" b="1" dirty="0" smtClean="0"/>
              <a:t>=0001</a:t>
            </a:r>
            <a:endParaRPr lang="zh-CN" altLang="en-US" sz="2800" b="1" dirty="0"/>
          </a:p>
        </p:txBody>
      </p:sp>
      <p:sp>
        <p:nvSpPr>
          <p:cNvPr id="6" name="Text Box 7"/>
          <p:cNvSpPr txBox="1">
            <a:spLocks noChangeArrowheads="1"/>
          </p:cNvSpPr>
          <p:nvPr/>
        </p:nvSpPr>
        <p:spPr bwMode="auto">
          <a:xfrm>
            <a:off x="3635896" y="6021288"/>
            <a:ext cx="2664296" cy="40011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2000" b="1" dirty="0" smtClean="0"/>
              <a:t>图</a:t>
            </a:r>
            <a:r>
              <a:rPr lang="en-US" altLang="zh-CN" sz="2000" b="1" dirty="0" smtClean="0"/>
              <a:t>   </a:t>
            </a:r>
            <a:r>
              <a:rPr lang="zh-CN" altLang="en-US" sz="2000" b="1" dirty="0" smtClean="0"/>
              <a:t>电路图</a:t>
            </a:r>
            <a:endParaRPr lang="zh-CN" altLang="en-US" sz="2000" b="1" dirty="0"/>
          </a:p>
        </p:txBody>
      </p:sp>
      <p:pic>
        <p:nvPicPr>
          <p:cNvPr id="8" name="Picture 9" descr="5-5-47b"/>
          <p:cNvPicPr>
            <a:picLocks noChangeAspect="1" noChangeArrowheads="1"/>
          </p:cNvPicPr>
          <p:nvPr/>
        </p:nvPicPr>
        <p:blipFill>
          <a:blip r:embed="rId3" cstate="print">
            <a:clrChange>
              <a:clrFrom>
                <a:srgbClr val="F7F8F2"/>
              </a:clrFrom>
              <a:clrTo>
                <a:srgbClr val="F7F8F2">
                  <a:alpha val="0"/>
                </a:srgbClr>
              </a:clrTo>
            </a:clrChange>
            <a:lum bright="-12000" contrast="48000"/>
            <a:extLst>
              <a:ext uri="{28A0092B-C50C-407E-A947-70E740481C1C}">
                <a14:useLocalDpi xmlns:a14="http://schemas.microsoft.com/office/drawing/2010/main" xmlns="" val="0"/>
              </a:ext>
            </a:extLst>
          </a:blip>
          <a:srcRect/>
          <a:stretch>
            <a:fillRect/>
          </a:stretch>
        </p:blipFill>
        <p:spPr bwMode="auto">
          <a:xfrm>
            <a:off x="4139952" y="3573016"/>
            <a:ext cx="4681289" cy="2252460"/>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标题 1"/>
          <p:cNvSpPr>
            <a:spLocks noGrp="1"/>
          </p:cNvSpPr>
          <p:nvPr>
            <p:ph type="title"/>
          </p:nvPr>
        </p:nvSpPr>
        <p:spPr>
          <a:xfrm>
            <a:off x="1259632" y="1124744"/>
            <a:ext cx="7416824" cy="566936"/>
          </a:xfrm>
        </p:spPr>
        <p:txBody>
          <a:bodyPr/>
          <a:lstStyle/>
          <a:p>
            <a:r>
              <a:rPr lang="en-US" altLang="zh-CN" dirty="0" smtClean="0"/>
              <a:t>6.5.4 </a:t>
            </a:r>
            <a:r>
              <a:rPr lang="zh-CN" altLang="en-US" dirty="0" smtClean="0"/>
              <a:t>移位寄存器构成的移位型计数器</a:t>
            </a:r>
            <a:endParaRPr lang="zh-CN" altLang="en-US" dirty="0"/>
          </a:p>
        </p:txBody>
      </p:sp>
      <p:sp>
        <p:nvSpPr>
          <p:cNvPr id="11" name="标题 1"/>
          <p:cNvSpPr txBox="1">
            <a:spLocks/>
          </p:cNvSpPr>
          <p:nvPr/>
        </p:nvSpPr>
        <p:spPr bwMode="auto">
          <a:xfrm>
            <a:off x="1259632" y="404664"/>
            <a:ext cx="741682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寄存器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2784880865"/>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1124744"/>
            <a:ext cx="7956376" cy="566936"/>
          </a:xfrm>
        </p:spPr>
        <p:txBody>
          <a:bodyPr/>
          <a:lstStyle/>
          <a:p>
            <a:r>
              <a:rPr lang="en-US" altLang="zh-CN" dirty="0" smtClean="0"/>
              <a:t>1. </a:t>
            </a:r>
            <a:r>
              <a:rPr lang="zh-CN" altLang="en-US" dirty="0" smtClean="0"/>
              <a:t>环形计数器</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91</a:t>
            </a:fld>
            <a:endParaRPr lang="zh-CN" altLang="en-US"/>
          </a:p>
        </p:txBody>
      </p:sp>
      <p:sp>
        <p:nvSpPr>
          <p:cNvPr id="5" name="Text Box 6"/>
          <p:cNvSpPr txBox="1">
            <a:spLocks noChangeArrowheads="1"/>
          </p:cNvSpPr>
          <p:nvPr/>
        </p:nvSpPr>
        <p:spPr bwMode="auto">
          <a:xfrm>
            <a:off x="5148064" y="5661248"/>
            <a:ext cx="1800225" cy="338554"/>
          </a:xfrm>
          <a:prstGeom prst="rect">
            <a:avLst/>
          </a:prstGeom>
          <a:solidFill>
            <a:schemeClr val="bg1"/>
          </a:solidFill>
          <a:ln>
            <a:noFill/>
          </a:ln>
          <a:effectLst/>
        </p:spPr>
        <p:txBody>
          <a:bodyPr>
            <a:spAutoFit/>
          </a:bodyPr>
          <a:lstStyle/>
          <a:p>
            <a:pPr>
              <a:spcBef>
                <a:spcPct val="50000"/>
              </a:spcBef>
            </a:pPr>
            <a:r>
              <a:rPr lang="zh-CN" altLang="en-US" sz="1600" b="1" dirty="0" smtClean="0"/>
              <a:t>图</a:t>
            </a:r>
            <a:r>
              <a:rPr lang="en-US" altLang="zh-CN" sz="1600" b="1" dirty="0" smtClean="0"/>
              <a:t> </a:t>
            </a:r>
            <a:r>
              <a:rPr lang="en-US" altLang="zh-CN" sz="1600" b="1" dirty="0" smtClean="0"/>
              <a:t> </a:t>
            </a:r>
            <a:r>
              <a:rPr lang="zh-CN" altLang="en-US" sz="1600" b="1" dirty="0" smtClean="0"/>
              <a:t>主循环波形图</a:t>
            </a:r>
            <a:endParaRPr lang="zh-CN" altLang="en-US" sz="1600" b="1" dirty="0"/>
          </a:p>
        </p:txBody>
      </p:sp>
      <p:pic>
        <p:nvPicPr>
          <p:cNvPr id="8" name="Picture 9" descr="5-5-49"/>
          <p:cNvPicPr>
            <a:picLocks noChangeAspect="1" noChangeArrowheads="1"/>
          </p:cNvPicPr>
          <p:nvPr/>
        </p:nvPicPr>
        <p:blipFill>
          <a:blip r:embed="rId2" cstate="print">
            <a:clrChange>
              <a:clrFrom>
                <a:srgbClr val="FBFCF6"/>
              </a:clrFrom>
              <a:clrTo>
                <a:srgbClr val="FBFCF6">
                  <a:alpha val="0"/>
                </a:srgbClr>
              </a:clrTo>
            </a:clrChange>
            <a:lum bright="-12000" contrast="42000"/>
            <a:extLst>
              <a:ext uri="{28A0092B-C50C-407E-A947-70E740481C1C}">
                <a14:useLocalDpi xmlns:a14="http://schemas.microsoft.com/office/drawing/2010/main" xmlns="" val="0"/>
              </a:ext>
            </a:extLst>
          </a:blip>
          <a:srcRect/>
          <a:stretch>
            <a:fillRect/>
          </a:stretch>
        </p:blipFill>
        <p:spPr bwMode="auto">
          <a:xfrm>
            <a:off x="4283968" y="2636912"/>
            <a:ext cx="3672632" cy="2728856"/>
          </a:xfrm>
          <a:prstGeom prst="rect">
            <a:avLst/>
          </a:prstGeom>
          <a:solidFill>
            <a:schemeClr val="bg1"/>
          </a:solidFill>
        </p:spPr>
      </p:pic>
      <p:sp>
        <p:nvSpPr>
          <p:cNvPr id="6" name="Text Box 7"/>
          <p:cNvSpPr txBox="1">
            <a:spLocks noChangeArrowheads="1"/>
          </p:cNvSpPr>
          <p:nvPr/>
        </p:nvSpPr>
        <p:spPr bwMode="auto">
          <a:xfrm>
            <a:off x="899592" y="5661248"/>
            <a:ext cx="2520950" cy="336550"/>
          </a:xfrm>
          <a:prstGeom prst="rect">
            <a:avLst/>
          </a:prstGeom>
          <a:solidFill>
            <a:schemeClr val="bg1"/>
          </a:solidFill>
          <a:ln>
            <a:noFill/>
          </a:ln>
          <a:effectLst/>
        </p:spPr>
        <p:txBody>
          <a:bodyPr>
            <a:spAutoFit/>
          </a:bodyPr>
          <a:lstStyle/>
          <a:p>
            <a:pPr algn="ctr">
              <a:spcBef>
                <a:spcPct val="50000"/>
              </a:spcBef>
            </a:pPr>
            <a:r>
              <a:rPr lang="zh-CN" altLang="en-US" sz="1600" b="1" dirty="0" smtClean="0"/>
              <a:t>图</a:t>
            </a:r>
            <a:r>
              <a:rPr lang="en-US" altLang="zh-CN" sz="1600" b="1" dirty="0" smtClean="0"/>
              <a:t>   </a:t>
            </a:r>
            <a:r>
              <a:rPr lang="zh-CN" altLang="en-US" sz="1600" b="1" dirty="0" smtClean="0"/>
              <a:t>主循状态</a:t>
            </a:r>
            <a:r>
              <a:rPr lang="zh-CN" altLang="en-US" sz="1600" b="1" dirty="0"/>
              <a:t>转换图</a:t>
            </a:r>
          </a:p>
        </p:txBody>
      </p:sp>
      <p:sp>
        <p:nvSpPr>
          <p:cNvPr id="9" name="标题 1"/>
          <p:cNvSpPr txBox="1">
            <a:spLocks/>
          </p:cNvSpPr>
          <p:nvPr/>
        </p:nvSpPr>
        <p:spPr bwMode="auto">
          <a:xfrm>
            <a:off x="1187624" y="260648"/>
            <a:ext cx="741682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6.5.4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移位寄存器构成的移位型计数器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283650" name="Picture 2"/>
          <p:cNvPicPr>
            <a:picLocks noChangeAspect="1" noChangeArrowheads="1"/>
          </p:cNvPicPr>
          <p:nvPr/>
        </p:nvPicPr>
        <p:blipFill>
          <a:blip r:embed="rId3" cstate="print"/>
          <a:srcRect/>
          <a:stretch>
            <a:fillRect/>
          </a:stretch>
        </p:blipFill>
        <p:spPr bwMode="auto">
          <a:xfrm>
            <a:off x="1547664" y="2708920"/>
            <a:ext cx="1762125" cy="2466975"/>
          </a:xfrm>
          <a:prstGeom prst="rect">
            <a:avLst/>
          </a:prstGeom>
          <a:noFill/>
          <a:ln w="9525">
            <a:noFill/>
            <a:miter lim="800000"/>
            <a:headEnd/>
            <a:tailEnd/>
          </a:ln>
        </p:spPr>
      </p:pic>
    </p:spTree>
    <p:extLst>
      <p:ext uri="{BB962C8B-B14F-4D97-AF65-F5344CB8AC3E}">
        <p14:creationId xmlns:p14="http://schemas.microsoft.com/office/powerpoint/2010/main" xmlns="" val="55623113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灯片编号占位符 1"/>
          <p:cNvSpPr>
            <a:spLocks noGrp="1"/>
          </p:cNvSpPr>
          <p:nvPr>
            <p:ph type="sldNum" sz="quarter" idx="12"/>
          </p:nvPr>
        </p:nvSpPr>
        <p:spPr/>
        <p:txBody>
          <a:bodyPr/>
          <a:lstStyle/>
          <a:p>
            <a:fld id="{0C913308-F349-4B6D-A68A-DD1791B4A57B}" type="slidenum">
              <a:rPr lang="zh-CN" altLang="en-US" smtClean="0"/>
              <a:pPr/>
              <a:t>92</a:t>
            </a:fld>
            <a:endParaRPr lang="zh-CN" altLang="en-US"/>
          </a:p>
        </p:txBody>
      </p:sp>
      <p:sp>
        <p:nvSpPr>
          <p:cNvPr id="3" name="Text Box 6"/>
          <p:cNvSpPr txBox="1">
            <a:spLocks noChangeArrowheads="1"/>
          </p:cNvSpPr>
          <p:nvPr/>
        </p:nvSpPr>
        <p:spPr bwMode="auto">
          <a:xfrm>
            <a:off x="1043608" y="764704"/>
            <a:ext cx="4968552"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spcBef>
                <a:spcPct val="50000"/>
              </a:spcBef>
            </a:pPr>
            <a:r>
              <a:rPr lang="en-US" altLang="zh-CN" sz="2800" b="1" dirty="0" smtClean="0"/>
              <a:t>2. </a:t>
            </a:r>
            <a:r>
              <a:rPr lang="en-US" altLang="zh-CN" sz="2800" b="1" dirty="0" smtClean="0"/>
              <a:t>74194</a:t>
            </a:r>
            <a:r>
              <a:rPr lang="zh-CN" altLang="en-US" sz="2800" b="1" dirty="0" smtClean="0"/>
              <a:t>用作扭</a:t>
            </a:r>
            <a:r>
              <a:rPr lang="zh-CN" altLang="en-US" sz="2800" b="1" dirty="0"/>
              <a:t>环形计数器</a:t>
            </a:r>
          </a:p>
        </p:txBody>
      </p:sp>
      <p:sp>
        <p:nvSpPr>
          <p:cNvPr id="4" name="Text Box 7"/>
          <p:cNvSpPr txBox="1">
            <a:spLocks noChangeArrowheads="1"/>
          </p:cNvSpPr>
          <p:nvPr/>
        </p:nvSpPr>
        <p:spPr bwMode="auto">
          <a:xfrm>
            <a:off x="3059832" y="3068960"/>
            <a:ext cx="4464496" cy="33855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t>图 </a:t>
            </a:r>
            <a:r>
              <a:rPr lang="en-US" altLang="zh-CN" sz="1600" b="1" dirty="0" smtClean="0"/>
              <a:t>  </a:t>
            </a:r>
            <a:r>
              <a:rPr lang="zh-CN" altLang="en-US" sz="1600" b="1" dirty="0" smtClean="0"/>
              <a:t>四</a:t>
            </a:r>
            <a:r>
              <a:rPr lang="zh-CN" altLang="en-US" sz="1600" b="1" dirty="0"/>
              <a:t>位扭</a:t>
            </a:r>
            <a:r>
              <a:rPr lang="zh-CN" altLang="en-US" sz="1600" b="1" dirty="0" smtClean="0"/>
              <a:t>环形计数器</a:t>
            </a:r>
            <a:r>
              <a:rPr lang="zh-CN" altLang="en-US" sz="1600" b="1" dirty="0" smtClean="0"/>
              <a:t>（右移移位）</a:t>
            </a:r>
            <a:r>
              <a:rPr lang="zh-CN" altLang="en-US" sz="1600" b="1" dirty="0" smtClean="0"/>
              <a:t>电路图</a:t>
            </a:r>
            <a:endParaRPr lang="zh-CN" altLang="en-US" sz="1600" b="1" dirty="0"/>
          </a:p>
        </p:txBody>
      </p:sp>
      <p:sp>
        <p:nvSpPr>
          <p:cNvPr id="5" name="Text Box 8"/>
          <p:cNvSpPr txBox="1">
            <a:spLocks noChangeArrowheads="1"/>
          </p:cNvSpPr>
          <p:nvPr/>
        </p:nvSpPr>
        <p:spPr bwMode="auto">
          <a:xfrm>
            <a:off x="913111" y="3502596"/>
            <a:ext cx="7488237" cy="36933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b="1" dirty="0" smtClean="0"/>
              <a:t>若                                          </a:t>
            </a:r>
            <a:r>
              <a:rPr lang="zh-CN" altLang="en-US" b="1" dirty="0"/>
              <a:t>，则状态转换图如下：</a:t>
            </a:r>
          </a:p>
        </p:txBody>
      </p:sp>
      <p:sp>
        <p:nvSpPr>
          <p:cNvPr id="6" name="Text Box 9"/>
          <p:cNvSpPr txBox="1">
            <a:spLocks noChangeArrowheads="1"/>
          </p:cNvSpPr>
          <p:nvPr/>
        </p:nvSpPr>
        <p:spPr bwMode="auto">
          <a:xfrm>
            <a:off x="827584" y="4797152"/>
            <a:ext cx="2592388" cy="58477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1600" b="1" dirty="0" smtClean="0">
                <a:latin typeface="楷体_GB2312" pitchFamily="49" charset="-122"/>
                <a:ea typeface="楷体_GB2312" pitchFamily="49" charset="-122"/>
              </a:rPr>
              <a:t>图</a:t>
            </a:r>
            <a:r>
              <a:rPr lang="en-US" altLang="zh-CN" sz="1600" b="1" dirty="0" smtClean="0">
                <a:latin typeface="楷体_GB2312" pitchFamily="49" charset="-122"/>
                <a:ea typeface="楷体_GB2312" pitchFamily="49" charset="-122"/>
              </a:rPr>
              <a:t>  </a:t>
            </a:r>
            <a:r>
              <a:rPr lang="zh-CN" altLang="en-US" sz="1600" b="1" dirty="0">
                <a:latin typeface="楷体_GB2312" pitchFamily="49" charset="-122"/>
                <a:ea typeface="楷体_GB2312" pitchFamily="49" charset="-122"/>
              </a:rPr>
              <a:t>四位扭环形计数器状态转换图</a:t>
            </a:r>
          </a:p>
        </p:txBody>
      </p:sp>
      <p:graphicFrame>
        <p:nvGraphicFramePr>
          <p:cNvPr id="7" name="Object 10"/>
          <p:cNvGraphicFramePr>
            <a:graphicFrameLocks noChangeAspect="1"/>
          </p:cNvGraphicFramePr>
          <p:nvPr>
            <p:extLst>
              <p:ext uri="{D42A27DB-BD31-4B8C-83A1-F6EECF244321}">
                <p14:modId xmlns:p14="http://schemas.microsoft.com/office/powerpoint/2010/main" xmlns="" val="652142582"/>
              </p:ext>
            </p:extLst>
          </p:nvPr>
        </p:nvGraphicFramePr>
        <p:xfrm>
          <a:off x="1779588" y="3490913"/>
          <a:ext cx="2187575" cy="457200"/>
        </p:xfrm>
        <a:graphic>
          <a:graphicData uri="http://schemas.openxmlformats.org/presentationml/2006/ole">
            <p:oleObj spid="_x0000_s32809" name="公式" r:id="rId3" imgW="1180800" imgH="241200" progId="">
              <p:embed/>
            </p:oleObj>
          </a:graphicData>
        </a:graphic>
      </p:graphicFrame>
      <p:pic>
        <p:nvPicPr>
          <p:cNvPr id="8" name="Picture 11" descr="5-5-45"/>
          <p:cNvPicPr>
            <a:picLocks noChangeAspect="1" noChangeArrowheads="1"/>
          </p:cNvPicPr>
          <p:nvPr/>
        </p:nvPicPr>
        <p:blipFill>
          <a:blip r:embed="rId4" cstate="print">
            <a:clrChange>
              <a:clrFrom>
                <a:srgbClr val="F0F1EB"/>
              </a:clrFrom>
              <a:clrTo>
                <a:srgbClr val="F0F1EB">
                  <a:alpha val="0"/>
                </a:srgbClr>
              </a:clrTo>
            </a:clrChange>
            <a:lum bright="-18000" contrast="60000"/>
            <a:extLst>
              <a:ext uri="{28A0092B-C50C-407E-A947-70E740481C1C}">
                <a14:useLocalDpi xmlns:a14="http://schemas.microsoft.com/office/drawing/2010/main" xmlns="" val="0"/>
              </a:ext>
            </a:extLst>
          </a:blip>
          <a:srcRect/>
          <a:stretch>
            <a:fillRect/>
          </a:stretch>
        </p:blipFill>
        <p:spPr bwMode="auto">
          <a:xfrm>
            <a:off x="1835696" y="1196752"/>
            <a:ext cx="6282507" cy="1947677"/>
          </a:xfrm>
          <a:prstGeom prst="rect">
            <a:avLst/>
          </a:prstGeom>
          <a:solidFill>
            <a:schemeClr val="bg1"/>
          </a:solidFill>
          <a:extLst>
            <a:ext uri="{909E8E84-426E-40DD-AFC4-6F175D3DCCD1}">
              <a14:hiddenFill xmlns:a14="http://schemas.microsoft.com/office/drawing/2010/main" xmlns="">
                <a:solidFill>
                  <a:srgbClr val="FFFFFF"/>
                </a:solidFill>
              </a14:hiddenFill>
            </a:ext>
          </a:extLst>
        </p:spPr>
      </p:pic>
      <p:pic>
        <p:nvPicPr>
          <p:cNvPr id="9" name="Picture 12" descr="5-5-46"/>
          <p:cNvPicPr>
            <a:picLocks noChangeAspect="1" noChangeArrowheads="1"/>
          </p:cNvPicPr>
          <p:nvPr/>
        </p:nvPicPr>
        <p:blipFill>
          <a:blip r:embed="rId5" cstate="print">
            <a:clrChange>
              <a:clrFrom>
                <a:srgbClr val="EEEFE9"/>
              </a:clrFrom>
              <a:clrTo>
                <a:srgbClr val="EEEFE9">
                  <a:alpha val="0"/>
                </a:srgbClr>
              </a:clrTo>
            </a:clrChange>
            <a:lum bright="-12000" contrast="66000"/>
            <a:extLst>
              <a:ext uri="{28A0092B-C50C-407E-A947-70E740481C1C}">
                <a14:useLocalDpi xmlns:a14="http://schemas.microsoft.com/office/drawing/2010/main" xmlns="" val="0"/>
              </a:ext>
            </a:extLst>
          </a:blip>
          <a:srcRect/>
          <a:stretch>
            <a:fillRect/>
          </a:stretch>
        </p:blipFill>
        <p:spPr bwMode="auto">
          <a:xfrm>
            <a:off x="3648373" y="3959796"/>
            <a:ext cx="4452019" cy="2683984"/>
          </a:xfrm>
          <a:prstGeom prst="rect">
            <a:avLst/>
          </a:prstGeom>
          <a:noFill/>
          <a:extLst>
            <a:ext uri="{909E8E84-426E-40DD-AFC4-6F175D3DCCD1}">
              <a14:hiddenFill xmlns:a14="http://schemas.microsoft.com/office/drawing/2010/main" xmlns="">
                <a:solidFill>
                  <a:srgbClr val="FFFFFF"/>
                </a:solidFill>
              </a14:hiddenFill>
            </a:ext>
          </a:extLst>
        </p:spPr>
      </p:pic>
      <p:sp>
        <p:nvSpPr>
          <p:cNvPr id="10" name="标题 1"/>
          <p:cNvSpPr txBox="1">
            <a:spLocks/>
          </p:cNvSpPr>
          <p:nvPr/>
        </p:nvSpPr>
        <p:spPr>
          <a:xfrm>
            <a:off x="971600" y="116632"/>
            <a:ext cx="7632848" cy="566936"/>
          </a:xfrm>
          <a:prstGeom prst="rect">
            <a:avLst/>
          </a:prstGeom>
        </p:spPr>
        <p:txBody>
          <a:bodyPr/>
          <a:lstStyle/>
          <a:p>
            <a:pPr lvl="0" fontAlgn="base">
              <a:spcBef>
                <a:spcPct val="0"/>
              </a:spcBef>
              <a:spcAft>
                <a:spcPct val="0"/>
              </a:spcAft>
            </a:pPr>
            <a:r>
              <a:rPr lang="en-US" altLang="zh-CN" sz="3200" b="1" dirty="0" smtClean="0">
                <a:solidFill>
                  <a:schemeClr val="tx2"/>
                </a:solidFill>
              </a:rPr>
              <a:t>6.5.4 </a:t>
            </a:r>
            <a:r>
              <a:rPr lang="zh-CN" altLang="en-US" sz="3200" b="1" dirty="0" smtClean="0">
                <a:solidFill>
                  <a:schemeClr val="tx2"/>
                </a:solidFill>
              </a:rPr>
              <a:t>移位寄存器构成的移位型计数器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336939276"/>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93</a:t>
            </a:fld>
            <a:endParaRPr lang="zh-CN" altLang="en-US"/>
          </a:p>
        </p:txBody>
      </p:sp>
      <p:sp>
        <p:nvSpPr>
          <p:cNvPr id="5" name="Text Box 6"/>
          <p:cNvSpPr txBox="1">
            <a:spLocks noChangeArrowheads="1"/>
          </p:cNvSpPr>
          <p:nvPr/>
        </p:nvSpPr>
        <p:spPr bwMode="auto">
          <a:xfrm>
            <a:off x="467544" y="1988840"/>
            <a:ext cx="7416800" cy="52322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sz="2800" b="1" dirty="0" smtClean="0"/>
              <a:t>2.  74194</a:t>
            </a:r>
            <a:r>
              <a:rPr lang="zh-CN" altLang="en-US" sz="2800" b="1" dirty="0"/>
              <a:t>用作扭环形计数器（约翰逊计数器）</a:t>
            </a:r>
          </a:p>
        </p:txBody>
      </p:sp>
      <p:sp>
        <p:nvSpPr>
          <p:cNvPr id="6" name="Text Box 7"/>
          <p:cNvSpPr txBox="1">
            <a:spLocks noChangeArrowheads="1"/>
          </p:cNvSpPr>
          <p:nvPr/>
        </p:nvSpPr>
        <p:spPr bwMode="auto">
          <a:xfrm>
            <a:off x="1403648" y="6165304"/>
            <a:ext cx="20161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zh-CN" altLang="en-US" sz="1600" b="1" dirty="0" smtClean="0"/>
              <a:t>图</a:t>
            </a:r>
            <a:r>
              <a:rPr lang="en-US" altLang="zh-CN" sz="1600" b="1" dirty="0" smtClean="0"/>
              <a:t>    </a:t>
            </a:r>
            <a:r>
              <a:rPr lang="zh-CN" altLang="en-US" sz="1600" b="1" dirty="0"/>
              <a:t>电路图</a:t>
            </a:r>
          </a:p>
        </p:txBody>
      </p:sp>
      <p:sp>
        <p:nvSpPr>
          <p:cNvPr id="7" name="Text Box 8"/>
          <p:cNvSpPr txBox="1">
            <a:spLocks noChangeArrowheads="1"/>
          </p:cNvSpPr>
          <p:nvPr/>
        </p:nvSpPr>
        <p:spPr bwMode="auto">
          <a:xfrm>
            <a:off x="5652120" y="5373216"/>
            <a:ext cx="2304256"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wrap="square">
            <a:spAutoFit/>
          </a:bodyPr>
          <a:lstStyle/>
          <a:p>
            <a:pPr algn="ctr">
              <a:spcBef>
                <a:spcPct val="50000"/>
              </a:spcBef>
            </a:pPr>
            <a:r>
              <a:rPr lang="zh-CN" altLang="en-US" sz="1600" b="1" dirty="0" smtClean="0"/>
              <a:t>图</a:t>
            </a:r>
            <a:r>
              <a:rPr lang="en-US" altLang="zh-CN" sz="1600" b="1" dirty="0" smtClean="0"/>
              <a:t>    </a:t>
            </a:r>
            <a:r>
              <a:rPr lang="zh-CN" altLang="en-US" sz="1600" b="1" dirty="0" smtClean="0"/>
              <a:t>主循环</a:t>
            </a:r>
            <a:r>
              <a:rPr lang="zh-CN" altLang="en-US" sz="1600" b="1" dirty="0" smtClean="0"/>
              <a:t>状态</a:t>
            </a:r>
            <a:r>
              <a:rPr lang="zh-CN" altLang="en-US" sz="1600" b="1" dirty="0"/>
              <a:t>转换图</a:t>
            </a:r>
          </a:p>
        </p:txBody>
      </p:sp>
      <p:grpSp>
        <p:nvGrpSpPr>
          <p:cNvPr id="2" name="Group 11"/>
          <p:cNvGrpSpPr>
            <a:grpSpLocks/>
          </p:cNvGrpSpPr>
          <p:nvPr/>
        </p:nvGrpSpPr>
        <p:grpSpPr bwMode="auto">
          <a:xfrm>
            <a:off x="683568" y="2492896"/>
            <a:ext cx="3795886" cy="3583468"/>
            <a:chOff x="295" y="935"/>
            <a:chExt cx="2540" cy="2455"/>
          </a:xfrm>
        </p:grpSpPr>
        <p:pic>
          <p:nvPicPr>
            <p:cNvPr id="11" name="Picture 12" descr="5-5-50"/>
            <p:cNvPicPr>
              <a:picLocks noChangeAspect="1" noChangeArrowheads="1"/>
            </p:cNvPicPr>
            <p:nvPr/>
          </p:nvPicPr>
          <p:blipFill>
            <a:blip r:embed="rId2" cstate="print">
              <a:clrChange>
                <a:clrFrom>
                  <a:srgbClr val="FBFCF6"/>
                </a:clrFrom>
                <a:clrTo>
                  <a:srgbClr val="FBFCF6">
                    <a:alpha val="0"/>
                  </a:srgbClr>
                </a:clrTo>
              </a:clrChange>
              <a:lum bright="-12000" contrast="48000"/>
              <a:extLst>
                <a:ext uri="{28A0092B-C50C-407E-A947-70E740481C1C}">
                  <a14:useLocalDpi xmlns:a14="http://schemas.microsoft.com/office/drawing/2010/main" xmlns="" val="0"/>
                </a:ext>
              </a:extLst>
            </a:blip>
            <a:srcRect/>
            <a:stretch>
              <a:fillRect/>
            </a:stretch>
          </p:blipFill>
          <p:spPr bwMode="auto">
            <a:xfrm>
              <a:off x="295" y="935"/>
              <a:ext cx="2374" cy="2455"/>
            </a:xfrm>
            <a:prstGeom prst="rect">
              <a:avLst/>
            </a:prstGeom>
            <a:noFill/>
            <a:extLst>
              <a:ext uri="{909E8E84-426E-40DD-AFC4-6F175D3DCCD1}">
                <a14:hiddenFill xmlns:a14="http://schemas.microsoft.com/office/drawing/2010/main" xmlns="">
                  <a:solidFill>
                    <a:srgbClr val="FFFFFF"/>
                  </a:solidFill>
                </a14:hiddenFill>
              </a:ext>
            </a:extLst>
          </p:spPr>
        </p:pic>
        <p:sp>
          <p:nvSpPr>
            <p:cNvPr id="12" name="Text Box 13"/>
            <p:cNvSpPr txBox="1">
              <a:spLocks noChangeArrowheads="1"/>
            </p:cNvSpPr>
            <p:nvPr/>
          </p:nvSpPr>
          <p:spPr bwMode="auto">
            <a:xfrm>
              <a:off x="2562" y="1888"/>
              <a:ext cx="227"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0000"/>
                  </a:solidFill>
                </a:rPr>
                <a:t>0</a:t>
              </a:r>
            </a:p>
          </p:txBody>
        </p:sp>
        <p:sp>
          <p:nvSpPr>
            <p:cNvPr id="13" name="Text Box 14"/>
            <p:cNvSpPr txBox="1">
              <a:spLocks noChangeArrowheads="1"/>
            </p:cNvSpPr>
            <p:nvPr/>
          </p:nvSpPr>
          <p:spPr bwMode="auto">
            <a:xfrm>
              <a:off x="2562" y="2115"/>
              <a:ext cx="227" cy="28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en-US" altLang="zh-CN" b="1">
                  <a:solidFill>
                    <a:srgbClr val="FF0000"/>
                  </a:solidFill>
                </a:rPr>
                <a:t>1</a:t>
              </a:r>
            </a:p>
          </p:txBody>
        </p:sp>
        <p:grpSp>
          <p:nvGrpSpPr>
            <p:cNvPr id="3" name="Group 15"/>
            <p:cNvGrpSpPr>
              <a:grpSpLocks/>
            </p:cNvGrpSpPr>
            <p:nvPr/>
          </p:nvGrpSpPr>
          <p:grpSpPr bwMode="auto">
            <a:xfrm>
              <a:off x="2472" y="2659"/>
              <a:ext cx="363" cy="182"/>
              <a:chOff x="2109" y="3838"/>
              <a:chExt cx="771" cy="318"/>
            </a:xfrm>
          </p:grpSpPr>
          <p:sp>
            <p:nvSpPr>
              <p:cNvPr id="15" name="Line 16"/>
              <p:cNvSpPr>
                <a:spLocks noChangeShapeType="1"/>
              </p:cNvSpPr>
              <p:nvPr/>
            </p:nvSpPr>
            <p:spPr bwMode="auto">
              <a:xfrm>
                <a:off x="2109" y="3838"/>
                <a:ext cx="227"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6" name="Line 17"/>
              <p:cNvSpPr>
                <a:spLocks noChangeShapeType="1"/>
              </p:cNvSpPr>
              <p:nvPr/>
            </p:nvSpPr>
            <p:spPr bwMode="auto">
              <a:xfrm>
                <a:off x="2336" y="3838"/>
                <a:ext cx="0" cy="318"/>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7" name="Line 18"/>
              <p:cNvSpPr>
                <a:spLocks noChangeShapeType="1"/>
              </p:cNvSpPr>
              <p:nvPr/>
            </p:nvSpPr>
            <p:spPr bwMode="auto">
              <a:xfrm>
                <a:off x="2336" y="4156"/>
                <a:ext cx="317"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8" name="Line 19"/>
              <p:cNvSpPr>
                <a:spLocks noChangeShapeType="1"/>
              </p:cNvSpPr>
              <p:nvPr/>
            </p:nvSpPr>
            <p:spPr bwMode="auto">
              <a:xfrm flipV="1">
                <a:off x="2653" y="3838"/>
                <a:ext cx="0" cy="318"/>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sp>
            <p:nvSpPr>
              <p:cNvPr id="19" name="Line 20"/>
              <p:cNvSpPr>
                <a:spLocks noChangeShapeType="1"/>
              </p:cNvSpPr>
              <p:nvPr/>
            </p:nvSpPr>
            <p:spPr bwMode="auto">
              <a:xfrm>
                <a:off x="2653" y="3838"/>
                <a:ext cx="227" cy="0"/>
              </a:xfrm>
              <a:prstGeom prst="line">
                <a:avLst/>
              </a:prstGeom>
              <a:noFill/>
              <a:ln w="28575">
                <a:solidFill>
                  <a:srgbClr val="FF0000"/>
                </a:solidFill>
                <a:round/>
                <a:headEnd/>
                <a:tailEnd/>
              </a:ln>
              <a:effectLst/>
              <a:extLst>
                <a:ext uri="{909E8E84-426E-40DD-AFC4-6F175D3DCCD1}">
                  <a14:hiddenFill xmlns:a14="http://schemas.microsoft.com/office/drawing/2010/main" xmlns="">
                    <a:noFill/>
                  </a14:hiddenFill>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lstStyle/>
              <a:p>
                <a:endParaRPr lang="zh-CN" altLang="en-US"/>
              </a:p>
            </p:txBody>
          </p:sp>
        </p:grpSp>
      </p:grpSp>
      <p:sp>
        <p:nvSpPr>
          <p:cNvPr id="21" name="标题 1"/>
          <p:cNvSpPr>
            <a:spLocks noGrp="1"/>
          </p:cNvSpPr>
          <p:nvPr>
            <p:ph type="title"/>
          </p:nvPr>
        </p:nvSpPr>
        <p:spPr>
          <a:xfrm>
            <a:off x="1259632" y="1124744"/>
            <a:ext cx="7416824" cy="566936"/>
          </a:xfrm>
        </p:spPr>
        <p:txBody>
          <a:bodyPr/>
          <a:lstStyle/>
          <a:p>
            <a:r>
              <a:rPr lang="en-US" altLang="zh-CN" dirty="0" smtClean="0"/>
              <a:t>6.5.4 </a:t>
            </a:r>
            <a:r>
              <a:rPr lang="zh-CN" altLang="en-US" dirty="0" smtClean="0"/>
              <a:t>移位寄存器构成的移位型计数器</a:t>
            </a:r>
            <a:endParaRPr lang="zh-CN" altLang="en-US" dirty="0"/>
          </a:p>
        </p:txBody>
      </p:sp>
      <p:sp>
        <p:nvSpPr>
          <p:cNvPr id="22" name="标题 1"/>
          <p:cNvSpPr txBox="1">
            <a:spLocks/>
          </p:cNvSpPr>
          <p:nvPr/>
        </p:nvSpPr>
        <p:spPr bwMode="auto">
          <a:xfrm>
            <a:off x="1259632" y="404664"/>
            <a:ext cx="741682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寄存器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pic>
        <p:nvPicPr>
          <p:cNvPr id="287746" name="Picture 2"/>
          <p:cNvPicPr>
            <a:picLocks noChangeAspect="1" noChangeArrowheads="1"/>
          </p:cNvPicPr>
          <p:nvPr/>
        </p:nvPicPr>
        <p:blipFill>
          <a:blip r:embed="rId3" cstate="print"/>
          <a:srcRect/>
          <a:stretch>
            <a:fillRect/>
          </a:stretch>
        </p:blipFill>
        <p:spPr bwMode="auto">
          <a:xfrm>
            <a:off x="5076056" y="3068960"/>
            <a:ext cx="3362325" cy="2209800"/>
          </a:xfrm>
          <a:prstGeom prst="rect">
            <a:avLst/>
          </a:prstGeom>
          <a:noFill/>
          <a:ln w="9525">
            <a:noFill/>
            <a:miter lim="800000"/>
            <a:headEnd/>
            <a:tailEnd/>
          </a:ln>
        </p:spPr>
      </p:pic>
    </p:spTree>
    <p:extLst>
      <p:ext uri="{BB962C8B-B14F-4D97-AF65-F5344CB8AC3E}">
        <p14:creationId xmlns:p14="http://schemas.microsoft.com/office/powerpoint/2010/main" xmlns="" val="254152149"/>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p:cNvSpPr>
            <a:spLocks noGrp="1"/>
          </p:cNvSpPr>
          <p:nvPr>
            <p:ph type="sldNum" sz="quarter" idx="12"/>
          </p:nvPr>
        </p:nvSpPr>
        <p:spPr/>
        <p:txBody>
          <a:bodyPr/>
          <a:lstStyle/>
          <a:p>
            <a:fld id="{0C913308-F349-4B6D-A68A-DD1791B4A57B}" type="slidenum">
              <a:rPr lang="zh-CN" altLang="en-US" smtClean="0"/>
              <a:pPr/>
              <a:t>94</a:t>
            </a:fld>
            <a:endParaRPr lang="zh-CN" altLang="en-US"/>
          </a:p>
        </p:txBody>
      </p:sp>
      <p:sp>
        <p:nvSpPr>
          <p:cNvPr id="5" name="Text Box 6"/>
          <p:cNvSpPr txBox="1">
            <a:spLocks noChangeArrowheads="1"/>
          </p:cNvSpPr>
          <p:nvPr/>
        </p:nvSpPr>
        <p:spPr bwMode="auto">
          <a:xfrm>
            <a:off x="1043608" y="1772816"/>
            <a:ext cx="7954963" cy="830997"/>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spcBef>
                <a:spcPct val="50000"/>
              </a:spcBef>
            </a:pPr>
            <a:r>
              <a:rPr lang="zh-CN" altLang="en-US" sz="2400" b="1" dirty="0" smtClean="0">
                <a:solidFill>
                  <a:srgbClr val="0000CC"/>
                </a:solidFill>
              </a:rPr>
              <a:t>例</a:t>
            </a:r>
            <a:r>
              <a:rPr lang="en-US" altLang="zh-CN" sz="2400" b="1" dirty="0" smtClean="0">
                <a:solidFill>
                  <a:srgbClr val="0000CC"/>
                </a:solidFill>
              </a:rPr>
              <a:t>6.12 </a:t>
            </a:r>
            <a:r>
              <a:rPr lang="zh-CN" altLang="en-US" sz="2400" b="1" dirty="0" smtClean="0"/>
              <a:t>试用</a:t>
            </a:r>
            <a:r>
              <a:rPr lang="en-US" altLang="zh-CN" sz="2400" b="1" dirty="0"/>
              <a:t>74194</a:t>
            </a:r>
            <a:r>
              <a:rPr lang="zh-CN" altLang="en-US" sz="2400" b="1" dirty="0"/>
              <a:t>构成模</a:t>
            </a:r>
            <a:r>
              <a:rPr lang="en-US" altLang="zh-CN" sz="2400" b="1" dirty="0" smtClean="0"/>
              <a:t>12</a:t>
            </a:r>
            <a:r>
              <a:rPr lang="zh-CN" altLang="en-US" sz="2400" b="1" dirty="0" smtClean="0"/>
              <a:t>右移扭环形计数器并画出状态图（</a:t>
            </a:r>
            <a:r>
              <a:rPr lang="zh-CN" altLang="en-US" sz="2400" b="1" dirty="0"/>
              <a:t>令初态为</a:t>
            </a:r>
            <a:r>
              <a:rPr lang="en-US" altLang="zh-CN" sz="2400" b="1" dirty="0"/>
              <a:t>000000</a:t>
            </a:r>
            <a:r>
              <a:rPr lang="zh-CN" altLang="en-US" sz="2400" b="1" dirty="0" smtClean="0"/>
              <a:t>）。</a:t>
            </a:r>
            <a:endParaRPr lang="zh-CN" altLang="en-US" sz="2400" b="1" dirty="0"/>
          </a:p>
        </p:txBody>
      </p:sp>
      <p:sp>
        <p:nvSpPr>
          <p:cNvPr id="6" name="Text Box 7"/>
          <p:cNvSpPr txBox="1">
            <a:spLocks noChangeArrowheads="1"/>
          </p:cNvSpPr>
          <p:nvPr/>
        </p:nvSpPr>
        <p:spPr bwMode="auto">
          <a:xfrm>
            <a:off x="334962" y="3646066"/>
            <a:ext cx="2016125"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zh-CN" altLang="en-US" sz="1600" b="1" dirty="0" smtClean="0"/>
              <a:t>图</a:t>
            </a:r>
            <a:r>
              <a:rPr lang="en-US" altLang="zh-CN" sz="1600" b="1" dirty="0"/>
              <a:t> </a:t>
            </a:r>
            <a:r>
              <a:rPr lang="zh-CN" altLang="en-US" sz="1600" b="1" dirty="0" smtClean="0"/>
              <a:t>电路图</a:t>
            </a:r>
            <a:endParaRPr lang="zh-CN" altLang="en-US" sz="1600" b="1" dirty="0"/>
          </a:p>
        </p:txBody>
      </p:sp>
      <p:sp>
        <p:nvSpPr>
          <p:cNvPr id="7" name="Text Box 8"/>
          <p:cNvSpPr txBox="1">
            <a:spLocks noChangeArrowheads="1"/>
          </p:cNvSpPr>
          <p:nvPr/>
        </p:nvSpPr>
        <p:spPr bwMode="auto">
          <a:xfrm>
            <a:off x="334962" y="5399959"/>
            <a:ext cx="2520950" cy="33655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a:spAutoFit/>
          </a:bodyPr>
          <a:lstStyle/>
          <a:p>
            <a:pPr algn="ctr">
              <a:spcBef>
                <a:spcPct val="50000"/>
              </a:spcBef>
            </a:pPr>
            <a:r>
              <a:rPr lang="zh-CN" altLang="en-US" sz="1600" b="1" dirty="0" smtClean="0"/>
              <a:t>图</a:t>
            </a:r>
            <a:r>
              <a:rPr lang="en-US" altLang="zh-CN" sz="1600" b="1" dirty="0" smtClean="0"/>
              <a:t>   </a:t>
            </a:r>
            <a:r>
              <a:rPr lang="zh-CN" altLang="en-US" sz="1600" b="1" dirty="0"/>
              <a:t>状态转换图</a:t>
            </a:r>
          </a:p>
        </p:txBody>
      </p:sp>
      <p:pic>
        <p:nvPicPr>
          <p:cNvPr id="8" name="Picture 9" descr="5-5-53"/>
          <p:cNvPicPr>
            <a:picLocks noChangeAspect="1" noChangeArrowheads="1"/>
          </p:cNvPicPr>
          <p:nvPr/>
        </p:nvPicPr>
        <p:blipFill>
          <a:blip r:embed="rId2" cstate="print">
            <a:clrChange>
              <a:clrFrom>
                <a:srgbClr val="FEFFF9"/>
              </a:clrFrom>
              <a:clrTo>
                <a:srgbClr val="FEFFF9">
                  <a:alpha val="0"/>
                </a:srgbClr>
              </a:clrTo>
            </a:clrChange>
            <a:lum bright="-12000" contrast="48000"/>
            <a:extLst>
              <a:ext uri="{28A0092B-C50C-407E-A947-70E740481C1C}">
                <a14:useLocalDpi xmlns:a14="http://schemas.microsoft.com/office/drawing/2010/main" xmlns="" val="0"/>
              </a:ext>
            </a:extLst>
          </a:blip>
          <a:srcRect/>
          <a:stretch>
            <a:fillRect/>
          </a:stretch>
        </p:blipFill>
        <p:spPr bwMode="auto">
          <a:xfrm>
            <a:off x="2957033" y="4941168"/>
            <a:ext cx="4567296" cy="1675320"/>
          </a:xfrm>
          <a:prstGeom prst="rect">
            <a:avLst/>
          </a:prstGeom>
          <a:noFill/>
          <a:extLst>
            <a:ext uri="{909E8E84-426E-40DD-AFC4-6F175D3DCCD1}">
              <a14:hiddenFill xmlns:a14="http://schemas.microsoft.com/office/drawing/2010/main" xmlns="">
                <a:solidFill>
                  <a:srgbClr val="FFFFFF"/>
                </a:solidFill>
              </a14:hiddenFill>
            </a:ext>
          </a:extLst>
        </p:spPr>
      </p:pic>
      <p:pic>
        <p:nvPicPr>
          <p:cNvPr id="10" name="Picture 11" descr="5-5-52"/>
          <p:cNvPicPr>
            <a:picLocks noChangeAspect="1" noChangeArrowheads="1"/>
          </p:cNvPicPr>
          <p:nvPr/>
        </p:nvPicPr>
        <p:blipFill>
          <a:blip r:embed="rId3" cstate="print">
            <a:clrChange>
              <a:clrFrom>
                <a:srgbClr val="F3F4EC"/>
              </a:clrFrom>
              <a:clrTo>
                <a:srgbClr val="F3F4EC">
                  <a:alpha val="0"/>
                </a:srgbClr>
              </a:clrTo>
            </a:clrChange>
            <a:lum bright="-12000" contrast="42000"/>
            <a:extLst>
              <a:ext uri="{28A0092B-C50C-407E-A947-70E740481C1C}">
                <a14:useLocalDpi xmlns:a14="http://schemas.microsoft.com/office/drawing/2010/main" xmlns="" val="0"/>
              </a:ext>
            </a:extLst>
          </a:blip>
          <a:srcRect/>
          <a:stretch>
            <a:fillRect/>
          </a:stretch>
        </p:blipFill>
        <p:spPr bwMode="auto">
          <a:xfrm>
            <a:off x="2771800" y="2617225"/>
            <a:ext cx="5040560" cy="2290602"/>
          </a:xfrm>
          <a:prstGeom prst="rect">
            <a:avLst/>
          </a:prstGeom>
          <a:noFill/>
          <a:extLst>
            <a:ext uri="{909E8E84-426E-40DD-AFC4-6F175D3DCCD1}">
              <a14:hiddenFill xmlns:a14="http://schemas.microsoft.com/office/drawing/2010/main" xmlns="">
                <a:solidFill>
                  <a:srgbClr val="FFFFFF"/>
                </a:solidFill>
              </a14:hiddenFill>
            </a:ext>
          </a:extLst>
        </p:spPr>
      </p:pic>
      <p:pic>
        <p:nvPicPr>
          <p:cNvPr id="12" name="Picture 13" descr="BD21298_">
            <a:hlinkClick r:id="rId4" action="ppaction://hlinksldjump"/>
          </p:cNvPr>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1043608" y="6021288"/>
            <a:ext cx="1008112" cy="216024"/>
          </a:xfrm>
          <a:prstGeom prst="rect">
            <a:avLst/>
          </a:prstGeom>
          <a:noFill/>
          <a:extLst>
            <a:ext uri="{909E8E84-426E-40DD-AFC4-6F175D3DCCD1}">
              <a14:hiddenFill xmlns:a14="http://schemas.microsoft.com/office/drawing/2010/main" xmlns="">
                <a:solidFill>
                  <a:srgbClr val="FFFFFF"/>
                </a:solidFill>
              </a14:hiddenFill>
            </a:ext>
          </a:extLst>
        </p:spPr>
      </p:pic>
      <p:sp>
        <p:nvSpPr>
          <p:cNvPr id="13" name="标题 1"/>
          <p:cNvSpPr>
            <a:spLocks noGrp="1"/>
          </p:cNvSpPr>
          <p:nvPr>
            <p:ph type="title"/>
          </p:nvPr>
        </p:nvSpPr>
        <p:spPr>
          <a:xfrm>
            <a:off x="1259632" y="1124744"/>
            <a:ext cx="7416824" cy="566936"/>
          </a:xfrm>
        </p:spPr>
        <p:txBody>
          <a:bodyPr/>
          <a:lstStyle/>
          <a:p>
            <a:r>
              <a:rPr lang="en-US" altLang="zh-CN" dirty="0" smtClean="0"/>
              <a:t>2. </a:t>
            </a:r>
            <a:r>
              <a:rPr lang="zh-CN" altLang="en-US" dirty="0" smtClean="0"/>
              <a:t>扭环形计数器</a:t>
            </a:r>
            <a:endParaRPr lang="zh-CN" altLang="en-US" dirty="0"/>
          </a:p>
        </p:txBody>
      </p:sp>
      <p:sp>
        <p:nvSpPr>
          <p:cNvPr id="14" name="标题 1"/>
          <p:cNvSpPr txBox="1">
            <a:spLocks/>
          </p:cNvSpPr>
          <p:nvPr/>
        </p:nvSpPr>
        <p:spPr bwMode="auto">
          <a:xfrm>
            <a:off x="1259632" y="404664"/>
            <a:ext cx="741682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lvl="0" fontAlgn="base">
              <a:spcBef>
                <a:spcPct val="0"/>
              </a:spcBef>
              <a:spcAft>
                <a:spcPct val="0"/>
              </a:spcAft>
              <a:defRPr/>
            </a:pPr>
            <a:r>
              <a:rPr kumimoji="1" lang="en-US" altLang="zh-CN" sz="3200" b="1" dirty="0" smtClean="0">
                <a:solidFill>
                  <a:schemeClr val="tx2"/>
                </a:solidFill>
                <a:latin typeface="+mj-lt"/>
                <a:ea typeface="+mj-ea"/>
                <a:cs typeface="+mj-cs"/>
              </a:rPr>
              <a:t>6.5.4 </a:t>
            </a:r>
            <a:r>
              <a:rPr kumimoji="1" lang="zh-CN" altLang="en-US" sz="3200" b="1" dirty="0" smtClean="0">
                <a:solidFill>
                  <a:schemeClr val="tx2"/>
                </a:solidFill>
                <a:latin typeface="+mj-lt"/>
                <a:ea typeface="+mj-ea"/>
                <a:cs typeface="+mj-cs"/>
              </a:rPr>
              <a:t>移位寄存器构成的移位型计数器</a:t>
            </a:r>
            <a:endParaRPr kumimoji="1" lang="zh-CN" altLang="en-US" sz="3200" b="1" dirty="0">
              <a:solidFill>
                <a:schemeClr val="tx2"/>
              </a:solidFill>
              <a:latin typeface="+mj-lt"/>
              <a:ea typeface="+mj-ea"/>
              <a:cs typeface="+mj-cs"/>
            </a:endParaRPr>
          </a:p>
        </p:txBody>
      </p:sp>
    </p:spTree>
    <p:extLst>
      <p:ext uri="{BB962C8B-B14F-4D97-AF65-F5344CB8AC3E}">
        <p14:creationId xmlns:p14="http://schemas.microsoft.com/office/powerpoint/2010/main" xmlns="" val="427029442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124744"/>
            <a:ext cx="7416824" cy="566936"/>
          </a:xfrm>
        </p:spPr>
        <p:txBody>
          <a:bodyPr/>
          <a:lstStyle/>
          <a:p>
            <a:r>
              <a:rPr lang="en-US" altLang="zh-CN" dirty="0" smtClean="0"/>
              <a:t>6.5.4 </a:t>
            </a:r>
            <a:r>
              <a:rPr lang="zh-CN" altLang="en-US" dirty="0" smtClean="0"/>
              <a:t>移位寄存器构成的移位型计数器</a:t>
            </a:r>
            <a:endParaRPr lang="zh-CN" altLang="en-US" dirty="0"/>
          </a:p>
        </p:txBody>
      </p:sp>
      <p:sp>
        <p:nvSpPr>
          <p:cNvPr id="3" name="内容占位符 2"/>
          <p:cNvSpPr>
            <a:spLocks noGrp="1"/>
          </p:cNvSpPr>
          <p:nvPr>
            <p:ph idx="1"/>
          </p:nvPr>
        </p:nvSpPr>
        <p:spPr>
          <a:xfrm>
            <a:off x="395536" y="1988840"/>
            <a:ext cx="7945314" cy="4536504"/>
          </a:xfrm>
        </p:spPr>
        <p:txBody>
          <a:bodyPr/>
          <a:lstStyle/>
          <a:p>
            <a:pPr marL="882000" lvl="3" indent="-288000">
              <a:buClr>
                <a:srgbClr val="FF0000"/>
              </a:buClr>
              <a:buSzPct val="100000"/>
            </a:pPr>
            <a:r>
              <a:rPr lang="zh-CN" altLang="en-US" sz="2400" dirty="0"/>
              <a:t>环形计数器和扭环形计数器的共同点是：</a:t>
            </a:r>
          </a:p>
          <a:p>
            <a:pPr marL="1339200" lvl="4" indent="-288000">
              <a:buClr>
                <a:srgbClr val="0000CC"/>
              </a:buClr>
              <a:buSzPct val="100000"/>
              <a:buFont typeface="Wingdings" pitchFamily="2" charset="2"/>
              <a:buChar char="u"/>
            </a:pPr>
            <a:r>
              <a:rPr lang="zh-CN" altLang="en-US" dirty="0" smtClean="0"/>
              <a:t>电路</a:t>
            </a:r>
            <a:r>
              <a:rPr lang="zh-CN" altLang="en-US" dirty="0"/>
              <a:t>结构极其简单；</a:t>
            </a:r>
          </a:p>
          <a:p>
            <a:pPr marL="1339200" lvl="4" indent="-288000">
              <a:buClr>
                <a:srgbClr val="0000CC"/>
              </a:buClr>
              <a:buSzPct val="100000"/>
              <a:buFont typeface="Wingdings" pitchFamily="2" charset="2"/>
              <a:buChar char="u"/>
            </a:pPr>
            <a:r>
              <a:rPr lang="zh-CN" altLang="en-US" dirty="0" smtClean="0"/>
              <a:t>均</a:t>
            </a:r>
            <a:r>
              <a:rPr lang="zh-CN" altLang="en-US" dirty="0"/>
              <a:t>无法自启动；</a:t>
            </a:r>
          </a:p>
          <a:p>
            <a:pPr marL="1339200" lvl="4" indent="-288000">
              <a:buClr>
                <a:srgbClr val="0000CC"/>
              </a:buClr>
              <a:buSzPct val="100000"/>
              <a:buFont typeface="Wingdings" pitchFamily="2" charset="2"/>
              <a:buChar char="u"/>
            </a:pPr>
            <a:r>
              <a:rPr lang="zh-CN" altLang="en-US" dirty="0" smtClean="0"/>
              <a:t>状态</a:t>
            </a:r>
            <a:r>
              <a:rPr lang="zh-CN" altLang="en-US" dirty="0"/>
              <a:t>利用率都比较低，有过多浪费，如下表所示：</a:t>
            </a:r>
          </a:p>
          <a:p>
            <a:pPr>
              <a:buClr>
                <a:srgbClr val="0000CC"/>
              </a:buClr>
              <a:buSzPct val="100000"/>
            </a:pP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pPr/>
              <a:t>95</a:t>
            </a:fld>
            <a:endParaRPr lang="zh-CN" altLang="en-US"/>
          </a:p>
        </p:txBody>
      </p:sp>
      <p:graphicFrame>
        <p:nvGraphicFramePr>
          <p:cNvPr id="5" name="Group 7"/>
          <p:cNvGraphicFramePr>
            <a:graphicFrameLocks noGrp="1"/>
          </p:cNvGraphicFramePr>
          <p:nvPr/>
        </p:nvGraphicFramePr>
        <p:xfrm>
          <a:off x="1115616" y="3789040"/>
          <a:ext cx="7201420" cy="1569802"/>
        </p:xfrm>
        <a:graphic>
          <a:graphicData uri="http://schemas.openxmlformats.org/drawingml/2006/table">
            <a:tbl>
              <a:tblPr/>
              <a:tblGrid>
                <a:gridCol w="1799973">
                  <a:extLst>
                    <a:ext uri="{9D8B030D-6E8A-4147-A177-3AD203B41FA5}">
                      <a16:colId xmlns:a16="http://schemas.microsoft.com/office/drawing/2014/main" xmlns="" val="2790537166"/>
                    </a:ext>
                  </a:extLst>
                </a:gridCol>
                <a:gridCol w="1801500">
                  <a:extLst>
                    <a:ext uri="{9D8B030D-6E8A-4147-A177-3AD203B41FA5}">
                      <a16:colId xmlns:a16="http://schemas.microsoft.com/office/drawing/2014/main" xmlns="" val="2692613963"/>
                    </a:ext>
                  </a:extLst>
                </a:gridCol>
                <a:gridCol w="1799974">
                  <a:extLst>
                    <a:ext uri="{9D8B030D-6E8A-4147-A177-3AD203B41FA5}">
                      <a16:colId xmlns:a16="http://schemas.microsoft.com/office/drawing/2014/main" xmlns="" val="2172759284"/>
                    </a:ext>
                  </a:extLst>
                </a:gridCol>
                <a:gridCol w="1799973">
                  <a:extLst>
                    <a:ext uri="{9D8B030D-6E8A-4147-A177-3AD203B41FA5}">
                      <a16:colId xmlns:a16="http://schemas.microsoft.com/office/drawing/2014/main" xmlns="" val="571874945"/>
                    </a:ext>
                  </a:extLst>
                </a:gridCol>
              </a:tblGrid>
              <a:tr h="720080">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zh-CN" alt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性能</a:t>
                      </a:r>
                    </a:p>
                    <a:p>
                      <a:pPr marL="0" marR="0" lvl="0" indent="0" algn="l"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计数器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计数长度有效状态个数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状态浪费个数</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是否会产生竞争－冒险现象</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859160500"/>
                  </a:ext>
                </a:extLst>
              </a:tr>
              <a:tr h="389681">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环形计数器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r>
                        <a:rPr kumimoji="0" lang="en-US" altLang="zh-CN" sz="2000" b="1" i="1" u="none" strike="noStrike" cap="none" normalizeH="0" baseline="30000" dirty="0" smtClean="0">
                          <a:ln>
                            <a:noFill/>
                          </a:ln>
                          <a:solidFill>
                            <a:schemeClr val="tx1"/>
                          </a:solidFill>
                          <a:effectLst/>
                          <a:latin typeface="Arial" panose="020B0604020202020204" pitchFamily="34" charset="0"/>
                          <a:ea typeface="宋体" panose="02010600030101010101" pitchFamily="2" charset="-122"/>
                        </a:rPr>
                        <a:t>N</a:t>
                      </a:r>
                      <a:r>
                        <a:rPr kumimoji="0" lang="en-US" altLang="zh-CN" sz="2000" b="1" i="0" u="none" strike="noStrike" cap="none" normalizeH="0" baseline="30000" dirty="0" smtClean="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smtClean="0">
                          <a:ln>
                            <a:noFill/>
                          </a:ln>
                          <a:solidFill>
                            <a:schemeClr val="tx1"/>
                          </a:solidFill>
                          <a:effectLst/>
                          <a:latin typeface="Times New Roman"/>
                          <a:ea typeface="宋体" panose="02010600030101010101" pitchFamily="2" charset="-122"/>
                          <a:cs typeface="Times New Roman"/>
                        </a:rPr>
                        <a:t>̶ </a:t>
                      </a: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a:t>
                      </a:r>
                      <a:r>
                        <a:rPr kumimoji="0" lang="en-US" altLang="zh-CN" sz="20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N</a:t>
                      </a:r>
                      <a:endParaRPr kumimoji="0" lang="zh-CN" altLang="zh-CN" sz="20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rPr>
                        <a:t>有可能</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3552179042"/>
                  </a:ext>
                </a:extLst>
              </a:tr>
              <a:tr h="411562">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扭环形计数器</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altLang="zh-CN" sz="20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rPr>
                        <a:t>2N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defRPr/>
                      </a:pP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r>
                        <a:rPr kumimoji="0" lang="en-US" altLang="zh-CN" sz="2000" b="1" i="1" u="none" strike="noStrike" cap="none" normalizeH="0" baseline="30000" dirty="0" smtClean="0">
                          <a:ln>
                            <a:noFill/>
                          </a:ln>
                          <a:solidFill>
                            <a:schemeClr val="tx1"/>
                          </a:solidFill>
                          <a:effectLst/>
                          <a:latin typeface="Arial" panose="020B0604020202020204" pitchFamily="34" charset="0"/>
                          <a:ea typeface="宋体" panose="02010600030101010101" pitchFamily="2" charset="-122"/>
                        </a:rPr>
                        <a:t>N</a:t>
                      </a:r>
                      <a:r>
                        <a:rPr kumimoji="0" lang="en-US" altLang="zh-CN" sz="2000" b="1" i="0" u="none" strike="noStrike" cap="none" normalizeH="0" baseline="30000" dirty="0" smtClean="0">
                          <a:ln>
                            <a:noFill/>
                          </a:ln>
                          <a:solidFill>
                            <a:schemeClr val="tx1"/>
                          </a:solidFill>
                          <a:effectLst/>
                          <a:latin typeface="Arial" panose="020B0604020202020204" pitchFamily="34" charset="0"/>
                          <a:ea typeface="宋体" panose="02010600030101010101" pitchFamily="2" charset="-122"/>
                        </a:rPr>
                        <a:t>  </a:t>
                      </a:r>
                      <a:r>
                        <a:rPr kumimoji="0" lang="en-US" altLang="zh-CN" sz="2000" b="1" i="0" u="none" strike="noStrike" cap="none" normalizeH="0" baseline="0" dirty="0" smtClean="0">
                          <a:ln>
                            <a:noFill/>
                          </a:ln>
                          <a:solidFill>
                            <a:schemeClr val="tx1"/>
                          </a:solidFill>
                          <a:effectLst/>
                          <a:latin typeface="Times New Roman"/>
                          <a:ea typeface="宋体" panose="02010600030101010101" pitchFamily="2" charset="-122"/>
                          <a:cs typeface="Times New Roman"/>
                        </a:rPr>
                        <a:t>̶ </a:t>
                      </a:r>
                      <a:r>
                        <a:rPr kumimoji="0" lang="en-US"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 2</a:t>
                      </a:r>
                      <a:r>
                        <a:rPr kumimoji="0" lang="en-US" altLang="zh-CN" sz="2000" b="1" i="1"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N</a:t>
                      </a:r>
                      <a:endParaRPr kumimoji="0" lang="zh-CN" altLang="zh-CN" sz="20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lvl1pPr>
                        <a:spcBef>
                          <a:spcPct val="20000"/>
                        </a:spcBef>
                        <a:defRPr sz="2800">
                          <a:solidFill>
                            <a:schemeClr val="tx1"/>
                          </a:solidFill>
                          <a:latin typeface="Arial" panose="020B0604020202020204" pitchFamily="34" charset="0"/>
                          <a:ea typeface="宋体" panose="02010600030101010101" pitchFamily="2" charset="-122"/>
                        </a:defRPr>
                      </a:lvl1pPr>
                      <a:lvl2pPr>
                        <a:spcBef>
                          <a:spcPct val="20000"/>
                        </a:spcBef>
                        <a:defRPr sz="2400">
                          <a:solidFill>
                            <a:schemeClr val="tx1"/>
                          </a:solidFill>
                          <a:latin typeface="Arial" panose="020B0604020202020204" pitchFamily="34" charset="0"/>
                          <a:ea typeface="宋体" panose="02010600030101010101" pitchFamily="2" charset="-122"/>
                        </a:defRPr>
                      </a:lvl2pPr>
                      <a:lvl3pPr>
                        <a:spcBef>
                          <a:spcPct val="20000"/>
                        </a:spcBef>
                        <a:defRPr sz="2000">
                          <a:solidFill>
                            <a:schemeClr val="tx1"/>
                          </a:solidFill>
                          <a:latin typeface="Arial" panose="020B0604020202020204" pitchFamily="34" charset="0"/>
                          <a:ea typeface="宋体" panose="02010600030101010101" pitchFamily="2" charset="-122"/>
                        </a:defRPr>
                      </a:lvl3pPr>
                      <a:lvl4pPr>
                        <a:spcBef>
                          <a:spcPct val="20000"/>
                        </a:spcBef>
                        <a:defRPr>
                          <a:solidFill>
                            <a:schemeClr val="tx1"/>
                          </a:solidFill>
                          <a:latin typeface="Arial" panose="020B0604020202020204" pitchFamily="34" charset="0"/>
                          <a:ea typeface="宋体" panose="02010600030101010101" pitchFamily="2" charset="-122"/>
                        </a:defRPr>
                      </a:lvl4pPr>
                      <a:lvl5pPr>
                        <a:spcBef>
                          <a:spcPct val="20000"/>
                        </a:spcBef>
                        <a:defRPr>
                          <a:solidFill>
                            <a:schemeClr val="tx1"/>
                          </a:solidFill>
                          <a:latin typeface="Arial" panose="020B0604020202020204" pitchFamily="34" charset="0"/>
                          <a:ea typeface="宋体" panose="02010600030101010101" pitchFamily="2" charset="-122"/>
                        </a:defRPr>
                      </a:lvl5pPr>
                      <a:lvl6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6pPr>
                      <a:lvl7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7pPr>
                      <a:lvl8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8pPr>
                      <a:lvl9pPr fontAlgn="base">
                        <a:spcBef>
                          <a:spcPct val="20000"/>
                        </a:spcBef>
                        <a:spcAft>
                          <a:spcPct val="0"/>
                        </a:spcAft>
                        <a:defRPr>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zh-CN" altLang="en-US" sz="2000" b="1" i="0" u="none" strike="noStrike" cap="none" normalizeH="0" baseline="0" dirty="0" smtClean="0">
                          <a:ln>
                            <a:noFill/>
                          </a:ln>
                          <a:solidFill>
                            <a:srgbClr val="0000FF"/>
                          </a:solidFill>
                          <a:effectLst/>
                          <a:latin typeface="Arial" panose="020B0604020202020204" pitchFamily="34" charset="0"/>
                          <a:ea typeface="宋体" panose="02010600030101010101" pitchFamily="2" charset="-122"/>
                        </a:rPr>
                        <a:t>不可能</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79275812"/>
                  </a:ext>
                </a:extLst>
              </a:tr>
            </a:tbl>
          </a:graphicData>
        </a:graphic>
      </p:graphicFrame>
      <p:cxnSp>
        <p:nvCxnSpPr>
          <p:cNvPr id="7" name="直接连接符 6"/>
          <p:cNvCxnSpPr/>
          <p:nvPr/>
        </p:nvCxnSpPr>
        <p:spPr bwMode="auto">
          <a:xfrm>
            <a:off x="1115616" y="3789040"/>
            <a:ext cx="1800200" cy="720080"/>
          </a:xfrm>
          <a:prstGeom prst="line">
            <a:avLst/>
          </a:prstGeom>
          <a:noFill/>
          <a:ln w="9525" cap="flat" cmpd="sng" algn="ctr">
            <a:solidFill>
              <a:schemeClr val="tx1"/>
            </a:solidFill>
            <a:prstDash val="solid"/>
            <a:miter lim="800000"/>
            <a:headEnd type="none" w="med" len="med"/>
            <a:tailEnd type="none" w="med" len="med"/>
          </a:ln>
        </p:spPr>
      </p:cxnSp>
      <p:sp>
        <p:nvSpPr>
          <p:cNvPr id="10" name="标题 1"/>
          <p:cNvSpPr txBox="1">
            <a:spLocks/>
          </p:cNvSpPr>
          <p:nvPr/>
        </p:nvSpPr>
        <p:spPr bwMode="auto">
          <a:xfrm>
            <a:off x="1259632" y="404664"/>
            <a:ext cx="7416824" cy="566936"/>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1" lang="en-US" altLang="zh-CN" sz="3200" b="1" i="0" u="none" strike="noStrike" kern="0" cap="none" spc="0" normalizeH="0" baseline="0" noProof="0" dirty="0" smtClean="0">
                <a:ln>
                  <a:noFill/>
                </a:ln>
                <a:solidFill>
                  <a:schemeClr val="tx2"/>
                </a:solidFill>
                <a:effectLst/>
                <a:uLnTx/>
                <a:uFillTx/>
                <a:latin typeface="+mj-lt"/>
                <a:ea typeface="+mj-ea"/>
                <a:cs typeface="+mj-cs"/>
              </a:rPr>
              <a:t>6.5 </a:t>
            </a:r>
            <a:r>
              <a:rPr kumimoji="1" lang="zh-CN" altLang="en-US" sz="3200" b="1" i="0" u="none" strike="noStrike" kern="0" cap="none" spc="0" normalizeH="0" baseline="0" noProof="0" dirty="0" smtClean="0">
                <a:ln>
                  <a:noFill/>
                </a:ln>
                <a:solidFill>
                  <a:schemeClr val="tx2"/>
                </a:solidFill>
                <a:effectLst/>
                <a:uLnTx/>
                <a:uFillTx/>
                <a:latin typeface="+mj-lt"/>
                <a:ea typeface="+mj-ea"/>
                <a:cs typeface="+mj-cs"/>
              </a:rPr>
              <a:t>寄存器</a:t>
            </a:r>
            <a:endParaRPr kumimoji="1" lang="zh-CN" altLang="en-US" sz="3200" b="1" i="0" u="none" strike="noStrike" kern="0" cap="none" spc="0" normalizeH="0" baseline="0" noProof="0" dirty="0">
              <a:ln>
                <a:noFill/>
              </a:ln>
              <a:solidFill>
                <a:schemeClr val="tx2"/>
              </a:solidFill>
              <a:effectLst/>
              <a:uLnTx/>
              <a:uFillTx/>
              <a:latin typeface="+mj-lt"/>
              <a:ea typeface="+mj-ea"/>
              <a:cs typeface="+mj-cs"/>
            </a:endParaRPr>
          </a:p>
        </p:txBody>
      </p:sp>
    </p:spTree>
    <p:extLst>
      <p:ext uri="{BB962C8B-B14F-4D97-AF65-F5344CB8AC3E}">
        <p14:creationId xmlns:p14="http://schemas.microsoft.com/office/powerpoint/2010/main" xmlns="" val="3301067101"/>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124744"/>
            <a:ext cx="7112965" cy="494928"/>
          </a:xfrm>
        </p:spPr>
        <p:txBody>
          <a:bodyPr/>
          <a:lstStyle/>
          <a:p>
            <a:pPr algn="ctr"/>
            <a:r>
              <a:rPr lang="zh-CN" altLang="en-US" dirty="0" smtClean="0"/>
              <a:t>本章小结</a:t>
            </a:r>
            <a:endParaRPr lang="zh-CN" altLang="en-US" dirty="0"/>
          </a:p>
        </p:txBody>
      </p:sp>
      <p:sp>
        <p:nvSpPr>
          <p:cNvPr id="4" name="内容占位符 3"/>
          <p:cNvSpPr>
            <a:spLocks noGrp="1"/>
          </p:cNvSpPr>
          <p:nvPr>
            <p:ph idx="1"/>
          </p:nvPr>
        </p:nvSpPr>
        <p:spPr>
          <a:xfrm>
            <a:off x="395536" y="2060848"/>
            <a:ext cx="8233346" cy="4176464"/>
          </a:xfrm>
        </p:spPr>
        <p:txBody>
          <a:bodyPr/>
          <a:lstStyle/>
          <a:p>
            <a:pPr>
              <a:buSzPct val="100000"/>
              <a:buFont typeface="Wingdings" pitchFamily="2" charset="2"/>
              <a:buChar char="p"/>
            </a:pPr>
            <a:r>
              <a:rPr lang="zh-CN" altLang="en-US" sz="2800" dirty="0" smtClean="0"/>
              <a:t>时序逻辑电路在结构上具有反馈和存储器件，所以信号不仅与当时的输入信号有关，而且还与以前的状态有关。</a:t>
            </a:r>
            <a:endParaRPr lang="en-US" altLang="zh-CN" sz="2800" dirty="0" smtClean="0"/>
          </a:p>
          <a:p>
            <a:pPr>
              <a:buSzPct val="100000"/>
              <a:buFont typeface="Wingdings" pitchFamily="2" charset="2"/>
              <a:buChar char="p"/>
            </a:pPr>
            <a:r>
              <a:rPr lang="zh-CN" altLang="en-US" sz="2800" dirty="0" smtClean="0"/>
              <a:t>时序逻辑电路通过存储器记忆了输入信号的过去状态，从而解决了组合逻辑电路无法解决的记忆问题。</a:t>
            </a:r>
            <a:endParaRPr lang="en-US" altLang="zh-CN" sz="2800" dirty="0" smtClean="0"/>
          </a:p>
          <a:p>
            <a:pPr>
              <a:buSzPct val="100000"/>
              <a:buFont typeface="Wingdings" pitchFamily="2" charset="2"/>
              <a:buChar char="p"/>
            </a:pPr>
            <a:r>
              <a:rPr lang="zh-CN" altLang="en-US" sz="2800" dirty="0" smtClean="0"/>
              <a:t>按照时序逻辑电路中触发器触发方式的不同，时序电路可分为同步时序电路和异步时序电路。</a:t>
            </a:r>
            <a:endParaRPr lang="en-US" altLang="zh-CN" sz="2800" dirty="0" smtClean="0"/>
          </a:p>
          <a:p>
            <a:pPr>
              <a:buSzPct val="100000"/>
              <a:buFont typeface="Wingdings" pitchFamily="2" charset="2"/>
              <a:buChar char="p"/>
            </a:pPr>
            <a:r>
              <a:rPr lang="zh-CN" altLang="en-US" sz="2800" dirty="0" smtClean="0"/>
              <a:t>时序逻辑电路一般可用方程组、状态图和状态表以及时序图来描述。</a:t>
            </a:r>
            <a:endParaRPr lang="zh-CN" altLang="en-US" sz="28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96</a:t>
            </a:fld>
            <a:endParaRPr lang="zh-CN" altLang="en-US"/>
          </a:p>
        </p:txBody>
      </p:sp>
      <p:sp>
        <p:nvSpPr>
          <p:cNvPr id="5" name="标题 1"/>
          <p:cNvSpPr txBox="1">
            <a:spLocks/>
          </p:cNvSpPr>
          <p:nvPr/>
        </p:nvSpPr>
        <p:spPr bwMode="auto">
          <a:xfrm>
            <a:off x="1403648" y="188640"/>
            <a:ext cx="701682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kern="0" dirty="0" smtClean="0">
                <a:solidFill>
                  <a:schemeClr val="tx2"/>
                </a:solidFill>
              </a:rPr>
              <a:t>第</a:t>
            </a:r>
            <a:r>
              <a:rPr kumimoji="1" lang="en-US" altLang="zh-CN" sz="3600" b="1" kern="0" dirty="0" smtClean="0">
                <a:solidFill>
                  <a:schemeClr val="tx2"/>
                </a:solidFill>
              </a:rPr>
              <a:t>6</a:t>
            </a:r>
            <a:r>
              <a:rPr kumimoji="1" lang="zh-CN" altLang="en-US" sz="3600" b="1" kern="0" dirty="0" smtClean="0">
                <a:solidFill>
                  <a:schemeClr val="tx2"/>
                </a:solidFill>
              </a:rPr>
              <a:t>章　时序逻辑电路</a:t>
            </a:r>
            <a:endParaRPr kumimoji="1" lang="zh-CN" altLang="en-US" sz="3600" b="1" kern="0" dirty="0">
              <a:solidFill>
                <a:schemeClr val="tx2"/>
              </a:solidFill>
            </a:endParaRPr>
          </a:p>
        </p:txBody>
      </p:sp>
    </p:spTree>
    <p:extLst>
      <p:ext uri="{BB962C8B-B14F-4D97-AF65-F5344CB8AC3E}">
        <p14:creationId xmlns:p14="http://schemas.microsoft.com/office/powerpoint/2010/main" xmlns="" val="2705787583"/>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259632" y="1124744"/>
            <a:ext cx="7112965" cy="494928"/>
          </a:xfrm>
        </p:spPr>
        <p:txBody>
          <a:bodyPr/>
          <a:lstStyle/>
          <a:p>
            <a:pPr algn="ctr"/>
            <a:r>
              <a:rPr lang="zh-CN" altLang="en-US" dirty="0" smtClean="0"/>
              <a:t>本章小结</a:t>
            </a:r>
            <a:endParaRPr lang="zh-CN" altLang="en-US" dirty="0"/>
          </a:p>
        </p:txBody>
      </p:sp>
      <p:sp>
        <p:nvSpPr>
          <p:cNvPr id="4" name="内容占位符 3"/>
          <p:cNvSpPr>
            <a:spLocks noGrp="1"/>
          </p:cNvSpPr>
          <p:nvPr>
            <p:ph idx="1"/>
          </p:nvPr>
        </p:nvSpPr>
        <p:spPr>
          <a:xfrm>
            <a:off x="395536" y="1988840"/>
            <a:ext cx="8233346" cy="4392488"/>
          </a:xfrm>
        </p:spPr>
        <p:txBody>
          <a:bodyPr/>
          <a:lstStyle/>
          <a:p>
            <a:pPr>
              <a:buSzPct val="100000"/>
              <a:buFont typeface="Wingdings" pitchFamily="2" charset="2"/>
              <a:buChar char="p"/>
            </a:pPr>
            <a:r>
              <a:rPr lang="zh-CN" altLang="en-US" sz="2800" dirty="0" smtClean="0"/>
              <a:t>同步时序电路的分析过程实际上主要是从逻辑图导出描述电路的状态表，进而得到状态图的过程。</a:t>
            </a:r>
            <a:endParaRPr lang="en-US" altLang="zh-CN" sz="2800" dirty="0" smtClean="0"/>
          </a:p>
          <a:p>
            <a:pPr>
              <a:buSzPct val="100000"/>
              <a:buFont typeface="Wingdings" pitchFamily="2" charset="2"/>
              <a:buChar char="p"/>
            </a:pPr>
            <a:r>
              <a:rPr lang="zh-CN" altLang="en-US" sz="2800" dirty="0" smtClean="0"/>
              <a:t>用触发器及门电路设计同步、异步时序电路的基本指导思想是用尽可能少的时钟触发器和门电路来实现符合要求的时序电路。</a:t>
            </a:r>
            <a:endParaRPr lang="en-US" altLang="zh-CN" sz="2800" dirty="0" smtClean="0"/>
          </a:p>
          <a:p>
            <a:pPr>
              <a:buSzPct val="100000"/>
              <a:buFont typeface="Wingdings" pitchFamily="2" charset="2"/>
              <a:buChar char="p"/>
            </a:pPr>
            <a:r>
              <a:rPr lang="zh-CN" altLang="en-US" sz="2800" dirty="0" smtClean="0"/>
              <a:t>计数器、寄存器等都是通过时序逻辑电路实现的。</a:t>
            </a:r>
            <a:endParaRPr lang="zh-CN" altLang="en-US" sz="28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97</a:t>
            </a:fld>
            <a:endParaRPr lang="zh-CN" altLang="en-US"/>
          </a:p>
        </p:txBody>
      </p:sp>
      <p:sp>
        <p:nvSpPr>
          <p:cNvPr id="5" name="标题 1"/>
          <p:cNvSpPr txBox="1">
            <a:spLocks/>
          </p:cNvSpPr>
          <p:nvPr/>
        </p:nvSpPr>
        <p:spPr bwMode="auto">
          <a:xfrm>
            <a:off x="1403648" y="188640"/>
            <a:ext cx="701682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kern="0" dirty="0" smtClean="0">
                <a:solidFill>
                  <a:schemeClr val="tx2"/>
                </a:solidFill>
              </a:rPr>
              <a:t>第</a:t>
            </a:r>
            <a:r>
              <a:rPr kumimoji="1" lang="en-US" altLang="zh-CN" sz="3600" b="1" kern="0" dirty="0" smtClean="0">
                <a:solidFill>
                  <a:schemeClr val="tx2"/>
                </a:solidFill>
              </a:rPr>
              <a:t>6</a:t>
            </a:r>
            <a:r>
              <a:rPr kumimoji="1" lang="zh-CN" altLang="en-US" sz="3600" b="1" kern="0" dirty="0" smtClean="0">
                <a:solidFill>
                  <a:schemeClr val="tx2"/>
                </a:solidFill>
              </a:rPr>
              <a:t>章　时序逻辑电路</a:t>
            </a:r>
            <a:endParaRPr kumimoji="1" lang="zh-CN" altLang="en-US" sz="3600" b="1" kern="0" dirty="0">
              <a:solidFill>
                <a:schemeClr val="tx2"/>
              </a:solidFill>
            </a:endParaRPr>
          </a:p>
        </p:txBody>
      </p:sp>
    </p:spTree>
    <p:extLst>
      <p:ext uri="{BB962C8B-B14F-4D97-AF65-F5344CB8AC3E}">
        <p14:creationId xmlns:p14="http://schemas.microsoft.com/office/powerpoint/2010/main" xmlns="" val="2705787583"/>
      </p:ext>
    </p:extLst>
  </p:cSld>
  <p:clrMapOvr>
    <a:masterClrMapping/>
  </p:clrMapOvr>
  <p:timing>
    <p:tnLst>
      <p:par>
        <p:cTn id="1" dur="indefinite" restart="never" nodeType="tmRoot"/>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1187624" y="908720"/>
            <a:ext cx="7617022" cy="494928"/>
          </a:xfrm>
        </p:spPr>
        <p:txBody>
          <a:bodyPr/>
          <a:lstStyle/>
          <a:p>
            <a:r>
              <a:rPr lang="en-US" altLang="zh-CN" dirty="0" smtClean="0"/>
              <a:t>《</a:t>
            </a:r>
            <a:r>
              <a:rPr lang="zh-CN" altLang="en-US" dirty="0" smtClean="0"/>
              <a:t>第</a:t>
            </a:r>
            <a:r>
              <a:rPr lang="en-US" altLang="zh-CN" dirty="0" smtClean="0"/>
              <a:t>6</a:t>
            </a:r>
            <a:r>
              <a:rPr lang="zh-CN" altLang="en-US" dirty="0" smtClean="0"/>
              <a:t>章</a:t>
            </a:r>
            <a:r>
              <a:rPr lang="en-US" altLang="zh-CN" dirty="0" smtClean="0"/>
              <a:t>》</a:t>
            </a:r>
            <a:r>
              <a:rPr lang="zh-CN" altLang="en-US" dirty="0" smtClean="0"/>
              <a:t>课外作业</a:t>
            </a:r>
            <a:endParaRPr lang="zh-CN" altLang="en-US" dirty="0"/>
          </a:p>
        </p:txBody>
      </p:sp>
      <p:sp>
        <p:nvSpPr>
          <p:cNvPr id="4" name="内容占位符 3"/>
          <p:cNvSpPr>
            <a:spLocks noGrp="1"/>
          </p:cNvSpPr>
          <p:nvPr>
            <p:ph idx="1"/>
          </p:nvPr>
        </p:nvSpPr>
        <p:spPr>
          <a:xfrm>
            <a:off x="467544" y="1988840"/>
            <a:ext cx="8233346" cy="4514056"/>
          </a:xfrm>
        </p:spPr>
        <p:txBody>
          <a:bodyPr/>
          <a:lstStyle/>
          <a:p>
            <a:pPr>
              <a:buSzPct val="100000"/>
              <a:buFont typeface="Wingdings" pitchFamily="2" charset="2"/>
              <a:buChar char="p"/>
            </a:pPr>
            <a:r>
              <a:rPr lang="zh-CN" altLang="zh-CN" sz="2800" dirty="0" smtClean="0"/>
              <a:t>一 思考题</a:t>
            </a:r>
            <a:r>
              <a:rPr lang="en-US" altLang="zh-CN" sz="2800" dirty="0" smtClean="0"/>
              <a:t>:  </a:t>
            </a:r>
          </a:p>
          <a:p>
            <a:pPr>
              <a:buSzPct val="100000"/>
              <a:buNone/>
            </a:pPr>
            <a:r>
              <a:rPr lang="en-US" altLang="zh-CN" sz="2800" dirty="0" smtClean="0"/>
              <a:t>        </a:t>
            </a:r>
            <a:r>
              <a:rPr lang="en-US" altLang="zh-CN" sz="2800" dirty="0" smtClean="0">
                <a:latin typeface="+mn-ea"/>
              </a:rPr>
              <a:t>6.1; 6.2; 6.4; 6.6; 6.10; 6.14; 6.17; 6.18; 6.19; 6.22</a:t>
            </a:r>
          </a:p>
          <a:p>
            <a:pPr>
              <a:buSzPct val="100000"/>
              <a:buFont typeface="Wingdings" pitchFamily="2" charset="2"/>
              <a:buChar char="p"/>
            </a:pPr>
            <a:r>
              <a:rPr lang="zh-CN" altLang="zh-CN" sz="2800" dirty="0" smtClean="0">
                <a:latin typeface="+mn-ea"/>
              </a:rPr>
              <a:t>二 必做题</a:t>
            </a:r>
            <a:r>
              <a:rPr lang="en-US" altLang="zh-CN" sz="2800" dirty="0" smtClean="0">
                <a:latin typeface="+mn-ea"/>
              </a:rPr>
              <a:t>:  </a:t>
            </a:r>
          </a:p>
          <a:p>
            <a:pPr>
              <a:buSzPct val="100000"/>
              <a:buNone/>
            </a:pPr>
            <a:r>
              <a:rPr lang="en-US" altLang="zh-CN" sz="2800" dirty="0" smtClean="0">
                <a:latin typeface="+mn-ea"/>
              </a:rPr>
              <a:t>     6.3; 6.5; 6.7; 6.11; 6.12; 6.20</a:t>
            </a:r>
          </a:p>
          <a:p>
            <a:pPr>
              <a:buSzPct val="100000"/>
              <a:buFont typeface="Wingdings" pitchFamily="2" charset="2"/>
              <a:buChar char="p"/>
            </a:pPr>
            <a:r>
              <a:rPr lang="zh-CN" altLang="zh-CN" sz="2800" dirty="0" smtClean="0">
                <a:latin typeface="+mn-ea"/>
              </a:rPr>
              <a:t>三 选做题</a:t>
            </a:r>
            <a:r>
              <a:rPr lang="en-US" altLang="zh-CN" sz="2800" dirty="0" smtClean="0">
                <a:latin typeface="+mn-ea"/>
              </a:rPr>
              <a:t>:  </a:t>
            </a:r>
          </a:p>
          <a:p>
            <a:pPr>
              <a:buSzPct val="100000"/>
              <a:buNone/>
            </a:pPr>
            <a:r>
              <a:rPr lang="en-US" altLang="zh-CN" sz="2800" dirty="0" smtClean="0">
                <a:latin typeface="+mn-ea"/>
              </a:rPr>
              <a:t>     6.8; 6.9; 6.13; 6.14; 6.15; 6.21; 6.23; 6.24; 6.25; 6.26</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pPr/>
              <a:t>98</a:t>
            </a:fld>
            <a:endParaRPr lang="zh-CN" altLang="en-US"/>
          </a:p>
        </p:txBody>
      </p:sp>
      <p:sp>
        <p:nvSpPr>
          <p:cNvPr id="5" name="标题 1"/>
          <p:cNvSpPr txBox="1">
            <a:spLocks/>
          </p:cNvSpPr>
          <p:nvPr/>
        </p:nvSpPr>
        <p:spPr bwMode="auto">
          <a:xfrm>
            <a:off x="1403648" y="116632"/>
            <a:ext cx="7016824" cy="63894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p>
            <a:pPr lvl="0" fontAlgn="base">
              <a:spcBef>
                <a:spcPct val="0"/>
              </a:spcBef>
              <a:spcAft>
                <a:spcPct val="0"/>
              </a:spcAft>
              <a:defRPr/>
            </a:pPr>
            <a:r>
              <a:rPr kumimoji="1" lang="zh-CN" altLang="en-US" sz="3600" b="1" kern="0" dirty="0" smtClean="0">
                <a:solidFill>
                  <a:schemeClr val="tx2"/>
                </a:solidFill>
              </a:rPr>
              <a:t>第</a:t>
            </a:r>
            <a:r>
              <a:rPr kumimoji="1" lang="en-US" altLang="zh-CN" sz="3600" b="1" kern="0" dirty="0" smtClean="0">
                <a:solidFill>
                  <a:schemeClr val="tx2"/>
                </a:solidFill>
              </a:rPr>
              <a:t>6</a:t>
            </a:r>
            <a:r>
              <a:rPr kumimoji="1" lang="zh-CN" altLang="en-US" sz="3600" b="1" kern="0" dirty="0" smtClean="0">
                <a:solidFill>
                  <a:schemeClr val="tx2"/>
                </a:solidFill>
              </a:rPr>
              <a:t>章　时序逻辑电路</a:t>
            </a:r>
            <a:endParaRPr kumimoji="1" lang="zh-CN" altLang="en-US" sz="3600" b="1" kern="0" dirty="0">
              <a:solidFill>
                <a:schemeClr val="tx2"/>
              </a:solidFill>
            </a:endParaRPr>
          </a:p>
        </p:txBody>
      </p:sp>
    </p:spTree>
    <p:extLst>
      <p:ext uri="{BB962C8B-B14F-4D97-AF65-F5344CB8AC3E}">
        <p14:creationId xmlns:p14="http://schemas.microsoft.com/office/powerpoint/2010/main" xmlns="" val="2705787583"/>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IMING" val="|7.5|20.3"/>
</p:tagLst>
</file>

<file path=ppt/theme/theme1.xml><?xml version="1.0" encoding="utf-8"?>
<a:theme xmlns:a="http://schemas.openxmlformats.org/drawingml/2006/main" name="Blends">
  <a:themeElements>
    <a:clrScheme name="Blends 8">
      <a:dk1>
        <a:srgbClr val="000000"/>
      </a:dk1>
      <a:lt1>
        <a:srgbClr val="FFFFFF"/>
      </a:lt1>
      <a:dk2>
        <a:srgbClr val="6600CC"/>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宋体"/>
        <a:cs typeface=""/>
      </a:majorFont>
      <a:minorFont>
        <a:latin typeface="Tahoma"/>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9525" cap="flat" cmpd="sng" algn="ctr">
          <a:solidFill>
            <a:schemeClr val="tx1"/>
          </a:solidFill>
          <a:prstDash val="solid"/>
          <a:miter lim="800000"/>
          <a:headEnd type="none" w="med" len="med"/>
          <a:tailEnd type="none" w="med" len="med"/>
        </a:ln>
      </a:spPr>
      <a:bodyPr vert="horz" wrap="squar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spDef>
    <a:lnDef>
      <a:spPr bwMode="auto">
        <a:xfrm>
          <a:off x="0" y="0"/>
          <a:ext cx="1" cy="1"/>
        </a:xfrm>
        <a:custGeom>
          <a:avLst/>
          <a:gdLst/>
          <a:ahLst/>
          <a:cxnLst/>
          <a:rect l="0" t="0" r="0" b="0"/>
          <a:pathLst/>
        </a:custGeom>
        <a:noFill/>
        <a:ln w="9525" cap="flat" cmpd="sng" algn="ctr">
          <a:solidFill>
            <a:schemeClr val="tx1"/>
          </a:solidFill>
          <a:prstDash val="solid"/>
          <a:miter lim="800000"/>
          <a:headEnd type="none" w="med" len="med"/>
          <a:tailEnd type="none" w="med" len="med"/>
        </a:ln>
      </a:spPr>
      <a:bodyPr vert="horz" wrap="square" lIns="90000" tIns="46800" rIns="90000" bIns="46800" numCol="1" anchor="t" anchorCtr="0" compatLnSpc="1">
        <a:spAutoFit/>
      </a:bodyPr>
      <a:lstStyle>
        <a:defPPr marL="0" marR="0" indent="0" algn="l" defTabSz="914400" rtl="0" eaLnBrk="1" fontAlgn="base" latinLnBrk="0" hangingPunct="1">
          <a:lnSpc>
            <a:spcPct val="100000"/>
          </a:lnSpc>
          <a:spcBef>
            <a:spcPct val="0"/>
          </a:spcBef>
          <a:spcAft>
            <a:spcPct val="0"/>
          </a:spcAft>
          <a:buClrTx/>
          <a:buSzTx/>
          <a:buFontTx/>
          <a:buNone/>
          <a:defRPr kumimoji="1" lang="zh-CN" altLang="en-US" sz="3600" b="0" i="0" u="none" strike="noStrike" cap="none" normalizeH="0" baseline="0" smtClean="0">
            <a:ln>
              <a:noFill/>
            </a:ln>
            <a:solidFill>
              <a:schemeClr val="tx1"/>
            </a:solidFill>
            <a:effectLst/>
            <a:latin typeface="Tahoma" panose="020B0604030504040204" pitchFamily="34" charset="0"/>
            <a:ea typeface="宋体" panose="02010600030101010101" pitchFamily="2" charset="-122"/>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3">
        <a:dk1>
          <a:srgbClr val="000000"/>
        </a:dk1>
        <a:lt1>
          <a:srgbClr val="FFFFFF"/>
        </a:lt1>
        <a:dk2>
          <a:srgbClr val="000000"/>
        </a:dk2>
        <a:lt2>
          <a:srgbClr val="5F5F5F"/>
        </a:lt2>
        <a:accent1>
          <a:srgbClr val="EAEAEA"/>
        </a:accent1>
        <a:accent2>
          <a:srgbClr val="808080"/>
        </a:accent2>
        <a:accent3>
          <a:srgbClr val="FFFFFF"/>
        </a:accent3>
        <a:accent4>
          <a:srgbClr val="000000"/>
        </a:accent4>
        <a:accent5>
          <a:srgbClr val="F3F3F3"/>
        </a:accent5>
        <a:accent6>
          <a:srgbClr val="737373"/>
        </a:accent6>
        <a:hlink>
          <a:srgbClr val="4D4D4D"/>
        </a:hlink>
        <a:folHlink>
          <a:srgbClr val="C0C0C0"/>
        </a:folHlink>
      </a:clrScheme>
      <a:clrMap bg1="lt1" tx1="dk1" bg2="lt2" tx2="dk2" accent1="accent1" accent2="accent2" accent3="accent3" accent4="accent4" accent5="accent5" accent6="accent6" hlink="hlink" folHlink="folHlink"/>
    </a:extraClrScheme>
    <a:extraClrScheme>
      <a:clrScheme name="Blends 4">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
      <a:clrScheme name="Blends 7">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8">
        <a:dk1>
          <a:srgbClr val="000000"/>
        </a:dk1>
        <a:lt1>
          <a:srgbClr val="FFFFFF"/>
        </a:lt1>
        <a:dk2>
          <a:srgbClr val="6600CC"/>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xmlns=""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绪论</Template>
  <TotalTime>9651</TotalTime>
  <Words>5486</Words>
  <Application>Microsoft Office PowerPoint</Application>
  <PresentationFormat>全屏显示(4:3)</PresentationFormat>
  <Paragraphs>687</Paragraphs>
  <Slides>98</Slides>
  <Notes>0</Notes>
  <HiddenSlides>0</HiddenSlides>
  <MMClips>0</MMClips>
  <ScaleCrop>false</ScaleCrop>
  <HeadingPairs>
    <vt:vector size="6" baseType="variant">
      <vt:variant>
        <vt:lpstr>主题</vt:lpstr>
      </vt:variant>
      <vt:variant>
        <vt:i4>1</vt:i4>
      </vt:variant>
      <vt:variant>
        <vt:lpstr>嵌入 OLE 服务器</vt:lpstr>
      </vt:variant>
      <vt:variant>
        <vt:i4>3</vt:i4>
      </vt:variant>
      <vt:variant>
        <vt:lpstr>幻灯片标题</vt:lpstr>
      </vt:variant>
      <vt:variant>
        <vt:i4>98</vt:i4>
      </vt:variant>
    </vt:vector>
  </HeadingPairs>
  <TitlesOfParts>
    <vt:vector size="102" baseType="lpstr">
      <vt:lpstr>Blends</vt:lpstr>
      <vt:lpstr>图片</vt:lpstr>
      <vt:lpstr>Visio</vt:lpstr>
      <vt:lpstr>公式</vt:lpstr>
      <vt:lpstr>幻灯片 1</vt:lpstr>
      <vt:lpstr>主要内容</vt:lpstr>
      <vt:lpstr>6.1.1 时序逻辑电路的结构与特点</vt:lpstr>
      <vt:lpstr>6.1.1 时序逻辑电路的结构与特点</vt:lpstr>
      <vt:lpstr>6.1.1 时序逻辑电路的结构与特点</vt:lpstr>
      <vt:lpstr>6.1.2 时序逻辑电路的分类</vt:lpstr>
      <vt:lpstr>幻灯片 7</vt:lpstr>
      <vt:lpstr>幻灯片 8</vt:lpstr>
      <vt:lpstr>6.1.3 时序逻辑电路的表示方法</vt:lpstr>
      <vt:lpstr>6.1.3 时序逻辑电路的表示方法</vt:lpstr>
      <vt:lpstr>6.1.3 时序逻辑电路的表示方法</vt:lpstr>
      <vt:lpstr>6.1.3 时序逻辑电路的表示方法</vt:lpstr>
      <vt:lpstr>6.1.3 时序逻辑电路的表示方法</vt:lpstr>
      <vt:lpstr>6.1.3 时序逻辑电路的表示方法</vt:lpstr>
      <vt:lpstr>时序逻辑电路的分析---同步时序逻辑电路</vt:lpstr>
      <vt:lpstr>时序逻辑电路的分析---同步时序逻辑电路</vt:lpstr>
      <vt:lpstr>时序逻辑电路的分析---同步时序逻辑电路</vt:lpstr>
      <vt:lpstr>时序逻辑电路的分析---同步时序逻辑电路</vt:lpstr>
      <vt:lpstr>时序逻辑电路的分析---同步时序逻辑电路</vt:lpstr>
      <vt:lpstr>时序逻辑电路的分析---同步时序逻辑电路</vt:lpstr>
      <vt:lpstr>时序逻辑电路的分析---同步时序逻辑电路</vt:lpstr>
      <vt:lpstr>时序逻辑电路的分析---同步时序逻辑电路</vt:lpstr>
      <vt:lpstr>时序逻辑电路的分析---同步时序逻辑电路</vt:lpstr>
      <vt:lpstr>时序逻辑电路的分析---同步时序逻辑电路</vt:lpstr>
      <vt:lpstr>时序逻辑电路的分析---同步时序逻辑电路</vt:lpstr>
      <vt:lpstr>时序逻辑电路的分析---异步时序逻辑电路</vt:lpstr>
      <vt:lpstr>幻灯片 27</vt:lpstr>
      <vt:lpstr>时序逻辑电路的分析---异步时序逻辑电路</vt:lpstr>
      <vt:lpstr>时序逻辑电路的分析---异步时序逻辑电路</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6.4 计数器</vt:lpstr>
      <vt:lpstr>6.4 计数器</vt:lpstr>
      <vt:lpstr>6.4 计数器</vt:lpstr>
      <vt:lpstr>6.4 计数器</vt:lpstr>
      <vt:lpstr>6.4 计数器</vt:lpstr>
      <vt:lpstr>6.4 计数器</vt:lpstr>
      <vt:lpstr>6.4 计数器</vt:lpstr>
      <vt:lpstr>6.4 计数器</vt:lpstr>
      <vt:lpstr>6.4 计数器</vt:lpstr>
      <vt:lpstr>6.4 计数器</vt:lpstr>
      <vt:lpstr>几种常用的时序逻辑电路</vt:lpstr>
      <vt:lpstr>6.4 计数器</vt:lpstr>
      <vt:lpstr>6.4 计数器</vt:lpstr>
      <vt:lpstr>幻灯片 58</vt:lpstr>
      <vt:lpstr>几种常用的时序逻辑电路</vt:lpstr>
      <vt:lpstr>6.4 计数器</vt:lpstr>
      <vt:lpstr>6.4 计数器</vt:lpstr>
      <vt:lpstr>幻灯片 62</vt:lpstr>
      <vt:lpstr>6.4 计数器</vt:lpstr>
      <vt:lpstr>幻灯片 64</vt:lpstr>
      <vt:lpstr>幻灯片 65</vt:lpstr>
      <vt:lpstr>6.4 计数器</vt:lpstr>
      <vt:lpstr>6.4 计数器</vt:lpstr>
      <vt:lpstr>6.4 计数器</vt:lpstr>
      <vt:lpstr>6.4 计数器</vt:lpstr>
      <vt:lpstr>6.4 计数器</vt:lpstr>
      <vt:lpstr>6.4 计数器</vt:lpstr>
      <vt:lpstr>6.5 寄存器</vt:lpstr>
      <vt:lpstr>6.5 寄存器</vt:lpstr>
      <vt:lpstr>6.5 寄存器</vt:lpstr>
      <vt:lpstr>6.5 寄存器</vt:lpstr>
      <vt:lpstr>6.5 寄存器</vt:lpstr>
      <vt:lpstr>6.5 寄存器</vt:lpstr>
      <vt:lpstr>6.5 寄存器</vt:lpstr>
      <vt:lpstr>6.5 寄存器</vt:lpstr>
      <vt:lpstr>6.5 寄存器</vt:lpstr>
      <vt:lpstr>6.5 寄存器</vt:lpstr>
      <vt:lpstr>6.5 寄存器</vt:lpstr>
      <vt:lpstr>6.5 寄存器</vt:lpstr>
      <vt:lpstr>6.5 寄存器</vt:lpstr>
      <vt:lpstr>6.5 寄存器</vt:lpstr>
      <vt:lpstr>6.5 寄存器</vt:lpstr>
      <vt:lpstr>6.5 寄存器</vt:lpstr>
      <vt:lpstr>几种常用的时序逻辑电路</vt:lpstr>
      <vt:lpstr>幻灯片 89</vt:lpstr>
      <vt:lpstr>6.5.4 移位寄存器构成的移位型计数器</vt:lpstr>
      <vt:lpstr>1. 环形计数器</vt:lpstr>
      <vt:lpstr>幻灯片 92</vt:lpstr>
      <vt:lpstr>6.5.4 移位寄存器构成的移位型计数器</vt:lpstr>
      <vt:lpstr>2. 扭环形计数器</vt:lpstr>
      <vt:lpstr>6.5.4 移位寄存器构成的移位型计数器</vt:lpstr>
      <vt:lpstr>本章小结</vt:lpstr>
      <vt:lpstr>本章小结</vt:lpstr>
      <vt:lpstr>《第6章》课外作业</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wrj</dc:creator>
  <cp:lastModifiedBy>Sky123.Org</cp:lastModifiedBy>
  <cp:revision>601</cp:revision>
  <dcterms:created xsi:type="dcterms:W3CDTF">2017-09-19T13:51:00Z</dcterms:created>
  <dcterms:modified xsi:type="dcterms:W3CDTF">2021-12-09T03:16:59Z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2052-10.1.0.7023</vt:lpwstr>
  </property>
</Properties>
</file>