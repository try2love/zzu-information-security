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06" r:id="rId2"/>
  </p:sldMasterIdLst>
  <p:notesMasterIdLst>
    <p:notesMasterId r:id="rId32"/>
  </p:notesMasterIdLst>
  <p:sldIdLst>
    <p:sldId id="319" r:id="rId3"/>
    <p:sldId id="528" r:id="rId4"/>
    <p:sldId id="542" r:id="rId5"/>
    <p:sldId id="543" r:id="rId6"/>
    <p:sldId id="529" r:id="rId7"/>
    <p:sldId id="544" r:id="rId8"/>
    <p:sldId id="530" r:id="rId9"/>
    <p:sldId id="545" r:id="rId10"/>
    <p:sldId id="531" r:id="rId11"/>
    <p:sldId id="546" r:id="rId12"/>
    <p:sldId id="532" r:id="rId13"/>
    <p:sldId id="533" r:id="rId14"/>
    <p:sldId id="547" r:id="rId15"/>
    <p:sldId id="548" r:id="rId16"/>
    <p:sldId id="534" r:id="rId17"/>
    <p:sldId id="535" r:id="rId18"/>
    <p:sldId id="549" r:id="rId19"/>
    <p:sldId id="536" r:id="rId20"/>
    <p:sldId id="550" r:id="rId21"/>
    <p:sldId id="537" r:id="rId22"/>
    <p:sldId id="551" r:id="rId23"/>
    <p:sldId id="538" r:id="rId24"/>
    <p:sldId id="552" r:id="rId25"/>
    <p:sldId id="539" r:id="rId26"/>
    <p:sldId id="553" r:id="rId27"/>
    <p:sldId id="540" r:id="rId28"/>
    <p:sldId id="554" r:id="rId29"/>
    <p:sldId id="556" r:id="rId30"/>
    <p:sldId id="555" r:id="rId3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C9900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2" autoAdjust="0"/>
    <p:restoredTop sz="94708" autoAdjust="0"/>
  </p:normalViewPr>
  <p:slideViewPr>
    <p:cSldViewPr>
      <p:cViewPr varScale="1">
        <p:scale>
          <a:sx n="79" d="100"/>
          <a:sy n="79" d="100"/>
        </p:scale>
        <p:origin x="-1546" y="-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697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35" d="100"/>
          <a:sy n="35" d="100"/>
        </p:scale>
        <p:origin x="-2400" y="-72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Relationship Id="rId4" Type="http://schemas.openxmlformats.org/officeDocument/2006/relationships/image" Target="../media/image43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Relationship Id="rId5" Type="http://schemas.openxmlformats.org/officeDocument/2006/relationships/image" Target="../media/image51.wmf"/><Relationship Id="rId4" Type="http://schemas.openxmlformats.org/officeDocument/2006/relationships/image" Target="../media/image50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7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8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ea typeface="+mn-ea"/>
              </a:defRPr>
            </a:lvl1pPr>
          </a:lstStyle>
          <a:p>
            <a:pPr>
              <a:defRPr/>
            </a:pPr>
            <a:fld id="{A3B9C7C7-FDCF-4A5A-8509-26890754E9FD}" type="datetimeFigureOut">
              <a:rPr lang="zh-CN" altLang="en-US"/>
              <a:pPr>
                <a:defRPr/>
              </a:pPr>
              <a:t>2021/12/11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ea typeface="+mn-ea"/>
              </a:defRPr>
            </a:lvl1pPr>
          </a:lstStyle>
          <a:p>
            <a:pPr>
              <a:defRPr/>
            </a:pPr>
            <a:fld id="{742F3B21-3138-4A03-865E-4DCEA39BC66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宋体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宋体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宋体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宋体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宋体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150F70-FB61-4FC4-9762-A912CADD2190}" type="datetimeFigureOut">
              <a:rPr lang="en-US"/>
              <a:pPr>
                <a:defRPr/>
              </a:pPr>
              <a:t>12/11/2021</a:t>
            </a:fld>
            <a:endParaRPr lang="en-US"/>
          </a:p>
        </p:txBody>
      </p:sp>
      <p:sp>
        <p:nvSpPr>
          <p:cNvPr id="6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3EC96F-C609-43D5-BF91-9F17015345C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8198" y="290732"/>
            <a:ext cx="1066800" cy="6153912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365006" y="290732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1365006" y="3427124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2022230" y="290732"/>
            <a:ext cx="68580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2022230" y="3427124"/>
            <a:ext cx="68580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791075" y="6481763"/>
            <a:ext cx="2130425" cy="3016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E25779-4363-42C6-AC22-F5D724CB9CBA}" type="datetimeFigureOut">
              <a:rPr lang="en-US"/>
              <a:pPr>
                <a:defRPr/>
              </a:pPr>
              <a:t>12/11/2021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57200" y="6481763"/>
            <a:ext cx="4260850" cy="3016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7589838" y="6483350"/>
            <a:ext cx="503237" cy="301625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fld id="{7C8C4F6C-BC4E-447D-BD90-EE61DC1DE6C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FBF8D3-3ED9-4096-A630-1F1CD55F34BB}" type="datetimeFigureOut">
              <a:rPr lang="en-US"/>
              <a:pPr>
                <a:defRPr/>
              </a:pPr>
              <a:t>12/11/2021</a:t>
            </a:fld>
            <a:endParaRPr lang="en-US"/>
          </a:p>
        </p:txBody>
      </p:sp>
      <p:sp>
        <p:nvSpPr>
          <p:cNvPr id="4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C3B7DF-204F-4038-9C41-5B607A3862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FDA484-EFC0-4910-B540-7AAE66CA4519}" type="datetimeFigureOut">
              <a:rPr lang="en-US"/>
              <a:pPr>
                <a:defRPr/>
              </a:pPr>
              <a:t>12/11/2021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34A8A-1ABF-4C0B-9EE6-C1E1970DBC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456" y="367664"/>
            <a:ext cx="914400" cy="5943600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1135856" y="367664"/>
            <a:ext cx="2438400" cy="59436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3651250" y="320040"/>
            <a:ext cx="5276088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78563" y="6556375"/>
            <a:ext cx="2133600" cy="301625"/>
          </a:xfrm>
        </p:spPr>
        <p:txBody>
          <a:bodyPr/>
          <a:lstStyle>
            <a:lvl1pPr>
              <a:defRPr sz="900"/>
            </a:lvl1pPr>
          </a:lstStyle>
          <a:p>
            <a:pPr>
              <a:defRPr/>
            </a:pPr>
            <a:fld id="{F11ACDC0-7222-40CE-99C0-FEAA8E55E2A2}" type="datetimeFigureOut">
              <a:rPr lang="en-US"/>
              <a:pPr>
                <a:defRPr/>
              </a:pPr>
              <a:t>12/11/2021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1135063" y="6556375"/>
            <a:ext cx="5143500" cy="301625"/>
          </a:xfrm>
        </p:spPr>
        <p:txBody>
          <a:bodyPr/>
          <a:lstStyle>
            <a:lvl1pPr>
              <a:defRPr sz="9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410575" y="6556375"/>
            <a:ext cx="503238" cy="301625"/>
          </a:xfrm>
        </p:spPr>
        <p:txBody>
          <a:bodyPr/>
          <a:lstStyle>
            <a:lvl1pPr>
              <a:defRPr sz="900"/>
            </a:lvl1pPr>
          </a:lstStyle>
          <a:p>
            <a:pPr>
              <a:defRPr/>
            </a:pPr>
            <a:fld id="{B06970D0-2D04-4ADB-B33F-E72BED5FE3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Pr>
        <a:gradFill rotWithShape="1">
          <a:gsLst>
            <a:gs pos="0">
              <a:srgbClr val="000000"/>
            </a:gs>
            <a:gs pos="60001">
              <a:srgbClr val="000000"/>
            </a:gs>
            <a:gs pos="100000">
              <a:srgbClr val="6C6C6C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456" y="150896"/>
            <a:ext cx="914400" cy="64008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138237" y="373966"/>
            <a:ext cx="7333488" cy="5486400"/>
          </a:xfrm>
          <a:solidFill>
            <a:schemeClr val="bg2">
              <a:shade val="5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noProof="0" smtClean="0"/>
              <a:t>单击图标添加图片</a:t>
            </a:r>
            <a:endParaRPr 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43000" y="5867400"/>
            <a:ext cx="7333488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108700" y="6556375"/>
            <a:ext cx="2101850" cy="301625"/>
          </a:xfrm>
        </p:spPr>
        <p:txBody>
          <a:bodyPr/>
          <a:lstStyle>
            <a:lvl1pPr>
              <a:defRPr sz="900"/>
            </a:lvl1pPr>
          </a:lstStyle>
          <a:p>
            <a:pPr>
              <a:defRPr/>
            </a:pPr>
            <a:fld id="{ECB99AE3-C2BA-4D9B-96DA-4E09CEFC38B5}" type="datetimeFigureOut">
              <a:rPr lang="en-US"/>
              <a:pPr>
                <a:defRPr/>
              </a:pPr>
              <a:t>12/11/2021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1169988" y="6557963"/>
            <a:ext cx="4948237" cy="301625"/>
          </a:xfrm>
        </p:spPr>
        <p:txBody>
          <a:bodyPr/>
          <a:lstStyle>
            <a:lvl1pPr>
              <a:defRPr sz="9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216900" y="6556375"/>
            <a:ext cx="366713" cy="301625"/>
          </a:xfrm>
        </p:spPr>
        <p:txBody>
          <a:bodyPr/>
          <a:lstStyle>
            <a:lvl1pPr algn="ctr">
              <a:defRPr sz="900"/>
            </a:lvl1pPr>
          </a:lstStyle>
          <a:p>
            <a:pPr>
              <a:defRPr/>
            </a:pPr>
            <a:fld id="{80981CCD-0FD0-4B7D-B1A9-4B719B6CAA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FD261A-6674-452F-987C-951FF8693B6C}" type="datetimeFigureOut">
              <a:rPr lang="en-US"/>
              <a:pPr>
                <a:defRPr/>
              </a:pPr>
              <a:t>12/11/2021</a:t>
            </a:fld>
            <a:endParaRPr lang="en-US"/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02F394-D8FA-4B2C-9901-7DE97C61FC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1800" y="381000"/>
            <a:ext cx="19050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2484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923DDE-4717-425C-86FB-E473395BFA64}" type="datetimeFigureOut">
              <a:rPr lang="en-US"/>
              <a:pPr>
                <a:defRPr/>
              </a:pPr>
              <a:t>12/11/2021</a:t>
            </a:fld>
            <a:endParaRPr lang="en-US"/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1CF4EB-1E1E-4ED2-B70F-2B9F5942FB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G0" fmla="+- 618 0 0"/>
            </a:gdLst>
            <a:ahLst/>
            <a:cxnLst>
              <a:cxn ang="0">
                <a:pos x="0" y="0"/>
              </a:cxn>
              <a:cxn ang="0">
                <a:pos x="618" y="0"/>
              </a:cxn>
              <a:cxn ang="0">
                <a:pos x="618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 sz="2400" b="0">
              <a:latin typeface="Times New Roman" pitchFamily="18" charset="0"/>
              <a:ea typeface="宋体" charset="-122"/>
            </a:endParaRPr>
          </a:p>
        </p:txBody>
      </p:sp>
      <p:sp>
        <p:nvSpPr>
          <p:cNvPr id="1546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546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91B8A8-5C9F-4664-ACE7-3B2984404D29}" type="datetimeFigureOut">
              <a:rPr lang="en-US" altLang="zh-CN"/>
              <a:pPr>
                <a:defRPr/>
              </a:pPr>
              <a:t>12/11/2021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1DCE04-1F46-4EB0-B2F5-092239AA10C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AE14A8-8489-4EAF-957E-5E75300582C6}" type="datetimeFigureOut">
              <a:rPr lang="en-US" altLang="zh-CN"/>
              <a:pPr>
                <a:defRPr/>
              </a:pPr>
              <a:t>12/11/2021</a:t>
            </a:fld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933188-5E92-4B8E-A8C8-5355FCCC2F6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1AFEA2-94B4-4A6B-8DD9-85F8E3CB1AB2}" type="datetimeFigureOut">
              <a:rPr lang="en-US" altLang="zh-CN"/>
              <a:pPr>
                <a:defRPr/>
              </a:pPr>
              <a:t>12/11/2021</a:t>
            </a:fld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C8E6C5-3A21-44D0-BE33-05D57AC052A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54522E-A4CC-4AA4-99BF-9EABED58B413}" type="datetimeFigureOut">
              <a:rPr lang="en-US" altLang="zh-CN"/>
              <a:pPr>
                <a:defRPr/>
              </a:pPr>
              <a:t>12/11/2021</a:t>
            </a:fld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C694A1-78FA-4617-9467-C4289CF19A4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5BEA34-F951-4FA7-9707-44E892F38A78}" type="datetimeFigureOut">
              <a:rPr lang="en-US" altLang="zh-CN"/>
              <a:pPr>
                <a:defRPr/>
              </a:pPr>
              <a:t>12/11/2021</a:t>
            </a:fld>
            <a:endParaRPr lang="en-US" altLang="zh-CN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2F03D8-67FC-43C5-8B4B-5A8D4B93B19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A993C7-BFF5-4235-A2A8-13539DAAB161}" type="datetimeFigureOut">
              <a:rPr lang="en-US" altLang="zh-CN"/>
              <a:pPr>
                <a:defRPr/>
              </a:pPr>
              <a:t>12/11/2021</a:t>
            </a:fld>
            <a:endParaRPr lang="en-US" altLang="zh-C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588DCC-CB86-417E-B0D2-A7F8E684539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498E7D-45D9-4005-B04E-FC67037D6F9D}" type="datetimeFigureOut">
              <a:rPr lang="en-US" altLang="zh-CN"/>
              <a:pPr>
                <a:defRPr/>
              </a:pPr>
              <a:t>12/11/2021</a:t>
            </a:fld>
            <a:endParaRPr lang="en-US" altLang="zh-CN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C8459A-3ABD-4199-8F07-78BA9A9B867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7FF543-3E42-4C9A-ACA4-6C4AA9102DB8}" type="datetimeFigureOut">
              <a:rPr lang="en-US" altLang="zh-CN"/>
              <a:pPr>
                <a:defRPr/>
              </a:pPr>
              <a:t>12/11/2021</a:t>
            </a:fld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95BE96-FB2F-4A3E-9379-3937D54714C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3547C3-A0AC-4FA1-AF24-66C1482FE577}" type="datetimeFigureOut">
              <a:rPr lang="en-US" altLang="zh-CN"/>
              <a:pPr>
                <a:defRPr/>
              </a:pPr>
              <a:t>12/11/2021</a:t>
            </a:fld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A7BD43-FC04-40E7-AF8A-AC838D4B1BB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2A68B7-2778-4A14-8CD1-E2D2F21AFD9D}" type="datetimeFigureOut">
              <a:rPr lang="en-US" altLang="zh-CN"/>
              <a:pPr>
                <a:defRPr/>
              </a:pPr>
              <a:t>12/11/2021</a:t>
            </a:fld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CC7561-8A72-4627-8D5A-C7778288A82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DF5ECB-CD02-4345-8BBE-551C8C69F927}" type="datetimeFigureOut">
              <a:rPr lang="en-US" altLang="zh-CN"/>
              <a:pPr>
                <a:defRPr/>
              </a:pPr>
              <a:t>12/11/2021</a:t>
            </a:fld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17431D-DE45-45EE-B137-BC7C810FCD5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474747"/>
            </a:gs>
            <a:gs pos="60001">
              <a:srgbClr val="626262"/>
            </a:gs>
            <a:gs pos="100000">
              <a:srgbClr val="8C8C8C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直角三角形 10"/>
          <p:cNvSpPr/>
          <p:nvPr/>
        </p:nvSpPr>
        <p:spPr>
          <a:xfrm>
            <a:off x="6350" y="14288"/>
            <a:ext cx="9131300" cy="6837362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b="0"/>
          </a:p>
        </p:txBody>
      </p:sp>
      <p:cxnSp>
        <p:nvCxnSpPr>
          <p:cNvPr id="8" name="直接连接符 7"/>
          <p:cNvCxnSpPr/>
          <p:nvPr/>
        </p:nvCxnSpPr>
        <p:spPr>
          <a:xfrm>
            <a:off x="0" y="6350"/>
            <a:ext cx="9137650" cy="6845300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rot="10800000" flipV="1">
            <a:off x="6469063" y="4948238"/>
            <a:ext cx="2673350" cy="1900237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457200" y="268288"/>
            <a:ext cx="8229600" cy="1398587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22534" name="文本占位符 12"/>
          <p:cNvSpPr>
            <a:spLocks noGrp="1"/>
          </p:cNvSpPr>
          <p:nvPr>
            <p:ph type="body" idx="1"/>
          </p:nvPr>
        </p:nvSpPr>
        <p:spPr bwMode="auto">
          <a:xfrm>
            <a:off x="457200" y="1882775"/>
            <a:ext cx="82296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4791075" y="6481763"/>
            <a:ext cx="2133600" cy="3016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A821C45-586E-4BA0-A58F-B643240C3438}" type="datetimeFigureOut">
              <a:rPr lang="en-US"/>
              <a:pPr>
                <a:defRPr/>
              </a:pPr>
              <a:t>12/11/2021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457200" y="6481763"/>
            <a:ext cx="4259263" cy="3016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7589838" y="6481763"/>
            <a:ext cx="503237" cy="301625"/>
          </a:xfrm>
          <a:prstGeom prst="rect">
            <a:avLst/>
          </a:prstGeom>
        </p:spPr>
        <p:txBody>
          <a:bodyPr vert="horz" anchor="b"/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AF784DA-C9FB-42B1-9629-7BD66CA542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4424" r:id="rId1"/>
    <p:sldLayoutId id="2147484439" r:id="rId2"/>
    <p:sldLayoutId id="2147484425" r:id="rId3"/>
    <p:sldLayoutId id="2147484426" r:id="rId4"/>
    <p:sldLayoutId id="2147484440" r:id="rId5"/>
    <p:sldLayoutId id="2147484441" r:id="rId6"/>
    <p:sldLayoutId id="2147484427" r:id="rId7"/>
    <p:sldLayoutId id="2147484428" r:id="rId8"/>
  </p:sldLayoutIdLst>
  <p:txStyles>
    <p:titleStyle>
      <a:lvl1pPr marL="484188" indent="-484188" algn="l" rtl="0" eaLnBrk="0" fontAlgn="base" hangingPunct="0">
        <a:spcBef>
          <a:spcPct val="0"/>
        </a:spcBef>
        <a:spcAft>
          <a:spcPct val="0"/>
        </a:spcAft>
        <a:defRPr sz="4200" kern="1200">
          <a:ln w="6350">
            <a:solidFill>
              <a:schemeClr val="accent1">
                <a:shade val="43000"/>
              </a:schemeClr>
            </a:solidFill>
          </a:ln>
          <a:solidFill>
            <a:srgbClr val="FF5C9C"/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  <a:lvl2pPr marL="484188" indent="-484188" algn="l" rtl="0" eaLnBrk="0" fontAlgn="base" hangingPunct="0">
        <a:spcBef>
          <a:spcPct val="0"/>
        </a:spcBef>
        <a:spcAft>
          <a:spcPct val="0"/>
        </a:spcAft>
        <a:defRPr sz="4200">
          <a:solidFill>
            <a:srgbClr val="FF5C9C"/>
          </a:solidFill>
          <a:latin typeface="Century Gothic" pitchFamily="34" charset="0"/>
        </a:defRPr>
      </a:lvl2pPr>
      <a:lvl3pPr marL="484188" indent="-484188" algn="l" rtl="0" eaLnBrk="0" fontAlgn="base" hangingPunct="0">
        <a:spcBef>
          <a:spcPct val="0"/>
        </a:spcBef>
        <a:spcAft>
          <a:spcPct val="0"/>
        </a:spcAft>
        <a:defRPr sz="4200">
          <a:solidFill>
            <a:srgbClr val="FF5C9C"/>
          </a:solidFill>
          <a:latin typeface="Century Gothic" pitchFamily="34" charset="0"/>
        </a:defRPr>
      </a:lvl3pPr>
      <a:lvl4pPr marL="484188" indent="-484188" algn="l" rtl="0" eaLnBrk="0" fontAlgn="base" hangingPunct="0">
        <a:spcBef>
          <a:spcPct val="0"/>
        </a:spcBef>
        <a:spcAft>
          <a:spcPct val="0"/>
        </a:spcAft>
        <a:defRPr sz="4200">
          <a:solidFill>
            <a:srgbClr val="FF5C9C"/>
          </a:solidFill>
          <a:latin typeface="Century Gothic" pitchFamily="34" charset="0"/>
        </a:defRPr>
      </a:lvl4pPr>
      <a:lvl5pPr marL="484188" indent="-484188" algn="l" rtl="0" eaLnBrk="0" fontAlgn="base" hangingPunct="0">
        <a:spcBef>
          <a:spcPct val="0"/>
        </a:spcBef>
        <a:spcAft>
          <a:spcPct val="0"/>
        </a:spcAft>
        <a:defRPr sz="4200">
          <a:solidFill>
            <a:srgbClr val="FF5C9C"/>
          </a:solidFill>
          <a:latin typeface="Century Gothic" pitchFamily="34" charset="0"/>
        </a:defRPr>
      </a:lvl5pPr>
      <a:lvl6pPr marL="941388" indent="-484188" algn="l" rtl="0" fontAlgn="base">
        <a:spcBef>
          <a:spcPct val="0"/>
        </a:spcBef>
        <a:spcAft>
          <a:spcPct val="0"/>
        </a:spcAft>
        <a:defRPr sz="4200">
          <a:solidFill>
            <a:srgbClr val="FF5C9C"/>
          </a:solidFill>
          <a:latin typeface="Century Gothic" pitchFamily="34" charset="0"/>
        </a:defRPr>
      </a:lvl6pPr>
      <a:lvl7pPr marL="1398588" indent="-484188" algn="l" rtl="0" fontAlgn="base">
        <a:spcBef>
          <a:spcPct val="0"/>
        </a:spcBef>
        <a:spcAft>
          <a:spcPct val="0"/>
        </a:spcAft>
        <a:defRPr sz="4200">
          <a:solidFill>
            <a:srgbClr val="FF5C9C"/>
          </a:solidFill>
          <a:latin typeface="Century Gothic" pitchFamily="34" charset="0"/>
        </a:defRPr>
      </a:lvl7pPr>
      <a:lvl8pPr marL="1855788" indent="-484188" algn="l" rtl="0" fontAlgn="base">
        <a:spcBef>
          <a:spcPct val="0"/>
        </a:spcBef>
        <a:spcAft>
          <a:spcPct val="0"/>
        </a:spcAft>
        <a:defRPr sz="4200">
          <a:solidFill>
            <a:srgbClr val="FF5C9C"/>
          </a:solidFill>
          <a:latin typeface="Century Gothic" pitchFamily="34" charset="0"/>
        </a:defRPr>
      </a:lvl8pPr>
      <a:lvl9pPr marL="2312988" indent="-484188" algn="l" rtl="0" fontAlgn="base">
        <a:spcBef>
          <a:spcPct val="0"/>
        </a:spcBef>
        <a:spcAft>
          <a:spcPct val="0"/>
        </a:spcAft>
        <a:defRPr sz="4200">
          <a:solidFill>
            <a:srgbClr val="FF5C9C"/>
          </a:solidFill>
          <a:latin typeface="Century Gothic" pitchFamily="34" charset="0"/>
        </a:defRPr>
      </a:lvl9pPr>
    </p:titleStyle>
    <p:bodyStyle>
      <a:lvl1pPr marL="447675" indent="-3825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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325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95000"/>
        <a:buFont typeface="Verdana" pitchFamily="34" charset="0"/>
        <a:buChar char="›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49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095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09550" algn="l" rtl="0" eaLnBrk="0" fontAlgn="base" hangingPunct="0">
        <a:spcBef>
          <a:spcPct val="20000"/>
        </a:spcBef>
        <a:spcAft>
          <a:spcPct val="0"/>
        </a:spcAft>
        <a:buClr>
          <a:srgbClr val="FF90B2"/>
        </a:buClr>
        <a:buFont typeface="Wingdings 2" pitchFamily="18" charset="2"/>
        <a:buChar char="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53604" name="AutoShape 4"/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G0" fmla="+- 585 0 0"/>
            </a:gdLst>
            <a:ahLst/>
            <a:cxnLst>
              <a:cxn ang="0">
                <a:pos x="0" y="0"/>
              </a:cxn>
              <a:cxn ang="0">
                <a:pos x="585" y="0"/>
              </a:cxn>
              <a:cxn ang="0">
                <a:pos x="585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 sz="2400" b="0">
              <a:latin typeface="Times New Roman" pitchFamily="18" charset="0"/>
              <a:ea typeface="宋体" charset="-122"/>
            </a:endParaRPr>
          </a:p>
        </p:txBody>
      </p:sp>
      <p:sp>
        <p:nvSpPr>
          <p:cNvPr id="153605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 b="0">
              <a:latin typeface="Arial" charset="0"/>
              <a:ea typeface="宋体" charset="-122"/>
            </a:endParaRPr>
          </a:p>
        </p:txBody>
      </p:sp>
      <p:sp>
        <p:nvSpPr>
          <p:cNvPr id="153606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+mn-lt"/>
                <a:ea typeface="宋体" charset="-122"/>
              </a:defRPr>
            </a:lvl1pPr>
          </a:lstStyle>
          <a:p>
            <a:pPr>
              <a:defRPr/>
            </a:pPr>
            <a:fld id="{64B86BAD-276A-45ED-A0A9-49B53CC45348}" type="datetimeFigureOut">
              <a:rPr lang="en-US" altLang="zh-CN"/>
              <a:pPr>
                <a:defRPr/>
              </a:pPr>
              <a:t>12/11/2021</a:t>
            </a:fld>
            <a:endParaRPr lang="en-US" altLang="zh-CN"/>
          </a:p>
        </p:txBody>
      </p:sp>
      <p:sp>
        <p:nvSpPr>
          <p:cNvPr id="153607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 b="0">
                <a:latin typeface="+mn-lt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360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+mn-lt"/>
                <a:ea typeface="宋体" charset="-122"/>
              </a:defRPr>
            </a:lvl1pPr>
          </a:lstStyle>
          <a:p>
            <a:pPr>
              <a:defRPr/>
            </a:pPr>
            <a:fld id="{164B839B-2EB3-451F-A871-6E1710072A5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42" r:id="rId1"/>
    <p:sldLayoutId id="2147484429" r:id="rId2"/>
    <p:sldLayoutId id="2147484430" r:id="rId3"/>
    <p:sldLayoutId id="2147484431" r:id="rId4"/>
    <p:sldLayoutId id="2147484432" r:id="rId5"/>
    <p:sldLayoutId id="2147484433" r:id="rId6"/>
    <p:sldLayoutId id="2147484434" r:id="rId7"/>
    <p:sldLayoutId id="2147484435" r:id="rId8"/>
    <p:sldLayoutId id="2147484436" r:id="rId9"/>
    <p:sldLayoutId id="2147484437" r:id="rId10"/>
    <p:sldLayoutId id="2147484438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600">
          <a:solidFill>
            <a:schemeClr val="tx1"/>
          </a:solidFill>
          <a:latin typeface="+mn-lt"/>
          <a:ea typeface="+mn-ea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2300">
          <a:solidFill>
            <a:schemeClr val="tx1"/>
          </a:solidFill>
          <a:latin typeface="+mn-lt"/>
          <a:ea typeface="+mn-ea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png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7.png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oleObject" Target="../embeddings/oleObject3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4.vml"/><Relationship Id="rId4" Type="http://schemas.openxmlformats.org/officeDocument/2006/relationships/oleObject" Target="../embeddings/oleObject4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5.vml"/><Relationship Id="rId4" Type="http://schemas.openxmlformats.org/officeDocument/2006/relationships/oleObject" Target="../embeddings/oleObject5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6.vml"/><Relationship Id="rId4" Type="http://schemas.openxmlformats.org/officeDocument/2006/relationships/oleObject" Target="../embeddings/oleObject6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7.vml"/><Relationship Id="rId4" Type="http://schemas.openxmlformats.org/officeDocument/2006/relationships/oleObject" Target="../embeddings/oleObject7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8.vml"/><Relationship Id="rId4" Type="http://schemas.openxmlformats.org/officeDocument/2006/relationships/oleObject" Target="../embeddings/oleObject8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9.vml"/><Relationship Id="rId4" Type="http://schemas.openxmlformats.org/officeDocument/2006/relationships/oleObject" Target="../embeddings/oleObject9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10.vml"/><Relationship Id="rId4" Type="http://schemas.openxmlformats.org/officeDocument/2006/relationships/oleObject" Target="../embeddings/oleObject10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11.vml"/><Relationship Id="rId4" Type="http://schemas.openxmlformats.org/officeDocument/2006/relationships/oleObject" Target="../embeddings/oleObject11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36.png"/><Relationship Id="rId5" Type="http://schemas.openxmlformats.org/officeDocument/2006/relationships/oleObject" Target="../embeddings/oleObject15.bin"/><Relationship Id="rId4" Type="http://schemas.openxmlformats.org/officeDocument/2006/relationships/oleObject" Target="../embeddings/oleObject14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9.bin"/><Relationship Id="rId5" Type="http://schemas.openxmlformats.org/officeDocument/2006/relationships/oleObject" Target="../embeddings/oleObject18.bin"/><Relationship Id="rId4" Type="http://schemas.openxmlformats.org/officeDocument/2006/relationships/oleObject" Target="../embeddings/oleObject17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5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24.bin"/><Relationship Id="rId5" Type="http://schemas.openxmlformats.org/officeDocument/2006/relationships/oleObject" Target="../embeddings/oleObject23.bin"/><Relationship Id="rId4" Type="http://schemas.openxmlformats.org/officeDocument/2006/relationships/oleObject" Target="../embeddings/oleObject22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5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18.v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5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/>
          </p:cNvSpPr>
          <p:nvPr>
            <p:ph type="title" idx="4294967295"/>
          </p:nvPr>
        </p:nvSpPr>
        <p:spPr/>
        <p:txBody>
          <a:bodyPr anchor="ctr"/>
          <a:lstStyle/>
          <a:p>
            <a:pPr eaLnBrk="1" hangingPunct="1"/>
            <a:r>
              <a:rPr lang="en-US" altLang="zh-CN" sz="3600" b="1" smtClean="0"/>
              <a:t>《</a:t>
            </a:r>
            <a:r>
              <a:rPr lang="zh-CN" altLang="en-US" sz="3600" b="1" smtClean="0"/>
              <a:t>数字电路与数字系统</a:t>
            </a:r>
            <a:r>
              <a:rPr lang="en-US" altLang="zh-CN" sz="3600" b="1" smtClean="0"/>
              <a:t>》</a:t>
            </a:r>
            <a:r>
              <a:rPr lang="zh-CN" altLang="en-US" sz="3600" b="1" smtClean="0"/>
              <a:t>习题（第</a:t>
            </a:r>
            <a:r>
              <a:rPr lang="en-US" altLang="zh-CN" sz="3600" b="1" smtClean="0"/>
              <a:t>4</a:t>
            </a:r>
            <a:r>
              <a:rPr lang="zh-CN" altLang="en-US" sz="3600" b="1" smtClean="0"/>
              <a:t>章）</a:t>
            </a:r>
          </a:p>
        </p:txBody>
      </p:sp>
      <p:sp>
        <p:nvSpPr>
          <p:cNvPr id="5" name="Rectangle 3"/>
          <p:cNvSpPr txBox="1">
            <a:spLocks/>
          </p:cNvSpPr>
          <p:nvPr/>
        </p:nvSpPr>
        <p:spPr bwMode="auto">
          <a:xfrm>
            <a:off x="611188" y="1773238"/>
            <a:ext cx="8075612" cy="438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zh-CN" altLang="en-US" sz="2800" kern="0" dirty="0"/>
              <a:t>教材编著：戚金清（大连理工大学）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endParaRPr lang="en-US" altLang="zh-CN" sz="2800" kern="0" dirty="0">
              <a:latin typeface="Arial" charset="0"/>
              <a:ea typeface="宋体" charset="-122"/>
            </a:endParaRP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defRPr/>
            </a:pPr>
            <a:endParaRPr lang="en-US" altLang="zh-CN" sz="2800" kern="0" dirty="0">
              <a:latin typeface="Arial" charset="0"/>
              <a:ea typeface="宋体" charset="-122"/>
            </a:endParaRP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defRPr/>
            </a:pPr>
            <a:r>
              <a:rPr lang="zh-CN" altLang="en-US" sz="2800" kern="0" dirty="0">
                <a:latin typeface="Arial" charset="0"/>
                <a:ea typeface="宋体" charset="-122"/>
              </a:rPr>
              <a:t>课件制作：杨晓东（郑州大学）</a:t>
            </a:r>
            <a:endParaRPr lang="en-US" altLang="zh-CN" sz="2800" kern="0" dirty="0">
              <a:latin typeface="Arial" charset="0"/>
              <a:ea typeface="宋体" charset="-122"/>
            </a:endParaRP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zh-CN" altLang="en-US" sz="2800" kern="0" dirty="0">
                <a:latin typeface="Arial" charset="0"/>
                <a:ea typeface="宋体" charset="-122"/>
              </a:rPr>
              <a:t>授课教师：杨晓东</a:t>
            </a:r>
            <a:endParaRPr lang="zh-CN" altLang="en-US" sz="2800" kern="0" dirty="0">
              <a:latin typeface="Times New Roman" pitchFamily="18" charset="0"/>
              <a:ea typeface="+mn-ea"/>
            </a:endParaRPr>
          </a:p>
          <a:p>
            <a:pPr marL="469900" indent="-469900" algn="ctr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endParaRPr lang="zh-CN" altLang="en-US" sz="3000" kern="0" dirty="0">
              <a:latin typeface="Times New Roman" pitchFamily="18" charset="0"/>
              <a:ea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 idx="4294967295"/>
          </p:nvPr>
        </p:nvSpPr>
        <p:spPr/>
        <p:txBody>
          <a:bodyPr anchor="ctr"/>
          <a:lstStyle/>
          <a:p>
            <a:pPr algn="just" eaLnBrk="1" hangingPunct="1"/>
            <a:r>
              <a:rPr lang="zh-CN" altLang="en-US" sz="3500" b="1" smtClean="0">
                <a:solidFill>
                  <a:schemeClr val="tx1"/>
                </a:solidFill>
                <a:ea typeface="幼圆" pitchFamily="49" charset="-122"/>
              </a:rPr>
              <a:t>第</a:t>
            </a:r>
            <a:r>
              <a:rPr lang="en-US" altLang="zh-CN" sz="3500" b="1" smtClean="0">
                <a:solidFill>
                  <a:schemeClr val="tx1"/>
                </a:solidFill>
                <a:ea typeface="幼圆" pitchFamily="49" charset="-122"/>
              </a:rPr>
              <a:t>4</a:t>
            </a:r>
            <a:r>
              <a:rPr lang="zh-CN" altLang="en-US" sz="3500" b="1" smtClean="0">
                <a:solidFill>
                  <a:schemeClr val="tx1"/>
                </a:solidFill>
                <a:ea typeface="幼圆" pitchFamily="49" charset="-122"/>
              </a:rPr>
              <a:t>章  组合逻辑电路</a:t>
            </a:r>
          </a:p>
        </p:txBody>
      </p:sp>
      <p:sp>
        <p:nvSpPr>
          <p:cNvPr id="8195" name="Rectangle 3"/>
          <p:cNvSpPr>
            <a:spLocks noGrp="1"/>
          </p:cNvSpPr>
          <p:nvPr>
            <p:ph type="body" idx="4294967295"/>
          </p:nvPr>
        </p:nvSpPr>
        <p:spPr>
          <a:xfrm>
            <a:off x="611188" y="1700213"/>
            <a:ext cx="8353425" cy="4772025"/>
          </a:xfrm>
        </p:spPr>
        <p:txBody>
          <a:bodyPr/>
          <a:lstStyle/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r>
              <a:rPr lang="zh-CN" altLang="en-US" sz="2800" b="1" dirty="0" smtClean="0">
                <a:latin typeface="+mn-ea"/>
              </a:rPr>
              <a:t>习题</a:t>
            </a:r>
            <a:r>
              <a:rPr lang="en-US" altLang="zh-CN" sz="2800" b="1" dirty="0" smtClean="0">
                <a:latin typeface="+mn-ea"/>
              </a:rPr>
              <a:t>4.2 </a:t>
            </a:r>
            <a:r>
              <a:rPr lang="zh-CN" altLang="zh-CN" sz="2800" b="1" dirty="0" smtClean="0"/>
              <a:t>求题图</a:t>
            </a:r>
            <a:r>
              <a:rPr lang="en-US" altLang="zh-CN" sz="2800" b="1" dirty="0" smtClean="0"/>
              <a:t>4.2</a:t>
            </a:r>
            <a:r>
              <a:rPr lang="zh-CN" altLang="zh-CN" sz="2800" b="1" dirty="0" smtClean="0"/>
              <a:t>所示电路中</a:t>
            </a:r>
            <a:r>
              <a:rPr lang="en-US" altLang="zh-CN" sz="2800" b="1" i="1" dirty="0" smtClean="0"/>
              <a:t>F </a:t>
            </a:r>
            <a:r>
              <a:rPr lang="zh-CN" altLang="zh-CN" sz="2800" b="1" dirty="0" smtClean="0"/>
              <a:t>的逻辑表达式，化简成最简与或式，列出真值表，分析其逻辑功能，设计出全部改用与非门实现这一逻辑功能的电路</a:t>
            </a:r>
            <a:r>
              <a:rPr lang="zh-CN" altLang="en-US" sz="2800" b="1" dirty="0" smtClean="0">
                <a:latin typeface="+mn-ea"/>
              </a:rPr>
              <a:t>。</a:t>
            </a:r>
            <a:endParaRPr lang="en-US" altLang="zh-CN" sz="2800" b="1" dirty="0" smtClean="0">
              <a:latin typeface="+mn-ea"/>
            </a:endParaRPr>
          </a:p>
          <a:p>
            <a:pPr marL="432000" indent="-432000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endParaRPr lang="en-US" altLang="zh-CN" sz="2800" b="1" dirty="0" smtClean="0">
              <a:latin typeface="+mn-ea"/>
            </a:endParaRPr>
          </a:p>
        </p:txBody>
      </p:sp>
      <p:pic>
        <p:nvPicPr>
          <p:cNvPr id="29700" name="Picture 4" descr="T4t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39975" y="3357563"/>
            <a:ext cx="4298950" cy="244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/>
          </p:cNvSpPr>
          <p:nvPr>
            <p:ph type="title" idx="4294967295"/>
          </p:nvPr>
        </p:nvSpPr>
        <p:spPr/>
        <p:txBody>
          <a:bodyPr anchor="ctr"/>
          <a:lstStyle/>
          <a:p>
            <a:pPr algn="just" eaLnBrk="1" hangingPunct="1"/>
            <a:r>
              <a:rPr lang="zh-CN" altLang="en-US" sz="3500" b="1" smtClean="0">
                <a:solidFill>
                  <a:schemeClr val="tx1"/>
                </a:solidFill>
                <a:ea typeface="幼圆" pitchFamily="49" charset="-122"/>
              </a:rPr>
              <a:t>第</a:t>
            </a:r>
            <a:r>
              <a:rPr lang="en-US" altLang="zh-CN" sz="3500" b="1" smtClean="0">
                <a:solidFill>
                  <a:schemeClr val="tx1"/>
                </a:solidFill>
                <a:ea typeface="幼圆" pitchFamily="49" charset="-122"/>
              </a:rPr>
              <a:t>4</a:t>
            </a:r>
            <a:r>
              <a:rPr lang="zh-CN" altLang="en-US" sz="3500" b="1" smtClean="0">
                <a:solidFill>
                  <a:schemeClr val="tx1"/>
                </a:solidFill>
                <a:ea typeface="幼圆" pitchFamily="49" charset="-122"/>
              </a:rPr>
              <a:t>章  组合逻辑电路</a:t>
            </a:r>
          </a:p>
        </p:txBody>
      </p:sp>
      <p:sp>
        <p:nvSpPr>
          <p:cNvPr id="8195" name="Rectangle 3"/>
          <p:cNvSpPr>
            <a:spLocks noGrp="1"/>
          </p:cNvSpPr>
          <p:nvPr>
            <p:ph type="body" idx="4294967295"/>
          </p:nvPr>
        </p:nvSpPr>
        <p:spPr>
          <a:xfrm>
            <a:off x="611188" y="1700213"/>
            <a:ext cx="8353425" cy="4772025"/>
          </a:xfrm>
        </p:spPr>
        <p:txBody>
          <a:bodyPr/>
          <a:lstStyle/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r>
              <a:rPr lang="zh-CN" altLang="en-US" sz="2800" b="1" dirty="0" smtClean="0">
                <a:latin typeface="+mn-ea"/>
              </a:rPr>
              <a:t>习题</a:t>
            </a:r>
            <a:r>
              <a:rPr lang="en-US" altLang="zh-CN" sz="2800" b="1" dirty="0" smtClean="0">
                <a:latin typeface="+mn-ea"/>
              </a:rPr>
              <a:t>4.2  </a:t>
            </a:r>
            <a:r>
              <a:rPr lang="zh-CN" altLang="en-US" sz="2800" b="1" dirty="0" smtClean="0">
                <a:latin typeface="+mn-ea"/>
              </a:rPr>
              <a:t>解：</a:t>
            </a:r>
            <a:r>
              <a:rPr lang="zh-CN" altLang="zh-CN" sz="2800" b="1" dirty="0" smtClean="0"/>
              <a:t>在图中标出各级输出变量，有</a:t>
            </a:r>
            <a:endParaRPr lang="en-US" altLang="zh-CN" sz="2800" b="1" dirty="0" smtClean="0">
              <a:latin typeface="+mn-ea"/>
            </a:endParaRPr>
          </a:p>
        </p:txBody>
      </p:sp>
      <p:pic>
        <p:nvPicPr>
          <p:cNvPr id="102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96136" y="2276872"/>
            <a:ext cx="3096344" cy="17906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" name="Object 3"/>
          <p:cNvGraphicFramePr>
            <a:graphicFrameLocks noChangeAspect="1"/>
          </p:cNvGraphicFramePr>
          <p:nvPr/>
        </p:nvGraphicFramePr>
        <p:xfrm>
          <a:off x="971600" y="4437112"/>
          <a:ext cx="7452828" cy="1080120"/>
        </p:xfrm>
        <a:graphic>
          <a:graphicData uri="http://schemas.openxmlformats.org/presentationml/2006/ole">
            <p:oleObj spid="_x0000_s1027" r:id="rId4" imgW="3504960" imgH="507960" progId="">
              <p:embed/>
            </p:oleObj>
          </a:graphicData>
        </a:graphic>
      </p:graphicFrame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043608" y="2276872"/>
            <a:ext cx="4276725" cy="173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/>
          </p:cNvSpPr>
          <p:nvPr>
            <p:ph type="title" idx="4294967295"/>
          </p:nvPr>
        </p:nvSpPr>
        <p:spPr/>
        <p:txBody>
          <a:bodyPr anchor="ctr"/>
          <a:lstStyle/>
          <a:p>
            <a:pPr algn="just" eaLnBrk="1" hangingPunct="1"/>
            <a:r>
              <a:rPr lang="zh-CN" altLang="en-US" sz="3500" b="1" smtClean="0">
                <a:solidFill>
                  <a:schemeClr val="tx1"/>
                </a:solidFill>
                <a:ea typeface="幼圆" pitchFamily="49" charset="-122"/>
              </a:rPr>
              <a:t>第</a:t>
            </a:r>
            <a:r>
              <a:rPr lang="en-US" altLang="zh-CN" sz="3500" b="1" smtClean="0">
                <a:solidFill>
                  <a:schemeClr val="tx1"/>
                </a:solidFill>
                <a:ea typeface="幼圆" pitchFamily="49" charset="-122"/>
              </a:rPr>
              <a:t>4</a:t>
            </a:r>
            <a:r>
              <a:rPr lang="zh-CN" altLang="en-US" sz="3500" b="1" smtClean="0">
                <a:solidFill>
                  <a:schemeClr val="tx1"/>
                </a:solidFill>
                <a:ea typeface="幼圆" pitchFamily="49" charset="-122"/>
              </a:rPr>
              <a:t>章  组合逻辑电路</a:t>
            </a:r>
          </a:p>
        </p:txBody>
      </p:sp>
      <p:sp>
        <p:nvSpPr>
          <p:cNvPr id="8195" name="Rectangle 3"/>
          <p:cNvSpPr>
            <a:spLocks noGrp="1"/>
          </p:cNvSpPr>
          <p:nvPr>
            <p:ph type="body" idx="4294967295"/>
          </p:nvPr>
        </p:nvSpPr>
        <p:spPr>
          <a:xfrm>
            <a:off x="611188" y="1700213"/>
            <a:ext cx="8353425" cy="4772025"/>
          </a:xfrm>
        </p:spPr>
        <p:txBody>
          <a:bodyPr/>
          <a:lstStyle/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r>
              <a:rPr lang="zh-CN" altLang="en-US" sz="2800" b="1" dirty="0" smtClean="0">
                <a:latin typeface="+mn-ea"/>
              </a:rPr>
              <a:t>习题</a:t>
            </a:r>
            <a:r>
              <a:rPr lang="en-US" altLang="zh-CN" sz="2800" b="1" dirty="0" smtClean="0">
                <a:latin typeface="+mn-ea"/>
              </a:rPr>
              <a:t>4.2 </a:t>
            </a:r>
            <a:r>
              <a:rPr lang="zh-CN" altLang="en-US" sz="2800" b="1" dirty="0" smtClean="0">
                <a:latin typeface="+mn-ea"/>
              </a:rPr>
              <a:t>解：</a:t>
            </a:r>
            <a:r>
              <a:rPr lang="zh-CN" altLang="zh-CN" sz="2800" b="1" dirty="0" smtClean="0"/>
              <a:t>真值表如</a:t>
            </a:r>
            <a:r>
              <a:rPr lang="zh-CN" altLang="en-US" sz="2800" b="1" dirty="0" smtClean="0"/>
              <a:t>图所示</a:t>
            </a:r>
            <a:r>
              <a:rPr lang="zh-CN" altLang="zh-CN" sz="2800" b="1" dirty="0" smtClean="0"/>
              <a:t>：</a:t>
            </a:r>
            <a:endParaRPr lang="en-US" altLang="zh-CN" sz="2800" b="1" dirty="0" smtClean="0"/>
          </a:p>
          <a:p>
            <a:pPr>
              <a:buFont typeface="Wingdings" pitchFamily="2" charset="2"/>
              <a:buNone/>
              <a:defRPr/>
            </a:pPr>
            <a:r>
              <a:rPr lang="en-US" altLang="zh-CN" sz="2800" b="1" dirty="0" smtClean="0"/>
              <a:t>   </a:t>
            </a:r>
            <a:r>
              <a:rPr lang="zh-CN" altLang="zh-CN" sz="2800" b="1" dirty="0" smtClean="0"/>
              <a:t>显然，此电路可实现三人一致功能。</a:t>
            </a:r>
          </a:p>
          <a:p>
            <a:pPr>
              <a:buFont typeface="Wingdings" pitchFamily="2" charset="2"/>
              <a:buNone/>
              <a:defRPr/>
            </a:pPr>
            <a:endParaRPr lang="en-US" altLang="zh-CN" sz="2800" b="1" dirty="0" smtClean="0"/>
          </a:p>
          <a:p>
            <a:pPr>
              <a:buFont typeface="Wingdings" pitchFamily="2" charset="2"/>
              <a:buNone/>
              <a:defRPr/>
            </a:pPr>
            <a:r>
              <a:rPr lang="en-US" altLang="zh-CN" sz="2800" b="1" dirty="0" smtClean="0"/>
              <a:t>   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sz="2800" b="1" dirty="0" smtClean="0"/>
              <a:t>   </a:t>
            </a:r>
            <a:r>
              <a:rPr lang="zh-CN" altLang="en-US" sz="2800" b="1" dirty="0" smtClean="0"/>
              <a:t>全部用</a:t>
            </a:r>
            <a:r>
              <a:rPr lang="zh-CN" altLang="zh-CN" sz="2800" b="1" dirty="0" smtClean="0"/>
              <a:t>与非门</a:t>
            </a:r>
            <a:r>
              <a:rPr lang="zh-CN" altLang="en-US" sz="2800" b="1" dirty="0" smtClean="0"/>
              <a:t>实现的</a:t>
            </a:r>
            <a:r>
              <a:rPr lang="zh-CN" altLang="zh-CN" sz="2800" b="1" dirty="0" smtClean="0"/>
              <a:t>逻辑电路</a:t>
            </a:r>
            <a:r>
              <a:rPr lang="zh-CN" altLang="en-US" sz="2800" b="1" dirty="0" smtClean="0"/>
              <a:t>：</a:t>
            </a:r>
            <a:endParaRPr lang="zh-CN" altLang="zh-CN" sz="2800" b="1" dirty="0" smtClean="0"/>
          </a:p>
          <a:p>
            <a:pPr>
              <a:buFont typeface="Wingdings" pitchFamily="2" charset="2"/>
              <a:buNone/>
              <a:defRPr/>
            </a:pPr>
            <a:r>
              <a:rPr lang="en-US" altLang="zh-CN" sz="2800" dirty="0" smtClean="0"/>
              <a:t> </a:t>
            </a:r>
            <a:endParaRPr lang="zh-CN" altLang="zh-CN" sz="2800" dirty="0" smtClean="0"/>
          </a:p>
          <a:p>
            <a:pPr marL="432000" indent="-432000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endParaRPr lang="en-US" altLang="zh-CN" sz="2800" b="1" dirty="0" smtClean="0">
              <a:latin typeface="+mn-ea"/>
            </a:endParaRPr>
          </a:p>
        </p:txBody>
      </p:sp>
      <p:pic>
        <p:nvPicPr>
          <p:cNvPr id="205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55110" y="0"/>
            <a:ext cx="3188890" cy="1844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6732240" y="3717032"/>
          <a:ext cx="1873250" cy="2198370"/>
        </p:xfrm>
        <a:graphic>
          <a:graphicData uri="http://schemas.openxmlformats.org/drawingml/2006/table">
            <a:tbl>
              <a:tblPr/>
              <a:tblGrid>
                <a:gridCol w="1203325"/>
                <a:gridCol w="669925"/>
              </a:tblGrid>
              <a:tr h="247650">
                <a:tc>
                  <a:txBody>
                    <a:bodyPr/>
                    <a:lstStyle/>
                    <a:p>
                      <a:pPr marL="0" marR="0" lvl="0" indent="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    B   C</a:t>
                      </a: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F</a:t>
                      </a: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39913">
                <a:tc>
                  <a:txBody>
                    <a:bodyPr/>
                    <a:lstStyle/>
                    <a:p>
                      <a:pPr marL="0" marR="0" lvl="0" indent="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0    0    0</a:t>
                      </a:r>
                      <a:endParaRPr kumimoji="0" lang="zh-CN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0    0    1</a:t>
                      </a:r>
                      <a:endParaRPr kumimoji="0" lang="zh-CN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0    1    0</a:t>
                      </a:r>
                      <a:endParaRPr kumimoji="0" lang="zh-CN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0    1    1</a:t>
                      </a:r>
                      <a:endParaRPr kumimoji="0" lang="zh-CN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1    0    0</a:t>
                      </a:r>
                      <a:endParaRPr kumimoji="0" lang="zh-CN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1    0    1</a:t>
                      </a:r>
                      <a:endParaRPr kumimoji="0" lang="zh-CN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1    1    0</a:t>
                      </a:r>
                      <a:endParaRPr kumimoji="0" lang="zh-CN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1    1    1</a:t>
                      </a:r>
                      <a:endParaRPr kumimoji="0" lang="zh-CN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</a:p>
                    <a:p>
                      <a:pPr marL="0" marR="0" lvl="0" indent="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zh-CN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</a:p>
                    <a:p>
                      <a:pPr marL="0" marR="0" lvl="0" indent="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zh-CN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zh-CN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zh-CN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zh-CN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zh-CN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06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052" name="Object 4"/>
          <p:cNvGraphicFramePr>
            <a:graphicFrameLocks noChangeAspect="1"/>
          </p:cNvGraphicFramePr>
          <p:nvPr/>
        </p:nvGraphicFramePr>
        <p:xfrm>
          <a:off x="1043608" y="2924944"/>
          <a:ext cx="5706422" cy="576064"/>
        </p:xfrm>
        <a:graphic>
          <a:graphicData uri="http://schemas.openxmlformats.org/presentationml/2006/ole">
            <p:oleObj spid="_x0000_s2052" r:id="rId4" imgW="2514600" imgH="253800" progId="">
              <p:embed/>
            </p:oleObj>
          </a:graphicData>
        </a:graphic>
      </p:graphicFrame>
      <p:pic>
        <p:nvPicPr>
          <p:cNvPr id="3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403648" y="4437112"/>
            <a:ext cx="4392488" cy="2097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/>
          </p:cNvSpPr>
          <p:nvPr>
            <p:ph type="title" idx="4294967295"/>
          </p:nvPr>
        </p:nvSpPr>
        <p:spPr/>
        <p:txBody>
          <a:bodyPr anchor="ctr"/>
          <a:lstStyle/>
          <a:p>
            <a:pPr algn="just" eaLnBrk="1" hangingPunct="1"/>
            <a:r>
              <a:rPr lang="zh-CN" altLang="en-US" sz="3500" b="1" smtClean="0">
                <a:solidFill>
                  <a:schemeClr val="tx1"/>
                </a:solidFill>
                <a:ea typeface="幼圆" pitchFamily="49" charset="-122"/>
              </a:rPr>
              <a:t>第</a:t>
            </a:r>
            <a:r>
              <a:rPr lang="en-US" altLang="zh-CN" sz="3500" b="1" smtClean="0">
                <a:solidFill>
                  <a:schemeClr val="tx1"/>
                </a:solidFill>
                <a:ea typeface="幼圆" pitchFamily="49" charset="-122"/>
              </a:rPr>
              <a:t>4</a:t>
            </a:r>
            <a:r>
              <a:rPr lang="zh-CN" altLang="en-US" sz="3500" b="1" smtClean="0">
                <a:solidFill>
                  <a:schemeClr val="tx1"/>
                </a:solidFill>
                <a:ea typeface="幼圆" pitchFamily="49" charset="-122"/>
              </a:rPr>
              <a:t>章  组合逻辑电路</a:t>
            </a:r>
          </a:p>
        </p:txBody>
      </p:sp>
      <p:sp>
        <p:nvSpPr>
          <p:cNvPr id="8195" name="Rectangle 3"/>
          <p:cNvSpPr>
            <a:spLocks noGrp="1"/>
          </p:cNvSpPr>
          <p:nvPr>
            <p:ph type="body" idx="4294967295"/>
          </p:nvPr>
        </p:nvSpPr>
        <p:spPr>
          <a:xfrm>
            <a:off x="611188" y="1700213"/>
            <a:ext cx="8353425" cy="4772025"/>
          </a:xfrm>
        </p:spPr>
        <p:txBody>
          <a:bodyPr/>
          <a:lstStyle/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r>
              <a:rPr lang="zh-CN" altLang="en-US" sz="2800" b="1" dirty="0" smtClean="0">
                <a:latin typeface="+mn-ea"/>
              </a:rPr>
              <a:t>习题</a:t>
            </a:r>
            <a:r>
              <a:rPr lang="en-US" altLang="zh-CN" sz="2800" b="1" dirty="0" smtClean="0">
                <a:latin typeface="+mn-ea"/>
              </a:rPr>
              <a:t>4.4 </a:t>
            </a:r>
            <a:r>
              <a:rPr lang="zh-CN" altLang="zh-CN" sz="2800" b="1" dirty="0" smtClean="0"/>
              <a:t>分析题图</a:t>
            </a:r>
            <a:r>
              <a:rPr lang="en-US" altLang="zh-CN" sz="2800" b="1" dirty="0" smtClean="0"/>
              <a:t>4.4</a:t>
            </a:r>
            <a:r>
              <a:rPr lang="zh-CN" altLang="zh-CN" sz="2800" b="1" dirty="0" smtClean="0"/>
              <a:t>所示电路，求输出</a:t>
            </a:r>
            <a:r>
              <a:rPr lang="en-US" altLang="zh-CN" sz="2800" b="1" dirty="0" smtClean="0"/>
              <a:t>F</a:t>
            </a:r>
            <a:r>
              <a:rPr lang="zh-CN" altLang="zh-CN" sz="2800" b="1" dirty="0" smtClean="0"/>
              <a:t>的逻辑函数表达式并化简，用最少的或非门实现。</a:t>
            </a:r>
            <a:endParaRPr lang="en-US" altLang="zh-CN" sz="2800" b="1" dirty="0" smtClean="0">
              <a:latin typeface="+mn-ea"/>
            </a:endParaRPr>
          </a:p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r>
              <a:rPr lang="zh-CN" altLang="en-US" sz="2800" b="1" dirty="0" smtClean="0">
                <a:latin typeface="+mn-ea"/>
              </a:rPr>
              <a:t>解：</a:t>
            </a:r>
            <a:r>
              <a:rPr lang="zh-CN" altLang="zh-CN" sz="2800" b="1" dirty="0" smtClean="0"/>
              <a:t>在图中标出各级输出变量</a:t>
            </a:r>
            <a:endParaRPr lang="en-US" altLang="zh-CN" sz="2800" b="1" dirty="0" smtClean="0">
              <a:latin typeface="+mn-ea"/>
            </a:endParaRPr>
          </a:p>
        </p:txBody>
      </p:sp>
      <p:pic>
        <p:nvPicPr>
          <p:cNvPr id="30724" name="Picture 1" descr="tc0402"/>
          <p:cNvPicPr>
            <a:picLocks noChangeAspect="1" noChangeArrowheads="1"/>
          </p:cNvPicPr>
          <p:nvPr/>
        </p:nvPicPr>
        <p:blipFill>
          <a:blip r:embed="rId2" cstate="print"/>
          <a:srcRect l="6265" r="3915" b="3525"/>
          <a:stretch>
            <a:fillRect/>
          </a:stretch>
        </p:blipFill>
        <p:spPr bwMode="auto">
          <a:xfrm>
            <a:off x="5508625" y="0"/>
            <a:ext cx="3503613" cy="172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2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35150" y="3357563"/>
            <a:ext cx="4670425" cy="2303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/>
          </p:cNvSpPr>
          <p:nvPr>
            <p:ph type="title" idx="4294967295"/>
          </p:nvPr>
        </p:nvSpPr>
        <p:spPr/>
        <p:txBody>
          <a:bodyPr anchor="ctr"/>
          <a:lstStyle/>
          <a:p>
            <a:pPr algn="just" eaLnBrk="1" hangingPunct="1"/>
            <a:r>
              <a:rPr lang="zh-CN" altLang="en-US" sz="3500" b="1" smtClean="0">
                <a:solidFill>
                  <a:schemeClr val="tx1"/>
                </a:solidFill>
                <a:ea typeface="幼圆" pitchFamily="49" charset="-122"/>
              </a:rPr>
              <a:t>第</a:t>
            </a:r>
            <a:r>
              <a:rPr lang="en-US" altLang="zh-CN" sz="3500" b="1" smtClean="0">
                <a:solidFill>
                  <a:schemeClr val="tx1"/>
                </a:solidFill>
                <a:ea typeface="幼圆" pitchFamily="49" charset="-122"/>
              </a:rPr>
              <a:t>4</a:t>
            </a:r>
            <a:r>
              <a:rPr lang="zh-CN" altLang="en-US" sz="3500" b="1" smtClean="0">
                <a:solidFill>
                  <a:schemeClr val="tx1"/>
                </a:solidFill>
                <a:ea typeface="幼圆" pitchFamily="49" charset="-122"/>
              </a:rPr>
              <a:t>章  组合逻辑电路</a:t>
            </a:r>
          </a:p>
        </p:txBody>
      </p:sp>
      <p:sp>
        <p:nvSpPr>
          <p:cNvPr id="8195" name="Rectangle 3"/>
          <p:cNvSpPr>
            <a:spLocks noGrp="1"/>
          </p:cNvSpPr>
          <p:nvPr>
            <p:ph type="body" idx="4294967295"/>
          </p:nvPr>
        </p:nvSpPr>
        <p:spPr>
          <a:xfrm>
            <a:off x="611188" y="1700213"/>
            <a:ext cx="8353425" cy="4772025"/>
          </a:xfrm>
        </p:spPr>
        <p:txBody>
          <a:bodyPr/>
          <a:lstStyle/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r>
              <a:rPr lang="zh-CN" altLang="en-US" sz="2800" b="1" dirty="0" smtClean="0">
                <a:latin typeface="+mn-ea"/>
              </a:rPr>
              <a:t>习题</a:t>
            </a:r>
            <a:r>
              <a:rPr lang="en-US" altLang="zh-CN" sz="2800" b="1" dirty="0" smtClean="0">
                <a:latin typeface="+mn-ea"/>
              </a:rPr>
              <a:t>4.4 </a:t>
            </a:r>
            <a:r>
              <a:rPr lang="zh-CN" altLang="en-US" sz="2800" b="1" dirty="0" smtClean="0">
                <a:latin typeface="+mn-ea"/>
              </a:rPr>
              <a:t>解：则有</a:t>
            </a:r>
            <a:endParaRPr lang="en-US" altLang="zh-CN" sz="2800" b="1" dirty="0" smtClean="0">
              <a:latin typeface="+mn-ea"/>
            </a:endParaRPr>
          </a:p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endParaRPr lang="en-US" altLang="zh-CN" sz="2800" b="1" dirty="0" smtClean="0">
              <a:latin typeface="+mn-ea"/>
            </a:endParaRPr>
          </a:p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endParaRPr lang="en-US" altLang="zh-CN" sz="2800" b="1" dirty="0" smtClean="0">
              <a:latin typeface="+mn-ea"/>
            </a:endParaRPr>
          </a:p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endParaRPr lang="en-US" altLang="zh-CN" sz="2800" b="1" dirty="0" smtClean="0">
              <a:latin typeface="+mn-ea"/>
            </a:endParaRPr>
          </a:p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endParaRPr lang="en-US" altLang="zh-CN" sz="2800" b="1" dirty="0" smtClean="0">
              <a:latin typeface="+mn-ea"/>
            </a:endParaRPr>
          </a:p>
          <a:p>
            <a:pPr marL="432000" indent="-432000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800" b="1" dirty="0" smtClean="0">
                <a:latin typeface="+mn-ea"/>
              </a:rPr>
              <a:t>    </a:t>
            </a:r>
            <a:r>
              <a:rPr lang="zh-CN" altLang="en-US" sz="2800" b="1" dirty="0" smtClean="0">
                <a:latin typeface="+mn-ea"/>
              </a:rPr>
              <a:t>用最少的或非门实现：</a:t>
            </a:r>
            <a:endParaRPr lang="en-US" altLang="zh-CN" sz="2800" b="1" dirty="0" smtClean="0">
              <a:latin typeface="+mn-ea"/>
            </a:endParaRPr>
          </a:p>
        </p:txBody>
      </p:sp>
      <p:pic>
        <p:nvPicPr>
          <p:cNvPr id="307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04048" y="1772816"/>
            <a:ext cx="3884613" cy="191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074" name="Object 1"/>
          <p:cNvGraphicFramePr>
            <a:graphicFrameLocks noChangeAspect="1"/>
          </p:cNvGraphicFramePr>
          <p:nvPr/>
        </p:nvGraphicFramePr>
        <p:xfrm>
          <a:off x="1476375" y="2349500"/>
          <a:ext cx="2962275" cy="1439863"/>
        </p:xfrm>
        <a:graphic>
          <a:graphicData uri="http://schemas.openxmlformats.org/presentationml/2006/ole">
            <p:oleObj spid="_x0000_s3074" r:id="rId4" imgW="1689100" imgH="825500" progId="">
              <p:embed/>
            </p:oleObj>
          </a:graphicData>
        </a:graphic>
      </p:graphicFrame>
      <p:pic>
        <p:nvPicPr>
          <p:cNvPr id="3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331640" y="4581128"/>
            <a:ext cx="3705225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508104" y="4725144"/>
            <a:ext cx="27622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/>
          </p:cNvSpPr>
          <p:nvPr>
            <p:ph type="title" idx="4294967295"/>
          </p:nvPr>
        </p:nvSpPr>
        <p:spPr/>
        <p:txBody>
          <a:bodyPr anchor="ctr"/>
          <a:lstStyle/>
          <a:p>
            <a:pPr algn="just" eaLnBrk="1" hangingPunct="1"/>
            <a:r>
              <a:rPr lang="zh-CN" altLang="en-US" sz="3500" b="1" smtClean="0">
                <a:solidFill>
                  <a:schemeClr val="tx1"/>
                </a:solidFill>
                <a:ea typeface="幼圆" pitchFamily="49" charset="-122"/>
              </a:rPr>
              <a:t>第</a:t>
            </a:r>
            <a:r>
              <a:rPr lang="en-US" altLang="zh-CN" sz="3500" b="1" smtClean="0">
                <a:solidFill>
                  <a:schemeClr val="tx1"/>
                </a:solidFill>
                <a:ea typeface="幼圆" pitchFamily="49" charset="-122"/>
              </a:rPr>
              <a:t>4</a:t>
            </a:r>
            <a:r>
              <a:rPr lang="zh-CN" altLang="en-US" sz="3500" b="1" smtClean="0">
                <a:solidFill>
                  <a:schemeClr val="tx1"/>
                </a:solidFill>
                <a:ea typeface="幼圆" pitchFamily="49" charset="-122"/>
              </a:rPr>
              <a:t>章  组合逻辑电路</a:t>
            </a:r>
          </a:p>
        </p:txBody>
      </p:sp>
      <p:sp>
        <p:nvSpPr>
          <p:cNvPr id="8195" name="Rectangle 3"/>
          <p:cNvSpPr>
            <a:spLocks noGrp="1"/>
          </p:cNvSpPr>
          <p:nvPr>
            <p:ph type="body" idx="4294967295"/>
          </p:nvPr>
        </p:nvSpPr>
        <p:spPr>
          <a:xfrm>
            <a:off x="611188" y="1700213"/>
            <a:ext cx="8353425" cy="4772025"/>
          </a:xfrm>
        </p:spPr>
        <p:txBody>
          <a:bodyPr/>
          <a:lstStyle/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r>
              <a:rPr lang="zh-CN" altLang="en-US" sz="2800" b="1" dirty="0" smtClean="0">
                <a:latin typeface="+mn-ea"/>
              </a:rPr>
              <a:t>习题</a:t>
            </a:r>
            <a:r>
              <a:rPr lang="en-US" altLang="zh-CN" sz="2800" b="1" dirty="0" smtClean="0">
                <a:latin typeface="+mn-ea"/>
              </a:rPr>
              <a:t>4.6 </a:t>
            </a:r>
            <a:r>
              <a:rPr lang="zh-CN" altLang="zh-CN" sz="2800" b="1" dirty="0" smtClean="0"/>
              <a:t>分析题图</a:t>
            </a:r>
            <a:r>
              <a:rPr lang="en-US" altLang="zh-CN" sz="2800" b="1" dirty="0" smtClean="0"/>
              <a:t>4.6</a:t>
            </a:r>
            <a:r>
              <a:rPr lang="zh-CN" altLang="zh-CN" sz="2800" b="1" dirty="0" smtClean="0"/>
              <a:t>所示电路，说明其逻辑功能。</a:t>
            </a:r>
            <a:endParaRPr lang="en-US" altLang="zh-CN" sz="2800" b="1" dirty="0" smtClean="0">
              <a:latin typeface="+mn-ea"/>
            </a:endParaRPr>
          </a:p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endParaRPr lang="en-US" altLang="zh-CN" sz="2800" b="1" dirty="0" smtClean="0">
              <a:latin typeface="+mn-ea"/>
            </a:endParaRPr>
          </a:p>
        </p:txBody>
      </p:sp>
      <p:pic>
        <p:nvPicPr>
          <p:cNvPr id="31748" name="Picture 1" descr="T4t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24075" y="2420938"/>
            <a:ext cx="5397500" cy="4103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/>
          </p:cNvSpPr>
          <p:nvPr>
            <p:ph type="title" idx="4294967295"/>
          </p:nvPr>
        </p:nvSpPr>
        <p:spPr/>
        <p:txBody>
          <a:bodyPr anchor="ctr"/>
          <a:lstStyle/>
          <a:p>
            <a:pPr algn="just" eaLnBrk="1" hangingPunct="1"/>
            <a:r>
              <a:rPr lang="zh-CN" altLang="en-US" sz="3500" b="1" smtClean="0">
                <a:solidFill>
                  <a:schemeClr val="tx1"/>
                </a:solidFill>
                <a:ea typeface="幼圆" pitchFamily="49" charset="-122"/>
              </a:rPr>
              <a:t>第</a:t>
            </a:r>
            <a:r>
              <a:rPr lang="en-US" altLang="zh-CN" sz="3500" b="1" smtClean="0">
                <a:solidFill>
                  <a:schemeClr val="tx1"/>
                </a:solidFill>
                <a:ea typeface="幼圆" pitchFamily="49" charset="-122"/>
              </a:rPr>
              <a:t>4</a:t>
            </a:r>
            <a:r>
              <a:rPr lang="zh-CN" altLang="en-US" sz="3500" b="1" smtClean="0">
                <a:solidFill>
                  <a:schemeClr val="tx1"/>
                </a:solidFill>
                <a:ea typeface="幼圆" pitchFamily="49" charset="-122"/>
              </a:rPr>
              <a:t>章  组合逻辑电路</a:t>
            </a:r>
          </a:p>
        </p:txBody>
      </p:sp>
      <p:sp>
        <p:nvSpPr>
          <p:cNvPr id="8195" name="Rectangle 3"/>
          <p:cNvSpPr>
            <a:spLocks noGrp="1"/>
          </p:cNvSpPr>
          <p:nvPr>
            <p:ph type="body" idx="4294967295"/>
          </p:nvPr>
        </p:nvSpPr>
        <p:spPr>
          <a:xfrm>
            <a:off x="611188" y="1700213"/>
            <a:ext cx="8353425" cy="4772025"/>
          </a:xfrm>
        </p:spPr>
        <p:txBody>
          <a:bodyPr/>
          <a:lstStyle/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r>
              <a:rPr lang="zh-CN" altLang="en-US" sz="2800" b="1" dirty="0" smtClean="0">
                <a:latin typeface="+mn-ea"/>
              </a:rPr>
              <a:t>习题</a:t>
            </a:r>
            <a:r>
              <a:rPr lang="en-US" altLang="zh-CN" sz="2800" b="1" dirty="0" smtClean="0">
                <a:latin typeface="+mn-ea"/>
              </a:rPr>
              <a:t>4.6 </a:t>
            </a:r>
          </a:p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r>
              <a:rPr lang="zh-CN" altLang="en-US" sz="2800" b="1" dirty="0" smtClean="0">
                <a:latin typeface="+mn-ea"/>
              </a:rPr>
              <a:t>解：</a:t>
            </a:r>
            <a:r>
              <a:rPr lang="zh-CN" altLang="zh-CN" sz="2800" b="1" dirty="0" smtClean="0"/>
              <a:t>根据</a:t>
            </a:r>
            <a:r>
              <a:rPr lang="en-US" altLang="zh-CN" sz="2800" b="1" dirty="0" smtClean="0"/>
              <a:t>74138</a:t>
            </a:r>
            <a:r>
              <a:rPr lang="zh-CN" altLang="zh-CN" sz="2800" b="1" dirty="0" smtClean="0"/>
              <a:t>功能表，有</a:t>
            </a:r>
            <a:endParaRPr lang="en-US" altLang="zh-CN" sz="2800" b="1" dirty="0" smtClean="0"/>
          </a:p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endParaRPr lang="en-US" altLang="zh-CN" sz="2800" b="1" dirty="0" smtClean="0"/>
          </a:p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endParaRPr lang="en-US" altLang="zh-CN" sz="2800" b="1" dirty="0" smtClean="0">
              <a:latin typeface="+mn-ea"/>
            </a:endParaRPr>
          </a:p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endParaRPr lang="en-US" altLang="zh-CN" sz="2800" b="1" dirty="0" smtClean="0">
              <a:latin typeface="+mn-ea"/>
            </a:endParaRPr>
          </a:p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endParaRPr lang="en-US" altLang="zh-CN" sz="2800" b="1" dirty="0" smtClean="0">
              <a:latin typeface="+mn-ea"/>
            </a:endParaRPr>
          </a:p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endParaRPr lang="en-US" altLang="zh-CN" sz="2800" b="1" dirty="0" smtClean="0">
              <a:latin typeface="+mn-ea"/>
            </a:endParaRPr>
          </a:p>
          <a:p>
            <a:pPr marL="432000" indent="-432000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800" b="1" dirty="0" smtClean="0"/>
              <a:t>      </a:t>
            </a:r>
            <a:r>
              <a:rPr lang="zh-CN" altLang="zh-CN" sz="2800" b="1" dirty="0" smtClean="0"/>
              <a:t>电路为一位比较器。</a:t>
            </a:r>
            <a:endParaRPr lang="en-US" altLang="zh-CN" sz="2800" b="1" dirty="0" smtClean="0">
              <a:latin typeface="+mn-ea"/>
            </a:endParaRPr>
          </a:p>
        </p:txBody>
      </p:sp>
      <p:pic>
        <p:nvPicPr>
          <p:cNvPr id="4101" name="Picture 1" descr="T4t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00788" y="0"/>
            <a:ext cx="2843212" cy="216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098" name="Object 1"/>
          <p:cNvGraphicFramePr>
            <a:graphicFrameLocks noChangeAspect="1"/>
          </p:cNvGraphicFramePr>
          <p:nvPr/>
        </p:nvGraphicFramePr>
        <p:xfrm>
          <a:off x="971550" y="2852738"/>
          <a:ext cx="7897813" cy="1655762"/>
        </p:xfrm>
        <a:graphic>
          <a:graphicData uri="http://schemas.openxmlformats.org/presentationml/2006/ole">
            <p:oleObj spid="_x0000_s4098" r:id="rId4" imgW="4445000" imgH="927100" progId="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/>
          </p:cNvSpPr>
          <p:nvPr>
            <p:ph type="title" idx="4294967295"/>
          </p:nvPr>
        </p:nvSpPr>
        <p:spPr/>
        <p:txBody>
          <a:bodyPr anchor="ctr"/>
          <a:lstStyle/>
          <a:p>
            <a:pPr algn="just" eaLnBrk="1" hangingPunct="1"/>
            <a:r>
              <a:rPr lang="zh-CN" altLang="en-US" sz="3500" b="1" smtClean="0">
                <a:solidFill>
                  <a:schemeClr val="tx1"/>
                </a:solidFill>
                <a:ea typeface="幼圆" pitchFamily="49" charset="-122"/>
              </a:rPr>
              <a:t>第</a:t>
            </a:r>
            <a:r>
              <a:rPr lang="en-US" altLang="zh-CN" sz="3500" b="1" smtClean="0">
                <a:solidFill>
                  <a:schemeClr val="tx1"/>
                </a:solidFill>
                <a:ea typeface="幼圆" pitchFamily="49" charset="-122"/>
              </a:rPr>
              <a:t>4</a:t>
            </a:r>
            <a:r>
              <a:rPr lang="zh-CN" altLang="en-US" sz="3500" b="1" smtClean="0">
                <a:solidFill>
                  <a:schemeClr val="tx1"/>
                </a:solidFill>
                <a:ea typeface="幼圆" pitchFamily="49" charset="-122"/>
              </a:rPr>
              <a:t>章  组合逻辑电路</a:t>
            </a:r>
          </a:p>
        </p:txBody>
      </p:sp>
      <p:sp>
        <p:nvSpPr>
          <p:cNvPr id="8195" name="Rectangle 3"/>
          <p:cNvSpPr>
            <a:spLocks noGrp="1"/>
          </p:cNvSpPr>
          <p:nvPr>
            <p:ph type="body" idx="4294967295"/>
          </p:nvPr>
        </p:nvSpPr>
        <p:spPr>
          <a:xfrm>
            <a:off x="611188" y="1700213"/>
            <a:ext cx="8353425" cy="4772025"/>
          </a:xfrm>
        </p:spPr>
        <p:txBody>
          <a:bodyPr/>
          <a:lstStyle/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r>
              <a:rPr lang="zh-CN" altLang="en-US" sz="2800" b="1" dirty="0" smtClean="0">
                <a:latin typeface="+mn-ea"/>
              </a:rPr>
              <a:t>习题</a:t>
            </a:r>
            <a:r>
              <a:rPr lang="en-US" altLang="zh-CN" sz="2800" b="1" dirty="0" smtClean="0">
                <a:latin typeface="+mn-ea"/>
              </a:rPr>
              <a:t>4.7 </a:t>
            </a:r>
            <a:r>
              <a:rPr lang="zh-CN" altLang="zh-CN" sz="2800" b="1" dirty="0" smtClean="0"/>
              <a:t>一个由</a:t>
            </a:r>
            <a:r>
              <a:rPr lang="en-US" altLang="zh-CN" sz="2800" b="1" dirty="0" smtClean="0"/>
              <a:t>3</a:t>
            </a:r>
            <a:r>
              <a:rPr lang="zh-CN" altLang="zh-CN" sz="2800" b="1" dirty="0" smtClean="0"/>
              <a:t>线</a:t>
            </a:r>
            <a:r>
              <a:rPr lang="en-US" altLang="zh-CN" sz="2800" b="1" dirty="0" smtClean="0"/>
              <a:t>-8</a:t>
            </a:r>
            <a:r>
              <a:rPr lang="zh-CN" altLang="zh-CN" sz="2800" b="1" dirty="0" smtClean="0"/>
              <a:t>线译码器和与非门组成的电路如题图</a:t>
            </a:r>
            <a:r>
              <a:rPr lang="en-US" altLang="zh-CN" sz="2800" b="1" dirty="0" smtClean="0"/>
              <a:t>4.7</a:t>
            </a:r>
            <a:r>
              <a:rPr lang="zh-CN" altLang="zh-CN" sz="2800" b="1" dirty="0" smtClean="0"/>
              <a:t>所示，试写出</a:t>
            </a:r>
            <a:r>
              <a:rPr lang="en-US" altLang="zh-CN" sz="2800" b="1" i="1" dirty="0" smtClean="0"/>
              <a:t>Y</a:t>
            </a:r>
            <a:r>
              <a:rPr lang="en-US" altLang="zh-CN" sz="2800" b="1" baseline="-25000" dirty="0" smtClean="0"/>
              <a:t>1</a:t>
            </a:r>
            <a:r>
              <a:rPr lang="zh-CN" altLang="zh-CN" sz="2800" b="1" dirty="0" smtClean="0"/>
              <a:t>和</a:t>
            </a:r>
            <a:r>
              <a:rPr lang="en-US" altLang="zh-CN" sz="2800" b="1" i="1" dirty="0" smtClean="0"/>
              <a:t>Y</a:t>
            </a:r>
            <a:r>
              <a:rPr lang="en-US" altLang="zh-CN" sz="2800" b="1" baseline="-25000" dirty="0" smtClean="0"/>
              <a:t>2</a:t>
            </a:r>
            <a:r>
              <a:rPr lang="zh-CN" altLang="zh-CN" sz="2800" b="1" dirty="0" smtClean="0"/>
              <a:t>的逻辑表达式。</a:t>
            </a:r>
            <a:endParaRPr lang="en-US" altLang="zh-CN" sz="2800" b="1" dirty="0" smtClean="0">
              <a:latin typeface="+mn-ea"/>
            </a:endParaRPr>
          </a:p>
          <a:p>
            <a:pPr marL="432000" indent="-432000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endParaRPr lang="en-US" altLang="zh-CN" sz="2800" b="1" dirty="0" smtClean="0">
              <a:latin typeface="+mn-ea"/>
            </a:endParaRPr>
          </a:p>
        </p:txBody>
      </p:sp>
      <p:pic>
        <p:nvPicPr>
          <p:cNvPr id="32772" name="Picture 1" descr="T4t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5513" y="2852738"/>
            <a:ext cx="5580062" cy="3240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/>
          </p:cNvSpPr>
          <p:nvPr>
            <p:ph type="title" idx="4294967295"/>
          </p:nvPr>
        </p:nvSpPr>
        <p:spPr/>
        <p:txBody>
          <a:bodyPr anchor="ctr"/>
          <a:lstStyle/>
          <a:p>
            <a:pPr algn="just" eaLnBrk="1" hangingPunct="1"/>
            <a:r>
              <a:rPr lang="zh-CN" altLang="en-US" sz="3500" b="1" smtClean="0">
                <a:solidFill>
                  <a:schemeClr val="tx1"/>
                </a:solidFill>
                <a:ea typeface="幼圆" pitchFamily="49" charset="-122"/>
              </a:rPr>
              <a:t>第</a:t>
            </a:r>
            <a:r>
              <a:rPr lang="en-US" altLang="zh-CN" sz="3500" b="1" smtClean="0">
                <a:solidFill>
                  <a:schemeClr val="tx1"/>
                </a:solidFill>
                <a:ea typeface="幼圆" pitchFamily="49" charset="-122"/>
              </a:rPr>
              <a:t>4</a:t>
            </a:r>
            <a:r>
              <a:rPr lang="zh-CN" altLang="en-US" sz="3500" b="1" smtClean="0">
                <a:solidFill>
                  <a:schemeClr val="tx1"/>
                </a:solidFill>
                <a:ea typeface="幼圆" pitchFamily="49" charset="-122"/>
              </a:rPr>
              <a:t>章  组合逻辑电路</a:t>
            </a:r>
          </a:p>
        </p:txBody>
      </p:sp>
      <p:sp>
        <p:nvSpPr>
          <p:cNvPr id="8195" name="Rectangle 3"/>
          <p:cNvSpPr>
            <a:spLocks noGrp="1"/>
          </p:cNvSpPr>
          <p:nvPr>
            <p:ph type="body" idx="4294967295"/>
          </p:nvPr>
        </p:nvSpPr>
        <p:spPr>
          <a:xfrm>
            <a:off x="611188" y="1700213"/>
            <a:ext cx="8353425" cy="4772025"/>
          </a:xfrm>
        </p:spPr>
        <p:txBody>
          <a:bodyPr/>
          <a:lstStyle/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r>
              <a:rPr lang="zh-CN" altLang="en-US" sz="2800" b="1" dirty="0" smtClean="0">
                <a:latin typeface="+mn-ea"/>
              </a:rPr>
              <a:t>习题</a:t>
            </a:r>
            <a:r>
              <a:rPr lang="en-US" altLang="zh-CN" sz="2800" b="1" dirty="0" smtClean="0">
                <a:latin typeface="+mn-ea"/>
              </a:rPr>
              <a:t>4.7 </a:t>
            </a:r>
            <a:r>
              <a:rPr lang="zh-CN" altLang="zh-CN" sz="2800" b="1" dirty="0" smtClean="0"/>
              <a:t>一个由</a:t>
            </a:r>
            <a:r>
              <a:rPr lang="en-US" altLang="zh-CN" sz="2800" b="1" dirty="0" smtClean="0"/>
              <a:t>3</a:t>
            </a:r>
            <a:r>
              <a:rPr lang="zh-CN" altLang="zh-CN" sz="2800" b="1" dirty="0" smtClean="0"/>
              <a:t>线</a:t>
            </a:r>
            <a:r>
              <a:rPr lang="en-US" altLang="zh-CN" sz="2800" b="1" dirty="0" smtClean="0"/>
              <a:t>-8</a:t>
            </a:r>
            <a:r>
              <a:rPr lang="zh-CN" altLang="zh-CN" sz="2800" b="1" dirty="0" smtClean="0"/>
              <a:t>线译码器和与非门组成的电路如题图</a:t>
            </a:r>
            <a:r>
              <a:rPr lang="en-US" altLang="zh-CN" sz="2800" b="1" dirty="0" smtClean="0"/>
              <a:t>4.7</a:t>
            </a:r>
            <a:r>
              <a:rPr lang="zh-CN" altLang="zh-CN" sz="2800" b="1" dirty="0" smtClean="0"/>
              <a:t>所示，试写出</a:t>
            </a:r>
            <a:r>
              <a:rPr lang="en-US" altLang="zh-CN" sz="2800" b="1" i="1" dirty="0" smtClean="0"/>
              <a:t>Y</a:t>
            </a:r>
            <a:r>
              <a:rPr lang="en-US" altLang="zh-CN" sz="2800" b="1" baseline="-25000" dirty="0" smtClean="0"/>
              <a:t>1</a:t>
            </a:r>
            <a:r>
              <a:rPr lang="zh-CN" altLang="zh-CN" sz="2800" b="1" dirty="0" smtClean="0"/>
              <a:t>和</a:t>
            </a:r>
            <a:r>
              <a:rPr lang="en-US" altLang="zh-CN" sz="2800" b="1" i="1" dirty="0" smtClean="0"/>
              <a:t>Y</a:t>
            </a:r>
            <a:r>
              <a:rPr lang="en-US" altLang="zh-CN" sz="2800" b="1" baseline="-25000" dirty="0" smtClean="0"/>
              <a:t>2</a:t>
            </a:r>
            <a:r>
              <a:rPr lang="zh-CN" altLang="zh-CN" sz="2800" b="1" dirty="0" smtClean="0"/>
              <a:t>的逻辑表达式。</a:t>
            </a:r>
            <a:endParaRPr lang="en-US" altLang="zh-CN" sz="2800" b="1" dirty="0" smtClean="0">
              <a:latin typeface="+mn-ea"/>
            </a:endParaRPr>
          </a:p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r>
              <a:rPr lang="zh-CN" altLang="en-US" sz="2800" b="1" dirty="0" smtClean="0">
                <a:latin typeface="+mn-ea"/>
              </a:rPr>
              <a:t>解：</a:t>
            </a:r>
            <a:r>
              <a:rPr lang="zh-CN" altLang="zh-CN" sz="2800" b="1" dirty="0" smtClean="0"/>
              <a:t>根据</a:t>
            </a:r>
            <a:r>
              <a:rPr lang="en-US" altLang="zh-CN" sz="2800" b="1" dirty="0" smtClean="0"/>
              <a:t>74138</a:t>
            </a:r>
            <a:r>
              <a:rPr lang="zh-CN" altLang="zh-CN" sz="2800" b="1" dirty="0" smtClean="0"/>
              <a:t>功能表，有</a:t>
            </a:r>
            <a:endParaRPr lang="en-US" altLang="zh-CN" sz="2800" b="1" dirty="0" smtClean="0">
              <a:latin typeface="+mn-ea"/>
            </a:endParaRPr>
          </a:p>
        </p:txBody>
      </p:sp>
      <p:pic>
        <p:nvPicPr>
          <p:cNvPr id="5125" name="Picture 1" descr="T4t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56325" y="0"/>
            <a:ext cx="2987675" cy="173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5122" name="Object 1"/>
          <p:cNvGraphicFramePr>
            <a:graphicFrameLocks noChangeAspect="1"/>
          </p:cNvGraphicFramePr>
          <p:nvPr/>
        </p:nvGraphicFramePr>
        <p:xfrm>
          <a:off x="1042988" y="3573463"/>
          <a:ext cx="6464300" cy="1223962"/>
        </p:xfrm>
        <a:graphic>
          <a:graphicData uri="http://schemas.openxmlformats.org/presentationml/2006/ole">
            <p:oleObj spid="_x0000_s5122" r:id="rId4" imgW="2933700" imgH="558800" progId="">
              <p:embed/>
            </p:oleObj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1476375" y="4797425"/>
          <a:ext cx="3096342" cy="1512171"/>
        </p:xfrm>
        <a:graphic>
          <a:graphicData uri="http://schemas.openxmlformats.org/drawingml/2006/table">
            <a:tbl>
              <a:tblPr/>
              <a:tblGrid>
                <a:gridCol w="590089"/>
                <a:gridCol w="688836"/>
                <a:gridCol w="449267"/>
                <a:gridCol w="504056"/>
                <a:gridCol w="432048"/>
                <a:gridCol w="432046"/>
              </a:tblGrid>
              <a:tr h="328854"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en-US" sz="2000" kern="1050" dirty="0" smtClean="0">
                          <a:latin typeface="Times New Roman"/>
                          <a:ea typeface="宋体"/>
                          <a:cs typeface="Times New Roman"/>
                        </a:rPr>
                        <a:t>Y</a:t>
                      </a:r>
                      <a:r>
                        <a:rPr lang="en-US" sz="2000" kern="1050" baseline="-25000" dirty="0" smtClean="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en-US" sz="2000" kern="1050" baseline="-250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pPr indent="269875" algn="l">
                        <a:spcAft>
                          <a:spcPts val="0"/>
                        </a:spcAft>
                      </a:pPr>
                      <a:endParaRPr lang="en-US" sz="16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9875" algn="just">
                        <a:spcAft>
                          <a:spcPts val="0"/>
                        </a:spcAft>
                      </a:pPr>
                      <a:endParaRPr lang="en-US" sz="16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9875" algn="just">
                        <a:spcAft>
                          <a:spcPts val="0"/>
                        </a:spcAft>
                      </a:pPr>
                      <a:endParaRPr lang="en-US" sz="16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9875" algn="just">
                        <a:spcAft>
                          <a:spcPts val="0"/>
                        </a:spcAft>
                      </a:pPr>
                      <a:endParaRPr lang="en-US" sz="16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9875" algn="just">
                        <a:spcAft>
                          <a:spcPts val="0"/>
                        </a:spcAft>
                      </a:pPr>
                      <a:endParaRPr lang="en-US" sz="16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609">
                <a:tc>
                  <a:txBody>
                    <a:bodyPr/>
                    <a:lstStyle/>
                    <a:p>
                      <a:pPr indent="269875" algn="just">
                        <a:spcAft>
                          <a:spcPts val="0"/>
                        </a:spcAft>
                      </a:pPr>
                      <a:endParaRPr lang="en-US" sz="16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pPr indent="269875" algn="just">
                        <a:spcAft>
                          <a:spcPts val="0"/>
                        </a:spcAft>
                      </a:pPr>
                      <a:r>
                        <a:rPr lang="en-US" sz="1600" b="1" kern="1050" dirty="0" smtClean="0">
                          <a:latin typeface="Times New Roman"/>
                          <a:ea typeface="宋体"/>
                          <a:cs typeface="Times New Roman"/>
                        </a:rPr>
                        <a:t>AB</a:t>
                      </a:r>
                      <a:endParaRPr lang="zh-CN" sz="16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en-US" sz="1600" b="1" kern="1050" dirty="0">
                          <a:latin typeface="Times New Roman"/>
                          <a:ea typeface="宋体"/>
                          <a:cs typeface="Times New Roman"/>
                        </a:rPr>
                        <a:t>C</a:t>
                      </a:r>
                      <a:endParaRPr lang="zh-CN" sz="16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endParaRPr lang="en-US" sz="16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en-US" sz="1600" kern="1050" dirty="0">
                          <a:latin typeface="Times New Roman"/>
                          <a:ea typeface="宋体"/>
                          <a:cs typeface="Times New Roman"/>
                        </a:rPr>
                        <a:t>00</a:t>
                      </a:r>
                      <a:endParaRPr lang="zh-CN" sz="16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en-US" sz="16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01</a:t>
                      </a:r>
                      <a:endParaRPr lang="zh-CN" sz="16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en-US" sz="16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11</a:t>
                      </a:r>
                      <a:endParaRPr lang="zh-CN" sz="16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endParaRPr lang="en-US" sz="16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en-US" sz="16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10</a:t>
                      </a:r>
                      <a:endParaRPr lang="zh-CN" sz="16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8854">
                <a:tc>
                  <a:txBody>
                    <a:bodyPr/>
                    <a:lstStyle/>
                    <a:p>
                      <a:pPr indent="269875" algn="ctr">
                        <a:spcAft>
                          <a:spcPts val="0"/>
                        </a:spcAft>
                      </a:pPr>
                      <a:endParaRPr lang="en-US" sz="16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9875" algn="r">
                        <a:spcAft>
                          <a:spcPts val="0"/>
                        </a:spcAft>
                      </a:pPr>
                      <a:r>
                        <a:rPr lang="en-US" sz="1600" kern="105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6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kern="1050" dirty="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6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kern="1050" dirty="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6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endParaRPr lang="en-US" sz="16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endParaRPr lang="en-US" sz="16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8854">
                <a:tc>
                  <a:txBody>
                    <a:bodyPr/>
                    <a:lstStyle/>
                    <a:p>
                      <a:pPr indent="269875" algn="ctr">
                        <a:spcAft>
                          <a:spcPts val="0"/>
                        </a:spcAft>
                      </a:pPr>
                      <a:endParaRPr lang="en-US" sz="16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9875" algn="r">
                        <a:spcAft>
                          <a:spcPts val="0"/>
                        </a:spcAft>
                      </a:pPr>
                      <a:r>
                        <a:rPr lang="en-US" sz="1600" kern="105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6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kern="105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6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endParaRPr lang="en-US" sz="16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endParaRPr lang="en-US" sz="16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600" kern="1050" dirty="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6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176" name="AutoShape 7"/>
          <p:cNvSpPr>
            <a:spLocks noChangeArrowheads="1"/>
          </p:cNvSpPr>
          <p:nvPr/>
        </p:nvSpPr>
        <p:spPr bwMode="auto">
          <a:xfrm>
            <a:off x="2771775" y="5661025"/>
            <a:ext cx="863600" cy="288925"/>
          </a:xfrm>
          <a:prstGeom prst="roundRect">
            <a:avLst>
              <a:gd name="adj" fmla="val 16667"/>
            </a:avLst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77" name="AutoShape 22"/>
          <p:cNvSpPr>
            <a:spLocks/>
          </p:cNvSpPr>
          <p:nvPr/>
        </p:nvSpPr>
        <p:spPr bwMode="auto">
          <a:xfrm>
            <a:off x="2771775" y="5949950"/>
            <a:ext cx="360363" cy="358775"/>
          </a:xfrm>
          <a:prstGeom prst="rightBracket">
            <a:avLst>
              <a:gd name="adj" fmla="val 22375"/>
            </a:avLst>
          </a:prstGeom>
          <a:noFill/>
          <a:ln w="28575">
            <a:solidFill>
              <a:srgbClr val="0000FF"/>
            </a:solidFill>
            <a:round/>
            <a:headEnd/>
            <a:tailEnd type="none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78" name="AutoShape 23"/>
          <p:cNvSpPr>
            <a:spLocks/>
          </p:cNvSpPr>
          <p:nvPr/>
        </p:nvSpPr>
        <p:spPr bwMode="auto">
          <a:xfrm>
            <a:off x="4211638" y="5949950"/>
            <a:ext cx="431800" cy="385763"/>
          </a:xfrm>
          <a:prstGeom prst="leftBracket">
            <a:avLst>
              <a:gd name="adj" fmla="val 12671"/>
            </a:avLst>
          </a:prstGeom>
          <a:noFill/>
          <a:ln w="28575">
            <a:solidFill>
              <a:srgbClr val="0000FF"/>
            </a:solidFill>
            <a:round/>
            <a:headEnd/>
            <a:tailEnd type="none" w="sm" len="lg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7" name="表格 16"/>
          <p:cNvGraphicFramePr>
            <a:graphicFrameLocks noGrp="1"/>
          </p:cNvGraphicFramePr>
          <p:nvPr/>
        </p:nvGraphicFramePr>
        <p:xfrm>
          <a:off x="5148263" y="4797425"/>
          <a:ext cx="3096349" cy="1605701"/>
        </p:xfrm>
        <a:graphic>
          <a:graphicData uri="http://schemas.openxmlformats.org/drawingml/2006/table">
            <a:tbl>
              <a:tblPr/>
              <a:tblGrid>
                <a:gridCol w="590090"/>
                <a:gridCol w="590090"/>
                <a:gridCol w="466497"/>
                <a:gridCol w="483224"/>
                <a:gridCol w="483224"/>
                <a:gridCol w="483224"/>
              </a:tblGrid>
              <a:tr h="160784"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en-US" sz="2000" kern="1050" dirty="0" smtClean="0">
                          <a:latin typeface="Times New Roman"/>
                          <a:ea typeface="宋体"/>
                          <a:cs typeface="Times New Roman"/>
                        </a:rPr>
                        <a:t>Y</a:t>
                      </a:r>
                      <a:r>
                        <a:rPr lang="en-US" sz="2000" kern="1050" baseline="-25000" dirty="0" smtClean="0">
                          <a:latin typeface="Times New Roman"/>
                          <a:ea typeface="宋体"/>
                          <a:cs typeface="Times New Roman"/>
                        </a:rPr>
                        <a:t>2</a:t>
                      </a:r>
                      <a:endParaRPr lang="en-US" sz="2000" kern="1050" baseline="-250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pPr indent="269875" algn="just">
                        <a:spcAft>
                          <a:spcPts val="0"/>
                        </a:spcAft>
                      </a:pPr>
                      <a:endParaRPr lang="en-US" sz="105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9875" algn="just">
                        <a:spcAft>
                          <a:spcPts val="0"/>
                        </a:spcAft>
                      </a:pPr>
                      <a:endParaRPr lang="en-US" sz="105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9875" algn="just">
                        <a:spcAft>
                          <a:spcPts val="0"/>
                        </a:spcAft>
                      </a:pPr>
                      <a:endParaRPr lang="en-US" sz="105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9875" algn="just">
                        <a:spcAft>
                          <a:spcPts val="0"/>
                        </a:spcAft>
                      </a:pPr>
                      <a:endParaRPr lang="en-US" sz="105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9875" algn="just">
                        <a:spcAft>
                          <a:spcPts val="0"/>
                        </a:spcAft>
                      </a:pPr>
                      <a:endParaRPr lang="en-US" sz="105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2261">
                <a:tc>
                  <a:txBody>
                    <a:bodyPr/>
                    <a:lstStyle/>
                    <a:p>
                      <a:pPr indent="269875" algn="just">
                        <a:spcAft>
                          <a:spcPts val="0"/>
                        </a:spcAft>
                      </a:pPr>
                      <a:endParaRPr lang="en-US" sz="105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en-US" sz="1800" b="1" kern="1050" dirty="0">
                          <a:latin typeface="Times New Roman"/>
                          <a:ea typeface="宋体"/>
                          <a:cs typeface="Times New Roman"/>
                        </a:rPr>
                        <a:t>  </a:t>
                      </a:r>
                      <a:r>
                        <a:rPr lang="en-US" sz="1800" b="1" kern="1050" dirty="0" smtClean="0">
                          <a:latin typeface="Times New Roman"/>
                          <a:ea typeface="宋体"/>
                          <a:cs typeface="Times New Roman"/>
                        </a:rPr>
                        <a:t> </a:t>
                      </a:r>
                      <a:r>
                        <a:rPr lang="en-US" sz="1600" b="1" kern="1050" dirty="0" smtClean="0">
                          <a:latin typeface="Times New Roman"/>
                          <a:ea typeface="宋体"/>
                          <a:cs typeface="Times New Roman"/>
                        </a:rPr>
                        <a:t>AB</a:t>
                      </a:r>
                      <a:r>
                        <a:rPr lang="en-US" sz="1800" b="1" kern="1050" dirty="0" smtClean="0">
                          <a:latin typeface="Times New Roman"/>
                          <a:ea typeface="宋体"/>
                          <a:cs typeface="Times New Roman"/>
                        </a:rPr>
                        <a:t>  </a:t>
                      </a:r>
                      <a:r>
                        <a:rPr lang="en-US" sz="1800" b="1" kern="1050" baseline="0" dirty="0" smtClean="0">
                          <a:latin typeface="Times New Roman"/>
                          <a:ea typeface="宋体"/>
                          <a:cs typeface="Times New Roman"/>
                        </a:rPr>
                        <a:t>   </a:t>
                      </a:r>
                      <a:r>
                        <a:rPr lang="en-US" sz="1800" b="1" kern="1050" dirty="0" smtClean="0">
                          <a:latin typeface="Times New Roman"/>
                          <a:ea typeface="宋体"/>
                          <a:cs typeface="Times New Roman"/>
                        </a:rPr>
                        <a:t>      </a:t>
                      </a:r>
                      <a:r>
                        <a:rPr lang="en-US" sz="1600" b="1" kern="1050" dirty="0" smtClean="0">
                          <a:latin typeface="Times New Roman"/>
                          <a:ea typeface="宋体"/>
                          <a:cs typeface="Times New Roman"/>
                        </a:rPr>
                        <a:t>C</a:t>
                      </a:r>
                      <a:endParaRPr lang="zh-CN" sz="16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00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endParaRPr lang="en-US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01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endParaRPr lang="en-US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11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endParaRPr lang="en-US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10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0754">
                <a:tc>
                  <a:txBody>
                    <a:bodyPr/>
                    <a:lstStyle/>
                    <a:p>
                      <a:pPr indent="269875" algn="ctr">
                        <a:spcAft>
                          <a:spcPts val="0"/>
                        </a:spcAft>
                      </a:pPr>
                      <a:endParaRPr lang="en-US" sz="105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r">
                        <a:spcAft>
                          <a:spcPts val="0"/>
                        </a:spcAft>
                      </a:pPr>
                      <a:r>
                        <a:rPr lang="en-US" sz="1800" kern="105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endParaRPr lang="en-US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 kern="105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endParaRPr lang="en-US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0754">
                <a:tc>
                  <a:txBody>
                    <a:bodyPr/>
                    <a:lstStyle/>
                    <a:p>
                      <a:pPr indent="269875" algn="ctr">
                        <a:spcAft>
                          <a:spcPts val="0"/>
                        </a:spcAft>
                      </a:pPr>
                      <a:endParaRPr lang="en-US" sz="105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r">
                        <a:spcAft>
                          <a:spcPts val="0"/>
                        </a:spcAft>
                      </a:pPr>
                      <a:r>
                        <a:rPr lang="en-US" sz="1800" kern="105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endParaRPr lang="en-US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endParaRPr lang="en-US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endParaRPr lang="en-US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228" name="AutoShape 7"/>
          <p:cNvSpPr>
            <a:spLocks noChangeArrowheads="1"/>
          </p:cNvSpPr>
          <p:nvPr/>
        </p:nvSpPr>
        <p:spPr bwMode="auto">
          <a:xfrm>
            <a:off x="7740650" y="5876925"/>
            <a:ext cx="503238" cy="504825"/>
          </a:xfrm>
          <a:prstGeom prst="roundRect">
            <a:avLst>
              <a:gd name="adj" fmla="val 16667"/>
            </a:avLst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29" name="AutoShape 7"/>
          <p:cNvSpPr>
            <a:spLocks noChangeArrowheads="1"/>
          </p:cNvSpPr>
          <p:nvPr/>
        </p:nvSpPr>
        <p:spPr bwMode="auto">
          <a:xfrm>
            <a:off x="6804025" y="5876925"/>
            <a:ext cx="431800" cy="215900"/>
          </a:xfrm>
          <a:prstGeom prst="roundRect">
            <a:avLst>
              <a:gd name="adj" fmla="val 16667"/>
            </a:avLst>
          </a:prstGeom>
          <a:solidFill>
            <a:srgbClr val="FFFFFF">
              <a:alpha val="0"/>
            </a:srgbClr>
          </a:solidFill>
          <a:ln w="2857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/>
          </p:cNvSpPr>
          <p:nvPr>
            <p:ph type="title" idx="4294967295"/>
          </p:nvPr>
        </p:nvSpPr>
        <p:spPr/>
        <p:txBody>
          <a:bodyPr anchor="ctr"/>
          <a:lstStyle/>
          <a:p>
            <a:pPr algn="just" eaLnBrk="1" hangingPunct="1"/>
            <a:r>
              <a:rPr lang="zh-CN" altLang="en-US" sz="3500" b="1" smtClean="0">
                <a:solidFill>
                  <a:schemeClr val="tx1"/>
                </a:solidFill>
                <a:ea typeface="幼圆" pitchFamily="49" charset="-122"/>
              </a:rPr>
              <a:t>第</a:t>
            </a:r>
            <a:r>
              <a:rPr lang="en-US" altLang="zh-CN" sz="3500" b="1" smtClean="0">
                <a:solidFill>
                  <a:schemeClr val="tx1"/>
                </a:solidFill>
                <a:ea typeface="幼圆" pitchFamily="49" charset="-122"/>
              </a:rPr>
              <a:t>4</a:t>
            </a:r>
            <a:r>
              <a:rPr lang="zh-CN" altLang="en-US" sz="3500" b="1" smtClean="0">
                <a:solidFill>
                  <a:schemeClr val="tx1"/>
                </a:solidFill>
                <a:ea typeface="幼圆" pitchFamily="49" charset="-122"/>
              </a:rPr>
              <a:t>章  组合逻辑电路</a:t>
            </a:r>
          </a:p>
        </p:txBody>
      </p:sp>
      <p:sp>
        <p:nvSpPr>
          <p:cNvPr id="8195" name="Rectangle 3"/>
          <p:cNvSpPr>
            <a:spLocks noGrp="1"/>
          </p:cNvSpPr>
          <p:nvPr>
            <p:ph type="body" idx="4294967295"/>
          </p:nvPr>
        </p:nvSpPr>
        <p:spPr>
          <a:xfrm>
            <a:off x="611188" y="1700213"/>
            <a:ext cx="8353425" cy="4772025"/>
          </a:xfrm>
        </p:spPr>
        <p:txBody>
          <a:bodyPr/>
          <a:lstStyle/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r>
              <a:rPr lang="zh-CN" altLang="en-US" sz="2800" b="1" dirty="0" smtClean="0">
                <a:latin typeface="+mn-ea"/>
              </a:rPr>
              <a:t>习题</a:t>
            </a:r>
            <a:r>
              <a:rPr lang="en-US" altLang="zh-CN" sz="2800" b="1" dirty="0" smtClean="0">
                <a:latin typeface="+mn-ea"/>
              </a:rPr>
              <a:t>4.8 </a:t>
            </a:r>
            <a:r>
              <a:rPr lang="zh-CN" altLang="zh-CN" sz="2800" b="1" dirty="0" smtClean="0"/>
              <a:t>八选一数据选择器电路如题图</a:t>
            </a:r>
            <a:r>
              <a:rPr lang="en-US" altLang="zh-CN" sz="2800" b="1" dirty="0" smtClean="0"/>
              <a:t>4.8</a:t>
            </a:r>
            <a:r>
              <a:rPr lang="zh-CN" altLang="zh-CN" sz="2800" b="1" dirty="0" smtClean="0"/>
              <a:t>所示，其中</a:t>
            </a:r>
            <a:r>
              <a:rPr lang="en-US" altLang="zh-CN" sz="2800" b="1" i="1" dirty="0" smtClean="0"/>
              <a:t>ABC</a:t>
            </a:r>
            <a:r>
              <a:rPr lang="zh-CN" altLang="zh-CN" sz="2800" b="1" dirty="0" smtClean="0"/>
              <a:t>为地址，</a:t>
            </a:r>
            <a:r>
              <a:rPr lang="en-US" altLang="zh-CN" sz="2800" b="1" i="1" dirty="0" smtClean="0"/>
              <a:t>D</a:t>
            </a:r>
            <a:r>
              <a:rPr lang="en-US" altLang="zh-CN" sz="2800" b="1" baseline="-25000" dirty="0" smtClean="0"/>
              <a:t>0</a:t>
            </a:r>
            <a:r>
              <a:rPr lang="zh-CN" altLang="zh-CN" sz="2800" b="1" dirty="0" smtClean="0"/>
              <a:t>～</a:t>
            </a:r>
            <a:r>
              <a:rPr lang="en-US" altLang="zh-CN" sz="2800" b="1" i="1" dirty="0" smtClean="0"/>
              <a:t>D</a:t>
            </a:r>
            <a:r>
              <a:rPr lang="en-US" altLang="zh-CN" sz="2800" b="1" baseline="-25000" dirty="0" smtClean="0"/>
              <a:t>7</a:t>
            </a:r>
            <a:r>
              <a:rPr lang="zh-CN" altLang="zh-CN" sz="2800" b="1" dirty="0" smtClean="0"/>
              <a:t>为数据输入，试写出输出</a:t>
            </a:r>
            <a:r>
              <a:rPr lang="en-US" altLang="zh-CN" sz="2800" b="1" i="1" dirty="0" smtClean="0"/>
              <a:t>Y</a:t>
            </a:r>
            <a:r>
              <a:rPr lang="zh-CN" altLang="zh-CN" sz="2800" b="1" dirty="0" smtClean="0"/>
              <a:t>的逻辑表达式。</a:t>
            </a:r>
            <a:endParaRPr lang="en-US" altLang="zh-CN" sz="2800" b="1" dirty="0" smtClean="0">
              <a:latin typeface="+mn-ea"/>
            </a:endParaRPr>
          </a:p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r>
              <a:rPr lang="zh-CN" altLang="en-US" sz="2800" b="1" dirty="0" smtClean="0">
                <a:latin typeface="+mn-ea"/>
              </a:rPr>
              <a:t>解：</a:t>
            </a:r>
            <a:endParaRPr lang="en-US" altLang="zh-CN" sz="2800" b="1" dirty="0" smtClean="0">
              <a:latin typeface="+mn-ea"/>
            </a:endParaRPr>
          </a:p>
        </p:txBody>
      </p:sp>
      <p:pic>
        <p:nvPicPr>
          <p:cNvPr id="6149" name="Picture 1" descr="T4t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84888" y="2708275"/>
            <a:ext cx="2159000" cy="3757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50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6146" name="Object 2"/>
          <p:cNvGraphicFramePr>
            <a:graphicFrameLocks noChangeAspect="1"/>
          </p:cNvGraphicFramePr>
          <p:nvPr/>
        </p:nvGraphicFramePr>
        <p:xfrm>
          <a:off x="1476375" y="3573463"/>
          <a:ext cx="3987800" cy="576262"/>
        </p:xfrm>
        <a:graphic>
          <a:graphicData uri="http://schemas.openxmlformats.org/presentationml/2006/ole">
            <p:oleObj spid="_x0000_s6146" r:id="rId4" imgW="1739900" imgH="254000" progId="">
              <p:embed/>
            </p:oleObj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619250" y="4437063"/>
          <a:ext cx="3240088" cy="1448754"/>
        </p:xfrm>
        <a:graphic>
          <a:graphicData uri="http://schemas.openxmlformats.org/drawingml/2006/table">
            <a:tbl>
              <a:tblPr/>
              <a:tblGrid>
                <a:gridCol w="617538"/>
                <a:gridCol w="617537"/>
                <a:gridCol w="488950"/>
                <a:gridCol w="504825"/>
                <a:gridCol w="506413"/>
                <a:gridCol w="504825"/>
              </a:tblGrid>
              <a:tr h="300038">
                <a:tc>
                  <a:txBody>
                    <a:bodyPr/>
                    <a:lstStyle/>
                    <a:p>
                      <a:pPr marL="0" marR="0" lvl="0" indent="269875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68580" marR="68580" marT="0" marB="0" anchor="b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269875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269875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269875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269875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269875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269875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  AB</a:t>
                      </a: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</a:t>
                      </a: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00</a:t>
                      </a: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b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01</a:t>
                      </a: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b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11</a:t>
                      </a: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b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10</a:t>
                      </a: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b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269875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200" name="AutoShape 7"/>
          <p:cNvSpPr>
            <a:spLocks noChangeArrowheads="1"/>
          </p:cNvSpPr>
          <p:nvPr/>
        </p:nvSpPr>
        <p:spPr bwMode="auto">
          <a:xfrm>
            <a:off x="4356100" y="5300663"/>
            <a:ext cx="503238" cy="576262"/>
          </a:xfrm>
          <a:prstGeom prst="roundRect">
            <a:avLst>
              <a:gd name="adj" fmla="val 16667"/>
            </a:avLst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01" name="AutoShape 22"/>
          <p:cNvSpPr>
            <a:spLocks/>
          </p:cNvSpPr>
          <p:nvPr/>
        </p:nvSpPr>
        <p:spPr bwMode="auto">
          <a:xfrm>
            <a:off x="2771775" y="5589588"/>
            <a:ext cx="504825" cy="287337"/>
          </a:xfrm>
          <a:prstGeom prst="rightBracket">
            <a:avLst>
              <a:gd name="adj" fmla="val 22375"/>
            </a:avLst>
          </a:prstGeom>
          <a:noFill/>
          <a:ln w="28575">
            <a:solidFill>
              <a:srgbClr val="0000FF"/>
            </a:solidFill>
            <a:round/>
            <a:headEnd/>
            <a:tailEnd type="none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02" name="AutoShape 23"/>
          <p:cNvSpPr>
            <a:spLocks/>
          </p:cNvSpPr>
          <p:nvPr/>
        </p:nvSpPr>
        <p:spPr bwMode="auto">
          <a:xfrm>
            <a:off x="4427538" y="5589588"/>
            <a:ext cx="504825" cy="360362"/>
          </a:xfrm>
          <a:prstGeom prst="leftBracket">
            <a:avLst>
              <a:gd name="adj" fmla="val 12671"/>
            </a:avLst>
          </a:prstGeom>
          <a:noFill/>
          <a:ln w="28575">
            <a:solidFill>
              <a:srgbClr val="0000FF"/>
            </a:solidFill>
            <a:round/>
            <a:headEnd/>
            <a:tailEnd type="none" w="sm" len="lg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/>
          </p:cNvSpPr>
          <p:nvPr>
            <p:ph type="title" idx="4294967295"/>
          </p:nvPr>
        </p:nvSpPr>
        <p:spPr/>
        <p:txBody>
          <a:bodyPr anchor="ctr"/>
          <a:lstStyle/>
          <a:p>
            <a:pPr algn="just" eaLnBrk="1" hangingPunct="1"/>
            <a:r>
              <a:rPr lang="zh-CN" altLang="en-US" sz="3500" b="1" smtClean="0">
                <a:solidFill>
                  <a:schemeClr val="tx1"/>
                </a:solidFill>
                <a:ea typeface="幼圆" pitchFamily="49" charset="-122"/>
              </a:rPr>
              <a:t>第</a:t>
            </a:r>
            <a:r>
              <a:rPr lang="en-US" altLang="zh-CN" sz="3500" b="1" smtClean="0">
                <a:solidFill>
                  <a:schemeClr val="tx1"/>
                </a:solidFill>
                <a:ea typeface="幼圆" pitchFamily="49" charset="-122"/>
              </a:rPr>
              <a:t>4</a:t>
            </a:r>
            <a:r>
              <a:rPr lang="zh-CN" altLang="en-US" sz="3500" b="1" smtClean="0">
                <a:solidFill>
                  <a:schemeClr val="tx1"/>
                </a:solidFill>
                <a:ea typeface="幼圆" pitchFamily="49" charset="-122"/>
              </a:rPr>
              <a:t>章  组合逻辑电路</a:t>
            </a:r>
          </a:p>
        </p:txBody>
      </p:sp>
      <p:sp>
        <p:nvSpPr>
          <p:cNvPr id="8195" name="Rectangle 3"/>
          <p:cNvSpPr>
            <a:spLocks noGrp="1"/>
          </p:cNvSpPr>
          <p:nvPr>
            <p:ph type="body" idx="4294967295"/>
          </p:nvPr>
        </p:nvSpPr>
        <p:spPr>
          <a:xfrm>
            <a:off x="611188" y="1700213"/>
            <a:ext cx="8353425" cy="4772025"/>
          </a:xfrm>
        </p:spPr>
        <p:txBody>
          <a:bodyPr/>
          <a:lstStyle/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r>
              <a:rPr lang="zh-CN" altLang="en-US" sz="2800" b="1" dirty="0" smtClean="0">
                <a:latin typeface="+mn-ea"/>
              </a:rPr>
              <a:t>习题</a:t>
            </a:r>
            <a:r>
              <a:rPr lang="en-US" altLang="zh-CN" sz="2800" b="1" dirty="0" smtClean="0">
                <a:latin typeface="+mn-ea"/>
              </a:rPr>
              <a:t>4.9 </a:t>
            </a:r>
            <a:r>
              <a:rPr lang="zh-CN" altLang="zh-CN" sz="2800" b="1" dirty="0" smtClean="0"/>
              <a:t>假如已知一个组合逻辑电路的输入</a:t>
            </a:r>
            <a:r>
              <a:rPr lang="en-US" altLang="zh-CN" sz="2800" b="1" dirty="0" smtClean="0"/>
              <a:t>A </a:t>
            </a:r>
            <a:r>
              <a:rPr lang="zh-CN" altLang="zh-CN" sz="2800" b="1" dirty="0" smtClean="0"/>
              <a:t>、</a:t>
            </a:r>
            <a:r>
              <a:rPr lang="en-US" altLang="zh-CN" sz="2800" b="1" dirty="0" smtClean="0"/>
              <a:t>B </a:t>
            </a:r>
            <a:r>
              <a:rPr lang="zh-CN" altLang="zh-CN" sz="2800" b="1" dirty="0" smtClean="0"/>
              <a:t>、</a:t>
            </a:r>
            <a:r>
              <a:rPr lang="en-US" altLang="zh-CN" sz="2800" b="1" dirty="0" smtClean="0"/>
              <a:t> C</a:t>
            </a:r>
            <a:r>
              <a:rPr lang="zh-CN" altLang="zh-CN" sz="2800" b="1" dirty="0" smtClean="0"/>
              <a:t>和输出</a:t>
            </a:r>
            <a:r>
              <a:rPr lang="en-US" altLang="zh-CN" sz="2800" b="1" dirty="0" smtClean="0"/>
              <a:t>F</a:t>
            </a:r>
            <a:r>
              <a:rPr lang="zh-CN" altLang="zh-CN" sz="2800" b="1" dirty="0" smtClean="0"/>
              <a:t>的波形如题图</a:t>
            </a:r>
            <a:r>
              <a:rPr lang="en-US" altLang="zh-CN" sz="2800" b="1" dirty="0" smtClean="0"/>
              <a:t>4.9</a:t>
            </a:r>
            <a:r>
              <a:rPr lang="zh-CN" altLang="zh-CN" sz="2800" b="1" dirty="0" smtClean="0"/>
              <a:t>所示，试用最少的逻辑门实现输出函数</a:t>
            </a:r>
            <a:r>
              <a:rPr lang="en-US" altLang="zh-CN" sz="2800" b="1" dirty="0" smtClean="0"/>
              <a:t>F</a:t>
            </a:r>
            <a:r>
              <a:rPr lang="zh-CN" altLang="zh-CN" sz="2800" b="1" dirty="0" smtClean="0"/>
              <a:t>。</a:t>
            </a:r>
            <a:endParaRPr lang="en-US" altLang="zh-CN" sz="2800" b="1" dirty="0" smtClean="0">
              <a:latin typeface="+mn-ea"/>
            </a:endParaRPr>
          </a:p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r>
              <a:rPr lang="zh-CN" altLang="en-US" sz="2800" b="1" dirty="0" smtClean="0">
                <a:latin typeface="+mn-ea"/>
              </a:rPr>
              <a:t>解：</a:t>
            </a:r>
            <a:r>
              <a:rPr lang="zh-CN" altLang="zh-CN" sz="2800" b="1" dirty="0" smtClean="0"/>
              <a:t>由波形图得到真值表：</a:t>
            </a:r>
            <a:endParaRPr lang="en-US" altLang="zh-CN" sz="2800" b="1" dirty="0" smtClean="0"/>
          </a:p>
          <a:p>
            <a:pPr marL="432000" indent="-432000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800" b="1" dirty="0" smtClean="0"/>
              <a:t>   </a:t>
            </a:r>
            <a:r>
              <a:rPr lang="zh-CN" altLang="en-US" sz="2800" b="1" dirty="0" smtClean="0"/>
              <a:t>做卡诺图得到最简逻辑函数为</a:t>
            </a:r>
            <a:endParaRPr lang="en-US" altLang="zh-CN" sz="2800" b="1" dirty="0" smtClean="0">
              <a:latin typeface="+mn-ea"/>
            </a:endParaRPr>
          </a:p>
        </p:txBody>
      </p:sp>
      <p:pic>
        <p:nvPicPr>
          <p:cNvPr id="7173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02163" y="0"/>
            <a:ext cx="4398962" cy="170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6084168" y="3212976"/>
          <a:ext cx="2520280" cy="3168352"/>
        </p:xfrm>
        <a:graphic>
          <a:graphicData uri="http://schemas.openxmlformats.org/drawingml/2006/table">
            <a:tbl>
              <a:tblPr/>
              <a:tblGrid>
                <a:gridCol w="1618342"/>
                <a:gridCol w="901938"/>
              </a:tblGrid>
              <a:tr h="345047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2000" kern="1050" dirty="0" smtClean="0">
                          <a:latin typeface="Times New Roman"/>
                          <a:ea typeface="宋体"/>
                          <a:cs typeface="Times New Roman"/>
                        </a:rPr>
                        <a:t>A   B  C</a:t>
                      </a:r>
                      <a:endParaRPr lang="en-US" sz="20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2000" kern="1050" dirty="0" smtClean="0">
                          <a:latin typeface="Times New Roman"/>
                          <a:ea typeface="宋体"/>
                          <a:cs typeface="Times New Roman"/>
                        </a:rPr>
                        <a:t>F</a:t>
                      </a:r>
                      <a:endParaRPr lang="en-US" sz="20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3305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50" dirty="0">
                          <a:latin typeface="Times New Roman"/>
                          <a:ea typeface="宋体"/>
                          <a:cs typeface="Times New Roman"/>
                        </a:rPr>
                        <a:t>0   0   0</a:t>
                      </a:r>
                      <a:endParaRPr lang="zh-CN" sz="20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50" dirty="0">
                          <a:latin typeface="Times New Roman"/>
                          <a:ea typeface="宋体"/>
                          <a:cs typeface="Times New Roman"/>
                        </a:rPr>
                        <a:t>0   0   1</a:t>
                      </a:r>
                      <a:endParaRPr lang="zh-CN" sz="20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50" dirty="0">
                          <a:latin typeface="Times New Roman"/>
                          <a:ea typeface="宋体"/>
                          <a:cs typeface="Times New Roman"/>
                        </a:rPr>
                        <a:t>0   1   0</a:t>
                      </a:r>
                      <a:endParaRPr lang="zh-CN" sz="20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50" dirty="0">
                          <a:latin typeface="Times New Roman"/>
                          <a:ea typeface="宋体"/>
                          <a:cs typeface="Times New Roman"/>
                        </a:rPr>
                        <a:t>0   1   1</a:t>
                      </a:r>
                      <a:endParaRPr lang="zh-CN" sz="20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50" dirty="0">
                          <a:latin typeface="Times New Roman"/>
                          <a:ea typeface="宋体"/>
                          <a:cs typeface="Times New Roman"/>
                        </a:rPr>
                        <a:t>1   0   </a:t>
                      </a:r>
                      <a:r>
                        <a:rPr lang="en-US" sz="2000" kern="1050" dirty="0" smtClean="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20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50" dirty="0">
                          <a:latin typeface="Times New Roman"/>
                          <a:ea typeface="宋体"/>
                          <a:cs typeface="Times New Roman"/>
                        </a:rPr>
                        <a:t>1   0   1</a:t>
                      </a:r>
                      <a:endParaRPr lang="zh-CN" sz="20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50" dirty="0">
                          <a:latin typeface="Times New Roman"/>
                          <a:ea typeface="宋体"/>
                          <a:cs typeface="Times New Roman"/>
                        </a:rPr>
                        <a:t>1   1   0</a:t>
                      </a:r>
                      <a:endParaRPr lang="zh-CN" sz="20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50" dirty="0">
                          <a:latin typeface="Times New Roman"/>
                          <a:ea typeface="宋体"/>
                          <a:cs typeface="Times New Roman"/>
                        </a:rPr>
                        <a:t>1   1   1</a:t>
                      </a:r>
                      <a:endParaRPr lang="zh-CN" sz="20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50" dirty="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20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50" dirty="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20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050" dirty="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20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50" dirty="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20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50" dirty="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20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50" dirty="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20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50" dirty="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20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50" dirty="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20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182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1691680" y="4725144"/>
          <a:ext cx="3312368" cy="1449705"/>
        </p:xfrm>
        <a:graphic>
          <a:graphicData uri="http://schemas.openxmlformats.org/drawingml/2006/table">
            <a:tbl>
              <a:tblPr/>
              <a:tblGrid>
                <a:gridCol w="631259"/>
                <a:gridCol w="631259"/>
                <a:gridCol w="499042"/>
                <a:gridCol w="516936"/>
                <a:gridCol w="516936"/>
                <a:gridCol w="516936"/>
              </a:tblGrid>
              <a:tr h="300355">
                <a:tc>
                  <a:txBody>
                    <a:bodyPr/>
                    <a:lstStyle/>
                    <a:p>
                      <a:pPr indent="269875" algn="r">
                        <a:spcAft>
                          <a:spcPts val="0"/>
                        </a:spcAft>
                      </a:pP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F</a:t>
                      </a:r>
                      <a:endParaRPr lang="en-US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pPr indent="269875" algn="just">
                        <a:spcAft>
                          <a:spcPts val="0"/>
                        </a:spcAft>
                      </a:pPr>
                      <a:endParaRPr lang="en-US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9875" algn="just">
                        <a:spcAft>
                          <a:spcPts val="0"/>
                        </a:spcAft>
                      </a:pPr>
                      <a:endParaRPr lang="en-US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9875" algn="just">
                        <a:spcAft>
                          <a:spcPts val="0"/>
                        </a:spcAft>
                      </a:pPr>
                      <a:endParaRPr lang="en-US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9875" algn="just">
                        <a:spcAft>
                          <a:spcPts val="0"/>
                        </a:spcAft>
                      </a:pPr>
                      <a:endParaRPr lang="en-US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9875" algn="just">
                        <a:spcAft>
                          <a:spcPts val="0"/>
                        </a:spcAft>
                      </a:pPr>
                      <a:endParaRPr lang="en-US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355">
                <a:tc>
                  <a:txBody>
                    <a:bodyPr/>
                    <a:lstStyle/>
                    <a:p>
                      <a:pPr indent="269875" algn="just">
                        <a:spcAft>
                          <a:spcPts val="0"/>
                        </a:spcAft>
                      </a:pPr>
                      <a:endParaRPr lang="en-US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en-US" sz="1800" b="1" kern="1050" dirty="0">
                          <a:latin typeface="Times New Roman"/>
                          <a:ea typeface="宋体"/>
                          <a:cs typeface="Times New Roman"/>
                        </a:rPr>
                        <a:t>  </a:t>
                      </a:r>
                      <a:r>
                        <a:rPr lang="en-US" sz="1800" b="1" kern="1050" dirty="0" smtClean="0">
                          <a:latin typeface="Times New Roman"/>
                          <a:ea typeface="宋体"/>
                          <a:cs typeface="Times New Roman"/>
                        </a:rPr>
                        <a:t> AB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en-US" sz="1800" b="1" kern="1050" dirty="0">
                          <a:latin typeface="Times New Roman"/>
                          <a:ea typeface="宋体"/>
                          <a:cs typeface="Times New Roman"/>
                        </a:rPr>
                        <a:t>C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endParaRPr lang="en-US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00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endParaRPr lang="en-US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01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endParaRPr lang="en-US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11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endParaRPr lang="en-US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10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355">
                <a:tc>
                  <a:txBody>
                    <a:bodyPr/>
                    <a:lstStyle/>
                    <a:p>
                      <a:pPr indent="269875" algn="ctr">
                        <a:spcAft>
                          <a:spcPts val="0"/>
                        </a:spcAft>
                      </a:pPr>
                      <a:endParaRPr lang="en-US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r">
                        <a:spcAft>
                          <a:spcPts val="0"/>
                        </a:spcAft>
                      </a:pPr>
                      <a:r>
                        <a:rPr lang="en-US" sz="1800" kern="105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endParaRPr lang="en-US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 kern="105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 kern="105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endParaRPr lang="en-US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355">
                <a:tc>
                  <a:txBody>
                    <a:bodyPr/>
                    <a:lstStyle/>
                    <a:p>
                      <a:pPr indent="269875" algn="ctr">
                        <a:spcAft>
                          <a:spcPts val="0"/>
                        </a:spcAft>
                      </a:pPr>
                      <a:endParaRPr lang="en-US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r">
                        <a:spcAft>
                          <a:spcPts val="0"/>
                        </a:spcAft>
                      </a:pPr>
                      <a:r>
                        <a:rPr lang="en-US" sz="1800" kern="105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 kern="105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endParaRPr lang="en-US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 kern="105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endParaRPr lang="en-US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232" name="AutoShape 7"/>
          <p:cNvSpPr>
            <a:spLocks noChangeArrowheads="1"/>
          </p:cNvSpPr>
          <p:nvPr/>
        </p:nvSpPr>
        <p:spPr bwMode="auto">
          <a:xfrm>
            <a:off x="3996730" y="5588744"/>
            <a:ext cx="431800" cy="576262"/>
          </a:xfrm>
          <a:prstGeom prst="roundRect">
            <a:avLst>
              <a:gd name="adj" fmla="val 16667"/>
            </a:avLst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33" name="AutoShape 7"/>
          <p:cNvSpPr>
            <a:spLocks noChangeArrowheads="1"/>
          </p:cNvSpPr>
          <p:nvPr/>
        </p:nvSpPr>
        <p:spPr bwMode="auto">
          <a:xfrm>
            <a:off x="2988667" y="5877669"/>
            <a:ext cx="503238" cy="287337"/>
          </a:xfrm>
          <a:prstGeom prst="roundRect">
            <a:avLst>
              <a:gd name="adj" fmla="val 16667"/>
            </a:avLst>
          </a:prstGeom>
          <a:solidFill>
            <a:srgbClr val="FFFFFF">
              <a:alpha val="0"/>
            </a:srgbClr>
          </a:solidFill>
          <a:ln w="28575">
            <a:solidFill>
              <a:srgbClr val="00B05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34" name="AutoShape 7"/>
          <p:cNvSpPr>
            <a:spLocks noChangeArrowheads="1"/>
          </p:cNvSpPr>
          <p:nvPr/>
        </p:nvSpPr>
        <p:spPr bwMode="auto">
          <a:xfrm>
            <a:off x="3491905" y="5588744"/>
            <a:ext cx="936625" cy="288925"/>
          </a:xfrm>
          <a:prstGeom prst="roundRect">
            <a:avLst>
              <a:gd name="adj" fmla="val 16667"/>
            </a:avLst>
          </a:prstGeom>
          <a:solidFill>
            <a:srgbClr val="FFFFFF">
              <a:alpha val="0"/>
            </a:srgbClr>
          </a:solidFill>
          <a:ln w="2857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172" name="Object 4"/>
          <p:cNvGraphicFramePr>
            <a:graphicFrameLocks noChangeAspect="1"/>
          </p:cNvGraphicFramePr>
          <p:nvPr/>
        </p:nvGraphicFramePr>
        <p:xfrm>
          <a:off x="1043608" y="4005064"/>
          <a:ext cx="4763329" cy="504056"/>
        </p:xfrm>
        <a:graphic>
          <a:graphicData uri="http://schemas.openxmlformats.org/presentationml/2006/ole">
            <p:oleObj spid="_x0000_s7172" r:id="rId4" imgW="2400120" imgH="253800" progId="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/>
          </p:cNvSpPr>
          <p:nvPr>
            <p:ph type="title" idx="4294967295"/>
          </p:nvPr>
        </p:nvSpPr>
        <p:spPr/>
        <p:txBody>
          <a:bodyPr anchor="ctr"/>
          <a:lstStyle/>
          <a:p>
            <a:pPr algn="just" eaLnBrk="1" hangingPunct="1"/>
            <a:r>
              <a:rPr lang="zh-CN" altLang="en-US" sz="3500" b="1" smtClean="0">
                <a:solidFill>
                  <a:schemeClr val="tx1"/>
                </a:solidFill>
                <a:ea typeface="幼圆" pitchFamily="49" charset="-122"/>
              </a:rPr>
              <a:t>第</a:t>
            </a:r>
            <a:r>
              <a:rPr lang="en-US" altLang="zh-CN" sz="3500" b="1" smtClean="0">
                <a:solidFill>
                  <a:schemeClr val="tx1"/>
                </a:solidFill>
                <a:ea typeface="幼圆" pitchFamily="49" charset="-122"/>
              </a:rPr>
              <a:t>4</a:t>
            </a:r>
            <a:r>
              <a:rPr lang="zh-CN" altLang="en-US" sz="3500" b="1" smtClean="0">
                <a:solidFill>
                  <a:schemeClr val="tx1"/>
                </a:solidFill>
                <a:ea typeface="幼圆" pitchFamily="49" charset="-122"/>
              </a:rPr>
              <a:t>章  组合逻辑电路</a:t>
            </a:r>
          </a:p>
        </p:txBody>
      </p:sp>
      <p:sp>
        <p:nvSpPr>
          <p:cNvPr id="2" name="Rectangle 3"/>
          <p:cNvSpPr>
            <a:spLocks noGrp="1"/>
          </p:cNvSpPr>
          <p:nvPr>
            <p:ph type="body" idx="4294967295"/>
          </p:nvPr>
        </p:nvSpPr>
        <p:spPr>
          <a:xfrm>
            <a:off x="611188" y="1700213"/>
            <a:ext cx="8353425" cy="4772025"/>
          </a:xfrm>
        </p:spPr>
        <p:txBody>
          <a:bodyPr/>
          <a:lstStyle/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r>
              <a:rPr lang="zh-CN" altLang="en-US" sz="2800" b="1" dirty="0" smtClean="0">
                <a:latin typeface="+mn-ea"/>
              </a:rPr>
              <a:t>习题</a:t>
            </a:r>
            <a:r>
              <a:rPr lang="en-US" altLang="zh-CN" sz="2800" b="1" dirty="0" smtClean="0">
                <a:latin typeface="+mn-ea"/>
              </a:rPr>
              <a:t>4.9 </a:t>
            </a:r>
            <a:r>
              <a:rPr lang="zh-CN" altLang="en-US" sz="2800" b="1" dirty="0" smtClean="0">
                <a:latin typeface="+mn-ea"/>
              </a:rPr>
              <a:t>解：</a:t>
            </a:r>
            <a:endParaRPr lang="en-US" altLang="zh-CN" sz="2800" b="1" dirty="0" smtClean="0">
              <a:latin typeface="+mn-ea"/>
            </a:endParaRPr>
          </a:p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endParaRPr lang="en-US" altLang="zh-CN" sz="2800" b="1" dirty="0" smtClean="0">
              <a:latin typeface="+mn-ea"/>
            </a:endParaRPr>
          </a:p>
          <a:p>
            <a:pPr marL="432000" indent="-432000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800" b="1" dirty="0" smtClean="0">
                <a:latin typeface="+mn-ea"/>
              </a:rPr>
              <a:t>     </a:t>
            </a:r>
          </a:p>
          <a:p>
            <a:pPr marL="432000" indent="-432000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800" b="1" dirty="0" smtClean="0">
                <a:latin typeface="+mn-ea"/>
              </a:rPr>
              <a:t>    </a:t>
            </a:r>
            <a:r>
              <a:rPr lang="zh-CN" altLang="en-US" sz="2800" b="1" dirty="0" smtClean="0">
                <a:latin typeface="+mn-ea"/>
              </a:rPr>
              <a:t>由</a:t>
            </a:r>
            <a:r>
              <a:rPr lang="en-US" altLang="zh-CN" sz="2800" b="1" dirty="0" smtClean="0">
                <a:latin typeface="+mn-ea"/>
              </a:rPr>
              <a:t>F</a:t>
            </a:r>
            <a:r>
              <a:rPr lang="zh-CN" altLang="en-US" sz="2800" b="1" dirty="0" smtClean="0">
                <a:latin typeface="+mn-ea"/>
              </a:rPr>
              <a:t>得到逻辑电路图</a:t>
            </a:r>
            <a:endParaRPr lang="en-US" altLang="zh-CN" sz="2800" b="1" dirty="0" smtClean="0">
              <a:latin typeface="+mn-ea"/>
            </a:endParaRPr>
          </a:p>
        </p:txBody>
      </p:sp>
      <p:sp>
        <p:nvSpPr>
          <p:cNvPr id="8198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19672" y="3573016"/>
            <a:ext cx="6336704" cy="289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" name="Object 5"/>
          <p:cNvGraphicFramePr>
            <a:graphicFrameLocks noChangeAspect="1"/>
          </p:cNvGraphicFramePr>
          <p:nvPr/>
        </p:nvGraphicFramePr>
        <p:xfrm>
          <a:off x="3275856" y="1844824"/>
          <a:ext cx="4330299" cy="1008112"/>
        </p:xfrm>
        <a:graphic>
          <a:graphicData uri="http://schemas.openxmlformats.org/presentationml/2006/ole">
            <p:oleObj spid="_x0000_s8197" r:id="rId4" imgW="2400120" imgH="558720" progId="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2"/>
          <p:cNvSpPr>
            <a:spLocks noGrp="1"/>
          </p:cNvSpPr>
          <p:nvPr>
            <p:ph type="title" idx="4294967295"/>
          </p:nvPr>
        </p:nvSpPr>
        <p:spPr/>
        <p:txBody>
          <a:bodyPr anchor="ctr"/>
          <a:lstStyle/>
          <a:p>
            <a:pPr algn="just" eaLnBrk="1" hangingPunct="1"/>
            <a:r>
              <a:rPr lang="zh-CN" altLang="en-US" sz="3500" b="1" smtClean="0">
                <a:solidFill>
                  <a:schemeClr val="tx1"/>
                </a:solidFill>
                <a:ea typeface="幼圆" pitchFamily="49" charset="-122"/>
              </a:rPr>
              <a:t>第</a:t>
            </a:r>
            <a:r>
              <a:rPr lang="en-US" altLang="zh-CN" sz="3500" b="1" smtClean="0">
                <a:solidFill>
                  <a:schemeClr val="tx1"/>
                </a:solidFill>
                <a:ea typeface="幼圆" pitchFamily="49" charset="-122"/>
              </a:rPr>
              <a:t>4</a:t>
            </a:r>
            <a:r>
              <a:rPr lang="zh-CN" altLang="en-US" sz="3500" b="1" smtClean="0">
                <a:solidFill>
                  <a:schemeClr val="tx1"/>
                </a:solidFill>
                <a:ea typeface="幼圆" pitchFamily="49" charset="-122"/>
              </a:rPr>
              <a:t>章  组合逻辑电路</a:t>
            </a:r>
          </a:p>
        </p:txBody>
      </p:sp>
      <p:sp>
        <p:nvSpPr>
          <p:cNvPr id="8195" name="Rectangle 3"/>
          <p:cNvSpPr>
            <a:spLocks noGrp="1"/>
          </p:cNvSpPr>
          <p:nvPr>
            <p:ph type="body" idx="4294967295"/>
          </p:nvPr>
        </p:nvSpPr>
        <p:spPr>
          <a:xfrm>
            <a:off x="611188" y="1700213"/>
            <a:ext cx="8353425" cy="4772025"/>
          </a:xfrm>
        </p:spPr>
        <p:txBody>
          <a:bodyPr/>
          <a:lstStyle/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r>
              <a:rPr lang="zh-CN" altLang="en-US" sz="2800" b="1" dirty="0" smtClean="0">
                <a:latin typeface="+mn-ea"/>
              </a:rPr>
              <a:t>习题</a:t>
            </a:r>
            <a:r>
              <a:rPr lang="en-US" altLang="zh-CN" sz="2800" b="1" dirty="0" smtClean="0">
                <a:latin typeface="+mn-ea"/>
              </a:rPr>
              <a:t>4.12 </a:t>
            </a:r>
            <a:r>
              <a:rPr lang="zh-CN" altLang="zh-CN" sz="2800" b="1" dirty="0" smtClean="0"/>
              <a:t>试用与非门组成半加器，用与非门和非门组成全加器。</a:t>
            </a:r>
            <a:endParaRPr lang="en-US" altLang="zh-CN" sz="2800" b="1" dirty="0" smtClean="0">
              <a:latin typeface="+mn-ea"/>
            </a:endParaRPr>
          </a:p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r>
              <a:rPr lang="zh-CN" altLang="en-US" sz="2800" b="1" dirty="0" smtClean="0">
                <a:latin typeface="+mn-ea"/>
              </a:rPr>
              <a:t>解：半加器</a:t>
            </a:r>
            <a:endParaRPr lang="en-US" altLang="zh-CN" sz="2800" b="1" dirty="0" smtClean="0">
              <a:latin typeface="+mn-ea"/>
            </a:endParaRPr>
          </a:p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endParaRPr lang="en-US" altLang="zh-CN" sz="2800" b="1" dirty="0" smtClean="0">
              <a:latin typeface="+mn-ea"/>
            </a:endParaRPr>
          </a:p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endParaRPr lang="en-US" altLang="zh-CN" sz="2800" b="1" dirty="0" smtClean="0">
              <a:latin typeface="+mn-ea"/>
            </a:endParaRPr>
          </a:p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endParaRPr lang="en-US" altLang="zh-CN" sz="2800" b="1" dirty="0" smtClean="0">
              <a:latin typeface="+mn-ea"/>
            </a:endParaRPr>
          </a:p>
          <a:p>
            <a:pPr marL="432000" indent="-432000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800" b="1" dirty="0" smtClean="0">
                <a:latin typeface="+mn-ea"/>
              </a:rPr>
              <a:t>     </a:t>
            </a:r>
          </a:p>
        </p:txBody>
      </p:sp>
      <p:sp>
        <p:nvSpPr>
          <p:cNvPr id="92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223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36096" y="2996952"/>
            <a:ext cx="3235325" cy="201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0" name="Object 2"/>
          <p:cNvGraphicFramePr>
            <a:graphicFrameLocks noChangeAspect="1"/>
          </p:cNvGraphicFramePr>
          <p:nvPr/>
        </p:nvGraphicFramePr>
        <p:xfrm>
          <a:off x="1043608" y="3284984"/>
          <a:ext cx="4116387" cy="1497012"/>
        </p:xfrm>
        <a:graphic>
          <a:graphicData uri="http://schemas.openxmlformats.org/presentationml/2006/ole">
            <p:oleObj spid="_x0000_s9221" r:id="rId4" imgW="2679480" imgH="863280" progId="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/>
          </p:cNvSpPr>
          <p:nvPr>
            <p:ph type="title" idx="4294967295"/>
          </p:nvPr>
        </p:nvSpPr>
        <p:spPr/>
        <p:txBody>
          <a:bodyPr anchor="ctr"/>
          <a:lstStyle/>
          <a:p>
            <a:pPr algn="just" eaLnBrk="1" hangingPunct="1"/>
            <a:r>
              <a:rPr lang="zh-CN" altLang="en-US" sz="3500" b="1" smtClean="0">
                <a:solidFill>
                  <a:schemeClr val="tx1"/>
                </a:solidFill>
                <a:ea typeface="幼圆" pitchFamily="49" charset="-122"/>
              </a:rPr>
              <a:t>第</a:t>
            </a:r>
            <a:r>
              <a:rPr lang="en-US" altLang="zh-CN" sz="3500" b="1" smtClean="0">
                <a:solidFill>
                  <a:schemeClr val="tx1"/>
                </a:solidFill>
                <a:ea typeface="幼圆" pitchFamily="49" charset="-122"/>
              </a:rPr>
              <a:t>4</a:t>
            </a:r>
            <a:r>
              <a:rPr lang="zh-CN" altLang="en-US" sz="3500" b="1" smtClean="0">
                <a:solidFill>
                  <a:schemeClr val="tx1"/>
                </a:solidFill>
                <a:ea typeface="幼圆" pitchFamily="49" charset="-122"/>
              </a:rPr>
              <a:t>章  组合逻辑电路</a:t>
            </a:r>
          </a:p>
        </p:txBody>
      </p:sp>
      <p:sp>
        <p:nvSpPr>
          <p:cNvPr id="8195" name="Rectangle 3"/>
          <p:cNvSpPr>
            <a:spLocks noGrp="1"/>
          </p:cNvSpPr>
          <p:nvPr>
            <p:ph type="body" idx="4294967295"/>
          </p:nvPr>
        </p:nvSpPr>
        <p:spPr>
          <a:xfrm>
            <a:off x="611188" y="1700213"/>
            <a:ext cx="8353425" cy="4772025"/>
          </a:xfrm>
        </p:spPr>
        <p:txBody>
          <a:bodyPr/>
          <a:lstStyle/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r>
              <a:rPr lang="zh-CN" altLang="en-US" sz="2800" b="1" dirty="0" smtClean="0">
                <a:latin typeface="+mn-ea"/>
              </a:rPr>
              <a:t>习题</a:t>
            </a:r>
            <a:r>
              <a:rPr lang="en-US" altLang="zh-CN" sz="2800" b="1" dirty="0" smtClean="0">
                <a:latin typeface="+mn-ea"/>
              </a:rPr>
              <a:t>4.12 </a:t>
            </a:r>
            <a:r>
              <a:rPr lang="zh-CN" altLang="en-US" sz="2800" b="1" dirty="0" smtClean="0">
                <a:latin typeface="+mn-ea"/>
              </a:rPr>
              <a:t>解：</a:t>
            </a:r>
            <a:r>
              <a:rPr lang="zh-CN" altLang="zh-CN" sz="2800" b="1" dirty="0" smtClean="0"/>
              <a:t>全加器</a:t>
            </a:r>
            <a:endParaRPr lang="en-US" altLang="zh-CN" sz="2800" b="1" dirty="0" smtClean="0">
              <a:latin typeface="+mn-ea"/>
            </a:endParaRPr>
          </a:p>
        </p:txBody>
      </p:sp>
      <p:sp>
        <p:nvSpPr>
          <p:cNvPr id="3379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38913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7704" y="3501008"/>
            <a:ext cx="4968552" cy="3076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8915" name="Object 3"/>
          <p:cNvGraphicFramePr>
            <a:graphicFrameLocks noChangeAspect="1"/>
          </p:cNvGraphicFramePr>
          <p:nvPr/>
        </p:nvGraphicFramePr>
        <p:xfrm>
          <a:off x="1259632" y="2204864"/>
          <a:ext cx="7007225" cy="1223962"/>
        </p:xfrm>
        <a:graphic>
          <a:graphicData uri="http://schemas.openxmlformats.org/presentationml/2006/ole">
            <p:oleObj spid="_x0000_s38915" r:id="rId4" imgW="3492500" imgH="609600" progId="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/>
          </p:cNvSpPr>
          <p:nvPr>
            <p:ph type="title" idx="4294967295"/>
          </p:nvPr>
        </p:nvSpPr>
        <p:spPr/>
        <p:txBody>
          <a:bodyPr anchor="ctr"/>
          <a:lstStyle/>
          <a:p>
            <a:pPr algn="just" eaLnBrk="1" hangingPunct="1"/>
            <a:r>
              <a:rPr lang="zh-CN" altLang="en-US" sz="3500" b="1" smtClean="0">
                <a:solidFill>
                  <a:schemeClr val="tx1"/>
                </a:solidFill>
                <a:ea typeface="幼圆" pitchFamily="49" charset="-122"/>
              </a:rPr>
              <a:t>第</a:t>
            </a:r>
            <a:r>
              <a:rPr lang="en-US" altLang="zh-CN" sz="3500" b="1" smtClean="0">
                <a:solidFill>
                  <a:schemeClr val="tx1"/>
                </a:solidFill>
                <a:ea typeface="幼圆" pitchFamily="49" charset="-122"/>
              </a:rPr>
              <a:t>4</a:t>
            </a:r>
            <a:r>
              <a:rPr lang="zh-CN" altLang="en-US" sz="3500" b="1" smtClean="0">
                <a:solidFill>
                  <a:schemeClr val="tx1"/>
                </a:solidFill>
                <a:ea typeface="幼圆" pitchFamily="49" charset="-122"/>
              </a:rPr>
              <a:t>章  组合逻辑电路</a:t>
            </a:r>
          </a:p>
        </p:txBody>
      </p:sp>
      <p:sp>
        <p:nvSpPr>
          <p:cNvPr id="8195" name="Rectangle 3"/>
          <p:cNvSpPr>
            <a:spLocks noGrp="1"/>
          </p:cNvSpPr>
          <p:nvPr>
            <p:ph type="body" idx="4294967295"/>
          </p:nvPr>
        </p:nvSpPr>
        <p:spPr>
          <a:xfrm>
            <a:off x="611188" y="1700213"/>
            <a:ext cx="8353425" cy="4772025"/>
          </a:xfrm>
        </p:spPr>
        <p:txBody>
          <a:bodyPr/>
          <a:lstStyle/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r>
              <a:rPr lang="zh-CN" altLang="en-US" sz="2800" b="1" dirty="0" smtClean="0">
                <a:latin typeface="+mn-ea"/>
              </a:rPr>
              <a:t>习题</a:t>
            </a:r>
            <a:r>
              <a:rPr lang="en-US" altLang="zh-CN" sz="2800" b="1" dirty="0" smtClean="0">
                <a:latin typeface="+mn-ea"/>
              </a:rPr>
              <a:t>4.13 </a:t>
            </a:r>
            <a:r>
              <a:rPr lang="zh-CN" altLang="zh-CN" sz="2800" b="1" dirty="0" smtClean="0"/>
              <a:t>试用与非门设计一个组合电路，输入是三位二进制数，输出是输入的平方。</a:t>
            </a:r>
            <a:endParaRPr lang="en-US" altLang="zh-CN" sz="2800" b="1" dirty="0" smtClean="0">
              <a:latin typeface="+mn-ea"/>
            </a:endParaRPr>
          </a:p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r>
              <a:rPr lang="zh-CN" altLang="en-US" sz="2800" b="1" dirty="0" smtClean="0">
                <a:latin typeface="+mn-ea"/>
              </a:rPr>
              <a:t>解：</a:t>
            </a:r>
            <a:r>
              <a:rPr lang="zh-CN" altLang="zh-CN" sz="2800" b="1" dirty="0" smtClean="0">
                <a:latin typeface="+mn-ea"/>
              </a:rPr>
              <a:t>设输入为</a:t>
            </a:r>
            <a:r>
              <a:rPr lang="en-US" altLang="zh-CN" sz="2800" b="1" dirty="0" smtClean="0">
                <a:latin typeface="+mn-ea"/>
              </a:rPr>
              <a:t>A, B, C </a:t>
            </a:r>
            <a:r>
              <a:rPr lang="zh-CN" altLang="zh-CN" sz="2800" b="1" dirty="0" smtClean="0">
                <a:latin typeface="+mn-ea"/>
              </a:rPr>
              <a:t>，输出为</a:t>
            </a:r>
            <a:r>
              <a:rPr lang="en-US" altLang="zh-CN" sz="2800" b="1" dirty="0" smtClean="0">
                <a:latin typeface="+mn-ea"/>
              </a:rPr>
              <a:t> F</a:t>
            </a:r>
            <a:r>
              <a:rPr lang="en-US" altLang="zh-CN" sz="2800" b="1" baseline="-25000" dirty="0" smtClean="0">
                <a:latin typeface="+mn-ea"/>
              </a:rPr>
              <a:t>1</a:t>
            </a:r>
            <a:r>
              <a:rPr lang="en-US" altLang="zh-CN" sz="2800" b="1" dirty="0" smtClean="0">
                <a:latin typeface="+mn-ea"/>
              </a:rPr>
              <a:t>, F</a:t>
            </a:r>
            <a:r>
              <a:rPr lang="en-US" altLang="zh-CN" sz="2800" b="1" baseline="-25000" dirty="0" smtClean="0">
                <a:latin typeface="+mn-ea"/>
              </a:rPr>
              <a:t>2</a:t>
            </a:r>
            <a:r>
              <a:rPr lang="en-US" altLang="zh-CN" sz="2800" b="1" dirty="0" smtClean="0">
                <a:latin typeface="+mn-ea"/>
              </a:rPr>
              <a:t>, F</a:t>
            </a:r>
            <a:r>
              <a:rPr lang="en-US" altLang="zh-CN" sz="2800" b="1" baseline="-25000" dirty="0" smtClean="0">
                <a:latin typeface="+mn-ea"/>
              </a:rPr>
              <a:t>3</a:t>
            </a:r>
            <a:r>
              <a:rPr lang="en-US" altLang="zh-CN" sz="2800" b="1" dirty="0" smtClean="0">
                <a:latin typeface="+mn-ea"/>
              </a:rPr>
              <a:t>, F</a:t>
            </a:r>
            <a:r>
              <a:rPr lang="en-US" altLang="zh-CN" sz="2800" b="1" baseline="-25000" dirty="0" smtClean="0">
                <a:latin typeface="+mn-ea"/>
              </a:rPr>
              <a:t>4</a:t>
            </a:r>
            <a:r>
              <a:rPr lang="en-US" altLang="zh-CN" sz="2800" b="1" dirty="0" smtClean="0">
                <a:latin typeface="+mn-ea"/>
              </a:rPr>
              <a:t>, F</a:t>
            </a:r>
            <a:r>
              <a:rPr lang="en-US" altLang="zh-CN" sz="2800" b="1" baseline="-25000" dirty="0" smtClean="0">
                <a:latin typeface="+mn-ea"/>
              </a:rPr>
              <a:t>5</a:t>
            </a:r>
            <a:r>
              <a:rPr lang="en-US" altLang="zh-CN" sz="2800" b="1" dirty="0" smtClean="0">
                <a:latin typeface="+mn-ea"/>
              </a:rPr>
              <a:t>, F</a:t>
            </a:r>
            <a:r>
              <a:rPr lang="en-US" altLang="zh-CN" sz="2800" b="1" baseline="-25000" dirty="0" smtClean="0">
                <a:latin typeface="+mn-ea"/>
              </a:rPr>
              <a:t>6</a:t>
            </a:r>
            <a:r>
              <a:rPr lang="zh-CN" altLang="zh-CN" sz="2800" b="1" dirty="0" smtClean="0">
                <a:latin typeface="+mn-ea"/>
              </a:rPr>
              <a:t>，则</a:t>
            </a:r>
            <a:r>
              <a:rPr lang="zh-CN" altLang="en-US" sz="2800" b="1" dirty="0" smtClean="0">
                <a:latin typeface="+mn-ea"/>
              </a:rPr>
              <a:t>有</a:t>
            </a:r>
            <a:endParaRPr lang="en-US" altLang="zh-CN" sz="2800" b="1" dirty="0" smtClean="0">
              <a:latin typeface="+mn-ea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700338" y="3644900"/>
          <a:ext cx="3672408" cy="2468880"/>
        </p:xfrm>
        <a:graphic>
          <a:graphicData uri="http://schemas.openxmlformats.org/drawingml/2006/table">
            <a:tbl>
              <a:tblPr/>
              <a:tblGrid>
                <a:gridCol w="1355740"/>
                <a:gridCol w="2316668"/>
              </a:tblGrid>
              <a:tr h="229116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A   B   C</a:t>
                      </a:r>
                      <a:endParaRPr lang="en-US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cs typeface="+mn-cs"/>
                        </a:rPr>
                        <a:t> F</a:t>
                      </a:r>
                      <a:r>
                        <a:rPr lang="en-US" altLang="zh-CN" sz="1800" b="1" baseline="-25000" dirty="0" smtClean="0">
                          <a:solidFill>
                            <a:schemeClr val="tx1"/>
                          </a:solidFill>
                          <a:latin typeface="+mn-ea"/>
                          <a:cs typeface="+mn-cs"/>
                        </a:rPr>
                        <a:t>1  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cs typeface="+mn-cs"/>
                        </a:rPr>
                        <a:t>F</a:t>
                      </a:r>
                      <a:r>
                        <a:rPr lang="en-US" altLang="zh-CN" sz="1800" b="1" baseline="-25000" dirty="0" smtClean="0">
                          <a:solidFill>
                            <a:schemeClr val="tx1"/>
                          </a:solidFill>
                          <a:latin typeface="+mn-ea"/>
                          <a:cs typeface="+mn-cs"/>
                        </a:rPr>
                        <a:t>2  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cs typeface="+mn-cs"/>
                        </a:rPr>
                        <a:t>F</a:t>
                      </a:r>
                      <a:r>
                        <a:rPr lang="en-US" altLang="zh-CN" sz="1800" b="1" baseline="-25000" dirty="0" smtClean="0">
                          <a:solidFill>
                            <a:schemeClr val="tx1"/>
                          </a:solidFill>
                          <a:latin typeface="+mn-ea"/>
                          <a:cs typeface="+mn-cs"/>
                        </a:rPr>
                        <a:t>3  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cs typeface="+mn-cs"/>
                        </a:rPr>
                        <a:t>F</a:t>
                      </a:r>
                      <a:r>
                        <a:rPr lang="en-US" altLang="zh-CN" sz="1800" b="1" baseline="-25000" dirty="0" smtClean="0">
                          <a:solidFill>
                            <a:schemeClr val="tx1"/>
                          </a:solidFill>
                          <a:latin typeface="+mn-ea"/>
                          <a:cs typeface="+mn-cs"/>
                        </a:rPr>
                        <a:t>4 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cs typeface="+mn-cs"/>
                        </a:rPr>
                        <a:t> F</a:t>
                      </a:r>
                      <a:r>
                        <a:rPr lang="en-US" altLang="zh-CN" sz="1800" b="1" baseline="-25000" dirty="0" smtClean="0">
                          <a:solidFill>
                            <a:schemeClr val="tx1"/>
                          </a:solidFill>
                          <a:latin typeface="+mn-ea"/>
                          <a:cs typeface="+mn-cs"/>
                        </a:rPr>
                        <a:t>5  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cs typeface="+mn-cs"/>
                        </a:rPr>
                        <a:t>F</a:t>
                      </a:r>
                      <a:r>
                        <a:rPr lang="en-US" altLang="zh-CN" sz="1800" b="1" baseline="-25000" dirty="0" smtClean="0">
                          <a:solidFill>
                            <a:schemeClr val="tx1"/>
                          </a:solidFill>
                          <a:latin typeface="+mn-ea"/>
                          <a:cs typeface="+mn-cs"/>
                        </a:rPr>
                        <a:t>6</a:t>
                      </a:r>
                      <a:endParaRPr lang="en-US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71084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 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0  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 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1  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0  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1 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1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 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1 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1 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1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1    1  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 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 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0  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 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 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0  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 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0  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 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  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1  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 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 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  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1  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 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1  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 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0  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 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1  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1  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 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1  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 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 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1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1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1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 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 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 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/>
          </p:cNvSpPr>
          <p:nvPr>
            <p:ph type="body" idx="4294967295"/>
          </p:nvPr>
        </p:nvSpPr>
        <p:spPr>
          <a:xfrm>
            <a:off x="611188" y="1700213"/>
            <a:ext cx="8353425" cy="4772025"/>
          </a:xfrm>
        </p:spPr>
        <p:txBody>
          <a:bodyPr/>
          <a:lstStyle/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r>
              <a:rPr lang="zh-CN" altLang="en-US" sz="2800" b="1" dirty="0" smtClean="0">
                <a:latin typeface="+mn-ea"/>
              </a:rPr>
              <a:t>习题</a:t>
            </a:r>
            <a:r>
              <a:rPr lang="en-US" altLang="zh-CN" sz="2800" b="1" dirty="0" smtClean="0">
                <a:latin typeface="+mn-ea"/>
              </a:rPr>
              <a:t>4.13 </a:t>
            </a:r>
            <a:r>
              <a:rPr lang="zh-CN" altLang="en-US" sz="2800" b="1" dirty="0" smtClean="0">
                <a:latin typeface="+mn-ea"/>
              </a:rPr>
              <a:t>解：</a:t>
            </a:r>
            <a:endParaRPr lang="en-US" altLang="zh-CN" sz="2800" b="1" dirty="0" smtClean="0">
              <a:latin typeface="+mn-ea"/>
            </a:endParaRPr>
          </a:p>
          <a:p>
            <a:pPr marL="432000" indent="-432000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800" b="1" dirty="0" smtClean="0">
                <a:latin typeface="+mn-ea"/>
              </a:rPr>
              <a:t>   </a:t>
            </a:r>
            <a:r>
              <a:rPr lang="zh-CN" altLang="en-US" sz="2800" b="1" dirty="0" smtClean="0">
                <a:latin typeface="+mn-ea"/>
              </a:rPr>
              <a:t>逻辑函数如右图所示</a:t>
            </a:r>
            <a:endParaRPr lang="en-US" altLang="zh-CN" sz="2800" b="1" dirty="0" smtClean="0">
              <a:latin typeface="+mn-ea"/>
            </a:endParaRPr>
          </a:p>
          <a:p>
            <a:pPr marL="432000" indent="-432000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800" b="1" dirty="0" smtClean="0">
                <a:latin typeface="+mn-ea"/>
              </a:rPr>
              <a:t>   </a:t>
            </a:r>
            <a:r>
              <a:rPr lang="zh-CN" altLang="en-US" sz="2800" b="1" dirty="0" smtClean="0">
                <a:latin typeface="+mn-ea"/>
              </a:rPr>
              <a:t>从而得到逻辑图如下：</a:t>
            </a:r>
            <a:endParaRPr lang="en-US" altLang="zh-CN" sz="2800" b="1" dirty="0" smtClean="0">
              <a:latin typeface="+mn-ea"/>
            </a:endParaRPr>
          </a:p>
        </p:txBody>
      </p:sp>
      <p:sp>
        <p:nvSpPr>
          <p:cNvPr id="1024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5616" y="3356992"/>
            <a:ext cx="598170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" name="Object 5"/>
          <p:cNvGraphicFramePr>
            <a:graphicFrameLocks noChangeAspect="1"/>
          </p:cNvGraphicFramePr>
          <p:nvPr/>
        </p:nvGraphicFramePr>
        <p:xfrm>
          <a:off x="4460186" y="0"/>
          <a:ext cx="4683814" cy="2304256"/>
        </p:xfrm>
        <a:graphic>
          <a:graphicData uri="http://schemas.openxmlformats.org/presentationml/2006/ole">
            <p:oleObj spid="_x0000_s10245" r:id="rId4" imgW="3949560" imgH="1942920" progId="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/>
          </p:cNvSpPr>
          <p:nvPr>
            <p:ph type="title" idx="4294967295"/>
          </p:nvPr>
        </p:nvSpPr>
        <p:spPr/>
        <p:txBody>
          <a:bodyPr anchor="ctr"/>
          <a:lstStyle/>
          <a:p>
            <a:pPr algn="just" eaLnBrk="1" hangingPunct="1"/>
            <a:r>
              <a:rPr lang="zh-CN" altLang="en-US" sz="3500" b="1" smtClean="0">
                <a:solidFill>
                  <a:schemeClr val="tx1"/>
                </a:solidFill>
                <a:ea typeface="幼圆" pitchFamily="49" charset="-122"/>
              </a:rPr>
              <a:t>第</a:t>
            </a:r>
            <a:r>
              <a:rPr lang="en-US" altLang="zh-CN" sz="3500" b="1" smtClean="0">
                <a:solidFill>
                  <a:schemeClr val="tx1"/>
                </a:solidFill>
                <a:ea typeface="幼圆" pitchFamily="49" charset="-122"/>
              </a:rPr>
              <a:t>4</a:t>
            </a:r>
            <a:r>
              <a:rPr lang="zh-CN" altLang="en-US" sz="3500" b="1" smtClean="0">
                <a:solidFill>
                  <a:schemeClr val="tx1"/>
                </a:solidFill>
                <a:ea typeface="幼圆" pitchFamily="49" charset="-122"/>
              </a:rPr>
              <a:t>章  组合逻辑电路</a:t>
            </a:r>
          </a:p>
        </p:txBody>
      </p:sp>
      <p:sp>
        <p:nvSpPr>
          <p:cNvPr id="8195" name="Rectangle 3"/>
          <p:cNvSpPr>
            <a:spLocks noGrp="1"/>
          </p:cNvSpPr>
          <p:nvPr>
            <p:ph type="body" idx="4294967295"/>
          </p:nvPr>
        </p:nvSpPr>
        <p:spPr>
          <a:xfrm>
            <a:off x="468313" y="1700213"/>
            <a:ext cx="5221287" cy="4772025"/>
          </a:xfrm>
        </p:spPr>
        <p:txBody>
          <a:bodyPr/>
          <a:lstStyle/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r>
              <a:rPr lang="zh-CN" altLang="en-US" sz="2800" b="1" dirty="0" smtClean="0">
                <a:latin typeface="+mn-ea"/>
              </a:rPr>
              <a:t>习题</a:t>
            </a:r>
            <a:r>
              <a:rPr lang="en-US" altLang="zh-CN" sz="2800" b="1" dirty="0" smtClean="0">
                <a:latin typeface="+mn-ea"/>
              </a:rPr>
              <a:t>4.18 </a:t>
            </a:r>
            <a:r>
              <a:rPr lang="zh-CN" altLang="zh-CN" sz="2800" b="1" dirty="0" smtClean="0"/>
              <a:t>某产品有</a:t>
            </a:r>
            <a:r>
              <a:rPr lang="en-US" altLang="zh-CN" sz="2800" b="1" i="1" dirty="0" smtClean="0"/>
              <a:t>A</a:t>
            </a:r>
            <a:r>
              <a:rPr lang="zh-CN" altLang="zh-CN" sz="2800" b="1" dirty="0" smtClean="0"/>
              <a:t>、</a:t>
            </a:r>
            <a:r>
              <a:rPr lang="en-US" altLang="zh-CN" sz="2800" b="1" i="1" dirty="0" smtClean="0"/>
              <a:t>B</a:t>
            </a:r>
            <a:r>
              <a:rPr lang="zh-CN" altLang="zh-CN" sz="2800" b="1" dirty="0" smtClean="0"/>
              <a:t>、</a:t>
            </a:r>
            <a:r>
              <a:rPr lang="en-US" altLang="zh-CN" sz="2800" b="1" i="1" dirty="0" smtClean="0"/>
              <a:t>C</a:t>
            </a:r>
            <a:r>
              <a:rPr lang="zh-CN" altLang="zh-CN" sz="2800" b="1" dirty="0" smtClean="0"/>
              <a:t>、</a:t>
            </a:r>
            <a:r>
              <a:rPr lang="en-US" altLang="zh-CN" sz="2800" b="1" i="1" dirty="0" smtClean="0"/>
              <a:t>D</a:t>
            </a:r>
            <a:r>
              <a:rPr lang="zh-CN" altLang="zh-CN" sz="2800" b="1" dirty="0" smtClean="0"/>
              <a:t>四项质量指标。规定：</a:t>
            </a:r>
            <a:r>
              <a:rPr lang="en-US" altLang="zh-CN" sz="2800" b="1" i="1" dirty="0" smtClean="0"/>
              <a:t>A</a:t>
            </a:r>
            <a:r>
              <a:rPr lang="zh-CN" altLang="zh-CN" sz="2800" b="1" dirty="0" smtClean="0"/>
              <a:t>必须满足要求，其它三项中只要有任意两项满足要求，产品算合格。试设计一个组合电路以实现上述功能。</a:t>
            </a:r>
            <a:endParaRPr lang="en-US" altLang="zh-CN" sz="2800" b="1" dirty="0" smtClean="0">
              <a:latin typeface="+mn-ea"/>
            </a:endParaRPr>
          </a:p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r>
              <a:rPr lang="zh-CN" altLang="en-US" sz="2800" b="1" dirty="0" smtClean="0">
                <a:latin typeface="+mn-ea"/>
              </a:rPr>
              <a:t>解：</a:t>
            </a:r>
            <a:r>
              <a:rPr lang="zh-CN" altLang="zh-CN" sz="2800" b="1" dirty="0" smtClean="0"/>
              <a:t>设</a:t>
            </a:r>
            <a:r>
              <a:rPr lang="en-US" altLang="zh-CN" sz="2800" b="1" i="1" dirty="0" smtClean="0"/>
              <a:t>A</a:t>
            </a:r>
            <a:r>
              <a:rPr lang="zh-CN" altLang="zh-CN" sz="2800" b="1" dirty="0" smtClean="0"/>
              <a:t>、</a:t>
            </a:r>
            <a:r>
              <a:rPr lang="en-US" altLang="zh-CN" sz="2800" b="1" i="1" dirty="0" smtClean="0"/>
              <a:t>B</a:t>
            </a:r>
            <a:r>
              <a:rPr lang="zh-CN" altLang="zh-CN" sz="2800" b="1" dirty="0" smtClean="0"/>
              <a:t>、</a:t>
            </a:r>
            <a:r>
              <a:rPr lang="en-US" altLang="zh-CN" sz="2800" b="1" i="1" dirty="0" smtClean="0"/>
              <a:t>C</a:t>
            </a:r>
            <a:r>
              <a:rPr lang="zh-CN" altLang="zh-CN" sz="2800" b="1" dirty="0" smtClean="0"/>
              <a:t>、</a:t>
            </a:r>
            <a:r>
              <a:rPr lang="en-US" altLang="zh-CN" sz="2800" b="1" i="1" dirty="0" smtClean="0"/>
              <a:t>D</a:t>
            </a:r>
            <a:r>
              <a:rPr lang="zh-CN" altLang="zh-CN" sz="2800" b="1" dirty="0" smtClean="0"/>
              <a:t>满足要求为</a:t>
            </a:r>
            <a:r>
              <a:rPr lang="en-US" altLang="zh-CN" sz="2800" b="1" dirty="0" smtClean="0"/>
              <a:t>1</a:t>
            </a:r>
            <a:r>
              <a:rPr lang="zh-CN" altLang="zh-CN" sz="2800" b="1" dirty="0" smtClean="0"/>
              <a:t>，产品合格</a:t>
            </a:r>
            <a:r>
              <a:rPr lang="en-US" altLang="zh-CN" sz="2800" b="1" i="1" dirty="0" smtClean="0"/>
              <a:t>F</a:t>
            </a:r>
            <a:r>
              <a:rPr lang="en-US" altLang="zh-CN" sz="2800" b="1" dirty="0" smtClean="0"/>
              <a:t> </a:t>
            </a:r>
            <a:r>
              <a:rPr lang="zh-CN" altLang="zh-CN" sz="2800" b="1" dirty="0" smtClean="0"/>
              <a:t>为</a:t>
            </a:r>
            <a:r>
              <a:rPr lang="en-US" altLang="zh-CN" sz="2800" b="1" dirty="0" smtClean="0"/>
              <a:t>1</a:t>
            </a:r>
            <a:r>
              <a:rPr lang="zh-CN" altLang="zh-CN" sz="2800" b="1" dirty="0" smtClean="0"/>
              <a:t>，则</a:t>
            </a:r>
            <a:r>
              <a:rPr lang="zh-CN" altLang="en-US" sz="2800" b="1" dirty="0" smtClean="0"/>
              <a:t>可得真值表如右图所示。</a:t>
            </a:r>
            <a:endParaRPr lang="en-US" altLang="zh-CN" sz="2800" b="1" dirty="0" smtClean="0">
              <a:latin typeface="+mn-ea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6227763" y="1628775"/>
          <a:ext cx="2232248" cy="4663440"/>
        </p:xfrm>
        <a:graphic>
          <a:graphicData uri="http://schemas.openxmlformats.org/drawingml/2006/table">
            <a:tbl>
              <a:tblPr/>
              <a:tblGrid>
                <a:gridCol w="1512168"/>
                <a:gridCol w="720080"/>
              </a:tblGrid>
              <a:tr h="134764">
                <a:tc>
                  <a:txBody>
                    <a:bodyPr/>
                    <a:lstStyle/>
                    <a:p>
                      <a:pPr indent="0" algn="l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  A  B  C D</a:t>
                      </a:r>
                      <a:endParaRPr lang="en-US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9875" algn="l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F</a:t>
                      </a:r>
                      <a:endParaRPr lang="en-US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0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0  0  0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0  0  0  1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0  0  1  0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0  0  1  1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0  1  0  0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0  1  0  1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0  1  1  0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0  1  1  1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1  0  0  0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1  0  0  1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1  0  1  0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1  0  1  1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1  1  0  0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1  1  0  1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1  1  1  0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1  1  1  1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/>
          </p:cNvSpPr>
          <p:nvPr>
            <p:ph type="title" idx="4294967295"/>
          </p:nvPr>
        </p:nvSpPr>
        <p:spPr/>
        <p:txBody>
          <a:bodyPr anchor="ctr"/>
          <a:lstStyle/>
          <a:p>
            <a:pPr algn="just" eaLnBrk="1" hangingPunct="1"/>
            <a:r>
              <a:rPr lang="zh-CN" altLang="en-US" sz="3500" b="1" smtClean="0">
                <a:solidFill>
                  <a:schemeClr val="tx1"/>
                </a:solidFill>
                <a:ea typeface="幼圆" pitchFamily="49" charset="-122"/>
              </a:rPr>
              <a:t>第</a:t>
            </a:r>
            <a:r>
              <a:rPr lang="en-US" altLang="zh-CN" sz="3500" b="1" smtClean="0">
                <a:solidFill>
                  <a:schemeClr val="tx1"/>
                </a:solidFill>
                <a:ea typeface="幼圆" pitchFamily="49" charset="-122"/>
              </a:rPr>
              <a:t>4</a:t>
            </a:r>
            <a:r>
              <a:rPr lang="zh-CN" altLang="en-US" sz="3500" b="1" smtClean="0">
                <a:solidFill>
                  <a:schemeClr val="tx1"/>
                </a:solidFill>
                <a:ea typeface="幼圆" pitchFamily="49" charset="-122"/>
              </a:rPr>
              <a:t>章  组合逻辑电路</a:t>
            </a:r>
          </a:p>
        </p:txBody>
      </p:sp>
      <p:sp>
        <p:nvSpPr>
          <p:cNvPr id="8195" name="Rectangle 3"/>
          <p:cNvSpPr>
            <a:spLocks noGrp="1"/>
          </p:cNvSpPr>
          <p:nvPr>
            <p:ph type="body" idx="4294967295"/>
          </p:nvPr>
        </p:nvSpPr>
        <p:spPr>
          <a:xfrm>
            <a:off x="611188" y="1700213"/>
            <a:ext cx="8137525" cy="4772025"/>
          </a:xfrm>
        </p:spPr>
        <p:txBody>
          <a:bodyPr/>
          <a:lstStyle/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r>
              <a:rPr lang="zh-CN" altLang="en-US" sz="2800" b="1" dirty="0" smtClean="0">
                <a:latin typeface="+mn-ea"/>
              </a:rPr>
              <a:t>习题</a:t>
            </a:r>
            <a:r>
              <a:rPr lang="en-US" altLang="zh-CN" sz="2800" b="1" dirty="0" smtClean="0">
                <a:latin typeface="+mn-ea"/>
              </a:rPr>
              <a:t>4.18 </a:t>
            </a:r>
            <a:r>
              <a:rPr lang="zh-CN" altLang="en-US" sz="2800" b="1" dirty="0" smtClean="0">
                <a:latin typeface="+mn-ea"/>
              </a:rPr>
              <a:t>解：</a:t>
            </a:r>
            <a:endParaRPr lang="en-US" altLang="zh-CN" sz="2800" b="1" dirty="0" smtClean="0">
              <a:latin typeface="+mn-ea"/>
            </a:endParaRPr>
          </a:p>
          <a:p>
            <a:pPr marL="432000" indent="-432000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800" b="1" dirty="0" smtClean="0">
                <a:latin typeface="+mn-ea"/>
              </a:rPr>
              <a:t>   </a:t>
            </a:r>
            <a:r>
              <a:rPr lang="zh-CN" altLang="en-US" sz="2800" b="1" dirty="0" smtClean="0">
                <a:latin typeface="+mn-ea"/>
              </a:rPr>
              <a:t>做卡诺图得到</a:t>
            </a:r>
            <a:endParaRPr lang="en-US" altLang="zh-CN" sz="2800" b="1" dirty="0" smtClean="0">
              <a:latin typeface="+mn-ea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5724525" y="549275"/>
          <a:ext cx="2885670" cy="2285957"/>
        </p:xfrm>
        <a:graphic>
          <a:graphicData uri="http://schemas.openxmlformats.org/drawingml/2006/table">
            <a:tbl>
              <a:tblPr/>
              <a:tblGrid>
                <a:gridCol w="221372"/>
                <a:gridCol w="740518"/>
                <a:gridCol w="480945"/>
                <a:gridCol w="480945"/>
                <a:gridCol w="480945"/>
                <a:gridCol w="480945"/>
              </a:tblGrid>
              <a:tr h="326753">
                <a:tc>
                  <a:txBody>
                    <a:bodyPr/>
                    <a:lstStyle/>
                    <a:p>
                      <a:pPr indent="0" algn="r">
                        <a:spcAft>
                          <a:spcPts val="0"/>
                        </a:spcAft>
                      </a:pP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F</a:t>
                      </a:r>
                      <a:endParaRPr lang="en-US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9875" algn="just">
                        <a:spcAft>
                          <a:spcPts val="0"/>
                        </a:spcAft>
                      </a:pPr>
                      <a:endParaRPr lang="en-US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9875" algn="just">
                        <a:spcAft>
                          <a:spcPts val="0"/>
                        </a:spcAft>
                      </a:pPr>
                      <a:endParaRPr lang="en-US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9875" algn="just">
                        <a:spcAft>
                          <a:spcPts val="0"/>
                        </a:spcAft>
                      </a:pPr>
                      <a:endParaRPr lang="en-US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9875" algn="just">
                        <a:spcAft>
                          <a:spcPts val="0"/>
                        </a:spcAft>
                      </a:pPr>
                      <a:endParaRPr lang="en-US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9875" algn="just">
                        <a:spcAft>
                          <a:spcPts val="0"/>
                        </a:spcAft>
                      </a:pPr>
                      <a:endParaRPr lang="en-US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3773">
                <a:tc>
                  <a:txBody>
                    <a:bodyPr/>
                    <a:lstStyle/>
                    <a:p>
                      <a:pPr indent="269875" algn="just">
                        <a:spcAft>
                          <a:spcPts val="0"/>
                        </a:spcAft>
                      </a:pPr>
                      <a:endParaRPr lang="en-US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en-US" sz="1800" b="1" kern="1050" dirty="0" smtClean="0">
                          <a:latin typeface="Times New Roman"/>
                          <a:ea typeface="宋体"/>
                          <a:cs typeface="Times New Roman"/>
                        </a:rPr>
                        <a:t>     AB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en-US" sz="1800" b="1" kern="1050" dirty="0">
                          <a:latin typeface="Times New Roman"/>
                          <a:ea typeface="宋体"/>
                          <a:cs typeface="Times New Roman"/>
                        </a:rPr>
                        <a:t>CD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00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01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11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 kern="1050">
                          <a:latin typeface="Times New Roman"/>
                          <a:ea typeface="宋体"/>
                          <a:cs typeface="Times New Roman"/>
                        </a:rPr>
                        <a:t>10</a:t>
                      </a:r>
                      <a:endParaRPr lang="zh-CN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641">
                <a:tc>
                  <a:txBody>
                    <a:bodyPr/>
                    <a:lstStyle/>
                    <a:p>
                      <a:pPr indent="269875" algn="just">
                        <a:spcAft>
                          <a:spcPts val="0"/>
                        </a:spcAft>
                      </a:pPr>
                      <a:endParaRPr lang="en-US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r">
                        <a:spcAft>
                          <a:spcPts val="0"/>
                        </a:spcAft>
                      </a:pPr>
                      <a:r>
                        <a:rPr lang="en-US" sz="1800" kern="1050">
                          <a:latin typeface="Times New Roman"/>
                          <a:ea typeface="宋体"/>
                          <a:cs typeface="Times New Roman"/>
                        </a:rPr>
                        <a:t>00</a:t>
                      </a:r>
                      <a:endParaRPr lang="zh-CN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endParaRPr lang="en-US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endParaRPr lang="en-US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endParaRPr lang="en-US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endParaRPr lang="en-US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641">
                <a:tc>
                  <a:txBody>
                    <a:bodyPr/>
                    <a:lstStyle/>
                    <a:p>
                      <a:pPr indent="269875" algn="just">
                        <a:spcAft>
                          <a:spcPts val="0"/>
                        </a:spcAft>
                      </a:pPr>
                      <a:endParaRPr lang="en-US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indent="0" algn="r">
                        <a:spcAft>
                          <a:spcPts val="0"/>
                        </a:spcAft>
                      </a:pPr>
                      <a:r>
                        <a:rPr lang="en-US" sz="1800" kern="1050">
                          <a:latin typeface="Times New Roman"/>
                          <a:ea typeface="宋体"/>
                          <a:cs typeface="Times New Roman"/>
                        </a:rPr>
                        <a:t>01</a:t>
                      </a:r>
                      <a:endParaRPr lang="zh-CN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endParaRPr lang="en-US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endParaRPr lang="en-US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 kern="105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endParaRPr lang="en-US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641">
                <a:tc>
                  <a:txBody>
                    <a:bodyPr/>
                    <a:lstStyle/>
                    <a:p>
                      <a:pPr indent="269875" algn="just">
                        <a:spcAft>
                          <a:spcPts val="0"/>
                        </a:spcAft>
                      </a:pPr>
                      <a:endParaRPr lang="en-US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indent="0" algn="r">
                        <a:spcAft>
                          <a:spcPts val="0"/>
                        </a:spcAft>
                      </a:pPr>
                      <a:r>
                        <a:rPr lang="en-US" sz="1800" kern="1050">
                          <a:latin typeface="Times New Roman"/>
                          <a:ea typeface="宋体"/>
                          <a:cs typeface="Times New Roman"/>
                        </a:rPr>
                        <a:t>11</a:t>
                      </a:r>
                      <a:endParaRPr lang="zh-CN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endParaRPr lang="en-US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endParaRPr lang="en-US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 kern="105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641">
                <a:tc>
                  <a:txBody>
                    <a:bodyPr/>
                    <a:lstStyle/>
                    <a:p>
                      <a:pPr indent="269875" algn="just">
                        <a:spcAft>
                          <a:spcPts val="0"/>
                        </a:spcAft>
                      </a:pPr>
                      <a:endParaRPr lang="en-US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r">
                        <a:spcAft>
                          <a:spcPts val="0"/>
                        </a:spcAft>
                      </a:pPr>
                      <a:r>
                        <a:rPr lang="en-US" sz="1800" kern="1050">
                          <a:latin typeface="Times New Roman"/>
                          <a:ea typeface="宋体"/>
                          <a:cs typeface="Times New Roman"/>
                        </a:rPr>
                        <a:t>10</a:t>
                      </a:r>
                      <a:endParaRPr lang="zh-CN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endParaRPr lang="en-US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endParaRPr lang="en-US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 kern="105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endParaRPr lang="en-US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333" name="AutoShape 7"/>
          <p:cNvSpPr>
            <a:spLocks noChangeArrowheads="1"/>
          </p:cNvSpPr>
          <p:nvPr/>
        </p:nvSpPr>
        <p:spPr bwMode="auto">
          <a:xfrm>
            <a:off x="7667625" y="1844675"/>
            <a:ext cx="433388" cy="648221"/>
          </a:xfrm>
          <a:prstGeom prst="roundRect">
            <a:avLst>
              <a:gd name="adj" fmla="val 16667"/>
            </a:avLst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334" name="AutoShape 7"/>
          <p:cNvSpPr>
            <a:spLocks noChangeArrowheads="1"/>
          </p:cNvSpPr>
          <p:nvPr/>
        </p:nvSpPr>
        <p:spPr bwMode="auto">
          <a:xfrm>
            <a:off x="7740351" y="2060575"/>
            <a:ext cx="288033" cy="792163"/>
          </a:xfrm>
          <a:prstGeom prst="roundRect">
            <a:avLst>
              <a:gd name="adj" fmla="val 16667"/>
            </a:avLst>
          </a:prstGeom>
          <a:solidFill>
            <a:srgbClr val="FFFFFF">
              <a:alpha val="0"/>
            </a:srgbClr>
          </a:solidFill>
          <a:ln w="28575">
            <a:solidFill>
              <a:srgbClr val="00B05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335" name="AutoShape 7"/>
          <p:cNvSpPr>
            <a:spLocks noChangeArrowheads="1"/>
          </p:cNvSpPr>
          <p:nvPr/>
        </p:nvSpPr>
        <p:spPr bwMode="auto">
          <a:xfrm>
            <a:off x="7596188" y="2133600"/>
            <a:ext cx="936625" cy="287338"/>
          </a:xfrm>
          <a:prstGeom prst="roundRect">
            <a:avLst>
              <a:gd name="adj" fmla="val 16667"/>
            </a:avLst>
          </a:prstGeom>
          <a:solidFill>
            <a:srgbClr val="FFFFFF">
              <a:alpha val="0"/>
            </a:srgbClr>
          </a:solidFill>
          <a:ln w="2857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336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1266" name="Object 2"/>
          <p:cNvGraphicFramePr>
            <a:graphicFrameLocks noChangeAspect="1"/>
          </p:cNvGraphicFramePr>
          <p:nvPr/>
        </p:nvGraphicFramePr>
        <p:xfrm>
          <a:off x="1042988" y="2852738"/>
          <a:ext cx="5154612" cy="504825"/>
        </p:xfrm>
        <a:graphic>
          <a:graphicData uri="http://schemas.openxmlformats.org/presentationml/2006/ole">
            <p:oleObj spid="_x0000_s11266" r:id="rId3" imgW="2730500" imgH="266700" progId="">
              <p:embed/>
            </p:oleObj>
          </a:graphicData>
        </a:graphic>
      </p:graphicFrame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35696" y="3501008"/>
            <a:ext cx="4220667" cy="2664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Rectangle 2"/>
          <p:cNvSpPr>
            <a:spLocks noGrp="1"/>
          </p:cNvSpPr>
          <p:nvPr>
            <p:ph type="title" idx="4294967295"/>
          </p:nvPr>
        </p:nvSpPr>
        <p:spPr/>
        <p:txBody>
          <a:bodyPr anchor="ctr"/>
          <a:lstStyle/>
          <a:p>
            <a:pPr algn="just" eaLnBrk="1" hangingPunct="1"/>
            <a:r>
              <a:rPr lang="zh-CN" altLang="en-US" sz="3500" b="1" smtClean="0">
                <a:solidFill>
                  <a:schemeClr val="tx1"/>
                </a:solidFill>
                <a:ea typeface="幼圆" pitchFamily="49" charset="-122"/>
              </a:rPr>
              <a:t>第</a:t>
            </a:r>
            <a:r>
              <a:rPr lang="en-US" altLang="zh-CN" sz="3500" b="1" smtClean="0">
                <a:solidFill>
                  <a:schemeClr val="tx1"/>
                </a:solidFill>
                <a:ea typeface="幼圆" pitchFamily="49" charset="-122"/>
              </a:rPr>
              <a:t>4</a:t>
            </a:r>
            <a:r>
              <a:rPr lang="zh-CN" altLang="en-US" sz="3500" b="1" smtClean="0">
                <a:solidFill>
                  <a:schemeClr val="tx1"/>
                </a:solidFill>
                <a:ea typeface="幼圆" pitchFamily="49" charset="-122"/>
              </a:rPr>
              <a:t>章  组合逻辑电路</a:t>
            </a:r>
          </a:p>
        </p:txBody>
      </p:sp>
      <p:sp>
        <p:nvSpPr>
          <p:cNvPr id="8195" name="Rectangle 3"/>
          <p:cNvSpPr>
            <a:spLocks noGrp="1"/>
          </p:cNvSpPr>
          <p:nvPr>
            <p:ph type="body" idx="4294967295"/>
          </p:nvPr>
        </p:nvSpPr>
        <p:spPr>
          <a:xfrm>
            <a:off x="611188" y="1700213"/>
            <a:ext cx="8353425" cy="4772025"/>
          </a:xfrm>
        </p:spPr>
        <p:txBody>
          <a:bodyPr/>
          <a:lstStyle/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r>
              <a:rPr lang="zh-CN" altLang="en-US" sz="2800" b="1" dirty="0" smtClean="0">
                <a:latin typeface="+mn-ea"/>
              </a:rPr>
              <a:t>习题</a:t>
            </a:r>
            <a:r>
              <a:rPr lang="en-US" altLang="zh-CN" sz="2800" b="1" dirty="0" smtClean="0">
                <a:latin typeface="+mn-ea"/>
              </a:rPr>
              <a:t>4.27 </a:t>
            </a:r>
            <a:r>
              <a:rPr lang="en-US" altLang="zh-CN" sz="2800" b="1" dirty="0" smtClean="0"/>
              <a:t>4</a:t>
            </a:r>
            <a:r>
              <a:rPr lang="zh-CN" altLang="zh-CN" sz="2800" b="1" dirty="0" smtClean="0"/>
              <a:t>线</a:t>
            </a:r>
            <a:r>
              <a:rPr lang="en-US" altLang="zh-CN" sz="2800" b="1" dirty="0" smtClean="0"/>
              <a:t>-16</a:t>
            </a:r>
            <a:r>
              <a:rPr lang="zh-CN" altLang="zh-CN" sz="2800" b="1" dirty="0" smtClean="0"/>
              <a:t>线译码器</a:t>
            </a:r>
            <a:r>
              <a:rPr lang="en-US" altLang="zh-CN" sz="2800" b="1" dirty="0" smtClean="0"/>
              <a:t>74154</a:t>
            </a:r>
            <a:r>
              <a:rPr lang="zh-CN" altLang="zh-CN" sz="2800" b="1" dirty="0" smtClean="0"/>
              <a:t>接成题图</a:t>
            </a:r>
            <a:r>
              <a:rPr lang="en-US" altLang="zh-CN" sz="2800" b="1" dirty="0" smtClean="0"/>
              <a:t>4.27</a:t>
            </a:r>
            <a:r>
              <a:rPr lang="zh-CN" altLang="zh-CN" sz="2800" b="1" dirty="0" smtClean="0"/>
              <a:t>所示电路，图中</a:t>
            </a:r>
            <a:r>
              <a:rPr lang="en-US" altLang="zh-CN" sz="2800" b="1" dirty="0" smtClean="0"/>
              <a:t>       </a:t>
            </a:r>
            <a:r>
              <a:rPr lang="zh-CN" altLang="zh-CN" sz="2800" b="1" dirty="0" smtClean="0"/>
              <a:t>为使能端，工作时为</a:t>
            </a:r>
            <a:r>
              <a:rPr lang="en-US" altLang="zh-CN" sz="2800" b="1" dirty="0" smtClean="0"/>
              <a:t>0</a:t>
            </a:r>
            <a:r>
              <a:rPr lang="zh-CN" altLang="zh-CN" sz="2800" b="1" dirty="0" smtClean="0"/>
              <a:t>。写出函数</a:t>
            </a:r>
            <a:r>
              <a:rPr lang="en-US" altLang="zh-CN" sz="2800" b="1" dirty="0" smtClean="0"/>
              <a:t>              </a:t>
            </a:r>
            <a:r>
              <a:rPr lang="zh-CN" altLang="zh-CN" sz="2800" b="1" dirty="0" smtClean="0"/>
              <a:t>、</a:t>
            </a:r>
            <a:r>
              <a:rPr lang="en-US" altLang="zh-CN" sz="2800" b="1" dirty="0" smtClean="0"/>
              <a:t>              </a:t>
            </a:r>
            <a:r>
              <a:rPr lang="zh-CN" altLang="zh-CN" sz="2800" b="1" dirty="0" smtClean="0"/>
              <a:t>的最简表达式。</a:t>
            </a:r>
            <a:endParaRPr lang="en-US" altLang="zh-CN" sz="2800" b="1" dirty="0" smtClean="0">
              <a:latin typeface="+mn-ea"/>
            </a:endParaRPr>
          </a:p>
        </p:txBody>
      </p:sp>
      <p:sp>
        <p:nvSpPr>
          <p:cNvPr id="1229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2290" name="Object 1"/>
          <p:cNvGraphicFramePr>
            <a:graphicFrameLocks noChangeAspect="1"/>
          </p:cNvGraphicFramePr>
          <p:nvPr/>
        </p:nvGraphicFramePr>
        <p:xfrm>
          <a:off x="4572000" y="2205038"/>
          <a:ext cx="833438" cy="431800"/>
        </p:xfrm>
        <a:graphic>
          <a:graphicData uri="http://schemas.openxmlformats.org/presentationml/2006/ole">
            <p:oleObj spid="_x0000_s12290" r:id="rId3" imgW="444307" imgH="228501" progId="">
              <p:embed/>
            </p:oleObj>
          </a:graphicData>
        </a:graphic>
      </p:graphicFrame>
      <p:sp>
        <p:nvSpPr>
          <p:cNvPr id="1229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2291" name="Object 3"/>
          <p:cNvGraphicFramePr>
            <a:graphicFrameLocks noChangeAspect="1"/>
          </p:cNvGraphicFramePr>
          <p:nvPr/>
        </p:nvGraphicFramePr>
        <p:xfrm>
          <a:off x="2627313" y="2636838"/>
          <a:ext cx="1628775" cy="431800"/>
        </p:xfrm>
        <a:graphic>
          <a:graphicData uri="http://schemas.openxmlformats.org/presentationml/2006/ole">
            <p:oleObj spid="_x0000_s12291" r:id="rId4" imgW="774364" imgH="203112" progId="">
              <p:embed/>
            </p:oleObj>
          </a:graphicData>
        </a:graphic>
      </p:graphicFrame>
      <p:sp>
        <p:nvSpPr>
          <p:cNvPr id="12297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2292" name="Object 5"/>
          <p:cNvGraphicFramePr>
            <a:graphicFrameLocks noChangeAspect="1"/>
          </p:cNvGraphicFramePr>
          <p:nvPr/>
        </p:nvGraphicFramePr>
        <p:xfrm>
          <a:off x="4643438" y="2636838"/>
          <a:ext cx="1643062" cy="431800"/>
        </p:xfrm>
        <a:graphic>
          <a:graphicData uri="http://schemas.openxmlformats.org/presentationml/2006/ole">
            <p:oleObj spid="_x0000_s12292" r:id="rId5" imgW="787058" imgH="203112" progId="">
              <p:embed/>
            </p:oleObj>
          </a:graphicData>
        </a:graphic>
      </p:graphicFrame>
      <p:pic>
        <p:nvPicPr>
          <p:cNvPr id="12298" name="Picture 7" descr="T4t28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124075" y="3141663"/>
            <a:ext cx="3600450" cy="3535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56" name="Picture 14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4149080"/>
            <a:ext cx="31051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2"/>
          <p:cNvSpPr>
            <a:spLocks noGrp="1"/>
          </p:cNvSpPr>
          <p:nvPr>
            <p:ph type="title" idx="4294967295"/>
          </p:nvPr>
        </p:nvSpPr>
        <p:spPr/>
        <p:txBody>
          <a:bodyPr anchor="ctr"/>
          <a:lstStyle/>
          <a:p>
            <a:pPr algn="just" eaLnBrk="1" hangingPunct="1"/>
            <a:r>
              <a:rPr lang="zh-CN" altLang="en-US" sz="3500" b="1" smtClean="0">
                <a:solidFill>
                  <a:schemeClr val="tx1"/>
                </a:solidFill>
                <a:ea typeface="幼圆" pitchFamily="49" charset="-122"/>
              </a:rPr>
              <a:t>第</a:t>
            </a:r>
            <a:r>
              <a:rPr lang="en-US" altLang="zh-CN" sz="3500" b="1" smtClean="0">
                <a:solidFill>
                  <a:schemeClr val="tx1"/>
                </a:solidFill>
                <a:ea typeface="幼圆" pitchFamily="49" charset="-122"/>
              </a:rPr>
              <a:t>4</a:t>
            </a:r>
            <a:r>
              <a:rPr lang="zh-CN" altLang="en-US" sz="3500" b="1" smtClean="0">
                <a:solidFill>
                  <a:schemeClr val="tx1"/>
                </a:solidFill>
                <a:ea typeface="幼圆" pitchFamily="49" charset="-122"/>
              </a:rPr>
              <a:t>章  组合逻辑电路</a:t>
            </a:r>
          </a:p>
        </p:txBody>
      </p:sp>
      <p:sp>
        <p:nvSpPr>
          <p:cNvPr id="8195" name="Rectangle 3"/>
          <p:cNvSpPr>
            <a:spLocks noGrp="1"/>
          </p:cNvSpPr>
          <p:nvPr>
            <p:ph type="body" idx="4294967295"/>
          </p:nvPr>
        </p:nvSpPr>
        <p:spPr>
          <a:xfrm>
            <a:off x="611188" y="1700213"/>
            <a:ext cx="8353425" cy="4772025"/>
          </a:xfrm>
        </p:spPr>
        <p:txBody>
          <a:bodyPr/>
          <a:lstStyle/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r>
              <a:rPr lang="zh-CN" altLang="en-US" sz="2800" b="1" dirty="0" smtClean="0">
                <a:latin typeface="+mn-ea"/>
              </a:rPr>
              <a:t>习题</a:t>
            </a:r>
            <a:r>
              <a:rPr lang="en-US" altLang="zh-CN" sz="2800" b="1" dirty="0" smtClean="0">
                <a:latin typeface="+mn-ea"/>
              </a:rPr>
              <a:t>4.27 </a:t>
            </a:r>
            <a:r>
              <a:rPr lang="zh-CN" altLang="en-US" sz="2800" b="1" dirty="0" smtClean="0">
                <a:latin typeface="+mn-ea"/>
              </a:rPr>
              <a:t>解：</a:t>
            </a:r>
            <a:endParaRPr lang="en-US" altLang="zh-CN" sz="2800" b="1" dirty="0" smtClean="0">
              <a:latin typeface="+mn-ea"/>
            </a:endParaRPr>
          </a:p>
          <a:p>
            <a:pPr marL="432000" indent="-432000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800" b="1" dirty="0" smtClean="0"/>
              <a:t>    </a:t>
            </a:r>
            <a:r>
              <a:rPr lang="zh-CN" altLang="zh-CN" sz="2800" b="1" dirty="0" smtClean="0"/>
              <a:t>根据</a:t>
            </a:r>
            <a:r>
              <a:rPr lang="en-US" altLang="zh-CN" sz="2800" b="1" dirty="0" smtClean="0"/>
              <a:t>74154</a:t>
            </a:r>
            <a:r>
              <a:rPr lang="zh-CN" altLang="zh-CN" sz="2800" b="1" dirty="0" smtClean="0"/>
              <a:t>功能表，</a:t>
            </a:r>
            <a:r>
              <a:rPr lang="zh-CN" altLang="en-US" sz="2800" b="1" dirty="0" smtClean="0"/>
              <a:t>并做</a:t>
            </a:r>
            <a:endParaRPr lang="en-US" altLang="zh-CN" sz="2800" b="1" dirty="0" smtClean="0"/>
          </a:p>
          <a:p>
            <a:pPr marL="432000" indent="-432000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800" b="1" dirty="0" smtClean="0"/>
              <a:t>     </a:t>
            </a:r>
            <a:r>
              <a:rPr lang="zh-CN" altLang="en-US" sz="2800" b="1" dirty="0" smtClean="0"/>
              <a:t>卡诺图简化得</a:t>
            </a:r>
            <a:endParaRPr lang="zh-CN" altLang="zh-CN" sz="2800" b="1" dirty="0" smtClean="0"/>
          </a:p>
          <a:p>
            <a:pPr marL="432000" indent="-432000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endParaRPr lang="en-US" altLang="zh-CN" sz="2800" b="1" dirty="0" smtClean="0">
              <a:latin typeface="+mn-ea"/>
            </a:endParaRPr>
          </a:p>
        </p:txBody>
      </p:sp>
      <p:sp>
        <p:nvSpPr>
          <p:cNvPr id="1331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31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319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13320" name="Picture 7" descr="T4t2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00788" y="0"/>
            <a:ext cx="2843212" cy="2792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21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4859338" y="4149725"/>
          <a:ext cx="3384378" cy="2031365"/>
        </p:xfrm>
        <a:graphic>
          <a:graphicData uri="http://schemas.openxmlformats.org/drawingml/2006/table">
            <a:tbl>
              <a:tblPr/>
              <a:tblGrid>
                <a:gridCol w="432048"/>
                <a:gridCol w="696078"/>
                <a:gridCol w="564063"/>
                <a:gridCol w="564063"/>
                <a:gridCol w="564063"/>
                <a:gridCol w="564063"/>
              </a:tblGrid>
              <a:tr h="296545">
                <a:tc>
                  <a:txBody>
                    <a:bodyPr/>
                    <a:lstStyle/>
                    <a:p>
                      <a:pPr indent="0" algn="r">
                        <a:spcAft>
                          <a:spcPts val="0"/>
                        </a:spcAft>
                      </a:pP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F</a:t>
                      </a:r>
                      <a:r>
                        <a:rPr lang="en-US" sz="1800" kern="1050" baseline="-25000" dirty="0" smtClean="0">
                          <a:latin typeface="Times New Roman"/>
                          <a:ea typeface="宋体"/>
                          <a:cs typeface="Times New Roman"/>
                        </a:rPr>
                        <a:t>2</a:t>
                      </a:r>
                      <a:endParaRPr lang="en-US" sz="1800" kern="1050" baseline="-250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endParaRPr lang="en-US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9875" algn="just">
                        <a:spcAft>
                          <a:spcPts val="0"/>
                        </a:spcAft>
                      </a:pPr>
                      <a:endParaRPr lang="en-US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9875" algn="just">
                        <a:spcAft>
                          <a:spcPts val="0"/>
                        </a:spcAft>
                      </a:pPr>
                      <a:endParaRPr lang="en-US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9875" algn="just">
                        <a:spcAft>
                          <a:spcPts val="0"/>
                        </a:spcAft>
                      </a:pPr>
                      <a:endParaRPr lang="en-US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69875" algn="just">
                        <a:spcAft>
                          <a:spcPts val="0"/>
                        </a:spcAft>
                      </a:pPr>
                      <a:endParaRPr lang="en-US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6545">
                <a:tc>
                  <a:txBody>
                    <a:bodyPr/>
                    <a:lstStyle/>
                    <a:p>
                      <a:pPr indent="269875" algn="just">
                        <a:spcAft>
                          <a:spcPts val="0"/>
                        </a:spcAft>
                      </a:pPr>
                      <a:endParaRPr lang="en-US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en-US" sz="1800" b="1" kern="1050" dirty="0" smtClean="0">
                          <a:latin typeface="Times New Roman"/>
                          <a:ea typeface="宋体"/>
                          <a:cs typeface="Times New Roman"/>
                        </a:rPr>
                        <a:t>    AB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en-US" sz="1800" b="1" kern="1050" dirty="0">
                          <a:latin typeface="Times New Roman"/>
                          <a:ea typeface="宋体"/>
                          <a:cs typeface="Times New Roman"/>
                        </a:rPr>
                        <a:t>CD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00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01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11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 kern="1050">
                          <a:latin typeface="Times New Roman"/>
                          <a:ea typeface="宋体"/>
                          <a:cs typeface="Times New Roman"/>
                        </a:rPr>
                        <a:t>10</a:t>
                      </a:r>
                      <a:endParaRPr lang="zh-CN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6545">
                <a:tc>
                  <a:txBody>
                    <a:bodyPr/>
                    <a:lstStyle/>
                    <a:p>
                      <a:pPr indent="269875" algn="just">
                        <a:spcAft>
                          <a:spcPts val="0"/>
                        </a:spcAft>
                      </a:pPr>
                      <a:endParaRPr lang="en-US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r">
                        <a:spcAft>
                          <a:spcPts val="0"/>
                        </a:spcAft>
                      </a:pPr>
                      <a:r>
                        <a:rPr lang="en-US" sz="1800" kern="1050">
                          <a:latin typeface="Times New Roman"/>
                          <a:ea typeface="宋体"/>
                          <a:cs typeface="Times New Roman"/>
                        </a:rPr>
                        <a:t>00</a:t>
                      </a:r>
                      <a:endParaRPr lang="zh-CN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endParaRPr lang="en-US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endParaRPr lang="en-US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endParaRPr lang="en-US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6545">
                <a:tc>
                  <a:txBody>
                    <a:bodyPr/>
                    <a:lstStyle/>
                    <a:p>
                      <a:pPr indent="269875" algn="just">
                        <a:spcAft>
                          <a:spcPts val="0"/>
                        </a:spcAft>
                      </a:pPr>
                      <a:endParaRPr lang="en-US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indent="0" algn="r">
                        <a:spcAft>
                          <a:spcPts val="0"/>
                        </a:spcAft>
                      </a:pPr>
                      <a:r>
                        <a:rPr lang="en-US" sz="1800" kern="1050">
                          <a:latin typeface="Times New Roman"/>
                          <a:ea typeface="宋体"/>
                          <a:cs typeface="Times New Roman"/>
                        </a:rPr>
                        <a:t>01</a:t>
                      </a:r>
                      <a:endParaRPr lang="zh-CN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endParaRPr lang="en-US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 kern="105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6545">
                <a:tc>
                  <a:txBody>
                    <a:bodyPr/>
                    <a:lstStyle/>
                    <a:p>
                      <a:pPr indent="269875" algn="just">
                        <a:spcAft>
                          <a:spcPts val="0"/>
                        </a:spcAft>
                      </a:pPr>
                      <a:endParaRPr lang="en-US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indent="0" algn="r">
                        <a:spcAft>
                          <a:spcPts val="0"/>
                        </a:spcAft>
                      </a:pPr>
                      <a:r>
                        <a:rPr lang="en-US" sz="1800" kern="1050">
                          <a:latin typeface="Times New Roman"/>
                          <a:ea typeface="宋体"/>
                          <a:cs typeface="Times New Roman"/>
                        </a:rPr>
                        <a:t>11</a:t>
                      </a:r>
                      <a:endParaRPr lang="zh-CN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endParaRPr lang="en-US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 kern="105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endParaRPr lang="en-US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6545">
                <a:tc>
                  <a:txBody>
                    <a:bodyPr/>
                    <a:lstStyle/>
                    <a:p>
                      <a:pPr indent="269875" algn="just">
                        <a:spcAft>
                          <a:spcPts val="0"/>
                        </a:spcAft>
                      </a:pPr>
                      <a:endParaRPr lang="en-US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r">
                        <a:spcAft>
                          <a:spcPts val="0"/>
                        </a:spcAft>
                      </a:pPr>
                      <a:r>
                        <a:rPr lang="en-US" sz="1800" kern="1050">
                          <a:latin typeface="Times New Roman"/>
                          <a:ea typeface="宋体"/>
                          <a:cs typeface="Times New Roman"/>
                        </a:rPr>
                        <a:t>10</a:t>
                      </a:r>
                      <a:endParaRPr lang="zh-CN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endParaRPr lang="en-US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endParaRPr lang="en-US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endParaRPr lang="en-US" sz="1800" kern="105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spcAft>
                          <a:spcPts val="0"/>
                        </a:spcAft>
                      </a:pPr>
                      <a:endParaRPr lang="en-US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450" name="AutoShape 7"/>
          <p:cNvSpPr>
            <a:spLocks noChangeArrowheads="1"/>
          </p:cNvSpPr>
          <p:nvPr/>
        </p:nvSpPr>
        <p:spPr bwMode="auto">
          <a:xfrm>
            <a:off x="2699792" y="5589240"/>
            <a:ext cx="935037" cy="288354"/>
          </a:xfrm>
          <a:prstGeom prst="roundRect">
            <a:avLst>
              <a:gd name="adj" fmla="val 16667"/>
            </a:avLst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51" name="AutoShape 7"/>
          <p:cNvSpPr>
            <a:spLocks noChangeArrowheads="1"/>
          </p:cNvSpPr>
          <p:nvPr/>
        </p:nvSpPr>
        <p:spPr bwMode="auto">
          <a:xfrm>
            <a:off x="3203575" y="5300663"/>
            <a:ext cx="936625" cy="288925"/>
          </a:xfrm>
          <a:prstGeom prst="roundRect">
            <a:avLst>
              <a:gd name="adj" fmla="val 16667"/>
            </a:avLst>
          </a:prstGeom>
          <a:solidFill>
            <a:srgbClr val="FFFFFF">
              <a:alpha val="0"/>
            </a:srgbClr>
          </a:solidFill>
          <a:ln w="2857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52" name="AutoShape 7"/>
          <p:cNvSpPr>
            <a:spLocks noChangeArrowheads="1"/>
          </p:cNvSpPr>
          <p:nvPr/>
        </p:nvSpPr>
        <p:spPr bwMode="auto">
          <a:xfrm>
            <a:off x="6659563" y="5300663"/>
            <a:ext cx="936625" cy="576262"/>
          </a:xfrm>
          <a:prstGeom prst="roundRect">
            <a:avLst>
              <a:gd name="adj" fmla="val 16667"/>
            </a:avLst>
          </a:prstGeom>
          <a:solidFill>
            <a:srgbClr val="FFFFFF">
              <a:alpha val="0"/>
            </a:srgbClr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53" name="AutoShape 7"/>
          <p:cNvSpPr>
            <a:spLocks noChangeArrowheads="1"/>
          </p:cNvSpPr>
          <p:nvPr/>
        </p:nvSpPr>
        <p:spPr bwMode="auto">
          <a:xfrm>
            <a:off x="7740650" y="5013325"/>
            <a:ext cx="431800" cy="576263"/>
          </a:xfrm>
          <a:prstGeom prst="roundRect">
            <a:avLst>
              <a:gd name="adj" fmla="val 16667"/>
            </a:avLst>
          </a:prstGeom>
          <a:solidFill>
            <a:srgbClr val="FFFFFF">
              <a:alpha val="0"/>
            </a:srgbClr>
          </a:solidFill>
          <a:ln w="2857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AutoShape 7"/>
          <p:cNvSpPr>
            <a:spLocks noChangeArrowheads="1"/>
          </p:cNvSpPr>
          <p:nvPr/>
        </p:nvSpPr>
        <p:spPr bwMode="auto">
          <a:xfrm>
            <a:off x="2195736" y="5013176"/>
            <a:ext cx="936625" cy="288925"/>
          </a:xfrm>
          <a:prstGeom prst="roundRect">
            <a:avLst>
              <a:gd name="adj" fmla="val 16667"/>
            </a:avLst>
          </a:prstGeom>
          <a:solidFill>
            <a:srgbClr val="FFFFFF">
              <a:alpha val="0"/>
            </a:srgbClr>
          </a:solidFill>
          <a:ln w="28575">
            <a:solidFill>
              <a:srgbClr val="00B05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3458" name="Picture 14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87624" y="3140968"/>
            <a:ext cx="7581900" cy="107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2" name="Rectangle 2"/>
          <p:cNvSpPr>
            <a:spLocks noGrp="1"/>
          </p:cNvSpPr>
          <p:nvPr>
            <p:ph type="title" idx="4294967295"/>
          </p:nvPr>
        </p:nvSpPr>
        <p:spPr/>
        <p:txBody>
          <a:bodyPr anchor="ctr"/>
          <a:lstStyle/>
          <a:p>
            <a:pPr algn="just" eaLnBrk="1" hangingPunct="1"/>
            <a:r>
              <a:rPr lang="zh-CN" altLang="en-US" sz="3500" b="1" smtClean="0">
                <a:solidFill>
                  <a:schemeClr val="tx1"/>
                </a:solidFill>
                <a:ea typeface="幼圆" pitchFamily="49" charset="-122"/>
              </a:rPr>
              <a:t>第</a:t>
            </a:r>
            <a:r>
              <a:rPr lang="en-US" altLang="zh-CN" sz="3500" b="1" smtClean="0">
                <a:solidFill>
                  <a:schemeClr val="tx1"/>
                </a:solidFill>
                <a:ea typeface="幼圆" pitchFamily="49" charset="-122"/>
              </a:rPr>
              <a:t>4</a:t>
            </a:r>
            <a:r>
              <a:rPr lang="zh-CN" altLang="en-US" sz="3500" b="1" smtClean="0">
                <a:solidFill>
                  <a:schemeClr val="tx1"/>
                </a:solidFill>
                <a:ea typeface="幼圆" pitchFamily="49" charset="-122"/>
              </a:rPr>
              <a:t>章  组合逻辑电路</a:t>
            </a:r>
          </a:p>
        </p:txBody>
      </p:sp>
      <p:sp>
        <p:nvSpPr>
          <p:cNvPr id="8195" name="Rectangle 3"/>
          <p:cNvSpPr>
            <a:spLocks noGrp="1"/>
          </p:cNvSpPr>
          <p:nvPr>
            <p:ph type="body" idx="4294967295"/>
          </p:nvPr>
        </p:nvSpPr>
        <p:spPr>
          <a:xfrm>
            <a:off x="611188" y="1700213"/>
            <a:ext cx="8353425" cy="4772025"/>
          </a:xfrm>
        </p:spPr>
        <p:txBody>
          <a:bodyPr/>
          <a:lstStyle/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r>
              <a:rPr lang="zh-CN" altLang="en-US" sz="2800" b="1" dirty="0" smtClean="0">
                <a:latin typeface="+mn-ea"/>
              </a:rPr>
              <a:t>习题</a:t>
            </a:r>
            <a:r>
              <a:rPr lang="en-US" altLang="zh-CN" sz="2800" b="1" dirty="0" smtClean="0">
                <a:latin typeface="+mn-ea"/>
              </a:rPr>
              <a:t>4.29 </a:t>
            </a:r>
            <a:r>
              <a:rPr lang="zh-CN" altLang="zh-CN" sz="2800" b="1" dirty="0" smtClean="0"/>
              <a:t>用八选一数据选择器</a:t>
            </a:r>
            <a:r>
              <a:rPr lang="en-US" altLang="zh-CN" sz="2800" b="1" dirty="0" smtClean="0"/>
              <a:t>74151</a:t>
            </a:r>
            <a:r>
              <a:rPr lang="zh-CN" altLang="zh-CN" sz="2800" b="1" dirty="0" smtClean="0"/>
              <a:t>实现下列函数：</a:t>
            </a:r>
            <a:endParaRPr lang="en-US" altLang="zh-CN" sz="2800" b="1" dirty="0" smtClean="0"/>
          </a:p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endParaRPr lang="en-US" altLang="zh-CN" sz="2800" b="1" dirty="0" smtClean="0"/>
          </a:p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endParaRPr lang="zh-CN" altLang="zh-CN" sz="2800" b="1" dirty="0" smtClean="0"/>
          </a:p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endParaRPr lang="en-US" altLang="zh-CN" sz="2800" b="1" dirty="0" smtClean="0">
              <a:latin typeface="+mn-ea"/>
            </a:endParaRPr>
          </a:p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r>
              <a:rPr lang="zh-CN" altLang="en-US" sz="2800" b="1" dirty="0" smtClean="0">
                <a:latin typeface="+mn-ea"/>
              </a:rPr>
              <a:t>解：</a:t>
            </a:r>
            <a:r>
              <a:rPr lang="zh-CN" altLang="zh-CN" sz="2800" b="1" dirty="0" smtClean="0"/>
              <a:t>将以上各式化成最小项之和的形式，有</a:t>
            </a:r>
          </a:p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endParaRPr lang="en-US" altLang="zh-CN" sz="2800" b="1" dirty="0" smtClean="0">
              <a:latin typeface="+mn-ea"/>
            </a:endParaRPr>
          </a:p>
        </p:txBody>
      </p:sp>
      <p:graphicFrame>
        <p:nvGraphicFramePr>
          <p:cNvPr id="14338" name="Object 3"/>
          <p:cNvGraphicFramePr>
            <a:graphicFrameLocks noChangeAspect="1"/>
          </p:cNvGraphicFramePr>
          <p:nvPr/>
        </p:nvGraphicFramePr>
        <p:xfrm>
          <a:off x="2339975" y="2205038"/>
          <a:ext cx="3481388" cy="503237"/>
        </p:xfrm>
        <a:graphic>
          <a:graphicData uri="http://schemas.openxmlformats.org/presentationml/2006/ole">
            <p:oleObj spid="_x0000_s14338" r:id="rId3" imgW="1422400" imgH="203200" progId="">
              <p:embed/>
            </p:oleObj>
          </a:graphicData>
        </a:graphic>
      </p:graphicFrame>
      <p:graphicFrame>
        <p:nvGraphicFramePr>
          <p:cNvPr id="14339" name="Object 2"/>
          <p:cNvGraphicFramePr>
            <a:graphicFrameLocks noChangeAspect="1"/>
          </p:cNvGraphicFramePr>
          <p:nvPr/>
        </p:nvGraphicFramePr>
        <p:xfrm>
          <a:off x="2339975" y="2781300"/>
          <a:ext cx="2471738" cy="431800"/>
        </p:xfrm>
        <a:graphic>
          <a:graphicData uri="http://schemas.openxmlformats.org/presentationml/2006/ole">
            <p:oleObj spid="_x0000_s14339" r:id="rId4" imgW="1180588" imgH="203112" progId="">
              <p:embed/>
            </p:oleObj>
          </a:graphicData>
        </a:graphic>
      </p:graphicFrame>
      <p:graphicFrame>
        <p:nvGraphicFramePr>
          <p:cNvPr id="14340" name="Object 1"/>
          <p:cNvGraphicFramePr>
            <a:graphicFrameLocks noChangeAspect="1"/>
          </p:cNvGraphicFramePr>
          <p:nvPr/>
        </p:nvGraphicFramePr>
        <p:xfrm>
          <a:off x="2339975" y="3284538"/>
          <a:ext cx="3479800" cy="504825"/>
        </p:xfrm>
        <a:graphic>
          <a:graphicData uri="http://schemas.openxmlformats.org/presentationml/2006/ole">
            <p:oleObj spid="_x0000_s14340" r:id="rId5" imgW="1574800" imgH="228600" progId="">
              <p:embed/>
            </p:oleObj>
          </a:graphicData>
        </a:graphic>
      </p:graphicFrame>
      <p:sp>
        <p:nvSpPr>
          <p:cNvPr id="14344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345" name="Rectangle 5"/>
          <p:cNvSpPr>
            <a:spLocks noChangeArrowheads="1"/>
          </p:cNvSpPr>
          <p:nvPr/>
        </p:nvSpPr>
        <p:spPr bwMode="auto">
          <a:xfrm>
            <a:off x="0" y="66357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346" name="Rectangle 6"/>
          <p:cNvSpPr>
            <a:spLocks noChangeArrowheads="1"/>
          </p:cNvSpPr>
          <p:nvPr/>
        </p:nvSpPr>
        <p:spPr bwMode="auto">
          <a:xfrm>
            <a:off x="0" y="132715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347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4341" name="Object 7"/>
          <p:cNvGraphicFramePr>
            <a:graphicFrameLocks noChangeAspect="1"/>
          </p:cNvGraphicFramePr>
          <p:nvPr/>
        </p:nvGraphicFramePr>
        <p:xfrm>
          <a:off x="1403350" y="4437063"/>
          <a:ext cx="6929438" cy="1655762"/>
        </p:xfrm>
        <a:graphic>
          <a:graphicData uri="http://schemas.openxmlformats.org/presentationml/2006/ole">
            <p:oleObj spid="_x0000_s14341" r:id="rId6" imgW="3403600" imgH="812800" progId="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/>
          </p:cNvSpPr>
          <p:nvPr>
            <p:ph type="title" idx="4294967295"/>
          </p:nvPr>
        </p:nvSpPr>
        <p:spPr/>
        <p:txBody>
          <a:bodyPr anchor="ctr"/>
          <a:lstStyle/>
          <a:p>
            <a:pPr algn="just" eaLnBrk="1" hangingPunct="1"/>
            <a:r>
              <a:rPr lang="zh-CN" altLang="en-US" sz="3500" b="1" smtClean="0">
                <a:solidFill>
                  <a:schemeClr val="tx1"/>
                </a:solidFill>
                <a:ea typeface="幼圆" pitchFamily="49" charset="-122"/>
              </a:rPr>
              <a:t>第</a:t>
            </a:r>
            <a:r>
              <a:rPr lang="en-US" altLang="zh-CN" sz="3500" b="1" smtClean="0">
                <a:solidFill>
                  <a:schemeClr val="tx1"/>
                </a:solidFill>
                <a:ea typeface="幼圆" pitchFamily="49" charset="-122"/>
              </a:rPr>
              <a:t>4</a:t>
            </a:r>
            <a:r>
              <a:rPr lang="zh-CN" altLang="en-US" sz="3500" b="1" smtClean="0">
                <a:solidFill>
                  <a:schemeClr val="tx1"/>
                </a:solidFill>
                <a:ea typeface="幼圆" pitchFamily="49" charset="-122"/>
              </a:rPr>
              <a:t>章  组合逻辑电路</a:t>
            </a:r>
          </a:p>
        </p:txBody>
      </p:sp>
      <p:sp>
        <p:nvSpPr>
          <p:cNvPr id="8195" name="Rectangle 3"/>
          <p:cNvSpPr>
            <a:spLocks noGrp="1"/>
          </p:cNvSpPr>
          <p:nvPr>
            <p:ph type="body" idx="4294967295"/>
          </p:nvPr>
        </p:nvSpPr>
        <p:spPr>
          <a:xfrm>
            <a:off x="611188" y="1700213"/>
            <a:ext cx="8353425" cy="4772025"/>
          </a:xfrm>
        </p:spPr>
        <p:txBody>
          <a:bodyPr/>
          <a:lstStyle/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r>
              <a:rPr lang="zh-CN" altLang="en-US" sz="2800" b="1" dirty="0" smtClean="0">
                <a:latin typeface="+mn-ea"/>
              </a:rPr>
              <a:t>习题</a:t>
            </a:r>
            <a:r>
              <a:rPr lang="en-US" altLang="zh-CN" sz="2800" b="1" dirty="0" smtClean="0">
                <a:latin typeface="+mn-ea"/>
              </a:rPr>
              <a:t>4.29 </a:t>
            </a:r>
            <a:r>
              <a:rPr lang="zh-CN" altLang="en-US" sz="2800" b="1" dirty="0" smtClean="0">
                <a:latin typeface="+mn-ea"/>
              </a:rPr>
              <a:t>解：</a:t>
            </a:r>
            <a:endParaRPr lang="en-US" altLang="zh-CN" sz="2800" b="1" dirty="0" smtClean="0">
              <a:latin typeface="+mn-ea"/>
            </a:endParaRPr>
          </a:p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endParaRPr lang="en-US" altLang="zh-CN" sz="2800" b="1" dirty="0" smtClean="0">
              <a:latin typeface="+mn-ea"/>
            </a:endParaRPr>
          </a:p>
          <a:p>
            <a:pPr marL="432000" indent="-432000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zh-CN" sz="2800" b="1" dirty="0" smtClean="0">
                <a:latin typeface="+mn-ea"/>
              </a:rPr>
              <a:t>  </a:t>
            </a:r>
            <a:r>
              <a:rPr lang="zh-CN" altLang="en-US" sz="2800" b="1" dirty="0" smtClean="0">
                <a:latin typeface="+mn-ea"/>
              </a:rPr>
              <a:t>由此得逻辑电路图</a:t>
            </a:r>
            <a:endParaRPr lang="zh-CN" altLang="zh-CN" sz="2800" b="1" dirty="0" smtClean="0"/>
          </a:p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endParaRPr lang="en-US" altLang="zh-CN" sz="2800" b="1" dirty="0" smtClean="0">
              <a:latin typeface="+mn-ea"/>
            </a:endParaRPr>
          </a:p>
        </p:txBody>
      </p:sp>
      <p:sp>
        <p:nvSpPr>
          <p:cNvPr id="15365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366" name="Rectangle 5"/>
          <p:cNvSpPr>
            <a:spLocks noChangeArrowheads="1"/>
          </p:cNvSpPr>
          <p:nvPr/>
        </p:nvSpPr>
        <p:spPr bwMode="auto">
          <a:xfrm>
            <a:off x="0" y="66357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367" name="Rectangle 6"/>
          <p:cNvSpPr>
            <a:spLocks noChangeArrowheads="1"/>
          </p:cNvSpPr>
          <p:nvPr/>
        </p:nvSpPr>
        <p:spPr bwMode="auto">
          <a:xfrm>
            <a:off x="0" y="132715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368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5362" name="Object 5"/>
          <p:cNvGraphicFramePr>
            <a:graphicFrameLocks noChangeAspect="1"/>
          </p:cNvGraphicFramePr>
          <p:nvPr/>
        </p:nvGraphicFramePr>
        <p:xfrm>
          <a:off x="3419475" y="1268413"/>
          <a:ext cx="5724525" cy="1368425"/>
        </p:xfrm>
        <a:graphic>
          <a:graphicData uri="http://schemas.openxmlformats.org/presentationml/2006/ole">
            <p:oleObj spid="_x0000_s15362" r:id="rId3" imgW="3403600" imgH="812800" progId="">
              <p:embed/>
            </p:oleObj>
          </a:graphicData>
        </a:graphic>
      </p:graphicFrame>
      <p:pic>
        <p:nvPicPr>
          <p:cNvPr id="15370" name="Picture 10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75656" y="3212976"/>
            <a:ext cx="2128990" cy="3529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71" name="Picture 1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995936" y="3212976"/>
            <a:ext cx="2097289" cy="33588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72" name="Picture 1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543284" y="3212976"/>
            <a:ext cx="2095144" cy="3356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1" name="Rectangle 2"/>
          <p:cNvSpPr>
            <a:spLocks noGrp="1"/>
          </p:cNvSpPr>
          <p:nvPr>
            <p:ph type="title" idx="4294967295"/>
          </p:nvPr>
        </p:nvSpPr>
        <p:spPr/>
        <p:txBody>
          <a:bodyPr anchor="ctr"/>
          <a:lstStyle/>
          <a:p>
            <a:pPr algn="just" eaLnBrk="1" hangingPunct="1"/>
            <a:r>
              <a:rPr lang="zh-CN" altLang="en-US" sz="3500" b="1" smtClean="0">
                <a:solidFill>
                  <a:schemeClr val="tx1"/>
                </a:solidFill>
                <a:ea typeface="幼圆" pitchFamily="49" charset="-122"/>
              </a:rPr>
              <a:t>第</a:t>
            </a:r>
            <a:r>
              <a:rPr lang="en-US" altLang="zh-CN" sz="3500" b="1" smtClean="0">
                <a:solidFill>
                  <a:schemeClr val="tx1"/>
                </a:solidFill>
                <a:ea typeface="幼圆" pitchFamily="49" charset="-122"/>
              </a:rPr>
              <a:t>4</a:t>
            </a:r>
            <a:r>
              <a:rPr lang="zh-CN" altLang="en-US" sz="3500" b="1" smtClean="0">
                <a:solidFill>
                  <a:schemeClr val="tx1"/>
                </a:solidFill>
                <a:ea typeface="幼圆" pitchFamily="49" charset="-122"/>
              </a:rPr>
              <a:t>章  组合逻辑电路</a:t>
            </a:r>
          </a:p>
        </p:txBody>
      </p:sp>
      <p:sp>
        <p:nvSpPr>
          <p:cNvPr id="8195" name="Rectangle 3"/>
          <p:cNvSpPr>
            <a:spLocks noGrp="1"/>
          </p:cNvSpPr>
          <p:nvPr>
            <p:ph type="body" idx="4294967295"/>
          </p:nvPr>
        </p:nvSpPr>
        <p:spPr>
          <a:xfrm>
            <a:off x="611188" y="1700213"/>
            <a:ext cx="8353425" cy="4772025"/>
          </a:xfrm>
        </p:spPr>
        <p:txBody>
          <a:bodyPr/>
          <a:lstStyle/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r>
              <a:rPr lang="zh-CN" altLang="en-US" sz="2800" b="1" dirty="0" smtClean="0">
                <a:latin typeface="+mn-ea"/>
              </a:rPr>
              <a:t>习题</a:t>
            </a:r>
            <a:r>
              <a:rPr lang="en-US" altLang="zh-CN" sz="2800" b="1" dirty="0" smtClean="0">
                <a:latin typeface="+mn-ea"/>
              </a:rPr>
              <a:t>4.31 </a:t>
            </a:r>
            <a:r>
              <a:rPr lang="zh-CN" altLang="zh-CN" sz="2800" b="1" dirty="0" smtClean="0"/>
              <a:t>用三个半加器实现下列函数：</a:t>
            </a:r>
            <a:endParaRPr lang="en-US" altLang="zh-CN" sz="2800" b="1" dirty="0" smtClean="0"/>
          </a:p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endParaRPr lang="en-US" altLang="zh-CN" sz="2800" b="1" dirty="0" smtClean="0"/>
          </a:p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endParaRPr lang="en-US" altLang="zh-CN" sz="2800" b="1" dirty="0" smtClean="0">
              <a:latin typeface="+mn-ea"/>
            </a:endParaRPr>
          </a:p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endParaRPr lang="en-US" altLang="zh-CN" sz="2800" b="1" dirty="0" smtClean="0">
              <a:latin typeface="+mn-ea"/>
            </a:endParaRPr>
          </a:p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r>
              <a:rPr lang="zh-CN" altLang="en-US" sz="2800" b="1" dirty="0" smtClean="0">
                <a:latin typeface="+mn-ea"/>
              </a:rPr>
              <a:t>解：</a:t>
            </a:r>
            <a:r>
              <a:rPr lang="zh-CN" altLang="zh-CN" sz="2800" b="1" dirty="0" smtClean="0"/>
              <a:t>对以上各式依据半加器的函数功能进行转化，有</a:t>
            </a:r>
            <a:endParaRPr lang="en-US" altLang="zh-CN" sz="2800" b="1" dirty="0" smtClean="0">
              <a:latin typeface="+mn-ea"/>
            </a:endParaRPr>
          </a:p>
        </p:txBody>
      </p:sp>
      <p:graphicFrame>
        <p:nvGraphicFramePr>
          <p:cNvPr id="16386" name="Object 4"/>
          <p:cNvGraphicFramePr>
            <a:graphicFrameLocks noChangeAspect="1"/>
          </p:cNvGraphicFramePr>
          <p:nvPr/>
        </p:nvGraphicFramePr>
        <p:xfrm>
          <a:off x="1116013" y="2276475"/>
          <a:ext cx="2951162" cy="444500"/>
        </p:xfrm>
        <a:graphic>
          <a:graphicData uri="http://schemas.openxmlformats.org/presentationml/2006/ole">
            <p:oleObj spid="_x0000_s16386" r:id="rId3" imgW="1371600" imgH="203200" progId="">
              <p:embed/>
            </p:oleObj>
          </a:graphicData>
        </a:graphic>
      </p:graphicFrame>
      <p:graphicFrame>
        <p:nvGraphicFramePr>
          <p:cNvPr id="16387" name="Object 3"/>
          <p:cNvGraphicFramePr>
            <a:graphicFrameLocks noChangeAspect="1"/>
          </p:cNvGraphicFramePr>
          <p:nvPr/>
        </p:nvGraphicFramePr>
        <p:xfrm>
          <a:off x="5003800" y="2205038"/>
          <a:ext cx="3240088" cy="484187"/>
        </p:xfrm>
        <a:graphic>
          <a:graphicData uri="http://schemas.openxmlformats.org/presentationml/2006/ole">
            <p:oleObj spid="_x0000_s16387" r:id="rId4" imgW="1460500" imgH="228600" progId="">
              <p:embed/>
            </p:oleObj>
          </a:graphicData>
        </a:graphic>
      </p:graphicFrame>
      <p:graphicFrame>
        <p:nvGraphicFramePr>
          <p:cNvPr id="16388" name="Object 2"/>
          <p:cNvGraphicFramePr>
            <a:graphicFrameLocks noChangeAspect="1"/>
          </p:cNvGraphicFramePr>
          <p:nvPr/>
        </p:nvGraphicFramePr>
        <p:xfrm>
          <a:off x="1187450" y="2852738"/>
          <a:ext cx="3529013" cy="476250"/>
        </p:xfrm>
        <a:graphic>
          <a:graphicData uri="http://schemas.openxmlformats.org/presentationml/2006/ole">
            <p:oleObj spid="_x0000_s16388" r:id="rId5" imgW="1689100" imgH="228600" progId="">
              <p:embed/>
            </p:oleObj>
          </a:graphicData>
        </a:graphic>
      </p:graphicFrame>
      <p:graphicFrame>
        <p:nvGraphicFramePr>
          <p:cNvPr id="16389" name="Object 1"/>
          <p:cNvGraphicFramePr>
            <a:graphicFrameLocks noChangeAspect="1"/>
          </p:cNvGraphicFramePr>
          <p:nvPr/>
        </p:nvGraphicFramePr>
        <p:xfrm>
          <a:off x="5003800" y="2781300"/>
          <a:ext cx="2266950" cy="431800"/>
        </p:xfrm>
        <a:graphic>
          <a:graphicData uri="http://schemas.openxmlformats.org/presentationml/2006/ole">
            <p:oleObj spid="_x0000_s16389" r:id="rId6" imgW="1079032" imgH="203112" progId="">
              <p:embed/>
            </p:oleObj>
          </a:graphicData>
        </a:graphic>
      </p:graphicFrame>
      <p:sp>
        <p:nvSpPr>
          <p:cNvPr id="16393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6394" name="Rectangle 6"/>
          <p:cNvSpPr>
            <a:spLocks noChangeArrowheads="1"/>
          </p:cNvSpPr>
          <p:nvPr/>
        </p:nvSpPr>
        <p:spPr bwMode="auto">
          <a:xfrm>
            <a:off x="0" y="66357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6395" name="Rectangle 7"/>
          <p:cNvSpPr>
            <a:spLocks noChangeArrowheads="1"/>
          </p:cNvSpPr>
          <p:nvPr/>
        </p:nvSpPr>
        <p:spPr bwMode="auto">
          <a:xfrm>
            <a:off x="0" y="134937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6396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6390" name="Object 9"/>
          <p:cNvGraphicFramePr>
            <a:graphicFrameLocks noChangeAspect="1"/>
          </p:cNvGraphicFramePr>
          <p:nvPr/>
        </p:nvGraphicFramePr>
        <p:xfrm>
          <a:off x="1908175" y="4076700"/>
          <a:ext cx="4246563" cy="2089150"/>
        </p:xfrm>
        <a:graphic>
          <a:graphicData uri="http://schemas.openxmlformats.org/presentationml/2006/ole">
            <p:oleObj spid="_x0000_s16390" r:id="rId7" imgW="1905000" imgH="939800" progId="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/>
          </p:cNvSpPr>
          <p:nvPr>
            <p:ph type="title" idx="4294967295"/>
          </p:nvPr>
        </p:nvSpPr>
        <p:spPr/>
        <p:txBody>
          <a:bodyPr anchor="ctr"/>
          <a:lstStyle/>
          <a:p>
            <a:pPr algn="just" eaLnBrk="1" hangingPunct="1"/>
            <a:r>
              <a:rPr lang="zh-CN" altLang="en-US" sz="3500" b="1" smtClean="0">
                <a:solidFill>
                  <a:schemeClr val="tx1"/>
                </a:solidFill>
                <a:ea typeface="幼圆" pitchFamily="49" charset="-122"/>
              </a:rPr>
              <a:t>第</a:t>
            </a:r>
            <a:r>
              <a:rPr lang="en-US" altLang="zh-CN" sz="3500" b="1" smtClean="0">
                <a:solidFill>
                  <a:schemeClr val="tx1"/>
                </a:solidFill>
                <a:ea typeface="幼圆" pitchFamily="49" charset="-122"/>
              </a:rPr>
              <a:t>4</a:t>
            </a:r>
            <a:r>
              <a:rPr lang="zh-CN" altLang="en-US" sz="3500" b="1" smtClean="0">
                <a:solidFill>
                  <a:schemeClr val="tx1"/>
                </a:solidFill>
                <a:ea typeface="幼圆" pitchFamily="49" charset="-122"/>
              </a:rPr>
              <a:t>章  组合逻辑电路</a:t>
            </a:r>
          </a:p>
        </p:txBody>
      </p:sp>
      <p:sp>
        <p:nvSpPr>
          <p:cNvPr id="8195" name="Rectangle 3"/>
          <p:cNvSpPr>
            <a:spLocks noGrp="1"/>
          </p:cNvSpPr>
          <p:nvPr>
            <p:ph type="body" idx="4294967295"/>
          </p:nvPr>
        </p:nvSpPr>
        <p:spPr>
          <a:xfrm>
            <a:off x="539750" y="1700213"/>
            <a:ext cx="8353425" cy="4772025"/>
          </a:xfrm>
        </p:spPr>
        <p:txBody>
          <a:bodyPr/>
          <a:lstStyle/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r>
              <a:rPr lang="zh-CN" altLang="en-US" sz="2800" b="1" dirty="0" smtClean="0">
                <a:latin typeface="+mn-ea"/>
              </a:rPr>
              <a:t>习题</a:t>
            </a:r>
            <a:r>
              <a:rPr lang="en-US" altLang="zh-CN" sz="2800" b="1" dirty="0" smtClean="0">
                <a:latin typeface="+mn-ea"/>
              </a:rPr>
              <a:t>4.31 </a:t>
            </a:r>
            <a:r>
              <a:rPr lang="zh-CN" altLang="en-US" sz="2800" b="1" dirty="0" smtClean="0">
                <a:latin typeface="+mn-ea"/>
              </a:rPr>
              <a:t>解：</a:t>
            </a:r>
            <a:r>
              <a:rPr lang="zh-CN" altLang="en-US" sz="2800" b="1" dirty="0" smtClean="0"/>
              <a:t>逻辑电路图如下</a:t>
            </a:r>
            <a:endParaRPr lang="en-US" altLang="zh-CN" sz="2800" b="1" dirty="0" smtClean="0">
              <a:latin typeface="+mn-ea"/>
            </a:endParaRPr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414" name="Rectangle 6"/>
          <p:cNvSpPr>
            <a:spLocks noChangeArrowheads="1"/>
          </p:cNvSpPr>
          <p:nvPr/>
        </p:nvSpPr>
        <p:spPr bwMode="auto">
          <a:xfrm>
            <a:off x="0" y="66357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415" name="Rectangle 7"/>
          <p:cNvSpPr>
            <a:spLocks noChangeArrowheads="1"/>
          </p:cNvSpPr>
          <p:nvPr/>
        </p:nvSpPr>
        <p:spPr bwMode="auto">
          <a:xfrm>
            <a:off x="0" y="134937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416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7410" name="Object 6"/>
          <p:cNvGraphicFramePr>
            <a:graphicFrameLocks noChangeAspect="1"/>
          </p:cNvGraphicFramePr>
          <p:nvPr/>
        </p:nvGraphicFramePr>
        <p:xfrm>
          <a:off x="1403350" y="2349500"/>
          <a:ext cx="3462338" cy="1701800"/>
        </p:xfrm>
        <a:graphic>
          <a:graphicData uri="http://schemas.openxmlformats.org/presentationml/2006/ole">
            <p:oleObj spid="_x0000_s17410" r:id="rId3" imgW="1905000" imgH="939800" progId="">
              <p:embed/>
            </p:oleObj>
          </a:graphicData>
        </a:graphic>
      </p:graphicFrame>
      <p:pic>
        <p:nvPicPr>
          <p:cNvPr id="17417" name="Picture 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51050" y="4149725"/>
            <a:ext cx="5600700" cy="238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/>
          </p:cNvSpPr>
          <p:nvPr>
            <p:ph type="title" idx="4294967295"/>
          </p:nvPr>
        </p:nvSpPr>
        <p:spPr/>
        <p:txBody>
          <a:bodyPr anchor="ctr"/>
          <a:lstStyle/>
          <a:p>
            <a:pPr algn="just" eaLnBrk="1" hangingPunct="1"/>
            <a:r>
              <a:rPr lang="zh-CN" altLang="en-US" sz="3500" b="1" smtClean="0">
                <a:solidFill>
                  <a:schemeClr val="tx1"/>
                </a:solidFill>
                <a:ea typeface="幼圆" pitchFamily="49" charset="-122"/>
              </a:rPr>
              <a:t>第</a:t>
            </a:r>
            <a:r>
              <a:rPr lang="en-US" altLang="zh-CN" sz="3500" b="1" smtClean="0">
                <a:solidFill>
                  <a:schemeClr val="tx1"/>
                </a:solidFill>
                <a:ea typeface="幼圆" pitchFamily="49" charset="-122"/>
              </a:rPr>
              <a:t>4</a:t>
            </a:r>
            <a:r>
              <a:rPr lang="zh-CN" altLang="en-US" sz="3500" b="1" smtClean="0">
                <a:solidFill>
                  <a:schemeClr val="tx1"/>
                </a:solidFill>
                <a:ea typeface="幼圆" pitchFamily="49" charset="-122"/>
              </a:rPr>
              <a:t>章  组合逻辑电路</a:t>
            </a:r>
          </a:p>
        </p:txBody>
      </p:sp>
      <p:sp>
        <p:nvSpPr>
          <p:cNvPr id="8195" name="Rectangle 3"/>
          <p:cNvSpPr>
            <a:spLocks noGrp="1"/>
          </p:cNvSpPr>
          <p:nvPr>
            <p:ph type="body" idx="4294967295"/>
          </p:nvPr>
        </p:nvSpPr>
        <p:spPr>
          <a:xfrm>
            <a:off x="611188" y="1700213"/>
            <a:ext cx="8353425" cy="4772025"/>
          </a:xfrm>
        </p:spPr>
        <p:txBody>
          <a:bodyPr/>
          <a:lstStyle/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r>
              <a:rPr lang="zh-CN" altLang="en-US" sz="2800" b="1" dirty="0" smtClean="0">
                <a:latin typeface="+mn-ea"/>
              </a:rPr>
              <a:t>习题</a:t>
            </a:r>
            <a:r>
              <a:rPr lang="en-US" altLang="zh-CN" sz="2800" b="1" dirty="0" smtClean="0">
                <a:latin typeface="+mn-ea"/>
              </a:rPr>
              <a:t>4.35 </a:t>
            </a:r>
            <a:r>
              <a:rPr lang="zh-CN" altLang="zh-CN" sz="2800" b="1" dirty="0" smtClean="0"/>
              <a:t>用与非门设计一个七段显示译码器，要求显示“</a:t>
            </a:r>
            <a:r>
              <a:rPr lang="en-US" altLang="zh-CN" sz="2800" b="1" dirty="0" smtClean="0"/>
              <a:t>Y</a:t>
            </a:r>
            <a:r>
              <a:rPr lang="zh-CN" altLang="zh-CN" sz="2800" b="1" dirty="0" smtClean="0"/>
              <a:t>”、“</a:t>
            </a:r>
            <a:r>
              <a:rPr lang="en-US" altLang="zh-CN" sz="2800" b="1" dirty="0" smtClean="0"/>
              <a:t>E</a:t>
            </a:r>
            <a:r>
              <a:rPr lang="zh-CN" altLang="zh-CN" sz="2800" b="1" dirty="0" smtClean="0"/>
              <a:t>”、“</a:t>
            </a:r>
            <a:r>
              <a:rPr lang="en-US" altLang="zh-CN" sz="2800" b="1" dirty="0" smtClean="0"/>
              <a:t>S</a:t>
            </a:r>
            <a:r>
              <a:rPr lang="zh-CN" altLang="zh-CN" sz="2800" b="1" dirty="0" smtClean="0"/>
              <a:t>”三个符号。</a:t>
            </a:r>
            <a:endParaRPr lang="en-US" altLang="zh-CN" sz="2800" b="1" dirty="0" smtClean="0">
              <a:latin typeface="+mn-ea"/>
            </a:endParaRPr>
          </a:p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r>
              <a:rPr lang="zh-CN" altLang="en-US" sz="2800" b="1" dirty="0" smtClean="0">
                <a:latin typeface="+mn-ea"/>
              </a:rPr>
              <a:t>解：</a:t>
            </a:r>
            <a:r>
              <a:rPr lang="zh-CN" altLang="zh-CN" sz="2800" b="1" dirty="0" smtClean="0"/>
              <a:t>显示三个符号需要两位译码输入，七位输出，列出输入输出关系表</a:t>
            </a:r>
          </a:p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endParaRPr lang="en-US" altLang="zh-CN" sz="2800" b="1" dirty="0" smtClean="0">
              <a:latin typeface="+mn-ea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116013" y="3573463"/>
          <a:ext cx="4896544" cy="1371923"/>
        </p:xfrm>
        <a:graphic>
          <a:graphicData uri="http://schemas.openxmlformats.org/drawingml/2006/table">
            <a:tbl>
              <a:tblPr/>
              <a:tblGrid>
                <a:gridCol w="1221325"/>
                <a:gridCol w="2814670"/>
                <a:gridCol w="860549"/>
              </a:tblGrid>
              <a:tr h="274643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A</a:t>
                      </a:r>
                      <a:r>
                        <a:rPr lang="en-US" sz="1800" kern="1050" baseline="0" dirty="0" smtClean="0">
                          <a:latin typeface="Times New Roman"/>
                          <a:ea typeface="宋体"/>
                          <a:cs typeface="Times New Roman"/>
                        </a:rPr>
                        <a:t>    B</a:t>
                      </a:r>
                      <a:endParaRPr lang="en-US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a</a:t>
                      </a:r>
                      <a:r>
                        <a:rPr lang="en-US" sz="1800" kern="1050" baseline="0" dirty="0" smtClean="0">
                          <a:latin typeface="Times New Roman"/>
                          <a:ea typeface="宋体"/>
                          <a:cs typeface="Times New Roman"/>
                        </a:rPr>
                        <a:t>      b     c     d     e     f      g</a:t>
                      </a:r>
                      <a:endParaRPr lang="en-US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kern="1050" dirty="0">
                          <a:latin typeface="Times New Roman"/>
                          <a:ea typeface="宋体"/>
                          <a:cs typeface="Times New Roman"/>
                        </a:rPr>
                        <a:t>显示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  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0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 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1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1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 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1  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1 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1 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1 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1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 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 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1  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1 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1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1 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  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1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1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0 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1 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 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X     </a:t>
                      </a:r>
                      <a:r>
                        <a:rPr lang="en-US" sz="1800" kern="1050" dirty="0" err="1">
                          <a:latin typeface="Times New Roman"/>
                          <a:ea typeface="宋体"/>
                          <a:cs typeface="Times New Roman"/>
                        </a:rPr>
                        <a:t>X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  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</a:t>
                      </a:r>
                      <a:r>
                        <a:rPr lang="en-US" sz="1800" kern="1050" dirty="0" err="1">
                          <a:latin typeface="Times New Roman"/>
                          <a:ea typeface="宋体"/>
                          <a:cs typeface="Times New Roman"/>
                        </a:rPr>
                        <a:t>X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 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</a:t>
                      </a:r>
                      <a:r>
                        <a:rPr lang="en-US" sz="1800" kern="1050" dirty="0" err="1">
                          <a:latin typeface="Times New Roman"/>
                          <a:ea typeface="宋体"/>
                          <a:cs typeface="Times New Roman"/>
                        </a:rPr>
                        <a:t>X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 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</a:t>
                      </a:r>
                      <a:r>
                        <a:rPr lang="en-US" sz="1800" kern="1050" dirty="0" err="1">
                          <a:latin typeface="Times New Roman"/>
                          <a:ea typeface="宋体"/>
                          <a:cs typeface="Times New Roman"/>
                        </a:rPr>
                        <a:t>X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    </a:t>
                      </a:r>
                      <a:r>
                        <a:rPr lang="en-US" sz="1800" kern="1050" dirty="0" err="1">
                          <a:latin typeface="Times New Roman"/>
                          <a:ea typeface="宋体"/>
                          <a:cs typeface="Times New Roman"/>
                        </a:rPr>
                        <a:t>X</a:t>
                      </a: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  </a:t>
                      </a: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  </a:t>
                      </a:r>
                      <a:r>
                        <a:rPr lang="en-US" sz="1800" kern="1050" dirty="0" err="1">
                          <a:latin typeface="Times New Roman"/>
                          <a:ea typeface="宋体"/>
                          <a:cs typeface="Times New Roman"/>
                        </a:rPr>
                        <a:t>X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50" dirty="0" smtClean="0">
                          <a:latin typeface="Times New Roman"/>
                          <a:ea typeface="宋体"/>
                          <a:cs typeface="Times New Roman"/>
                        </a:rPr>
                        <a:t>y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E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S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1050" dirty="0">
                          <a:latin typeface="Times New Roman"/>
                          <a:ea typeface="宋体"/>
                          <a:cs typeface="Times New Roman"/>
                        </a:rPr>
                        <a:t>X</a:t>
                      </a:r>
                      <a:endParaRPr lang="zh-CN" sz="1800" kern="105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68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32588" y="3429000"/>
            <a:ext cx="1257300" cy="23241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</p:pic>
      <p:pic>
        <p:nvPicPr>
          <p:cNvPr id="36879" name="Picture 1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76375" y="5129213"/>
            <a:ext cx="887413" cy="172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80" name="Picture 1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132138" y="5157788"/>
            <a:ext cx="904875" cy="1700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81" name="Picture 1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86288" y="5157788"/>
            <a:ext cx="877887" cy="1700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/>
          </p:cNvSpPr>
          <p:nvPr>
            <p:ph type="title" idx="4294967295"/>
          </p:nvPr>
        </p:nvSpPr>
        <p:spPr/>
        <p:txBody>
          <a:bodyPr anchor="ctr"/>
          <a:lstStyle/>
          <a:p>
            <a:pPr algn="just" eaLnBrk="1" hangingPunct="1"/>
            <a:r>
              <a:rPr lang="zh-CN" altLang="en-US" sz="3500" b="1" smtClean="0">
                <a:solidFill>
                  <a:schemeClr val="tx1"/>
                </a:solidFill>
                <a:ea typeface="幼圆" pitchFamily="49" charset="-122"/>
              </a:rPr>
              <a:t>第</a:t>
            </a:r>
            <a:r>
              <a:rPr lang="en-US" altLang="zh-CN" sz="3500" b="1" smtClean="0">
                <a:solidFill>
                  <a:schemeClr val="tx1"/>
                </a:solidFill>
                <a:ea typeface="幼圆" pitchFamily="49" charset="-122"/>
              </a:rPr>
              <a:t>4</a:t>
            </a:r>
            <a:r>
              <a:rPr lang="zh-CN" altLang="en-US" sz="3500" b="1" smtClean="0">
                <a:solidFill>
                  <a:schemeClr val="tx1"/>
                </a:solidFill>
                <a:ea typeface="幼圆" pitchFamily="49" charset="-122"/>
              </a:rPr>
              <a:t>章  组合逻辑电路</a:t>
            </a:r>
          </a:p>
        </p:txBody>
      </p:sp>
      <p:sp>
        <p:nvSpPr>
          <p:cNvPr id="8195" name="Rectangle 3"/>
          <p:cNvSpPr>
            <a:spLocks noGrp="1"/>
          </p:cNvSpPr>
          <p:nvPr>
            <p:ph type="body" idx="4294967295"/>
          </p:nvPr>
        </p:nvSpPr>
        <p:spPr>
          <a:xfrm>
            <a:off x="611188" y="1700213"/>
            <a:ext cx="8353425" cy="4772025"/>
          </a:xfrm>
        </p:spPr>
        <p:txBody>
          <a:bodyPr/>
          <a:lstStyle/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r>
              <a:rPr lang="zh-CN" altLang="en-US" sz="2800" b="1" dirty="0" smtClean="0">
                <a:latin typeface="+mn-ea"/>
              </a:rPr>
              <a:t>习题</a:t>
            </a:r>
            <a:r>
              <a:rPr lang="en-US" altLang="zh-CN" sz="2800" b="1" dirty="0" smtClean="0">
                <a:latin typeface="+mn-ea"/>
              </a:rPr>
              <a:t>4.35 </a:t>
            </a:r>
            <a:r>
              <a:rPr lang="zh-CN" altLang="zh-CN" sz="2800" b="1" dirty="0" smtClean="0"/>
              <a:t>用与非门设计一个七段显示译码器，要求显示“</a:t>
            </a:r>
            <a:r>
              <a:rPr lang="en-US" altLang="zh-CN" sz="2800" b="1" dirty="0" smtClean="0"/>
              <a:t>Y</a:t>
            </a:r>
            <a:r>
              <a:rPr lang="zh-CN" altLang="zh-CN" sz="2800" b="1" dirty="0" smtClean="0"/>
              <a:t>”、“</a:t>
            </a:r>
            <a:r>
              <a:rPr lang="en-US" altLang="zh-CN" sz="2800" b="1" dirty="0" smtClean="0"/>
              <a:t>E</a:t>
            </a:r>
            <a:r>
              <a:rPr lang="zh-CN" altLang="zh-CN" sz="2800" b="1" dirty="0" smtClean="0"/>
              <a:t>”、“</a:t>
            </a:r>
            <a:r>
              <a:rPr lang="en-US" altLang="zh-CN" sz="2800" b="1" dirty="0" smtClean="0"/>
              <a:t>S</a:t>
            </a:r>
            <a:r>
              <a:rPr lang="zh-CN" altLang="zh-CN" sz="2800" b="1" dirty="0" smtClean="0"/>
              <a:t>”三个符号。</a:t>
            </a:r>
            <a:endParaRPr lang="en-US" altLang="zh-CN" sz="2800" b="1" dirty="0" smtClean="0">
              <a:latin typeface="+mn-ea"/>
            </a:endParaRPr>
          </a:p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r>
              <a:rPr lang="zh-CN" altLang="en-US" sz="2800" b="1" dirty="0" smtClean="0">
                <a:latin typeface="+mn-ea"/>
              </a:rPr>
              <a:t>解：借助</a:t>
            </a:r>
            <a:r>
              <a:rPr lang="zh-CN" altLang="zh-CN" sz="2800" b="1" dirty="0" smtClean="0"/>
              <a:t>卡诺图，可以得到以下方程：</a:t>
            </a:r>
          </a:p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endParaRPr lang="zh-CN" altLang="zh-CN" sz="2800" b="1" dirty="0" smtClean="0"/>
          </a:p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endParaRPr lang="en-US" altLang="zh-CN" sz="2800" b="1" dirty="0" smtClean="0">
              <a:latin typeface="+mn-ea"/>
            </a:endParaRPr>
          </a:p>
        </p:txBody>
      </p:sp>
      <p:sp>
        <p:nvSpPr>
          <p:cNvPr id="1843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8434" name="Object 1"/>
          <p:cNvGraphicFramePr>
            <a:graphicFrameLocks noChangeAspect="1"/>
          </p:cNvGraphicFramePr>
          <p:nvPr/>
        </p:nvGraphicFramePr>
        <p:xfrm>
          <a:off x="2419350" y="3198813"/>
          <a:ext cx="1223963" cy="2714625"/>
        </p:xfrm>
        <a:graphic>
          <a:graphicData uri="http://schemas.openxmlformats.org/presentationml/2006/ole">
            <p:oleObj spid="_x0000_s18434" r:id="rId3" imgW="634680" imgH="1371600" progId="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/>
          </p:cNvSpPr>
          <p:nvPr>
            <p:ph type="title" idx="4294967295"/>
          </p:nvPr>
        </p:nvSpPr>
        <p:spPr/>
        <p:txBody>
          <a:bodyPr anchor="ctr"/>
          <a:lstStyle/>
          <a:p>
            <a:pPr algn="just" eaLnBrk="1" hangingPunct="1"/>
            <a:r>
              <a:rPr lang="zh-CN" altLang="en-US" sz="3500" b="1" smtClean="0">
                <a:solidFill>
                  <a:schemeClr val="tx1"/>
                </a:solidFill>
                <a:ea typeface="幼圆" pitchFamily="49" charset="-122"/>
              </a:rPr>
              <a:t>第</a:t>
            </a:r>
            <a:r>
              <a:rPr lang="en-US" altLang="zh-CN" sz="3500" b="1" smtClean="0">
                <a:solidFill>
                  <a:schemeClr val="tx1"/>
                </a:solidFill>
                <a:ea typeface="幼圆" pitchFamily="49" charset="-122"/>
              </a:rPr>
              <a:t>4</a:t>
            </a:r>
            <a:r>
              <a:rPr lang="zh-CN" altLang="en-US" sz="3500" b="1" smtClean="0">
                <a:solidFill>
                  <a:schemeClr val="tx1"/>
                </a:solidFill>
                <a:ea typeface="幼圆" pitchFamily="49" charset="-122"/>
              </a:rPr>
              <a:t>章  组合逻辑电路</a:t>
            </a:r>
          </a:p>
        </p:txBody>
      </p:sp>
      <p:sp>
        <p:nvSpPr>
          <p:cNvPr id="8195" name="Rectangle 3"/>
          <p:cNvSpPr>
            <a:spLocks noGrp="1"/>
          </p:cNvSpPr>
          <p:nvPr>
            <p:ph type="body" idx="4294967295"/>
          </p:nvPr>
        </p:nvSpPr>
        <p:spPr>
          <a:xfrm>
            <a:off x="611188" y="1700213"/>
            <a:ext cx="8353425" cy="4772025"/>
          </a:xfrm>
        </p:spPr>
        <p:txBody>
          <a:bodyPr/>
          <a:lstStyle/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r>
              <a:rPr lang="zh-CN" altLang="en-US" sz="2800" b="1" dirty="0" smtClean="0">
                <a:latin typeface="+mn-ea"/>
              </a:rPr>
              <a:t>习题</a:t>
            </a:r>
            <a:r>
              <a:rPr lang="en-US" altLang="zh-CN" sz="2800" b="1" dirty="0" smtClean="0">
                <a:latin typeface="+mn-ea"/>
              </a:rPr>
              <a:t>4.35 </a:t>
            </a:r>
            <a:r>
              <a:rPr lang="zh-CN" altLang="en-US" sz="2800" b="1" dirty="0" smtClean="0">
                <a:latin typeface="+mn-ea"/>
              </a:rPr>
              <a:t>解： 方法一，采用与非门实现。</a:t>
            </a:r>
            <a:endParaRPr lang="zh-CN" altLang="zh-CN" sz="2800" b="1" dirty="0" smtClean="0"/>
          </a:p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endParaRPr lang="zh-CN" altLang="zh-CN" sz="2800" b="1" dirty="0" smtClean="0"/>
          </a:p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endParaRPr lang="en-US" altLang="zh-CN" sz="2800" b="1" dirty="0" smtClean="0">
              <a:latin typeface="+mn-ea"/>
            </a:endParaRPr>
          </a:p>
        </p:txBody>
      </p:sp>
      <p:sp>
        <p:nvSpPr>
          <p:cNvPr id="1843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8434" name="Object 1"/>
          <p:cNvGraphicFramePr>
            <a:graphicFrameLocks noChangeAspect="1"/>
          </p:cNvGraphicFramePr>
          <p:nvPr/>
        </p:nvGraphicFramePr>
        <p:xfrm>
          <a:off x="1187624" y="2420888"/>
          <a:ext cx="2849223" cy="3157661"/>
        </p:xfrm>
        <a:graphic>
          <a:graphicData uri="http://schemas.openxmlformats.org/presentationml/2006/ole">
            <p:oleObj spid="_x0000_s53250" r:id="rId3" imgW="1371600" imgH="1473120" progId="">
              <p:embed/>
            </p:oleObj>
          </a:graphicData>
        </a:graphic>
      </p:graphicFrame>
      <p:pic>
        <p:nvPicPr>
          <p:cNvPr id="53254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83968" y="2348880"/>
            <a:ext cx="4056302" cy="3187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/>
          </p:cNvSpPr>
          <p:nvPr>
            <p:ph type="title" idx="4294967295"/>
          </p:nvPr>
        </p:nvSpPr>
        <p:spPr/>
        <p:txBody>
          <a:bodyPr anchor="ctr"/>
          <a:lstStyle/>
          <a:p>
            <a:pPr algn="just" eaLnBrk="1" hangingPunct="1"/>
            <a:r>
              <a:rPr lang="zh-CN" altLang="en-US" sz="3500" b="1" smtClean="0">
                <a:solidFill>
                  <a:schemeClr val="tx1"/>
                </a:solidFill>
                <a:ea typeface="幼圆" pitchFamily="49" charset="-122"/>
              </a:rPr>
              <a:t>第</a:t>
            </a:r>
            <a:r>
              <a:rPr lang="en-US" altLang="zh-CN" sz="3500" b="1" smtClean="0">
                <a:solidFill>
                  <a:schemeClr val="tx1"/>
                </a:solidFill>
                <a:ea typeface="幼圆" pitchFamily="49" charset="-122"/>
              </a:rPr>
              <a:t>4</a:t>
            </a:r>
            <a:r>
              <a:rPr lang="zh-CN" altLang="en-US" sz="3500" b="1" smtClean="0">
                <a:solidFill>
                  <a:schemeClr val="tx1"/>
                </a:solidFill>
                <a:ea typeface="幼圆" pitchFamily="49" charset="-122"/>
              </a:rPr>
              <a:t>章  组合逻辑电路</a:t>
            </a:r>
          </a:p>
        </p:txBody>
      </p:sp>
      <p:sp>
        <p:nvSpPr>
          <p:cNvPr id="8195" name="Rectangle 3"/>
          <p:cNvSpPr>
            <a:spLocks noGrp="1"/>
          </p:cNvSpPr>
          <p:nvPr>
            <p:ph type="body" idx="4294967295"/>
          </p:nvPr>
        </p:nvSpPr>
        <p:spPr>
          <a:xfrm>
            <a:off x="611188" y="1700213"/>
            <a:ext cx="8353425" cy="4772025"/>
          </a:xfrm>
        </p:spPr>
        <p:txBody>
          <a:bodyPr/>
          <a:lstStyle/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r>
              <a:rPr lang="zh-CN" altLang="en-US" sz="2800" b="1" dirty="0" smtClean="0">
                <a:latin typeface="+mn-ea"/>
              </a:rPr>
              <a:t>习题</a:t>
            </a:r>
            <a:r>
              <a:rPr lang="en-US" altLang="zh-CN" sz="2800" b="1" dirty="0" smtClean="0">
                <a:latin typeface="+mn-ea"/>
              </a:rPr>
              <a:t>4.35</a:t>
            </a:r>
            <a:r>
              <a:rPr lang="zh-CN" altLang="en-US" sz="2800" b="1" dirty="0" smtClean="0">
                <a:latin typeface="+mn-ea"/>
              </a:rPr>
              <a:t>解： 方法二，采用与或非门实现。</a:t>
            </a:r>
            <a:endParaRPr lang="zh-CN" altLang="zh-CN" sz="2800" b="1" dirty="0" smtClean="0"/>
          </a:p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endParaRPr lang="zh-CN" altLang="zh-CN" sz="2800" b="1" dirty="0" smtClean="0"/>
          </a:p>
          <a:p>
            <a:pPr marL="432000" indent="-432000" eaLnBrk="1" hangingPunct="1">
              <a:spcBef>
                <a:spcPts val="0"/>
              </a:spcBef>
              <a:buFont typeface="Wingdings" pitchFamily="2" charset="2"/>
              <a:buChar char="p"/>
              <a:defRPr/>
            </a:pPr>
            <a:endParaRPr lang="en-US" altLang="zh-CN" sz="2800" b="1" dirty="0" smtClean="0">
              <a:latin typeface="+mn-ea"/>
            </a:endParaRPr>
          </a:p>
        </p:txBody>
      </p:sp>
      <p:sp>
        <p:nvSpPr>
          <p:cNvPr id="1843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8434" name="Object 1"/>
          <p:cNvGraphicFramePr>
            <a:graphicFrameLocks noChangeAspect="1"/>
          </p:cNvGraphicFramePr>
          <p:nvPr/>
        </p:nvGraphicFramePr>
        <p:xfrm>
          <a:off x="971600" y="2492896"/>
          <a:ext cx="3123927" cy="3151882"/>
        </p:xfrm>
        <a:graphic>
          <a:graphicData uri="http://schemas.openxmlformats.org/presentationml/2006/ole">
            <p:oleObj spid="_x0000_s52226" r:id="rId3" imgW="1453320" imgH="1419120" progId="">
              <p:embed/>
            </p:oleObj>
          </a:graphicData>
        </a:graphic>
      </p:graphicFrame>
      <p:pic>
        <p:nvPicPr>
          <p:cNvPr id="522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355976" y="2924944"/>
            <a:ext cx="4657725" cy="278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erve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Ver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Verve</Template>
  <TotalTime>6890</TotalTime>
  <Words>1265</Words>
  <Application>Microsoft Office PowerPoint</Application>
  <PresentationFormat>全屏显示(4:3)</PresentationFormat>
  <Paragraphs>307</Paragraphs>
  <Slides>29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2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29</vt:i4>
      </vt:variant>
    </vt:vector>
  </HeadingPairs>
  <TitlesOfParts>
    <vt:vector size="31" baseType="lpstr">
      <vt:lpstr>Verve</vt:lpstr>
      <vt:lpstr>Profile</vt:lpstr>
      <vt:lpstr>《数字电路与数字系统》习题（第4章）</vt:lpstr>
      <vt:lpstr>第4章  组合逻辑电路</vt:lpstr>
      <vt:lpstr>第4章  组合逻辑电路</vt:lpstr>
      <vt:lpstr>第4章  组合逻辑电路</vt:lpstr>
      <vt:lpstr>第4章  组合逻辑电路</vt:lpstr>
      <vt:lpstr>第4章  组合逻辑电路</vt:lpstr>
      <vt:lpstr>第4章  组合逻辑电路</vt:lpstr>
      <vt:lpstr>第4章  组合逻辑电路</vt:lpstr>
      <vt:lpstr>第4章  组合逻辑电路</vt:lpstr>
      <vt:lpstr>第4章  组合逻辑电路</vt:lpstr>
      <vt:lpstr>第4章  组合逻辑电路</vt:lpstr>
      <vt:lpstr>第4章  组合逻辑电路</vt:lpstr>
      <vt:lpstr>第4章  组合逻辑电路</vt:lpstr>
      <vt:lpstr>第4章  组合逻辑电路</vt:lpstr>
      <vt:lpstr>第4章  组合逻辑电路</vt:lpstr>
      <vt:lpstr>第4章  组合逻辑电路</vt:lpstr>
      <vt:lpstr>幻灯片 17</vt:lpstr>
      <vt:lpstr>第4章  组合逻辑电路</vt:lpstr>
      <vt:lpstr>第4章  组合逻辑电路</vt:lpstr>
      <vt:lpstr>第4章  组合逻辑电路</vt:lpstr>
      <vt:lpstr>第4章  组合逻辑电路</vt:lpstr>
      <vt:lpstr>第4章  组合逻辑电路</vt:lpstr>
      <vt:lpstr>第4章  组合逻辑电路</vt:lpstr>
      <vt:lpstr>第4章  组合逻辑电路</vt:lpstr>
      <vt:lpstr>第4章  组合逻辑电路</vt:lpstr>
      <vt:lpstr>第4章  组合逻辑电路</vt:lpstr>
      <vt:lpstr>第4章  组合逻辑电路</vt:lpstr>
      <vt:lpstr>第4章  组合逻辑电路</vt:lpstr>
      <vt:lpstr>第4章  组合逻辑电路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C#程序设计基础</dc:title>
  <dc:creator>Admin</dc:creator>
  <cp:lastModifiedBy>Sky123.Org</cp:lastModifiedBy>
  <cp:revision>480</cp:revision>
  <dcterms:created xsi:type="dcterms:W3CDTF">2008-02-01T08:49:09Z</dcterms:created>
  <dcterms:modified xsi:type="dcterms:W3CDTF">2021-12-11T08:53:42Z</dcterms:modified>
</cp:coreProperties>
</file>