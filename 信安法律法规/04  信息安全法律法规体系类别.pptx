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
  </p:notesMasterIdLst>
  <p:sldIdLst>
    <p:sldId id="762" r:id="rId4"/>
    <p:sldId id="763" r:id="rId5"/>
    <p:sldId id="738" r:id="rId7"/>
    <p:sldId id="739" r:id="rId8"/>
    <p:sldId id="740" r:id="rId9"/>
    <p:sldId id="741" r:id="rId10"/>
    <p:sldId id="717" r:id="rId11"/>
    <p:sldId id="766" r:id="rId12"/>
    <p:sldId id="724" r:id="rId13"/>
    <p:sldId id="725" r:id="rId14"/>
    <p:sldId id="726" r:id="rId15"/>
    <p:sldId id="727" r:id="rId16"/>
    <p:sldId id="728" r:id="rId17"/>
    <p:sldId id="744" r:id="rId18"/>
    <p:sldId id="759" r:id="rId19"/>
    <p:sldId id="745" r:id="rId20"/>
    <p:sldId id="746" r:id="rId21"/>
    <p:sldId id="747" r:id="rId22"/>
    <p:sldId id="748" r:id="rId23"/>
    <p:sldId id="749" r:id="rId24"/>
    <p:sldId id="750" r:id="rId25"/>
    <p:sldId id="760" r:id="rId26"/>
    <p:sldId id="767" r:id="rId27"/>
    <p:sldId id="730" r:id="rId28"/>
    <p:sldId id="768" r:id="rId29"/>
    <p:sldId id="804" r:id="rId30"/>
    <p:sldId id="742" r:id="rId31"/>
    <p:sldId id="743" r:id="rId32"/>
    <p:sldId id="751" r:id="rId33"/>
    <p:sldId id="752" r:id="rId34"/>
    <p:sldId id="753" r:id="rId35"/>
    <p:sldId id="754" r:id="rId36"/>
    <p:sldId id="757" r:id="rId37"/>
    <p:sldId id="755" r:id="rId38"/>
    <p:sldId id="756" r:id="rId39"/>
    <p:sldId id="758" r:id="rId40"/>
    <p:sldId id="761" r:id="rId41"/>
    <p:sldId id="769" r:id="rId42"/>
    <p:sldId id="770" r:id="rId43"/>
    <p:sldId id="764" r:id="rId44"/>
    <p:sldId id="771" r:id="rId45"/>
    <p:sldId id="731" r:id="rId46"/>
    <p:sldId id="765" r:id="rId47"/>
  </p:sldIdLst>
  <p:sldSz cx="9144000" cy="6858000" type="screen4x3"/>
  <p:notesSz cx="6858000" cy="9144000"/>
  <p:custDataLst>
    <p:tags r:id="rId51"/>
  </p:custDataLst>
  <p:defaultTextStyle>
    <a:defPPr>
      <a:defRPr lang="en-US"/>
    </a:defPPr>
    <a:lvl1pPr marL="0" lvl="0"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3399"/>
    <a:srgbClr val="CC6600"/>
    <a:srgbClr val="FFFF66"/>
    <a:srgbClr val="FFFFCC"/>
    <a:srgbClr val="00CC99"/>
    <a:srgbClr val="97D7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697"/>
    <p:restoredTop sz="71781"/>
  </p:normalViewPr>
  <p:slideViewPr>
    <p:cSldViewPr showGuides="1">
      <p:cViewPr varScale="1">
        <p:scale>
          <a:sx n="70" d="100"/>
          <a:sy n="70" d="100"/>
        </p:scale>
        <p:origin x="1540" y="56"/>
      </p:cViewPr>
      <p:guideLst>
        <p:guide orient="horz" pos="2152"/>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198" cy="7619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1" Type="http://schemas.openxmlformats.org/officeDocument/2006/relationships/tags" Target="tags/tag1.xml"/><Relationship Id="rId50" Type="http://schemas.openxmlformats.org/officeDocument/2006/relationships/tableStyles" Target="tableStyles.xml"/><Relationship Id="rId5" Type="http://schemas.openxmlformats.org/officeDocument/2006/relationships/slide" Target="slides/slide2.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1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a:solidFill>
                  <a:schemeClr val="tx1"/>
                </a:solidFill>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p:cNvSpPr>
          <p:nvPr>
            <p:ph type="body" sz="quarter"/>
          </p:nvPr>
        </p:nvSpPr>
        <p:spPr>
          <a:xfrm>
            <a:off x="914400" y="4343400"/>
            <a:ext cx="5029200" cy="4114800"/>
          </a:xfrm>
          <a:prstGeom prst="rect">
            <a:avLst/>
          </a:prstGeom>
          <a:noFill/>
          <a:ln w="9525">
            <a:noFill/>
          </a:ln>
        </p:spPr>
        <p:txBody>
          <a:bodyPr vert="horz" wrap="square" lIns="91440" tIns="45720" rIns="91440" bIns="45720" anchor="t" anchorCtr="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602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2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hangingPunct="1">
              <a:buNone/>
            </a:pPr>
            <a:fld id="{9A0DB2DC-4C9A-4742-B13C-FB6460FD3503}" type="slidenum">
              <a:rPr lang="en-US" altLang="en-US" sz="1200" strike="noStrike" noProof="1" dirty="0">
                <a:solidFill>
                  <a:schemeClr val="tx1"/>
                </a:solidFill>
                <a:latin typeface="Arial" panose="020B0604020202020204" pitchFamily="34" charset="0"/>
                <a:ea typeface="宋体" panose="02010600030101010101" pitchFamily="2" charset="-122"/>
                <a:cs typeface="+mn-cs"/>
              </a:rPr>
            </a:fld>
            <a:endParaRPr lang="en-US" altLang="en-US" sz="1200" strike="noStrike" noProof="1">
              <a:solidFill>
                <a:schemeClr val="tx1"/>
              </a:solidFill>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noTextEdit="1"/>
          </p:cNvSpPr>
          <p:nvPr>
            <p:ph type="sldImg"/>
          </p:nvPr>
        </p:nvSpPr>
        <p:spPr/>
      </p:sp>
      <p:sp>
        <p:nvSpPr>
          <p:cNvPr id="6146" name="备注占位符 2"/>
          <p:cNvSpPr>
            <a:spLocks noGrp="1"/>
          </p:cNvSpPr>
          <p:nvPr>
            <p:ph type="body"/>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614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en-US" sz="1200" dirty="0">
                <a:solidFill>
                  <a:schemeClr val="tx1"/>
                </a:solidFill>
                <a:latin typeface="Arial" panose="020B0604020202020204" pitchFamily="34" charset="0"/>
              </a:rPr>
            </a:fld>
            <a:endParaRPr lang="en-US" altLang="en-US" sz="1200" dirty="0">
              <a:solidFill>
                <a:schemeClr val="tx1"/>
              </a:solidFill>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幻灯片图像占位符 1"/>
          <p:cNvSpPr>
            <a:spLocks noGrp="1" noRot="1" noChangeAspect="1" noTextEdit="1"/>
          </p:cNvSpPr>
          <p:nvPr>
            <p:ph type="sldImg"/>
          </p:nvPr>
        </p:nvSpPr>
        <p:spPr/>
      </p:sp>
      <p:sp>
        <p:nvSpPr>
          <p:cNvPr id="13314" name="备注占位符 2"/>
          <p:cNvSpPr>
            <a:spLocks noGrp="1"/>
          </p:cNvSpPr>
          <p:nvPr>
            <p:ph type="body"/>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1331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en-US" sz="1200" dirty="0">
                <a:solidFill>
                  <a:schemeClr val="tx1"/>
                </a:solidFill>
                <a:latin typeface="Arial" panose="020B0604020202020204" pitchFamily="34" charset="0"/>
              </a:rPr>
            </a:fld>
            <a:endParaRPr lang="en-US" altLang="en-US" sz="1200" dirty="0">
              <a:solidFill>
                <a:schemeClr val="tx1"/>
              </a:solidFill>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幻灯片图像占位符 1"/>
          <p:cNvSpPr>
            <a:spLocks noGrp="1" noRot="1" noChangeAspect="1" noTextEdit="1"/>
          </p:cNvSpPr>
          <p:nvPr>
            <p:ph type="sldImg"/>
          </p:nvPr>
        </p:nvSpPr>
        <p:spPr/>
      </p:sp>
      <p:sp>
        <p:nvSpPr>
          <p:cNvPr id="22530" name="备注占位符 2"/>
          <p:cNvSpPr>
            <a:spLocks noGrp="1"/>
          </p:cNvSpPr>
          <p:nvPr>
            <p:ph type="body"/>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2253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en-US" sz="1200" dirty="0">
                <a:solidFill>
                  <a:schemeClr val="tx1"/>
                </a:solidFill>
                <a:latin typeface="Arial" panose="020B0604020202020204" pitchFamily="34" charset="0"/>
              </a:rPr>
            </a:fld>
            <a:endParaRPr lang="en-US" altLang="en-US" sz="1200" dirty="0">
              <a:solidFill>
                <a:schemeClr val="tx1"/>
              </a:solidFill>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noTextEdit="1"/>
          </p:cNvSpPr>
          <p:nvPr>
            <p:ph type="sldImg"/>
          </p:nvPr>
        </p:nvSpPr>
        <p:spPr/>
      </p:sp>
      <p:sp>
        <p:nvSpPr>
          <p:cNvPr id="25602" name="备注占位符 2"/>
          <p:cNvSpPr>
            <a:spLocks noGrp="1"/>
          </p:cNvSpPr>
          <p:nvPr>
            <p:ph type="body"/>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2560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en-US" sz="1200" dirty="0">
                <a:solidFill>
                  <a:schemeClr val="tx1"/>
                </a:solidFill>
                <a:latin typeface="Arial" panose="020B0604020202020204" pitchFamily="34" charset="0"/>
              </a:rPr>
            </a:fld>
            <a:endParaRPr lang="en-US" altLang="en-US" sz="1200" dirty="0">
              <a:solidFill>
                <a:schemeClr val="tx1"/>
              </a:solidFill>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幻灯片图像占位符 1"/>
          <p:cNvSpPr>
            <a:spLocks noGrp="1" noRot="1" noChangeAspect="1" noTextEdit="1"/>
          </p:cNvSpPr>
          <p:nvPr>
            <p:ph type="sldImg"/>
          </p:nvPr>
        </p:nvSpPr>
        <p:spPr/>
      </p:sp>
      <p:sp>
        <p:nvSpPr>
          <p:cNvPr id="46082" name="备注占位符 2"/>
          <p:cNvSpPr>
            <a:spLocks noGrp="1"/>
          </p:cNvSpPr>
          <p:nvPr>
            <p:ph type="body"/>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4608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en-US" sz="1200" dirty="0">
                <a:solidFill>
                  <a:schemeClr val="tx1"/>
                </a:solidFill>
                <a:latin typeface="Arial" panose="020B0604020202020204" pitchFamily="34" charset="0"/>
              </a:rPr>
            </a:fld>
            <a:endParaRPr lang="en-US" altLang="en-US" sz="1200" dirty="0">
              <a:solidFill>
                <a:schemeClr val="tx1"/>
              </a:solidFill>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image" Target="../media/image1.png"/><Relationship Id="rId2" Type="http://schemas.openxmlformats.org/officeDocument/2006/relationships/oleObject" Target="../embeddings/oleObject3.bin"/><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2" name="Rectangle 10"/>
          <p:cNvSpPr>
            <a:spLocks noChangeArrowheads="1"/>
          </p:cNvSpPr>
          <p:nvPr/>
        </p:nvSpPr>
        <p:spPr bwMode="gray">
          <a:xfrm>
            <a:off x="1588" y="3803650"/>
            <a:ext cx="9142413" cy="1301750"/>
          </a:xfrm>
          <a:prstGeom prst="rect">
            <a:avLst/>
          </a:prstGeom>
          <a:gradFill rotWithShape="1">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051" name="Object 18"/>
          <p:cNvGraphicFramePr/>
          <p:nvPr/>
        </p:nvGraphicFramePr>
        <p:xfrm>
          <a:off x="0" y="0"/>
          <a:ext cx="9144000" cy="2622550"/>
        </p:xfrm>
        <a:graphic>
          <a:graphicData uri="http://schemas.openxmlformats.org/presentationml/2006/ole">
            <mc:AlternateContent xmlns:mc="http://schemas.openxmlformats.org/markup-compatibility/2006">
              <mc:Choice xmlns:v="urn:schemas-microsoft-com:vml" Requires="v">
                <p:oleObj spid="_x0000_s4106" name="" r:id="rId2" imgW="13004800" imgH="4572000" progId="Photoshop.Image.7">
                  <p:embed/>
                </p:oleObj>
              </mc:Choice>
              <mc:Fallback>
                <p:oleObj name="" r:id="rId2" imgW="13004800" imgH="4572000" progId="Photoshop.Image.7">
                  <p:embed/>
                  <p:pic>
                    <p:nvPicPr>
                      <p:cNvPr id="0" name="图片 3076"/>
                      <p:cNvPicPr/>
                      <p:nvPr/>
                    </p:nvPicPr>
                    <p:blipFill>
                      <a:blip r:embed="rId3"/>
                      <a:stretch>
                        <a:fillRect/>
                      </a:stretch>
                    </p:blipFill>
                    <p:spPr>
                      <a:xfrm>
                        <a:off x="0" y="0"/>
                        <a:ext cx="9144000" cy="2622550"/>
                      </a:xfrm>
                      <a:prstGeom prst="rect">
                        <a:avLst/>
                      </a:prstGeom>
                      <a:noFill/>
                      <a:ln w="38100">
                        <a:noFill/>
                        <a:miter/>
                      </a:ln>
                    </p:spPr>
                  </p:pic>
                </p:oleObj>
              </mc:Fallback>
            </mc:AlternateContent>
          </a:graphicData>
        </a:graphic>
      </p:graphicFrame>
      <p:sp>
        <p:nvSpPr>
          <p:cNvPr id="14" name="Rectangle 19"/>
          <p:cNvSpPr>
            <a:spLocks noChangeArrowheads="1"/>
          </p:cNvSpPr>
          <p:nvPr/>
        </p:nvSpPr>
        <p:spPr bwMode="gray">
          <a:xfrm>
            <a:off x="0" y="2678113"/>
            <a:ext cx="9144000" cy="1071563"/>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2053" name="Group 16"/>
          <p:cNvGrpSpPr/>
          <p:nvPr/>
        </p:nvGrpSpPr>
        <p:grpSpPr>
          <a:xfrm>
            <a:off x="4114800" y="5838825"/>
            <a:ext cx="1079500" cy="633413"/>
            <a:chOff x="2680" y="3678"/>
            <a:chExt cx="680" cy="399"/>
          </a:xfrm>
        </p:grpSpPr>
        <p:sp>
          <p:nvSpPr>
            <p:cNvPr id="16" name="Text Box 14"/>
            <p:cNvSpPr txBox="1">
              <a:spLocks noChangeArrowheads="1"/>
            </p:cNvSpPr>
            <p:nvPr/>
          </p:nvSpPr>
          <p:spPr bwMode="gray">
            <a:xfrm>
              <a:off x="2680" y="3789"/>
              <a:ext cx="6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1pPr>
              <a:lvl2pPr marL="742950" indent="-28575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2pPr>
              <a:lvl3pPr marL="11430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3pPr>
              <a:lvl4pPr marL="16002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4pPr>
              <a:lvl5pPr marL="20574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sym typeface="+mn-ea"/>
                </a:rPr>
                <a:t>LOGO</a:t>
              </a:r>
              <a:endParaRPr kumimoji="0" lang="en-US"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7" name="AutoShape 15"/>
            <p:cNvSpPr>
              <a:spLocks noChangeArrowheads="1"/>
            </p:cNvSpPr>
            <p:nvPr/>
          </p:nvSpPr>
          <p:spPr bwMode="gray">
            <a:xfrm rot="5400000">
              <a:off x="2928" y="3493"/>
              <a:ext cx="172" cy="542"/>
            </a:xfrm>
            <a:prstGeom prst="moon">
              <a:avLst>
                <a:gd name="adj" fmla="val 212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1pPr>
              <a:lvl2pPr marL="742950" indent="-28575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2pPr>
              <a:lvl3pPr marL="11430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3pPr>
              <a:lvl4pPr marL="16002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4pPr>
              <a:lvl5pPr marL="20574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8" name="AutoShape 11"/>
          <p:cNvSpPr>
            <a:spLocks noChangeArrowheads="1"/>
          </p:cNvSpPr>
          <p:nvPr/>
        </p:nvSpPr>
        <p:spPr bwMode="gray">
          <a:xfrm>
            <a:off x="685800" y="3429000"/>
            <a:ext cx="7620000" cy="685800"/>
          </a:xfrm>
          <a:prstGeom prst="roundRect">
            <a:avLst>
              <a:gd name="adj" fmla="val 38449"/>
            </a:avLst>
          </a:prstGeom>
          <a:solidFill>
            <a:schemeClr val="bg1"/>
          </a:soli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1pPr>
            <a:lvl2pPr marL="742950" indent="-28575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2pPr>
            <a:lvl3pPr marL="11430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3pPr>
            <a:lvl4pPr marL="16002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4pPr>
            <a:lvl5pPr marL="20574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subTitle" idx="1"/>
          </p:nvPr>
        </p:nvSpPr>
        <p:spPr bwMode="gray">
          <a:xfrm>
            <a:off x="914400" y="2895600"/>
            <a:ext cx="7304088" cy="381000"/>
          </a:xfrm>
        </p:spPr>
        <p:txBody>
          <a:bodyPr/>
          <a:lstStyle>
            <a:lvl1pPr marL="0" indent="0" algn="ctr">
              <a:buFont typeface="Wingdings" panose="05000000000000000000" pitchFamily="2" charset="2"/>
              <a:buNone/>
              <a:defRPr sz="2400">
                <a:solidFill>
                  <a:schemeClr val="bg1"/>
                </a:solidFill>
              </a:defRPr>
            </a:lvl1pPr>
          </a:lstStyle>
          <a:p>
            <a:pPr fontAlgn="base"/>
            <a:r>
              <a:rPr lang="en-US" altLang="zh-CN" strike="noStrike" noProof="1"/>
              <a:t>Click to edit Master subtitle style</a:t>
            </a:r>
            <a:endParaRPr lang="en-US" altLang="zh-CN" strike="noStrike" noProof="1"/>
          </a:p>
        </p:txBody>
      </p:sp>
      <p:sp>
        <p:nvSpPr>
          <p:cNvPr id="3074" name="Rectangle 2"/>
          <p:cNvSpPr>
            <a:spLocks noGrp="1" noChangeArrowheads="1"/>
          </p:cNvSpPr>
          <p:nvPr>
            <p:ph type="ctrTitle"/>
          </p:nvPr>
        </p:nvSpPr>
        <p:spPr bwMode="gray">
          <a:xfrm>
            <a:off x="762000" y="3432175"/>
            <a:ext cx="7620000" cy="682625"/>
          </a:xfrm>
        </p:spPr>
        <p:txBody>
          <a:bodyPr/>
          <a:lstStyle>
            <a:lvl1pPr>
              <a:defRPr sz="4000" b="1">
                <a:solidFill>
                  <a:schemeClr val="tx1"/>
                </a:solidFill>
              </a:defRPr>
            </a:lvl1pPr>
          </a:lstStyle>
          <a:p>
            <a:pPr fontAlgn="base"/>
            <a:r>
              <a:rPr lang="en-US" altLang="zh-CN" strike="noStrike" noProof="1"/>
              <a:t>Click to edit Master title style</a:t>
            </a:r>
            <a:endParaRPr lang="en-US" altLang="zh-CN" strike="noStrike" noProof="1"/>
          </a:p>
        </p:txBody>
      </p:sp>
      <p:sp>
        <p:nvSpPr>
          <p:cNvPr id="19" name="Rectangle 4"/>
          <p:cNvSpPr>
            <a:spLocks noGrp="1" noChangeArrowheads="1"/>
          </p:cNvSpPr>
          <p:nvPr>
            <p:ph type="dt" sz="half" idx="2"/>
          </p:nvPr>
        </p:nvSpPr>
        <p:spPr bwMode="auto">
          <a:xfrm>
            <a:off x="457200" y="6477000"/>
            <a:ext cx="2133600" cy="244475"/>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 name="Rectangle 5"/>
          <p:cNvSpPr>
            <a:spLocks noGrp="1" noChangeArrowheads="1"/>
          </p:cNvSpPr>
          <p:nvPr>
            <p:ph type="ftr" sz="quarter" idx="3"/>
          </p:nvPr>
        </p:nvSpPr>
        <p:spPr bwMode="auto">
          <a:xfrm>
            <a:off x="3124200" y="6477000"/>
            <a:ext cx="2895600" cy="244475"/>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1" name="Rectangle 6"/>
          <p:cNvSpPr>
            <a:spLocks noGrp="1" noChangeArrowheads="1"/>
          </p:cNvSpPr>
          <p:nvPr>
            <p:ph type="sldNum" sz="quarter" idx="4"/>
          </p:nvPr>
        </p:nvSpPr>
        <p:spPr bwMode="auto">
          <a:xfrm>
            <a:off x="6553200" y="6477000"/>
            <a:ext cx="2133600" cy="244475"/>
          </a:xfrm>
          <a:prstGeom prst="rect">
            <a:avLst/>
          </a:prstGeom>
          <a:noFill/>
          <a:ln w="9525">
            <a:noFill/>
            <a:miter lim="800000"/>
          </a:ln>
          <a:effectLst/>
        </p:spPr>
        <p:txBody>
          <a:bodyPr vert="horz" wrap="square" lIns="91440" tIns="45720" rIns="91440" bIns="45720" numCol="1" anchor="t" anchorCtr="0" compatLnSpc="1"/>
          <a:lstStyle/>
          <a:p>
            <a:pPr algn="r" eaLnBrk="1" fontAlgn="base" hangingPunct="1">
              <a:buNone/>
            </a:pPr>
            <a:fld id="{9A0DB2DC-4C9A-4742-B13C-FB6460FD3503}" type="slidenum">
              <a:rPr lang="en-US" altLang="en-US" sz="1200" strike="noStrike" noProof="1" dirty="0">
                <a:latin typeface="Arial" panose="020B0604020202020204" pitchFamily="34" charset="0"/>
                <a:ea typeface="宋体" panose="02010600030101010101" pitchFamily="2" charset="-122"/>
                <a:cs typeface="+mn-cs"/>
              </a:rPr>
            </a:fld>
            <a:endParaRPr lang="en-US" altLang="en-US" sz="1200" strike="noStrike" noProof="1">
              <a:latin typeface="Arial" panose="020B0604020202020204" pitchFamily="34" charset="0"/>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74650"/>
            <a:ext cx="2057400" cy="59499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374650"/>
            <a:ext cx="6019800" cy="59499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2" name="Rectangle 10"/>
          <p:cNvSpPr>
            <a:spLocks noChangeArrowheads="1"/>
          </p:cNvSpPr>
          <p:nvPr/>
        </p:nvSpPr>
        <p:spPr bwMode="gray">
          <a:xfrm>
            <a:off x="1588" y="3803650"/>
            <a:ext cx="9142413" cy="1301750"/>
          </a:xfrm>
          <a:prstGeom prst="rect">
            <a:avLst/>
          </a:prstGeom>
          <a:gradFill rotWithShape="1">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051" name="Object 18"/>
          <p:cNvGraphicFramePr/>
          <p:nvPr/>
        </p:nvGraphicFramePr>
        <p:xfrm>
          <a:off x="0" y="0"/>
          <a:ext cx="9144000" cy="2622550"/>
        </p:xfrm>
        <a:graphic>
          <a:graphicData uri="http://schemas.openxmlformats.org/presentationml/2006/ole">
            <mc:AlternateContent xmlns:mc="http://schemas.openxmlformats.org/markup-compatibility/2006">
              <mc:Choice xmlns:v="urn:schemas-microsoft-com:vml" Requires="v">
                <p:oleObj spid="_x0000_s6154" name="" r:id="rId2" imgW="13004800" imgH="4572000" progId="Photoshop.Image.7">
                  <p:embed/>
                </p:oleObj>
              </mc:Choice>
              <mc:Fallback>
                <p:oleObj name="" r:id="rId2" imgW="13004800" imgH="4572000" progId="Photoshop.Image.7">
                  <p:embed/>
                  <p:pic>
                    <p:nvPicPr>
                      <p:cNvPr id="0" name="图片 3076"/>
                      <p:cNvPicPr/>
                      <p:nvPr/>
                    </p:nvPicPr>
                    <p:blipFill>
                      <a:blip r:embed="rId3"/>
                      <a:stretch>
                        <a:fillRect/>
                      </a:stretch>
                    </p:blipFill>
                    <p:spPr>
                      <a:xfrm>
                        <a:off x="0" y="0"/>
                        <a:ext cx="9144000" cy="2622550"/>
                      </a:xfrm>
                      <a:prstGeom prst="rect">
                        <a:avLst/>
                      </a:prstGeom>
                      <a:noFill/>
                      <a:ln w="38100">
                        <a:noFill/>
                        <a:miter/>
                      </a:ln>
                    </p:spPr>
                  </p:pic>
                </p:oleObj>
              </mc:Fallback>
            </mc:AlternateContent>
          </a:graphicData>
        </a:graphic>
      </p:graphicFrame>
      <p:sp>
        <p:nvSpPr>
          <p:cNvPr id="14" name="Rectangle 19"/>
          <p:cNvSpPr>
            <a:spLocks noChangeArrowheads="1"/>
          </p:cNvSpPr>
          <p:nvPr/>
        </p:nvSpPr>
        <p:spPr bwMode="gray">
          <a:xfrm>
            <a:off x="0" y="2678113"/>
            <a:ext cx="9144000" cy="1071563"/>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2053" name="Group 16"/>
          <p:cNvGrpSpPr/>
          <p:nvPr/>
        </p:nvGrpSpPr>
        <p:grpSpPr>
          <a:xfrm>
            <a:off x="4114800" y="5838825"/>
            <a:ext cx="1079500" cy="633413"/>
            <a:chOff x="2680" y="3678"/>
            <a:chExt cx="680" cy="399"/>
          </a:xfrm>
        </p:grpSpPr>
        <p:sp>
          <p:nvSpPr>
            <p:cNvPr id="16" name="Text Box 14"/>
            <p:cNvSpPr txBox="1">
              <a:spLocks noChangeArrowheads="1"/>
            </p:cNvSpPr>
            <p:nvPr/>
          </p:nvSpPr>
          <p:spPr bwMode="gray">
            <a:xfrm>
              <a:off x="2680" y="3789"/>
              <a:ext cx="6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1pPr>
              <a:lvl2pPr marL="742950" indent="-28575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2pPr>
              <a:lvl3pPr marL="11430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3pPr>
              <a:lvl4pPr marL="16002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4pPr>
              <a:lvl5pPr marL="20574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sym typeface="+mn-ea"/>
                </a:rPr>
                <a:t>LOGO</a:t>
              </a:r>
              <a:endParaRPr kumimoji="0" lang="en-US"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7" name="AutoShape 15"/>
            <p:cNvSpPr>
              <a:spLocks noChangeArrowheads="1"/>
            </p:cNvSpPr>
            <p:nvPr/>
          </p:nvSpPr>
          <p:spPr bwMode="gray">
            <a:xfrm rot="5400000">
              <a:off x="2928" y="3493"/>
              <a:ext cx="172" cy="542"/>
            </a:xfrm>
            <a:prstGeom prst="moon">
              <a:avLst>
                <a:gd name="adj" fmla="val 212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1pPr>
              <a:lvl2pPr marL="742950" indent="-28575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2pPr>
              <a:lvl3pPr marL="11430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3pPr>
              <a:lvl4pPr marL="16002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4pPr>
              <a:lvl5pPr marL="20574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8" name="AutoShape 11"/>
          <p:cNvSpPr>
            <a:spLocks noChangeArrowheads="1"/>
          </p:cNvSpPr>
          <p:nvPr/>
        </p:nvSpPr>
        <p:spPr bwMode="gray">
          <a:xfrm>
            <a:off x="685800" y="3429000"/>
            <a:ext cx="7620000" cy="685800"/>
          </a:xfrm>
          <a:prstGeom prst="roundRect">
            <a:avLst>
              <a:gd name="adj" fmla="val 38449"/>
            </a:avLst>
          </a:prstGeom>
          <a:solidFill>
            <a:schemeClr val="bg1"/>
          </a:soli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1pPr>
            <a:lvl2pPr marL="742950" indent="-28575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2pPr>
            <a:lvl3pPr marL="11430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3pPr>
            <a:lvl4pPr marL="16002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4pPr>
            <a:lvl5pPr marL="20574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subTitle" idx="1"/>
          </p:nvPr>
        </p:nvSpPr>
        <p:spPr bwMode="gray">
          <a:xfrm>
            <a:off x="914400" y="2895600"/>
            <a:ext cx="7304088" cy="381000"/>
          </a:xfrm>
        </p:spPr>
        <p:txBody>
          <a:bodyPr/>
          <a:lstStyle>
            <a:lvl1pPr marL="0" indent="0" algn="ctr">
              <a:buFont typeface="Wingdings" panose="05000000000000000000" pitchFamily="2" charset="2"/>
              <a:buNone/>
              <a:defRPr sz="2400">
                <a:solidFill>
                  <a:schemeClr val="bg1"/>
                </a:solidFill>
              </a:defRPr>
            </a:lvl1pPr>
          </a:lstStyle>
          <a:p>
            <a:pPr fontAlgn="base"/>
            <a:r>
              <a:rPr lang="en-US" altLang="zh-CN" strike="noStrike" noProof="1"/>
              <a:t>Click to edit Master subtitle style</a:t>
            </a:r>
            <a:endParaRPr lang="en-US" altLang="zh-CN" strike="noStrike" noProof="1"/>
          </a:p>
        </p:txBody>
      </p:sp>
      <p:sp>
        <p:nvSpPr>
          <p:cNvPr id="3074" name="Rectangle 2"/>
          <p:cNvSpPr>
            <a:spLocks noGrp="1" noChangeArrowheads="1"/>
          </p:cNvSpPr>
          <p:nvPr>
            <p:ph type="ctrTitle"/>
          </p:nvPr>
        </p:nvSpPr>
        <p:spPr bwMode="gray">
          <a:xfrm>
            <a:off x="762000" y="3432175"/>
            <a:ext cx="7620000" cy="682625"/>
          </a:xfrm>
        </p:spPr>
        <p:txBody>
          <a:bodyPr/>
          <a:lstStyle>
            <a:lvl1pPr>
              <a:defRPr sz="4000" b="1">
                <a:solidFill>
                  <a:schemeClr val="tx1"/>
                </a:solidFill>
              </a:defRPr>
            </a:lvl1pPr>
          </a:lstStyle>
          <a:p>
            <a:pPr fontAlgn="base"/>
            <a:r>
              <a:rPr lang="en-US" altLang="zh-CN" strike="noStrike" noProof="1"/>
              <a:t>Click to edit Master title style</a:t>
            </a:r>
            <a:endParaRPr lang="en-US" altLang="zh-CN" strike="noStrike" noProof="1"/>
          </a:p>
        </p:txBody>
      </p:sp>
      <p:sp>
        <p:nvSpPr>
          <p:cNvPr id="19" name="Rectangle 4"/>
          <p:cNvSpPr>
            <a:spLocks noGrp="1" noChangeArrowheads="1"/>
          </p:cNvSpPr>
          <p:nvPr>
            <p:ph type="dt" sz="half" idx="2"/>
          </p:nvPr>
        </p:nvSpPr>
        <p:spPr bwMode="auto">
          <a:xfrm>
            <a:off x="457200" y="6477000"/>
            <a:ext cx="2133600" cy="244475"/>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 name="Rectangle 5"/>
          <p:cNvSpPr>
            <a:spLocks noGrp="1" noChangeArrowheads="1"/>
          </p:cNvSpPr>
          <p:nvPr>
            <p:ph type="ftr" sz="quarter" idx="3"/>
          </p:nvPr>
        </p:nvSpPr>
        <p:spPr bwMode="auto">
          <a:xfrm>
            <a:off x="3124200" y="6477000"/>
            <a:ext cx="2895600" cy="244475"/>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1" name="Rectangle 6"/>
          <p:cNvSpPr>
            <a:spLocks noGrp="1" noChangeArrowheads="1"/>
          </p:cNvSpPr>
          <p:nvPr>
            <p:ph type="sldNum" sz="quarter" idx="4"/>
          </p:nvPr>
        </p:nvSpPr>
        <p:spPr bwMode="auto">
          <a:xfrm>
            <a:off x="6553200" y="6477000"/>
            <a:ext cx="2133600" cy="244475"/>
          </a:xfrm>
          <a:prstGeom prst="rect">
            <a:avLst/>
          </a:prstGeom>
          <a:noFill/>
          <a:ln w="9525">
            <a:noFill/>
            <a:miter lim="800000"/>
          </a:ln>
          <a:effectLst/>
        </p:spPr>
        <p:txBody>
          <a:bodyPr vert="horz" wrap="square" lIns="91440" tIns="45720" rIns="91440" bIns="45720" numCol="1" anchor="t" anchorCtr="0" compatLnSpc="1"/>
          <a:lstStyle/>
          <a:p>
            <a:pPr algn="r" eaLnBrk="1" fontAlgn="base" hangingPunct="1">
              <a:buNone/>
            </a:pPr>
            <a:fld id="{9A0DB2DC-4C9A-4742-B13C-FB6460FD3503}" type="slidenum">
              <a:rPr lang="en-US" altLang="en-US" sz="1200" strike="noStrike" noProof="1" dirty="0">
                <a:latin typeface="Arial" panose="020B0604020202020204" pitchFamily="34" charset="0"/>
                <a:ea typeface="宋体" panose="02010600030101010101" pitchFamily="2" charset="-122"/>
                <a:cs typeface="+mn-cs"/>
              </a:rPr>
            </a:fld>
            <a:endParaRPr lang="en-US" altLang="en-US" sz="1200" strike="noStrike" noProof="1">
              <a:latin typeface="Arial" panose="020B0604020202020204" pitchFamily="34" charset="0"/>
            </a:endParaRPr>
          </a:p>
        </p:txBody>
      </p:sp>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74650"/>
            <a:ext cx="2057400" cy="59499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374650"/>
            <a:ext cx="6019800" cy="59499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vmlDrawing" Target="../drawings/vmlDrawing2.vml"/><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oleObject" Target="../embeddings/oleObject2.bin"/><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6" Type="http://schemas.openxmlformats.org/officeDocument/2006/relationships/theme" Target="../theme/theme2.xml"/><Relationship Id="rId15" Type="http://schemas.openxmlformats.org/officeDocument/2006/relationships/vmlDrawing" Target="../drawings/vmlDrawing4.vml"/><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oleObject" Target="../embeddings/oleObject4.bin"/><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6"/>
          <p:cNvSpPr>
            <a:spLocks noChangeArrowheads="1"/>
          </p:cNvSpPr>
          <p:nvPr/>
        </p:nvSpPr>
        <p:spPr bwMode="gray">
          <a:xfrm>
            <a:off x="0" y="641350"/>
            <a:ext cx="9144000" cy="92075"/>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1" name="Rectangle 7"/>
          <p:cNvSpPr>
            <a:spLocks noChangeArrowheads="1"/>
          </p:cNvSpPr>
          <p:nvPr/>
        </p:nvSpPr>
        <p:spPr bwMode="white">
          <a:xfrm>
            <a:off x="1588" y="766763"/>
            <a:ext cx="9142413" cy="1366838"/>
          </a:xfrm>
          <a:prstGeom prst="rect">
            <a:avLst/>
          </a:prstGeom>
          <a:gradFill rotWithShape="0">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028" name="Object 15"/>
          <p:cNvGraphicFramePr/>
          <p:nvPr/>
        </p:nvGraphicFramePr>
        <p:xfrm>
          <a:off x="-11112" y="0"/>
          <a:ext cx="9155112" cy="609600"/>
        </p:xfrm>
        <a:graphic>
          <a:graphicData uri="http://schemas.openxmlformats.org/presentationml/2006/ole">
            <mc:AlternateContent xmlns:mc="http://schemas.openxmlformats.org/markup-compatibility/2006">
              <mc:Choice xmlns:v="urn:schemas-microsoft-com:vml" Requires="v">
                <p:oleObj spid="_x0000_s3087" name="" r:id="rId12" imgW="13004800" imgH="4572000" progId="Photoshop.Image.7">
                  <p:embed/>
                </p:oleObj>
              </mc:Choice>
              <mc:Fallback>
                <p:oleObj name="" r:id="rId12" imgW="13004800" imgH="4572000" progId="Photoshop.Image.7">
                  <p:embed/>
                  <p:pic>
                    <p:nvPicPr>
                      <p:cNvPr id="0" name="图片 3075"/>
                      <p:cNvPicPr/>
                      <p:nvPr/>
                    </p:nvPicPr>
                    <p:blipFill>
                      <a:blip r:embed="rId13"/>
                      <a:stretch>
                        <a:fillRect/>
                      </a:stretch>
                    </p:blipFill>
                    <p:spPr>
                      <a:xfrm>
                        <a:off x="-11112" y="0"/>
                        <a:ext cx="9155112" cy="609600"/>
                      </a:xfrm>
                      <a:prstGeom prst="rect">
                        <a:avLst/>
                      </a:prstGeom>
                      <a:noFill/>
                      <a:ln w="38100">
                        <a:noFill/>
                        <a:miter/>
                      </a:ln>
                    </p:spPr>
                  </p:pic>
                </p:oleObj>
              </mc:Fallback>
            </mc:AlternateContent>
          </a:graphicData>
        </a:graphic>
      </p:graphicFrame>
      <p:sp>
        <p:nvSpPr>
          <p:cNvPr id="1033" name="AutoShape 9"/>
          <p:cNvSpPr>
            <a:spLocks noChangeArrowheads="1"/>
          </p:cNvSpPr>
          <p:nvPr/>
        </p:nvSpPr>
        <p:spPr bwMode="gray">
          <a:xfrm>
            <a:off x="609600" y="344488"/>
            <a:ext cx="7366000" cy="644525"/>
          </a:xfrm>
          <a:prstGeom prst="roundRect">
            <a:avLst>
              <a:gd name="adj" fmla="val 41870"/>
            </a:avLst>
          </a:prstGeom>
          <a:gradFill rotWithShape="1">
            <a:gsLst>
              <a:gs pos="0">
                <a:schemeClr val="tx2">
                  <a:gamma/>
                  <a:shade val="46275"/>
                  <a:invGamma/>
                </a:schemeClr>
              </a:gs>
              <a:gs pos="100000">
                <a:schemeClr val="tx2"/>
              </a:gs>
            </a:gsLst>
            <a:lin ang="0" scaled="1"/>
          </a:gradFill>
          <a:ln w="38100" algn="ctr">
            <a:solidFill>
              <a:schemeClr val="bg1"/>
            </a:solid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0" name="Rectangle 3"/>
          <p:cNvSpPr>
            <a:spLocks noGrp="1"/>
          </p:cNvSpPr>
          <p:nvPr>
            <p:ph type="body"/>
          </p:nvPr>
        </p:nvSpPr>
        <p:spPr>
          <a:xfrm>
            <a:off x="457200" y="1219200"/>
            <a:ext cx="8229600" cy="5105400"/>
          </a:xfrm>
          <a:prstGeom prst="rect">
            <a:avLst/>
          </a:prstGeom>
          <a:noFill/>
          <a:ln w="9525">
            <a:noFill/>
          </a:ln>
        </p:spPr>
        <p:txBody>
          <a:bodyPr anchor="t" anchorCtr="0"/>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40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a:solidFill>
                  <a:schemeClr val="tx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Rectangle 6"/>
          <p:cNvSpPr>
            <a:spLocks noGrp="1" noChangeArrowheads="1"/>
          </p:cNvSpPr>
          <p:nvPr>
            <p:ph type="sldNum" sz="quarter" idx="4"/>
          </p:nvPr>
        </p:nvSpPr>
        <p:spPr bwMode="auto">
          <a:xfrm>
            <a:off x="6553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tx1"/>
                </a:solidFill>
                <a:latin typeface="Arial" panose="020B0604020202020204" pitchFamily="34" charset="0"/>
              </a:defRPr>
            </a:lvl1p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
        <p:nvSpPr>
          <p:cNvPr id="1034" name="Rectangle 2"/>
          <p:cNvSpPr>
            <a:spLocks noGrp="1"/>
          </p:cNvSpPr>
          <p:nvPr>
            <p:ph type="title"/>
          </p:nvPr>
        </p:nvSpPr>
        <p:spPr>
          <a:xfrm>
            <a:off x="838200" y="374650"/>
            <a:ext cx="7010400" cy="563563"/>
          </a:xfrm>
          <a:prstGeom prst="rect">
            <a:avLst/>
          </a:prstGeom>
          <a:noFill/>
          <a:ln w="9525">
            <a:noFill/>
          </a:ln>
        </p:spPr>
        <p:txBody>
          <a:bodyPr anchor="ctr" anchorCtr="0"/>
          <a:lstStyle/>
          <a:p>
            <a:pPr lvl="0"/>
            <a:r>
              <a:rPr lang="en-US" altLang="zh-CN" dirty="0"/>
              <a:t>Click to edit Master title style</a:t>
            </a:r>
            <a:endParaRPr lang="en-US" altLang="zh-CN" dirty="0"/>
          </a:p>
        </p:txBody>
      </p:sp>
      <p:pic>
        <p:nvPicPr>
          <p:cNvPr id="1035" name="图片 3"/>
          <p:cNvPicPr>
            <a:picLocks noChangeAspect="1"/>
          </p:cNvPicPr>
          <p:nvPr userDrawn="1"/>
        </p:nvPicPr>
        <p:blipFill>
          <a:blip r:embed="rId14"/>
          <a:stretch>
            <a:fillRect/>
          </a:stretch>
        </p:blipFill>
        <p:spPr>
          <a:xfrm>
            <a:off x="8077200" y="65088"/>
            <a:ext cx="979488" cy="9794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hf sldNum="0"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panose="020B0604020202020204" pitchFamily="34" charset="0"/>
        </a:defRPr>
      </a:lvl2pPr>
      <a:lvl3pPr algn="ctr" rtl="0" eaLnBrk="0" fontAlgn="base" hangingPunct="0">
        <a:spcBef>
          <a:spcPct val="0"/>
        </a:spcBef>
        <a:spcAft>
          <a:spcPct val="0"/>
        </a:spcAft>
        <a:defRPr sz="3600">
          <a:solidFill>
            <a:schemeClr val="bg1"/>
          </a:solidFill>
          <a:latin typeface="Arial" panose="020B0604020202020204" pitchFamily="34" charset="0"/>
        </a:defRPr>
      </a:lvl3pPr>
      <a:lvl4pPr algn="ctr" rtl="0" eaLnBrk="0" fontAlgn="base" hangingPunct="0">
        <a:spcBef>
          <a:spcPct val="0"/>
        </a:spcBef>
        <a:spcAft>
          <a:spcPct val="0"/>
        </a:spcAft>
        <a:defRPr sz="3600">
          <a:solidFill>
            <a:schemeClr val="bg1"/>
          </a:solidFill>
          <a:latin typeface="Arial" panose="020B0604020202020204" pitchFamily="34" charset="0"/>
        </a:defRPr>
      </a:lvl4pPr>
      <a:lvl5pPr algn="ctr" rtl="0" eaLnBrk="0" fontAlgn="base" hangingPunct="0">
        <a:spcBef>
          <a:spcPct val="0"/>
        </a:spcBef>
        <a:spcAft>
          <a:spcPct val="0"/>
        </a:spcAft>
        <a:defRPr sz="3600">
          <a:solidFill>
            <a:schemeClr val="bg1"/>
          </a:solidFill>
          <a:latin typeface="Arial" panose="020B0604020202020204" pitchFamily="34" charset="0"/>
        </a:defRPr>
      </a:lvl5pPr>
      <a:lvl6pPr marL="457200" algn="ctr" rtl="0" fontAlgn="base">
        <a:spcBef>
          <a:spcPct val="0"/>
        </a:spcBef>
        <a:spcAft>
          <a:spcPct val="0"/>
        </a:spcAft>
        <a:defRPr sz="3600">
          <a:solidFill>
            <a:schemeClr val="bg1"/>
          </a:solidFill>
          <a:latin typeface="Arial" panose="020B0604020202020204" pitchFamily="34" charset="0"/>
        </a:defRPr>
      </a:lvl6pPr>
      <a:lvl7pPr marL="914400" algn="ctr" rtl="0" fontAlgn="base">
        <a:spcBef>
          <a:spcPct val="0"/>
        </a:spcBef>
        <a:spcAft>
          <a:spcPct val="0"/>
        </a:spcAft>
        <a:defRPr sz="3600">
          <a:solidFill>
            <a:schemeClr val="bg1"/>
          </a:solidFill>
          <a:latin typeface="Arial" panose="020B0604020202020204" pitchFamily="34" charset="0"/>
        </a:defRPr>
      </a:lvl7pPr>
      <a:lvl8pPr marL="1371600" algn="ctr" rtl="0" fontAlgn="base">
        <a:spcBef>
          <a:spcPct val="0"/>
        </a:spcBef>
        <a:spcAft>
          <a:spcPct val="0"/>
        </a:spcAft>
        <a:defRPr sz="3600">
          <a:solidFill>
            <a:schemeClr val="bg1"/>
          </a:solidFill>
          <a:latin typeface="Arial" panose="020B0604020202020204" pitchFamily="34" charset="0"/>
        </a:defRPr>
      </a:lvl8pPr>
      <a:lvl9pPr marL="1828800" algn="ctr" rtl="0" fontAlgn="base">
        <a:spcBef>
          <a:spcPct val="0"/>
        </a:spcBef>
        <a:spcAft>
          <a:spcPct val="0"/>
        </a:spcAft>
        <a:defRPr sz="36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6"/>
          <p:cNvSpPr>
            <a:spLocks noChangeArrowheads="1"/>
          </p:cNvSpPr>
          <p:nvPr/>
        </p:nvSpPr>
        <p:spPr bwMode="gray">
          <a:xfrm>
            <a:off x="0" y="641350"/>
            <a:ext cx="9144000" cy="92075"/>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1" name="Rectangle 7"/>
          <p:cNvSpPr>
            <a:spLocks noChangeArrowheads="1"/>
          </p:cNvSpPr>
          <p:nvPr/>
        </p:nvSpPr>
        <p:spPr bwMode="white">
          <a:xfrm>
            <a:off x="1588" y="766763"/>
            <a:ext cx="9142413" cy="1366838"/>
          </a:xfrm>
          <a:prstGeom prst="rect">
            <a:avLst/>
          </a:prstGeom>
          <a:gradFill rotWithShape="0">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028" name="Object 15"/>
          <p:cNvGraphicFramePr/>
          <p:nvPr/>
        </p:nvGraphicFramePr>
        <p:xfrm>
          <a:off x="-11112" y="0"/>
          <a:ext cx="9155112" cy="609600"/>
        </p:xfrm>
        <a:graphic>
          <a:graphicData uri="http://schemas.openxmlformats.org/presentationml/2006/ole">
            <mc:AlternateContent xmlns:mc="http://schemas.openxmlformats.org/markup-compatibility/2006">
              <mc:Choice xmlns:v="urn:schemas-microsoft-com:vml" Requires="v">
                <p:oleObj spid="_x0000_s5130" name="" r:id="rId12" imgW="13004800" imgH="4572000" progId="Photoshop.Image.7">
                  <p:embed/>
                </p:oleObj>
              </mc:Choice>
              <mc:Fallback>
                <p:oleObj name="" r:id="rId12" imgW="13004800" imgH="4572000" progId="Photoshop.Image.7">
                  <p:embed/>
                  <p:pic>
                    <p:nvPicPr>
                      <p:cNvPr id="0" name="图片 3075"/>
                      <p:cNvPicPr/>
                      <p:nvPr/>
                    </p:nvPicPr>
                    <p:blipFill>
                      <a:blip r:embed="rId13"/>
                      <a:stretch>
                        <a:fillRect/>
                      </a:stretch>
                    </p:blipFill>
                    <p:spPr>
                      <a:xfrm>
                        <a:off x="-11112" y="0"/>
                        <a:ext cx="9155112" cy="609600"/>
                      </a:xfrm>
                      <a:prstGeom prst="rect">
                        <a:avLst/>
                      </a:prstGeom>
                      <a:noFill/>
                      <a:ln w="38100">
                        <a:noFill/>
                        <a:miter/>
                      </a:ln>
                    </p:spPr>
                  </p:pic>
                </p:oleObj>
              </mc:Fallback>
            </mc:AlternateContent>
          </a:graphicData>
        </a:graphic>
      </p:graphicFrame>
      <p:sp>
        <p:nvSpPr>
          <p:cNvPr id="1033" name="AutoShape 9"/>
          <p:cNvSpPr>
            <a:spLocks noChangeArrowheads="1"/>
          </p:cNvSpPr>
          <p:nvPr/>
        </p:nvSpPr>
        <p:spPr bwMode="gray">
          <a:xfrm>
            <a:off x="609600" y="344488"/>
            <a:ext cx="7366000" cy="644525"/>
          </a:xfrm>
          <a:prstGeom prst="roundRect">
            <a:avLst>
              <a:gd name="adj" fmla="val 41870"/>
            </a:avLst>
          </a:prstGeom>
          <a:gradFill rotWithShape="1">
            <a:gsLst>
              <a:gs pos="0">
                <a:schemeClr val="tx2">
                  <a:gamma/>
                  <a:shade val="46275"/>
                  <a:invGamma/>
                </a:schemeClr>
              </a:gs>
              <a:gs pos="100000">
                <a:schemeClr val="tx2"/>
              </a:gs>
            </a:gsLst>
            <a:lin ang="0" scaled="1"/>
          </a:gradFill>
          <a:ln w="38100" algn="ctr">
            <a:solidFill>
              <a:schemeClr val="bg1"/>
            </a:solid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0" name="Rectangle 3"/>
          <p:cNvSpPr>
            <a:spLocks noGrp="1"/>
          </p:cNvSpPr>
          <p:nvPr>
            <p:ph type="body"/>
          </p:nvPr>
        </p:nvSpPr>
        <p:spPr>
          <a:xfrm>
            <a:off x="457200" y="1219200"/>
            <a:ext cx="8229600" cy="5105400"/>
          </a:xfrm>
          <a:prstGeom prst="rect">
            <a:avLst/>
          </a:prstGeom>
          <a:noFill/>
          <a:ln w="9525">
            <a:noFill/>
          </a:ln>
        </p:spPr>
        <p:txBody>
          <a:bodyPr anchor="t" anchorCtr="0"/>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40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a:solidFill>
                  <a:schemeClr val="tx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Rectangle 6"/>
          <p:cNvSpPr>
            <a:spLocks noGrp="1" noChangeArrowheads="1"/>
          </p:cNvSpPr>
          <p:nvPr>
            <p:ph type="sldNum" sz="quarter" idx="4"/>
          </p:nvPr>
        </p:nvSpPr>
        <p:spPr bwMode="auto">
          <a:xfrm>
            <a:off x="6553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tx1"/>
                </a:solidFill>
                <a:latin typeface="Arial" panose="020B0604020202020204" pitchFamily="34" charset="0"/>
              </a:defRPr>
            </a:lvl1p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a:latin typeface="Times New Roman" panose="02020603050405020304" pitchFamily="18" charset="0"/>
            </a:endParaRPr>
          </a:p>
        </p:txBody>
      </p:sp>
      <p:sp>
        <p:nvSpPr>
          <p:cNvPr id="1034" name="Rectangle 2"/>
          <p:cNvSpPr>
            <a:spLocks noGrp="1"/>
          </p:cNvSpPr>
          <p:nvPr>
            <p:ph type="title"/>
          </p:nvPr>
        </p:nvSpPr>
        <p:spPr>
          <a:xfrm>
            <a:off x="838200" y="374650"/>
            <a:ext cx="7010400" cy="563563"/>
          </a:xfrm>
          <a:prstGeom prst="rect">
            <a:avLst/>
          </a:prstGeom>
          <a:noFill/>
          <a:ln w="9525">
            <a:noFill/>
          </a:ln>
        </p:spPr>
        <p:txBody>
          <a:bodyPr anchor="ctr" anchorCtr="0"/>
          <a:lstStyle/>
          <a:p>
            <a:pPr lvl="0"/>
            <a:r>
              <a:rPr lang="en-US" altLang="zh-CN" dirty="0"/>
              <a:t>Click to edit Master title style</a:t>
            </a:r>
            <a:endParaRPr lang="en-US" altLang="zh-CN" dirty="0"/>
          </a:p>
        </p:txBody>
      </p:sp>
      <p:pic>
        <p:nvPicPr>
          <p:cNvPr id="1035" name="图片 3"/>
          <p:cNvPicPr>
            <a:picLocks noChangeAspect="1"/>
          </p:cNvPicPr>
          <p:nvPr userDrawn="1"/>
        </p:nvPicPr>
        <p:blipFill>
          <a:blip r:embed="rId14"/>
          <a:stretch>
            <a:fillRect/>
          </a:stretch>
        </p:blipFill>
        <p:spPr>
          <a:xfrm>
            <a:off x="8077200" y="65088"/>
            <a:ext cx="979488" cy="9794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random/>
  </p:transition>
  <p:hf sldNum="0"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panose="020B0604020202020204" pitchFamily="34" charset="0"/>
        </a:defRPr>
      </a:lvl2pPr>
      <a:lvl3pPr algn="ctr" rtl="0" eaLnBrk="0" fontAlgn="base" hangingPunct="0">
        <a:spcBef>
          <a:spcPct val="0"/>
        </a:spcBef>
        <a:spcAft>
          <a:spcPct val="0"/>
        </a:spcAft>
        <a:defRPr sz="3600">
          <a:solidFill>
            <a:schemeClr val="bg1"/>
          </a:solidFill>
          <a:latin typeface="Arial" panose="020B0604020202020204" pitchFamily="34" charset="0"/>
        </a:defRPr>
      </a:lvl3pPr>
      <a:lvl4pPr algn="ctr" rtl="0" eaLnBrk="0" fontAlgn="base" hangingPunct="0">
        <a:spcBef>
          <a:spcPct val="0"/>
        </a:spcBef>
        <a:spcAft>
          <a:spcPct val="0"/>
        </a:spcAft>
        <a:defRPr sz="3600">
          <a:solidFill>
            <a:schemeClr val="bg1"/>
          </a:solidFill>
          <a:latin typeface="Arial" panose="020B0604020202020204" pitchFamily="34" charset="0"/>
        </a:defRPr>
      </a:lvl4pPr>
      <a:lvl5pPr algn="ctr" rtl="0" eaLnBrk="0" fontAlgn="base" hangingPunct="0">
        <a:spcBef>
          <a:spcPct val="0"/>
        </a:spcBef>
        <a:spcAft>
          <a:spcPct val="0"/>
        </a:spcAft>
        <a:defRPr sz="3600">
          <a:solidFill>
            <a:schemeClr val="bg1"/>
          </a:solidFill>
          <a:latin typeface="Arial" panose="020B0604020202020204" pitchFamily="34" charset="0"/>
        </a:defRPr>
      </a:lvl5pPr>
      <a:lvl6pPr marL="457200" algn="ctr" rtl="0" fontAlgn="base">
        <a:spcBef>
          <a:spcPct val="0"/>
        </a:spcBef>
        <a:spcAft>
          <a:spcPct val="0"/>
        </a:spcAft>
        <a:defRPr sz="3600">
          <a:solidFill>
            <a:schemeClr val="bg1"/>
          </a:solidFill>
          <a:latin typeface="Arial" panose="020B0604020202020204" pitchFamily="34" charset="0"/>
        </a:defRPr>
      </a:lvl6pPr>
      <a:lvl7pPr marL="914400" algn="ctr" rtl="0" fontAlgn="base">
        <a:spcBef>
          <a:spcPct val="0"/>
        </a:spcBef>
        <a:spcAft>
          <a:spcPct val="0"/>
        </a:spcAft>
        <a:defRPr sz="3600">
          <a:solidFill>
            <a:schemeClr val="bg1"/>
          </a:solidFill>
          <a:latin typeface="Arial" panose="020B0604020202020204" pitchFamily="34" charset="0"/>
        </a:defRPr>
      </a:lvl7pPr>
      <a:lvl8pPr marL="1371600" algn="ctr" rtl="0" fontAlgn="base">
        <a:spcBef>
          <a:spcPct val="0"/>
        </a:spcBef>
        <a:spcAft>
          <a:spcPct val="0"/>
        </a:spcAft>
        <a:defRPr sz="3600">
          <a:solidFill>
            <a:schemeClr val="bg1"/>
          </a:solidFill>
          <a:latin typeface="Arial" panose="020B0604020202020204" pitchFamily="34" charset="0"/>
        </a:defRPr>
      </a:lvl8pPr>
      <a:lvl9pPr marL="1828800" algn="ctr" rtl="0" fontAlgn="base">
        <a:spcBef>
          <a:spcPct val="0"/>
        </a:spcBef>
        <a:spcAft>
          <a:spcPct val="0"/>
        </a:spcAft>
        <a:defRPr sz="36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baike.baidu.com/item/%E4%B8%AD%E5%8D%8E%E4%BA%BA%E6%B0%91%E5%85%B1%E5%92%8C%E5%9B%BD%E4%B8%BB%E5%B8%AD%E4%BB%A4%EF%BC%88%E7%AC%AC%E4%BA%94%E5%8D%81%E4%B8%89%E5%8F%B7%EF%BC%89/23119921" TargetMode="External"/><Relationship Id="rId1" Type="http://schemas.openxmlformats.org/officeDocument/2006/relationships/hyperlink" Target="https://baike.baidu.com/item/%E5%85%A8%E5%9B%BD%E4%BA%BA%E6%B0%91%E4%BB%A3%E8%A1%A8%E5%A4%A7%E4%BC%9A%E5%B8%B8%E5%8A%A1%E5%A7%94%E5%91%98%E4%BC%9A/689890" TargetMode="Externa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baike.baidu.com/item/%E7%AC%AC%E5%8D%81%E4%B8%89%E5%B1%8A%E5%85%A8%E5%9B%BD%E4%BA%BA%E6%B0%91%E4%BB%A3%E8%A1%A8%E5%A4%A7%E4%BC%9A%E5%B8%B8%E5%8A%A1%E5%A7%94%E5%91%98%E4%BC%9A/22439522"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7.jpe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Grp="1"/>
          </p:cNvSpPr>
          <p:nvPr>
            <p:ph type="ctrTitle"/>
          </p:nvPr>
        </p:nvSpPr>
        <p:spPr>
          <a:xfrm>
            <a:off x="762000" y="3429000"/>
            <a:ext cx="7620000" cy="682625"/>
          </a:xfrm>
        </p:spPr>
        <p:txBody>
          <a:bodyPr vert="horz" wrap="square" lIns="91440" tIns="45720" rIns="91440" bIns="45720" anchor="ctr" anchorCtr="0"/>
          <a:lstStyle/>
          <a:p>
            <a:pPr marL="342900" indent="-342900" eaLnBrk="1" hangingPunct="1">
              <a:spcAft>
                <a:spcPct val="20000"/>
              </a:spcAft>
              <a:buClrTx/>
              <a:buSzTx/>
              <a:buFontTx/>
            </a:pPr>
            <a:r>
              <a:rPr lang="zh-CN" altLang="zh-CN" sz="2800" dirty="0">
                <a:latin typeface="+mj-lt"/>
                <a:ea typeface="宋体" panose="02010600030101010101" pitchFamily="2" charset="-122"/>
                <a:cs typeface="+mj-cs"/>
              </a:rPr>
              <a:t>第</a:t>
            </a:r>
            <a:r>
              <a:rPr lang="zh-CN" altLang="en-US" sz="2800" dirty="0">
                <a:latin typeface="+mj-lt"/>
                <a:ea typeface="宋体" panose="02010600030101010101" pitchFamily="2" charset="-122"/>
                <a:cs typeface="+mj-cs"/>
              </a:rPr>
              <a:t>四</a:t>
            </a:r>
            <a:r>
              <a:rPr lang="zh-CN" altLang="zh-CN" sz="2800" dirty="0">
                <a:latin typeface="+mj-lt"/>
                <a:ea typeface="宋体" panose="02010600030101010101" pitchFamily="2" charset="-122"/>
                <a:cs typeface="+mj-cs"/>
              </a:rPr>
              <a:t>章</a:t>
            </a:r>
            <a:r>
              <a:rPr lang="en-US" altLang="zh-CN" sz="2800" dirty="0">
                <a:latin typeface="+mj-lt"/>
                <a:ea typeface="宋体" panose="02010600030101010101" pitchFamily="2" charset="-122"/>
                <a:cs typeface="+mj-cs"/>
              </a:rPr>
              <a:t> </a:t>
            </a:r>
            <a:r>
              <a:rPr lang="zh-CN" altLang="zh-CN" sz="2800" dirty="0">
                <a:latin typeface="+mj-lt"/>
                <a:ea typeface="宋体" panose="02010600030101010101" pitchFamily="2" charset="-122"/>
                <a:cs typeface="+mj-cs"/>
              </a:rPr>
              <a:t>信息安全法律法规</a:t>
            </a:r>
            <a:r>
              <a:rPr lang="zh-CN" altLang="en-US" sz="2800" dirty="0">
                <a:latin typeface="+mj-lt"/>
                <a:ea typeface="宋体" panose="02010600030101010101" pitchFamily="2" charset="-122"/>
                <a:cs typeface="+mj-cs"/>
              </a:rPr>
              <a:t>体系类别</a:t>
            </a:r>
            <a:endParaRPr lang="en-US" altLang="zh-CN" sz="2800" b="0" dirty="0">
              <a:solidFill>
                <a:schemeClr val="tx2"/>
              </a:solidFill>
              <a:latin typeface="+mj-lt"/>
              <a:ea typeface="宋体" panose="02010600030101010101" pitchFamily="2" charset="-122"/>
              <a:cs typeface="+mj-cs"/>
            </a:endParaRPr>
          </a:p>
        </p:txBody>
      </p:sp>
      <p:sp>
        <p:nvSpPr>
          <p:cNvPr id="3075" name="Rectangle 3"/>
          <p:cNvSpPr>
            <a:spLocks noGrp="1"/>
          </p:cNvSpPr>
          <p:nvPr>
            <p:ph type="subTitle" idx="1"/>
          </p:nvPr>
        </p:nvSpPr>
        <p:spPr>
          <a:xfrm>
            <a:off x="920750" y="2743200"/>
            <a:ext cx="7304088" cy="574675"/>
          </a:xfrm>
        </p:spPr>
        <p:txBody>
          <a:bodyPr vert="horz" wrap="square" lIns="91440" tIns="45720" rIns="91440" bIns="45720" anchor="t" anchorCtr="0"/>
          <a:lstStyle/>
          <a:p>
            <a:pPr marL="0" marR="0" indent="0" algn="ctr" defTabSz="914400" rtl="0" eaLnBrk="1" fontAlgn="base" latinLnBrk="0" hangingPunct="1">
              <a:lnSpc>
                <a:spcPct val="90000"/>
              </a:lnSpc>
              <a:spcBef>
                <a:spcPct val="20000"/>
              </a:spcBef>
              <a:spcAft>
                <a:spcPct val="0"/>
              </a:spcAft>
              <a:buClr>
                <a:schemeClr val="tx2"/>
              </a:buClr>
              <a:buSzTx/>
              <a:buFont typeface="Wingdings" panose="05000000000000000000" pitchFamily="2" charset="2"/>
              <a:buNone/>
            </a:pPr>
            <a:r>
              <a:rPr kumimoji="0" lang="zh-CN" altLang="en-US" sz="3600" b="0" i="0" u="none" strike="noStrike" kern="0" cap="none" spc="0" normalizeH="0" baseline="0" noProof="1">
                <a:solidFill>
                  <a:schemeClr val="bg1"/>
                </a:solidFill>
                <a:latin typeface="黑体" panose="02010609060101010101" pitchFamily="49" charset="-122"/>
                <a:ea typeface="黑体" panose="02010609060101010101" pitchFamily="49" charset="-122"/>
                <a:cs typeface="+mn-cs"/>
              </a:rPr>
              <a:t>信息安全法规及安全管理</a:t>
            </a:r>
            <a:endParaRPr kumimoji="0" lang="en-US" altLang="zh-CN" sz="3600" b="0" i="0" u="none" strike="noStrike" kern="0" cap="none" spc="0" normalizeH="0" baseline="0" noProof="1">
              <a:solidFill>
                <a:schemeClr val="bg1"/>
              </a:solidFill>
              <a:latin typeface="黑体" panose="02010609060101010101" pitchFamily="49" charset="-122"/>
              <a:ea typeface="黑体" panose="02010609060101010101" pitchFamily="49" charset="-122"/>
              <a:cs typeface="+mn-cs"/>
            </a:endParaRPr>
          </a:p>
        </p:txBody>
      </p:sp>
      <p:sp>
        <p:nvSpPr>
          <p:cNvPr id="4099" name="文本框 1"/>
          <p:cNvSpPr txBox="1"/>
          <p:nvPr/>
        </p:nvSpPr>
        <p:spPr>
          <a:xfrm>
            <a:off x="1609725" y="4648200"/>
            <a:ext cx="5924550" cy="523875"/>
          </a:xfrm>
          <a:prstGeom prst="rect">
            <a:avLst/>
          </a:prstGeom>
          <a:noFill/>
          <a:ln w="9525">
            <a:noFill/>
          </a:ln>
        </p:spPr>
        <p:txBody>
          <a:bodyPr anchor="t" anchorCtr="0">
            <a:spAutoFit/>
          </a:bodyPr>
          <a:lstStyle/>
          <a:p>
            <a:pPr algn="ctr" eaLnBrk="0" hangingPunct="0"/>
            <a:r>
              <a:rPr lang="zh-CN" altLang="en-US" sz="2800" dirty="0">
                <a:latin typeface="华文楷体" panose="02010600040101010101" pitchFamily="2" charset="-122"/>
                <a:ea typeface="华文楷体" panose="02010600040101010101" pitchFamily="2" charset="-122"/>
              </a:rPr>
              <a:t>授课老师：李妍</a:t>
            </a:r>
            <a:endParaRPr lang="en-US" altLang="zh-CN" sz="2800" dirty="0">
              <a:latin typeface="华文楷体" panose="02010600040101010101" pitchFamily="2" charset="-122"/>
              <a:ea typeface="华文楷体" panose="02010600040101010101" pitchFamily="2" charset="-122"/>
            </a:endParaRPr>
          </a:p>
        </p:txBody>
      </p:sp>
      <p:pic>
        <p:nvPicPr>
          <p:cNvPr id="4100" name="图片 1"/>
          <p:cNvPicPr>
            <a:picLocks noChangeAspect="1"/>
          </p:cNvPicPr>
          <p:nvPr/>
        </p:nvPicPr>
        <p:blipFill>
          <a:blip r:embed="rId1"/>
          <a:stretch>
            <a:fillRect/>
          </a:stretch>
        </p:blipFill>
        <p:spPr>
          <a:xfrm>
            <a:off x="3867150" y="5334000"/>
            <a:ext cx="1409700" cy="1409700"/>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Line 11"/>
          <p:cNvSpPr/>
          <p:nvPr/>
        </p:nvSpPr>
        <p:spPr>
          <a:xfrm>
            <a:off x="2057400" y="2133600"/>
            <a:ext cx="5791200" cy="1588"/>
          </a:xfrm>
          <a:prstGeom prst="line">
            <a:avLst/>
          </a:prstGeom>
          <a:ln w="25400" cap="flat" cmpd="sng">
            <a:solidFill>
              <a:srgbClr val="C0C0C0"/>
            </a:solidFill>
            <a:prstDash val="sysDot"/>
            <a:round/>
            <a:headEnd type="none" w="med" len="med"/>
            <a:tailEnd type="oval" w="med" len="med"/>
          </a:ln>
        </p:spPr>
      </p:sp>
      <p:sp>
        <p:nvSpPr>
          <p:cNvPr id="5122" name="Line 14"/>
          <p:cNvSpPr/>
          <p:nvPr/>
        </p:nvSpPr>
        <p:spPr>
          <a:xfrm flipV="1">
            <a:off x="2057400" y="2984500"/>
            <a:ext cx="5791200" cy="33338"/>
          </a:xfrm>
          <a:prstGeom prst="line">
            <a:avLst/>
          </a:prstGeom>
          <a:ln w="25400" cap="flat" cmpd="sng">
            <a:solidFill>
              <a:srgbClr val="C0C0C0"/>
            </a:solidFill>
            <a:prstDash val="sysDot"/>
            <a:round/>
            <a:headEnd type="none" w="med" len="med"/>
            <a:tailEnd type="oval" w="med" len="med"/>
          </a:ln>
        </p:spPr>
      </p:sp>
      <p:sp>
        <p:nvSpPr>
          <p:cNvPr id="5123" name="Line 25"/>
          <p:cNvSpPr/>
          <p:nvPr/>
        </p:nvSpPr>
        <p:spPr>
          <a:xfrm flipV="1">
            <a:off x="1981200" y="3932238"/>
            <a:ext cx="5867400" cy="17462"/>
          </a:xfrm>
          <a:prstGeom prst="line">
            <a:avLst/>
          </a:prstGeom>
          <a:ln w="25400" cap="flat" cmpd="sng">
            <a:solidFill>
              <a:srgbClr val="C0C0C0"/>
            </a:solidFill>
            <a:prstDash val="sysDot"/>
            <a:round/>
            <a:headEnd type="none" w="med" len="med"/>
            <a:tailEnd type="oval" w="med" len="med"/>
          </a:ln>
        </p:spPr>
      </p:sp>
      <p:sp>
        <p:nvSpPr>
          <p:cNvPr id="5124" name="Line 25"/>
          <p:cNvSpPr/>
          <p:nvPr/>
        </p:nvSpPr>
        <p:spPr>
          <a:xfrm flipV="1">
            <a:off x="1998663" y="4824413"/>
            <a:ext cx="5849937" cy="17462"/>
          </a:xfrm>
          <a:prstGeom prst="line">
            <a:avLst/>
          </a:prstGeom>
          <a:ln w="25400" cap="flat" cmpd="sng">
            <a:solidFill>
              <a:srgbClr val="C0C0C0"/>
            </a:solidFill>
            <a:prstDash val="sysDot"/>
            <a:round/>
            <a:headEnd type="none" w="med" len="med"/>
            <a:tailEnd type="oval" w="med" len="med"/>
          </a:ln>
        </p:spPr>
      </p:sp>
      <p:sp>
        <p:nvSpPr>
          <p:cNvPr id="5125" name="Rectangle 2"/>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本章授课内容</a:t>
            </a:r>
            <a:endParaRPr lang="en-US" altLang="zh-CN" b="1" dirty="0">
              <a:ea typeface="宋体" panose="02010600030101010101" pitchFamily="2" charset="-122"/>
            </a:endParaRPr>
          </a:p>
        </p:txBody>
      </p:sp>
      <p:grpSp>
        <p:nvGrpSpPr>
          <p:cNvPr id="5126" name="Group 3"/>
          <p:cNvGrpSpPr/>
          <p:nvPr/>
        </p:nvGrpSpPr>
        <p:grpSpPr>
          <a:xfrm>
            <a:off x="1524000" y="1524000"/>
            <a:ext cx="762000" cy="665163"/>
            <a:chOff x="1110" y="2656"/>
            <a:chExt cx="1549" cy="1351"/>
          </a:xfrm>
        </p:grpSpPr>
        <p:sp>
          <p:nvSpPr>
            <p:cNvPr id="5127"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5128"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grpSp>
        <p:nvGrpSpPr>
          <p:cNvPr id="5130" name="Group 7"/>
          <p:cNvGrpSpPr/>
          <p:nvPr/>
        </p:nvGrpSpPr>
        <p:grpSpPr>
          <a:xfrm>
            <a:off x="1524000" y="2374900"/>
            <a:ext cx="762000" cy="665163"/>
            <a:chOff x="3174" y="2656"/>
            <a:chExt cx="1549" cy="1351"/>
          </a:xfrm>
        </p:grpSpPr>
        <p:sp>
          <p:nvSpPr>
            <p:cNvPr id="5131"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5132"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sp>
        <p:nvSpPr>
          <p:cNvPr id="5134" name="Text Box 12"/>
          <p:cNvSpPr txBox="1"/>
          <p:nvPr/>
        </p:nvSpPr>
        <p:spPr>
          <a:xfrm>
            <a:off x="2362200" y="1581150"/>
            <a:ext cx="5638800" cy="521970"/>
          </a:xfrm>
          <a:prstGeom prst="rect">
            <a:avLst/>
          </a:prstGeom>
          <a:noFill/>
          <a:ln w="9525">
            <a:noFill/>
          </a:ln>
        </p:spPr>
        <p:txBody>
          <a:bodyPr anchor="t" anchorCtr="0">
            <a:spAutoFit/>
          </a:bodyPr>
          <a:lstStyle/>
          <a:p>
            <a:pPr eaLnBrk="0" hangingPunct="0"/>
            <a:r>
              <a:rPr lang="zh-CN" altLang="en-US" sz="2800" b="1" dirty="0">
                <a:solidFill>
                  <a:srgbClr val="FF0000"/>
                </a:solidFill>
                <a:latin typeface="华文楷体" panose="02010600040101010101" pitchFamily="2" charset="-122"/>
                <a:ea typeface="华文楷体" panose="02010600040101010101" pitchFamily="2" charset="-122"/>
              </a:rPr>
              <a:t>我国信息安全法律法规体系</a:t>
            </a:r>
            <a:endParaRPr lang="zh-CN" altLang="en-US" sz="2800" b="1" dirty="0">
              <a:solidFill>
                <a:srgbClr val="FF0000"/>
              </a:solidFill>
              <a:latin typeface="华文楷体" panose="02010600040101010101" pitchFamily="2" charset="-122"/>
              <a:ea typeface="华文楷体" panose="02010600040101010101" pitchFamily="2" charset="-122"/>
            </a:endParaRPr>
          </a:p>
        </p:txBody>
      </p:sp>
      <p:sp>
        <p:nvSpPr>
          <p:cNvPr id="5135" name="Text Box 13"/>
          <p:cNvSpPr txBox="1"/>
          <p:nvPr/>
        </p:nvSpPr>
        <p:spPr>
          <a:xfrm>
            <a:off x="1733550" y="1622425"/>
            <a:ext cx="328613" cy="461963"/>
          </a:xfrm>
          <a:prstGeom prst="rect">
            <a:avLst/>
          </a:prstGeom>
          <a:noFill/>
          <a:ln w="9525">
            <a:noFill/>
          </a:ln>
        </p:spPr>
        <p:txBody>
          <a:bodyPr wrap="none" anchor="t" anchorCtr="0">
            <a:spAutoFit/>
          </a:bodyPr>
          <a:lstStyle/>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1</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5136" name="Text Box 16"/>
          <p:cNvSpPr txBox="1"/>
          <p:nvPr/>
        </p:nvSpPr>
        <p:spPr>
          <a:xfrm>
            <a:off x="1733550" y="2536825"/>
            <a:ext cx="328613" cy="461963"/>
          </a:xfrm>
          <a:prstGeom prst="rect">
            <a:avLst/>
          </a:prstGeom>
          <a:noFill/>
          <a:ln w="9525">
            <a:noFill/>
          </a:ln>
        </p:spPr>
        <p:txBody>
          <a:bodyPr wrap="none" anchor="t" anchorCtr="0">
            <a:spAutoFit/>
          </a:bodyPr>
          <a:lstStyle/>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2</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5137" name="Text Box 21"/>
          <p:cNvSpPr txBox="1"/>
          <p:nvPr/>
        </p:nvSpPr>
        <p:spPr>
          <a:xfrm>
            <a:off x="1733550" y="3429000"/>
            <a:ext cx="328613" cy="461963"/>
          </a:xfrm>
          <a:prstGeom prst="rect">
            <a:avLst/>
          </a:prstGeom>
          <a:noFill/>
          <a:ln w="9525">
            <a:noFill/>
          </a:ln>
        </p:spPr>
        <p:txBody>
          <a:bodyPr wrap="none" anchor="t" anchorCtr="0">
            <a:spAutoFit/>
          </a:bodyPr>
          <a:lstStyle/>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3</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5138" name="Text Box 24"/>
          <p:cNvSpPr txBox="1"/>
          <p:nvPr/>
        </p:nvSpPr>
        <p:spPr>
          <a:xfrm>
            <a:off x="2286000" y="2490788"/>
            <a:ext cx="5715000" cy="523875"/>
          </a:xfrm>
          <a:prstGeom prst="rect">
            <a:avLst/>
          </a:prstGeom>
          <a:noFill/>
          <a:ln w="9525">
            <a:noFill/>
          </a:ln>
        </p:spPr>
        <p:txBody>
          <a:bodyPr anchor="t" anchorCtr="0">
            <a:spAutoFit/>
          </a:bodyPr>
          <a:lstStyle/>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 信息系统安全相关法律法规</a:t>
            </a:r>
            <a:endParaRPr lang="zh-CN" altLang="en-US" sz="2800" b="1" dirty="0">
              <a:solidFill>
                <a:schemeClr val="tx1"/>
              </a:solidFill>
              <a:latin typeface="华文楷体" panose="02010600040101010101" pitchFamily="2" charset="-122"/>
              <a:ea typeface="华文楷体" panose="02010600040101010101" pitchFamily="2" charset="-122"/>
            </a:endParaRPr>
          </a:p>
        </p:txBody>
      </p:sp>
      <p:sp>
        <p:nvSpPr>
          <p:cNvPr id="5139" name="Text Box 15"/>
          <p:cNvSpPr txBox="1"/>
          <p:nvPr/>
        </p:nvSpPr>
        <p:spPr>
          <a:xfrm>
            <a:off x="2292350" y="3416300"/>
            <a:ext cx="4953000" cy="522288"/>
          </a:xfrm>
          <a:prstGeom prst="rect">
            <a:avLst/>
          </a:prstGeom>
          <a:noFill/>
          <a:ln w="9525">
            <a:noFill/>
          </a:ln>
        </p:spPr>
        <p:txBody>
          <a:bodyPr anchor="t" anchorCtr="0">
            <a:spAutoFit/>
          </a:bodyPr>
          <a:lstStyle/>
          <a:p>
            <a:pPr eaLnBrk="0" hangingPunct="0"/>
            <a:r>
              <a:rPr lang="zh-CN" altLang="en-US" sz="2800" b="1" dirty="0">
                <a:solidFill>
                  <a:srgbClr val="0D1259"/>
                </a:solidFill>
                <a:latin typeface="华文楷体" panose="02010600040101010101" pitchFamily="2" charset="-122"/>
                <a:ea typeface="华文楷体" panose="02010600040101010101" pitchFamily="2" charset="-122"/>
              </a:rPr>
              <a:t> 互联网安全管理相关法律法规</a:t>
            </a:r>
            <a:endParaRPr lang="zh-CN" altLang="en-US" sz="2800" b="1" dirty="0">
              <a:solidFill>
                <a:srgbClr val="0D1259"/>
              </a:solidFill>
              <a:latin typeface="华文楷体" panose="02010600040101010101" pitchFamily="2" charset="-122"/>
              <a:ea typeface="华文楷体" panose="02010600040101010101" pitchFamily="2" charset="-122"/>
            </a:endParaRPr>
          </a:p>
        </p:txBody>
      </p:sp>
      <p:grpSp>
        <p:nvGrpSpPr>
          <p:cNvPr id="5140" name="Group 17"/>
          <p:cNvGrpSpPr/>
          <p:nvPr/>
        </p:nvGrpSpPr>
        <p:grpSpPr>
          <a:xfrm>
            <a:off x="1524000" y="3317875"/>
            <a:ext cx="762000" cy="665163"/>
            <a:chOff x="1110" y="2656"/>
            <a:chExt cx="1549" cy="1351"/>
          </a:xfrm>
        </p:grpSpPr>
        <p:sp>
          <p:nvSpPr>
            <p:cNvPr id="5141"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5142"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5144" name="Text Box 15"/>
          <p:cNvSpPr txBox="1"/>
          <p:nvPr/>
        </p:nvSpPr>
        <p:spPr>
          <a:xfrm>
            <a:off x="2379980" y="4348480"/>
            <a:ext cx="5951855" cy="521970"/>
          </a:xfrm>
          <a:prstGeom prst="rect">
            <a:avLst/>
          </a:prstGeom>
          <a:noFill/>
          <a:ln w="9525">
            <a:noFill/>
          </a:ln>
        </p:spPr>
        <p:txBody>
          <a:bodyPr wrap="square" anchor="t" anchorCtr="0">
            <a:spAutoFit/>
          </a:bodyPr>
          <a:lstStyle/>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其他有关信息安全的相关法律法规</a:t>
            </a:r>
            <a:endParaRPr lang="en-US" altLang="zh-CN" sz="2800" b="1" dirty="0">
              <a:solidFill>
                <a:schemeClr val="tx1"/>
              </a:solidFill>
              <a:latin typeface="华文楷体" panose="02010600040101010101" pitchFamily="2" charset="-122"/>
              <a:ea typeface="华文楷体" panose="02010600040101010101" pitchFamily="2" charset="-122"/>
            </a:endParaRPr>
          </a:p>
        </p:txBody>
      </p:sp>
      <p:grpSp>
        <p:nvGrpSpPr>
          <p:cNvPr id="5145" name="Group 17"/>
          <p:cNvGrpSpPr/>
          <p:nvPr/>
        </p:nvGrpSpPr>
        <p:grpSpPr>
          <a:xfrm>
            <a:off x="1541463" y="4210050"/>
            <a:ext cx="762000" cy="665163"/>
            <a:chOff x="1110" y="2656"/>
            <a:chExt cx="1549" cy="1351"/>
          </a:xfrm>
        </p:grpSpPr>
        <p:sp>
          <p:nvSpPr>
            <p:cNvPr id="5146"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5147"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3"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5149" name="Text Box 15"/>
          <p:cNvSpPr txBox="1"/>
          <p:nvPr/>
        </p:nvSpPr>
        <p:spPr>
          <a:xfrm>
            <a:off x="2362200" y="5114925"/>
            <a:ext cx="4953000" cy="523875"/>
          </a:xfrm>
          <a:prstGeom prst="rect">
            <a:avLst/>
          </a:prstGeom>
          <a:noFill/>
          <a:ln w="9525">
            <a:noFill/>
          </a:ln>
        </p:spPr>
        <p:txBody>
          <a:bodyPr anchor="t" anchorCtr="0">
            <a:spAutoFit/>
          </a:bodyPr>
          <a:lstStyle/>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思政点</a:t>
            </a:r>
            <a:endParaRPr lang="en-US" altLang="zh-CN" sz="2800" b="1" dirty="0">
              <a:solidFill>
                <a:schemeClr val="tx1"/>
              </a:solidFill>
              <a:latin typeface="华文楷体" panose="02010600040101010101" pitchFamily="2" charset="-122"/>
              <a:ea typeface="华文楷体" panose="02010600040101010101" pitchFamily="2" charset="-122"/>
            </a:endParaRPr>
          </a:p>
        </p:txBody>
      </p:sp>
      <p:sp>
        <p:nvSpPr>
          <p:cNvPr id="5150" name="Line 25"/>
          <p:cNvSpPr/>
          <p:nvPr/>
        </p:nvSpPr>
        <p:spPr>
          <a:xfrm flipV="1">
            <a:off x="2151063" y="5621338"/>
            <a:ext cx="5697537" cy="17462"/>
          </a:xfrm>
          <a:prstGeom prst="line">
            <a:avLst/>
          </a:prstGeom>
          <a:ln w="25400" cap="flat" cmpd="sng">
            <a:solidFill>
              <a:srgbClr val="C0C0C0"/>
            </a:solidFill>
            <a:prstDash val="sysDot"/>
            <a:round/>
            <a:headEnd type="none" w="med" len="med"/>
            <a:tailEnd type="oval" w="med" len="med"/>
          </a:ln>
        </p:spPr>
      </p:sp>
      <p:grpSp>
        <p:nvGrpSpPr>
          <p:cNvPr id="5151" name="Group 17"/>
          <p:cNvGrpSpPr/>
          <p:nvPr/>
        </p:nvGrpSpPr>
        <p:grpSpPr>
          <a:xfrm>
            <a:off x="1524000" y="5049838"/>
            <a:ext cx="762000" cy="665162"/>
            <a:chOff x="1110" y="2656"/>
            <a:chExt cx="1549" cy="1351"/>
          </a:xfrm>
        </p:grpSpPr>
        <p:sp>
          <p:nvSpPr>
            <p:cNvPr id="5152"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5153"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5</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我国</a:t>
            </a:r>
            <a:r>
              <a:rPr lang="en-US" altLang="zh-CN" sz="3200" b="1" dirty="0">
                <a:latin typeface="华文楷体" panose="02010600040101010101" pitchFamily="2" charset="-122"/>
                <a:ea typeface="华文楷体" panose="02010600040101010101" pitchFamily="2" charset="-122"/>
              </a:rPr>
              <a:t>信息安全法律法规</a:t>
            </a:r>
            <a:r>
              <a:rPr lang="zh-CN" altLang="en-US" sz="3200" b="1" dirty="0">
                <a:latin typeface="华文楷体" panose="02010600040101010101" pitchFamily="2" charset="-122"/>
                <a:ea typeface="华文楷体" panose="02010600040101010101" pitchFamily="2" charset="-122"/>
              </a:rPr>
              <a:t>体系</a:t>
            </a:r>
            <a:endParaRPr lang="zh-CN" altLang="en-US" sz="3200" b="1" dirty="0">
              <a:latin typeface="华文楷体" panose="02010600040101010101" pitchFamily="2" charset="-122"/>
              <a:ea typeface="华文楷体" panose="02010600040101010101" pitchFamily="2" charset="-122"/>
            </a:endParaRPr>
          </a:p>
        </p:txBody>
      </p:sp>
      <p:sp>
        <p:nvSpPr>
          <p:cNvPr id="33795" name="内容占位符 2"/>
          <p:cNvSpPr>
            <a:spLocks noGrp="1" noChangeArrowheads="1"/>
          </p:cNvSpPr>
          <p:nvPr>
            <p:ph idx="1"/>
          </p:nvPr>
        </p:nvSpPr>
        <p:spPr>
          <a:xfrm>
            <a:off x="457200" y="1295400"/>
            <a:ext cx="8001000" cy="5562600"/>
          </a:xfrm>
        </p:spPr>
        <p:txBody>
          <a:bodyPr vert="horz" wrap="square" lIns="91440" tIns="45720" rIns="91440" bIns="45720" numCol="1" anchor="t" anchorCtr="0" compatLnSpc="1"/>
          <a:lstStyle/>
          <a:p>
            <a:pPr marL="0" marR="0" lvl="0" indent="0" algn="l" defTabSz="914400" rtl="0" eaLnBrk="0" fontAlgn="base" latinLnBrk="0" hangingPunct="0">
              <a:lnSpc>
                <a:spcPct val="150000"/>
              </a:lnSpc>
              <a:spcBef>
                <a:spcPct val="20000"/>
              </a:spcBef>
              <a:spcAft>
                <a:spcPct val="0"/>
              </a:spcAft>
              <a:buClr>
                <a:schemeClr val="tx2"/>
              </a:buClr>
              <a:buSzTx/>
              <a:buFont typeface="Wingdings" panose="05000000000000000000" pitchFamily="2" charset="2"/>
              <a:buNone/>
              <a:defRPr/>
            </a:pPr>
            <a:r>
              <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 我国</a:t>
            </a:r>
            <a:r>
              <a:rPr kumimoji="0" lang="zh-CN"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信息安全法律法规</a:t>
            </a: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体系</a:t>
            </a:r>
            <a:r>
              <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的分类</a:t>
            </a:r>
            <a:endParaRPr kumimoji="0" lang="en-US"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0" fontAlgn="base" latinLnBrk="0" hangingPunct="0">
              <a:lnSpc>
                <a:spcPct val="15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1.</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法律类：</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1371600" marR="0" lvl="2" indent="-457200" algn="l" defTabSz="914400" rtl="0" eaLnBrk="0" fontAlgn="base" latinLnBrk="0" hangingPunct="0">
              <a:lnSpc>
                <a:spcPct val="150000"/>
              </a:lnSpc>
              <a:spcBef>
                <a:spcPct val="20000"/>
              </a:spcBef>
              <a:spcAft>
                <a:spcPct val="0"/>
              </a:spcAft>
              <a:buClr>
                <a:schemeClr val="tx1"/>
              </a:buClr>
              <a:buSzTx/>
              <a:buFont typeface="+mj-ea"/>
              <a:buAutoNum type="circleNumDbPlain"/>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r>
              <a:rPr kumimoji="0" lang="zh-CN" altLang="zh-CN" sz="20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ea"/>
              </a:rPr>
              <a:t>中华人民共和国刑法</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1997</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3</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14</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日全国人民代表大会修订，</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1997</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10</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1</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日起施行）；</a:t>
            </a:r>
            <a:endPar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1371600" marR="0" lvl="2" indent="-457200" algn="l" defTabSz="914400" rtl="0" eaLnBrk="0" fontAlgn="base" latinLnBrk="0" hangingPunct="0">
              <a:lnSpc>
                <a:spcPct val="150000"/>
              </a:lnSpc>
              <a:spcBef>
                <a:spcPct val="20000"/>
              </a:spcBef>
              <a:spcAft>
                <a:spcPct val="0"/>
              </a:spcAft>
              <a:buClr>
                <a:schemeClr val="tx1"/>
              </a:buClr>
              <a:buSzTx/>
              <a:buFont typeface="+mj-ea"/>
              <a:buAutoNum type="circleNumDbPlain"/>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r>
              <a:rPr kumimoji="0" lang="zh-CN" altLang="zh-CN" sz="20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ea"/>
              </a:rPr>
              <a:t>全国人大常委会关于维互联网安全的决定</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2000</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12</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28</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日第九届全国人民代表大会常务委员会第十九次会议通过）；</a:t>
            </a:r>
            <a:endPar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1371600" marR="0" lvl="2" indent="-457200" algn="l" defTabSz="914400" rtl="0" eaLnBrk="0" fontAlgn="base" latinLnBrk="0" hangingPunct="0">
              <a:lnSpc>
                <a:spcPct val="150000"/>
              </a:lnSpc>
              <a:spcBef>
                <a:spcPct val="20000"/>
              </a:spcBef>
              <a:spcAft>
                <a:spcPct val="0"/>
              </a:spcAft>
              <a:buClr>
                <a:schemeClr val="tx1"/>
              </a:buClr>
              <a:buSzTx/>
              <a:buFont typeface="+mj-ea"/>
              <a:buAutoNum type="circleNumDbPlain"/>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r>
              <a:rPr kumimoji="0" lang="zh-CN" altLang="zh-CN" sz="20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ea"/>
              </a:rPr>
              <a:t>中华人民共和国电子签名法</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2004</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8</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28</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日第十届全国人民代表大会常务委员会第十一次会议通过，</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2005</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4</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1</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日起施行）。</a:t>
            </a:r>
            <a:endPar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795">
                                            <p:txEl>
                                              <p:pRg st="2" end="2"/>
                                            </p:txEl>
                                          </p:spTgt>
                                        </p:tgtEl>
                                        <p:attrNameLst>
                                          <p:attrName>style.visibility</p:attrName>
                                        </p:attrNameLst>
                                      </p:cBhvr>
                                      <p:to>
                                        <p:strVal val="visible"/>
                                      </p:to>
                                    </p:set>
                                    <p:anim calcmode="lin" valueType="num">
                                      <p:cBhvr additive="base">
                                        <p:cTn id="7" dur="500" fill="hold"/>
                                        <p:tgtEl>
                                          <p:spTgt spid="3379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3795">
                                            <p:txEl>
                                              <p:pRg st="3" end="3"/>
                                            </p:txEl>
                                          </p:spTgt>
                                        </p:tgtEl>
                                        <p:attrNameLst>
                                          <p:attrName>style.visibility</p:attrName>
                                        </p:attrNameLst>
                                      </p:cBhvr>
                                      <p:to>
                                        <p:strVal val="visible"/>
                                      </p:to>
                                    </p:set>
                                    <p:animEffect transition="in" filter="fade">
                                      <p:cBhvr>
                                        <p:cTn id="13" dur="1000"/>
                                        <p:tgtEl>
                                          <p:spTgt spid="33795">
                                            <p:txEl>
                                              <p:pRg st="3" end="3"/>
                                            </p:txEl>
                                          </p:spTgt>
                                        </p:tgtEl>
                                      </p:cBhvr>
                                    </p:animEffect>
                                    <p:anim calcmode="lin" valueType="num">
                                      <p:cBhvr>
                                        <p:cTn id="14" dur="1000" fill="hold"/>
                                        <p:tgtEl>
                                          <p:spTgt spid="33795">
                                            <p:txEl>
                                              <p:pRg st="3" end="3"/>
                                            </p:txEl>
                                          </p:spTgt>
                                        </p:tgtEl>
                                        <p:attrNameLst>
                                          <p:attrName>ppt_x</p:attrName>
                                        </p:attrNameLst>
                                      </p:cBhvr>
                                      <p:tavLst>
                                        <p:tav tm="0">
                                          <p:val>
                                            <p:strVal val="#ppt_x"/>
                                          </p:val>
                                        </p:tav>
                                        <p:tav tm="100000">
                                          <p:val>
                                            <p:strVal val="#ppt_x"/>
                                          </p:val>
                                        </p:tav>
                                      </p:tavLst>
                                    </p:anim>
                                    <p:anim calcmode="lin" valueType="num">
                                      <p:cBhvr>
                                        <p:cTn id="15" dur="1000" fill="hold"/>
                                        <p:tgtEl>
                                          <p:spTgt spid="3379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33795">
                                            <p:txEl>
                                              <p:pRg st="4" end="4"/>
                                            </p:txEl>
                                          </p:spTgt>
                                        </p:tgtEl>
                                        <p:attrNameLst>
                                          <p:attrName>style.visibility</p:attrName>
                                        </p:attrNameLst>
                                      </p:cBhvr>
                                      <p:to>
                                        <p:strVal val="visible"/>
                                      </p:to>
                                    </p:set>
                                    <p:animEffect transition="in" filter="wipe(down)">
                                      <p:cBhvr>
                                        <p:cTn id="20" dur="500"/>
                                        <p:tgtEl>
                                          <p:spTgt spid="337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p:cNvSpPr>
          <p:nvPr>
            <p:ph type="title"/>
          </p:nvPr>
        </p:nvSpPr>
        <p:spPr>
          <a:xfrm>
            <a:off x="838200" y="838200"/>
            <a:ext cx="7010400" cy="311150"/>
          </a:xfrm>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我国</a:t>
            </a:r>
            <a:r>
              <a:rPr lang="en-US" altLang="zh-CN" sz="3200" b="1" dirty="0">
                <a:latin typeface="华文楷体" panose="02010600040101010101" pitchFamily="2" charset="-122"/>
                <a:ea typeface="华文楷体" panose="02010600040101010101" pitchFamily="2" charset="-122"/>
              </a:rPr>
              <a:t>信息安全法律法规</a:t>
            </a:r>
            <a:br>
              <a:rPr lang="zh-CN" altLang="en-US" b="1" dirty="0">
                <a:ea typeface="宋体" panose="02010600030101010101" pitchFamily="2" charset="-122"/>
              </a:rPr>
            </a:br>
            <a:endParaRPr lang="zh-CN" altLang="en-US" b="1" dirty="0">
              <a:ea typeface="宋体" panose="02010600030101010101" pitchFamily="2" charset="-122"/>
            </a:endParaRPr>
          </a:p>
        </p:txBody>
      </p:sp>
      <p:sp>
        <p:nvSpPr>
          <p:cNvPr id="78851" name="内容占位符 2"/>
          <p:cNvSpPr>
            <a:spLocks noGrp="1"/>
          </p:cNvSpPr>
          <p:nvPr>
            <p:ph idx="1"/>
          </p:nvPr>
        </p:nvSpPr>
        <p:spPr>
          <a:xfrm>
            <a:off x="-381000" y="1524000"/>
            <a:ext cx="9372600" cy="5562600"/>
          </a:xfrm>
        </p:spPr>
        <p:txBody>
          <a:bodyPr vert="horz" wrap="square" lIns="91440" tIns="45720" rIns="91440" bIns="45720" anchor="t" anchorCtr="0"/>
          <a:lstStyle/>
          <a:p>
            <a:pPr lvl="1"/>
            <a:r>
              <a:rPr lang="en-US" altLang="zh-CN" sz="2400" b="1" dirty="0">
                <a:latin typeface="华文楷体" panose="02010600040101010101" pitchFamily="2" charset="-122"/>
                <a:ea typeface="华文楷体" panose="02010600040101010101" pitchFamily="2" charset="-122"/>
              </a:rPr>
              <a:t>2.</a:t>
            </a:r>
            <a:r>
              <a:rPr lang="zh-CN" altLang="zh-CN" sz="2400" b="1" dirty="0">
                <a:latin typeface="华文楷体" panose="02010600040101010101" pitchFamily="2" charset="-122"/>
                <a:ea typeface="华文楷体" panose="02010600040101010101" pitchFamily="2" charset="-122"/>
              </a:rPr>
              <a:t>行政法规类</a:t>
            </a:r>
            <a:endParaRPr lang="zh-CN" altLang="zh-CN" sz="2400" b="1" dirty="0">
              <a:latin typeface="华文楷体" panose="02010600040101010101" pitchFamily="2" charset="-122"/>
              <a:ea typeface="华文楷体" panose="02010600040101010101" pitchFamily="2" charset="-122"/>
            </a:endParaRPr>
          </a:p>
          <a:p>
            <a:pPr marL="1371600" lvl="2" indent="-457200">
              <a:lnSpc>
                <a:spcPct val="150000"/>
              </a:lnSpc>
              <a:buAutoNum type="circleNumDbPlain"/>
            </a:pPr>
            <a:r>
              <a:rPr lang="zh-CN" altLang="zh-CN" sz="2000" dirty="0">
                <a:latin typeface="华文楷体" panose="02010600040101010101" pitchFamily="2" charset="-122"/>
                <a:ea typeface="华文楷体" panose="02010600040101010101" pitchFamily="2" charset="-122"/>
              </a:rPr>
              <a:t>《计算机软件保护条例》（</a:t>
            </a:r>
            <a:r>
              <a:rPr lang="en-US" altLang="zh-CN" sz="2000" dirty="0">
                <a:latin typeface="华文楷体" panose="02010600040101010101" pitchFamily="2" charset="-122"/>
                <a:ea typeface="华文楷体" panose="02010600040101010101" pitchFamily="2" charset="-122"/>
              </a:rPr>
              <a:t>2001</a:t>
            </a:r>
            <a:r>
              <a:rPr lang="zh-CN" altLang="zh-CN" sz="2000" dirty="0">
                <a:latin typeface="华文楷体" panose="02010600040101010101" pitchFamily="2" charset="-122"/>
                <a:ea typeface="华文楷体" panose="02010600040101010101" pitchFamily="2" charset="-122"/>
              </a:rPr>
              <a:t>年</a:t>
            </a:r>
            <a:r>
              <a:rPr lang="en-US" altLang="zh-CN" sz="2000" dirty="0">
                <a:latin typeface="华文楷体" panose="02010600040101010101" pitchFamily="2" charset="-122"/>
                <a:ea typeface="华文楷体" panose="02010600040101010101" pitchFamily="2" charset="-122"/>
              </a:rPr>
              <a:t>10</a:t>
            </a:r>
            <a:r>
              <a:rPr lang="zh-CN" altLang="zh-CN" sz="2000" dirty="0">
                <a:latin typeface="华文楷体" panose="02010600040101010101" pitchFamily="2" charset="-122"/>
                <a:ea typeface="华文楷体" panose="02010600040101010101" pitchFamily="2" charset="-122"/>
              </a:rPr>
              <a:t>月</a:t>
            </a:r>
            <a:r>
              <a:rPr lang="en-US" altLang="zh-CN" sz="2000" dirty="0">
                <a:latin typeface="华文楷体" panose="02010600040101010101" pitchFamily="2" charset="-122"/>
                <a:ea typeface="华文楷体" panose="02010600040101010101" pitchFamily="2" charset="-122"/>
              </a:rPr>
              <a:t>1</a:t>
            </a:r>
            <a:r>
              <a:rPr lang="zh-CN" altLang="zh-CN" sz="2000" dirty="0">
                <a:latin typeface="华文楷体" panose="02010600040101010101" pitchFamily="2" charset="-122"/>
                <a:ea typeface="华文楷体" panose="02010600040101010101" pitchFamily="2" charset="-122"/>
              </a:rPr>
              <a:t>日国务院发布并实施）；</a:t>
            </a:r>
            <a:endParaRPr lang="zh-CN" altLang="zh-CN" sz="2000" dirty="0">
              <a:latin typeface="华文楷体" panose="02010600040101010101" pitchFamily="2" charset="-122"/>
              <a:ea typeface="华文楷体" panose="02010600040101010101" pitchFamily="2" charset="-122"/>
            </a:endParaRPr>
          </a:p>
          <a:p>
            <a:pPr marL="1371600" lvl="2" indent="-457200">
              <a:lnSpc>
                <a:spcPct val="150000"/>
              </a:lnSpc>
              <a:buAutoNum type="circleNumDbPlain"/>
            </a:pPr>
            <a:r>
              <a:rPr lang="zh-CN" altLang="zh-CN" sz="2000" dirty="0">
                <a:latin typeface="华文楷体" panose="02010600040101010101" pitchFamily="2" charset="-122"/>
                <a:ea typeface="华文楷体" panose="02010600040101010101" pitchFamily="2" charset="-122"/>
              </a:rPr>
              <a:t>《中华人民共和国计算机信息系统安全保护条例》（</a:t>
            </a:r>
            <a:r>
              <a:rPr lang="en-US" altLang="zh-CN" sz="2000" dirty="0">
                <a:latin typeface="华文楷体" panose="02010600040101010101" pitchFamily="2" charset="-122"/>
                <a:ea typeface="华文楷体" panose="02010600040101010101" pitchFamily="2" charset="-122"/>
              </a:rPr>
              <a:t>1994</a:t>
            </a:r>
            <a:r>
              <a:rPr lang="zh-CN" altLang="zh-CN" sz="2000" dirty="0">
                <a:latin typeface="华文楷体" panose="02010600040101010101" pitchFamily="2" charset="-122"/>
                <a:ea typeface="华文楷体" panose="02010600040101010101" pitchFamily="2" charset="-122"/>
              </a:rPr>
              <a:t>年</a:t>
            </a:r>
            <a:r>
              <a:rPr lang="en-US" altLang="zh-CN" sz="2000" dirty="0">
                <a:latin typeface="华文楷体" panose="02010600040101010101" pitchFamily="2" charset="-122"/>
                <a:ea typeface="华文楷体" panose="02010600040101010101" pitchFamily="2" charset="-122"/>
              </a:rPr>
              <a:t>2</a:t>
            </a:r>
            <a:r>
              <a:rPr lang="zh-CN" altLang="zh-CN" sz="2000" dirty="0">
                <a:latin typeface="华文楷体" panose="02010600040101010101" pitchFamily="2" charset="-122"/>
                <a:ea typeface="华文楷体" panose="02010600040101010101" pitchFamily="2" charset="-122"/>
              </a:rPr>
              <a:t>月</a:t>
            </a:r>
            <a:r>
              <a:rPr lang="en-US" altLang="zh-CN" sz="2000" dirty="0">
                <a:latin typeface="华文楷体" panose="02010600040101010101" pitchFamily="2" charset="-122"/>
                <a:ea typeface="华文楷体" panose="02010600040101010101" pitchFamily="2" charset="-122"/>
              </a:rPr>
              <a:t>18</a:t>
            </a:r>
            <a:r>
              <a:rPr lang="zh-CN" altLang="zh-CN" sz="2000" dirty="0">
                <a:latin typeface="华文楷体" panose="02010600040101010101" pitchFamily="2" charset="-122"/>
                <a:ea typeface="华文楷体" panose="02010600040101010101" pitchFamily="2" charset="-122"/>
              </a:rPr>
              <a:t>日国务院发布并施行）；</a:t>
            </a:r>
            <a:endParaRPr lang="zh-CN" altLang="zh-CN" sz="2000" dirty="0">
              <a:latin typeface="华文楷体" panose="02010600040101010101" pitchFamily="2" charset="-122"/>
              <a:ea typeface="华文楷体" panose="02010600040101010101" pitchFamily="2" charset="-122"/>
            </a:endParaRPr>
          </a:p>
          <a:p>
            <a:pPr marL="1371600" lvl="2" indent="-457200">
              <a:lnSpc>
                <a:spcPct val="150000"/>
              </a:lnSpc>
              <a:buAutoNum type="circleNumDbPlain"/>
            </a:pPr>
            <a:r>
              <a:rPr lang="zh-CN" altLang="zh-CN" sz="2000" dirty="0">
                <a:latin typeface="华文楷体" panose="02010600040101010101" pitchFamily="2" charset="-122"/>
                <a:ea typeface="华文楷体" panose="02010600040101010101" pitchFamily="2" charset="-122"/>
              </a:rPr>
              <a:t>《中华人民共和国计算机信息网络国际联网管理暂行规定》（</a:t>
            </a:r>
            <a:r>
              <a:rPr lang="en-US" altLang="zh-CN" sz="2000" dirty="0">
                <a:latin typeface="华文楷体" panose="02010600040101010101" pitchFamily="2" charset="-122"/>
                <a:ea typeface="华文楷体" panose="02010600040101010101" pitchFamily="2" charset="-122"/>
              </a:rPr>
              <a:t>1996</a:t>
            </a:r>
            <a:r>
              <a:rPr lang="zh-CN" altLang="zh-CN" sz="2000" dirty="0">
                <a:latin typeface="华文楷体" panose="02010600040101010101" pitchFamily="2" charset="-122"/>
                <a:ea typeface="华文楷体" panose="02010600040101010101" pitchFamily="2" charset="-122"/>
              </a:rPr>
              <a:t>年</a:t>
            </a:r>
            <a:r>
              <a:rPr lang="en-US" altLang="zh-CN" sz="2000" dirty="0">
                <a:latin typeface="华文楷体" panose="02010600040101010101" pitchFamily="2" charset="-122"/>
                <a:ea typeface="华文楷体" panose="02010600040101010101" pitchFamily="2" charset="-122"/>
              </a:rPr>
              <a:t>2</a:t>
            </a:r>
            <a:r>
              <a:rPr lang="zh-CN" altLang="zh-CN" sz="2000" dirty="0">
                <a:latin typeface="华文楷体" panose="02010600040101010101" pitchFamily="2" charset="-122"/>
                <a:ea typeface="华文楷体" panose="02010600040101010101" pitchFamily="2" charset="-122"/>
              </a:rPr>
              <a:t>月</a:t>
            </a:r>
            <a:r>
              <a:rPr lang="en-US" altLang="zh-CN" sz="2000" dirty="0">
                <a:latin typeface="华文楷体" panose="02010600040101010101" pitchFamily="2" charset="-122"/>
                <a:ea typeface="华文楷体" panose="02010600040101010101" pitchFamily="2" charset="-122"/>
              </a:rPr>
              <a:t>1</a:t>
            </a:r>
            <a:r>
              <a:rPr lang="zh-CN" altLang="zh-CN" sz="2000" dirty="0">
                <a:latin typeface="华文楷体" panose="02010600040101010101" pitchFamily="2" charset="-122"/>
                <a:ea typeface="华文楷体" panose="02010600040101010101" pitchFamily="2" charset="-122"/>
              </a:rPr>
              <a:t>日国务院发布并施行，根据</a:t>
            </a:r>
            <a:r>
              <a:rPr lang="en-US" altLang="zh-CN" sz="2000" dirty="0">
                <a:latin typeface="华文楷体" panose="02010600040101010101" pitchFamily="2" charset="-122"/>
                <a:ea typeface="华文楷体" panose="02010600040101010101" pitchFamily="2" charset="-122"/>
              </a:rPr>
              <a:t>1997</a:t>
            </a:r>
            <a:r>
              <a:rPr lang="zh-CN" altLang="zh-CN" sz="2000" dirty="0">
                <a:latin typeface="华文楷体" panose="02010600040101010101" pitchFamily="2" charset="-122"/>
                <a:ea typeface="华文楷体" panose="02010600040101010101" pitchFamily="2" charset="-122"/>
              </a:rPr>
              <a:t>年</a:t>
            </a:r>
            <a:r>
              <a:rPr lang="en-US" altLang="zh-CN" sz="2000" dirty="0">
                <a:latin typeface="华文楷体" panose="02010600040101010101" pitchFamily="2" charset="-122"/>
                <a:ea typeface="华文楷体" panose="02010600040101010101" pitchFamily="2" charset="-122"/>
              </a:rPr>
              <a:t>5</a:t>
            </a:r>
            <a:r>
              <a:rPr lang="zh-CN" altLang="zh-CN" sz="2000" dirty="0">
                <a:latin typeface="华文楷体" panose="02010600040101010101" pitchFamily="2" charset="-122"/>
                <a:ea typeface="华文楷体" panose="02010600040101010101" pitchFamily="2" charset="-122"/>
              </a:rPr>
              <a:t>月</a:t>
            </a:r>
            <a:r>
              <a:rPr lang="en-US" altLang="zh-CN" sz="2000" dirty="0">
                <a:latin typeface="华文楷体" panose="02010600040101010101" pitchFamily="2" charset="-122"/>
                <a:ea typeface="华文楷体" panose="02010600040101010101" pitchFamily="2" charset="-122"/>
              </a:rPr>
              <a:t>20</a:t>
            </a:r>
            <a:r>
              <a:rPr lang="zh-CN" altLang="zh-CN" sz="2000" dirty="0">
                <a:latin typeface="华文楷体" panose="02010600040101010101" pitchFamily="2" charset="-122"/>
                <a:ea typeface="华文楷体" panose="02010600040101010101" pitchFamily="2" charset="-122"/>
              </a:rPr>
              <a:t>日《国务院关于</a:t>
            </a:r>
            <a:r>
              <a:rPr lang="en-US" altLang="zh-CN" sz="2000" dirty="0">
                <a:latin typeface="华文楷体" panose="02010600040101010101" pitchFamily="2" charset="-122"/>
                <a:ea typeface="华文楷体" panose="02010600040101010101" pitchFamily="2" charset="-122"/>
              </a:rPr>
              <a:t>&lt;</a:t>
            </a:r>
            <a:r>
              <a:rPr lang="zh-CN" altLang="zh-CN" sz="2000" dirty="0">
                <a:latin typeface="华文楷体" panose="02010600040101010101" pitchFamily="2" charset="-122"/>
                <a:ea typeface="华文楷体" panose="02010600040101010101" pitchFamily="2" charset="-122"/>
              </a:rPr>
              <a:t>中华人民共和国计算机信息网络国际联网管理暂行规定</a:t>
            </a:r>
            <a:r>
              <a:rPr lang="en-US" altLang="zh-CN" sz="2000" dirty="0">
                <a:latin typeface="华文楷体" panose="02010600040101010101" pitchFamily="2" charset="-122"/>
                <a:ea typeface="华文楷体" panose="02010600040101010101" pitchFamily="2" charset="-122"/>
              </a:rPr>
              <a:t>&gt;</a:t>
            </a:r>
            <a:r>
              <a:rPr lang="zh-CN" altLang="zh-CN" sz="2000" dirty="0">
                <a:latin typeface="华文楷体" panose="02010600040101010101" pitchFamily="2" charset="-122"/>
                <a:ea typeface="华文楷体" panose="02010600040101010101" pitchFamily="2" charset="-122"/>
              </a:rPr>
              <a:t>的决定》修正公布）；</a:t>
            </a:r>
            <a:endParaRPr lang="zh-CN" altLang="zh-CN" sz="2000" dirty="0">
              <a:latin typeface="华文楷体" panose="02010600040101010101" pitchFamily="2" charset="-122"/>
              <a:ea typeface="华文楷体" panose="02010600040101010101" pitchFamily="2" charset="-122"/>
            </a:endParaRPr>
          </a:p>
          <a:p>
            <a:pPr marL="1371600" lvl="2" indent="-457200">
              <a:lnSpc>
                <a:spcPct val="150000"/>
              </a:lnSpc>
              <a:buAutoNum type="circleNumDbPlain"/>
            </a:pPr>
            <a:r>
              <a:rPr lang="zh-CN" altLang="zh-CN" sz="2000" dirty="0">
                <a:latin typeface="华文楷体" panose="02010600040101010101" pitchFamily="2" charset="-122"/>
                <a:ea typeface="华文楷体" panose="02010600040101010101" pitchFamily="2" charset="-122"/>
              </a:rPr>
              <a:t>《中华人民共和国电信条例》（</a:t>
            </a:r>
            <a:r>
              <a:rPr lang="en-US" altLang="zh-CN" sz="2000" dirty="0">
                <a:latin typeface="华文楷体" panose="02010600040101010101" pitchFamily="2" charset="-122"/>
                <a:ea typeface="华文楷体" panose="02010600040101010101" pitchFamily="2" charset="-122"/>
              </a:rPr>
              <a:t>2000</a:t>
            </a:r>
            <a:r>
              <a:rPr lang="zh-CN" altLang="zh-CN" sz="2000" dirty="0">
                <a:latin typeface="华文楷体" panose="02010600040101010101" pitchFamily="2" charset="-122"/>
                <a:ea typeface="华文楷体" panose="02010600040101010101" pitchFamily="2" charset="-122"/>
              </a:rPr>
              <a:t>年</a:t>
            </a:r>
            <a:r>
              <a:rPr lang="en-US" altLang="zh-CN" sz="2000" dirty="0">
                <a:latin typeface="华文楷体" panose="02010600040101010101" pitchFamily="2" charset="-122"/>
                <a:ea typeface="华文楷体" panose="02010600040101010101" pitchFamily="2" charset="-122"/>
              </a:rPr>
              <a:t>9</a:t>
            </a:r>
            <a:r>
              <a:rPr lang="zh-CN" altLang="zh-CN" sz="2000" dirty="0">
                <a:latin typeface="华文楷体" panose="02010600040101010101" pitchFamily="2" charset="-122"/>
                <a:ea typeface="华文楷体" panose="02010600040101010101" pitchFamily="2" charset="-122"/>
              </a:rPr>
              <a:t>月</a:t>
            </a:r>
            <a:r>
              <a:rPr lang="en-US" altLang="zh-CN" sz="2000" dirty="0">
                <a:latin typeface="华文楷体" panose="02010600040101010101" pitchFamily="2" charset="-122"/>
                <a:ea typeface="华文楷体" panose="02010600040101010101" pitchFamily="2" charset="-122"/>
              </a:rPr>
              <a:t>25</a:t>
            </a:r>
            <a:r>
              <a:rPr lang="zh-CN" altLang="zh-CN" sz="2000" dirty="0">
                <a:latin typeface="华文楷体" panose="02010600040101010101" pitchFamily="2" charset="-122"/>
                <a:ea typeface="华文楷体" panose="02010600040101010101" pitchFamily="2" charset="-122"/>
              </a:rPr>
              <a:t>日国务院发布并施行）；</a:t>
            </a:r>
            <a:endParaRPr lang="zh-CN" altLang="zh-CN" sz="2000" dirty="0">
              <a:latin typeface="华文楷体" panose="02010600040101010101" pitchFamily="2" charset="-122"/>
              <a:ea typeface="华文楷体" panose="02010600040101010101" pitchFamily="2" charset="-122"/>
            </a:endParaRPr>
          </a:p>
          <a:p>
            <a:pPr marL="1371600" lvl="2" indent="-457200">
              <a:lnSpc>
                <a:spcPct val="150000"/>
              </a:lnSpc>
              <a:buAutoNum type="circleNumDbPlain"/>
            </a:pPr>
            <a:r>
              <a:rPr lang="zh-CN" altLang="zh-CN" sz="2000" dirty="0">
                <a:latin typeface="华文楷体" panose="02010600040101010101" pitchFamily="2" charset="-122"/>
                <a:ea typeface="华文楷体" panose="02010600040101010101" pitchFamily="2" charset="-122"/>
              </a:rPr>
              <a:t>《互联网信息服务管理办法》（</a:t>
            </a:r>
            <a:r>
              <a:rPr lang="en-US" altLang="zh-CN" sz="2000" dirty="0">
                <a:latin typeface="华文楷体" panose="02010600040101010101" pitchFamily="2" charset="-122"/>
                <a:ea typeface="华文楷体" panose="02010600040101010101" pitchFamily="2" charset="-122"/>
              </a:rPr>
              <a:t>2000</a:t>
            </a:r>
            <a:r>
              <a:rPr lang="zh-CN" altLang="zh-CN" sz="2000" dirty="0">
                <a:latin typeface="华文楷体" panose="02010600040101010101" pitchFamily="2" charset="-122"/>
                <a:ea typeface="华文楷体" panose="02010600040101010101" pitchFamily="2" charset="-122"/>
              </a:rPr>
              <a:t>年</a:t>
            </a:r>
            <a:r>
              <a:rPr lang="en-US" altLang="zh-CN" sz="2000" dirty="0">
                <a:latin typeface="华文楷体" panose="02010600040101010101" pitchFamily="2" charset="-122"/>
                <a:ea typeface="华文楷体" panose="02010600040101010101" pitchFamily="2" charset="-122"/>
              </a:rPr>
              <a:t>9</a:t>
            </a:r>
            <a:r>
              <a:rPr lang="zh-CN" altLang="zh-CN" sz="2000" dirty="0">
                <a:latin typeface="华文楷体" panose="02010600040101010101" pitchFamily="2" charset="-122"/>
                <a:ea typeface="华文楷体" panose="02010600040101010101" pitchFamily="2" charset="-122"/>
              </a:rPr>
              <a:t>月</a:t>
            </a:r>
            <a:r>
              <a:rPr lang="en-US" altLang="zh-CN" sz="2000" dirty="0">
                <a:latin typeface="华文楷体" panose="02010600040101010101" pitchFamily="2" charset="-122"/>
                <a:ea typeface="华文楷体" panose="02010600040101010101" pitchFamily="2" charset="-122"/>
              </a:rPr>
              <a:t>20</a:t>
            </a:r>
            <a:r>
              <a:rPr lang="zh-CN" altLang="zh-CN" sz="2000" dirty="0">
                <a:latin typeface="华文楷体" panose="02010600040101010101" pitchFamily="2" charset="-122"/>
                <a:ea typeface="华文楷体" panose="02010600040101010101" pitchFamily="2" charset="-122"/>
              </a:rPr>
              <a:t>日国务院发布并施行）；</a:t>
            </a:r>
            <a:endParaRPr lang="zh-CN" altLang="zh-CN" sz="2000" dirty="0">
              <a:latin typeface="华文楷体" panose="02010600040101010101" pitchFamily="2" charset="-122"/>
              <a:ea typeface="华文楷体" panose="02010600040101010101" pitchFamily="2" charset="-122"/>
            </a:endParaRPr>
          </a:p>
          <a:p>
            <a:pPr marL="1371600" lvl="2" indent="-457200">
              <a:lnSpc>
                <a:spcPct val="150000"/>
              </a:lnSpc>
              <a:buAutoNum type="circleNumDbPlain"/>
            </a:pPr>
            <a:r>
              <a:rPr lang="zh-CN" altLang="zh-CN" sz="2000" dirty="0">
                <a:latin typeface="华文楷体" panose="02010600040101010101" pitchFamily="2" charset="-122"/>
                <a:ea typeface="华文楷体" panose="02010600040101010101" pitchFamily="2" charset="-122"/>
              </a:rPr>
              <a:t>《信息网络传播权保护条例》（</a:t>
            </a:r>
            <a:r>
              <a:rPr lang="en-US" altLang="zh-CN" sz="2000" dirty="0">
                <a:latin typeface="华文楷体" panose="02010600040101010101" pitchFamily="2" charset="-122"/>
                <a:ea typeface="华文楷体" panose="02010600040101010101" pitchFamily="2" charset="-122"/>
              </a:rPr>
              <a:t>2006</a:t>
            </a:r>
            <a:r>
              <a:rPr lang="zh-CN" altLang="zh-CN" sz="2000" dirty="0">
                <a:latin typeface="华文楷体" panose="02010600040101010101" pitchFamily="2" charset="-122"/>
                <a:ea typeface="华文楷体" panose="02010600040101010101" pitchFamily="2" charset="-122"/>
              </a:rPr>
              <a:t>年</a:t>
            </a:r>
            <a:r>
              <a:rPr lang="en-US" altLang="zh-CN" sz="2000" dirty="0">
                <a:latin typeface="华文楷体" panose="02010600040101010101" pitchFamily="2" charset="-122"/>
                <a:ea typeface="华文楷体" panose="02010600040101010101" pitchFamily="2" charset="-122"/>
              </a:rPr>
              <a:t>7</a:t>
            </a:r>
            <a:r>
              <a:rPr lang="zh-CN" altLang="zh-CN" sz="2000" dirty="0">
                <a:latin typeface="华文楷体" panose="02010600040101010101" pitchFamily="2" charset="-122"/>
                <a:ea typeface="华文楷体" panose="02010600040101010101" pitchFamily="2" charset="-122"/>
              </a:rPr>
              <a:t>月</a:t>
            </a:r>
            <a:r>
              <a:rPr lang="en-US" altLang="zh-CN" sz="2000" dirty="0">
                <a:latin typeface="华文楷体" panose="02010600040101010101" pitchFamily="2" charset="-122"/>
                <a:ea typeface="华文楷体" panose="02010600040101010101" pitchFamily="2" charset="-122"/>
              </a:rPr>
              <a:t>1</a:t>
            </a:r>
            <a:r>
              <a:rPr lang="zh-CN" altLang="zh-CN" sz="2000" dirty="0">
                <a:latin typeface="华文楷体" panose="02010600040101010101" pitchFamily="2" charset="-122"/>
                <a:ea typeface="华文楷体" panose="02010600040101010101" pitchFamily="2" charset="-122"/>
              </a:rPr>
              <a:t>日国务院发布并施行）。</a:t>
            </a:r>
            <a:endParaRPr lang="zh-CN" altLang="zh-CN" sz="2000" dirty="0">
              <a:latin typeface="华文楷体" panose="02010600040101010101" pitchFamily="2" charset="-122"/>
              <a:ea typeface="华文楷体" panose="02010600040101010101" pitchFamily="2" charset="-122"/>
            </a:endParaRPr>
          </a:p>
          <a:p>
            <a:pPr>
              <a:buNone/>
            </a:pPr>
            <a:endParaRPr lang="zh-CN" altLang="zh-CN" sz="2800" dirty="0">
              <a:ea typeface="宋体" panose="02010600030101010101" pitchFamily="2" charset="-122"/>
            </a:endParaRPr>
          </a:p>
          <a:p>
            <a:pPr lvl="1" eaLnBrk="1" hangingPunct="1">
              <a:buNone/>
            </a:pPr>
            <a:endParaRPr lang="zh-CN" altLang="zh-CN" dirty="0">
              <a:ea typeface="宋体" panose="02010600030101010101" pitchFamily="2" charset="-122"/>
            </a:endParaRPr>
          </a:p>
          <a:p>
            <a:pPr lvl="1" eaLnBrk="1" hangingPunct="1">
              <a:buNone/>
            </a:pPr>
            <a:endParaRPr lang="en-US" altLang="zh-CN" dirty="0">
              <a:ea typeface="宋体" panose="02010600030101010101" pitchFamily="2" charset="-122"/>
            </a:endParaRPr>
          </a:p>
          <a:p>
            <a:pPr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8851">
                                            <p:txEl>
                                              <p:pRg st="1" end="1"/>
                                            </p:txEl>
                                          </p:spTgt>
                                        </p:tgtEl>
                                        <p:attrNameLst>
                                          <p:attrName>style.visibility</p:attrName>
                                        </p:attrNameLst>
                                      </p:cBhvr>
                                      <p:to>
                                        <p:strVal val="visible"/>
                                      </p:to>
                                    </p:set>
                                    <p:animEffect transition="in" filter="wipe(down)">
                                      <p:cBhvr>
                                        <p:cTn id="7" dur="500"/>
                                        <p:tgtEl>
                                          <p:spTgt spid="78851">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8851">
                                            <p:txEl>
                                              <p:pRg st="2" end="2"/>
                                            </p:txEl>
                                          </p:spTgt>
                                        </p:tgtEl>
                                        <p:attrNameLst>
                                          <p:attrName>style.visibility</p:attrName>
                                        </p:attrNameLst>
                                      </p:cBhvr>
                                      <p:to>
                                        <p:strVal val="visible"/>
                                      </p:to>
                                    </p:set>
                                    <p:animEffect transition="in" filter="wipe(down)">
                                      <p:cBhvr>
                                        <p:cTn id="10" dur="500"/>
                                        <p:tgtEl>
                                          <p:spTgt spid="78851">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78851">
                                            <p:txEl>
                                              <p:pRg st="3" end="3"/>
                                            </p:txEl>
                                          </p:spTgt>
                                        </p:tgtEl>
                                        <p:attrNameLst>
                                          <p:attrName>style.visibility</p:attrName>
                                        </p:attrNameLst>
                                      </p:cBhvr>
                                      <p:to>
                                        <p:strVal val="visible"/>
                                      </p:to>
                                    </p:set>
                                    <p:animEffect transition="in" filter="circle(in)">
                                      <p:cBhvr>
                                        <p:cTn id="15" dur="2000"/>
                                        <p:tgtEl>
                                          <p:spTgt spid="78851">
                                            <p:txEl>
                                              <p:pRg st="3" end="3"/>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78851">
                                            <p:txEl>
                                              <p:pRg st="4" end="4"/>
                                            </p:txEl>
                                          </p:spTgt>
                                        </p:tgtEl>
                                        <p:attrNameLst>
                                          <p:attrName>style.visibility</p:attrName>
                                        </p:attrNameLst>
                                      </p:cBhvr>
                                      <p:to>
                                        <p:strVal val="visible"/>
                                      </p:to>
                                    </p:set>
                                    <p:animEffect transition="in" filter="circle(in)">
                                      <p:cBhvr>
                                        <p:cTn id="18" dur="2000"/>
                                        <p:tgtEl>
                                          <p:spTgt spid="78851">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nodeType="clickEffect">
                                  <p:stCondLst>
                                    <p:cond delay="0"/>
                                  </p:stCondLst>
                                  <p:childTnLst>
                                    <p:set>
                                      <p:cBhvr>
                                        <p:cTn id="22" dur="1" fill="hold">
                                          <p:stCondLst>
                                            <p:cond delay="0"/>
                                          </p:stCondLst>
                                        </p:cTn>
                                        <p:tgtEl>
                                          <p:spTgt spid="78851">
                                            <p:txEl>
                                              <p:pRg st="5" end="5"/>
                                            </p:txEl>
                                          </p:spTgt>
                                        </p:tgtEl>
                                        <p:attrNameLst>
                                          <p:attrName>style.visibility</p:attrName>
                                        </p:attrNameLst>
                                      </p:cBhvr>
                                      <p:to>
                                        <p:strVal val="visible"/>
                                      </p:to>
                                    </p:set>
                                    <p:animEffect transition="in" filter="wheel(1)">
                                      <p:cBhvr>
                                        <p:cTn id="23" dur="2000"/>
                                        <p:tgtEl>
                                          <p:spTgt spid="78851">
                                            <p:txEl>
                                              <p:pRg st="5" end="5"/>
                                            </p:txEl>
                                          </p:spTgt>
                                        </p:tgtEl>
                                      </p:cBhvr>
                                    </p:animEffect>
                                  </p:childTnLst>
                                </p:cTn>
                              </p:par>
                              <p:par>
                                <p:cTn id="24" presetID="21" presetClass="entr" presetSubtype="1" fill="hold" nodeType="withEffect">
                                  <p:stCondLst>
                                    <p:cond delay="0"/>
                                  </p:stCondLst>
                                  <p:childTnLst>
                                    <p:set>
                                      <p:cBhvr>
                                        <p:cTn id="25" dur="1" fill="hold">
                                          <p:stCondLst>
                                            <p:cond delay="0"/>
                                          </p:stCondLst>
                                        </p:cTn>
                                        <p:tgtEl>
                                          <p:spTgt spid="78851">
                                            <p:txEl>
                                              <p:pRg st="6" end="6"/>
                                            </p:txEl>
                                          </p:spTgt>
                                        </p:tgtEl>
                                        <p:attrNameLst>
                                          <p:attrName>style.visibility</p:attrName>
                                        </p:attrNameLst>
                                      </p:cBhvr>
                                      <p:to>
                                        <p:strVal val="visible"/>
                                      </p:to>
                                    </p:set>
                                    <p:animEffect transition="in" filter="wheel(1)">
                                      <p:cBhvr>
                                        <p:cTn id="26" dur="2000"/>
                                        <p:tgtEl>
                                          <p:spTgt spid="788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我国</a:t>
            </a:r>
            <a:r>
              <a:rPr lang="en-US" altLang="zh-CN" sz="3200" b="1" dirty="0">
                <a:latin typeface="华文楷体" panose="02010600040101010101" pitchFamily="2" charset="-122"/>
                <a:ea typeface="华文楷体" panose="02010600040101010101" pitchFamily="2" charset="-122"/>
              </a:rPr>
              <a:t>信息安全法律法规</a:t>
            </a:r>
            <a:endParaRPr lang="zh-CN" altLang="en-US" sz="3200" b="1" dirty="0">
              <a:latin typeface="华文楷体" panose="02010600040101010101" pitchFamily="2" charset="-122"/>
              <a:ea typeface="华文楷体" panose="02010600040101010101" pitchFamily="2" charset="-122"/>
            </a:endParaRPr>
          </a:p>
        </p:txBody>
      </p:sp>
      <p:sp>
        <p:nvSpPr>
          <p:cNvPr id="9218" name="内容占位符 2"/>
          <p:cNvSpPr>
            <a:spLocks noGrp="1"/>
          </p:cNvSpPr>
          <p:nvPr>
            <p:ph idx="1"/>
          </p:nvPr>
        </p:nvSpPr>
        <p:spPr>
          <a:xfrm>
            <a:off x="0" y="1524000"/>
            <a:ext cx="8686800" cy="3124200"/>
          </a:xfrm>
        </p:spPr>
        <p:txBody>
          <a:bodyPr vert="horz" wrap="square" lIns="91440" tIns="45720" rIns="91440" bIns="45720" anchor="t" anchorCtr="0"/>
          <a:lstStyle/>
          <a:p>
            <a:pPr lvl="1">
              <a:spcBef>
                <a:spcPts val="500"/>
              </a:spcBef>
            </a:pPr>
            <a:r>
              <a:rPr lang="en-US" altLang="zh-CN" dirty="0">
                <a:latin typeface="华文楷体" panose="02010600040101010101" pitchFamily="2" charset="-122"/>
                <a:ea typeface="华文楷体" panose="02010600040101010101" pitchFamily="2" charset="-122"/>
              </a:rPr>
              <a:t>3.</a:t>
            </a:r>
            <a:r>
              <a:rPr lang="zh-CN" altLang="zh-CN" dirty="0">
                <a:latin typeface="华文楷体" panose="02010600040101010101" pitchFamily="2" charset="-122"/>
                <a:ea typeface="华文楷体" panose="02010600040101010101" pitchFamily="2" charset="-122"/>
              </a:rPr>
              <a:t>司法解释类</a:t>
            </a:r>
            <a:endParaRPr lang="zh-CN" altLang="zh-CN" dirty="0">
              <a:latin typeface="华文楷体" panose="02010600040101010101" pitchFamily="2" charset="-122"/>
              <a:ea typeface="华文楷体" panose="02010600040101010101" pitchFamily="2" charset="-122"/>
            </a:endParaRPr>
          </a:p>
          <a:p>
            <a:pPr marL="1371600" lvl="2" indent="-457200">
              <a:lnSpc>
                <a:spcPct val="150000"/>
              </a:lnSpc>
              <a:spcBef>
                <a:spcPts val="500"/>
              </a:spcBef>
              <a:buAutoNum type="circleNumDbPlain"/>
            </a:pPr>
            <a:r>
              <a:rPr lang="zh-CN" altLang="zh-CN" dirty="0" smtClean="0">
                <a:latin typeface="华文楷体" panose="02010600040101010101" pitchFamily="2" charset="-122"/>
                <a:ea typeface="华文楷体" panose="02010600040101010101" pitchFamily="2" charset="-122"/>
              </a:rPr>
              <a:t>《</a:t>
            </a:r>
            <a:r>
              <a:rPr lang="zh-CN" altLang="en-US" dirty="0" smtClean="0">
                <a:latin typeface="华文楷体" panose="02010600040101010101" pitchFamily="2" charset="-122"/>
                <a:ea typeface="华文楷体" panose="02010600040101010101" pitchFamily="2" charset="-122"/>
              </a:rPr>
              <a:t>最高人民法院</a:t>
            </a:r>
            <a:r>
              <a:rPr lang="zh-CN" altLang="zh-CN" dirty="0" smtClean="0">
                <a:latin typeface="华文楷体" panose="02010600040101010101" pitchFamily="2" charset="-122"/>
                <a:ea typeface="华文楷体" panose="02010600040101010101" pitchFamily="2" charset="-122"/>
              </a:rPr>
              <a:t>关于审理扰乱电信市场管理秩序案件具体应用法律若干问题的解释》</a:t>
            </a:r>
            <a:r>
              <a:rPr lang="zh-CN" altLang="zh-CN"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2000</a:t>
            </a:r>
            <a:r>
              <a:rPr lang="zh-CN" altLang="zh-CN" dirty="0">
                <a:latin typeface="华文楷体" panose="02010600040101010101" pitchFamily="2" charset="-122"/>
                <a:ea typeface="华文楷体" panose="02010600040101010101" pitchFamily="2" charset="-122"/>
              </a:rPr>
              <a:t>年</a:t>
            </a:r>
            <a:r>
              <a:rPr lang="en-US" altLang="zh-CN" dirty="0">
                <a:latin typeface="华文楷体" panose="02010600040101010101" pitchFamily="2" charset="-122"/>
                <a:ea typeface="华文楷体" panose="02010600040101010101" pitchFamily="2" charset="-122"/>
              </a:rPr>
              <a:t>5</a:t>
            </a:r>
            <a:r>
              <a:rPr lang="zh-CN" altLang="zh-CN" dirty="0">
                <a:latin typeface="华文楷体" panose="02010600040101010101" pitchFamily="2" charset="-122"/>
                <a:ea typeface="华文楷体" panose="02010600040101010101" pitchFamily="2" charset="-122"/>
              </a:rPr>
              <a:t>月</a:t>
            </a:r>
            <a:r>
              <a:rPr lang="en-US" altLang="zh-CN" dirty="0">
                <a:latin typeface="华文楷体" panose="02010600040101010101" pitchFamily="2" charset="-122"/>
                <a:ea typeface="华文楷体" panose="02010600040101010101" pitchFamily="2" charset="-122"/>
              </a:rPr>
              <a:t>12</a:t>
            </a:r>
            <a:r>
              <a:rPr lang="zh-CN" altLang="zh-CN" dirty="0">
                <a:latin typeface="华文楷体" panose="02010600040101010101" pitchFamily="2" charset="-122"/>
                <a:ea typeface="华文楷体" panose="02010600040101010101" pitchFamily="2" charset="-122"/>
              </a:rPr>
              <a:t>日最高人民法院发布，</a:t>
            </a:r>
            <a:r>
              <a:rPr lang="en-US" altLang="zh-CN" dirty="0">
                <a:latin typeface="华文楷体" panose="02010600040101010101" pitchFamily="2" charset="-122"/>
                <a:ea typeface="华文楷体" panose="02010600040101010101" pitchFamily="2" charset="-122"/>
              </a:rPr>
              <a:t>2000</a:t>
            </a:r>
            <a:r>
              <a:rPr lang="zh-CN" altLang="zh-CN" dirty="0">
                <a:latin typeface="华文楷体" panose="02010600040101010101" pitchFamily="2" charset="-122"/>
                <a:ea typeface="华文楷体" panose="02010600040101010101" pitchFamily="2" charset="-122"/>
              </a:rPr>
              <a:t>年</a:t>
            </a:r>
            <a:r>
              <a:rPr lang="en-US" altLang="zh-CN" dirty="0">
                <a:latin typeface="华文楷体" panose="02010600040101010101" pitchFamily="2" charset="-122"/>
                <a:ea typeface="华文楷体" panose="02010600040101010101" pitchFamily="2" charset="-122"/>
              </a:rPr>
              <a:t>5</a:t>
            </a:r>
            <a:r>
              <a:rPr lang="zh-CN" altLang="zh-CN" dirty="0">
                <a:latin typeface="华文楷体" panose="02010600040101010101" pitchFamily="2" charset="-122"/>
                <a:ea typeface="华文楷体" panose="02010600040101010101" pitchFamily="2" charset="-122"/>
              </a:rPr>
              <a:t>月</a:t>
            </a:r>
            <a:r>
              <a:rPr lang="en-US" altLang="zh-CN" dirty="0">
                <a:latin typeface="华文楷体" panose="02010600040101010101" pitchFamily="2" charset="-122"/>
                <a:ea typeface="华文楷体" panose="02010600040101010101" pitchFamily="2" charset="-122"/>
              </a:rPr>
              <a:t>24</a:t>
            </a:r>
            <a:r>
              <a:rPr lang="zh-CN" altLang="zh-CN" dirty="0">
                <a:latin typeface="华文楷体" panose="02010600040101010101" pitchFamily="2" charset="-122"/>
                <a:ea typeface="华文楷体" panose="02010600040101010101" pitchFamily="2" charset="-122"/>
              </a:rPr>
              <a:t>日起施行）</a:t>
            </a:r>
            <a:r>
              <a:rPr lang="zh-CN" altLang="zh-CN" dirty="0" smtClean="0">
                <a:latin typeface="华文楷体" panose="02010600040101010101" pitchFamily="2" charset="-122"/>
                <a:ea typeface="华文楷体" panose="02010600040101010101" pitchFamily="2" charset="-122"/>
              </a:rPr>
              <a:t>。</a:t>
            </a:r>
            <a:endParaRPr lang="en-US" altLang="zh-CN" dirty="0" smtClean="0">
              <a:latin typeface="华文楷体" panose="02010600040101010101" pitchFamily="2" charset="-122"/>
              <a:ea typeface="华文楷体" panose="02010600040101010101" pitchFamily="2" charset="-122"/>
            </a:endParaRPr>
          </a:p>
          <a:p>
            <a:pPr marL="1371600" lvl="2" indent="-457200">
              <a:lnSpc>
                <a:spcPct val="150000"/>
              </a:lnSpc>
              <a:spcBef>
                <a:spcPts val="500"/>
              </a:spcBef>
              <a:buAutoNum type="circleNumDbPlain"/>
            </a:pP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最高人民法院关于</a:t>
            </a:r>
            <a:r>
              <a:rPr lang="zh-CN" altLang="en-US" dirty="0" smtClean="0">
                <a:latin typeface="华文楷体" panose="02010600040101010101" pitchFamily="2" charset="-122"/>
                <a:ea typeface="华文楷体" panose="02010600040101010101" pitchFamily="2" charset="-122"/>
              </a:rPr>
              <a:t>审理为境外窃取、刺探、收买、非法提供国家秘密或情报案件</a:t>
            </a:r>
            <a:r>
              <a:rPr lang="zh-CN" altLang="en-US" dirty="0">
                <a:latin typeface="华文楷体" panose="02010600040101010101" pitchFamily="2" charset="-122"/>
                <a:ea typeface="华文楷体" panose="02010600040101010101" pitchFamily="2" charset="-122"/>
              </a:rPr>
              <a:t>具体应用法律若干问题的解释</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2000</a:t>
            </a:r>
            <a:r>
              <a:rPr lang="zh-CN" altLang="en-US" dirty="0" smtClean="0">
                <a:latin typeface="华文楷体" panose="02010600040101010101" pitchFamily="2" charset="-122"/>
                <a:ea typeface="华文楷体" panose="02010600040101010101" pitchFamily="2" charset="-122"/>
              </a:rPr>
              <a:t>年</a:t>
            </a:r>
            <a:r>
              <a:rPr lang="en-US" altLang="zh-CN" dirty="0" smtClean="0">
                <a:latin typeface="华文楷体" panose="02010600040101010101" pitchFamily="2" charset="-122"/>
                <a:ea typeface="华文楷体" panose="02010600040101010101" pitchFamily="2" charset="-122"/>
              </a:rPr>
              <a:t>11</a:t>
            </a:r>
            <a:r>
              <a:rPr lang="zh-CN" altLang="en-US" dirty="0" smtClean="0">
                <a:latin typeface="华文楷体" panose="02010600040101010101" pitchFamily="2" charset="-122"/>
                <a:ea typeface="华文楷体" panose="02010600040101010101" pitchFamily="2" charset="-122"/>
              </a:rPr>
              <a:t>月</a:t>
            </a:r>
            <a:r>
              <a:rPr lang="en-US" altLang="zh-CN" dirty="0" smtClean="0">
                <a:latin typeface="华文楷体" panose="02010600040101010101" pitchFamily="2" charset="-122"/>
                <a:ea typeface="华文楷体" panose="02010600040101010101" pitchFamily="2" charset="-122"/>
              </a:rPr>
              <a:t>20</a:t>
            </a:r>
            <a:r>
              <a:rPr lang="zh-CN" altLang="en-US" dirty="0" smtClean="0">
                <a:latin typeface="华文楷体" panose="02010600040101010101" pitchFamily="2" charset="-122"/>
                <a:ea typeface="华文楷体" panose="02010600040101010101" pitchFamily="2" charset="-122"/>
              </a:rPr>
              <a:t>日</a:t>
            </a:r>
            <a:r>
              <a:rPr lang="zh-CN" altLang="en-US" dirty="0">
                <a:latin typeface="华文楷体" panose="02010600040101010101" pitchFamily="2" charset="-122"/>
                <a:ea typeface="华文楷体" panose="02010600040101010101" pitchFamily="2" charset="-122"/>
              </a:rPr>
              <a:t>最高人民法院发布，</a:t>
            </a:r>
            <a:r>
              <a:rPr lang="en-US" altLang="zh-CN" dirty="0" smtClean="0">
                <a:latin typeface="华文楷体" panose="02010600040101010101" pitchFamily="2" charset="-122"/>
                <a:ea typeface="华文楷体" panose="02010600040101010101" pitchFamily="2" charset="-122"/>
              </a:rPr>
              <a:t>2001</a:t>
            </a:r>
            <a:r>
              <a:rPr lang="zh-CN" altLang="en-US" dirty="0" smtClean="0">
                <a:latin typeface="华文楷体" panose="02010600040101010101" pitchFamily="2" charset="-122"/>
                <a:ea typeface="华文楷体" panose="02010600040101010101" pitchFamily="2" charset="-122"/>
              </a:rPr>
              <a:t>年</a:t>
            </a:r>
            <a:r>
              <a:rPr lang="en-US" altLang="zh-CN" dirty="0" smtClean="0">
                <a:latin typeface="华文楷体" panose="02010600040101010101" pitchFamily="2" charset="-122"/>
                <a:ea typeface="华文楷体" panose="02010600040101010101" pitchFamily="2" charset="-122"/>
              </a:rPr>
              <a:t>1</a:t>
            </a:r>
            <a:r>
              <a:rPr lang="zh-CN" altLang="en-US" dirty="0" smtClean="0">
                <a:latin typeface="华文楷体" panose="02010600040101010101" pitchFamily="2" charset="-122"/>
                <a:ea typeface="华文楷体" panose="02010600040101010101" pitchFamily="2" charset="-122"/>
              </a:rPr>
              <a:t>月</a:t>
            </a:r>
            <a:r>
              <a:rPr lang="en-US" altLang="zh-CN" dirty="0" smtClean="0">
                <a:latin typeface="华文楷体" panose="02010600040101010101" pitchFamily="2" charset="-122"/>
                <a:ea typeface="华文楷体" panose="02010600040101010101" pitchFamily="2" charset="-122"/>
              </a:rPr>
              <a:t>22</a:t>
            </a:r>
            <a:r>
              <a:rPr lang="zh-CN" altLang="en-US" dirty="0" smtClean="0">
                <a:latin typeface="华文楷体" panose="02010600040101010101" pitchFamily="2" charset="-122"/>
                <a:ea typeface="华文楷体" panose="02010600040101010101" pitchFamily="2" charset="-122"/>
              </a:rPr>
              <a:t>日</a:t>
            </a:r>
            <a:r>
              <a:rPr lang="zh-CN" altLang="en-US" dirty="0">
                <a:latin typeface="华文楷体" panose="02010600040101010101" pitchFamily="2" charset="-122"/>
                <a:ea typeface="华文楷体" panose="02010600040101010101" pitchFamily="2" charset="-122"/>
              </a:rPr>
              <a:t>起施行）。</a:t>
            </a:r>
            <a:endParaRPr lang="zh-CN" altLang="en-US" dirty="0">
              <a:latin typeface="华文楷体" panose="02010600040101010101" pitchFamily="2" charset="-122"/>
              <a:ea typeface="华文楷体" panose="02010600040101010101" pitchFamily="2" charset="-122"/>
            </a:endParaRPr>
          </a:p>
          <a:p>
            <a:pPr marL="1371600" lvl="2" indent="-457200">
              <a:lnSpc>
                <a:spcPct val="150000"/>
              </a:lnSpc>
              <a:spcBef>
                <a:spcPts val="500"/>
              </a:spcBef>
              <a:buAutoNum type="circleNumDbPlain"/>
            </a:pPr>
            <a:endParaRPr lang="zh-CN" altLang="zh-CN" sz="2000" dirty="0">
              <a:latin typeface="华文楷体" panose="02010600040101010101" pitchFamily="2" charset="-122"/>
              <a:ea typeface="华文楷体" panose="02010600040101010101" pitchFamily="2" charset="-122"/>
            </a:endParaRPr>
          </a:p>
          <a:p>
            <a:pPr lvl="1" eaLnBrk="1" hangingPunct="1">
              <a:buNone/>
            </a:pPr>
            <a:endParaRPr lang="zh-CN" altLang="zh-CN" dirty="0">
              <a:ea typeface="宋体" panose="02010600030101010101" pitchFamily="2" charset="-122"/>
            </a:endParaRPr>
          </a:p>
          <a:p>
            <a:pPr lvl="1" eaLnBrk="1" hangingPunct="1">
              <a:buNone/>
            </a:pPr>
            <a:endParaRPr lang="en-US" altLang="zh-CN" dirty="0">
              <a:ea typeface="宋体" panose="02010600030101010101" pitchFamily="2" charset="-122"/>
            </a:endParaRPr>
          </a:p>
          <a:p>
            <a:pPr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我国</a:t>
            </a:r>
            <a:r>
              <a:rPr lang="en-US" altLang="zh-CN" sz="3200" b="1" dirty="0">
                <a:latin typeface="华文楷体" panose="02010600040101010101" pitchFamily="2" charset="-122"/>
                <a:ea typeface="华文楷体" panose="02010600040101010101" pitchFamily="2" charset="-122"/>
              </a:rPr>
              <a:t>信息安全法律法规</a:t>
            </a:r>
            <a:endParaRPr lang="zh-CN" altLang="en-US" sz="3200" b="1" dirty="0">
              <a:latin typeface="华文楷体" panose="02010600040101010101" pitchFamily="2" charset="-122"/>
              <a:ea typeface="华文楷体" panose="02010600040101010101" pitchFamily="2" charset="-122"/>
            </a:endParaRPr>
          </a:p>
        </p:txBody>
      </p:sp>
      <p:sp>
        <p:nvSpPr>
          <p:cNvPr id="80899" name="内容占位符 2"/>
          <p:cNvSpPr>
            <a:spLocks noGrp="1"/>
          </p:cNvSpPr>
          <p:nvPr>
            <p:ph idx="1"/>
          </p:nvPr>
        </p:nvSpPr>
        <p:spPr>
          <a:xfrm>
            <a:off x="0" y="1143000"/>
            <a:ext cx="8839200" cy="5562600"/>
          </a:xfrm>
        </p:spPr>
        <p:txBody>
          <a:bodyPr vert="horz" wrap="square" lIns="91440" tIns="45720" rIns="91440" bIns="45720" anchor="t" anchorCtr="0"/>
          <a:lstStyle/>
          <a:p>
            <a:pPr lvl="1"/>
            <a:r>
              <a:rPr lang="en-US" altLang="zh-CN" sz="2000" dirty="0">
                <a:latin typeface="华文楷体" panose="02010600040101010101" pitchFamily="2" charset="-122"/>
                <a:ea typeface="华文楷体" panose="02010600040101010101" pitchFamily="2" charset="-122"/>
              </a:rPr>
              <a:t>4.</a:t>
            </a:r>
            <a:r>
              <a:rPr lang="zh-CN" altLang="zh-CN" sz="2000" dirty="0">
                <a:latin typeface="华文楷体" panose="02010600040101010101" pitchFamily="2" charset="-122"/>
                <a:ea typeface="华文楷体" panose="02010600040101010101" pitchFamily="2" charset="-122"/>
              </a:rPr>
              <a:t>行政规章类</a:t>
            </a:r>
            <a:endParaRPr lang="zh-CN" altLang="zh-CN" sz="2000" dirty="0">
              <a:latin typeface="华文楷体" panose="02010600040101010101" pitchFamily="2" charset="-122"/>
              <a:ea typeface="华文楷体" panose="02010600040101010101" pitchFamily="2" charset="-122"/>
            </a:endParaRPr>
          </a:p>
          <a:p>
            <a:pPr marL="1257300" lvl="2" indent="-342900">
              <a:buAutoNum type="circleNumDbPlain"/>
            </a:pPr>
            <a:r>
              <a:rPr lang="zh-CN" altLang="zh-CN" sz="1800" dirty="0">
                <a:latin typeface="华文楷体" panose="02010600040101010101" pitchFamily="2" charset="-122"/>
                <a:ea typeface="华文楷体" panose="02010600040101010101" pitchFamily="2" charset="-122"/>
              </a:rPr>
              <a:t>《计算机信息网络国际联网出入口信道管理办法》（</a:t>
            </a:r>
            <a:r>
              <a:rPr lang="en-US" altLang="zh-CN" sz="1800" dirty="0">
                <a:latin typeface="华文楷体" panose="02010600040101010101" pitchFamily="2" charset="-122"/>
                <a:ea typeface="华文楷体" panose="02010600040101010101" pitchFamily="2" charset="-122"/>
              </a:rPr>
              <a:t>1996</a:t>
            </a:r>
            <a:r>
              <a:rPr lang="zh-CN" altLang="zh-CN" sz="1800" dirty="0">
                <a:latin typeface="华文楷体" panose="02010600040101010101" pitchFamily="2" charset="-122"/>
                <a:ea typeface="华文楷体" panose="02010600040101010101" pitchFamily="2" charset="-122"/>
              </a:rPr>
              <a:t>年</a:t>
            </a:r>
            <a:r>
              <a:rPr lang="en-US" altLang="zh-CN" sz="1800" dirty="0">
                <a:latin typeface="华文楷体" panose="02010600040101010101" pitchFamily="2" charset="-122"/>
                <a:ea typeface="华文楷体" panose="02010600040101010101" pitchFamily="2" charset="-122"/>
              </a:rPr>
              <a:t>4</a:t>
            </a:r>
            <a:r>
              <a:rPr lang="zh-CN" altLang="zh-CN" sz="1800" dirty="0">
                <a:latin typeface="华文楷体" panose="02010600040101010101" pitchFamily="2" charset="-122"/>
                <a:ea typeface="华文楷体" panose="02010600040101010101" pitchFamily="2" charset="-122"/>
              </a:rPr>
              <a:t>月</a:t>
            </a:r>
            <a:r>
              <a:rPr lang="en-US" altLang="zh-CN" sz="1800" dirty="0">
                <a:latin typeface="华文楷体" panose="02010600040101010101" pitchFamily="2" charset="-122"/>
                <a:ea typeface="华文楷体" panose="02010600040101010101" pitchFamily="2" charset="-122"/>
              </a:rPr>
              <a:t>9</a:t>
            </a:r>
            <a:r>
              <a:rPr lang="zh-CN" altLang="zh-CN" sz="1800" dirty="0">
                <a:latin typeface="华文楷体" panose="02010600040101010101" pitchFamily="2" charset="-122"/>
                <a:ea typeface="华文楷体" panose="02010600040101010101" pitchFamily="2" charset="-122"/>
              </a:rPr>
              <a:t>日原邮电部（现为工业和信息化部）发布并施行）；</a:t>
            </a:r>
            <a:endParaRPr lang="zh-CN" altLang="zh-CN" sz="1800" dirty="0">
              <a:latin typeface="华文楷体" panose="02010600040101010101" pitchFamily="2" charset="-122"/>
              <a:ea typeface="华文楷体" panose="02010600040101010101" pitchFamily="2" charset="-122"/>
            </a:endParaRPr>
          </a:p>
          <a:p>
            <a:pPr marL="1257300" lvl="2" indent="-342900">
              <a:buAutoNum type="circleNumDbPlain"/>
            </a:pPr>
            <a:r>
              <a:rPr lang="zh-CN" altLang="zh-CN" sz="1800" dirty="0">
                <a:latin typeface="华文楷体" panose="02010600040101010101" pitchFamily="2" charset="-122"/>
                <a:ea typeface="华文楷体" panose="02010600040101010101" pitchFamily="2" charset="-122"/>
              </a:rPr>
              <a:t>《计算机信息网络国际联网安全保护管理条例》（</a:t>
            </a:r>
            <a:r>
              <a:rPr lang="en-US" altLang="zh-CN" sz="1800" dirty="0">
                <a:latin typeface="华文楷体" panose="02010600040101010101" pitchFamily="2" charset="-122"/>
                <a:ea typeface="华文楷体" panose="02010600040101010101" pitchFamily="2" charset="-122"/>
              </a:rPr>
              <a:t>1997</a:t>
            </a:r>
            <a:r>
              <a:rPr lang="zh-CN" altLang="zh-CN" sz="1800" dirty="0">
                <a:latin typeface="华文楷体" panose="02010600040101010101" pitchFamily="2" charset="-122"/>
                <a:ea typeface="华文楷体" panose="02010600040101010101" pitchFamily="2" charset="-122"/>
              </a:rPr>
              <a:t>年</a:t>
            </a:r>
            <a:r>
              <a:rPr lang="en-US" altLang="zh-CN" sz="1800" dirty="0">
                <a:latin typeface="华文楷体" panose="02010600040101010101" pitchFamily="2" charset="-122"/>
                <a:ea typeface="华文楷体" panose="02010600040101010101" pitchFamily="2" charset="-122"/>
              </a:rPr>
              <a:t>12</a:t>
            </a:r>
            <a:r>
              <a:rPr lang="zh-CN" altLang="zh-CN" sz="1800" dirty="0">
                <a:latin typeface="华文楷体" panose="02010600040101010101" pitchFamily="2" charset="-122"/>
                <a:ea typeface="华文楷体" panose="02010600040101010101" pitchFamily="2" charset="-122"/>
              </a:rPr>
              <a:t>月</a:t>
            </a:r>
            <a:r>
              <a:rPr lang="en-US" altLang="zh-CN" sz="1800" dirty="0">
                <a:latin typeface="华文楷体" panose="02010600040101010101" pitchFamily="2" charset="-122"/>
                <a:ea typeface="华文楷体" panose="02010600040101010101" pitchFamily="2" charset="-122"/>
              </a:rPr>
              <a:t>11</a:t>
            </a:r>
            <a:r>
              <a:rPr lang="zh-CN" altLang="zh-CN" sz="1800" dirty="0">
                <a:latin typeface="华文楷体" panose="02010600040101010101" pitchFamily="2" charset="-122"/>
                <a:ea typeface="华文楷体" panose="02010600040101010101" pitchFamily="2" charset="-122"/>
              </a:rPr>
              <a:t>日由国务院批准，</a:t>
            </a:r>
            <a:r>
              <a:rPr lang="en-US" altLang="zh-CN" sz="1800" dirty="0">
                <a:latin typeface="华文楷体" panose="02010600040101010101" pitchFamily="2" charset="-122"/>
                <a:ea typeface="华文楷体" panose="02010600040101010101" pitchFamily="2" charset="-122"/>
              </a:rPr>
              <a:t>1997</a:t>
            </a:r>
            <a:r>
              <a:rPr lang="zh-CN" altLang="zh-CN" sz="1800" dirty="0">
                <a:latin typeface="华文楷体" panose="02010600040101010101" pitchFamily="2" charset="-122"/>
                <a:ea typeface="华文楷体" panose="02010600040101010101" pitchFamily="2" charset="-122"/>
              </a:rPr>
              <a:t>年</a:t>
            </a:r>
            <a:r>
              <a:rPr lang="en-US" altLang="zh-CN" sz="1800" dirty="0">
                <a:latin typeface="华文楷体" panose="02010600040101010101" pitchFamily="2" charset="-122"/>
                <a:ea typeface="华文楷体" panose="02010600040101010101" pitchFamily="2" charset="-122"/>
              </a:rPr>
              <a:t>12</a:t>
            </a:r>
            <a:r>
              <a:rPr lang="zh-CN" altLang="zh-CN" sz="1800" dirty="0">
                <a:latin typeface="华文楷体" panose="02010600040101010101" pitchFamily="2" charset="-122"/>
                <a:ea typeface="华文楷体" panose="02010600040101010101" pitchFamily="2" charset="-122"/>
              </a:rPr>
              <a:t>月</a:t>
            </a:r>
            <a:r>
              <a:rPr lang="en-US" altLang="zh-CN" sz="1800" dirty="0">
                <a:latin typeface="华文楷体" panose="02010600040101010101" pitchFamily="2" charset="-122"/>
                <a:ea typeface="华文楷体" panose="02010600040101010101" pitchFamily="2" charset="-122"/>
              </a:rPr>
              <a:t>30</a:t>
            </a:r>
            <a:r>
              <a:rPr lang="zh-CN" altLang="zh-CN" sz="1800" dirty="0">
                <a:latin typeface="华文楷体" panose="02010600040101010101" pitchFamily="2" charset="-122"/>
                <a:ea typeface="华文楷体" panose="02010600040101010101" pitchFamily="2" charset="-122"/>
              </a:rPr>
              <a:t>日由公安部发布并施行）；</a:t>
            </a:r>
            <a:endParaRPr lang="zh-CN" altLang="zh-CN" sz="1800" dirty="0">
              <a:latin typeface="华文楷体" panose="02010600040101010101" pitchFamily="2" charset="-122"/>
              <a:ea typeface="华文楷体" panose="02010600040101010101" pitchFamily="2" charset="-122"/>
            </a:endParaRPr>
          </a:p>
          <a:p>
            <a:pPr marL="1257300" lvl="2" indent="-342900">
              <a:buAutoNum type="circleNumDbPlain"/>
            </a:pPr>
            <a:r>
              <a:rPr lang="zh-CN" altLang="zh-CN" sz="1800" dirty="0">
                <a:latin typeface="华文楷体" panose="02010600040101010101" pitchFamily="2" charset="-122"/>
                <a:ea typeface="华文楷体" panose="02010600040101010101" pitchFamily="2" charset="-122"/>
              </a:rPr>
              <a:t>《中华人民共和国计算机信息网络国际联网管理暂行规定实施办法》（</a:t>
            </a:r>
            <a:r>
              <a:rPr lang="en-US" altLang="zh-CN" sz="1800" dirty="0">
                <a:latin typeface="华文楷体" panose="02010600040101010101" pitchFamily="2" charset="-122"/>
                <a:ea typeface="华文楷体" panose="02010600040101010101" pitchFamily="2" charset="-122"/>
              </a:rPr>
              <a:t>1998</a:t>
            </a:r>
            <a:r>
              <a:rPr lang="zh-CN" altLang="zh-CN" sz="1800" dirty="0">
                <a:latin typeface="华文楷体" panose="02010600040101010101" pitchFamily="2" charset="-122"/>
                <a:ea typeface="华文楷体" panose="02010600040101010101" pitchFamily="2" charset="-122"/>
              </a:rPr>
              <a:t>年</a:t>
            </a:r>
            <a:r>
              <a:rPr lang="en-US" altLang="zh-CN" sz="1800" dirty="0">
                <a:latin typeface="华文楷体" panose="02010600040101010101" pitchFamily="2" charset="-122"/>
                <a:ea typeface="华文楷体" panose="02010600040101010101" pitchFamily="2" charset="-122"/>
              </a:rPr>
              <a:t>2</a:t>
            </a:r>
            <a:r>
              <a:rPr lang="zh-CN" altLang="zh-CN" sz="1800" dirty="0">
                <a:latin typeface="华文楷体" panose="02010600040101010101" pitchFamily="2" charset="-122"/>
                <a:ea typeface="华文楷体" panose="02010600040101010101" pitchFamily="2" charset="-122"/>
              </a:rPr>
              <a:t>月</a:t>
            </a:r>
            <a:r>
              <a:rPr lang="en-US" altLang="zh-CN" sz="1800" dirty="0">
                <a:latin typeface="华文楷体" panose="02010600040101010101" pitchFamily="2" charset="-122"/>
                <a:ea typeface="华文楷体" panose="02010600040101010101" pitchFamily="2" charset="-122"/>
              </a:rPr>
              <a:t>13</a:t>
            </a:r>
            <a:r>
              <a:rPr lang="zh-CN" altLang="zh-CN" sz="1800" dirty="0">
                <a:latin typeface="华文楷体" panose="02010600040101010101" pitchFamily="2" charset="-122"/>
                <a:ea typeface="华文楷体" panose="02010600040101010101" pitchFamily="2" charset="-122"/>
              </a:rPr>
              <a:t>日国务院信息化工作领导小组发布并施行）；</a:t>
            </a:r>
            <a:endParaRPr lang="zh-CN" altLang="zh-CN" sz="1800" dirty="0">
              <a:latin typeface="华文楷体" panose="02010600040101010101" pitchFamily="2" charset="-122"/>
              <a:ea typeface="华文楷体" panose="02010600040101010101" pitchFamily="2" charset="-122"/>
            </a:endParaRPr>
          </a:p>
          <a:p>
            <a:pPr marL="1257300" lvl="2" indent="-342900">
              <a:buAutoNum type="circleNumDbPlain"/>
            </a:pPr>
            <a:r>
              <a:rPr lang="zh-CN" altLang="zh-CN" sz="1800" dirty="0">
                <a:latin typeface="华文楷体" panose="02010600040101010101" pitchFamily="2" charset="-122"/>
                <a:ea typeface="华文楷体" panose="02010600040101010101" pitchFamily="2" charset="-122"/>
              </a:rPr>
              <a:t>《计算机信息系统国际联网保密管理暂行规定》（</a:t>
            </a:r>
            <a:r>
              <a:rPr lang="en-US" altLang="zh-CN" sz="1800" dirty="0">
                <a:latin typeface="华文楷体" panose="02010600040101010101" pitchFamily="2" charset="-122"/>
                <a:ea typeface="华文楷体" panose="02010600040101010101" pitchFamily="2" charset="-122"/>
              </a:rPr>
              <a:t>1998</a:t>
            </a:r>
            <a:r>
              <a:rPr lang="zh-CN" altLang="zh-CN" sz="1800" dirty="0">
                <a:latin typeface="华文楷体" panose="02010600040101010101" pitchFamily="2" charset="-122"/>
                <a:ea typeface="华文楷体" panose="02010600040101010101" pitchFamily="2" charset="-122"/>
              </a:rPr>
              <a:t>年</a:t>
            </a:r>
            <a:r>
              <a:rPr lang="en-US" altLang="zh-CN" sz="1800" dirty="0">
                <a:latin typeface="华文楷体" panose="02010600040101010101" pitchFamily="2" charset="-122"/>
                <a:ea typeface="华文楷体" panose="02010600040101010101" pitchFamily="2" charset="-122"/>
              </a:rPr>
              <a:t>2</a:t>
            </a:r>
            <a:r>
              <a:rPr lang="zh-CN" altLang="zh-CN" sz="1800" dirty="0">
                <a:latin typeface="华文楷体" panose="02010600040101010101" pitchFamily="2" charset="-122"/>
                <a:ea typeface="华文楷体" panose="02010600040101010101" pitchFamily="2" charset="-122"/>
              </a:rPr>
              <a:t>月</a:t>
            </a:r>
            <a:r>
              <a:rPr lang="en-US" altLang="zh-CN" sz="1800" dirty="0">
                <a:latin typeface="华文楷体" panose="02010600040101010101" pitchFamily="2" charset="-122"/>
                <a:ea typeface="华文楷体" panose="02010600040101010101" pitchFamily="2" charset="-122"/>
              </a:rPr>
              <a:t>26</a:t>
            </a:r>
            <a:r>
              <a:rPr lang="zh-CN" altLang="zh-CN" sz="1800" dirty="0">
                <a:latin typeface="华文楷体" panose="02010600040101010101" pitchFamily="2" charset="-122"/>
                <a:ea typeface="华文楷体" panose="02010600040101010101" pitchFamily="2" charset="-122"/>
              </a:rPr>
              <a:t>日国家保密局发布并实行）；</a:t>
            </a:r>
            <a:endParaRPr lang="zh-CN" altLang="zh-CN" sz="1800" dirty="0">
              <a:latin typeface="华文楷体" panose="02010600040101010101" pitchFamily="2" charset="-122"/>
              <a:ea typeface="华文楷体" panose="02010600040101010101" pitchFamily="2" charset="-122"/>
            </a:endParaRPr>
          </a:p>
          <a:p>
            <a:pPr marL="1257300" lvl="2" indent="-342900">
              <a:buAutoNum type="circleNumDbPlain"/>
            </a:pPr>
            <a:r>
              <a:rPr lang="zh-CN" altLang="zh-CN" sz="1800" dirty="0">
                <a:latin typeface="华文楷体" panose="02010600040101010101" pitchFamily="2" charset="-122"/>
                <a:ea typeface="华文楷体" panose="02010600040101010101" pitchFamily="2" charset="-122"/>
              </a:rPr>
              <a:t>《计算机信息系统国际联网保密管理规定》（国家保密局发布，</a:t>
            </a:r>
            <a:r>
              <a:rPr lang="en-US" altLang="zh-CN" sz="1800" dirty="0">
                <a:latin typeface="华文楷体" panose="02010600040101010101" pitchFamily="2" charset="-122"/>
                <a:ea typeface="华文楷体" panose="02010600040101010101" pitchFamily="2" charset="-122"/>
              </a:rPr>
              <a:t>2000</a:t>
            </a:r>
            <a:r>
              <a:rPr lang="zh-CN" altLang="zh-CN" sz="1800" dirty="0">
                <a:latin typeface="华文楷体" panose="02010600040101010101" pitchFamily="2" charset="-122"/>
                <a:ea typeface="华文楷体" panose="02010600040101010101" pitchFamily="2" charset="-122"/>
              </a:rPr>
              <a:t>年</a:t>
            </a:r>
            <a:r>
              <a:rPr lang="en-US" altLang="zh-CN" sz="1800" dirty="0">
                <a:latin typeface="华文楷体" panose="02010600040101010101" pitchFamily="2" charset="-122"/>
                <a:ea typeface="华文楷体" panose="02010600040101010101" pitchFamily="2" charset="-122"/>
              </a:rPr>
              <a:t>1</a:t>
            </a:r>
            <a:r>
              <a:rPr lang="zh-CN" altLang="zh-CN" sz="1800" dirty="0">
                <a:latin typeface="华文楷体" panose="02010600040101010101" pitchFamily="2" charset="-122"/>
                <a:ea typeface="华文楷体" panose="02010600040101010101" pitchFamily="2" charset="-122"/>
              </a:rPr>
              <a:t>月</a:t>
            </a:r>
            <a:r>
              <a:rPr lang="en-US" altLang="zh-CN" sz="1800" dirty="0">
                <a:latin typeface="华文楷体" panose="02010600040101010101" pitchFamily="2" charset="-122"/>
                <a:ea typeface="华文楷体" panose="02010600040101010101" pitchFamily="2" charset="-122"/>
              </a:rPr>
              <a:t>1</a:t>
            </a:r>
            <a:r>
              <a:rPr lang="zh-CN" altLang="zh-CN" sz="1800" dirty="0">
                <a:latin typeface="华文楷体" panose="02010600040101010101" pitchFamily="2" charset="-122"/>
                <a:ea typeface="华文楷体" panose="02010600040101010101" pitchFamily="2" charset="-122"/>
              </a:rPr>
              <a:t>日起施行）；</a:t>
            </a:r>
            <a:endParaRPr lang="zh-CN" altLang="zh-CN" sz="1800" dirty="0">
              <a:latin typeface="华文楷体" panose="02010600040101010101" pitchFamily="2" charset="-122"/>
              <a:ea typeface="华文楷体" panose="02010600040101010101" pitchFamily="2" charset="-122"/>
            </a:endParaRPr>
          </a:p>
          <a:p>
            <a:pPr marL="1257300" lvl="2" indent="-342900">
              <a:buAutoNum type="circleNumDbPlain"/>
            </a:pPr>
            <a:r>
              <a:rPr lang="zh-CN" altLang="zh-CN" sz="1800" dirty="0">
                <a:latin typeface="华文楷体" panose="02010600040101010101" pitchFamily="2" charset="-122"/>
                <a:ea typeface="华文楷体" panose="02010600040101010101" pitchFamily="2" charset="-122"/>
              </a:rPr>
              <a:t>《计算机病毒防治管理办法》（</a:t>
            </a:r>
            <a:r>
              <a:rPr lang="en-US" altLang="zh-CN" sz="1800" dirty="0">
                <a:latin typeface="华文楷体" panose="02010600040101010101" pitchFamily="2" charset="-122"/>
                <a:ea typeface="华文楷体" panose="02010600040101010101" pitchFamily="2" charset="-122"/>
              </a:rPr>
              <a:t>2000</a:t>
            </a:r>
            <a:r>
              <a:rPr lang="zh-CN" altLang="zh-CN" sz="1800" dirty="0">
                <a:latin typeface="华文楷体" panose="02010600040101010101" pitchFamily="2" charset="-122"/>
                <a:ea typeface="华文楷体" panose="02010600040101010101" pitchFamily="2" charset="-122"/>
              </a:rPr>
              <a:t>年</a:t>
            </a:r>
            <a:r>
              <a:rPr lang="en-US" altLang="zh-CN" sz="1800" dirty="0">
                <a:latin typeface="华文楷体" panose="02010600040101010101" pitchFamily="2" charset="-122"/>
                <a:ea typeface="华文楷体" panose="02010600040101010101" pitchFamily="2" charset="-122"/>
              </a:rPr>
              <a:t>4</a:t>
            </a:r>
            <a:r>
              <a:rPr lang="zh-CN" altLang="zh-CN" sz="1800" dirty="0">
                <a:latin typeface="华文楷体" panose="02010600040101010101" pitchFamily="2" charset="-122"/>
                <a:ea typeface="华文楷体" panose="02010600040101010101" pitchFamily="2" charset="-122"/>
              </a:rPr>
              <a:t>月</a:t>
            </a:r>
            <a:r>
              <a:rPr lang="en-US" altLang="zh-CN" sz="1800" dirty="0">
                <a:latin typeface="华文楷体" panose="02010600040101010101" pitchFamily="2" charset="-122"/>
                <a:ea typeface="华文楷体" panose="02010600040101010101" pitchFamily="2" charset="-122"/>
              </a:rPr>
              <a:t>26</a:t>
            </a:r>
            <a:r>
              <a:rPr lang="zh-CN" altLang="zh-CN" sz="1800" dirty="0">
                <a:latin typeface="华文楷体" panose="02010600040101010101" pitchFamily="2" charset="-122"/>
                <a:ea typeface="华文楷体" panose="02010600040101010101" pitchFamily="2" charset="-122"/>
              </a:rPr>
              <a:t>日公安部发布并施行）；</a:t>
            </a:r>
            <a:endParaRPr lang="zh-CN" altLang="zh-CN" sz="1800" dirty="0">
              <a:latin typeface="华文楷体" panose="02010600040101010101" pitchFamily="2" charset="-122"/>
              <a:ea typeface="华文楷体" panose="02010600040101010101" pitchFamily="2" charset="-122"/>
            </a:endParaRPr>
          </a:p>
          <a:p>
            <a:pPr marL="1257300" lvl="2" indent="-342900">
              <a:buAutoNum type="circleNumDbPlain"/>
            </a:pPr>
            <a:r>
              <a:rPr lang="zh-CN" altLang="zh-CN" sz="1800" dirty="0">
                <a:latin typeface="华文楷体" panose="02010600040101010101" pitchFamily="2" charset="-122"/>
                <a:ea typeface="华文楷体" panose="02010600040101010101" pitchFamily="2" charset="-122"/>
              </a:rPr>
              <a:t>《互联网电子公告服务管理规定》（</a:t>
            </a:r>
            <a:r>
              <a:rPr lang="en-US" altLang="zh-CN" sz="1800" dirty="0">
                <a:latin typeface="华文楷体" panose="02010600040101010101" pitchFamily="2" charset="-122"/>
                <a:ea typeface="华文楷体" panose="02010600040101010101" pitchFamily="2" charset="-122"/>
              </a:rPr>
              <a:t>2000</a:t>
            </a:r>
            <a:r>
              <a:rPr lang="zh-CN" altLang="zh-CN" sz="1800" dirty="0">
                <a:latin typeface="华文楷体" panose="02010600040101010101" pitchFamily="2" charset="-122"/>
                <a:ea typeface="华文楷体" panose="02010600040101010101" pitchFamily="2" charset="-122"/>
              </a:rPr>
              <a:t>年</a:t>
            </a:r>
            <a:r>
              <a:rPr lang="en-US" altLang="zh-CN" sz="1800" dirty="0">
                <a:latin typeface="华文楷体" panose="02010600040101010101" pitchFamily="2" charset="-122"/>
                <a:ea typeface="华文楷体" panose="02010600040101010101" pitchFamily="2" charset="-122"/>
              </a:rPr>
              <a:t>11</a:t>
            </a:r>
            <a:r>
              <a:rPr lang="zh-CN" altLang="zh-CN" sz="1800" dirty="0">
                <a:latin typeface="华文楷体" panose="02010600040101010101" pitchFamily="2" charset="-122"/>
                <a:ea typeface="华文楷体" panose="02010600040101010101" pitchFamily="2" charset="-122"/>
              </a:rPr>
              <a:t>月</a:t>
            </a:r>
            <a:r>
              <a:rPr lang="en-US" altLang="zh-CN" sz="1800" dirty="0">
                <a:latin typeface="华文楷体" panose="02010600040101010101" pitchFamily="2" charset="-122"/>
                <a:ea typeface="华文楷体" panose="02010600040101010101" pitchFamily="2" charset="-122"/>
              </a:rPr>
              <a:t>7</a:t>
            </a:r>
            <a:r>
              <a:rPr lang="zh-CN" altLang="zh-CN" sz="1800" dirty="0">
                <a:latin typeface="华文楷体" panose="02010600040101010101" pitchFamily="2" charset="-122"/>
                <a:ea typeface="华文楷体" panose="02010600040101010101" pitchFamily="2" charset="-122"/>
              </a:rPr>
              <a:t>日信息产业部（现为工业和信息化部）发布并施行）；</a:t>
            </a:r>
            <a:endParaRPr lang="zh-CN" altLang="zh-CN" sz="1800" dirty="0">
              <a:latin typeface="华文楷体" panose="02010600040101010101" pitchFamily="2" charset="-122"/>
              <a:ea typeface="华文楷体" panose="02010600040101010101" pitchFamily="2" charset="-122"/>
            </a:endParaRPr>
          </a:p>
          <a:p>
            <a:pPr marL="1257300" lvl="2" indent="-342900">
              <a:buAutoNum type="circleNumDbPlain"/>
            </a:pPr>
            <a:r>
              <a:rPr lang="zh-CN" altLang="zh-CN" sz="1800" dirty="0">
                <a:latin typeface="华文楷体" panose="02010600040101010101" pitchFamily="2" charset="-122"/>
                <a:ea typeface="华文楷体" panose="02010600040101010101" pitchFamily="2" charset="-122"/>
              </a:rPr>
              <a:t>《互联网站从事登载新闻业务管理暂行规定》（</a:t>
            </a:r>
            <a:r>
              <a:rPr lang="en-US" altLang="zh-CN" sz="1800" dirty="0">
                <a:latin typeface="华文楷体" panose="02010600040101010101" pitchFamily="2" charset="-122"/>
                <a:ea typeface="华文楷体" panose="02010600040101010101" pitchFamily="2" charset="-122"/>
              </a:rPr>
              <a:t>2000</a:t>
            </a:r>
            <a:r>
              <a:rPr lang="zh-CN" altLang="zh-CN" sz="1800" dirty="0">
                <a:latin typeface="华文楷体" panose="02010600040101010101" pitchFamily="2" charset="-122"/>
                <a:ea typeface="华文楷体" panose="02010600040101010101" pitchFamily="2" charset="-122"/>
              </a:rPr>
              <a:t>年</a:t>
            </a:r>
            <a:r>
              <a:rPr lang="en-US" altLang="zh-CN" sz="1800" dirty="0">
                <a:latin typeface="华文楷体" panose="02010600040101010101" pitchFamily="2" charset="-122"/>
                <a:ea typeface="华文楷体" panose="02010600040101010101" pitchFamily="2" charset="-122"/>
              </a:rPr>
              <a:t>11</a:t>
            </a:r>
            <a:r>
              <a:rPr lang="zh-CN" altLang="zh-CN" sz="1800" dirty="0">
                <a:latin typeface="华文楷体" panose="02010600040101010101" pitchFamily="2" charset="-122"/>
                <a:ea typeface="华文楷体" panose="02010600040101010101" pitchFamily="2" charset="-122"/>
              </a:rPr>
              <a:t>月</a:t>
            </a:r>
            <a:r>
              <a:rPr lang="en-US" altLang="zh-CN" sz="1800" dirty="0">
                <a:latin typeface="华文楷体" panose="02010600040101010101" pitchFamily="2" charset="-122"/>
                <a:ea typeface="华文楷体" panose="02010600040101010101" pitchFamily="2" charset="-122"/>
              </a:rPr>
              <a:t>7</a:t>
            </a:r>
            <a:r>
              <a:rPr lang="zh-CN" altLang="zh-CN" sz="1800" dirty="0">
                <a:latin typeface="华文楷体" panose="02010600040101010101" pitchFamily="2" charset="-122"/>
                <a:ea typeface="华文楷体" panose="02010600040101010101" pitchFamily="2" charset="-122"/>
              </a:rPr>
              <a:t>日国务院新闻办公室、信息产业部发布并施行）。</a:t>
            </a:r>
            <a:endParaRPr lang="zh-CN" altLang="zh-CN" sz="1800" dirty="0">
              <a:latin typeface="华文楷体" panose="02010600040101010101" pitchFamily="2" charset="-122"/>
              <a:ea typeface="华文楷体" panose="02010600040101010101" pitchFamily="2" charset="-122"/>
            </a:endParaRPr>
          </a:p>
          <a:p>
            <a:pPr>
              <a:buNone/>
            </a:pPr>
            <a:endParaRPr lang="zh-CN" altLang="zh-CN" sz="2800" dirty="0">
              <a:ea typeface="宋体" panose="02010600030101010101" pitchFamily="2" charset="-122"/>
            </a:endParaRPr>
          </a:p>
          <a:p>
            <a:pPr lvl="1" eaLnBrk="1" hangingPunct="1">
              <a:buNone/>
            </a:pPr>
            <a:endParaRPr lang="zh-CN" altLang="zh-CN" dirty="0">
              <a:ea typeface="宋体" panose="02010600030101010101" pitchFamily="2" charset="-122"/>
            </a:endParaRPr>
          </a:p>
          <a:p>
            <a:pPr lvl="1" eaLnBrk="1" hangingPunct="1">
              <a:buNone/>
            </a:pPr>
            <a:endParaRPr lang="en-US" altLang="zh-CN" dirty="0">
              <a:ea typeface="宋体" panose="02010600030101010101" pitchFamily="2" charset="-122"/>
            </a:endParaRPr>
          </a:p>
          <a:p>
            <a:pPr eaLnBrk="1" hangingPunct="1">
              <a:buNone/>
            </a:pPr>
            <a:endParaRPr lang="zh-CN" altLang="en-US" dirty="0">
              <a:ea typeface="楷体_GB2312"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0899">
                                            <p:txEl>
                                              <p:pRg st="1" end="1"/>
                                            </p:txEl>
                                          </p:spTgt>
                                        </p:tgtEl>
                                        <p:attrNameLst>
                                          <p:attrName>style.visibility</p:attrName>
                                        </p:attrNameLst>
                                      </p:cBhvr>
                                      <p:to>
                                        <p:strVal val="visible"/>
                                      </p:to>
                                    </p:set>
                                    <p:animEffect transition="in" filter="wipe(down)">
                                      <p:cBhvr>
                                        <p:cTn id="7" dur="500"/>
                                        <p:tgtEl>
                                          <p:spTgt spid="80899">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80899">
                                            <p:txEl>
                                              <p:pRg st="2" end="2"/>
                                            </p:txEl>
                                          </p:spTgt>
                                        </p:tgtEl>
                                        <p:attrNameLst>
                                          <p:attrName>style.visibility</p:attrName>
                                        </p:attrNameLst>
                                      </p:cBhvr>
                                      <p:to>
                                        <p:strVal val="visible"/>
                                      </p:to>
                                    </p:set>
                                    <p:animEffect transition="in" filter="wipe(down)">
                                      <p:cBhvr>
                                        <p:cTn id="10" dur="500"/>
                                        <p:tgtEl>
                                          <p:spTgt spid="8089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80899">
                                            <p:txEl>
                                              <p:pRg st="3" end="3"/>
                                            </p:txEl>
                                          </p:spTgt>
                                        </p:tgtEl>
                                        <p:attrNameLst>
                                          <p:attrName>style.visibility</p:attrName>
                                        </p:attrNameLst>
                                      </p:cBhvr>
                                      <p:to>
                                        <p:strVal val="visible"/>
                                      </p:to>
                                    </p:set>
                                    <p:animEffect transition="in" filter="circle(in)">
                                      <p:cBhvr>
                                        <p:cTn id="15" dur="2000"/>
                                        <p:tgtEl>
                                          <p:spTgt spid="80899">
                                            <p:txEl>
                                              <p:pRg st="3" end="3"/>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80899">
                                            <p:txEl>
                                              <p:pRg st="4" end="4"/>
                                            </p:txEl>
                                          </p:spTgt>
                                        </p:tgtEl>
                                        <p:attrNameLst>
                                          <p:attrName>style.visibility</p:attrName>
                                        </p:attrNameLst>
                                      </p:cBhvr>
                                      <p:to>
                                        <p:strVal val="visible"/>
                                      </p:to>
                                    </p:set>
                                    <p:animEffect transition="in" filter="circle(in)">
                                      <p:cBhvr>
                                        <p:cTn id="18" dur="2000"/>
                                        <p:tgtEl>
                                          <p:spTgt spid="80899">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80899">
                                            <p:txEl>
                                              <p:pRg st="5" end="5"/>
                                            </p:txEl>
                                          </p:spTgt>
                                        </p:tgtEl>
                                        <p:attrNameLst>
                                          <p:attrName>style.visibility</p:attrName>
                                        </p:attrNameLst>
                                      </p:cBhvr>
                                      <p:to>
                                        <p:strVal val="visible"/>
                                      </p:to>
                                    </p:set>
                                    <p:animEffect transition="in" filter="circle(in)">
                                      <p:cBhvr>
                                        <p:cTn id="23" dur="2000"/>
                                        <p:tgtEl>
                                          <p:spTgt spid="80899">
                                            <p:txEl>
                                              <p:pRg st="5" end="5"/>
                                            </p:txEl>
                                          </p:spTgt>
                                        </p:tgtEl>
                                      </p:cBhvr>
                                    </p:animEffect>
                                  </p:childTnLst>
                                </p:cTn>
                              </p:par>
                              <p:par>
                                <p:cTn id="24" presetID="6" presetClass="entr" presetSubtype="16" fill="hold" nodeType="withEffect">
                                  <p:stCondLst>
                                    <p:cond delay="0"/>
                                  </p:stCondLst>
                                  <p:childTnLst>
                                    <p:set>
                                      <p:cBhvr>
                                        <p:cTn id="25" dur="1" fill="hold">
                                          <p:stCondLst>
                                            <p:cond delay="0"/>
                                          </p:stCondLst>
                                        </p:cTn>
                                        <p:tgtEl>
                                          <p:spTgt spid="80899">
                                            <p:txEl>
                                              <p:pRg st="6" end="6"/>
                                            </p:txEl>
                                          </p:spTgt>
                                        </p:tgtEl>
                                        <p:attrNameLst>
                                          <p:attrName>style.visibility</p:attrName>
                                        </p:attrNameLst>
                                      </p:cBhvr>
                                      <p:to>
                                        <p:strVal val="visible"/>
                                      </p:to>
                                    </p:set>
                                    <p:animEffect transition="in" filter="circle(in)">
                                      <p:cBhvr>
                                        <p:cTn id="26" dur="2000"/>
                                        <p:tgtEl>
                                          <p:spTgt spid="80899">
                                            <p:txEl>
                                              <p:pRg st="6" end="6"/>
                                            </p:txEl>
                                          </p:spTgt>
                                        </p:tgtEl>
                                      </p:cBhvr>
                                    </p:animEffect>
                                  </p:childTnLst>
                                </p:cTn>
                              </p:par>
                              <p:par>
                                <p:cTn id="27" presetID="6" presetClass="entr" presetSubtype="16" fill="hold" nodeType="withEffect">
                                  <p:stCondLst>
                                    <p:cond delay="0"/>
                                  </p:stCondLst>
                                  <p:childTnLst>
                                    <p:set>
                                      <p:cBhvr>
                                        <p:cTn id="28" dur="1" fill="hold">
                                          <p:stCondLst>
                                            <p:cond delay="0"/>
                                          </p:stCondLst>
                                        </p:cTn>
                                        <p:tgtEl>
                                          <p:spTgt spid="80899">
                                            <p:txEl>
                                              <p:pRg st="7" end="7"/>
                                            </p:txEl>
                                          </p:spTgt>
                                        </p:tgtEl>
                                        <p:attrNameLst>
                                          <p:attrName>style.visibility</p:attrName>
                                        </p:attrNameLst>
                                      </p:cBhvr>
                                      <p:to>
                                        <p:strVal val="visible"/>
                                      </p:to>
                                    </p:set>
                                    <p:animEffect transition="in" filter="circle(in)">
                                      <p:cBhvr>
                                        <p:cTn id="29" dur="2000"/>
                                        <p:tgtEl>
                                          <p:spTgt spid="80899">
                                            <p:txEl>
                                              <p:pRg st="7" end="7"/>
                                            </p:txEl>
                                          </p:spTgt>
                                        </p:tgtEl>
                                      </p:cBhvr>
                                    </p:animEffect>
                                  </p:childTnLst>
                                </p:cTn>
                              </p:par>
                              <p:par>
                                <p:cTn id="30" presetID="6" presetClass="entr" presetSubtype="16" fill="hold" nodeType="withEffect">
                                  <p:stCondLst>
                                    <p:cond delay="0"/>
                                  </p:stCondLst>
                                  <p:childTnLst>
                                    <p:set>
                                      <p:cBhvr>
                                        <p:cTn id="31" dur="1" fill="hold">
                                          <p:stCondLst>
                                            <p:cond delay="0"/>
                                          </p:stCondLst>
                                        </p:cTn>
                                        <p:tgtEl>
                                          <p:spTgt spid="80899">
                                            <p:txEl>
                                              <p:pRg st="8" end="8"/>
                                            </p:txEl>
                                          </p:spTgt>
                                        </p:tgtEl>
                                        <p:attrNameLst>
                                          <p:attrName>style.visibility</p:attrName>
                                        </p:attrNameLst>
                                      </p:cBhvr>
                                      <p:to>
                                        <p:strVal val="visible"/>
                                      </p:to>
                                    </p:set>
                                    <p:animEffect transition="in" filter="circle(in)">
                                      <p:cBhvr>
                                        <p:cTn id="32" dur="2000"/>
                                        <p:tgtEl>
                                          <p:spTgt spid="8089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我国</a:t>
            </a:r>
            <a:r>
              <a:rPr lang="en-US" altLang="zh-CN" sz="3200" b="1" dirty="0">
                <a:latin typeface="华文楷体" panose="02010600040101010101" pitchFamily="2" charset="-122"/>
                <a:ea typeface="华文楷体" panose="02010600040101010101" pitchFamily="2" charset="-122"/>
              </a:rPr>
              <a:t>信息安全法律法规</a:t>
            </a:r>
            <a:endParaRPr lang="zh-CN" altLang="en-US" sz="3200" b="1" dirty="0">
              <a:latin typeface="华文楷体" panose="02010600040101010101" pitchFamily="2" charset="-122"/>
              <a:ea typeface="华文楷体" panose="02010600040101010101" pitchFamily="2" charset="-122"/>
            </a:endParaRPr>
          </a:p>
        </p:txBody>
      </p:sp>
      <p:sp>
        <p:nvSpPr>
          <p:cNvPr id="33795" name="内容占位符 2"/>
          <p:cNvSpPr>
            <a:spLocks noGrp="1" noChangeArrowheads="1"/>
          </p:cNvSpPr>
          <p:nvPr>
            <p:ph idx="1"/>
          </p:nvPr>
        </p:nvSpPr>
        <p:spPr>
          <a:xfrm>
            <a:off x="457200" y="1524000"/>
            <a:ext cx="8458200" cy="44196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信息</a:t>
            </a:r>
            <a:r>
              <a:rPr kumimoji="0" lang="zh-CN"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安全法律体系的</a:t>
            </a:r>
            <a:r>
              <a:rPr kumimoji="0" lang="zh-CN" altLang="zh-CN" sz="2800" b="0" i="0" u="none" strike="noStrike" kern="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主要特点</a:t>
            </a: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zh-CN"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1"/>
              </a:buClr>
              <a:buSzTx/>
              <a:buFont typeface="Wingdings" panose="05000000000000000000" pitchFamily="2" charset="2"/>
              <a:buChar char="Ø"/>
              <a:defRPr/>
            </a:pP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信息安全法律法规体系初步形成</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1"/>
              </a:buClr>
              <a:buSzTx/>
              <a:buFont typeface="Wingdings" panose="05000000000000000000" pitchFamily="2" charset="2"/>
              <a:buChar char="Ø"/>
              <a:defRPr/>
            </a:pP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与信息安全相关的司法和行政管理体系迅速完善</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1"/>
              </a:buClr>
              <a:buSzTx/>
              <a:buFont typeface="Wingdings" panose="05000000000000000000" pitchFamily="2" charset="2"/>
              <a:buChar char="Ø"/>
              <a:defRPr/>
            </a:pP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目前法律规定中法律少而规章等偏多，缺乏信息安全的基本法。</a:t>
            </a:r>
            <a:endPar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1"/>
              </a:buClr>
              <a:buSzTx/>
              <a:buFont typeface="Wingdings" panose="05000000000000000000" pitchFamily="2" charset="2"/>
              <a:buChar char="Ø"/>
              <a:defRPr/>
            </a:pP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相关法律规定篇幅偏小，行为规范较简单。</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1"/>
              </a:buClr>
              <a:buSzTx/>
              <a:buFont typeface="Wingdings" panose="05000000000000000000" pitchFamily="2" charset="2"/>
              <a:buChar char="Ø"/>
              <a:defRPr/>
            </a:pP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与信息安全相关的其他法律有待完善</a:t>
            </a:r>
            <a:endPar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animEffect transition="in" filter="barn(inVertical)">
                                      <p:cBhvr>
                                        <p:cTn id="7" dur="500"/>
                                        <p:tgtEl>
                                          <p:spTgt spid="337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3795">
                                            <p:txEl>
                                              <p:pRg st="2" end="2"/>
                                            </p:txEl>
                                          </p:spTgt>
                                        </p:tgtEl>
                                        <p:attrNameLst>
                                          <p:attrName>style.visibility</p:attrName>
                                        </p:attrNameLst>
                                      </p:cBhvr>
                                      <p:to>
                                        <p:strVal val="visible"/>
                                      </p:to>
                                    </p:set>
                                    <p:animEffect transition="in" filter="circle(in)">
                                      <p:cBhvr>
                                        <p:cTn id="12" dur="2000"/>
                                        <p:tgtEl>
                                          <p:spTgt spid="33795">
                                            <p:txEl>
                                              <p:pRg st="2" end="2"/>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33795">
                                            <p:txEl>
                                              <p:pRg st="3" end="3"/>
                                            </p:txEl>
                                          </p:spTgt>
                                        </p:tgtEl>
                                        <p:attrNameLst>
                                          <p:attrName>style.visibility</p:attrName>
                                        </p:attrNameLst>
                                      </p:cBhvr>
                                      <p:to>
                                        <p:strVal val="visible"/>
                                      </p:to>
                                    </p:set>
                                    <p:animEffect transition="in" filter="circle(in)">
                                      <p:cBhvr>
                                        <p:cTn id="15" dur="2000"/>
                                        <p:tgtEl>
                                          <p:spTgt spid="33795">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33795">
                                            <p:txEl>
                                              <p:pRg st="4" end="4"/>
                                            </p:txEl>
                                          </p:spTgt>
                                        </p:tgtEl>
                                        <p:attrNameLst>
                                          <p:attrName>style.visibility</p:attrName>
                                        </p:attrNameLst>
                                      </p:cBhvr>
                                      <p:to>
                                        <p:strVal val="visible"/>
                                      </p:to>
                                    </p:set>
                                    <p:animEffect transition="in" filter="wheel(1)">
                                      <p:cBhvr>
                                        <p:cTn id="20" dur="2000"/>
                                        <p:tgtEl>
                                          <p:spTgt spid="33795">
                                            <p:txEl>
                                              <p:pRg st="4" end="4"/>
                                            </p:txEl>
                                          </p:spTgt>
                                        </p:tgtEl>
                                      </p:cBhvr>
                                    </p:animEffect>
                                  </p:childTnLst>
                                </p:cTn>
                              </p:par>
                              <p:par>
                                <p:cTn id="21" presetID="21" presetClass="entr" presetSubtype="1" fill="hold" nodeType="withEffect">
                                  <p:stCondLst>
                                    <p:cond delay="0"/>
                                  </p:stCondLst>
                                  <p:childTnLst>
                                    <p:set>
                                      <p:cBhvr>
                                        <p:cTn id="22" dur="1" fill="hold">
                                          <p:stCondLst>
                                            <p:cond delay="0"/>
                                          </p:stCondLst>
                                        </p:cTn>
                                        <p:tgtEl>
                                          <p:spTgt spid="33795">
                                            <p:txEl>
                                              <p:pRg st="5" end="5"/>
                                            </p:txEl>
                                          </p:spTgt>
                                        </p:tgtEl>
                                        <p:attrNameLst>
                                          <p:attrName>style.visibility</p:attrName>
                                        </p:attrNameLst>
                                      </p:cBhvr>
                                      <p:to>
                                        <p:strVal val="visible"/>
                                      </p:to>
                                    </p:set>
                                    <p:animEffect transition="in" filter="wheel(1)">
                                      <p:cBhvr>
                                        <p:cTn id="23" dur="2000"/>
                                        <p:tgtEl>
                                          <p:spTgt spid="337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Line 11"/>
          <p:cNvSpPr/>
          <p:nvPr/>
        </p:nvSpPr>
        <p:spPr>
          <a:xfrm>
            <a:off x="2057400" y="2133600"/>
            <a:ext cx="5791200" cy="1588"/>
          </a:xfrm>
          <a:prstGeom prst="line">
            <a:avLst/>
          </a:prstGeom>
          <a:ln w="25400" cap="flat" cmpd="sng">
            <a:solidFill>
              <a:srgbClr val="C0C0C0"/>
            </a:solidFill>
            <a:prstDash val="sysDot"/>
            <a:round/>
            <a:headEnd type="none" w="med" len="med"/>
            <a:tailEnd type="oval" w="med" len="med"/>
          </a:ln>
        </p:spPr>
      </p:sp>
      <p:sp>
        <p:nvSpPr>
          <p:cNvPr id="12290" name="Line 14"/>
          <p:cNvSpPr/>
          <p:nvPr/>
        </p:nvSpPr>
        <p:spPr>
          <a:xfrm flipV="1">
            <a:off x="2057400" y="2984500"/>
            <a:ext cx="5791200" cy="33338"/>
          </a:xfrm>
          <a:prstGeom prst="line">
            <a:avLst/>
          </a:prstGeom>
          <a:ln w="25400" cap="flat" cmpd="sng">
            <a:solidFill>
              <a:srgbClr val="C0C0C0"/>
            </a:solidFill>
            <a:prstDash val="sysDot"/>
            <a:round/>
            <a:headEnd type="none" w="med" len="med"/>
            <a:tailEnd type="oval" w="med" len="med"/>
          </a:ln>
        </p:spPr>
      </p:sp>
      <p:sp>
        <p:nvSpPr>
          <p:cNvPr id="12291" name="Line 25"/>
          <p:cNvSpPr/>
          <p:nvPr/>
        </p:nvSpPr>
        <p:spPr>
          <a:xfrm flipV="1">
            <a:off x="1981200" y="3932238"/>
            <a:ext cx="5867400" cy="17462"/>
          </a:xfrm>
          <a:prstGeom prst="line">
            <a:avLst/>
          </a:prstGeom>
          <a:ln w="25400" cap="flat" cmpd="sng">
            <a:solidFill>
              <a:srgbClr val="C0C0C0"/>
            </a:solidFill>
            <a:prstDash val="sysDot"/>
            <a:round/>
            <a:headEnd type="none" w="med" len="med"/>
            <a:tailEnd type="oval" w="med" len="med"/>
          </a:ln>
        </p:spPr>
      </p:sp>
      <p:sp>
        <p:nvSpPr>
          <p:cNvPr id="12292" name="Line 25"/>
          <p:cNvSpPr/>
          <p:nvPr/>
        </p:nvSpPr>
        <p:spPr>
          <a:xfrm flipV="1">
            <a:off x="1998663" y="4824413"/>
            <a:ext cx="5849937" cy="17462"/>
          </a:xfrm>
          <a:prstGeom prst="line">
            <a:avLst/>
          </a:prstGeom>
          <a:ln w="25400" cap="flat" cmpd="sng">
            <a:solidFill>
              <a:srgbClr val="C0C0C0"/>
            </a:solidFill>
            <a:prstDash val="sysDot"/>
            <a:round/>
            <a:headEnd type="none" w="med" len="med"/>
            <a:tailEnd type="oval" w="med" len="med"/>
          </a:ln>
        </p:spPr>
      </p:sp>
      <p:sp>
        <p:nvSpPr>
          <p:cNvPr id="12293" name="Rectangle 2"/>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本章授课内容</a:t>
            </a:r>
            <a:endParaRPr lang="en-US" altLang="zh-CN" b="1" dirty="0">
              <a:ea typeface="宋体" panose="02010600030101010101" pitchFamily="2" charset="-122"/>
            </a:endParaRPr>
          </a:p>
        </p:txBody>
      </p:sp>
      <p:grpSp>
        <p:nvGrpSpPr>
          <p:cNvPr id="12294" name="Group 3"/>
          <p:cNvGrpSpPr/>
          <p:nvPr/>
        </p:nvGrpSpPr>
        <p:grpSpPr>
          <a:xfrm>
            <a:off x="1524000" y="1524000"/>
            <a:ext cx="762000" cy="665163"/>
            <a:chOff x="1110" y="2656"/>
            <a:chExt cx="1549" cy="1351"/>
          </a:xfrm>
        </p:grpSpPr>
        <p:sp>
          <p:nvSpPr>
            <p:cNvPr id="12295"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12296"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grpSp>
        <p:nvGrpSpPr>
          <p:cNvPr id="12298" name="Group 7"/>
          <p:cNvGrpSpPr/>
          <p:nvPr/>
        </p:nvGrpSpPr>
        <p:grpSpPr>
          <a:xfrm>
            <a:off x="1524000" y="2374900"/>
            <a:ext cx="762000" cy="665163"/>
            <a:chOff x="3174" y="2656"/>
            <a:chExt cx="1549" cy="1351"/>
          </a:xfrm>
        </p:grpSpPr>
        <p:sp>
          <p:nvSpPr>
            <p:cNvPr id="12299"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12300"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sp>
        <p:nvSpPr>
          <p:cNvPr id="12302" name="Text Box 12"/>
          <p:cNvSpPr txBox="1"/>
          <p:nvPr/>
        </p:nvSpPr>
        <p:spPr>
          <a:xfrm>
            <a:off x="2362200" y="1581150"/>
            <a:ext cx="5638800" cy="523875"/>
          </a:xfrm>
          <a:prstGeom prst="rect">
            <a:avLst/>
          </a:prstGeom>
          <a:noFill/>
          <a:ln w="9525">
            <a:noFill/>
          </a:ln>
        </p:spPr>
        <p:txBody>
          <a:bodyPr anchor="t" anchorCtr="0">
            <a:spAutoFit/>
          </a:bodyPr>
          <a:lstStyle/>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中国信息安全信法律法规体系</a:t>
            </a:r>
            <a:endParaRPr lang="zh-CN" altLang="en-US" sz="2800" b="1" dirty="0">
              <a:solidFill>
                <a:schemeClr val="tx1"/>
              </a:solidFill>
              <a:latin typeface="华文楷体" panose="02010600040101010101" pitchFamily="2" charset="-122"/>
              <a:ea typeface="华文楷体" panose="02010600040101010101" pitchFamily="2" charset="-122"/>
            </a:endParaRPr>
          </a:p>
        </p:txBody>
      </p:sp>
      <p:sp>
        <p:nvSpPr>
          <p:cNvPr id="12303" name="Text Box 13"/>
          <p:cNvSpPr txBox="1"/>
          <p:nvPr/>
        </p:nvSpPr>
        <p:spPr>
          <a:xfrm>
            <a:off x="1733550" y="1622425"/>
            <a:ext cx="328613" cy="461963"/>
          </a:xfrm>
          <a:prstGeom prst="rect">
            <a:avLst/>
          </a:prstGeom>
          <a:noFill/>
          <a:ln w="9525">
            <a:noFill/>
          </a:ln>
        </p:spPr>
        <p:txBody>
          <a:bodyPr wrap="none" anchor="t" anchorCtr="0">
            <a:spAutoFit/>
          </a:bodyPr>
          <a:lstStyle/>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1</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12304" name="Text Box 16"/>
          <p:cNvSpPr txBox="1"/>
          <p:nvPr/>
        </p:nvSpPr>
        <p:spPr>
          <a:xfrm>
            <a:off x="1733550" y="2536825"/>
            <a:ext cx="328613" cy="461963"/>
          </a:xfrm>
          <a:prstGeom prst="rect">
            <a:avLst/>
          </a:prstGeom>
          <a:noFill/>
          <a:ln w="9525">
            <a:noFill/>
          </a:ln>
        </p:spPr>
        <p:txBody>
          <a:bodyPr wrap="none" anchor="t" anchorCtr="0">
            <a:spAutoFit/>
          </a:bodyPr>
          <a:lstStyle/>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2</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12305" name="Text Box 21"/>
          <p:cNvSpPr txBox="1"/>
          <p:nvPr/>
        </p:nvSpPr>
        <p:spPr>
          <a:xfrm>
            <a:off x="1733550" y="3429000"/>
            <a:ext cx="328613" cy="461963"/>
          </a:xfrm>
          <a:prstGeom prst="rect">
            <a:avLst/>
          </a:prstGeom>
          <a:noFill/>
          <a:ln w="9525">
            <a:noFill/>
          </a:ln>
        </p:spPr>
        <p:txBody>
          <a:bodyPr wrap="none" anchor="t" anchorCtr="0">
            <a:spAutoFit/>
          </a:bodyPr>
          <a:lstStyle/>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3</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12306" name="Text Box 24"/>
          <p:cNvSpPr txBox="1"/>
          <p:nvPr/>
        </p:nvSpPr>
        <p:spPr>
          <a:xfrm>
            <a:off x="2286000" y="2490788"/>
            <a:ext cx="5715000" cy="523875"/>
          </a:xfrm>
          <a:prstGeom prst="rect">
            <a:avLst/>
          </a:prstGeom>
          <a:noFill/>
          <a:ln w="9525">
            <a:noFill/>
          </a:ln>
        </p:spPr>
        <p:txBody>
          <a:bodyPr anchor="t" anchorCtr="0">
            <a:spAutoFit/>
          </a:bodyPr>
          <a:lstStyle/>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 </a:t>
            </a:r>
            <a:r>
              <a:rPr lang="zh-CN" altLang="en-US" sz="2800" b="1" dirty="0">
                <a:solidFill>
                  <a:srgbClr val="FF0000"/>
                </a:solidFill>
                <a:latin typeface="华文楷体" panose="02010600040101010101" pitchFamily="2" charset="-122"/>
                <a:ea typeface="华文楷体" panose="02010600040101010101" pitchFamily="2" charset="-122"/>
              </a:rPr>
              <a:t>信息系统安全相关法律法规</a:t>
            </a:r>
            <a:endParaRPr lang="zh-CN" altLang="en-US" sz="2800" b="1" dirty="0">
              <a:solidFill>
                <a:srgbClr val="FF0000"/>
              </a:solidFill>
              <a:latin typeface="华文楷体" panose="02010600040101010101" pitchFamily="2" charset="-122"/>
              <a:ea typeface="华文楷体" panose="02010600040101010101" pitchFamily="2" charset="-122"/>
            </a:endParaRPr>
          </a:p>
        </p:txBody>
      </p:sp>
      <p:sp>
        <p:nvSpPr>
          <p:cNvPr id="12307" name="Text Box 15"/>
          <p:cNvSpPr txBox="1"/>
          <p:nvPr/>
        </p:nvSpPr>
        <p:spPr>
          <a:xfrm>
            <a:off x="2292350" y="3416300"/>
            <a:ext cx="4953000" cy="522288"/>
          </a:xfrm>
          <a:prstGeom prst="rect">
            <a:avLst/>
          </a:prstGeom>
          <a:noFill/>
          <a:ln w="9525">
            <a:noFill/>
          </a:ln>
        </p:spPr>
        <p:txBody>
          <a:bodyPr anchor="t" anchorCtr="0">
            <a:spAutoFit/>
          </a:bodyPr>
          <a:lstStyle/>
          <a:p>
            <a:pPr eaLnBrk="0" hangingPunct="0"/>
            <a:r>
              <a:rPr lang="zh-CN" altLang="en-US" sz="2800" b="1" dirty="0">
                <a:solidFill>
                  <a:srgbClr val="0D1259"/>
                </a:solidFill>
                <a:latin typeface="华文楷体" panose="02010600040101010101" pitchFamily="2" charset="-122"/>
                <a:ea typeface="华文楷体" panose="02010600040101010101" pitchFamily="2" charset="-122"/>
              </a:rPr>
              <a:t> 互联网安全管理相关法律法规</a:t>
            </a:r>
            <a:endParaRPr lang="zh-CN" altLang="en-US" sz="2800" b="1" dirty="0">
              <a:solidFill>
                <a:srgbClr val="0D1259"/>
              </a:solidFill>
              <a:latin typeface="华文楷体" panose="02010600040101010101" pitchFamily="2" charset="-122"/>
              <a:ea typeface="华文楷体" panose="02010600040101010101" pitchFamily="2" charset="-122"/>
            </a:endParaRPr>
          </a:p>
        </p:txBody>
      </p:sp>
      <p:grpSp>
        <p:nvGrpSpPr>
          <p:cNvPr id="12308" name="Group 17"/>
          <p:cNvGrpSpPr/>
          <p:nvPr/>
        </p:nvGrpSpPr>
        <p:grpSpPr>
          <a:xfrm>
            <a:off x="1524000" y="3317875"/>
            <a:ext cx="762000" cy="665163"/>
            <a:chOff x="1110" y="2656"/>
            <a:chExt cx="1549" cy="1351"/>
          </a:xfrm>
        </p:grpSpPr>
        <p:sp>
          <p:nvSpPr>
            <p:cNvPr id="12309"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12310"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12312" name="Text Box 15"/>
          <p:cNvSpPr txBox="1"/>
          <p:nvPr/>
        </p:nvSpPr>
        <p:spPr>
          <a:xfrm>
            <a:off x="2379980" y="4348480"/>
            <a:ext cx="5732145" cy="521970"/>
          </a:xfrm>
          <a:prstGeom prst="rect">
            <a:avLst/>
          </a:prstGeom>
          <a:noFill/>
          <a:ln w="9525">
            <a:noFill/>
          </a:ln>
        </p:spPr>
        <p:txBody>
          <a:bodyPr wrap="square" anchor="t" anchorCtr="0">
            <a:spAutoFit/>
          </a:bodyPr>
          <a:lstStyle/>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其他有关信息安全的相关法律法规</a:t>
            </a:r>
            <a:endParaRPr lang="en-US" altLang="zh-CN" sz="2800" b="1" dirty="0">
              <a:solidFill>
                <a:schemeClr val="tx1"/>
              </a:solidFill>
              <a:latin typeface="华文楷体" panose="02010600040101010101" pitchFamily="2" charset="-122"/>
              <a:ea typeface="华文楷体" panose="02010600040101010101" pitchFamily="2" charset="-122"/>
            </a:endParaRPr>
          </a:p>
        </p:txBody>
      </p:sp>
      <p:grpSp>
        <p:nvGrpSpPr>
          <p:cNvPr id="12313" name="Group 17"/>
          <p:cNvGrpSpPr/>
          <p:nvPr/>
        </p:nvGrpSpPr>
        <p:grpSpPr>
          <a:xfrm>
            <a:off x="1541463" y="4210050"/>
            <a:ext cx="762000" cy="665163"/>
            <a:chOff x="1110" y="2656"/>
            <a:chExt cx="1549" cy="1351"/>
          </a:xfrm>
        </p:grpSpPr>
        <p:sp>
          <p:nvSpPr>
            <p:cNvPr id="12314"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12315"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3"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12317" name="Text Box 15"/>
          <p:cNvSpPr txBox="1"/>
          <p:nvPr/>
        </p:nvSpPr>
        <p:spPr>
          <a:xfrm>
            <a:off x="2362200" y="5114925"/>
            <a:ext cx="4953000" cy="523875"/>
          </a:xfrm>
          <a:prstGeom prst="rect">
            <a:avLst/>
          </a:prstGeom>
          <a:noFill/>
          <a:ln w="9525">
            <a:noFill/>
          </a:ln>
        </p:spPr>
        <p:txBody>
          <a:bodyPr anchor="t" anchorCtr="0">
            <a:spAutoFit/>
          </a:bodyPr>
          <a:lstStyle/>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思政点</a:t>
            </a:r>
            <a:endParaRPr lang="en-US" altLang="zh-CN" sz="2800" b="1" dirty="0">
              <a:solidFill>
                <a:schemeClr val="tx1"/>
              </a:solidFill>
              <a:latin typeface="华文楷体" panose="02010600040101010101" pitchFamily="2" charset="-122"/>
              <a:ea typeface="华文楷体" panose="02010600040101010101" pitchFamily="2" charset="-122"/>
            </a:endParaRPr>
          </a:p>
        </p:txBody>
      </p:sp>
      <p:sp>
        <p:nvSpPr>
          <p:cNvPr id="12318" name="Line 25"/>
          <p:cNvSpPr/>
          <p:nvPr/>
        </p:nvSpPr>
        <p:spPr>
          <a:xfrm flipV="1">
            <a:off x="2151063" y="5621338"/>
            <a:ext cx="5697537" cy="17462"/>
          </a:xfrm>
          <a:prstGeom prst="line">
            <a:avLst/>
          </a:prstGeom>
          <a:ln w="25400" cap="flat" cmpd="sng">
            <a:solidFill>
              <a:srgbClr val="C0C0C0"/>
            </a:solidFill>
            <a:prstDash val="sysDot"/>
            <a:round/>
            <a:headEnd type="none" w="med" len="med"/>
            <a:tailEnd type="oval" w="med" len="med"/>
          </a:ln>
        </p:spPr>
      </p:sp>
      <p:grpSp>
        <p:nvGrpSpPr>
          <p:cNvPr id="12319" name="Group 17"/>
          <p:cNvGrpSpPr/>
          <p:nvPr/>
        </p:nvGrpSpPr>
        <p:grpSpPr>
          <a:xfrm>
            <a:off x="1524000" y="5049838"/>
            <a:ext cx="762000" cy="665162"/>
            <a:chOff x="1110" y="2656"/>
            <a:chExt cx="1549" cy="1351"/>
          </a:xfrm>
        </p:grpSpPr>
        <p:sp>
          <p:nvSpPr>
            <p:cNvPr id="12320"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12321"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5</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Tree>
  </p:cSld>
  <p:clrMapOvr>
    <a:masterClrMapping/>
  </p:clrMapOvr>
  <p:transition>
    <p:blinds dir="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信息系统安全相关法律法规</a:t>
            </a:r>
            <a:endParaRPr lang="zh-CN" altLang="en-US" sz="3200" b="1" dirty="0">
              <a:latin typeface="华文楷体" panose="02010600040101010101" pitchFamily="2" charset="-122"/>
              <a:ea typeface="华文楷体" panose="02010600040101010101" pitchFamily="2" charset="-122"/>
            </a:endParaRPr>
          </a:p>
        </p:txBody>
      </p:sp>
      <p:sp>
        <p:nvSpPr>
          <p:cNvPr id="10243" name="内容占位符 2"/>
          <p:cNvSpPr>
            <a:spLocks noGrp="1" noChangeArrowheads="1"/>
          </p:cNvSpPr>
          <p:nvPr>
            <p:ph idx="1"/>
          </p:nvPr>
        </p:nvSpPr>
        <p:spPr>
          <a:xfrm>
            <a:off x="381000" y="1143000"/>
            <a:ext cx="8496300" cy="55626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信息系统安全相关法律法规</a:t>
            </a:r>
            <a:r>
              <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zh-CN" sz="28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谁主管谁负责</a:t>
            </a:r>
            <a:r>
              <a:rPr kumimoji="0" lang="en-US" altLang="zh-CN" sz="28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a:t>
            </a: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的原则</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国外信息安全法律法规</a:t>
            </a:r>
            <a:endPar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en-US" altLang="zh-CN"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
        <p:nvSpPr>
          <p:cNvPr id="14339" name="圆角矩形 1"/>
          <p:cNvSpPr/>
          <p:nvPr/>
        </p:nvSpPr>
        <p:spPr>
          <a:xfrm flipH="1">
            <a:off x="1447800" y="2344738"/>
            <a:ext cx="788988" cy="4132262"/>
          </a:xfrm>
          <a:prstGeom prst="roundRect">
            <a:avLst>
              <a:gd name="adj" fmla="val 16667"/>
            </a:avLst>
          </a:prstGeom>
          <a:noFill/>
          <a:ln w="9525" cap="flat" cmpd="sng">
            <a:solidFill>
              <a:srgbClr val="002060"/>
            </a:solidFill>
            <a:prstDash val="solid"/>
            <a:round/>
            <a:headEnd type="none" w="med" len="med"/>
            <a:tailEnd type="none" w="med" len="med"/>
          </a:ln>
        </p:spPr>
        <p:txBody>
          <a:bodyPr anchor="t" anchorCtr="0">
            <a:spAutoFit/>
          </a:bodyPr>
          <a:lstStyle/>
          <a:p>
            <a:pPr algn="ctr" eaLnBrk="0" hangingPunct="0">
              <a:spcBef>
                <a:spcPct val="50000"/>
              </a:spcBef>
            </a:pPr>
            <a:r>
              <a:rPr lang="zh-CN" altLang="zh-CN" b="1" dirty="0">
                <a:latin typeface="华文楷体" panose="02010600040101010101" pitchFamily="2" charset="-122"/>
                <a:ea typeface="华文楷体" panose="02010600040101010101" pitchFamily="2" charset="-122"/>
              </a:rPr>
              <a:t>美国信息安全法律法规</a:t>
            </a:r>
            <a:endParaRPr lang="zh-CN" altLang="en-US" b="1" dirty="0">
              <a:latin typeface="华文楷体" panose="02010600040101010101" pitchFamily="2" charset="-122"/>
              <a:ea typeface="华文楷体" panose="02010600040101010101" pitchFamily="2" charset="-122"/>
            </a:endParaRPr>
          </a:p>
        </p:txBody>
      </p:sp>
      <p:sp>
        <p:nvSpPr>
          <p:cNvPr id="14340" name="右箭头 2"/>
          <p:cNvSpPr/>
          <p:nvPr/>
        </p:nvSpPr>
        <p:spPr>
          <a:xfrm>
            <a:off x="1981200" y="3030538"/>
            <a:ext cx="1219200" cy="46037"/>
          </a:xfrm>
          <a:prstGeom prst="rightArrow">
            <a:avLst>
              <a:gd name="adj1" fmla="val 50000"/>
              <a:gd name="adj2" fmla="val 49533"/>
            </a:avLst>
          </a:prstGeom>
          <a:noFill/>
          <a:ln w="9525">
            <a:noFill/>
          </a:ln>
        </p:spPr>
        <p:txBody>
          <a:bodyPr anchor="t" anchorCtr="0">
            <a:spAutoFit/>
          </a:bodyPr>
          <a:lstStyle/>
          <a:p>
            <a:pPr algn="ctr" eaLnBrk="0" hangingPunct="0">
              <a:spcBef>
                <a:spcPct val="50000"/>
              </a:spcBef>
            </a:pPr>
            <a:endParaRPr lang="zh-CN" altLang="en-US" dirty="0">
              <a:latin typeface="Times New Roman" panose="02020603050405020304" pitchFamily="18" charset="0"/>
            </a:endParaRPr>
          </a:p>
        </p:txBody>
      </p:sp>
      <p:sp>
        <p:nvSpPr>
          <p:cNvPr id="14341" name="右箭头 5"/>
          <p:cNvSpPr/>
          <p:nvPr/>
        </p:nvSpPr>
        <p:spPr>
          <a:xfrm>
            <a:off x="2438400" y="2819400"/>
            <a:ext cx="1163638" cy="138113"/>
          </a:xfrm>
          <a:prstGeom prst="rightArrow">
            <a:avLst>
              <a:gd name="adj1" fmla="val 50000"/>
              <a:gd name="adj2" fmla="val 50200"/>
            </a:avLst>
          </a:prstGeom>
          <a:solidFill>
            <a:schemeClr val="accent1"/>
          </a:solidFill>
          <a:ln w="88900" cap="flat" cmpd="sng">
            <a:solidFill>
              <a:schemeClr val="accent1"/>
            </a:solidFill>
            <a:prstDash val="solid"/>
            <a:round/>
            <a:headEnd type="none" w="med" len="med"/>
            <a:tailEnd type="none" w="med" len="med"/>
          </a:ln>
        </p:spPr>
        <p:txBody>
          <a:bodyPr anchor="t" anchorCtr="0">
            <a:spAutoFit/>
          </a:bodyPr>
          <a:lstStyle/>
          <a:p>
            <a:pPr algn="ctr" eaLnBrk="0" hangingPunct="0">
              <a:spcBef>
                <a:spcPct val="50000"/>
              </a:spcBef>
            </a:pPr>
            <a:endParaRPr lang="zh-CN" altLang="en-US" dirty="0">
              <a:latin typeface="Times New Roman" panose="02020603050405020304" pitchFamily="18" charset="0"/>
            </a:endParaRPr>
          </a:p>
        </p:txBody>
      </p:sp>
      <p:sp>
        <p:nvSpPr>
          <p:cNvPr id="14342" name="右箭头 8"/>
          <p:cNvSpPr/>
          <p:nvPr/>
        </p:nvSpPr>
        <p:spPr>
          <a:xfrm>
            <a:off x="2389188" y="5570538"/>
            <a:ext cx="1165225" cy="139700"/>
          </a:xfrm>
          <a:prstGeom prst="rightArrow">
            <a:avLst>
              <a:gd name="adj1" fmla="val 50000"/>
              <a:gd name="adj2" fmla="val 49697"/>
            </a:avLst>
          </a:prstGeom>
          <a:solidFill>
            <a:schemeClr val="accent1"/>
          </a:solidFill>
          <a:ln w="88900" cap="flat" cmpd="sng">
            <a:solidFill>
              <a:schemeClr val="accent1"/>
            </a:solidFill>
            <a:prstDash val="solid"/>
            <a:round/>
            <a:headEnd type="none" w="med" len="med"/>
            <a:tailEnd type="none" w="med" len="med"/>
          </a:ln>
        </p:spPr>
        <p:txBody>
          <a:bodyPr anchor="t" anchorCtr="0">
            <a:spAutoFit/>
          </a:bodyPr>
          <a:lstStyle/>
          <a:p>
            <a:pPr algn="ctr" eaLnBrk="0" hangingPunct="0">
              <a:spcBef>
                <a:spcPct val="50000"/>
              </a:spcBef>
            </a:pPr>
            <a:endParaRPr lang="zh-CN" altLang="en-US" dirty="0">
              <a:latin typeface="Times New Roman" panose="02020603050405020304" pitchFamily="18" charset="0"/>
            </a:endParaRPr>
          </a:p>
        </p:txBody>
      </p:sp>
      <p:sp>
        <p:nvSpPr>
          <p:cNvPr id="14343" name="右箭头 9"/>
          <p:cNvSpPr/>
          <p:nvPr/>
        </p:nvSpPr>
        <p:spPr>
          <a:xfrm>
            <a:off x="2438400" y="4183063"/>
            <a:ext cx="1163638" cy="138112"/>
          </a:xfrm>
          <a:prstGeom prst="rightArrow">
            <a:avLst>
              <a:gd name="adj1" fmla="val 50000"/>
              <a:gd name="adj2" fmla="val 50200"/>
            </a:avLst>
          </a:prstGeom>
          <a:solidFill>
            <a:schemeClr val="accent1"/>
          </a:solidFill>
          <a:ln w="88900" cap="flat" cmpd="sng">
            <a:solidFill>
              <a:schemeClr val="accent1"/>
            </a:solidFill>
            <a:prstDash val="solid"/>
            <a:round/>
            <a:headEnd type="none" w="med" len="med"/>
            <a:tailEnd type="none" w="med" len="med"/>
          </a:ln>
        </p:spPr>
        <p:txBody>
          <a:bodyPr anchor="t" anchorCtr="0">
            <a:spAutoFit/>
          </a:bodyPr>
          <a:lstStyle/>
          <a:p>
            <a:pPr algn="ctr" eaLnBrk="0" hangingPunct="0">
              <a:spcBef>
                <a:spcPct val="50000"/>
              </a:spcBef>
            </a:pPr>
            <a:endParaRPr lang="zh-CN" altLang="en-US" dirty="0">
              <a:latin typeface="Times New Roman" panose="02020603050405020304" pitchFamily="18" charset="0"/>
            </a:endParaRPr>
          </a:p>
        </p:txBody>
      </p:sp>
      <p:sp>
        <p:nvSpPr>
          <p:cNvPr id="7" name="圆角矩形 6"/>
          <p:cNvSpPr/>
          <p:nvPr/>
        </p:nvSpPr>
        <p:spPr bwMode="auto">
          <a:xfrm>
            <a:off x="3932238" y="2667000"/>
            <a:ext cx="3352800" cy="544513"/>
          </a:xfrm>
          <a:prstGeom prst="roundRect">
            <a:avLst/>
          </a:prstGeom>
          <a:noFill/>
          <a:ln w="9525" cap="flat" cmpd="sng" algn="ctr">
            <a:solidFill>
              <a:schemeClr val="accent4"/>
            </a:solidFill>
            <a:prstDash val="solid"/>
            <a:round/>
            <a:headEnd type="none" w="med" len="med"/>
            <a:tailEnd type="none" w="med" len="me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zh-CN" altLang="zh-CN" sz="26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政府信息安全法律</a:t>
            </a:r>
            <a:endParaRPr kumimoji="0" lang="zh-CN" altLang="en-US" sz="26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sp>
        <p:nvSpPr>
          <p:cNvPr id="12" name="圆角矩形 11"/>
          <p:cNvSpPr/>
          <p:nvPr/>
        </p:nvSpPr>
        <p:spPr bwMode="auto">
          <a:xfrm>
            <a:off x="3810000" y="5437188"/>
            <a:ext cx="3713163" cy="544513"/>
          </a:xfrm>
          <a:prstGeom prst="roundRect">
            <a:avLst/>
          </a:prstGeom>
          <a:noFill/>
          <a:ln w="9525" cap="flat" cmpd="sng" algn="ctr">
            <a:solidFill>
              <a:schemeClr val="accent4"/>
            </a:solidFill>
            <a:prstDash val="solid"/>
            <a:round/>
            <a:headEnd type="none" w="med" len="med"/>
            <a:tailEnd type="none" w="med" len="me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zh-CN" altLang="zh-CN" sz="26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个人隐私信息安全法律</a:t>
            </a:r>
            <a:endParaRPr kumimoji="0" lang="zh-CN" altLang="en-US" sz="26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sp>
        <p:nvSpPr>
          <p:cNvPr id="13" name="圆角矩形 12"/>
          <p:cNvSpPr/>
          <p:nvPr/>
        </p:nvSpPr>
        <p:spPr bwMode="auto">
          <a:xfrm>
            <a:off x="3830638" y="3960813"/>
            <a:ext cx="3692525" cy="544513"/>
          </a:xfrm>
          <a:prstGeom prst="roundRect">
            <a:avLst/>
          </a:prstGeom>
          <a:noFill/>
          <a:ln w="9525" cap="flat" cmpd="sng" algn="ctr">
            <a:solidFill>
              <a:schemeClr val="accent4"/>
            </a:solidFill>
            <a:prstDash val="solid"/>
            <a:round/>
            <a:headEnd type="none" w="med" len="med"/>
            <a:tailEnd type="none" w="med" len="me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zh-CN" altLang="zh-CN" sz="26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商业组织信息安全法律</a:t>
            </a:r>
            <a:endParaRPr kumimoji="0" lang="zh-CN" altLang="en-US" sz="26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信息系统安全相关法律法规</a:t>
            </a:r>
            <a:endParaRPr lang="zh-CN" altLang="en-US" sz="3200" b="1" dirty="0">
              <a:latin typeface="华文楷体" panose="02010600040101010101" pitchFamily="2" charset="-122"/>
              <a:ea typeface="华文楷体" panose="02010600040101010101" pitchFamily="2" charset="-122"/>
            </a:endParaRPr>
          </a:p>
        </p:txBody>
      </p:sp>
      <p:sp>
        <p:nvSpPr>
          <p:cNvPr id="46083" name="内容占位符 2"/>
          <p:cNvSpPr>
            <a:spLocks noGrp="1" noChangeArrowheads="1"/>
          </p:cNvSpPr>
          <p:nvPr>
            <p:ph idx="1"/>
          </p:nvPr>
        </p:nvSpPr>
        <p:spPr>
          <a:xfrm>
            <a:off x="381000" y="1143000"/>
            <a:ext cx="8305800" cy="5562600"/>
          </a:xfrm>
        </p:spPr>
        <p:txBody>
          <a:bodyPr vert="horz" wrap="square" lIns="91440" tIns="45720" rIns="91440" bIns="45720" numCol="1" anchor="t" anchorCtr="0" compatLnSpc="1"/>
          <a:lstStyle/>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英国信息安全法律法规</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1628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1996</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年</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9</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月</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23</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日</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由</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互联网络服务提供商协会（</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ISPA</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）执委会、伦敦互联网络交换中心、互联网络安全基金会等部门提出并实施三</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R</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规则，分别代表“分级认定、检举揭发和承担责任”</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1628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法国信息安全法律法规</a:t>
            </a:r>
            <a:endParaRPr kumimoji="0" lang="en-US"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1628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1992</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年通过、</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1994</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年生效的新刑法典设专章“侵犯资料自动处理系统罪”对计算机犯罪作了规定</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en-US" altLang="zh-CN"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animEffect transition="in" filter="barn(inVertical)">
                                      <p:cBhvr>
                                        <p:cTn id="7" dur="500"/>
                                        <p:tgtEl>
                                          <p:spTgt spid="4608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6083">
                                            <p:txEl>
                                              <p:pRg st="3" end="3"/>
                                            </p:txEl>
                                          </p:spTgt>
                                        </p:tgtEl>
                                        <p:attrNameLst>
                                          <p:attrName>style.visibility</p:attrName>
                                        </p:attrNameLst>
                                      </p:cBhvr>
                                      <p:to>
                                        <p:strVal val="visible"/>
                                      </p:to>
                                    </p:set>
                                    <p:animEffect transition="in" filter="circle(in)">
                                      <p:cBhvr>
                                        <p:cTn id="12" dur="2000"/>
                                        <p:tgtEl>
                                          <p:spTgt spid="46083">
                                            <p:txEl>
                                              <p:pRg st="3" end="3"/>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46083">
                                            <p:txEl>
                                              <p:pRg st="4" end="4"/>
                                            </p:txEl>
                                          </p:spTgt>
                                        </p:tgtEl>
                                        <p:attrNameLst>
                                          <p:attrName>style.visibility</p:attrName>
                                        </p:attrNameLst>
                                      </p:cBhvr>
                                      <p:to>
                                        <p:strVal val="visible"/>
                                      </p:to>
                                    </p:set>
                                    <p:animEffect transition="in" filter="circle(in)">
                                      <p:cBhvr>
                                        <p:cTn id="15" dur="2000"/>
                                        <p:tgtEl>
                                          <p:spTgt spid="460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信息系统安全相关法律法规</a:t>
            </a:r>
            <a:endParaRPr lang="zh-CN" altLang="en-US" sz="3200" b="1" dirty="0">
              <a:latin typeface="华文楷体" panose="02010600040101010101" pitchFamily="2" charset="-122"/>
              <a:ea typeface="华文楷体" panose="02010600040101010101" pitchFamily="2" charset="-122"/>
            </a:endParaRPr>
          </a:p>
        </p:txBody>
      </p:sp>
      <p:sp>
        <p:nvSpPr>
          <p:cNvPr id="47107" name="内容占位符 2"/>
          <p:cNvSpPr>
            <a:spLocks noGrp="1" noChangeArrowheads="1"/>
          </p:cNvSpPr>
          <p:nvPr>
            <p:ph idx="1"/>
          </p:nvPr>
        </p:nvSpPr>
        <p:spPr>
          <a:xfrm>
            <a:off x="304800" y="1600200"/>
            <a:ext cx="8382000" cy="51816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zh-CN" sz="32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德国信息安全法律法规</a:t>
            </a:r>
            <a:endParaRPr kumimoji="0" lang="en-US" altLang="zh-CN" sz="32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1997</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年</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8</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月</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1</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日，德国《多媒体法》正式颁布实施。</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该</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法案适用于一切私人利用信号、图像、声音等数据</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而提供的通过电信传输的电子信息和通讯服务（电信服务）</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而</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本法不适用于：</a:t>
            </a:r>
            <a:endPar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620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1</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）电信服务部门和根据</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1996</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年</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7</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月</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25</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日施行的电信法第</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3</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条由电信部门提供的业务。</a:t>
            </a:r>
            <a:endPar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620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2</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）按照国家广播协定第</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2</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条规定的无线电广播（不涉及新闻发的有关规定）。</a:t>
            </a:r>
            <a:endPar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en-US" altLang="zh-CN"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animEffect transition="in" filter="wipe(down)">
                                      <p:cBhvr>
                                        <p:cTn id="7" dur="500"/>
                                        <p:tgtEl>
                                          <p:spTgt spid="47107">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7107">
                                            <p:txEl>
                                              <p:pRg st="2" end="2"/>
                                            </p:txEl>
                                          </p:spTgt>
                                        </p:tgtEl>
                                        <p:attrNameLst>
                                          <p:attrName>style.visibility</p:attrName>
                                        </p:attrNameLst>
                                      </p:cBhvr>
                                      <p:to>
                                        <p:strVal val="visible"/>
                                      </p:to>
                                    </p:set>
                                    <p:animEffect transition="in" filter="wipe(down)">
                                      <p:cBhvr>
                                        <p:cTn id="10" dur="500"/>
                                        <p:tgtEl>
                                          <p:spTgt spid="4710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47107">
                                            <p:txEl>
                                              <p:pRg st="3" end="3"/>
                                            </p:txEl>
                                          </p:spTgt>
                                        </p:tgtEl>
                                        <p:attrNameLst>
                                          <p:attrName>style.visibility</p:attrName>
                                        </p:attrNameLst>
                                      </p:cBhvr>
                                      <p:to>
                                        <p:strVal val="visible"/>
                                      </p:to>
                                    </p:set>
                                    <p:animEffect transition="in" filter="circle(in)">
                                      <p:cBhvr>
                                        <p:cTn id="15" dur="2000"/>
                                        <p:tgtEl>
                                          <p:spTgt spid="47107">
                                            <p:txEl>
                                              <p:pRg st="3" end="3"/>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47107">
                                            <p:txEl>
                                              <p:pRg st="4" end="4"/>
                                            </p:txEl>
                                          </p:spTgt>
                                        </p:tgtEl>
                                        <p:attrNameLst>
                                          <p:attrName>style.visibility</p:attrName>
                                        </p:attrNameLst>
                                      </p:cBhvr>
                                      <p:to>
                                        <p:strVal val="visible"/>
                                      </p:to>
                                    </p:set>
                                    <p:animEffect transition="in" filter="circle(in)">
                                      <p:cBhvr>
                                        <p:cTn id="18" dur="2000"/>
                                        <p:tgtEl>
                                          <p:spTgt spid="47107">
                                            <p:txEl>
                                              <p:pRg st="4" end="4"/>
                                            </p:txEl>
                                          </p:spTgt>
                                        </p:tgtEl>
                                      </p:cBhvr>
                                    </p:animEffect>
                                  </p:childTnLst>
                                </p:cTn>
                              </p:par>
                              <p:par>
                                <p:cTn id="19" presetID="6" presetClass="entr" presetSubtype="16" fill="hold" nodeType="withEffect">
                                  <p:stCondLst>
                                    <p:cond delay="0"/>
                                  </p:stCondLst>
                                  <p:childTnLst>
                                    <p:set>
                                      <p:cBhvr>
                                        <p:cTn id="20" dur="1" fill="hold">
                                          <p:stCondLst>
                                            <p:cond delay="0"/>
                                          </p:stCondLst>
                                        </p:cTn>
                                        <p:tgtEl>
                                          <p:spTgt spid="47107">
                                            <p:txEl>
                                              <p:pRg st="5" end="5"/>
                                            </p:txEl>
                                          </p:spTgt>
                                        </p:tgtEl>
                                        <p:attrNameLst>
                                          <p:attrName>style.visibility</p:attrName>
                                        </p:attrNameLst>
                                      </p:cBhvr>
                                      <p:to>
                                        <p:strVal val="visible"/>
                                      </p:to>
                                    </p:set>
                                    <p:animEffect transition="in" filter="circle(in)">
                                      <p:cBhvr>
                                        <p:cTn id="21" dur="2000"/>
                                        <p:tgtEl>
                                          <p:spTgt spid="471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信息系统安全相关法律法规</a:t>
            </a:r>
            <a:endParaRPr lang="zh-CN" altLang="en-US" sz="3200" b="1" dirty="0">
              <a:latin typeface="华文楷体" panose="02010600040101010101" pitchFamily="2" charset="-122"/>
              <a:ea typeface="华文楷体" panose="02010600040101010101" pitchFamily="2" charset="-122"/>
            </a:endParaRPr>
          </a:p>
        </p:txBody>
      </p:sp>
      <p:sp>
        <p:nvSpPr>
          <p:cNvPr id="17410" name="内容占位符 2"/>
          <p:cNvSpPr>
            <a:spLocks noGrp="1"/>
          </p:cNvSpPr>
          <p:nvPr>
            <p:ph idx="1"/>
          </p:nvPr>
        </p:nvSpPr>
        <p:spPr>
          <a:xfrm>
            <a:off x="304800" y="990600"/>
            <a:ext cx="8382000" cy="5715000"/>
          </a:xfrm>
        </p:spPr>
        <p:txBody>
          <a:bodyPr vert="horz" wrap="square" lIns="91440" tIns="45720" rIns="91440" bIns="45720" anchor="t" anchorCtr="0"/>
          <a:lstStyle/>
          <a:p>
            <a:pPr lvl="1" eaLnBrk="1" hangingPunct="1"/>
            <a:r>
              <a:rPr lang="zh-CN" altLang="zh-CN" dirty="0">
                <a:latin typeface="华文楷体" panose="02010600040101010101" pitchFamily="2" charset="-122"/>
                <a:ea typeface="华文楷体" panose="02010600040101010101" pitchFamily="2" charset="-122"/>
              </a:rPr>
              <a:t>日本信息安全法律法规</a:t>
            </a:r>
            <a:endParaRPr lang="en-US" altLang="zh-CN" dirty="0">
              <a:latin typeface="华文楷体" panose="02010600040101010101" pitchFamily="2" charset="-122"/>
              <a:ea typeface="华文楷体" panose="02010600040101010101" pitchFamily="2" charset="-122"/>
            </a:endParaRPr>
          </a:p>
          <a:p>
            <a:pPr lvl="1" eaLnBrk="1" hangingPunct="1">
              <a:buNone/>
            </a:pPr>
            <a:endParaRPr lang="en-US" altLang="zh-CN" dirty="0">
              <a:ea typeface="宋体" panose="02010600030101010101" pitchFamily="2" charset="-122"/>
            </a:endParaRPr>
          </a:p>
          <a:p>
            <a:pPr lvl="1" eaLnBrk="1" hangingPunct="1">
              <a:buNone/>
            </a:pPr>
            <a:endParaRPr lang="en-US" altLang="zh-CN" dirty="0">
              <a:ea typeface="宋体" panose="02010600030101010101" pitchFamily="2" charset="-122"/>
            </a:endParaRPr>
          </a:p>
          <a:p>
            <a:pPr lvl="1" eaLnBrk="1" hangingPunct="1"/>
            <a:endParaRPr lang="en-US" altLang="zh-CN" dirty="0">
              <a:ea typeface="宋体" panose="02010600030101010101" pitchFamily="2" charset="-122"/>
            </a:endParaRPr>
          </a:p>
          <a:p>
            <a:pPr lvl="1" eaLnBrk="1" hangingPunct="1"/>
            <a:endParaRPr lang="en-US" altLang="zh-CN" dirty="0">
              <a:ea typeface="宋体" panose="02010600030101010101" pitchFamily="2" charset="-122"/>
            </a:endParaRPr>
          </a:p>
          <a:p>
            <a:pPr lvl="1" eaLnBrk="1" hangingPunct="1"/>
            <a:endParaRPr lang="en-US" altLang="zh-CN" dirty="0">
              <a:ea typeface="宋体" panose="02010600030101010101" pitchFamily="2" charset="-122"/>
            </a:endParaRPr>
          </a:p>
          <a:p>
            <a:pPr>
              <a:buNone/>
            </a:pPr>
            <a:endParaRPr lang="en-US" altLang="zh-CN" dirty="0">
              <a:ea typeface="宋体" panose="02010600030101010101" pitchFamily="2" charset="-122"/>
            </a:endParaRPr>
          </a:p>
          <a:p>
            <a:pPr lvl="1" eaLnBrk="1" hangingPunct="1">
              <a:buNone/>
            </a:pPr>
            <a:endParaRPr lang="en-US" altLang="zh-CN" b="1" dirty="0">
              <a:solidFill>
                <a:srgbClr val="000000"/>
              </a:solidFill>
              <a:latin typeface="楷体_GB2312" pitchFamily="49" charset="-122"/>
              <a:ea typeface="楷体_GB2312" pitchFamily="49" charset="-122"/>
            </a:endParaRPr>
          </a:p>
          <a:p>
            <a:pPr lvl="1" eaLnBrk="1" hangingPunct="1">
              <a:buNone/>
            </a:pPr>
            <a:endParaRPr lang="zh-CN" altLang="zh-CN" dirty="0">
              <a:ea typeface="宋体" panose="02010600030101010101" pitchFamily="2" charset="-122"/>
            </a:endParaRPr>
          </a:p>
          <a:p>
            <a:pPr lvl="1" eaLnBrk="1" hangingPunct="1">
              <a:buNone/>
            </a:pPr>
            <a:endParaRPr lang="en-US" altLang="zh-CN" dirty="0">
              <a:ea typeface="宋体" panose="02010600030101010101" pitchFamily="2" charset="-122"/>
            </a:endParaRPr>
          </a:p>
          <a:p>
            <a:pPr eaLnBrk="1" hangingPunct="1">
              <a:buNone/>
            </a:pPr>
            <a:endParaRPr lang="zh-CN" altLang="en-US" dirty="0">
              <a:ea typeface="楷体_GB2312" pitchFamily="49" charset="-122"/>
            </a:endParaRPr>
          </a:p>
        </p:txBody>
      </p:sp>
      <p:graphicFrame>
        <p:nvGraphicFramePr>
          <p:cNvPr id="2" name="表格 1"/>
          <p:cNvGraphicFramePr>
            <a:graphicFrameLocks noGrp="1"/>
          </p:cNvGraphicFramePr>
          <p:nvPr/>
        </p:nvGraphicFramePr>
        <p:xfrm>
          <a:off x="685800" y="1600200"/>
          <a:ext cx="7315200" cy="4683124"/>
        </p:xfrm>
        <a:graphic>
          <a:graphicData uri="http://schemas.openxmlformats.org/drawingml/2006/table">
            <a:tbl>
              <a:tblPr firstRow="1" firstCol="1" bandRow="1">
                <a:tableStyleId>{5C22544A-7EE6-4342-B048-85BDC9FD1C3A}</a:tableStyleId>
              </a:tblPr>
              <a:tblGrid>
                <a:gridCol w="684541"/>
                <a:gridCol w="2019064"/>
                <a:gridCol w="3021191"/>
                <a:gridCol w="1590404"/>
              </a:tblGrid>
              <a:tr h="403398">
                <a:tc>
                  <a:txBody>
                    <a:bodyPr/>
                    <a:lstStyle/>
                    <a:p>
                      <a:pPr indent="127000" algn="just">
                        <a:spcAft>
                          <a:spcPts val="0"/>
                        </a:spcAft>
                      </a:pPr>
                      <a:r>
                        <a:rPr lang="zh-CN" sz="1100" kern="100" dirty="0">
                          <a:effectLst/>
                        </a:rPr>
                        <a:t>序号</a:t>
                      </a:r>
                      <a:endParaRPr lang="zh-CN" sz="1100" kern="100" dirty="0">
                        <a:effectLst/>
                        <a:latin typeface="Times New Roman" panose="02020603050405020304" pitchFamily="18" charset="0"/>
                        <a:ea typeface="宋体" panose="02010600030101010101" pitchFamily="2" charset="-122"/>
                      </a:endParaRPr>
                    </a:p>
                  </a:txBody>
                  <a:tcPr marL="68582" marR="68582" marT="0" marB="0" anchor="ctr"/>
                </a:tc>
                <a:tc>
                  <a:txBody>
                    <a:bodyPr/>
                    <a:lstStyle/>
                    <a:p>
                      <a:pPr indent="267970" algn="just">
                        <a:spcAft>
                          <a:spcPts val="0"/>
                        </a:spcAft>
                      </a:pPr>
                      <a:r>
                        <a:rPr lang="zh-CN" sz="1100" kern="100">
                          <a:effectLst/>
                        </a:rPr>
                        <a:t>法律名称</a:t>
                      </a:r>
                      <a:endParaRPr lang="zh-CN" sz="1100" kern="100">
                        <a:effectLst/>
                        <a:latin typeface="Times New Roman" panose="02020603050405020304" pitchFamily="18" charset="0"/>
                        <a:ea typeface="宋体" panose="02010600030101010101" pitchFamily="2" charset="-122"/>
                      </a:endParaRPr>
                    </a:p>
                  </a:txBody>
                  <a:tcPr marL="68582" marR="68582" marT="0" marB="0" anchor="ctr"/>
                </a:tc>
                <a:tc>
                  <a:txBody>
                    <a:bodyPr/>
                    <a:lstStyle/>
                    <a:p>
                      <a:pPr indent="267970" algn="just">
                        <a:spcAft>
                          <a:spcPts val="0"/>
                        </a:spcAft>
                      </a:pPr>
                      <a:r>
                        <a:rPr lang="zh-CN" sz="1100" kern="100" dirty="0">
                          <a:effectLst/>
                        </a:rPr>
                        <a:t>说明</a:t>
                      </a:r>
                      <a:endParaRPr lang="zh-CN" sz="1100" kern="100" dirty="0">
                        <a:effectLst/>
                        <a:latin typeface="Times New Roman" panose="02020603050405020304" pitchFamily="18" charset="0"/>
                        <a:ea typeface="宋体" panose="02010600030101010101" pitchFamily="2" charset="-122"/>
                      </a:endParaRPr>
                    </a:p>
                  </a:txBody>
                  <a:tcPr marL="68582" marR="68582" marT="0" marB="0" anchor="ctr"/>
                </a:tc>
                <a:tc>
                  <a:txBody>
                    <a:bodyPr/>
                    <a:lstStyle/>
                    <a:p>
                      <a:pPr indent="267970" algn="just">
                        <a:spcAft>
                          <a:spcPts val="0"/>
                        </a:spcAft>
                      </a:pPr>
                      <a:r>
                        <a:rPr lang="zh-CN" sz="1100" kern="100">
                          <a:effectLst/>
                        </a:rPr>
                        <a:t>管制机构</a:t>
                      </a:r>
                      <a:endParaRPr lang="zh-CN" sz="1100" kern="100">
                        <a:effectLst/>
                        <a:latin typeface="Times New Roman" panose="02020603050405020304" pitchFamily="18" charset="0"/>
                        <a:ea typeface="宋体" panose="02010600030101010101" pitchFamily="2" charset="-122"/>
                      </a:endParaRPr>
                    </a:p>
                  </a:txBody>
                  <a:tcPr marL="68582" marR="68582" marT="0" marB="0" anchor="ctr"/>
                </a:tc>
              </a:tr>
              <a:tr h="403398">
                <a:tc>
                  <a:txBody>
                    <a:bodyPr/>
                    <a:lstStyle/>
                    <a:p>
                      <a:pPr indent="266700" algn="just">
                        <a:spcAft>
                          <a:spcPts val="0"/>
                        </a:spcAft>
                      </a:pPr>
                      <a:r>
                        <a:rPr lang="en-US" sz="1100" kern="100">
                          <a:effectLst/>
                        </a:rPr>
                        <a:t>1</a:t>
                      </a:r>
                      <a:endParaRPr lang="zh-CN" sz="1100" kern="100">
                        <a:effectLst/>
                        <a:latin typeface="Times New Roman" panose="02020603050405020304" pitchFamily="18" charset="0"/>
                        <a:ea typeface="宋体" panose="02010600030101010101" pitchFamily="2" charset="-122"/>
                      </a:endParaRPr>
                    </a:p>
                  </a:txBody>
                  <a:tcPr marL="68582" marR="68582" marT="0" marB="0" anchor="ctr"/>
                </a:tc>
                <a:tc>
                  <a:txBody>
                    <a:bodyPr/>
                    <a:lstStyle/>
                    <a:p>
                      <a:pPr marL="0" indent="0" algn="just">
                        <a:spcAft>
                          <a:spcPts val="0"/>
                        </a:spcAft>
                      </a:pPr>
                      <a:r>
                        <a:rPr lang="zh-CN" sz="1100" kern="100" dirty="0">
                          <a:effectLst/>
                        </a:rPr>
                        <a:t>《刑法》</a:t>
                      </a:r>
                      <a:endParaRPr lang="zh-CN" sz="1100" kern="100" dirty="0">
                        <a:effectLst/>
                        <a:latin typeface="Times New Roman" panose="02020603050405020304" pitchFamily="18" charset="0"/>
                        <a:ea typeface="宋体" panose="02010600030101010101" pitchFamily="2" charset="-122"/>
                      </a:endParaRPr>
                    </a:p>
                  </a:txBody>
                  <a:tcPr marL="68582" marR="68582" marT="0" marB="0" anchor="ctr"/>
                </a:tc>
                <a:tc>
                  <a:txBody>
                    <a:bodyPr/>
                    <a:lstStyle/>
                    <a:p>
                      <a:pPr marL="0" indent="0" algn="l">
                        <a:spcAft>
                          <a:spcPts val="0"/>
                        </a:spcAft>
                      </a:pPr>
                      <a:r>
                        <a:rPr lang="en-US" sz="1100" kern="100" dirty="0">
                          <a:effectLst/>
                        </a:rPr>
                        <a:t>1987</a:t>
                      </a:r>
                      <a:r>
                        <a:rPr lang="zh-CN" sz="1100" kern="100" dirty="0">
                          <a:effectLst/>
                        </a:rPr>
                        <a:t>年增加互联网相关内容</a:t>
                      </a:r>
                      <a:endParaRPr lang="zh-CN" sz="1100" kern="100" dirty="0">
                        <a:effectLst/>
                        <a:latin typeface="Times New Roman" panose="02020603050405020304" pitchFamily="18" charset="0"/>
                        <a:ea typeface="宋体" panose="02010600030101010101" pitchFamily="2" charset="-122"/>
                      </a:endParaRPr>
                    </a:p>
                  </a:txBody>
                  <a:tcPr marL="68582" marR="68582" marT="0" marB="0" anchor="ctr"/>
                </a:tc>
                <a:tc>
                  <a:txBody>
                    <a:bodyPr/>
                    <a:lstStyle/>
                    <a:p>
                      <a:pPr marL="0" indent="0" algn="just">
                        <a:spcAft>
                          <a:spcPts val="0"/>
                        </a:spcAft>
                      </a:pPr>
                      <a:r>
                        <a:rPr lang="zh-CN" sz="1100" kern="100" dirty="0">
                          <a:solidFill>
                            <a:schemeClr val="dk1"/>
                          </a:solidFill>
                          <a:effectLst/>
                          <a:latin typeface="+mn-lt"/>
                          <a:ea typeface="+mn-ea"/>
                          <a:cs typeface="+mn-cs"/>
                        </a:rPr>
                        <a:t>法务省、警察厅</a:t>
                      </a:r>
                      <a:endParaRPr lang="zh-CN" sz="1100" kern="100" dirty="0">
                        <a:solidFill>
                          <a:schemeClr val="dk1"/>
                        </a:solidFill>
                        <a:effectLst/>
                        <a:latin typeface="+mn-lt"/>
                        <a:ea typeface="+mn-ea"/>
                        <a:cs typeface="+mn-cs"/>
                      </a:endParaRPr>
                    </a:p>
                  </a:txBody>
                  <a:tcPr marL="68582" marR="68582" marT="0" marB="0" anchor="ctr"/>
                </a:tc>
              </a:tr>
              <a:tr h="408904">
                <a:tc>
                  <a:txBody>
                    <a:bodyPr/>
                    <a:lstStyle/>
                    <a:p>
                      <a:pPr indent="266700" algn="just">
                        <a:spcAft>
                          <a:spcPts val="0"/>
                        </a:spcAft>
                      </a:pPr>
                      <a:r>
                        <a:rPr lang="en-US" sz="1100" kern="100">
                          <a:effectLst/>
                        </a:rPr>
                        <a:t>2</a:t>
                      </a:r>
                      <a:endParaRPr lang="zh-CN" sz="1100" kern="100">
                        <a:effectLst/>
                        <a:latin typeface="Times New Roman" panose="02020603050405020304" pitchFamily="18" charset="0"/>
                        <a:ea typeface="宋体" panose="02010600030101010101" pitchFamily="2" charset="-122"/>
                      </a:endParaRPr>
                    </a:p>
                  </a:txBody>
                  <a:tcPr marL="68582" marR="68582" marT="0" marB="0" anchor="ctr"/>
                </a:tc>
                <a:tc>
                  <a:txBody>
                    <a:bodyPr/>
                    <a:lstStyle/>
                    <a:p>
                      <a:pPr marL="0" indent="0" algn="just" defTabSz="914400" rtl="0" eaLnBrk="1" latinLnBrk="0" hangingPunct="1">
                        <a:spcAft>
                          <a:spcPts val="0"/>
                        </a:spcAft>
                      </a:pPr>
                      <a:r>
                        <a:rPr lang="zh-CN" sz="1100" kern="100">
                          <a:solidFill>
                            <a:schemeClr val="dk1"/>
                          </a:solidFill>
                          <a:effectLst/>
                          <a:latin typeface="+mn-lt"/>
                          <a:ea typeface="+mn-ea"/>
                          <a:cs typeface="+mn-cs"/>
                        </a:rPr>
                        <a:t>《禁止非法链接法》</a:t>
                      </a:r>
                      <a:endParaRPr lang="zh-CN" sz="1100" kern="100">
                        <a:solidFill>
                          <a:schemeClr val="dk1"/>
                        </a:solidFill>
                        <a:effectLst/>
                        <a:latin typeface="+mn-lt"/>
                        <a:ea typeface="+mn-ea"/>
                        <a:cs typeface="+mn-cs"/>
                      </a:endParaRPr>
                    </a:p>
                  </a:txBody>
                  <a:tcPr marL="68582" marR="68582" marT="0" marB="0" anchor="ctr"/>
                </a:tc>
                <a:tc>
                  <a:txBody>
                    <a:bodyPr/>
                    <a:lstStyle/>
                    <a:p>
                      <a:pPr marL="0" indent="0" algn="l" defTabSz="914400" rtl="0" eaLnBrk="1" latinLnBrk="0" hangingPunct="1">
                        <a:spcAft>
                          <a:spcPts val="0"/>
                        </a:spcAft>
                      </a:pPr>
                      <a:r>
                        <a:rPr lang="en-US" sz="1100" kern="100" dirty="0">
                          <a:solidFill>
                            <a:schemeClr val="dk1"/>
                          </a:solidFill>
                          <a:effectLst/>
                          <a:latin typeface="+mn-lt"/>
                          <a:ea typeface="+mn-ea"/>
                          <a:cs typeface="+mn-cs"/>
                        </a:rPr>
                        <a:t>1999</a:t>
                      </a:r>
                      <a:r>
                        <a:rPr lang="zh-CN" sz="1100" kern="100" dirty="0">
                          <a:solidFill>
                            <a:schemeClr val="dk1"/>
                          </a:solidFill>
                          <a:effectLst/>
                          <a:latin typeface="+mn-lt"/>
                          <a:ea typeface="+mn-ea"/>
                          <a:cs typeface="+mn-cs"/>
                        </a:rPr>
                        <a:t>年法律第</a:t>
                      </a:r>
                      <a:r>
                        <a:rPr lang="en-US" sz="1100" kern="100" dirty="0">
                          <a:solidFill>
                            <a:schemeClr val="dk1"/>
                          </a:solidFill>
                          <a:effectLst/>
                          <a:latin typeface="+mn-lt"/>
                          <a:ea typeface="+mn-ea"/>
                          <a:cs typeface="+mn-cs"/>
                        </a:rPr>
                        <a:t>128</a:t>
                      </a:r>
                      <a:r>
                        <a:rPr lang="zh-CN" sz="1100" kern="100" dirty="0">
                          <a:solidFill>
                            <a:schemeClr val="dk1"/>
                          </a:solidFill>
                          <a:effectLst/>
                          <a:latin typeface="+mn-lt"/>
                          <a:ea typeface="+mn-ea"/>
                          <a:cs typeface="+mn-cs"/>
                        </a:rPr>
                        <a:t>号，针对盗用他人密码等非法链接行为</a:t>
                      </a:r>
                      <a:endParaRPr lang="zh-CN" sz="1100" kern="100" dirty="0">
                        <a:solidFill>
                          <a:schemeClr val="dk1"/>
                        </a:solidFill>
                        <a:effectLst/>
                        <a:latin typeface="+mn-lt"/>
                        <a:ea typeface="+mn-ea"/>
                        <a:cs typeface="+mn-cs"/>
                      </a:endParaRPr>
                    </a:p>
                  </a:txBody>
                  <a:tcPr marL="68582" marR="68582" marT="0" marB="0" anchor="ctr"/>
                </a:tc>
                <a:tc>
                  <a:txBody>
                    <a:bodyPr/>
                    <a:lstStyle/>
                    <a:p>
                      <a:pPr marL="0" indent="0" algn="just" defTabSz="914400" rtl="0" eaLnBrk="1" latinLnBrk="0" hangingPunct="1">
                        <a:spcAft>
                          <a:spcPts val="0"/>
                        </a:spcAft>
                      </a:pPr>
                      <a:r>
                        <a:rPr lang="zh-CN" sz="1100" kern="100" dirty="0">
                          <a:solidFill>
                            <a:schemeClr val="dk1"/>
                          </a:solidFill>
                          <a:effectLst/>
                          <a:latin typeface="+mn-lt"/>
                          <a:ea typeface="+mn-ea"/>
                          <a:cs typeface="+mn-cs"/>
                        </a:rPr>
                        <a:t>总务省、经济产业省、警察厅</a:t>
                      </a:r>
                      <a:endParaRPr lang="zh-CN" sz="1100" kern="100" dirty="0">
                        <a:solidFill>
                          <a:schemeClr val="dk1"/>
                        </a:solidFill>
                        <a:effectLst/>
                        <a:latin typeface="+mn-lt"/>
                        <a:ea typeface="+mn-ea"/>
                        <a:cs typeface="+mn-cs"/>
                      </a:endParaRPr>
                    </a:p>
                  </a:txBody>
                  <a:tcPr marL="68582" marR="68582" marT="0" marB="0" anchor="ctr"/>
                </a:tc>
              </a:tr>
              <a:tr h="408904">
                <a:tc>
                  <a:txBody>
                    <a:bodyPr/>
                    <a:lstStyle/>
                    <a:p>
                      <a:pPr indent="266700" algn="just">
                        <a:spcAft>
                          <a:spcPts val="0"/>
                        </a:spcAft>
                      </a:pPr>
                      <a:r>
                        <a:rPr lang="en-US" sz="1100" kern="100">
                          <a:effectLst/>
                        </a:rPr>
                        <a:t>3</a:t>
                      </a:r>
                      <a:endParaRPr lang="zh-CN" sz="1100" kern="100">
                        <a:effectLst/>
                        <a:latin typeface="Times New Roman" panose="02020603050405020304" pitchFamily="18" charset="0"/>
                        <a:ea typeface="宋体" panose="02010600030101010101" pitchFamily="2" charset="-122"/>
                      </a:endParaRPr>
                    </a:p>
                  </a:txBody>
                  <a:tcPr marL="68582" marR="68582" marT="0" marB="0" anchor="ctr"/>
                </a:tc>
                <a:tc>
                  <a:txBody>
                    <a:bodyPr/>
                    <a:lstStyle/>
                    <a:p>
                      <a:pPr marL="0" indent="0" algn="just" defTabSz="914400" rtl="0" eaLnBrk="1" latinLnBrk="0" hangingPunct="1">
                        <a:spcAft>
                          <a:spcPts val="0"/>
                        </a:spcAft>
                      </a:pPr>
                      <a:r>
                        <a:rPr lang="zh-CN" sz="1100" kern="100">
                          <a:solidFill>
                            <a:schemeClr val="dk1"/>
                          </a:solidFill>
                          <a:effectLst/>
                          <a:latin typeface="+mn-lt"/>
                          <a:ea typeface="+mn-ea"/>
                          <a:cs typeface="+mn-cs"/>
                        </a:rPr>
                        <a:t>《电子签名法》</a:t>
                      </a:r>
                      <a:endParaRPr lang="zh-CN" sz="1100" kern="100">
                        <a:solidFill>
                          <a:schemeClr val="dk1"/>
                        </a:solidFill>
                        <a:effectLst/>
                        <a:latin typeface="+mn-lt"/>
                        <a:ea typeface="+mn-ea"/>
                        <a:cs typeface="+mn-cs"/>
                      </a:endParaRPr>
                    </a:p>
                  </a:txBody>
                  <a:tcPr marL="68582" marR="68582" marT="0" marB="0" anchor="ctr"/>
                </a:tc>
                <a:tc>
                  <a:txBody>
                    <a:bodyPr/>
                    <a:lstStyle/>
                    <a:p>
                      <a:pPr marL="0" indent="0" algn="l" defTabSz="914400" rtl="0" eaLnBrk="1" latinLnBrk="0" hangingPunct="1">
                        <a:spcAft>
                          <a:spcPts val="0"/>
                        </a:spcAft>
                      </a:pPr>
                      <a:r>
                        <a:rPr lang="en-US" sz="1100" kern="100" dirty="0">
                          <a:solidFill>
                            <a:schemeClr val="dk1"/>
                          </a:solidFill>
                          <a:effectLst/>
                          <a:latin typeface="+mn-lt"/>
                          <a:ea typeface="+mn-ea"/>
                          <a:cs typeface="+mn-cs"/>
                        </a:rPr>
                        <a:t>2000</a:t>
                      </a:r>
                      <a:r>
                        <a:rPr lang="zh-CN" sz="1100" kern="100" dirty="0">
                          <a:solidFill>
                            <a:schemeClr val="dk1"/>
                          </a:solidFill>
                          <a:effectLst/>
                          <a:latin typeface="+mn-lt"/>
                          <a:ea typeface="+mn-ea"/>
                          <a:cs typeface="+mn-cs"/>
                        </a:rPr>
                        <a:t>年法律第</a:t>
                      </a:r>
                      <a:r>
                        <a:rPr lang="en-US" sz="1100" kern="100" dirty="0">
                          <a:solidFill>
                            <a:schemeClr val="dk1"/>
                          </a:solidFill>
                          <a:effectLst/>
                          <a:latin typeface="+mn-lt"/>
                          <a:ea typeface="+mn-ea"/>
                          <a:cs typeface="+mn-cs"/>
                        </a:rPr>
                        <a:t>102</a:t>
                      </a:r>
                      <a:r>
                        <a:rPr lang="zh-CN" sz="1100" kern="100" dirty="0">
                          <a:solidFill>
                            <a:schemeClr val="dk1"/>
                          </a:solidFill>
                          <a:effectLst/>
                          <a:latin typeface="+mn-lt"/>
                          <a:ea typeface="+mn-ea"/>
                          <a:cs typeface="+mn-cs"/>
                        </a:rPr>
                        <a:t>号，规范了新生的电子签名事务</a:t>
                      </a:r>
                      <a:endParaRPr lang="zh-CN" sz="1100" kern="100" dirty="0">
                        <a:solidFill>
                          <a:schemeClr val="dk1"/>
                        </a:solidFill>
                        <a:effectLst/>
                        <a:latin typeface="+mn-lt"/>
                        <a:ea typeface="+mn-ea"/>
                        <a:cs typeface="+mn-cs"/>
                      </a:endParaRPr>
                    </a:p>
                  </a:txBody>
                  <a:tcPr marL="68582" marR="68582" marT="0" marB="0" anchor="ctr"/>
                </a:tc>
                <a:tc>
                  <a:txBody>
                    <a:bodyPr/>
                    <a:lstStyle/>
                    <a:p>
                      <a:pPr marL="0" indent="0" algn="just" defTabSz="914400" rtl="0" eaLnBrk="1" latinLnBrk="0" hangingPunct="1">
                        <a:spcAft>
                          <a:spcPts val="0"/>
                        </a:spcAft>
                      </a:pPr>
                      <a:r>
                        <a:rPr lang="zh-CN" sz="1100" kern="100" dirty="0">
                          <a:solidFill>
                            <a:schemeClr val="dk1"/>
                          </a:solidFill>
                          <a:effectLst/>
                          <a:latin typeface="+mn-lt"/>
                          <a:ea typeface="+mn-ea"/>
                          <a:cs typeface="+mn-cs"/>
                        </a:rPr>
                        <a:t>总务省、法务省、经济产业省</a:t>
                      </a:r>
                      <a:endParaRPr lang="zh-CN" sz="1100" kern="100" dirty="0">
                        <a:solidFill>
                          <a:schemeClr val="dk1"/>
                        </a:solidFill>
                        <a:effectLst/>
                        <a:latin typeface="+mn-lt"/>
                        <a:ea typeface="+mn-ea"/>
                        <a:cs typeface="+mn-cs"/>
                      </a:endParaRPr>
                    </a:p>
                  </a:txBody>
                  <a:tcPr marL="68582" marR="68582" marT="0" marB="0" anchor="ctr"/>
                </a:tc>
              </a:tr>
              <a:tr h="408904">
                <a:tc>
                  <a:txBody>
                    <a:bodyPr/>
                    <a:lstStyle/>
                    <a:p>
                      <a:pPr indent="266700" algn="just">
                        <a:spcAft>
                          <a:spcPts val="0"/>
                        </a:spcAft>
                      </a:pPr>
                      <a:r>
                        <a:rPr lang="en-US" sz="1100" kern="100">
                          <a:effectLst/>
                        </a:rPr>
                        <a:t>4</a:t>
                      </a:r>
                      <a:endParaRPr lang="zh-CN" sz="1100" kern="100">
                        <a:effectLst/>
                        <a:latin typeface="Times New Roman" panose="02020603050405020304" pitchFamily="18" charset="0"/>
                        <a:ea typeface="宋体" panose="02010600030101010101" pitchFamily="2" charset="-122"/>
                      </a:endParaRPr>
                    </a:p>
                  </a:txBody>
                  <a:tcPr marL="68582" marR="68582" marT="0" marB="0" anchor="ctr"/>
                </a:tc>
                <a:tc>
                  <a:txBody>
                    <a:bodyPr/>
                    <a:lstStyle/>
                    <a:p>
                      <a:pPr marL="0" indent="0" algn="just" defTabSz="914400" rtl="0" eaLnBrk="1" latinLnBrk="0" hangingPunct="1">
                        <a:spcAft>
                          <a:spcPts val="0"/>
                        </a:spcAft>
                      </a:pPr>
                      <a:r>
                        <a:rPr lang="zh-CN" sz="1100" kern="100">
                          <a:solidFill>
                            <a:schemeClr val="dk1"/>
                          </a:solidFill>
                          <a:effectLst/>
                          <a:latin typeface="+mn-lt"/>
                          <a:ea typeface="+mn-ea"/>
                          <a:cs typeface="+mn-cs"/>
                        </a:rPr>
                        <a:t>《特定电子商务法》</a:t>
                      </a:r>
                      <a:endParaRPr lang="zh-CN" sz="1100" kern="100">
                        <a:solidFill>
                          <a:schemeClr val="dk1"/>
                        </a:solidFill>
                        <a:effectLst/>
                        <a:latin typeface="+mn-lt"/>
                        <a:ea typeface="+mn-ea"/>
                        <a:cs typeface="+mn-cs"/>
                      </a:endParaRPr>
                    </a:p>
                  </a:txBody>
                  <a:tcPr marL="68582" marR="68582" marT="0" marB="0" anchor="ctr"/>
                </a:tc>
                <a:tc>
                  <a:txBody>
                    <a:bodyPr/>
                    <a:lstStyle/>
                    <a:p>
                      <a:pPr marL="0" indent="0" algn="l" defTabSz="914400" rtl="0" eaLnBrk="1" latinLnBrk="0" hangingPunct="1">
                        <a:spcAft>
                          <a:spcPts val="0"/>
                        </a:spcAft>
                      </a:pPr>
                      <a:r>
                        <a:rPr lang="en-US" sz="1100" kern="100" dirty="0">
                          <a:solidFill>
                            <a:schemeClr val="dk1"/>
                          </a:solidFill>
                          <a:effectLst/>
                          <a:latin typeface="+mn-lt"/>
                          <a:ea typeface="+mn-ea"/>
                          <a:cs typeface="+mn-cs"/>
                        </a:rPr>
                        <a:t>2000</a:t>
                      </a:r>
                      <a:r>
                        <a:rPr lang="zh-CN" sz="1100" kern="100" dirty="0">
                          <a:solidFill>
                            <a:schemeClr val="dk1"/>
                          </a:solidFill>
                          <a:effectLst/>
                          <a:latin typeface="+mn-lt"/>
                          <a:ea typeface="+mn-ea"/>
                          <a:cs typeface="+mn-cs"/>
                        </a:rPr>
                        <a:t>年法律第</a:t>
                      </a:r>
                      <a:r>
                        <a:rPr lang="en-US" sz="1100" kern="100" dirty="0">
                          <a:solidFill>
                            <a:schemeClr val="dk1"/>
                          </a:solidFill>
                          <a:effectLst/>
                          <a:latin typeface="+mn-lt"/>
                          <a:ea typeface="+mn-ea"/>
                          <a:cs typeface="+mn-cs"/>
                        </a:rPr>
                        <a:t>126</a:t>
                      </a:r>
                      <a:r>
                        <a:rPr lang="zh-CN" sz="1100" kern="100" dirty="0">
                          <a:solidFill>
                            <a:schemeClr val="dk1"/>
                          </a:solidFill>
                          <a:effectLst/>
                          <a:latin typeface="+mn-lt"/>
                          <a:ea typeface="+mn-ea"/>
                          <a:cs typeface="+mn-cs"/>
                        </a:rPr>
                        <a:t>号，针对电子商务业务</a:t>
                      </a:r>
                      <a:endParaRPr lang="zh-CN" sz="1100" kern="100" dirty="0">
                        <a:solidFill>
                          <a:schemeClr val="dk1"/>
                        </a:solidFill>
                        <a:effectLst/>
                        <a:latin typeface="+mn-lt"/>
                        <a:ea typeface="+mn-ea"/>
                        <a:cs typeface="+mn-cs"/>
                      </a:endParaRPr>
                    </a:p>
                  </a:txBody>
                  <a:tcPr marL="68582" marR="68582" marT="0" marB="0" anchor="ctr"/>
                </a:tc>
                <a:tc>
                  <a:txBody>
                    <a:bodyPr/>
                    <a:lstStyle/>
                    <a:p>
                      <a:pPr marL="0" indent="0" algn="just" defTabSz="914400" rtl="0" eaLnBrk="1" latinLnBrk="0" hangingPunct="1">
                        <a:spcAft>
                          <a:spcPts val="0"/>
                        </a:spcAft>
                      </a:pPr>
                      <a:r>
                        <a:rPr lang="zh-CN" sz="1100" kern="100" dirty="0">
                          <a:solidFill>
                            <a:schemeClr val="dk1"/>
                          </a:solidFill>
                          <a:effectLst/>
                          <a:latin typeface="+mn-lt"/>
                          <a:ea typeface="+mn-ea"/>
                          <a:cs typeface="+mn-cs"/>
                        </a:rPr>
                        <a:t>经济产业省</a:t>
                      </a:r>
                      <a:endParaRPr lang="zh-CN" sz="1100" kern="100" dirty="0">
                        <a:solidFill>
                          <a:schemeClr val="dk1"/>
                        </a:solidFill>
                        <a:effectLst/>
                        <a:latin typeface="+mn-lt"/>
                        <a:ea typeface="+mn-ea"/>
                        <a:cs typeface="+mn-cs"/>
                      </a:endParaRPr>
                    </a:p>
                  </a:txBody>
                  <a:tcPr marL="68582" marR="68582" marT="0" marB="0" anchor="ctr"/>
                </a:tc>
              </a:tr>
              <a:tr h="605096">
                <a:tc>
                  <a:txBody>
                    <a:bodyPr/>
                    <a:lstStyle/>
                    <a:p>
                      <a:pPr indent="266700" algn="just">
                        <a:spcAft>
                          <a:spcPts val="0"/>
                        </a:spcAft>
                      </a:pPr>
                      <a:r>
                        <a:rPr lang="en-US" sz="1100" kern="100">
                          <a:effectLst/>
                        </a:rPr>
                        <a:t>5</a:t>
                      </a:r>
                      <a:endParaRPr lang="zh-CN" sz="1100" kern="100">
                        <a:effectLst/>
                        <a:latin typeface="Times New Roman" panose="02020603050405020304" pitchFamily="18" charset="0"/>
                        <a:ea typeface="宋体" panose="02010600030101010101" pitchFamily="2" charset="-122"/>
                      </a:endParaRPr>
                    </a:p>
                  </a:txBody>
                  <a:tcPr marL="68582" marR="68582" marT="0" marB="0" anchor="ctr"/>
                </a:tc>
                <a:tc>
                  <a:txBody>
                    <a:bodyPr/>
                    <a:lstStyle/>
                    <a:p>
                      <a:pPr marL="0" indent="0" algn="just" defTabSz="914400" rtl="0" eaLnBrk="1" latinLnBrk="0" hangingPunct="1">
                        <a:spcAft>
                          <a:spcPts val="0"/>
                        </a:spcAft>
                      </a:pPr>
                      <a:r>
                        <a:rPr lang="zh-CN" sz="1100" kern="100" dirty="0">
                          <a:solidFill>
                            <a:schemeClr val="dk1"/>
                          </a:solidFill>
                          <a:effectLst/>
                          <a:latin typeface="+mn-lt"/>
                          <a:ea typeface="+mn-ea"/>
                          <a:cs typeface="+mn-cs"/>
                        </a:rPr>
                        <a:t>《电子合同法》</a:t>
                      </a:r>
                      <a:endParaRPr lang="zh-CN" sz="1100" kern="100" dirty="0">
                        <a:solidFill>
                          <a:schemeClr val="dk1"/>
                        </a:solidFill>
                        <a:effectLst/>
                        <a:latin typeface="+mn-lt"/>
                        <a:ea typeface="+mn-ea"/>
                        <a:cs typeface="+mn-cs"/>
                      </a:endParaRPr>
                    </a:p>
                  </a:txBody>
                  <a:tcPr marL="68582" marR="68582" marT="0" marB="0" anchor="ctr"/>
                </a:tc>
                <a:tc>
                  <a:txBody>
                    <a:bodyPr/>
                    <a:lstStyle/>
                    <a:p>
                      <a:pPr marL="0" indent="0" algn="l" defTabSz="914400" rtl="0" eaLnBrk="1" latinLnBrk="0" hangingPunct="1">
                        <a:spcAft>
                          <a:spcPts val="0"/>
                        </a:spcAft>
                      </a:pPr>
                      <a:r>
                        <a:rPr lang="en-US" sz="1100" kern="100" dirty="0">
                          <a:solidFill>
                            <a:schemeClr val="dk1"/>
                          </a:solidFill>
                          <a:effectLst/>
                          <a:latin typeface="+mn-lt"/>
                          <a:ea typeface="+mn-ea"/>
                          <a:cs typeface="+mn-cs"/>
                        </a:rPr>
                        <a:t>2001</a:t>
                      </a:r>
                      <a:r>
                        <a:rPr lang="zh-CN" sz="1100" kern="100" dirty="0">
                          <a:solidFill>
                            <a:schemeClr val="dk1"/>
                          </a:solidFill>
                          <a:effectLst/>
                          <a:latin typeface="+mn-lt"/>
                          <a:ea typeface="+mn-ea"/>
                          <a:cs typeface="+mn-cs"/>
                        </a:rPr>
                        <a:t>年法律第</a:t>
                      </a:r>
                      <a:r>
                        <a:rPr lang="en-US" sz="1100" kern="100" dirty="0">
                          <a:solidFill>
                            <a:schemeClr val="dk1"/>
                          </a:solidFill>
                          <a:effectLst/>
                          <a:latin typeface="+mn-lt"/>
                          <a:ea typeface="+mn-ea"/>
                          <a:cs typeface="+mn-cs"/>
                        </a:rPr>
                        <a:t>95</a:t>
                      </a:r>
                      <a:r>
                        <a:rPr lang="zh-CN" sz="1100" kern="100" dirty="0">
                          <a:solidFill>
                            <a:schemeClr val="dk1"/>
                          </a:solidFill>
                          <a:effectLst/>
                          <a:latin typeface="+mn-lt"/>
                          <a:ea typeface="+mn-ea"/>
                          <a:cs typeface="+mn-cs"/>
                        </a:rPr>
                        <a:t>号，根据《民法》制定的消费者执行电子合同的法律规定</a:t>
                      </a:r>
                      <a:endParaRPr lang="zh-CN" sz="1100" kern="100" dirty="0">
                        <a:solidFill>
                          <a:schemeClr val="dk1"/>
                        </a:solidFill>
                        <a:effectLst/>
                        <a:latin typeface="+mn-lt"/>
                        <a:ea typeface="+mn-ea"/>
                        <a:cs typeface="+mn-cs"/>
                      </a:endParaRPr>
                    </a:p>
                  </a:txBody>
                  <a:tcPr marL="68582" marR="68582" marT="0" marB="0" anchor="ctr"/>
                </a:tc>
                <a:tc>
                  <a:txBody>
                    <a:bodyPr/>
                    <a:lstStyle/>
                    <a:p>
                      <a:pPr marL="0" indent="0" algn="just" defTabSz="914400" rtl="0" eaLnBrk="1" latinLnBrk="0" hangingPunct="1">
                        <a:spcAft>
                          <a:spcPts val="0"/>
                        </a:spcAft>
                      </a:pPr>
                      <a:r>
                        <a:rPr lang="zh-CN" sz="1100" kern="100" dirty="0">
                          <a:solidFill>
                            <a:schemeClr val="dk1"/>
                          </a:solidFill>
                          <a:effectLst/>
                          <a:latin typeface="+mn-lt"/>
                          <a:ea typeface="+mn-ea"/>
                          <a:cs typeface="+mn-cs"/>
                        </a:rPr>
                        <a:t>经济产业省</a:t>
                      </a:r>
                      <a:endParaRPr lang="zh-CN" sz="1100" kern="100" dirty="0">
                        <a:solidFill>
                          <a:schemeClr val="dk1"/>
                        </a:solidFill>
                        <a:effectLst/>
                        <a:latin typeface="+mn-lt"/>
                        <a:ea typeface="+mn-ea"/>
                        <a:cs typeface="+mn-cs"/>
                      </a:endParaRPr>
                    </a:p>
                  </a:txBody>
                  <a:tcPr marL="68582" marR="68582" marT="0" marB="0" anchor="ctr"/>
                </a:tc>
              </a:tr>
              <a:tr h="408904">
                <a:tc>
                  <a:txBody>
                    <a:bodyPr/>
                    <a:lstStyle/>
                    <a:p>
                      <a:pPr indent="266700" algn="just">
                        <a:spcAft>
                          <a:spcPts val="0"/>
                        </a:spcAft>
                      </a:pPr>
                      <a:r>
                        <a:rPr lang="en-US" sz="1100" kern="100">
                          <a:effectLst/>
                        </a:rPr>
                        <a:t>6</a:t>
                      </a:r>
                      <a:endParaRPr lang="zh-CN" sz="1100" kern="100">
                        <a:effectLst/>
                        <a:latin typeface="Times New Roman" panose="02020603050405020304" pitchFamily="18" charset="0"/>
                        <a:ea typeface="宋体" panose="02010600030101010101" pitchFamily="2" charset="-122"/>
                      </a:endParaRPr>
                    </a:p>
                  </a:txBody>
                  <a:tcPr marL="68582" marR="68582" marT="0" marB="0" anchor="ctr"/>
                </a:tc>
                <a:tc>
                  <a:txBody>
                    <a:bodyPr/>
                    <a:lstStyle/>
                    <a:p>
                      <a:pPr marL="0" indent="0" algn="just" defTabSz="914400" rtl="0" eaLnBrk="1" latinLnBrk="0" hangingPunct="1">
                        <a:spcAft>
                          <a:spcPts val="0"/>
                        </a:spcAft>
                      </a:pPr>
                      <a:r>
                        <a:rPr lang="zh-CN" sz="1100" kern="100">
                          <a:solidFill>
                            <a:schemeClr val="dk1"/>
                          </a:solidFill>
                          <a:effectLst/>
                          <a:latin typeface="+mn-lt"/>
                          <a:ea typeface="+mn-ea"/>
                          <a:cs typeface="+mn-cs"/>
                        </a:rPr>
                        <a:t>《网络服务商责任法》</a:t>
                      </a:r>
                      <a:endParaRPr lang="zh-CN" sz="1100" kern="100">
                        <a:solidFill>
                          <a:schemeClr val="dk1"/>
                        </a:solidFill>
                        <a:effectLst/>
                        <a:latin typeface="+mn-lt"/>
                        <a:ea typeface="+mn-ea"/>
                        <a:cs typeface="+mn-cs"/>
                      </a:endParaRPr>
                    </a:p>
                  </a:txBody>
                  <a:tcPr marL="68582" marR="68582" marT="0" marB="0" anchor="ctr"/>
                </a:tc>
                <a:tc>
                  <a:txBody>
                    <a:bodyPr/>
                    <a:lstStyle/>
                    <a:p>
                      <a:pPr marL="0" indent="0" algn="l" defTabSz="914400" rtl="0" eaLnBrk="1" latinLnBrk="0" hangingPunct="1">
                        <a:spcAft>
                          <a:spcPts val="0"/>
                        </a:spcAft>
                      </a:pPr>
                      <a:r>
                        <a:rPr lang="en-US" sz="1100" kern="100">
                          <a:solidFill>
                            <a:schemeClr val="dk1"/>
                          </a:solidFill>
                          <a:effectLst/>
                          <a:latin typeface="+mn-lt"/>
                          <a:ea typeface="+mn-ea"/>
                          <a:cs typeface="+mn-cs"/>
                        </a:rPr>
                        <a:t>2001</a:t>
                      </a:r>
                      <a:r>
                        <a:rPr lang="zh-CN" sz="1100" kern="100">
                          <a:solidFill>
                            <a:schemeClr val="dk1"/>
                          </a:solidFill>
                          <a:effectLst/>
                          <a:latin typeface="+mn-lt"/>
                          <a:ea typeface="+mn-ea"/>
                          <a:cs typeface="+mn-cs"/>
                        </a:rPr>
                        <a:t>年法律第</a:t>
                      </a:r>
                      <a:r>
                        <a:rPr lang="en-US" sz="1100" kern="100">
                          <a:solidFill>
                            <a:schemeClr val="dk1"/>
                          </a:solidFill>
                          <a:effectLst/>
                          <a:latin typeface="+mn-lt"/>
                          <a:ea typeface="+mn-ea"/>
                          <a:cs typeface="+mn-cs"/>
                        </a:rPr>
                        <a:t>137</a:t>
                      </a:r>
                      <a:r>
                        <a:rPr lang="zh-CN" sz="1100" kern="100">
                          <a:solidFill>
                            <a:schemeClr val="dk1"/>
                          </a:solidFill>
                          <a:effectLst/>
                          <a:latin typeface="+mn-lt"/>
                          <a:ea typeface="+mn-ea"/>
                          <a:cs typeface="+mn-cs"/>
                        </a:rPr>
                        <a:t>号，明确业务提供商责任</a:t>
                      </a:r>
                      <a:endParaRPr lang="zh-CN" sz="1100" kern="100">
                        <a:solidFill>
                          <a:schemeClr val="dk1"/>
                        </a:solidFill>
                        <a:effectLst/>
                        <a:latin typeface="+mn-lt"/>
                        <a:ea typeface="+mn-ea"/>
                        <a:cs typeface="+mn-cs"/>
                      </a:endParaRPr>
                    </a:p>
                  </a:txBody>
                  <a:tcPr marL="68582" marR="68582" marT="0" marB="0" anchor="ctr"/>
                </a:tc>
                <a:tc>
                  <a:txBody>
                    <a:bodyPr/>
                    <a:lstStyle/>
                    <a:p>
                      <a:pPr marL="0" indent="0" algn="just" defTabSz="914400" rtl="0" eaLnBrk="1" latinLnBrk="0" hangingPunct="1">
                        <a:spcAft>
                          <a:spcPts val="0"/>
                        </a:spcAft>
                      </a:pPr>
                      <a:r>
                        <a:rPr lang="zh-CN" sz="1100" kern="100" dirty="0">
                          <a:solidFill>
                            <a:schemeClr val="dk1"/>
                          </a:solidFill>
                          <a:effectLst/>
                          <a:latin typeface="+mn-lt"/>
                          <a:ea typeface="+mn-ea"/>
                          <a:cs typeface="+mn-cs"/>
                        </a:rPr>
                        <a:t>总务省</a:t>
                      </a:r>
                      <a:endParaRPr lang="zh-CN" sz="1100" kern="100" dirty="0">
                        <a:solidFill>
                          <a:schemeClr val="dk1"/>
                        </a:solidFill>
                        <a:effectLst/>
                        <a:latin typeface="+mn-lt"/>
                        <a:ea typeface="+mn-ea"/>
                        <a:cs typeface="+mn-cs"/>
                      </a:endParaRPr>
                    </a:p>
                  </a:txBody>
                  <a:tcPr marL="68582" marR="68582" marT="0" marB="0" anchor="ctr"/>
                </a:tc>
              </a:tr>
              <a:tr h="408904">
                <a:tc>
                  <a:txBody>
                    <a:bodyPr/>
                    <a:lstStyle/>
                    <a:p>
                      <a:pPr indent="266700" algn="just">
                        <a:spcAft>
                          <a:spcPts val="0"/>
                        </a:spcAft>
                      </a:pPr>
                      <a:r>
                        <a:rPr lang="en-US" sz="1100" kern="100">
                          <a:effectLst/>
                        </a:rPr>
                        <a:t>7</a:t>
                      </a:r>
                      <a:endParaRPr lang="zh-CN" sz="1100" kern="100">
                        <a:effectLst/>
                        <a:latin typeface="Times New Roman" panose="02020603050405020304" pitchFamily="18" charset="0"/>
                        <a:ea typeface="宋体" panose="02010600030101010101" pitchFamily="2" charset="-122"/>
                      </a:endParaRPr>
                    </a:p>
                  </a:txBody>
                  <a:tcPr marL="68582" marR="68582" marT="0" marB="0" anchor="ctr"/>
                </a:tc>
                <a:tc>
                  <a:txBody>
                    <a:bodyPr/>
                    <a:lstStyle/>
                    <a:p>
                      <a:pPr marL="0" indent="0" algn="just" defTabSz="914400" rtl="0" eaLnBrk="1" latinLnBrk="0" hangingPunct="1">
                        <a:spcAft>
                          <a:spcPts val="0"/>
                        </a:spcAft>
                      </a:pPr>
                      <a:r>
                        <a:rPr lang="zh-CN" sz="1100" kern="100">
                          <a:solidFill>
                            <a:schemeClr val="dk1"/>
                          </a:solidFill>
                          <a:effectLst/>
                          <a:latin typeface="+mn-lt"/>
                          <a:ea typeface="+mn-ea"/>
                          <a:cs typeface="+mn-cs"/>
                        </a:rPr>
                        <a:t>《反垃圾邮件法》</a:t>
                      </a:r>
                      <a:endParaRPr lang="zh-CN" sz="1100" kern="100">
                        <a:solidFill>
                          <a:schemeClr val="dk1"/>
                        </a:solidFill>
                        <a:effectLst/>
                        <a:latin typeface="+mn-lt"/>
                        <a:ea typeface="+mn-ea"/>
                        <a:cs typeface="+mn-cs"/>
                      </a:endParaRPr>
                    </a:p>
                  </a:txBody>
                  <a:tcPr marL="68582" marR="68582" marT="0" marB="0" anchor="ctr"/>
                </a:tc>
                <a:tc>
                  <a:txBody>
                    <a:bodyPr/>
                    <a:lstStyle/>
                    <a:p>
                      <a:pPr marL="0" indent="0" algn="l" defTabSz="914400" rtl="0" eaLnBrk="1" latinLnBrk="0" hangingPunct="1">
                        <a:spcAft>
                          <a:spcPts val="0"/>
                        </a:spcAft>
                      </a:pPr>
                      <a:r>
                        <a:rPr lang="en-US" sz="1100" kern="100">
                          <a:solidFill>
                            <a:schemeClr val="dk1"/>
                          </a:solidFill>
                          <a:effectLst/>
                          <a:latin typeface="+mn-lt"/>
                          <a:ea typeface="+mn-ea"/>
                          <a:cs typeface="+mn-cs"/>
                        </a:rPr>
                        <a:t>2002</a:t>
                      </a:r>
                      <a:r>
                        <a:rPr lang="zh-CN" sz="1100" kern="100">
                          <a:solidFill>
                            <a:schemeClr val="dk1"/>
                          </a:solidFill>
                          <a:effectLst/>
                          <a:latin typeface="+mn-lt"/>
                          <a:ea typeface="+mn-ea"/>
                          <a:cs typeface="+mn-cs"/>
                        </a:rPr>
                        <a:t>年法律第</a:t>
                      </a:r>
                      <a:r>
                        <a:rPr lang="en-US" sz="1100" kern="100">
                          <a:solidFill>
                            <a:schemeClr val="dk1"/>
                          </a:solidFill>
                          <a:effectLst/>
                          <a:latin typeface="+mn-lt"/>
                          <a:ea typeface="+mn-ea"/>
                          <a:cs typeface="+mn-cs"/>
                        </a:rPr>
                        <a:t>26</a:t>
                      </a:r>
                      <a:r>
                        <a:rPr lang="zh-CN" sz="1100" kern="100">
                          <a:solidFill>
                            <a:schemeClr val="dk1"/>
                          </a:solidFill>
                          <a:effectLst/>
                          <a:latin typeface="+mn-lt"/>
                          <a:ea typeface="+mn-ea"/>
                          <a:cs typeface="+mn-cs"/>
                        </a:rPr>
                        <a:t>号，针对垃圾邮件的规定</a:t>
                      </a:r>
                      <a:endParaRPr lang="zh-CN" sz="1100" kern="100">
                        <a:solidFill>
                          <a:schemeClr val="dk1"/>
                        </a:solidFill>
                        <a:effectLst/>
                        <a:latin typeface="+mn-lt"/>
                        <a:ea typeface="+mn-ea"/>
                        <a:cs typeface="+mn-cs"/>
                      </a:endParaRPr>
                    </a:p>
                  </a:txBody>
                  <a:tcPr marL="68582" marR="68582" marT="0" marB="0" anchor="ctr"/>
                </a:tc>
                <a:tc>
                  <a:txBody>
                    <a:bodyPr/>
                    <a:lstStyle/>
                    <a:p>
                      <a:pPr marL="0" indent="0" algn="just" defTabSz="914400" rtl="0" eaLnBrk="1" latinLnBrk="0" hangingPunct="1">
                        <a:spcAft>
                          <a:spcPts val="0"/>
                        </a:spcAft>
                      </a:pPr>
                      <a:r>
                        <a:rPr lang="zh-CN" sz="1100" kern="100" dirty="0">
                          <a:solidFill>
                            <a:schemeClr val="dk1"/>
                          </a:solidFill>
                          <a:effectLst/>
                          <a:latin typeface="+mn-lt"/>
                          <a:ea typeface="+mn-ea"/>
                          <a:cs typeface="+mn-cs"/>
                        </a:rPr>
                        <a:t>总务省</a:t>
                      </a:r>
                      <a:endParaRPr lang="zh-CN" sz="1100" kern="100" dirty="0">
                        <a:solidFill>
                          <a:schemeClr val="dk1"/>
                        </a:solidFill>
                        <a:effectLst/>
                        <a:latin typeface="+mn-lt"/>
                        <a:ea typeface="+mn-ea"/>
                        <a:cs typeface="+mn-cs"/>
                      </a:endParaRPr>
                    </a:p>
                  </a:txBody>
                  <a:tcPr marL="68582" marR="68582" marT="0" marB="0" anchor="ctr"/>
                </a:tc>
              </a:tr>
              <a:tr h="408904">
                <a:tc>
                  <a:txBody>
                    <a:bodyPr/>
                    <a:lstStyle/>
                    <a:p>
                      <a:pPr indent="266700" algn="just">
                        <a:spcAft>
                          <a:spcPts val="0"/>
                        </a:spcAft>
                      </a:pPr>
                      <a:r>
                        <a:rPr lang="en-US" sz="1100" kern="100">
                          <a:effectLst/>
                        </a:rPr>
                        <a:t>8</a:t>
                      </a:r>
                      <a:endParaRPr lang="zh-CN" sz="1100" kern="100">
                        <a:effectLst/>
                        <a:latin typeface="Times New Roman" panose="02020603050405020304" pitchFamily="18" charset="0"/>
                        <a:ea typeface="宋体" panose="02010600030101010101" pitchFamily="2" charset="-122"/>
                      </a:endParaRPr>
                    </a:p>
                  </a:txBody>
                  <a:tcPr marL="68582" marR="68582" marT="0" marB="0" anchor="ctr"/>
                </a:tc>
                <a:tc>
                  <a:txBody>
                    <a:bodyPr/>
                    <a:lstStyle/>
                    <a:p>
                      <a:pPr marL="0" indent="0" algn="just" defTabSz="914400" rtl="0" eaLnBrk="1" latinLnBrk="0" hangingPunct="1">
                        <a:spcAft>
                          <a:spcPts val="0"/>
                        </a:spcAft>
                      </a:pPr>
                      <a:r>
                        <a:rPr lang="zh-CN" sz="1100" kern="100">
                          <a:solidFill>
                            <a:schemeClr val="dk1"/>
                          </a:solidFill>
                          <a:effectLst/>
                          <a:latin typeface="+mn-lt"/>
                          <a:ea typeface="+mn-ea"/>
                          <a:cs typeface="+mn-cs"/>
                        </a:rPr>
                        <a:t>《色情网站管制法》</a:t>
                      </a:r>
                      <a:endParaRPr lang="zh-CN" sz="1100" kern="100">
                        <a:solidFill>
                          <a:schemeClr val="dk1"/>
                        </a:solidFill>
                        <a:effectLst/>
                        <a:latin typeface="+mn-lt"/>
                        <a:ea typeface="+mn-ea"/>
                        <a:cs typeface="+mn-cs"/>
                      </a:endParaRPr>
                    </a:p>
                  </a:txBody>
                  <a:tcPr marL="68582" marR="68582" marT="0" marB="0" anchor="ctr"/>
                </a:tc>
                <a:tc>
                  <a:txBody>
                    <a:bodyPr/>
                    <a:lstStyle/>
                    <a:p>
                      <a:pPr marL="0" indent="0" algn="l" defTabSz="914400" rtl="0" eaLnBrk="1" latinLnBrk="0" hangingPunct="1">
                        <a:spcAft>
                          <a:spcPts val="0"/>
                        </a:spcAft>
                      </a:pPr>
                      <a:r>
                        <a:rPr lang="en-US" sz="1100" kern="100">
                          <a:solidFill>
                            <a:schemeClr val="dk1"/>
                          </a:solidFill>
                          <a:effectLst/>
                          <a:latin typeface="+mn-lt"/>
                          <a:ea typeface="+mn-ea"/>
                          <a:cs typeface="+mn-cs"/>
                        </a:rPr>
                        <a:t>2003</a:t>
                      </a:r>
                      <a:r>
                        <a:rPr lang="zh-CN" sz="1100" kern="100">
                          <a:solidFill>
                            <a:schemeClr val="dk1"/>
                          </a:solidFill>
                          <a:effectLst/>
                          <a:latin typeface="+mn-lt"/>
                          <a:ea typeface="+mn-ea"/>
                          <a:cs typeface="+mn-cs"/>
                        </a:rPr>
                        <a:t>年法律第</a:t>
                      </a:r>
                      <a:r>
                        <a:rPr lang="en-US" sz="1100" kern="100">
                          <a:solidFill>
                            <a:schemeClr val="dk1"/>
                          </a:solidFill>
                          <a:effectLst/>
                          <a:latin typeface="+mn-lt"/>
                          <a:ea typeface="+mn-ea"/>
                          <a:cs typeface="+mn-cs"/>
                        </a:rPr>
                        <a:t>83</a:t>
                      </a:r>
                      <a:r>
                        <a:rPr lang="zh-CN" sz="1100" kern="100">
                          <a:solidFill>
                            <a:schemeClr val="dk1"/>
                          </a:solidFill>
                          <a:effectLst/>
                          <a:latin typeface="+mn-lt"/>
                          <a:ea typeface="+mn-ea"/>
                          <a:cs typeface="+mn-cs"/>
                        </a:rPr>
                        <a:t>号，禁止</a:t>
                      </a:r>
                      <a:r>
                        <a:rPr lang="en-US" sz="1100" kern="100">
                          <a:solidFill>
                            <a:schemeClr val="dk1"/>
                          </a:solidFill>
                          <a:effectLst/>
                          <a:latin typeface="+mn-lt"/>
                          <a:ea typeface="+mn-ea"/>
                          <a:cs typeface="+mn-cs"/>
                        </a:rPr>
                        <a:t>18</a:t>
                      </a:r>
                      <a:r>
                        <a:rPr lang="zh-CN" sz="1100" kern="100">
                          <a:solidFill>
                            <a:schemeClr val="dk1"/>
                          </a:solidFill>
                          <a:effectLst/>
                          <a:latin typeface="+mn-lt"/>
                          <a:ea typeface="+mn-ea"/>
                          <a:cs typeface="+mn-cs"/>
                        </a:rPr>
                        <a:t>岁以下青少年卖淫行为的管制</a:t>
                      </a:r>
                      <a:endParaRPr lang="zh-CN" sz="1100" kern="100">
                        <a:solidFill>
                          <a:schemeClr val="dk1"/>
                        </a:solidFill>
                        <a:effectLst/>
                        <a:latin typeface="+mn-lt"/>
                        <a:ea typeface="+mn-ea"/>
                        <a:cs typeface="+mn-cs"/>
                      </a:endParaRPr>
                    </a:p>
                  </a:txBody>
                  <a:tcPr marL="68582" marR="68582" marT="0" marB="0" anchor="ctr"/>
                </a:tc>
                <a:tc>
                  <a:txBody>
                    <a:bodyPr/>
                    <a:lstStyle/>
                    <a:p>
                      <a:pPr marL="0" indent="0" algn="just" defTabSz="914400" rtl="0" eaLnBrk="1" latinLnBrk="0" hangingPunct="1">
                        <a:spcAft>
                          <a:spcPts val="0"/>
                        </a:spcAft>
                      </a:pPr>
                      <a:r>
                        <a:rPr lang="zh-CN" sz="1100" kern="100" dirty="0">
                          <a:solidFill>
                            <a:schemeClr val="dk1"/>
                          </a:solidFill>
                          <a:effectLst/>
                          <a:latin typeface="+mn-lt"/>
                          <a:ea typeface="+mn-ea"/>
                          <a:cs typeface="+mn-cs"/>
                        </a:rPr>
                        <a:t>警察厅</a:t>
                      </a:r>
                      <a:endParaRPr lang="zh-CN" sz="1100" kern="100" dirty="0">
                        <a:solidFill>
                          <a:schemeClr val="dk1"/>
                        </a:solidFill>
                        <a:effectLst/>
                        <a:latin typeface="+mn-lt"/>
                        <a:ea typeface="+mn-ea"/>
                        <a:cs typeface="+mn-cs"/>
                      </a:endParaRPr>
                    </a:p>
                  </a:txBody>
                  <a:tcPr marL="68582" marR="68582" marT="0" marB="0" anchor="ctr"/>
                </a:tc>
              </a:tr>
              <a:tr h="408904">
                <a:tc>
                  <a:txBody>
                    <a:bodyPr/>
                    <a:lstStyle/>
                    <a:p>
                      <a:pPr indent="266700" algn="just">
                        <a:spcAft>
                          <a:spcPts val="0"/>
                        </a:spcAft>
                      </a:pPr>
                      <a:r>
                        <a:rPr lang="en-US" sz="1100" kern="100">
                          <a:effectLst/>
                        </a:rPr>
                        <a:t>9</a:t>
                      </a:r>
                      <a:endParaRPr lang="zh-CN" sz="1100" kern="100">
                        <a:effectLst/>
                        <a:latin typeface="Times New Roman" panose="02020603050405020304" pitchFamily="18" charset="0"/>
                        <a:ea typeface="宋体" panose="02010600030101010101" pitchFamily="2" charset="-122"/>
                      </a:endParaRPr>
                    </a:p>
                  </a:txBody>
                  <a:tcPr marL="68582" marR="68582" marT="0" marB="0" anchor="ctr"/>
                </a:tc>
                <a:tc>
                  <a:txBody>
                    <a:bodyPr/>
                    <a:lstStyle/>
                    <a:p>
                      <a:pPr marL="0" indent="0" algn="just" defTabSz="914400" rtl="0" eaLnBrk="1" latinLnBrk="0" hangingPunct="1">
                        <a:spcAft>
                          <a:spcPts val="0"/>
                        </a:spcAft>
                      </a:pPr>
                      <a:r>
                        <a:rPr lang="zh-CN" sz="1100" kern="100">
                          <a:solidFill>
                            <a:schemeClr val="dk1"/>
                          </a:solidFill>
                          <a:effectLst/>
                          <a:latin typeface="+mn-lt"/>
                          <a:ea typeface="+mn-ea"/>
                          <a:cs typeface="+mn-cs"/>
                        </a:rPr>
                        <a:t>《个人信息保护法》</a:t>
                      </a:r>
                      <a:endParaRPr lang="zh-CN" sz="1100" kern="100">
                        <a:solidFill>
                          <a:schemeClr val="dk1"/>
                        </a:solidFill>
                        <a:effectLst/>
                        <a:latin typeface="+mn-lt"/>
                        <a:ea typeface="+mn-ea"/>
                        <a:cs typeface="+mn-cs"/>
                      </a:endParaRPr>
                    </a:p>
                  </a:txBody>
                  <a:tcPr marL="68582" marR="68582" marT="0" marB="0" anchor="ctr"/>
                </a:tc>
                <a:tc>
                  <a:txBody>
                    <a:bodyPr/>
                    <a:lstStyle/>
                    <a:p>
                      <a:pPr marL="0" indent="0" algn="l" defTabSz="914400" rtl="0" eaLnBrk="1" latinLnBrk="0" hangingPunct="1">
                        <a:spcAft>
                          <a:spcPts val="0"/>
                        </a:spcAft>
                      </a:pPr>
                      <a:r>
                        <a:rPr lang="en-US" sz="1100" kern="100">
                          <a:solidFill>
                            <a:schemeClr val="dk1"/>
                          </a:solidFill>
                          <a:effectLst/>
                          <a:latin typeface="+mn-lt"/>
                          <a:ea typeface="+mn-ea"/>
                          <a:cs typeface="+mn-cs"/>
                        </a:rPr>
                        <a:t>2003</a:t>
                      </a:r>
                      <a:r>
                        <a:rPr lang="zh-CN" sz="1100" kern="100">
                          <a:solidFill>
                            <a:schemeClr val="dk1"/>
                          </a:solidFill>
                          <a:effectLst/>
                          <a:latin typeface="+mn-lt"/>
                          <a:ea typeface="+mn-ea"/>
                          <a:cs typeface="+mn-cs"/>
                        </a:rPr>
                        <a:t>年法律第</a:t>
                      </a:r>
                      <a:r>
                        <a:rPr lang="en-US" sz="1100" kern="100">
                          <a:solidFill>
                            <a:schemeClr val="dk1"/>
                          </a:solidFill>
                          <a:effectLst/>
                          <a:latin typeface="+mn-lt"/>
                          <a:ea typeface="+mn-ea"/>
                          <a:cs typeface="+mn-cs"/>
                        </a:rPr>
                        <a:t>119</a:t>
                      </a:r>
                      <a:r>
                        <a:rPr lang="zh-CN" sz="1100" kern="100">
                          <a:solidFill>
                            <a:schemeClr val="dk1"/>
                          </a:solidFill>
                          <a:effectLst/>
                          <a:latin typeface="+mn-lt"/>
                          <a:ea typeface="+mn-ea"/>
                          <a:cs typeface="+mn-cs"/>
                        </a:rPr>
                        <a:t>号，个人信息的有用性和保护个人的权利、利益</a:t>
                      </a:r>
                      <a:endParaRPr lang="zh-CN" sz="1100" kern="100">
                        <a:solidFill>
                          <a:schemeClr val="dk1"/>
                        </a:solidFill>
                        <a:effectLst/>
                        <a:latin typeface="+mn-lt"/>
                        <a:ea typeface="+mn-ea"/>
                        <a:cs typeface="+mn-cs"/>
                      </a:endParaRPr>
                    </a:p>
                  </a:txBody>
                  <a:tcPr marL="68582" marR="68582" marT="0" marB="0" anchor="ctr"/>
                </a:tc>
                <a:tc>
                  <a:txBody>
                    <a:bodyPr/>
                    <a:lstStyle/>
                    <a:p>
                      <a:pPr marL="0" indent="0" algn="just" defTabSz="914400" rtl="0" eaLnBrk="1" latinLnBrk="0" hangingPunct="1">
                        <a:spcAft>
                          <a:spcPts val="0"/>
                        </a:spcAft>
                      </a:pPr>
                      <a:r>
                        <a:rPr lang="zh-CN" sz="1100" kern="100" dirty="0">
                          <a:solidFill>
                            <a:schemeClr val="dk1"/>
                          </a:solidFill>
                          <a:effectLst/>
                          <a:latin typeface="+mn-lt"/>
                          <a:ea typeface="+mn-ea"/>
                          <a:cs typeface="+mn-cs"/>
                        </a:rPr>
                        <a:t>内阁官方、总务省</a:t>
                      </a:r>
                      <a:endParaRPr lang="zh-CN" sz="1100" kern="100" dirty="0">
                        <a:solidFill>
                          <a:schemeClr val="dk1"/>
                        </a:solidFill>
                        <a:effectLst/>
                        <a:latin typeface="+mn-lt"/>
                        <a:ea typeface="+mn-ea"/>
                        <a:cs typeface="+mn-cs"/>
                      </a:endParaRPr>
                    </a:p>
                  </a:txBody>
                  <a:tcPr marL="68582" marR="68582" marT="0" marB="0" anchor="ctr"/>
                </a:tc>
              </a:tr>
              <a:tr h="408904">
                <a:tc>
                  <a:txBody>
                    <a:bodyPr/>
                    <a:lstStyle/>
                    <a:p>
                      <a:pPr indent="127000" algn="just">
                        <a:spcAft>
                          <a:spcPts val="0"/>
                        </a:spcAft>
                      </a:pPr>
                      <a:r>
                        <a:rPr lang="en-US" sz="1100" kern="100">
                          <a:effectLst/>
                        </a:rPr>
                        <a:t>10</a:t>
                      </a:r>
                      <a:endParaRPr lang="zh-CN" sz="1100" kern="100">
                        <a:effectLst/>
                        <a:latin typeface="Times New Roman" panose="02020603050405020304" pitchFamily="18" charset="0"/>
                        <a:ea typeface="宋体" panose="02010600030101010101" pitchFamily="2" charset="-122"/>
                      </a:endParaRPr>
                    </a:p>
                  </a:txBody>
                  <a:tcPr marL="68582" marR="68582" marT="0" marB="0" anchor="ctr"/>
                </a:tc>
                <a:tc>
                  <a:txBody>
                    <a:bodyPr/>
                    <a:lstStyle/>
                    <a:p>
                      <a:pPr marL="0" indent="0" algn="just" defTabSz="914400" rtl="0" eaLnBrk="1" latinLnBrk="0" hangingPunct="1">
                        <a:spcAft>
                          <a:spcPts val="0"/>
                        </a:spcAft>
                      </a:pPr>
                      <a:r>
                        <a:rPr lang="zh-CN" sz="1100" kern="100" dirty="0">
                          <a:solidFill>
                            <a:schemeClr val="dk1"/>
                          </a:solidFill>
                          <a:effectLst/>
                          <a:latin typeface="+mn-lt"/>
                          <a:ea typeface="+mn-ea"/>
                          <a:cs typeface="+mn-cs"/>
                        </a:rPr>
                        <a:t>《促进内容创作、保护及应用法》</a:t>
                      </a:r>
                      <a:endParaRPr lang="zh-CN" sz="1100" kern="100" dirty="0">
                        <a:solidFill>
                          <a:schemeClr val="dk1"/>
                        </a:solidFill>
                        <a:effectLst/>
                        <a:latin typeface="+mn-lt"/>
                        <a:ea typeface="+mn-ea"/>
                        <a:cs typeface="+mn-cs"/>
                      </a:endParaRPr>
                    </a:p>
                  </a:txBody>
                  <a:tcPr marL="68582" marR="68582" marT="0" marB="0" anchor="ctr"/>
                </a:tc>
                <a:tc>
                  <a:txBody>
                    <a:bodyPr/>
                    <a:lstStyle/>
                    <a:p>
                      <a:pPr marL="0" indent="0" algn="l" defTabSz="914400" rtl="0" eaLnBrk="1" latinLnBrk="0" hangingPunct="1">
                        <a:spcAft>
                          <a:spcPts val="0"/>
                        </a:spcAft>
                      </a:pPr>
                      <a:r>
                        <a:rPr lang="en-US" sz="1100" kern="100" dirty="0">
                          <a:solidFill>
                            <a:schemeClr val="dk1"/>
                          </a:solidFill>
                          <a:effectLst/>
                          <a:latin typeface="+mn-lt"/>
                          <a:ea typeface="+mn-ea"/>
                          <a:cs typeface="+mn-cs"/>
                        </a:rPr>
                        <a:t>2004</a:t>
                      </a:r>
                      <a:r>
                        <a:rPr lang="zh-CN" sz="1100" kern="100" dirty="0">
                          <a:solidFill>
                            <a:schemeClr val="dk1"/>
                          </a:solidFill>
                          <a:effectLst/>
                          <a:latin typeface="+mn-lt"/>
                          <a:ea typeface="+mn-ea"/>
                          <a:cs typeface="+mn-cs"/>
                        </a:rPr>
                        <a:t>年法律第</a:t>
                      </a:r>
                      <a:r>
                        <a:rPr lang="en-US" sz="1100" kern="100" dirty="0">
                          <a:solidFill>
                            <a:schemeClr val="dk1"/>
                          </a:solidFill>
                          <a:effectLst/>
                          <a:latin typeface="+mn-lt"/>
                          <a:ea typeface="+mn-ea"/>
                          <a:cs typeface="+mn-cs"/>
                        </a:rPr>
                        <a:t>81</a:t>
                      </a:r>
                      <a:r>
                        <a:rPr lang="zh-CN" sz="1100" kern="100" dirty="0">
                          <a:solidFill>
                            <a:schemeClr val="dk1"/>
                          </a:solidFill>
                          <a:effectLst/>
                          <a:latin typeface="+mn-lt"/>
                          <a:ea typeface="+mn-ea"/>
                          <a:cs typeface="+mn-cs"/>
                        </a:rPr>
                        <a:t>号，促进内容的创作、保护和应用</a:t>
                      </a:r>
                      <a:endParaRPr lang="zh-CN" sz="1100" kern="100" dirty="0">
                        <a:solidFill>
                          <a:schemeClr val="dk1"/>
                        </a:solidFill>
                        <a:effectLst/>
                        <a:latin typeface="+mn-lt"/>
                        <a:ea typeface="+mn-ea"/>
                        <a:cs typeface="+mn-cs"/>
                      </a:endParaRPr>
                    </a:p>
                  </a:txBody>
                  <a:tcPr marL="68582" marR="68582" marT="0" marB="0" anchor="ctr"/>
                </a:tc>
                <a:tc>
                  <a:txBody>
                    <a:bodyPr/>
                    <a:lstStyle/>
                    <a:p>
                      <a:pPr marL="0" indent="0" algn="just">
                        <a:spcAft>
                          <a:spcPts val="0"/>
                        </a:spcAft>
                      </a:pPr>
                      <a:r>
                        <a:rPr lang="zh-CN" sz="1100" kern="100" dirty="0">
                          <a:effectLst/>
                        </a:rPr>
                        <a:t>内阁官方</a:t>
                      </a:r>
                      <a:endParaRPr lang="zh-CN" sz="1100" kern="100" dirty="0">
                        <a:effectLst/>
                        <a:latin typeface="Times New Roman" panose="02020603050405020304" pitchFamily="18" charset="0"/>
                        <a:ea typeface="宋体" panose="02010600030101010101" pitchFamily="2" charset="-122"/>
                      </a:endParaRPr>
                    </a:p>
                  </a:txBody>
                  <a:tcPr marL="68582" marR="68582" marT="0" marB="0" anchor="ctr"/>
                </a:tc>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信息系统安全相关法律法规</a:t>
            </a:r>
            <a:endParaRPr lang="zh-CN" altLang="en-US" sz="3200" b="1" dirty="0">
              <a:latin typeface="华文楷体" panose="02010600040101010101" pitchFamily="2" charset="-122"/>
              <a:ea typeface="华文楷体" panose="02010600040101010101" pitchFamily="2" charset="-122"/>
            </a:endParaRPr>
          </a:p>
        </p:txBody>
      </p:sp>
      <p:sp>
        <p:nvSpPr>
          <p:cNvPr id="49155" name="内容占位符 2"/>
          <p:cNvSpPr>
            <a:spLocks noGrp="1" noChangeArrowheads="1"/>
          </p:cNvSpPr>
          <p:nvPr>
            <p:ph idx="1"/>
          </p:nvPr>
        </p:nvSpPr>
        <p:spPr>
          <a:xfrm>
            <a:off x="228600" y="1752600"/>
            <a:ext cx="8534400" cy="33528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zh-CN" sz="32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国内信息安全法律法规</a:t>
            </a:r>
            <a:r>
              <a:rPr kumimoji="0" lang="zh-CN" altLang="en-US" sz="32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，主要包括：</a:t>
            </a:r>
            <a:endParaRPr kumimoji="0" lang="en-US" altLang="zh-CN" sz="32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971550" marR="0" lvl="1" indent="-514350" algn="l" defTabSz="914400" rtl="0" eaLnBrk="1" fontAlgn="base" latinLnBrk="0" hangingPunct="1">
              <a:lnSpc>
                <a:spcPct val="100000"/>
              </a:lnSpc>
              <a:spcBef>
                <a:spcPct val="20000"/>
              </a:spcBef>
              <a:spcAft>
                <a:spcPct val="0"/>
              </a:spcAft>
              <a:buClr>
                <a:schemeClr val="accent1"/>
              </a:buClr>
              <a:buSzTx/>
              <a:buFont typeface="+mj-lt"/>
              <a:buAutoNum type="arabicPeriod"/>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《中华人民共和国刑法》</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第</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217/218/285-288条</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971550" marR="0" lvl="1" indent="-514350" algn="l" defTabSz="914400" rtl="0" eaLnBrk="1" fontAlgn="base" latinLnBrk="0" hangingPunct="1">
              <a:lnSpc>
                <a:spcPct val="100000"/>
              </a:lnSpc>
              <a:spcBef>
                <a:spcPct val="20000"/>
              </a:spcBef>
              <a:spcAft>
                <a:spcPct val="0"/>
              </a:spcAft>
              <a:buClr>
                <a:schemeClr val="accent1"/>
              </a:buClr>
              <a:buSzTx/>
              <a:buFont typeface="+mj-lt"/>
              <a:buAutoNum type="arabicPeriod"/>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《全国人大常务委员会关于维护互联网安全的决定》</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971550" marR="0" lvl="1" indent="-514350" algn="l" defTabSz="914400" rtl="0" eaLnBrk="1" fontAlgn="base" latinLnBrk="0" hangingPunct="1">
              <a:lnSpc>
                <a:spcPct val="100000"/>
              </a:lnSpc>
              <a:spcBef>
                <a:spcPct val="20000"/>
              </a:spcBef>
              <a:spcAft>
                <a:spcPct val="0"/>
              </a:spcAft>
              <a:buClr>
                <a:schemeClr val="accent1"/>
              </a:buClr>
              <a:buSzTx/>
              <a:buFont typeface="+mj-lt"/>
              <a:buAutoNum type="arabicPeriod"/>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《中华人民共和国电子签名法》</a:t>
            </a:r>
            <a:endPar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971550" marR="0" lvl="1" indent="-514350" algn="l" defTabSz="914400" rtl="0" eaLnBrk="1" fontAlgn="base" latinLnBrk="0" hangingPunct="1">
              <a:lnSpc>
                <a:spcPct val="100000"/>
              </a:lnSpc>
              <a:spcBef>
                <a:spcPct val="20000"/>
              </a:spcBef>
              <a:spcAft>
                <a:spcPct val="0"/>
              </a:spcAft>
              <a:buClr>
                <a:schemeClr val="accent1"/>
              </a:buClr>
              <a:buSzTx/>
              <a:buFont typeface="+mj-lt"/>
              <a:buAutoNum type="arabicPeriod"/>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《中华人民共和国计算机信息系统安全保护条例》</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971550" marR="0" lvl="1" indent="-514350" algn="l" defTabSz="914400" rtl="0" eaLnBrk="1" fontAlgn="base" latinLnBrk="0" hangingPunct="1">
              <a:lnSpc>
                <a:spcPct val="100000"/>
              </a:lnSpc>
              <a:spcBef>
                <a:spcPct val="20000"/>
              </a:spcBef>
              <a:spcAft>
                <a:spcPct val="0"/>
              </a:spcAft>
              <a:buClr>
                <a:schemeClr val="accent1"/>
              </a:buClr>
              <a:buSzTx/>
              <a:buFont typeface="+mj-lt"/>
              <a:buAutoNum type="arabicPeriod"/>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《信息网络传播权保护条例》</a:t>
            </a:r>
            <a:endPar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971550" marR="0" lvl="1" indent="-514350" algn="l" defTabSz="914400" rtl="0" eaLnBrk="1" fontAlgn="base" latinLnBrk="0" hangingPunct="1">
              <a:lnSpc>
                <a:spcPct val="100000"/>
              </a:lnSpc>
              <a:spcBef>
                <a:spcPct val="20000"/>
              </a:spcBef>
              <a:spcAft>
                <a:spcPct val="0"/>
              </a:spcAft>
              <a:buClr>
                <a:schemeClr val="accent1"/>
              </a:buClr>
              <a:buSzTx/>
              <a:buFont typeface="+mj-lt"/>
              <a:buAutoNum type="arabicPeriod"/>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《中华人民共和国网络安全法》</a:t>
            </a:r>
            <a:endPar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971550" marR="0" lvl="1" indent="-514350" algn="l" defTabSz="914400" rtl="0" eaLnBrk="1" fontAlgn="base" latinLnBrk="0" hangingPunct="1">
              <a:lnSpc>
                <a:spcPct val="100000"/>
              </a:lnSpc>
              <a:spcBef>
                <a:spcPct val="20000"/>
              </a:spcBef>
              <a:spcAft>
                <a:spcPct val="0"/>
              </a:spcAft>
              <a:buClr>
                <a:schemeClr val="accent1"/>
              </a:buClr>
              <a:buSzTx/>
              <a:buFont typeface="+mj-lt"/>
              <a:buAutoNum type="arabicPeriod"/>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《信息安全等级保护管理方法》</a:t>
            </a:r>
            <a:endPar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971550" marR="0" lvl="1" indent="-514350" algn="l" defTabSz="914400" rtl="0" eaLnBrk="1" fontAlgn="base" latinLnBrk="0" hangingPunct="1">
              <a:lnSpc>
                <a:spcPct val="100000"/>
              </a:lnSpc>
              <a:spcBef>
                <a:spcPct val="20000"/>
              </a:spcBef>
              <a:spcAft>
                <a:spcPct val="0"/>
              </a:spcAft>
              <a:buClr>
                <a:schemeClr val="accent1"/>
              </a:buClr>
              <a:buSzTx/>
              <a:buFont typeface="+mj-lt"/>
              <a:buAutoNum type="arabicPeriod"/>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《计算机信息网络国际联网安全保护管理办法》</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en-US" altLang="zh-CN"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9155">
                                            <p:txEl>
                                              <p:pRg st="4" end="4"/>
                                            </p:txEl>
                                          </p:spTgt>
                                        </p:tgtEl>
                                        <p:attrNameLst>
                                          <p:attrName>style.visibility</p:attrName>
                                        </p:attrNameLst>
                                      </p:cBhvr>
                                      <p:to>
                                        <p:strVal val="visible"/>
                                      </p:to>
                                    </p:set>
                                    <p:animEffect transition="in" filter="barn(inVertical)">
                                      <p:cBhvr>
                                        <p:cTn id="7" dur="500"/>
                                        <p:tgtEl>
                                          <p:spTgt spid="49155">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9155">
                                            <p:txEl>
                                              <p:pRg st="5" end="5"/>
                                            </p:txEl>
                                          </p:spTgt>
                                        </p:tgtEl>
                                        <p:attrNameLst>
                                          <p:attrName>style.visibility</p:attrName>
                                        </p:attrNameLst>
                                      </p:cBhvr>
                                      <p:to>
                                        <p:strVal val="visible"/>
                                      </p:to>
                                    </p:set>
                                    <p:animEffect transition="in" filter="barn(inVertical)">
                                      <p:cBhvr>
                                        <p:cTn id="10" dur="500"/>
                                        <p:tgtEl>
                                          <p:spTgt spid="49155">
                                            <p:txEl>
                                              <p:pRg st="5" end="5"/>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49155">
                                            <p:txEl>
                                              <p:charRg st="6" end="6"/>
                                            </p:txEl>
                                          </p:spTgt>
                                        </p:tgtEl>
                                        <p:attrNameLst>
                                          <p:attrName>style.visibility</p:attrName>
                                        </p:attrNameLst>
                                      </p:cBhvr>
                                      <p:to>
                                        <p:strVal val="visible"/>
                                      </p:to>
                                    </p:set>
                                    <p:animEffect transition="in" filter="barn(inVertical)">
                                      <p:cBhvr>
                                        <p:cTn id="13" dur="500"/>
                                        <p:tgtEl>
                                          <p:spTgt spid="49155">
                                            <p:txEl>
                                              <p:charRg st="6" end="6"/>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49155">
                                            <p:txEl>
                                              <p:charRg st="7" end="7"/>
                                            </p:txEl>
                                          </p:spTgt>
                                        </p:tgtEl>
                                        <p:attrNameLst>
                                          <p:attrName>style.visibility</p:attrName>
                                        </p:attrNameLst>
                                      </p:cBhvr>
                                      <p:to>
                                        <p:strVal val="visible"/>
                                      </p:to>
                                    </p:set>
                                    <p:animEffect transition="in" filter="barn(inVertical)">
                                      <p:cBhvr>
                                        <p:cTn id="16" dur="500"/>
                                        <p:tgtEl>
                                          <p:spTgt spid="49155">
                                            <p:txEl>
                                              <p:charRg st="7" end="7"/>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49155">
                                            <p:txEl>
                                              <p:charRg st="8" end="8"/>
                                            </p:txEl>
                                          </p:spTgt>
                                        </p:tgtEl>
                                        <p:attrNameLst>
                                          <p:attrName>style.visibility</p:attrName>
                                        </p:attrNameLst>
                                      </p:cBhvr>
                                      <p:to>
                                        <p:strVal val="visible"/>
                                      </p:to>
                                    </p:set>
                                    <p:animEffect transition="in" filter="barn(inVertical)">
                                      <p:cBhvr>
                                        <p:cTn id="19" dur="500"/>
                                        <p:tgtEl>
                                          <p:spTgt spid="49155">
                                            <p:txEl>
                                              <p:charRg st="8" end="8"/>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49155">
                                            <p:txEl>
                                              <p:pRg st="1" end="1"/>
                                            </p:txEl>
                                          </p:spTgt>
                                        </p:tgtEl>
                                        <p:attrNameLst>
                                          <p:attrName>style.visibility</p:attrName>
                                        </p:attrNameLst>
                                      </p:cBhvr>
                                      <p:to>
                                        <p:strVal val="visible"/>
                                      </p:to>
                                    </p:set>
                                    <p:animEffect transition="in" filter="circle(in)">
                                      <p:cBhvr>
                                        <p:cTn id="24" dur="2000"/>
                                        <p:tgtEl>
                                          <p:spTgt spid="49155">
                                            <p:txEl>
                                              <p:pRg st="1" end="1"/>
                                            </p:txEl>
                                          </p:spTgt>
                                        </p:tgtEl>
                                      </p:cBhvr>
                                    </p:animEffect>
                                  </p:childTnLst>
                                </p:cTn>
                              </p:par>
                              <p:par>
                                <p:cTn id="25" presetID="6" presetClass="entr" presetSubtype="16" fill="hold" nodeType="withEffect">
                                  <p:stCondLst>
                                    <p:cond delay="0"/>
                                  </p:stCondLst>
                                  <p:childTnLst>
                                    <p:set>
                                      <p:cBhvr>
                                        <p:cTn id="26" dur="1" fill="hold">
                                          <p:stCondLst>
                                            <p:cond delay="0"/>
                                          </p:stCondLst>
                                        </p:cTn>
                                        <p:tgtEl>
                                          <p:spTgt spid="49155">
                                            <p:txEl>
                                              <p:pRg st="2" end="2"/>
                                            </p:txEl>
                                          </p:spTgt>
                                        </p:tgtEl>
                                        <p:attrNameLst>
                                          <p:attrName>style.visibility</p:attrName>
                                        </p:attrNameLst>
                                      </p:cBhvr>
                                      <p:to>
                                        <p:strVal val="visible"/>
                                      </p:to>
                                    </p:set>
                                    <p:animEffect transition="in" filter="circle(in)">
                                      <p:cBhvr>
                                        <p:cTn id="27" dur="2000"/>
                                        <p:tgtEl>
                                          <p:spTgt spid="491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相关法律法规</a:t>
            </a:r>
            <a:endParaRPr lang="zh-CN" altLang="en-US" sz="3200" b="1" dirty="0">
              <a:latin typeface="华文楷体" panose="02010600040101010101" pitchFamily="2" charset="-122"/>
              <a:ea typeface="华文楷体" panose="02010600040101010101" pitchFamily="2" charset="-122"/>
            </a:endParaRPr>
          </a:p>
        </p:txBody>
      </p:sp>
      <p:sp>
        <p:nvSpPr>
          <p:cNvPr id="18435" name="内容占位符 2"/>
          <p:cNvSpPr>
            <a:spLocks noGrp="1" noChangeArrowheads="1"/>
          </p:cNvSpPr>
          <p:nvPr>
            <p:ph idx="1"/>
          </p:nvPr>
        </p:nvSpPr>
        <p:spPr>
          <a:xfrm>
            <a:off x="381000" y="1143000"/>
            <a:ext cx="8305800" cy="55626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网络</a:t>
            </a:r>
            <a:r>
              <a:rPr kumimoji="0" lang="zh-CN" altLang="en-US" sz="28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安全法</a:t>
            </a:r>
            <a:endParaRPr kumimoji="0" lang="en-US" altLang="zh-CN" sz="28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由</a:t>
            </a:r>
            <a:r>
              <a:rPr kumimoji="0" lang="en-US" altLang="zh-CN" sz="2800" b="0" i="0" u="none" strike="noStrike" kern="0" cap="none" spc="0" normalizeH="0" baseline="0" noProof="0" dirty="0" err="1" smtClean="0">
                <a:ln>
                  <a:noFill/>
                </a:ln>
                <a:solidFill>
                  <a:schemeClr val="tx1"/>
                </a:solidFill>
                <a:effectLst/>
                <a:uLnTx/>
                <a:uFillTx/>
                <a:latin typeface="华文楷体" panose="02010600040101010101" pitchFamily="2" charset="-122"/>
                <a:ea typeface="华文楷体" panose="02010600040101010101" pitchFamily="2" charset="-122"/>
                <a:cs typeface="+mn-ea"/>
                <a:hlinkClick r:id="rId1"/>
              </a:rPr>
              <a:t>全国人民代表大会常务委员会</a:t>
            </a: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于</a:t>
            </a:r>
            <a:r>
              <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2016</a:t>
            </a: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年</a:t>
            </a:r>
            <a:r>
              <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11</a:t>
            </a: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月</a:t>
            </a:r>
            <a:r>
              <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7</a:t>
            </a: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日发布，自</a:t>
            </a:r>
            <a:r>
              <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2017</a:t>
            </a: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年</a:t>
            </a:r>
            <a:r>
              <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6</a:t>
            </a: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月</a:t>
            </a:r>
            <a:r>
              <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1</a:t>
            </a: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日起施行。</a:t>
            </a:r>
            <a:r>
              <a:rPr kumimoji="0" lang="en-US" altLang="zh-CN" sz="2800" b="0" i="0" u="none" strike="noStrike" kern="0" cap="none" spc="0" normalizeH="0" baseline="0" noProof="0" dirty="0" err="1" smtClean="0">
                <a:ln>
                  <a:noFill/>
                </a:ln>
                <a:solidFill>
                  <a:schemeClr val="tx1"/>
                </a:solidFill>
                <a:effectLst/>
                <a:uLnTx/>
                <a:uFillTx/>
                <a:latin typeface="华文楷体" panose="02010600040101010101" pitchFamily="2" charset="-122"/>
                <a:ea typeface="华文楷体" panose="02010600040101010101" pitchFamily="2" charset="-122"/>
                <a:cs typeface="+mn-ea"/>
                <a:hlinkClick r:id="rId2"/>
              </a:rPr>
              <a:t>中华人民共和国主席令（第五十三号</a:t>
            </a:r>
            <a:r>
              <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hlinkClick r:id="rId2"/>
              </a:rPr>
              <a:t>）</a:t>
            </a: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公布</a:t>
            </a:r>
            <a:r>
              <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《网络安全法》是我国第一部全面规范网络空间安全管理方面问题的基础性法律，是我国网络空间法治建设的重要里程碑，是依法治网、化解网络风险的法律重器，是让互联网在法治轨道上健康运行的重要保障。</a:t>
            </a:r>
            <a:endPar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animEffect transition="in" filter="wipe(down)">
                                      <p:cBhvr>
                                        <p:cTn id="7" dur="500"/>
                                        <p:tgtEl>
                                          <p:spTgt spid="1843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8435">
                                            <p:txEl>
                                              <p:pRg st="2" end="2"/>
                                            </p:txEl>
                                          </p:spTgt>
                                        </p:tgtEl>
                                        <p:attrNameLst>
                                          <p:attrName>style.visibility</p:attrName>
                                        </p:attrNameLst>
                                      </p:cBhvr>
                                      <p:to>
                                        <p:strVal val="visible"/>
                                      </p:to>
                                    </p:set>
                                    <p:animEffect transition="in" filter="circle(in)">
                                      <p:cBhvr>
                                        <p:cTn id="12" dur="2000"/>
                                        <p:tgtEl>
                                          <p:spTgt spid="184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相关法律法规</a:t>
            </a:r>
            <a:endParaRPr lang="zh-CN" altLang="en-US" sz="3200" b="1" dirty="0">
              <a:latin typeface="华文楷体" panose="02010600040101010101" pitchFamily="2" charset="-122"/>
              <a:ea typeface="华文楷体" panose="02010600040101010101" pitchFamily="2" charset="-122"/>
            </a:endParaRPr>
          </a:p>
        </p:txBody>
      </p:sp>
      <p:sp>
        <p:nvSpPr>
          <p:cNvPr id="19459" name="内容占位符 2"/>
          <p:cNvSpPr>
            <a:spLocks noGrp="1" noChangeArrowheads="1"/>
          </p:cNvSpPr>
          <p:nvPr>
            <p:ph idx="1"/>
          </p:nvPr>
        </p:nvSpPr>
        <p:spPr>
          <a:xfrm>
            <a:off x="381000" y="1143000"/>
            <a:ext cx="8305800" cy="55626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补充：网络安全法</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pic>
        <p:nvPicPr>
          <p:cNvPr id="92164" name="图片 1"/>
          <p:cNvPicPr>
            <a:picLocks noChangeAspect="1"/>
          </p:cNvPicPr>
          <p:nvPr/>
        </p:nvPicPr>
        <p:blipFill>
          <a:blip r:embed="rId1"/>
          <a:stretch>
            <a:fillRect/>
          </a:stretch>
        </p:blipFill>
        <p:spPr>
          <a:xfrm>
            <a:off x="1327150" y="1676400"/>
            <a:ext cx="6032500" cy="4962525"/>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2164"/>
                                        </p:tgtEl>
                                        <p:attrNameLst>
                                          <p:attrName>style.visibility</p:attrName>
                                        </p:attrNameLst>
                                      </p:cBhvr>
                                      <p:to>
                                        <p:strVal val="visible"/>
                                      </p:to>
                                    </p:set>
                                    <p:animEffect transition="in" filter="circle(in)">
                                      <p:cBhvr>
                                        <p:cTn id="7" dur="2000"/>
                                        <p:tgtEl>
                                          <p:spTgt spid="92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相关法律法规</a:t>
            </a:r>
            <a:endParaRPr lang="zh-CN" altLang="en-US" sz="3200" b="1" dirty="0">
              <a:latin typeface="华文楷体" panose="02010600040101010101" pitchFamily="2" charset="-122"/>
              <a:ea typeface="华文楷体" panose="02010600040101010101" pitchFamily="2" charset="-122"/>
            </a:endParaRPr>
          </a:p>
        </p:txBody>
      </p:sp>
      <p:sp>
        <p:nvSpPr>
          <p:cNvPr id="93187" name="内容占位符 2"/>
          <p:cNvSpPr>
            <a:spLocks noGrp="1"/>
          </p:cNvSpPr>
          <p:nvPr>
            <p:ph idx="1"/>
          </p:nvPr>
        </p:nvSpPr>
        <p:spPr>
          <a:xfrm>
            <a:off x="381000" y="1143000"/>
            <a:ext cx="8305800" cy="5562600"/>
          </a:xfrm>
        </p:spPr>
        <p:txBody>
          <a:bodyPr vert="horz" wrap="square" lIns="91440" tIns="45720" rIns="91440" bIns="45720" anchor="t" anchorCtr="0"/>
          <a:lstStyle/>
          <a:p>
            <a:pPr marL="0" indent="0">
              <a:buNone/>
            </a:pPr>
            <a:r>
              <a:rPr lang="zh-CN" altLang="en-US" sz="2800" dirty="0">
                <a:latin typeface="华文楷体" panose="02010600040101010101" pitchFamily="2" charset="-122"/>
                <a:ea typeface="华文楷体" panose="02010600040101010101" pitchFamily="2" charset="-122"/>
              </a:rPr>
              <a:t>补充：网络安全法</a:t>
            </a:r>
            <a:endParaRPr lang="en-US" altLang="zh-CN" sz="2800" dirty="0">
              <a:latin typeface="华文楷体" panose="02010600040101010101" pitchFamily="2" charset="-122"/>
              <a:ea typeface="华文楷体" panose="02010600040101010101" pitchFamily="2" charset="-122"/>
            </a:endParaRPr>
          </a:p>
          <a:p>
            <a:pPr marL="0" indent="0">
              <a:buNone/>
            </a:pPr>
            <a:r>
              <a:rPr lang="en-US" altLang="zh-CN" sz="2800" b="1" dirty="0">
                <a:latin typeface="华文楷体" panose="02010600040101010101" pitchFamily="2" charset="-122"/>
                <a:ea typeface="华文楷体" panose="02010600040101010101" pitchFamily="2" charset="-122"/>
              </a:rPr>
              <a:t>  </a:t>
            </a:r>
            <a:r>
              <a:rPr lang="zh-CN" altLang="zh-CN" sz="2800" b="1" dirty="0">
                <a:latin typeface="华文楷体" panose="02010600040101010101" pitchFamily="2" charset="-122"/>
                <a:ea typeface="华文楷体" panose="02010600040101010101" pitchFamily="2" charset="-122"/>
              </a:rPr>
              <a:t>一、《网络安全法》的基本原则</a:t>
            </a:r>
            <a:endParaRPr lang="zh-CN" altLang="zh-CN" sz="20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第一，网络空间主权原则。《网络安全法》第</a:t>
            </a:r>
            <a:r>
              <a:rPr lang="en-US" altLang="zh-CN" sz="2400" dirty="0">
                <a:latin typeface="华文楷体" panose="02010600040101010101" pitchFamily="2" charset="-122"/>
                <a:ea typeface="华文楷体" panose="02010600040101010101" pitchFamily="2" charset="-122"/>
              </a:rPr>
              <a:t>1</a:t>
            </a:r>
            <a:r>
              <a:rPr lang="zh-CN" altLang="zh-CN" sz="2400" dirty="0">
                <a:latin typeface="华文楷体" panose="02010600040101010101" pitchFamily="2" charset="-122"/>
                <a:ea typeface="华文楷体" panose="02010600040101010101" pitchFamily="2" charset="-122"/>
              </a:rPr>
              <a:t>条</a:t>
            </a:r>
            <a:r>
              <a:rPr lang="en-US" altLang="zh-CN" sz="2400" dirty="0">
                <a:latin typeface="华文楷体" panose="02010600040101010101" pitchFamily="2" charset="-122"/>
                <a:ea typeface="华文楷体" panose="02010600040101010101" pitchFamily="2" charset="-122"/>
              </a:rPr>
              <a:t>“</a:t>
            </a:r>
            <a:r>
              <a:rPr lang="zh-CN" altLang="zh-CN" sz="2400" dirty="0">
                <a:latin typeface="华文楷体" panose="02010600040101010101" pitchFamily="2" charset="-122"/>
                <a:ea typeface="华文楷体" panose="02010600040101010101" pitchFamily="2" charset="-122"/>
              </a:rPr>
              <a:t>立法目的</a:t>
            </a:r>
            <a:r>
              <a:rPr lang="en-US" altLang="zh-CN" sz="2400" dirty="0">
                <a:latin typeface="华文楷体" panose="02010600040101010101" pitchFamily="2" charset="-122"/>
                <a:ea typeface="华文楷体" panose="02010600040101010101" pitchFamily="2" charset="-122"/>
              </a:rPr>
              <a:t>”</a:t>
            </a:r>
            <a:r>
              <a:rPr lang="zh-CN" altLang="zh-CN" sz="2400" dirty="0">
                <a:latin typeface="华文楷体" panose="02010600040101010101" pitchFamily="2" charset="-122"/>
                <a:ea typeface="华文楷体" panose="02010600040101010101" pitchFamily="2" charset="-122"/>
              </a:rPr>
              <a:t>开宗明义，明确规定要维护我国网络空间主权。网络空间主权是一国国家主权在网络空间中的自然延伸和表现。</a:t>
            </a:r>
            <a:endParaRPr lang="en-US" altLang="zh-CN" sz="24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第二，网络安全与信息化发展并重原则。习近平总书记指出，安全是发展的前提，发展是安全的保障，安全和发展要同步推进。</a:t>
            </a:r>
            <a:endParaRPr lang="en-US" altLang="zh-CN" sz="24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第三，共同治理原则。网络空间安全仅仅依靠政府是无法实现的，需要政府、企业、社会组织、技术社群和公民等网络利益相关者的共同参与。</a:t>
            </a:r>
            <a:endParaRPr lang="zh-CN" altLang="en-US" sz="2400"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3187">
                                            <p:txEl>
                                              <p:pRg st="2" end="2"/>
                                            </p:txEl>
                                          </p:spTgt>
                                        </p:tgtEl>
                                        <p:attrNameLst>
                                          <p:attrName>style.visibility</p:attrName>
                                        </p:attrNameLst>
                                      </p:cBhvr>
                                      <p:to>
                                        <p:strVal val="visible"/>
                                      </p:to>
                                    </p:set>
                                    <p:animEffect transition="in" filter="barn(inVertical)">
                                      <p:cBhvr>
                                        <p:cTn id="7" dur="500"/>
                                        <p:tgtEl>
                                          <p:spTgt spid="9318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3187">
                                            <p:txEl>
                                              <p:pRg st="3" end="3"/>
                                            </p:txEl>
                                          </p:spTgt>
                                        </p:tgtEl>
                                        <p:attrNameLst>
                                          <p:attrName>style.visibility</p:attrName>
                                        </p:attrNameLst>
                                      </p:cBhvr>
                                      <p:to>
                                        <p:strVal val="visible"/>
                                      </p:to>
                                    </p:set>
                                    <p:animEffect transition="in" filter="wipe(down)">
                                      <p:cBhvr>
                                        <p:cTn id="12" dur="500"/>
                                        <p:tgtEl>
                                          <p:spTgt spid="9318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3187">
                                            <p:txEl>
                                              <p:pRg st="4" end="4"/>
                                            </p:txEl>
                                          </p:spTgt>
                                        </p:tgtEl>
                                        <p:attrNameLst>
                                          <p:attrName>style.visibility</p:attrName>
                                        </p:attrNameLst>
                                      </p:cBhvr>
                                      <p:to>
                                        <p:strVal val="visible"/>
                                      </p:to>
                                    </p:set>
                                    <p:anim calcmode="lin" valueType="num">
                                      <p:cBhvr additive="base">
                                        <p:cTn id="17" dur="500" fill="hold"/>
                                        <p:tgtEl>
                                          <p:spTgt spid="93187">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318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相关法律法规</a:t>
            </a:r>
            <a:endParaRPr lang="zh-CN" altLang="en-US" sz="3200" b="1" dirty="0">
              <a:latin typeface="华文楷体" panose="02010600040101010101" pitchFamily="2" charset="-122"/>
              <a:ea typeface="华文楷体" panose="02010600040101010101" pitchFamily="2" charset="-122"/>
            </a:endParaRPr>
          </a:p>
        </p:txBody>
      </p:sp>
      <p:sp>
        <p:nvSpPr>
          <p:cNvPr id="94211" name="内容占位符 2"/>
          <p:cNvSpPr>
            <a:spLocks noGrp="1"/>
          </p:cNvSpPr>
          <p:nvPr>
            <p:ph idx="1"/>
          </p:nvPr>
        </p:nvSpPr>
        <p:spPr>
          <a:xfrm>
            <a:off x="381000" y="1143000"/>
            <a:ext cx="8305800" cy="5562600"/>
          </a:xfrm>
        </p:spPr>
        <p:txBody>
          <a:bodyPr vert="horz" wrap="square" lIns="91440" tIns="45720" rIns="91440" bIns="45720" anchor="t" anchorCtr="0"/>
          <a:lstStyle/>
          <a:p>
            <a:pPr marL="0" indent="0">
              <a:buNone/>
            </a:pPr>
            <a:r>
              <a:rPr lang="zh-CN" altLang="en-US" sz="2800" dirty="0">
                <a:latin typeface="华文楷体" panose="02010600040101010101" pitchFamily="2" charset="-122"/>
                <a:ea typeface="华文楷体" panose="02010600040101010101" pitchFamily="2" charset="-122"/>
              </a:rPr>
              <a:t>补充：网络安全法</a:t>
            </a:r>
            <a:endParaRPr lang="en-US" altLang="zh-CN" sz="2800" dirty="0">
              <a:latin typeface="华文楷体" panose="02010600040101010101" pitchFamily="2" charset="-122"/>
              <a:ea typeface="华文楷体" panose="02010600040101010101" pitchFamily="2" charset="-122"/>
            </a:endParaRPr>
          </a:p>
          <a:p>
            <a:pPr marL="0" indent="0">
              <a:buNone/>
            </a:pPr>
            <a:r>
              <a:rPr lang="en-US" altLang="zh-CN" sz="2800" b="1" dirty="0">
                <a:latin typeface="华文楷体" panose="02010600040101010101" pitchFamily="2" charset="-122"/>
                <a:ea typeface="华文楷体" panose="02010600040101010101" pitchFamily="2" charset="-122"/>
              </a:rPr>
              <a:t>    </a:t>
            </a:r>
            <a:r>
              <a:rPr lang="zh-CN" altLang="zh-CN" sz="2800" b="1" dirty="0">
                <a:latin typeface="华文楷体" panose="02010600040101010101" pitchFamily="2" charset="-122"/>
                <a:ea typeface="华文楷体" panose="02010600040101010101" pitchFamily="2" charset="-122"/>
              </a:rPr>
              <a:t>二、《网络安全法》提出制定网络安全战略，明确网络空间治理目标，提高了我国网络安全政策的透明度</a:t>
            </a:r>
            <a:endParaRPr lang="zh-CN" altLang="zh-CN" sz="28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《网络安全法》第</a:t>
            </a:r>
            <a:r>
              <a:rPr lang="en-US" altLang="zh-CN" sz="2400" dirty="0">
                <a:latin typeface="华文楷体" panose="02010600040101010101" pitchFamily="2" charset="-122"/>
                <a:ea typeface="华文楷体" panose="02010600040101010101" pitchFamily="2" charset="-122"/>
              </a:rPr>
              <a:t>4</a:t>
            </a:r>
            <a:r>
              <a:rPr lang="zh-CN" altLang="zh-CN" sz="2400" dirty="0">
                <a:latin typeface="华文楷体" panose="02010600040101010101" pitchFamily="2" charset="-122"/>
                <a:ea typeface="华文楷体" panose="02010600040101010101" pitchFamily="2" charset="-122"/>
              </a:rPr>
              <a:t>条明确提出了我国网络安全战略的</a:t>
            </a:r>
            <a:r>
              <a:rPr lang="zh-CN" altLang="zh-CN" sz="2400" dirty="0">
                <a:solidFill>
                  <a:srgbClr val="FF0000"/>
                </a:solidFill>
                <a:latin typeface="华文楷体" panose="02010600040101010101" pitchFamily="2" charset="-122"/>
                <a:ea typeface="华文楷体" panose="02010600040101010101" pitchFamily="2" charset="-122"/>
              </a:rPr>
              <a:t>主要内容</a:t>
            </a:r>
            <a:r>
              <a:rPr lang="zh-CN" altLang="zh-CN" sz="2400" dirty="0">
                <a:latin typeface="华文楷体" panose="02010600040101010101" pitchFamily="2" charset="-122"/>
                <a:ea typeface="华文楷体" panose="02010600040101010101" pitchFamily="2" charset="-122"/>
              </a:rPr>
              <a:t>，即：明确保障网络安全的基本要求和主要目标，提出重点领域的网络安全政策、工作任务和措施。</a:t>
            </a:r>
            <a:endParaRPr lang="en-US" altLang="zh-CN" sz="24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《网络安全法》第</a:t>
            </a:r>
            <a:r>
              <a:rPr lang="en-US" altLang="zh-CN" sz="2400" dirty="0">
                <a:latin typeface="华文楷体" panose="02010600040101010101" pitchFamily="2" charset="-122"/>
                <a:ea typeface="华文楷体" panose="02010600040101010101" pitchFamily="2" charset="-122"/>
              </a:rPr>
              <a:t>7</a:t>
            </a:r>
            <a:r>
              <a:rPr lang="zh-CN" altLang="zh-CN" sz="2400" dirty="0">
                <a:latin typeface="华文楷体" panose="02010600040101010101" pitchFamily="2" charset="-122"/>
                <a:ea typeface="华文楷体" panose="02010600040101010101" pitchFamily="2" charset="-122"/>
              </a:rPr>
              <a:t>条明确规定，我国致力于</a:t>
            </a:r>
            <a:r>
              <a:rPr lang="en-US" altLang="zh-CN" sz="2400" dirty="0">
                <a:latin typeface="华文楷体" panose="02010600040101010101" pitchFamily="2" charset="-122"/>
                <a:ea typeface="华文楷体" panose="02010600040101010101" pitchFamily="2" charset="-122"/>
              </a:rPr>
              <a:t>“</a:t>
            </a:r>
            <a:r>
              <a:rPr lang="zh-CN" altLang="zh-CN" sz="2400" dirty="0">
                <a:solidFill>
                  <a:srgbClr val="FF0000"/>
                </a:solidFill>
                <a:latin typeface="华文楷体" panose="02010600040101010101" pitchFamily="2" charset="-122"/>
                <a:ea typeface="华文楷体" panose="02010600040101010101" pitchFamily="2" charset="-122"/>
              </a:rPr>
              <a:t>推动构建和平、安全、开放、合作的网络空间，建立多边、民主、透明的网络治理体系。</a:t>
            </a:r>
            <a:r>
              <a:rPr lang="en-US" altLang="zh-CN" sz="2400" dirty="0">
                <a:latin typeface="华文楷体" panose="02010600040101010101" pitchFamily="2" charset="-122"/>
                <a:ea typeface="华文楷体" panose="02010600040101010101" pitchFamily="2" charset="-122"/>
              </a:rPr>
              <a:t>”</a:t>
            </a:r>
            <a:r>
              <a:rPr lang="zh-CN" altLang="zh-CN" sz="2400" dirty="0">
                <a:latin typeface="华文楷体" panose="02010600040101010101" pitchFamily="2" charset="-122"/>
                <a:ea typeface="华文楷体" panose="02010600040101010101" pitchFamily="2" charset="-122"/>
              </a:rPr>
              <a:t>这是我国第一次通过国家法律的形式向世界宣示网络空间治理目标，明确表达了我国的网络空间治理诉求。</a:t>
            </a:r>
            <a:endParaRPr lang="zh-CN" altLang="en-US" sz="1800"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4211">
                                            <p:txEl>
                                              <p:pRg st="2" end="2"/>
                                            </p:txEl>
                                          </p:spTgt>
                                        </p:tgtEl>
                                        <p:attrNameLst>
                                          <p:attrName>style.visibility</p:attrName>
                                        </p:attrNameLst>
                                      </p:cBhvr>
                                      <p:to>
                                        <p:strVal val="visible"/>
                                      </p:to>
                                    </p:set>
                                    <p:animEffect transition="in" filter="circle(in)">
                                      <p:cBhvr>
                                        <p:cTn id="7" dur="2000"/>
                                        <p:tgtEl>
                                          <p:spTgt spid="942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94211">
                                            <p:txEl>
                                              <p:pRg st="3" end="3"/>
                                            </p:txEl>
                                          </p:spTgt>
                                        </p:tgtEl>
                                        <p:attrNameLst>
                                          <p:attrName>style.visibility</p:attrName>
                                        </p:attrNameLst>
                                      </p:cBhvr>
                                      <p:to>
                                        <p:strVal val="visible"/>
                                      </p:to>
                                    </p:set>
                                    <p:animEffect transition="in" filter="wheel(1)">
                                      <p:cBhvr>
                                        <p:cTn id="12" dur="2000"/>
                                        <p:tgtEl>
                                          <p:spTgt spid="942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相关法律法规</a:t>
            </a:r>
            <a:endParaRPr lang="zh-CN" altLang="en-US" sz="3200" b="1" dirty="0">
              <a:latin typeface="华文楷体" panose="02010600040101010101" pitchFamily="2" charset="-122"/>
              <a:ea typeface="华文楷体" panose="02010600040101010101" pitchFamily="2" charset="-122"/>
            </a:endParaRPr>
          </a:p>
        </p:txBody>
      </p:sp>
      <p:sp>
        <p:nvSpPr>
          <p:cNvPr id="95235" name="内容占位符 2"/>
          <p:cNvSpPr>
            <a:spLocks noGrp="1"/>
          </p:cNvSpPr>
          <p:nvPr>
            <p:ph idx="1"/>
          </p:nvPr>
        </p:nvSpPr>
        <p:spPr>
          <a:xfrm>
            <a:off x="381000" y="1143000"/>
            <a:ext cx="8305800" cy="5562600"/>
          </a:xfrm>
        </p:spPr>
        <p:txBody>
          <a:bodyPr vert="horz" wrap="square" lIns="91440" tIns="45720" rIns="91440" bIns="45720" anchor="t" anchorCtr="0"/>
          <a:lstStyle/>
          <a:p>
            <a:pPr marL="0" indent="0">
              <a:buNone/>
            </a:pPr>
            <a:r>
              <a:rPr lang="zh-CN" altLang="en-US" sz="2800" dirty="0">
                <a:latin typeface="华文楷体" panose="02010600040101010101" pitchFamily="2" charset="-122"/>
                <a:ea typeface="华文楷体" panose="02010600040101010101" pitchFamily="2" charset="-122"/>
              </a:rPr>
              <a:t> 补充：网络安全法</a:t>
            </a:r>
            <a:endParaRPr lang="en-US" altLang="zh-CN" sz="2800" dirty="0">
              <a:latin typeface="华文楷体" panose="02010600040101010101" pitchFamily="2" charset="-122"/>
              <a:ea typeface="华文楷体" panose="02010600040101010101" pitchFamily="2" charset="-122"/>
            </a:endParaRPr>
          </a:p>
          <a:p>
            <a:pPr marL="0" indent="0">
              <a:buNone/>
            </a:pPr>
            <a:r>
              <a:rPr lang="en-US" altLang="zh-CN" sz="2800" b="1" dirty="0">
                <a:latin typeface="华文楷体" panose="02010600040101010101" pitchFamily="2" charset="-122"/>
                <a:ea typeface="华文楷体" panose="02010600040101010101" pitchFamily="2" charset="-122"/>
              </a:rPr>
              <a:t>    </a:t>
            </a:r>
            <a:r>
              <a:rPr lang="zh-CN" altLang="zh-CN" sz="2800" b="1" dirty="0">
                <a:latin typeface="华文楷体" panose="02010600040101010101" pitchFamily="2" charset="-122"/>
                <a:ea typeface="华文楷体" panose="02010600040101010101" pitchFamily="2" charset="-122"/>
              </a:rPr>
              <a:t>三、《网络安全法》进一步明确了政府各部门的职责权限，完善了网络安全监管体制</a:t>
            </a:r>
            <a:endParaRPr lang="zh-CN" altLang="zh-CN" sz="28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《网络安全法》将现行有效的网络安全监管体制法制化，明确网信部门与其他相关网络监管部门的职责分工。</a:t>
            </a:r>
            <a:endParaRPr lang="en-US" altLang="zh-CN" sz="24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第</a:t>
            </a:r>
            <a:r>
              <a:rPr lang="en-US" altLang="zh-CN" sz="2400" dirty="0">
                <a:latin typeface="华文楷体" panose="02010600040101010101" pitchFamily="2" charset="-122"/>
                <a:ea typeface="华文楷体" panose="02010600040101010101" pitchFamily="2" charset="-122"/>
              </a:rPr>
              <a:t>8</a:t>
            </a:r>
            <a:r>
              <a:rPr lang="zh-CN" altLang="zh-CN" sz="2400" dirty="0">
                <a:latin typeface="华文楷体" panose="02010600040101010101" pitchFamily="2" charset="-122"/>
                <a:ea typeface="华文楷体" panose="02010600040101010101" pitchFamily="2" charset="-122"/>
              </a:rPr>
              <a:t>条规定，</a:t>
            </a:r>
            <a:r>
              <a:rPr lang="zh-CN" altLang="zh-CN" sz="2400" dirty="0">
                <a:solidFill>
                  <a:srgbClr val="FF0000"/>
                </a:solidFill>
                <a:latin typeface="华文楷体" panose="02010600040101010101" pitchFamily="2" charset="-122"/>
                <a:ea typeface="华文楷体" panose="02010600040101010101" pitchFamily="2" charset="-122"/>
              </a:rPr>
              <a:t>国家网信部门</a:t>
            </a:r>
            <a:r>
              <a:rPr lang="zh-CN" altLang="zh-CN" sz="2400" dirty="0">
                <a:latin typeface="华文楷体" panose="02010600040101010101" pitchFamily="2" charset="-122"/>
                <a:ea typeface="华文楷体" panose="02010600040101010101" pitchFamily="2" charset="-122"/>
              </a:rPr>
              <a:t>负责统筹协调网络安全工作和相关监督管理工作，</a:t>
            </a:r>
            <a:r>
              <a:rPr lang="zh-CN" altLang="zh-CN" sz="2400" dirty="0">
                <a:solidFill>
                  <a:srgbClr val="FF0000"/>
                </a:solidFill>
                <a:latin typeface="华文楷体" panose="02010600040101010101" pitchFamily="2" charset="-122"/>
                <a:ea typeface="华文楷体" panose="02010600040101010101" pitchFamily="2" charset="-122"/>
              </a:rPr>
              <a:t>国务院电信主管部门、公安部门和其他有关机关</a:t>
            </a:r>
            <a:r>
              <a:rPr lang="zh-CN" altLang="zh-CN" sz="2400" dirty="0">
                <a:latin typeface="华文楷体" panose="02010600040101010101" pitchFamily="2" charset="-122"/>
                <a:ea typeface="华文楷体" panose="02010600040101010101" pitchFamily="2" charset="-122"/>
              </a:rPr>
              <a:t>依法在各自职责范围内负责网络安全保护和监督管理工作。</a:t>
            </a:r>
            <a:endParaRPr lang="en-US" altLang="zh-CN" sz="24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这种</a:t>
            </a:r>
            <a:r>
              <a:rPr lang="en-US" altLang="zh-CN" sz="2400" dirty="0">
                <a:latin typeface="华文楷体" panose="02010600040101010101" pitchFamily="2" charset="-122"/>
                <a:ea typeface="华文楷体" panose="02010600040101010101" pitchFamily="2" charset="-122"/>
              </a:rPr>
              <a:t>“1+X”</a:t>
            </a:r>
            <a:r>
              <a:rPr lang="zh-CN" altLang="zh-CN" sz="2400" dirty="0">
                <a:latin typeface="华文楷体" panose="02010600040101010101" pitchFamily="2" charset="-122"/>
                <a:ea typeface="华文楷体" panose="02010600040101010101" pitchFamily="2" charset="-122"/>
              </a:rPr>
              <a:t>的监管体制，符合当前互联网与现实社会全面融合的特点和我国监管需要。</a:t>
            </a:r>
            <a:endParaRPr lang="zh-CN" altLang="en-US" sz="1200"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5235">
                                            <p:txEl>
                                              <p:pRg st="2" end="2"/>
                                            </p:txEl>
                                          </p:spTgt>
                                        </p:tgtEl>
                                        <p:attrNameLst>
                                          <p:attrName>style.visibility</p:attrName>
                                        </p:attrNameLst>
                                      </p:cBhvr>
                                      <p:to>
                                        <p:strVal val="visible"/>
                                      </p:to>
                                    </p:set>
                                    <p:animEffect transition="in" filter="wipe(down)">
                                      <p:cBhvr>
                                        <p:cTn id="7" dur="500"/>
                                        <p:tgtEl>
                                          <p:spTgt spid="9523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5235">
                                            <p:txEl>
                                              <p:pRg st="3" end="3"/>
                                            </p:txEl>
                                          </p:spTgt>
                                        </p:tgtEl>
                                        <p:attrNameLst>
                                          <p:attrName>style.visibility</p:attrName>
                                        </p:attrNameLst>
                                      </p:cBhvr>
                                      <p:to>
                                        <p:strVal val="visible"/>
                                      </p:to>
                                    </p:set>
                                    <p:animEffect transition="in" filter="fade">
                                      <p:cBhvr>
                                        <p:cTn id="12" dur="1000"/>
                                        <p:tgtEl>
                                          <p:spTgt spid="95235">
                                            <p:txEl>
                                              <p:pRg st="3" end="3"/>
                                            </p:txEl>
                                          </p:spTgt>
                                        </p:tgtEl>
                                      </p:cBhvr>
                                    </p:animEffect>
                                    <p:anim calcmode="lin" valueType="num">
                                      <p:cBhvr>
                                        <p:cTn id="13" dur="1000" fill="hold"/>
                                        <p:tgtEl>
                                          <p:spTgt spid="9523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9523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5235">
                                            <p:txEl>
                                              <p:pRg st="4" end="4"/>
                                            </p:txEl>
                                          </p:spTgt>
                                        </p:tgtEl>
                                        <p:attrNameLst>
                                          <p:attrName>style.visibility</p:attrName>
                                        </p:attrNameLst>
                                      </p:cBhvr>
                                      <p:to>
                                        <p:strVal val="visible"/>
                                      </p:to>
                                    </p:set>
                                    <p:anim calcmode="lin" valueType="num">
                                      <p:cBhvr additive="base">
                                        <p:cTn id="19" dur="500" fill="hold"/>
                                        <p:tgtEl>
                                          <p:spTgt spid="952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523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相关法律法规</a:t>
            </a:r>
            <a:endParaRPr lang="zh-CN" altLang="en-US" sz="3200" b="1" dirty="0">
              <a:latin typeface="华文楷体" panose="02010600040101010101" pitchFamily="2" charset="-122"/>
              <a:ea typeface="华文楷体" panose="02010600040101010101" pitchFamily="2" charset="-122"/>
            </a:endParaRPr>
          </a:p>
        </p:txBody>
      </p:sp>
      <p:sp>
        <p:nvSpPr>
          <p:cNvPr id="23555" name="内容占位符 2"/>
          <p:cNvSpPr>
            <a:spLocks noGrp="1" noChangeArrowheads="1"/>
          </p:cNvSpPr>
          <p:nvPr>
            <p:ph idx="1"/>
          </p:nvPr>
        </p:nvSpPr>
        <p:spPr>
          <a:xfrm>
            <a:off x="381000" y="1143000"/>
            <a:ext cx="8305800" cy="55626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补充：网络安全法</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四、《网络安全法》强化了网络运行安全，重点保护关键信息基础设施</a:t>
            </a:r>
            <a:endPar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《网络安全法》第三章用了近三分之一的篇幅规范网络运行安全，特别强调要保障关键信息基础设施的运行安全。</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zh-CN" altLang="zh-CN" sz="20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关键信息基础设施</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是指那些一旦遭到破坏、丧失功能或者数据泄露，可能严重危害国家安全、国计民生、公共利益的系统和设施。</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zh-CN" altLang="zh-CN" sz="20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网络运行安全</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是网络安全的重心，关键信息基础设施安全则是重中之重，与国家安全和社会公共利益息息相关。</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为此，《网络安全法》强调在网络安全等级保护制度的基础上，对关键信息基础设施实行重点保护，明确关键信息基础设施的运营者负有更多的安全保护义务，并配以国家安全审查、重要数据强制本地存储等法律措施，确保关键信息基础设施的运行安全。</a:t>
            </a:r>
            <a:endParaRPr kumimoji="0" lang="zh-CN" altLang="en-US" sz="12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3555">
                                            <p:txEl>
                                              <p:pRg st="3" end="3"/>
                                            </p:txEl>
                                          </p:spTgt>
                                        </p:tgtEl>
                                        <p:attrNameLst>
                                          <p:attrName>style.visibility</p:attrName>
                                        </p:attrNameLst>
                                      </p:cBhvr>
                                      <p:to>
                                        <p:strVal val="visible"/>
                                      </p:to>
                                    </p:set>
                                    <p:animEffect transition="in" filter="wipe(down)">
                                      <p:cBhvr>
                                        <p:cTn id="7" dur="500"/>
                                        <p:tgtEl>
                                          <p:spTgt spid="2355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3555">
                                            <p:txEl>
                                              <p:pRg st="4" end="4"/>
                                            </p:txEl>
                                          </p:spTgt>
                                        </p:tgtEl>
                                        <p:attrNameLst>
                                          <p:attrName>style.visibility</p:attrName>
                                        </p:attrNameLst>
                                      </p:cBhvr>
                                      <p:to>
                                        <p:strVal val="visible"/>
                                      </p:to>
                                    </p:set>
                                    <p:animEffect transition="in" filter="circle(in)">
                                      <p:cBhvr>
                                        <p:cTn id="12" dur="2000"/>
                                        <p:tgtEl>
                                          <p:spTgt spid="2355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3555">
                                            <p:txEl>
                                              <p:pRg st="5" end="5"/>
                                            </p:txEl>
                                          </p:spTgt>
                                        </p:tgtEl>
                                        <p:attrNameLst>
                                          <p:attrName>style.visibility</p:attrName>
                                        </p:attrNameLst>
                                      </p:cBhvr>
                                      <p:to>
                                        <p:strVal val="visible"/>
                                      </p:to>
                                    </p:set>
                                    <p:anim calcmode="lin" valueType="num">
                                      <p:cBhvr additive="base">
                                        <p:cTn id="17" dur="500" fill="hold"/>
                                        <p:tgtEl>
                                          <p:spTgt spid="23555">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355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相关法律法规</a:t>
            </a:r>
            <a:endParaRPr lang="zh-CN" altLang="en-US" sz="3200" b="1" dirty="0">
              <a:latin typeface="华文楷体" panose="02010600040101010101" pitchFamily="2" charset="-122"/>
              <a:ea typeface="华文楷体" panose="02010600040101010101" pitchFamily="2" charset="-122"/>
            </a:endParaRPr>
          </a:p>
        </p:txBody>
      </p:sp>
      <p:sp>
        <p:nvSpPr>
          <p:cNvPr id="97283" name="内容占位符 2"/>
          <p:cNvSpPr>
            <a:spLocks noGrp="1"/>
          </p:cNvSpPr>
          <p:nvPr>
            <p:ph idx="1"/>
          </p:nvPr>
        </p:nvSpPr>
        <p:spPr>
          <a:xfrm>
            <a:off x="381000" y="1143000"/>
            <a:ext cx="8305800" cy="5562600"/>
          </a:xfrm>
        </p:spPr>
        <p:txBody>
          <a:bodyPr vert="horz" wrap="square" lIns="91440" tIns="45720" rIns="91440" bIns="45720" anchor="t" anchorCtr="0"/>
          <a:lstStyle/>
          <a:p>
            <a:pPr marL="0" indent="0">
              <a:buNone/>
            </a:pPr>
            <a:r>
              <a:rPr lang="zh-CN" altLang="en-US" sz="2800" dirty="0">
                <a:latin typeface="华文楷体" panose="02010600040101010101" pitchFamily="2" charset="-122"/>
                <a:ea typeface="华文楷体" panose="02010600040101010101" pitchFamily="2" charset="-122"/>
              </a:rPr>
              <a:t> 补充：网络安全法</a:t>
            </a:r>
            <a:endParaRPr lang="en-US" altLang="zh-CN" sz="2800" dirty="0">
              <a:latin typeface="华文楷体" panose="02010600040101010101" pitchFamily="2" charset="-122"/>
              <a:ea typeface="华文楷体" panose="02010600040101010101" pitchFamily="2" charset="-122"/>
            </a:endParaRPr>
          </a:p>
          <a:p>
            <a:pPr marL="0" indent="0">
              <a:buNone/>
            </a:pPr>
            <a:r>
              <a:rPr lang="en-US" altLang="zh-CN" sz="2800" b="1" dirty="0">
                <a:latin typeface="华文楷体" panose="02010600040101010101" pitchFamily="2" charset="-122"/>
                <a:ea typeface="华文楷体" panose="02010600040101010101" pitchFamily="2" charset="-122"/>
              </a:rPr>
              <a:t>    </a:t>
            </a:r>
            <a:r>
              <a:rPr lang="zh-CN" altLang="zh-CN" sz="2800" b="1" dirty="0">
                <a:latin typeface="华文楷体" panose="02010600040101010101" pitchFamily="2" charset="-122"/>
                <a:ea typeface="华文楷体" panose="02010600040101010101" pitchFamily="2" charset="-122"/>
              </a:rPr>
              <a:t>五、《网络安全法》完善了网络安全义务和责任，加大了违法惩处力度</a:t>
            </a:r>
            <a:endParaRPr lang="zh-CN" altLang="zh-CN" sz="28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《网络安全法》将原来散见于各种法规、规章中的规定上升到人大法律层面，对网络运营者等主体的法律义务和责任做了</a:t>
            </a:r>
            <a:r>
              <a:rPr lang="zh-CN" altLang="zh-CN" sz="2400" dirty="0">
                <a:solidFill>
                  <a:srgbClr val="FF0000"/>
                </a:solidFill>
                <a:latin typeface="华文楷体" panose="02010600040101010101" pitchFamily="2" charset="-122"/>
                <a:ea typeface="华文楷体" panose="02010600040101010101" pitchFamily="2" charset="-122"/>
              </a:rPr>
              <a:t>全面规定</a:t>
            </a:r>
            <a:r>
              <a:rPr lang="zh-CN" altLang="zh-CN" sz="2400" dirty="0">
                <a:latin typeface="华文楷体" panose="02010600040101010101" pitchFamily="2" charset="-122"/>
                <a:ea typeface="华文楷体" panose="02010600040101010101" pitchFamily="2" charset="-122"/>
              </a:rPr>
              <a:t>，包括守法义务，遵守社会公德、商业道德义务，诚实信用义务，网络安全保护义务，接受监督义务，承担社会责任等，并在</a:t>
            </a:r>
            <a:r>
              <a:rPr lang="en-US" altLang="zh-CN" sz="2400" dirty="0">
                <a:latin typeface="华文楷体" panose="02010600040101010101" pitchFamily="2" charset="-122"/>
                <a:ea typeface="华文楷体" panose="02010600040101010101" pitchFamily="2" charset="-122"/>
              </a:rPr>
              <a:t>“</a:t>
            </a:r>
            <a:r>
              <a:rPr lang="zh-CN" altLang="zh-CN" sz="2400" dirty="0">
                <a:latin typeface="华文楷体" panose="02010600040101010101" pitchFamily="2" charset="-122"/>
                <a:ea typeface="华文楷体" panose="02010600040101010101" pitchFamily="2" charset="-122"/>
              </a:rPr>
              <a:t>网络运行安全</a:t>
            </a:r>
            <a:r>
              <a:rPr lang="en-US" altLang="zh-CN" sz="2400" dirty="0">
                <a:latin typeface="华文楷体" panose="02010600040101010101" pitchFamily="2" charset="-122"/>
                <a:ea typeface="华文楷体" panose="02010600040101010101" pitchFamily="2" charset="-122"/>
              </a:rPr>
              <a:t>”</a:t>
            </a:r>
            <a:r>
              <a:rPr lang="zh-CN" altLang="zh-CN"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t>
            </a:r>
            <a:r>
              <a:rPr lang="zh-CN" altLang="zh-CN" sz="2400" dirty="0">
                <a:latin typeface="华文楷体" panose="02010600040101010101" pitchFamily="2" charset="-122"/>
                <a:ea typeface="华文楷体" panose="02010600040101010101" pitchFamily="2" charset="-122"/>
              </a:rPr>
              <a:t>网络信息安全</a:t>
            </a:r>
            <a:r>
              <a:rPr lang="en-US" altLang="zh-CN" sz="2400" dirty="0">
                <a:latin typeface="华文楷体" panose="02010600040101010101" pitchFamily="2" charset="-122"/>
                <a:ea typeface="华文楷体" panose="02010600040101010101" pitchFamily="2" charset="-122"/>
              </a:rPr>
              <a:t>”</a:t>
            </a:r>
            <a:r>
              <a:rPr lang="zh-CN" altLang="zh-CN"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t>
            </a:r>
            <a:r>
              <a:rPr lang="zh-CN" altLang="zh-CN" sz="2400" dirty="0">
                <a:latin typeface="华文楷体" panose="02010600040101010101" pitchFamily="2" charset="-122"/>
                <a:ea typeface="华文楷体" panose="02010600040101010101" pitchFamily="2" charset="-122"/>
              </a:rPr>
              <a:t>监测预警与应急处置</a:t>
            </a:r>
            <a:r>
              <a:rPr lang="en-US" altLang="zh-CN" sz="2400" dirty="0">
                <a:latin typeface="华文楷体" panose="02010600040101010101" pitchFamily="2" charset="-122"/>
                <a:ea typeface="华文楷体" panose="02010600040101010101" pitchFamily="2" charset="-122"/>
              </a:rPr>
              <a:t>”</a:t>
            </a:r>
            <a:r>
              <a:rPr lang="zh-CN" altLang="zh-CN" sz="2400" dirty="0">
                <a:latin typeface="华文楷体" panose="02010600040101010101" pitchFamily="2" charset="-122"/>
                <a:ea typeface="华文楷体" panose="02010600040101010101" pitchFamily="2" charset="-122"/>
              </a:rPr>
              <a:t>等章节中进一步明确、细化。</a:t>
            </a:r>
            <a:endParaRPr lang="en-US" altLang="zh-CN" sz="24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在</a:t>
            </a:r>
            <a:r>
              <a:rPr lang="en-US" altLang="zh-CN" sz="2400" dirty="0">
                <a:latin typeface="华文楷体" panose="02010600040101010101" pitchFamily="2" charset="-122"/>
                <a:ea typeface="华文楷体" panose="02010600040101010101" pitchFamily="2" charset="-122"/>
              </a:rPr>
              <a:t>“</a:t>
            </a:r>
            <a:r>
              <a:rPr lang="zh-CN" altLang="zh-CN" sz="2400" dirty="0">
                <a:latin typeface="华文楷体" panose="02010600040101010101" pitchFamily="2" charset="-122"/>
                <a:ea typeface="华文楷体" panose="02010600040101010101" pitchFamily="2" charset="-122"/>
              </a:rPr>
              <a:t>法律责任</a:t>
            </a:r>
            <a:r>
              <a:rPr lang="en-US" altLang="zh-CN" sz="2400" dirty="0">
                <a:latin typeface="华文楷体" panose="02010600040101010101" pitchFamily="2" charset="-122"/>
                <a:ea typeface="华文楷体" panose="02010600040101010101" pitchFamily="2" charset="-122"/>
              </a:rPr>
              <a:t>”</a:t>
            </a:r>
            <a:r>
              <a:rPr lang="zh-CN" altLang="zh-CN" sz="2400" dirty="0">
                <a:latin typeface="华文楷体" panose="02010600040101010101" pitchFamily="2" charset="-122"/>
                <a:ea typeface="华文楷体" panose="02010600040101010101" pitchFamily="2" charset="-122"/>
              </a:rPr>
              <a:t>中则</a:t>
            </a:r>
            <a:r>
              <a:rPr lang="zh-CN" altLang="zh-CN" sz="2400" dirty="0">
                <a:solidFill>
                  <a:srgbClr val="FF0000"/>
                </a:solidFill>
                <a:latin typeface="华文楷体" panose="02010600040101010101" pitchFamily="2" charset="-122"/>
                <a:ea typeface="华文楷体" panose="02010600040101010101" pitchFamily="2" charset="-122"/>
              </a:rPr>
              <a:t>提高了违法行为的处罚标准，加大了处罚力度</a:t>
            </a:r>
            <a:r>
              <a:rPr lang="zh-CN" altLang="zh-CN" sz="2400" dirty="0">
                <a:latin typeface="华文楷体" panose="02010600040101010101" pitchFamily="2" charset="-122"/>
                <a:ea typeface="华文楷体" panose="02010600040101010101" pitchFamily="2" charset="-122"/>
              </a:rPr>
              <a:t>，有利于保障《网络安全法》的实施。</a:t>
            </a:r>
            <a:endParaRPr lang="zh-CN" altLang="en-US" sz="1200"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7283">
                                            <p:txEl>
                                              <p:pRg st="2" end="2"/>
                                            </p:txEl>
                                          </p:spTgt>
                                        </p:tgtEl>
                                        <p:attrNameLst>
                                          <p:attrName>style.visibility</p:attrName>
                                        </p:attrNameLst>
                                      </p:cBhvr>
                                      <p:to>
                                        <p:strVal val="visible"/>
                                      </p:to>
                                    </p:set>
                                    <p:animEffect transition="in" filter="wipe(down)">
                                      <p:cBhvr>
                                        <p:cTn id="7" dur="500"/>
                                        <p:tgtEl>
                                          <p:spTgt spid="9728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7283">
                                            <p:txEl>
                                              <p:pRg st="3" end="3"/>
                                            </p:txEl>
                                          </p:spTgt>
                                        </p:tgtEl>
                                        <p:attrNameLst>
                                          <p:attrName>style.visibility</p:attrName>
                                        </p:attrNameLst>
                                      </p:cBhvr>
                                      <p:to>
                                        <p:strVal val="visible"/>
                                      </p:to>
                                    </p:set>
                                    <p:animEffect transition="in" filter="wipe(down)">
                                      <p:cBhvr>
                                        <p:cTn id="12" dur="500"/>
                                        <p:tgtEl>
                                          <p:spTgt spid="972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相关法律法规</a:t>
            </a:r>
            <a:endParaRPr lang="zh-CN" altLang="en-US" sz="3200" b="1" dirty="0">
              <a:latin typeface="华文楷体" panose="02010600040101010101" pitchFamily="2" charset="-122"/>
              <a:ea typeface="华文楷体" panose="02010600040101010101" pitchFamily="2" charset="-122"/>
            </a:endParaRPr>
          </a:p>
        </p:txBody>
      </p:sp>
      <p:sp>
        <p:nvSpPr>
          <p:cNvPr id="33795" name="内容占位符 2"/>
          <p:cNvSpPr>
            <a:spLocks noGrp="1" noChangeArrowheads="1"/>
          </p:cNvSpPr>
          <p:nvPr>
            <p:ph idx="1"/>
          </p:nvPr>
        </p:nvSpPr>
        <p:spPr>
          <a:xfrm>
            <a:off x="381000" y="1143000"/>
            <a:ext cx="8305800" cy="55626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补充：网络安全法</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六、《网络安全法》将监测预警与应急处置措施制度化、法制化</a:t>
            </a:r>
            <a:endPar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《网络安全法》第五章</a:t>
            </a:r>
            <a:r>
              <a:rPr kumimoji="0" lang="zh-CN" altLang="zh-CN" sz="24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ea"/>
              </a:rPr>
              <a:t>将监测预警与应急处置</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工作制度化、法制化，明确国家建立网络安全监测预警和信息通报制度，</a:t>
            </a:r>
            <a:r>
              <a:rPr kumimoji="0" lang="zh-CN" altLang="zh-CN" sz="2400" b="0" i="0" u="sng" strike="noStrike" kern="0" cap="none" spc="0" normalizeH="0" baseline="0" noProof="0" dirty="0" smtClean="0">
                <a:ln>
                  <a:noFill/>
                </a:ln>
                <a:solidFill>
                  <a:srgbClr val="FF0000"/>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ea"/>
              </a:rPr>
              <a:t>建立网络安全风险评估和应急工作机制</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，制定网络安全事件应急预案并定期演练。</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这为建立统一高效的网络安全风险报告机制、情报共享机制、研判处置机制提供了法律依据，为深化网络安全防护体系</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实现全天候全方位感知网络安全态势提供了法律保障。</a:t>
            </a:r>
            <a:endParaRPr kumimoji="0" lang="zh-CN" altLang="en-US" sz="12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795">
                                            <p:txEl>
                                              <p:pRg st="2" end="2"/>
                                            </p:txEl>
                                          </p:spTgt>
                                        </p:tgtEl>
                                        <p:attrNameLst>
                                          <p:attrName>style.visibility</p:attrName>
                                        </p:attrNameLst>
                                      </p:cBhvr>
                                      <p:to>
                                        <p:strVal val="visible"/>
                                      </p:to>
                                    </p:set>
                                    <p:animEffect transition="in" filter="wipe(down)">
                                      <p:cBhvr>
                                        <p:cTn id="7" dur="500"/>
                                        <p:tgtEl>
                                          <p:spTgt spid="3379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3795">
                                            <p:txEl>
                                              <p:pRg st="3" end="3"/>
                                            </p:txEl>
                                          </p:spTgt>
                                        </p:tgtEl>
                                        <p:attrNameLst>
                                          <p:attrName>style.visibility</p:attrName>
                                        </p:attrNameLst>
                                      </p:cBhvr>
                                      <p:to>
                                        <p:strVal val="visible"/>
                                      </p:to>
                                    </p:set>
                                    <p:anim calcmode="lin" valueType="num">
                                      <p:cBhvr additive="base">
                                        <p:cTn id="12" dur="500" fill="hold"/>
                                        <p:tgtEl>
                                          <p:spTgt spid="33795">
                                            <p:txEl>
                                              <p:pRg st="3" end="3"/>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379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p:cNvSpPr>
            <a:spLocks noGrp="1"/>
          </p:cNvSpPr>
          <p:nvPr>
            <p:ph type="title"/>
          </p:nvPr>
        </p:nvSpPr>
        <p:spPr/>
        <p:txBody>
          <a:bodyPr vert="horz" wrap="square" lIns="91440" tIns="45720" rIns="91440" bIns="45720" anchor="ctr" anchorCtr="0"/>
          <a:lstStyle/>
          <a:p>
            <a:pPr eaLnBrk="1" hangingPunct="1"/>
            <a:r>
              <a:rPr lang="zh-CN" altLang="en-US" b="1" dirty="0">
                <a:latin typeface="华文楷体" panose="02010600040101010101" pitchFamily="2" charset="-122"/>
                <a:ea typeface="华文楷体" panose="02010600040101010101" pitchFamily="2" charset="-122"/>
              </a:rPr>
              <a:t>相关法律法规</a:t>
            </a:r>
            <a:endParaRPr lang="zh-CN" altLang="en-US" b="1" dirty="0">
              <a:latin typeface="华文楷体" panose="02010600040101010101" pitchFamily="2" charset="-122"/>
              <a:ea typeface="华文楷体" panose="02010600040101010101" pitchFamily="2" charset="-122"/>
            </a:endParaRPr>
          </a:p>
        </p:txBody>
      </p:sp>
      <p:sp>
        <p:nvSpPr>
          <p:cNvPr id="26627" name="内容占位符 2"/>
          <p:cNvSpPr>
            <a:spLocks noGrp="1" noChangeArrowheads="1"/>
          </p:cNvSpPr>
          <p:nvPr>
            <p:ph idx="1"/>
          </p:nvPr>
        </p:nvSpPr>
        <p:spPr>
          <a:xfrm>
            <a:off x="381000" y="1143000"/>
            <a:ext cx="8305800" cy="55626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补充：网络安全法，课下阅读</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pic>
        <p:nvPicPr>
          <p:cNvPr id="99332" name="图片 1"/>
          <p:cNvPicPr>
            <a:picLocks noChangeAspect="1"/>
          </p:cNvPicPr>
          <p:nvPr/>
        </p:nvPicPr>
        <p:blipFill>
          <a:blip r:embed="rId1"/>
          <a:stretch>
            <a:fillRect/>
          </a:stretch>
        </p:blipFill>
        <p:spPr>
          <a:xfrm>
            <a:off x="838200" y="1752600"/>
            <a:ext cx="3429000" cy="4572000"/>
          </a:xfrm>
          <a:prstGeom prst="rect">
            <a:avLst/>
          </a:prstGeom>
          <a:noFill/>
          <a:ln w="9525">
            <a:noFill/>
          </a:ln>
        </p:spPr>
      </p:pic>
      <p:pic>
        <p:nvPicPr>
          <p:cNvPr id="99333" name="图片 2"/>
          <p:cNvPicPr>
            <a:picLocks noChangeAspect="1"/>
          </p:cNvPicPr>
          <p:nvPr/>
        </p:nvPicPr>
        <p:blipFill>
          <a:blip r:embed="rId2"/>
          <a:stretch>
            <a:fillRect/>
          </a:stretch>
        </p:blipFill>
        <p:spPr>
          <a:xfrm>
            <a:off x="4572000" y="1770063"/>
            <a:ext cx="3432175" cy="4576762"/>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9332"/>
                                        </p:tgtEl>
                                        <p:attrNameLst>
                                          <p:attrName>style.visibility</p:attrName>
                                        </p:attrNameLst>
                                      </p:cBhvr>
                                      <p:to>
                                        <p:strVal val="visible"/>
                                      </p:to>
                                    </p:set>
                                    <p:animEffect transition="in" filter="wipe(down)">
                                      <p:cBhvr>
                                        <p:cTn id="7" dur="500"/>
                                        <p:tgtEl>
                                          <p:spTgt spid="9933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9333"/>
                                        </p:tgtEl>
                                        <p:attrNameLst>
                                          <p:attrName>style.visibility</p:attrName>
                                        </p:attrNameLst>
                                      </p:cBhvr>
                                      <p:to>
                                        <p:strVal val="visible"/>
                                      </p:to>
                                    </p:set>
                                    <p:animEffect transition="in" filter="fade">
                                      <p:cBhvr>
                                        <p:cTn id="12" dur="1000"/>
                                        <p:tgtEl>
                                          <p:spTgt spid="99333"/>
                                        </p:tgtEl>
                                      </p:cBhvr>
                                    </p:animEffect>
                                    <p:anim calcmode="lin" valueType="num">
                                      <p:cBhvr>
                                        <p:cTn id="13" dur="1000" fill="hold"/>
                                        <p:tgtEl>
                                          <p:spTgt spid="99333"/>
                                        </p:tgtEl>
                                        <p:attrNameLst>
                                          <p:attrName>ppt_x</p:attrName>
                                        </p:attrNameLst>
                                      </p:cBhvr>
                                      <p:tavLst>
                                        <p:tav tm="0">
                                          <p:val>
                                            <p:strVal val="#ppt_x"/>
                                          </p:val>
                                        </p:tav>
                                        <p:tav tm="100000">
                                          <p:val>
                                            <p:strVal val="#ppt_x"/>
                                          </p:val>
                                        </p:tav>
                                      </p:tavLst>
                                    </p:anim>
                                    <p:anim calcmode="lin" valueType="num">
                                      <p:cBhvr>
                                        <p:cTn id="14" dur="1000" fill="hold"/>
                                        <p:tgtEl>
                                          <p:spTgt spid="993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Line 11"/>
          <p:cNvSpPr/>
          <p:nvPr/>
        </p:nvSpPr>
        <p:spPr>
          <a:xfrm>
            <a:off x="2057400" y="2133600"/>
            <a:ext cx="5791200" cy="1588"/>
          </a:xfrm>
          <a:prstGeom prst="line">
            <a:avLst/>
          </a:prstGeom>
          <a:ln w="25400" cap="flat" cmpd="sng">
            <a:solidFill>
              <a:srgbClr val="C0C0C0"/>
            </a:solidFill>
            <a:prstDash val="sysDot"/>
            <a:round/>
            <a:headEnd type="none" w="med" len="med"/>
            <a:tailEnd type="oval" w="med" len="med"/>
          </a:ln>
        </p:spPr>
      </p:sp>
      <p:sp>
        <p:nvSpPr>
          <p:cNvPr id="21506" name="Line 14"/>
          <p:cNvSpPr/>
          <p:nvPr/>
        </p:nvSpPr>
        <p:spPr>
          <a:xfrm flipV="1">
            <a:off x="2057400" y="2984500"/>
            <a:ext cx="5791200" cy="33338"/>
          </a:xfrm>
          <a:prstGeom prst="line">
            <a:avLst/>
          </a:prstGeom>
          <a:ln w="25400" cap="flat" cmpd="sng">
            <a:solidFill>
              <a:srgbClr val="C0C0C0"/>
            </a:solidFill>
            <a:prstDash val="sysDot"/>
            <a:round/>
            <a:headEnd type="none" w="med" len="med"/>
            <a:tailEnd type="oval" w="med" len="med"/>
          </a:ln>
        </p:spPr>
      </p:sp>
      <p:sp>
        <p:nvSpPr>
          <p:cNvPr id="21507" name="Line 25"/>
          <p:cNvSpPr/>
          <p:nvPr/>
        </p:nvSpPr>
        <p:spPr>
          <a:xfrm flipV="1">
            <a:off x="1981200" y="3932238"/>
            <a:ext cx="5867400" cy="17462"/>
          </a:xfrm>
          <a:prstGeom prst="line">
            <a:avLst/>
          </a:prstGeom>
          <a:ln w="25400" cap="flat" cmpd="sng">
            <a:solidFill>
              <a:srgbClr val="C0C0C0"/>
            </a:solidFill>
            <a:prstDash val="sysDot"/>
            <a:round/>
            <a:headEnd type="none" w="med" len="med"/>
            <a:tailEnd type="oval" w="med" len="med"/>
          </a:ln>
        </p:spPr>
      </p:sp>
      <p:sp>
        <p:nvSpPr>
          <p:cNvPr id="21508" name="Line 25"/>
          <p:cNvSpPr/>
          <p:nvPr/>
        </p:nvSpPr>
        <p:spPr>
          <a:xfrm flipV="1">
            <a:off x="1998663" y="4824413"/>
            <a:ext cx="5849937" cy="17462"/>
          </a:xfrm>
          <a:prstGeom prst="line">
            <a:avLst/>
          </a:prstGeom>
          <a:ln w="25400" cap="flat" cmpd="sng">
            <a:solidFill>
              <a:srgbClr val="C0C0C0"/>
            </a:solidFill>
            <a:prstDash val="sysDot"/>
            <a:round/>
            <a:headEnd type="none" w="med" len="med"/>
            <a:tailEnd type="oval" w="med" len="med"/>
          </a:ln>
        </p:spPr>
      </p:sp>
      <p:sp>
        <p:nvSpPr>
          <p:cNvPr id="21509" name="Rectangle 2"/>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本章授课内容</a:t>
            </a:r>
            <a:endParaRPr lang="en-US" altLang="zh-CN" b="1" dirty="0">
              <a:ea typeface="宋体" panose="02010600030101010101" pitchFamily="2" charset="-122"/>
            </a:endParaRPr>
          </a:p>
        </p:txBody>
      </p:sp>
      <p:grpSp>
        <p:nvGrpSpPr>
          <p:cNvPr id="21510" name="Group 3"/>
          <p:cNvGrpSpPr/>
          <p:nvPr/>
        </p:nvGrpSpPr>
        <p:grpSpPr>
          <a:xfrm>
            <a:off x="1524000" y="1524000"/>
            <a:ext cx="762000" cy="665163"/>
            <a:chOff x="1110" y="2656"/>
            <a:chExt cx="1549" cy="1351"/>
          </a:xfrm>
        </p:grpSpPr>
        <p:sp>
          <p:nvSpPr>
            <p:cNvPr id="21511"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1512"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grpSp>
        <p:nvGrpSpPr>
          <p:cNvPr id="21514" name="Group 7"/>
          <p:cNvGrpSpPr/>
          <p:nvPr/>
        </p:nvGrpSpPr>
        <p:grpSpPr>
          <a:xfrm>
            <a:off x="1524000" y="2374900"/>
            <a:ext cx="762000" cy="665163"/>
            <a:chOff x="3174" y="2656"/>
            <a:chExt cx="1549" cy="1351"/>
          </a:xfrm>
        </p:grpSpPr>
        <p:sp>
          <p:nvSpPr>
            <p:cNvPr id="21515"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1516"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sp>
        <p:nvSpPr>
          <p:cNvPr id="21518" name="Text Box 12"/>
          <p:cNvSpPr txBox="1"/>
          <p:nvPr/>
        </p:nvSpPr>
        <p:spPr>
          <a:xfrm>
            <a:off x="2362200" y="1581150"/>
            <a:ext cx="5638800" cy="523875"/>
          </a:xfrm>
          <a:prstGeom prst="rect">
            <a:avLst/>
          </a:prstGeom>
          <a:noFill/>
          <a:ln w="9525">
            <a:noFill/>
          </a:ln>
        </p:spPr>
        <p:txBody>
          <a:bodyPr anchor="t" anchorCtr="0">
            <a:spAutoFit/>
          </a:bodyPr>
          <a:lstStyle/>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中国信息安全信法律法规体系</a:t>
            </a:r>
            <a:endParaRPr lang="zh-CN" altLang="en-US" sz="2800" b="1" dirty="0">
              <a:solidFill>
                <a:schemeClr val="tx1"/>
              </a:solidFill>
              <a:latin typeface="华文楷体" panose="02010600040101010101" pitchFamily="2" charset="-122"/>
              <a:ea typeface="华文楷体" panose="02010600040101010101" pitchFamily="2" charset="-122"/>
            </a:endParaRPr>
          </a:p>
        </p:txBody>
      </p:sp>
      <p:sp>
        <p:nvSpPr>
          <p:cNvPr id="21519" name="Text Box 13"/>
          <p:cNvSpPr txBox="1"/>
          <p:nvPr/>
        </p:nvSpPr>
        <p:spPr>
          <a:xfrm>
            <a:off x="1733550" y="1622425"/>
            <a:ext cx="328613" cy="461963"/>
          </a:xfrm>
          <a:prstGeom prst="rect">
            <a:avLst/>
          </a:prstGeom>
          <a:noFill/>
          <a:ln w="9525">
            <a:noFill/>
          </a:ln>
        </p:spPr>
        <p:txBody>
          <a:bodyPr wrap="none" anchor="t" anchorCtr="0">
            <a:spAutoFit/>
          </a:bodyPr>
          <a:lstStyle/>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1</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21520" name="Text Box 16"/>
          <p:cNvSpPr txBox="1"/>
          <p:nvPr/>
        </p:nvSpPr>
        <p:spPr>
          <a:xfrm>
            <a:off x="1733550" y="2536825"/>
            <a:ext cx="328613" cy="461963"/>
          </a:xfrm>
          <a:prstGeom prst="rect">
            <a:avLst/>
          </a:prstGeom>
          <a:noFill/>
          <a:ln w="9525">
            <a:noFill/>
          </a:ln>
        </p:spPr>
        <p:txBody>
          <a:bodyPr wrap="none" anchor="t" anchorCtr="0">
            <a:spAutoFit/>
          </a:bodyPr>
          <a:lstStyle/>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2</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21521" name="Text Box 21"/>
          <p:cNvSpPr txBox="1"/>
          <p:nvPr/>
        </p:nvSpPr>
        <p:spPr>
          <a:xfrm>
            <a:off x="1733550" y="3429000"/>
            <a:ext cx="328613" cy="461963"/>
          </a:xfrm>
          <a:prstGeom prst="rect">
            <a:avLst/>
          </a:prstGeom>
          <a:noFill/>
          <a:ln w="9525">
            <a:noFill/>
          </a:ln>
        </p:spPr>
        <p:txBody>
          <a:bodyPr wrap="none" anchor="t" anchorCtr="0">
            <a:spAutoFit/>
          </a:bodyPr>
          <a:lstStyle/>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3</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21522" name="Text Box 24"/>
          <p:cNvSpPr txBox="1"/>
          <p:nvPr/>
        </p:nvSpPr>
        <p:spPr>
          <a:xfrm>
            <a:off x="2286000" y="2490788"/>
            <a:ext cx="5715000" cy="523875"/>
          </a:xfrm>
          <a:prstGeom prst="rect">
            <a:avLst/>
          </a:prstGeom>
          <a:noFill/>
          <a:ln w="9525">
            <a:noFill/>
          </a:ln>
        </p:spPr>
        <p:txBody>
          <a:bodyPr anchor="t" anchorCtr="0">
            <a:spAutoFit/>
          </a:bodyPr>
          <a:lstStyle/>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 信息系统安全相关法律法规</a:t>
            </a:r>
            <a:endParaRPr lang="zh-CN" altLang="en-US" sz="2800" b="1" dirty="0">
              <a:solidFill>
                <a:schemeClr val="tx1"/>
              </a:solidFill>
              <a:latin typeface="华文楷体" panose="02010600040101010101" pitchFamily="2" charset="-122"/>
              <a:ea typeface="华文楷体" panose="02010600040101010101" pitchFamily="2" charset="-122"/>
            </a:endParaRPr>
          </a:p>
        </p:txBody>
      </p:sp>
      <p:sp>
        <p:nvSpPr>
          <p:cNvPr id="21523" name="Text Box 15"/>
          <p:cNvSpPr txBox="1"/>
          <p:nvPr/>
        </p:nvSpPr>
        <p:spPr>
          <a:xfrm>
            <a:off x="2292350" y="3416300"/>
            <a:ext cx="4953000" cy="522288"/>
          </a:xfrm>
          <a:prstGeom prst="rect">
            <a:avLst/>
          </a:prstGeom>
          <a:noFill/>
          <a:ln w="9525">
            <a:noFill/>
          </a:ln>
        </p:spPr>
        <p:txBody>
          <a:bodyPr anchor="t" anchorCtr="0">
            <a:spAutoFit/>
          </a:bodyPr>
          <a:lstStyle/>
          <a:p>
            <a:pPr eaLnBrk="0" hangingPunct="0"/>
            <a:r>
              <a:rPr lang="zh-CN" altLang="en-US" sz="2800" b="1" dirty="0">
                <a:solidFill>
                  <a:srgbClr val="0D1259"/>
                </a:solidFill>
                <a:latin typeface="华文楷体" panose="02010600040101010101" pitchFamily="2" charset="-122"/>
                <a:ea typeface="华文楷体" panose="02010600040101010101" pitchFamily="2" charset="-122"/>
              </a:rPr>
              <a:t> </a:t>
            </a:r>
            <a:r>
              <a:rPr lang="zh-CN" altLang="en-US" sz="2800" b="1" dirty="0">
                <a:solidFill>
                  <a:srgbClr val="FF0000"/>
                </a:solidFill>
                <a:latin typeface="华文楷体" panose="02010600040101010101" pitchFamily="2" charset="-122"/>
                <a:ea typeface="华文楷体" panose="02010600040101010101" pitchFamily="2" charset="-122"/>
              </a:rPr>
              <a:t>互联网安全管理相关法律法规</a:t>
            </a:r>
            <a:endParaRPr lang="zh-CN" altLang="en-US" sz="2800" b="1" dirty="0">
              <a:solidFill>
                <a:srgbClr val="FF0000"/>
              </a:solidFill>
              <a:latin typeface="华文楷体" panose="02010600040101010101" pitchFamily="2" charset="-122"/>
              <a:ea typeface="华文楷体" panose="02010600040101010101" pitchFamily="2" charset="-122"/>
            </a:endParaRPr>
          </a:p>
        </p:txBody>
      </p:sp>
      <p:grpSp>
        <p:nvGrpSpPr>
          <p:cNvPr id="21524" name="Group 17"/>
          <p:cNvGrpSpPr/>
          <p:nvPr/>
        </p:nvGrpSpPr>
        <p:grpSpPr>
          <a:xfrm>
            <a:off x="1524000" y="3317875"/>
            <a:ext cx="762000" cy="665163"/>
            <a:chOff x="1110" y="2656"/>
            <a:chExt cx="1549" cy="1351"/>
          </a:xfrm>
        </p:grpSpPr>
        <p:sp>
          <p:nvSpPr>
            <p:cNvPr id="21525"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1526"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21528" name="Text Box 15"/>
          <p:cNvSpPr txBox="1"/>
          <p:nvPr/>
        </p:nvSpPr>
        <p:spPr>
          <a:xfrm>
            <a:off x="2379980" y="4348480"/>
            <a:ext cx="6875780" cy="521970"/>
          </a:xfrm>
          <a:prstGeom prst="rect">
            <a:avLst/>
          </a:prstGeom>
          <a:noFill/>
          <a:ln w="9525">
            <a:noFill/>
          </a:ln>
        </p:spPr>
        <p:txBody>
          <a:bodyPr wrap="square" anchor="t" anchorCtr="0">
            <a:spAutoFit/>
          </a:bodyPr>
          <a:lstStyle/>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其他有关信息安全的相关法律法规</a:t>
            </a:r>
            <a:endParaRPr lang="en-US" altLang="zh-CN" sz="2800" b="1" dirty="0">
              <a:solidFill>
                <a:schemeClr val="tx1"/>
              </a:solidFill>
              <a:latin typeface="华文楷体" panose="02010600040101010101" pitchFamily="2" charset="-122"/>
              <a:ea typeface="华文楷体" panose="02010600040101010101" pitchFamily="2" charset="-122"/>
            </a:endParaRPr>
          </a:p>
        </p:txBody>
      </p:sp>
      <p:grpSp>
        <p:nvGrpSpPr>
          <p:cNvPr id="21529" name="Group 17"/>
          <p:cNvGrpSpPr/>
          <p:nvPr/>
        </p:nvGrpSpPr>
        <p:grpSpPr>
          <a:xfrm>
            <a:off x="1541463" y="4210050"/>
            <a:ext cx="762000" cy="665163"/>
            <a:chOff x="1110" y="2656"/>
            <a:chExt cx="1549" cy="1351"/>
          </a:xfrm>
        </p:grpSpPr>
        <p:sp>
          <p:nvSpPr>
            <p:cNvPr id="21530"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1531"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3"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21533" name="Text Box 15"/>
          <p:cNvSpPr txBox="1"/>
          <p:nvPr/>
        </p:nvSpPr>
        <p:spPr>
          <a:xfrm>
            <a:off x="2362200" y="5114925"/>
            <a:ext cx="4953000" cy="523875"/>
          </a:xfrm>
          <a:prstGeom prst="rect">
            <a:avLst/>
          </a:prstGeom>
          <a:noFill/>
          <a:ln w="9525">
            <a:noFill/>
          </a:ln>
        </p:spPr>
        <p:txBody>
          <a:bodyPr anchor="t" anchorCtr="0">
            <a:spAutoFit/>
          </a:bodyPr>
          <a:lstStyle/>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思政点</a:t>
            </a:r>
            <a:endParaRPr lang="en-US" altLang="zh-CN" sz="2800" b="1" dirty="0">
              <a:solidFill>
                <a:schemeClr val="tx1"/>
              </a:solidFill>
              <a:latin typeface="华文楷体" panose="02010600040101010101" pitchFamily="2" charset="-122"/>
              <a:ea typeface="华文楷体" panose="02010600040101010101" pitchFamily="2" charset="-122"/>
            </a:endParaRPr>
          </a:p>
        </p:txBody>
      </p:sp>
      <p:sp>
        <p:nvSpPr>
          <p:cNvPr id="21534" name="Line 25"/>
          <p:cNvSpPr/>
          <p:nvPr/>
        </p:nvSpPr>
        <p:spPr>
          <a:xfrm flipV="1">
            <a:off x="2151063" y="5621338"/>
            <a:ext cx="5697537" cy="17462"/>
          </a:xfrm>
          <a:prstGeom prst="line">
            <a:avLst/>
          </a:prstGeom>
          <a:ln w="25400" cap="flat" cmpd="sng">
            <a:solidFill>
              <a:srgbClr val="C0C0C0"/>
            </a:solidFill>
            <a:prstDash val="sysDot"/>
            <a:round/>
            <a:headEnd type="none" w="med" len="med"/>
            <a:tailEnd type="oval" w="med" len="med"/>
          </a:ln>
        </p:spPr>
      </p:sp>
      <p:grpSp>
        <p:nvGrpSpPr>
          <p:cNvPr id="21535" name="Group 17"/>
          <p:cNvGrpSpPr/>
          <p:nvPr/>
        </p:nvGrpSpPr>
        <p:grpSpPr>
          <a:xfrm>
            <a:off x="1524000" y="5049838"/>
            <a:ext cx="762000" cy="665162"/>
            <a:chOff x="1110" y="2656"/>
            <a:chExt cx="1549" cy="1351"/>
          </a:xfrm>
        </p:grpSpPr>
        <p:sp>
          <p:nvSpPr>
            <p:cNvPr id="21536"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1537"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5</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Tree>
  </p:cSld>
  <p:clrMapOvr>
    <a:masterClrMapping/>
  </p:clrMapOvr>
  <p:transition>
    <p:blinds dir="ver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互联网安全管理相关法律法规</a:t>
            </a:r>
            <a:endParaRPr lang="zh-CN" altLang="en-US" sz="3200" b="1" dirty="0">
              <a:latin typeface="华文楷体" panose="02010600040101010101" pitchFamily="2" charset="-122"/>
              <a:ea typeface="华文楷体" panose="02010600040101010101" pitchFamily="2" charset="-122"/>
            </a:endParaRPr>
          </a:p>
        </p:txBody>
      </p:sp>
      <p:sp>
        <p:nvSpPr>
          <p:cNvPr id="33795" name="内容占位符 2"/>
          <p:cNvSpPr>
            <a:spLocks noGrp="1" noChangeArrowheads="1"/>
          </p:cNvSpPr>
          <p:nvPr>
            <p:ph idx="1"/>
          </p:nvPr>
        </p:nvSpPr>
        <p:spPr>
          <a:xfrm>
            <a:off x="381000" y="1524000"/>
            <a:ext cx="8305800" cy="28956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互联网</a:t>
            </a:r>
            <a:r>
              <a:rPr kumimoji="0" lang="zh-CN" altLang="zh-CN"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安全管理相关法律</a:t>
            </a:r>
            <a:r>
              <a:rPr kumimoji="0" lang="zh-CN"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法规</a:t>
            </a:r>
            <a:endPar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计算机信息网络国际</a:t>
            </a:r>
            <a:r>
              <a:rPr kumimoji="0" lang="zh-CN"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联网管理暂行规定实施</a:t>
            </a: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方案</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关于维护互联网安全的决定</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互联网上网服务营业场所管理条例</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互联网信息服务管理办法</a:t>
            </a:r>
            <a:endParaRPr kumimoji="0" lang="zh-CN"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互联网安全保护技术措施规定</a:t>
            </a:r>
            <a:endParaRPr kumimoji="0" lang="en-US"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animEffect transition="in" filter="blinds(horizontal)">
                                      <p:cBhvr>
                                        <p:cTn id="7" dur="500"/>
                                        <p:tgtEl>
                                          <p:spTgt spid="337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3795">
                                            <p:txEl>
                                              <p:pRg st="2" end="2"/>
                                            </p:txEl>
                                          </p:spTgt>
                                        </p:tgtEl>
                                        <p:attrNameLst>
                                          <p:attrName>style.visibility</p:attrName>
                                        </p:attrNameLst>
                                      </p:cBhvr>
                                      <p:to>
                                        <p:strVal val="visible"/>
                                      </p:to>
                                    </p:set>
                                    <p:animEffect transition="in" filter="blinds(horizontal)">
                                      <p:cBhvr>
                                        <p:cTn id="12" dur="500"/>
                                        <p:tgtEl>
                                          <p:spTgt spid="3379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3795">
                                            <p:txEl>
                                              <p:pRg st="3" end="3"/>
                                            </p:txEl>
                                          </p:spTgt>
                                        </p:tgtEl>
                                        <p:attrNameLst>
                                          <p:attrName>style.visibility</p:attrName>
                                        </p:attrNameLst>
                                      </p:cBhvr>
                                      <p:to>
                                        <p:strVal val="visible"/>
                                      </p:to>
                                    </p:set>
                                    <p:anim calcmode="lin" valueType="num">
                                      <p:cBhvr additive="base">
                                        <p:cTn id="17" dur="500" fill="hold"/>
                                        <p:tgtEl>
                                          <p:spTgt spid="3379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37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3795">
                                            <p:txEl>
                                              <p:pRg st="4" end="4"/>
                                            </p:txEl>
                                          </p:spTgt>
                                        </p:tgtEl>
                                        <p:attrNameLst>
                                          <p:attrName>style.visibility</p:attrName>
                                        </p:attrNameLst>
                                      </p:cBhvr>
                                      <p:to>
                                        <p:strVal val="visible"/>
                                      </p:to>
                                    </p:set>
                                    <p:anim calcmode="lin" valueType="num">
                                      <p:cBhvr additive="base">
                                        <p:cTn id="23" dur="500" fill="hold"/>
                                        <p:tgtEl>
                                          <p:spTgt spid="3379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37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33795">
                                            <p:txEl>
                                              <p:pRg st="5" end="5"/>
                                            </p:txEl>
                                          </p:spTgt>
                                        </p:tgtEl>
                                        <p:attrNameLst>
                                          <p:attrName>style.visibility</p:attrName>
                                        </p:attrNameLst>
                                      </p:cBhvr>
                                      <p:to>
                                        <p:strVal val="visible"/>
                                      </p:to>
                                    </p:set>
                                    <p:animEffect transition="in" filter="box(in)">
                                      <p:cBhvr>
                                        <p:cTn id="29" dur="2000"/>
                                        <p:tgtEl>
                                          <p:spTgt spid="337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Line 11"/>
          <p:cNvSpPr/>
          <p:nvPr/>
        </p:nvSpPr>
        <p:spPr>
          <a:xfrm>
            <a:off x="2057400" y="2133600"/>
            <a:ext cx="5791200" cy="1588"/>
          </a:xfrm>
          <a:prstGeom prst="line">
            <a:avLst/>
          </a:prstGeom>
          <a:ln w="25400" cap="flat" cmpd="sng">
            <a:solidFill>
              <a:srgbClr val="C0C0C0"/>
            </a:solidFill>
            <a:prstDash val="sysDot"/>
            <a:round/>
            <a:headEnd type="none" w="med" len="med"/>
            <a:tailEnd type="oval" w="med" len="med"/>
          </a:ln>
        </p:spPr>
      </p:sp>
      <p:sp>
        <p:nvSpPr>
          <p:cNvPr id="24578" name="Line 14"/>
          <p:cNvSpPr/>
          <p:nvPr/>
        </p:nvSpPr>
        <p:spPr>
          <a:xfrm flipV="1">
            <a:off x="2057400" y="2984500"/>
            <a:ext cx="5791200" cy="33338"/>
          </a:xfrm>
          <a:prstGeom prst="line">
            <a:avLst/>
          </a:prstGeom>
          <a:ln w="25400" cap="flat" cmpd="sng">
            <a:solidFill>
              <a:srgbClr val="C0C0C0"/>
            </a:solidFill>
            <a:prstDash val="sysDot"/>
            <a:round/>
            <a:headEnd type="none" w="med" len="med"/>
            <a:tailEnd type="oval" w="med" len="med"/>
          </a:ln>
        </p:spPr>
      </p:sp>
      <p:sp>
        <p:nvSpPr>
          <p:cNvPr id="24579" name="Line 25"/>
          <p:cNvSpPr/>
          <p:nvPr/>
        </p:nvSpPr>
        <p:spPr>
          <a:xfrm flipV="1">
            <a:off x="1981200" y="3932238"/>
            <a:ext cx="5867400" cy="17462"/>
          </a:xfrm>
          <a:prstGeom prst="line">
            <a:avLst/>
          </a:prstGeom>
          <a:ln w="25400" cap="flat" cmpd="sng">
            <a:solidFill>
              <a:srgbClr val="C0C0C0"/>
            </a:solidFill>
            <a:prstDash val="sysDot"/>
            <a:round/>
            <a:headEnd type="none" w="med" len="med"/>
            <a:tailEnd type="oval" w="med" len="med"/>
          </a:ln>
        </p:spPr>
      </p:sp>
      <p:sp>
        <p:nvSpPr>
          <p:cNvPr id="24580" name="Line 25"/>
          <p:cNvSpPr/>
          <p:nvPr/>
        </p:nvSpPr>
        <p:spPr>
          <a:xfrm flipV="1">
            <a:off x="1998663" y="4824413"/>
            <a:ext cx="5849937" cy="17462"/>
          </a:xfrm>
          <a:prstGeom prst="line">
            <a:avLst/>
          </a:prstGeom>
          <a:ln w="25400" cap="flat" cmpd="sng">
            <a:solidFill>
              <a:srgbClr val="C0C0C0"/>
            </a:solidFill>
            <a:prstDash val="sysDot"/>
            <a:round/>
            <a:headEnd type="none" w="med" len="med"/>
            <a:tailEnd type="oval" w="med" len="med"/>
          </a:ln>
        </p:spPr>
      </p:sp>
      <p:sp>
        <p:nvSpPr>
          <p:cNvPr id="24581" name="Rectangle 2"/>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本章授课内容</a:t>
            </a:r>
            <a:endParaRPr lang="en-US" altLang="zh-CN" b="1" dirty="0">
              <a:ea typeface="宋体" panose="02010600030101010101" pitchFamily="2" charset="-122"/>
            </a:endParaRPr>
          </a:p>
        </p:txBody>
      </p:sp>
      <p:grpSp>
        <p:nvGrpSpPr>
          <p:cNvPr id="24582" name="Group 3"/>
          <p:cNvGrpSpPr/>
          <p:nvPr/>
        </p:nvGrpSpPr>
        <p:grpSpPr>
          <a:xfrm>
            <a:off x="1524000" y="1524000"/>
            <a:ext cx="762000" cy="665163"/>
            <a:chOff x="1110" y="2656"/>
            <a:chExt cx="1549" cy="1351"/>
          </a:xfrm>
        </p:grpSpPr>
        <p:sp>
          <p:nvSpPr>
            <p:cNvPr id="24583"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4584"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grpSp>
        <p:nvGrpSpPr>
          <p:cNvPr id="24586" name="Group 7"/>
          <p:cNvGrpSpPr/>
          <p:nvPr/>
        </p:nvGrpSpPr>
        <p:grpSpPr>
          <a:xfrm>
            <a:off x="1524000" y="2374900"/>
            <a:ext cx="762000" cy="665163"/>
            <a:chOff x="3174" y="2656"/>
            <a:chExt cx="1549" cy="1351"/>
          </a:xfrm>
        </p:grpSpPr>
        <p:sp>
          <p:nvSpPr>
            <p:cNvPr id="24587"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4588"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sp>
        <p:nvSpPr>
          <p:cNvPr id="24590" name="Text Box 12"/>
          <p:cNvSpPr txBox="1"/>
          <p:nvPr/>
        </p:nvSpPr>
        <p:spPr>
          <a:xfrm>
            <a:off x="2362200" y="1581150"/>
            <a:ext cx="5638800" cy="523875"/>
          </a:xfrm>
          <a:prstGeom prst="rect">
            <a:avLst/>
          </a:prstGeom>
          <a:noFill/>
          <a:ln w="9525">
            <a:noFill/>
          </a:ln>
        </p:spPr>
        <p:txBody>
          <a:bodyPr anchor="t" anchorCtr="0">
            <a:spAutoFit/>
          </a:bodyPr>
          <a:lstStyle/>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中国信息安全信法律法规体系</a:t>
            </a:r>
            <a:endParaRPr lang="zh-CN" altLang="en-US" sz="2800" b="1" dirty="0">
              <a:solidFill>
                <a:schemeClr val="tx1"/>
              </a:solidFill>
              <a:latin typeface="华文楷体" panose="02010600040101010101" pitchFamily="2" charset="-122"/>
              <a:ea typeface="华文楷体" panose="02010600040101010101" pitchFamily="2" charset="-122"/>
            </a:endParaRPr>
          </a:p>
        </p:txBody>
      </p:sp>
      <p:sp>
        <p:nvSpPr>
          <p:cNvPr id="24591" name="Text Box 13"/>
          <p:cNvSpPr txBox="1"/>
          <p:nvPr/>
        </p:nvSpPr>
        <p:spPr>
          <a:xfrm>
            <a:off x="1733550" y="1622425"/>
            <a:ext cx="328613" cy="461963"/>
          </a:xfrm>
          <a:prstGeom prst="rect">
            <a:avLst/>
          </a:prstGeom>
          <a:noFill/>
          <a:ln w="9525">
            <a:noFill/>
          </a:ln>
        </p:spPr>
        <p:txBody>
          <a:bodyPr wrap="none" anchor="t" anchorCtr="0">
            <a:spAutoFit/>
          </a:bodyPr>
          <a:lstStyle/>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1</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24592" name="Text Box 16"/>
          <p:cNvSpPr txBox="1"/>
          <p:nvPr/>
        </p:nvSpPr>
        <p:spPr>
          <a:xfrm>
            <a:off x="1733550" y="2536825"/>
            <a:ext cx="328613" cy="461963"/>
          </a:xfrm>
          <a:prstGeom prst="rect">
            <a:avLst/>
          </a:prstGeom>
          <a:noFill/>
          <a:ln w="9525">
            <a:noFill/>
          </a:ln>
        </p:spPr>
        <p:txBody>
          <a:bodyPr wrap="none" anchor="t" anchorCtr="0">
            <a:spAutoFit/>
          </a:bodyPr>
          <a:lstStyle/>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2</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24593" name="Text Box 21"/>
          <p:cNvSpPr txBox="1"/>
          <p:nvPr/>
        </p:nvSpPr>
        <p:spPr>
          <a:xfrm>
            <a:off x="1733550" y="3429000"/>
            <a:ext cx="328613" cy="461963"/>
          </a:xfrm>
          <a:prstGeom prst="rect">
            <a:avLst/>
          </a:prstGeom>
          <a:noFill/>
          <a:ln w="9525">
            <a:noFill/>
          </a:ln>
        </p:spPr>
        <p:txBody>
          <a:bodyPr wrap="none" anchor="t" anchorCtr="0">
            <a:spAutoFit/>
          </a:bodyPr>
          <a:lstStyle/>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3</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24594" name="Text Box 24"/>
          <p:cNvSpPr txBox="1"/>
          <p:nvPr/>
        </p:nvSpPr>
        <p:spPr>
          <a:xfrm>
            <a:off x="2286000" y="2490788"/>
            <a:ext cx="5715000" cy="523875"/>
          </a:xfrm>
          <a:prstGeom prst="rect">
            <a:avLst/>
          </a:prstGeom>
          <a:noFill/>
          <a:ln w="9525">
            <a:noFill/>
          </a:ln>
        </p:spPr>
        <p:txBody>
          <a:bodyPr anchor="t" anchorCtr="0">
            <a:spAutoFit/>
          </a:bodyPr>
          <a:lstStyle/>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 信息系统安全相关法律法规</a:t>
            </a:r>
            <a:endParaRPr lang="zh-CN" altLang="en-US" sz="2800" b="1" dirty="0">
              <a:solidFill>
                <a:schemeClr val="tx1"/>
              </a:solidFill>
              <a:latin typeface="华文楷体" panose="02010600040101010101" pitchFamily="2" charset="-122"/>
              <a:ea typeface="华文楷体" panose="02010600040101010101" pitchFamily="2" charset="-122"/>
            </a:endParaRPr>
          </a:p>
        </p:txBody>
      </p:sp>
      <p:sp>
        <p:nvSpPr>
          <p:cNvPr id="24595" name="Text Box 15"/>
          <p:cNvSpPr txBox="1"/>
          <p:nvPr/>
        </p:nvSpPr>
        <p:spPr>
          <a:xfrm>
            <a:off x="2292350" y="3416300"/>
            <a:ext cx="4953000" cy="522288"/>
          </a:xfrm>
          <a:prstGeom prst="rect">
            <a:avLst/>
          </a:prstGeom>
          <a:noFill/>
          <a:ln w="9525">
            <a:noFill/>
          </a:ln>
        </p:spPr>
        <p:txBody>
          <a:bodyPr anchor="t" anchorCtr="0">
            <a:spAutoFit/>
          </a:bodyPr>
          <a:lstStyle/>
          <a:p>
            <a:pPr eaLnBrk="0" hangingPunct="0"/>
            <a:r>
              <a:rPr lang="zh-CN" altLang="en-US" sz="2800" b="1" dirty="0">
                <a:solidFill>
                  <a:srgbClr val="0D1259"/>
                </a:solidFill>
                <a:latin typeface="华文楷体" panose="02010600040101010101" pitchFamily="2" charset="-122"/>
                <a:ea typeface="华文楷体" panose="02010600040101010101" pitchFamily="2" charset="-122"/>
              </a:rPr>
              <a:t> 互联网安全管理相关法律法规</a:t>
            </a:r>
            <a:endParaRPr lang="zh-CN" altLang="en-US" sz="2800" b="1" dirty="0">
              <a:solidFill>
                <a:srgbClr val="0D1259"/>
              </a:solidFill>
              <a:latin typeface="华文楷体" panose="02010600040101010101" pitchFamily="2" charset="-122"/>
              <a:ea typeface="华文楷体" panose="02010600040101010101" pitchFamily="2" charset="-122"/>
            </a:endParaRPr>
          </a:p>
        </p:txBody>
      </p:sp>
      <p:grpSp>
        <p:nvGrpSpPr>
          <p:cNvPr id="24596" name="Group 17"/>
          <p:cNvGrpSpPr/>
          <p:nvPr/>
        </p:nvGrpSpPr>
        <p:grpSpPr>
          <a:xfrm>
            <a:off x="1524000" y="3317875"/>
            <a:ext cx="762000" cy="665163"/>
            <a:chOff x="1110" y="2656"/>
            <a:chExt cx="1549" cy="1351"/>
          </a:xfrm>
        </p:grpSpPr>
        <p:sp>
          <p:nvSpPr>
            <p:cNvPr id="24597"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4598"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24600" name="Text Box 15"/>
          <p:cNvSpPr txBox="1"/>
          <p:nvPr/>
        </p:nvSpPr>
        <p:spPr>
          <a:xfrm>
            <a:off x="2379663" y="4348163"/>
            <a:ext cx="4953000" cy="521970"/>
          </a:xfrm>
          <a:prstGeom prst="rect">
            <a:avLst/>
          </a:prstGeom>
          <a:noFill/>
          <a:ln w="9525">
            <a:noFill/>
          </a:ln>
        </p:spPr>
        <p:txBody>
          <a:bodyPr anchor="t" anchorCtr="0">
            <a:spAutoFit/>
          </a:bodyPr>
          <a:lstStyle/>
          <a:p>
            <a:pPr eaLnBrk="0" hangingPunct="0"/>
            <a:r>
              <a:rPr lang="zh-CN" altLang="en-US" sz="2800" b="1" dirty="0">
                <a:solidFill>
                  <a:srgbClr val="FF0000"/>
                </a:solidFill>
                <a:latin typeface="华文楷体" panose="02010600040101010101" pitchFamily="2" charset="-122"/>
                <a:ea typeface="华文楷体" panose="02010600040101010101" pitchFamily="2" charset="-122"/>
              </a:rPr>
              <a:t>其他有关信息安全的法律法规</a:t>
            </a:r>
            <a:endParaRPr lang="en-US" altLang="zh-CN" sz="2800" b="1" dirty="0">
              <a:solidFill>
                <a:srgbClr val="FF0000"/>
              </a:solidFill>
              <a:latin typeface="华文楷体" panose="02010600040101010101" pitchFamily="2" charset="-122"/>
              <a:ea typeface="华文楷体" panose="02010600040101010101" pitchFamily="2" charset="-122"/>
            </a:endParaRPr>
          </a:p>
        </p:txBody>
      </p:sp>
      <p:grpSp>
        <p:nvGrpSpPr>
          <p:cNvPr id="24601" name="Group 17"/>
          <p:cNvGrpSpPr/>
          <p:nvPr/>
        </p:nvGrpSpPr>
        <p:grpSpPr>
          <a:xfrm>
            <a:off x="1541463" y="4210050"/>
            <a:ext cx="762000" cy="665163"/>
            <a:chOff x="1110" y="2656"/>
            <a:chExt cx="1549" cy="1351"/>
          </a:xfrm>
        </p:grpSpPr>
        <p:sp>
          <p:nvSpPr>
            <p:cNvPr id="24602"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4603"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3"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24605" name="Text Box 15"/>
          <p:cNvSpPr txBox="1"/>
          <p:nvPr/>
        </p:nvSpPr>
        <p:spPr>
          <a:xfrm>
            <a:off x="2362200" y="5114925"/>
            <a:ext cx="4953000" cy="523875"/>
          </a:xfrm>
          <a:prstGeom prst="rect">
            <a:avLst/>
          </a:prstGeom>
          <a:noFill/>
          <a:ln w="9525">
            <a:noFill/>
          </a:ln>
        </p:spPr>
        <p:txBody>
          <a:bodyPr anchor="t" anchorCtr="0">
            <a:spAutoFit/>
          </a:bodyPr>
          <a:lstStyle/>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思政点</a:t>
            </a:r>
            <a:endParaRPr lang="en-US" altLang="zh-CN" sz="2800" b="1" dirty="0">
              <a:solidFill>
                <a:schemeClr val="tx1"/>
              </a:solidFill>
              <a:latin typeface="华文楷体" panose="02010600040101010101" pitchFamily="2" charset="-122"/>
              <a:ea typeface="华文楷体" panose="02010600040101010101" pitchFamily="2" charset="-122"/>
            </a:endParaRPr>
          </a:p>
        </p:txBody>
      </p:sp>
      <p:sp>
        <p:nvSpPr>
          <p:cNvPr id="24606" name="Line 25"/>
          <p:cNvSpPr/>
          <p:nvPr/>
        </p:nvSpPr>
        <p:spPr>
          <a:xfrm flipV="1">
            <a:off x="2151063" y="5621338"/>
            <a:ext cx="5697537" cy="17462"/>
          </a:xfrm>
          <a:prstGeom prst="line">
            <a:avLst/>
          </a:prstGeom>
          <a:ln w="25400" cap="flat" cmpd="sng">
            <a:solidFill>
              <a:srgbClr val="C0C0C0"/>
            </a:solidFill>
            <a:prstDash val="sysDot"/>
            <a:round/>
            <a:headEnd type="none" w="med" len="med"/>
            <a:tailEnd type="oval" w="med" len="med"/>
          </a:ln>
        </p:spPr>
      </p:sp>
      <p:grpSp>
        <p:nvGrpSpPr>
          <p:cNvPr id="24607" name="Group 17"/>
          <p:cNvGrpSpPr/>
          <p:nvPr/>
        </p:nvGrpSpPr>
        <p:grpSpPr>
          <a:xfrm>
            <a:off x="1524000" y="5049838"/>
            <a:ext cx="762000" cy="665162"/>
            <a:chOff x="1110" y="2656"/>
            <a:chExt cx="1549" cy="1351"/>
          </a:xfrm>
        </p:grpSpPr>
        <p:sp>
          <p:nvSpPr>
            <p:cNvPr id="24608"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4609"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5</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Tree>
  </p:cSld>
  <p:clrMapOvr>
    <a:masterClrMapping/>
  </p:clrMapOvr>
  <p:transition>
    <p:blinds dir="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其他有关信息安全的法律法规</a:t>
            </a:r>
            <a:endParaRPr lang="zh-CN" altLang="en-US" sz="3200" b="1" dirty="0">
              <a:latin typeface="华文楷体" panose="02010600040101010101" pitchFamily="2" charset="-122"/>
              <a:ea typeface="华文楷体" panose="02010600040101010101" pitchFamily="2" charset="-122"/>
            </a:endParaRPr>
          </a:p>
        </p:txBody>
      </p:sp>
      <p:sp>
        <p:nvSpPr>
          <p:cNvPr id="49155" name="内容占位符 2"/>
          <p:cNvSpPr>
            <a:spLocks noGrp="1" noChangeArrowheads="1"/>
          </p:cNvSpPr>
          <p:nvPr>
            <p:ph idx="1"/>
          </p:nvPr>
        </p:nvSpPr>
        <p:spPr>
          <a:xfrm>
            <a:off x="304912" y="1447852"/>
            <a:ext cx="8534400" cy="5562600"/>
          </a:xfrm>
        </p:spPr>
        <p:txBody>
          <a:bodyPr vert="horz" wrap="square" lIns="91440" tIns="45720" rIns="91440" bIns="45720" numCol="1" anchor="t" anchorCtr="0" compatLnSpc="1"/>
          <a:lstStyle/>
          <a:p>
            <a:pPr marL="742950" marR="0" lvl="1" indent="-285750" algn="l" defTabSz="914400" rtl="0" eaLnBrk="1" fontAlgn="base" latinLnBrk="0" hangingPunct="1">
              <a:lnSpc>
                <a:spcPct val="150000"/>
              </a:lnSpc>
              <a:spcBef>
                <a:spcPct val="20000"/>
              </a:spcBef>
              <a:spcAft>
                <a:spcPct val="0"/>
              </a:spcAft>
              <a:buClr>
                <a:schemeClr val="accent1"/>
              </a:buClr>
              <a:buSzTx/>
              <a:buFont typeface="Wingdings" panose="05000000000000000000" pitchFamily="2" charset="2"/>
              <a:buChar char="§"/>
              <a:defRPr/>
            </a:pPr>
            <a:r>
              <a:rPr kumimoji="0" lang="zh-CN" altLang="en-US" b="0" i="0" u="none" strike="noStrike" kern="0" cap="none" spc="0" normalizeH="0" baseline="0" noProof="0" dirty="0" smtClean="0">
                <a:ln>
                  <a:noFill/>
                </a:ln>
                <a:solidFill>
                  <a:schemeClr val="tx1"/>
                </a:solidFill>
                <a:effectLst/>
                <a:uLnTx/>
                <a:uFillTx/>
                <a:latin typeface="华文行楷" panose="02010800040101010101" pitchFamily="2" charset="-122"/>
                <a:ea typeface="华文行楷" panose="02010800040101010101" pitchFamily="2" charset="-122"/>
                <a:cs typeface="+mn-ea"/>
              </a:rPr>
              <a:t>《有害数据及计算机病毒防治管理》</a:t>
            </a:r>
            <a:endParaRPr kumimoji="0" lang="zh-CN" altLang="en-US" b="0" i="0" u="none" strike="noStrike" kern="0" cap="none" spc="0" normalizeH="0" baseline="0" noProof="0" dirty="0" smtClean="0">
              <a:ln>
                <a:noFill/>
              </a:ln>
              <a:solidFill>
                <a:schemeClr val="tx1"/>
              </a:solidFill>
              <a:effectLst/>
              <a:uLnTx/>
              <a:uFillTx/>
              <a:latin typeface="华文行楷" panose="02010800040101010101" pitchFamily="2" charset="-122"/>
              <a:ea typeface="华文行楷" panose="02010800040101010101" pitchFamily="2" charset="-122"/>
              <a:cs typeface="+mn-ea"/>
            </a:endParaRPr>
          </a:p>
          <a:p>
            <a:pPr marL="742950" marR="0" lvl="1" indent="-285750" algn="l" defTabSz="914400" rtl="0" eaLnBrk="1" fontAlgn="base" latinLnBrk="0" hangingPunct="1">
              <a:lnSpc>
                <a:spcPct val="150000"/>
              </a:lnSpc>
              <a:spcBef>
                <a:spcPct val="20000"/>
              </a:spcBef>
              <a:spcAft>
                <a:spcPct val="0"/>
              </a:spcAft>
              <a:buClr>
                <a:schemeClr val="accent1"/>
              </a:buClr>
              <a:buSzTx/>
              <a:buFont typeface="Wingdings" panose="05000000000000000000" pitchFamily="2" charset="2"/>
              <a:buChar char="§"/>
              <a:defRPr/>
            </a:pPr>
            <a:r>
              <a:rPr kumimoji="0" lang="zh-CN" altLang="en-US" b="0" i="0" u="none" strike="noStrike" kern="0" cap="none" spc="0" normalizeH="0" baseline="0" noProof="0" dirty="0" smtClean="0">
                <a:ln>
                  <a:noFill/>
                </a:ln>
                <a:solidFill>
                  <a:schemeClr val="tx1"/>
                </a:solidFill>
                <a:effectLst/>
                <a:uLnTx/>
                <a:uFillTx/>
                <a:latin typeface="华文行楷" panose="02010800040101010101" pitchFamily="2" charset="-122"/>
                <a:ea typeface="华文行楷" panose="02010800040101010101" pitchFamily="2" charset="-122"/>
                <a:cs typeface="+mn-ea"/>
              </a:rPr>
              <a:t>《计算机软件保护条例》</a:t>
            </a:r>
            <a:endParaRPr kumimoji="0" lang="zh-CN" altLang="en-US" b="0" i="0" u="none" strike="noStrike" kern="0" cap="none" spc="0" normalizeH="0" baseline="0" noProof="0" dirty="0" smtClean="0">
              <a:ln>
                <a:noFill/>
              </a:ln>
              <a:solidFill>
                <a:schemeClr val="tx1"/>
              </a:solidFill>
              <a:effectLst/>
              <a:uLnTx/>
              <a:uFillTx/>
              <a:latin typeface="华文行楷" panose="02010800040101010101" pitchFamily="2" charset="-122"/>
              <a:ea typeface="华文行楷" panose="02010800040101010101" pitchFamily="2" charset="-122"/>
              <a:cs typeface="+mn-ea"/>
            </a:endParaRPr>
          </a:p>
          <a:p>
            <a:pPr marL="742950" marR="0" lvl="1" indent="-285750" algn="l" defTabSz="914400" rtl="0" eaLnBrk="1" fontAlgn="base" latinLnBrk="0" hangingPunct="1">
              <a:lnSpc>
                <a:spcPct val="150000"/>
              </a:lnSpc>
              <a:spcBef>
                <a:spcPct val="20000"/>
              </a:spcBef>
              <a:spcAft>
                <a:spcPct val="0"/>
              </a:spcAft>
              <a:buClr>
                <a:schemeClr val="accent1"/>
              </a:buClr>
              <a:buSzTx/>
              <a:buFont typeface="Wingdings" panose="05000000000000000000" pitchFamily="2" charset="2"/>
              <a:buChar char="§"/>
              <a:defRPr/>
            </a:pPr>
            <a:r>
              <a:rPr kumimoji="0" lang="zh-CN" altLang="en-US" b="0" i="0" u="none" strike="noStrike" kern="0" cap="none" spc="0" normalizeH="0" baseline="0" noProof="0" dirty="0" smtClean="0">
                <a:ln>
                  <a:noFill/>
                </a:ln>
                <a:solidFill>
                  <a:schemeClr val="tx1"/>
                </a:solidFill>
                <a:effectLst/>
                <a:uLnTx/>
                <a:uFillTx/>
                <a:latin typeface="华文行楷" panose="02010800040101010101" pitchFamily="2" charset="-122"/>
                <a:ea typeface="华文行楷" panose="02010800040101010101" pitchFamily="2" charset="-122"/>
                <a:cs typeface="+mn-ea"/>
              </a:rPr>
              <a:t>《中华人民共和国保守国家秘密法》</a:t>
            </a:r>
            <a:endParaRPr kumimoji="0" lang="zh-CN" altLang="en-US" b="0" i="0" u="none" strike="noStrike" kern="0" cap="none" spc="0" normalizeH="0" baseline="0" noProof="0" dirty="0" smtClean="0">
              <a:ln>
                <a:noFill/>
              </a:ln>
              <a:solidFill>
                <a:schemeClr val="tx1"/>
              </a:solidFill>
              <a:effectLst/>
              <a:uLnTx/>
              <a:uFillTx/>
              <a:latin typeface="华文行楷" panose="02010800040101010101" pitchFamily="2" charset="-122"/>
              <a:ea typeface="华文行楷" panose="02010800040101010101" pitchFamily="2" charset="-122"/>
              <a:cs typeface="+mn-ea"/>
            </a:endParaRPr>
          </a:p>
          <a:p>
            <a:pPr marL="742950" marR="0" lvl="1" indent="-285750" algn="l" defTabSz="914400" rtl="0" eaLnBrk="1" fontAlgn="base" latinLnBrk="0" hangingPunct="1">
              <a:lnSpc>
                <a:spcPct val="150000"/>
              </a:lnSpc>
              <a:spcBef>
                <a:spcPct val="20000"/>
              </a:spcBef>
              <a:spcAft>
                <a:spcPct val="0"/>
              </a:spcAft>
              <a:buClr>
                <a:schemeClr val="accent1"/>
              </a:buClr>
              <a:buSzTx/>
              <a:buFont typeface="Wingdings" panose="05000000000000000000" pitchFamily="2" charset="2"/>
              <a:buChar char="§"/>
              <a:defRPr/>
            </a:pPr>
            <a:r>
              <a:rPr kumimoji="0" lang="zh-CN" altLang="en-US" b="0" i="0" u="none" strike="noStrike" kern="0" cap="none" spc="0" normalizeH="0" baseline="0" noProof="0" dirty="0" smtClean="0">
                <a:ln>
                  <a:noFill/>
                </a:ln>
                <a:solidFill>
                  <a:schemeClr val="tx1"/>
                </a:solidFill>
                <a:effectLst/>
                <a:uLnTx/>
                <a:uFillTx/>
                <a:latin typeface="华文行楷" panose="02010800040101010101" pitchFamily="2" charset="-122"/>
                <a:ea typeface="华文行楷" panose="02010800040101010101" pitchFamily="2" charset="-122"/>
                <a:cs typeface="+mn-ea"/>
              </a:rPr>
              <a:t>《中华人民共和国电子签名法》</a:t>
            </a:r>
            <a:endParaRPr kumimoji="0" lang="zh-CN" altLang="en-US" b="0" i="0" u="none" strike="noStrike" kern="0" cap="none" spc="0" normalizeH="0" baseline="0" noProof="0" dirty="0" smtClean="0">
              <a:ln>
                <a:noFill/>
              </a:ln>
              <a:solidFill>
                <a:schemeClr val="tx1"/>
              </a:solidFill>
              <a:effectLst/>
              <a:uLnTx/>
              <a:uFillTx/>
              <a:latin typeface="华文行楷" panose="02010800040101010101" pitchFamily="2" charset="-122"/>
              <a:ea typeface="华文行楷" panose="02010800040101010101" pitchFamily="2" charset="-122"/>
              <a:cs typeface="+mn-ea"/>
            </a:endParaRPr>
          </a:p>
          <a:p>
            <a:pPr marL="742950" marR="0" lvl="1" indent="-285750" algn="l" defTabSz="914400" rtl="0" eaLnBrk="1" fontAlgn="base" latinLnBrk="0" hangingPunct="1">
              <a:lnSpc>
                <a:spcPct val="150000"/>
              </a:lnSpc>
              <a:spcBef>
                <a:spcPct val="20000"/>
              </a:spcBef>
              <a:spcAft>
                <a:spcPct val="0"/>
              </a:spcAft>
              <a:buClr>
                <a:schemeClr val="accent1"/>
              </a:buClr>
              <a:buSzTx/>
              <a:buFont typeface="Wingdings" panose="05000000000000000000" pitchFamily="2" charset="2"/>
              <a:buChar char="§"/>
              <a:defRPr/>
            </a:pPr>
            <a:r>
              <a:rPr kumimoji="0" lang="zh-CN" altLang="en-US" b="0" i="0" u="none" strike="noStrike" kern="0" cap="none" spc="0" normalizeH="0" baseline="0" noProof="0" dirty="0" smtClean="0">
                <a:ln>
                  <a:noFill/>
                </a:ln>
                <a:solidFill>
                  <a:schemeClr val="tx1"/>
                </a:solidFill>
                <a:effectLst/>
                <a:uLnTx/>
                <a:uFillTx/>
                <a:latin typeface="华文行楷" panose="02010800040101010101" pitchFamily="2" charset="-122"/>
                <a:ea typeface="华文行楷" panose="02010800040101010101" pitchFamily="2" charset="-122"/>
                <a:cs typeface="+mn-ea"/>
              </a:rPr>
              <a:t>《密码法》</a:t>
            </a:r>
            <a:endParaRPr kumimoji="0" lang="en-US" altLang="zh-CN" b="0" i="0" u="none" strike="noStrike" kern="0" cap="none" spc="0" normalizeH="0" baseline="0" noProof="0" dirty="0" smtClean="0">
              <a:ln>
                <a:noFill/>
              </a:ln>
              <a:solidFill>
                <a:schemeClr val="tx1"/>
              </a:solidFill>
              <a:effectLst/>
              <a:uLnTx/>
              <a:uFillTx/>
              <a:latin typeface="华文行楷" panose="02010800040101010101" pitchFamily="2" charset="-122"/>
              <a:ea typeface="华文行楷" panose="02010800040101010101" pitchFamily="2" charset="-122"/>
              <a:cs typeface="+mn-ea"/>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en-US" altLang="zh-CN"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49155">
                                            <p:txEl>
                                              <p:charRg st="72" end="72"/>
                                            </p:txEl>
                                          </p:spTgt>
                                        </p:tgtEl>
                                        <p:attrNameLst>
                                          <p:attrName>style.visibility</p:attrName>
                                        </p:attrNameLst>
                                      </p:cBhvr>
                                      <p:to>
                                        <p:strVal val="visible"/>
                                      </p:to>
                                    </p:set>
                                    <p:animEffect transition="in" filter="wipe(down)">
                                      <p:cBhvr>
                                        <p:cTn id="7" dur="500"/>
                                        <p:tgtEl>
                                          <p:spTgt spid="49155">
                                            <p:txEl>
                                              <p:charRg st="72" end="7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9155">
                                            <p:txEl>
                                              <p:charRg st="72" end="72"/>
                                            </p:txEl>
                                          </p:spTgt>
                                        </p:tgtEl>
                                        <p:attrNameLst>
                                          <p:attrName>style.visibility</p:attrName>
                                        </p:attrNameLst>
                                      </p:cBhvr>
                                      <p:to>
                                        <p:strVal val="visible"/>
                                      </p:to>
                                    </p:set>
                                    <p:animEffect transition="in" filter="wipe(down)">
                                      <p:cBhvr>
                                        <p:cTn id="12" dur="500"/>
                                        <p:tgtEl>
                                          <p:spTgt spid="49155">
                                            <p:txEl>
                                              <p:charRg st="72" end="72"/>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49155">
                                            <p:txEl>
                                              <p:charRg st="72" end="72"/>
                                            </p:txEl>
                                          </p:spTgt>
                                        </p:tgtEl>
                                        <p:attrNameLst>
                                          <p:attrName>style.visibility</p:attrName>
                                        </p:attrNameLst>
                                      </p:cBhvr>
                                      <p:to>
                                        <p:strVal val="visible"/>
                                      </p:to>
                                    </p:set>
                                    <p:animEffect transition="in" filter="wipe(down)">
                                      <p:cBhvr>
                                        <p:cTn id="15" dur="500"/>
                                        <p:tgtEl>
                                          <p:spTgt spid="49155">
                                            <p:txEl>
                                              <p:charRg st="72" end="72"/>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49155">
                                            <p:txEl>
                                              <p:charRg st="72" end="72"/>
                                            </p:txEl>
                                          </p:spTgt>
                                        </p:tgtEl>
                                        <p:attrNameLst>
                                          <p:attrName>style.visibility</p:attrName>
                                        </p:attrNameLst>
                                      </p:cBhvr>
                                      <p:to>
                                        <p:strVal val="visible"/>
                                      </p:to>
                                    </p:set>
                                    <p:animEffect transition="in" filter="wipe(down)">
                                      <p:cBhvr>
                                        <p:cTn id="18" dur="500"/>
                                        <p:tgtEl>
                                          <p:spTgt spid="49155">
                                            <p:txEl>
                                              <p:charRg st="72" end="72"/>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49155">
                                            <p:txEl>
                                              <p:charRg st="72" end="72"/>
                                            </p:txEl>
                                          </p:spTgt>
                                        </p:tgtEl>
                                        <p:attrNameLst>
                                          <p:attrName>style.visibility</p:attrName>
                                        </p:attrNameLst>
                                      </p:cBhvr>
                                      <p:to>
                                        <p:strVal val="visible"/>
                                      </p:to>
                                    </p:set>
                                    <p:animEffect transition="in" filter="wipe(down)">
                                      <p:cBhvr>
                                        <p:cTn id="21" dur="500"/>
                                        <p:tgtEl>
                                          <p:spTgt spid="49155">
                                            <p:txEl>
                                              <p:charRg st="72" end="72"/>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49155">
                                            <p:txEl>
                                              <p:charRg st="72" end="72"/>
                                            </p:txEl>
                                          </p:spTgt>
                                        </p:tgtEl>
                                        <p:attrNameLst>
                                          <p:attrName>style.visibility</p:attrName>
                                        </p:attrNameLst>
                                      </p:cBhvr>
                                      <p:to>
                                        <p:strVal val="visible"/>
                                      </p:to>
                                    </p:set>
                                    <p:animEffect transition="in" filter="wipe(down)">
                                      <p:cBhvr>
                                        <p:cTn id="24" dur="500"/>
                                        <p:tgtEl>
                                          <p:spTgt spid="49155">
                                            <p:txEl>
                                              <p:charRg st="72" end="7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49155">
                                            <p:txEl>
                                              <p:pRg st="0" end="0"/>
                                            </p:txEl>
                                          </p:spTgt>
                                        </p:tgtEl>
                                        <p:attrNameLst>
                                          <p:attrName>style.visibility</p:attrName>
                                        </p:attrNameLst>
                                      </p:cBhvr>
                                      <p:to>
                                        <p:strVal val="visible"/>
                                      </p:to>
                                    </p:set>
                                    <p:animEffect transition="in" filter="box(in)">
                                      <p:cBhvr>
                                        <p:cTn id="29" dur="2000"/>
                                        <p:tgtEl>
                                          <p:spTgt spid="49155">
                                            <p:txEl>
                                              <p:pRg st="0" end="0"/>
                                            </p:txEl>
                                          </p:spTgt>
                                        </p:tgtEl>
                                      </p:cBhvr>
                                    </p:animEffect>
                                  </p:childTnLst>
                                </p:cTn>
                              </p:par>
                              <p:par>
                                <p:cTn id="30" presetID="4" presetClass="entr" presetSubtype="16" fill="hold" nodeType="withEffect">
                                  <p:stCondLst>
                                    <p:cond delay="0"/>
                                  </p:stCondLst>
                                  <p:childTnLst>
                                    <p:set>
                                      <p:cBhvr>
                                        <p:cTn id="31" dur="1" fill="hold">
                                          <p:stCondLst>
                                            <p:cond delay="0"/>
                                          </p:stCondLst>
                                        </p:cTn>
                                        <p:tgtEl>
                                          <p:spTgt spid="49155">
                                            <p:txEl>
                                              <p:pRg st="1" end="1"/>
                                            </p:txEl>
                                          </p:spTgt>
                                        </p:tgtEl>
                                        <p:attrNameLst>
                                          <p:attrName>style.visibility</p:attrName>
                                        </p:attrNameLst>
                                      </p:cBhvr>
                                      <p:to>
                                        <p:strVal val="visible"/>
                                      </p:to>
                                    </p:set>
                                    <p:animEffect transition="in" filter="box(in)">
                                      <p:cBhvr>
                                        <p:cTn id="32" dur="2000"/>
                                        <p:tgtEl>
                                          <p:spTgt spid="49155">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9155">
                                            <p:txEl>
                                              <p:pRg st="2" end="2"/>
                                            </p:txEl>
                                          </p:spTgt>
                                        </p:tgtEl>
                                        <p:attrNameLst>
                                          <p:attrName>style.visibility</p:attrName>
                                        </p:attrNameLst>
                                      </p:cBhvr>
                                      <p:to>
                                        <p:strVal val="visible"/>
                                      </p:to>
                                    </p:set>
                                    <p:animEffect transition="in" filter="blinds(horizontal)">
                                      <p:cBhvr>
                                        <p:cTn id="37" dur="500"/>
                                        <p:tgtEl>
                                          <p:spTgt spid="49155">
                                            <p:txEl>
                                              <p:pRg st="2" end="2"/>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49155">
                                            <p:txEl>
                                              <p:pRg st="3" end="3"/>
                                            </p:txEl>
                                          </p:spTgt>
                                        </p:tgtEl>
                                        <p:attrNameLst>
                                          <p:attrName>style.visibility</p:attrName>
                                        </p:attrNameLst>
                                      </p:cBhvr>
                                      <p:to>
                                        <p:strVal val="visible"/>
                                      </p:to>
                                    </p:set>
                                    <p:animEffect transition="in" filter="blinds(horizontal)">
                                      <p:cBhvr>
                                        <p:cTn id="40" dur="500"/>
                                        <p:tgtEl>
                                          <p:spTgt spid="49155">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nodeType="clickEffect">
                                  <p:stCondLst>
                                    <p:cond delay="0"/>
                                  </p:stCondLst>
                                  <p:childTnLst>
                                    <p:set>
                                      <p:cBhvr>
                                        <p:cTn id="44" dur="1" fill="hold">
                                          <p:stCondLst>
                                            <p:cond delay="0"/>
                                          </p:stCondLst>
                                        </p:cTn>
                                        <p:tgtEl>
                                          <p:spTgt spid="49155">
                                            <p:txEl>
                                              <p:pRg st="4" end="4"/>
                                            </p:txEl>
                                          </p:spTgt>
                                        </p:tgtEl>
                                        <p:attrNameLst>
                                          <p:attrName>style.visibility</p:attrName>
                                        </p:attrNameLst>
                                      </p:cBhvr>
                                      <p:to>
                                        <p:strVal val="visible"/>
                                      </p:to>
                                    </p:set>
                                    <p:animEffect transition="in" filter="box(in)">
                                      <p:cBhvr>
                                        <p:cTn id="45" dur="2000"/>
                                        <p:tgtEl>
                                          <p:spTgt spid="491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sym typeface="+mn-ea"/>
              </a:rPr>
              <a:t>其他有关信息安全的法律法规</a:t>
            </a:r>
            <a:endParaRPr lang="zh-CN" altLang="en-US" sz="3200" b="1" dirty="0">
              <a:latin typeface="华文楷体" panose="02010600040101010101" pitchFamily="2" charset="-122"/>
              <a:ea typeface="华文楷体" panose="02010600040101010101" pitchFamily="2" charset="-122"/>
            </a:endParaRPr>
          </a:p>
        </p:txBody>
      </p:sp>
      <p:sp>
        <p:nvSpPr>
          <p:cNvPr id="49155" name="内容占位符 2"/>
          <p:cNvSpPr>
            <a:spLocks noGrp="1" noChangeArrowheads="1"/>
          </p:cNvSpPr>
          <p:nvPr>
            <p:ph idx="1"/>
          </p:nvPr>
        </p:nvSpPr>
        <p:spPr>
          <a:xfrm>
            <a:off x="152400" y="1143000"/>
            <a:ext cx="8534400" cy="5562600"/>
          </a:xfrm>
        </p:spPr>
        <p:txBody>
          <a:bodyPr vert="horz" wrap="square" lIns="91440" tIns="45720" rIns="91440" bIns="45720" numCol="1" anchor="t" anchorCtr="0" compatLnSpc="1"/>
          <a:lstStyle/>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32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ea"/>
              </a:rPr>
              <a:t>1</a:t>
            </a:r>
            <a:r>
              <a:rPr kumimoji="0" lang="zh-CN" altLang="en-US" sz="32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ea"/>
              </a:rPr>
              <a:t>、</a:t>
            </a:r>
            <a:r>
              <a:rPr kumimoji="0" lang="zh-CN" altLang="zh-CN" sz="32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ea"/>
              </a:rPr>
              <a:t>《中华人民共和国电子签名法》</a:t>
            </a:r>
            <a:endParaRPr kumimoji="0" lang="zh-CN" altLang="zh-CN" sz="32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由</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中华人民共和国第十届全国人民代表大会常务委员会第十一次会议于</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2004</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8</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28</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日通过，自</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2005</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4</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1</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日起施行，其配套部门规章《</a:t>
            </a:r>
            <a:r>
              <a:rPr kumimoji="0" lang="zh-CN" altLang="zh-CN" sz="2000" b="0" i="0" u="sng" strike="noStrike" kern="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ea"/>
              </a:rPr>
              <a:t>电子认证服务管理办法</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》同时实施</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电子</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签名法被喻为“我国</a:t>
            </a:r>
            <a:r>
              <a:rPr kumimoji="0" lang="zh-CN" altLang="zh-CN" sz="2000" b="0" i="0" u="none" strike="noStrike" kern="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ea"/>
              </a:rPr>
              <a:t>首部真正意义的信息化法律</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”，也是我国首部真正意义上的电子商务立法。它是为了规范电子签名行为，</a:t>
            </a:r>
            <a:r>
              <a:rPr kumimoji="0" lang="zh-CN" altLang="zh-CN" sz="2000" b="0" i="0" u="sng" strike="noStrike" kern="0" cap="none" spc="0" normalizeH="0" baseline="0" noProof="0" dirty="0">
                <a:ln>
                  <a:noFill/>
                </a:ln>
                <a:solidFill>
                  <a:srgbClr val="FF0000"/>
                </a:solidFill>
                <a:effectLst>
                  <a:outerShdw blurRad="38100" dist="38100" dir="2700000" algn="tl">
                    <a:srgbClr val="000000">
                      <a:alpha val="43137"/>
                    </a:srgbClr>
                  </a:outerShdw>
                </a:effectLst>
                <a:uLnTx/>
                <a:uFillTx/>
                <a:latin typeface="华文楷体" panose="02010600040101010101" pitchFamily="2" charset="-122"/>
                <a:ea typeface="华文楷体" panose="02010600040101010101" pitchFamily="2" charset="-122"/>
                <a:cs typeface="+mn-ea"/>
              </a:rPr>
              <a:t>确立电子签名的法律效力</a:t>
            </a:r>
            <a:r>
              <a:rPr kumimoji="0" lang="zh-CN"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，维护有关各方的合法权益而制定的</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2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电子签名立法的重点为</a:t>
            </a:r>
            <a:r>
              <a:rPr kumimoji="0" lang="zh-CN" altLang="zh-CN" sz="22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endParaRPr kumimoji="0" lang="en-US" altLang="zh-CN" sz="22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zh-CN" sz="1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确立</a:t>
            </a:r>
            <a:r>
              <a:rPr kumimoji="0" lang="zh-CN" altLang="zh-CN" sz="1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电子签名的法律效力</a:t>
            </a:r>
            <a:r>
              <a:rPr kumimoji="0" lang="zh-CN" altLang="zh-CN" sz="1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endParaRPr kumimoji="0" lang="en-US" altLang="zh-CN" sz="1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zh-CN" sz="1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规范</a:t>
            </a:r>
            <a:r>
              <a:rPr kumimoji="0" lang="zh-CN" altLang="zh-CN" sz="1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电子签名的行为</a:t>
            </a:r>
            <a:r>
              <a:rPr kumimoji="0" lang="zh-CN" altLang="zh-CN" sz="1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endParaRPr kumimoji="0" lang="en-US" altLang="zh-CN" sz="1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zh-CN" sz="1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明确</a:t>
            </a:r>
            <a:r>
              <a:rPr kumimoji="0" lang="zh-CN" altLang="zh-CN" sz="1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认证机构的法律地位及认证程序</a:t>
            </a:r>
            <a:r>
              <a:rPr kumimoji="0" lang="zh-CN" altLang="zh-CN" sz="1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endParaRPr kumimoji="0" lang="en-US" altLang="zh-CN" sz="1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zh-CN" sz="1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规定</a:t>
            </a:r>
            <a:r>
              <a:rPr kumimoji="0" lang="zh-CN" altLang="zh-CN" sz="1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电子签名的安全保障措施。</a:t>
            </a:r>
            <a:endParaRPr kumimoji="0" lang="en-US" altLang="zh-CN" sz="1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en-US" altLang="zh-CN"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9155">
                                            <p:txEl>
                                              <p:pRg st="1" end="1"/>
                                            </p:txEl>
                                          </p:spTgt>
                                        </p:tgtEl>
                                        <p:attrNameLst>
                                          <p:attrName>style.visibility</p:attrName>
                                        </p:attrNameLst>
                                      </p:cBhvr>
                                      <p:to>
                                        <p:strVal val="visible"/>
                                      </p:to>
                                    </p:set>
                                    <p:animEffect transition="in" filter="wipe(down)">
                                      <p:cBhvr>
                                        <p:cTn id="7" dur="500"/>
                                        <p:tgtEl>
                                          <p:spTgt spid="49155">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9155">
                                            <p:txEl>
                                              <p:charRg st="99" end="185"/>
                                            </p:txEl>
                                          </p:spTgt>
                                        </p:tgtEl>
                                        <p:attrNameLst>
                                          <p:attrName>style.visibility</p:attrName>
                                        </p:attrNameLst>
                                      </p:cBhvr>
                                      <p:to>
                                        <p:strVal val="visible"/>
                                      </p:to>
                                    </p:set>
                                    <p:animEffect transition="in" filter="wipe(down)">
                                      <p:cBhvr>
                                        <p:cTn id="10" dur="500"/>
                                        <p:tgtEl>
                                          <p:spTgt spid="49155">
                                            <p:txEl>
                                              <p:charRg st="99" end="18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9155">
                                            <p:txEl>
                                              <p:pRg st="4" end="4"/>
                                            </p:txEl>
                                          </p:spTgt>
                                        </p:tgtEl>
                                        <p:attrNameLst>
                                          <p:attrName>style.visibility</p:attrName>
                                        </p:attrNameLst>
                                      </p:cBhvr>
                                      <p:to>
                                        <p:strVal val="visible"/>
                                      </p:to>
                                    </p:set>
                                    <p:animEffect transition="in" filter="wipe(down)">
                                      <p:cBhvr>
                                        <p:cTn id="15" dur="500"/>
                                        <p:tgtEl>
                                          <p:spTgt spid="49155">
                                            <p:txEl>
                                              <p:pRg st="4" end="4"/>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49155">
                                            <p:txEl>
                                              <p:charRg st="198" end="211"/>
                                            </p:txEl>
                                          </p:spTgt>
                                        </p:tgtEl>
                                        <p:attrNameLst>
                                          <p:attrName>style.visibility</p:attrName>
                                        </p:attrNameLst>
                                      </p:cBhvr>
                                      <p:to>
                                        <p:strVal val="visible"/>
                                      </p:to>
                                    </p:set>
                                    <p:animEffect transition="in" filter="wipe(down)">
                                      <p:cBhvr>
                                        <p:cTn id="18" dur="500"/>
                                        <p:tgtEl>
                                          <p:spTgt spid="49155">
                                            <p:txEl>
                                              <p:charRg st="198" end="211"/>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49155">
                                            <p:txEl>
                                              <p:pRg st="6" end="6"/>
                                            </p:txEl>
                                          </p:spTgt>
                                        </p:tgtEl>
                                        <p:attrNameLst>
                                          <p:attrName>style.visibility</p:attrName>
                                        </p:attrNameLst>
                                      </p:cBhvr>
                                      <p:to>
                                        <p:strVal val="visible"/>
                                      </p:to>
                                    </p:set>
                                    <p:animEffect transition="in" filter="wipe(down)">
                                      <p:cBhvr>
                                        <p:cTn id="21" dur="500"/>
                                        <p:tgtEl>
                                          <p:spTgt spid="49155">
                                            <p:txEl>
                                              <p:pRg st="6" end="6"/>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49155">
                                            <p:txEl>
                                              <p:charRg st="222" end="240"/>
                                            </p:txEl>
                                          </p:spTgt>
                                        </p:tgtEl>
                                        <p:attrNameLst>
                                          <p:attrName>style.visibility</p:attrName>
                                        </p:attrNameLst>
                                      </p:cBhvr>
                                      <p:to>
                                        <p:strVal val="visible"/>
                                      </p:to>
                                    </p:set>
                                    <p:animEffect transition="in" filter="wipe(down)">
                                      <p:cBhvr>
                                        <p:cTn id="24" dur="500"/>
                                        <p:tgtEl>
                                          <p:spTgt spid="49155">
                                            <p:txEl>
                                              <p:charRg st="222" end="240"/>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49155">
                                            <p:txEl>
                                              <p:pRg st="8" end="8"/>
                                            </p:txEl>
                                          </p:spTgt>
                                        </p:tgtEl>
                                        <p:attrNameLst>
                                          <p:attrName>style.visibility</p:attrName>
                                        </p:attrNameLst>
                                      </p:cBhvr>
                                      <p:to>
                                        <p:strVal val="visible"/>
                                      </p:to>
                                    </p:set>
                                    <p:animEffect transition="in" filter="wipe(down)">
                                      <p:cBhvr>
                                        <p:cTn id="27" dur="500"/>
                                        <p:tgtEl>
                                          <p:spTgt spid="4915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其他有关信息安全的法律法规</a:t>
            </a:r>
            <a:endParaRPr lang="zh-CN" altLang="en-US" sz="3200" b="1" dirty="0">
              <a:latin typeface="华文楷体" panose="02010600040101010101" pitchFamily="2" charset="-122"/>
              <a:ea typeface="华文楷体" panose="02010600040101010101" pitchFamily="2" charset="-122"/>
            </a:endParaRPr>
          </a:p>
        </p:txBody>
      </p:sp>
      <p:sp>
        <p:nvSpPr>
          <p:cNvPr id="49155" name="内容占位符 2"/>
          <p:cNvSpPr>
            <a:spLocks noGrp="1" noChangeArrowheads="1"/>
          </p:cNvSpPr>
          <p:nvPr>
            <p:ph idx="1"/>
          </p:nvPr>
        </p:nvSpPr>
        <p:spPr>
          <a:xfrm>
            <a:off x="152400" y="1143000"/>
            <a:ext cx="8534400" cy="5334000"/>
          </a:xfrm>
        </p:spPr>
        <p:txBody>
          <a:bodyPr vert="horz" wrap="square" lIns="91440" tIns="45720" rIns="91440" bIns="45720" numCol="1" anchor="t" anchorCtr="0" compatLnSpc="1"/>
          <a:lstStyle/>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zh-CN" sz="32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《中华人民共和国电子签名法》</a:t>
            </a:r>
            <a:endParaRPr kumimoji="0" lang="zh-CN" altLang="zh-CN" sz="32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为保护电子签名人的合法权益，法律规定，伪造、冒用、盗用他人的电子签名，构成犯罪的，依法追究</a:t>
            </a:r>
            <a:r>
              <a:rPr kumimoji="0" lang="zh-CN" altLang="zh-CN" sz="2400" b="0" i="0" u="none" strike="noStrike" kern="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ea"/>
              </a:rPr>
              <a:t>刑事责任</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；给他人造成损失的，依法承担相应的</a:t>
            </a:r>
            <a:r>
              <a:rPr kumimoji="0" lang="zh-CN" altLang="zh-CN" sz="2400" b="0" i="0" u="none" strike="noStrike" kern="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ea"/>
              </a:rPr>
              <a:t>民事责任</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《电子签名法》</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赋予</a:t>
            </a:r>
            <a:r>
              <a:rPr kumimoji="0" lang="zh-CN" altLang="zh-CN" sz="2400" b="0" i="0" u="none" strike="noStrike" kern="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ea"/>
              </a:rPr>
              <a:t>电子签章与数据电文以法律效力</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，将在很大程度上</a:t>
            </a:r>
            <a:r>
              <a:rPr kumimoji="0" lang="zh-CN" altLang="zh-CN" sz="2400" b="0" i="0" u="none" strike="noStrike" kern="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ea"/>
              </a:rPr>
              <a:t>消除网络信用危机</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可以</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设想这样一种情景</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：一</a:t>
            </a:r>
            <a:r>
              <a:rPr kumimoji="0" lang="zh-CN"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个完全数字化的环境，所有的交流都由数字间的传输来完成，人们用微型计算机处理以前必须存于在实体介质上的工作，并用网络来传递这些信息</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en-US" altLang="zh-CN"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ea"/>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9155">
                                            <p:txEl>
                                              <p:charRg st="16" end="88"/>
                                            </p:txEl>
                                          </p:spTgt>
                                        </p:tgtEl>
                                        <p:attrNameLst>
                                          <p:attrName>style.visibility</p:attrName>
                                        </p:attrNameLst>
                                      </p:cBhvr>
                                      <p:to>
                                        <p:strVal val="visible"/>
                                      </p:to>
                                    </p:set>
                                    <p:animEffect transition="in" filter="wipe(down)">
                                      <p:cBhvr>
                                        <p:cTn id="7" dur="500"/>
                                        <p:tgtEl>
                                          <p:spTgt spid="49155">
                                            <p:txEl>
                                              <p:charRg st="16" end="8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9155">
                                            <p:txEl>
                                              <p:charRg st="89" end="130"/>
                                            </p:txEl>
                                          </p:spTgt>
                                        </p:tgtEl>
                                        <p:attrNameLst>
                                          <p:attrName>style.visibility</p:attrName>
                                        </p:attrNameLst>
                                      </p:cBhvr>
                                      <p:to>
                                        <p:strVal val="visible"/>
                                      </p:to>
                                    </p:set>
                                    <p:animEffect transition="in" filter="wipe(down)">
                                      <p:cBhvr>
                                        <p:cTn id="12" dur="500"/>
                                        <p:tgtEl>
                                          <p:spTgt spid="49155">
                                            <p:txEl>
                                              <p:charRg st="89" end="13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9155">
                                            <p:txEl>
                                              <p:charRg st="131" end="209"/>
                                            </p:txEl>
                                          </p:spTgt>
                                        </p:tgtEl>
                                        <p:attrNameLst>
                                          <p:attrName>style.visibility</p:attrName>
                                        </p:attrNameLst>
                                      </p:cBhvr>
                                      <p:to>
                                        <p:strVal val="visible"/>
                                      </p:to>
                                    </p:set>
                                    <p:anim calcmode="lin" valueType="num">
                                      <p:cBhvr additive="base">
                                        <p:cTn id="17" dur="500" fill="hold"/>
                                        <p:tgtEl>
                                          <p:spTgt spid="49155">
                                            <p:txEl>
                                              <p:charRg st="131" end="209"/>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9155">
                                            <p:txEl>
                                              <p:charRg st="131" end="20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其他有关信息安全的法律法规</a:t>
            </a:r>
            <a:endParaRPr lang="zh-CN" altLang="en-US" sz="3200" b="1" dirty="0">
              <a:latin typeface="华文楷体" panose="02010600040101010101" pitchFamily="2" charset="-122"/>
              <a:ea typeface="华文楷体" panose="02010600040101010101" pitchFamily="2" charset="-122"/>
            </a:endParaRPr>
          </a:p>
        </p:txBody>
      </p:sp>
      <p:sp>
        <p:nvSpPr>
          <p:cNvPr id="100355" name="内容占位符 2"/>
          <p:cNvSpPr>
            <a:spLocks noGrp="1"/>
          </p:cNvSpPr>
          <p:nvPr>
            <p:ph idx="1"/>
          </p:nvPr>
        </p:nvSpPr>
        <p:spPr>
          <a:xfrm>
            <a:off x="228600" y="1143000"/>
            <a:ext cx="8458200" cy="5562600"/>
          </a:xfrm>
        </p:spPr>
        <p:txBody>
          <a:bodyPr vert="horz" wrap="square" lIns="91440" tIns="45720" rIns="91440" bIns="45720" anchor="t" anchorCtr="0"/>
          <a:lstStyle/>
          <a:p>
            <a:pPr marL="0" indent="0">
              <a:buNone/>
            </a:pPr>
            <a:r>
              <a:rPr lang="en-US" altLang="zh-CN" sz="2800" b="1" dirty="0" smtClean="0">
                <a:solidFill>
                  <a:srgbClr val="FF0000"/>
                </a:solidFill>
                <a:latin typeface="华文楷体" panose="02010600040101010101" pitchFamily="2" charset="-122"/>
                <a:ea typeface="华文楷体" panose="02010600040101010101" pitchFamily="2" charset="-122"/>
              </a:rPr>
              <a:t>   2</a:t>
            </a:r>
            <a:r>
              <a:rPr lang="zh-CN" altLang="en-US" sz="2800" b="1" dirty="0" smtClean="0">
                <a:solidFill>
                  <a:srgbClr val="FF0000"/>
                </a:solidFill>
                <a:latin typeface="华文楷体" panose="02010600040101010101" pitchFamily="2" charset="-122"/>
                <a:ea typeface="华文楷体" panose="02010600040101010101" pitchFamily="2" charset="-122"/>
              </a:rPr>
              <a:t>、</a:t>
            </a:r>
            <a:r>
              <a:rPr lang="en-US" altLang="zh-CN" sz="2800" b="1" dirty="0" smtClean="0">
                <a:solidFill>
                  <a:srgbClr val="FF0000"/>
                </a:solidFill>
                <a:latin typeface="华文楷体" panose="02010600040101010101" pitchFamily="2" charset="-122"/>
                <a:ea typeface="华文楷体" panose="02010600040101010101" pitchFamily="2" charset="-122"/>
              </a:rPr>
              <a:t>《</a:t>
            </a:r>
            <a:r>
              <a:rPr lang="zh-CN" altLang="en-US" sz="2800" b="1" dirty="0" smtClean="0">
                <a:solidFill>
                  <a:srgbClr val="FF0000"/>
                </a:solidFill>
                <a:latin typeface="华文楷体" panose="02010600040101010101" pitchFamily="2" charset="-122"/>
                <a:ea typeface="华文楷体" panose="02010600040101010101" pitchFamily="2" charset="-122"/>
              </a:rPr>
              <a:t>密码法</a:t>
            </a:r>
            <a:r>
              <a:rPr lang="en-US" altLang="zh-CN" sz="2800" b="1" dirty="0" smtClean="0">
                <a:solidFill>
                  <a:srgbClr val="FF0000"/>
                </a:solidFill>
                <a:latin typeface="华文楷体" panose="02010600040101010101" pitchFamily="2" charset="-122"/>
                <a:ea typeface="华文楷体" panose="02010600040101010101" pitchFamily="2" charset="-122"/>
              </a:rPr>
              <a:t>》</a:t>
            </a:r>
            <a:endParaRPr lang="en-US" altLang="zh-CN" sz="2800" b="1" dirty="0" smtClean="0">
              <a:solidFill>
                <a:srgbClr val="FF0000"/>
              </a:solidFill>
              <a:latin typeface="华文楷体" panose="02010600040101010101" pitchFamily="2" charset="-122"/>
              <a:ea typeface="华文楷体" panose="02010600040101010101" pitchFamily="2" charset="-122"/>
            </a:endParaRPr>
          </a:p>
          <a:p>
            <a:pPr lvl="1">
              <a:buFont typeface="Wingdings" panose="05000000000000000000" pitchFamily="2" charset="2"/>
              <a:buChar char="Ø"/>
            </a:pPr>
            <a:r>
              <a:rPr lang="en-US" altLang="zh-CN" dirty="0" smtClean="0">
                <a:latin typeface="华文楷体" panose="02010600040101010101" pitchFamily="2" charset="-122"/>
                <a:ea typeface="华文楷体" panose="02010600040101010101" pitchFamily="2" charset="-122"/>
              </a:rPr>
              <a:t>2019</a:t>
            </a:r>
            <a:r>
              <a:rPr lang="zh-CN" altLang="zh-CN" dirty="0" smtClean="0">
                <a:latin typeface="华文楷体" panose="02010600040101010101" pitchFamily="2" charset="-122"/>
                <a:ea typeface="华文楷体" panose="02010600040101010101" pitchFamily="2" charset="-122"/>
              </a:rPr>
              <a:t>年</a:t>
            </a:r>
            <a:r>
              <a:rPr lang="en-US" altLang="zh-CN" dirty="0" smtClean="0">
                <a:latin typeface="华文楷体" panose="02010600040101010101" pitchFamily="2" charset="-122"/>
                <a:ea typeface="华文楷体" panose="02010600040101010101" pitchFamily="2" charset="-122"/>
              </a:rPr>
              <a:t>10</a:t>
            </a:r>
            <a:r>
              <a:rPr lang="zh-CN" altLang="zh-CN" dirty="0" smtClean="0">
                <a:latin typeface="华文楷体" panose="02010600040101010101" pitchFamily="2" charset="-122"/>
                <a:ea typeface="华文楷体" panose="02010600040101010101" pitchFamily="2" charset="-122"/>
              </a:rPr>
              <a:t>月</a:t>
            </a:r>
            <a:r>
              <a:rPr lang="en-US" altLang="zh-CN" dirty="0" smtClean="0">
                <a:latin typeface="华文楷体" panose="02010600040101010101" pitchFamily="2" charset="-122"/>
                <a:ea typeface="华文楷体" panose="02010600040101010101" pitchFamily="2" charset="-122"/>
              </a:rPr>
              <a:t>26</a:t>
            </a:r>
            <a:r>
              <a:rPr lang="zh-CN" altLang="zh-CN" dirty="0" smtClean="0">
                <a:latin typeface="华文楷体" panose="02010600040101010101" pitchFamily="2" charset="-122"/>
                <a:ea typeface="华文楷体" panose="02010600040101010101" pitchFamily="2" charset="-122"/>
              </a:rPr>
              <a:t>日，</a:t>
            </a:r>
            <a:r>
              <a:rPr lang="en-US" altLang="zh-CN" dirty="0" err="1" smtClean="0">
                <a:latin typeface="华文楷体" panose="02010600040101010101" pitchFamily="2" charset="-122"/>
                <a:ea typeface="华文楷体" panose="02010600040101010101" pitchFamily="2" charset="-122"/>
                <a:hlinkClick r:id="rId1"/>
              </a:rPr>
              <a:t>第十三届全国人民代表大会常务委员会</a:t>
            </a:r>
            <a:r>
              <a:rPr lang="zh-CN" altLang="zh-CN" dirty="0" smtClean="0">
                <a:latin typeface="华文楷体" panose="02010600040101010101" pitchFamily="2" charset="-122"/>
                <a:ea typeface="华文楷体" panose="02010600040101010101" pitchFamily="2" charset="-122"/>
              </a:rPr>
              <a:t>第十四次会议表决通过密码法，于</a:t>
            </a:r>
            <a:r>
              <a:rPr lang="en-US" altLang="zh-CN" dirty="0" smtClean="0">
                <a:latin typeface="华文楷体" panose="02010600040101010101" pitchFamily="2" charset="-122"/>
                <a:ea typeface="华文楷体" panose="02010600040101010101" pitchFamily="2" charset="-122"/>
              </a:rPr>
              <a:t>2020</a:t>
            </a:r>
            <a:r>
              <a:rPr lang="zh-CN" altLang="zh-CN" dirty="0" smtClean="0">
                <a:latin typeface="华文楷体" panose="02010600040101010101" pitchFamily="2" charset="-122"/>
                <a:ea typeface="华文楷体" panose="02010600040101010101" pitchFamily="2" charset="-122"/>
              </a:rPr>
              <a:t>年</a:t>
            </a:r>
            <a:r>
              <a:rPr lang="en-US" altLang="zh-CN" dirty="0" smtClean="0">
                <a:latin typeface="华文楷体" panose="02010600040101010101" pitchFamily="2" charset="-122"/>
                <a:ea typeface="华文楷体" panose="02010600040101010101" pitchFamily="2" charset="-122"/>
              </a:rPr>
              <a:t>1</a:t>
            </a:r>
            <a:r>
              <a:rPr lang="zh-CN" altLang="zh-CN" dirty="0" smtClean="0">
                <a:latin typeface="华文楷体" panose="02010600040101010101" pitchFamily="2" charset="-122"/>
                <a:ea typeface="华文楷体" panose="02010600040101010101" pitchFamily="2" charset="-122"/>
              </a:rPr>
              <a:t>月</a:t>
            </a:r>
            <a:r>
              <a:rPr lang="en-US" altLang="zh-CN" dirty="0" smtClean="0">
                <a:latin typeface="华文楷体" panose="02010600040101010101" pitchFamily="2" charset="-122"/>
                <a:ea typeface="华文楷体" panose="02010600040101010101" pitchFamily="2" charset="-122"/>
              </a:rPr>
              <a:t>1</a:t>
            </a:r>
            <a:r>
              <a:rPr lang="zh-CN" altLang="zh-CN" dirty="0" smtClean="0">
                <a:latin typeface="华文楷体" panose="02010600040101010101" pitchFamily="2" charset="-122"/>
                <a:ea typeface="华文楷体" panose="02010600040101010101" pitchFamily="2" charset="-122"/>
              </a:rPr>
              <a:t>日起施行。</a:t>
            </a:r>
            <a:endParaRPr lang="zh-CN" altLang="zh-CN" dirty="0" smtClean="0">
              <a:latin typeface="华文楷体" panose="02010600040101010101" pitchFamily="2" charset="-122"/>
              <a:ea typeface="华文楷体" panose="02010600040101010101" pitchFamily="2" charset="-122"/>
            </a:endParaRPr>
          </a:p>
          <a:p>
            <a:pPr lvl="1">
              <a:buFont typeface="Wingdings" panose="05000000000000000000" pitchFamily="2" charset="2"/>
              <a:buChar char="Ø"/>
            </a:pPr>
            <a:endParaRPr lang="zh-CN" altLang="zh-CN" dirty="0">
              <a:latin typeface="华文楷体" panose="02010600040101010101" pitchFamily="2" charset="-122"/>
              <a:ea typeface="华文楷体" panose="02010600040101010101" pitchFamily="2" charset="-122"/>
            </a:endParaRPr>
          </a:p>
          <a:p>
            <a:pPr lvl="1">
              <a:buFont typeface="Wingdings" panose="05000000000000000000" pitchFamily="2" charset="2"/>
              <a:buChar char="Ø"/>
            </a:pPr>
            <a:r>
              <a:rPr lang="zh-CN" altLang="zh-CN" dirty="0">
                <a:latin typeface="华文楷体" panose="02010600040101010101" pitchFamily="2" charset="-122"/>
                <a:ea typeface="华文楷体" panose="02010600040101010101" pitchFamily="2" charset="-122"/>
              </a:rPr>
              <a:t>《中华人民共和国密码法》旨在规范密码应用和管理，促进密码事业发展，保障网络与信息安全，提升密码管理科学化、规范化、法治化水平，是我国密码领域的综合性、基础性法律。</a:t>
            </a:r>
            <a:endParaRPr lang="zh-CN" altLang="en-US" sz="800"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0355">
                                            <p:txEl>
                                              <p:pRg st="1" end="1"/>
                                            </p:txEl>
                                          </p:spTgt>
                                        </p:tgtEl>
                                        <p:attrNameLst>
                                          <p:attrName>style.visibility</p:attrName>
                                        </p:attrNameLst>
                                      </p:cBhvr>
                                      <p:to>
                                        <p:strVal val="visible"/>
                                      </p:to>
                                    </p:set>
                                    <p:animEffect transition="in" filter="fade">
                                      <p:cBhvr>
                                        <p:cTn id="7" dur="1000"/>
                                        <p:tgtEl>
                                          <p:spTgt spid="100355">
                                            <p:txEl>
                                              <p:pRg st="1" end="1"/>
                                            </p:txEl>
                                          </p:spTgt>
                                        </p:tgtEl>
                                      </p:cBhvr>
                                    </p:animEffect>
                                    <p:anim calcmode="lin" valueType="num">
                                      <p:cBhvr>
                                        <p:cTn id="8" dur="1000" fill="hold"/>
                                        <p:tgtEl>
                                          <p:spTgt spid="10035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035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00355">
                                            <p:txEl>
                                              <p:pRg st="3" end="3"/>
                                            </p:txEl>
                                          </p:spTgt>
                                        </p:tgtEl>
                                        <p:attrNameLst>
                                          <p:attrName>style.visibility</p:attrName>
                                        </p:attrNameLst>
                                      </p:cBhvr>
                                      <p:to>
                                        <p:strVal val="visible"/>
                                      </p:to>
                                    </p:set>
                                    <p:animEffect transition="in" filter="wipe(down)">
                                      <p:cBhvr>
                                        <p:cTn id="14" dur="500"/>
                                        <p:tgtEl>
                                          <p:spTgt spid="1003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其他有关信息安全的法律法规</a:t>
            </a:r>
            <a:endParaRPr lang="zh-CN" altLang="en-US" sz="3200" b="1" dirty="0">
              <a:latin typeface="华文楷体" panose="02010600040101010101" pitchFamily="2" charset="-122"/>
              <a:ea typeface="华文楷体" panose="02010600040101010101" pitchFamily="2" charset="-122"/>
            </a:endParaRPr>
          </a:p>
        </p:txBody>
      </p:sp>
      <p:sp>
        <p:nvSpPr>
          <p:cNvPr id="101379" name="内容占位符 2"/>
          <p:cNvSpPr>
            <a:spLocks noGrp="1"/>
          </p:cNvSpPr>
          <p:nvPr>
            <p:ph idx="1"/>
          </p:nvPr>
        </p:nvSpPr>
        <p:spPr>
          <a:xfrm>
            <a:off x="381000" y="1143000"/>
            <a:ext cx="8305800" cy="5562600"/>
          </a:xfrm>
        </p:spPr>
        <p:txBody>
          <a:bodyPr vert="horz" wrap="square" lIns="91440" tIns="45720" rIns="91440" bIns="45720" anchor="t" anchorCtr="0"/>
          <a:lstStyle/>
          <a:p>
            <a:pPr marL="0" indent="0">
              <a:buNone/>
            </a:pPr>
            <a:r>
              <a:rPr lang="zh-CN" altLang="zh-CN" sz="2800" b="1" dirty="0">
                <a:latin typeface="华文楷体" panose="02010600040101010101" pitchFamily="2" charset="-122"/>
                <a:ea typeface="华文楷体" panose="02010600040101010101" pitchFamily="2" charset="-122"/>
              </a:rPr>
              <a:t>一、密码法的立法目的</a:t>
            </a:r>
            <a:endParaRPr lang="zh-CN" altLang="zh-CN" sz="28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密码是国家重要战略资源，是保障网络与信息安全的核心技术和基础支撑。密码工作是党和国家的一项特殊重要工作，直接关系国家政治安全、经济安全、国防安全和信息安全。新时代密码工作面临许多新的机遇和挑战，担负更加繁重的保障和管理任务。</a:t>
            </a:r>
            <a:endParaRPr lang="en-US" altLang="zh-CN" sz="24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密码法立法主要有三个方面的目的：</a:t>
            </a:r>
            <a:endParaRPr lang="zh-CN" altLang="zh-CN" sz="2400" dirty="0">
              <a:latin typeface="华文楷体" panose="02010600040101010101" pitchFamily="2" charset="-122"/>
              <a:ea typeface="华文楷体" panose="02010600040101010101" pitchFamily="2" charset="-122"/>
            </a:endParaRPr>
          </a:p>
          <a:p>
            <a:pPr lvl="2"/>
            <a:r>
              <a:rPr lang="zh-CN" altLang="zh-CN" sz="2000" dirty="0">
                <a:latin typeface="华文楷体" panose="02010600040101010101" pitchFamily="2" charset="-122"/>
                <a:ea typeface="华文楷体" panose="02010600040101010101" pitchFamily="2" charset="-122"/>
              </a:rPr>
              <a:t>第一，坚决贯彻党管密码根本原则，落实中央指示批示精神</a:t>
            </a:r>
            <a:endParaRPr lang="en-US" altLang="zh-CN" sz="2000" dirty="0">
              <a:latin typeface="华文楷体" panose="02010600040101010101" pitchFamily="2" charset="-122"/>
              <a:ea typeface="华文楷体" panose="02010600040101010101" pitchFamily="2" charset="-122"/>
            </a:endParaRPr>
          </a:p>
          <a:p>
            <a:pPr lvl="2"/>
            <a:r>
              <a:rPr lang="zh-CN" altLang="en-US" sz="2000" dirty="0">
                <a:latin typeface="华文楷体" panose="02010600040101010101" pitchFamily="2" charset="-122"/>
                <a:ea typeface="华文楷体" panose="02010600040101010101" pitchFamily="2" charset="-122"/>
              </a:rPr>
              <a:t>第</a:t>
            </a:r>
            <a:r>
              <a:rPr lang="zh-CN" altLang="zh-CN" sz="2000" dirty="0">
                <a:latin typeface="华文楷体" panose="02010600040101010101" pitchFamily="2" charset="-122"/>
                <a:ea typeface="华文楷体" panose="02010600040101010101" pitchFamily="2" charset="-122"/>
              </a:rPr>
              <a:t>二，规范密码应用和管理，促进密码事业发展。制定密码法，就是要将国家对关键信息基础设施商用密码的应用要求及时上升为法律规范</a:t>
            </a:r>
            <a:endParaRPr lang="en-US" altLang="zh-CN" sz="2000" dirty="0">
              <a:latin typeface="华文楷体" panose="02010600040101010101" pitchFamily="2" charset="-122"/>
              <a:ea typeface="华文楷体" panose="02010600040101010101" pitchFamily="2" charset="-122"/>
            </a:endParaRPr>
          </a:p>
          <a:p>
            <a:pPr lvl="2"/>
            <a:r>
              <a:rPr lang="zh-CN" altLang="zh-CN" sz="2000" dirty="0">
                <a:latin typeface="华文楷体" panose="02010600040101010101" pitchFamily="2" charset="-122"/>
                <a:ea typeface="华文楷体" panose="02010600040101010101" pitchFamily="2" charset="-122"/>
              </a:rPr>
              <a:t>第三，保障网络与信息安全，维护国家安全和社会公共利益，保护公民、法人和其他组织的合法权益。</a:t>
            </a:r>
            <a:endParaRPr lang="zh-CN" altLang="en-US" sz="2000"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1379">
                                            <p:txEl>
                                              <p:pRg st="1" end="1"/>
                                            </p:txEl>
                                          </p:spTgt>
                                        </p:tgtEl>
                                        <p:attrNameLst>
                                          <p:attrName>style.visibility</p:attrName>
                                        </p:attrNameLst>
                                      </p:cBhvr>
                                      <p:to>
                                        <p:strVal val="visible"/>
                                      </p:to>
                                    </p:set>
                                    <p:animEffect transition="in" filter="circle(in)">
                                      <p:cBhvr>
                                        <p:cTn id="7" dur="2000"/>
                                        <p:tgtEl>
                                          <p:spTgt spid="10137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1379">
                                            <p:txEl>
                                              <p:pRg st="2" end="2"/>
                                            </p:txEl>
                                          </p:spTgt>
                                        </p:tgtEl>
                                        <p:attrNameLst>
                                          <p:attrName>style.visibility</p:attrName>
                                        </p:attrNameLst>
                                      </p:cBhvr>
                                      <p:to>
                                        <p:strVal val="visible"/>
                                      </p:to>
                                    </p:set>
                                    <p:animEffect transition="in" filter="barn(inVertical)">
                                      <p:cBhvr>
                                        <p:cTn id="12" dur="500"/>
                                        <p:tgtEl>
                                          <p:spTgt spid="10137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1379">
                                            <p:txEl>
                                              <p:pRg st="3" end="3"/>
                                            </p:txEl>
                                          </p:spTgt>
                                        </p:tgtEl>
                                        <p:attrNameLst>
                                          <p:attrName>style.visibility</p:attrName>
                                        </p:attrNameLst>
                                      </p:cBhvr>
                                      <p:to>
                                        <p:strVal val="visible"/>
                                      </p:to>
                                    </p:set>
                                    <p:animEffect transition="in" filter="wipe(down)">
                                      <p:cBhvr>
                                        <p:cTn id="17" dur="500"/>
                                        <p:tgtEl>
                                          <p:spTgt spid="10137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1379">
                                            <p:txEl>
                                              <p:pRg st="4" end="4"/>
                                            </p:txEl>
                                          </p:spTgt>
                                        </p:tgtEl>
                                        <p:attrNameLst>
                                          <p:attrName>style.visibility</p:attrName>
                                        </p:attrNameLst>
                                      </p:cBhvr>
                                      <p:to>
                                        <p:strVal val="visible"/>
                                      </p:to>
                                    </p:set>
                                    <p:animEffect transition="in" filter="wipe(down)">
                                      <p:cBhvr>
                                        <p:cTn id="22" dur="500"/>
                                        <p:tgtEl>
                                          <p:spTgt spid="10137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01379">
                                            <p:txEl>
                                              <p:pRg st="5" end="5"/>
                                            </p:txEl>
                                          </p:spTgt>
                                        </p:tgtEl>
                                        <p:attrNameLst>
                                          <p:attrName>style.visibility</p:attrName>
                                        </p:attrNameLst>
                                      </p:cBhvr>
                                      <p:to>
                                        <p:strVal val="visible"/>
                                      </p:to>
                                    </p:set>
                                    <p:animEffect transition="in" filter="barn(inVertical)">
                                      <p:cBhvr>
                                        <p:cTn id="27" dur="500"/>
                                        <p:tgtEl>
                                          <p:spTgt spid="1013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其他有关信息安全的法律法规</a:t>
            </a:r>
            <a:endParaRPr lang="zh-CN" altLang="en-US" sz="3200" b="1" dirty="0">
              <a:latin typeface="华文楷体" panose="02010600040101010101" pitchFamily="2" charset="-122"/>
              <a:ea typeface="华文楷体" panose="02010600040101010101" pitchFamily="2" charset="-122"/>
            </a:endParaRPr>
          </a:p>
        </p:txBody>
      </p:sp>
      <p:sp>
        <p:nvSpPr>
          <p:cNvPr id="29699" name="内容占位符 2"/>
          <p:cNvSpPr>
            <a:spLocks noGrp="1" noChangeArrowheads="1"/>
          </p:cNvSpPr>
          <p:nvPr>
            <p:ph idx="1"/>
          </p:nvPr>
        </p:nvSpPr>
        <p:spPr>
          <a:xfrm>
            <a:off x="381000" y="1143000"/>
            <a:ext cx="8305800" cy="55626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二、密码法的主要内容</a:t>
            </a:r>
            <a:endPar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密码法是总体国家安全观框架下，国家安全法律体系的重要组成部分，也是一部技术性、专业性较强的专门法律。</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密码法共五章四十四条，重点规范了以下内容：</a:t>
            </a:r>
            <a:endPar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第一章总则部分，规定了本法的</a:t>
            </a:r>
            <a:r>
              <a:rPr kumimoji="0" lang="zh-CN" altLang="zh-CN" sz="20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ea"/>
              </a:rPr>
              <a:t>立法目的</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、密码工作的</a:t>
            </a:r>
            <a:r>
              <a:rPr kumimoji="0" lang="zh-CN" altLang="zh-CN" sz="20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ea"/>
              </a:rPr>
              <a:t>基本原则、领导和管理体制</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，以及密码</a:t>
            </a:r>
            <a:r>
              <a:rPr kumimoji="0" lang="zh-CN" altLang="zh-CN" sz="20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ea"/>
              </a:rPr>
              <a:t>发展促进和保障措施</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endPar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第二章</a:t>
            </a:r>
            <a:r>
              <a:rPr kumimoji="0" lang="zh-CN" altLang="zh-CN" sz="20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ea"/>
              </a:rPr>
              <a:t>核心密码、普通密码</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部分，规定了核心密码、普通密码使用要求、安全管理制度以及国家加强核心密码、普通密码工作的一系列特殊保障制度和措施。</a:t>
            </a:r>
            <a:endPar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1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animEffect transition="in" filter="wipe(down)">
                                      <p:cBhvr>
                                        <p:cTn id="7" dur="500"/>
                                        <p:tgtEl>
                                          <p:spTgt spid="296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9699">
                                            <p:txEl>
                                              <p:pRg st="2" end="2"/>
                                            </p:txEl>
                                          </p:spTgt>
                                        </p:tgtEl>
                                        <p:attrNameLst>
                                          <p:attrName>style.visibility</p:attrName>
                                        </p:attrNameLst>
                                      </p:cBhvr>
                                      <p:to>
                                        <p:strVal val="visible"/>
                                      </p:to>
                                    </p:set>
                                    <p:animEffect transition="in" filter="wipe(down)">
                                      <p:cBhvr>
                                        <p:cTn id="12" dur="500"/>
                                        <p:tgtEl>
                                          <p:spTgt spid="2969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9699">
                                            <p:txEl>
                                              <p:pRg st="3" end="3"/>
                                            </p:txEl>
                                          </p:spTgt>
                                        </p:tgtEl>
                                        <p:attrNameLst>
                                          <p:attrName>style.visibility</p:attrName>
                                        </p:attrNameLst>
                                      </p:cBhvr>
                                      <p:to>
                                        <p:strVal val="visible"/>
                                      </p:to>
                                    </p:set>
                                    <p:animEffect transition="in" filter="circle(in)">
                                      <p:cBhvr>
                                        <p:cTn id="17" dur="2000"/>
                                        <p:tgtEl>
                                          <p:spTgt spid="29699">
                                            <p:txEl>
                                              <p:pRg st="3" end="3"/>
                                            </p:txEl>
                                          </p:spTgt>
                                        </p:tgtEl>
                                      </p:cBhvr>
                                    </p:animEffect>
                                  </p:childTnLst>
                                </p:cTn>
                              </p:par>
                              <p:par>
                                <p:cTn id="18" presetID="6" presetClass="entr" presetSubtype="16" fill="hold" nodeType="withEffect">
                                  <p:stCondLst>
                                    <p:cond delay="0"/>
                                  </p:stCondLst>
                                  <p:childTnLst>
                                    <p:set>
                                      <p:cBhvr>
                                        <p:cTn id="19" dur="1" fill="hold">
                                          <p:stCondLst>
                                            <p:cond delay="0"/>
                                          </p:stCondLst>
                                        </p:cTn>
                                        <p:tgtEl>
                                          <p:spTgt spid="29699">
                                            <p:txEl>
                                              <p:pRg st="4" end="4"/>
                                            </p:txEl>
                                          </p:spTgt>
                                        </p:tgtEl>
                                        <p:attrNameLst>
                                          <p:attrName>style.visibility</p:attrName>
                                        </p:attrNameLst>
                                      </p:cBhvr>
                                      <p:to>
                                        <p:strVal val="visible"/>
                                      </p:to>
                                    </p:set>
                                    <p:animEffect transition="in" filter="circle(in)">
                                      <p:cBhvr>
                                        <p:cTn id="20" dur="2000"/>
                                        <p:tgtEl>
                                          <p:spTgt spid="296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rPr>
              <a:t>其他有关信息安全的法律法规</a:t>
            </a:r>
            <a:endParaRPr lang="zh-CN" altLang="en-US" sz="3200" b="1" dirty="0">
              <a:latin typeface="华文楷体" panose="02010600040101010101" pitchFamily="2" charset="-122"/>
              <a:ea typeface="华文楷体" panose="02010600040101010101" pitchFamily="2" charset="-122"/>
            </a:endParaRPr>
          </a:p>
        </p:txBody>
      </p:sp>
      <p:sp>
        <p:nvSpPr>
          <p:cNvPr id="103427" name="内容占位符 2"/>
          <p:cNvSpPr>
            <a:spLocks noGrp="1"/>
          </p:cNvSpPr>
          <p:nvPr>
            <p:ph idx="1"/>
          </p:nvPr>
        </p:nvSpPr>
        <p:spPr>
          <a:xfrm>
            <a:off x="381000" y="1600200"/>
            <a:ext cx="8305800" cy="3810000"/>
          </a:xfrm>
        </p:spPr>
        <p:txBody>
          <a:bodyPr vert="horz" wrap="square" lIns="91440" tIns="45720" rIns="91440" bIns="45720" anchor="t" anchorCtr="0"/>
          <a:lstStyle/>
          <a:p>
            <a:pPr lvl="2"/>
            <a:r>
              <a:rPr lang="zh-CN" altLang="zh-CN" dirty="0">
                <a:latin typeface="华文楷体" panose="02010600040101010101" pitchFamily="2" charset="-122"/>
                <a:ea typeface="华文楷体" panose="02010600040101010101" pitchFamily="2" charset="-122"/>
              </a:rPr>
              <a:t>第三章</a:t>
            </a:r>
            <a:r>
              <a:rPr lang="zh-CN" altLang="zh-CN" dirty="0">
                <a:solidFill>
                  <a:srgbClr val="FF0000"/>
                </a:solidFill>
                <a:latin typeface="华文楷体" panose="02010600040101010101" pitchFamily="2" charset="-122"/>
                <a:ea typeface="华文楷体" panose="02010600040101010101" pitchFamily="2" charset="-122"/>
              </a:rPr>
              <a:t>商用密码</a:t>
            </a:r>
            <a:r>
              <a:rPr lang="zh-CN" altLang="zh-CN" dirty="0">
                <a:latin typeface="华文楷体" panose="02010600040101010101" pitchFamily="2" charset="-122"/>
                <a:ea typeface="华文楷体" panose="02010600040101010101" pitchFamily="2" charset="-122"/>
              </a:rPr>
              <a:t>部分，规定了商用密码标准化制度、检测认证制度、市场准入管理制度、使用要求、进出口管理制度、电子政务电子认证服务管理制度以及商用密码事中事后监管制度。</a:t>
            </a:r>
            <a:endParaRPr lang="zh-CN" altLang="zh-CN" dirty="0">
              <a:latin typeface="华文楷体" panose="02010600040101010101" pitchFamily="2" charset="-122"/>
              <a:ea typeface="华文楷体" panose="02010600040101010101" pitchFamily="2" charset="-122"/>
            </a:endParaRPr>
          </a:p>
          <a:p>
            <a:pPr lvl="2"/>
            <a:r>
              <a:rPr lang="zh-CN" altLang="zh-CN" dirty="0">
                <a:latin typeface="华文楷体" panose="02010600040101010101" pitchFamily="2" charset="-122"/>
                <a:ea typeface="华文楷体" panose="02010600040101010101" pitchFamily="2" charset="-122"/>
              </a:rPr>
              <a:t>第四章</a:t>
            </a:r>
            <a:r>
              <a:rPr lang="zh-CN" altLang="zh-CN" dirty="0">
                <a:solidFill>
                  <a:srgbClr val="FF0000"/>
                </a:solidFill>
                <a:latin typeface="华文楷体" panose="02010600040101010101" pitchFamily="2" charset="-122"/>
                <a:ea typeface="华文楷体" panose="02010600040101010101" pitchFamily="2" charset="-122"/>
              </a:rPr>
              <a:t>法律责任</a:t>
            </a:r>
            <a:r>
              <a:rPr lang="zh-CN" altLang="zh-CN" dirty="0">
                <a:latin typeface="华文楷体" panose="02010600040101010101" pitchFamily="2" charset="-122"/>
                <a:ea typeface="华文楷体" panose="02010600040101010101" pitchFamily="2" charset="-122"/>
              </a:rPr>
              <a:t>部分，规定了违反本法相关规定应当承担的相应的法律后果。</a:t>
            </a:r>
            <a:endParaRPr lang="zh-CN" altLang="zh-CN" dirty="0">
              <a:latin typeface="华文楷体" panose="02010600040101010101" pitchFamily="2" charset="-122"/>
              <a:ea typeface="华文楷体" panose="02010600040101010101" pitchFamily="2" charset="-122"/>
            </a:endParaRPr>
          </a:p>
          <a:p>
            <a:pPr lvl="2"/>
            <a:r>
              <a:rPr lang="zh-CN" altLang="zh-CN" dirty="0">
                <a:latin typeface="华文楷体" panose="02010600040101010101" pitchFamily="2" charset="-122"/>
                <a:ea typeface="华文楷体" panose="02010600040101010101" pitchFamily="2" charset="-122"/>
              </a:rPr>
              <a:t>第五章</a:t>
            </a:r>
            <a:r>
              <a:rPr lang="zh-CN" altLang="zh-CN" dirty="0">
                <a:solidFill>
                  <a:srgbClr val="FF0000"/>
                </a:solidFill>
                <a:latin typeface="华文楷体" panose="02010600040101010101" pitchFamily="2" charset="-122"/>
                <a:ea typeface="华文楷体" panose="02010600040101010101" pitchFamily="2" charset="-122"/>
              </a:rPr>
              <a:t>附则</a:t>
            </a:r>
            <a:r>
              <a:rPr lang="zh-CN" altLang="zh-CN" dirty="0">
                <a:latin typeface="华文楷体" panose="02010600040101010101" pitchFamily="2" charset="-122"/>
                <a:ea typeface="华文楷体" panose="02010600040101010101" pitchFamily="2" charset="-122"/>
              </a:rPr>
              <a:t>部分，规定了国家密码管理部门的规章制定权，解放军和武警部队密码立法事宜以及本法的施行日期。</a:t>
            </a:r>
            <a:endParaRPr lang="zh-CN" altLang="en-US" sz="400"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3427">
                                            <p:txEl>
                                              <p:pRg st="1" end="1"/>
                                            </p:txEl>
                                          </p:spTgt>
                                        </p:tgtEl>
                                        <p:attrNameLst>
                                          <p:attrName>style.visibility</p:attrName>
                                        </p:attrNameLst>
                                      </p:cBhvr>
                                      <p:to>
                                        <p:strVal val="visible"/>
                                      </p:to>
                                    </p:set>
                                    <p:animEffect transition="in" filter="circle(in)">
                                      <p:cBhvr>
                                        <p:cTn id="7" dur="2000"/>
                                        <p:tgtEl>
                                          <p:spTgt spid="1034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03427">
                                            <p:txEl>
                                              <p:pRg st="2" end="2"/>
                                            </p:txEl>
                                          </p:spTgt>
                                        </p:tgtEl>
                                        <p:attrNameLst>
                                          <p:attrName>style.visibility</p:attrName>
                                        </p:attrNameLst>
                                      </p:cBhvr>
                                      <p:to>
                                        <p:strVal val="visible"/>
                                      </p:to>
                                    </p:set>
                                    <p:animEffect transition="in" filter="circle(in)">
                                      <p:cBhvr>
                                        <p:cTn id="12" dur="2000"/>
                                        <p:tgtEl>
                                          <p:spTgt spid="1034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sym typeface="+mn-ea"/>
              </a:rPr>
              <a:t>其他有关信息安全的法律法规</a:t>
            </a:r>
            <a:endParaRPr lang="zh-CN" altLang="en-US" sz="3200" b="1" dirty="0">
              <a:latin typeface="华文楷体" panose="02010600040101010101" pitchFamily="2" charset="-122"/>
              <a:ea typeface="华文楷体" panose="02010600040101010101" pitchFamily="2" charset="-122"/>
            </a:endParaRPr>
          </a:p>
        </p:txBody>
      </p:sp>
      <p:sp>
        <p:nvSpPr>
          <p:cNvPr id="104451" name="内容占位符 2"/>
          <p:cNvSpPr>
            <a:spLocks noGrp="1"/>
          </p:cNvSpPr>
          <p:nvPr>
            <p:ph idx="1"/>
          </p:nvPr>
        </p:nvSpPr>
        <p:spPr>
          <a:xfrm>
            <a:off x="381000" y="1143000"/>
            <a:ext cx="7848600" cy="5334000"/>
          </a:xfrm>
        </p:spPr>
        <p:txBody>
          <a:bodyPr vert="horz" wrap="square" lIns="91440" tIns="45720" rIns="91440" bIns="45720" anchor="t" anchorCtr="0"/>
          <a:lstStyle/>
          <a:p>
            <a:pPr marL="0" indent="0">
              <a:buNone/>
            </a:pPr>
            <a:r>
              <a:rPr lang="en-US" altLang="zh-CN" sz="2800" b="1" dirty="0">
                <a:latin typeface="华文楷体" panose="02010600040101010101" pitchFamily="2" charset="-122"/>
                <a:ea typeface="华文楷体" panose="02010600040101010101" pitchFamily="2" charset="-122"/>
              </a:rPr>
              <a:t> </a:t>
            </a:r>
            <a:r>
              <a:rPr lang="zh-CN" altLang="zh-CN" sz="2800" b="1" dirty="0">
                <a:latin typeface="华文楷体" panose="02010600040101010101" pitchFamily="2" charset="-122"/>
                <a:ea typeface="华文楷体" panose="02010600040101010101" pitchFamily="2" charset="-122"/>
              </a:rPr>
              <a:t>三、对密码实行分类管理</a:t>
            </a:r>
            <a:endParaRPr lang="zh-CN" altLang="zh-CN" sz="28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将密码分为</a:t>
            </a:r>
            <a:r>
              <a:rPr lang="zh-CN" altLang="zh-CN" sz="2400" dirty="0">
                <a:solidFill>
                  <a:srgbClr val="FF0000"/>
                </a:solidFill>
                <a:latin typeface="华文楷体" panose="02010600040101010101" pitchFamily="2" charset="-122"/>
                <a:ea typeface="华文楷体" panose="02010600040101010101" pitchFamily="2" charset="-122"/>
              </a:rPr>
              <a:t>核心密码</a:t>
            </a:r>
            <a:r>
              <a:rPr lang="zh-CN" altLang="zh-CN" sz="2400" dirty="0">
                <a:latin typeface="华文楷体" panose="02010600040101010101" pitchFamily="2" charset="-122"/>
                <a:ea typeface="华文楷体" panose="02010600040101010101" pitchFamily="2" charset="-122"/>
              </a:rPr>
              <a:t>、</a:t>
            </a:r>
            <a:r>
              <a:rPr lang="zh-CN" altLang="zh-CN" sz="2400" dirty="0">
                <a:solidFill>
                  <a:srgbClr val="FF0000"/>
                </a:solidFill>
                <a:latin typeface="华文楷体" panose="02010600040101010101" pitchFamily="2" charset="-122"/>
                <a:ea typeface="华文楷体" panose="02010600040101010101" pitchFamily="2" charset="-122"/>
              </a:rPr>
              <a:t>普通密码</a:t>
            </a:r>
            <a:r>
              <a:rPr lang="zh-CN" altLang="zh-CN" sz="2400" dirty="0">
                <a:latin typeface="华文楷体" panose="02010600040101010101" pitchFamily="2" charset="-122"/>
                <a:ea typeface="华文楷体" panose="02010600040101010101" pitchFamily="2" charset="-122"/>
              </a:rPr>
              <a:t>和</a:t>
            </a:r>
            <a:r>
              <a:rPr lang="zh-CN" altLang="zh-CN" sz="2400" dirty="0">
                <a:solidFill>
                  <a:srgbClr val="FF0000"/>
                </a:solidFill>
                <a:latin typeface="华文楷体" panose="02010600040101010101" pitchFamily="2" charset="-122"/>
                <a:ea typeface="华文楷体" panose="02010600040101010101" pitchFamily="2" charset="-122"/>
              </a:rPr>
              <a:t>商用密码</a:t>
            </a:r>
            <a:r>
              <a:rPr lang="zh-CN" altLang="zh-CN" sz="2400" dirty="0">
                <a:latin typeface="华文楷体" panose="02010600040101010101" pitchFamily="2" charset="-122"/>
                <a:ea typeface="华文楷体" panose="02010600040101010101" pitchFamily="2" charset="-122"/>
              </a:rPr>
              <a:t>，实行分类管理，是党中央确定的密码管理根本原则，保障密码安全的基本策略，也是长期以来密码工作经验的科学总结。</a:t>
            </a:r>
            <a:endParaRPr lang="en-US" altLang="zh-CN" sz="24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三类密码保护的对象不同，对其进行明确划分，有利于确保密码安全保密，有利于密码管理部门根据不同信息等级和使用对象，对密码实行科学管理，充分发挥三类密码在保护网络与信息安全中的核心支撑作用。</a:t>
            </a:r>
            <a:endParaRPr lang="zh-CN" altLang="en-US" sz="700"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4451">
                                            <p:txEl>
                                              <p:pRg st="1" end="1"/>
                                            </p:txEl>
                                          </p:spTgt>
                                        </p:tgtEl>
                                        <p:attrNameLst>
                                          <p:attrName>style.visibility</p:attrName>
                                        </p:attrNameLst>
                                      </p:cBhvr>
                                      <p:to>
                                        <p:strVal val="visible"/>
                                      </p:to>
                                    </p:set>
                                    <p:animEffect transition="in" filter="wipe(down)">
                                      <p:cBhvr>
                                        <p:cTn id="7" dur="500"/>
                                        <p:tgtEl>
                                          <p:spTgt spid="10445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04451">
                                            <p:txEl>
                                              <p:pRg st="2" end="2"/>
                                            </p:txEl>
                                          </p:spTgt>
                                        </p:tgtEl>
                                        <p:attrNameLst>
                                          <p:attrName>style.visibility</p:attrName>
                                        </p:attrNameLst>
                                      </p:cBhvr>
                                      <p:to>
                                        <p:strVal val="visible"/>
                                      </p:to>
                                    </p:set>
                                    <p:animEffect transition="in" filter="circle(in)">
                                      <p:cBhvr>
                                        <p:cTn id="12" dur="2000"/>
                                        <p:tgtEl>
                                          <p:spTgt spid="1044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sym typeface="+mn-ea"/>
              </a:rPr>
              <a:t>其他有关信息安全的法律法规</a:t>
            </a:r>
            <a:endParaRPr lang="zh-CN" altLang="en-US" sz="3200" b="1" dirty="0">
              <a:latin typeface="华文楷体" panose="02010600040101010101" pitchFamily="2" charset="-122"/>
              <a:ea typeface="华文楷体" panose="02010600040101010101" pitchFamily="2" charset="-122"/>
            </a:endParaRPr>
          </a:p>
        </p:txBody>
      </p:sp>
      <p:sp>
        <p:nvSpPr>
          <p:cNvPr id="105475" name="内容占位符 2"/>
          <p:cNvSpPr>
            <a:spLocks noGrp="1"/>
          </p:cNvSpPr>
          <p:nvPr>
            <p:ph idx="1"/>
          </p:nvPr>
        </p:nvSpPr>
        <p:spPr>
          <a:xfrm>
            <a:off x="381000" y="1143000"/>
            <a:ext cx="8305800" cy="5562600"/>
          </a:xfrm>
        </p:spPr>
        <p:txBody>
          <a:bodyPr vert="horz" wrap="square" lIns="91440" tIns="45720" rIns="91440" bIns="45720" anchor="t" anchorCtr="0"/>
          <a:lstStyle/>
          <a:p>
            <a:pPr marL="0" indent="0">
              <a:buNone/>
            </a:pPr>
            <a:r>
              <a:rPr lang="en-US" altLang="zh-CN" sz="2800" b="1" dirty="0">
                <a:latin typeface="华文楷体" panose="02010600040101010101" pitchFamily="2" charset="-122"/>
                <a:ea typeface="华文楷体" panose="02010600040101010101" pitchFamily="2" charset="-122"/>
              </a:rPr>
              <a:t> </a:t>
            </a:r>
            <a:r>
              <a:rPr lang="zh-CN" altLang="zh-CN" sz="2800" b="1" dirty="0">
                <a:latin typeface="华文楷体" panose="02010600040101010101" pitchFamily="2" charset="-122"/>
                <a:ea typeface="华文楷体" panose="02010600040101010101" pitchFamily="2" charset="-122"/>
              </a:rPr>
              <a:t>四、密码法在商用密码管理方面的立法思路</a:t>
            </a:r>
            <a:endParaRPr lang="zh-CN" altLang="zh-CN" sz="28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第一，坚决贯彻落实</a:t>
            </a:r>
            <a:r>
              <a:rPr lang="en-US" altLang="zh-CN" sz="2400" dirty="0">
                <a:latin typeface="华文楷体" panose="02010600040101010101" pitchFamily="2" charset="-122"/>
                <a:ea typeface="华文楷体" panose="02010600040101010101" pitchFamily="2" charset="-122"/>
              </a:rPr>
              <a:t>“</a:t>
            </a:r>
            <a:r>
              <a:rPr lang="zh-CN" altLang="zh-CN" sz="2400" dirty="0">
                <a:solidFill>
                  <a:srgbClr val="FF0000"/>
                </a:solidFill>
                <a:latin typeface="华文楷体" panose="02010600040101010101" pitchFamily="2" charset="-122"/>
                <a:ea typeface="华文楷体" panose="02010600040101010101" pitchFamily="2" charset="-122"/>
              </a:rPr>
              <a:t>放管服</a:t>
            </a:r>
            <a:r>
              <a:rPr lang="en-US" altLang="zh-CN" sz="2400" dirty="0">
                <a:latin typeface="华文楷体" panose="02010600040101010101" pitchFamily="2" charset="-122"/>
                <a:ea typeface="华文楷体" panose="02010600040101010101" pitchFamily="2" charset="-122"/>
              </a:rPr>
              <a:t>”</a:t>
            </a:r>
            <a:r>
              <a:rPr lang="zh-CN" altLang="zh-CN" sz="2400" dirty="0">
                <a:latin typeface="华文楷体" panose="02010600040101010101" pitchFamily="2" charset="-122"/>
                <a:ea typeface="华文楷体" panose="02010600040101010101" pitchFamily="2" charset="-122"/>
              </a:rPr>
              <a:t>改革要求，充分体现非歧视和公平竞争原则，进一步削减行政许可数量，放宽市场准入，更好地激发市场活力和社会创造力。</a:t>
            </a:r>
            <a:endParaRPr lang="zh-CN" altLang="zh-CN" sz="24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第二，由商用密码管理条例规定的</a:t>
            </a:r>
            <a:r>
              <a:rPr lang="zh-CN" altLang="zh-CN" sz="2400" dirty="0">
                <a:solidFill>
                  <a:srgbClr val="FF0000"/>
                </a:solidFill>
                <a:latin typeface="华文楷体" panose="02010600040101010101" pitchFamily="2" charset="-122"/>
                <a:ea typeface="华文楷体" panose="02010600040101010101" pitchFamily="2" charset="-122"/>
              </a:rPr>
              <a:t>全环节严格管理</a:t>
            </a:r>
            <a:r>
              <a:rPr lang="zh-CN" altLang="zh-CN" sz="2400" dirty="0">
                <a:latin typeface="华文楷体" panose="02010600040101010101" pitchFamily="2" charset="-122"/>
                <a:ea typeface="华文楷体" panose="02010600040101010101" pitchFamily="2" charset="-122"/>
              </a:rPr>
              <a:t>调整为重点</a:t>
            </a:r>
            <a:r>
              <a:rPr lang="zh-CN" altLang="zh-CN" sz="2400" dirty="0">
                <a:solidFill>
                  <a:srgbClr val="FF0000"/>
                </a:solidFill>
                <a:latin typeface="华文楷体" panose="02010600040101010101" pitchFamily="2" charset="-122"/>
                <a:ea typeface="华文楷体" panose="02010600040101010101" pitchFamily="2" charset="-122"/>
              </a:rPr>
              <a:t>把控产品销售、服务提供、使用、进出口等关键环节</a:t>
            </a:r>
            <a:r>
              <a:rPr lang="zh-CN" altLang="zh-CN" sz="2400" dirty="0">
                <a:latin typeface="华文楷体" panose="02010600040101010101" pitchFamily="2" charset="-122"/>
                <a:ea typeface="华文楷体" panose="02010600040101010101" pitchFamily="2" charset="-122"/>
              </a:rPr>
              <a:t>，管理方式上由重事前审批更多地转为事中事后监管，重视发挥标准化和检测认证的支撑作用。</a:t>
            </a:r>
            <a:endParaRPr lang="zh-CN" altLang="zh-CN" sz="2400" dirty="0">
              <a:latin typeface="华文楷体" panose="02010600040101010101" pitchFamily="2" charset="-122"/>
              <a:ea typeface="华文楷体" panose="02010600040101010101" pitchFamily="2" charset="-122"/>
            </a:endParaRPr>
          </a:p>
          <a:p>
            <a:pPr lvl="1"/>
            <a:r>
              <a:rPr lang="zh-CN" altLang="zh-CN" sz="2400" dirty="0">
                <a:latin typeface="华文楷体" panose="02010600040101010101" pitchFamily="2" charset="-122"/>
                <a:ea typeface="华文楷体" panose="02010600040101010101" pitchFamily="2" charset="-122"/>
              </a:rPr>
              <a:t>第三，对于关系国家安全和社会公共利益，又难以通过市场机制或者事中事后监督方式进行有效监管的少数事项，规定了必要的行政许可和管制措施。</a:t>
            </a:r>
            <a:endParaRPr lang="zh-CN" altLang="en-US" sz="800"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5475">
                                            <p:txEl>
                                              <p:pRg st="1" end="1"/>
                                            </p:txEl>
                                          </p:spTgt>
                                        </p:tgtEl>
                                        <p:attrNameLst>
                                          <p:attrName>style.visibility</p:attrName>
                                        </p:attrNameLst>
                                      </p:cBhvr>
                                      <p:to>
                                        <p:strVal val="visible"/>
                                      </p:to>
                                    </p:set>
                                    <p:animEffect transition="in" filter="circle(in)">
                                      <p:cBhvr>
                                        <p:cTn id="7" dur="2000"/>
                                        <p:tgtEl>
                                          <p:spTgt spid="10547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05475">
                                            <p:txEl>
                                              <p:pRg st="2" end="2"/>
                                            </p:txEl>
                                          </p:spTgt>
                                        </p:tgtEl>
                                        <p:attrNameLst>
                                          <p:attrName>style.visibility</p:attrName>
                                        </p:attrNameLst>
                                      </p:cBhvr>
                                      <p:to>
                                        <p:strVal val="visible"/>
                                      </p:to>
                                    </p:set>
                                    <p:animEffect transition="in" filter="fade">
                                      <p:cBhvr>
                                        <p:cTn id="12" dur="1000"/>
                                        <p:tgtEl>
                                          <p:spTgt spid="105475">
                                            <p:txEl>
                                              <p:pRg st="2" end="2"/>
                                            </p:txEl>
                                          </p:spTgt>
                                        </p:tgtEl>
                                      </p:cBhvr>
                                    </p:animEffect>
                                    <p:anim calcmode="lin" valueType="num">
                                      <p:cBhvr>
                                        <p:cTn id="13" dur="1000" fill="hold"/>
                                        <p:tgtEl>
                                          <p:spTgt spid="10547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0547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5475">
                                            <p:txEl>
                                              <p:pRg st="3" end="3"/>
                                            </p:txEl>
                                          </p:spTgt>
                                        </p:tgtEl>
                                        <p:attrNameLst>
                                          <p:attrName>style.visibility</p:attrName>
                                        </p:attrNameLst>
                                      </p:cBhvr>
                                      <p:to>
                                        <p:strVal val="visible"/>
                                      </p:to>
                                    </p:set>
                                    <p:anim calcmode="lin" valueType="num">
                                      <p:cBhvr additive="base">
                                        <p:cTn id="19" dur="500" fill="hold"/>
                                        <p:tgtEl>
                                          <p:spTgt spid="10547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547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sym typeface="+mn-ea"/>
              </a:rPr>
              <a:t>其他有关信息安全的法律法规</a:t>
            </a:r>
            <a:endParaRPr lang="zh-CN" altLang="en-US" sz="3200" b="1" dirty="0">
              <a:latin typeface="华文楷体" panose="02010600040101010101" pitchFamily="2" charset="-122"/>
              <a:ea typeface="华文楷体" panose="02010600040101010101" pitchFamily="2" charset="-122"/>
            </a:endParaRPr>
          </a:p>
        </p:txBody>
      </p:sp>
      <p:sp>
        <p:nvSpPr>
          <p:cNvPr id="106499" name="内容占位符 2"/>
          <p:cNvSpPr>
            <a:spLocks noGrp="1"/>
          </p:cNvSpPr>
          <p:nvPr>
            <p:ph idx="1"/>
          </p:nvPr>
        </p:nvSpPr>
        <p:spPr>
          <a:xfrm>
            <a:off x="381000" y="1143000"/>
            <a:ext cx="8305800" cy="5562600"/>
          </a:xfrm>
        </p:spPr>
        <p:txBody>
          <a:bodyPr vert="horz" wrap="square" lIns="91440" tIns="45720" rIns="91440" bIns="45720" anchor="t" anchorCtr="0"/>
          <a:lstStyle/>
          <a:p>
            <a:pPr marL="0" indent="0">
              <a:buNone/>
            </a:pPr>
            <a:r>
              <a:rPr lang="zh-CN" altLang="zh-CN" sz="2800" b="1" dirty="0">
                <a:latin typeface="华文楷体" panose="02010600040101010101" pitchFamily="2" charset="-122"/>
                <a:ea typeface="华文楷体" panose="02010600040101010101" pitchFamily="2" charset="-122"/>
              </a:rPr>
              <a:t>五、密码法对</a:t>
            </a:r>
            <a:r>
              <a:rPr lang="zh-CN" altLang="zh-CN" sz="2800" b="1" dirty="0">
                <a:solidFill>
                  <a:srgbClr val="FF0000"/>
                </a:solidFill>
                <a:latin typeface="华文楷体" panose="02010600040101010101" pitchFamily="2" charset="-122"/>
                <a:ea typeface="华文楷体" panose="02010600040101010101" pitchFamily="2" charset="-122"/>
              </a:rPr>
              <a:t>特定商用密码产品、服务实行强制性检测认证制度</a:t>
            </a:r>
            <a:endParaRPr lang="zh-CN" altLang="zh-CN" sz="2800" dirty="0">
              <a:solidFill>
                <a:srgbClr val="FF0000"/>
              </a:solidFill>
              <a:latin typeface="华文楷体" panose="02010600040101010101" pitchFamily="2" charset="-122"/>
              <a:ea typeface="华文楷体" panose="02010600040101010101" pitchFamily="2" charset="-122"/>
            </a:endParaRPr>
          </a:p>
          <a:p>
            <a:pPr lvl="1"/>
            <a:r>
              <a:rPr lang="zh-CN" altLang="zh-CN" sz="2000" dirty="0">
                <a:latin typeface="华文楷体" panose="02010600040101010101" pitchFamily="2" charset="-122"/>
                <a:ea typeface="华文楷体" panose="02010600040101010101" pitchFamily="2" charset="-122"/>
              </a:rPr>
              <a:t>密码法设立该制度，是维护国家安全和社会公共利益的需要。</a:t>
            </a:r>
            <a:endParaRPr lang="en-US" altLang="zh-CN" sz="2000" dirty="0">
              <a:latin typeface="华文楷体" panose="02010600040101010101" pitchFamily="2" charset="-122"/>
              <a:ea typeface="华文楷体" panose="02010600040101010101" pitchFamily="2" charset="-122"/>
            </a:endParaRPr>
          </a:p>
          <a:p>
            <a:pPr lvl="1"/>
            <a:r>
              <a:rPr lang="zh-CN" altLang="zh-CN" sz="2000" dirty="0">
                <a:latin typeface="华文楷体" panose="02010600040101010101" pitchFamily="2" charset="-122"/>
                <a:ea typeface="华文楷体" panose="02010600040101010101" pitchFamily="2" charset="-122"/>
              </a:rPr>
              <a:t>商用密码产品、服务是专业技术性很强的特殊产品和服务，广泛应用于国民经济和社会发展各领域，应用于关键信息基础设施，其质量与安全性直接关系国家安全和社会公共利益，需要通过检测认证的方式对其质量与安全性进行技术把关。</a:t>
            </a:r>
            <a:endParaRPr lang="en-US" altLang="zh-CN" sz="2000" dirty="0">
              <a:latin typeface="华文楷体" panose="02010600040101010101" pitchFamily="2" charset="-122"/>
              <a:ea typeface="华文楷体" panose="02010600040101010101" pitchFamily="2" charset="-122"/>
            </a:endParaRPr>
          </a:p>
          <a:p>
            <a:pPr lvl="1"/>
            <a:r>
              <a:rPr lang="zh-CN" altLang="zh-CN" sz="2000" dirty="0">
                <a:solidFill>
                  <a:srgbClr val="FF0000"/>
                </a:solidFill>
                <a:latin typeface="华文楷体" panose="02010600040101010101" pitchFamily="2" charset="-122"/>
                <a:ea typeface="华文楷体" panose="02010600040101010101" pitchFamily="2" charset="-122"/>
              </a:rPr>
              <a:t>强制性检测认证制度仅适用于涉及国家安全、国计民生、社会公共利益的商用密码产品和使用网络关键设备和网络安全专用产品的商用密码服务</a:t>
            </a:r>
            <a:r>
              <a:rPr lang="zh-CN" altLang="zh-CN" sz="2000" dirty="0">
                <a:latin typeface="华文楷体" panose="02010600040101010101" pitchFamily="2" charset="-122"/>
                <a:ea typeface="华文楷体" panose="02010600040101010101" pitchFamily="2" charset="-122"/>
              </a:rPr>
              <a:t>，并通过制定产品、服务目录明确界定管理范围，不会对市场和产业构成不必要的限制。</a:t>
            </a:r>
            <a:endParaRPr lang="zh-CN" altLang="en-US" sz="600"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6499">
                                            <p:txEl>
                                              <p:pRg st="1" end="1"/>
                                            </p:txEl>
                                          </p:spTgt>
                                        </p:tgtEl>
                                        <p:attrNameLst>
                                          <p:attrName>style.visibility</p:attrName>
                                        </p:attrNameLst>
                                      </p:cBhvr>
                                      <p:to>
                                        <p:strVal val="visible"/>
                                      </p:to>
                                    </p:set>
                                    <p:animEffect transition="in" filter="circle(in)">
                                      <p:cBhvr>
                                        <p:cTn id="7" dur="2000"/>
                                        <p:tgtEl>
                                          <p:spTgt spid="1064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6499">
                                            <p:txEl>
                                              <p:pRg st="2" end="2"/>
                                            </p:txEl>
                                          </p:spTgt>
                                        </p:tgtEl>
                                        <p:attrNameLst>
                                          <p:attrName>style.visibility</p:attrName>
                                        </p:attrNameLst>
                                      </p:cBhvr>
                                      <p:to>
                                        <p:strVal val="visible"/>
                                      </p:to>
                                    </p:set>
                                    <p:animEffect transition="in" filter="barn(inVertical)">
                                      <p:cBhvr>
                                        <p:cTn id="12" dur="500"/>
                                        <p:tgtEl>
                                          <p:spTgt spid="10649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06499">
                                            <p:txEl>
                                              <p:pRg st="3" end="3"/>
                                            </p:txEl>
                                          </p:spTgt>
                                        </p:tgtEl>
                                        <p:attrNameLst>
                                          <p:attrName>style.visibility</p:attrName>
                                        </p:attrNameLst>
                                      </p:cBhvr>
                                      <p:to>
                                        <p:strVal val="visible"/>
                                      </p:to>
                                    </p:set>
                                    <p:animEffect transition="in" filter="fade">
                                      <p:cBhvr>
                                        <p:cTn id="17" dur="1000"/>
                                        <p:tgtEl>
                                          <p:spTgt spid="106499">
                                            <p:txEl>
                                              <p:pRg st="3" end="3"/>
                                            </p:txEl>
                                          </p:spTgt>
                                        </p:tgtEl>
                                      </p:cBhvr>
                                    </p:animEffect>
                                    <p:anim calcmode="lin" valueType="num">
                                      <p:cBhvr>
                                        <p:cTn id="18" dur="1000" fill="hold"/>
                                        <p:tgtEl>
                                          <p:spTgt spid="106499">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0649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sym typeface="+mn-ea"/>
              </a:rPr>
              <a:t>其他有关信息安全的法律法规</a:t>
            </a:r>
            <a:endParaRPr lang="zh-CN" altLang="en-US" sz="3200" b="1" dirty="0">
              <a:latin typeface="华文楷体" panose="02010600040101010101" pitchFamily="2" charset="-122"/>
              <a:ea typeface="华文楷体" panose="02010600040101010101" pitchFamily="2" charset="-122"/>
            </a:endParaRPr>
          </a:p>
        </p:txBody>
      </p:sp>
      <p:sp>
        <p:nvSpPr>
          <p:cNvPr id="107523" name="内容占位符 2"/>
          <p:cNvSpPr>
            <a:spLocks noGrp="1"/>
          </p:cNvSpPr>
          <p:nvPr>
            <p:ph idx="1"/>
          </p:nvPr>
        </p:nvSpPr>
        <p:spPr>
          <a:xfrm>
            <a:off x="381000" y="1143000"/>
            <a:ext cx="8305800" cy="5562600"/>
          </a:xfrm>
        </p:spPr>
        <p:txBody>
          <a:bodyPr vert="horz" wrap="square" lIns="91440" tIns="45720" rIns="91440" bIns="45720" anchor="t" anchorCtr="0"/>
          <a:lstStyle/>
          <a:p>
            <a:pPr marL="0" indent="0">
              <a:buNone/>
            </a:pPr>
            <a:r>
              <a:rPr lang="en-US" altLang="zh-CN" sz="2800" b="1" dirty="0">
                <a:latin typeface="华文楷体" panose="02010600040101010101" pitchFamily="2" charset="-122"/>
                <a:ea typeface="华文楷体" panose="02010600040101010101" pitchFamily="2" charset="-122"/>
              </a:rPr>
              <a:t> </a:t>
            </a:r>
            <a:r>
              <a:rPr lang="zh-CN" altLang="zh-CN" sz="2800" b="1" dirty="0">
                <a:latin typeface="华文楷体" panose="02010600040101010101" pitchFamily="2" charset="-122"/>
                <a:ea typeface="华文楷体" panose="02010600040101010101" pitchFamily="2" charset="-122"/>
              </a:rPr>
              <a:t>六、抓好密码法的贯彻落实</a:t>
            </a:r>
            <a:endParaRPr lang="zh-CN" altLang="zh-CN" sz="2800" dirty="0">
              <a:latin typeface="华文楷体" panose="02010600040101010101" pitchFamily="2" charset="-122"/>
              <a:ea typeface="华文楷体" panose="02010600040101010101" pitchFamily="2" charset="-122"/>
            </a:endParaRPr>
          </a:p>
          <a:p>
            <a:pPr lvl="1"/>
            <a:r>
              <a:rPr lang="zh-CN" altLang="zh-CN" sz="2000" dirty="0">
                <a:latin typeface="华文楷体" panose="02010600040101010101" pitchFamily="2" charset="-122"/>
                <a:ea typeface="华文楷体" panose="02010600040101010101" pitchFamily="2" charset="-122"/>
              </a:rPr>
              <a:t>第一，是</a:t>
            </a:r>
            <a:r>
              <a:rPr lang="zh-CN" altLang="zh-CN" sz="2000" dirty="0">
                <a:solidFill>
                  <a:srgbClr val="FF0000"/>
                </a:solidFill>
                <a:latin typeface="华文楷体" panose="02010600040101010101" pitchFamily="2" charset="-122"/>
                <a:ea typeface="华文楷体" panose="02010600040101010101" pitchFamily="2" charset="-122"/>
              </a:rPr>
              <a:t>加强学习宣传贯彻</a:t>
            </a:r>
            <a:r>
              <a:rPr lang="zh-CN" altLang="zh-CN" sz="2000" dirty="0">
                <a:latin typeface="华文楷体" panose="02010600040101010101" pitchFamily="2" charset="-122"/>
                <a:ea typeface="华文楷体" panose="02010600040101010101" pitchFamily="2" charset="-122"/>
              </a:rPr>
              <a:t>。将密码法纳入国民教育体系和公务员教育培训体系，推动在全社会形成学习宣传贯彻密码法的热潮，增强公民、法人和其他组织的密码安全意识。</a:t>
            </a:r>
            <a:endParaRPr lang="zh-CN" altLang="zh-CN" sz="2000" dirty="0">
              <a:latin typeface="华文楷体" panose="02010600040101010101" pitchFamily="2" charset="-122"/>
              <a:ea typeface="华文楷体" panose="02010600040101010101" pitchFamily="2" charset="-122"/>
            </a:endParaRPr>
          </a:p>
          <a:p>
            <a:pPr lvl="1"/>
            <a:r>
              <a:rPr lang="zh-CN" altLang="zh-CN" sz="2000" dirty="0">
                <a:latin typeface="华文楷体" panose="02010600040101010101" pitchFamily="2" charset="-122"/>
                <a:ea typeface="华文楷体" panose="02010600040101010101" pitchFamily="2" charset="-122"/>
              </a:rPr>
              <a:t>第二，是</a:t>
            </a:r>
            <a:r>
              <a:rPr lang="zh-CN" altLang="zh-CN" sz="2000" dirty="0">
                <a:solidFill>
                  <a:srgbClr val="FF0000"/>
                </a:solidFill>
                <a:latin typeface="华文楷体" panose="02010600040101010101" pitchFamily="2" charset="-122"/>
                <a:ea typeface="华文楷体" panose="02010600040101010101" pitchFamily="2" charset="-122"/>
              </a:rPr>
              <a:t>完善配套法规制度</a:t>
            </a:r>
            <a:r>
              <a:rPr lang="zh-CN" altLang="zh-CN" sz="2000" dirty="0">
                <a:latin typeface="华文楷体" panose="02010600040101010101" pitchFamily="2" charset="-122"/>
                <a:ea typeface="华文楷体" panose="02010600040101010101" pitchFamily="2" charset="-122"/>
              </a:rPr>
              <a:t>。以密码法颁布实施为契机，抓紧推进商用密码管理条例等配套法规规章的制修订工作，进一步提高密码法律法规体系的系统性、权威性和有效性，提高密码工作的科学化、规范化、法治化水平。</a:t>
            </a:r>
            <a:endParaRPr lang="zh-CN" altLang="zh-CN" sz="2000" dirty="0">
              <a:latin typeface="华文楷体" panose="02010600040101010101" pitchFamily="2" charset="-122"/>
              <a:ea typeface="华文楷体" panose="02010600040101010101" pitchFamily="2" charset="-122"/>
            </a:endParaRPr>
          </a:p>
          <a:p>
            <a:pPr lvl="1"/>
            <a:r>
              <a:rPr lang="zh-CN" altLang="zh-CN" sz="2000" dirty="0">
                <a:latin typeface="华文楷体" panose="02010600040101010101" pitchFamily="2" charset="-122"/>
                <a:ea typeface="华文楷体" panose="02010600040101010101" pitchFamily="2" charset="-122"/>
              </a:rPr>
              <a:t>第三，是</a:t>
            </a:r>
            <a:r>
              <a:rPr lang="zh-CN" altLang="zh-CN" sz="2000" dirty="0">
                <a:solidFill>
                  <a:srgbClr val="FF0000"/>
                </a:solidFill>
                <a:latin typeface="华文楷体" panose="02010600040101010101" pitchFamily="2" charset="-122"/>
                <a:ea typeface="华文楷体" panose="02010600040101010101" pitchFamily="2" charset="-122"/>
              </a:rPr>
              <a:t>抓好督查落实</a:t>
            </a:r>
            <a:r>
              <a:rPr lang="zh-CN" altLang="zh-CN" sz="2000" dirty="0">
                <a:latin typeface="华文楷体" panose="02010600040101010101" pitchFamily="2" charset="-122"/>
                <a:ea typeface="华文楷体" panose="02010600040101010101" pitchFamily="2" charset="-122"/>
              </a:rPr>
              <a:t>。加强对密码法贯彻落实情况的监督检查和工作指导，针对实施过程中遇到的重点难点问题深入开展调查研究，及时解决执法、守法过程中的新情况新问题，确保密码法的各项制度规定落到实处。</a:t>
            </a:r>
            <a:endParaRPr lang="zh-CN" altLang="en-US" sz="100"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7523">
                                            <p:txEl>
                                              <p:pRg st="1" end="1"/>
                                            </p:txEl>
                                          </p:spTgt>
                                        </p:tgtEl>
                                        <p:attrNameLst>
                                          <p:attrName>style.visibility</p:attrName>
                                        </p:attrNameLst>
                                      </p:cBhvr>
                                      <p:to>
                                        <p:strVal val="visible"/>
                                      </p:to>
                                    </p:set>
                                    <p:animEffect transition="in" filter="barn(inVertical)">
                                      <p:cBhvr>
                                        <p:cTn id="7" dur="500"/>
                                        <p:tgtEl>
                                          <p:spTgt spid="10752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7523">
                                            <p:txEl>
                                              <p:pRg st="2" end="2"/>
                                            </p:txEl>
                                          </p:spTgt>
                                        </p:tgtEl>
                                        <p:attrNameLst>
                                          <p:attrName>style.visibility</p:attrName>
                                        </p:attrNameLst>
                                      </p:cBhvr>
                                      <p:to>
                                        <p:strVal val="visible"/>
                                      </p:to>
                                    </p:set>
                                    <p:anim calcmode="lin" valueType="num">
                                      <p:cBhvr additive="base">
                                        <p:cTn id="12" dur="500" fill="hold"/>
                                        <p:tgtEl>
                                          <p:spTgt spid="107523">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075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107523">
                                            <p:txEl>
                                              <p:pRg st="3" end="3"/>
                                            </p:txEl>
                                          </p:spTgt>
                                        </p:tgtEl>
                                        <p:attrNameLst>
                                          <p:attrName>style.visibility</p:attrName>
                                        </p:attrNameLst>
                                      </p:cBhvr>
                                      <p:to>
                                        <p:strVal val="visible"/>
                                      </p:to>
                                    </p:set>
                                    <p:animEffect transition="in" filter="wheel(1)">
                                      <p:cBhvr>
                                        <p:cTn id="18" dur="2000"/>
                                        <p:tgtEl>
                                          <p:spTgt spid="1075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p:cNvSpPr>
            <a:spLocks noGrp="1"/>
          </p:cNvSpPr>
          <p:nvPr>
            <p:ph type="title"/>
          </p:nvPr>
        </p:nvSpPr>
        <p:spPr/>
        <p:txBody>
          <a:bodyPr vert="horz" wrap="square" lIns="91440" tIns="45720" rIns="91440" bIns="45720" anchor="ctr" anchorCtr="0"/>
          <a:lstStyle/>
          <a:p>
            <a:pPr eaLnBrk="1" hangingPunct="1"/>
            <a:r>
              <a:rPr lang="zh-CN" altLang="en-US" sz="3200" b="1" dirty="0">
                <a:latin typeface="华文楷体" panose="02010600040101010101" pitchFamily="2" charset="-122"/>
                <a:ea typeface="华文楷体" panose="02010600040101010101" pitchFamily="2" charset="-122"/>
                <a:sym typeface="+mn-ea"/>
              </a:rPr>
              <a:t>其他有关信息安全的法律法规</a:t>
            </a:r>
            <a:endParaRPr lang="zh-CN" altLang="en-US" sz="3200" b="1" dirty="0">
              <a:latin typeface="华文楷体" panose="02010600040101010101" pitchFamily="2" charset="-122"/>
              <a:ea typeface="华文楷体" panose="02010600040101010101" pitchFamily="2" charset="-122"/>
            </a:endParaRPr>
          </a:p>
        </p:txBody>
      </p:sp>
      <p:sp>
        <p:nvSpPr>
          <p:cNvPr id="44034" name="内容占位符 2"/>
          <p:cNvSpPr>
            <a:spLocks noGrp="1"/>
          </p:cNvSpPr>
          <p:nvPr>
            <p:ph idx="1"/>
          </p:nvPr>
        </p:nvSpPr>
        <p:spPr>
          <a:xfrm>
            <a:off x="381000" y="1143000"/>
            <a:ext cx="8305800" cy="5562600"/>
          </a:xfrm>
        </p:spPr>
        <p:txBody>
          <a:bodyPr vert="horz" wrap="square" lIns="91440" tIns="45720" rIns="91440" bIns="45720" anchor="t" anchorCtr="0"/>
          <a:lstStyle/>
          <a:p>
            <a:r>
              <a:rPr lang="zh-CN" altLang="en-US" sz="2800" dirty="0">
                <a:latin typeface="华文楷体" panose="02010600040101010101" pitchFamily="2" charset="-122"/>
                <a:ea typeface="华文楷体" panose="02010600040101010101" pitchFamily="2" charset="-122"/>
              </a:rPr>
              <a:t>补充：密码法，课下阅读</a:t>
            </a:r>
            <a:endParaRPr lang="en-US" altLang="zh-CN" sz="2800" dirty="0">
              <a:latin typeface="华文楷体" panose="02010600040101010101" pitchFamily="2" charset="-122"/>
              <a:ea typeface="华文楷体" panose="02010600040101010101" pitchFamily="2" charset="-122"/>
            </a:endParaRPr>
          </a:p>
        </p:txBody>
      </p:sp>
      <p:pic>
        <p:nvPicPr>
          <p:cNvPr id="108548" name="图片 1"/>
          <p:cNvPicPr>
            <a:picLocks noChangeAspect="1"/>
          </p:cNvPicPr>
          <p:nvPr/>
        </p:nvPicPr>
        <p:blipFill>
          <a:blip r:embed="rId1"/>
          <a:stretch>
            <a:fillRect/>
          </a:stretch>
        </p:blipFill>
        <p:spPr>
          <a:xfrm>
            <a:off x="838200" y="1828800"/>
            <a:ext cx="3505200" cy="4673600"/>
          </a:xfrm>
          <a:prstGeom prst="rect">
            <a:avLst/>
          </a:prstGeom>
          <a:noFill/>
          <a:ln w="9525">
            <a:noFill/>
          </a:ln>
        </p:spPr>
      </p:pic>
      <p:pic>
        <p:nvPicPr>
          <p:cNvPr id="108549" name="图片 2"/>
          <p:cNvPicPr>
            <a:picLocks noChangeAspect="1"/>
          </p:cNvPicPr>
          <p:nvPr/>
        </p:nvPicPr>
        <p:blipFill>
          <a:blip r:embed="rId2"/>
          <a:stretch>
            <a:fillRect/>
          </a:stretch>
        </p:blipFill>
        <p:spPr>
          <a:xfrm>
            <a:off x="4533900" y="1828800"/>
            <a:ext cx="3486150" cy="46482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8548"/>
                                        </p:tgtEl>
                                        <p:attrNameLst>
                                          <p:attrName>style.visibility</p:attrName>
                                        </p:attrNameLst>
                                      </p:cBhvr>
                                      <p:to>
                                        <p:strVal val="visible"/>
                                      </p:to>
                                    </p:set>
                                    <p:animEffect transition="in" filter="wipe(down)">
                                      <p:cBhvr>
                                        <p:cTn id="7" dur="500"/>
                                        <p:tgtEl>
                                          <p:spTgt spid="10854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108549"/>
                                        </p:tgtEl>
                                        <p:attrNameLst>
                                          <p:attrName>style.visibility</p:attrName>
                                        </p:attrNameLst>
                                      </p:cBhvr>
                                      <p:to>
                                        <p:strVal val="visible"/>
                                      </p:to>
                                    </p:set>
                                    <p:animEffect transition="in" filter="wheel(1)">
                                      <p:cBhvr>
                                        <p:cTn id="12" dur="2000"/>
                                        <p:tgtEl>
                                          <p:spTgt spid="108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Line 11"/>
          <p:cNvSpPr/>
          <p:nvPr/>
        </p:nvSpPr>
        <p:spPr>
          <a:xfrm>
            <a:off x="2057400" y="2133600"/>
            <a:ext cx="5791200" cy="1588"/>
          </a:xfrm>
          <a:prstGeom prst="line">
            <a:avLst/>
          </a:prstGeom>
          <a:ln w="25400" cap="flat" cmpd="sng">
            <a:solidFill>
              <a:srgbClr val="C0C0C0"/>
            </a:solidFill>
            <a:prstDash val="sysDot"/>
            <a:round/>
            <a:headEnd type="none" w="med" len="med"/>
            <a:tailEnd type="oval" w="med" len="med"/>
          </a:ln>
        </p:spPr>
      </p:sp>
      <p:sp>
        <p:nvSpPr>
          <p:cNvPr id="45058" name="Line 14"/>
          <p:cNvSpPr/>
          <p:nvPr/>
        </p:nvSpPr>
        <p:spPr>
          <a:xfrm flipV="1">
            <a:off x="2057400" y="2984500"/>
            <a:ext cx="5791200" cy="33338"/>
          </a:xfrm>
          <a:prstGeom prst="line">
            <a:avLst/>
          </a:prstGeom>
          <a:ln w="25400" cap="flat" cmpd="sng">
            <a:solidFill>
              <a:srgbClr val="C0C0C0"/>
            </a:solidFill>
            <a:prstDash val="sysDot"/>
            <a:round/>
            <a:headEnd type="none" w="med" len="med"/>
            <a:tailEnd type="oval" w="med" len="med"/>
          </a:ln>
        </p:spPr>
      </p:sp>
      <p:sp>
        <p:nvSpPr>
          <p:cNvPr id="45059" name="Line 25"/>
          <p:cNvSpPr/>
          <p:nvPr/>
        </p:nvSpPr>
        <p:spPr>
          <a:xfrm flipV="1">
            <a:off x="1981200" y="3932238"/>
            <a:ext cx="5867400" cy="17462"/>
          </a:xfrm>
          <a:prstGeom prst="line">
            <a:avLst/>
          </a:prstGeom>
          <a:ln w="25400" cap="flat" cmpd="sng">
            <a:solidFill>
              <a:srgbClr val="C0C0C0"/>
            </a:solidFill>
            <a:prstDash val="sysDot"/>
            <a:round/>
            <a:headEnd type="none" w="med" len="med"/>
            <a:tailEnd type="oval" w="med" len="med"/>
          </a:ln>
        </p:spPr>
      </p:sp>
      <p:sp>
        <p:nvSpPr>
          <p:cNvPr id="45060" name="Line 25"/>
          <p:cNvSpPr/>
          <p:nvPr/>
        </p:nvSpPr>
        <p:spPr>
          <a:xfrm flipV="1">
            <a:off x="1998663" y="4824413"/>
            <a:ext cx="5849937" cy="17462"/>
          </a:xfrm>
          <a:prstGeom prst="line">
            <a:avLst/>
          </a:prstGeom>
          <a:ln w="25400" cap="flat" cmpd="sng">
            <a:solidFill>
              <a:srgbClr val="C0C0C0"/>
            </a:solidFill>
            <a:prstDash val="sysDot"/>
            <a:round/>
            <a:headEnd type="none" w="med" len="med"/>
            <a:tailEnd type="oval" w="med" len="med"/>
          </a:ln>
        </p:spPr>
      </p:sp>
      <p:sp>
        <p:nvSpPr>
          <p:cNvPr id="45061" name="Rectangle 2"/>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本章授课内容</a:t>
            </a:r>
            <a:endParaRPr lang="en-US" altLang="zh-CN" b="1" dirty="0">
              <a:ea typeface="宋体" panose="02010600030101010101" pitchFamily="2" charset="-122"/>
            </a:endParaRPr>
          </a:p>
        </p:txBody>
      </p:sp>
      <p:grpSp>
        <p:nvGrpSpPr>
          <p:cNvPr id="45062" name="Group 3"/>
          <p:cNvGrpSpPr/>
          <p:nvPr/>
        </p:nvGrpSpPr>
        <p:grpSpPr>
          <a:xfrm>
            <a:off x="1524000" y="1524000"/>
            <a:ext cx="762000" cy="665163"/>
            <a:chOff x="1110" y="2656"/>
            <a:chExt cx="1549" cy="1351"/>
          </a:xfrm>
        </p:grpSpPr>
        <p:sp>
          <p:nvSpPr>
            <p:cNvPr id="45063"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5064"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grpSp>
        <p:nvGrpSpPr>
          <p:cNvPr id="45066" name="Group 7"/>
          <p:cNvGrpSpPr/>
          <p:nvPr/>
        </p:nvGrpSpPr>
        <p:grpSpPr>
          <a:xfrm>
            <a:off x="1524000" y="2374900"/>
            <a:ext cx="762000" cy="665163"/>
            <a:chOff x="3174" y="2656"/>
            <a:chExt cx="1549" cy="1351"/>
          </a:xfrm>
        </p:grpSpPr>
        <p:sp>
          <p:nvSpPr>
            <p:cNvPr id="45067"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5068"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sp>
        <p:nvSpPr>
          <p:cNvPr id="45070" name="Text Box 12"/>
          <p:cNvSpPr txBox="1"/>
          <p:nvPr/>
        </p:nvSpPr>
        <p:spPr>
          <a:xfrm>
            <a:off x="2362200" y="1581150"/>
            <a:ext cx="5638800" cy="523875"/>
          </a:xfrm>
          <a:prstGeom prst="rect">
            <a:avLst/>
          </a:prstGeom>
          <a:noFill/>
          <a:ln w="9525">
            <a:noFill/>
          </a:ln>
        </p:spPr>
        <p:txBody>
          <a:bodyPr anchor="t" anchorCtr="0">
            <a:spAutoFit/>
          </a:bodyPr>
          <a:lstStyle/>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中国信息安全信法律法规体系</a:t>
            </a:r>
            <a:endParaRPr lang="zh-CN" altLang="en-US" sz="2800" b="1" dirty="0">
              <a:solidFill>
                <a:schemeClr val="tx1"/>
              </a:solidFill>
              <a:latin typeface="华文楷体" panose="02010600040101010101" pitchFamily="2" charset="-122"/>
              <a:ea typeface="华文楷体" panose="02010600040101010101" pitchFamily="2" charset="-122"/>
            </a:endParaRPr>
          </a:p>
        </p:txBody>
      </p:sp>
      <p:sp>
        <p:nvSpPr>
          <p:cNvPr id="45071" name="Text Box 13"/>
          <p:cNvSpPr txBox="1"/>
          <p:nvPr/>
        </p:nvSpPr>
        <p:spPr>
          <a:xfrm>
            <a:off x="1733550" y="1622425"/>
            <a:ext cx="328613" cy="461963"/>
          </a:xfrm>
          <a:prstGeom prst="rect">
            <a:avLst/>
          </a:prstGeom>
          <a:noFill/>
          <a:ln w="9525">
            <a:noFill/>
          </a:ln>
        </p:spPr>
        <p:txBody>
          <a:bodyPr wrap="none" anchor="t" anchorCtr="0">
            <a:spAutoFit/>
          </a:bodyPr>
          <a:lstStyle/>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1</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45072" name="Text Box 16"/>
          <p:cNvSpPr txBox="1"/>
          <p:nvPr/>
        </p:nvSpPr>
        <p:spPr>
          <a:xfrm>
            <a:off x="1733550" y="2536825"/>
            <a:ext cx="328613" cy="461963"/>
          </a:xfrm>
          <a:prstGeom prst="rect">
            <a:avLst/>
          </a:prstGeom>
          <a:noFill/>
          <a:ln w="9525">
            <a:noFill/>
          </a:ln>
        </p:spPr>
        <p:txBody>
          <a:bodyPr wrap="none" anchor="t" anchorCtr="0">
            <a:spAutoFit/>
          </a:bodyPr>
          <a:lstStyle/>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2</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45073" name="Text Box 21"/>
          <p:cNvSpPr txBox="1"/>
          <p:nvPr/>
        </p:nvSpPr>
        <p:spPr>
          <a:xfrm>
            <a:off x="1733550" y="3429000"/>
            <a:ext cx="328613" cy="461963"/>
          </a:xfrm>
          <a:prstGeom prst="rect">
            <a:avLst/>
          </a:prstGeom>
          <a:noFill/>
          <a:ln w="9525">
            <a:noFill/>
          </a:ln>
        </p:spPr>
        <p:txBody>
          <a:bodyPr wrap="none" anchor="t" anchorCtr="0">
            <a:spAutoFit/>
          </a:bodyPr>
          <a:lstStyle/>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3</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45074" name="Text Box 24"/>
          <p:cNvSpPr txBox="1"/>
          <p:nvPr/>
        </p:nvSpPr>
        <p:spPr>
          <a:xfrm>
            <a:off x="2286000" y="2490788"/>
            <a:ext cx="5715000" cy="523875"/>
          </a:xfrm>
          <a:prstGeom prst="rect">
            <a:avLst/>
          </a:prstGeom>
          <a:noFill/>
          <a:ln w="9525">
            <a:noFill/>
          </a:ln>
        </p:spPr>
        <p:txBody>
          <a:bodyPr anchor="t" anchorCtr="0">
            <a:spAutoFit/>
          </a:bodyPr>
          <a:lstStyle/>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 信息系统安全相关法律法规</a:t>
            </a:r>
            <a:endParaRPr lang="zh-CN" altLang="en-US" sz="2800" b="1" dirty="0">
              <a:solidFill>
                <a:schemeClr val="tx1"/>
              </a:solidFill>
              <a:latin typeface="华文楷体" panose="02010600040101010101" pitchFamily="2" charset="-122"/>
              <a:ea typeface="华文楷体" panose="02010600040101010101" pitchFamily="2" charset="-122"/>
            </a:endParaRPr>
          </a:p>
        </p:txBody>
      </p:sp>
      <p:sp>
        <p:nvSpPr>
          <p:cNvPr id="45075" name="Text Box 15"/>
          <p:cNvSpPr txBox="1"/>
          <p:nvPr/>
        </p:nvSpPr>
        <p:spPr>
          <a:xfrm>
            <a:off x="2292350" y="3416300"/>
            <a:ext cx="4953000" cy="522288"/>
          </a:xfrm>
          <a:prstGeom prst="rect">
            <a:avLst/>
          </a:prstGeom>
          <a:noFill/>
          <a:ln w="9525">
            <a:noFill/>
          </a:ln>
        </p:spPr>
        <p:txBody>
          <a:bodyPr anchor="t" anchorCtr="0">
            <a:spAutoFit/>
          </a:bodyPr>
          <a:lstStyle/>
          <a:p>
            <a:pPr eaLnBrk="0" hangingPunct="0"/>
            <a:r>
              <a:rPr lang="zh-CN" altLang="en-US" sz="2800" b="1" dirty="0">
                <a:solidFill>
                  <a:srgbClr val="0D1259"/>
                </a:solidFill>
                <a:latin typeface="华文楷体" panose="02010600040101010101" pitchFamily="2" charset="-122"/>
                <a:ea typeface="华文楷体" panose="02010600040101010101" pitchFamily="2" charset="-122"/>
              </a:rPr>
              <a:t> 互联网安全管理相关法律法规</a:t>
            </a:r>
            <a:endParaRPr lang="zh-CN" altLang="en-US" sz="2800" b="1" dirty="0">
              <a:solidFill>
                <a:srgbClr val="0D1259"/>
              </a:solidFill>
              <a:latin typeface="华文楷体" panose="02010600040101010101" pitchFamily="2" charset="-122"/>
              <a:ea typeface="华文楷体" panose="02010600040101010101" pitchFamily="2" charset="-122"/>
            </a:endParaRPr>
          </a:p>
        </p:txBody>
      </p:sp>
      <p:grpSp>
        <p:nvGrpSpPr>
          <p:cNvPr id="45076" name="Group 17"/>
          <p:cNvGrpSpPr/>
          <p:nvPr/>
        </p:nvGrpSpPr>
        <p:grpSpPr>
          <a:xfrm>
            <a:off x="1524000" y="3317875"/>
            <a:ext cx="762000" cy="665163"/>
            <a:chOff x="1110" y="2656"/>
            <a:chExt cx="1549" cy="1351"/>
          </a:xfrm>
        </p:grpSpPr>
        <p:sp>
          <p:nvSpPr>
            <p:cNvPr id="45077"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5078"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45080" name="Text Box 15"/>
          <p:cNvSpPr txBox="1"/>
          <p:nvPr/>
        </p:nvSpPr>
        <p:spPr>
          <a:xfrm>
            <a:off x="2379663" y="4348163"/>
            <a:ext cx="4953000" cy="953135"/>
          </a:xfrm>
          <a:prstGeom prst="rect">
            <a:avLst/>
          </a:prstGeom>
          <a:noFill/>
          <a:ln w="9525">
            <a:noFill/>
          </a:ln>
        </p:spPr>
        <p:txBody>
          <a:bodyPr anchor="t" anchorCtr="0">
            <a:spAutoFit/>
          </a:bodyPr>
          <a:lstStyle/>
          <a:p>
            <a:pPr eaLnBrk="0" hangingPunct="0"/>
            <a:r>
              <a:rPr lang="zh-CN" altLang="en-US" sz="2800" b="1" dirty="0">
                <a:latin typeface="华文楷体" panose="02010600040101010101" pitchFamily="2" charset="-122"/>
                <a:ea typeface="华文楷体" panose="02010600040101010101" pitchFamily="2" charset="-122"/>
                <a:sym typeface="+mn-ea"/>
              </a:rPr>
              <a:t>其他有关信息安全的法律法规</a:t>
            </a:r>
            <a:endParaRPr lang="zh-CN" altLang="en-US" sz="2800" b="1" dirty="0">
              <a:latin typeface="华文楷体" panose="02010600040101010101" pitchFamily="2" charset="-122"/>
              <a:ea typeface="华文楷体" panose="02010600040101010101" pitchFamily="2" charset="-122"/>
            </a:endParaRPr>
          </a:p>
          <a:p>
            <a:pPr eaLnBrk="0" hangingPunct="0"/>
            <a:endParaRPr lang="en-US" altLang="zh-CN" sz="2800" b="1" dirty="0">
              <a:solidFill>
                <a:schemeClr val="tx1"/>
              </a:solidFill>
              <a:latin typeface="华文楷体" panose="02010600040101010101" pitchFamily="2" charset="-122"/>
              <a:ea typeface="华文楷体" panose="02010600040101010101" pitchFamily="2" charset="-122"/>
            </a:endParaRPr>
          </a:p>
        </p:txBody>
      </p:sp>
      <p:grpSp>
        <p:nvGrpSpPr>
          <p:cNvPr id="45081" name="Group 17"/>
          <p:cNvGrpSpPr/>
          <p:nvPr/>
        </p:nvGrpSpPr>
        <p:grpSpPr>
          <a:xfrm>
            <a:off x="1541463" y="4210050"/>
            <a:ext cx="762000" cy="665163"/>
            <a:chOff x="1110" y="2656"/>
            <a:chExt cx="1549" cy="1351"/>
          </a:xfrm>
        </p:grpSpPr>
        <p:sp>
          <p:nvSpPr>
            <p:cNvPr id="45082"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5083"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3"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45085" name="Text Box 15"/>
          <p:cNvSpPr txBox="1"/>
          <p:nvPr/>
        </p:nvSpPr>
        <p:spPr>
          <a:xfrm>
            <a:off x="2362200" y="5114925"/>
            <a:ext cx="4953000" cy="523875"/>
          </a:xfrm>
          <a:prstGeom prst="rect">
            <a:avLst/>
          </a:prstGeom>
          <a:noFill/>
          <a:ln w="9525">
            <a:noFill/>
          </a:ln>
        </p:spPr>
        <p:txBody>
          <a:bodyPr anchor="t" anchorCtr="0">
            <a:spAutoFit/>
          </a:bodyPr>
          <a:lstStyle/>
          <a:p>
            <a:pPr eaLnBrk="0" hangingPunct="0"/>
            <a:r>
              <a:rPr lang="zh-CN" altLang="en-US" sz="2800" b="1" dirty="0">
                <a:solidFill>
                  <a:srgbClr val="FF0000"/>
                </a:solidFill>
                <a:latin typeface="华文楷体" panose="02010600040101010101" pitchFamily="2" charset="-122"/>
                <a:ea typeface="华文楷体" panose="02010600040101010101" pitchFamily="2" charset="-122"/>
              </a:rPr>
              <a:t>思政点</a:t>
            </a:r>
            <a:endParaRPr lang="en-US" altLang="zh-CN" sz="2800" b="1" dirty="0">
              <a:solidFill>
                <a:srgbClr val="FF0000"/>
              </a:solidFill>
              <a:latin typeface="华文楷体" panose="02010600040101010101" pitchFamily="2" charset="-122"/>
              <a:ea typeface="华文楷体" panose="02010600040101010101" pitchFamily="2" charset="-122"/>
            </a:endParaRPr>
          </a:p>
        </p:txBody>
      </p:sp>
      <p:sp>
        <p:nvSpPr>
          <p:cNvPr id="45086" name="Line 25"/>
          <p:cNvSpPr/>
          <p:nvPr/>
        </p:nvSpPr>
        <p:spPr>
          <a:xfrm flipV="1">
            <a:off x="2151063" y="5621338"/>
            <a:ext cx="5697537" cy="17462"/>
          </a:xfrm>
          <a:prstGeom prst="line">
            <a:avLst/>
          </a:prstGeom>
          <a:ln w="25400" cap="flat" cmpd="sng">
            <a:solidFill>
              <a:srgbClr val="C0C0C0"/>
            </a:solidFill>
            <a:prstDash val="sysDot"/>
            <a:round/>
            <a:headEnd type="none" w="med" len="med"/>
            <a:tailEnd type="oval" w="med" len="med"/>
          </a:ln>
        </p:spPr>
      </p:sp>
      <p:grpSp>
        <p:nvGrpSpPr>
          <p:cNvPr id="45087" name="Group 17"/>
          <p:cNvGrpSpPr/>
          <p:nvPr/>
        </p:nvGrpSpPr>
        <p:grpSpPr>
          <a:xfrm>
            <a:off x="1524000" y="5049838"/>
            <a:ext cx="762000" cy="665162"/>
            <a:chOff x="1110" y="2656"/>
            <a:chExt cx="1549" cy="1351"/>
          </a:xfrm>
        </p:grpSpPr>
        <p:sp>
          <p:nvSpPr>
            <p:cNvPr id="45088"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5089"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5</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Tree>
  </p:cSld>
  <p:clrMapOvr>
    <a:masterClrMapping/>
  </p:clrMapOvr>
  <p:transition>
    <p:blinds dir="vert"/>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思政点</a:t>
            </a:r>
            <a:endParaRPr lang="zh-CN" altLang="en-US" b="1" dirty="0">
              <a:ea typeface="宋体" panose="02010600030101010101" pitchFamily="2" charset="-122"/>
            </a:endParaRPr>
          </a:p>
        </p:txBody>
      </p:sp>
      <p:pic>
        <p:nvPicPr>
          <p:cNvPr id="47106" name="图片 1"/>
          <p:cNvPicPr>
            <a:picLocks noChangeAspect="1"/>
          </p:cNvPicPr>
          <p:nvPr/>
        </p:nvPicPr>
        <p:blipFill>
          <a:blip r:embed="rId1"/>
          <a:stretch>
            <a:fillRect/>
          </a:stretch>
        </p:blipFill>
        <p:spPr>
          <a:xfrm>
            <a:off x="152400" y="4572000"/>
            <a:ext cx="2979738" cy="2063750"/>
          </a:xfrm>
          <a:prstGeom prst="rect">
            <a:avLst/>
          </a:prstGeom>
          <a:noFill/>
          <a:ln w="9525">
            <a:noFill/>
          </a:ln>
        </p:spPr>
      </p:pic>
      <p:sp>
        <p:nvSpPr>
          <p:cNvPr id="48132" name="矩形 2"/>
          <p:cNvSpPr/>
          <p:nvPr/>
        </p:nvSpPr>
        <p:spPr>
          <a:xfrm>
            <a:off x="914400" y="1698625"/>
            <a:ext cx="7467600" cy="2492375"/>
          </a:xfrm>
          <a:prstGeom prst="rect">
            <a:avLst/>
          </a:prstGeom>
          <a:noFill/>
          <a:ln w="9525">
            <a:noFill/>
          </a:ln>
        </p:spPr>
        <p:txBody>
          <a:bodyPr anchor="t" anchorCtr="0">
            <a:spAutoFit/>
          </a:bodyPr>
          <a:lstStyle/>
          <a:p>
            <a:pPr eaLnBrk="0" hangingPunct="0">
              <a:lnSpc>
                <a:spcPct val="150000"/>
              </a:lnSpc>
            </a:pPr>
            <a:r>
              <a:rPr lang="zh-CN" altLang="en-US" b="1" dirty="0">
                <a:latin typeface="华文楷体" panose="02010600040101010101" pitchFamily="2" charset="-122"/>
                <a:ea typeface="华文楷体" panose="02010600040101010101" pitchFamily="2" charset="-122"/>
              </a:rPr>
              <a:t>信息安全已经成为关系国家安全和发展、关系广大人民群众切身利益的重大问题。</a:t>
            </a:r>
            <a:endParaRPr lang="en-US" altLang="zh-CN" b="1" dirty="0">
              <a:latin typeface="华文楷体" panose="02010600040101010101" pitchFamily="2" charset="-122"/>
              <a:ea typeface="华文楷体" panose="02010600040101010101" pitchFamily="2" charset="-122"/>
            </a:endParaRPr>
          </a:p>
          <a:p>
            <a:pPr eaLnBrk="0" hangingPunct="0">
              <a:lnSpc>
                <a:spcPct val="150000"/>
              </a:lnSpc>
            </a:pPr>
            <a:r>
              <a:rPr lang="en-US" altLang="zh-CN" b="1" dirty="0">
                <a:latin typeface="华文楷体" panose="02010600040101010101" pitchFamily="2" charset="-122"/>
                <a:ea typeface="华文楷体" panose="02010600040101010101" pitchFamily="2" charset="-122"/>
              </a:rPr>
              <a:t>《</a:t>
            </a:r>
            <a:r>
              <a:rPr lang="zh-CN" altLang="en-US" b="1" dirty="0">
                <a:latin typeface="华文楷体" panose="02010600040101010101" pitchFamily="2" charset="-122"/>
                <a:ea typeface="华文楷体" panose="02010600040101010101" pitchFamily="2" charset="-122"/>
              </a:rPr>
              <a:t>网络安全法</a:t>
            </a:r>
            <a:r>
              <a:rPr lang="en-US" altLang="zh-CN" b="1" dirty="0">
                <a:latin typeface="华文楷体" panose="02010600040101010101" pitchFamily="2" charset="-122"/>
                <a:ea typeface="华文楷体" panose="02010600040101010101" pitchFamily="2" charset="-122"/>
              </a:rPr>
              <a:t>》</a:t>
            </a:r>
            <a:r>
              <a:rPr lang="zh-CN" altLang="en-US" b="1" dirty="0">
                <a:latin typeface="华文楷体" panose="02010600040101010101" pitchFamily="2" charset="-122"/>
                <a:ea typeface="华文楷体" panose="02010600040101010101" pitchFamily="2" charset="-122"/>
              </a:rPr>
              <a:t>是网络安全领域“依法治国”的重要体现，对保障我国网络安全有着重大意义。</a:t>
            </a:r>
            <a:endParaRPr lang="en-US" altLang="zh-CN" b="1"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8132">
                                            <p:txEl>
                                              <p:pRg st="0" end="0"/>
                                            </p:txEl>
                                          </p:spTgt>
                                        </p:tgtEl>
                                        <p:attrNameLst>
                                          <p:attrName>style.visibility</p:attrName>
                                        </p:attrNameLst>
                                      </p:cBhvr>
                                      <p:to>
                                        <p:strVal val="visible"/>
                                      </p:to>
                                    </p:set>
                                    <p:animEffect transition="in" filter="circle(in)">
                                      <p:cBhvr>
                                        <p:cTn id="7" dur="2000"/>
                                        <p:tgtEl>
                                          <p:spTgt spid="481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8132">
                                            <p:txEl>
                                              <p:pRg st="1" end="1"/>
                                            </p:txEl>
                                          </p:spTgt>
                                        </p:tgtEl>
                                        <p:attrNameLst>
                                          <p:attrName>style.visibility</p:attrName>
                                        </p:attrNameLst>
                                      </p:cBhvr>
                                      <p:to>
                                        <p:strVal val="visible"/>
                                      </p:to>
                                    </p:set>
                                    <p:animEffect transition="in" filter="circle(in)">
                                      <p:cBhvr>
                                        <p:cTn id="12" dur="2000"/>
                                        <p:tgtEl>
                                          <p:spTgt spid="4813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思政点</a:t>
            </a:r>
            <a:endParaRPr lang="zh-CN" altLang="en-US" b="1" dirty="0">
              <a:ea typeface="宋体" panose="02010600030101010101" pitchFamily="2" charset="-122"/>
            </a:endParaRPr>
          </a:p>
        </p:txBody>
      </p:sp>
      <p:pic>
        <p:nvPicPr>
          <p:cNvPr id="48130" name="图片 1"/>
          <p:cNvPicPr>
            <a:picLocks noChangeAspect="1"/>
          </p:cNvPicPr>
          <p:nvPr/>
        </p:nvPicPr>
        <p:blipFill>
          <a:blip r:embed="rId1"/>
          <a:stretch>
            <a:fillRect/>
          </a:stretch>
        </p:blipFill>
        <p:spPr>
          <a:xfrm>
            <a:off x="136525" y="4953000"/>
            <a:ext cx="2606675" cy="1806575"/>
          </a:xfrm>
          <a:prstGeom prst="rect">
            <a:avLst/>
          </a:prstGeom>
          <a:noFill/>
          <a:ln w="9525">
            <a:noFill/>
          </a:ln>
        </p:spPr>
      </p:pic>
      <p:sp>
        <p:nvSpPr>
          <p:cNvPr id="48132" name="矩形 2"/>
          <p:cNvSpPr/>
          <p:nvPr/>
        </p:nvSpPr>
        <p:spPr>
          <a:xfrm>
            <a:off x="685800" y="1268413"/>
            <a:ext cx="8229600" cy="4294187"/>
          </a:xfrm>
          <a:prstGeom prst="rect">
            <a:avLst/>
          </a:prstGeom>
          <a:noFill/>
          <a:ln w="9525">
            <a:noFill/>
          </a:ln>
        </p:spPr>
        <p:txBody>
          <a:bodyPr anchor="t" anchorCtr="0">
            <a:spAutoFit/>
          </a:bodyPr>
          <a:lstStyle/>
          <a:p>
            <a:pPr eaLnBrk="0" hangingPunct="0">
              <a:lnSpc>
                <a:spcPct val="150000"/>
              </a:lnSpc>
            </a:pPr>
            <a:r>
              <a:rPr lang="zh-CN" altLang="en-US" b="1" dirty="0">
                <a:latin typeface="华文楷体" panose="02010600040101010101" pitchFamily="2" charset="-122"/>
                <a:ea typeface="华文楷体" panose="02010600040101010101" pitchFamily="2" charset="-122"/>
              </a:rPr>
              <a:t>党的十八大以来，以习近平同志为核心的党中央从总体国家安全观出发对加强国家网络安全工作做出了重要的部署，对加强网络安全法制建设提出了明确的要求，制定</a:t>
            </a:r>
            <a:r>
              <a:rPr lang="en-US" altLang="zh-CN" b="1" dirty="0">
                <a:latin typeface="华文楷体" panose="02010600040101010101" pitchFamily="2" charset="-122"/>
                <a:ea typeface="华文楷体" panose="02010600040101010101" pitchFamily="2" charset="-122"/>
              </a:rPr>
              <a:t>《</a:t>
            </a:r>
            <a:r>
              <a:rPr lang="zh-CN" altLang="en-US" b="1" dirty="0">
                <a:latin typeface="华文楷体" panose="02010600040101010101" pitchFamily="2" charset="-122"/>
                <a:ea typeface="华文楷体" panose="02010600040101010101" pitchFamily="2" charset="-122"/>
              </a:rPr>
              <a:t>网络安全法</a:t>
            </a:r>
            <a:r>
              <a:rPr lang="en-US" altLang="zh-CN" b="1" dirty="0">
                <a:latin typeface="华文楷体" panose="02010600040101010101" pitchFamily="2" charset="-122"/>
                <a:ea typeface="华文楷体" panose="02010600040101010101" pitchFamily="2" charset="-122"/>
              </a:rPr>
              <a:t>》</a:t>
            </a:r>
            <a:r>
              <a:rPr lang="zh-CN" altLang="en-US" b="1" dirty="0">
                <a:latin typeface="华文楷体" panose="02010600040101010101" pitchFamily="2" charset="-122"/>
                <a:ea typeface="华文楷体" panose="02010600040101010101" pitchFamily="2" charset="-122"/>
              </a:rPr>
              <a:t>是适应我们国家网络安全工作新形势、新任务，落实中央决策部署，保障网络安全和发展利益的重大举措，是落实国家总体安全观的重要举措。</a:t>
            </a:r>
            <a:endParaRPr lang="zh-CN" altLang="en-US" b="1" dirty="0">
              <a:latin typeface="华文楷体" panose="02010600040101010101" pitchFamily="2" charset="-122"/>
              <a:ea typeface="华文楷体" panose="02010600040101010101" pitchFamily="2" charset="-122"/>
            </a:endParaRPr>
          </a:p>
          <a:p>
            <a:pPr eaLnBrk="0" hangingPunct="0">
              <a:lnSpc>
                <a:spcPct val="150000"/>
              </a:lnSpc>
            </a:pPr>
            <a:r>
              <a:rPr lang="zh-CN" altLang="en-US" b="1" dirty="0">
                <a:latin typeface="华文楷体" panose="02010600040101010101" pitchFamily="2" charset="-122"/>
                <a:ea typeface="华文楷体" panose="02010600040101010101" pitchFamily="2" charset="-122"/>
              </a:rPr>
              <a:t>   </a:t>
            </a:r>
            <a:endParaRPr lang="zh-CN" altLang="en-US" b="1"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8132">
                                            <p:txEl>
                                              <p:pRg st="1" end="1"/>
                                            </p:txEl>
                                          </p:spTgt>
                                        </p:tgtEl>
                                        <p:attrNameLst>
                                          <p:attrName>style.visibility</p:attrName>
                                        </p:attrNameLst>
                                      </p:cBhvr>
                                      <p:to>
                                        <p:strVal val="visible"/>
                                      </p:to>
                                    </p:set>
                                    <p:animEffect transition="in" filter="circle(in)">
                                      <p:cBhvr>
                                        <p:cTn id="7" dur="2000"/>
                                        <p:tgtEl>
                                          <p:spTgt spid="4813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8132">
                                            <p:txEl>
                                              <p:pRg st="0" end="0"/>
                                            </p:txEl>
                                          </p:spTgt>
                                        </p:tgtEl>
                                        <p:attrNameLst>
                                          <p:attrName>style.visibility</p:attrName>
                                        </p:attrNameLst>
                                      </p:cBhvr>
                                      <p:to>
                                        <p:strVal val="visible"/>
                                      </p:to>
                                    </p:set>
                                    <p:animEffect transition="in" filter="circle(in)">
                                      <p:cBhvr>
                                        <p:cTn id="12" dur="2000"/>
                                        <p:tgtEl>
                                          <p:spTgt spid="481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思政点</a:t>
            </a:r>
            <a:endParaRPr lang="zh-CN" altLang="en-US" b="1" dirty="0">
              <a:ea typeface="宋体" panose="02010600030101010101" pitchFamily="2" charset="-122"/>
            </a:endParaRPr>
          </a:p>
        </p:txBody>
      </p:sp>
      <p:pic>
        <p:nvPicPr>
          <p:cNvPr id="49154" name="图片 1"/>
          <p:cNvPicPr>
            <a:picLocks noChangeAspect="1"/>
          </p:cNvPicPr>
          <p:nvPr/>
        </p:nvPicPr>
        <p:blipFill>
          <a:blip r:embed="rId1"/>
          <a:stretch>
            <a:fillRect/>
          </a:stretch>
        </p:blipFill>
        <p:spPr>
          <a:xfrm>
            <a:off x="152400" y="4572000"/>
            <a:ext cx="2979738" cy="2063750"/>
          </a:xfrm>
          <a:prstGeom prst="rect">
            <a:avLst/>
          </a:prstGeom>
          <a:noFill/>
          <a:ln w="9525">
            <a:noFill/>
          </a:ln>
        </p:spPr>
      </p:pic>
      <p:sp>
        <p:nvSpPr>
          <p:cNvPr id="48132" name="矩形 2"/>
          <p:cNvSpPr/>
          <p:nvPr/>
        </p:nvSpPr>
        <p:spPr>
          <a:xfrm>
            <a:off x="457200" y="1698625"/>
            <a:ext cx="8458200" cy="2492375"/>
          </a:xfrm>
          <a:prstGeom prst="rect">
            <a:avLst/>
          </a:prstGeom>
          <a:noFill/>
          <a:ln w="9525">
            <a:noFill/>
          </a:ln>
        </p:spPr>
        <p:txBody>
          <a:bodyPr anchor="t" anchorCtr="0">
            <a:spAutoFit/>
          </a:bodyPr>
          <a:lstStyle/>
          <a:p>
            <a:pPr eaLnBrk="0" hangingPunct="0">
              <a:lnSpc>
                <a:spcPct val="150000"/>
              </a:lnSpc>
            </a:pPr>
            <a:r>
              <a:rPr lang="zh-CN" altLang="en-US" b="1" dirty="0">
                <a:latin typeface="华文楷体" panose="02010600040101010101" pitchFamily="2" charset="-122"/>
                <a:ea typeface="华文楷体" panose="02010600040101010101" pitchFamily="2" charset="-122"/>
              </a:rPr>
              <a:t>中国是网络大国，也是面临网络安全威胁最严重的国家之一，迫切需要建立和完善网络安全的法律制度，提高全社会的网络安全意识和网络安全保障水平，使我们的网络更加安全、更加开放、更加便利，也更加充满活力。</a:t>
            </a:r>
            <a:endParaRPr lang="zh-CN" altLang="en-US" b="1"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8132">
                                            <p:txEl>
                                              <p:pRg st="0" end="0"/>
                                            </p:txEl>
                                          </p:spTgt>
                                        </p:tgtEl>
                                        <p:attrNameLst>
                                          <p:attrName>style.visibility</p:attrName>
                                        </p:attrNameLst>
                                      </p:cBhvr>
                                      <p:to>
                                        <p:strVal val="visible"/>
                                      </p:to>
                                    </p:set>
                                    <p:animEffect transition="in" filter="circle(in)">
                                      <p:cBhvr>
                                        <p:cTn id="7" dur="2000"/>
                                        <p:tgtEl>
                                          <p:spTgt spid="481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1"/>
          <p:cNvSpPr>
            <a:spLocks noGrp="1"/>
          </p:cNvSpPr>
          <p:nvPr>
            <p:ph type="title"/>
          </p:nvPr>
        </p:nvSpPr>
        <p:spPr>
          <a:xfrm>
            <a:off x="838200" y="892175"/>
            <a:ext cx="7010400" cy="46038"/>
          </a:xfrm>
        </p:spPr>
        <p:txBody>
          <a:bodyPr vert="horz" wrap="square" lIns="91440" tIns="45720" rIns="91440" bIns="45720" anchor="ctr" anchorCtr="0"/>
          <a:lstStyle/>
          <a:p>
            <a:pPr eaLnBrk="1" hangingPunct="1"/>
            <a:r>
              <a:rPr lang="zh-CN" altLang="zh-CN" sz="3200" b="1" dirty="0">
                <a:latin typeface="华文楷体" panose="02010600040101010101" pitchFamily="2" charset="-122"/>
                <a:ea typeface="华文楷体" panose="02010600040101010101" pitchFamily="2" charset="-122"/>
              </a:rPr>
              <a:t>本章小结</a:t>
            </a:r>
            <a:br>
              <a:rPr lang="zh-CN" altLang="zh-CN" b="1" dirty="0">
                <a:ea typeface="宋体" panose="02010600030101010101" pitchFamily="2" charset="-122"/>
              </a:rPr>
            </a:br>
            <a:endParaRPr lang="zh-CN" altLang="en-US" b="1" dirty="0">
              <a:ea typeface="宋体" panose="02010600030101010101" pitchFamily="2" charset="-122"/>
            </a:endParaRPr>
          </a:p>
        </p:txBody>
      </p:sp>
      <p:sp>
        <p:nvSpPr>
          <p:cNvPr id="51203" name="内容占位符 2"/>
          <p:cNvSpPr>
            <a:spLocks noGrp="1" noChangeArrowheads="1"/>
          </p:cNvSpPr>
          <p:nvPr>
            <p:ph idx="1"/>
          </p:nvPr>
        </p:nvSpPr>
        <p:spPr>
          <a:xfrm>
            <a:off x="381000" y="1600200"/>
            <a:ext cx="8305800" cy="3048000"/>
          </a:xfrm>
        </p:spPr>
        <p:txBody>
          <a:bodyPr vert="horz" wrap="square" lIns="91440" tIns="45720" rIns="91440" bIns="45720" numCol="1" anchor="t" anchorCtr="0" compatLnSpc="1"/>
          <a:lstStyle/>
          <a:p>
            <a:pPr marL="0" marR="0" lvl="0" indent="0" algn="just"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本章主要对信息安全法律法规进行研究，其内容包括</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just"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介绍了</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中国</a:t>
            </a:r>
            <a:r>
              <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信息安全信法律法规</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体系；</a:t>
            </a:r>
            <a:endPar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just"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ea"/>
              </a:rPr>
              <a:t>介绍了</a:t>
            </a:r>
            <a:r>
              <a:rPr kumimoji="0" lang="zh-CN"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一些国内外的信息</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系统</a:t>
            </a:r>
            <a:r>
              <a:rPr kumimoji="0" lang="zh-CN"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安全法律法规以及互联网安全管理的法律法规</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a:t>
            </a:r>
            <a:endPar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just"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网络安全法和密码法</a:t>
            </a:r>
            <a:endPar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742950" marR="0" lvl="1" indent="-285750" algn="just"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思政：</a:t>
            </a:r>
            <a:r>
              <a:rPr kumimoji="0" lang="zh-CN"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信息活动过程中</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，要</a:t>
            </a:r>
            <a:r>
              <a:rPr kumimoji="0" lang="zh-CN"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rPr>
              <a:t>自觉遵守网络道德规范和相关的法律法规。</a:t>
            </a:r>
            <a:endParaRPr kumimoji="0" lang="zh-CN"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ea"/>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1"/>
          <p:cNvSpPr>
            <a:spLocks noGrp="1"/>
          </p:cNvSpPr>
          <p:nvPr>
            <p:ph type="title"/>
          </p:nvPr>
        </p:nvSpPr>
        <p:spPr>
          <a:xfrm>
            <a:off x="838200" y="2590800"/>
            <a:ext cx="7010400" cy="563563"/>
          </a:xfrm>
        </p:spPr>
        <p:txBody>
          <a:bodyPr vert="horz" wrap="square" lIns="91440" tIns="45720" rIns="91440" bIns="45720" anchor="ctr" anchorCtr="0"/>
          <a:lstStyle/>
          <a:p>
            <a:r>
              <a:rPr lang="zh-CN" altLang="en-US" dirty="0">
                <a:ea typeface="宋体" panose="02010600030101010101" pitchFamily="2" charset="-122"/>
              </a:rPr>
              <a:t>思考题</a:t>
            </a:r>
            <a:endParaRPr lang="zh-CN" altLang="en-US" dirty="0">
              <a:ea typeface="宋体" panose="02010600030101010101" pitchFamily="2" charset="-122"/>
            </a:endParaRPr>
          </a:p>
        </p:txBody>
      </p:sp>
      <p:sp>
        <p:nvSpPr>
          <p:cNvPr id="22531" name="内容占位符 2"/>
          <p:cNvSpPr>
            <a:spLocks noGrp="1" noChangeArrowheads="1"/>
          </p:cNvSpPr>
          <p:nvPr>
            <p:ph idx="1"/>
          </p:nvPr>
        </p:nvSpPr>
        <p:spPr>
          <a:xfrm>
            <a:off x="152400" y="1219200"/>
            <a:ext cx="8229600" cy="510540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en-US" altLang="zh-CN" sz="3600" b="1" i="1" u="none" strike="noStrike" kern="0" cap="none" spc="0" normalizeH="0" baseline="0" noProof="0" dirty="0" smtClean="0">
              <a:ln>
                <a:noFill/>
              </a:ln>
              <a:solidFill>
                <a:srgbClr val="C00000"/>
              </a:solidFill>
              <a:effectLst/>
              <a:uLnTx/>
              <a:uFillTx/>
              <a:latin typeface="楷体_GB2312" pitchFamily="49" charset="-122"/>
              <a:ea typeface="楷体_GB2312" pitchFamily="49" charset="-122"/>
              <a:cs typeface="+mn-cs"/>
            </a:endParaRPr>
          </a:p>
          <a:p>
            <a:pPr marL="342900" marR="0" lvl="0" indent="-34290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72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rPr>
              <a:t>谢谢！</a:t>
            </a:r>
            <a:endParaRPr kumimoji="0" lang="en-US" altLang="zh-CN" sz="72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endParaRPr>
          </a:p>
          <a:p>
            <a:pPr marL="342900" marR="0" lvl="0" indent="-34290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48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rPr>
              <a:t>下节课再见</a:t>
            </a:r>
            <a:endParaRPr kumimoji="0" lang="zh-CN" altLang="en-US" sz="48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endParaRPr>
          </a:p>
        </p:txBody>
      </p:sp>
    </p:spTree>
  </p:cSld>
  <p:clrMapOvr>
    <a:masterClrMapping/>
  </p:clrMapOvr>
  <p:transition spd="slow"/>
</p:sld>
</file>

<file path=ppt/tags/tag1.xml><?xml version="1.0" encoding="utf-8"?>
<p:tagLst xmlns:p="http://schemas.openxmlformats.org/presentationml/2006/main">
  <p:tag name="KSO_WPP_MARK_KEY" val="fcfa5936-73c1-4804-b3f7-cc1160a435b4"/>
  <p:tag name="COMMONDATA" val="eyJoZGlkIjoiNjdiYzRkN2ViY2NhMmY0NTQ0YTdjNzUwZWExYTQ0YWYifQ=="/>
</p:tagLst>
</file>

<file path=ppt/theme/theme1.xml><?xml version="1.0" encoding="utf-8"?>
<a:theme xmlns:a="http://schemas.openxmlformats.org/drawingml/2006/main" name="默认设计模板">
  <a:themeElements>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fontScheme name="默认设计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clrMap bg1="lt1" tx1="dk1" bg2="lt2" tx2="dk2" accent1="accent1" accent2="accent2" accent3="accent3" accent4="accent4" accent5="accent5" accent6="accent6" hlink="hlink" folHlink="folHlink"/>
    </a:extraClrScheme>
    <a:extraClrScheme>
      <a:clrScheme name="默认设计模板 2">
        <a:dk1>
          <a:srgbClr val="542F81"/>
        </a:dk1>
        <a:lt1>
          <a:srgbClr val="FFFFFF"/>
        </a:lt1>
        <a:dk2>
          <a:srgbClr val="0E4AA2"/>
        </a:dk2>
        <a:lt2>
          <a:srgbClr val="C0C0C0"/>
        </a:lt2>
        <a:accent1>
          <a:srgbClr val="2B59D9"/>
        </a:accent1>
        <a:accent2>
          <a:srgbClr val="EFA441"/>
        </a:accent2>
        <a:accent3>
          <a:srgbClr val="FFFFFF"/>
        </a:accent3>
        <a:accent4>
          <a:srgbClr val="46276D"/>
        </a:accent4>
        <a:accent5>
          <a:srgbClr val="ACB5E9"/>
        </a:accent5>
        <a:accent6>
          <a:srgbClr val="D9943A"/>
        </a:accent6>
        <a:hlink>
          <a:srgbClr val="63C398"/>
        </a:hlink>
        <a:folHlink>
          <a:srgbClr val="AAC856"/>
        </a:folHlink>
      </a:clrScheme>
      <a:clrMap bg1="lt1" tx1="dk1" bg2="lt2" tx2="dk2" accent1="accent1" accent2="accent2" accent3="accent3" accent4="accent4" accent5="accent5" accent6="accent6" hlink="hlink" folHlink="folHlink"/>
    </a:extraClrScheme>
    <a:extraClrScheme>
      <a:clrScheme name="默认设计模板 3">
        <a:dk1>
          <a:srgbClr val="0E3558"/>
        </a:dk1>
        <a:lt1>
          <a:srgbClr val="FFFFFF"/>
        </a:lt1>
        <a:dk2>
          <a:srgbClr val="006666"/>
        </a:dk2>
        <a:lt2>
          <a:srgbClr val="969696"/>
        </a:lt2>
        <a:accent1>
          <a:srgbClr val="E3BE05"/>
        </a:accent1>
        <a:accent2>
          <a:srgbClr val="4BC77A"/>
        </a:accent2>
        <a:accent3>
          <a:srgbClr val="FFFFFF"/>
        </a:accent3>
        <a:accent4>
          <a:srgbClr val="0A2C4A"/>
        </a:accent4>
        <a:accent5>
          <a:srgbClr val="EFDBAA"/>
        </a:accent5>
        <a:accent6>
          <a:srgbClr val="43B46E"/>
        </a:accent6>
        <a:hlink>
          <a:srgbClr val="CC3300"/>
        </a:hlink>
        <a:folHlink>
          <a:srgbClr val="33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fontScheme name="默认设计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clrMap bg1="lt1" tx1="dk1" bg2="lt2" tx2="dk2" accent1="accent1" accent2="accent2" accent3="accent3" accent4="accent4" accent5="accent5" accent6="accent6" hlink="hlink" folHlink="folHlink"/>
    </a:extraClrScheme>
    <a:extraClrScheme>
      <a:clrScheme name="默认设计模板 2">
        <a:dk1>
          <a:srgbClr val="542F81"/>
        </a:dk1>
        <a:lt1>
          <a:srgbClr val="FFFFFF"/>
        </a:lt1>
        <a:dk2>
          <a:srgbClr val="0E4AA2"/>
        </a:dk2>
        <a:lt2>
          <a:srgbClr val="C0C0C0"/>
        </a:lt2>
        <a:accent1>
          <a:srgbClr val="2B59D9"/>
        </a:accent1>
        <a:accent2>
          <a:srgbClr val="EFA441"/>
        </a:accent2>
        <a:accent3>
          <a:srgbClr val="FFFFFF"/>
        </a:accent3>
        <a:accent4>
          <a:srgbClr val="46276D"/>
        </a:accent4>
        <a:accent5>
          <a:srgbClr val="ACB5E9"/>
        </a:accent5>
        <a:accent6>
          <a:srgbClr val="D9943A"/>
        </a:accent6>
        <a:hlink>
          <a:srgbClr val="63C398"/>
        </a:hlink>
        <a:folHlink>
          <a:srgbClr val="AAC856"/>
        </a:folHlink>
      </a:clrScheme>
      <a:clrMap bg1="lt1" tx1="dk1" bg2="lt2" tx2="dk2" accent1="accent1" accent2="accent2" accent3="accent3" accent4="accent4" accent5="accent5" accent6="accent6" hlink="hlink" folHlink="folHlink"/>
    </a:extraClrScheme>
    <a:extraClrScheme>
      <a:clrScheme name="默认设计模板 3">
        <a:dk1>
          <a:srgbClr val="0E3558"/>
        </a:dk1>
        <a:lt1>
          <a:srgbClr val="FFFFFF"/>
        </a:lt1>
        <a:dk2>
          <a:srgbClr val="006666"/>
        </a:dk2>
        <a:lt2>
          <a:srgbClr val="969696"/>
        </a:lt2>
        <a:accent1>
          <a:srgbClr val="E3BE05"/>
        </a:accent1>
        <a:accent2>
          <a:srgbClr val="4BC77A"/>
        </a:accent2>
        <a:accent3>
          <a:srgbClr val="FFFFFF"/>
        </a:accent3>
        <a:accent4>
          <a:srgbClr val="0A2C4A"/>
        </a:accent4>
        <a:accent5>
          <a:srgbClr val="EFDBAA"/>
        </a:accent5>
        <a:accent6>
          <a:srgbClr val="43B46E"/>
        </a:accent6>
        <a:hlink>
          <a:srgbClr val="CC3300"/>
        </a:hlink>
        <a:folHlink>
          <a:srgbClr val="33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7311</Words>
  <Application>WPS 演示</Application>
  <PresentationFormat>全屏显示(4:3)</PresentationFormat>
  <Paragraphs>582</Paragraphs>
  <Slides>43</Slides>
  <Notes>5</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4</vt:i4>
      </vt:variant>
      <vt:variant>
        <vt:lpstr>幻灯片标题</vt:lpstr>
      </vt:variant>
      <vt:variant>
        <vt:i4>43</vt:i4>
      </vt:variant>
    </vt:vector>
  </HeadingPairs>
  <TitlesOfParts>
    <vt:vector size="61" baseType="lpstr">
      <vt:lpstr>Arial</vt:lpstr>
      <vt:lpstr>宋体</vt:lpstr>
      <vt:lpstr>Wingdings</vt:lpstr>
      <vt:lpstr>Times New Roman</vt:lpstr>
      <vt:lpstr>黑体</vt:lpstr>
      <vt:lpstr>华文楷体</vt:lpstr>
      <vt:lpstr>微软雅黑</vt:lpstr>
      <vt:lpstr>楷体_GB2312</vt:lpstr>
      <vt:lpstr>Arial Unicode MS</vt:lpstr>
      <vt:lpstr>华文行楷</vt:lpstr>
      <vt:lpstr>华文隶书</vt:lpstr>
      <vt:lpstr>新宋体</vt:lpstr>
      <vt:lpstr>默认设计模板</vt:lpstr>
      <vt:lpstr>1_默认设计模板</vt:lpstr>
      <vt:lpstr>Photoshop.Image.7</vt:lpstr>
      <vt:lpstr>Photoshop.Image.7</vt:lpstr>
      <vt:lpstr>Photoshop.Image.7</vt:lpstr>
      <vt:lpstr>Photoshop.Image.7</vt:lpstr>
      <vt:lpstr>第四章 信息安全法律法规体系类别</vt:lpstr>
      <vt:lpstr>本章授课内容</vt:lpstr>
      <vt:lpstr>我国信息安全法律法规体系</vt:lpstr>
      <vt:lpstr>我国信息安全法律法规 </vt:lpstr>
      <vt:lpstr>我国信息安全法律法规</vt:lpstr>
      <vt:lpstr>我国信息安全法律法规</vt:lpstr>
      <vt:lpstr>我国信息安全法律法规</vt:lpstr>
      <vt:lpstr>本章授课内容</vt:lpstr>
      <vt:lpstr>信息系统安全相关法律法规</vt:lpstr>
      <vt:lpstr>信息系统安全相关法律法规</vt:lpstr>
      <vt:lpstr>信息系统安全相关法律法规</vt:lpstr>
      <vt:lpstr>信息系统安全相关法律法规</vt:lpstr>
      <vt:lpstr>信息系统安全相关法律法规</vt:lpstr>
      <vt:lpstr>相关法律法规</vt:lpstr>
      <vt:lpstr>相关法律法规</vt:lpstr>
      <vt:lpstr>相关法律法规</vt:lpstr>
      <vt:lpstr>相关法律法规</vt:lpstr>
      <vt:lpstr>相关法律法规</vt:lpstr>
      <vt:lpstr>相关法律法规</vt:lpstr>
      <vt:lpstr>相关法律法规</vt:lpstr>
      <vt:lpstr>相关法律法规</vt:lpstr>
      <vt:lpstr>相关法律法规</vt:lpstr>
      <vt:lpstr>本章授课内容</vt:lpstr>
      <vt:lpstr>互联网安全管理相关法律法规</vt:lpstr>
      <vt:lpstr>本章授课内容</vt:lpstr>
      <vt:lpstr>其他有关信息安全的法律法规</vt:lpstr>
      <vt:lpstr>其他有关信息安全的法律法规</vt:lpstr>
      <vt:lpstr>其他有关信息安全的法律法规</vt:lpstr>
      <vt:lpstr>其他有关信息安全的法律法规</vt:lpstr>
      <vt:lpstr>其他有关信息安全的法律法规</vt:lpstr>
      <vt:lpstr>其他有关信息安全的法律法规</vt:lpstr>
      <vt:lpstr>其他有关信息安全的法律法规</vt:lpstr>
      <vt:lpstr>其他有关信息安全的法律法规</vt:lpstr>
      <vt:lpstr>其他有关信息安全的法律法规</vt:lpstr>
      <vt:lpstr>其他有关信息安全的法律法规</vt:lpstr>
      <vt:lpstr>其他有关信息安全的法律法规</vt:lpstr>
      <vt:lpstr>其他有关信息安全的法律法规</vt:lpstr>
      <vt:lpstr>本章授课内容</vt:lpstr>
      <vt:lpstr>思政点</vt:lpstr>
      <vt:lpstr>思政点</vt:lpstr>
      <vt:lpstr>思政点</vt:lpstr>
      <vt:lpstr>本章小结 </vt:lpstr>
      <vt:lpstr>思考题</vt:lpstr>
    </vt:vector>
  </TitlesOfParts>
  <Company>Guilddesign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FengYan</dc:creator>
  <cp:lastModifiedBy>Administrator</cp:lastModifiedBy>
  <cp:revision>1140</cp:revision>
  <dcterms:created xsi:type="dcterms:W3CDTF">2004-07-21T02:43:00Z</dcterms:created>
  <dcterms:modified xsi:type="dcterms:W3CDTF">2023-04-12T09:34:20Z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7ECB2DEFA8664E97AF39D3635BDC2BE6_12</vt:lpwstr>
  </property>
</Properties>
</file>