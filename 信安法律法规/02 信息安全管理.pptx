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699" r:id="rId3"/>
    <p:sldId id="677" r:id="rId4"/>
    <p:sldId id="695" r:id="rId5"/>
    <p:sldId id="691" r:id="rId6"/>
    <p:sldId id="678" r:id="rId7"/>
    <p:sldId id="687" r:id="rId8"/>
    <p:sldId id="679" r:id="rId9"/>
    <p:sldId id="680" r:id="rId10"/>
    <p:sldId id="681" r:id="rId11"/>
    <p:sldId id="682" r:id="rId12"/>
    <p:sldId id="692" r:id="rId13"/>
    <p:sldId id="693" r:id="rId14"/>
    <p:sldId id="694" r:id="rId15"/>
    <p:sldId id="683" r:id="rId16"/>
    <p:sldId id="684" r:id="rId17"/>
    <p:sldId id="697" r:id="rId18"/>
    <p:sldId id="698" r:id="rId19"/>
    <p:sldId id="609" r:id="rId20"/>
  </p:sldIdLst>
  <p:sldSz cx="9144000" cy="6858000" type="screen4x3"/>
  <p:notesSz cx="6858000" cy="9144000"/>
  <p:custDataLst>
    <p:tags r:id="rId22"/>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53"/>
    <p:restoredTop sz="71781"/>
  </p:normalViewPr>
  <p:slideViewPr>
    <p:cSldViewPr showGuides="1">
      <p:cViewPr varScale="1">
        <p:scale>
          <a:sx n="70" d="100"/>
          <a:sy n="70" d="100"/>
        </p:scale>
        <p:origin x="128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53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solidFill>
                  <a:schemeClr val="tx1"/>
                </a:solidFill>
                <a:latin typeface="Arial" panose="020B0604020202020204" pitchFamily="34" charset="0"/>
              </a:rPr>
              <a:t>‹#›</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7367058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t>2</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8709507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098" r:id="rId3" imgW="13004800" imgH="4572000" progId="Photoshop.Image.7">
                  <p:embed/>
                </p:oleObj>
              </mc:Choice>
              <mc:Fallback>
                <p:oleObj r:id="rId3" imgW="13004800" imgH="4572000" progId="Photoshop.Image.7">
                  <p:embed/>
                  <p:pic>
                    <p:nvPicPr>
                      <p:cNvPr id="0" name="图片 3076"/>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auto">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auto">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en-US" sz="1200" dirty="0">
                <a:latin typeface="Arial" panose="020B0604020202020204" pitchFamily="34" charset="0"/>
              </a:rPr>
              <a:t>‹#›</a:t>
            </a:fld>
            <a:endParaRPr lang="en-US"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79" r:id="rId14" imgW="13004800" imgH="4572000" progId="Photoshop.Image.7">
                  <p:embed/>
                </p:oleObj>
              </mc:Choice>
              <mc:Fallback>
                <p:oleObj r:id="rId14" imgW="13004800" imgH="4572000" progId="Photoshop.Image.7">
                  <p:embed/>
                  <p:pic>
                    <p:nvPicPr>
                      <p:cNvPr id="0" name="图片 3075"/>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077200" y="9525"/>
            <a:ext cx="1044575" cy="1044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4.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7.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762000" y="3429000"/>
            <a:ext cx="7620000" cy="682625"/>
          </a:xfrm>
        </p:spPr>
        <p:txBody>
          <a:bodyPr vert="horz" wrap="square" lIns="91440" tIns="45720" rIns="91440" bIns="45720" anchor="ctr" anchorCtr="0"/>
          <a:lstStyle/>
          <a:p>
            <a:pPr marL="342900" indent="-342900" eaLnBrk="1" hangingPunct="1">
              <a:spcAft>
                <a:spcPct val="20000"/>
              </a:spcAft>
              <a:buClrTx/>
              <a:buSzTx/>
              <a:buFontTx/>
            </a:pPr>
            <a:r>
              <a:rPr lang="zh-CN" altLang="en-US" sz="2800" dirty="0">
                <a:solidFill>
                  <a:schemeClr val="tx2"/>
                </a:solidFill>
                <a:latin typeface="+mj-lt"/>
                <a:ea typeface="宋体" panose="02010600030101010101" pitchFamily="2" charset="-122"/>
                <a:cs typeface="+mj-cs"/>
              </a:rPr>
              <a:t>第二章 信息安全管理</a:t>
            </a:r>
            <a:endParaRPr lang="en-US" altLang="zh-CN" sz="280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p:spPr>
        <p:txBody>
          <a:bodyPr vert="horz" wrap="square" lIns="91440" tIns="45720" rIns="91440" bIns="45720" anchor="t" anchorCtr="0"/>
          <a:lstStyle/>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信息安全法规及安全管理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lstStyle/>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3077" name="图片 1"/>
          <p:cNvPicPr>
            <a:picLocks noChangeAspect="1"/>
          </p:cNvPicPr>
          <p:nvPr/>
        </p:nvPicPr>
        <p:blipFill>
          <a:blip r:embed="rId2"/>
          <a:stretch>
            <a:fillRect/>
          </a:stretch>
        </p:blipFill>
        <p:spPr>
          <a:xfrm>
            <a:off x="3867150" y="5334000"/>
            <a:ext cx="1409700" cy="140970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4099" name="Group 3"/>
          <p:cNvGrpSpPr/>
          <p:nvPr/>
        </p:nvGrpSpPr>
        <p:grpSpPr>
          <a:xfrm>
            <a:off x="1524000" y="1524000"/>
            <a:ext cx="762000" cy="665163"/>
            <a:chOff x="1110" y="2656"/>
            <a:chExt cx="1549" cy="1351"/>
          </a:xfrm>
        </p:grpSpPr>
        <p:sp>
          <p:nvSpPr>
            <p:cNvPr id="413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100" name="Group 7"/>
          <p:cNvGrpSpPr/>
          <p:nvPr/>
        </p:nvGrpSpPr>
        <p:grpSpPr>
          <a:xfrm>
            <a:off x="1524000" y="2374900"/>
            <a:ext cx="762000" cy="665163"/>
            <a:chOff x="3174" y="2656"/>
            <a:chExt cx="1549" cy="1351"/>
          </a:xfrm>
        </p:grpSpPr>
        <p:sp>
          <p:nvSpPr>
            <p:cNvPr id="4130"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1"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01" name="Line 11"/>
          <p:cNvSpPr/>
          <p:nvPr/>
        </p:nvSpPr>
        <p:spPr>
          <a:xfrm flipV="1">
            <a:off x="2133600" y="2133600"/>
            <a:ext cx="4818063" cy="0"/>
          </a:xfrm>
          <a:prstGeom prst="line">
            <a:avLst/>
          </a:prstGeom>
          <a:ln w="25400" cap="flat" cmpd="sng">
            <a:solidFill>
              <a:srgbClr val="C0C0C0"/>
            </a:solidFill>
            <a:prstDash val="sysDot"/>
            <a:headEnd type="none" w="med" len="med"/>
            <a:tailEnd type="oval" w="med" len="med"/>
          </a:ln>
        </p:spPr>
      </p:sp>
      <p:sp>
        <p:nvSpPr>
          <p:cNvPr id="7179" name="Text Box 12"/>
          <p:cNvSpPr txBox="1">
            <a:spLocks noChangeArrowheads="1"/>
          </p:cNvSpPr>
          <p:nvPr/>
        </p:nvSpPr>
        <p:spPr bwMode="auto">
          <a:xfrm>
            <a:off x="2392363" y="1581150"/>
            <a:ext cx="4970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信息安全</a:t>
            </a: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管理概念</a:t>
            </a:r>
          </a:p>
        </p:txBody>
      </p:sp>
      <p:sp>
        <p:nvSpPr>
          <p:cNvPr id="4103" name="Text Box 13"/>
          <p:cNvSpPr txBox="1"/>
          <p:nvPr/>
        </p:nvSpPr>
        <p:spPr>
          <a:xfrm>
            <a:off x="1720850" y="16224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1</a:t>
            </a:r>
          </a:p>
        </p:txBody>
      </p:sp>
      <p:sp>
        <p:nvSpPr>
          <p:cNvPr id="4104"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4105" name="Text Box 16"/>
          <p:cNvSpPr txBox="1"/>
          <p:nvPr/>
        </p:nvSpPr>
        <p:spPr>
          <a:xfrm>
            <a:off x="1720850" y="2536825"/>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2</a:t>
            </a:r>
          </a:p>
        </p:txBody>
      </p:sp>
      <p:sp>
        <p:nvSpPr>
          <p:cNvPr id="4106" name="Text Box 21"/>
          <p:cNvSpPr txBox="1"/>
          <p:nvPr/>
        </p:nvSpPr>
        <p:spPr>
          <a:xfrm>
            <a:off x="1720850" y="34290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3</a:t>
            </a:r>
          </a:p>
        </p:txBody>
      </p:sp>
      <p:sp>
        <p:nvSpPr>
          <p:cNvPr id="4107" name="Text Box 22"/>
          <p:cNvSpPr txBox="1"/>
          <p:nvPr/>
        </p:nvSpPr>
        <p:spPr>
          <a:xfrm>
            <a:off x="1676400" y="5029200"/>
            <a:ext cx="354013" cy="457200"/>
          </a:xfrm>
          <a:prstGeom prst="rect">
            <a:avLst/>
          </a:prstGeom>
          <a:noFill/>
          <a:ln w="9525">
            <a:noFill/>
          </a:ln>
        </p:spPr>
        <p:txBody>
          <a:bodyPr wrap="none">
            <a:spAutoFit/>
          </a:bodyPr>
          <a:lstStyle/>
          <a:p>
            <a:pPr algn="ctr"/>
            <a:r>
              <a:rPr lang="en-US" altLang="zh-CN" sz="2400" b="1" dirty="0">
                <a:solidFill>
                  <a:schemeClr val="bg1"/>
                </a:solidFill>
                <a:latin typeface="Arial" panose="020B0604020202020204" pitchFamily="34" charset="0"/>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信息</a:t>
            </a:r>
            <a:r>
              <a:rPr kumimoji="0" lang="zh-CN" altLang="en-US" sz="2800" b="1" i="0" u="none" strike="noStrike" kern="1200" cap="none" spc="0" normalizeH="0" baseline="0" noProof="0" dirty="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安全管理的基本内容</a:t>
            </a:r>
            <a:endPar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09" name="组合 25"/>
          <p:cNvGrpSpPr/>
          <p:nvPr/>
        </p:nvGrpSpPr>
        <p:grpSpPr>
          <a:xfrm>
            <a:off x="1524000" y="3317875"/>
            <a:ext cx="5721350" cy="665163"/>
            <a:chOff x="1828800" y="3559175"/>
            <a:chExt cx="5721395" cy="665163"/>
          </a:xfrm>
        </p:grpSpPr>
        <p:sp>
          <p:nvSpPr>
            <p:cNvPr id="3" name="Text Box 15"/>
            <p:cNvSpPr txBox="1">
              <a:spLocks noChangeArrowheads="1"/>
            </p:cNvSpPr>
            <p:nvPr/>
          </p:nvSpPr>
          <p:spPr bwMode="auto">
            <a:xfrm>
              <a:off x="2597156" y="3657600"/>
              <a:ext cx="4953039"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 信息</a:t>
              </a:r>
              <a:r>
                <a:rPr kumimoji="0" lang="zh-CN" altLang="en-US" sz="2800" b="1" i="0" u="none" strike="noStrike" kern="1200" cap="none" spc="0" normalizeH="0" baseline="0" noProof="0" dirty="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安全管理的指导原则</a:t>
              </a:r>
              <a:endPar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25" name="Group 17"/>
            <p:cNvGrpSpPr/>
            <p:nvPr/>
          </p:nvGrpSpPr>
          <p:grpSpPr>
            <a:xfrm>
              <a:off x="1828800" y="3559175"/>
              <a:ext cx="762000" cy="665163"/>
              <a:chOff x="1110" y="2656"/>
              <a:chExt cx="1549" cy="1351"/>
            </a:xfrm>
          </p:grpSpPr>
          <p:sp>
            <p:nvSpPr>
              <p:cNvPr id="4127"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28"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26"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110" name="组合 25"/>
          <p:cNvGrpSpPr/>
          <p:nvPr/>
        </p:nvGrpSpPr>
        <p:grpSpPr>
          <a:xfrm>
            <a:off x="1541463" y="4210050"/>
            <a:ext cx="5791200" cy="665163"/>
            <a:chOff x="1828800" y="3559175"/>
            <a:chExt cx="5791200" cy="665163"/>
          </a:xfrm>
        </p:grpSpPr>
        <p:sp>
          <p:nvSpPr>
            <p:cNvPr id="28" name="Text Box 15"/>
            <p:cNvSpPr txBox="1">
              <a:spLocks noChangeArrowheads="1"/>
            </p:cNvSpPr>
            <p:nvPr/>
          </p:nvSpPr>
          <p:spPr bwMode="auto">
            <a:xfrm>
              <a:off x="2667000" y="3697288"/>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信息安全管理的意义</a:t>
              </a:r>
              <a:endPar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19" name="Group 17"/>
            <p:cNvGrpSpPr/>
            <p:nvPr/>
          </p:nvGrpSpPr>
          <p:grpSpPr>
            <a:xfrm>
              <a:off x="1828800" y="3559175"/>
              <a:ext cx="762000" cy="665163"/>
              <a:chOff x="1110" y="2656"/>
              <a:chExt cx="1549" cy="1351"/>
            </a:xfrm>
          </p:grpSpPr>
          <p:sp>
            <p:nvSpPr>
              <p:cNvPr id="412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2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20"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111" name="组合 25"/>
          <p:cNvGrpSpPr/>
          <p:nvPr/>
        </p:nvGrpSpPr>
        <p:grpSpPr>
          <a:xfrm>
            <a:off x="1530350" y="5089525"/>
            <a:ext cx="5791200" cy="665163"/>
            <a:chOff x="1828800" y="3559175"/>
            <a:chExt cx="5791200" cy="665163"/>
          </a:xfrm>
        </p:grpSpPr>
        <p:sp>
          <p:nvSpPr>
            <p:cNvPr id="35" name="Text Box 15"/>
            <p:cNvSpPr txBox="1">
              <a:spLocks noChangeArrowheads="1"/>
            </p:cNvSpPr>
            <p:nvPr/>
          </p:nvSpPr>
          <p:spPr bwMode="auto">
            <a:xfrm>
              <a:off x="2667000" y="3657600"/>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信息安全管理国内外现状</a:t>
              </a:r>
              <a:endPar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13" name="Group 17"/>
            <p:cNvGrpSpPr/>
            <p:nvPr/>
          </p:nvGrpSpPr>
          <p:grpSpPr>
            <a:xfrm>
              <a:off x="1828800" y="3559175"/>
              <a:ext cx="762000" cy="665163"/>
              <a:chOff x="1110" y="2656"/>
              <a:chExt cx="1549" cy="1351"/>
            </a:xfrm>
          </p:grpSpPr>
          <p:sp>
            <p:nvSpPr>
              <p:cNvPr id="411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1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1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什么是信息安全管理</a:t>
            </a:r>
          </a:p>
        </p:txBody>
      </p:sp>
      <p:sp>
        <p:nvSpPr>
          <p:cNvPr id="19459" name="内容占位符 2"/>
          <p:cNvSpPr>
            <a:spLocks noGrp="1"/>
          </p:cNvSpPr>
          <p:nvPr>
            <p:ph idx="1"/>
          </p:nvPr>
        </p:nvSpPr>
        <p:spPr>
          <a:xfrm>
            <a:off x="304800" y="1600200"/>
            <a:ext cx="8305800" cy="4648200"/>
          </a:xfrm>
        </p:spPr>
        <p:txBody>
          <a:bodyPr vert="horz" wrap="square" lIns="91440" tIns="45720" rIns="91440" bIns="45720" anchor="t" anchorCtr="0"/>
          <a:lstStyle/>
          <a:p>
            <a:pPr marL="0" indent="0" eaLnBrk="1" hangingPunct="1">
              <a:spcAft>
                <a:spcPct val="20000"/>
              </a:spcAft>
              <a:buClr>
                <a:srgbClr val="AC04A0"/>
              </a:buClr>
              <a:buNone/>
            </a:pPr>
            <a:r>
              <a:rPr lang="zh-CN" altLang="en-US" b="1" dirty="0">
                <a:latin typeface="华文楷体" panose="02010600040101010101" pitchFamily="2" charset="-122"/>
                <a:ea typeface="华文楷体" panose="02010600040101010101" pitchFamily="2" charset="-122"/>
              </a:rPr>
              <a:t>信息安全管理概念：</a:t>
            </a:r>
            <a:endParaRPr lang="en-US" altLang="zh-CN" b="1" dirty="0">
              <a:latin typeface="华文楷体" panose="02010600040101010101" pitchFamily="2" charset="-122"/>
              <a:ea typeface="华文楷体" panose="02010600040101010101" pitchFamily="2" charset="-122"/>
            </a:endParaRPr>
          </a:p>
          <a:p>
            <a:pPr lvl="1"/>
            <a:r>
              <a:rPr lang="zh-CN" altLang="zh-CN" sz="2400" b="1" dirty="0">
                <a:solidFill>
                  <a:srgbClr val="FF0000"/>
                </a:solidFill>
                <a:latin typeface="华文楷体" panose="02010600040101010101" pitchFamily="2" charset="-122"/>
                <a:ea typeface="华文楷体" panose="02010600040101010101" pitchFamily="2" charset="-122"/>
              </a:rPr>
              <a:t>信息</a:t>
            </a:r>
            <a:r>
              <a:rPr lang="zh-CN" altLang="zh-CN" sz="2400" b="1" dirty="0">
                <a:solidFill>
                  <a:srgbClr val="000000"/>
                </a:solidFill>
                <a:latin typeface="华文楷体" panose="02010600040101010101" pitchFamily="2" charset="-122"/>
                <a:ea typeface="华文楷体" panose="02010600040101010101" pitchFamily="2" charset="-122"/>
              </a:rPr>
              <a:t>是一个组织的血液，它的存在方式各异。可以是打印，手写，也可以是电子，演示和口述的。当今商业竞争日趋激烈，来源于不同渠道的威胁，威胁到信息的安全性。</a:t>
            </a:r>
            <a:endParaRPr lang="en-US" altLang="zh-CN" sz="2400" b="1" dirty="0">
              <a:solidFill>
                <a:srgbClr val="000000"/>
              </a:solidFill>
              <a:latin typeface="华文楷体" panose="02010600040101010101" pitchFamily="2" charset="-122"/>
              <a:ea typeface="华文楷体" panose="02010600040101010101" pitchFamily="2" charset="-122"/>
            </a:endParaRPr>
          </a:p>
          <a:p>
            <a:pPr lvl="1"/>
            <a:endParaRPr lang="en-US" altLang="zh-CN" sz="2400" b="1" dirty="0">
              <a:solidFill>
                <a:srgbClr val="000000"/>
              </a:solidFill>
              <a:latin typeface="华文楷体" panose="02010600040101010101" pitchFamily="2" charset="-122"/>
              <a:ea typeface="华文楷体" panose="02010600040101010101" pitchFamily="2" charset="-122"/>
            </a:endParaRPr>
          </a:p>
          <a:p>
            <a:pPr lvl="1"/>
            <a:r>
              <a:rPr lang="zh-CN" altLang="en-US" sz="2400" b="1" dirty="0">
                <a:solidFill>
                  <a:srgbClr val="FF0000"/>
                </a:solidFill>
                <a:latin typeface="华文楷体" panose="02010600040101010101" pitchFamily="2" charset="-122"/>
                <a:ea typeface="华文楷体" panose="02010600040101010101" pitchFamily="2" charset="-122"/>
              </a:rPr>
              <a:t>木桶原理</a:t>
            </a:r>
            <a:r>
              <a:rPr lang="zh-CN" altLang="en-US" sz="2400" b="1" dirty="0">
                <a:solidFill>
                  <a:srgbClr val="000000"/>
                </a:solidFill>
                <a:latin typeface="华文楷体" panose="02010600040101010101" pitchFamily="2" charset="-122"/>
                <a:ea typeface="华文楷体" panose="02010600040101010101" pitchFamily="2" charset="-122"/>
              </a:rPr>
              <a:t>：一个木桶由许多木板组成，如果木板的长短不一，木桶的最大容量取决于最短的那块木板。</a:t>
            </a:r>
            <a:endParaRPr lang="en-US" altLang="zh-CN" sz="2400" b="1" dirty="0">
              <a:solidFill>
                <a:srgbClr val="000000"/>
              </a:solidFill>
              <a:latin typeface="华文楷体" panose="02010600040101010101" pitchFamily="2" charset="-122"/>
              <a:ea typeface="华文楷体" panose="02010600040101010101" pitchFamily="2" charset="-122"/>
            </a:endParaRPr>
          </a:p>
          <a:p>
            <a:pPr lvl="1"/>
            <a:endParaRPr lang="en-US" altLang="zh-CN" sz="2400" b="1" dirty="0">
              <a:solidFill>
                <a:srgbClr val="000000"/>
              </a:solidFill>
              <a:latin typeface="华文楷体" panose="02010600040101010101" pitchFamily="2" charset="-122"/>
              <a:ea typeface="华文楷体" panose="02010600040101010101" pitchFamily="2" charset="-122"/>
            </a:endParaRPr>
          </a:p>
          <a:p>
            <a:pPr lvl="1"/>
            <a:r>
              <a:rPr lang="zh-CN" altLang="en-US" sz="2400" b="1" dirty="0">
                <a:solidFill>
                  <a:srgbClr val="000000"/>
                </a:solidFill>
                <a:latin typeface="华文楷体" panose="02010600040101010101" pitchFamily="2" charset="-122"/>
                <a:ea typeface="华文楷体" panose="02010600040101010101" pitchFamily="2" charset="-122"/>
              </a:rPr>
              <a:t>适合于信息安全，多层面、多因素、综合和动态过程。</a:t>
            </a:r>
            <a:endParaRPr lang="en-US" altLang="zh-CN" sz="2400" b="1"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20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20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 calcmode="lin" valueType="num">
                                      <p:cBhvr additive="base">
                                        <p:cTn id="17"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animEffect transition="in" filter="fade">
                                      <p:cBhvr>
                                        <p:cTn id="23" dur="1000"/>
                                        <p:tgtEl>
                                          <p:spTgt spid="19459">
                                            <p:txEl>
                                              <p:pRg st="5" end="5"/>
                                            </p:txEl>
                                          </p:spTgt>
                                        </p:tgtEl>
                                      </p:cBhvr>
                                    </p:animEffect>
                                    <p:anim calcmode="lin" valueType="num">
                                      <p:cBhvr>
                                        <p:cTn id="24" dur="10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25" dur="1000" fill="hold"/>
                                        <p:tgtEl>
                                          <p:spTgt spid="1945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4"/>
          <p:cNvSpPr txBox="1"/>
          <p:nvPr>
            <p:custDataLst>
              <p:tags r:id="rId2"/>
            </p:custDataLst>
          </p:nvPr>
        </p:nvSpPr>
        <p:spPr>
          <a:xfrm>
            <a:off x="914400" y="1219200"/>
            <a:ext cx="7315200" cy="1498600"/>
          </a:xfrm>
          <a:prstGeom prst="rect">
            <a:avLst/>
          </a:prstGeom>
          <a:noFill/>
          <a:ln w="9525">
            <a:noFill/>
          </a:ln>
        </p:spPr>
        <p:txBody>
          <a:bodyPr anchor="ctr" anchorCtr="0"/>
          <a:lstStyle/>
          <a:p>
            <a:r>
              <a:rPr lang="zh-CN" altLang="zh-CN" dirty="0">
                <a:latin typeface="Times New Roman" panose="02020603050405020304" pitchFamily="18" charset="0"/>
              </a:rPr>
              <a:t>信息安全中的木桶原理是指</a:t>
            </a:r>
            <a:r>
              <a:rPr lang="zh-CN" altLang="en-US" dirty="0">
                <a:latin typeface="Times New Roman" panose="02020603050405020304" pitchFamily="18" charset="0"/>
              </a:rPr>
              <a:t>（）。</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6147" name="TextBox 5"/>
          <p:cNvSpPr txBox="1"/>
          <p:nvPr>
            <p:custDataLst>
              <p:tags r:id="rId3"/>
            </p:custDataLst>
          </p:nvPr>
        </p:nvSpPr>
        <p:spPr>
          <a:xfrm>
            <a:off x="1828800" y="2786063"/>
            <a:ext cx="6934200" cy="642937"/>
          </a:xfrm>
          <a:prstGeom prst="rect">
            <a:avLst/>
          </a:prstGeom>
          <a:noFill/>
          <a:ln w="9525">
            <a:noFill/>
          </a:ln>
        </p:spPr>
        <p:txBody>
          <a:bodyPr anchor="ctr" anchorCtr="0"/>
          <a:lstStyle/>
          <a:p>
            <a:r>
              <a:rPr lang="zh-CN" altLang="zh-CN" dirty="0">
                <a:latin typeface="Times New Roman" panose="02020603050405020304" pitchFamily="18" charset="0"/>
              </a:rPr>
              <a:t>整体安全水平由安全级别最低的部分所决定</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6148" name="TextBox 6"/>
          <p:cNvSpPr txBox="1"/>
          <p:nvPr>
            <p:custDataLst>
              <p:tags r:id="rId4"/>
            </p:custDataLst>
          </p:nvPr>
        </p:nvSpPr>
        <p:spPr>
          <a:xfrm>
            <a:off x="1828800" y="3643313"/>
            <a:ext cx="6934200" cy="642937"/>
          </a:xfrm>
          <a:prstGeom prst="rect">
            <a:avLst/>
          </a:prstGeom>
          <a:noFill/>
          <a:ln w="9525">
            <a:noFill/>
          </a:ln>
        </p:spPr>
        <p:txBody>
          <a:bodyPr anchor="ctr" anchorCtr="0"/>
          <a:lstStyle/>
          <a:p>
            <a:r>
              <a:rPr lang="zh-CN" altLang="zh-CN" dirty="0">
                <a:latin typeface="Times New Roman" panose="02020603050405020304" pitchFamily="18" charset="0"/>
              </a:rPr>
              <a:t>整体安全水平由安全级别最高的部分所决定</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6149" name="TextBox 7"/>
          <p:cNvSpPr txBox="1"/>
          <p:nvPr>
            <p:custDataLst>
              <p:tags r:id="rId5"/>
            </p:custDataLst>
          </p:nvPr>
        </p:nvSpPr>
        <p:spPr>
          <a:xfrm>
            <a:off x="1828800" y="4500563"/>
            <a:ext cx="7010400" cy="642937"/>
          </a:xfrm>
          <a:prstGeom prst="rect">
            <a:avLst/>
          </a:prstGeom>
          <a:noFill/>
          <a:ln w="9525">
            <a:noFill/>
          </a:ln>
        </p:spPr>
        <p:txBody>
          <a:bodyPr anchor="ctr" anchorCtr="0"/>
          <a:lstStyle/>
          <a:p>
            <a:r>
              <a:rPr lang="zh-CN" altLang="zh-CN" dirty="0">
                <a:latin typeface="Times New Roman" panose="02020603050405020304" pitchFamily="18" charset="0"/>
              </a:rPr>
              <a:t>整体安全水平由各组成部分的安全级别平均值所决定</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6150" name="TextBox 8"/>
          <p:cNvSpPr txBox="1"/>
          <p:nvPr>
            <p:custDataLst>
              <p:tags r:id="rId6"/>
            </p:custDataLst>
          </p:nvPr>
        </p:nvSpPr>
        <p:spPr>
          <a:xfrm>
            <a:off x="1828800" y="5357813"/>
            <a:ext cx="6400800" cy="642937"/>
          </a:xfrm>
          <a:prstGeom prst="rect">
            <a:avLst/>
          </a:prstGeom>
          <a:noFill/>
          <a:ln w="9525">
            <a:noFill/>
          </a:ln>
        </p:spPr>
        <p:txBody>
          <a:bodyPr anchor="ctr" anchorCtr="0"/>
          <a:lstStyle/>
          <a:p>
            <a:r>
              <a:rPr lang="zh-CN" altLang="en-US" dirty="0">
                <a:latin typeface="宋体" panose="02010600030101010101" pitchFamily="2" charset="-122"/>
                <a:sym typeface="微软雅黑" panose="020B0503020204020204" charset="-122"/>
              </a:rPr>
              <a:t>以上都不是</a:t>
            </a:r>
          </a:p>
        </p:txBody>
      </p:sp>
      <p:sp>
        <p:nvSpPr>
          <p:cNvPr id="6151"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6152"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6153" name="椭圆 11"/>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6154" name="椭圆 12"/>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6155" name="圆角矩形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2" name="组合 1"/>
          <p:cNvGrpSpPr/>
          <p:nvPr>
            <p:custDataLst>
              <p:tags r:id="rId12"/>
            </p:custDataLst>
          </p:nvPr>
        </p:nvGrpSpPr>
        <p:grpSpPr>
          <a:xfrm>
            <a:off x="0" y="0"/>
            <a:ext cx="9144000" cy="635000"/>
            <a:chOff x="0" y="0"/>
            <a:chExt cx="9144000" cy="635000"/>
          </a:xfrm>
        </p:grpSpPr>
        <p:sp>
          <p:nvSpPr>
            <p:cNvPr id="6158" name="TitleBackground"/>
            <p:cNvSpPr/>
            <p:nvPr>
              <p:custDataLst>
                <p:tags r:id="rId15"/>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6159" name="ColorBlock"/>
            <p:cNvSpPr/>
            <p:nvPr>
              <p:custDataLst>
                <p:tags r:id="rId16"/>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6160" name="TypeText"/>
            <p:cNvSpPr txBox="1"/>
            <p:nvPr>
              <p:custDataLst>
                <p:tags r:id="rId17"/>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charset="-122"/>
                  <a:ea typeface="微软雅黑" panose="020B0503020204020204" charset="-122"/>
                  <a:sym typeface="微软雅黑" panose="020B0503020204020204" charset="-122"/>
                </a:rPr>
                <a:t>单选题</a:t>
              </a:r>
            </a:p>
          </p:txBody>
        </p:sp>
        <p:sp>
          <p:nvSpPr>
            <p:cNvPr id="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cs typeface="微软雅黑" panose="020B050302020402020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cs typeface="微软雅黑" panose="020B050302020402020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cs typeface="微软雅黑" panose="020B0503020204020204" charset="-122"/>
                <a:sym typeface="Microsoft Yahei" panose="020B0503020204020204" pitchFamily="34" charset="-122"/>
              </a:endParaRPr>
            </a:p>
          </p:txBody>
        </p:sp>
      </p:grpSp>
      <p:pic>
        <p:nvPicPr>
          <p:cNvPr id="6157" name="图片 3"/>
          <p:cNvPicPr/>
          <p:nvPr>
            <p:custDataLst>
              <p:tags r:id="rId13"/>
            </p:custDataLst>
          </p:nvPr>
        </p:nvPicPr>
        <p:blipFill>
          <a:blip r:embed="rId20"/>
          <a:stretch>
            <a:fillRect/>
          </a:stretch>
        </p:blipFill>
        <p:spPr>
          <a:xfrm>
            <a:off x="7594600" y="63500"/>
            <a:ext cx="1422400" cy="508000"/>
          </a:xfrm>
          <a:prstGeom prst="rect">
            <a:avLst/>
          </a:prstGeom>
          <a:noFill/>
          <a:ln w="9525">
            <a:noFill/>
          </a:ln>
        </p:spPr>
      </p:pic>
      <p:sp>
        <p:nvSpPr>
          <p:cNvPr id="6" name="文本框 5"/>
          <p:cNvSpPr txBox="1"/>
          <p:nvPr>
            <p:custDataLst>
              <p:tags r:id="rId14"/>
            </p:custDataLst>
          </p:nvPr>
        </p:nvSpPr>
        <p:spPr>
          <a:xfrm>
            <a:off x="914400" y="635000"/>
            <a:ext cx="7315200" cy="365760"/>
          </a:xfrm>
          <a:prstGeom prst="rect">
            <a:avLst/>
          </a:prstGeom>
          <a:solidFill>
            <a:srgbClr val="FBFAEF">
              <a:alpha val="90000"/>
            </a:srgbClr>
          </a:solidFill>
        </p:spPr>
        <p:txBody>
          <a:bodyPr wrap="none" rtlCol="0" anchor="ctr" anchorCtr="1">
            <a:noAutofit/>
          </a:bodyPr>
          <a:lstStyle/>
          <a:p>
            <a:pPr lvl="0" algn="l">
              <a:buNone/>
            </a:pPr>
            <a:r>
              <a:rPr lang="zh-CN" altLang="en-US" sz="1200">
                <a:solidFill>
                  <a:srgbClr val="F84F41"/>
                </a:solidFill>
                <a:latin typeface="微软雅黑" panose="020B0503020204020204" charset="-122"/>
                <a:ea typeface="微软雅黑" panose="020B0503020204020204" charset="-122"/>
              </a:rPr>
              <a:t>此题未设置答案，请点击右侧设置按钮</a:t>
            </a:r>
          </a:p>
        </p:txBody>
      </p:sp>
    </p:spTree>
    <p:custDataLst>
      <p:tags r:id="rId1"/>
    </p:custDataLst>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vert="horz" wrap="square" lIns="91440" tIns="45720" rIns="91440" bIns="45720" anchor="ctr" anchorCtr="0"/>
          <a:lstStyle/>
          <a:p>
            <a:pPr eaLnBrk="1" hangingPunct="1"/>
            <a:r>
              <a:rPr lang="en-US" altLang="zh-CN" b="1" dirty="0">
                <a:ea typeface="宋体" panose="02010600030101010101" pitchFamily="2" charset="-122"/>
              </a:rPr>
              <a:t> </a:t>
            </a:r>
            <a:r>
              <a:rPr lang="zh-CN" altLang="en-US" b="1" dirty="0">
                <a:ea typeface="宋体" panose="02010600030101010101" pitchFamily="2" charset="-122"/>
              </a:rPr>
              <a:t>什么是信息安全管理</a:t>
            </a:r>
          </a:p>
        </p:txBody>
      </p:sp>
      <p:sp>
        <p:nvSpPr>
          <p:cNvPr id="19459" name="内容占位符 2"/>
          <p:cNvSpPr>
            <a:spLocks noGrp="1"/>
          </p:cNvSpPr>
          <p:nvPr>
            <p:ph idx="1"/>
          </p:nvPr>
        </p:nvSpPr>
        <p:spPr>
          <a:xfrm>
            <a:off x="152400" y="1447800"/>
            <a:ext cx="8839200" cy="1295400"/>
          </a:xfrm>
        </p:spPr>
        <p:txBody>
          <a:bodyPr vert="horz" wrap="square" lIns="91440" tIns="45720" rIns="91440" bIns="45720" anchor="t" anchorCtr="0"/>
          <a:lstStyle/>
          <a:p>
            <a:pPr lvl="1">
              <a:lnSpc>
                <a:spcPct val="150000"/>
              </a:lnSpc>
            </a:pPr>
            <a:r>
              <a:rPr lang="zh-CN" altLang="en-US" sz="2400" b="1" dirty="0">
                <a:solidFill>
                  <a:srgbClr val="FF0000"/>
                </a:solidFill>
                <a:latin typeface="华文楷体" panose="02010600040101010101" pitchFamily="2" charset="-122"/>
                <a:ea typeface="华文楷体" panose="02010600040101010101" pitchFamily="2" charset="-122"/>
              </a:rPr>
              <a:t>管理：</a:t>
            </a:r>
            <a:r>
              <a:rPr lang="zh-CN" altLang="en-US" sz="2400" b="1" dirty="0">
                <a:solidFill>
                  <a:srgbClr val="000000"/>
                </a:solidFill>
                <a:latin typeface="华文楷体" panose="02010600040101010101" pitchFamily="2" charset="-122"/>
                <a:ea typeface="华文楷体" panose="02010600040101010101" pitchFamily="2" charset="-122"/>
              </a:rPr>
              <a:t>管理主体组织并利用其各个要素（人、财、物、信息、时空），借助管理手段，完成目标的过程。</a:t>
            </a:r>
            <a:endParaRPr lang="en-US" altLang="zh-CN" sz="2400" b="1" dirty="0">
              <a:solidFill>
                <a:srgbClr val="000000"/>
              </a:solidFill>
              <a:latin typeface="华文楷体" panose="02010600040101010101" pitchFamily="2" charset="-122"/>
              <a:ea typeface="华文楷体" panose="02010600040101010101" pitchFamily="2" charset="-122"/>
            </a:endParaRPr>
          </a:p>
        </p:txBody>
      </p:sp>
      <p:sp>
        <p:nvSpPr>
          <p:cNvPr id="3" name="矩形 2"/>
          <p:cNvSpPr/>
          <p:nvPr/>
        </p:nvSpPr>
        <p:spPr>
          <a:xfrm>
            <a:off x="-152400" y="2640013"/>
            <a:ext cx="9067800" cy="3970337"/>
          </a:xfrm>
          <a:prstGeom prst="rect">
            <a:avLst/>
          </a:prstGeom>
          <a:noFill/>
          <a:ln w="9525">
            <a:noFill/>
          </a:ln>
        </p:spPr>
        <p:txBody>
          <a:bodyPr>
            <a:spAutoFit/>
          </a:bodyPr>
          <a:lstStyle/>
          <a:p>
            <a:pPr marL="1371600" lvl="2" indent="-457200">
              <a:lnSpc>
                <a:spcPct val="150000"/>
              </a:lnSpc>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管理主体是一个组织，国家、公司都可以；</a:t>
            </a:r>
            <a:endParaRPr lang="en-US" altLang="zh-CN" sz="2400" b="1" dirty="0">
              <a:latin typeface="华文楷体" panose="02010600040101010101" pitchFamily="2" charset="-122"/>
              <a:ea typeface="华文楷体" panose="02010600040101010101" pitchFamily="2" charset="-122"/>
            </a:endParaRPr>
          </a:p>
          <a:p>
            <a:pPr marL="1371600" lvl="2" indent="-457200">
              <a:lnSpc>
                <a:spcPct val="150000"/>
              </a:lnSpc>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管理主体</a:t>
            </a:r>
            <a:r>
              <a:rPr lang="en-US" altLang="zh-CN" sz="2400" b="1" dirty="0">
                <a:solidFill>
                  <a:srgbClr val="FF0000"/>
                </a:solidFill>
                <a:latin typeface="华文楷体" panose="02010600040101010101" pitchFamily="2" charset="-122"/>
                <a:ea typeface="华文楷体" panose="02010600040101010101" pitchFamily="2" charset="-122"/>
              </a:rPr>
              <a:t>5个要求</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人、财、物、信息、时空；</a:t>
            </a:r>
            <a:endParaRPr lang="en-US" altLang="zh-CN" sz="2400" b="1" dirty="0">
              <a:latin typeface="华文楷体" panose="02010600040101010101" pitchFamily="2" charset="-122"/>
              <a:ea typeface="华文楷体" panose="02010600040101010101" pitchFamily="2" charset="-122"/>
            </a:endParaRPr>
          </a:p>
          <a:p>
            <a:pPr marL="1371600" lvl="2" indent="-457200">
              <a:lnSpc>
                <a:spcPct val="150000"/>
              </a:lnSpc>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管理手段</a:t>
            </a:r>
            <a:r>
              <a:rPr lang="en-US" altLang="zh-CN" sz="2400" b="1" dirty="0">
                <a:solidFill>
                  <a:srgbClr val="FF0000"/>
                </a:solidFill>
                <a:latin typeface="华文楷体" panose="02010600040101010101" pitchFamily="2" charset="-122"/>
                <a:ea typeface="华文楷体" panose="02010600040101010101" pitchFamily="2" charset="-122"/>
              </a:rPr>
              <a:t>5个</a:t>
            </a:r>
            <a:r>
              <a:rPr lang="zh-CN" altLang="en-US" sz="2400" b="1" dirty="0">
                <a:solidFill>
                  <a:srgbClr val="FF0000"/>
                </a:solidFill>
                <a:latin typeface="华文楷体" panose="02010600040101010101" pitchFamily="2" charset="-122"/>
                <a:ea typeface="华文楷体" panose="02010600040101010101" pitchFamily="2" charset="-122"/>
              </a:rPr>
              <a:t>方面</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：强制、交换、惩罚、激励、沟通与说服；</a:t>
            </a:r>
            <a:endParaRPr lang="en-US" altLang="zh-CN" sz="2400" b="1" dirty="0">
              <a:latin typeface="华文楷体" panose="02010600040101010101" pitchFamily="2" charset="-122"/>
              <a:ea typeface="华文楷体" panose="02010600040101010101" pitchFamily="2" charset="-122"/>
            </a:endParaRPr>
          </a:p>
          <a:p>
            <a:pPr marL="1371600" lvl="2" indent="-457200">
              <a:lnSpc>
                <a:spcPct val="150000"/>
              </a:lnSpc>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管理过程</a:t>
            </a:r>
            <a:r>
              <a:rPr lang="en-US" altLang="zh-CN" sz="2400" b="1" dirty="0">
                <a:solidFill>
                  <a:srgbClr val="FF0000"/>
                </a:solidFill>
                <a:latin typeface="华文楷体" panose="02010600040101010101" pitchFamily="2" charset="-122"/>
                <a:ea typeface="华文楷体" panose="02010600040101010101" pitchFamily="2" charset="-122"/>
              </a:rPr>
              <a:t>7个环节</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管理规则的确定，管理资源的配置，目标的设立与分解，组织与实施，过程控制，效果评价，总结与处理。</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20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barn(inVertical)">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wipe(down)">
                                      <p:cBhvr>
                                        <p:cTn id="3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什么是信息安全管理</a:t>
            </a:r>
          </a:p>
        </p:txBody>
      </p:sp>
      <p:sp>
        <p:nvSpPr>
          <p:cNvPr id="19459" name="内容占位符 2"/>
          <p:cNvSpPr>
            <a:spLocks noGrp="1" noChangeArrowheads="1"/>
          </p:cNvSpPr>
          <p:nvPr>
            <p:ph idx="1"/>
          </p:nvPr>
        </p:nvSpPr>
        <p:spPr>
          <a:xfrm>
            <a:off x="304800" y="838200"/>
            <a:ext cx="8229600" cy="5638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信息安全管理的基本内容</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信息系统的安全管</a:t>
            </a:r>
            <a:r>
              <a:rPr kumimoji="0" lang="zh-CN" altLang="en-US"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可</a:t>
            </a: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分为</a:t>
            </a:r>
            <a:r>
              <a:rPr kumimoji="0" lang="zh-CN" altLang="zh-CN" sz="24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技术性管理</a:t>
            </a: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和</a:t>
            </a:r>
            <a:r>
              <a:rPr kumimoji="0" lang="zh-CN" altLang="zh-CN" sz="2400" b="1"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法律性管理</a:t>
            </a: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两类。</a:t>
            </a:r>
            <a:endPar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技术性管理</a:t>
            </a: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以</a:t>
            </a:r>
            <a:r>
              <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OSI</a:t>
            </a: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安全机制和安全服务的管理以及对物理环境的技术监控为主</a:t>
            </a:r>
            <a:endPar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000" b="1" i="0" u="none" strike="noStrike" kern="0" cap="none" spc="0" normalizeH="0" baseline="0" noProof="0" dirty="0" err="1" smtClean="0">
                <a:ln>
                  <a:noFill/>
                </a:ln>
                <a:solidFill>
                  <a:srgbClr val="000000"/>
                </a:solidFill>
                <a:effectLst/>
                <a:uLnTx/>
                <a:uFillTx/>
                <a:latin typeface="华文楷体" panose="02010600040101010101" pitchFamily="2" charset="-122"/>
                <a:ea typeface="华文楷体" panose="02010600040101010101" pitchFamily="2" charset="-122"/>
              </a:rPr>
              <a:t>SMIB，安全管理信息库，分布式存储</a:t>
            </a:r>
            <a:r>
              <a:rPr kumimoji="0" lang="zh-CN" altLang="en-US"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相关信息。</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法律性管理</a:t>
            </a: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以法律法规遵从性管理为主。</a:t>
            </a:r>
            <a:endPar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信息安全管理本身并不完成正常的业务应用通信，但却是支持与控制这些通信的安全所必需的。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7" end="7"/>
                                            </p:txEl>
                                          </p:spTgt>
                                        </p:tgtEl>
                                        <p:attrNameLst>
                                          <p:attrName>style.visibility</p:attrName>
                                        </p:attrNameLst>
                                      </p:cBhvr>
                                      <p:to>
                                        <p:strVal val="visible"/>
                                      </p:to>
                                    </p:set>
                                    <p:animEffect transition="in" filter="fade">
                                      <p:cBhvr>
                                        <p:cTn id="32"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vert="horz" wrap="square" lIns="91440" tIns="45720" rIns="91440" bIns="45720" anchor="ctr" anchorCtr="0"/>
          <a:lstStyle/>
          <a:p>
            <a:pPr eaLnBrk="1" hangingPunct="1"/>
            <a:r>
              <a:rPr lang="zh-CN" altLang="zh-CN" dirty="0">
                <a:ea typeface="宋体" panose="02010600030101010101" pitchFamily="2" charset="-122"/>
              </a:rPr>
              <a:t>信息安全管理的指导原则</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04800" y="990600"/>
            <a:ext cx="82296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指导原则分两类</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策略原则：是考虑信息安全的基本原则</a:t>
            </a:r>
            <a:endParaRPr kumimoji="0" lang="en-US"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工程原则：为信息安全工程的组织与实施过程中，需要遵循的基本原则</a:t>
            </a:r>
            <a:endPar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p:txBody>
      </p:sp>
      <p:pic>
        <p:nvPicPr>
          <p:cNvPr id="9220" name="图片 1"/>
          <p:cNvPicPr>
            <a:picLocks noChangeAspect="1"/>
          </p:cNvPicPr>
          <p:nvPr/>
        </p:nvPicPr>
        <p:blipFill>
          <a:blip r:embed="rId2"/>
          <a:stretch>
            <a:fillRect/>
          </a:stretch>
        </p:blipFill>
        <p:spPr>
          <a:xfrm>
            <a:off x="6705600" y="4724400"/>
            <a:ext cx="1905000" cy="19050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vert="horz" wrap="square" lIns="91440" tIns="45720" rIns="91440" bIns="45720" anchor="ctr" anchorCtr="0"/>
          <a:lstStyle/>
          <a:p>
            <a:pPr eaLnBrk="1" hangingPunct="1"/>
            <a:r>
              <a:rPr lang="zh-CN" altLang="zh-CN" dirty="0">
                <a:ea typeface="宋体" panose="02010600030101010101" pitchFamily="2" charset="-122"/>
              </a:rPr>
              <a:t>信息安全管理的指导原则</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04800" y="6096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策略原则：</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以安全保发展，在发展中求安全</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受保护资源的价值与保护成本平衡</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明确国家、企业和个人对信息安全的职责和可确认性</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信息安全需要积极防御和综合防范</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定期评估信息系统的残留风险</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综合考虑社会因素对信息安全的制约</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信息安全管理体现以人为本</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59">
                                            <p:txEl>
                                              <p:pRg st="8" end="8"/>
                                            </p:txEl>
                                          </p:spTgt>
                                        </p:tgtEl>
                                        <p:attrNameLst>
                                          <p:attrName>style.visibility</p:attrName>
                                        </p:attrNameLst>
                                      </p:cBhvr>
                                      <p:to>
                                        <p:strVal val="visible"/>
                                      </p:to>
                                    </p:set>
                                    <p:animEffect transition="in" filter="fade">
                                      <p:cBhvr>
                                        <p:cTn id="42" dur="20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vert="horz" wrap="square" lIns="91440" tIns="45720" rIns="91440" bIns="45720" anchor="ctr" anchorCtr="0"/>
          <a:lstStyle/>
          <a:p>
            <a:pPr eaLnBrk="1" hangingPunct="1"/>
            <a:r>
              <a:rPr lang="zh-CN" altLang="zh-CN" dirty="0">
                <a:ea typeface="宋体" panose="02010600030101010101" pitchFamily="2" charset="-122"/>
              </a:rPr>
              <a:t>信息安全管理的指导原则</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762000" y="1219200"/>
            <a:ext cx="8229600" cy="5257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工程原则：</a:t>
            </a:r>
            <a:r>
              <a:rPr kumimoji="0" lang="zh-CN" altLang="en-US"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从工程的角度来考虑信息安全问题的解决方案</a:t>
            </a:r>
            <a:endParaRPr kumimoji="0" lang="en-US" altLang="zh-CN"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基本保证</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适度安全</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实用和标准化</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保护层次化和系统</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降低复杂度</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安全设计机构化</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vert="horz" wrap="square" lIns="91440" tIns="45720" rIns="91440" bIns="45720" anchor="ctr" anchorCtr="0"/>
          <a:lstStyle/>
          <a:p>
            <a:pPr eaLnBrk="1" hangingPunct="1"/>
            <a:r>
              <a:rPr lang="zh-CN" altLang="zh-CN" dirty="0">
                <a:ea typeface="宋体" panose="02010600030101010101" pitchFamily="2" charset="-122"/>
              </a:rPr>
              <a:t>信息安全管理的</a:t>
            </a:r>
            <a:r>
              <a:rPr lang="zh-CN" altLang="en-US" dirty="0">
                <a:ea typeface="宋体" panose="02010600030101010101" pitchFamily="2" charset="-122"/>
              </a:rPr>
              <a:t>意义</a:t>
            </a:r>
            <a:endParaRPr lang="zh-CN" altLang="en-US" b="1" dirty="0">
              <a:ea typeface="宋体" panose="02010600030101010101" pitchFamily="2" charset="-122"/>
            </a:endParaRPr>
          </a:p>
        </p:txBody>
      </p:sp>
      <p:sp>
        <p:nvSpPr>
          <p:cNvPr id="12291" name="内容占位符 2"/>
          <p:cNvSpPr>
            <a:spLocks noGrp="1"/>
          </p:cNvSpPr>
          <p:nvPr>
            <p:ph idx="1"/>
          </p:nvPr>
        </p:nvSpPr>
        <p:spPr>
          <a:xfrm>
            <a:off x="-152400" y="1905000"/>
            <a:ext cx="8610600" cy="4419600"/>
          </a:xfrm>
        </p:spPr>
        <p:txBody>
          <a:bodyPr vert="horz" wrap="square" lIns="91440" tIns="45720" rIns="91440" bIns="45720" anchor="t" anchorCtr="0"/>
          <a:lstStyle/>
          <a:p>
            <a:pPr lvl="1">
              <a:lnSpc>
                <a:spcPct val="150000"/>
              </a:lnSpc>
            </a:pPr>
            <a:r>
              <a:rPr lang="zh-CN" altLang="zh-CN" sz="2400" b="1" dirty="0">
                <a:solidFill>
                  <a:srgbClr val="000000"/>
                </a:solidFill>
                <a:latin typeface="华文楷体" panose="02010600040101010101" pitchFamily="2" charset="-122"/>
                <a:ea typeface="华文楷体" panose="02010600040101010101" pitchFamily="2" charset="-122"/>
              </a:rPr>
              <a:t>信息安全管理通过维护信息的</a:t>
            </a:r>
            <a:r>
              <a:rPr lang="zh-CN" altLang="en-US" sz="2400" b="1" dirty="0">
                <a:solidFill>
                  <a:srgbClr val="000000"/>
                </a:solidFill>
                <a:latin typeface="华文楷体" panose="02010600040101010101" pitchFamily="2" charset="-122"/>
                <a:ea typeface="华文楷体" panose="02010600040101010101" pitchFamily="2" charset="-122"/>
              </a:rPr>
              <a:t>基本属性（</a:t>
            </a:r>
            <a:r>
              <a:rPr lang="zh-CN" altLang="zh-CN" sz="2400" b="1" dirty="0">
                <a:solidFill>
                  <a:srgbClr val="000000"/>
                </a:solidFill>
                <a:latin typeface="华文楷体" panose="02010600040101010101" pitchFamily="2" charset="-122"/>
                <a:ea typeface="华文楷体" panose="02010600040101010101" pitchFamily="2" charset="-122"/>
              </a:rPr>
              <a:t>机密性、完整性和可用性</a:t>
            </a:r>
            <a:r>
              <a:rPr lang="zh-CN" altLang="en-US" sz="2400" b="1" dirty="0">
                <a:solidFill>
                  <a:srgbClr val="000000"/>
                </a:solidFill>
                <a:latin typeface="华文楷体" panose="02010600040101010101" pitchFamily="2" charset="-122"/>
                <a:ea typeface="华文楷体" panose="02010600040101010101" pitchFamily="2" charset="-122"/>
              </a:rPr>
              <a:t>）</a:t>
            </a:r>
            <a:r>
              <a:rPr lang="zh-CN" altLang="zh-CN" sz="2400" b="1" dirty="0">
                <a:solidFill>
                  <a:srgbClr val="000000"/>
                </a:solidFill>
                <a:latin typeface="华文楷体" panose="02010600040101010101" pitchFamily="2" charset="-122"/>
                <a:ea typeface="华文楷体" panose="02010600040101010101" pitchFamily="2" charset="-122"/>
              </a:rPr>
              <a:t>，来管理和保护信息资产的一项体制，是对信息安全保障进行指导、规范和管理的一系列活动和过程。</a:t>
            </a:r>
            <a:endParaRPr lang="en-US" altLang="zh-CN" sz="2400" b="1" dirty="0">
              <a:solidFill>
                <a:srgbClr val="000000"/>
              </a:solidFill>
              <a:latin typeface="华文楷体" panose="02010600040101010101" pitchFamily="2" charset="-122"/>
              <a:ea typeface="华文楷体" panose="02010600040101010101" pitchFamily="2" charset="-122"/>
            </a:endParaRPr>
          </a:p>
          <a:p>
            <a:pPr lvl="2">
              <a:lnSpc>
                <a:spcPct val="150000"/>
              </a:lnSpc>
            </a:pPr>
            <a:r>
              <a:rPr lang="zh-CN" altLang="en-US" b="1" dirty="0">
                <a:solidFill>
                  <a:srgbClr val="000000"/>
                </a:solidFill>
                <a:latin typeface="华文楷体" panose="02010600040101010101" pitchFamily="2" charset="-122"/>
                <a:ea typeface="华文楷体" panose="02010600040101010101" pitchFamily="2" charset="-122"/>
              </a:rPr>
              <a:t>保护信息的安全，就是要保证信息基本属性的落实。</a:t>
            </a:r>
            <a:endParaRPr lang="en-US" altLang="zh-CN" b="1" dirty="0">
              <a:solidFill>
                <a:srgbClr val="000000"/>
              </a:solidFill>
              <a:latin typeface="华文楷体" panose="02010600040101010101" pitchFamily="2" charset="-122"/>
              <a:ea typeface="华文楷体" panose="02010600040101010101" pitchFamily="2" charset="-122"/>
            </a:endParaRPr>
          </a:p>
          <a:p>
            <a:pPr lvl="1"/>
            <a:endParaRPr lang="en-US" altLang="zh-CN" b="1" dirty="0">
              <a:solidFill>
                <a:srgbClr val="000000"/>
              </a:solidFill>
              <a:latin typeface="华文楷体" panose="02010600040101010101" pitchFamily="2" charset="-122"/>
              <a:ea typeface="华文楷体" panose="02010600040101010101" pitchFamily="2" charset="-122"/>
            </a:endParaRPr>
          </a:p>
          <a:p>
            <a:pPr lvl="1"/>
            <a:r>
              <a:rPr lang="zh-CN" altLang="zh-CN" b="1" dirty="0">
                <a:solidFill>
                  <a:srgbClr val="000000"/>
                </a:solidFill>
                <a:latin typeface="华文楷体" panose="02010600040101010101" pitchFamily="2" charset="-122"/>
                <a:ea typeface="华文楷体" panose="02010600040101010101" pitchFamily="2" charset="-122"/>
              </a:rPr>
              <a:t>中国工程院院长徐匡迪曾指出：“没有安全的工程就是豆腐渣工程”。</a:t>
            </a:r>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152400" y="1066800"/>
            <a:ext cx="8229600" cy="5181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r>
              <a:rPr kumimoji="0" lang="zh-CN" altLang="zh-CN" sz="32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国内</a:t>
            </a:r>
            <a:r>
              <a:rPr kumimoji="0" lang="zh-CN"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信息安全管理现状</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我国已初步建成了国家信息安全组织保障体系</a:t>
            </a:r>
            <a:endParaRPr kumimoji="0" lang="en-US"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2003年7月国务院信息化领导小组通过了《关于加强信息安全保障工作的意见》；</a:t>
            </a: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2003年7月，成立了国家计算机网络应急技术处理协调中心，专门负责收集、汇总、核实、发布权威的应急处理信息；</a:t>
            </a:r>
            <a:endParaRPr kumimoji="0" lang="zh-CN"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2003年9月，把信息安全提到了促进经济发展、维护社会稳定、保障国家安全、加强精神文明建设的高度，并提出“</a:t>
            </a:r>
            <a:r>
              <a:rPr kumimoji="0" lang="en-US" altLang="zh-CN" sz="24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积极防御、综合防范</a:t>
            </a:r>
            <a:r>
              <a:rPr kumimoji="0" lang="en-US" altLang="zh-CN" sz="24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”的方针；</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152400" y="914400"/>
            <a:ext cx="87630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32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国内</a:t>
            </a:r>
            <a:r>
              <a:rPr kumimoji="0" lang="zh-CN"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信息安全管理现状</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制定和引进了一批重要的信息安全管理标准</a:t>
            </a:r>
            <a:endParaRPr kumimoji="0" lang="en-US"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技术标准：</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《计算机信息系统安全保护等级划分准则》（</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GB 17895-1999</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）、《信息系统安全等级 保护基本要求》</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管理标准：</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《信息安全技术 信息系统安全管理要求》（</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GB/T 20269-2006</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）、《信息安全技术信息系统安全工程管理要求》（</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GB/T 20282-2006</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）、《信息系统安全等级保护基本要求》</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引进了国际上著名的《</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ISO17799:2000:</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信息安全管理实施准则》、《</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BS7799-2:2000:</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信息安全管理体系实施规范》等信息安全管理标准</a:t>
            </a:r>
            <a:endParaRPr kumimoji="0" lang="en-US"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en-US" altLang="zh-CN" dirty="0">
                <a:ea typeface="宋体" panose="02010600030101010101" pitchFamily="2" charset="-122"/>
              </a:rPr>
              <a:t> </a:t>
            </a:r>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152400" y="8382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32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国内</a:t>
            </a:r>
            <a:r>
              <a:rPr kumimoji="0" lang="zh-CN"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信息安全管理现状</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制定了一系列必需的信息安全管理的法律法规</a:t>
            </a:r>
            <a:endParaRPr kumimoji="0" lang="en-US"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《计算机信息网络国际联网管理暂行规定》</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《商用密码管理条例》</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《互联网信息服务管理办法》</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《计算机信息网络国际联网安全保护管理办法》</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《电子签名法》</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r>
              <a:rPr kumimoji="0" lang="en-US" altLang="zh-CN" sz="20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rPr>
              <a:t>网络安全法</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r>
              <a:rPr kumimoji="0" lang="en-US" altLang="zh-CN" sz="2000" b="0" i="0" u="none" strike="noStrike" kern="0" cap="none" spc="0" normalizeH="0" baseline="0" noProof="0" dirty="0" err="1" smtClean="0">
                <a:ln>
                  <a:noFill/>
                </a:ln>
                <a:solidFill>
                  <a:schemeClr val="tx1"/>
                </a:solidFill>
                <a:effectLst/>
                <a:uLnTx/>
                <a:uFillTx/>
                <a:latin typeface="华文楷体" panose="02010600040101010101" pitchFamily="2" charset="-122"/>
                <a:ea typeface="华文楷体" panose="02010600040101010101" pitchFamily="2" charset="-122"/>
              </a:rPr>
              <a:t>密码法</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59">
                                            <p:txEl>
                                              <p:pRg st="8" end="8"/>
                                            </p:txEl>
                                          </p:spTgt>
                                        </p:tgtEl>
                                        <p:attrNameLst>
                                          <p:attrName>style.visibility</p:attrName>
                                        </p:attrNameLst>
                                      </p:cBhvr>
                                      <p:to>
                                        <p:strVal val="visible"/>
                                      </p:to>
                                    </p:set>
                                    <p:animEffect transition="in" filter="fade">
                                      <p:cBhvr>
                                        <p:cTn id="42" dur="2000"/>
                                        <p:tgtEl>
                                          <p:spTgt spid="1945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459">
                                            <p:txEl>
                                              <p:pRg st="9" end="9"/>
                                            </p:txEl>
                                          </p:spTgt>
                                        </p:tgtEl>
                                        <p:attrNameLst>
                                          <p:attrName>style.visibility</p:attrName>
                                        </p:attrNameLst>
                                      </p:cBhvr>
                                      <p:to>
                                        <p:strVal val="visible"/>
                                      </p:to>
                                    </p:set>
                                    <p:animEffect transition="in" filter="fade">
                                      <p:cBhvr>
                                        <p:cTn id="47" dur="2000"/>
                                        <p:tgtEl>
                                          <p:spTgt spid="194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152400" y="9144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r>
              <a:rPr kumimoji="0" lang="zh-CN" altLang="zh-CN" sz="32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国内</a:t>
            </a:r>
            <a:r>
              <a:rPr kumimoji="0" lang="zh-CN"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信息安全管理现状</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rPr>
              <a:t>信息安全风险评估工作已经得到重视和开展</a:t>
            </a:r>
            <a:endParaRPr kumimoji="0" lang="en-US"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风险评估成为信息安全管理的核心工作</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，也是解决方案</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2003</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年</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7</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月，国信办信息安全风险评估课题组就启动了信息安全风险评估相关标准的编制工作</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国家铁路系统和北京移动通信公司作为先行者已经完成了信息安全风险评估试点工作</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后</a:t>
            </a:r>
            <a:r>
              <a:rPr kumimoji="0" lang="zh-CN"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，国家其他关键行业或系统（如电力、电信、银行等）也将陆续开展这方面的工作</a:t>
            </a:r>
            <a:endParaRPr kumimoji="0" lang="zh-CN" altLang="zh-CN" sz="20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p:cNvSpPr>
          <p:nvPr>
            <p:ph idx="1"/>
          </p:nvPr>
        </p:nvSpPr>
        <p:spPr>
          <a:xfrm>
            <a:off x="152400" y="1371600"/>
            <a:ext cx="8534400" cy="5867400"/>
          </a:xfrm>
        </p:spPr>
        <p:txBody>
          <a:bodyPr vert="horz" wrap="square" lIns="91440" tIns="45720" rIns="91440" bIns="45720" anchor="t" anchorCtr="0"/>
          <a:lstStyle/>
          <a:p>
            <a:pPr eaLnBrk="1" hangingPunct="1">
              <a:spcAft>
                <a:spcPct val="20000"/>
              </a:spcAft>
              <a:buClr>
                <a:srgbClr val="AC04A0"/>
              </a:buClr>
              <a:buNone/>
            </a:pPr>
            <a:r>
              <a:rPr lang="zh-CN" altLang="zh-CN" b="1" dirty="0">
                <a:latin typeface="华文楷体" panose="02010600040101010101" pitchFamily="2" charset="-122"/>
                <a:ea typeface="华文楷体" panose="02010600040101010101" pitchFamily="2" charset="-122"/>
              </a:rPr>
              <a:t>我国信息安全管理存在的问题</a:t>
            </a:r>
            <a:r>
              <a:rPr lang="zh-CN" altLang="en-US" b="1" dirty="0">
                <a:latin typeface="华文楷体" panose="02010600040101010101" pitchFamily="2" charset="-122"/>
                <a:ea typeface="华文楷体" panose="02010600040101010101" pitchFamily="2" charset="-122"/>
              </a:rPr>
              <a:t>：</a:t>
            </a:r>
            <a:endParaRPr lang="en-US" altLang="zh-CN" b="1" dirty="0">
              <a:latin typeface="华文楷体" panose="02010600040101010101" pitchFamily="2" charset="-122"/>
              <a:ea typeface="华文楷体" panose="02010600040101010101" pitchFamily="2" charset="-122"/>
            </a:endParaRPr>
          </a:p>
          <a:p>
            <a:pPr marL="914400" lvl="1" indent="-457200" algn="just">
              <a:lnSpc>
                <a:spcPct val="150000"/>
              </a:lnSpc>
              <a:buFontTx/>
              <a:buAutoNum type="circleNumDbPlain"/>
            </a:pPr>
            <a:r>
              <a:rPr lang="zh-CN" altLang="zh-CN" sz="2000" dirty="0">
                <a:latin typeface="华文楷体" panose="02010600040101010101" pitchFamily="2" charset="-122"/>
                <a:ea typeface="华文楷体" panose="02010600040101010101" pitchFamily="2" charset="-122"/>
              </a:rPr>
              <a:t>信息安全管理现状比较混乱，缺乏一个国家层面上的整体策略，实际管理力度不够，政策执行和监督力度也不够。</a:t>
            </a:r>
          </a:p>
          <a:p>
            <a:pPr marL="914400" lvl="1" indent="-457200" algn="just">
              <a:lnSpc>
                <a:spcPct val="150000"/>
              </a:lnSpc>
              <a:buFont typeface="Arial" panose="020B0604020202020204" pitchFamily="34" charset="0"/>
              <a:buAutoNum type="circleNumDbPlain"/>
            </a:pPr>
            <a:r>
              <a:rPr lang="zh-CN" altLang="zh-CN" sz="2000" dirty="0">
                <a:latin typeface="华文楷体" panose="02010600040101010101" pitchFamily="2" charset="-122"/>
                <a:ea typeface="华文楷体" panose="02010600040101010101" pitchFamily="2" charset="-122"/>
              </a:rPr>
              <a:t>具有我国特点的、动态的和涵盖组织机构、文件、控制措施、操作过程和程序及相关资源等要素的信息安全管理体系还未建立起来。</a:t>
            </a:r>
            <a:endParaRPr lang="en-US" altLang="zh-CN" sz="2000" dirty="0">
              <a:latin typeface="华文楷体" panose="02010600040101010101" pitchFamily="2" charset="-122"/>
              <a:ea typeface="华文楷体" panose="02010600040101010101" pitchFamily="2" charset="-122"/>
            </a:endParaRPr>
          </a:p>
          <a:p>
            <a:pPr marL="914400" lvl="1" indent="-457200" algn="just">
              <a:lnSpc>
                <a:spcPct val="150000"/>
              </a:lnSpc>
              <a:buFont typeface="Arial" panose="020B0604020202020204" pitchFamily="34" charset="0"/>
              <a:buAutoNum type="circleNumDbPlain"/>
            </a:pPr>
            <a:r>
              <a:rPr lang="zh-CN" altLang="zh-CN" sz="2000" dirty="0">
                <a:latin typeface="华文楷体" panose="02010600040101010101" pitchFamily="2" charset="-122"/>
                <a:ea typeface="华文楷体" panose="02010600040101010101" pitchFamily="2" charset="-122"/>
              </a:rPr>
              <a:t>具有我国特点的信息安全风险评估标准体系还有待完善，信息安全的需求难以确定，缺乏系统、全面的信息安全风险评估和评价体系以及全面、完善的信息安全保障体系。</a:t>
            </a:r>
            <a:endParaRPr lang="en-US" altLang="zh-CN" sz="2000" dirty="0">
              <a:latin typeface="华文楷体" panose="02010600040101010101" pitchFamily="2" charset="-122"/>
              <a:ea typeface="华文楷体" panose="02010600040101010101" pitchFamily="2" charset="-122"/>
            </a:endParaRPr>
          </a:p>
          <a:p>
            <a:pPr marL="914400" lvl="1" indent="-457200" algn="just">
              <a:lnSpc>
                <a:spcPct val="150000"/>
              </a:lnSpc>
              <a:buFont typeface="Arial" panose="020B0604020202020204" pitchFamily="34" charset="0"/>
              <a:buAutoNum type="circleNumDbPlain"/>
            </a:pPr>
            <a:r>
              <a:rPr lang="zh-CN" altLang="zh-CN" sz="2000" dirty="0">
                <a:latin typeface="华文楷体" panose="02010600040101010101" pitchFamily="2" charset="-122"/>
                <a:ea typeface="华文楷体" panose="02010600040101010101" pitchFamily="2" charset="-122"/>
              </a:rPr>
              <a:t>信息安全意识缺乏，普遍存在重产品、轻服务，重技术、轻管理的思想。</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20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20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fade">
                                      <p:cBhvr>
                                        <p:cTn id="17" dur="20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fade">
                                      <p:cBhvr>
                                        <p:cTn id="22" dur="20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fade">
                                      <p:cBhvr>
                                        <p:cTn id="2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p:cNvSpPr>
          <p:nvPr>
            <p:ph idx="1"/>
          </p:nvPr>
        </p:nvSpPr>
        <p:spPr>
          <a:xfrm>
            <a:off x="152400" y="838200"/>
            <a:ext cx="8229600" cy="58674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marL="914400" lvl="1" indent="-457200" algn="just">
              <a:lnSpc>
                <a:spcPct val="150000"/>
              </a:lnSpc>
              <a:buFontTx/>
              <a:buAutoNum type="circleNumDbPlain" startAt="5"/>
            </a:pPr>
            <a:r>
              <a:rPr lang="zh-CN" altLang="zh-CN" sz="2000" dirty="0">
                <a:latin typeface="华文楷体" panose="02010600040101010101" pitchFamily="2" charset="-122"/>
                <a:ea typeface="华文楷体" panose="02010600040101010101" pitchFamily="2" charset="-122"/>
              </a:rPr>
              <a:t>专项经费投入不足，管理人才极度缺乏，基础理论研究和关键技术薄弱，严重依靠国外。</a:t>
            </a:r>
            <a:endParaRPr lang="en-US" altLang="zh-CN" sz="2000" dirty="0">
              <a:latin typeface="华文楷体" panose="02010600040101010101" pitchFamily="2" charset="-122"/>
              <a:ea typeface="华文楷体" panose="02010600040101010101" pitchFamily="2" charset="-122"/>
            </a:endParaRPr>
          </a:p>
          <a:p>
            <a:pPr marL="914400" lvl="1" indent="-457200" algn="just">
              <a:lnSpc>
                <a:spcPct val="150000"/>
              </a:lnSpc>
              <a:buFont typeface="Arial" panose="020B0604020202020204" pitchFamily="34" charset="0"/>
              <a:buAutoNum type="circleNumDbPlain" startAt="5"/>
            </a:pPr>
            <a:r>
              <a:rPr lang="zh-CN" altLang="zh-CN" sz="2000" dirty="0">
                <a:latin typeface="华文楷体" panose="02010600040101010101" pitchFamily="2" charset="-122"/>
                <a:ea typeface="华文楷体" panose="02010600040101010101" pitchFamily="2" charset="-122"/>
              </a:rPr>
              <a:t>技术创新不够，信息安全管理产品水平和质量不高。</a:t>
            </a:r>
            <a:endParaRPr lang="en-US" altLang="zh-CN" sz="2000" dirty="0">
              <a:latin typeface="华文楷体" panose="02010600040101010101" pitchFamily="2" charset="-122"/>
              <a:ea typeface="华文楷体" panose="02010600040101010101" pitchFamily="2" charset="-122"/>
            </a:endParaRPr>
          </a:p>
          <a:p>
            <a:pPr marL="914400" lvl="1" indent="-457200" algn="just">
              <a:lnSpc>
                <a:spcPct val="150000"/>
              </a:lnSpc>
              <a:buFont typeface="Arial" panose="020B0604020202020204" pitchFamily="34" charset="0"/>
              <a:buAutoNum type="circleNumDbPlain" startAt="5"/>
            </a:pPr>
            <a:r>
              <a:rPr lang="zh-CN" altLang="zh-CN" sz="2000" dirty="0">
                <a:latin typeface="华文楷体" panose="02010600040101010101" pitchFamily="2" charset="-122"/>
                <a:ea typeface="华文楷体" panose="02010600040101010101" pitchFamily="2" charset="-122"/>
              </a:rPr>
              <a:t>在</a:t>
            </a:r>
            <a:r>
              <a:rPr lang="en-US" altLang="zh-CN" sz="2000" dirty="0">
                <a:latin typeface="华文楷体" panose="02010600040101010101" pitchFamily="2" charset="-122"/>
                <a:ea typeface="华文楷体" panose="02010600040101010101" pitchFamily="2" charset="-122"/>
              </a:rPr>
              <a:t>20</a:t>
            </a:r>
            <a:r>
              <a:rPr lang="zh-CN" altLang="zh-CN" sz="2000" dirty="0">
                <a:latin typeface="华文楷体" panose="02010600040101010101" pitchFamily="2" charset="-122"/>
                <a:ea typeface="华文楷体" panose="02010600040101010101" pitchFamily="2" charset="-122"/>
              </a:rPr>
              <a:t>世纪</a:t>
            </a:r>
            <a:r>
              <a:rPr lang="en-US" altLang="zh-CN" sz="2000" dirty="0">
                <a:latin typeface="华文楷体" panose="02010600040101010101" pitchFamily="2" charset="-122"/>
                <a:ea typeface="华文楷体" panose="02010600040101010101" pitchFamily="2" charset="-122"/>
              </a:rPr>
              <a:t>90</a:t>
            </a:r>
            <a:r>
              <a:rPr lang="zh-CN" altLang="zh-CN" sz="2000" dirty="0">
                <a:latin typeface="华文楷体" panose="02010600040101010101" pitchFamily="2" charset="-122"/>
                <a:ea typeface="华文楷体" panose="02010600040101010101" pitchFamily="2" charset="-122"/>
              </a:rPr>
              <a:t>年代之前，信息安全主要依靠安全技术手段与不成体系的管理规章来实现。国际信息安全管理已步入标准化与系统化管理时代。</a:t>
            </a:r>
            <a:endParaRPr lang="en-US" altLang="zh-CN" sz="2000" dirty="0">
              <a:latin typeface="华文楷体" panose="02010600040101010101" pitchFamily="2" charset="-122"/>
              <a:ea typeface="华文楷体" panose="02010600040101010101" pitchFamily="2" charset="-122"/>
            </a:endParaRPr>
          </a:p>
          <a:p>
            <a:pPr marL="914400" lvl="1" indent="-457200" algn="just">
              <a:lnSpc>
                <a:spcPct val="150000"/>
              </a:lnSpc>
              <a:buFont typeface="Arial" panose="020B0604020202020204" pitchFamily="34" charset="0"/>
              <a:buAutoNum type="circleNumDbPlain" startAt="5"/>
            </a:pPr>
            <a:r>
              <a:rPr lang="zh-CN" altLang="zh-CN" sz="2000" dirty="0">
                <a:latin typeface="华文楷体" panose="02010600040101010101" pitchFamily="2" charset="-122"/>
                <a:ea typeface="华文楷体" panose="02010600040101010101" pitchFamily="2" charset="-122"/>
              </a:rPr>
              <a:t>随着</a:t>
            </a:r>
            <a:r>
              <a:rPr lang="en-US" altLang="zh-CN" sz="2000" dirty="0">
                <a:latin typeface="华文楷体" panose="02010600040101010101" pitchFamily="2" charset="-122"/>
                <a:ea typeface="华文楷体" panose="02010600040101010101" pitchFamily="2" charset="-122"/>
              </a:rPr>
              <a:t>20</a:t>
            </a:r>
            <a:r>
              <a:rPr lang="zh-CN" altLang="zh-CN" sz="2000" dirty="0">
                <a:latin typeface="华文楷体" panose="02010600040101010101" pitchFamily="2" charset="-122"/>
                <a:ea typeface="华文楷体" panose="02010600040101010101" pitchFamily="2" charset="-122"/>
              </a:rPr>
              <a:t>世纪</a:t>
            </a:r>
            <a:r>
              <a:rPr lang="en-US" altLang="zh-CN" sz="2000" dirty="0">
                <a:latin typeface="华文楷体" panose="02010600040101010101" pitchFamily="2" charset="-122"/>
                <a:ea typeface="华文楷体" panose="02010600040101010101" pitchFamily="2" charset="-122"/>
              </a:rPr>
              <a:t>80</a:t>
            </a:r>
            <a:r>
              <a:rPr lang="zh-CN" altLang="zh-CN" sz="2000" dirty="0">
                <a:latin typeface="华文楷体" panose="02010600040101010101" pitchFamily="2" charset="-122"/>
                <a:ea typeface="华文楷体" panose="02010600040101010101" pitchFamily="2" charset="-122"/>
              </a:rPr>
              <a:t>年代</a:t>
            </a:r>
            <a:r>
              <a:rPr lang="en-US" altLang="zh-CN" sz="2000" dirty="0">
                <a:latin typeface="华文楷体" panose="02010600040101010101" pitchFamily="2" charset="-122"/>
                <a:ea typeface="华文楷体" panose="02010600040101010101" pitchFamily="2" charset="-122"/>
              </a:rPr>
              <a:t>ISO9000</a:t>
            </a:r>
            <a:r>
              <a:rPr lang="zh-CN" altLang="zh-CN" sz="2000" dirty="0">
                <a:latin typeface="华文楷体" panose="02010600040101010101" pitchFamily="2" charset="-122"/>
                <a:ea typeface="华文楷体" panose="02010600040101010101" pitchFamily="2" charset="-122"/>
              </a:rPr>
              <a:t>质量管理体系标准的出现及随后在全世界的推广应用，系统管理的思想在其他领域也被借鉴与采用，信息安全管理也同样在</a:t>
            </a:r>
            <a:r>
              <a:rPr lang="en-US" altLang="zh-CN" sz="2000" dirty="0">
                <a:latin typeface="华文楷体" panose="02010600040101010101" pitchFamily="2" charset="-122"/>
                <a:ea typeface="华文楷体" panose="02010600040101010101" pitchFamily="2" charset="-122"/>
              </a:rPr>
              <a:t>20</a:t>
            </a:r>
            <a:r>
              <a:rPr lang="zh-CN" altLang="zh-CN" sz="2000" dirty="0">
                <a:latin typeface="华文楷体" panose="02010600040101010101" pitchFamily="2" charset="-122"/>
                <a:ea typeface="华文楷体" panose="02010600040101010101" pitchFamily="2" charset="-122"/>
              </a:rPr>
              <a:t>世纪</a:t>
            </a:r>
            <a:r>
              <a:rPr lang="en-US" altLang="zh-CN" sz="2000" dirty="0">
                <a:latin typeface="华文楷体" panose="02010600040101010101" pitchFamily="2" charset="-122"/>
                <a:ea typeface="华文楷体" panose="02010600040101010101" pitchFamily="2" charset="-122"/>
              </a:rPr>
              <a:t>90</a:t>
            </a:r>
            <a:r>
              <a:rPr lang="zh-CN" altLang="zh-CN" sz="2000" dirty="0">
                <a:latin typeface="华文楷体" panose="02010600040101010101" pitchFamily="2" charset="-122"/>
                <a:ea typeface="华文楷体" panose="02010600040101010101" pitchFamily="2" charset="-122"/>
              </a:rPr>
              <a:t>年代步入了标准化与系统化的管理时代。</a:t>
            </a:r>
          </a:p>
          <a:p>
            <a:pPr marL="914400" lvl="1" indent="-457200">
              <a:lnSpc>
                <a:spcPct val="150000"/>
              </a:lnSpc>
              <a:buFont typeface="Arial" panose="020B0604020202020204" pitchFamily="34" charset="0"/>
              <a:buAutoNum type="circleNumDbPlain" startAt="5"/>
            </a:pPr>
            <a:endParaRPr lang="zh-CN" altLang="zh-CN" sz="2000"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609600" y="381000"/>
            <a:ext cx="7315200" cy="563563"/>
          </a:xfrm>
        </p:spPr>
        <p:txBody>
          <a:bodyPr vert="horz" wrap="square" lIns="91440" tIns="45720" rIns="91440" bIns="45720" anchor="ctr" anchorCtr="0"/>
          <a:lstStyle/>
          <a:p>
            <a:pPr eaLnBrk="1" hangingPunct="1"/>
            <a:r>
              <a:rPr lang="zh-CN" altLang="zh-CN" dirty="0">
                <a:ea typeface="宋体" panose="02010600030101010101" pitchFamily="2" charset="-122"/>
              </a:rPr>
              <a:t>信息安全管理的国内外研究发展</a:t>
            </a:r>
            <a:endParaRPr lang="zh-CN" altLang="en-US" b="1" dirty="0">
              <a:ea typeface="宋体" panose="02010600030101010101" pitchFamily="2" charset="-122"/>
            </a:endParaRPr>
          </a:p>
        </p:txBody>
      </p:sp>
      <p:sp>
        <p:nvSpPr>
          <p:cNvPr id="19459" name="内容占位符 2"/>
          <p:cNvSpPr>
            <a:spLocks noGrp="1"/>
          </p:cNvSpPr>
          <p:nvPr>
            <p:ph idx="1"/>
          </p:nvPr>
        </p:nvSpPr>
        <p:spPr>
          <a:xfrm>
            <a:off x="457200" y="1676400"/>
            <a:ext cx="8229600" cy="5486400"/>
          </a:xfrm>
        </p:spPr>
        <p:txBody>
          <a:bodyPr vert="horz" wrap="square" lIns="91440" tIns="45720" rIns="91440" bIns="45720" anchor="t" anchorCtr="0"/>
          <a:lstStyle/>
          <a:p>
            <a:pPr eaLnBrk="1" hangingPunct="1">
              <a:spcAft>
                <a:spcPct val="20000"/>
              </a:spcAft>
              <a:buClr>
                <a:srgbClr val="AC04A0"/>
              </a:buClr>
              <a:buNone/>
            </a:pPr>
            <a:r>
              <a:rPr lang="zh-CN" altLang="zh-CN" b="1" dirty="0">
                <a:solidFill>
                  <a:srgbClr val="FF0000"/>
                </a:solidFill>
                <a:latin typeface="华文楷体" panose="02010600040101010101" pitchFamily="2" charset="-122"/>
                <a:ea typeface="华文楷体" panose="02010600040101010101" pitchFamily="2" charset="-122"/>
              </a:rPr>
              <a:t>国</a:t>
            </a:r>
            <a:r>
              <a:rPr lang="zh-CN" altLang="en-US" b="1" dirty="0">
                <a:solidFill>
                  <a:srgbClr val="FF0000"/>
                </a:solidFill>
                <a:latin typeface="华文楷体" panose="02010600040101010101" pitchFamily="2" charset="-122"/>
                <a:ea typeface="华文楷体" panose="02010600040101010101" pitchFamily="2" charset="-122"/>
              </a:rPr>
              <a:t>外</a:t>
            </a:r>
            <a:r>
              <a:rPr lang="zh-CN" altLang="zh-CN" b="1" dirty="0">
                <a:latin typeface="华文楷体" panose="02010600040101010101" pitchFamily="2" charset="-122"/>
                <a:ea typeface="华文楷体" panose="02010600040101010101" pitchFamily="2" charset="-122"/>
              </a:rPr>
              <a:t>信息安全管理现状</a:t>
            </a:r>
            <a:r>
              <a:rPr lang="zh-CN" altLang="en-US" b="1" dirty="0">
                <a:latin typeface="华文楷体" panose="02010600040101010101" pitchFamily="2" charset="-122"/>
                <a:ea typeface="华文楷体" panose="02010600040101010101" pitchFamily="2" charset="-122"/>
              </a:rPr>
              <a:t>：</a:t>
            </a:r>
            <a:endParaRPr lang="en-US" altLang="zh-CN" b="1" dirty="0">
              <a:latin typeface="华文楷体" panose="02010600040101010101" pitchFamily="2" charset="-122"/>
              <a:ea typeface="华文楷体" panose="02010600040101010101" pitchFamily="2" charset="-122"/>
            </a:endParaRPr>
          </a:p>
          <a:p>
            <a:pPr lvl="1"/>
            <a:r>
              <a:rPr lang="zh-CN" altLang="en-US" b="1" dirty="0">
                <a:solidFill>
                  <a:srgbClr val="000000"/>
                </a:solidFill>
                <a:latin typeface="华文楷体" panose="02010600040101010101" pitchFamily="2" charset="-122"/>
                <a:ea typeface="华文楷体" panose="02010600040101010101" pitchFamily="2" charset="-122"/>
              </a:rPr>
              <a:t>信息化发展的发达国家，更加重视国家的信息安全工作。</a:t>
            </a:r>
            <a:endParaRPr lang="en-US" altLang="zh-CN" b="1" dirty="0">
              <a:solidFill>
                <a:srgbClr val="000000"/>
              </a:solidFill>
              <a:latin typeface="华文楷体" panose="02010600040101010101" pitchFamily="2" charset="-122"/>
              <a:ea typeface="华文楷体" panose="02010600040101010101" pitchFamily="2" charset="-122"/>
            </a:endParaRPr>
          </a:p>
          <a:p>
            <a:pPr lvl="2">
              <a:lnSpc>
                <a:spcPct val="150000"/>
              </a:lnSpc>
            </a:pPr>
            <a:r>
              <a:rPr lang="en-US" altLang="zh-CN" b="1" dirty="0">
                <a:solidFill>
                  <a:srgbClr val="000000"/>
                </a:solidFill>
                <a:latin typeface="华文楷体" panose="02010600040101010101" pitchFamily="2" charset="-122"/>
                <a:ea typeface="华文楷体" panose="02010600040101010101" pitchFamily="2" charset="-122"/>
              </a:rPr>
              <a:t>2000年</a:t>
            </a:r>
            <a:r>
              <a:rPr lang="zh-CN" altLang="en-US" b="1" dirty="0">
                <a:solidFill>
                  <a:srgbClr val="000000"/>
                </a:solidFill>
                <a:latin typeface="华文楷体" panose="02010600040101010101" pitchFamily="2" charset="-122"/>
                <a:ea typeface="华文楷体" panose="02010600040101010101" pitchFamily="2" charset="-122"/>
              </a:rPr>
              <a:t>年初，美出台了计算机空间安全计划，加强关键基础设施</a:t>
            </a:r>
            <a:r>
              <a:rPr lang="en-US" altLang="zh-CN" b="1" dirty="0">
                <a:solidFill>
                  <a:srgbClr val="000000"/>
                </a:solidFill>
                <a:latin typeface="华文楷体" panose="02010600040101010101" pitchFamily="2" charset="-122"/>
                <a:ea typeface="华文楷体" panose="02010600040101010101" pitchFamily="2" charset="-122"/>
              </a:rPr>
              <a:t>；</a:t>
            </a:r>
          </a:p>
          <a:p>
            <a:pPr lvl="2">
              <a:lnSpc>
                <a:spcPct val="150000"/>
              </a:lnSpc>
            </a:pPr>
            <a:r>
              <a:rPr lang="en-US" altLang="zh-CN" b="1" dirty="0">
                <a:solidFill>
                  <a:srgbClr val="000000"/>
                </a:solidFill>
                <a:latin typeface="华文楷体" panose="02010600040101010101" pitchFamily="2" charset="-122"/>
                <a:ea typeface="华文楷体" panose="02010600040101010101" pitchFamily="2" charset="-122"/>
              </a:rPr>
              <a:t>2000年7月，</a:t>
            </a:r>
            <a:r>
              <a:rPr lang="zh-CN" altLang="en-US" b="1" dirty="0">
                <a:solidFill>
                  <a:srgbClr val="000000"/>
                </a:solidFill>
                <a:latin typeface="华文楷体" panose="02010600040101010101" pitchFamily="2" charset="-122"/>
                <a:ea typeface="华文楷体" panose="02010600040101010101" pitchFamily="2" charset="-122"/>
              </a:rPr>
              <a:t>日本拟定了信息安全指导方针</a:t>
            </a:r>
            <a:r>
              <a:rPr lang="en-US" altLang="zh-CN" b="1" dirty="0">
                <a:solidFill>
                  <a:srgbClr val="000000"/>
                </a:solidFill>
                <a:latin typeface="华文楷体" panose="02010600040101010101" pitchFamily="2" charset="-122"/>
                <a:ea typeface="华文楷体" panose="02010600040101010101" pitchFamily="2" charset="-122"/>
              </a:rPr>
              <a:t>；</a:t>
            </a:r>
            <a:endParaRPr lang="zh-CN" altLang="zh-CN" b="1" dirty="0">
              <a:solidFill>
                <a:srgbClr val="000000"/>
              </a:solidFill>
              <a:latin typeface="华文楷体" panose="02010600040101010101" pitchFamily="2" charset="-122"/>
              <a:ea typeface="华文楷体" panose="02010600040101010101" pitchFamily="2" charset="-122"/>
            </a:endParaRPr>
          </a:p>
          <a:p>
            <a:pPr lvl="2">
              <a:lnSpc>
                <a:spcPct val="150000"/>
              </a:lnSpc>
            </a:pPr>
            <a:r>
              <a:rPr lang="en-US" altLang="zh-CN" b="1" dirty="0">
                <a:solidFill>
                  <a:srgbClr val="000000"/>
                </a:solidFill>
                <a:latin typeface="华文楷体" panose="02010600040101010101" pitchFamily="2" charset="-122"/>
                <a:ea typeface="华文楷体" panose="02010600040101010101" pitchFamily="2" charset="-122"/>
              </a:rPr>
              <a:t>2000年9月，</a:t>
            </a:r>
            <a:r>
              <a:rPr lang="zh-CN" altLang="en-US" b="1" dirty="0">
                <a:solidFill>
                  <a:srgbClr val="000000"/>
                </a:solidFill>
                <a:latin typeface="华文楷体" panose="02010600040101010101" pitchFamily="2" charset="-122"/>
                <a:ea typeface="华文楷体" panose="02010600040101010101" pitchFamily="2" charset="-122"/>
              </a:rPr>
              <a:t>俄罗斯批准了</a:t>
            </a:r>
            <a:r>
              <a:rPr lang="en-US" altLang="zh-CN" b="1" dirty="0">
                <a:solidFill>
                  <a:srgbClr val="000000"/>
                </a:solidFill>
                <a:latin typeface="华文楷体" panose="02010600040101010101" pitchFamily="2" charset="-122"/>
                <a:ea typeface="华文楷体" panose="02010600040101010101" pitchFamily="2" charset="-122"/>
              </a:rPr>
              <a:t>《</a:t>
            </a:r>
            <a:r>
              <a:rPr lang="zh-CN" altLang="en-US" b="1" dirty="0">
                <a:solidFill>
                  <a:srgbClr val="000000"/>
                </a:solidFill>
                <a:latin typeface="华文楷体" panose="02010600040101010101" pitchFamily="2" charset="-122"/>
                <a:ea typeface="华文楷体" panose="02010600040101010101" pitchFamily="2" charset="-122"/>
              </a:rPr>
              <a:t>国家信息安全构想</a:t>
            </a:r>
            <a:r>
              <a:rPr lang="en-US" altLang="zh-CN" b="1" dirty="0">
                <a:solidFill>
                  <a:srgbClr val="000000"/>
                </a:solidFill>
                <a:latin typeface="华文楷体" panose="02010600040101010101" pitchFamily="2" charset="-122"/>
                <a:ea typeface="华文楷体" panose="02010600040101010101" pitchFamily="2" charset="-122"/>
              </a:rPr>
              <a:t>》</a:t>
            </a:r>
            <a:r>
              <a:rPr lang="zh-CN" altLang="en-US" b="1" dirty="0">
                <a:solidFill>
                  <a:srgbClr val="000000"/>
                </a:solidFill>
                <a:latin typeface="华文楷体" panose="02010600040101010101" pitchFamily="2" charset="-122"/>
                <a:ea typeface="华文楷体" panose="02010600040101010101" pitchFamily="2" charset="-122"/>
              </a:rPr>
              <a:t>，并实施了关于网络信息安全的法律。</a:t>
            </a:r>
            <a:endParaRPr lang="en-US" altLang="zh-CN" b="1" dirty="0">
              <a:solidFill>
                <a:srgbClr val="00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20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20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fade">
                                      <p:cBhvr>
                                        <p:cTn id="17" dur="20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fade">
                                      <p:cBhvr>
                                        <p:cTn id="22" dur="20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fade">
                                      <p:cBhvr>
                                        <p:cTn id="2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nchorCtr="0"/>
          <a:lstStyle/>
          <a:p>
            <a:r>
              <a:rPr lang="zh-CN" altLang="en-US" dirty="0">
                <a:ea typeface="宋体" panose="02010600030101010101" pitchFamily="2" charset="-122"/>
              </a:rPr>
              <a:t>主观分析题</a:t>
            </a:r>
          </a:p>
        </p:txBody>
      </p:sp>
      <p:sp>
        <p:nvSpPr>
          <p:cNvPr id="20483" name="内容占位符 2"/>
          <p:cNvSpPr>
            <a:spLocks noGrp="1"/>
          </p:cNvSpPr>
          <p:nvPr>
            <p:ph idx="1"/>
          </p:nvPr>
        </p:nvSpPr>
        <p:spPr>
          <a:xfrm>
            <a:off x="762000" y="2209800"/>
            <a:ext cx="8229600" cy="1981200"/>
          </a:xfrm>
        </p:spPr>
        <p:txBody>
          <a:bodyPr vert="horz" wrap="square" lIns="91440" tIns="45720" rIns="91440" bIns="45720" anchor="t" anchorCtr="0"/>
          <a:lstStyle/>
          <a:p>
            <a:r>
              <a:rPr lang="zh-CN" altLang="en-US" sz="2800" dirty="0">
                <a:latin typeface="华文仿宋" panose="02010600040101010101" pitchFamily="2" charset="-122"/>
                <a:ea typeface="华文仿宋" panose="02010600040101010101" pitchFamily="2" charset="-122"/>
              </a:rPr>
              <a:t>国内信息安全的管理现状及存在的问题？</a:t>
            </a:r>
            <a:endParaRPr lang="en-US" altLang="zh-CN" sz="2800" dirty="0">
              <a:latin typeface="华文仿宋" panose="02010600040101010101" pitchFamily="2" charset="-122"/>
              <a:ea typeface="华文仿宋" panose="02010600040101010101" pitchFamily="2" charset="-122"/>
            </a:endParaRPr>
          </a:p>
          <a:p>
            <a:endParaRPr lang="en-US" altLang="zh-CN" sz="2800" dirty="0">
              <a:latin typeface="华文仿宋" panose="02010600040101010101" pitchFamily="2" charset="-122"/>
              <a:ea typeface="华文仿宋" panose="02010600040101010101" pitchFamily="2" charset="-122"/>
            </a:endParaRPr>
          </a:p>
          <a:p>
            <a:r>
              <a:rPr lang="zh-CN" altLang="en-US" sz="2800" dirty="0">
                <a:latin typeface="华文仿宋" panose="02010600040101010101" pitchFamily="2" charset="-122"/>
                <a:ea typeface="华文仿宋" panose="02010600040101010101" pitchFamily="2" charset="-122"/>
              </a:rPr>
              <a:t>信息安全管理存在什么问题，有待解决？</a:t>
            </a: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838200" y="2590800"/>
            <a:ext cx="7010400" cy="563563"/>
          </a:xfrm>
        </p:spPr>
        <p:txBody>
          <a:bodyPr vert="horz" wrap="square" lIns="91440" tIns="45720" rIns="91440" bIns="45720" anchor="ctr" anchorCtr="0"/>
          <a:lstStyle/>
          <a:p>
            <a:r>
              <a:rPr lang="zh-CN" altLang="en-US" dirty="0">
                <a:ea typeface="宋体" panose="02010600030101010101" pitchFamily="2" charset="-122"/>
              </a:rPr>
              <a:t>思考题</a:t>
            </a:r>
          </a:p>
        </p:txBody>
      </p:sp>
      <p:sp>
        <p:nvSpPr>
          <p:cNvPr id="22531" name="内容占位符 2"/>
          <p:cNvSpPr>
            <a:spLocks noGrp="1" noChangeArrowheads="1"/>
          </p:cNvSpPr>
          <p:nvPr>
            <p:ph idx="1"/>
          </p:nvPr>
        </p:nvSpPr>
        <p:spPr>
          <a:xfrm>
            <a:off x="152400" y="1219200"/>
            <a:ext cx="8229600" cy="5105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600" b="1" i="1" u="none" strike="noStrike" kern="0" cap="none" spc="0" normalizeH="0" baseline="0" noProof="0" dirty="0" smtClean="0">
              <a:ln>
                <a:noFill/>
              </a:ln>
              <a:solidFill>
                <a:srgbClr val="C00000"/>
              </a:solidFill>
              <a:effectLst/>
              <a:uLnTx/>
              <a:uFillTx/>
              <a:latin typeface="楷体_GB2312" pitchFamily="49" charset="-122"/>
              <a:ea typeface="楷体_GB2312" pitchFamily="49"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谢谢！</a:t>
            </a:r>
            <a:endParaRPr kumimoji="0" lang="en-US" altLang="zh-CN"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下节课再见</a:t>
            </a:r>
          </a:p>
        </p:txBody>
      </p:sp>
    </p:spTree>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b59e34ca-564d-4670-b295-350393de0b31"/>
  <p:tag name="COMMONDATA" val="eyJoZGlkIjoiMTlhMTA5NGU4YTQ5MmY0MGQzMGY2YTA2YzFlYzk1YmU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RAINPROBLEMTYPE" val="MultipleChoice"/>
  <p:tag name="ANONYMOUSPOLLING"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1295</Words>
  <Application>Microsoft Office PowerPoint</Application>
  <PresentationFormat>全屏显示(4:3)</PresentationFormat>
  <Paragraphs>139</Paragraphs>
  <Slides>19</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32" baseType="lpstr">
      <vt:lpstr>Microsoft Yahei</vt:lpstr>
      <vt:lpstr>黑体</vt:lpstr>
      <vt:lpstr>华文仿宋</vt:lpstr>
      <vt:lpstr>华文楷体</vt:lpstr>
      <vt:lpstr>华文隶书</vt:lpstr>
      <vt:lpstr>楷体_GB2312</vt:lpstr>
      <vt:lpstr>宋体</vt:lpstr>
      <vt:lpstr>微软雅黑</vt:lpstr>
      <vt:lpstr>Arial</vt:lpstr>
      <vt:lpstr>Times New Roman</vt:lpstr>
      <vt:lpstr>Wingdings</vt:lpstr>
      <vt:lpstr>默认设计模板</vt:lpstr>
      <vt:lpstr>Photoshop.Image.7</vt:lpstr>
      <vt:lpstr>第二章 信息安全管理</vt:lpstr>
      <vt:lpstr>本章授课内容</vt:lpstr>
      <vt:lpstr>什么是信息安全管理</vt:lpstr>
      <vt:lpstr>PowerPoint 演示文稿</vt:lpstr>
      <vt:lpstr> 什么是信息安全管理</vt:lpstr>
      <vt:lpstr>什么是信息安全管理</vt:lpstr>
      <vt:lpstr>信息安全管理的指导原则</vt:lpstr>
      <vt:lpstr>信息安全管理的指导原则</vt:lpstr>
      <vt:lpstr>信息安全管理的指导原则</vt:lpstr>
      <vt:lpstr>信息安全管理的意义</vt:lpstr>
      <vt:lpstr>信息安全管理的国内外研究发展</vt:lpstr>
      <vt:lpstr>信息安全管理的国内外研究发展</vt:lpstr>
      <vt:lpstr> 信息安全管理的国内外研究发展</vt:lpstr>
      <vt:lpstr>信息安全管理的国内外研究发展</vt:lpstr>
      <vt:lpstr>信息安全管理的国内外研究发展</vt:lpstr>
      <vt:lpstr>信息安全管理的国内外研究发展</vt:lpstr>
      <vt:lpstr>信息安全管理的国内外研究发展</vt:lpstr>
      <vt:lpstr>主观分析题</vt:lpstr>
      <vt:lpstr>思考题</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1041</cp:revision>
  <dcterms:created xsi:type="dcterms:W3CDTF">2004-07-21T02:43:00Z</dcterms:created>
  <dcterms:modified xsi:type="dcterms:W3CDTF">2023-03-29T05:53:50Z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C2C1946AA7F44F77BA505669D65B80EA</vt:lpwstr>
  </property>
</Properties>
</file>