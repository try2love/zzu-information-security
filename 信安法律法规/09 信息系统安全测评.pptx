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1"/>
  </p:notesMasterIdLst>
  <p:sldIdLst>
    <p:sldId id="785" r:id="rId2"/>
    <p:sldId id="467" r:id="rId3"/>
    <p:sldId id="782" r:id="rId4"/>
    <p:sldId id="686" r:id="rId5"/>
    <p:sldId id="689" r:id="rId6"/>
    <p:sldId id="781" r:id="rId7"/>
    <p:sldId id="690" r:id="rId8"/>
    <p:sldId id="651" r:id="rId9"/>
    <p:sldId id="674" r:id="rId10"/>
    <p:sldId id="691" r:id="rId11"/>
    <p:sldId id="692" r:id="rId12"/>
    <p:sldId id="678" r:id="rId13"/>
    <p:sldId id="679" r:id="rId14"/>
    <p:sldId id="681" r:id="rId15"/>
    <p:sldId id="682" r:id="rId16"/>
    <p:sldId id="652" r:id="rId17"/>
    <p:sldId id="694" r:id="rId18"/>
    <p:sldId id="783" r:id="rId19"/>
    <p:sldId id="695" r:id="rId20"/>
    <p:sldId id="784" r:id="rId21"/>
    <p:sldId id="696" r:id="rId22"/>
    <p:sldId id="697" r:id="rId23"/>
    <p:sldId id="654" r:id="rId24"/>
    <p:sldId id="698" r:id="rId25"/>
    <p:sldId id="699" r:id="rId26"/>
    <p:sldId id="655" r:id="rId27"/>
    <p:sldId id="657" r:id="rId28"/>
    <p:sldId id="684" r:id="rId29"/>
    <p:sldId id="663" r:id="rId30"/>
    <p:sldId id="661" r:id="rId31"/>
    <p:sldId id="662" r:id="rId32"/>
    <p:sldId id="665" r:id="rId33"/>
    <p:sldId id="667" r:id="rId34"/>
    <p:sldId id="720" r:id="rId35"/>
    <p:sldId id="722" r:id="rId36"/>
    <p:sldId id="723" r:id="rId37"/>
    <p:sldId id="724" r:id="rId38"/>
    <p:sldId id="725" r:id="rId39"/>
    <p:sldId id="727" r:id="rId40"/>
    <p:sldId id="728" r:id="rId41"/>
    <p:sldId id="729" r:id="rId42"/>
    <p:sldId id="730" r:id="rId43"/>
    <p:sldId id="731" r:id="rId44"/>
    <p:sldId id="732" r:id="rId45"/>
    <p:sldId id="733" r:id="rId46"/>
    <p:sldId id="734" r:id="rId47"/>
    <p:sldId id="735" r:id="rId48"/>
    <p:sldId id="736" r:id="rId49"/>
    <p:sldId id="737" r:id="rId50"/>
    <p:sldId id="738" r:id="rId51"/>
    <p:sldId id="739" r:id="rId52"/>
    <p:sldId id="740" r:id="rId53"/>
    <p:sldId id="741" r:id="rId54"/>
    <p:sldId id="742" r:id="rId55"/>
    <p:sldId id="743" r:id="rId56"/>
    <p:sldId id="744" r:id="rId57"/>
    <p:sldId id="745" r:id="rId58"/>
    <p:sldId id="746" r:id="rId59"/>
    <p:sldId id="747" r:id="rId60"/>
    <p:sldId id="748" r:id="rId61"/>
    <p:sldId id="749" r:id="rId62"/>
    <p:sldId id="750" r:id="rId63"/>
    <p:sldId id="751" r:id="rId64"/>
    <p:sldId id="752" r:id="rId65"/>
    <p:sldId id="753" r:id="rId66"/>
    <p:sldId id="754" r:id="rId67"/>
    <p:sldId id="755" r:id="rId68"/>
    <p:sldId id="756" r:id="rId69"/>
    <p:sldId id="757" r:id="rId70"/>
    <p:sldId id="758" r:id="rId71"/>
    <p:sldId id="759" r:id="rId72"/>
    <p:sldId id="760" r:id="rId73"/>
    <p:sldId id="761" r:id="rId74"/>
    <p:sldId id="762" r:id="rId75"/>
    <p:sldId id="763" r:id="rId76"/>
    <p:sldId id="765" r:id="rId77"/>
    <p:sldId id="766" r:id="rId78"/>
    <p:sldId id="767" r:id="rId79"/>
    <p:sldId id="768" r:id="rId80"/>
    <p:sldId id="770" r:id="rId81"/>
    <p:sldId id="771" r:id="rId82"/>
    <p:sldId id="772" r:id="rId83"/>
    <p:sldId id="773" r:id="rId84"/>
    <p:sldId id="775" r:id="rId85"/>
    <p:sldId id="776" r:id="rId86"/>
    <p:sldId id="777" r:id="rId87"/>
    <p:sldId id="778" r:id="rId88"/>
    <p:sldId id="779" r:id="rId89"/>
    <p:sldId id="780" r:id="rId90"/>
  </p:sldIdLst>
  <p:sldSz cx="9144000" cy="6858000" type="screen4x3"/>
  <p:notesSz cx="6858000" cy="9144000"/>
  <p:custDataLst>
    <p:tags r:id="rId92"/>
  </p:custDataLst>
  <p:defaultTextStyle>
    <a:defPPr>
      <a:defRPr lang="en-US"/>
    </a:defPPr>
    <a:lvl1pPr marL="0" lvl="0"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C3399"/>
    <a:srgbClr val="CC6600"/>
    <a:srgbClr val="FFFF66"/>
    <a:srgbClr val="FFFFCC"/>
    <a:srgbClr val="00CC99"/>
    <a:srgbClr val="97D7FF"/>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77"/>
    <p:restoredTop sz="71781"/>
  </p:normalViewPr>
  <p:slideViewPr>
    <p:cSldViewPr showGuides="1">
      <p:cViewPr varScale="1">
        <p:scale>
          <a:sx n="70" d="100"/>
          <a:sy n="70" d="100"/>
        </p:scale>
        <p:origin x="1124"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6198" cy="7619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01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spcBef>
                <a:spcPct val="0"/>
              </a:spcBef>
              <a:buFontTx/>
              <a:buNone/>
              <a:defRPr sz="1200">
                <a:solidFill>
                  <a:schemeClr val="tx1"/>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6019"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buFontTx/>
              <a:buNone/>
              <a:defRPr sz="1200">
                <a:solidFill>
                  <a:schemeClr val="tx1"/>
                </a:solidFill>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4212"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5125" name="Rectangle 5"/>
          <p:cNvSpPr>
            <a:spLocks noGrp="1" noChangeArrowheads="1"/>
          </p:cNvSpPr>
          <p:nvPr>
            <p:ph type="body" sz="quarter" idx="4294967295"/>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86022"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spcBef>
                <a:spcPct val="0"/>
              </a:spcBef>
              <a:buFontTx/>
              <a:buNone/>
              <a:defRPr sz="1200">
                <a:solidFill>
                  <a:schemeClr val="tx1"/>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6023"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en-US" altLang="en-US" sz="1200" dirty="0">
                <a:solidFill>
                  <a:schemeClr val="tx1"/>
                </a:solidFill>
                <a:latin typeface="Arial" panose="020B0604020202020204" pitchFamily="34" charset="0"/>
              </a:rPr>
              <a:t>‹#›</a:t>
            </a:fld>
            <a:endParaRPr lang="en-US" altLang="en-US" sz="1200" dirty="0">
              <a:solidFill>
                <a:schemeClr val="tx1"/>
              </a:solidFill>
              <a:latin typeface="Arial" panose="020B0604020202020204" pitchFamily="34" charset="0"/>
            </a:endParaRPr>
          </a:p>
        </p:txBody>
      </p:sp>
    </p:spTree>
    <p:extLst>
      <p:ext uri="{BB962C8B-B14F-4D97-AF65-F5344CB8AC3E}">
        <p14:creationId xmlns:p14="http://schemas.microsoft.com/office/powerpoint/2010/main" val="3254338997"/>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p:sp>
      <p:sp>
        <p:nvSpPr>
          <p:cNvPr id="95235" name="备注占位符 2"/>
          <p:cNvSpPr>
            <a:spLocks noGrp="1"/>
          </p:cNvSpPr>
          <p:nvPr>
            <p:ph type="body"/>
          </p:nvPr>
        </p:nvSpPr>
        <p:spPr/>
        <p:txBody>
          <a:bodyPr wrap="square" lIns="91440" tIns="45720" rIns="91440" bIns="45720" anchor="t" anchorCtr="0"/>
          <a:lstStyle/>
          <a:p>
            <a:pPr lvl="0" eaLnBrk="1" hangingPunct="1"/>
            <a:endParaRPr lang="zh-CN" altLang="en-US" dirty="0">
              <a:ea typeface="宋体" panose="02010600030101010101" pitchFamily="2" charset="-122"/>
            </a:endParaRPr>
          </a:p>
        </p:txBody>
      </p:sp>
      <p:sp>
        <p:nvSpPr>
          <p:cNvPr id="95236"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lstStyle/>
          <a:p>
            <a:pPr lvl="0" algn="r" eaLnBrk="1" hangingPunct="1">
              <a:buChar char="•"/>
            </a:pPr>
            <a:fld id="{9A0DB2DC-4C9A-4742-B13C-FB6460FD3503}" type="slidenum">
              <a:rPr lang="en-US" altLang="en-US" sz="1200" dirty="0">
                <a:solidFill>
                  <a:schemeClr val="tx1"/>
                </a:solidFill>
                <a:latin typeface="Arial" panose="020B0604020202020204" pitchFamily="34" charset="0"/>
              </a:rPr>
              <a:t>2</a:t>
            </a:fld>
            <a:endParaRPr lang="en-US" altLang="en-US" sz="1200" dirty="0">
              <a:solidFill>
                <a:schemeClr val="tx1"/>
              </a:solidFill>
              <a:latin typeface="Arial" panose="020B0604020202020204" pitchFamily="34" charset="0"/>
            </a:endParaRPr>
          </a:p>
        </p:txBody>
      </p:sp>
    </p:spTree>
    <p:extLst>
      <p:ext uri="{BB962C8B-B14F-4D97-AF65-F5344CB8AC3E}">
        <p14:creationId xmlns:p14="http://schemas.microsoft.com/office/powerpoint/2010/main" val="18455869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vmlDrawing" Target="../drawings/vmlDrawing2.v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12" name="Rectangle 10"/>
          <p:cNvSpPr>
            <a:spLocks noChangeArrowheads="1"/>
          </p:cNvSpPr>
          <p:nvPr/>
        </p:nvSpPr>
        <p:spPr bwMode="gray">
          <a:xfrm>
            <a:off x="1588" y="3803650"/>
            <a:ext cx="9142413" cy="1301750"/>
          </a:xfrm>
          <a:prstGeom prst="rect">
            <a:avLst/>
          </a:prstGeom>
          <a:gradFill rotWithShape="1">
            <a:gsLst>
              <a:gs pos="0">
                <a:schemeClr val="accent2"/>
              </a:gs>
              <a:gs pos="100000">
                <a:schemeClr val="accent2">
                  <a:gamma/>
                  <a:tint val="0"/>
                  <a:invGamma/>
                </a:schemeClr>
              </a:gs>
            </a:gsLst>
            <a:lin ang="5400000" scaled="1"/>
          </a:gradFill>
          <a:ln w="0" algn="ctr">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2051" name="Object 18"/>
          <p:cNvGraphicFramePr/>
          <p:nvPr/>
        </p:nvGraphicFramePr>
        <p:xfrm>
          <a:off x="0" y="0"/>
          <a:ext cx="9144000" cy="2622550"/>
        </p:xfrm>
        <a:graphic>
          <a:graphicData uri="http://schemas.openxmlformats.org/presentationml/2006/ole">
            <mc:AlternateContent xmlns:mc="http://schemas.openxmlformats.org/markup-compatibility/2006">
              <mc:Choice xmlns:v="urn:schemas-microsoft-com:vml" Requires="v">
                <p:oleObj spid="_x0000_s4098" r:id="rId3" imgW="13004800" imgH="4572000" progId="Photoshop.Image.7">
                  <p:embed/>
                </p:oleObj>
              </mc:Choice>
              <mc:Fallback>
                <p:oleObj r:id="rId3" imgW="13004800" imgH="4572000" progId="Photoshop.Image.7">
                  <p:embed/>
                  <p:pic>
                    <p:nvPicPr>
                      <p:cNvPr id="0" name="图片 3075"/>
                      <p:cNvPicPr/>
                      <p:nvPr/>
                    </p:nvPicPr>
                    <p:blipFill>
                      <a:blip r:embed="rId4"/>
                      <a:stretch>
                        <a:fillRect/>
                      </a:stretch>
                    </p:blipFill>
                    <p:spPr>
                      <a:xfrm>
                        <a:off x="0" y="0"/>
                        <a:ext cx="9144000" cy="2622550"/>
                      </a:xfrm>
                      <a:prstGeom prst="rect">
                        <a:avLst/>
                      </a:prstGeom>
                      <a:noFill/>
                      <a:ln w="38100">
                        <a:noFill/>
                        <a:miter/>
                      </a:ln>
                    </p:spPr>
                  </p:pic>
                </p:oleObj>
              </mc:Fallback>
            </mc:AlternateContent>
          </a:graphicData>
        </a:graphic>
      </p:graphicFrame>
      <p:sp>
        <p:nvSpPr>
          <p:cNvPr id="14" name="Rectangle 19"/>
          <p:cNvSpPr>
            <a:spLocks noChangeArrowheads="1"/>
          </p:cNvSpPr>
          <p:nvPr/>
        </p:nvSpPr>
        <p:spPr bwMode="gray">
          <a:xfrm>
            <a:off x="0" y="2678113"/>
            <a:ext cx="9144000" cy="1071563"/>
          </a:xfrm>
          <a:prstGeom prst="rect">
            <a:avLst/>
          </a:prstGeom>
          <a:gradFill rotWithShape="1">
            <a:gsLst>
              <a:gs pos="0">
                <a:schemeClr val="accent1"/>
              </a:gs>
              <a:gs pos="100000">
                <a:schemeClr val="accent1">
                  <a:gamma/>
                  <a:shade val="46275"/>
                  <a:invGamma/>
                </a:schemeClr>
              </a:gs>
            </a:gsLst>
            <a:lin ang="5400000" scaled="1"/>
          </a:gradFill>
          <a:ln w="9525">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nvGrpSpPr>
          <p:cNvPr id="2053" name="Group 16"/>
          <p:cNvGrpSpPr/>
          <p:nvPr/>
        </p:nvGrpSpPr>
        <p:grpSpPr>
          <a:xfrm>
            <a:off x="4114800" y="5838825"/>
            <a:ext cx="1079500" cy="633413"/>
            <a:chOff x="2680" y="3678"/>
            <a:chExt cx="680" cy="399"/>
          </a:xfrm>
        </p:grpSpPr>
        <p:sp>
          <p:nvSpPr>
            <p:cNvPr id="16" name="Text Box 14"/>
            <p:cNvSpPr txBox="1">
              <a:spLocks noChangeArrowheads="1"/>
            </p:cNvSpPr>
            <p:nvPr/>
          </p:nvSpPr>
          <p:spPr bwMode="gray">
            <a:xfrm>
              <a:off x="2680" y="3789"/>
              <a:ext cx="6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1pPr>
              <a:lvl2pPr marL="742950" indent="-28575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2pPr>
              <a:lvl3pPr marL="11430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3pPr>
              <a:lvl4pPr marL="16002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4pPr>
              <a:lvl5pPr marL="20574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rPr>
                <a:t>LOGO</a:t>
              </a:r>
            </a:p>
          </p:txBody>
        </p:sp>
        <p:sp>
          <p:nvSpPr>
            <p:cNvPr id="17" name="AutoShape 15"/>
            <p:cNvSpPr>
              <a:spLocks noChangeArrowheads="1"/>
            </p:cNvSpPr>
            <p:nvPr/>
          </p:nvSpPr>
          <p:spPr bwMode="gray">
            <a:xfrm rot="5400000">
              <a:off x="2928" y="3493"/>
              <a:ext cx="172" cy="542"/>
            </a:xfrm>
            <a:prstGeom prst="moon">
              <a:avLst>
                <a:gd name="adj" fmla="val 21208"/>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1pPr>
              <a:lvl2pPr marL="742950" indent="-28575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2pPr>
              <a:lvl3pPr marL="11430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3pPr>
              <a:lvl4pPr marL="16002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4pPr>
              <a:lvl5pPr marL="20574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18" name="AutoShape 11"/>
          <p:cNvSpPr>
            <a:spLocks noChangeArrowheads="1"/>
          </p:cNvSpPr>
          <p:nvPr/>
        </p:nvSpPr>
        <p:spPr bwMode="gray">
          <a:xfrm>
            <a:off x="685800" y="3429000"/>
            <a:ext cx="7620000" cy="685800"/>
          </a:xfrm>
          <a:prstGeom prst="roundRect">
            <a:avLst>
              <a:gd name="adj" fmla="val 38449"/>
            </a:avLst>
          </a:prstGeom>
          <a:solidFill>
            <a:schemeClr val="bg1"/>
          </a:soli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1pPr>
            <a:lvl2pPr marL="742950" indent="-28575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2pPr>
            <a:lvl3pPr marL="11430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3pPr>
            <a:lvl4pPr marL="16002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4pPr>
            <a:lvl5pPr marL="2057400" indent="-228600">
              <a:spcBef>
                <a:spcPct val="50000"/>
              </a:spcBef>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noChangeArrowheads="1"/>
          </p:cNvSpPr>
          <p:nvPr>
            <p:ph type="subTitle" idx="1"/>
          </p:nvPr>
        </p:nvSpPr>
        <p:spPr bwMode="gray">
          <a:xfrm>
            <a:off x="914400" y="2895600"/>
            <a:ext cx="7304088" cy="381000"/>
          </a:xfrm>
        </p:spPr>
        <p:txBody>
          <a:bodyPr/>
          <a:lstStyle>
            <a:lvl1pPr marL="0" indent="0" algn="ctr">
              <a:buFont typeface="Wingdings" panose="05000000000000000000" pitchFamily="2" charset="2"/>
              <a:buNone/>
              <a:defRPr sz="2400">
                <a:solidFill>
                  <a:schemeClr val="bg1"/>
                </a:solidFill>
              </a:defRPr>
            </a:lvl1pPr>
          </a:lstStyle>
          <a:p>
            <a:r>
              <a:rPr lang="en-US" altLang="zh-CN" noProof="1"/>
              <a:t>Click to edit Master subtitle style</a:t>
            </a:r>
          </a:p>
        </p:txBody>
      </p:sp>
      <p:sp>
        <p:nvSpPr>
          <p:cNvPr id="3074" name="Rectangle 2"/>
          <p:cNvSpPr>
            <a:spLocks noGrp="1" noChangeArrowheads="1"/>
          </p:cNvSpPr>
          <p:nvPr>
            <p:ph type="ctrTitle"/>
          </p:nvPr>
        </p:nvSpPr>
        <p:spPr bwMode="gray">
          <a:xfrm>
            <a:off x="762000" y="3432175"/>
            <a:ext cx="7620000" cy="682625"/>
          </a:xfrm>
        </p:spPr>
        <p:txBody>
          <a:bodyPr/>
          <a:lstStyle>
            <a:lvl1pPr>
              <a:defRPr sz="4000" b="1">
                <a:solidFill>
                  <a:schemeClr val="tx1"/>
                </a:solidFill>
              </a:defRPr>
            </a:lvl1pPr>
          </a:lstStyle>
          <a:p>
            <a:r>
              <a:rPr lang="en-US" altLang="zh-CN" noProof="1"/>
              <a:t>Click to edit Master title style</a:t>
            </a:r>
          </a:p>
        </p:txBody>
      </p:sp>
      <p:sp>
        <p:nvSpPr>
          <p:cNvPr id="19" name="Rectangle 4"/>
          <p:cNvSpPr>
            <a:spLocks noGrp="1" noChangeArrowheads="1"/>
          </p:cNvSpPr>
          <p:nvPr>
            <p:ph type="dt" sz="half" idx="2"/>
          </p:nvPr>
        </p:nvSpPr>
        <p:spPr bwMode="auto">
          <a:xfrm>
            <a:off x="457200" y="6477000"/>
            <a:ext cx="2133600" cy="244475"/>
          </a:xfrm>
          <a:prstGeom prst="rect">
            <a:avLst/>
          </a:prstGeom>
          <a:ln>
            <a:miter lim="800000"/>
          </a:ln>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0" name="Rectangle 5"/>
          <p:cNvSpPr>
            <a:spLocks noGrp="1" noChangeArrowheads="1"/>
          </p:cNvSpPr>
          <p:nvPr>
            <p:ph type="ftr" sz="quarter" idx="3"/>
          </p:nvPr>
        </p:nvSpPr>
        <p:spPr bwMode="auto">
          <a:xfrm>
            <a:off x="3124200" y="6477000"/>
            <a:ext cx="2895600" cy="244475"/>
          </a:xfrm>
          <a:prstGeom prst="rect">
            <a:avLst/>
          </a:prstGeom>
          <a:ln>
            <a:miter lim="800000"/>
          </a:ln>
        </p:spPr>
        <p:txBody>
          <a:bodyPr vert="horz" wrap="square" lIns="91440" tIns="45720" rIns="91440" bIns="45720" numCol="1" anchor="t" anchorCtr="0" compatLnSpc="1"/>
          <a:lstStyle>
            <a:lvl1pPr>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1" name="Rectangle 6"/>
          <p:cNvSpPr>
            <a:spLocks noGrp="1" noChangeArrowheads="1"/>
          </p:cNvSpPr>
          <p:nvPr>
            <p:ph type="sldNum" sz="quarter" idx="4"/>
          </p:nvPr>
        </p:nvSpPr>
        <p:spPr bwMode="auto">
          <a:xfrm>
            <a:off x="6553200" y="6477000"/>
            <a:ext cx="2133600" cy="244475"/>
          </a:xfrm>
          <a:prstGeom prst="rect">
            <a:avLst/>
          </a:prstGeom>
          <a:ln>
            <a:miter lim="800000"/>
          </a:ln>
        </p:spPr>
        <p:txBody>
          <a:bodyPr vert="horz" wrap="square" lIns="91440" tIns="45720" rIns="91440" bIns="45720" numCol="1" anchor="t" anchorCtr="0" compatLnSpc="1"/>
          <a:lstStyle/>
          <a:p>
            <a:pPr algn="r" eaLnBrk="1" hangingPunct="1">
              <a:buNone/>
            </a:pPr>
            <a:fld id="{9A0DB2DC-4C9A-4742-B13C-FB6460FD3503}" type="slidenum">
              <a:rPr lang="en-US" altLang="en-US" sz="1200" dirty="0">
                <a:latin typeface="Arial" panose="020B0604020202020204" pitchFamily="34" charset="0"/>
              </a:rPr>
              <a:t>‹#›</a:t>
            </a:fld>
            <a:endParaRPr lang="en-US" altLang="en-US" sz="1200" dirty="0">
              <a:latin typeface="Arial" panose="020B0604020202020204" pitchFamily="34" charset="0"/>
            </a:endParaRPr>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219200"/>
            <a:ext cx="4038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219200"/>
            <a:ext cx="4038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374650"/>
            <a:ext cx="2057400" cy="594995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374650"/>
            <a:ext cx="6019800" cy="5949950"/>
          </a:xfrm>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en-US" dirty="0"/>
              <a:t>‹#›</a:t>
            </a:fld>
            <a:endParaRPr lang="en-US" altLang="en-US" dirty="0">
              <a:latin typeface="Times New Roman" panose="02020603050405020304" pitchFamily="18" charset="0"/>
            </a:endParaRPr>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vmlDrawing" Target="../drawings/vmlDrawing1.v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0" name="Rectangle 16"/>
          <p:cNvSpPr>
            <a:spLocks noChangeArrowheads="1"/>
          </p:cNvSpPr>
          <p:nvPr/>
        </p:nvSpPr>
        <p:spPr bwMode="gray">
          <a:xfrm>
            <a:off x="0" y="641350"/>
            <a:ext cx="9144000" cy="92075"/>
          </a:xfrm>
          <a:prstGeom prst="rect">
            <a:avLst/>
          </a:prstGeom>
          <a:gradFill rotWithShape="1">
            <a:gsLst>
              <a:gs pos="0">
                <a:schemeClr val="accent1"/>
              </a:gs>
              <a:gs pos="100000">
                <a:schemeClr val="accent1">
                  <a:gamma/>
                  <a:shade val="46275"/>
                  <a:invGamma/>
                </a:schemeClr>
              </a:gs>
            </a:gsLst>
            <a:lin ang="5400000" scaled="1"/>
          </a:gradFill>
          <a:ln w="9525">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31" name="Rectangle 7"/>
          <p:cNvSpPr>
            <a:spLocks noChangeArrowheads="1"/>
          </p:cNvSpPr>
          <p:nvPr/>
        </p:nvSpPr>
        <p:spPr bwMode="white">
          <a:xfrm>
            <a:off x="1588" y="766763"/>
            <a:ext cx="9142413" cy="1366838"/>
          </a:xfrm>
          <a:prstGeom prst="rect">
            <a:avLst/>
          </a:prstGeom>
          <a:gradFill rotWithShape="0">
            <a:gsLst>
              <a:gs pos="0">
                <a:schemeClr val="accent2"/>
              </a:gs>
              <a:gs pos="100000">
                <a:schemeClr val="accent2">
                  <a:gamma/>
                  <a:tint val="0"/>
                  <a:invGamma/>
                </a:schemeClr>
              </a:gs>
            </a:gsLst>
            <a:lin ang="5400000" scaled="1"/>
          </a:gradFill>
          <a:ln w="0" algn="ctr">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1028" name="Object 15"/>
          <p:cNvGraphicFramePr/>
          <p:nvPr/>
        </p:nvGraphicFramePr>
        <p:xfrm>
          <a:off x="-11112" y="0"/>
          <a:ext cx="9155112" cy="609600"/>
        </p:xfrm>
        <a:graphic>
          <a:graphicData uri="http://schemas.openxmlformats.org/presentationml/2006/ole">
            <mc:AlternateContent xmlns:mc="http://schemas.openxmlformats.org/markup-compatibility/2006">
              <mc:Choice xmlns:v="urn:schemas-microsoft-com:vml" Requires="v">
                <p:oleObj spid="_x0000_s3080" r:id="rId14" imgW="13004800" imgH="4572000" progId="Photoshop.Image.7">
                  <p:embed/>
                </p:oleObj>
              </mc:Choice>
              <mc:Fallback>
                <p:oleObj r:id="rId14" imgW="13004800" imgH="4572000" progId="Photoshop.Image.7">
                  <p:embed/>
                  <p:pic>
                    <p:nvPicPr>
                      <p:cNvPr id="0" name="图片 3076"/>
                      <p:cNvPicPr/>
                      <p:nvPr/>
                    </p:nvPicPr>
                    <p:blipFill>
                      <a:blip r:embed="rId15"/>
                      <a:stretch>
                        <a:fillRect/>
                      </a:stretch>
                    </p:blipFill>
                    <p:spPr>
                      <a:xfrm>
                        <a:off x="-11112" y="0"/>
                        <a:ext cx="9155112" cy="609600"/>
                      </a:xfrm>
                      <a:prstGeom prst="rect">
                        <a:avLst/>
                      </a:prstGeom>
                      <a:noFill/>
                      <a:ln w="38100">
                        <a:noFill/>
                        <a:miter/>
                      </a:ln>
                    </p:spPr>
                  </p:pic>
                </p:oleObj>
              </mc:Fallback>
            </mc:AlternateContent>
          </a:graphicData>
        </a:graphic>
      </p:graphicFrame>
      <p:sp>
        <p:nvSpPr>
          <p:cNvPr id="1033" name="AutoShape 9"/>
          <p:cNvSpPr>
            <a:spLocks noChangeArrowheads="1"/>
          </p:cNvSpPr>
          <p:nvPr/>
        </p:nvSpPr>
        <p:spPr bwMode="gray">
          <a:xfrm>
            <a:off x="609600" y="344488"/>
            <a:ext cx="7366000" cy="644525"/>
          </a:xfrm>
          <a:prstGeom prst="roundRect">
            <a:avLst>
              <a:gd name="adj" fmla="val 41870"/>
            </a:avLst>
          </a:prstGeom>
          <a:gradFill rotWithShape="1">
            <a:gsLst>
              <a:gs pos="0">
                <a:schemeClr val="tx2">
                  <a:gamma/>
                  <a:shade val="46275"/>
                  <a:invGamma/>
                </a:schemeClr>
              </a:gs>
              <a:gs pos="100000">
                <a:schemeClr val="tx2"/>
              </a:gs>
            </a:gsLst>
            <a:lin ang="0" scaled="1"/>
          </a:gradFill>
          <a:ln w="38100" algn="ctr">
            <a:solidFill>
              <a:schemeClr val="bg1"/>
            </a:solidFill>
            <a:round/>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30" name="Rectangle 3"/>
          <p:cNvSpPr>
            <a:spLocks noGrp="1"/>
          </p:cNvSpPr>
          <p:nvPr>
            <p:ph type="body"/>
          </p:nvPr>
        </p:nvSpPr>
        <p:spPr>
          <a:xfrm>
            <a:off x="457200" y="1219200"/>
            <a:ext cx="8229600" cy="51054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2" name="Rectangle 4"/>
          <p:cNvSpPr>
            <a:spLocks noGrp="1" noChangeArrowheads="1"/>
          </p:cNvSpPr>
          <p:nvPr>
            <p:ph type="dt" sz="half" idx="2"/>
          </p:nvPr>
        </p:nvSpPr>
        <p:spPr bwMode="auto">
          <a:xfrm>
            <a:off x="457200" y="6400800"/>
            <a:ext cx="2133600" cy="320675"/>
          </a:xfrm>
          <a:prstGeom prst="rect">
            <a:avLst/>
          </a:prstGeom>
          <a:noFill/>
          <a:ln w="9525">
            <a:noFill/>
            <a:miter lim="800000"/>
          </a:ln>
          <a:effectLst/>
        </p:spPr>
        <p:txBody>
          <a:bodyPr vert="horz" wrap="square" lIns="91440" tIns="45720" rIns="91440" bIns="45720" numCol="1" anchor="t" anchorCtr="0" compatLnSpc="1"/>
          <a:lstStyle>
            <a:lvl1pPr algn="l" eaLnBrk="1" hangingPunct="1">
              <a:spcBef>
                <a:spcPct val="0"/>
              </a:spcBef>
              <a:buFontTx/>
              <a:buNone/>
              <a:defRPr sz="1400">
                <a:solidFill>
                  <a:schemeClr val="tx1"/>
                </a:solidFill>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400800"/>
            <a:ext cx="2895600" cy="320675"/>
          </a:xfrm>
          <a:prstGeom prst="rect">
            <a:avLst/>
          </a:prstGeom>
          <a:noFill/>
          <a:ln w="9525">
            <a:noFill/>
            <a:miter lim="800000"/>
          </a:ln>
          <a:effectLst/>
        </p:spPr>
        <p:txBody>
          <a:bodyPr vert="horz" wrap="square" lIns="91440" tIns="45720" rIns="91440" bIns="45720" numCol="1" anchor="t" anchorCtr="0" compatLnSpc="1"/>
          <a:lstStyle>
            <a:lvl1pPr algn="ctr" eaLnBrk="1" hangingPunct="1">
              <a:spcBef>
                <a:spcPct val="0"/>
              </a:spcBef>
              <a:buFontTx/>
              <a:buNone/>
              <a:defRPr sz="1400">
                <a:solidFill>
                  <a:schemeClr val="tx1"/>
                </a:solidFill>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Rectangle 6"/>
          <p:cNvSpPr>
            <a:spLocks noGrp="1" noChangeArrowheads="1"/>
          </p:cNvSpPr>
          <p:nvPr>
            <p:ph type="sldNum" sz="quarter" idx="4"/>
          </p:nvPr>
        </p:nvSpPr>
        <p:spPr bwMode="auto">
          <a:xfrm>
            <a:off x="6553200" y="6400800"/>
            <a:ext cx="2133600" cy="320675"/>
          </a:xfrm>
          <a:prstGeom prst="rect">
            <a:avLst/>
          </a:prstGeom>
          <a:noFill/>
          <a:ln w="9525">
            <a:noFill/>
            <a:miter lim="800000"/>
          </a:ln>
          <a:effectLst/>
        </p:spPr>
        <p:txBody>
          <a:bodyPr vert="horz" wrap="square" lIns="91440" tIns="45720" rIns="91440" bIns="45720" numCol="1" anchor="t" anchorCtr="0" compatLnSpc="1"/>
          <a:lstStyle>
            <a:lvl1pPr algn="r">
              <a:defRPr sz="1400">
                <a:solidFill>
                  <a:schemeClr val="tx1"/>
                </a:solidFill>
                <a:latin typeface="Arial" panose="020B0604020202020204" pitchFamily="34" charset="0"/>
              </a:defRPr>
            </a:lvl1pPr>
          </a:lstStyle>
          <a:p>
            <a:pPr lvl="0" eaLnBrk="1" hangingPunct="1">
              <a:buNone/>
            </a:pPr>
            <a:fld id="{9A0DB2DC-4C9A-4742-B13C-FB6460FD3503}" type="slidenum">
              <a:rPr lang="en-US" altLang="en-US" dirty="0"/>
              <a:t>‹#›</a:t>
            </a:fld>
            <a:endParaRPr lang="en-US" altLang="en-US" dirty="0">
              <a:latin typeface="Times New Roman" panose="02020603050405020304" pitchFamily="18" charset="0"/>
            </a:endParaRPr>
          </a:p>
        </p:txBody>
      </p:sp>
      <p:sp>
        <p:nvSpPr>
          <p:cNvPr id="1034" name="Rectangle 2"/>
          <p:cNvSpPr>
            <a:spLocks noGrp="1"/>
          </p:cNvSpPr>
          <p:nvPr>
            <p:ph type="title"/>
          </p:nvPr>
        </p:nvSpPr>
        <p:spPr>
          <a:xfrm>
            <a:off x="838200" y="374650"/>
            <a:ext cx="7010400" cy="563563"/>
          </a:xfrm>
          <a:prstGeom prst="rect">
            <a:avLst/>
          </a:prstGeom>
          <a:noFill/>
          <a:ln w="9525">
            <a:noFill/>
          </a:ln>
        </p:spPr>
        <p:txBody>
          <a:bodyPr anchor="ctr" anchorCtr="0"/>
          <a:lstStyle/>
          <a:p>
            <a:pPr lvl="0"/>
            <a:r>
              <a:rPr lang="en-US" altLang="zh-CN" dirty="0"/>
              <a:t>Click to edit Master title style</a:t>
            </a:r>
          </a:p>
        </p:txBody>
      </p:sp>
      <p:pic>
        <p:nvPicPr>
          <p:cNvPr id="1035" name="图片 3"/>
          <p:cNvPicPr>
            <a:picLocks noChangeAspect="1"/>
          </p:cNvPicPr>
          <p:nvPr userDrawn="1"/>
        </p:nvPicPr>
        <p:blipFill>
          <a:blip r:embed="rId16"/>
          <a:stretch>
            <a:fillRect/>
          </a:stretch>
        </p:blipFill>
        <p:spPr>
          <a:xfrm>
            <a:off x="8050213" y="107950"/>
            <a:ext cx="1066800" cy="10668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random/>
  </p:transition>
  <p:hf sldNum="0" hdr="0" ftr="0" dt="0"/>
  <p:txStyles>
    <p:titleStyle>
      <a:lvl1pPr algn="ctr" rtl="0" eaLnBrk="0" fontAlgn="base" hangingPunct="0">
        <a:spcBef>
          <a:spcPct val="0"/>
        </a:spcBef>
        <a:spcAft>
          <a:spcPct val="0"/>
        </a:spcAft>
        <a:defRPr sz="3600">
          <a:solidFill>
            <a:schemeClr val="bg1"/>
          </a:solidFill>
          <a:latin typeface="+mj-lt"/>
          <a:ea typeface="+mj-ea"/>
          <a:cs typeface="+mj-cs"/>
        </a:defRPr>
      </a:lvl1pPr>
      <a:lvl2pPr algn="ctr" rtl="0" eaLnBrk="0" fontAlgn="base" hangingPunct="0">
        <a:spcBef>
          <a:spcPct val="0"/>
        </a:spcBef>
        <a:spcAft>
          <a:spcPct val="0"/>
        </a:spcAft>
        <a:defRPr sz="3600">
          <a:solidFill>
            <a:schemeClr val="bg1"/>
          </a:solidFill>
          <a:latin typeface="Arial" panose="020B0604020202020204" pitchFamily="34" charset="0"/>
        </a:defRPr>
      </a:lvl2pPr>
      <a:lvl3pPr algn="ctr" rtl="0" eaLnBrk="0" fontAlgn="base" hangingPunct="0">
        <a:spcBef>
          <a:spcPct val="0"/>
        </a:spcBef>
        <a:spcAft>
          <a:spcPct val="0"/>
        </a:spcAft>
        <a:defRPr sz="3600">
          <a:solidFill>
            <a:schemeClr val="bg1"/>
          </a:solidFill>
          <a:latin typeface="Arial" panose="020B0604020202020204" pitchFamily="34" charset="0"/>
        </a:defRPr>
      </a:lvl3pPr>
      <a:lvl4pPr algn="ctr" rtl="0" eaLnBrk="0" fontAlgn="base" hangingPunct="0">
        <a:spcBef>
          <a:spcPct val="0"/>
        </a:spcBef>
        <a:spcAft>
          <a:spcPct val="0"/>
        </a:spcAft>
        <a:defRPr sz="3600">
          <a:solidFill>
            <a:schemeClr val="bg1"/>
          </a:solidFill>
          <a:latin typeface="Arial" panose="020B0604020202020204" pitchFamily="34" charset="0"/>
        </a:defRPr>
      </a:lvl4pPr>
      <a:lvl5pPr algn="ctr" rtl="0" eaLnBrk="0" fontAlgn="base" hangingPunct="0">
        <a:spcBef>
          <a:spcPct val="0"/>
        </a:spcBef>
        <a:spcAft>
          <a:spcPct val="0"/>
        </a:spcAft>
        <a:defRPr sz="3600">
          <a:solidFill>
            <a:schemeClr val="bg1"/>
          </a:solidFill>
          <a:latin typeface="Arial" panose="020B0604020202020204" pitchFamily="34" charset="0"/>
        </a:defRPr>
      </a:lvl5pPr>
      <a:lvl6pPr marL="457200" algn="ctr" rtl="0" fontAlgn="base">
        <a:spcBef>
          <a:spcPct val="0"/>
        </a:spcBef>
        <a:spcAft>
          <a:spcPct val="0"/>
        </a:spcAft>
        <a:defRPr sz="3600">
          <a:solidFill>
            <a:schemeClr val="bg1"/>
          </a:solidFill>
          <a:latin typeface="Arial" panose="020B0604020202020204" pitchFamily="34" charset="0"/>
        </a:defRPr>
      </a:lvl6pPr>
      <a:lvl7pPr marL="914400" algn="ctr" rtl="0" fontAlgn="base">
        <a:spcBef>
          <a:spcPct val="0"/>
        </a:spcBef>
        <a:spcAft>
          <a:spcPct val="0"/>
        </a:spcAft>
        <a:defRPr sz="3600">
          <a:solidFill>
            <a:schemeClr val="bg1"/>
          </a:solidFill>
          <a:latin typeface="Arial" panose="020B0604020202020204" pitchFamily="34" charset="0"/>
        </a:defRPr>
      </a:lvl7pPr>
      <a:lvl8pPr marL="1371600" algn="ctr" rtl="0" fontAlgn="base">
        <a:spcBef>
          <a:spcPct val="0"/>
        </a:spcBef>
        <a:spcAft>
          <a:spcPct val="0"/>
        </a:spcAft>
        <a:defRPr sz="3600">
          <a:solidFill>
            <a:schemeClr val="bg1"/>
          </a:solidFill>
          <a:latin typeface="Arial" panose="020B0604020202020204" pitchFamily="34" charset="0"/>
        </a:defRPr>
      </a:lvl8pPr>
      <a:lvl9pPr marL="1828800" algn="ctr" rtl="0" fontAlgn="base">
        <a:spcBef>
          <a:spcPct val="0"/>
        </a:spcBef>
        <a:spcAft>
          <a:spcPct val="0"/>
        </a:spcAft>
        <a:defRPr sz="3600">
          <a:solidFill>
            <a:schemeClr val="bg1"/>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tx2"/>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baike.baidu.com/subview/37/6030295.htm" TargetMode="External"/><Relationship Id="rId2" Type="http://schemas.openxmlformats.org/officeDocument/2006/relationships/hyperlink" Target="http://baike.baidu.com/view/25278.htm" TargetMode="External"/><Relationship Id="rId1" Type="http://schemas.openxmlformats.org/officeDocument/2006/relationships/slideLayout" Target="../slideLayouts/slideLayout2.xml"/><Relationship Id="rId4" Type="http://schemas.openxmlformats.org/officeDocument/2006/relationships/hyperlink" Target="http://baike.baidu.com/view/1279152.htm"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p:cNvSpPr>
          <p:nvPr>
            <p:ph type="ctrTitle"/>
          </p:nvPr>
        </p:nvSpPr>
        <p:spPr>
          <a:xfrm>
            <a:off x="762000" y="3429000"/>
            <a:ext cx="7620000" cy="682625"/>
          </a:xfrm>
        </p:spPr>
        <p:txBody>
          <a:bodyPr vert="horz" wrap="square" lIns="91440" tIns="45720" rIns="91440" bIns="45720" anchor="ctr" anchorCtr="0"/>
          <a:lstStyle/>
          <a:p>
            <a:pPr marL="342900" indent="-342900" eaLnBrk="1" hangingPunct="1">
              <a:spcAft>
                <a:spcPct val="20000"/>
              </a:spcAft>
              <a:buClrTx/>
              <a:buSzTx/>
              <a:buFontTx/>
            </a:pPr>
            <a:r>
              <a:rPr lang="zh-CN" altLang="zh-CN" sz="2800" dirty="0">
                <a:latin typeface="+mj-lt"/>
                <a:ea typeface="宋体" panose="02010600030101010101" pitchFamily="2" charset="-122"/>
                <a:cs typeface="+mj-cs"/>
              </a:rPr>
              <a:t>第</a:t>
            </a:r>
            <a:r>
              <a:rPr lang="zh-CN" altLang="en-US" sz="2800" dirty="0">
                <a:latin typeface="+mj-lt"/>
                <a:ea typeface="宋体" panose="02010600030101010101" pitchFamily="2" charset="-122"/>
                <a:cs typeface="+mj-cs"/>
              </a:rPr>
              <a:t>九</a:t>
            </a:r>
            <a:r>
              <a:rPr lang="zh-CN" altLang="zh-CN" sz="2800" dirty="0">
                <a:latin typeface="+mj-lt"/>
                <a:ea typeface="宋体" panose="02010600030101010101" pitchFamily="2" charset="-122"/>
                <a:cs typeface="+mj-cs"/>
              </a:rPr>
              <a:t>章</a:t>
            </a:r>
            <a:r>
              <a:rPr lang="en-US" altLang="zh-CN" sz="2800" dirty="0">
                <a:latin typeface="+mj-lt"/>
                <a:ea typeface="宋体" panose="02010600030101010101" pitchFamily="2" charset="-122"/>
                <a:cs typeface="+mj-cs"/>
              </a:rPr>
              <a:t> </a:t>
            </a:r>
            <a:r>
              <a:rPr lang="zh-CN" altLang="zh-CN" sz="2800" dirty="0">
                <a:latin typeface="+mj-lt"/>
                <a:ea typeface="宋体" panose="02010600030101010101" pitchFamily="2" charset="-122"/>
                <a:cs typeface="+mj-cs"/>
              </a:rPr>
              <a:t>信息</a:t>
            </a:r>
            <a:r>
              <a:rPr lang="zh-CN" altLang="en-US" sz="2800" dirty="0">
                <a:latin typeface="+mj-lt"/>
                <a:ea typeface="宋体" panose="02010600030101010101" pitchFamily="2" charset="-122"/>
                <a:cs typeface="+mj-cs"/>
              </a:rPr>
              <a:t>系统</a:t>
            </a:r>
            <a:r>
              <a:rPr lang="zh-CN" altLang="zh-CN" sz="2800" dirty="0">
                <a:latin typeface="+mj-lt"/>
                <a:ea typeface="宋体" panose="02010600030101010101" pitchFamily="2" charset="-122"/>
                <a:cs typeface="+mj-cs"/>
              </a:rPr>
              <a:t>安全</a:t>
            </a:r>
            <a:r>
              <a:rPr lang="zh-CN" altLang="en-US" sz="2800" dirty="0">
                <a:latin typeface="+mj-lt"/>
                <a:ea typeface="宋体" panose="02010600030101010101" pitchFamily="2" charset="-122"/>
                <a:cs typeface="+mj-cs"/>
              </a:rPr>
              <a:t>测评</a:t>
            </a:r>
            <a:endParaRPr lang="en-US" altLang="zh-CN" sz="2800" b="0" dirty="0">
              <a:solidFill>
                <a:schemeClr val="tx2"/>
              </a:solidFill>
              <a:latin typeface="+mj-lt"/>
              <a:ea typeface="宋体" panose="02010600030101010101" pitchFamily="2" charset="-122"/>
              <a:cs typeface="+mj-cs"/>
            </a:endParaRPr>
          </a:p>
        </p:txBody>
      </p:sp>
      <p:sp>
        <p:nvSpPr>
          <p:cNvPr id="3075" name="Rectangle 3"/>
          <p:cNvSpPr>
            <a:spLocks noGrp="1"/>
          </p:cNvSpPr>
          <p:nvPr>
            <p:ph type="subTitle" idx="1"/>
          </p:nvPr>
        </p:nvSpPr>
        <p:spPr>
          <a:xfrm>
            <a:off x="920750" y="2743200"/>
            <a:ext cx="7304088" cy="574675"/>
          </a:xfrm>
        </p:spPr>
        <p:txBody>
          <a:bodyPr vert="horz" wrap="square" lIns="91440" tIns="45720" rIns="91440" bIns="45720" anchor="t" anchorCtr="0"/>
          <a:lstStyle/>
          <a:p>
            <a:pPr eaLnBrk="1" hangingPunct="1">
              <a:lnSpc>
                <a:spcPct val="90000"/>
              </a:lnSpc>
              <a:buSzTx/>
            </a:pPr>
            <a:r>
              <a:rPr lang="zh-CN" altLang="en-US" sz="3600" dirty="0">
                <a:latin typeface="黑体" panose="02010609060101010101" pitchFamily="49" charset="-122"/>
                <a:ea typeface="黑体" panose="02010609060101010101" pitchFamily="49" charset="-122"/>
                <a:cs typeface="+mn-cs"/>
              </a:rPr>
              <a:t>信息安全法规与安全管理</a:t>
            </a:r>
            <a:endParaRPr lang="en-US" altLang="zh-CN" sz="3600" dirty="0">
              <a:latin typeface="黑体" panose="02010609060101010101" pitchFamily="49" charset="-122"/>
              <a:ea typeface="黑体" panose="02010609060101010101" pitchFamily="49" charset="-122"/>
              <a:cs typeface="+mn-cs"/>
            </a:endParaRPr>
          </a:p>
        </p:txBody>
      </p:sp>
      <p:sp>
        <p:nvSpPr>
          <p:cNvPr id="3076" name="文本框 1"/>
          <p:cNvSpPr txBox="1"/>
          <p:nvPr/>
        </p:nvSpPr>
        <p:spPr>
          <a:xfrm>
            <a:off x="1609725" y="4648200"/>
            <a:ext cx="5924550" cy="523875"/>
          </a:xfrm>
          <a:prstGeom prst="rect">
            <a:avLst/>
          </a:prstGeom>
          <a:noFill/>
          <a:ln w="9525">
            <a:noFill/>
          </a:ln>
        </p:spPr>
        <p:txBody>
          <a:bodyPr>
            <a:spAutoFit/>
          </a:bodyPr>
          <a:lstStyle/>
          <a:p>
            <a:pPr algn="ctr"/>
            <a:r>
              <a:rPr lang="zh-CN" altLang="en-US" sz="2800" dirty="0">
                <a:latin typeface="华文楷体" panose="02010600040101010101" pitchFamily="2" charset="-122"/>
                <a:ea typeface="华文楷体" panose="02010600040101010101" pitchFamily="2" charset="-122"/>
              </a:rPr>
              <a:t>授课老师：李妍</a:t>
            </a:r>
            <a:endParaRPr lang="en-US" altLang="zh-CN" sz="2800" dirty="0">
              <a:latin typeface="华文楷体" panose="02010600040101010101" pitchFamily="2" charset="-122"/>
              <a:ea typeface="华文楷体" panose="02010600040101010101" pitchFamily="2" charset="-122"/>
            </a:endParaRPr>
          </a:p>
        </p:txBody>
      </p:sp>
      <p:pic>
        <p:nvPicPr>
          <p:cNvPr id="3077" name="图片 1"/>
          <p:cNvPicPr>
            <a:picLocks noChangeAspect="1"/>
          </p:cNvPicPr>
          <p:nvPr/>
        </p:nvPicPr>
        <p:blipFill>
          <a:blip r:embed="rId2"/>
          <a:stretch>
            <a:fillRect/>
          </a:stretch>
        </p:blipFill>
        <p:spPr>
          <a:xfrm>
            <a:off x="3867150" y="5334000"/>
            <a:ext cx="1409700" cy="1409700"/>
          </a:xfrm>
          <a:prstGeom prst="rect">
            <a:avLst/>
          </a:prstGeom>
          <a:noFill/>
          <a:ln w="9525">
            <a:noFill/>
          </a:ln>
        </p:spPr>
      </p:pic>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本讲内容</a:t>
            </a:r>
            <a:endParaRPr lang="en-US" altLang="zh-CN" b="1" dirty="0">
              <a:ea typeface="宋体" panose="02010600030101010101" pitchFamily="2" charset="-122"/>
            </a:endParaRPr>
          </a:p>
        </p:txBody>
      </p:sp>
      <p:grpSp>
        <p:nvGrpSpPr>
          <p:cNvPr id="4099" name="Group 3"/>
          <p:cNvGrpSpPr/>
          <p:nvPr/>
        </p:nvGrpSpPr>
        <p:grpSpPr>
          <a:xfrm>
            <a:off x="1454150" y="1143000"/>
            <a:ext cx="782638" cy="665163"/>
            <a:chOff x="1110" y="2656"/>
            <a:chExt cx="1549" cy="1351"/>
          </a:xfrm>
        </p:grpSpPr>
        <p:sp>
          <p:nvSpPr>
            <p:cNvPr id="4141"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4142"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26662" name="AutoShape 6"/>
            <p:cNvSpPr>
              <a:spLocks noChangeArrowheads="1"/>
            </p:cNvSpPr>
            <p:nvPr/>
          </p:nvSpPr>
          <p:spPr bwMode="gray">
            <a:xfrm>
              <a:off x="1201" y="2737"/>
              <a:ext cx="1348"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4100" name="Group 7"/>
          <p:cNvGrpSpPr/>
          <p:nvPr/>
        </p:nvGrpSpPr>
        <p:grpSpPr>
          <a:xfrm>
            <a:off x="1454150" y="2057400"/>
            <a:ext cx="782638" cy="665163"/>
            <a:chOff x="3174" y="2656"/>
            <a:chExt cx="1549" cy="1351"/>
          </a:xfrm>
        </p:grpSpPr>
        <p:sp>
          <p:nvSpPr>
            <p:cNvPr id="4138"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4139"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26666" name="AutoShape 10"/>
            <p:cNvSpPr>
              <a:spLocks noChangeArrowheads="1"/>
            </p:cNvSpPr>
            <p:nvPr/>
          </p:nvSpPr>
          <p:spPr bwMode="gray">
            <a:xfrm>
              <a:off x="3265" y="2737"/>
              <a:ext cx="1348"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4101" name="Line 11"/>
          <p:cNvSpPr/>
          <p:nvPr/>
        </p:nvSpPr>
        <p:spPr>
          <a:xfrm>
            <a:off x="2063750" y="1752600"/>
            <a:ext cx="4933950" cy="0"/>
          </a:xfrm>
          <a:prstGeom prst="line">
            <a:avLst/>
          </a:prstGeom>
          <a:ln w="25400" cap="flat" cmpd="sng">
            <a:solidFill>
              <a:srgbClr val="C0C0C0"/>
            </a:solidFill>
            <a:prstDash val="sysDot"/>
            <a:headEnd type="none" w="med" len="med"/>
            <a:tailEnd type="oval" w="med" len="med"/>
          </a:ln>
        </p:spPr>
      </p:sp>
      <p:sp>
        <p:nvSpPr>
          <p:cNvPr id="4102" name="Text Box 12"/>
          <p:cNvSpPr txBox="1"/>
          <p:nvPr/>
        </p:nvSpPr>
        <p:spPr>
          <a:xfrm>
            <a:off x="2292350" y="1200150"/>
            <a:ext cx="5091113" cy="523875"/>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信息系统安全测评原则</a:t>
            </a:r>
          </a:p>
        </p:txBody>
      </p:sp>
      <p:sp>
        <p:nvSpPr>
          <p:cNvPr id="4103" name="Text Box 13"/>
          <p:cNvSpPr txBox="1"/>
          <p:nvPr/>
        </p:nvSpPr>
        <p:spPr>
          <a:xfrm>
            <a:off x="1651000" y="1241425"/>
            <a:ext cx="363538" cy="457200"/>
          </a:xfrm>
          <a:prstGeom prst="rect">
            <a:avLst/>
          </a:prstGeom>
          <a:noFill/>
          <a:ln w="9525">
            <a:noFill/>
          </a:ln>
        </p:spPr>
        <p:txBody>
          <a:bodyPr>
            <a:spAutoFit/>
          </a:bodyPr>
          <a:lstStyle/>
          <a:p>
            <a:pPr algn="ctr"/>
            <a:r>
              <a:rPr lang="en-US" altLang="zh-CN" sz="2400" b="1" dirty="0">
                <a:solidFill>
                  <a:schemeClr val="bg1"/>
                </a:solidFill>
                <a:latin typeface="Arial" panose="020B0604020202020204" pitchFamily="34" charset="0"/>
              </a:rPr>
              <a:t>1</a:t>
            </a:r>
          </a:p>
        </p:txBody>
      </p:sp>
      <p:sp>
        <p:nvSpPr>
          <p:cNvPr id="4104" name="Line 14"/>
          <p:cNvSpPr/>
          <p:nvPr/>
        </p:nvSpPr>
        <p:spPr>
          <a:xfrm>
            <a:off x="2063750" y="2667000"/>
            <a:ext cx="4933950" cy="0"/>
          </a:xfrm>
          <a:prstGeom prst="line">
            <a:avLst/>
          </a:prstGeom>
          <a:ln w="25400" cap="flat" cmpd="sng">
            <a:solidFill>
              <a:srgbClr val="C0C0C0"/>
            </a:solidFill>
            <a:prstDash val="sysDot"/>
            <a:headEnd type="none" w="med" len="med"/>
            <a:tailEnd type="oval" w="med" len="med"/>
          </a:ln>
        </p:spPr>
      </p:sp>
      <p:sp>
        <p:nvSpPr>
          <p:cNvPr id="4105" name="Text Box 16"/>
          <p:cNvSpPr txBox="1"/>
          <p:nvPr/>
        </p:nvSpPr>
        <p:spPr>
          <a:xfrm>
            <a:off x="1651000" y="2155825"/>
            <a:ext cx="363538" cy="457200"/>
          </a:xfrm>
          <a:prstGeom prst="rect">
            <a:avLst/>
          </a:prstGeom>
          <a:noFill/>
          <a:ln w="9525">
            <a:noFill/>
          </a:ln>
        </p:spPr>
        <p:txBody>
          <a:bodyPr>
            <a:spAutoFit/>
          </a:bodyPr>
          <a:lstStyle/>
          <a:p>
            <a:pPr algn="ctr"/>
            <a:r>
              <a:rPr lang="en-US" altLang="zh-CN" sz="2400" b="1" dirty="0">
                <a:solidFill>
                  <a:schemeClr val="bg1"/>
                </a:solidFill>
                <a:latin typeface="Arial" panose="020B0604020202020204" pitchFamily="34" charset="0"/>
              </a:rPr>
              <a:t>2</a:t>
            </a:r>
          </a:p>
        </p:txBody>
      </p:sp>
      <p:sp>
        <p:nvSpPr>
          <p:cNvPr id="4106" name="Text Box 21"/>
          <p:cNvSpPr txBox="1"/>
          <p:nvPr/>
        </p:nvSpPr>
        <p:spPr>
          <a:xfrm>
            <a:off x="1651000" y="3048000"/>
            <a:ext cx="363538" cy="457200"/>
          </a:xfrm>
          <a:prstGeom prst="rect">
            <a:avLst/>
          </a:prstGeom>
          <a:noFill/>
          <a:ln w="9525">
            <a:noFill/>
          </a:ln>
        </p:spPr>
        <p:txBody>
          <a:bodyPr>
            <a:spAutoFit/>
          </a:bodyPr>
          <a:lstStyle/>
          <a:p>
            <a:pPr algn="ctr"/>
            <a:r>
              <a:rPr lang="en-US" altLang="zh-CN" sz="2400" b="1" dirty="0">
                <a:solidFill>
                  <a:schemeClr val="bg1"/>
                </a:solidFill>
                <a:latin typeface="Arial" panose="020B0604020202020204" pitchFamily="34" charset="0"/>
              </a:rPr>
              <a:t>3</a:t>
            </a:r>
          </a:p>
        </p:txBody>
      </p:sp>
      <p:sp>
        <p:nvSpPr>
          <p:cNvPr id="4107" name="Text Box 22"/>
          <p:cNvSpPr txBox="1"/>
          <p:nvPr/>
        </p:nvSpPr>
        <p:spPr>
          <a:xfrm>
            <a:off x="2063750" y="5162550"/>
            <a:ext cx="363538" cy="457200"/>
          </a:xfrm>
          <a:prstGeom prst="rect">
            <a:avLst/>
          </a:prstGeom>
          <a:noFill/>
          <a:ln w="9525">
            <a:noFill/>
          </a:ln>
        </p:spPr>
        <p:txBody>
          <a:bodyPr>
            <a:spAutoFit/>
          </a:bodyPr>
          <a:lstStyle/>
          <a:p>
            <a:pPr algn="ctr"/>
            <a:r>
              <a:rPr lang="en-US" altLang="zh-CN" sz="2400" b="1" dirty="0">
                <a:solidFill>
                  <a:schemeClr val="bg1"/>
                </a:solidFill>
                <a:latin typeface="Arial" panose="020B0604020202020204" pitchFamily="34" charset="0"/>
              </a:rPr>
              <a:t>5</a:t>
            </a:r>
          </a:p>
        </p:txBody>
      </p:sp>
      <p:sp>
        <p:nvSpPr>
          <p:cNvPr id="4108" name="Text Box 24"/>
          <p:cNvSpPr txBox="1"/>
          <p:nvPr/>
        </p:nvSpPr>
        <p:spPr>
          <a:xfrm>
            <a:off x="2292350" y="2057400"/>
            <a:ext cx="5168900" cy="523875"/>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信息系统安全等级测评要求</a:t>
            </a:r>
            <a:endParaRPr lang="en-US" altLang="zh-CN" sz="2800" b="1" dirty="0">
              <a:solidFill>
                <a:schemeClr val="tx1"/>
              </a:solidFill>
              <a:latin typeface="Arial" panose="020B0604020202020204" pitchFamily="34" charset="0"/>
            </a:endParaRPr>
          </a:p>
        </p:txBody>
      </p:sp>
      <p:grpSp>
        <p:nvGrpSpPr>
          <p:cNvPr id="4109" name="Group 3"/>
          <p:cNvGrpSpPr/>
          <p:nvPr/>
        </p:nvGrpSpPr>
        <p:grpSpPr>
          <a:xfrm>
            <a:off x="1454150" y="2971800"/>
            <a:ext cx="782638" cy="665163"/>
            <a:chOff x="1110" y="2656"/>
            <a:chExt cx="1549" cy="1351"/>
          </a:xfrm>
        </p:grpSpPr>
        <p:sp>
          <p:nvSpPr>
            <p:cNvPr id="4135"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4136"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spcBef>
                  <a:spcPct val="50000"/>
                </a:spcBef>
              </a:pPr>
              <a:endParaRPr lang="zh-CN" altLang="en-US" dirty="0">
                <a:latin typeface="Times New Roman" panose="02020603050405020304" pitchFamily="18" charset="0"/>
              </a:endParaRPr>
            </a:p>
          </p:txBody>
        </p:sp>
        <p:sp>
          <p:nvSpPr>
            <p:cNvPr id="36" name="AutoShape 6"/>
            <p:cNvSpPr>
              <a:spLocks noChangeArrowheads="1"/>
            </p:cNvSpPr>
            <p:nvPr/>
          </p:nvSpPr>
          <p:spPr bwMode="gray">
            <a:xfrm>
              <a:off x="1201" y="2737"/>
              <a:ext cx="1348"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4110" name="Text Box 12"/>
          <p:cNvSpPr txBox="1"/>
          <p:nvPr/>
        </p:nvSpPr>
        <p:spPr>
          <a:xfrm>
            <a:off x="2270125" y="3070225"/>
            <a:ext cx="5091113" cy="523875"/>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信息系统安全测评流程</a:t>
            </a:r>
          </a:p>
        </p:txBody>
      </p:sp>
      <p:sp>
        <p:nvSpPr>
          <p:cNvPr id="4111" name="Text Box 13"/>
          <p:cNvSpPr txBox="1"/>
          <p:nvPr/>
        </p:nvSpPr>
        <p:spPr>
          <a:xfrm>
            <a:off x="1649413" y="3070225"/>
            <a:ext cx="366712" cy="461963"/>
          </a:xfrm>
          <a:prstGeom prst="rect">
            <a:avLst/>
          </a:prstGeom>
          <a:noFill/>
          <a:ln w="9525">
            <a:noFill/>
          </a:ln>
        </p:spPr>
        <p:txBody>
          <a:bodyPr>
            <a:spAutoFit/>
          </a:bodyPr>
          <a:lstStyle/>
          <a:p>
            <a:pPr algn="ctr"/>
            <a:r>
              <a:rPr lang="en-US" altLang="zh-CN" sz="2400" b="1" dirty="0">
                <a:solidFill>
                  <a:schemeClr val="bg1"/>
                </a:solidFill>
                <a:latin typeface="Arial" panose="020B0604020202020204" pitchFamily="34" charset="0"/>
              </a:rPr>
              <a:t>3</a:t>
            </a:r>
          </a:p>
        </p:txBody>
      </p:sp>
      <p:sp>
        <p:nvSpPr>
          <p:cNvPr id="4112" name="Line 11"/>
          <p:cNvSpPr/>
          <p:nvPr/>
        </p:nvSpPr>
        <p:spPr>
          <a:xfrm flipV="1">
            <a:off x="1987550" y="3532188"/>
            <a:ext cx="5010150" cy="49212"/>
          </a:xfrm>
          <a:prstGeom prst="line">
            <a:avLst/>
          </a:prstGeom>
          <a:ln w="25400" cap="flat" cmpd="sng">
            <a:solidFill>
              <a:srgbClr val="C0C0C0"/>
            </a:solidFill>
            <a:prstDash val="sysDot"/>
            <a:headEnd type="none" w="med" len="med"/>
            <a:tailEnd type="oval" w="med" len="med"/>
          </a:ln>
        </p:spPr>
      </p:sp>
      <p:grpSp>
        <p:nvGrpSpPr>
          <p:cNvPr id="4113" name="Group 3"/>
          <p:cNvGrpSpPr/>
          <p:nvPr/>
        </p:nvGrpSpPr>
        <p:grpSpPr>
          <a:xfrm>
            <a:off x="1460500" y="3873500"/>
            <a:ext cx="782638" cy="665163"/>
            <a:chOff x="1110" y="2656"/>
            <a:chExt cx="1549" cy="1351"/>
          </a:xfrm>
        </p:grpSpPr>
        <p:sp>
          <p:nvSpPr>
            <p:cNvPr id="4132"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endParaRPr lang="zh-CN" altLang="en-US" dirty="0">
                <a:latin typeface="Times New Roman" panose="02020603050405020304" pitchFamily="18" charset="0"/>
              </a:endParaRPr>
            </a:p>
          </p:txBody>
        </p:sp>
        <p:sp>
          <p:nvSpPr>
            <p:cNvPr id="4133"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endParaRPr lang="zh-CN" altLang="en-US" dirty="0">
                <a:latin typeface="Times New Roman" panose="02020603050405020304" pitchFamily="18" charset="0"/>
              </a:endParaRPr>
            </a:p>
          </p:txBody>
        </p:sp>
        <p:sp>
          <p:nvSpPr>
            <p:cNvPr id="30" name="AutoShape 6"/>
            <p:cNvSpPr>
              <a:spLocks noChangeArrowheads="1"/>
            </p:cNvSpPr>
            <p:nvPr/>
          </p:nvSpPr>
          <p:spPr bwMode="gray">
            <a:xfrm>
              <a:off x="1201" y="2737"/>
              <a:ext cx="1348"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4114" name="Group 7"/>
          <p:cNvGrpSpPr/>
          <p:nvPr/>
        </p:nvGrpSpPr>
        <p:grpSpPr>
          <a:xfrm>
            <a:off x="1460500" y="4787900"/>
            <a:ext cx="782638" cy="665163"/>
            <a:chOff x="3174" y="2656"/>
            <a:chExt cx="1549" cy="1351"/>
          </a:xfrm>
        </p:grpSpPr>
        <p:sp>
          <p:nvSpPr>
            <p:cNvPr id="4129"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lstStyle/>
            <a:p>
              <a:pPr algn="ctr"/>
              <a:endParaRPr lang="zh-CN" altLang="en-US" dirty="0">
                <a:latin typeface="Times New Roman" panose="02020603050405020304" pitchFamily="18" charset="0"/>
              </a:endParaRPr>
            </a:p>
          </p:txBody>
        </p:sp>
        <p:sp>
          <p:nvSpPr>
            <p:cNvPr id="4130"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endParaRPr lang="zh-CN" altLang="en-US" dirty="0">
                <a:latin typeface="Times New Roman" panose="02020603050405020304" pitchFamily="18" charset="0"/>
              </a:endParaRPr>
            </a:p>
          </p:txBody>
        </p:sp>
        <p:sp>
          <p:nvSpPr>
            <p:cNvPr id="34" name="AutoShape 10"/>
            <p:cNvSpPr>
              <a:spLocks noChangeArrowheads="1"/>
            </p:cNvSpPr>
            <p:nvPr/>
          </p:nvSpPr>
          <p:spPr bwMode="gray">
            <a:xfrm>
              <a:off x="3265" y="2737"/>
              <a:ext cx="1348"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4115" name="Line 11"/>
          <p:cNvSpPr/>
          <p:nvPr/>
        </p:nvSpPr>
        <p:spPr>
          <a:xfrm>
            <a:off x="2070100" y="4483100"/>
            <a:ext cx="4933950" cy="0"/>
          </a:xfrm>
          <a:prstGeom prst="line">
            <a:avLst/>
          </a:prstGeom>
          <a:ln w="25400" cap="flat" cmpd="sng">
            <a:solidFill>
              <a:srgbClr val="C0C0C0"/>
            </a:solidFill>
            <a:prstDash val="sysDot"/>
            <a:headEnd type="none" w="med" len="med"/>
            <a:tailEnd type="oval" w="med" len="med"/>
          </a:ln>
        </p:spPr>
      </p:sp>
      <p:sp>
        <p:nvSpPr>
          <p:cNvPr id="4116" name="Text Box 13"/>
          <p:cNvSpPr txBox="1"/>
          <p:nvPr/>
        </p:nvSpPr>
        <p:spPr>
          <a:xfrm>
            <a:off x="1658938" y="3971925"/>
            <a:ext cx="361950" cy="460375"/>
          </a:xfrm>
          <a:prstGeom prst="rect">
            <a:avLst/>
          </a:prstGeom>
          <a:noFill/>
          <a:ln w="9525">
            <a:noFill/>
          </a:ln>
        </p:spPr>
        <p:txBody>
          <a:bodyPr>
            <a:spAutoFit/>
          </a:bodyPr>
          <a:lstStyle/>
          <a:p>
            <a:pPr algn="ctr"/>
            <a:r>
              <a:rPr lang="en-US" altLang="zh-CN" sz="2400" b="1" dirty="0">
                <a:solidFill>
                  <a:schemeClr val="bg1"/>
                </a:solidFill>
                <a:latin typeface="Arial" panose="020B0604020202020204" pitchFamily="34" charset="0"/>
              </a:rPr>
              <a:t>4</a:t>
            </a:r>
          </a:p>
        </p:txBody>
      </p:sp>
      <p:sp>
        <p:nvSpPr>
          <p:cNvPr id="4117" name="Line 14"/>
          <p:cNvSpPr/>
          <p:nvPr/>
        </p:nvSpPr>
        <p:spPr>
          <a:xfrm>
            <a:off x="2070100" y="5397500"/>
            <a:ext cx="4933950" cy="0"/>
          </a:xfrm>
          <a:prstGeom prst="line">
            <a:avLst/>
          </a:prstGeom>
          <a:ln w="25400" cap="flat" cmpd="sng">
            <a:solidFill>
              <a:srgbClr val="C0C0C0"/>
            </a:solidFill>
            <a:prstDash val="sysDot"/>
            <a:headEnd type="none" w="med" len="med"/>
            <a:tailEnd type="oval" w="med" len="med"/>
          </a:ln>
        </p:spPr>
      </p:sp>
      <p:sp>
        <p:nvSpPr>
          <p:cNvPr id="4118" name="Text Box 16"/>
          <p:cNvSpPr txBox="1"/>
          <p:nvPr/>
        </p:nvSpPr>
        <p:spPr>
          <a:xfrm>
            <a:off x="1658938" y="4886325"/>
            <a:ext cx="361950" cy="460375"/>
          </a:xfrm>
          <a:prstGeom prst="rect">
            <a:avLst/>
          </a:prstGeom>
          <a:noFill/>
          <a:ln w="9525">
            <a:noFill/>
          </a:ln>
        </p:spPr>
        <p:txBody>
          <a:bodyPr>
            <a:spAutoFit/>
          </a:bodyPr>
          <a:lstStyle/>
          <a:p>
            <a:pPr algn="ctr"/>
            <a:r>
              <a:rPr lang="en-US" altLang="zh-CN" sz="2400" b="1" dirty="0">
                <a:solidFill>
                  <a:schemeClr val="bg1"/>
                </a:solidFill>
                <a:latin typeface="Arial" panose="020B0604020202020204" pitchFamily="34" charset="0"/>
              </a:rPr>
              <a:t>5</a:t>
            </a:r>
          </a:p>
        </p:txBody>
      </p:sp>
      <p:sp>
        <p:nvSpPr>
          <p:cNvPr id="4119" name="Text Box 21"/>
          <p:cNvSpPr txBox="1"/>
          <p:nvPr/>
        </p:nvSpPr>
        <p:spPr>
          <a:xfrm>
            <a:off x="1657350" y="5778500"/>
            <a:ext cx="363538" cy="457200"/>
          </a:xfrm>
          <a:prstGeom prst="rect">
            <a:avLst/>
          </a:prstGeom>
          <a:noFill/>
          <a:ln w="9525">
            <a:noFill/>
          </a:ln>
        </p:spPr>
        <p:txBody>
          <a:bodyPr>
            <a:spAutoFit/>
          </a:bodyPr>
          <a:lstStyle/>
          <a:p>
            <a:pPr algn="ctr"/>
            <a:r>
              <a:rPr lang="en-US" altLang="zh-CN" sz="2400" b="1" dirty="0">
                <a:solidFill>
                  <a:schemeClr val="bg1"/>
                </a:solidFill>
                <a:latin typeface="Arial" panose="020B0604020202020204" pitchFamily="34" charset="0"/>
              </a:rPr>
              <a:t>3</a:t>
            </a:r>
          </a:p>
        </p:txBody>
      </p:sp>
      <p:sp>
        <p:nvSpPr>
          <p:cNvPr id="4120" name="Text Box 24"/>
          <p:cNvSpPr txBox="1"/>
          <p:nvPr/>
        </p:nvSpPr>
        <p:spPr>
          <a:xfrm>
            <a:off x="2298700" y="4787900"/>
            <a:ext cx="5168900" cy="523875"/>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信息安全等级保护与等级测评</a:t>
            </a:r>
            <a:endParaRPr lang="en-US" altLang="zh-CN" sz="2800" b="1" dirty="0">
              <a:solidFill>
                <a:schemeClr val="tx1"/>
              </a:solidFill>
              <a:latin typeface="Arial" panose="020B0604020202020204" pitchFamily="34" charset="0"/>
            </a:endParaRPr>
          </a:p>
        </p:txBody>
      </p:sp>
      <p:grpSp>
        <p:nvGrpSpPr>
          <p:cNvPr id="4121" name="组合 25"/>
          <p:cNvGrpSpPr/>
          <p:nvPr/>
        </p:nvGrpSpPr>
        <p:grpSpPr>
          <a:xfrm>
            <a:off x="1460500" y="5668963"/>
            <a:ext cx="5632450" cy="676275"/>
            <a:chOff x="1828800" y="3559175"/>
            <a:chExt cx="5410200" cy="665163"/>
          </a:xfrm>
        </p:grpSpPr>
        <p:sp>
          <p:nvSpPr>
            <p:cNvPr id="4123" name="Text Box 15"/>
            <p:cNvSpPr txBox="1"/>
            <p:nvPr/>
          </p:nvSpPr>
          <p:spPr>
            <a:xfrm>
              <a:off x="2667000" y="3657600"/>
              <a:ext cx="4572000" cy="523220"/>
            </a:xfrm>
            <a:prstGeom prst="rect">
              <a:avLst/>
            </a:prstGeom>
            <a:noFill/>
            <a:ln w="9525">
              <a:noFill/>
            </a:ln>
          </p:spPr>
          <p:txBody>
            <a:bodyPr>
              <a:spAutoFit/>
            </a:bodyPr>
            <a:lstStyle/>
            <a:p>
              <a:r>
                <a:rPr lang="zh-CN" altLang="en-US" sz="2800" b="1" dirty="0">
                  <a:solidFill>
                    <a:schemeClr val="tx1"/>
                  </a:solidFill>
                  <a:latin typeface="Arial" panose="020B0604020202020204" pitchFamily="34" charset="0"/>
                </a:rPr>
                <a:t>等级测评实例</a:t>
              </a:r>
              <a:endParaRPr lang="en-US" altLang="zh-CN" sz="2800" b="1" dirty="0">
                <a:solidFill>
                  <a:schemeClr val="tx1"/>
                </a:solidFill>
                <a:latin typeface="Arial" panose="020B0604020202020204" pitchFamily="34" charset="0"/>
              </a:endParaRPr>
            </a:p>
          </p:txBody>
        </p:sp>
        <p:grpSp>
          <p:nvGrpSpPr>
            <p:cNvPr id="4124" name="Group 17"/>
            <p:cNvGrpSpPr/>
            <p:nvPr/>
          </p:nvGrpSpPr>
          <p:grpSpPr>
            <a:xfrm>
              <a:off x="1828800" y="3559175"/>
              <a:ext cx="762000" cy="665163"/>
              <a:chOff x="1110" y="2656"/>
              <a:chExt cx="1549" cy="1351"/>
            </a:xfrm>
          </p:grpSpPr>
          <p:sp>
            <p:nvSpPr>
              <p:cNvPr id="4126"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lstStyle/>
              <a:p>
                <a:pPr algn="ctr"/>
                <a:endParaRPr lang="zh-CN" altLang="en-US" dirty="0">
                  <a:latin typeface="Times New Roman" panose="02020603050405020304" pitchFamily="18" charset="0"/>
                </a:endParaRPr>
              </a:p>
            </p:txBody>
          </p:sp>
          <p:sp>
            <p:nvSpPr>
              <p:cNvPr id="4127"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lstStyle/>
              <a:p>
                <a:pPr algn="ctr"/>
                <a:endParaRPr lang="zh-CN" altLang="en-US" dirty="0">
                  <a:latin typeface="Times New Roman" panose="02020603050405020304" pitchFamily="18" charset="0"/>
                </a:endParaRPr>
              </a:p>
            </p:txBody>
          </p:sp>
          <p:sp>
            <p:nvSpPr>
              <p:cNvPr id="49" name="AutoShape 20"/>
              <p:cNvSpPr>
                <a:spLocks noChangeArrowheads="1"/>
              </p:cNvSpPr>
              <p:nvPr/>
            </p:nvSpPr>
            <p:spPr bwMode="gray">
              <a:xfrm>
                <a:off x="1200" y="2738"/>
                <a:ext cx="1348"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24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mn-cs"/>
                    <a:sym typeface="+mn-ea"/>
                  </a:rPr>
                  <a:t>6</a:t>
                </a:r>
              </a:p>
            </p:txBody>
          </p:sp>
        </p:grpSp>
        <p:sp>
          <p:nvSpPr>
            <p:cNvPr id="4125" name="Line 25"/>
            <p:cNvSpPr/>
            <p:nvPr/>
          </p:nvSpPr>
          <p:spPr>
            <a:xfrm flipV="1">
              <a:off x="2438400" y="4173626"/>
              <a:ext cx="4709316" cy="17374"/>
            </a:xfrm>
            <a:prstGeom prst="line">
              <a:avLst/>
            </a:prstGeom>
            <a:ln w="25400" cap="flat" cmpd="sng">
              <a:solidFill>
                <a:srgbClr val="C0C0C0"/>
              </a:solidFill>
              <a:prstDash val="sysDot"/>
              <a:headEnd type="none" w="med" len="med"/>
              <a:tailEnd type="oval" w="med" len="med"/>
            </a:ln>
          </p:spPr>
        </p:sp>
      </p:grpSp>
      <p:sp>
        <p:nvSpPr>
          <p:cNvPr id="4122" name="Text Box 12"/>
          <p:cNvSpPr txBox="1"/>
          <p:nvPr/>
        </p:nvSpPr>
        <p:spPr>
          <a:xfrm>
            <a:off x="2292350" y="3971925"/>
            <a:ext cx="5011738" cy="523875"/>
          </a:xfrm>
          <a:prstGeom prst="rect">
            <a:avLst/>
          </a:prstGeom>
          <a:noFill/>
          <a:ln w="9525">
            <a:noFill/>
          </a:ln>
        </p:spPr>
        <p:txBody>
          <a:bodyPr>
            <a:spAutoFit/>
          </a:bodyPr>
          <a:lstStyle/>
          <a:p>
            <a:r>
              <a:rPr lang="zh-CN" altLang="zh-CN" sz="2800" b="1" dirty="0">
                <a:solidFill>
                  <a:schemeClr val="tx1"/>
                </a:solidFill>
                <a:latin typeface="Arial" panose="020B0604020202020204" pitchFamily="34" charset="0"/>
              </a:rPr>
              <a:t>信息系统安全管理测评</a:t>
            </a:r>
            <a:endParaRPr lang="zh-CN" altLang="en-US" sz="2800" b="1" dirty="0">
              <a:solidFill>
                <a:schemeClr val="tx1"/>
              </a:solidFill>
              <a:latin typeface="Arial" panose="020B0604020202020204" pitchFamily="34" charset="0"/>
            </a:endParaRPr>
          </a:p>
        </p:txBody>
      </p:sp>
    </p:spTree>
  </p:cSld>
  <p:clrMapOvr>
    <a:masterClrMapping/>
  </p:clrMapOvr>
  <p:transition>
    <p:blinds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vert="horz" wrap="square" lIns="91440" tIns="45720" rIns="91440" bIns="45720" anchor="ctr" anchorCtr="0"/>
          <a:lstStyle/>
          <a:p>
            <a:pPr eaLnBrk="1" hangingPunct="1"/>
            <a:r>
              <a:rPr lang="zh-CN" altLang="en-US" b="1" dirty="0">
                <a:latin typeface="宋体" panose="02010600030101010101" pitchFamily="2" charset="-122"/>
                <a:ea typeface="宋体" panose="02010600030101010101" pitchFamily="2" charset="-122"/>
              </a:rPr>
              <a:t>概述</a:t>
            </a:r>
          </a:p>
        </p:txBody>
      </p:sp>
      <p:sp>
        <p:nvSpPr>
          <p:cNvPr id="19459" name="内容占位符 2"/>
          <p:cNvSpPr>
            <a:spLocks noGrp="1" noChangeArrowheads="1"/>
          </p:cNvSpPr>
          <p:nvPr>
            <p:ph idx="1"/>
          </p:nvPr>
        </p:nvSpPr>
        <p:spPr>
          <a:xfrm>
            <a:off x="228600" y="938213"/>
            <a:ext cx="8686800" cy="54864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v"/>
              <a:defRPr/>
            </a:pPr>
            <a:r>
              <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信息系统安全测评</a:t>
            </a: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
              <a:defRPr/>
            </a:pP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是由具有检测技术能力和政府授权资格的</a:t>
            </a:r>
            <a:r>
              <a:rPr kumimoji="0" lang="zh-CN"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权威机构</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r>
              <a:rPr kumimoji="0" lang="zh-CN"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依据</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国家标准、行业标准、地方标准或相关技术规范，按照严格程序对信息系统的安全保障能力进行的科学、公正的</a:t>
            </a:r>
            <a:r>
              <a:rPr kumimoji="0" lang="zh-CN"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综合测试评估活动</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endPar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742950" marR="0" lvl="1" indent="-28575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
              <a:defRPr/>
            </a:pP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测评中心将综合分析系统测试过程中有关现场核查、技术测试以及安全管理体系评估的结果，对其</a:t>
            </a:r>
            <a:r>
              <a:rPr kumimoji="0" lang="zh-CN" altLang="zh-CN" sz="2000" b="0" i="0" u="sng"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宋体" panose="02010600030101010101" pitchFamily="2" charset="-122"/>
              </a:rPr>
              <a:t>系统安全要求符合性和安全保障能力</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作出综合评价，提出相关</a:t>
            </a:r>
            <a:r>
              <a:rPr kumimoji="0" lang="zh-CN"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改进建议</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，并出具相应的系统安全</a:t>
            </a:r>
            <a:r>
              <a:rPr kumimoji="0" lang="zh-CN" altLang="zh-CN" sz="2000" b="0" i="0" u="none" strike="noStrike" kern="0" cap="none" spc="0" normalizeH="0" baseline="0" noProof="0" dirty="0" smtClean="0">
                <a:ln>
                  <a:noFill/>
                </a:ln>
                <a:solidFill>
                  <a:srgbClr val="FF0000"/>
                </a:solidFill>
                <a:effectLst/>
                <a:uLnTx/>
                <a:uFillTx/>
                <a:latin typeface="+mn-lt"/>
                <a:ea typeface="宋体" panose="02010600030101010101" pitchFamily="2" charset="-122"/>
              </a:rPr>
              <a:t>测评报告</a:t>
            </a:r>
            <a:r>
              <a:rPr kumimoji="0" lang="zh-CN"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endPar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1143000" marR="0" lvl="2" indent="-228600" algn="l" defTabSz="914400" rtl="0" eaLnBrk="1" fontAlgn="base" latinLnBrk="0" hangingPunct="1">
              <a:lnSpc>
                <a:spcPct val="100000"/>
              </a:lnSpc>
              <a:spcBef>
                <a:spcPts val="0"/>
              </a:spcBef>
              <a:spcAft>
                <a:spcPts val="0"/>
              </a:spcAft>
              <a:buClr>
                <a:srgbClr val="AC04A0"/>
              </a:buClr>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a:cs typeface="楷体_GB2312"/>
              </a:rPr>
              <a:t>主体：测评机构</a:t>
            </a: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a:cs typeface="楷体_GB2312"/>
            </a:endParaRPr>
          </a:p>
          <a:p>
            <a:pPr marL="1143000" marR="0" lvl="2" indent="-228600" algn="l" defTabSz="914400" rtl="0" eaLnBrk="1" fontAlgn="base" latinLnBrk="0" hangingPunct="1">
              <a:lnSpc>
                <a:spcPct val="100000"/>
              </a:lnSpc>
              <a:spcBef>
                <a:spcPts val="0"/>
              </a:spcBef>
              <a:spcAft>
                <a:spcPts val="0"/>
              </a:spcAft>
              <a:buClr>
                <a:srgbClr val="AC04A0"/>
              </a:buClr>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a:cs typeface="楷体_GB2312"/>
              </a:rPr>
              <a:t>客体：测评委托单位</a:t>
            </a: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a:cs typeface="楷体_GB2312"/>
            </a:endParaRPr>
          </a:p>
          <a:p>
            <a:pPr marL="1143000" marR="0" lvl="2" indent="-228600" algn="l" defTabSz="914400" rtl="0" eaLnBrk="1" fontAlgn="base" latinLnBrk="0" hangingPunct="1">
              <a:lnSpc>
                <a:spcPct val="100000"/>
              </a:lnSpc>
              <a:spcBef>
                <a:spcPts val="0"/>
              </a:spcBef>
              <a:spcAft>
                <a:spcPts val="0"/>
              </a:spcAft>
              <a:buClr>
                <a:srgbClr val="AC04A0"/>
              </a:buClr>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a:cs typeface="楷体_GB2312"/>
              </a:rPr>
              <a:t>依据：相关标准</a:t>
            </a: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a:cs typeface="楷体_GB2312"/>
            </a:endParaRPr>
          </a:p>
          <a:p>
            <a:pPr marL="1143000" marR="0" lvl="2" indent="-228600" algn="l" defTabSz="914400" rtl="0" eaLnBrk="1" fontAlgn="base" latinLnBrk="0" hangingPunct="1">
              <a:lnSpc>
                <a:spcPct val="100000"/>
              </a:lnSpc>
              <a:spcBef>
                <a:spcPts val="0"/>
              </a:spcBef>
              <a:spcAft>
                <a:spcPts val="0"/>
              </a:spcAft>
              <a:buClr>
                <a:srgbClr val="AC04A0"/>
              </a:buClr>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a:cs typeface="楷体_GB2312"/>
              </a:rPr>
              <a:t>对象：信息系统（测评委托单位的）</a:t>
            </a: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a:cs typeface="楷体_GB2312"/>
            </a:endParaRPr>
          </a:p>
          <a:p>
            <a:pPr marL="1143000" marR="0" lvl="2" indent="-228600" algn="l" defTabSz="914400" rtl="0" eaLnBrk="1" fontAlgn="base" latinLnBrk="0" hangingPunct="1">
              <a:lnSpc>
                <a:spcPct val="100000"/>
              </a:lnSpc>
              <a:spcBef>
                <a:spcPts val="0"/>
              </a:spcBef>
              <a:spcAft>
                <a:spcPts val="0"/>
              </a:spcAft>
              <a:buClr>
                <a:srgbClr val="AC04A0"/>
              </a:buClr>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a:cs typeface="楷体_GB2312"/>
              </a:rPr>
              <a:t>活动：访谈、检查、测试</a:t>
            </a: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a:cs typeface="楷体_GB2312"/>
            </a:endParaRPr>
          </a:p>
          <a:p>
            <a:pPr marL="1143000" marR="0" lvl="2" indent="-228600" algn="l" defTabSz="914400" rtl="0" eaLnBrk="1" fontAlgn="base" latinLnBrk="0" hangingPunct="1">
              <a:lnSpc>
                <a:spcPct val="100000"/>
              </a:lnSpc>
              <a:spcBef>
                <a:spcPts val="0"/>
              </a:spcBef>
              <a:spcAft>
                <a:spcPts val="0"/>
              </a:spcAft>
              <a:buClr>
                <a:srgbClr val="AC04A0"/>
              </a:buClr>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a:cs typeface="楷体_GB2312"/>
              </a:rPr>
              <a:t>结果：测评报告（包括改进建议）</a:t>
            </a:r>
            <a:endParaRPr kumimoji="0" lang="en-US" altLang="zh-CN" sz="2000" b="1" i="0" u="none" strike="noStrike" kern="0" cap="none" spc="0" normalizeH="0" baseline="0" noProof="0" dirty="0">
              <a:ln>
                <a:noFill/>
              </a:ln>
              <a:solidFill>
                <a:schemeClr val="tx1"/>
              </a:solidFill>
              <a:effectLst/>
              <a:uLnTx/>
              <a:uFillTx/>
              <a:latin typeface="Times New Roman" panose="02020603050405020304" pitchFamily="18" charset="0"/>
              <a:ea typeface="楷体_GB2312"/>
              <a:cs typeface="楷体_GB2312"/>
            </a:endParaRPr>
          </a:p>
          <a:p>
            <a:pPr marL="742950" marR="0" lvl="1" indent="-285750" algn="l" defTabSz="914400" rtl="0" eaLnBrk="1" fontAlgn="base" latinLnBrk="0" hangingPunct="1">
              <a:lnSpc>
                <a:spcPct val="100000"/>
              </a:lnSpc>
              <a:spcBef>
                <a:spcPts val="0"/>
              </a:spcBef>
              <a:spcAft>
                <a:spcPts val="0"/>
              </a:spcAft>
              <a:buClr>
                <a:srgbClr val="AC04A0"/>
              </a:buClr>
              <a:buSzTx/>
              <a:buFont typeface="Wingdings" panose="05000000000000000000" pitchFamily="2" charset="2"/>
              <a:buChar char="§"/>
              <a:defRPr/>
            </a:pPr>
            <a:endPar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a:cs typeface="楷体_GB2312"/>
            </a:endParaRPr>
          </a:p>
          <a:p>
            <a:pPr marL="742950" marR="0" lvl="1" indent="-28575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FF0000"/>
                </a:solidFill>
                <a:effectLst/>
                <a:uLnTx/>
                <a:uFillTx/>
                <a:latin typeface="方正粗黑宋简体" panose="02000000000000000000" pitchFamily="2" charset="-122"/>
                <a:ea typeface="方正粗黑宋简体" panose="02000000000000000000" pitchFamily="2" charset="-122"/>
                <a:cs typeface="楷体_GB2312"/>
              </a:rPr>
              <a:t>可与风险评估的概念对比理解</a:t>
            </a:r>
            <a:endParaRPr kumimoji="0" lang="zh-CN" altLang="en-US" sz="3200" b="1" i="0" u="none" strike="noStrike" kern="0" cap="none" spc="0" normalizeH="0" baseline="0" noProof="0" dirty="0" smtClean="0">
              <a:ln>
                <a:noFill/>
              </a:ln>
              <a:solidFill>
                <a:srgbClr val="FF0000"/>
              </a:solidFill>
              <a:effectLst/>
              <a:uLnTx/>
              <a:uFillTx/>
              <a:latin typeface="方正粗黑宋简体" panose="02000000000000000000" pitchFamily="2" charset="-122"/>
              <a:ea typeface="方正粗黑宋简体" panose="02000000000000000000" pitchFamily="2" charset="-122"/>
              <a:cs typeface="楷体_GB2312"/>
            </a:endParaRPr>
          </a:p>
        </p:txBody>
      </p:sp>
    </p:spTree>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vert="horz" wrap="square" lIns="91440" tIns="45720" rIns="91440" bIns="45720" anchor="ctr" anchorCtr="0"/>
          <a:lstStyle/>
          <a:p>
            <a:pPr eaLnBrk="1" hangingPunct="1"/>
            <a:r>
              <a:rPr lang="zh-CN" altLang="zh-CN" b="1" dirty="0">
                <a:latin typeface="宋体" panose="02010600030101010101" pitchFamily="2" charset="-122"/>
                <a:ea typeface="宋体" panose="02010600030101010101" pitchFamily="2" charset="-122"/>
              </a:rPr>
              <a:t>信息系统安全</a:t>
            </a:r>
            <a:r>
              <a:rPr lang="zh-CN" altLang="en-US" b="1" dirty="0">
                <a:latin typeface="宋体" panose="02010600030101010101" pitchFamily="2" charset="-122"/>
                <a:ea typeface="宋体" panose="02010600030101010101" pitchFamily="2" charset="-122"/>
              </a:rPr>
              <a:t>测评原则</a:t>
            </a:r>
          </a:p>
        </p:txBody>
      </p:sp>
      <p:sp>
        <p:nvSpPr>
          <p:cNvPr id="19459" name="内容占位符 2"/>
          <p:cNvSpPr>
            <a:spLocks noGrp="1"/>
          </p:cNvSpPr>
          <p:nvPr>
            <p:ph idx="1"/>
          </p:nvPr>
        </p:nvSpPr>
        <p:spPr>
          <a:xfrm>
            <a:off x="457200" y="1600200"/>
            <a:ext cx="8305800" cy="2667000"/>
          </a:xfrm>
        </p:spPr>
        <p:txBody>
          <a:bodyPr vert="horz" wrap="square" lIns="91440" tIns="45720" rIns="91440" bIns="45720" anchor="t" anchorCtr="0"/>
          <a:lstStyle/>
          <a:p>
            <a:pPr eaLnBrk="1" hangingPunct="1">
              <a:spcAft>
                <a:spcPct val="20000"/>
              </a:spcAft>
              <a:buClr>
                <a:srgbClr val="AC04A0"/>
              </a:buClr>
              <a:buFont typeface="Wingdings" panose="05000000000000000000" pitchFamily="2" charset="2"/>
              <a:buChar char="Ø"/>
            </a:pPr>
            <a:r>
              <a:rPr lang="en-US" altLang="zh-CN" sz="2800" b="1" dirty="0">
                <a:latin typeface="Times New Roman" panose="02020603050405020304" pitchFamily="18" charset="0"/>
                <a:ea typeface="楷体_GB2312" pitchFamily="49" charset="-122"/>
              </a:rPr>
              <a:t> </a:t>
            </a:r>
            <a:r>
              <a:rPr lang="zh-CN" altLang="zh-CN" sz="2800" b="1" dirty="0">
                <a:latin typeface="楷体_GB2312" pitchFamily="49" charset="-122"/>
                <a:ea typeface="楷体_GB2312" pitchFamily="49" charset="-122"/>
              </a:rPr>
              <a:t>客观性和公正性原则</a:t>
            </a:r>
            <a:endParaRPr lang="en-US" altLang="zh-CN" sz="2800" b="1" dirty="0">
              <a:latin typeface="楷体_GB2312" pitchFamily="49" charset="-122"/>
              <a:ea typeface="楷体_GB2312" pitchFamily="49" charset="-122"/>
            </a:endParaRPr>
          </a:p>
          <a:p>
            <a:pPr eaLnBrk="1" hangingPunct="1">
              <a:spcAft>
                <a:spcPct val="20000"/>
              </a:spcAft>
              <a:buClr>
                <a:srgbClr val="AC04A0"/>
              </a:buClr>
              <a:buFont typeface="Wingdings" panose="05000000000000000000" pitchFamily="2" charset="2"/>
              <a:buChar char="Ø"/>
            </a:pPr>
            <a:r>
              <a:rPr lang="zh-CN" altLang="zh-CN" sz="2800" b="1" dirty="0">
                <a:latin typeface="楷体_GB2312" pitchFamily="49" charset="-122"/>
                <a:ea typeface="楷体_GB2312" pitchFamily="49" charset="-122"/>
              </a:rPr>
              <a:t>经济性和可重用性原则</a:t>
            </a:r>
            <a:endParaRPr lang="en-US" altLang="zh-CN" sz="2800" b="1" dirty="0">
              <a:latin typeface="楷体_GB2312" pitchFamily="49" charset="-122"/>
              <a:ea typeface="楷体_GB2312" pitchFamily="49" charset="-122"/>
            </a:endParaRPr>
          </a:p>
          <a:p>
            <a:pPr eaLnBrk="1" hangingPunct="1">
              <a:spcAft>
                <a:spcPct val="20000"/>
              </a:spcAft>
              <a:buClr>
                <a:srgbClr val="AC04A0"/>
              </a:buClr>
              <a:buFont typeface="Wingdings" panose="05000000000000000000" pitchFamily="2" charset="2"/>
              <a:buChar char="Ø"/>
            </a:pPr>
            <a:r>
              <a:rPr lang="zh-CN" altLang="zh-CN" sz="2800" b="1" dirty="0">
                <a:latin typeface="楷体_GB2312" pitchFamily="49" charset="-122"/>
                <a:ea typeface="楷体_GB2312" pitchFamily="49" charset="-122"/>
              </a:rPr>
              <a:t>可重复性和可再现性原则</a:t>
            </a:r>
            <a:endParaRPr lang="en-US" altLang="zh-CN" sz="2800" b="1" dirty="0">
              <a:latin typeface="楷体_GB2312" pitchFamily="49" charset="-122"/>
              <a:ea typeface="楷体_GB2312" pitchFamily="49" charset="-122"/>
            </a:endParaRPr>
          </a:p>
          <a:p>
            <a:pPr eaLnBrk="1" hangingPunct="1">
              <a:spcAft>
                <a:spcPct val="20000"/>
              </a:spcAft>
              <a:buClr>
                <a:srgbClr val="AC04A0"/>
              </a:buClr>
              <a:buFont typeface="Wingdings" panose="05000000000000000000" pitchFamily="2" charset="2"/>
              <a:buChar char="Ø"/>
            </a:pPr>
            <a:r>
              <a:rPr lang="zh-CN" altLang="zh-CN" sz="2800" b="1" dirty="0">
                <a:latin typeface="楷体_GB2312" pitchFamily="49" charset="-122"/>
                <a:ea typeface="楷体_GB2312" pitchFamily="49" charset="-122"/>
              </a:rPr>
              <a:t>符合性原则</a:t>
            </a:r>
            <a:endParaRPr lang="en-US" altLang="zh-CN" sz="2800" b="1" dirty="0">
              <a:latin typeface="楷体_GB2312" pitchFamily="49" charset="-122"/>
              <a:ea typeface="楷体_GB2312" pitchFamily="49" charset="-122"/>
            </a:endParaRPr>
          </a:p>
          <a:p>
            <a:pPr eaLnBrk="1" hangingPunct="1">
              <a:spcAft>
                <a:spcPct val="20000"/>
              </a:spcAft>
              <a:buClr>
                <a:srgbClr val="AC04A0"/>
              </a:buClr>
              <a:buFont typeface="Wingdings" panose="05000000000000000000" pitchFamily="2" charset="2"/>
              <a:buChar char="v"/>
            </a:pPr>
            <a:endParaRPr lang="en-US" altLang="zh-CN" b="1" dirty="0">
              <a:latin typeface="楷体_GB2312" pitchFamily="49" charset="-122"/>
              <a:ea typeface="楷体_GB2312" pitchFamily="49" charset="-122"/>
            </a:endParaRPr>
          </a:p>
          <a:p>
            <a:pPr eaLnBrk="1" hangingPunct="1">
              <a:spcAft>
                <a:spcPct val="20000"/>
              </a:spcAft>
              <a:buClr>
                <a:srgbClr val="AC04A0"/>
              </a:buClr>
              <a:buNone/>
            </a:pPr>
            <a:r>
              <a:rPr lang="en-US" altLang="zh-CN" b="1" dirty="0">
                <a:latin typeface="楷体_GB2312" pitchFamily="49" charset="-122"/>
                <a:ea typeface="楷体_GB2312" pitchFamily="49" charset="-122"/>
              </a:rPr>
              <a:t> </a:t>
            </a:r>
          </a:p>
          <a:p>
            <a:pPr lvl="1" eaLnBrk="1" hangingPunct="1">
              <a:buNone/>
            </a:pPr>
            <a:endParaRPr lang="en-US" altLang="zh-CN" b="1" dirty="0">
              <a:latin typeface="楷体_GB2312" pitchFamily="49" charset="-122"/>
              <a:ea typeface="楷体_GB2312" pitchFamily="49" charset="-122"/>
            </a:endParaRPr>
          </a:p>
          <a:p>
            <a:pPr eaLnBrk="1" hangingPunct="1">
              <a:buNone/>
            </a:pPr>
            <a:endParaRPr lang="zh-CN" altLang="en-US" dirty="0">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fade">
                                      <p:cBhvr>
                                        <p:cTn id="17" dur="2000"/>
                                        <p:tgtEl>
                                          <p:spTgt spid="194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vert="horz" wrap="square" lIns="91440" tIns="45720" rIns="91440" bIns="45720" anchor="ctr" anchorCtr="0"/>
          <a:lstStyle/>
          <a:p>
            <a:pPr eaLnBrk="1" hangingPunct="1"/>
            <a:r>
              <a:rPr lang="zh-CN" altLang="zh-CN" b="1" dirty="0">
                <a:latin typeface="宋体" panose="02010600030101010101" pitchFamily="2" charset="-122"/>
                <a:ea typeface="宋体" panose="02010600030101010101" pitchFamily="2" charset="-122"/>
              </a:rPr>
              <a:t>信息系统安全等级测评要求</a:t>
            </a:r>
            <a:endParaRPr lang="zh-CN" altLang="en-US" b="1" dirty="0">
              <a:ea typeface="宋体" panose="02010600030101010101" pitchFamily="2" charset="-122"/>
            </a:endParaRPr>
          </a:p>
        </p:txBody>
      </p:sp>
      <p:sp>
        <p:nvSpPr>
          <p:cNvPr id="19459" name="内容占位符 2"/>
          <p:cNvSpPr>
            <a:spLocks noGrp="1" noChangeArrowheads="1"/>
          </p:cNvSpPr>
          <p:nvPr>
            <p:ph idx="1"/>
          </p:nvPr>
        </p:nvSpPr>
        <p:spPr>
          <a:xfrm>
            <a:off x="304800" y="1524000"/>
            <a:ext cx="8458200" cy="5410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u"/>
              <a:defRPr/>
            </a:pP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GB/T 28448-2012《信息安全技术 </a:t>
            </a:r>
            <a:r>
              <a:rPr kumimoji="0" lang="en-US" altLang="zh-CN" sz="2400" b="0" i="0" u="none" strike="noStrike" kern="0" cap="none" spc="0" normalizeH="0" baseline="0" noProof="0" dirty="0" err="1" smtClean="0">
                <a:ln>
                  <a:noFill/>
                </a:ln>
                <a:solidFill>
                  <a:schemeClr val="tx1"/>
                </a:solidFill>
                <a:effectLst/>
                <a:uLnTx/>
                <a:uFillTx/>
                <a:latin typeface="+mn-lt"/>
                <a:ea typeface="宋体" panose="02010600030101010101" pitchFamily="2" charset="-122"/>
                <a:cs typeface="+mn-cs"/>
              </a:rPr>
              <a:t>信息系统安全</a:t>
            </a:r>
            <a:r>
              <a:rPr kumimoji="0" lang="en-US" altLang="zh-CN" sz="2400" b="0" i="0" u="none" strike="noStrike" kern="0" cap="none" spc="0" normalizeH="0" baseline="0" noProof="0" dirty="0" err="1" smtClean="0">
                <a:ln>
                  <a:noFill/>
                </a:ln>
                <a:solidFill>
                  <a:srgbClr val="FF0000"/>
                </a:solidFill>
                <a:effectLst/>
                <a:uLnTx/>
                <a:uFillTx/>
                <a:latin typeface="+mn-lt"/>
                <a:ea typeface="宋体" panose="02010600030101010101" pitchFamily="2" charset="-122"/>
                <a:cs typeface="+mn-cs"/>
              </a:rPr>
              <a:t>等级保护测评要求</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对信息系统进行安全等级保护</a:t>
            </a:r>
            <a:r>
              <a:rPr kumimoji="0" lang="zh-CN" altLang="zh-CN" sz="2400" b="0" i="0" u="sng" strike="noStrike" kern="0" cap="none" spc="0" normalizeH="0" baseline="0" noProof="0" dirty="0" smtClean="0">
                <a:ln>
                  <a:noFill/>
                </a:ln>
                <a:solidFill>
                  <a:schemeClr val="tx1"/>
                </a:solidFill>
                <a:effectLst>
                  <a:outerShdw blurRad="38100" dist="38100" dir="2700000" algn="tl">
                    <a:srgbClr val="C0C0C0"/>
                  </a:outerShdw>
                </a:effectLst>
                <a:uLnTx/>
                <a:uFillTx/>
                <a:latin typeface="+mn-lt"/>
                <a:ea typeface="宋体" panose="02010600030101010101" pitchFamily="2" charset="-122"/>
                <a:cs typeface="+mn-cs"/>
              </a:rPr>
              <a:t>测试评估的技术活动提出要求</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，用以指导测评人员从信息安全等级保护的角度对信息系统进行测试评估。</a:t>
            </a:r>
            <a:endPar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u"/>
              <a:defRPr/>
            </a:pP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GB/T 28448-2012</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规定了对实现的信息系统是否符合</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GB/T 22239-2008《信息安全技术 </a:t>
            </a:r>
            <a:r>
              <a:rPr kumimoji="0" lang="zh-CN" altLang="en-US"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信息系统安全</a:t>
            </a:r>
            <a:r>
              <a:rPr kumimoji="0" lang="zh-CN" altLang="en-US" sz="2400" b="0" i="0" u="none" strike="noStrike" kern="0" cap="none" spc="0" normalizeH="0" baseline="0" noProof="0" dirty="0" smtClean="0">
                <a:ln>
                  <a:noFill/>
                </a:ln>
                <a:solidFill>
                  <a:srgbClr val="FF0000"/>
                </a:solidFill>
                <a:effectLst/>
                <a:uLnTx/>
                <a:uFillTx/>
                <a:latin typeface="+mn-lt"/>
                <a:ea typeface="宋体" panose="02010600030101010101" pitchFamily="2" charset="-122"/>
                <a:cs typeface="+mn-cs"/>
              </a:rPr>
              <a:t>等级保护基本要求</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a:t>
            </a:r>
            <a:r>
              <a:rPr kumimoji="0" lang="zh-CN"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所进行的测试评估活动的要求，包括对第一级信息系统、第二级信息系统、第三级信息系统和第四级信息系统进行测试评估的要求，略去对第五级信息系统进行测评的要求。</a:t>
            </a: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endParaRPr kumimoji="0" lang="en-US" altLang="zh-CN" sz="32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a:cs typeface="楷体_GB2312"/>
            </a:endParaRPr>
          </a:p>
        </p:txBody>
      </p:sp>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vert="horz" wrap="square" lIns="91440" tIns="45720" rIns="91440" bIns="45720" anchor="ctr" anchorCtr="0"/>
          <a:lstStyle/>
          <a:p>
            <a:pPr eaLnBrk="1" hangingPunct="1"/>
            <a:r>
              <a:rPr lang="zh-CN" altLang="zh-CN" b="1" dirty="0">
                <a:latin typeface="宋体" panose="02010600030101010101" pitchFamily="2" charset="-122"/>
                <a:ea typeface="宋体" panose="02010600030101010101" pitchFamily="2" charset="-122"/>
              </a:rPr>
              <a:t>信息系统安全等级测评要求</a:t>
            </a:r>
            <a:endParaRPr lang="zh-CN" altLang="en-US" b="1" dirty="0">
              <a:ea typeface="宋体" panose="02010600030101010101" pitchFamily="2" charset="-122"/>
            </a:endParaRPr>
          </a:p>
        </p:txBody>
      </p:sp>
      <p:sp>
        <p:nvSpPr>
          <p:cNvPr id="19459" name="内容占位符 2"/>
          <p:cNvSpPr>
            <a:spLocks noGrp="1" noChangeArrowheads="1"/>
          </p:cNvSpPr>
          <p:nvPr>
            <p:ph idx="1"/>
          </p:nvPr>
        </p:nvSpPr>
        <p:spPr>
          <a:xfrm>
            <a:off x="533400" y="1371600"/>
            <a:ext cx="8229600" cy="5410200"/>
          </a:xfrm>
        </p:spPr>
        <p:txBody>
          <a:bodyPr vert="horz" wrap="square" lIns="91440" tIns="45720" rIns="91440" bIns="45720" numCol="1" anchor="t" anchorCtr="0" compatLnSpc="1"/>
          <a:lstStyle/>
          <a:p>
            <a:pPr marL="914400" marR="0" lvl="1" indent="-514350" algn="l" defTabSz="914400" rtl="0" eaLnBrk="1" fontAlgn="base" latinLnBrk="0" hangingPunct="1">
              <a:lnSpc>
                <a:spcPct val="150000"/>
              </a:lnSpc>
              <a:spcBef>
                <a:spcPts val="600"/>
              </a:spcBef>
              <a:spcAft>
                <a:spcPts val="0"/>
              </a:spcAft>
              <a:buClr>
                <a:srgbClr val="AC04A0"/>
              </a:buClr>
              <a:buSzTx/>
              <a:buFont typeface="Wingdings" panose="05000000000000000000" pitchFamily="2" charset="2"/>
              <a:buChar char="Ø"/>
              <a:defRPr/>
            </a:pPr>
            <a:r>
              <a:rPr kumimoji="0" lang="zh-CN" altLang="en-US" sz="2400" b="1" i="0" u="none" strike="noStrike" kern="0" cap="none" spc="0" normalizeH="0" baseline="0" noProof="0" dirty="0" smtClean="0">
                <a:ln>
                  <a:noFill/>
                </a:ln>
                <a:solidFill>
                  <a:srgbClr val="000000"/>
                </a:solidFill>
                <a:effectLst/>
                <a:uLnTx/>
                <a:uFillTx/>
                <a:latin typeface="楷体_GB2312"/>
                <a:ea typeface="楷体_GB2312"/>
                <a:cs typeface="Arial" panose="020B0604020202020204" pitchFamily="34" charset="0"/>
              </a:rPr>
              <a:t>术语</a:t>
            </a:r>
            <a:r>
              <a:rPr kumimoji="0" lang="zh-CN" altLang="en-US" sz="2400" b="1" i="0" u="none" strike="noStrike" kern="0" cap="none" spc="0" normalizeH="0" baseline="0" noProof="0" dirty="0">
                <a:ln>
                  <a:noFill/>
                </a:ln>
                <a:solidFill>
                  <a:srgbClr val="000000"/>
                </a:solidFill>
                <a:effectLst/>
                <a:uLnTx/>
                <a:uFillTx/>
                <a:latin typeface="楷体_GB2312"/>
                <a:ea typeface="楷体_GB2312"/>
                <a:cs typeface="Arial" panose="020B0604020202020204" pitchFamily="34" charset="0"/>
              </a:rPr>
              <a:t>和定义</a:t>
            </a:r>
            <a:endParaRPr kumimoji="0" lang="en-US" altLang="zh-CN" sz="2400" b="1" i="0" u="none" strike="noStrike" kern="0" cap="none" spc="0" normalizeH="0" baseline="0" noProof="0" dirty="0">
              <a:ln>
                <a:noFill/>
              </a:ln>
              <a:solidFill>
                <a:srgbClr val="000000"/>
              </a:solidFill>
              <a:effectLst/>
              <a:uLnTx/>
              <a:uFillTx/>
              <a:latin typeface="楷体_GB2312"/>
              <a:ea typeface="楷体_GB2312"/>
              <a:cs typeface="Arial" panose="020B0604020202020204" pitchFamily="34" charset="0"/>
            </a:endParaRPr>
          </a:p>
          <a:p>
            <a:pPr marL="914400" marR="0" lvl="1" indent="-514350" algn="l" defTabSz="914400" rtl="0" eaLnBrk="1" fontAlgn="base" latinLnBrk="0" hangingPunct="1">
              <a:lnSpc>
                <a:spcPct val="150000"/>
              </a:lnSpc>
              <a:spcBef>
                <a:spcPts val="600"/>
              </a:spcBef>
              <a:spcAft>
                <a:spcPts val="0"/>
              </a:spcAft>
              <a:buClr>
                <a:srgbClr val="AC04A0"/>
              </a:buClr>
              <a:buSzTx/>
              <a:buFont typeface="Wingdings" panose="05000000000000000000" pitchFamily="2" charset="2"/>
              <a:buChar char="Ø"/>
              <a:defRPr/>
            </a:pPr>
            <a:r>
              <a:rPr kumimoji="0" lang="zh-CN" altLang="en-US" sz="2400" b="1" i="0" u="none" strike="noStrike" kern="0" cap="none" spc="0" normalizeH="0" baseline="0" noProof="0" dirty="0">
                <a:ln>
                  <a:noFill/>
                </a:ln>
                <a:solidFill>
                  <a:srgbClr val="000000"/>
                </a:solidFill>
                <a:effectLst/>
                <a:uLnTx/>
                <a:uFillTx/>
                <a:latin typeface="楷体_GB2312"/>
                <a:ea typeface="楷体_GB2312"/>
                <a:cs typeface="Arial" panose="020B0604020202020204" pitchFamily="34" charset="0"/>
              </a:rPr>
              <a:t>测评框架</a:t>
            </a:r>
            <a:endParaRPr kumimoji="0" lang="en-US" altLang="zh-CN" sz="2400" b="1" i="0" u="none" strike="noStrike" kern="0" cap="none" spc="0" normalizeH="0" baseline="0" noProof="0" dirty="0">
              <a:ln>
                <a:noFill/>
              </a:ln>
              <a:solidFill>
                <a:srgbClr val="000000"/>
              </a:solidFill>
              <a:effectLst/>
              <a:uLnTx/>
              <a:uFillTx/>
              <a:latin typeface="楷体_GB2312"/>
              <a:ea typeface="楷体_GB2312"/>
              <a:cs typeface="Arial" panose="020B0604020202020204" pitchFamily="34" charset="0"/>
            </a:endParaRPr>
          </a:p>
          <a:p>
            <a:pPr marL="914400" marR="0" lvl="1" indent="-514350" algn="l" defTabSz="914400" rtl="0" eaLnBrk="1" fontAlgn="base" latinLnBrk="0" hangingPunct="1">
              <a:lnSpc>
                <a:spcPct val="150000"/>
              </a:lnSpc>
              <a:spcBef>
                <a:spcPts val="600"/>
              </a:spcBef>
              <a:spcAft>
                <a:spcPts val="0"/>
              </a:spcAft>
              <a:buClr>
                <a:srgbClr val="AC04A0"/>
              </a:buClr>
              <a:buSzTx/>
              <a:buFont typeface="Wingdings" panose="05000000000000000000" pitchFamily="2" charset="2"/>
              <a:buChar char="Ø"/>
              <a:defRPr/>
            </a:pPr>
            <a:r>
              <a:rPr kumimoji="0" lang="zh-CN" altLang="en-US" sz="2400" b="1" i="0" u="none" strike="noStrike" kern="0" cap="none" spc="0" normalizeH="0" baseline="0" noProof="0" dirty="0" smtClean="0">
                <a:ln>
                  <a:noFill/>
                </a:ln>
                <a:solidFill>
                  <a:srgbClr val="000000"/>
                </a:solidFill>
                <a:effectLst/>
                <a:uLnTx/>
                <a:uFillTx/>
                <a:latin typeface="楷体_GB2312"/>
                <a:ea typeface="楷体_GB2312"/>
                <a:cs typeface="Arial" panose="020B0604020202020204" pitchFamily="34" charset="0"/>
              </a:rPr>
              <a:t>等级测评内容</a:t>
            </a:r>
            <a:endParaRPr kumimoji="0" lang="en-US" altLang="zh-CN" sz="2400" b="1" i="0" u="none" strike="noStrike" kern="0" cap="none" spc="0" normalizeH="0" baseline="0" noProof="0" dirty="0">
              <a:ln>
                <a:noFill/>
              </a:ln>
              <a:solidFill>
                <a:srgbClr val="000000"/>
              </a:solidFill>
              <a:effectLst/>
              <a:uLnTx/>
              <a:uFillTx/>
              <a:latin typeface="楷体_GB2312"/>
              <a:ea typeface="楷体_GB2312"/>
              <a:cs typeface="Arial" panose="020B0604020202020204" pitchFamily="34" charset="0"/>
            </a:endParaRPr>
          </a:p>
          <a:p>
            <a:pPr marL="914400" marR="0" lvl="1" indent="-514350" algn="l" defTabSz="914400" rtl="0" eaLnBrk="1" fontAlgn="base" latinLnBrk="0" hangingPunct="1">
              <a:lnSpc>
                <a:spcPct val="150000"/>
              </a:lnSpc>
              <a:spcBef>
                <a:spcPts val="600"/>
              </a:spcBef>
              <a:spcAft>
                <a:spcPts val="0"/>
              </a:spcAft>
              <a:buClr>
                <a:srgbClr val="AC04A0"/>
              </a:buClr>
              <a:buSzTx/>
              <a:buFont typeface="Wingdings" panose="05000000000000000000" pitchFamily="2" charset="2"/>
              <a:buChar char="Ø"/>
              <a:defRPr/>
            </a:pPr>
            <a:r>
              <a:rPr kumimoji="0" lang="zh-CN" altLang="en-US" sz="2400" b="1" i="0" u="none" strike="noStrike" kern="0" cap="none" spc="0" normalizeH="0" baseline="0" noProof="0" dirty="0" smtClean="0">
                <a:ln>
                  <a:noFill/>
                </a:ln>
                <a:solidFill>
                  <a:srgbClr val="000000"/>
                </a:solidFill>
                <a:effectLst/>
                <a:uLnTx/>
                <a:uFillTx/>
                <a:latin typeface="楷体_GB2312"/>
                <a:ea typeface="楷体_GB2312"/>
                <a:cs typeface="Arial" panose="020B0604020202020204" pitchFamily="34" charset="0"/>
              </a:rPr>
              <a:t>测评力度</a:t>
            </a:r>
            <a:endParaRPr kumimoji="0" lang="en-US" altLang="zh-CN" sz="2400" b="1" i="0" u="none" strike="noStrike" kern="0" cap="none" spc="0" normalizeH="0" baseline="0" noProof="0" dirty="0">
              <a:ln>
                <a:noFill/>
              </a:ln>
              <a:solidFill>
                <a:srgbClr val="000000"/>
              </a:solidFill>
              <a:effectLst/>
              <a:uLnTx/>
              <a:uFillTx/>
              <a:latin typeface="楷体_GB2312"/>
              <a:ea typeface="楷体_GB2312"/>
              <a:cs typeface="Arial" panose="020B0604020202020204" pitchFamily="34" charset="0"/>
            </a:endParaRPr>
          </a:p>
          <a:p>
            <a:pPr marL="914400" marR="0" lvl="1" indent="-514350" algn="l" defTabSz="914400" rtl="0" eaLnBrk="1" fontAlgn="base" latinLnBrk="0" hangingPunct="1">
              <a:lnSpc>
                <a:spcPct val="150000"/>
              </a:lnSpc>
              <a:spcBef>
                <a:spcPts val="600"/>
              </a:spcBef>
              <a:spcAft>
                <a:spcPts val="0"/>
              </a:spcAft>
              <a:buClr>
                <a:srgbClr val="AC04A0"/>
              </a:buClr>
              <a:buSzTx/>
              <a:buFont typeface="Wingdings" panose="05000000000000000000" pitchFamily="2" charset="2"/>
              <a:buChar char="Ø"/>
              <a:defRPr/>
            </a:pPr>
            <a:r>
              <a:rPr kumimoji="0" lang="zh-CN" altLang="en-US" sz="2400" b="1" i="0" u="none" strike="noStrike" kern="0" cap="none" spc="0" normalizeH="0" baseline="0" noProof="0" dirty="0" smtClean="0">
                <a:ln>
                  <a:noFill/>
                </a:ln>
                <a:solidFill>
                  <a:srgbClr val="000000"/>
                </a:solidFill>
                <a:effectLst/>
                <a:uLnTx/>
                <a:uFillTx/>
                <a:latin typeface="楷体_GB2312"/>
                <a:ea typeface="楷体_GB2312"/>
                <a:cs typeface="Arial" panose="020B0604020202020204" pitchFamily="34" charset="0"/>
              </a:rPr>
              <a:t>使用方法</a:t>
            </a:r>
            <a:endParaRPr kumimoji="0" lang="en-US" altLang="zh-CN" sz="2400" b="1" i="0" u="none" strike="noStrike" kern="0" cap="none" spc="0" normalizeH="0" baseline="0" noProof="0" dirty="0">
              <a:ln>
                <a:noFill/>
              </a:ln>
              <a:solidFill>
                <a:srgbClr val="000000"/>
              </a:solidFill>
              <a:effectLst/>
              <a:uLnTx/>
              <a:uFillTx/>
              <a:latin typeface="楷体_GB2312"/>
              <a:ea typeface="楷体_GB2312"/>
              <a:cs typeface="Arial" panose="020B0604020202020204" pitchFamily="34" charset="0"/>
            </a:endParaRPr>
          </a:p>
          <a:p>
            <a:pPr marL="914400" marR="0" lvl="1" indent="-514350" algn="l" defTabSz="914400" rtl="0" eaLnBrk="1" fontAlgn="base" latinLnBrk="0" hangingPunct="1">
              <a:lnSpc>
                <a:spcPct val="150000"/>
              </a:lnSpc>
              <a:spcBef>
                <a:spcPts val="600"/>
              </a:spcBef>
              <a:spcAft>
                <a:spcPts val="0"/>
              </a:spcAft>
              <a:buClr>
                <a:srgbClr val="AC04A0"/>
              </a:buClr>
              <a:buSzTx/>
              <a:buFont typeface="Wingdings" panose="05000000000000000000" pitchFamily="2" charset="2"/>
              <a:buChar char="Ø"/>
              <a:defRPr/>
            </a:pPr>
            <a:r>
              <a:rPr kumimoji="0" lang="zh-CN" altLang="en-US" sz="2400" b="1" i="0" u="none" strike="noStrike" kern="0" cap="none" spc="0" normalizeH="0" baseline="0" noProof="0" dirty="0" smtClean="0">
                <a:ln>
                  <a:noFill/>
                </a:ln>
                <a:solidFill>
                  <a:srgbClr val="000000"/>
                </a:solidFill>
                <a:effectLst/>
                <a:uLnTx/>
                <a:uFillTx/>
                <a:latin typeface="楷体_GB2312"/>
                <a:ea typeface="楷体_GB2312"/>
                <a:cs typeface="Arial" panose="020B0604020202020204" pitchFamily="34" charset="0"/>
              </a:rPr>
              <a:t>信息系统单元测评</a:t>
            </a:r>
            <a:endParaRPr kumimoji="0" lang="en-US" altLang="zh-CN" sz="2400" b="1" i="0" u="none" strike="noStrike" kern="0" cap="none" spc="0" normalizeH="0" baseline="0" noProof="0" dirty="0">
              <a:ln>
                <a:noFill/>
              </a:ln>
              <a:solidFill>
                <a:srgbClr val="000000"/>
              </a:solidFill>
              <a:effectLst/>
              <a:uLnTx/>
              <a:uFillTx/>
              <a:latin typeface="楷体_GB2312"/>
              <a:ea typeface="楷体_GB2312"/>
              <a:cs typeface="Arial" panose="020B0604020202020204" pitchFamily="34" charset="0"/>
            </a:endParaRPr>
          </a:p>
          <a:p>
            <a:pPr marL="914400" marR="0" lvl="1" indent="-514350" algn="l" defTabSz="914400" rtl="0" eaLnBrk="1" fontAlgn="base" latinLnBrk="0" hangingPunct="1">
              <a:lnSpc>
                <a:spcPct val="150000"/>
              </a:lnSpc>
              <a:spcBef>
                <a:spcPts val="600"/>
              </a:spcBef>
              <a:spcAft>
                <a:spcPts val="0"/>
              </a:spcAft>
              <a:buClr>
                <a:srgbClr val="AC04A0"/>
              </a:buClr>
              <a:buSzTx/>
              <a:buFont typeface="Wingdings" panose="05000000000000000000" pitchFamily="2" charset="2"/>
              <a:buChar char="Ø"/>
              <a:defRPr/>
            </a:pPr>
            <a:r>
              <a:rPr kumimoji="0" lang="zh-CN" altLang="en-US" sz="2400" b="1" i="0" u="none" strike="noStrike" kern="0" cap="none" spc="0" normalizeH="0" baseline="0" noProof="0" dirty="0" smtClean="0">
                <a:ln>
                  <a:noFill/>
                </a:ln>
                <a:solidFill>
                  <a:srgbClr val="000000"/>
                </a:solidFill>
                <a:effectLst/>
                <a:uLnTx/>
                <a:uFillTx/>
                <a:latin typeface="楷体_GB2312"/>
                <a:ea typeface="楷体_GB2312"/>
                <a:cs typeface="Arial" panose="020B0604020202020204" pitchFamily="34" charset="0"/>
              </a:rPr>
              <a:t>信息系统整体测评</a:t>
            </a:r>
            <a:endParaRPr kumimoji="0" lang="en-US" altLang="zh-CN" sz="2400" b="1" i="0" u="none" strike="noStrike" kern="0" cap="none" spc="0" normalizeH="0" baseline="0" noProof="0" dirty="0">
              <a:ln>
                <a:noFill/>
              </a:ln>
              <a:solidFill>
                <a:srgbClr val="000000"/>
              </a:solidFill>
              <a:effectLst/>
              <a:uLnTx/>
              <a:uFillTx/>
              <a:latin typeface="楷体_GB2312"/>
              <a:ea typeface="楷体_GB2312"/>
              <a:cs typeface="Arial" panose="020B0604020202020204" pitchFamily="34" charset="0"/>
            </a:endParaRPr>
          </a:p>
          <a:p>
            <a:pPr marL="914400" marR="0" lvl="1" indent="-514350" algn="l" defTabSz="914400" rtl="0" eaLnBrk="1" fontAlgn="base" latinLnBrk="0" hangingPunct="1">
              <a:lnSpc>
                <a:spcPct val="150000"/>
              </a:lnSpc>
              <a:spcBef>
                <a:spcPts val="600"/>
              </a:spcBef>
              <a:spcAft>
                <a:spcPts val="0"/>
              </a:spcAft>
              <a:buClr>
                <a:srgbClr val="AC04A0"/>
              </a:buClr>
              <a:buSzTx/>
              <a:buFont typeface="Wingdings" panose="05000000000000000000" pitchFamily="2" charset="2"/>
              <a:buChar char="Ø"/>
              <a:defRPr/>
            </a:pPr>
            <a:r>
              <a:rPr kumimoji="0" lang="zh-CN" altLang="en-US" sz="2400" b="1" i="0" u="none" strike="noStrike" kern="0" cap="none" spc="0" normalizeH="0" baseline="0" noProof="0" dirty="0" smtClean="0">
                <a:ln>
                  <a:noFill/>
                </a:ln>
                <a:solidFill>
                  <a:srgbClr val="000000"/>
                </a:solidFill>
                <a:effectLst/>
                <a:uLnTx/>
                <a:uFillTx/>
                <a:latin typeface="楷体_GB2312"/>
                <a:ea typeface="楷体_GB2312"/>
                <a:cs typeface="Arial" panose="020B0604020202020204" pitchFamily="34" charset="0"/>
              </a:rPr>
              <a:t>等级测评结论</a:t>
            </a:r>
            <a:endParaRPr kumimoji="0" lang="en-US" altLang="zh-CN" sz="2400" b="1" i="0" u="none" strike="noStrike" kern="0" cap="none" spc="0" normalizeH="0" baseline="0" noProof="0" dirty="0" smtClean="0">
              <a:ln>
                <a:noFill/>
              </a:ln>
              <a:solidFill>
                <a:srgbClr val="000000"/>
              </a:solidFill>
              <a:effectLst/>
              <a:uLnTx/>
              <a:uFillTx/>
              <a:latin typeface="楷体_GB2312"/>
              <a:ea typeface="楷体_GB2312"/>
              <a:cs typeface="楷体_GB2312"/>
            </a:endParaRPr>
          </a:p>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endParaRPr kumimoji="0" lang="en-US" altLang="zh-CN" sz="32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a:cs typeface="楷体_GB231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fade">
                                      <p:cBhvr>
                                        <p:cTn id="17" dur="2000"/>
                                        <p:tgtEl>
                                          <p:spTgt spid="194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xEl>
                                              <p:pRg st="4" end="4"/>
                                            </p:txEl>
                                          </p:spTgt>
                                        </p:tgtEl>
                                        <p:attrNameLst>
                                          <p:attrName>style.visibility</p:attrName>
                                        </p:attrNameLst>
                                      </p:cBhvr>
                                      <p:to>
                                        <p:strVal val="visible"/>
                                      </p:to>
                                    </p:set>
                                    <p:animEffect transition="in" filter="fade">
                                      <p:cBhvr>
                                        <p:cTn id="22" dur="2000"/>
                                        <p:tgtEl>
                                          <p:spTgt spid="1945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animEffect transition="in" filter="fade">
                                      <p:cBhvr>
                                        <p:cTn id="27" dur="2000"/>
                                        <p:tgtEl>
                                          <p:spTgt spid="1945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459">
                                            <p:txEl>
                                              <p:pRg st="6" end="6"/>
                                            </p:txEl>
                                          </p:spTgt>
                                        </p:tgtEl>
                                        <p:attrNameLst>
                                          <p:attrName>style.visibility</p:attrName>
                                        </p:attrNameLst>
                                      </p:cBhvr>
                                      <p:to>
                                        <p:strVal val="visible"/>
                                      </p:to>
                                    </p:set>
                                    <p:animEffect transition="in" filter="fade">
                                      <p:cBhvr>
                                        <p:cTn id="32" dur="2000"/>
                                        <p:tgtEl>
                                          <p:spTgt spid="19459">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459">
                                            <p:txEl>
                                              <p:pRg st="7" end="7"/>
                                            </p:txEl>
                                          </p:spTgt>
                                        </p:tgtEl>
                                        <p:attrNameLst>
                                          <p:attrName>style.visibility</p:attrName>
                                        </p:attrNameLst>
                                      </p:cBhvr>
                                      <p:to>
                                        <p:strVal val="visible"/>
                                      </p:to>
                                    </p:set>
                                    <p:animEffect transition="in" filter="fade">
                                      <p:cBhvr>
                                        <p:cTn id="37" dur="2000"/>
                                        <p:tgtEl>
                                          <p:spTgt spid="1945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信息系统安全等级测评要求</a:t>
            </a:r>
          </a:p>
        </p:txBody>
      </p:sp>
      <p:sp>
        <p:nvSpPr>
          <p:cNvPr id="19459" name="内容占位符 2"/>
          <p:cNvSpPr>
            <a:spLocks noGrp="1" noChangeArrowheads="1"/>
          </p:cNvSpPr>
          <p:nvPr>
            <p:ph idx="1"/>
          </p:nvPr>
        </p:nvSpPr>
        <p:spPr>
          <a:xfrm>
            <a:off x="304800" y="381000"/>
            <a:ext cx="8534400" cy="60960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a:cs typeface="楷体_GB2312"/>
              </a:rPr>
              <a:t> </a:t>
            </a: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3200" b="1" i="0" u="none" strike="noStrike" kern="0" cap="none" spc="0" normalizeH="0" baseline="0" noProof="0" dirty="0" smtClean="0">
                <a:ln>
                  <a:noFill/>
                </a:ln>
                <a:solidFill>
                  <a:srgbClr val="000000"/>
                </a:solidFill>
                <a:effectLst/>
                <a:uLnTx/>
                <a:uFillTx/>
                <a:latin typeface="+mn-lt"/>
                <a:ea typeface="楷体_GB2312"/>
                <a:cs typeface="Arial" panose="020B0604020202020204" pitchFamily="34" charset="0"/>
              </a:rPr>
              <a:t>9.2.1</a:t>
            </a:r>
            <a:r>
              <a:rPr kumimoji="0" lang="zh-CN" altLang="en-US" sz="3200" b="1" i="0" u="none" strike="noStrike" kern="0" cap="none" spc="0" normalizeH="0" baseline="0" noProof="0" dirty="0" smtClean="0">
                <a:ln>
                  <a:noFill/>
                </a:ln>
                <a:solidFill>
                  <a:srgbClr val="000000"/>
                </a:solidFill>
                <a:effectLst/>
                <a:uLnTx/>
                <a:uFillTx/>
                <a:latin typeface="+mn-lt"/>
                <a:ea typeface="楷体_GB2312"/>
                <a:cs typeface="Arial" panose="020B0604020202020204" pitchFamily="34" charset="0"/>
              </a:rPr>
              <a:t>术语和定义</a:t>
            </a:r>
            <a:endParaRPr kumimoji="0" lang="en-US" altLang="zh-CN" sz="3200" b="1" i="0" u="none" strike="noStrike" kern="0" cap="none" spc="0" normalizeH="0" baseline="0" noProof="0" dirty="0" smtClean="0">
              <a:ln>
                <a:noFill/>
              </a:ln>
              <a:solidFill>
                <a:srgbClr val="000000"/>
              </a:solidFill>
              <a:effectLst/>
              <a:uLnTx/>
              <a:uFillTx/>
              <a:latin typeface="+mn-lt"/>
              <a:ea typeface="楷体_GB2312"/>
              <a:cs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mn-lt"/>
                <a:ea typeface="楷体_GB2312"/>
                <a:cs typeface="+mn-cs"/>
              </a:rPr>
              <a:t> 1</a:t>
            </a:r>
            <a:r>
              <a:rPr kumimoji="0" lang="en-US" altLang="zh-CN" sz="2400" b="1" i="0" u="none" strike="noStrike" kern="0" cap="none" spc="0" normalizeH="0" baseline="0" noProof="0" dirty="0">
                <a:ln>
                  <a:noFill/>
                </a:ln>
                <a:solidFill>
                  <a:schemeClr val="tx1"/>
                </a:solidFill>
                <a:effectLst/>
                <a:uLnTx/>
                <a:uFillTx/>
                <a:latin typeface="+mn-lt"/>
                <a:ea typeface="楷体_GB2312"/>
                <a:cs typeface="+mn-cs"/>
              </a:rPr>
              <a:t>.</a:t>
            </a:r>
            <a:r>
              <a:rPr kumimoji="0" lang="zh-CN" altLang="zh-CN" sz="2400" b="1" i="0" u="none" strike="noStrike" kern="0" cap="none" spc="0" normalizeH="0" baseline="0" noProof="0" dirty="0">
                <a:ln>
                  <a:noFill/>
                </a:ln>
                <a:solidFill>
                  <a:schemeClr val="tx1"/>
                </a:solidFill>
                <a:effectLst/>
                <a:uLnTx/>
                <a:uFillTx/>
                <a:latin typeface="+mn-lt"/>
                <a:ea typeface="楷体_GB2312"/>
                <a:cs typeface="+mn-cs"/>
              </a:rPr>
              <a:t>访谈</a:t>
            </a:r>
            <a:r>
              <a:rPr kumimoji="0" lang="en-US" altLang="zh-CN" sz="2400" b="1" i="0" u="none" strike="noStrike" kern="0" cap="none" spc="0" normalizeH="0" baseline="0" noProof="0" dirty="0">
                <a:ln>
                  <a:noFill/>
                </a:ln>
                <a:solidFill>
                  <a:schemeClr val="tx1"/>
                </a:solidFill>
                <a:effectLst/>
                <a:uLnTx/>
                <a:uFillTx/>
                <a:latin typeface="+mn-lt"/>
                <a:ea typeface="楷体_GB2312"/>
                <a:cs typeface="+mn-cs"/>
              </a:rPr>
              <a:t>  interview</a:t>
            </a:r>
            <a:endParaRPr kumimoji="0" lang="zh-CN" altLang="zh-CN" sz="2400" b="1" i="0" u="none" strike="noStrike" kern="0" cap="none" spc="0" normalizeH="0" baseline="0" noProof="0" dirty="0">
              <a:ln>
                <a:noFill/>
              </a:ln>
              <a:solidFill>
                <a:schemeClr val="tx1"/>
              </a:solidFill>
              <a:effectLst/>
              <a:uLnTx/>
              <a:uFillTx/>
              <a:latin typeface="+mn-lt"/>
              <a:ea typeface="楷体_GB231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zh-CN" sz="2400" b="1" i="0" u="none" strike="noStrike" kern="0" cap="none" spc="0" normalizeH="0" baseline="0" noProof="0" dirty="0" smtClean="0">
                <a:ln>
                  <a:noFill/>
                </a:ln>
                <a:solidFill>
                  <a:schemeClr val="tx1"/>
                </a:solidFill>
                <a:effectLst/>
                <a:uLnTx/>
                <a:uFillTx/>
                <a:latin typeface="+mn-lt"/>
                <a:ea typeface="楷体_GB2312"/>
                <a:cs typeface="+mn-cs"/>
              </a:rPr>
              <a:t>访谈</a:t>
            </a:r>
            <a:r>
              <a:rPr kumimoji="0" lang="zh-CN" altLang="zh-CN" sz="2400" b="1" i="0" u="none" strike="noStrike" kern="0" cap="none" spc="0" normalizeH="0" baseline="0" noProof="0" dirty="0">
                <a:ln>
                  <a:noFill/>
                </a:ln>
                <a:solidFill>
                  <a:schemeClr val="tx1"/>
                </a:solidFill>
                <a:effectLst/>
                <a:uLnTx/>
                <a:uFillTx/>
                <a:latin typeface="+mn-lt"/>
                <a:ea typeface="楷体_GB2312"/>
                <a:cs typeface="+mn-cs"/>
              </a:rPr>
              <a:t>是指测评人员通过</a:t>
            </a:r>
            <a:r>
              <a:rPr kumimoji="0" lang="zh-CN" altLang="zh-CN" sz="2400" b="1" i="0" u="none" strike="noStrike" kern="0" cap="none" spc="0" normalizeH="0" baseline="0" noProof="0" dirty="0">
                <a:ln>
                  <a:noFill/>
                </a:ln>
                <a:solidFill>
                  <a:srgbClr val="FF0000"/>
                </a:solidFill>
                <a:effectLst/>
                <a:uLnTx/>
                <a:uFillTx/>
                <a:latin typeface="+mn-lt"/>
                <a:ea typeface="楷体_GB2312"/>
                <a:cs typeface="+mn-cs"/>
              </a:rPr>
              <a:t>引导信息系统</a:t>
            </a:r>
            <a:r>
              <a:rPr kumimoji="0" lang="zh-CN" altLang="zh-CN" sz="2400" b="1" i="0" u="none" strike="noStrike" kern="0" cap="none" spc="0" normalizeH="0" baseline="0" noProof="0" dirty="0">
                <a:ln>
                  <a:noFill/>
                </a:ln>
                <a:solidFill>
                  <a:schemeClr val="tx1"/>
                </a:solidFill>
                <a:effectLst/>
                <a:uLnTx/>
                <a:uFillTx/>
                <a:latin typeface="+mn-lt"/>
                <a:ea typeface="楷体_GB2312"/>
                <a:cs typeface="+mn-cs"/>
              </a:rPr>
              <a:t>相关人员进行有</a:t>
            </a:r>
            <a:r>
              <a:rPr kumimoji="0" lang="zh-CN" altLang="zh-CN" sz="2400" b="1" i="0" u="none" strike="noStrike" kern="0" cap="none" spc="0" normalizeH="0" baseline="0" noProof="0" dirty="0" smtClean="0">
                <a:ln>
                  <a:noFill/>
                </a:ln>
                <a:solidFill>
                  <a:schemeClr val="tx1"/>
                </a:solidFill>
                <a:effectLst/>
                <a:uLnTx/>
                <a:uFillTx/>
                <a:latin typeface="+mn-lt"/>
                <a:ea typeface="楷体_GB2312"/>
                <a:cs typeface="+mn-cs"/>
              </a:rPr>
              <a:t>目的</a:t>
            </a:r>
            <a:r>
              <a:rPr kumimoji="0" lang="zh-CN" altLang="zh-CN" sz="2400" b="1" i="0" u="none" strike="noStrike" kern="0" cap="none" spc="0" normalizeH="0" baseline="0" noProof="0" dirty="0">
                <a:ln>
                  <a:noFill/>
                </a:ln>
                <a:solidFill>
                  <a:schemeClr val="tx1"/>
                </a:solidFill>
                <a:effectLst/>
                <a:uLnTx/>
                <a:uFillTx/>
                <a:latin typeface="+mn-lt"/>
                <a:ea typeface="楷体_GB2312"/>
                <a:cs typeface="+mn-cs"/>
              </a:rPr>
              <a:t>（有针对性的）交流以帮助测评人员理解、澄清或取得证据的</a:t>
            </a:r>
            <a:r>
              <a:rPr kumimoji="0" lang="zh-CN" altLang="zh-CN" sz="2400" b="1" i="0" u="none" strike="noStrike" kern="0" cap="none" spc="0" normalizeH="0" baseline="0" noProof="0" dirty="0" smtClean="0">
                <a:ln>
                  <a:noFill/>
                </a:ln>
                <a:solidFill>
                  <a:schemeClr val="tx1"/>
                </a:solidFill>
                <a:effectLst/>
                <a:uLnTx/>
                <a:uFillTx/>
                <a:latin typeface="+mn-lt"/>
                <a:ea typeface="楷体_GB2312"/>
                <a:cs typeface="+mn-cs"/>
              </a:rPr>
              <a:t>过程</a:t>
            </a:r>
            <a:endParaRPr kumimoji="0" lang="zh-CN" altLang="zh-CN" sz="2400" b="1" i="0" u="none" strike="noStrike" kern="0" cap="none" spc="0" normalizeH="0" baseline="0" noProof="0" dirty="0">
              <a:ln>
                <a:noFill/>
              </a:ln>
              <a:solidFill>
                <a:schemeClr val="tx1"/>
              </a:solidFill>
              <a:effectLst/>
              <a:uLnTx/>
              <a:uFillTx/>
              <a:latin typeface="+mn-lt"/>
              <a:ea typeface="楷体_GB231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mn-lt"/>
                <a:ea typeface="楷体_GB2312"/>
                <a:cs typeface="+mn-cs"/>
              </a:rPr>
              <a:t> 2</a:t>
            </a:r>
            <a:r>
              <a:rPr kumimoji="0" lang="en-US" altLang="zh-CN" sz="2400" b="1" i="0" u="none" strike="noStrike" kern="0" cap="none" spc="0" normalizeH="0" baseline="0" noProof="0" dirty="0">
                <a:ln>
                  <a:noFill/>
                </a:ln>
                <a:solidFill>
                  <a:schemeClr val="tx1"/>
                </a:solidFill>
                <a:effectLst/>
                <a:uLnTx/>
                <a:uFillTx/>
                <a:latin typeface="+mn-lt"/>
                <a:ea typeface="楷体_GB2312"/>
                <a:cs typeface="+mn-cs"/>
              </a:rPr>
              <a:t>.</a:t>
            </a:r>
            <a:r>
              <a:rPr kumimoji="0" lang="zh-CN" altLang="zh-CN" sz="2400" b="1" i="0" u="none" strike="noStrike" kern="0" cap="none" spc="0" normalizeH="0" baseline="0" noProof="0" dirty="0">
                <a:ln>
                  <a:noFill/>
                </a:ln>
                <a:solidFill>
                  <a:schemeClr val="tx1"/>
                </a:solidFill>
                <a:effectLst/>
                <a:uLnTx/>
                <a:uFillTx/>
                <a:latin typeface="+mn-lt"/>
                <a:ea typeface="楷体_GB2312"/>
                <a:cs typeface="+mn-cs"/>
              </a:rPr>
              <a:t>检查</a:t>
            </a:r>
            <a:r>
              <a:rPr kumimoji="0" lang="en-US" altLang="zh-CN" sz="2400" b="1" i="0" u="none" strike="noStrike" kern="0" cap="none" spc="0" normalizeH="0" baseline="0" noProof="0" dirty="0">
                <a:ln>
                  <a:noFill/>
                </a:ln>
                <a:solidFill>
                  <a:schemeClr val="tx1"/>
                </a:solidFill>
                <a:effectLst/>
                <a:uLnTx/>
                <a:uFillTx/>
                <a:latin typeface="+mn-lt"/>
                <a:ea typeface="楷体_GB2312"/>
                <a:cs typeface="+mn-cs"/>
              </a:rPr>
              <a:t>  examination</a:t>
            </a:r>
            <a:endParaRPr kumimoji="0" lang="zh-CN" altLang="zh-CN" sz="2400" b="1" i="0" u="none" strike="noStrike" kern="0" cap="none" spc="0" normalizeH="0" baseline="0" noProof="0" dirty="0">
              <a:ln>
                <a:noFill/>
              </a:ln>
              <a:solidFill>
                <a:schemeClr val="tx1"/>
              </a:solidFill>
              <a:effectLst/>
              <a:uLnTx/>
              <a:uFillTx/>
              <a:latin typeface="+mn-lt"/>
              <a:ea typeface="楷体_GB231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zh-CN" sz="2400" b="1" i="0" u="none" strike="noStrike" kern="0" cap="none" spc="0" normalizeH="0" baseline="0" noProof="0" dirty="0">
                <a:ln>
                  <a:noFill/>
                </a:ln>
                <a:solidFill>
                  <a:schemeClr val="tx1"/>
                </a:solidFill>
                <a:effectLst/>
                <a:uLnTx/>
                <a:uFillTx/>
                <a:latin typeface="+mn-lt"/>
                <a:ea typeface="楷体_GB2312"/>
                <a:cs typeface="+mn-cs"/>
              </a:rPr>
              <a:t>检查是指测评人员通过</a:t>
            </a:r>
            <a:r>
              <a:rPr kumimoji="0" lang="zh-CN" altLang="zh-CN" sz="2400" b="1" i="0" u="none" strike="noStrike" kern="0" cap="none" spc="0" normalizeH="0" baseline="0" noProof="0" dirty="0">
                <a:ln>
                  <a:noFill/>
                </a:ln>
                <a:solidFill>
                  <a:srgbClr val="FF0000"/>
                </a:solidFill>
                <a:effectLst/>
                <a:uLnTx/>
                <a:uFillTx/>
                <a:latin typeface="+mn-lt"/>
                <a:ea typeface="楷体_GB2312"/>
                <a:cs typeface="+mn-cs"/>
              </a:rPr>
              <a:t>对测评对象</a:t>
            </a:r>
            <a:r>
              <a:rPr kumimoji="0" lang="zh-CN" altLang="zh-CN" sz="2400" b="1" i="0" u="none" strike="noStrike" kern="0" cap="none" spc="0" normalizeH="0" baseline="0" noProof="0" dirty="0">
                <a:ln>
                  <a:noFill/>
                </a:ln>
                <a:solidFill>
                  <a:schemeClr val="tx1"/>
                </a:solidFill>
                <a:effectLst/>
                <a:uLnTx/>
                <a:uFillTx/>
                <a:latin typeface="+mn-lt"/>
                <a:ea typeface="楷体_GB2312"/>
                <a:cs typeface="+mn-cs"/>
              </a:rPr>
              <a:t>（如制度文档、各类设备、安全配置等）进行观察、查验、分析以帮助测评人员的理解、澄清或取得证据的过程。</a:t>
            </a: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mn-lt"/>
                <a:ea typeface="楷体_GB2312"/>
                <a:cs typeface="+mn-cs"/>
              </a:rPr>
              <a:t> 3</a:t>
            </a:r>
            <a:r>
              <a:rPr kumimoji="0" lang="en-US" altLang="zh-CN" sz="2400" b="1" i="0" u="none" strike="noStrike" kern="0" cap="none" spc="0" normalizeH="0" baseline="0" noProof="0" dirty="0">
                <a:ln>
                  <a:noFill/>
                </a:ln>
                <a:solidFill>
                  <a:schemeClr val="tx1"/>
                </a:solidFill>
                <a:effectLst/>
                <a:uLnTx/>
                <a:uFillTx/>
                <a:latin typeface="+mn-lt"/>
                <a:ea typeface="楷体_GB2312"/>
                <a:cs typeface="+mn-cs"/>
              </a:rPr>
              <a:t>.</a:t>
            </a:r>
            <a:r>
              <a:rPr kumimoji="0" lang="zh-CN" altLang="zh-CN" sz="2400" b="1" i="0" u="none" strike="noStrike" kern="0" cap="none" spc="0" normalizeH="0" baseline="0" noProof="0" dirty="0">
                <a:ln>
                  <a:noFill/>
                </a:ln>
                <a:solidFill>
                  <a:schemeClr val="tx1"/>
                </a:solidFill>
                <a:effectLst/>
                <a:uLnTx/>
                <a:uFillTx/>
                <a:latin typeface="+mn-lt"/>
                <a:ea typeface="楷体_GB2312"/>
                <a:cs typeface="+mn-cs"/>
              </a:rPr>
              <a:t>测试</a:t>
            </a:r>
            <a:r>
              <a:rPr kumimoji="0" lang="en-US" altLang="zh-CN" sz="2400" b="1" i="0" u="none" strike="noStrike" kern="0" cap="none" spc="0" normalizeH="0" baseline="0" noProof="0" dirty="0">
                <a:ln>
                  <a:noFill/>
                </a:ln>
                <a:solidFill>
                  <a:schemeClr val="tx1"/>
                </a:solidFill>
                <a:effectLst/>
                <a:uLnTx/>
                <a:uFillTx/>
                <a:latin typeface="+mn-lt"/>
                <a:ea typeface="楷体_GB2312"/>
                <a:cs typeface="+mn-cs"/>
              </a:rPr>
              <a:t>  testing</a:t>
            </a:r>
            <a:endParaRPr kumimoji="0" lang="zh-CN" altLang="zh-CN" sz="2400" b="1" i="0" u="none" strike="noStrike" kern="0" cap="none" spc="0" normalizeH="0" baseline="0" noProof="0" dirty="0">
              <a:ln>
                <a:noFill/>
              </a:ln>
              <a:solidFill>
                <a:schemeClr val="tx1"/>
              </a:solidFill>
              <a:effectLst/>
              <a:uLnTx/>
              <a:uFillTx/>
              <a:latin typeface="+mn-lt"/>
              <a:ea typeface="楷体_GB2312"/>
              <a:cs typeface="+mn-cs"/>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zh-CN" sz="2400" b="1" i="0" u="none" strike="noStrike" kern="0" cap="none" spc="0" normalizeH="0" baseline="0" noProof="0" dirty="0" smtClean="0">
                <a:ln>
                  <a:noFill/>
                </a:ln>
                <a:solidFill>
                  <a:schemeClr val="tx1"/>
                </a:solidFill>
                <a:effectLst/>
                <a:uLnTx/>
                <a:uFillTx/>
                <a:latin typeface="+mn-lt"/>
                <a:ea typeface="楷体_GB2312"/>
                <a:cs typeface="+mn-cs"/>
              </a:rPr>
              <a:t>测试</a:t>
            </a:r>
            <a:r>
              <a:rPr kumimoji="0" lang="zh-CN" altLang="zh-CN" sz="2400" b="1" i="0" u="none" strike="noStrike" kern="0" cap="none" spc="0" normalizeH="0" baseline="0" noProof="0" dirty="0">
                <a:ln>
                  <a:noFill/>
                </a:ln>
                <a:solidFill>
                  <a:schemeClr val="tx1"/>
                </a:solidFill>
                <a:effectLst/>
                <a:uLnTx/>
                <a:uFillTx/>
                <a:latin typeface="+mn-lt"/>
                <a:ea typeface="楷体_GB2312"/>
                <a:cs typeface="+mn-cs"/>
              </a:rPr>
              <a:t>是指测评人员使用</a:t>
            </a:r>
            <a:r>
              <a:rPr kumimoji="0" lang="zh-CN" altLang="zh-CN" sz="2400" b="1" i="0" u="none" strike="noStrike" kern="0" cap="none" spc="0" normalizeH="0" baseline="0" noProof="0" dirty="0">
                <a:ln>
                  <a:noFill/>
                </a:ln>
                <a:solidFill>
                  <a:srgbClr val="FF0000"/>
                </a:solidFill>
                <a:effectLst/>
                <a:uLnTx/>
                <a:uFillTx/>
                <a:latin typeface="+mn-lt"/>
                <a:ea typeface="楷体_GB2312"/>
                <a:cs typeface="+mn-cs"/>
              </a:rPr>
              <a:t>预定的方法</a:t>
            </a:r>
            <a:r>
              <a:rPr kumimoji="0" lang="en-US" altLang="zh-CN" sz="2400" b="1" i="0" u="none" strike="noStrike" kern="0" cap="none" spc="0" normalizeH="0" baseline="0" noProof="0" dirty="0">
                <a:ln>
                  <a:noFill/>
                </a:ln>
                <a:solidFill>
                  <a:srgbClr val="FF0000"/>
                </a:solidFill>
                <a:effectLst/>
                <a:uLnTx/>
                <a:uFillTx/>
                <a:latin typeface="+mn-lt"/>
                <a:ea typeface="楷体_GB2312"/>
                <a:cs typeface="+mn-cs"/>
              </a:rPr>
              <a:t>/</a:t>
            </a:r>
            <a:r>
              <a:rPr kumimoji="0" lang="zh-CN" altLang="zh-CN" sz="2400" b="1" i="0" u="none" strike="noStrike" kern="0" cap="none" spc="0" normalizeH="0" baseline="0" noProof="0" dirty="0">
                <a:ln>
                  <a:noFill/>
                </a:ln>
                <a:solidFill>
                  <a:srgbClr val="FF0000"/>
                </a:solidFill>
                <a:effectLst/>
                <a:uLnTx/>
                <a:uFillTx/>
                <a:latin typeface="+mn-lt"/>
                <a:ea typeface="楷体_GB2312"/>
                <a:cs typeface="+mn-cs"/>
              </a:rPr>
              <a:t>工具使测评对象</a:t>
            </a:r>
            <a:r>
              <a:rPr kumimoji="0" lang="zh-CN" altLang="zh-CN" sz="2400" b="1" i="0" u="none" strike="noStrike" kern="0" cap="none" spc="0" normalizeH="0" baseline="0" noProof="0" dirty="0">
                <a:ln>
                  <a:noFill/>
                </a:ln>
                <a:solidFill>
                  <a:schemeClr val="tx1"/>
                </a:solidFill>
                <a:effectLst/>
                <a:uLnTx/>
                <a:uFillTx/>
                <a:latin typeface="+mn-lt"/>
                <a:ea typeface="楷体_GB2312"/>
                <a:cs typeface="+mn-cs"/>
              </a:rPr>
              <a:t>（各类</a:t>
            </a:r>
            <a:r>
              <a:rPr kumimoji="0" lang="zh-CN" altLang="zh-CN" sz="2400" b="1" i="0" u="none" strike="noStrike" kern="0" cap="none" spc="0" normalizeH="0" baseline="0" noProof="0" dirty="0" smtClean="0">
                <a:ln>
                  <a:noFill/>
                </a:ln>
                <a:solidFill>
                  <a:schemeClr val="tx1"/>
                </a:solidFill>
                <a:effectLst/>
                <a:uLnTx/>
                <a:uFillTx/>
                <a:latin typeface="+mn-lt"/>
                <a:ea typeface="楷体_GB2312"/>
                <a:cs typeface="+mn-cs"/>
              </a:rPr>
              <a:t>设</a:t>
            </a:r>
            <a:r>
              <a:rPr kumimoji="0" lang="en-US" altLang="zh-CN" sz="2400" b="1" i="0" u="none" strike="noStrike" kern="0" cap="none" spc="0" normalizeH="0" baseline="0" noProof="0" dirty="0" smtClean="0">
                <a:ln>
                  <a:noFill/>
                </a:ln>
                <a:solidFill>
                  <a:schemeClr val="tx1"/>
                </a:solidFill>
                <a:effectLst/>
                <a:uLnTx/>
                <a:uFillTx/>
                <a:latin typeface="+mn-lt"/>
                <a:ea typeface="楷体_GB2312"/>
                <a:cs typeface="+mn-cs"/>
              </a:rPr>
              <a:t> </a:t>
            </a:r>
            <a:r>
              <a:rPr kumimoji="0" lang="zh-CN" altLang="zh-CN" sz="2400" b="1" i="0" u="none" strike="noStrike" kern="0" cap="none" spc="0" normalizeH="0" baseline="0" noProof="0" dirty="0" smtClean="0">
                <a:ln>
                  <a:noFill/>
                </a:ln>
                <a:solidFill>
                  <a:schemeClr val="tx1"/>
                </a:solidFill>
                <a:effectLst/>
                <a:uLnTx/>
                <a:uFillTx/>
                <a:latin typeface="+mn-lt"/>
                <a:ea typeface="楷体_GB2312"/>
                <a:cs typeface="+mn-cs"/>
              </a:rPr>
              <a:t>备</a:t>
            </a:r>
            <a:r>
              <a:rPr kumimoji="0" lang="zh-CN" altLang="zh-CN" sz="2400" b="1" i="0" u="none" strike="noStrike" kern="0" cap="none" spc="0" normalizeH="0" baseline="0" noProof="0" dirty="0">
                <a:ln>
                  <a:noFill/>
                </a:ln>
                <a:solidFill>
                  <a:schemeClr val="tx1"/>
                </a:solidFill>
                <a:effectLst/>
                <a:uLnTx/>
                <a:uFillTx/>
                <a:latin typeface="+mn-lt"/>
                <a:ea typeface="楷体_GB2312"/>
                <a:cs typeface="+mn-cs"/>
              </a:rPr>
              <a:t>和安全配置）产生特定的结果，将运行结果与预期的结果进行对比的过程。</a:t>
            </a: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en-US" altLang="zh-CN" sz="3200" b="1" i="0" u="none" strike="noStrike" kern="0" cap="none" spc="0" normalizeH="0" baseline="0" noProof="0" dirty="0" smtClean="0">
              <a:ln>
                <a:noFill/>
              </a:ln>
              <a:solidFill>
                <a:srgbClr val="000000"/>
              </a:solidFill>
              <a:effectLst/>
              <a:uLnTx/>
              <a:uFillTx/>
              <a:latin typeface="+mn-lt"/>
              <a:ea typeface="楷体_GB2312"/>
              <a:cs typeface="Arial" panose="020B0604020202020204" pitchFamily="34" charset="0"/>
            </a:endParaRPr>
          </a:p>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endParaRPr kumimoji="0" lang="en-US" altLang="zh-CN" sz="32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a:cs typeface="楷体_GB231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fade">
                                      <p:cBhvr>
                                        <p:cTn id="17" dur="2000"/>
                                        <p:tgtEl>
                                          <p:spTgt spid="194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xEl>
                                              <p:pRg st="4" end="4"/>
                                            </p:txEl>
                                          </p:spTgt>
                                        </p:tgtEl>
                                        <p:attrNameLst>
                                          <p:attrName>style.visibility</p:attrName>
                                        </p:attrNameLst>
                                      </p:cBhvr>
                                      <p:to>
                                        <p:strVal val="visible"/>
                                      </p:to>
                                    </p:set>
                                    <p:animEffect transition="in" filter="fade">
                                      <p:cBhvr>
                                        <p:cTn id="22" dur="2000"/>
                                        <p:tgtEl>
                                          <p:spTgt spid="1945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animEffect transition="in" filter="fade">
                                      <p:cBhvr>
                                        <p:cTn id="27" dur="2000"/>
                                        <p:tgtEl>
                                          <p:spTgt spid="1945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459">
                                            <p:txEl>
                                              <p:pRg st="6" end="6"/>
                                            </p:txEl>
                                          </p:spTgt>
                                        </p:tgtEl>
                                        <p:attrNameLst>
                                          <p:attrName>style.visibility</p:attrName>
                                        </p:attrNameLst>
                                      </p:cBhvr>
                                      <p:to>
                                        <p:strVal val="visible"/>
                                      </p:to>
                                    </p:set>
                                    <p:animEffect transition="in" filter="fade">
                                      <p:cBhvr>
                                        <p:cTn id="32" dur="2000"/>
                                        <p:tgtEl>
                                          <p:spTgt spid="19459">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459">
                                            <p:txEl>
                                              <p:pRg st="7" end="7"/>
                                            </p:txEl>
                                          </p:spTgt>
                                        </p:tgtEl>
                                        <p:attrNameLst>
                                          <p:attrName>style.visibility</p:attrName>
                                        </p:attrNameLst>
                                      </p:cBhvr>
                                      <p:to>
                                        <p:strVal val="visible"/>
                                      </p:to>
                                    </p:set>
                                    <p:animEffect transition="in" filter="fade">
                                      <p:cBhvr>
                                        <p:cTn id="37" dur="2000"/>
                                        <p:tgtEl>
                                          <p:spTgt spid="1945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信息系统安全等级测评要求</a:t>
            </a:r>
          </a:p>
        </p:txBody>
      </p:sp>
      <p:sp>
        <p:nvSpPr>
          <p:cNvPr id="19459" name="内容占位符 2"/>
          <p:cNvSpPr>
            <a:spLocks noGrp="1"/>
          </p:cNvSpPr>
          <p:nvPr>
            <p:ph idx="1"/>
          </p:nvPr>
        </p:nvSpPr>
        <p:spPr>
          <a:xfrm>
            <a:off x="304800" y="533400"/>
            <a:ext cx="8229600" cy="5867400"/>
          </a:xfrm>
        </p:spPr>
        <p:txBody>
          <a:bodyPr vert="horz" wrap="square" lIns="91440" tIns="45720" rIns="91440" bIns="45720" anchor="t" anchorCtr="0"/>
          <a:lstStyle/>
          <a:p>
            <a:pPr eaLnBrk="1" hangingPunct="1">
              <a:spcAft>
                <a:spcPct val="20000"/>
              </a:spcAft>
              <a:buClr>
                <a:srgbClr val="AC04A0"/>
              </a:buClr>
              <a:buNone/>
            </a:pPr>
            <a:r>
              <a:rPr lang="en-US" altLang="zh-CN" b="1" dirty="0">
                <a:latin typeface="Times New Roman" panose="02020603050405020304" pitchFamily="18" charset="0"/>
                <a:ea typeface="楷体_GB2312" pitchFamily="49" charset="-122"/>
              </a:rPr>
              <a:t> </a:t>
            </a:r>
          </a:p>
          <a:p>
            <a:pPr eaLnBrk="1" hangingPunct="1">
              <a:spcAft>
                <a:spcPct val="20000"/>
              </a:spcAft>
              <a:buClr>
                <a:srgbClr val="AC04A0"/>
              </a:buClr>
              <a:buFont typeface="Wingdings" panose="05000000000000000000" pitchFamily="2" charset="2"/>
              <a:buChar char="Ø"/>
            </a:pPr>
            <a:r>
              <a:rPr lang="en-US" altLang="zh-CN" b="1" dirty="0">
                <a:solidFill>
                  <a:srgbClr val="000000"/>
                </a:solidFill>
                <a:ea typeface="楷体_GB2312" pitchFamily="49" charset="-122"/>
              </a:rPr>
              <a:t>9.2.2</a:t>
            </a:r>
            <a:r>
              <a:rPr lang="zh-CN" altLang="en-US" b="1" dirty="0">
                <a:solidFill>
                  <a:srgbClr val="000000"/>
                </a:solidFill>
                <a:ea typeface="楷体_GB2312" pitchFamily="49" charset="-122"/>
              </a:rPr>
              <a:t>测评框架</a:t>
            </a:r>
            <a:endParaRPr lang="en-US" altLang="zh-CN" b="1" dirty="0">
              <a:solidFill>
                <a:srgbClr val="000000"/>
              </a:solidFill>
              <a:ea typeface="楷体_GB2312" pitchFamily="49" charset="-122"/>
            </a:endParaRPr>
          </a:p>
          <a:p>
            <a:pPr marL="457200" lvl="1" indent="457200" eaLnBrk="1" hangingPunct="1">
              <a:lnSpc>
                <a:spcPct val="150000"/>
              </a:lnSpc>
              <a:buNone/>
            </a:pPr>
            <a:r>
              <a:rPr lang="en-US" altLang="zh-CN" sz="2400" b="1" dirty="0">
                <a:ea typeface="楷体_GB2312" pitchFamily="49" charset="-122"/>
              </a:rPr>
              <a:t> </a:t>
            </a:r>
            <a:r>
              <a:rPr lang="zh-CN" altLang="zh-CN" sz="2400" b="1" dirty="0">
                <a:ea typeface="楷体_GB2312" pitchFamily="49" charset="-122"/>
              </a:rPr>
              <a:t>信息系统安全等级保护测评（以下简称</a:t>
            </a:r>
            <a:r>
              <a:rPr lang="zh-CN" altLang="en-US" sz="2400" b="1" dirty="0">
                <a:ea typeface="楷体_GB2312" pitchFamily="49" charset="-122"/>
              </a:rPr>
              <a:t>等</a:t>
            </a:r>
            <a:r>
              <a:rPr lang="zh-CN" altLang="zh-CN" sz="2400" b="1" dirty="0">
                <a:ea typeface="楷体_GB2312" pitchFamily="49" charset="-122"/>
              </a:rPr>
              <a:t>级测评）的概念性框架由三部分构成：</a:t>
            </a:r>
            <a:r>
              <a:rPr lang="zh-CN" altLang="zh-CN" sz="2400" b="1" dirty="0">
                <a:solidFill>
                  <a:srgbClr val="FF0000"/>
                </a:solidFill>
                <a:ea typeface="楷体_GB2312" pitchFamily="49" charset="-122"/>
              </a:rPr>
              <a:t>测评输入</a:t>
            </a:r>
            <a:r>
              <a:rPr lang="zh-CN" altLang="zh-CN" sz="2400" b="1" dirty="0">
                <a:ea typeface="楷体_GB2312" pitchFamily="49" charset="-122"/>
              </a:rPr>
              <a:t>、</a:t>
            </a:r>
            <a:r>
              <a:rPr lang="zh-CN" altLang="zh-CN" sz="2400" b="1" dirty="0">
                <a:solidFill>
                  <a:srgbClr val="FF0000"/>
                </a:solidFill>
                <a:ea typeface="楷体_GB2312" pitchFamily="49" charset="-122"/>
              </a:rPr>
              <a:t>测评过程</a:t>
            </a:r>
            <a:r>
              <a:rPr lang="zh-CN" altLang="zh-CN" sz="2400" b="1" dirty="0">
                <a:ea typeface="楷体_GB2312" pitchFamily="49" charset="-122"/>
              </a:rPr>
              <a:t>和</a:t>
            </a:r>
            <a:r>
              <a:rPr lang="zh-CN" altLang="zh-CN" sz="2400" b="1" dirty="0">
                <a:solidFill>
                  <a:srgbClr val="FF0000"/>
                </a:solidFill>
                <a:ea typeface="楷体_GB2312" pitchFamily="49" charset="-122"/>
              </a:rPr>
              <a:t>测评输出</a:t>
            </a:r>
            <a:r>
              <a:rPr lang="zh-CN" altLang="zh-CN" sz="2400" b="1" dirty="0">
                <a:ea typeface="楷体_GB2312" pitchFamily="49" charset="-122"/>
              </a:rPr>
              <a:t>。</a:t>
            </a:r>
            <a:endParaRPr lang="en-US" altLang="zh-CN" sz="2400" b="1" dirty="0">
              <a:ea typeface="楷体_GB2312" pitchFamily="49" charset="-122"/>
            </a:endParaRPr>
          </a:p>
          <a:p>
            <a:pPr marL="914400" lvl="2" indent="0" eaLnBrk="1" hangingPunct="1">
              <a:lnSpc>
                <a:spcPct val="150000"/>
              </a:lnSpc>
              <a:buNone/>
            </a:pPr>
            <a:r>
              <a:rPr lang="zh-CN" altLang="en-US" b="1" dirty="0">
                <a:ea typeface="楷体_GB2312" pitchFamily="49" charset="-122"/>
              </a:rPr>
              <a:t>图</a:t>
            </a:r>
            <a:r>
              <a:rPr lang="en-US" altLang="zh-CN" b="1" dirty="0">
                <a:ea typeface="楷体_GB2312" pitchFamily="49" charset="-122"/>
              </a:rPr>
              <a:t>9-1</a:t>
            </a:r>
            <a:r>
              <a:rPr lang="zh-CN" altLang="en-US" b="1" dirty="0">
                <a:ea typeface="楷体_GB2312" pitchFamily="49" charset="-122"/>
              </a:rPr>
              <a:t>给出了框架，如下图：</a:t>
            </a:r>
            <a:endParaRPr lang="en-US" altLang="zh-CN" b="1" dirty="0">
              <a:ea typeface="楷体_GB2312" pitchFamily="49" charset="-122"/>
            </a:endParaRPr>
          </a:p>
          <a:p>
            <a:pPr eaLnBrk="1" hangingPunct="1">
              <a:buNone/>
            </a:pPr>
            <a:endParaRPr lang="zh-CN" altLang="en-US" dirty="0">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2" end="2"/>
                                            </p:txEl>
                                          </p:spTgt>
                                        </p:tgtEl>
                                        <p:attrNameLst>
                                          <p:attrName>style.visibility</p:attrName>
                                        </p:attrNameLst>
                                      </p:cBhvr>
                                      <p:to>
                                        <p:strVal val="visible"/>
                                      </p:to>
                                    </p:set>
                                    <p:animEffect transition="in" filter="fade">
                                      <p:cBhvr>
                                        <p:cTn id="7" dur="2000"/>
                                        <p:tgtEl>
                                          <p:spTgt spid="1945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1" end="1"/>
                                            </p:txEl>
                                          </p:spTgt>
                                        </p:tgtEl>
                                        <p:attrNameLst>
                                          <p:attrName>style.visibility</p:attrName>
                                        </p:attrNameLst>
                                      </p:cBhvr>
                                      <p:to>
                                        <p:strVal val="visible"/>
                                      </p:to>
                                    </p:set>
                                    <p:animEffect transition="in" filter="fade">
                                      <p:cBhvr>
                                        <p:cTn id="12" dur="2000"/>
                                        <p:tgtEl>
                                          <p:spTgt spid="194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fade">
                                      <p:cBhvr>
                                        <p:cTn id="17" dur="2000"/>
                                        <p:tgtEl>
                                          <p:spTgt spid="194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p:txBody>
          <a:bodyPr vert="horz" wrap="square" lIns="91440" tIns="45720" rIns="91440" bIns="45720" anchor="ctr" anchorCtr="0"/>
          <a:lstStyle/>
          <a:p>
            <a:r>
              <a:rPr lang="zh-CN" altLang="en-US" b="1" dirty="0">
                <a:ea typeface="宋体" panose="02010600030101010101" pitchFamily="2" charset="-122"/>
              </a:rPr>
              <a:t>信息系统安全等级测评要求</a:t>
            </a:r>
            <a:endParaRPr lang="zh-CN" altLang="en-US" dirty="0">
              <a:ea typeface="宋体" panose="02010600030101010101" pitchFamily="2" charset="-122"/>
            </a:endParaRPr>
          </a:p>
        </p:txBody>
      </p:sp>
      <p:sp>
        <p:nvSpPr>
          <p:cNvPr id="6" name="矩形 3"/>
          <p:cNvSpPr/>
          <p:nvPr/>
        </p:nvSpPr>
        <p:spPr bwMode="auto">
          <a:xfrm>
            <a:off x="5838825" y="1371600"/>
            <a:ext cx="2466975" cy="3733800"/>
          </a:xfrm>
          <a:prstGeom prst="rect">
            <a:avLst/>
          </a:prstGeom>
          <a:solidFill>
            <a:srgbClr val="FFFFFF"/>
          </a:solidFill>
          <a:ln w="25400">
            <a:solidFill>
              <a:srgbClr val="000000"/>
            </a:solidFill>
            <a:miter lim="800000"/>
          </a:ln>
        </p:spPr>
        <p:txBody>
          <a:bodyPr anchor="ctr"/>
          <a:lstStyle>
            <a:lvl1pPr indent="304800">
              <a:defRPr sz="2600">
                <a:solidFill>
                  <a:srgbClr val="000000"/>
                </a:solidFill>
                <a:latin typeface="Times New Roman" panose="02020603050405020304" pitchFamily="18" charset="0"/>
                <a:ea typeface="宋体" panose="02010600030101010101" pitchFamily="2" charset="-122"/>
              </a:defRPr>
            </a:lvl1pPr>
            <a:lvl2pPr>
              <a:defRPr sz="2600">
                <a:solidFill>
                  <a:srgbClr val="000000"/>
                </a:solidFill>
                <a:latin typeface="Times New Roman" panose="02020603050405020304" pitchFamily="18" charset="0"/>
                <a:ea typeface="宋体" panose="02010600030101010101" pitchFamily="2" charset="-122"/>
              </a:defRPr>
            </a:lvl2pPr>
            <a:lvl3pPr>
              <a:defRPr sz="2600">
                <a:solidFill>
                  <a:srgbClr val="000000"/>
                </a:solidFill>
                <a:latin typeface="Times New Roman" panose="02020603050405020304" pitchFamily="18" charset="0"/>
                <a:ea typeface="宋体" panose="02010600030101010101" pitchFamily="2" charset="-122"/>
              </a:defRPr>
            </a:lvl3pPr>
            <a:lvl4pPr>
              <a:defRPr sz="2600">
                <a:solidFill>
                  <a:srgbClr val="000000"/>
                </a:solidFill>
                <a:latin typeface="Times New Roman" panose="02020603050405020304" pitchFamily="18" charset="0"/>
                <a:ea typeface="宋体" panose="02010600030101010101" pitchFamily="2" charset="-122"/>
              </a:defRPr>
            </a:lvl4pPr>
            <a:lvl5pPr>
              <a:defRPr sz="2600">
                <a:solidFill>
                  <a:srgbClr val="000000"/>
                </a:solidFill>
                <a:latin typeface="Times New Roman" panose="02020603050405020304" pitchFamily="18" charset="0"/>
                <a:ea typeface="宋体" panose="02010600030101010101" pitchFamily="2" charset="-122"/>
              </a:defRPr>
            </a:lvl5pPr>
            <a:lvl6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30480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zh-CN" sz="1800" b="1" i="0" u="none" strike="noStrike" kern="1200" cap="none" spc="0" normalizeH="0" baseline="0" noProof="0" dirty="0" smtClean="0">
                <a:ln>
                  <a:noFill/>
                </a:ln>
                <a:solidFill>
                  <a:srgbClr val="000000"/>
                </a:solidFill>
                <a:effectLst/>
                <a:uLnTx/>
                <a:uFillTx/>
                <a:latin typeface="楷体_GB2312"/>
                <a:ea typeface="宋体" panose="02010600030101010101" pitchFamily="2" charset="-122"/>
                <a:cs typeface="+mn-cs"/>
                <a:sym typeface="+mn-ea"/>
              </a:rPr>
              <a:t>测评规程（步骤）</a:t>
            </a:r>
            <a:r>
              <a:rPr kumimoji="0" lang="en-US" altLang="zh-CN" sz="1800" b="1" i="0" u="none" strike="noStrike" kern="1200" cap="none" spc="0" normalizeH="0" baseline="0" noProof="0" dirty="0" smtClean="0">
                <a:ln>
                  <a:noFill/>
                </a:ln>
                <a:solidFill>
                  <a:srgbClr val="000000"/>
                </a:solidFill>
                <a:effectLst/>
                <a:uLnTx/>
                <a:uFillTx/>
                <a:latin typeface="楷体_GB2312"/>
                <a:ea typeface="宋体" panose="02010600030101010101" pitchFamily="2" charset="-122"/>
                <a:cs typeface="+mn-cs"/>
                <a:sym typeface="+mn-ea"/>
              </a:rPr>
              <a:t> </a:t>
            </a:r>
            <a:endParaRPr kumimoji="0" lang="zh-CN" altLang="zh-CN" sz="1800" b="1" i="0" u="none" strike="noStrike" kern="1200" cap="none" spc="0" normalizeH="0" baseline="0" noProof="0" dirty="0" smtClean="0">
              <a:ln>
                <a:noFill/>
              </a:ln>
              <a:solidFill>
                <a:srgbClr val="000000"/>
              </a:solidFill>
              <a:effectLst/>
              <a:uLnTx/>
              <a:uFillTx/>
              <a:latin typeface="楷体_GB2312"/>
              <a:ea typeface="宋体" panose="02010600030101010101" pitchFamily="2" charset="-122"/>
              <a:cs typeface="+mn-cs"/>
              <a:sym typeface="+mn-ea"/>
            </a:endParaRPr>
          </a:p>
          <a:p>
            <a:pPr marL="0" marR="0" lvl="0" indent="30480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zh-CN" sz="1800" b="1" i="0" u="none" strike="noStrike" kern="1200" cap="none" spc="0" normalizeH="0" baseline="0" noProof="0" dirty="0" smtClean="0">
                <a:ln>
                  <a:noFill/>
                </a:ln>
                <a:solidFill>
                  <a:srgbClr val="000000"/>
                </a:solidFill>
                <a:effectLst/>
                <a:uLnTx/>
                <a:uFillTx/>
                <a:latin typeface="楷体_GB2312"/>
                <a:ea typeface="宋体" panose="02010600030101010101" pitchFamily="2" charset="-122"/>
                <a:cs typeface="+mn-cs"/>
                <a:sym typeface="+mn-ea"/>
              </a:rPr>
              <a:t>访谈规程（步骤）</a:t>
            </a:r>
            <a:r>
              <a:rPr kumimoji="0" lang="en-US" altLang="zh-CN" sz="1800" b="1" i="0" u="none" strike="noStrike" kern="1200" cap="none" spc="0" normalizeH="0" baseline="0" noProof="0" dirty="0" smtClean="0">
                <a:ln>
                  <a:noFill/>
                </a:ln>
                <a:solidFill>
                  <a:srgbClr val="000000"/>
                </a:solidFill>
                <a:effectLst/>
                <a:uLnTx/>
                <a:uFillTx/>
                <a:latin typeface="楷体_GB2312"/>
                <a:ea typeface="宋体" panose="02010600030101010101" pitchFamily="2" charset="-122"/>
                <a:cs typeface="+mn-cs"/>
                <a:sym typeface="+mn-ea"/>
              </a:rPr>
              <a:t> </a:t>
            </a:r>
            <a:endParaRPr kumimoji="0" lang="zh-CN" altLang="zh-CN" sz="1800" b="1" i="0" u="none" strike="noStrike" kern="1200" cap="none" spc="0" normalizeH="0" baseline="0" noProof="0" dirty="0" smtClean="0">
              <a:ln>
                <a:noFill/>
              </a:ln>
              <a:solidFill>
                <a:srgbClr val="000000"/>
              </a:solidFill>
              <a:effectLst/>
              <a:uLnTx/>
              <a:uFillTx/>
              <a:latin typeface="楷体_GB2312"/>
              <a:ea typeface="宋体" panose="02010600030101010101" pitchFamily="2" charset="-122"/>
              <a:cs typeface="+mn-cs"/>
              <a:sym typeface="+mn-ea"/>
            </a:endParaRPr>
          </a:p>
          <a:p>
            <a:pPr marL="0" marR="0" lvl="0" indent="30480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zh-CN" sz="1800" b="1" i="0" u="none" strike="noStrike" kern="1200" cap="none" spc="0" normalizeH="0" baseline="0" noProof="0" dirty="0" smtClean="0">
                <a:ln>
                  <a:noFill/>
                </a:ln>
                <a:solidFill>
                  <a:srgbClr val="000000"/>
                </a:solidFill>
                <a:effectLst/>
                <a:uLnTx/>
                <a:uFillTx/>
                <a:latin typeface="楷体_GB2312"/>
                <a:ea typeface="宋体" panose="02010600030101010101" pitchFamily="2" charset="-122"/>
                <a:cs typeface="+mn-cs"/>
                <a:sym typeface="+mn-ea"/>
              </a:rPr>
              <a:t>检查规程（步骤）</a:t>
            </a:r>
            <a:r>
              <a:rPr kumimoji="0" lang="en-US" altLang="zh-CN" sz="1800" b="1" i="0" u="none" strike="noStrike" kern="1200" cap="none" spc="0" normalizeH="0" baseline="0" noProof="0" dirty="0" smtClean="0">
                <a:ln>
                  <a:noFill/>
                </a:ln>
                <a:solidFill>
                  <a:srgbClr val="000000"/>
                </a:solidFill>
                <a:effectLst/>
                <a:uLnTx/>
                <a:uFillTx/>
                <a:latin typeface="楷体_GB2312"/>
                <a:ea typeface="宋体" panose="02010600030101010101" pitchFamily="2" charset="-122"/>
                <a:cs typeface="+mn-cs"/>
                <a:sym typeface="+mn-ea"/>
              </a:rPr>
              <a:t> </a:t>
            </a:r>
            <a:endParaRPr kumimoji="0" lang="zh-CN" altLang="zh-CN" sz="1800" b="1" i="0" u="none" strike="noStrike" kern="1200" cap="none" spc="0" normalizeH="0" baseline="0" noProof="0" dirty="0" smtClean="0">
              <a:ln>
                <a:noFill/>
              </a:ln>
              <a:solidFill>
                <a:srgbClr val="000000"/>
              </a:solidFill>
              <a:effectLst/>
              <a:uLnTx/>
              <a:uFillTx/>
              <a:latin typeface="楷体_GB2312"/>
              <a:ea typeface="宋体" panose="02010600030101010101" pitchFamily="2" charset="-122"/>
              <a:cs typeface="+mn-cs"/>
              <a:sym typeface="+mn-ea"/>
            </a:endParaRPr>
          </a:p>
          <a:p>
            <a:pPr marL="0" marR="0" lvl="0" indent="30480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zh-CN" sz="1800" b="1" i="0" u="none" strike="noStrike" kern="1200" cap="none" spc="0" normalizeH="0" baseline="0" noProof="0" dirty="0" smtClean="0">
                <a:ln>
                  <a:noFill/>
                </a:ln>
                <a:solidFill>
                  <a:srgbClr val="000000"/>
                </a:solidFill>
                <a:effectLst/>
                <a:uLnTx/>
                <a:uFillTx/>
                <a:latin typeface="楷体_GB2312"/>
                <a:ea typeface="宋体" panose="02010600030101010101" pitchFamily="2" charset="-122"/>
                <a:cs typeface="+mn-cs"/>
                <a:sym typeface="+mn-ea"/>
              </a:rPr>
              <a:t>测试规程（步骤）</a:t>
            </a:r>
            <a:endParaRPr kumimoji="0" lang="en-US" altLang="zh-CN" sz="1800" b="1" i="0" u="none" strike="noStrike" kern="1200" cap="none" spc="0" normalizeH="0" baseline="0" noProof="0" dirty="0" smtClean="0">
              <a:ln>
                <a:noFill/>
              </a:ln>
              <a:solidFill>
                <a:srgbClr val="000000"/>
              </a:solidFill>
              <a:effectLst/>
              <a:uLnTx/>
              <a:uFillTx/>
              <a:latin typeface="楷体_GB2312"/>
              <a:ea typeface="宋体" panose="02010600030101010101" pitchFamily="2" charset="-122"/>
              <a:cs typeface="+mn-cs"/>
              <a:sym typeface="+mn-ea"/>
            </a:endParaRPr>
          </a:p>
          <a:p>
            <a:pPr marL="0" marR="0" lvl="0" indent="30480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1" i="0" u="none" strike="noStrike" kern="1200" cap="none" spc="0" normalizeH="0" baseline="0" noProof="0" dirty="0" smtClean="0">
                <a:ln>
                  <a:noFill/>
                </a:ln>
                <a:solidFill>
                  <a:srgbClr val="000000"/>
                </a:solidFill>
                <a:effectLst/>
                <a:uLnTx/>
                <a:uFillTx/>
                <a:latin typeface="楷体_GB2312"/>
                <a:ea typeface="宋体" panose="02010600030101010101" pitchFamily="2" charset="-122"/>
                <a:cs typeface="+mn-cs"/>
                <a:sym typeface="+mn-ea"/>
              </a:rPr>
              <a:t>     ……</a:t>
            </a:r>
            <a:endParaRPr kumimoji="0" lang="zh-CN" altLang="zh-CN" sz="1800" b="1" i="0" u="none" strike="noStrike" kern="1200" cap="none" spc="0" normalizeH="0" baseline="0" noProof="0" dirty="0" smtClean="0">
              <a:ln>
                <a:noFill/>
              </a:ln>
              <a:solidFill>
                <a:srgbClr val="000000"/>
              </a:solidFill>
              <a:effectLst/>
              <a:uLnTx/>
              <a:uFillTx/>
              <a:latin typeface="楷体_GB2312"/>
              <a:ea typeface="宋体" panose="02010600030101010101" pitchFamily="2" charset="-122"/>
              <a:cs typeface="+mn-cs"/>
              <a:sym typeface="+mn-ea"/>
            </a:endParaRPr>
          </a:p>
          <a:p>
            <a:pPr marL="0" marR="0" lvl="0" indent="30480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zh-CN" altLang="zh-CN" sz="1800" b="1" i="0" u="none" strike="noStrike" kern="1200" cap="none" spc="0" normalizeH="0" baseline="0" noProof="0" dirty="0" smtClean="0">
                <a:ln>
                  <a:noFill/>
                </a:ln>
                <a:solidFill>
                  <a:srgbClr val="000000"/>
                </a:solidFill>
                <a:effectLst/>
                <a:uLnTx/>
                <a:uFillTx/>
                <a:latin typeface="楷体_GB2312"/>
                <a:ea typeface="宋体" panose="02010600030101010101" pitchFamily="2" charset="-122"/>
                <a:cs typeface="+mn-cs"/>
                <a:sym typeface="+mn-ea"/>
              </a:rPr>
              <a:t>规程（步骤）说明</a:t>
            </a:r>
          </a:p>
          <a:p>
            <a:pPr marL="0" marR="0" lvl="0" indent="12700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zh-CN" altLang="en-US" sz="1800" b="1" i="0" u="none" strike="noStrike" kern="1200" cap="none" spc="0" normalizeH="0" baseline="0" noProof="0" dirty="0" smtClean="0">
              <a:ln>
                <a:noFill/>
              </a:ln>
              <a:solidFill>
                <a:srgbClr val="000000"/>
              </a:solidFill>
              <a:effectLst/>
              <a:uLnTx/>
              <a:uFillTx/>
              <a:latin typeface="楷体_GB2312"/>
              <a:ea typeface="宋体" panose="02010600030101010101" pitchFamily="2" charset="-122"/>
              <a:cs typeface="+mn-cs"/>
              <a:sym typeface="+mn-ea"/>
            </a:endParaRPr>
          </a:p>
        </p:txBody>
      </p:sp>
      <p:sp>
        <p:nvSpPr>
          <p:cNvPr id="11268" name="右箭头 5"/>
          <p:cNvSpPr/>
          <p:nvPr/>
        </p:nvSpPr>
        <p:spPr>
          <a:xfrm>
            <a:off x="5257800" y="2720975"/>
            <a:ext cx="352425" cy="257175"/>
          </a:xfrm>
          <a:prstGeom prst="rightArrow">
            <a:avLst>
              <a:gd name="adj1" fmla="val 50000"/>
              <a:gd name="adj2" fmla="val 49993"/>
            </a:avLst>
          </a:prstGeom>
          <a:solidFill>
            <a:srgbClr val="FFFFFF"/>
          </a:solidFill>
          <a:ln w="25400" cap="flat" cmpd="sng">
            <a:solidFill>
              <a:srgbClr val="000000"/>
            </a:solidFill>
            <a:prstDash val="solid"/>
            <a:miter/>
            <a:headEnd type="none" w="med" len="med"/>
            <a:tailEnd type="none" w="med" len="med"/>
          </a:ln>
        </p:spPr>
        <p:txBody>
          <a:bodyPr anchor="ctr" anchorCtr="0"/>
          <a:lstStyle/>
          <a:p>
            <a:pPr eaLnBrk="1" hangingPunct="1">
              <a:spcBef>
                <a:spcPct val="50000"/>
              </a:spcBef>
            </a:pPr>
            <a:endParaRPr lang="zh-CN" altLang="en-US" dirty="0">
              <a:latin typeface="Times New Roman" panose="02020603050405020304" pitchFamily="18" charset="0"/>
            </a:endParaRPr>
          </a:p>
        </p:txBody>
      </p:sp>
      <p:sp>
        <p:nvSpPr>
          <p:cNvPr id="8" name="矩形 1"/>
          <p:cNvSpPr/>
          <p:nvPr/>
        </p:nvSpPr>
        <p:spPr bwMode="auto">
          <a:xfrm rot="10800000" flipV="1">
            <a:off x="685800" y="1905000"/>
            <a:ext cx="1295400" cy="2286000"/>
          </a:xfrm>
          <a:prstGeom prst="rect">
            <a:avLst/>
          </a:prstGeom>
          <a:solidFill>
            <a:srgbClr val="FFFFFF"/>
          </a:solidFill>
          <a:ln w="25400">
            <a:solidFill>
              <a:srgbClr val="000000"/>
            </a:solidFill>
            <a:miter lim="800000"/>
          </a:ln>
        </p:spPr>
        <p:txBody>
          <a:bodyPr anchor="ctr"/>
          <a:lstStyle>
            <a:lvl1pPr indent="266700">
              <a:defRPr sz="2600">
                <a:solidFill>
                  <a:srgbClr val="000000"/>
                </a:solidFill>
                <a:latin typeface="Times New Roman" panose="02020603050405020304" pitchFamily="18" charset="0"/>
                <a:ea typeface="宋体" panose="02010600030101010101" pitchFamily="2" charset="-122"/>
              </a:defRPr>
            </a:lvl1pPr>
            <a:lvl2pPr>
              <a:defRPr sz="2600">
                <a:solidFill>
                  <a:srgbClr val="000000"/>
                </a:solidFill>
                <a:latin typeface="Times New Roman" panose="02020603050405020304" pitchFamily="18" charset="0"/>
                <a:ea typeface="宋体" panose="02010600030101010101" pitchFamily="2" charset="-122"/>
              </a:defRPr>
            </a:lvl2pPr>
            <a:lvl3pPr>
              <a:defRPr sz="2600">
                <a:solidFill>
                  <a:srgbClr val="000000"/>
                </a:solidFill>
                <a:latin typeface="Times New Roman" panose="02020603050405020304" pitchFamily="18" charset="0"/>
                <a:ea typeface="宋体" panose="02010600030101010101" pitchFamily="2" charset="-122"/>
              </a:defRPr>
            </a:lvl3pPr>
            <a:lvl4pPr>
              <a:defRPr sz="2600">
                <a:solidFill>
                  <a:srgbClr val="000000"/>
                </a:solidFill>
                <a:latin typeface="Times New Roman" panose="02020603050405020304" pitchFamily="18" charset="0"/>
                <a:ea typeface="宋体" panose="02010600030101010101" pitchFamily="2" charset="-122"/>
              </a:defRPr>
            </a:lvl4pPr>
            <a:lvl5pPr>
              <a:defRPr sz="2600">
                <a:solidFill>
                  <a:srgbClr val="000000"/>
                </a:solidFill>
                <a:latin typeface="Times New Roman" panose="02020603050405020304" pitchFamily="18" charset="0"/>
                <a:ea typeface="宋体" panose="02010600030101010101" pitchFamily="2" charset="-122"/>
              </a:defRPr>
            </a:lvl5pPr>
            <a:lvl6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ts val="0"/>
              </a:spcBef>
              <a:spcAft>
                <a:spcPct val="0"/>
              </a:spcAft>
              <a:buClrTx/>
              <a:buSzTx/>
              <a:buFont typeface="Arial" panose="020B0604020202020204" pitchFamily="34" charset="0"/>
              <a:buNone/>
              <a:defRPr/>
            </a:pPr>
            <a:endParaRPr kumimoji="0" lang="en-US" altLang="zh-CN" sz="1800" b="1" i="0" u="none" strike="noStrike" kern="1200" cap="none" spc="0" normalizeH="0" baseline="0" noProof="0" dirty="0" smtClean="0">
              <a:ln>
                <a:noFill/>
              </a:ln>
              <a:solidFill>
                <a:srgbClr val="000000"/>
              </a:solidFill>
              <a:effectLst/>
              <a:uLnTx/>
              <a:uFillTx/>
              <a:latin typeface="楷体_GB2312"/>
              <a:ea typeface="宋体" panose="02010600030101010101" pitchFamily="2" charset="-122"/>
              <a:cs typeface="+mn-cs"/>
              <a:sym typeface="+mn-ea"/>
            </a:endParaRPr>
          </a:p>
          <a:p>
            <a:pPr marL="0" marR="0" lvl="0" indent="0" algn="l" defTabSz="914400" rtl="0" eaLnBrk="1" fontAlgn="base" latinLnBrk="0" hangingPunct="1">
              <a:lnSpc>
                <a:spcPct val="100000"/>
              </a:lnSpc>
              <a:spcBef>
                <a:spcPts val="0"/>
              </a:spcBef>
              <a:spcAft>
                <a:spcPct val="0"/>
              </a:spcAft>
              <a:buClrTx/>
              <a:buSzTx/>
              <a:buFont typeface="Arial" panose="020B0604020202020204" pitchFamily="34" charset="0"/>
              <a:buNone/>
              <a:defRPr/>
            </a:pPr>
            <a:r>
              <a:rPr kumimoji="0" lang="en-US" altLang="zh-CN" sz="1800" b="1" i="0" u="none" strike="noStrike" kern="1200" cap="none" spc="0" normalizeH="0" baseline="0" noProof="0" dirty="0" smtClean="0">
                <a:ln>
                  <a:noFill/>
                </a:ln>
                <a:solidFill>
                  <a:srgbClr val="000000"/>
                </a:solidFill>
                <a:effectLst/>
                <a:uLnTx/>
                <a:uFillTx/>
                <a:latin typeface="楷体_GB2312"/>
                <a:ea typeface="宋体" panose="02010600030101010101" pitchFamily="2" charset="-122"/>
                <a:cs typeface="+mn-cs"/>
                <a:sym typeface="+mn-ea"/>
              </a:rPr>
              <a:t>GB/T22239-2008</a:t>
            </a:r>
            <a:r>
              <a:rPr kumimoji="0" lang="zh-CN" altLang="zh-CN" sz="1800" b="1" i="0" u="none" strike="noStrike" kern="1200" cap="none" spc="0" normalizeH="0" baseline="0" noProof="0" dirty="0" smtClean="0">
                <a:ln>
                  <a:noFill/>
                </a:ln>
                <a:solidFill>
                  <a:srgbClr val="000000"/>
                </a:solidFill>
                <a:effectLst/>
                <a:uLnTx/>
                <a:uFillTx/>
                <a:latin typeface="楷体_GB2312"/>
                <a:ea typeface="宋体" panose="02010600030101010101" pitchFamily="2" charset="-122"/>
                <a:cs typeface="+mn-cs"/>
                <a:sym typeface="+mn-ea"/>
              </a:rPr>
              <a:t>第四级目录</a:t>
            </a:r>
            <a:endParaRPr kumimoji="0" lang="en-US" altLang="zh-CN" sz="1800" b="1" i="0" u="none" strike="noStrike" kern="1200" cap="none" spc="0" normalizeH="0" baseline="0" noProof="0" dirty="0" smtClean="0">
              <a:ln>
                <a:noFill/>
              </a:ln>
              <a:solidFill>
                <a:srgbClr val="000000"/>
              </a:solidFill>
              <a:effectLst/>
              <a:uLnTx/>
              <a:uFillTx/>
              <a:latin typeface="楷体_GB2312"/>
              <a:ea typeface="宋体" panose="02010600030101010101" pitchFamily="2" charset="-122"/>
              <a:cs typeface="+mn-cs"/>
              <a:sym typeface="+mn-ea"/>
            </a:endParaRPr>
          </a:p>
          <a:p>
            <a:pPr marL="0" marR="0" lvl="0" indent="0" algn="l" defTabSz="914400" rtl="0" eaLnBrk="1" fontAlgn="base" latinLnBrk="0" hangingPunct="1">
              <a:lnSpc>
                <a:spcPct val="100000"/>
              </a:lnSpc>
              <a:spcBef>
                <a:spcPts val="0"/>
              </a:spcBef>
              <a:spcAft>
                <a:spcPct val="0"/>
              </a:spcAft>
              <a:buClrTx/>
              <a:buSzTx/>
              <a:buFont typeface="Arial" panose="020B0604020202020204" pitchFamily="34" charset="0"/>
              <a:buNone/>
              <a:defRPr/>
            </a:pPr>
            <a:endParaRPr kumimoji="0" lang="en-US" altLang="zh-CN" sz="1800" b="1" i="0" u="none" strike="noStrike" kern="1200" cap="none" spc="0" normalizeH="0" baseline="0" noProof="0" dirty="0" smtClean="0">
              <a:ln>
                <a:noFill/>
              </a:ln>
              <a:solidFill>
                <a:srgbClr val="000000"/>
              </a:solidFill>
              <a:effectLst/>
              <a:uLnTx/>
              <a:uFillTx/>
              <a:latin typeface="楷体_GB2312"/>
              <a:ea typeface="宋体" panose="02010600030101010101" pitchFamily="2" charset="-122"/>
              <a:cs typeface="+mn-cs"/>
              <a:sym typeface="+mn-ea"/>
            </a:endParaRPr>
          </a:p>
          <a:p>
            <a:pPr marL="0" marR="0" lvl="0" indent="0" algn="l" defTabSz="914400" rtl="0" eaLnBrk="1" fontAlgn="base" latinLnBrk="0" hangingPunct="1">
              <a:lnSpc>
                <a:spcPct val="100000"/>
              </a:lnSpc>
              <a:spcBef>
                <a:spcPts val="0"/>
              </a:spcBef>
              <a:spcAft>
                <a:spcPct val="0"/>
              </a:spcAft>
              <a:buClrTx/>
              <a:buSzTx/>
              <a:buFont typeface="Arial" panose="020B0604020202020204" pitchFamily="34" charset="0"/>
              <a:buNone/>
              <a:defRPr/>
            </a:pPr>
            <a:r>
              <a:rPr kumimoji="0" lang="zh-CN" altLang="zh-CN" sz="1800" b="1" i="0" u="none" strike="noStrike" kern="1200" cap="none" spc="0" normalizeH="0" baseline="0" noProof="0" dirty="0" smtClean="0">
                <a:ln>
                  <a:noFill/>
                </a:ln>
                <a:solidFill>
                  <a:srgbClr val="000000"/>
                </a:solidFill>
                <a:effectLst/>
                <a:uLnTx/>
                <a:uFillTx/>
                <a:latin typeface="楷体_GB2312"/>
                <a:ea typeface="宋体" panose="02010600030101010101" pitchFamily="2" charset="-122"/>
                <a:cs typeface="+mn-cs"/>
                <a:sym typeface="+mn-ea"/>
              </a:rPr>
              <a:t>信息系统的安全保护等级</a:t>
            </a:r>
          </a:p>
          <a:p>
            <a:pPr marL="0" marR="0" lvl="0" indent="266700" algn="l" defTabSz="914400" rtl="0" eaLnBrk="0" fontAlgn="base" latinLnBrk="0" hangingPunct="0">
              <a:lnSpc>
                <a:spcPct val="100000"/>
              </a:lnSpc>
              <a:spcBef>
                <a:spcPct val="0"/>
              </a:spcBef>
              <a:spcAft>
                <a:spcPct val="0"/>
              </a:spcAft>
              <a:buClrTx/>
              <a:buSzTx/>
              <a:buFontTx/>
              <a:buNone/>
              <a:defRPr/>
            </a:pPr>
            <a:endParaRPr kumimoji="0" lang="zh-CN" altLang="en-US" sz="2600" b="0" i="0" u="none" strike="noStrike" kern="120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mn-cs"/>
              <a:sym typeface="+mn-ea"/>
            </a:endParaRPr>
          </a:p>
        </p:txBody>
      </p:sp>
      <p:sp>
        <p:nvSpPr>
          <p:cNvPr id="11270" name="右箭头 6"/>
          <p:cNvSpPr/>
          <p:nvPr/>
        </p:nvSpPr>
        <p:spPr>
          <a:xfrm>
            <a:off x="2209800" y="2735263"/>
            <a:ext cx="495300" cy="228600"/>
          </a:xfrm>
          <a:prstGeom prst="rightArrow">
            <a:avLst>
              <a:gd name="adj1" fmla="val 50000"/>
              <a:gd name="adj2" fmla="val 49993"/>
            </a:avLst>
          </a:prstGeom>
          <a:solidFill>
            <a:srgbClr val="FFFFFF"/>
          </a:solidFill>
          <a:ln w="25400" cap="flat" cmpd="sng">
            <a:solidFill>
              <a:srgbClr val="000000"/>
            </a:solidFill>
            <a:prstDash val="solid"/>
            <a:miter/>
            <a:headEnd type="none" w="med" len="med"/>
            <a:tailEnd type="none" w="med" len="med"/>
          </a:ln>
        </p:spPr>
        <p:txBody>
          <a:bodyPr anchor="ctr" anchorCtr="0"/>
          <a:lstStyle/>
          <a:p>
            <a:pPr eaLnBrk="1" hangingPunct="1">
              <a:spcBef>
                <a:spcPct val="50000"/>
              </a:spcBef>
            </a:pPr>
            <a:endParaRPr lang="zh-CN" altLang="en-US" dirty="0">
              <a:latin typeface="Times New Roman" panose="02020603050405020304" pitchFamily="18" charset="0"/>
            </a:endParaRPr>
          </a:p>
        </p:txBody>
      </p:sp>
      <p:sp>
        <p:nvSpPr>
          <p:cNvPr id="13319" name="矩形 2"/>
          <p:cNvSpPr/>
          <p:nvPr/>
        </p:nvSpPr>
        <p:spPr>
          <a:xfrm>
            <a:off x="2933700" y="1371600"/>
            <a:ext cx="2095500" cy="3733800"/>
          </a:xfrm>
          <a:prstGeom prst="rect">
            <a:avLst/>
          </a:prstGeom>
          <a:solidFill>
            <a:srgbClr val="FFFFFF"/>
          </a:solidFill>
          <a:ln w="25400" cap="flat" cmpd="sng">
            <a:solidFill>
              <a:srgbClr val="000000"/>
            </a:solidFill>
            <a:prstDash val="solid"/>
            <a:miter/>
            <a:headEnd type="none" w="med" len="med"/>
            <a:tailEnd type="none" w="med" len="med"/>
          </a:ln>
        </p:spPr>
        <p:txBody>
          <a:bodyPr anchor="ctr" anchorCtr="0"/>
          <a:lstStyle/>
          <a:p>
            <a:pPr indent="304800" eaLnBrk="1" hangingPunct="1">
              <a:spcBef>
                <a:spcPts val="600"/>
              </a:spcBef>
            </a:pPr>
            <a:r>
              <a:rPr lang="zh-CN" altLang="zh-CN" sz="1800" b="1" dirty="0">
                <a:latin typeface="楷体_GB2312" pitchFamily="49" charset="-122"/>
              </a:rPr>
              <a:t>测评方法</a:t>
            </a:r>
          </a:p>
          <a:p>
            <a:pPr lvl="1" eaLnBrk="1" hangingPunct="1">
              <a:spcBef>
                <a:spcPts val="600"/>
              </a:spcBef>
            </a:pPr>
            <a:r>
              <a:rPr lang="zh-CN" altLang="zh-CN" sz="1400" b="1" dirty="0">
                <a:latin typeface="楷体_GB2312" pitchFamily="49" charset="-122"/>
              </a:rPr>
              <a:t>访谈</a:t>
            </a:r>
          </a:p>
          <a:p>
            <a:pPr lvl="1" eaLnBrk="1" hangingPunct="1">
              <a:spcBef>
                <a:spcPts val="600"/>
              </a:spcBef>
            </a:pPr>
            <a:r>
              <a:rPr lang="zh-CN" altLang="zh-CN" sz="1400" b="1" dirty="0">
                <a:latin typeface="楷体_GB2312" pitchFamily="49" charset="-122"/>
              </a:rPr>
              <a:t>检查</a:t>
            </a:r>
          </a:p>
          <a:p>
            <a:pPr lvl="1" eaLnBrk="1" hangingPunct="1">
              <a:spcBef>
                <a:spcPts val="600"/>
              </a:spcBef>
            </a:pPr>
            <a:r>
              <a:rPr lang="zh-CN" altLang="zh-CN" sz="1400" b="1" dirty="0">
                <a:latin typeface="楷体_GB2312" pitchFamily="49" charset="-122"/>
              </a:rPr>
              <a:t>测试</a:t>
            </a:r>
            <a:r>
              <a:rPr lang="en-US" altLang="zh-CN" sz="1400" b="1" dirty="0">
                <a:latin typeface="楷体_GB2312" pitchFamily="49" charset="-122"/>
              </a:rPr>
              <a:t> </a:t>
            </a:r>
          </a:p>
          <a:p>
            <a:pPr indent="304800" eaLnBrk="1" hangingPunct="1">
              <a:spcBef>
                <a:spcPts val="600"/>
              </a:spcBef>
            </a:pPr>
            <a:endParaRPr lang="zh-CN" altLang="zh-CN" sz="1800" b="1" dirty="0">
              <a:latin typeface="楷体_GB2312" pitchFamily="49" charset="-122"/>
            </a:endParaRPr>
          </a:p>
          <a:p>
            <a:pPr indent="304800" eaLnBrk="1" hangingPunct="1">
              <a:spcBef>
                <a:spcPts val="600"/>
              </a:spcBef>
            </a:pPr>
            <a:r>
              <a:rPr lang="zh-CN" altLang="zh-CN" sz="1800" b="1" dirty="0">
                <a:latin typeface="楷体_GB2312" pitchFamily="49" charset="-122"/>
              </a:rPr>
              <a:t>测评对象</a:t>
            </a:r>
          </a:p>
          <a:p>
            <a:pPr indent="304800" eaLnBrk="1" hangingPunct="1">
              <a:spcBef>
                <a:spcPts val="600"/>
              </a:spcBef>
            </a:pPr>
            <a:r>
              <a:rPr lang="zh-CN" altLang="zh-CN" sz="1400" b="1" dirty="0">
                <a:latin typeface="楷体_GB2312" pitchFamily="49" charset="-122"/>
              </a:rPr>
              <a:t>制度文档</a:t>
            </a:r>
          </a:p>
          <a:p>
            <a:pPr indent="304800" eaLnBrk="1" hangingPunct="1">
              <a:spcBef>
                <a:spcPts val="600"/>
              </a:spcBef>
            </a:pPr>
            <a:r>
              <a:rPr lang="zh-CN" altLang="zh-CN" sz="1400" b="1" dirty="0">
                <a:latin typeface="楷体_GB2312" pitchFamily="49" charset="-122"/>
              </a:rPr>
              <a:t>各类设备</a:t>
            </a:r>
          </a:p>
          <a:p>
            <a:pPr indent="304800" eaLnBrk="1" hangingPunct="1">
              <a:spcBef>
                <a:spcPts val="600"/>
              </a:spcBef>
            </a:pPr>
            <a:r>
              <a:rPr lang="zh-CN" altLang="zh-CN" sz="1400" b="1" dirty="0">
                <a:latin typeface="楷体_GB2312" pitchFamily="49" charset="-122"/>
              </a:rPr>
              <a:t>安全配置</a:t>
            </a:r>
          </a:p>
          <a:p>
            <a:pPr indent="304800" eaLnBrk="1" hangingPunct="1">
              <a:spcBef>
                <a:spcPts val="600"/>
              </a:spcBef>
            </a:pPr>
            <a:r>
              <a:rPr lang="zh-CN" altLang="zh-CN" sz="1400" b="1" dirty="0">
                <a:latin typeface="楷体_GB2312" pitchFamily="49" charset="-122"/>
              </a:rPr>
              <a:t>相关人员</a:t>
            </a:r>
            <a:endParaRPr lang="zh-CN" altLang="en-US" sz="1400" b="1" dirty="0">
              <a:latin typeface="楷体_GB2312" pitchFamily="49" charset="-122"/>
            </a:endParaRPr>
          </a:p>
        </p:txBody>
      </p:sp>
      <p:sp>
        <p:nvSpPr>
          <p:cNvPr id="11272" name="Rectangle 13"/>
          <p:cNvSpPr/>
          <p:nvPr/>
        </p:nvSpPr>
        <p:spPr>
          <a:xfrm>
            <a:off x="-34925" y="1143000"/>
            <a:ext cx="9144000" cy="0"/>
          </a:xfrm>
          <a:prstGeom prst="rect">
            <a:avLst/>
          </a:prstGeom>
          <a:noFill/>
          <a:ln w="9525">
            <a:noFill/>
          </a:ln>
        </p:spPr>
        <p:txBody>
          <a:bodyPr wrap="none" anchor="ctr" anchorCtr="0">
            <a:spAutoFit/>
          </a:bodyPr>
          <a:lstStyle/>
          <a:p>
            <a:pPr eaLnBrk="1" hangingPunct="1">
              <a:spcBef>
                <a:spcPct val="50000"/>
              </a:spcBef>
            </a:pPr>
            <a:endParaRPr lang="zh-CN" altLang="en-US" dirty="0">
              <a:latin typeface="Times New Roman" panose="02020603050405020304" pitchFamily="18" charset="0"/>
            </a:endParaRPr>
          </a:p>
        </p:txBody>
      </p:sp>
      <p:sp>
        <p:nvSpPr>
          <p:cNvPr id="11273" name="文本框 13"/>
          <p:cNvSpPr txBox="1"/>
          <p:nvPr/>
        </p:nvSpPr>
        <p:spPr>
          <a:xfrm>
            <a:off x="2682875" y="6019800"/>
            <a:ext cx="2597150" cy="523875"/>
          </a:xfrm>
          <a:prstGeom prst="rect">
            <a:avLst/>
          </a:prstGeom>
          <a:noFill/>
          <a:ln w="9525">
            <a:noFill/>
          </a:ln>
        </p:spPr>
        <p:txBody>
          <a:bodyPr>
            <a:spAutoFit/>
          </a:bodyPr>
          <a:lstStyle/>
          <a:p>
            <a:pPr eaLnBrk="1" hangingPunct="1">
              <a:spcBef>
                <a:spcPct val="50000"/>
              </a:spcBef>
            </a:pPr>
            <a:r>
              <a:rPr lang="zh-CN" altLang="zh-CN" sz="2800" b="1" dirty="0">
                <a:latin typeface="Times New Roman" panose="02020603050405020304" pitchFamily="18" charset="0"/>
                <a:ea typeface="楷体_GB2312" pitchFamily="49" charset="-122"/>
              </a:rPr>
              <a:t>图</a:t>
            </a:r>
            <a:r>
              <a:rPr lang="en-US" altLang="zh-CN" sz="2800" b="1" dirty="0">
                <a:latin typeface="Times New Roman" panose="02020603050405020304" pitchFamily="18" charset="0"/>
                <a:ea typeface="楷体_GB2312" pitchFamily="49" charset="-122"/>
              </a:rPr>
              <a:t>9-1 </a:t>
            </a:r>
            <a:r>
              <a:rPr lang="zh-CN" altLang="zh-CN" sz="2800" b="1" dirty="0">
                <a:latin typeface="Times New Roman" panose="02020603050405020304" pitchFamily="18" charset="0"/>
                <a:ea typeface="楷体_GB2312" pitchFamily="49" charset="-122"/>
              </a:rPr>
              <a:t>测评框架</a:t>
            </a:r>
            <a:endParaRPr lang="zh-CN" altLang="en-US" dirty="0">
              <a:latin typeface="Times New Roman" panose="02020603050405020304" pitchFamily="18" charset="0"/>
            </a:endParaRPr>
          </a:p>
        </p:txBody>
      </p:sp>
      <p:sp>
        <p:nvSpPr>
          <p:cNvPr id="11274" name="文本框 14"/>
          <p:cNvSpPr txBox="1"/>
          <p:nvPr/>
        </p:nvSpPr>
        <p:spPr>
          <a:xfrm>
            <a:off x="609600" y="5262563"/>
            <a:ext cx="1295400" cy="492125"/>
          </a:xfrm>
          <a:prstGeom prst="rect">
            <a:avLst/>
          </a:prstGeom>
          <a:noFill/>
          <a:ln w="9525">
            <a:noFill/>
          </a:ln>
        </p:spPr>
        <p:txBody>
          <a:bodyPr>
            <a:spAutoFit/>
          </a:bodyPr>
          <a:lstStyle/>
          <a:p>
            <a:pPr eaLnBrk="1" hangingPunct="1">
              <a:spcBef>
                <a:spcPct val="50000"/>
              </a:spcBef>
            </a:pPr>
            <a:endParaRPr lang="zh-CN" altLang="en-US" dirty="0">
              <a:latin typeface="Times New Roman" panose="02020603050405020304" pitchFamily="18" charset="0"/>
            </a:endParaRPr>
          </a:p>
        </p:txBody>
      </p:sp>
      <p:sp>
        <p:nvSpPr>
          <p:cNvPr id="11275" name="文本框 15"/>
          <p:cNvSpPr txBox="1"/>
          <p:nvPr/>
        </p:nvSpPr>
        <p:spPr>
          <a:xfrm>
            <a:off x="552450" y="5257800"/>
            <a:ext cx="1562100" cy="461963"/>
          </a:xfrm>
          <a:prstGeom prst="rect">
            <a:avLst/>
          </a:prstGeom>
          <a:noFill/>
          <a:ln w="9525">
            <a:noFill/>
          </a:ln>
        </p:spPr>
        <p:txBody>
          <a:bodyPr>
            <a:spAutoFit/>
          </a:bodyPr>
          <a:lstStyle/>
          <a:p>
            <a:pPr eaLnBrk="1" hangingPunct="1">
              <a:spcBef>
                <a:spcPct val="50000"/>
              </a:spcBef>
            </a:pPr>
            <a:r>
              <a:rPr lang="zh-CN" altLang="en-US" sz="2400" b="1" dirty="0">
                <a:latin typeface="Times New Roman" panose="02020603050405020304" pitchFamily="18" charset="0"/>
              </a:rPr>
              <a:t>测评输入</a:t>
            </a:r>
          </a:p>
        </p:txBody>
      </p:sp>
      <p:sp>
        <p:nvSpPr>
          <p:cNvPr id="11276" name="文本框 16"/>
          <p:cNvSpPr txBox="1"/>
          <p:nvPr/>
        </p:nvSpPr>
        <p:spPr>
          <a:xfrm>
            <a:off x="3200400" y="5262563"/>
            <a:ext cx="1562100" cy="461962"/>
          </a:xfrm>
          <a:prstGeom prst="rect">
            <a:avLst/>
          </a:prstGeom>
          <a:noFill/>
          <a:ln w="9525">
            <a:noFill/>
          </a:ln>
        </p:spPr>
        <p:txBody>
          <a:bodyPr>
            <a:spAutoFit/>
          </a:bodyPr>
          <a:lstStyle/>
          <a:p>
            <a:pPr eaLnBrk="1" hangingPunct="1">
              <a:spcBef>
                <a:spcPct val="50000"/>
              </a:spcBef>
            </a:pPr>
            <a:r>
              <a:rPr lang="zh-CN" altLang="en-US" sz="2400" b="1" dirty="0">
                <a:latin typeface="Times New Roman" panose="02020603050405020304" pitchFamily="18" charset="0"/>
              </a:rPr>
              <a:t> 测评过程</a:t>
            </a:r>
          </a:p>
        </p:txBody>
      </p:sp>
      <p:sp>
        <p:nvSpPr>
          <p:cNvPr id="11277" name="文本框 17"/>
          <p:cNvSpPr txBox="1"/>
          <p:nvPr/>
        </p:nvSpPr>
        <p:spPr>
          <a:xfrm>
            <a:off x="6400800" y="5257800"/>
            <a:ext cx="1562100" cy="461963"/>
          </a:xfrm>
          <a:prstGeom prst="rect">
            <a:avLst/>
          </a:prstGeom>
          <a:noFill/>
          <a:ln w="9525">
            <a:noFill/>
          </a:ln>
        </p:spPr>
        <p:txBody>
          <a:bodyPr>
            <a:spAutoFit/>
          </a:bodyPr>
          <a:lstStyle/>
          <a:p>
            <a:pPr eaLnBrk="1" hangingPunct="1">
              <a:spcBef>
                <a:spcPct val="50000"/>
              </a:spcBef>
            </a:pPr>
            <a:r>
              <a:rPr lang="zh-CN" altLang="en-US" sz="2400" b="1" dirty="0">
                <a:latin typeface="Times New Roman" panose="02020603050405020304" pitchFamily="18" charset="0"/>
              </a:rPr>
              <a:t>测评输出</a:t>
            </a:r>
          </a:p>
        </p:txBody>
      </p:sp>
      <p:sp>
        <p:nvSpPr>
          <p:cNvPr id="11278" name="矩形 2"/>
          <p:cNvSpPr/>
          <p:nvPr/>
        </p:nvSpPr>
        <p:spPr>
          <a:xfrm>
            <a:off x="533400" y="5184775"/>
            <a:ext cx="7924800" cy="569913"/>
          </a:xfrm>
          <a:prstGeom prst="rect">
            <a:avLst/>
          </a:prstGeom>
          <a:noFill/>
          <a:ln w="50800" cap="flat" cmpd="sng">
            <a:solidFill>
              <a:srgbClr val="FF0000"/>
            </a:solidFill>
            <a:prstDash val="solid"/>
            <a:round/>
            <a:headEnd type="none" w="med" len="med"/>
            <a:tailEnd type="none" w="med" len="med"/>
          </a:ln>
        </p:spPr>
        <p:txBody>
          <a:bodyPr>
            <a:spAutoFit/>
          </a:bodyPr>
          <a:lstStyle/>
          <a:p>
            <a:pPr algn="ctr">
              <a:spcBef>
                <a:spcPct val="50000"/>
              </a:spcBef>
            </a:pPr>
            <a:endParaRPr lang="zh-CN" altLang="en-US"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319"/>
                                        </p:tgtEl>
                                        <p:attrNameLst>
                                          <p:attrName>style.visibility</p:attrName>
                                        </p:attrNameLst>
                                      </p:cBhvr>
                                      <p:to>
                                        <p:strVal val="visible"/>
                                      </p:to>
                                    </p:set>
                                    <p:animEffect transition="in" filter="fade">
                                      <p:cBhvr>
                                        <p:cTn id="12" dur="500"/>
                                        <p:tgtEl>
                                          <p:spTgt spid="133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331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信息系统安全等级测评要求</a:t>
            </a:r>
          </a:p>
        </p:txBody>
      </p:sp>
      <p:sp>
        <p:nvSpPr>
          <p:cNvPr id="19459" name="内容占位符 2"/>
          <p:cNvSpPr>
            <a:spLocks noGrp="1" noChangeArrowheads="1"/>
          </p:cNvSpPr>
          <p:nvPr>
            <p:ph idx="1"/>
          </p:nvPr>
        </p:nvSpPr>
        <p:spPr>
          <a:xfrm>
            <a:off x="228600" y="1676400"/>
            <a:ext cx="8229600" cy="5410200"/>
          </a:xfrm>
        </p:spPr>
        <p:txBody>
          <a:bodyPr vert="horz" wrap="square" lIns="91440" tIns="45720" rIns="91440" bIns="45720" numCol="1" anchor="t" anchorCtr="0" compatLnSpc="1"/>
          <a:lstStyle/>
          <a:p>
            <a:pPr marL="742950" marR="0" lvl="1" indent="-28575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
              <a:defRPr/>
            </a:pPr>
            <a:r>
              <a:rPr kumimoji="0" lang="zh-CN" altLang="zh-CN" sz="2800" b="1" i="0" u="none" strike="noStrike" kern="0" cap="none" spc="0" normalizeH="0" baseline="0" noProof="0" dirty="0" smtClean="0">
                <a:ln>
                  <a:noFill/>
                </a:ln>
                <a:solidFill>
                  <a:srgbClr val="FF0000"/>
                </a:solidFill>
                <a:effectLst/>
                <a:uLnTx/>
                <a:uFillTx/>
                <a:latin typeface="楷体_GB2312"/>
                <a:ea typeface="楷体_GB2312"/>
                <a:cs typeface="楷体_GB2312"/>
              </a:rPr>
              <a:t>测评</a:t>
            </a:r>
            <a:r>
              <a:rPr kumimoji="0" lang="zh-CN" altLang="zh-CN" sz="2800" b="1" i="0" u="none" strike="noStrike" kern="0" cap="none" spc="0" normalizeH="0" baseline="0" noProof="0" dirty="0">
                <a:ln>
                  <a:noFill/>
                </a:ln>
                <a:solidFill>
                  <a:srgbClr val="FF0000"/>
                </a:solidFill>
                <a:effectLst/>
                <a:uLnTx/>
                <a:uFillTx/>
                <a:latin typeface="楷体_GB2312"/>
                <a:ea typeface="楷体_GB2312"/>
                <a:cs typeface="楷体_GB2312"/>
              </a:rPr>
              <a:t>输入</a:t>
            </a:r>
            <a:r>
              <a:rPr kumimoji="0" lang="zh-CN" altLang="zh-CN" sz="2800" b="1" i="0" u="none" strike="noStrike" kern="0" cap="none" spc="0" normalizeH="0" baseline="0" noProof="0" dirty="0">
                <a:ln>
                  <a:noFill/>
                </a:ln>
                <a:solidFill>
                  <a:schemeClr val="tx1"/>
                </a:solidFill>
                <a:effectLst/>
                <a:uLnTx/>
                <a:uFillTx/>
                <a:latin typeface="楷体_GB2312"/>
                <a:ea typeface="楷体_GB2312"/>
                <a:cs typeface="楷体_GB2312"/>
              </a:rPr>
              <a:t>包括</a:t>
            </a:r>
            <a:r>
              <a:rPr kumimoji="0" lang="en-US" altLang="zh-CN" sz="2800" b="1" i="0" u="none" strike="noStrike" kern="0" cap="none" spc="0" normalizeH="0" baseline="0" noProof="0" dirty="0">
                <a:ln>
                  <a:noFill/>
                </a:ln>
                <a:solidFill>
                  <a:srgbClr val="FF0000"/>
                </a:solidFill>
                <a:effectLst/>
                <a:uLnTx/>
                <a:uFillTx/>
                <a:latin typeface="楷体_GB2312"/>
                <a:ea typeface="楷体_GB2312"/>
                <a:cs typeface="楷体_GB2312"/>
              </a:rPr>
              <a:t>GB/T22239-2008</a:t>
            </a:r>
            <a:r>
              <a:rPr kumimoji="0" lang="zh-CN" altLang="zh-CN" sz="2800" b="1" i="0" u="none" strike="noStrike" kern="0" cap="none" spc="0" normalizeH="0" baseline="0" noProof="0" dirty="0">
                <a:ln>
                  <a:noFill/>
                </a:ln>
                <a:solidFill>
                  <a:srgbClr val="FF0000"/>
                </a:solidFill>
                <a:effectLst/>
                <a:uLnTx/>
                <a:uFillTx/>
                <a:latin typeface="楷体_GB2312"/>
                <a:ea typeface="楷体_GB2312"/>
                <a:cs typeface="楷体_GB2312"/>
              </a:rPr>
              <a:t>第四级</a:t>
            </a:r>
            <a:r>
              <a:rPr kumimoji="0" lang="zh-CN" altLang="zh-CN" sz="2800" b="1" i="0" u="none" strike="noStrike" kern="0" cap="none" spc="0" normalizeH="0" baseline="0" noProof="0" dirty="0" smtClean="0">
                <a:ln>
                  <a:noFill/>
                </a:ln>
                <a:solidFill>
                  <a:srgbClr val="FF0000"/>
                </a:solidFill>
                <a:effectLst/>
                <a:uLnTx/>
                <a:uFillTx/>
                <a:latin typeface="楷体_GB2312"/>
                <a:ea typeface="楷体_GB2312"/>
                <a:cs typeface="楷体_GB2312"/>
              </a:rPr>
              <a:t>目录</a:t>
            </a:r>
            <a:r>
              <a:rPr kumimoji="0" lang="zh-CN" altLang="zh-CN" sz="2800" b="1" i="0" u="none" strike="noStrike" kern="0" cap="none" spc="0" normalizeH="0" baseline="0" noProof="0" dirty="0" smtClean="0">
                <a:ln>
                  <a:noFill/>
                </a:ln>
                <a:solidFill>
                  <a:schemeClr val="tx1"/>
                </a:solidFill>
                <a:effectLst/>
                <a:uLnTx/>
                <a:uFillTx/>
                <a:latin typeface="楷体_GB2312"/>
                <a:ea typeface="楷体_GB2312"/>
                <a:cs typeface="楷体_GB2312"/>
              </a:rPr>
              <a:t>和</a:t>
            </a:r>
            <a:r>
              <a:rPr kumimoji="0" lang="zh-CN" altLang="zh-CN" sz="2800" b="1" i="0" u="none" strike="noStrike" kern="0" cap="none" spc="0" normalizeH="0" baseline="0" noProof="0" dirty="0" smtClean="0">
                <a:ln>
                  <a:noFill/>
                </a:ln>
                <a:solidFill>
                  <a:srgbClr val="FF0000"/>
                </a:solidFill>
                <a:effectLst/>
                <a:uLnTx/>
                <a:uFillTx/>
                <a:latin typeface="楷体_GB2312"/>
                <a:ea typeface="楷体_GB2312"/>
                <a:cs typeface="楷体_GB2312"/>
              </a:rPr>
              <a:t>信息系统</a:t>
            </a:r>
            <a:r>
              <a:rPr kumimoji="0" lang="zh-CN" altLang="zh-CN" sz="2800" b="1" i="0" u="none" strike="noStrike" kern="0" cap="none" spc="0" normalizeH="0" baseline="0" noProof="0" dirty="0">
                <a:ln>
                  <a:noFill/>
                </a:ln>
                <a:solidFill>
                  <a:srgbClr val="FF0000"/>
                </a:solidFill>
                <a:effectLst/>
                <a:uLnTx/>
                <a:uFillTx/>
                <a:latin typeface="楷体_GB2312"/>
                <a:ea typeface="楷体_GB2312"/>
                <a:cs typeface="楷体_GB2312"/>
              </a:rPr>
              <a:t>的安全保护</a:t>
            </a:r>
            <a:r>
              <a:rPr kumimoji="0" lang="zh-CN" altLang="zh-CN" sz="2800" b="1" i="0" u="none" strike="noStrike" kern="0" cap="none" spc="0" normalizeH="0" baseline="0" noProof="0" dirty="0" smtClean="0">
                <a:ln>
                  <a:noFill/>
                </a:ln>
                <a:solidFill>
                  <a:srgbClr val="FF0000"/>
                </a:solidFill>
                <a:effectLst/>
                <a:uLnTx/>
                <a:uFillTx/>
                <a:latin typeface="楷体_GB2312"/>
                <a:ea typeface="楷体_GB2312"/>
                <a:cs typeface="楷体_GB2312"/>
              </a:rPr>
              <a:t>等级</a:t>
            </a:r>
            <a:endParaRPr kumimoji="0" lang="en-US" altLang="zh-CN" sz="2800" b="1" i="0" u="none" strike="noStrike" kern="0" cap="none" spc="0" normalizeH="0" baseline="0" noProof="0" dirty="0" smtClean="0">
              <a:ln>
                <a:noFill/>
              </a:ln>
              <a:solidFill>
                <a:srgbClr val="FF0000"/>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1" i="0" u="none" strike="noStrike" kern="0" cap="none" spc="0" normalizeH="0" baseline="0" noProof="0" dirty="0" smtClean="0">
                <a:ln>
                  <a:noFill/>
                </a:ln>
                <a:solidFill>
                  <a:srgbClr val="FF0000"/>
                </a:solidFill>
                <a:effectLst/>
                <a:uLnTx/>
                <a:uFillTx/>
                <a:latin typeface="楷体_GB2312"/>
                <a:ea typeface="楷体_GB2312"/>
                <a:cs typeface="楷体_GB2312"/>
              </a:rPr>
              <a:t>过程</a:t>
            </a:r>
            <a:r>
              <a:rPr kumimoji="0" lang="zh-CN" altLang="zh-CN" sz="2800" b="1" i="0" u="none" strike="noStrike" kern="0" cap="none" spc="0" normalizeH="0" baseline="0" noProof="0" dirty="0">
                <a:ln>
                  <a:noFill/>
                </a:ln>
                <a:solidFill>
                  <a:srgbClr val="FF0000"/>
                </a:solidFill>
                <a:effectLst/>
                <a:uLnTx/>
                <a:uFillTx/>
                <a:latin typeface="楷体_GB2312"/>
                <a:ea typeface="楷体_GB2312"/>
                <a:cs typeface="楷体_GB2312"/>
              </a:rPr>
              <a:t>组件</a:t>
            </a:r>
            <a:r>
              <a:rPr kumimoji="0" lang="zh-CN" altLang="zh-CN" sz="2800" b="1" i="0" u="none" strike="noStrike" kern="0" cap="none" spc="0" normalizeH="0" baseline="0" noProof="0" dirty="0">
                <a:ln>
                  <a:noFill/>
                </a:ln>
                <a:solidFill>
                  <a:schemeClr val="tx1"/>
                </a:solidFill>
                <a:effectLst/>
                <a:uLnTx/>
                <a:uFillTx/>
                <a:latin typeface="楷体_GB2312"/>
                <a:ea typeface="楷体_GB2312"/>
                <a:cs typeface="楷体_GB2312"/>
              </a:rPr>
              <a:t>为一组与输入组件中所标识的安全控制相关的特定</a:t>
            </a:r>
            <a:r>
              <a:rPr kumimoji="0" lang="zh-CN" altLang="zh-CN" sz="2800" b="1" i="0" u="none" strike="noStrike" kern="0" cap="none" spc="0" normalizeH="0" baseline="0" noProof="0" dirty="0">
                <a:ln>
                  <a:noFill/>
                </a:ln>
                <a:solidFill>
                  <a:srgbClr val="FF0000"/>
                </a:solidFill>
                <a:effectLst/>
                <a:uLnTx/>
                <a:uFillTx/>
                <a:latin typeface="楷体_GB2312"/>
                <a:ea typeface="楷体_GB2312"/>
                <a:cs typeface="楷体_GB2312"/>
              </a:rPr>
              <a:t>测评对象和测评</a:t>
            </a:r>
            <a:r>
              <a:rPr kumimoji="0" lang="zh-CN" altLang="zh-CN" sz="2800" b="1" i="0" u="none" strike="noStrike" kern="0" cap="none" spc="0" normalizeH="0" baseline="0" noProof="0" dirty="0" smtClean="0">
                <a:ln>
                  <a:noFill/>
                </a:ln>
                <a:solidFill>
                  <a:srgbClr val="FF0000"/>
                </a:solidFill>
                <a:effectLst/>
                <a:uLnTx/>
                <a:uFillTx/>
                <a:latin typeface="楷体_GB2312"/>
                <a:ea typeface="楷体_GB2312"/>
                <a:cs typeface="楷体_GB2312"/>
              </a:rPr>
              <a:t>方法</a:t>
            </a:r>
            <a:r>
              <a:rPr kumimoji="0" lang="zh-CN" altLang="en-US" sz="2800" b="1" i="0" u="none" strike="noStrike" kern="0" cap="none" spc="0" normalizeH="0" baseline="0" noProof="0" dirty="0" smtClean="0">
                <a:ln>
                  <a:noFill/>
                </a:ln>
                <a:solidFill>
                  <a:srgbClr val="FF0000"/>
                </a:solidFill>
                <a:effectLst/>
                <a:uLnTx/>
                <a:uFillTx/>
                <a:latin typeface="楷体_GB2312"/>
                <a:ea typeface="楷体_GB2312"/>
                <a:cs typeface="楷体_GB2312"/>
              </a:rPr>
              <a:t>。</a:t>
            </a:r>
            <a:endParaRPr kumimoji="0" lang="en-US" altLang="zh-CN" sz="2800" b="1" i="0" u="none" strike="noStrike" kern="0" cap="none" spc="0" normalizeH="0" baseline="0" noProof="0" dirty="0" smtClean="0">
              <a:ln>
                <a:noFill/>
              </a:ln>
              <a:solidFill>
                <a:srgbClr val="FF0000"/>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1" i="0" u="none" strike="noStrike" kern="0" cap="none" spc="0" normalizeH="0" baseline="0" noProof="0" dirty="0">
                <a:ln>
                  <a:noFill/>
                </a:ln>
                <a:solidFill>
                  <a:srgbClr val="FF0000"/>
                </a:solidFill>
                <a:effectLst/>
                <a:uLnTx/>
                <a:uFillTx/>
                <a:latin typeface="楷体_GB2312"/>
                <a:ea typeface="楷体_GB2312"/>
                <a:cs typeface="楷体_GB2312"/>
              </a:rPr>
              <a:t>输出组件</a:t>
            </a:r>
            <a:r>
              <a:rPr kumimoji="0" lang="zh-CN" altLang="zh-CN" sz="2800" b="1" i="0" u="none" strike="noStrike" kern="0" cap="none" spc="0" normalizeH="0" baseline="0" noProof="0" dirty="0">
                <a:ln>
                  <a:noFill/>
                </a:ln>
                <a:solidFill>
                  <a:schemeClr val="tx1"/>
                </a:solidFill>
                <a:effectLst/>
                <a:uLnTx/>
                <a:uFillTx/>
                <a:latin typeface="楷体_GB2312"/>
                <a:ea typeface="楷体_GB2312"/>
                <a:cs typeface="楷体_GB2312"/>
              </a:rPr>
              <a:t>包括一组由测评人员使用的用于确定安全控制有效性的</a:t>
            </a:r>
            <a:r>
              <a:rPr kumimoji="0" lang="zh-CN" altLang="zh-CN" sz="2800" b="1" i="0" u="none" strike="noStrike" kern="0" cap="none" spc="0" normalizeH="0" baseline="0" noProof="0" dirty="0">
                <a:ln>
                  <a:noFill/>
                </a:ln>
                <a:solidFill>
                  <a:srgbClr val="FF0000"/>
                </a:solidFill>
                <a:effectLst/>
                <a:uLnTx/>
                <a:uFillTx/>
                <a:latin typeface="楷体_GB2312"/>
                <a:ea typeface="楷体_GB2312"/>
                <a:cs typeface="楷体_GB2312"/>
              </a:rPr>
              <a:t>程序化陈述</a:t>
            </a:r>
            <a:r>
              <a:rPr kumimoji="0" lang="zh-CN" altLang="en-US" sz="2800" b="1" i="0" u="none" strike="noStrike" kern="0" cap="none" spc="0" normalizeH="0" baseline="0" noProof="0" dirty="0">
                <a:ln>
                  <a:noFill/>
                </a:ln>
                <a:solidFill>
                  <a:schemeClr val="tx1"/>
                </a:solidFill>
                <a:effectLst/>
                <a:uLnTx/>
                <a:uFillTx/>
                <a:latin typeface="楷体_GB2312"/>
                <a:ea typeface="楷体_GB2312"/>
                <a:cs typeface="楷体_GB2312"/>
              </a:rPr>
              <a:t>。</a:t>
            </a:r>
            <a:endParaRPr kumimoji="0" lang="en-US" altLang="zh-CN" sz="2800" b="1" i="0" u="none" strike="noStrike" kern="0" cap="none" spc="0" normalizeH="0" baseline="0" noProof="0" dirty="0">
              <a:ln>
                <a:noFill/>
              </a:ln>
              <a:solidFill>
                <a:schemeClr val="tx1"/>
              </a:solidFill>
              <a:effectLst/>
              <a:uLnTx/>
              <a:uFillTx/>
              <a:latin typeface="楷体_GB2312"/>
              <a:ea typeface="楷体_GB2312"/>
              <a:cs typeface="楷体_GB231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1" i="0" u="none" strike="noStrike" kern="0" cap="none" spc="0" normalizeH="0" baseline="0" noProof="0" dirty="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1" i="0" u="none" strike="noStrike" kern="0" cap="none" spc="0" normalizeH="0" baseline="0" noProof="0" dirty="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a:cs typeface="楷体_GB231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2" end="2"/>
                                            </p:txEl>
                                          </p:spTgt>
                                        </p:tgtEl>
                                        <p:attrNameLst>
                                          <p:attrName>style.visibility</p:attrName>
                                        </p:attrNameLst>
                                      </p:cBhvr>
                                      <p:to>
                                        <p:strVal val="visible"/>
                                      </p:to>
                                    </p:set>
                                    <p:animEffect transition="in" filter="fade">
                                      <p:cBhvr>
                                        <p:cTn id="17" dur="2000"/>
                                        <p:tgtEl>
                                          <p:spTgt spid="1945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信息系统安全等级测评要求</a:t>
            </a:r>
          </a:p>
        </p:txBody>
      </p:sp>
      <p:sp>
        <p:nvSpPr>
          <p:cNvPr id="19459" name="内容占位符 2"/>
          <p:cNvSpPr>
            <a:spLocks noGrp="1" noChangeArrowheads="1"/>
          </p:cNvSpPr>
          <p:nvPr>
            <p:ph idx="1"/>
          </p:nvPr>
        </p:nvSpPr>
        <p:spPr>
          <a:xfrm>
            <a:off x="304800" y="1143000"/>
            <a:ext cx="8229600" cy="5334000"/>
          </a:xfrm>
        </p:spPr>
        <p:txBody>
          <a:bodyPr vert="horz" wrap="square" lIns="91440" tIns="45720" rIns="91440" bIns="45720" numCol="1" anchor="t" anchorCtr="0" compatLnSpc="1"/>
          <a:lstStyle/>
          <a:p>
            <a:pPr marL="742950" marR="0" lvl="1" indent="-28575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
              <a:defRPr/>
            </a:pPr>
            <a:r>
              <a:rPr kumimoji="0" lang="zh-CN" altLang="zh-CN" sz="2800" b="1" i="0" u="none" strike="noStrike" kern="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rPr>
              <a:t>测评对象</a:t>
            </a:r>
            <a:endParaRPr kumimoji="0" lang="en-US" altLang="zh-CN" sz="2800" b="1" i="0" u="none" strike="noStrike" kern="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endParaRPr>
          </a:p>
          <a:p>
            <a:pPr marL="1143000" marR="0" lvl="2" indent="-228600" algn="l" defTabSz="914400" rtl="0" eaLnBrk="1" fontAlgn="base" latinLnBrk="0" hangingPunct="1">
              <a:lnSpc>
                <a:spcPct val="100000"/>
              </a:lnSpc>
              <a:spcBef>
                <a:spcPct val="20000"/>
              </a:spcBef>
              <a:spcAft>
                <a:spcPct val="20000"/>
              </a:spcAft>
              <a:buClr>
                <a:srgbClr val="AC04A0"/>
              </a:buClr>
              <a:buSzTx/>
              <a:buFontTx/>
              <a:buChar char="•"/>
              <a:defRPr/>
            </a:pPr>
            <a:r>
              <a:rPr kumimoji="0" lang="zh-CN" altLang="zh-CN" sz="24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rPr>
              <a:t>是</a:t>
            </a:r>
            <a:r>
              <a:rPr kumimoji="0" lang="zh-CN"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指测评实施的对象，即测评过程中涉及到的</a:t>
            </a:r>
            <a:r>
              <a:rPr kumimoji="0" lang="zh-CN" altLang="zh-CN"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制度文档</a:t>
            </a:r>
            <a:r>
              <a:rPr kumimoji="0" lang="zh-CN"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a:t>
            </a:r>
            <a:r>
              <a:rPr kumimoji="0" lang="zh-CN" altLang="zh-CN"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各类设备</a:t>
            </a:r>
            <a:r>
              <a:rPr kumimoji="0" lang="zh-CN"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及其</a:t>
            </a:r>
            <a:r>
              <a:rPr kumimoji="0" lang="zh-CN" altLang="zh-CN"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安全配置</a:t>
            </a:r>
            <a:r>
              <a:rPr kumimoji="0" lang="zh-CN"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和</a:t>
            </a:r>
            <a:r>
              <a:rPr kumimoji="0" lang="zh-CN" altLang="zh-CN"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相关人员</a:t>
            </a:r>
            <a:r>
              <a:rPr kumimoji="0" lang="zh-CN" altLang="zh-CN" sz="24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rPr>
              <a:t>等</a:t>
            </a:r>
            <a:r>
              <a:rPr kumimoji="0" lang="zh-CN" altLang="en-US" sz="24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rPr>
              <a:t>。</a:t>
            </a:r>
            <a:endParaRPr kumimoji="0" lang="en-US" altLang="zh-CN" sz="24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1" i="0" u="none" strike="noStrike" kern="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rPr>
              <a:t>测评方法</a:t>
            </a:r>
            <a:r>
              <a:rPr kumimoji="0" lang="zh-CN" altLang="en-US" sz="2800" b="1" i="0" u="none" strike="noStrike" kern="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rPr>
              <a:t>包括：</a:t>
            </a:r>
            <a:endParaRPr kumimoji="0" lang="en-US" altLang="zh-CN" sz="28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endParaRPr>
          </a:p>
          <a:p>
            <a:pPr marL="1200150" marR="0" lvl="2" indent="-34290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zh-CN" sz="2400" b="1" i="0" u="none" strike="noStrike" kern="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rPr>
              <a:t>访谈</a:t>
            </a:r>
            <a:endParaRPr kumimoji="0" lang="en-US" altLang="zh-CN" sz="2400" b="1" i="0" u="none" strike="noStrike" kern="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endParaRPr>
          </a:p>
          <a:p>
            <a:pPr marL="1200150" marR="0" lvl="2" indent="-34290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zh-CN" sz="2400" b="1" i="0" u="none" strike="noStrike" kern="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rPr>
              <a:t>检查</a:t>
            </a:r>
            <a:endParaRPr kumimoji="0" lang="en-US" altLang="zh-CN" sz="2400" b="1" i="0" u="none" strike="noStrike" kern="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endParaRPr>
          </a:p>
          <a:p>
            <a:pPr marL="1200150" marR="0" lvl="2" indent="-34290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zh-CN" sz="2400" b="1" i="0" u="none" strike="noStrike" kern="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rPr>
              <a:t>测试</a:t>
            </a:r>
            <a:endParaRPr kumimoji="0" lang="en-US" altLang="zh-CN" sz="24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1" i="0" u="none" strike="noStrike" kern="0" cap="none" spc="0" normalizeH="0" baseline="0" noProof="0" dirty="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1" i="0" u="none" strike="noStrike" kern="0" cap="none" spc="0" normalizeH="0" baseline="0" noProof="0" dirty="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a:cs typeface="楷体_GB231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2" end="2"/>
                                            </p:txEl>
                                          </p:spTgt>
                                        </p:tgtEl>
                                        <p:attrNameLst>
                                          <p:attrName>style.visibility</p:attrName>
                                        </p:attrNameLst>
                                      </p:cBhvr>
                                      <p:to>
                                        <p:strVal val="visible"/>
                                      </p:to>
                                    </p:set>
                                    <p:animEffect transition="in" filter="fade">
                                      <p:cBhvr>
                                        <p:cTn id="7" dur="2000"/>
                                        <p:tgtEl>
                                          <p:spTgt spid="1945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3" end="3"/>
                                            </p:txEl>
                                          </p:spTgt>
                                        </p:tgtEl>
                                        <p:attrNameLst>
                                          <p:attrName>style.visibility</p:attrName>
                                        </p:attrNameLst>
                                      </p:cBhvr>
                                      <p:to>
                                        <p:strVal val="visible"/>
                                      </p:to>
                                    </p:set>
                                    <p:animEffect transition="in" filter="fade">
                                      <p:cBhvr>
                                        <p:cTn id="12" dur="2000"/>
                                        <p:tgtEl>
                                          <p:spTgt spid="19459">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4" end="4"/>
                                            </p:txEl>
                                          </p:spTgt>
                                        </p:tgtEl>
                                        <p:attrNameLst>
                                          <p:attrName>style.visibility</p:attrName>
                                        </p:attrNameLst>
                                      </p:cBhvr>
                                      <p:to>
                                        <p:strVal val="visible"/>
                                      </p:to>
                                    </p:set>
                                    <p:animEffect transition="in" filter="fade">
                                      <p:cBhvr>
                                        <p:cTn id="17" dur="2000"/>
                                        <p:tgtEl>
                                          <p:spTgt spid="19459">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xEl>
                                              <p:pRg st="5" end="5"/>
                                            </p:txEl>
                                          </p:spTgt>
                                        </p:tgtEl>
                                        <p:attrNameLst>
                                          <p:attrName>style.visibility</p:attrName>
                                        </p:attrNameLst>
                                      </p:cBhvr>
                                      <p:to>
                                        <p:strVal val="visible"/>
                                      </p:to>
                                    </p:set>
                                    <p:animEffect transition="in" filter="fade">
                                      <p:cBhvr>
                                        <p:cTn id="22" dur="2000"/>
                                        <p:tgtEl>
                                          <p:spTgt spid="19459">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459">
                                            <p:txEl>
                                              <p:pRg st="3" end="3"/>
                                            </p:txEl>
                                          </p:spTgt>
                                        </p:tgtEl>
                                        <p:attrNameLst>
                                          <p:attrName>style.visibility</p:attrName>
                                        </p:attrNameLst>
                                      </p:cBhvr>
                                      <p:to>
                                        <p:strVal val="visible"/>
                                      </p:to>
                                    </p:set>
                                    <p:animEffect transition="in" filter="fade">
                                      <p:cBhvr>
                                        <p:cTn id="27" dur="2000"/>
                                        <p:tgtEl>
                                          <p:spTgt spid="194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p:txBody>
          <a:bodyPr vert="horz" wrap="square" lIns="91440" tIns="45720" rIns="91440" bIns="45720" anchor="ctr" anchorCtr="0"/>
          <a:lstStyle/>
          <a:p>
            <a:r>
              <a:rPr lang="zh-CN" altLang="en-US" b="1" dirty="0">
                <a:latin typeface="宋体" panose="02010600030101010101" pitchFamily="2" charset="-122"/>
                <a:ea typeface="宋体" panose="02010600030101010101" pitchFamily="2" charset="-122"/>
              </a:rPr>
              <a:t>信息系统安全等级测评要求</a:t>
            </a:r>
          </a:p>
        </p:txBody>
      </p:sp>
      <p:sp>
        <p:nvSpPr>
          <p:cNvPr id="16387" name="内容占位符 2"/>
          <p:cNvSpPr>
            <a:spLocks noGrp="1"/>
          </p:cNvSpPr>
          <p:nvPr>
            <p:ph idx="1"/>
          </p:nvPr>
        </p:nvSpPr>
        <p:spPr/>
        <p:txBody>
          <a:bodyPr vert="horz" wrap="square" lIns="91440" tIns="45720" rIns="91440" bIns="45720" anchor="t" anchorCtr="0"/>
          <a:lstStyle/>
          <a:p>
            <a:pPr eaLnBrk="1" hangingPunct="1">
              <a:spcAft>
                <a:spcPct val="20000"/>
              </a:spcAft>
              <a:buClr>
                <a:srgbClr val="AC04A0"/>
              </a:buClr>
              <a:buFont typeface="Wingdings" panose="05000000000000000000" pitchFamily="2" charset="2"/>
              <a:buChar char="Ø"/>
            </a:pPr>
            <a:r>
              <a:rPr lang="en-US" altLang="zh-CN" b="1" dirty="0">
                <a:solidFill>
                  <a:srgbClr val="000000"/>
                </a:solidFill>
                <a:ea typeface="楷体_GB2312" pitchFamily="49" charset="-122"/>
              </a:rPr>
              <a:t>9.2.3</a:t>
            </a:r>
            <a:r>
              <a:rPr lang="zh-CN" altLang="en-US" b="1" dirty="0">
                <a:solidFill>
                  <a:srgbClr val="000000"/>
                </a:solidFill>
                <a:ea typeface="楷体_GB2312" pitchFamily="49" charset="-122"/>
              </a:rPr>
              <a:t>等级测评内容</a:t>
            </a:r>
            <a:endParaRPr lang="en-US" altLang="zh-CN" b="1" dirty="0">
              <a:solidFill>
                <a:srgbClr val="000000"/>
              </a:solidFill>
              <a:ea typeface="楷体_GB2312" pitchFamily="49" charset="-122"/>
            </a:endParaRPr>
          </a:p>
          <a:p>
            <a:pPr lvl="1" eaLnBrk="1" hangingPunct="1">
              <a:buClr>
                <a:srgbClr val="3191D3"/>
              </a:buClr>
              <a:buFont typeface="Wingdings" panose="05000000000000000000" pitchFamily="2" charset="2"/>
              <a:buChar char="§"/>
            </a:pPr>
            <a:r>
              <a:rPr lang="zh-CN" altLang="en-US" b="1" dirty="0">
                <a:latin typeface="楷体_GB2312" pitchFamily="49" charset="-122"/>
                <a:ea typeface="楷体_GB2312" pitchFamily="49" charset="-122"/>
              </a:rPr>
              <a:t>等级测评的实施过程</a:t>
            </a:r>
            <a:r>
              <a:rPr lang="zh-CN" altLang="zh-CN" b="1" dirty="0">
                <a:latin typeface="楷体_GB2312" pitchFamily="49" charset="-122"/>
                <a:ea typeface="楷体_GB2312" pitchFamily="49" charset="-122"/>
              </a:rPr>
              <a:t>由</a:t>
            </a:r>
            <a:r>
              <a:rPr lang="zh-CN" altLang="zh-CN" b="1" dirty="0">
                <a:solidFill>
                  <a:srgbClr val="FF0000"/>
                </a:solidFill>
                <a:latin typeface="楷体_GB2312" pitchFamily="49" charset="-122"/>
                <a:ea typeface="楷体_GB2312" pitchFamily="49" charset="-122"/>
              </a:rPr>
              <a:t>单元测评</a:t>
            </a:r>
            <a:r>
              <a:rPr lang="zh-CN" altLang="zh-CN" b="1" dirty="0">
                <a:latin typeface="楷体_GB2312" pitchFamily="49" charset="-122"/>
                <a:ea typeface="楷体_GB2312" pitchFamily="49" charset="-122"/>
              </a:rPr>
              <a:t>和</a:t>
            </a:r>
            <a:r>
              <a:rPr lang="zh-CN" altLang="zh-CN" b="1" dirty="0">
                <a:solidFill>
                  <a:srgbClr val="FF0000"/>
                </a:solidFill>
                <a:latin typeface="楷体_GB2312" pitchFamily="49" charset="-122"/>
                <a:ea typeface="楷体_GB2312" pitchFamily="49" charset="-122"/>
              </a:rPr>
              <a:t>整体测评</a:t>
            </a:r>
            <a:r>
              <a:rPr lang="zh-CN" altLang="zh-CN" b="1" dirty="0">
                <a:latin typeface="楷体_GB2312" pitchFamily="49" charset="-122"/>
                <a:ea typeface="楷体_GB2312" pitchFamily="49" charset="-122"/>
              </a:rPr>
              <a:t>两部分构成</a:t>
            </a:r>
            <a:r>
              <a:rPr lang="zh-CN" altLang="en-US" b="1" dirty="0">
                <a:latin typeface="楷体_GB2312" pitchFamily="49" charset="-122"/>
                <a:ea typeface="楷体_GB2312" pitchFamily="49" charset="-122"/>
              </a:rPr>
              <a:t>。</a:t>
            </a:r>
            <a:endParaRPr lang="en-US" altLang="zh-CN" b="1" dirty="0">
              <a:latin typeface="楷体_GB2312" pitchFamily="49" charset="-122"/>
              <a:ea typeface="楷体_GB2312" pitchFamily="49" charset="-122"/>
            </a:endParaRPr>
          </a:p>
          <a:p>
            <a:pPr lvl="1" eaLnBrk="1" hangingPunct="1">
              <a:buClr>
                <a:srgbClr val="3191D3"/>
              </a:buClr>
              <a:buFont typeface="Wingdings" panose="05000000000000000000" pitchFamily="2" charset="2"/>
              <a:buChar char="§"/>
            </a:pPr>
            <a:r>
              <a:rPr lang="zh-CN" altLang="zh-CN" b="1" dirty="0">
                <a:latin typeface="楷体_GB2312" pitchFamily="49" charset="-122"/>
                <a:ea typeface="楷体_GB2312" pitchFamily="49" charset="-122"/>
              </a:rPr>
              <a:t>单元测评满足概念性框架的三部分内容：</a:t>
            </a:r>
            <a:r>
              <a:rPr lang="zh-CN" altLang="zh-CN" b="1" dirty="0">
                <a:solidFill>
                  <a:srgbClr val="FF0000"/>
                </a:solidFill>
                <a:latin typeface="楷体_GB2312" pitchFamily="49" charset="-122"/>
                <a:ea typeface="楷体_GB2312" pitchFamily="49" charset="-122"/>
              </a:rPr>
              <a:t>测评输入、测评过程和测评输出</a:t>
            </a:r>
            <a:r>
              <a:rPr lang="zh-CN" altLang="zh-CN" b="1" dirty="0">
                <a:latin typeface="楷体_GB2312" pitchFamily="49" charset="-122"/>
                <a:ea typeface="楷体_GB2312" pitchFamily="49" charset="-122"/>
              </a:rPr>
              <a:t>。</a:t>
            </a:r>
            <a:endParaRPr lang="en-US" altLang="zh-CN" b="1" dirty="0">
              <a:latin typeface="楷体_GB2312" pitchFamily="49" charset="-122"/>
              <a:ea typeface="楷体_GB2312" pitchFamily="49" charset="-122"/>
            </a:endParaRPr>
          </a:p>
          <a:p>
            <a:pPr lvl="1" eaLnBrk="1" hangingPunct="1">
              <a:buClr>
                <a:srgbClr val="3191D3"/>
              </a:buClr>
              <a:buFont typeface="Wingdings" panose="05000000000000000000" pitchFamily="2" charset="2"/>
              <a:buChar char="§"/>
            </a:pPr>
            <a:r>
              <a:rPr lang="zh-CN" altLang="en-US" b="1" dirty="0">
                <a:latin typeface="楷体_GB2312" pitchFamily="49" charset="-122"/>
                <a:ea typeface="楷体_GB2312" pitchFamily="49" charset="-122"/>
              </a:rPr>
              <a:t>整体测评</a:t>
            </a:r>
            <a:r>
              <a:rPr lang="zh-CN" altLang="zh-CN" b="1" dirty="0">
                <a:latin typeface="楷体_GB2312" pitchFamily="49" charset="-122"/>
                <a:ea typeface="楷体_GB2312" pitchFamily="49" charset="-122"/>
              </a:rPr>
              <a:t>主要包括</a:t>
            </a:r>
            <a:r>
              <a:rPr lang="zh-CN" altLang="zh-CN" b="1" dirty="0">
                <a:solidFill>
                  <a:srgbClr val="FF0000"/>
                </a:solidFill>
                <a:latin typeface="楷体_GB2312" pitchFamily="49" charset="-122"/>
                <a:ea typeface="楷体_GB2312" pitchFamily="49" charset="-122"/>
              </a:rPr>
              <a:t>安全控制点间</a:t>
            </a:r>
            <a:r>
              <a:rPr lang="zh-CN" altLang="zh-CN" b="1" dirty="0">
                <a:latin typeface="楷体_GB2312" pitchFamily="49" charset="-122"/>
                <a:ea typeface="楷体_GB2312" pitchFamily="49" charset="-122"/>
              </a:rPr>
              <a:t>、</a:t>
            </a:r>
            <a:r>
              <a:rPr lang="zh-CN" altLang="zh-CN" b="1" dirty="0">
                <a:solidFill>
                  <a:srgbClr val="FF0000"/>
                </a:solidFill>
                <a:latin typeface="楷体_GB2312" pitchFamily="49" charset="-122"/>
                <a:ea typeface="楷体_GB2312" pitchFamily="49" charset="-122"/>
              </a:rPr>
              <a:t>层面间</a:t>
            </a:r>
            <a:r>
              <a:rPr lang="zh-CN" altLang="zh-CN" b="1" dirty="0">
                <a:latin typeface="楷体_GB2312" pitchFamily="49" charset="-122"/>
                <a:ea typeface="楷体_GB2312" pitchFamily="49" charset="-122"/>
              </a:rPr>
              <a:t>和</a:t>
            </a:r>
            <a:r>
              <a:rPr lang="zh-CN" altLang="zh-CN" b="1" dirty="0">
                <a:solidFill>
                  <a:srgbClr val="FF0000"/>
                </a:solidFill>
                <a:latin typeface="楷体_GB2312" pitchFamily="49" charset="-122"/>
                <a:ea typeface="楷体_GB2312" pitchFamily="49" charset="-122"/>
              </a:rPr>
              <a:t>区域间</a:t>
            </a:r>
            <a:r>
              <a:rPr lang="zh-CN" altLang="en-US" b="1" dirty="0">
                <a:latin typeface="楷体_GB2312" pitchFamily="49" charset="-122"/>
                <a:ea typeface="楷体_GB2312" pitchFamily="49" charset="-122"/>
              </a:rPr>
              <a:t>安全测评</a:t>
            </a:r>
            <a:endParaRPr lang="zh-CN" altLang="zh-CN" b="1" dirty="0">
              <a:latin typeface="楷体_GB2312" pitchFamily="49" charset="-122"/>
              <a:ea typeface="楷体_GB2312" pitchFamily="49" charset="-122"/>
            </a:endParaRPr>
          </a:p>
          <a:p>
            <a:pPr>
              <a:buNone/>
            </a:pPr>
            <a:endParaRPr lang="zh-CN" altLang="en-US" dirty="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87">
                                            <p:txEl>
                                              <p:pRg st="1" end="1"/>
                                            </p:txEl>
                                          </p:spTgt>
                                        </p:tgtEl>
                                        <p:attrNameLst>
                                          <p:attrName>style.visibility</p:attrName>
                                        </p:attrNameLst>
                                      </p:cBhvr>
                                      <p:to>
                                        <p:strVal val="visible"/>
                                      </p:to>
                                    </p:set>
                                    <p:animEffect transition="in" filter="fade">
                                      <p:cBhvr>
                                        <p:cTn id="7" dur="500"/>
                                        <p:tgtEl>
                                          <p:spTgt spid="1638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387">
                                            <p:txEl>
                                              <p:pRg st="2" end="2"/>
                                            </p:txEl>
                                          </p:spTgt>
                                        </p:tgtEl>
                                        <p:attrNameLst>
                                          <p:attrName>style.visibility</p:attrName>
                                        </p:attrNameLst>
                                      </p:cBhvr>
                                      <p:to>
                                        <p:strVal val="visible"/>
                                      </p:to>
                                    </p:set>
                                    <p:animEffect transition="in" filter="fade">
                                      <p:cBhvr>
                                        <p:cTn id="12" dur="500"/>
                                        <p:tgtEl>
                                          <p:spTgt spid="1638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387">
                                            <p:txEl>
                                              <p:pRg st="3" end="3"/>
                                            </p:txEl>
                                          </p:spTgt>
                                        </p:tgtEl>
                                        <p:attrNameLst>
                                          <p:attrName>style.visibility</p:attrName>
                                        </p:attrNameLst>
                                      </p:cBhvr>
                                      <p:to>
                                        <p:strVal val="visible"/>
                                      </p:to>
                                    </p:set>
                                    <p:animEffect transition="in" filter="fade">
                                      <p:cBhvr>
                                        <p:cTn id="17" dur="500"/>
                                        <p:tgtEl>
                                          <p:spTgt spid="163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vert="horz" wrap="square" lIns="91440" tIns="45720" rIns="91440" bIns="45720" anchor="ctr" anchorCtr="0"/>
          <a:lstStyle/>
          <a:p>
            <a:r>
              <a:rPr lang="zh-CN" altLang="en-US" b="1" dirty="0">
                <a:ea typeface="宋体" panose="02010600030101010101" pitchFamily="2" charset="-122"/>
              </a:rPr>
              <a:t>信息系统安全等级测评要求</a:t>
            </a:r>
            <a:endParaRPr lang="zh-CN" altLang="en-US" dirty="0">
              <a:ea typeface="宋体" panose="02010600030101010101" pitchFamily="2" charset="-122"/>
            </a:endParaRPr>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32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9.2.4</a:t>
            </a:r>
            <a:r>
              <a:rPr kumimoji="0" lang="zh-CN" altLang="en-US" sz="32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测评力度</a:t>
            </a:r>
            <a:endParaRPr kumimoji="0" lang="en-US" altLang="zh-CN" sz="32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rgbClr val="3191D3"/>
              </a:buClr>
              <a:buSzTx/>
              <a:buFont typeface="Wingdings" panose="05000000000000000000" pitchFamily="2" charset="2"/>
              <a:buChar char="§"/>
              <a:defRPr/>
            </a:pPr>
            <a:r>
              <a:rPr kumimoji="0" lang="zh-CN" altLang="zh-CN" sz="28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rPr>
              <a:t>测评力度是在测评过程中实施测评工作的力度，反映测评的</a:t>
            </a:r>
            <a:r>
              <a:rPr kumimoji="0" lang="zh-CN" altLang="zh-CN" sz="2800" b="1" i="0" u="none" strike="noStrike" kern="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rPr>
              <a:t>广度和深度</a:t>
            </a:r>
            <a:r>
              <a:rPr kumimoji="0" lang="zh-CN" altLang="zh-CN" sz="28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rPr>
              <a:t>，体现为测评工作的</a:t>
            </a:r>
            <a:r>
              <a:rPr kumimoji="0" lang="zh-CN" altLang="zh-CN" sz="2800" b="1" i="0" u="none" strike="noStrike" kern="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rPr>
              <a:t>实际投入程度</a:t>
            </a:r>
            <a:r>
              <a:rPr kumimoji="0" lang="zh-CN" altLang="en-US" sz="28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rPr>
              <a:t>。</a:t>
            </a:r>
            <a:endParaRPr kumimoji="0"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71550" marR="0" lvl="1" indent="-514350" algn="l" defTabSz="914400" rtl="0" eaLnBrk="1" fontAlgn="base" latinLnBrk="0" hangingPunct="1">
              <a:lnSpc>
                <a:spcPct val="100000"/>
              </a:lnSpc>
              <a:spcBef>
                <a:spcPct val="20000"/>
              </a:spcBef>
              <a:spcAft>
                <a:spcPct val="0"/>
              </a:spcAft>
              <a:buClr>
                <a:srgbClr val="3191D3"/>
              </a:buClr>
              <a:buSzTx/>
              <a:buFont typeface="+mj-ea"/>
              <a:buAutoNum type="circleNumDbPlain"/>
              <a:defRPr/>
            </a:pPr>
            <a:r>
              <a:rPr kumimoji="0" lang="zh-CN" altLang="zh-CN" sz="28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rPr>
              <a:t>测评</a:t>
            </a:r>
            <a:r>
              <a:rPr kumimoji="0" lang="zh-CN"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广度越大，测评实施的范围越大，测评实施包含的测评对象就越多</a:t>
            </a:r>
            <a:r>
              <a:rPr kumimoji="0" lang="zh-CN" altLang="zh-CN" sz="28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rPr>
              <a:t>；</a:t>
            </a:r>
            <a:endParaRPr kumimoji="0"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endParaRPr>
          </a:p>
          <a:p>
            <a:pPr marL="971550" marR="0" lvl="1" indent="-514350" algn="l" defTabSz="914400" rtl="0" eaLnBrk="1" fontAlgn="base" latinLnBrk="0" hangingPunct="1">
              <a:lnSpc>
                <a:spcPct val="100000"/>
              </a:lnSpc>
              <a:spcBef>
                <a:spcPct val="20000"/>
              </a:spcBef>
              <a:spcAft>
                <a:spcPct val="0"/>
              </a:spcAft>
              <a:buClr>
                <a:srgbClr val="3191D3"/>
              </a:buClr>
              <a:buSzTx/>
              <a:buFont typeface="+mj-ea"/>
              <a:buAutoNum type="circleNumDbPlain"/>
              <a:defRPr/>
            </a:pPr>
            <a:r>
              <a:rPr kumimoji="0" lang="zh-CN" altLang="zh-CN" sz="28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rPr>
              <a:t>测评</a:t>
            </a:r>
            <a:r>
              <a:rPr kumimoji="0" lang="zh-CN"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深度越深，越需要在细节上展开，测评就</a:t>
            </a:r>
            <a:r>
              <a:rPr kumimoji="0" lang="zh-CN" altLang="zh-CN" sz="28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rPr>
              <a:t>越严格</a:t>
            </a:r>
            <a:r>
              <a:rPr kumimoji="0" lang="zh-CN"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，因此就越需要更多的投入</a:t>
            </a:r>
            <a:r>
              <a:rPr kumimoji="0" lang="zh-CN" altLang="zh-CN" sz="28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rPr>
              <a:t>。</a:t>
            </a:r>
            <a:endParaRPr kumimoji="0" lang="en-US" altLang="zh-CN" sz="28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endParaRPr>
          </a:p>
          <a:p>
            <a:pPr marL="971550" marR="0" lvl="1" indent="-514350" algn="l" defTabSz="914400" rtl="0" eaLnBrk="1" fontAlgn="base" latinLnBrk="0" hangingPunct="1">
              <a:lnSpc>
                <a:spcPct val="100000"/>
              </a:lnSpc>
              <a:spcBef>
                <a:spcPct val="20000"/>
              </a:spcBef>
              <a:spcAft>
                <a:spcPct val="0"/>
              </a:spcAft>
              <a:buClr>
                <a:srgbClr val="3191D3"/>
              </a:buClr>
              <a:buSzTx/>
              <a:buFont typeface="+mj-ea"/>
              <a:buAutoNum type="circleNumDbPlain"/>
              <a:defRPr/>
            </a:pPr>
            <a:r>
              <a:rPr kumimoji="0" lang="zh-CN" altLang="zh-CN" sz="28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rPr>
              <a:t>投入越多，测评力度就越强，测评就越有保证</a:t>
            </a:r>
            <a:endParaRPr kumimoji="0" lang="en-US" altLang="zh-CN" sz="28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endParaRPr>
          </a:p>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vert="horz" wrap="square" lIns="91440" tIns="45720" rIns="91440" bIns="45720" anchor="ctr" anchorCtr="0"/>
          <a:lstStyle/>
          <a:p>
            <a:r>
              <a:rPr lang="zh-CN" altLang="en-US" b="1" dirty="0">
                <a:ea typeface="宋体" panose="02010600030101010101" pitchFamily="2" charset="-122"/>
              </a:rPr>
              <a:t>信息系统安全等级测评要求</a:t>
            </a:r>
            <a:endParaRPr lang="zh-CN" altLang="en-US" dirty="0">
              <a:ea typeface="宋体" panose="02010600030101010101" pitchFamily="2" charset="-122"/>
            </a:endParaRPr>
          </a:p>
        </p:txBody>
      </p:sp>
      <p:sp>
        <p:nvSpPr>
          <p:cNvPr id="19459" name="内容占位符 2"/>
          <p:cNvSpPr>
            <a:spLocks noGrp="1"/>
          </p:cNvSpPr>
          <p:nvPr>
            <p:ph idx="1"/>
          </p:nvPr>
        </p:nvSpPr>
        <p:spPr>
          <a:xfrm>
            <a:off x="457200" y="1219200"/>
            <a:ext cx="8458200" cy="5105400"/>
          </a:xfrm>
        </p:spPr>
        <p:txBody>
          <a:bodyPr vert="horz" wrap="square" lIns="91440" tIns="45720" rIns="91440" bIns="45720" anchor="t" anchorCtr="0"/>
          <a:lstStyle/>
          <a:p>
            <a:pPr eaLnBrk="1" hangingPunct="1">
              <a:spcAft>
                <a:spcPct val="20000"/>
              </a:spcAft>
              <a:buClr>
                <a:srgbClr val="AC04A0"/>
              </a:buClr>
              <a:buFont typeface="Wingdings" panose="05000000000000000000" pitchFamily="2" charset="2"/>
              <a:buChar char="Ø"/>
            </a:pPr>
            <a:r>
              <a:rPr lang="en-US" altLang="zh-CN" b="1" dirty="0">
                <a:solidFill>
                  <a:srgbClr val="000000"/>
                </a:solidFill>
                <a:ea typeface="宋体" panose="02010600030101010101" pitchFamily="2" charset="-122"/>
              </a:rPr>
              <a:t>9.2.5</a:t>
            </a:r>
            <a:r>
              <a:rPr lang="zh-CN" altLang="en-US" b="1" dirty="0">
                <a:solidFill>
                  <a:srgbClr val="000000"/>
                </a:solidFill>
                <a:ea typeface="宋体" panose="02010600030101010101" pitchFamily="2" charset="-122"/>
              </a:rPr>
              <a:t>使用方法</a:t>
            </a:r>
            <a:endParaRPr lang="en-US" altLang="zh-CN" dirty="0">
              <a:ea typeface="宋体" panose="02010600030101010101" pitchFamily="2" charset="-122"/>
            </a:endParaRPr>
          </a:p>
          <a:p>
            <a:pPr>
              <a:buFont typeface="Wingdings" panose="05000000000000000000" pitchFamily="2" charset="2"/>
              <a:buChar char="v"/>
            </a:pPr>
            <a:endParaRPr lang="en-US" altLang="zh-CN" dirty="0">
              <a:ea typeface="宋体" panose="02010600030101010101" pitchFamily="2" charset="-122"/>
            </a:endParaRPr>
          </a:p>
          <a:p>
            <a:pPr>
              <a:buFont typeface="Wingdings" panose="05000000000000000000" pitchFamily="2" charset="2"/>
              <a:buChar char="v"/>
            </a:pPr>
            <a:endParaRPr lang="en-US" altLang="zh-CN" dirty="0">
              <a:ea typeface="宋体" panose="02010600030101010101" pitchFamily="2" charset="-122"/>
            </a:endParaRPr>
          </a:p>
          <a:p>
            <a:pPr>
              <a:buFont typeface="Wingdings" panose="05000000000000000000" pitchFamily="2" charset="2"/>
              <a:buChar char="v"/>
            </a:pPr>
            <a:endParaRPr lang="en-US" altLang="zh-CN" dirty="0">
              <a:ea typeface="宋体" panose="02010600030101010101" pitchFamily="2" charset="-122"/>
            </a:endParaRPr>
          </a:p>
          <a:p>
            <a:pPr>
              <a:buFont typeface="Wingdings" panose="05000000000000000000" pitchFamily="2" charset="2"/>
              <a:buChar char="v"/>
            </a:pPr>
            <a:endParaRPr lang="en-US" altLang="zh-CN" dirty="0">
              <a:ea typeface="宋体" panose="02010600030101010101" pitchFamily="2" charset="-122"/>
            </a:endParaRPr>
          </a:p>
          <a:p>
            <a:pPr>
              <a:buNone/>
            </a:pPr>
            <a:r>
              <a:rPr lang="zh-CN" altLang="en-US" dirty="0">
                <a:ea typeface="宋体" panose="02010600030101010101" pitchFamily="2" charset="-122"/>
              </a:rPr>
              <a:t>GB/T 28448-2012第</a:t>
            </a:r>
            <a:r>
              <a:rPr lang="en-US" altLang="zh-CN" dirty="0">
                <a:ea typeface="宋体" panose="02010600030101010101" pitchFamily="2" charset="-122"/>
              </a:rPr>
              <a:t>5-8</a:t>
            </a:r>
            <a:r>
              <a:rPr lang="zh-CN" altLang="en-US" dirty="0">
                <a:ea typeface="宋体" panose="02010600030101010101" pitchFamily="2" charset="-122"/>
              </a:rPr>
              <a:t>章中</a:t>
            </a:r>
            <a:endParaRPr lang="en-US" altLang="zh-CN" dirty="0">
              <a:ea typeface="宋体" panose="02010600030101010101" pitchFamily="2" charset="-122"/>
            </a:endParaRPr>
          </a:p>
          <a:p>
            <a:pPr lvl="1" eaLnBrk="1" hangingPunct="1"/>
            <a:r>
              <a:rPr lang="zh-CN" altLang="en-US" b="1" dirty="0">
                <a:latin typeface="楷体_GB2312" pitchFamily="49" charset="-122"/>
                <a:ea typeface="宋体" panose="02010600030101010101" pitchFamily="2" charset="-122"/>
              </a:rPr>
              <a:t>各章</a:t>
            </a:r>
            <a:r>
              <a:rPr lang="zh-CN" altLang="zh-CN" b="1" dirty="0">
                <a:latin typeface="楷体_GB2312" pitchFamily="49" charset="-122"/>
                <a:ea typeface="宋体" panose="02010600030101010101" pitchFamily="2" charset="-122"/>
              </a:rPr>
              <a:t>二级目录都分为安全技术和安全管理两部分</a:t>
            </a:r>
            <a:endParaRPr lang="en-US" altLang="zh-CN" b="1" dirty="0">
              <a:latin typeface="楷体_GB2312" pitchFamily="49" charset="-122"/>
              <a:ea typeface="宋体" panose="02010600030101010101" pitchFamily="2" charset="-122"/>
            </a:endParaRPr>
          </a:p>
          <a:p>
            <a:pPr lvl="1" eaLnBrk="1" hangingPunct="1"/>
            <a:r>
              <a:rPr lang="zh-CN" altLang="zh-CN" b="1" dirty="0">
                <a:latin typeface="楷体_GB2312" pitchFamily="49" charset="-122"/>
                <a:ea typeface="宋体" panose="02010600030101010101" pitchFamily="2" charset="-122"/>
              </a:rPr>
              <a:t>三级目录从安全层面（如物理安全、网络安全、主机安全等）进行划分和描述</a:t>
            </a:r>
            <a:endParaRPr lang="en-US" altLang="zh-CN" b="1" dirty="0">
              <a:latin typeface="楷体_GB2312" pitchFamily="49" charset="-122"/>
              <a:ea typeface="宋体" panose="02010600030101010101" pitchFamily="2" charset="-122"/>
            </a:endParaRPr>
          </a:p>
        </p:txBody>
      </p:sp>
      <p:graphicFrame>
        <p:nvGraphicFramePr>
          <p:cNvPr id="4" name="表格 3"/>
          <p:cNvGraphicFramePr>
            <a:graphicFrameLocks noGrp="1"/>
          </p:cNvGraphicFramePr>
          <p:nvPr>
            <p:custDataLst>
              <p:tags r:id="rId1"/>
            </p:custDataLst>
          </p:nvPr>
        </p:nvGraphicFramePr>
        <p:xfrm>
          <a:off x="457200" y="2133600"/>
          <a:ext cx="8229600" cy="1477964"/>
        </p:xfrm>
        <a:graphic>
          <a:graphicData uri="http://schemas.openxmlformats.org/drawingml/2006/table">
            <a:tbl>
              <a:tblPr firstRow="1" bandRow="1">
                <a:tableStyleId>{5C22544A-7EE6-4342-B048-85BDC9FD1C3A}</a:tableStyleId>
              </a:tblPr>
              <a:tblGrid>
                <a:gridCol w="2057400"/>
                <a:gridCol w="2057400"/>
                <a:gridCol w="2057400"/>
                <a:gridCol w="2057400"/>
              </a:tblGrid>
              <a:tr h="640054">
                <a:tc>
                  <a:txBody>
                    <a:bodyPr/>
                    <a:lstStyle/>
                    <a:p>
                      <a:pPr algn="ctr"/>
                      <a:r>
                        <a:rPr lang="en-US" altLang="zh-CN" sz="1800" b="1" kern="1200" dirty="0" smtClean="0">
                          <a:solidFill>
                            <a:schemeClr val="lt1"/>
                          </a:solidFill>
                          <a:effectLst/>
                          <a:latin typeface="+mn-lt"/>
                          <a:ea typeface="+mn-ea"/>
                          <a:cs typeface="+mn-cs"/>
                        </a:rPr>
                        <a:t>GB/T 28448-2012</a:t>
                      </a:r>
                      <a:r>
                        <a:rPr lang="zh-CN" altLang="en-US" sz="1800" dirty="0" smtClean="0"/>
                        <a:t>第五章</a:t>
                      </a:r>
                      <a:endParaRPr lang="zh-CN" altLang="en-US" sz="1800" dirty="0"/>
                    </a:p>
                  </a:txBody>
                  <a:tcPr marT="45707" marB="45707"/>
                </a:tc>
                <a:tc>
                  <a:txBody>
                    <a:bodyPr/>
                    <a:lstStyle/>
                    <a:p>
                      <a:pPr algn="ctr"/>
                      <a:r>
                        <a:rPr lang="en-US" altLang="zh-CN" sz="1800" b="1" kern="1200" dirty="0" smtClean="0">
                          <a:solidFill>
                            <a:schemeClr val="lt1"/>
                          </a:solidFill>
                          <a:effectLst/>
                          <a:latin typeface="+mn-lt"/>
                          <a:ea typeface="+mn-ea"/>
                          <a:cs typeface="+mn-cs"/>
                        </a:rPr>
                        <a:t>GB/T 28448-2012</a:t>
                      </a:r>
                      <a:r>
                        <a:rPr lang="zh-CN" altLang="en-US" sz="1800" dirty="0" smtClean="0"/>
                        <a:t>第六章</a:t>
                      </a:r>
                      <a:endParaRPr lang="zh-CN" altLang="en-US" sz="1800" dirty="0"/>
                    </a:p>
                  </a:txBody>
                  <a:tcPr marT="45707" marB="45707"/>
                </a:tc>
                <a:tc>
                  <a:txBody>
                    <a:bodyPr/>
                    <a:lstStyle/>
                    <a:p>
                      <a:pPr algn="ctr"/>
                      <a:r>
                        <a:rPr lang="en-US" altLang="zh-CN" sz="1800" b="1" kern="1200" dirty="0" smtClean="0">
                          <a:solidFill>
                            <a:schemeClr val="lt1"/>
                          </a:solidFill>
                          <a:effectLst/>
                          <a:latin typeface="+mn-lt"/>
                          <a:ea typeface="+mn-ea"/>
                          <a:cs typeface="+mn-cs"/>
                        </a:rPr>
                        <a:t>GB/T 28448-2012</a:t>
                      </a:r>
                      <a:r>
                        <a:rPr lang="zh-CN" altLang="en-US" sz="1800" dirty="0" smtClean="0"/>
                        <a:t>第七章</a:t>
                      </a:r>
                      <a:endParaRPr lang="zh-CN" altLang="en-US" sz="1800" dirty="0"/>
                    </a:p>
                  </a:txBody>
                  <a:tcPr marT="45707" marB="45707"/>
                </a:tc>
                <a:tc>
                  <a:txBody>
                    <a:bodyPr/>
                    <a:lstStyle/>
                    <a:p>
                      <a:pPr algn="ctr"/>
                      <a:r>
                        <a:rPr lang="en-US" altLang="zh-CN" sz="1800" b="1" kern="1200" dirty="0" smtClean="0">
                          <a:solidFill>
                            <a:schemeClr val="lt1"/>
                          </a:solidFill>
                          <a:effectLst/>
                          <a:latin typeface="+mn-lt"/>
                          <a:ea typeface="+mn-ea"/>
                          <a:cs typeface="+mn-cs"/>
                        </a:rPr>
                        <a:t>GB/T 28448-2012</a:t>
                      </a:r>
                      <a:r>
                        <a:rPr lang="zh-CN" altLang="en-US" sz="1800" dirty="0" smtClean="0"/>
                        <a:t>第八章</a:t>
                      </a:r>
                      <a:endParaRPr lang="zh-CN" altLang="en-US" sz="1800" dirty="0"/>
                    </a:p>
                  </a:txBody>
                  <a:tcPr marT="45707" marB="45707"/>
                </a:tc>
              </a:tr>
              <a:tr h="467189">
                <a:tc>
                  <a:txBody>
                    <a:bodyPr/>
                    <a:lstStyle/>
                    <a:p>
                      <a:pPr algn="ctr"/>
                      <a:r>
                        <a:rPr lang="zh-CN" altLang="en-US" sz="1800" dirty="0" smtClean="0"/>
                        <a:t>第一级信息系统</a:t>
                      </a:r>
                      <a:endParaRPr lang="en-US" altLang="zh-CN" sz="1800" dirty="0" smtClean="0"/>
                    </a:p>
                  </a:txBody>
                  <a:tcPr marT="45707" marB="45707"/>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dirty="0" smtClean="0"/>
                        <a:t>第二级信息系统</a:t>
                      </a:r>
                    </a:p>
                  </a:txBody>
                  <a:tcPr marT="45707" marB="45707"/>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dirty="0" smtClean="0"/>
                        <a:t>第三级信息系统</a:t>
                      </a:r>
                      <a:endParaRPr lang="en-US" altLang="zh-CN" sz="1800" dirty="0" smtClean="0"/>
                    </a:p>
                  </a:txBody>
                  <a:tcPr marT="45707" marB="45707"/>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dirty="0" smtClean="0"/>
                        <a:t>第四级信息系统</a:t>
                      </a:r>
                    </a:p>
                  </a:txBody>
                  <a:tcPr marT="45707" marB="45707"/>
                </a:tc>
              </a:tr>
              <a:tr h="370721">
                <a:tc>
                  <a:txBody>
                    <a:bodyPr/>
                    <a:lstStyle/>
                    <a:p>
                      <a:r>
                        <a:rPr lang="en-US" altLang="zh-CN" sz="1800" kern="1200" dirty="0" smtClean="0">
                          <a:solidFill>
                            <a:schemeClr val="dk1"/>
                          </a:solidFill>
                          <a:effectLst/>
                          <a:latin typeface="+mn-lt"/>
                          <a:ea typeface="+mn-ea"/>
                          <a:cs typeface="+mn-cs"/>
                        </a:rPr>
                        <a:t>GB/T 22239-2008</a:t>
                      </a:r>
                      <a:endParaRPr lang="zh-CN" altLang="en-US" sz="1800" dirty="0"/>
                    </a:p>
                  </a:txBody>
                  <a:tcPr marT="45707" marB="45707"/>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800" kern="1200" dirty="0" smtClean="0">
                          <a:solidFill>
                            <a:schemeClr val="dk1"/>
                          </a:solidFill>
                          <a:effectLst/>
                          <a:latin typeface="+mn-lt"/>
                          <a:ea typeface="+mn-ea"/>
                          <a:cs typeface="+mn-cs"/>
                        </a:rPr>
                        <a:t>GB/T 22239-2008</a:t>
                      </a:r>
                      <a:endParaRPr lang="zh-CN" altLang="en-US" sz="1800" dirty="0" smtClean="0"/>
                    </a:p>
                  </a:txBody>
                  <a:tcPr marT="45707" marB="45707"/>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800" kern="1200" dirty="0" smtClean="0">
                          <a:solidFill>
                            <a:schemeClr val="dk1"/>
                          </a:solidFill>
                          <a:effectLst/>
                          <a:latin typeface="+mn-lt"/>
                          <a:ea typeface="+mn-ea"/>
                          <a:cs typeface="+mn-cs"/>
                        </a:rPr>
                        <a:t>GB/T 22239-2008</a:t>
                      </a:r>
                      <a:endParaRPr lang="zh-CN" altLang="en-US" sz="1800" dirty="0" smtClean="0"/>
                    </a:p>
                  </a:txBody>
                  <a:tcPr marT="45707" marB="45707"/>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800" kern="1200" dirty="0" smtClean="0">
                          <a:solidFill>
                            <a:schemeClr val="dk1"/>
                          </a:solidFill>
                          <a:effectLst/>
                          <a:latin typeface="+mn-lt"/>
                          <a:ea typeface="+mn-ea"/>
                          <a:cs typeface="+mn-cs"/>
                        </a:rPr>
                        <a:t>GB/T 22239-2008</a:t>
                      </a:r>
                      <a:endParaRPr lang="zh-CN" altLang="en-US" sz="1800" dirty="0" smtClean="0"/>
                    </a:p>
                  </a:txBody>
                  <a:tcPr marT="45707" marB="45707"/>
                </a:tc>
              </a:tr>
            </a:tbl>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charRg st="21" end="43"/>
                                            </p:txEl>
                                          </p:spTgt>
                                        </p:tgtEl>
                                        <p:attrNameLst>
                                          <p:attrName>style.visibility</p:attrName>
                                        </p:attrNameLst>
                                      </p:cBhvr>
                                      <p:to>
                                        <p:strVal val="visible"/>
                                      </p:to>
                                    </p:set>
                                    <p:animEffect transition="in" filter="fade">
                                      <p:cBhvr>
                                        <p:cTn id="12" dur="500"/>
                                        <p:tgtEl>
                                          <p:spTgt spid="19459">
                                            <p:txEl>
                                              <p:charRg st="21" end="4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9459">
                                            <p:txEl>
                                              <p:charRg st="43" end="78"/>
                                            </p:txEl>
                                          </p:spTgt>
                                        </p:tgtEl>
                                        <p:attrNameLst>
                                          <p:attrName>style.visibility</p:attrName>
                                        </p:attrNameLst>
                                      </p:cBhvr>
                                      <p:to>
                                        <p:strVal val="visible"/>
                                      </p:to>
                                    </p:set>
                                    <p:animEffect transition="in" filter="fade">
                                      <p:cBhvr>
                                        <p:cTn id="15" dur="500"/>
                                        <p:tgtEl>
                                          <p:spTgt spid="19459">
                                            <p:txEl>
                                              <p:charRg st="43" end="7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vert="horz" wrap="square" lIns="91440" tIns="45720" rIns="91440" bIns="45720" anchor="ctr" anchorCtr="0"/>
          <a:lstStyle/>
          <a:p>
            <a:r>
              <a:rPr lang="zh-CN" altLang="en-US" b="1" dirty="0">
                <a:ea typeface="宋体" panose="02010600030101010101" pitchFamily="2" charset="-122"/>
              </a:rPr>
              <a:t>信息系统安全等级测评要求</a:t>
            </a:r>
            <a:endParaRPr lang="zh-CN" altLang="en-US" dirty="0">
              <a:ea typeface="宋体" panose="02010600030101010101" pitchFamily="2" charset="-122"/>
            </a:endParaRPr>
          </a:p>
        </p:txBody>
      </p:sp>
      <p:sp>
        <p:nvSpPr>
          <p:cNvPr id="20483" name="内容占位符 2"/>
          <p:cNvSpPr>
            <a:spLocks noGrp="1"/>
          </p:cNvSpPr>
          <p:nvPr>
            <p:ph idx="1"/>
          </p:nvPr>
        </p:nvSpPr>
        <p:spPr>
          <a:xfrm>
            <a:off x="457200" y="1143000"/>
            <a:ext cx="8229600" cy="5181600"/>
          </a:xfrm>
        </p:spPr>
        <p:txBody>
          <a:bodyPr vert="horz" wrap="square" lIns="91440" tIns="45720" rIns="91440" bIns="45720" anchor="t" anchorCtr="0"/>
          <a:lstStyle/>
          <a:p>
            <a:pPr lvl="1" eaLnBrk="1" hangingPunct="1"/>
            <a:r>
              <a:rPr lang="zh-CN" altLang="zh-CN" b="1" dirty="0">
                <a:latin typeface="楷体_GB2312" pitchFamily="49" charset="-122"/>
                <a:ea typeface="楷体_GB2312" pitchFamily="49" charset="-122"/>
              </a:rPr>
              <a:t>四级目录按照安全控制点进行划分和描述</a:t>
            </a:r>
            <a:endParaRPr lang="en-US" altLang="zh-CN" b="1" dirty="0">
              <a:latin typeface="楷体_GB2312" pitchFamily="49" charset="-122"/>
              <a:ea typeface="楷体_GB2312" pitchFamily="49" charset="-122"/>
            </a:endParaRPr>
          </a:p>
          <a:p>
            <a:pPr lvl="1" eaLnBrk="1" hangingPunct="1"/>
            <a:r>
              <a:rPr lang="zh-CN" altLang="zh-CN" b="1" dirty="0">
                <a:latin typeface="楷体_GB2312" pitchFamily="49" charset="-122"/>
                <a:ea typeface="楷体_GB2312" pitchFamily="49" charset="-122"/>
              </a:rPr>
              <a:t>五级目录是每一个安全控制点下面包括的具体安全要求项</a:t>
            </a:r>
            <a:endParaRPr lang="en-US" altLang="zh-CN" b="1" dirty="0">
              <a:latin typeface="楷体_GB2312" pitchFamily="49" charset="-122"/>
              <a:ea typeface="楷体_GB2312" pitchFamily="49" charset="-122"/>
            </a:endParaRPr>
          </a:p>
          <a:p>
            <a:pPr lvl="1" eaLnBrk="1" hangingPunct="1"/>
            <a:r>
              <a:rPr lang="zh-CN" altLang="zh-CN" b="1" dirty="0">
                <a:latin typeface="楷体_GB2312" pitchFamily="49" charset="-122"/>
                <a:ea typeface="楷体_GB2312" pitchFamily="49" charset="-122"/>
              </a:rPr>
              <a:t>测评的最终输出是</a:t>
            </a:r>
            <a:r>
              <a:rPr lang="zh-CN" altLang="zh-CN" b="1" dirty="0">
                <a:solidFill>
                  <a:srgbClr val="FF0000"/>
                </a:solidFill>
                <a:latin typeface="楷体_GB2312" pitchFamily="49" charset="-122"/>
                <a:ea typeface="楷体_GB2312" pitchFamily="49" charset="-122"/>
              </a:rPr>
              <a:t>测评报告</a:t>
            </a:r>
            <a:r>
              <a:rPr lang="zh-CN" altLang="zh-CN" b="1" dirty="0">
                <a:latin typeface="楷体_GB2312" pitchFamily="49" charset="-122"/>
                <a:ea typeface="楷体_GB2312" pitchFamily="49" charset="-122"/>
              </a:rPr>
              <a:t>，测评报告应结合</a:t>
            </a:r>
            <a:r>
              <a:rPr lang="zh-CN" altLang="en-US" b="1" dirty="0">
                <a:latin typeface="楷体_GB2312" pitchFamily="49" charset="-122"/>
                <a:ea typeface="楷体_GB2312" pitchFamily="49" charset="-122"/>
              </a:rPr>
              <a:t>等级测评结论</a:t>
            </a:r>
            <a:r>
              <a:rPr lang="zh-CN" altLang="zh-CN" b="1" dirty="0">
                <a:latin typeface="楷体_GB2312" pitchFamily="49" charset="-122"/>
                <a:ea typeface="楷体_GB2312" pitchFamily="49" charset="-122"/>
              </a:rPr>
              <a:t>的要求</a:t>
            </a:r>
            <a:r>
              <a:rPr lang="zh-CN" altLang="zh-CN" b="1" dirty="0">
                <a:solidFill>
                  <a:srgbClr val="FF0000"/>
                </a:solidFill>
                <a:latin typeface="楷体_GB2312" pitchFamily="49" charset="-122"/>
                <a:ea typeface="楷体_GB2312" pitchFamily="49" charset="-122"/>
              </a:rPr>
              <a:t>给出等级测评结论</a:t>
            </a:r>
            <a:r>
              <a:rPr lang="zh-CN" altLang="zh-CN" b="1" dirty="0">
                <a:latin typeface="楷体_GB2312" pitchFamily="49" charset="-122"/>
                <a:ea typeface="楷体_GB2312" pitchFamily="49" charset="-122"/>
              </a:rPr>
              <a:t>。</a:t>
            </a:r>
            <a:endParaRPr lang="en-US" altLang="zh-CN" b="1" dirty="0">
              <a:latin typeface="楷体_GB2312" pitchFamily="49" charset="-122"/>
              <a:ea typeface="楷体_GB2312" pitchFamily="49" charset="-122"/>
            </a:endParaRPr>
          </a:p>
          <a:p>
            <a:pPr lvl="1" eaLnBrk="1" hangingPunct="1"/>
            <a:endParaRPr lang="en-US" altLang="zh-CN" b="1" dirty="0">
              <a:latin typeface="楷体_GB2312" pitchFamily="49" charset="-122"/>
              <a:ea typeface="楷体_GB2312" pitchFamily="49" charset="-122"/>
            </a:endParaRPr>
          </a:p>
          <a:p>
            <a:pPr lvl="1" eaLnBrk="1" hangingPunct="1"/>
            <a:endParaRPr lang="en-US" altLang="zh-CN" b="1" dirty="0">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fade">
                                      <p:cBhvr>
                                        <p:cTn id="7" dur="500"/>
                                        <p:tgtEl>
                                          <p:spTgt spid="2048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0483">
                                            <p:txEl>
                                              <p:pRg st="1" end="1"/>
                                            </p:txEl>
                                          </p:spTgt>
                                        </p:tgtEl>
                                        <p:attrNameLst>
                                          <p:attrName>style.visibility</p:attrName>
                                        </p:attrNameLst>
                                      </p:cBhvr>
                                      <p:to>
                                        <p:strVal val="visible"/>
                                      </p:to>
                                    </p:set>
                                    <p:animEffect transition="in" filter="fade">
                                      <p:cBhvr>
                                        <p:cTn id="10" dur="500"/>
                                        <p:tgtEl>
                                          <p:spTgt spid="2048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483">
                                            <p:txEl>
                                              <p:charRg st="45" end="83"/>
                                            </p:txEl>
                                          </p:spTgt>
                                        </p:tgtEl>
                                        <p:attrNameLst>
                                          <p:attrName>style.visibility</p:attrName>
                                        </p:attrNameLst>
                                      </p:cBhvr>
                                      <p:to>
                                        <p:strVal val="visible"/>
                                      </p:to>
                                    </p:set>
                                    <p:animEffect transition="in" filter="fade">
                                      <p:cBhvr>
                                        <p:cTn id="15" dur="500"/>
                                        <p:tgtEl>
                                          <p:spTgt spid="20483">
                                            <p:txEl>
                                              <p:charRg st="45" end="8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信息系统安全等级测评要求</a:t>
            </a:r>
          </a:p>
        </p:txBody>
      </p:sp>
      <p:sp>
        <p:nvSpPr>
          <p:cNvPr id="18435" name="内容占位符 2"/>
          <p:cNvSpPr>
            <a:spLocks noGrp="1"/>
          </p:cNvSpPr>
          <p:nvPr>
            <p:ph idx="1"/>
          </p:nvPr>
        </p:nvSpPr>
        <p:spPr>
          <a:xfrm>
            <a:off x="228600" y="990600"/>
            <a:ext cx="8229600" cy="5715000"/>
          </a:xfrm>
          <a:ln w="12700"/>
        </p:spPr>
        <p:txBody>
          <a:bodyPr vert="horz" wrap="square" lIns="91440" tIns="45720" rIns="91440" bIns="45720" anchor="t" anchorCtr="0"/>
          <a:lstStyle/>
          <a:p>
            <a:pPr eaLnBrk="1" hangingPunct="1">
              <a:spcAft>
                <a:spcPct val="20000"/>
              </a:spcAft>
              <a:buClr>
                <a:srgbClr val="AC04A0"/>
              </a:buClr>
              <a:buFont typeface="Wingdings" panose="05000000000000000000" pitchFamily="2" charset="2"/>
              <a:buChar char="Ø"/>
            </a:pPr>
            <a:r>
              <a:rPr lang="en-US" altLang="zh-CN" b="1" dirty="0">
                <a:latin typeface="Times New Roman" panose="02020603050405020304" pitchFamily="18" charset="0"/>
                <a:ea typeface="楷体_GB2312" pitchFamily="49" charset="-122"/>
              </a:rPr>
              <a:t> 9.2.6</a:t>
            </a:r>
            <a:r>
              <a:rPr lang="zh-CN" altLang="en-US" dirty="0">
                <a:ea typeface="宋体" panose="02010600030101010101" pitchFamily="2" charset="-122"/>
              </a:rPr>
              <a:t>信息系统单元测评</a:t>
            </a:r>
            <a:endParaRPr lang="en-US" altLang="zh-CN" dirty="0">
              <a:ea typeface="宋体" panose="02010600030101010101" pitchFamily="2" charset="-122"/>
            </a:endParaRPr>
          </a:p>
          <a:p>
            <a:pPr eaLnBrk="1" hangingPunct="1">
              <a:spcAft>
                <a:spcPct val="20000"/>
              </a:spcAft>
              <a:buClr>
                <a:srgbClr val="AC04A0"/>
              </a:buClr>
            </a:pPr>
            <a:endParaRPr lang="en-US" altLang="zh-CN" dirty="0">
              <a:ea typeface="宋体" panose="02010600030101010101" pitchFamily="2" charset="-122"/>
            </a:endParaRPr>
          </a:p>
          <a:p>
            <a:pPr eaLnBrk="1" hangingPunct="1">
              <a:spcAft>
                <a:spcPct val="20000"/>
              </a:spcAft>
              <a:buClr>
                <a:srgbClr val="AC04A0"/>
              </a:buClr>
            </a:pPr>
            <a:endParaRPr lang="en-US" altLang="zh-CN" dirty="0">
              <a:ea typeface="宋体" panose="02010600030101010101" pitchFamily="2" charset="-122"/>
            </a:endParaRPr>
          </a:p>
          <a:p>
            <a:pPr lvl="1" eaLnBrk="1" hangingPunct="1">
              <a:buClr>
                <a:srgbClr val="3191D3"/>
              </a:buClr>
            </a:pPr>
            <a:r>
              <a:rPr lang="zh-CN" altLang="en-US" dirty="0">
                <a:ea typeface="宋体" panose="02010600030101010101" pitchFamily="2" charset="-122"/>
              </a:rPr>
              <a:t>信息系统单元测评      </a:t>
            </a:r>
            <a:endParaRPr lang="en-US" altLang="zh-CN" dirty="0">
              <a:ea typeface="宋体" panose="02010600030101010101" pitchFamily="2" charset="-122"/>
            </a:endParaRPr>
          </a:p>
          <a:p>
            <a:pPr eaLnBrk="1" hangingPunct="1">
              <a:spcAft>
                <a:spcPct val="20000"/>
              </a:spcAft>
              <a:buClr>
                <a:srgbClr val="AC04A0"/>
              </a:buClr>
              <a:buNone/>
            </a:pPr>
            <a:endParaRPr lang="en-US" altLang="zh-CN" dirty="0">
              <a:ea typeface="宋体" panose="02010600030101010101" pitchFamily="2" charset="-122"/>
            </a:endParaRPr>
          </a:p>
          <a:p>
            <a:pPr eaLnBrk="1" hangingPunct="1">
              <a:spcAft>
                <a:spcPct val="20000"/>
              </a:spcAft>
              <a:buClr>
                <a:srgbClr val="AC04A0"/>
              </a:buClr>
            </a:pPr>
            <a:endParaRPr lang="en-US" altLang="zh-CN" b="1" dirty="0">
              <a:latin typeface="楷体_GB2312" pitchFamily="49" charset="-122"/>
              <a:ea typeface="楷体_GB2312" pitchFamily="49" charset="-122"/>
            </a:endParaRPr>
          </a:p>
          <a:p>
            <a:pPr eaLnBrk="1" hangingPunct="1">
              <a:spcAft>
                <a:spcPct val="20000"/>
              </a:spcAft>
              <a:buClr>
                <a:srgbClr val="AC04A0"/>
              </a:buClr>
              <a:buNone/>
            </a:pPr>
            <a:r>
              <a:rPr lang="en-US" altLang="zh-CN" b="1" dirty="0">
                <a:latin typeface="楷体_GB2312" pitchFamily="49" charset="-122"/>
                <a:ea typeface="楷体_GB2312" pitchFamily="49" charset="-122"/>
              </a:rPr>
              <a:t> </a:t>
            </a:r>
          </a:p>
          <a:p>
            <a:pPr lvl="1" eaLnBrk="1" hangingPunct="1">
              <a:buNone/>
            </a:pPr>
            <a:endParaRPr lang="en-US" altLang="zh-CN" b="1" dirty="0">
              <a:latin typeface="楷体_GB2312" pitchFamily="49" charset="-122"/>
              <a:ea typeface="楷体_GB2312" pitchFamily="49" charset="-122"/>
            </a:endParaRPr>
          </a:p>
          <a:p>
            <a:pPr eaLnBrk="1" hangingPunct="1">
              <a:buNone/>
            </a:pPr>
            <a:endParaRPr lang="zh-CN" altLang="en-US" dirty="0">
              <a:ea typeface="楷体_GB2312" pitchFamily="49" charset="-122"/>
            </a:endParaRPr>
          </a:p>
        </p:txBody>
      </p:sp>
      <p:graphicFrame>
        <p:nvGraphicFramePr>
          <p:cNvPr id="2" name="表格 1"/>
          <p:cNvGraphicFramePr>
            <a:graphicFrameLocks noGrp="1"/>
          </p:cNvGraphicFramePr>
          <p:nvPr/>
        </p:nvGraphicFramePr>
        <p:xfrm>
          <a:off x="304800" y="1663700"/>
          <a:ext cx="8382000" cy="1231900"/>
        </p:xfrm>
        <a:graphic>
          <a:graphicData uri="http://schemas.openxmlformats.org/drawingml/2006/table">
            <a:tbl>
              <a:tblPr firstRow="1" bandRow="1">
                <a:tableStyleId>{5C22544A-7EE6-4342-B048-85BDC9FD1C3A}</a:tableStyleId>
              </a:tblPr>
              <a:tblGrid>
                <a:gridCol w="1676400"/>
                <a:gridCol w="1676400"/>
                <a:gridCol w="1676400"/>
                <a:gridCol w="1676400"/>
                <a:gridCol w="1676400"/>
              </a:tblGrid>
              <a:tr h="518377">
                <a:tc gridSpan="5">
                  <a:txBody>
                    <a:bodyPr/>
                    <a:lstStyle/>
                    <a:p>
                      <a:pPr algn="ctr"/>
                      <a:r>
                        <a:rPr lang="zh-CN" altLang="en-US" sz="2800" dirty="0" smtClean="0"/>
                        <a:t>信息系统单元测试</a:t>
                      </a:r>
                      <a:endParaRPr lang="zh-CN" altLang="en-US" sz="2800" dirty="0"/>
                    </a:p>
                  </a:txBody>
                  <a:tcPr marL="91444" marR="91444" marT="45763" marB="45763"/>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r>
              <a:tr h="713523">
                <a:tc>
                  <a:txBody>
                    <a:bodyPr/>
                    <a:lstStyle/>
                    <a:p>
                      <a:pPr algn="ctr"/>
                      <a:r>
                        <a:rPr lang="zh-CN" altLang="en-US" sz="1800" b="1" dirty="0" smtClean="0">
                          <a:latin typeface="宋体" panose="02010600030101010101" pitchFamily="2" charset="-122"/>
                          <a:ea typeface="宋体" panose="02010600030101010101" pitchFamily="2" charset="-122"/>
                        </a:rPr>
                        <a:t>第一级信息系统单元测试</a:t>
                      </a:r>
                      <a:endParaRPr lang="zh-CN" altLang="en-US" sz="1800" b="1" dirty="0">
                        <a:latin typeface="宋体" panose="02010600030101010101" pitchFamily="2" charset="-122"/>
                        <a:ea typeface="宋体" panose="02010600030101010101" pitchFamily="2" charset="-122"/>
                      </a:endParaRPr>
                    </a:p>
                  </a:txBody>
                  <a:tcPr marL="91444" marR="91444" marT="45763" marB="45763"/>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latin typeface="宋体" panose="02010600030101010101" pitchFamily="2" charset="-122"/>
                          <a:ea typeface="宋体" panose="02010600030101010101" pitchFamily="2" charset="-122"/>
                        </a:rPr>
                        <a:t>第二级信息系统单元测试</a:t>
                      </a:r>
                    </a:p>
                  </a:txBody>
                  <a:tcPr marL="91444" marR="91444" marT="45763" marB="45763"/>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latin typeface="宋体" panose="02010600030101010101" pitchFamily="2" charset="-122"/>
                          <a:ea typeface="宋体" panose="02010600030101010101" pitchFamily="2" charset="-122"/>
                        </a:rPr>
                        <a:t>第三级信息系统单元测试</a:t>
                      </a:r>
                    </a:p>
                  </a:txBody>
                  <a:tcPr marL="91444" marR="91444" marT="45763" marB="45763"/>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latin typeface="宋体" panose="02010600030101010101" pitchFamily="2" charset="-122"/>
                          <a:ea typeface="宋体" panose="02010600030101010101" pitchFamily="2" charset="-122"/>
                        </a:rPr>
                        <a:t>第四级信息系统单元测试</a:t>
                      </a:r>
                      <a:endParaRPr lang="en-US" altLang="zh-CN" sz="1800" b="1" dirty="0" smtClean="0">
                        <a:latin typeface="宋体" panose="02010600030101010101" pitchFamily="2" charset="-122"/>
                        <a:ea typeface="宋体" panose="02010600030101010101" pitchFamily="2" charset="-122"/>
                      </a:endParaRPr>
                    </a:p>
                  </a:txBody>
                  <a:tcPr marL="91444" marR="91444" marT="45763" marB="45763"/>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b="1" dirty="0" smtClean="0">
                          <a:latin typeface="宋体" panose="02010600030101010101" pitchFamily="2" charset="-122"/>
                          <a:ea typeface="宋体" panose="02010600030101010101" pitchFamily="2" charset="-122"/>
                        </a:rPr>
                        <a:t>第五级信息系统单元测试</a:t>
                      </a:r>
                    </a:p>
                  </a:txBody>
                  <a:tcPr marL="91444" marR="91444" marT="45763" marB="45763"/>
                </a:tc>
              </a:tr>
            </a:tbl>
          </a:graphicData>
        </a:graphic>
      </p:graphicFrame>
      <p:sp>
        <p:nvSpPr>
          <p:cNvPr id="18452" name="左大括号 2"/>
          <p:cNvSpPr/>
          <p:nvPr/>
        </p:nvSpPr>
        <p:spPr>
          <a:xfrm>
            <a:off x="2895600" y="3810000"/>
            <a:ext cx="155575" cy="914400"/>
          </a:xfrm>
          <a:prstGeom prst="leftBrace">
            <a:avLst>
              <a:gd name="adj1" fmla="val 8299"/>
              <a:gd name="adj2" fmla="val 50000"/>
            </a:avLst>
          </a:prstGeom>
          <a:noFill/>
          <a:ln w="9525">
            <a:noFill/>
          </a:ln>
        </p:spPr>
        <p:txBody>
          <a:bodyPr>
            <a:spAutoFit/>
          </a:bodyPr>
          <a:lstStyle/>
          <a:p>
            <a:pPr algn="ctr">
              <a:spcBef>
                <a:spcPct val="50000"/>
              </a:spcBef>
              <a:buFont typeface="Wingdings" panose="05000000000000000000" pitchFamily="2" charset="2"/>
            </a:pPr>
            <a:endParaRPr lang="zh-CN" altLang="en-US" dirty="0">
              <a:latin typeface="Times New Roman" panose="02020603050405020304" pitchFamily="18" charset="0"/>
            </a:endParaRPr>
          </a:p>
        </p:txBody>
      </p:sp>
      <p:sp>
        <p:nvSpPr>
          <p:cNvPr id="18453" name="双大括号 4"/>
          <p:cNvSpPr/>
          <p:nvPr/>
        </p:nvSpPr>
        <p:spPr>
          <a:xfrm>
            <a:off x="2895600" y="5105400"/>
            <a:ext cx="1069975" cy="914400"/>
          </a:xfrm>
          <a:prstGeom prst="bracePair">
            <a:avLst>
              <a:gd name="adj" fmla="val 8333"/>
            </a:avLst>
          </a:prstGeom>
          <a:noFill/>
          <a:ln w="9525">
            <a:noFill/>
          </a:ln>
        </p:spPr>
        <p:txBody>
          <a:bodyPr>
            <a:spAutoFit/>
          </a:bodyPr>
          <a:lstStyle/>
          <a:p>
            <a:pPr algn="ctr">
              <a:spcBef>
                <a:spcPct val="50000"/>
              </a:spcBef>
              <a:buFont typeface="Wingdings" panose="05000000000000000000" pitchFamily="2" charset="2"/>
            </a:pPr>
            <a:endParaRPr lang="zh-CN" altLang="en-US" dirty="0">
              <a:latin typeface="Times New Roman" panose="02020603050405020304" pitchFamily="18" charset="0"/>
            </a:endParaRPr>
          </a:p>
        </p:txBody>
      </p:sp>
      <p:sp>
        <p:nvSpPr>
          <p:cNvPr id="18454" name="左大括号 2"/>
          <p:cNvSpPr/>
          <p:nvPr/>
        </p:nvSpPr>
        <p:spPr>
          <a:xfrm>
            <a:off x="4343400" y="4724400"/>
            <a:ext cx="152400" cy="1295400"/>
          </a:xfrm>
          <a:prstGeom prst="leftBrace">
            <a:avLst>
              <a:gd name="adj1" fmla="val 0"/>
              <a:gd name="adj2" fmla="val 50000"/>
            </a:avLst>
          </a:prstGeom>
          <a:noFill/>
          <a:ln w="9525">
            <a:noFill/>
          </a:ln>
        </p:spPr>
        <p:txBody>
          <a:bodyPr>
            <a:spAutoFit/>
          </a:bodyPr>
          <a:lstStyle/>
          <a:p>
            <a:pPr algn="ctr">
              <a:spcBef>
                <a:spcPct val="50000"/>
              </a:spcBef>
              <a:buFont typeface="Wingdings" panose="05000000000000000000" pitchFamily="2" charset="2"/>
            </a:pPr>
            <a:endParaRPr lang="zh-CN" altLang="en-US" dirty="0">
              <a:latin typeface="Times New Roman" panose="02020603050405020304" pitchFamily="18" charset="0"/>
            </a:endParaRPr>
          </a:p>
        </p:txBody>
      </p:sp>
      <p:sp>
        <p:nvSpPr>
          <p:cNvPr id="18455" name="左大括号 3"/>
          <p:cNvSpPr/>
          <p:nvPr/>
        </p:nvSpPr>
        <p:spPr>
          <a:xfrm>
            <a:off x="4343400" y="4572000"/>
            <a:ext cx="152400" cy="1447800"/>
          </a:xfrm>
          <a:prstGeom prst="leftBrace">
            <a:avLst>
              <a:gd name="adj1" fmla="val 8268"/>
              <a:gd name="adj2" fmla="val 50000"/>
            </a:avLst>
          </a:prstGeom>
          <a:noFill/>
          <a:ln w="9525">
            <a:noFill/>
          </a:ln>
        </p:spPr>
        <p:txBody>
          <a:bodyPr>
            <a:spAutoFit/>
          </a:bodyPr>
          <a:lstStyle/>
          <a:p>
            <a:pPr algn="ctr">
              <a:spcBef>
                <a:spcPct val="50000"/>
              </a:spcBef>
              <a:buFont typeface="Wingdings" panose="05000000000000000000" pitchFamily="2" charset="2"/>
            </a:pPr>
            <a:endParaRPr lang="zh-CN" altLang="en-US" dirty="0">
              <a:latin typeface="Times New Roman" panose="02020603050405020304" pitchFamily="18" charset="0"/>
            </a:endParaRPr>
          </a:p>
        </p:txBody>
      </p:sp>
      <p:sp>
        <p:nvSpPr>
          <p:cNvPr id="18456" name="左大括号 4"/>
          <p:cNvSpPr/>
          <p:nvPr/>
        </p:nvSpPr>
        <p:spPr>
          <a:xfrm>
            <a:off x="5029200" y="4343400"/>
            <a:ext cx="381000" cy="1524000"/>
          </a:xfrm>
          <a:prstGeom prst="leftBrace">
            <a:avLst>
              <a:gd name="adj1" fmla="val 8314"/>
              <a:gd name="adj2" fmla="val 50000"/>
            </a:avLst>
          </a:prstGeom>
          <a:noFill/>
          <a:ln w="9525">
            <a:noFill/>
          </a:ln>
        </p:spPr>
        <p:txBody>
          <a:bodyPr>
            <a:spAutoFit/>
          </a:bodyPr>
          <a:lstStyle/>
          <a:p>
            <a:pPr algn="ctr">
              <a:spcBef>
                <a:spcPct val="50000"/>
              </a:spcBef>
              <a:buFont typeface="Wingdings" panose="05000000000000000000" pitchFamily="2" charset="2"/>
            </a:pPr>
            <a:endParaRPr lang="zh-CN" altLang="en-US" dirty="0">
              <a:latin typeface="Times New Roman" panose="02020603050405020304" pitchFamily="18" charset="0"/>
            </a:endParaRPr>
          </a:p>
        </p:txBody>
      </p:sp>
      <p:sp>
        <p:nvSpPr>
          <p:cNvPr id="18457" name="左大括号 5"/>
          <p:cNvSpPr/>
          <p:nvPr/>
        </p:nvSpPr>
        <p:spPr>
          <a:xfrm>
            <a:off x="4114800" y="4343400"/>
            <a:ext cx="381000" cy="1524000"/>
          </a:xfrm>
          <a:prstGeom prst="leftBrace">
            <a:avLst>
              <a:gd name="adj1" fmla="val 8314"/>
              <a:gd name="adj2" fmla="val 50000"/>
            </a:avLst>
          </a:prstGeom>
          <a:noFill/>
          <a:ln w="9525">
            <a:noFill/>
          </a:ln>
        </p:spPr>
        <p:txBody>
          <a:bodyPr>
            <a:spAutoFit/>
          </a:bodyPr>
          <a:lstStyle/>
          <a:p>
            <a:pPr algn="ctr">
              <a:spcBef>
                <a:spcPct val="50000"/>
              </a:spcBef>
              <a:buFont typeface="Wingdings" panose="05000000000000000000" pitchFamily="2" charset="2"/>
            </a:pPr>
            <a:endParaRPr lang="zh-CN" altLang="en-US" dirty="0">
              <a:latin typeface="Times New Roman" panose="02020603050405020304" pitchFamily="18" charset="0"/>
            </a:endParaRPr>
          </a:p>
        </p:txBody>
      </p:sp>
      <p:sp>
        <p:nvSpPr>
          <p:cNvPr id="18458" name="左大括号 7"/>
          <p:cNvSpPr/>
          <p:nvPr/>
        </p:nvSpPr>
        <p:spPr>
          <a:xfrm>
            <a:off x="4114800" y="4953000"/>
            <a:ext cx="155575" cy="914400"/>
          </a:xfrm>
          <a:prstGeom prst="leftBrace">
            <a:avLst>
              <a:gd name="adj1" fmla="val 8299"/>
              <a:gd name="adj2" fmla="val 50000"/>
            </a:avLst>
          </a:prstGeom>
          <a:noFill/>
          <a:ln w="9525">
            <a:noFill/>
          </a:ln>
        </p:spPr>
        <p:txBody>
          <a:bodyPr>
            <a:spAutoFit/>
          </a:bodyPr>
          <a:lstStyle/>
          <a:p>
            <a:pPr algn="ctr">
              <a:spcBef>
                <a:spcPct val="50000"/>
              </a:spcBef>
              <a:buFont typeface="Wingdings" panose="05000000000000000000" pitchFamily="2" charset="2"/>
            </a:pPr>
            <a:endParaRPr lang="zh-CN" altLang="en-US" dirty="0">
              <a:latin typeface="Times New Roman" panose="02020603050405020304" pitchFamily="18" charset="0"/>
            </a:endParaRPr>
          </a:p>
        </p:txBody>
      </p:sp>
      <p:sp>
        <p:nvSpPr>
          <p:cNvPr id="18459" name="左大括号 8"/>
          <p:cNvSpPr/>
          <p:nvPr/>
        </p:nvSpPr>
        <p:spPr>
          <a:xfrm>
            <a:off x="4343400" y="3657600"/>
            <a:ext cx="304800" cy="1066800"/>
          </a:xfrm>
          <a:prstGeom prst="leftBrace">
            <a:avLst>
              <a:gd name="adj1" fmla="val 8312"/>
              <a:gd name="adj2" fmla="val 50000"/>
            </a:avLst>
          </a:prstGeom>
          <a:noFill/>
          <a:ln w="9525">
            <a:noFill/>
          </a:ln>
        </p:spPr>
        <p:txBody>
          <a:bodyPr>
            <a:spAutoFit/>
          </a:bodyPr>
          <a:lstStyle/>
          <a:p>
            <a:pPr algn="ctr">
              <a:spcBef>
                <a:spcPct val="50000"/>
              </a:spcBef>
              <a:buFont typeface="Wingdings" panose="05000000000000000000" pitchFamily="2" charset="2"/>
            </a:pPr>
            <a:endParaRPr lang="zh-CN" altLang="en-US" dirty="0">
              <a:latin typeface="Times New Roman" panose="02020603050405020304" pitchFamily="18" charset="0"/>
            </a:endParaRPr>
          </a:p>
        </p:txBody>
      </p:sp>
      <p:sp>
        <p:nvSpPr>
          <p:cNvPr id="18460" name="左大括号 10"/>
          <p:cNvSpPr/>
          <p:nvPr/>
        </p:nvSpPr>
        <p:spPr>
          <a:xfrm>
            <a:off x="4114800" y="5257800"/>
            <a:ext cx="1600200" cy="609600"/>
          </a:xfrm>
          <a:prstGeom prst="leftBrace">
            <a:avLst>
              <a:gd name="adj1" fmla="val 8328"/>
              <a:gd name="adj2" fmla="val 50000"/>
            </a:avLst>
          </a:prstGeom>
          <a:noFill/>
          <a:ln w="9525">
            <a:noFill/>
          </a:ln>
        </p:spPr>
        <p:txBody>
          <a:bodyPr>
            <a:spAutoFit/>
          </a:bodyPr>
          <a:lstStyle/>
          <a:p>
            <a:pPr algn="ctr">
              <a:spcBef>
                <a:spcPct val="50000"/>
              </a:spcBef>
              <a:buFont typeface="Wingdings" panose="05000000000000000000" pitchFamily="2" charset="2"/>
            </a:pPr>
            <a:endParaRPr lang="zh-CN" altLang="en-US" dirty="0">
              <a:latin typeface="Times New Roman" panose="02020603050405020304" pitchFamily="18" charset="0"/>
            </a:endParaRPr>
          </a:p>
        </p:txBody>
      </p:sp>
      <p:pic>
        <p:nvPicPr>
          <p:cNvPr id="4" name="图片 3"/>
          <p:cNvPicPr>
            <a:picLocks noChangeAspect="1"/>
          </p:cNvPicPr>
          <p:nvPr/>
        </p:nvPicPr>
        <p:blipFill>
          <a:blip r:embed="rId2"/>
          <a:stretch>
            <a:fillRect/>
          </a:stretch>
        </p:blipFill>
        <p:spPr>
          <a:xfrm>
            <a:off x="4106863" y="2986088"/>
            <a:ext cx="3579812" cy="3629025"/>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信息系统安全等级测评要求</a:t>
            </a:r>
          </a:p>
        </p:txBody>
      </p:sp>
      <p:sp>
        <p:nvSpPr>
          <p:cNvPr id="19459" name="内容占位符 2"/>
          <p:cNvSpPr>
            <a:spLocks noGrp="1"/>
          </p:cNvSpPr>
          <p:nvPr>
            <p:ph idx="1"/>
          </p:nvPr>
        </p:nvSpPr>
        <p:spPr>
          <a:xfrm>
            <a:off x="304800" y="938213"/>
            <a:ext cx="8229600" cy="5538787"/>
          </a:xfrm>
        </p:spPr>
        <p:txBody>
          <a:bodyPr vert="horz" wrap="square" lIns="91440" tIns="45720" rIns="91440" bIns="45720" anchor="t" anchorCtr="0"/>
          <a:lstStyle/>
          <a:p>
            <a:pPr eaLnBrk="1" hangingPunct="1">
              <a:spcAft>
                <a:spcPct val="20000"/>
              </a:spcAft>
              <a:buClr>
                <a:srgbClr val="AC04A0"/>
              </a:buClr>
            </a:pPr>
            <a:r>
              <a:rPr lang="en-US" altLang="zh-CN" b="1" dirty="0">
                <a:latin typeface="Times New Roman" panose="02020603050405020304" pitchFamily="18" charset="0"/>
                <a:ea typeface="楷体_GB2312" pitchFamily="49" charset="-122"/>
              </a:rPr>
              <a:t> </a:t>
            </a:r>
            <a:r>
              <a:rPr lang="zh-CN" altLang="en-US" b="1" dirty="0">
                <a:latin typeface="楷体_GB2312" pitchFamily="49" charset="-122"/>
                <a:ea typeface="楷体_GB2312" pitchFamily="49" charset="-122"/>
              </a:rPr>
              <a:t>物理安全</a:t>
            </a:r>
            <a:endParaRPr lang="en-US" altLang="zh-CN" b="1" dirty="0">
              <a:latin typeface="楷体_GB2312" pitchFamily="49" charset="-122"/>
              <a:ea typeface="楷体_GB2312" pitchFamily="49" charset="-122"/>
            </a:endParaRPr>
          </a:p>
          <a:p>
            <a:pPr lvl="1" eaLnBrk="1" hangingPunct="1"/>
            <a:r>
              <a:rPr lang="zh-CN" altLang="en-US" b="1" dirty="0">
                <a:latin typeface="楷体_GB2312" pitchFamily="49" charset="-122"/>
                <a:ea typeface="楷体_GB2312" pitchFamily="49" charset="-122"/>
              </a:rPr>
              <a:t>物理位置</a:t>
            </a:r>
            <a:endParaRPr lang="en-US" altLang="zh-CN" b="1" dirty="0">
              <a:latin typeface="楷体_GB2312" pitchFamily="49" charset="-122"/>
              <a:ea typeface="楷体_GB2312" pitchFamily="49" charset="-122"/>
            </a:endParaRPr>
          </a:p>
          <a:p>
            <a:pPr lvl="1" eaLnBrk="1" hangingPunct="1"/>
            <a:r>
              <a:rPr lang="zh-CN" altLang="en-US" b="1" dirty="0">
                <a:latin typeface="楷体_GB2312" pitchFamily="49" charset="-122"/>
                <a:ea typeface="楷体_GB2312" pitchFamily="49" charset="-122"/>
              </a:rPr>
              <a:t>物理访问控制</a:t>
            </a:r>
            <a:endParaRPr lang="en-US" altLang="zh-CN" b="1" dirty="0">
              <a:latin typeface="楷体_GB2312" pitchFamily="49" charset="-122"/>
              <a:ea typeface="楷体_GB2312" pitchFamily="49" charset="-122"/>
            </a:endParaRPr>
          </a:p>
          <a:p>
            <a:pPr lvl="1" eaLnBrk="1" hangingPunct="1"/>
            <a:r>
              <a:rPr lang="zh-CN" altLang="en-US" b="1" dirty="0">
                <a:latin typeface="楷体_GB2312" pitchFamily="49" charset="-122"/>
                <a:ea typeface="楷体_GB2312" pitchFamily="49" charset="-122"/>
              </a:rPr>
              <a:t>防盗窃和防破坏</a:t>
            </a:r>
            <a:endParaRPr lang="en-US" altLang="zh-CN" b="1" dirty="0">
              <a:latin typeface="楷体_GB2312" pitchFamily="49" charset="-122"/>
              <a:ea typeface="楷体_GB2312" pitchFamily="49" charset="-122"/>
            </a:endParaRPr>
          </a:p>
          <a:p>
            <a:pPr lvl="1" eaLnBrk="1" hangingPunct="1"/>
            <a:r>
              <a:rPr lang="zh-CN" altLang="en-US" b="1" dirty="0">
                <a:latin typeface="楷体_GB2312" pitchFamily="49" charset="-122"/>
                <a:ea typeface="楷体_GB2312" pitchFamily="49" charset="-122"/>
              </a:rPr>
              <a:t>防雷击、防火、防水和防潮、防静电</a:t>
            </a:r>
            <a:endParaRPr lang="en-US" altLang="zh-CN" b="1" dirty="0">
              <a:latin typeface="楷体_GB2312" pitchFamily="49" charset="-122"/>
              <a:ea typeface="楷体_GB2312" pitchFamily="49" charset="-122"/>
            </a:endParaRPr>
          </a:p>
          <a:p>
            <a:pPr lvl="1" eaLnBrk="1" hangingPunct="1"/>
            <a:r>
              <a:rPr lang="zh-CN" altLang="en-US" b="1" dirty="0">
                <a:latin typeface="楷体_GB2312" pitchFamily="49" charset="-122"/>
                <a:ea typeface="楷体_GB2312" pitchFamily="49" charset="-122"/>
              </a:rPr>
              <a:t>温湿度控制</a:t>
            </a:r>
            <a:endParaRPr lang="en-US" altLang="zh-CN" b="1" dirty="0">
              <a:latin typeface="楷体_GB2312" pitchFamily="49" charset="-122"/>
              <a:ea typeface="楷体_GB2312" pitchFamily="49" charset="-122"/>
            </a:endParaRPr>
          </a:p>
          <a:p>
            <a:pPr lvl="1" eaLnBrk="1" hangingPunct="1"/>
            <a:r>
              <a:rPr lang="zh-CN" altLang="en-US" b="1" dirty="0">
                <a:latin typeface="楷体_GB2312" pitchFamily="49" charset="-122"/>
                <a:ea typeface="楷体_GB2312" pitchFamily="49" charset="-122"/>
              </a:rPr>
              <a:t>电力供应</a:t>
            </a:r>
            <a:endParaRPr lang="en-US" altLang="zh-CN" b="1" dirty="0">
              <a:latin typeface="楷体_GB2312" pitchFamily="49" charset="-122"/>
              <a:ea typeface="楷体_GB2312" pitchFamily="49" charset="-122"/>
            </a:endParaRPr>
          </a:p>
          <a:p>
            <a:pPr lvl="1" eaLnBrk="1" hangingPunct="1"/>
            <a:r>
              <a:rPr lang="zh-CN" altLang="en-US" b="1" dirty="0">
                <a:latin typeface="楷体_GB2312" pitchFamily="49" charset="-122"/>
                <a:ea typeface="楷体_GB2312" pitchFamily="49" charset="-122"/>
              </a:rPr>
              <a:t>电磁防护</a:t>
            </a:r>
            <a:endParaRPr lang="en-US" altLang="zh-CN" b="1" dirty="0">
              <a:latin typeface="楷体_GB2312" pitchFamily="49" charset="-122"/>
              <a:ea typeface="楷体_GB2312" pitchFamily="49" charset="-122"/>
            </a:endParaRPr>
          </a:p>
          <a:p>
            <a:pPr lvl="1" eaLnBrk="1" hangingPunct="1"/>
            <a:endParaRPr lang="en-US" altLang="zh-CN" b="1" dirty="0">
              <a:latin typeface="楷体_GB2312" pitchFamily="49" charset="-122"/>
              <a:ea typeface="楷体_GB2312" pitchFamily="49" charset="-122"/>
            </a:endParaRPr>
          </a:p>
          <a:p>
            <a:pPr lvl="1" eaLnBrk="1" hangingPunct="1"/>
            <a:endParaRPr lang="en-US" altLang="zh-CN" b="1" dirty="0">
              <a:latin typeface="楷体_GB2312" pitchFamily="49" charset="-122"/>
              <a:ea typeface="楷体_GB2312" pitchFamily="49" charset="-122"/>
            </a:endParaRPr>
          </a:p>
          <a:p>
            <a:pPr lvl="1" eaLnBrk="1" hangingPunct="1"/>
            <a:endParaRPr lang="en-US" altLang="zh-CN" b="1" dirty="0">
              <a:latin typeface="楷体_GB2312" pitchFamily="49" charset="-122"/>
              <a:ea typeface="楷体_GB2312" pitchFamily="49" charset="-122"/>
            </a:endParaRPr>
          </a:p>
          <a:p>
            <a:pPr lvl="1" eaLnBrk="1" hangingPunct="1">
              <a:buNone/>
            </a:pPr>
            <a:endParaRPr lang="en-US" altLang="zh-CN" b="1" dirty="0">
              <a:latin typeface="楷体_GB2312" pitchFamily="49" charset="-122"/>
              <a:ea typeface="楷体_GB2312" pitchFamily="49" charset="-122"/>
            </a:endParaRPr>
          </a:p>
          <a:p>
            <a:pPr eaLnBrk="1" hangingPunct="1">
              <a:buNone/>
            </a:pPr>
            <a:endParaRPr lang="zh-CN" altLang="en-US" dirty="0">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fade">
                                      <p:cBhvr>
                                        <p:cTn id="17" dur="2000"/>
                                        <p:tgtEl>
                                          <p:spTgt spid="194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xEl>
                                              <p:pRg st="4" end="4"/>
                                            </p:txEl>
                                          </p:spTgt>
                                        </p:tgtEl>
                                        <p:attrNameLst>
                                          <p:attrName>style.visibility</p:attrName>
                                        </p:attrNameLst>
                                      </p:cBhvr>
                                      <p:to>
                                        <p:strVal val="visible"/>
                                      </p:to>
                                    </p:set>
                                    <p:animEffect transition="in" filter="fade">
                                      <p:cBhvr>
                                        <p:cTn id="22" dur="2000"/>
                                        <p:tgtEl>
                                          <p:spTgt spid="1945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animEffect transition="in" filter="fade">
                                      <p:cBhvr>
                                        <p:cTn id="27" dur="2000"/>
                                        <p:tgtEl>
                                          <p:spTgt spid="1945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459">
                                            <p:txEl>
                                              <p:pRg st="6" end="6"/>
                                            </p:txEl>
                                          </p:spTgt>
                                        </p:tgtEl>
                                        <p:attrNameLst>
                                          <p:attrName>style.visibility</p:attrName>
                                        </p:attrNameLst>
                                      </p:cBhvr>
                                      <p:to>
                                        <p:strVal val="visible"/>
                                      </p:to>
                                    </p:set>
                                    <p:animEffect transition="in" filter="fade">
                                      <p:cBhvr>
                                        <p:cTn id="32" dur="2000"/>
                                        <p:tgtEl>
                                          <p:spTgt spid="19459">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459">
                                            <p:txEl>
                                              <p:pRg st="7" end="7"/>
                                            </p:txEl>
                                          </p:spTgt>
                                        </p:tgtEl>
                                        <p:attrNameLst>
                                          <p:attrName>style.visibility</p:attrName>
                                        </p:attrNameLst>
                                      </p:cBhvr>
                                      <p:to>
                                        <p:strVal val="visible"/>
                                      </p:to>
                                    </p:set>
                                    <p:animEffect transition="in" filter="fade">
                                      <p:cBhvr>
                                        <p:cTn id="37" dur="2000"/>
                                        <p:tgtEl>
                                          <p:spTgt spid="19459">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9459">
                                            <p:txEl>
                                              <p:pRg st="2" end="2"/>
                                            </p:txEl>
                                          </p:spTgt>
                                        </p:tgtEl>
                                        <p:attrNameLst>
                                          <p:attrName>style.visibility</p:attrName>
                                        </p:attrNameLst>
                                      </p:cBhvr>
                                      <p:to>
                                        <p:strVal val="visible"/>
                                      </p:to>
                                    </p:set>
                                    <p:animEffect transition="in" filter="fade">
                                      <p:cBhvr>
                                        <p:cTn id="42" dur="2000"/>
                                        <p:tgtEl>
                                          <p:spTgt spid="1945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信息系统安全等级测评要求</a:t>
            </a:r>
          </a:p>
        </p:txBody>
      </p:sp>
      <p:sp>
        <p:nvSpPr>
          <p:cNvPr id="20483" name="内容占位符 2"/>
          <p:cNvSpPr>
            <a:spLocks noGrp="1"/>
          </p:cNvSpPr>
          <p:nvPr>
            <p:ph idx="1"/>
          </p:nvPr>
        </p:nvSpPr>
        <p:spPr>
          <a:xfrm>
            <a:off x="304800" y="1066800"/>
            <a:ext cx="8382000" cy="5410200"/>
          </a:xfrm>
        </p:spPr>
        <p:txBody>
          <a:bodyPr vert="horz" wrap="square" lIns="91440" tIns="45720" rIns="91440" bIns="45720" anchor="t" anchorCtr="0"/>
          <a:lstStyle/>
          <a:p>
            <a:pPr eaLnBrk="1" hangingPunct="1">
              <a:spcAft>
                <a:spcPct val="20000"/>
              </a:spcAft>
              <a:buClr>
                <a:srgbClr val="AC04A0"/>
              </a:buClr>
            </a:pPr>
            <a:r>
              <a:rPr lang="zh-CN" altLang="zh-CN" dirty="0">
                <a:ea typeface="宋体" panose="02010600030101010101" pitchFamily="2" charset="-122"/>
              </a:rPr>
              <a:t>网络安全</a:t>
            </a:r>
            <a:endParaRPr lang="en-US" altLang="zh-CN" dirty="0">
              <a:ea typeface="宋体" panose="02010600030101010101" pitchFamily="2" charset="-122"/>
            </a:endParaRPr>
          </a:p>
          <a:p>
            <a:pPr lvl="1" eaLnBrk="1" hangingPunct="1">
              <a:spcAft>
                <a:spcPct val="20000"/>
              </a:spcAft>
              <a:buClr>
                <a:srgbClr val="AC04A0"/>
              </a:buClr>
            </a:pPr>
            <a:r>
              <a:rPr lang="zh-CN" altLang="zh-CN" dirty="0">
                <a:ea typeface="宋体" panose="02010600030101010101" pitchFamily="2" charset="-122"/>
              </a:rPr>
              <a:t>网络系统的</a:t>
            </a:r>
            <a:r>
              <a:rPr lang="en-US" altLang="zh-CN" dirty="0">
                <a:ea typeface="宋体" panose="02010600030101010101" pitchFamily="2" charset="-122"/>
                <a:hlinkClick r:id="rId2"/>
              </a:rPr>
              <a:t>硬件</a:t>
            </a:r>
            <a:r>
              <a:rPr lang="zh-CN" altLang="zh-CN" dirty="0">
                <a:ea typeface="宋体" panose="02010600030101010101" pitchFamily="2" charset="-122"/>
              </a:rPr>
              <a:t>、</a:t>
            </a:r>
            <a:r>
              <a:rPr lang="en-US" altLang="zh-CN" dirty="0">
                <a:ea typeface="宋体" panose="02010600030101010101" pitchFamily="2" charset="-122"/>
                <a:hlinkClick r:id="rId3"/>
              </a:rPr>
              <a:t>软件</a:t>
            </a:r>
            <a:r>
              <a:rPr lang="zh-CN" altLang="zh-CN" dirty="0">
                <a:ea typeface="宋体" panose="02010600030101010101" pitchFamily="2" charset="-122"/>
              </a:rPr>
              <a:t>及其系统中的数据受到保护，不因偶然的或者恶意的原因而遭受到破坏、更改、泄露，系统连续可靠正常地运行，</a:t>
            </a:r>
            <a:r>
              <a:rPr lang="en-US" altLang="zh-CN" dirty="0">
                <a:ea typeface="宋体" panose="02010600030101010101" pitchFamily="2" charset="-122"/>
                <a:hlinkClick r:id="rId4"/>
              </a:rPr>
              <a:t>网络服务</a:t>
            </a:r>
            <a:r>
              <a:rPr lang="zh-CN" altLang="zh-CN" dirty="0">
                <a:ea typeface="宋体" panose="02010600030101010101" pitchFamily="2" charset="-122"/>
              </a:rPr>
              <a:t>不中断。</a:t>
            </a:r>
            <a:endParaRPr lang="en-US" altLang="zh-CN" dirty="0">
              <a:ea typeface="宋体" panose="02010600030101010101" pitchFamily="2" charset="-122"/>
            </a:endParaRPr>
          </a:p>
          <a:p>
            <a:pPr lvl="1" eaLnBrk="1" hangingPunct="1">
              <a:spcAft>
                <a:spcPct val="20000"/>
              </a:spcAft>
              <a:buClr>
                <a:srgbClr val="AC04A0"/>
              </a:buClr>
            </a:pPr>
            <a:r>
              <a:rPr lang="zh-CN" altLang="zh-CN" dirty="0">
                <a:ea typeface="宋体" panose="02010600030101010101" pitchFamily="2" charset="-122"/>
              </a:rPr>
              <a:t>网络安全包括结构安全、访问控制、安全审计、边界完整性检查、入侵防范、恶意代码防范、网络设备防护等方面。</a:t>
            </a:r>
            <a:endParaRPr lang="en-US" altLang="zh-CN" b="1" dirty="0">
              <a:latin typeface="楷体_GB2312" pitchFamily="49" charset="-122"/>
              <a:ea typeface="楷体_GB2312" pitchFamily="49" charset="-122"/>
            </a:endParaRPr>
          </a:p>
          <a:p>
            <a:pPr lvl="1" eaLnBrk="1" hangingPunct="1">
              <a:buNone/>
            </a:pPr>
            <a:endParaRPr lang="en-US" altLang="zh-CN" b="1" dirty="0">
              <a:latin typeface="楷体_GB2312" pitchFamily="49" charset="-122"/>
              <a:ea typeface="楷体_GB2312" pitchFamily="49" charset="-122"/>
            </a:endParaRPr>
          </a:p>
          <a:p>
            <a:pPr eaLnBrk="1" hangingPunct="1">
              <a:buNone/>
            </a:pPr>
            <a:endParaRPr lang="zh-CN" altLang="en-US" dirty="0">
              <a:ea typeface="楷体_GB2312" pitchFamily="49" charset="-122"/>
            </a:endParaRPr>
          </a:p>
        </p:txBody>
      </p:sp>
    </p:spTree>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信息系统安全等级测评要求</a:t>
            </a:r>
          </a:p>
        </p:txBody>
      </p:sp>
      <p:sp>
        <p:nvSpPr>
          <p:cNvPr id="19459" name="内容占位符 2"/>
          <p:cNvSpPr>
            <a:spLocks noGrp="1"/>
          </p:cNvSpPr>
          <p:nvPr>
            <p:ph idx="1"/>
          </p:nvPr>
        </p:nvSpPr>
        <p:spPr>
          <a:xfrm>
            <a:off x="304800" y="1066800"/>
            <a:ext cx="8229600" cy="5410200"/>
          </a:xfrm>
        </p:spPr>
        <p:txBody>
          <a:bodyPr vert="horz" wrap="square" lIns="91440" tIns="45720" rIns="91440" bIns="45720" anchor="t" anchorCtr="0"/>
          <a:lstStyle/>
          <a:p>
            <a:pPr eaLnBrk="1" hangingPunct="1">
              <a:spcAft>
                <a:spcPct val="20000"/>
              </a:spcAft>
              <a:buClr>
                <a:srgbClr val="AC04A0"/>
              </a:buClr>
            </a:pPr>
            <a:r>
              <a:rPr lang="en-US" altLang="zh-CN" b="1" dirty="0">
                <a:latin typeface="Times New Roman" panose="02020603050405020304" pitchFamily="18" charset="0"/>
                <a:ea typeface="楷体_GB2312" pitchFamily="49" charset="-122"/>
              </a:rPr>
              <a:t> </a:t>
            </a:r>
            <a:r>
              <a:rPr lang="zh-CN" altLang="en-US" b="1" dirty="0">
                <a:latin typeface="楷体_GB2312" pitchFamily="49" charset="-122"/>
                <a:ea typeface="楷体_GB2312" pitchFamily="49" charset="-122"/>
              </a:rPr>
              <a:t>主机安全</a:t>
            </a:r>
            <a:endParaRPr lang="en-US" altLang="zh-CN" b="1" dirty="0">
              <a:latin typeface="楷体_GB2312" pitchFamily="49" charset="-122"/>
              <a:ea typeface="楷体_GB2312" pitchFamily="49" charset="-122"/>
            </a:endParaRPr>
          </a:p>
          <a:p>
            <a:pPr lvl="1" eaLnBrk="1" hangingPunct="1"/>
            <a:r>
              <a:rPr lang="zh-CN" altLang="en-US" b="1" dirty="0">
                <a:latin typeface="楷体_GB2312" pitchFamily="49" charset="-122"/>
                <a:ea typeface="楷体_GB2312" pitchFamily="49" charset="-122"/>
              </a:rPr>
              <a:t>身份鉴别</a:t>
            </a:r>
            <a:endParaRPr lang="en-US" altLang="zh-CN" b="1" dirty="0">
              <a:latin typeface="楷体_GB2312" pitchFamily="49" charset="-122"/>
              <a:ea typeface="楷体_GB2312" pitchFamily="49" charset="-122"/>
            </a:endParaRPr>
          </a:p>
          <a:p>
            <a:pPr lvl="1" eaLnBrk="1" hangingPunct="1"/>
            <a:r>
              <a:rPr lang="zh-CN" altLang="en-US" b="1" dirty="0">
                <a:latin typeface="楷体_GB2312" pitchFamily="49" charset="-122"/>
                <a:ea typeface="楷体_GB2312" pitchFamily="49" charset="-122"/>
              </a:rPr>
              <a:t>安全标记</a:t>
            </a:r>
            <a:endParaRPr lang="en-US" altLang="zh-CN" b="1" dirty="0">
              <a:latin typeface="楷体_GB2312" pitchFamily="49" charset="-122"/>
              <a:ea typeface="楷体_GB2312" pitchFamily="49" charset="-122"/>
            </a:endParaRPr>
          </a:p>
          <a:p>
            <a:pPr lvl="1" eaLnBrk="1" hangingPunct="1"/>
            <a:r>
              <a:rPr lang="zh-CN" altLang="en-US" b="1" dirty="0">
                <a:latin typeface="楷体_GB2312" pitchFamily="49" charset="-122"/>
                <a:ea typeface="楷体_GB2312" pitchFamily="49" charset="-122"/>
              </a:rPr>
              <a:t>访问控制</a:t>
            </a:r>
            <a:endParaRPr lang="en-US" altLang="zh-CN" b="1" dirty="0">
              <a:latin typeface="楷体_GB2312" pitchFamily="49" charset="-122"/>
              <a:ea typeface="楷体_GB2312" pitchFamily="49" charset="-122"/>
            </a:endParaRPr>
          </a:p>
          <a:p>
            <a:pPr lvl="1" eaLnBrk="1" hangingPunct="1"/>
            <a:r>
              <a:rPr lang="zh-CN" altLang="en-US" b="1" dirty="0">
                <a:latin typeface="楷体_GB2312" pitchFamily="49" charset="-122"/>
                <a:ea typeface="楷体_GB2312" pitchFamily="49" charset="-122"/>
              </a:rPr>
              <a:t>可信路径</a:t>
            </a:r>
            <a:endParaRPr lang="en-US" altLang="zh-CN" b="1" dirty="0">
              <a:latin typeface="楷体_GB2312" pitchFamily="49" charset="-122"/>
              <a:ea typeface="楷体_GB2312" pitchFamily="49" charset="-122"/>
            </a:endParaRPr>
          </a:p>
          <a:p>
            <a:pPr lvl="1" eaLnBrk="1" hangingPunct="1"/>
            <a:r>
              <a:rPr lang="zh-CN" altLang="en-US" b="1" dirty="0">
                <a:latin typeface="楷体_GB2312" pitchFamily="49" charset="-122"/>
                <a:ea typeface="楷体_GB2312" pitchFamily="49" charset="-122"/>
              </a:rPr>
              <a:t>安全审计</a:t>
            </a:r>
            <a:endParaRPr lang="en-US" altLang="zh-CN" b="1" dirty="0">
              <a:latin typeface="楷体_GB2312" pitchFamily="49" charset="-122"/>
              <a:ea typeface="楷体_GB2312" pitchFamily="49" charset="-122"/>
            </a:endParaRPr>
          </a:p>
          <a:p>
            <a:pPr lvl="1" eaLnBrk="1" hangingPunct="1"/>
            <a:r>
              <a:rPr lang="zh-CN" altLang="en-US" b="1" dirty="0">
                <a:latin typeface="楷体_GB2312" pitchFamily="49" charset="-122"/>
                <a:ea typeface="楷体_GB2312" pitchFamily="49" charset="-122"/>
              </a:rPr>
              <a:t>剩余信息保护</a:t>
            </a:r>
            <a:endParaRPr lang="en-US" altLang="zh-CN" b="1" dirty="0">
              <a:latin typeface="楷体_GB2312" pitchFamily="49" charset="-122"/>
              <a:ea typeface="楷体_GB2312" pitchFamily="49" charset="-122"/>
            </a:endParaRPr>
          </a:p>
          <a:p>
            <a:pPr lvl="1" eaLnBrk="1" hangingPunct="1"/>
            <a:r>
              <a:rPr lang="zh-CN" altLang="en-US" b="1" dirty="0">
                <a:latin typeface="楷体_GB2312" pitchFamily="49" charset="-122"/>
                <a:ea typeface="楷体_GB2312" pitchFamily="49" charset="-122"/>
              </a:rPr>
              <a:t>入侵防范，恶意代码防范</a:t>
            </a:r>
            <a:endParaRPr lang="en-US" altLang="zh-CN" b="1" dirty="0">
              <a:latin typeface="楷体_GB2312" pitchFamily="49" charset="-122"/>
              <a:ea typeface="楷体_GB2312" pitchFamily="49" charset="-122"/>
            </a:endParaRPr>
          </a:p>
          <a:p>
            <a:pPr lvl="1" eaLnBrk="1" hangingPunct="1"/>
            <a:r>
              <a:rPr lang="zh-CN" altLang="en-US" b="1" dirty="0">
                <a:latin typeface="楷体_GB2312" pitchFamily="49" charset="-122"/>
                <a:ea typeface="楷体_GB2312" pitchFamily="49" charset="-122"/>
              </a:rPr>
              <a:t>资源控制</a:t>
            </a:r>
            <a:endParaRPr lang="en-US" altLang="zh-CN" b="1" dirty="0">
              <a:latin typeface="楷体_GB2312" pitchFamily="49" charset="-122"/>
              <a:ea typeface="楷体_GB2312" pitchFamily="49" charset="-122"/>
            </a:endParaRPr>
          </a:p>
          <a:p>
            <a:pPr lvl="1" eaLnBrk="1" hangingPunct="1"/>
            <a:endParaRPr lang="en-US" altLang="zh-CN" b="1" dirty="0">
              <a:latin typeface="楷体_GB2312" pitchFamily="49" charset="-122"/>
              <a:ea typeface="楷体_GB2312" pitchFamily="49" charset="-122"/>
            </a:endParaRPr>
          </a:p>
          <a:p>
            <a:pPr lvl="1" eaLnBrk="1" hangingPunct="1"/>
            <a:endParaRPr lang="en-US" altLang="zh-CN" b="1" dirty="0">
              <a:latin typeface="楷体_GB2312" pitchFamily="49" charset="-122"/>
              <a:ea typeface="楷体_GB2312" pitchFamily="49" charset="-122"/>
            </a:endParaRPr>
          </a:p>
          <a:p>
            <a:pPr lvl="1" eaLnBrk="1" hangingPunct="1"/>
            <a:endParaRPr lang="en-US" altLang="zh-CN" b="1" dirty="0">
              <a:latin typeface="楷体_GB2312" pitchFamily="49" charset="-122"/>
              <a:ea typeface="楷体_GB2312" pitchFamily="49" charset="-122"/>
            </a:endParaRPr>
          </a:p>
          <a:p>
            <a:pPr lvl="1" eaLnBrk="1" hangingPunct="1">
              <a:buNone/>
            </a:pPr>
            <a:endParaRPr lang="en-US" altLang="zh-CN" b="1" dirty="0">
              <a:latin typeface="楷体_GB2312" pitchFamily="49" charset="-122"/>
              <a:ea typeface="楷体_GB2312" pitchFamily="49" charset="-122"/>
            </a:endParaRPr>
          </a:p>
          <a:p>
            <a:pPr eaLnBrk="1" hangingPunct="1">
              <a:buNone/>
            </a:pPr>
            <a:endParaRPr lang="zh-CN" altLang="en-US" dirty="0">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fade">
                                      <p:cBhvr>
                                        <p:cTn id="17" dur="2000"/>
                                        <p:tgtEl>
                                          <p:spTgt spid="194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xEl>
                                              <p:pRg st="4" end="4"/>
                                            </p:txEl>
                                          </p:spTgt>
                                        </p:tgtEl>
                                        <p:attrNameLst>
                                          <p:attrName>style.visibility</p:attrName>
                                        </p:attrNameLst>
                                      </p:cBhvr>
                                      <p:to>
                                        <p:strVal val="visible"/>
                                      </p:to>
                                    </p:set>
                                    <p:animEffect transition="in" filter="fade">
                                      <p:cBhvr>
                                        <p:cTn id="22" dur="2000"/>
                                        <p:tgtEl>
                                          <p:spTgt spid="1945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animEffect transition="in" filter="fade">
                                      <p:cBhvr>
                                        <p:cTn id="27" dur="2000"/>
                                        <p:tgtEl>
                                          <p:spTgt spid="1945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459">
                                            <p:txEl>
                                              <p:pRg st="6" end="6"/>
                                            </p:txEl>
                                          </p:spTgt>
                                        </p:tgtEl>
                                        <p:attrNameLst>
                                          <p:attrName>style.visibility</p:attrName>
                                        </p:attrNameLst>
                                      </p:cBhvr>
                                      <p:to>
                                        <p:strVal val="visible"/>
                                      </p:to>
                                    </p:set>
                                    <p:animEffect transition="in" filter="fade">
                                      <p:cBhvr>
                                        <p:cTn id="32" dur="2000"/>
                                        <p:tgtEl>
                                          <p:spTgt spid="19459">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459">
                                            <p:txEl>
                                              <p:pRg st="7" end="7"/>
                                            </p:txEl>
                                          </p:spTgt>
                                        </p:tgtEl>
                                        <p:attrNameLst>
                                          <p:attrName>style.visibility</p:attrName>
                                        </p:attrNameLst>
                                      </p:cBhvr>
                                      <p:to>
                                        <p:strVal val="visible"/>
                                      </p:to>
                                    </p:set>
                                    <p:animEffect transition="in" filter="fade">
                                      <p:cBhvr>
                                        <p:cTn id="37" dur="2000"/>
                                        <p:tgtEl>
                                          <p:spTgt spid="19459">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9459">
                                            <p:txEl>
                                              <p:pRg st="8" end="8"/>
                                            </p:txEl>
                                          </p:spTgt>
                                        </p:tgtEl>
                                        <p:attrNameLst>
                                          <p:attrName>style.visibility</p:attrName>
                                        </p:attrNameLst>
                                      </p:cBhvr>
                                      <p:to>
                                        <p:strVal val="visible"/>
                                      </p:to>
                                    </p:set>
                                    <p:animEffect transition="in" filter="fade">
                                      <p:cBhvr>
                                        <p:cTn id="42" dur="2000"/>
                                        <p:tgtEl>
                                          <p:spTgt spid="19459">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9459">
                                            <p:txEl>
                                              <p:pRg st="2" end="2"/>
                                            </p:txEl>
                                          </p:spTgt>
                                        </p:tgtEl>
                                        <p:attrNameLst>
                                          <p:attrName>style.visibility</p:attrName>
                                        </p:attrNameLst>
                                      </p:cBhvr>
                                      <p:to>
                                        <p:strVal val="visible"/>
                                      </p:to>
                                    </p:set>
                                    <p:animEffect transition="in" filter="fade">
                                      <p:cBhvr>
                                        <p:cTn id="47" dur="2000"/>
                                        <p:tgtEl>
                                          <p:spTgt spid="1945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信息系统安全等级测评要求</a:t>
            </a:r>
          </a:p>
        </p:txBody>
      </p:sp>
      <p:sp>
        <p:nvSpPr>
          <p:cNvPr id="22531" name="内容占位符 2"/>
          <p:cNvSpPr>
            <a:spLocks noGrp="1"/>
          </p:cNvSpPr>
          <p:nvPr>
            <p:ph idx="1"/>
          </p:nvPr>
        </p:nvSpPr>
        <p:spPr>
          <a:xfrm>
            <a:off x="304800" y="1066800"/>
            <a:ext cx="8382000" cy="5410200"/>
          </a:xfrm>
        </p:spPr>
        <p:txBody>
          <a:bodyPr vert="horz" wrap="square" lIns="91440" tIns="45720" rIns="91440" bIns="45720" anchor="t" anchorCtr="0"/>
          <a:lstStyle/>
          <a:p>
            <a:pPr eaLnBrk="1" hangingPunct="1"/>
            <a:r>
              <a:rPr lang="zh-CN" altLang="zh-CN" dirty="0">
                <a:ea typeface="宋体" panose="02010600030101010101" pitchFamily="2" charset="-122"/>
              </a:rPr>
              <a:t>应用安全</a:t>
            </a:r>
            <a:endParaRPr lang="en-US" altLang="zh-CN" dirty="0">
              <a:ea typeface="宋体" panose="02010600030101010101" pitchFamily="2" charset="-122"/>
            </a:endParaRPr>
          </a:p>
          <a:p>
            <a:pPr lvl="1" eaLnBrk="1" hangingPunct="1">
              <a:spcBef>
                <a:spcPts val="1200"/>
              </a:spcBef>
            </a:pPr>
            <a:r>
              <a:rPr lang="zh-CN" altLang="zh-CN" dirty="0">
                <a:ea typeface="宋体" panose="02010600030101010101" pitchFamily="2" charset="-122"/>
              </a:rPr>
              <a:t>针对</a:t>
            </a:r>
            <a:r>
              <a:rPr lang="zh-CN" altLang="zh-CN" dirty="0">
                <a:solidFill>
                  <a:srgbClr val="FF0000"/>
                </a:solidFill>
                <a:ea typeface="宋体" panose="02010600030101010101" pitchFamily="2" charset="-122"/>
              </a:rPr>
              <a:t>应用程序或工具</a:t>
            </a:r>
            <a:r>
              <a:rPr lang="zh-CN" altLang="zh-CN" dirty="0">
                <a:ea typeface="宋体" panose="02010600030101010101" pitchFamily="2" charset="-122"/>
              </a:rPr>
              <a:t>在使用过程中可能出现计算、传输数据的泄露和失窃，通过其他安全工具或策略来消除隐患。</a:t>
            </a:r>
            <a:endParaRPr lang="en-US" altLang="zh-CN" dirty="0">
              <a:ea typeface="宋体" panose="02010600030101010101" pitchFamily="2" charset="-122"/>
            </a:endParaRPr>
          </a:p>
          <a:p>
            <a:pPr lvl="1" eaLnBrk="1" hangingPunct="1">
              <a:spcBef>
                <a:spcPts val="1200"/>
              </a:spcBef>
            </a:pPr>
            <a:r>
              <a:rPr lang="zh-CN" altLang="zh-CN" dirty="0">
                <a:ea typeface="宋体" panose="02010600030101010101" pitchFamily="2" charset="-122"/>
              </a:rPr>
              <a:t>应用安全具体包括</a:t>
            </a:r>
            <a:r>
              <a:rPr lang="zh-CN" altLang="en-US" dirty="0">
                <a:ea typeface="宋体" panose="02010600030101010101" pitchFamily="2" charset="-122"/>
              </a:rPr>
              <a:t>：</a:t>
            </a:r>
            <a:endParaRPr lang="en-US" altLang="zh-CN" dirty="0">
              <a:ea typeface="宋体" panose="02010600030101010101" pitchFamily="2" charset="-122"/>
            </a:endParaRPr>
          </a:p>
          <a:p>
            <a:pPr lvl="2" eaLnBrk="1" hangingPunct="1">
              <a:spcBef>
                <a:spcPts val="1200"/>
              </a:spcBef>
            </a:pPr>
            <a:r>
              <a:rPr lang="zh-CN" altLang="zh-CN" dirty="0">
                <a:ea typeface="宋体" panose="02010600030101010101" pitchFamily="2" charset="-122"/>
              </a:rPr>
              <a:t>身份鉴别、安全标记、访问控制、可信路径、安全审计、剩余信息保护、通信完整性、通信保密性、抗抵赖、软件容错、资源控制等方面。</a:t>
            </a:r>
            <a:endParaRPr lang="zh-CN" altLang="en-US" dirty="0">
              <a:ea typeface="宋体" panose="02010600030101010101" pitchFamily="2" charset="-122"/>
            </a:endParaRPr>
          </a:p>
        </p:txBody>
      </p:sp>
    </p:spTree>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信息系统安全等级测评要求</a:t>
            </a:r>
          </a:p>
        </p:txBody>
      </p:sp>
      <p:sp>
        <p:nvSpPr>
          <p:cNvPr id="19459" name="内容占位符 2"/>
          <p:cNvSpPr>
            <a:spLocks noGrp="1" noChangeArrowheads="1"/>
          </p:cNvSpPr>
          <p:nvPr>
            <p:ph idx="1"/>
          </p:nvPr>
        </p:nvSpPr>
        <p:spPr>
          <a:xfrm>
            <a:off x="304800" y="1219200"/>
            <a:ext cx="8229600" cy="52578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v"/>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a:cs typeface="楷体_GB2312"/>
              </a:rPr>
              <a:t> </a:t>
            </a:r>
            <a:r>
              <a:rPr kumimoji="0" lang="zh-CN" altLang="en-US" sz="3200" b="1" i="0" u="none" strike="noStrike" kern="0" cap="none" spc="0" normalizeH="0" baseline="0" noProof="0" dirty="0" smtClean="0">
                <a:ln>
                  <a:noFill/>
                </a:ln>
                <a:solidFill>
                  <a:schemeClr val="tx1"/>
                </a:solidFill>
                <a:effectLst/>
                <a:uLnTx/>
                <a:uFillTx/>
                <a:latin typeface="楷体_GB2312"/>
                <a:ea typeface="楷体_GB2312"/>
                <a:cs typeface="楷体_GB2312"/>
              </a:rPr>
              <a:t>数据安全及备份恢复包括：</a:t>
            </a:r>
            <a:endParaRPr kumimoji="0" lang="en-US" altLang="zh-CN" sz="32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chemeClr val="tx1"/>
                </a:solidFill>
                <a:effectLst/>
                <a:uLnTx/>
                <a:uFillTx/>
                <a:latin typeface="楷体_GB2312"/>
                <a:ea typeface="楷体_GB2312"/>
                <a:cs typeface="楷体_GB2312"/>
              </a:rPr>
              <a:t>数据完整性</a:t>
            </a:r>
            <a:endParaRPr kumimoji="0" lang="en-US" altLang="zh-CN" sz="28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chemeClr val="tx1"/>
                </a:solidFill>
                <a:effectLst/>
                <a:uLnTx/>
                <a:uFillTx/>
                <a:latin typeface="楷体_GB2312"/>
                <a:ea typeface="楷体_GB2312"/>
                <a:cs typeface="楷体_GB2312"/>
              </a:rPr>
              <a:t>数据保密性</a:t>
            </a:r>
            <a:endParaRPr kumimoji="0" lang="en-US" altLang="zh-CN" sz="28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a:ln>
                  <a:noFill/>
                </a:ln>
                <a:solidFill>
                  <a:schemeClr val="tx1"/>
                </a:solidFill>
                <a:effectLst/>
                <a:uLnTx/>
                <a:uFillTx/>
                <a:latin typeface="楷体_GB2312"/>
                <a:ea typeface="楷体_GB2312"/>
                <a:cs typeface="楷体_GB2312"/>
              </a:rPr>
              <a:t>备份</a:t>
            </a:r>
            <a:endParaRPr kumimoji="0" lang="en-US" altLang="zh-CN" sz="28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a:ln>
                  <a:noFill/>
                </a:ln>
                <a:solidFill>
                  <a:schemeClr val="tx1"/>
                </a:solidFill>
                <a:effectLst/>
                <a:uLnTx/>
                <a:uFillTx/>
                <a:latin typeface="楷体_GB2312"/>
                <a:ea typeface="楷体_GB2312"/>
                <a:cs typeface="楷体_GB2312"/>
              </a:rPr>
              <a:t>恢复</a:t>
            </a:r>
            <a:endParaRPr kumimoji="0" lang="en-US" altLang="zh-CN" sz="28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1" i="0" u="none" strike="noStrike" kern="0" cap="none" spc="0" normalizeH="0" baseline="0" noProof="0" dirty="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a:cs typeface="楷体_GB231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2" end="2"/>
                                            </p:txEl>
                                          </p:spTgt>
                                        </p:tgtEl>
                                        <p:attrNameLst>
                                          <p:attrName>style.visibility</p:attrName>
                                        </p:attrNameLst>
                                      </p:cBhvr>
                                      <p:to>
                                        <p:strVal val="visible"/>
                                      </p:to>
                                    </p:set>
                                    <p:animEffect transition="in" filter="fade">
                                      <p:cBhvr>
                                        <p:cTn id="7" dur="2000"/>
                                        <p:tgtEl>
                                          <p:spTgt spid="1945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1" end="1"/>
                                            </p:txEl>
                                          </p:spTgt>
                                        </p:tgtEl>
                                        <p:attrNameLst>
                                          <p:attrName>style.visibility</p:attrName>
                                        </p:attrNameLst>
                                      </p:cBhvr>
                                      <p:to>
                                        <p:strVal val="visible"/>
                                      </p:to>
                                    </p:set>
                                    <p:animEffect transition="in" filter="fade">
                                      <p:cBhvr>
                                        <p:cTn id="12" dur="500"/>
                                        <p:tgtEl>
                                          <p:spTgt spid="194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2" end="2"/>
                                            </p:txEl>
                                          </p:spTgt>
                                        </p:tgtEl>
                                        <p:attrNameLst>
                                          <p:attrName>style.visibility</p:attrName>
                                        </p:attrNameLst>
                                      </p:cBhvr>
                                      <p:to>
                                        <p:strVal val="visible"/>
                                      </p:to>
                                    </p:set>
                                    <p:animEffect transition="in" filter="fade">
                                      <p:cBhvr>
                                        <p:cTn id="17" dur="500"/>
                                        <p:tgtEl>
                                          <p:spTgt spid="1945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xEl>
                                              <p:pRg st="3" end="3"/>
                                            </p:txEl>
                                          </p:spTgt>
                                        </p:tgtEl>
                                        <p:attrNameLst>
                                          <p:attrName>style.visibility</p:attrName>
                                        </p:attrNameLst>
                                      </p:cBhvr>
                                      <p:to>
                                        <p:strVal val="visible"/>
                                      </p:to>
                                    </p:set>
                                    <p:animEffect transition="in" filter="fade">
                                      <p:cBhvr>
                                        <p:cTn id="22" dur="500"/>
                                        <p:tgtEl>
                                          <p:spTgt spid="1945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459">
                                            <p:txEl>
                                              <p:pRg st="4" end="4"/>
                                            </p:txEl>
                                          </p:spTgt>
                                        </p:tgtEl>
                                        <p:attrNameLst>
                                          <p:attrName>style.visibility</p:attrName>
                                        </p:attrNameLst>
                                      </p:cBhvr>
                                      <p:to>
                                        <p:strVal val="visible"/>
                                      </p:to>
                                    </p:set>
                                    <p:animEffect transition="in" filter="fade">
                                      <p:cBhvr>
                                        <p:cTn id="27" dur="500"/>
                                        <p:tgtEl>
                                          <p:spTgt spid="194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信息系统安全等级测评要求</a:t>
            </a:r>
          </a:p>
        </p:txBody>
      </p:sp>
      <p:sp>
        <p:nvSpPr>
          <p:cNvPr id="19459" name="内容占位符 2"/>
          <p:cNvSpPr>
            <a:spLocks noGrp="1" noChangeArrowheads="1"/>
          </p:cNvSpPr>
          <p:nvPr>
            <p:ph idx="1"/>
          </p:nvPr>
        </p:nvSpPr>
        <p:spPr>
          <a:xfrm>
            <a:off x="304800" y="1066800"/>
            <a:ext cx="8229600" cy="5410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v"/>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a:cs typeface="楷体_GB2312"/>
              </a:rPr>
              <a:t> </a:t>
            </a:r>
            <a:r>
              <a:rPr kumimoji="0" lang="zh-CN" altLang="en-US" sz="3200" b="1" i="0" u="none" strike="noStrike" kern="0" cap="none" spc="0" normalizeH="0" baseline="0" noProof="0" dirty="0" smtClean="0">
                <a:ln>
                  <a:noFill/>
                </a:ln>
                <a:solidFill>
                  <a:schemeClr val="tx1"/>
                </a:solidFill>
                <a:effectLst/>
                <a:uLnTx/>
                <a:uFillTx/>
                <a:latin typeface="楷体_GB2312"/>
                <a:ea typeface="楷体_GB2312"/>
                <a:cs typeface="楷体_GB2312"/>
              </a:rPr>
              <a:t>安全管理制度包括：</a:t>
            </a:r>
            <a:endParaRPr kumimoji="0" lang="en-US" altLang="zh-CN" sz="32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a:ln>
                  <a:noFill/>
                </a:ln>
                <a:solidFill>
                  <a:schemeClr val="tx1"/>
                </a:solidFill>
                <a:effectLst/>
                <a:uLnTx/>
                <a:uFillTx/>
                <a:latin typeface="楷体_GB2312"/>
                <a:ea typeface="楷体_GB2312"/>
                <a:cs typeface="楷体_GB2312"/>
              </a:rPr>
              <a:t>管理制度</a:t>
            </a:r>
            <a:endParaRPr kumimoji="0" lang="en-US" altLang="zh-CN" sz="28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chemeClr val="tx1"/>
                </a:solidFill>
                <a:effectLst/>
                <a:uLnTx/>
                <a:uFillTx/>
                <a:latin typeface="楷体_GB2312"/>
                <a:ea typeface="楷体_GB2312"/>
                <a:cs typeface="楷体_GB2312"/>
              </a:rPr>
              <a:t>制定和发布</a:t>
            </a:r>
            <a:endParaRPr kumimoji="0" lang="en-US" altLang="zh-CN" sz="28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chemeClr val="tx1"/>
                </a:solidFill>
                <a:effectLst/>
                <a:uLnTx/>
                <a:uFillTx/>
                <a:latin typeface="楷体_GB2312"/>
                <a:ea typeface="楷体_GB2312"/>
                <a:cs typeface="楷体_GB2312"/>
              </a:rPr>
              <a:t>评审和修订</a:t>
            </a:r>
            <a:endParaRPr kumimoji="0" lang="en-US" altLang="zh-CN" sz="28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1" i="0" u="none" strike="noStrike" kern="0" cap="none" spc="0" normalizeH="0" baseline="0" noProof="0" dirty="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a:cs typeface="楷体_GB231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2" end="2"/>
                                            </p:txEl>
                                          </p:spTgt>
                                        </p:tgtEl>
                                        <p:attrNameLst>
                                          <p:attrName>style.visibility</p:attrName>
                                        </p:attrNameLst>
                                      </p:cBhvr>
                                      <p:to>
                                        <p:strVal val="visible"/>
                                      </p:to>
                                    </p:set>
                                    <p:animEffect transition="in" filter="fade">
                                      <p:cBhvr>
                                        <p:cTn id="7" dur="2000"/>
                                        <p:tgtEl>
                                          <p:spTgt spid="1945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信息系统安全等级测评要求</a:t>
            </a:r>
          </a:p>
        </p:txBody>
      </p:sp>
      <p:sp>
        <p:nvSpPr>
          <p:cNvPr id="19459" name="内容占位符 2"/>
          <p:cNvSpPr>
            <a:spLocks noGrp="1"/>
          </p:cNvSpPr>
          <p:nvPr>
            <p:ph idx="1"/>
          </p:nvPr>
        </p:nvSpPr>
        <p:spPr>
          <a:xfrm>
            <a:off x="228600" y="990600"/>
            <a:ext cx="8229600" cy="5516563"/>
          </a:xfrm>
        </p:spPr>
        <p:txBody>
          <a:bodyPr vert="horz" wrap="square" lIns="91440" tIns="45720" rIns="91440" bIns="45720" anchor="t" anchorCtr="0"/>
          <a:lstStyle/>
          <a:p>
            <a:pPr eaLnBrk="1" hangingPunct="1">
              <a:spcAft>
                <a:spcPct val="20000"/>
              </a:spcAft>
              <a:buClr>
                <a:srgbClr val="AC04A0"/>
              </a:buClr>
            </a:pPr>
            <a:r>
              <a:rPr lang="en-US" altLang="zh-CN" b="1" dirty="0">
                <a:latin typeface="Times New Roman" panose="02020603050405020304" pitchFamily="18" charset="0"/>
                <a:ea typeface="楷体_GB2312" pitchFamily="49" charset="-122"/>
              </a:rPr>
              <a:t> </a:t>
            </a:r>
            <a:r>
              <a:rPr lang="zh-CN" altLang="zh-CN" b="1" dirty="0">
                <a:latin typeface="楷体_GB2312" pitchFamily="49" charset="-122"/>
                <a:ea typeface="宋体" panose="02010600030101010101" pitchFamily="2" charset="-122"/>
              </a:rPr>
              <a:t>安全管理机构</a:t>
            </a:r>
            <a:r>
              <a:rPr lang="zh-CN" altLang="en-US" b="1" dirty="0">
                <a:latin typeface="楷体_GB2312" pitchFamily="49" charset="-122"/>
                <a:ea typeface="宋体" panose="02010600030101010101" pitchFamily="2" charset="-122"/>
              </a:rPr>
              <a:t>包括：</a:t>
            </a:r>
            <a:endParaRPr lang="en-US" altLang="zh-CN" b="1" dirty="0">
              <a:solidFill>
                <a:srgbClr val="0D1259"/>
              </a:solidFill>
              <a:latin typeface="楷体_GB2312" pitchFamily="49" charset="-122"/>
              <a:ea typeface="楷体_GB2312" pitchFamily="49" charset="-122"/>
            </a:endParaRPr>
          </a:p>
          <a:p>
            <a:pPr lvl="1" eaLnBrk="1" hangingPunct="1"/>
            <a:r>
              <a:rPr lang="zh-CN" altLang="zh-CN" b="1" dirty="0">
                <a:latin typeface="楷体_GB2312" pitchFamily="49" charset="-122"/>
                <a:ea typeface="宋体" panose="02010600030101010101" pitchFamily="2" charset="-122"/>
              </a:rPr>
              <a:t>岗位设置</a:t>
            </a:r>
            <a:endParaRPr lang="en-US" altLang="zh-CN" b="1" dirty="0">
              <a:latin typeface="楷体_GB2312" pitchFamily="49" charset="-122"/>
              <a:ea typeface="宋体" panose="02010600030101010101" pitchFamily="2" charset="-122"/>
            </a:endParaRPr>
          </a:p>
          <a:p>
            <a:pPr lvl="1" eaLnBrk="1" hangingPunct="1"/>
            <a:r>
              <a:rPr lang="zh-CN" altLang="zh-CN" b="1" dirty="0">
                <a:latin typeface="楷体_GB2312" pitchFamily="49" charset="-122"/>
                <a:ea typeface="宋体" panose="02010600030101010101" pitchFamily="2" charset="-122"/>
              </a:rPr>
              <a:t>人员配备</a:t>
            </a:r>
            <a:endParaRPr lang="en-US" altLang="zh-CN" b="1" dirty="0">
              <a:latin typeface="楷体_GB2312" pitchFamily="49" charset="-122"/>
              <a:ea typeface="宋体" panose="02010600030101010101" pitchFamily="2" charset="-122"/>
            </a:endParaRPr>
          </a:p>
          <a:p>
            <a:pPr lvl="1" eaLnBrk="1" hangingPunct="1"/>
            <a:r>
              <a:rPr lang="zh-CN" altLang="zh-CN" b="1" dirty="0">
                <a:latin typeface="楷体_GB2312" pitchFamily="49" charset="-122"/>
                <a:ea typeface="宋体" panose="02010600030101010101" pitchFamily="2" charset="-122"/>
              </a:rPr>
              <a:t>授权和审批</a:t>
            </a:r>
            <a:endParaRPr lang="en-US" altLang="zh-CN" b="1" dirty="0">
              <a:latin typeface="楷体_GB2312" pitchFamily="49" charset="-122"/>
              <a:ea typeface="宋体" panose="02010600030101010101" pitchFamily="2" charset="-122"/>
            </a:endParaRPr>
          </a:p>
          <a:p>
            <a:pPr lvl="1" eaLnBrk="1" hangingPunct="1"/>
            <a:r>
              <a:rPr lang="zh-CN" altLang="zh-CN" b="1" dirty="0">
                <a:latin typeface="楷体_GB2312" pitchFamily="49" charset="-122"/>
                <a:ea typeface="宋体" panose="02010600030101010101" pitchFamily="2" charset="-122"/>
              </a:rPr>
              <a:t>沟通和合作</a:t>
            </a:r>
            <a:endParaRPr lang="en-US" altLang="zh-CN" b="1" dirty="0">
              <a:latin typeface="楷体_GB2312" pitchFamily="49" charset="-122"/>
              <a:ea typeface="宋体" panose="02010600030101010101" pitchFamily="2" charset="-122"/>
            </a:endParaRPr>
          </a:p>
          <a:p>
            <a:pPr lvl="1" eaLnBrk="1" hangingPunct="1"/>
            <a:r>
              <a:rPr lang="zh-CN" altLang="zh-CN" b="1" dirty="0">
                <a:latin typeface="楷体_GB2312" pitchFamily="49" charset="-122"/>
                <a:ea typeface="宋体" panose="02010600030101010101" pitchFamily="2" charset="-122"/>
              </a:rPr>
              <a:t>审核和检查</a:t>
            </a:r>
            <a:endParaRPr lang="en-US" altLang="zh-CN" sz="3200" b="1" dirty="0">
              <a:latin typeface="楷体_GB2312" pitchFamily="49" charset="-122"/>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fade">
                                      <p:cBhvr>
                                        <p:cTn id="17" dur="2000"/>
                                        <p:tgtEl>
                                          <p:spTgt spid="194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xEl>
                                              <p:pRg st="4" end="4"/>
                                            </p:txEl>
                                          </p:spTgt>
                                        </p:tgtEl>
                                        <p:attrNameLst>
                                          <p:attrName>style.visibility</p:attrName>
                                        </p:attrNameLst>
                                      </p:cBhvr>
                                      <p:to>
                                        <p:strVal val="visible"/>
                                      </p:to>
                                    </p:set>
                                    <p:animEffect transition="in" filter="fade">
                                      <p:cBhvr>
                                        <p:cTn id="22" dur="2000"/>
                                        <p:tgtEl>
                                          <p:spTgt spid="1945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animEffect transition="in" filter="fade">
                                      <p:cBhvr>
                                        <p:cTn id="27" dur="2000"/>
                                        <p:tgtEl>
                                          <p:spTgt spid="1945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信息系统安全等级测评要求</a:t>
            </a:r>
          </a:p>
        </p:txBody>
      </p:sp>
      <p:sp>
        <p:nvSpPr>
          <p:cNvPr id="19459" name="内容占位符 2"/>
          <p:cNvSpPr>
            <a:spLocks noGrp="1" noChangeArrowheads="1"/>
          </p:cNvSpPr>
          <p:nvPr>
            <p:ph idx="1"/>
          </p:nvPr>
        </p:nvSpPr>
        <p:spPr>
          <a:xfrm>
            <a:off x="304800" y="1447800"/>
            <a:ext cx="8229600" cy="36576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v"/>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a:cs typeface="楷体_GB2312"/>
              </a:rPr>
              <a:t> </a:t>
            </a:r>
            <a:r>
              <a:rPr kumimoji="0" lang="zh-CN" altLang="zh-CN" sz="3200" b="1" i="0" u="none" strike="noStrike" kern="0" cap="none" spc="0" normalizeH="0" baseline="0" noProof="0" dirty="0" smtClean="0">
                <a:ln>
                  <a:noFill/>
                </a:ln>
                <a:solidFill>
                  <a:schemeClr val="tx1"/>
                </a:solidFill>
                <a:effectLst/>
                <a:uLnTx/>
                <a:uFillTx/>
                <a:latin typeface="楷体_GB2312"/>
                <a:ea typeface="宋体" panose="02010600030101010101" pitchFamily="2" charset="-122"/>
                <a:cs typeface="+mn-cs"/>
              </a:rPr>
              <a:t>人员安全管理</a:t>
            </a:r>
            <a:r>
              <a:rPr kumimoji="0" lang="zh-CN" altLang="en-US" sz="3200" b="1" i="0" u="none" strike="noStrike" kern="0" cap="none" spc="0" normalizeH="0" baseline="0" noProof="0" dirty="0" smtClean="0">
                <a:ln>
                  <a:noFill/>
                </a:ln>
                <a:solidFill>
                  <a:schemeClr val="tx1"/>
                </a:solidFill>
                <a:effectLst/>
                <a:uLnTx/>
                <a:uFillTx/>
                <a:latin typeface="楷体_GB2312"/>
                <a:ea typeface="宋体" panose="02010600030101010101" pitchFamily="2" charset="-122"/>
                <a:cs typeface="+mn-cs"/>
              </a:rPr>
              <a:t>包括：</a:t>
            </a:r>
            <a:endParaRPr kumimoji="0" lang="en-US" altLang="zh-CN" sz="32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chemeClr val="tx1"/>
                </a:solidFill>
                <a:effectLst/>
                <a:uLnTx/>
                <a:uFillTx/>
                <a:latin typeface="楷体_GB2312"/>
                <a:ea typeface="宋体" panose="02010600030101010101" pitchFamily="2" charset="-122"/>
              </a:rPr>
              <a:t>人员录用</a:t>
            </a:r>
            <a:endParaRPr kumimoji="0" lang="en-US" altLang="zh-CN" sz="28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chemeClr val="tx1"/>
                </a:solidFill>
                <a:effectLst/>
                <a:uLnTx/>
                <a:uFillTx/>
                <a:latin typeface="楷体_GB2312"/>
                <a:ea typeface="楷体_GB2312"/>
                <a:cs typeface="楷体_GB2312"/>
              </a:rPr>
              <a:t>人员离岗</a:t>
            </a:r>
            <a:endParaRPr kumimoji="0" lang="en-US" altLang="zh-CN" sz="28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chemeClr val="tx1"/>
                </a:solidFill>
                <a:effectLst/>
                <a:uLnTx/>
                <a:uFillTx/>
                <a:latin typeface="楷体_GB2312"/>
                <a:ea typeface="楷体_GB2312"/>
                <a:cs typeface="楷体_GB2312"/>
              </a:rPr>
              <a:t>人员考核</a:t>
            </a:r>
            <a:endParaRPr kumimoji="0" lang="en-US" altLang="zh-CN" sz="28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chemeClr val="tx1"/>
                </a:solidFill>
                <a:effectLst/>
                <a:uLnTx/>
                <a:uFillTx/>
                <a:latin typeface="楷体_GB2312"/>
                <a:ea typeface="楷体_GB2312"/>
                <a:cs typeface="楷体_GB2312"/>
              </a:rPr>
              <a:t>安全意识教育和培训</a:t>
            </a:r>
            <a:endParaRPr kumimoji="0" lang="en-US" altLang="zh-CN" sz="28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chemeClr val="tx1"/>
                </a:solidFill>
                <a:effectLst/>
                <a:uLnTx/>
                <a:uFillTx/>
                <a:latin typeface="楷体_GB2312"/>
                <a:ea typeface="楷体_GB2312"/>
                <a:cs typeface="楷体_GB2312"/>
              </a:rPr>
              <a:t>外部人员访问管理</a:t>
            </a:r>
            <a:endParaRPr kumimoji="0" lang="en-US" altLang="zh-CN" sz="28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1" i="0" u="none" strike="noStrike" kern="0" cap="none" spc="0" normalizeH="0" baseline="0" noProof="0" dirty="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a:cs typeface="楷体_GB231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2" end="2"/>
                                            </p:txEl>
                                          </p:spTgt>
                                        </p:tgtEl>
                                        <p:attrNameLst>
                                          <p:attrName>style.visibility</p:attrName>
                                        </p:attrNameLst>
                                      </p:cBhvr>
                                      <p:to>
                                        <p:strVal val="visible"/>
                                      </p:to>
                                    </p:set>
                                    <p:animEffect transition="in" filter="fade">
                                      <p:cBhvr>
                                        <p:cTn id="7" dur="2000"/>
                                        <p:tgtEl>
                                          <p:spTgt spid="1945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1" end="1"/>
                                            </p:txEl>
                                          </p:spTgt>
                                        </p:tgtEl>
                                        <p:attrNameLst>
                                          <p:attrName>style.visibility</p:attrName>
                                        </p:attrNameLst>
                                      </p:cBhvr>
                                      <p:to>
                                        <p:strVal val="visible"/>
                                      </p:to>
                                    </p:set>
                                    <p:animEffect transition="in" filter="fade">
                                      <p:cBhvr>
                                        <p:cTn id="12" dur="500"/>
                                        <p:tgtEl>
                                          <p:spTgt spid="19459">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animEffect transition="in" filter="fade">
                                      <p:cBhvr>
                                        <p:cTn id="15" dur="500"/>
                                        <p:tgtEl>
                                          <p:spTgt spid="19459">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9459">
                                            <p:txEl>
                                              <p:pRg st="3" end="3"/>
                                            </p:txEl>
                                          </p:spTgt>
                                        </p:tgtEl>
                                        <p:attrNameLst>
                                          <p:attrName>style.visibility</p:attrName>
                                        </p:attrNameLst>
                                      </p:cBhvr>
                                      <p:to>
                                        <p:strVal val="visible"/>
                                      </p:to>
                                    </p:set>
                                    <p:animEffect transition="in" filter="fade">
                                      <p:cBhvr>
                                        <p:cTn id="18" dur="500"/>
                                        <p:tgtEl>
                                          <p:spTgt spid="19459">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9459">
                                            <p:txEl>
                                              <p:pRg st="4" end="4"/>
                                            </p:txEl>
                                          </p:spTgt>
                                        </p:tgtEl>
                                        <p:attrNameLst>
                                          <p:attrName>style.visibility</p:attrName>
                                        </p:attrNameLst>
                                      </p:cBhvr>
                                      <p:to>
                                        <p:strVal val="visible"/>
                                      </p:to>
                                    </p:set>
                                    <p:animEffect transition="in" filter="fade">
                                      <p:cBhvr>
                                        <p:cTn id="23" dur="500"/>
                                        <p:tgtEl>
                                          <p:spTgt spid="19459">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9459">
                                            <p:txEl>
                                              <p:pRg st="5" end="5"/>
                                            </p:txEl>
                                          </p:spTgt>
                                        </p:tgtEl>
                                        <p:attrNameLst>
                                          <p:attrName>style.visibility</p:attrName>
                                        </p:attrNameLst>
                                      </p:cBhvr>
                                      <p:to>
                                        <p:strVal val="visible"/>
                                      </p:to>
                                    </p:set>
                                    <p:animEffect transition="in" filter="fade">
                                      <p:cBhvr>
                                        <p:cTn id="26" dur="500"/>
                                        <p:tgtEl>
                                          <p:spTgt spid="1945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信息系统安全等级测评要求</a:t>
            </a:r>
          </a:p>
        </p:txBody>
      </p:sp>
      <p:sp>
        <p:nvSpPr>
          <p:cNvPr id="19459" name="内容占位符 2"/>
          <p:cNvSpPr>
            <a:spLocks noGrp="1" noChangeArrowheads="1"/>
          </p:cNvSpPr>
          <p:nvPr>
            <p:ph idx="1"/>
          </p:nvPr>
        </p:nvSpPr>
        <p:spPr>
          <a:xfrm>
            <a:off x="381000" y="938213"/>
            <a:ext cx="8229600" cy="5691188"/>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v"/>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a:cs typeface="楷体_GB2312"/>
              </a:rPr>
              <a:t> </a:t>
            </a:r>
            <a:r>
              <a:rPr kumimoji="0" lang="zh-CN" altLang="zh-CN" sz="3200" b="1" i="0" u="none" strike="noStrike" kern="0" cap="none" spc="0" normalizeH="0" baseline="0" noProof="0" dirty="0" smtClean="0">
                <a:ln>
                  <a:noFill/>
                </a:ln>
                <a:solidFill>
                  <a:schemeClr val="tx1"/>
                </a:solidFill>
                <a:effectLst/>
                <a:uLnTx/>
                <a:uFillTx/>
                <a:latin typeface="楷体_GB2312"/>
                <a:ea typeface="宋体" panose="02010600030101010101" pitchFamily="2" charset="-122"/>
                <a:cs typeface="+mn-cs"/>
              </a:rPr>
              <a:t>系统</a:t>
            </a:r>
            <a:r>
              <a:rPr kumimoji="0" lang="zh-CN" altLang="zh-CN" sz="3200" b="1" i="0" u="none" strike="noStrike" kern="0" cap="none" spc="0" normalizeH="0" baseline="0" noProof="0" dirty="0">
                <a:ln>
                  <a:noFill/>
                </a:ln>
                <a:solidFill>
                  <a:schemeClr val="tx1"/>
                </a:solidFill>
                <a:effectLst/>
                <a:uLnTx/>
                <a:uFillTx/>
                <a:latin typeface="楷体_GB2312"/>
                <a:ea typeface="宋体" panose="02010600030101010101" pitchFamily="2" charset="-122"/>
                <a:cs typeface="+mn-cs"/>
              </a:rPr>
              <a:t>运维管理</a:t>
            </a:r>
            <a:r>
              <a:rPr kumimoji="0" lang="zh-CN" altLang="en-US" sz="3200" b="1" i="0" u="none" strike="noStrike" kern="0" cap="none" spc="0" normalizeH="0" baseline="0" noProof="0" dirty="0" smtClean="0">
                <a:ln>
                  <a:noFill/>
                </a:ln>
                <a:solidFill>
                  <a:schemeClr val="tx1"/>
                </a:solidFill>
                <a:effectLst/>
                <a:uLnTx/>
                <a:uFillTx/>
                <a:latin typeface="楷体_GB2312"/>
                <a:ea typeface="宋体" panose="02010600030101010101" pitchFamily="2" charset="-122"/>
                <a:cs typeface="+mn-cs"/>
              </a:rPr>
              <a:t>包括：</a:t>
            </a:r>
            <a:endParaRPr kumimoji="0" lang="en-US" altLang="zh-CN" sz="32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1" i="0" u="none" strike="noStrike" kern="0" cap="none" spc="0" normalizeH="0" baseline="0" noProof="0" dirty="0" smtClean="0">
                <a:ln>
                  <a:noFill/>
                </a:ln>
                <a:solidFill>
                  <a:schemeClr val="tx1"/>
                </a:solidFill>
                <a:effectLst/>
                <a:uLnTx/>
                <a:uFillTx/>
                <a:latin typeface="楷体_GB2312"/>
                <a:ea typeface="楷体_GB2312"/>
              </a:rPr>
              <a:t>环境管理</a:t>
            </a:r>
            <a:endParaRPr kumimoji="0" lang="en-US" altLang="zh-CN" sz="2400" b="1" i="0" u="none" strike="noStrike" kern="0" cap="none" spc="0" normalizeH="0" baseline="0" noProof="0" dirty="0" smtClean="0">
              <a:ln>
                <a:noFill/>
              </a:ln>
              <a:solidFill>
                <a:schemeClr val="tx1"/>
              </a:solidFill>
              <a:effectLst/>
              <a:uLnTx/>
              <a:uFillTx/>
              <a:latin typeface="楷体_GB2312"/>
              <a:ea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1" i="0" u="none" strike="noStrike" kern="0" cap="none" spc="0" normalizeH="0" baseline="0" noProof="0" dirty="0" smtClean="0">
                <a:ln>
                  <a:noFill/>
                </a:ln>
                <a:solidFill>
                  <a:schemeClr val="tx1"/>
                </a:solidFill>
                <a:effectLst/>
                <a:uLnTx/>
                <a:uFillTx/>
                <a:latin typeface="楷体_GB2312"/>
                <a:ea typeface="楷体_GB2312"/>
              </a:rPr>
              <a:t>资产管理</a:t>
            </a:r>
            <a:endParaRPr kumimoji="0" lang="en-US" altLang="zh-CN" sz="2400" b="1" i="0" u="none" strike="noStrike" kern="0" cap="none" spc="0" normalizeH="0" baseline="0" noProof="0" dirty="0" smtClean="0">
              <a:ln>
                <a:noFill/>
              </a:ln>
              <a:solidFill>
                <a:schemeClr val="tx1"/>
              </a:solidFill>
              <a:effectLst/>
              <a:uLnTx/>
              <a:uFillTx/>
              <a:latin typeface="楷体_GB2312"/>
              <a:ea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1" i="0" u="none" strike="noStrike" kern="0" cap="none" spc="0" normalizeH="0" baseline="0" noProof="0" dirty="0" smtClean="0">
                <a:ln>
                  <a:noFill/>
                </a:ln>
                <a:solidFill>
                  <a:schemeClr val="tx1"/>
                </a:solidFill>
                <a:effectLst/>
                <a:uLnTx/>
                <a:uFillTx/>
                <a:latin typeface="楷体_GB2312"/>
                <a:ea typeface="楷体_GB2312"/>
              </a:rPr>
              <a:t>介质管理</a:t>
            </a:r>
            <a:endParaRPr kumimoji="0" lang="en-US" altLang="zh-CN" sz="2400" b="1" i="0" u="none" strike="noStrike" kern="0" cap="none" spc="0" normalizeH="0" baseline="0" noProof="0" dirty="0" smtClean="0">
              <a:ln>
                <a:noFill/>
              </a:ln>
              <a:solidFill>
                <a:schemeClr val="tx1"/>
              </a:solidFill>
              <a:effectLst/>
              <a:uLnTx/>
              <a:uFillTx/>
              <a:latin typeface="楷体_GB2312"/>
              <a:ea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1" i="0" u="none" strike="noStrike" kern="0" cap="none" spc="0" normalizeH="0" baseline="0" noProof="0" dirty="0" smtClean="0">
                <a:ln>
                  <a:noFill/>
                </a:ln>
                <a:solidFill>
                  <a:schemeClr val="tx1"/>
                </a:solidFill>
                <a:effectLst/>
                <a:uLnTx/>
                <a:uFillTx/>
                <a:latin typeface="楷体_GB2312"/>
                <a:ea typeface="楷体_GB2312"/>
              </a:rPr>
              <a:t>设备管理</a:t>
            </a:r>
            <a:endParaRPr kumimoji="0" lang="en-US" altLang="zh-CN" sz="2400" b="1" i="0" u="none" strike="noStrike" kern="0" cap="none" spc="0" normalizeH="0" baseline="0" noProof="0" dirty="0" smtClean="0">
              <a:ln>
                <a:noFill/>
              </a:ln>
              <a:solidFill>
                <a:schemeClr val="tx1"/>
              </a:solidFill>
              <a:effectLst/>
              <a:uLnTx/>
              <a:uFillTx/>
              <a:latin typeface="楷体_GB2312"/>
              <a:ea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1" i="0" u="none" strike="noStrike" kern="0" cap="none" spc="0" normalizeH="0" baseline="0" noProof="0" dirty="0" smtClean="0">
                <a:ln>
                  <a:noFill/>
                </a:ln>
                <a:solidFill>
                  <a:srgbClr val="FF0000"/>
                </a:solidFill>
                <a:effectLst/>
                <a:uLnTx/>
                <a:uFillTx/>
                <a:latin typeface="楷体_GB2312"/>
                <a:ea typeface="楷体_GB2312"/>
              </a:rPr>
              <a:t>监控</a:t>
            </a:r>
            <a:r>
              <a:rPr kumimoji="0" lang="zh-CN" altLang="zh-CN" sz="2400" b="1" i="0" u="none" strike="noStrike" kern="0" cap="none" spc="0" normalizeH="0" baseline="0" noProof="0" dirty="0">
                <a:ln>
                  <a:noFill/>
                </a:ln>
                <a:solidFill>
                  <a:srgbClr val="FF0000"/>
                </a:solidFill>
                <a:effectLst/>
                <a:uLnTx/>
                <a:uFillTx/>
                <a:latin typeface="楷体_GB2312"/>
                <a:ea typeface="楷体_GB2312"/>
              </a:rPr>
              <a:t>管理</a:t>
            </a:r>
            <a:r>
              <a:rPr kumimoji="0" lang="zh-CN" altLang="zh-CN" sz="2400" b="1" i="0" u="none" strike="noStrike" kern="0" cap="none" spc="0" normalizeH="0" baseline="0" noProof="0" dirty="0">
                <a:ln>
                  <a:noFill/>
                </a:ln>
                <a:solidFill>
                  <a:schemeClr val="tx1"/>
                </a:solidFill>
                <a:effectLst/>
                <a:uLnTx/>
                <a:uFillTx/>
                <a:latin typeface="楷体_GB2312"/>
                <a:ea typeface="楷体_GB2312"/>
              </a:rPr>
              <a:t>和安全管理</a:t>
            </a:r>
            <a:r>
              <a:rPr kumimoji="0" lang="zh-CN" altLang="zh-CN" sz="2400" b="1" i="0" u="none" strike="noStrike" kern="0" cap="none" spc="0" normalizeH="0" baseline="0" noProof="0" dirty="0" smtClean="0">
                <a:ln>
                  <a:noFill/>
                </a:ln>
                <a:solidFill>
                  <a:schemeClr val="tx1"/>
                </a:solidFill>
                <a:effectLst/>
                <a:uLnTx/>
                <a:uFillTx/>
                <a:latin typeface="楷体_GB2312"/>
                <a:ea typeface="楷体_GB2312"/>
              </a:rPr>
              <a:t>中心</a:t>
            </a:r>
            <a:endParaRPr kumimoji="0" lang="en-US" altLang="zh-CN" sz="2400" b="1" i="0" u="none" strike="noStrike" kern="0" cap="none" spc="0" normalizeH="0" baseline="0" noProof="0" dirty="0" smtClean="0">
              <a:ln>
                <a:noFill/>
              </a:ln>
              <a:solidFill>
                <a:schemeClr val="tx1"/>
              </a:solidFill>
              <a:effectLst/>
              <a:uLnTx/>
              <a:uFillTx/>
              <a:latin typeface="楷体_GB2312"/>
              <a:ea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1" i="0" u="none" strike="noStrike" kern="0" cap="none" spc="0" normalizeH="0" baseline="0" noProof="0" dirty="0" smtClean="0">
                <a:ln>
                  <a:noFill/>
                </a:ln>
                <a:solidFill>
                  <a:schemeClr val="tx1"/>
                </a:solidFill>
                <a:effectLst/>
                <a:uLnTx/>
                <a:uFillTx/>
                <a:latin typeface="楷体_GB2312"/>
                <a:ea typeface="楷体_GB2312"/>
              </a:rPr>
              <a:t>网络安全管理</a:t>
            </a:r>
            <a:endParaRPr kumimoji="0" lang="en-US" altLang="zh-CN" sz="2400" b="1" i="0" u="none" strike="noStrike" kern="0" cap="none" spc="0" normalizeH="0" baseline="0" noProof="0" dirty="0" smtClean="0">
              <a:ln>
                <a:noFill/>
              </a:ln>
              <a:solidFill>
                <a:schemeClr val="tx1"/>
              </a:solidFill>
              <a:effectLst/>
              <a:uLnTx/>
              <a:uFillTx/>
              <a:latin typeface="楷体_GB2312"/>
              <a:ea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1" i="0" u="none" strike="noStrike" kern="0" cap="none" spc="0" normalizeH="0" baseline="0" noProof="0" dirty="0" smtClean="0">
                <a:ln>
                  <a:noFill/>
                </a:ln>
                <a:solidFill>
                  <a:schemeClr val="tx1"/>
                </a:solidFill>
                <a:effectLst/>
                <a:uLnTx/>
                <a:uFillTx/>
                <a:latin typeface="楷体_GB2312"/>
                <a:ea typeface="楷体_GB2312"/>
              </a:rPr>
              <a:t>系统安全管理</a:t>
            </a:r>
            <a:endParaRPr kumimoji="0" lang="en-US" altLang="zh-CN" sz="2400" b="1" i="0" u="none" strike="noStrike" kern="0" cap="none" spc="0" normalizeH="0" baseline="0" noProof="0" dirty="0" smtClean="0">
              <a:ln>
                <a:noFill/>
              </a:ln>
              <a:solidFill>
                <a:schemeClr val="tx1"/>
              </a:solidFill>
              <a:effectLst/>
              <a:uLnTx/>
              <a:uFillTx/>
              <a:latin typeface="楷体_GB2312"/>
              <a:ea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1" i="0" u="none" strike="noStrike" kern="0" cap="none" spc="0" normalizeH="0" baseline="0" noProof="0" dirty="0" smtClean="0">
                <a:ln>
                  <a:noFill/>
                </a:ln>
                <a:solidFill>
                  <a:schemeClr val="tx1"/>
                </a:solidFill>
                <a:effectLst/>
                <a:uLnTx/>
                <a:uFillTx/>
                <a:latin typeface="楷体_GB2312"/>
                <a:ea typeface="楷体_GB2312"/>
              </a:rPr>
              <a:t>恶意</a:t>
            </a:r>
            <a:r>
              <a:rPr kumimoji="0" lang="zh-CN" altLang="zh-CN" sz="2400" b="1" i="0" u="none" strike="noStrike" kern="0" cap="none" spc="0" normalizeH="0" baseline="0" noProof="0" dirty="0">
                <a:ln>
                  <a:noFill/>
                </a:ln>
                <a:solidFill>
                  <a:schemeClr val="tx1"/>
                </a:solidFill>
                <a:effectLst/>
                <a:uLnTx/>
                <a:uFillTx/>
                <a:latin typeface="楷体_GB2312"/>
                <a:ea typeface="楷体_GB2312"/>
              </a:rPr>
              <a:t>代码防范</a:t>
            </a:r>
            <a:r>
              <a:rPr kumimoji="0" lang="zh-CN" altLang="zh-CN" sz="2400" b="1" i="0" u="none" strike="noStrike" kern="0" cap="none" spc="0" normalizeH="0" baseline="0" noProof="0" dirty="0" smtClean="0">
                <a:ln>
                  <a:noFill/>
                </a:ln>
                <a:solidFill>
                  <a:schemeClr val="tx1"/>
                </a:solidFill>
                <a:effectLst/>
                <a:uLnTx/>
                <a:uFillTx/>
                <a:latin typeface="楷体_GB2312"/>
                <a:ea typeface="楷体_GB2312"/>
              </a:rPr>
              <a:t>管理</a:t>
            </a:r>
            <a:endParaRPr kumimoji="0" lang="en-US" altLang="zh-CN" sz="2400" b="1" i="0" u="none" strike="noStrike" kern="0" cap="none" spc="0" normalizeH="0" baseline="0" noProof="0" dirty="0" smtClean="0">
              <a:ln>
                <a:noFill/>
              </a:ln>
              <a:solidFill>
                <a:schemeClr val="tx1"/>
              </a:solidFill>
              <a:effectLst/>
              <a:uLnTx/>
              <a:uFillTx/>
              <a:latin typeface="楷体_GB2312"/>
              <a:ea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400" b="1" i="0" u="none" strike="noStrike" kern="0" cap="none" spc="0" normalizeH="0" baseline="0" noProof="0" dirty="0" smtClean="0">
                <a:ln>
                  <a:noFill/>
                </a:ln>
                <a:solidFill>
                  <a:schemeClr val="tx1"/>
                </a:solidFill>
                <a:effectLst/>
                <a:uLnTx/>
                <a:uFillTx/>
                <a:latin typeface="楷体_GB2312"/>
                <a:ea typeface="楷体_GB2312"/>
              </a:rPr>
              <a:t>密码</a:t>
            </a:r>
            <a:r>
              <a:rPr kumimoji="0" lang="zh-CN" altLang="zh-CN" sz="2400" b="1" i="0" u="none" strike="noStrike" kern="0" cap="none" spc="0" normalizeH="0" baseline="0" noProof="0" dirty="0">
                <a:ln>
                  <a:noFill/>
                </a:ln>
                <a:solidFill>
                  <a:schemeClr val="tx1"/>
                </a:solidFill>
                <a:effectLst/>
                <a:uLnTx/>
                <a:uFillTx/>
                <a:latin typeface="楷体_GB2312"/>
                <a:ea typeface="楷体_GB2312"/>
              </a:rPr>
              <a:t>管理、变更管理、备份与恢复管理、</a:t>
            </a:r>
            <a:r>
              <a:rPr kumimoji="0" lang="zh-CN" altLang="zh-CN" sz="2400" b="1" i="0" u="none" strike="noStrike" kern="0" cap="none" spc="0" normalizeH="0" baseline="0" noProof="0" dirty="0">
                <a:ln>
                  <a:noFill/>
                </a:ln>
                <a:solidFill>
                  <a:srgbClr val="FF0000"/>
                </a:solidFill>
                <a:effectLst/>
                <a:uLnTx/>
                <a:uFillTx/>
                <a:latin typeface="楷体_GB2312"/>
                <a:ea typeface="楷体_GB2312"/>
              </a:rPr>
              <a:t>安全事件处置</a:t>
            </a:r>
            <a:r>
              <a:rPr kumimoji="0" lang="zh-CN" altLang="zh-CN" sz="2400" b="1" i="0" u="none" strike="noStrike" kern="0" cap="none" spc="0" normalizeH="0" baseline="0" noProof="0" dirty="0">
                <a:ln>
                  <a:noFill/>
                </a:ln>
                <a:solidFill>
                  <a:schemeClr val="tx1"/>
                </a:solidFill>
                <a:effectLst/>
                <a:uLnTx/>
                <a:uFillTx/>
                <a:latin typeface="楷体_GB2312"/>
                <a:ea typeface="楷体_GB2312"/>
              </a:rPr>
              <a:t>、</a:t>
            </a:r>
            <a:r>
              <a:rPr kumimoji="0" lang="zh-CN" altLang="zh-CN" sz="2400" b="1" i="0" u="none" strike="noStrike" kern="0" cap="none" spc="0" normalizeH="0" baseline="0" noProof="0" dirty="0">
                <a:ln>
                  <a:noFill/>
                </a:ln>
                <a:solidFill>
                  <a:srgbClr val="FF0000"/>
                </a:solidFill>
                <a:effectLst/>
                <a:uLnTx/>
                <a:uFillTx/>
                <a:latin typeface="楷体_GB2312"/>
                <a:ea typeface="楷体_GB2312"/>
              </a:rPr>
              <a:t>应急预案管理</a:t>
            </a:r>
            <a:r>
              <a:rPr kumimoji="0" lang="zh-CN" altLang="en-US" sz="2400" b="1" i="0" u="none" strike="noStrike" kern="0" cap="none" spc="0" normalizeH="0" baseline="0" noProof="0" dirty="0" smtClean="0">
                <a:ln>
                  <a:noFill/>
                </a:ln>
                <a:solidFill>
                  <a:schemeClr val="tx1"/>
                </a:solidFill>
                <a:effectLst/>
                <a:uLnTx/>
                <a:uFillTx/>
                <a:latin typeface="楷体_GB2312"/>
                <a:ea typeface="楷体_GB2312"/>
                <a:cs typeface="楷体_GB2312"/>
              </a:rPr>
              <a:t>人员离岗</a:t>
            </a:r>
            <a:endParaRPr kumimoji="0" lang="en-US" altLang="zh-CN" sz="24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1" i="0" u="none" strike="noStrike" kern="0" cap="none" spc="0" normalizeH="0" baseline="0" noProof="0" dirty="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chemeClr val="tx1"/>
              </a:solidFill>
              <a:effectLst/>
              <a:uLnTx/>
              <a:uFillTx/>
              <a:latin typeface="楷体_GB2312"/>
              <a:ea typeface="楷体_GB2312"/>
              <a:cs typeface="楷体_GB231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a:cs typeface="楷体_GB231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2" end="2"/>
                                            </p:txEl>
                                          </p:spTgt>
                                        </p:tgtEl>
                                        <p:attrNameLst>
                                          <p:attrName>style.visibility</p:attrName>
                                        </p:attrNameLst>
                                      </p:cBhvr>
                                      <p:to>
                                        <p:strVal val="visible"/>
                                      </p:to>
                                    </p:set>
                                    <p:animEffect transition="in" filter="fade">
                                      <p:cBhvr>
                                        <p:cTn id="7" dur="2000"/>
                                        <p:tgtEl>
                                          <p:spTgt spid="1945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1" end="1"/>
                                            </p:txEl>
                                          </p:spTgt>
                                        </p:tgtEl>
                                        <p:attrNameLst>
                                          <p:attrName>style.visibility</p:attrName>
                                        </p:attrNameLst>
                                      </p:cBhvr>
                                      <p:to>
                                        <p:strVal val="visible"/>
                                      </p:to>
                                    </p:set>
                                    <p:animEffect transition="in" filter="fade">
                                      <p:cBhvr>
                                        <p:cTn id="12" dur="500"/>
                                        <p:tgtEl>
                                          <p:spTgt spid="19459">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animEffect transition="in" filter="fade">
                                      <p:cBhvr>
                                        <p:cTn id="15" dur="500"/>
                                        <p:tgtEl>
                                          <p:spTgt spid="19459">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9459">
                                            <p:txEl>
                                              <p:pRg st="3" end="3"/>
                                            </p:txEl>
                                          </p:spTgt>
                                        </p:tgtEl>
                                        <p:attrNameLst>
                                          <p:attrName>style.visibility</p:attrName>
                                        </p:attrNameLst>
                                      </p:cBhvr>
                                      <p:to>
                                        <p:strVal val="visible"/>
                                      </p:to>
                                    </p:set>
                                    <p:animEffect transition="in" filter="fade">
                                      <p:cBhvr>
                                        <p:cTn id="18" dur="500"/>
                                        <p:tgtEl>
                                          <p:spTgt spid="19459">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9459">
                                            <p:txEl>
                                              <p:pRg st="4" end="4"/>
                                            </p:txEl>
                                          </p:spTgt>
                                        </p:tgtEl>
                                        <p:attrNameLst>
                                          <p:attrName>style.visibility</p:attrName>
                                        </p:attrNameLst>
                                      </p:cBhvr>
                                      <p:to>
                                        <p:strVal val="visible"/>
                                      </p:to>
                                    </p:set>
                                    <p:animEffect transition="in" filter="fade">
                                      <p:cBhvr>
                                        <p:cTn id="21" dur="500"/>
                                        <p:tgtEl>
                                          <p:spTgt spid="19459">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9459">
                                            <p:txEl>
                                              <p:pRg st="5" end="5"/>
                                            </p:txEl>
                                          </p:spTgt>
                                        </p:tgtEl>
                                        <p:attrNameLst>
                                          <p:attrName>style.visibility</p:attrName>
                                        </p:attrNameLst>
                                      </p:cBhvr>
                                      <p:to>
                                        <p:strVal val="visible"/>
                                      </p:to>
                                    </p:set>
                                    <p:animEffect transition="in" filter="fade">
                                      <p:cBhvr>
                                        <p:cTn id="26" dur="500"/>
                                        <p:tgtEl>
                                          <p:spTgt spid="19459">
                                            <p:txEl>
                                              <p:pRg st="5" end="5"/>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19459">
                                            <p:txEl>
                                              <p:pRg st="6" end="6"/>
                                            </p:txEl>
                                          </p:spTgt>
                                        </p:tgtEl>
                                        <p:attrNameLst>
                                          <p:attrName>style.visibility</p:attrName>
                                        </p:attrNameLst>
                                      </p:cBhvr>
                                      <p:to>
                                        <p:strVal val="visible"/>
                                      </p:to>
                                    </p:set>
                                    <p:animEffect transition="in" filter="fade">
                                      <p:cBhvr>
                                        <p:cTn id="29" dur="500"/>
                                        <p:tgtEl>
                                          <p:spTgt spid="19459">
                                            <p:txEl>
                                              <p:pRg st="6" end="6"/>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19459">
                                            <p:txEl>
                                              <p:pRg st="7" end="7"/>
                                            </p:txEl>
                                          </p:spTgt>
                                        </p:tgtEl>
                                        <p:attrNameLst>
                                          <p:attrName>style.visibility</p:attrName>
                                        </p:attrNameLst>
                                      </p:cBhvr>
                                      <p:to>
                                        <p:strVal val="visible"/>
                                      </p:to>
                                    </p:set>
                                    <p:animEffect transition="in" filter="fade">
                                      <p:cBhvr>
                                        <p:cTn id="32" dur="500"/>
                                        <p:tgtEl>
                                          <p:spTgt spid="19459">
                                            <p:txEl>
                                              <p:pRg st="7" end="7"/>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19459">
                                            <p:txEl>
                                              <p:pRg st="8" end="8"/>
                                            </p:txEl>
                                          </p:spTgt>
                                        </p:tgtEl>
                                        <p:attrNameLst>
                                          <p:attrName>style.visibility</p:attrName>
                                        </p:attrNameLst>
                                      </p:cBhvr>
                                      <p:to>
                                        <p:strVal val="visible"/>
                                      </p:to>
                                    </p:set>
                                    <p:animEffect transition="in" filter="fade">
                                      <p:cBhvr>
                                        <p:cTn id="35" dur="500"/>
                                        <p:tgtEl>
                                          <p:spTgt spid="19459">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9459">
                                            <p:txEl>
                                              <p:pRg st="9" end="9"/>
                                            </p:txEl>
                                          </p:spTgt>
                                        </p:tgtEl>
                                        <p:attrNameLst>
                                          <p:attrName>style.visibility</p:attrName>
                                        </p:attrNameLst>
                                      </p:cBhvr>
                                      <p:to>
                                        <p:strVal val="visible"/>
                                      </p:to>
                                    </p:set>
                                    <p:animEffect transition="in" filter="fade">
                                      <p:cBhvr>
                                        <p:cTn id="40" dur="500"/>
                                        <p:tgtEl>
                                          <p:spTgt spid="1945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信息系统安全等级测评要求</a:t>
            </a:r>
          </a:p>
        </p:txBody>
      </p:sp>
      <p:sp>
        <p:nvSpPr>
          <p:cNvPr id="6" name="内容占位符 2"/>
          <p:cNvSpPr txBox="1">
            <a:spLocks noChangeArrowheads="1"/>
          </p:cNvSpPr>
          <p:nvPr/>
        </p:nvSpPr>
        <p:spPr bwMode="auto">
          <a:xfrm>
            <a:off x="457200" y="1219200"/>
            <a:ext cx="8229600" cy="578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tx2"/>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sym typeface="+mn-ea"/>
              </a:rPr>
              <a:t> 9.2.7</a:t>
            </a:r>
            <a:r>
              <a:rPr kumimoji="0" lang="zh-CN" altLang="en-US" sz="3200" b="1" i="0" u="none" strike="noStrike" kern="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sym typeface="+mn-ea"/>
              </a:rPr>
              <a:t>信息系统整体测评</a:t>
            </a:r>
            <a:endPar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sym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chemeClr val="tx1"/>
                </a:solidFill>
                <a:effectLst/>
                <a:uLnTx/>
                <a:uFillTx/>
                <a:latin typeface="楷体_GB2312" pitchFamily="49" charset="-122"/>
                <a:ea typeface="楷体_GB2312"/>
                <a:cs typeface="+mn-cs"/>
                <a:sym typeface="+mn-ea"/>
              </a:rPr>
              <a:t>概述</a:t>
            </a:r>
            <a:endParaRPr kumimoji="0" lang="en-US" altLang="zh-CN" sz="2800" b="1" i="0" u="none" strike="noStrike" kern="0" cap="none" spc="0" normalizeH="0" baseline="0" noProof="0" dirty="0" smtClean="0">
              <a:ln>
                <a:noFill/>
              </a:ln>
              <a:solidFill>
                <a:schemeClr val="tx1"/>
              </a:solidFill>
              <a:effectLst/>
              <a:uLnTx/>
              <a:uFillTx/>
              <a:latin typeface="楷体_GB2312" pitchFamily="49" charset="-122"/>
              <a:ea typeface="楷体_GB2312"/>
              <a:cs typeface="+mn-cs"/>
              <a:sym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1" i="0" u="none" strike="noStrike" kern="1200" cap="none" spc="0" normalizeH="0" baseline="0" noProof="0" dirty="0">
                <a:ln>
                  <a:noFill/>
                </a:ln>
                <a:solidFill>
                  <a:schemeClr val="tx1"/>
                </a:solidFill>
                <a:effectLst/>
                <a:uLnTx/>
                <a:uFillTx/>
                <a:latin typeface="+mn-lt"/>
                <a:ea typeface="楷体_GB2312"/>
                <a:cs typeface="+mn-cs"/>
                <a:sym typeface="+mn-ea"/>
              </a:rPr>
              <a:t>安全控制点间</a:t>
            </a:r>
            <a:r>
              <a:rPr kumimoji="0" lang="zh-CN" altLang="zh-CN" sz="2800" b="1" i="0" u="none" strike="noStrike" kern="1200" cap="none" spc="0" normalizeH="0" baseline="0" noProof="0" dirty="0" smtClean="0">
                <a:ln>
                  <a:noFill/>
                </a:ln>
                <a:solidFill>
                  <a:schemeClr val="tx1"/>
                </a:solidFill>
                <a:effectLst/>
                <a:uLnTx/>
                <a:uFillTx/>
                <a:latin typeface="+mn-lt"/>
                <a:ea typeface="楷体_GB2312"/>
                <a:cs typeface="+mn-cs"/>
                <a:sym typeface="+mn-ea"/>
              </a:rPr>
              <a:t>测评</a:t>
            </a:r>
            <a:endParaRPr kumimoji="0" lang="en-US" altLang="zh-CN" sz="2800" b="1" i="0" u="none" strike="noStrike" kern="1200" cap="none" spc="0" normalizeH="0" baseline="0" noProof="0" dirty="0" smtClean="0">
              <a:ln>
                <a:noFill/>
              </a:ln>
              <a:solidFill>
                <a:schemeClr val="tx1"/>
              </a:solidFill>
              <a:effectLst/>
              <a:uLnTx/>
              <a:uFillTx/>
              <a:latin typeface="+mn-lt"/>
              <a:ea typeface="楷体_GB2312"/>
              <a:cs typeface="+mn-cs"/>
              <a:sym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1" i="0" u="none" strike="noStrike" kern="1200" cap="none" spc="0" normalizeH="0" baseline="0" noProof="0" dirty="0">
                <a:ln>
                  <a:noFill/>
                </a:ln>
                <a:solidFill>
                  <a:schemeClr val="tx1"/>
                </a:solidFill>
                <a:effectLst/>
                <a:uLnTx/>
                <a:uFillTx/>
                <a:latin typeface="+mn-lt"/>
                <a:ea typeface="楷体_GB2312"/>
                <a:cs typeface="+mn-cs"/>
                <a:sym typeface="+mn-ea"/>
              </a:rPr>
              <a:t>层面间</a:t>
            </a:r>
            <a:r>
              <a:rPr kumimoji="0" lang="zh-CN" altLang="zh-CN" sz="2800" b="1" i="0" u="none" strike="noStrike" kern="1200" cap="none" spc="0" normalizeH="0" baseline="0" noProof="0" dirty="0" smtClean="0">
                <a:ln>
                  <a:noFill/>
                </a:ln>
                <a:solidFill>
                  <a:schemeClr val="tx1"/>
                </a:solidFill>
                <a:effectLst/>
                <a:uLnTx/>
                <a:uFillTx/>
                <a:latin typeface="+mn-lt"/>
                <a:ea typeface="楷体_GB2312"/>
                <a:cs typeface="+mn-cs"/>
                <a:sym typeface="+mn-ea"/>
              </a:rPr>
              <a:t>测评</a:t>
            </a:r>
            <a:endParaRPr kumimoji="0" lang="en-US" altLang="zh-CN" sz="2800" b="1" i="0" u="none" strike="noStrike" kern="1200" cap="none" spc="0" normalizeH="0" baseline="0" noProof="0" dirty="0" smtClean="0">
              <a:ln>
                <a:noFill/>
              </a:ln>
              <a:solidFill>
                <a:schemeClr val="tx1"/>
              </a:solidFill>
              <a:effectLst/>
              <a:uLnTx/>
              <a:uFillTx/>
              <a:latin typeface="+mn-lt"/>
              <a:ea typeface="楷体_GB2312"/>
              <a:cs typeface="+mn-cs"/>
              <a:sym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1" i="0" u="none" strike="noStrike" kern="1200" cap="none" spc="0" normalizeH="0" baseline="0" noProof="0" dirty="0">
                <a:ln>
                  <a:noFill/>
                </a:ln>
                <a:solidFill>
                  <a:schemeClr val="tx1"/>
                </a:solidFill>
                <a:effectLst/>
                <a:uLnTx/>
                <a:uFillTx/>
                <a:latin typeface="+mn-lt"/>
                <a:ea typeface="楷体_GB2312"/>
                <a:cs typeface="+mn-cs"/>
                <a:sym typeface="+mn-ea"/>
              </a:rPr>
              <a:t>区域间</a:t>
            </a:r>
            <a:r>
              <a:rPr kumimoji="0" lang="zh-CN" altLang="zh-CN" sz="2800" b="1" i="0" u="none" strike="noStrike" kern="1200" cap="none" spc="0" normalizeH="0" baseline="0" noProof="0" dirty="0" smtClean="0">
                <a:ln>
                  <a:noFill/>
                </a:ln>
                <a:solidFill>
                  <a:schemeClr val="tx1"/>
                </a:solidFill>
                <a:effectLst/>
                <a:uLnTx/>
                <a:uFillTx/>
                <a:latin typeface="+mn-lt"/>
                <a:ea typeface="楷体_GB2312"/>
                <a:cs typeface="+mn-cs"/>
                <a:sym typeface="+mn-ea"/>
              </a:rPr>
              <a:t>测评</a:t>
            </a:r>
            <a:endParaRPr kumimoji="0" lang="en-US" altLang="zh-CN" sz="2800" b="1" i="0" u="none" strike="noStrike" kern="1200" cap="none" spc="0" normalizeH="0" baseline="0" noProof="0" dirty="0" smtClean="0">
              <a:ln>
                <a:noFill/>
              </a:ln>
              <a:solidFill>
                <a:schemeClr val="tx1"/>
              </a:solidFill>
              <a:effectLst/>
              <a:uLnTx/>
              <a:uFillTx/>
              <a:latin typeface="+mn-lt"/>
              <a:ea typeface="楷体_GB2312"/>
              <a:cs typeface="+mn-cs"/>
              <a:sym typeface="+mn-ea"/>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endPar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sym typeface="+mn-ea"/>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sym typeface="+mn-ea"/>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fade">
                                      <p:cBhvr>
                                        <p:cTn id="17" dur="5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fade">
                                      <p:cBhvr>
                                        <p:cTn id="22"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信息系统安全等级测评要求</a:t>
            </a:r>
          </a:p>
        </p:txBody>
      </p:sp>
      <p:sp>
        <p:nvSpPr>
          <p:cNvPr id="19459" name="内容占位符 2"/>
          <p:cNvSpPr>
            <a:spLocks noGrp="1" noChangeArrowheads="1"/>
          </p:cNvSpPr>
          <p:nvPr>
            <p:ph idx="1"/>
          </p:nvPr>
        </p:nvSpPr>
        <p:spPr>
          <a:xfrm>
            <a:off x="228600" y="1143000"/>
            <a:ext cx="8610600" cy="5410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a:cs typeface="+mn-cs"/>
              </a:rPr>
              <a:t>9.2.8</a:t>
            </a:r>
            <a:r>
              <a:rPr kumimoji="0" lang="zh-CN" altLang="en-US"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a:cs typeface="+mn-cs"/>
              </a:rPr>
              <a:t>等级测评结论</a:t>
            </a:r>
            <a:endPar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1" i="0" u="none" strike="noStrike" kern="0" cap="none" spc="0" normalizeH="0" baseline="0" noProof="0" dirty="0">
                <a:ln>
                  <a:noFill/>
                </a:ln>
                <a:solidFill>
                  <a:schemeClr val="tx1"/>
                </a:solidFill>
                <a:effectLst/>
                <a:uLnTx/>
                <a:uFillTx/>
                <a:latin typeface="+mn-lt"/>
                <a:ea typeface="楷体_GB2312"/>
              </a:rPr>
              <a:t>各层面的测评</a:t>
            </a:r>
            <a:r>
              <a:rPr kumimoji="0" lang="zh-CN" altLang="zh-CN" sz="2800" b="1" i="0" u="none" strike="noStrike" kern="0" cap="none" spc="0" normalizeH="0" baseline="0" noProof="0" dirty="0" smtClean="0">
                <a:ln>
                  <a:noFill/>
                </a:ln>
                <a:solidFill>
                  <a:schemeClr val="tx1"/>
                </a:solidFill>
                <a:effectLst/>
                <a:uLnTx/>
                <a:uFillTx/>
                <a:latin typeface="+mn-lt"/>
                <a:ea typeface="楷体_GB2312"/>
              </a:rPr>
              <a:t>结论</a:t>
            </a:r>
            <a:endParaRPr kumimoji="0" lang="en-US" altLang="zh-CN" sz="2800" b="1" i="0" u="none" strike="noStrike" kern="0" cap="none" spc="0" normalizeH="0" baseline="0" noProof="0" dirty="0" smtClean="0">
              <a:ln>
                <a:noFill/>
              </a:ln>
              <a:solidFill>
                <a:schemeClr val="tx1"/>
              </a:solidFill>
              <a:effectLst/>
              <a:uLnTx/>
              <a:uFillTx/>
              <a:latin typeface="+mn-lt"/>
              <a:ea typeface="楷体_GB231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zh-CN" altLang="zh-CN" sz="28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等级测评报告应给出信息系统在安全技术和安全管理</a:t>
            </a:r>
            <a:r>
              <a:rPr kumimoji="0" lang="zh-CN" altLang="zh-CN" sz="2800" b="0"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rPr>
              <a:t>各个层面</a:t>
            </a:r>
            <a:r>
              <a:rPr kumimoji="0" lang="zh-CN" altLang="zh-CN" sz="28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rPr>
              <a:t>的测评</a:t>
            </a:r>
            <a:r>
              <a:rPr kumimoji="0" lang="zh-CN" altLang="zh-CN" sz="2800" b="0"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rPr>
              <a:t>结论</a:t>
            </a:r>
            <a:endParaRPr kumimoji="0" lang="en-US" altLang="zh-CN" sz="2800" b="0"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1" i="0" u="none" strike="noStrike" kern="0" cap="none" spc="0" normalizeH="0" baseline="0" noProof="0" dirty="0" smtClean="0">
                <a:ln>
                  <a:noFill/>
                </a:ln>
                <a:solidFill>
                  <a:schemeClr val="tx1"/>
                </a:solidFill>
                <a:effectLst/>
                <a:uLnTx/>
                <a:uFillTx/>
                <a:latin typeface="+mn-lt"/>
                <a:ea typeface="楷体_GB2312"/>
              </a:rPr>
              <a:t>风险分析</a:t>
            </a:r>
            <a:r>
              <a:rPr kumimoji="0" lang="zh-CN" altLang="zh-CN" sz="2800" b="1" i="0" u="none" strike="noStrike" kern="0" cap="none" spc="0" normalizeH="0" baseline="0" noProof="0" dirty="0">
                <a:ln>
                  <a:noFill/>
                </a:ln>
                <a:solidFill>
                  <a:schemeClr val="tx1"/>
                </a:solidFill>
                <a:effectLst/>
                <a:uLnTx/>
                <a:uFillTx/>
                <a:latin typeface="+mn-lt"/>
                <a:ea typeface="楷体_GB2312"/>
              </a:rPr>
              <a:t>和</a:t>
            </a:r>
            <a:r>
              <a:rPr kumimoji="0" lang="zh-CN" altLang="zh-CN" sz="2800" b="1" i="0" u="none" strike="noStrike" kern="0" cap="none" spc="0" normalizeH="0" baseline="0" noProof="0" dirty="0" smtClean="0">
                <a:ln>
                  <a:noFill/>
                </a:ln>
                <a:solidFill>
                  <a:schemeClr val="tx1"/>
                </a:solidFill>
                <a:effectLst/>
                <a:uLnTx/>
                <a:uFillTx/>
                <a:latin typeface="+mn-lt"/>
                <a:ea typeface="楷体_GB2312"/>
              </a:rPr>
              <a:t>评价</a:t>
            </a:r>
            <a:endParaRPr kumimoji="0" lang="en-US" altLang="zh-CN" sz="2800" b="1" i="0" u="none" strike="noStrike" kern="0" cap="none" spc="0" normalizeH="0" baseline="0" noProof="0" dirty="0" smtClean="0">
              <a:ln>
                <a:noFill/>
              </a:ln>
              <a:solidFill>
                <a:schemeClr val="tx1"/>
              </a:solidFill>
              <a:effectLst/>
              <a:uLnTx/>
              <a:uFillTx/>
              <a:latin typeface="+mn-lt"/>
              <a:ea typeface="楷体_GB231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zh-CN" altLang="zh-CN" sz="2800" b="0"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rPr>
              <a:t>等级测评报告中应对整体测评之后单元测评结果中的</a:t>
            </a:r>
            <a:r>
              <a:rPr kumimoji="0" lang="zh-CN" altLang="zh-CN" sz="2800" b="0" i="0" u="none" strike="noStrike" kern="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rPr>
              <a:t>不符合项或部分符合项</a:t>
            </a:r>
            <a:r>
              <a:rPr kumimoji="0" lang="zh-CN" altLang="zh-CN" sz="2800" b="0"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rPr>
              <a:t>进行风险分析和评价</a:t>
            </a:r>
            <a:endParaRPr kumimoji="0" lang="en-US" altLang="zh-CN" sz="28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en-US" sz="2800" b="1" i="0" u="none" strike="noStrike" kern="0" cap="none" spc="0" normalizeH="0" baseline="0" noProof="0" dirty="0" smtClean="0">
              <a:ln>
                <a:noFill/>
              </a:ln>
              <a:solidFill>
                <a:schemeClr val="tx1"/>
              </a:solidFill>
              <a:effectLst/>
              <a:uLnTx/>
              <a:uFillTx/>
              <a:latin typeface="+mn-lt"/>
              <a:ea typeface="楷体_GB231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fade">
                                      <p:cBhvr>
                                        <p:cTn id="17" dur="500"/>
                                        <p:tgtEl>
                                          <p:spTgt spid="19459">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19459">
                                            <p:txEl>
                                              <p:pRg st="4" end="4"/>
                                            </p:txEl>
                                          </p:spTgt>
                                        </p:tgtEl>
                                        <p:attrNameLst>
                                          <p:attrName>style.visibility</p:attrName>
                                        </p:attrNameLst>
                                      </p:cBhvr>
                                      <p:to>
                                        <p:strVal val="visible"/>
                                      </p:to>
                                    </p:set>
                                    <p:animEffect transition="in" filter="fade">
                                      <p:cBhvr>
                                        <p:cTn id="20" dur="500"/>
                                        <p:tgtEl>
                                          <p:spTgt spid="194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vert="horz" wrap="square" lIns="91440" tIns="45720" rIns="91440" bIns="45720" anchor="ctr" anchorCtr="0"/>
          <a:lstStyle/>
          <a:p>
            <a:r>
              <a:rPr lang="zh-CN" altLang="en-US" b="1" dirty="0">
                <a:ea typeface="宋体" panose="02010600030101010101" pitchFamily="2" charset="-122"/>
              </a:rPr>
              <a:t>信息系统安全等级测评要求</a:t>
            </a:r>
            <a:endParaRPr lang="zh-CN" altLang="en-US" dirty="0">
              <a:ea typeface="宋体" panose="02010600030101010101" pitchFamily="2" charset="-122"/>
            </a:endParaRPr>
          </a:p>
        </p:txBody>
      </p:sp>
      <p:sp>
        <p:nvSpPr>
          <p:cNvPr id="27651" name="内容占位符 2"/>
          <p:cNvSpPr>
            <a:spLocks noGrp="1" noChangeArrowheads="1"/>
          </p:cNvSpPr>
          <p:nvPr>
            <p:ph idx="1"/>
          </p:nvPr>
        </p:nvSpPr>
        <p:spPr>
          <a:xfrm>
            <a:off x="304800" y="1143000"/>
            <a:ext cx="8610600" cy="5105400"/>
          </a:xfrm>
        </p:spPr>
        <p:txBody>
          <a:bodyPr vert="horz" wrap="square" lIns="91440" tIns="45720" rIns="91440" bIns="45720" numCol="1" anchor="t" anchorCtr="0" compatLnSpc="1"/>
          <a:lstStyle/>
          <a:p>
            <a:pPr marL="457200" marR="0" lvl="1" indent="-4572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
              <a:defRPr/>
            </a:pPr>
            <a:r>
              <a:rPr kumimoji="0" lang="zh-CN" altLang="zh-CN" sz="2800" b="1" i="0" u="none" strike="noStrike" kern="0" cap="none" spc="0" normalizeH="0" baseline="0" noProof="0" dirty="0" smtClean="0">
                <a:ln>
                  <a:noFill/>
                </a:ln>
                <a:solidFill>
                  <a:schemeClr val="tx1"/>
                </a:solidFill>
                <a:effectLst/>
                <a:uLnTx/>
                <a:uFillTx/>
                <a:latin typeface="+mn-lt"/>
                <a:ea typeface="楷体_GB2312"/>
                <a:cs typeface="楷体_GB2312"/>
              </a:rPr>
              <a:t>测评结论</a:t>
            </a:r>
            <a:endParaRPr kumimoji="0" lang="en-US" altLang="zh-CN" sz="2800" b="1" i="0" u="none" strike="noStrike" kern="0" cap="none" spc="0" normalizeH="0" baseline="0" noProof="0" dirty="0" smtClean="0">
              <a:ln>
                <a:noFill/>
              </a:ln>
              <a:solidFill>
                <a:schemeClr val="tx1"/>
              </a:solidFill>
              <a:effectLst/>
              <a:uLnTx/>
              <a:uFillTx/>
              <a:latin typeface="+mn-lt"/>
              <a:ea typeface="楷体_GB2312"/>
              <a:cs typeface="楷体_GB2312"/>
            </a:endParaRPr>
          </a:p>
          <a:p>
            <a:pPr marL="742950" marR="0" lvl="2" indent="-342900" algn="l" defTabSz="914400" rtl="0" eaLnBrk="0" fontAlgn="base" latinLnBrk="0" hangingPunct="0">
              <a:lnSpc>
                <a:spcPct val="100000"/>
              </a:lnSpc>
              <a:spcBef>
                <a:spcPct val="20000"/>
              </a:spcBef>
              <a:spcAft>
                <a:spcPct val="0"/>
              </a:spcAft>
              <a:buClr>
                <a:schemeClr val="tx2"/>
              </a:buClr>
              <a:buSzTx/>
              <a:buFontTx/>
              <a:buChar char="•"/>
              <a:defRPr/>
            </a:pPr>
            <a:r>
              <a:rPr kumimoji="0" lang="zh-CN" altLang="zh-CN" sz="2400" b="1" i="0" u="none" strike="noStrike" kern="0" cap="none" spc="0" normalizeH="0" baseline="0" noProof="0" dirty="0" smtClean="0">
                <a:ln>
                  <a:noFill/>
                </a:ln>
                <a:solidFill>
                  <a:schemeClr val="tx1"/>
                </a:solidFill>
                <a:effectLst/>
                <a:uLnTx/>
                <a:uFillTx/>
                <a:latin typeface="+mn-lt"/>
                <a:ea typeface="楷体_GB2312"/>
                <a:cs typeface="楷体_GB2312"/>
              </a:rPr>
              <a:t>等级测评报告应给出</a:t>
            </a:r>
            <a:r>
              <a:rPr kumimoji="0" lang="zh-CN" altLang="zh-CN" sz="2400" b="1" i="0" u="none" strike="noStrike" kern="0" cap="none" spc="0" normalizeH="0" baseline="0" noProof="0" dirty="0" smtClean="0">
                <a:ln>
                  <a:noFill/>
                </a:ln>
                <a:solidFill>
                  <a:srgbClr val="FF0000"/>
                </a:solidFill>
                <a:effectLst/>
                <a:uLnTx/>
                <a:uFillTx/>
                <a:latin typeface="+mn-lt"/>
                <a:ea typeface="楷体_GB2312"/>
                <a:cs typeface="楷体_GB2312"/>
              </a:rPr>
              <a:t>信息系统整体保护能力</a:t>
            </a:r>
            <a:r>
              <a:rPr kumimoji="0" lang="zh-CN" altLang="zh-CN" sz="2400" b="1" i="0" u="none" strike="noStrike" kern="0" cap="none" spc="0" normalizeH="0" baseline="0" noProof="0" dirty="0" smtClean="0">
                <a:ln>
                  <a:noFill/>
                </a:ln>
                <a:solidFill>
                  <a:schemeClr val="tx1"/>
                </a:solidFill>
                <a:effectLst/>
                <a:uLnTx/>
                <a:uFillTx/>
                <a:latin typeface="+mn-lt"/>
                <a:ea typeface="楷体_GB2312"/>
                <a:cs typeface="楷体_GB2312"/>
              </a:rPr>
              <a:t>的测评</a:t>
            </a:r>
            <a:r>
              <a:rPr kumimoji="0" lang="zh-CN" altLang="en-US" sz="2400" b="1" i="0" u="none" strike="noStrike" kern="0" cap="none" spc="0" normalizeH="0" baseline="0" noProof="0" dirty="0" smtClean="0">
                <a:ln>
                  <a:noFill/>
                </a:ln>
                <a:solidFill>
                  <a:schemeClr val="tx1"/>
                </a:solidFill>
                <a:effectLst/>
                <a:uLnTx/>
                <a:uFillTx/>
                <a:latin typeface="+mn-lt"/>
                <a:ea typeface="楷体_GB2312"/>
                <a:cs typeface="楷体_GB2312"/>
              </a:rPr>
              <a:t>结</a:t>
            </a:r>
            <a:r>
              <a:rPr kumimoji="0" lang="zh-CN" altLang="zh-CN" sz="2400" b="1" i="0" u="none" strike="noStrike" kern="0" cap="none" spc="0" normalizeH="0" baseline="0" noProof="0" dirty="0" smtClean="0">
                <a:ln>
                  <a:noFill/>
                </a:ln>
                <a:solidFill>
                  <a:schemeClr val="tx1"/>
                </a:solidFill>
                <a:effectLst/>
                <a:uLnTx/>
                <a:uFillTx/>
                <a:latin typeface="+mn-lt"/>
                <a:ea typeface="楷体_GB2312"/>
                <a:cs typeface="楷体_GB2312"/>
              </a:rPr>
              <a:t>论，确认信息系统达到相应等级保护要求的</a:t>
            </a:r>
            <a:r>
              <a:rPr kumimoji="0" lang="zh-CN" altLang="zh-CN" sz="2400" b="1" i="0" u="none" strike="noStrike" kern="0" cap="none" spc="0" normalizeH="0" baseline="0" noProof="0" dirty="0" smtClean="0">
                <a:ln>
                  <a:noFill/>
                </a:ln>
                <a:solidFill>
                  <a:srgbClr val="FF0000"/>
                </a:solidFill>
                <a:effectLst/>
                <a:uLnTx/>
                <a:uFillTx/>
                <a:latin typeface="+mn-lt"/>
                <a:ea typeface="楷体_GB2312"/>
                <a:cs typeface="楷体_GB2312"/>
              </a:rPr>
              <a:t>程度</a:t>
            </a:r>
            <a:r>
              <a:rPr kumimoji="0" lang="zh-CN" altLang="zh-CN" sz="2400" b="1" i="0" u="none" strike="noStrike" kern="0" cap="none" spc="0" normalizeH="0" baseline="0" noProof="0" dirty="0" smtClean="0">
                <a:ln>
                  <a:noFill/>
                </a:ln>
                <a:solidFill>
                  <a:schemeClr val="tx1"/>
                </a:solidFill>
                <a:effectLst/>
                <a:uLnTx/>
                <a:uFillTx/>
                <a:latin typeface="+mn-lt"/>
                <a:ea typeface="楷体_GB2312"/>
                <a:cs typeface="楷体_GB2312"/>
              </a:rPr>
              <a:t>。</a:t>
            </a:r>
          </a:p>
          <a:p>
            <a:pPr marL="914400" marR="0" lvl="1" indent="-5143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AutoNum type="circleNumDbPlain"/>
              <a:defRPr/>
            </a:pPr>
            <a:r>
              <a:rPr kumimoji="0" lang="zh-CN" altLang="zh-CN" sz="2400" b="1" i="0" u="none" strike="noStrike" kern="0" cap="none" spc="0" normalizeH="0" baseline="0" noProof="0" dirty="0" smtClean="0">
                <a:ln>
                  <a:noFill/>
                </a:ln>
                <a:solidFill>
                  <a:schemeClr val="tx1"/>
                </a:solidFill>
                <a:effectLst/>
                <a:uLnTx/>
                <a:uFillTx/>
                <a:latin typeface="+mn-lt"/>
                <a:ea typeface="楷体_GB2312"/>
                <a:cs typeface="楷体_GB2312"/>
              </a:rPr>
              <a:t>如果单元测评结果中</a:t>
            </a:r>
            <a:r>
              <a:rPr kumimoji="0" lang="zh-CN" altLang="zh-CN" sz="2400" b="1" i="0" u="none" strike="noStrike" kern="0" cap="none" spc="0" normalizeH="0" baseline="0" noProof="0" dirty="0" smtClean="0">
                <a:ln>
                  <a:noFill/>
                </a:ln>
                <a:solidFill>
                  <a:srgbClr val="FF0000"/>
                </a:solidFill>
                <a:effectLst/>
                <a:uLnTx/>
                <a:uFillTx/>
                <a:latin typeface="+mn-lt"/>
                <a:ea typeface="楷体_GB2312"/>
                <a:cs typeface="楷体_GB2312"/>
              </a:rPr>
              <a:t>没有不符合项或部分符合项</a:t>
            </a:r>
            <a:r>
              <a:rPr kumimoji="0" lang="zh-CN" altLang="zh-CN" sz="2400" b="1" i="0" u="none" strike="noStrike" kern="0" cap="none" spc="0" normalizeH="0" baseline="0" noProof="0" dirty="0" smtClean="0">
                <a:ln>
                  <a:noFill/>
                </a:ln>
                <a:solidFill>
                  <a:schemeClr val="tx1"/>
                </a:solidFill>
                <a:effectLst/>
                <a:uLnTx/>
                <a:uFillTx/>
                <a:latin typeface="+mn-lt"/>
                <a:ea typeface="楷体_GB2312"/>
                <a:cs typeface="楷体_GB2312"/>
              </a:rPr>
              <a:t>，则测评结论为“符合”；</a:t>
            </a:r>
          </a:p>
          <a:p>
            <a:pPr marL="914400" marR="0" lvl="1" indent="-5143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AutoNum type="circleNumDbPlain"/>
              <a:defRPr/>
            </a:pPr>
            <a:r>
              <a:rPr kumimoji="0" lang="zh-CN" altLang="zh-CN" sz="2400" b="1" i="0" u="none" strike="noStrike" kern="0" cap="none" spc="0" normalizeH="0" baseline="0" noProof="0" dirty="0" smtClean="0">
                <a:ln>
                  <a:noFill/>
                </a:ln>
                <a:solidFill>
                  <a:schemeClr val="tx1"/>
                </a:solidFill>
                <a:effectLst/>
                <a:uLnTx/>
                <a:uFillTx/>
                <a:latin typeface="+mn-lt"/>
                <a:ea typeface="楷体_GB2312"/>
                <a:cs typeface="楷体_GB2312"/>
              </a:rPr>
              <a:t>如果单元测评结果</a:t>
            </a:r>
            <a:r>
              <a:rPr kumimoji="0" lang="zh-CN" altLang="zh-CN" sz="2400" b="1" i="0" u="none" strike="noStrike" kern="0" cap="none" spc="0" normalizeH="0" baseline="0" noProof="0" dirty="0" smtClean="0">
                <a:ln>
                  <a:noFill/>
                </a:ln>
                <a:solidFill>
                  <a:srgbClr val="FF0000"/>
                </a:solidFill>
                <a:effectLst/>
                <a:uLnTx/>
                <a:uFillTx/>
                <a:latin typeface="+mn-lt"/>
                <a:ea typeface="楷体_GB2312"/>
                <a:cs typeface="楷体_GB2312"/>
              </a:rPr>
              <a:t>存在</a:t>
            </a:r>
            <a:r>
              <a:rPr kumimoji="0" lang="zh-CN" altLang="zh-CN" sz="2400" b="1" i="0" u="none" strike="noStrike" kern="0" cap="none" spc="0" normalizeH="0" baseline="0" noProof="0" dirty="0" smtClean="0">
                <a:ln>
                  <a:noFill/>
                </a:ln>
                <a:solidFill>
                  <a:schemeClr val="tx1"/>
                </a:solidFill>
                <a:effectLst/>
                <a:uLnTx/>
                <a:uFillTx/>
                <a:latin typeface="+mn-lt"/>
                <a:ea typeface="楷体_GB2312"/>
                <a:cs typeface="楷体_GB2312"/>
              </a:rPr>
              <a:t>不符合项或部分符合项，但所产生的安全问题</a:t>
            </a:r>
            <a:r>
              <a:rPr kumimoji="0" lang="zh-CN" altLang="zh-CN" sz="2400" b="1" i="0" u="none" strike="noStrike" kern="0" cap="none" spc="0" normalizeH="0" baseline="0" noProof="0" dirty="0" smtClean="0">
                <a:ln>
                  <a:noFill/>
                </a:ln>
                <a:solidFill>
                  <a:srgbClr val="FF0000"/>
                </a:solidFill>
                <a:effectLst/>
                <a:uLnTx/>
                <a:uFillTx/>
                <a:latin typeface="+mn-lt"/>
                <a:ea typeface="楷体_GB2312"/>
                <a:cs typeface="楷体_GB2312"/>
              </a:rPr>
              <a:t>不会导致</a:t>
            </a:r>
            <a:r>
              <a:rPr kumimoji="0" lang="zh-CN" altLang="zh-CN" sz="2400" b="1" i="0" u="none" strike="noStrike" kern="0" cap="none" spc="0" normalizeH="0" baseline="0" noProof="0" dirty="0" smtClean="0">
                <a:ln>
                  <a:noFill/>
                </a:ln>
                <a:solidFill>
                  <a:schemeClr val="tx1"/>
                </a:solidFill>
                <a:effectLst/>
                <a:uLnTx/>
                <a:uFillTx/>
                <a:latin typeface="+mn-lt"/>
                <a:ea typeface="楷体_GB2312"/>
                <a:cs typeface="楷体_GB2312"/>
              </a:rPr>
              <a:t>信息系统存在</a:t>
            </a:r>
            <a:r>
              <a:rPr kumimoji="0" lang="zh-CN" altLang="zh-CN" sz="2400" b="1" i="0" u="none" strike="noStrike" kern="0" cap="none" spc="0" normalizeH="0" baseline="0" noProof="0" dirty="0" smtClean="0">
                <a:ln>
                  <a:noFill/>
                </a:ln>
                <a:solidFill>
                  <a:srgbClr val="FF0000"/>
                </a:solidFill>
                <a:effectLst/>
                <a:uLnTx/>
                <a:uFillTx/>
                <a:latin typeface="+mn-lt"/>
                <a:ea typeface="楷体_GB2312"/>
                <a:cs typeface="楷体_GB2312"/>
              </a:rPr>
              <a:t>高等级安全风险</a:t>
            </a:r>
            <a:r>
              <a:rPr kumimoji="0" lang="zh-CN" altLang="zh-CN" sz="2400" b="1" i="0" u="none" strike="noStrike" kern="0" cap="none" spc="0" normalizeH="0" baseline="0" noProof="0" dirty="0" smtClean="0">
                <a:ln>
                  <a:noFill/>
                </a:ln>
                <a:solidFill>
                  <a:schemeClr val="tx1"/>
                </a:solidFill>
                <a:effectLst/>
                <a:uLnTx/>
                <a:uFillTx/>
                <a:latin typeface="+mn-lt"/>
                <a:ea typeface="楷体_GB2312"/>
                <a:cs typeface="楷体_GB2312"/>
              </a:rPr>
              <a:t>，则测评结论为“基本符合”；</a:t>
            </a:r>
          </a:p>
          <a:p>
            <a:pPr marL="914400" marR="0" lvl="1" indent="-5143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AutoNum type="circleNumDbPlain"/>
              <a:defRPr/>
            </a:pPr>
            <a:r>
              <a:rPr kumimoji="0" lang="zh-CN" altLang="zh-CN" sz="2400" b="1" i="0" u="none" strike="noStrike" kern="0" cap="none" spc="0" normalizeH="0" baseline="0" noProof="0" dirty="0" smtClean="0">
                <a:ln>
                  <a:noFill/>
                </a:ln>
                <a:solidFill>
                  <a:schemeClr val="tx1"/>
                </a:solidFill>
                <a:effectLst/>
                <a:uLnTx/>
                <a:uFillTx/>
                <a:latin typeface="+mn-lt"/>
                <a:ea typeface="楷体_GB2312"/>
                <a:cs typeface="楷体_GB2312"/>
              </a:rPr>
              <a:t>如果单元测评结果</a:t>
            </a:r>
            <a:r>
              <a:rPr kumimoji="0" lang="zh-CN" altLang="zh-CN" sz="2400" b="1" i="0" u="none" strike="noStrike" kern="0" cap="none" spc="0" normalizeH="0" baseline="0" noProof="0" dirty="0" smtClean="0">
                <a:ln>
                  <a:noFill/>
                </a:ln>
                <a:solidFill>
                  <a:srgbClr val="FF0000"/>
                </a:solidFill>
                <a:effectLst/>
                <a:uLnTx/>
                <a:uFillTx/>
                <a:latin typeface="+mn-lt"/>
                <a:ea typeface="楷体_GB2312"/>
                <a:cs typeface="楷体_GB2312"/>
              </a:rPr>
              <a:t>存在</a:t>
            </a:r>
            <a:r>
              <a:rPr kumimoji="0" lang="zh-CN" altLang="zh-CN" sz="2400" b="1" i="0" u="none" strike="noStrike" kern="0" cap="none" spc="0" normalizeH="0" baseline="0" noProof="0" dirty="0" smtClean="0">
                <a:ln>
                  <a:noFill/>
                </a:ln>
                <a:solidFill>
                  <a:schemeClr val="tx1"/>
                </a:solidFill>
                <a:effectLst/>
                <a:uLnTx/>
                <a:uFillTx/>
                <a:latin typeface="+mn-lt"/>
                <a:ea typeface="楷体_GB2312"/>
                <a:cs typeface="楷体_GB2312"/>
              </a:rPr>
              <a:t>不符合项或部分符合项，且所产生的安全问题</a:t>
            </a:r>
            <a:r>
              <a:rPr kumimoji="0" lang="zh-CN" altLang="zh-CN" sz="2400" b="1" i="0" u="none" strike="noStrike" kern="0" cap="none" spc="0" normalizeH="0" baseline="0" noProof="0" dirty="0" smtClean="0">
                <a:ln>
                  <a:noFill/>
                </a:ln>
                <a:solidFill>
                  <a:srgbClr val="FF0000"/>
                </a:solidFill>
                <a:effectLst/>
                <a:uLnTx/>
                <a:uFillTx/>
                <a:latin typeface="+mn-lt"/>
                <a:ea typeface="楷体_GB2312"/>
                <a:cs typeface="楷体_GB2312"/>
              </a:rPr>
              <a:t>导致</a:t>
            </a:r>
            <a:r>
              <a:rPr kumimoji="0" lang="zh-CN" altLang="zh-CN" sz="2400" b="1" i="0" u="none" strike="noStrike" kern="0" cap="none" spc="0" normalizeH="0" baseline="0" noProof="0" dirty="0" smtClean="0">
                <a:ln>
                  <a:noFill/>
                </a:ln>
                <a:solidFill>
                  <a:schemeClr val="tx1"/>
                </a:solidFill>
                <a:effectLst/>
                <a:uLnTx/>
                <a:uFillTx/>
                <a:latin typeface="+mn-lt"/>
                <a:ea typeface="楷体_GB2312"/>
                <a:cs typeface="楷体_GB2312"/>
              </a:rPr>
              <a:t>信息系统存在</a:t>
            </a:r>
            <a:r>
              <a:rPr kumimoji="0" lang="zh-CN" altLang="zh-CN" sz="2400" b="1" i="0" u="none" strike="noStrike" kern="0" cap="none" spc="0" normalizeH="0" baseline="0" noProof="0" dirty="0" smtClean="0">
                <a:ln>
                  <a:noFill/>
                </a:ln>
                <a:solidFill>
                  <a:srgbClr val="FF0000"/>
                </a:solidFill>
                <a:effectLst/>
                <a:uLnTx/>
                <a:uFillTx/>
                <a:latin typeface="+mn-lt"/>
                <a:ea typeface="楷体_GB2312"/>
                <a:cs typeface="楷体_GB2312"/>
              </a:rPr>
              <a:t>高等级安全风险</a:t>
            </a:r>
            <a:r>
              <a:rPr kumimoji="0" lang="zh-CN" altLang="zh-CN" sz="2400" b="1" i="0" u="none" strike="noStrike" kern="0" cap="none" spc="0" normalizeH="0" baseline="0" noProof="0" dirty="0" smtClean="0">
                <a:ln>
                  <a:noFill/>
                </a:ln>
                <a:solidFill>
                  <a:schemeClr val="tx1"/>
                </a:solidFill>
                <a:effectLst/>
                <a:uLnTx/>
                <a:uFillTx/>
                <a:latin typeface="+mn-lt"/>
                <a:ea typeface="楷体_GB2312"/>
                <a:cs typeface="楷体_GB2312"/>
              </a:rPr>
              <a:t>，则测评结论为“不符合”</a:t>
            </a:r>
            <a:r>
              <a:rPr kumimoji="0" lang="zh-CN"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rPr>
              <a:t>。</a:t>
            </a:r>
          </a:p>
          <a:p>
            <a:pPr marL="457200" marR="0" lvl="1" indent="-4572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Char char="§"/>
              <a:defRPr/>
            </a:pPr>
            <a:endParaRPr kumimoji="0" lang="zh-CN" altLang="en-US" sz="2800" b="1" i="0" u="none" strike="noStrike" kern="0" cap="none" spc="0" normalizeH="0" baseline="0" noProof="0" dirty="0" smtClean="0">
              <a:ln>
                <a:noFill/>
              </a:ln>
              <a:solidFill>
                <a:schemeClr val="tx1"/>
              </a:solidFill>
              <a:effectLst/>
              <a:uLnTx/>
              <a:uFillTx/>
              <a:latin typeface="+mn-lt"/>
              <a:ea typeface="楷体_GB2312"/>
              <a:cs typeface="楷体_GB231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651">
                                            <p:txEl>
                                              <p:pRg st="1" end="1"/>
                                            </p:txEl>
                                          </p:spTgt>
                                        </p:tgtEl>
                                        <p:attrNameLst>
                                          <p:attrName>style.visibility</p:attrName>
                                        </p:attrNameLst>
                                      </p:cBhvr>
                                      <p:to>
                                        <p:strVal val="visible"/>
                                      </p:to>
                                    </p:set>
                                    <p:animEffect transition="in" filter="fade">
                                      <p:cBhvr>
                                        <p:cTn id="7" dur="500"/>
                                        <p:tgtEl>
                                          <p:spTgt spid="2765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651">
                                            <p:txEl>
                                              <p:pRg st="2" end="2"/>
                                            </p:txEl>
                                          </p:spTgt>
                                        </p:tgtEl>
                                        <p:attrNameLst>
                                          <p:attrName>style.visibility</p:attrName>
                                        </p:attrNameLst>
                                      </p:cBhvr>
                                      <p:to>
                                        <p:strVal val="visible"/>
                                      </p:to>
                                    </p:set>
                                    <p:animEffect transition="in" filter="fade">
                                      <p:cBhvr>
                                        <p:cTn id="12" dur="500"/>
                                        <p:tgtEl>
                                          <p:spTgt spid="27651">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7651">
                                            <p:txEl>
                                              <p:pRg st="3" end="3"/>
                                            </p:txEl>
                                          </p:spTgt>
                                        </p:tgtEl>
                                        <p:attrNameLst>
                                          <p:attrName>style.visibility</p:attrName>
                                        </p:attrNameLst>
                                      </p:cBhvr>
                                      <p:to>
                                        <p:strVal val="visible"/>
                                      </p:to>
                                    </p:set>
                                    <p:animEffect transition="in" filter="fade">
                                      <p:cBhvr>
                                        <p:cTn id="15" dur="500"/>
                                        <p:tgtEl>
                                          <p:spTgt spid="27651">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7651">
                                            <p:txEl>
                                              <p:pRg st="4" end="4"/>
                                            </p:txEl>
                                          </p:spTgt>
                                        </p:tgtEl>
                                        <p:attrNameLst>
                                          <p:attrName>style.visibility</p:attrName>
                                        </p:attrNameLst>
                                      </p:cBhvr>
                                      <p:to>
                                        <p:strVal val="visible"/>
                                      </p:to>
                                    </p:set>
                                    <p:animEffect transition="in" filter="fade">
                                      <p:cBhvr>
                                        <p:cTn id="18" dur="500"/>
                                        <p:tgtEl>
                                          <p:spTgt spid="2765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p:txBody>
          <a:bodyPr vert="horz" wrap="square" lIns="91440" tIns="45720" rIns="91440" bIns="45720" anchor="ctr" anchorCtr="0"/>
          <a:lstStyle/>
          <a:p>
            <a:pPr eaLnBrk="1" hangingPunct="1"/>
            <a:r>
              <a:rPr lang="en-US" altLang="zh-CN" b="1" dirty="0">
                <a:ea typeface="宋体" panose="02010600030101010101" pitchFamily="2" charset="-122"/>
              </a:rPr>
              <a:t>9.3</a:t>
            </a:r>
            <a:r>
              <a:rPr lang="zh-CN" altLang="en-US" b="1" dirty="0">
                <a:ea typeface="宋体" panose="02010600030101010101" pitchFamily="2" charset="-122"/>
              </a:rPr>
              <a:t>信息系统安全测评流程</a:t>
            </a:r>
          </a:p>
        </p:txBody>
      </p:sp>
      <p:sp>
        <p:nvSpPr>
          <p:cNvPr id="19459" name="内容占位符 2"/>
          <p:cNvSpPr>
            <a:spLocks noGrp="1" noChangeArrowheads="1"/>
          </p:cNvSpPr>
          <p:nvPr>
            <p:ph idx="1"/>
          </p:nvPr>
        </p:nvSpPr>
        <p:spPr>
          <a:xfrm>
            <a:off x="304800" y="1143000"/>
            <a:ext cx="8534400" cy="5410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r>
              <a:rPr kumimoji="0" lang="zh-CN" altLang="en-US"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信息系统安全测评包括：</a:t>
            </a:r>
            <a:endParaRPr kumimoji="0" lang="en-US" altLang="zh-CN"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rPr>
              <a:t>资料审查</a:t>
            </a:r>
            <a:endParaRPr kumimoji="0" lang="en-US" altLang="zh-CN"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rPr>
              <a:t>核查测试</a:t>
            </a:r>
            <a:endParaRPr kumimoji="0" lang="en-US" altLang="zh-CN"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rPr>
              <a:t>综合评估</a:t>
            </a:r>
            <a:endParaRPr kumimoji="0" lang="en-US" altLang="zh-CN"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zh-CN" altLang="en-US"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rPr>
              <a:t>测评流程如图</a:t>
            </a:r>
            <a:r>
              <a:rPr kumimoji="0" lang="en-US" altLang="zh-CN"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rPr>
              <a:t>9-2</a:t>
            </a:r>
            <a:r>
              <a:rPr kumimoji="0" lang="zh-CN" altLang="en-US"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rPr>
              <a:t>所示</a:t>
            </a:r>
            <a:endParaRPr kumimoji="0" lang="en-US" altLang="zh-CN"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5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5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fade">
                                      <p:cBhvr>
                                        <p:cTn id="17" dur="500"/>
                                        <p:tgtEl>
                                          <p:spTgt spid="194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770" name="组合 4"/>
          <p:cNvGrpSpPr/>
          <p:nvPr/>
        </p:nvGrpSpPr>
        <p:grpSpPr>
          <a:xfrm>
            <a:off x="1219200" y="1219200"/>
            <a:ext cx="5791200" cy="5334000"/>
            <a:chOff x="0" y="0"/>
            <a:chExt cx="5485765" cy="8466455"/>
          </a:xfrm>
        </p:grpSpPr>
        <p:sp>
          <p:nvSpPr>
            <p:cNvPr id="6" name="文本框 909"/>
            <p:cNvSpPr txBox="1"/>
            <p:nvPr/>
          </p:nvSpPr>
          <p:spPr>
            <a:xfrm>
              <a:off x="3353414" y="599707"/>
              <a:ext cx="2046636" cy="660182"/>
            </a:xfrm>
            <a:prstGeom prst="rect">
              <a:avLst/>
            </a:prstGeom>
            <a:solidFill>
              <a:srgbClr val="FFFFFF"/>
            </a:solidFill>
            <a:ln w="19050">
              <a:solidFill>
                <a:prstClr val="black"/>
              </a:solidFill>
            </a:ln>
          </p:spPr>
          <p:txBody>
            <a:bodyPr/>
            <a:lstStyle/>
            <a:p>
              <a:pPr marR="0" algn="just" defTabSz="914400">
                <a:spcAft>
                  <a:spcPts val="0"/>
                </a:spcAft>
                <a:buClrTx/>
                <a:buSzTx/>
                <a:buFontTx/>
                <a:buNone/>
                <a:defRPr/>
              </a:pPr>
              <a:r>
                <a:rPr kumimoji="0" lang="zh-CN" sz="1050" kern="100" cap="none" spc="0" normalizeH="0" baseline="0" noProof="0" dirty="0">
                  <a:solidFill>
                    <a:srgbClr val="000000"/>
                  </a:solidFill>
                  <a:latin typeface="Times New Roman" panose="02020603050405020304" pitchFamily="18" charset="0"/>
                  <a:ea typeface="宋体" panose="02010600030101010101" pitchFamily="2" charset="-122"/>
                  <a:cs typeface="+mn-cs"/>
                  <a:sym typeface="+mn-ea"/>
                </a:rPr>
                <a:t>与被测单位协商，帮助用户完善应提交的相关资料</a:t>
              </a:r>
            </a:p>
          </p:txBody>
        </p:sp>
        <p:cxnSp>
          <p:nvCxnSpPr>
            <p:cNvPr id="32773" name="直接箭头连接符 6"/>
            <p:cNvCxnSpPr/>
            <p:nvPr/>
          </p:nvCxnSpPr>
          <p:spPr>
            <a:xfrm flipH="1" flipV="1">
              <a:off x="2428875" y="1005205"/>
              <a:ext cx="934720" cy="1905"/>
            </a:xfrm>
            <a:prstGeom prst="straightConnector1">
              <a:avLst/>
            </a:prstGeom>
            <a:ln w="19050" cap="flat" cmpd="sng">
              <a:solidFill>
                <a:srgbClr val="000000"/>
              </a:solidFill>
              <a:prstDash val="solid"/>
              <a:headEnd type="none" w="med" len="med"/>
              <a:tailEnd type="arrow" w="med" len="med"/>
            </a:ln>
          </p:spPr>
        </p:cxnSp>
        <p:cxnSp>
          <p:nvCxnSpPr>
            <p:cNvPr id="32774" name="肘形连接符 7"/>
            <p:cNvCxnSpPr/>
            <p:nvPr/>
          </p:nvCxnSpPr>
          <p:spPr>
            <a:xfrm rot="-5400000" flipH="1">
              <a:off x="1438273" y="652779"/>
              <a:ext cx="247650" cy="3175"/>
            </a:xfrm>
            <a:prstGeom prst="bentConnector3">
              <a:avLst>
                <a:gd name="adj1" fmla="val 49745"/>
              </a:avLst>
            </a:prstGeom>
            <a:ln w="19050" cap="flat" cmpd="sng">
              <a:solidFill>
                <a:srgbClr val="000000"/>
              </a:solidFill>
              <a:prstDash val="solid"/>
              <a:miter/>
              <a:headEnd type="none" w="med" len="med"/>
              <a:tailEnd type="arrow" w="med" len="med"/>
            </a:ln>
          </p:spPr>
        </p:cxnSp>
        <p:cxnSp>
          <p:nvCxnSpPr>
            <p:cNvPr id="32775" name="肘形连接符 8"/>
            <p:cNvCxnSpPr/>
            <p:nvPr/>
          </p:nvCxnSpPr>
          <p:spPr>
            <a:xfrm flipV="1">
              <a:off x="2609850" y="1252855"/>
              <a:ext cx="1475105" cy="1491615"/>
            </a:xfrm>
            <a:prstGeom prst="bentConnector2">
              <a:avLst/>
            </a:prstGeom>
            <a:ln w="19050" cap="flat" cmpd="sng">
              <a:solidFill>
                <a:srgbClr val="000000"/>
              </a:solidFill>
              <a:prstDash val="solid"/>
              <a:miter/>
              <a:headEnd type="none" w="med" len="med"/>
              <a:tailEnd type="arrow" w="med" len="med"/>
            </a:ln>
          </p:spPr>
        </p:cxnSp>
        <p:cxnSp>
          <p:nvCxnSpPr>
            <p:cNvPr id="32776" name="直接箭头连接符 9"/>
            <p:cNvCxnSpPr/>
            <p:nvPr/>
          </p:nvCxnSpPr>
          <p:spPr>
            <a:xfrm rot="5400000">
              <a:off x="-1295400" y="1710055"/>
              <a:ext cx="3420110" cy="0"/>
            </a:xfrm>
            <a:prstGeom prst="straightConnector1">
              <a:avLst/>
            </a:prstGeom>
            <a:ln w="25400" cap="flat" cmpd="sng">
              <a:solidFill>
                <a:srgbClr val="000000"/>
              </a:solidFill>
              <a:prstDash val="solid"/>
              <a:headEnd type="arrow" w="med" len="med"/>
              <a:tailEnd type="arrow" w="med" len="med"/>
            </a:ln>
          </p:spPr>
        </p:cxnSp>
        <p:sp>
          <p:nvSpPr>
            <p:cNvPr id="11" name="文本框 912"/>
            <p:cNvSpPr txBox="1"/>
            <p:nvPr/>
          </p:nvSpPr>
          <p:spPr>
            <a:xfrm>
              <a:off x="581961" y="80633"/>
              <a:ext cx="2339871" cy="438441"/>
            </a:xfrm>
            <a:prstGeom prst="rect">
              <a:avLst/>
            </a:prstGeom>
            <a:solidFill>
              <a:srgbClr val="FFFFFF"/>
            </a:solidFill>
            <a:ln w="19050">
              <a:solidFill>
                <a:prstClr val="black"/>
              </a:solidFill>
            </a:ln>
          </p:spPr>
          <p:txBody>
            <a:bodyPr/>
            <a:lstStyle/>
            <a:p>
              <a:pPr marR="0" algn="just" defTabSz="914400">
                <a:spcAft>
                  <a:spcPts val="0"/>
                </a:spcAft>
                <a:buClrTx/>
                <a:buSzTx/>
                <a:buFontTx/>
                <a:buNone/>
                <a:defRPr/>
              </a:pPr>
              <a:r>
                <a:rPr kumimoji="0" lang="zh-CN" sz="1050" kern="100" cap="none" spc="0" normalizeH="0" baseline="0" noProof="0" dirty="0">
                  <a:solidFill>
                    <a:srgbClr val="000000"/>
                  </a:solidFill>
                  <a:latin typeface="Times New Roman" panose="02020603050405020304" pitchFamily="18" charset="0"/>
                  <a:ea typeface="宋体" panose="02010600030101010101" pitchFamily="2" charset="-122"/>
                  <a:cs typeface="+mn-cs"/>
                  <a:sym typeface="+mn-ea"/>
                </a:rPr>
                <a:t>被测用户提交测评申请以及相关材料</a:t>
              </a:r>
            </a:p>
          </p:txBody>
        </p:sp>
        <p:sp>
          <p:nvSpPr>
            <p:cNvPr id="12" name="圆角矩形 11"/>
            <p:cNvSpPr/>
            <p:nvPr/>
          </p:nvSpPr>
          <p:spPr bwMode="auto">
            <a:xfrm>
              <a:off x="560908" y="738296"/>
              <a:ext cx="1866182" cy="529153"/>
            </a:xfrm>
            <a:prstGeom prst="roundRect">
              <a:avLst>
                <a:gd name="adj" fmla="val 16667"/>
              </a:avLst>
            </a:prstGeom>
            <a:solidFill>
              <a:srgbClr val="FFFFFF"/>
            </a:solidFill>
            <a:ln w="19050">
              <a:solidFill>
                <a:srgbClr val="000000"/>
              </a:solidFill>
              <a:round/>
            </a:ln>
          </p:spPr>
          <p:txBody>
            <a:bodyPr anchor="ctr" upright="1"/>
            <a:lstStyle/>
            <a:p>
              <a:pPr marL="0" marR="0" lvl="0" indent="0" algn="just" defTabSz="914400" rtl="0" eaLnBrk="0" fontAlgn="base" latinLnBrk="0" hangingPunct="0">
                <a:lnSpc>
                  <a:spcPct val="100000"/>
                </a:lnSpc>
                <a:spcBef>
                  <a:spcPct val="0"/>
                </a:spcBef>
                <a:spcAft>
                  <a:spcPts val="0"/>
                </a:spcAft>
                <a:buClrTx/>
                <a:buSzTx/>
                <a:buFontTx/>
                <a:buNone/>
                <a:defRPr/>
              </a:pPr>
              <a:r>
                <a:rPr kumimoji="0" lang="zh-CN" sz="1050" b="0" i="0" u="none" strike="noStrike" kern="1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mn-ea"/>
                </a:rPr>
                <a:t>测评机构对被测单位提供的资料进行形式化审查</a:t>
              </a:r>
            </a:p>
          </p:txBody>
        </p:sp>
        <p:sp>
          <p:nvSpPr>
            <p:cNvPr id="13" name="圆角矩形 12"/>
            <p:cNvSpPr/>
            <p:nvPr/>
          </p:nvSpPr>
          <p:spPr>
            <a:xfrm>
              <a:off x="542863" y="1567302"/>
              <a:ext cx="2200020" cy="544272"/>
            </a:xfrm>
            <a:prstGeom prst="roundRect">
              <a:avLst/>
            </a:prstGeom>
            <a:noFill/>
            <a:ln w="19050" cap="flat" cmpd="sng" algn="ctr">
              <a:solidFill>
                <a:srgbClr val="000000"/>
              </a:solidFill>
              <a:prstDash val="solid"/>
            </a:ln>
          </p:spPr>
          <p:txBody>
            <a:bodyPr anchor="ctr"/>
            <a:lstStyle/>
            <a:p>
              <a:pPr marL="0" marR="0" lvl="0" indent="127000" algn="just" defTabSz="914400" rtl="0" eaLnBrk="0" fontAlgn="base" latinLnBrk="0" hangingPunct="0">
                <a:lnSpc>
                  <a:spcPct val="100000"/>
                </a:lnSpc>
                <a:spcBef>
                  <a:spcPct val="0"/>
                </a:spcBef>
                <a:spcAft>
                  <a:spcPts val="0"/>
                </a:spcAft>
                <a:buClrTx/>
                <a:buSzTx/>
                <a:buFontTx/>
                <a:buNone/>
                <a:defRPr/>
              </a:pPr>
              <a:r>
                <a:rPr kumimoji="0" lang="zh-CN" sz="1050" b="0"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sym typeface="+mn-ea"/>
                </a:rPr>
                <a:t>向被测单位出具形式化审查报告</a:t>
              </a:r>
            </a:p>
          </p:txBody>
        </p:sp>
        <p:sp>
          <p:nvSpPr>
            <p:cNvPr id="14" name="流程图: 决策 13"/>
            <p:cNvSpPr/>
            <p:nvPr/>
          </p:nvSpPr>
          <p:spPr>
            <a:xfrm>
              <a:off x="609029" y="2245123"/>
              <a:ext cx="2000018" cy="977674"/>
            </a:xfrm>
            <a:prstGeom prst="flowChartDecision">
              <a:avLst/>
            </a:prstGeom>
            <a:noFill/>
            <a:ln w="19050" cap="flat" cmpd="sng" algn="ctr">
              <a:solidFill>
                <a:srgbClr val="000000"/>
              </a:solidFill>
              <a:prstDash val="solid"/>
            </a:ln>
          </p:spPr>
          <p:txBody>
            <a:bodyPr anchor="ctr"/>
            <a:lstStyle/>
            <a:p>
              <a:pPr marL="0" marR="0" lvl="0" indent="127000" algn="just" defTabSz="914400" rtl="0" eaLnBrk="0" fontAlgn="base" latinLnBrk="0" hangingPunct="0">
                <a:lnSpc>
                  <a:spcPct val="100000"/>
                </a:lnSpc>
                <a:spcBef>
                  <a:spcPct val="0"/>
                </a:spcBef>
                <a:spcAft>
                  <a:spcPts val="0"/>
                </a:spcAft>
                <a:buClrTx/>
                <a:buSzTx/>
                <a:buFontTx/>
                <a:buNone/>
                <a:defRPr/>
              </a:pPr>
              <a:r>
                <a:rPr kumimoji="0" lang="zh-CN" sz="1050" b="0"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sym typeface="+mn-ea"/>
                </a:rPr>
                <a:t>形式化审查是否通过？</a:t>
              </a:r>
            </a:p>
          </p:txBody>
        </p:sp>
        <p:cxnSp>
          <p:nvCxnSpPr>
            <p:cNvPr id="32781" name="直接箭头连接符 14"/>
            <p:cNvCxnSpPr/>
            <p:nvPr/>
          </p:nvCxnSpPr>
          <p:spPr>
            <a:xfrm rot="5400000">
              <a:off x="1390649" y="1424303"/>
              <a:ext cx="313055" cy="0"/>
            </a:xfrm>
            <a:prstGeom prst="straightConnector1">
              <a:avLst/>
            </a:prstGeom>
            <a:ln w="19050" cap="flat" cmpd="sng">
              <a:solidFill>
                <a:srgbClr val="000000"/>
              </a:solidFill>
              <a:prstDash val="solid"/>
              <a:headEnd type="none" w="med" len="med"/>
              <a:tailEnd type="arrow" w="med" len="med"/>
            </a:ln>
          </p:spPr>
        </p:cxnSp>
        <p:cxnSp>
          <p:nvCxnSpPr>
            <p:cNvPr id="32782" name="直接连接符 15"/>
            <p:cNvCxnSpPr/>
            <p:nvPr/>
          </p:nvCxnSpPr>
          <p:spPr>
            <a:xfrm>
              <a:off x="0" y="3424555"/>
              <a:ext cx="5400040" cy="0"/>
            </a:xfrm>
            <a:prstGeom prst="line">
              <a:avLst/>
            </a:prstGeom>
            <a:ln w="28575" cap="flat" cmpd="sng">
              <a:solidFill>
                <a:srgbClr val="000000"/>
              </a:solidFill>
              <a:prstDash val="sysDash"/>
              <a:headEnd type="none" w="med" len="med"/>
              <a:tailEnd type="none" w="med" len="med"/>
            </a:ln>
          </p:spPr>
        </p:cxnSp>
        <p:sp>
          <p:nvSpPr>
            <p:cNvPr id="17" name="圆角矩形 16"/>
            <p:cNvSpPr/>
            <p:nvPr/>
          </p:nvSpPr>
          <p:spPr>
            <a:xfrm>
              <a:off x="628577" y="3852742"/>
              <a:ext cx="2019568" cy="342690"/>
            </a:xfrm>
            <a:prstGeom prst="roundRect">
              <a:avLst/>
            </a:prstGeom>
            <a:solidFill>
              <a:srgbClr val="FFFFFF"/>
            </a:solidFill>
            <a:ln w="19050" cap="flat" cmpd="sng" algn="ctr">
              <a:solidFill>
                <a:srgbClr val="000000"/>
              </a:solidFill>
              <a:prstDash val="solid"/>
            </a:ln>
          </p:spPr>
          <p:txBody>
            <a:bodyPr anchor="ctr"/>
            <a:lstStyle/>
            <a:p>
              <a:pPr marL="0" marR="0" lvl="0" indent="127000" algn="just" defTabSz="914400" rtl="0" eaLnBrk="0" fontAlgn="base" latinLnBrk="0" hangingPunct="0">
                <a:lnSpc>
                  <a:spcPct val="100000"/>
                </a:lnSpc>
                <a:spcBef>
                  <a:spcPct val="0"/>
                </a:spcBef>
                <a:spcAft>
                  <a:spcPts val="0"/>
                </a:spcAft>
                <a:buClrTx/>
                <a:buSzTx/>
                <a:buFontTx/>
                <a:buNone/>
                <a:defRPr/>
              </a:pPr>
              <a:r>
                <a:rPr kumimoji="0" lang="zh-CN" sz="1050" b="0"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sym typeface="+mn-ea"/>
                </a:rPr>
                <a:t>制定信息系统安全测评计划</a:t>
              </a:r>
            </a:p>
          </p:txBody>
        </p:sp>
        <p:sp>
          <p:nvSpPr>
            <p:cNvPr id="18" name="圆角矩形 17"/>
            <p:cNvSpPr/>
            <p:nvPr/>
          </p:nvSpPr>
          <p:spPr>
            <a:xfrm>
              <a:off x="649630" y="4472607"/>
              <a:ext cx="2912809" cy="342690"/>
            </a:xfrm>
            <a:prstGeom prst="roundRect">
              <a:avLst/>
            </a:prstGeom>
            <a:solidFill>
              <a:srgbClr val="FFFFFF"/>
            </a:solidFill>
            <a:ln w="19050" cap="flat" cmpd="sng" algn="ctr">
              <a:solidFill>
                <a:srgbClr val="000000"/>
              </a:solidFill>
              <a:prstDash val="solid"/>
            </a:ln>
          </p:spPr>
          <p:txBody>
            <a:bodyPr anchor="ctr"/>
            <a:lstStyle/>
            <a:p>
              <a:pPr marL="0" marR="0" lvl="0" indent="127000" algn="just" defTabSz="914400" rtl="0" eaLnBrk="0" fontAlgn="base" latinLnBrk="0" hangingPunct="0">
                <a:lnSpc>
                  <a:spcPct val="100000"/>
                </a:lnSpc>
                <a:spcBef>
                  <a:spcPct val="0"/>
                </a:spcBef>
                <a:spcAft>
                  <a:spcPts val="0"/>
                </a:spcAft>
                <a:buClrTx/>
                <a:buSzTx/>
                <a:buFontTx/>
                <a:buNone/>
                <a:defRPr/>
              </a:pPr>
              <a:r>
                <a:rPr kumimoji="0" lang="zh-CN" sz="1050" b="0"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sym typeface="+mn-ea"/>
                </a:rPr>
                <a:t>召开系统安全测评协调会，双方确认测评计划</a:t>
              </a:r>
            </a:p>
          </p:txBody>
        </p:sp>
        <p:cxnSp>
          <p:nvCxnSpPr>
            <p:cNvPr id="32785" name="直接箭头连接符 18"/>
            <p:cNvCxnSpPr/>
            <p:nvPr/>
          </p:nvCxnSpPr>
          <p:spPr>
            <a:xfrm>
              <a:off x="1619250" y="4196080"/>
              <a:ext cx="9525" cy="294005"/>
            </a:xfrm>
            <a:prstGeom prst="straightConnector1">
              <a:avLst/>
            </a:prstGeom>
            <a:ln w="19050" cap="flat" cmpd="sng">
              <a:solidFill>
                <a:srgbClr val="000000"/>
              </a:solidFill>
              <a:prstDash val="solid"/>
              <a:headEnd type="none" w="med" len="med"/>
              <a:tailEnd type="arrow" w="med" len="med"/>
            </a:ln>
          </p:spPr>
        </p:cxnSp>
        <p:sp>
          <p:nvSpPr>
            <p:cNvPr id="20" name="圆角矩形 19"/>
            <p:cNvSpPr/>
            <p:nvPr/>
          </p:nvSpPr>
          <p:spPr>
            <a:xfrm>
              <a:off x="649630" y="5072314"/>
              <a:ext cx="1648136" cy="342690"/>
            </a:xfrm>
            <a:prstGeom prst="roundRect">
              <a:avLst/>
            </a:prstGeom>
            <a:solidFill>
              <a:srgbClr val="FFFFFF"/>
            </a:solidFill>
            <a:ln w="19050" cap="flat" cmpd="sng" algn="ctr">
              <a:solidFill>
                <a:srgbClr val="000000"/>
              </a:solidFill>
              <a:prstDash val="solid"/>
            </a:ln>
          </p:spPr>
          <p:txBody>
            <a:bodyPr anchor="ctr"/>
            <a:lstStyle/>
            <a:p>
              <a:pPr marL="0" marR="0" lvl="0" indent="127000" algn="just" defTabSz="914400" rtl="0" eaLnBrk="0" fontAlgn="base" latinLnBrk="0" hangingPunct="0">
                <a:lnSpc>
                  <a:spcPct val="100000"/>
                </a:lnSpc>
                <a:spcBef>
                  <a:spcPct val="0"/>
                </a:spcBef>
                <a:spcAft>
                  <a:spcPts val="0"/>
                </a:spcAft>
                <a:buClrTx/>
                <a:buSzTx/>
                <a:buFontTx/>
                <a:buNone/>
                <a:defRPr/>
              </a:pPr>
              <a:r>
                <a:rPr kumimoji="0" lang="zh-CN" sz="1050" b="0"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sym typeface="+mn-ea"/>
                </a:rPr>
                <a:t>制定系统安全测评方案</a:t>
              </a:r>
            </a:p>
          </p:txBody>
        </p:sp>
        <p:cxnSp>
          <p:nvCxnSpPr>
            <p:cNvPr id="32787" name="直接箭头连接符 20"/>
            <p:cNvCxnSpPr/>
            <p:nvPr/>
          </p:nvCxnSpPr>
          <p:spPr>
            <a:xfrm>
              <a:off x="1628775" y="4834255"/>
              <a:ext cx="5080" cy="227965"/>
            </a:xfrm>
            <a:prstGeom prst="straightConnector1">
              <a:avLst/>
            </a:prstGeom>
            <a:ln w="19050" cap="flat" cmpd="sng">
              <a:solidFill>
                <a:srgbClr val="000000"/>
              </a:solidFill>
              <a:prstDash val="solid"/>
              <a:headEnd type="none" w="med" len="med"/>
              <a:tailEnd type="arrow" w="med" len="med"/>
            </a:ln>
          </p:spPr>
        </p:cxnSp>
        <p:sp>
          <p:nvSpPr>
            <p:cNvPr id="22" name="圆角矩形 21"/>
            <p:cNvSpPr/>
            <p:nvPr/>
          </p:nvSpPr>
          <p:spPr>
            <a:xfrm>
              <a:off x="649630" y="5603987"/>
              <a:ext cx="1648136" cy="345210"/>
            </a:xfrm>
            <a:prstGeom prst="roundRect">
              <a:avLst/>
            </a:prstGeom>
            <a:solidFill>
              <a:srgbClr val="FFFFFF"/>
            </a:solidFill>
            <a:ln w="19050" cap="flat" cmpd="sng" algn="ctr">
              <a:solidFill>
                <a:srgbClr val="000000"/>
              </a:solidFill>
              <a:prstDash val="solid"/>
            </a:ln>
          </p:spPr>
          <p:txBody>
            <a:bodyPr anchor="ctr"/>
            <a:lstStyle/>
            <a:p>
              <a:pPr marL="0" marR="0" lvl="0" indent="127000" algn="just" defTabSz="914400" rtl="0" eaLnBrk="0" fontAlgn="base" latinLnBrk="0" hangingPunct="0">
                <a:lnSpc>
                  <a:spcPct val="100000"/>
                </a:lnSpc>
                <a:spcBef>
                  <a:spcPct val="0"/>
                </a:spcBef>
                <a:spcAft>
                  <a:spcPts val="0"/>
                </a:spcAft>
                <a:buClrTx/>
                <a:buSzTx/>
                <a:buFontTx/>
                <a:buNone/>
                <a:defRPr/>
              </a:pPr>
              <a:r>
                <a:rPr kumimoji="0" lang="zh-CN" sz="1050" b="0"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sym typeface="+mn-ea"/>
                </a:rPr>
                <a:t>实施现场核查测试</a:t>
              </a:r>
            </a:p>
          </p:txBody>
        </p:sp>
        <p:cxnSp>
          <p:nvCxnSpPr>
            <p:cNvPr id="32789" name="直接箭头连接符 22"/>
            <p:cNvCxnSpPr/>
            <p:nvPr/>
          </p:nvCxnSpPr>
          <p:spPr>
            <a:xfrm>
              <a:off x="1647825" y="5396230"/>
              <a:ext cx="5080" cy="227965"/>
            </a:xfrm>
            <a:prstGeom prst="straightConnector1">
              <a:avLst/>
            </a:prstGeom>
            <a:ln w="19050" cap="flat" cmpd="sng">
              <a:solidFill>
                <a:srgbClr val="000000"/>
              </a:solidFill>
              <a:prstDash val="solid"/>
              <a:headEnd type="none" w="med" len="med"/>
              <a:tailEnd type="arrow" w="med" len="med"/>
            </a:ln>
          </p:spPr>
        </p:cxnSp>
        <p:sp>
          <p:nvSpPr>
            <p:cNvPr id="24" name="圆角矩形 23"/>
            <p:cNvSpPr/>
            <p:nvPr/>
          </p:nvSpPr>
          <p:spPr>
            <a:xfrm>
              <a:off x="649630" y="6120542"/>
              <a:ext cx="2258667" cy="342690"/>
            </a:xfrm>
            <a:prstGeom prst="roundRect">
              <a:avLst/>
            </a:prstGeom>
            <a:solidFill>
              <a:srgbClr val="FFFFFF"/>
            </a:solidFill>
            <a:ln w="19050" cap="flat" cmpd="sng" algn="ctr">
              <a:solidFill>
                <a:srgbClr val="000000"/>
              </a:solidFill>
              <a:prstDash val="solid"/>
            </a:ln>
          </p:spPr>
          <p:txBody>
            <a:bodyPr anchor="ctr"/>
            <a:lstStyle/>
            <a:p>
              <a:pPr marL="0" marR="0" lvl="0" indent="127000" algn="just" defTabSz="914400" rtl="0" eaLnBrk="0" fontAlgn="base" latinLnBrk="0" hangingPunct="0">
                <a:lnSpc>
                  <a:spcPct val="100000"/>
                </a:lnSpc>
                <a:spcBef>
                  <a:spcPct val="0"/>
                </a:spcBef>
                <a:spcAft>
                  <a:spcPts val="0"/>
                </a:spcAft>
                <a:buClrTx/>
                <a:buSzTx/>
                <a:buFontTx/>
                <a:buNone/>
                <a:defRPr/>
              </a:pPr>
              <a:r>
                <a:rPr kumimoji="0" lang="zh-CN" sz="1050" b="0"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sym typeface="+mn-ea"/>
                </a:rPr>
                <a:t>整理测试数据，形成核查测试报告</a:t>
              </a:r>
            </a:p>
          </p:txBody>
        </p:sp>
        <p:cxnSp>
          <p:nvCxnSpPr>
            <p:cNvPr id="32791" name="直接箭头连接符 24"/>
            <p:cNvCxnSpPr/>
            <p:nvPr/>
          </p:nvCxnSpPr>
          <p:spPr>
            <a:xfrm>
              <a:off x="1638300" y="5967730"/>
              <a:ext cx="5080" cy="141605"/>
            </a:xfrm>
            <a:prstGeom prst="straightConnector1">
              <a:avLst/>
            </a:prstGeom>
            <a:ln w="19050" cap="flat" cmpd="sng">
              <a:solidFill>
                <a:srgbClr val="000000"/>
              </a:solidFill>
              <a:prstDash val="solid"/>
              <a:headEnd type="none" w="med" len="med"/>
              <a:tailEnd type="arrow" w="med" len="med"/>
            </a:ln>
          </p:spPr>
        </p:cxnSp>
        <p:cxnSp>
          <p:nvCxnSpPr>
            <p:cNvPr id="32792" name="直接连接符 25"/>
            <p:cNvCxnSpPr/>
            <p:nvPr/>
          </p:nvCxnSpPr>
          <p:spPr>
            <a:xfrm>
              <a:off x="85725" y="6529705"/>
              <a:ext cx="5400040" cy="0"/>
            </a:xfrm>
            <a:prstGeom prst="line">
              <a:avLst/>
            </a:prstGeom>
            <a:ln w="28575" cap="flat" cmpd="sng">
              <a:solidFill>
                <a:srgbClr val="000000"/>
              </a:solidFill>
              <a:prstDash val="sysDash"/>
              <a:headEnd type="none" w="med" len="med"/>
              <a:tailEnd type="none" w="med" len="med"/>
            </a:ln>
          </p:spPr>
        </p:cxnSp>
        <p:sp>
          <p:nvSpPr>
            <p:cNvPr id="27" name="圆角矩形 26"/>
            <p:cNvSpPr/>
            <p:nvPr/>
          </p:nvSpPr>
          <p:spPr>
            <a:xfrm>
              <a:off x="649630" y="7176329"/>
              <a:ext cx="2153403" cy="345210"/>
            </a:xfrm>
            <a:prstGeom prst="roundRect">
              <a:avLst/>
            </a:prstGeom>
            <a:solidFill>
              <a:srgbClr val="FFFFFF"/>
            </a:solidFill>
            <a:ln w="19050" cap="flat" cmpd="sng" algn="ctr">
              <a:solidFill>
                <a:srgbClr val="000000"/>
              </a:solidFill>
              <a:prstDash val="solid"/>
            </a:ln>
          </p:spPr>
          <p:txBody>
            <a:bodyPr anchor="ctr"/>
            <a:lstStyle/>
            <a:p>
              <a:pPr marL="0" marR="0" lvl="0" indent="127000" algn="just" defTabSz="914400" rtl="0" eaLnBrk="0" fontAlgn="base" latinLnBrk="0" hangingPunct="0">
                <a:lnSpc>
                  <a:spcPct val="100000"/>
                </a:lnSpc>
                <a:spcBef>
                  <a:spcPct val="0"/>
                </a:spcBef>
                <a:spcAft>
                  <a:spcPts val="0"/>
                </a:spcAft>
                <a:buClrTx/>
                <a:buSzTx/>
                <a:buFontTx/>
                <a:buNone/>
                <a:defRPr/>
              </a:pPr>
              <a:r>
                <a:rPr kumimoji="0" lang="zh-CN" sz="1050" b="0"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sym typeface="+mn-ea"/>
                </a:rPr>
                <a:t>形成系统安全测评综合评估报告</a:t>
              </a:r>
            </a:p>
          </p:txBody>
        </p:sp>
        <p:cxnSp>
          <p:nvCxnSpPr>
            <p:cNvPr id="32794" name="直接箭头连接符 27"/>
            <p:cNvCxnSpPr/>
            <p:nvPr/>
          </p:nvCxnSpPr>
          <p:spPr>
            <a:xfrm>
              <a:off x="1647825" y="6453505"/>
              <a:ext cx="5080" cy="227965"/>
            </a:xfrm>
            <a:prstGeom prst="straightConnector1">
              <a:avLst/>
            </a:prstGeom>
            <a:ln w="19050" cap="flat" cmpd="sng">
              <a:solidFill>
                <a:srgbClr val="000000"/>
              </a:solidFill>
              <a:prstDash val="solid"/>
              <a:headEnd type="none" w="med" len="med"/>
              <a:tailEnd type="arrow" w="med" len="med"/>
            </a:ln>
          </p:spPr>
        </p:cxnSp>
        <p:sp>
          <p:nvSpPr>
            <p:cNvPr id="29" name="文本框 923"/>
            <p:cNvSpPr txBox="1"/>
            <p:nvPr/>
          </p:nvSpPr>
          <p:spPr>
            <a:xfrm>
              <a:off x="649630" y="6654735"/>
              <a:ext cx="3353414" cy="314971"/>
            </a:xfrm>
            <a:prstGeom prst="rect">
              <a:avLst/>
            </a:prstGeom>
            <a:solidFill>
              <a:srgbClr val="FFFFFF"/>
            </a:solidFill>
            <a:ln w="19050">
              <a:solidFill>
                <a:prstClr val="black"/>
              </a:solidFill>
            </a:ln>
          </p:spPr>
          <p:txBody>
            <a:bodyPr/>
            <a:lstStyle/>
            <a:p>
              <a:pPr marR="0" indent="127000" algn="just" defTabSz="914400">
                <a:spcAft>
                  <a:spcPts val="0"/>
                </a:spcAft>
                <a:buClrTx/>
                <a:buSzTx/>
                <a:buFontTx/>
                <a:buNone/>
                <a:defRPr/>
              </a:pPr>
              <a:r>
                <a:rPr kumimoji="0" lang="zh-CN" sz="1050" kern="100" cap="none" spc="0" normalizeH="0" baseline="0" noProof="0" dirty="0">
                  <a:solidFill>
                    <a:srgbClr val="000000"/>
                  </a:solidFill>
                  <a:latin typeface="Times New Roman" panose="02020603050405020304" pitchFamily="18" charset="0"/>
                  <a:ea typeface="宋体" panose="02010600030101010101" pitchFamily="2" charset="-122"/>
                  <a:cs typeface="+mn-cs"/>
                  <a:sym typeface="+mn-ea"/>
                </a:rPr>
                <a:t>对用户资料和测试报告进行综合分析，形成分析意见</a:t>
              </a:r>
            </a:p>
          </p:txBody>
        </p:sp>
        <p:cxnSp>
          <p:nvCxnSpPr>
            <p:cNvPr id="32796" name="直接箭头连接符 29"/>
            <p:cNvCxnSpPr/>
            <p:nvPr/>
          </p:nvCxnSpPr>
          <p:spPr>
            <a:xfrm>
              <a:off x="1638300" y="6967855"/>
              <a:ext cx="5080" cy="227965"/>
            </a:xfrm>
            <a:prstGeom prst="straightConnector1">
              <a:avLst/>
            </a:prstGeom>
            <a:ln w="19050" cap="flat" cmpd="sng">
              <a:solidFill>
                <a:srgbClr val="000000"/>
              </a:solidFill>
              <a:prstDash val="solid"/>
              <a:headEnd type="none" w="med" len="med"/>
              <a:tailEnd type="arrow" w="med" len="med"/>
            </a:ln>
          </p:spPr>
        </p:cxnSp>
        <p:sp>
          <p:nvSpPr>
            <p:cNvPr id="31" name="圆角矩形 30"/>
            <p:cNvSpPr/>
            <p:nvPr/>
          </p:nvSpPr>
          <p:spPr>
            <a:xfrm>
              <a:off x="649630" y="7634928"/>
              <a:ext cx="2160923" cy="342690"/>
            </a:xfrm>
            <a:prstGeom prst="roundRect">
              <a:avLst/>
            </a:prstGeom>
            <a:solidFill>
              <a:srgbClr val="FFFFFF"/>
            </a:solidFill>
            <a:ln w="19050" cap="flat" cmpd="sng" algn="ctr">
              <a:solidFill>
                <a:srgbClr val="000000"/>
              </a:solidFill>
              <a:prstDash val="solid"/>
            </a:ln>
          </p:spPr>
          <p:txBody>
            <a:bodyPr anchor="ctr"/>
            <a:lstStyle/>
            <a:p>
              <a:pPr marL="0" marR="0" lvl="0" indent="127000" algn="just" defTabSz="914400" rtl="0" eaLnBrk="0" fontAlgn="base" latinLnBrk="0" hangingPunct="0">
                <a:lnSpc>
                  <a:spcPct val="100000"/>
                </a:lnSpc>
                <a:spcBef>
                  <a:spcPct val="0"/>
                </a:spcBef>
                <a:spcAft>
                  <a:spcPts val="0"/>
                </a:spcAft>
                <a:buClrTx/>
                <a:buSzTx/>
                <a:buFontTx/>
                <a:buNone/>
                <a:defRPr/>
              </a:pPr>
              <a:r>
                <a:rPr kumimoji="0" lang="zh-CN" sz="1050" b="0" i="0" u="none" strike="noStrike" kern="1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sym typeface="+mn-ea"/>
                </a:rPr>
                <a:t>审定系统安全测评综合评估报告</a:t>
              </a:r>
            </a:p>
          </p:txBody>
        </p:sp>
        <p:cxnSp>
          <p:nvCxnSpPr>
            <p:cNvPr id="32798" name="直接箭头连接符 31"/>
            <p:cNvCxnSpPr/>
            <p:nvPr/>
          </p:nvCxnSpPr>
          <p:spPr>
            <a:xfrm>
              <a:off x="1647825" y="7501255"/>
              <a:ext cx="5080" cy="141605"/>
            </a:xfrm>
            <a:prstGeom prst="straightConnector1">
              <a:avLst/>
            </a:prstGeom>
            <a:ln w="19050" cap="flat" cmpd="sng">
              <a:solidFill>
                <a:srgbClr val="000000"/>
              </a:solidFill>
              <a:prstDash val="solid"/>
              <a:headEnd type="none" w="med" len="med"/>
              <a:tailEnd type="arrow" w="med" len="med"/>
            </a:ln>
          </p:spPr>
        </p:cxnSp>
        <p:cxnSp>
          <p:nvCxnSpPr>
            <p:cNvPr id="32799" name="直接箭头连接符 32"/>
            <p:cNvCxnSpPr/>
            <p:nvPr/>
          </p:nvCxnSpPr>
          <p:spPr>
            <a:xfrm>
              <a:off x="1647825" y="7987030"/>
              <a:ext cx="5080" cy="141605"/>
            </a:xfrm>
            <a:prstGeom prst="straightConnector1">
              <a:avLst/>
            </a:prstGeom>
            <a:ln w="19050" cap="flat" cmpd="sng">
              <a:solidFill>
                <a:srgbClr val="000000"/>
              </a:solidFill>
              <a:prstDash val="solid"/>
              <a:headEnd type="none" w="med" len="med"/>
              <a:tailEnd type="arrow" w="med" len="med"/>
            </a:ln>
          </p:spPr>
        </p:cxnSp>
        <p:cxnSp>
          <p:nvCxnSpPr>
            <p:cNvPr id="32800" name="直接箭头连接符 33"/>
            <p:cNvCxnSpPr/>
            <p:nvPr/>
          </p:nvCxnSpPr>
          <p:spPr>
            <a:xfrm rot="5400000" flipV="1">
              <a:off x="-1133474" y="4958078"/>
              <a:ext cx="3132455" cy="10160"/>
            </a:xfrm>
            <a:prstGeom prst="straightConnector1">
              <a:avLst/>
            </a:prstGeom>
            <a:ln w="25400" cap="flat" cmpd="sng">
              <a:solidFill>
                <a:srgbClr val="000000"/>
              </a:solidFill>
              <a:prstDash val="solid"/>
              <a:headEnd type="arrow" w="med" len="med"/>
              <a:tailEnd type="arrow" w="med" len="med"/>
            </a:ln>
          </p:spPr>
        </p:cxnSp>
        <p:cxnSp>
          <p:nvCxnSpPr>
            <p:cNvPr id="32801" name="直接箭头连接符 34"/>
            <p:cNvCxnSpPr/>
            <p:nvPr/>
          </p:nvCxnSpPr>
          <p:spPr>
            <a:xfrm>
              <a:off x="438150" y="6529705"/>
              <a:ext cx="3810" cy="1936750"/>
            </a:xfrm>
            <a:prstGeom prst="straightConnector1">
              <a:avLst/>
            </a:prstGeom>
            <a:ln w="25400" cap="flat" cmpd="sng">
              <a:solidFill>
                <a:srgbClr val="000000"/>
              </a:solidFill>
              <a:prstDash val="solid"/>
              <a:headEnd type="arrow" w="med" len="med"/>
              <a:tailEnd type="arrow" w="med" len="med"/>
            </a:ln>
          </p:spPr>
        </p:cxnSp>
        <p:cxnSp>
          <p:nvCxnSpPr>
            <p:cNvPr id="32802" name="直接箭头连接符 35"/>
            <p:cNvCxnSpPr/>
            <p:nvPr/>
          </p:nvCxnSpPr>
          <p:spPr>
            <a:xfrm>
              <a:off x="1609725" y="3205480"/>
              <a:ext cx="9525" cy="657225"/>
            </a:xfrm>
            <a:prstGeom prst="straightConnector1">
              <a:avLst/>
            </a:prstGeom>
            <a:ln w="19050" cap="flat" cmpd="sng">
              <a:solidFill>
                <a:srgbClr val="000000"/>
              </a:solidFill>
              <a:prstDash val="solid"/>
              <a:headEnd type="none" w="med" len="med"/>
              <a:tailEnd type="arrow" w="med" len="med"/>
            </a:ln>
          </p:spPr>
        </p:cxnSp>
        <p:cxnSp>
          <p:nvCxnSpPr>
            <p:cNvPr id="32803" name="直接箭头连接符 36"/>
            <p:cNvCxnSpPr/>
            <p:nvPr/>
          </p:nvCxnSpPr>
          <p:spPr>
            <a:xfrm>
              <a:off x="1590675" y="2110105"/>
              <a:ext cx="5080" cy="141605"/>
            </a:xfrm>
            <a:prstGeom prst="straightConnector1">
              <a:avLst/>
            </a:prstGeom>
            <a:ln w="19050" cap="flat" cmpd="sng">
              <a:solidFill>
                <a:srgbClr val="000000"/>
              </a:solidFill>
              <a:prstDash val="solid"/>
              <a:headEnd type="none" w="med" len="med"/>
              <a:tailEnd type="arrow" w="med" len="med"/>
            </a:ln>
          </p:spPr>
        </p:cxnSp>
      </p:grpSp>
      <p:sp>
        <p:nvSpPr>
          <p:cNvPr id="32771" name="标题 1"/>
          <p:cNvSpPr>
            <a:spLocks noGrp="1"/>
          </p:cNvSpPr>
          <p:nvPr>
            <p:ph type="title"/>
          </p:nvPr>
        </p:nvSpPr>
        <p:spPr/>
        <p:txBody>
          <a:bodyPr vert="horz" wrap="square" lIns="91440" tIns="45720" rIns="91440" bIns="45720" anchor="ctr" anchorCtr="0"/>
          <a:lstStyle/>
          <a:p>
            <a:pPr eaLnBrk="1" hangingPunct="1"/>
            <a:r>
              <a:rPr lang="en-US" altLang="zh-CN" b="1" dirty="0">
                <a:ea typeface="宋体" panose="02010600030101010101" pitchFamily="2" charset="-122"/>
              </a:rPr>
              <a:t>9.3</a:t>
            </a:r>
            <a:r>
              <a:rPr lang="zh-CN" altLang="en-US" b="1" dirty="0">
                <a:ea typeface="宋体" panose="02010600030101010101" pitchFamily="2" charset="-122"/>
              </a:rPr>
              <a:t>信息系统安全测评流程</a:t>
            </a:r>
          </a:p>
        </p:txBody>
      </p:sp>
    </p:spTree>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信息系统安全测评流程</a:t>
            </a:r>
          </a:p>
        </p:txBody>
      </p:sp>
      <p:sp>
        <p:nvSpPr>
          <p:cNvPr id="19459" name="内容占位符 2"/>
          <p:cNvSpPr>
            <a:spLocks noGrp="1"/>
          </p:cNvSpPr>
          <p:nvPr>
            <p:ph idx="1"/>
          </p:nvPr>
        </p:nvSpPr>
        <p:spPr>
          <a:xfrm>
            <a:off x="381000" y="1066800"/>
            <a:ext cx="8229600" cy="5562600"/>
          </a:xfrm>
        </p:spPr>
        <p:txBody>
          <a:bodyPr vert="horz" wrap="square" lIns="91440" tIns="45720" rIns="91440" bIns="45720" anchor="t" anchorCtr="0"/>
          <a:lstStyle/>
          <a:p>
            <a:pPr eaLnBrk="1" hangingPunct="1">
              <a:spcAft>
                <a:spcPct val="20000"/>
              </a:spcAft>
              <a:buClr>
                <a:srgbClr val="AC04A0"/>
              </a:buClr>
            </a:pPr>
            <a:r>
              <a:rPr lang="en-US" altLang="zh-CN" b="1" dirty="0">
                <a:latin typeface="Times New Roman" panose="02020603050405020304" pitchFamily="18" charset="0"/>
                <a:ea typeface="楷体_GB2312" pitchFamily="49" charset="-122"/>
              </a:rPr>
              <a:t> </a:t>
            </a:r>
            <a:r>
              <a:rPr lang="zh-CN" altLang="zh-CN" b="1" dirty="0">
                <a:latin typeface="楷体_GB2312" pitchFamily="49" charset="-122"/>
                <a:ea typeface="宋体" panose="02010600030101010101" pitchFamily="2" charset="-122"/>
              </a:rPr>
              <a:t>资料审查</a:t>
            </a:r>
            <a:endParaRPr lang="en-US" altLang="zh-CN" b="1" dirty="0">
              <a:latin typeface="楷体_GB2312" pitchFamily="49" charset="-122"/>
              <a:ea typeface="宋体" panose="02010600030101010101" pitchFamily="2" charset="-122"/>
            </a:endParaRPr>
          </a:p>
          <a:p>
            <a:pPr lvl="1">
              <a:spcBef>
                <a:spcPts val="1200"/>
              </a:spcBef>
              <a:buFont typeface="Wingdings" panose="05000000000000000000" pitchFamily="2" charset="2"/>
              <a:buAutoNum type="circleNumDbPlain"/>
            </a:pPr>
            <a:r>
              <a:rPr lang="zh-CN" altLang="zh-CN" b="1" dirty="0">
                <a:latin typeface="楷体_GB2312" pitchFamily="49" charset="-122"/>
                <a:ea typeface="宋体" panose="02010600030101010101" pitchFamily="2" charset="-122"/>
              </a:rPr>
              <a:t>被测用户应向安全测评机构</a:t>
            </a:r>
            <a:r>
              <a:rPr lang="zh-CN" altLang="zh-CN" b="1" dirty="0">
                <a:solidFill>
                  <a:srgbClr val="FF0000"/>
                </a:solidFill>
                <a:latin typeface="楷体_GB2312" pitchFamily="49" charset="-122"/>
                <a:ea typeface="宋体" panose="02010600030101010101" pitchFamily="2" charset="-122"/>
              </a:rPr>
              <a:t>提交测评申请</a:t>
            </a:r>
            <a:r>
              <a:rPr lang="zh-CN" altLang="zh-CN" b="1" dirty="0">
                <a:latin typeface="楷体_GB2312" pitchFamily="49" charset="-122"/>
                <a:ea typeface="宋体" panose="02010600030101010101" pitchFamily="2" charset="-122"/>
              </a:rPr>
              <a:t>，并提交相关资料；</a:t>
            </a:r>
          </a:p>
          <a:p>
            <a:pPr lvl="1">
              <a:spcBef>
                <a:spcPts val="1200"/>
              </a:spcBef>
              <a:buFont typeface="Wingdings" panose="05000000000000000000" pitchFamily="2" charset="2"/>
              <a:buAutoNum type="circleNumDbPlain"/>
            </a:pPr>
            <a:r>
              <a:rPr lang="zh-CN" altLang="zh-CN" b="1" dirty="0">
                <a:latin typeface="楷体_GB2312" pitchFamily="49" charset="-122"/>
                <a:ea typeface="宋体" panose="02010600030101010101" pitchFamily="2" charset="-122"/>
              </a:rPr>
              <a:t>安全测评机构收到用户系统测评申请后，根据用户测评申请提供的资料，进行</a:t>
            </a:r>
            <a:r>
              <a:rPr lang="zh-CN" altLang="zh-CN" b="1" dirty="0">
                <a:solidFill>
                  <a:srgbClr val="FF0000"/>
                </a:solidFill>
                <a:latin typeface="楷体_GB2312" pitchFamily="49" charset="-122"/>
                <a:ea typeface="宋体" panose="02010600030101010101" pitchFamily="2" charset="-122"/>
              </a:rPr>
              <a:t>形式化审查</a:t>
            </a:r>
            <a:r>
              <a:rPr lang="zh-CN" altLang="zh-CN" b="1" dirty="0">
                <a:latin typeface="楷体_GB2312" pitchFamily="49" charset="-122"/>
                <a:ea typeface="宋体" panose="02010600030101010101" pitchFamily="2" charset="-122"/>
              </a:rPr>
              <a:t>，审查用户资料是否</a:t>
            </a:r>
            <a:r>
              <a:rPr lang="zh-CN" altLang="zh-CN" b="1" dirty="0">
                <a:solidFill>
                  <a:srgbClr val="FF0000"/>
                </a:solidFill>
                <a:latin typeface="楷体_GB2312" pitchFamily="49" charset="-122"/>
                <a:ea typeface="宋体" panose="02010600030101010101" pitchFamily="2" charset="-122"/>
              </a:rPr>
              <a:t>满足测评要求</a:t>
            </a:r>
            <a:r>
              <a:rPr lang="zh-CN" altLang="zh-CN" b="1" dirty="0">
                <a:latin typeface="楷体_GB2312" pitchFamily="49" charset="-122"/>
                <a:ea typeface="宋体" panose="02010600030101010101" pitchFamily="2" charset="-122"/>
              </a:rPr>
              <a:t>；</a:t>
            </a:r>
          </a:p>
          <a:p>
            <a:pPr lvl="1">
              <a:spcBef>
                <a:spcPts val="1200"/>
              </a:spcBef>
              <a:buFont typeface="Wingdings" panose="05000000000000000000" pitchFamily="2" charset="2"/>
              <a:buAutoNum type="circleNumDbPlain"/>
            </a:pPr>
            <a:r>
              <a:rPr lang="zh-CN" altLang="zh-CN" b="1" dirty="0">
                <a:latin typeface="楷体_GB2312" pitchFamily="49" charset="-122"/>
                <a:ea typeface="宋体" panose="02010600030101010101" pitchFamily="2" charset="-122"/>
              </a:rPr>
              <a:t>向用户提供形式化</a:t>
            </a:r>
            <a:r>
              <a:rPr lang="zh-CN" altLang="zh-CN" b="1" dirty="0">
                <a:solidFill>
                  <a:srgbClr val="FF0000"/>
                </a:solidFill>
                <a:latin typeface="楷体_GB2312" pitchFamily="49" charset="-122"/>
                <a:ea typeface="宋体" panose="02010600030101010101" pitchFamily="2" charset="-122"/>
              </a:rPr>
              <a:t>审查报告</a:t>
            </a:r>
            <a:r>
              <a:rPr lang="zh-CN" altLang="zh-CN" b="1" dirty="0">
                <a:latin typeface="楷体_GB2312" pitchFamily="49" charset="-122"/>
                <a:ea typeface="宋体" panose="02010600030101010101" pitchFamily="2" charset="-122"/>
              </a:rPr>
              <a:t>。</a:t>
            </a:r>
          </a:p>
          <a:p>
            <a:pPr eaLnBrk="1" hangingPunct="1">
              <a:spcAft>
                <a:spcPct val="20000"/>
              </a:spcAft>
              <a:buClr>
                <a:srgbClr val="AC04A0"/>
              </a:buClr>
              <a:buNone/>
            </a:pPr>
            <a:r>
              <a:rPr lang="en-US" altLang="zh-CN" b="1" dirty="0">
                <a:latin typeface="楷体_GB2312" pitchFamily="49" charset="-122"/>
                <a:ea typeface="楷体_GB2312" pitchFamily="49" charset="-122"/>
              </a:rPr>
              <a:t> </a:t>
            </a:r>
          </a:p>
          <a:p>
            <a:pPr eaLnBrk="1" hangingPunct="1">
              <a:spcAft>
                <a:spcPct val="20000"/>
              </a:spcAft>
              <a:buClr>
                <a:srgbClr val="AC04A0"/>
              </a:buClr>
              <a:buNone/>
            </a:pPr>
            <a:r>
              <a:rPr lang="en-US" altLang="zh-CN" b="1" dirty="0">
                <a:latin typeface="楷体_GB2312" pitchFamily="49" charset="-122"/>
                <a:ea typeface="楷体_GB2312" pitchFamily="49" charset="-122"/>
              </a:rPr>
              <a:t> </a:t>
            </a:r>
          </a:p>
          <a:p>
            <a:pPr lvl="1" eaLnBrk="1" hangingPunct="1">
              <a:buNone/>
            </a:pPr>
            <a:endParaRPr lang="en-US" altLang="zh-CN" b="1" dirty="0">
              <a:latin typeface="楷体_GB2312" pitchFamily="49" charset="-122"/>
              <a:ea typeface="楷体_GB2312" pitchFamily="49" charset="-122"/>
            </a:endParaRPr>
          </a:p>
          <a:p>
            <a:pPr eaLnBrk="1" hangingPunct="1">
              <a:buNone/>
            </a:pPr>
            <a:endParaRPr lang="zh-CN" altLang="en-US" dirty="0">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fade">
                                      <p:cBhvr>
                                        <p:cTn id="17" dur="2000"/>
                                        <p:tgtEl>
                                          <p:spTgt spid="194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xEl>
                                              <p:pRg st="4" end="4"/>
                                            </p:txEl>
                                          </p:spTgt>
                                        </p:tgtEl>
                                        <p:attrNameLst>
                                          <p:attrName>style.visibility</p:attrName>
                                        </p:attrNameLst>
                                      </p:cBhvr>
                                      <p:to>
                                        <p:strVal val="visible"/>
                                      </p:to>
                                    </p:set>
                                    <p:animEffect transition="in" filter="fade">
                                      <p:cBhvr>
                                        <p:cTn id="22" dur="2000"/>
                                        <p:tgtEl>
                                          <p:spTgt spid="194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信息系统安全测评流程</a:t>
            </a:r>
          </a:p>
        </p:txBody>
      </p:sp>
      <p:sp>
        <p:nvSpPr>
          <p:cNvPr id="19459" name="内容占位符 2"/>
          <p:cNvSpPr>
            <a:spLocks noGrp="1"/>
          </p:cNvSpPr>
          <p:nvPr>
            <p:ph idx="1"/>
          </p:nvPr>
        </p:nvSpPr>
        <p:spPr>
          <a:xfrm>
            <a:off x="0" y="1066800"/>
            <a:ext cx="9067800" cy="5562600"/>
          </a:xfrm>
        </p:spPr>
        <p:txBody>
          <a:bodyPr vert="horz" wrap="square" lIns="91440" tIns="45720" rIns="91440" bIns="45720" anchor="t" anchorCtr="0"/>
          <a:lstStyle/>
          <a:p>
            <a:pPr eaLnBrk="1" hangingPunct="1">
              <a:spcAft>
                <a:spcPct val="20000"/>
              </a:spcAft>
              <a:buClr>
                <a:srgbClr val="AC04A0"/>
              </a:buClr>
            </a:pPr>
            <a:r>
              <a:rPr lang="en-US" altLang="zh-CN" b="1" dirty="0">
                <a:latin typeface="Times New Roman" panose="02020603050405020304" pitchFamily="18" charset="0"/>
                <a:ea typeface="楷体_GB2312" pitchFamily="49" charset="-122"/>
              </a:rPr>
              <a:t> </a:t>
            </a:r>
            <a:r>
              <a:rPr lang="zh-CN" altLang="zh-CN" b="1" dirty="0">
                <a:latin typeface="楷体_GB2312" pitchFamily="49" charset="-122"/>
                <a:ea typeface="宋体" panose="02010600030101010101" pitchFamily="2" charset="-122"/>
              </a:rPr>
              <a:t>核查测试</a:t>
            </a:r>
            <a:endParaRPr lang="en-US" altLang="zh-CN" b="1" dirty="0">
              <a:latin typeface="楷体_GB2312" pitchFamily="49" charset="-122"/>
              <a:ea typeface="宋体" panose="02010600030101010101" pitchFamily="2" charset="-122"/>
            </a:endParaRPr>
          </a:p>
          <a:p>
            <a:pPr lvl="1">
              <a:spcBef>
                <a:spcPts val="1200"/>
              </a:spcBef>
              <a:buFont typeface="Wingdings" panose="05000000000000000000" pitchFamily="2" charset="2"/>
              <a:buAutoNum type="circleNumDbPlain"/>
            </a:pPr>
            <a:r>
              <a:rPr lang="zh-CN" altLang="zh-CN" sz="2400" b="1" dirty="0">
                <a:latin typeface="楷体_GB2312" pitchFamily="49" charset="-122"/>
                <a:ea typeface="宋体" panose="02010600030101010101" pitchFamily="2" charset="-122"/>
              </a:rPr>
              <a:t>测评机构依据本规范和用户提供的资料，制定系统安全</a:t>
            </a:r>
            <a:r>
              <a:rPr lang="zh-CN" altLang="zh-CN" sz="2400" b="1" dirty="0">
                <a:solidFill>
                  <a:srgbClr val="FF0000"/>
                </a:solidFill>
                <a:latin typeface="楷体_GB2312" pitchFamily="49" charset="-122"/>
                <a:ea typeface="宋体" panose="02010600030101010101" pitchFamily="2" charset="-122"/>
              </a:rPr>
              <a:t>测评计划</a:t>
            </a:r>
            <a:r>
              <a:rPr lang="zh-CN" altLang="zh-CN" sz="2400" b="1" dirty="0">
                <a:latin typeface="楷体_GB2312" pitchFamily="49" charset="-122"/>
                <a:ea typeface="宋体" panose="02010600030101010101" pitchFamily="2" charset="-122"/>
              </a:rPr>
              <a:t>；</a:t>
            </a:r>
          </a:p>
          <a:p>
            <a:pPr lvl="1">
              <a:spcBef>
                <a:spcPts val="1200"/>
              </a:spcBef>
              <a:buFont typeface="Wingdings" panose="05000000000000000000" pitchFamily="2" charset="2"/>
              <a:buAutoNum type="circleNumDbPlain"/>
            </a:pPr>
            <a:r>
              <a:rPr lang="zh-CN" altLang="zh-CN" sz="2400" b="1" dirty="0">
                <a:latin typeface="楷体_GB2312" pitchFamily="49" charset="-122"/>
                <a:ea typeface="宋体" panose="02010600030101010101" pitchFamily="2" charset="-122"/>
              </a:rPr>
              <a:t>召开系统安全测评协调会，测评双方</a:t>
            </a:r>
            <a:r>
              <a:rPr lang="zh-CN" altLang="zh-CN" sz="2400" b="1" dirty="0">
                <a:solidFill>
                  <a:srgbClr val="FF0000"/>
                </a:solidFill>
                <a:latin typeface="楷体_GB2312" pitchFamily="49" charset="-122"/>
                <a:ea typeface="宋体" panose="02010600030101010101" pitchFamily="2" charset="-122"/>
              </a:rPr>
              <a:t>共同确认</a:t>
            </a:r>
            <a:r>
              <a:rPr lang="zh-CN" altLang="zh-CN" sz="2400" b="1" dirty="0">
                <a:latin typeface="楷体_GB2312" pitchFamily="49" charset="-122"/>
                <a:ea typeface="宋体" panose="02010600030101010101" pitchFamily="2" charset="-122"/>
              </a:rPr>
              <a:t>系统安全测评计划；</a:t>
            </a:r>
          </a:p>
          <a:p>
            <a:pPr lvl="1">
              <a:spcBef>
                <a:spcPts val="1200"/>
              </a:spcBef>
              <a:buFont typeface="Wingdings" panose="05000000000000000000" pitchFamily="2" charset="2"/>
              <a:buAutoNum type="circleNumDbPlain"/>
            </a:pPr>
            <a:r>
              <a:rPr lang="zh-CN" altLang="zh-CN" sz="2400" b="1" dirty="0">
                <a:latin typeface="楷体_GB2312" pitchFamily="49" charset="-122"/>
                <a:ea typeface="宋体" panose="02010600030101010101" pitchFamily="2" charset="-122"/>
              </a:rPr>
              <a:t>依据系统安全测评计划制定系统安全</a:t>
            </a:r>
            <a:r>
              <a:rPr lang="zh-CN" altLang="zh-CN" sz="2400" b="1" dirty="0">
                <a:solidFill>
                  <a:srgbClr val="FF0000"/>
                </a:solidFill>
                <a:latin typeface="楷体_GB2312" pitchFamily="49" charset="-122"/>
                <a:ea typeface="宋体" panose="02010600030101010101" pitchFamily="2" charset="-122"/>
              </a:rPr>
              <a:t>测评方案</a:t>
            </a:r>
            <a:r>
              <a:rPr lang="zh-CN" altLang="zh-CN" sz="2400" b="1" dirty="0">
                <a:latin typeface="楷体_GB2312" pitchFamily="49" charset="-122"/>
                <a:ea typeface="宋体" panose="02010600030101010101" pitchFamily="2" charset="-122"/>
              </a:rPr>
              <a:t>；</a:t>
            </a:r>
          </a:p>
          <a:p>
            <a:pPr lvl="1">
              <a:spcBef>
                <a:spcPts val="1200"/>
              </a:spcBef>
              <a:buFont typeface="Wingdings" panose="05000000000000000000" pitchFamily="2" charset="2"/>
              <a:buAutoNum type="circleNumDbPlain"/>
            </a:pPr>
            <a:r>
              <a:rPr lang="zh-CN" altLang="zh-CN" sz="2400" b="1" dirty="0">
                <a:latin typeface="楷体_GB2312" pitchFamily="49" charset="-122"/>
                <a:ea typeface="宋体" panose="02010600030101010101" pitchFamily="2" charset="-122"/>
              </a:rPr>
              <a:t>依据系统安全测评方案实施</a:t>
            </a:r>
            <a:r>
              <a:rPr lang="zh-CN" altLang="zh-CN" sz="2400" b="1" dirty="0">
                <a:solidFill>
                  <a:srgbClr val="FF0000"/>
                </a:solidFill>
                <a:latin typeface="楷体_GB2312" pitchFamily="49" charset="-122"/>
                <a:ea typeface="宋体" panose="02010600030101010101" pitchFamily="2" charset="-122"/>
              </a:rPr>
              <a:t>现场核查</a:t>
            </a:r>
            <a:r>
              <a:rPr lang="zh-CN" altLang="zh-CN" sz="2400" b="1" dirty="0">
                <a:latin typeface="楷体_GB2312" pitchFamily="49" charset="-122"/>
                <a:ea typeface="宋体" panose="02010600030101010101" pitchFamily="2" charset="-122"/>
              </a:rPr>
              <a:t>测试；</a:t>
            </a:r>
          </a:p>
          <a:p>
            <a:pPr lvl="1">
              <a:spcBef>
                <a:spcPts val="1200"/>
              </a:spcBef>
              <a:buFont typeface="Wingdings" panose="05000000000000000000" pitchFamily="2" charset="2"/>
              <a:buAutoNum type="circleNumDbPlain"/>
            </a:pPr>
            <a:r>
              <a:rPr lang="zh-CN" altLang="zh-CN" sz="2400" b="1" dirty="0">
                <a:latin typeface="楷体_GB2312" pitchFamily="49" charset="-122"/>
                <a:ea typeface="宋体" panose="02010600030101010101" pitchFamily="2" charset="-122"/>
              </a:rPr>
              <a:t>对核查测试结果进行数据整理记录，并形成</a:t>
            </a:r>
            <a:r>
              <a:rPr lang="zh-CN" altLang="zh-CN" sz="2400" b="1" dirty="0">
                <a:solidFill>
                  <a:srgbClr val="FF0000"/>
                </a:solidFill>
                <a:latin typeface="楷体_GB2312" pitchFamily="49" charset="-122"/>
                <a:ea typeface="宋体" panose="02010600030101010101" pitchFamily="2" charset="-122"/>
              </a:rPr>
              <a:t>核查测试报告</a:t>
            </a:r>
            <a:r>
              <a:rPr lang="zh-CN" altLang="en-US" b="1" dirty="0">
                <a:solidFill>
                  <a:srgbClr val="000000"/>
                </a:solidFill>
                <a:latin typeface="楷体_GB2312" pitchFamily="49" charset="-122"/>
                <a:ea typeface="楷体_GB2312" pitchFamily="49" charset="-122"/>
              </a:rPr>
              <a:t>。</a:t>
            </a:r>
            <a:endParaRPr lang="en-US" altLang="zh-CN" b="1" dirty="0">
              <a:latin typeface="楷体_GB2312" pitchFamily="49" charset="-122"/>
              <a:ea typeface="楷体_GB2312" pitchFamily="49" charset="-122"/>
            </a:endParaRPr>
          </a:p>
          <a:p>
            <a:pPr eaLnBrk="1" hangingPunct="1">
              <a:spcAft>
                <a:spcPct val="20000"/>
              </a:spcAft>
              <a:buClr>
                <a:srgbClr val="AC04A0"/>
              </a:buClr>
              <a:buNone/>
            </a:pPr>
            <a:r>
              <a:rPr lang="en-US" altLang="zh-CN" b="1" dirty="0">
                <a:latin typeface="楷体_GB2312" pitchFamily="49" charset="-122"/>
                <a:ea typeface="楷体_GB2312" pitchFamily="49" charset="-122"/>
              </a:rPr>
              <a:t> </a:t>
            </a:r>
          </a:p>
          <a:p>
            <a:pPr eaLnBrk="1" hangingPunct="1">
              <a:spcAft>
                <a:spcPct val="20000"/>
              </a:spcAft>
              <a:buClr>
                <a:srgbClr val="AC04A0"/>
              </a:buClr>
              <a:buNone/>
            </a:pPr>
            <a:r>
              <a:rPr lang="en-US" altLang="zh-CN" b="1" dirty="0">
                <a:latin typeface="楷体_GB2312" pitchFamily="49" charset="-122"/>
                <a:ea typeface="楷体_GB2312" pitchFamily="49" charset="-122"/>
              </a:rPr>
              <a:t> </a:t>
            </a:r>
          </a:p>
          <a:p>
            <a:pPr lvl="1" eaLnBrk="1" hangingPunct="1">
              <a:buNone/>
            </a:pPr>
            <a:endParaRPr lang="en-US" altLang="zh-CN" b="1" dirty="0">
              <a:latin typeface="楷体_GB2312" pitchFamily="49" charset="-122"/>
              <a:ea typeface="楷体_GB2312" pitchFamily="49" charset="-122"/>
            </a:endParaRPr>
          </a:p>
          <a:p>
            <a:pPr eaLnBrk="1" hangingPunct="1">
              <a:buNone/>
            </a:pPr>
            <a:endParaRPr lang="zh-CN" altLang="en-US" dirty="0">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fade">
                                      <p:cBhvr>
                                        <p:cTn id="17" dur="2000"/>
                                        <p:tgtEl>
                                          <p:spTgt spid="194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xEl>
                                              <p:pRg st="4" end="4"/>
                                            </p:txEl>
                                          </p:spTgt>
                                        </p:tgtEl>
                                        <p:attrNameLst>
                                          <p:attrName>style.visibility</p:attrName>
                                        </p:attrNameLst>
                                      </p:cBhvr>
                                      <p:to>
                                        <p:strVal val="visible"/>
                                      </p:to>
                                    </p:set>
                                    <p:animEffect transition="in" filter="fade">
                                      <p:cBhvr>
                                        <p:cTn id="22" dur="2000"/>
                                        <p:tgtEl>
                                          <p:spTgt spid="1945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animEffect transition="in" filter="fade">
                                      <p:cBhvr>
                                        <p:cTn id="27" dur="2000"/>
                                        <p:tgtEl>
                                          <p:spTgt spid="1945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信息系统安全测评流程</a:t>
            </a:r>
          </a:p>
        </p:txBody>
      </p:sp>
      <p:sp>
        <p:nvSpPr>
          <p:cNvPr id="19459" name="内容占位符 2"/>
          <p:cNvSpPr>
            <a:spLocks noGrp="1"/>
          </p:cNvSpPr>
          <p:nvPr>
            <p:ph idx="1"/>
          </p:nvPr>
        </p:nvSpPr>
        <p:spPr>
          <a:xfrm>
            <a:off x="304800" y="1143000"/>
            <a:ext cx="8229600" cy="5334000"/>
          </a:xfrm>
        </p:spPr>
        <p:txBody>
          <a:bodyPr vert="horz" wrap="square" lIns="91440" tIns="45720" rIns="91440" bIns="45720" anchor="t" anchorCtr="0"/>
          <a:lstStyle/>
          <a:p>
            <a:pPr eaLnBrk="1" hangingPunct="1">
              <a:spcAft>
                <a:spcPct val="20000"/>
              </a:spcAft>
              <a:buClr>
                <a:srgbClr val="AC04A0"/>
              </a:buClr>
            </a:pPr>
            <a:r>
              <a:rPr lang="en-US" altLang="zh-CN" b="1" dirty="0">
                <a:latin typeface="Times New Roman" panose="02020603050405020304" pitchFamily="18" charset="0"/>
                <a:ea typeface="楷体_GB2312" pitchFamily="49" charset="-122"/>
              </a:rPr>
              <a:t> </a:t>
            </a:r>
            <a:r>
              <a:rPr lang="zh-CN" altLang="zh-CN" b="1" dirty="0">
                <a:latin typeface="楷体_GB2312" pitchFamily="49" charset="-122"/>
                <a:ea typeface="宋体" panose="02010600030101010101" pitchFamily="2" charset="-122"/>
              </a:rPr>
              <a:t>综合评估</a:t>
            </a:r>
            <a:endParaRPr lang="en-US" altLang="zh-CN" b="1" dirty="0">
              <a:latin typeface="楷体_GB2312" pitchFamily="49" charset="-122"/>
              <a:ea typeface="宋体" panose="02010600030101010101" pitchFamily="2" charset="-122"/>
            </a:endParaRPr>
          </a:p>
          <a:p>
            <a:pPr lvl="1">
              <a:lnSpc>
                <a:spcPct val="150000"/>
              </a:lnSpc>
              <a:buFont typeface="Wingdings" panose="05000000000000000000" pitchFamily="2" charset="2"/>
              <a:buAutoNum type="circleNumDbPlain"/>
            </a:pPr>
            <a:r>
              <a:rPr lang="zh-CN" altLang="zh-CN" sz="2400" b="1" dirty="0">
                <a:latin typeface="楷体_GB2312" pitchFamily="49" charset="-122"/>
                <a:ea typeface="宋体" panose="02010600030101010101" pitchFamily="2" charset="-122"/>
              </a:rPr>
              <a:t>依据本规范，对用户资料和测试报告进行</a:t>
            </a:r>
            <a:r>
              <a:rPr lang="zh-CN" altLang="zh-CN" sz="2400" b="1" dirty="0">
                <a:solidFill>
                  <a:srgbClr val="FF0000"/>
                </a:solidFill>
                <a:latin typeface="楷体_GB2312" pitchFamily="49" charset="-122"/>
                <a:ea typeface="宋体" panose="02010600030101010101" pitchFamily="2" charset="-122"/>
              </a:rPr>
              <a:t>综合分析</a:t>
            </a:r>
            <a:r>
              <a:rPr lang="zh-CN" altLang="zh-CN" sz="2400" b="1" dirty="0">
                <a:latin typeface="楷体_GB2312" pitchFamily="49" charset="-122"/>
                <a:ea typeface="宋体" panose="02010600030101010101" pitchFamily="2" charset="-122"/>
              </a:rPr>
              <a:t>，形成分析意见；</a:t>
            </a:r>
          </a:p>
          <a:p>
            <a:pPr lvl="1">
              <a:lnSpc>
                <a:spcPct val="150000"/>
              </a:lnSpc>
              <a:buFont typeface="Wingdings" panose="05000000000000000000" pitchFamily="2" charset="2"/>
              <a:buAutoNum type="circleNumDbPlain"/>
            </a:pPr>
            <a:r>
              <a:rPr lang="zh-CN" altLang="zh-CN" sz="2400" b="1" dirty="0">
                <a:latin typeface="楷体_GB2312" pitchFamily="49" charset="-122"/>
                <a:ea typeface="宋体" panose="02010600030101010101" pitchFamily="2" charset="-122"/>
              </a:rPr>
              <a:t>就分析意见与用户沟通确认，最终形成系统安全测评综合</a:t>
            </a:r>
            <a:r>
              <a:rPr lang="zh-CN" altLang="zh-CN" sz="2400" b="1" dirty="0">
                <a:solidFill>
                  <a:srgbClr val="FF0000"/>
                </a:solidFill>
                <a:latin typeface="楷体_GB2312" pitchFamily="49" charset="-122"/>
                <a:ea typeface="宋体" panose="02010600030101010101" pitchFamily="2" charset="-122"/>
              </a:rPr>
              <a:t>评估报告</a:t>
            </a:r>
            <a:r>
              <a:rPr lang="zh-CN" altLang="zh-CN" sz="2400" b="1" dirty="0">
                <a:latin typeface="楷体_GB2312" pitchFamily="49" charset="-122"/>
                <a:ea typeface="宋体" panose="02010600030101010101" pitchFamily="2" charset="-122"/>
              </a:rPr>
              <a:t>；</a:t>
            </a:r>
          </a:p>
          <a:p>
            <a:pPr lvl="1">
              <a:lnSpc>
                <a:spcPct val="150000"/>
              </a:lnSpc>
              <a:buFont typeface="Wingdings" panose="05000000000000000000" pitchFamily="2" charset="2"/>
              <a:buAutoNum type="circleNumDbPlain"/>
            </a:pPr>
            <a:r>
              <a:rPr lang="zh-CN" altLang="zh-CN" sz="2400" b="1" dirty="0">
                <a:latin typeface="楷体_GB2312" pitchFamily="49" charset="-122"/>
                <a:ea typeface="宋体" panose="02010600030101010101" pitchFamily="2" charset="-122"/>
              </a:rPr>
              <a:t>对系统安全测评综合评估报告进行</a:t>
            </a:r>
            <a:r>
              <a:rPr lang="zh-CN" altLang="zh-CN" sz="2400" b="1" dirty="0">
                <a:solidFill>
                  <a:srgbClr val="FF0000"/>
                </a:solidFill>
                <a:latin typeface="楷体_GB2312" pitchFamily="49" charset="-122"/>
                <a:ea typeface="宋体" panose="02010600030101010101" pitchFamily="2" charset="-122"/>
              </a:rPr>
              <a:t>审定</a:t>
            </a:r>
            <a:r>
              <a:rPr lang="zh-CN" altLang="zh-CN" sz="2400" b="1" dirty="0">
                <a:latin typeface="楷体_GB2312" pitchFamily="49" charset="-122"/>
                <a:ea typeface="宋体" panose="02010600030101010101" pitchFamily="2" charset="-122"/>
              </a:rPr>
              <a:t>；</a:t>
            </a:r>
          </a:p>
          <a:p>
            <a:pPr lvl="1">
              <a:lnSpc>
                <a:spcPct val="150000"/>
              </a:lnSpc>
              <a:buFont typeface="Wingdings" panose="05000000000000000000" pitchFamily="2" charset="2"/>
              <a:buAutoNum type="circleNumDbPlain"/>
            </a:pPr>
            <a:r>
              <a:rPr lang="zh-CN" altLang="zh-CN" sz="2400" b="1" dirty="0">
                <a:latin typeface="楷体_GB2312" pitchFamily="49" charset="-122"/>
                <a:ea typeface="宋体" panose="02010600030101010101" pitchFamily="2" charset="-122"/>
              </a:rPr>
              <a:t>出具信息系统安全测评</a:t>
            </a:r>
            <a:r>
              <a:rPr lang="zh-CN" altLang="zh-CN" sz="2400" b="1" dirty="0">
                <a:solidFill>
                  <a:srgbClr val="FF0000"/>
                </a:solidFill>
                <a:latin typeface="楷体_GB2312" pitchFamily="49" charset="-122"/>
                <a:ea typeface="宋体" panose="02010600030101010101" pitchFamily="2" charset="-122"/>
              </a:rPr>
              <a:t>综合评估报告和审定书</a:t>
            </a:r>
            <a:r>
              <a:rPr lang="zh-CN" altLang="zh-CN" sz="2400" b="1" dirty="0">
                <a:latin typeface="楷体_GB2312" pitchFamily="49" charset="-122"/>
                <a:ea typeface="宋体" panose="02010600030101010101" pitchFamily="2" charset="-122"/>
              </a:rPr>
              <a:t>。</a:t>
            </a:r>
          </a:p>
          <a:p>
            <a:pPr eaLnBrk="1" hangingPunct="1">
              <a:spcAft>
                <a:spcPct val="20000"/>
              </a:spcAft>
              <a:buClr>
                <a:srgbClr val="AC04A0"/>
              </a:buClr>
              <a:buNone/>
            </a:pPr>
            <a:r>
              <a:rPr lang="en-US" altLang="zh-CN" b="1" dirty="0">
                <a:latin typeface="楷体_GB2312" pitchFamily="49" charset="-122"/>
                <a:ea typeface="楷体_GB2312" pitchFamily="49" charset="-122"/>
              </a:rPr>
              <a:t> </a:t>
            </a:r>
          </a:p>
          <a:p>
            <a:pPr lvl="1" eaLnBrk="1" hangingPunct="1">
              <a:buNone/>
            </a:pPr>
            <a:endParaRPr lang="en-US" altLang="zh-CN" b="1" dirty="0">
              <a:latin typeface="楷体_GB2312" pitchFamily="49" charset="-122"/>
              <a:ea typeface="楷体_GB2312" pitchFamily="49" charset="-122"/>
            </a:endParaRPr>
          </a:p>
          <a:p>
            <a:pPr eaLnBrk="1" hangingPunct="1">
              <a:buNone/>
            </a:pPr>
            <a:endParaRPr lang="zh-CN" altLang="en-US" dirty="0">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5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5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fade">
                                      <p:cBhvr>
                                        <p:cTn id="17" dur="500"/>
                                        <p:tgtEl>
                                          <p:spTgt spid="194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xEl>
                                              <p:pRg st="4" end="4"/>
                                            </p:txEl>
                                          </p:spTgt>
                                        </p:tgtEl>
                                        <p:attrNameLst>
                                          <p:attrName>style.visibility</p:attrName>
                                        </p:attrNameLst>
                                      </p:cBhvr>
                                      <p:to>
                                        <p:strVal val="visible"/>
                                      </p:to>
                                    </p:set>
                                    <p:animEffect transition="in" filter="fade">
                                      <p:cBhvr>
                                        <p:cTn id="22" dur="500"/>
                                        <p:tgtEl>
                                          <p:spTgt spid="194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p:txBody>
          <a:bodyPr vert="horz" wrap="square" lIns="91440" tIns="45720" rIns="91440" bIns="45720" anchor="ctr" anchorCtr="0"/>
          <a:lstStyle/>
          <a:p>
            <a:pPr eaLnBrk="1" hangingPunct="1"/>
            <a:r>
              <a:rPr lang="en-US" altLang="zh-CN" b="1" dirty="0">
                <a:ea typeface="宋体" panose="02010600030101010101" pitchFamily="2" charset="-122"/>
              </a:rPr>
              <a:t>9.4</a:t>
            </a:r>
            <a:r>
              <a:rPr lang="zh-CN" altLang="en-US" b="1" dirty="0">
                <a:ea typeface="宋体" panose="02010600030101010101" pitchFamily="2" charset="-122"/>
              </a:rPr>
              <a:t>信息系统安全管理测评</a:t>
            </a:r>
          </a:p>
        </p:txBody>
      </p:sp>
      <p:sp>
        <p:nvSpPr>
          <p:cNvPr id="19459" name="内容占位符 2"/>
          <p:cNvSpPr>
            <a:spLocks noGrp="1"/>
          </p:cNvSpPr>
          <p:nvPr>
            <p:ph idx="1"/>
          </p:nvPr>
        </p:nvSpPr>
        <p:spPr>
          <a:xfrm>
            <a:off x="304800" y="990600"/>
            <a:ext cx="8610600" cy="5638800"/>
          </a:xfrm>
        </p:spPr>
        <p:txBody>
          <a:bodyPr vert="horz" wrap="square" lIns="91440" tIns="45720" rIns="91440" bIns="45720" anchor="t" anchorCtr="0"/>
          <a:lstStyle/>
          <a:p>
            <a:pPr eaLnBrk="1" hangingPunct="1">
              <a:spcAft>
                <a:spcPct val="20000"/>
              </a:spcAft>
              <a:buClr>
                <a:srgbClr val="AC04A0"/>
              </a:buClr>
              <a:buFont typeface="Wingdings" panose="05000000000000000000" pitchFamily="2" charset="2"/>
              <a:buChar char="Ø"/>
            </a:pPr>
            <a:r>
              <a:rPr lang="en-US" altLang="zh-CN" b="1" dirty="0">
                <a:latin typeface="Times New Roman" panose="02020603050405020304" pitchFamily="18" charset="0"/>
                <a:ea typeface="楷体_GB2312" pitchFamily="49" charset="-122"/>
              </a:rPr>
              <a:t> </a:t>
            </a:r>
            <a:r>
              <a:rPr lang="zh-CN" altLang="en-US" sz="2800" b="1" dirty="0">
                <a:latin typeface="楷体_GB2312" pitchFamily="49" charset="-122"/>
                <a:ea typeface="楷体_GB2312" pitchFamily="49" charset="-122"/>
              </a:rPr>
              <a:t>术语和定义：</a:t>
            </a:r>
            <a:endParaRPr lang="en-US" altLang="zh-CN" sz="2800" b="1" dirty="0">
              <a:latin typeface="楷体_GB2312" pitchFamily="49" charset="-122"/>
              <a:ea typeface="楷体_GB2312" pitchFamily="49" charset="-122"/>
            </a:endParaRPr>
          </a:p>
          <a:p>
            <a:pPr lvl="1"/>
            <a:r>
              <a:rPr lang="zh-CN" altLang="en-US" sz="2000" b="1" dirty="0">
                <a:solidFill>
                  <a:srgbClr val="FF0000"/>
                </a:solidFill>
                <a:latin typeface="楷体_GB2312" pitchFamily="49" charset="-122"/>
                <a:ea typeface="楷体_GB2312" pitchFamily="49" charset="-122"/>
              </a:rPr>
              <a:t>安全审计</a:t>
            </a:r>
            <a:r>
              <a:rPr lang="en-US" altLang="zh-CN" sz="2000" b="1" dirty="0">
                <a:solidFill>
                  <a:srgbClr val="FF0000"/>
                </a:solidFill>
                <a:latin typeface="楷体_GB2312" pitchFamily="49" charset="-122"/>
                <a:ea typeface="楷体_GB2312" pitchFamily="49" charset="-122"/>
              </a:rPr>
              <a:t>(security audit): </a:t>
            </a:r>
            <a:r>
              <a:rPr lang="zh-CN" altLang="en-US" sz="2000" b="1" dirty="0">
                <a:solidFill>
                  <a:srgbClr val="000000"/>
                </a:solidFill>
                <a:latin typeface="楷体_GB2312" pitchFamily="49" charset="-122"/>
                <a:ea typeface="楷体_GB2312" pitchFamily="49" charset="-122"/>
              </a:rPr>
              <a:t>对信息系统记录与活动的独立的审查和检查，以测试系统控制的充分程度，确保符合已建立的安全策略和操作过程，检测出安全违规，并对在控制、安全策略和过程中指示的变化提出建议。</a:t>
            </a:r>
            <a:endParaRPr lang="en-US" altLang="zh-CN" sz="2000" b="1" dirty="0">
              <a:solidFill>
                <a:srgbClr val="000000"/>
              </a:solidFill>
              <a:latin typeface="楷体_GB2312" pitchFamily="49" charset="-122"/>
              <a:ea typeface="楷体_GB2312" pitchFamily="49" charset="-122"/>
            </a:endParaRPr>
          </a:p>
          <a:p>
            <a:pPr lvl="1"/>
            <a:r>
              <a:rPr lang="zh-CN" altLang="en-US" sz="2000" b="1" dirty="0">
                <a:solidFill>
                  <a:srgbClr val="FF0000"/>
                </a:solidFill>
                <a:latin typeface="楷体_GB2312" pitchFamily="49" charset="-122"/>
                <a:ea typeface="楷体_GB2312" pitchFamily="49" charset="-122"/>
              </a:rPr>
              <a:t>风险评估</a:t>
            </a:r>
            <a:r>
              <a:rPr lang="en-US" altLang="zh-CN" sz="2000" b="1" dirty="0">
                <a:solidFill>
                  <a:srgbClr val="FF0000"/>
                </a:solidFill>
                <a:latin typeface="楷体_GB2312" pitchFamily="49" charset="-122"/>
                <a:ea typeface="楷体_GB2312" pitchFamily="49" charset="-122"/>
              </a:rPr>
              <a:t>(risk assessment): </a:t>
            </a:r>
            <a:r>
              <a:rPr lang="zh-CN" altLang="en-US" sz="2000" b="1" dirty="0">
                <a:solidFill>
                  <a:srgbClr val="000000"/>
                </a:solidFill>
                <a:latin typeface="楷体_GB2312" pitchFamily="49" charset="-122"/>
                <a:ea typeface="楷体_GB2312" pitchFamily="49" charset="-122"/>
              </a:rPr>
              <a:t>风险识别、分析、估值的全过程，其目标是确定和估算风险值。</a:t>
            </a:r>
            <a:endParaRPr lang="en-US" altLang="zh-CN" sz="2000" b="1" dirty="0">
              <a:solidFill>
                <a:srgbClr val="000000"/>
              </a:solidFill>
              <a:latin typeface="楷体_GB2312" pitchFamily="49" charset="-122"/>
              <a:ea typeface="楷体_GB2312" pitchFamily="49" charset="-122"/>
            </a:endParaRPr>
          </a:p>
          <a:p>
            <a:pPr lvl="1" eaLnBrk="1" hangingPunct="1">
              <a:spcAft>
                <a:spcPct val="20000"/>
              </a:spcAft>
              <a:buClr>
                <a:srgbClr val="AC04A0"/>
              </a:buClr>
            </a:pPr>
            <a:r>
              <a:rPr lang="zh-CN" altLang="en-US" sz="2000" b="1" dirty="0">
                <a:solidFill>
                  <a:srgbClr val="FF0000"/>
                </a:solidFill>
                <a:latin typeface="楷体_GB2312" pitchFamily="49" charset="-122"/>
                <a:ea typeface="楷体_GB2312" pitchFamily="49" charset="-122"/>
              </a:rPr>
              <a:t>安全策略</a:t>
            </a:r>
            <a:r>
              <a:rPr lang="en-US" altLang="zh-CN" sz="2000" b="1" dirty="0">
                <a:solidFill>
                  <a:srgbClr val="FF0000"/>
                </a:solidFill>
                <a:latin typeface="楷体_GB2312" pitchFamily="49" charset="-122"/>
                <a:ea typeface="楷体_GB2312" pitchFamily="49" charset="-122"/>
              </a:rPr>
              <a:t>(security policy):</a:t>
            </a:r>
            <a:r>
              <a:rPr lang="zh-CN" altLang="en-US" sz="2000" b="1" dirty="0">
                <a:solidFill>
                  <a:srgbClr val="000000"/>
                </a:solidFill>
                <a:latin typeface="楷体_GB2312" pitchFamily="49" charset="-122"/>
                <a:ea typeface="楷体_GB2312" pitchFamily="49" charset="-122"/>
              </a:rPr>
              <a:t>一个组织为其运转而规定的一个或多个安全规则、规程、惯例和指南。</a:t>
            </a:r>
            <a:endParaRPr lang="en-US" altLang="zh-CN" sz="2000" b="1" dirty="0">
              <a:solidFill>
                <a:srgbClr val="000000"/>
              </a:solidFill>
              <a:latin typeface="楷体_GB2312" pitchFamily="49" charset="-122"/>
              <a:ea typeface="楷体_GB2312" pitchFamily="49" charset="-122"/>
            </a:endParaRPr>
          </a:p>
          <a:p>
            <a:pPr lvl="1"/>
            <a:r>
              <a:rPr lang="zh-CN" altLang="en-US" sz="2000" b="1" dirty="0">
                <a:solidFill>
                  <a:srgbClr val="FF0000"/>
                </a:solidFill>
                <a:latin typeface="楷体_GB2312" pitchFamily="49" charset="-122"/>
                <a:ea typeface="楷体_GB2312" pitchFamily="49" charset="-122"/>
              </a:rPr>
              <a:t>监测验证</a:t>
            </a:r>
            <a:r>
              <a:rPr lang="en-US" altLang="zh-CN" sz="2000" b="1" dirty="0">
                <a:solidFill>
                  <a:srgbClr val="FF0000"/>
                </a:solidFill>
                <a:latin typeface="楷体_GB2312" pitchFamily="49" charset="-122"/>
                <a:ea typeface="楷体_GB2312" pitchFamily="49" charset="-122"/>
              </a:rPr>
              <a:t>(validate by inspect and test):</a:t>
            </a:r>
            <a:r>
              <a:rPr lang="zh-CN" altLang="en-US" sz="2000" b="1" dirty="0">
                <a:solidFill>
                  <a:srgbClr val="000000"/>
                </a:solidFill>
                <a:latin typeface="楷体_GB2312" pitchFamily="49" charset="-122"/>
                <a:ea typeface="楷体_GB2312" pitchFamily="49" charset="-122"/>
              </a:rPr>
              <a:t>通过对与安全管理有关的监测信息</a:t>
            </a:r>
            <a:r>
              <a:rPr lang="en-US" altLang="zh-CN" sz="2000" b="1" dirty="0">
                <a:solidFill>
                  <a:srgbClr val="000000"/>
                </a:solidFill>
                <a:latin typeface="楷体_GB2312" pitchFamily="49" charset="-122"/>
                <a:ea typeface="楷体_GB2312" pitchFamily="49" charset="-122"/>
              </a:rPr>
              <a:t>(</a:t>
            </a:r>
            <a:r>
              <a:rPr lang="zh-CN" altLang="en-US" sz="2000" b="1" dirty="0">
                <a:solidFill>
                  <a:srgbClr val="000000"/>
                </a:solidFill>
                <a:latin typeface="楷体_GB2312" pitchFamily="49" charset="-122"/>
                <a:ea typeface="楷体_GB2312" pitchFamily="49" charset="-122"/>
              </a:rPr>
              <a:t>包括审计信息以及各种监测、监控机制收集的信息</a:t>
            </a:r>
            <a:r>
              <a:rPr lang="en-US" altLang="zh-CN" sz="2000" b="1" dirty="0">
                <a:solidFill>
                  <a:srgbClr val="000000"/>
                </a:solidFill>
                <a:latin typeface="楷体_GB2312" pitchFamily="49" charset="-122"/>
                <a:ea typeface="楷体_GB2312" pitchFamily="49" charset="-122"/>
              </a:rPr>
              <a:t>)</a:t>
            </a:r>
            <a:r>
              <a:rPr lang="zh-CN" altLang="en-US" sz="2000" b="1" dirty="0">
                <a:solidFill>
                  <a:srgbClr val="000000"/>
                </a:solidFill>
                <a:latin typeface="楷体_GB2312" pitchFamily="49" charset="-122"/>
                <a:ea typeface="楷体_GB2312" pitchFamily="49" charset="-122"/>
              </a:rPr>
              <a:t>的分析，对安全管理实施的有效性进行验证的过程。</a:t>
            </a:r>
          </a:p>
          <a:p>
            <a:pPr lvl="1"/>
            <a:endParaRPr lang="en-US" altLang="zh-CN" sz="2400" b="1" dirty="0">
              <a:latin typeface="楷体_GB2312" pitchFamily="49" charset="-122"/>
              <a:ea typeface="楷体_GB2312" pitchFamily="49" charset="-122"/>
            </a:endParaRPr>
          </a:p>
          <a:p>
            <a:pPr eaLnBrk="1" hangingPunct="1">
              <a:buNone/>
            </a:pPr>
            <a:endParaRPr lang="zh-CN" altLang="en-US" dirty="0">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fade">
                                      <p:cBhvr>
                                        <p:cTn id="17" dur="2000"/>
                                        <p:tgtEl>
                                          <p:spTgt spid="194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xEl>
                                              <p:pRg st="4" end="4"/>
                                            </p:txEl>
                                          </p:spTgt>
                                        </p:tgtEl>
                                        <p:attrNameLst>
                                          <p:attrName>style.visibility</p:attrName>
                                        </p:attrNameLst>
                                      </p:cBhvr>
                                      <p:to>
                                        <p:strVal val="visible"/>
                                      </p:to>
                                    </p:set>
                                    <p:animEffect transition="in" filter="fade">
                                      <p:cBhvr>
                                        <p:cTn id="22" dur="2000"/>
                                        <p:tgtEl>
                                          <p:spTgt spid="194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信息系统安全管理测评</a:t>
            </a:r>
          </a:p>
        </p:txBody>
      </p:sp>
      <p:sp>
        <p:nvSpPr>
          <p:cNvPr id="19459" name="内容占位符 2"/>
          <p:cNvSpPr>
            <a:spLocks noGrp="1" noChangeArrowheads="1"/>
          </p:cNvSpPr>
          <p:nvPr>
            <p:ph idx="1"/>
          </p:nvPr>
        </p:nvSpPr>
        <p:spPr>
          <a:xfrm>
            <a:off x="304800" y="990600"/>
            <a:ext cx="8534400" cy="55626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zh-CN" altLang="en-US"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管理</a:t>
            </a:r>
            <a:r>
              <a:rPr kumimoji="0" lang="zh-CN" altLang="en-US" sz="32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评估的基本原则：</a:t>
            </a:r>
            <a:endParaRPr kumimoji="0" lang="en-US" altLang="zh-CN" sz="32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对</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信息系统安全管理的评估除应坚持科学性、有效性、公正性等基本原则外，还应遵循以下原则：</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体系化</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原则</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标准化</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原则</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一致性</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原则</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风险</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可控性原则</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安全管理</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保证原则</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安全性</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和公正性原则</a:t>
            </a:r>
          </a:p>
        </p:txBody>
      </p:sp>
    </p:spTree>
  </p:cSld>
  <p:clrMapOvr>
    <a:masterClrMapping/>
  </p:clrMapOvr>
  <p:transition>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信息系统安全管理测评</a:t>
            </a:r>
          </a:p>
        </p:txBody>
      </p:sp>
      <p:sp>
        <p:nvSpPr>
          <p:cNvPr id="19459" name="内容占位符 2"/>
          <p:cNvSpPr>
            <a:spLocks noGrp="1" noChangeArrowheads="1"/>
          </p:cNvSpPr>
          <p:nvPr>
            <p:ph idx="1"/>
          </p:nvPr>
        </p:nvSpPr>
        <p:spPr>
          <a:xfrm>
            <a:off x="152400" y="1143000"/>
            <a:ext cx="8839200" cy="54864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r>
              <a:rPr kumimoji="0" lang="zh-CN" altLang="en-US"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评估</a:t>
            </a:r>
            <a:r>
              <a:rPr kumimoji="0" lang="zh-CN" altLang="en-US" sz="32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方法：</a:t>
            </a:r>
            <a:endParaRPr kumimoji="0" lang="en-US" altLang="zh-CN" sz="32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1、</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调查</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性访谈</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调查</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性访谈主要对象</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a)</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组织的领导、信息化主管领导、信息部门领导；</a:t>
            </a: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b)</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物理安全主管及资产管理、机房值守、机房维护人员；</a:t>
            </a: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c)</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运行维护主管及网络管理、系统管理、数据库管理、应用软件维护、硬件维护、文档介质管理人员等。</a:t>
            </a: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rgbClr val="000000"/>
              </a:solidFill>
              <a:effectLst/>
              <a:uLnTx/>
              <a:uFillTx/>
              <a:latin typeface="+mn-lt"/>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en-US" sz="2800" b="1" i="0" u="none" strike="noStrike" kern="0" cap="none" spc="0" normalizeH="0" baseline="0" noProof="0" dirty="0">
              <a:ln>
                <a:noFill/>
              </a:ln>
              <a:solidFill>
                <a:srgbClr val="000000"/>
              </a:solidFill>
              <a:effectLst/>
              <a:uLnTx/>
              <a:uFillTx/>
              <a:latin typeface="+mn-lt"/>
              <a:ea typeface="楷体_GB2312" pitchFamily="49" charset="-122"/>
            </a:endParaRPr>
          </a:p>
        </p:txBody>
      </p:sp>
      <p:sp>
        <p:nvSpPr>
          <p:cNvPr id="38916" name="左大括号 2"/>
          <p:cNvSpPr/>
          <p:nvPr/>
        </p:nvSpPr>
        <p:spPr>
          <a:xfrm>
            <a:off x="1524000" y="4038600"/>
            <a:ext cx="457200" cy="685800"/>
          </a:xfrm>
          <a:prstGeom prst="leftBrace">
            <a:avLst>
              <a:gd name="adj1" fmla="val 8326"/>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38917" name="左大括号 3"/>
          <p:cNvSpPr/>
          <p:nvPr/>
        </p:nvSpPr>
        <p:spPr>
          <a:xfrm>
            <a:off x="1295400" y="4038600"/>
            <a:ext cx="384175" cy="762000"/>
          </a:xfrm>
          <a:prstGeom prst="leftBrace">
            <a:avLst>
              <a:gd name="adj1" fmla="val 8319"/>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38918" name="左大括号 4"/>
          <p:cNvSpPr/>
          <p:nvPr/>
        </p:nvSpPr>
        <p:spPr>
          <a:xfrm>
            <a:off x="1487488" y="4038600"/>
            <a:ext cx="46037" cy="685800"/>
          </a:xfrm>
          <a:prstGeom prst="leftBrace">
            <a:avLst>
              <a:gd name="adj1" fmla="val 8206"/>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38919" name="左大括号 5"/>
          <p:cNvSpPr/>
          <p:nvPr/>
        </p:nvSpPr>
        <p:spPr>
          <a:xfrm>
            <a:off x="1509713" y="4335463"/>
            <a:ext cx="1843087" cy="46037"/>
          </a:xfrm>
          <a:prstGeom prst="leftBrace">
            <a:avLst>
              <a:gd name="adj1" fmla="val 8328"/>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38920" name="左大括号 6"/>
          <p:cNvSpPr/>
          <p:nvPr/>
        </p:nvSpPr>
        <p:spPr>
          <a:xfrm>
            <a:off x="2432050" y="4359275"/>
            <a:ext cx="46038" cy="669925"/>
          </a:xfrm>
          <a:prstGeom prst="leftBrace">
            <a:avLst>
              <a:gd name="adj1" fmla="val 8218"/>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38921" name="左大括号 7"/>
          <p:cNvSpPr/>
          <p:nvPr/>
        </p:nvSpPr>
        <p:spPr>
          <a:xfrm>
            <a:off x="3429000" y="5029200"/>
            <a:ext cx="155575" cy="914400"/>
          </a:xfrm>
          <a:prstGeom prst="leftBrace">
            <a:avLst>
              <a:gd name="adj1" fmla="val 8299"/>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38922" name="矩形 9"/>
          <p:cNvSpPr/>
          <p:nvPr/>
        </p:nvSpPr>
        <p:spPr>
          <a:xfrm>
            <a:off x="1679575" y="3352800"/>
            <a:ext cx="2816225" cy="1219200"/>
          </a:xfrm>
          <a:prstGeom prst="rect">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38923" name="左大括号 10"/>
          <p:cNvSpPr/>
          <p:nvPr/>
        </p:nvSpPr>
        <p:spPr>
          <a:xfrm>
            <a:off x="914400" y="3352800"/>
            <a:ext cx="76200" cy="685800"/>
          </a:xfrm>
          <a:prstGeom prst="leftBrace">
            <a:avLst>
              <a:gd name="adj1" fmla="val 8291"/>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38924" name="矩形 11"/>
          <p:cNvSpPr/>
          <p:nvPr/>
        </p:nvSpPr>
        <p:spPr>
          <a:xfrm>
            <a:off x="685800" y="3581400"/>
            <a:ext cx="1219200" cy="609600"/>
          </a:xfrm>
          <a:prstGeom prst="rect">
            <a:avLst/>
          </a:prstGeom>
          <a:noFill/>
          <a:ln w="9525">
            <a:noFill/>
          </a:ln>
        </p:spPr>
        <p:txBody>
          <a:bodyPr>
            <a:spAutoFit/>
          </a:bodyPr>
          <a:lstStyle/>
          <a:p>
            <a:pPr algn="ctr"/>
            <a:endParaRPr lang="zh-CN" altLang="en-US" dirty="0">
              <a:latin typeface="Times New Roman" panose="02020603050405020304" pitchFamily="18" charset="0"/>
            </a:endParaRPr>
          </a:p>
        </p:txBody>
      </p:sp>
    </p:spTree>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信息系统安全管理测评</a:t>
            </a:r>
          </a:p>
        </p:txBody>
      </p:sp>
      <p:sp>
        <p:nvSpPr>
          <p:cNvPr id="19459" name="内容占位符 2"/>
          <p:cNvSpPr>
            <a:spLocks noGrp="1" noChangeArrowheads="1"/>
          </p:cNvSpPr>
          <p:nvPr>
            <p:ph idx="1"/>
          </p:nvPr>
        </p:nvSpPr>
        <p:spPr>
          <a:xfrm>
            <a:off x="0" y="1066800"/>
            <a:ext cx="8534400" cy="5791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r>
              <a:rPr kumimoji="0" lang="zh-CN" altLang="en-US"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评估方法：</a:t>
            </a:r>
            <a:endParaRPr kumimoji="0" lang="en-US" altLang="zh-CN"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调查</a:t>
            </a:r>
            <a:r>
              <a:rPr kumimoji="0" lang="zh-CN" altLang="en-US"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性访谈准备</a:t>
            </a:r>
            <a:endParaRPr kumimoji="0" lang="en-US" altLang="zh-CN"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1143000" marR="0" lvl="2" indent="-22860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调查性访谈前，应准备调查问卷，提高访谈效率。确保问题的答案是“是／否／不确定”</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a:t>
            </a:r>
            <a:endPar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endParaRPr>
          </a:p>
          <a:p>
            <a:pPr marL="1143000" marR="0" lvl="2" indent="-228600" algn="l" defTabSz="914400" rtl="0" eaLnBrk="1" fontAlgn="base" latinLnBrk="0" hangingPunct="1">
              <a:lnSpc>
                <a:spcPct val="100000"/>
              </a:lnSpc>
              <a:spcBef>
                <a:spcPct val="20000"/>
              </a:spcBef>
              <a:spcAft>
                <a:spcPct val="0"/>
              </a:spcAft>
              <a:buClr>
                <a:schemeClr val="tx1"/>
              </a:buClr>
              <a:buSzTx/>
              <a:buFontTx/>
              <a:buChar char="•"/>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对</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等级要求明确的内容应建立检查表，确保检查表结构清晰，提高数据取得的一致性。</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en-US" sz="2800" b="1" i="0" u="none" strike="noStrike" kern="0" cap="none" spc="0" normalizeH="0" baseline="0" noProof="0" dirty="0" smtClean="0">
              <a:ln>
                <a:noFill/>
              </a:ln>
              <a:solidFill>
                <a:srgbClr val="000000"/>
              </a:solidFill>
              <a:effectLst/>
              <a:uLnTx/>
              <a:uFillTx/>
              <a:latin typeface="+mn-lt"/>
              <a:ea typeface="楷体_GB2312" pitchFamily="49" charset="-122"/>
            </a:endParaRPr>
          </a:p>
        </p:txBody>
      </p:sp>
      <p:sp>
        <p:nvSpPr>
          <p:cNvPr id="39940" name="左大括号 2"/>
          <p:cNvSpPr/>
          <p:nvPr/>
        </p:nvSpPr>
        <p:spPr>
          <a:xfrm>
            <a:off x="1524000" y="4038600"/>
            <a:ext cx="457200" cy="685800"/>
          </a:xfrm>
          <a:prstGeom prst="leftBrace">
            <a:avLst>
              <a:gd name="adj1" fmla="val 8326"/>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39941" name="左大括号 3"/>
          <p:cNvSpPr/>
          <p:nvPr/>
        </p:nvSpPr>
        <p:spPr>
          <a:xfrm>
            <a:off x="1295400" y="4038600"/>
            <a:ext cx="384175" cy="762000"/>
          </a:xfrm>
          <a:prstGeom prst="leftBrace">
            <a:avLst>
              <a:gd name="adj1" fmla="val 8319"/>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39942" name="左大括号 4"/>
          <p:cNvSpPr/>
          <p:nvPr/>
        </p:nvSpPr>
        <p:spPr>
          <a:xfrm>
            <a:off x="1487488" y="4038600"/>
            <a:ext cx="46037" cy="685800"/>
          </a:xfrm>
          <a:prstGeom prst="leftBrace">
            <a:avLst>
              <a:gd name="adj1" fmla="val 8206"/>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39943" name="左大括号 5"/>
          <p:cNvSpPr/>
          <p:nvPr/>
        </p:nvSpPr>
        <p:spPr>
          <a:xfrm>
            <a:off x="1509713" y="4335463"/>
            <a:ext cx="1843087" cy="46037"/>
          </a:xfrm>
          <a:prstGeom prst="leftBrace">
            <a:avLst>
              <a:gd name="adj1" fmla="val 8328"/>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39944" name="左大括号 6"/>
          <p:cNvSpPr/>
          <p:nvPr/>
        </p:nvSpPr>
        <p:spPr>
          <a:xfrm>
            <a:off x="2432050" y="4359275"/>
            <a:ext cx="46038" cy="669925"/>
          </a:xfrm>
          <a:prstGeom prst="leftBrace">
            <a:avLst>
              <a:gd name="adj1" fmla="val 8218"/>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39945" name="左大括号 7"/>
          <p:cNvSpPr/>
          <p:nvPr/>
        </p:nvSpPr>
        <p:spPr>
          <a:xfrm>
            <a:off x="3429000" y="5029200"/>
            <a:ext cx="155575" cy="914400"/>
          </a:xfrm>
          <a:prstGeom prst="leftBrace">
            <a:avLst>
              <a:gd name="adj1" fmla="val 8299"/>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39946" name="矩形 9"/>
          <p:cNvSpPr/>
          <p:nvPr/>
        </p:nvSpPr>
        <p:spPr>
          <a:xfrm>
            <a:off x="1679575" y="3352800"/>
            <a:ext cx="2816225" cy="1219200"/>
          </a:xfrm>
          <a:prstGeom prst="rect">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39947" name="左大括号 10"/>
          <p:cNvSpPr/>
          <p:nvPr/>
        </p:nvSpPr>
        <p:spPr>
          <a:xfrm>
            <a:off x="914400" y="3352800"/>
            <a:ext cx="76200" cy="685800"/>
          </a:xfrm>
          <a:prstGeom prst="leftBrace">
            <a:avLst>
              <a:gd name="adj1" fmla="val 8291"/>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39948" name="矩形 11"/>
          <p:cNvSpPr/>
          <p:nvPr/>
        </p:nvSpPr>
        <p:spPr>
          <a:xfrm>
            <a:off x="685800" y="3581400"/>
            <a:ext cx="1219200" cy="609600"/>
          </a:xfrm>
          <a:prstGeom prst="rect">
            <a:avLst/>
          </a:prstGeom>
          <a:noFill/>
          <a:ln w="9525">
            <a:noFill/>
          </a:ln>
        </p:spPr>
        <p:txBody>
          <a:bodyPr>
            <a:spAutoFit/>
          </a:bodyPr>
          <a:lstStyle/>
          <a:p>
            <a:pPr algn="ctr"/>
            <a:endParaRPr lang="zh-CN" altLang="en-US"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charRg st="7" end="17"/>
                                            </p:txEl>
                                          </p:spTgt>
                                        </p:tgtEl>
                                        <p:attrNameLst>
                                          <p:attrName>style.visibility</p:attrName>
                                        </p:attrNameLst>
                                      </p:cBhvr>
                                      <p:to>
                                        <p:strVal val="visible"/>
                                      </p:to>
                                    </p:set>
                                    <p:animEffect transition="in" filter="fade">
                                      <p:cBhvr>
                                        <p:cTn id="7" dur="2000"/>
                                        <p:tgtEl>
                                          <p:spTgt spid="19459">
                                            <p:txEl>
                                              <p:charRg st="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信息系统安全管理测评</a:t>
            </a:r>
          </a:p>
        </p:txBody>
      </p:sp>
      <p:sp>
        <p:nvSpPr>
          <p:cNvPr id="19459" name="内容占位符 2"/>
          <p:cNvSpPr>
            <a:spLocks noGrp="1" noChangeArrowheads="1"/>
          </p:cNvSpPr>
          <p:nvPr>
            <p:ph idx="1"/>
          </p:nvPr>
        </p:nvSpPr>
        <p:spPr>
          <a:xfrm>
            <a:off x="76200" y="1143000"/>
            <a:ext cx="8915400" cy="54864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 </a:t>
            </a: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评估方法：</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调查</a:t>
            </a:r>
            <a:r>
              <a:rPr kumimoji="0" lang="zh-CN" altLang="en-US"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性访谈阶段划分</a:t>
            </a:r>
            <a:endParaRPr kumimoji="0" lang="en-US" altLang="zh-CN"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  </a:t>
            </a: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调查</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性访谈是从被评估单位相关组织中的成员以及其他机构获得评估证据的一种方法。调查性访谈应划分为以下阶段：</a:t>
            </a:r>
          </a:p>
          <a:p>
            <a:pPr marL="1143000" marR="0" lvl="2" indent="-22860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a</a:t>
            </a:r>
            <a:r>
              <a:rPr kumimoji="0" lang="en-US" altLang="zh-CN"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a:t>
            </a:r>
            <a:r>
              <a:rPr kumimoji="0"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初步访谈：用于收集信息安全管理体系的一般信息，策划后续各种访谈战略；</a:t>
            </a:r>
          </a:p>
          <a:p>
            <a:pPr marL="1143000" marR="0" lvl="2" indent="-22860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b</a:t>
            </a:r>
            <a:r>
              <a:rPr kumimoji="0" lang="en-US" altLang="zh-CN"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a:t>
            </a:r>
            <a:r>
              <a:rPr kumimoji="0"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实事收集访谈：主要用于根据安全管理体系特定要求，针对特定对象的访谈</a:t>
            </a:r>
            <a:r>
              <a:rPr kumimoji="0" lang="zh-CN" altLang="en-US"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a:t>
            </a:r>
            <a:endParaRPr kumimoji="0" lang="en-US" altLang="zh-CN"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endParaRPr>
          </a:p>
          <a:p>
            <a:pPr marL="1143000" marR="0" lvl="2" indent="-22860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000" b="1" i="0" u="none" strike="noStrike" kern="0" cap="none" spc="0" normalizeH="0" baseline="0" noProof="0" dirty="0" smtClean="0">
                <a:ln>
                  <a:noFill/>
                </a:ln>
                <a:solidFill>
                  <a:srgbClr val="000000"/>
                </a:solidFill>
                <a:effectLst/>
                <a:uLnTx/>
                <a:uFillTx/>
                <a:latin typeface="楷体_GB2312"/>
                <a:ea typeface="楷体_GB2312"/>
                <a:cs typeface="楷体_GB2312"/>
              </a:rPr>
              <a:t>c)</a:t>
            </a:r>
            <a:r>
              <a:rPr kumimoji="0" lang="zh-CN" altLang="en-US" sz="2000" b="1" i="0" u="none" strike="noStrike" kern="0" cap="none" spc="0" normalizeH="0" baseline="0" noProof="0" dirty="0" smtClean="0">
                <a:ln>
                  <a:noFill/>
                </a:ln>
                <a:solidFill>
                  <a:srgbClr val="000000"/>
                </a:solidFill>
                <a:effectLst/>
                <a:uLnTx/>
                <a:uFillTx/>
                <a:latin typeface="楷体_GB2312"/>
                <a:ea typeface="楷体_GB2312"/>
                <a:cs typeface="楷体_GB2312"/>
              </a:rPr>
              <a:t>后续深入访谈：主要是在对事实收集访谈收集到的信息进行分析并发现问题后进行的，目的是寻找解决问题的答案；</a:t>
            </a:r>
          </a:p>
          <a:p>
            <a:pPr marL="1143000" marR="0" lvl="2" indent="-228600" algn="l" defTabSz="914400" rtl="0" eaLnBrk="1" fontAlgn="base" latinLnBrk="0" hangingPunct="1">
              <a:lnSpc>
                <a:spcPct val="100000"/>
              </a:lnSpc>
              <a:spcBef>
                <a:spcPct val="20000"/>
              </a:spcBef>
              <a:spcAft>
                <a:spcPct val="0"/>
              </a:spcAft>
              <a:buClr>
                <a:schemeClr val="tx1"/>
              </a:buClr>
              <a:buSzTx/>
              <a:buFontTx/>
              <a:buChar char="•"/>
              <a:defRPr/>
            </a:pPr>
            <a:r>
              <a:rPr kumimoji="0" lang="en-US" altLang="zh-CN" sz="2000" b="1" i="0" u="none" strike="noStrike" kern="0" cap="none" spc="0" normalizeH="0" baseline="0" noProof="0" dirty="0" smtClean="0">
                <a:ln>
                  <a:noFill/>
                </a:ln>
                <a:solidFill>
                  <a:srgbClr val="000000"/>
                </a:solidFill>
                <a:effectLst/>
                <a:uLnTx/>
                <a:uFillTx/>
                <a:latin typeface="楷体_GB2312"/>
                <a:ea typeface="楷体_GB2312"/>
                <a:cs typeface="楷体_GB2312"/>
              </a:rPr>
              <a:t>d)</a:t>
            </a:r>
            <a:r>
              <a:rPr kumimoji="0" lang="zh-CN" altLang="en-US" sz="2000" b="1" i="0" u="none" strike="noStrike" kern="0" cap="none" spc="0" normalizeH="0" baseline="0" noProof="0" dirty="0" smtClean="0">
                <a:ln>
                  <a:noFill/>
                </a:ln>
                <a:solidFill>
                  <a:srgbClr val="000000"/>
                </a:solidFill>
                <a:effectLst/>
                <a:uLnTx/>
                <a:uFillTx/>
                <a:latin typeface="楷体_GB2312"/>
                <a:ea typeface="楷体_GB2312"/>
                <a:cs typeface="楷体_GB2312"/>
              </a:rPr>
              <a:t>结案性访谈：指评估工作结束时的会议，通过与被评估单位进行会议讨论，保证评估结论、评估发现、建议的正确性。</a:t>
            </a:r>
            <a:endParaRPr kumimoji="0" lang="en-US" altLang="zh-CN" sz="2000" b="1" i="0" u="none" strike="noStrike" kern="0" cap="none" spc="0" normalizeH="0" baseline="0" noProof="0" dirty="0" smtClean="0">
              <a:ln>
                <a:noFill/>
              </a:ln>
              <a:solidFill>
                <a:srgbClr val="000000"/>
              </a:solidFill>
              <a:effectLst/>
              <a:uLnTx/>
              <a:uFillTx/>
              <a:latin typeface="+mn-lt"/>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en-US" sz="2800" b="1" i="0" u="none" strike="noStrike" kern="0" cap="none" spc="0" normalizeH="0" baseline="0" noProof="0" dirty="0">
              <a:ln>
                <a:noFill/>
              </a:ln>
              <a:solidFill>
                <a:srgbClr val="000000"/>
              </a:solidFill>
              <a:effectLst/>
              <a:uLnTx/>
              <a:uFillTx/>
              <a:latin typeface="+mn-lt"/>
              <a:ea typeface="楷体_GB2312" pitchFamily="49" charset="-122"/>
            </a:endParaRPr>
          </a:p>
        </p:txBody>
      </p:sp>
      <p:sp>
        <p:nvSpPr>
          <p:cNvPr id="40964" name="左大括号 3"/>
          <p:cNvSpPr/>
          <p:nvPr/>
        </p:nvSpPr>
        <p:spPr>
          <a:xfrm>
            <a:off x="1295400" y="4038600"/>
            <a:ext cx="384175" cy="762000"/>
          </a:xfrm>
          <a:prstGeom prst="leftBrace">
            <a:avLst>
              <a:gd name="adj1" fmla="val 8319"/>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0965" name="左大括号 4"/>
          <p:cNvSpPr/>
          <p:nvPr/>
        </p:nvSpPr>
        <p:spPr>
          <a:xfrm>
            <a:off x="1487488" y="4038600"/>
            <a:ext cx="46037" cy="685800"/>
          </a:xfrm>
          <a:prstGeom prst="leftBrace">
            <a:avLst>
              <a:gd name="adj1" fmla="val 8206"/>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0966" name="左大括号 5"/>
          <p:cNvSpPr/>
          <p:nvPr/>
        </p:nvSpPr>
        <p:spPr>
          <a:xfrm>
            <a:off x="1509713" y="4335463"/>
            <a:ext cx="1843087" cy="46037"/>
          </a:xfrm>
          <a:prstGeom prst="leftBrace">
            <a:avLst>
              <a:gd name="adj1" fmla="val 8328"/>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0967" name="左大括号 6"/>
          <p:cNvSpPr/>
          <p:nvPr/>
        </p:nvSpPr>
        <p:spPr>
          <a:xfrm>
            <a:off x="2432050" y="4359275"/>
            <a:ext cx="46038" cy="669925"/>
          </a:xfrm>
          <a:prstGeom prst="leftBrace">
            <a:avLst>
              <a:gd name="adj1" fmla="val 8218"/>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0968" name="左大括号 7"/>
          <p:cNvSpPr/>
          <p:nvPr/>
        </p:nvSpPr>
        <p:spPr>
          <a:xfrm>
            <a:off x="3429000" y="5029200"/>
            <a:ext cx="155575" cy="914400"/>
          </a:xfrm>
          <a:prstGeom prst="leftBrace">
            <a:avLst>
              <a:gd name="adj1" fmla="val 8299"/>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0969" name="左大括号 10"/>
          <p:cNvSpPr/>
          <p:nvPr/>
        </p:nvSpPr>
        <p:spPr>
          <a:xfrm>
            <a:off x="914400" y="3352800"/>
            <a:ext cx="76200" cy="685800"/>
          </a:xfrm>
          <a:prstGeom prst="leftBrace">
            <a:avLst>
              <a:gd name="adj1" fmla="val 8291"/>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0970" name="矩形 11"/>
          <p:cNvSpPr/>
          <p:nvPr/>
        </p:nvSpPr>
        <p:spPr>
          <a:xfrm>
            <a:off x="685800" y="3581400"/>
            <a:ext cx="1219200" cy="609600"/>
          </a:xfrm>
          <a:prstGeom prst="rect">
            <a:avLst/>
          </a:prstGeom>
          <a:noFill/>
          <a:ln w="9525">
            <a:noFill/>
          </a:ln>
        </p:spPr>
        <p:txBody>
          <a:bodyPr>
            <a:spAutoFit/>
          </a:bodyPr>
          <a:lstStyle/>
          <a:p>
            <a:pPr algn="ctr"/>
            <a:endParaRPr lang="zh-CN" altLang="en-US"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信息系统安全管理测评</a:t>
            </a:r>
          </a:p>
        </p:txBody>
      </p:sp>
      <p:sp>
        <p:nvSpPr>
          <p:cNvPr id="19459" name="内容占位符 2"/>
          <p:cNvSpPr>
            <a:spLocks noGrp="1" noChangeArrowheads="1"/>
          </p:cNvSpPr>
          <p:nvPr>
            <p:ph idx="1"/>
          </p:nvPr>
        </p:nvSpPr>
        <p:spPr>
          <a:xfrm>
            <a:off x="152400" y="1066800"/>
            <a:ext cx="8686800" cy="54864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 </a:t>
            </a: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评估方法：</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调查</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性访谈质量控制</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1200150" marR="0" lvl="2" indent="-34290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应从</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访谈对象的广度和访谈内容的深度进行控制</a:t>
            </a: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a:t>
            </a:r>
            <a:endParaRPr kumimoji="0" lang="en-US" altLang="zh-CN"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endParaRPr>
          </a:p>
          <a:p>
            <a:pPr marL="1200150" marR="0" lvl="2" indent="-34290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根据</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不同安全等级的不同要求，调查性访谈的质量控制分为：</a:t>
            </a: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rgbClr val="000000"/>
              </a:solidFill>
              <a:effectLst/>
              <a:uLnTx/>
              <a:uFillTx/>
              <a:latin typeface="+mn-lt"/>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en-US" sz="2800" b="1" i="0" u="none" strike="noStrike" kern="0" cap="none" spc="0" normalizeH="0" baseline="0" noProof="0" dirty="0">
              <a:ln>
                <a:noFill/>
              </a:ln>
              <a:solidFill>
                <a:srgbClr val="000000"/>
              </a:solidFill>
              <a:effectLst/>
              <a:uLnTx/>
              <a:uFillTx/>
              <a:latin typeface="+mn-lt"/>
              <a:ea typeface="楷体_GB2312" pitchFamily="49" charset="-122"/>
            </a:endParaRPr>
          </a:p>
        </p:txBody>
      </p:sp>
      <p:sp>
        <p:nvSpPr>
          <p:cNvPr id="41988" name="左大括号 2"/>
          <p:cNvSpPr/>
          <p:nvPr/>
        </p:nvSpPr>
        <p:spPr>
          <a:xfrm>
            <a:off x="1524000" y="4038600"/>
            <a:ext cx="457200" cy="685800"/>
          </a:xfrm>
          <a:prstGeom prst="leftBrace">
            <a:avLst>
              <a:gd name="adj1" fmla="val 8326"/>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1989" name="左大括号 3"/>
          <p:cNvSpPr/>
          <p:nvPr/>
        </p:nvSpPr>
        <p:spPr>
          <a:xfrm>
            <a:off x="1295400" y="4038600"/>
            <a:ext cx="384175" cy="762000"/>
          </a:xfrm>
          <a:prstGeom prst="leftBrace">
            <a:avLst>
              <a:gd name="adj1" fmla="val 8319"/>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1990" name="左大括号 4"/>
          <p:cNvSpPr/>
          <p:nvPr/>
        </p:nvSpPr>
        <p:spPr>
          <a:xfrm>
            <a:off x="1487488" y="4038600"/>
            <a:ext cx="46037" cy="685800"/>
          </a:xfrm>
          <a:prstGeom prst="leftBrace">
            <a:avLst>
              <a:gd name="adj1" fmla="val 8206"/>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1991" name="左大括号 5"/>
          <p:cNvSpPr/>
          <p:nvPr/>
        </p:nvSpPr>
        <p:spPr>
          <a:xfrm>
            <a:off x="1509713" y="4335463"/>
            <a:ext cx="1843087" cy="46037"/>
          </a:xfrm>
          <a:prstGeom prst="leftBrace">
            <a:avLst>
              <a:gd name="adj1" fmla="val 8328"/>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1992" name="左大括号 6"/>
          <p:cNvSpPr/>
          <p:nvPr/>
        </p:nvSpPr>
        <p:spPr>
          <a:xfrm>
            <a:off x="2432050" y="4359275"/>
            <a:ext cx="46038" cy="669925"/>
          </a:xfrm>
          <a:prstGeom prst="leftBrace">
            <a:avLst>
              <a:gd name="adj1" fmla="val 8218"/>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1993" name="左大括号 7"/>
          <p:cNvSpPr/>
          <p:nvPr/>
        </p:nvSpPr>
        <p:spPr>
          <a:xfrm>
            <a:off x="3429000" y="5029200"/>
            <a:ext cx="155575" cy="914400"/>
          </a:xfrm>
          <a:prstGeom prst="leftBrace">
            <a:avLst>
              <a:gd name="adj1" fmla="val 8299"/>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1994" name="左大括号 10"/>
          <p:cNvSpPr/>
          <p:nvPr/>
        </p:nvSpPr>
        <p:spPr>
          <a:xfrm>
            <a:off x="914400" y="3352800"/>
            <a:ext cx="76200" cy="685800"/>
          </a:xfrm>
          <a:prstGeom prst="leftBrace">
            <a:avLst>
              <a:gd name="adj1" fmla="val 8291"/>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1995" name="矩形 11"/>
          <p:cNvSpPr/>
          <p:nvPr/>
        </p:nvSpPr>
        <p:spPr>
          <a:xfrm>
            <a:off x="685800" y="3581400"/>
            <a:ext cx="1219200" cy="609600"/>
          </a:xfrm>
          <a:prstGeom prst="rect">
            <a:avLst/>
          </a:prstGeom>
          <a:noFill/>
          <a:ln w="9525">
            <a:noFill/>
          </a:ln>
        </p:spPr>
        <p:txBody>
          <a:bodyPr>
            <a:spAutoFit/>
          </a:bodyPr>
          <a:lstStyle/>
          <a:p>
            <a:pPr algn="ctr"/>
            <a:endParaRPr lang="zh-CN" altLang="en-US"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信息系统安全管理测评</a:t>
            </a:r>
          </a:p>
        </p:txBody>
      </p:sp>
      <p:sp>
        <p:nvSpPr>
          <p:cNvPr id="43011" name="内容占位符 2"/>
          <p:cNvSpPr>
            <a:spLocks noGrp="1"/>
          </p:cNvSpPr>
          <p:nvPr>
            <p:ph idx="1"/>
          </p:nvPr>
        </p:nvSpPr>
        <p:spPr>
          <a:xfrm>
            <a:off x="228600" y="1143000"/>
            <a:ext cx="8763000" cy="5334000"/>
          </a:xfrm>
        </p:spPr>
        <p:txBody>
          <a:bodyPr vert="horz" wrap="square" lIns="91440" tIns="45720" rIns="91440" bIns="45720" anchor="t" anchorCtr="0"/>
          <a:lstStyle/>
          <a:p>
            <a:pPr eaLnBrk="1" hangingPunct="1">
              <a:spcAft>
                <a:spcPct val="20000"/>
              </a:spcAft>
              <a:buClr>
                <a:srgbClr val="AC04A0"/>
              </a:buClr>
              <a:buFont typeface="Wingdings" panose="05000000000000000000" pitchFamily="2" charset="2"/>
              <a:buChar char="Ø"/>
            </a:pPr>
            <a:r>
              <a:rPr lang="en-US" altLang="zh-CN" sz="2800" b="1" dirty="0">
                <a:latin typeface="楷体_GB2312" pitchFamily="49" charset="-122"/>
                <a:ea typeface="楷体_GB2312" pitchFamily="49" charset="-122"/>
              </a:rPr>
              <a:t> </a:t>
            </a:r>
            <a:r>
              <a:rPr lang="zh-CN" altLang="en-US" sz="2800" b="1" dirty="0">
                <a:latin typeface="楷体_GB2312" pitchFamily="49" charset="-122"/>
                <a:ea typeface="楷体_GB2312" pitchFamily="49" charset="-122"/>
              </a:rPr>
              <a:t>评估方法：</a:t>
            </a:r>
            <a:endParaRPr lang="en-US" altLang="zh-CN" sz="2800" b="1" dirty="0">
              <a:latin typeface="楷体_GB2312" pitchFamily="49" charset="-122"/>
              <a:ea typeface="楷体_GB2312" pitchFamily="49" charset="-122"/>
            </a:endParaRPr>
          </a:p>
          <a:p>
            <a:pPr marL="457200" lvl="1" indent="0" eaLnBrk="1" hangingPunct="1">
              <a:buNone/>
            </a:pPr>
            <a:endParaRPr lang="en-US" altLang="zh-CN" b="1" dirty="0">
              <a:solidFill>
                <a:srgbClr val="000000"/>
              </a:solidFill>
              <a:ea typeface="楷体_GB2312" pitchFamily="49" charset="-122"/>
            </a:endParaRPr>
          </a:p>
        </p:txBody>
      </p:sp>
      <p:sp>
        <p:nvSpPr>
          <p:cNvPr id="43012" name="左大括号 2"/>
          <p:cNvSpPr/>
          <p:nvPr/>
        </p:nvSpPr>
        <p:spPr>
          <a:xfrm>
            <a:off x="1524000" y="4038600"/>
            <a:ext cx="457200" cy="685800"/>
          </a:xfrm>
          <a:prstGeom prst="leftBrace">
            <a:avLst>
              <a:gd name="adj1" fmla="val 8326"/>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3013" name="左大括号 3"/>
          <p:cNvSpPr/>
          <p:nvPr/>
        </p:nvSpPr>
        <p:spPr>
          <a:xfrm>
            <a:off x="1295400" y="4038600"/>
            <a:ext cx="384175" cy="762000"/>
          </a:xfrm>
          <a:prstGeom prst="leftBrace">
            <a:avLst>
              <a:gd name="adj1" fmla="val 8319"/>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3014" name="左大括号 4"/>
          <p:cNvSpPr/>
          <p:nvPr/>
        </p:nvSpPr>
        <p:spPr>
          <a:xfrm>
            <a:off x="1487488" y="4038600"/>
            <a:ext cx="46037" cy="685800"/>
          </a:xfrm>
          <a:prstGeom prst="leftBrace">
            <a:avLst>
              <a:gd name="adj1" fmla="val 8206"/>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3015" name="左大括号 5"/>
          <p:cNvSpPr/>
          <p:nvPr/>
        </p:nvSpPr>
        <p:spPr>
          <a:xfrm>
            <a:off x="1509713" y="4335463"/>
            <a:ext cx="1843087" cy="46037"/>
          </a:xfrm>
          <a:prstGeom prst="leftBrace">
            <a:avLst>
              <a:gd name="adj1" fmla="val 8328"/>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3016" name="左大括号 6"/>
          <p:cNvSpPr/>
          <p:nvPr/>
        </p:nvSpPr>
        <p:spPr>
          <a:xfrm>
            <a:off x="2432050" y="4359275"/>
            <a:ext cx="46038" cy="669925"/>
          </a:xfrm>
          <a:prstGeom prst="leftBrace">
            <a:avLst>
              <a:gd name="adj1" fmla="val 8218"/>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3017" name="左大括号 7"/>
          <p:cNvSpPr/>
          <p:nvPr/>
        </p:nvSpPr>
        <p:spPr>
          <a:xfrm>
            <a:off x="3429000" y="5029200"/>
            <a:ext cx="155575" cy="914400"/>
          </a:xfrm>
          <a:prstGeom prst="leftBrace">
            <a:avLst>
              <a:gd name="adj1" fmla="val 8299"/>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3018" name="左大括号 10"/>
          <p:cNvSpPr/>
          <p:nvPr/>
        </p:nvSpPr>
        <p:spPr>
          <a:xfrm>
            <a:off x="914400" y="3352800"/>
            <a:ext cx="76200" cy="685800"/>
          </a:xfrm>
          <a:prstGeom prst="leftBrace">
            <a:avLst>
              <a:gd name="adj1" fmla="val 8291"/>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3019" name="矩形 11"/>
          <p:cNvSpPr/>
          <p:nvPr/>
        </p:nvSpPr>
        <p:spPr>
          <a:xfrm>
            <a:off x="685800" y="3581400"/>
            <a:ext cx="1219200" cy="609600"/>
          </a:xfrm>
          <a:prstGeom prst="rect">
            <a:avLst/>
          </a:prstGeom>
          <a:noFill/>
          <a:ln w="9525">
            <a:noFill/>
          </a:ln>
        </p:spPr>
        <p:txBody>
          <a:bodyPr>
            <a:spAutoFit/>
          </a:bodyPr>
          <a:lstStyle/>
          <a:p>
            <a:pPr algn="ctr"/>
            <a:endParaRPr lang="zh-CN" altLang="en-US" dirty="0">
              <a:latin typeface="Times New Roman" panose="02020603050405020304" pitchFamily="18" charset="0"/>
            </a:endParaRPr>
          </a:p>
        </p:txBody>
      </p:sp>
      <p:graphicFrame>
        <p:nvGraphicFramePr>
          <p:cNvPr id="2" name="表格 1"/>
          <p:cNvGraphicFramePr>
            <a:graphicFrameLocks noGrp="1"/>
          </p:cNvGraphicFramePr>
          <p:nvPr/>
        </p:nvGraphicFramePr>
        <p:xfrm>
          <a:off x="495300" y="2106613"/>
          <a:ext cx="8153400" cy="4168776"/>
        </p:xfrm>
        <a:graphic>
          <a:graphicData uri="http://schemas.openxmlformats.org/drawingml/2006/table">
            <a:tbl>
              <a:tblPr firstRow="1" bandRow="1">
                <a:tableStyleId>{5C22544A-7EE6-4342-B048-85BDC9FD1C3A}</a:tableStyleId>
              </a:tblPr>
              <a:tblGrid>
                <a:gridCol w="1287378"/>
                <a:gridCol w="1608294"/>
                <a:gridCol w="2424276"/>
                <a:gridCol w="2833452"/>
              </a:tblGrid>
              <a:tr h="588233">
                <a:tc>
                  <a:txBody>
                    <a:bodyPr/>
                    <a:lstStyle/>
                    <a:p>
                      <a:pPr algn="ctr"/>
                      <a:r>
                        <a:rPr lang="zh-CN" altLang="en-US" sz="1400" b="1" dirty="0" smtClean="0">
                          <a:solidFill>
                            <a:schemeClr val="tx1">
                              <a:lumMod val="60000"/>
                              <a:lumOff val="40000"/>
                            </a:schemeClr>
                          </a:solidFill>
                          <a:latin typeface="+mn-lt"/>
                          <a:ea typeface="楷体_GB2312" pitchFamily="49" charset="-122"/>
                        </a:rPr>
                        <a:t>控制级别</a:t>
                      </a:r>
                      <a:endParaRPr lang="zh-CN" altLang="en-US" sz="1400" b="1" dirty="0">
                        <a:solidFill>
                          <a:schemeClr val="tx1">
                            <a:lumMod val="60000"/>
                            <a:lumOff val="40000"/>
                          </a:schemeClr>
                        </a:solidFill>
                        <a:latin typeface="+mn-lt"/>
                        <a:ea typeface="楷体_GB2312" pitchFamily="49" charset="-122"/>
                      </a:endParaRPr>
                    </a:p>
                  </a:txBody>
                  <a:tcPr marL="91443" marR="91443" marT="45727" marB="45727" anchor="ctr">
                    <a:solidFill>
                      <a:schemeClr val="bg2"/>
                    </a:solidFill>
                  </a:tcPr>
                </a:tc>
                <a:tc>
                  <a:txBody>
                    <a:bodyPr/>
                    <a:lstStyle/>
                    <a:p>
                      <a:pPr algn="ctr"/>
                      <a:r>
                        <a:rPr lang="zh-CN" altLang="en-US" sz="1400" b="1" dirty="0" smtClean="0">
                          <a:solidFill>
                            <a:schemeClr val="tx1">
                              <a:lumMod val="60000"/>
                              <a:lumOff val="40000"/>
                            </a:schemeClr>
                          </a:solidFill>
                          <a:latin typeface="+mn-lt"/>
                          <a:ea typeface="楷体_GB2312" pitchFamily="49" charset="-122"/>
                        </a:rPr>
                        <a:t>访谈对象</a:t>
                      </a:r>
                      <a:endParaRPr lang="zh-CN" altLang="en-US" sz="1400" b="1" dirty="0">
                        <a:solidFill>
                          <a:schemeClr val="tx1">
                            <a:lumMod val="60000"/>
                            <a:lumOff val="40000"/>
                          </a:schemeClr>
                        </a:solidFill>
                        <a:latin typeface="+mn-lt"/>
                        <a:ea typeface="楷体_GB2312" pitchFamily="49" charset="-122"/>
                      </a:endParaRPr>
                    </a:p>
                  </a:txBody>
                  <a:tcPr marL="91443" marR="91443" marT="45727" marB="45727" anchor="ctr">
                    <a:solidFill>
                      <a:schemeClr val="bg2"/>
                    </a:solidFill>
                  </a:tcPr>
                </a:tc>
                <a:tc>
                  <a:txBody>
                    <a:bodyPr/>
                    <a:lstStyle/>
                    <a:p>
                      <a:pPr marL="0" algn="ctr" defTabSz="914400" rtl="0" eaLnBrk="1" latinLnBrk="0" hangingPunct="1"/>
                      <a:r>
                        <a:rPr lang="zh-CN" altLang="en-US" sz="1400" b="1" kern="1200" dirty="0" smtClean="0">
                          <a:solidFill>
                            <a:schemeClr val="tx1">
                              <a:lumMod val="60000"/>
                              <a:lumOff val="40000"/>
                            </a:schemeClr>
                          </a:solidFill>
                          <a:latin typeface="+mn-lt"/>
                          <a:ea typeface="楷体_GB2312" pitchFamily="49" charset="-122"/>
                          <a:cs typeface="+mn-cs"/>
                        </a:rPr>
                        <a:t>访谈要求</a:t>
                      </a:r>
                      <a:endParaRPr lang="zh-CN" altLang="en-US" sz="1400" b="1" kern="1200" dirty="0">
                        <a:solidFill>
                          <a:schemeClr val="tx1">
                            <a:lumMod val="60000"/>
                            <a:lumOff val="40000"/>
                          </a:schemeClr>
                        </a:solidFill>
                        <a:latin typeface="+mn-lt"/>
                        <a:ea typeface="楷体_GB2312" pitchFamily="49" charset="-122"/>
                        <a:cs typeface="+mn-cs"/>
                      </a:endParaRPr>
                    </a:p>
                  </a:txBody>
                  <a:tcPr marL="91443" marR="91443" marT="45727" marB="45727" anchor="ctr">
                    <a:solidFill>
                      <a:schemeClr val="bg2"/>
                    </a:solidFill>
                  </a:tcPr>
                </a:tc>
                <a:tc>
                  <a:txBody>
                    <a:bodyPr/>
                    <a:lstStyle/>
                    <a:p>
                      <a:pPr marL="0" algn="ctr" defTabSz="914400" rtl="0" eaLnBrk="1" latinLnBrk="0" hangingPunct="1"/>
                      <a:r>
                        <a:rPr lang="zh-CN" altLang="en-US" sz="1400" b="1" kern="1200" dirty="0" smtClean="0">
                          <a:solidFill>
                            <a:schemeClr val="tx1">
                              <a:lumMod val="60000"/>
                              <a:lumOff val="40000"/>
                            </a:schemeClr>
                          </a:solidFill>
                          <a:latin typeface="+mn-lt"/>
                          <a:ea typeface="楷体_GB2312" pitchFamily="49" charset="-122"/>
                          <a:cs typeface="+mn-cs"/>
                        </a:rPr>
                        <a:t>对安全管理规范、机制以及相关的具体情况的了解</a:t>
                      </a:r>
                      <a:endParaRPr lang="zh-CN" altLang="en-US" sz="1400" b="1" kern="1200" dirty="0">
                        <a:solidFill>
                          <a:schemeClr val="tx1">
                            <a:lumMod val="60000"/>
                            <a:lumOff val="40000"/>
                          </a:schemeClr>
                        </a:solidFill>
                        <a:latin typeface="+mn-lt"/>
                        <a:ea typeface="楷体_GB2312" pitchFamily="49" charset="-122"/>
                        <a:cs typeface="+mn-cs"/>
                      </a:endParaRPr>
                    </a:p>
                  </a:txBody>
                  <a:tcPr marL="91443" marR="91443" marT="45727" marB="45727" anchor="ctr">
                    <a:solidFill>
                      <a:schemeClr val="bg2"/>
                    </a:solidFill>
                  </a:tcPr>
                </a:tc>
              </a:tr>
              <a:tr h="639383">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400" b="1" kern="1200" dirty="0" smtClean="0">
                          <a:solidFill>
                            <a:srgbClr val="000000"/>
                          </a:solidFill>
                          <a:latin typeface="+mn-lt"/>
                          <a:ea typeface="楷体_GB2312" pitchFamily="49" charset="-122"/>
                          <a:cs typeface="+mn-cs"/>
                        </a:rPr>
                        <a:t>一级控制</a:t>
                      </a:r>
                      <a:endParaRPr lang="zh-CN" altLang="en-US" sz="1400" b="1" kern="1200" dirty="0">
                        <a:solidFill>
                          <a:srgbClr val="000000"/>
                        </a:solidFill>
                        <a:latin typeface="+mn-lt"/>
                        <a:ea typeface="楷体_GB2312" pitchFamily="49" charset="-122"/>
                        <a:cs typeface="+mn-cs"/>
                      </a:endParaRPr>
                    </a:p>
                  </a:txBody>
                  <a:tcPr marL="91443" marR="91443" marT="45727" marB="45727" anchor="ctr">
                    <a:solidFill>
                      <a:schemeClr val="bg2"/>
                    </a:solidFill>
                  </a:tcPr>
                </a:tc>
                <a:tc>
                  <a:txBody>
                    <a:bodyPr/>
                    <a:lstStyle/>
                    <a:p>
                      <a:pPr marL="0" algn="l" defTabSz="914400" rtl="0" eaLnBrk="1" latinLnBrk="0" hangingPunct="1"/>
                      <a:r>
                        <a:rPr lang="zh-CN" altLang="en-US" sz="1400" b="1" kern="1200" dirty="0" smtClean="0">
                          <a:solidFill>
                            <a:srgbClr val="000000"/>
                          </a:solidFill>
                          <a:latin typeface="+mn-lt"/>
                          <a:ea typeface="楷体_GB2312" pitchFamily="49" charset="-122"/>
                          <a:cs typeface="+mn-cs"/>
                        </a:rPr>
                        <a:t>负责人为主</a:t>
                      </a:r>
                      <a:endParaRPr lang="zh-CN" altLang="en-US" sz="1400" b="1" kern="1200" dirty="0">
                        <a:solidFill>
                          <a:srgbClr val="000000"/>
                        </a:solidFill>
                        <a:latin typeface="+mn-lt"/>
                        <a:ea typeface="楷体_GB2312" pitchFamily="49" charset="-122"/>
                        <a:cs typeface="+mn-cs"/>
                      </a:endParaRPr>
                    </a:p>
                  </a:txBody>
                  <a:tcPr marL="91443" marR="91443" marT="45727" marB="45727" anchor="ctr">
                    <a:solidFill>
                      <a:schemeClr val="bg2"/>
                    </a:solidFill>
                  </a:tcPr>
                </a:tc>
                <a:tc>
                  <a:txBody>
                    <a:bodyPr/>
                    <a:lstStyle/>
                    <a:p>
                      <a:pPr marL="0" algn="l" defTabSz="914400" rtl="0" eaLnBrk="1" latinLnBrk="0" hangingPunct="1"/>
                      <a:r>
                        <a:rPr lang="zh-CN" altLang="zh-CN" sz="1400" b="1" kern="1200" dirty="0" smtClean="0">
                          <a:solidFill>
                            <a:srgbClr val="000000"/>
                          </a:solidFill>
                          <a:latin typeface="+mn-lt"/>
                          <a:ea typeface="楷体_GB2312" pitchFamily="49" charset="-122"/>
                          <a:cs typeface="+mn-cs"/>
                        </a:rPr>
                        <a:t>一般性访谈，内容可简要</a:t>
                      </a:r>
                      <a:endParaRPr lang="zh-CN" altLang="en-US" sz="1400" b="1" kern="1200" dirty="0">
                        <a:solidFill>
                          <a:srgbClr val="000000"/>
                        </a:solidFill>
                        <a:latin typeface="+mn-lt"/>
                        <a:ea typeface="楷体_GB2312" pitchFamily="49" charset="-122"/>
                        <a:cs typeface="+mn-cs"/>
                      </a:endParaRPr>
                    </a:p>
                  </a:txBody>
                  <a:tcPr marL="91443" marR="91443" marT="45727" marB="45727" anchor="ctr">
                    <a:solidFill>
                      <a:schemeClr val="bg2"/>
                    </a:solidFill>
                  </a:tcPr>
                </a:tc>
                <a:tc>
                  <a:txBody>
                    <a:bodyPr/>
                    <a:lstStyle/>
                    <a:p>
                      <a:pPr algn="l"/>
                      <a:r>
                        <a:rPr lang="zh-CN" altLang="en-US" sz="1400" b="1" kern="1200" dirty="0" smtClean="0">
                          <a:solidFill>
                            <a:srgbClr val="000000"/>
                          </a:solidFill>
                          <a:latin typeface="+mn-lt"/>
                          <a:ea typeface="楷体_GB2312" pitchFamily="49" charset="-122"/>
                          <a:cs typeface="+mn-cs"/>
                        </a:rPr>
                        <a:t>广泛、大致了解</a:t>
                      </a:r>
                      <a:endParaRPr lang="zh-CN" altLang="en-US" sz="1400" b="1" kern="1200" dirty="0">
                        <a:solidFill>
                          <a:srgbClr val="000000"/>
                        </a:solidFill>
                        <a:latin typeface="+mn-lt"/>
                        <a:ea typeface="楷体_GB2312" pitchFamily="49" charset="-122"/>
                        <a:cs typeface="+mn-cs"/>
                      </a:endParaRPr>
                    </a:p>
                  </a:txBody>
                  <a:tcPr marL="91443" marR="91443" marT="45727" marB="45727" anchor="ctr">
                    <a:solidFill>
                      <a:schemeClr val="bg2"/>
                    </a:solidFill>
                  </a:tcPr>
                </a:tc>
              </a:tr>
              <a:tr h="639383">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400" b="1" kern="1200" dirty="0" smtClean="0">
                          <a:solidFill>
                            <a:srgbClr val="000000"/>
                          </a:solidFill>
                          <a:latin typeface="+mn-lt"/>
                          <a:ea typeface="楷体_GB2312" pitchFamily="49" charset="-122"/>
                          <a:cs typeface="+mn-cs"/>
                        </a:rPr>
                        <a:t>二级控制</a:t>
                      </a:r>
                      <a:endParaRPr lang="zh-CN" altLang="en-US" sz="1400" b="1" kern="1200" dirty="0">
                        <a:solidFill>
                          <a:srgbClr val="000000"/>
                        </a:solidFill>
                        <a:latin typeface="+mn-lt"/>
                        <a:ea typeface="楷体_GB2312" pitchFamily="49" charset="-122"/>
                        <a:cs typeface="+mn-cs"/>
                      </a:endParaRPr>
                    </a:p>
                  </a:txBody>
                  <a:tcPr marL="91443" marR="91443" marT="45727" marB="45727" anchor="ctr">
                    <a:solidFill>
                      <a:schemeClr val="bg2"/>
                    </a:solidFill>
                  </a:tcPr>
                </a:tc>
                <a:tc>
                  <a:txBody>
                    <a:bodyPr/>
                    <a:lstStyle/>
                    <a:p>
                      <a:pPr marL="0" algn="l" defTabSz="914400" rtl="0" eaLnBrk="1" latinLnBrk="0" hangingPunct="1"/>
                      <a:r>
                        <a:rPr lang="zh-CN" altLang="en-US" sz="1400" b="1" kern="1200" dirty="0" smtClean="0">
                          <a:solidFill>
                            <a:srgbClr val="000000"/>
                          </a:solidFill>
                          <a:latin typeface="+mn-lt"/>
                          <a:ea typeface="楷体_GB2312" pitchFamily="49" charset="-122"/>
                          <a:cs typeface="+mn-cs"/>
                        </a:rPr>
                        <a:t>负责人、技术人员为主</a:t>
                      </a:r>
                      <a:endParaRPr lang="zh-CN" altLang="en-US" sz="1400" b="1" kern="1200" dirty="0">
                        <a:solidFill>
                          <a:srgbClr val="000000"/>
                        </a:solidFill>
                        <a:latin typeface="+mn-lt"/>
                        <a:ea typeface="楷体_GB2312" pitchFamily="49" charset="-122"/>
                        <a:cs typeface="+mn-cs"/>
                      </a:endParaRPr>
                    </a:p>
                  </a:txBody>
                  <a:tcPr marL="91443" marR="91443" marT="45727" marB="45727" anchor="ctr">
                    <a:solidFill>
                      <a:schemeClr val="bg2"/>
                    </a:solidFill>
                  </a:tcPr>
                </a:tc>
                <a:tc>
                  <a:txBody>
                    <a:bodyPr/>
                    <a:lstStyle/>
                    <a:p>
                      <a:pPr marL="0" algn="l" defTabSz="914400" rtl="0" eaLnBrk="1" latinLnBrk="0" hangingPunct="1"/>
                      <a:r>
                        <a:rPr lang="zh-CN" altLang="en-US" sz="1400" b="1" kern="1200" dirty="0" smtClean="0">
                          <a:solidFill>
                            <a:srgbClr val="000000"/>
                          </a:solidFill>
                          <a:latin typeface="+mn-lt"/>
                          <a:ea typeface="楷体_GB2312" pitchFamily="49" charset="-122"/>
                          <a:cs typeface="+mn-cs"/>
                        </a:rPr>
                        <a:t>重点访谈，内容应充分</a:t>
                      </a:r>
                      <a:endParaRPr lang="zh-CN" altLang="en-US" sz="1400" b="1" kern="1200" dirty="0">
                        <a:solidFill>
                          <a:srgbClr val="000000"/>
                        </a:solidFill>
                        <a:latin typeface="+mn-lt"/>
                        <a:ea typeface="楷体_GB2312" pitchFamily="49" charset="-122"/>
                        <a:cs typeface="+mn-cs"/>
                      </a:endParaRPr>
                    </a:p>
                  </a:txBody>
                  <a:tcPr marL="91443" marR="91443" marT="45727" marB="45727" anchor="ctr">
                    <a:solidFill>
                      <a:schemeClr val="bg2"/>
                    </a:solidFill>
                  </a:tcPr>
                </a:tc>
                <a:tc>
                  <a:txBody>
                    <a:bodyPr/>
                    <a:lstStyle/>
                    <a:p>
                      <a:pPr marL="0" algn="l" defTabSz="914400" rtl="0" eaLnBrk="1" latinLnBrk="0" hangingPunct="1"/>
                      <a:r>
                        <a:rPr lang="zh-CN" altLang="en-US" sz="1400" b="1" kern="1200" dirty="0" smtClean="0">
                          <a:solidFill>
                            <a:srgbClr val="000000"/>
                          </a:solidFill>
                          <a:latin typeface="+mn-lt"/>
                          <a:ea typeface="楷体_GB2312" pitchFamily="49" charset="-122"/>
                          <a:cs typeface="+mn-cs"/>
                        </a:rPr>
                        <a:t>较深入了解</a:t>
                      </a:r>
                      <a:endParaRPr lang="zh-CN" altLang="en-US" sz="1400" b="1" kern="1200" dirty="0">
                        <a:solidFill>
                          <a:srgbClr val="000000"/>
                        </a:solidFill>
                        <a:latin typeface="+mn-lt"/>
                        <a:ea typeface="楷体_GB2312" pitchFamily="49" charset="-122"/>
                        <a:cs typeface="+mn-cs"/>
                      </a:endParaRPr>
                    </a:p>
                  </a:txBody>
                  <a:tcPr marL="91443" marR="91443" marT="45727" marB="45727" anchor="ctr">
                    <a:solidFill>
                      <a:schemeClr val="bg2"/>
                    </a:solidFill>
                  </a:tcPr>
                </a:tc>
              </a:tr>
              <a:tr h="767259">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400" b="1" kern="1200" dirty="0" smtClean="0">
                          <a:solidFill>
                            <a:srgbClr val="000000"/>
                          </a:solidFill>
                          <a:latin typeface="+mn-lt"/>
                          <a:ea typeface="楷体_GB2312" pitchFamily="49" charset="-122"/>
                          <a:cs typeface="+mn-cs"/>
                        </a:rPr>
                        <a:t>三级控制</a:t>
                      </a:r>
                      <a:endParaRPr lang="zh-CN" altLang="en-US" sz="1400" b="1" kern="1200" dirty="0">
                        <a:solidFill>
                          <a:srgbClr val="000000"/>
                        </a:solidFill>
                        <a:latin typeface="+mn-lt"/>
                        <a:ea typeface="楷体_GB2312" pitchFamily="49" charset="-122"/>
                        <a:cs typeface="+mn-cs"/>
                      </a:endParaRPr>
                    </a:p>
                  </a:txBody>
                  <a:tcPr marL="91443" marR="91443" marT="45727" marB="45727" anchor="ctr">
                    <a:solidFill>
                      <a:schemeClr val="bg2"/>
                    </a:solidFill>
                  </a:tcPr>
                </a:tc>
                <a:tc>
                  <a:txBody>
                    <a:bodyPr/>
                    <a:lstStyle/>
                    <a:p>
                      <a:pPr marL="0" algn="l" defTabSz="914400" rtl="0" eaLnBrk="1" latinLnBrk="0" hangingPunct="1"/>
                      <a:r>
                        <a:rPr lang="zh-CN" altLang="en-US" sz="1400" b="1" kern="1200" dirty="0" smtClean="0">
                          <a:solidFill>
                            <a:srgbClr val="000000"/>
                          </a:solidFill>
                          <a:latin typeface="+mn-lt"/>
                          <a:ea typeface="楷体_GB2312" pitchFamily="49" charset="-122"/>
                          <a:cs typeface="+mn-cs"/>
                        </a:rPr>
                        <a:t>负责人、技术人员、操作人员为主</a:t>
                      </a:r>
                      <a:endParaRPr lang="zh-CN" altLang="en-US" sz="1400" b="1" kern="1200" dirty="0">
                        <a:solidFill>
                          <a:srgbClr val="000000"/>
                        </a:solidFill>
                        <a:latin typeface="+mn-lt"/>
                        <a:ea typeface="楷体_GB2312" pitchFamily="49" charset="-122"/>
                        <a:cs typeface="+mn-cs"/>
                      </a:endParaRPr>
                    </a:p>
                  </a:txBody>
                  <a:tcPr marL="91443" marR="91443" marT="45727" marB="45727" anchor="ctr">
                    <a:solidFill>
                      <a:schemeClr val="bg2"/>
                    </a:solidFill>
                  </a:tcPr>
                </a:tc>
                <a:tc>
                  <a:txBody>
                    <a:bodyPr/>
                    <a:lstStyle/>
                    <a:p>
                      <a:pPr marL="0" algn="l" defTabSz="914400" rtl="0" eaLnBrk="1" latinLnBrk="0" hangingPunct="1"/>
                      <a:r>
                        <a:rPr lang="zh-CN" altLang="en-US" sz="1400" b="1" kern="1200" dirty="0" smtClean="0">
                          <a:solidFill>
                            <a:srgbClr val="000000"/>
                          </a:solidFill>
                          <a:latin typeface="+mn-lt"/>
                          <a:ea typeface="楷体_GB2312" pitchFamily="49" charset="-122"/>
                          <a:cs typeface="+mn-cs"/>
                        </a:rPr>
                        <a:t>全面访谈，内容应覆盖各方面</a:t>
                      </a:r>
                      <a:endParaRPr lang="zh-CN" altLang="en-US" sz="1400" b="1" kern="1200" dirty="0">
                        <a:solidFill>
                          <a:srgbClr val="000000"/>
                        </a:solidFill>
                        <a:latin typeface="+mn-lt"/>
                        <a:ea typeface="楷体_GB2312" pitchFamily="49" charset="-122"/>
                        <a:cs typeface="+mn-cs"/>
                      </a:endParaRPr>
                    </a:p>
                  </a:txBody>
                  <a:tcPr marL="91443" marR="91443" marT="45727" marB="45727" anchor="ctr">
                    <a:solidFill>
                      <a:schemeClr val="bg2"/>
                    </a:solidFill>
                  </a:tcPr>
                </a:tc>
                <a:tc>
                  <a:txBody>
                    <a:bodyPr/>
                    <a:lstStyle/>
                    <a:p>
                      <a:pPr marL="0" algn="l" defTabSz="914400" rtl="0" eaLnBrk="1" latinLnBrk="0" hangingPunct="1"/>
                      <a:r>
                        <a:rPr lang="zh-CN" altLang="en-US" sz="1400" b="1" kern="1200" dirty="0" smtClean="0">
                          <a:solidFill>
                            <a:srgbClr val="000000"/>
                          </a:solidFill>
                          <a:latin typeface="+mn-lt"/>
                          <a:ea typeface="楷体_GB2312" pitchFamily="49" charset="-122"/>
                          <a:cs typeface="+mn-cs"/>
                        </a:rPr>
                        <a:t>全面了解</a:t>
                      </a:r>
                      <a:endParaRPr lang="zh-CN" altLang="en-US" sz="1400" b="1" kern="1200" dirty="0">
                        <a:solidFill>
                          <a:srgbClr val="000000"/>
                        </a:solidFill>
                        <a:latin typeface="+mn-lt"/>
                        <a:ea typeface="楷体_GB2312" pitchFamily="49" charset="-122"/>
                        <a:cs typeface="+mn-cs"/>
                      </a:endParaRPr>
                    </a:p>
                  </a:txBody>
                  <a:tcPr marL="91443" marR="91443" marT="45727" marB="45727" anchor="ctr">
                    <a:solidFill>
                      <a:schemeClr val="bg2"/>
                    </a:solidFill>
                  </a:tcPr>
                </a:tc>
              </a:tr>
              <a:tr h="767259">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400" b="1" kern="1200" dirty="0" smtClean="0">
                          <a:solidFill>
                            <a:srgbClr val="000000"/>
                          </a:solidFill>
                          <a:latin typeface="+mn-lt"/>
                          <a:ea typeface="楷体_GB2312" pitchFamily="49" charset="-122"/>
                          <a:cs typeface="+mn-cs"/>
                        </a:rPr>
                        <a:t>四级控制</a:t>
                      </a:r>
                      <a:endParaRPr lang="zh-CN" altLang="en-US" sz="1400" b="1" kern="1200" dirty="0">
                        <a:solidFill>
                          <a:srgbClr val="000000"/>
                        </a:solidFill>
                        <a:latin typeface="+mn-lt"/>
                        <a:ea typeface="楷体_GB2312" pitchFamily="49" charset="-122"/>
                        <a:cs typeface="+mn-cs"/>
                      </a:endParaRPr>
                    </a:p>
                  </a:txBody>
                  <a:tcPr marL="91443" marR="91443" marT="45727" marB="45727" anchor="ctr">
                    <a:solidFill>
                      <a:schemeClr val="bg2"/>
                    </a:solidFill>
                  </a:tcPr>
                </a:tc>
                <a:tc>
                  <a:txBody>
                    <a:bodyPr/>
                    <a:lstStyle/>
                    <a:p>
                      <a:pPr marL="0" algn="l" defTabSz="914400" rtl="0" eaLnBrk="1" latinLnBrk="0" hangingPunct="1"/>
                      <a:r>
                        <a:rPr lang="zh-CN" altLang="en-US" sz="1400" b="1" kern="1200" dirty="0" smtClean="0">
                          <a:solidFill>
                            <a:srgbClr val="000000"/>
                          </a:solidFill>
                          <a:latin typeface="+mn-lt"/>
                          <a:ea typeface="楷体_GB2312" pitchFamily="49" charset="-122"/>
                          <a:cs typeface="+mn-cs"/>
                        </a:rPr>
                        <a:t>负责人、技术人员、操作人员为主</a:t>
                      </a:r>
                    </a:p>
                  </a:txBody>
                  <a:tcPr marL="91443" marR="91443" marT="45727" marB="45727" anchor="ctr">
                    <a:solidFill>
                      <a:schemeClr val="bg2"/>
                    </a:solidFill>
                  </a:tcPr>
                </a:tc>
                <a:tc>
                  <a:txBody>
                    <a:bodyPr/>
                    <a:lstStyle/>
                    <a:p>
                      <a:pPr marL="0" algn="l" defTabSz="914400" rtl="0" eaLnBrk="1" latinLnBrk="0" hangingPunct="1"/>
                      <a:r>
                        <a:rPr lang="zh-CN" altLang="en-US" sz="1400" b="1" kern="1200" dirty="0" smtClean="0">
                          <a:solidFill>
                            <a:srgbClr val="000000"/>
                          </a:solidFill>
                          <a:latin typeface="+mn-lt"/>
                          <a:ea typeface="楷体_GB2312" pitchFamily="49" charset="-122"/>
                          <a:cs typeface="+mn-cs"/>
                        </a:rPr>
                        <a:t>全面访谈，访谈内容应覆盖各方面</a:t>
                      </a:r>
                      <a:endParaRPr lang="zh-CN" altLang="en-US" sz="1400" b="1" kern="1200" dirty="0">
                        <a:solidFill>
                          <a:srgbClr val="000000"/>
                        </a:solidFill>
                        <a:latin typeface="+mn-lt"/>
                        <a:ea typeface="楷体_GB2312" pitchFamily="49" charset="-122"/>
                        <a:cs typeface="+mn-cs"/>
                      </a:endParaRPr>
                    </a:p>
                  </a:txBody>
                  <a:tcPr marL="91443" marR="91443" marT="45727" marB="45727" anchor="ctr">
                    <a:solidFill>
                      <a:schemeClr val="bg2"/>
                    </a:solidFill>
                  </a:tcPr>
                </a:tc>
                <a:tc>
                  <a:txBody>
                    <a:bodyPr/>
                    <a:lstStyle/>
                    <a:p>
                      <a:pPr marL="0" algn="l" defTabSz="914400" rtl="0" eaLnBrk="1" latinLnBrk="0" hangingPunct="1"/>
                      <a:r>
                        <a:rPr lang="zh-CN" altLang="en-US" sz="1400" b="1" kern="1200" dirty="0" smtClean="0">
                          <a:solidFill>
                            <a:srgbClr val="000000"/>
                          </a:solidFill>
                          <a:latin typeface="+mn-lt"/>
                          <a:ea typeface="楷体_GB2312" pitchFamily="49" charset="-122"/>
                          <a:cs typeface="+mn-cs"/>
                        </a:rPr>
                        <a:t>力求准确、全面掌握安全管理要求落实情况细节</a:t>
                      </a:r>
                      <a:endParaRPr lang="zh-CN" altLang="en-US" sz="1400" b="1" kern="1200" dirty="0">
                        <a:solidFill>
                          <a:srgbClr val="000000"/>
                        </a:solidFill>
                        <a:latin typeface="+mn-lt"/>
                        <a:ea typeface="楷体_GB2312" pitchFamily="49" charset="-122"/>
                        <a:cs typeface="+mn-cs"/>
                      </a:endParaRPr>
                    </a:p>
                  </a:txBody>
                  <a:tcPr marL="91443" marR="91443" marT="45727" marB="45727" anchor="ctr">
                    <a:solidFill>
                      <a:schemeClr val="bg2"/>
                    </a:solidFill>
                  </a:tcPr>
                </a:tc>
              </a:tr>
              <a:tr h="767259">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400" b="1" kern="1200" dirty="0" smtClean="0">
                          <a:solidFill>
                            <a:srgbClr val="000000"/>
                          </a:solidFill>
                          <a:latin typeface="+mn-lt"/>
                          <a:ea typeface="楷体_GB2312" pitchFamily="49" charset="-122"/>
                          <a:cs typeface="+mn-cs"/>
                        </a:rPr>
                        <a:t>五级控制</a:t>
                      </a:r>
                      <a:endParaRPr lang="zh-CN" altLang="en-US" sz="1400" b="1" kern="1200" dirty="0">
                        <a:solidFill>
                          <a:srgbClr val="000000"/>
                        </a:solidFill>
                        <a:latin typeface="+mn-lt"/>
                        <a:ea typeface="楷体_GB2312" pitchFamily="49" charset="-122"/>
                        <a:cs typeface="+mn-cs"/>
                      </a:endParaRPr>
                    </a:p>
                  </a:txBody>
                  <a:tcPr marL="91443" marR="91443" marT="45727" marB="45727" anchor="ctr">
                    <a:solidFill>
                      <a:schemeClr val="bg2"/>
                    </a:solidFill>
                  </a:tcPr>
                </a:tc>
                <a:tc>
                  <a:txBody>
                    <a:bodyPr/>
                    <a:lstStyle/>
                    <a:p>
                      <a:pPr marL="0" algn="l" defTabSz="914400" rtl="0" eaLnBrk="1" latinLnBrk="0" hangingPunct="1"/>
                      <a:r>
                        <a:rPr lang="zh-CN" altLang="en-US" sz="1400" b="1" kern="1200" dirty="0" smtClean="0">
                          <a:solidFill>
                            <a:srgbClr val="000000"/>
                          </a:solidFill>
                          <a:latin typeface="+mn-lt"/>
                          <a:ea typeface="楷体_GB2312" pitchFamily="49" charset="-122"/>
                          <a:cs typeface="+mn-cs"/>
                        </a:rPr>
                        <a:t>负责人、技术人员、操作人员为主</a:t>
                      </a:r>
                    </a:p>
                  </a:txBody>
                  <a:tcPr marL="91443" marR="91443" marT="45727" marB="45727" anchor="ctr">
                    <a:solidFill>
                      <a:schemeClr val="bg2"/>
                    </a:solidFill>
                  </a:tcPr>
                </a:tc>
                <a:tc>
                  <a:txBody>
                    <a:bodyPr/>
                    <a:lstStyle/>
                    <a:p>
                      <a:pPr marL="0" algn="l" defTabSz="914400" rtl="0" eaLnBrk="1" latinLnBrk="0" hangingPunct="1"/>
                      <a:r>
                        <a:rPr lang="zh-CN" altLang="en-US" sz="1400" b="1" kern="1200" dirty="0" smtClean="0">
                          <a:solidFill>
                            <a:srgbClr val="000000"/>
                          </a:solidFill>
                          <a:latin typeface="+mn-lt"/>
                          <a:ea typeface="楷体_GB2312" pitchFamily="49" charset="-122"/>
                          <a:cs typeface="+mn-cs"/>
                        </a:rPr>
                        <a:t>全面访谈，访谈内容应覆盖各方面，或设定专项内容</a:t>
                      </a:r>
                      <a:endParaRPr lang="zh-CN" altLang="en-US" sz="1400" b="1" kern="1200" dirty="0">
                        <a:solidFill>
                          <a:srgbClr val="000000"/>
                        </a:solidFill>
                        <a:latin typeface="+mn-lt"/>
                        <a:ea typeface="楷体_GB2312" pitchFamily="49" charset="-122"/>
                        <a:cs typeface="+mn-cs"/>
                      </a:endParaRPr>
                    </a:p>
                  </a:txBody>
                  <a:tcPr marL="91443" marR="91443" marT="45727" marB="45727" anchor="ctr">
                    <a:solidFill>
                      <a:schemeClr val="bg2"/>
                    </a:solidFill>
                  </a:tcPr>
                </a:tc>
                <a:tc>
                  <a:txBody>
                    <a:bodyPr/>
                    <a:lstStyle/>
                    <a:p>
                      <a:pPr marL="0" algn="l" defTabSz="914400" rtl="0" eaLnBrk="1" latinLnBrk="0" hangingPunct="1"/>
                      <a:r>
                        <a:rPr lang="zh-CN" altLang="en-US" sz="1400" b="1" kern="1200" dirty="0" smtClean="0">
                          <a:solidFill>
                            <a:srgbClr val="000000"/>
                          </a:solidFill>
                          <a:latin typeface="+mn-lt"/>
                          <a:ea typeface="楷体_GB2312" pitchFamily="49" charset="-122"/>
                          <a:cs typeface="+mn-cs"/>
                        </a:rPr>
                        <a:t>准确、全面掌握安全管理要求落实情况细节</a:t>
                      </a:r>
                      <a:endParaRPr lang="zh-CN" altLang="en-US" sz="1400" b="1" kern="1200" dirty="0">
                        <a:solidFill>
                          <a:srgbClr val="000000"/>
                        </a:solidFill>
                        <a:latin typeface="+mn-lt"/>
                        <a:ea typeface="楷体_GB2312" pitchFamily="49" charset="-122"/>
                        <a:cs typeface="+mn-cs"/>
                      </a:endParaRPr>
                    </a:p>
                  </a:txBody>
                  <a:tcPr marL="91443" marR="91443" marT="45727" marB="45727" anchor="ctr">
                    <a:solidFill>
                      <a:schemeClr val="bg2"/>
                    </a:solidFill>
                  </a:tcPr>
                </a:tc>
              </a:tr>
            </a:tbl>
          </a:graphicData>
        </a:graphic>
      </p:graphicFrame>
    </p:spTree>
  </p:cSld>
  <p:clrMapOvr>
    <a:masterClrMapping/>
  </p:clrMapOvr>
  <p:transition>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信息系统安全测评流程</a:t>
            </a:r>
          </a:p>
        </p:txBody>
      </p:sp>
      <p:sp>
        <p:nvSpPr>
          <p:cNvPr id="19459" name="内容占位符 2"/>
          <p:cNvSpPr>
            <a:spLocks noGrp="1" noChangeArrowheads="1"/>
          </p:cNvSpPr>
          <p:nvPr>
            <p:ph idx="1"/>
          </p:nvPr>
        </p:nvSpPr>
        <p:spPr>
          <a:xfrm>
            <a:off x="304800" y="1066800"/>
            <a:ext cx="8534400" cy="5410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 </a:t>
            </a: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评估方法：</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2、</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符合</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性检查</a:t>
            </a:r>
            <a:endPar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符合</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性检查主要对象</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a)</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信息安全方针、政策、计划、规程、系统要求文档；</a:t>
            </a: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b)</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系统设计和接口规格文档；</a:t>
            </a: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c)</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系统操作、使用、管理及各类日志管理的相关规定等。</a:t>
            </a: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rgbClr val="000000"/>
              </a:solidFill>
              <a:effectLst/>
              <a:uLnTx/>
              <a:uFillTx/>
              <a:latin typeface="+mn-lt"/>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en-US" sz="2800" b="1" i="0" u="none" strike="noStrike" kern="0" cap="none" spc="0" normalizeH="0" baseline="0" noProof="0" dirty="0">
              <a:ln>
                <a:noFill/>
              </a:ln>
              <a:solidFill>
                <a:srgbClr val="000000"/>
              </a:solidFill>
              <a:effectLst/>
              <a:uLnTx/>
              <a:uFillTx/>
              <a:latin typeface="+mn-lt"/>
              <a:ea typeface="楷体_GB2312" pitchFamily="49" charset="-122"/>
            </a:endParaRPr>
          </a:p>
        </p:txBody>
      </p:sp>
      <p:sp>
        <p:nvSpPr>
          <p:cNvPr id="44036" name="左大括号 2"/>
          <p:cNvSpPr/>
          <p:nvPr/>
        </p:nvSpPr>
        <p:spPr>
          <a:xfrm>
            <a:off x="1524000" y="4038600"/>
            <a:ext cx="457200" cy="685800"/>
          </a:xfrm>
          <a:prstGeom prst="leftBrace">
            <a:avLst>
              <a:gd name="adj1" fmla="val 8326"/>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4037" name="左大括号 3"/>
          <p:cNvSpPr/>
          <p:nvPr/>
        </p:nvSpPr>
        <p:spPr>
          <a:xfrm>
            <a:off x="1295400" y="4038600"/>
            <a:ext cx="384175" cy="762000"/>
          </a:xfrm>
          <a:prstGeom prst="leftBrace">
            <a:avLst>
              <a:gd name="adj1" fmla="val 8319"/>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4038" name="左大括号 4"/>
          <p:cNvSpPr/>
          <p:nvPr/>
        </p:nvSpPr>
        <p:spPr>
          <a:xfrm>
            <a:off x="1487488" y="4038600"/>
            <a:ext cx="46037" cy="685800"/>
          </a:xfrm>
          <a:prstGeom prst="leftBrace">
            <a:avLst>
              <a:gd name="adj1" fmla="val 8206"/>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4039" name="左大括号 5"/>
          <p:cNvSpPr/>
          <p:nvPr/>
        </p:nvSpPr>
        <p:spPr>
          <a:xfrm>
            <a:off x="1509713" y="4335463"/>
            <a:ext cx="1843087" cy="46037"/>
          </a:xfrm>
          <a:prstGeom prst="leftBrace">
            <a:avLst>
              <a:gd name="adj1" fmla="val 8328"/>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4040" name="左大括号 6"/>
          <p:cNvSpPr/>
          <p:nvPr/>
        </p:nvSpPr>
        <p:spPr>
          <a:xfrm>
            <a:off x="2432050" y="4359275"/>
            <a:ext cx="46038" cy="669925"/>
          </a:xfrm>
          <a:prstGeom prst="leftBrace">
            <a:avLst>
              <a:gd name="adj1" fmla="val 8218"/>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4041" name="左大括号 7"/>
          <p:cNvSpPr/>
          <p:nvPr/>
        </p:nvSpPr>
        <p:spPr>
          <a:xfrm>
            <a:off x="3429000" y="5029200"/>
            <a:ext cx="155575" cy="914400"/>
          </a:xfrm>
          <a:prstGeom prst="leftBrace">
            <a:avLst>
              <a:gd name="adj1" fmla="val 8299"/>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4042" name="矩形 9"/>
          <p:cNvSpPr/>
          <p:nvPr/>
        </p:nvSpPr>
        <p:spPr>
          <a:xfrm>
            <a:off x="1679575" y="3352800"/>
            <a:ext cx="2816225" cy="1219200"/>
          </a:xfrm>
          <a:prstGeom prst="rect">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4043" name="左大括号 10"/>
          <p:cNvSpPr/>
          <p:nvPr/>
        </p:nvSpPr>
        <p:spPr>
          <a:xfrm>
            <a:off x="914400" y="3352800"/>
            <a:ext cx="76200" cy="685800"/>
          </a:xfrm>
          <a:prstGeom prst="leftBrace">
            <a:avLst>
              <a:gd name="adj1" fmla="val 8291"/>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4044" name="矩形 11"/>
          <p:cNvSpPr/>
          <p:nvPr/>
        </p:nvSpPr>
        <p:spPr>
          <a:xfrm>
            <a:off x="685800" y="3581400"/>
            <a:ext cx="1219200" cy="609600"/>
          </a:xfrm>
          <a:prstGeom prst="rect">
            <a:avLst/>
          </a:prstGeom>
          <a:noFill/>
          <a:ln w="9525">
            <a:noFill/>
          </a:ln>
        </p:spPr>
        <p:txBody>
          <a:bodyPr>
            <a:spAutoFit/>
          </a:bodyPr>
          <a:lstStyle/>
          <a:p>
            <a:pPr algn="ctr"/>
            <a:endParaRPr lang="zh-CN" altLang="en-US"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信息系统安全测评流程</a:t>
            </a:r>
          </a:p>
        </p:txBody>
      </p:sp>
      <p:sp>
        <p:nvSpPr>
          <p:cNvPr id="19459" name="内容占位符 2"/>
          <p:cNvSpPr>
            <a:spLocks noGrp="1" noChangeArrowheads="1"/>
          </p:cNvSpPr>
          <p:nvPr>
            <p:ph idx="1"/>
          </p:nvPr>
        </p:nvSpPr>
        <p:spPr>
          <a:xfrm>
            <a:off x="152400" y="1066800"/>
            <a:ext cx="8839200" cy="54864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 </a:t>
            </a: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评估方法：</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符合性检查方法</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a)</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根据安全管理标准和被评估单位的安全管理体系相关文件的要求，检查安全管理运行过程或各个环节的文档的具体规定是否与有关要求相</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一致</a:t>
            </a:r>
            <a:endPar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endParaRP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b</a:t>
            </a: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 </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为了减少评估对象的工作量，评估人员应尽最大可能重复使用以前的安全管理控制评价的结果和</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证据。</a:t>
            </a:r>
            <a:endPar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rgbClr val="000000"/>
              </a:solidFill>
              <a:effectLst/>
              <a:uLnTx/>
              <a:uFillTx/>
              <a:latin typeface="+mn-lt"/>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en-US" sz="2800" b="1" i="0" u="none" strike="noStrike" kern="0" cap="none" spc="0" normalizeH="0" baseline="0" noProof="0" dirty="0">
              <a:ln>
                <a:noFill/>
              </a:ln>
              <a:solidFill>
                <a:srgbClr val="000000"/>
              </a:solidFill>
              <a:effectLst/>
              <a:uLnTx/>
              <a:uFillTx/>
              <a:latin typeface="+mn-lt"/>
              <a:ea typeface="楷体_GB2312" pitchFamily="49" charset="-122"/>
            </a:endParaRPr>
          </a:p>
        </p:txBody>
      </p:sp>
      <p:sp>
        <p:nvSpPr>
          <p:cNvPr id="45060" name="左大括号 2"/>
          <p:cNvSpPr/>
          <p:nvPr/>
        </p:nvSpPr>
        <p:spPr>
          <a:xfrm>
            <a:off x="1524000" y="4038600"/>
            <a:ext cx="457200" cy="685800"/>
          </a:xfrm>
          <a:prstGeom prst="leftBrace">
            <a:avLst>
              <a:gd name="adj1" fmla="val 8326"/>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5061" name="左大括号 3"/>
          <p:cNvSpPr/>
          <p:nvPr/>
        </p:nvSpPr>
        <p:spPr>
          <a:xfrm>
            <a:off x="1295400" y="4038600"/>
            <a:ext cx="384175" cy="762000"/>
          </a:xfrm>
          <a:prstGeom prst="leftBrace">
            <a:avLst>
              <a:gd name="adj1" fmla="val 8319"/>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5062" name="左大括号 4"/>
          <p:cNvSpPr/>
          <p:nvPr/>
        </p:nvSpPr>
        <p:spPr>
          <a:xfrm>
            <a:off x="1487488" y="4038600"/>
            <a:ext cx="46037" cy="685800"/>
          </a:xfrm>
          <a:prstGeom prst="leftBrace">
            <a:avLst>
              <a:gd name="adj1" fmla="val 8206"/>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5063" name="左大括号 5"/>
          <p:cNvSpPr/>
          <p:nvPr/>
        </p:nvSpPr>
        <p:spPr>
          <a:xfrm>
            <a:off x="1509713" y="4335463"/>
            <a:ext cx="1843087" cy="46037"/>
          </a:xfrm>
          <a:prstGeom prst="leftBrace">
            <a:avLst>
              <a:gd name="adj1" fmla="val 8328"/>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5064" name="左大括号 6"/>
          <p:cNvSpPr/>
          <p:nvPr/>
        </p:nvSpPr>
        <p:spPr>
          <a:xfrm>
            <a:off x="2432050" y="4359275"/>
            <a:ext cx="46038" cy="669925"/>
          </a:xfrm>
          <a:prstGeom prst="leftBrace">
            <a:avLst>
              <a:gd name="adj1" fmla="val 8218"/>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5065" name="左大括号 7"/>
          <p:cNvSpPr/>
          <p:nvPr/>
        </p:nvSpPr>
        <p:spPr>
          <a:xfrm>
            <a:off x="3429000" y="5029200"/>
            <a:ext cx="155575" cy="914400"/>
          </a:xfrm>
          <a:prstGeom prst="leftBrace">
            <a:avLst>
              <a:gd name="adj1" fmla="val 8299"/>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5066" name="矩形 9"/>
          <p:cNvSpPr/>
          <p:nvPr/>
        </p:nvSpPr>
        <p:spPr>
          <a:xfrm>
            <a:off x="1679575" y="3352800"/>
            <a:ext cx="2816225" cy="1219200"/>
          </a:xfrm>
          <a:prstGeom prst="rect">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5067" name="左大括号 10"/>
          <p:cNvSpPr/>
          <p:nvPr/>
        </p:nvSpPr>
        <p:spPr>
          <a:xfrm>
            <a:off x="914400" y="3352800"/>
            <a:ext cx="76200" cy="685800"/>
          </a:xfrm>
          <a:prstGeom prst="leftBrace">
            <a:avLst>
              <a:gd name="adj1" fmla="val 8291"/>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5068" name="矩形 11"/>
          <p:cNvSpPr/>
          <p:nvPr/>
        </p:nvSpPr>
        <p:spPr>
          <a:xfrm>
            <a:off x="685800" y="3581400"/>
            <a:ext cx="1219200" cy="609600"/>
          </a:xfrm>
          <a:prstGeom prst="rect">
            <a:avLst/>
          </a:prstGeom>
          <a:noFill/>
          <a:ln w="9525">
            <a:noFill/>
          </a:ln>
        </p:spPr>
        <p:txBody>
          <a:bodyPr>
            <a:spAutoFit/>
          </a:bodyPr>
          <a:lstStyle/>
          <a:p>
            <a:pPr algn="ctr"/>
            <a:endParaRPr lang="zh-CN" altLang="en-US"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信息系统安全管理测评</a:t>
            </a:r>
          </a:p>
        </p:txBody>
      </p:sp>
      <p:sp>
        <p:nvSpPr>
          <p:cNvPr id="19459" name="内容占位符 2"/>
          <p:cNvSpPr>
            <a:spLocks noGrp="1" noChangeArrowheads="1"/>
          </p:cNvSpPr>
          <p:nvPr>
            <p:ph idx="1"/>
          </p:nvPr>
        </p:nvSpPr>
        <p:spPr>
          <a:xfrm>
            <a:off x="152400" y="1219200"/>
            <a:ext cx="8915400" cy="5386388"/>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 </a:t>
            </a: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评估方法：</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符合</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性检查质量控制</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    对</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符合性检查的质量，应从检查对象的广度和检查内容的深度进行控制。根据不同安全等级的不同要求，符合性检查的质量控制分为：</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en-US" sz="2800" b="1" i="0" u="none" strike="noStrike" kern="0" cap="none" spc="0" normalizeH="0" baseline="0" noProof="0" dirty="0">
              <a:ln>
                <a:noFill/>
              </a:ln>
              <a:solidFill>
                <a:srgbClr val="000000"/>
              </a:solidFill>
              <a:effectLst/>
              <a:uLnTx/>
              <a:uFillTx/>
              <a:latin typeface="+mn-lt"/>
              <a:ea typeface="楷体_GB2312" pitchFamily="49" charset="-122"/>
            </a:endParaRPr>
          </a:p>
        </p:txBody>
      </p:sp>
      <p:sp>
        <p:nvSpPr>
          <p:cNvPr id="46084" name="左大括号 2"/>
          <p:cNvSpPr/>
          <p:nvPr/>
        </p:nvSpPr>
        <p:spPr>
          <a:xfrm>
            <a:off x="1524000" y="4038600"/>
            <a:ext cx="457200" cy="685800"/>
          </a:xfrm>
          <a:prstGeom prst="leftBrace">
            <a:avLst>
              <a:gd name="adj1" fmla="val 8326"/>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6085" name="左大括号 3"/>
          <p:cNvSpPr/>
          <p:nvPr/>
        </p:nvSpPr>
        <p:spPr>
          <a:xfrm>
            <a:off x="1295400" y="4038600"/>
            <a:ext cx="384175" cy="762000"/>
          </a:xfrm>
          <a:prstGeom prst="leftBrace">
            <a:avLst>
              <a:gd name="adj1" fmla="val 8319"/>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6086" name="左大括号 4"/>
          <p:cNvSpPr/>
          <p:nvPr/>
        </p:nvSpPr>
        <p:spPr>
          <a:xfrm>
            <a:off x="1487488" y="4038600"/>
            <a:ext cx="46037" cy="685800"/>
          </a:xfrm>
          <a:prstGeom prst="leftBrace">
            <a:avLst>
              <a:gd name="adj1" fmla="val 8206"/>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6087" name="左大括号 5"/>
          <p:cNvSpPr/>
          <p:nvPr/>
        </p:nvSpPr>
        <p:spPr>
          <a:xfrm>
            <a:off x="1509713" y="4335463"/>
            <a:ext cx="1843087" cy="46037"/>
          </a:xfrm>
          <a:prstGeom prst="leftBrace">
            <a:avLst>
              <a:gd name="adj1" fmla="val 8328"/>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6088" name="左大括号 6"/>
          <p:cNvSpPr/>
          <p:nvPr/>
        </p:nvSpPr>
        <p:spPr>
          <a:xfrm>
            <a:off x="2432050" y="4359275"/>
            <a:ext cx="46038" cy="669925"/>
          </a:xfrm>
          <a:prstGeom prst="leftBrace">
            <a:avLst>
              <a:gd name="adj1" fmla="val 8218"/>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6089" name="左大括号 7"/>
          <p:cNvSpPr/>
          <p:nvPr/>
        </p:nvSpPr>
        <p:spPr>
          <a:xfrm>
            <a:off x="3429000" y="5029200"/>
            <a:ext cx="155575" cy="914400"/>
          </a:xfrm>
          <a:prstGeom prst="leftBrace">
            <a:avLst>
              <a:gd name="adj1" fmla="val 8299"/>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6090" name="矩形 9"/>
          <p:cNvSpPr/>
          <p:nvPr/>
        </p:nvSpPr>
        <p:spPr>
          <a:xfrm>
            <a:off x="1679575" y="3352800"/>
            <a:ext cx="2816225" cy="1219200"/>
          </a:xfrm>
          <a:prstGeom prst="rect">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6091" name="左大括号 10"/>
          <p:cNvSpPr/>
          <p:nvPr/>
        </p:nvSpPr>
        <p:spPr>
          <a:xfrm>
            <a:off x="914400" y="3352800"/>
            <a:ext cx="76200" cy="685800"/>
          </a:xfrm>
          <a:prstGeom prst="leftBrace">
            <a:avLst>
              <a:gd name="adj1" fmla="val 8291"/>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6092" name="矩形 11"/>
          <p:cNvSpPr/>
          <p:nvPr/>
        </p:nvSpPr>
        <p:spPr>
          <a:xfrm>
            <a:off x="685800" y="3581400"/>
            <a:ext cx="1219200" cy="609600"/>
          </a:xfrm>
          <a:prstGeom prst="rect">
            <a:avLst/>
          </a:prstGeom>
          <a:noFill/>
          <a:ln w="9525">
            <a:noFill/>
          </a:ln>
        </p:spPr>
        <p:txBody>
          <a:bodyPr>
            <a:spAutoFit/>
          </a:bodyPr>
          <a:lstStyle/>
          <a:p>
            <a:pPr algn="ctr"/>
            <a:endParaRPr lang="zh-CN" altLang="en-US"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信息系统安全管理测评</a:t>
            </a:r>
          </a:p>
        </p:txBody>
      </p:sp>
      <p:sp>
        <p:nvSpPr>
          <p:cNvPr id="47107" name="内容占位符 2"/>
          <p:cNvSpPr>
            <a:spLocks noGrp="1"/>
          </p:cNvSpPr>
          <p:nvPr>
            <p:ph idx="1"/>
          </p:nvPr>
        </p:nvSpPr>
        <p:spPr>
          <a:xfrm>
            <a:off x="228600" y="1066800"/>
            <a:ext cx="8610600" cy="5410200"/>
          </a:xfrm>
        </p:spPr>
        <p:txBody>
          <a:bodyPr vert="horz" wrap="square" lIns="91440" tIns="45720" rIns="91440" bIns="45720" anchor="t" anchorCtr="0"/>
          <a:lstStyle/>
          <a:p>
            <a:pPr eaLnBrk="1" hangingPunct="1">
              <a:spcAft>
                <a:spcPct val="20000"/>
              </a:spcAft>
              <a:buClr>
                <a:srgbClr val="AC04A0"/>
              </a:buClr>
              <a:buFont typeface="Wingdings" panose="05000000000000000000" pitchFamily="2" charset="2"/>
              <a:buChar char="Ø"/>
            </a:pPr>
            <a:r>
              <a:rPr lang="en-US" altLang="zh-CN" b="1" dirty="0">
                <a:latin typeface="Times New Roman" panose="02020603050405020304" pitchFamily="18" charset="0"/>
                <a:ea typeface="楷体_GB2312" pitchFamily="49" charset="-122"/>
              </a:rPr>
              <a:t> </a:t>
            </a:r>
            <a:r>
              <a:rPr lang="zh-CN" altLang="en-US" b="1" dirty="0">
                <a:latin typeface="楷体_GB2312" pitchFamily="49" charset="-122"/>
                <a:ea typeface="楷体_GB2312" pitchFamily="49" charset="-122"/>
              </a:rPr>
              <a:t>评估方法：</a:t>
            </a:r>
            <a:endParaRPr lang="en-US" altLang="zh-CN" sz="2800" b="1" dirty="0">
              <a:latin typeface="楷体_GB2312" pitchFamily="49" charset="-122"/>
              <a:ea typeface="楷体_GB2312" pitchFamily="49" charset="-122"/>
            </a:endParaRPr>
          </a:p>
          <a:p>
            <a:pPr marL="457200" lvl="1" indent="0" eaLnBrk="1" hangingPunct="1">
              <a:buNone/>
            </a:pPr>
            <a:endParaRPr lang="zh-CN" altLang="en-US" b="1" dirty="0">
              <a:solidFill>
                <a:srgbClr val="000000"/>
              </a:solidFill>
              <a:ea typeface="楷体_GB2312" pitchFamily="49" charset="-122"/>
            </a:endParaRPr>
          </a:p>
        </p:txBody>
      </p:sp>
      <p:sp>
        <p:nvSpPr>
          <p:cNvPr id="47108" name="左大括号 2"/>
          <p:cNvSpPr/>
          <p:nvPr/>
        </p:nvSpPr>
        <p:spPr>
          <a:xfrm>
            <a:off x="1524000" y="4038600"/>
            <a:ext cx="457200" cy="685800"/>
          </a:xfrm>
          <a:prstGeom prst="leftBrace">
            <a:avLst>
              <a:gd name="adj1" fmla="val 8326"/>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7109" name="左大括号 3"/>
          <p:cNvSpPr/>
          <p:nvPr/>
        </p:nvSpPr>
        <p:spPr>
          <a:xfrm>
            <a:off x="1295400" y="4038600"/>
            <a:ext cx="384175" cy="762000"/>
          </a:xfrm>
          <a:prstGeom prst="leftBrace">
            <a:avLst>
              <a:gd name="adj1" fmla="val 8319"/>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7110" name="左大括号 4"/>
          <p:cNvSpPr/>
          <p:nvPr/>
        </p:nvSpPr>
        <p:spPr>
          <a:xfrm>
            <a:off x="1487488" y="4038600"/>
            <a:ext cx="46037" cy="685800"/>
          </a:xfrm>
          <a:prstGeom prst="leftBrace">
            <a:avLst>
              <a:gd name="adj1" fmla="val 8206"/>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7111" name="左大括号 5"/>
          <p:cNvSpPr/>
          <p:nvPr/>
        </p:nvSpPr>
        <p:spPr>
          <a:xfrm>
            <a:off x="1509713" y="4335463"/>
            <a:ext cx="1843087" cy="46037"/>
          </a:xfrm>
          <a:prstGeom prst="leftBrace">
            <a:avLst>
              <a:gd name="adj1" fmla="val 8328"/>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7112" name="左大括号 6"/>
          <p:cNvSpPr/>
          <p:nvPr/>
        </p:nvSpPr>
        <p:spPr>
          <a:xfrm>
            <a:off x="2432050" y="4359275"/>
            <a:ext cx="46038" cy="669925"/>
          </a:xfrm>
          <a:prstGeom prst="leftBrace">
            <a:avLst>
              <a:gd name="adj1" fmla="val 8218"/>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7113" name="左大括号 7"/>
          <p:cNvSpPr/>
          <p:nvPr/>
        </p:nvSpPr>
        <p:spPr>
          <a:xfrm>
            <a:off x="3429000" y="5029200"/>
            <a:ext cx="155575" cy="914400"/>
          </a:xfrm>
          <a:prstGeom prst="leftBrace">
            <a:avLst>
              <a:gd name="adj1" fmla="val 8299"/>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7114" name="矩形 9"/>
          <p:cNvSpPr/>
          <p:nvPr/>
        </p:nvSpPr>
        <p:spPr>
          <a:xfrm>
            <a:off x="1679575" y="3352800"/>
            <a:ext cx="2816225" cy="1219200"/>
          </a:xfrm>
          <a:prstGeom prst="rect">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7115" name="左大括号 10"/>
          <p:cNvSpPr/>
          <p:nvPr/>
        </p:nvSpPr>
        <p:spPr>
          <a:xfrm>
            <a:off x="914400" y="3352800"/>
            <a:ext cx="76200" cy="685800"/>
          </a:xfrm>
          <a:prstGeom prst="leftBrace">
            <a:avLst>
              <a:gd name="adj1" fmla="val 8291"/>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7116" name="矩形 11"/>
          <p:cNvSpPr/>
          <p:nvPr/>
        </p:nvSpPr>
        <p:spPr>
          <a:xfrm>
            <a:off x="685800" y="3581400"/>
            <a:ext cx="1219200" cy="609600"/>
          </a:xfrm>
          <a:prstGeom prst="rect">
            <a:avLst/>
          </a:prstGeom>
          <a:noFill/>
          <a:ln w="9525">
            <a:noFill/>
          </a:ln>
        </p:spPr>
        <p:txBody>
          <a:bodyPr>
            <a:spAutoFit/>
          </a:bodyPr>
          <a:lstStyle/>
          <a:p>
            <a:pPr algn="ctr"/>
            <a:endParaRPr lang="zh-CN" altLang="en-US" dirty="0">
              <a:latin typeface="Times New Roman" panose="02020603050405020304" pitchFamily="18" charset="0"/>
            </a:endParaRPr>
          </a:p>
        </p:txBody>
      </p:sp>
      <p:graphicFrame>
        <p:nvGraphicFramePr>
          <p:cNvPr id="2" name="表格 1"/>
          <p:cNvGraphicFramePr>
            <a:graphicFrameLocks noGrp="1"/>
          </p:cNvGraphicFramePr>
          <p:nvPr/>
        </p:nvGraphicFramePr>
        <p:xfrm>
          <a:off x="666750" y="1951038"/>
          <a:ext cx="8077201" cy="4479930"/>
        </p:xfrm>
        <a:graphic>
          <a:graphicData uri="http://schemas.openxmlformats.org/drawingml/2006/table">
            <a:tbl>
              <a:tblPr firstRow="1" bandRow="1">
                <a:tableStyleId>{5C22544A-7EE6-4342-B048-85BDC9FD1C3A}</a:tableStyleId>
              </a:tblPr>
              <a:tblGrid>
                <a:gridCol w="1828801"/>
                <a:gridCol w="2438400"/>
                <a:gridCol w="3810000"/>
              </a:tblGrid>
              <a:tr h="685545">
                <a:tc>
                  <a:txBody>
                    <a:bodyPr/>
                    <a:lstStyle/>
                    <a:p>
                      <a:pPr marL="0" algn="ctr" defTabSz="914400" rtl="0" eaLnBrk="1" latinLnBrk="0" hangingPunct="1"/>
                      <a:r>
                        <a:rPr lang="zh-CN" altLang="en-US" sz="2000" b="1" kern="1200" dirty="0" smtClean="0">
                          <a:solidFill>
                            <a:schemeClr val="tx1">
                              <a:lumMod val="60000"/>
                              <a:lumOff val="40000"/>
                            </a:schemeClr>
                          </a:solidFill>
                          <a:latin typeface="+mn-lt"/>
                          <a:ea typeface="楷体_GB2312" pitchFamily="49" charset="-122"/>
                          <a:cs typeface="+mn-cs"/>
                        </a:rPr>
                        <a:t>控制级别</a:t>
                      </a:r>
                      <a:endParaRPr lang="zh-CN" altLang="en-US" sz="2000" b="1" kern="1200" dirty="0">
                        <a:solidFill>
                          <a:schemeClr val="tx1">
                            <a:lumMod val="60000"/>
                            <a:lumOff val="40000"/>
                          </a:schemeClr>
                        </a:solidFill>
                        <a:latin typeface="+mn-lt"/>
                        <a:ea typeface="楷体_GB2312" pitchFamily="49" charset="-122"/>
                        <a:cs typeface="+mn-cs"/>
                      </a:endParaRPr>
                    </a:p>
                  </a:txBody>
                  <a:tcPr marL="91442" marR="91442" marT="45705" marB="45705">
                    <a:solidFill>
                      <a:schemeClr val="bg2"/>
                    </a:solidFill>
                  </a:tcPr>
                </a:tc>
                <a:tc>
                  <a:txBody>
                    <a:bodyPr/>
                    <a:lstStyle/>
                    <a:p>
                      <a:pPr marL="0" algn="ctr" defTabSz="914400" rtl="0" eaLnBrk="1" latinLnBrk="0" hangingPunct="1"/>
                      <a:r>
                        <a:rPr lang="zh-CN" altLang="en-US" sz="2000" b="1" kern="1200" baseline="0" dirty="0" smtClean="0">
                          <a:solidFill>
                            <a:schemeClr val="tx1">
                              <a:lumMod val="60000"/>
                              <a:lumOff val="40000"/>
                            </a:schemeClr>
                          </a:solidFill>
                          <a:latin typeface="+mn-lt"/>
                          <a:ea typeface="楷体_GB2312" pitchFamily="49" charset="-122"/>
                          <a:cs typeface="+mn-cs"/>
                        </a:rPr>
                        <a:t>      </a:t>
                      </a:r>
                      <a:r>
                        <a:rPr lang="zh-CN" altLang="en-US" sz="2000" b="1" kern="1200" dirty="0" smtClean="0">
                          <a:solidFill>
                            <a:schemeClr val="tx1">
                              <a:lumMod val="60000"/>
                              <a:lumOff val="40000"/>
                            </a:schemeClr>
                          </a:solidFill>
                          <a:latin typeface="+mn-lt"/>
                          <a:ea typeface="楷体_GB2312" pitchFamily="49" charset="-122"/>
                          <a:cs typeface="+mn-cs"/>
                        </a:rPr>
                        <a:t>抽样相关事项</a:t>
                      </a:r>
                      <a:endParaRPr lang="zh-CN" altLang="en-US" sz="2000" b="1" kern="1200" dirty="0">
                        <a:solidFill>
                          <a:schemeClr val="tx1">
                            <a:lumMod val="60000"/>
                            <a:lumOff val="40000"/>
                          </a:schemeClr>
                        </a:solidFill>
                        <a:latin typeface="+mn-lt"/>
                        <a:ea typeface="楷体_GB2312" pitchFamily="49" charset="-122"/>
                        <a:cs typeface="+mn-cs"/>
                      </a:endParaRPr>
                    </a:p>
                  </a:txBody>
                  <a:tcPr marL="91442" marR="91442" marT="45705" marB="45705">
                    <a:solidFill>
                      <a:schemeClr val="bg2"/>
                    </a:solidFill>
                  </a:tcPr>
                </a:tc>
                <a:tc>
                  <a:txBody>
                    <a:bodyPr/>
                    <a:lstStyle/>
                    <a:p>
                      <a:pPr marL="0" algn="ctr" defTabSz="914400" rtl="0" eaLnBrk="1" latinLnBrk="0" hangingPunct="1"/>
                      <a:r>
                        <a:rPr lang="zh-CN" altLang="en-US" sz="1800" dirty="0" smtClean="0">
                          <a:solidFill>
                            <a:schemeClr val="tx1">
                              <a:lumMod val="60000"/>
                              <a:lumOff val="40000"/>
                            </a:schemeClr>
                          </a:solidFill>
                        </a:rPr>
                        <a:t>              </a:t>
                      </a:r>
                      <a:r>
                        <a:rPr lang="zh-CN" altLang="en-US" sz="2000" b="1" kern="1200" dirty="0" smtClean="0">
                          <a:solidFill>
                            <a:schemeClr val="tx1">
                              <a:lumMod val="60000"/>
                              <a:lumOff val="40000"/>
                            </a:schemeClr>
                          </a:solidFill>
                          <a:latin typeface="+mn-lt"/>
                          <a:ea typeface="楷体_GB2312" pitchFamily="49" charset="-122"/>
                          <a:cs typeface="+mn-cs"/>
                        </a:rPr>
                        <a:t>检查相关事项</a:t>
                      </a:r>
                      <a:endParaRPr lang="zh-CN" altLang="en-US" sz="2000" b="1" kern="1200" dirty="0">
                        <a:solidFill>
                          <a:schemeClr val="tx1">
                            <a:lumMod val="60000"/>
                            <a:lumOff val="40000"/>
                          </a:schemeClr>
                        </a:solidFill>
                        <a:latin typeface="+mn-lt"/>
                        <a:ea typeface="楷体_GB2312" pitchFamily="49" charset="-122"/>
                        <a:cs typeface="+mn-cs"/>
                      </a:endParaRPr>
                    </a:p>
                  </a:txBody>
                  <a:tcPr marL="91442" marR="91442" marT="45705" marB="45705">
                    <a:solidFill>
                      <a:schemeClr val="bg2"/>
                    </a:solidFill>
                  </a:tcPr>
                </a:tc>
              </a:tr>
              <a:tr h="701009">
                <a:tc>
                  <a:txBody>
                    <a:bodyPr/>
                    <a:lstStyle/>
                    <a:p>
                      <a:pPr marL="0" algn="l" defTabSz="914400" rtl="0" eaLnBrk="1" latinLnBrk="0" hangingPunct="1"/>
                      <a:r>
                        <a:rPr lang="zh-CN" altLang="en-US" sz="2000" b="1" kern="1200" dirty="0" smtClean="0">
                          <a:solidFill>
                            <a:srgbClr val="000000"/>
                          </a:solidFill>
                          <a:latin typeface="+mn-lt"/>
                          <a:ea typeface="楷体_GB2312" pitchFamily="49" charset="-122"/>
                          <a:cs typeface="+mn-cs"/>
                        </a:rPr>
                        <a:t>一级控制</a:t>
                      </a:r>
                      <a:endParaRPr lang="zh-CN" altLang="en-US" sz="2000" b="1" kern="1200" dirty="0">
                        <a:solidFill>
                          <a:srgbClr val="000000"/>
                        </a:solidFill>
                        <a:latin typeface="+mn-lt"/>
                        <a:ea typeface="楷体_GB2312" pitchFamily="49" charset="-122"/>
                        <a:cs typeface="+mn-cs"/>
                      </a:endParaRPr>
                    </a:p>
                  </a:txBody>
                  <a:tcPr marL="91442" marR="91442" marT="45705" marB="45705">
                    <a:solidFill>
                      <a:schemeClr val="bg2"/>
                    </a:solidFill>
                  </a:tcPr>
                </a:tc>
                <a:tc>
                  <a:txBody>
                    <a:bodyPr/>
                    <a:lstStyle/>
                    <a:p>
                      <a:pPr marL="0" algn="l" defTabSz="914400" rtl="0" eaLnBrk="1" latinLnBrk="0" hangingPunct="1"/>
                      <a:r>
                        <a:rPr lang="zh-CN" altLang="en-US" sz="2000" b="1" kern="1200" baseline="0" dirty="0" smtClean="0">
                          <a:solidFill>
                            <a:srgbClr val="000000"/>
                          </a:solidFill>
                          <a:latin typeface="+mn-lt"/>
                          <a:ea typeface="楷体_GB2312" pitchFamily="49" charset="-122"/>
                          <a:cs typeface="+mn-cs"/>
                        </a:rPr>
                        <a:t>  种类和数量都较少</a:t>
                      </a:r>
                      <a:endParaRPr lang="zh-CN" altLang="en-US" sz="2000" b="1" kern="1200" baseline="0" dirty="0">
                        <a:solidFill>
                          <a:srgbClr val="000000"/>
                        </a:solidFill>
                        <a:latin typeface="+mn-lt"/>
                        <a:ea typeface="楷体_GB2312" pitchFamily="49" charset="-122"/>
                        <a:cs typeface="+mn-cs"/>
                      </a:endParaRPr>
                    </a:p>
                  </a:txBody>
                  <a:tcPr marL="91442" marR="91442" marT="45705" marB="45705">
                    <a:solidFill>
                      <a:schemeClr val="bg2"/>
                    </a:solidFill>
                  </a:tcPr>
                </a:tc>
                <a:tc>
                  <a:txBody>
                    <a:bodyPr/>
                    <a:lstStyle/>
                    <a:p>
                      <a:r>
                        <a:rPr lang="zh-CN" altLang="en-US" sz="2000" b="1" kern="1200" baseline="0" dirty="0" smtClean="0">
                          <a:solidFill>
                            <a:srgbClr val="000000"/>
                          </a:solidFill>
                          <a:latin typeface="+mn-lt"/>
                          <a:ea typeface="楷体_GB2312" pitchFamily="49" charset="-122"/>
                          <a:cs typeface="+mn-cs"/>
                        </a:rPr>
                        <a:t>一般检查，进行概要的高层次检查、观察或核查</a:t>
                      </a:r>
                      <a:endParaRPr lang="zh-CN" altLang="en-US" sz="2000" b="1" kern="1200" baseline="0" dirty="0">
                        <a:solidFill>
                          <a:srgbClr val="000000"/>
                        </a:solidFill>
                        <a:latin typeface="+mn-lt"/>
                        <a:ea typeface="楷体_GB2312" pitchFamily="49" charset="-122"/>
                        <a:cs typeface="+mn-cs"/>
                      </a:endParaRPr>
                    </a:p>
                  </a:txBody>
                  <a:tcPr marL="91442" marR="91442" marT="45705" marB="45705">
                    <a:solidFill>
                      <a:schemeClr val="bg2"/>
                    </a:solidFill>
                  </a:tcPr>
                </a:tc>
              </a:tr>
              <a:tr h="685545">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2000" b="1" kern="1200" dirty="0" smtClean="0">
                          <a:solidFill>
                            <a:srgbClr val="000000"/>
                          </a:solidFill>
                          <a:latin typeface="+mn-lt"/>
                          <a:ea typeface="楷体_GB2312" pitchFamily="49" charset="-122"/>
                          <a:cs typeface="+mn-cs"/>
                        </a:rPr>
                        <a:t>二级控制</a:t>
                      </a:r>
                    </a:p>
                    <a:p>
                      <a:endParaRPr lang="zh-CN" altLang="en-US" sz="1800" dirty="0"/>
                    </a:p>
                  </a:txBody>
                  <a:tcPr marL="91442" marR="91442" marT="45705" marB="45705">
                    <a:solidFill>
                      <a:schemeClr val="bg2"/>
                    </a:solidFill>
                  </a:tcPr>
                </a:tc>
                <a:tc>
                  <a:txBody>
                    <a:bodyPr/>
                    <a:lstStyle/>
                    <a:p>
                      <a:pPr marL="0" algn="l" defTabSz="914400" rtl="0" eaLnBrk="1" latinLnBrk="0" hangingPunct="1"/>
                      <a:r>
                        <a:rPr lang="zh-CN" altLang="en-US" sz="2000" b="1" kern="1200" baseline="0" dirty="0" smtClean="0">
                          <a:solidFill>
                            <a:srgbClr val="000000"/>
                          </a:solidFill>
                          <a:latin typeface="+mn-lt"/>
                          <a:ea typeface="楷体_GB2312" pitchFamily="49" charset="-122"/>
                          <a:cs typeface="+mn-cs"/>
                        </a:rPr>
                        <a:t>  种类和数量都较多</a:t>
                      </a:r>
                      <a:endParaRPr lang="zh-CN" altLang="en-US" sz="2000" b="1" kern="1200" baseline="0" dirty="0">
                        <a:solidFill>
                          <a:srgbClr val="000000"/>
                        </a:solidFill>
                        <a:latin typeface="+mn-lt"/>
                        <a:ea typeface="楷体_GB2312" pitchFamily="49" charset="-122"/>
                        <a:cs typeface="+mn-cs"/>
                      </a:endParaRPr>
                    </a:p>
                  </a:txBody>
                  <a:tcPr marL="91442" marR="91442" marT="45705" marB="45705">
                    <a:solidFill>
                      <a:schemeClr val="bg2"/>
                    </a:solidFill>
                  </a:tcPr>
                </a:tc>
                <a:tc>
                  <a:txBody>
                    <a:bodyPr/>
                    <a:lstStyle/>
                    <a:p>
                      <a:pPr marL="0" algn="l" defTabSz="914400" rtl="0" eaLnBrk="1" latinLnBrk="0" hangingPunct="1"/>
                      <a:r>
                        <a:rPr lang="zh-CN" altLang="en-US" sz="2000" b="1" kern="1200" baseline="0" dirty="0" smtClean="0">
                          <a:solidFill>
                            <a:srgbClr val="000000"/>
                          </a:solidFill>
                          <a:latin typeface="+mn-lt"/>
                          <a:ea typeface="楷体_GB2312" pitchFamily="49" charset="-122"/>
                          <a:cs typeface="+mn-cs"/>
                        </a:rPr>
                        <a:t>重点检查，进行详细分析检查</a:t>
                      </a:r>
                      <a:endParaRPr lang="zh-CN" altLang="en-US" sz="2000" b="1" kern="1200" baseline="0" dirty="0">
                        <a:solidFill>
                          <a:srgbClr val="000000"/>
                        </a:solidFill>
                        <a:latin typeface="+mn-lt"/>
                        <a:ea typeface="楷体_GB2312" pitchFamily="49" charset="-122"/>
                        <a:cs typeface="+mn-cs"/>
                      </a:endParaRPr>
                    </a:p>
                  </a:txBody>
                  <a:tcPr marL="91442" marR="91442" marT="45705" marB="45705">
                    <a:solidFill>
                      <a:schemeClr val="bg2"/>
                    </a:solidFill>
                  </a:tcPr>
                </a:tc>
              </a:tr>
              <a:tr h="1005808">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2000" b="1" kern="1200" baseline="0" dirty="0" smtClean="0">
                          <a:solidFill>
                            <a:srgbClr val="000000"/>
                          </a:solidFill>
                          <a:latin typeface="+mn-lt"/>
                          <a:ea typeface="楷体_GB2312" pitchFamily="49" charset="-122"/>
                          <a:cs typeface="+mn-cs"/>
                        </a:rPr>
                        <a:t>三级控制</a:t>
                      </a:r>
                    </a:p>
                    <a:p>
                      <a:pPr marL="0" algn="l" defTabSz="914400" rtl="0" eaLnBrk="1" latinLnBrk="0" hangingPunct="1"/>
                      <a:endParaRPr lang="zh-CN" altLang="en-US" sz="2000" b="1" kern="1200" baseline="0" dirty="0">
                        <a:solidFill>
                          <a:srgbClr val="000000"/>
                        </a:solidFill>
                        <a:latin typeface="+mn-lt"/>
                        <a:ea typeface="楷体_GB2312" pitchFamily="49" charset="-122"/>
                        <a:cs typeface="+mn-cs"/>
                      </a:endParaRPr>
                    </a:p>
                  </a:txBody>
                  <a:tcPr marL="91442" marR="91442" marT="45705" marB="45705">
                    <a:solidFill>
                      <a:schemeClr val="bg2"/>
                    </a:solidFill>
                  </a:tcPr>
                </a:tc>
                <a:tc>
                  <a:txBody>
                    <a:bodyPr/>
                    <a:lstStyle/>
                    <a:p>
                      <a:pPr marL="0" algn="l" defTabSz="914400" rtl="0" eaLnBrk="1" latinLnBrk="0" hangingPunct="1"/>
                      <a:r>
                        <a:rPr lang="zh-CN" altLang="en-US" sz="2000" b="1" kern="1200" baseline="0" dirty="0" smtClean="0">
                          <a:solidFill>
                            <a:srgbClr val="000000"/>
                          </a:solidFill>
                          <a:latin typeface="+mn-lt"/>
                          <a:ea typeface="楷体_GB2312" pitchFamily="49" charset="-122"/>
                          <a:cs typeface="+mn-cs"/>
                        </a:rPr>
                        <a:t>       基本覆盖</a:t>
                      </a:r>
                      <a:endParaRPr lang="zh-CN" altLang="en-US" sz="2000" b="1" kern="1200" baseline="0" dirty="0">
                        <a:solidFill>
                          <a:srgbClr val="000000"/>
                        </a:solidFill>
                        <a:latin typeface="+mn-lt"/>
                        <a:ea typeface="楷体_GB2312" pitchFamily="49" charset="-122"/>
                        <a:cs typeface="+mn-cs"/>
                      </a:endParaRPr>
                    </a:p>
                  </a:txBody>
                  <a:tcPr marL="91442" marR="91442" marT="45705" marB="45705">
                    <a:solidFill>
                      <a:schemeClr val="bg2"/>
                    </a:solidFill>
                  </a:tcPr>
                </a:tc>
                <a:tc>
                  <a:txBody>
                    <a:bodyPr/>
                    <a:lstStyle/>
                    <a:p>
                      <a:pPr marL="0" algn="l" defTabSz="914400" rtl="0" eaLnBrk="1" latinLnBrk="0" hangingPunct="1"/>
                      <a:r>
                        <a:rPr lang="zh-CN" altLang="en-US" sz="2000" b="1" kern="1200" baseline="0" dirty="0" smtClean="0">
                          <a:solidFill>
                            <a:srgbClr val="000000"/>
                          </a:solidFill>
                          <a:latin typeface="+mn-lt"/>
                          <a:ea typeface="楷体_GB2312" pitchFamily="49" charset="-122"/>
                          <a:cs typeface="+mn-cs"/>
                        </a:rPr>
                        <a:t>较全面检查，并对主要安全管理控制措施实施的相关信息进行检查</a:t>
                      </a:r>
                      <a:endParaRPr lang="zh-CN" altLang="en-US" sz="2000" b="1" kern="1200" baseline="0" dirty="0">
                        <a:solidFill>
                          <a:srgbClr val="000000"/>
                        </a:solidFill>
                        <a:latin typeface="+mn-lt"/>
                        <a:ea typeface="楷体_GB2312" pitchFamily="49" charset="-122"/>
                        <a:cs typeface="+mn-cs"/>
                      </a:endParaRPr>
                    </a:p>
                  </a:txBody>
                  <a:tcPr marL="91442" marR="91442" marT="45705" marB="45705">
                    <a:solidFill>
                      <a:schemeClr val="bg2"/>
                    </a:solidFill>
                  </a:tcPr>
                </a:tc>
              </a:tr>
              <a:tr h="701009">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b="1" kern="1200" noProof="0" dirty="0" smtClean="0">
                          <a:solidFill>
                            <a:srgbClr val="000000"/>
                          </a:solidFill>
                          <a:latin typeface="+mn-lt"/>
                          <a:ea typeface="楷体_GB2312" pitchFamily="49" charset="-122"/>
                          <a:cs typeface="+mn-cs"/>
                        </a:rPr>
                        <a:t>四级控制</a:t>
                      </a:r>
                    </a:p>
                    <a:p>
                      <a:endParaRPr lang="zh-CN" altLang="en-US" sz="1800" dirty="0"/>
                    </a:p>
                  </a:txBody>
                  <a:tcPr marL="91442" marR="91442" marT="45705" marB="45705">
                    <a:solidFill>
                      <a:schemeClr val="bg2"/>
                    </a:solidFill>
                  </a:tcPr>
                </a:tc>
                <a:tc>
                  <a:txBody>
                    <a:bodyPr/>
                    <a:lstStyle/>
                    <a:p>
                      <a:pPr marL="0" algn="l" defTabSz="914400" rtl="0" eaLnBrk="1" latinLnBrk="0" hangingPunct="1"/>
                      <a:r>
                        <a:rPr lang="zh-CN" altLang="en-US" sz="2000" b="1" kern="1200" baseline="0" dirty="0" smtClean="0">
                          <a:solidFill>
                            <a:srgbClr val="000000"/>
                          </a:solidFill>
                          <a:latin typeface="+mn-lt"/>
                          <a:ea typeface="楷体_GB2312" pitchFamily="49" charset="-122"/>
                          <a:cs typeface="+mn-cs"/>
                        </a:rPr>
                        <a:t>全覆盖并逐项检查</a:t>
                      </a:r>
                      <a:endParaRPr lang="zh-CN" altLang="en-US" sz="2000" b="1" kern="1200" baseline="0" dirty="0">
                        <a:solidFill>
                          <a:srgbClr val="000000"/>
                        </a:solidFill>
                        <a:latin typeface="+mn-lt"/>
                        <a:ea typeface="楷体_GB2312" pitchFamily="49" charset="-122"/>
                        <a:cs typeface="+mn-cs"/>
                      </a:endParaRPr>
                    </a:p>
                  </a:txBody>
                  <a:tcPr marL="91442" marR="91442" marT="45705" marB="45705">
                    <a:solidFill>
                      <a:schemeClr val="bg2"/>
                    </a:solidFill>
                  </a:tcPr>
                </a:tc>
                <a:tc>
                  <a:txBody>
                    <a:bodyPr/>
                    <a:lstStyle/>
                    <a:p>
                      <a:pPr marL="0" algn="l" defTabSz="914400" rtl="0" eaLnBrk="1" latinLnBrk="0" hangingPunct="1"/>
                      <a:r>
                        <a:rPr lang="zh-CN" altLang="en-US" sz="2000" b="1" kern="1200" baseline="0" dirty="0" smtClean="0">
                          <a:solidFill>
                            <a:srgbClr val="000000"/>
                          </a:solidFill>
                          <a:latin typeface="+mn-lt"/>
                          <a:ea typeface="楷体_GB2312" pitchFamily="49" charset="-122"/>
                          <a:cs typeface="+mn-cs"/>
                        </a:rPr>
                        <a:t>全面检查，并对各项安全管理控制措施实施的相关信息进行检查</a:t>
                      </a:r>
                      <a:endParaRPr lang="zh-CN" altLang="en-US" sz="2000" b="1" kern="1200" baseline="0" dirty="0">
                        <a:solidFill>
                          <a:srgbClr val="000000"/>
                        </a:solidFill>
                        <a:latin typeface="+mn-lt"/>
                        <a:ea typeface="楷体_GB2312" pitchFamily="49" charset="-122"/>
                        <a:cs typeface="+mn-cs"/>
                      </a:endParaRPr>
                    </a:p>
                  </a:txBody>
                  <a:tcPr marL="91442" marR="91442" marT="45705" marB="45705">
                    <a:solidFill>
                      <a:schemeClr val="bg2"/>
                    </a:solidFill>
                  </a:tcPr>
                </a:tc>
              </a:tr>
              <a:tr h="701009">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smtClean="0">
                          <a:ln>
                            <a:noFill/>
                          </a:ln>
                          <a:solidFill>
                            <a:srgbClr val="000000"/>
                          </a:solidFill>
                          <a:effectLst/>
                          <a:uLnTx/>
                          <a:uFillTx/>
                          <a:latin typeface="+mn-lt"/>
                          <a:ea typeface="楷体_GB2312" pitchFamily="49" charset="-122"/>
                          <a:cs typeface="+mn-cs"/>
                        </a:rPr>
                        <a:t>五级控制</a:t>
                      </a:r>
                    </a:p>
                    <a:p>
                      <a:endParaRPr lang="zh-CN" altLang="en-US" sz="1800" dirty="0"/>
                    </a:p>
                  </a:txBody>
                  <a:tcPr marL="91442" marR="91442" marT="45705" marB="45705">
                    <a:solidFill>
                      <a:schemeClr val="bg2"/>
                    </a:solidFill>
                  </a:tcPr>
                </a:tc>
                <a:tc>
                  <a:txBody>
                    <a:bodyPr/>
                    <a:lstStyle/>
                    <a:p>
                      <a:pPr marL="0" algn="l" defTabSz="914400" rtl="0" eaLnBrk="1" latinLnBrk="0" hangingPunct="1"/>
                      <a:r>
                        <a:rPr lang="zh-CN" altLang="en-US" sz="2000" b="1" kern="1200" baseline="0" dirty="0" smtClean="0">
                          <a:solidFill>
                            <a:srgbClr val="000000"/>
                          </a:solidFill>
                          <a:latin typeface="+mn-lt"/>
                          <a:ea typeface="楷体_GB2312" pitchFamily="49" charset="-122"/>
                          <a:cs typeface="+mn-cs"/>
                        </a:rPr>
                        <a:t>逐项检查，或设定专项内容</a:t>
                      </a:r>
                      <a:endParaRPr lang="zh-CN" altLang="en-US" sz="2000" b="1" kern="1200" baseline="0" dirty="0">
                        <a:solidFill>
                          <a:srgbClr val="000000"/>
                        </a:solidFill>
                        <a:latin typeface="+mn-lt"/>
                        <a:ea typeface="楷体_GB2312" pitchFamily="49" charset="-122"/>
                        <a:cs typeface="+mn-cs"/>
                      </a:endParaRPr>
                    </a:p>
                  </a:txBody>
                  <a:tcPr marL="91442" marR="91442" marT="45705" marB="45705">
                    <a:solidFill>
                      <a:schemeClr val="bg2"/>
                    </a:solidFill>
                  </a:tcPr>
                </a:tc>
                <a:tc>
                  <a:txBody>
                    <a:bodyPr/>
                    <a:lstStyle/>
                    <a:p>
                      <a:r>
                        <a:rPr lang="zh-CN" altLang="en-US" sz="2000" b="1" kern="1200" baseline="0" dirty="0" smtClean="0">
                          <a:solidFill>
                            <a:srgbClr val="000000"/>
                          </a:solidFill>
                          <a:latin typeface="+mn-lt"/>
                          <a:ea typeface="楷体_GB2312" pitchFamily="49" charset="-122"/>
                          <a:cs typeface="+mn-cs"/>
                        </a:rPr>
                        <a:t>除四级控制需要进行的检查外，对设定专项内容进行专门检查</a:t>
                      </a:r>
                      <a:endParaRPr lang="zh-CN" altLang="en-US" sz="2000" b="1" kern="1200" baseline="0" dirty="0">
                        <a:solidFill>
                          <a:srgbClr val="000000"/>
                        </a:solidFill>
                        <a:latin typeface="+mn-lt"/>
                        <a:ea typeface="楷体_GB2312" pitchFamily="49" charset="-122"/>
                        <a:cs typeface="+mn-cs"/>
                      </a:endParaRPr>
                    </a:p>
                  </a:txBody>
                  <a:tcPr marL="91442" marR="91442" marT="45705" marB="45705">
                    <a:solidFill>
                      <a:schemeClr val="bg2"/>
                    </a:solidFill>
                  </a:tcPr>
                </a:tc>
              </a:tr>
            </a:tbl>
          </a:graphicData>
        </a:graphic>
      </p:graphicFrame>
    </p:spTree>
  </p:cSld>
  <p:clrMapOvr>
    <a:masterClrMapping/>
  </p:clrMapOvr>
  <p:transition>
    <p:rand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信息系统安全管理测评</a:t>
            </a:r>
          </a:p>
        </p:txBody>
      </p:sp>
      <p:sp>
        <p:nvSpPr>
          <p:cNvPr id="19459" name="内容占位符 2"/>
          <p:cNvSpPr>
            <a:spLocks noGrp="1" noChangeArrowheads="1"/>
          </p:cNvSpPr>
          <p:nvPr>
            <p:ph idx="1"/>
          </p:nvPr>
        </p:nvSpPr>
        <p:spPr>
          <a:xfrm>
            <a:off x="381000" y="938213"/>
            <a:ext cx="8610600" cy="5538788"/>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评估方法：</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lang="en-US" altLang="zh-CN" b="1" noProof="0" dirty="0" smtClean="0">
                <a:ln>
                  <a:noFill/>
                </a:ln>
                <a:solidFill>
                  <a:srgbClr val="000000"/>
                </a:solidFill>
                <a:effectLst/>
                <a:uLnTx/>
                <a:uFillTx/>
                <a:latin typeface="楷体_GB2312" pitchFamily="49" charset="-122"/>
                <a:ea typeface="楷体_GB2312" pitchFamily="49" charset="-122"/>
                <a:sym typeface="+mn-ea"/>
              </a:rPr>
              <a:t> 3、</a:t>
            </a:r>
            <a:r>
              <a:rPr lang="zh-CN" altLang="en-US" b="1" noProof="0" dirty="0" smtClean="0">
                <a:ln>
                  <a:noFill/>
                </a:ln>
                <a:solidFill>
                  <a:srgbClr val="000000"/>
                </a:solidFill>
                <a:effectLst/>
                <a:uLnTx/>
                <a:uFillTx/>
                <a:latin typeface="楷体_GB2312" pitchFamily="49" charset="-122"/>
                <a:ea typeface="楷体_GB2312" pitchFamily="49" charset="-122"/>
                <a:sym typeface="+mn-ea"/>
              </a:rPr>
              <a:t>有效性验证</a:t>
            </a:r>
            <a:endParaRPr kumimoji="0" lang="en-US" altLang="zh-CN"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有效性</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验证主要对象</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a)</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针对访问控制策略、制度，采用验证工具进行功能性验证；</a:t>
            </a: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b)</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针对标识与鉴别和审计机制的功能检验；</a:t>
            </a: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c)</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针对安全配置设定的功能检验等。</a:t>
            </a: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en-US" sz="2800" b="1" i="0" u="none" strike="noStrike" kern="0" cap="none" spc="0" normalizeH="0" baseline="0" noProof="0" dirty="0">
              <a:ln>
                <a:noFill/>
              </a:ln>
              <a:solidFill>
                <a:srgbClr val="000000"/>
              </a:solidFill>
              <a:effectLst/>
              <a:uLnTx/>
              <a:uFillTx/>
              <a:latin typeface="+mn-lt"/>
              <a:ea typeface="楷体_GB2312" pitchFamily="49" charset="-122"/>
            </a:endParaRPr>
          </a:p>
        </p:txBody>
      </p:sp>
      <p:sp>
        <p:nvSpPr>
          <p:cNvPr id="48132" name="左大括号 2"/>
          <p:cNvSpPr/>
          <p:nvPr/>
        </p:nvSpPr>
        <p:spPr>
          <a:xfrm>
            <a:off x="1524000" y="4038600"/>
            <a:ext cx="457200" cy="685800"/>
          </a:xfrm>
          <a:prstGeom prst="leftBrace">
            <a:avLst>
              <a:gd name="adj1" fmla="val 8326"/>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8133" name="左大括号 3"/>
          <p:cNvSpPr/>
          <p:nvPr/>
        </p:nvSpPr>
        <p:spPr>
          <a:xfrm>
            <a:off x="1295400" y="4038600"/>
            <a:ext cx="384175" cy="762000"/>
          </a:xfrm>
          <a:prstGeom prst="leftBrace">
            <a:avLst>
              <a:gd name="adj1" fmla="val 8319"/>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8134" name="左大括号 4"/>
          <p:cNvSpPr/>
          <p:nvPr/>
        </p:nvSpPr>
        <p:spPr>
          <a:xfrm>
            <a:off x="1487488" y="4038600"/>
            <a:ext cx="46037" cy="685800"/>
          </a:xfrm>
          <a:prstGeom prst="leftBrace">
            <a:avLst>
              <a:gd name="adj1" fmla="val 8206"/>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8135" name="左大括号 5"/>
          <p:cNvSpPr/>
          <p:nvPr/>
        </p:nvSpPr>
        <p:spPr>
          <a:xfrm>
            <a:off x="1509713" y="4335463"/>
            <a:ext cx="1843087" cy="46037"/>
          </a:xfrm>
          <a:prstGeom prst="leftBrace">
            <a:avLst>
              <a:gd name="adj1" fmla="val 8328"/>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8136" name="左大括号 6"/>
          <p:cNvSpPr/>
          <p:nvPr/>
        </p:nvSpPr>
        <p:spPr>
          <a:xfrm>
            <a:off x="2432050" y="4359275"/>
            <a:ext cx="46038" cy="669925"/>
          </a:xfrm>
          <a:prstGeom prst="leftBrace">
            <a:avLst>
              <a:gd name="adj1" fmla="val 8218"/>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8137" name="左大括号 7"/>
          <p:cNvSpPr/>
          <p:nvPr/>
        </p:nvSpPr>
        <p:spPr>
          <a:xfrm>
            <a:off x="3429000" y="5029200"/>
            <a:ext cx="155575" cy="914400"/>
          </a:xfrm>
          <a:prstGeom prst="leftBrace">
            <a:avLst>
              <a:gd name="adj1" fmla="val 8299"/>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8138" name="矩形 9"/>
          <p:cNvSpPr/>
          <p:nvPr/>
        </p:nvSpPr>
        <p:spPr>
          <a:xfrm>
            <a:off x="1679575" y="3352800"/>
            <a:ext cx="2816225" cy="1219200"/>
          </a:xfrm>
          <a:prstGeom prst="rect">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8139" name="左大括号 10"/>
          <p:cNvSpPr/>
          <p:nvPr/>
        </p:nvSpPr>
        <p:spPr>
          <a:xfrm>
            <a:off x="914400" y="3352800"/>
            <a:ext cx="76200" cy="685800"/>
          </a:xfrm>
          <a:prstGeom prst="leftBrace">
            <a:avLst>
              <a:gd name="adj1" fmla="val 8291"/>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Tree>
  </p:cSld>
  <p:clrMapOvr>
    <a:masterClrMapping/>
  </p:clrMapOvr>
  <p:transition>
    <p:rand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信息系统安全管理测评</a:t>
            </a:r>
          </a:p>
        </p:txBody>
      </p:sp>
      <p:sp>
        <p:nvSpPr>
          <p:cNvPr id="19459" name="内容占位符 2"/>
          <p:cNvSpPr>
            <a:spLocks noGrp="1" noChangeArrowheads="1"/>
          </p:cNvSpPr>
          <p:nvPr>
            <p:ph idx="1"/>
          </p:nvPr>
        </p:nvSpPr>
        <p:spPr>
          <a:xfrm>
            <a:off x="228600" y="1066800"/>
            <a:ext cx="8610600" cy="53340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 </a:t>
            </a: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评估方法：</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有效性</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验证方法</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a)</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检查信息系统的管理者是否已经按</a:t>
            </a: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GB</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a:t>
            </a: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T 20269--2006</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的要求建立了文件化的安全管理体系。</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b)</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检查被确定的过程是否已经得到了充分的展开。</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c)</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检查过程程序的贯彻实施是否取得了预期期望的结果，并以此证明过程是有效的。</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d)</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有效性可从以下方面进行评价：</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    管理控制措施，业务流程，运营措施，技术</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控制</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措施，审核</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、回顾和</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测试</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a:t>
            </a: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rgbClr val="000000"/>
              </a:solidFill>
              <a:effectLst/>
              <a:uLnTx/>
              <a:uFillTx/>
              <a:latin typeface="+mn-lt"/>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en-US" sz="2800" b="1" i="0" u="none" strike="noStrike" kern="0" cap="none" spc="0" normalizeH="0" baseline="0" noProof="0" dirty="0">
              <a:ln>
                <a:noFill/>
              </a:ln>
              <a:solidFill>
                <a:srgbClr val="000000"/>
              </a:solidFill>
              <a:effectLst/>
              <a:uLnTx/>
              <a:uFillTx/>
              <a:latin typeface="+mn-lt"/>
              <a:ea typeface="楷体_GB2312" pitchFamily="49" charset="-122"/>
            </a:endParaRPr>
          </a:p>
        </p:txBody>
      </p:sp>
      <p:sp>
        <p:nvSpPr>
          <p:cNvPr id="49156" name="左大括号 2"/>
          <p:cNvSpPr/>
          <p:nvPr/>
        </p:nvSpPr>
        <p:spPr>
          <a:xfrm>
            <a:off x="1524000" y="4038600"/>
            <a:ext cx="457200" cy="685800"/>
          </a:xfrm>
          <a:prstGeom prst="leftBrace">
            <a:avLst>
              <a:gd name="adj1" fmla="val 8326"/>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9157" name="左大括号 3"/>
          <p:cNvSpPr/>
          <p:nvPr/>
        </p:nvSpPr>
        <p:spPr>
          <a:xfrm>
            <a:off x="1295400" y="4038600"/>
            <a:ext cx="384175" cy="762000"/>
          </a:xfrm>
          <a:prstGeom prst="leftBrace">
            <a:avLst>
              <a:gd name="adj1" fmla="val 8319"/>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9158" name="左大括号 4"/>
          <p:cNvSpPr/>
          <p:nvPr/>
        </p:nvSpPr>
        <p:spPr>
          <a:xfrm>
            <a:off x="1487488" y="4038600"/>
            <a:ext cx="46037" cy="685800"/>
          </a:xfrm>
          <a:prstGeom prst="leftBrace">
            <a:avLst>
              <a:gd name="adj1" fmla="val 8206"/>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9159" name="左大括号 5"/>
          <p:cNvSpPr/>
          <p:nvPr/>
        </p:nvSpPr>
        <p:spPr>
          <a:xfrm>
            <a:off x="1509713" y="4335463"/>
            <a:ext cx="1843087" cy="46037"/>
          </a:xfrm>
          <a:prstGeom prst="leftBrace">
            <a:avLst>
              <a:gd name="adj1" fmla="val 8328"/>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9160" name="左大括号 6"/>
          <p:cNvSpPr/>
          <p:nvPr/>
        </p:nvSpPr>
        <p:spPr>
          <a:xfrm>
            <a:off x="2432050" y="4359275"/>
            <a:ext cx="46038" cy="669925"/>
          </a:xfrm>
          <a:prstGeom prst="leftBrace">
            <a:avLst>
              <a:gd name="adj1" fmla="val 8218"/>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9161" name="左大括号 7"/>
          <p:cNvSpPr/>
          <p:nvPr/>
        </p:nvSpPr>
        <p:spPr>
          <a:xfrm>
            <a:off x="3429000" y="5029200"/>
            <a:ext cx="155575" cy="914400"/>
          </a:xfrm>
          <a:prstGeom prst="leftBrace">
            <a:avLst>
              <a:gd name="adj1" fmla="val 8299"/>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49162" name="左大括号 10"/>
          <p:cNvSpPr/>
          <p:nvPr/>
        </p:nvSpPr>
        <p:spPr>
          <a:xfrm>
            <a:off x="914400" y="3352800"/>
            <a:ext cx="76200" cy="685800"/>
          </a:xfrm>
          <a:prstGeom prst="leftBrace">
            <a:avLst>
              <a:gd name="adj1" fmla="val 8291"/>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fade">
                                      <p:cBhvr>
                                        <p:cTn id="17" dur="2000"/>
                                        <p:tgtEl>
                                          <p:spTgt spid="194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xEl>
                                              <p:pRg st="4" end="4"/>
                                            </p:txEl>
                                          </p:spTgt>
                                        </p:tgtEl>
                                        <p:attrNameLst>
                                          <p:attrName>style.visibility</p:attrName>
                                        </p:attrNameLst>
                                      </p:cBhvr>
                                      <p:to>
                                        <p:strVal val="visible"/>
                                      </p:to>
                                    </p:set>
                                    <p:animEffect transition="in" filter="fade">
                                      <p:cBhvr>
                                        <p:cTn id="22" dur="2000"/>
                                        <p:tgtEl>
                                          <p:spTgt spid="1945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animEffect transition="in" filter="fade">
                                      <p:cBhvr>
                                        <p:cTn id="27" dur="2000"/>
                                        <p:tgtEl>
                                          <p:spTgt spid="1945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459">
                                            <p:txEl>
                                              <p:pRg st="6" end="6"/>
                                            </p:txEl>
                                          </p:spTgt>
                                        </p:tgtEl>
                                        <p:attrNameLst>
                                          <p:attrName>style.visibility</p:attrName>
                                        </p:attrNameLst>
                                      </p:cBhvr>
                                      <p:to>
                                        <p:strVal val="visible"/>
                                      </p:to>
                                    </p:set>
                                    <p:animEffect transition="in" filter="fade">
                                      <p:cBhvr>
                                        <p:cTn id="32" dur="2000"/>
                                        <p:tgtEl>
                                          <p:spTgt spid="1945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信息系统安全管理测评</a:t>
            </a:r>
          </a:p>
        </p:txBody>
      </p:sp>
      <p:sp>
        <p:nvSpPr>
          <p:cNvPr id="19459" name="内容占位符 2"/>
          <p:cNvSpPr>
            <a:spLocks noGrp="1" noChangeArrowheads="1"/>
          </p:cNvSpPr>
          <p:nvPr>
            <p:ph idx="1"/>
          </p:nvPr>
        </p:nvSpPr>
        <p:spPr>
          <a:xfrm>
            <a:off x="0" y="990600"/>
            <a:ext cx="8839200" cy="5410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评估方法：</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有效性</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验证质量控制</a:t>
            </a:r>
          </a:p>
          <a:p>
            <a:pPr marL="857250" marR="0" lvl="2"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    对</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有效性验证的质量，应从验证对象的广度和验证内容的深度进行控制。根据不同安全等级的不同要求，有效性验证的质量控制分为：</a:t>
            </a:r>
            <a:endPar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857250" marR="0" lvl="2"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a)</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一级</a:t>
            </a: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控制</a:t>
            </a:r>
            <a:endPar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857250" marR="0" lvl="2"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kumimoji="0" lang="en-US" altLang="zh-CN"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b</a:t>
            </a:r>
            <a:r>
              <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二级</a:t>
            </a: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控制</a:t>
            </a:r>
            <a:endParaRPr kumimoji="0" lang="en-US" altLang="zh-CN"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endParaRPr>
          </a:p>
          <a:p>
            <a:pPr marL="857250" marR="0" lvl="2"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c)</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三级控制</a:t>
            </a:r>
            <a:endPar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857250" marR="0" lvl="2"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d</a:t>
            </a:r>
            <a:r>
              <a:rPr kumimoji="0" lang="en-US" altLang="zh-CN"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a:t>
            </a: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四</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级控制</a:t>
            </a:r>
            <a:endPar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857250" marR="0" lvl="2"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e</a:t>
            </a:r>
            <a:r>
              <a:rPr kumimoji="0" lang="en-US" altLang="zh-CN"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a:t>
            </a: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五</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级控制</a:t>
            </a: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en-US" sz="2800" b="1" i="0" u="none" strike="noStrike" kern="0" cap="none" spc="0" normalizeH="0" baseline="0" noProof="0" dirty="0">
              <a:ln>
                <a:noFill/>
              </a:ln>
              <a:solidFill>
                <a:srgbClr val="000000"/>
              </a:solidFill>
              <a:effectLst/>
              <a:uLnTx/>
              <a:uFillTx/>
              <a:latin typeface="+mn-lt"/>
              <a:ea typeface="楷体_GB2312" pitchFamily="49" charset="-122"/>
            </a:endParaRPr>
          </a:p>
        </p:txBody>
      </p:sp>
      <p:sp>
        <p:nvSpPr>
          <p:cNvPr id="50180" name="左大括号 2"/>
          <p:cNvSpPr/>
          <p:nvPr/>
        </p:nvSpPr>
        <p:spPr>
          <a:xfrm>
            <a:off x="1524000" y="4038600"/>
            <a:ext cx="457200" cy="685800"/>
          </a:xfrm>
          <a:prstGeom prst="leftBrace">
            <a:avLst>
              <a:gd name="adj1" fmla="val 8326"/>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50181" name="左大括号 3"/>
          <p:cNvSpPr/>
          <p:nvPr/>
        </p:nvSpPr>
        <p:spPr>
          <a:xfrm>
            <a:off x="1295400" y="4038600"/>
            <a:ext cx="384175" cy="762000"/>
          </a:xfrm>
          <a:prstGeom prst="leftBrace">
            <a:avLst>
              <a:gd name="adj1" fmla="val 8319"/>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50182" name="左大括号 4"/>
          <p:cNvSpPr/>
          <p:nvPr/>
        </p:nvSpPr>
        <p:spPr>
          <a:xfrm>
            <a:off x="1487488" y="4038600"/>
            <a:ext cx="46037" cy="685800"/>
          </a:xfrm>
          <a:prstGeom prst="leftBrace">
            <a:avLst>
              <a:gd name="adj1" fmla="val 8206"/>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50183" name="左大括号 5"/>
          <p:cNvSpPr/>
          <p:nvPr/>
        </p:nvSpPr>
        <p:spPr>
          <a:xfrm>
            <a:off x="1509713" y="4335463"/>
            <a:ext cx="1843087" cy="46037"/>
          </a:xfrm>
          <a:prstGeom prst="leftBrace">
            <a:avLst>
              <a:gd name="adj1" fmla="val 8328"/>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50184" name="左大括号 6"/>
          <p:cNvSpPr/>
          <p:nvPr/>
        </p:nvSpPr>
        <p:spPr>
          <a:xfrm>
            <a:off x="2432050" y="4359275"/>
            <a:ext cx="46038" cy="669925"/>
          </a:xfrm>
          <a:prstGeom prst="leftBrace">
            <a:avLst>
              <a:gd name="adj1" fmla="val 8218"/>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50185" name="左大括号 7"/>
          <p:cNvSpPr/>
          <p:nvPr/>
        </p:nvSpPr>
        <p:spPr>
          <a:xfrm>
            <a:off x="3429000" y="5029200"/>
            <a:ext cx="155575" cy="914400"/>
          </a:xfrm>
          <a:prstGeom prst="leftBrace">
            <a:avLst>
              <a:gd name="adj1" fmla="val 8299"/>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50186" name="左大括号 10"/>
          <p:cNvSpPr/>
          <p:nvPr/>
        </p:nvSpPr>
        <p:spPr>
          <a:xfrm>
            <a:off x="914400" y="3352800"/>
            <a:ext cx="76200" cy="685800"/>
          </a:xfrm>
          <a:prstGeom prst="leftBrace">
            <a:avLst>
              <a:gd name="adj1" fmla="val 8291"/>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fade">
                                      <p:cBhvr>
                                        <p:cTn id="17" dur="2000"/>
                                        <p:tgtEl>
                                          <p:spTgt spid="194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xEl>
                                              <p:pRg st="4" end="4"/>
                                            </p:txEl>
                                          </p:spTgt>
                                        </p:tgtEl>
                                        <p:attrNameLst>
                                          <p:attrName>style.visibility</p:attrName>
                                        </p:attrNameLst>
                                      </p:cBhvr>
                                      <p:to>
                                        <p:strVal val="visible"/>
                                      </p:to>
                                    </p:set>
                                    <p:animEffect transition="in" filter="fade">
                                      <p:cBhvr>
                                        <p:cTn id="22" dur="2000"/>
                                        <p:tgtEl>
                                          <p:spTgt spid="1945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animEffect transition="in" filter="fade">
                                      <p:cBhvr>
                                        <p:cTn id="27" dur="2000"/>
                                        <p:tgtEl>
                                          <p:spTgt spid="1945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459">
                                            <p:txEl>
                                              <p:pRg st="6" end="6"/>
                                            </p:txEl>
                                          </p:spTgt>
                                        </p:tgtEl>
                                        <p:attrNameLst>
                                          <p:attrName>style.visibility</p:attrName>
                                        </p:attrNameLst>
                                      </p:cBhvr>
                                      <p:to>
                                        <p:strVal val="visible"/>
                                      </p:to>
                                    </p:set>
                                    <p:animEffect transition="in" filter="fade">
                                      <p:cBhvr>
                                        <p:cTn id="32" dur="2000"/>
                                        <p:tgtEl>
                                          <p:spTgt spid="19459">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459">
                                            <p:txEl>
                                              <p:pRg st="7" end="7"/>
                                            </p:txEl>
                                          </p:spTgt>
                                        </p:tgtEl>
                                        <p:attrNameLst>
                                          <p:attrName>style.visibility</p:attrName>
                                        </p:attrNameLst>
                                      </p:cBhvr>
                                      <p:to>
                                        <p:strVal val="visible"/>
                                      </p:to>
                                    </p:set>
                                    <p:animEffect transition="in" filter="fade">
                                      <p:cBhvr>
                                        <p:cTn id="37" dur="2000"/>
                                        <p:tgtEl>
                                          <p:spTgt spid="1945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信息系统安全管理测评</a:t>
            </a:r>
          </a:p>
        </p:txBody>
      </p:sp>
      <p:sp>
        <p:nvSpPr>
          <p:cNvPr id="19459" name="内容占位符 2"/>
          <p:cNvSpPr>
            <a:spLocks noGrp="1" noChangeArrowheads="1"/>
          </p:cNvSpPr>
          <p:nvPr>
            <p:ph idx="1"/>
          </p:nvPr>
        </p:nvSpPr>
        <p:spPr>
          <a:xfrm>
            <a:off x="304800" y="938213"/>
            <a:ext cx="8610600" cy="5614988"/>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评估方法：</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4、</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监测</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验证</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监测</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验证的主要依据</a:t>
            </a:r>
          </a:p>
          <a:p>
            <a:pPr marL="857250" marR="0" lvl="2"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a)</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信息系统的各种审计</a:t>
            </a: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信息；</a:t>
            </a:r>
            <a:endPar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857250" marR="0" lvl="2"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b)</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信息系统的各种安全监测、监控</a:t>
            </a: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信息；</a:t>
            </a:r>
            <a:endPar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857250" marR="0" lvl="2"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c)</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信息系统的物理环境的有关的安全监测、监控</a:t>
            </a: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信息；</a:t>
            </a:r>
            <a:endPar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857250" marR="0" lvl="2"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d)</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其他涉及信息系统安全管理方面的监测、监控信息。</a:t>
            </a: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rgbClr val="000000"/>
              </a:solidFill>
              <a:effectLst/>
              <a:uLnTx/>
              <a:uFillTx/>
              <a:latin typeface="+mn-lt"/>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en-US" sz="2800" b="1" i="0" u="none" strike="noStrike" kern="0" cap="none" spc="0" normalizeH="0" baseline="0" noProof="0" dirty="0">
              <a:ln>
                <a:noFill/>
              </a:ln>
              <a:solidFill>
                <a:srgbClr val="000000"/>
              </a:solidFill>
              <a:effectLst/>
              <a:uLnTx/>
              <a:uFillTx/>
              <a:latin typeface="+mn-lt"/>
              <a:ea typeface="楷体_GB2312" pitchFamily="49" charset="-122"/>
            </a:endParaRPr>
          </a:p>
        </p:txBody>
      </p:sp>
      <p:sp>
        <p:nvSpPr>
          <p:cNvPr id="51204" name="左大括号 2"/>
          <p:cNvSpPr/>
          <p:nvPr/>
        </p:nvSpPr>
        <p:spPr>
          <a:xfrm>
            <a:off x="1524000" y="4038600"/>
            <a:ext cx="457200" cy="685800"/>
          </a:xfrm>
          <a:prstGeom prst="leftBrace">
            <a:avLst>
              <a:gd name="adj1" fmla="val 8326"/>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51205" name="左大括号 3"/>
          <p:cNvSpPr/>
          <p:nvPr/>
        </p:nvSpPr>
        <p:spPr>
          <a:xfrm>
            <a:off x="1295400" y="4038600"/>
            <a:ext cx="384175" cy="762000"/>
          </a:xfrm>
          <a:prstGeom prst="leftBrace">
            <a:avLst>
              <a:gd name="adj1" fmla="val 8319"/>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51206" name="左大括号 4"/>
          <p:cNvSpPr/>
          <p:nvPr/>
        </p:nvSpPr>
        <p:spPr>
          <a:xfrm>
            <a:off x="1487488" y="4038600"/>
            <a:ext cx="46037" cy="685800"/>
          </a:xfrm>
          <a:prstGeom prst="leftBrace">
            <a:avLst>
              <a:gd name="adj1" fmla="val 8206"/>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51207" name="左大括号 6"/>
          <p:cNvSpPr/>
          <p:nvPr/>
        </p:nvSpPr>
        <p:spPr>
          <a:xfrm>
            <a:off x="2432050" y="4359275"/>
            <a:ext cx="46038" cy="669925"/>
          </a:xfrm>
          <a:prstGeom prst="leftBrace">
            <a:avLst>
              <a:gd name="adj1" fmla="val 8218"/>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51208" name="左大括号 7"/>
          <p:cNvSpPr/>
          <p:nvPr/>
        </p:nvSpPr>
        <p:spPr>
          <a:xfrm>
            <a:off x="3429000" y="5029200"/>
            <a:ext cx="155575" cy="914400"/>
          </a:xfrm>
          <a:prstGeom prst="leftBrace">
            <a:avLst>
              <a:gd name="adj1" fmla="val 8299"/>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51209" name="左大括号 10"/>
          <p:cNvSpPr/>
          <p:nvPr/>
        </p:nvSpPr>
        <p:spPr>
          <a:xfrm>
            <a:off x="914400" y="3352800"/>
            <a:ext cx="76200" cy="685800"/>
          </a:xfrm>
          <a:prstGeom prst="leftBrace">
            <a:avLst>
              <a:gd name="adj1" fmla="val 8291"/>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51210" name="矩形 11"/>
          <p:cNvSpPr/>
          <p:nvPr/>
        </p:nvSpPr>
        <p:spPr>
          <a:xfrm>
            <a:off x="685800" y="3581400"/>
            <a:ext cx="1219200" cy="609600"/>
          </a:xfrm>
          <a:prstGeom prst="rect">
            <a:avLst/>
          </a:prstGeom>
          <a:noFill/>
          <a:ln w="9525">
            <a:noFill/>
          </a:ln>
        </p:spPr>
        <p:txBody>
          <a:bodyPr>
            <a:spAutoFit/>
          </a:bodyPr>
          <a:lstStyle/>
          <a:p>
            <a:pPr algn="ctr"/>
            <a:endParaRPr lang="zh-CN" altLang="en-US" dirty="0">
              <a:latin typeface="Times New Roman" panose="02020603050405020304" pitchFamily="18" charset="0"/>
            </a:endParaRPr>
          </a:p>
        </p:txBody>
      </p:sp>
    </p:spTree>
  </p:cSld>
  <p:clrMapOvr>
    <a:masterClrMapping/>
  </p:clrMapOvr>
  <p:transition>
    <p:rand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信息系统安全管理测评</a:t>
            </a:r>
          </a:p>
        </p:txBody>
      </p:sp>
      <p:sp>
        <p:nvSpPr>
          <p:cNvPr id="19459" name="内容占位符 2"/>
          <p:cNvSpPr>
            <a:spLocks noGrp="1" noChangeArrowheads="1"/>
          </p:cNvSpPr>
          <p:nvPr>
            <p:ph idx="1"/>
          </p:nvPr>
        </p:nvSpPr>
        <p:spPr>
          <a:xfrm>
            <a:off x="228600" y="1066800"/>
            <a:ext cx="8686800" cy="56388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评估方法</a:t>
            </a:r>
            <a:r>
              <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 </a:t>
            </a: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监测</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验证方法</a:t>
            </a:r>
          </a:p>
          <a:p>
            <a:pPr marL="857250" marR="0" lvl="2"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a) </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以对安全管理的有关信息的分析为依据，对安全策略、操作规程和规章制度的符合性、一致性程度逐一进行评价。</a:t>
            </a:r>
          </a:p>
          <a:p>
            <a:pPr marL="857250" marR="0" lvl="2"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b) </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安全管理监测验证分为：</a:t>
            </a:r>
          </a:p>
          <a:p>
            <a:pPr marL="1657350" marR="0" lvl="3" indent="-342900" algn="l"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简单</a:t>
            </a:r>
            <a:r>
              <a:rPr kumimoji="0"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的监测验证；</a:t>
            </a:r>
          </a:p>
          <a:p>
            <a:pPr marL="1657350" marR="0" lvl="3" indent="-342900" algn="l"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充分</a:t>
            </a:r>
            <a:r>
              <a:rPr kumimoji="0"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的监测验证；</a:t>
            </a:r>
          </a:p>
          <a:p>
            <a:pPr marL="1657350" marR="0" lvl="3" indent="-342900" algn="l" defTabSz="914400" rtl="0" eaLnBrk="0" fontAlgn="base" latinLnBrk="0" hangingPunct="0">
              <a:lnSpc>
                <a:spcPct val="100000"/>
              </a:lnSpc>
              <a:spcBef>
                <a:spcPct val="20000"/>
              </a:spcBef>
              <a:spcAft>
                <a:spcPct val="0"/>
              </a:spcAft>
              <a:buClrTx/>
              <a:buSzTx/>
              <a:buFontTx/>
              <a:buChar char="–"/>
              <a:defRPr/>
            </a:pPr>
            <a:r>
              <a:rPr kumimoji="0" lang="zh-CN" altLang="en-US"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全面</a:t>
            </a:r>
            <a:r>
              <a:rPr kumimoji="0"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的监测验证。</a:t>
            </a:r>
          </a:p>
          <a:p>
            <a:pPr marL="857250" marR="0" lvl="2" indent="0" algn="l" defTabSz="914400" rtl="0" eaLnBrk="0" fontAlgn="base" latinLnBrk="0" hangingPunct="0">
              <a:lnSpc>
                <a:spcPct val="100000"/>
              </a:lnSpc>
              <a:spcBef>
                <a:spcPct val="20000"/>
              </a:spcBef>
              <a:spcAft>
                <a:spcPct val="0"/>
              </a:spcAft>
              <a:buClr>
                <a:schemeClr val="tx1"/>
              </a:buClr>
              <a:buSzTx/>
              <a:buFont typeface="Wingdings" panose="05000000000000000000" pitchFamily="2" charset="2"/>
              <a:buNone/>
              <a:defRPr/>
            </a:pPr>
            <a:r>
              <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c)</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安全管理监测验证的</a:t>
            </a: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过程。</a:t>
            </a:r>
            <a:endPar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en-US" sz="2800" b="1" i="0" u="none" strike="noStrike" kern="0" cap="none" spc="0" normalizeH="0" baseline="0" noProof="0" dirty="0">
              <a:ln>
                <a:noFill/>
              </a:ln>
              <a:solidFill>
                <a:srgbClr val="000000"/>
              </a:solidFill>
              <a:effectLst/>
              <a:uLnTx/>
              <a:uFillTx/>
              <a:latin typeface="+mn-lt"/>
              <a:ea typeface="楷体_GB2312" pitchFamily="49" charset="-122"/>
            </a:endParaRPr>
          </a:p>
        </p:txBody>
      </p:sp>
      <p:sp>
        <p:nvSpPr>
          <p:cNvPr id="52228" name="左大括号 2"/>
          <p:cNvSpPr/>
          <p:nvPr/>
        </p:nvSpPr>
        <p:spPr>
          <a:xfrm>
            <a:off x="1524000" y="4038600"/>
            <a:ext cx="457200" cy="685800"/>
          </a:xfrm>
          <a:prstGeom prst="leftBrace">
            <a:avLst>
              <a:gd name="adj1" fmla="val 8326"/>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52229" name="左大括号 3"/>
          <p:cNvSpPr/>
          <p:nvPr/>
        </p:nvSpPr>
        <p:spPr>
          <a:xfrm>
            <a:off x="1295400" y="4038600"/>
            <a:ext cx="384175" cy="762000"/>
          </a:xfrm>
          <a:prstGeom prst="leftBrace">
            <a:avLst>
              <a:gd name="adj1" fmla="val 8319"/>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52230" name="左大括号 4"/>
          <p:cNvSpPr/>
          <p:nvPr/>
        </p:nvSpPr>
        <p:spPr>
          <a:xfrm>
            <a:off x="1487488" y="4038600"/>
            <a:ext cx="46037" cy="685800"/>
          </a:xfrm>
          <a:prstGeom prst="leftBrace">
            <a:avLst>
              <a:gd name="adj1" fmla="val 8206"/>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52231" name="左大括号 6"/>
          <p:cNvSpPr/>
          <p:nvPr/>
        </p:nvSpPr>
        <p:spPr>
          <a:xfrm>
            <a:off x="2432050" y="4359275"/>
            <a:ext cx="46038" cy="669925"/>
          </a:xfrm>
          <a:prstGeom prst="leftBrace">
            <a:avLst>
              <a:gd name="adj1" fmla="val 8218"/>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52232" name="左大括号 7"/>
          <p:cNvSpPr/>
          <p:nvPr/>
        </p:nvSpPr>
        <p:spPr>
          <a:xfrm>
            <a:off x="3429000" y="5029200"/>
            <a:ext cx="155575" cy="914400"/>
          </a:xfrm>
          <a:prstGeom prst="leftBrace">
            <a:avLst>
              <a:gd name="adj1" fmla="val 8299"/>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52233" name="左大括号 10"/>
          <p:cNvSpPr/>
          <p:nvPr/>
        </p:nvSpPr>
        <p:spPr>
          <a:xfrm>
            <a:off x="914400" y="3352800"/>
            <a:ext cx="76200" cy="685800"/>
          </a:xfrm>
          <a:prstGeom prst="leftBrace">
            <a:avLst>
              <a:gd name="adj1" fmla="val 8291"/>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52234" name="矩形 11"/>
          <p:cNvSpPr/>
          <p:nvPr/>
        </p:nvSpPr>
        <p:spPr>
          <a:xfrm>
            <a:off x="685800" y="3581400"/>
            <a:ext cx="1219200" cy="609600"/>
          </a:xfrm>
          <a:prstGeom prst="rect">
            <a:avLst/>
          </a:prstGeom>
          <a:noFill/>
          <a:ln w="9525">
            <a:noFill/>
          </a:ln>
        </p:spPr>
        <p:txBody>
          <a:bodyPr>
            <a:spAutoFit/>
          </a:bodyPr>
          <a:lstStyle/>
          <a:p>
            <a:pPr algn="ctr"/>
            <a:endParaRPr lang="zh-CN" altLang="en-US"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fade">
                                      <p:cBhvr>
                                        <p:cTn id="17" dur="2000"/>
                                        <p:tgtEl>
                                          <p:spTgt spid="194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xEl>
                                              <p:pRg st="4" end="4"/>
                                            </p:txEl>
                                          </p:spTgt>
                                        </p:tgtEl>
                                        <p:attrNameLst>
                                          <p:attrName>style.visibility</p:attrName>
                                        </p:attrNameLst>
                                      </p:cBhvr>
                                      <p:to>
                                        <p:strVal val="visible"/>
                                      </p:to>
                                    </p:set>
                                    <p:animEffect transition="in" filter="fade">
                                      <p:cBhvr>
                                        <p:cTn id="22" dur="2000"/>
                                        <p:tgtEl>
                                          <p:spTgt spid="1945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animEffect transition="in" filter="fade">
                                      <p:cBhvr>
                                        <p:cTn id="27" dur="2000"/>
                                        <p:tgtEl>
                                          <p:spTgt spid="1945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459">
                                            <p:txEl>
                                              <p:pRg st="6" end="6"/>
                                            </p:txEl>
                                          </p:spTgt>
                                        </p:tgtEl>
                                        <p:attrNameLst>
                                          <p:attrName>style.visibility</p:attrName>
                                        </p:attrNameLst>
                                      </p:cBhvr>
                                      <p:to>
                                        <p:strVal val="visible"/>
                                      </p:to>
                                    </p:set>
                                    <p:animEffect transition="in" filter="fade">
                                      <p:cBhvr>
                                        <p:cTn id="32" dur="2000"/>
                                        <p:tgtEl>
                                          <p:spTgt spid="19459">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459">
                                            <p:txEl>
                                              <p:pRg st="7" end="7"/>
                                            </p:txEl>
                                          </p:spTgt>
                                        </p:tgtEl>
                                        <p:attrNameLst>
                                          <p:attrName>style.visibility</p:attrName>
                                        </p:attrNameLst>
                                      </p:cBhvr>
                                      <p:to>
                                        <p:strVal val="visible"/>
                                      </p:to>
                                    </p:set>
                                    <p:animEffect transition="in" filter="fade">
                                      <p:cBhvr>
                                        <p:cTn id="37" dur="2000"/>
                                        <p:tgtEl>
                                          <p:spTgt spid="1945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信息系统安全管理测评</a:t>
            </a:r>
          </a:p>
        </p:txBody>
      </p:sp>
      <p:sp>
        <p:nvSpPr>
          <p:cNvPr id="19459" name="内容占位符 2"/>
          <p:cNvSpPr>
            <a:spLocks noGrp="1" noChangeArrowheads="1"/>
          </p:cNvSpPr>
          <p:nvPr>
            <p:ph idx="1"/>
          </p:nvPr>
        </p:nvSpPr>
        <p:spPr>
          <a:xfrm>
            <a:off x="381000" y="1219200"/>
            <a:ext cx="8153400" cy="53340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 </a:t>
            </a: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评估方法</a:t>
            </a:r>
            <a:r>
              <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 </a:t>
            </a: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监测</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验证质量控制</a:t>
            </a: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a) </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一级控制</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b) </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二级</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控制</a:t>
            </a:r>
            <a:endPar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endParaRP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c) </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三级控制</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d) </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四级控制</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e</a:t>
            </a:r>
            <a:r>
              <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 </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五</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级控制</a:t>
            </a:r>
          </a:p>
        </p:txBody>
      </p:sp>
      <p:sp>
        <p:nvSpPr>
          <p:cNvPr id="53252" name="左大括号 2"/>
          <p:cNvSpPr/>
          <p:nvPr/>
        </p:nvSpPr>
        <p:spPr>
          <a:xfrm>
            <a:off x="1524000" y="4038600"/>
            <a:ext cx="457200" cy="685800"/>
          </a:xfrm>
          <a:prstGeom prst="leftBrace">
            <a:avLst>
              <a:gd name="adj1" fmla="val 8326"/>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53253" name="左大括号 3"/>
          <p:cNvSpPr/>
          <p:nvPr/>
        </p:nvSpPr>
        <p:spPr>
          <a:xfrm>
            <a:off x="1295400" y="4038600"/>
            <a:ext cx="384175" cy="762000"/>
          </a:xfrm>
          <a:prstGeom prst="leftBrace">
            <a:avLst>
              <a:gd name="adj1" fmla="val 8319"/>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53254" name="左大括号 4"/>
          <p:cNvSpPr/>
          <p:nvPr/>
        </p:nvSpPr>
        <p:spPr>
          <a:xfrm>
            <a:off x="1487488" y="4038600"/>
            <a:ext cx="46037" cy="685800"/>
          </a:xfrm>
          <a:prstGeom prst="leftBrace">
            <a:avLst>
              <a:gd name="adj1" fmla="val 8206"/>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53255" name="左大括号 6"/>
          <p:cNvSpPr/>
          <p:nvPr/>
        </p:nvSpPr>
        <p:spPr>
          <a:xfrm>
            <a:off x="2432050" y="4359275"/>
            <a:ext cx="46038" cy="669925"/>
          </a:xfrm>
          <a:prstGeom prst="leftBrace">
            <a:avLst>
              <a:gd name="adj1" fmla="val 8218"/>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53256" name="左大括号 7"/>
          <p:cNvSpPr/>
          <p:nvPr/>
        </p:nvSpPr>
        <p:spPr>
          <a:xfrm>
            <a:off x="3429000" y="5029200"/>
            <a:ext cx="155575" cy="914400"/>
          </a:xfrm>
          <a:prstGeom prst="leftBrace">
            <a:avLst>
              <a:gd name="adj1" fmla="val 8299"/>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53257" name="左大括号 10"/>
          <p:cNvSpPr/>
          <p:nvPr/>
        </p:nvSpPr>
        <p:spPr>
          <a:xfrm>
            <a:off x="914400" y="3352800"/>
            <a:ext cx="76200" cy="685800"/>
          </a:xfrm>
          <a:prstGeom prst="leftBrace">
            <a:avLst>
              <a:gd name="adj1" fmla="val 8291"/>
              <a:gd name="adj2" fmla="val 50000"/>
            </a:avLst>
          </a:prstGeom>
          <a:noFill/>
          <a:ln w="9525">
            <a:noFill/>
          </a:ln>
        </p:spPr>
        <p:txBody>
          <a:bodyPr>
            <a:spAutoFit/>
          </a:bodyPr>
          <a:lstStyle/>
          <a:p>
            <a:pPr algn="ctr"/>
            <a:endParaRPr lang="zh-CN" altLang="en-US" dirty="0">
              <a:latin typeface="Times New Roman" panose="02020603050405020304" pitchFamily="18" charset="0"/>
            </a:endParaRPr>
          </a:p>
        </p:txBody>
      </p:sp>
      <p:sp>
        <p:nvSpPr>
          <p:cNvPr id="53258" name="矩形 11"/>
          <p:cNvSpPr/>
          <p:nvPr/>
        </p:nvSpPr>
        <p:spPr>
          <a:xfrm>
            <a:off x="685800" y="3581400"/>
            <a:ext cx="1219200" cy="609600"/>
          </a:xfrm>
          <a:prstGeom prst="rect">
            <a:avLst/>
          </a:prstGeom>
          <a:noFill/>
          <a:ln w="9525">
            <a:noFill/>
          </a:ln>
        </p:spPr>
        <p:txBody>
          <a:bodyPr>
            <a:spAutoFit/>
          </a:bodyPr>
          <a:lstStyle/>
          <a:p>
            <a:pPr algn="ctr"/>
            <a:endParaRPr lang="zh-CN" altLang="en-US"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信息系统安全管理测评</a:t>
            </a:r>
          </a:p>
        </p:txBody>
      </p:sp>
      <p:sp>
        <p:nvSpPr>
          <p:cNvPr id="19459" name="内容占位符 2"/>
          <p:cNvSpPr>
            <a:spLocks noGrp="1"/>
          </p:cNvSpPr>
          <p:nvPr>
            <p:ph idx="1"/>
          </p:nvPr>
        </p:nvSpPr>
        <p:spPr>
          <a:xfrm>
            <a:off x="304800" y="1066800"/>
            <a:ext cx="8229600" cy="5562600"/>
          </a:xfrm>
        </p:spPr>
        <p:txBody>
          <a:bodyPr vert="horz" wrap="square" lIns="91440" tIns="45720" rIns="91440" bIns="45720" anchor="t" anchorCtr="0"/>
          <a:lstStyle/>
          <a:p>
            <a:pPr eaLnBrk="1" hangingPunct="1">
              <a:spcAft>
                <a:spcPct val="20000"/>
              </a:spcAft>
              <a:buClr>
                <a:srgbClr val="AC04A0"/>
              </a:buClr>
              <a:buNone/>
            </a:pPr>
            <a:r>
              <a:rPr lang="en-US" altLang="zh-CN" b="1" dirty="0">
                <a:latin typeface="Times New Roman" panose="02020603050405020304" pitchFamily="18" charset="0"/>
                <a:ea typeface="楷体_GB2312" pitchFamily="49" charset="-122"/>
              </a:rPr>
              <a:t> 9.4.4</a:t>
            </a:r>
            <a:r>
              <a:rPr lang="zh-CN" altLang="en-US" b="1" dirty="0">
                <a:latin typeface="楷体_GB2312" pitchFamily="49" charset="-122"/>
                <a:ea typeface="楷体_GB2312" pitchFamily="49" charset="-122"/>
              </a:rPr>
              <a:t>评估实施：</a:t>
            </a:r>
            <a:endParaRPr lang="en-US" altLang="zh-CN" b="1" dirty="0">
              <a:latin typeface="楷体_GB2312" pitchFamily="49" charset="-122"/>
              <a:ea typeface="楷体_GB2312" pitchFamily="49" charset="-122"/>
            </a:endParaRPr>
          </a:p>
          <a:p>
            <a:pPr lvl="1"/>
            <a:r>
              <a:rPr lang="zh-CN" altLang="en-US" b="1" dirty="0">
                <a:solidFill>
                  <a:srgbClr val="000000"/>
                </a:solidFill>
                <a:latin typeface="楷体_GB2312" pitchFamily="49" charset="-122"/>
                <a:ea typeface="楷体_GB2312" pitchFamily="49" charset="-122"/>
              </a:rPr>
              <a:t>确定评估目标：</a:t>
            </a:r>
            <a:endParaRPr lang="en-US" altLang="zh-CN" b="1" dirty="0">
              <a:solidFill>
                <a:srgbClr val="000000"/>
              </a:solidFill>
              <a:latin typeface="楷体_GB2312" pitchFamily="49" charset="-122"/>
              <a:ea typeface="楷体_GB2312" pitchFamily="49" charset="-122"/>
            </a:endParaRPr>
          </a:p>
          <a:p>
            <a:pPr eaLnBrk="1" hangingPunct="1">
              <a:spcAft>
                <a:spcPct val="20000"/>
              </a:spcAft>
              <a:buClr>
                <a:srgbClr val="AC04A0"/>
              </a:buClr>
              <a:buNone/>
            </a:pPr>
            <a:r>
              <a:rPr lang="zh-CN" altLang="en-US" sz="2400" b="1" dirty="0">
                <a:solidFill>
                  <a:srgbClr val="000000"/>
                </a:solidFill>
                <a:latin typeface="Times New Roman" panose="02020603050405020304" pitchFamily="18" charset="0"/>
                <a:ea typeface="楷体_GB2312" pitchFamily="49" charset="-122"/>
              </a:rPr>
              <a:t>          </a:t>
            </a:r>
            <a:r>
              <a:rPr lang="zh-CN" altLang="en-US" sz="2800" b="1" dirty="0">
                <a:solidFill>
                  <a:srgbClr val="000000"/>
                </a:solidFill>
                <a:latin typeface="楷体_GB2312" pitchFamily="49" charset="-122"/>
                <a:ea typeface="楷体_GB2312" pitchFamily="49" charset="-122"/>
              </a:rPr>
              <a:t>信息系统安全管理评估的目标是，根据已经确定的安全管理等级，按照</a:t>
            </a:r>
            <a:r>
              <a:rPr lang="en-US" altLang="zh-CN" sz="2800" b="1" dirty="0">
                <a:solidFill>
                  <a:srgbClr val="000000"/>
                </a:solidFill>
                <a:latin typeface="楷体_GB2312" pitchFamily="49" charset="-122"/>
                <a:ea typeface="楷体_GB2312" pitchFamily="49" charset="-122"/>
              </a:rPr>
              <a:t>GB</a:t>
            </a:r>
            <a:r>
              <a:rPr lang="zh-CN" altLang="en-US" sz="2800" b="1" dirty="0">
                <a:solidFill>
                  <a:srgbClr val="000000"/>
                </a:solidFill>
                <a:latin typeface="楷体_GB2312" pitchFamily="49" charset="-122"/>
                <a:ea typeface="楷体_GB2312" pitchFamily="49" charset="-122"/>
              </a:rPr>
              <a:t>／</a:t>
            </a:r>
            <a:r>
              <a:rPr lang="en-US" altLang="zh-CN" sz="2800" b="1" dirty="0">
                <a:solidFill>
                  <a:srgbClr val="000000"/>
                </a:solidFill>
                <a:latin typeface="楷体_GB2312" pitchFamily="49" charset="-122"/>
                <a:ea typeface="楷体_GB2312" pitchFamily="49" charset="-122"/>
              </a:rPr>
              <a:t>T 20269--2006</a:t>
            </a:r>
            <a:r>
              <a:rPr lang="zh-CN" altLang="en-US" sz="2800" b="1" dirty="0">
                <a:solidFill>
                  <a:srgbClr val="000000"/>
                </a:solidFill>
                <a:latin typeface="楷体_GB2312" pitchFamily="49" charset="-122"/>
                <a:ea typeface="楷体_GB2312" pitchFamily="49" charset="-122"/>
              </a:rPr>
              <a:t>相应等级的管理内容及管理水平进行符合性、有效性检查和验证，检验信息系统安全管理体系和管理水平是否满足确定等级的管理要求。</a:t>
            </a:r>
            <a:r>
              <a:rPr lang="en-US" altLang="zh-CN" b="1" dirty="0">
                <a:solidFill>
                  <a:srgbClr val="000000"/>
                </a:solidFill>
                <a:latin typeface="Times New Roman" panose="02020603050405020304" pitchFamily="18" charset="0"/>
                <a:ea typeface="楷体_GB2312" pitchFamily="49" charset="-122"/>
              </a:rPr>
              <a:t>  </a:t>
            </a:r>
            <a:endParaRPr lang="zh-CN" altLang="en-US" dirty="0">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charRg st="73" end="112"/>
                                            </p:txEl>
                                          </p:spTgt>
                                        </p:tgtEl>
                                        <p:attrNameLst>
                                          <p:attrName>style.visibility</p:attrName>
                                        </p:attrNameLst>
                                      </p:cBhvr>
                                      <p:to>
                                        <p:strVal val="visible"/>
                                      </p:to>
                                    </p:set>
                                    <p:animEffect transition="in" filter="fade">
                                      <p:cBhvr>
                                        <p:cTn id="17" dur="2000"/>
                                        <p:tgtEl>
                                          <p:spTgt spid="19459">
                                            <p:txEl>
                                              <p:charRg st="73" end="1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信息系统安全管理测评</a:t>
            </a:r>
          </a:p>
        </p:txBody>
      </p:sp>
      <p:sp>
        <p:nvSpPr>
          <p:cNvPr id="19459" name="内容占位符 2"/>
          <p:cNvSpPr>
            <a:spLocks noGrp="1" noChangeArrowheads="1"/>
          </p:cNvSpPr>
          <p:nvPr>
            <p:ph idx="1"/>
          </p:nvPr>
        </p:nvSpPr>
        <p:spPr>
          <a:xfrm>
            <a:off x="304800" y="1143000"/>
            <a:ext cx="8229600" cy="54864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r>
              <a:rPr kumimoji="0" lang="zh-CN" altLang="en-US"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评估</a:t>
            </a:r>
            <a:r>
              <a:rPr kumimoji="0" lang="zh-CN" altLang="en-US" sz="32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实施</a:t>
            </a:r>
            <a:r>
              <a:rPr kumimoji="0" lang="zh-CN" altLang="en-US"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a:t>
            </a:r>
            <a:endParaRPr kumimoji="0" lang="en-US" altLang="zh-CN"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控制评估过程：</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a)</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确定安全管理评估的范围。</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b)</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建立安全管理控制措施的评估规程。</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c</a:t>
            </a: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优化评估规程以确保评估质量。</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d</a:t>
            </a: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收集以往的评估结果。</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e</a:t>
            </a: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形成安全管理评估计划并获准执行。</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f</a:t>
            </a: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评估实施过程中采取的调查性访谈、符合性检查、有效性验证以及监测验证。</a:t>
            </a: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fade">
                                      <p:cBhvr>
                                        <p:cTn id="17" dur="2000"/>
                                        <p:tgtEl>
                                          <p:spTgt spid="194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xEl>
                                              <p:pRg st="4" end="4"/>
                                            </p:txEl>
                                          </p:spTgt>
                                        </p:tgtEl>
                                        <p:attrNameLst>
                                          <p:attrName>style.visibility</p:attrName>
                                        </p:attrNameLst>
                                      </p:cBhvr>
                                      <p:to>
                                        <p:strVal val="visible"/>
                                      </p:to>
                                    </p:set>
                                    <p:animEffect transition="in" filter="fade">
                                      <p:cBhvr>
                                        <p:cTn id="22" dur="2000"/>
                                        <p:tgtEl>
                                          <p:spTgt spid="1945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animEffect transition="in" filter="fade">
                                      <p:cBhvr>
                                        <p:cTn id="27" dur="2000"/>
                                        <p:tgtEl>
                                          <p:spTgt spid="1945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459">
                                            <p:txEl>
                                              <p:pRg st="6" end="6"/>
                                            </p:txEl>
                                          </p:spTgt>
                                        </p:tgtEl>
                                        <p:attrNameLst>
                                          <p:attrName>style.visibility</p:attrName>
                                        </p:attrNameLst>
                                      </p:cBhvr>
                                      <p:to>
                                        <p:strVal val="visible"/>
                                      </p:to>
                                    </p:set>
                                    <p:animEffect transition="in" filter="fade">
                                      <p:cBhvr>
                                        <p:cTn id="32" dur="2000"/>
                                        <p:tgtEl>
                                          <p:spTgt spid="19459">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459">
                                            <p:txEl>
                                              <p:pRg st="7" end="7"/>
                                            </p:txEl>
                                          </p:spTgt>
                                        </p:tgtEl>
                                        <p:attrNameLst>
                                          <p:attrName>style.visibility</p:attrName>
                                        </p:attrNameLst>
                                      </p:cBhvr>
                                      <p:to>
                                        <p:strVal val="visible"/>
                                      </p:to>
                                    </p:set>
                                    <p:animEffect transition="in" filter="fade">
                                      <p:cBhvr>
                                        <p:cTn id="37" dur="2000"/>
                                        <p:tgtEl>
                                          <p:spTgt spid="19459">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9459">
                                            <p:txEl>
                                              <p:charRg st="73" end="112"/>
                                            </p:txEl>
                                          </p:spTgt>
                                        </p:tgtEl>
                                        <p:attrNameLst>
                                          <p:attrName>style.visibility</p:attrName>
                                        </p:attrNameLst>
                                      </p:cBhvr>
                                      <p:to>
                                        <p:strVal val="visible"/>
                                      </p:to>
                                    </p:set>
                                    <p:animEffect transition="in" filter="fade">
                                      <p:cBhvr>
                                        <p:cTn id="42" dur="2000"/>
                                        <p:tgtEl>
                                          <p:spTgt spid="19459">
                                            <p:txEl>
                                              <p:charRg st="73" end="1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信息系统安全管理测评</a:t>
            </a:r>
          </a:p>
        </p:txBody>
      </p:sp>
      <p:sp>
        <p:nvSpPr>
          <p:cNvPr id="19459" name="内容占位符 2"/>
          <p:cNvSpPr>
            <a:spLocks noGrp="1" noChangeArrowheads="1"/>
          </p:cNvSpPr>
          <p:nvPr>
            <p:ph idx="1"/>
          </p:nvPr>
        </p:nvSpPr>
        <p:spPr>
          <a:xfrm>
            <a:off x="304800" y="762000"/>
            <a:ext cx="8229600" cy="58674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zh-CN" altLang="en-US"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评估</a:t>
            </a: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实施</a:t>
            </a:r>
            <a:r>
              <a:rPr kumimoji="0" lang="zh-CN" altLang="en-US"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a:t>
            </a:r>
            <a:endParaRPr kumimoji="0" lang="en-US" altLang="zh-CN"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处理评估结果：</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a)</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评估结果应按照规定的报告格式记录在案，报告内容的分类应与所进行的安全控制评估相一致，评估记录应及时归档。</a:t>
            </a: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b)</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应对评估记录进行分析，确定某一特定安全控制的总体效果，说明控制是否按确定的目标正确实施，并达到要求的预期结果。</a:t>
            </a: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c)</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评估人员所给出的评估应能导致作出判断。</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d)</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评估人员应识别并</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记录信息系统</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的任何脆弱性。</a:t>
            </a: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charRg st="73" end="112"/>
                                            </p:txEl>
                                          </p:spTgt>
                                        </p:tgtEl>
                                        <p:attrNameLst>
                                          <p:attrName>style.visibility</p:attrName>
                                        </p:attrNameLst>
                                      </p:cBhvr>
                                      <p:to>
                                        <p:strVal val="visible"/>
                                      </p:to>
                                    </p:set>
                                    <p:animEffect transition="in" filter="fade">
                                      <p:cBhvr>
                                        <p:cTn id="17" dur="2000"/>
                                        <p:tgtEl>
                                          <p:spTgt spid="19459">
                                            <p:txEl>
                                              <p:charRg st="73" end="1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信息系统安全管理测评</a:t>
            </a:r>
          </a:p>
        </p:txBody>
      </p:sp>
      <p:sp>
        <p:nvSpPr>
          <p:cNvPr id="19459" name="内容占位符 2"/>
          <p:cNvSpPr>
            <a:spLocks noGrp="1" noChangeArrowheads="1"/>
          </p:cNvSpPr>
          <p:nvPr>
            <p:ph idx="1"/>
          </p:nvPr>
        </p:nvSpPr>
        <p:spPr>
          <a:xfrm>
            <a:off x="304800" y="762000"/>
            <a:ext cx="8229600" cy="58674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评估实施：</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建立保障证据：</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a)</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在评估过程中收集证据</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，支持</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被评估机构信息安全决策</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责任人有效</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的决定。</a:t>
            </a: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b)</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收集从各种来源获得的保障证据。</a:t>
            </a: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c)</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收集来自产品层面的评估结果，进行系统层面的</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评估</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d)</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从不同详细程度和范围的评估中获取信息。</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e)</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了解并记录评估人员的资格。</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charRg st="73" end="112"/>
                                            </p:txEl>
                                          </p:spTgt>
                                        </p:tgtEl>
                                        <p:attrNameLst>
                                          <p:attrName>style.visibility</p:attrName>
                                        </p:attrNameLst>
                                      </p:cBhvr>
                                      <p:to>
                                        <p:strVal val="visible"/>
                                      </p:to>
                                    </p:set>
                                    <p:animEffect transition="in" filter="fade">
                                      <p:cBhvr>
                                        <p:cTn id="17" dur="2000"/>
                                        <p:tgtEl>
                                          <p:spTgt spid="19459">
                                            <p:txEl>
                                              <p:charRg st="73" end="1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p:txBody>
          <a:bodyPr vert="horz" wrap="square" lIns="91440" tIns="45720" rIns="91440" bIns="45720" anchor="ctr" anchorCtr="0"/>
          <a:lstStyle/>
          <a:p>
            <a:pPr eaLnBrk="1" hangingPunct="1"/>
            <a:r>
              <a:rPr lang="en-US" altLang="zh-CN" b="1" dirty="0">
                <a:ea typeface="宋体" panose="02010600030101010101" pitchFamily="2" charset="-122"/>
              </a:rPr>
              <a:t>9.5</a:t>
            </a:r>
            <a:r>
              <a:rPr lang="zh-CN" altLang="en-US" b="1" dirty="0">
                <a:ea typeface="宋体" panose="02010600030101010101" pitchFamily="2" charset="-122"/>
              </a:rPr>
              <a:t>信息安全等级保护与等级测评</a:t>
            </a:r>
          </a:p>
        </p:txBody>
      </p:sp>
      <p:sp>
        <p:nvSpPr>
          <p:cNvPr id="19459" name="内容占位符 2"/>
          <p:cNvSpPr>
            <a:spLocks noGrp="1" noChangeArrowheads="1"/>
          </p:cNvSpPr>
          <p:nvPr>
            <p:ph idx="1"/>
          </p:nvPr>
        </p:nvSpPr>
        <p:spPr>
          <a:xfrm>
            <a:off x="304800" y="1066800"/>
            <a:ext cx="8229600" cy="55626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r>
              <a:rPr kumimoji="0" lang="zh-CN" altLang="en-US"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信息</a:t>
            </a:r>
            <a:r>
              <a:rPr kumimoji="0" lang="zh-CN" altLang="en-US" sz="32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安全等级保护：</a:t>
            </a:r>
            <a:endParaRPr kumimoji="0" lang="en-US" altLang="zh-CN"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概述：</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    信息</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安全等级保护是国家信息安全保障的基本制度、基本策略、基本方法。开展信息安全等级保护工作是保护信息化发展、维护国家信息安全的根本保障，是信息安全保障工作中国家意志的体现</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charRg st="73" end="106"/>
                                            </p:txEl>
                                          </p:spTgt>
                                        </p:tgtEl>
                                        <p:attrNameLst>
                                          <p:attrName>style.visibility</p:attrName>
                                        </p:attrNameLst>
                                      </p:cBhvr>
                                      <p:to>
                                        <p:strVal val="visible"/>
                                      </p:to>
                                    </p:set>
                                    <p:animEffect transition="in" filter="fade">
                                      <p:cBhvr>
                                        <p:cTn id="12" dur="2000"/>
                                        <p:tgtEl>
                                          <p:spTgt spid="19459">
                                            <p:txEl>
                                              <p:charRg st="73" end="10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信息安全等级保护与等级测评</a:t>
            </a:r>
          </a:p>
        </p:txBody>
      </p:sp>
      <p:sp>
        <p:nvSpPr>
          <p:cNvPr id="19459" name="内容占位符 2"/>
          <p:cNvSpPr>
            <a:spLocks noGrp="1" noChangeArrowheads="1"/>
          </p:cNvSpPr>
          <p:nvPr>
            <p:ph idx="1"/>
          </p:nvPr>
        </p:nvSpPr>
        <p:spPr>
          <a:xfrm>
            <a:off x="304800" y="1066800"/>
            <a:ext cx="8229600" cy="55626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r>
              <a:rPr kumimoji="0" lang="zh-CN" altLang="en-US"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信息</a:t>
            </a:r>
            <a:r>
              <a:rPr kumimoji="0" lang="zh-CN" altLang="en-US" sz="32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安全等级保护：</a:t>
            </a:r>
            <a:endParaRPr kumimoji="0" lang="en-US" altLang="zh-CN"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定级</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原则：</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    国家</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信息安全等级保护坚持“自主定级、自主保护”与国家监管相结合的原则。信息系统的安全保护等级应当根据信息系统在国家安全、经济建设、社会生活中的重要程度，信息系统遭到破坏后对国家安全、社会秩序、公共利益以及公民、法人和其他组织的合法权益的危害程度等因素确定。</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9459">
                                            <p:txEl>
                                              <p:pRg st="2" end="2"/>
                                            </p:txEl>
                                          </p:spTgt>
                                        </p:tgtEl>
                                        <p:attrNameLst>
                                          <p:attrName>style.visibility</p:attrName>
                                        </p:attrNameLst>
                                      </p:cBhvr>
                                      <p:to>
                                        <p:strVal val="visible"/>
                                      </p:to>
                                    </p:set>
                                    <p:animEffect transition="in" filter="wipe(down)">
                                      <p:cBhvr>
                                        <p:cTn id="7" dur="500"/>
                                        <p:tgtEl>
                                          <p:spTgt spid="1945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信息安全等级保护与等级测评</a:t>
            </a:r>
          </a:p>
        </p:txBody>
      </p:sp>
      <p:sp>
        <p:nvSpPr>
          <p:cNvPr id="19459" name="内容占位符 2"/>
          <p:cNvSpPr>
            <a:spLocks noGrp="1" noChangeArrowheads="1"/>
          </p:cNvSpPr>
          <p:nvPr>
            <p:ph idx="1"/>
          </p:nvPr>
        </p:nvSpPr>
        <p:spPr>
          <a:xfrm>
            <a:off x="304800" y="457200"/>
            <a:ext cx="8229600" cy="6172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信息安全等级保护：</a:t>
            </a:r>
            <a:endParaRPr kumimoji="0" lang="en-US" altLang="zh-CN"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定级原理：</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a:t>
            </a:r>
            <a:r>
              <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1</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）信息系统安全保护等级：</a:t>
            </a: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    第</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一级，信息系统受到破坏后，会对公民、法人和其他组织的合法权益造成损害，但不损害国家安全、社会秩序和公共利益。</a:t>
            </a: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    第二</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级，信息系统受到破坏后，会对公民、法人和其他组织的合法权益产生严重损害，或者对社会秩序和公共利益造成损害，但不损害国家安全</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a:t>
            </a:r>
            <a:endPar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fade">
                                      <p:cBhvr>
                                        <p:cTn id="17" dur="2000"/>
                                        <p:tgtEl>
                                          <p:spTgt spid="194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xEl>
                                              <p:pRg st="4" end="4"/>
                                            </p:txEl>
                                          </p:spTgt>
                                        </p:tgtEl>
                                        <p:attrNameLst>
                                          <p:attrName>style.visibility</p:attrName>
                                        </p:attrNameLst>
                                      </p:cBhvr>
                                      <p:to>
                                        <p:strVal val="visible"/>
                                      </p:to>
                                    </p:set>
                                    <p:animEffect transition="in" filter="fade">
                                      <p:cBhvr>
                                        <p:cTn id="22" dur="2000"/>
                                        <p:tgtEl>
                                          <p:spTgt spid="1945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animEffect transition="in" filter="fade">
                                      <p:cBhvr>
                                        <p:cTn id="27" dur="2000"/>
                                        <p:tgtEl>
                                          <p:spTgt spid="1945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459">
                                            <p:txEl>
                                              <p:charRg st="73" end="112"/>
                                            </p:txEl>
                                          </p:spTgt>
                                        </p:tgtEl>
                                        <p:attrNameLst>
                                          <p:attrName>style.visibility</p:attrName>
                                        </p:attrNameLst>
                                      </p:cBhvr>
                                      <p:to>
                                        <p:strVal val="visible"/>
                                      </p:to>
                                    </p:set>
                                    <p:animEffect transition="in" filter="fade">
                                      <p:cBhvr>
                                        <p:cTn id="32" dur="2000"/>
                                        <p:tgtEl>
                                          <p:spTgt spid="19459">
                                            <p:txEl>
                                              <p:charRg st="73" end="1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信息安全等级保护与等级测评</a:t>
            </a:r>
          </a:p>
        </p:txBody>
      </p:sp>
      <p:sp>
        <p:nvSpPr>
          <p:cNvPr id="19459" name="内容占位符 2"/>
          <p:cNvSpPr>
            <a:spLocks noGrp="1"/>
          </p:cNvSpPr>
          <p:nvPr>
            <p:ph idx="1"/>
          </p:nvPr>
        </p:nvSpPr>
        <p:spPr>
          <a:xfrm>
            <a:off x="304800" y="457200"/>
            <a:ext cx="8229600" cy="6172200"/>
          </a:xfrm>
        </p:spPr>
        <p:txBody>
          <a:bodyPr vert="horz" wrap="square" lIns="91440" tIns="45720" rIns="91440" bIns="45720" anchor="t" anchorCtr="0"/>
          <a:lstStyle/>
          <a:p>
            <a:pPr eaLnBrk="1" hangingPunct="1">
              <a:spcAft>
                <a:spcPct val="20000"/>
              </a:spcAft>
              <a:buClr>
                <a:srgbClr val="AC04A0"/>
              </a:buClr>
              <a:buNone/>
            </a:pPr>
            <a:r>
              <a:rPr lang="en-US" altLang="zh-CN" b="1" dirty="0">
                <a:latin typeface="Times New Roman" panose="02020603050405020304" pitchFamily="18" charset="0"/>
                <a:ea typeface="楷体_GB2312" pitchFamily="49" charset="-122"/>
              </a:rPr>
              <a:t> </a:t>
            </a:r>
          </a:p>
          <a:p>
            <a:pPr eaLnBrk="1" hangingPunct="1">
              <a:spcAft>
                <a:spcPct val="20000"/>
              </a:spcAft>
              <a:buClr>
                <a:srgbClr val="AC04A0"/>
              </a:buClr>
              <a:buFont typeface="Wingdings" panose="05000000000000000000" pitchFamily="2" charset="2"/>
              <a:buChar char="Ø"/>
            </a:pPr>
            <a:r>
              <a:rPr lang="zh-CN" altLang="en-US" sz="2800" b="1" dirty="0">
                <a:latin typeface="楷体_GB2312" pitchFamily="49" charset="-122"/>
                <a:ea typeface="楷体_GB2312" pitchFamily="49" charset="-122"/>
              </a:rPr>
              <a:t>信息安全等级保护：</a:t>
            </a:r>
            <a:endParaRPr lang="en-US" altLang="zh-CN" sz="2800" b="1" dirty="0">
              <a:latin typeface="楷体_GB2312" pitchFamily="49" charset="-122"/>
              <a:ea typeface="楷体_GB2312" pitchFamily="49" charset="-122"/>
            </a:endParaRPr>
          </a:p>
          <a:p>
            <a:pPr marL="457200" lvl="1" indent="0" eaLnBrk="1" hangingPunct="1">
              <a:buNone/>
            </a:pPr>
            <a:r>
              <a:rPr lang="zh-CN" altLang="en-US" b="1" dirty="0">
                <a:solidFill>
                  <a:srgbClr val="000000"/>
                </a:solidFill>
                <a:latin typeface="楷体_GB2312" pitchFamily="49" charset="-122"/>
                <a:ea typeface="楷体_GB2312" pitchFamily="49" charset="-122"/>
              </a:rPr>
              <a:t>    第三级，信息系统受到破坏后，会对社会秩序和公共利益造成严重损害，或者对国家安全造成损害。</a:t>
            </a:r>
          </a:p>
          <a:p>
            <a:pPr marL="457200" lvl="1" indent="0" eaLnBrk="1" hangingPunct="1">
              <a:buNone/>
            </a:pPr>
            <a:r>
              <a:rPr lang="zh-CN" altLang="en-US" b="1" dirty="0">
                <a:solidFill>
                  <a:srgbClr val="000000"/>
                </a:solidFill>
                <a:latin typeface="楷体_GB2312" pitchFamily="49" charset="-122"/>
                <a:ea typeface="楷体_GB2312" pitchFamily="49" charset="-122"/>
              </a:rPr>
              <a:t>    第四级，信息系统受到破坏后，会对社会秩序和公共利益造成特别严重损害，或者对国家安全造成严重损害。</a:t>
            </a:r>
          </a:p>
          <a:p>
            <a:pPr marL="457200" lvl="1" indent="0" eaLnBrk="1" hangingPunct="1">
              <a:buNone/>
            </a:pPr>
            <a:r>
              <a:rPr lang="zh-CN" altLang="en-US" b="1" dirty="0">
                <a:solidFill>
                  <a:srgbClr val="000000"/>
                </a:solidFill>
                <a:latin typeface="楷体_GB2312" pitchFamily="49" charset="-122"/>
                <a:ea typeface="楷体_GB2312" pitchFamily="49" charset="-122"/>
              </a:rPr>
              <a:t>    第五级，信息系统受到破坏后，会对国家安全造成特别严重损害。</a:t>
            </a:r>
          </a:p>
          <a:p>
            <a:pPr marL="457200" lvl="1" indent="0" eaLnBrk="1" hangingPunct="1">
              <a:buNone/>
            </a:pPr>
            <a:endParaRPr lang="zh-CN" altLang="en-US" sz="2400" b="1" dirty="0">
              <a:solidFill>
                <a:srgbClr val="000000"/>
              </a:solidFill>
              <a:latin typeface="Times New Roman" panose="02020603050405020304" pitchFamily="18" charset="0"/>
              <a:ea typeface="楷体_GB2312"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fade">
                                      <p:cBhvr>
                                        <p:cTn id="17" dur="2000"/>
                                        <p:tgtEl>
                                          <p:spTgt spid="194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xEl>
                                              <p:pRg st="4" end="4"/>
                                            </p:txEl>
                                          </p:spTgt>
                                        </p:tgtEl>
                                        <p:attrNameLst>
                                          <p:attrName>style.visibility</p:attrName>
                                        </p:attrNameLst>
                                      </p:cBhvr>
                                      <p:to>
                                        <p:strVal val="visible"/>
                                      </p:to>
                                    </p:set>
                                    <p:animEffect transition="in" filter="fade">
                                      <p:cBhvr>
                                        <p:cTn id="22" dur="2000"/>
                                        <p:tgtEl>
                                          <p:spTgt spid="1945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459">
                                            <p:txEl>
                                              <p:charRg st="73" end="112"/>
                                            </p:txEl>
                                          </p:spTgt>
                                        </p:tgtEl>
                                        <p:attrNameLst>
                                          <p:attrName>style.visibility</p:attrName>
                                        </p:attrNameLst>
                                      </p:cBhvr>
                                      <p:to>
                                        <p:strVal val="visible"/>
                                      </p:to>
                                    </p:set>
                                    <p:animEffect transition="in" filter="fade">
                                      <p:cBhvr>
                                        <p:cTn id="27" dur="2000"/>
                                        <p:tgtEl>
                                          <p:spTgt spid="19459">
                                            <p:txEl>
                                              <p:charRg st="73" end="1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p:cNvSpPr>
          <p:nvPr>
            <p:ph type="title"/>
          </p:nvPr>
        </p:nvSpPr>
        <p:spPr/>
        <p:txBody>
          <a:bodyPr vert="horz" wrap="square" lIns="91440" tIns="45720" rIns="91440" bIns="45720" anchor="ctr" anchorCtr="0"/>
          <a:lstStyle/>
          <a:p>
            <a:r>
              <a:rPr lang="zh-CN" altLang="en-US" dirty="0">
                <a:ea typeface="宋体" panose="02010600030101010101" pitchFamily="2" charset="-122"/>
              </a:rPr>
              <a:t>信息安全等级保护与等级测评</a:t>
            </a:r>
          </a:p>
        </p:txBody>
      </p:sp>
      <p:sp>
        <p:nvSpPr>
          <p:cNvPr id="19459" name="内容占位符 2"/>
          <p:cNvSpPr>
            <a:spLocks noGrp="1"/>
          </p:cNvSpPr>
          <p:nvPr>
            <p:ph idx="1"/>
          </p:nvPr>
        </p:nvSpPr>
        <p:spPr/>
        <p:txBody>
          <a:bodyPr vert="horz" wrap="square" lIns="91440" tIns="45720" rIns="91440" bIns="45720" anchor="t" anchorCtr="0"/>
          <a:lstStyle/>
          <a:p>
            <a:pPr eaLnBrk="1" hangingPunct="1">
              <a:spcAft>
                <a:spcPct val="20000"/>
              </a:spcAft>
              <a:buClr>
                <a:srgbClr val="AC04A0"/>
              </a:buClr>
              <a:buFont typeface="Wingdings" panose="05000000000000000000" pitchFamily="2" charset="2"/>
              <a:buChar char="Ø"/>
            </a:pPr>
            <a:r>
              <a:rPr lang="en-US" altLang="zh-CN" dirty="0">
                <a:ea typeface="宋体" panose="02010600030101010101" pitchFamily="2" charset="-122"/>
              </a:rPr>
              <a:t> </a:t>
            </a:r>
            <a:r>
              <a:rPr lang="zh-CN" altLang="en-US" sz="2800" b="1" dirty="0">
                <a:latin typeface="楷体_GB2312" pitchFamily="49" charset="-122"/>
                <a:ea typeface="楷体_GB2312" pitchFamily="49" charset="-122"/>
              </a:rPr>
              <a:t>信息安全等级保护：</a:t>
            </a:r>
            <a:endParaRPr lang="en-US" altLang="zh-CN" sz="2800" b="1" dirty="0">
              <a:latin typeface="楷体_GB2312" pitchFamily="49" charset="-122"/>
              <a:ea typeface="楷体_GB2312" pitchFamily="49" charset="-122"/>
            </a:endParaRPr>
          </a:p>
          <a:p>
            <a:pPr lvl="1"/>
            <a:r>
              <a:rPr lang="zh-CN" altLang="en-US" dirty="0">
                <a:ea typeface="宋体" panose="02010600030101010101" pitchFamily="2" charset="-122"/>
              </a:rPr>
              <a:t>（</a:t>
            </a:r>
            <a:r>
              <a:rPr lang="en-US" altLang="zh-CN" dirty="0">
                <a:ea typeface="宋体" panose="02010600030101010101" pitchFamily="2" charset="-122"/>
              </a:rPr>
              <a:t>2</a:t>
            </a:r>
            <a:r>
              <a:rPr lang="zh-CN" altLang="en-US" dirty="0">
                <a:ea typeface="宋体" panose="02010600030101010101" pitchFamily="2" charset="-122"/>
              </a:rPr>
              <a:t>）信息系统安全保护等级的定级要素：</a:t>
            </a:r>
            <a:endParaRPr lang="en-US" altLang="zh-CN" dirty="0">
              <a:ea typeface="宋体" panose="02010600030101010101" pitchFamily="2" charset="-122"/>
            </a:endParaRPr>
          </a:p>
          <a:p>
            <a:pPr lvl="1"/>
            <a:r>
              <a:rPr lang="zh-CN" altLang="en-US" dirty="0">
                <a:ea typeface="宋体" panose="02010600030101010101" pitchFamily="2" charset="-122"/>
              </a:rPr>
              <a:t>   信息系统的安全保护等级由两个定级要素决定：等级保护对象受到破坏时所侵害的客体和对客体造成侵害的程度。</a:t>
            </a:r>
            <a:endParaRPr lang="en-US" altLang="zh-CN" dirty="0">
              <a:ea typeface="宋体" panose="02010600030101010101" pitchFamily="2" charset="-122"/>
            </a:endParaRPr>
          </a:p>
          <a:p>
            <a:pPr lvl="1"/>
            <a:r>
              <a:rPr lang="zh-CN" altLang="en-US" dirty="0">
                <a:ea typeface="宋体" panose="02010600030101010101" pitchFamily="2" charset="-122"/>
              </a:rPr>
              <a:t>   其中，等级保护对象受到破坏时所侵害的客体包括以下三个方面：</a:t>
            </a:r>
          </a:p>
          <a:p>
            <a:pPr lvl="1"/>
            <a:r>
              <a:rPr lang="en-US" altLang="zh-CN" dirty="0">
                <a:ea typeface="宋体" panose="02010600030101010101" pitchFamily="2" charset="-122"/>
              </a:rPr>
              <a:t>   a) </a:t>
            </a:r>
            <a:r>
              <a:rPr lang="zh-CN" altLang="en-US" dirty="0">
                <a:ea typeface="宋体" panose="02010600030101010101" pitchFamily="2" charset="-122"/>
              </a:rPr>
              <a:t>公民、法人和其他组织的合法权益；</a:t>
            </a:r>
          </a:p>
          <a:p>
            <a:pPr lvl="1"/>
            <a:r>
              <a:rPr lang="en-US" altLang="zh-CN" dirty="0">
                <a:ea typeface="宋体" panose="02010600030101010101" pitchFamily="2" charset="-122"/>
              </a:rPr>
              <a:t>   b) </a:t>
            </a:r>
            <a:r>
              <a:rPr lang="zh-CN" altLang="en-US" dirty="0">
                <a:ea typeface="宋体" panose="02010600030101010101" pitchFamily="2" charset="-122"/>
              </a:rPr>
              <a:t>社会秩序、公共利益；</a:t>
            </a:r>
          </a:p>
          <a:p>
            <a:pPr lvl="1"/>
            <a:r>
              <a:rPr lang="en-US" altLang="zh-CN" dirty="0">
                <a:ea typeface="宋体" panose="02010600030101010101" pitchFamily="2" charset="-122"/>
              </a:rPr>
              <a:t>   c) </a:t>
            </a:r>
            <a:r>
              <a:rPr lang="zh-CN" altLang="en-US" dirty="0">
                <a:ea typeface="宋体" panose="02010600030101010101" pitchFamily="2" charset="-122"/>
              </a:rPr>
              <a:t>国家安全。</a:t>
            </a:r>
            <a:endParaRPr lang="en-US" altLang="zh-CN" dirty="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fade">
                                      <p:cBhvr>
                                        <p:cTn id="17" dur="2000"/>
                                        <p:tgtEl>
                                          <p:spTgt spid="194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xEl>
                                              <p:pRg st="4" end="4"/>
                                            </p:txEl>
                                          </p:spTgt>
                                        </p:tgtEl>
                                        <p:attrNameLst>
                                          <p:attrName>style.visibility</p:attrName>
                                        </p:attrNameLst>
                                      </p:cBhvr>
                                      <p:to>
                                        <p:strVal val="visible"/>
                                      </p:to>
                                    </p:set>
                                    <p:animEffect transition="in" filter="fade">
                                      <p:cBhvr>
                                        <p:cTn id="22" dur="2000"/>
                                        <p:tgtEl>
                                          <p:spTgt spid="1945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animEffect transition="in" filter="fade">
                                      <p:cBhvr>
                                        <p:cTn id="27" dur="2000"/>
                                        <p:tgtEl>
                                          <p:spTgt spid="1945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459">
                                            <p:txEl>
                                              <p:pRg st="6" end="6"/>
                                            </p:txEl>
                                          </p:spTgt>
                                        </p:tgtEl>
                                        <p:attrNameLst>
                                          <p:attrName>style.visibility</p:attrName>
                                        </p:attrNameLst>
                                      </p:cBhvr>
                                      <p:to>
                                        <p:strVal val="visible"/>
                                      </p:to>
                                    </p:set>
                                    <p:animEffect transition="in" filter="fade">
                                      <p:cBhvr>
                                        <p:cTn id="32" dur="2000"/>
                                        <p:tgtEl>
                                          <p:spTgt spid="19459">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459">
                                            <p:txEl>
                                              <p:charRg st="73" end="112"/>
                                            </p:txEl>
                                          </p:spTgt>
                                        </p:tgtEl>
                                        <p:attrNameLst>
                                          <p:attrName>style.visibility</p:attrName>
                                        </p:attrNameLst>
                                      </p:cBhvr>
                                      <p:to>
                                        <p:strVal val="visible"/>
                                      </p:to>
                                    </p:set>
                                    <p:animEffect transition="in" filter="fade">
                                      <p:cBhvr>
                                        <p:cTn id="37" dur="2000"/>
                                        <p:tgtEl>
                                          <p:spTgt spid="19459">
                                            <p:txEl>
                                              <p:charRg st="73" end="1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信息安全等级保护与等级测评</a:t>
            </a:r>
          </a:p>
        </p:txBody>
      </p:sp>
      <p:sp>
        <p:nvSpPr>
          <p:cNvPr id="19459" name="内容占位符 2"/>
          <p:cNvSpPr>
            <a:spLocks noGrp="1"/>
          </p:cNvSpPr>
          <p:nvPr>
            <p:ph idx="1"/>
          </p:nvPr>
        </p:nvSpPr>
        <p:spPr>
          <a:xfrm>
            <a:off x="304800" y="457200"/>
            <a:ext cx="8229600" cy="6172200"/>
          </a:xfrm>
        </p:spPr>
        <p:txBody>
          <a:bodyPr vert="horz" wrap="square" lIns="91440" tIns="45720" rIns="91440" bIns="45720" anchor="t" anchorCtr="0"/>
          <a:lstStyle/>
          <a:p>
            <a:pPr eaLnBrk="1" hangingPunct="1">
              <a:spcAft>
                <a:spcPct val="20000"/>
              </a:spcAft>
              <a:buClr>
                <a:srgbClr val="AC04A0"/>
              </a:buClr>
              <a:buNone/>
            </a:pPr>
            <a:r>
              <a:rPr lang="en-US" altLang="zh-CN" b="1" dirty="0">
                <a:latin typeface="Times New Roman" panose="02020603050405020304" pitchFamily="18" charset="0"/>
                <a:ea typeface="楷体_GB2312" pitchFamily="49" charset="-122"/>
              </a:rPr>
              <a:t> </a:t>
            </a:r>
          </a:p>
          <a:p>
            <a:pPr eaLnBrk="1" hangingPunct="1">
              <a:spcAft>
                <a:spcPct val="20000"/>
              </a:spcAft>
              <a:buClr>
                <a:srgbClr val="AC04A0"/>
              </a:buClr>
              <a:buFont typeface="Wingdings" panose="05000000000000000000" pitchFamily="2" charset="2"/>
              <a:buChar char="Ø"/>
            </a:pPr>
            <a:r>
              <a:rPr lang="zh-CN" altLang="en-US" sz="2800" b="1" dirty="0">
                <a:latin typeface="楷体_GB2312" pitchFamily="49" charset="-122"/>
                <a:ea typeface="楷体_GB2312" pitchFamily="49" charset="-122"/>
              </a:rPr>
              <a:t>信息安全等级保护：</a:t>
            </a:r>
            <a:endParaRPr lang="en-US" altLang="zh-CN" sz="2800" b="1" dirty="0">
              <a:latin typeface="楷体_GB2312" pitchFamily="49" charset="-122"/>
              <a:ea typeface="楷体_GB2312" pitchFamily="49" charset="-122"/>
            </a:endParaRPr>
          </a:p>
          <a:p>
            <a:pPr marL="457200" lvl="1" indent="0" eaLnBrk="1" hangingPunct="1">
              <a:buNone/>
            </a:pPr>
            <a:r>
              <a:rPr lang="zh-CN" altLang="en-US" b="1" dirty="0">
                <a:solidFill>
                  <a:srgbClr val="000000"/>
                </a:solidFill>
                <a:latin typeface="楷体_GB2312" pitchFamily="49" charset="-122"/>
                <a:ea typeface="楷体_GB2312" pitchFamily="49" charset="-122"/>
              </a:rPr>
              <a:t>    等级保护对象受到破坏后对客体造成侵害的程度归结为以下三种：</a:t>
            </a:r>
          </a:p>
          <a:p>
            <a:pPr marL="457200" lvl="1" indent="0" eaLnBrk="1" hangingPunct="1">
              <a:buNone/>
            </a:pPr>
            <a:r>
              <a:rPr lang="en-US" altLang="zh-CN" b="1" dirty="0">
                <a:solidFill>
                  <a:srgbClr val="000000"/>
                </a:solidFill>
                <a:latin typeface="楷体_GB2312" pitchFamily="49" charset="-122"/>
                <a:ea typeface="楷体_GB2312" pitchFamily="49" charset="-122"/>
              </a:rPr>
              <a:t>   a) </a:t>
            </a:r>
            <a:r>
              <a:rPr lang="zh-CN" altLang="en-US" b="1" dirty="0">
                <a:solidFill>
                  <a:srgbClr val="000000"/>
                </a:solidFill>
                <a:latin typeface="楷体_GB2312" pitchFamily="49" charset="-122"/>
                <a:ea typeface="楷体_GB2312" pitchFamily="49" charset="-122"/>
              </a:rPr>
              <a:t>造成一般损害；</a:t>
            </a:r>
          </a:p>
          <a:p>
            <a:pPr marL="457200" lvl="1" indent="0" eaLnBrk="1" hangingPunct="1">
              <a:buNone/>
            </a:pPr>
            <a:r>
              <a:rPr lang="en-US" altLang="zh-CN" b="1" dirty="0">
                <a:solidFill>
                  <a:srgbClr val="000000"/>
                </a:solidFill>
                <a:latin typeface="楷体_GB2312" pitchFamily="49" charset="-122"/>
                <a:ea typeface="楷体_GB2312" pitchFamily="49" charset="-122"/>
              </a:rPr>
              <a:t>   b) </a:t>
            </a:r>
            <a:r>
              <a:rPr lang="zh-CN" altLang="en-US" b="1" dirty="0">
                <a:solidFill>
                  <a:srgbClr val="000000"/>
                </a:solidFill>
                <a:latin typeface="楷体_GB2312" pitchFamily="49" charset="-122"/>
                <a:ea typeface="楷体_GB2312" pitchFamily="49" charset="-122"/>
              </a:rPr>
              <a:t>造成严重损害；</a:t>
            </a:r>
          </a:p>
          <a:p>
            <a:pPr marL="457200" lvl="1" indent="0" eaLnBrk="1" hangingPunct="1">
              <a:buNone/>
            </a:pPr>
            <a:r>
              <a:rPr lang="en-US" altLang="zh-CN" b="1" dirty="0">
                <a:solidFill>
                  <a:srgbClr val="000000"/>
                </a:solidFill>
                <a:latin typeface="楷体_GB2312" pitchFamily="49" charset="-122"/>
                <a:ea typeface="楷体_GB2312" pitchFamily="49" charset="-122"/>
              </a:rPr>
              <a:t>   c) </a:t>
            </a:r>
            <a:r>
              <a:rPr lang="zh-CN" altLang="en-US" b="1" dirty="0">
                <a:solidFill>
                  <a:srgbClr val="000000"/>
                </a:solidFill>
                <a:latin typeface="楷体_GB2312" pitchFamily="49" charset="-122"/>
                <a:ea typeface="楷体_GB2312" pitchFamily="49" charset="-122"/>
              </a:rPr>
              <a:t>造成特别严重损害</a:t>
            </a:r>
          </a:p>
          <a:p>
            <a:pPr marL="457200" lvl="1" indent="0" eaLnBrk="1" hangingPunct="1">
              <a:buNone/>
            </a:pPr>
            <a:endParaRPr lang="zh-CN" altLang="en-US" sz="2000" b="1" dirty="0">
              <a:solidFill>
                <a:srgbClr val="000000"/>
              </a:solidFill>
              <a:latin typeface="Times New Roman" panose="02020603050405020304" pitchFamily="18" charset="0"/>
              <a:ea typeface="楷体_GB2312" pitchFamily="49" charset="-122"/>
            </a:endParaRPr>
          </a:p>
          <a:p>
            <a:pPr marL="457200" lvl="1" indent="0" eaLnBrk="1" hangingPunct="1">
              <a:buNone/>
            </a:pPr>
            <a:endParaRPr lang="zh-CN" altLang="en-US" sz="2000" b="1" dirty="0">
              <a:solidFill>
                <a:srgbClr val="000000"/>
              </a:solidFill>
              <a:latin typeface="Times New Roman" panose="02020603050405020304" pitchFamily="18" charset="0"/>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3" end="3"/>
                                            </p:txEl>
                                          </p:spTgt>
                                        </p:tgtEl>
                                        <p:attrNameLst>
                                          <p:attrName>style.visibility</p:attrName>
                                        </p:attrNameLst>
                                      </p:cBhvr>
                                      <p:to>
                                        <p:strVal val="visible"/>
                                      </p:to>
                                    </p:set>
                                    <p:animEffect transition="in" filter="fade">
                                      <p:cBhvr>
                                        <p:cTn id="17" dur="2000"/>
                                        <p:tgtEl>
                                          <p:spTgt spid="194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xEl>
                                              <p:pRg st="4" end="4"/>
                                            </p:txEl>
                                          </p:spTgt>
                                        </p:tgtEl>
                                        <p:attrNameLst>
                                          <p:attrName>style.visibility</p:attrName>
                                        </p:attrNameLst>
                                      </p:cBhvr>
                                      <p:to>
                                        <p:strVal val="visible"/>
                                      </p:to>
                                    </p:set>
                                    <p:animEffect transition="in" filter="fade">
                                      <p:cBhvr>
                                        <p:cTn id="22" dur="2000"/>
                                        <p:tgtEl>
                                          <p:spTgt spid="1945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animEffect transition="in" filter="fade">
                                      <p:cBhvr>
                                        <p:cTn id="27" dur="2000"/>
                                        <p:tgtEl>
                                          <p:spTgt spid="1945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459">
                                            <p:txEl>
                                              <p:charRg st="73" end="91"/>
                                            </p:txEl>
                                          </p:spTgt>
                                        </p:tgtEl>
                                        <p:attrNameLst>
                                          <p:attrName>style.visibility</p:attrName>
                                        </p:attrNameLst>
                                      </p:cBhvr>
                                      <p:to>
                                        <p:strVal val="visible"/>
                                      </p:to>
                                    </p:set>
                                    <p:animEffect transition="in" filter="fade">
                                      <p:cBhvr>
                                        <p:cTn id="32" dur="2000"/>
                                        <p:tgtEl>
                                          <p:spTgt spid="19459">
                                            <p:txEl>
                                              <p:charRg st="73" end="9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信息安全等级保护与等级测评</a:t>
            </a:r>
          </a:p>
        </p:txBody>
      </p:sp>
      <p:sp>
        <p:nvSpPr>
          <p:cNvPr id="19459" name="内容占位符 2"/>
          <p:cNvSpPr>
            <a:spLocks noGrp="1"/>
          </p:cNvSpPr>
          <p:nvPr>
            <p:ph idx="1"/>
          </p:nvPr>
        </p:nvSpPr>
        <p:spPr>
          <a:xfrm>
            <a:off x="304800" y="457200"/>
            <a:ext cx="8229600" cy="6172200"/>
          </a:xfrm>
        </p:spPr>
        <p:txBody>
          <a:bodyPr vert="horz" wrap="square" lIns="91440" tIns="45720" rIns="91440" bIns="45720" anchor="t" anchorCtr="0"/>
          <a:lstStyle/>
          <a:p>
            <a:pPr eaLnBrk="1" hangingPunct="1">
              <a:spcAft>
                <a:spcPct val="20000"/>
              </a:spcAft>
              <a:buClr>
                <a:srgbClr val="AC04A0"/>
              </a:buClr>
              <a:buNone/>
            </a:pPr>
            <a:r>
              <a:rPr lang="en-US" altLang="zh-CN" b="1" dirty="0">
                <a:latin typeface="Times New Roman" panose="02020603050405020304" pitchFamily="18" charset="0"/>
                <a:ea typeface="楷体_GB2312" pitchFamily="49" charset="-122"/>
              </a:rPr>
              <a:t> </a:t>
            </a:r>
          </a:p>
          <a:p>
            <a:pPr eaLnBrk="1" hangingPunct="1">
              <a:spcAft>
                <a:spcPct val="20000"/>
              </a:spcAft>
              <a:buClr>
                <a:srgbClr val="AC04A0"/>
              </a:buClr>
              <a:buFont typeface="Wingdings" panose="05000000000000000000" pitchFamily="2" charset="2"/>
              <a:buChar char="Ø"/>
            </a:pPr>
            <a:r>
              <a:rPr lang="zh-CN" altLang="en-US" sz="2800" b="1" dirty="0">
                <a:latin typeface="楷体_GB2312" pitchFamily="49" charset="-122"/>
                <a:ea typeface="楷体_GB2312" pitchFamily="49" charset="-122"/>
              </a:rPr>
              <a:t>信息安全等级保护：</a:t>
            </a:r>
            <a:endParaRPr lang="en-US" altLang="zh-CN" sz="2800" b="1" dirty="0">
              <a:latin typeface="楷体_GB2312" pitchFamily="49" charset="-122"/>
              <a:ea typeface="楷体_GB2312" pitchFamily="49" charset="-122"/>
            </a:endParaRPr>
          </a:p>
          <a:p>
            <a:pPr marL="457200" lvl="1" indent="0" eaLnBrk="1" hangingPunct="1">
              <a:buNone/>
            </a:pPr>
            <a:r>
              <a:rPr lang="zh-CN" altLang="en-US" b="1" dirty="0">
                <a:solidFill>
                  <a:srgbClr val="000000"/>
                </a:solidFill>
                <a:latin typeface="楷体_GB2312" pitchFamily="49" charset="-122"/>
                <a:ea typeface="楷体_GB2312" pitchFamily="49" charset="-122"/>
              </a:rPr>
              <a:t>（</a:t>
            </a:r>
            <a:r>
              <a:rPr lang="en-US" altLang="zh-CN" b="1" dirty="0">
                <a:solidFill>
                  <a:srgbClr val="000000"/>
                </a:solidFill>
                <a:latin typeface="楷体_GB2312" pitchFamily="49" charset="-122"/>
                <a:ea typeface="楷体_GB2312" pitchFamily="49" charset="-122"/>
              </a:rPr>
              <a:t>3</a:t>
            </a:r>
            <a:r>
              <a:rPr lang="zh-CN" altLang="en-US" b="1" dirty="0">
                <a:solidFill>
                  <a:srgbClr val="000000"/>
                </a:solidFill>
                <a:latin typeface="楷体_GB2312" pitchFamily="49" charset="-122"/>
                <a:ea typeface="楷体_GB2312" pitchFamily="49" charset="-122"/>
              </a:rPr>
              <a:t>）定级要素与等级的关系：</a:t>
            </a:r>
            <a:endParaRPr lang="en-US" altLang="zh-CN" b="1" dirty="0">
              <a:solidFill>
                <a:srgbClr val="000000"/>
              </a:solidFill>
              <a:latin typeface="楷体_GB2312" pitchFamily="49" charset="-122"/>
              <a:ea typeface="楷体_GB2312" pitchFamily="49" charset="-122"/>
            </a:endParaRPr>
          </a:p>
          <a:p>
            <a:pPr marL="457200" lvl="1" indent="0" eaLnBrk="1" hangingPunct="1">
              <a:buNone/>
            </a:pPr>
            <a:endParaRPr lang="zh-CN" altLang="en-US" sz="2000" b="1" dirty="0">
              <a:solidFill>
                <a:srgbClr val="000000"/>
              </a:solidFill>
              <a:latin typeface="Times New Roman" panose="02020603050405020304" pitchFamily="18" charset="0"/>
              <a:ea typeface="楷体_GB2312" pitchFamily="49" charset="-122"/>
            </a:endParaRPr>
          </a:p>
          <a:p>
            <a:pPr marL="457200" lvl="1" indent="0" eaLnBrk="1" hangingPunct="1">
              <a:buNone/>
            </a:pPr>
            <a:endParaRPr lang="zh-CN" altLang="en-US" sz="2000" b="1" dirty="0">
              <a:solidFill>
                <a:srgbClr val="000000"/>
              </a:solidFill>
              <a:latin typeface="Times New Roman" panose="02020603050405020304" pitchFamily="18" charset="0"/>
              <a:ea typeface="楷体_GB2312" pitchFamily="49" charset="-122"/>
            </a:endParaRPr>
          </a:p>
        </p:txBody>
      </p:sp>
      <p:pic>
        <p:nvPicPr>
          <p:cNvPr id="64516" name="Picture 3"/>
          <p:cNvPicPr>
            <a:picLocks noChangeAspect="1"/>
          </p:cNvPicPr>
          <p:nvPr/>
        </p:nvPicPr>
        <p:blipFill>
          <a:blip r:embed="rId2"/>
          <a:stretch>
            <a:fillRect/>
          </a:stretch>
        </p:blipFill>
        <p:spPr>
          <a:xfrm>
            <a:off x="685800" y="2590800"/>
            <a:ext cx="8142288" cy="3352800"/>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4" end="4"/>
                                            </p:txEl>
                                          </p:spTgt>
                                        </p:tgtEl>
                                        <p:attrNameLst>
                                          <p:attrName>style.visibility</p:attrName>
                                        </p:attrNameLst>
                                      </p:cBhvr>
                                      <p:to>
                                        <p:strVal val="visible"/>
                                      </p:to>
                                    </p:set>
                                    <p:animEffect transition="in" filter="fade">
                                      <p:cBhvr>
                                        <p:cTn id="17" dur="2000"/>
                                        <p:tgtEl>
                                          <p:spTgt spid="194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信息安全等级保护与等级测评</a:t>
            </a:r>
          </a:p>
        </p:txBody>
      </p:sp>
      <p:sp>
        <p:nvSpPr>
          <p:cNvPr id="19459" name="内容占位符 2"/>
          <p:cNvSpPr>
            <a:spLocks noGrp="1" noChangeArrowheads="1"/>
          </p:cNvSpPr>
          <p:nvPr>
            <p:ph idx="1"/>
          </p:nvPr>
        </p:nvSpPr>
        <p:spPr>
          <a:xfrm>
            <a:off x="152400" y="1066800"/>
            <a:ext cx="8836025" cy="55626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 </a:t>
            </a: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信息安全等级保护：</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定级方法：</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a:t>
            </a: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1</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定级</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一</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般</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流程：</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pic>
        <p:nvPicPr>
          <p:cNvPr id="65540" name="Picture 2"/>
          <p:cNvPicPr>
            <a:picLocks noChangeAspect="1"/>
          </p:cNvPicPr>
          <p:nvPr/>
        </p:nvPicPr>
        <p:blipFill>
          <a:blip r:embed="rId2"/>
          <a:stretch>
            <a:fillRect/>
          </a:stretch>
        </p:blipFill>
        <p:spPr>
          <a:xfrm>
            <a:off x="4038600" y="1828800"/>
            <a:ext cx="4797425" cy="4581525"/>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信息安全等级保护与等级测评</a:t>
            </a:r>
          </a:p>
        </p:txBody>
      </p:sp>
      <p:sp>
        <p:nvSpPr>
          <p:cNvPr id="19459" name="内容占位符 2"/>
          <p:cNvSpPr>
            <a:spLocks noGrp="1" noChangeArrowheads="1"/>
          </p:cNvSpPr>
          <p:nvPr>
            <p:ph idx="1"/>
          </p:nvPr>
        </p:nvSpPr>
        <p:spPr>
          <a:xfrm>
            <a:off x="152400" y="457200"/>
            <a:ext cx="8382000" cy="6172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信息安全等级保护：</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a:t>
            </a: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2</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）确定定级对象：</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40005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作为定级对象的信息系统应具有如下基本特征：</a:t>
            </a:r>
            <a:endPar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0005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a)</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具有唯一确定的安全责任单位。</a:t>
            </a:r>
            <a:endPar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0005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b)</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具有信息系统的基本要素。</a:t>
            </a:r>
            <a:endPar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0005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c)</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承载单一或相对独立的业务应用。</a:t>
            </a:r>
            <a:endPar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endParaRPr kumimoji="0" lang="en-US" altLang="zh-CN" sz="2000" b="1" i="0" u="none" strike="noStrike" kern="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9459">
                                            <p:txEl>
                                              <p:pRg st="2" end="2"/>
                                            </p:txEl>
                                          </p:spTgt>
                                        </p:tgtEl>
                                        <p:attrNameLst>
                                          <p:attrName>style.visibility</p:attrName>
                                        </p:attrNameLst>
                                      </p:cBhvr>
                                      <p:to>
                                        <p:strVal val="visible"/>
                                      </p:to>
                                    </p:set>
                                    <p:animEffect transition="in" filter="fade">
                                      <p:cBhvr>
                                        <p:cTn id="10" dur="2000"/>
                                        <p:tgtEl>
                                          <p:spTgt spid="19459">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9459">
                                            <p:txEl>
                                              <p:pRg st="3" end="3"/>
                                            </p:txEl>
                                          </p:spTgt>
                                        </p:tgtEl>
                                        <p:attrNameLst>
                                          <p:attrName>style.visibility</p:attrName>
                                        </p:attrNameLst>
                                      </p:cBhvr>
                                      <p:to>
                                        <p:strVal val="visible"/>
                                      </p:to>
                                    </p:set>
                                    <p:animEffect transition="in" filter="fade">
                                      <p:cBhvr>
                                        <p:cTn id="13" dur="2000"/>
                                        <p:tgtEl>
                                          <p:spTgt spid="19459">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9459">
                                            <p:txEl>
                                              <p:pRg st="4" end="4"/>
                                            </p:txEl>
                                          </p:spTgt>
                                        </p:tgtEl>
                                        <p:attrNameLst>
                                          <p:attrName>style.visibility</p:attrName>
                                        </p:attrNameLst>
                                      </p:cBhvr>
                                      <p:to>
                                        <p:strVal val="visible"/>
                                      </p:to>
                                    </p:set>
                                    <p:animEffect transition="in" filter="fade">
                                      <p:cBhvr>
                                        <p:cTn id="16" dur="2000"/>
                                        <p:tgtEl>
                                          <p:spTgt spid="19459">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9459">
                                            <p:txEl>
                                              <p:pRg st="5" end="5"/>
                                            </p:txEl>
                                          </p:spTgt>
                                        </p:tgtEl>
                                        <p:attrNameLst>
                                          <p:attrName>style.visibility</p:attrName>
                                        </p:attrNameLst>
                                      </p:cBhvr>
                                      <p:to>
                                        <p:strVal val="visible"/>
                                      </p:to>
                                    </p:set>
                                    <p:animEffect transition="in" filter="fade">
                                      <p:cBhvr>
                                        <p:cTn id="19" dur="2000"/>
                                        <p:tgtEl>
                                          <p:spTgt spid="19459">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9459">
                                            <p:txEl>
                                              <p:pRg st="6" end="6"/>
                                            </p:txEl>
                                          </p:spTgt>
                                        </p:tgtEl>
                                        <p:attrNameLst>
                                          <p:attrName>style.visibility</p:attrName>
                                        </p:attrNameLst>
                                      </p:cBhvr>
                                      <p:to>
                                        <p:strVal val="visible"/>
                                      </p:to>
                                    </p:set>
                                    <p:animEffect transition="in" filter="fade">
                                      <p:cBhvr>
                                        <p:cTn id="22" dur="2000"/>
                                        <p:tgtEl>
                                          <p:spTgt spid="1945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信息安全等级保护与等级测评</a:t>
            </a:r>
          </a:p>
        </p:txBody>
      </p:sp>
      <p:sp>
        <p:nvSpPr>
          <p:cNvPr id="19459" name="内容占位符 2"/>
          <p:cNvSpPr>
            <a:spLocks noGrp="1" noChangeArrowheads="1"/>
          </p:cNvSpPr>
          <p:nvPr>
            <p:ph idx="1"/>
          </p:nvPr>
        </p:nvSpPr>
        <p:spPr>
          <a:xfrm>
            <a:off x="381000" y="1143000"/>
            <a:ext cx="8382000" cy="55626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 </a:t>
            </a: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信息安全等级保护：</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a:t>
            </a: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3</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）确定受侵害的客体：</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742950" marR="0" lvl="1" indent="-28575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
              <a:defRPr/>
            </a:pP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定级对象受到破坏时所侵害的客体包括国家安全、社会秩序、公众利益以及公民、法人和其他组织的合法权益</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a:t>
            </a:r>
            <a:endPar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endParaRPr>
          </a:p>
          <a:p>
            <a:pPr marL="742950" marR="0" lvl="1" indent="-28575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确定</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作为定级对象的信息系统受到破坏后所侵害的客体时，应首先判断是否侵害国家安全，然后判断是否侵害社会秩序或公众利益，最后判断是否侵害公民、法人和其他组织的合法权益。</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endParaRPr kumimoji="0"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endParaRPr>
          </a:p>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endParaRPr kumimoji="0" lang="en-US" altLang="zh-CN" sz="2000" b="1" i="0" u="none" strike="noStrike" kern="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信息安全等级保护与等级测评</a:t>
            </a:r>
          </a:p>
        </p:txBody>
      </p:sp>
      <p:sp>
        <p:nvSpPr>
          <p:cNvPr id="19459" name="内容占位符 2"/>
          <p:cNvSpPr>
            <a:spLocks noGrp="1" noChangeArrowheads="1"/>
          </p:cNvSpPr>
          <p:nvPr>
            <p:ph idx="1"/>
          </p:nvPr>
        </p:nvSpPr>
        <p:spPr>
          <a:xfrm>
            <a:off x="152400" y="1143000"/>
            <a:ext cx="8763000" cy="54864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 </a:t>
            </a: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信息安全等级保护：</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a:t>
            </a: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4</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）确定对客体的侵害程度：</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742950" marR="0" lvl="1" indent="-28575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
              <a:defRPr/>
            </a:pP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侵害</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程度是客观方面的不同外在表现的综合体现，因此，应首先根据不同的受侵害客体、不同危害后果分别确定其危害程度</a:t>
            </a: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a:t>
            </a:r>
            <a:endParaRPr kumimoji="0" lang="en-US" altLang="zh-CN"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endParaRPr>
          </a:p>
          <a:p>
            <a:pPr marL="742950" marR="0" lvl="1" indent="-28575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
              <a:defRPr/>
            </a:pP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对</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不同危害后果确定其危害程度所采取的方法和所考虑的角度可能不同，例如系统服务安全被破坏导致业务能力下降的程度可以从信息系统服务覆盖的区域范围、用户人数或业务量等不同方面确定，业务信息安全被破坏导致的财物损失可以从直接的资金损失大小、间接的信息恢复费用等方面进行确定。</a:t>
            </a:r>
          </a:p>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endPar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endParaRPr>
          </a:p>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endParaRPr kumimoji="0" lang="en-US" altLang="zh-CN" sz="2000" b="1" i="0" u="none" strike="noStrike" kern="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spTree>
  </p:cSld>
  <p:clrMapOvr>
    <a:masterClrMapping/>
  </p:clrMapOvr>
  <p:transition>
    <p:random/>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信息安全等级保护与等级测评</a:t>
            </a:r>
          </a:p>
        </p:txBody>
      </p:sp>
      <p:sp>
        <p:nvSpPr>
          <p:cNvPr id="19459" name="内容占位符 2"/>
          <p:cNvSpPr>
            <a:spLocks noGrp="1" noChangeArrowheads="1"/>
          </p:cNvSpPr>
          <p:nvPr>
            <p:ph idx="1"/>
          </p:nvPr>
        </p:nvSpPr>
        <p:spPr>
          <a:xfrm>
            <a:off x="152400" y="457200"/>
            <a:ext cx="8382000" cy="6172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信息安全等级保护：</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a:t>
            </a:r>
            <a:r>
              <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5</a:t>
            </a:r>
            <a:r>
              <a:rPr kumimoji="0" lang="zh-CN" altLang="en-US" sz="2400" b="1" i="0" u="none" strike="noStrike" kern="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确定定级对象的安全保护等级：</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40005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根据业务信息安全被破坏时所侵害的客体以及对相应客体的侵害程度</a:t>
            </a:r>
            <a:endPar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pic>
        <p:nvPicPr>
          <p:cNvPr id="69636" name="Picture 2"/>
          <p:cNvPicPr>
            <a:picLocks noChangeAspect="1"/>
          </p:cNvPicPr>
          <p:nvPr/>
        </p:nvPicPr>
        <p:blipFill>
          <a:blip r:embed="rId2"/>
          <a:stretch>
            <a:fillRect/>
          </a:stretch>
        </p:blipFill>
        <p:spPr>
          <a:xfrm>
            <a:off x="990600" y="3276600"/>
            <a:ext cx="6692900" cy="2590800"/>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信息安全等级保护与等级测评</a:t>
            </a:r>
          </a:p>
        </p:txBody>
      </p:sp>
      <p:sp>
        <p:nvSpPr>
          <p:cNvPr id="19459" name="内容占位符 2"/>
          <p:cNvSpPr>
            <a:spLocks noGrp="1" noChangeArrowheads="1"/>
          </p:cNvSpPr>
          <p:nvPr>
            <p:ph idx="1"/>
          </p:nvPr>
        </p:nvSpPr>
        <p:spPr>
          <a:xfrm>
            <a:off x="152400" y="457200"/>
            <a:ext cx="8382000" cy="6172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信息安全等级保护：</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742950" marR="0" lvl="1" indent="-28575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
              <a:defRPr/>
            </a:pP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根据</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系统服务安全被破坏时所侵害的客体以及对相应客体的侵害程度</a:t>
            </a:r>
            <a:endPar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pic>
        <p:nvPicPr>
          <p:cNvPr id="70660" name="Picture 2"/>
          <p:cNvPicPr>
            <a:picLocks noChangeAspect="1"/>
          </p:cNvPicPr>
          <p:nvPr/>
        </p:nvPicPr>
        <p:blipFill>
          <a:blip r:embed="rId2"/>
          <a:stretch>
            <a:fillRect/>
          </a:stretch>
        </p:blipFill>
        <p:spPr>
          <a:xfrm>
            <a:off x="609600" y="3048000"/>
            <a:ext cx="7667625" cy="2819400"/>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信息安全等级保护与等级测评</a:t>
            </a:r>
          </a:p>
        </p:txBody>
      </p:sp>
      <p:sp>
        <p:nvSpPr>
          <p:cNvPr id="19459" name="内容占位符 2"/>
          <p:cNvSpPr>
            <a:spLocks noGrp="1" noChangeArrowheads="1"/>
          </p:cNvSpPr>
          <p:nvPr>
            <p:ph idx="1"/>
          </p:nvPr>
        </p:nvSpPr>
        <p:spPr>
          <a:xfrm>
            <a:off x="304800" y="990600"/>
            <a:ext cx="8458200" cy="54864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 </a:t>
            </a: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信息安全等级测评：</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概述：</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    等级</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测评是指，测评机构依据国家信息安全等级保护制度规定，按照有关管理规范和技术标准，对非涉及国家秘密信息系统安全等级保护状况进行检测评估的活动</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charRg st="73" end="92"/>
                                            </p:txEl>
                                          </p:spTgt>
                                        </p:tgtEl>
                                        <p:attrNameLst>
                                          <p:attrName>style.visibility</p:attrName>
                                        </p:attrNameLst>
                                      </p:cBhvr>
                                      <p:to>
                                        <p:strVal val="visible"/>
                                      </p:to>
                                    </p:set>
                                    <p:animEffect transition="in" filter="fade">
                                      <p:cBhvr>
                                        <p:cTn id="12" dur="2000"/>
                                        <p:tgtEl>
                                          <p:spTgt spid="19459">
                                            <p:txEl>
                                              <p:charRg st="73" end="9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信息安全等级保护与等级测评</a:t>
            </a:r>
          </a:p>
        </p:txBody>
      </p:sp>
      <p:sp>
        <p:nvSpPr>
          <p:cNvPr id="19459" name="内容占位符 2"/>
          <p:cNvSpPr>
            <a:spLocks noGrp="1" noChangeArrowheads="1"/>
          </p:cNvSpPr>
          <p:nvPr>
            <p:ph idx="1"/>
          </p:nvPr>
        </p:nvSpPr>
        <p:spPr>
          <a:xfrm>
            <a:off x="304800" y="1143000"/>
            <a:ext cx="8229600" cy="54864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信息安全等级测评：</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a:t>
            </a: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1</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）等级测评的作用</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a)</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在信息系统建设、整改时，信息系统运营、使用单位通过等级测评进行现状分析，确定系统的安全保护现状和存在的安全问题，并在此基础上确定系统的整改安全需求。</a:t>
            </a:r>
            <a:endPar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b)</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在信息系统运维过程中，定信息系统是否具备</a:t>
            </a:r>
            <a:r>
              <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GB/T 22239-2008</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中相应等级安全保护能力。</a:t>
            </a:r>
            <a:endPar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charRg st="73" end="112"/>
                                            </p:txEl>
                                          </p:spTgt>
                                        </p:tgtEl>
                                        <p:attrNameLst>
                                          <p:attrName>style.visibility</p:attrName>
                                        </p:attrNameLst>
                                      </p:cBhvr>
                                      <p:to>
                                        <p:strVal val="visible"/>
                                      </p:to>
                                    </p:set>
                                    <p:animEffect transition="in" filter="fade">
                                      <p:cBhvr>
                                        <p:cTn id="7" dur="2000"/>
                                        <p:tgtEl>
                                          <p:spTgt spid="19459">
                                            <p:txEl>
                                              <p:charRg st="73" end="1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信息安全等级保护与等级测评</a:t>
            </a:r>
          </a:p>
        </p:txBody>
      </p:sp>
      <p:sp>
        <p:nvSpPr>
          <p:cNvPr id="19459" name="内容占位符 2"/>
          <p:cNvSpPr>
            <a:spLocks noGrp="1" noChangeArrowheads="1"/>
          </p:cNvSpPr>
          <p:nvPr>
            <p:ph idx="1"/>
          </p:nvPr>
        </p:nvSpPr>
        <p:spPr>
          <a:xfrm>
            <a:off x="304800" y="457200"/>
            <a:ext cx="8610600" cy="6172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信息安全等级测评：</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a:t>
            </a: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2</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）等级测评执行主体</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742950" marR="0" lvl="2" indent="-342900" algn="l" defTabSz="914400" rtl="0" eaLnBrk="1" fontAlgn="base" latinLnBrk="0" hangingPunct="1">
              <a:lnSpc>
                <a:spcPct val="100000"/>
              </a:lnSpc>
              <a:spcBef>
                <a:spcPct val="20000"/>
              </a:spcBef>
              <a:spcAft>
                <a:spcPct val="20000"/>
              </a:spcAft>
              <a:buClr>
                <a:srgbClr val="AC04A0"/>
              </a:buClr>
              <a:buSzTx/>
              <a:buFontTx/>
              <a:buChar char="•"/>
              <a:defRPr/>
            </a:pP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可以为三级及以上等级信息系统实施等级测评的等级测评执行主体应具备如下条件：</a:t>
            </a:r>
            <a:endPar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1200150" marR="0" lvl="3" indent="-342900" algn="l" defTabSz="914400" rtl="0" eaLnBrk="1" fontAlgn="base" latinLnBrk="0" hangingPunct="1">
              <a:lnSpc>
                <a:spcPct val="100000"/>
              </a:lnSpc>
              <a:spcBef>
                <a:spcPct val="20000"/>
              </a:spcBef>
              <a:spcAft>
                <a:spcPct val="20000"/>
              </a:spcAft>
              <a:buClr>
                <a:srgbClr val="AC04A0"/>
              </a:buClr>
              <a:buSzTx/>
              <a:buFontTx/>
              <a:buChar char="–"/>
              <a:defRPr/>
            </a:pPr>
            <a:r>
              <a:rPr kumimoji="0"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在中华人民共和国境内注册成立（港澳台地区除外</a:t>
            </a:r>
            <a:r>
              <a:rPr kumimoji="0" lang="zh-CN" altLang="en-US"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a:t>
            </a:r>
            <a:endParaRPr kumimoji="0" lang="en-US" altLang="zh-CN"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endParaRPr>
          </a:p>
          <a:p>
            <a:pPr marL="1200150" marR="0" lvl="3" indent="-342900" algn="l" defTabSz="914400" rtl="0" eaLnBrk="1" fontAlgn="base" latinLnBrk="0" hangingPunct="1">
              <a:lnSpc>
                <a:spcPct val="100000"/>
              </a:lnSpc>
              <a:spcBef>
                <a:spcPct val="20000"/>
              </a:spcBef>
              <a:spcAft>
                <a:spcPct val="20000"/>
              </a:spcAft>
              <a:buClr>
                <a:srgbClr val="AC04A0"/>
              </a:buClr>
              <a:buSzTx/>
              <a:buFontTx/>
              <a:buChar char="–"/>
              <a:defRPr/>
            </a:pPr>
            <a:r>
              <a:rPr kumimoji="0" lang="zh-CN" altLang="en-US"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由</a:t>
            </a:r>
            <a:r>
              <a:rPr kumimoji="0"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中国公民投资、中国法人投资或者国家投资的企事业单位（港澳台地区除外）</a:t>
            </a:r>
            <a:r>
              <a:rPr kumimoji="0" lang="zh-CN" altLang="en-US"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a:t>
            </a:r>
            <a:endParaRPr kumimoji="0" lang="en-US" altLang="zh-CN"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endParaRPr>
          </a:p>
          <a:p>
            <a:pPr marL="1200150" marR="0" lvl="3" indent="-342900" algn="l" defTabSz="914400" rtl="0" eaLnBrk="1" fontAlgn="base" latinLnBrk="0" hangingPunct="1">
              <a:lnSpc>
                <a:spcPct val="100000"/>
              </a:lnSpc>
              <a:spcBef>
                <a:spcPct val="20000"/>
              </a:spcBef>
              <a:spcAft>
                <a:spcPct val="20000"/>
              </a:spcAft>
              <a:buClr>
                <a:srgbClr val="AC04A0"/>
              </a:buClr>
              <a:buSzTx/>
              <a:buFontTx/>
              <a:buChar char="–"/>
              <a:defRPr/>
            </a:pPr>
            <a:r>
              <a:rPr kumimoji="0" lang="zh-CN" altLang="en-US"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从事</a:t>
            </a:r>
            <a:r>
              <a:rPr kumimoji="0"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相关检测评估工作两年以上，无违法记录等</a:t>
            </a:r>
            <a:endParaRPr kumimoji="0" lang="en-US" altLang="zh-CN"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9459">
                                            <p:txEl>
                                              <p:pRg st="2" end="2"/>
                                            </p:txEl>
                                          </p:spTgt>
                                        </p:tgtEl>
                                        <p:attrNameLst>
                                          <p:attrName>style.visibility</p:attrName>
                                        </p:attrNameLst>
                                      </p:cBhvr>
                                      <p:to>
                                        <p:strVal val="visible"/>
                                      </p:to>
                                    </p:set>
                                    <p:animEffect transition="in" filter="fade">
                                      <p:cBhvr>
                                        <p:cTn id="10" dur="2000"/>
                                        <p:tgtEl>
                                          <p:spTgt spid="19459">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9459">
                                            <p:txEl>
                                              <p:pRg st="3" end="3"/>
                                            </p:txEl>
                                          </p:spTgt>
                                        </p:tgtEl>
                                        <p:attrNameLst>
                                          <p:attrName>style.visibility</p:attrName>
                                        </p:attrNameLst>
                                      </p:cBhvr>
                                      <p:to>
                                        <p:strVal val="visible"/>
                                      </p:to>
                                    </p:set>
                                    <p:animEffect transition="in" filter="fade">
                                      <p:cBhvr>
                                        <p:cTn id="13" dur="2000"/>
                                        <p:tgtEl>
                                          <p:spTgt spid="19459">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9459">
                                            <p:txEl>
                                              <p:pRg st="4" end="4"/>
                                            </p:txEl>
                                          </p:spTgt>
                                        </p:tgtEl>
                                        <p:attrNameLst>
                                          <p:attrName>style.visibility</p:attrName>
                                        </p:attrNameLst>
                                      </p:cBhvr>
                                      <p:to>
                                        <p:strVal val="visible"/>
                                      </p:to>
                                    </p:set>
                                    <p:animEffect transition="in" filter="fade">
                                      <p:cBhvr>
                                        <p:cTn id="16" dur="2000"/>
                                        <p:tgtEl>
                                          <p:spTgt spid="19459">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9459">
                                            <p:txEl>
                                              <p:pRg st="5" end="5"/>
                                            </p:txEl>
                                          </p:spTgt>
                                        </p:tgtEl>
                                        <p:attrNameLst>
                                          <p:attrName>style.visibility</p:attrName>
                                        </p:attrNameLst>
                                      </p:cBhvr>
                                      <p:to>
                                        <p:strVal val="visible"/>
                                      </p:to>
                                    </p:set>
                                    <p:animEffect transition="in" filter="fade">
                                      <p:cBhvr>
                                        <p:cTn id="19" dur="2000"/>
                                        <p:tgtEl>
                                          <p:spTgt spid="19459">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9459">
                                            <p:txEl>
                                              <p:pRg st="6" end="6"/>
                                            </p:txEl>
                                          </p:spTgt>
                                        </p:tgtEl>
                                        <p:attrNameLst>
                                          <p:attrName>style.visibility</p:attrName>
                                        </p:attrNameLst>
                                      </p:cBhvr>
                                      <p:to>
                                        <p:strVal val="visible"/>
                                      </p:to>
                                    </p:set>
                                    <p:animEffect transition="in" filter="fade">
                                      <p:cBhvr>
                                        <p:cTn id="22" dur="2000"/>
                                        <p:tgtEl>
                                          <p:spTgt spid="19459">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459">
                                            <p:txEl>
                                              <p:charRg st="73" end="112"/>
                                            </p:txEl>
                                          </p:spTgt>
                                        </p:tgtEl>
                                        <p:attrNameLst>
                                          <p:attrName>style.visibility</p:attrName>
                                        </p:attrNameLst>
                                      </p:cBhvr>
                                      <p:to>
                                        <p:strVal val="visible"/>
                                      </p:to>
                                    </p:set>
                                    <p:animEffect transition="in" filter="fade">
                                      <p:cBhvr>
                                        <p:cTn id="27" dur="2000"/>
                                        <p:tgtEl>
                                          <p:spTgt spid="19459">
                                            <p:txEl>
                                              <p:charRg st="73" end="1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信息安全等级保护与等级测评</a:t>
            </a:r>
          </a:p>
        </p:txBody>
      </p:sp>
      <p:sp>
        <p:nvSpPr>
          <p:cNvPr id="19459" name="内容占位符 2"/>
          <p:cNvSpPr>
            <a:spLocks noGrp="1" noChangeArrowheads="1"/>
          </p:cNvSpPr>
          <p:nvPr>
            <p:ph idx="1"/>
          </p:nvPr>
        </p:nvSpPr>
        <p:spPr>
          <a:xfrm>
            <a:off x="304800" y="1066800"/>
            <a:ext cx="8534400" cy="5791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 </a:t>
            </a: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信息安全等级测评：</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40005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a:t>
            </a:r>
            <a:r>
              <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3</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）等级测评风险</a:t>
            </a:r>
            <a:endPar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0005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等级测评实施过程中，被测系统可能面临以下风险：</a:t>
            </a:r>
          </a:p>
          <a:p>
            <a:pPr marL="80010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①验证测试影响系统正常运行；</a:t>
            </a:r>
            <a:endParaRPr kumimoji="0" lang="en-US" altLang="zh-CN"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80010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②工具测试影响系统正常运行；</a:t>
            </a:r>
            <a:endParaRPr kumimoji="0" lang="en-US" altLang="zh-CN"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80010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③敏感信息泄漏。</a:t>
            </a:r>
            <a:endParaRPr kumimoji="0" lang="en-US" altLang="zh-CN"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endParaRPr>
          </a:p>
          <a:p>
            <a:pPr marL="40005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a:t>
            </a:r>
            <a:r>
              <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4</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）等级测评过程</a:t>
            </a:r>
          </a:p>
          <a:p>
            <a:pPr marL="40005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等级测评过程分为四个基本测评活动</a:t>
            </a: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a:t>
            </a:r>
            <a:endParaRPr kumimoji="0" lang="en-US" altLang="zh-CN"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endParaRPr>
          </a:p>
          <a:p>
            <a:pPr marL="1143000" marR="0" lvl="2" indent="-342900" algn="l" defTabSz="914400" rtl="0" eaLnBrk="1" fontAlgn="base" latinLnBrk="0" hangingPunct="1">
              <a:lnSpc>
                <a:spcPct val="100000"/>
              </a:lnSpc>
              <a:spcBef>
                <a:spcPct val="20000"/>
              </a:spcBef>
              <a:spcAft>
                <a:spcPct val="20000"/>
              </a:spcAft>
              <a:buClr>
                <a:srgbClr val="AC04A0"/>
              </a:buClr>
              <a:buSzTx/>
              <a:buFontTx/>
              <a:buChar char="•"/>
              <a:defRPr/>
            </a:pPr>
            <a:r>
              <a:rPr kumimoji="0" lang="zh-CN" altLang="en-US"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测评</a:t>
            </a:r>
            <a:r>
              <a:rPr kumimoji="0"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准备活动</a:t>
            </a:r>
            <a:r>
              <a:rPr kumimoji="0" lang="zh-CN" altLang="en-US"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a:t>
            </a:r>
            <a:endParaRPr kumimoji="0" lang="en-US" altLang="zh-CN"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endParaRPr>
          </a:p>
          <a:p>
            <a:pPr marL="1143000" marR="0" lvl="2" indent="-342900" algn="l" defTabSz="914400" rtl="0" eaLnBrk="1" fontAlgn="base" latinLnBrk="0" hangingPunct="1">
              <a:lnSpc>
                <a:spcPct val="100000"/>
              </a:lnSpc>
              <a:spcBef>
                <a:spcPct val="20000"/>
              </a:spcBef>
              <a:spcAft>
                <a:spcPct val="20000"/>
              </a:spcAft>
              <a:buClr>
                <a:srgbClr val="AC04A0"/>
              </a:buClr>
              <a:buSzTx/>
              <a:buFontTx/>
              <a:buChar char="•"/>
              <a:defRPr/>
            </a:pPr>
            <a:r>
              <a:rPr kumimoji="0" lang="zh-CN" altLang="en-US"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方案</a:t>
            </a:r>
            <a:r>
              <a:rPr kumimoji="0"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编制活动</a:t>
            </a:r>
            <a:r>
              <a:rPr kumimoji="0" lang="zh-CN" altLang="en-US"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a:t>
            </a:r>
            <a:endParaRPr kumimoji="0" lang="en-US" altLang="zh-CN"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endParaRPr>
          </a:p>
          <a:p>
            <a:pPr marL="1143000" marR="0" lvl="2" indent="-342900" algn="l" defTabSz="914400" rtl="0" eaLnBrk="1" fontAlgn="base" latinLnBrk="0" hangingPunct="1">
              <a:lnSpc>
                <a:spcPct val="100000"/>
              </a:lnSpc>
              <a:spcBef>
                <a:spcPct val="20000"/>
              </a:spcBef>
              <a:spcAft>
                <a:spcPct val="20000"/>
              </a:spcAft>
              <a:buClr>
                <a:srgbClr val="AC04A0"/>
              </a:buClr>
              <a:buSzTx/>
              <a:buFontTx/>
              <a:buChar char="•"/>
              <a:defRPr/>
            </a:pPr>
            <a:r>
              <a:rPr kumimoji="0" lang="zh-CN" altLang="en-US"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现场</a:t>
            </a:r>
            <a:r>
              <a:rPr kumimoji="0"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测评活动</a:t>
            </a:r>
            <a:r>
              <a:rPr kumimoji="0" lang="zh-CN" altLang="en-US"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a:t>
            </a:r>
            <a:endParaRPr kumimoji="0" lang="en-US" altLang="zh-CN"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endParaRPr>
          </a:p>
          <a:p>
            <a:pPr marL="1143000" marR="0" lvl="2" indent="-342900" algn="l" defTabSz="914400" rtl="0" eaLnBrk="1" fontAlgn="base" latinLnBrk="0" hangingPunct="1">
              <a:lnSpc>
                <a:spcPct val="100000"/>
              </a:lnSpc>
              <a:spcBef>
                <a:spcPct val="20000"/>
              </a:spcBef>
              <a:spcAft>
                <a:spcPct val="20000"/>
              </a:spcAft>
              <a:buClr>
                <a:srgbClr val="AC04A0"/>
              </a:buClr>
              <a:buSzTx/>
              <a:buFontTx/>
              <a:buChar char="•"/>
              <a:defRPr/>
            </a:pPr>
            <a:r>
              <a:rPr kumimoji="0" lang="zh-CN" altLang="en-US"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分析</a:t>
            </a:r>
            <a:r>
              <a:rPr kumimoji="0"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及报告编制活动。</a:t>
            </a:r>
          </a:p>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endPar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charRg st="73" end="112"/>
                                            </p:txEl>
                                          </p:spTgt>
                                        </p:tgtEl>
                                        <p:attrNameLst>
                                          <p:attrName>style.visibility</p:attrName>
                                        </p:attrNameLst>
                                      </p:cBhvr>
                                      <p:to>
                                        <p:strVal val="visible"/>
                                      </p:to>
                                    </p:set>
                                    <p:animEffect transition="in" filter="fade">
                                      <p:cBhvr>
                                        <p:cTn id="12" dur="2000"/>
                                        <p:tgtEl>
                                          <p:spTgt spid="19459">
                                            <p:txEl>
                                              <p:charRg st="73" end="1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信息安全等级保护与等级测评</a:t>
            </a:r>
          </a:p>
        </p:txBody>
      </p:sp>
      <p:sp>
        <p:nvSpPr>
          <p:cNvPr id="19459" name="内容占位符 2"/>
          <p:cNvSpPr>
            <a:spLocks noGrp="1" noChangeArrowheads="1"/>
          </p:cNvSpPr>
          <p:nvPr>
            <p:ph idx="1"/>
          </p:nvPr>
        </p:nvSpPr>
        <p:spPr>
          <a:xfrm>
            <a:off x="304800" y="1143000"/>
            <a:ext cx="8229600" cy="54864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信息安全等级测评：</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测评准备活动：</a:t>
            </a:r>
          </a:p>
          <a:p>
            <a:pPr marL="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a:t>
            </a: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1</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）测评准备活动的工作流程</a:t>
            </a:r>
          </a:p>
          <a:p>
            <a:pPr marL="857250" marR="0" lvl="2" indent="-457200" algn="l" defTabSz="914400" rtl="0" eaLnBrk="1" fontAlgn="base" latinLnBrk="0" hangingPunct="1">
              <a:lnSpc>
                <a:spcPct val="100000"/>
              </a:lnSpc>
              <a:spcBef>
                <a:spcPct val="20000"/>
              </a:spcBef>
              <a:spcAft>
                <a:spcPct val="20000"/>
              </a:spcAft>
              <a:buClr>
                <a:srgbClr val="AC04A0"/>
              </a:buClr>
              <a:buSzTx/>
              <a:buFontTx/>
              <a:buChar char="•"/>
              <a:defRPr/>
            </a:pP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测评准备活动的目标是顺利启动测评项目，准备测评所需的相关资料，为顺利编制测评方案打下良好的基础</a:t>
            </a: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a:t>
            </a:r>
            <a:endParaRPr kumimoji="0" lang="en-US" altLang="zh-CN"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endParaRPr>
          </a:p>
          <a:p>
            <a:pPr marL="857250" marR="0" lvl="2" indent="-457200" algn="l" defTabSz="914400" rtl="0" eaLnBrk="1" fontAlgn="base" latinLnBrk="0" hangingPunct="1">
              <a:lnSpc>
                <a:spcPct val="100000"/>
              </a:lnSpc>
              <a:spcBef>
                <a:spcPct val="20000"/>
              </a:spcBef>
              <a:spcAft>
                <a:spcPct val="20000"/>
              </a:spcAft>
              <a:buClr>
                <a:srgbClr val="AC04A0"/>
              </a:buClr>
              <a:buSzTx/>
              <a:buFontTx/>
              <a:buChar char="•"/>
              <a:defRPr/>
            </a:pP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测评</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准备活动包括项目启动、信息收集和分析、工具和表单准备三项主要任务</a:t>
            </a: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a:t>
            </a:r>
            <a:endPar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charRg st="73" end="112"/>
                                            </p:txEl>
                                          </p:spTgt>
                                        </p:tgtEl>
                                        <p:attrNameLst>
                                          <p:attrName>style.visibility</p:attrName>
                                        </p:attrNameLst>
                                      </p:cBhvr>
                                      <p:to>
                                        <p:strVal val="visible"/>
                                      </p:to>
                                    </p:set>
                                    <p:animEffect transition="in" filter="fade">
                                      <p:cBhvr>
                                        <p:cTn id="12" dur="2000"/>
                                        <p:tgtEl>
                                          <p:spTgt spid="19459">
                                            <p:txEl>
                                              <p:charRg st="73" end="1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信息安全等级保护与等级测评</a:t>
            </a:r>
          </a:p>
        </p:txBody>
      </p:sp>
      <p:sp>
        <p:nvSpPr>
          <p:cNvPr id="19459" name="内容占位符 2"/>
          <p:cNvSpPr>
            <a:spLocks noGrp="1" noChangeArrowheads="1"/>
          </p:cNvSpPr>
          <p:nvPr>
            <p:ph idx="1"/>
          </p:nvPr>
        </p:nvSpPr>
        <p:spPr>
          <a:xfrm>
            <a:off x="304800" y="1066800"/>
            <a:ext cx="8229600" cy="55626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信息安全等级测评：</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a:t>
            </a: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2</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）测评准备活动的主要任务</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857250" marR="0" lvl="3"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①项目启动</a:t>
            </a:r>
            <a:endParaRPr kumimoji="0" lang="en-US" altLang="zh-CN"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857250" marR="0" lvl="3"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②信息收集和分析</a:t>
            </a:r>
            <a:endParaRPr kumimoji="0" lang="en-US" altLang="zh-CN"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857250" marR="0" lvl="3"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③工具和表单准备</a:t>
            </a:r>
            <a:endParaRPr kumimoji="0" lang="en-US" altLang="zh-CN"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4" end="4"/>
                                            </p:txEl>
                                          </p:spTgt>
                                        </p:tgtEl>
                                        <p:attrNameLst>
                                          <p:attrName>style.visibility</p:attrName>
                                        </p:attrNameLst>
                                      </p:cBhvr>
                                      <p:to>
                                        <p:strVal val="visible"/>
                                      </p:to>
                                    </p:set>
                                    <p:animEffect transition="in" filter="fade">
                                      <p:cBhvr>
                                        <p:cTn id="7" dur="2000"/>
                                        <p:tgtEl>
                                          <p:spTgt spid="194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信息安全等级保护与等级测评</a:t>
            </a:r>
          </a:p>
        </p:txBody>
      </p:sp>
      <p:sp>
        <p:nvSpPr>
          <p:cNvPr id="19459" name="内容占位符 2"/>
          <p:cNvSpPr>
            <a:spLocks noGrp="1" noChangeArrowheads="1"/>
          </p:cNvSpPr>
          <p:nvPr>
            <p:ph idx="1"/>
          </p:nvPr>
        </p:nvSpPr>
        <p:spPr>
          <a:xfrm>
            <a:off x="304800" y="457200"/>
            <a:ext cx="8229600" cy="6172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信息安全等级测评：</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a:t>
            </a: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3</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）测评准备活动的输出文档</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p:txBody>
      </p:sp>
      <p:pic>
        <p:nvPicPr>
          <p:cNvPr id="77828" name="Picture 2"/>
          <p:cNvPicPr>
            <a:picLocks noChangeAspect="1"/>
          </p:cNvPicPr>
          <p:nvPr/>
        </p:nvPicPr>
        <p:blipFill>
          <a:blip r:embed="rId2"/>
          <a:stretch>
            <a:fillRect/>
          </a:stretch>
        </p:blipFill>
        <p:spPr>
          <a:xfrm>
            <a:off x="1066800" y="2487613"/>
            <a:ext cx="7316788" cy="3455987"/>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9459">
                                            <p:txEl>
                                              <p:pRg st="2" end="2"/>
                                            </p:txEl>
                                          </p:spTgt>
                                        </p:tgtEl>
                                        <p:attrNameLst>
                                          <p:attrName>style.visibility</p:attrName>
                                        </p:attrNameLst>
                                      </p:cBhvr>
                                      <p:to>
                                        <p:strVal val="visible"/>
                                      </p:to>
                                    </p:set>
                                    <p:animEffect transition="in" filter="fade">
                                      <p:cBhvr>
                                        <p:cTn id="10" dur="2000"/>
                                        <p:tgtEl>
                                          <p:spTgt spid="19459">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animEffect transition="in" filter="fade">
                                      <p:cBhvr>
                                        <p:cTn id="15" dur="2000"/>
                                        <p:tgtEl>
                                          <p:spTgt spid="1945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信息安全等级保护与等级测评</a:t>
            </a:r>
          </a:p>
        </p:txBody>
      </p:sp>
      <p:sp>
        <p:nvSpPr>
          <p:cNvPr id="19459" name="内容占位符 2"/>
          <p:cNvSpPr>
            <a:spLocks noGrp="1" noChangeArrowheads="1"/>
          </p:cNvSpPr>
          <p:nvPr>
            <p:ph idx="1"/>
          </p:nvPr>
        </p:nvSpPr>
        <p:spPr>
          <a:xfrm>
            <a:off x="304800" y="457200"/>
            <a:ext cx="8229600" cy="6172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信息安全等级测评：</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a:t>
            </a:r>
            <a:r>
              <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4</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测评准备活动中双方的职责</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000" b="1" i="0" u="none" strike="noStrike" kern="0" cap="none" spc="0" normalizeH="0" baseline="0" noProof="0" dirty="0">
                <a:ln>
                  <a:noFill/>
                </a:ln>
                <a:solidFill>
                  <a:srgbClr val="FF0000"/>
                </a:solidFill>
                <a:effectLst/>
                <a:uLnTx/>
                <a:uFillTx/>
                <a:latin typeface="楷体_GB2312" pitchFamily="49" charset="-122"/>
                <a:ea typeface="楷体_GB2312" pitchFamily="49" charset="-122"/>
                <a:cs typeface="+mn-cs"/>
              </a:rPr>
              <a:t>测评机构职责：</a:t>
            </a: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a) </a:t>
            </a:r>
            <a:r>
              <a:rPr kumimoji="0"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组建等级测评项目组。</a:t>
            </a: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b) </a:t>
            </a:r>
            <a:r>
              <a:rPr kumimoji="0"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指出测评委托单位应提供的基本资料。</a:t>
            </a: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c) </a:t>
            </a:r>
            <a:r>
              <a:rPr kumimoji="0"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准备被测系统基本情况调查表格，并提交给</a:t>
            </a:r>
            <a:r>
              <a:rPr kumimoji="0" lang="zh-CN" altLang="en-US"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测评</a:t>
            </a:r>
            <a:endParaRPr kumimoji="0" lang="en-US" altLang="zh-CN"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endParaRP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000" b="1" i="0" u="none" strike="noStrike" kern="0" cap="none" spc="0" normalizeH="0" baseline="0" noProof="0" dirty="0">
                <a:ln>
                  <a:noFill/>
                </a:ln>
                <a:solidFill>
                  <a:srgbClr val="FF0000"/>
                </a:solidFill>
                <a:effectLst/>
                <a:uLnTx/>
                <a:uFillTx/>
                <a:latin typeface="楷体_GB2312" pitchFamily="49" charset="-122"/>
                <a:ea typeface="楷体_GB2312" pitchFamily="49" charset="-122"/>
              </a:rPr>
              <a:t>测评委托单位职责：</a:t>
            </a: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a) </a:t>
            </a:r>
            <a:r>
              <a:rPr kumimoji="0"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向测评机构介绍本单位的信息化建设状况与发展情况。</a:t>
            </a: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b) </a:t>
            </a:r>
            <a:r>
              <a:rPr kumimoji="0"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准备测评机构需要的资料。</a:t>
            </a: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c) </a:t>
            </a:r>
            <a:r>
              <a:rPr kumimoji="0"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为测评人员的信息收集提供支持和协调等职责。</a:t>
            </a: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endParaRPr kumimoji="0"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9459">
                                            <p:txEl>
                                              <p:pRg st="2" end="2"/>
                                            </p:txEl>
                                          </p:spTgt>
                                        </p:tgtEl>
                                        <p:attrNameLst>
                                          <p:attrName>style.visibility</p:attrName>
                                        </p:attrNameLst>
                                      </p:cBhvr>
                                      <p:to>
                                        <p:strVal val="visible"/>
                                      </p:to>
                                    </p:set>
                                    <p:animEffect transition="in" filter="fade">
                                      <p:cBhvr>
                                        <p:cTn id="10" dur="2000"/>
                                        <p:tgtEl>
                                          <p:spTgt spid="19459">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9459">
                                            <p:txEl>
                                              <p:pRg st="3" end="3"/>
                                            </p:txEl>
                                          </p:spTgt>
                                        </p:tgtEl>
                                        <p:attrNameLst>
                                          <p:attrName>style.visibility</p:attrName>
                                        </p:attrNameLst>
                                      </p:cBhvr>
                                      <p:to>
                                        <p:strVal val="visible"/>
                                      </p:to>
                                    </p:set>
                                    <p:animEffect transition="in" filter="fade">
                                      <p:cBhvr>
                                        <p:cTn id="13" dur="2000"/>
                                        <p:tgtEl>
                                          <p:spTgt spid="19459">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9459">
                                            <p:txEl>
                                              <p:pRg st="4" end="4"/>
                                            </p:txEl>
                                          </p:spTgt>
                                        </p:tgtEl>
                                        <p:attrNameLst>
                                          <p:attrName>style.visibility</p:attrName>
                                        </p:attrNameLst>
                                      </p:cBhvr>
                                      <p:to>
                                        <p:strVal val="visible"/>
                                      </p:to>
                                    </p:set>
                                    <p:animEffect transition="in" filter="fade">
                                      <p:cBhvr>
                                        <p:cTn id="16" dur="2000"/>
                                        <p:tgtEl>
                                          <p:spTgt spid="19459">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9459">
                                            <p:txEl>
                                              <p:pRg st="5" end="5"/>
                                            </p:txEl>
                                          </p:spTgt>
                                        </p:tgtEl>
                                        <p:attrNameLst>
                                          <p:attrName>style.visibility</p:attrName>
                                        </p:attrNameLst>
                                      </p:cBhvr>
                                      <p:to>
                                        <p:strVal val="visible"/>
                                      </p:to>
                                    </p:set>
                                    <p:animEffect transition="in" filter="fade">
                                      <p:cBhvr>
                                        <p:cTn id="19" dur="2000"/>
                                        <p:tgtEl>
                                          <p:spTgt spid="19459">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9459">
                                            <p:txEl>
                                              <p:pRg st="6" end="6"/>
                                            </p:txEl>
                                          </p:spTgt>
                                        </p:tgtEl>
                                        <p:attrNameLst>
                                          <p:attrName>style.visibility</p:attrName>
                                        </p:attrNameLst>
                                      </p:cBhvr>
                                      <p:to>
                                        <p:strVal val="visible"/>
                                      </p:to>
                                    </p:set>
                                    <p:animEffect transition="in" filter="fade">
                                      <p:cBhvr>
                                        <p:cTn id="22" dur="2000"/>
                                        <p:tgtEl>
                                          <p:spTgt spid="19459">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9459">
                                            <p:txEl>
                                              <p:pRg st="7" end="7"/>
                                            </p:txEl>
                                          </p:spTgt>
                                        </p:tgtEl>
                                        <p:attrNameLst>
                                          <p:attrName>style.visibility</p:attrName>
                                        </p:attrNameLst>
                                      </p:cBhvr>
                                      <p:to>
                                        <p:strVal val="visible"/>
                                      </p:to>
                                    </p:set>
                                    <p:animEffect transition="in" filter="fade">
                                      <p:cBhvr>
                                        <p:cTn id="25" dur="2000"/>
                                        <p:tgtEl>
                                          <p:spTgt spid="19459">
                                            <p:txEl>
                                              <p:pRg st="7" end="7"/>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9459">
                                            <p:txEl>
                                              <p:pRg st="8" end="8"/>
                                            </p:txEl>
                                          </p:spTgt>
                                        </p:tgtEl>
                                        <p:attrNameLst>
                                          <p:attrName>style.visibility</p:attrName>
                                        </p:attrNameLst>
                                      </p:cBhvr>
                                      <p:to>
                                        <p:strVal val="visible"/>
                                      </p:to>
                                    </p:set>
                                    <p:animEffect transition="in" filter="fade">
                                      <p:cBhvr>
                                        <p:cTn id="28" dur="2000"/>
                                        <p:tgtEl>
                                          <p:spTgt spid="19459">
                                            <p:txEl>
                                              <p:pRg st="8" end="8"/>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9459">
                                            <p:txEl>
                                              <p:pRg st="9" end="9"/>
                                            </p:txEl>
                                          </p:spTgt>
                                        </p:tgtEl>
                                        <p:attrNameLst>
                                          <p:attrName>style.visibility</p:attrName>
                                        </p:attrNameLst>
                                      </p:cBhvr>
                                      <p:to>
                                        <p:strVal val="visible"/>
                                      </p:to>
                                    </p:set>
                                    <p:animEffect transition="in" filter="fade">
                                      <p:cBhvr>
                                        <p:cTn id="31" dur="2000"/>
                                        <p:tgtEl>
                                          <p:spTgt spid="19459">
                                            <p:txEl>
                                              <p:pRg st="9" end="9"/>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9459">
                                            <p:txEl>
                                              <p:pRg st="10" end="10"/>
                                            </p:txEl>
                                          </p:spTgt>
                                        </p:tgtEl>
                                        <p:attrNameLst>
                                          <p:attrName>style.visibility</p:attrName>
                                        </p:attrNameLst>
                                      </p:cBhvr>
                                      <p:to>
                                        <p:strVal val="visible"/>
                                      </p:to>
                                    </p:set>
                                    <p:animEffect transition="in" filter="fade">
                                      <p:cBhvr>
                                        <p:cTn id="34" dur="2000"/>
                                        <p:tgtEl>
                                          <p:spTgt spid="19459">
                                            <p:txEl>
                                              <p:pRg st="10" end="1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9459">
                                            <p:txEl>
                                              <p:pRg st="6" end="6"/>
                                            </p:txEl>
                                          </p:spTgt>
                                        </p:tgtEl>
                                        <p:attrNameLst>
                                          <p:attrName>style.visibility</p:attrName>
                                        </p:attrNameLst>
                                      </p:cBhvr>
                                      <p:to>
                                        <p:strVal val="visible"/>
                                      </p:to>
                                    </p:set>
                                    <p:animEffect transition="in" filter="fade">
                                      <p:cBhvr>
                                        <p:cTn id="39" dur="2000"/>
                                        <p:tgtEl>
                                          <p:spTgt spid="19459">
                                            <p:txEl>
                                              <p:pRg st="6" end="6"/>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9459">
                                            <p:txEl>
                                              <p:pRg st="7" end="7"/>
                                            </p:txEl>
                                          </p:spTgt>
                                        </p:tgtEl>
                                        <p:attrNameLst>
                                          <p:attrName>style.visibility</p:attrName>
                                        </p:attrNameLst>
                                      </p:cBhvr>
                                      <p:to>
                                        <p:strVal val="visible"/>
                                      </p:to>
                                    </p:set>
                                    <p:animEffect transition="in" filter="fade">
                                      <p:cBhvr>
                                        <p:cTn id="44" dur="2000"/>
                                        <p:tgtEl>
                                          <p:spTgt spid="19459">
                                            <p:txEl>
                                              <p:pRg st="7" end="7"/>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9459">
                                            <p:txEl>
                                              <p:pRg st="8" end="8"/>
                                            </p:txEl>
                                          </p:spTgt>
                                        </p:tgtEl>
                                        <p:attrNameLst>
                                          <p:attrName>style.visibility</p:attrName>
                                        </p:attrNameLst>
                                      </p:cBhvr>
                                      <p:to>
                                        <p:strVal val="visible"/>
                                      </p:to>
                                    </p:set>
                                    <p:animEffect transition="in" filter="fade">
                                      <p:cBhvr>
                                        <p:cTn id="49" dur="2000"/>
                                        <p:tgtEl>
                                          <p:spTgt spid="19459">
                                            <p:txEl>
                                              <p:pRg st="8" end="8"/>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19459">
                                            <p:txEl>
                                              <p:pRg st="9" end="9"/>
                                            </p:txEl>
                                          </p:spTgt>
                                        </p:tgtEl>
                                        <p:attrNameLst>
                                          <p:attrName>style.visibility</p:attrName>
                                        </p:attrNameLst>
                                      </p:cBhvr>
                                      <p:to>
                                        <p:strVal val="visible"/>
                                      </p:to>
                                    </p:set>
                                    <p:animEffect transition="in" filter="fade">
                                      <p:cBhvr>
                                        <p:cTn id="54" dur="2000"/>
                                        <p:tgtEl>
                                          <p:spTgt spid="19459">
                                            <p:txEl>
                                              <p:pRg st="9" end="9"/>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9459">
                                            <p:txEl>
                                              <p:pRg st="10" end="10"/>
                                            </p:txEl>
                                          </p:spTgt>
                                        </p:tgtEl>
                                        <p:attrNameLst>
                                          <p:attrName>style.visibility</p:attrName>
                                        </p:attrNameLst>
                                      </p:cBhvr>
                                      <p:to>
                                        <p:strVal val="visible"/>
                                      </p:to>
                                    </p:set>
                                    <p:animEffect transition="in" filter="fade">
                                      <p:cBhvr>
                                        <p:cTn id="59" dur="2000"/>
                                        <p:tgtEl>
                                          <p:spTgt spid="1945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信息安全等级保护与等级测评</a:t>
            </a:r>
          </a:p>
        </p:txBody>
      </p:sp>
      <p:sp>
        <p:nvSpPr>
          <p:cNvPr id="19459" name="内容占位符 2"/>
          <p:cNvSpPr>
            <a:spLocks noGrp="1" noChangeArrowheads="1"/>
          </p:cNvSpPr>
          <p:nvPr>
            <p:ph idx="1"/>
          </p:nvPr>
        </p:nvSpPr>
        <p:spPr>
          <a:xfrm>
            <a:off x="304800" y="457200"/>
            <a:ext cx="8229600" cy="6172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zh-CN" altLang="en-US" sz="32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信息安全</a:t>
            </a:r>
            <a:r>
              <a:rPr kumimoji="0" lang="zh-CN" altLang="en-US"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等级测评：</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方案编制活动：</a:t>
            </a:r>
          </a:p>
          <a:p>
            <a:pPr marL="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a:t>
            </a: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1</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）方案编制活动的工作流程</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pic>
        <p:nvPicPr>
          <p:cNvPr id="79876" name="Picture 2"/>
          <p:cNvPicPr>
            <a:picLocks noChangeAspect="1"/>
          </p:cNvPicPr>
          <p:nvPr/>
        </p:nvPicPr>
        <p:blipFill>
          <a:blip r:embed="rId2"/>
          <a:stretch>
            <a:fillRect/>
          </a:stretch>
        </p:blipFill>
        <p:spPr>
          <a:xfrm>
            <a:off x="3352800" y="2819400"/>
            <a:ext cx="4038600" cy="3965575"/>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4" end="4"/>
                                            </p:txEl>
                                          </p:spTgt>
                                        </p:tgtEl>
                                        <p:attrNameLst>
                                          <p:attrName>style.visibility</p:attrName>
                                        </p:attrNameLst>
                                      </p:cBhvr>
                                      <p:to>
                                        <p:strVal val="visible"/>
                                      </p:to>
                                    </p:set>
                                    <p:animEffect transition="in" filter="fade">
                                      <p:cBhvr>
                                        <p:cTn id="17" dur="2000"/>
                                        <p:tgtEl>
                                          <p:spTgt spid="194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信息安全等级保护与等级测评</a:t>
            </a:r>
          </a:p>
        </p:txBody>
      </p:sp>
      <p:sp>
        <p:nvSpPr>
          <p:cNvPr id="19459" name="内容占位符 2"/>
          <p:cNvSpPr>
            <a:spLocks noGrp="1" noChangeArrowheads="1"/>
          </p:cNvSpPr>
          <p:nvPr>
            <p:ph idx="1"/>
          </p:nvPr>
        </p:nvSpPr>
        <p:spPr>
          <a:xfrm>
            <a:off x="304800" y="457200"/>
            <a:ext cx="8229600" cy="6172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信息安全等级测评：</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a:t>
            </a: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2</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）方案编制活动的主要任务</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857250" marR="0" lvl="3"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①测评对象确定</a:t>
            </a:r>
            <a:endPar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857250" marR="0" lvl="3"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②测评指标确定</a:t>
            </a:r>
            <a:endPar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857250" marR="0" lvl="3"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③测试工具接入点确定</a:t>
            </a:r>
            <a:endPar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857250" marR="0" lvl="3"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④测评内容确定</a:t>
            </a:r>
            <a:endPar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857250" marR="0" lvl="3"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⑤测评指导书开发</a:t>
            </a:r>
            <a:endPar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857250" marR="0" lvl="3"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⑥测评方案编制</a:t>
            </a:r>
            <a:endPar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9459">
                                            <p:txEl>
                                              <p:pRg st="2" end="2"/>
                                            </p:txEl>
                                          </p:spTgt>
                                        </p:tgtEl>
                                        <p:attrNameLst>
                                          <p:attrName>style.visibility</p:attrName>
                                        </p:attrNameLst>
                                      </p:cBhvr>
                                      <p:to>
                                        <p:strVal val="visible"/>
                                      </p:to>
                                    </p:set>
                                    <p:animEffect transition="in" filter="fade">
                                      <p:cBhvr>
                                        <p:cTn id="10" dur="2000"/>
                                        <p:tgtEl>
                                          <p:spTgt spid="19459">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459">
                                            <p:txEl>
                                              <p:pRg st="8" end="8"/>
                                            </p:txEl>
                                          </p:spTgt>
                                        </p:tgtEl>
                                        <p:attrNameLst>
                                          <p:attrName>style.visibility</p:attrName>
                                        </p:attrNameLst>
                                      </p:cBhvr>
                                      <p:to>
                                        <p:strVal val="visible"/>
                                      </p:to>
                                    </p:set>
                                    <p:animEffect transition="in" filter="fade">
                                      <p:cBhvr>
                                        <p:cTn id="15" dur="2000"/>
                                        <p:tgtEl>
                                          <p:spTgt spid="1945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信息安全等级保护与等级测评</a:t>
            </a:r>
          </a:p>
        </p:txBody>
      </p:sp>
      <p:sp>
        <p:nvSpPr>
          <p:cNvPr id="19459" name="内容占位符 2"/>
          <p:cNvSpPr>
            <a:spLocks noGrp="1" noChangeArrowheads="1"/>
          </p:cNvSpPr>
          <p:nvPr>
            <p:ph idx="1"/>
          </p:nvPr>
        </p:nvSpPr>
        <p:spPr>
          <a:xfrm>
            <a:off x="304800" y="457200"/>
            <a:ext cx="8229600" cy="6172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信息安全等级测评：</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a:t>
            </a: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3</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）方案编制活动的输出文档</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p:txBody>
      </p:sp>
      <p:graphicFrame>
        <p:nvGraphicFramePr>
          <p:cNvPr id="2" name="表格 1"/>
          <p:cNvGraphicFramePr>
            <a:graphicFrameLocks noGrp="1"/>
          </p:cNvGraphicFramePr>
          <p:nvPr/>
        </p:nvGraphicFramePr>
        <p:xfrm>
          <a:off x="1219200" y="2743200"/>
          <a:ext cx="6248401" cy="3001964"/>
        </p:xfrm>
        <a:graphic>
          <a:graphicData uri="http://schemas.openxmlformats.org/drawingml/2006/table">
            <a:tbl>
              <a:tblPr firstRow="1" firstCol="1" bandRow="1"/>
              <a:tblGrid>
                <a:gridCol w="1968062"/>
                <a:gridCol w="1968755"/>
                <a:gridCol w="2311584"/>
              </a:tblGrid>
              <a:tr h="388574">
                <a:tc>
                  <a:txBody>
                    <a:bodyPr/>
                    <a:lstStyle/>
                    <a:p>
                      <a:pPr indent="267970" algn="ctr">
                        <a:spcAft>
                          <a:spcPts val="0"/>
                        </a:spcAft>
                        <a:tabLst>
                          <a:tab pos="2924175" algn="l"/>
                        </a:tabLst>
                      </a:pPr>
                      <a:r>
                        <a:rPr lang="zh-CN" sz="1100" b="1" kern="100" dirty="0">
                          <a:effectLst/>
                          <a:latin typeface="Times New Roman" panose="02020603050405020304"/>
                          <a:ea typeface="宋体" panose="02010600030101010101" pitchFamily="2" charset="-122"/>
                        </a:rPr>
                        <a:t>任务</a:t>
                      </a:r>
                      <a:endParaRPr lang="zh-CN" sz="1100" kern="100" dirty="0">
                        <a:effectLst/>
                        <a:latin typeface="Times New Roman" panose="02020603050405020304"/>
                        <a:ea typeface="宋体" panose="02010600030101010101" pitchFamily="2" charset="-122"/>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7970" algn="ctr">
                        <a:spcAft>
                          <a:spcPts val="0"/>
                        </a:spcAft>
                        <a:tabLst>
                          <a:tab pos="2924175" algn="l"/>
                        </a:tabLst>
                      </a:pPr>
                      <a:r>
                        <a:rPr lang="zh-CN" sz="1100" b="1" kern="100">
                          <a:effectLst/>
                          <a:latin typeface="Times New Roman" panose="02020603050405020304"/>
                          <a:ea typeface="宋体" panose="02010600030101010101" pitchFamily="2" charset="-122"/>
                        </a:rPr>
                        <a:t>输出文档</a:t>
                      </a:r>
                      <a:endParaRPr lang="zh-CN" sz="1100" kern="100">
                        <a:effectLst/>
                        <a:latin typeface="Times New Roman" panose="02020603050405020304"/>
                        <a:ea typeface="宋体" panose="02010600030101010101" pitchFamily="2" charset="-122"/>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7970" algn="ctr">
                        <a:spcAft>
                          <a:spcPts val="0"/>
                        </a:spcAft>
                        <a:tabLst>
                          <a:tab pos="2924175" algn="l"/>
                        </a:tabLst>
                      </a:pPr>
                      <a:r>
                        <a:rPr lang="zh-CN" sz="1100" b="1" kern="100">
                          <a:effectLst/>
                          <a:latin typeface="Times New Roman" panose="02020603050405020304"/>
                          <a:ea typeface="宋体" panose="02010600030101010101" pitchFamily="2" charset="-122"/>
                        </a:rPr>
                        <a:t>文档内容</a:t>
                      </a:r>
                      <a:endParaRPr lang="zh-CN" sz="1100" kern="100">
                        <a:effectLst/>
                        <a:latin typeface="Times New Roman" panose="02020603050405020304"/>
                        <a:ea typeface="宋体" panose="02010600030101010101" pitchFamily="2" charset="-122"/>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76199">
                <a:tc>
                  <a:txBody>
                    <a:bodyPr/>
                    <a:lstStyle/>
                    <a:p>
                      <a:pPr indent="267970" algn="ctr">
                        <a:spcAft>
                          <a:spcPts val="0"/>
                        </a:spcAft>
                        <a:tabLst>
                          <a:tab pos="2924175" algn="l"/>
                        </a:tabLst>
                      </a:pPr>
                      <a:r>
                        <a:rPr lang="en-US" sz="1100" b="1" kern="100">
                          <a:effectLst/>
                          <a:latin typeface="Times New Roman" panose="02020603050405020304"/>
                          <a:ea typeface="宋体" panose="02010600030101010101" pitchFamily="2" charset="-122"/>
                        </a:rPr>
                        <a:t> </a:t>
                      </a:r>
                      <a:endParaRPr lang="zh-CN" sz="1100" kern="100">
                        <a:effectLst/>
                        <a:latin typeface="Times New Roman" panose="02020603050405020304"/>
                        <a:ea typeface="宋体" panose="02010600030101010101" pitchFamily="2" charset="-122"/>
                      </a:endParaRPr>
                    </a:p>
                    <a:p>
                      <a:pPr indent="267970" algn="ctr">
                        <a:spcAft>
                          <a:spcPts val="0"/>
                        </a:spcAft>
                        <a:tabLst>
                          <a:tab pos="2924175" algn="l"/>
                        </a:tabLst>
                      </a:pPr>
                      <a:r>
                        <a:rPr lang="zh-CN" sz="1100" b="1" kern="100">
                          <a:effectLst/>
                          <a:latin typeface="Times New Roman" panose="02020603050405020304"/>
                          <a:ea typeface="宋体" panose="02010600030101010101" pitchFamily="2" charset="-122"/>
                        </a:rPr>
                        <a:t>测评对象确定</a:t>
                      </a:r>
                      <a:endParaRPr lang="zh-CN" sz="1100" kern="100">
                        <a:effectLst/>
                        <a:latin typeface="Times New Roman" panose="02020603050405020304"/>
                        <a:ea typeface="宋体" panose="02010600030101010101" pitchFamily="2" charset="-122"/>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7970" algn="ctr">
                        <a:spcAft>
                          <a:spcPts val="0"/>
                        </a:spcAft>
                        <a:tabLst>
                          <a:tab pos="2924175" algn="l"/>
                        </a:tabLst>
                      </a:pPr>
                      <a:r>
                        <a:rPr lang="en-US" sz="1100" b="1" kern="100">
                          <a:effectLst/>
                          <a:latin typeface="Times New Roman" panose="02020603050405020304"/>
                          <a:ea typeface="宋体" panose="02010600030101010101" pitchFamily="2" charset="-122"/>
                        </a:rPr>
                        <a:t> </a:t>
                      </a:r>
                      <a:endParaRPr lang="zh-CN" sz="1100" kern="100">
                        <a:effectLst/>
                        <a:latin typeface="Times New Roman" panose="02020603050405020304"/>
                        <a:ea typeface="宋体" panose="02010600030101010101" pitchFamily="2" charset="-122"/>
                      </a:endParaRPr>
                    </a:p>
                    <a:p>
                      <a:pPr indent="267970" algn="ctr">
                        <a:spcAft>
                          <a:spcPts val="0"/>
                        </a:spcAft>
                        <a:tabLst>
                          <a:tab pos="2924175" algn="l"/>
                        </a:tabLst>
                      </a:pPr>
                      <a:r>
                        <a:rPr lang="zh-CN" sz="1100" b="1" kern="100">
                          <a:effectLst/>
                          <a:latin typeface="Times New Roman" panose="02020603050405020304"/>
                          <a:ea typeface="宋体" panose="02010600030101010101" pitchFamily="2" charset="-122"/>
                        </a:rPr>
                        <a:t>测评方案的测评对象部分</a:t>
                      </a:r>
                      <a:endParaRPr lang="zh-CN" sz="1100" kern="100">
                        <a:effectLst/>
                        <a:latin typeface="Times New Roman" panose="02020603050405020304"/>
                        <a:ea typeface="宋体" panose="02010600030101010101" pitchFamily="2" charset="-122"/>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7970" algn="l">
                        <a:spcAft>
                          <a:spcPts val="0"/>
                        </a:spcAft>
                        <a:tabLst>
                          <a:tab pos="2924175" algn="l"/>
                        </a:tabLst>
                      </a:pPr>
                      <a:r>
                        <a:rPr lang="zh-CN" sz="1100" b="1" kern="100">
                          <a:effectLst/>
                          <a:latin typeface="Times New Roman" panose="02020603050405020304"/>
                          <a:ea typeface="宋体" panose="02010600030101010101" pitchFamily="2" charset="-122"/>
                        </a:rPr>
                        <a:t>被测系统的整体结构、边界、网络区域、重要节点、测评对象等</a:t>
                      </a:r>
                      <a:endParaRPr lang="zh-CN" sz="1100" kern="100">
                        <a:effectLst/>
                        <a:latin typeface="Times New Roman" panose="02020603050405020304"/>
                        <a:ea typeface="宋体" panose="02010600030101010101" pitchFamily="2" charset="-122"/>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7464">
                <a:tc>
                  <a:txBody>
                    <a:bodyPr/>
                    <a:lstStyle/>
                    <a:p>
                      <a:pPr indent="267970" algn="ctr">
                        <a:spcAft>
                          <a:spcPts val="0"/>
                        </a:spcAft>
                      </a:pPr>
                      <a:r>
                        <a:rPr lang="zh-CN" sz="1100" b="1" kern="100">
                          <a:effectLst/>
                          <a:latin typeface="Times New Roman" panose="02020603050405020304"/>
                          <a:ea typeface="宋体" panose="02010600030101010101" pitchFamily="2" charset="-122"/>
                        </a:rPr>
                        <a:t>测评指标确定</a:t>
                      </a:r>
                      <a:endParaRPr lang="zh-CN" sz="1100" kern="100">
                        <a:effectLst/>
                        <a:latin typeface="Times New Roman" panose="02020603050405020304"/>
                        <a:ea typeface="宋体" panose="02010600030101010101" pitchFamily="2" charset="-122"/>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7970" algn="ctr">
                        <a:spcAft>
                          <a:spcPts val="0"/>
                        </a:spcAft>
                        <a:tabLst>
                          <a:tab pos="2924175" algn="l"/>
                        </a:tabLst>
                      </a:pPr>
                      <a:r>
                        <a:rPr lang="zh-CN" sz="1100" b="1" kern="100">
                          <a:effectLst/>
                          <a:latin typeface="Times New Roman" panose="02020603050405020304"/>
                          <a:ea typeface="宋体" panose="02010600030101010101" pitchFamily="2" charset="-122"/>
                        </a:rPr>
                        <a:t>测评方案的测评指标部分</a:t>
                      </a:r>
                      <a:endParaRPr lang="zh-CN" sz="1100" kern="100">
                        <a:effectLst/>
                        <a:latin typeface="Times New Roman" panose="02020603050405020304"/>
                        <a:ea typeface="宋体" panose="02010600030101010101" pitchFamily="2" charset="-122"/>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7970" algn="l">
                        <a:spcAft>
                          <a:spcPts val="0"/>
                        </a:spcAft>
                        <a:tabLst>
                          <a:tab pos="2924175" algn="l"/>
                        </a:tabLst>
                      </a:pPr>
                      <a:r>
                        <a:rPr lang="zh-CN" sz="1100" b="1" kern="100">
                          <a:effectLst/>
                          <a:latin typeface="Times New Roman" panose="02020603050405020304"/>
                          <a:ea typeface="宋体" panose="02010600030101010101" pitchFamily="2" charset="-122"/>
                        </a:rPr>
                        <a:t>被测系统定级结果、测评指标</a:t>
                      </a:r>
                      <a:endParaRPr lang="zh-CN" sz="1100" kern="100">
                        <a:effectLst/>
                        <a:latin typeface="Times New Roman" panose="02020603050405020304"/>
                        <a:ea typeface="宋体" panose="02010600030101010101" pitchFamily="2" charset="-122"/>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5280">
                <a:tc>
                  <a:txBody>
                    <a:bodyPr/>
                    <a:lstStyle/>
                    <a:p>
                      <a:pPr indent="267970" algn="ctr">
                        <a:spcAft>
                          <a:spcPts val="0"/>
                        </a:spcAft>
                      </a:pPr>
                      <a:r>
                        <a:rPr lang="zh-CN" sz="1100" b="1" kern="100">
                          <a:effectLst/>
                          <a:latin typeface="Times New Roman" panose="02020603050405020304"/>
                          <a:ea typeface="宋体" panose="02010600030101010101" pitchFamily="2" charset="-122"/>
                        </a:rPr>
                        <a:t>测评工具接入点确定</a:t>
                      </a:r>
                      <a:endParaRPr lang="zh-CN" sz="1100" kern="100">
                        <a:effectLst/>
                        <a:latin typeface="Times New Roman" panose="02020603050405020304"/>
                        <a:ea typeface="宋体" panose="02010600030101010101" pitchFamily="2" charset="-122"/>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7970" algn="l">
                        <a:spcAft>
                          <a:spcPts val="0"/>
                        </a:spcAft>
                        <a:tabLst>
                          <a:tab pos="2924175" algn="l"/>
                        </a:tabLst>
                      </a:pPr>
                      <a:r>
                        <a:rPr lang="zh-CN" sz="1100" b="1" kern="100" dirty="0">
                          <a:effectLst/>
                          <a:latin typeface="Times New Roman" panose="02020603050405020304"/>
                          <a:ea typeface="宋体" panose="02010600030101010101" pitchFamily="2" charset="-122"/>
                        </a:rPr>
                        <a:t>测评方案的测评工具接入点部分</a:t>
                      </a:r>
                      <a:endParaRPr lang="zh-CN" sz="1100" kern="100" dirty="0">
                        <a:effectLst/>
                        <a:latin typeface="Times New Roman" panose="02020603050405020304"/>
                        <a:ea typeface="宋体" panose="02010600030101010101" pitchFamily="2" charset="-122"/>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7970" algn="ctr">
                        <a:spcAft>
                          <a:spcPts val="0"/>
                        </a:spcAft>
                        <a:tabLst>
                          <a:tab pos="2924175" algn="l"/>
                        </a:tabLst>
                      </a:pPr>
                      <a:r>
                        <a:rPr lang="zh-CN" sz="1100" b="1" kern="100">
                          <a:effectLst/>
                          <a:latin typeface="Times New Roman" panose="02020603050405020304"/>
                          <a:ea typeface="宋体" panose="02010600030101010101" pitchFamily="2" charset="-122"/>
                        </a:rPr>
                        <a:t>测试工具接入点及测试方法</a:t>
                      </a:r>
                      <a:endParaRPr lang="zh-CN" sz="1100" kern="100">
                        <a:effectLst/>
                        <a:latin typeface="Times New Roman" panose="02020603050405020304"/>
                        <a:ea typeface="宋体" panose="02010600030101010101" pitchFamily="2" charset="-122"/>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5280">
                <a:tc>
                  <a:txBody>
                    <a:bodyPr/>
                    <a:lstStyle/>
                    <a:p>
                      <a:pPr indent="267970" algn="ctr">
                        <a:spcAft>
                          <a:spcPts val="0"/>
                        </a:spcAft>
                      </a:pPr>
                      <a:r>
                        <a:rPr lang="zh-CN" sz="1100" b="1" kern="100">
                          <a:effectLst/>
                          <a:latin typeface="Times New Roman" panose="02020603050405020304"/>
                          <a:ea typeface="宋体" panose="02010600030101010101" pitchFamily="2" charset="-122"/>
                        </a:rPr>
                        <a:t>测评内容确定</a:t>
                      </a:r>
                      <a:endParaRPr lang="zh-CN" sz="1100" kern="100">
                        <a:effectLst/>
                        <a:latin typeface="Times New Roman" panose="02020603050405020304"/>
                        <a:ea typeface="宋体" panose="02010600030101010101" pitchFamily="2" charset="-122"/>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7970" algn="l">
                        <a:spcAft>
                          <a:spcPts val="0"/>
                        </a:spcAft>
                        <a:tabLst>
                          <a:tab pos="2924175" algn="l"/>
                        </a:tabLst>
                      </a:pPr>
                      <a:r>
                        <a:rPr lang="zh-CN" sz="1100" b="1" kern="100">
                          <a:effectLst/>
                          <a:latin typeface="Times New Roman" panose="02020603050405020304"/>
                          <a:ea typeface="宋体" panose="02010600030101010101" pitchFamily="2" charset="-122"/>
                        </a:rPr>
                        <a:t>测评方案的单元测评实施部分</a:t>
                      </a:r>
                      <a:endParaRPr lang="zh-CN" sz="1100" kern="100">
                        <a:effectLst/>
                        <a:latin typeface="Times New Roman" panose="02020603050405020304"/>
                        <a:ea typeface="宋体" panose="02010600030101010101" pitchFamily="2" charset="-122"/>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7970" algn="ctr">
                        <a:spcAft>
                          <a:spcPts val="0"/>
                        </a:spcAft>
                        <a:tabLst>
                          <a:tab pos="2924175" algn="l"/>
                        </a:tabLst>
                      </a:pPr>
                      <a:r>
                        <a:rPr lang="zh-CN" sz="1100" b="1" kern="100">
                          <a:effectLst/>
                          <a:latin typeface="Times New Roman" panose="02020603050405020304"/>
                          <a:ea typeface="宋体" panose="02010600030101010101" pitchFamily="2" charset="-122"/>
                        </a:rPr>
                        <a:t>单元测评实施内容</a:t>
                      </a:r>
                      <a:endParaRPr lang="zh-CN" sz="1100" kern="100">
                        <a:effectLst/>
                        <a:latin typeface="Times New Roman" panose="02020603050405020304"/>
                        <a:ea typeface="宋体" panose="02010600030101010101" pitchFamily="2" charset="-122"/>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7464">
                <a:tc>
                  <a:txBody>
                    <a:bodyPr/>
                    <a:lstStyle/>
                    <a:p>
                      <a:pPr indent="267970" algn="ctr">
                        <a:spcAft>
                          <a:spcPts val="0"/>
                        </a:spcAft>
                      </a:pPr>
                      <a:r>
                        <a:rPr lang="zh-CN" sz="1100" b="1" kern="100">
                          <a:effectLst/>
                          <a:latin typeface="Times New Roman" panose="02020603050405020304"/>
                          <a:ea typeface="宋体" panose="02010600030101010101" pitchFamily="2" charset="-122"/>
                        </a:rPr>
                        <a:t>测评指导书开发</a:t>
                      </a:r>
                      <a:endParaRPr lang="zh-CN" sz="1100" kern="100">
                        <a:effectLst/>
                        <a:latin typeface="Times New Roman" panose="02020603050405020304"/>
                        <a:ea typeface="宋体" panose="02010600030101010101" pitchFamily="2" charset="-122"/>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7970" algn="ctr">
                        <a:spcAft>
                          <a:spcPts val="0"/>
                        </a:spcAft>
                        <a:tabLst>
                          <a:tab pos="2924175" algn="l"/>
                        </a:tabLst>
                      </a:pPr>
                      <a:r>
                        <a:rPr lang="zh-CN" sz="1100" b="1" kern="100">
                          <a:effectLst/>
                          <a:latin typeface="Times New Roman" panose="02020603050405020304"/>
                          <a:ea typeface="宋体" panose="02010600030101010101" pitchFamily="2" charset="-122"/>
                        </a:rPr>
                        <a:t>测评指导书</a:t>
                      </a:r>
                      <a:endParaRPr lang="zh-CN" sz="1100" kern="100">
                        <a:effectLst/>
                        <a:latin typeface="Times New Roman" panose="02020603050405020304"/>
                        <a:ea typeface="宋体" panose="02010600030101010101" pitchFamily="2" charset="-122"/>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7970" algn="l">
                        <a:spcAft>
                          <a:spcPts val="0"/>
                        </a:spcAft>
                        <a:tabLst>
                          <a:tab pos="2924175" algn="l"/>
                        </a:tabLst>
                      </a:pPr>
                      <a:r>
                        <a:rPr lang="zh-CN" sz="1100" b="1" kern="100">
                          <a:effectLst/>
                          <a:latin typeface="Times New Roman" panose="02020603050405020304"/>
                          <a:ea typeface="宋体" panose="02010600030101010101" pitchFamily="2" charset="-122"/>
                        </a:rPr>
                        <a:t>各测评对象的测评内容及方法</a:t>
                      </a:r>
                      <a:endParaRPr lang="zh-CN" sz="1100" kern="100">
                        <a:effectLst/>
                        <a:latin typeface="Times New Roman" panose="02020603050405020304"/>
                        <a:ea typeface="宋体" panose="02010600030101010101" pitchFamily="2" charset="-122"/>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31703">
                <a:tc>
                  <a:txBody>
                    <a:bodyPr/>
                    <a:lstStyle/>
                    <a:p>
                      <a:pPr indent="267970" algn="ctr">
                        <a:spcAft>
                          <a:spcPts val="0"/>
                        </a:spcAft>
                      </a:pPr>
                      <a:r>
                        <a:rPr lang="en-US" sz="1100" b="1" kern="100">
                          <a:effectLst/>
                          <a:latin typeface="Times New Roman" panose="02020603050405020304"/>
                          <a:ea typeface="宋体" panose="02010600030101010101" pitchFamily="2" charset="-122"/>
                        </a:rPr>
                        <a:t> </a:t>
                      </a:r>
                      <a:endParaRPr lang="zh-CN" sz="1100" kern="100">
                        <a:effectLst/>
                        <a:latin typeface="Times New Roman" panose="02020603050405020304"/>
                        <a:ea typeface="宋体" panose="02010600030101010101" pitchFamily="2" charset="-122"/>
                      </a:endParaRPr>
                    </a:p>
                    <a:p>
                      <a:pPr indent="267970" algn="ctr">
                        <a:spcAft>
                          <a:spcPts val="0"/>
                        </a:spcAft>
                      </a:pPr>
                      <a:r>
                        <a:rPr lang="zh-CN" sz="1100" b="1" kern="100">
                          <a:effectLst/>
                          <a:latin typeface="Times New Roman" panose="02020603050405020304"/>
                          <a:ea typeface="宋体" panose="02010600030101010101" pitchFamily="2" charset="-122"/>
                        </a:rPr>
                        <a:t>测评方案编制</a:t>
                      </a:r>
                      <a:endParaRPr lang="zh-CN" sz="1100" kern="100">
                        <a:effectLst/>
                        <a:latin typeface="Times New Roman" panose="02020603050405020304"/>
                        <a:ea typeface="宋体" panose="02010600030101010101" pitchFamily="2" charset="-122"/>
                      </a:endParaRPr>
                    </a:p>
                    <a:p>
                      <a:pPr indent="267970" algn="ctr">
                        <a:spcAft>
                          <a:spcPts val="0"/>
                        </a:spcAft>
                      </a:pPr>
                      <a:r>
                        <a:rPr lang="en-US" sz="1100" b="1" kern="100">
                          <a:effectLst/>
                          <a:latin typeface="Times New Roman" panose="02020603050405020304"/>
                          <a:ea typeface="宋体" panose="02010600030101010101" pitchFamily="2" charset="-122"/>
                        </a:rPr>
                        <a:t> </a:t>
                      </a:r>
                      <a:endParaRPr lang="zh-CN" sz="1100" kern="100">
                        <a:effectLst/>
                        <a:latin typeface="Times New Roman" panose="02020603050405020304"/>
                        <a:ea typeface="宋体" panose="02010600030101010101" pitchFamily="2" charset="-122"/>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7970" algn="ctr">
                        <a:spcAft>
                          <a:spcPts val="0"/>
                        </a:spcAft>
                        <a:tabLst>
                          <a:tab pos="2924175" algn="l"/>
                        </a:tabLst>
                      </a:pPr>
                      <a:r>
                        <a:rPr lang="en-US" sz="1100" b="1" kern="100">
                          <a:effectLst/>
                          <a:latin typeface="Times New Roman" panose="02020603050405020304"/>
                          <a:ea typeface="宋体" panose="02010600030101010101" pitchFamily="2" charset="-122"/>
                        </a:rPr>
                        <a:t> </a:t>
                      </a:r>
                      <a:endParaRPr lang="zh-CN" sz="1100" kern="100">
                        <a:effectLst/>
                        <a:latin typeface="Times New Roman" panose="02020603050405020304"/>
                        <a:ea typeface="宋体" panose="02010600030101010101" pitchFamily="2" charset="-122"/>
                      </a:endParaRPr>
                    </a:p>
                    <a:p>
                      <a:pPr indent="267970" algn="ctr">
                        <a:spcAft>
                          <a:spcPts val="0"/>
                        </a:spcAft>
                        <a:tabLst>
                          <a:tab pos="2924175" algn="l"/>
                        </a:tabLst>
                      </a:pPr>
                      <a:r>
                        <a:rPr lang="zh-CN" sz="1100" b="1" kern="100">
                          <a:effectLst/>
                          <a:latin typeface="Times New Roman" panose="02020603050405020304"/>
                          <a:ea typeface="宋体" panose="02010600030101010101" pitchFamily="2" charset="-122"/>
                        </a:rPr>
                        <a:t>测评方案文本</a:t>
                      </a:r>
                      <a:endParaRPr lang="zh-CN" sz="1100" kern="100">
                        <a:effectLst/>
                        <a:latin typeface="Times New Roman" panose="02020603050405020304"/>
                        <a:ea typeface="宋体" panose="02010600030101010101" pitchFamily="2" charset="-122"/>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7970" algn="l">
                        <a:spcAft>
                          <a:spcPts val="0"/>
                        </a:spcAft>
                        <a:tabLst>
                          <a:tab pos="2924175" algn="l"/>
                        </a:tabLst>
                      </a:pPr>
                      <a:r>
                        <a:rPr lang="zh-CN" sz="1100" b="1" kern="100" dirty="0">
                          <a:effectLst/>
                          <a:latin typeface="Times New Roman" panose="02020603050405020304"/>
                          <a:ea typeface="宋体" panose="02010600030101010101" pitchFamily="2" charset="-122"/>
                        </a:rPr>
                        <a:t>项目概述、测评对象、测评指标、测试工具接入点、单元测评实施内容等</a:t>
                      </a:r>
                      <a:endParaRPr lang="zh-CN" sz="1100" kern="100" dirty="0">
                        <a:effectLst/>
                        <a:latin typeface="Times New Roman" panose="02020603050405020304"/>
                        <a:ea typeface="宋体" panose="02010600030101010101" pitchFamily="2" charset="-122"/>
                      </a:endParaRPr>
                    </a:p>
                  </a:txBody>
                  <a:tcPr marL="68582" marR="685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9459">
                                            <p:txEl>
                                              <p:pRg st="2" end="2"/>
                                            </p:txEl>
                                          </p:spTgt>
                                        </p:tgtEl>
                                        <p:attrNameLst>
                                          <p:attrName>style.visibility</p:attrName>
                                        </p:attrNameLst>
                                      </p:cBhvr>
                                      <p:to>
                                        <p:strVal val="visible"/>
                                      </p:to>
                                    </p:set>
                                    <p:animEffect transition="in" filter="fade">
                                      <p:cBhvr>
                                        <p:cTn id="10" dur="2000"/>
                                        <p:tgtEl>
                                          <p:spTgt spid="19459">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animEffect transition="in" filter="fade">
                                      <p:cBhvr>
                                        <p:cTn id="15" dur="2000"/>
                                        <p:tgtEl>
                                          <p:spTgt spid="1945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信息安全等级保护与等级测评</a:t>
            </a:r>
          </a:p>
        </p:txBody>
      </p:sp>
      <p:sp>
        <p:nvSpPr>
          <p:cNvPr id="19459" name="内容占位符 2"/>
          <p:cNvSpPr>
            <a:spLocks noGrp="1" noChangeArrowheads="1"/>
          </p:cNvSpPr>
          <p:nvPr>
            <p:ph idx="1"/>
          </p:nvPr>
        </p:nvSpPr>
        <p:spPr>
          <a:xfrm>
            <a:off x="304800" y="1143000"/>
            <a:ext cx="8229600" cy="54864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 </a:t>
            </a: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信息安全等级测评：</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a:t>
            </a: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4</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）方案编制活动的输出文档</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000" b="1" i="0" u="none" strike="noStrike" kern="0" cap="none" spc="0" normalizeH="0" baseline="0" noProof="0" dirty="0">
                <a:ln>
                  <a:noFill/>
                </a:ln>
                <a:solidFill>
                  <a:srgbClr val="FF0000"/>
                </a:solidFill>
                <a:effectLst/>
                <a:uLnTx/>
                <a:uFillTx/>
                <a:latin typeface="楷体_GB2312" pitchFamily="49" charset="-122"/>
                <a:ea typeface="楷体_GB2312" pitchFamily="49" charset="-122"/>
                <a:cs typeface="+mn-cs"/>
              </a:rPr>
              <a:t>测评机构职责：</a:t>
            </a: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a) </a:t>
            </a:r>
            <a:r>
              <a:rPr kumimoji="0"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详细分析被测系统的整体结构、边界、网络区域、重要节点等。</a:t>
            </a: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b) </a:t>
            </a:r>
            <a:r>
              <a:rPr kumimoji="0"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初步判断被测系统的安全薄弱点。</a:t>
            </a: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c) </a:t>
            </a:r>
            <a:r>
              <a:rPr kumimoji="0"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分析确定测评对象、测评指标和测试工具接入点，确定测评内容及方法</a:t>
            </a:r>
            <a:r>
              <a:rPr kumimoji="0" lang="zh-CN" altLang="en-US"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a:t>
            </a:r>
            <a:endParaRPr kumimoji="0" lang="en-US" altLang="zh-CN"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endParaRPr>
          </a:p>
          <a:p>
            <a:pPr marL="400050" marR="0" lvl="2" indent="0" algn="l" defTabSz="914400" rtl="0" eaLnBrk="1" fontAlgn="base" latinLnBrk="0" hangingPunct="1">
              <a:lnSpc>
                <a:spcPct val="100000"/>
              </a:lnSpc>
              <a:spcBef>
                <a:spcPct val="20000"/>
              </a:spcBef>
              <a:spcAft>
                <a:spcPct val="20000"/>
              </a:spcAft>
              <a:buClr>
                <a:srgbClr val="AC04A0"/>
              </a:buClr>
              <a:buSzTx/>
              <a:buFontTx/>
              <a:buNone/>
              <a:defRPr/>
            </a:pPr>
            <a:r>
              <a:rPr kumimoji="0" lang="en-US" altLang="zh-CN"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d) </a:t>
            </a:r>
            <a:r>
              <a:rPr kumimoji="0"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编制测评方案文本，并对其内部评审，并提交被测机构签字确认。</a:t>
            </a:r>
          </a:p>
          <a:p>
            <a:pPr marL="400050" marR="0" lvl="2" indent="0" algn="l" defTabSz="914400" rtl="0" eaLnBrk="1" fontAlgn="base" latinLnBrk="0" hangingPunct="1">
              <a:lnSpc>
                <a:spcPct val="100000"/>
              </a:lnSpc>
              <a:spcBef>
                <a:spcPct val="20000"/>
              </a:spcBef>
              <a:spcAft>
                <a:spcPct val="20000"/>
              </a:spcAft>
              <a:buClr>
                <a:srgbClr val="AC04A0"/>
              </a:buClr>
              <a:buSzTx/>
              <a:buFontTx/>
              <a:buNone/>
              <a:defRPr/>
            </a:pPr>
            <a:r>
              <a:rPr kumimoji="0" lang="zh-CN" altLang="en-US" sz="2000" b="1" i="0" u="none" strike="noStrike" kern="0" cap="none" spc="0" normalizeH="0" baseline="0" noProof="0" dirty="0" smtClean="0">
                <a:ln>
                  <a:noFill/>
                </a:ln>
                <a:solidFill>
                  <a:srgbClr val="FF0000"/>
                </a:solidFill>
                <a:effectLst/>
                <a:uLnTx/>
                <a:uFillTx/>
                <a:latin typeface="楷体_GB2312" pitchFamily="49" charset="-122"/>
                <a:ea typeface="楷体_GB2312" pitchFamily="49" charset="-122"/>
                <a:cs typeface="+mn-cs"/>
              </a:rPr>
              <a:t>测评委托单位职责：</a:t>
            </a:r>
          </a:p>
          <a:p>
            <a:pPr marL="400050" marR="0" lvl="2" indent="0" algn="l" defTabSz="914400" rtl="0" eaLnBrk="1" fontAlgn="base" latinLnBrk="0" hangingPunct="1">
              <a:lnSpc>
                <a:spcPct val="100000"/>
              </a:lnSpc>
              <a:spcBef>
                <a:spcPct val="20000"/>
              </a:spcBef>
              <a:spcAft>
                <a:spcPct val="20000"/>
              </a:spcAft>
              <a:buClr>
                <a:srgbClr val="AC04A0"/>
              </a:buClr>
              <a:buSzTx/>
              <a:buFontTx/>
              <a:buNone/>
              <a:defRPr/>
            </a:pPr>
            <a:r>
              <a:rPr kumimoji="0" lang="en-US" altLang="zh-CN"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a) </a:t>
            </a:r>
            <a:r>
              <a:rPr kumimoji="0" lang="zh-CN" altLang="en-US"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对测评方案进行认可，并签字确认。</a:t>
            </a: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endPar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9459">
                                            <p:txEl>
                                              <p:pRg st="2" end="2"/>
                                            </p:txEl>
                                          </p:spTgt>
                                        </p:tgtEl>
                                        <p:attrNameLst>
                                          <p:attrName>style.visibility</p:attrName>
                                        </p:attrNameLst>
                                      </p:cBhvr>
                                      <p:to>
                                        <p:strVal val="visible"/>
                                      </p:to>
                                    </p:set>
                                    <p:animEffect transition="in" filter="fade">
                                      <p:cBhvr>
                                        <p:cTn id="10" dur="2000"/>
                                        <p:tgtEl>
                                          <p:spTgt spid="19459">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9459">
                                            <p:txEl>
                                              <p:pRg st="3" end="3"/>
                                            </p:txEl>
                                          </p:spTgt>
                                        </p:tgtEl>
                                        <p:attrNameLst>
                                          <p:attrName>style.visibility</p:attrName>
                                        </p:attrNameLst>
                                      </p:cBhvr>
                                      <p:to>
                                        <p:strVal val="visible"/>
                                      </p:to>
                                    </p:set>
                                    <p:animEffect transition="in" filter="fade">
                                      <p:cBhvr>
                                        <p:cTn id="13" dur="2000"/>
                                        <p:tgtEl>
                                          <p:spTgt spid="19459">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9459">
                                            <p:txEl>
                                              <p:pRg st="4" end="4"/>
                                            </p:txEl>
                                          </p:spTgt>
                                        </p:tgtEl>
                                        <p:attrNameLst>
                                          <p:attrName>style.visibility</p:attrName>
                                        </p:attrNameLst>
                                      </p:cBhvr>
                                      <p:to>
                                        <p:strVal val="visible"/>
                                      </p:to>
                                    </p:set>
                                    <p:animEffect transition="in" filter="fade">
                                      <p:cBhvr>
                                        <p:cTn id="16" dur="2000"/>
                                        <p:tgtEl>
                                          <p:spTgt spid="19459">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9459">
                                            <p:txEl>
                                              <p:pRg st="5" end="5"/>
                                            </p:txEl>
                                          </p:spTgt>
                                        </p:tgtEl>
                                        <p:attrNameLst>
                                          <p:attrName>style.visibility</p:attrName>
                                        </p:attrNameLst>
                                      </p:cBhvr>
                                      <p:to>
                                        <p:strVal val="visible"/>
                                      </p:to>
                                    </p:set>
                                    <p:animEffect transition="in" filter="fade">
                                      <p:cBhvr>
                                        <p:cTn id="19" dur="2000"/>
                                        <p:tgtEl>
                                          <p:spTgt spid="19459">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9459">
                                            <p:txEl>
                                              <p:pRg st="6" end="6"/>
                                            </p:txEl>
                                          </p:spTgt>
                                        </p:tgtEl>
                                        <p:attrNameLst>
                                          <p:attrName>style.visibility</p:attrName>
                                        </p:attrNameLst>
                                      </p:cBhvr>
                                      <p:to>
                                        <p:strVal val="visible"/>
                                      </p:to>
                                    </p:set>
                                    <p:animEffect transition="in" filter="fade">
                                      <p:cBhvr>
                                        <p:cTn id="22" dur="2000"/>
                                        <p:tgtEl>
                                          <p:spTgt spid="19459">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9459">
                                            <p:txEl>
                                              <p:pRg st="7" end="7"/>
                                            </p:txEl>
                                          </p:spTgt>
                                        </p:tgtEl>
                                        <p:attrNameLst>
                                          <p:attrName>style.visibility</p:attrName>
                                        </p:attrNameLst>
                                      </p:cBhvr>
                                      <p:to>
                                        <p:strVal val="visible"/>
                                      </p:to>
                                    </p:set>
                                    <p:animEffect transition="in" filter="fade">
                                      <p:cBhvr>
                                        <p:cTn id="25" dur="2000"/>
                                        <p:tgtEl>
                                          <p:spTgt spid="19459">
                                            <p:txEl>
                                              <p:pRg st="7" end="7"/>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9459">
                                            <p:txEl>
                                              <p:pRg st="8" end="8"/>
                                            </p:txEl>
                                          </p:spTgt>
                                        </p:tgtEl>
                                        <p:attrNameLst>
                                          <p:attrName>style.visibility</p:attrName>
                                        </p:attrNameLst>
                                      </p:cBhvr>
                                      <p:to>
                                        <p:strVal val="visible"/>
                                      </p:to>
                                    </p:set>
                                    <p:animEffect transition="in" filter="fade">
                                      <p:cBhvr>
                                        <p:cTn id="28" dur="2000"/>
                                        <p:tgtEl>
                                          <p:spTgt spid="19459">
                                            <p:txEl>
                                              <p:pRg st="8" end="8"/>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9459">
                                            <p:txEl>
                                              <p:pRg st="5" end="5"/>
                                            </p:txEl>
                                          </p:spTgt>
                                        </p:tgtEl>
                                        <p:attrNameLst>
                                          <p:attrName>style.visibility</p:attrName>
                                        </p:attrNameLst>
                                      </p:cBhvr>
                                      <p:to>
                                        <p:strVal val="visible"/>
                                      </p:to>
                                    </p:set>
                                    <p:animEffect transition="in" filter="fade">
                                      <p:cBhvr>
                                        <p:cTn id="33" dur="2000"/>
                                        <p:tgtEl>
                                          <p:spTgt spid="19459">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9459">
                                            <p:txEl>
                                              <p:pRg st="6" end="6"/>
                                            </p:txEl>
                                          </p:spTgt>
                                        </p:tgtEl>
                                        <p:attrNameLst>
                                          <p:attrName>style.visibility</p:attrName>
                                        </p:attrNameLst>
                                      </p:cBhvr>
                                      <p:to>
                                        <p:strVal val="visible"/>
                                      </p:to>
                                    </p:set>
                                    <p:animEffect transition="in" filter="fade">
                                      <p:cBhvr>
                                        <p:cTn id="38" dur="2000"/>
                                        <p:tgtEl>
                                          <p:spTgt spid="19459">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9459">
                                            <p:txEl>
                                              <p:pRg st="7" end="7"/>
                                            </p:txEl>
                                          </p:spTgt>
                                        </p:tgtEl>
                                        <p:attrNameLst>
                                          <p:attrName>style.visibility</p:attrName>
                                        </p:attrNameLst>
                                      </p:cBhvr>
                                      <p:to>
                                        <p:strVal val="visible"/>
                                      </p:to>
                                    </p:set>
                                    <p:animEffect transition="in" filter="fade">
                                      <p:cBhvr>
                                        <p:cTn id="43" dur="2000"/>
                                        <p:tgtEl>
                                          <p:spTgt spid="19459">
                                            <p:txEl>
                                              <p:pRg st="7" end="7"/>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9459">
                                            <p:txEl>
                                              <p:pRg st="8" end="8"/>
                                            </p:txEl>
                                          </p:spTgt>
                                        </p:tgtEl>
                                        <p:attrNameLst>
                                          <p:attrName>style.visibility</p:attrName>
                                        </p:attrNameLst>
                                      </p:cBhvr>
                                      <p:to>
                                        <p:strVal val="visible"/>
                                      </p:to>
                                    </p:set>
                                    <p:animEffect transition="in" filter="fade">
                                      <p:cBhvr>
                                        <p:cTn id="48" dur="2000"/>
                                        <p:tgtEl>
                                          <p:spTgt spid="1945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信息安全等级保护与等级测评</a:t>
            </a:r>
          </a:p>
        </p:txBody>
      </p:sp>
      <p:sp>
        <p:nvSpPr>
          <p:cNvPr id="19459" name="内容占位符 2"/>
          <p:cNvSpPr>
            <a:spLocks noGrp="1" noChangeArrowheads="1"/>
          </p:cNvSpPr>
          <p:nvPr>
            <p:ph idx="1"/>
          </p:nvPr>
        </p:nvSpPr>
        <p:spPr>
          <a:xfrm>
            <a:off x="304800" y="457200"/>
            <a:ext cx="8229600" cy="6172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信息安全等级测评：</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现场测评活动：</a:t>
            </a:r>
          </a:p>
          <a:p>
            <a:pPr marL="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a:t>
            </a: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1</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）现场测评活动的工作流程</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pic>
        <p:nvPicPr>
          <p:cNvPr id="83972" name="Picture 2"/>
          <p:cNvPicPr>
            <a:picLocks noChangeAspect="1"/>
          </p:cNvPicPr>
          <p:nvPr/>
        </p:nvPicPr>
        <p:blipFill>
          <a:blip r:embed="rId2"/>
          <a:stretch>
            <a:fillRect/>
          </a:stretch>
        </p:blipFill>
        <p:spPr>
          <a:xfrm>
            <a:off x="2209800" y="2895600"/>
            <a:ext cx="2903538" cy="2209800"/>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2" end="2"/>
                                            </p:txEl>
                                          </p:spTgt>
                                        </p:tgtEl>
                                        <p:attrNameLst>
                                          <p:attrName>style.visibility</p:attrName>
                                        </p:attrNameLst>
                                      </p:cBhvr>
                                      <p:to>
                                        <p:strVal val="visible"/>
                                      </p:to>
                                    </p:set>
                                    <p:animEffect transition="in" filter="fade">
                                      <p:cBhvr>
                                        <p:cTn id="12" dur="2000"/>
                                        <p:tgtEl>
                                          <p:spTgt spid="194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pRg st="4" end="4"/>
                                            </p:txEl>
                                          </p:spTgt>
                                        </p:tgtEl>
                                        <p:attrNameLst>
                                          <p:attrName>style.visibility</p:attrName>
                                        </p:attrNameLst>
                                      </p:cBhvr>
                                      <p:to>
                                        <p:strVal val="visible"/>
                                      </p:to>
                                    </p:set>
                                    <p:animEffect transition="in" filter="fade">
                                      <p:cBhvr>
                                        <p:cTn id="17" dur="2000"/>
                                        <p:tgtEl>
                                          <p:spTgt spid="194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信息安全等级保护与等级测评</a:t>
            </a:r>
          </a:p>
        </p:txBody>
      </p:sp>
      <p:sp>
        <p:nvSpPr>
          <p:cNvPr id="19459" name="内容占位符 2"/>
          <p:cNvSpPr>
            <a:spLocks noGrp="1" noChangeArrowheads="1"/>
          </p:cNvSpPr>
          <p:nvPr>
            <p:ph idx="1"/>
          </p:nvPr>
        </p:nvSpPr>
        <p:spPr>
          <a:xfrm>
            <a:off x="304800" y="457200"/>
            <a:ext cx="8229600" cy="6172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信息安全等级测评：</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a:t>
            </a: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2</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）现场测评活动的主要任务</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①现场测评准备</a:t>
            </a:r>
            <a:endPar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②现场测评和结果记录：现场测评一般包括访谈、文档审查、配置检查、工具测试和实地察看五个方面。</a:t>
            </a:r>
            <a:endPar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9459">
                                            <p:txEl>
                                              <p:pRg st="2" end="2"/>
                                            </p:txEl>
                                          </p:spTgt>
                                        </p:tgtEl>
                                        <p:attrNameLst>
                                          <p:attrName>style.visibility</p:attrName>
                                        </p:attrNameLst>
                                      </p:cBhvr>
                                      <p:to>
                                        <p:strVal val="visible"/>
                                      </p:to>
                                    </p:set>
                                    <p:animEffect transition="in" filter="fade">
                                      <p:cBhvr>
                                        <p:cTn id="10" dur="2000"/>
                                        <p:tgtEl>
                                          <p:spTgt spid="19459">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9459">
                                            <p:txEl>
                                              <p:pRg st="3" end="3"/>
                                            </p:txEl>
                                          </p:spTgt>
                                        </p:tgtEl>
                                        <p:attrNameLst>
                                          <p:attrName>style.visibility</p:attrName>
                                        </p:attrNameLst>
                                      </p:cBhvr>
                                      <p:to>
                                        <p:strVal val="visible"/>
                                      </p:to>
                                    </p:set>
                                    <p:animEffect transition="in" filter="fade">
                                      <p:cBhvr>
                                        <p:cTn id="13" dur="2000"/>
                                        <p:tgtEl>
                                          <p:spTgt spid="19459">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9459">
                                            <p:txEl>
                                              <p:pRg st="4" end="4"/>
                                            </p:txEl>
                                          </p:spTgt>
                                        </p:tgtEl>
                                        <p:attrNameLst>
                                          <p:attrName>style.visibility</p:attrName>
                                        </p:attrNameLst>
                                      </p:cBhvr>
                                      <p:to>
                                        <p:strVal val="visible"/>
                                      </p:to>
                                    </p:set>
                                    <p:animEffect transition="in" filter="fade">
                                      <p:cBhvr>
                                        <p:cTn id="16" dur="2000"/>
                                        <p:tgtEl>
                                          <p:spTgt spid="194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信息安全等级保护与等级测评</a:t>
            </a:r>
          </a:p>
        </p:txBody>
      </p:sp>
      <p:sp>
        <p:nvSpPr>
          <p:cNvPr id="19459" name="内容占位符 2"/>
          <p:cNvSpPr>
            <a:spLocks noGrp="1" noChangeArrowheads="1"/>
          </p:cNvSpPr>
          <p:nvPr>
            <p:ph idx="1"/>
          </p:nvPr>
        </p:nvSpPr>
        <p:spPr>
          <a:xfrm>
            <a:off x="304800" y="457200"/>
            <a:ext cx="8229600" cy="6172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信息安全等级测评：</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a:t>
            </a: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3</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）现场测评活动的输出文档</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endPar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endParaRPr>
          </a:p>
        </p:txBody>
      </p:sp>
      <p:graphicFrame>
        <p:nvGraphicFramePr>
          <p:cNvPr id="2" name="表格 1"/>
          <p:cNvGraphicFramePr>
            <a:graphicFrameLocks noGrp="1"/>
          </p:cNvGraphicFramePr>
          <p:nvPr/>
        </p:nvGraphicFramePr>
        <p:xfrm>
          <a:off x="628650" y="2438400"/>
          <a:ext cx="8058150" cy="3733801"/>
        </p:xfrm>
        <a:graphic>
          <a:graphicData uri="http://schemas.openxmlformats.org/drawingml/2006/table">
            <a:tbl>
              <a:tblPr firstRow="1" firstCol="1" bandRow="1"/>
              <a:tblGrid>
                <a:gridCol w="1607720"/>
                <a:gridCol w="3764065"/>
                <a:gridCol w="2686365"/>
              </a:tblGrid>
              <a:tr h="284774">
                <a:tc>
                  <a:txBody>
                    <a:bodyPr/>
                    <a:lstStyle/>
                    <a:p>
                      <a:pPr indent="0" algn="ctr">
                        <a:spcAft>
                          <a:spcPts val="0"/>
                        </a:spcAft>
                        <a:tabLst>
                          <a:tab pos="2156460" algn="l"/>
                        </a:tabLst>
                      </a:pPr>
                      <a:r>
                        <a:rPr lang="zh-CN" sz="1200" b="1" kern="100" dirty="0">
                          <a:solidFill>
                            <a:srgbClr val="FF0000"/>
                          </a:solidFill>
                          <a:effectLst/>
                          <a:latin typeface="Times New Roman" panose="02020603050405020304"/>
                          <a:ea typeface="宋体" panose="02010600030101010101" pitchFamily="2" charset="-122"/>
                          <a:cs typeface="+mn-cs"/>
                        </a:rPr>
                        <a:t>任务</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spcAft>
                          <a:spcPts val="0"/>
                        </a:spcAft>
                        <a:tabLst>
                          <a:tab pos="2156460" algn="l"/>
                        </a:tabLst>
                      </a:pPr>
                      <a:r>
                        <a:rPr lang="zh-CN" sz="1200" b="1" kern="100" dirty="0">
                          <a:solidFill>
                            <a:srgbClr val="FF0000"/>
                          </a:solidFill>
                          <a:effectLst/>
                          <a:latin typeface="Times New Roman" panose="02020603050405020304"/>
                          <a:ea typeface="宋体" panose="02010600030101010101" pitchFamily="2" charset="-122"/>
                          <a:cs typeface="+mn-cs"/>
                        </a:rPr>
                        <a:t>输出文档</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spcAft>
                          <a:spcPts val="0"/>
                        </a:spcAft>
                        <a:tabLst>
                          <a:tab pos="2156460" algn="l"/>
                        </a:tabLst>
                      </a:pPr>
                      <a:r>
                        <a:rPr lang="zh-CN" sz="1200" b="1" kern="100" dirty="0">
                          <a:solidFill>
                            <a:srgbClr val="FF0000"/>
                          </a:solidFill>
                          <a:effectLst/>
                          <a:latin typeface="Times New Roman" panose="02020603050405020304"/>
                          <a:ea typeface="宋体" panose="02010600030101010101" pitchFamily="2" charset="-122"/>
                          <a:cs typeface="+mn-cs"/>
                        </a:rPr>
                        <a:t>文档内容</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4583">
                <a:tc>
                  <a:txBody>
                    <a:bodyPr/>
                    <a:lstStyle/>
                    <a:p>
                      <a:pPr indent="0" algn="ctr">
                        <a:spcAft>
                          <a:spcPts val="0"/>
                        </a:spcAft>
                        <a:tabLst>
                          <a:tab pos="2156460" algn="l"/>
                        </a:tabLst>
                      </a:pPr>
                      <a:r>
                        <a:rPr lang="zh-CN" sz="1100" kern="100" dirty="0">
                          <a:solidFill>
                            <a:schemeClr val="tx1"/>
                          </a:solidFill>
                          <a:effectLst/>
                          <a:latin typeface="Times New Roman" panose="02020603050405020304"/>
                          <a:ea typeface="宋体" panose="02010600030101010101" pitchFamily="2" charset="-122"/>
                          <a:cs typeface="+mn-cs"/>
                        </a:rPr>
                        <a:t>现场测评准备</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spcAft>
                          <a:spcPts val="0"/>
                        </a:spcAft>
                        <a:tabLst>
                          <a:tab pos="2156460" algn="l"/>
                        </a:tabLst>
                      </a:pPr>
                      <a:r>
                        <a:rPr lang="zh-CN" sz="1100" kern="100" dirty="0">
                          <a:solidFill>
                            <a:schemeClr val="tx1"/>
                          </a:solidFill>
                          <a:effectLst/>
                          <a:latin typeface="Times New Roman" panose="02020603050405020304"/>
                          <a:ea typeface="宋体" panose="02010600030101010101" pitchFamily="2" charset="-122"/>
                          <a:cs typeface="+mn-cs"/>
                        </a:rPr>
                        <a:t>会议记录、确认的测评授权书、更新后的测评计划和测评程序</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spcAft>
                          <a:spcPts val="0"/>
                        </a:spcAft>
                        <a:tabLst>
                          <a:tab pos="2156460" algn="l"/>
                        </a:tabLst>
                      </a:pPr>
                      <a:r>
                        <a:rPr lang="zh-CN" sz="1100" kern="100">
                          <a:solidFill>
                            <a:schemeClr val="tx1"/>
                          </a:solidFill>
                          <a:effectLst/>
                          <a:latin typeface="Times New Roman" panose="02020603050405020304"/>
                          <a:ea typeface="宋体" panose="02010600030101010101" pitchFamily="2" charset="-122"/>
                          <a:cs typeface="+mn-cs"/>
                        </a:rPr>
                        <a:t>工作计划和内容安排，双发人员的协调，测评委托单位应提供的配合</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3056">
                <a:tc>
                  <a:txBody>
                    <a:bodyPr/>
                    <a:lstStyle/>
                    <a:p>
                      <a:pPr indent="0" algn="ctr">
                        <a:spcAft>
                          <a:spcPts val="0"/>
                        </a:spcAft>
                        <a:tabLst>
                          <a:tab pos="2156460" algn="l"/>
                        </a:tabLst>
                      </a:pPr>
                      <a:r>
                        <a:rPr lang="zh-CN" sz="1100" kern="100" dirty="0">
                          <a:solidFill>
                            <a:schemeClr val="tx1"/>
                          </a:solidFill>
                          <a:effectLst/>
                          <a:latin typeface="Times New Roman" panose="02020603050405020304"/>
                          <a:ea typeface="宋体" panose="02010600030101010101" pitchFamily="2" charset="-122"/>
                          <a:cs typeface="+mn-cs"/>
                        </a:rPr>
                        <a:t>访谈</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spcAft>
                          <a:spcPts val="0"/>
                        </a:spcAft>
                        <a:tabLst>
                          <a:tab pos="2156460" algn="l"/>
                        </a:tabLst>
                      </a:pPr>
                      <a:r>
                        <a:rPr lang="zh-CN" sz="1100" kern="100" dirty="0">
                          <a:solidFill>
                            <a:schemeClr val="tx1"/>
                          </a:solidFill>
                          <a:effectLst/>
                          <a:latin typeface="Times New Roman" panose="02020603050405020304"/>
                          <a:ea typeface="宋体" panose="02010600030101010101" pitchFamily="2" charset="-122"/>
                          <a:cs typeface="+mn-cs"/>
                        </a:rPr>
                        <a:t>技术安全和管理安全测评的测评结果记录或录音</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spcAft>
                          <a:spcPts val="0"/>
                        </a:spcAft>
                        <a:tabLst>
                          <a:tab pos="2156460" algn="l"/>
                        </a:tabLst>
                      </a:pPr>
                      <a:r>
                        <a:rPr lang="zh-CN" sz="1100" kern="100">
                          <a:solidFill>
                            <a:schemeClr val="tx1"/>
                          </a:solidFill>
                          <a:effectLst/>
                          <a:latin typeface="Times New Roman" panose="02020603050405020304"/>
                          <a:ea typeface="宋体" panose="02010600030101010101" pitchFamily="2" charset="-122"/>
                          <a:cs typeface="+mn-cs"/>
                        </a:rPr>
                        <a:t>访谈记录</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3056">
                <a:tc>
                  <a:txBody>
                    <a:bodyPr/>
                    <a:lstStyle/>
                    <a:p>
                      <a:pPr indent="0" algn="ctr">
                        <a:spcAft>
                          <a:spcPts val="0"/>
                        </a:spcAft>
                        <a:tabLst>
                          <a:tab pos="2156460" algn="l"/>
                        </a:tabLst>
                      </a:pPr>
                      <a:r>
                        <a:rPr lang="zh-CN" sz="1100" kern="100" dirty="0">
                          <a:solidFill>
                            <a:schemeClr val="tx1"/>
                          </a:solidFill>
                          <a:effectLst/>
                          <a:latin typeface="Times New Roman" panose="02020603050405020304"/>
                          <a:ea typeface="宋体" panose="02010600030101010101" pitchFamily="2" charset="-122"/>
                          <a:cs typeface="+mn-cs"/>
                        </a:rPr>
                        <a:t>文档审查</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spcAft>
                          <a:spcPts val="0"/>
                        </a:spcAft>
                        <a:tabLst>
                          <a:tab pos="2156460" algn="l"/>
                        </a:tabLst>
                      </a:pPr>
                      <a:r>
                        <a:rPr lang="zh-CN" sz="1100" kern="100" dirty="0">
                          <a:solidFill>
                            <a:schemeClr val="tx1"/>
                          </a:solidFill>
                          <a:effectLst/>
                          <a:latin typeface="Times New Roman" panose="02020603050405020304"/>
                          <a:ea typeface="宋体" panose="02010600030101010101" pitchFamily="2" charset="-122"/>
                          <a:cs typeface="+mn-cs"/>
                        </a:rPr>
                        <a:t>管理安全测评的测评结果记录</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spcAft>
                          <a:spcPts val="0"/>
                        </a:spcAft>
                        <a:tabLst>
                          <a:tab pos="2156460" algn="l"/>
                        </a:tabLst>
                      </a:pPr>
                      <a:r>
                        <a:rPr lang="zh-CN" sz="1100" kern="100">
                          <a:solidFill>
                            <a:schemeClr val="tx1"/>
                          </a:solidFill>
                          <a:effectLst/>
                          <a:latin typeface="Times New Roman" panose="02020603050405020304"/>
                          <a:ea typeface="宋体" panose="02010600030101010101" pitchFamily="2" charset="-122"/>
                          <a:cs typeface="+mn-cs"/>
                        </a:rPr>
                        <a:t>管理制度和管理执行过程文档的记录</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3056">
                <a:tc>
                  <a:txBody>
                    <a:bodyPr/>
                    <a:lstStyle/>
                    <a:p>
                      <a:pPr indent="0" algn="ctr">
                        <a:spcAft>
                          <a:spcPts val="0"/>
                        </a:spcAft>
                        <a:tabLst>
                          <a:tab pos="2156460" algn="l"/>
                        </a:tabLst>
                      </a:pPr>
                      <a:r>
                        <a:rPr lang="zh-CN" sz="1100" kern="100">
                          <a:solidFill>
                            <a:schemeClr val="tx1"/>
                          </a:solidFill>
                          <a:effectLst/>
                          <a:latin typeface="Times New Roman" panose="02020603050405020304"/>
                          <a:ea typeface="宋体" panose="02010600030101010101" pitchFamily="2" charset="-122"/>
                          <a:cs typeface="+mn-cs"/>
                        </a:rPr>
                        <a:t>配置检查</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spcAft>
                          <a:spcPts val="0"/>
                        </a:spcAft>
                        <a:tabLst>
                          <a:tab pos="2156460" algn="l"/>
                        </a:tabLst>
                      </a:pPr>
                      <a:r>
                        <a:rPr lang="zh-CN" sz="1100" kern="100" dirty="0">
                          <a:solidFill>
                            <a:schemeClr val="tx1"/>
                          </a:solidFill>
                          <a:effectLst/>
                          <a:latin typeface="Times New Roman" panose="02020603050405020304"/>
                          <a:ea typeface="宋体" panose="02010600030101010101" pitchFamily="2" charset="-122"/>
                          <a:cs typeface="+mn-cs"/>
                        </a:rPr>
                        <a:t>技术安全测评的网络、主机、应用测评结果记录</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spcAft>
                          <a:spcPts val="0"/>
                        </a:spcAft>
                        <a:tabLst>
                          <a:tab pos="2156460" algn="l"/>
                        </a:tabLst>
                      </a:pPr>
                      <a:r>
                        <a:rPr lang="zh-CN" sz="1100" kern="100">
                          <a:solidFill>
                            <a:schemeClr val="tx1"/>
                          </a:solidFill>
                          <a:effectLst/>
                          <a:latin typeface="Times New Roman" panose="02020603050405020304"/>
                          <a:ea typeface="宋体" panose="02010600030101010101" pitchFamily="2" charset="-122"/>
                          <a:cs typeface="+mn-cs"/>
                        </a:rPr>
                        <a:t>检查内容的记录</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26110">
                <a:tc>
                  <a:txBody>
                    <a:bodyPr/>
                    <a:lstStyle/>
                    <a:p>
                      <a:pPr indent="0" algn="ctr">
                        <a:spcAft>
                          <a:spcPts val="0"/>
                        </a:spcAft>
                        <a:tabLst>
                          <a:tab pos="2156460" algn="l"/>
                        </a:tabLst>
                      </a:pPr>
                      <a:r>
                        <a:rPr lang="zh-CN" sz="1100" kern="100">
                          <a:solidFill>
                            <a:schemeClr val="tx1"/>
                          </a:solidFill>
                          <a:effectLst/>
                          <a:latin typeface="Times New Roman" panose="02020603050405020304"/>
                          <a:ea typeface="宋体" panose="02010600030101010101" pitchFamily="2" charset="-122"/>
                          <a:cs typeface="+mn-cs"/>
                        </a:rPr>
                        <a:t>工具测试</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spcAft>
                          <a:spcPts val="0"/>
                        </a:spcAft>
                        <a:tabLst>
                          <a:tab pos="2156460" algn="l"/>
                        </a:tabLst>
                      </a:pPr>
                      <a:r>
                        <a:rPr lang="zh-CN" sz="1100" kern="100" dirty="0">
                          <a:solidFill>
                            <a:schemeClr val="tx1"/>
                          </a:solidFill>
                          <a:effectLst/>
                          <a:latin typeface="Times New Roman" panose="02020603050405020304"/>
                          <a:ea typeface="宋体" panose="02010600030101010101" pitchFamily="2" charset="-122"/>
                          <a:cs typeface="+mn-cs"/>
                        </a:rPr>
                        <a:t>技术安全测评的网络、主机、应用测评结果记录，工具测试完成后的电子输出记录，备份的测试结果文件</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spcAft>
                          <a:spcPts val="0"/>
                        </a:spcAft>
                        <a:tabLst>
                          <a:tab pos="2156460" algn="l"/>
                        </a:tabLst>
                      </a:pPr>
                      <a:r>
                        <a:rPr lang="zh-CN" sz="1100" kern="100" dirty="0">
                          <a:solidFill>
                            <a:schemeClr val="tx1"/>
                          </a:solidFill>
                          <a:effectLst/>
                          <a:latin typeface="Times New Roman" panose="02020603050405020304"/>
                          <a:ea typeface="宋体" panose="02010600030101010101" pitchFamily="2" charset="-122"/>
                          <a:cs typeface="+mn-cs"/>
                        </a:rPr>
                        <a:t>漏洞扫面、渗透性测试、性能测试、入侵检测和协议分析等内容的技术测试结果</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3056">
                <a:tc>
                  <a:txBody>
                    <a:bodyPr/>
                    <a:lstStyle/>
                    <a:p>
                      <a:pPr indent="0" algn="ctr">
                        <a:spcAft>
                          <a:spcPts val="0"/>
                        </a:spcAft>
                        <a:tabLst>
                          <a:tab pos="2156460" algn="l"/>
                        </a:tabLst>
                      </a:pPr>
                      <a:r>
                        <a:rPr lang="zh-CN" sz="1100" kern="100">
                          <a:solidFill>
                            <a:schemeClr val="tx1"/>
                          </a:solidFill>
                          <a:effectLst/>
                          <a:latin typeface="Times New Roman" panose="02020603050405020304"/>
                          <a:ea typeface="宋体" panose="02010600030101010101" pitchFamily="2" charset="-122"/>
                          <a:cs typeface="+mn-cs"/>
                        </a:rPr>
                        <a:t>实地查看</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spcAft>
                          <a:spcPts val="0"/>
                        </a:spcAft>
                        <a:tabLst>
                          <a:tab pos="2156460" algn="l"/>
                        </a:tabLst>
                      </a:pPr>
                      <a:r>
                        <a:rPr lang="zh-CN" sz="1100" kern="100" dirty="0">
                          <a:solidFill>
                            <a:schemeClr val="tx1"/>
                          </a:solidFill>
                          <a:effectLst/>
                          <a:latin typeface="Times New Roman" panose="02020603050405020304"/>
                          <a:ea typeface="宋体" panose="02010600030101010101" pitchFamily="2" charset="-122"/>
                          <a:cs typeface="+mn-cs"/>
                        </a:rPr>
                        <a:t>技术安全测评的物理安全和管理安全测评结果记录</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spcAft>
                          <a:spcPts val="0"/>
                        </a:spcAft>
                        <a:tabLst>
                          <a:tab pos="2156460" algn="l"/>
                        </a:tabLst>
                      </a:pPr>
                      <a:r>
                        <a:rPr lang="zh-CN" sz="1100" kern="100" dirty="0">
                          <a:solidFill>
                            <a:schemeClr val="tx1"/>
                          </a:solidFill>
                          <a:effectLst/>
                          <a:latin typeface="Times New Roman" panose="02020603050405020304"/>
                          <a:ea typeface="宋体" panose="02010600030101010101" pitchFamily="2" charset="-122"/>
                          <a:cs typeface="+mn-cs"/>
                        </a:rPr>
                        <a:t>检查内容的记录</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26110">
                <a:tc>
                  <a:txBody>
                    <a:bodyPr/>
                    <a:lstStyle/>
                    <a:p>
                      <a:pPr indent="0" algn="ctr">
                        <a:spcAft>
                          <a:spcPts val="0"/>
                        </a:spcAft>
                        <a:tabLst>
                          <a:tab pos="2156460" algn="l"/>
                        </a:tabLst>
                      </a:pPr>
                      <a:r>
                        <a:rPr lang="zh-CN" sz="1100" kern="100">
                          <a:solidFill>
                            <a:schemeClr val="tx1"/>
                          </a:solidFill>
                          <a:effectLst/>
                          <a:latin typeface="Times New Roman" panose="02020603050405020304"/>
                          <a:ea typeface="宋体" panose="02010600030101010101" pitchFamily="2" charset="-122"/>
                          <a:cs typeface="+mn-cs"/>
                        </a:rPr>
                        <a:t>测评结果确认</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spcAft>
                          <a:spcPts val="0"/>
                        </a:spcAft>
                        <a:tabLst>
                          <a:tab pos="2156460" algn="l"/>
                        </a:tabLst>
                      </a:pPr>
                      <a:r>
                        <a:rPr lang="zh-CN" sz="1100" kern="100" dirty="0">
                          <a:solidFill>
                            <a:schemeClr val="tx1"/>
                          </a:solidFill>
                          <a:effectLst/>
                          <a:latin typeface="Times New Roman" panose="02020603050405020304"/>
                          <a:ea typeface="宋体" panose="02010600030101010101" pitchFamily="2" charset="-122"/>
                          <a:cs typeface="+mn-cs"/>
                        </a:rPr>
                        <a:t>现场核查中发现的问题汇总、证据和证据源记录、测评委托单位的书面认可文件</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spcAft>
                          <a:spcPts val="0"/>
                        </a:spcAft>
                        <a:tabLst>
                          <a:tab pos="2156460" algn="l"/>
                        </a:tabLst>
                      </a:pPr>
                      <a:r>
                        <a:rPr lang="zh-CN" sz="1100" kern="100" dirty="0">
                          <a:solidFill>
                            <a:schemeClr val="tx1"/>
                          </a:solidFill>
                          <a:effectLst/>
                          <a:latin typeface="Times New Roman" panose="02020603050405020304"/>
                          <a:ea typeface="宋体" panose="02010600030101010101" pitchFamily="2" charset="-122"/>
                          <a:cs typeface="+mn-cs"/>
                        </a:rPr>
                        <a:t>测评活动中发现的问题、问题的证据和证据源、每项检查活动中测评委托单位配合人员的书面认可</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9459">
                                            <p:txEl>
                                              <p:pRg st="2" end="2"/>
                                            </p:txEl>
                                          </p:spTgt>
                                        </p:tgtEl>
                                        <p:attrNameLst>
                                          <p:attrName>style.visibility</p:attrName>
                                        </p:attrNameLst>
                                      </p:cBhvr>
                                      <p:to>
                                        <p:strVal val="visible"/>
                                      </p:to>
                                    </p:set>
                                    <p:animEffect transition="in" filter="fade">
                                      <p:cBhvr>
                                        <p:cTn id="10" dur="2000"/>
                                        <p:tgtEl>
                                          <p:spTgt spid="19459">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459">
                                            <p:txEl>
                                              <p:pRg st="3" end="3"/>
                                            </p:txEl>
                                          </p:spTgt>
                                        </p:tgtEl>
                                        <p:attrNameLst>
                                          <p:attrName>style.visibility</p:attrName>
                                        </p:attrNameLst>
                                      </p:cBhvr>
                                      <p:to>
                                        <p:strVal val="visible"/>
                                      </p:to>
                                    </p:set>
                                    <p:animEffect transition="in" filter="fade">
                                      <p:cBhvr>
                                        <p:cTn id="15" dur="2000"/>
                                        <p:tgtEl>
                                          <p:spTgt spid="194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信息安全等级保护与等级测评</a:t>
            </a:r>
          </a:p>
        </p:txBody>
      </p:sp>
      <p:sp>
        <p:nvSpPr>
          <p:cNvPr id="19459" name="内容占位符 2"/>
          <p:cNvSpPr>
            <a:spLocks noGrp="1" noChangeArrowheads="1"/>
          </p:cNvSpPr>
          <p:nvPr>
            <p:ph idx="1"/>
          </p:nvPr>
        </p:nvSpPr>
        <p:spPr>
          <a:xfrm>
            <a:off x="152400" y="1066800"/>
            <a:ext cx="8839200" cy="55626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信息安全等级测评：</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a:t>
            </a: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4</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）现场测评活动中双方的职责</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rgbClr val="FF0000"/>
                </a:solidFill>
                <a:effectLst/>
                <a:uLnTx/>
                <a:uFillTx/>
                <a:latin typeface="楷体_GB2312" pitchFamily="49" charset="-122"/>
                <a:ea typeface="楷体_GB2312" pitchFamily="49" charset="-122"/>
                <a:cs typeface="+mn-cs"/>
              </a:rPr>
              <a:t>测评</a:t>
            </a:r>
            <a:r>
              <a:rPr kumimoji="0" lang="zh-CN" altLang="en-US" sz="2800" b="1" i="0" u="none" strike="noStrike" kern="0" cap="none" spc="0" normalizeH="0" baseline="0" noProof="0" dirty="0">
                <a:ln>
                  <a:noFill/>
                </a:ln>
                <a:solidFill>
                  <a:srgbClr val="FF0000"/>
                </a:solidFill>
                <a:effectLst/>
                <a:uLnTx/>
                <a:uFillTx/>
                <a:latin typeface="楷体_GB2312" pitchFamily="49" charset="-122"/>
                <a:ea typeface="楷体_GB2312" pitchFamily="49" charset="-122"/>
                <a:cs typeface="+mn-cs"/>
              </a:rPr>
              <a:t>机构职责：</a:t>
            </a: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a) </a:t>
            </a: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利用</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访谈、文档审查、配置检查、工具测试和实地察看的方法测评被测系统的保护措施情况，并获取相关证据</a:t>
            </a: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a:t>
            </a:r>
            <a:endParaRPr kumimoji="0" lang="en-US" altLang="zh-CN"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endParaRPr>
          </a:p>
          <a:p>
            <a:pPr marL="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rgbClr val="FF0000"/>
                </a:solidFill>
                <a:effectLst/>
                <a:uLnTx/>
                <a:uFillTx/>
                <a:latin typeface="楷体_GB2312" pitchFamily="49" charset="-122"/>
                <a:ea typeface="楷体_GB2312" pitchFamily="49" charset="-122"/>
                <a:cs typeface="+mn-cs"/>
              </a:rPr>
              <a:t>  测评委</a:t>
            </a:r>
            <a:r>
              <a:rPr kumimoji="0" lang="zh-CN" altLang="en-US" sz="2400" b="1" i="0" u="none" strike="noStrike" kern="0" cap="none" spc="0" normalizeH="0" baseline="0" noProof="0" dirty="0">
                <a:ln>
                  <a:noFill/>
                </a:ln>
                <a:solidFill>
                  <a:srgbClr val="FF0000"/>
                </a:solidFill>
                <a:effectLst/>
                <a:uLnTx/>
                <a:uFillTx/>
                <a:latin typeface="楷体_GB2312" pitchFamily="49" charset="-122"/>
                <a:ea typeface="楷体_GB2312" pitchFamily="49" charset="-122"/>
                <a:cs typeface="+mn-cs"/>
              </a:rPr>
              <a:t>托单位职责：</a:t>
            </a: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a) </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测评前备份系统和数据，并确认被测设备状态完好。</a:t>
            </a: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b) </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协调被测系统内部相关人员的关系，配合测评工作的开展。</a:t>
            </a: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c) </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签署现场测评授权书等职责</a:t>
            </a:r>
            <a:r>
              <a:rPr kumimoji="0" lang="zh-CN" altLang="en-US" sz="1600" b="1" i="0" u="none" strike="noStrike" kern="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rPr>
              <a:t>。</a:t>
            </a:r>
            <a:endPar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9459">
                                            <p:txEl>
                                              <p:pRg st="2" end="2"/>
                                            </p:txEl>
                                          </p:spTgt>
                                        </p:tgtEl>
                                        <p:attrNameLst>
                                          <p:attrName>style.visibility</p:attrName>
                                        </p:attrNameLst>
                                      </p:cBhvr>
                                      <p:to>
                                        <p:strVal val="visible"/>
                                      </p:to>
                                    </p:set>
                                    <p:animEffect transition="in" filter="fade">
                                      <p:cBhvr>
                                        <p:cTn id="10" dur="2000"/>
                                        <p:tgtEl>
                                          <p:spTgt spid="19459">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9459">
                                            <p:txEl>
                                              <p:pRg st="3" end="3"/>
                                            </p:txEl>
                                          </p:spTgt>
                                        </p:tgtEl>
                                        <p:attrNameLst>
                                          <p:attrName>style.visibility</p:attrName>
                                        </p:attrNameLst>
                                      </p:cBhvr>
                                      <p:to>
                                        <p:strVal val="visible"/>
                                      </p:to>
                                    </p:set>
                                    <p:animEffect transition="in" filter="fade">
                                      <p:cBhvr>
                                        <p:cTn id="13" dur="2000"/>
                                        <p:tgtEl>
                                          <p:spTgt spid="19459">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9459">
                                            <p:txEl>
                                              <p:pRg st="4" end="4"/>
                                            </p:txEl>
                                          </p:spTgt>
                                        </p:tgtEl>
                                        <p:attrNameLst>
                                          <p:attrName>style.visibility</p:attrName>
                                        </p:attrNameLst>
                                      </p:cBhvr>
                                      <p:to>
                                        <p:strVal val="visible"/>
                                      </p:to>
                                    </p:set>
                                    <p:animEffect transition="in" filter="fade">
                                      <p:cBhvr>
                                        <p:cTn id="16" dur="2000"/>
                                        <p:tgtEl>
                                          <p:spTgt spid="19459">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9459">
                                            <p:txEl>
                                              <p:pRg st="5" end="5"/>
                                            </p:txEl>
                                          </p:spTgt>
                                        </p:tgtEl>
                                        <p:attrNameLst>
                                          <p:attrName>style.visibility</p:attrName>
                                        </p:attrNameLst>
                                      </p:cBhvr>
                                      <p:to>
                                        <p:strVal val="visible"/>
                                      </p:to>
                                    </p:set>
                                    <p:animEffect transition="in" filter="fade">
                                      <p:cBhvr>
                                        <p:cTn id="19" dur="2000"/>
                                        <p:tgtEl>
                                          <p:spTgt spid="19459">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9459">
                                            <p:txEl>
                                              <p:pRg st="6" end="6"/>
                                            </p:txEl>
                                          </p:spTgt>
                                        </p:tgtEl>
                                        <p:attrNameLst>
                                          <p:attrName>style.visibility</p:attrName>
                                        </p:attrNameLst>
                                      </p:cBhvr>
                                      <p:to>
                                        <p:strVal val="visible"/>
                                      </p:to>
                                    </p:set>
                                    <p:animEffect transition="in" filter="fade">
                                      <p:cBhvr>
                                        <p:cTn id="22" dur="2000"/>
                                        <p:tgtEl>
                                          <p:spTgt spid="19459">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9459">
                                            <p:txEl>
                                              <p:pRg st="7" end="7"/>
                                            </p:txEl>
                                          </p:spTgt>
                                        </p:tgtEl>
                                        <p:attrNameLst>
                                          <p:attrName>style.visibility</p:attrName>
                                        </p:attrNameLst>
                                      </p:cBhvr>
                                      <p:to>
                                        <p:strVal val="visible"/>
                                      </p:to>
                                    </p:set>
                                    <p:animEffect transition="in" filter="fade">
                                      <p:cBhvr>
                                        <p:cTn id="25" dur="2000"/>
                                        <p:tgtEl>
                                          <p:spTgt spid="19459">
                                            <p:txEl>
                                              <p:pRg st="7" end="7"/>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9459">
                                            <p:txEl>
                                              <p:pRg st="3" end="3"/>
                                            </p:txEl>
                                          </p:spTgt>
                                        </p:tgtEl>
                                        <p:attrNameLst>
                                          <p:attrName>style.visibility</p:attrName>
                                        </p:attrNameLst>
                                      </p:cBhvr>
                                      <p:to>
                                        <p:strVal val="visible"/>
                                      </p:to>
                                    </p:set>
                                    <p:animEffect transition="in" filter="fade">
                                      <p:cBhvr>
                                        <p:cTn id="30" dur="2000"/>
                                        <p:tgtEl>
                                          <p:spTgt spid="19459">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9459">
                                            <p:txEl>
                                              <p:pRg st="4" end="4"/>
                                            </p:txEl>
                                          </p:spTgt>
                                        </p:tgtEl>
                                        <p:attrNameLst>
                                          <p:attrName>style.visibility</p:attrName>
                                        </p:attrNameLst>
                                      </p:cBhvr>
                                      <p:to>
                                        <p:strVal val="visible"/>
                                      </p:to>
                                    </p:set>
                                    <p:animEffect transition="in" filter="fade">
                                      <p:cBhvr>
                                        <p:cTn id="35" dur="2000"/>
                                        <p:tgtEl>
                                          <p:spTgt spid="19459">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9459">
                                            <p:txEl>
                                              <p:pRg st="5" end="5"/>
                                            </p:txEl>
                                          </p:spTgt>
                                        </p:tgtEl>
                                        <p:attrNameLst>
                                          <p:attrName>style.visibility</p:attrName>
                                        </p:attrNameLst>
                                      </p:cBhvr>
                                      <p:to>
                                        <p:strVal val="visible"/>
                                      </p:to>
                                    </p:set>
                                    <p:animEffect transition="in" filter="fade">
                                      <p:cBhvr>
                                        <p:cTn id="40" dur="2000"/>
                                        <p:tgtEl>
                                          <p:spTgt spid="19459">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9459">
                                            <p:txEl>
                                              <p:pRg st="6" end="6"/>
                                            </p:txEl>
                                          </p:spTgt>
                                        </p:tgtEl>
                                        <p:attrNameLst>
                                          <p:attrName>style.visibility</p:attrName>
                                        </p:attrNameLst>
                                      </p:cBhvr>
                                      <p:to>
                                        <p:strVal val="visible"/>
                                      </p:to>
                                    </p:set>
                                    <p:animEffect transition="in" filter="fade">
                                      <p:cBhvr>
                                        <p:cTn id="45" dur="2000"/>
                                        <p:tgtEl>
                                          <p:spTgt spid="19459">
                                            <p:txEl>
                                              <p:pRg st="6" end="6"/>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9459">
                                            <p:txEl>
                                              <p:pRg st="7" end="7"/>
                                            </p:txEl>
                                          </p:spTgt>
                                        </p:tgtEl>
                                        <p:attrNameLst>
                                          <p:attrName>style.visibility</p:attrName>
                                        </p:attrNameLst>
                                      </p:cBhvr>
                                      <p:to>
                                        <p:strVal val="visible"/>
                                      </p:to>
                                    </p:set>
                                    <p:animEffect transition="in" filter="fade">
                                      <p:cBhvr>
                                        <p:cTn id="50" dur="2000"/>
                                        <p:tgtEl>
                                          <p:spTgt spid="1945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信息安全等级保护与等级测评</a:t>
            </a:r>
          </a:p>
        </p:txBody>
      </p:sp>
      <p:sp>
        <p:nvSpPr>
          <p:cNvPr id="19459" name="内容占位符 2"/>
          <p:cNvSpPr>
            <a:spLocks noGrp="1" noChangeArrowheads="1"/>
          </p:cNvSpPr>
          <p:nvPr>
            <p:ph idx="1"/>
          </p:nvPr>
        </p:nvSpPr>
        <p:spPr>
          <a:xfrm>
            <a:off x="304800" y="1066800"/>
            <a:ext cx="8229600" cy="55626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 </a:t>
            </a: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信息安全等级测评：</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分析与报告编制活动：</a:t>
            </a:r>
          </a:p>
          <a:p>
            <a:pPr marL="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a:t>
            </a: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1</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）现场测评活动的工作流程</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pic>
        <p:nvPicPr>
          <p:cNvPr id="88068" name="Picture 2"/>
          <p:cNvPicPr>
            <a:picLocks noChangeAspect="1"/>
          </p:cNvPicPr>
          <p:nvPr/>
        </p:nvPicPr>
        <p:blipFill>
          <a:blip r:embed="rId2"/>
          <a:stretch>
            <a:fillRect/>
          </a:stretch>
        </p:blipFill>
        <p:spPr>
          <a:xfrm>
            <a:off x="2667000" y="2743200"/>
            <a:ext cx="2662238" cy="3581400"/>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信息安全等级保护与等级测评</a:t>
            </a:r>
          </a:p>
        </p:txBody>
      </p:sp>
      <p:sp>
        <p:nvSpPr>
          <p:cNvPr id="19459" name="内容占位符 2"/>
          <p:cNvSpPr>
            <a:spLocks noGrp="1" noChangeArrowheads="1"/>
          </p:cNvSpPr>
          <p:nvPr>
            <p:ph idx="1"/>
          </p:nvPr>
        </p:nvSpPr>
        <p:spPr>
          <a:xfrm>
            <a:off x="304800" y="457200"/>
            <a:ext cx="8229600" cy="6172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信息安全等级测评：</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a:t>
            </a: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2</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）分析与报告编制活动的主要任务</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①单项测评结果判定</a:t>
            </a:r>
            <a:endPar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②单元测评结果判定</a:t>
            </a:r>
            <a:endPar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③整体测评</a:t>
            </a:r>
            <a:endPar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④风险分析</a:t>
            </a:r>
            <a:endPar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⑤等级测评结论形成</a:t>
            </a:r>
            <a:endPar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⑥测评报告编制</a:t>
            </a:r>
            <a:endPar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9459">
                                            <p:txEl>
                                              <p:pRg st="2" end="2"/>
                                            </p:txEl>
                                          </p:spTgt>
                                        </p:tgtEl>
                                        <p:attrNameLst>
                                          <p:attrName>style.visibility</p:attrName>
                                        </p:attrNameLst>
                                      </p:cBhvr>
                                      <p:to>
                                        <p:strVal val="visible"/>
                                      </p:to>
                                    </p:set>
                                    <p:animEffect transition="in" filter="fade">
                                      <p:cBhvr>
                                        <p:cTn id="10" dur="2000"/>
                                        <p:tgtEl>
                                          <p:spTgt spid="19459">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9459">
                                            <p:txEl>
                                              <p:pRg st="3" end="3"/>
                                            </p:txEl>
                                          </p:spTgt>
                                        </p:tgtEl>
                                        <p:attrNameLst>
                                          <p:attrName>style.visibility</p:attrName>
                                        </p:attrNameLst>
                                      </p:cBhvr>
                                      <p:to>
                                        <p:strVal val="visible"/>
                                      </p:to>
                                    </p:set>
                                    <p:animEffect transition="in" filter="fade">
                                      <p:cBhvr>
                                        <p:cTn id="13" dur="2000"/>
                                        <p:tgtEl>
                                          <p:spTgt spid="19459">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9459">
                                            <p:txEl>
                                              <p:pRg st="4" end="4"/>
                                            </p:txEl>
                                          </p:spTgt>
                                        </p:tgtEl>
                                        <p:attrNameLst>
                                          <p:attrName>style.visibility</p:attrName>
                                        </p:attrNameLst>
                                      </p:cBhvr>
                                      <p:to>
                                        <p:strVal val="visible"/>
                                      </p:to>
                                    </p:set>
                                    <p:animEffect transition="in" filter="fade">
                                      <p:cBhvr>
                                        <p:cTn id="16" dur="2000"/>
                                        <p:tgtEl>
                                          <p:spTgt spid="19459">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9459">
                                            <p:txEl>
                                              <p:pRg st="5" end="5"/>
                                            </p:txEl>
                                          </p:spTgt>
                                        </p:tgtEl>
                                        <p:attrNameLst>
                                          <p:attrName>style.visibility</p:attrName>
                                        </p:attrNameLst>
                                      </p:cBhvr>
                                      <p:to>
                                        <p:strVal val="visible"/>
                                      </p:to>
                                    </p:set>
                                    <p:animEffect transition="in" filter="fade">
                                      <p:cBhvr>
                                        <p:cTn id="19" dur="2000"/>
                                        <p:tgtEl>
                                          <p:spTgt spid="19459">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9459">
                                            <p:txEl>
                                              <p:pRg st="6" end="6"/>
                                            </p:txEl>
                                          </p:spTgt>
                                        </p:tgtEl>
                                        <p:attrNameLst>
                                          <p:attrName>style.visibility</p:attrName>
                                        </p:attrNameLst>
                                      </p:cBhvr>
                                      <p:to>
                                        <p:strVal val="visible"/>
                                      </p:to>
                                    </p:set>
                                    <p:animEffect transition="in" filter="fade">
                                      <p:cBhvr>
                                        <p:cTn id="22" dur="2000"/>
                                        <p:tgtEl>
                                          <p:spTgt spid="19459">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9459">
                                            <p:txEl>
                                              <p:pRg st="7" end="7"/>
                                            </p:txEl>
                                          </p:spTgt>
                                        </p:tgtEl>
                                        <p:attrNameLst>
                                          <p:attrName>style.visibility</p:attrName>
                                        </p:attrNameLst>
                                      </p:cBhvr>
                                      <p:to>
                                        <p:strVal val="visible"/>
                                      </p:to>
                                    </p:set>
                                    <p:animEffect transition="in" filter="fade">
                                      <p:cBhvr>
                                        <p:cTn id="25" dur="2000"/>
                                        <p:tgtEl>
                                          <p:spTgt spid="19459">
                                            <p:txEl>
                                              <p:pRg st="7" end="7"/>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9459">
                                            <p:txEl>
                                              <p:pRg st="8" end="8"/>
                                            </p:txEl>
                                          </p:spTgt>
                                        </p:tgtEl>
                                        <p:attrNameLst>
                                          <p:attrName>style.visibility</p:attrName>
                                        </p:attrNameLst>
                                      </p:cBhvr>
                                      <p:to>
                                        <p:strVal val="visible"/>
                                      </p:to>
                                    </p:set>
                                    <p:animEffect transition="in" filter="fade">
                                      <p:cBhvr>
                                        <p:cTn id="28" dur="2000"/>
                                        <p:tgtEl>
                                          <p:spTgt spid="1945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信息安全等级保护与等级测评</a:t>
            </a:r>
          </a:p>
        </p:txBody>
      </p:sp>
      <p:sp>
        <p:nvSpPr>
          <p:cNvPr id="19459" name="内容占位符 2"/>
          <p:cNvSpPr>
            <a:spLocks noGrp="1" noChangeArrowheads="1"/>
          </p:cNvSpPr>
          <p:nvPr>
            <p:ph idx="1"/>
          </p:nvPr>
        </p:nvSpPr>
        <p:spPr>
          <a:xfrm>
            <a:off x="304800" y="457200"/>
            <a:ext cx="8229600" cy="6172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p>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信息安全等级测评：</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a:t>
            </a: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3</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）分析与报告编制活动的输出文档</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graphicFrame>
        <p:nvGraphicFramePr>
          <p:cNvPr id="2" name="表格 1"/>
          <p:cNvGraphicFramePr>
            <a:graphicFrameLocks noGrp="1"/>
          </p:cNvGraphicFramePr>
          <p:nvPr/>
        </p:nvGraphicFramePr>
        <p:xfrm>
          <a:off x="838200" y="2438400"/>
          <a:ext cx="7467601" cy="3581398"/>
        </p:xfrm>
        <a:graphic>
          <a:graphicData uri="http://schemas.openxmlformats.org/drawingml/2006/table">
            <a:tbl>
              <a:tblPr firstRow="1" firstCol="1" bandRow="1"/>
              <a:tblGrid>
                <a:gridCol w="1642947"/>
                <a:gridCol w="2688302"/>
                <a:gridCol w="3136352"/>
              </a:tblGrid>
              <a:tr h="267664">
                <a:tc>
                  <a:txBody>
                    <a:bodyPr/>
                    <a:lstStyle/>
                    <a:p>
                      <a:pPr indent="0" algn="ctr">
                        <a:spcAft>
                          <a:spcPts val="0"/>
                        </a:spcAft>
                        <a:tabLst>
                          <a:tab pos="1898015" algn="l"/>
                        </a:tabLst>
                      </a:pPr>
                      <a:r>
                        <a:rPr lang="zh-CN" sz="1200" b="1" kern="100" dirty="0">
                          <a:solidFill>
                            <a:srgbClr val="FF0000"/>
                          </a:solidFill>
                          <a:effectLst/>
                          <a:latin typeface="Times New Roman" panose="02020603050405020304"/>
                          <a:ea typeface="宋体" panose="02010600030101010101" pitchFamily="2" charset="-122"/>
                        </a:rPr>
                        <a:t>任务</a:t>
                      </a: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spcAft>
                          <a:spcPts val="0"/>
                        </a:spcAft>
                        <a:tabLst>
                          <a:tab pos="1898015" algn="l"/>
                        </a:tabLst>
                      </a:pPr>
                      <a:r>
                        <a:rPr lang="zh-CN" sz="1200" b="1" kern="100" dirty="0">
                          <a:solidFill>
                            <a:srgbClr val="FF0000"/>
                          </a:solidFill>
                          <a:effectLst/>
                          <a:latin typeface="Times New Roman" panose="02020603050405020304"/>
                          <a:ea typeface="宋体" panose="02010600030101010101" pitchFamily="2" charset="-122"/>
                        </a:rPr>
                        <a:t>输出文档</a:t>
                      </a: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ctr">
                        <a:spcAft>
                          <a:spcPts val="0"/>
                        </a:spcAft>
                        <a:tabLst>
                          <a:tab pos="1898015" algn="l"/>
                        </a:tabLst>
                      </a:pPr>
                      <a:r>
                        <a:rPr lang="zh-CN" sz="1200" b="1" kern="100" dirty="0">
                          <a:solidFill>
                            <a:srgbClr val="FF0000"/>
                          </a:solidFill>
                          <a:effectLst/>
                          <a:latin typeface="Times New Roman" panose="02020603050405020304"/>
                          <a:ea typeface="宋体" panose="02010600030101010101" pitchFamily="2" charset="-122"/>
                        </a:rPr>
                        <a:t>文档内容</a:t>
                      </a: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28433">
                <a:tc>
                  <a:txBody>
                    <a:bodyPr/>
                    <a:lstStyle/>
                    <a:p>
                      <a:pPr indent="0" algn="just">
                        <a:spcAft>
                          <a:spcPts val="0"/>
                        </a:spcAft>
                        <a:tabLst>
                          <a:tab pos="1898015" algn="l"/>
                        </a:tabLst>
                      </a:pPr>
                      <a:r>
                        <a:rPr lang="en-US" sz="1100" kern="100" dirty="0">
                          <a:solidFill>
                            <a:schemeClr val="tx1"/>
                          </a:solidFill>
                          <a:effectLst/>
                          <a:latin typeface="Times New Roman" panose="02020603050405020304"/>
                          <a:ea typeface="宋体" panose="02010600030101010101" pitchFamily="2" charset="-122"/>
                          <a:cs typeface="+mn-cs"/>
                        </a:rPr>
                        <a:t> </a:t>
                      </a:r>
                      <a:r>
                        <a:rPr lang="zh-CN" sz="1100" kern="100" dirty="0" smtClean="0">
                          <a:solidFill>
                            <a:schemeClr val="tx1"/>
                          </a:solidFill>
                          <a:effectLst/>
                          <a:latin typeface="Times New Roman" panose="02020603050405020304"/>
                          <a:ea typeface="宋体" panose="02010600030101010101" pitchFamily="2" charset="-122"/>
                          <a:cs typeface="+mn-cs"/>
                        </a:rPr>
                        <a:t>单项</a:t>
                      </a:r>
                      <a:r>
                        <a:rPr lang="zh-CN" sz="1100" kern="100" dirty="0">
                          <a:solidFill>
                            <a:schemeClr val="tx1"/>
                          </a:solidFill>
                          <a:effectLst/>
                          <a:latin typeface="Times New Roman" panose="02020603050405020304"/>
                          <a:ea typeface="宋体" panose="02010600030101010101" pitchFamily="2" charset="-122"/>
                          <a:cs typeface="+mn-cs"/>
                        </a:rPr>
                        <a:t>测评结果判定</a:t>
                      </a: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just">
                        <a:spcAft>
                          <a:spcPts val="0"/>
                        </a:spcAft>
                        <a:tabLst>
                          <a:tab pos="1898015" algn="l"/>
                        </a:tabLst>
                      </a:pPr>
                      <a:r>
                        <a:rPr lang="zh-CN" sz="1100" kern="100" dirty="0">
                          <a:solidFill>
                            <a:schemeClr val="tx1"/>
                          </a:solidFill>
                          <a:effectLst/>
                          <a:latin typeface="Times New Roman" panose="02020603050405020304"/>
                          <a:ea typeface="宋体" panose="02010600030101010101" pitchFamily="2" charset="-122"/>
                          <a:cs typeface="+mn-cs"/>
                        </a:rPr>
                        <a:t>等级测评报告的单元测评的结果记录部分</a:t>
                      </a: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just">
                        <a:spcAft>
                          <a:spcPts val="0"/>
                        </a:spcAft>
                        <a:tabLst>
                          <a:tab pos="1898015" algn="l"/>
                        </a:tabLst>
                      </a:pPr>
                      <a:r>
                        <a:rPr lang="zh-CN" sz="1100" kern="100" dirty="0">
                          <a:solidFill>
                            <a:schemeClr val="tx1"/>
                          </a:solidFill>
                          <a:effectLst/>
                          <a:latin typeface="Times New Roman" panose="02020603050405020304"/>
                          <a:ea typeface="宋体" panose="02010600030101010101" pitchFamily="2" charset="-122"/>
                          <a:cs typeface="+mn-cs"/>
                        </a:rPr>
                        <a:t>分析被测系统的安全现状（各个层面的基本安全状况）与标准中相应等级的基本要求的符合情况，给出单元测评结果。</a:t>
                      </a: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7060">
                <a:tc>
                  <a:txBody>
                    <a:bodyPr/>
                    <a:lstStyle/>
                    <a:p>
                      <a:pPr indent="0" algn="just">
                        <a:spcAft>
                          <a:spcPts val="0"/>
                        </a:spcAft>
                        <a:tabLst>
                          <a:tab pos="1898015" algn="l"/>
                        </a:tabLst>
                      </a:pPr>
                      <a:r>
                        <a:rPr lang="en-US" sz="1100" kern="100" dirty="0">
                          <a:solidFill>
                            <a:schemeClr val="tx1"/>
                          </a:solidFill>
                          <a:effectLst/>
                          <a:latin typeface="Times New Roman" panose="02020603050405020304"/>
                          <a:ea typeface="宋体" panose="02010600030101010101" pitchFamily="2" charset="-122"/>
                          <a:cs typeface="+mn-cs"/>
                        </a:rPr>
                        <a:t> </a:t>
                      </a:r>
                      <a:endParaRPr lang="zh-CN" sz="1100" kern="100" dirty="0">
                        <a:solidFill>
                          <a:schemeClr val="tx1"/>
                        </a:solidFill>
                        <a:effectLst/>
                        <a:latin typeface="Times New Roman" panose="02020603050405020304"/>
                        <a:ea typeface="宋体" panose="02010600030101010101" pitchFamily="2" charset="-122"/>
                        <a:cs typeface="+mn-cs"/>
                      </a:endParaRPr>
                    </a:p>
                    <a:p>
                      <a:pPr indent="0" algn="just">
                        <a:spcAft>
                          <a:spcPts val="0"/>
                        </a:spcAft>
                        <a:tabLst>
                          <a:tab pos="1898015" algn="l"/>
                        </a:tabLst>
                      </a:pPr>
                      <a:r>
                        <a:rPr lang="zh-CN" sz="1100" kern="100" dirty="0">
                          <a:solidFill>
                            <a:schemeClr val="tx1"/>
                          </a:solidFill>
                          <a:effectLst/>
                          <a:latin typeface="Times New Roman" panose="02020603050405020304"/>
                          <a:ea typeface="宋体" panose="02010600030101010101" pitchFamily="2" charset="-122"/>
                          <a:cs typeface="+mn-cs"/>
                        </a:rPr>
                        <a:t>单项测评结果汇总分析</a:t>
                      </a: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just">
                        <a:spcAft>
                          <a:spcPts val="0"/>
                        </a:spcAft>
                        <a:tabLst>
                          <a:tab pos="1898015" algn="l"/>
                        </a:tabLst>
                      </a:pPr>
                      <a:r>
                        <a:rPr lang="zh-CN" sz="1100" kern="100" dirty="0" smtClean="0">
                          <a:solidFill>
                            <a:schemeClr val="tx1"/>
                          </a:solidFill>
                          <a:effectLst/>
                          <a:latin typeface="Times New Roman" panose="02020603050405020304"/>
                          <a:ea typeface="宋体" panose="02010600030101010101" pitchFamily="2" charset="-122"/>
                          <a:cs typeface="+mn-cs"/>
                        </a:rPr>
                        <a:t>等级测评</a:t>
                      </a:r>
                      <a:r>
                        <a:rPr lang="zh-CN" sz="1100" kern="100" dirty="0">
                          <a:solidFill>
                            <a:schemeClr val="tx1"/>
                          </a:solidFill>
                          <a:effectLst/>
                          <a:latin typeface="Times New Roman" panose="02020603050405020304"/>
                          <a:ea typeface="宋体" panose="02010600030101010101" pitchFamily="2" charset="-122"/>
                          <a:cs typeface="+mn-cs"/>
                        </a:rPr>
                        <a:t>报告的单元测评的结果汇总部分</a:t>
                      </a: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just">
                        <a:spcAft>
                          <a:spcPts val="0"/>
                        </a:spcAft>
                        <a:tabLst>
                          <a:tab pos="1898015" algn="l"/>
                        </a:tabLst>
                      </a:pPr>
                      <a:r>
                        <a:rPr lang="zh-CN" sz="1100" kern="100" dirty="0">
                          <a:solidFill>
                            <a:schemeClr val="tx1"/>
                          </a:solidFill>
                          <a:effectLst/>
                          <a:latin typeface="Times New Roman" panose="02020603050405020304"/>
                          <a:ea typeface="宋体" panose="02010600030101010101" pitchFamily="2" charset="-122"/>
                          <a:cs typeface="+mn-cs"/>
                        </a:rPr>
                        <a:t>汇总统计单项测评结果，给出针对每个对象的单元测评结果。</a:t>
                      </a: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7060">
                <a:tc>
                  <a:txBody>
                    <a:bodyPr/>
                    <a:lstStyle/>
                    <a:p>
                      <a:pPr indent="0" algn="just">
                        <a:spcAft>
                          <a:spcPts val="0"/>
                        </a:spcAft>
                        <a:tabLst>
                          <a:tab pos="1898015" algn="l"/>
                        </a:tabLst>
                      </a:pPr>
                      <a:r>
                        <a:rPr lang="en-US" sz="1100" kern="100" dirty="0">
                          <a:solidFill>
                            <a:schemeClr val="tx1"/>
                          </a:solidFill>
                          <a:effectLst/>
                          <a:latin typeface="Times New Roman" panose="02020603050405020304"/>
                          <a:ea typeface="宋体" panose="02010600030101010101" pitchFamily="2" charset="-122"/>
                          <a:cs typeface="+mn-cs"/>
                        </a:rPr>
                        <a:t> </a:t>
                      </a:r>
                      <a:endParaRPr lang="zh-CN" sz="1100" kern="100" dirty="0">
                        <a:solidFill>
                          <a:schemeClr val="tx1"/>
                        </a:solidFill>
                        <a:effectLst/>
                        <a:latin typeface="Times New Roman" panose="02020603050405020304"/>
                        <a:ea typeface="宋体" panose="02010600030101010101" pitchFamily="2" charset="-122"/>
                        <a:cs typeface="+mn-cs"/>
                      </a:endParaRPr>
                    </a:p>
                    <a:p>
                      <a:pPr indent="0" algn="just">
                        <a:spcAft>
                          <a:spcPts val="0"/>
                        </a:spcAft>
                        <a:tabLst>
                          <a:tab pos="1898015" algn="l"/>
                        </a:tabLst>
                      </a:pPr>
                      <a:r>
                        <a:rPr lang="zh-CN" sz="1100" kern="100" dirty="0">
                          <a:solidFill>
                            <a:schemeClr val="tx1"/>
                          </a:solidFill>
                          <a:effectLst/>
                          <a:latin typeface="Times New Roman" panose="02020603050405020304"/>
                          <a:ea typeface="宋体" panose="02010600030101010101" pitchFamily="2" charset="-122"/>
                          <a:cs typeface="+mn-cs"/>
                        </a:rPr>
                        <a:t>整体测评</a:t>
                      </a: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just">
                        <a:spcAft>
                          <a:spcPts val="0"/>
                        </a:spcAft>
                        <a:tabLst>
                          <a:tab pos="1898015" algn="l"/>
                        </a:tabLst>
                      </a:pPr>
                      <a:r>
                        <a:rPr lang="zh-CN" sz="1100" kern="100" dirty="0">
                          <a:solidFill>
                            <a:schemeClr val="tx1"/>
                          </a:solidFill>
                          <a:effectLst/>
                          <a:latin typeface="Times New Roman" panose="02020603050405020304"/>
                          <a:ea typeface="宋体" panose="02010600030101010101" pitchFamily="2" charset="-122"/>
                          <a:cs typeface="+mn-cs"/>
                        </a:rPr>
                        <a:t>等级测评报告的整体测评部分</a:t>
                      </a: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just">
                        <a:spcAft>
                          <a:spcPts val="0"/>
                        </a:spcAft>
                        <a:tabLst>
                          <a:tab pos="1898015" algn="l"/>
                        </a:tabLst>
                      </a:pPr>
                      <a:r>
                        <a:rPr lang="zh-CN" sz="1100" kern="100" dirty="0">
                          <a:solidFill>
                            <a:schemeClr val="tx1"/>
                          </a:solidFill>
                          <a:effectLst/>
                          <a:latin typeface="Times New Roman" panose="02020603050405020304"/>
                          <a:ea typeface="宋体" panose="02010600030101010101" pitchFamily="2" charset="-122"/>
                          <a:cs typeface="+mn-cs"/>
                        </a:rPr>
                        <a:t>分析被测系统整体安全状况及对单元测评结果的修订情况</a:t>
                      </a: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1374">
                <a:tc>
                  <a:txBody>
                    <a:bodyPr/>
                    <a:lstStyle/>
                    <a:p>
                      <a:pPr indent="0" algn="just">
                        <a:spcAft>
                          <a:spcPts val="0"/>
                        </a:spcAft>
                        <a:tabLst>
                          <a:tab pos="1898015" algn="l"/>
                        </a:tabLst>
                      </a:pPr>
                      <a:r>
                        <a:rPr lang="zh-CN" sz="1100" kern="100" dirty="0">
                          <a:solidFill>
                            <a:schemeClr val="tx1"/>
                          </a:solidFill>
                          <a:effectLst/>
                          <a:latin typeface="Times New Roman" panose="02020603050405020304"/>
                          <a:ea typeface="宋体" panose="02010600030101010101" pitchFamily="2" charset="-122"/>
                          <a:cs typeface="+mn-cs"/>
                        </a:rPr>
                        <a:t>风险分析</a:t>
                      </a: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just">
                        <a:spcAft>
                          <a:spcPts val="0"/>
                        </a:spcAft>
                        <a:tabLst>
                          <a:tab pos="1898015" algn="l"/>
                        </a:tabLst>
                      </a:pPr>
                      <a:r>
                        <a:rPr lang="zh-CN" sz="1100" kern="100" dirty="0">
                          <a:solidFill>
                            <a:schemeClr val="tx1"/>
                          </a:solidFill>
                          <a:effectLst/>
                          <a:latin typeface="Times New Roman" panose="02020603050405020304"/>
                          <a:ea typeface="宋体" panose="02010600030101010101" pitchFamily="2" charset="-122"/>
                          <a:cs typeface="+mn-cs"/>
                        </a:rPr>
                        <a:t>等级测评报告的风险分析和评价部分</a:t>
                      </a: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just">
                        <a:spcAft>
                          <a:spcPts val="0"/>
                        </a:spcAft>
                        <a:tabLst>
                          <a:tab pos="1898015" algn="l"/>
                        </a:tabLst>
                      </a:pPr>
                      <a:r>
                        <a:rPr lang="zh-CN" sz="1100" kern="100" dirty="0">
                          <a:solidFill>
                            <a:schemeClr val="tx1"/>
                          </a:solidFill>
                          <a:effectLst/>
                          <a:latin typeface="Times New Roman" panose="02020603050405020304"/>
                          <a:ea typeface="宋体" panose="02010600030101010101" pitchFamily="2" charset="-122"/>
                          <a:cs typeface="+mn-cs"/>
                        </a:rPr>
                        <a:t>分析被测系统存在的风险情况。</a:t>
                      </a: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1374">
                <a:tc>
                  <a:txBody>
                    <a:bodyPr/>
                    <a:lstStyle/>
                    <a:p>
                      <a:pPr indent="0" algn="just">
                        <a:spcAft>
                          <a:spcPts val="0"/>
                        </a:spcAft>
                        <a:tabLst>
                          <a:tab pos="1898015" algn="l"/>
                        </a:tabLst>
                      </a:pPr>
                      <a:r>
                        <a:rPr lang="zh-CN" sz="1100" kern="100" dirty="0">
                          <a:solidFill>
                            <a:schemeClr val="tx1"/>
                          </a:solidFill>
                          <a:effectLst/>
                          <a:latin typeface="Times New Roman" panose="02020603050405020304"/>
                          <a:ea typeface="宋体" panose="02010600030101010101" pitchFamily="2" charset="-122"/>
                          <a:cs typeface="+mn-cs"/>
                        </a:rPr>
                        <a:t>等级测评结论形成</a:t>
                      </a: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just">
                        <a:spcAft>
                          <a:spcPts val="0"/>
                        </a:spcAft>
                        <a:tabLst>
                          <a:tab pos="1898015" algn="l"/>
                        </a:tabLst>
                      </a:pPr>
                      <a:r>
                        <a:rPr lang="zh-CN" sz="1100" kern="100" dirty="0">
                          <a:solidFill>
                            <a:schemeClr val="tx1"/>
                          </a:solidFill>
                          <a:effectLst/>
                          <a:latin typeface="Times New Roman" panose="02020603050405020304"/>
                          <a:ea typeface="宋体" panose="02010600030101010101" pitchFamily="2" charset="-122"/>
                          <a:cs typeface="+mn-cs"/>
                        </a:rPr>
                        <a:t>等级测评报告的等级测评结论部分</a:t>
                      </a: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spcAft>
                          <a:spcPts val="0"/>
                        </a:spcAft>
                        <a:tabLst>
                          <a:tab pos="1898015" algn="l"/>
                        </a:tabLst>
                      </a:pPr>
                      <a:r>
                        <a:rPr lang="zh-CN" sz="1100" kern="100" dirty="0">
                          <a:solidFill>
                            <a:schemeClr val="tx1"/>
                          </a:solidFill>
                          <a:effectLst/>
                          <a:latin typeface="Times New Roman" panose="02020603050405020304"/>
                          <a:ea typeface="宋体" panose="02010600030101010101" pitchFamily="2" charset="-122"/>
                          <a:cs typeface="+mn-cs"/>
                        </a:rPr>
                        <a:t>对测评结果进行分析，形成等级测评结论。</a:t>
                      </a: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28433">
                <a:tc>
                  <a:txBody>
                    <a:bodyPr/>
                    <a:lstStyle/>
                    <a:p>
                      <a:pPr indent="0" algn="just">
                        <a:spcAft>
                          <a:spcPts val="0"/>
                        </a:spcAft>
                        <a:tabLst>
                          <a:tab pos="1898015" algn="l"/>
                        </a:tabLst>
                      </a:pPr>
                      <a:r>
                        <a:rPr lang="en-US" sz="1100" kern="100" dirty="0">
                          <a:solidFill>
                            <a:schemeClr val="tx1"/>
                          </a:solidFill>
                          <a:effectLst/>
                          <a:latin typeface="Times New Roman" panose="02020603050405020304"/>
                          <a:ea typeface="宋体" panose="02010600030101010101" pitchFamily="2" charset="-122"/>
                          <a:cs typeface="+mn-cs"/>
                        </a:rPr>
                        <a:t> </a:t>
                      </a:r>
                      <a:r>
                        <a:rPr lang="zh-CN" sz="1100" kern="100" dirty="0" smtClean="0">
                          <a:solidFill>
                            <a:schemeClr val="tx1"/>
                          </a:solidFill>
                          <a:effectLst/>
                          <a:latin typeface="Times New Roman" panose="02020603050405020304"/>
                          <a:ea typeface="宋体" panose="02010600030101010101" pitchFamily="2" charset="-122"/>
                          <a:cs typeface="+mn-cs"/>
                        </a:rPr>
                        <a:t>测评</a:t>
                      </a:r>
                      <a:r>
                        <a:rPr lang="zh-CN" sz="1100" kern="100" dirty="0">
                          <a:solidFill>
                            <a:schemeClr val="tx1"/>
                          </a:solidFill>
                          <a:effectLst/>
                          <a:latin typeface="Times New Roman" panose="02020603050405020304"/>
                          <a:ea typeface="宋体" panose="02010600030101010101" pitchFamily="2" charset="-122"/>
                          <a:cs typeface="+mn-cs"/>
                        </a:rPr>
                        <a:t>报告编制</a:t>
                      </a: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spcAft>
                          <a:spcPts val="0"/>
                        </a:spcAft>
                        <a:tabLst>
                          <a:tab pos="1898015" algn="l"/>
                        </a:tabLst>
                      </a:pPr>
                      <a:r>
                        <a:rPr lang="zh-CN" sz="1100" kern="100" dirty="0" smtClean="0">
                          <a:solidFill>
                            <a:schemeClr val="tx1"/>
                          </a:solidFill>
                          <a:effectLst/>
                          <a:latin typeface="Times New Roman" panose="02020603050405020304"/>
                          <a:ea typeface="宋体" panose="02010600030101010101" pitchFamily="2" charset="-122"/>
                          <a:cs typeface="+mn-cs"/>
                        </a:rPr>
                        <a:t>等级</a:t>
                      </a:r>
                      <a:r>
                        <a:rPr lang="zh-CN" sz="1100" kern="100" dirty="0">
                          <a:solidFill>
                            <a:schemeClr val="tx1"/>
                          </a:solidFill>
                          <a:effectLst/>
                          <a:latin typeface="Times New Roman" panose="02020603050405020304"/>
                          <a:ea typeface="宋体" panose="02010600030101010101" pitchFamily="2" charset="-122"/>
                          <a:cs typeface="+mn-cs"/>
                        </a:rPr>
                        <a:t>测评报告</a:t>
                      </a: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0" algn="just">
                        <a:spcAft>
                          <a:spcPts val="0"/>
                        </a:spcAft>
                        <a:tabLst>
                          <a:tab pos="1898015" algn="l"/>
                        </a:tabLst>
                      </a:pPr>
                      <a:r>
                        <a:rPr lang="zh-CN" sz="1100" kern="100" dirty="0">
                          <a:solidFill>
                            <a:schemeClr val="tx1"/>
                          </a:solidFill>
                          <a:effectLst/>
                          <a:latin typeface="Times New Roman" panose="02020603050405020304"/>
                          <a:ea typeface="宋体" panose="02010600030101010101" pitchFamily="2" charset="-122"/>
                          <a:cs typeface="+mn-cs"/>
                        </a:rPr>
                        <a:t>单元测评记录和结果，单元测评结果汇总，整体测评过程及结果，风险分析过程及结果，等级测评结论，安全建设整改建议等。</a:t>
                      </a: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9459">
                                            <p:txEl>
                                              <p:pRg st="2" end="2"/>
                                            </p:txEl>
                                          </p:spTgt>
                                        </p:tgtEl>
                                        <p:attrNameLst>
                                          <p:attrName>style.visibility</p:attrName>
                                        </p:attrNameLst>
                                      </p:cBhvr>
                                      <p:to>
                                        <p:strVal val="visible"/>
                                      </p:to>
                                    </p:set>
                                    <p:animEffect transition="in" filter="fade">
                                      <p:cBhvr>
                                        <p:cTn id="10" dur="2000"/>
                                        <p:tgtEl>
                                          <p:spTgt spid="19459">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459">
                                            <p:txEl>
                                              <p:pRg st="3" end="3"/>
                                            </p:txEl>
                                          </p:spTgt>
                                        </p:tgtEl>
                                        <p:attrNameLst>
                                          <p:attrName>style.visibility</p:attrName>
                                        </p:attrNameLst>
                                      </p:cBhvr>
                                      <p:to>
                                        <p:strVal val="visible"/>
                                      </p:to>
                                    </p:set>
                                    <p:animEffect transition="in" filter="fade">
                                      <p:cBhvr>
                                        <p:cTn id="15" dur="2000"/>
                                        <p:tgtEl>
                                          <p:spTgt spid="194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信息安全等级保护与等级测评</a:t>
            </a:r>
          </a:p>
        </p:txBody>
      </p:sp>
      <p:sp>
        <p:nvSpPr>
          <p:cNvPr id="19459" name="内容占位符 2"/>
          <p:cNvSpPr>
            <a:spLocks noGrp="1" noChangeArrowheads="1"/>
          </p:cNvSpPr>
          <p:nvPr>
            <p:ph idx="1"/>
          </p:nvPr>
        </p:nvSpPr>
        <p:spPr>
          <a:xfrm>
            <a:off x="304800" y="1066800"/>
            <a:ext cx="8229600" cy="55626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Char char="Ø"/>
              <a:defRPr/>
            </a:pPr>
            <a:r>
              <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 </a:t>
            </a: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信息安全等级测评：</a:t>
            </a:r>
            <a:endParaRPr kumimoji="0" lang="en-US" altLang="zh-CN"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0" marR="0" lvl="1"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a:t>
            </a:r>
            <a:r>
              <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4</a:t>
            </a:r>
            <a:r>
              <a:rPr kumimoji="0" lang="zh-CN" altLang="en-US"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）分析与报告编制活动中双方的职责</a:t>
            </a:r>
            <a:endParaRPr kumimoji="0" lang="en-US" altLang="zh-CN" sz="28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FF0000"/>
                </a:solidFill>
                <a:effectLst/>
                <a:uLnTx/>
                <a:uFillTx/>
                <a:latin typeface="楷体_GB2312" pitchFamily="49" charset="-122"/>
                <a:ea typeface="楷体_GB2312" pitchFamily="49" charset="-122"/>
                <a:cs typeface="+mn-cs"/>
              </a:rPr>
              <a:t>测评机构职责：</a:t>
            </a: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a) </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分析并判定单项测评结果和整体测评结果。</a:t>
            </a: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b) </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分析评价被测系统存在的风险情况。</a:t>
            </a: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c) </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根据测评结果形成等级测评结论等职责</a:t>
            </a:r>
            <a:r>
              <a:rPr kumimoji="0" lang="zh-CN" altLang="en-US"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rPr>
              <a:t>。</a:t>
            </a:r>
            <a:endParaRPr kumimoji="0" lang="en-US" altLang="zh-CN" sz="24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endParaRP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endPar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endParaRP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FF0000"/>
                </a:solidFill>
                <a:effectLst/>
                <a:uLnTx/>
                <a:uFillTx/>
                <a:latin typeface="楷体_GB2312" pitchFamily="49" charset="-122"/>
                <a:ea typeface="楷体_GB2312" pitchFamily="49" charset="-122"/>
                <a:cs typeface="+mn-cs"/>
              </a:rPr>
              <a:t>测评委托单位职责：</a:t>
            </a:r>
          </a:p>
          <a:p>
            <a:pPr marL="400050" marR="0" lvl="2"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en-US" altLang="zh-CN"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a) </a:t>
            </a:r>
            <a:r>
              <a:rPr kumimoji="0" lang="zh-CN" altLang="en-US" sz="2400" b="1" i="0" u="none" strike="noStrike" kern="0" cap="none" spc="0" normalizeH="0" baseline="0" noProof="0" dirty="0">
                <a:ln>
                  <a:noFill/>
                </a:ln>
                <a:solidFill>
                  <a:srgbClr val="000000"/>
                </a:solidFill>
                <a:effectLst/>
                <a:uLnTx/>
                <a:uFillTx/>
                <a:latin typeface="楷体_GB2312" pitchFamily="49" charset="-122"/>
                <a:ea typeface="楷体_GB2312" pitchFamily="49" charset="-122"/>
                <a:cs typeface="+mn-cs"/>
              </a:rPr>
              <a:t>签收测评报告。</a:t>
            </a:r>
          </a:p>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endParaRPr kumimoji="0" lang="en-US" altLang="zh-CN" sz="2400" b="1" i="0" u="none" strike="noStrike" kern="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459">
                                            <p:txEl>
                                              <p:pRg st="1" end="1"/>
                                            </p:txEl>
                                          </p:spTgt>
                                        </p:tgtEl>
                                        <p:attrNameLst>
                                          <p:attrName>style.visibility</p:attrName>
                                        </p:attrNameLst>
                                      </p:cBhvr>
                                      <p:to>
                                        <p:strVal val="visible"/>
                                      </p:to>
                                    </p:set>
                                    <p:animEffect transition="in" filter="fade">
                                      <p:cBhvr>
                                        <p:cTn id="7" dur="2000"/>
                                        <p:tgtEl>
                                          <p:spTgt spid="19459">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9459">
                                            <p:txEl>
                                              <p:pRg st="2" end="2"/>
                                            </p:txEl>
                                          </p:spTgt>
                                        </p:tgtEl>
                                        <p:attrNameLst>
                                          <p:attrName>style.visibility</p:attrName>
                                        </p:attrNameLst>
                                      </p:cBhvr>
                                      <p:to>
                                        <p:strVal val="visible"/>
                                      </p:to>
                                    </p:set>
                                    <p:animEffect transition="in" filter="fade">
                                      <p:cBhvr>
                                        <p:cTn id="10" dur="2000"/>
                                        <p:tgtEl>
                                          <p:spTgt spid="19459">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9459">
                                            <p:txEl>
                                              <p:pRg st="3" end="3"/>
                                            </p:txEl>
                                          </p:spTgt>
                                        </p:tgtEl>
                                        <p:attrNameLst>
                                          <p:attrName>style.visibility</p:attrName>
                                        </p:attrNameLst>
                                      </p:cBhvr>
                                      <p:to>
                                        <p:strVal val="visible"/>
                                      </p:to>
                                    </p:set>
                                    <p:animEffect transition="in" filter="fade">
                                      <p:cBhvr>
                                        <p:cTn id="13" dur="2000"/>
                                        <p:tgtEl>
                                          <p:spTgt spid="19459">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9459">
                                            <p:txEl>
                                              <p:pRg st="4" end="4"/>
                                            </p:txEl>
                                          </p:spTgt>
                                        </p:tgtEl>
                                        <p:attrNameLst>
                                          <p:attrName>style.visibility</p:attrName>
                                        </p:attrNameLst>
                                      </p:cBhvr>
                                      <p:to>
                                        <p:strVal val="visible"/>
                                      </p:to>
                                    </p:set>
                                    <p:animEffect transition="in" filter="fade">
                                      <p:cBhvr>
                                        <p:cTn id="16" dur="2000"/>
                                        <p:tgtEl>
                                          <p:spTgt spid="19459">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9459">
                                            <p:txEl>
                                              <p:pRg st="5" end="5"/>
                                            </p:txEl>
                                          </p:spTgt>
                                        </p:tgtEl>
                                        <p:attrNameLst>
                                          <p:attrName>style.visibility</p:attrName>
                                        </p:attrNameLst>
                                      </p:cBhvr>
                                      <p:to>
                                        <p:strVal val="visible"/>
                                      </p:to>
                                    </p:set>
                                    <p:animEffect transition="in" filter="fade">
                                      <p:cBhvr>
                                        <p:cTn id="19" dur="2000"/>
                                        <p:tgtEl>
                                          <p:spTgt spid="19459">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9459">
                                            <p:txEl>
                                              <p:pRg st="7" end="7"/>
                                            </p:txEl>
                                          </p:spTgt>
                                        </p:tgtEl>
                                        <p:attrNameLst>
                                          <p:attrName>style.visibility</p:attrName>
                                        </p:attrNameLst>
                                      </p:cBhvr>
                                      <p:to>
                                        <p:strVal val="visible"/>
                                      </p:to>
                                    </p:set>
                                    <p:animEffect transition="in" filter="fade">
                                      <p:cBhvr>
                                        <p:cTn id="22" dur="2000"/>
                                        <p:tgtEl>
                                          <p:spTgt spid="19459">
                                            <p:txEl>
                                              <p:pRg st="7" end="7"/>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9459">
                                            <p:txEl>
                                              <p:pRg st="8" end="8"/>
                                            </p:txEl>
                                          </p:spTgt>
                                        </p:tgtEl>
                                        <p:attrNameLst>
                                          <p:attrName>style.visibility</p:attrName>
                                        </p:attrNameLst>
                                      </p:cBhvr>
                                      <p:to>
                                        <p:strVal val="visible"/>
                                      </p:to>
                                    </p:set>
                                    <p:animEffect transition="in" filter="fade">
                                      <p:cBhvr>
                                        <p:cTn id="25" dur="2000"/>
                                        <p:tgtEl>
                                          <p:spTgt spid="1945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1"/>
          <p:cNvSpPr>
            <a:spLocks noGrp="1"/>
          </p:cNvSpPr>
          <p:nvPr>
            <p:ph type="title"/>
          </p:nvPr>
        </p:nvSpPr>
        <p:spPr/>
        <p:txBody>
          <a:bodyPr vert="horz" wrap="square" lIns="91440" tIns="45720" rIns="91440" bIns="45720" anchor="ctr" anchorCtr="0"/>
          <a:lstStyle/>
          <a:p>
            <a:pPr eaLnBrk="1" hangingPunct="1"/>
            <a:r>
              <a:rPr lang="zh-CN" altLang="en-US" b="1" dirty="0">
                <a:ea typeface="宋体" panose="02010600030101010101" pitchFamily="2" charset="-122"/>
              </a:rPr>
              <a:t>等级测评实例</a:t>
            </a:r>
          </a:p>
        </p:txBody>
      </p:sp>
      <p:sp>
        <p:nvSpPr>
          <p:cNvPr id="92163" name="内容占位符 2"/>
          <p:cNvSpPr>
            <a:spLocks noGrp="1"/>
          </p:cNvSpPr>
          <p:nvPr>
            <p:ph idx="1"/>
          </p:nvPr>
        </p:nvSpPr>
        <p:spPr>
          <a:xfrm>
            <a:off x="304800" y="1143000"/>
            <a:ext cx="8229600" cy="5486400"/>
          </a:xfrm>
        </p:spPr>
        <p:txBody>
          <a:bodyPr vert="horz" wrap="square" lIns="91440" tIns="45720" rIns="91440" bIns="45720" anchor="t" anchorCtr="0"/>
          <a:lstStyle/>
          <a:p>
            <a:pPr eaLnBrk="1" hangingPunct="1">
              <a:spcAft>
                <a:spcPct val="20000"/>
              </a:spcAft>
              <a:buClr>
                <a:srgbClr val="AC04A0"/>
              </a:buClr>
            </a:pPr>
            <a:r>
              <a:rPr lang="en-US" altLang="zh-CN" b="1" dirty="0">
                <a:latin typeface="Times New Roman" panose="02020603050405020304" pitchFamily="18" charset="0"/>
                <a:ea typeface="楷体_GB2312" pitchFamily="49" charset="-122"/>
              </a:rPr>
              <a:t> </a:t>
            </a:r>
            <a:r>
              <a:rPr lang="zh-CN" altLang="en-US" b="1" dirty="0">
                <a:latin typeface="楷体_GB2312" pitchFamily="49" charset="-122"/>
                <a:ea typeface="楷体_GB2312" pitchFamily="49" charset="-122"/>
              </a:rPr>
              <a:t>略</a:t>
            </a:r>
            <a:endParaRPr lang="en-US" altLang="zh-CN" b="1" dirty="0">
              <a:latin typeface="楷体_GB2312" pitchFamily="49" charset="-122"/>
              <a:ea typeface="楷体_GB2312" pitchFamily="49" charset="-122"/>
            </a:endParaRPr>
          </a:p>
          <a:p>
            <a:pPr marL="457200" lvl="1" indent="0" eaLnBrk="1" hangingPunct="1">
              <a:buNone/>
            </a:pPr>
            <a:endParaRPr lang="en-US" altLang="zh-CN" sz="2400" b="1" dirty="0">
              <a:solidFill>
                <a:srgbClr val="000000"/>
              </a:solidFill>
              <a:latin typeface="Times New Roman" panose="02020603050405020304" pitchFamily="18" charset="0"/>
              <a:ea typeface="楷体_GB2312" pitchFamily="49" charset="-122"/>
            </a:endParaRPr>
          </a:p>
        </p:txBody>
      </p:sp>
    </p:spTree>
  </p:cSld>
  <p:clrMapOvr>
    <a:masterClrMapping/>
  </p:clrMapOvr>
  <p:transition>
    <p:random/>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1"/>
          <p:cNvSpPr>
            <a:spLocks noGrp="1"/>
          </p:cNvSpPr>
          <p:nvPr>
            <p:ph type="title"/>
          </p:nvPr>
        </p:nvSpPr>
        <p:spPr>
          <a:xfrm>
            <a:off x="838200" y="2590800"/>
            <a:ext cx="7010400" cy="563563"/>
          </a:xfrm>
        </p:spPr>
        <p:txBody>
          <a:bodyPr vert="horz" wrap="square" lIns="91440" tIns="45720" rIns="91440" bIns="45720" anchor="ctr" anchorCtr="0"/>
          <a:lstStyle/>
          <a:p>
            <a:r>
              <a:rPr lang="zh-CN" altLang="en-US" dirty="0">
                <a:ea typeface="宋体" panose="02010600030101010101" pitchFamily="2" charset="-122"/>
              </a:rPr>
              <a:t>思考题</a:t>
            </a:r>
          </a:p>
        </p:txBody>
      </p:sp>
      <p:sp>
        <p:nvSpPr>
          <p:cNvPr id="93187" name="内容占位符 2"/>
          <p:cNvSpPr>
            <a:spLocks noGrp="1"/>
          </p:cNvSpPr>
          <p:nvPr>
            <p:ph idx="1"/>
          </p:nvPr>
        </p:nvSpPr>
        <p:spPr>
          <a:xfrm>
            <a:off x="152400" y="1219200"/>
            <a:ext cx="8229600" cy="5105400"/>
          </a:xfrm>
        </p:spPr>
        <p:txBody>
          <a:bodyPr vert="horz" wrap="square" lIns="91440" tIns="45720" rIns="91440" bIns="45720" anchor="t" anchorCtr="0"/>
          <a:lstStyle/>
          <a:p>
            <a:pPr>
              <a:buNone/>
            </a:pPr>
            <a:endParaRPr lang="en-US" altLang="zh-CN" sz="3600" b="1" i="1" dirty="0">
              <a:solidFill>
                <a:srgbClr val="C00000"/>
              </a:solidFill>
              <a:latin typeface="楷体_GB2312" pitchFamily="49" charset="-122"/>
              <a:ea typeface="楷体_GB2312" pitchFamily="49" charset="-122"/>
            </a:endParaRPr>
          </a:p>
          <a:p>
            <a:pPr algn="ctr">
              <a:buNone/>
            </a:pPr>
            <a:r>
              <a:rPr lang="zh-CN" altLang="en-US" sz="9600" b="1" dirty="0">
                <a:solidFill>
                  <a:srgbClr val="C00000"/>
                </a:solidFill>
                <a:latin typeface="华文隶书" panose="02010800040101010101" pitchFamily="2" charset="-122"/>
                <a:ea typeface="华文隶书" panose="02010800040101010101" pitchFamily="2" charset="-122"/>
              </a:rPr>
              <a:t>谢谢</a:t>
            </a:r>
          </a:p>
        </p:txBody>
      </p:sp>
      <p:pic>
        <p:nvPicPr>
          <p:cNvPr id="93188" name="图片 1"/>
          <p:cNvPicPr>
            <a:picLocks noChangeAspect="1"/>
          </p:cNvPicPr>
          <p:nvPr/>
        </p:nvPicPr>
        <p:blipFill>
          <a:blip r:embed="rId2"/>
          <a:stretch>
            <a:fillRect/>
          </a:stretch>
        </p:blipFill>
        <p:spPr>
          <a:xfrm>
            <a:off x="3138488" y="3402013"/>
            <a:ext cx="2257425" cy="2247900"/>
          </a:xfrm>
          <a:prstGeom prst="rect">
            <a:avLst/>
          </a:prstGeom>
          <a:noFill/>
          <a:ln w="9525">
            <a:noFill/>
          </a:ln>
        </p:spPr>
      </p:pic>
    </p:spTree>
  </p:cSld>
  <p:clrMapOvr>
    <a:masterClrMapping/>
  </p:clrMapOvr>
  <p:transition>
    <p:random/>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lhMTA5NGU4YTQ5MmY0MGQzMGY2YTA2YzFlYzk1YmUifQ=="/>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efd3da50-20d8-4139-9795-8534c535b090}"/>
</p:tagLst>
</file>

<file path=ppt/theme/theme1.xml><?xml version="1.0" encoding="utf-8"?>
<a:theme xmlns:a="http://schemas.openxmlformats.org/drawingml/2006/main" name="默认设计模板">
  <a:themeElements>
    <a:clrScheme name="默认设计模板 1">
      <a:dk1>
        <a:srgbClr val="0D1259"/>
      </a:dk1>
      <a:lt1>
        <a:srgbClr val="FFFFFF"/>
      </a:lt1>
      <a:dk2>
        <a:srgbClr val="0E4AA2"/>
      </a:dk2>
      <a:lt2>
        <a:srgbClr val="C0C0C0"/>
      </a:lt2>
      <a:accent1>
        <a:srgbClr val="3191D3"/>
      </a:accent1>
      <a:accent2>
        <a:srgbClr val="81CFEB"/>
      </a:accent2>
      <a:accent3>
        <a:srgbClr val="FFFFFF"/>
      </a:accent3>
      <a:accent4>
        <a:srgbClr val="090E4B"/>
      </a:accent4>
      <a:accent5>
        <a:srgbClr val="ADC7E6"/>
      </a:accent5>
      <a:accent6>
        <a:srgbClr val="74BBD5"/>
      </a:accent6>
      <a:hlink>
        <a:srgbClr val="6FB7B7"/>
      </a:hlink>
      <a:folHlink>
        <a:srgbClr val="DCCA42"/>
      </a:folHlink>
    </a:clrScheme>
    <a:fontScheme name="默认设计模板">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0" fontAlgn="base" latinLnBrk="0" hangingPunct="0">
          <a:lnSpc>
            <a:spcPct val="100000"/>
          </a:lnSpc>
          <a:spcBef>
            <a:spcPct val="50000"/>
          </a:spcBef>
          <a:spcAft>
            <a:spcPct val="0"/>
          </a:spcAft>
          <a:buClrTx/>
          <a:buSzTx/>
          <a:buFontTx/>
          <a:buNone/>
          <a:defRPr kumimoji="0" lang="en-US" sz="26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0" fontAlgn="base" latinLnBrk="0" hangingPunct="0">
          <a:lnSpc>
            <a:spcPct val="100000"/>
          </a:lnSpc>
          <a:spcBef>
            <a:spcPct val="50000"/>
          </a:spcBef>
          <a:spcAft>
            <a:spcPct val="0"/>
          </a:spcAft>
          <a:buClrTx/>
          <a:buSzTx/>
          <a:buFontTx/>
          <a:buNone/>
          <a:defRPr kumimoji="0" lang="en-US" sz="26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D1259"/>
        </a:dk1>
        <a:lt1>
          <a:srgbClr val="FFFFFF"/>
        </a:lt1>
        <a:dk2>
          <a:srgbClr val="0E4AA2"/>
        </a:dk2>
        <a:lt2>
          <a:srgbClr val="C0C0C0"/>
        </a:lt2>
        <a:accent1>
          <a:srgbClr val="3191D3"/>
        </a:accent1>
        <a:accent2>
          <a:srgbClr val="81CFEB"/>
        </a:accent2>
        <a:accent3>
          <a:srgbClr val="FFFFFF"/>
        </a:accent3>
        <a:accent4>
          <a:srgbClr val="090E4B"/>
        </a:accent4>
        <a:accent5>
          <a:srgbClr val="ADC7E6"/>
        </a:accent5>
        <a:accent6>
          <a:srgbClr val="74BBD5"/>
        </a:accent6>
        <a:hlink>
          <a:srgbClr val="6FB7B7"/>
        </a:hlink>
        <a:folHlink>
          <a:srgbClr val="DCCA42"/>
        </a:folHlink>
      </a:clrScheme>
      <a:clrMap bg1="lt1" tx1="dk1" bg2="lt2" tx2="dk2" accent1="accent1" accent2="accent2" accent3="accent3" accent4="accent4" accent5="accent5" accent6="accent6" hlink="hlink" folHlink="folHlink"/>
    </a:extraClrScheme>
    <a:extraClrScheme>
      <a:clrScheme name="默认设计模板 2">
        <a:dk1>
          <a:srgbClr val="542F81"/>
        </a:dk1>
        <a:lt1>
          <a:srgbClr val="FFFFFF"/>
        </a:lt1>
        <a:dk2>
          <a:srgbClr val="0E4AA2"/>
        </a:dk2>
        <a:lt2>
          <a:srgbClr val="C0C0C0"/>
        </a:lt2>
        <a:accent1>
          <a:srgbClr val="2B59D9"/>
        </a:accent1>
        <a:accent2>
          <a:srgbClr val="EFA441"/>
        </a:accent2>
        <a:accent3>
          <a:srgbClr val="FFFFFF"/>
        </a:accent3>
        <a:accent4>
          <a:srgbClr val="46276D"/>
        </a:accent4>
        <a:accent5>
          <a:srgbClr val="ACB5E9"/>
        </a:accent5>
        <a:accent6>
          <a:srgbClr val="D9943A"/>
        </a:accent6>
        <a:hlink>
          <a:srgbClr val="63C398"/>
        </a:hlink>
        <a:folHlink>
          <a:srgbClr val="AAC856"/>
        </a:folHlink>
      </a:clrScheme>
      <a:clrMap bg1="lt1" tx1="dk1" bg2="lt2" tx2="dk2" accent1="accent1" accent2="accent2" accent3="accent3" accent4="accent4" accent5="accent5" accent6="accent6" hlink="hlink" folHlink="folHlink"/>
    </a:extraClrScheme>
    <a:extraClrScheme>
      <a:clrScheme name="默认设计模板 3">
        <a:dk1>
          <a:srgbClr val="0E3558"/>
        </a:dk1>
        <a:lt1>
          <a:srgbClr val="FFFFFF"/>
        </a:lt1>
        <a:dk2>
          <a:srgbClr val="006666"/>
        </a:dk2>
        <a:lt2>
          <a:srgbClr val="969696"/>
        </a:lt2>
        <a:accent1>
          <a:srgbClr val="E3BE05"/>
        </a:accent1>
        <a:accent2>
          <a:srgbClr val="4BC77A"/>
        </a:accent2>
        <a:accent3>
          <a:srgbClr val="FFFFFF"/>
        </a:accent3>
        <a:accent4>
          <a:srgbClr val="0A2C4A"/>
        </a:accent4>
        <a:accent5>
          <a:srgbClr val="EFDBAA"/>
        </a:accent5>
        <a:accent6>
          <a:srgbClr val="43B46E"/>
        </a:accent6>
        <a:hlink>
          <a:srgbClr val="CC3300"/>
        </a:hlink>
        <a:folHlink>
          <a:srgbClr val="3333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6132</Words>
  <Application>Microsoft Office PowerPoint</Application>
  <PresentationFormat>全屏显示(4:3)</PresentationFormat>
  <Paragraphs>778</Paragraphs>
  <Slides>89</Slides>
  <Notes>1</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89</vt:i4>
      </vt:variant>
    </vt:vector>
  </HeadingPairs>
  <TitlesOfParts>
    <vt:vector size="100" baseType="lpstr">
      <vt:lpstr>方正粗黑宋简体</vt:lpstr>
      <vt:lpstr>黑体</vt:lpstr>
      <vt:lpstr>华文楷体</vt:lpstr>
      <vt:lpstr>华文隶书</vt:lpstr>
      <vt:lpstr>楷体_GB2312</vt:lpstr>
      <vt:lpstr>宋体</vt:lpstr>
      <vt:lpstr>Arial</vt:lpstr>
      <vt:lpstr>Times New Roman</vt:lpstr>
      <vt:lpstr>Wingdings</vt:lpstr>
      <vt:lpstr>默认设计模板</vt:lpstr>
      <vt:lpstr>Photoshop.Image.7</vt:lpstr>
      <vt:lpstr>第九章 信息系统安全测评</vt:lpstr>
      <vt:lpstr>本讲内容</vt:lpstr>
      <vt:lpstr>概述</vt:lpstr>
      <vt:lpstr>信息系统安全测评原则</vt:lpstr>
      <vt:lpstr>信息系统安全等级测评要求</vt:lpstr>
      <vt:lpstr>信息系统安全等级测评要求</vt:lpstr>
      <vt:lpstr>信息系统安全等级测评要求</vt:lpstr>
      <vt:lpstr>信息系统安全等级测评要求</vt:lpstr>
      <vt:lpstr>信息系统安全等级测评要求</vt:lpstr>
      <vt:lpstr>信息系统安全等级测评要求</vt:lpstr>
      <vt:lpstr>信息系统安全等级测评要求</vt:lpstr>
      <vt:lpstr>信息系统安全等级测评要求</vt:lpstr>
      <vt:lpstr>信息系统安全等级测评要求</vt:lpstr>
      <vt:lpstr>信息系统安全等级测评要求</vt:lpstr>
      <vt:lpstr>信息系统安全等级测评要求</vt:lpstr>
      <vt:lpstr>信息系统安全等级测评要求</vt:lpstr>
      <vt:lpstr>信息系统安全等级测评要求</vt:lpstr>
      <vt:lpstr>信息系统安全等级测评要求</vt:lpstr>
      <vt:lpstr>信息系统安全等级测评要求</vt:lpstr>
      <vt:lpstr>信息系统安全等级测评要求</vt:lpstr>
      <vt:lpstr>信息系统安全等级测评要求</vt:lpstr>
      <vt:lpstr>信息系统安全等级测评要求</vt:lpstr>
      <vt:lpstr>信息系统安全等级测评要求</vt:lpstr>
      <vt:lpstr>信息系统安全等级测评要求</vt:lpstr>
      <vt:lpstr>信息系统安全等级测评要求</vt:lpstr>
      <vt:lpstr>信息系统安全等级测评要求</vt:lpstr>
      <vt:lpstr>信息系统安全等级测评要求</vt:lpstr>
      <vt:lpstr>信息系统安全等级测评要求</vt:lpstr>
      <vt:lpstr>9.3信息系统安全测评流程</vt:lpstr>
      <vt:lpstr>9.3信息系统安全测评流程</vt:lpstr>
      <vt:lpstr>信息系统安全测评流程</vt:lpstr>
      <vt:lpstr>信息系统安全测评流程</vt:lpstr>
      <vt:lpstr>信息系统安全测评流程</vt:lpstr>
      <vt:lpstr>9.4信息系统安全管理测评</vt:lpstr>
      <vt:lpstr>信息系统安全管理测评</vt:lpstr>
      <vt:lpstr>信息系统安全管理测评</vt:lpstr>
      <vt:lpstr>信息系统安全管理测评</vt:lpstr>
      <vt:lpstr>信息系统安全管理测评</vt:lpstr>
      <vt:lpstr>信息系统安全管理测评</vt:lpstr>
      <vt:lpstr>信息系统安全管理测评</vt:lpstr>
      <vt:lpstr>信息系统安全测评流程</vt:lpstr>
      <vt:lpstr>信息系统安全测评流程</vt:lpstr>
      <vt:lpstr>信息系统安全管理测评</vt:lpstr>
      <vt:lpstr>信息系统安全管理测评</vt:lpstr>
      <vt:lpstr>信息系统安全管理测评</vt:lpstr>
      <vt:lpstr>信息系统安全管理测评</vt:lpstr>
      <vt:lpstr>信息系统安全管理测评</vt:lpstr>
      <vt:lpstr>信息系统安全管理测评</vt:lpstr>
      <vt:lpstr>信息系统安全管理测评</vt:lpstr>
      <vt:lpstr>信息系统安全管理测评</vt:lpstr>
      <vt:lpstr>信息系统安全管理测评</vt:lpstr>
      <vt:lpstr>信息系统安全管理测评</vt:lpstr>
      <vt:lpstr>信息系统安全管理测评</vt:lpstr>
      <vt:lpstr>信息系统安全管理测评</vt:lpstr>
      <vt:lpstr>9.5信息安全等级保护与等级测评</vt:lpstr>
      <vt:lpstr>信息安全等级保护与等级测评</vt:lpstr>
      <vt:lpstr>信息安全等级保护与等级测评</vt:lpstr>
      <vt:lpstr>信息安全等级保护与等级测评</vt:lpstr>
      <vt:lpstr>信息安全等级保护与等级测评</vt:lpstr>
      <vt:lpstr>信息安全等级保护与等级测评</vt:lpstr>
      <vt:lpstr>信息安全等级保护与等级测评</vt:lpstr>
      <vt:lpstr>信息安全等级保护与等级测评</vt:lpstr>
      <vt:lpstr>信息安全等级保护与等级测评</vt:lpstr>
      <vt:lpstr>信息安全等级保护与等级测评</vt:lpstr>
      <vt:lpstr>信息安全等级保护与等级测评</vt:lpstr>
      <vt:lpstr>信息安全等级保护与等级测评</vt:lpstr>
      <vt:lpstr>信息安全等级保护与等级测评</vt:lpstr>
      <vt:lpstr>信息安全等级保护与等级测评</vt:lpstr>
      <vt:lpstr>信息安全等级保护与等级测评</vt:lpstr>
      <vt:lpstr>信息安全等级保护与等级测评</vt:lpstr>
      <vt:lpstr>信息安全等级保护与等级测评</vt:lpstr>
      <vt:lpstr>信息安全等级保护与等级测评</vt:lpstr>
      <vt:lpstr>信息安全等级保护与等级测评</vt:lpstr>
      <vt:lpstr>信息安全等级保护与等级测评</vt:lpstr>
      <vt:lpstr>信息安全等级保护与等级测评</vt:lpstr>
      <vt:lpstr>信息安全等级保护与等级测评</vt:lpstr>
      <vt:lpstr>信息安全等级保护与等级测评</vt:lpstr>
      <vt:lpstr>信息安全等级保护与等级测评</vt:lpstr>
      <vt:lpstr>信息安全等级保护与等级测评</vt:lpstr>
      <vt:lpstr>信息安全等级保护与等级测评</vt:lpstr>
      <vt:lpstr>信息安全等级保护与等级测评</vt:lpstr>
      <vt:lpstr>信息安全等级保护与等级测评</vt:lpstr>
      <vt:lpstr>信息安全等级保护与等级测评</vt:lpstr>
      <vt:lpstr>信息安全等级保护与等级测评</vt:lpstr>
      <vt:lpstr>信息安全等级保护与等级测评</vt:lpstr>
      <vt:lpstr>信息安全等级保护与等级测评</vt:lpstr>
      <vt:lpstr>信息安全等级保护与等级测评</vt:lpstr>
      <vt:lpstr>等级测评实例</vt:lpstr>
      <vt:lpstr>思考题</vt:lpstr>
    </vt:vector>
  </TitlesOfParts>
  <Company>Guilddesign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FengYan</dc:creator>
  <cp:lastModifiedBy>1363719767@qq.com</cp:lastModifiedBy>
  <cp:revision>1049</cp:revision>
  <dcterms:created xsi:type="dcterms:W3CDTF">2004-07-21T02:43:00Z</dcterms:created>
  <dcterms:modified xsi:type="dcterms:W3CDTF">2023-05-17T15:06:59Z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1D9066992BE1424AA1CD812B0F8FF72B_12</vt:lpwstr>
  </property>
</Properties>
</file>