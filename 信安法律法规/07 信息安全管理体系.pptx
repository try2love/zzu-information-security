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702" r:id="rId2"/>
    <p:sldId id="467" r:id="rId3"/>
    <p:sldId id="678" r:id="rId4"/>
    <p:sldId id="645" r:id="rId5"/>
    <p:sldId id="646" r:id="rId6"/>
    <p:sldId id="712" r:id="rId7"/>
    <p:sldId id="650" r:id="rId8"/>
    <p:sldId id="651" r:id="rId9"/>
    <p:sldId id="703" r:id="rId10"/>
    <p:sldId id="699" r:id="rId11"/>
    <p:sldId id="652" r:id="rId12"/>
    <p:sldId id="695" r:id="rId13"/>
    <p:sldId id="696" r:id="rId14"/>
    <p:sldId id="697" r:id="rId15"/>
    <p:sldId id="698" r:id="rId16"/>
    <p:sldId id="654" r:id="rId17"/>
    <p:sldId id="704" r:id="rId18"/>
    <p:sldId id="656" r:id="rId19"/>
    <p:sldId id="657" r:id="rId20"/>
    <p:sldId id="677" r:id="rId21"/>
    <p:sldId id="659" r:id="rId22"/>
    <p:sldId id="700" r:id="rId23"/>
    <p:sldId id="660" r:id="rId24"/>
    <p:sldId id="661" r:id="rId25"/>
    <p:sldId id="663" r:id="rId26"/>
    <p:sldId id="705" r:id="rId27"/>
    <p:sldId id="706" r:id="rId28"/>
    <p:sldId id="707" r:id="rId29"/>
    <p:sldId id="664" r:id="rId30"/>
    <p:sldId id="662" r:id="rId31"/>
    <p:sldId id="708" r:id="rId32"/>
    <p:sldId id="713" r:id="rId33"/>
    <p:sldId id="666" r:id="rId34"/>
    <p:sldId id="681" r:id="rId35"/>
    <p:sldId id="682" r:id="rId36"/>
    <p:sldId id="683" r:id="rId37"/>
    <p:sldId id="684" r:id="rId38"/>
    <p:sldId id="685" r:id="rId39"/>
    <p:sldId id="686" r:id="rId40"/>
    <p:sldId id="673" r:id="rId41"/>
    <p:sldId id="687" r:id="rId42"/>
    <p:sldId id="688" r:id="rId43"/>
    <p:sldId id="689" r:id="rId44"/>
    <p:sldId id="690" r:id="rId45"/>
    <p:sldId id="691" r:id="rId46"/>
    <p:sldId id="669" r:id="rId47"/>
    <p:sldId id="692" r:id="rId48"/>
    <p:sldId id="693" r:id="rId49"/>
    <p:sldId id="694" r:id="rId50"/>
    <p:sldId id="609" r:id="rId51"/>
    <p:sldId id="714" r:id="rId52"/>
    <p:sldId id="674" r:id="rId53"/>
    <p:sldId id="675" r:id="rId54"/>
    <p:sldId id="701" r:id="rId55"/>
    <p:sldId id="711" r:id="rId56"/>
    <p:sldId id="710" r:id="rId57"/>
    <p:sldId id="715" r:id="rId58"/>
    <p:sldId id="709" r:id="rId59"/>
    <p:sldId id="676" r:id="rId60"/>
  </p:sldIdLst>
  <p:sldSz cx="9144000" cy="6858000" type="screen4x3"/>
  <p:notesSz cx="6858000" cy="9144000"/>
  <p:custDataLst>
    <p:tags r:id="rId62"/>
  </p:custDataLst>
  <p:defaultTextStyle>
    <a:defPPr>
      <a:defRPr lang="en-US"/>
    </a:defPPr>
    <a:lvl1pPr marL="0" lvl="0"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C3399"/>
    <a:srgbClr val="CC6600"/>
    <a:srgbClr val="FFFF66"/>
    <a:srgbClr val="FFFFCC"/>
    <a:srgbClr val="00CC99"/>
    <a:srgbClr val="97D7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58"/>
    <p:restoredTop sz="99261"/>
  </p:normalViewPr>
  <p:slideViewPr>
    <p:cSldViewPr showGuides="1">
      <p:cViewPr varScale="1">
        <p:scale>
          <a:sx n="66" d="100"/>
          <a:sy n="66" d="100"/>
        </p:scale>
        <p:origin x="1224"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a:solidFill>
                  <a:schemeClr val="tx1"/>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49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125" name="Rectangle 5"/>
          <p:cNvSpPr>
            <a:spLocks noGrp="1" noChangeArrowheads="1"/>
          </p:cNvSpPr>
          <p:nvPr>
            <p:ph type="body" sz="quarter" idx="4294967295"/>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60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solidFill>
                  <a:schemeClr val="tx1"/>
                </a:solidFill>
                <a:latin typeface="Arial" panose="020B0604020202020204" pitchFamily="34" charset="0"/>
              </a:rPr>
              <a:t>‹#›</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63032214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6451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Arial" panose="020B0604020202020204" pitchFamily="34" charset="0"/>
              </a:rPr>
              <a:t>2</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149277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ln/>
        </p:spPr>
      </p:sp>
      <p:sp>
        <p:nvSpPr>
          <p:cNvPr id="65539"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6554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Arial" panose="020B0604020202020204" pitchFamily="34" charset="0"/>
              </a:rPr>
              <a:t>6</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1573245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p:spPr>
      </p:sp>
      <p:sp>
        <p:nvSpPr>
          <p:cNvPr id="66563"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6656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Arial" panose="020B0604020202020204" pitchFamily="34" charset="0"/>
              </a:rPr>
              <a:t>32</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1075594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a:ln/>
        </p:spPr>
      </p:sp>
      <p:sp>
        <p:nvSpPr>
          <p:cNvPr id="67587"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6758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Arial" panose="020B0604020202020204" pitchFamily="34" charset="0"/>
              </a:rPr>
              <a:t>51</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538850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a:ln/>
        </p:spPr>
      </p:sp>
      <p:sp>
        <p:nvSpPr>
          <p:cNvPr id="68611" name="备注占位符 2"/>
          <p:cNvSpPr>
            <a:spLocks noGrp="1"/>
          </p:cNvSpPr>
          <p:nvPr>
            <p:ph type="body"/>
          </p:nvPr>
        </p:nvSpPr>
        <p:spPr>
          <a:ln/>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6861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Arial" panose="020B0604020202020204" pitchFamily="34" charset="0"/>
              </a:rPr>
              <a:t>57</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879917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2"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51"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4098" r:id="rId3" imgW="13004800" imgH="4572000" progId="Photoshop.Image.7">
                  <p:embed/>
                </p:oleObj>
              </mc:Choice>
              <mc:Fallback>
                <p:oleObj r:id="rId3" imgW="13004800" imgH="4572000" progId="Photoshop.Image.7">
                  <p:embed/>
                  <p:pic>
                    <p:nvPicPr>
                      <p:cNvPr id="0" name="图片 3075"/>
                      <p:cNvPicPr/>
                      <p:nvPr/>
                    </p:nvPicPr>
                    <p:blipFill>
                      <a:blip r:embed="rId4"/>
                      <a:stretch>
                        <a:fillRect/>
                      </a:stretch>
                    </p:blipFill>
                    <p:spPr>
                      <a:xfrm>
                        <a:off x="0" y="0"/>
                        <a:ext cx="9144000" cy="2622550"/>
                      </a:xfrm>
                      <a:prstGeom prst="rect">
                        <a:avLst/>
                      </a:prstGeom>
                      <a:noFill/>
                      <a:ln w="38100">
                        <a:noFill/>
                        <a:miter/>
                      </a:ln>
                    </p:spPr>
                  </p:pic>
                </p:oleObj>
              </mc:Fallback>
            </mc:AlternateContent>
          </a:graphicData>
        </a:graphic>
      </p:graphicFrame>
      <p:sp>
        <p:nvSpPr>
          <p:cNvPr id="14"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3" name="Group 16"/>
          <p:cNvGrpSpPr/>
          <p:nvPr/>
        </p:nvGrpSpPr>
        <p:grpSpPr>
          <a:xfrm>
            <a:off x="4114800" y="5838825"/>
            <a:ext cx="1079500" cy="633413"/>
            <a:chOff x="2680" y="3678"/>
            <a:chExt cx="680" cy="399"/>
          </a:xfrm>
        </p:grpSpPr>
        <p:sp>
          <p:nvSpPr>
            <p:cNvPr id="16" name="Text Box 14"/>
            <p:cNvSpPr txBox="1">
              <a:spLocks noChangeArrowheads="1"/>
            </p:cNvSpPr>
            <p:nvPr/>
          </p:nvSpPr>
          <p:spPr bwMode="gray">
            <a:xfrm>
              <a:off x="2680" y="3789"/>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LOGO</a:t>
              </a:r>
            </a:p>
          </p:txBody>
        </p:sp>
        <p:sp>
          <p:nvSpPr>
            <p:cNvPr id="17" name="AutoShape 15"/>
            <p:cNvSpPr>
              <a:spLocks noChangeArrowheads="1"/>
            </p:cNvSpPr>
            <p:nvPr/>
          </p:nvSpPr>
          <p:spPr bwMode="gray">
            <a:xfrm rot="5400000">
              <a:off x="2928" y="3493"/>
              <a:ext cx="172" cy="54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8" name="AutoShape 11"/>
          <p:cNvSpPr>
            <a:spLocks noChangeArrowheads="1"/>
          </p:cNvSpPr>
          <p:nvPr/>
        </p:nvSpPr>
        <p:spPr bwMode="gray">
          <a:xfrm>
            <a:off x="685800" y="3429000"/>
            <a:ext cx="7620000" cy="685800"/>
          </a:xfrm>
          <a:prstGeom prst="roundRect">
            <a:avLst>
              <a:gd name="adj" fmla="val 38449"/>
            </a:avLst>
          </a:prstGeom>
          <a:solidFill>
            <a:schemeClr val="bg1"/>
          </a:soli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r>
              <a:rPr lang="en-US" altLang="zh-CN" noProof="1"/>
              <a:t>Click to edit Master subtitle style</a:t>
            </a:r>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r>
              <a:rPr lang="en-US" altLang="zh-CN" noProof="1"/>
              <a:t>Click to edit Master title style</a:t>
            </a:r>
          </a:p>
        </p:txBody>
      </p:sp>
      <p:sp>
        <p:nvSpPr>
          <p:cNvPr id="19" name="Rectangle 4"/>
          <p:cNvSpPr>
            <a:spLocks noGrp="1" noChangeArrowheads="1"/>
          </p:cNvSpPr>
          <p:nvPr>
            <p:ph type="dt" sz="half" idx="2"/>
          </p:nvPr>
        </p:nvSpPr>
        <p:spPr bwMode="auto">
          <a:xfrm>
            <a:off x="457200" y="6477000"/>
            <a:ext cx="2133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 name="Rectangle 5"/>
          <p:cNvSpPr>
            <a:spLocks noGrp="1" noChangeArrowheads="1"/>
          </p:cNvSpPr>
          <p:nvPr>
            <p:ph type="ftr" sz="quarter" idx="3"/>
          </p:nvPr>
        </p:nvSpPr>
        <p:spPr bwMode="auto">
          <a:xfrm>
            <a:off x="3124200" y="6477000"/>
            <a:ext cx="2895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 name="Rectangle 6"/>
          <p:cNvSpPr>
            <a:spLocks noGrp="1" noChangeArrowheads="1"/>
          </p:cNvSpPr>
          <p:nvPr>
            <p:ph type="sldNum" sz="quarter" idx="4"/>
          </p:nvPr>
        </p:nvSpPr>
        <p:spPr bwMode="auto">
          <a:xfrm>
            <a:off x="6553200" y="6477000"/>
            <a:ext cx="2133600" cy="244475"/>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zh-CN" altLang="en-US" sz="1200" dirty="0">
                <a:latin typeface="Arial" panose="020B0604020202020204" pitchFamily="34" charset="0"/>
              </a:rPr>
              <a:t>‹#›</a:t>
            </a:fld>
            <a:endParaRPr lang="zh-CN" altLang="en-US" sz="1200" dirty="0">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374650"/>
            <a:ext cx="6019800" cy="594995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080" r:id="rId14" imgW="13004800" imgH="4572000" progId="Photoshop.Image.7">
                  <p:embed/>
                </p:oleObj>
              </mc:Choice>
              <mc:Fallback>
                <p:oleObj r:id="rId14" imgW="13004800" imgH="4572000" progId="Photoshop.Image.7">
                  <p:embed/>
                  <p:pic>
                    <p:nvPicPr>
                      <p:cNvPr id="0" name="图片 3076"/>
                      <p:cNvPicPr/>
                      <p:nvPr/>
                    </p:nvPicPr>
                    <p:blipFill>
                      <a:blip r:embed="rId15"/>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hangingPunct="1">
              <a:buNone/>
            </a:pPr>
            <a:fld id="{9A0DB2DC-4C9A-4742-B13C-FB6460FD3503}" type="slidenum">
              <a:rPr lang="zh-CN" altLang="en-US" dirty="0"/>
              <a:t>‹#›</a:t>
            </a:fld>
            <a:endParaRPr lang="zh-CN" altLang="en-US" dirty="0">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nchorCtr="0"/>
          <a:lstStyle/>
          <a:p>
            <a:pPr lvl="0"/>
            <a:r>
              <a:rPr lang="en-US" altLang="zh-CN" dirty="0"/>
              <a:t>Click to edit Master title style</a:t>
            </a:r>
          </a:p>
        </p:txBody>
      </p:sp>
      <p:pic>
        <p:nvPicPr>
          <p:cNvPr id="1035" name="图片 3"/>
          <p:cNvPicPr>
            <a:picLocks noChangeAspect="1"/>
          </p:cNvPicPr>
          <p:nvPr userDrawn="1"/>
        </p:nvPicPr>
        <p:blipFill>
          <a:blip r:embed="rId16"/>
          <a:stretch>
            <a:fillRect/>
          </a:stretch>
        </p:blipFill>
        <p:spPr>
          <a:xfrm>
            <a:off x="8029575" y="84138"/>
            <a:ext cx="1114425" cy="11144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a:xfrm>
            <a:off x="762000" y="3429000"/>
            <a:ext cx="7620000" cy="682625"/>
          </a:xfrm>
          <a:ln/>
        </p:spPr>
        <p:txBody>
          <a:bodyPr vert="horz" wrap="square" lIns="91440" tIns="45720" rIns="91440" bIns="45720" anchor="ctr" anchorCtr="0"/>
          <a:lstStyle/>
          <a:p>
            <a:pPr marL="342900" indent="-342900" eaLnBrk="1" hangingPunct="1">
              <a:spcAft>
                <a:spcPct val="20000"/>
              </a:spcAft>
              <a:buClrTx/>
              <a:buSzTx/>
              <a:buFontTx/>
            </a:pPr>
            <a:r>
              <a:rPr lang="zh-CN" altLang="zh-CN" sz="2800" dirty="0">
                <a:latin typeface="+mj-lt"/>
                <a:ea typeface="宋体" panose="02010600030101010101" pitchFamily="2" charset="-122"/>
                <a:cs typeface="+mj-cs"/>
              </a:rPr>
              <a:t>第</a:t>
            </a:r>
            <a:r>
              <a:rPr lang="zh-CN" altLang="en-US" sz="2800" dirty="0">
                <a:latin typeface="+mj-lt"/>
                <a:ea typeface="宋体" panose="02010600030101010101" pitchFamily="2" charset="-122"/>
                <a:cs typeface="+mj-cs"/>
              </a:rPr>
              <a:t>七</a:t>
            </a:r>
            <a:r>
              <a:rPr lang="zh-CN" altLang="zh-CN" sz="2800" dirty="0">
                <a:latin typeface="+mj-lt"/>
                <a:ea typeface="宋体" panose="02010600030101010101" pitchFamily="2" charset="-122"/>
                <a:cs typeface="+mj-cs"/>
              </a:rPr>
              <a:t>章</a:t>
            </a:r>
            <a:r>
              <a:rPr lang="en-US" altLang="zh-CN" sz="2800" dirty="0">
                <a:latin typeface="+mj-lt"/>
                <a:ea typeface="宋体" panose="02010600030101010101" pitchFamily="2" charset="-122"/>
                <a:cs typeface="+mj-cs"/>
              </a:rPr>
              <a:t> </a:t>
            </a:r>
            <a:r>
              <a:rPr lang="zh-CN" altLang="zh-CN" sz="2800" dirty="0">
                <a:latin typeface="+mj-lt"/>
                <a:ea typeface="宋体" panose="02010600030101010101" pitchFamily="2" charset="-122"/>
                <a:cs typeface="+mj-cs"/>
              </a:rPr>
              <a:t>信息安全管理</a:t>
            </a:r>
            <a:r>
              <a:rPr lang="zh-CN" altLang="en-US" sz="2800" dirty="0">
                <a:latin typeface="+mj-lt"/>
                <a:ea typeface="宋体" panose="02010600030101010101" pitchFamily="2" charset="-122"/>
                <a:cs typeface="+mj-cs"/>
              </a:rPr>
              <a:t>体系</a:t>
            </a:r>
            <a:endParaRPr lang="en-US" altLang="zh-CN" sz="2800" b="0" dirty="0">
              <a:solidFill>
                <a:schemeClr val="tx2"/>
              </a:solidFill>
              <a:latin typeface="+mj-lt"/>
              <a:ea typeface="宋体" panose="02010600030101010101" pitchFamily="2" charset="-122"/>
              <a:cs typeface="+mj-cs"/>
            </a:endParaRPr>
          </a:p>
        </p:txBody>
      </p:sp>
      <p:sp>
        <p:nvSpPr>
          <p:cNvPr id="3075" name="Rectangle 3"/>
          <p:cNvSpPr>
            <a:spLocks noGrp="1"/>
          </p:cNvSpPr>
          <p:nvPr>
            <p:ph type="subTitle" idx="1"/>
          </p:nvPr>
        </p:nvSpPr>
        <p:spPr>
          <a:xfrm>
            <a:off x="920750" y="2743200"/>
            <a:ext cx="7304088" cy="574675"/>
          </a:xfrm>
          <a:ln/>
        </p:spPr>
        <p:txBody>
          <a:bodyPr vert="horz" wrap="square" lIns="91440" tIns="45720" rIns="91440" bIns="45720" anchor="t" anchorCtr="0"/>
          <a:lstStyle/>
          <a:p>
            <a:pPr eaLnBrk="1" hangingPunct="1">
              <a:lnSpc>
                <a:spcPct val="90000"/>
              </a:lnSpc>
              <a:buSzTx/>
            </a:pPr>
            <a:r>
              <a:rPr lang="zh-CN" altLang="en-US" sz="3600" dirty="0">
                <a:latin typeface="黑体" panose="02010609060101010101" pitchFamily="49" charset="-122"/>
                <a:ea typeface="黑体" panose="02010609060101010101" pitchFamily="49" charset="-122"/>
                <a:cs typeface="+mn-cs"/>
              </a:rPr>
              <a:t>信息安全法规与安全管理</a:t>
            </a:r>
            <a:endParaRPr lang="en-US" altLang="zh-CN" sz="3600" dirty="0">
              <a:latin typeface="黑体" panose="02010609060101010101" pitchFamily="49" charset="-122"/>
              <a:ea typeface="黑体" panose="02010609060101010101" pitchFamily="49" charset="-122"/>
              <a:cs typeface="+mn-cs"/>
            </a:endParaRPr>
          </a:p>
        </p:txBody>
      </p:sp>
      <p:sp>
        <p:nvSpPr>
          <p:cNvPr id="3076" name="文本框 1"/>
          <p:cNvSpPr txBox="1"/>
          <p:nvPr/>
        </p:nvSpPr>
        <p:spPr>
          <a:xfrm>
            <a:off x="1609725" y="4648200"/>
            <a:ext cx="5924550" cy="523875"/>
          </a:xfrm>
          <a:prstGeom prst="rect">
            <a:avLst/>
          </a:prstGeom>
          <a:noFill/>
          <a:ln w="9525">
            <a:noFill/>
          </a:ln>
        </p:spPr>
        <p:txBody>
          <a:bodyPr>
            <a:spAutoFit/>
          </a:bodyPr>
          <a:lstStyle/>
          <a:p>
            <a:pPr algn="ctr"/>
            <a:r>
              <a:rPr lang="zh-CN" altLang="en-US" sz="2800" dirty="0">
                <a:latin typeface="华文楷体" pitchFamily="2" charset="-122"/>
                <a:ea typeface="华文楷体" pitchFamily="2" charset="-122"/>
              </a:rPr>
              <a:t>授课老师：李妍</a:t>
            </a:r>
            <a:endParaRPr lang="en-US" altLang="zh-CN" sz="2800" dirty="0">
              <a:latin typeface="华文楷体" pitchFamily="2" charset="-122"/>
              <a:ea typeface="华文楷体" pitchFamily="2" charset="-122"/>
            </a:endParaRPr>
          </a:p>
        </p:txBody>
      </p:sp>
      <p:pic>
        <p:nvPicPr>
          <p:cNvPr id="3077" name="图片 1"/>
          <p:cNvPicPr>
            <a:picLocks noChangeAspect="1"/>
          </p:cNvPicPr>
          <p:nvPr/>
        </p:nvPicPr>
        <p:blipFill>
          <a:blip r:embed="rId2"/>
          <a:stretch>
            <a:fillRect/>
          </a:stretch>
        </p:blipFill>
        <p:spPr>
          <a:xfrm>
            <a:off x="3867150" y="5334000"/>
            <a:ext cx="1409700" cy="1409700"/>
          </a:xfrm>
          <a:prstGeom prst="rect">
            <a:avLst/>
          </a:prstGeom>
          <a:noFill/>
          <a:ln w="9525">
            <a:noFill/>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4099" name="Group 3"/>
          <p:cNvGrpSpPr/>
          <p:nvPr/>
        </p:nvGrpSpPr>
        <p:grpSpPr>
          <a:xfrm>
            <a:off x="1828800" y="1752600"/>
            <a:ext cx="762000" cy="665163"/>
            <a:chOff x="1110" y="2656"/>
            <a:chExt cx="1549" cy="1351"/>
          </a:xfrm>
        </p:grpSpPr>
        <p:sp>
          <p:nvSpPr>
            <p:cNvPr id="4130"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31"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4100" name="Group 7"/>
          <p:cNvGrpSpPr/>
          <p:nvPr/>
        </p:nvGrpSpPr>
        <p:grpSpPr>
          <a:xfrm>
            <a:off x="1828800" y="2667000"/>
            <a:ext cx="762000" cy="665163"/>
            <a:chOff x="3174" y="2656"/>
            <a:chExt cx="1549" cy="1351"/>
          </a:xfrm>
        </p:grpSpPr>
        <p:sp>
          <p:nvSpPr>
            <p:cNvPr id="4127"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28"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4101" name="Line 11"/>
          <p:cNvSpPr/>
          <p:nvPr/>
        </p:nvSpPr>
        <p:spPr>
          <a:xfrm>
            <a:off x="2438400" y="2362200"/>
            <a:ext cx="4800600" cy="0"/>
          </a:xfrm>
          <a:prstGeom prst="line">
            <a:avLst/>
          </a:prstGeom>
          <a:ln w="25400" cap="flat" cmpd="sng">
            <a:solidFill>
              <a:srgbClr val="C0C0C0"/>
            </a:solidFill>
            <a:prstDash val="sysDot"/>
            <a:headEnd type="none" w="med" len="med"/>
            <a:tailEnd type="oval" w="med" len="med"/>
          </a:ln>
        </p:spPr>
      </p:sp>
      <p:sp>
        <p:nvSpPr>
          <p:cNvPr id="4102" name="Text Box 12"/>
          <p:cNvSpPr txBox="1"/>
          <p:nvPr/>
        </p:nvSpPr>
        <p:spPr>
          <a:xfrm>
            <a:off x="2590800" y="1809750"/>
            <a:ext cx="5638800" cy="523875"/>
          </a:xfrm>
          <a:prstGeom prst="rect">
            <a:avLst/>
          </a:prstGeom>
          <a:noFill/>
          <a:ln w="9525">
            <a:noFill/>
          </a:ln>
        </p:spPr>
        <p:txBody>
          <a:bodyPr>
            <a:spAutoFit/>
          </a:bodyPr>
          <a:lstStyle/>
          <a:p>
            <a:r>
              <a:rPr lang="en-US" altLang="zh-CN" sz="2800" b="1" dirty="0">
                <a:solidFill>
                  <a:srgbClr val="FF0000"/>
                </a:solidFill>
                <a:latin typeface="Arial" panose="020B0604020202020204" pitchFamily="34" charset="0"/>
              </a:rPr>
              <a:t>ISMS</a:t>
            </a:r>
            <a:r>
              <a:rPr lang="zh-CN" altLang="en-US" sz="2800" b="1" dirty="0">
                <a:solidFill>
                  <a:srgbClr val="FF0000"/>
                </a:solidFill>
                <a:latin typeface="Arial" panose="020B0604020202020204" pitchFamily="34" charset="0"/>
              </a:rPr>
              <a:t>实施方法与模型</a:t>
            </a:r>
          </a:p>
        </p:txBody>
      </p:sp>
      <p:sp>
        <p:nvSpPr>
          <p:cNvPr id="4103" name="Text Box 13"/>
          <p:cNvSpPr txBox="1"/>
          <p:nvPr/>
        </p:nvSpPr>
        <p:spPr>
          <a:xfrm>
            <a:off x="2025650" y="18510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1</a:t>
            </a:r>
          </a:p>
        </p:txBody>
      </p:sp>
      <p:sp>
        <p:nvSpPr>
          <p:cNvPr id="4104" name="Line 14"/>
          <p:cNvSpPr/>
          <p:nvPr/>
        </p:nvSpPr>
        <p:spPr>
          <a:xfrm>
            <a:off x="2438400" y="3276600"/>
            <a:ext cx="4800600" cy="0"/>
          </a:xfrm>
          <a:prstGeom prst="line">
            <a:avLst/>
          </a:prstGeom>
          <a:ln w="25400" cap="flat" cmpd="sng">
            <a:solidFill>
              <a:srgbClr val="C0C0C0"/>
            </a:solidFill>
            <a:prstDash val="sysDot"/>
            <a:headEnd type="none" w="med" len="med"/>
            <a:tailEnd type="oval" w="med" len="med"/>
          </a:ln>
        </p:spPr>
      </p:sp>
      <p:sp>
        <p:nvSpPr>
          <p:cNvPr id="4105" name="Text Box 16"/>
          <p:cNvSpPr txBox="1"/>
          <p:nvPr/>
        </p:nvSpPr>
        <p:spPr>
          <a:xfrm>
            <a:off x="2025650" y="27654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2</a:t>
            </a:r>
          </a:p>
        </p:txBody>
      </p:sp>
      <p:sp>
        <p:nvSpPr>
          <p:cNvPr id="4106" name="Text Box 21"/>
          <p:cNvSpPr txBox="1"/>
          <p:nvPr/>
        </p:nvSpPr>
        <p:spPr>
          <a:xfrm>
            <a:off x="2025650" y="36576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3</a:t>
            </a:r>
          </a:p>
        </p:txBody>
      </p:sp>
      <p:sp>
        <p:nvSpPr>
          <p:cNvPr id="4107" name="Text Box 22"/>
          <p:cNvSpPr txBox="1"/>
          <p:nvPr/>
        </p:nvSpPr>
        <p:spPr>
          <a:xfrm>
            <a:off x="1981200" y="52578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4108" name="Text Box 24"/>
          <p:cNvSpPr txBox="1"/>
          <p:nvPr/>
        </p:nvSpPr>
        <p:spPr>
          <a:xfrm>
            <a:off x="2590800" y="2667000"/>
            <a:ext cx="5029200" cy="523875"/>
          </a:xfrm>
          <a:prstGeom prst="rect">
            <a:avLst/>
          </a:prstGeom>
          <a:noFill/>
          <a:ln w="9525">
            <a:noFill/>
          </a:ln>
        </p:spPr>
        <p:txBody>
          <a:bodyPr>
            <a:spAutoFit/>
          </a:bodyPr>
          <a:lstStyle/>
          <a:p>
            <a:r>
              <a:rPr lang="en-US" altLang="zh-CN" sz="2800" b="1" dirty="0">
                <a:solidFill>
                  <a:schemeClr val="tx1"/>
                </a:solidFill>
                <a:latin typeface="Arial" panose="020B0604020202020204" pitchFamily="34" charset="0"/>
              </a:rPr>
              <a:t>ISMS</a:t>
            </a:r>
            <a:r>
              <a:rPr lang="zh-CN" altLang="en-US" sz="2800" b="1" dirty="0">
                <a:solidFill>
                  <a:schemeClr val="tx1"/>
                </a:solidFill>
                <a:latin typeface="Arial" panose="020B0604020202020204" pitchFamily="34" charset="0"/>
              </a:rPr>
              <a:t>实施过程</a:t>
            </a:r>
            <a:endParaRPr lang="en-US" altLang="zh-CN" sz="2800" b="1" dirty="0">
              <a:solidFill>
                <a:schemeClr val="tx1"/>
              </a:solidFill>
              <a:latin typeface="Arial" panose="020B0604020202020204" pitchFamily="34" charset="0"/>
            </a:endParaRPr>
          </a:p>
        </p:txBody>
      </p:sp>
      <p:grpSp>
        <p:nvGrpSpPr>
          <p:cNvPr id="4109" name="Group 7"/>
          <p:cNvGrpSpPr/>
          <p:nvPr/>
        </p:nvGrpSpPr>
        <p:grpSpPr>
          <a:xfrm>
            <a:off x="1828800" y="4364038"/>
            <a:ext cx="762000" cy="665162"/>
            <a:chOff x="3174" y="2656"/>
            <a:chExt cx="1549" cy="1351"/>
          </a:xfrm>
        </p:grpSpPr>
        <p:sp>
          <p:nvSpPr>
            <p:cNvPr id="4124"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25"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2"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600" b="0" i="0" u="none" strike="noStrike" kern="1200" cap="none" spc="0" normalizeH="0" baseline="0" noProof="0" dirty="0">
                  <a:ln>
                    <a:noFill/>
                  </a:ln>
                  <a:solidFill>
                    <a:schemeClr val="bg1"/>
                  </a:solidFill>
                  <a:effectLst/>
                  <a:uLnTx/>
                  <a:uFillTx/>
                  <a:latin typeface="+mj-lt"/>
                  <a:ea typeface="宋体" panose="02010600030101010101" pitchFamily="2" charset="-122"/>
                  <a:cs typeface="+mn-cs"/>
                </a:rPr>
                <a:t>4</a:t>
              </a:r>
              <a:endParaRPr kumimoji="0" lang="zh-CN" altLang="en-US" sz="2600" b="0" i="0" u="none" strike="noStrike" kern="1200" cap="none" spc="0" normalizeH="0" baseline="0" noProof="0" dirty="0">
                <a:ln>
                  <a:noFill/>
                </a:ln>
                <a:solidFill>
                  <a:schemeClr val="bg1"/>
                </a:solidFill>
                <a:effectLst/>
                <a:uLnTx/>
                <a:uFillTx/>
                <a:latin typeface="+mj-lt"/>
                <a:ea typeface="宋体" panose="02010600030101010101" pitchFamily="2" charset="-122"/>
                <a:cs typeface="+mn-cs"/>
              </a:endParaRPr>
            </a:p>
          </p:txBody>
        </p:sp>
      </p:grpSp>
      <p:sp>
        <p:nvSpPr>
          <p:cNvPr id="4110" name="Line 14"/>
          <p:cNvSpPr/>
          <p:nvPr/>
        </p:nvSpPr>
        <p:spPr>
          <a:xfrm>
            <a:off x="2438400" y="4953000"/>
            <a:ext cx="4800600" cy="0"/>
          </a:xfrm>
          <a:prstGeom prst="line">
            <a:avLst/>
          </a:prstGeom>
          <a:ln w="25400" cap="flat" cmpd="sng">
            <a:solidFill>
              <a:srgbClr val="C0C0C0"/>
            </a:solidFill>
            <a:prstDash val="sysDot"/>
            <a:headEnd type="none" w="med" len="med"/>
            <a:tailEnd type="oval" w="med" len="med"/>
          </a:ln>
        </p:spPr>
      </p:sp>
      <p:sp>
        <p:nvSpPr>
          <p:cNvPr id="4111" name="TextBox 1"/>
          <p:cNvSpPr txBox="1"/>
          <p:nvPr/>
        </p:nvSpPr>
        <p:spPr>
          <a:xfrm>
            <a:off x="2590800" y="4419600"/>
            <a:ext cx="2876550" cy="523875"/>
          </a:xfrm>
          <a:prstGeom prst="rect">
            <a:avLst/>
          </a:prstGeom>
          <a:noFill/>
          <a:ln w="9525">
            <a:noFill/>
          </a:ln>
        </p:spPr>
        <p:txBody>
          <a:bodyPr>
            <a:spAutoFit/>
          </a:bodyPr>
          <a:lstStyle/>
          <a:p>
            <a:pPr eaLnBrk="1" hangingPunct="1">
              <a:spcBef>
                <a:spcPct val="50000"/>
              </a:spcBef>
            </a:pPr>
            <a:r>
              <a:rPr lang="zh-CN" altLang="en-US" sz="2800" b="1" dirty="0">
                <a:solidFill>
                  <a:schemeClr val="tx1"/>
                </a:solidFill>
                <a:latin typeface="Arial" panose="020B0604020202020204" pitchFamily="34" charset="0"/>
              </a:rPr>
              <a:t>国外</a:t>
            </a:r>
            <a:r>
              <a:rPr lang="en-US" altLang="zh-CN" sz="2800" b="1" dirty="0">
                <a:solidFill>
                  <a:schemeClr val="tx1"/>
                </a:solidFill>
                <a:latin typeface="Arial" panose="020B0604020202020204" pitchFamily="34" charset="0"/>
              </a:rPr>
              <a:t>ISMS</a:t>
            </a:r>
            <a:r>
              <a:rPr lang="zh-CN" altLang="en-US" sz="2800" b="1" dirty="0">
                <a:solidFill>
                  <a:schemeClr val="tx1"/>
                </a:solidFill>
                <a:latin typeface="Arial" panose="020B0604020202020204" pitchFamily="34" charset="0"/>
              </a:rPr>
              <a:t>实践</a:t>
            </a:r>
          </a:p>
        </p:txBody>
      </p:sp>
      <p:grpSp>
        <p:nvGrpSpPr>
          <p:cNvPr id="4112" name="Group 3"/>
          <p:cNvGrpSpPr/>
          <p:nvPr/>
        </p:nvGrpSpPr>
        <p:grpSpPr>
          <a:xfrm>
            <a:off x="1828800" y="3525838"/>
            <a:ext cx="762000" cy="665162"/>
            <a:chOff x="1110" y="2656"/>
            <a:chExt cx="1549" cy="1351"/>
          </a:xfrm>
        </p:grpSpPr>
        <p:sp>
          <p:nvSpPr>
            <p:cNvPr id="412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2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8"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rPr>
                <a:t>3</a:t>
              </a:r>
              <a:endParaRPr kumimoji="0" lang="zh-CN" altLang="en-US"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4113" name="Line 14"/>
          <p:cNvSpPr/>
          <p:nvPr/>
        </p:nvSpPr>
        <p:spPr>
          <a:xfrm flipV="1">
            <a:off x="2438400" y="4105275"/>
            <a:ext cx="6553200" cy="9525"/>
          </a:xfrm>
          <a:prstGeom prst="line">
            <a:avLst/>
          </a:prstGeom>
          <a:ln w="25400" cap="flat" cmpd="sng">
            <a:solidFill>
              <a:srgbClr val="C0C0C0"/>
            </a:solidFill>
            <a:prstDash val="sysDot"/>
            <a:headEnd type="none" w="med" len="med"/>
            <a:tailEnd type="oval" w="med" len="med"/>
          </a:ln>
        </p:spPr>
      </p:sp>
      <p:sp>
        <p:nvSpPr>
          <p:cNvPr id="4114" name="TextBox 4"/>
          <p:cNvSpPr txBox="1"/>
          <p:nvPr/>
        </p:nvSpPr>
        <p:spPr>
          <a:xfrm>
            <a:off x="2590800" y="3581400"/>
            <a:ext cx="6477000" cy="523875"/>
          </a:xfrm>
          <a:prstGeom prst="rect">
            <a:avLst/>
          </a:prstGeom>
          <a:noFill/>
          <a:ln w="9525">
            <a:noFill/>
          </a:ln>
        </p:spPr>
        <p:txBody>
          <a:bodyPr>
            <a:spAutoFit/>
          </a:bodyPr>
          <a:lstStyle/>
          <a:p>
            <a:pPr eaLnBrk="1" hangingPunct="1">
              <a:spcBef>
                <a:spcPct val="50000"/>
              </a:spcBef>
            </a:pPr>
            <a:r>
              <a:rPr lang="en-US" altLang="zh-CN" sz="2800" b="1" dirty="0">
                <a:solidFill>
                  <a:schemeClr val="tx1"/>
                </a:solidFill>
                <a:latin typeface="Arial" panose="020B0604020202020204" pitchFamily="34" charset="0"/>
              </a:rPr>
              <a:t>ISMS</a:t>
            </a:r>
            <a:r>
              <a:rPr lang="zh-CN" altLang="en-US" sz="2800" b="1" dirty="0">
                <a:solidFill>
                  <a:schemeClr val="tx1"/>
                </a:solidFill>
                <a:latin typeface="宋体" panose="02010600030101010101" pitchFamily="2" charset="-122"/>
              </a:rPr>
              <a:t>、</a:t>
            </a:r>
            <a:r>
              <a:rPr lang="zh-CN" altLang="en-US" sz="2800" b="1" dirty="0">
                <a:solidFill>
                  <a:schemeClr val="tx1"/>
                </a:solidFill>
                <a:latin typeface="Arial" panose="020B0604020202020204" pitchFamily="34" charset="0"/>
              </a:rPr>
              <a:t>等级保护、风险评估三者的关系</a:t>
            </a:r>
          </a:p>
        </p:txBody>
      </p:sp>
      <p:grpSp>
        <p:nvGrpSpPr>
          <p:cNvPr id="4115" name="Group 3"/>
          <p:cNvGrpSpPr/>
          <p:nvPr/>
        </p:nvGrpSpPr>
        <p:grpSpPr>
          <a:xfrm>
            <a:off x="1828800" y="5126038"/>
            <a:ext cx="762000" cy="665162"/>
            <a:chOff x="1110" y="2656"/>
            <a:chExt cx="1549" cy="1351"/>
          </a:xfrm>
        </p:grpSpPr>
        <p:sp>
          <p:nvSpPr>
            <p:cNvPr id="4118"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19"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9"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rPr>
                <a:t>5</a:t>
              </a:r>
              <a:endParaRPr kumimoji="0" lang="zh-CN" altLang="en-US"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4116" name="Line 14"/>
          <p:cNvSpPr/>
          <p:nvPr/>
        </p:nvSpPr>
        <p:spPr>
          <a:xfrm>
            <a:off x="2438400" y="5715000"/>
            <a:ext cx="4800600" cy="0"/>
          </a:xfrm>
          <a:prstGeom prst="line">
            <a:avLst/>
          </a:prstGeom>
          <a:ln w="25400" cap="flat" cmpd="sng">
            <a:solidFill>
              <a:srgbClr val="C0C0C0"/>
            </a:solidFill>
            <a:prstDash val="sysDot"/>
            <a:headEnd type="none" w="med" len="med"/>
            <a:tailEnd type="oval" w="med" len="med"/>
          </a:ln>
        </p:spPr>
      </p:sp>
      <p:sp>
        <p:nvSpPr>
          <p:cNvPr id="4117" name="TextBox 1"/>
          <p:cNvSpPr txBox="1"/>
          <p:nvPr/>
        </p:nvSpPr>
        <p:spPr>
          <a:xfrm>
            <a:off x="2590800" y="5181600"/>
            <a:ext cx="2876550" cy="523875"/>
          </a:xfrm>
          <a:prstGeom prst="rect">
            <a:avLst/>
          </a:prstGeom>
          <a:noFill/>
          <a:ln w="9525">
            <a:noFill/>
          </a:ln>
        </p:spPr>
        <p:txBody>
          <a:bodyPr>
            <a:spAutoFit/>
          </a:bodyPr>
          <a:lstStyle/>
          <a:p>
            <a:pPr eaLnBrk="1" hangingPunct="1">
              <a:spcBef>
                <a:spcPct val="50000"/>
              </a:spcBef>
            </a:pPr>
            <a:r>
              <a:rPr lang="zh-CN" altLang="en-US" sz="2800" b="1" dirty="0">
                <a:solidFill>
                  <a:schemeClr val="tx1"/>
                </a:solidFill>
                <a:latin typeface="Arial" panose="020B0604020202020204" pitchFamily="34" charset="0"/>
              </a:rPr>
              <a:t>思政点</a:t>
            </a:r>
          </a:p>
        </p:txBody>
      </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本章概述</a:t>
            </a:r>
          </a:p>
        </p:txBody>
      </p:sp>
      <p:sp>
        <p:nvSpPr>
          <p:cNvPr id="5123" name="内容占位符 2"/>
          <p:cNvSpPr>
            <a:spLocks noGrp="1" noChangeArrowheads="1"/>
          </p:cNvSpPr>
          <p:nvPr>
            <p:ph idx="1"/>
          </p:nvPr>
        </p:nvSpPr>
        <p:spPr>
          <a:xfrm>
            <a:off x="304800" y="1066800"/>
            <a:ext cx="8534400" cy="5562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信息安全管理体系</a:t>
            </a:r>
            <a:r>
              <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的</a:t>
            </a:r>
            <a:r>
              <a:rPr kumimoji="0" lang="zh-CN" altLang="en-US" sz="3200" b="0" i="0" u="none" strike="noStrike" kern="0" cap="none" spc="0" normalizeH="0" baseline="0" noProof="0" dirty="0" smtClean="0">
                <a:ln>
                  <a:noFill/>
                </a:ln>
                <a:solidFill>
                  <a:srgbClr val="FF0000"/>
                </a:solidFill>
                <a:effectLst/>
                <a:uLnTx/>
                <a:uFillTx/>
                <a:latin typeface="+mn-lt"/>
                <a:ea typeface="宋体" panose="02010600030101010101" pitchFamily="2" charset="-122"/>
                <a:cs typeface="+mn-cs"/>
              </a:rPr>
              <a:t>概念</a:t>
            </a:r>
            <a:r>
              <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信息安全管理</a:t>
            </a:r>
            <a:r>
              <a:rPr kumimoji="0" lang="zh-CN" altLang="zh-CN" sz="2400" b="0" i="0" u="none" strike="noStrike" kern="0" cap="none" spc="0" normalizeH="0" baseline="0" noProof="0" dirty="0" smtClean="0">
                <a:ln>
                  <a:noFill/>
                </a:ln>
                <a:solidFill>
                  <a:srgbClr val="FF0000"/>
                </a:solidFill>
                <a:effectLst/>
                <a:uLnTx/>
                <a:uFillTx/>
                <a:latin typeface="+mn-lt"/>
                <a:ea typeface="宋体" panose="02010600030101010101" pitchFamily="2" charset="-122"/>
              </a:rPr>
              <a:t>体系</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Information Security Management System</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）是一个组织内部建立的信息安全方针与目标的</a:t>
            </a:r>
            <a:r>
              <a:rPr kumimoji="0" lang="zh-CN" altLang="zh-CN" sz="2400" b="0" i="0" u="none" strike="noStrike" kern="0" cap="none" spc="0" normalizeH="0" baseline="0" noProof="0" dirty="0" smtClean="0">
                <a:ln>
                  <a:noFill/>
                </a:ln>
                <a:solidFill>
                  <a:srgbClr val="FF0000"/>
                </a:solidFill>
                <a:effectLst/>
                <a:uLnTx/>
                <a:uFillTx/>
                <a:latin typeface="+mn-lt"/>
                <a:ea typeface="宋体" panose="02010600030101010101" pitchFamily="2" charset="-122"/>
              </a:rPr>
              <a:t>总称</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，并包括为实现这些方针和目标所制定的文件体系与方法。</a:t>
            </a: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信息安全管理体系（</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）的</a:t>
            </a:r>
            <a:r>
              <a:rPr kumimoji="0" lang="zh-CN" altLang="zh-CN" sz="2400" b="0" i="0" u="none" strike="noStrike" kern="0" cap="none" spc="0" normalizeH="0" baseline="0" noProof="0" dirty="0" smtClean="0">
                <a:ln>
                  <a:noFill/>
                </a:ln>
                <a:solidFill>
                  <a:srgbClr val="FF0000"/>
                </a:solidFill>
                <a:effectLst/>
                <a:uLnTx/>
                <a:uFillTx/>
                <a:latin typeface="+mn-lt"/>
                <a:ea typeface="宋体" panose="02010600030101010101" pitchFamily="2" charset="-122"/>
              </a:rPr>
              <a:t>实施过程</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，就是在组织管理层的直接授权下，由</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领导小组来负责实施，通过制定一系列的文件，从而建立一个系统化、程序化与文件化的管理体系，来保障组织的信息安全。</a:t>
            </a: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信息安全管理体系（</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）实施过程的依据标准是</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ISO 27001-2005 </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《信息安全管理体系 要求》。</a:t>
            </a:r>
            <a:endParaRPr kumimoji="0" lang="en-US" altLang="zh-CN" sz="16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Effect transition="in" filter="fade">
                                      <p:cBhvr>
                                        <p:cTn id="7" dur="1000"/>
                                        <p:tgtEl>
                                          <p:spTgt spid="5123">
                                            <p:txEl>
                                              <p:pRg st="1" end="1"/>
                                            </p:txEl>
                                          </p:spTgt>
                                        </p:tgtEl>
                                      </p:cBhvr>
                                    </p:animEffect>
                                    <p:anim calcmode="lin" valueType="num">
                                      <p:cBhvr>
                                        <p:cTn id="8" dur="1000" fill="hold"/>
                                        <p:tgtEl>
                                          <p:spTgt spid="512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1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123">
                                            <p:txEl>
                                              <p:pRg st="2" end="2"/>
                                            </p:txEl>
                                          </p:spTgt>
                                        </p:tgtEl>
                                        <p:attrNameLst>
                                          <p:attrName>style.visibility</p:attrName>
                                        </p:attrNameLst>
                                      </p:cBhvr>
                                      <p:to>
                                        <p:strVal val="visible"/>
                                      </p:to>
                                    </p:set>
                                    <p:animEffect transition="in" filter="barn(inVertical)">
                                      <p:cBhvr>
                                        <p:cTn id="14" dur="500"/>
                                        <p:tgtEl>
                                          <p:spTgt spid="512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animEffect transition="in" filter="wipe(down)">
                                      <p:cBhvr>
                                        <p:cTn id="19" dur="500"/>
                                        <p:tgtEl>
                                          <p:spTgt spid="5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实施方法与模型</a:t>
            </a:r>
          </a:p>
        </p:txBody>
      </p:sp>
      <p:sp>
        <p:nvSpPr>
          <p:cNvPr id="19459" name="内容占位符 2"/>
          <p:cNvSpPr>
            <a:spLocks noGrp="1"/>
          </p:cNvSpPr>
          <p:nvPr>
            <p:ph idx="1"/>
          </p:nvPr>
        </p:nvSpPr>
        <p:spPr>
          <a:xfrm>
            <a:off x="304800" y="1143000"/>
            <a:ext cx="8686800" cy="5486400"/>
          </a:xfrm>
          <a:ln/>
        </p:spPr>
        <p:txBody>
          <a:bodyPr vert="horz" wrap="square" lIns="91440" tIns="45720" rIns="91440" bIns="45720" anchor="t" anchorCtr="0"/>
          <a:lstStyle/>
          <a:p>
            <a:pPr eaLnBrk="1" hangingPunct="1">
              <a:spcAft>
                <a:spcPct val="20000"/>
              </a:spcAft>
              <a:buClr>
                <a:srgbClr val="AC04A0"/>
              </a:buClr>
            </a:pPr>
            <a:r>
              <a:rPr lang="en-US" altLang="zh-CN" b="1" dirty="0">
                <a:latin typeface="Times New Roman" panose="02020603050405020304" pitchFamily="18" charset="0"/>
                <a:ea typeface="楷体_GB2312" pitchFamily="49" charset="-122"/>
              </a:rPr>
              <a:t> </a:t>
            </a:r>
            <a:r>
              <a:rPr lang="en-US" altLang="zh-CN" b="1" dirty="0">
                <a:solidFill>
                  <a:srgbClr val="000000"/>
                </a:solidFill>
                <a:latin typeface="楷体_GB2312" pitchFamily="49" charset="-122"/>
                <a:ea typeface="楷体_GB2312" pitchFamily="49" charset="-122"/>
              </a:rPr>
              <a:t>(P</a:t>
            </a:r>
            <a:r>
              <a:rPr lang="en-US" altLang="zh-CN" b="1" dirty="0">
                <a:solidFill>
                  <a:srgbClr val="000000"/>
                </a:solidFill>
                <a:latin typeface="楷体_GB2312" pitchFamily="49" charset="-122"/>
                <a:ea typeface="楷体_GB2312" pitchFamily="49" charset="-122"/>
                <a:sym typeface="+mn-ea"/>
              </a:rPr>
              <a:t>D</a:t>
            </a:r>
            <a:r>
              <a:rPr lang="en-US" altLang="zh-CN" b="1" dirty="0">
                <a:solidFill>
                  <a:srgbClr val="000000"/>
                </a:solidFill>
                <a:latin typeface="楷体_GB2312" pitchFamily="49" charset="-122"/>
                <a:ea typeface="楷体_GB2312" pitchFamily="49" charset="-122"/>
              </a:rPr>
              <a:t>CA)</a:t>
            </a:r>
            <a:r>
              <a:rPr lang="zh-CN" altLang="en-US" b="1" dirty="0">
                <a:solidFill>
                  <a:srgbClr val="000000"/>
                </a:solidFill>
                <a:latin typeface="楷体_GB2312" pitchFamily="49" charset="-122"/>
                <a:ea typeface="楷体_GB2312" pitchFamily="49" charset="-122"/>
              </a:rPr>
              <a:t>模型</a:t>
            </a:r>
            <a:endParaRPr lang="en-US" altLang="zh-CN" b="1" dirty="0">
              <a:solidFill>
                <a:srgbClr val="000000"/>
              </a:solidFill>
              <a:latin typeface="楷体_GB2312" pitchFamily="49" charset="-122"/>
              <a:ea typeface="楷体_GB2312" pitchFamily="49" charset="-122"/>
            </a:endParaRPr>
          </a:p>
          <a:p>
            <a:pPr lvl="1"/>
            <a:r>
              <a:rPr lang="zh-CN" altLang="en-US" sz="2000" b="1" dirty="0">
                <a:solidFill>
                  <a:srgbClr val="000000"/>
                </a:solidFill>
                <a:latin typeface="华文细黑" pitchFamily="2" charset="-122"/>
                <a:ea typeface="华文细黑" pitchFamily="2" charset="-122"/>
              </a:rPr>
              <a:t>在</a:t>
            </a:r>
            <a:r>
              <a:rPr lang="en-US" altLang="zh-CN" sz="2000" b="1" dirty="0">
                <a:solidFill>
                  <a:srgbClr val="000000"/>
                </a:solidFill>
                <a:latin typeface="华文细黑" pitchFamily="2" charset="-122"/>
                <a:ea typeface="华文细黑" pitchFamily="2" charset="-122"/>
              </a:rPr>
              <a:t>ISMS</a:t>
            </a:r>
            <a:r>
              <a:rPr lang="zh-CN" altLang="en-US" sz="2000" b="1" dirty="0">
                <a:solidFill>
                  <a:srgbClr val="000000"/>
                </a:solidFill>
                <a:latin typeface="华文细黑" pitchFamily="2" charset="-122"/>
                <a:ea typeface="华文细黑" pitchFamily="2" charset="-122"/>
              </a:rPr>
              <a:t>的实施过程中，采用了“规划</a:t>
            </a:r>
            <a:r>
              <a:rPr lang="en-US" altLang="zh-CN" sz="2000" b="1" dirty="0">
                <a:solidFill>
                  <a:srgbClr val="000000"/>
                </a:solidFill>
                <a:latin typeface="华文细黑" pitchFamily="2" charset="-122"/>
                <a:ea typeface="华文细黑" pitchFamily="2" charset="-122"/>
              </a:rPr>
              <a:t>(Plan)-</a:t>
            </a:r>
            <a:r>
              <a:rPr lang="zh-CN" altLang="en-US" sz="2000" b="1" dirty="0">
                <a:solidFill>
                  <a:srgbClr val="000000"/>
                </a:solidFill>
                <a:latin typeface="华文细黑" pitchFamily="2" charset="-122"/>
                <a:ea typeface="华文细黑" pitchFamily="2" charset="-122"/>
              </a:rPr>
              <a:t>实施</a:t>
            </a:r>
            <a:r>
              <a:rPr lang="en-US" altLang="zh-CN" sz="2000" b="1" dirty="0">
                <a:solidFill>
                  <a:srgbClr val="000000"/>
                </a:solidFill>
                <a:latin typeface="华文细黑" pitchFamily="2" charset="-122"/>
                <a:ea typeface="华文细黑" pitchFamily="2" charset="-122"/>
              </a:rPr>
              <a:t>(Do)-</a:t>
            </a:r>
            <a:r>
              <a:rPr lang="zh-CN" altLang="en-US" sz="2000" b="1" dirty="0">
                <a:solidFill>
                  <a:srgbClr val="000000"/>
                </a:solidFill>
                <a:latin typeface="华文细黑" pitchFamily="2" charset="-122"/>
                <a:ea typeface="华文细黑" pitchFamily="2" charset="-122"/>
              </a:rPr>
              <a:t>检查</a:t>
            </a:r>
            <a:r>
              <a:rPr lang="en-US" altLang="zh-CN" sz="2000" b="1" dirty="0">
                <a:solidFill>
                  <a:srgbClr val="000000"/>
                </a:solidFill>
                <a:latin typeface="华文细黑" pitchFamily="2" charset="-122"/>
                <a:ea typeface="华文细黑" pitchFamily="2" charset="-122"/>
              </a:rPr>
              <a:t>(Check)-</a:t>
            </a:r>
            <a:r>
              <a:rPr lang="zh-CN" altLang="en-US" sz="2000" b="1" dirty="0">
                <a:solidFill>
                  <a:srgbClr val="000000"/>
                </a:solidFill>
                <a:latin typeface="华文细黑" pitchFamily="2" charset="-122"/>
                <a:ea typeface="华文细黑" pitchFamily="2" charset="-122"/>
              </a:rPr>
              <a:t>处置</a:t>
            </a:r>
            <a:r>
              <a:rPr lang="en-US" altLang="zh-CN" sz="2000" b="1" dirty="0">
                <a:solidFill>
                  <a:srgbClr val="000000"/>
                </a:solidFill>
                <a:latin typeface="华文细黑" pitchFamily="2" charset="-122"/>
                <a:ea typeface="华文细黑" pitchFamily="2" charset="-122"/>
              </a:rPr>
              <a:t>(Act)”</a:t>
            </a:r>
            <a:r>
              <a:rPr lang="zh-CN" altLang="en-US" sz="2000" b="1" dirty="0">
                <a:solidFill>
                  <a:srgbClr val="000000"/>
                </a:solidFill>
                <a:latin typeface="华文细黑" pitchFamily="2" charset="-122"/>
                <a:ea typeface="华文细黑" pitchFamily="2" charset="-122"/>
              </a:rPr>
              <a:t>可简称为</a:t>
            </a:r>
            <a:r>
              <a:rPr lang="en-US" altLang="zh-CN" sz="2000" b="1" dirty="0">
                <a:solidFill>
                  <a:srgbClr val="000000"/>
                </a:solidFill>
                <a:latin typeface="华文细黑" pitchFamily="2" charset="-122"/>
                <a:ea typeface="华文细黑" pitchFamily="2" charset="-122"/>
              </a:rPr>
              <a:t>P</a:t>
            </a:r>
            <a:r>
              <a:rPr lang="zh-CN" altLang="en-US" sz="2000" b="1" dirty="0">
                <a:solidFill>
                  <a:srgbClr val="000000"/>
                </a:solidFill>
                <a:latin typeface="华文细黑" pitchFamily="2" charset="-122"/>
                <a:ea typeface="华文细黑" pitchFamily="2" charset="-122"/>
              </a:rPr>
              <a:t>阶段、</a:t>
            </a:r>
            <a:r>
              <a:rPr lang="en-US" altLang="zh-CN" sz="2000" b="1" dirty="0">
                <a:solidFill>
                  <a:srgbClr val="000000"/>
                </a:solidFill>
                <a:latin typeface="华文细黑" pitchFamily="2" charset="-122"/>
                <a:ea typeface="华文细黑" pitchFamily="2" charset="-122"/>
              </a:rPr>
              <a:t>D</a:t>
            </a:r>
            <a:r>
              <a:rPr lang="zh-CN" altLang="en-US" sz="2000" b="1" dirty="0">
                <a:solidFill>
                  <a:srgbClr val="000000"/>
                </a:solidFill>
                <a:latin typeface="华文细黑" pitchFamily="2" charset="-122"/>
                <a:ea typeface="华文细黑" pitchFamily="2" charset="-122"/>
              </a:rPr>
              <a:t>阶段、</a:t>
            </a:r>
            <a:r>
              <a:rPr lang="en-US" altLang="zh-CN" sz="2000" b="1" dirty="0">
                <a:solidFill>
                  <a:srgbClr val="000000"/>
                </a:solidFill>
                <a:latin typeface="华文细黑" pitchFamily="2" charset="-122"/>
                <a:ea typeface="华文细黑" pitchFamily="2" charset="-122"/>
              </a:rPr>
              <a:t>C</a:t>
            </a:r>
            <a:r>
              <a:rPr lang="zh-CN" altLang="en-US" sz="2000" b="1" dirty="0">
                <a:solidFill>
                  <a:srgbClr val="000000"/>
                </a:solidFill>
                <a:latin typeface="华文细黑" pitchFamily="2" charset="-122"/>
                <a:ea typeface="华文细黑" pitchFamily="2" charset="-122"/>
              </a:rPr>
              <a:t>阶段、</a:t>
            </a:r>
            <a:r>
              <a:rPr lang="en-US" altLang="zh-CN" sz="2000" b="1" dirty="0">
                <a:solidFill>
                  <a:srgbClr val="000000"/>
                </a:solidFill>
                <a:latin typeface="华文细黑" pitchFamily="2" charset="-122"/>
                <a:ea typeface="华文细黑" pitchFamily="2" charset="-122"/>
              </a:rPr>
              <a:t>A</a:t>
            </a:r>
            <a:r>
              <a:rPr lang="zh-CN" altLang="en-US" sz="2000" b="1" dirty="0">
                <a:solidFill>
                  <a:srgbClr val="000000"/>
                </a:solidFill>
                <a:latin typeface="华文细黑" pitchFamily="2" charset="-122"/>
                <a:ea typeface="华文细黑" pitchFamily="2" charset="-122"/>
              </a:rPr>
              <a:t>阶段。</a:t>
            </a:r>
            <a:endParaRPr lang="en-US" altLang="zh-CN" sz="2000" b="1" dirty="0">
              <a:solidFill>
                <a:srgbClr val="000000"/>
              </a:solidFill>
              <a:latin typeface="华文细黑" pitchFamily="2" charset="-122"/>
              <a:ea typeface="华文细黑" pitchFamily="2" charset="-122"/>
            </a:endParaRPr>
          </a:p>
          <a:p>
            <a:pPr lvl="1"/>
            <a:r>
              <a:rPr lang="zh-CN" altLang="en-US" sz="2400" b="1" dirty="0">
                <a:solidFill>
                  <a:srgbClr val="000000"/>
                </a:solidFill>
                <a:latin typeface="华文细黑" pitchFamily="2" charset="-122"/>
                <a:ea typeface="华文细黑" pitchFamily="2" charset="-122"/>
              </a:rPr>
              <a:t>应用</a:t>
            </a:r>
            <a:r>
              <a:rPr lang="en-US" altLang="zh-CN" sz="2400" b="1" dirty="0">
                <a:solidFill>
                  <a:srgbClr val="000000"/>
                </a:solidFill>
                <a:latin typeface="华文细黑" pitchFamily="2" charset="-122"/>
                <a:ea typeface="华文细黑" pitchFamily="2" charset="-122"/>
              </a:rPr>
              <a:t>PDCA</a:t>
            </a:r>
            <a:r>
              <a:rPr lang="zh-CN" altLang="en-US" sz="2400" b="1" dirty="0">
                <a:solidFill>
                  <a:srgbClr val="000000"/>
                </a:solidFill>
                <a:latin typeface="华文细黑" pitchFamily="2" charset="-122"/>
                <a:ea typeface="华文细黑" pitchFamily="2" charset="-122"/>
              </a:rPr>
              <a:t>模型的</a:t>
            </a:r>
            <a:r>
              <a:rPr lang="en-US" altLang="zh-CN" sz="2400" b="1" dirty="0">
                <a:solidFill>
                  <a:srgbClr val="000000"/>
                </a:solidFill>
                <a:latin typeface="华文细黑" pitchFamily="2" charset="-122"/>
                <a:ea typeface="华文细黑" pitchFamily="2" charset="-122"/>
              </a:rPr>
              <a:t>ISMS</a:t>
            </a:r>
            <a:r>
              <a:rPr lang="zh-CN" altLang="en-US" sz="2400" b="1" dirty="0">
                <a:solidFill>
                  <a:srgbClr val="000000"/>
                </a:solidFill>
                <a:latin typeface="华文细黑" pitchFamily="2" charset="-122"/>
                <a:ea typeface="华文细黑" pitchFamily="2" charset="-122"/>
              </a:rPr>
              <a:t>实施过程内容</a:t>
            </a:r>
            <a:endParaRPr lang="en-US" altLang="zh-CN" sz="2400" b="1" dirty="0">
              <a:solidFill>
                <a:srgbClr val="000000"/>
              </a:solidFill>
              <a:latin typeface="华文细黑" pitchFamily="2" charset="-122"/>
              <a:ea typeface="华文细黑" pitchFamily="2" charset="-122"/>
            </a:endParaRP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graphicFrame>
        <p:nvGraphicFramePr>
          <p:cNvPr id="2" name="表格 1"/>
          <p:cNvGraphicFramePr>
            <a:graphicFrameLocks noGrp="1"/>
          </p:cNvGraphicFramePr>
          <p:nvPr/>
        </p:nvGraphicFramePr>
        <p:xfrm>
          <a:off x="228600" y="3276600"/>
          <a:ext cx="8686800" cy="3048000"/>
        </p:xfrm>
        <a:graphic>
          <a:graphicData uri="http://schemas.openxmlformats.org/drawingml/2006/table">
            <a:tbl>
              <a:tblPr firstRow="1" bandRow="1">
                <a:tableStyleId>{21E4AEA4-8DFA-4A89-87EB-49C32662AFE0}</a:tableStyleId>
              </a:tblPr>
              <a:tblGrid>
                <a:gridCol w="2590733"/>
                <a:gridCol w="6096067"/>
              </a:tblGrid>
              <a:tr h="774339">
                <a:tc>
                  <a:txBody>
                    <a:bodyPr/>
                    <a:lstStyle/>
                    <a:p>
                      <a:pPr algn="ctr"/>
                      <a:r>
                        <a:rPr lang="zh-CN" altLang="en-US" sz="1800" b="1" kern="1200" baseline="0" dirty="0" smtClean="0">
                          <a:solidFill>
                            <a:schemeClr val="tx1"/>
                          </a:solidFill>
                          <a:latin typeface="华文楷体" pitchFamily="2" charset="-122"/>
                          <a:ea typeface="华文楷体" pitchFamily="2" charset="-122"/>
                          <a:cs typeface="+mn-cs"/>
                        </a:rPr>
                        <a:t>规划（建立</a:t>
                      </a:r>
                      <a:r>
                        <a:rPr lang="en-US" altLang="zh-CN" sz="1800" b="1" kern="1200" baseline="0" dirty="0" smtClean="0">
                          <a:solidFill>
                            <a:schemeClr val="tx1"/>
                          </a:solidFill>
                          <a:latin typeface="华文楷体" pitchFamily="2" charset="-122"/>
                          <a:ea typeface="华文楷体" pitchFamily="2" charset="-122"/>
                          <a:cs typeface="+mn-cs"/>
                        </a:rPr>
                        <a:t>ISMS</a:t>
                      </a:r>
                      <a:r>
                        <a:rPr lang="zh-CN" altLang="en-US" sz="1800" b="1" kern="1200" baseline="0" dirty="0" smtClean="0">
                          <a:solidFill>
                            <a:schemeClr val="tx1"/>
                          </a:solidFill>
                          <a:latin typeface="华文楷体" pitchFamily="2" charset="-122"/>
                          <a:ea typeface="华文楷体" pitchFamily="2" charset="-122"/>
                          <a:cs typeface="+mn-cs"/>
                        </a:rPr>
                        <a:t>）</a:t>
                      </a:r>
                      <a:endParaRPr lang="zh-CN" altLang="en-US" sz="1800" b="1" kern="1200" baseline="0" dirty="0">
                        <a:solidFill>
                          <a:schemeClr val="tx1"/>
                        </a:solidFill>
                        <a:latin typeface="华文楷体" pitchFamily="2" charset="-122"/>
                        <a:ea typeface="华文楷体" pitchFamily="2" charset="-122"/>
                        <a:cs typeface="+mn-cs"/>
                      </a:endParaRPr>
                    </a:p>
                  </a:txBody>
                  <a:tcPr marL="91442" marR="91442" marT="38189" marB="38189" anchor="ctr" anchorCtr="1"/>
                </a:tc>
                <a:tc>
                  <a:txBody>
                    <a:bodyPr/>
                    <a:lstStyle/>
                    <a:p>
                      <a:r>
                        <a:rPr lang="zh-CN" altLang="en-US" sz="1800" baseline="0" dirty="0" smtClean="0">
                          <a:solidFill>
                            <a:schemeClr val="tx1"/>
                          </a:solidFill>
                          <a:latin typeface="华文楷体" pitchFamily="2" charset="-122"/>
                          <a:ea typeface="华文楷体" pitchFamily="2" charset="-122"/>
                        </a:rPr>
                        <a:t>建立与管理风险和改进信息安全有关的</a:t>
                      </a:r>
                      <a:r>
                        <a:rPr lang="en-US" altLang="zh-CN" sz="1800" baseline="0" dirty="0" smtClean="0">
                          <a:solidFill>
                            <a:schemeClr val="tx1"/>
                          </a:solidFill>
                          <a:latin typeface="华文楷体" pitchFamily="2" charset="-122"/>
                          <a:ea typeface="华文楷体" pitchFamily="2" charset="-122"/>
                        </a:rPr>
                        <a:t>ISMS</a:t>
                      </a:r>
                      <a:r>
                        <a:rPr lang="zh-CN" altLang="en-US" sz="1800" baseline="0" dirty="0" smtClean="0">
                          <a:solidFill>
                            <a:schemeClr val="tx1"/>
                          </a:solidFill>
                          <a:latin typeface="华文楷体" pitchFamily="2" charset="-122"/>
                          <a:ea typeface="华文楷体" pitchFamily="2" charset="-122"/>
                        </a:rPr>
                        <a:t>方针、目标、过程和程序，以提供与组织整体方针和目标相一致的结果。</a:t>
                      </a:r>
                      <a:endParaRPr lang="zh-CN" altLang="en-US" sz="1800" baseline="0" dirty="0">
                        <a:solidFill>
                          <a:schemeClr val="tx1"/>
                        </a:solidFill>
                        <a:latin typeface="华文楷体" pitchFamily="2" charset="-122"/>
                        <a:ea typeface="华文楷体" pitchFamily="2" charset="-122"/>
                      </a:endParaRPr>
                    </a:p>
                  </a:txBody>
                  <a:tcPr marL="91442" marR="91442" marT="38189" marB="38189" anchor="ctr"/>
                </a:tc>
              </a:tr>
              <a:tr h="659141">
                <a:tc>
                  <a:txBody>
                    <a:bodyPr/>
                    <a:lstStyle/>
                    <a:p>
                      <a:r>
                        <a:rPr lang="zh-CN" altLang="en-US" sz="1800" b="1" kern="1200" baseline="0" dirty="0" smtClean="0">
                          <a:solidFill>
                            <a:schemeClr val="tx1"/>
                          </a:solidFill>
                          <a:latin typeface="华文楷体" pitchFamily="2" charset="-122"/>
                          <a:ea typeface="华文楷体" pitchFamily="2" charset="-122"/>
                          <a:cs typeface="+mn-cs"/>
                        </a:rPr>
                        <a:t>实施</a:t>
                      </a:r>
                      <a:r>
                        <a:rPr lang="en-US" altLang="zh-CN" sz="1800" b="1" kern="1200" baseline="0" dirty="0" smtClean="0">
                          <a:solidFill>
                            <a:schemeClr val="tx1"/>
                          </a:solidFill>
                          <a:latin typeface="华文楷体" pitchFamily="2" charset="-122"/>
                          <a:ea typeface="华文楷体" pitchFamily="2" charset="-122"/>
                          <a:cs typeface="+mn-cs"/>
                        </a:rPr>
                        <a:t>(</a:t>
                      </a:r>
                      <a:r>
                        <a:rPr lang="zh-CN" altLang="en-US" sz="1800" b="1" kern="1200" baseline="0" dirty="0" smtClean="0">
                          <a:solidFill>
                            <a:schemeClr val="tx1"/>
                          </a:solidFill>
                          <a:latin typeface="华文楷体" pitchFamily="2" charset="-122"/>
                          <a:ea typeface="华文楷体" pitchFamily="2" charset="-122"/>
                          <a:cs typeface="+mn-cs"/>
                        </a:rPr>
                        <a:t>实施和运行</a:t>
                      </a:r>
                      <a:r>
                        <a:rPr lang="en-US" altLang="zh-CN" sz="1800" b="1" kern="1200" baseline="0" dirty="0" smtClean="0">
                          <a:solidFill>
                            <a:schemeClr val="tx1"/>
                          </a:solidFill>
                          <a:latin typeface="华文楷体" pitchFamily="2" charset="-122"/>
                          <a:ea typeface="华文楷体" pitchFamily="2" charset="-122"/>
                          <a:cs typeface="+mn-cs"/>
                        </a:rPr>
                        <a:t>ISMS)</a:t>
                      </a:r>
                      <a:endParaRPr lang="zh-CN" altLang="en-US" sz="1800" b="1" kern="1200" baseline="0" dirty="0">
                        <a:solidFill>
                          <a:schemeClr val="tx1"/>
                        </a:solidFill>
                        <a:latin typeface="华文楷体" pitchFamily="2" charset="-122"/>
                        <a:ea typeface="华文楷体" pitchFamily="2" charset="-122"/>
                        <a:cs typeface="+mn-cs"/>
                      </a:endParaRPr>
                    </a:p>
                  </a:txBody>
                  <a:tcPr marL="91442" marR="91442" marT="38189" marB="38189" anchor="ctr" anchorCtr="1"/>
                </a:tc>
                <a:tc>
                  <a:txBody>
                    <a:bodyPr/>
                    <a:lstStyle/>
                    <a:p>
                      <a:r>
                        <a:rPr lang="zh-CN" altLang="en-US" sz="1800" b="1" kern="1200" baseline="0" dirty="0" smtClean="0">
                          <a:solidFill>
                            <a:schemeClr val="tx1"/>
                          </a:solidFill>
                          <a:latin typeface="华文楷体" pitchFamily="2" charset="-122"/>
                          <a:ea typeface="华文楷体" pitchFamily="2" charset="-122"/>
                          <a:cs typeface="+mn-cs"/>
                        </a:rPr>
                        <a:t>实施和运行</a:t>
                      </a:r>
                      <a:r>
                        <a:rPr lang="en-US" altLang="zh-CN" sz="1800" b="1" kern="1200" baseline="0" dirty="0" smtClean="0">
                          <a:solidFill>
                            <a:schemeClr val="tx1"/>
                          </a:solidFill>
                          <a:latin typeface="华文楷体" pitchFamily="2" charset="-122"/>
                          <a:ea typeface="华文楷体" pitchFamily="2" charset="-122"/>
                          <a:cs typeface="+mn-cs"/>
                        </a:rPr>
                        <a:t>ISMS</a:t>
                      </a:r>
                      <a:r>
                        <a:rPr lang="zh-CN" altLang="en-US" sz="1800" b="1" kern="1200" baseline="0" dirty="0" smtClean="0">
                          <a:solidFill>
                            <a:schemeClr val="tx1"/>
                          </a:solidFill>
                          <a:latin typeface="华文楷体" pitchFamily="2" charset="-122"/>
                          <a:ea typeface="华文楷体" pitchFamily="2" charset="-122"/>
                          <a:cs typeface="+mn-cs"/>
                        </a:rPr>
                        <a:t>方针、控制措施、过程和程序。</a:t>
                      </a:r>
                      <a:endParaRPr lang="zh-CN" altLang="en-US" sz="1800" b="1" kern="1200" baseline="0" dirty="0">
                        <a:solidFill>
                          <a:schemeClr val="tx1"/>
                        </a:solidFill>
                        <a:latin typeface="华文楷体" pitchFamily="2" charset="-122"/>
                        <a:ea typeface="华文楷体" pitchFamily="2" charset="-122"/>
                        <a:cs typeface="+mn-cs"/>
                      </a:endParaRPr>
                    </a:p>
                  </a:txBody>
                  <a:tcPr marL="91442" marR="91442" marT="38189" marB="38189" anchor="ctr"/>
                </a:tc>
              </a:tr>
              <a:tr h="945759">
                <a:tc>
                  <a:txBody>
                    <a:bodyPr/>
                    <a:lstStyle/>
                    <a:p>
                      <a:r>
                        <a:rPr lang="zh-CN" altLang="en-US" sz="1800" b="1" kern="1200" baseline="0" dirty="0" smtClean="0">
                          <a:solidFill>
                            <a:schemeClr val="tx1"/>
                          </a:solidFill>
                          <a:latin typeface="华文楷体" pitchFamily="2" charset="-122"/>
                          <a:ea typeface="华文楷体" pitchFamily="2" charset="-122"/>
                          <a:cs typeface="+mn-cs"/>
                        </a:rPr>
                        <a:t>检查</a:t>
                      </a:r>
                      <a:r>
                        <a:rPr lang="en-US" altLang="zh-CN" sz="1800" b="1" kern="1200" baseline="0" dirty="0" smtClean="0">
                          <a:solidFill>
                            <a:schemeClr val="tx1"/>
                          </a:solidFill>
                          <a:latin typeface="华文楷体" pitchFamily="2" charset="-122"/>
                          <a:ea typeface="华文楷体" pitchFamily="2" charset="-122"/>
                          <a:cs typeface="+mn-cs"/>
                        </a:rPr>
                        <a:t>(</a:t>
                      </a:r>
                      <a:r>
                        <a:rPr lang="zh-CN" altLang="en-US" sz="1800" b="1" kern="1200" baseline="0" dirty="0" smtClean="0">
                          <a:solidFill>
                            <a:schemeClr val="tx1"/>
                          </a:solidFill>
                          <a:latin typeface="华文楷体" pitchFamily="2" charset="-122"/>
                          <a:ea typeface="华文楷体" pitchFamily="2" charset="-122"/>
                          <a:cs typeface="+mn-cs"/>
                        </a:rPr>
                        <a:t>监视和评审</a:t>
                      </a:r>
                      <a:r>
                        <a:rPr lang="en-US" altLang="zh-CN" sz="1800" b="1" kern="1200" baseline="0" dirty="0" smtClean="0">
                          <a:solidFill>
                            <a:schemeClr val="tx1"/>
                          </a:solidFill>
                          <a:latin typeface="华文楷体" pitchFamily="2" charset="-122"/>
                          <a:ea typeface="华文楷体" pitchFamily="2" charset="-122"/>
                          <a:cs typeface="+mn-cs"/>
                        </a:rPr>
                        <a:t>ISMS)</a:t>
                      </a:r>
                      <a:endParaRPr lang="zh-CN" altLang="en-US" sz="1800" b="1" kern="1200" baseline="0" dirty="0">
                        <a:solidFill>
                          <a:schemeClr val="tx1"/>
                        </a:solidFill>
                        <a:latin typeface="华文楷体" pitchFamily="2" charset="-122"/>
                        <a:ea typeface="华文楷体" pitchFamily="2" charset="-122"/>
                        <a:cs typeface="+mn-cs"/>
                      </a:endParaRPr>
                    </a:p>
                  </a:txBody>
                  <a:tcPr marL="91442" marR="91442" marT="38189" marB="38189" anchor="ctr" anchorCtr="1"/>
                </a:tc>
                <a:tc>
                  <a:txBody>
                    <a:bodyPr/>
                    <a:lstStyle/>
                    <a:p>
                      <a:r>
                        <a:rPr lang="zh-CN" altLang="en-US" sz="1800" b="1" baseline="0" dirty="0" smtClean="0">
                          <a:latin typeface="华文楷体" pitchFamily="2" charset="-122"/>
                          <a:ea typeface="华文楷体" pitchFamily="2" charset="-122"/>
                        </a:rPr>
                        <a:t>对照</a:t>
                      </a:r>
                      <a:r>
                        <a:rPr lang="en-US" altLang="zh-CN" sz="1800" b="1" baseline="0" dirty="0" smtClean="0">
                          <a:latin typeface="华文楷体" pitchFamily="2" charset="-122"/>
                          <a:ea typeface="华文楷体" pitchFamily="2" charset="-122"/>
                        </a:rPr>
                        <a:t>ISMS</a:t>
                      </a:r>
                      <a:r>
                        <a:rPr lang="zh-CN" altLang="en-US" sz="1800" b="1" baseline="0" dirty="0" smtClean="0">
                          <a:latin typeface="华文楷体" pitchFamily="2" charset="-122"/>
                          <a:ea typeface="华文楷体" pitchFamily="2" charset="-122"/>
                        </a:rPr>
                        <a:t>方针、目标和实践经验，评估并在适当时，测量过程的执行情况，并将结果报告管理者以供评审。</a:t>
                      </a:r>
                      <a:endParaRPr lang="zh-CN" altLang="en-US" sz="1800" b="1" baseline="0" dirty="0">
                        <a:latin typeface="华文楷体" pitchFamily="2" charset="-122"/>
                        <a:ea typeface="华文楷体" pitchFamily="2" charset="-122"/>
                      </a:endParaRPr>
                    </a:p>
                  </a:txBody>
                  <a:tcPr marL="91442" marR="91442" marT="38189" marB="38189" anchor="ctr"/>
                </a:tc>
              </a:tr>
              <a:tr h="668761">
                <a:tc>
                  <a:txBody>
                    <a:bodyPr/>
                    <a:lstStyle/>
                    <a:p>
                      <a:r>
                        <a:rPr lang="zh-CN" altLang="en-US" sz="1800" b="1" baseline="0" dirty="0" smtClean="0">
                          <a:latin typeface="华文楷体" pitchFamily="2" charset="-122"/>
                          <a:ea typeface="华文楷体" pitchFamily="2" charset="-122"/>
                        </a:rPr>
                        <a:t>处置</a:t>
                      </a:r>
                      <a:r>
                        <a:rPr lang="en-US" altLang="zh-CN" sz="1800" b="1" baseline="0" dirty="0" smtClean="0">
                          <a:latin typeface="华文楷体" pitchFamily="2" charset="-122"/>
                          <a:ea typeface="华文楷体" pitchFamily="2" charset="-122"/>
                        </a:rPr>
                        <a:t>(</a:t>
                      </a:r>
                      <a:r>
                        <a:rPr lang="zh-CN" altLang="en-US" sz="1800" b="1" baseline="0" dirty="0" smtClean="0">
                          <a:latin typeface="华文楷体" pitchFamily="2" charset="-122"/>
                          <a:ea typeface="华文楷体" pitchFamily="2" charset="-122"/>
                        </a:rPr>
                        <a:t>保持和改进</a:t>
                      </a:r>
                      <a:r>
                        <a:rPr lang="en-US" altLang="zh-CN" sz="1800" b="1" baseline="0" dirty="0" smtClean="0">
                          <a:latin typeface="华文楷体" pitchFamily="2" charset="-122"/>
                          <a:ea typeface="华文楷体" pitchFamily="2" charset="-122"/>
                        </a:rPr>
                        <a:t>ISMS)</a:t>
                      </a:r>
                      <a:endParaRPr lang="zh-CN" altLang="en-US" sz="1800" b="1" baseline="0" dirty="0">
                        <a:latin typeface="华文楷体" pitchFamily="2" charset="-122"/>
                        <a:ea typeface="华文楷体" pitchFamily="2" charset="-122"/>
                      </a:endParaRPr>
                    </a:p>
                  </a:txBody>
                  <a:tcPr marL="91442" marR="91442" marT="38189" marB="38189" anchor="ctr" anchorCtr="1"/>
                </a:tc>
                <a:tc>
                  <a:txBody>
                    <a:bodyPr/>
                    <a:lstStyle/>
                    <a:p>
                      <a:r>
                        <a:rPr lang="zh-CN" altLang="en-US" sz="1800" b="1" baseline="0" dirty="0" smtClean="0">
                          <a:latin typeface="华文楷体" pitchFamily="2" charset="-122"/>
                          <a:ea typeface="华文楷体" pitchFamily="2" charset="-122"/>
                        </a:rPr>
                        <a:t>基于</a:t>
                      </a:r>
                      <a:r>
                        <a:rPr lang="en-US" altLang="zh-CN" sz="1800" b="1" baseline="0" dirty="0" smtClean="0">
                          <a:latin typeface="华文楷体" pitchFamily="2" charset="-122"/>
                          <a:ea typeface="华文楷体" pitchFamily="2" charset="-122"/>
                        </a:rPr>
                        <a:t>ISMS</a:t>
                      </a:r>
                      <a:r>
                        <a:rPr lang="zh-CN" altLang="en-US" sz="1800" b="1" baseline="0" dirty="0" smtClean="0">
                          <a:latin typeface="华文楷体" pitchFamily="2" charset="-122"/>
                          <a:ea typeface="华文楷体" pitchFamily="2" charset="-122"/>
                        </a:rPr>
                        <a:t>内部审核和管理评审的结果或者其它相关信息，采取纠正和预防措施，以持续改进</a:t>
                      </a:r>
                      <a:r>
                        <a:rPr lang="en-US" altLang="zh-CN" sz="1800" b="1" baseline="0" dirty="0" smtClean="0">
                          <a:latin typeface="华文楷体" pitchFamily="2" charset="-122"/>
                          <a:ea typeface="华文楷体" pitchFamily="2" charset="-122"/>
                        </a:rPr>
                        <a:t>ISMS</a:t>
                      </a:r>
                      <a:r>
                        <a:rPr lang="zh-CN" altLang="en-US" sz="1800" b="1" baseline="0" dirty="0" smtClean="0">
                          <a:latin typeface="华文楷体" pitchFamily="2" charset="-122"/>
                          <a:ea typeface="华文楷体" pitchFamily="2" charset="-122"/>
                        </a:rPr>
                        <a:t>。</a:t>
                      </a:r>
                      <a:endParaRPr lang="zh-CN" altLang="en-US" sz="1800" b="1" baseline="0" dirty="0">
                        <a:latin typeface="华文楷体" pitchFamily="2" charset="-122"/>
                        <a:ea typeface="华文楷体" pitchFamily="2" charset="-122"/>
                      </a:endParaRPr>
                    </a:p>
                  </a:txBody>
                  <a:tcPr marL="91442" marR="91442" marT="38189" marB="38189" anchor="ctr"/>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par>
                          <p:cTn id="13" fill="hold">
                            <p:stCondLst>
                              <p:cond delay="2000"/>
                            </p:stCondLst>
                            <p:childTnLst>
                              <p:par>
                                <p:cTn id="14" presetID="2" presetClass="entr" presetSubtype="4"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实施方法与模型</a:t>
            </a:r>
          </a:p>
        </p:txBody>
      </p:sp>
      <p:sp>
        <p:nvSpPr>
          <p:cNvPr id="7171" name="内容占位符 2"/>
          <p:cNvSpPr>
            <a:spLocks noGrp="1"/>
          </p:cNvSpPr>
          <p:nvPr>
            <p:ph idx="1"/>
          </p:nvPr>
        </p:nvSpPr>
        <p:spPr>
          <a:xfrm>
            <a:off x="304800" y="990600"/>
            <a:ext cx="8229600" cy="4495800"/>
          </a:xfrm>
          <a:ln/>
        </p:spPr>
        <p:txBody>
          <a:bodyPr vert="horz" wrap="square" lIns="91440" tIns="45720" rIns="91440" bIns="45720" anchor="t" anchorCtr="0"/>
          <a:lstStyle/>
          <a:p>
            <a:pPr eaLnBrk="1" hangingPunct="1">
              <a:spcAft>
                <a:spcPct val="20000"/>
              </a:spcAft>
              <a:buClr>
                <a:srgbClr val="AC04A0"/>
              </a:buClr>
            </a:pPr>
            <a:r>
              <a:rPr lang="zh-CN" altLang="en-US" sz="2800" b="1" dirty="0">
                <a:solidFill>
                  <a:srgbClr val="000000"/>
                </a:solidFill>
                <a:latin typeface="楷体_GB2312" pitchFamily="49" charset="-122"/>
                <a:ea typeface="楷体_GB2312" pitchFamily="49" charset="-122"/>
              </a:rPr>
              <a:t>应用于</a:t>
            </a:r>
            <a:r>
              <a:rPr lang="en-US" altLang="zh-CN" sz="2800" b="1" dirty="0">
                <a:solidFill>
                  <a:srgbClr val="000000"/>
                </a:solidFill>
                <a:latin typeface="楷体_GB2312" pitchFamily="49" charset="-122"/>
                <a:ea typeface="楷体_GB2312" pitchFamily="49" charset="-122"/>
              </a:rPr>
              <a:t>ISMS</a:t>
            </a:r>
            <a:r>
              <a:rPr lang="zh-CN" altLang="en-US" sz="2800" b="1" dirty="0">
                <a:solidFill>
                  <a:srgbClr val="000000"/>
                </a:solidFill>
                <a:latin typeface="楷体_GB2312" pitchFamily="49" charset="-122"/>
                <a:ea typeface="楷体_GB2312" pitchFamily="49" charset="-122"/>
              </a:rPr>
              <a:t>过程的</a:t>
            </a:r>
            <a:r>
              <a:rPr lang="en-US" altLang="zh-CN" sz="2800" b="1" dirty="0">
                <a:solidFill>
                  <a:srgbClr val="000000"/>
                </a:solidFill>
                <a:latin typeface="楷体_GB2312" pitchFamily="49" charset="-122"/>
                <a:ea typeface="楷体_GB2312" pitchFamily="49" charset="-122"/>
              </a:rPr>
              <a:t>PCDA</a:t>
            </a:r>
            <a:r>
              <a:rPr lang="zh-CN" altLang="en-US" sz="2800" b="1" dirty="0">
                <a:solidFill>
                  <a:srgbClr val="000000"/>
                </a:solidFill>
                <a:latin typeface="楷体_GB2312" pitchFamily="49" charset="-122"/>
                <a:ea typeface="楷体_GB2312" pitchFamily="49" charset="-122"/>
              </a:rPr>
              <a:t>模型图</a:t>
            </a:r>
          </a:p>
        </p:txBody>
      </p:sp>
      <p:pic>
        <p:nvPicPr>
          <p:cNvPr id="7172" name="Picture 1" descr="C:\Users\26958\AppData\Roaming\Tencent\Users\2695890098\QQ\WinTemp\RichOle\R$9KBTSWV6{OL8)1GJYC$%F.png"/>
          <p:cNvPicPr>
            <a:picLocks noChangeAspect="1"/>
          </p:cNvPicPr>
          <p:nvPr/>
        </p:nvPicPr>
        <p:blipFill>
          <a:blip r:embed="rId2"/>
          <a:stretch>
            <a:fillRect/>
          </a:stretch>
        </p:blipFill>
        <p:spPr>
          <a:xfrm>
            <a:off x="1295400" y="1611313"/>
            <a:ext cx="6629400" cy="3746500"/>
          </a:xfrm>
          <a:prstGeom prst="rect">
            <a:avLst/>
          </a:prstGeom>
          <a:noFill/>
          <a:ln w="9525">
            <a:noFill/>
          </a:ln>
        </p:spPr>
      </p:pic>
      <p:sp>
        <p:nvSpPr>
          <p:cNvPr id="7173" name="文本框 1"/>
          <p:cNvSpPr txBox="1"/>
          <p:nvPr/>
        </p:nvSpPr>
        <p:spPr>
          <a:xfrm>
            <a:off x="381000" y="5438775"/>
            <a:ext cx="8382000" cy="1016000"/>
          </a:xfrm>
          <a:prstGeom prst="rect">
            <a:avLst/>
          </a:prstGeom>
          <a:noFill/>
          <a:ln w="9525">
            <a:noFill/>
          </a:ln>
        </p:spPr>
        <p:txBody>
          <a:bodyPr>
            <a:spAutoFit/>
          </a:bodyPr>
          <a:lstStyle/>
          <a:p>
            <a:r>
              <a:rPr lang="zh-CN" altLang="zh-CN" sz="2000" b="1" dirty="0">
                <a:latin typeface="华文细黑" pitchFamily="2" charset="-122"/>
                <a:ea typeface="华文细黑" pitchFamily="2" charset="-122"/>
              </a:rPr>
              <a:t>应用于</a:t>
            </a:r>
            <a:r>
              <a:rPr lang="en-US" altLang="zh-CN" sz="2000" b="1" dirty="0">
                <a:latin typeface="华文细黑" pitchFamily="2" charset="-122"/>
                <a:ea typeface="华文细黑" pitchFamily="2" charset="-122"/>
              </a:rPr>
              <a:t>ISMS</a:t>
            </a:r>
            <a:r>
              <a:rPr lang="zh-CN" altLang="zh-CN" sz="2000" b="1" dirty="0">
                <a:latin typeface="华文细黑" pitchFamily="2" charset="-122"/>
                <a:ea typeface="华文细黑" pitchFamily="2" charset="-122"/>
              </a:rPr>
              <a:t>过程的</a:t>
            </a:r>
            <a:r>
              <a:rPr lang="en-US" altLang="zh-CN" sz="2000" b="1" dirty="0">
                <a:latin typeface="华文细黑" pitchFamily="2" charset="-122"/>
                <a:ea typeface="华文细黑" pitchFamily="2" charset="-122"/>
              </a:rPr>
              <a:t>PDCA</a:t>
            </a:r>
            <a:r>
              <a:rPr lang="zh-CN" altLang="zh-CN" sz="2000" b="1" dirty="0">
                <a:latin typeface="华文细黑" pitchFamily="2" charset="-122"/>
                <a:ea typeface="华文细黑" pitchFamily="2" charset="-122"/>
              </a:rPr>
              <a:t>模型说明了</a:t>
            </a:r>
            <a:r>
              <a:rPr lang="en-US" altLang="zh-CN" sz="2000" b="1" dirty="0">
                <a:latin typeface="华文细黑" pitchFamily="2" charset="-122"/>
                <a:ea typeface="华文细黑" pitchFamily="2" charset="-122"/>
              </a:rPr>
              <a:t>ISMS</a:t>
            </a:r>
            <a:r>
              <a:rPr lang="zh-CN" altLang="zh-CN" sz="2000" b="1" dirty="0">
                <a:latin typeface="华文细黑" pitchFamily="2" charset="-122"/>
                <a:ea typeface="华文细黑" pitchFamily="2" charset="-122"/>
              </a:rPr>
              <a:t>如何把</a:t>
            </a:r>
            <a:r>
              <a:rPr lang="zh-CN" altLang="zh-CN" sz="2000" b="1" dirty="0">
                <a:solidFill>
                  <a:srgbClr val="FF0000"/>
                </a:solidFill>
                <a:latin typeface="华文细黑" pitchFamily="2" charset="-122"/>
                <a:ea typeface="华文细黑" pitchFamily="2" charset="-122"/>
              </a:rPr>
              <a:t>相关方</a:t>
            </a:r>
            <a:r>
              <a:rPr lang="zh-CN" altLang="zh-CN" sz="2000" b="1" dirty="0">
                <a:latin typeface="华文细黑" pitchFamily="2" charset="-122"/>
                <a:ea typeface="华文细黑" pitchFamily="2" charset="-122"/>
              </a:rPr>
              <a:t>的</a:t>
            </a:r>
            <a:r>
              <a:rPr lang="zh-CN" altLang="zh-CN" sz="2000" b="1" dirty="0">
                <a:solidFill>
                  <a:srgbClr val="FF0000"/>
                </a:solidFill>
                <a:latin typeface="华文细黑" pitchFamily="2" charset="-122"/>
                <a:ea typeface="华文细黑" pitchFamily="2" charset="-122"/>
              </a:rPr>
              <a:t>信息安全要求和期望</a:t>
            </a:r>
            <a:r>
              <a:rPr lang="zh-CN" altLang="zh-CN" sz="2000" b="1" dirty="0">
                <a:latin typeface="华文细黑" pitchFamily="2" charset="-122"/>
                <a:ea typeface="华文细黑" pitchFamily="2" charset="-122"/>
              </a:rPr>
              <a:t>作为输入，并通过必要的行动和过程，产生满足这些要求和期望的</a:t>
            </a:r>
            <a:r>
              <a:rPr lang="zh-CN" altLang="zh-CN" sz="2000" b="1" dirty="0">
                <a:solidFill>
                  <a:srgbClr val="FF0000"/>
                </a:solidFill>
                <a:latin typeface="华文细黑" pitchFamily="2" charset="-122"/>
                <a:ea typeface="华文细黑" pitchFamily="2" charset="-122"/>
              </a:rPr>
              <a:t>信息安全结果</a:t>
            </a:r>
            <a:r>
              <a:rPr lang="zh-CN" altLang="zh-CN" sz="2000" b="1" dirty="0">
                <a:latin typeface="华文细黑" pitchFamily="2" charset="-122"/>
                <a:ea typeface="华文细黑" pitchFamily="2" charset="-122"/>
              </a:rPr>
              <a:t>。</a:t>
            </a:r>
            <a:endParaRPr lang="zh-CN" altLang="en-US" sz="2000" b="1" dirty="0">
              <a:latin typeface="华文细黑" pitchFamily="2" charset="-122"/>
              <a:ea typeface="华文细黑" pitchFamily="2" charset="-122"/>
            </a:endParaRP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8195" name="Group 3"/>
          <p:cNvGrpSpPr/>
          <p:nvPr/>
        </p:nvGrpSpPr>
        <p:grpSpPr>
          <a:xfrm>
            <a:off x="1828800" y="1752600"/>
            <a:ext cx="762000" cy="665163"/>
            <a:chOff x="1110" y="2656"/>
            <a:chExt cx="1549" cy="1351"/>
          </a:xfrm>
        </p:grpSpPr>
        <p:sp>
          <p:nvSpPr>
            <p:cNvPr id="8226"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8227"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8196" name="Group 7"/>
          <p:cNvGrpSpPr/>
          <p:nvPr/>
        </p:nvGrpSpPr>
        <p:grpSpPr>
          <a:xfrm>
            <a:off x="1828800" y="2667000"/>
            <a:ext cx="762000" cy="665163"/>
            <a:chOff x="3174" y="2656"/>
            <a:chExt cx="1549" cy="1351"/>
          </a:xfrm>
        </p:grpSpPr>
        <p:sp>
          <p:nvSpPr>
            <p:cNvPr id="8223"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8224"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8197" name="Line 11"/>
          <p:cNvSpPr/>
          <p:nvPr/>
        </p:nvSpPr>
        <p:spPr>
          <a:xfrm>
            <a:off x="2438400" y="2362200"/>
            <a:ext cx="4800600" cy="0"/>
          </a:xfrm>
          <a:prstGeom prst="line">
            <a:avLst/>
          </a:prstGeom>
          <a:ln w="25400" cap="flat" cmpd="sng">
            <a:solidFill>
              <a:srgbClr val="C0C0C0"/>
            </a:solidFill>
            <a:prstDash val="sysDot"/>
            <a:headEnd type="none" w="med" len="med"/>
            <a:tailEnd type="oval" w="med" len="med"/>
          </a:ln>
        </p:spPr>
      </p:sp>
      <p:sp>
        <p:nvSpPr>
          <p:cNvPr id="8198" name="Text Box 12"/>
          <p:cNvSpPr txBox="1"/>
          <p:nvPr/>
        </p:nvSpPr>
        <p:spPr>
          <a:xfrm>
            <a:off x="2590800" y="1809750"/>
            <a:ext cx="5638800" cy="523875"/>
          </a:xfrm>
          <a:prstGeom prst="rect">
            <a:avLst/>
          </a:prstGeom>
          <a:noFill/>
          <a:ln w="9525">
            <a:noFill/>
          </a:ln>
        </p:spPr>
        <p:txBody>
          <a:bodyPr>
            <a:spAutoFit/>
          </a:bodyPr>
          <a:lstStyle/>
          <a:p>
            <a:r>
              <a:rPr lang="en-US" altLang="zh-CN" sz="2800" b="1" dirty="0">
                <a:solidFill>
                  <a:schemeClr val="tx1"/>
                </a:solidFill>
                <a:latin typeface="Arial" panose="020B0604020202020204" pitchFamily="34" charset="0"/>
              </a:rPr>
              <a:t>ISMS</a:t>
            </a:r>
            <a:r>
              <a:rPr lang="zh-CN" altLang="en-US" sz="2800" b="1" dirty="0">
                <a:solidFill>
                  <a:schemeClr val="tx1"/>
                </a:solidFill>
                <a:latin typeface="Arial" panose="020B0604020202020204" pitchFamily="34" charset="0"/>
              </a:rPr>
              <a:t>实施方法与模型</a:t>
            </a:r>
          </a:p>
        </p:txBody>
      </p:sp>
      <p:sp>
        <p:nvSpPr>
          <p:cNvPr id="8199" name="Text Box 13"/>
          <p:cNvSpPr txBox="1"/>
          <p:nvPr/>
        </p:nvSpPr>
        <p:spPr>
          <a:xfrm>
            <a:off x="2025650" y="18510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1</a:t>
            </a:r>
          </a:p>
        </p:txBody>
      </p:sp>
      <p:sp>
        <p:nvSpPr>
          <p:cNvPr id="8200" name="Line 14"/>
          <p:cNvSpPr/>
          <p:nvPr/>
        </p:nvSpPr>
        <p:spPr>
          <a:xfrm>
            <a:off x="2438400" y="3276600"/>
            <a:ext cx="4800600" cy="0"/>
          </a:xfrm>
          <a:prstGeom prst="line">
            <a:avLst/>
          </a:prstGeom>
          <a:ln w="25400" cap="flat" cmpd="sng">
            <a:solidFill>
              <a:srgbClr val="C0C0C0"/>
            </a:solidFill>
            <a:prstDash val="sysDot"/>
            <a:headEnd type="none" w="med" len="med"/>
            <a:tailEnd type="oval" w="med" len="med"/>
          </a:ln>
        </p:spPr>
      </p:sp>
      <p:sp>
        <p:nvSpPr>
          <p:cNvPr id="8201" name="Text Box 16"/>
          <p:cNvSpPr txBox="1"/>
          <p:nvPr/>
        </p:nvSpPr>
        <p:spPr>
          <a:xfrm>
            <a:off x="2025650" y="27654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2</a:t>
            </a:r>
          </a:p>
        </p:txBody>
      </p:sp>
      <p:sp>
        <p:nvSpPr>
          <p:cNvPr id="8202" name="Text Box 21"/>
          <p:cNvSpPr txBox="1"/>
          <p:nvPr/>
        </p:nvSpPr>
        <p:spPr>
          <a:xfrm>
            <a:off x="2025650" y="36576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3</a:t>
            </a:r>
          </a:p>
        </p:txBody>
      </p:sp>
      <p:sp>
        <p:nvSpPr>
          <p:cNvPr id="8203" name="Text Box 22"/>
          <p:cNvSpPr txBox="1"/>
          <p:nvPr/>
        </p:nvSpPr>
        <p:spPr>
          <a:xfrm>
            <a:off x="1981200" y="52578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8204" name="Text Box 24"/>
          <p:cNvSpPr txBox="1"/>
          <p:nvPr/>
        </p:nvSpPr>
        <p:spPr>
          <a:xfrm>
            <a:off x="2590800" y="2667000"/>
            <a:ext cx="5029200" cy="523875"/>
          </a:xfrm>
          <a:prstGeom prst="rect">
            <a:avLst/>
          </a:prstGeom>
          <a:noFill/>
          <a:ln w="9525">
            <a:noFill/>
          </a:ln>
        </p:spPr>
        <p:txBody>
          <a:bodyPr>
            <a:spAutoFit/>
          </a:bodyPr>
          <a:lstStyle/>
          <a:p>
            <a:r>
              <a:rPr lang="en-US" altLang="zh-CN" sz="2800" b="1" dirty="0">
                <a:solidFill>
                  <a:srgbClr val="FF0000"/>
                </a:solidFill>
                <a:latin typeface="Arial" panose="020B0604020202020204" pitchFamily="34" charset="0"/>
              </a:rPr>
              <a:t>ISMS</a:t>
            </a:r>
            <a:r>
              <a:rPr lang="zh-CN" altLang="en-US" sz="2800" b="1" dirty="0">
                <a:solidFill>
                  <a:srgbClr val="FF0000"/>
                </a:solidFill>
                <a:latin typeface="Arial" panose="020B0604020202020204" pitchFamily="34" charset="0"/>
              </a:rPr>
              <a:t>实施过程</a:t>
            </a:r>
            <a:endParaRPr lang="en-US" altLang="zh-CN" sz="2800" b="1" dirty="0">
              <a:solidFill>
                <a:srgbClr val="FF0000"/>
              </a:solidFill>
              <a:latin typeface="Arial" panose="020B0604020202020204" pitchFamily="34" charset="0"/>
            </a:endParaRPr>
          </a:p>
        </p:txBody>
      </p:sp>
      <p:grpSp>
        <p:nvGrpSpPr>
          <p:cNvPr id="8205" name="Group 7"/>
          <p:cNvGrpSpPr/>
          <p:nvPr/>
        </p:nvGrpSpPr>
        <p:grpSpPr>
          <a:xfrm>
            <a:off x="1828800" y="4364038"/>
            <a:ext cx="762000" cy="665162"/>
            <a:chOff x="3174" y="2656"/>
            <a:chExt cx="1549" cy="1351"/>
          </a:xfrm>
        </p:grpSpPr>
        <p:sp>
          <p:nvSpPr>
            <p:cNvPr id="8220"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8221"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2"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600" b="0" i="0" u="none" strike="noStrike" kern="1200" cap="none" spc="0" normalizeH="0" baseline="0" noProof="0" dirty="0">
                  <a:ln>
                    <a:noFill/>
                  </a:ln>
                  <a:solidFill>
                    <a:schemeClr val="bg1"/>
                  </a:solidFill>
                  <a:effectLst/>
                  <a:uLnTx/>
                  <a:uFillTx/>
                  <a:latin typeface="+mj-lt"/>
                  <a:ea typeface="宋体" panose="02010600030101010101" pitchFamily="2" charset="-122"/>
                  <a:cs typeface="+mn-cs"/>
                </a:rPr>
                <a:t>4</a:t>
              </a:r>
              <a:endParaRPr kumimoji="0" lang="zh-CN" altLang="en-US" sz="2600" b="0" i="0" u="none" strike="noStrike" kern="1200" cap="none" spc="0" normalizeH="0" baseline="0" noProof="0" dirty="0">
                <a:ln>
                  <a:noFill/>
                </a:ln>
                <a:solidFill>
                  <a:schemeClr val="bg1"/>
                </a:solidFill>
                <a:effectLst/>
                <a:uLnTx/>
                <a:uFillTx/>
                <a:latin typeface="+mj-lt"/>
                <a:ea typeface="宋体" panose="02010600030101010101" pitchFamily="2" charset="-122"/>
                <a:cs typeface="+mn-cs"/>
              </a:endParaRPr>
            </a:p>
          </p:txBody>
        </p:sp>
      </p:grpSp>
      <p:sp>
        <p:nvSpPr>
          <p:cNvPr id="8206" name="Line 14"/>
          <p:cNvSpPr/>
          <p:nvPr/>
        </p:nvSpPr>
        <p:spPr>
          <a:xfrm>
            <a:off x="2438400" y="4953000"/>
            <a:ext cx="4800600" cy="0"/>
          </a:xfrm>
          <a:prstGeom prst="line">
            <a:avLst/>
          </a:prstGeom>
          <a:ln w="25400" cap="flat" cmpd="sng">
            <a:solidFill>
              <a:srgbClr val="C0C0C0"/>
            </a:solidFill>
            <a:prstDash val="sysDot"/>
            <a:headEnd type="none" w="med" len="med"/>
            <a:tailEnd type="oval" w="med" len="med"/>
          </a:ln>
        </p:spPr>
      </p:sp>
      <p:sp>
        <p:nvSpPr>
          <p:cNvPr id="8207" name="TextBox 1"/>
          <p:cNvSpPr txBox="1"/>
          <p:nvPr/>
        </p:nvSpPr>
        <p:spPr>
          <a:xfrm>
            <a:off x="2590800" y="4419600"/>
            <a:ext cx="2876550" cy="523875"/>
          </a:xfrm>
          <a:prstGeom prst="rect">
            <a:avLst/>
          </a:prstGeom>
          <a:noFill/>
          <a:ln w="9525">
            <a:noFill/>
          </a:ln>
        </p:spPr>
        <p:txBody>
          <a:bodyPr>
            <a:spAutoFit/>
          </a:bodyPr>
          <a:lstStyle/>
          <a:p>
            <a:pPr eaLnBrk="1" hangingPunct="1">
              <a:spcBef>
                <a:spcPct val="50000"/>
              </a:spcBef>
            </a:pPr>
            <a:r>
              <a:rPr lang="zh-CN" altLang="en-US" sz="2800" b="1" dirty="0">
                <a:solidFill>
                  <a:schemeClr val="tx1"/>
                </a:solidFill>
                <a:latin typeface="Arial" panose="020B0604020202020204" pitchFamily="34" charset="0"/>
              </a:rPr>
              <a:t>国外</a:t>
            </a:r>
            <a:r>
              <a:rPr lang="en-US" altLang="zh-CN" sz="2800" b="1" dirty="0">
                <a:solidFill>
                  <a:schemeClr val="tx1"/>
                </a:solidFill>
                <a:latin typeface="Arial" panose="020B0604020202020204" pitchFamily="34" charset="0"/>
              </a:rPr>
              <a:t>ISMS</a:t>
            </a:r>
            <a:r>
              <a:rPr lang="zh-CN" altLang="en-US" sz="2800" b="1" dirty="0">
                <a:solidFill>
                  <a:schemeClr val="tx1"/>
                </a:solidFill>
                <a:latin typeface="Arial" panose="020B0604020202020204" pitchFamily="34" charset="0"/>
              </a:rPr>
              <a:t>实践</a:t>
            </a:r>
          </a:p>
        </p:txBody>
      </p:sp>
      <p:grpSp>
        <p:nvGrpSpPr>
          <p:cNvPr id="8208" name="Group 3"/>
          <p:cNvGrpSpPr/>
          <p:nvPr/>
        </p:nvGrpSpPr>
        <p:grpSpPr>
          <a:xfrm>
            <a:off x="1828800" y="3525838"/>
            <a:ext cx="762000" cy="665162"/>
            <a:chOff x="1110" y="2656"/>
            <a:chExt cx="1549" cy="1351"/>
          </a:xfrm>
        </p:grpSpPr>
        <p:sp>
          <p:nvSpPr>
            <p:cNvPr id="8217"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8218"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8"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rPr>
                <a:t>3</a:t>
              </a:r>
              <a:endParaRPr kumimoji="0" lang="zh-CN" altLang="en-US"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8209" name="Line 14"/>
          <p:cNvSpPr/>
          <p:nvPr/>
        </p:nvSpPr>
        <p:spPr>
          <a:xfrm flipV="1">
            <a:off x="2438400" y="4105275"/>
            <a:ext cx="6553200" cy="9525"/>
          </a:xfrm>
          <a:prstGeom prst="line">
            <a:avLst/>
          </a:prstGeom>
          <a:ln w="25400" cap="flat" cmpd="sng">
            <a:solidFill>
              <a:srgbClr val="C0C0C0"/>
            </a:solidFill>
            <a:prstDash val="sysDot"/>
            <a:headEnd type="none" w="med" len="med"/>
            <a:tailEnd type="oval" w="med" len="med"/>
          </a:ln>
        </p:spPr>
      </p:sp>
      <p:sp>
        <p:nvSpPr>
          <p:cNvPr id="8210" name="TextBox 4"/>
          <p:cNvSpPr txBox="1"/>
          <p:nvPr/>
        </p:nvSpPr>
        <p:spPr>
          <a:xfrm>
            <a:off x="2590800" y="3581400"/>
            <a:ext cx="6477000" cy="523875"/>
          </a:xfrm>
          <a:prstGeom prst="rect">
            <a:avLst/>
          </a:prstGeom>
          <a:noFill/>
          <a:ln w="9525">
            <a:noFill/>
          </a:ln>
        </p:spPr>
        <p:txBody>
          <a:bodyPr>
            <a:spAutoFit/>
          </a:bodyPr>
          <a:lstStyle/>
          <a:p>
            <a:pPr eaLnBrk="1" hangingPunct="1">
              <a:spcBef>
                <a:spcPct val="50000"/>
              </a:spcBef>
            </a:pPr>
            <a:r>
              <a:rPr lang="en-US" altLang="zh-CN" sz="2800" b="1" dirty="0">
                <a:solidFill>
                  <a:schemeClr val="tx1"/>
                </a:solidFill>
                <a:latin typeface="Arial" panose="020B0604020202020204" pitchFamily="34" charset="0"/>
              </a:rPr>
              <a:t>ISMS</a:t>
            </a:r>
            <a:r>
              <a:rPr lang="zh-CN" altLang="en-US" sz="2800" b="1" dirty="0">
                <a:solidFill>
                  <a:schemeClr val="tx1"/>
                </a:solidFill>
                <a:latin typeface="宋体" panose="02010600030101010101" pitchFamily="2" charset="-122"/>
              </a:rPr>
              <a:t>、</a:t>
            </a:r>
            <a:r>
              <a:rPr lang="zh-CN" altLang="en-US" sz="2800" b="1" dirty="0">
                <a:solidFill>
                  <a:schemeClr val="tx1"/>
                </a:solidFill>
                <a:latin typeface="Arial" panose="020B0604020202020204" pitchFamily="34" charset="0"/>
              </a:rPr>
              <a:t>等级保护、风险评估三者的关系</a:t>
            </a:r>
          </a:p>
        </p:txBody>
      </p:sp>
      <p:grpSp>
        <p:nvGrpSpPr>
          <p:cNvPr id="8211" name="Group 3"/>
          <p:cNvGrpSpPr/>
          <p:nvPr/>
        </p:nvGrpSpPr>
        <p:grpSpPr>
          <a:xfrm>
            <a:off x="1828800" y="5126038"/>
            <a:ext cx="762000" cy="665162"/>
            <a:chOff x="1110" y="2656"/>
            <a:chExt cx="1549" cy="1351"/>
          </a:xfrm>
        </p:grpSpPr>
        <p:sp>
          <p:nvSpPr>
            <p:cNvPr id="8214"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8215"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9"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rPr>
                <a:t>5</a:t>
              </a:r>
              <a:endParaRPr kumimoji="0" lang="zh-CN" altLang="en-US"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8212" name="Line 14"/>
          <p:cNvSpPr/>
          <p:nvPr/>
        </p:nvSpPr>
        <p:spPr>
          <a:xfrm>
            <a:off x="2438400" y="5715000"/>
            <a:ext cx="4800600" cy="0"/>
          </a:xfrm>
          <a:prstGeom prst="line">
            <a:avLst/>
          </a:prstGeom>
          <a:ln w="25400" cap="flat" cmpd="sng">
            <a:solidFill>
              <a:srgbClr val="C0C0C0"/>
            </a:solidFill>
            <a:prstDash val="sysDot"/>
            <a:headEnd type="none" w="med" len="med"/>
            <a:tailEnd type="oval" w="med" len="med"/>
          </a:ln>
        </p:spPr>
      </p:sp>
      <p:sp>
        <p:nvSpPr>
          <p:cNvPr id="8213" name="TextBox 1"/>
          <p:cNvSpPr txBox="1"/>
          <p:nvPr/>
        </p:nvSpPr>
        <p:spPr>
          <a:xfrm>
            <a:off x="2590800" y="5181600"/>
            <a:ext cx="2876550" cy="523875"/>
          </a:xfrm>
          <a:prstGeom prst="rect">
            <a:avLst/>
          </a:prstGeom>
          <a:noFill/>
          <a:ln w="9525">
            <a:noFill/>
          </a:ln>
        </p:spPr>
        <p:txBody>
          <a:bodyPr>
            <a:spAutoFit/>
          </a:bodyPr>
          <a:lstStyle/>
          <a:p>
            <a:pPr eaLnBrk="1" hangingPunct="1">
              <a:spcBef>
                <a:spcPct val="50000"/>
              </a:spcBef>
            </a:pPr>
            <a:r>
              <a:rPr lang="zh-CN" altLang="en-US" sz="2800" b="1" dirty="0">
                <a:solidFill>
                  <a:schemeClr val="tx1"/>
                </a:solidFill>
                <a:latin typeface="Arial" panose="020B0604020202020204" pitchFamily="34" charset="0"/>
              </a:rPr>
              <a:t>思政点</a:t>
            </a:r>
          </a:p>
        </p:txBody>
      </p:sp>
    </p:spTree>
  </p:cSld>
  <p:clrMapOvr>
    <a:masterClrMapping/>
  </p:clrMapOvr>
  <p:transition>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19459" name="内容占位符 2"/>
          <p:cNvSpPr>
            <a:spLocks noGrp="1" noChangeArrowheads="1"/>
          </p:cNvSpPr>
          <p:nvPr>
            <p:ph idx="1"/>
          </p:nvPr>
        </p:nvSpPr>
        <p:spPr>
          <a:xfrm>
            <a:off x="304800" y="1828800"/>
            <a:ext cx="8229600" cy="2743200"/>
          </a:xfrm>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20000"/>
              </a:spcAft>
              <a:buClr>
                <a:srgbClr val="AC04A0"/>
              </a:buClr>
              <a:buSzPct val="100000"/>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的规划和设计</a:t>
            </a:r>
            <a:endPar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0" marR="0" lvl="0" indent="360045" algn="l" defTabSz="914400" rtl="0" eaLnBrk="1" fontAlgn="base" latinLnBrk="0" hangingPunct="1">
              <a:lnSpc>
                <a:spcPct val="150000"/>
              </a:lnSpc>
              <a:spcBef>
                <a:spcPts val="0"/>
              </a:spcBef>
              <a:spcAft>
                <a:spcPts val="0"/>
              </a:spcAft>
              <a:buClr>
                <a:srgbClr val="AC04A0"/>
              </a:buClr>
              <a:buSzTx/>
              <a:buFont typeface="Wingdings" panose="05000000000000000000" pitchFamily="2" charset="2"/>
              <a:buNone/>
              <a:defRPr/>
            </a:pPr>
            <a:r>
              <a:rPr kumimoji="0" lang="en-US" altLang="zh-CN" sz="32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 </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以</a:t>
            </a: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A</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单位的电子政务</a:t>
            </a: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ISMS</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的实施过程为例，</a:t>
            </a: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A</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单位根据标准要求，将</a:t>
            </a:r>
            <a:r>
              <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I</a:t>
            </a: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SMS</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的建设过程划分</a:t>
            </a: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建立阶段（</a:t>
            </a:r>
            <a:r>
              <a:rPr kumimoji="0" lang="en-US" altLang="zh-CN"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Plan</a:t>
            </a: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）、实施和运行阶段（</a:t>
            </a:r>
            <a:r>
              <a:rPr kumimoji="0" lang="en-US" altLang="zh-CN"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Do</a:t>
            </a: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）、监视和评审阶段（</a:t>
            </a:r>
            <a:r>
              <a:rPr kumimoji="0" lang="en-US" altLang="zh-CN"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Check</a:t>
            </a: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）及保持和改进阶段（</a:t>
            </a:r>
            <a:r>
              <a:rPr kumimoji="0" lang="en-US" altLang="zh-CN"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Act</a:t>
            </a: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a:t>
            </a:r>
            <a:endParaRPr kumimoji="0" lang="en-US" altLang="zh-CN" sz="32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 calcmode="lin" valueType="num">
                                      <p:cBhvr additive="base">
                                        <p:cTn id="7"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19459" name="内容占位符 2"/>
          <p:cNvSpPr>
            <a:spLocks noGrp="1" noChangeArrowheads="1"/>
          </p:cNvSpPr>
          <p:nvPr>
            <p:ph idx="1"/>
          </p:nvPr>
        </p:nvSpPr>
        <p:spPr>
          <a:xfrm>
            <a:off x="304800" y="533400"/>
            <a:ext cx="8229600" cy="5867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0" marR="0" lvl="1" indent="0" algn="l" defTabSz="914400" rtl="0" eaLnBrk="1" fontAlgn="base" latinLnBrk="0" hangingPunct="1">
              <a:lnSpc>
                <a:spcPct val="100000"/>
              </a:lnSpc>
              <a:spcBef>
                <a:spcPct val="20000"/>
              </a:spcBef>
              <a:spcAft>
                <a:spcPct val="20000"/>
              </a:spcAft>
              <a:buClr>
                <a:srgbClr val="AC04A0"/>
              </a:buClr>
              <a:buSzPct val="100000"/>
              <a:buFont typeface="Wingdings" panose="05000000000000000000" pitchFamily="2" charset="2"/>
              <a:buNone/>
              <a:defRPr/>
            </a:pPr>
            <a:r>
              <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单位</a:t>
            </a:r>
            <a:r>
              <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建设流程图</a:t>
            </a:r>
            <a:endPar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endParaRPr kumimoji="0" lang="en-US" altLang="zh-CN" sz="24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0" marR="0" lvl="0" indent="0" algn="l" defTabSz="914400" rtl="0" eaLnBrk="1" fontAlgn="base" latinLnBrk="0" hangingPunct="1">
              <a:lnSpc>
                <a:spcPct val="100000"/>
              </a:lnSpc>
              <a:spcBef>
                <a:spcPct val="20000"/>
              </a:spcBef>
              <a:spcAft>
                <a:spcPct val="0"/>
              </a:spcAft>
              <a:buClr>
                <a:srgbClr val="7030A0"/>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pic>
        <p:nvPicPr>
          <p:cNvPr id="11268" name="Picture 1" descr="C:\Users\26958\AppData\Roaming\Tencent\Users\2695890098\QQ\WinTemp\RichOle\1UY~R9V1WF}WC5RY08B~_%5.png"/>
          <p:cNvPicPr>
            <a:picLocks noChangeAspect="1"/>
          </p:cNvPicPr>
          <p:nvPr/>
        </p:nvPicPr>
        <p:blipFill>
          <a:blip r:embed="rId2"/>
          <a:stretch>
            <a:fillRect/>
          </a:stretch>
        </p:blipFill>
        <p:spPr>
          <a:xfrm>
            <a:off x="1676400" y="1828800"/>
            <a:ext cx="6477000" cy="494982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ppt_x"/>
                                          </p:val>
                                        </p:tav>
                                        <p:tav tm="100000">
                                          <p:val>
                                            <p:strVal val="#ppt_x"/>
                                          </p:val>
                                        </p:tav>
                                      </p:tavLst>
                                    </p:anim>
                                    <p:anim calcmode="lin" valueType="num">
                                      <p:cBhvr additive="base">
                                        <p:cTn id="8" dur="500" fill="hold"/>
                                        <p:tgtEl>
                                          <p:spTgt spid="112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xfrm>
            <a:off x="914400" y="304800"/>
            <a:ext cx="7010400" cy="563563"/>
          </a:xfrm>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19459" name="内容占位符 2"/>
          <p:cNvSpPr>
            <a:spLocks noGrp="1" noChangeArrowheads="1"/>
          </p:cNvSpPr>
          <p:nvPr>
            <p:ph idx="1"/>
          </p:nvPr>
        </p:nvSpPr>
        <p:spPr>
          <a:xfrm>
            <a:off x="381000" y="2209800"/>
            <a:ext cx="8229600" cy="2667000"/>
          </a:xfrm>
        </p:spPr>
        <p:txBody>
          <a:bodyPr vert="horz" wrap="square" lIns="91440" tIns="45720" rIns="91440" bIns="45720" numCol="1" anchor="t" anchorCtr="0" compatLnSpc="1"/>
          <a:lstStyle/>
          <a:p>
            <a:pPr marL="457200" marR="0" lvl="1" indent="-457200" algn="l" defTabSz="914400" rtl="0" eaLnBrk="1" fontAlgn="base" latinLnBrk="0" hangingPunct="1">
              <a:lnSpc>
                <a:spcPct val="150000"/>
              </a:lnSpc>
              <a:spcBef>
                <a:spcPct val="20000"/>
              </a:spcBef>
              <a:spcAft>
                <a:spcPct val="20000"/>
              </a:spcAft>
              <a:buClr>
                <a:srgbClr val="AC04A0"/>
              </a:buClr>
              <a:buSzPct val="100000"/>
              <a:buFont typeface="Wingdings" panose="05000000000000000000" pitchFamily="2" charset="2"/>
              <a:buChar char="Ø"/>
              <a:defRPr/>
            </a:pPr>
            <a:r>
              <a:rPr kumimoji="0" lang="zh-CN" altLang="en-US" sz="32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建立</a:t>
            </a:r>
            <a:r>
              <a:rPr kumimoji="0" lang="zh-CN" altLang="en-US" sz="32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阶段</a:t>
            </a:r>
            <a:r>
              <a:rPr kumimoji="0" lang="en-US" altLang="zh-CN" sz="32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—P</a:t>
            </a:r>
            <a:r>
              <a:rPr kumimoji="0" lang="zh-CN" altLang="en-US" sz="32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阶段</a:t>
            </a:r>
            <a:endParaRPr kumimoji="0" lang="en-US" altLang="zh-CN" sz="32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endParaRPr>
          </a:p>
          <a:p>
            <a:pPr marL="0" marR="0" lvl="1" indent="0" algn="l" defTabSz="914400" rtl="0" eaLnBrk="1" fontAlgn="base" latinLnBrk="0" hangingPunct="1">
              <a:lnSpc>
                <a:spcPct val="150000"/>
              </a:lnSpc>
              <a:spcBef>
                <a:spcPts val="600"/>
              </a:spcBef>
              <a:spcAft>
                <a:spcPct val="0"/>
              </a:spcAft>
              <a:buClr>
                <a:schemeClr val="tx2">
                  <a:lumMod val="60000"/>
                  <a:lumOff val="40000"/>
                </a:schemeClr>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  </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在该阶段</a:t>
            </a: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单位需完成</a:t>
            </a: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六</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个方面的工作：</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5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准备工作、确定</a:t>
            </a:r>
            <a:r>
              <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范围、确定</a:t>
            </a:r>
            <a:r>
              <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方针和目标、实施风险评估、选择控制措施、形成体系文件</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800" b="1" i="0" u="none" strike="noStrike" kern="0" cap="none" spc="0" normalizeH="0" baseline="0" noProof="0" dirty="0" smtClean="0">
              <a:ln>
                <a:noFill/>
              </a:ln>
              <a:solidFill>
                <a:schemeClr val="tx1"/>
              </a:solidFill>
              <a:effectLst/>
              <a:uLnTx/>
              <a:uFillTx/>
              <a:latin typeface="华文楷体" pitchFamily="2" charset="-122"/>
              <a:ea typeface="华文楷体" pitchFamily="2"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fade">
                                      <p:cBhvr>
                                        <p:cTn id="7" dur="1000"/>
                                        <p:tgtEl>
                                          <p:spTgt spid="19459">
                                            <p:txEl>
                                              <p:pRg st="2" end="2"/>
                                            </p:txEl>
                                          </p:spTgt>
                                        </p:tgtEl>
                                      </p:cBhvr>
                                    </p:animEffect>
                                    <p:anim calcmode="lin" valueType="num">
                                      <p:cBhvr>
                                        <p:cTn id="8" dur="10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945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 ISMS</a:t>
            </a:r>
            <a:r>
              <a:rPr lang="zh-CN" altLang="en-US" b="1" dirty="0">
                <a:ea typeface="宋体" panose="02010600030101010101" pitchFamily="2" charset="-122"/>
              </a:rPr>
              <a:t>实施过程</a:t>
            </a:r>
          </a:p>
        </p:txBody>
      </p:sp>
      <p:sp>
        <p:nvSpPr>
          <p:cNvPr id="19459" name="内容占位符 2"/>
          <p:cNvSpPr>
            <a:spLocks noGrp="1" noChangeArrowheads="1"/>
          </p:cNvSpPr>
          <p:nvPr>
            <p:ph idx="1"/>
          </p:nvPr>
        </p:nvSpPr>
        <p:spPr>
          <a:xfrm>
            <a:off x="304800" y="1676400"/>
            <a:ext cx="8534400" cy="5791200"/>
          </a:xfrm>
        </p:spPr>
        <p:txBody>
          <a:bodyPr vert="horz" wrap="square" lIns="91440" tIns="45720" rIns="91440" bIns="45720" numCol="1" anchor="t" anchorCtr="0" compatLnSpc="1"/>
          <a:lstStyle/>
          <a:p>
            <a:pPr marL="0" marR="0" lvl="1" indent="0" algn="l" defTabSz="914400" rtl="0" eaLnBrk="1" fontAlgn="base" latinLnBrk="0" hangingPunct="1">
              <a:lnSpc>
                <a:spcPct val="100000"/>
              </a:lnSpc>
              <a:spcBef>
                <a:spcPct val="20000"/>
              </a:spcBef>
              <a:spcAft>
                <a:spcPct val="20000"/>
              </a:spcAft>
              <a:buClr>
                <a:srgbClr val="AC04A0"/>
              </a:buClr>
              <a:buSzPct val="100000"/>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1.</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准备</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工作</a:t>
            </a:r>
            <a:endPar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建立</a:t>
            </a:r>
            <a:r>
              <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管理机构</a:t>
            </a:r>
            <a:endPar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召开</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启动会</a:t>
            </a:r>
            <a:endPar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制订</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工作计划</a:t>
            </a:r>
            <a:endPar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实施</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基础知识培训</a:t>
            </a:r>
            <a:endPar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准备</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相关工具</a:t>
            </a:r>
            <a:endPar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0" marR="0" lvl="0" indent="0" algn="l" defTabSz="914400" rtl="0" eaLnBrk="1" fontAlgn="base" latinLnBrk="0" hangingPunct="1">
              <a:lnSpc>
                <a:spcPct val="100000"/>
              </a:lnSpc>
              <a:spcBef>
                <a:spcPts val="0"/>
              </a:spcBef>
              <a:spcAft>
                <a:spcPts val="0"/>
              </a:spcAft>
              <a:buClr>
                <a:schemeClr val="accent1"/>
              </a:buClr>
              <a:buSzPct val="90000"/>
              <a:buFont typeface="Wingdings" panose="05000000000000000000" pitchFamily="2" charset="2"/>
              <a:buNone/>
              <a:defRPr/>
            </a:pPr>
            <a:endParaRPr kumimoji="0" lang="en-US" altLang="zh-CN" sz="32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ts val="0"/>
              </a:spcBef>
              <a:spcAft>
                <a:spcPts val="0"/>
              </a:spcAft>
              <a:buClr>
                <a:schemeClr val="accent1"/>
              </a:buClr>
              <a:buSzPct val="90000"/>
              <a:buFont typeface="Wingdings" panose="05000000000000000000" pitchFamily="2" charset="2"/>
              <a:buNone/>
              <a:defRPr/>
            </a:pPr>
            <a:endParaRPr kumimoji="0" lang="en-US" altLang="zh-CN" sz="32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ts val="0"/>
              </a:spcBef>
              <a:spcAft>
                <a:spcPts val="0"/>
              </a:spcAft>
              <a:buClr>
                <a:schemeClr val="accent1"/>
              </a:buClr>
              <a:buSzPct val="90000"/>
              <a:buFont typeface="Wingdings" panose="05000000000000000000" pitchFamily="2" charset="2"/>
              <a:buNone/>
              <a:defRPr/>
            </a:pPr>
            <a:endParaRPr kumimoji="0" lang="en-US" altLang="zh-CN" sz="32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ts val="0"/>
              </a:spcBef>
              <a:spcAft>
                <a:spcPts val="0"/>
              </a:spcAft>
              <a:buClr>
                <a:schemeClr val="accent1"/>
              </a:buClr>
              <a:buSzPct val="90000"/>
              <a:buFont typeface="Wingdings" panose="05000000000000000000" pitchFamily="2" charset="2"/>
              <a:buNone/>
              <a:defRPr/>
            </a:pPr>
            <a:r>
              <a:rPr kumimoji="0" lang="en-US" altLang="zh-CN" sz="32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 </a:t>
            </a:r>
            <a:r>
              <a:rPr kumimoji="0" lang="en-US" altLang="zh-CN" sz="32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endPar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ct val="20000"/>
              </a:spcBef>
              <a:spcAft>
                <a:spcPct val="20000"/>
              </a:spcAft>
              <a:buClr>
                <a:schemeClr val="accent1"/>
              </a:buClr>
              <a:buSzPct val="90000"/>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v"/>
              <a:defRPr/>
            </a:pP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 </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 calcmode="lin" valueType="num">
                                      <p:cBhvr additive="base">
                                        <p:cTn id="7"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anim calcmode="lin" valueType="num">
                                      <p:cBhvr additive="base">
                                        <p:cTn id="11"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wipe(down)">
                                      <p:cBhvr>
                                        <p:cTn id="17" dur="500"/>
                                        <p:tgtEl>
                                          <p:spTgt spid="19459">
                                            <p:txEl>
                                              <p:pRg st="3" end="3"/>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19459">
                                            <p:txEl>
                                              <p:pRg st="4" end="4"/>
                                            </p:txEl>
                                          </p:spTgt>
                                        </p:tgtEl>
                                        <p:attrNameLst>
                                          <p:attrName>style.visibility</p:attrName>
                                        </p:attrNameLst>
                                      </p:cBhvr>
                                      <p:to>
                                        <p:strVal val="visible"/>
                                      </p:to>
                                    </p:set>
                                    <p:animEffect transition="in" filter="wipe(down)">
                                      <p:cBhvr>
                                        <p:cTn id="20" dur="500"/>
                                        <p:tgtEl>
                                          <p:spTgt spid="1945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9459">
                                            <p:txEl>
                                              <p:pRg st="5" end="5"/>
                                            </p:txEl>
                                          </p:spTgt>
                                        </p:tgtEl>
                                        <p:attrNameLst>
                                          <p:attrName>style.visibility</p:attrName>
                                        </p:attrNameLst>
                                      </p:cBhvr>
                                      <p:to>
                                        <p:strVal val="visible"/>
                                      </p:to>
                                    </p:set>
                                    <p:animEffect transition="in" filter="circle(in)">
                                      <p:cBhvr>
                                        <p:cTn id="25" dur="20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 ISMS</a:t>
            </a:r>
            <a:r>
              <a:rPr lang="zh-CN" altLang="en-US" b="1" dirty="0">
                <a:ea typeface="宋体" panose="02010600030101010101" pitchFamily="2" charset="-122"/>
              </a:rPr>
              <a:t>实施过程</a:t>
            </a:r>
          </a:p>
        </p:txBody>
      </p:sp>
      <p:sp>
        <p:nvSpPr>
          <p:cNvPr id="13315" name="内容占位符 2"/>
          <p:cNvSpPr>
            <a:spLocks noGrp="1" noChangeArrowheads="1"/>
          </p:cNvSpPr>
          <p:nvPr>
            <p:ph idx="1"/>
          </p:nvPr>
        </p:nvSpPr>
        <p:spPr>
          <a:xfrm>
            <a:off x="304800" y="914400"/>
            <a:ext cx="8534400" cy="5791200"/>
          </a:xfrm>
        </p:spPr>
        <p:txBody>
          <a:bodyPr vert="horz" wrap="square" lIns="91440" tIns="45720" rIns="91440" bIns="45720" numCol="1" anchor="t" anchorCtr="0" compatLnSpc="1"/>
          <a:lstStyle/>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准备工作</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342900" marR="0" lvl="1" indent="-34290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建立</a:t>
            </a: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管理机构</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单位将</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管理机构划分为三个层次，分别为领导小组、专家小组和实施小组。</a:t>
            </a:r>
          </a:p>
          <a:p>
            <a:pPr marL="1143000" marR="0" lvl="2" indent="-228600" algn="l" defTabSz="914400" rtl="0" eaLnBrk="0" fontAlgn="base" latinLnBrk="0" hangingPunct="0">
              <a:lnSpc>
                <a:spcPct val="100000"/>
              </a:lnSpc>
              <a:spcBef>
                <a:spcPts val="6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领导小组</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主要负责制定工作的策略和方针、宏观掌控进度、对重要阶段成果进行评审，并监督执行情况，以推动该项工作的顺利进行。</a:t>
            </a:r>
          </a:p>
          <a:p>
            <a:pPr marL="1143000" marR="0" lvl="2" indent="-228600" algn="l" defTabSz="914400" rtl="0" eaLnBrk="0" fontAlgn="base" latinLnBrk="0" hangingPunct="0">
              <a:lnSpc>
                <a:spcPct val="100000"/>
              </a:lnSpc>
              <a:spcBef>
                <a:spcPts val="6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专家小组</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主要依托于国信办</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专家组，由国信办</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专家组为某区的</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工作提供咨询指导。</a:t>
            </a:r>
          </a:p>
          <a:p>
            <a:pPr marL="1143000" marR="0" lvl="2" indent="-228600" algn="l" defTabSz="914400" rtl="0" eaLnBrk="0" fontAlgn="base" latinLnBrk="0" hangingPunct="0">
              <a:lnSpc>
                <a:spcPct val="100000"/>
              </a:lnSpc>
              <a:spcBef>
                <a:spcPts val="6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实施小组</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成员由某区信息办</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信息中心和技术支持单位的相关工作人员构成，主要负责建设工作的具体实施，细分为风险评估小组、文件编写小组、协调小组以及培训小组。</a:t>
            </a:r>
            <a:endParaRPr kumimoji="0" lang="zh-CN" altLang="en-US" sz="2400" b="0" i="0" u="none" strike="noStrike" kern="0" cap="none" spc="0" normalizeH="0" baseline="0" noProof="0" dirty="0" smtClean="0">
              <a:ln>
                <a:noFill/>
              </a:ln>
              <a:solidFill>
                <a:schemeClr val="tx1"/>
              </a:solidFill>
              <a:effectLst/>
              <a:uLnTx/>
              <a:uFillTx/>
              <a:latin typeface="+mn-lt"/>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315">
                                            <p:txEl>
                                              <p:pRg st="2" end="2"/>
                                            </p:txEl>
                                          </p:spTgt>
                                        </p:tgtEl>
                                        <p:attrNameLst>
                                          <p:attrName>style.visibility</p:attrName>
                                        </p:attrNameLst>
                                      </p:cBhvr>
                                      <p:to>
                                        <p:strVal val="visible"/>
                                      </p:to>
                                    </p:set>
                                    <p:animEffect transition="in" filter="fade">
                                      <p:cBhvr>
                                        <p:cTn id="7" dur="1000"/>
                                        <p:tgtEl>
                                          <p:spTgt spid="13315">
                                            <p:txEl>
                                              <p:pRg st="2" end="2"/>
                                            </p:txEl>
                                          </p:spTgt>
                                        </p:tgtEl>
                                      </p:cBhvr>
                                    </p:animEffect>
                                    <p:anim calcmode="lin" valueType="num">
                                      <p:cBhvr>
                                        <p:cTn id="8" dur="10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33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3315">
                                            <p:txEl>
                                              <p:pRg st="3" end="3"/>
                                            </p:txEl>
                                          </p:spTgt>
                                        </p:tgtEl>
                                        <p:attrNameLst>
                                          <p:attrName>style.visibility</p:attrName>
                                        </p:attrNameLst>
                                      </p:cBhvr>
                                      <p:to>
                                        <p:strVal val="visible"/>
                                      </p:to>
                                    </p:set>
                                    <p:animEffect transition="in" filter="wipe(down)">
                                      <p:cBhvr>
                                        <p:cTn id="14" dur="500"/>
                                        <p:tgtEl>
                                          <p:spTgt spid="13315">
                                            <p:txEl>
                                              <p:pRg st="3" end="3"/>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animEffect transition="in" filter="circle(in)">
                                      <p:cBhvr>
                                        <p:cTn id="19" dur="2000"/>
                                        <p:tgtEl>
                                          <p:spTgt spid="13315">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 fill="hold">
                                          <p:stCondLst>
                                            <p:cond delay="0"/>
                                          </p:stCondLst>
                                        </p:cTn>
                                        <p:tgtEl>
                                          <p:spTgt spid="13315">
                                            <p:txEl>
                                              <p:pRg st="5" end="5"/>
                                            </p:txEl>
                                          </p:spTgt>
                                        </p:tgtEl>
                                        <p:attrNameLst>
                                          <p:attrName>style.visibility</p:attrName>
                                        </p:attrNameLst>
                                      </p:cBhvr>
                                      <p:to>
                                        <p:strVal val="visible"/>
                                      </p:to>
                                    </p:set>
                                    <p:animEffect transition="in" filter="wheel(1)">
                                      <p:cBhvr>
                                        <p:cTn id="24" dur="2000"/>
                                        <p:tgtEl>
                                          <p:spTgt spid="133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 ISMS</a:t>
            </a:r>
            <a:r>
              <a:rPr lang="zh-CN" altLang="en-US" b="1" dirty="0">
                <a:ea typeface="宋体" panose="02010600030101010101" pitchFamily="2" charset="-122"/>
              </a:rPr>
              <a:t>实施过程</a:t>
            </a:r>
          </a:p>
        </p:txBody>
      </p:sp>
      <p:sp>
        <p:nvSpPr>
          <p:cNvPr id="14339" name="内容占位符 2"/>
          <p:cNvSpPr>
            <a:spLocks noGrp="1" noChangeArrowheads="1"/>
          </p:cNvSpPr>
          <p:nvPr>
            <p:ph idx="1"/>
          </p:nvPr>
        </p:nvSpPr>
        <p:spPr>
          <a:xfrm>
            <a:off x="304800" y="1295400"/>
            <a:ext cx="8534400" cy="3810000"/>
          </a:xfrm>
        </p:spPr>
        <p:txBody>
          <a:bodyPr vert="horz" wrap="square" lIns="91440" tIns="45720" rIns="91440" bIns="45720" numCol="1" anchor="t" anchorCtr="0" compatLnSpc="1"/>
          <a:lstStyle/>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准备工作</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342900" marR="0" lvl="1" indent="-34290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召开启动会</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Pct val="90000"/>
              <a:buFontTx/>
              <a:buChar char="•"/>
              <a:defRPr/>
            </a:pP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单位召开了</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启动会，此次会议的召开标志着</a:t>
            </a:r>
            <a:r>
              <a:rPr kumimoji="0" lang="en-US" altLang="zh-CN" sz="2400" b="0" i="0" u="none" strike="noStrike" kern="0" cap="none" spc="0" normalizeH="0" baseline="0" noProof="0" dirty="0" smtClean="0">
                <a:ln>
                  <a:noFill/>
                </a:ln>
                <a:solidFill>
                  <a:srgbClr val="FF0000"/>
                </a:solidFill>
                <a:effectLst/>
                <a:uLnTx/>
                <a:uFillTx/>
                <a:latin typeface="+mn-lt"/>
                <a:ea typeface="宋体" panose="02010600030101010101" pitchFamily="2" charset="-122"/>
              </a:rPr>
              <a:t>ISMS</a:t>
            </a:r>
            <a:r>
              <a:rPr kumimoji="0" lang="zh-CN" altLang="zh-CN" sz="2400" b="0" i="0" u="none" strike="noStrike" kern="0" cap="none" spc="0" normalizeH="0" baseline="0" noProof="0" dirty="0" smtClean="0">
                <a:ln>
                  <a:noFill/>
                </a:ln>
                <a:solidFill>
                  <a:srgbClr val="FF0000"/>
                </a:solidFill>
                <a:effectLst/>
                <a:uLnTx/>
                <a:uFillTx/>
                <a:latin typeface="+mn-lt"/>
                <a:ea typeface="宋体" panose="02010600030101010101" pitchFamily="2" charset="-122"/>
              </a:rPr>
              <a:t>建设工作的正式启动</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Pct val="90000"/>
              <a:buFontTx/>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在启动会上，</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领导小组副组长对某区电子政务建设总体情况、信息安全保障情况以及某区</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的实施计划进行了介绍，并明确了工作人员的工作职责和范围。</a:t>
            </a:r>
            <a:r>
              <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rPr>
              <a:t>  </a:t>
            </a:r>
            <a:endParaRPr kumimoji="0" lang="zh-CN" altLang="en-US" sz="2400" b="0" i="0" u="none" strike="noStrike" kern="0" cap="none" spc="0" normalizeH="0" baseline="0" noProof="0" dirty="0" smtClean="0">
              <a:ln>
                <a:noFill/>
              </a:ln>
              <a:solidFill>
                <a:schemeClr val="tx1"/>
              </a:solidFill>
              <a:effectLst/>
              <a:uLnTx/>
              <a:uFillTx/>
              <a:latin typeface="+mn-lt"/>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339">
                                            <p:txEl>
                                              <p:pRg st="3" end="3"/>
                                            </p:txEl>
                                          </p:spTgt>
                                        </p:tgtEl>
                                        <p:attrNameLst>
                                          <p:attrName>style.visibility</p:attrName>
                                        </p:attrNameLst>
                                      </p:cBhvr>
                                      <p:to>
                                        <p:strVal val="visible"/>
                                      </p:to>
                                    </p:set>
                                    <p:animEffect transition="in" filter="barn(inVertical)">
                                      <p:cBhvr>
                                        <p:cTn id="7" dur="500"/>
                                        <p:tgtEl>
                                          <p:spTgt spid="143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 ISMS</a:t>
            </a:r>
            <a:r>
              <a:rPr lang="zh-CN" altLang="en-US" b="1" dirty="0">
                <a:ea typeface="宋体" panose="02010600030101010101" pitchFamily="2" charset="-122"/>
              </a:rPr>
              <a:t>实施过程</a:t>
            </a:r>
          </a:p>
        </p:txBody>
      </p:sp>
      <p:sp>
        <p:nvSpPr>
          <p:cNvPr id="15363" name="内容占位符 2"/>
          <p:cNvSpPr>
            <a:spLocks noGrp="1" noChangeArrowheads="1"/>
          </p:cNvSpPr>
          <p:nvPr>
            <p:ph idx="1"/>
          </p:nvPr>
        </p:nvSpPr>
        <p:spPr>
          <a:xfrm>
            <a:off x="304800" y="1371600"/>
            <a:ext cx="8534400" cy="3429000"/>
          </a:xfrm>
        </p:spPr>
        <p:txBody>
          <a:bodyPr vert="horz" wrap="square" lIns="91440" tIns="45720" rIns="91440" bIns="45720" numCol="1" anchor="t" anchorCtr="0" compatLnSpc="1"/>
          <a:lstStyle/>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准备工作</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342900" marR="0" lvl="1" indent="-34290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制订工作计划</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1143000" marR="0" lvl="2" indent="-228600" algn="l" defTabSz="914400" rtl="0" eaLnBrk="0" fontAlgn="base" latinLnBrk="0" hangingPunct="0">
              <a:lnSpc>
                <a:spcPct val="150000"/>
              </a:lnSpc>
              <a:spcBef>
                <a:spcPts val="600"/>
              </a:spcBef>
              <a:spcAft>
                <a:spcPct val="0"/>
              </a:spcAft>
              <a:buClr>
                <a:schemeClr val="tx1"/>
              </a:buClr>
              <a:buSzPct val="90000"/>
              <a:buFontTx/>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为规范</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建设工作的实施流程、控制实施进度，以便高效、准确地实现工作目标，</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单位信息办制定了《</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实施方案》</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50000"/>
              </a:lnSpc>
              <a:spcBef>
                <a:spcPts val="600"/>
              </a:spcBef>
              <a:spcAft>
                <a:spcPct val="0"/>
              </a:spcAft>
              <a:buClr>
                <a:schemeClr val="tx1"/>
              </a:buClr>
              <a:buSzPct val="90000"/>
              <a:buFontTx/>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该方案明确了</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实施的背景、目标、范围，确定了具体的工作时间表，并指出了资源需求、配置等相关信息。</a:t>
            </a:r>
            <a:endParaRPr kumimoji="0" lang="zh-CN" altLang="en-US" sz="2400" b="0" i="0" u="none" strike="noStrike" kern="0" cap="none" spc="0" normalizeH="0" baseline="0" noProof="0" dirty="0" smtClean="0">
              <a:ln>
                <a:noFill/>
              </a:ln>
              <a:solidFill>
                <a:schemeClr val="tx1"/>
              </a:solidFill>
              <a:effectLst/>
              <a:uLnTx/>
              <a:uFillTx/>
              <a:latin typeface="+mn-lt"/>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3">
                                            <p:txEl>
                                              <p:pRg st="2" end="2"/>
                                            </p:txEl>
                                          </p:spTgt>
                                        </p:tgtEl>
                                        <p:attrNameLst>
                                          <p:attrName>style.visibility</p:attrName>
                                        </p:attrNameLst>
                                      </p:cBhvr>
                                      <p:to>
                                        <p:strVal val="visible"/>
                                      </p:to>
                                    </p:set>
                                    <p:anim calcmode="lin" valueType="num">
                                      <p:cBhvr additive="base">
                                        <p:cTn id="7" dur="5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5363">
                                            <p:txEl>
                                              <p:pRg st="3" end="3"/>
                                            </p:txEl>
                                          </p:spTgt>
                                        </p:tgtEl>
                                        <p:attrNameLst>
                                          <p:attrName>style.visibility</p:attrName>
                                        </p:attrNameLst>
                                      </p:cBhvr>
                                      <p:to>
                                        <p:strVal val="visible"/>
                                      </p:to>
                                    </p:set>
                                    <p:animEffect transition="in" filter="wipe(down)">
                                      <p:cBhvr>
                                        <p:cTn id="13" dur="500"/>
                                        <p:tgtEl>
                                          <p:spTgt spid="153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 ISMS</a:t>
            </a:r>
            <a:r>
              <a:rPr lang="zh-CN" altLang="en-US" b="1" dirty="0">
                <a:ea typeface="宋体" panose="02010600030101010101" pitchFamily="2" charset="-122"/>
              </a:rPr>
              <a:t>实施过程</a:t>
            </a:r>
          </a:p>
        </p:txBody>
      </p:sp>
      <p:sp>
        <p:nvSpPr>
          <p:cNvPr id="16387" name="内容占位符 2"/>
          <p:cNvSpPr>
            <a:spLocks noGrp="1" noChangeArrowheads="1"/>
          </p:cNvSpPr>
          <p:nvPr>
            <p:ph idx="1"/>
          </p:nvPr>
        </p:nvSpPr>
        <p:spPr>
          <a:xfrm>
            <a:off x="152400" y="914400"/>
            <a:ext cx="8686800" cy="5791200"/>
          </a:xfrm>
        </p:spPr>
        <p:txBody>
          <a:bodyPr vert="horz" wrap="square" lIns="91440" tIns="45720" rIns="91440" bIns="45720" numCol="1" anchor="t" anchorCtr="0" compatLnSpc="1"/>
          <a:lstStyle/>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准备工作</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342900" marR="0" lvl="1" indent="-34290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实施基础知识培训</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在建立了</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管理机构后，</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单位信息办聘请了技术支持单位的</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专家为</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单位信息办的</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全体工作人员实施了</a:t>
            </a:r>
            <a:r>
              <a:rPr kumimoji="0" lang="en-US"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基础知识培训</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，培训内容主要包括</a:t>
            </a:r>
            <a:r>
              <a:rPr kumimoji="0" lang="en-US"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标准知识、</a:t>
            </a:r>
            <a:r>
              <a:rPr kumimoji="0" lang="en-US"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实施流程及方法</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等内容。</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通过</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基础知识培训，参加人员不仅掌握了</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实施所需的基本知识、技能和方法，还认识到了信息安全工作的重要性、调动了员工的积极性、增强了信息安全意识。</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此次</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基础知识培训为</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单位信息办全体工作人员积极参与和配合</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建设工作创造了条件，也为顺利建立、实施、运行、监视、评审、保持和改进</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奠定了基础。</a:t>
            </a:r>
            <a:endParaRPr kumimoji="0" lang="zh-CN" altLang="en-US" sz="2000" b="0" i="0" u="none" strike="noStrike" kern="0" cap="none" spc="0" normalizeH="0" baseline="0" noProof="0" dirty="0" smtClean="0">
              <a:ln>
                <a:noFill/>
              </a:ln>
              <a:solidFill>
                <a:schemeClr val="tx1"/>
              </a:solidFill>
              <a:effectLst/>
              <a:uLnTx/>
              <a:uFillTx/>
              <a:latin typeface="+mn-lt"/>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7">
                                            <p:txEl>
                                              <p:pRg st="2" end="2"/>
                                            </p:txEl>
                                          </p:spTgt>
                                        </p:tgtEl>
                                        <p:attrNameLst>
                                          <p:attrName>style.visibility</p:attrName>
                                        </p:attrNameLst>
                                      </p:cBhvr>
                                      <p:to>
                                        <p:strVal val="visible"/>
                                      </p:to>
                                    </p:set>
                                    <p:anim calcmode="lin" valueType="num">
                                      <p:cBhvr additive="base">
                                        <p:cTn id="7"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6387">
                                            <p:txEl>
                                              <p:pRg st="3" end="3"/>
                                            </p:txEl>
                                          </p:spTgt>
                                        </p:tgtEl>
                                        <p:attrNameLst>
                                          <p:attrName>style.visibility</p:attrName>
                                        </p:attrNameLst>
                                      </p:cBhvr>
                                      <p:to>
                                        <p:strVal val="visible"/>
                                      </p:to>
                                    </p:set>
                                    <p:animEffect transition="in" filter="barn(inVertical)">
                                      <p:cBhvr>
                                        <p:cTn id="13" dur="500"/>
                                        <p:tgtEl>
                                          <p:spTgt spid="16387">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6387">
                                            <p:txEl>
                                              <p:pRg st="4" end="4"/>
                                            </p:txEl>
                                          </p:spTgt>
                                        </p:tgtEl>
                                        <p:attrNameLst>
                                          <p:attrName>style.visibility</p:attrName>
                                        </p:attrNameLst>
                                      </p:cBhvr>
                                      <p:to>
                                        <p:strVal val="visible"/>
                                      </p:to>
                                    </p:set>
                                    <p:animEffect transition="in" filter="wipe(down)">
                                      <p:cBhvr>
                                        <p:cTn id="18" dur="500"/>
                                        <p:tgtEl>
                                          <p:spTgt spid="163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 ISMS</a:t>
            </a:r>
            <a:r>
              <a:rPr lang="zh-CN" altLang="en-US" b="1" dirty="0">
                <a:ea typeface="宋体" panose="02010600030101010101" pitchFamily="2" charset="-122"/>
              </a:rPr>
              <a:t>实施过程</a:t>
            </a:r>
          </a:p>
        </p:txBody>
      </p:sp>
      <p:sp>
        <p:nvSpPr>
          <p:cNvPr id="19459" name="内容占位符 2"/>
          <p:cNvSpPr>
            <a:spLocks noGrp="1" noChangeArrowheads="1"/>
          </p:cNvSpPr>
          <p:nvPr>
            <p:ph idx="1"/>
          </p:nvPr>
        </p:nvSpPr>
        <p:spPr>
          <a:xfrm>
            <a:off x="304800" y="1371600"/>
            <a:ext cx="8534400" cy="4495800"/>
          </a:xfrm>
        </p:spPr>
        <p:txBody>
          <a:bodyPr vert="horz" wrap="square" lIns="91440" tIns="45720" rIns="91440" bIns="45720" numCol="1" anchor="t" anchorCtr="0" compatLnSpc="1"/>
          <a:lstStyle/>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准备工作</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342900" marR="0" lvl="1" indent="-34290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准备相关工具</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zh-CN" sz="1800" b="0"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宋体" panose="02010600030101010101" pitchFamily="2" charset="-122"/>
              </a:rPr>
              <a:t>文件调查问卷</a:t>
            </a:r>
            <a:r>
              <a:rPr kumimoji="0" lang="zh-CN"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，其目的是调查</a:t>
            </a:r>
            <a:r>
              <a:rPr kumimoji="0" lang="en-US"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单位信息办的原有文件编写情况，调查对象主要包括原有安全项目的文件、安全管理制度、原有管理体系文件以及安全法律法规文件等；</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zh-CN" sz="1800" b="0"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宋体" panose="02010600030101010101" pitchFamily="2" charset="-122"/>
              </a:rPr>
              <a:t>业务调查问卷</a:t>
            </a:r>
            <a:r>
              <a:rPr kumimoji="0" lang="zh-CN"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，其目的是对</a:t>
            </a:r>
            <a:r>
              <a:rPr kumimoji="0" lang="en-US"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单位信息办的业务情况进行调查，摸清业务的名称、目标、功能、流程等相关信息。</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zh-CN" sz="1800" b="0"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宋体" panose="02010600030101010101" pitchFamily="2" charset="-122"/>
              </a:rPr>
              <a:t>资产调查问卷</a:t>
            </a:r>
            <a:r>
              <a:rPr kumimoji="0" lang="zh-CN"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，其目的是掌握</a:t>
            </a:r>
            <a:r>
              <a:rPr kumimoji="0" lang="en-US"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单位信息办的所有资产情况，主要包括软件、硬件、数据和服务，调查内容主要是资产名称、功能、负责人、所属部门、位置及业务安全属性；</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zh-CN" sz="1800" b="0"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宋体" panose="02010600030101010101" pitchFamily="2" charset="-122"/>
              </a:rPr>
              <a:t>组织调查问卷</a:t>
            </a:r>
            <a:r>
              <a:rPr kumimoji="0" lang="zh-CN"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，其目的是对</a:t>
            </a:r>
            <a:r>
              <a:rPr kumimoji="0" lang="en-US"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A</a:t>
            </a:r>
            <a:r>
              <a:rPr kumimoji="0" lang="zh-CN" altLang="zh-CN" sz="1800" b="0" i="0" u="none" strike="noStrike" kern="0" cap="none" spc="0" normalizeH="0" baseline="0" noProof="0" dirty="0" smtClean="0">
                <a:ln>
                  <a:noFill/>
                </a:ln>
                <a:solidFill>
                  <a:schemeClr val="tx1"/>
                </a:solidFill>
                <a:effectLst/>
                <a:uLnTx/>
                <a:uFillTx/>
                <a:latin typeface="+mn-lt"/>
                <a:ea typeface="宋体" panose="02010600030101010101" pitchFamily="2" charset="-122"/>
              </a:rPr>
              <a:t>单位信息办的部门及职位等相关信息进行调研，掌握信息办的组织结构及职责分工。</a:t>
            </a:r>
            <a:endParaRPr kumimoji="0" lang="zh-CN" altLang="en-US" sz="1800" b="0" i="0" u="none" strike="noStrike" kern="0" cap="none" spc="0" normalizeH="0" baseline="0" noProof="0" dirty="0" smtClean="0">
              <a:ln>
                <a:noFill/>
              </a:ln>
              <a:solidFill>
                <a:schemeClr val="tx1"/>
              </a:solidFill>
              <a:effectLst/>
              <a:uLnTx/>
              <a:uFillTx/>
              <a:latin typeface="+mn-lt"/>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barn(inVertical)">
                                      <p:cBhvr>
                                        <p:cTn id="7" dur="500"/>
                                        <p:tgtEl>
                                          <p:spTgt spid="194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459">
                                            <p:txEl>
                                              <p:pRg st="3" end="3"/>
                                            </p:txEl>
                                          </p:spTgt>
                                        </p:tgtEl>
                                        <p:attrNameLst>
                                          <p:attrName>style.visibility</p:attrName>
                                        </p:attrNameLst>
                                      </p:cBhvr>
                                      <p:to>
                                        <p:strVal val="visible"/>
                                      </p:to>
                                    </p:set>
                                    <p:animEffect transition="in" filter="wipe(down)">
                                      <p:cBhvr>
                                        <p:cTn id="12" dur="500"/>
                                        <p:tgtEl>
                                          <p:spTgt spid="1945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animEffect transition="in" filter="wheel(1)">
                                      <p:cBhvr>
                                        <p:cTn id="17" dur="2000"/>
                                        <p:tgtEl>
                                          <p:spTgt spid="1945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9459">
                                            <p:txEl>
                                              <p:pRg st="5" end="5"/>
                                            </p:txEl>
                                          </p:spTgt>
                                        </p:tgtEl>
                                        <p:attrNameLst>
                                          <p:attrName>style.visibility</p:attrName>
                                        </p:attrNameLst>
                                      </p:cBhvr>
                                      <p:to>
                                        <p:strVal val="visible"/>
                                      </p:to>
                                    </p:set>
                                    <p:animEffect transition="in" filter="fade">
                                      <p:cBhvr>
                                        <p:cTn id="22" dur="1000"/>
                                        <p:tgtEl>
                                          <p:spTgt spid="19459">
                                            <p:txEl>
                                              <p:pRg st="5" end="5"/>
                                            </p:txEl>
                                          </p:spTgt>
                                        </p:tgtEl>
                                      </p:cBhvr>
                                    </p:animEffect>
                                    <p:anim calcmode="lin" valueType="num">
                                      <p:cBhvr>
                                        <p:cTn id="23" dur="10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1945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13315" name="内容占位符 2"/>
          <p:cNvSpPr>
            <a:spLocks noGrp="1" noChangeArrowheads="1"/>
          </p:cNvSpPr>
          <p:nvPr>
            <p:ph idx="1"/>
          </p:nvPr>
        </p:nvSpPr>
        <p:spPr>
          <a:xfrm>
            <a:off x="304800" y="1524000"/>
            <a:ext cx="8534400" cy="3124200"/>
          </a:xfrm>
        </p:spPr>
        <p:txBody>
          <a:bodyPr vert="horz" wrap="square" lIns="91440" tIns="45720" rIns="91440" bIns="45720" numCol="1" anchor="t" anchorCtr="0" compatLnSpc="1"/>
          <a:lstStyle/>
          <a:p>
            <a:pPr marL="0" marR="0" lvl="1" indent="0" algn="l" defTabSz="914400" rtl="0" eaLnBrk="1" fontAlgn="base" latinLnBrk="0" hangingPunct="1">
              <a:lnSpc>
                <a:spcPct val="150000"/>
              </a:lnSpc>
              <a:spcBef>
                <a:spcPct val="20000"/>
              </a:spcBef>
              <a:spcAft>
                <a:spcPct val="20000"/>
              </a:spcAft>
              <a:buClr>
                <a:srgbClr val="AC04A0"/>
              </a:buClr>
              <a:buSzPct val="100000"/>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2.</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确定</a:t>
            </a:r>
            <a:r>
              <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范围</a:t>
            </a:r>
            <a:endPar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742950" marR="0" lvl="2" indent="-342900" algn="l" defTabSz="914400" rtl="0" eaLnBrk="1" fontAlgn="base" latinLnBrk="0" hangingPunct="1">
              <a:lnSpc>
                <a:spcPct val="150000"/>
              </a:lnSpc>
              <a:spcBef>
                <a:spcPts val="600"/>
              </a:spcBef>
              <a:spcAft>
                <a:spcPct val="0"/>
              </a:spcAft>
              <a:buClr>
                <a:schemeClr val="tx2">
                  <a:lumMod val="60000"/>
                  <a:lumOff val="40000"/>
                </a:schemeClr>
              </a:buClr>
              <a:buSzTx/>
              <a:buFontTx/>
              <a:buChar char="•"/>
              <a:defRPr/>
            </a:pP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确定</a:t>
            </a:r>
            <a:r>
              <a:rPr kumimoji="0" lang="en-US" altLang="zh-CN"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ISMS</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范围也是明确</a:t>
            </a:r>
            <a:r>
              <a:rPr kumimoji="0" lang="en-US" altLang="zh-CN"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ISMS</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覆盖的边界过程，</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在经过一系列的调研、分析、讨论，最终形成</a:t>
            </a:r>
            <a:r>
              <a:rPr kumimoji="0" lang="en-US" altLang="zh-CN"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ISMS</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范围</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和</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边界说明文件</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2" indent="-342900" algn="l" defTabSz="914400" rtl="0" eaLnBrk="1" fontAlgn="base" latinLnBrk="0" hangingPunct="1">
              <a:lnSpc>
                <a:spcPct val="150000"/>
              </a:lnSpc>
              <a:spcBef>
                <a:spcPts val="600"/>
              </a:spcBef>
              <a:spcAft>
                <a:spcPct val="0"/>
              </a:spcAft>
              <a:buClr>
                <a:schemeClr val="tx2">
                  <a:lumMod val="60000"/>
                  <a:lumOff val="40000"/>
                </a:schemeClr>
              </a:buClr>
              <a:buSzTx/>
              <a:buFontTx/>
              <a:buChar char="•"/>
              <a:defRPr/>
            </a:pP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部门、资产、办公场所</a:t>
            </a:r>
            <a:endParaRPr kumimoji="0" lang="en-US"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0" marR="0" lvl="1" indent="0" algn="l" defTabSz="914400" rtl="0" eaLnBrk="1" fontAlgn="base" latinLnBrk="0" hangingPunct="1">
              <a:lnSpc>
                <a:spcPct val="150000"/>
              </a:lnSpc>
              <a:spcBef>
                <a:spcPts val="600"/>
              </a:spcBef>
              <a:spcAft>
                <a:spcPct val="20000"/>
              </a:spcAft>
              <a:buClr>
                <a:srgbClr val="AC04A0"/>
              </a:buClr>
              <a:buSzPct val="100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3.</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确定</a:t>
            </a: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方针和目标</a:t>
            </a: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742950" marR="0" lvl="2" indent="-342900" algn="l" defTabSz="914400" rtl="0" eaLnBrk="1" fontAlgn="base" latinLnBrk="0" hangingPunct="1">
              <a:lnSpc>
                <a:spcPct val="150000"/>
              </a:lnSpc>
              <a:spcBef>
                <a:spcPts val="600"/>
              </a:spcBef>
              <a:spcAft>
                <a:spcPct val="0"/>
              </a:spcAft>
              <a:buClr>
                <a:schemeClr val="tx2">
                  <a:lumMod val="60000"/>
                  <a:lumOff val="40000"/>
                </a:schemeClr>
              </a:buClr>
              <a:buSzTx/>
              <a:buFontTx/>
              <a:buChar char="•"/>
              <a:defRPr/>
            </a:pP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确定</a:t>
            </a:r>
            <a:r>
              <a:rPr kumimoji="0" lang="en-US" altLang="zh-CN"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方针是整个体系的目的、意图和方向，是建立安全目标的框架和基础，所以要求</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内容</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必须是</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具体明确</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的。</a:t>
            </a:r>
            <a:endParaRPr kumimoji="0" lang="en-US" altLang="zh-CN"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315">
                                            <p:txEl>
                                              <p:pRg st="2" end="2"/>
                                            </p:txEl>
                                          </p:spTgt>
                                        </p:tgtEl>
                                        <p:attrNameLst>
                                          <p:attrName>style.visibility</p:attrName>
                                        </p:attrNameLst>
                                      </p:cBhvr>
                                      <p:to>
                                        <p:strVal val="visible"/>
                                      </p:to>
                                    </p:set>
                                    <p:animEffect transition="in" filter="barn(inVertical)">
                                      <p:cBhvr>
                                        <p:cTn id="7" dur="500"/>
                                        <p:tgtEl>
                                          <p:spTgt spid="1331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315">
                                            <p:txEl>
                                              <p:pRg st="3" end="3"/>
                                            </p:txEl>
                                          </p:spTgt>
                                        </p:tgtEl>
                                        <p:attrNameLst>
                                          <p:attrName>style.visibility</p:attrName>
                                        </p:attrNameLst>
                                      </p:cBhvr>
                                      <p:to>
                                        <p:strVal val="visible"/>
                                      </p:to>
                                    </p:set>
                                    <p:animEffect transition="in" filter="fade">
                                      <p:cBhvr>
                                        <p:cTn id="12" dur="1000"/>
                                        <p:tgtEl>
                                          <p:spTgt spid="13315">
                                            <p:txEl>
                                              <p:pRg st="3" end="3"/>
                                            </p:txEl>
                                          </p:spTgt>
                                        </p:tgtEl>
                                      </p:cBhvr>
                                    </p:animEffect>
                                    <p:anim calcmode="lin" valueType="num">
                                      <p:cBhvr>
                                        <p:cTn id="13" dur="10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33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animEffect transition="in" filter="barn(inVertical)">
                                      <p:cBhvr>
                                        <p:cTn id="19" dur="500"/>
                                        <p:tgtEl>
                                          <p:spTgt spid="133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13315" name="内容占位符 2"/>
          <p:cNvSpPr>
            <a:spLocks noGrp="1" noChangeArrowheads="1"/>
          </p:cNvSpPr>
          <p:nvPr>
            <p:ph idx="1"/>
          </p:nvPr>
        </p:nvSpPr>
        <p:spPr>
          <a:xfrm>
            <a:off x="304800" y="1524000"/>
            <a:ext cx="8534400" cy="2895600"/>
          </a:xfrm>
        </p:spPr>
        <p:txBody>
          <a:bodyPr vert="horz" wrap="square" lIns="91440" tIns="45720" rIns="91440" bIns="45720" numCol="1" anchor="t" anchorCtr="0" compatLnSpc="1"/>
          <a:lstStyle/>
          <a:p>
            <a:pPr marL="0" marR="0" lvl="1" indent="0" algn="l" defTabSz="914400" rtl="0" eaLnBrk="1" fontAlgn="base" latinLnBrk="0" hangingPunct="1">
              <a:lnSpc>
                <a:spcPct val="150000"/>
              </a:lnSpc>
              <a:spcBef>
                <a:spcPts val="600"/>
              </a:spcBef>
              <a:spcAft>
                <a:spcPct val="20000"/>
              </a:spcAft>
              <a:buClr>
                <a:srgbClr val="AC04A0"/>
              </a:buClr>
              <a:buSzPct val="100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4.</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实施</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风险评估</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742950" marR="0" lvl="2" indent="-342900" algn="l" defTabSz="914400" rtl="0" eaLnBrk="1" fontAlgn="base" latinLnBrk="0" hangingPunct="1">
              <a:lnSpc>
                <a:spcPct val="150000"/>
              </a:lnSpc>
              <a:spcBef>
                <a:spcPts val="600"/>
              </a:spcBef>
              <a:spcAft>
                <a:spcPct val="0"/>
              </a:spcAft>
              <a:buClr>
                <a:schemeClr val="tx1"/>
              </a:buClr>
              <a:buSzTx/>
              <a:buFontTx/>
              <a:buChar char="•"/>
              <a:defRPr/>
            </a:pP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实施</a:t>
            </a:r>
            <a:r>
              <a:rPr kumimoji="0" lang="zh-CN" altLang="en-US"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风险评估是</a:t>
            </a:r>
            <a:r>
              <a:rPr kumimoji="0" lang="en-US"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en-US"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建立阶段的一个</a:t>
            </a:r>
            <a:r>
              <a:rPr kumimoji="0" lang="zh-CN" altLang="en-US"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必须活动</a:t>
            </a:r>
            <a:r>
              <a:rPr kumimoji="0" lang="zh-CN" altLang="en-US"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，其结果将直接影响到</a:t>
            </a:r>
            <a:r>
              <a:rPr kumimoji="0" lang="en-US"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en-US"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运行的</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结果。</a:t>
            </a:r>
            <a:endParaRPr kumimoji="0" lang="en-US" altLang="zh-CN"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2" indent="-342900" algn="l" defTabSz="914400" rtl="0" eaLnBrk="1" fontAlgn="base" latinLnBrk="0" hangingPunct="1">
              <a:lnSpc>
                <a:spcPct val="150000"/>
              </a:lnSpc>
              <a:spcBef>
                <a:spcPts val="600"/>
              </a:spcBef>
              <a:spcAft>
                <a:spcPct val="0"/>
              </a:spcAft>
              <a:buClr>
                <a:schemeClr val="tx1"/>
              </a:buClr>
              <a:buSzTx/>
              <a:buFontTx/>
              <a:buChar char="•"/>
              <a:defRPr/>
            </a:pPr>
            <a:r>
              <a:rPr kumimoji="0" lang="zh-CN"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要实施风险评估，必须首先确定风险评估方法。</a:t>
            </a:r>
            <a:r>
              <a:rPr kumimoji="0" lang="en-US"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A</a:t>
            </a:r>
            <a:r>
              <a:rPr kumimoji="0" lang="zh-CN"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单位</a:t>
            </a:r>
            <a:r>
              <a:rPr kumimoji="0" lang="en-US"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实施小组在研究了大量的风险评估资料的基础上，</a:t>
            </a:r>
            <a:r>
              <a:rPr kumimoji="0" lang="zh-CN" altLang="zh-CN"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按照我国风险评估标准和要求，结合</a:t>
            </a:r>
            <a:r>
              <a:rPr kumimoji="0" lang="en-US" altLang="zh-CN"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A</a:t>
            </a:r>
            <a:r>
              <a:rPr kumimoji="0" lang="zh-CN" altLang="zh-CN"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单位信息安全的实际情况，确定了适合</a:t>
            </a:r>
            <a:r>
              <a:rPr kumimoji="0" lang="en-US" altLang="zh-CN"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A</a:t>
            </a:r>
            <a:r>
              <a:rPr kumimoji="0" lang="zh-CN" altLang="zh-CN"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单位</a:t>
            </a:r>
            <a:r>
              <a:rPr kumimoji="0" lang="en-US" altLang="zh-CN"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ISMS</a:t>
            </a:r>
            <a:r>
              <a:rPr kumimoji="0" lang="zh-CN" altLang="zh-CN"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建设的风险评估方法。</a:t>
            </a:r>
            <a:endParaRPr kumimoji="0" lang="en-US" altLang="zh-CN" sz="2000" b="1" i="0" u="none" strike="noStrike" kern="0" cap="none" spc="0" normalizeH="0" baseline="0" noProof="0" dirty="0">
              <a:ln>
                <a:noFill/>
              </a:ln>
              <a:solidFill>
                <a:srgbClr val="FF0000"/>
              </a:solidFill>
              <a:effectLst/>
              <a:uLnTx/>
              <a:uFillTx/>
              <a:latin typeface="华文楷体" pitchFamily="2" charset="-122"/>
              <a:ea typeface="华文楷体"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animEffect transition="in" filter="circle(in)">
                                      <p:cBhvr>
                                        <p:cTn id="7" dur="2000"/>
                                        <p:tgtEl>
                                          <p:spTgt spid="1331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3315">
                                            <p:txEl>
                                              <p:pRg st="2" end="2"/>
                                            </p:txEl>
                                          </p:spTgt>
                                        </p:tgtEl>
                                        <p:attrNameLst>
                                          <p:attrName>style.visibility</p:attrName>
                                        </p:attrNameLst>
                                      </p:cBhvr>
                                      <p:to>
                                        <p:strVal val="visible"/>
                                      </p:to>
                                    </p:set>
                                    <p:animEffect transition="in" filter="circle(in)">
                                      <p:cBhvr>
                                        <p:cTn id="12" dur="2000"/>
                                        <p:tgtEl>
                                          <p:spTgt spid="13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15363" name="内容占位符 2"/>
          <p:cNvSpPr>
            <a:spLocks noGrp="1" noChangeArrowheads="1"/>
          </p:cNvSpPr>
          <p:nvPr>
            <p:ph idx="1"/>
          </p:nvPr>
        </p:nvSpPr>
        <p:spPr>
          <a:xfrm>
            <a:off x="304800" y="973138"/>
            <a:ext cx="8229600" cy="6248400"/>
          </a:xfrm>
        </p:spPr>
        <p:txBody>
          <a:bodyPr vert="horz" wrap="square" lIns="91440" tIns="45720" rIns="91440" bIns="45720" numCol="1" anchor="t" anchorCtr="0" compatLnSpc="1"/>
          <a:lstStyle/>
          <a:p>
            <a:pPr marL="0" marR="0" lvl="1" indent="0" algn="l" defTabSz="914400" rtl="0" eaLnBrk="1" fontAlgn="base" latinLnBrk="0" hangingPunct="1">
              <a:lnSpc>
                <a:spcPct val="100000"/>
              </a:lnSpc>
              <a:spcBef>
                <a:spcPct val="20000"/>
              </a:spcBef>
              <a:spcAft>
                <a:spcPct val="20000"/>
              </a:spcAft>
              <a:buClr>
                <a:srgbClr val="AC04A0"/>
              </a:buClr>
              <a:buSzPct val="100000"/>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rPr>
              <a:t>1）</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风险</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评估模型</a:t>
            </a:r>
            <a:endPar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 </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pic>
        <p:nvPicPr>
          <p:cNvPr id="20484" name="Picture 1" descr="C:\Users\26958\AppData\Roaming\Tencent\Users\2695890098\QQ\WinTemp\RichOle\BHADIEAZN8ECIL@E3ARC04J.png"/>
          <p:cNvPicPr>
            <a:picLocks noChangeAspect="1"/>
          </p:cNvPicPr>
          <p:nvPr/>
        </p:nvPicPr>
        <p:blipFill>
          <a:blip r:embed="rId2"/>
          <a:stretch>
            <a:fillRect/>
          </a:stretch>
        </p:blipFill>
        <p:spPr>
          <a:xfrm>
            <a:off x="1371600" y="1676400"/>
            <a:ext cx="6194425" cy="4386263"/>
          </a:xfrm>
          <a:prstGeom prst="rect">
            <a:avLst/>
          </a:prstGeom>
          <a:noFill/>
          <a:ln w="9525">
            <a:noFill/>
          </a:ln>
        </p:spPr>
      </p:pic>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16387" name="内容占位符 2"/>
          <p:cNvSpPr>
            <a:spLocks noGrp="1" noChangeArrowheads="1"/>
          </p:cNvSpPr>
          <p:nvPr>
            <p:ph idx="1"/>
          </p:nvPr>
        </p:nvSpPr>
        <p:spPr>
          <a:xfrm>
            <a:off x="533400" y="1600200"/>
            <a:ext cx="8382000" cy="3276600"/>
          </a:xfrm>
        </p:spPr>
        <p:txBody>
          <a:bodyPr vert="horz" wrap="square" lIns="91440" tIns="45720" rIns="91440" bIns="45720" numCol="1" anchor="t" anchorCtr="0" compatLnSpc="1"/>
          <a:lstStyle/>
          <a:p>
            <a:pPr marL="0" marR="0" lvl="1" indent="0" algn="l" defTabSz="914400" rtl="0" eaLnBrk="1" fontAlgn="base" latinLnBrk="0" hangingPunct="1">
              <a:lnSpc>
                <a:spcPct val="100000"/>
              </a:lnSpc>
              <a:spcBef>
                <a:spcPct val="20000"/>
              </a:spcBef>
              <a:spcAft>
                <a:spcPct val="20000"/>
              </a:spcAft>
              <a:buClr>
                <a:srgbClr val="AC04A0"/>
              </a:buClr>
              <a:buSzPct val="100000"/>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2）</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风险</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评估方法</a:t>
            </a:r>
            <a:endPar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准备</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阶段：主要任务是对风险范围进行评估、对信息进行初步收集，并制定详尽风险评估方案。</a:t>
            </a:r>
            <a:endPar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识别</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阶段：主要识别以下</a:t>
            </a:r>
            <a:r>
              <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4</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个对象，并形成各自的结果列表</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animEffect transition="in" filter="barn(inVertical)">
                                      <p:cBhvr>
                                        <p:cTn id="7" dur="500"/>
                                        <p:tgtEl>
                                          <p:spTgt spid="1638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6387">
                                            <p:txEl>
                                              <p:pRg st="2" end="2"/>
                                            </p:txEl>
                                          </p:spTgt>
                                        </p:tgtEl>
                                        <p:attrNameLst>
                                          <p:attrName>style.visibility</p:attrName>
                                        </p:attrNameLst>
                                      </p:cBhvr>
                                      <p:to>
                                        <p:strVal val="visible"/>
                                      </p:to>
                                    </p:set>
                                    <p:animEffect transition="in" filter="circle(in)">
                                      <p:cBhvr>
                                        <p:cTn id="12" dur="2000"/>
                                        <p:tgtEl>
                                          <p:spTgt spid="163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16387" name="内容占位符 2"/>
          <p:cNvSpPr>
            <a:spLocks noGrp="1" noChangeArrowheads="1"/>
          </p:cNvSpPr>
          <p:nvPr>
            <p:ph idx="1"/>
          </p:nvPr>
        </p:nvSpPr>
        <p:spPr>
          <a:xfrm>
            <a:off x="304800" y="1524000"/>
            <a:ext cx="8534400" cy="4267200"/>
          </a:xfrm>
        </p:spPr>
        <p:txBody>
          <a:bodyPr vert="horz" wrap="square" lIns="91440" tIns="45720" rIns="91440" bIns="45720" numCol="1" anchor="t" anchorCtr="0" compatLnSpc="1"/>
          <a:lstStyle/>
          <a:p>
            <a:pPr marL="514985" marR="0" lvl="0" indent="-514985" algn="l" defTabSz="914400" rtl="0" eaLnBrk="1" fontAlgn="base" latinLnBrk="0" hangingPunct="1">
              <a:lnSpc>
                <a:spcPct val="100000"/>
              </a:lnSpc>
              <a:spcBef>
                <a:spcPts val="0"/>
              </a:spcBef>
              <a:spcAft>
                <a:spcPts val="0"/>
              </a:spcAft>
              <a:buClr>
                <a:srgbClr val="00B0F0"/>
              </a:buClr>
              <a:buSzPct val="85000"/>
              <a:buFont typeface="+mj-ea"/>
              <a:buAutoNum type="circleNumDbPlain"/>
              <a:defRPr/>
            </a:pPr>
            <a:endParaRPr kumimoji="0" lang="en-US" altLang="zh-CN" sz="28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514985" marR="0" lvl="0" indent="-514985" algn="l" defTabSz="914400" rtl="0" eaLnBrk="1" fontAlgn="base" latinLnBrk="0" hangingPunct="1">
              <a:lnSpc>
                <a:spcPct val="100000"/>
              </a:lnSpc>
              <a:spcBef>
                <a:spcPts val="0"/>
              </a:spcBef>
              <a:spcAft>
                <a:spcPts val="0"/>
              </a:spcAft>
              <a:buClr>
                <a:srgbClr val="00B0F0"/>
              </a:buClr>
              <a:buSzPct val="85000"/>
              <a:buFont typeface="+mj-ea"/>
              <a:buAutoNum type="circleNumDbPlain"/>
              <a:defRPr/>
            </a:pP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资产</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识别是对被评估信息系统的关键资产进行识    别，并合理分配。  </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endParaRPr>
          </a:p>
          <a:p>
            <a:pPr marL="514985" marR="0" lvl="0" indent="-514985" algn="l" defTabSz="914400" rtl="0" eaLnBrk="1" fontAlgn="base" latinLnBrk="0" hangingPunct="1">
              <a:lnSpc>
                <a:spcPct val="100000"/>
              </a:lnSpc>
              <a:spcBef>
                <a:spcPts val="0"/>
              </a:spcBef>
              <a:spcAft>
                <a:spcPts val="0"/>
              </a:spcAft>
              <a:buClr>
                <a:srgbClr val="00B0F0"/>
              </a:buClr>
              <a:buSzPct val="85000"/>
              <a:buFont typeface="+mj-ea"/>
              <a:buAutoNum type="circleNumDbPlain"/>
              <a:defRPr/>
            </a:pP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威胁</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识别就是根据资产的环境和资产遭受过的威  胁的损害情况来确认威胁的</a:t>
            </a: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主体</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和</a:t>
            </a: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客体</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endParaRPr>
          </a:p>
          <a:p>
            <a:pPr marL="514985" marR="0" lvl="0" indent="-514985" algn="l" defTabSz="914400" rtl="0" eaLnBrk="1" fontAlgn="base" latinLnBrk="0" hangingPunct="1">
              <a:lnSpc>
                <a:spcPct val="100000"/>
              </a:lnSpc>
              <a:spcBef>
                <a:spcPts val="0"/>
              </a:spcBef>
              <a:spcAft>
                <a:spcPts val="0"/>
              </a:spcAft>
              <a:buClr>
                <a:srgbClr val="00B0F0"/>
              </a:buClr>
              <a:buSzPct val="85000"/>
              <a:buFont typeface="+mj-ea"/>
              <a:buAutoNum type="circleNumDbPlain"/>
              <a:defRPr/>
            </a:pP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脆弱性</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评估就是对脆弱性被威胁利用的可能性进行评估，最终为其赋相对</a:t>
            </a:r>
            <a:r>
              <a:rPr kumimoji="0" lang="zh-CN" altLang="en-US" sz="2800" b="1" i="0" u="none" strike="noStrike" kern="0" cap="none" spc="0" normalizeH="0" baseline="0" noProof="0" dirty="0">
                <a:ln>
                  <a:noFill/>
                </a:ln>
                <a:solidFill>
                  <a:srgbClr val="FF0000"/>
                </a:solidFill>
                <a:effectLst/>
                <a:uLnTx/>
                <a:uFillTx/>
                <a:latin typeface="华文楷体" pitchFamily="2" charset="-122"/>
                <a:ea typeface="华文楷体" pitchFamily="2" charset="-122"/>
                <a:cs typeface="+mn-cs"/>
              </a:rPr>
              <a:t>等级值</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a:t>
            </a:r>
            <a:endPar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endParaRPr>
          </a:p>
          <a:p>
            <a:pPr marL="514985" marR="0" lvl="0" indent="-514985" algn="l" defTabSz="914400" rtl="0" eaLnBrk="1" fontAlgn="base" latinLnBrk="0" hangingPunct="1">
              <a:lnSpc>
                <a:spcPct val="100000"/>
              </a:lnSpc>
              <a:spcBef>
                <a:spcPts val="0"/>
              </a:spcBef>
              <a:spcAft>
                <a:spcPts val="0"/>
              </a:spcAft>
              <a:buClr>
                <a:srgbClr val="00B0F0"/>
              </a:buClr>
              <a:buSzPct val="85000"/>
              <a:buFont typeface="+mj-ea"/>
              <a:buAutoNum type="circleNumDbPlain"/>
              <a:defRPr/>
            </a:pP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安全措施</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识别就是通过问卷调查、人工检查等方式识别被评估信息系统有效对抗风险的预防</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措施。</a:t>
            </a:r>
            <a:endPar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animEffect transition="in" filter="wheel(1)">
                                      <p:cBhvr>
                                        <p:cTn id="7" dur="2000"/>
                                        <p:tgtEl>
                                          <p:spTgt spid="16387">
                                            <p:txEl>
                                              <p:pRg st="1" end="1"/>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16387">
                                            <p:txEl>
                                              <p:pRg st="2" end="2"/>
                                            </p:txEl>
                                          </p:spTgt>
                                        </p:tgtEl>
                                        <p:attrNameLst>
                                          <p:attrName>style.visibility</p:attrName>
                                        </p:attrNameLst>
                                      </p:cBhvr>
                                      <p:to>
                                        <p:strVal val="visible"/>
                                      </p:to>
                                    </p:set>
                                    <p:animEffect transition="in" filter="wheel(1)">
                                      <p:cBhvr>
                                        <p:cTn id="10" dur="2000"/>
                                        <p:tgtEl>
                                          <p:spTgt spid="1638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6387">
                                            <p:txEl>
                                              <p:pRg st="3" end="3"/>
                                            </p:txEl>
                                          </p:spTgt>
                                        </p:tgtEl>
                                        <p:attrNameLst>
                                          <p:attrName>style.visibility</p:attrName>
                                        </p:attrNameLst>
                                      </p:cBhvr>
                                      <p:to>
                                        <p:strVal val="visible"/>
                                      </p:to>
                                    </p:set>
                                    <p:animEffect transition="in" filter="fade">
                                      <p:cBhvr>
                                        <p:cTn id="15" dur="1000"/>
                                        <p:tgtEl>
                                          <p:spTgt spid="16387">
                                            <p:txEl>
                                              <p:pRg st="3" end="3"/>
                                            </p:txEl>
                                          </p:spTgt>
                                        </p:tgtEl>
                                      </p:cBhvr>
                                    </p:animEffect>
                                    <p:anim calcmode="lin" valueType="num">
                                      <p:cBhvr>
                                        <p:cTn id="16" dur="10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p:cTn id="17" dur="1000" fill="hold"/>
                                        <p:tgtEl>
                                          <p:spTgt spid="16387">
                                            <p:txEl>
                                              <p:pRg st="3" end="3"/>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6387">
                                            <p:txEl>
                                              <p:pRg st="4" end="4"/>
                                            </p:txEl>
                                          </p:spTgt>
                                        </p:tgtEl>
                                        <p:attrNameLst>
                                          <p:attrName>style.visibility</p:attrName>
                                        </p:attrNameLst>
                                      </p:cBhvr>
                                      <p:to>
                                        <p:strVal val="visible"/>
                                      </p:to>
                                    </p:set>
                                    <p:animEffect transition="in" filter="fade">
                                      <p:cBhvr>
                                        <p:cTn id="20" dur="1000"/>
                                        <p:tgtEl>
                                          <p:spTgt spid="16387">
                                            <p:txEl>
                                              <p:pRg st="4" end="4"/>
                                            </p:txEl>
                                          </p:spTgt>
                                        </p:tgtEl>
                                      </p:cBhvr>
                                    </p:animEffect>
                                    <p:anim calcmode="lin" valueType="num">
                                      <p:cBhvr>
                                        <p:cTn id="21" dur="10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1638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18435" name="内容占位符 2"/>
          <p:cNvSpPr>
            <a:spLocks noGrp="1" noChangeArrowheads="1"/>
          </p:cNvSpPr>
          <p:nvPr>
            <p:ph idx="1"/>
          </p:nvPr>
        </p:nvSpPr>
        <p:spPr>
          <a:xfrm>
            <a:off x="228600" y="1524000"/>
            <a:ext cx="8610600" cy="4495800"/>
          </a:xfrm>
        </p:spPr>
        <p:txBody>
          <a:bodyPr vert="horz" wrap="square" lIns="91440" tIns="45720" rIns="91440" bIns="45720" numCol="1" anchor="t" anchorCtr="0" compatLnSpc="1"/>
          <a:lstStyle/>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分析阶段</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00050" marR="0" lvl="1" indent="0" algn="l" defTabSz="914400" rtl="0" eaLnBrk="1" fontAlgn="base" latinLnBrk="0" hangingPunct="1">
              <a:lnSpc>
                <a:spcPct val="100000"/>
              </a:lnSpc>
              <a:spcBef>
                <a:spcPts val="0"/>
              </a:spcBef>
              <a:spcAft>
                <a:spcPts val="0"/>
              </a:spcAft>
              <a:buClr>
                <a:srgbClr val="AC04A0"/>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    分析阶段是风险评估的主要阶段，其主要包括以下</a:t>
            </a:r>
            <a:r>
              <a:rPr kumimoji="0" lang="en-US" altLang="zh-CN"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5</a:t>
            </a:r>
            <a:r>
              <a:rPr kumimoji="0" lang="zh-CN" altLang="en-US"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个方面的分析：</a:t>
            </a:r>
            <a:endParaRPr kumimoji="0" lang="en-US" altLang="zh-CN"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914400" marR="0" lvl="1" indent="-514350" algn="l" defTabSz="914400" rtl="0" eaLnBrk="1" fontAlgn="base" latinLnBrk="0" hangingPunct="1">
              <a:lnSpc>
                <a:spcPct val="100000"/>
              </a:lnSpc>
              <a:spcBef>
                <a:spcPts val="0"/>
              </a:spcBef>
              <a:spcAft>
                <a:spcPts val="0"/>
              </a:spcAft>
              <a:buClr>
                <a:srgbClr val="00B0F0"/>
              </a:buClr>
              <a:buSzPct val="85000"/>
              <a:buFont typeface="+mj-ea"/>
              <a:buAutoNum type="circleNumDbPlain"/>
              <a:defRPr/>
            </a:pP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资产影响分析：资产量化的过程，跟据资产遭受破坏时对系统产生的影响，对其进行赋值</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量化</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914400" marR="0" lvl="1" indent="-514350" algn="l" defTabSz="914400" rtl="0" eaLnBrk="1" fontAlgn="base" latinLnBrk="0" hangingPunct="1">
              <a:lnSpc>
                <a:spcPct val="100000"/>
              </a:lnSpc>
              <a:spcBef>
                <a:spcPts val="0"/>
              </a:spcBef>
              <a:spcAft>
                <a:spcPts val="0"/>
              </a:spcAft>
              <a:buClr>
                <a:srgbClr val="00B0F0"/>
              </a:buClr>
              <a:buSzPct val="85000"/>
              <a:buFont typeface="+mj-ea"/>
              <a:buAutoNum type="circleNumDbPlain"/>
              <a:defRPr/>
            </a:pP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威胁分析</a:t>
            </a:r>
            <a:r>
              <a:rPr kumimoji="0" lang="zh-CN" altLang="en-US"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确定威胁的权值</a:t>
            </a:r>
            <a:r>
              <a:rPr kumimoji="0" lang="en-US" altLang="zh-CN"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(1~5),</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威胁的等级越高威胁发生的可能性越大</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914400" marR="0" lvl="1" indent="-514350" algn="l" defTabSz="914400" rtl="0" eaLnBrk="1" fontAlgn="base" latinLnBrk="0" hangingPunct="1">
              <a:lnSpc>
                <a:spcPct val="100000"/>
              </a:lnSpc>
              <a:spcBef>
                <a:spcPts val="0"/>
              </a:spcBef>
              <a:spcAft>
                <a:spcPts val="0"/>
              </a:spcAft>
              <a:buClr>
                <a:srgbClr val="00B0F0"/>
              </a:buClr>
              <a:buSzPct val="85000"/>
              <a:buFont typeface="+mj-ea"/>
              <a:buAutoNum type="circleNumDbPlain"/>
              <a:defRPr/>
            </a:pP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脆弱性分析：依据脆弱性被利用的难易程度和被成功利用后所产生的影响 来对</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脆弱性</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进行</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赋值量化</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914400" marR="0" lvl="1" indent="-514350" algn="l" defTabSz="914400" rtl="0" eaLnBrk="1" fontAlgn="base" latinLnBrk="0" hangingPunct="1">
              <a:lnSpc>
                <a:spcPct val="100000"/>
              </a:lnSpc>
              <a:spcBef>
                <a:spcPts val="0"/>
              </a:spcBef>
              <a:spcAft>
                <a:spcPts val="0"/>
              </a:spcAft>
              <a:buClr>
                <a:srgbClr val="00B0F0"/>
              </a:buClr>
              <a:buSzPct val="85000"/>
              <a:buFont typeface="+mj-ea"/>
              <a:buAutoNum type="circleNumDbPlain"/>
              <a:defRPr/>
            </a:pP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安全措施有效性分析：判断安全措施对防范威胁、降低脆弱性的有效性。</a:t>
            </a:r>
            <a:endParaRPr kumimoji="0" lang="en-US" altLang="zh-CN"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914400" marR="0" lvl="1" indent="-514350" algn="l" defTabSz="914400" rtl="0" eaLnBrk="1" fontAlgn="base" latinLnBrk="0" hangingPunct="1">
              <a:lnSpc>
                <a:spcPct val="100000"/>
              </a:lnSpc>
              <a:spcBef>
                <a:spcPts val="0"/>
              </a:spcBef>
              <a:spcAft>
                <a:spcPts val="0"/>
              </a:spcAft>
              <a:buClr>
                <a:srgbClr val="00B0F0"/>
              </a:buClr>
              <a:buSzPct val="85000"/>
              <a:buFont typeface="+mj-ea"/>
              <a:buAutoNum type="circleNumDbPlain"/>
              <a:defRPr/>
            </a:pPr>
            <a:r>
              <a:rPr kumimoji="0" lang="zh-CN" altLang="en-US"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综合</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风险分析：</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对风险量化，获得风险级别（</a:t>
            </a:r>
            <a:r>
              <a:rPr kumimoji="0" lang="en-US" altLang="zh-CN"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5</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级），等级越高风险越高</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800" b="1" i="0" u="none" strike="noStrike" kern="0" cap="none" spc="0" normalizeH="0" baseline="0" noProof="0" dirty="0" smtClean="0">
              <a:ln>
                <a:noFill/>
              </a:ln>
              <a:solidFill>
                <a:schemeClr val="tx1"/>
              </a:solidFill>
              <a:effectLst/>
              <a:uLnTx/>
              <a:uFillTx/>
              <a:latin typeface="华文楷体" pitchFamily="2" charset="-122"/>
              <a:ea typeface="华文楷体" pitchFamily="2"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435">
                                            <p:txEl>
                                              <p:pRg st="2" end="2"/>
                                            </p:txEl>
                                          </p:spTgt>
                                        </p:tgtEl>
                                        <p:attrNameLst>
                                          <p:attrName>style.visibility</p:attrName>
                                        </p:attrNameLst>
                                      </p:cBhvr>
                                      <p:to>
                                        <p:strVal val="visible"/>
                                      </p:to>
                                    </p:set>
                                    <p:animEffect transition="in" filter="wipe(down)">
                                      <p:cBhvr>
                                        <p:cTn id="7" dur="500"/>
                                        <p:tgtEl>
                                          <p:spTgt spid="1843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8435">
                                            <p:txEl>
                                              <p:charRg st="83" end="121"/>
                                            </p:txEl>
                                          </p:spTgt>
                                        </p:tgtEl>
                                        <p:attrNameLst>
                                          <p:attrName>style.visibility</p:attrName>
                                        </p:attrNameLst>
                                      </p:cBhvr>
                                      <p:to>
                                        <p:strVal val="visible"/>
                                      </p:to>
                                    </p:set>
                                    <p:animEffect transition="in" filter="circle(in)">
                                      <p:cBhvr>
                                        <p:cTn id="12" dur="2000"/>
                                        <p:tgtEl>
                                          <p:spTgt spid="18435">
                                            <p:txEl>
                                              <p:charRg st="83" end="12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18435">
                                            <p:txEl>
                                              <p:charRg st="121" end="167"/>
                                            </p:txEl>
                                          </p:spTgt>
                                        </p:tgtEl>
                                        <p:attrNameLst>
                                          <p:attrName>style.visibility</p:attrName>
                                        </p:attrNameLst>
                                      </p:cBhvr>
                                      <p:to>
                                        <p:strVal val="visible"/>
                                      </p:to>
                                    </p:set>
                                    <p:animEffect transition="in" filter="wheel(1)">
                                      <p:cBhvr>
                                        <p:cTn id="17" dur="2000"/>
                                        <p:tgtEl>
                                          <p:spTgt spid="18435">
                                            <p:txEl>
                                              <p:charRg st="121" end="16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8435">
                                            <p:txEl>
                                              <p:charRg st="167" end="200"/>
                                            </p:txEl>
                                          </p:spTgt>
                                        </p:tgtEl>
                                        <p:attrNameLst>
                                          <p:attrName>style.visibility</p:attrName>
                                        </p:attrNameLst>
                                      </p:cBhvr>
                                      <p:to>
                                        <p:strVal val="visible"/>
                                      </p:to>
                                    </p:set>
                                    <p:animEffect transition="in" filter="fade">
                                      <p:cBhvr>
                                        <p:cTn id="22" dur="1000"/>
                                        <p:tgtEl>
                                          <p:spTgt spid="18435">
                                            <p:txEl>
                                              <p:charRg st="167" end="200"/>
                                            </p:txEl>
                                          </p:spTgt>
                                        </p:tgtEl>
                                      </p:cBhvr>
                                    </p:animEffect>
                                    <p:anim calcmode="lin" valueType="num">
                                      <p:cBhvr>
                                        <p:cTn id="23" dur="1000" fill="hold"/>
                                        <p:tgtEl>
                                          <p:spTgt spid="18435">
                                            <p:txEl>
                                              <p:charRg st="167" end="200"/>
                                            </p:txEl>
                                          </p:spTgt>
                                        </p:tgtEl>
                                        <p:attrNameLst>
                                          <p:attrName>ppt_x</p:attrName>
                                        </p:attrNameLst>
                                      </p:cBhvr>
                                      <p:tavLst>
                                        <p:tav tm="0">
                                          <p:val>
                                            <p:strVal val="#ppt_x"/>
                                          </p:val>
                                        </p:tav>
                                        <p:tav tm="100000">
                                          <p:val>
                                            <p:strVal val="#ppt_x"/>
                                          </p:val>
                                        </p:tav>
                                      </p:tavLst>
                                    </p:anim>
                                    <p:anim calcmode="lin" valueType="num">
                                      <p:cBhvr>
                                        <p:cTn id="24" dur="1000" fill="hold"/>
                                        <p:tgtEl>
                                          <p:spTgt spid="18435">
                                            <p:txEl>
                                              <p:charRg st="167" end="20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8435">
                                            <p:txEl>
                                              <p:charRg st="200" end="234"/>
                                            </p:txEl>
                                          </p:spTgt>
                                        </p:tgtEl>
                                        <p:attrNameLst>
                                          <p:attrName>style.visibility</p:attrName>
                                        </p:attrNameLst>
                                      </p:cBhvr>
                                      <p:to>
                                        <p:strVal val="visible"/>
                                      </p:to>
                                    </p:set>
                                    <p:animEffect transition="in" filter="fade">
                                      <p:cBhvr>
                                        <p:cTn id="29" dur="1000"/>
                                        <p:tgtEl>
                                          <p:spTgt spid="18435">
                                            <p:txEl>
                                              <p:charRg st="200" end="234"/>
                                            </p:txEl>
                                          </p:spTgt>
                                        </p:tgtEl>
                                      </p:cBhvr>
                                    </p:animEffect>
                                    <p:anim calcmode="lin" valueType="num">
                                      <p:cBhvr>
                                        <p:cTn id="30" dur="1000" fill="hold"/>
                                        <p:tgtEl>
                                          <p:spTgt spid="18435">
                                            <p:txEl>
                                              <p:charRg st="200" end="234"/>
                                            </p:txEl>
                                          </p:spTgt>
                                        </p:tgtEl>
                                        <p:attrNameLst>
                                          <p:attrName>ppt_x</p:attrName>
                                        </p:attrNameLst>
                                      </p:cBhvr>
                                      <p:tavLst>
                                        <p:tav tm="0">
                                          <p:val>
                                            <p:strVal val="#ppt_x"/>
                                          </p:val>
                                        </p:tav>
                                        <p:tav tm="100000">
                                          <p:val>
                                            <p:strVal val="#ppt_x"/>
                                          </p:val>
                                        </p:tav>
                                      </p:tavLst>
                                    </p:anim>
                                    <p:anim calcmode="lin" valueType="num">
                                      <p:cBhvr>
                                        <p:cTn id="31" dur="1000" fill="hold"/>
                                        <p:tgtEl>
                                          <p:spTgt spid="18435">
                                            <p:txEl>
                                              <p:charRg st="200" end="23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16387" name="内容占位符 2"/>
          <p:cNvSpPr>
            <a:spLocks noGrp="1" noChangeArrowheads="1"/>
          </p:cNvSpPr>
          <p:nvPr>
            <p:ph idx="1"/>
          </p:nvPr>
        </p:nvSpPr>
        <p:spPr>
          <a:xfrm>
            <a:off x="304800" y="914400"/>
            <a:ext cx="7575550" cy="5486400"/>
          </a:xfrm>
        </p:spPr>
        <p:txBody>
          <a:bodyPr vert="horz" wrap="square" lIns="91440" tIns="45720" rIns="91440" bIns="45720" numCol="1" anchor="t" anchorCtr="0" compatLnSpc="1"/>
          <a:lstStyle/>
          <a:p>
            <a:pPr marL="514985" marR="0" lvl="0" indent="-514985" algn="l" defTabSz="914400" rtl="0" eaLnBrk="1" fontAlgn="base" latinLnBrk="0" hangingPunct="1">
              <a:lnSpc>
                <a:spcPct val="100000"/>
              </a:lnSpc>
              <a:spcBef>
                <a:spcPts val="0"/>
              </a:spcBef>
              <a:spcAft>
                <a:spcPts val="0"/>
              </a:spcAft>
              <a:buClr>
                <a:srgbClr val="00B0F0"/>
              </a:buClr>
              <a:buSzPct val="85000"/>
              <a:buFont typeface="+mj-ea"/>
              <a:buAutoNum type="circleNumDbPlain"/>
              <a:defRPr/>
            </a:pPr>
            <a:endParaRPr kumimoji="0" lang="en-US" altLang="zh-CN" sz="28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pic>
        <p:nvPicPr>
          <p:cNvPr id="22532" name="图片 1"/>
          <p:cNvPicPr>
            <a:picLocks noChangeAspect="1"/>
          </p:cNvPicPr>
          <p:nvPr/>
        </p:nvPicPr>
        <p:blipFill>
          <a:blip r:embed="rId2"/>
          <a:stretch>
            <a:fillRect/>
          </a:stretch>
        </p:blipFill>
        <p:spPr>
          <a:xfrm>
            <a:off x="817563" y="1143000"/>
            <a:ext cx="7062787" cy="5487988"/>
          </a:xfrm>
          <a:prstGeom prst="rect">
            <a:avLst/>
          </a:prstGeom>
          <a:noFill/>
          <a:ln w="9525">
            <a:noFill/>
          </a:ln>
        </p:spPr>
      </p:pic>
      <p:sp>
        <p:nvSpPr>
          <p:cNvPr id="24581" name="TextBox 1"/>
          <p:cNvSpPr txBox="1"/>
          <p:nvPr/>
        </p:nvSpPr>
        <p:spPr>
          <a:xfrm>
            <a:off x="8255000" y="2057400"/>
            <a:ext cx="584200" cy="3048000"/>
          </a:xfrm>
          <a:prstGeom prst="rect">
            <a:avLst/>
          </a:prstGeom>
          <a:noFill/>
          <a:ln w="9525">
            <a:noFill/>
          </a:ln>
        </p:spPr>
        <p:txBody>
          <a:bodyPr vert="eaVert">
            <a:spAutoFit/>
          </a:bodyPr>
          <a:lstStyle/>
          <a:p>
            <a:r>
              <a:rPr lang="zh-CN" altLang="en-US" dirty="0">
                <a:latin typeface="Times New Roman" panose="02020603050405020304" pitchFamily="18" charset="0"/>
              </a:rPr>
              <a:t>威胁分析部分表格</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532"/>
                                        </p:tgtEl>
                                        <p:attrNameLst>
                                          <p:attrName>style.visibility</p:attrName>
                                        </p:attrNameLst>
                                      </p:cBhvr>
                                      <p:to>
                                        <p:strVal val="visible"/>
                                      </p:to>
                                    </p:set>
                                    <p:animEffect transition="in" filter="wipe(down)">
                                      <p:cBhvr>
                                        <p:cTn id="7" dur="500"/>
                                        <p:tgtEl>
                                          <p:spTgt spid="22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19459" name="内容占位符 2"/>
          <p:cNvSpPr>
            <a:spLocks noGrp="1" noChangeArrowheads="1"/>
          </p:cNvSpPr>
          <p:nvPr>
            <p:ph idx="1"/>
          </p:nvPr>
        </p:nvSpPr>
        <p:spPr>
          <a:xfrm>
            <a:off x="0" y="1219200"/>
            <a:ext cx="9144000" cy="5791200"/>
          </a:xfrm>
        </p:spPr>
        <p:txBody>
          <a:bodyPr vert="horz" wrap="square" lIns="91440" tIns="45720" rIns="91440" bIns="45720" numCol="1" anchor="t" anchorCtr="0" compatLnSpc="1"/>
          <a:lstStyle/>
          <a:p>
            <a:pPr marL="0" marR="0" lvl="1" indent="0" algn="l" defTabSz="914400" rtl="0" eaLnBrk="1" fontAlgn="base" latinLnBrk="0" hangingPunct="1">
              <a:lnSpc>
                <a:spcPct val="100000"/>
              </a:lnSpc>
              <a:spcBef>
                <a:spcPct val="20000"/>
              </a:spcBef>
              <a:spcAft>
                <a:spcPct val="20000"/>
              </a:spcAft>
              <a:buClr>
                <a:srgbClr val="AC04A0"/>
              </a:buClr>
              <a:buSzPct val="100000"/>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综合风险分析：风险</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值计算公式</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ts val="0"/>
              </a:spcBef>
              <a:spcAft>
                <a:spcPts val="0"/>
              </a:spcAft>
              <a:buClr>
                <a:srgbClr val="AC04A0"/>
              </a:buClr>
              <a:buSzTx/>
              <a:buFont typeface="Wingdings" panose="05000000000000000000" pitchFamily="2" charset="2"/>
              <a:buChar char="§"/>
              <a:defRPr/>
            </a:pPr>
            <a:r>
              <a:rPr kumimoji="0" lang="zh-CN" altLang="en-US" sz="20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rPr>
              <a:t> </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风险值</a:t>
            </a:r>
            <a:r>
              <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资产重要性</a:t>
            </a:r>
            <a:r>
              <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威胁综合可能性</a:t>
            </a:r>
            <a:r>
              <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综合脆弱性</a:t>
            </a:r>
            <a:r>
              <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Arial" panose="020B0604020202020204"/>
              </a:rPr>
              <a:t>/</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Arial" panose="020B0604020202020204"/>
              </a:rPr>
              <a:t>安全措施有效性</a:t>
            </a:r>
            <a:endPar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Arial" panose="020B0604020202020204"/>
            </a:endParaRPr>
          </a:p>
          <a:p>
            <a:pPr marL="0" marR="0" lvl="1" indent="0" algn="l" defTabSz="914400" rtl="0" eaLnBrk="1" fontAlgn="base" latinLnBrk="0" hangingPunct="1">
              <a:lnSpc>
                <a:spcPct val="100000"/>
              </a:lnSpc>
              <a:spcBef>
                <a:spcPct val="20000"/>
              </a:spcBef>
              <a:spcAft>
                <a:spcPct val="20000"/>
              </a:spcAft>
              <a:buClr>
                <a:srgbClr val="AC04A0"/>
              </a:buClr>
              <a:buSzPct val="100000"/>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风险等级</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划分表格：</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Arial" panose="020B0604020202020204"/>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 </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graphicFrame>
        <p:nvGraphicFramePr>
          <p:cNvPr id="2" name="表格 1"/>
          <p:cNvGraphicFramePr>
            <a:graphicFrameLocks noGrp="1"/>
          </p:cNvGraphicFramePr>
          <p:nvPr/>
        </p:nvGraphicFramePr>
        <p:xfrm>
          <a:off x="304800" y="2667000"/>
          <a:ext cx="8534400" cy="3840204"/>
        </p:xfrm>
        <a:graphic>
          <a:graphicData uri="http://schemas.openxmlformats.org/drawingml/2006/table">
            <a:tbl>
              <a:tblPr firstRow="1" bandRow="1">
                <a:tableStyleId>{5C22544A-7EE6-4342-B048-85BDC9FD1C3A}</a:tableStyleId>
              </a:tblPr>
              <a:tblGrid>
                <a:gridCol w="685800"/>
                <a:gridCol w="685800"/>
                <a:gridCol w="1447800"/>
                <a:gridCol w="5715000"/>
              </a:tblGrid>
              <a:tr h="365710">
                <a:tc>
                  <a:txBody>
                    <a:bodyPr/>
                    <a:lstStyle/>
                    <a:p>
                      <a:r>
                        <a:rPr lang="zh-CN" altLang="en-US" sz="1800" dirty="0" smtClean="0"/>
                        <a:t>等级</a:t>
                      </a:r>
                      <a:endParaRPr lang="zh-CN" altLang="en-US" sz="1800" dirty="0"/>
                    </a:p>
                  </a:txBody>
                  <a:tcPr marL="91442" marR="91442" marT="45697" marB="45697"/>
                </a:tc>
                <a:tc>
                  <a:txBody>
                    <a:bodyPr/>
                    <a:lstStyle/>
                    <a:p>
                      <a:r>
                        <a:rPr lang="zh-CN" altLang="en-US" sz="1800" dirty="0" smtClean="0"/>
                        <a:t>标识</a:t>
                      </a:r>
                      <a:endParaRPr lang="zh-CN" altLang="en-US" sz="1800" dirty="0"/>
                    </a:p>
                  </a:txBody>
                  <a:tcPr marL="91442" marR="91442" marT="45697" marB="45697"/>
                </a:tc>
                <a:tc>
                  <a:txBody>
                    <a:bodyPr/>
                    <a:lstStyle/>
                    <a:p>
                      <a:r>
                        <a:rPr lang="zh-CN" altLang="en-US" sz="1800" dirty="0" smtClean="0"/>
                        <a:t>风险值范围</a:t>
                      </a:r>
                      <a:endParaRPr lang="zh-CN" altLang="en-US" sz="1800" dirty="0"/>
                    </a:p>
                  </a:txBody>
                  <a:tcPr marL="91442" marR="91442" marT="45697" marB="45697"/>
                </a:tc>
                <a:tc>
                  <a:txBody>
                    <a:bodyPr/>
                    <a:lstStyle/>
                    <a:p>
                      <a:r>
                        <a:rPr lang="zh-CN" altLang="en-US" sz="1800" dirty="0" smtClean="0"/>
                        <a:t>描述</a:t>
                      </a:r>
                      <a:endParaRPr lang="zh-CN" altLang="en-US" sz="1800" dirty="0"/>
                    </a:p>
                  </a:txBody>
                  <a:tcPr marL="91442" marR="91442" marT="45697" marB="45697"/>
                </a:tc>
              </a:tr>
              <a:tr h="914344">
                <a:tc>
                  <a:txBody>
                    <a:bodyPr/>
                    <a:lstStyle/>
                    <a:p>
                      <a:r>
                        <a:rPr lang="en-US" altLang="zh-CN" sz="1800" dirty="0" smtClean="0"/>
                        <a:t>5</a:t>
                      </a:r>
                      <a:endParaRPr lang="zh-CN" altLang="en-US" sz="1800" dirty="0"/>
                    </a:p>
                  </a:txBody>
                  <a:tcPr marL="91442" marR="91442" marT="45697" marB="45697"/>
                </a:tc>
                <a:tc>
                  <a:txBody>
                    <a:bodyPr/>
                    <a:lstStyle/>
                    <a:p>
                      <a:r>
                        <a:rPr lang="zh-CN" altLang="en-US" sz="1800" dirty="0" smtClean="0"/>
                        <a:t>很高</a:t>
                      </a:r>
                      <a:endParaRPr lang="zh-CN" altLang="en-US" sz="1800" dirty="0"/>
                    </a:p>
                  </a:txBody>
                  <a:tcPr marL="91442" marR="91442" marT="45697" marB="45697"/>
                </a:tc>
                <a:tc>
                  <a:txBody>
                    <a:bodyPr/>
                    <a:lstStyle/>
                    <a:p>
                      <a:r>
                        <a:rPr lang="en-US" altLang="zh-CN" sz="1800" dirty="0" smtClean="0"/>
                        <a:t>64.1~125</a:t>
                      </a:r>
                      <a:endParaRPr lang="zh-CN" altLang="en-US" sz="1800" dirty="0"/>
                    </a:p>
                  </a:txBody>
                  <a:tcPr marL="91442" marR="91442" marT="45697" marB="45697"/>
                </a:tc>
                <a:tc>
                  <a:txBody>
                    <a:bodyPr/>
                    <a:lstStyle/>
                    <a:p>
                      <a:r>
                        <a:rPr lang="zh-CN" altLang="zh-CN" sz="1800" kern="1200" dirty="0" smtClean="0">
                          <a:solidFill>
                            <a:schemeClr val="dk1"/>
                          </a:solidFill>
                          <a:effectLst/>
                          <a:latin typeface="+mn-lt"/>
                          <a:ea typeface="+mn-ea"/>
                          <a:cs typeface="+mn-cs"/>
                        </a:rPr>
                        <a:t>一旦发生将产生非常严重的经济或社会影响，如组织信誉严重破坏、严重影响组织的正常经营，经济损失重大、社会影响恶劣。</a:t>
                      </a:r>
                      <a:endParaRPr lang="zh-CN" altLang="en-US" sz="1800" dirty="0"/>
                    </a:p>
                  </a:txBody>
                  <a:tcPr marL="91442" marR="91442" marT="45697" marB="45697"/>
                </a:tc>
              </a:tr>
              <a:tr h="640027">
                <a:tc>
                  <a:txBody>
                    <a:bodyPr/>
                    <a:lstStyle/>
                    <a:p>
                      <a:r>
                        <a:rPr lang="en-US" altLang="zh-CN" sz="1800" dirty="0" smtClean="0"/>
                        <a:t>4</a:t>
                      </a:r>
                      <a:endParaRPr lang="zh-CN" altLang="en-US" sz="1800" dirty="0"/>
                    </a:p>
                  </a:txBody>
                  <a:tcPr marL="91442" marR="91442" marT="45697" marB="45697"/>
                </a:tc>
                <a:tc>
                  <a:txBody>
                    <a:bodyPr/>
                    <a:lstStyle/>
                    <a:p>
                      <a:r>
                        <a:rPr lang="zh-CN" altLang="en-US" sz="1800" dirty="0" smtClean="0"/>
                        <a:t>高</a:t>
                      </a:r>
                      <a:endParaRPr lang="zh-CN" altLang="en-US" sz="1800" dirty="0"/>
                    </a:p>
                  </a:txBody>
                  <a:tcPr marL="91442" marR="91442" marT="45697" marB="45697"/>
                </a:tc>
                <a:tc>
                  <a:txBody>
                    <a:bodyPr/>
                    <a:lstStyle/>
                    <a:p>
                      <a:r>
                        <a:rPr lang="en-US" altLang="zh-CN" sz="1800" dirty="0" smtClean="0"/>
                        <a:t>27.1~64</a:t>
                      </a:r>
                      <a:endParaRPr lang="zh-CN" altLang="en-US" sz="1800" dirty="0"/>
                    </a:p>
                  </a:txBody>
                  <a:tcPr marL="91442" marR="91442" marT="45697" marB="45697"/>
                </a:tc>
                <a:tc>
                  <a:txBody>
                    <a:bodyPr/>
                    <a:lstStyle/>
                    <a:p>
                      <a:r>
                        <a:rPr lang="zh-CN" altLang="zh-CN" sz="1800" kern="1200" dirty="0" smtClean="0">
                          <a:solidFill>
                            <a:schemeClr val="dk1"/>
                          </a:solidFill>
                          <a:effectLst/>
                          <a:latin typeface="+mn-lt"/>
                          <a:ea typeface="+mn-ea"/>
                          <a:cs typeface="+mn-cs"/>
                        </a:rPr>
                        <a:t>一旦发生将产生较大的经济或社会影响，在一定范围内给组织的经营和组织信誉造成损害。</a:t>
                      </a:r>
                      <a:endParaRPr lang="zh-CN" altLang="en-US" sz="1800" dirty="0"/>
                    </a:p>
                  </a:txBody>
                  <a:tcPr marL="91442" marR="91442" marT="45697" marB="45697"/>
                </a:tc>
              </a:tr>
              <a:tr h="640027">
                <a:tc>
                  <a:txBody>
                    <a:bodyPr/>
                    <a:lstStyle/>
                    <a:p>
                      <a:r>
                        <a:rPr lang="en-US" altLang="zh-CN" sz="1800" dirty="0" smtClean="0"/>
                        <a:t>3</a:t>
                      </a:r>
                      <a:endParaRPr lang="zh-CN" altLang="en-US" sz="1800" dirty="0"/>
                    </a:p>
                  </a:txBody>
                  <a:tcPr marL="91442" marR="91442" marT="45697" marB="45697"/>
                </a:tc>
                <a:tc>
                  <a:txBody>
                    <a:bodyPr/>
                    <a:lstStyle/>
                    <a:p>
                      <a:r>
                        <a:rPr lang="zh-CN" altLang="en-US" sz="1800" dirty="0" smtClean="0"/>
                        <a:t>中</a:t>
                      </a:r>
                      <a:endParaRPr lang="zh-CN" altLang="en-US" sz="1800" dirty="0"/>
                    </a:p>
                  </a:txBody>
                  <a:tcPr marL="91442" marR="91442" marT="45697" marB="45697"/>
                </a:tc>
                <a:tc>
                  <a:txBody>
                    <a:bodyPr/>
                    <a:lstStyle/>
                    <a:p>
                      <a:r>
                        <a:rPr lang="en-US" altLang="zh-CN" sz="1800" dirty="0" smtClean="0"/>
                        <a:t>8.1~27</a:t>
                      </a:r>
                      <a:endParaRPr lang="zh-CN" altLang="en-US" sz="1800" dirty="0"/>
                    </a:p>
                  </a:txBody>
                  <a:tcPr marL="91442" marR="91442" marT="45697" marB="45697"/>
                </a:tc>
                <a:tc>
                  <a:txBody>
                    <a:bodyPr/>
                    <a:lstStyle/>
                    <a:p>
                      <a:r>
                        <a:rPr lang="zh-CN" altLang="zh-CN" sz="1800" kern="1200" dirty="0" smtClean="0">
                          <a:solidFill>
                            <a:schemeClr val="dk1"/>
                          </a:solidFill>
                          <a:effectLst/>
                          <a:latin typeface="+mn-lt"/>
                          <a:ea typeface="+mn-ea"/>
                          <a:cs typeface="+mn-cs"/>
                        </a:rPr>
                        <a:t>一旦发生会造成一定的经济、社会或生产经营影响，但影响面和影响程度不大。</a:t>
                      </a:r>
                      <a:endParaRPr lang="zh-CN" altLang="en-US" sz="1800" dirty="0"/>
                    </a:p>
                  </a:txBody>
                  <a:tcPr marL="91442" marR="91442" marT="45697" marB="45697"/>
                </a:tc>
              </a:tr>
              <a:tr h="640027">
                <a:tc>
                  <a:txBody>
                    <a:bodyPr/>
                    <a:lstStyle/>
                    <a:p>
                      <a:r>
                        <a:rPr lang="en-US" altLang="zh-CN" sz="1800" dirty="0" smtClean="0"/>
                        <a:t>2</a:t>
                      </a:r>
                      <a:endParaRPr lang="zh-CN" altLang="en-US" sz="1800" dirty="0"/>
                    </a:p>
                  </a:txBody>
                  <a:tcPr marL="91442" marR="91442" marT="45697" marB="45697"/>
                </a:tc>
                <a:tc>
                  <a:txBody>
                    <a:bodyPr/>
                    <a:lstStyle/>
                    <a:p>
                      <a:r>
                        <a:rPr lang="zh-CN" altLang="en-US" sz="1800" dirty="0" smtClean="0"/>
                        <a:t>低</a:t>
                      </a:r>
                      <a:endParaRPr lang="zh-CN" altLang="en-US" sz="1800" dirty="0"/>
                    </a:p>
                  </a:txBody>
                  <a:tcPr marL="91442" marR="91442" marT="45697" marB="45697"/>
                </a:tc>
                <a:tc>
                  <a:txBody>
                    <a:bodyPr/>
                    <a:lstStyle/>
                    <a:p>
                      <a:r>
                        <a:rPr lang="en-US" altLang="zh-CN" sz="1800" dirty="0" smtClean="0"/>
                        <a:t>1.1~8</a:t>
                      </a:r>
                      <a:endParaRPr lang="zh-CN" altLang="en-US" sz="1800" dirty="0"/>
                    </a:p>
                  </a:txBody>
                  <a:tcPr marL="91442" marR="91442" marT="45697" marB="45697"/>
                </a:tc>
                <a:tc>
                  <a:txBody>
                    <a:bodyPr/>
                    <a:lstStyle/>
                    <a:p>
                      <a:r>
                        <a:rPr lang="zh-CN" altLang="zh-CN" sz="1800" kern="1200" dirty="0" smtClean="0">
                          <a:solidFill>
                            <a:schemeClr val="dk1"/>
                          </a:solidFill>
                          <a:effectLst/>
                          <a:latin typeface="+mn-lt"/>
                          <a:ea typeface="+mn-ea"/>
                          <a:cs typeface="+mn-cs"/>
                        </a:rPr>
                        <a:t>一旦发生造成的影响程度较低，一般仅限于组织内部，通过一定手段很快能解决。</a:t>
                      </a:r>
                      <a:endParaRPr lang="zh-CN" altLang="en-US" sz="1800" dirty="0"/>
                    </a:p>
                  </a:txBody>
                  <a:tcPr marL="91442" marR="91442" marT="45697" marB="45697"/>
                </a:tc>
              </a:tr>
              <a:tr h="640027">
                <a:tc>
                  <a:txBody>
                    <a:bodyPr/>
                    <a:lstStyle/>
                    <a:p>
                      <a:r>
                        <a:rPr lang="en-US" altLang="zh-CN" sz="1800" dirty="0" smtClean="0"/>
                        <a:t>1</a:t>
                      </a:r>
                      <a:endParaRPr lang="zh-CN" altLang="en-US" sz="1800" dirty="0"/>
                    </a:p>
                  </a:txBody>
                  <a:tcPr marL="91442" marR="91442" marT="45697" marB="45697"/>
                </a:tc>
                <a:tc>
                  <a:txBody>
                    <a:bodyPr/>
                    <a:lstStyle/>
                    <a:p>
                      <a:r>
                        <a:rPr lang="zh-CN" altLang="en-US" sz="1800" dirty="0" smtClean="0"/>
                        <a:t>很低</a:t>
                      </a:r>
                      <a:endParaRPr lang="zh-CN" altLang="en-US" sz="1800" dirty="0"/>
                    </a:p>
                  </a:txBody>
                  <a:tcPr marL="91442" marR="91442" marT="45697" marB="45697"/>
                </a:tc>
                <a:tc>
                  <a:txBody>
                    <a:bodyPr/>
                    <a:lstStyle/>
                    <a:p>
                      <a:r>
                        <a:rPr lang="en-US" altLang="zh-CN" sz="1800" dirty="0" smtClean="0"/>
                        <a:t>0.2~1</a:t>
                      </a:r>
                      <a:endParaRPr lang="zh-CN" altLang="en-US" sz="1800" dirty="0"/>
                    </a:p>
                  </a:txBody>
                  <a:tcPr marL="91442" marR="91442" marT="45697" marB="45697"/>
                </a:tc>
                <a:tc>
                  <a:txBody>
                    <a:bodyPr/>
                    <a:lstStyle/>
                    <a:p>
                      <a:r>
                        <a:rPr lang="zh-CN" altLang="zh-CN" sz="1800" kern="1200" dirty="0" smtClean="0">
                          <a:solidFill>
                            <a:schemeClr val="dk1"/>
                          </a:solidFill>
                          <a:effectLst/>
                          <a:latin typeface="+mn-lt"/>
                          <a:ea typeface="+mn-ea"/>
                          <a:cs typeface="+mn-cs"/>
                        </a:rPr>
                        <a:t>一旦发生造成的影响几乎不存在，通过简单的措施就能弥补。</a:t>
                      </a:r>
                      <a:endParaRPr lang="zh-CN" altLang="en-US" sz="1800" dirty="0"/>
                    </a:p>
                  </a:txBody>
                  <a:tcPr marL="91442" marR="91442" marT="45697" marB="45697"/>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barn(inVertical)">
                                      <p:cBhvr>
                                        <p:cTn id="7" dur="5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wipe(down)">
                                      <p:cBhvr>
                                        <p:cTn id="12" dur="5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20483" name="内容占位符 2"/>
          <p:cNvSpPr>
            <a:spLocks noGrp="1" noChangeArrowheads="1"/>
          </p:cNvSpPr>
          <p:nvPr>
            <p:ph idx="1"/>
          </p:nvPr>
        </p:nvSpPr>
        <p:spPr>
          <a:xfrm>
            <a:off x="228600" y="1447800"/>
            <a:ext cx="8229600" cy="4953000"/>
          </a:xfrm>
        </p:spPr>
        <p:txBody>
          <a:bodyPr vert="horz" wrap="square" lIns="91440" tIns="45720" rIns="91440" bIns="45720" numCol="1" anchor="t" anchorCtr="0" compatLnSpc="1"/>
          <a:lstStyle/>
          <a:p>
            <a:pPr marL="400050" marR="0" lvl="2" indent="0" algn="l" defTabSz="914400" rtl="0" eaLnBrk="1" fontAlgn="base" latinLnBrk="0" hangingPunct="1">
              <a:lnSpc>
                <a:spcPct val="100000"/>
              </a:lnSpc>
              <a:spcBef>
                <a:spcPct val="20000"/>
              </a:spcBef>
              <a:spcAft>
                <a:spcPct val="20000"/>
              </a:spcAft>
              <a:buClr>
                <a:srgbClr val="AC04A0"/>
              </a:buClr>
              <a:buSzPct val="100000"/>
              <a:buFontTx/>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3）</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风险</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评估实施</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1" indent="0" algn="l" defTabSz="914400" rtl="0" eaLnBrk="1" fontAlgn="base" latinLnBrk="0" hangingPunct="1">
              <a:lnSpc>
                <a:spcPct val="100000"/>
              </a:lnSpc>
              <a:spcBef>
                <a:spcPts val="0"/>
              </a:spcBef>
              <a:spcAft>
                <a:spcPts val="1200"/>
              </a:spcAft>
              <a:buClr>
                <a:srgbClr val="AC04A0"/>
              </a:buClr>
              <a:buSzTx/>
              <a:buFont typeface="Wingdings" panose="05000000000000000000" pitchFamily="2" charset="2"/>
              <a:buNone/>
              <a:defRPr/>
            </a:pP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根据风险评估方法实施风险评估工作，主要实施方法有问卷访谈、现场调研、文件查阅、手工检查、工具检查等。</a:t>
            </a:r>
            <a:endParaRPr kumimoji="0" lang="en-US" altLang="zh-CN"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0" marR="0" lvl="1" indent="0" algn="l" defTabSz="914400" rtl="0" eaLnBrk="1" fontAlgn="base" latinLnBrk="0" hangingPunct="1">
              <a:lnSpc>
                <a:spcPct val="100000"/>
              </a:lnSpc>
              <a:spcBef>
                <a:spcPct val="20000"/>
              </a:spcBef>
              <a:spcAft>
                <a:spcPct val="20000"/>
              </a:spcAft>
              <a:buClr>
                <a:srgbClr val="AC04A0"/>
              </a:buClr>
              <a:buSzPct val="100000"/>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5.</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选择控制措施</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ts val="0"/>
              </a:spcBef>
              <a:spcAft>
                <a:spcPts val="0"/>
              </a:spcAft>
              <a:buClr>
                <a:srgbClr val="AC04A0"/>
              </a:buClr>
              <a:buSzTx/>
              <a:buFont typeface="Wingdings" panose="05000000000000000000" pitchFamily="2" charset="2"/>
              <a:buChar char="§"/>
              <a:defRPr/>
            </a:pPr>
            <a:r>
              <a:rPr kumimoji="0" lang="zh-CN" altLang="en-US"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根据风险评估结果，综合考虑各种因素和要求，针对每项风险做出对应控制策略，形成</a:t>
            </a:r>
            <a:r>
              <a:rPr kumimoji="0" lang="zh-CN" altLang="en-US"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适用性声明</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文件（</a:t>
            </a:r>
            <a:r>
              <a:rPr kumimoji="0" lang="en-US" altLang="zh-CN"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SOA</a:t>
            </a:r>
            <a:r>
              <a:rPr kumimoji="0" lang="zh-CN" altLang="en-US" sz="20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）和</a:t>
            </a:r>
            <a:r>
              <a:rPr kumimoji="0" lang="zh-CN" altLang="en-US"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风险处理计划</a:t>
            </a:r>
            <a:r>
              <a:rPr kumimoji="0" lang="zh-CN" altLang="en-US"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0"/>
              </a:spcBef>
              <a:spcAft>
                <a:spcPts val="0"/>
              </a:spcAft>
              <a:buClr>
                <a:srgbClr val="AC04A0"/>
              </a:buClr>
              <a:buSzTx/>
              <a:buFont typeface="Wingdings" panose="05000000000000000000" pitchFamily="2" charset="2"/>
              <a:buChar char="§"/>
              <a:defRPr/>
            </a:pPr>
            <a:r>
              <a:rPr kumimoji="0" lang="en-US" altLang="zh-CN"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SOA，</a:t>
            </a:r>
            <a:r>
              <a:rPr kumimoji="0" lang="zh-CN" altLang="zh-CN" sz="2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明确</a:t>
            </a:r>
            <a:r>
              <a:rPr kumimoji="0" lang="zh-CN"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了当前已实施的控制措施和达到的控制目标，说明了选择相应控制目标和控制措施的理由，并对</a:t>
            </a:r>
            <a:r>
              <a:rPr kumimoji="0" lang="en-US"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ISO/IEC27001</a:t>
            </a:r>
            <a:r>
              <a:rPr kumimoji="0" lang="zh-CN"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a:t>
            </a:r>
            <a:r>
              <a:rPr kumimoji="0" lang="en-US"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2005</a:t>
            </a:r>
            <a:r>
              <a:rPr kumimoji="0" lang="zh-CN"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rPr>
              <a:t>标准进行删减以及删减合理性进行了阐述。</a:t>
            </a:r>
            <a:endParaRPr kumimoji="0" lang="en-US" altLang="zh-CN" sz="20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0" marR="0" lvl="0" indent="0" algn="l" defTabSz="914400" rtl="0" eaLnBrk="1" fontAlgn="base" latinLnBrk="0" hangingPunct="1">
              <a:lnSpc>
                <a:spcPct val="100000"/>
              </a:lnSpc>
              <a:spcBef>
                <a:spcPts val="0"/>
              </a:spcBef>
              <a:spcAft>
                <a:spcPts val="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v"/>
              <a:defRPr/>
            </a:pP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 </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Effect transition="in" filter="wipe(down)">
                                      <p:cBhvr>
                                        <p:cTn id="7" dur="500"/>
                                        <p:tgtEl>
                                          <p:spTgt spid="204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483">
                                            <p:txEl>
                                              <p:pRg st="2" end="2"/>
                                            </p:txEl>
                                          </p:spTgt>
                                        </p:tgtEl>
                                        <p:attrNameLst>
                                          <p:attrName>style.visibility</p:attrName>
                                        </p:attrNameLst>
                                      </p:cBhvr>
                                      <p:to>
                                        <p:strVal val="visible"/>
                                      </p:to>
                                    </p:set>
                                    <p:animEffect transition="in" filter="wipe(down)">
                                      <p:cBhvr>
                                        <p:cTn id="12" dur="500"/>
                                        <p:tgtEl>
                                          <p:spTgt spid="2048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0483">
                                            <p:txEl>
                                              <p:pRg st="3" end="3"/>
                                            </p:txEl>
                                          </p:spTgt>
                                        </p:tgtEl>
                                        <p:attrNameLst>
                                          <p:attrName>style.visibility</p:attrName>
                                        </p:attrNameLst>
                                      </p:cBhvr>
                                      <p:to>
                                        <p:strVal val="visible"/>
                                      </p:to>
                                    </p:set>
                                    <p:animEffect transition="in" filter="wipe(down)">
                                      <p:cBhvr>
                                        <p:cTn id="17" dur="500"/>
                                        <p:tgtEl>
                                          <p:spTgt spid="20483">
                                            <p:txEl>
                                              <p:pRg st="3" end="3"/>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20483">
                                            <p:txEl>
                                              <p:pRg st="4" end="4"/>
                                            </p:txEl>
                                          </p:spTgt>
                                        </p:tgtEl>
                                        <p:attrNameLst>
                                          <p:attrName>style.visibility</p:attrName>
                                        </p:attrNameLst>
                                      </p:cBhvr>
                                      <p:to>
                                        <p:strVal val="visible"/>
                                      </p:to>
                                    </p:set>
                                    <p:animEffect transition="in" filter="wipe(down)">
                                      <p:cBhvr>
                                        <p:cTn id="20" dur="500"/>
                                        <p:tgtEl>
                                          <p:spTgt spid="204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19459" name="内容占位符 2"/>
          <p:cNvSpPr>
            <a:spLocks noGrp="1" noChangeArrowheads="1"/>
          </p:cNvSpPr>
          <p:nvPr>
            <p:ph idx="1"/>
          </p:nvPr>
        </p:nvSpPr>
        <p:spPr>
          <a:xfrm>
            <a:off x="381000" y="2514600"/>
            <a:ext cx="8229600" cy="4114800"/>
          </a:xfrm>
        </p:spPr>
        <p:txBody>
          <a:bodyPr vert="horz" wrap="square" lIns="91440" tIns="45720" rIns="91440" bIns="45720" numCol="1" anchor="t" anchorCtr="0" compatLnSpc="1"/>
          <a:lstStyle/>
          <a:p>
            <a:pPr marL="0" marR="0" lvl="1" indent="0" algn="l" defTabSz="914400" rtl="0" eaLnBrk="1" fontAlgn="base" latinLnBrk="0" hangingPunct="1">
              <a:lnSpc>
                <a:spcPct val="100000"/>
              </a:lnSpc>
              <a:spcBef>
                <a:spcPct val="20000"/>
              </a:spcBef>
              <a:spcAft>
                <a:spcPct val="20000"/>
              </a:spcAft>
              <a:buClr>
                <a:srgbClr val="AC04A0"/>
              </a:buClr>
              <a:buSzPct val="100000"/>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文件层次</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一级</a:t>
            </a:r>
            <a:r>
              <a:rPr kumimoji="0" lang="zh-CN" altLang="en-US"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文件：信息安全管理手册</a:t>
            </a:r>
            <a:endPar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二</a:t>
            </a:r>
            <a:r>
              <a:rPr kumimoji="0" lang="zh-CN" altLang="en-US"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级文件：程序及策略文件</a:t>
            </a:r>
            <a:endPar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三</a:t>
            </a:r>
            <a:r>
              <a:rPr kumimoji="0" lang="zh-CN" altLang="en-US"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级文件：记录文件</a:t>
            </a:r>
            <a:endPar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0" marR="0" lvl="1" indent="0" algn="l" defTabSz="914400" rtl="0" eaLnBrk="1" fontAlgn="base" latinLnBrk="0" hangingPunct="1">
              <a:lnSpc>
                <a:spcPct val="100000"/>
              </a:lnSpc>
              <a:spcBef>
                <a:spcPct val="20000"/>
              </a:spcBef>
              <a:spcAft>
                <a:spcPct val="20000"/>
              </a:spcAft>
              <a:buClr>
                <a:srgbClr val="AC04A0"/>
              </a:buClr>
              <a:buSzPct val="100000"/>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文件案例</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ts val="0"/>
              </a:spcBef>
              <a:spcAft>
                <a:spcPts val="0"/>
              </a:spcAft>
              <a:buClr>
                <a:srgbClr val="AC04A0"/>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     结合</a:t>
            </a:r>
            <a:r>
              <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A</a:t>
            </a:r>
            <a:r>
              <a:rPr kumimoji="0" lang="zh-CN" altLang="en-US" sz="24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单位的实际操作，形成如下</a:t>
            </a:r>
            <a:r>
              <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3</a:t>
            </a:r>
            <a:r>
              <a:rPr kumimoji="0" lang="zh-CN" altLang="en-US" sz="24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rPr>
              <a:t>个体系文件。</a:t>
            </a:r>
            <a:endPar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安全事故</a:t>
            </a:r>
            <a:r>
              <a:rPr kumimoji="0" lang="zh-CN" altLang="en-US"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管理程序</a:t>
            </a:r>
            <a:endPar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信息</a:t>
            </a:r>
            <a:r>
              <a:rPr kumimoji="0" lang="zh-CN" altLang="en-US"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备份管理程序</a:t>
            </a:r>
            <a:endPar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业务</a:t>
            </a:r>
            <a:r>
              <a:rPr kumimoji="0" lang="zh-CN" altLang="en-US"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连续性管理程序</a:t>
            </a:r>
            <a:endPar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
        <p:nvSpPr>
          <p:cNvPr id="2" name="矩形 1"/>
          <p:cNvSpPr/>
          <p:nvPr/>
        </p:nvSpPr>
        <p:spPr>
          <a:xfrm>
            <a:off x="533400" y="1295400"/>
            <a:ext cx="8305800" cy="1187450"/>
          </a:xfrm>
          <a:prstGeom prst="rect">
            <a:avLst/>
          </a:prstGeom>
        </p:spPr>
        <p:txBody>
          <a:bodyPr>
            <a:spAutoFit/>
          </a:bodyPr>
          <a:lstStyle/>
          <a:p>
            <a:pPr marL="0" marR="0" lvl="1" indent="0" algn="l" defTabSz="914400" rtl="0" eaLnBrk="1" fontAlgn="base" latinLnBrk="0" hangingPunct="1">
              <a:lnSpc>
                <a:spcPct val="100000"/>
              </a:lnSpc>
              <a:spcBef>
                <a:spcPct val="0"/>
              </a:spcBef>
              <a:spcAft>
                <a:spcPct val="20000"/>
              </a:spcAft>
              <a:buClr>
                <a:srgbClr val="AC04A0"/>
              </a:buClr>
              <a:buSzPct val="100000"/>
              <a:buFontTx/>
              <a:buNone/>
              <a:defRPr/>
            </a:pPr>
            <a:r>
              <a:rPr kumimoji="0" lang="en-US" altLang="zh-CN" sz="26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mn-cs"/>
              </a:rPr>
              <a:t>6.</a:t>
            </a:r>
            <a:r>
              <a:rPr kumimoji="0" lang="zh-CN" altLang="en-US" sz="26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mn-cs"/>
              </a:rPr>
              <a:t>形成体系文件</a:t>
            </a:r>
            <a:endParaRPr kumimoji="0" lang="en-US" altLang="zh-CN" sz="26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ts val="0"/>
              </a:spcBef>
              <a:spcAft>
                <a:spcPts val="0"/>
              </a:spcAft>
              <a:buClr>
                <a:srgbClr val="AC04A0"/>
              </a:buClr>
              <a:buSzTx/>
              <a:buFontTx/>
              <a:buNone/>
              <a:defRPr/>
            </a:pPr>
            <a:r>
              <a:rPr kumimoji="0" lang="zh-CN" altLang="en-US" sz="2000" b="1" i="0" u="none" strike="noStrike" kern="1200" cap="none" spc="0" normalizeH="0" baseline="0" noProof="0" dirty="0">
                <a:ln>
                  <a:noFill/>
                </a:ln>
                <a:solidFill>
                  <a:srgbClr val="000000"/>
                </a:solidFill>
                <a:effectLst/>
                <a:uLnTx/>
                <a:uFillTx/>
                <a:latin typeface="华文楷体" pitchFamily="2" charset="-122"/>
                <a:ea typeface="华文楷体" pitchFamily="2" charset="-122"/>
                <a:cs typeface="+mn-cs"/>
              </a:rPr>
              <a:t>对</a:t>
            </a:r>
            <a:r>
              <a:rPr kumimoji="0" lang="en-US" altLang="zh-CN" sz="2000" b="1" i="0" u="none" strike="noStrike" kern="1200" cap="none" spc="0" normalizeH="0" baseline="0" noProof="0" dirty="0">
                <a:ln>
                  <a:noFill/>
                </a:ln>
                <a:solidFill>
                  <a:srgbClr val="000000"/>
                </a:solidFill>
                <a:effectLst/>
                <a:uLnTx/>
                <a:uFillTx/>
                <a:latin typeface="华文楷体" pitchFamily="2" charset="-122"/>
                <a:ea typeface="华文楷体" pitchFamily="2" charset="-122"/>
                <a:cs typeface="+mn-cs"/>
              </a:rPr>
              <a:t>ISMS</a:t>
            </a:r>
            <a:r>
              <a:rPr kumimoji="0" lang="zh-CN" altLang="en-US" sz="2000" b="1" i="0" u="none" strike="noStrike" kern="1200" cap="none" spc="0" normalizeH="0" baseline="0" noProof="0" dirty="0">
                <a:ln>
                  <a:noFill/>
                </a:ln>
                <a:solidFill>
                  <a:srgbClr val="000000"/>
                </a:solidFill>
                <a:effectLst/>
                <a:uLnTx/>
                <a:uFillTx/>
                <a:latin typeface="华文楷体" pitchFamily="2" charset="-122"/>
                <a:ea typeface="华文楷体" pitchFamily="2" charset="-122"/>
                <a:cs typeface="+mn-cs"/>
              </a:rPr>
              <a:t>文件进行总体设计，确定</a:t>
            </a:r>
            <a:r>
              <a:rPr kumimoji="0" lang="en-US" altLang="zh-CN" sz="2000" b="1" i="0" u="none" strike="noStrike" kern="1200" cap="none" spc="0" normalizeH="0" baseline="0" noProof="0" dirty="0">
                <a:ln>
                  <a:noFill/>
                </a:ln>
                <a:solidFill>
                  <a:srgbClr val="000000"/>
                </a:solidFill>
                <a:effectLst/>
                <a:uLnTx/>
                <a:uFillTx/>
                <a:latin typeface="华文楷体" pitchFamily="2" charset="-122"/>
                <a:ea typeface="华文楷体" pitchFamily="2" charset="-122"/>
                <a:cs typeface="+mn-cs"/>
              </a:rPr>
              <a:t>ISMS</a:t>
            </a:r>
            <a:r>
              <a:rPr kumimoji="0" lang="zh-CN" altLang="en-US" sz="2000" b="1" i="0" u="none" strike="noStrike" kern="1200" cap="none" spc="0" normalizeH="0" baseline="0" noProof="0" dirty="0">
                <a:ln>
                  <a:noFill/>
                </a:ln>
                <a:solidFill>
                  <a:srgbClr val="000000"/>
                </a:solidFill>
                <a:effectLst/>
                <a:uLnTx/>
                <a:uFillTx/>
                <a:latin typeface="华文楷体" pitchFamily="2" charset="-122"/>
                <a:ea typeface="华文楷体" pitchFamily="2" charset="-122"/>
                <a:cs typeface="+mn-cs"/>
              </a:rPr>
              <a:t>文件清单，制定文件编写计划，结合前期工作结果和相关参考文献，编写出</a:t>
            </a:r>
            <a:r>
              <a:rPr kumimoji="0" lang="en-US" altLang="zh-CN" sz="2000" b="1" i="0" u="none" strike="noStrike" kern="1200" cap="none" spc="0" normalizeH="0" baseline="0" noProof="0" dirty="0">
                <a:ln>
                  <a:noFill/>
                </a:ln>
                <a:solidFill>
                  <a:srgbClr val="000000"/>
                </a:solidFill>
                <a:effectLst/>
                <a:uLnTx/>
                <a:uFillTx/>
                <a:latin typeface="华文楷体" pitchFamily="2" charset="-122"/>
                <a:ea typeface="华文楷体" pitchFamily="2" charset="-122"/>
                <a:cs typeface="+mn-cs"/>
              </a:rPr>
              <a:t>ISMS</a:t>
            </a:r>
            <a:r>
              <a:rPr kumimoji="0" lang="zh-CN" altLang="en-US" sz="2000" b="1" i="0" u="none" strike="noStrike" kern="1200" cap="none" spc="0" normalizeH="0" baseline="0" noProof="0" dirty="0">
                <a:ln>
                  <a:noFill/>
                </a:ln>
                <a:solidFill>
                  <a:srgbClr val="000000"/>
                </a:solidFill>
                <a:effectLst/>
                <a:uLnTx/>
                <a:uFillTx/>
                <a:latin typeface="华文楷体" pitchFamily="2" charset="-122"/>
                <a:ea typeface="华文楷体" pitchFamily="2" charset="-122"/>
                <a:cs typeface="+mn-cs"/>
              </a:rPr>
              <a:t>各级文件。</a:t>
            </a:r>
            <a:endParaRPr kumimoji="0" lang="en-US" altLang="zh-CN" sz="2000" b="1" i="0" u="none" strike="noStrike" kern="1200" cap="none" spc="0" normalizeH="0" baseline="0" noProof="0" dirty="0">
              <a:ln>
                <a:noFill/>
              </a:ln>
              <a:solidFill>
                <a:srgbClr val="000000"/>
              </a:solidFill>
              <a:effectLst/>
              <a:uLnTx/>
              <a:uFillTx/>
              <a:latin typeface="华文楷体" pitchFamily="2" charset="-122"/>
              <a:ea typeface="华文楷体"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arn(inVertic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9459">
                                            <p:txEl>
                                              <p:pRg st="0" end="0"/>
                                            </p:txEl>
                                          </p:spTgt>
                                        </p:tgtEl>
                                        <p:attrNameLst>
                                          <p:attrName>style.visibility</p:attrName>
                                        </p:attrNameLst>
                                      </p:cBhvr>
                                      <p:to>
                                        <p:strVal val="visible"/>
                                      </p:to>
                                    </p:set>
                                    <p:anim calcmode="lin" valueType="num">
                                      <p:cBhvr additive="base">
                                        <p:cTn id="12"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9459">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9459">
                                            <p:txEl>
                                              <p:pRg st="1" end="1"/>
                                            </p:txEl>
                                          </p:spTgt>
                                        </p:tgtEl>
                                        <p:attrNameLst>
                                          <p:attrName>style.visibility</p:attrName>
                                        </p:attrNameLst>
                                      </p:cBhvr>
                                      <p:to>
                                        <p:strVal val="visible"/>
                                      </p:to>
                                    </p:set>
                                    <p:anim calcmode="lin" valueType="num">
                                      <p:cBhvr additive="base">
                                        <p:cTn id="16"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9459">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9459">
                                            <p:txEl>
                                              <p:pRg st="2" end="2"/>
                                            </p:txEl>
                                          </p:spTgt>
                                        </p:tgtEl>
                                        <p:attrNameLst>
                                          <p:attrName>style.visibility</p:attrName>
                                        </p:attrNameLst>
                                      </p:cBhvr>
                                      <p:to>
                                        <p:strVal val="visible"/>
                                      </p:to>
                                    </p:set>
                                    <p:anim calcmode="lin" valueType="num">
                                      <p:cBhvr additive="base">
                                        <p:cTn id="20"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9459">
                                            <p:txEl>
                                              <p:pRg st="3" end="3"/>
                                            </p:txEl>
                                          </p:spTgt>
                                        </p:tgtEl>
                                        <p:attrNameLst>
                                          <p:attrName>style.visibility</p:attrName>
                                        </p:attrNameLst>
                                      </p:cBhvr>
                                      <p:to>
                                        <p:strVal val="visible"/>
                                      </p:to>
                                    </p:set>
                                    <p:anim calcmode="lin" valueType="num">
                                      <p:cBhvr additive="base">
                                        <p:cTn id="24"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9459">
                                            <p:txEl>
                                              <p:pRg st="4" end="4"/>
                                            </p:txEl>
                                          </p:spTgt>
                                        </p:tgtEl>
                                        <p:attrNameLst>
                                          <p:attrName>style.visibility</p:attrName>
                                        </p:attrNameLst>
                                      </p:cBhvr>
                                      <p:to>
                                        <p:strVal val="visible"/>
                                      </p:to>
                                    </p:set>
                                    <p:animEffect transition="in" filter="wipe(down)">
                                      <p:cBhvr>
                                        <p:cTn id="30" dur="500"/>
                                        <p:tgtEl>
                                          <p:spTgt spid="19459">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19459">
                                            <p:txEl>
                                              <p:pRg st="5" end="5"/>
                                            </p:txEl>
                                          </p:spTgt>
                                        </p:tgtEl>
                                        <p:attrNameLst>
                                          <p:attrName>style.visibility</p:attrName>
                                        </p:attrNameLst>
                                      </p:cBhvr>
                                      <p:to>
                                        <p:strVal val="visible"/>
                                      </p:to>
                                    </p:set>
                                    <p:animEffect transition="in" filter="circle(in)">
                                      <p:cBhvr>
                                        <p:cTn id="35" dur="2000"/>
                                        <p:tgtEl>
                                          <p:spTgt spid="19459">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19459">
                                            <p:txEl>
                                              <p:pRg st="6" end="6"/>
                                            </p:txEl>
                                          </p:spTgt>
                                        </p:tgtEl>
                                        <p:attrNameLst>
                                          <p:attrName>style.visibility</p:attrName>
                                        </p:attrNameLst>
                                      </p:cBhvr>
                                      <p:to>
                                        <p:strVal val="visible"/>
                                      </p:to>
                                    </p:set>
                                    <p:animEffect transition="in" filter="circle(in)">
                                      <p:cBhvr>
                                        <p:cTn id="40" dur="2000"/>
                                        <p:tgtEl>
                                          <p:spTgt spid="19459">
                                            <p:txEl>
                                              <p:pRg st="6" end="6"/>
                                            </p:txEl>
                                          </p:spTgt>
                                        </p:tgtEl>
                                      </p:cBhvr>
                                    </p:animEffect>
                                  </p:childTnLst>
                                </p:cTn>
                              </p:par>
                              <p:par>
                                <p:cTn id="41" presetID="6" presetClass="entr" presetSubtype="16" fill="hold" nodeType="withEffect">
                                  <p:stCondLst>
                                    <p:cond delay="0"/>
                                  </p:stCondLst>
                                  <p:childTnLst>
                                    <p:set>
                                      <p:cBhvr>
                                        <p:cTn id="42" dur="1" fill="hold">
                                          <p:stCondLst>
                                            <p:cond delay="0"/>
                                          </p:stCondLst>
                                        </p:cTn>
                                        <p:tgtEl>
                                          <p:spTgt spid="19459">
                                            <p:txEl>
                                              <p:pRg st="7" end="7"/>
                                            </p:txEl>
                                          </p:spTgt>
                                        </p:tgtEl>
                                        <p:attrNameLst>
                                          <p:attrName>style.visibility</p:attrName>
                                        </p:attrNameLst>
                                      </p:cBhvr>
                                      <p:to>
                                        <p:strVal val="visible"/>
                                      </p:to>
                                    </p:set>
                                    <p:animEffect transition="in" filter="circle(in)">
                                      <p:cBhvr>
                                        <p:cTn id="43" dur="2000"/>
                                        <p:tgtEl>
                                          <p:spTgt spid="19459">
                                            <p:txEl>
                                              <p:pRg st="7" end="7"/>
                                            </p:txEl>
                                          </p:spTgt>
                                        </p:tgtEl>
                                      </p:cBhvr>
                                    </p:animEffect>
                                  </p:childTnLst>
                                </p:cTn>
                              </p:par>
                              <p:par>
                                <p:cTn id="44" presetID="6" presetClass="entr" presetSubtype="16" fill="hold" nodeType="withEffect">
                                  <p:stCondLst>
                                    <p:cond delay="0"/>
                                  </p:stCondLst>
                                  <p:childTnLst>
                                    <p:set>
                                      <p:cBhvr>
                                        <p:cTn id="45" dur="1" fill="hold">
                                          <p:stCondLst>
                                            <p:cond delay="0"/>
                                          </p:stCondLst>
                                        </p:cTn>
                                        <p:tgtEl>
                                          <p:spTgt spid="19459">
                                            <p:txEl>
                                              <p:pRg st="8" end="8"/>
                                            </p:txEl>
                                          </p:spTgt>
                                        </p:tgtEl>
                                        <p:attrNameLst>
                                          <p:attrName>style.visibility</p:attrName>
                                        </p:attrNameLst>
                                      </p:cBhvr>
                                      <p:to>
                                        <p:strVal val="visible"/>
                                      </p:to>
                                    </p:set>
                                    <p:animEffect transition="in" filter="circle(in)">
                                      <p:cBhvr>
                                        <p:cTn id="46" dur="2000"/>
                                        <p:tgtEl>
                                          <p:spTgt spid="19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ln/>
        </p:spPr>
        <p:txBody>
          <a:bodyPr vert="horz" wrap="square" lIns="91440" tIns="45720" rIns="91440" bIns="45720" anchor="ctr" anchorCtr="0"/>
          <a:lstStyle/>
          <a:p>
            <a:r>
              <a:rPr lang="en-US" altLang="zh-CN" b="1" dirty="0">
                <a:ea typeface="宋体" panose="02010600030101010101" pitchFamily="2" charset="-122"/>
              </a:rPr>
              <a:t>ISMS</a:t>
            </a:r>
            <a:r>
              <a:rPr lang="zh-CN" altLang="en-US" b="1" dirty="0">
                <a:ea typeface="宋体" panose="02010600030101010101" pitchFamily="2" charset="-122"/>
              </a:rPr>
              <a:t>实施过程</a:t>
            </a:r>
            <a:endParaRPr lang="zh-CN" altLang="en-US" dirty="0">
              <a:ea typeface="宋体" panose="02010600030101010101" pitchFamily="2" charset="-122"/>
            </a:endParaRPr>
          </a:p>
        </p:txBody>
      </p:sp>
      <p:pic>
        <p:nvPicPr>
          <p:cNvPr id="28675" name="Picture 2"/>
          <p:cNvPicPr>
            <a:picLocks noChangeAspect="1"/>
          </p:cNvPicPr>
          <p:nvPr/>
        </p:nvPicPr>
        <p:blipFill>
          <a:blip r:embed="rId2"/>
          <a:stretch>
            <a:fillRect/>
          </a:stretch>
        </p:blipFill>
        <p:spPr>
          <a:xfrm>
            <a:off x="457200" y="1244600"/>
            <a:ext cx="3983038" cy="5003800"/>
          </a:xfrm>
          <a:prstGeom prst="rect">
            <a:avLst/>
          </a:prstGeom>
          <a:noFill/>
          <a:ln w="9525">
            <a:noFill/>
          </a:ln>
        </p:spPr>
      </p:pic>
      <p:pic>
        <p:nvPicPr>
          <p:cNvPr id="28676" name="Picture 3"/>
          <p:cNvPicPr>
            <a:picLocks noChangeAspect="1"/>
          </p:cNvPicPr>
          <p:nvPr/>
        </p:nvPicPr>
        <p:blipFill>
          <a:blip r:embed="rId3"/>
          <a:stretch>
            <a:fillRect/>
          </a:stretch>
        </p:blipFill>
        <p:spPr>
          <a:xfrm>
            <a:off x="4572000" y="1200150"/>
            <a:ext cx="4191000" cy="5200650"/>
          </a:xfrm>
          <a:prstGeom prst="rect">
            <a:avLst/>
          </a:prstGeom>
          <a:noFill/>
          <a:ln w="9525">
            <a:noFill/>
          </a:ln>
        </p:spPr>
      </p:pic>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ln/>
        </p:spPr>
        <p:txBody>
          <a:bodyPr vert="horz" wrap="square" lIns="91440" tIns="45720" rIns="91440" bIns="45720" anchor="ctr" anchorCtr="0"/>
          <a:lstStyle/>
          <a:p>
            <a:r>
              <a:rPr lang="en-US" altLang="zh-CN" b="1" dirty="0">
                <a:ea typeface="宋体" panose="02010600030101010101" pitchFamily="2" charset="-122"/>
              </a:rPr>
              <a:t>ISMS</a:t>
            </a:r>
            <a:r>
              <a:rPr lang="zh-CN" altLang="en-US" b="1" dirty="0">
                <a:ea typeface="宋体" panose="02010600030101010101" pitchFamily="2" charset="-122"/>
              </a:rPr>
              <a:t>实施过程</a:t>
            </a:r>
            <a:endParaRPr lang="zh-CN" altLang="en-US" dirty="0">
              <a:ea typeface="宋体" panose="02010600030101010101" pitchFamily="2" charset="-122"/>
            </a:endParaRPr>
          </a:p>
        </p:txBody>
      </p:sp>
      <p:pic>
        <p:nvPicPr>
          <p:cNvPr id="29699" name="Picture 2"/>
          <p:cNvPicPr>
            <a:picLocks noChangeAspect="1"/>
          </p:cNvPicPr>
          <p:nvPr/>
        </p:nvPicPr>
        <p:blipFill>
          <a:blip r:embed="rId2"/>
          <a:stretch>
            <a:fillRect/>
          </a:stretch>
        </p:blipFill>
        <p:spPr>
          <a:xfrm>
            <a:off x="304800" y="1066800"/>
            <a:ext cx="4006850" cy="5626100"/>
          </a:xfrm>
          <a:prstGeom prst="rect">
            <a:avLst/>
          </a:prstGeom>
          <a:noFill/>
          <a:ln w="9525">
            <a:noFill/>
          </a:ln>
        </p:spPr>
      </p:pic>
      <p:pic>
        <p:nvPicPr>
          <p:cNvPr id="29700" name="Picture 3"/>
          <p:cNvPicPr>
            <a:picLocks noChangeAspect="1"/>
          </p:cNvPicPr>
          <p:nvPr/>
        </p:nvPicPr>
        <p:blipFill>
          <a:blip r:embed="rId3"/>
          <a:stretch>
            <a:fillRect/>
          </a:stretch>
        </p:blipFill>
        <p:spPr>
          <a:xfrm>
            <a:off x="4343400" y="1066800"/>
            <a:ext cx="3933825" cy="5588000"/>
          </a:xfrm>
          <a:prstGeom prst="rect">
            <a:avLst/>
          </a:prstGeom>
          <a:noFill/>
          <a:ln w="9525">
            <a:noFill/>
          </a:ln>
        </p:spPr>
      </p:pic>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ln/>
        </p:spPr>
        <p:txBody>
          <a:bodyPr vert="horz" wrap="square" lIns="91440" tIns="45720" rIns="91440" bIns="45720" anchor="ctr" anchorCtr="0"/>
          <a:lstStyle/>
          <a:p>
            <a:r>
              <a:rPr lang="en-US" altLang="zh-CN" b="1" dirty="0">
                <a:ea typeface="宋体" panose="02010600030101010101" pitchFamily="2" charset="-122"/>
              </a:rPr>
              <a:t>ISMS</a:t>
            </a:r>
            <a:r>
              <a:rPr lang="zh-CN" altLang="en-US" b="1" dirty="0">
                <a:ea typeface="宋体" panose="02010600030101010101" pitchFamily="2" charset="-122"/>
              </a:rPr>
              <a:t>实施过程</a:t>
            </a:r>
            <a:endParaRPr lang="zh-CN" altLang="en-US" dirty="0">
              <a:ea typeface="宋体" panose="02010600030101010101" pitchFamily="2" charset="-122"/>
            </a:endParaRPr>
          </a:p>
        </p:txBody>
      </p:sp>
      <p:pic>
        <p:nvPicPr>
          <p:cNvPr id="30723" name="Picture 2"/>
          <p:cNvPicPr>
            <a:picLocks noChangeAspect="1"/>
          </p:cNvPicPr>
          <p:nvPr/>
        </p:nvPicPr>
        <p:blipFill>
          <a:blip r:embed="rId2"/>
          <a:stretch>
            <a:fillRect/>
          </a:stretch>
        </p:blipFill>
        <p:spPr>
          <a:xfrm>
            <a:off x="1171575" y="2209800"/>
            <a:ext cx="6800850" cy="3409950"/>
          </a:xfrm>
          <a:prstGeom prst="rect">
            <a:avLst/>
          </a:prstGeom>
          <a:noFill/>
          <a:ln w="9525">
            <a:noFill/>
          </a:ln>
        </p:spPr>
      </p:pic>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22531" name="内容占位符 2"/>
          <p:cNvSpPr>
            <a:spLocks noGrp="1" noChangeArrowheads="1"/>
          </p:cNvSpPr>
          <p:nvPr>
            <p:ph idx="1"/>
          </p:nvPr>
        </p:nvSpPr>
        <p:spPr>
          <a:xfrm>
            <a:off x="304800" y="990600"/>
            <a:ext cx="8229600" cy="5791200"/>
          </a:xfrm>
        </p:spPr>
        <p:txBody>
          <a:bodyPr vert="horz" wrap="square" lIns="91440" tIns="45720" rIns="91440" bIns="45720" numCol="1" anchor="t" anchorCtr="0" compatLnSpc="1"/>
          <a:lstStyle/>
          <a:p>
            <a:pPr marL="457200" marR="0" lvl="1" indent="-457200" algn="l" defTabSz="914400" rtl="0" eaLnBrk="1" fontAlgn="base" latinLnBrk="0" hangingPunct="1">
              <a:lnSpc>
                <a:spcPct val="100000"/>
              </a:lnSpc>
              <a:spcBef>
                <a:spcPct val="20000"/>
              </a:spcBef>
              <a:spcAft>
                <a:spcPct val="20000"/>
              </a:spcAft>
              <a:buClr>
                <a:srgbClr val="AC04A0"/>
              </a:buClr>
              <a:buSzPct val="100000"/>
              <a:buFont typeface="Wingdings" panose="05000000000000000000" pitchFamily="2" charset="2"/>
              <a:buChar char="Ø"/>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的实施和运行</a:t>
            </a:r>
            <a:r>
              <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——D</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阶段</a:t>
            </a:r>
            <a:endPar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0" marR="0" lvl="0" indent="360045" algn="l" defTabSz="914400" rtl="0" eaLnBrk="1" fontAlgn="base" latinLnBrk="0" hangingPunct="1">
              <a:lnSpc>
                <a:spcPct val="100000"/>
              </a:lnSpc>
              <a:spcBef>
                <a:spcPts val="0"/>
              </a:spcBef>
              <a:spcAft>
                <a:spcPts val="0"/>
              </a:spcAft>
              <a:buClr>
                <a:srgbClr val="AC04A0"/>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ISMS</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体系文件以书面文件的正式发布标志着</a:t>
            </a: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ISMS</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的试运行阶段正式开始。</a:t>
            </a:r>
            <a:endParaRPr kumimoji="0" lang="en-US" altLang="zh-CN" sz="32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endParaRPr>
          </a:p>
          <a:p>
            <a:pPr marL="457200" marR="0" lvl="1" indent="-457200" algn="l" defTabSz="914400" rtl="0" eaLnBrk="1" fontAlgn="base" latinLnBrk="0" hangingPunct="1">
              <a:lnSpc>
                <a:spcPct val="100000"/>
              </a:lnSpc>
              <a:spcBef>
                <a:spcPct val="20000"/>
              </a:spcBef>
              <a:spcAft>
                <a:spcPct val="20000"/>
              </a:spcAft>
              <a:buClr>
                <a:srgbClr val="AC04A0"/>
              </a:buClr>
              <a:buSzPct val="100000"/>
              <a:buFont typeface="Wingdings" panose="05000000000000000000" pitchFamily="2" charset="2"/>
              <a:buChar char="Ø"/>
              <a:defRPr/>
            </a:pPr>
            <a:r>
              <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的监视和评审</a:t>
            </a:r>
            <a:r>
              <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——C</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阶段</a:t>
            </a:r>
            <a:endPar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0" marR="0" lvl="0" indent="360045" algn="l" defTabSz="914400" rtl="0" eaLnBrk="1" fontAlgn="base" latinLnBrk="0" hangingPunct="1">
              <a:lnSpc>
                <a:spcPct val="100000"/>
              </a:lnSpc>
              <a:spcBef>
                <a:spcPts val="0"/>
              </a:spcBef>
              <a:spcAft>
                <a:spcPts val="0"/>
              </a:spcAft>
              <a:buClr>
                <a:srgbClr val="AC04A0"/>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在该阶段是对体系运转情况的监督，并制定了定期内审和管理评审的策略，以便及时发现问题。</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审核</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流程图</a:t>
            </a:r>
            <a:endPar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0" marR="0" lvl="0" indent="0" algn="l" defTabSz="914400" rtl="0" eaLnBrk="1" fontAlgn="base" latinLnBrk="0" hangingPunct="1">
              <a:lnSpc>
                <a:spcPct val="100000"/>
              </a:lnSpc>
              <a:spcBef>
                <a:spcPts val="0"/>
              </a:spcBef>
              <a:spcAft>
                <a:spcPts val="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pic>
        <p:nvPicPr>
          <p:cNvPr id="27652" name="Picture 1" descr="C:\Users\26958\AppData\Roaming\Tencent\Users\2695890098\QQ\WinTemp\RichOle\]UJEHS{Z~%NY]{QV6}$ABYF.png"/>
          <p:cNvPicPr>
            <a:picLocks noChangeAspect="1"/>
          </p:cNvPicPr>
          <p:nvPr/>
        </p:nvPicPr>
        <p:blipFill>
          <a:blip r:embed="rId2"/>
          <a:stretch>
            <a:fillRect/>
          </a:stretch>
        </p:blipFill>
        <p:spPr>
          <a:xfrm>
            <a:off x="1371600" y="4724400"/>
            <a:ext cx="5867400" cy="1674813"/>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fade">
                                      <p:cBhvr>
                                        <p:cTn id="7" dur="1000"/>
                                        <p:tgtEl>
                                          <p:spTgt spid="22531">
                                            <p:txEl>
                                              <p:pRg st="1" end="1"/>
                                            </p:txEl>
                                          </p:spTgt>
                                        </p:tgtEl>
                                      </p:cBhvr>
                                    </p:animEffect>
                                    <p:anim calcmode="lin" valueType="num">
                                      <p:cBhvr>
                                        <p:cTn id="8" dur="1000" fill="hold"/>
                                        <p:tgtEl>
                                          <p:spTgt spid="2253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253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2531">
                                            <p:txEl>
                                              <p:pRg st="2" end="2"/>
                                            </p:txEl>
                                          </p:spTgt>
                                        </p:tgtEl>
                                        <p:attrNameLst>
                                          <p:attrName>style.visibility</p:attrName>
                                        </p:attrNameLst>
                                      </p:cBhvr>
                                      <p:to>
                                        <p:strVal val="visible"/>
                                      </p:to>
                                    </p:set>
                                    <p:animEffect transition="in" filter="wipe(down)">
                                      <p:cBhvr>
                                        <p:cTn id="14" dur="500"/>
                                        <p:tgtEl>
                                          <p:spTgt spid="22531">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2531">
                                            <p:txEl>
                                              <p:pRg st="3" end="3"/>
                                            </p:txEl>
                                          </p:spTgt>
                                        </p:tgtEl>
                                        <p:attrNameLst>
                                          <p:attrName>style.visibility</p:attrName>
                                        </p:attrNameLst>
                                      </p:cBhvr>
                                      <p:to>
                                        <p:strVal val="visible"/>
                                      </p:to>
                                    </p:set>
                                    <p:animEffect transition="in" filter="wipe(down)">
                                      <p:cBhvr>
                                        <p:cTn id="19" dur="500"/>
                                        <p:tgtEl>
                                          <p:spTgt spid="22531">
                                            <p:txEl>
                                              <p:pRg st="3" end="3"/>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22531">
                                            <p:txEl>
                                              <p:pRg st="4" end="4"/>
                                            </p:txEl>
                                          </p:spTgt>
                                        </p:tgtEl>
                                        <p:attrNameLst>
                                          <p:attrName>style.visibility</p:attrName>
                                        </p:attrNameLst>
                                      </p:cBhvr>
                                      <p:to>
                                        <p:strVal val="visible"/>
                                      </p:to>
                                    </p:set>
                                    <p:animEffect transition="in" filter="barn(inVertical)">
                                      <p:cBhvr>
                                        <p:cTn id="22" dur="500"/>
                                        <p:tgtEl>
                                          <p:spTgt spid="2253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27652"/>
                                        </p:tgtEl>
                                        <p:attrNameLst>
                                          <p:attrName>style.visibility</p:attrName>
                                        </p:attrNameLst>
                                      </p:cBhvr>
                                      <p:to>
                                        <p:strVal val="visible"/>
                                      </p:to>
                                    </p:set>
                                    <p:animEffect transition="in" filter="circle(in)">
                                      <p:cBhvr>
                                        <p:cTn id="27" dur="2000"/>
                                        <p:tgtEl>
                                          <p:spTgt spid="2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20483" name="内容占位符 2"/>
          <p:cNvSpPr>
            <a:spLocks noGrp="1" noChangeArrowheads="1"/>
          </p:cNvSpPr>
          <p:nvPr>
            <p:ph idx="1"/>
          </p:nvPr>
        </p:nvSpPr>
        <p:spPr>
          <a:xfrm>
            <a:off x="152400" y="1676400"/>
            <a:ext cx="8610600" cy="4419600"/>
          </a:xfrm>
        </p:spPr>
        <p:txBody>
          <a:bodyPr vert="horz" wrap="square" lIns="91440" tIns="45720" rIns="91440" bIns="45720" numCol="1" anchor="t" anchorCtr="0" compatLnSpc="1"/>
          <a:lstStyle/>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 </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内部审核</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457200" marR="0" lvl="1" indent="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审核流程（课件上页）</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457200" marR="0" lvl="1" indent="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审核结果</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 形成审核报告</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457200" marR="0" lvl="1" indent="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None/>
              <a:defRPr/>
            </a:pPr>
            <a:endParaRPr kumimoji="0" lang="en-US" altLang="zh-CN" sz="30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管理</a:t>
            </a: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评审</a:t>
            </a:r>
            <a:endPar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0" marR="0" lvl="0" indent="360045" algn="l" defTabSz="914400" rtl="0" eaLnBrk="1" fontAlgn="base" latinLnBrk="0" hangingPunct="1">
              <a:lnSpc>
                <a:spcPct val="100000"/>
              </a:lnSpc>
              <a:spcBef>
                <a:spcPts val="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    目的：检查</a:t>
            </a: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ISMS</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是否有效，识别可以改进的地方，以保证</a:t>
            </a: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ISMS</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持续保持适宜性，充分性和有效性。</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 calcmode="lin" valueType="num">
                                      <p:cBhvr additive="base">
                                        <p:cTn id="7"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3">
                                            <p:txEl>
                                              <p:pRg st="2" end="2"/>
                                            </p:txEl>
                                          </p:spTgt>
                                        </p:tgtEl>
                                        <p:attrNameLst>
                                          <p:attrName>style.visibility</p:attrName>
                                        </p:attrNameLst>
                                      </p:cBhvr>
                                      <p:to>
                                        <p:strVal val="visible"/>
                                      </p:to>
                                    </p:set>
                                    <p:anim calcmode="lin" valueType="num">
                                      <p:cBhvr additive="base">
                                        <p:cTn id="13"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0483">
                                            <p:txEl>
                                              <p:pRg st="4" end="4"/>
                                            </p:txEl>
                                          </p:spTgt>
                                        </p:tgtEl>
                                        <p:attrNameLst>
                                          <p:attrName>style.visibility</p:attrName>
                                        </p:attrNameLst>
                                      </p:cBhvr>
                                      <p:to>
                                        <p:strVal val="visible"/>
                                      </p:to>
                                    </p:set>
                                    <p:animEffect transition="in" filter="wipe(down)">
                                      <p:cBhvr>
                                        <p:cTn id="19" dur="500"/>
                                        <p:tgtEl>
                                          <p:spTgt spid="20483">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20483">
                                            <p:txEl>
                                              <p:pRg st="5" end="5"/>
                                            </p:txEl>
                                          </p:spTgt>
                                        </p:tgtEl>
                                        <p:attrNameLst>
                                          <p:attrName>style.visibility</p:attrName>
                                        </p:attrNameLst>
                                      </p:cBhvr>
                                      <p:to>
                                        <p:strVal val="visible"/>
                                      </p:to>
                                    </p:set>
                                    <p:animEffect transition="in" filter="wipe(down)">
                                      <p:cBhvr>
                                        <p:cTn id="22" dur="500"/>
                                        <p:tgtEl>
                                          <p:spTgt spid="204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实施过程</a:t>
            </a:r>
          </a:p>
        </p:txBody>
      </p:sp>
      <p:sp>
        <p:nvSpPr>
          <p:cNvPr id="20483" name="内容占位符 2"/>
          <p:cNvSpPr>
            <a:spLocks noGrp="1"/>
          </p:cNvSpPr>
          <p:nvPr>
            <p:ph idx="1"/>
          </p:nvPr>
        </p:nvSpPr>
        <p:spPr>
          <a:xfrm>
            <a:off x="152400" y="1447800"/>
            <a:ext cx="8610600" cy="4419600"/>
          </a:xfrm>
          <a:ln/>
        </p:spPr>
        <p:txBody>
          <a:bodyPr vert="horz" wrap="square" lIns="91440" tIns="45720" rIns="91440" bIns="45720" anchor="t" anchorCtr="0"/>
          <a:lstStyle/>
          <a:p>
            <a:pPr lvl="1">
              <a:lnSpc>
                <a:spcPct val="150000"/>
              </a:lnSpc>
              <a:spcBef>
                <a:spcPts val="600"/>
              </a:spcBef>
              <a:spcAft>
                <a:spcPts val="600"/>
              </a:spcAft>
              <a:buSzPct val="90000"/>
            </a:pPr>
            <a:r>
              <a:rPr lang="en-US" altLang="zh-CN" b="1" dirty="0">
                <a:solidFill>
                  <a:srgbClr val="000000"/>
                </a:solidFill>
                <a:latin typeface="楷体_GB2312" pitchFamily="49" charset="-122"/>
                <a:ea typeface="楷体_GB2312" pitchFamily="49" charset="-122"/>
              </a:rPr>
              <a:t>ISMS</a:t>
            </a:r>
            <a:r>
              <a:rPr lang="zh-CN" altLang="en-US" b="1" dirty="0">
                <a:solidFill>
                  <a:srgbClr val="000000"/>
                </a:solidFill>
                <a:latin typeface="楷体_GB2312" pitchFamily="49" charset="-122"/>
                <a:ea typeface="楷体_GB2312" pitchFamily="49" charset="-122"/>
              </a:rPr>
              <a:t>的保持和改进</a:t>
            </a:r>
            <a:r>
              <a:rPr lang="en-US" altLang="zh-CN" b="1" dirty="0">
                <a:solidFill>
                  <a:srgbClr val="000000"/>
                </a:solidFill>
                <a:latin typeface="楷体_GB2312" pitchFamily="49" charset="-122"/>
                <a:ea typeface="楷体_GB2312" pitchFamily="49" charset="-122"/>
              </a:rPr>
              <a:t>——A</a:t>
            </a:r>
            <a:r>
              <a:rPr lang="zh-CN" altLang="en-US" b="1" dirty="0">
                <a:solidFill>
                  <a:srgbClr val="000000"/>
                </a:solidFill>
                <a:latin typeface="楷体_GB2312" pitchFamily="49" charset="-122"/>
                <a:ea typeface="楷体_GB2312" pitchFamily="49" charset="-122"/>
              </a:rPr>
              <a:t>阶段</a:t>
            </a:r>
            <a:endParaRPr lang="en-US" altLang="zh-CN" b="1" dirty="0">
              <a:solidFill>
                <a:srgbClr val="000000"/>
              </a:solidFill>
              <a:latin typeface="楷体_GB2312" pitchFamily="49" charset="-122"/>
              <a:ea typeface="楷体_GB2312" pitchFamily="49" charset="-122"/>
            </a:endParaRPr>
          </a:p>
          <a:p>
            <a:pPr marL="0" indent="358775" eaLnBrk="1" hangingPunct="1">
              <a:lnSpc>
                <a:spcPct val="150000"/>
              </a:lnSpc>
              <a:spcBef>
                <a:spcPts val="600"/>
              </a:spcBef>
              <a:spcAft>
                <a:spcPts val="600"/>
              </a:spcAft>
              <a:buClr>
                <a:srgbClr val="AC04A0"/>
              </a:buClr>
              <a:buNone/>
            </a:pPr>
            <a:r>
              <a:rPr lang="zh-CN" altLang="en-US" sz="2800" b="1" dirty="0">
                <a:solidFill>
                  <a:srgbClr val="000000"/>
                </a:solidFill>
                <a:latin typeface="华文楷体" pitchFamily="2" charset="-122"/>
                <a:ea typeface="华文楷体" pitchFamily="2" charset="-122"/>
              </a:rPr>
              <a:t>   通过</a:t>
            </a:r>
            <a:r>
              <a:rPr lang="en-US" altLang="zh-CN" sz="2800" b="1" dirty="0">
                <a:solidFill>
                  <a:srgbClr val="000000"/>
                </a:solidFill>
                <a:latin typeface="华文楷体" pitchFamily="2" charset="-122"/>
                <a:ea typeface="华文楷体" pitchFamily="2" charset="-122"/>
              </a:rPr>
              <a:t>ISMS</a:t>
            </a:r>
            <a:r>
              <a:rPr lang="zh-CN" altLang="en-US" sz="2800" b="1" dirty="0">
                <a:solidFill>
                  <a:srgbClr val="000000"/>
                </a:solidFill>
                <a:latin typeface="华文楷体" pitchFamily="2" charset="-122"/>
                <a:ea typeface="华文楷体" pitchFamily="2" charset="-122"/>
              </a:rPr>
              <a:t>内部审核和管理评审，发现体系运行过程中存在的问题，并确定改进方法，采取相应措施，使体系持续发展</a:t>
            </a:r>
            <a:r>
              <a:rPr lang="zh-CN" altLang="en-US" sz="2800" b="1" dirty="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circle(in)">
                                      <p:cBhvr>
                                        <p:cTn id="7" dur="20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circle(in)">
                                      <p:cBhvr>
                                        <p:cTn id="12" dur="2000"/>
                                        <p:tgtEl>
                                          <p:spTgt spid="204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34819" name="Group 3"/>
          <p:cNvGrpSpPr/>
          <p:nvPr/>
        </p:nvGrpSpPr>
        <p:grpSpPr>
          <a:xfrm>
            <a:off x="1828800" y="1752600"/>
            <a:ext cx="762000" cy="665163"/>
            <a:chOff x="1110" y="2656"/>
            <a:chExt cx="1549" cy="1351"/>
          </a:xfrm>
        </p:grpSpPr>
        <p:sp>
          <p:nvSpPr>
            <p:cNvPr id="34850"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4851"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34820" name="Group 7"/>
          <p:cNvGrpSpPr/>
          <p:nvPr/>
        </p:nvGrpSpPr>
        <p:grpSpPr>
          <a:xfrm>
            <a:off x="1828800" y="2667000"/>
            <a:ext cx="762000" cy="665163"/>
            <a:chOff x="3174" y="2656"/>
            <a:chExt cx="1549" cy="1351"/>
          </a:xfrm>
        </p:grpSpPr>
        <p:sp>
          <p:nvSpPr>
            <p:cNvPr id="34847"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4848"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34821" name="Line 11"/>
          <p:cNvSpPr/>
          <p:nvPr/>
        </p:nvSpPr>
        <p:spPr>
          <a:xfrm>
            <a:off x="2438400" y="2362200"/>
            <a:ext cx="4800600" cy="0"/>
          </a:xfrm>
          <a:prstGeom prst="line">
            <a:avLst/>
          </a:prstGeom>
          <a:ln w="25400" cap="flat" cmpd="sng">
            <a:solidFill>
              <a:srgbClr val="C0C0C0"/>
            </a:solidFill>
            <a:prstDash val="sysDot"/>
            <a:headEnd type="none" w="med" len="med"/>
            <a:tailEnd type="oval" w="med" len="med"/>
          </a:ln>
        </p:spPr>
      </p:sp>
      <p:sp>
        <p:nvSpPr>
          <p:cNvPr id="34822" name="Text Box 12"/>
          <p:cNvSpPr txBox="1"/>
          <p:nvPr/>
        </p:nvSpPr>
        <p:spPr>
          <a:xfrm>
            <a:off x="2590800" y="1809750"/>
            <a:ext cx="5638800" cy="523875"/>
          </a:xfrm>
          <a:prstGeom prst="rect">
            <a:avLst/>
          </a:prstGeom>
          <a:noFill/>
          <a:ln w="9525">
            <a:noFill/>
          </a:ln>
        </p:spPr>
        <p:txBody>
          <a:bodyPr>
            <a:spAutoFit/>
          </a:bodyPr>
          <a:lstStyle/>
          <a:p>
            <a:r>
              <a:rPr lang="en-US" altLang="zh-CN" sz="2800" b="1" dirty="0">
                <a:solidFill>
                  <a:schemeClr val="tx1"/>
                </a:solidFill>
                <a:latin typeface="Arial" panose="020B0604020202020204" pitchFamily="34" charset="0"/>
              </a:rPr>
              <a:t>ISMS</a:t>
            </a:r>
            <a:r>
              <a:rPr lang="zh-CN" altLang="en-US" sz="2800" b="1" dirty="0">
                <a:solidFill>
                  <a:schemeClr val="tx1"/>
                </a:solidFill>
                <a:latin typeface="Arial" panose="020B0604020202020204" pitchFamily="34" charset="0"/>
              </a:rPr>
              <a:t>实施方法与模型</a:t>
            </a:r>
          </a:p>
        </p:txBody>
      </p:sp>
      <p:sp>
        <p:nvSpPr>
          <p:cNvPr id="34823" name="Text Box 13"/>
          <p:cNvSpPr txBox="1"/>
          <p:nvPr/>
        </p:nvSpPr>
        <p:spPr>
          <a:xfrm>
            <a:off x="2025650" y="18510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1</a:t>
            </a:r>
          </a:p>
        </p:txBody>
      </p:sp>
      <p:sp>
        <p:nvSpPr>
          <p:cNvPr id="34824" name="Line 14"/>
          <p:cNvSpPr/>
          <p:nvPr/>
        </p:nvSpPr>
        <p:spPr>
          <a:xfrm>
            <a:off x="2438400" y="3276600"/>
            <a:ext cx="4800600" cy="0"/>
          </a:xfrm>
          <a:prstGeom prst="line">
            <a:avLst/>
          </a:prstGeom>
          <a:ln w="25400" cap="flat" cmpd="sng">
            <a:solidFill>
              <a:srgbClr val="C0C0C0"/>
            </a:solidFill>
            <a:prstDash val="sysDot"/>
            <a:headEnd type="none" w="med" len="med"/>
            <a:tailEnd type="oval" w="med" len="med"/>
          </a:ln>
        </p:spPr>
      </p:sp>
      <p:sp>
        <p:nvSpPr>
          <p:cNvPr id="34825" name="Text Box 16"/>
          <p:cNvSpPr txBox="1"/>
          <p:nvPr/>
        </p:nvSpPr>
        <p:spPr>
          <a:xfrm>
            <a:off x="2025650" y="27654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2</a:t>
            </a:r>
          </a:p>
        </p:txBody>
      </p:sp>
      <p:sp>
        <p:nvSpPr>
          <p:cNvPr id="34826" name="Text Box 21"/>
          <p:cNvSpPr txBox="1"/>
          <p:nvPr/>
        </p:nvSpPr>
        <p:spPr>
          <a:xfrm>
            <a:off x="2025650" y="36576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3</a:t>
            </a:r>
          </a:p>
        </p:txBody>
      </p:sp>
      <p:sp>
        <p:nvSpPr>
          <p:cNvPr id="34827" name="Text Box 22"/>
          <p:cNvSpPr txBox="1"/>
          <p:nvPr/>
        </p:nvSpPr>
        <p:spPr>
          <a:xfrm>
            <a:off x="1981200" y="52578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34828" name="Text Box 24"/>
          <p:cNvSpPr txBox="1"/>
          <p:nvPr/>
        </p:nvSpPr>
        <p:spPr>
          <a:xfrm>
            <a:off x="2590800" y="2667000"/>
            <a:ext cx="5029200" cy="523875"/>
          </a:xfrm>
          <a:prstGeom prst="rect">
            <a:avLst/>
          </a:prstGeom>
          <a:noFill/>
          <a:ln w="9525">
            <a:noFill/>
          </a:ln>
        </p:spPr>
        <p:txBody>
          <a:bodyPr>
            <a:spAutoFit/>
          </a:bodyPr>
          <a:lstStyle/>
          <a:p>
            <a:r>
              <a:rPr lang="en-US" altLang="zh-CN" sz="2800" b="1" dirty="0">
                <a:solidFill>
                  <a:schemeClr val="tx1"/>
                </a:solidFill>
                <a:latin typeface="Arial" panose="020B0604020202020204" pitchFamily="34" charset="0"/>
              </a:rPr>
              <a:t>ISMS</a:t>
            </a:r>
            <a:r>
              <a:rPr lang="zh-CN" altLang="en-US" sz="2800" b="1" dirty="0">
                <a:solidFill>
                  <a:schemeClr val="tx1"/>
                </a:solidFill>
                <a:latin typeface="Arial" panose="020B0604020202020204" pitchFamily="34" charset="0"/>
              </a:rPr>
              <a:t>实施过程</a:t>
            </a:r>
            <a:endParaRPr lang="en-US" altLang="zh-CN" sz="2800" b="1" dirty="0">
              <a:solidFill>
                <a:schemeClr val="tx1"/>
              </a:solidFill>
              <a:latin typeface="Arial" panose="020B0604020202020204" pitchFamily="34" charset="0"/>
            </a:endParaRPr>
          </a:p>
        </p:txBody>
      </p:sp>
      <p:grpSp>
        <p:nvGrpSpPr>
          <p:cNvPr id="34829" name="Group 7"/>
          <p:cNvGrpSpPr/>
          <p:nvPr/>
        </p:nvGrpSpPr>
        <p:grpSpPr>
          <a:xfrm>
            <a:off x="1828800" y="4364038"/>
            <a:ext cx="762000" cy="665162"/>
            <a:chOff x="3174" y="2656"/>
            <a:chExt cx="1549" cy="1351"/>
          </a:xfrm>
        </p:grpSpPr>
        <p:sp>
          <p:nvSpPr>
            <p:cNvPr id="34844"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4845"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2"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600" b="0" i="0" u="none" strike="noStrike" kern="1200" cap="none" spc="0" normalizeH="0" baseline="0" noProof="0" dirty="0">
                  <a:ln>
                    <a:noFill/>
                  </a:ln>
                  <a:solidFill>
                    <a:schemeClr val="bg1"/>
                  </a:solidFill>
                  <a:effectLst/>
                  <a:uLnTx/>
                  <a:uFillTx/>
                  <a:latin typeface="+mj-lt"/>
                  <a:ea typeface="宋体" panose="02010600030101010101" pitchFamily="2" charset="-122"/>
                  <a:cs typeface="+mn-cs"/>
                </a:rPr>
                <a:t>4</a:t>
              </a:r>
              <a:endParaRPr kumimoji="0" lang="zh-CN" altLang="en-US" sz="2600" b="0" i="0" u="none" strike="noStrike" kern="1200" cap="none" spc="0" normalizeH="0" baseline="0" noProof="0" dirty="0">
                <a:ln>
                  <a:noFill/>
                </a:ln>
                <a:solidFill>
                  <a:schemeClr val="bg1"/>
                </a:solidFill>
                <a:effectLst/>
                <a:uLnTx/>
                <a:uFillTx/>
                <a:latin typeface="+mj-lt"/>
                <a:ea typeface="宋体" panose="02010600030101010101" pitchFamily="2" charset="-122"/>
                <a:cs typeface="+mn-cs"/>
              </a:endParaRPr>
            </a:p>
          </p:txBody>
        </p:sp>
      </p:grpSp>
      <p:sp>
        <p:nvSpPr>
          <p:cNvPr id="34830" name="Line 14"/>
          <p:cNvSpPr/>
          <p:nvPr/>
        </p:nvSpPr>
        <p:spPr>
          <a:xfrm>
            <a:off x="2438400" y="4953000"/>
            <a:ext cx="4800600" cy="0"/>
          </a:xfrm>
          <a:prstGeom prst="line">
            <a:avLst/>
          </a:prstGeom>
          <a:ln w="25400" cap="flat" cmpd="sng">
            <a:solidFill>
              <a:srgbClr val="C0C0C0"/>
            </a:solidFill>
            <a:prstDash val="sysDot"/>
            <a:headEnd type="none" w="med" len="med"/>
            <a:tailEnd type="oval" w="med" len="med"/>
          </a:ln>
        </p:spPr>
      </p:sp>
      <p:sp>
        <p:nvSpPr>
          <p:cNvPr id="34831" name="TextBox 1"/>
          <p:cNvSpPr txBox="1"/>
          <p:nvPr/>
        </p:nvSpPr>
        <p:spPr>
          <a:xfrm>
            <a:off x="2590800" y="4419600"/>
            <a:ext cx="2876550" cy="523875"/>
          </a:xfrm>
          <a:prstGeom prst="rect">
            <a:avLst/>
          </a:prstGeom>
          <a:noFill/>
          <a:ln w="9525">
            <a:noFill/>
          </a:ln>
        </p:spPr>
        <p:txBody>
          <a:bodyPr>
            <a:spAutoFit/>
          </a:bodyPr>
          <a:lstStyle/>
          <a:p>
            <a:pPr eaLnBrk="1" hangingPunct="1">
              <a:spcBef>
                <a:spcPct val="50000"/>
              </a:spcBef>
            </a:pPr>
            <a:r>
              <a:rPr lang="zh-CN" altLang="en-US" sz="2800" b="1" dirty="0">
                <a:solidFill>
                  <a:schemeClr val="tx1"/>
                </a:solidFill>
                <a:latin typeface="Arial" panose="020B0604020202020204" pitchFamily="34" charset="0"/>
              </a:rPr>
              <a:t>国外</a:t>
            </a:r>
            <a:r>
              <a:rPr lang="en-US" altLang="zh-CN" sz="2800" b="1" dirty="0">
                <a:solidFill>
                  <a:schemeClr val="tx1"/>
                </a:solidFill>
                <a:latin typeface="Arial" panose="020B0604020202020204" pitchFamily="34" charset="0"/>
              </a:rPr>
              <a:t>ISMS</a:t>
            </a:r>
            <a:r>
              <a:rPr lang="zh-CN" altLang="en-US" sz="2800" b="1" dirty="0">
                <a:solidFill>
                  <a:schemeClr val="tx1"/>
                </a:solidFill>
                <a:latin typeface="Arial" panose="020B0604020202020204" pitchFamily="34" charset="0"/>
              </a:rPr>
              <a:t>实践</a:t>
            </a:r>
          </a:p>
        </p:txBody>
      </p:sp>
      <p:grpSp>
        <p:nvGrpSpPr>
          <p:cNvPr id="34832" name="Group 3"/>
          <p:cNvGrpSpPr/>
          <p:nvPr/>
        </p:nvGrpSpPr>
        <p:grpSpPr>
          <a:xfrm>
            <a:off x="1828800" y="3525838"/>
            <a:ext cx="762000" cy="665162"/>
            <a:chOff x="1110" y="2656"/>
            <a:chExt cx="1549" cy="1351"/>
          </a:xfrm>
        </p:grpSpPr>
        <p:sp>
          <p:nvSpPr>
            <p:cNvPr id="3484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484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8"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rPr>
                <a:t>3</a:t>
              </a:r>
              <a:endParaRPr kumimoji="0" lang="zh-CN" altLang="en-US"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34833" name="Line 14"/>
          <p:cNvSpPr/>
          <p:nvPr/>
        </p:nvSpPr>
        <p:spPr>
          <a:xfrm flipV="1">
            <a:off x="2438400" y="4105275"/>
            <a:ext cx="6553200" cy="9525"/>
          </a:xfrm>
          <a:prstGeom prst="line">
            <a:avLst/>
          </a:prstGeom>
          <a:ln w="25400" cap="flat" cmpd="sng">
            <a:solidFill>
              <a:srgbClr val="C0C0C0"/>
            </a:solidFill>
            <a:prstDash val="sysDot"/>
            <a:headEnd type="none" w="med" len="med"/>
            <a:tailEnd type="oval" w="med" len="med"/>
          </a:ln>
        </p:spPr>
      </p:sp>
      <p:sp>
        <p:nvSpPr>
          <p:cNvPr id="34834" name="TextBox 4"/>
          <p:cNvSpPr txBox="1"/>
          <p:nvPr/>
        </p:nvSpPr>
        <p:spPr>
          <a:xfrm>
            <a:off x="2590800" y="3581400"/>
            <a:ext cx="6477000" cy="523875"/>
          </a:xfrm>
          <a:prstGeom prst="rect">
            <a:avLst/>
          </a:prstGeom>
          <a:noFill/>
          <a:ln w="9525">
            <a:noFill/>
          </a:ln>
        </p:spPr>
        <p:txBody>
          <a:bodyPr>
            <a:spAutoFit/>
          </a:bodyPr>
          <a:lstStyle/>
          <a:p>
            <a:pPr eaLnBrk="1" hangingPunct="1">
              <a:spcBef>
                <a:spcPct val="50000"/>
              </a:spcBef>
            </a:pPr>
            <a:r>
              <a:rPr lang="en-US" altLang="zh-CN" sz="2800" b="1" dirty="0">
                <a:solidFill>
                  <a:srgbClr val="FF0000"/>
                </a:solidFill>
                <a:latin typeface="Arial" panose="020B0604020202020204" pitchFamily="34" charset="0"/>
              </a:rPr>
              <a:t>ISMS</a:t>
            </a:r>
            <a:r>
              <a:rPr lang="zh-CN" altLang="en-US" sz="2800" b="1" dirty="0">
                <a:solidFill>
                  <a:srgbClr val="FF0000"/>
                </a:solidFill>
                <a:latin typeface="宋体" panose="02010600030101010101" pitchFamily="2" charset="-122"/>
              </a:rPr>
              <a:t>、</a:t>
            </a:r>
            <a:r>
              <a:rPr lang="zh-CN" altLang="en-US" sz="2800" b="1" dirty="0">
                <a:solidFill>
                  <a:srgbClr val="FF0000"/>
                </a:solidFill>
                <a:latin typeface="Arial" panose="020B0604020202020204" pitchFamily="34" charset="0"/>
              </a:rPr>
              <a:t>等级保护、风险评估三者的关系</a:t>
            </a:r>
          </a:p>
        </p:txBody>
      </p:sp>
      <p:grpSp>
        <p:nvGrpSpPr>
          <p:cNvPr id="34835" name="Group 3"/>
          <p:cNvGrpSpPr/>
          <p:nvPr/>
        </p:nvGrpSpPr>
        <p:grpSpPr>
          <a:xfrm>
            <a:off x="1828800" y="5126038"/>
            <a:ext cx="762000" cy="665162"/>
            <a:chOff x="1110" y="2656"/>
            <a:chExt cx="1549" cy="1351"/>
          </a:xfrm>
        </p:grpSpPr>
        <p:sp>
          <p:nvSpPr>
            <p:cNvPr id="34838"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4839"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9"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rPr>
                <a:t>5</a:t>
              </a:r>
              <a:endParaRPr kumimoji="0" lang="zh-CN" altLang="en-US"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34836" name="Line 14"/>
          <p:cNvSpPr/>
          <p:nvPr/>
        </p:nvSpPr>
        <p:spPr>
          <a:xfrm>
            <a:off x="2438400" y="5715000"/>
            <a:ext cx="4800600" cy="0"/>
          </a:xfrm>
          <a:prstGeom prst="line">
            <a:avLst/>
          </a:prstGeom>
          <a:ln w="25400" cap="flat" cmpd="sng">
            <a:solidFill>
              <a:srgbClr val="C0C0C0"/>
            </a:solidFill>
            <a:prstDash val="sysDot"/>
            <a:headEnd type="none" w="med" len="med"/>
            <a:tailEnd type="oval" w="med" len="med"/>
          </a:ln>
        </p:spPr>
      </p:sp>
      <p:sp>
        <p:nvSpPr>
          <p:cNvPr id="34837" name="TextBox 1"/>
          <p:cNvSpPr txBox="1"/>
          <p:nvPr/>
        </p:nvSpPr>
        <p:spPr>
          <a:xfrm>
            <a:off x="2590800" y="5181600"/>
            <a:ext cx="2876550" cy="523875"/>
          </a:xfrm>
          <a:prstGeom prst="rect">
            <a:avLst/>
          </a:prstGeom>
          <a:noFill/>
          <a:ln w="9525">
            <a:noFill/>
          </a:ln>
        </p:spPr>
        <p:txBody>
          <a:bodyPr>
            <a:spAutoFit/>
          </a:bodyPr>
          <a:lstStyle/>
          <a:p>
            <a:pPr eaLnBrk="1" hangingPunct="1">
              <a:spcBef>
                <a:spcPct val="50000"/>
              </a:spcBef>
            </a:pPr>
            <a:r>
              <a:rPr lang="zh-CN" altLang="en-US" sz="2800" b="1" dirty="0">
                <a:solidFill>
                  <a:schemeClr val="tx1"/>
                </a:solidFill>
                <a:latin typeface="Arial" panose="020B0604020202020204" pitchFamily="34" charset="0"/>
              </a:rPr>
              <a:t>思政点</a:t>
            </a:r>
          </a:p>
        </p:txBody>
      </p:sp>
    </p:spTree>
  </p:cSld>
  <p:clrMapOvr>
    <a:masterClrMapping/>
  </p:clrMapOvr>
  <p:transition>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609600" y="374650"/>
            <a:ext cx="7315200" cy="563563"/>
          </a:xfrm>
          <a:ln/>
        </p:spPr>
        <p:txBody>
          <a:bodyPr vert="horz" wrap="square" lIns="91440" tIns="45720" rIns="91440" bIns="45720" anchor="ctr" anchorCtr="0"/>
          <a:lstStyle/>
          <a:p>
            <a:pPr eaLnBrk="1" hangingPunct="1"/>
            <a:r>
              <a:rPr lang="en-US" altLang="zh-CN" b="1" dirty="0">
                <a:ea typeface="宋体" panose="02010600030101010101" pitchFamily="2" charset="-122"/>
              </a:rPr>
              <a:t>3. ISMS</a:t>
            </a:r>
            <a:r>
              <a:rPr lang="zh-CN" altLang="en-US" b="1" dirty="0">
                <a:ea typeface="宋体" panose="02010600030101010101" pitchFamily="2" charset="-122"/>
              </a:rPr>
              <a:t>、等级保护、风险评估关系</a:t>
            </a:r>
          </a:p>
        </p:txBody>
      </p:sp>
      <p:sp>
        <p:nvSpPr>
          <p:cNvPr id="29699" name="内容占位符 2"/>
          <p:cNvSpPr>
            <a:spLocks noGrp="1"/>
          </p:cNvSpPr>
          <p:nvPr>
            <p:ph idx="1"/>
          </p:nvPr>
        </p:nvSpPr>
        <p:spPr>
          <a:xfrm>
            <a:off x="228600" y="914400"/>
            <a:ext cx="8686800" cy="5410200"/>
          </a:xfrm>
          <a:ln/>
        </p:spPr>
        <p:txBody>
          <a:bodyPr vert="horz" wrap="square" lIns="91440" tIns="45720" rIns="91440" bIns="45720" anchor="t" anchorCtr="0"/>
          <a:lstStyle/>
          <a:p>
            <a:pPr marL="0" indent="0" eaLnBrk="1" hangingPunct="1">
              <a:spcAft>
                <a:spcPct val="20000"/>
              </a:spcAft>
              <a:buClr>
                <a:srgbClr val="AC04A0"/>
              </a:buClr>
              <a:buNone/>
            </a:pPr>
            <a:r>
              <a:rPr lang="en-US" altLang="zh-CN" b="1" dirty="0">
                <a:solidFill>
                  <a:srgbClr val="000000"/>
                </a:solidFill>
                <a:latin typeface="楷体_GB2312" pitchFamily="49" charset="-122"/>
                <a:ea typeface="楷体_GB2312" pitchFamily="49" charset="-122"/>
              </a:rPr>
              <a:t>ISMS</a:t>
            </a:r>
            <a:r>
              <a:rPr lang="zh-CN" altLang="en-US" b="1" dirty="0">
                <a:solidFill>
                  <a:srgbClr val="000000"/>
                </a:solidFill>
                <a:latin typeface="楷体_GB2312" pitchFamily="49" charset="-122"/>
                <a:ea typeface="楷体_GB2312" pitchFamily="49" charset="-122"/>
              </a:rPr>
              <a:t>建设与风险评估的关系</a:t>
            </a:r>
            <a:endParaRPr lang="en-US" altLang="zh-CN" b="1" dirty="0">
              <a:solidFill>
                <a:srgbClr val="000000"/>
              </a:solidFill>
              <a:latin typeface="楷体_GB2312" pitchFamily="49" charset="-122"/>
              <a:ea typeface="楷体_GB2312" pitchFamily="49" charset="-122"/>
            </a:endParaRPr>
          </a:p>
          <a:p>
            <a:pPr lvl="1" eaLnBrk="1" hangingPunct="1">
              <a:spcBef>
                <a:spcPts val="600"/>
              </a:spcBef>
            </a:pPr>
            <a:r>
              <a:rPr lang="zh-CN" altLang="zh-CN" sz="2000" b="1" dirty="0">
                <a:solidFill>
                  <a:srgbClr val="000000"/>
                </a:solidFill>
                <a:latin typeface="华文楷体" pitchFamily="2" charset="-122"/>
                <a:ea typeface="华文楷体" pitchFamily="2" charset="-122"/>
              </a:rPr>
              <a:t>风险评估的</a:t>
            </a:r>
            <a:r>
              <a:rPr lang="zh-CN" altLang="zh-CN" sz="2000" b="1" dirty="0">
                <a:solidFill>
                  <a:srgbClr val="FF0000"/>
                </a:solidFill>
                <a:latin typeface="黑体" panose="02010609060101010101" pitchFamily="49" charset="-122"/>
                <a:ea typeface="黑体" panose="02010609060101010101" pitchFamily="49" charset="-122"/>
              </a:rPr>
              <a:t>重要意义</a:t>
            </a:r>
            <a:r>
              <a:rPr lang="zh-CN" altLang="en-US" sz="2000" b="1" dirty="0">
                <a:solidFill>
                  <a:srgbClr val="FF0000"/>
                </a:solidFill>
                <a:latin typeface="黑体" panose="02010609060101010101" pitchFamily="49" charset="-122"/>
                <a:ea typeface="黑体" panose="02010609060101010101" pitchFamily="49" charset="-122"/>
              </a:rPr>
              <a:t>：</a:t>
            </a:r>
            <a:endParaRPr lang="en-US" altLang="zh-CN" sz="2000" b="1" dirty="0">
              <a:solidFill>
                <a:srgbClr val="FF0000"/>
              </a:solidFill>
              <a:latin typeface="黑体" panose="02010609060101010101" pitchFamily="49" charset="-122"/>
              <a:ea typeface="黑体" panose="02010609060101010101" pitchFamily="49" charset="-122"/>
            </a:endParaRPr>
          </a:p>
          <a:p>
            <a:pPr lvl="1" eaLnBrk="1" hangingPunct="1">
              <a:spcBef>
                <a:spcPts val="600"/>
              </a:spcBef>
            </a:pPr>
            <a:r>
              <a:rPr lang="zh-CN" altLang="zh-CN" sz="1800" dirty="0">
                <a:solidFill>
                  <a:srgbClr val="000000"/>
                </a:solidFill>
                <a:latin typeface="华文细黑" pitchFamily="2" charset="-122"/>
                <a:ea typeface="华文细黑" pitchFamily="2" charset="-122"/>
              </a:rPr>
              <a:t>在于</a:t>
            </a:r>
            <a:r>
              <a:rPr lang="zh-CN" altLang="zh-CN" sz="1800" u="sng" dirty="0">
                <a:solidFill>
                  <a:srgbClr val="000000"/>
                </a:solidFill>
                <a:latin typeface="华文细黑" pitchFamily="2" charset="-122"/>
                <a:ea typeface="华文细黑" pitchFamily="2" charset="-122"/>
              </a:rPr>
              <a:t>改变传统的以技术驱动为导向的安全体系结构设计及详细安全方案制定</a:t>
            </a:r>
            <a:r>
              <a:rPr lang="zh-CN" altLang="zh-CN" sz="1800" dirty="0">
                <a:solidFill>
                  <a:srgbClr val="000000"/>
                </a:solidFill>
                <a:latin typeface="华文细黑" pitchFamily="2" charset="-122"/>
                <a:ea typeface="华文细黑" pitchFamily="2" charset="-122"/>
              </a:rPr>
              <a:t>，以</a:t>
            </a:r>
            <a:r>
              <a:rPr lang="zh-CN" altLang="zh-CN" sz="1800" u="sng" dirty="0">
                <a:solidFill>
                  <a:srgbClr val="000000"/>
                </a:solidFill>
                <a:latin typeface="华文细黑" pitchFamily="2" charset="-122"/>
                <a:ea typeface="华文细黑" pitchFamily="2" charset="-122"/>
              </a:rPr>
              <a:t>成本－效益平衡</a:t>
            </a:r>
            <a:r>
              <a:rPr lang="zh-CN" altLang="zh-CN" sz="1800" dirty="0">
                <a:solidFill>
                  <a:srgbClr val="000000"/>
                </a:solidFill>
                <a:latin typeface="华文细黑" pitchFamily="2" charset="-122"/>
                <a:ea typeface="华文细黑" pitchFamily="2" charset="-122"/>
              </a:rPr>
              <a:t>的原则</a:t>
            </a:r>
            <a:r>
              <a:rPr lang="zh-CN" altLang="en-US" sz="1800" dirty="0">
                <a:solidFill>
                  <a:srgbClr val="000000"/>
                </a:solidFill>
                <a:latin typeface="华文细黑" pitchFamily="2" charset="-122"/>
                <a:ea typeface="华文细黑" pitchFamily="2" charset="-122"/>
              </a:rPr>
              <a:t>；</a:t>
            </a:r>
            <a:endParaRPr lang="en-US" altLang="zh-CN" sz="1800" dirty="0">
              <a:solidFill>
                <a:srgbClr val="000000"/>
              </a:solidFill>
              <a:latin typeface="华文细黑" pitchFamily="2" charset="-122"/>
              <a:ea typeface="华文细黑" pitchFamily="2" charset="-122"/>
            </a:endParaRPr>
          </a:p>
          <a:p>
            <a:pPr lvl="1" eaLnBrk="1" hangingPunct="1">
              <a:spcBef>
                <a:spcPts val="600"/>
              </a:spcBef>
            </a:pPr>
            <a:r>
              <a:rPr lang="zh-CN" altLang="zh-CN" sz="1800" dirty="0">
                <a:solidFill>
                  <a:srgbClr val="000000"/>
                </a:solidFill>
                <a:latin typeface="华文细黑" pitchFamily="2" charset="-122"/>
                <a:ea typeface="华文细黑" pitchFamily="2" charset="-122"/>
              </a:rPr>
              <a:t>通过对用户关心的重要资产的分级、安全</a:t>
            </a:r>
            <a:r>
              <a:rPr lang="zh-CN" altLang="zh-CN" sz="1800" dirty="0">
                <a:solidFill>
                  <a:srgbClr val="FF0000"/>
                </a:solidFill>
                <a:latin typeface="华文细黑" pitchFamily="2" charset="-122"/>
                <a:ea typeface="华文细黑" pitchFamily="2" charset="-122"/>
              </a:rPr>
              <a:t>威胁发生的可能性及严重性分析</a:t>
            </a:r>
            <a:r>
              <a:rPr lang="zh-CN" altLang="en-US" sz="1800" dirty="0">
                <a:solidFill>
                  <a:srgbClr val="000000"/>
                </a:solidFill>
                <a:latin typeface="华文细黑" pitchFamily="2" charset="-122"/>
                <a:ea typeface="华文细黑" pitchFamily="2" charset="-122"/>
              </a:rPr>
              <a:t>，以及</a:t>
            </a:r>
            <a:r>
              <a:rPr lang="zh-CN" altLang="zh-CN" sz="1800" dirty="0">
                <a:solidFill>
                  <a:srgbClr val="000000"/>
                </a:solidFill>
                <a:latin typeface="华文细黑" pitchFamily="2" charset="-122"/>
                <a:ea typeface="华文细黑" pitchFamily="2" charset="-122"/>
              </a:rPr>
              <a:t>对系统物理环境、硬件设备、网络平台、基础系统平台、业务应用系统、安全管理、运行措施等方面的</a:t>
            </a:r>
            <a:r>
              <a:rPr lang="zh-CN" altLang="zh-CN" sz="1800" dirty="0">
                <a:solidFill>
                  <a:srgbClr val="FF0000"/>
                </a:solidFill>
                <a:latin typeface="华文细黑" pitchFamily="2" charset="-122"/>
                <a:ea typeface="华文细黑" pitchFamily="2" charset="-122"/>
              </a:rPr>
              <a:t>安全脆弱性分析</a:t>
            </a:r>
            <a:r>
              <a:rPr lang="zh-CN" altLang="en-US" sz="1800" dirty="0">
                <a:solidFill>
                  <a:srgbClr val="FF0000"/>
                </a:solidFill>
                <a:latin typeface="华文细黑" pitchFamily="2" charset="-122"/>
                <a:ea typeface="华文细黑" pitchFamily="2" charset="-122"/>
              </a:rPr>
              <a:t>；</a:t>
            </a:r>
            <a:endParaRPr lang="en-US" altLang="zh-CN" sz="1800" dirty="0">
              <a:solidFill>
                <a:srgbClr val="FF0000"/>
              </a:solidFill>
              <a:latin typeface="华文细黑" pitchFamily="2" charset="-122"/>
              <a:ea typeface="华文细黑" pitchFamily="2" charset="-122"/>
            </a:endParaRPr>
          </a:p>
          <a:p>
            <a:pPr lvl="1" eaLnBrk="1" hangingPunct="1">
              <a:spcBef>
                <a:spcPts val="600"/>
              </a:spcBef>
            </a:pPr>
            <a:r>
              <a:rPr lang="zh-CN" altLang="zh-CN" sz="1800" dirty="0">
                <a:solidFill>
                  <a:srgbClr val="000000"/>
                </a:solidFill>
                <a:latin typeface="华文细黑" pitchFamily="2" charset="-122"/>
                <a:ea typeface="华文细黑" pitchFamily="2" charset="-122"/>
              </a:rPr>
              <a:t>通过对已有安全控制措施的确认，借助定量、定性分析的方法，推断出用户关心的重要资产</a:t>
            </a:r>
            <a:r>
              <a:rPr lang="zh-CN" altLang="zh-CN" sz="1800" dirty="0">
                <a:solidFill>
                  <a:srgbClr val="FF0000"/>
                </a:solidFill>
                <a:latin typeface="华文细黑" pitchFamily="2" charset="-122"/>
                <a:ea typeface="华文细黑" pitchFamily="2" charset="-122"/>
              </a:rPr>
              <a:t>当前的安全风险</a:t>
            </a:r>
            <a:r>
              <a:rPr lang="zh-CN" altLang="zh-CN" sz="1800" dirty="0">
                <a:solidFill>
                  <a:srgbClr val="000000"/>
                </a:solidFill>
                <a:latin typeface="华文细黑" pitchFamily="2" charset="-122"/>
                <a:ea typeface="华文细黑" pitchFamily="2" charset="-122"/>
              </a:rPr>
              <a:t>，并根据风险的严重级别制定风险处理计划，确定下一步的安全需求方向。</a:t>
            </a:r>
            <a:endParaRPr lang="en-US" altLang="zh-CN" sz="1800" dirty="0">
              <a:solidFill>
                <a:srgbClr val="000000"/>
              </a:solidFill>
              <a:latin typeface="华文细黑" pitchFamily="2" charset="-122"/>
              <a:ea typeface="华文细黑" pitchFamily="2" charset="-122"/>
            </a:endParaRPr>
          </a:p>
          <a:p>
            <a:pPr lvl="1" eaLnBrk="1" hangingPunct="1">
              <a:spcBef>
                <a:spcPts val="600"/>
              </a:spcBef>
            </a:pPr>
            <a:r>
              <a:rPr lang="zh-CN" altLang="zh-CN" sz="2000" b="1" dirty="0">
                <a:solidFill>
                  <a:srgbClr val="000000"/>
                </a:solidFill>
                <a:latin typeface="华文楷体" pitchFamily="2" charset="-122"/>
                <a:ea typeface="华文楷体" pitchFamily="2" charset="-122"/>
              </a:rPr>
              <a:t>风险评估的</a:t>
            </a:r>
            <a:r>
              <a:rPr lang="zh-CN" altLang="zh-CN" sz="2000" b="1" dirty="0">
                <a:solidFill>
                  <a:srgbClr val="FF0000"/>
                </a:solidFill>
                <a:latin typeface="华文楷体" pitchFamily="2" charset="-122"/>
                <a:ea typeface="华文楷体" pitchFamily="2" charset="-122"/>
              </a:rPr>
              <a:t>目标</a:t>
            </a:r>
            <a:r>
              <a:rPr lang="zh-CN" altLang="zh-CN" sz="2000" b="1" dirty="0">
                <a:solidFill>
                  <a:srgbClr val="000000"/>
                </a:solidFill>
                <a:latin typeface="华文楷体" pitchFamily="2" charset="-122"/>
                <a:ea typeface="华文楷体" pitchFamily="2" charset="-122"/>
              </a:rPr>
              <a:t>可以是针对具体的应用系统，也可能是某个组织内多个应用系统集成的信息系统。</a:t>
            </a:r>
            <a:endParaRPr lang="en-US" altLang="zh-CN" sz="2000" b="1" dirty="0">
              <a:solidFill>
                <a:srgbClr val="000000"/>
              </a:solidFill>
              <a:latin typeface="华文楷体" pitchFamily="2" charset="-122"/>
              <a:ea typeface="华文楷体" pitchFamily="2" charset="-122"/>
            </a:endParaRPr>
          </a:p>
          <a:p>
            <a:pPr lvl="1" eaLnBrk="1" hangingPunct="1">
              <a:spcBef>
                <a:spcPts val="600"/>
              </a:spcBef>
            </a:pPr>
            <a:r>
              <a:rPr lang="zh-CN" altLang="zh-CN" sz="2000" b="1" dirty="0">
                <a:solidFill>
                  <a:srgbClr val="000000"/>
                </a:solidFill>
                <a:latin typeface="华文楷体" pitchFamily="2" charset="-122"/>
                <a:ea typeface="华文楷体" pitchFamily="2" charset="-122"/>
              </a:rPr>
              <a:t>风险评估的</a:t>
            </a:r>
            <a:r>
              <a:rPr lang="zh-CN" altLang="zh-CN" sz="2000" b="1" dirty="0">
                <a:solidFill>
                  <a:srgbClr val="FF0000"/>
                </a:solidFill>
                <a:latin typeface="华文楷体" pitchFamily="2" charset="-122"/>
                <a:ea typeface="华文楷体" pitchFamily="2" charset="-122"/>
              </a:rPr>
              <a:t>最重要目的</a:t>
            </a:r>
            <a:r>
              <a:rPr lang="zh-CN" altLang="zh-CN" sz="2000" b="1" dirty="0">
                <a:solidFill>
                  <a:srgbClr val="000000"/>
                </a:solidFill>
                <a:latin typeface="华文楷体" pitchFamily="2" charset="-122"/>
                <a:ea typeface="华文楷体" pitchFamily="2" charset="-122"/>
              </a:rPr>
              <a:t>是为被评估组织发现安全脆弱点、潜在的安全威胁，以及在现有安全措施的基础上制定适当的安全加固措施，使得系统更加安全可靠，确保信息数据的安全。</a:t>
            </a:r>
            <a:endParaRPr lang="en-US" altLang="zh-CN" sz="2000" b="1" dirty="0">
              <a:solidFill>
                <a:srgbClr val="000000"/>
              </a:solidFill>
              <a:latin typeface="华文楷体" pitchFamily="2" charset="-122"/>
              <a:ea typeface="华文楷体" pitchFamily="2" charset="-122"/>
            </a:endParaRPr>
          </a:p>
        </p:txBody>
      </p:sp>
      <p:sp>
        <p:nvSpPr>
          <p:cNvPr id="35844" name="矩形 1"/>
          <p:cNvSpPr/>
          <p:nvPr/>
        </p:nvSpPr>
        <p:spPr>
          <a:xfrm>
            <a:off x="990600" y="2362200"/>
            <a:ext cx="7848600" cy="2438400"/>
          </a:xfrm>
          <a:prstGeom prst="rect">
            <a:avLst/>
          </a:prstGeom>
          <a:no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3" name="圆角矩形 2"/>
          <p:cNvSpPr/>
          <p:nvPr/>
        </p:nvSpPr>
        <p:spPr bwMode="auto">
          <a:xfrm>
            <a:off x="914400" y="1963738"/>
            <a:ext cx="7924800" cy="2438400"/>
          </a:xfrm>
          <a:prstGeom prst="roundRect">
            <a:avLst/>
          </a:prstGeom>
          <a:noFill/>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Effect transition="in" filter="wipe(down)">
                                      <p:cBhvr>
                                        <p:cTn id="7" dur="500"/>
                                        <p:tgtEl>
                                          <p:spTgt spid="296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Effect transition="in" filter="barn(inVertical)">
                                      <p:cBhvr>
                                        <p:cTn id="17" dur="500"/>
                                        <p:tgtEl>
                                          <p:spTgt spid="296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9699">
                                            <p:txEl>
                                              <p:pRg st="3" end="3"/>
                                            </p:txEl>
                                          </p:spTgt>
                                        </p:tgtEl>
                                        <p:attrNameLst>
                                          <p:attrName>style.visibility</p:attrName>
                                        </p:attrNameLst>
                                      </p:cBhvr>
                                      <p:to>
                                        <p:strVal val="visible"/>
                                      </p:to>
                                    </p:set>
                                    <p:animEffect transition="in" filter="barn(inVertical)">
                                      <p:cBhvr>
                                        <p:cTn id="22" dur="500"/>
                                        <p:tgtEl>
                                          <p:spTgt spid="296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9699">
                                            <p:txEl>
                                              <p:pRg st="4" end="4"/>
                                            </p:txEl>
                                          </p:spTgt>
                                        </p:tgtEl>
                                        <p:attrNameLst>
                                          <p:attrName>style.visibility</p:attrName>
                                        </p:attrNameLst>
                                      </p:cBhvr>
                                      <p:to>
                                        <p:strVal val="visible"/>
                                      </p:to>
                                    </p:set>
                                    <p:animEffect transition="in" filter="barn(inVertical)">
                                      <p:cBhvr>
                                        <p:cTn id="27" dur="500"/>
                                        <p:tgtEl>
                                          <p:spTgt spid="296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9699">
                                            <p:txEl>
                                              <p:pRg st="5" end="5"/>
                                            </p:txEl>
                                          </p:spTgt>
                                        </p:tgtEl>
                                        <p:attrNameLst>
                                          <p:attrName>style.visibility</p:attrName>
                                        </p:attrNameLst>
                                      </p:cBhvr>
                                      <p:to>
                                        <p:strVal val="visible"/>
                                      </p:to>
                                    </p:set>
                                    <p:animEffect transition="in" filter="wipe(down)">
                                      <p:cBhvr>
                                        <p:cTn id="32" dur="500"/>
                                        <p:tgtEl>
                                          <p:spTgt spid="2969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nodeType="clickEffect">
                                  <p:stCondLst>
                                    <p:cond delay="0"/>
                                  </p:stCondLst>
                                  <p:childTnLst>
                                    <p:set>
                                      <p:cBhvr>
                                        <p:cTn id="36" dur="1" fill="hold">
                                          <p:stCondLst>
                                            <p:cond delay="0"/>
                                          </p:stCondLst>
                                        </p:cTn>
                                        <p:tgtEl>
                                          <p:spTgt spid="29699">
                                            <p:txEl>
                                              <p:pRg st="6" end="6"/>
                                            </p:txEl>
                                          </p:spTgt>
                                        </p:tgtEl>
                                        <p:attrNameLst>
                                          <p:attrName>style.visibility</p:attrName>
                                        </p:attrNameLst>
                                      </p:cBhvr>
                                      <p:to>
                                        <p:strVal val="visible"/>
                                      </p:to>
                                    </p:set>
                                    <p:animEffect transition="in" filter="wheel(1)">
                                      <p:cBhvr>
                                        <p:cTn id="37" dur="2000"/>
                                        <p:tgtEl>
                                          <p:spTgt spid="296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609600" y="374650"/>
            <a:ext cx="7315200" cy="563563"/>
          </a:xfrm>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30723" name="内容占位符 2"/>
          <p:cNvSpPr>
            <a:spLocks noGrp="1"/>
          </p:cNvSpPr>
          <p:nvPr>
            <p:ph idx="1"/>
          </p:nvPr>
        </p:nvSpPr>
        <p:spPr>
          <a:xfrm>
            <a:off x="228600" y="914400"/>
            <a:ext cx="8686800" cy="5410200"/>
          </a:xfrm>
          <a:ln/>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en-US" altLang="zh-CN" b="1" dirty="0">
                <a:solidFill>
                  <a:srgbClr val="000000"/>
                </a:solidFill>
                <a:latin typeface="楷体_GB2312" pitchFamily="49" charset="-122"/>
                <a:ea typeface="楷体_GB2312" pitchFamily="49" charset="-122"/>
              </a:rPr>
              <a:t>ISMS</a:t>
            </a:r>
            <a:r>
              <a:rPr lang="zh-CN" altLang="en-US" b="1" dirty="0">
                <a:solidFill>
                  <a:srgbClr val="000000"/>
                </a:solidFill>
                <a:latin typeface="楷体_GB2312" pitchFamily="49" charset="-122"/>
                <a:ea typeface="楷体_GB2312" pitchFamily="49" charset="-122"/>
              </a:rPr>
              <a:t>建设与风险评估的关系</a:t>
            </a:r>
            <a:endParaRPr lang="en-US" altLang="zh-CN" b="1" dirty="0">
              <a:solidFill>
                <a:srgbClr val="000000"/>
              </a:solidFill>
              <a:latin typeface="楷体_GB2312" pitchFamily="49" charset="-122"/>
              <a:ea typeface="楷体_GB2312" pitchFamily="49" charset="-122"/>
            </a:endParaRPr>
          </a:p>
          <a:p>
            <a:pPr lvl="1" eaLnBrk="1" hangingPunct="1">
              <a:spcBef>
                <a:spcPct val="0"/>
              </a:spcBef>
            </a:pPr>
            <a:r>
              <a:rPr lang="zh-CN" altLang="zh-CN" sz="2400" b="1" dirty="0">
                <a:solidFill>
                  <a:srgbClr val="000000"/>
                </a:solidFill>
                <a:latin typeface="华文楷体" pitchFamily="2" charset="-122"/>
                <a:ea typeface="华文楷体" pitchFamily="2" charset="-122"/>
              </a:rPr>
              <a:t>（</a:t>
            </a:r>
            <a:r>
              <a:rPr lang="en-US" altLang="zh-CN" sz="2400" b="1" dirty="0">
                <a:solidFill>
                  <a:srgbClr val="000000"/>
                </a:solidFill>
                <a:latin typeface="华文楷体" pitchFamily="2" charset="-122"/>
                <a:ea typeface="华文楷体" pitchFamily="2" charset="-122"/>
              </a:rPr>
              <a:t>ISMS</a:t>
            </a:r>
            <a:r>
              <a:rPr lang="zh-CN" altLang="zh-CN" sz="2400" b="1" dirty="0">
                <a:solidFill>
                  <a:srgbClr val="000000"/>
                </a:solidFill>
                <a:latin typeface="华文楷体" pitchFamily="2" charset="-122"/>
                <a:ea typeface="华文楷体" pitchFamily="2" charset="-122"/>
              </a:rPr>
              <a:t>）是一个</a:t>
            </a:r>
            <a:r>
              <a:rPr lang="zh-CN" altLang="zh-CN" sz="2400" b="1" dirty="0">
                <a:solidFill>
                  <a:srgbClr val="FF0000"/>
                </a:solidFill>
                <a:latin typeface="华文楷体" pitchFamily="2" charset="-122"/>
                <a:ea typeface="华文楷体" pitchFamily="2" charset="-122"/>
              </a:rPr>
              <a:t>管理体系</a:t>
            </a:r>
            <a:r>
              <a:rPr lang="zh-CN" altLang="zh-CN" sz="2400" b="1" dirty="0">
                <a:solidFill>
                  <a:srgbClr val="000000"/>
                </a:solidFill>
                <a:latin typeface="华文楷体" pitchFamily="2" charset="-122"/>
                <a:ea typeface="华文楷体" pitchFamily="2" charset="-122"/>
              </a:rPr>
              <a:t>，它以一个组织的信息系统为目标，以风险评估为基础，通过风险评估，识别组织的安全风险，再通过制定一整套的</a:t>
            </a:r>
            <a:r>
              <a:rPr lang="en-US" altLang="zh-CN" sz="2400" b="1" dirty="0">
                <a:solidFill>
                  <a:srgbClr val="000000"/>
                </a:solidFill>
                <a:latin typeface="华文楷体" pitchFamily="2" charset="-122"/>
                <a:ea typeface="华文楷体" pitchFamily="2" charset="-122"/>
              </a:rPr>
              <a:t>ISMS</a:t>
            </a:r>
            <a:r>
              <a:rPr lang="zh-CN" altLang="zh-CN" sz="2400" b="1" dirty="0">
                <a:solidFill>
                  <a:srgbClr val="000000"/>
                </a:solidFill>
                <a:latin typeface="华文楷体" pitchFamily="2" charset="-122"/>
                <a:ea typeface="华文楷体" pitchFamily="2" charset="-122"/>
              </a:rPr>
              <a:t>文件，并按照</a:t>
            </a:r>
            <a:r>
              <a:rPr lang="en-US" altLang="zh-CN" sz="2400" b="1" dirty="0">
                <a:solidFill>
                  <a:srgbClr val="000000"/>
                </a:solidFill>
                <a:latin typeface="华文楷体" pitchFamily="2" charset="-122"/>
                <a:ea typeface="华文楷体" pitchFamily="2" charset="-122"/>
              </a:rPr>
              <a:t>PDCA</a:t>
            </a:r>
            <a:r>
              <a:rPr lang="zh-CN" altLang="zh-CN" sz="2400" b="1" dirty="0">
                <a:solidFill>
                  <a:srgbClr val="000000"/>
                </a:solidFill>
                <a:latin typeface="华文楷体" pitchFamily="2" charset="-122"/>
                <a:ea typeface="华文楷体" pitchFamily="2" charset="-122"/>
              </a:rPr>
              <a:t>模型，经历建立</a:t>
            </a:r>
            <a:r>
              <a:rPr lang="en-US" altLang="zh-CN" sz="2400" b="1" dirty="0">
                <a:solidFill>
                  <a:srgbClr val="000000"/>
                </a:solidFill>
                <a:latin typeface="华文楷体" pitchFamily="2" charset="-122"/>
                <a:ea typeface="华文楷体" pitchFamily="2" charset="-122"/>
              </a:rPr>
              <a:t>ISMS</a:t>
            </a:r>
            <a:r>
              <a:rPr lang="zh-CN" altLang="zh-CN" sz="2400" b="1" dirty="0">
                <a:solidFill>
                  <a:srgbClr val="000000"/>
                </a:solidFill>
                <a:latin typeface="华文楷体" pitchFamily="2" charset="-122"/>
                <a:ea typeface="华文楷体" pitchFamily="2" charset="-122"/>
              </a:rPr>
              <a:t>、实施和运行</a:t>
            </a:r>
            <a:r>
              <a:rPr lang="en-US" altLang="zh-CN" sz="2400" b="1" dirty="0">
                <a:solidFill>
                  <a:srgbClr val="000000"/>
                </a:solidFill>
                <a:latin typeface="华文楷体" pitchFamily="2" charset="-122"/>
                <a:ea typeface="华文楷体" pitchFamily="2" charset="-122"/>
              </a:rPr>
              <a:t>ISMS</a:t>
            </a:r>
            <a:r>
              <a:rPr lang="zh-CN" altLang="zh-CN" sz="2400" b="1" dirty="0">
                <a:solidFill>
                  <a:srgbClr val="000000"/>
                </a:solidFill>
                <a:latin typeface="华文楷体" pitchFamily="2" charset="-122"/>
                <a:ea typeface="华文楷体" pitchFamily="2" charset="-122"/>
              </a:rPr>
              <a:t>、监视和评审</a:t>
            </a:r>
            <a:r>
              <a:rPr lang="en-US" altLang="zh-CN" sz="2400" b="1" dirty="0">
                <a:solidFill>
                  <a:srgbClr val="000000"/>
                </a:solidFill>
                <a:latin typeface="华文楷体" pitchFamily="2" charset="-122"/>
                <a:ea typeface="华文楷体" pitchFamily="2" charset="-122"/>
              </a:rPr>
              <a:t>ISMS</a:t>
            </a:r>
            <a:r>
              <a:rPr lang="zh-CN" altLang="zh-CN" sz="2400" b="1" dirty="0">
                <a:solidFill>
                  <a:srgbClr val="000000"/>
                </a:solidFill>
                <a:latin typeface="华文楷体" pitchFamily="2" charset="-122"/>
                <a:ea typeface="华文楷体" pitchFamily="2" charset="-122"/>
              </a:rPr>
              <a:t>、保持和改进</a:t>
            </a:r>
            <a:r>
              <a:rPr lang="en-US" altLang="zh-CN" sz="2400" b="1" dirty="0">
                <a:solidFill>
                  <a:srgbClr val="000000"/>
                </a:solidFill>
                <a:latin typeface="华文楷体" pitchFamily="2" charset="-122"/>
                <a:ea typeface="华文楷体" pitchFamily="2" charset="-122"/>
              </a:rPr>
              <a:t>ISMS</a:t>
            </a:r>
            <a:r>
              <a:rPr lang="zh-CN" altLang="zh-CN" sz="2400" b="1" dirty="0">
                <a:solidFill>
                  <a:srgbClr val="000000"/>
                </a:solidFill>
                <a:latin typeface="华文楷体" pitchFamily="2" charset="-122"/>
                <a:ea typeface="华文楷体" pitchFamily="2" charset="-122"/>
              </a:rPr>
              <a:t>等四个循环过程，来实施</a:t>
            </a:r>
            <a:r>
              <a:rPr lang="en-US" altLang="zh-CN" sz="2400" b="1" dirty="0">
                <a:solidFill>
                  <a:srgbClr val="000000"/>
                </a:solidFill>
                <a:latin typeface="华文楷体" pitchFamily="2" charset="-122"/>
                <a:ea typeface="华文楷体" pitchFamily="2" charset="-122"/>
              </a:rPr>
              <a:t>ISMS</a:t>
            </a:r>
            <a:r>
              <a:rPr lang="zh-CN" altLang="zh-CN" sz="2400" b="1" dirty="0">
                <a:solidFill>
                  <a:srgbClr val="000000"/>
                </a:solidFill>
                <a:latin typeface="华文楷体" pitchFamily="2" charset="-122"/>
                <a:ea typeface="华文楷体" pitchFamily="2" charset="-122"/>
              </a:rPr>
              <a:t>。</a:t>
            </a:r>
            <a:endParaRPr lang="en-US" altLang="zh-CN" sz="2400" b="1" dirty="0">
              <a:solidFill>
                <a:srgbClr val="000000"/>
              </a:solidFill>
              <a:latin typeface="华文楷体" pitchFamily="2" charset="-122"/>
              <a:ea typeface="华文楷体" pitchFamily="2" charset="-122"/>
            </a:endParaRPr>
          </a:p>
          <a:p>
            <a:pPr lvl="1" eaLnBrk="1" hangingPunct="1">
              <a:spcBef>
                <a:spcPct val="0"/>
              </a:spcBef>
            </a:pPr>
            <a:r>
              <a:rPr lang="zh-CN" altLang="en-US" sz="2400" b="1" dirty="0">
                <a:solidFill>
                  <a:srgbClr val="000000"/>
                </a:solidFill>
                <a:latin typeface="华文楷体" pitchFamily="2" charset="-122"/>
                <a:ea typeface="华文楷体" pitchFamily="2" charset="-122"/>
              </a:rPr>
              <a:t>风险评估是</a:t>
            </a:r>
            <a:r>
              <a:rPr lang="en-US" altLang="zh-CN" sz="2400" b="1" dirty="0">
                <a:solidFill>
                  <a:srgbClr val="000000"/>
                </a:solidFill>
                <a:latin typeface="华文楷体" pitchFamily="2" charset="-122"/>
                <a:ea typeface="华文楷体" pitchFamily="2" charset="-122"/>
              </a:rPr>
              <a:t>ISMS</a:t>
            </a:r>
            <a:r>
              <a:rPr lang="zh-CN" altLang="en-US" sz="2400" b="1" dirty="0">
                <a:solidFill>
                  <a:srgbClr val="000000"/>
                </a:solidFill>
                <a:latin typeface="华文楷体" pitchFamily="2" charset="-122"/>
                <a:ea typeface="华文楷体" pitchFamily="2" charset="-122"/>
              </a:rPr>
              <a:t>建设的</a:t>
            </a:r>
            <a:r>
              <a:rPr lang="zh-CN" altLang="en-US" sz="2400" b="1" dirty="0">
                <a:solidFill>
                  <a:srgbClr val="FF0000"/>
                </a:solidFill>
                <a:latin typeface="华文楷体" pitchFamily="2" charset="-122"/>
                <a:ea typeface="华文楷体" pitchFamily="2" charset="-122"/>
              </a:rPr>
              <a:t>出发点</a:t>
            </a:r>
            <a:r>
              <a:rPr lang="zh-CN" altLang="en-US" sz="2400" b="1" dirty="0">
                <a:solidFill>
                  <a:srgbClr val="000000"/>
                </a:solidFill>
                <a:latin typeface="华文楷体" pitchFamily="2" charset="-122"/>
                <a:ea typeface="华文楷体" pitchFamily="2" charset="-122"/>
              </a:rPr>
              <a:t>，也是</a:t>
            </a:r>
            <a:r>
              <a:rPr lang="en-US" altLang="zh-CN" sz="2400" b="1" dirty="0">
                <a:solidFill>
                  <a:srgbClr val="000000"/>
                </a:solidFill>
                <a:latin typeface="华文楷体" pitchFamily="2" charset="-122"/>
                <a:ea typeface="华文楷体" pitchFamily="2" charset="-122"/>
              </a:rPr>
              <a:t>ISMS</a:t>
            </a:r>
            <a:r>
              <a:rPr lang="zh-CN" altLang="en-US" sz="2400" b="1" dirty="0">
                <a:solidFill>
                  <a:srgbClr val="000000"/>
                </a:solidFill>
                <a:latin typeface="华文楷体" pitchFamily="2" charset="-122"/>
                <a:ea typeface="华文楷体" pitchFamily="2" charset="-122"/>
              </a:rPr>
              <a:t>实施过程的重要过程。</a:t>
            </a:r>
            <a:endParaRPr lang="en-US" altLang="zh-CN" sz="2400" b="1" dirty="0">
              <a:solidFill>
                <a:srgbClr val="000000"/>
              </a:solidFill>
              <a:latin typeface="华文楷体" pitchFamily="2" charset="-122"/>
              <a:ea typeface="华文楷体" pitchFamily="2" charset="-122"/>
            </a:endParaRPr>
          </a:p>
          <a:p>
            <a:pPr lvl="1" eaLnBrk="1" hangingPunct="1">
              <a:spcBef>
                <a:spcPct val="0"/>
              </a:spcBef>
            </a:pPr>
            <a:r>
              <a:rPr lang="zh-CN" altLang="zh-CN" sz="2400" b="1" dirty="0">
                <a:solidFill>
                  <a:srgbClr val="000000"/>
                </a:solidFill>
                <a:latin typeface="华文楷体" pitchFamily="2" charset="-122"/>
                <a:ea typeface="华文楷体" pitchFamily="2" charset="-122"/>
              </a:rPr>
              <a:t>对一个组织来讲，</a:t>
            </a:r>
            <a:r>
              <a:rPr lang="en-US" altLang="zh-CN" sz="2400" b="1" dirty="0">
                <a:solidFill>
                  <a:srgbClr val="000000"/>
                </a:solidFill>
                <a:latin typeface="华文楷体" pitchFamily="2" charset="-122"/>
                <a:ea typeface="华文楷体" pitchFamily="2" charset="-122"/>
              </a:rPr>
              <a:t>ISMS</a:t>
            </a:r>
            <a:r>
              <a:rPr lang="zh-CN" altLang="zh-CN" sz="2400" b="1" dirty="0">
                <a:solidFill>
                  <a:srgbClr val="000000"/>
                </a:solidFill>
                <a:latin typeface="华文楷体" pitchFamily="2" charset="-122"/>
                <a:ea typeface="华文楷体" pitchFamily="2" charset="-122"/>
              </a:rPr>
              <a:t>是一个循环往复不断改进与提高完善的</a:t>
            </a:r>
            <a:r>
              <a:rPr lang="zh-CN" altLang="zh-CN" sz="2400" b="1" dirty="0">
                <a:solidFill>
                  <a:srgbClr val="FF0000"/>
                </a:solidFill>
                <a:latin typeface="华文楷体" pitchFamily="2" charset="-122"/>
                <a:ea typeface="华文楷体" pitchFamily="2" charset="-122"/>
              </a:rPr>
              <a:t>过程</a:t>
            </a:r>
            <a:r>
              <a:rPr lang="zh-CN" altLang="zh-CN" sz="2400" b="1" dirty="0">
                <a:solidFill>
                  <a:srgbClr val="000000"/>
                </a:solidFill>
                <a:latin typeface="华文楷体" pitchFamily="2" charset="-122"/>
                <a:ea typeface="华文楷体" pitchFamily="2" charset="-122"/>
              </a:rPr>
              <a:t>，风险评估只是</a:t>
            </a:r>
            <a:r>
              <a:rPr lang="en-US" altLang="zh-CN" sz="2400" b="1" dirty="0">
                <a:solidFill>
                  <a:srgbClr val="000000"/>
                </a:solidFill>
                <a:latin typeface="华文楷体" pitchFamily="2" charset="-122"/>
                <a:ea typeface="华文楷体" pitchFamily="2" charset="-122"/>
              </a:rPr>
              <a:t>ISMS</a:t>
            </a:r>
            <a:r>
              <a:rPr lang="zh-CN" altLang="zh-CN" sz="2400" b="1" dirty="0">
                <a:solidFill>
                  <a:srgbClr val="000000"/>
                </a:solidFill>
                <a:latin typeface="华文楷体" pitchFamily="2" charset="-122"/>
                <a:ea typeface="华文楷体" pitchFamily="2" charset="-122"/>
              </a:rPr>
              <a:t>建立过程中的一个重要步骤，但风险评估也可以自成体系，作为</a:t>
            </a:r>
            <a:r>
              <a:rPr lang="en-US" altLang="zh-CN" sz="2400" b="1" dirty="0">
                <a:solidFill>
                  <a:srgbClr val="000000"/>
                </a:solidFill>
                <a:latin typeface="华文楷体" pitchFamily="2" charset="-122"/>
                <a:ea typeface="华文楷体" pitchFamily="2" charset="-122"/>
              </a:rPr>
              <a:t>ISMS</a:t>
            </a:r>
            <a:r>
              <a:rPr lang="zh-CN" altLang="zh-CN" sz="2400" b="1" dirty="0">
                <a:solidFill>
                  <a:srgbClr val="000000"/>
                </a:solidFill>
                <a:latin typeface="华文楷体" pitchFamily="2" charset="-122"/>
                <a:ea typeface="华文楷体" pitchFamily="2" charset="-122"/>
              </a:rPr>
              <a:t>过程的一个部分</a:t>
            </a:r>
            <a:r>
              <a:rPr lang="zh-CN" altLang="zh-CN" sz="2400" b="1" dirty="0">
                <a:solidFill>
                  <a:srgbClr val="FF0000"/>
                </a:solidFill>
                <a:latin typeface="华文楷体" pitchFamily="2" charset="-122"/>
                <a:ea typeface="华文楷体" pitchFamily="2" charset="-122"/>
              </a:rPr>
              <a:t>独立存在</a:t>
            </a:r>
            <a:r>
              <a:rPr lang="zh-CN" altLang="zh-CN" sz="2400" b="1" dirty="0">
                <a:solidFill>
                  <a:srgbClr val="000000"/>
                </a:solidFill>
                <a:latin typeface="华文楷体" pitchFamily="2" charset="-122"/>
                <a:ea typeface="华文楷体" pitchFamily="2" charset="-122"/>
              </a:rPr>
              <a:t>。</a:t>
            </a:r>
            <a:endParaRPr lang="en-US" altLang="zh-CN" sz="2400" b="1" dirty="0">
              <a:solidFill>
                <a:srgbClr val="000000"/>
              </a:solidFill>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animEffect transition="in" filter="wipe(down)">
                                      <p:cBhvr>
                                        <p:cTn id="7" dur="500"/>
                                        <p:tgtEl>
                                          <p:spTgt spid="3072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0723">
                                            <p:txEl>
                                              <p:pRg st="2" end="2"/>
                                            </p:txEl>
                                          </p:spTgt>
                                        </p:tgtEl>
                                        <p:attrNameLst>
                                          <p:attrName>style.visibility</p:attrName>
                                        </p:attrNameLst>
                                      </p:cBhvr>
                                      <p:to>
                                        <p:strVal val="visible"/>
                                      </p:to>
                                    </p:set>
                                    <p:animEffect transition="in" filter="circle(in)">
                                      <p:cBhvr>
                                        <p:cTn id="12" dur="2000"/>
                                        <p:tgtEl>
                                          <p:spTgt spid="307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30723">
                                            <p:txEl>
                                              <p:pRg st="3" end="3"/>
                                            </p:txEl>
                                          </p:spTgt>
                                        </p:tgtEl>
                                        <p:attrNameLst>
                                          <p:attrName>style.visibility</p:attrName>
                                        </p:attrNameLst>
                                      </p:cBhvr>
                                      <p:to>
                                        <p:strVal val="visible"/>
                                      </p:to>
                                    </p:set>
                                    <p:animEffect transition="in" filter="wheel(1)">
                                      <p:cBhvr>
                                        <p:cTn id="17" dur="2000"/>
                                        <p:tgtEl>
                                          <p:spTgt spid="307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609600" y="374650"/>
            <a:ext cx="7315200" cy="563563"/>
          </a:xfrm>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31747" name="内容占位符 2"/>
          <p:cNvSpPr>
            <a:spLocks noGrp="1"/>
          </p:cNvSpPr>
          <p:nvPr>
            <p:ph idx="1"/>
          </p:nvPr>
        </p:nvSpPr>
        <p:spPr>
          <a:xfrm>
            <a:off x="228600" y="1447800"/>
            <a:ext cx="8686800" cy="3733800"/>
          </a:xfrm>
          <a:ln/>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en-US" altLang="zh-CN" b="1" dirty="0">
                <a:latin typeface="楷体_GB2312" pitchFamily="49" charset="-122"/>
                <a:ea typeface="楷体_GB2312" pitchFamily="49" charset="-122"/>
              </a:rPr>
              <a:t>ISMS</a:t>
            </a:r>
            <a:r>
              <a:rPr lang="zh-CN" altLang="en-US" b="1" dirty="0">
                <a:latin typeface="楷体_GB2312" pitchFamily="49" charset="-122"/>
                <a:ea typeface="楷体_GB2312" pitchFamily="49" charset="-122"/>
              </a:rPr>
              <a:t>与等级保护的共同之处</a:t>
            </a:r>
            <a:endParaRPr lang="en-US" altLang="zh-CN" b="1" dirty="0">
              <a:latin typeface="楷体_GB2312" pitchFamily="49" charset="-122"/>
              <a:ea typeface="楷体_GB2312" pitchFamily="49" charset="-122"/>
            </a:endParaRPr>
          </a:p>
          <a:p>
            <a:pPr lvl="1" eaLnBrk="1" hangingPunct="1">
              <a:lnSpc>
                <a:spcPct val="150000"/>
              </a:lnSpc>
              <a:spcBef>
                <a:spcPts val="600"/>
              </a:spcBef>
            </a:pPr>
            <a:r>
              <a:rPr lang="zh-CN" altLang="zh-CN" sz="2400" b="1" dirty="0">
                <a:solidFill>
                  <a:srgbClr val="000000"/>
                </a:solidFill>
                <a:latin typeface="华文楷体" pitchFamily="2" charset="-122"/>
                <a:ea typeface="华文楷体" pitchFamily="2" charset="-122"/>
              </a:rPr>
              <a:t>等级保护制度作为信息安全保障的一项基本制度，重点在于对信息系统进行</a:t>
            </a:r>
            <a:r>
              <a:rPr lang="zh-CN" altLang="zh-CN" sz="2400" b="1" dirty="0">
                <a:solidFill>
                  <a:srgbClr val="FF0000"/>
                </a:solidFill>
                <a:latin typeface="华文楷体" pitchFamily="2" charset="-122"/>
                <a:ea typeface="华文楷体" pitchFamily="2" charset="-122"/>
              </a:rPr>
              <a:t>分类分级</a:t>
            </a:r>
            <a:r>
              <a:rPr lang="zh-CN" altLang="zh-CN" sz="2400" b="1" dirty="0">
                <a:solidFill>
                  <a:srgbClr val="000000"/>
                </a:solidFill>
                <a:latin typeface="华文楷体" pitchFamily="2" charset="-122"/>
                <a:ea typeface="华文楷体" pitchFamily="2" charset="-122"/>
              </a:rPr>
              <a:t>。</a:t>
            </a:r>
            <a:endParaRPr lang="en-US" altLang="zh-CN" sz="2400" b="1" dirty="0">
              <a:solidFill>
                <a:srgbClr val="000000"/>
              </a:solidFill>
              <a:latin typeface="华文楷体" pitchFamily="2" charset="-122"/>
              <a:ea typeface="华文楷体" pitchFamily="2" charset="-122"/>
            </a:endParaRPr>
          </a:p>
          <a:p>
            <a:pPr lvl="1" eaLnBrk="1" hangingPunct="1">
              <a:lnSpc>
                <a:spcPct val="150000"/>
              </a:lnSpc>
              <a:spcBef>
                <a:spcPts val="600"/>
              </a:spcBef>
            </a:pPr>
            <a:r>
              <a:rPr lang="zh-CN" altLang="zh-CN" sz="2400" b="1" dirty="0">
                <a:solidFill>
                  <a:srgbClr val="000000"/>
                </a:solidFill>
                <a:latin typeface="华文楷体" pitchFamily="2" charset="-122"/>
                <a:ea typeface="华文楷体" pitchFamily="2" charset="-122"/>
              </a:rPr>
              <a:t>等级保护制度不仅针对信息安全产品或系统检测、评估以及定级，更重要的是，等级保护是围绕信息安全保障全过程的一项</a:t>
            </a:r>
            <a:r>
              <a:rPr lang="zh-CN" altLang="zh-CN" sz="2400" b="1" dirty="0">
                <a:solidFill>
                  <a:srgbClr val="FF0000"/>
                </a:solidFill>
                <a:latin typeface="华文楷体" pitchFamily="2" charset="-122"/>
                <a:ea typeface="华文楷体" pitchFamily="2" charset="-122"/>
              </a:rPr>
              <a:t>基础性管理制度</a:t>
            </a:r>
            <a:r>
              <a:rPr lang="zh-CN" altLang="zh-CN" sz="2400" b="1" dirty="0">
                <a:solidFill>
                  <a:srgbClr val="000000"/>
                </a:solidFill>
                <a:latin typeface="华文楷体" pitchFamily="2" charset="-122"/>
                <a:ea typeface="华文楷体" pitchFamily="2" charset="-122"/>
              </a:rPr>
              <a:t>，是一项基础性和制度性的工作。</a:t>
            </a:r>
            <a:endParaRPr lang="en-US" altLang="zh-CN" sz="2400" b="1" dirty="0">
              <a:solidFill>
                <a:srgbClr val="000000"/>
              </a:solidFill>
              <a:latin typeface="华文楷体" pitchFamily="2" charset="-122"/>
              <a:ea typeface="华文楷体" pitchFamily="2" charset="-122"/>
            </a:endParaRPr>
          </a:p>
          <a:p>
            <a:pPr lvl="1" eaLnBrk="1" hangingPunct="1">
              <a:lnSpc>
                <a:spcPct val="150000"/>
              </a:lnSpc>
              <a:spcBef>
                <a:spcPts val="600"/>
              </a:spcBef>
            </a:pPr>
            <a:r>
              <a:rPr lang="zh-CN" altLang="zh-CN" sz="2400" b="1" dirty="0">
                <a:solidFill>
                  <a:srgbClr val="000000"/>
                </a:solidFill>
                <a:latin typeface="华文楷体" pitchFamily="2" charset="-122"/>
                <a:ea typeface="华文楷体" pitchFamily="2" charset="-122"/>
              </a:rPr>
              <a:t>等级保护坚持</a:t>
            </a:r>
            <a:r>
              <a:rPr lang="zh-CN" altLang="zh-CN" sz="2400" b="1" dirty="0">
                <a:solidFill>
                  <a:srgbClr val="FF0000"/>
                </a:solidFill>
                <a:latin typeface="华文楷体" pitchFamily="2" charset="-122"/>
                <a:ea typeface="华文楷体" pitchFamily="2" charset="-122"/>
              </a:rPr>
              <a:t>管理和技术并重</a:t>
            </a:r>
            <a:r>
              <a:rPr lang="zh-CN" altLang="zh-CN" sz="2400" b="1" dirty="0">
                <a:solidFill>
                  <a:srgbClr val="000000"/>
                </a:solidFill>
                <a:latin typeface="华文楷体" pitchFamily="2" charset="-122"/>
                <a:ea typeface="华文楷体" pitchFamily="2" charset="-122"/>
              </a:rPr>
              <a:t>，坚持统筹兼顾，突出重点，充分体现了合理分配资源保护重点的原则。</a:t>
            </a:r>
            <a:endParaRPr lang="en-US" altLang="zh-CN" sz="2400" b="1" dirty="0">
              <a:solidFill>
                <a:srgbClr val="000000"/>
              </a:solidFill>
              <a:latin typeface="华文楷体" pitchFamily="2" charset="-122"/>
              <a:ea typeface="华文楷体" pitchFamily="2" charset="-122"/>
            </a:endParaRPr>
          </a:p>
          <a:p>
            <a:pPr lvl="1" eaLnBrk="1" hangingPunct="1">
              <a:spcBef>
                <a:spcPts val="600"/>
              </a:spcBef>
            </a:pPr>
            <a:endParaRPr lang="en-US" altLang="zh-CN" sz="2400" b="1" dirty="0">
              <a:solidFill>
                <a:srgbClr val="000000"/>
              </a:solidFill>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Effect transition="in" filter="wipe(down)">
                                      <p:cBhvr>
                                        <p:cTn id="7" dur="500"/>
                                        <p:tgtEl>
                                          <p:spTgt spid="317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1747">
                                            <p:txEl>
                                              <p:pRg st="2" end="2"/>
                                            </p:txEl>
                                          </p:spTgt>
                                        </p:tgtEl>
                                        <p:attrNameLst>
                                          <p:attrName>style.visibility</p:attrName>
                                        </p:attrNameLst>
                                      </p:cBhvr>
                                      <p:to>
                                        <p:strVal val="visible"/>
                                      </p:to>
                                    </p:set>
                                    <p:animEffect transition="in" filter="circle(in)">
                                      <p:cBhvr>
                                        <p:cTn id="12" dur="2000"/>
                                        <p:tgtEl>
                                          <p:spTgt spid="317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1747">
                                            <p:txEl>
                                              <p:pRg st="3" end="3"/>
                                            </p:txEl>
                                          </p:spTgt>
                                        </p:tgtEl>
                                        <p:attrNameLst>
                                          <p:attrName>style.visibility</p:attrName>
                                        </p:attrNameLst>
                                      </p:cBhvr>
                                      <p:to>
                                        <p:strVal val="visible"/>
                                      </p:to>
                                    </p:set>
                                    <p:animEffect transition="in" filter="circle(in)">
                                      <p:cBhvr>
                                        <p:cTn id="17" dur="2000"/>
                                        <p:tgtEl>
                                          <p:spTgt spid="317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609600" y="374650"/>
            <a:ext cx="7315200" cy="563563"/>
          </a:xfrm>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32771" name="内容占位符 2"/>
          <p:cNvSpPr>
            <a:spLocks noGrp="1"/>
          </p:cNvSpPr>
          <p:nvPr>
            <p:ph idx="1"/>
          </p:nvPr>
        </p:nvSpPr>
        <p:spPr>
          <a:xfrm>
            <a:off x="228600" y="1447800"/>
            <a:ext cx="8686800" cy="4191000"/>
          </a:xfrm>
          <a:ln/>
        </p:spPr>
        <p:txBody>
          <a:bodyPr vert="horz" wrap="square" lIns="91440" tIns="45720" rIns="91440" bIns="45720" anchor="t" anchorCtr="0"/>
          <a:lstStyle/>
          <a:p>
            <a:pPr marL="0" indent="0" eaLnBrk="1" hangingPunct="1">
              <a:spcAft>
                <a:spcPct val="20000"/>
              </a:spcAft>
              <a:buClr>
                <a:srgbClr val="AC04A0"/>
              </a:buClr>
              <a:buNone/>
            </a:pPr>
            <a:r>
              <a:rPr lang="en-US" altLang="zh-CN" b="1" dirty="0">
                <a:solidFill>
                  <a:srgbClr val="000000"/>
                </a:solidFill>
                <a:latin typeface="楷体_GB2312" pitchFamily="49" charset="-122"/>
                <a:ea typeface="楷体_GB2312" pitchFamily="49" charset="-122"/>
              </a:rPr>
              <a:t>ISMS</a:t>
            </a:r>
            <a:r>
              <a:rPr lang="zh-CN" altLang="en-US" b="1" dirty="0">
                <a:solidFill>
                  <a:srgbClr val="000000"/>
                </a:solidFill>
                <a:latin typeface="楷体_GB2312" pitchFamily="49" charset="-122"/>
                <a:ea typeface="楷体_GB2312" pitchFamily="49" charset="-122"/>
              </a:rPr>
              <a:t>与等级保护的共同之处</a:t>
            </a:r>
            <a:endParaRPr lang="en-US" altLang="zh-CN" b="1" dirty="0">
              <a:solidFill>
                <a:srgbClr val="000000"/>
              </a:solidFill>
              <a:latin typeface="楷体_GB2312" pitchFamily="49" charset="-122"/>
              <a:ea typeface="楷体_GB2312" pitchFamily="49" charset="-122"/>
            </a:endParaRPr>
          </a:p>
          <a:p>
            <a:pPr lvl="1" eaLnBrk="1" hangingPunct="1">
              <a:lnSpc>
                <a:spcPct val="150000"/>
              </a:lnSpc>
              <a:spcBef>
                <a:spcPts val="600"/>
              </a:spcBef>
            </a:pPr>
            <a:r>
              <a:rPr lang="zh-CN" altLang="zh-CN" sz="2400" b="1" dirty="0">
                <a:solidFill>
                  <a:srgbClr val="000000"/>
                </a:solidFill>
                <a:latin typeface="华文楷体" pitchFamily="2" charset="-122"/>
                <a:ea typeface="华文楷体" pitchFamily="2" charset="-122"/>
              </a:rPr>
              <a:t>最终目标是一致的，都是为了有效保障组织的信息安全</a:t>
            </a:r>
            <a:endParaRPr lang="en-US" altLang="zh-CN" sz="2400" b="1" dirty="0">
              <a:solidFill>
                <a:srgbClr val="000000"/>
              </a:solidFill>
              <a:latin typeface="华文楷体" pitchFamily="2" charset="-122"/>
              <a:ea typeface="华文楷体" pitchFamily="2" charset="-122"/>
            </a:endParaRPr>
          </a:p>
          <a:p>
            <a:pPr lvl="1" eaLnBrk="1" hangingPunct="1">
              <a:lnSpc>
                <a:spcPct val="150000"/>
              </a:lnSpc>
              <a:spcBef>
                <a:spcPts val="600"/>
              </a:spcBef>
            </a:pPr>
            <a:r>
              <a:rPr lang="zh-CN" altLang="zh-CN" sz="2400" b="1" dirty="0">
                <a:solidFill>
                  <a:srgbClr val="000000"/>
                </a:solidFill>
                <a:latin typeface="华文楷体" pitchFamily="2" charset="-122"/>
                <a:ea typeface="华文楷体" pitchFamily="2" charset="-122"/>
              </a:rPr>
              <a:t>都充分体现了信息安全应重视管理的思想，只有做好安全管理工作，安全技术才能充分发挥作用。</a:t>
            </a:r>
            <a:endParaRPr lang="en-US" altLang="zh-CN" sz="2400" b="1" dirty="0">
              <a:solidFill>
                <a:srgbClr val="000000"/>
              </a:solidFill>
              <a:latin typeface="华文楷体" pitchFamily="2" charset="-122"/>
              <a:ea typeface="华文楷体" pitchFamily="2" charset="-122"/>
            </a:endParaRPr>
          </a:p>
          <a:p>
            <a:pPr lvl="1" eaLnBrk="1" hangingPunct="1">
              <a:lnSpc>
                <a:spcPct val="150000"/>
              </a:lnSpc>
              <a:spcBef>
                <a:spcPts val="600"/>
              </a:spcBef>
            </a:pPr>
            <a:r>
              <a:rPr lang="zh-CN" altLang="zh-CN" sz="2400" b="1" dirty="0">
                <a:solidFill>
                  <a:srgbClr val="000000"/>
                </a:solidFill>
                <a:latin typeface="华文楷体" pitchFamily="2" charset="-122"/>
                <a:ea typeface="华文楷体" pitchFamily="2" charset="-122"/>
              </a:rPr>
              <a:t>既然二者的联系主要体现在管理方面，那么二者的融合应该着重体现在等级保护中安全管理的部分与</a:t>
            </a:r>
            <a:r>
              <a:rPr lang="en-US" altLang="zh-CN" sz="2400" b="1" dirty="0">
                <a:solidFill>
                  <a:srgbClr val="000000"/>
                </a:solidFill>
                <a:latin typeface="华文楷体" pitchFamily="2" charset="-122"/>
                <a:ea typeface="华文楷体" pitchFamily="2" charset="-122"/>
              </a:rPr>
              <a:t>ISMS</a:t>
            </a:r>
            <a:r>
              <a:rPr lang="zh-CN" altLang="zh-CN" sz="2400" b="1" dirty="0">
                <a:solidFill>
                  <a:srgbClr val="000000"/>
                </a:solidFill>
                <a:latin typeface="华文楷体" pitchFamily="2" charset="-122"/>
                <a:ea typeface="华文楷体" pitchFamily="2" charset="-122"/>
              </a:rPr>
              <a:t>的融合。</a:t>
            </a:r>
            <a:endParaRPr lang="en-US" altLang="zh-CN" sz="2400" b="1" dirty="0">
              <a:solidFill>
                <a:srgbClr val="000000"/>
              </a:solidFill>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animEffect transition="in" filter="barn(inVertical)">
                                      <p:cBhvr>
                                        <p:cTn id="7" dur="500"/>
                                        <p:tgtEl>
                                          <p:spTgt spid="3277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2771">
                                            <p:txEl>
                                              <p:pRg st="2" end="2"/>
                                            </p:txEl>
                                          </p:spTgt>
                                        </p:tgtEl>
                                        <p:attrNameLst>
                                          <p:attrName>style.visibility</p:attrName>
                                        </p:attrNameLst>
                                      </p:cBhvr>
                                      <p:to>
                                        <p:strVal val="visible"/>
                                      </p:to>
                                    </p:set>
                                    <p:animEffect transition="in" filter="wipe(down)">
                                      <p:cBhvr>
                                        <p:cTn id="12" dur="500"/>
                                        <p:tgtEl>
                                          <p:spTgt spid="327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2771">
                                            <p:txEl>
                                              <p:pRg st="3" end="3"/>
                                            </p:txEl>
                                          </p:spTgt>
                                        </p:tgtEl>
                                        <p:attrNameLst>
                                          <p:attrName>style.visibility</p:attrName>
                                        </p:attrNameLst>
                                      </p:cBhvr>
                                      <p:to>
                                        <p:strVal val="visible"/>
                                      </p:to>
                                    </p:set>
                                    <p:animEffect transition="in" filter="wipe(down)">
                                      <p:cBhvr>
                                        <p:cTn id="17" dur="500"/>
                                        <p:tgtEl>
                                          <p:spTgt spid="327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609600" y="374650"/>
            <a:ext cx="7315200" cy="563563"/>
          </a:xfrm>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33795" name="内容占位符 2"/>
          <p:cNvSpPr>
            <a:spLocks noGrp="1" noChangeArrowheads="1"/>
          </p:cNvSpPr>
          <p:nvPr>
            <p:ph idx="1"/>
          </p:nvPr>
        </p:nvSpPr>
        <p:spPr>
          <a:xfrm>
            <a:off x="228600" y="1447800"/>
            <a:ext cx="8686800" cy="38862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与等级保护的共同之处</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a:t>
            </a: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1</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）二者都可以加强对信息的安全保障工作</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在信息安全管理体系（</a:t>
            </a:r>
            <a:r>
              <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）的建立过程应该要结合电子政务的等级保护工作来进行，通过等级测评，对信息系统实施等级保护。</a:t>
            </a:r>
            <a:endPar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一方面，可以切实地建立适用于电子政务的信息安全管理体系，另一方面可以推动电子政务等级保护工作的实施，甚至可以建立等级化的信息安全管理体系。</a:t>
            </a:r>
            <a:endPar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animEffect transition="in" filter="wipe(down)">
                                      <p:cBhvr>
                                        <p:cTn id="7" dur="500"/>
                                        <p:tgtEl>
                                          <p:spTgt spid="33795">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3795">
                                            <p:txEl>
                                              <p:pRg st="2" end="2"/>
                                            </p:txEl>
                                          </p:spTgt>
                                        </p:tgtEl>
                                        <p:attrNameLst>
                                          <p:attrName>style.visibility</p:attrName>
                                        </p:attrNameLst>
                                      </p:cBhvr>
                                      <p:to>
                                        <p:strVal val="visible"/>
                                      </p:to>
                                    </p:set>
                                    <p:animEffect transition="in" filter="wipe(down)">
                                      <p:cBhvr>
                                        <p:cTn id="10" dur="500"/>
                                        <p:tgtEl>
                                          <p:spTgt spid="3379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33795">
                                            <p:txEl>
                                              <p:pRg st="3" end="3"/>
                                            </p:txEl>
                                          </p:spTgt>
                                        </p:tgtEl>
                                        <p:attrNameLst>
                                          <p:attrName>style.visibility</p:attrName>
                                        </p:attrNameLst>
                                      </p:cBhvr>
                                      <p:to>
                                        <p:strVal val="visible"/>
                                      </p:to>
                                    </p:set>
                                    <p:animEffect transition="in" filter="circle(in)">
                                      <p:cBhvr>
                                        <p:cTn id="15" dur="2000"/>
                                        <p:tgtEl>
                                          <p:spTgt spid="337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609600" y="374650"/>
            <a:ext cx="7315200" cy="563563"/>
          </a:xfrm>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19459" name="内容占位符 2"/>
          <p:cNvSpPr>
            <a:spLocks noGrp="1" noChangeArrowheads="1"/>
          </p:cNvSpPr>
          <p:nvPr>
            <p:ph idx="1"/>
          </p:nvPr>
        </p:nvSpPr>
        <p:spPr>
          <a:xfrm>
            <a:off x="152400" y="1600200"/>
            <a:ext cx="8686800" cy="41910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与等级保护的共同之处</a:t>
            </a:r>
            <a:endPar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0" marR="0" lvl="0" indent="360045" algn="l" defTabSz="914400" rtl="0" eaLnBrk="1" fontAlgn="base" latinLnBrk="0" hangingPunct="1">
              <a:lnSpc>
                <a:spcPct val="100000"/>
              </a:lnSpc>
              <a:spcBef>
                <a:spcPts val="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a:t>
            </a:r>
            <a:r>
              <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2</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）二者的</a:t>
            </a:r>
            <a:r>
              <a:rPr kumimoji="0" lang="zh-CN" altLang="en-US" sz="2800" b="1" i="0" u="none" strike="noStrike" kern="0" cap="none" spc="0" normalizeH="0" baseline="0" noProof="0" dirty="0" smtClean="0">
                <a:ln>
                  <a:noFill/>
                </a:ln>
                <a:solidFill>
                  <a:srgbClr val="FF0000"/>
                </a:solidFill>
                <a:effectLst/>
                <a:uLnTx/>
                <a:uFillTx/>
                <a:latin typeface="华文楷体" pitchFamily="2" charset="-122"/>
                <a:ea typeface="华文楷体" pitchFamily="2" charset="-122"/>
                <a:cs typeface="+mn-cs"/>
              </a:rPr>
              <a:t>安全管理要求</a:t>
            </a: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有相同的地方</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从</a:t>
            </a:r>
            <a:r>
              <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和等级测评的实施标准依据来看，都用到</a:t>
            </a:r>
            <a:r>
              <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ISO17799</a:t>
            </a:r>
            <a:r>
              <a:rPr kumimoji="0" lang="zh-CN"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《信息安全管理实用规则》</a:t>
            </a:r>
            <a:r>
              <a:rPr kumimoji="0" lang="zh-CN" altLang="zh-CN"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en-US" altLang="zh-CN"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实施过程中，按照</a:t>
            </a:r>
            <a:r>
              <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ISO27001</a:t>
            </a:r>
            <a:r>
              <a:rPr kumimoji="0" lang="zh-CN"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的建设过程要求，依据</a:t>
            </a:r>
            <a:r>
              <a:rPr kumimoji="0" lang="en-US" altLang="zh-CN" sz="2400" b="1" i="0" u="none" strike="noStrike" kern="0" cap="none" spc="0" normalizeH="0" baseline="0" noProof="0" dirty="0">
                <a:ln>
                  <a:noFill/>
                </a:ln>
                <a:solidFill>
                  <a:srgbClr val="FF0000"/>
                </a:solidFill>
                <a:effectLst/>
                <a:uLnTx/>
                <a:uFillTx/>
                <a:latin typeface="华文楷体" pitchFamily="2" charset="-122"/>
                <a:ea typeface="华文楷体" pitchFamily="2" charset="-122"/>
              </a:rPr>
              <a:t>ISO17799</a:t>
            </a:r>
            <a:r>
              <a:rPr kumimoji="0" lang="zh-CN"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中的控制目标与控制措施来实施风险评估与建立组织的安全策略、措施等</a:t>
            </a:r>
            <a:r>
              <a:rPr kumimoji="0" lang="zh-CN" altLang="zh-CN"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在</a:t>
            </a:r>
            <a:r>
              <a:rPr kumimoji="0" lang="zh-CN"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等级测评过程中，测评依据</a:t>
            </a:r>
            <a:r>
              <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DB/T 171-2002</a:t>
            </a:r>
            <a:r>
              <a:rPr kumimoji="0" lang="zh-CN"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中的安全管理测评要求也来自于</a:t>
            </a:r>
            <a:r>
              <a:rPr kumimoji="0" lang="en-US" altLang="zh-CN" sz="2400" b="1" i="0" u="none" strike="noStrike" kern="0" cap="none" spc="0" normalizeH="0" baseline="0" noProof="0" dirty="0">
                <a:ln>
                  <a:noFill/>
                </a:ln>
                <a:solidFill>
                  <a:srgbClr val="FF0000"/>
                </a:solidFill>
                <a:effectLst/>
                <a:uLnTx/>
                <a:uFillTx/>
                <a:latin typeface="华文楷体" pitchFamily="2" charset="-122"/>
                <a:ea typeface="华文楷体" pitchFamily="2" charset="-122"/>
              </a:rPr>
              <a:t>ISO17799</a:t>
            </a:r>
            <a:r>
              <a:rPr kumimoji="0" lang="zh-CN"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rPr>
              <a:t>的各项安全控制目标与控制措施。</a:t>
            </a:r>
            <a:endParaRPr kumimoji="0" lang="en-US" altLang="zh-CN" sz="24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wipe(down)">
                                      <p:cBhvr>
                                        <p:cTn id="7" dur="5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wipe(down)">
                                      <p:cBhvr>
                                        <p:cTn id="12" dur="5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circle(in)">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circle(in)">
                                      <p:cBhvr>
                                        <p:cTn id="22"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609600" y="374650"/>
            <a:ext cx="7315200" cy="563563"/>
          </a:xfrm>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19459" name="内容占位符 2"/>
          <p:cNvSpPr>
            <a:spLocks noGrp="1" noChangeArrowheads="1"/>
          </p:cNvSpPr>
          <p:nvPr>
            <p:ph idx="1"/>
          </p:nvPr>
        </p:nvSpPr>
        <p:spPr>
          <a:xfrm>
            <a:off x="228600" y="914400"/>
            <a:ext cx="8686800" cy="54102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与等级保护的共同之处</a:t>
            </a:r>
            <a:endParaRPr kumimoji="0" lang="en-US" altLang="zh-CN" sz="32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0" marR="0" lvl="0" indent="360045" algn="l" defTabSz="914400" rtl="0" eaLnBrk="1" fontAlgn="base" latinLnBrk="0" hangingPunct="1">
              <a:lnSpc>
                <a:spcPct val="100000"/>
              </a:lnSpc>
              <a:spcBef>
                <a:spcPts val="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rPr>
              <a:t>二者的相互促进与补充关系</a:t>
            </a:r>
            <a:endParaRPr kumimoji="0" lang="en-US" altLang="zh-CN" sz="2800" b="1" i="0" u="none" strike="noStrike" kern="0" cap="none" spc="0" normalizeH="0" baseline="0" noProof="0" dirty="0" smtClean="0">
              <a:ln>
                <a:noFill/>
              </a:ln>
              <a:solidFill>
                <a:srgbClr val="000000"/>
              </a:solidFill>
              <a:effectLst/>
              <a:uLnTx/>
              <a:uFillTx/>
              <a:latin typeface="华文楷体" pitchFamily="2" charset="-122"/>
              <a:ea typeface="华文楷体" pitchFamily="2"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通过</a:t>
            </a:r>
            <a:r>
              <a:rPr kumimoji="0" lang="en-US"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建设实践与等级测评实践，建立</a:t>
            </a:r>
            <a:r>
              <a:rPr kumimoji="0" lang="en-US"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与信息系统的等级测评可以是相互促进与补充的作用</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ISO </a:t>
            </a:r>
            <a:r>
              <a:rPr kumimoji="0" lang="en-US"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17799</a:t>
            </a:r>
            <a:r>
              <a:rPr kumimoji="0" lang="zh-CN"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的控制措施包含了</a:t>
            </a:r>
            <a:r>
              <a:rPr kumimoji="0" lang="zh-CN" altLang="zh-CN" sz="2400" b="0" i="0" u="none" strike="noStrike" kern="0" cap="none" spc="0" normalizeH="0" baseline="0" noProof="0" dirty="0">
                <a:ln>
                  <a:noFill/>
                </a:ln>
                <a:solidFill>
                  <a:srgbClr val="FF0000"/>
                </a:solidFill>
                <a:effectLst/>
                <a:uLnTx/>
                <a:uFillTx/>
                <a:latin typeface="华文楷体" pitchFamily="2" charset="-122"/>
                <a:ea typeface="华文楷体" pitchFamily="2" charset="-122"/>
              </a:rPr>
              <a:t>等级保护安全管理方面</a:t>
            </a:r>
            <a:r>
              <a:rPr kumimoji="0" lang="zh-CN"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的绝大多数要求，</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而</a:t>
            </a: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实施</a:t>
            </a:r>
            <a:r>
              <a:rPr kumimoji="0" lang="zh-CN"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流程中风险控制措施的选择，结合信息系统确定的安全</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等级要求</a:t>
            </a:r>
            <a:r>
              <a:rPr kumimoji="0" lang="zh-CN"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，从等级保护相关标准中补充选择</a:t>
            </a:r>
            <a:r>
              <a:rPr kumimoji="0" lang="en-US"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ISO 17799</a:t>
            </a:r>
            <a:r>
              <a:rPr kumimoji="0" lang="zh-CN"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之外的控制措施，所以完全满足等级保护安全管理的要求</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充分体现了信息安全应</a:t>
            </a:r>
            <a:r>
              <a:rPr kumimoji="0" lang="zh-CN" altLang="zh-CN" sz="2400" b="0" i="0" u="none" strike="noStrike" kern="0" cap="none" spc="0" normalizeH="0" baseline="0" noProof="0" dirty="0">
                <a:ln>
                  <a:noFill/>
                </a:ln>
                <a:solidFill>
                  <a:srgbClr val="FF0000"/>
                </a:solidFill>
                <a:effectLst/>
                <a:uLnTx/>
                <a:uFillTx/>
                <a:latin typeface="华文楷体" pitchFamily="2" charset="-122"/>
                <a:ea typeface="华文楷体" pitchFamily="2" charset="-122"/>
              </a:rPr>
              <a:t>重视管理的思想</a:t>
            </a:r>
            <a:r>
              <a:rPr kumimoji="0" lang="zh-CN"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，只有做好安全管理工作，安全技术才能充分发挥</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作用</a:t>
            </a:r>
            <a:r>
              <a:rPr kumimoji="0" lang="zh-CN" altLang="en-US"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en-US" altLang="zh-CN" sz="2400" b="0"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wipe(down)">
                                      <p:cBhvr>
                                        <p:cTn id="7" dur="500"/>
                                        <p:tgtEl>
                                          <p:spTgt spid="19459">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wipe(down)">
                                      <p:cBhvr>
                                        <p:cTn id="10" dur="500"/>
                                        <p:tgtEl>
                                          <p:spTgt spid="194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animEffect transition="in" filter="circle(in)">
                                      <p:cBhvr>
                                        <p:cTn id="15" dur="2000"/>
                                        <p:tgtEl>
                                          <p:spTgt spid="1945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9459">
                                            <p:txEl>
                                              <p:pRg st="4" end="4"/>
                                            </p:txEl>
                                          </p:spTgt>
                                        </p:tgtEl>
                                        <p:attrNameLst>
                                          <p:attrName>style.visibility</p:attrName>
                                        </p:attrNameLst>
                                      </p:cBhvr>
                                      <p:to>
                                        <p:strVal val="visible"/>
                                      </p:to>
                                    </p:set>
                                    <p:animEffect transition="in" filter="wipe(down)">
                                      <p:cBhvr>
                                        <p:cTn id="20" dur="5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36867" name="内容占位符 2"/>
          <p:cNvSpPr>
            <a:spLocks noGrp="1"/>
          </p:cNvSpPr>
          <p:nvPr>
            <p:ph idx="1"/>
          </p:nvPr>
        </p:nvSpPr>
        <p:spPr>
          <a:xfrm>
            <a:off x="228600" y="1295400"/>
            <a:ext cx="8229600" cy="6019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与等级保护、等级测评的区别</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None/>
              <a:defRPr/>
            </a:pPr>
            <a:r>
              <a:rPr kumimoji="0" lang="zh-CN" altLang="en-US" sz="2800" b="0" i="0" u="none" strike="noStrike" kern="0" cap="none" spc="0" normalizeH="0" baseline="0" noProof="1" smtClean="0">
                <a:ln>
                  <a:noFill/>
                </a:ln>
                <a:solidFill>
                  <a:srgbClr val="000000"/>
                </a:solidFill>
                <a:effectLst/>
                <a:uLnTx/>
                <a:uFillTx/>
                <a:latin typeface="华文楷体" pitchFamily="2" charset="-122"/>
                <a:ea typeface="华文楷体" pitchFamily="2" charset="-122"/>
              </a:rPr>
              <a:t>二者的出发点和侧重点不同</a:t>
            </a:r>
            <a:endParaRPr kumimoji="0" lang="zh-CN" altLang="zh-CN" sz="3400" b="0" i="0" u="none" strike="noStrike" kern="0" cap="none" spc="0" normalizeH="0" baseline="0" noProof="1" smtClean="0">
              <a:ln>
                <a:noFill/>
              </a:ln>
              <a:solidFill>
                <a:schemeClr val="tx1"/>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等级保护制度重点在于如何</a:t>
            </a:r>
            <a:r>
              <a:rPr kumimoji="0" lang="zh-CN"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利用现有资源</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使重要的信息系统</a:t>
            </a:r>
            <a:r>
              <a:rPr kumimoji="0" lang="zh-CN" altLang="en-US"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得以</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保护，主要体现了</a:t>
            </a:r>
            <a:r>
              <a:rPr kumimoji="0" lang="zh-CN"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分类分级</a:t>
            </a:r>
            <a:r>
              <a:rPr kumimoji="0" lang="zh-CN" altLang="en-US"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a:t>
            </a:r>
            <a:r>
              <a:rPr kumimoji="0" lang="zh-CN"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重点保护</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的思想。</a:t>
            </a: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主要是从安全管理的角度出发，</a:t>
            </a:r>
            <a:r>
              <a:rPr kumimoji="0" lang="zh-CN" altLang="en-US"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在组织内部建立</a:t>
            </a:r>
            <a:r>
              <a:rPr kumimoji="0" lang="en-US" altLang="zh-CN" sz="2400" b="0" i="0" u="none" strike="noStrike" kern="0" cap="none" spc="0" normalizeH="0" baseline="0" noProof="0" dirty="0" err="1" smtClean="0">
                <a:ln>
                  <a:noFill/>
                </a:ln>
                <a:solidFill>
                  <a:srgbClr val="000000"/>
                </a:solidFill>
                <a:effectLst/>
                <a:uLnTx/>
                <a:uFillTx/>
                <a:latin typeface="华文楷体" pitchFamily="2" charset="-122"/>
                <a:ea typeface="华文楷体" pitchFamily="2" charset="-122"/>
              </a:rPr>
              <a:t>ISMS，以保护组织的信息资产</a:t>
            </a: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重点在于在组织或其特定范围内建立信息安全方针、政策，安全管理制度和安全管理组织，并使其得以有效落实，主要是体现了安全管理的作用和重要性。</a:t>
            </a:r>
            <a:endPar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endParaRPr kumimoji="0" lang="en-US" altLang="zh-CN" sz="2400" b="1" i="0" u="none" strike="noStrike" kern="0" cap="none" spc="0" normalizeH="0" baseline="0" noProof="1"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endParaRPr kumimoji="0" lang="en-US" altLang="zh-CN" sz="2800" b="1" i="0" u="none" strike="noStrike" kern="0" cap="none" spc="0" normalizeH="0" baseline="0" noProof="1" smtClean="0">
              <a:ln>
                <a:noFill/>
              </a:ln>
              <a:solidFill>
                <a:schemeClr val="tx1"/>
              </a:solidFill>
              <a:effectLst/>
              <a:uLnTx/>
              <a:uFillTx/>
              <a:latin typeface="+mn-lt"/>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endParaRPr kumimoji="0" lang="en-US" altLang="zh-CN" sz="28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animEffect transition="in" filter="fade">
                                      <p:cBhvr>
                                        <p:cTn id="7" dur="1000"/>
                                        <p:tgtEl>
                                          <p:spTgt spid="36867">
                                            <p:txEl>
                                              <p:pRg st="1" end="1"/>
                                            </p:txEl>
                                          </p:spTgt>
                                        </p:tgtEl>
                                      </p:cBhvr>
                                    </p:animEffect>
                                    <p:anim calcmode="lin" valueType="num">
                                      <p:cBhvr>
                                        <p:cTn id="8" dur="10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686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6867">
                                            <p:txEl>
                                              <p:pRg st="2" end="2"/>
                                            </p:txEl>
                                          </p:spTgt>
                                        </p:tgtEl>
                                        <p:attrNameLst>
                                          <p:attrName>style.visibility</p:attrName>
                                        </p:attrNameLst>
                                      </p:cBhvr>
                                      <p:to>
                                        <p:strVal val="visible"/>
                                      </p:to>
                                    </p:set>
                                    <p:animEffect transition="in" filter="wipe(down)">
                                      <p:cBhvr>
                                        <p:cTn id="14" dur="500"/>
                                        <p:tgtEl>
                                          <p:spTgt spid="36867">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animEffect transition="in" filter="circle(in)">
                                      <p:cBhvr>
                                        <p:cTn id="19" dur="2000"/>
                                        <p:tgtEl>
                                          <p:spTgt spid="368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28675" name="内容占位符 2"/>
          <p:cNvSpPr>
            <a:spLocks noGrp="1"/>
          </p:cNvSpPr>
          <p:nvPr>
            <p:ph idx="1"/>
          </p:nvPr>
        </p:nvSpPr>
        <p:spPr>
          <a:xfrm>
            <a:off x="228600" y="914400"/>
            <a:ext cx="8229600" cy="60198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与等级保护、等级测评的区别</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None/>
              <a:defRPr/>
            </a:pPr>
            <a:r>
              <a:rPr kumimoji="0" lang="zh-CN" altLang="en-US" sz="2800" b="0" i="0" u="none" strike="noStrike" kern="0" cap="none" spc="0" normalizeH="0" baseline="0" noProof="1" smtClean="0">
                <a:ln>
                  <a:noFill/>
                </a:ln>
                <a:solidFill>
                  <a:srgbClr val="000000"/>
                </a:solidFill>
                <a:effectLst/>
                <a:uLnTx/>
                <a:uFillTx/>
                <a:latin typeface="华文楷体" pitchFamily="2" charset="-122"/>
                <a:ea typeface="华文楷体" pitchFamily="2" charset="-122"/>
              </a:rPr>
              <a:t>二者的实施依据不同</a:t>
            </a:r>
            <a:endParaRPr kumimoji="0" lang="zh-CN" altLang="zh-CN" sz="2800" b="0" i="0" u="none" strike="noStrike" kern="0" cap="none" spc="0" normalizeH="0" baseline="0" noProof="1"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en-US"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体系建设的直接</a:t>
            </a:r>
            <a:r>
              <a:rPr kumimoji="0" lang="zh-CN" altLang="zh-CN" sz="2000" b="0" i="0" u="none" strike="noStrike" kern="0" cap="none" spc="0" normalizeH="0" baseline="0" noProof="0" dirty="0">
                <a:ln>
                  <a:noFill/>
                </a:ln>
                <a:solidFill>
                  <a:srgbClr val="FF0000"/>
                </a:solidFill>
                <a:effectLst/>
                <a:uLnTx/>
                <a:uFillTx/>
                <a:latin typeface="华文楷体" pitchFamily="2" charset="-122"/>
                <a:ea typeface="华文楷体" pitchFamily="2" charset="-122"/>
              </a:rPr>
              <a:t>标准依据是</a:t>
            </a:r>
            <a:r>
              <a:rPr kumimoji="0" lang="en-US" altLang="zh-CN" sz="2000" b="0" i="0" u="none" strike="noStrike" kern="0" cap="none" spc="0" normalizeH="0" baseline="0" noProof="0" dirty="0">
                <a:ln>
                  <a:noFill/>
                </a:ln>
                <a:solidFill>
                  <a:srgbClr val="FF0000"/>
                </a:solidFill>
                <a:effectLst/>
                <a:uLnTx/>
                <a:uFillTx/>
                <a:latin typeface="华文楷体" pitchFamily="2" charset="-122"/>
                <a:ea typeface="华文楷体" pitchFamily="2" charset="-122"/>
              </a:rPr>
              <a:t>ISO 27001</a:t>
            </a:r>
            <a:r>
              <a:rPr kumimoji="0" lang="zh-CN" altLang="zh-CN" sz="2000" b="0" i="0" u="none" strike="noStrike" kern="0" cap="none" spc="0" normalizeH="0" baseline="0" noProof="0" dirty="0">
                <a:ln>
                  <a:noFill/>
                </a:ln>
                <a:solidFill>
                  <a:srgbClr val="FF0000"/>
                </a:solidFill>
                <a:effectLst/>
                <a:uLnTx/>
                <a:uFillTx/>
                <a:latin typeface="华文楷体" pitchFamily="2" charset="-122"/>
                <a:ea typeface="华文楷体" pitchFamily="2" charset="-122"/>
              </a:rPr>
              <a:t>《信息安全管理体系 要求》</a:t>
            </a:r>
            <a:r>
              <a:rPr kumimoji="0" lang="zh-CN"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，其中详细规定了实施</a:t>
            </a:r>
            <a:r>
              <a:rPr kumimoji="0" lang="en-US"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的完整过程与模型。在实施</a:t>
            </a:r>
            <a:r>
              <a:rPr kumimoji="0" lang="en-US"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ISMS</a:t>
            </a:r>
            <a:r>
              <a:rPr kumimoji="0" lang="zh-CN"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的过程中，间接使用的标准是</a:t>
            </a:r>
            <a:r>
              <a:rPr kumimoji="0" lang="en-US"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ISO17799</a:t>
            </a:r>
            <a:r>
              <a:rPr kumimoji="0" lang="zh-CN"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《信息安全管理实用规则》，其中详细地介绍了信息安全管理要求的安全控制措施，为建立组织的安全目标与措施提供依据。</a:t>
            </a: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zh-CN"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等级测评主要是为验证信息系统是否达到某一个安全等级的要求，针对电子政务系统而言，不同地区可以根据各自的实际安全需要，制订适合本地区的系统测评规范。对北京市各政府机关的电子政务系统而言，其测评依据是</a:t>
            </a:r>
            <a:r>
              <a:rPr kumimoji="0" lang="en-US" altLang="zh-CN" sz="2000" b="0" i="0" u="none" strike="noStrike" kern="0" cap="none" spc="0" normalizeH="0" baseline="0" noProof="0" dirty="0">
                <a:ln>
                  <a:noFill/>
                </a:ln>
                <a:solidFill>
                  <a:srgbClr val="FF0000"/>
                </a:solidFill>
                <a:effectLst/>
                <a:uLnTx/>
                <a:uFillTx/>
                <a:latin typeface="华文楷体" pitchFamily="2" charset="-122"/>
                <a:ea typeface="华文楷体" pitchFamily="2" charset="-122"/>
              </a:rPr>
              <a:t>DB11/T 171-2002</a:t>
            </a:r>
            <a:r>
              <a:rPr kumimoji="0" lang="zh-CN" altLang="zh-CN" sz="2000" b="0" i="0" u="none" strike="noStrike" kern="0" cap="none" spc="0" normalizeH="0" baseline="0" noProof="0" dirty="0">
                <a:ln>
                  <a:noFill/>
                </a:ln>
                <a:solidFill>
                  <a:srgbClr val="FF0000"/>
                </a:solidFill>
                <a:effectLst/>
                <a:uLnTx/>
                <a:uFillTx/>
                <a:latin typeface="华文楷体" pitchFamily="2" charset="-122"/>
                <a:ea typeface="华文楷体" pitchFamily="2" charset="-122"/>
              </a:rPr>
              <a:t>《党政机关信息系统安全测评规范》</a:t>
            </a:r>
            <a:r>
              <a:rPr kumimoji="0" lang="zh-CN"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（北京市地方标准）。</a:t>
            </a: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zh-CN" altLang="zh-CN" sz="2000" b="0" i="0" u="none" strike="noStrike" kern="0" cap="none" spc="0" normalizeH="0" baseline="0" noProof="0" dirty="0">
                <a:ln>
                  <a:noFill/>
                </a:ln>
                <a:solidFill>
                  <a:schemeClr val="tx1">
                    <a:lumMod val="60000"/>
                    <a:lumOff val="40000"/>
                  </a:schemeClr>
                </a:solidFill>
                <a:effectLst/>
                <a:uLnTx/>
                <a:uFillTx/>
                <a:latin typeface="华文楷体" pitchFamily="2" charset="-122"/>
                <a:ea typeface="华文楷体" pitchFamily="2" charset="-122"/>
              </a:rPr>
              <a:t>等级测评的实施，直接体现国家对党政机关开展等级保护的思想。</a:t>
            </a:r>
            <a:r>
              <a:rPr kumimoji="0" lang="zh-CN"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而等级保护的国家标准依据是</a:t>
            </a:r>
            <a:r>
              <a:rPr kumimoji="0" lang="en-US"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GB 17859-1999</a:t>
            </a:r>
            <a:r>
              <a:rPr kumimoji="0" lang="zh-CN" altLang="zh-CN" sz="2000" b="0" i="0" u="none" strike="noStrike" kern="0" cap="none" spc="0" normalizeH="0" baseline="0" noProof="0" dirty="0">
                <a:ln>
                  <a:noFill/>
                </a:ln>
                <a:solidFill>
                  <a:srgbClr val="000000"/>
                </a:solidFill>
                <a:effectLst/>
                <a:uLnTx/>
                <a:uFillTx/>
                <a:latin typeface="华文楷体" pitchFamily="2" charset="-122"/>
                <a:ea typeface="华文楷体" pitchFamily="2" charset="-122"/>
              </a:rPr>
              <a:t>《计算机信息系统安全保护等级划分准则》。</a:t>
            </a:r>
            <a:endParaRPr kumimoji="0" lang="zh-CN" altLang="zh-CN" sz="2000" b="0" i="0" u="none" strike="noStrike" kern="0" cap="none" spc="0" normalizeH="0" baseline="0" noProof="1">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endParaRPr kumimoji="0" lang="zh-CN" altLang="zh-CN" sz="2800" b="1" i="0" u="none" strike="noStrike" kern="0" cap="none" spc="0" normalizeH="0" baseline="0" noProof="1" smtClean="0">
              <a:ln>
                <a:noFill/>
              </a:ln>
              <a:solidFill>
                <a:schemeClr val="tx1"/>
              </a:solidFill>
              <a:effectLst/>
              <a:uLnTx/>
              <a:uFillTx/>
              <a:latin typeface="+mn-lt"/>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endParaRPr kumimoji="0" lang="zh-CN" altLang="zh-CN" sz="28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animEffect transition="in" filter="fade">
                                      <p:cBhvr>
                                        <p:cTn id="7" dur="1000"/>
                                        <p:tgtEl>
                                          <p:spTgt spid="28675">
                                            <p:txEl>
                                              <p:pRg st="1" end="1"/>
                                            </p:txEl>
                                          </p:spTgt>
                                        </p:tgtEl>
                                      </p:cBhvr>
                                    </p:animEffect>
                                    <p:anim calcmode="lin" valueType="num">
                                      <p:cBhvr>
                                        <p:cTn id="8" dur="10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867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8675">
                                            <p:txEl>
                                              <p:pRg st="2" end="2"/>
                                            </p:txEl>
                                          </p:spTgt>
                                        </p:tgtEl>
                                        <p:attrNameLst>
                                          <p:attrName>style.visibility</p:attrName>
                                        </p:attrNameLst>
                                      </p:cBhvr>
                                      <p:to>
                                        <p:strVal val="visible"/>
                                      </p:to>
                                    </p:set>
                                    <p:animEffect transition="in" filter="wipe(down)">
                                      <p:cBhvr>
                                        <p:cTn id="14" dur="500"/>
                                        <p:tgtEl>
                                          <p:spTgt spid="28675">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8675">
                                            <p:txEl>
                                              <p:pRg st="3" end="3"/>
                                            </p:txEl>
                                          </p:spTgt>
                                        </p:tgtEl>
                                        <p:attrNameLst>
                                          <p:attrName>style.visibility</p:attrName>
                                        </p:attrNameLst>
                                      </p:cBhvr>
                                      <p:to>
                                        <p:strVal val="visible"/>
                                      </p:to>
                                    </p:set>
                                    <p:animEffect transition="in" filter="wipe(down)">
                                      <p:cBhvr>
                                        <p:cTn id="19" dur="500"/>
                                        <p:tgtEl>
                                          <p:spTgt spid="28675">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28675">
                                            <p:txEl>
                                              <p:pRg st="4" end="4"/>
                                            </p:txEl>
                                          </p:spTgt>
                                        </p:tgtEl>
                                        <p:attrNameLst>
                                          <p:attrName>style.visibility</p:attrName>
                                        </p:attrNameLst>
                                      </p:cBhvr>
                                      <p:to>
                                        <p:strVal val="visible"/>
                                      </p:to>
                                    </p:set>
                                    <p:animEffect transition="in" filter="circle(in)">
                                      <p:cBhvr>
                                        <p:cTn id="24" dur="2000"/>
                                        <p:tgtEl>
                                          <p:spTgt spid="286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38915" name="内容占位符 2"/>
          <p:cNvSpPr>
            <a:spLocks noGrp="1"/>
          </p:cNvSpPr>
          <p:nvPr>
            <p:ph idx="1"/>
          </p:nvPr>
        </p:nvSpPr>
        <p:spPr>
          <a:xfrm>
            <a:off x="228600" y="914400"/>
            <a:ext cx="8229600" cy="60198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与等级保护、等级测评的区别</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None/>
              <a:defRPr/>
            </a:pPr>
            <a:r>
              <a:rPr kumimoji="0" lang="zh-CN" altLang="en-US" sz="2800" b="0" i="0" u="none" strike="noStrike" kern="0" cap="none" spc="0" normalizeH="0" baseline="0" noProof="1" smtClean="0">
                <a:ln>
                  <a:noFill/>
                </a:ln>
                <a:solidFill>
                  <a:srgbClr val="000000"/>
                </a:solidFill>
                <a:effectLst/>
                <a:uLnTx/>
                <a:uFillTx/>
                <a:latin typeface="华文楷体" pitchFamily="2" charset="-122"/>
                <a:ea typeface="华文楷体" pitchFamily="2" charset="-122"/>
              </a:rPr>
              <a:t>二者的实施主体不同</a:t>
            </a:r>
            <a:endParaRPr kumimoji="0" lang="zh-CN" altLang="zh-CN" sz="2800" b="0" i="0" u="none" strike="noStrike" kern="0" cap="none" spc="0" normalizeH="0" baseline="0" noProof="1"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体系的建设主体，主要是</a:t>
            </a:r>
            <a:r>
              <a:rPr kumimoji="0" lang="zh-CN"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各企业组织</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为维护本组织的信息安全，出于自身的安全需要，主动地建立适合本组织需要的信息安全管理体系，从而保障本组织的信息安全。或者由具有安全服务资质的信息安全服务公司来帮助企业建立适当的</a:t>
            </a: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等级测评的主体是经过国家认可的</a:t>
            </a:r>
            <a:r>
              <a:rPr kumimoji="0" lang="zh-CN"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信息安全测评认证</a:t>
            </a:r>
            <a:r>
              <a:rPr kumimoji="0" lang="zh-CN" altLang="en-US"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机构</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，如北京市信息安全测评认证中心。测评认证组织按照</a:t>
            </a: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DB11/T 171-2002</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的要求进行测评认证工作。</a:t>
            </a:r>
            <a:endParaRPr kumimoji="0" lang="zh-CN" altLang="zh-CN" sz="2400" b="0" i="0" u="none" strike="noStrike" kern="0" cap="none" spc="0" normalizeH="0" baseline="0" noProof="1"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endParaRPr kumimoji="0" lang="zh-CN" altLang="zh-CN" sz="2800" b="1" i="0" u="none" strike="noStrike" kern="0" cap="none" spc="0" normalizeH="0" baseline="0" noProof="1" smtClean="0">
              <a:ln>
                <a:noFill/>
              </a:ln>
              <a:solidFill>
                <a:schemeClr val="tx1"/>
              </a:solidFill>
              <a:effectLst/>
              <a:uLnTx/>
              <a:uFillTx/>
              <a:latin typeface="+mn-lt"/>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endParaRPr kumimoji="0" lang="zh-CN" altLang="zh-CN" sz="28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anim calcmode="lin" valueType="num">
                                      <p:cBhvr additive="base">
                                        <p:cTn id="7" dur="500" fill="hold"/>
                                        <p:tgtEl>
                                          <p:spTgt spid="389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8915">
                                            <p:txEl>
                                              <p:pRg st="2" end="2"/>
                                            </p:txEl>
                                          </p:spTgt>
                                        </p:tgtEl>
                                        <p:attrNameLst>
                                          <p:attrName>style.visibility</p:attrName>
                                        </p:attrNameLst>
                                      </p:cBhvr>
                                      <p:to>
                                        <p:strVal val="visible"/>
                                      </p:to>
                                    </p:set>
                                    <p:animEffect transition="in" filter="barn(inVertical)">
                                      <p:cBhvr>
                                        <p:cTn id="13" dur="500"/>
                                        <p:tgtEl>
                                          <p:spTgt spid="3891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8915">
                                            <p:txEl>
                                              <p:pRg st="3" end="3"/>
                                            </p:txEl>
                                          </p:spTgt>
                                        </p:tgtEl>
                                        <p:attrNameLst>
                                          <p:attrName>style.visibility</p:attrName>
                                        </p:attrNameLst>
                                      </p:cBhvr>
                                      <p:to>
                                        <p:strVal val="visible"/>
                                      </p:to>
                                    </p:set>
                                    <p:animEffect transition="in" filter="wipe(down)">
                                      <p:cBhvr>
                                        <p:cTn id="18" dur="500"/>
                                        <p:tgtEl>
                                          <p:spTgt spid="389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39939" name="内容占位符 2"/>
          <p:cNvSpPr>
            <a:spLocks noGrp="1"/>
          </p:cNvSpPr>
          <p:nvPr>
            <p:ph idx="1"/>
          </p:nvPr>
        </p:nvSpPr>
        <p:spPr>
          <a:xfrm>
            <a:off x="228600" y="914400"/>
            <a:ext cx="8229600" cy="60198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与等级保护、等级测评的区别</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None/>
              <a:defRPr/>
            </a:pPr>
            <a:r>
              <a:rPr kumimoji="0" lang="zh-CN" altLang="en-US" sz="2800" b="0" i="0" u="none" strike="noStrike" kern="0" cap="none" spc="0" normalizeH="0" baseline="0" noProof="1" smtClean="0">
                <a:ln>
                  <a:noFill/>
                </a:ln>
                <a:solidFill>
                  <a:srgbClr val="000000"/>
                </a:solidFill>
                <a:effectLst/>
                <a:uLnTx/>
                <a:uFillTx/>
                <a:latin typeface="华文楷体" pitchFamily="2" charset="-122"/>
                <a:ea typeface="华文楷体" pitchFamily="2" charset="-122"/>
              </a:rPr>
              <a:t>二者的实施对象不同</a:t>
            </a:r>
            <a:endParaRPr kumimoji="0" lang="zh-CN" altLang="zh-CN" sz="2800" b="0" i="0" u="none" strike="noStrike" kern="0" cap="none" spc="0" normalizeH="0" baseline="0" noProof="1"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体系的实施对象，主要是对</a:t>
            </a:r>
            <a:r>
              <a:rPr kumimoji="0" lang="zh-CN"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各企业单位</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，随着国家</a:t>
            </a: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体系建设的不断推进，在</a:t>
            </a: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体系经验成熟之后，必然会将</a:t>
            </a: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体系建设的工作推广到不同的领域</a:t>
            </a:r>
            <a:r>
              <a:rPr kumimoji="0" lang="zh-CN" altLang="en-US" sz="2400" b="0" i="0" u="none" strike="noStrike" kern="0" cap="none" spc="0" normalizeH="0" baseline="0" noProof="0" dirty="0">
                <a:ln>
                  <a:noFill/>
                </a:ln>
                <a:solidFill>
                  <a:srgbClr val="000000"/>
                </a:solidFill>
                <a:effectLst/>
                <a:uLnTx/>
                <a:uFillTx/>
                <a:latin typeface="华文楷体" pitchFamily="2" charset="-122"/>
                <a:ea typeface="华文楷体" pitchFamily="2" charset="-122"/>
              </a:rPr>
              <a:t>。</a:t>
            </a:r>
            <a:endPar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等级测评的实施对象，主要是有</a:t>
            </a:r>
            <a:r>
              <a:rPr kumimoji="0" lang="zh-CN"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信息系统等级要求的各级党政机关等政府部门</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。因为信息系统的测评是根据国家实施等级保护的要求，在电子政务领域实施信息化建设的需要，通过实施对各级政府机关的信息系统测评，促进其信息化程度，提高政府机关人员的等级保护意识。</a:t>
            </a:r>
            <a:endParaRPr kumimoji="0" lang="zh-CN" altLang="zh-CN" sz="2400" b="0" i="0" u="none" strike="noStrike" kern="0" cap="none" spc="0" normalizeH="0" baseline="0" noProof="1"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endParaRPr kumimoji="0" lang="zh-CN" altLang="zh-CN" sz="2800" b="1" i="0" u="none" strike="noStrike" kern="0" cap="none" spc="0" normalizeH="0" baseline="0" noProof="1" smtClean="0">
              <a:ln>
                <a:noFill/>
              </a:ln>
              <a:solidFill>
                <a:schemeClr val="tx1"/>
              </a:solidFill>
              <a:effectLst/>
              <a:uLnTx/>
              <a:uFillTx/>
              <a:latin typeface="+mn-lt"/>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endParaRPr kumimoji="0" lang="zh-CN" altLang="zh-CN" sz="28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anim calcmode="lin" valueType="num">
                                      <p:cBhvr additive="base">
                                        <p:cTn id="7" dur="5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9939">
                                            <p:txEl>
                                              <p:pRg st="2" end="2"/>
                                            </p:txEl>
                                          </p:spTgt>
                                        </p:tgtEl>
                                        <p:attrNameLst>
                                          <p:attrName>style.visibility</p:attrName>
                                        </p:attrNameLst>
                                      </p:cBhvr>
                                      <p:to>
                                        <p:strVal val="visible"/>
                                      </p:to>
                                    </p:set>
                                    <p:animEffect transition="in" filter="wipe(down)">
                                      <p:cBhvr>
                                        <p:cTn id="13" dur="500"/>
                                        <p:tgtEl>
                                          <p:spTgt spid="3993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9939">
                                            <p:txEl>
                                              <p:pRg st="3" end="3"/>
                                            </p:txEl>
                                          </p:spTgt>
                                        </p:tgtEl>
                                        <p:attrNameLst>
                                          <p:attrName>style.visibility</p:attrName>
                                        </p:attrNameLst>
                                      </p:cBhvr>
                                      <p:to>
                                        <p:strVal val="visible"/>
                                      </p:to>
                                    </p:set>
                                    <p:animEffect transition="in" filter="wipe(down)">
                                      <p:cBhvr>
                                        <p:cTn id="18" dur="500"/>
                                        <p:tgtEl>
                                          <p:spTgt spid="39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40963" name="内容占位符 2"/>
          <p:cNvSpPr>
            <a:spLocks noGrp="1"/>
          </p:cNvSpPr>
          <p:nvPr>
            <p:ph idx="1"/>
          </p:nvPr>
        </p:nvSpPr>
        <p:spPr>
          <a:xfrm>
            <a:off x="228600" y="914400"/>
            <a:ext cx="8610600" cy="60198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与等级保护、等级测评的区别</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None/>
              <a:defRPr/>
            </a:pPr>
            <a:r>
              <a:rPr kumimoji="0" lang="zh-CN" altLang="en-US" sz="2800" b="0" i="0" u="none" strike="noStrike" kern="0" cap="none" spc="0" normalizeH="0" baseline="0" noProof="1" smtClean="0">
                <a:ln>
                  <a:noFill/>
                </a:ln>
                <a:solidFill>
                  <a:srgbClr val="000000"/>
                </a:solidFill>
                <a:effectLst/>
                <a:uLnTx/>
                <a:uFillTx/>
                <a:latin typeface="华文楷体" pitchFamily="2" charset="-122"/>
                <a:ea typeface="华文楷体" pitchFamily="2" charset="-122"/>
              </a:rPr>
              <a:t>二者的实施过程不同</a:t>
            </a:r>
            <a:endParaRPr kumimoji="0" lang="zh-CN" altLang="zh-CN" sz="2800" b="0" i="0" u="none" strike="noStrike" kern="0" cap="none" spc="0" normalizeH="0" baseline="0" noProof="1"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Pct val="90000"/>
              <a:buFont typeface="Wingdings" panose="05000000000000000000" pitchFamily="2" charset="2"/>
              <a:buChar char="§"/>
              <a:defRPr/>
            </a:pP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等级保护制度的完整实施过程是</a:t>
            </a:r>
            <a:r>
              <a:rPr kumimoji="0" lang="zh-CN"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贯穿信息系统的整个生命周期</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r>
              <a:rPr kumimoji="0" lang="zh-CN" altLang="zh-CN" sz="20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对于新建信息系统，从信息系统建设项目启动阶段确定其安全保护等级，到运行维护阶段进行等级保护安全运行维护管理；对于已建信息系统，等级保护的系统定级、安全规划设计、安全实施和安全运行维护管理等过程都是在系统运行维护阶段完成。</a:t>
            </a:r>
            <a:endParaRPr kumimoji="0" lang="en-US" altLang="zh-CN" sz="20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Pct val="90000"/>
              <a:buFont typeface="Wingdings" panose="05000000000000000000" pitchFamily="2" charset="2"/>
              <a:buChar char="§"/>
              <a:defRPr/>
            </a:pP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的完整实施过程是</a:t>
            </a:r>
            <a:r>
              <a:rPr kumimoji="0" lang="zh-CN"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贯穿组织或组织某一特定范围的管理体系的整个生命周期</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r>
              <a:rPr kumimoji="0" lang="zh-CN" altLang="zh-CN" sz="20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可以与组织或组织某一特定范围的管理体系同步进行，也可以在其管理体系已建设完成的基础上进行。总之，</a:t>
            </a:r>
            <a:r>
              <a:rPr kumimoji="0" lang="en-US" altLang="zh-CN" sz="20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0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可以作为管理体系的一部分，利用风险分析的方法来建立、实施、运行、监视、评审、保持和改进组织的信息安全管理体系，保障组织的信息安全</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a:t>
            </a:r>
            <a:endParaRPr kumimoji="0" lang="zh-CN" altLang="zh-CN" sz="2400" b="0" i="0" u="none" strike="noStrike" kern="0" cap="none" spc="0" normalizeH="0" baseline="0" noProof="1"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endParaRPr kumimoji="0" lang="zh-CN" altLang="zh-CN" sz="2800" b="1" i="0" u="none" strike="noStrike" kern="0" cap="none" spc="0" normalizeH="0" baseline="0" noProof="1" smtClean="0">
              <a:ln>
                <a:noFill/>
              </a:ln>
              <a:solidFill>
                <a:schemeClr val="tx1"/>
              </a:solidFill>
              <a:effectLst/>
              <a:uLnTx/>
              <a:uFillTx/>
              <a:latin typeface="+mn-lt"/>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endParaRPr kumimoji="0" lang="zh-CN" altLang="zh-CN" sz="2800" b="1" i="0" u="none" strike="noStrike" kern="0" cap="none" spc="0" normalizeH="0" baseline="0" noProof="1" smtClean="0">
              <a:ln>
                <a:noFill/>
              </a:ln>
              <a:solidFill>
                <a:srgbClr val="000000"/>
              </a:solidFill>
              <a:effectLst/>
              <a:uLnTx/>
              <a:uFillTx/>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anim calcmode="lin" valueType="num">
                                      <p:cBhvr additive="base">
                                        <p:cTn id="7" dur="5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40963">
                                            <p:txEl>
                                              <p:pRg st="2" end="2"/>
                                            </p:txEl>
                                          </p:spTgt>
                                        </p:tgtEl>
                                        <p:attrNameLst>
                                          <p:attrName>style.visibility</p:attrName>
                                        </p:attrNameLst>
                                      </p:cBhvr>
                                      <p:to>
                                        <p:strVal val="visible"/>
                                      </p:to>
                                    </p:set>
                                    <p:animEffect transition="in" filter="barn(inVertical)">
                                      <p:cBhvr>
                                        <p:cTn id="13" dur="500"/>
                                        <p:tgtEl>
                                          <p:spTgt spid="4096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40963">
                                            <p:txEl>
                                              <p:pRg st="3" end="3"/>
                                            </p:txEl>
                                          </p:spTgt>
                                        </p:tgtEl>
                                        <p:attrNameLst>
                                          <p:attrName>style.visibility</p:attrName>
                                        </p:attrNameLst>
                                      </p:cBhvr>
                                      <p:to>
                                        <p:strVal val="visible"/>
                                      </p:to>
                                    </p:set>
                                    <p:animEffect transition="in" filter="circle(in)">
                                      <p:cBhvr>
                                        <p:cTn id="18" dur="2000"/>
                                        <p:tgtEl>
                                          <p:spTgt spid="409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41987" name="内容占位符 2"/>
          <p:cNvSpPr>
            <a:spLocks noGrp="1"/>
          </p:cNvSpPr>
          <p:nvPr>
            <p:ph idx="1"/>
          </p:nvPr>
        </p:nvSpPr>
        <p:spPr>
          <a:xfrm>
            <a:off x="228600" y="914400"/>
            <a:ext cx="8229600" cy="60198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与等级保护、等级测评的区别</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None/>
              <a:defRPr/>
            </a:pPr>
            <a:r>
              <a:rPr kumimoji="0" lang="zh-CN" altLang="en-US" sz="2800" b="0" i="0" u="none" strike="noStrike" kern="0" cap="none" spc="0" normalizeH="0" baseline="0" noProof="1" smtClean="0">
                <a:ln>
                  <a:noFill/>
                </a:ln>
                <a:solidFill>
                  <a:srgbClr val="000000"/>
                </a:solidFill>
                <a:effectLst/>
                <a:uLnTx/>
                <a:uFillTx/>
                <a:latin typeface="华文楷体" pitchFamily="2" charset="-122"/>
                <a:ea typeface="华文楷体" pitchFamily="2" charset="-122"/>
              </a:rPr>
              <a:t>二者的结果不同</a:t>
            </a:r>
            <a:endParaRPr kumimoji="0" lang="zh-CN" altLang="zh-CN" sz="2800" b="0" i="0" u="none" strike="noStrike" kern="0" cap="none" spc="0" normalizeH="0" baseline="0" noProof="1"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Pct val="90000"/>
              <a:buFont typeface="Wingdings" panose="05000000000000000000" pitchFamily="2" charset="2"/>
              <a:buChar char="§"/>
              <a:defRPr/>
            </a:pP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建设的结果是为组织</a:t>
            </a:r>
            <a:r>
              <a:rPr kumimoji="0" lang="zh-CN"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建立一整套</a:t>
            </a:r>
            <a:r>
              <a:rPr kumimoji="0" lang="en-US"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的体系文件</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，通过在组织的日常业务过程中加以实施，不过的改进，从而有力地加强对本组织的信息安全。</a:t>
            </a:r>
            <a:endPar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1" fontAlgn="base" latinLnBrk="0" hangingPunct="1">
              <a:lnSpc>
                <a:spcPct val="100000"/>
              </a:lnSpc>
              <a:spcBef>
                <a:spcPts val="600"/>
              </a:spcBef>
              <a:spcAft>
                <a:spcPct val="0"/>
              </a:spcAft>
              <a:buClr>
                <a:schemeClr val="accent1"/>
              </a:buClr>
              <a:buSzPct val="90000"/>
              <a:buFont typeface="Wingdings" panose="05000000000000000000" pitchFamily="2" charset="2"/>
              <a:buChar char="§"/>
              <a:defRPr/>
            </a:pP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类似于</a:t>
            </a: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ISO9001</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体系认证，组织也可以申请</a:t>
            </a:r>
            <a:r>
              <a:rPr kumimoji="0" lang="en-US"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ISMS</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体系方面的国际认证，从而证明组织的安全达到了体系的要求。</a:t>
            </a:r>
          </a:p>
          <a:p>
            <a:pPr marL="742950" marR="0" lvl="1" indent="-285750" algn="l" defTabSz="914400" rtl="0" eaLnBrk="1" fontAlgn="base" latinLnBrk="0" hangingPunct="1">
              <a:lnSpc>
                <a:spcPct val="100000"/>
              </a:lnSpc>
              <a:spcBef>
                <a:spcPts val="600"/>
              </a:spcBef>
              <a:spcAft>
                <a:spcPct val="0"/>
              </a:spcAft>
              <a:buClr>
                <a:schemeClr val="accent1"/>
              </a:buClr>
              <a:buSzPct val="90000"/>
              <a:buFont typeface="Wingdings" panose="05000000000000000000" pitchFamily="2" charset="2"/>
              <a:buChar char="§"/>
              <a:defRPr/>
            </a:pP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等级测评的结果是</a:t>
            </a:r>
            <a:r>
              <a:rPr kumimoji="0" lang="zh-CN" altLang="zh-CN" sz="2400" b="0" i="0" u="none" strike="noStrike" kern="0" cap="none" spc="0" normalizeH="0" baseline="0" noProof="0" dirty="0" smtClean="0">
                <a:ln>
                  <a:noFill/>
                </a:ln>
                <a:solidFill>
                  <a:srgbClr val="FF0000"/>
                </a:solidFill>
                <a:effectLst/>
                <a:uLnTx/>
                <a:uFillTx/>
                <a:latin typeface="华文楷体" pitchFamily="2" charset="-122"/>
                <a:ea typeface="华文楷体" pitchFamily="2" charset="-122"/>
              </a:rPr>
              <a:t>给出被测评对象是否达到声明的安全等级的要求</a:t>
            </a:r>
            <a:r>
              <a:rPr kumimoji="0" lang="zh-CN" altLang="zh-CN" sz="2400" b="0" i="0" u="none" strike="noStrike" kern="0" cap="none" spc="0" normalizeH="0" baseline="0" noProof="0" dirty="0" smtClean="0">
                <a:ln>
                  <a:noFill/>
                </a:ln>
                <a:solidFill>
                  <a:srgbClr val="000000"/>
                </a:solidFill>
                <a:effectLst/>
                <a:uLnTx/>
                <a:uFillTx/>
                <a:latin typeface="华文楷体" pitchFamily="2" charset="-122"/>
                <a:ea typeface="华文楷体" pitchFamily="2" charset="-122"/>
              </a:rPr>
              <a:t>。在某种意义上说，测评也是认证的意思，如信息系统达到二级的各项安全要求，则可认为其通过信息系统二级的认证。</a:t>
            </a:r>
            <a:endParaRPr kumimoji="0" lang="zh-CN" altLang="zh-CN" sz="2800" b="0" i="0" u="none" strike="noStrike" kern="0" cap="none" spc="0" normalizeH="0" baseline="0" noProof="1" smtClean="0">
              <a:ln>
                <a:noFill/>
              </a:ln>
              <a:solidFill>
                <a:srgbClr val="000000"/>
              </a:solidFill>
              <a:effectLst/>
              <a:uLnTx/>
              <a:uFillTx/>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anim calcmode="lin" valueType="num">
                                      <p:cBhvr additive="base">
                                        <p:cTn id="7" dur="5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41987">
                                            <p:txEl>
                                              <p:pRg st="2" end="2"/>
                                            </p:txEl>
                                          </p:spTgt>
                                        </p:tgtEl>
                                        <p:attrNameLst>
                                          <p:attrName>style.visibility</p:attrName>
                                        </p:attrNameLst>
                                      </p:cBhvr>
                                      <p:to>
                                        <p:strVal val="visible"/>
                                      </p:to>
                                    </p:set>
                                    <p:animEffect transition="in" filter="wipe(down)">
                                      <p:cBhvr>
                                        <p:cTn id="13" dur="500"/>
                                        <p:tgtEl>
                                          <p:spTgt spid="4198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1987">
                                            <p:txEl>
                                              <p:pRg st="3" end="3"/>
                                            </p:txEl>
                                          </p:spTgt>
                                        </p:tgtEl>
                                        <p:attrNameLst>
                                          <p:attrName>style.visibility</p:attrName>
                                        </p:attrNameLst>
                                      </p:cBhvr>
                                      <p:to>
                                        <p:strVal val="visible"/>
                                      </p:to>
                                    </p:set>
                                    <p:animEffect transition="in" filter="wipe(down)">
                                      <p:cBhvr>
                                        <p:cTn id="18" dur="500"/>
                                        <p:tgtEl>
                                          <p:spTgt spid="4198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41987">
                                            <p:txEl>
                                              <p:pRg st="4" end="4"/>
                                            </p:txEl>
                                          </p:spTgt>
                                        </p:tgtEl>
                                        <p:attrNameLst>
                                          <p:attrName>style.visibility</p:attrName>
                                        </p:attrNameLst>
                                      </p:cBhvr>
                                      <p:to>
                                        <p:strVal val="visible"/>
                                      </p:to>
                                    </p:set>
                                    <p:animEffect transition="in" filter="wipe(down)">
                                      <p:cBhvr>
                                        <p:cTn id="23" dur="500"/>
                                        <p:tgtEl>
                                          <p:spTgt spid="419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838200" y="438150"/>
            <a:ext cx="7010400" cy="500063"/>
          </a:xfrm>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19459" name="内容占位符 2"/>
          <p:cNvSpPr>
            <a:spLocks noGrp="1"/>
          </p:cNvSpPr>
          <p:nvPr>
            <p:ph idx="1"/>
          </p:nvPr>
        </p:nvSpPr>
        <p:spPr>
          <a:xfrm>
            <a:off x="0" y="914400"/>
            <a:ext cx="8991600" cy="5943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与等级保护的融合</a:t>
            </a:r>
            <a:endParaRPr kumimoji="0" lang="en-US" altLang="zh-CN" sz="32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华文楷体" pitchFamily="2" charset="-122"/>
                <a:ea typeface="华文楷体" pitchFamily="2" charset="-122"/>
              </a:rPr>
              <a:t>相关标准的融合</a:t>
            </a:r>
            <a:endParaRPr kumimoji="0" lang="en-US" altLang="zh-CN" sz="2800" b="1" i="0" u="none" strike="noStrike" kern="0" cap="none" spc="0" normalizeH="0" baseline="0" noProof="0" dirty="0">
              <a:ln>
                <a:noFill/>
              </a:ln>
              <a:solidFill>
                <a:srgbClr val="000000"/>
              </a:solidFill>
              <a:effectLst/>
              <a:uLnTx/>
              <a:uFillTx/>
              <a:latin typeface="华文楷体" pitchFamily="2" charset="-122"/>
              <a:ea typeface="华文楷体" pitchFamily="2" charset="-122"/>
            </a:endParaRPr>
          </a:p>
          <a:p>
            <a:pPr marL="1143000" marR="0" lvl="2" indent="-228600" algn="l" defTabSz="914400" rtl="0" eaLnBrk="1" fontAlgn="base" latinLnBrk="0" hangingPunct="1">
              <a:lnSpc>
                <a:spcPct val="100000"/>
              </a:lnSpc>
              <a:spcBef>
                <a:spcPts val="600"/>
              </a:spcBef>
              <a:spcAft>
                <a:spcPts val="0"/>
              </a:spcAft>
              <a:buClr>
                <a:schemeClr val="tx2">
                  <a:lumMod val="60000"/>
                  <a:lumOff val="40000"/>
                </a:schemeClr>
              </a:buClr>
              <a:buSzTx/>
              <a:buFontTx/>
              <a:buChar char="•"/>
              <a:defRPr/>
            </a:pPr>
            <a:r>
              <a:rPr kumimoji="0" lang="zh-CN" altLang="zh-CN" sz="2000" b="1" i="0" u="none" strike="noStrike" kern="0" cap="none" spc="0" normalizeH="0" baseline="0" noProof="0" dirty="0" smtClean="0">
                <a:ln>
                  <a:noFill/>
                </a:ln>
                <a:solidFill>
                  <a:schemeClr val="tx1"/>
                </a:solidFill>
                <a:effectLst/>
                <a:uLnTx/>
                <a:uFillTx/>
                <a:latin typeface="华文楷体" pitchFamily="2" charset="-122"/>
                <a:ea typeface="华文楷体" pitchFamily="2" charset="-122"/>
              </a:rPr>
              <a:t>国际标准化组织</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已经颁布了</a:t>
            </a:r>
            <a:r>
              <a:rPr kumimoji="0" lang="en-US"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ISMS</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的两个标准：</a:t>
            </a:r>
            <a:r>
              <a:rPr kumimoji="0" lang="en-US"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ISO/IEC 27001</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a:t>
            </a:r>
            <a:r>
              <a:rPr kumimoji="0" lang="en-US"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2005</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与</a:t>
            </a:r>
            <a:r>
              <a:rPr kumimoji="0" lang="en-US"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ISO/IEC 17799</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a:t>
            </a:r>
            <a:r>
              <a:rPr kumimoji="0" lang="en-US"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2005</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，其中</a:t>
            </a:r>
            <a:r>
              <a:rPr kumimoji="0" lang="en-US" altLang="zh-CN" sz="2000" b="1" i="0" u="sng" strike="noStrike" kern="0" cap="none" spc="0" normalizeH="0" baseline="0" noProof="0" dirty="0">
                <a:ln>
                  <a:noFill/>
                </a:ln>
                <a:solidFill>
                  <a:schemeClr val="tx1"/>
                </a:solidFill>
                <a:effectLst/>
                <a:uLnTx/>
                <a:uFillTx/>
                <a:latin typeface="华文楷体" pitchFamily="2" charset="-122"/>
                <a:ea typeface="华文楷体" pitchFamily="2" charset="-122"/>
              </a:rPr>
              <a:t>ISO/IEC </a:t>
            </a:r>
            <a:r>
              <a:rPr kumimoji="0" lang="en-US" altLang="zh-CN" sz="2000" b="1" i="0" u="sng" strike="noStrike" kern="0" cap="none" spc="0" normalizeH="0" baseline="0" noProof="0" dirty="0">
                <a:ln>
                  <a:noFill/>
                </a:ln>
                <a:solidFill>
                  <a:srgbClr val="FF0000"/>
                </a:solidFill>
                <a:effectLst/>
                <a:uLnTx/>
                <a:uFillTx/>
                <a:latin typeface="华文楷体" pitchFamily="2" charset="-122"/>
                <a:ea typeface="华文楷体" pitchFamily="2" charset="-122"/>
              </a:rPr>
              <a:t>27001</a:t>
            </a:r>
            <a:r>
              <a:rPr kumimoji="0" lang="zh-CN" altLang="zh-CN" sz="2000" b="1" i="0" u="sng" strike="noStrike" kern="0" cap="none" spc="0" normalizeH="0" baseline="0" noProof="0" dirty="0">
                <a:ln>
                  <a:noFill/>
                </a:ln>
                <a:solidFill>
                  <a:srgbClr val="FF0000"/>
                </a:solidFill>
                <a:effectLst/>
                <a:uLnTx/>
                <a:uFillTx/>
                <a:latin typeface="华文楷体" pitchFamily="2" charset="-122"/>
                <a:ea typeface="华文楷体" pitchFamily="2" charset="-122"/>
              </a:rPr>
              <a:t>：</a:t>
            </a:r>
            <a:r>
              <a:rPr kumimoji="0" lang="en-US" altLang="zh-CN" sz="2000" b="1" i="0" u="sng" strike="noStrike" kern="0" cap="none" spc="0" normalizeH="0" baseline="0" noProof="0" dirty="0">
                <a:ln>
                  <a:noFill/>
                </a:ln>
                <a:solidFill>
                  <a:srgbClr val="FF0000"/>
                </a:solidFill>
                <a:effectLst/>
                <a:uLnTx/>
                <a:uFillTx/>
                <a:latin typeface="华文楷体" pitchFamily="2" charset="-122"/>
                <a:ea typeface="华文楷体" pitchFamily="2" charset="-122"/>
              </a:rPr>
              <a:t>2005</a:t>
            </a:r>
            <a:r>
              <a:rPr kumimoji="0" lang="zh-CN" altLang="zh-CN"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是属于要求标准</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，是</a:t>
            </a:r>
            <a:r>
              <a:rPr kumimoji="0" lang="en-US"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ISMS</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建设所依据的重要标准，而</a:t>
            </a:r>
            <a:r>
              <a:rPr kumimoji="0" lang="en-US" altLang="zh-CN" sz="2000" b="1" i="0" u="sng" strike="noStrike" kern="0" cap="none" spc="0" normalizeH="0" baseline="0" noProof="0" dirty="0">
                <a:ln>
                  <a:noFill/>
                </a:ln>
                <a:solidFill>
                  <a:schemeClr val="tx1"/>
                </a:solidFill>
                <a:effectLst/>
                <a:uLnTx/>
                <a:uFillTx/>
                <a:latin typeface="华文楷体" pitchFamily="2" charset="-122"/>
                <a:ea typeface="华文楷体" pitchFamily="2" charset="-122"/>
              </a:rPr>
              <a:t>ISO/IEC </a:t>
            </a:r>
            <a:r>
              <a:rPr kumimoji="0" lang="en-US" altLang="zh-CN" sz="2000" b="1" i="0" u="sng" strike="noStrike" kern="0" cap="none" spc="0" normalizeH="0" baseline="0" noProof="0" dirty="0">
                <a:ln>
                  <a:noFill/>
                </a:ln>
                <a:solidFill>
                  <a:srgbClr val="FF0000"/>
                </a:solidFill>
                <a:effectLst/>
                <a:uLnTx/>
                <a:uFillTx/>
                <a:latin typeface="华文楷体" pitchFamily="2" charset="-122"/>
                <a:ea typeface="华文楷体" pitchFamily="2" charset="-122"/>
              </a:rPr>
              <a:t>17799</a:t>
            </a:r>
            <a:r>
              <a:rPr kumimoji="0" lang="zh-CN" altLang="zh-CN" sz="2000" b="1" i="0" u="sng" strike="noStrike" kern="0" cap="none" spc="0" normalizeH="0" baseline="0" noProof="0" dirty="0">
                <a:ln>
                  <a:noFill/>
                </a:ln>
                <a:solidFill>
                  <a:srgbClr val="FF0000"/>
                </a:solidFill>
                <a:effectLst/>
                <a:uLnTx/>
                <a:uFillTx/>
                <a:latin typeface="华文楷体" pitchFamily="2" charset="-122"/>
                <a:ea typeface="华文楷体" pitchFamily="2" charset="-122"/>
              </a:rPr>
              <a:t>：</a:t>
            </a:r>
            <a:r>
              <a:rPr kumimoji="0" lang="en-US" altLang="zh-CN" sz="2000" b="1" i="0" u="sng" strike="noStrike" kern="0" cap="none" spc="0" normalizeH="0" baseline="0" noProof="0" dirty="0">
                <a:ln>
                  <a:noFill/>
                </a:ln>
                <a:solidFill>
                  <a:srgbClr val="FF0000"/>
                </a:solidFill>
                <a:effectLst/>
                <a:uLnTx/>
                <a:uFillTx/>
                <a:latin typeface="华文楷体" pitchFamily="2" charset="-122"/>
                <a:ea typeface="华文楷体" pitchFamily="2" charset="-122"/>
              </a:rPr>
              <a:t>2005</a:t>
            </a:r>
            <a:r>
              <a:rPr kumimoji="0" lang="zh-CN" altLang="zh-CN"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属于指南标准</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，是</a:t>
            </a:r>
            <a:r>
              <a:rPr kumimoji="0" lang="zh-CN" altLang="zh-CN" sz="2000" b="1" i="0" u="sng" strike="noStrike" kern="0" cap="none" spc="0" normalizeH="0" baseline="0" noProof="0" dirty="0">
                <a:ln>
                  <a:noFill/>
                </a:ln>
                <a:solidFill>
                  <a:srgbClr val="FF0000"/>
                </a:solidFill>
                <a:effectLst>
                  <a:outerShdw blurRad="38100" dist="38100" dir="2700000" algn="tl">
                    <a:srgbClr val="000000">
                      <a:alpha val="43137"/>
                    </a:srgbClr>
                  </a:outerShdw>
                </a:effectLst>
                <a:uLnTx/>
                <a:uFillTx/>
                <a:latin typeface="方正粗黑宋简体" pitchFamily="2" charset="-122"/>
                <a:ea typeface="方正粗黑宋简体" pitchFamily="2" charset="-122"/>
              </a:rPr>
              <a:t>控制措施</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的实施指南</a:t>
            </a:r>
            <a:r>
              <a:rPr kumimoji="0" lang="zh-CN" altLang="zh-CN" sz="2000" b="1" i="0" u="none" strike="noStrike" kern="0" cap="none" spc="0" normalizeH="0" baseline="0" noProof="0" dirty="0" smtClean="0">
                <a:ln>
                  <a:noFill/>
                </a:ln>
                <a:solidFill>
                  <a:schemeClr val="tx1"/>
                </a:solidFill>
                <a:effectLst/>
                <a:uLnTx/>
                <a:uFillTx/>
                <a:latin typeface="华文楷体" pitchFamily="2" charset="-122"/>
                <a:ea typeface="华文楷体" pitchFamily="2" charset="-122"/>
              </a:rPr>
              <a:t>。</a:t>
            </a:r>
            <a:endParaRPr kumimoji="0" lang="en-US" altLang="zh-CN" sz="2000" b="1" i="0" u="none" strike="noStrike" kern="0" cap="none" spc="0" normalizeH="0" baseline="0" noProof="0" dirty="0" smtClean="0">
              <a:ln>
                <a:noFill/>
              </a:ln>
              <a:solidFill>
                <a:schemeClr val="tx1"/>
              </a:solidFill>
              <a:effectLst/>
              <a:uLnTx/>
              <a:uFillTx/>
              <a:latin typeface="华文楷体" pitchFamily="2" charset="-122"/>
              <a:ea typeface="华文楷体" pitchFamily="2" charset="-122"/>
            </a:endParaRPr>
          </a:p>
          <a:p>
            <a:pPr marL="1143000" marR="0" lvl="2" indent="-228600" algn="l" defTabSz="914400" rtl="0" eaLnBrk="1" fontAlgn="base" latinLnBrk="0" hangingPunct="1">
              <a:lnSpc>
                <a:spcPct val="100000"/>
              </a:lnSpc>
              <a:spcBef>
                <a:spcPts val="600"/>
              </a:spcBef>
              <a:spcAft>
                <a:spcPts val="0"/>
              </a:spcAft>
              <a:buClr>
                <a:schemeClr val="tx2">
                  <a:lumMod val="60000"/>
                  <a:lumOff val="40000"/>
                </a:schemeClr>
              </a:buClr>
              <a:buSzTx/>
              <a:buFontTx/>
              <a:buChar char="•"/>
              <a:defRPr/>
            </a:pPr>
            <a:r>
              <a:rPr kumimoji="0" lang="zh-CN" altLang="zh-CN" sz="2000" b="1" i="0" u="none" strike="noStrike" kern="0" cap="none" spc="0" normalizeH="0" baseline="0" noProof="0" dirty="0" smtClean="0">
                <a:ln>
                  <a:noFill/>
                </a:ln>
                <a:solidFill>
                  <a:schemeClr val="tx1"/>
                </a:solidFill>
                <a:effectLst/>
                <a:uLnTx/>
                <a:uFillTx/>
                <a:latin typeface="华文楷体" pitchFamily="2" charset="-122"/>
                <a:ea typeface="华文楷体" pitchFamily="2" charset="-122"/>
              </a:rPr>
              <a:t>等级</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保护制度是我国的一项基本制度，也已经制定了若干相关标准，其中《信息系统安全等级保护基本要求》是实施等级保护制度的基本要求，它针对每个等级的信息系统提出了相应的</a:t>
            </a:r>
            <a:r>
              <a:rPr kumimoji="0" lang="zh-CN" altLang="zh-CN" sz="2000" b="1" i="0" u="sng" strike="noStrike" kern="0" cap="none" spc="0" normalizeH="0" baseline="0" noProof="0" dirty="0">
                <a:ln>
                  <a:noFill/>
                </a:ln>
                <a:solidFill>
                  <a:srgbClr val="FF0000"/>
                </a:solidFill>
                <a:effectLst/>
                <a:uLnTx/>
                <a:uFillTx/>
                <a:latin typeface="华文楷体" pitchFamily="2" charset="-122"/>
                <a:ea typeface="华文楷体" pitchFamily="2" charset="-122"/>
              </a:rPr>
              <a:t>安全目标和安全保护要求</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a:t>
            </a:r>
          </a:p>
          <a:p>
            <a:pPr marL="1143000" marR="0" lvl="2" indent="-228600" algn="l" defTabSz="914400" rtl="0" eaLnBrk="1" fontAlgn="base" latinLnBrk="0" hangingPunct="1">
              <a:lnSpc>
                <a:spcPct val="100000"/>
              </a:lnSpc>
              <a:spcBef>
                <a:spcPts val="600"/>
              </a:spcBef>
              <a:spcAft>
                <a:spcPts val="0"/>
              </a:spcAft>
              <a:buClr>
                <a:schemeClr val="tx2">
                  <a:lumMod val="60000"/>
                  <a:lumOff val="40000"/>
                </a:schemeClr>
              </a:buClr>
              <a:buSzTx/>
              <a:buFontTx/>
              <a:buChar char="•"/>
              <a:defRPr/>
            </a:pPr>
            <a:r>
              <a:rPr kumimoji="0" lang="zh-CN" altLang="zh-CN" sz="2000" b="1" i="0" u="sng" strike="noStrike" kern="0" cap="none" spc="0" normalizeH="0" baseline="0" noProof="0" dirty="0">
                <a:ln>
                  <a:noFill/>
                </a:ln>
                <a:solidFill>
                  <a:srgbClr val="FF0000"/>
                </a:solidFill>
                <a:effectLst>
                  <a:outerShdw blurRad="38100" dist="38100" dir="2700000" algn="tl">
                    <a:srgbClr val="000000">
                      <a:alpha val="43137"/>
                    </a:srgbClr>
                  </a:outerShdw>
                </a:effectLst>
                <a:uLnTx/>
                <a:uFillTx/>
                <a:latin typeface="方正粗黑宋简体" pitchFamily="2" charset="-122"/>
                <a:ea typeface="方正粗黑宋简体" pitchFamily="2" charset="-122"/>
              </a:rPr>
              <a:t>控制措施是</a:t>
            </a:r>
            <a:r>
              <a:rPr kumimoji="0" lang="en-US"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ISMS</a:t>
            </a:r>
            <a:r>
              <a:rPr kumimoji="0" lang="zh-CN"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与等级保护制度中的重要内容</a:t>
            </a:r>
            <a:r>
              <a:rPr kumimoji="0" lang="zh-CN" altLang="zh-CN" sz="2000" b="1" i="0" u="none" strike="noStrike" kern="0" cap="none" spc="0" normalizeH="0" baseline="0" noProof="0" dirty="0" smtClean="0">
                <a:ln>
                  <a:noFill/>
                </a:ln>
                <a:solidFill>
                  <a:schemeClr val="tx1"/>
                </a:solidFill>
                <a:effectLst/>
                <a:uLnTx/>
                <a:uFillTx/>
                <a:latin typeface="华文楷体" pitchFamily="2" charset="-122"/>
                <a:ea typeface="华文楷体" pitchFamily="2" charset="-122"/>
              </a:rPr>
              <a:t>，</a:t>
            </a:r>
            <a:r>
              <a:rPr kumimoji="0" lang="en-US"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ISO/IEC27001:2005</a:t>
            </a:r>
            <a:r>
              <a:rPr kumimoji="0" lang="zh-CN" altLang="en-US"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与</a:t>
            </a:r>
            <a:r>
              <a:rPr kumimoji="0" lang="en-US" altLang="zh-CN"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ISO/IEC 17799: 2005</a:t>
            </a:r>
            <a:r>
              <a:rPr kumimoji="0" lang="zh-CN" altLang="en-US"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在控制措施的描述结构和内容上有相通之处，所以可通过</a:t>
            </a:r>
            <a:r>
              <a:rPr kumimoji="0" lang="zh-CN" altLang="en-US" sz="2000" b="1" i="0" u="none" strike="noStrike" kern="0" cap="none" spc="0" normalizeH="0" baseline="0" noProof="0" dirty="0">
                <a:ln>
                  <a:noFill/>
                </a:ln>
                <a:solidFill>
                  <a:srgbClr val="FF0000"/>
                </a:solidFill>
                <a:effectLst/>
                <a:uLnTx/>
                <a:uFillTx/>
                <a:latin typeface="华文楷体" pitchFamily="2" charset="-122"/>
                <a:ea typeface="华文楷体" pitchFamily="2" charset="-122"/>
              </a:rPr>
              <a:t>控制措施</a:t>
            </a:r>
            <a:r>
              <a:rPr kumimoji="0" lang="zh-CN" altLang="en-US" sz="2000" b="1" i="0" u="none" strike="noStrike" kern="0" cap="none" spc="0" normalizeH="0" baseline="0" noProof="0" dirty="0">
                <a:ln>
                  <a:noFill/>
                </a:ln>
                <a:solidFill>
                  <a:schemeClr val="tx1"/>
                </a:solidFill>
                <a:effectLst/>
                <a:uLnTx/>
                <a:uFillTx/>
                <a:latin typeface="华文楷体" pitchFamily="2" charset="-122"/>
                <a:ea typeface="华文楷体" pitchFamily="2" charset="-122"/>
              </a:rPr>
              <a:t>将两个标准的内容进行融合</a:t>
            </a:r>
            <a:r>
              <a:rPr kumimoji="0" lang="zh-CN" altLang="en-US" sz="2000" b="1" i="0" u="none" strike="noStrike" kern="0" cap="none" spc="0" normalizeH="0" baseline="0" noProof="0" dirty="0" smtClean="0">
                <a:ln>
                  <a:noFill/>
                </a:ln>
                <a:solidFill>
                  <a:schemeClr val="tx1"/>
                </a:solidFill>
                <a:effectLst/>
                <a:uLnTx/>
                <a:uFillTx/>
                <a:latin typeface="华文楷体" pitchFamily="2" charset="-122"/>
                <a:ea typeface="华文楷体" pitchFamily="2" charset="-122"/>
              </a:rPr>
              <a:t>。</a:t>
            </a:r>
            <a:endParaRPr kumimoji="0" lang="zh-CN" altLang="en-US" sz="2400" b="0" i="0" u="none" strike="noStrike" kern="0" cap="none" spc="0" normalizeH="0" baseline="0" noProof="1">
              <a:ln>
                <a:noFill/>
              </a:ln>
              <a:solidFill>
                <a:schemeClr val="tx1"/>
              </a:solidFill>
              <a:effectLst/>
              <a:uLnTx/>
              <a:uFillTx/>
              <a:latin typeface="+mn-lt"/>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1000"/>
                                        <p:tgtEl>
                                          <p:spTgt spid="19459">
                                            <p:txEl>
                                              <p:pRg st="1" end="1"/>
                                            </p:txEl>
                                          </p:spTgt>
                                        </p:tgtEl>
                                      </p:cBhvr>
                                    </p:animEffect>
                                    <p:anim calcmode="lin" valueType="num">
                                      <p:cBhvr>
                                        <p:cTn id="8" dur="10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945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9459">
                                            <p:txEl>
                                              <p:pRg st="2" end="2"/>
                                            </p:txEl>
                                          </p:spTgt>
                                        </p:tgtEl>
                                        <p:attrNameLst>
                                          <p:attrName>style.visibility</p:attrName>
                                        </p:attrNameLst>
                                      </p:cBhvr>
                                      <p:to>
                                        <p:strVal val="visible"/>
                                      </p:to>
                                    </p:set>
                                    <p:animEffect transition="in" filter="wipe(down)">
                                      <p:cBhvr>
                                        <p:cTn id="14" dur="500"/>
                                        <p:tgtEl>
                                          <p:spTgt spid="19459">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animEffect transition="in" filter="wipe(down)">
                                      <p:cBhvr>
                                        <p:cTn id="19" dur="500"/>
                                        <p:tgtEl>
                                          <p:spTgt spid="19459">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19459">
                                            <p:txEl>
                                              <p:pRg st="4" end="4"/>
                                            </p:txEl>
                                          </p:spTgt>
                                        </p:tgtEl>
                                        <p:attrNameLst>
                                          <p:attrName>style.visibility</p:attrName>
                                        </p:attrNameLst>
                                      </p:cBhvr>
                                      <p:to>
                                        <p:strVal val="visible"/>
                                      </p:to>
                                    </p:set>
                                    <p:animEffect transition="in" filter="circle(in)">
                                      <p:cBhvr>
                                        <p:cTn id="24"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838200" y="438150"/>
            <a:ext cx="7010400" cy="500063"/>
          </a:xfrm>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44035" name="内容占位符 2"/>
          <p:cNvSpPr>
            <a:spLocks noGrp="1"/>
          </p:cNvSpPr>
          <p:nvPr>
            <p:ph idx="1"/>
          </p:nvPr>
        </p:nvSpPr>
        <p:spPr>
          <a:xfrm>
            <a:off x="76200" y="914400"/>
            <a:ext cx="8991600" cy="5715000"/>
          </a:xfrm>
        </p:spPr>
        <p:txBody>
          <a:bodyPr vert="horz" wrap="square" lIns="91440" tIns="45720" rIns="91440" bIns="45720" numCol="1" anchor="t" anchorCtr="0" compatLnSpc="1"/>
          <a:lstStyle/>
          <a:p>
            <a:pPr marL="0" indent="0" eaLnBrk="1" hangingPunct="1">
              <a:spcAft>
                <a:spcPct val="20000"/>
              </a:spcAft>
              <a:buClr>
                <a:srgbClr val="AC04A0"/>
              </a:buClr>
              <a:buNone/>
            </a:pPr>
            <a:r>
              <a:rPr lang="en-US" altLang="zh-CN" b="1" dirty="0">
                <a:solidFill>
                  <a:srgbClr val="000000"/>
                </a:solidFill>
                <a:latin typeface="楷体_GB2312" pitchFamily="49" charset="-122"/>
                <a:ea typeface="楷体_GB2312" pitchFamily="49" charset="-122"/>
              </a:rPr>
              <a:t>ISMS</a:t>
            </a:r>
            <a:r>
              <a:rPr lang="zh-CN" altLang="en-US" b="1" dirty="0">
                <a:solidFill>
                  <a:srgbClr val="000000"/>
                </a:solidFill>
                <a:latin typeface="楷体_GB2312" pitchFamily="49" charset="-122"/>
                <a:ea typeface="楷体_GB2312" pitchFamily="49" charset="-122"/>
              </a:rPr>
              <a:t>与等级保护的融合</a:t>
            </a:r>
            <a:endParaRPr lang="en-US" altLang="zh-CN" b="1" dirty="0">
              <a:solidFill>
                <a:srgbClr val="000000"/>
              </a:solidFill>
              <a:latin typeface="楷体_GB2312" pitchFamily="49" charset="-122"/>
              <a:ea typeface="楷体_GB2312" pitchFamily="49" charset="-122"/>
            </a:endParaRPr>
          </a:p>
          <a:p>
            <a:pPr lvl="1">
              <a:buSzPct val="90000"/>
            </a:pPr>
            <a:r>
              <a:rPr lang="zh-CN" altLang="en-US" b="1" dirty="0">
                <a:solidFill>
                  <a:srgbClr val="000000"/>
                </a:solidFill>
                <a:latin typeface="华文楷体" pitchFamily="2" charset="-122"/>
                <a:ea typeface="华文楷体" pitchFamily="2" charset="-122"/>
              </a:rPr>
              <a:t>相关标准的融合</a:t>
            </a:r>
            <a:endParaRPr lang="en-US" altLang="zh-CN" b="1" dirty="0">
              <a:solidFill>
                <a:srgbClr val="000000"/>
              </a:solidFill>
              <a:latin typeface="华文楷体" pitchFamily="2" charset="-122"/>
              <a:ea typeface="华文楷体" pitchFamily="2" charset="-122"/>
            </a:endParaRPr>
          </a:p>
          <a:p>
            <a:pPr marL="914400" lvl="2" indent="0">
              <a:buSzPct val="90000"/>
              <a:buNone/>
            </a:pPr>
            <a:r>
              <a:rPr lang="zh-CN" altLang="en-US" b="1" dirty="0">
                <a:solidFill>
                  <a:srgbClr val="000000"/>
                </a:solidFill>
                <a:latin typeface="华文楷体" pitchFamily="2" charset="-122"/>
                <a:ea typeface="华文楷体" pitchFamily="2" charset="-122"/>
              </a:rPr>
              <a:t>结构的融合</a:t>
            </a:r>
            <a:endParaRPr lang="en-US" altLang="zh-CN" b="1" dirty="0">
              <a:solidFill>
                <a:srgbClr val="000000"/>
              </a:solidFill>
              <a:latin typeface="华文楷体" pitchFamily="2" charset="-122"/>
              <a:ea typeface="华文楷体" pitchFamily="2" charset="-122"/>
            </a:endParaRPr>
          </a:p>
          <a:p>
            <a:pPr marL="914400" lvl="2" indent="0">
              <a:buSzPct val="90000"/>
            </a:pPr>
            <a:r>
              <a:rPr lang="en-US" altLang="zh-CN" sz="2000" dirty="0">
                <a:ea typeface="宋体" panose="02010600030101010101" pitchFamily="2" charset="-122"/>
              </a:rPr>
              <a:t>ISO/IEC 17799</a:t>
            </a:r>
            <a:r>
              <a:rPr lang="zh-CN" altLang="zh-CN" sz="2000" dirty="0">
                <a:ea typeface="宋体" panose="02010600030101010101" pitchFamily="2" charset="-122"/>
              </a:rPr>
              <a:t>：</a:t>
            </a:r>
            <a:r>
              <a:rPr lang="en-US" altLang="zh-CN" sz="2000" dirty="0">
                <a:ea typeface="宋体" panose="02010600030101010101" pitchFamily="2" charset="-122"/>
              </a:rPr>
              <a:t>2005</a:t>
            </a:r>
            <a:r>
              <a:rPr lang="zh-CN" altLang="zh-CN" sz="2000" dirty="0">
                <a:ea typeface="宋体" panose="02010600030101010101" pitchFamily="2" charset="-122"/>
              </a:rPr>
              <a:t>的控制措施没有区分技术和管理，而是直接从不同安全领域进行的划分，这种划分方式更为全面和合理，因此二者对控制措施的要求可利用</a:t>
            </a:r>
            <a:r>
              <a:rPr lang="en-US" altLang="zh-CN" sz="2000" dirty="0">
                <a:ea typeface="宋体" panose="02010600030101010101" pitchFamily="2" charset="-122"/>
              </a:rPr>
              <a:t>ISMS</a:t>
            </a:r>
            <a:r>
              <a:rPr lang="zh-CN" altLang="zh-CN" sz="2000" dirty="0">
                <a:ea typeface="宋体" panose="02010600030101010101" pitchFamily="2" charset="-122"/>
              </a:rPr>
              <a:t>的结构：控制类别</a:t>
            </a:r>
            <a:r>
              <a:rPr lang="en-US" altLang="zh-CN" sz="2000" dirty="0">
                <a:ea typeface="宋体" panose="02010600030101010101" pitchFamily="2" charset="-122"/>
              </a:rPr>
              <a:t>-</a:t>
            </a:r>
            <a:r>
              <a:rPr lang="zh-CN" altLang="zh-CN" sz="2000" dirty="0">
                <a:ea typeface="宋体" panose="02010600030101010101" pitchFamily="2" charset="-122"/>
              </a:rPr>
              <a:t>控制目标</a:t>
            </a:r>
            <a:r>
              <a:rPr lang="en-US" altLang="zh-CN" sz="2000" dirty="0">
                <a:ea typeface="宋体" panose="02010600030101010101" pitchFamily="2" charset="-122"/>
              </a:rPr>
              <a:t>-</a:t>
            </a:r>
            <a:r>
              <a:rPr lang="zh-CN" altLang="zh-CN" sz="2000" dirty="0">
                <a:ea typeface="宋体" panose="02010600030101010101" pitchFamily="2" charset="-122"/>
              </a:rPr>
              <a:t>控制措施，加以描述，然后划分不同的等级要求。即二者可结合成坐标轴结构，横轴为控制措施目标和要求，纵轴则为不同的等级要求。</a:t>
            </a:r>
          </a:p>
          <a:p>
            <a:pPr marL="914400" lvl="2" indent="0">
              <a:buSzPct val="90000"/>
              <a:buNone/>
            </a:pPr>
            <a:r>
              <a:rPr lang="" altLang="en-US" b="1" dirty="0">
                <a:solidFill>
                  <a:srgbClr val="000000"/>
                </a:solidFill>
                <a:latin typeface="华文楷体" pitchFamily="2" charset="-122"/>
                <a:ea typeface="华文楷体" pitchFamily="2" charset="-122"/>
              </a:rPr>
              <a:t>内容的融合</a:t>
            </a:r>
            <a:endParaRPr lang="" altLang="zh-CN" b="1" dirty="0">
              <a:solidFill>
                <a:srgbClr val="000000"/>
              </a:solidFill>
              <a:latin typeface="华文楷体" pitchFamily="2" charset="-122"/>
              <a:ea typeface="华文楷体" pitchFamily="2" charset="-122"/>
            </a:endParaRPr>
          </a:p>
          <a:p>
            <a:pPr marL="914400" lvl="2" indent="0">
              <a:buSzPct val="90000"/>
            </a:pPr>
            <a:r>
              <a:rPr lang="en-US" altLang="zh-CN" sz="2000" dirty="0">
                <a:ea typeface="宋体" panose="02010600030101010101" pitchFamily="2" charset="-122"/>
              </a:rPr>
              <a:t>ISO/IEC 17799</a:t>
            </a:r>
            <a:r>
              <a:rPr lang="zh-CN" altLang="zh-CN" sz="2000" dirty="0">
                <a:ea typeface="宋体" panose="02010600030101010101" pitchFamily="2" charset="-122"/>
              </a:rPr>
              <a:t>：</a:t>
            </a:r>
            <a:r>
              <a:rPr lang="en-US" altLang="zh-CN" sz="2000" dirty="0">
                <a:ea typeface="宋体" panose="02010600030101010101" pitchFamily="2" charset="-122"/>
              </a:rPr>
              <a:t>2005</a:t>
            </a:r>
            <a:r>
              <a:rPr lang="zh-CN" altLang="zh-CN" sz="2000" dirty="0">
                <a:ea typeface="宋体" panose="02010600030101010101" pitchFamily="2" charset="-122"/>
              </a:rPr>
              <a:t>中的控制措施与等级保护制度中的基本要求基本一致，只不过由于结构的不同、二者的描述方式不同，描述上有一定的差异。将</a:t>
            </a:r>
            <a:r>
              <a:rPr lang="en-US" altLang="zh-CN" sz="2000" dirty="0">
                <a:ea typeface="宋体" panose="02010600030101010101" pitchFamily="2" charset="-122"/>
              </a:rPr>
              <a:t>ISO/IEC 17799</a:t>
            </a:r>
            <a:r>
              <a:rPr lang="zh-CN" altLang="zh-CN" sz="2000" dirty="0">
                <a:ea typeface="宋体" panose="02010600030101010101" pitchFamily="2" charset="-122"/>
              </a:rPr>
              <a:t>：</a:t>
            </a:r>
            <a:r>
              <a:rPr lang="en-US" altLang="zh-CN" sz="2000" dirty="0">
                <a:ea typeface="宋体" panose="02010600030101010101" pitchFamily="2" charset="-122"/>
              </a:rPr>
              <a:t>2005</a:t>
            </a:r>
            <a:r>
              <a:rPr lang="zh-CN" altLang="zh-CN" sz="2000" dirty="0">
                <a:ea typeface="宋体" panose="02010600030101010101" pitchFamily="2" charset="-122"/>
              </a:rPr>
              <a:t>中的控制措施集与《</a:t>
            </a:r>
            <a:r>
              <a:rPr lang="zh-CN" altLang="zh-CN" sz="2000" dirty="0">
                <a:solidFill>
                  <a:srgbClr val="FF0000"/>
                </a:solidFill>
                <a:ea typeface="宋体" panose="02010600030101010101" pitchFamily="2" charset="-122"/>
              </a:rPr>
              <a:t>信息系统安全等级保护基本要求</a:t>
            </a:r>
            <a:r>
              <a:rPr lang="zh-CN" altLang="zh-CN" sz="2000" dirty="0">
                <a:ea typeface="宋体" panose="02010600030101010101" pitchFamily="2" charset="-122"/>
              </a:rPr>
              <a:t>》的基本要求集加以重新整合，形成新的控制措施集合。</a:t>
            </a:r>
            <a:endParaRPr lang="" altLang="en-US" sz="20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animEffect transition="in" filter="wipe(down)">
                                      <p:cBhvr>
                                        <p:cTn id="7" dur="500"/>
                                        <p:tgtEl>
                                          <p:spTgt spid="44035">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4035">
                                            <p:txEl>
                                              <p:pRg st="2" end="2"/>
                                            </p:txEl>
                                          </p:spTgt>
                                        </p:tgtEl>
                                        <p:attrNameLst>
                                          <p:attrName>style.visibility</p:attrName>
                                        </p:attrNameLst>
                                      </p:cBhvr>
                                      <p:to>
                                        <p:strVal val="visible"/>
                                      </p:to>
                                    </p:set>
                                    <p:animEffect transition="in" filter="wipe(down)">
                                      <p:cBhvr>
                                        <p:cTn id="10" dur="500"/>
                                        <p:tgtEl>
                                          <p:spTgt spid="4403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44035">
                                            <p:txEl>
                                              <p:pRg st="3" end="3"/>
                                            </p:txEl>
                                          </p:spTgt>
                                        </p:tgtEl>
                                        <p:attrNameLst>
                                          <p:attrName>style.visibility</p:attrName>
                                        </p:attrNameLst>
                                      </p:cBhvr>
                                      <p:to>
                                        <p:strVal val="visible"/>
                                      </p:to>
                                    </p:set>
                                    <p:animEffect transition="in" filter="circle(in)">
                                      <p:cBhvr>
                                        <p:cTn id="15" dur="2000"/>
                                        <p:tgtEl>
                                          <p:spTgt spid="4403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44035">
                                            <p:txEl>
                                              <p:pRg st="4" end="4"/>
                                            </p:txEl>
                                          </p:spTgt>
                                        </p:tgtEl>
                                        <p:attrNameLst>
                                          <p:attrName>style.visibility</p:attrName>
                                        </p:attrNameLst>
                                      </p:cBhvr>
                                      <p:to>
                                        <p:strVal val="visible"/>
                                      </p:to>
                                    </p:set>
                                    <p:animEffect transition="in" filter="circle(in)">
                                      <p:cBhvr>
                                        <p:cTn id="20" dur="2000"/>
                                        <p:tgtEl>
                                          <p:spTgt spid="44035">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44035">
                                            <p:txEl>
                                              <p:pRg st="5" end="5"/>
                                            </p:txEl>
                                          </p:spTgt>
                                        </p:tgtEl>
                                        <p:attrNameLst>
                                          <p:attrName>style.visibility</p:attrName>
                                        </p:attrNameLst>
                                      </p:cBhvr>
                                      <p:to>
                                        <p:strVal val="visible"/>
                                      </p:to>
                                    </p:set>
                                    <p:animEffect transition="in" filter="wheel(1)">
                                      <p:cBhvr>
                                        <p:cTn id="25" dur="2000"/>
                                        <p:tgtEl>
                                          <p:spTgt spid="440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838200" y="438150"/>
            <a:ext cx="7010400" cy="500063"/>
          </a:xfrm>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45059" name="内容占位符 2"/>
          <p:cNvSpPr>
            <a:spLocks noGrp="1"/>
          </p:cNvSpPr>
          <p:nvPr>
            <p:ph idx="1"/>
          </p:nvPr>
        </p:nvSpPr>
        <p:spPr>
          <a:xfrm>
            <a:off x="304800" y="914400"/>
            <a:ext cx="8229600" cy="59436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与等级保护的融合</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None/>
              <a:defRPr/>
            </a:pPr>
            <a:r>
              <a:rPr kumimoji="0" lang="zh-CN" altLang="en-US" sz="2800" b="1" i="0" u="none" strike="noStrike" kern="0" cap="none" spc="0" normalizeH="0" baseline="0" noProof="1" smtClean="0">
                <a:ln>
                  <a:noFill/>
                </a:ln>
                <a:solidFill>
                  <a:srgbClr val="000000"/>
                </a:solidFill>
                <a:effectLst/>
                <a:uLnTx/>
                <a:uFillTx/>
                <a:latin typeface="华文楷体" pitchFamily="2" charset="-122"/>
                <a:ea typeface="华文楷体" pitchFamily="2" charset="-122"/>
              </a:rPr>
              <a:t>实施过程的融合</a:t>
            </a:r>
            <a:r>
              <a:rPr kumimoji="0" lang="zh-CN" altLang="zh-CN" sz="2800" b="1" i="0" u="none" strike="noStrike" kern="0" cap="none" spc="0" normalizeH="0" baseline="0" noProof="1" smtClean="0">
                <a:ln>
                  <a:noFill/>
                </a:ln>
                <a:solidFill>
                  <a:schemeClr val="tx1"/>
                </a:solidFill>
                <a:effectLst/>
                <a:uLnTx/>
                <a:uFillTx/>
                <a:latin typeface="华文楷体" pitchFamily="2" charset="-122"/>
                <a:ea typeface="华文楷体" pitchFamily="2" charset="-122"/>
              </a:rPr>
              <a:t> </a:t>
            </a: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0" i="0" u="none" strike="noStrike" kern="0" cap="none" spc="0" normalizeH="0" baseline="0" noProof="1" smtClean="0">
                <a:ln>
                  <a:noFill/>
                </a:ln>
                <a:solidFill>
                  <a:schemeClr val="tx1"/>
                </a:solidFill>
                <a:effectLst/>
                <a:uLnTx/>
                <a:uFillTx/>
                <a:latin typeface="+mn-lt"/>
                <a:ea typeface="楷体_GB2312" pitchFamily="49" charset="-122"/>
              </a:rPr>
              <a:t>（</a:t>
            </a:r>
            <a:r>
              <a:rPr kumimoji="0" lang="zh-CN" altLang="zh-CN" sz="2800" b="0" i="0" u="none" strike="noStrike" kern="0" cap="none" spc="0" normalizeH="0" baseline="0" noProof="1" smtClean="0">
                <a:ln>
                  <a:noFill/>
                </a:ln>
                <a:solidFill>
                  <a:schemeClr val="tx1"/>
                </a:solidFill>
                <a:effectLst/>
                <a:uLnTx/>
                <a:uFillTx/>
                <a:latin typeface="+mn-lt"/>
                <a:ea typeface="楷体_GB2312" pitchFamily="49" charset="-122"/>
              </a:rPr>
              <a:t>1</a:t>
            </a:r>
            <a:r>
              <a:rPr kumimoji="0" lang="zh-CN" altLang="en-US" sz="2800" b="0" i="0" u="none" strike="noStrike" kern="0" cap="none" spc="0" normalizeH="0" baseline="0" noProof="1" smtClean="0">
                <a:ln>
                  <a:noFill/>
                </a:ln>
                <a:solidFill>
                  <a:schemeClr val="tx1"/>
                </a:solidFill>
                <a:effectLst/>
                <a:uLnTx/>
                <a:uFillTx/>
                <a:latin typeface="+mn-lt"/>
                <a:ea typeface="楷体_GB2312" pitchFamily="49" charset="-122"/>
              </a:rPr>
              <a:t>）等级保护制度实施过程</a:t>
            </a:r>
          </a:p>
        </p:txBody>
      </p:sp>
      <p:pic>
        <p:nvPicPr>
          <p:cNvPr id="45060" name="图片 1"/>
          <p:cNvPicPr>
            <a:picLocks noChangeAspect="1"/>
          </p:cNvPicPr>
          <p:nvPr/>
        </p:nvPicPr>
        <p:blipFill>
          <a:blip r:embed="rId2"/>
          <a:stretch>
            <a:fillRect/>
          </a:stretch>
        </p:blipFill>
        <p:spPr>
          <a:xfrm>
            <a:off x="1169988" y="2590800"/>
            <a:ext cx="6499225" cy="341947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wipe(down)">
                                      <p:cBhvr>
                                        <p:cTn id="7" dur="500"/>
                                        <p:tgtEl>
                                          <p:spTgt spid="45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838200" y="438150"/>
            <a:ext cx="7010400" cy="500063"/>
          </a:xfrm>
          <a:ln/>
        </p:spPr>
        <p:txBody>
          <a:bodyPr vert="horz" wrap="square" lIns="91440" tIns="45720" rIns="91440" bIns="45720" anchor="ctr" anchorCtr="0"/>
          <a:lstStyle/>
          <a:p>
            <a:pPr eaLnBrk="1" hangingPunct="1"/>
            <a:r>
              <a:rPr lang="en-US" altLang="zh-CN" b="1" dirty="0">
                <a:ea typeface="宋体" panose="02010600030101010101" pitchFamily="2" charset="-122"/>
              </a:rPr>
              <a:t>ISMS</a:t>
            </a:r>
            <a:r>
              <a:rPr lang="zh-CN" altLang="en-US" b="1" dirty="0">
                <a:ea typeface="宋体" panose="02010600030101010101" pitchFamily="2" charset="-122"/>
              </a:rPr>
              <a:t>、等级保护、风险评估关系</a:t>
            </a:r>
          </a:p>
        </p:txBody>
      </p:sp>
      <p:sp>
        <p:nvSpPr>
          <p:cNvPr id="46083" name="内容占位符 2"/>
          <p:cNvSpPr>
            <a:spLocks noGrp="1"/>
          </p:cNvSpPr>
          <p:nvPr>
            <p:ph idx="1"/>
          </p:nvPr>
        </p:nvSpPr>
        <p:spPr>
          <a:xfrm>
            <a:off x="76200" y="914400"/>
            <a:ext cx="9067800" cy="54102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ISMS</a:t>
            </a:r>
            <a:r>
              <a:rPr kumimoji="0" lang="zh-CN" altLang="en-US"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与等级保护的融合</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None/>
              <a:defRPr/>
            </a:pPr>
            <a:r>
              <a:rPr kumimoji="0" lang="zh-CN" altLang="en-US" sz="2800" b="1" i="0" u="none" strike="noStrike" kern="0" cap="none" spc="0" normalizeH="0" baseline="0" noProof="1" smtClean="0">
                <a:ln>
                  <a:noFill/>
                </a:ln>
                <a:solidFill>
                  <a:srgbClr val="000000"/>
                </a:solidFill>
                <a:effectLst/>
                <a:uLnTx/>
                <a:uFillTx/>
                <a:latin typeface="华文楷体" pitchFamily="2" charset="-122"/>
                <a:ea typeface="华文楷体" pitchFamily="2" charset="-122"/>
              </a:rPr>
              <a:t>实施过程的融合</a:t>
            </a:r>
            <a:endParaRPr kumimoji="0" lang="zh-CN" altLang="zh-CN" sz="2800" b="1" i="0" u="none" strike="noStrike" kern="0" cap="none" spc="0" normalizeH="0" baseline="0" noProof="1" smtClean="0">
              <a:ln>
                <a:noFill/>
              </a:ln>
              <a:solidFill>
                <a:srgbClr val="000000"/>
              </a:solidFill>
              <a:effectLst/>
              <a:uLnTx/>
              <a:uFillTx/>
              <a:latin typeface="华文楷体" pitchFamily="2" charset="-122"/>
              <a:ea typeface="华文楷体"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Pct val="90000"/>
              <a:buFont typeface="Wingdings" panose="05000000000000000000" pitchFamily="2" charset="2"/>
              <a:buChar char="§"/>
              <a:defRPr/>
            </a:pPr>
            <a:r>
              <a:rPr kumimoji="0" lang="zh-CN" altLang="en-US" sz="2800" b="1" i="0" u="none" strike="noStrike" kern="0" cap="none" spc="0" normalizeH="0" baseline="0" noProof="1" smtClean="0">
                <a:ln>
                  <a:noFill/>
                </a:ln>
                <a:solidFill>
                  <a:srgbClr val="000000"/>
                </a:solidFill>
                <a:effectLst/>
                <a:uLnTx/>
                <a:uFillTx/>
                <a:latin typeface="华文楷体" pitchFamily="2" charset="-122"/>
                <a:ea typeface="华文楷体" pitchFamily="2" charset="-122"/>
              </a:rPr>
              <a:t>（</a:t>
            </a:r>
            <a:r>
              <a:rPr kumimoji="0" lang="zh-CN" altLang="zh-CN" sz="2800" b="1" i="0" u="none" strike="noStrike" kern="0" cap="none" spc="0" normalizeH="0" baseline="0" noProof="1" smtClean="0">
                <a:ln>
                  <a:noFill/>
                </a:ln>
                <a:solidFill>
                  <a:srgbClr val="000000"/>
                </a:solidFill>
                <a:effectLst/>
                <a:uLnTx/>
                <a:uFillTx/>
                <a:latin typeface="华文楷体" pitchFamily="2" charset="-122"/>
                <a:ea typeface="华文楷体" pitchFamily="2" charset="-122"/>
              </a:rPr>
              <a:t>2</a:t>
            </a:r>
            <a:r>
              <a:rPr kumimoji="0" lang="zh-CN" altLang="en-US" sz="2800" b="1" i="0" u="none" strike="noStrike" kern="0" cap="none" spc="0" normalizeH="0" baseline="0" noProof="1" smtClean="0">
                <a:ln>
                  <a:noFill/>
                </a:ln>
                <a:solidFill>
                  <a:srgbClr val="000000"/>
                </a:solidFill>
                <a:effectLst/>
                <a:uLnTx/>
                <a:uFillTx/>
                <a:latin typeface="华文楷体" pitchFamily="2" charset="-122"/>
                <a:ea typeface="华文楷体" pitchFamily="2" charset="-122"/>
              </a:rPr>
              <a:t>）</a:t>
            </a:r>
            <a:r>
              <a:rPr kumimoji="0" lang="en-US" altLang="zh-CN" sz="2800" b="1" i="0" u="none" strike="noStrike" kern="0" cap="none" spc="0" normalizeH="0" baseline="0" noProof="1" smtClean="0">
                <a:ln>
                  <a:noFill/>
                </a:ln>
                <a:solidFill>
                  <a:srgbClr val="000000"/>
                </a:solidFill>
                <a:effectLst/>
                <a:uLnTx/>
                <a:uFillTx/>
                <a:latin typeface="华文楷体" pitchFamily="2" charset="-122"/>
                <a:ea typeface="华文楷体" pitchFamily="2" charset="-122"/>
              </a:rPr>
              <a:t>ISMS</a:t>
            </a:r>
            <a:r>
              <a:rPr kumimoji="0" lang="zh-CN" altLang="zh-CN" sz="2800" b="1" i="0" u="none" strike="noStrike" kern="0" cap="none" spc="0" normalizeH="0" baseline="0" noProof="1" smtClean="0">
                <a:ln>
                  <a:noFill/>
                </a:ln>
                <a:solidFill>
                  <a:srgbClr val="000000"/>
                </a:solidFill>
                <a:effectLst/>
                <a:uLnTx/>
                <a:uFillTx/>
                <a:latin typeface="华文楷体" pitchFamily="2" charset="-122"/>
                <a:ea typeface="华文楷体" pitchFamily="2" charset="-122"/>
              </a:rPr>
              <a:t>的实施过程</a:t>
            </a:r>
            <a:endParaRPr kumimoji="0" lang="zh-CN" altLang="en-US" sz="2800" b="0" i="0" u="none" strike="noStrike" kern="0" cap="none" spc="0" normalizeH="0" baseline="0" noProof="1" smtClean="0">
              <a:ln>
                <a:noFill/>
              </a:ln>
              <a:solidFill>
                <a:schemeClr val="tx1"/>
              </a:solidFill>
              <a:effectLst/>
              <a:uLnTx/>
              <a:uFillTx/>
              <a:latin typeface="+mn-lt"/>
              <a:ea typeface="楷体_GB2312" pitchFamily="49" charset="-122"/>
            </a:endParaRPr>
          </a:p>
        </p:txBody>
      </p:sp>
      <p:pic>
        <p:nvPicPr>
          <p:cNvPr id="46084" name="图片 1"/>
          <p:cNvPicPr>
            <a:picLocks noChangeAspect="1"/>
          </p:cNvPicPr>
          <p:nvPr/>
        </p:nvPicPr>
        <p:blipFill>
          <a:blip r:embed="rId2"/>
          <a:stretch>
            <a:fillRect/>
          </a:stretch>
        </p:blipFill>
        <p:spPr>
          <a:xfrm>
            <a:off x="1724025" y="2667000"/>
            <a:ext cx="5772150" cy="3382963"/>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6084"/>
                                        </p:tgtEl>
                                        <p:attrNameLst>
                                          <p:attrName>style.visibility</p:attrName>
                                        </p:attrNameLst>
                                      </p:cBhvr>
                                      <p:to>
                                        <p:strVal val="visible"/>
                                      </p:to>
                                    </p:set>
                                    <p:animEffect transition="in" filter="barn(inVertical)">
                                      <p:cBhvr>
                                        <p:cTn id="7" dur="500"/>
                                        <p:tgtEl>
                                          <p:spTgt spid="46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xfrm>
            <a:off x="838200" y="2590800"/>
            <a:ext cx="7010400" cy="563563"/>
          </a:xfrm>
          <a:ln/>
        </p:spPr>
        <p:txBody>
          <a:bodyPr vert="horz" wrap="square" lIns="91440" tIns="45720" rIns="91440" bIns="45720" anchor="ctr" anchorCtr="0"/>
          <a:lstStyle/>
          <a:p>
            <a:r>
              <a:rPr lang="zh-CN" altLang="en-US" dirty="0">
                <a:ea typeface="宋体" panose="02010600030101010101" pitchFamily="2" charset="-122"/>
              </a:rPr>
              <a:t>思考题</a:t>
            </a:r>
          </a:p>
        </p:txBody>
      </p:sp>
      <p:sp>
        <p:nvSpPr>
          <p:cNvPr id="47107" name="内容占位符 2"/>
          <p:cNvSpPr>
            <a:spLocks noGrp="1"/>
          </p:cNvSpPr>
          <p:nvPr>
            <p:ph idx="1"/>
          </p:nvPr>
        </p:nvSpPr>
        <p:spPr>
          <a:xfrm>
            <a:off x="0" y="1143000"/>
            <a:ext cx="9144000" cy="5334000"/>
          </a:xfrm>
          <a:ln/>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zh-CN" altLang="en-US" b="1" dirty="0">
                <a:solidFill>
                  <a:srgbClr val="000000"/>
                </a:solidFill>
                <a:latin typeface="楷体_GB2312" pitchFamily="49" charset="-122"/>
                <a:ea typeface="楷体_GB2312" pitchFamily="49" charset="-122"/>
              </a:rPr>
              <a:t>风险评估与等级保护的关系</a:t>
            </a:r>
            <a:endParaRPr lang="en-US" altLang="zh-CN" b="1" dirty="0">
              <a:solidFill>
                <a:srgbClr val="000000"/>
              </a:solidFill>
              <a:latin typeface="楷体_GB2312" pitchFamily="49" charset="-122"/>
              <a:ea typeface="楷体_GB2312" pitchFamily="49" charset="-122"/>
            </a:endParaRPr>
          </a:p>
          <a:p>
            <a:pPr lvl="1">
              <a:spcBef>
                <a:spcPts val="600"/>
              </a:spcBef>
            </a:pPr>
            <a:r>
              <a:rPr lang="zh-CN" altLang="zh-CN" sz="2400" b="1" dirty="0">
                <a:solidFill>
                  <a:srgbClr val="000000"/>
                </a:solidFill>
                <a:latin typeface="华文楷体" pitchFamily="2" charset="-122"/>
                <a:ea typeface="华文楷体" pitchFamily="2" charset="-122"/>
              </a:rPr>
              <a:t>等级保护中的系统分类分级的思想和风险评估中对信息资产的重要性分级基本一致</a:t>
            </a:r>
            <a:r>
              <a:rPr lang="zh-CN" altLang="en-US" sz="2400" b="1" dirty="0">
                <a:solidFill>
                  <a:srgbClr val="000000"/>
                </a:solidFill>
                <a:latin typeface="华文楷体" pitchFamily="2" charset="-122"/>
                <a:ea typeface="华文楷体" pitchFamily="2" charset="-122"/>
              </a:rPr>
              <a:t>。</a:t>
            </a:r>
            <a:endParaRPr lang="en-US" altLang="zh-CN" sz="2400" b="1" dirty="0">
              <a:solidFill>
                <a:srgbClr val="000000"/>
              </a:solidFill>
              <a:latin typeface="华文楷体" pitchFamily="2" charset="-122"/>
              <a:ea typeface="华文楷体" pitchFamily="2" charset="-122"/>
            </a:endParaRPr>
          </a:p>
          <a:p>
            <a:pPr lvl="1">
              <a:spcBef>
                <a:spcPts val="600"/>
              </a:spcBef>
            </a:pPr>
            <a:r>
              <a:rPr lang="zh-CN" altLang="zh-CN" sz="2400" b="1" dirty="0">
                <a:solidFill>
                  <a:srgbClr val="000000"/>
                </a:solidFill>
                <a:latin typeface="华文楷体" pitchFamily="2" charset="-122"/>
                <a:ea typeface="华文楷体" pitchFamily="2" charset="-122"/>
              </a:rPr>
              <a:t>在风险评估中，</a:t>
            </a:r>
            <a:r>
              <a:rPr lang="zh-CN" altLang="zh-CN" sz="2400" b="1" dirty="0">
                <a:solidFill>
                  <a:srgbClr val="FF0000"/>
                </a:solidFill>
                <a:latin typeface="华文楷体" pitchFamily="2" charset="-122"/>
                <a:ea typeface="华文楷体" pitchFamily="2" charset="-122"/>
              </a:rPr>
              <a:t>价值高的信息资产不一定风险等级就高</a:t>
            </a:r>
            <a:r>
              <a:rPr lang="zh-CN" altLang="zh-CN" sz="2400" b="1" dirty="0">
                <a:solidFill>
                  <a:srgbClr val="000000"/>
                </a:solidFill>
                <a:latin typeface="华文楷体" pitchFamily="2" charset="-122"/>
                <a:ea typeface="华文楷体" pitchFamily="2" charset="-122"/>
              </a:rPr>
              <a:t>。</a:t>
            </a:r>
            <a:endParaRPr lang="en-US" altLang="zh-CN" sz="2400" b="1" dirty="0">
              <a:solidFill>
                <a:srgbClr val="000000"/>
              </a:solidFill>
              <a:latin typeface="华文楷体" pitchFamily="2" charset="-122"/>
              <a:ea typeface="华文楷体" pitchFamily="2" charset="-122"/>
            </a:endParaRPr>
          </a:p>
          <a:p>
            <a:pPr lvl="1">
              <a:spcBef>
                <a:spcPts val="600"/>
              </a:spcBef>
            </a:pPr>
            <a:r>
              <a:rPr lang="zh-CN" altLang="zh-CN" sz="2400" b="1" dirty="0">
                <a:solidFill>
                  <a:srgbClr val="000000"/>
                </a:solidFill>
                <a:latin typeface="华文楷体" pitchFamily="2" charset="-122"/>
                <a:ea typeface="华文楷体" pitchFamily="2" charset="-122"/>
              </a:rPr>
              <a:t>在确定系统安全等级级别后，风险评估的结果可作为实施等级保护、等级安全建设的出发点和参考。</a:t>
            </a:r>
            <a:endParaRPr lang="en-US" altLang="zh-CN" sz="2400" b="1" dirty="0">
              <a:solidFill>
                <a:srgbClr val="000000"/>
              </a:solidFill>
              <a:latin typeface="华文楷体" pitchFamily="2" charset="-122"/>
              <a:ea typeface="华文楷体" pitchFamily="2" charset="-122"/>
            </a:endParaRPr>
          </a:p>
          <a:p>
            <a:pPr lvl="1">
              <a:spcBef>
                <a:spcPts val="600"/>
              </a:spcBef>
            </a:pPr>
            <a:r>
              <a:rPr lang="zh-CN" altLang="zh-CN" sz="2400" b="1" dirty="0">
                <a:solidFill>
                  <a:srgbClr val="000000"/>
                </a:solidFill>
                <a:latin typeface="华文楷体" pitchFamily="2" charset="-122"/>
                <a:ea typeface="华文楷体" pitchFamily="2" charset="-122"/>
              </a:rPr>
              <a:t>风险评估是等级保护（不同等级不同安全需求）的</a:t>
            </a:r>
            <a:r>
              <a:rPr lang="zh-CN" altLang="zh-CN" sz="2400" b="1" dirty="0">
                <a:solidFill>
                  <a:srgbClr val="FF0000"/>
                </a:solidFill>
                <a:latin typeface="华文楷体" pitchFamily="2" charset="-122"/>
                <a:ea typeface="华文楷体" pitchFamily="2" charset="-122"/>
              </a:rPr>
              <a:t>出发点</a:t>
            </a:r>
            <a:r>
              <a:rPr lang="zh-CN" altLang="zh-CN" sz="2400" b="1" dirty="0">
                <a:solidFill>
                  <a:srgbClr val="000000"/>
                </a:solidFill>
                <a:latin typeface="华文楷体" pitchFamily="2" charset="-122"/>
                <a:ea typeface="华文楷体" pitchFamily="2" charset="-122"/>
              </a:rPr>
              <a:t>。</a:t>
            </a:r>
            <a:endParaRPr lang="en-US" altLang="zh-CN" sz="2400" b="1" dirty="0">
              <a:solidFill>
                <a:srgbClr val="000000"/>
              </a:solidFill>
              <a:latin typeface="华文楷体" pitchFamily="2" charset="-122"/>
              <a:ea typeface="华文楷体" pitchFamily="2" charset="-122"/>
            </a:endParaRPr>
          </a:p>
          <a:p>
            <a:pPr lvl="1">
              <a:spcBef>
                <a:spcPts val="600"/>
              </a:spcBef>
            </a:pPr>
            <a:r>
              <a:rPr lang="zh-CN" altLang="zh-CN" sz="2400" b="1" dirty="0">
                <a:solidFill>
                  <a:srgbClr val="000000"/>
                </a:solidFill>
                <a:latin typeface="华文楷体" pitchFamily="2" charset="-122"/>
                <a:ea typeface="华文楷体" pitchFamily="2" charset="-122"/>
              </a:rPr>
              <a:t>风险评估中最终风险的等级则是综合考虑了信息的重要性、系统现有安全控制措施的有效性及运行现状后的综合评估结果</a:t>
            </a:r>
            <a:r>
              <a:rPr lang="zh-CN" altLang="en-US" sz="2400" b="1" dirty="0">
                <a:solidFill>
                  <a:srgbClr val="000000"/>
                </a:solidFill>
                <a:latin typeface="华文楷体" pitchFamily="2" charset="-122"/>
                <a:ea typeface="华文楷体" pitchFamily="2" charset="-122"/>
              </a:rPr>
              <a:t>，</a:t>
            </a:r>
            <a:r>
              <a:rPr lang="zh-CN" altLang="zh-CN" sz="2400" b="1" dirty="0">
                <a:solidFill>
                  <a:srgbClr val="FF0000"/>
                </a:solidFill>
                <a:latin typeface="华文楷体" pitchFamily="2" charset="-122"/>
                <a:ea typeface="华文楷体" pitchFamily="2" charset="-122"/>
              </a:rPr>
              <a:t>等级保护中高级别的信息系统不一定有高级别的安全风险。</a:t>
            </a:r>
          </a:p>
          <a:p>
            <a:pPr>
              <a:spcBef>
                <a:spcPct val="0"/>
              </a:spcBef>
              <a:buNone/>
            </a:pPr>
            <a:endParaRPr lang="en-US" altLang="zh-CN" b="1" dirty="0">
              <a:latin typeface="楷体_GB2312" pitchFamily="49" charset="-122"/>
              <a:ea typeface="楷体_GB2312" pitchFamily="49" charset="-122"/>
            </a:endParaRPr>
          </a:p>
          <a:p>
            <a:pPr>
              <a:buNone/>
            </a:pPr>
            <a:endParaRPr lang="zh-CN" altLang="en-US" b="1" dirty="0">
              <a:latin typeface="楷体_GB2312" pitchFamily="49" charset="-122"/>
              <a:ea typeface="楷体_GB2312" pitchFamily="49" charset="-122"/>
            </a:endParaRPr>
          </a:p>
        </p:txBody>
      </p:sp>
      <p:sp>
        <p:nvSpPr>
          <p:cNvPr id="2" name="TextBox 1"/>
          <p:cNvSpPr txBox="1"/>
          <p:nvPr/>
        </p:nvSpPr>
        <p:spPr>
          <a:xfrm>
            <a:off x="685800" y="304800"/>
            <a:ext cx="7162800" cy="646113"/>
          </a:xfrm>
          <a:prstGeom prst="rect">
            <a:avLst/>
          </a:prstGeom>
          <a:noFill/>
        </p:spPr>
        <p:txBody>
          <a:bodyPr>
            <a:spAutoFit/>
          </a:bodyPr>
          <a:lstStyle/>
          <a:p>
            <a:pPr marR="0" defTabSz="914400" eaLnBrk="1" hangingPunct="1">
              <a:spcBef>
                <a:spcPct val="50000"/>
              </a:spcBef>
              <a:buClrTx/>
              <a:buSzTx/>
              <a:buFont typeface="Arial" panose="020B0604020202020204" pitchFamily="34" charset="0"/>
              <a:buNone/>
              <a:defRPr/>
            </a:pPr>
            <a:r>
              <a:rPr kumimoji="0" lang="en-US" altLang="zh-CN" sz="3600" b="1" kern="1200" cap="none" spc="0" normalizeH="0" baseline="0" noProof="0" dirty="0">
                <a:solidFill>
                  <a:schemeClr val="bg1"/>
                </a:solidFill>
                <a:latin typeface="+mj-lt"/>
                <a:ea typeface="宋体" panose="02010600030101010101" pitchFamily="2" charset="-122"/>
                <a:cs typeface="+mj-cs"/>
              </a:rPr>
              <a:t>ISMS</a:t>
            </a:r>
            <a:r>
              <a:rPr kumimoji="0" lang="zh-CN" altLang="en-US" sz="3600" b="1" kern="1200" cap="none" spc="0" normalizeH="0" baseline="0" noProof="0" dirty="0">
                <a:solidFill>
                  <a:schemeClr val="bg1"/>
                </a:solidFill>
                <a:latin typeface="+mj-lt"/>
                <a:ea typeface="宋体" panose="02010600030101010101" pitchFamily="2" charset="-122"/>
                <a:cs typeface="+mj-cs"/>
              </a:rPr>
              <a:t>、等级保护、风险评估关系</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animEffect transition="in" filter="wipe(down)">
                                      <p:cBhvr>
                                        <p:cTn id="7" dur="500"/>
                                        <p:tgtEl>
                                          <p:spTgt spid="471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7107">
                                            <p:txEl>
                                              <p:pRg st="2" end="2"/>
                                            </p:txEl>
                                          </p:spTgt>
                                        </p:tgtEl>
                                        <p:attrNameLst>
                                          <p:attrName>style.visibility</p:attrName>
                                        </p:attrNameLst>
                                      </p:cBhvr>
                                      <p:to>
                                        <p:strVal val="visible"/>
                                      </p:to>
                                    </p:set>
                                    <p:animEffect transition="in" filter="wipe(down)">
                                      <p:cBhvr>
                                        <p:cTn id="12" dur="500"/>
                                        <p:tgtEl>
                                          <p:spTgt spid="471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7107">
                                            <p:txEl>
                                              <p:pRg st="3" end="3"/>
                                            </p:txEl>
                                          </p:spTgt>
                                        </p:tgtEl>
                                        <p:attrNameLst>
                                          <p:attrName>style.visibility</p:attrName>
                                        </p:attrNameLst>
                                      </p:cBhvr>
                                      <p:to>
                                        <p:strVal val="visible"/>
                                      </p:to>
                                    </p:set>
                                    <p:animEffect transition="in" filter="circle(in)">
                                      <p:cBhvr>
                                        <p:cTn id="17" dur="2000"/>
                                        <p:tgtEl>
                                          <p:spTgt spid="4710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47107">
                                            <p:txEl>
                                              <p:pRg st="4" end="4"/>
                                            </p:txEl>
                                          </p:spTgt>
                                        </p:tgtEl>
                                        <p:attrNameLst>
                                          <p:attrName>style.visibility</p:attrName>
                                        </p:attrNameLst>
                                      </p:cBhvr>
                                      <p:to>
                                        <p:strVal val="visible"/>
                                      </p:to>
                                    </p:set>
                                    <p:animEffect transition="in" filter="circle(in)">
                                      <p:cBhvr>
                                        <p:cTn id="22" dur="2000"/>
                                        <p:tgtEl>
                                          <p:spTgt spid="4710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47107">
                                            <p:txEl>
                                              <p:pRg st="5" end="5"/>
                                            </p:txEl>
                                          </p:spTgt>
                                        </p:tgtEl>
                                        <p:attrNameLst>
                                          <p:attrName>style.visibility</p:attrName>
                                        </p:attrNameLst>
                                      </p:cBhvr>
                                      <p:to>
                                        <p:strVal val="visible"/>
                                      </p:to>
                                    </p:set>
                                    <p:animEffect transition="in" filter="wheel(1)">
                                      <p:cBhvr>
                                        <p:cTn id="27" dur="2000"/>
                                        <p:tgtEl>
                                          <p:spTgt spid="471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54275" name="Group 3"/>
          <p:cNvGrpSpPr/>
          <p:nvPr/>
        </p:nvGrpSpPr>
        <p:grpSpPr>
          <a:xfrm>
            <a:off x="1828800" y="1752600"/>
            <a:ext cx="762000" cy="665163"/>
            <a:chOff x="1110" y="2656"/>
            <a:chExt cx="1549" cy="1351"/>
          </a:xfrm>
        </p:grpSpPr>
        <p:sp>
          <p:nvSpPr>
            <p:cNvPr id="54306"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4307"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54276" name="Group 7"/>
          <p:cNvGrpSpPr/>
          <p:nvPr/>
        </p:nvGrpSpPr>
        <p:grpSpPr>
          <a:xfrm>
            <a:off x="1828800" y="2667000"/>
            <a:ext cx="762000" cy="665163"/>
            <a:chOff x="3174" y="2656"/>
            <a:chExt cx="1549" cy="1351"/>
          </a:xfrm>
        </p:grpSpPr>
        <p:sp>
          <p:nvSpPr>
            <p:cNvPr id="54303"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4304"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54277" name="Line 11"/>
          <p:cNvSpPr/>
          <p:nvPr/>
        </p:nvSpPr>
        <p:spPr>
          <a:xfrm>
            <a:off x="2438400" y="2362200"/>
            <a:ext cx="4800600" cy="0"/>
          </a:xfrm>
          <a:prstGeom prst="line">
            <a:avLst/>
          </a:prstGeom>
          <a:ln w="25400" cap="flat" cmpd="sng">
            <a:solidFill>
              <a:srgbClr val="C0C0C0"/>
            </a:solidFill>
            <a:prstDash val="sysDot"/>
            <a:headEnd type="none" w="med" len="med"/>
            <a:tailEnd type="oval" w="med" len="med"/>
          </a:ln>
        </p:spPr>
      </p:sp>
      <p:sp>
        <p:nvSpPr>
          <p:cNvPr id="54278" name="Text Box 12"/>
          <p:cNvSpPr txBox="1"/>
          <p:nvPr/>
        </p:nvSpPr>
        <p:spPr>
          <a:xfrm>
            <a:off x="2590800" y="1809750"/>
            <a:ext cx="5638800" cy="523875"/>
          </a:xfrm>
          <a:prstGeom prst="rect">
            <a:avLst/>
          </a:prstGeom>
          <a:noFill/>
          <a:ln w="9525">
            <a:noFill/>
          </a:ln>
        </p:spPr>
        <p:txBody>
          <a:bodyPr>
            <a:spAutoFit/>
          </a:bodyPr>
          <a:lstStyle/>
          <a:p>
            <a:r>
              <a:rPr lang="en-US" altLang="zh-CN" sz="2800" b="1" dirty="0">
                <a:solidFill>
                  <a:schemeClr val="tx1"/>
                </a:solidFill>
                <a:latin typeface="Arial" panose="020B0604020202020204" pitchFamily="34" charset="0"/>
              </a:rPr>
              <a:t>ISMS</a:t>
            </a:r>
            <a:r>
              <a:rPr lang="zh-CN" altLang="en-US" sz="2800" b="1" dirty="0">
                <a:solidFill>
                  <a:schemeClr val="tx1"/>
                </a:solidFill>
                <a:latin typeface="Arial" panose="020B0604020202020204" pitchFamily="34" charset="0"/>
              </a:rPr>
              <a:t>实施方法与模型</a:t>
            </a:r>
          </a:p>
        </p:txBody>
      </p:sp>
      <p:sp>
        <p:nvSpPr>
          <p:cNvPr id="54279" name="Text Box 13"/>
          <p:cNvSpPr txBox="1"/>
          <p:nvPr/>
        </p:nvSpPr>
        <p:spPr>
          <a:xfrm>
            <a:off x="2025650" y="18510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1</a:t>
            </a:r>
          </a:p>
        </p:txBody>
      </p:sp>
      <p:sp>
        <p:nvSpPr>
          <p:cNvPr id="54280" name="Line 14"/>
          <p:cNvSpPr/>
          <p:nvPr/>
        </p:nvSpPr>
        <p:spPr>
          <a:xfrm>
            <a:off x="2438400" y="3276600"/>
            <a:ext cx="4800600" cy="0"/>
          </a:xfrm>
          <a:prstGeom prst="line">
            <a:avLst/>
          </a:prstGeom>
          <a:ln w="25400" cap="flat" cmpd="sng">
            <a:solidFill>
              <a:srgbClr val="C0C0C0"/>
            </a:solidFill>
            <a:prstDash val="sysDot"/>
            <a:headEnd type="none" w="med" len="med"/>
            <a:tailEnd type="oval" w="med" len="med"/>
          </a:ln>
        </p:spPr>
      </p:sp>
      <p:sp>
        <p:nvSpPr>
          <p:cNvPr id="54281" name="Text Box 16"/>
          <p:cNvSpPr txBox="1"/>
          <p:nvPr/>
        </p:nvSpPr>
        <p:spPr>
          <a:xfrm>
            <a:off x="2025650" y="27654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2</a:t>
            </a:r>
          </a:p>
        </p:txBody>
      </p:sp>
      <p:sp>
        <p:nvSpPr>
          <p:cNvPr id="54282" name="Text Box 21"/>
          <p:cNvSpPr txBox="1"/>
          <p:nvPr/>
        </p:nvSpPr>
        <p:spPr>
          <a:xfrm>
            <a:off x="2025650" y="36576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3</a:t>
            </a:r>
          </a:p>
        </p:txBody>
      </p:sp>
      <p:sp>
        <p:nvSpPr>
          <p:cNvPr id="54283" name="Text Box 22"/>
          <p:cNvSpPr txBox="1"/>
          <p:nvPr/>
        </p:nvSpPr>
        <p:spPr>
          <a:xfrm>
            <a:off x="1981200" y="52578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54284" name="Text Box 24"/>
          <p:cNvSpPr txBox="1"/>
          <p:nvPr/>
        </p:nvSpPr>
        <p:spPr>
          <a:xfrm>
            <a:off x="2590800" y="2667000"/>
            <a:ext cx="5029200" cy="523875"/>
          </a:xfrm>
          <a:prstGeom prst="rect">
            <a:avLst/>
          </a:prstGeom>
          <a:noFill/>
          <a:ln w="9525">
            <a:noFill/>
          </a:ln>
        </p:spPr>
        <p:txBody>
          <a:bodyPr>
            <a:spAutoFit/>
          </a:bodyPr>
          <a:lstStyle/>
          <a:p>
            <a:r>
              <a:rPr lang="en-US" altLang="zh-CN" sz="2800" b="1" dirty="0">
                <a:solidFill>
                  <a:schemeClr val="tx1"/>
                </a:solidFill>
                <a:latin typeface="Arial" panose="020B0604020202020204" pitchFamily="34" charset="0"/>
              </a:rPr>
              <a:t>ISMS</a:t>
            </a:r>
            <a:r>
              <a:rPr lang="zh-CN" altLang="en-US" sz="2800" b="1" dirty="0">
                <a:solidFill>
                  <a:schemeClr val="tx1"/>
                </a:solidFill>
                <a:latin typeface="Arial" panose="020B0604020202020204" pitchFamily="34" charset="0"/>
              </a:rPr>
              <a:t>实施过程</a:t>
            </a:r>
            <a:endParaRPr lang="en-US" altLang="zh-CN" sz="2800" b="1" dirty="0">
              <a:solidFill>
                <a:schemeClr val="tx1"/>
              </a:solidFill>
              <a:latin typeface="Arial" panose="020B0604020202020204" pitchFamily="34" charset="0"/>
            </a:endParaRPr>
          </a:p>
        </p:txBody>
      </p:sp>
      <p:grpSp>
        <p:nvGrpSpPr>
          <p:cNvPr id="54285" name="Group 7"/>
          <p:cNvGrpSpPr/>
          <p:nvPr/>
        </p:nvGrpSpPr>
        <p:grpSpPr>
          <a:xfrm>
            <a:off x="1828800" y="4364038"/>
            <a:ext cx="762000" cy="665162"/>
            <a:chOff x="3174" y="2656"/>
            <a:chExt cx="1549" cy="1351"/>
          </a:xfrm>
        </p:grpSpPr>
        <p:sp>
          <p:nvSpPr>
            <p:cNvPr id="54300"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4301"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2"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600" b="0" i="0" u="none" strike="noStrike" kern="1200" cap="none" spc="0" normalizeH="0" baseline="0" noProof="0" dirty="0">
                  <a:ln>
                    <a:noFill/>
                  </a:ln>
                  <a:solidFill>
                    <a:schemeClr val="bg1"/>
                  </a:solidFill>
                  <a:effectLst/>
                  <a:uLnTx/>
                  <a:uFillTx/>
                  <a:latin typeface="+mj-lt"/>
                  <a:ea typeface="宋体" panose="02010600030101010101" pitchFamily="2" charset="-122"/>
                  <a:cs typeface="+mn-cs"/>
                </a:rPr>
                <a:t>4</a:t>
              </a:r>
              <a:endParaRPr kumimoji="0" lang="zh-CN" altLang="en-US" sz="2600" b="0" i="0" u="none" strike="noStrike" kern="1200" cap="none" spc="0" normalizeH="0" baseline="0" noProof="0" dirty="0">
                <a:ln>
                  <a:noFill/>
                </a:ln>
                <a:solidFill>
                  <a:schemeClr val="bg1"/>
                </a:solidFill>
                <a:effectLst/>
                <a:uLnTx/>
                <a:uFillTx/>
                <a:latin typeface="+mj-lt"/>
                <a:ea typeface="宋体" panose="02010600030101010101" pitchFamily="2" charset="-122"/>
                <a:cs typeface="+mn-cs"/>
              </a:endParaRPr>
            </a:p>
          </p:txBody>
        </p:sp>
      </p:grpSp>
      <p:sp>
        <p:nvSpPr>
          <p:cNvPr id="54286" name="Line 14"/>
          <p:cNvSpPr/>
          <p:nvPr/>
        </p:nvSpPr>
        <p:spPr>
          <a:xfrm>
            <a:off x="2438400" y="4953000"/>
            <a:ext cx="4800600" cy="0"/>
          </a:xfrm>
          <a:prstGeom prst="line">
            <a:avLst/>
          </a:prstGeom>
          <a:ln w="25400" cap="flat" cmpd="sng">
            <a:solidFill>
              <a:srgbClr val="C0C0C0"/>
            </a:solidFill>
            <a:prstDash val="sysDot"/>
            <a:headEnd type="none" w="med" len="med"/>
            <a:tailEnd type="oval" w="med" len="med"/>
          </a:ln>
        </p:spPr>
      </p:sp>
      <p:sp>
        <p:nvSpPr>
          <p:cNvPr id="54287" name="TextBox 1"/>
          <p:cNvSpPr txBox="1"/>
          <p:nvPr/>
        </p:nvSpPr>
        <p:spPr>
          <a:xfrm>
            <a:off x="2590800" y="4419600"/>
            <a:ext cx="2876550" cy="523875"/>
          </a:xfrm>
          <a:prstGeom prst="rect">
            <a:avLst/>
          </a:prstGeom>
          <a:noFill/>
          <a:ln w="9525">
            <a:noFill/>
          </a:ln>
        </p:spPr>
        <p:txBody>
          <a:bodyPr>
            <a:spAutoFit/>
          </a:bodyPr>
          <a:lstStyle/>
          <a:p>
            <a:pPr eaLnBrk="1" hangingPunct="1">
              <a:spcBef>
                <a:spcPct val="50000"/>
              </a:spcBef>
            </a:pPr>
            <a:r>
              <a:rPr lang="zh-CN" altLang="en-US" sz="2800" b="1" dirty="0">
                <a:solidFill>
                  <a:srgbClr val="FF0000"/>
                </a:solidFill>
                <a:latin typeface="Arial" panose="020B0604020202020204" pitchFamily="34" charset="0"/>
              </a:rPr>
              <a:t>国外</a:t>
            </a:r>
            <a:r>
              <a:rPr lang="en-US" altLang="zh-CN" sz="2800" b="1" dirty="0">
                <a:solidFill>
                  <a:srgbClr val="FF0000"/>
                </a:solidFill>
                <a:latin typeface="Arial" panose="020B0604020202020204" pitchFamily="34" charset="0"/>
              </a:rPr>
              <a:t>ISMS</a:t>
            </a:r>
            <a:r>
              <a:rPr lang="zh-CN" altLang="en-US" sz="2800" b="1" dirty="0">
                <a:solidFill>
                  <a:srgbClr val="FF0000"/>
                </a:solidFill>
                <a:latin typeface="Arial" panose="020B0604020202020204" pitchFamily="34" charset="0"/>
              </a:rPr>
              <a:t>实践</a:t>
            </a:r>
          </a:p>
        </p:txBody>
      </p:sp>
      <p:grpSp>
        <p:nvGrpSpPr>
          <p:cNvPr id="54288" name="Group 3"/>
          <p:cNvGrpSpPr/>
          <p:nvPr/>
        </p:nvGrpSpPr>
        <p:grpSpPr>
          <a:xfrm>
            <a:off x="1828800" y="3525838"/>
            <a:ext cx="762000" cy="665162"/>
            <a:chOff x="1110" y="2656"/>
            <a:chExt cx="1549" cy="1351"/>
          </a:xfrm>
        </p:grpSpPr>
        <p:sp>
          <p:nvSpPr>
            <p:cNvPr id="54297"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4298"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8"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rPr>
                <a:t>3</a:t>
              </a:r>
              <a:endParaRPr kumimoji="0" lang="zh-CN" altLang="en-US"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54289" name="Line 14"/>
          <p:cNvSpPr/>
          <p:nvPr/>
        </p:nvSpPr>
        <p:spPr>
          <a:xfrm flipV="1">
            <a:off x="2438400" y="4105275"/>
            <a:ext cx="6553200" cy="9525"/>
          </a:xfrm>
          <a:prstGeom prst="line">
            <a:avLst/>
          </a:prstGeom>
          <a:ln w="25400" cap="flat" cmpd="sng">
            <a:solidFill>
              <a:srgbClr val="C0C0C0"/>
            </a:solidFill>
            <a:prstDash val="sysDot"/>
            <a:headEnd type="none" w="med" len="med"/>
            <a:tailEnd type="oval" w="med" len="med"/>
          </a:ln>
        </p:spPr>
      </p:sp>
      <p:sp>
        <p:nvSpPr>
          <p:cNvPr id="54290" name="TextBox 4"/>
          <p:cNvSpPr txBox="1"/>
          <p:nvPr/>
        </p:nvSpPr>
        <p:spPr>
          <a:xfrm>
            <a:off x="2590800" y="3581400"/>
            <a:ext cx="6477000" cy="523875"/>
          </a:xfrm>
          <a:prstGeom prst="rect">
            <a:avLst/>
          </a:prstGeom>
          <a:noFill/>
          <a:ln w="9525">
            <a:noFill/>
          </a:ln>
        </p:spPr>
        <p:txBody>
          <a:bodyPr>
            <a:spAutoFit/>
          </a:bodyPr>
          <a:lstStyle/>
          <a:p>
            <a:pPr eaLnBrk="1" hangingPunct="1">
              <a:spcBef>
                <a:spcPct val="50000"/>
              </a:spcBef>
            </a:pPr>
            <a:r>
              <a:rPr lang="en-US" altLang="zh-CN" sz="2800" b="1" dirty="0">
                <a:solidFill>
                  <a:schemeClr val="tx1"/>
                </a:solidFill>
                <a:latin typeface="Arial" panose="020B0604020202020204" pitchFamily="34" charset="0"/>
              </a:rPr>
              <a:t>ISMS</a:t>
            </a:r>
            <a:r>
              <a:rPr lang="zh-CN" altLang="en-US" sz="2800" b="1" dirty="0">
                <a:solidFill>
                  <a:schemeClr val="tx1"/>
                </a:solidFill>
                <a:latin typeface="宋体" panose="02010600030101010101" pitchFamily="2" charset="-122"/>
              </a:rPr>
              <a:t>、</a:t>
            </a:r>
            <a:r>
              <a:rPr lang="zh-CN" altLang="en-US" sz="2800" b="1" dirty="0">
                <a:solidFill>
                  <a:schemeClr val="tx1"/>
                </a:solidFill>
                <a:latin typeface="Arial" panose="020B0604020202020204" pitchFamily="34" charset="0"/>
              </a:rPr>
              <a:t>等级保护、风险评估三者的关系</a:t>
            </a:r>
          </a:p>
        </p:txBody>
      </p:sp>
      <p:grpSp>
        <p:nvGrpSpPr>
          <p:cNvPr id="54291" name="Group 3"/>
          <p:cNvGrpSpPr/>
          <p:nvPr/>
        </p:nvGrpSpPr>
        <p:grpSpPr>
          <a:xfrm>
            <a:off x="1828800" y="5126038"/>
            <a:ext cx="762000" cy="665162"/>
            <a:chOff x="1110" y="2656"/>
            <a:chExt cx="1549" cy="1351"/>
          </a:xfrm>
        </p:grpSpPr>
        <p:sp>
          <p:nvSpPr>
            <p:cNvPr id="54294"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54295"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9"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rPr>
                <a:t>5</a:t>
              </a:r>
              <a:endParaRPr kumimoji="0" lang="zh-CN" altLang="en-US"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54292" name="Line 14"/>
          <p:cNvSpPr/>
          <p:nvPr/>
        </p:nvSpPr>
        <p:spPr>
          <a:xfrm>
            <a:off x="2438400" y="5715000"/>
            <a:ext cx="4800600" cy="0"/>
          </a:xfrm>
          <a:prstGeom prst="line">
            <a:avLst/>
          </a:prstGeom>
          <a:ln w="25400" cap="flat" cmpd="sng">
            <a:solidFill>
              <a:srgbClr val="C0C0C0"/>
            </a:solidFill>
            <a:prstDash val="sysDot"/>
            <a:headEnd type="none" w="med" len="med"/>
            <a:tailEnd type="oval" w="med" len="med"/>
          </a:ln>
        </p:spPr>
      </p:sp>
      <p:sp>
        <p:nvSpPr>
          <p:cNvPr id="54293" name="TextBox 1"/>
          <p:cNvSpPr txBox="1"/>
          <p:nvPr/>
        </p:nvSpPr>
        <p:spPr>
          <a:xfrm>
            <a:off x="2590800" y="5181600"/>
            <a:ext cx="2876550" cy="523875"/>
          </a:xfrm>
          <a:prstGeom prst="rect">
            <a:avLst/>
          </a:prstGeom>
          <a:noFill/>
          <a:ln w="9525">
            <a:noFill/>
          </a:ln>
        </p:spPr>
        <p:txBody>
          <a:bodyPr>
            <a:spAutoFit/>
          </a:bodyPr>
          <a:lstStyle/>
          <a:p>
            <a:pPr eaLnBrk="1" hangingPunct="1">
              <a:spcBef>
                <a:spcPct val="50000"/>
              </a:spcBef>
            </a:pPr>
            <a:r>
              <a:rPr lang="zh-CN" altLang="en-US" sz="2800" b="1" dirty="0">
                <a:solidFill>
                  <a:schemeClr val="tx1"/>
                </a:solidFill>
                <a:latin typeface="Arial" panose="020B0604020202020204" pitchFamily="34" charset="0"/>
              </a:rPr>
              <a:t>思政点</a:t>
            </a:r>
          </a:p>
        </p:txBody>
      </p:sp>
    </p:spTree>
  </p:cSld>
  <p:clrMapOvr>
    <a:masterClrMapping/>
  </p:clrMapOvr>
  <p:transition>
    <p:blinds dir="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381000"/>
            <a:ext cx="7086600" cy="646113"/>
          </a:xfrm>
          <a:prstGeom prst="rect">
            <a:avLst/>
          </a:prstGeom>
          <a:noFill/>
        </p:spPr>
        <p:txBody>
          <a:bodyPr>
            <a:spAutoFit/>
          </a:bodyPr>
          <a:lstStyle/>
          <a:p>
            <a:pPr marR="0" algn="ctr" defTabSz="914400" eaLnBrk="1" hangingPunct="1">
              <a:spcBef>
                <a:spcPct val="50000"/>
              </a:spcBef>
              <a:buClrTx/>
              <a:buSzTx/>
              <a:buFont typeface="Arial" panose="020B0604020202020204" pitchFamily="34" charset="0"/>
              <a:buNone/>
              <a:defRPr/>
            </a:pPr>
            <a:r>
              <a:rPr kumimoji="0" lang="zh-CN" altLang="en-US" sz="3600" b="1" kern="1200" cap="none" spc="0" normalizeH="0" baseline="0" noProof="0" dirty="0">
                <a:solidFill>
                  <a:schemeClr val="bg1"/>
                </a:solidFill>
                <a:latin typeface="+mj-lt"/>
                <a:ea typeface="宋体" panose="02010600030101010101" pitchFamily="2" charset="-122"/>
                <a:cs typeface="+mj-cs"/>
              </a:rPr>
              <a:t>国外</a:t>
            </a:r>
            <a:r>
              <a:rPr kumimoji="0" lang="en-US" altLang="zh-CN" sz="3600" b="1" kern="1200" cap="none" spc="0" normalizeH="0" baseline="0" noProof="0" dirty="0">
                <a:solidFill>
                  <a:schemeClr val="bg1"/>
                </a:solidFill>
                <a:latin typeface="+mj-lt"/>
                <a:ea typeface="宋体" panose="02010600030101010101" pitchFamily="2" charset="-122"/>
                <a:cs typeface="+mj-cs"/>
              </a:rPr>
              <a:t>ISMS</a:t>
            </a:r>
            <a:r>
              <a:rPr kumimoji="0" lang="zh-CN" altLang="en-US" sz="3600" b="1" kern="1200" cap="none" spc="0" normalizeH="0" baseline="0" noProof="0" dirty="0">
                <a:solidFill>
                  <a:schemeClr val="bg1"/>
                </a:solidFill>
                <a:latin typeface="+mj-lt"/>
                <a:ea typeface="宋体" panose="02010600030101010101" pitchFamily="2" charset="-122"/>
                <a:cs typeface="+mj-cs"/>
              </a:rPr>
              <a:t>实践</a:t>
            </a:r>
          </a:p>
        </p:txBody>
      </p:sp>
      <p:sp>
        <p:nvSpPr>
          <p:cNvPr id="48131" name="TextBox 2"/>
          <p:cNvSpPr txBox="1"/>
          <p:nvPr/>
        </p:nvSpPr>
        <p:spPr>
          <a:xfrm>
            <a:off x="0" y="1031875"/>
            <a:ext cx="9144000" cy="4511675"/>
          </a:xfrm>
          <a:prstGeom prst="rect">
            <a:avLst/>
          </a:prstGeom>
          <a:noFill/>
          <a:ln w="9525">
            <a:noFill/>
          </a:ln>
        </p:spPr>
        <p:txBody>
          <a:bodyPr>
            <a:spAutoFit/>
          </a:bodyPr>
          <a:lstStyle/>
          <a:p>
            <a:pPr eaLnBrk="1" hangingPunct="1">
              <a:spcBef>
                <a:spcPct val="50000"/>
              </a:spcBef>
              <a:buClr>
                <a:srgbClr val="CC3399"/>
              </a:buClr>
            </a:pPr>
            <a:r>
              <a:rPr lang="zh-CN" altLang="en-US" sz="3200" b="1" dirty="0">
                <a:latin typeface="楷体_GB2312" pitchFamily="49" charset="-122"/>
                <a:ea typeface="楷体_GB2312" pitchFamily="49" charset="-122"/>
              </a:rPr>
              <a:t>西</a:t>
            </a:r>
            <a:r>
              <a:rPr lang="zh-CN" altLang="zh-CN" sz="3200" b="1" dirty="0">
                <a:latin typeface="楷体_GB2312" pitchFamily="49" charset="-122"/>
                <a:ea typeface="楷体_GB2312" pitchFamily="49" charset="-122"/>
              </a:rPr>
              <a:t>澳大利亚政府电子政务的信息安全管理</a:t>
            </a:r>
            <a:endParaRPr lang="en-US" altLang="zh-CN" sz="3200" b="1" dirty="0">
              <a:latin typeface="楷体_GB2312" pitchFamily="49" charset="-122"/>
              <a:ea typeface="楷体_GB2312" pitchFamily="49" charset="-122"/>
            </a:endParaRPr>
          </a:p>
          <a:p>
            <a:pPr marL="742950" lvl="1" indent="-285750">
              <a:spcBef>
                <a:spcPct val="20000"/>
              </a:spcBef>
              <a:buClr>
                <a:schemeClr val="accent1"/>
              </a:buClr>
              <a:buSzPct val="90000"/>
              <a:buFont typeface="Wingdings" panose="05000000000000000000" pitchFamily="2" charset="2"/>
              <a:buChar char="§"/>
            </a:pPr>
            <a:r>
              <a:rPr lang="zh-CN" altLang="en-US" sz="2800" b="1" dirty="0">
                <a:latin typeface="楷体_GB2312" pitchFamily="49" charset="-122"/>
                <a:ea typeface="楷体_GB2312" pitchFamily="49" charset="-122"/>
              </a:rPr>
              <a:t>目标</a:t>
            </a:r>
            <a:endParaRPr lang="en-US" altLang="zh-CN" sz="2800" b="1" dirty="0">
              <a:latin typeface="楷体_GB2312" pitchFamily="49" charset="-122"/>
              <a:ea typeface="楷体_GB2312" pitchFamily="49" charset="-122"/>
            </a:endParaRPr>
          </a:p>
          <a:p>
            <a:pPr marL="857250" lvl="2" indent="0">
              <a:spcBef>
                <a:spcPct val="20000"/>
              </a:spcBef>
              <a:buClr>
                <a:schemeClr val="tx1"/>
              </a:buClr>
              <a:buSzPct val="90000"/>
            </a:pPr>
            <a:r>
              <a:rPr lang="zh-CN" altLang="zh-CN" sz="2000" b="1" dirty="0">
                <a:latin typeface="华文楷体" pitchFamily="2" charset="-122"/>
                <a:ea typeface="华文楷体" pitchFamily="2" charset="-122"/>
              </a:rPr>
              <a:t>使由安全事故造成的政府的业务风险减少到一个</a:t>
            </a:r>
            <a:r>
              <a:rPr lang="zh-CN" altLang="zh-CN" sz="2000" b="1" dirty="0">
                <a:solidFill>
                  <a:srgbClr val="FF0000"/>
                </a:solidFill>
                <a:latin typeface="华文楷体" pitchFamily="2" charset="-122"/>
                <a:ea typeface="华文楷体" pitchFamily="2" charset="-122"/>
              </a:rPr>
              <a:t>可接受的水准</a:t>
            </a:r>
            <a:r>
              <a:rPr lang="zh-CN" altLang="zh-CN" sz="2000" b="1" dirty="0">
                <a:latin typeface="华文楷体" pitchFamily="2" charset="-122"/>
                <a:ea typeface="华文楷体" pitchFamily="2" charset="-122"/>
              </a:rPr>
              <a:t>，使政府继续维持执行业务的足够能力。</a:t>
            </a:r>
            <a:endParaRPr lang="en-US" altLang="zh-CN" sz="2000" b="1" dirty="0">
              <a:latin typeface="华文楷体" pitchFamily="2" charset="-122"/>
              <a:ea typeface="华文楷体" pitchFamily="2" charset="-122"/>
            </a:endParaRPr>
          </a:p>
          <a:p>
            <a:pPr marL="742950" lvl="1" indent="-285750">
              <a:spcBef>
                <a:spcPct val="20000"/>
              </a:spcBef>
              <a:buClr>
                <a:schemeClr val="accent1"/>
              </a:buClr>
              <a:buSzPct val="90000"/>
              <a:buFont typeface="Wingdings" panose="05000000000000000000" pitchFamily="2" charset="2"/>
              <a:buChar char="§"/>
            </a:pPr>
            <a:r>
              <a:rPr lang="zh-CN" altLang="en-US" sz="2800" b="1" dirty="0">
                <a:latin typeface="楷体_GB2312" pitchFamily="49" charset="-122"/>
                <a:ea typeface="楷体_GB2312" pitchFamily="49" charset="-122"/>
              </a:rPr>
              <a:t>当前的活动</a:t>
            </a:r>
            <a:endParaRPr lang="en-US" altLang="zh-CN" sz="2800" b="1" dirty="0">
              <a:latin typeface="楷体_GB2312" pitchFamily="49" charset="-122"/>
              <a:ea typeface="楷体_GB2312" pitchFamily="49" charset="-122"/>
            </a:endParaRPr>
          </a:p>
          <a:p>
            <a:pPr marL="857250" lvl="2" indent="0">
              <a:spcBef>
                <a:spcPct val="20000"/>
              </a:spcBef>
              <a:buClr>
                <a:schemeClr val="accent1"/>
              </a:buClr>
              <a:buSzPct val="90000"/>
            </a:pPr>
            <a:r>
              <a:rPr lang="zh-CN" altLang="en-US" sz="2000" b="1" dirty="0">
                <a:latin typeface="华文楷体" pitchFamily="2" charset="-122"/>
                <a:ea typeface="华文楷体" pitchFamily="2" charset="-122"/>
              </a:rPr>
              <a:t>（</a:t>
            </a:r>
            <a:r>
              <a:rPr lang="en-US" altLang="zh-CN" sz="2000" b="1" dirty="0">
                <a:latin typeface="华文楷体" pitchFamily="2" charset="-122"/>
                <a:ea typeface="华文楷体" pitchFamily="2" charset="-122"/>
              </a:rPr>
              <a:t>1</a:t>
            </a:r>
            <a:r>
              <a:rPr lang="zh-CN" altLang="en-US" sz="2000" b="1" dirty="0">
                <a:latin typeface="华文楷体" pitchFamily="2" charset="-122"/>
                <a:ea typeface="华文楷体" pitchFamily="2" charset="-122"/>
              </a:rPr>
              <a:t>）建立信息安全管理方针</a:t>
            </a:r>
            <a:endParaRPr lang="en-US" altLang="zh-CN" sz="2000" b="1" dirty="0">
              <a:latin typeface="华文楷体" pitchFamily="2" charset="-122"/>
              <a:ea typeface="华文楷体" pitchFamily="2" charset="-122"/>
            </a:endParaRPr>
          </a:p>
          <a:p>
            <a:pPr marL="857250" lvl="2" indent="0">
              <a:spcBef>
                <a:spcPct val="20000"/>
              </a:spcBef>
              <a:buClr>
                <a:schemeClr val="accent1"/>
              </a:buClr>
              <a:buSzPct val="90000"/>
            </a:pPr>
            <a:r>
              <a:rPr lang="zh-CN" altLang="en-US" sz="2000" b="1" dirty="0">
                <a:latin typeface="华文楷体" pitchFamily="2" charset="-122"/>
                <a:ea typeface="华文楷体" pitchFamily="2" charset="-122"/>
              </a:rPr>
              <a:t>（</a:t>
            </a:r>
            <a:r>
              <a:rPr lang="en-US" altLang="zh-CN" sz="2000" b="1" dirty="0">
                <a:latin typeface="华文楷体" pitchFamily="2" charset="-122"/>
                <a:ea typeface="华文楷体" pitchFamily="2" charset="-122"/>
              </a:rPr>
              <a:t>2</a:t>
            </a:r>
            <a:r>
              <a:rPr lang="zh-CN" altLang="en-US" sz="2000" b="1" dirty="0">
                <a:latin typeface="华文楷体" pitchFamily="2" charset="-122"/>
                <a:ea typeface="华文楷体" pitchFamily="2" charset="-122"/>
              </a:rPr>
              <a:t>）实施信息安全管理</a:t>
            </a:r>
            <a:endParaRPr lang="en-US" altLang="zh-CN" sz="2000" b="1" dirty="0">
              <a:latin typeface="华文楷体" pitchFamily="2" charset="-122"/>
              <a:ea typeface="华文楷体" pitchFamily="2" charset="-122"/>
            </a:endParaRPr>
          </a:p>
          <a:p>
            <a:pPr marL="857250" lvl="2" indent="0">
              <a:spcBef>
                <a:spcPct val="20000"/>
              </a:spcBef>
              <a:buClr>
                <a:schemeClr val="accent1"/>
              </a:buClr>
              <a:buSzPct val="90000"/>
            </a:pPr>
            <a:r>
              <a:rPr lang="zh-CN" altLang="en-US" sz="2000" b="1" dirty="0">
                <a:latin typeface="华文楷体" pitchFamily="2" charset="-122"/>
                <a:ea typeface="华文楷体" pitchFamily="2" charset="-122"/>
              </a:rPr>
              <a:t>（</a:t>
            </a:r>
            <a:r>
              <a:rPr lang="en-US" altLang="zh-CN" sz="2000" b="1" dirty="0">
                <a:latin typeface="华文楷体" pitchFamily="2" charset="-122"/>
                <a:ea typeface="华文楷体" pitchFamily="2" charset="-122"/>
              </a:rPr>
              <a:t>3</a:t>
            </a:r>
            <a:r>
              <a:rPr lang="zh-CN" altLang="en-US" sz="2000" b="1" dirty="0">
                <a:latin typeface="华文楷体" pitchFamily="2" charset="-122"/>
                <a:ea typeface="华文楷体" pitchFamily="2" charset="-122"/>
              </a:rPr>
              <a:t>）承担</a:t>
            </a:r>
            <a:r>
              <a:rPr lang="en-US" altLang="zh-CN" sz="2000" b="1" dirty="0">
                <a:latin typeface="华文楷体" pitchFamily="2" charset="-122"/>
                <a:ea typeface="华文楷体" pitchFamily="2" charset="-122"/>
              </a:rPr>
              <a:t>ICT</a:t>
            </a:r>
            <a:r>
              <a:rPr lang="zh-CN" altLang="en-US" sz="2000" b="1" dirty="0">
                <a:latin typeface="华文楷体" pitchFamily="2" charset="-122"/>
                <a:ea typeface="华文楷体" pitchFamily="2" charset="-122"/>
              </a:rPr>
              <a:t>风险与安全管理</a:t>
            </a:r>
            <a:endParaRPr lang="en-US" altLang="zh-CN" sz="2000" b="1" dirty="0">
              <a:latin typeface="华文楷体" pitchFamily="2" charset="-122"/>
              <a:ea typeface="华文楷体" pitchFamily="2" charset="-122"/>
            </a:endParaRPr>
          </a:p>
          <a:p>
            <a:pPr marL="857250" lvl="2" indent="0">
              <a:spcBef>
                <a:spcPct val="20000"/>
              </a:spcBef>
              <a:buClr>
                <a:schemeClr val="accent1"/>
              </a:buClr>
              <a:buSzPct val="90000"/>
            </a:pPr>
            <a:r>
              <a:rPr lang="zh-CN" altLang="en-US" sz="2000" b="1" dirty="0">
                <a:latin typeface="华文楷体" pitchFamily="2" charset="-122"/>
                <a:ea typeface="华文楷体" pitchFamily="2" charset="-122"/>
              </a:rPr>
              <a:t>（</a:t>
            </a:r>
            <a:r>
              <a:rPr lang="en-US" altLang="zh-CN" sz="2000" b="1" dirty="0">
                <a:latin typeface="华文楷体" pitchFamily="2" charset="-122"/>
                <a:ea typeface="华文楷体" pitchFamily="2" charset="-122"/>
              </a:rPr>
              <a:t>4</a:t>
            </a:r>
            <a:r>
              <a:rPr lang="zh-CN" altLang="en-US" sz="2000" b="1" dirty="0">
                <a:latin typeface="华文楷体" pitchFamily="2" charset="-122"/>
                <a:ea typeface="华文楷体" pitchFamily="2" charset="-122"/>
              </a:rPr>
              <a:t>）计划灾难恢复</a:t>
            </a:r>
            <a:endParaRPr lang="en-US" altLang="zh-CN" sz="2000" b="1" dirty="0">
              <a:latin typeface="华文楷体" pitchFamily="2" charset="-122"/>
              <a:ea typeface="华文楷体" pitchFamily="2" charset="-122"/>
            </a:endParaRPr>
          </a:p>
          <a:p>
            <a:pPr marL="857250" lvl="2" indent="0">
              <a:spcBef>
                <a:spcPct val="20000"/>
              </a:spcBef>
              <a:buClr>
                <a:schemeClr val="accent1"/>
              </a:buClr>
              <a:buSzPct val="90000"/>
            </a:pPr>
            <a:r>
              <a:rPr lang="zh-CN" altLang="en-US" sz="2000" b="1" dirty="0">
                <a:latin typeface="华文楷体" pitchFamily="2" charset="-122"/>
                <a:ea typeface="华文楷体" pitchFamily="2" charset="-122"/>
              </a:rPr>
              <a:t>（</a:t>
            </a:r>
            <a:r>
              <a:rPr lang="en-US" altLang="zh-CN" sz="2000" b="1" dirty="0">
                <a:latin typeface="华文楷体" pitchFamily="2" charset="-122"/>
                <a:ea typeface="华文楷体" pitchFamily="2" charset="-122"/>
              </a:rPr>
              <a:t>5</a:t>
            </a:r>
            <a:r>
              <a:rPr lang="zh-CN" altLang="en-US" sz="2000" b="1" dirty="0">
                <a:latin typeface="华文楷体" pitchFamily="2" charset="-122"/>
                <a:ea typeface="华文楷体" pitchFamily="2" charset="-122"/>
              </a:rPr>
              <a:t>）</a:t>
            </a:r>
            <a:r>
              <a:rPr lang="zh-CN" altLang="zh-CN" sz="2000" b="1" dirty="0">
                <a:latin typeface="华文楷体" pitchFamily="2" charset="-122"/>
                <a:ea typeface="华文楷体" pitchFamily="2" charset="-122"/>
              </a:rPr>
              <a:t>成立西澳大利亚计算机安全事故响应小组（</a:t>
            </a:r>
            <a:r>
              <a:rPr lang="en-US" altLang="zh-CN" sz="2000" b="1" dirty="0">
                <a:latin typeface="华文楷体" pitchFamily="2" charset="-122"/>
                <a:ea typeface="华文楷体" pitchFamily="2" charset="-122"/>
              </a:rPr>
              <a:t>WACSIRT</a:t>
            </a:r>
            <a:r>
              <a:rPr lang="zh-CN" altLang="zh-CN" sz="2000" b="1" dirty="0">
                <a:latin typeface="华文楷体" pitchFamily="2" charset="-122"/>
                <a:ea typeface="华文楷体" pitchFamily="2" charset="-122"/>
              </a:rPr>
              <a:t>）</a:t>
            </a:r>
            <a:endParaRPr lang="en-US" altLang="zh-CN" sz="2000" b="1" dirty="0">
              <a:latin typeface="华文楷体" pitchFamily="2" charset="-122"/>
              <a:ea typeface="华文楷体" pitchFamily="2" charset="-122"/>
            </a:endParaRPr>
          </a:p>
          <a:p>
            <a:pPr marL="857250" lvl="2" indent="0">
              <a:spcBef>
                <a:spcPct val="20000"/>
              </a:spcBef>
              <a:buClr>
                <a:schemeClr val="accent1"/>
              </a:buClr>
              <a:buSzPct val="90000"/>
            </a:pPr>
            <a:r>
              <a:rPr lang="zh-CN" altLang="en-US" sz="2000" b="1" dirty="0">
                <a:latin typeface="华文楷体" pitchFamily="2" charset="-122"/>
                <a:ea typeface="华文楷体" pitchFamily="2" charset="-122"/>
              </a:rPr>
              <a:t>（</a:t>
            </a:r>
            <a:r>
              <a:rPr lang="en-US" altLang="zh-CN" sz="2000" b="1" dirty="0">
                <a:latin typeface="华文楷体" pitchFamily="2" charset="-122"/>
                <a:ea typeface="华文楷体" pitchFamily="2" charset="-122"/>
              </a:rPr>
              <a:t>6</a:t>
            </a:r>
            <a:r>
              <a:rPr lang="zh-CN" altLang="en-US" sz="2000" b="1" dirty="0">
                <a:latin typeface="华文楷体" pitchFamily="2" charset="-122"/>
                <a:ea typeface="华文楷体" pitchFamily="2" charset="-122"/>
              </a:rPr>
              <a:t>）研究电子邮件过滤</a:t>
            </a:r>
            <a:endParaRPr lang="zh-CN" altLang="zh-CN" sz="2000" b="1" dirty="0">
              <a:solidFill>
                <a:schemeClr val="tx1"/>
              </a:solidFill>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8131">
                                            <p:txEl>
                                              <p:pRg st="2" end="2"/>
                                            </p:txEl>
                                          </p:spTgt>
                                        </p:tgtEl>
                                        <p:attrNameLst>
                                          <p:attrName>style.visibility</p:attrName>
                                        </p:attrNameLst>
                                      </p:cBhvr>
                                      <p:to>
                                        <p:strVal val="visible"/>
                                      </p:to>
                                    </p:set>
                                    <p:animEffect transition="in" filter="circle(in)">
                                      <p:cBhvr>
                                        <p:cTn id="7" dur="2000"/>
                                        <p:tgtEl>
                                          <p:spTgt spid="4813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8131">
                                            <p:txEl>
                                              <p:pRg st="3" end="3"/>
                                            </p:txEl>
                                          </p:spTgt>
                                        </p:tgtEl>
                                        <p:attrNameLst>
                                          <p:attrName>style.visibility</p:attrName>
                                        </p:attrNameLst>
                                      </p:cBhvr>
                                      <p:to>
                                        <p:strVal val="visible"/>
                                      </p:to>
                                    </p:set>
                                    <p:animEffect transition="in" filter="circle(in)">
                                      <p:cBhvr>
                                        <p:cTn id="12" dur="2000"/>
                                        <p:tgtEl>
                                          <p:spTgt spid="4813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8131">
                                            <p:txEl>
                                              <p:pRg st="4" end="4"/>
                                            </p:txEl>
                                          </p:spTgt>
                                        </p:tgtEl>
                                        <p:attrNameLst>
                                          <p:attrName>style.visibility</p:attrName>
                                        </p:attrNameLst>
                                      </p:cBhvr>
                                      <p:to>
                                        <p:strVal val="visible"/>
                                      </p:to>
                                    </p:set>
                                    <p:animEffect transition="in" filter="circle(in)">
                                      <p:cBhvr>
                                        <p:cTn id="17" dur="2000"/>
                                        <p:tgtEl>
                                          <p:spTgt spid="48131">
                                            <p:txEl>
                                              <p:pRg st="4" end="4"/>
                                            </p:txEl>
                                          </p:spTgt>
                                        </p:tgtEl>
                                      </p:cBhvr>
                                    </p:animEffect>
                                  </p:childTnLst>
                                </p:cTn>
                              </p:par>
                              <p:par>
                                <p:cTn id="18" presetID="6" presetClass="entr" presetSubtype="16" fill="hold" nodeType="withEffect">
                                  <p:stCondLst>
                                    <p:cond delay="0"/>
                                  </p:stCondLst>
                                  <p:childTnLst>
                                    <p:set>
                                      <p:cBhvr>
                                        <p:cTn id="19" dur="1" fill="hold">
                                          <p:stCondLst>
                                            <p:cond delay="0"/>
                                          </p:stCondLst>
                                        </p:cTn>
                                        <p:tgtEl>
                                          <p:spTgt spid="48131">
                                            <p:txEl>
                                              <p:pRg st="5" end="5"/>
                                            </p:txEl>
                                          </p:spTgt>
                                        </p:tgtEl>
                                        <p:attrNameLst>
                                          <p:attrName>style.visibility</p:attrName>
                                        </p:attrNameLst>
                                      </p:cBhvr>
                                      <p:to>
                                        <p:strVal val="visible"/>
                                      </p:to>
                                    </p:set>
                                    <p:animEffect transition="in" filter="circle(in)">
                                      <p:cBhvr>
                                        <p:cTn id="20" dur="2000"/>
                                        <p:tgtEl>
                                          <p:spTgt spid="48131">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48131">
                                            <p:txEl>
                                              <p:pRg st="6" end="6"/>
                                            </p:txEl>
                                          </p:spTgt>
                                        </p:tgtEl>
                                        <p:attrNameLst>
                                          <p:attrName>style.visibility</p:attrName>
                                        </p:attrNameLst>
                                      </p:cBhvr>
                                      <p:to>
                                        <p:strVal val="visible"/>
                                      </p:to>
                                    </p:set>
                                    <p:animEffect transition="in" filter="circle(in)">
                                      <p:cBhvr>
                                        <p:cTn id="25" dur="2000"/>
                                        <p:tgtEl>
                                          <p:spTgt spid="48131">
                                            <p:txEl>
                                              <p:pRg st="6" end="6"/>
                                            </p:txEl>
                                          </p:spTgt>
                                        </p:tgtEl>
                                      </p:cBhvr>
                                    </p:animEffect>
                                  </p:childTnLst>
                                </p:cTn>
                              </p:par>
                              <p:par>
                                <p:cTn id="26" presetID="6" presetClass="entr" presetSubtype="16" fill="hold" nodeType="withEffect">
                                  <p:stCondLst>
                                    <p:cond delay="0"/>
                                  </p:stCondLst>
                                  <p:childTnLst>
                                    <p:set>
                                      <p:cBhvr>
                                        <p:cTn id="27" dur="1" fill="hold">
                                          <p:stCondLst>
                                            <p:cond delay="0"/>
                                          </p:stCondLst>
                                        </p:cTn>
                                        <p:tgtEl>
                                          <p:spTgt spid="48131">
                                            <p:txEl>
                                              <p:pRg st="7" end="7"/>
                                            </p:txEl>
                                          </p:spTgt>
                                        </p:tgtEl>
                                        <p:attrNameLst>
                                          <p:attrName>style.visibility</p:attrName>
                                        </p:attrNameLst>
                                      </p:cBhvr>
                                      <p:to>
                                        <p:strVal val="visible"/>
                                      </p:to>
                                    </p:set>
                                    <p:animEffect transition="in" filter="circle(in)">
                                      <p:cBhvr>
                                        <p:cTn id="28" dur="2000"/>
                                        <p:tgtEl>
                                          <p:spTgt spid="48131">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nodeType="clickEffect">
                                  <p:stCondLst>
                                    <p:cond delay="0"/>
                                  </p:stCondLst>
                                  <p:childTnLst>
                                    <p:set>
                                      <p:cBhvr>
                                        <p:cTn id="32" dur="1" fill="hold">
                                          <p:stCondLst>
                                            <p:cond delay="0"/>
                                          </p:stCondLst>
                                        </p:cTn>
                                        <p:tgtEl>
                                          <p:spTgt spid="48131">
                                            <p:txEl>
                                              <p:pRg st="8" end="8"/>
                                            </p:txEl>
                                          </p:spTgt>
                                        </p:tgtEl>
                                        <p:attrNameLst>
                                          <p:attrName>style.visibility</p:attrName>
                                        </p:attrNameLst>
                                      </p:cBhvr>
                                      <p:to>
                                        <p:strVal val="visible"/>
                                      </p:to>
                                    </p:set>
                                    <p:animEffect transition="in" filter="wheel(1)">
                                      <p:cBhvr>
                                        <p:cTn id="33" dur="2000"/>
                                        <p:tgtEl>
                                          <p:spTgt spid="48131">
                                            <p:txEl>
                                              <p:pRg st="8" end="8"/>
                                            </p:txEl>
                                          </p:spTgt>
                                        </p:tgtEl>
                                      </p:cBhvr>
                                    </p:animEffect>
                                  </p:childTnLst>
                                </p:cTn>
                              </p:par>
                              <p:par>
                                <p:cTn id="34" presetID="21" presetClass="entr" presetSubtype="1" fill="hold" nodeType="withEffect">
                                  <p:stCondLst>
                                    <p:cond delay="0"/>
                                  </p:stCondLst>
                                  <p:childTnLst>
                                    <p:set>
                                      <p:cBhvr>
                                        <p:cTn id="35" dur="1" fill="hold">
                                          <p:stCondLst>
                                            <p:cond delay="0"/>
                                          </p:stCondLst>
                                        </p:cTn>
                                        <p:tgtEl>
                                          <p:spTgt spid="48131">
                                            <p:txEl>
                                              <p:pRg st="9" end="9"/>
                                            </p:txEl>
                                          </p:spTgt>
                                        </p:tgtEl>
                                        <p:attrNameLst>
                                          <p:attrName>style.visibility</p:attrName>
                                        </p:attrNameLst>
                                      </p:cBhvr>
                                      <p:to>
                                        <p:strVal val="visible"/>
                                      </p:to>
                                    </p:set>
                                    <p:animEffect transition="in" filter="wheel(1)">
                                      <p:cBhvr>
                                        <p:cTn id="36" dur="2000"/>
                                        <p:tgtEl>
                                          <p:spTgt spid="481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Box 2"/>
          <p:cNvSpPr txBox="1"/>
          <p:nvPr/>
        </p:nvSpPr>
        <p:spPr>
          <a:xfrm>
            <a:off x="1066800" y="344488"/>
            <a:ext cx="6248400" cy="646112"/>
          </a:xfrm>
          <a:prstGeom prst="rect">
            <a:avLst/>
          </a:prstGeom>
          <a:noFill/>
          <a:ln w="9525">
            <a:noFill/>
          </a:ln>
        </p:spPr>
        <p:txBody>
          <a:bodyPr>
            <a:spAutoFit/>
          </a:bodyPr>
          <a:lstStyle/>
          <a:p>
            <a:pPr algn="ctr" eaLnBrk="1" hangingPunct="1">
              <a:spcBef>
                <a:spcPct val="50000"/>
              </a:spcBef>
            </a:pPr>
            <a:r>
              <a:rPr lang="zh-CN" altLang="en-US" sz="3600" b="1" dirty="0">
                <a:solidFill>
                  <a:schemeClr val="bg1"/>
                </a:solidFill>
                <a:latin typeface="Times New Roman" panose="02020603050405020304" pitchFamily="18" charset="0"/>
              </a:rPr>
              <a:t>国外</a:t>
            </a:r>
            <a:r>
              <a:rPr lang="en-US" altLang="zh-CN" sz="3600" b="1" dirty="0">
                <a:solidFill>
                  <a:schemeClr val="bg1"/>
                </a:solidFill>
                <a:latin typeface="Times New Roman" panose="02020603050405020304" pitchFamily="18" charset="0"/>
              </a:rPr>
              <a:t>ISMS</a:t>
            </a:r>
            <a:r>
              <a:rPr lang="zh-CN" altLang="en-US" sz="3600" b="1" dirty="0">
                <a:solidFill>
                  <a:schemeClr val="bg1"/>
                </a:solidFill>
                <a:latin typeface="Times New Roman" panose="02020603050405020304" pitchFamily="18" charset="0"/>
              </a:rPr>
              <a:t>实践</a:t>
            </a:r>
            <a:endParaRPr lang="zh-CN" altLang="en-US" dirty="0">
              <a:latin typeface="Times New Roman" panose="02020603050405020304" pitchFamily="18" charset="0"/>
            </a:endParaRPr>
          </a:p>
        </p:txBody>
      </p:sp>
      <p:sp>
        <p:nvSpPr>
          <p:cNvPr id="49155" name="TextBox 3"/>
          <p:cNvSpPr txBox="1"/>
          <p:nvPr/>
        </p:nvSpPr>
        <p:spPr>
          <a:xfrm>
            <a:off x="228600" y="1143000"/>
            <a:ext cx="8686800" cy="5462588"/>
          </a:xfrm>
          <a:prstGeom prst="rect">
            <a:avLst/>
          </a:prstGeom>
          <a:noFill/>
          <a:ln w="9525">
            <a:noFill/>
          </a:ln>
        </p:spPr>
        <p:txBody>
          <a:bodyPr>
            <a:spAutoFit/>
          </a:bodyPr>
          <a:lstStyle/>
          <a:p>
            <a:pPr eaLnBrk="1" hangingPunct="1">
              <a:spcBef>
                <a:spcPct val="50000"/>
              </a:spcBef>
              <a:buClr>
                <a:srgbClr val="CC3399"/>
              </a:buClr>
            </a:pPr>
            <a:r>
              <a:rPr lang="en-US" altLang="zh-CN" sz="3200" b="1" dirty="0">
                <a:latin typeface="楷体_GB2312" pitchFamily="49" charset="-122"/>
                <a:ea typeface="楷体_GB2312" pitchFamily="49" charset="-122"/>
              </a:rPr>
              <a:t>ISMS</a:t>
            </a:r>
            <a:r>
              <a:rPr lang="zh-CN" altLang="zh-CN" sz="3200" b="1" dirty="0">
                <a:latin typeface="楷体_GB2312" pitchFamily="49" charset="-122"/>
                <a:ea typeface="楷体_GB2312" pitchFamily="49" charset="-122"/>
              </a:rPr>
              <a:t>在国外电子政务中的应用</a:t>
            </a:r>
            <a:r>
              <a:rPr lang="zh-CN" altLang="en-US" sz="3200" b="1" dirty="0">
                <a:latin typeface="楷体_GB2312" pitchFamily="49" charset="-122"/>
                <a:ea typeface="楷体_GB2312" pitchFamily="49" charset="-122"/>
              </a:rPr>
              <a:t>：</a:t>
            </a:r>
            <a:endParaRPr lang="en-US" altLang="zh-CN" sz="3200" b="1" dirty="0">
              <a:latin typeface="楷体_GB2312" pitchFamily="49" charset="-122"/>
              <a:ea typeface="楷体_GB2312" pitchFamily="49" charset="-122"/>
            </a:endParaRPr>
          </a:p>
          <a:p>
            <a:pPr marL="742950" lvl="1" indent="-285750" eaLnBrk="1" hangingPunct="1">
              <a:spcBef>
                <a:spcPts val="600"/>
              </a:spcBef>
              <a:buFont typeface="Arial" panose="020B0604020202020204" pitchFamily="34" charset="0"/>
              <a:buChar char="•"/>
            </a:pPr>
            <a:r>
              <a:rPr lang="zh-CN" altLang="zh-CN" sz="2400" b="1" dirty="0">
                <a:latin typeface="华文楷体" pitchFamily="2" charset="-122"/>
                <a:ea typeface="华文楷体" pitchFamily="2" charset="-122"/>
              </a:rPr>
              <a:t>英国贸工部（</a:t>
            </a:r>
            <a:r>
              <a:rPr lang="en-US" altLang="zh-CN" sz="2400" b="1" dirty="0">
                <a:latin typeface="华文楷体" pitchFamily="2" charset="-122"/>
                <a:ea typeface="华文楷体" pitchFamily="2" charset="-122"/>
              </a:rPr>
              <a:t>DTI</a:t>
            </a:r>
            <a:r>
              <a:rPr lang="zh-CN" altLang="zh-CN" sz="2400" b="1" dirty="0">
                <a:latin typeface="华文楷体" pitchFamily="2" charset="-122"/>
                <a:ea typeface="华文楷体" pitchFamily="2" charset="-122"/>
              </a:rPr>
              <a:t>）组织众多企业编写了</a:t>
            </a:r>
            <a:r>
              <a:rPr lang="en-US" altLang="zh-CN" sz="2400" b="1" dirty="0">
                <a:latin typeface="华文楷体" pitchFamily="2" charset="-122"/>
                <a:ea typeface="华文楷体" pitchFamily="2" charset="-122"/>
              </a:rPr>
              <a:t>“</a:t>
            </a:r>
            <a:r>
              <a:rPr lang="zh-CN" altLang="zh-CN" sz="2400" b="1" dirty="0">
                <a:latin typeface="华文楷体" pitchFamily="2" charset="-122"/>
                <a:ea typeface="华文楷体" pitchFamily="2" charset="-122"/>
              </a:rPr>
              <a:t>信息安全管理实用规则</a:t>
            </a:r>
            <a:r>
              <a:rPr lang="en-US" altLang="zh-CN" sz="2400" b="1" dirty="0">
                <a:latin typeface="华文楷体" pitchFamily="2" charset="-122"/>
                <a:ea typeface="华文楷体" pitchFamily="2" charset="-122"/>
              </a:rPr>
              <a:t>”</a:t>
            </a:r>
            <a:r>
              <a:rPr lang="zh-CN" altLang="zh-CN" sz="2400" b="1" dirty="0">
                <a:latin typeface="华文楷体" pitchFamily="2" charset="-122"/>
                <a:ea typeface="华文楷体" pitchFamily="2" charset="-122"/>
              </a:rPr>
              <a:t>，它是一个关于信息安全管理的控制措施集，该文本于</a:t>
            </a:r>
            <a:r>
              <a:rPr lang="en-US" altLang="zh-CN" sz="2400" b="1" dirty="0">
                <a:latin typeface="华文楷体" pitchFamily="2" charset="-122"/>
                <a:ea typeface="华文楷体" pitchFamily="2" charset="-122"/>
              </a:rPr>
              <a:t>1995</a:t>
            </a:r>
            <a:r>
              <a:rPr lang="zh-CN" altLang="zh-CN" sz="2400" b="1" dirty="0">
                <a:latin typeface="华文楷体" pitchFamily="2" charset="-122"/>
                <a:ea typeface="华文楷体" pitchFamily="2" charset="-122"/>
              </a:rPr>
              <a:t>年</a:t>
            </a:r>
            <a:r>
              <a:rPr lang="en-US" altLang="zh-CN" sz="2400" b="1" dirty="0">
                <a:latin typeface="华文楷体" pitchFamily="2" charset="-122"/>
                <a:ea typeface="华文楷体" pitchFamily="2" charset="-122"/>
              </a:rPr>
              <a:t>2</a:t>
            </a:r>
            <a:r>
              <a:rPr lang="zh-CN" altLang="zh-CN" sz="2400" b="1" dirty="0">
                <a:latin typeface="华文楷体" pitchFamily="2" charset="-122"/>
                <a:ea typeface="华文楷体" pitchFamily="2" charset="-122"/>
              </a:rPr>
              <a:t>月成为了英国的国家标准</a:t>
            </a:r>
            <a:r>
              <a:rPr lang="zh-CN" altLang="en-US" sz="2400" b="1" dirty="0">
                <a:latin typeface="华文楷体" pitchFamily="2" charset="-122"/>
                <a:ea typeface="华文楷体" pitchFamily="2" charset="-122"/>
              </a:rPr>
              <a:t>。在</a:t>
            </a:r>
            <a:r>
              <a:rPr lang="en-US" altLang="zh-CN" sz="2400" b="1" dirty="0">
                <a:latin typeface="华文楷体" pitchFamily="2" charset="-122"/>
                <a:ea typeface="华文楷体" pitchFamily="2" charset="-122"/>
              </a:rPr>
              <a:t>2000</a:t>
            </a:r>
            <a:r>
              <a:rPr lang="zh-CN" altLang="zh-CN" sz="2400" b="1" dirty="0">
                <a:latin typeface="华文楷体" pitchFamily="2" charset="-122"/>
                <a:ea typeface="华文楷体" pitchFamily="2" charset="-122"/>
              </a:rPr>
              <a:t>被修订并发布为</a:t>
            </a:r>
            <a:r>
              <a:rPr lang="en-US" altLang="zh-CN" sz="2400" b="1" dirty="0">
                <a:latin typeface="华文楷体" pitchFamily="2" charset="-122"/>
                <a:ea typeface="华文楷体" pitchFamily="2" charset="-122"/>
              </a:rPr>
              <a:t>ISO/IEC 17799</a:t>
            </a:r>
            <a:r>
              <a:rPr lang="zh-CN" altLang="zh-CN" sz="2400" b="1" dirty="0">
                <a:latin typeface="华文楷体" pitchFamily="2" charset="-122"/>
                <a:ea typeface="华文楷体" pitchFamily="2" charset="-122"/>
              </a:rPr>
              <a:t>：</a:t>
            </a:r>
            <a:r>
              <a:rPr lang="en-US" altLang="zh-CN" sz="2400" b="1" dirty="0">
                <a:latin typeface="华文楷体" pitchFamily="2" charset="-122"/>
                <a:ea typeface="华文楷体" pitchFamily="2" charset="-122"/>
              </a:rPr>
              <a:t>2005</a:t>
            </a:r>
            <a:r>
              <a:rPr lang="zh-CN" altLang="zh-CN" sz="2400" b="1" dirty="0">
                <a:latin typeface="华文楷体" pitchFamily="2" charset="-122"/>
                <a:ea typeface="华文楷体" pitchFamily="2" charset="-122"/>
              </a:rPr>
              <a:t>。</a:t>
            </a:r>
          </a:p>
          <a:p>
            <a:pPr marL="742950" lvl="1" indent="-285750" eaLnBrk="1" hangingPunct="1">
              <a:buFont typeface="Arial" panose="020B0604020202020204" pitchFamily="34" charset="0"/>
              <a:buChar char="•"/>
            </a:pPr>
            <a:r>
              <a:rPr lang="zh-CN" altLang="zh-CN" sz="2400" b="1" dirty="0">
                <a:latin typeface="华文楷体" pitchFamily="2" charset="-122"/>
                <a:ea typeface="华文楷体" pitchFamily="2" charset="-122"/>
              </a:rPr>
              <a:t>英国信息中心办公室（</a:t>
            </a:r>
            <a:r>
              <a:rPr lang="en-US" altLang="zh-CN" sz="2400" b="1" dirty="0">
                <a:latin typeface="华文楷体" pitchFamily="2" charset="-122"/>
                <a:ea typeface="华文楷体" pitchFamily="2" charset="-122"/>
              </a:rPr>
              <a:t>The Central Office of Information</a:t>
            </a:r>
            <a:r>
              <a:rPr lang="zh-CN" altLang="zh-CN" sz="2400" b="1" dirty="0">
                <a:latin typeface="华文楷体" pitchFamily="2" charset="-122"/>
                <a:ea typeface="华文楷体" pitchFamily="2" charset="-122"/>
              </a:rPr>
              <a:t>， 简称为</a:t>
            </a:r>
            <a:r>
              <a:rPr lang="en-US" altLang="zh-CN" sz="2400" b="1" dirty="0">
                <a:latin typeface="华文楷体" pitchFamily="2" charset="-122"/>
                <a:ea typeface="华文楷体" pitchFamily="2" charset="-122"/>
              </a:rPr>
              <a:t>COI</a:t>
            </a:r>
            <a:r>
              <a:rPr lang="zh-CN" altLang="zh-CN" sz="2400" b="1" dirty="0">
                <a:latin typeface="华文楷体" pitchFamily="2" charset="-122"/>
                <a:ea typeface="华文楷体" pitchFamily="2" charset="-122"/>
              </a:rPr>
              <a:t>）是第一家获得国际标准</a:t>
            </a:r>
            <a:r>
              <a:rPr lang="en-US" altLang="zh-CN" sz="2400" b="1" dirty="0">
                <a:latin typeface="华文楷体" pitchFamily="2" charset="-122"/>
                <a:ea typeface="华文楷体" pitchFamily="2" charset="-122"/>
              </a:rPr>
              <a:t>ISO/IEC 27001</a:t>
            </a:r>
            <a:r>
              <a:rPr lang="zh-CN" altLang="zh-CN" sz="2400" b="1" dirty="0">
                <a:latin typeface="华文楷体" pitchFamily="2" charset="-122"/>
                <a:ea typeface="华文楷体" pitchFamily="2" charset="-122"/>
              </a:rPr>
              <a:t>：</a:t>
            </a:r>
            <a:r>
              <a:rPr lang="en-US" altLang="zh-CN" sz="2400" b="1" dirty="0">
                <a:latin typeface="华文楷体" pitchFamily="2" charset="-122"/>
                <a:ea typeface="华文楷体" pitchFamily="2" charset="-122"/>
              </a:rPr>
              <a:t>2005</a:t>
            </a:r>
            <a:r>
              <a:rPr lang="zh-CN" altLang="zh-CN" sz="2400" b="1" dirty="0">
                <a:latin typeface="华文楷体" pitchFamily="2" charset="-122"/>
                <a:ea typeface="华文楷体" pitchFamily="2" charset="-122"/>
              </a:rPr>
              <a:t>认证的政府机构。</a:t>
            </a:r>
            <a:endParaRPr lang="en-US" altLang="zh-CN" sz="2400" b="1" dirty="0">
              <a:latin typeface="华文楷体" pitchFamily="2" charset="-122"/>
              <a:ea typeface="华文楷体" pitchFamily="2" charset="-122"/>
            </a:endParaRPr>
          </a:p>
          <a:p>
            <a:pPr marL="742950" lvl="1" indent="-285750" eaLnBrk="1" hangingPunct="1">
              <a:buFont typeface="Arial" panose="020B0604020202020204" pitchFamily="34" charset="0"/>
              <a:buChar char="•"/>
            </a:pPr>
            <a:r>
              <a:rPr lang="zh-CN" altLang="zh-CN" sz="2400" b="1" dirty="0">
                <a:latin typeface="华文楷体" pitchFamily="2" charset="-122"/>
                <a:ea typeface="华文楷体" pitchFamily="2" charset="-122"/>
              </a:rPr>
              <a:t>从国外的实践来看，</a:t>
            </a:r>
            <a:r>
              <a:rPr lang="zh-CN" altLang="zh-CN" sz="2400" b="1" dirty="0">
                <a:solidFill>
                  <a:srgbClr val="FF0000"/>
                </a:solidFill>
                <a:latin typeface="华文楷体" pitchFamily="2" charset="-122"/>
                <a:ea typeface="华文楷体" pitchFamily="2" charset="-122"/>
              </a:rPr>
              <a:t>采用信息安全管理体系</a:t>
            </a:r>
            <a:r>
              <a:rPr lang="zh-CN" altLang="zh-CN" sz="2400" b="1" dirty="0">
                <a:latin typeface="华文楷体" pitchFamily="2" charset="-122"/>
                <a:ea typeface="华文楷体" pitchFamily="2" charset="-122"/>
              </a:rPr>
              <a:t>来解决信息安全问题，是一种非常好的方法和机制。</a:t>
            </a:r>
            <a:endParaRPr lang="en-US" altLang="zh-CN" sz="2400" b="1" dirty="0">
              <a:latin typeface="华文楷体" pitchFamily="2" charset="-122"/>
              <a:ea typeface="华文楷体" pitchFamily="2" charset="-122"/>
            </a:endParaRPr>
          </a:p>
          <a:p>
            <a:pPr marL="742950" lvl="1" indent="-285750" eaLnBrk="1" hangingPunct="1">
              <a:buFont typeface="Arial" panose="020B0604020202020204" pitchFamily="34" charset="0"/>
              <a:buChar char="•"/>
            </a:pPr>
            <a:r>
              <a:rPr lang="zh-CN" altLang="zh-CN" sz="2400" b="1" dirty="0">
                <a:latin typeface="华文楷体" pitchFamily="2" charset="-122"/>
                <a:ea typeface="华文楷体" pitchFamily="2" charset="-122"/>
              </a:rPr>
              <a:t>我国政府在信息安全方面也制定了</a:t>
            </a:r>
            <a:r>
              <a:rPr lang="zh-CN" altLang="zh-CN" sz="2400" b="1" dirty="0">
                <a:solidFill>
                  <a:srgbClr val="FF0000"/>
                </a:solidFill>
                <a:latin typeface="华文楷体" pitchFamily="2" charset="-122"/>
                <a:ea typeface="华文楷体" pitchFamily="2" charset="-122"/>
              </a:rPr>
              <a:t>等级保护制度</a:t>
            </a:r>
            <a:r>
              <a:rPr lang="zh-CN" altLang="zh-CN" sz="2400" b="1" dirty="0">
                <a:latin typeface="华文楷体" pitchFamily="2" charset="-122"/>
                <a:ea typeface="华文楷体" pitchFamily="2" charset="-122"/>
              </a:rPr>
              <a:t>作为国家安全管理的策略，因此国务院信息化工作办公室决定结合国际标准</a:t>
            </a:r>
            <a:r>
              <a:rPr lang="en-US" altLang="zh-CN" sz="2400" b="1" dirty="0">
                <a:latin typeface="华文楷体" pitchFamily="2" charset="-122"/>
                <a:ea typeface="华文楷体" pitchFamily="2" charset="-122"/>
              </a:rPr>
              <a:t>ISO/IEC27001</a:t>
            </a:r>
            <a:r>
              <a:rPr lang="zh-CN" altLang="zh-CN" sz="2400" b="1" dirty="0">
                <a:latin typeface="华文楷体" pitchFamily="2" charset="-122"/>
                <a:ea typeface="华文楷体" pitchFamily="2" charset="-122"/>
              </a:rPr>
              <a:t>和国内的等级保护制度，进行信息安全管理体系的建设工作。</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animEffect transition="in" filter="circle(in)">
                                      <p:cBhvr>
                                        <p:cTn id="7" dur="2000"/>
                                        <p:tgtEl>
                                          <p:spTgt spid="4915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9155">
                                            <p:txEl>
                                              <p:pRg st="2" end="2"/>
                                            </p:txEl>
                                          </p:spTgt>
                                        </p:tgtEl>
                                        <p:attrNameLst>
                                          <p:attrName>style.visibility</p:attrName>
                                        </p:attrNameLst>
                                      </p:cBhvr>
                                      <p:to>
                                        <p:strVal val="visible"/>
                                      </p:to>
                                    </p:set>
                                    <p:animEffect transition="in" filter="circle(in)">
                                      <p:cBhvr>
                                        <p:cTn id="12" dur="2000"/>
                                        <p:tgtEl>
                                          <p:spTgt spid="4915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49155">
                                            <p:txEl>
                                              <p:pRg st="3" end="3"/>
                                            </p:txEl>
                                          </p:spTgt>
                                        </p:tgtEl>
                                        <p:attrNameLst>
                                          <p:attrName>style.visibility</p:attrName>
                                        </p:attrNameLst>
                                      </p:cBhvr>
                                      <p:to>
                                        <p:strVal val="visible"/>
                                      </p:to>
                                    </p:set>
                                    <p:animEffect transition="in" filter="wheel(1)">
                                      <p:cBhvr>
                                        <p:cTn id="17" dur="2000"/>
                                        <p:tgtEl>
                                          <p:spTgt spid="4915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49155">
                                            <p:txEl>
                                              <p:pRg st="4" end="4"/>
                                            </p:txEl>
                                          </p:spTgt>
                                        </p:tgtEl>
                                        <p:attrNameLst>
                                          <p:attrName>style.visibility</p:attrName>
                                        </p:attrNameLst>
                                      </p:cBhvr>
                                      <p:to>
                                        <p:strVal val="visible"/>
                                      </p:to>
                                    </p:set>
                                    <p:animEffect transition="in" filter="fade">
                                      <p:cBhvr>
                                        <p:cTn id="22" dur="1000"/>
                                        <p:tgtEl>
                                          <p:spTgt spid="49155">
                                            <p:txEl>
                                              <p:pRg st="4" end="4"/>
                                            </p:txEl>
                                          </p:spTgt>
                                        </p:tgtEl>
                                      </p:cBhvr>
                                    </p:animEffect>
                                    <p:anim calcmode="lin" valueType="num">
                                      <p:cBhvr>
                                        <p:cTn id="23" dur="1000" fill="hold"/>
                                        <p:tgtEl>
                                          <p:spTgt spid="4915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4915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title="isms"/>
          <p:cNvSpPr/>
          <p:nvPr/>
        </p:nvSpPr>
        <p:spPr bwMode="auto">
          <a:xfrm>
            <a:off x="2590800" y="1262063"/>
            <a:ext cx="3886200" cy="2438400"/>
          </a:xfrm>
          <a:prstGeom prst="ellipse">
            <a:avLst/>
          </a:prstGeom>
          <a:noFill/>
          <a:ln w="9525" cap="flat" cmpd="sng" algn="ctr">
            <a:solidFill>
              <a:schemeClr val="accent1"/>
            </a:solidFill>
            <a:prstDash val="solid"/>
            <a:round/>
            <a:headEnd type="none" w="med" len="med"/>
            <a:tailEnd type="none" w="med" len="me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347" name="椭圆 2"/>
          <p:cNvSpPr/>
          <p:nvPr/>
        </p:nvSpPr>
        <p:spPr>
          <a:xfrm>
            <a:off x="2743200" y="2743200"/>
            <a:ext cx="3581400" cy="2133600"/>
          </a:xfrm>
          <a:prstGeom prst="ellipse">
            <a:avLst/>
          </a:prstGeom>
          <a:noFill/>
          <a:ln w="9525" cap="flat" cmpd="sng">
            <a:solidFill>
              <a:schemeClr val="accent1"/>
            </a:solidFill>
            <a:prstDash val="solid"/>
            <a:headEnd type="none" w="med" len="med"/>
            <a:tailEnd type="none" w="med" len="med"/>
          </a:ln>
        </p:spPr>
        <p:txBody>
          <a:bodyPr>
            <a:spAutoFit/>
          </a:bodyPr>
          <a:lstStyle/>
          <a:p>
            <a:pPr algn="ctr">
              <a:spcBef>
                <a:spcPct val="50000"/>
              </a:spcBef>
            </a:pPr>
            <a:endParaRPr lang="zh-CN" altLang="en-US" dirty="0">
              <a:latin typeface="Times New Roman" panose="02020603050405020304" pitchFamily="18" charset="0"/>
            </a:endParaRPr>
          </a:p>
        </p:txBody>
      </p:sp>
      <p:sp>
        <p:nvSpPr>
          <p:cNvPr id="57348" name="椭圆 3"/>
          <p:cNvSpPr/>
          <p:nvPr/>
        </p:nvSpPr>
        <p:spPr>
          <a:xfrm rot="-3432902">
            <a:off x="2889250" y="1687513"/>
            <a:ext cx="1401763" cy="2206625"/>
          </a:xfrm>
          <a:prstGeom prst="ellipse">
            <a:avLst/>
          </a:prstGeom>
          <a:noFill/>
          <a:ln w="9525" cap="flat" cmpd="sng">
            <a:solidFill>
              <a:schemeClr val="accent1"/>
            </a:solidFill>
            <a:prstDash val="solid"/>
            <a:headEnd type="none" w="med" len="med"/>
            <a:tailEnd type="none" w="med" len="med"/>
          </a:ln>
        </p:spPr>
        <p:txBody>
          <a:bodyPr>
            <a:spAutoFit/>
          </a:bodyPr>
          <a:lstStyle/>
          <a:p>
            <a:pPr algn="ctr">
              <a:spcBef>
                <a:spcPct val="50000"/>
              </a:spcBef>
            </a:pPr>
            <a:endParaRPr lang="zh-CN" altLang="en-US" dirty="0">
              <a:latin typeface="Times New Roman" panose="02020603050405020304" pitchFamily="18" charset="0"/>
            </a:endParaRPr>
          </a:p>
        </p:txBody>
      </p:sp>
      <p:sp>
        <p:nvSpPr>
          <p:cNvPr id="57349" name="文本框 6"/>
          <p:cNvSpPr txBox="1"/>
          <p:nvPr/>
        </p:nvSpPr>
        <p:spPr>
          <a:xfrm>
            <a:off x="3124200" y="1516063"/>
            <a:ext cx="2819400" cy="646112"/>
          </a:xfrm>
          <a:prstGeom prst="rect">
            <a:avLst/>
          </a:prstGeom>
          <a:noFill/>
          <a:ln w="9525">
            <a:noFill/>
          </a:ln>
        </p:spPr>
        <p:txBody>
          <a:bodyPr>
            <a:spAutoFit/>
          </a:bodyPr>
          <a:lstStyle/>
          <a:p>
            <a:pPr algn="ctr"/>
            <a:r>
              <a:rPr lang="en-US" altLang="zh-CN" sz="1800" dirty="0">
                <a:latin typeface="Times New Roman" panose="02020603050405020304" pitchFamily="18" charset="0"/>
              </a:rPr>
              <a:t>A:信息安全管理体系</a:t>
            </a:r>
          </a:p>
          <a:p>
            <a:pPr algn="ctr"/>
            <a:r>
              <a:rPr lang="en-US" altLang="zh-CN" sz="1800" dirty="0">
                <a:latin typeface="Times New Roman" panose="02020603050405020304" pitchFamily="18" charset="0"/>
              </a:rPr>
              <a:t>ISMS</a:t>
            </a:r>
            <a:endParaRPr lang="zh-CN" altLang="en-US" sz="1800" dirty="0">
              <a:latin typeface="Times New Roman" panose="02020603050405020304" pitchFamily="18" charset="0"/>
            </a:endParaRPr>
          </a:p>
        </p:txBody>
      </p:sp>
      <p:sp>
        <p:nvSpPr>
          <p:cNvPr id="57350" name="文本框 7"/>
          <p:cNvSpPr txBox="1"/>
          <p:nvPr/>
        </p:nvSpPr>
        <p:spPr>
          <a:xfrm>
            <a:off x="2705100" y="2252663"/>
            <a:ext cx="1409700" cy="338137"/>
          </a:xfrm>
          <a:prstGeom prst="rect">
            <a:avLst/>
          </a:prstGeom>
          <a:noFill/>
          <a:ln w="9525">
            <a:noFill/>
          </a:ln>
        </p:spPr>
        <p:txBody>
          <a:bodyPr>
            <a:spAutoFit/>
          </a:bodyPr>
          <a:lstStyle/>
          <a:p>
            <a:r>
              <a:rPr lang="en-US" altLang="zh-CN" sz="1600" dirty="0">
                <a:latin typeface="Times New Roman" panose="02020603050405020304" pitchFamily="18" charset="0"/>
              </a:rPr>
              <a:t>B:风险评估</a:t>
            </a:r>
            <a:endParaRPr lang="zh-CN" altLang="en-US" sz="1600" dirty="0">
              <a:latin typeface="Times New Roman" panose="02020603050405020304" pitchFamily="18" charset="0"/>
            </a:endParaRPr>
          </a:p>
        </p:txBody>
      </p:sp>
      <p:sp>
        <p:nvSpPr>
          <p:cNvPr id="57351" name="文本框 8"/>
          <p:cNvSpPr txBox="1"/>
          <p:nvPr/>
        </p:nvSpPr>
        <p:spPr>
          <a:xfrm>
            <a:off x="3657600" y="3090863"/>
            <a:ext cx="685800" cy="369887"/>
          </a:xfrm>
          <a:prstGeom prst="rect">
            <a:avLst/>
          </a:prstGeom>
          <a:noFill/>
          <a:ln w="9525">
            <a:noFill/>
          </a:ln>
        </p:spPr>
        <p:txBody>
          <a:bodyPr>
            <a:spAutoFit/>
          </a:bodyPr>
          <a:lstStyle/>
          <a:p>
            <a:r>
              <a:rPr lang="en-US" altLang="zh-CN" sz="1800" dirty="0">
                <a:latin typeface="Times New Roman" panose="02020603050405020304" pitchFamily="18" charset="0"/>
              </a:rPr>
              <a:t>BC</a:t>
            </a:r>
            <a:endParaRPr lang="zh-CN" altLang="en-US" sz="1800" dirty="0">
              <a:latin typeface="Times New Roman" panose="02020603050405020304" pitchFamily="18" charset="0"/>
            </a:endParaRPr>
          </a:p>
        </p:txBody>
      </p:sp>
      <p:sp>
        <p:nvSpPr>
          <p:cNvPr id="57352" name="文本框 9"/>
          <p:cNvSpPr txBox="1"/>
          <p:nvPr/>
        </p:nvSpPr>
        <p:spPr>
          <a:xfrm>
            <a:off x="3362325" y="4071938"/>
            <a:ext cx="2590800" cy="368300"/>
          </a:xfrm>
          <a:prstGeom prst="rect">
            <a:avLst/>
          </a:prstGeom>
          <a:noFill/>
          <a:ln w="9525">
            <a:noFill/>
          </a:ln>
        </p:spPr>
        <p:txBody>
          <a:bodyPr>
            <a:spAutoFit/>
          </a:bodyPr>
          <a:lstStyle/>
          <a:p>
            <a:r>
              <a:rPr lang="en-US" altLang="zh-CN" sz="1800" dirty="0">
                <a:latin typeface="Times New Roman" panose="02020603050405020304" pitchFamily="18" charset="0"/>
              </a:rPr>
              <a:t>C:等级保护与等级测评</a:t>
            </a:r>
            <a:endParaRPr lang="zh-CN" altLang="en-US" sz="1800" dirty="0">
              <a:latin typeface="Times New Roman" panose="02020603050405020304" pitchFamily="18" charset="0"/>
            </a:endParaRPr>
          </a:p>
        </p:txBody>
      </p:sp>
      <p:sp>
        <p:nvSpPr>
          <p:cNvPr id="57353" name="文本框 11"/>
          <p:cNvSpPr txBox="1"/>
          <p:nvPr/>
        </p:nvSpPr>
        <p:spPr>
          <a:xfrm>
            <a:off x="4876800" y="3090863"/>
            <a:ext cx="685800" cy="369887"/>
          </a:xfrm>
          <a:prstGeom prst="rect">
            <a:avLst/>
          </a:prstGeom>
          <a:noFill/>
          <a:ln w="9525">
            <a:noFill/>
          </a:ln>
        </p:spPr>
        <p:txBody>
          <a:bodyPr>
            <a:spAutoFit/>
          </a:bodyPr>
          <a:lstStyle/>
          <a:p>
            <a:r>
              <a:rPr lang="en-US" altLang="zh-CN" sz="1800" dirty="0">
                <a:latin typeface="Times New Roman" panose="02020603050405020304" pitchFamily="18" charset="0"/>
              </a:rPr>
              <a:t>AC</a:t>
            </a:r>
            <a:endParaRPr lang="zh-CN" altLang="en-US" sz="1800" dirty="0">
              <a:latin typeface="Times New Roman" panose="02020603050405020304" pitchFamily="18" charset="0"/>
            </a:endParaRPr>
          </a:p>
        </p:txBody>
      </p:sp>
      <p:sp>
        <p:nvSpPr>
          <p:cNvPr id="13" name="文本框 12"/>
          <p:cNvSpPr txBox="1"/>
          <p:nvPr/>
        </p:nvSpPr>
        <p:spPr>
          <a:xfrm>
            <a:off x="336550" y="2459038"/>
            <a:ext cx="1765300" cy="1077913"/>
          </a:xfrm>
          <a:prstGeom prst="rect">
            <a:avLst/>
          </a:prstGeom>
          <a:solidFill>
            <a:schemeClr val="tx1">
              <a:lumMod val="20000"/>
              <a:lumOff val="80000"/>
            </a:schemeClr>
          </a:solidFill>
          <a:ln>
            <a:solidFill>
              <a:schemeClr val="tx2">
                <a:alpha val="0"/>
              </a:schemeClr>
            </a:solidFill>
          </a:ln>
        </p:spPr>
        <p:txBody>
          <a:bodyPr>
            <a:spAutoFit/>
          </a:bodyPr>
          <a:lstStyle/>
          <a:p>
            <a:pPr marR="0" defTabSz="914400">
              <a:buClrTx/>
              <a:buSzTx/>
              <a:buFontTx/>
              <a:buNone/>
              <a:defRPr/>
            </a:pPr>
            <a:r>
              <a:rPr kumimoji="0" lang="en-US" altLang="zh-CN" sz="1600" kern="1200" cap="none" spc="0" normalizeH="0" baseline="0" noProof="0" dirty="0" err="1">
                <a:solidFill>
                  <a:srgbClr val="000000"/>
                </a:solidFill>
                <a:latin typeface="Times New Roman" panose="02020603050405020304" pitchFamily="18" charset="0"/>
                <a:ea typeface="宋体" panose="02010600030101010101" pitchFamily="2" charset="-122"/>
                <a:cs typeface="+mn-cs"/>
              </a:rPr>
              <a:t>BC：分类分级的思想、资产的重要性分级，活动内容相似</a:t>
            </a:r>
            <a:r>
              <a:rPr kumimoji="0" lang="en-US" altLang="zh-CN" sz="1600" kern="1200" cap="none" spc="0" normalizeH="0" baseline="0" noProof="0" dirty="0">
                <a:solidFill>
                  <a:srgbClr val="000000"/>
                </a:solidFill>
                <a:latin typeface="Times New Roman" panose="02020603050405020304" pitchFamily="18" charset="0"/>
                <a:ea typeface="宋体" panose="02010600030101010101" pitchFamily="2" charset="-122"/>
                <a:cs typeface="+mn-cs"/>
              </a:rPr>
              <a:t>。</a:t>
            </a:r>
            <a:endParaRPr kumimoji="0" lang="zh-CN" altLang="en-US" sz="1600" kern="1200" cap="none" spc="0" normalizeH="0" baseline="0" noProof="0" dirty="0">
              <a:solidFill>
                <a:srgbClr val="000000"/>
              </a:solidFill>
              <a:latin typeface="Times New Roman" panose="02020603050405020304" pitchFamily="18" charset="0"/>
              <a:ea typeface="宋体" panose="02010600030101010101" pitchFamily="2" charset="-122"/>
              <a:cs typeface="+mn-cs"/>
            </a:endParaRPr>
          </a:p>
        </p:txBody>
      </p:sp>
      <p:sp>
        <p:nvSpPr>
          <p:cNvPr id="50187" name="线形标注 1(带边框和强调线) 14"/>
          <p:cNvSpPr/>
          <p:nvPr/>
        </p:nvSpPr>
        <p:spPr>
          <a:xfrm>
            <a:off x="1676400" y="2209800"/>
            <a:ext cx="1914525" cy="1168400"/>
          </a:xfrm>
          <a:prstGeom prst="accentBorderCallout1">
            <a:avLst>
              <a:gd name="adj1" fmla="val 18750"/>
              <a:gd name="adj2" fmla="val -8333"/>
              <a:gd name="adj3" fmla="val 112500"/>
              <a:gd name="adj4" fmla="val -38333"/>
            </a:avLst>
          </a:prstGeom>
          <a:no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57356" name="线形标注 1 16"/>
          <p:cNvSpPr/>
          <p:nvPr/>
        </p:nvSpPr>
        <p:spPr>
          <a:xfrm rot="10800000">
            <a:off x="336550" y="2438400"/>
            <a:ext cx="1765300" cy="1071563"/>
          </a:xfrm>
          <a:prstGeom prst="borderCallout1">
            <a:avLst>
              <a:gd name="adj1" fmla="val 18750"/>
              <a:gd name="adj2" fmla="val -8333"/>
              <a:gd name="adj3" fmla="val 21588"/>
              <a:gd name="adj4" fmla="val -93338"/>
            </a:avLst>
          </a:prstGeom>
          <a:solidFill>
            <a:srgbClr val="FF0000">
              <a:alpha val="0"/>
            </a:srgbClr>
          </a:solidFill>
          <a:ln w="22225" cap="flat" cmpd="sng">
            <a:solidFill>
              <a:srgbClr val="FF0000"/>
            </a:solidFill>
            <a:prstDash val="solid"/>
            <a:round/>
            <a:headEnd type="none" w="med" len="med"/>
            <a:tailEnd type="none" w="med" len="med"/>
          </a:ln>
        </p:spPr>
        <p:txBody>
          <a:bodyPr>
            <a:spAutoFit/>
          </a:bodyPr>
          <a:lstStyle/>
          <a:p>
            <a:pPr algn="ctr">
              <a:spcBef>
                <a:spcPct val="50000"/>
              </a:spcBef>
            </a:pPr>
            <a:endParaRPr lang="zh-CN" altLang="en-US" dirty="0">
              <a:latin typeface="Times New Roman" panose="02020603050405020304" pitchFamily="18" charset="0"/>
            </a:endParaRPr>
          </a:p>
        </p:txBody>
      </p:sp>
      <p:sp>
        <p:nvSpPr>
          <p:cNvPr id="57357" name="线形标注 1 17"/>
          <p:cNvSpPr/>
          <p:nvPr/>
        </p:nvSpPr>
        <p:spPr>
          <a:xfrm>
            <a:off x="6784975" y="2465388"/>
            <a:ext cx="1978025" cy="1563687"/>
          </a:xfrm>
          <a:prstGeom prst="borderCallout1">
            <a:avLst>
              <a:gd name="adj1" fmla="val 18750"/>
              <a:gd name="adj2" fmla="val -8333"/>
              <a:gd name="adj3" fmla="val 52861"/>
              <a:gd name="adj4" fmla="val -73644"/>
            </a:avLst>
          </a:prstGeom>
          <a:solidFill>
            <a:srgbClr val="FF0000">
              <a:alpha val="0"/>
            </a:srgbClr>
          </a:solidFill>
          <a:ln w="22225" cap="flat" cmpd="sng">
            <a:solidFill>
              <a:srgbClr val="FF0000"/>
            </a:solidFill>
            <a:prstDash val="solid"/>
            <a:round/>
            <a:headEnd type="none" w="med" len="med"/>
            <a:tailEnd type="none" w="med" len="med"/>
          </a:ln>
        </p:spPr>
        <p:txBody>
          <a:bodyPr>
            <a:spAutoFit/>
          </a:bodyPr>
          <a:lstStyle/>
          <a:p>
            <a:pPr algn="ctr">
              <a:spcBef>
                <a:spcPct val="50000"/>
              </a:spcBef>
            </a:pPr>
            <a:endParaRPr lang="zh-CN" altLang="en-US" dirty="0">
              <a:latin typeface="Times New Roman" panose="02020603050405020304" pitchFamily="18" charset="0"/>
            </a:endParaRPr>
          </a:p>
        </p:txBody>
      </p:sp>
      <p:sp>
        <p:nvSpPr>
          <p:cNvPr id="19" name="文本框 18"/>
          <p:cNvSpPr txBox="1"/>
          <p:nvPr/>
        </p:nvSpPr>
        <p:spPr>
          <a:xfrm>
            <a:off x="6783388" y="2459038"/>
            <a:ext cx="1979613" cy="1570038"/>
          </a:xfrm>
          <a:prstGeom prst="rect">
            <a:avLst/>
          </a:prstGeom>
          <a:solidFill>
            <a:schemeClr val="tx1">
              <a:lumMod val="20000"/>
              <a:lumOff val="80000"/>
            </a:schemeClr>
          </a:solidFill>
          <a:ln>
            <a:solidFill>
              <a:schemeClr val="tx2">
                <a:alpha val="0"/>
              </a:schemeClr>
            </a:solidFill>
          </a:ln>
        </p:spPr>
        <p:txBody>
          <a:bodyPr>
            <a:spAutoFit/>
          </a:bodyPr>
          <a:lstStyle/>
          <a:p>
            <a:pPr marR="0" defTabSz="914400">
              <a:buClrTx/>
              <a:buSzTx/>
              <a:buFontTx/>
              <a:buNone/>
              <a:defRPr/>
            </a:pPr>
            <a:r>
              <a:rPr kumimoji="0" lang="en-US" altLang="zh-CN" sz="1600" kern="1200" cap="none" spc="0" normalizeH="0" baseline="0" noProof="0" dirty="0" err="1">
                <a:solidFill>
                  <a:srgbClr val="000000"/>
                </a:solidFill>
                <a:latin typeface="Times New Roman" panose="02020603050405020304" pitchFamily="18" charset="0"/>
                <a:ea typeface="宋体" panose="02010600030101010101" pitchFamily="2" charset="-122"/>
                <a:cs typeface="+mn-cs"/>
              </a:rPr>
              <a:t>AC：有效保护组织的信息安全，可以互相补充</a:t>
            </a:r>
            <a:r>
              <a:rPr kumimoji="0" lang="zh-CN" altLang="en-US" sz="1600" kern="1200" cap="none" spc="0" normalizeH="0" baseline="0" noProof="0" dirty="0">
                <a:solidFill>
                  <a:srgbClr val="000000"/>
                </a:solidFill>
                <a:latin typeface="Times New Roman" panose="02020603050405020304" pitchFamily="18" charset="0"/>
                <a:ea typeface="宋体" panose="02010600030101010101" pitchFamily="2" charset="-122"/>
                <a:cs typeface="+mn-cs"/>
              </a:rPr>
              <a:t>；</a:t>
            </a:r>
            <a:r>
              <a:rPr kumimoji="0" lang="en-US" altLang="zh-CN" sz="1600" kern="1200" cap="none" spc="0" normalizeH="0" baseline="0" noProof="0" dirty="0">
                <a:solidFill>
                  <a:srgbClr val="000000"/>
                </a:solidFill>
                <a:latin typeface="Times New Roman" panose="02020603050405020304" pitchFamily="18" charset="0"/>
                <a:ea typeface="宋体" panose="02010600030101010101" pitchFamily="2" charset="-122"/>
                <a:cs typeface="+mn-cs"/>
              </a:rPr>
              <a:t>ISO17799中安全管理的控制目标和控制措施一致。</a:t>
            </a:r>
            <a:endParaRPr kumimoji="0" lang="zh-CN" altLang="en-US" sz="1600" kern="1200" cap="none" spc="0" normalizeH="0" baseline="0" noProof="0" dirty="0">
              <a:solidFill>
                <a:srgbClr val="000000"/>
              </a:solidFill>
              <a:latin typeface="Times New Roman" panose="02020603050405020304" pitchFamily="18" charset="0"/>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nodePh="1">
                                  <p:stCondLst>
                                    <p:cond delay="0"/>
                                  </p:stCondLst>
                                  <p:endCondLst>
                                    <p:cond evt="begin" delay="0">
                                      <p:tn val="5"/>
                                    </p:cond>
                                  </p:endCondLst>
                                  <p:childTnLst>
                                    <p:set>
                                      <p:cBhvr>
                                        <p:cTn id="6" dur="1" fill="hold">
                                          <p:stCondLst>
                                            <p:cond delay="0"/>
                                          </p:stCondLst>
                                        </p:cTn>
                                        <p:tgtEl>
                                          <p:spTgt spid="50187"/>
                                        </p:tgtEl>
                                        <p:attrNameLst>
                                          <p:attrName>style.visibility</p:attrName>
                                        </p:attrNameLst>
                                      </p:cBhvr>
                                      <p:to>
                                        <p:strVal val="visible"/>
                                      </p:to>
                                    </p:set>
                                    <p:animEffect transition="in" filter="barn(inVertical)">
                                      <p:cBhvr>
                                        <p:cTn id="7" dur="500"/>
                                        <p:tgtEl>
                                          <p:spTgt spid="50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ln/>
        </p:spPr>
        <p:txBody>
          <a:bodyPr vert="horz" wrap="square" lIns="91440" tIns="45720" rIns="91440" bIns="45720" anchor="ctr" anchorCtr="0"/>
          <a:lstStyle/>
          <a:p>
            <a:r>
              <a:rPr lang="zh-CN" altLang="en-US" dirty="0">
                <a:ea typeface="宋体" panose="02010600030101010101" pitchFamily="2" charset="-122"/>
              </a:rPr>
              <a:t>示例</a:t>
            </a:r>
          </a:p>
        </p:txBody>
      </p:sp>
      <p:sp>
        <p:nvSpPr>
          <p:cNvPr id="4" name="矩形 3"/>
          <p:cNvSpPr/>
          <p:nvPr/>
        </p:nvSpPr>
        <p:spPr>
          <a:xfrm>
            <a:off x="609600" y="1487488"/>
            <a:ext cx="8229600" cy="4894262"/>
          </a:xfrm>
          <a:prstGeom prst="rect">
            <a:avLst/>
          </a:prstGeom>
          <a:noFill/>
          <a:ln w="9525">
            <a:noFill/>
          </a:ln>
        </p:spPr>
        <p:txBody>
          <a:bodyPr>
            <a:spAutoFit/>
          </a:bodyPr>
          <a:lstStyle/>
          <a:p>
            <a:r>
              <a:rPr lang="zh-CN" altLang="en-US" b="1" dirty="0">
                <a:solidFill>
                  <a:schemeClr val="tx1"/>
                </a:solidFill>
                <a:latin typeface="华文楷体" pitchFamily="2" charset="-122"/>
                <a:ea typeface="华文楷体" pitchFamily="2" charset="-122"/>
              </a:rPr>
              <a:t>        伴随着云计算的高速发展与普及，随之而来的全新网络威胁、数据泄漏和欺诈的风险，在全球范围内引发了诸多危机：</a:t>
            </a:r>
            <a:r>
              <a:rPr lang="en-US" altLang="zh-CN" b="1" dirty="0">
                <a:solidFill>
                  <a:schemeClr val="tx1"/>
                </a:solidFill>
                <a:latin typeface="华文楷体" pitchFamily="2" charset="-122"/>
                <a:ea typeface="华文楷体" pitchFamily="2" charset="-122"/>
              </a:rPr>
              <a:t>2011</a:t>
            </a:r>
            <a:r>
              <a:rPr lang="zh-CN" altLang="en-US" b="1" dirty="0">
                <a:solidFill>
                  <a:schemeClr val="tx1"/>
                </a:solidFill>
                <a:latin typeface="华文楷体" pitchFamily="2" charset="-122"/>
                <a:ea typeface="华文楷体" pitchFamily="2" charset="-122"/>
              </a:rPr>
              <a:t>年</a:t>
            </a:r>
            <a:r>
              <a:rPr lang="en-US" altLang="zh-CN" b="1" dirty="0">
                <a:solidFill>
                  <a:schemeClr val="tx1"/>
                </a:solidFill>
                <a:latin typeface="华文楷体" pitchFamily="2" charset="-122"/>
                <a:ea typeface="华文楷体" pitchFamily="2" charset="-122"/>
              </a:rPr>
              <a:t>3</a:t>
            </a:r>
            <a:r>
              <a:rPr lang="zh-CN" altLang="en-US" b="1" dirty="0">
                <a:solidFill>
                  <a:schemeClr val="tx1"/>
                </a:solidFill>
                <a:latin typeface="华文楷体" pitchFamily="2" charset="-122"/>
                <a:ea typeface="华文楷体" pitchFamily="2" charset="-122"/>
              </a:rPr>
              <a:t>月，谷歌</a:t>
            </a:r>
            <a:r>
              <a:rPr lang="en-US" altLang="zh-CN" b="1" dirty="0">
                <a:solidFill>
                  <a:schemeClr val="tx1"/>
                </a:solidFill>
                <a:latin typeface="华文楷体" pitchFamily="2" charset="-122"/>
                <a:ea typeface="华文楷体" pitchFamily="2" charset="-122"/>
              </a:rPr>
              <a:t>Gmail</a:t>
            </a:r>
            <a:r>
              <a:rPr lang="zh-CN" altLang="en-US" b="1" dirty="0">
                <a:solidFill>
                  <a:schemeClr val="tx1"/>
                </a:solidFill>
                <a:latin typeface="华文楷体" pitchFamily="2" charset="-122"/>
                <a:ea typeface="华文楷体" pitchFamily="2" charset="-122"/>
              </a:rPr>
              <a:t>邮箱爆发大规模的用户数据泄漏事件，约有</a:t>
            </a:r>
            <a:r>
              <a:rPr lang="en-US" altLang="zh-CN" b="1" dirty="0">
                <a:solidFill>
                  <a:schemeClr val="tx1"/>
                </a:solidFill>
                <a:latin typeface="华文楷体" pitchFamily="2" charset="-122"/>
                <a:ea typeface="华文楷体" pitchFamily="2" charset="-122"/>
              </a:rPr>
              <a:t>15</a:t>
            </a:r>
            <a:r>
              <a:rPr lang="zh-CN" altLang="en-US" b="1" dirty="0">
                <a:solidFill>
                  <a:schemeClr val="tx1"/>
                </a:solidFill>
                <a:latin typeface="华文楷体" pitchFamily="2" charset="-122"/>
                <a:ea typeface="华文楷体" pitchFamily="2" charset="-122"/>
              </a:rPr>
              <a:t>万用户的使用信息受到不同程度的破坏；</a:t>
            </a:r>
            <a:r>
              <a:rPr lang="en-US" altLang="zh-CN" b="1" dirty="0">
                <a:solidFill>
                  <a:schemeClr val="tx1"/>
                </a:solidFill>
                <a:latin typeface="华文楷体" pitchFamily="2" charset="-122"/>
                <a:ea typeface="华文楷体" pitchFamily="2" charset="-122"/>
              </a:rPr>
              <a:t>2011</a:t>
            </a:r>
            <a:r>
              <a:rPr lang="zh-CN" altLang="en-US" b="1" dirty="0">
                <a:solidFill>
                  <a:schemeClr val="tx1"/>
                </a:solidFill>
                <a:latin typeface="华文楷体" pitchFamily="2" charset="-122"/>
                <a:ea typeface="华文楷体" pitchFamily="2" charset="-122"/>
              </a:rPr>
              <a:t>年</a:t>
            </a:r>
            <a:r>
              <a:rPr lang="en-US" altLang="zh-CN" b="1" dirty="0">
                <a:solidFill>
                  <a:schemeClr val="tx1"/>
                </a:solidFill>
                <a:latin typeface="华文楷体" pitchFamily="2" charset="-122"/>
                <a:ea typeface="华文楷体" pitchFamily="2" charset="-122"/>
              </a:rPr>
              <a:t>4</a:t>
            </a:r>
            <a:r>
              <a:rPr lang="zh-CN" altLang="en-US" b="1" dirty="0">
                <a:solidFill>
                  <a:schemeClr val="tx1"/>
                </a:solidFill>
                <a:latin typeface="华文楷体" pitchFamily="2" charset="-122"/>
                <a:ea typeface="华文楷体" pitchFamily="2" charset="-122"/>
              </a:rPr>
              <a:t>月，全球最大的网络零售商亚马逊也发生史上最严重的宕机事件，导致其云服务中断持续了近四天，业务损失十分严重。由此可见，想要获得真正全面的云计算服务，安全问题是重中之重。</a:t>
            </a:r>
            <a:endParaRPr lang="en-US" altLang="zh-CN" b="1" dirty="0">
              <a:solidFill>
                <a:schemeClr val="tx1"/>
              </a:solidFill>
              <a:latin typeface="华文楷体" pitchFamily="2" charset="-122"/>
              <a:ea typeface="华文楷体" pitchFamily="2" charset="-122"/>
            </a:endParaRPr>
          </a:p>
          <a:p>
            <a:r>
              <a:rPr lang="en-US" altLang="zh-CN" b="1" dirty="0">
                <a:solidFill>
                  <a:schemeClr val="tx1"/>
                </a:solidFill>
                <a:latin typeface="华文楷体" pitchFamily="2" charset="-122"/>
                <a:ea typeface="华文楷体" pitchFamily="2" charset="-122"/>
              </a:rPr>
              <a:t>        </a:t>
            </a:r>
            <a:r>
              <a:rPr lang="zh-CN" altLang="en-US" b="1" dirty="0">
                <a:solidFill>
                  <a:schemeClr val="tx1"/>
                </a:solidFill>
                <a:latin typeface="华文楷体" pitchFamily="2" charset="-122"/>
                <a:ea typeface="华文楷体" pitchFamily="2" charset="-122"/>
              </a:rPr>
              <a:t>如何并有效地避免云计算所带来的安全隐患，国际上大家都在积极地做出努力，在对相关技术水平提出更高要求的同时，如何更好的建立企业自身的信息安全管理标准体系也成为了行业日益关注的焦点。</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ln/>
        </p:spPr>
        <p:txBody>
          <a:bodyPr vert="horz" wrap="square" lIns="91440" tIns="45720" rIns="91440" bIns="45720" anchor="ctr" anchorCtr="0"/>
          <a:lstStyle/>
          <a:p>
            <a:endParaRPr lang="zh-CN" altLang="en-US" dirty="0">
              <a:ea typeface="宋体" panose="02010600030101010101" pitchFamily="2" charset="-122"/>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600" b="1" i="0" u="none" strike="noStrike" kern="1200" cap="none" spc="0" normalizeH="0" baseline="0" noProof="0" dirty="0">
                <a:ln>
                  <a:noFill/>
                </a:ln>
                <a:solidFill>
                  <a:schemeClr val="tx1"/>
                </a:solidFill>
                <a:effectLst/>
                <a:uLnTx/>
                <a:uFillTx/>
                <a:latin typeface="华文楷体" pitchFamily="2" charset="-122"/>
                <a:ea typeface="华文楷体" pitchFamily="2" charset="-122"/>
                <a:cs typeface="+mn-cs"/>
              </a:rPr>
              <a:t>通过</a:t>
            </a:r>
            <a:r>
              <a:rPr kumimoji="0" lang="zh-CN" altLang="en-US" sz="26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rPr>
              <a:t>实施信息</a:t>
            </a:r>
            <a:r>
              <a:rPr kumimoji="0" lang="zh-CN" altLang="en-US" sz="2600" b="1" i="0" u="none" strike="noStrike" kern="1200" cap="none" spc="0" normalizeH="0" baseline="0" noProof="0" dirty="0">
                <a:ln>
                  <a:noFill/>
                </a:ln>
                <a:solidFill>
                  <a:schemeClr val="tx1"/>
                </a:solidFill>
                <a:effectLst/>
                <a:uLnTx/>
                <a:uFillTx/>
                <a:latin typeface="华文楷体" pitchFamily="2" charset="-122"/>
                <a:ea typeface="华文楷体" pitchFamily="2" charset="-122"/>
                <a:cs typeface="+mn-cs"/>
              </a:rPr>
              <a:t>安全管理体系，将为企业</a:t>
            </a:r>
            <a:r>
              <a:rPr kumimoji="0" lang="zh-CN" altLang="en-US" sz="26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rPr>
              <a:t>带来的益处：</a:t>
            </a:r>
            <a:endParaRPr kumimoji="0" lang="en-US" altLang="zh-CN" sz="26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zh-CN" altLang="en-US"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rPr>
              <a:t>证明</a:t>
            </a:r>
            <a:r>
              <a:rPr kumimoji="0" lang="zh-CN" altLang="en-US" sz="2400" b="1" i="0" u="none" strike="noStrike" kern="1200" cap="none" spc="0" normalizeH="0" baseline="0" noProof="0" dirty="0">
                <a:ln>
                  <a:noFill/>
                </a:ln>
                <a:solidFill>
                  <a:schemeClr val="tx1"/>
                </a:solidFill>
                <a:effectLst/>
                <a:uLnTx/>
                <a:uFillTx/>
                <a:latin typeface="华文楷体" pitchFamily="2" charset="-122"/>
                <a:ea typeface="华文楷体" pitchFamily="2" charset="-122"/>
                <a:cs typeface="+mn-cs"/>
              </a:rPr>
              <a:t>企业内部控制具备独立保障，并满足公司信息管理管理和业务连续性要求</a:t>
            </a:r>
            <a:r>
              <a:rPr kumimoji="0" lang="zh-CN" altLang="en-US"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rPr>
              <a:t>；</a:t>
            </a:r>
            <a:endParaRPr kumimoji="0" lang="en-US" altLang="zh-CN"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zh-CN" altLang="en-US"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rPr>
              <a:t>独立</a:t>
            </a:r>
            <a:r>
              <a:rPr kumimoji="0" lang="zh-CN" altLang="en-US" sz="2400" b="1" i="0" u="none" strike="noStrike" kern="1200" cap="none" spc="0" normalizeH="0" baseline="0" noProof="0" dirty="0">
                <a:ln>
                  <a:noFill/>
                </a:ln>
                <a:solidFill>
                  <a:schemeClr val="tx1"/>
                </a:solidFill>
                <a:effectLst/>
                <a:uLnTx/>
                <a:uFillTx/>
                <a:latin typeface="华文楷体" pitchFamily="2" charset="-122"/>
                <a:ea typeface="华文楷体" pitchFamily="2" charset="-122"/>
                <a:cs typeface="+mn-cs"/>
              </a:rPr>
              <a:t>证明已遵守各项适用法律法规</a:t>
            </a:r>
            <a:r>
              <a:rPr kumimoji="0" lang="zh-CN" altLang="en-US"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rPr>
              <a:t>；</a:t>
            </a:r>
            <a:endParaRPr kumimoji="0" lang="en-US" altLang="zh-CN"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zh-CN" altLang="en-US"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rPr>
              <a:t>通过</a:t>
            </a:r>
            <a:r>
              <a:rPr kumimoji="0" lang="zh-CN" altLang="en-US" sz="2400" b="1" i="0" u="none" strike="noStrike" kern="1200" cap="none" spc="0" normalizeH="0" baseline="0" noProof="0" dirty="0">
                <a:ln>
                  <a:noFill/>
                </a:ln>
                <a:solidFill>
                  <a:schemeClr val="tx1"/>
                </a:solidFill>
                <a:effectLst/>
                <a:uLnTx/>
                <a:uFillTx/>
                <a:latin typeface="华文楷体" pitchFamily="2" charset="-122"/>
                <a:ea typeface="华文楷体" pitchFamily="2" charset="-122"/>
                <a:cs typeface="+mn-cs"/>
              </a:rPr>
              <a:t>满足合同要求以提供竞争优势，并向客户展示其云计算安全已受到保护</a:t>
            </a:r>
            <a:r>
              <a:rPr kumimoji="0" lang="zh-CN" altLang="en-US"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rPr>
              <a:t>；</a:t>
            </a:r>
            <a:endParaRPr kumimoji="0" lang="en-US" altLang="zh-CN"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zh-CN" altLang="en-US"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rPr>
              <a:t>在</a:t>
            </a:r>
            <a:r>
              <a:rPr kumimoji="0" lang="zh-CN" altLang="en-US" sz="2400" b="1" i="0" u="none" strike="noStrike" kern="1200" cap="none" spc="0" normalizeH="0" baseline="0" noProof="0" dirty="0">
                <a:ln>
                  <a:noFill/>
                </a:ln>
                <a:solidFill>
                  <a:schemeClr val="tx1"/>
                </a:solidFill>
                <a:effectLst/>
                <a:uLnTx/>
                <a:uFillTx/>
                <a:latin typeface="华文楷体" pitchFamily="2" charset="-122"/>
                <a:ea typeface="华文楷体" pitchFamily="2" charset="-122"/>
                <a:cs typeface="+mn-cs"/>
              </a:rPr>
              <a:t>使信息安全流程、程序和文件材料正式化的同时，能够独立地证明您的云服务相关风险已得到妥善识别、评估和管理</a:t>
            </a:r>
            <a:r>
              <a:rPr kumimoji="0" lang="zh-CN" altLang="en-US"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rPr>
              <a:t>；</a:t>
            </a:r>
            <a:endParaRPr kumimoji="0" lang="en-US" altLang="zh-CN"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zh-CN" altLang="en-US" sz="2400" b="1" i="0" u="none" strike="noStrike" kern="1200" cap="none" spc="0" normalizeH="0" baseline="0" noProof="0" dirty="0" smtClean="0">
                <a:ln>
                  <a:noFill/>
                </a:ln>
                <a:solidFill>
                  <a:schemeClr val="tx1"/>
                </a:solidFill>
                <a:effectLst/>
                <a:uLnTx/>
                <a:uFillTx/>
                <a:latin typeface="华文楷体" pitchFamily="2" charset="-122"/>
                <a:ea typeface="华文楷体" pitchFamily="2" charset="-122"/>
                <a:cs typeface="+mn-cs"/>
              </a:rPr>
              <a:t>证明</a:t>
            </a:r>
            <a:r>
              <a:rPr kumimoji="0" lang="zh-CN" altLang="en-US" sz="2400" b="1" i="0" u="none" strike="noStrike" kern="1200" cap="none" spc="0" normalizeH="0" baseline="0" noProof="0" dirty="0">
                <a:ln>
                  <a:noFill/>
                </a:ln>
                <a:solidFill>
                  <a:schemeClr val="tx1"/>
                </a:solidFill>
                <a:effectLst/>
                <a:uLnTx/>
                <a:uFillTx/>
                <a:latin typeface="华文楷体" pitchFamily="2" charset="-122"/>
                <a:ea typeface="华文楷体" pitchFamily="2" charset="-122"/>
                <a:cs typeface="+mn-cs"/>
              </a:rPr>
              <a:t>高级管理层对其信息安全的承诺；定期的评估流程有助于不断监控企业的绩效并最终得到改善。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down)">
                                      <p:cBhvr>
                                        <p:cTn id="15" dur="500"/>
                                        <p:tgtEl>
                                          <p:spTgt spid="3">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down)">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wheel(1)">
                                      <p:cBhvr>
                                        <p:cTn id="23"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60419" name="Group 3"/>
          <p:cNvGrpSpPr/>
          <p:nvPr/>
        </p:nvGrpSpPr>
        <p:grpSpPr>
          <a:xfrm>
            <a:off x="1828800" y="1752600"/>
            <a:ext cx="762000" cy="665163"/>
            <a:chOff x="1110" y="2656"/>
            <a:chExt cx="1549" cy="1351"/>
          </a:xfrm>
        </p:grpSpPr>
        <p:sp>
          <p:nvSpPr>
            <p:cNvPr id="60450"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0451"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60420" name="Group 7"/>
          <p:cNvGrpSpPr/>
          <p:nvPr/>
        </p:nvGrpSpPr>
        <p:grpSpPr>
          <a:xfrm>
            <a:off x="1828800" y="2667000"/>
            <a:ext cx="762000" cy="665163"/>
            <a:chOff x="3174" y="2656"/>
            <a:chExt cx="1549" cy="1351"/>
          </a:xfrm>
        </p:grpSpPr>
        <p:sp>
          <p:nvSpPr>
            <p:cNvPr id="60447"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0448"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60421" name="Line 11"/>
          <p:cNvSpPr/>
          <p:nvPr/>
        </p:nvSpPr>
        <p:spPr>
          <a:xfrm>
            <a:off x="2438400" y="2362200"/>
            <a:ext cx="4800600" cy="0"/>
          </a:xfrm>
          <a:prstGeom prst="line">
            <a:avLst/>
          </a:prstGeom>
          <a:ln w="25400" cap="flat" cmpd="sng">
            <a:solidFill>
              <a:srgbClr val="C0C0C0"/>
            </a:solidFill>
            <a:prstDash val="sysDot"/>
            <a:headEnd type="none" w="med" len="med"/>
            <a:tailEnd type="oval" w="med" len="med"/>
          </a:ln>
        </p:spPr>
      </p:sp>
      <p:sp>
        <p:nvSpPr>
          <p:cNvPr id="60422" name="Text Box 12"/>
          <p:cNvSpPr txBox="1"/>
          <p:nvPr/>
        </p:nvSpPr>
        <p:spPr>
          <a:xfrm>
            <a:off x="2590800" y="1809750"/>
            <a:ext cx="5638800" cy="523875"/>
          </a:xfrm>
          <a:prstGeom prst="rect">
            <a:avLst/>
          </a:prstGeom>
          <a:noFill/>
          <a:ln w="9525">
            <a:noFill/>
          </a:ln>
        </p:spPr>
        <p:txBody>
          <a:bodyPr>
            <a:spAutoFit/>
          </a:bodyPr>
          <a:lstStyle/>
          <a:p>
            <a:r>
              <a:rPr lang="en-US" altLang="zh-CN" sz="2800" b="1" dirty="0">
                <a:solidFill>
                  <a:schemeClr val="tx1"/>
                </a:solidFill>
                <a:latin typeface="Arial" panose="020B0604020202020204" pitchFamily="34" charset="0"/>
              </a:rPr>
              <a:t>ISMS</a:t>
            </a:r>
            <a:r>
              <a:rPr lang="zh-CN" altLang="en-US" sz="2800" b="1" dirty="0">
                <a:solidFill>
                  <a:schemeClr val="tx1"/>
                </a:solidFill>
                <a:latin typeface="Arial" panose="020B0604020202020204" pitchFamily="34" charset="0"/>
              </a:rPr>
              <a:t>实施方法与模型</a:t>
            </a:r>
          </a:p>
        </p:txBody>
      </p:sp>
      <p:sp>
        <p:nvSpPr>
          <p:cNvPr id="60423" name="Text Box 13"/>
          <p:cNvSpPr txBox="1"/>
          <p:nvPr/>
        </p:nvSpPr>
        <p:spPr>
          <a:xfrm>
            <a:off x="2025650" y="18510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1</a:t>
            </a:r>
          </a:p>
        </p:txBody>
      </p:sp>
      <p:sp>
        <p:nvSpPr>
          <p:cNvPr id="60424" name="Line 14"/>
          <p:cNvSpPr/>
          <p:nvPr/>
        </p:nvSpPr>
        <p:spPr>
          <a:xfrm>
            <a:off x="2438400" y="3276600"/>
            <a:ext cx="4800600" cy="0"/>
          </a:xfrm>
          <a:prstGeom prst="line">
            <a:avLst/>
          </a:prstGeom>
          <a:ln w="25400" cap="flat" cmpd="sng">
            <a:solidFill>
              <a:srgbClr val="C0C0C0"/>
            </a:solidFill>
            <a:prstDash val="sysDot"/>
            <a:headEnd type="none" w="med" len="med"/>
            <a:tailEnd type="oval" w="med" len="med"/>
          </a:ln>
        </p:spPr>
      </p:sp>
      <p:sp>
        <p:nvSpPr>
          <p:cNvPr id="60425" name="Text Box 16"/>
          <p:cNvSpPr txBox="1"/>
          <p:nvPr/>
        </p:nvSpPr>
        <p:spPr>
          <a:xfrm>
            <a:off x="2025650" y="27654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2</a:t>
            </a:r>
          </a:p>
        </p:txBody>
      </p:sp>
      <p:sp>
        <p:nvSpPr>
          <p:cNvPr id="60426" name="Text Box 21"/>
          <p:cNvSpPr txBox="1"/>
          <p:nvPr/>
        </p:nvSpPr>
        <p:spPr>
          <a:xfrm>
            <a:off x="2025650" y="36576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3</a:t>
            </a:r>
          </a:p>
        </p:txBody>
      </p:sp>
      <p:sp>
        <p:nvSpPr>
          <p:cNvPr id="60427" name="Text Box 22"/>
          <p:cNvSpPr txBox="1"/>
          <p:nvPr/>
        </p:nvSpPr>
        <p:spPr>
          <a:xfrm>
            <a:off x="1981200" y="52578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60428" name="Text Box 24"/>
          <p:cNvSpPr txBox="1"/>
          <p:nvPr/>
        </p:nvSpPr>
        <p:spPr>
          <a:xfrm>
            <a:off x="2590800" y="2667000"/>
            <a:ext cx="5029200" cy="523875"/>
          </a:xfrm>
          <a:prstGeom prst="rect">
            <a:avLst/>
          </a:prstGeom>
          <a:noFill/>
          <a:ln w="9525">
            <a:noFill/>
          </a:ln>
        </p:spPr>
        <p:txBody>
          <a:bodyPr>
            <a:spAutoFit/>
          </a:bodyPr>
          <a:lstStyle/>
          <a:p>
            <a:r>
              <a:rPr lang="en-US" altLang="zh-CN" sz="2800" b="1" dirty="0">
                <a:solidFill>
                  <a:schemeClr val="tx1"/>
                </a:solidFill>
                <a:latin typeface="Arial" panose="020B0604020202020204" pitchFamily="34" charset="0"/>
              </a:rPr>
              <a:t>ISMS</a:t>
            </a:r>
            <a:r>
              <a:rPr lang="zh-CN" altLang="en-US" sz="2800" b="1" dirty="0">
                <a:solidFill>
                  <a:schemeClr val="tx1"/>
                </a:solidFill>
                <a:latin typeface="Arial" panose="020B0604020202020204" pitchFamily="34" charset="0"/>
              </a:rPr>
              <a:t>实施过程</a:t>
            </a:r>
            <a:endParaRPr lang="en-US" altLang="zh-CN" sz="2800" b="1" dirty="0">
              <a:solidFill>
                <a:schemeClr val="tx1"/>
              </a:solidFill>
              <a:latin typeface="Arial" panose="020B0604020202020204" pitchFamily="34" charset="0"/>
            </a:endParaRPr>
          </a:p>
        </p:txBody>
      </p:sp>
      <p:grpSp>
        <p:nvGrpSpPr>
          <p:cNvPr id="60429" name="Group 7"/>
          <p:cNvGrpSpPr/>
          <p:nvPr/>
        </p:nvGrpSpPr>
        <p:grpSpPr>
          <a:xfrm>
            <a:off x="1828800" y="4364038"/>
            <a:ext cx="762000" cy="665162"/>
            <a:chOff x="3174" y="2656"/>
            <a:chExt cx="1549" cy="1351"/>
          </a:xfrm>
        </p:grpSpPr>
        <p:sp>
          <p:nvSpPr>
            <p:cNvPr id="60444"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0445"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2"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600" b="0" i="0" u="none" strike="noStrike" kern="1200" cap="none" spc="0" normalizeH="0" baseline="0" noProof="0" dirty="0">
                  <a:ln>
                    <a:noFill/>
                  </a:ln>
                  <a:solidFill>
                    <a:schemeClr val="bg1"/>
                  </a:solidFill>
                  <a:effectLst/>
                  <a:uLnTx/>
                  <a:uFillTx/>
                  <a:latin typeface="+mj-lt"/>
                  <a:ea typeface="宋体" panose="02010600030101010101" pitchFamily="2" charset="-122"/>
                  <a:cs typeface="+mn-cs"/>
                </a:rPr>
                <a:t>4</a:t>
              </a:r>
              <a:endParaRPr kumimoji="0" lang="zh-CN" altLang="en-US" sz="2600" b="0" i="0" u="none" strike="noStrike" kern="1200" cap="none" spc="0" normalizeH="0" baseline="0" noProof="0" dirty="0">
                <a:ln>
                  <a:noFill/>
                </a:ln>
                <a:solidFill>
                  <a:schemeClr val="bg1"/>
                </a:solidFill>
                <a:effectLst/>
                <a:uLnTx/>
                <a:uFillTx/>
                <a:latin typeface="+mj-lt"/>
                <a:ea typeface="宋体" panose="02010600030101010101" pitchFamily="2" charset="-122"/>
                <a:cs typeface="+mn-cs"/>
              </a:endParaRPr>
            </a:p>
          </p:txBody>
        </p:sp>
      </p:grpSp>
      <p:sp>
        <p:nvSpPr>
          <p:cNvPr id="60430" name="Line 14"/>
          <p:cNvSpPr/>
          <p:nvPr/>
        </p:nvSpPr>
        <p:spPr>
          <a:xfrm>
            <a:off x="2438400" y="4953000"/>
            <a:ext cx="4800600" cy="0"/>
          </a:xfrm>
          <a:prstGeom prst="line">
            <a:avLst/>
          </a:prstGeom>
          <a:ln w="25400" cap="flat" cmpd="sng">
            <a:solidFill>
              <a:srgbClr val="C0C0C0"/>
            </a:solidFill>
            <a:prstDash val="sysDot"/>
            <a:headEnd type="none" w="med" len="med"/>
            <a:tailEnd type="oval" w="med" len="med"/>
          </a:ln>
        </p:spPr>
      </p:sp>
      <p:sp>
        <p:nvSpPr>
          <p:cNvPr id="60431" name="TextBox 1"/>
          <p:cNvSpPr txBox="1"/>
          <p:nvPr/>
        </p:nvSpPr>
        <p:spPr>
          <a:xfrm>
            <a:off x="2590800" y="4419600"/>
            <a:ext cx="2876550" cy="523875"/>
          </a:xfrm>
          <a:prstGeom prst="rect">
            <a:avLst/>
          </a:prstGeom>
          <a:noFill/>
          <a:ln w="9525">
            <a:noFill/>
          </a:ln>
        </p:spPr>
        <p:txBody>
          <a:bodyPr>
            <a:spAutoFit/>
          </a:bodyPr>
          <a:lstStyle/>
          <a:p>
            <a:pPr eaLnBrk="1" hangingPunct="1">
              <a:spcBef>
                <a:spcPct val="50000"/>
              </a:spcBef>
            </a:pPr>
            <a:r>
              <a:rPr lang="zh-CN" altLang="en-US" sz="2800" b="1" dirty="0">
                <a:solidFill>
                  <a:schemeClr val="tx1"/>
                </a:solidFill>
                <a:latin typeface="Arial" panose="020B0604020202020204" pitchFamily="34" charset="0"/>
              </a:rPr>
              <a:t>国外</a:t>
            </a:r>
            <a:r>
              <a:rPr lang="en-US" altLang="zh-CN" sz="2800" b="1" dirty="0">
                <a:solidFill>
                  <a:schemeClr val="tx1"/>
                </a:solidFill>
                <a:latin typeface="Arial" panose="020B0604020202020204" pitchFamily="34" charset="0"/>
              </a:rPr>
              <a:t>ISMS</a:t>
            </a:r>
            <a:r>
              <a:rPr lang="zh-CN" altLang="en-US" sz="2800" b="1" dirty="0">
                <a:solidFill>
                  <a:schemeClr val="tx1"/>
                </a:solidFill>
                <a:latin typeface="Arial" panose="020B0604020202020204" pitchFamily="34" charset="0"/>
              </a:rPr>
              <a:t>实践</a:t>
            </a:r>
          </a:p>
        </p:txBody>
      </p:sp>
      <p:grpSp>
        <p:nvGrpSpPr>
          <p:cNvPr id="60432" name="Group 3"/>
          <p:cNvGrpSpPr/>
          <p:nvPr/>
        </p:nvGrpSpPr>
        <p:grpSpPr>
          <a:xfrm>
            <a:off x="1828800" y="3525838"/>
            <a:ext cx="762000" cy="665162"/>
            <a:chOff x="1110" y="2656"/>
            <a:chExt cx="1549" cy="1351"/>
          </a:xfrm>
        </p:grpSpPr>
        <p:sp>
          <p:nvSpPr>
            <p:cNvPr id="6044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044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8"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rPr>
                <a:t>3</a:t>
              </a:r>
              <a:endParaRPr kumimoji="0" lang="zh-CN" altLang="en-US"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60433" name="Line 14"/>
          <p:cNvSpPr/>
          <p:nvPr/>
        </p:nvSpPr>
        <p:spPr>
          <a:xfrm flipV="1">
            <a:off x="2438400" y="4105275"/>
            <a:ext cx="6553200" cy="9525"/>
          </a:xfrm>
          <a:prstGeom prst="line">
            <a:avLst/>
          </a:prstGeom>
          <a:ln w="25400" cap="flat" cmpd="sng">
            <a:solidFill>
              <a:srgbClr val="C0C0C0"/>
            </a:solidFill>
            <a:prstDash val="sysDot"/>
            <a:headEnd type="none" w="med" len="med"/>
            <a:tailEnd type="oval" w="med" len="med"/>
          </a:ln>
        </p:spPr>
      </p:sp>
      <p:sp>
        <p:nvSpPr>
          <p:cNvPr id="60434" name="TextBox 4"/>
          <p:cNvSpPr txBox="1"/>
          <p:nvPr/>
        </p:nvSpPr>
        <p:spPr>
          <a:xfrm>
            <a:off x="2590800" y="3581400"/>
            <a:ext cx="6477000" cy="523875"/>
          </a:xfrm>
          <a:prstGeom prst="rect">
            <a:avLst/>
          </a:prstGeom>
          <a:noFill/>
          <a:ln w="9525">
            <a:noFill/>
          </a:ln>
        </p:spPr>
        <p:txBody>
          <a:bodyPr>
            <a:spAutoFit/>
          </a:bodyPr>
          <a:lstStyle/>
          <a:p>
            <a:pPr eaLnBrk="1" hangingPunct="1">
              <a:spcBef>
                <a:spcPct val="50000"/>
              </a:spcBef>
            </a:pPr>
            <a:r>
              <a:rPr lang="en-US" altLang="zh-CN" sz="2800" b="1" dirty="0">
                <a:solidFill>
                  <a:schemeClr val="tx1"/>
                </a:solidFill>
                <a:latin typeface="Arial" panose="020B0604020202020204" pitchFamily="34" charset="0"/>
              </a:rPr>
              <a:t>ISMS</a:t>
            </a:r>
            <a:r>
              <a:rPr lang="zh-CN" altLang="en-US" sz="2800" b="1" dirty="0">
                <a:solidFill>
                  <a:schemeClr val="tx1"/>
                </a:solidFill>
                <a:latin typeface="宋体" panose="02010600030101010101" pitchFamily="2" charset="-122"/>
              </a:rPr>
              <a:t>、</a:t>
            </a:r>
            <a:r>
              <a:rPr lang="zh-CN" altLang="en-US" sz="2800" b="1" dirty="0">
                <a:solidFill>
                  <a:schemeClr val="tx1"/>
                </a:solidFill>
                <a:latin typeface="Arial" panose="020B0604020202020204" pitchFamily="34" charset="0"/>
              </a:rPr>
              <a:t>等级保护、风险评估三者的关系</a:t>
            </a:r>
          </a:p>
        </p:txBody>
      </p:sp>
      <p:grpSp>
        <p:nvGrpSpPr>
          <p:cNvPr id="60435" name="Group 3"/>
          <p:cNvGrpSpPr/>
          <p:nvPr/>
        </p:nvGrpSpPr>
        <p:grpSpPr>
          <a:xfrm>
            <a:off x="1828800" y="5126038"/>
            <a:ext cx="762000" cy="665162"/>
            <a:chOff x="1110" y="2656"/>
            <a:chExt cx="1549" cy="1351"/>
          </a:xfrm>
        </p:grpSpPr>
        <p:sp>
          <p:nvSpPr>
            <p:cNvPr id="60438"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60439"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9"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rPr>
                <a:t>5</a:t>
              </a:r>
              <a:endParaRPr kumimoji="0" lang="zh-CN" altLang="en-US"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60436" name="Line 14"/>
          <p:cNvSpPr/>
          <p:nvPr/>
        </p:nvSpPr>
        <p:spPr>
          <a:xfrm>
            <a:off x="2438400" y="5715000"/>
            <a:ext cx="4800600" cy="0"/>
          </a:xfrm>
          <a:prstGeom prst="line">
            <a:avLst/>
          </a:prstGeom>
          <a:ln w="25400" cap="flat" cmpd="sng">
            <a:solidFill>
              <a:srgbClr val="C0C0C0"/>
            </a:solidFill>
            <a:prstDash val="sysDot"/>
            <a:headEnd type="none" w="med" len="med"/>
            <a:tailEnd type="oval" w="med" len="med"/>
          </a:ln>
        </p:spPr>
      </p:sp>
      <p:sp>
        <p:nvSpPr>
          <p:cNvPr id="60437" name="TextBox 1"/>
          <p:cNvSpPr txBox="1"/>
          <p:nvPr/>
        </p:nvSpPr>
        <p:spPr>
          <a:xfrm>
            <a:off x="2590800" y="5181600"/>
            <a:ext cx="2876550" cy="523875"/>
          </a:xfrm>
          <a:prstGeom prst="rect">
            <a:avLst/>
          </a:prstGeom>
          <a:noFill/>
          <a:ln w="9525">
            <a:noFill/>
          </a:ln>
        </p:spPr>
        <p:txBody>
          <a:bodyPr>
            <a:spAutoFit/>
          </a:bodyPr>
          <a:lstStyle/>
          <a:p>
            <a:pPr eaLnBrk="1" hangingPunct="1">
              <a:spcBef>
                <a:spcPct val="50000"/>
              </a:spcBef>
            </a:pPr>
            <a:r>
              <a:rPr lang="zh-CN" altLang="en-US" sz="2800" b="1" dirty="0">
                <a:solidFill>
                  <a:srgbClr val="FF0000"/>
                </a:solidFill>
                <a:latin typeface="Arial" panose="020B0604020202020204" pitchFamily="34" charset="0"/>
              </a:rPr>
              <a:t>思政点</a:t>
            </a:r>
          </a:p>
        </p:txBody>
      </p:sp>
    </p:spTree>
  </p:cSld>
  <p:clrMapOvr>
    <a:masterClrMapping/>
  </p:clrMapOvr>
  <p:transition>
    <p:blinds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ln/>
        </p:spPr>
        <p:txBody>
          <a:bodyPr vert="horz" wrap="square" lIns="91440" tIns="45720" rIns="91440" bIns="45720" anchor="ctr" anchorCtr="0"/>
          <a:lstStyle/>
          <a:p>
            <a:pPr eaLnBrk="1" hangingPunct="1"/>
            <a:r>
              <a:rPr lang="zh-CN" altLang="en-US" b="1" dirty="0">
                <a:ea typeface="宋体" panose="02010600030101010101" pitchFamily="2" charset="-122"/>
              </a:rPr>
              <a:t>思政点</a:t>
            </a:r>
          </a:p>
        </p:txBody>
      </p:sp>
      <p:pic>
        <p:nvPicPr>
          <p:cNvPr id="61443" name="图片 1"/>
          <p:cNvPicPr>
            <a:picLocks noChangeAspect="1"/>
          </p:cNvPicPr>
          <p:nvPr/>
        </p:nvPicPr>
        <p:blipFill>
          <a:blip r:embed="rId2"/>
          <a:stretch>
            <a:fillRect/>
          </a:stretch>
        </p:blipFill>
        <p:spPr>
          <a:xfrm>
            <a:off x="152400" y="4572000"/>
            <a:ext cx="2979738" cy="2063750"/>
          </a:xfrm>
          <a:prstGeom prst="rect">
            <a:avLst/>
          </a:prstGeom>
          <a:noFill/>
          <a:ln w="9525">
            <a:noFill/>
          </a:ln>
        </p:spPr>
      </p:pic>
      <p:sp>
        <p:nvSpPr>
          <p:cNvPr id="48132" name="矩形 2"/>
          <p:cNvSpPr/>
          <p:nvPr/>
        </p:nvSpPr>
        <p:spPr>
          <a:xfrm>
            <a:off x="152400" y="1403350"/>
            <a:ext cx="8839200" cy="3092450"/>
          </a:xfrm>
          <a:prstGeom prst="rect">
            <a:avLst/>
          </a:prstGeom>
          <a:noFill/>
          <a:ln w="9525">
            <a:noFill/>
          </a:ln>
        </p:spPr>
        <p:txBody>
          <a:bodyPr>
            <a:spAutoFit/>
          </a:bodyPr>
          <a:lstStyle/>
          <a:p>
            <a:pPr indent="719455">
              <a:lnSpc>
                <a:spcPct val="150000"/>
              </a:lnSpc>
            </a:pPr>
            <a:r>
              <a:rPr lang="zh-CN" altLang="en-US" b="1" dirty="0">
                <a:solidFill>
                  <a:schemeClr val="tx1"/>
                </a:solidFill>
                <a:latin typeface="华文楷体" pitchFamily="2" charset="-122"/>
                <a:ea typeface="华文楷体" pitchFamily="2" charset="-122"/>
              </a:rPr>
              <a:t>各个组织对信息安全管理体系的采用是一个</a:t>
            </a:r>
            <a:r>
              <a:rPr lang="zh-CN" altLang="en-US" b="1" dirty="0">
                <a:solidFill>
                  <a:srgbClr val="FF0000"/>
                </a:solidFill>
                <a:latin typeface="华文楷体" pitchFamily="2" charset="-122"/>
                <a:ea typeface="华文楷体" pitchFamily="2" charset="-122"/>
              </a:rPr>
              <a:t>战略</a:t>
            </a:r>
            <a:r>
              <a:rPr lang="zh-CN" altLang="en-US" b="1" dirty="0">
                <a:solidFill>
                  <a:schemeClr val="tx1"/>
                </a:solidFill>
                <a:latin typeface="华文楷体" pitchFamily="2" charset="-122"/>
                <a:ea typeface="华文楷体" pitchFamily="2" charset="-122"/>
              </a:rPr>
              <a:t>决定。因为按照一定的标准建立的信息安全管理体系需要在组织内形成良好的信息安全文化氛围，它涉及到组织全体成员和全部过程，需要取得管理者的足够的重视和有力的支持。需要国家制定的强有力的相关法律、法规及其他要求。</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animEffect transition="in" filter="circle(in)">
                                      <p:cBhvr>
                                        <p:cTn id="7" dur="2000"/>
                                        <p:tgtEl>
                                          <p:spTgt spid="481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9200" y="381000"/>
            <a:ext cx="6172200" cy="646113"/>
          </a:xfrm>
          <a:prstGeom prst="rect">
            <a:avLst/>
          </a:prstGeom>
          <a:noFill/>
        </p:spPr>
        <p:txBody>
          <a:bodyPr>
            <a:spAutoFit/>
          </a:bodyPr>
          <a:lstStyle/>
          <a:p>
            <a:pPr marR="0" algn="ctr" defTabSz="914400" eaLnBrk="1" hangingPunct="1">
              <a:spcBef>
                <a:spcPct val="50000"/>
              </a:spcBef>
              <a:buClrTx/>
              <a:buSzTx/>
              <a:buFont typeface="Arial" panose="020B0604020202020204" pitchFamily="34" charset="0"/>
              <a:buNone/>
              <a:defRPr/>
            </a:pPr>
            <a:r>
              <a:rPr kumimoji="0" lang="zh-CN" altLang="en-US" sz="3600" b="1" kern="1200" cap="none" spc="0" normalizeH="0" baseline="0" noProof="0" dirty="0">
                <a:solidFill>
                  <a:schemeClr val="bg1"/>
                </a:solidFill>
                <a:latin typeface="+mj-lt"/>
                <a:ea typeface="宋体" panose="02010600030101010101" pitchFamily="2" charset="-122"/>
                <a:cs typeface="+mj-cs"/>
              </a:rPr>
              <a:t>总结</a:t>
            </a:r>
          </a:p>
        </p:txBody>
      </p:sp>
      <p:sp>
        <p:nvSpPr>
          <p:cNvPr id="62467" name="TextBox 2"/>
          <p:cNvSpPr txBox="1"/>
          <p:nvPr/>
        </p:nvSpPr>
        <p:spPr>
          <a:xfrm>
            <a:off x="431800" y="2190750"/>
            <a:ext cx="7721600" cy="2246313"/>
          </a:xfrm>
          <a:prstGeom prst="rect">
            <a:avLst/>
          </a:prstGeom>
          <a:noFill/>
          <a:ln w="9525">
            <a:noFill/>
          </a:ln>
        </p:spPr>
        <p:txBody>
          <a:bodyPr>
            <a:spAutoFit/>
          </a:bodyPr>
          <a:lstStyle/>
          <a:p>
            <a:pPr eaLnBrk="1" hangingPunct="1">
              <a:spcBef>
                <a:spcPct val="50000"/>
              </a:spcBef>
            </a:pPr>
            <a:r>
              <a:rPr lang="zh-CN" altLang="en-US" sz="2800" b="1" dirty="0">
                <a:latin typeface="楷体_GB2312" pitchFamily="49" charset="-122"/>
                <a:ea typeface="楷体_GB2312" pitchFamily="49" charset="-122"/>
              </a:rPr>
              <a:t>重点内容：</a:t>
            </a:r>
            <a:r>
              <a:rPr lang="en-US" altLang="zh-CN" sz="2800" b="1" dirty="0">
                <a:latin typeface="楷体_GB2312" pitchFamily="49" charset="-122"/>
                <a:ea typeface="楷体_GB2312" pitchFamily="49" charset="-122"/>
              </a:rPr>
              <a:t>ISMS</a:t>
            </a:r>
            <a:r>
              <a:rPr lang="zh-CN" altLang="en-US" sz="2800" b="1" dirty="0">
                <a:latin typeface="楷体_GB2312" pitchFamily="49" charset="-122"/>
                <a:ea typeface="楷体_GB2312" pitchFamily="49" charset="-122"/>
              </a:rPr>
              <a:t>实施过程</a:t>
            </a:r>
            <a:endParaRPr lang="en-US" altLang="zh-CN" sz="2800" b="1" dirty="0">
              <a:latin typeface="楷体_GB2312" pitchFamily="49" charset="-122"/>
              <a:ea typeface="楷体_GB2312" pitchFamily="49" charset="-122"/>
            </a:endParaRPr>
          </a:p>
          <a:p>
            <a:pPr eaLnBrk="1" hangingPunct="1">
              <a:spcBef>
                <a:spcPct val="50000"/>
              </a:spcBef>
            </a:pPr>
            <a:endParaRPr lang="en-US" altLang="zh-CN" sz="2800" b="1" dirty="0">
              <a:latin typeface="楷体_GB2312" pitchFamily="49" charset="-122"/>
              <a:ea typeface="楷体_GB2312" pitchFamily="49" charset="-122"/>
            </a:endParaRPr>
          </a:p>
          <a:p>
            <a:pPr eaLnBrk="1" hangingPunct="1">
              <a:spcBef>
                <a:spcPct val="50000"/>
              </a:spcBef>
            </a:pPr>
            <a:r>
              <a:rPr lang="zh-CN" altLang="en-US" sz="2800" b="1" dirty="0">
                <a:latin typeface="楷体_GB2312" pitchFamily="49" charset="-122"/>
                <a:ea typeface="楷体_GB2312" pitchFamily="49" charset="-122"/>
              </a:rPr>
              <a:t>重点分析：</a:t>
            </a:r>
            <a:r>
              <a:rPr lang="en-US" altLang="zh-CN" sz="2800" b="1" dirty="0">
                <a:latin typeface="楷体_GB2312" pitchFamily="49" charset="-122"/>
                <a:ea typeface="楷体_GB2312" pitchFamily="49" charset="-122"/>
              </a:rPr>
              <a:t>ISMS</a:t>
            </a:r>
            <a:r>
              <a:rPr lang="zh-CN" altLang="en-US" sz="2800" b="1" dirty="0">
                <a:latin typeface="楷体_GB2312" pitchFamily="49" charset="-122"/>
                <a:ea typeface="楷体_GB2312" pitchFamily="49" charset="-122"/>
              </a:rPr>
              <a:t>建设、等级保护、风险评估三者的关系，以及相关标准之间的融合</a:t>
            </a:r>
          </a:p>
        </p:txBody>
      </p:sp>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lhMTA5NGU4YTQ5MmY0MGQzMGY2YTA2YzFlYzk1YmUifQ=="/>
</p:tagLst>
</file>

<file path=ppt/theme/theme1.xml><?xml version="1.0" encoding="utf-8"?>
<a:theme xmlns:a="http://schemas.openxmlformats.org/drawingml/2006/main" name="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5285</Words>
  <Application>Microsoft Office PowerPoint</Application>
  <PresentationFormat>全屏显示(4:3)</PresentationFormat>
  <Paragraphs>401</Paragraphs>
  <Slides>59</Slides>
  <Notes>5</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59</vt:i4>
      </vt:variant>
    </vt:vector>
  </HeadingPairs>
  <TitlesOfParts>
    <vt:vector size="70" baseType="lpstr">
      <vt:lpstr>方正粗黑宋简体</vt:lpstr>
      <vt:lpstr>黑体</vt:lpstr>
      <vt:lpstr>华文楷体</vt:lpstr>
      <vt:lpstr>华文细黑</vt:lpstr>
      <vt:lpstr>楷体_GB2312</vt:lpstr>
      <vt:lpstr>宋体</vt:lpstr>
      <vt:lpstr>Arial</vt:lpstr>
      <vt:lpstr>Times New Roman</vt:lpstr>
      <vt:lpstr>Wingdings</vt:lpstr>
      <vt:lpstr>默认设计模板</vt:lpstr>
      <vt:lpstr>Photoshop.Image.7</vt:lpstr>
      <vt:lpstr>第七章 信息安全管理体系</vt:lpstr>
      <vt:lpstr>本讲内容</vt:lpstr>
      <vt:lpstr>本章概述</vt:lpstr>
      <vt:lpstr>ISMS实施方法与模型</vt:lpstr>
      <vt:lpstr>ISMS实施方法与模型</vt:lpstr>
      <vt:lpstr>本讲内容</vt:lpstr>
      <vt:lpstr>ISMS实施过程</vt:lpstr>
      <vt:lpstr>ISMS实施过程</vt:lpstr>
      <vt:lpstr>ISMS实施过程</vt:lpstr>
      <vt:lpstr> ISMS实施过程</vt:lpstr>
      <vt:lpstr> ISMS实施过程</vt:lpstr>
      <vt:lpstr> ISMS实施过程</vt:lpstr>
      <vt:lpstr> ISMS实施过程</vt:lpstr>
      <vt:lpstr> ISMS实施过程</vt:lpstr>
      <vt:lpstr> ISMS实施过程</vt:lpstr>
      <vt:lpstr>ISMS实施过程</vt:lpstr>
      <vt:lpstr>ISMS实施过程</vt:lpstr>
      <vt:lpstr>ISMS实施过程</vt:lpstr>
      <vt:lpstr>ISMS实施过程</vt:lpstr>
      <vt:lpstr>ISMS实施过程</vt:lpstr>
      <vt:lpstr>ISMS实施过程</vt:lpstr>
      <vt:lpstr>ISMS实施过程</vt:lpstr>
      <vt:lpstr>ISMS实施过程</vt:lpstr>
      <vt:lpstr>ISMS实施过程</vt:lpstr>
      <vt:lpstr>ISMS实施过程</vt:lpstr>
      <vt:lpstr>ISMS实施过程</vt:lpstr>
      <vt:lpstr>ISMS实施过程</vt:lpstr>
      <vt:lpstr>ISMS实施过程</vt:lpstr>
      <vt:lpstr>ISMS实施过程</vt:lpstr>
      <vt:lpstr>ISMS实施过程</vt:lpstr>
      <vt:lpstr>ISMS实施过程</vt:lpstr>
      <vt:lpstr>本讲内容</vt:lpstr>
      <vt:lpstr>3. ISMS、等级保护、风险评估关系</vt:lpstr>
      <vt:lpstr>ISMS、等级保护、风险评估关系</vt:lpstr>
      <vt:lpstr>ISMS、等级保护、风险评估关系</vt:lpstr>
      <vt:lpstr>ISMS、等级保护、风险评估关系</vt:lpstr>
      <vt:lpstr>ISMS、等级保护、风险评估关系</vt:lpstr>
      <vt:lpstr>ISMS、等级保护、风险评估关系</vt:lpstr>
      <vt:lpstr>ISMS、等级保护、风险评估关系</vt:lpstr>
      <vt:lpstr>ISMS、等级保护、风险评估关系</vt:lpstr>
      <vt:lpstr>ISMS、等级保护、风险评估关系</vt:lpstr>
      <vt:lpstr>ISMS、等级保护、风险评估关系</vt:lpstr>
      <vt:lpstr>ISMS、等级保护、风险评估关系</vt:lpstr>
      <vt:lpstr>ISMS、等级保护、风险评估关系</vt:lpstr>
      <vt:lpstr>ISMS、等级保护、风险评估关系</vt:lpstr>
      <vt:lpstr>ISMS、等级保护、风险评估关系</vt:lpstr>
      <vt:lpstr>ISMS、等级保护、风险评估关系</vt:lpstr>
      <vt:lpstr>ISMS、等级保护、风险评估关系</vt:lpstr>
      <vt:lpstr>ISMS、等级保护、风险评估关系</vt:lpstr>
      <vt:lpstr>思考题</vt:lpstr>
      <vt:lpstr>本讲内容</vt:lpstr>
      <vt:lpstr>PowerPoint 演示文稿</vt:lpstr>
      <vt:lpstr>PowerPoint 演示文稿</vt:lpstr>
      <vt:lpstr>PowerPoint 演示文稿</vt:lpstr>
      <vt:lpstr>示例</vt:lpstr>
      <vt:lpstr>PowerPoint 演示文稿</vt:lpstr>
      <vt:lpstr>本讲内容</vt:lpstr>
      <vt:lpstr>思政点</vt:lpstr>
      <vt:lpstr>PowerPoint 演示文稿</vt:lpstr>
    </vt:vector>
  </TitlesOfParts>
  <Company>Guilddesign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FengYan</dc:creator>
  <cp:lastModifiedBy>1363719767@qq.com</cp:lastModifiedBy>
  <cp:revision>1146</cp:revision>
  <dcterms:created xsi:type="dcterms:W3CDTF">2004-07-21T02:43:03Z</dcterms:created>
  <dcterms:modified xsi:type="dcterms:W3CDTF">2023-05-10T02:24:38Z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581E45976D5D478085AE212C47561E9D_12</vt:lpwstr>
  </property>
</Properties>
</file>